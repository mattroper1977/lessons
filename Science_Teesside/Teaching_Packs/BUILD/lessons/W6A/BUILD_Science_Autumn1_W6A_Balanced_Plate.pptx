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99244a22f4f4c" /><Relationship Type="http://schemas.openxmlformats.org/officeDocument/2006/relationships/extended-properties" Target="/docProps/app.xml" Id="R50221276380a43e7" /><Relationship Type="http://schemas.openxmlformats.org/officeDocument/2006/relationships/officeDocument" Target="/ppt/presentation.xml" Id="R977856e7a82640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db17b62f834ab2"/>
  </p:sldMasterIdLst>
  <p:notesMasterIdLst>
    <p:notesMasterId xmlns:r="http://schemas.openxmlformats.org/officeDocument/2006/relationships" r:id="Rd1b03aaa200a4ab7"/>
  </p:notesMasterIdLst>
  <p:sldIdLst>
    <p:sldId xmlns:r="http://schemas.openxmlformats.org/officeDocument/2006/relationships" id="256" r:id="Rbd2dcfe476fb4420"/>
    <p:sldId xmlns:r="http://schemas.openxmlformats.org/officeDocument/2006/relationships" id="257" r:id="R8c2bf148b92946aa"/>
    <p:sldId xmlns:r="http://schemas.openxmlformats.org/officeDocument/2006/relationships" id="258" r:id="Rc7fbd34eea534564"/>
    <p:sldId xmlns:r="http://schemas.openxmlformats.org/officeDocument/2006/relationships" id="259" r:id="R2368b0fd25244e2c"/>
    <p:sldId xmlns:r="http://schemas.openxmlformats.org/officeDocument/2006/relationships" id="260" r:id="R8aca860f813541aa"/>
    <p:sldId xmlns:r="http://schemas.openxmlformats.org/officeDocument/2006/relationships" id="261" r:id="R005036d1cd154ffc"/>
    <p:sldId xmlns:r="http://schemas.openxmlformats.org/officeDocument/2006/relationships" id="262" r:id="Ra4fc1aa627414654"/>
    <p:sldId xmlns:r="http://schemas.openxmlformats.org/officeDocument/2006/relationships" id="263" r:id="R632c195759634ee1"/>
    <p:sldId xmlns:r="http://schemas.openxmlformats.org/officeDocument/2006/relationships" id="264" r:id="R0a7a7aa3e64042aa"/>
    <p:sldId xmlns:r="http://schemas.openxmlformats.org/officeDocument/2006/relationships" id="265" r:id="Rfbdefc2eb7ed4b49"/>
    <p:sldId xmlns:r="http://schemas.openxmlformats.org/officeDocument/2006/relationships" id="266" r:id="Rfa9d7988a2124b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701c80ffd54cbc" /><Relationship Type="http://schemas.openxmlformats.org/officeDocument/2006/relationships/slideMaster" Target="/ppt/slideMasters/slideMaster1.xml" Id="Rd8db17b62f834ab2" /><Relationship Type="http://schemas.openxmlformats.org/officeDocument/2006/relationships/notesMaster" Target="/ppt/notesMasters/notesMaster1.xml" Id="Rd1b03aaa200a4ab7" /><Relationship Type="http://schemas.openxmlformats.org/officeDocument/2006/relationships/presProps" Target="/ppt/presProps.xml" Id="Re17c7870c09a40ac" /><Relationship Type="http://schemas.openxmlformats.org/officeDocument/2006/relationships/tableStyles" Target="/ppt/tableStyles.xml" Id="R48f258ab700b445c" /><Relationship Type="http://schemas.openxmlformats.org/officeDocument/2006/relationships/slide" Target="/ppt/slides/slide1.xml" Id="Rbd2dcfe476fb4420" /><Relationship Type="http://schemas.openxmlformats.org/officeDocument/2006/relationships/slide" Target="/ppt/slides/slide2.xml" Id="R8c2bf148b92946aa" /><Relationship Type="http://schemas.openxmlformats.org/officeDocument/2006/relationships/slide" Target="/ppt/slides/slide3.xml" Id="Rc7fbd34eea534564" /><Relationship Type="http://schemas.openxmlformats.org/officeDocument/2006/relationships/slide" Target="/ppt/slides/slide4.xml" Id="R2368b0fd25244e2c" /><Relationship Type="http://schemas.openxmlformats.org/officeDocument/2006/relationships/slide" Target="/ppt/slides/slide5.xml" Id="R8aca860f813541aa" /><Relationship Type="http://schemas.openxmlformats.org/officeDocument/2006/relationships/slide" Target="/ppt/slides/slide6.xml" Id="R005036d1cd154ffc" /><Relationship Type="http://schemas.openxmlformats.org/officeDocument/2006/relationships/slide" Target="/ppt/slides/slide7.xml" Id="Ra4fc1aa627414654" /><Relationship Type="http://schemas.openxmlformats.org/officeDocument/2006/relationships/slide" Target="/ppt/slides/slide8.xml" Id="R632c195759634ee1" /><Relationship Type="http://schemas.openxmlformats.org/officeDocument/2006/relationships/slide" Target="/ppt/slides/slide9.xml" Id="R0a7a7aa3e64042aa" /><Relationship Type="http://schemas.openxmlformats.org/officeDocument/2006/relationships/slide" Target="/ppt/slides/slide10.xml" Id="Rfbdefc2eb7ed4b49" /><Relationship Type="http://schemas.openxmlformats.org/officeDocument/2006/relationships/slide" Target="/ppt/slides/slide11.xml" Id="Rfa9d7988a212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1ca0a1908e4d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62a61f7db94da5" /><Relationship Type="http://schemas.openxmlformats.org/officeDocument/2006/relationships/notesMaster" Target="/ppt/notesMasters/notesMaster1.xml" Id="R754075f5f220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e06867bb240ce" /><Relationship Type="http://schemas.openxmlformats.org/officeDocument/2006/relationships/notesMaster" Target="/ppt/notesMasters/notesMaster1.xml" Id="Rf8c42b88109f43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5a16303ab24e69" /><Relationship Type="http://schemas.openxmlformats.org/officeDocument/2006/relationships/notesMaster" Target="/ppt/notesMasters/notesMaster1.xml" Id="Rdfce896e4b1b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b39f85bd2243d8" /><Relationship Type="http://schemas.openxmlformats.org/officeDocument/2006/relationships/notesMaster" Target="/ppt/notesMasters/notesMaster1.xml" Id="R3745b780b724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c854d455fd4b5d" /><Relationship Type="http://schemas.openxmlformats.org/officeDocument/2006/relationships/notesMaster" Target="/ppt/notesMasters/notesMaster1.xml" Id="R3aea07f3e39244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96448743c416f" /><Relationship Type="http://schemas.openxmlformats.org/officeDocument/2006/relationships/notesMaster" Target="/ppt/notesMasters/notesMaster1.xml" Id="R966bcdf1cd474b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0fadc125be483d" /><Relationship Type="http://schemas.openxmlformats.org/officeDocument/2006/relationships/notesMaster" Target="/ppt/notesMasters/notesMaster1.xml" Id="Rb8a9c63609f945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dc21dd3ecb4820" /><Relationship Type="http://schemas.openxmlformats.org/officeDocument/2006/relationships/notesMaster" Target="/ppt/notesMasters/notesMaster1.xml" Id="Re87e5d34927145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aaf1a5d4d24832" /><Relationship Type="http://schemas.openxmlformats.org/officeDocument/2006/relationships/notesMaster" Target="/ppt/notesMasters/notesMaster1.xml" Id="Re772d2f6451d4b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1fdfa69986425b" /><Relationship Type="http://schemas.openxmlformats.org/officeDocument/2006/relationships/notesMaster" Target="/ppt/notesMasters/notesMaster1.xml" Id="R2b580f085b9542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258346c0ae4d12" /><Relationship Type="http://schemas.openxmlformats.org/officeDocument/2006/relationships/notesMaster" Target="/ppt/notesMasters/notesMaster1.xml" Id="R05a479905b24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— 1 minutes within the source's 40-minute lesson.</a:t>
            </a:r>
          </a:p>
          <a:p xmlns:a="http://schemas.openxmlformats.org/drawingml/2006/main">
            <a:r>
              <a:t>Monday P3, 11:00-11:40. This one-minute overview is included in the 40-minute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Arrival Task — 4 minutes within the source's 40-minute lesson.</a:t>
            </a:r>
          </a:p>
          <a:p xmlns:a="http://schemas.openxmlformats.org/drawingml/2006/main">
            <a:r>
              <a:t>No pupil meal or diet disclosure. Supported points to a food label; standard names a job; stretch recognises overlap. Explain that this model is about broad groups, not judging any individual’s food.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at a Glance — 2 minutes within the source's 40-minute lesson.</a:t>
            </a:r>
          </a:p>
          <a:p xmlns:a="http://schemas.openxmlformats.org/drawingml/2006/main">
            <a:r>
              <a:t>Prepare eight source cards: rice, bread, carrot, apple, chicken, beans, milk, fortified soya alternative. The source model also names oils/spreads as a small group; do not imply the eight-card set itself shows every food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 — 5 minutes within the source's 40-minute lesson.</a:t>
            </a:r>
          </a:p>
          <a:p xmlns:a="http://schemas.openxmlformats.org/drawingml/2006/main">
            <a:r>
              <a:t>Name full protein group orally: beans, pulses, fish, eggs, meat and other protein. These are broad Eatwell groups; fats/sugars is not substituted as a fifth group. Oils/spreads form a small group in the guide. No exact area proportions or personal portion targets inferred from this text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1b — 4 minutes within the source's 40-minute lesson.</a:t>
            </a:r>
          </a:p>
          <a:p xmlns:a="http://schemas.openxmlformats.org/drawingml/2006/main">
            <a:r>
              <a:t>Model evidence rather than preference. Potato is classed with starchy foods in Eatwell grouping, although botanically a plant food. A mixed dish may contain several groups; not every food has one exclusive nutrient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 — first sort — 3 minutes within the source's 40-minute lesson.</a:t>
            </a:r>
          </a:p>
          <a:p xmlns:a="http://schemas.openxmlformats.org/drawingml/2006/main">
            <a:r>
              <a:t>Collect choices before explanation. Rice/bread = starchy foods. Carrot/apple = fruit and vegetables. Pupil may point to the groups; colour is supplementary, words stay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 — second sort — 3 minutes within the source's 40-minute lesson.</a:t>
            </a:r>
          </a:p>
          <a:p xmlns:a="http://schemas.openxmlformats.org/drawingml/2006/main">
            <a:r>
              <a:t>Chicken/beans = broad protein group. Milk/fortified soya alternative = dairy and alternatives. “Alternative” does not mean identical nutrient profile; chosen example is fortified soya. Check package evidence in real life, but use only paper cards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1b — 4 minutes within the source's 40-minute lesson.</a:t>
            </a:r>
          </a:p>
          <a:p xmlns:a="http://schemas.openxmlformats.org/drawingml/2006/main">
            <a:r>
              <a:t>Ask which two groups are the largest in the Eatwell model: fruit/vegetables and starchy foods. State oils/spreads is small. The eight source cards omit an oil example; this is a limitation of a simplified activity, not a ban. Teacher may name olive oil as a reference example without requiring extra food.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2 — 4 minutes within the source's 40-minute lesson.</a:t>
            </a:r>
          </a:p>
          <a:p xmlns:a="http://schemas.openxmlformats.org/drawingml/2006/main">
            <a:r>
              <a:t>The word healthy alone is not the scientific explanation. Model a specific explanation with variety, groups and time. Avoid “bad food”, banned food, weight or calorie discussion. Teacher follow individual support plan outside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sort — 5 minutes within the source's 40-minute lesson.</a:t>
            </a:r>
          </a:p>
          <a:p xmlns:a="http://schemas.openxmlformats.org/drawingml/2006/main">
            <a:r>
              <a:t>First claim fits broad concept; only one group is insufficient to represent balance; banned claim false. Foods high in fat/salt/sugar can be included less often/in smaller amounts in official general guide, but no individual targets or moral labels. Source false claim “chips are a bad food” is challenged rather than endorsed.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check and save — 5 minutes within the source's 40-minute lesson.</a:t>
            </a:r>
          </a:p>
          <a:p xmlns:a="http://schemas.openxmlformats.org/drawingml/2006/main">
            <a:r>
              <a:t>Five minutes completes source ten-minute stage. Swaps preserve broad group, not exact nutrient equivalence or portion. Each learner can point, sign or direct. A mixed-food example can be unpacked if offered; no personal eating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https://github.com/MattRoper1977/Lessons/blob/main/Science_Teesside/Build/SCI_B_W6_Balanced_Plate.html</a:t>
            </a:r>
          </a:p>
          <a:p xmlns:a="http://schemas.openxmlformats.org/drawingml/2006/main">
            <a:r>
              <a:t>Git blob: 186a497288fca4483f58539306d07e5a12d7d819.</a:t>
            </a:r>
          </a:p>
          <a:p xmlns:a="http://schemas.openxmlformats.org/drawingml/2006/main">
            <a:r>
              <a:t>SHA256: 238e4f1c87b3932dd255105b0f7fcffa9cd55c9fefc39a89defa500f1c8ae8a2.</a:t>
            </a:r>
          </a:p>
          <a:p xmlns:a="http://schemas.openxmlformats.org/drawingml/2006/main">
            <a:r>
              <a:t>User-supplied logo: approved-logo.jpg (unchanged attachment bytes).</a:t>
            </a:r>
          </a:p>
          <a:p xmlns:a="http://schemas.openxmlformats.org/drawingml/2006/main">
            <a:r>
              <a:t>White Rose Education, Year 3 Autumn Block 3 (2024): Nutrition and diet, steps 1-4, including Balanced diets and Compare diets. Original teaching models follow current website safeguards and NHS Eatwell grouping; no publisher slide/media copied.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02cef4e77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7236fafbb4ac6" /><Relationship Type="http://schemas.openxmlformats.org/officeDocument/2006/relationships/slideLayout" Target="/ppt/slideLayouts/slideLayout1.xml" Id="R52704c5718be45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04c5718be45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8328830ea4d22" /><Relationship Type="http://schemas.openxmlformats.org/officeDocument/2006/relationships/image" Target="/ppt/media/image.jpeg" Id="Rdeee0ac910bb40d1" /><Relationship Type="http://schemas.openxmlformats.org/officeDocument/2006/relationships/notesSlide" Target="/ppt/notesSlides/notesSlide1.xml" Id="Rc48f1fe6fe14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a79921e204f0f" /><Relationship Type="http://schemas.openxmlformats.org/officeDocument/2006/relationships/image" Target="/ppt/media/image.jpeg" Id="Rf65feeacc56b4d0f" /><Relationship Type="http://schemas.openxmlformats.org/officeDocument/2006/relationships/notesSlide" Target="/ppt/notesSlides/notesSlide2.xml" Id="R684a3a9646314d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ac625c8ce446b" /><Relationship Type="http://schemas.openxmlformats.org/officeDocument/2006/relationships/image" Target="/ppt/media/image.jpeg" Id="Rf7187f8bf82a4000" /><Relationship Type="http://schemas.openxmlformats.org/officeDocument/2006/relationships/notesSlide" Target="/ppt/notesSlides/notesSlide3.xml" Id="R0fdff607f10241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326fa307437e" /><Relationship Type="http://schemas.openxmlformats.org/officeDocument/2006/relationships/image" Target="/ppt/media/image.jpeg" Id="Rf4923ea5d2624dea" /><Relationship Type="http://schemas.openxmlformats.org/officeDocument/2006/relationships/notesSlide" Target="/ppt/notesSlides/notesSlide4.xml" Id="R90f247866d83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da9b5c127472e" /><Relationship Type="http://schemas.openxmlformats.org/officeDocument/2006/relationships/image" Target="/ppt/media/image.jpeg" Id="R77ac69c1199b458d" /><Relationship Type="http://schemas.openxmlformats.org/officeDocument/2006/relationships/notesSlide" Target="/ppt/notesSlides/notesSlide5.xml" Id="R0271f18c96a046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586f5ff54471" /><Relationship Type="http://schemas.openxmlformats.org/officeDocument/2006/relationships/image" Target="/ppt/media/image.jpeg" Id="R02980e4e720344a7" /><Relationship Type="http://schemas.openxmlformats.org/officeDocument/2006/relationships/notesSlide" Target="/ppt/notesSlides/notesSlide6.xml" Id="R30261fb18bee40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dc6cb4e4a4fce" /><Relationship Type="http://schemas.openxmlformats.org/officeDocument/2006/relationships/image" Target="/ppt/media/image.jpeg" Id="R936be49fedb349d4" /><Relationship Type="http://schemas.openxmlformats.org/officeDocument/2006/relationships/notesSlide" Target="/ppt/notesSlides/notesSlide7.xml" Id="R59e6d1691bd84c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cc09b58eb4296" /><Relationship Type="http://schemas.openxmlformats.org/officeDocument/2006/relationships/image" Target="/ppt/media/image.jpeg" Id="R74f9e55df8184bfe" /><Relationship Type="http://schemas.openxmlformats.org/officeDocument/2006/relationships/notesSlide" Target="/ppt/notesSlides/notesSlide8.xml" Id="R2be0f191507a4a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8863e5e5a460a" /><Relationship Type="http://schemas.openxmlformats.org/officeDocument/2006/relationships/image" Target="/ppt/media/image.jpeg" Id="Rb7ab2472d66f4d4c" /><Relationship Type="http://schemas.openxmlformats.org/officeDocument/2006/relationships/notesSlide" Target="/ppt/notesSlides/notesSlide9.xml" Id="Rb550214d7f3c4f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24bcfef6d47d6" /><Relationship Type="http://schemas.openxmlformats.org/officeDocument/2006/relationships/image" Target="/ppt/media/image.jpeg" Id="R3956c137149d49a6" /><Relationship Type="http://schemas.openxmlformats.org/officeDocument/2006/relationships/notesSlide" Target="/ppt/notesSlides/notesSlide10.xml" Id="R6430659d6f4440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486fb7b97412a" /><Relationship Type="http://schemas.openxmlformats.org/officeDocument/2006/relationships/image" Target="/ppt/media/image.jpeg" Id="Ra6b4231e56694769" /><Relationship Type="http://schemas.openxmlformats.org/officeDocument/2006/relationships/notesSlide" Target="/ppt/notesSlides/notesSlide11.xml" Id="Rb54a167518b348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92233F21-F5D6-418C-AF48-E319A1A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17D9614-5770-4798-8521-26820683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e0ac910bb40d1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543CAB-1B13-4759-A8A1-22574BA8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Building a balanced plate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E29F3EF-7E21-4950-B4B9-149B8BEC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E183A03-A763-4B11-9B10-06C304D0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0F4B7E9-6E54-4569-A5BD-CAC6D0D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01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B40C226B-6BD2-43BA-B36E-4D0E5D7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685E"/>
                </a:solidFill>
              </a:defRPr>
            </a:pPr>
            <a:r>
              <a:rPr sz="3900" b="1">
                <a:solidFill>
                  <a:srgbClr val="28685E"/>
                </a:solidFill>
              </a:rPr>
              <a:t>Different foods. A shared set of groups.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B04BF3C-7E6B-43DC-8F3C-2CC211C1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I can sort foods and explain what this model can show.</a:t>
            </a:r>
          </a:p>
        </p:txBody>
      </p:sp>
    </p:spTree>
    <p:extLst>
      <p:ext uri="{BB962C8B-B14F-4D97-AF65-F5344CB8AC3E}">
        <p14:creationId xmlns:p14="http://schemas.microsoft.com/office/powerpoint/2010/main" val="23151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C3728CB7-D3FA-4773-B768-58DC0AE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310BEEF-008B-423C-96B6-10456EC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feeacc56b4d0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3C78EC-1817-4864-9CA0-2F6510C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Retrieve a food-job idea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3BB07C0-E499-4D5C-9D4F-C914D96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10D3ABE-5CB0-4BC1-9772-4380ADB6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B00634C-5BBF-47D1-868B-DE1518A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FB8334E0-984A-4783-8862-16D063F8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Name or point to a food from last week.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FC4B0D78-2CE9-4EBA-A691-4F8A5555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can it provide for a body?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454A9408-0A12-452D-93A8-D3967C79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Now we will group example foods.</a:t>
            </a:r>
          </a:p>
        </p:txBody>
      </p:sp>
    </p:spTree>
    <p:extLst>
      <p:ext uri="{BB962C8B-B14F-4D97-AF65-F5344CB8AC3E}">
        <p14:creationId xmlns:p14="http://schemas.microsoft.com/office/powerpoint/2010/main" val="2074798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935A92E9-4DFE-4BBE-99E9-CF53EADA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93CD172-4D2E-4508-9702-8EE01A3F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87f8bf82a400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3EF8BC-B822-4EEB-928A-6DC88F12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Three things we will do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6B3C261-695E-4DC6-A3F1-2F8D060F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03F7136-4B7F-4BD3-97B3-7C416C99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E3B9A17-140F-4DB9-B21E-E66CE34D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0C43619A-FA4F-4ACE-8B3C-72D3D989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Name the broad food groups.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7CBBDE09-DCE7-49A6-BD48-54F4B790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Sort eight example cards.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A956E9D3-1054-413B-A302-1A71BA1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Explain balance over a day or week.</a:t>
            </a:r>
          </a:p>
        </p:txBody>
      </p:sp>
    </p:spTree>
    <p:extLst>
      <p:ext uri="{BB962C8B-B14F-4D97-AF65-F5344CB8AC3E}">
        <p14:creationId xmlns:p14="http://schemas.microsoft.com/office/powerpoint/2010/main" val="139738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46EB23E8-C820-41B7-9D6E-D79FF3C4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B462FAD-5FB6-49BF-BBCA-A5C705DA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23ea5d2624de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FAC297-5E95-447F-A447-D12D3CDB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Five broad food groups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691B588-B69E-4715-92C0-62D9BCC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1E13DBA-15AC-47F9-A5CD-62AE2B54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A7104A2-BAEB-489F-BCB2-5DD18BA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04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51C78001-D39E-48A2-8A4C-5C0C4B4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TWO LARGE GROUPS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18540620-FF80-4A06-9CFB-C127EA1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OTHER GROUPS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C43CEFDF-0098-4E49-A161-3BBEEDD5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Fruit and vegetables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Starchy carbohydrate foods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0989BB4E-E1D7-461D-AAB6-F4734F5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Protein-source foods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Dairy and alternatives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Oils and spreads</a:t>
            </a:r>
          </a:p>
        </p:txBody>
      </p:sp>
    </p:spTree>
    <p:extLst>
      <p:ext uri="{BB962C8B-B14F-4D97-AF65-F5344CB8AC3E}">
        <p14:creationId xmlns:p14="http://schemas.microsoft.com/office/powerpoint/2010/main" val="675717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13291E50-7032-46B0-B51D-75AE76C8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6886C2C-62BF-4398-ABC6-A63020A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c69c1199b458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540740-6AB9-4A20-BE0D-D1312F89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Place one food, explain its group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76FA61D-7DBA-4A33-9DE2-B5097DAE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478C0EE-8964-4655-983D-BCA75833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C55E731-B918-4CB4-B6F1-0C6A951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05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E79C33A7-2D7A-44B8-9A19-68A8E77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Pasta belongs with starchy carbohydrate foods, such as bread, rice and potatoes.</a:t>
            </a:r>
          </a:p>
        </p:txBody>
      </p:sp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9D6D60E0-B0F3-49D3-B1DA-226FEC4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The group is about the food’s broad place in this model.</a:t>
            </a:r>
          </a:p>
        </p:txBody>
      </p:sp>
    </p:spTree>
    <p:extLst>
      <p:ext uri="{BB962C8B-B14F-4D97-AF65-F5344CB8AC3E}">
        <p14:creationId xmlns:p14="http://schemas.microsoft.com/office/powerpoint/2010/main" val="162901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73A5806E-4749-47B1-A819-40587DC8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FF1CAB8-B889-4989-BA7A-759474DC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80e4e720344a7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B0C30F-E390-454F-878C-D81F8F97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Where do these four cards go?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FE9DDA5-5CA5-401B-A5E4-BBA12619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8D7705E-3E53-42DB-AF9B-1B5E21D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87C0C0C-F4F2-4EE4-A302-1517DC44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50B3946C-EDC2-4B0B-B972-BE66639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Rice and bread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6E5F004D-9D15-43AA-BAD4-341FC9E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Carrot and apple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71C8F074-4C3A-415D-BED6-2D90BDC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Choose the broad group for each pair.</a:t>
            </a:r>
          </a:p>
        </p:txBody>
      </p:sp>
    </p:spTree>
    <p:extLst>
      <p:ext uri="{BB962C8B-B14F-4D97-AF65-F5344CB8AC3E}">
        <p14:creationId xmlns:p14="http://schemas.microsoft.com/office/powerpoint/2010/main" val="900047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C1E3D8EC-8EEA-44FE-9C81-CC533198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EC1F717-4B8F-4A63-8738-A3092A86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be49fedb349d4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488409-095A-43D4-9A8F-697224D0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Now place the other four cards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27D31E9-F00A-421F-9F9D-B369C497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862A6D5-8623-47AC-8897-EBEE1CBE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594012F-AC8C-4EC7-8993-3389C7D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F9D15B26-D09A-4E2B-BBD9-65C7DD7E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Chicken and beans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00F6E60F-006A-4608-ADFE-29E38AD2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Milk and fortified soya alternative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E591F9E6-B158-4721-9C3D-F0E04BE5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Name the group; then check the labels.</a:t>
            </a:r>
          </a:p>
        </p:txBody>
      </p:sp>
    </p:spTree>
    <p:extLst>
      <p:ext uri="{BB962C8B-B14F-4D97-AF65-F5344CB8AC3E}">
        <p14:creationId xmlns:p14="http://schemas.microsoft.com/office/powerpoint/2010/main" val="2065032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B1C99DB1-3148-429A-8871-31B980F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E14ECF-5F5C-41E5-AAA2-8DD1893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9e55df8184bf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D2FBE1-D466-4C97-BFD0-D421870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What does balance mean?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B071F61-F0A3-4076-92BD-2B994240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D479642-60E3-4BB8-95F4-DBD75397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4909A13-5B8A-4A9F-BE89-7480D8F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08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928F53AC-88F9-46D7-B033-8A33433E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THE MODEL HELPS SHOW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490C25AD-1B29-45BB-921F-6529A58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IT DOES NOT REQUIRE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34F648C9-880C-4DC1-81CD-5DDA19B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A range across the groups.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Variety within the groups.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Patterns over a day or week.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886769C-4199-4B9B-A792-5285767E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Every meal to copy a diagram.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Exact portions from these cards.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Judging anyone’s real food.</a:t>
            </a:r>
          </a:p>
        </p:txBody>
      </p:sp>
    </p:spTree>
    <p:extLst>
      <p:ext uri="{BB962C8B-B14F-4D97-AF65-F5344CB8AC3E}">
        <p14:creationId xmlns:p14="http://schemas.microsoft.com/office/powerpoint/2010/main" val="266759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8F533EA9-1FB4-44DF-BF0F-380D4F2C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2A2EC0A-A76D-48D1-9D38-52B2CE64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b2472d66f4d4c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EF496D-8CEB-4C7E-8C17-910C3FD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Explain it without a vague label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3F7D028-A24E-4936-9664-468F4E5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A6A4E25-A800-4FF0-800D-AEFDE135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02C8D3E-4831-4A2F-87D4-293FFE61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09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E4899ED8-1C8B-47F6-A7FF-C224AD62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A balanced pattern includes a range of food groups over a day or week.</a:t>
            </a:r>
          </a:p>
        </p:txBody>
      </p:sp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685AB7E1-9912-4C0D-9CBA-59B0628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One plate of cards cannot show all a person’s food needs.</a:t>
            </a:r>
          </a:p>
        </p:txBody>
      </p:sp>
    </p:spTree>
    <p:extLst>
      <p:ext uri="{BB962C8B-B14F-4D97-AF65-F5344CB8AC3E}">
        <p14:creationId xmlns:p14="http://schemas.microsoft.com/office/powerpoint/2010/main" val="509344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6F680DA4-2565-4CA1-ACFE-1C09B8F4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9794DCA-8783-4CFA-A32C-59CB645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6c137149d49a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694266-E845-47C4-BD77-3C9F34F7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Which claims need improving?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467089D-81D7-48B2-BBC3-31DC599C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1BED39B-4BAA-4377-8263-25FB72BD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16A18CF-9E89-4296-8321-E980F944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10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FDD6BCBE-B7E4-43AF-B025-66722EE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READ THE CLAIM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B363B386-1F5F-425F-99F2-2B6B59B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TEST IT WITH THE MODEL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F322C883-26B0-445C-A2C1-8E961D65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Some from the different groups.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Only one group is needed.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Sometimes foods are banned.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48B7A0AA-3401-46A4-B544-11EB18FD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What can a range provide?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Does a single group show variety?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Does the guide ban foods?</a:t>
            </a:r>
          </a:p>
        </p:txBody>
      </p:sp>
    </p:spTree>
    <p:extLst>
      <p:ext uri="{BB962C8B-B14F-4D97-AF65-F5344CB8AC3E}">
        <p14:creationId xmlns:p14="http://schemas.microsoft.com/office/powerpoint/2010/main" val="1334322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03D114F0-4B00-457B-BD06-0EBDDBD8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270F49B-2E95-4C86-BBCE-AB38696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BUILD SCIENCE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4231e5669476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49BCFF-BB55-408B-ACE2-F04C6A7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Swap within a group and save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DDBB11F-86B5-46AF-A167-693DE5A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6EF1D94-3897-4BAC-97F6-B89ACFFF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236199C-AACC-4DDD-B5BF-32F970E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E77E5C2-7306-4737-A3EF-8096635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Swap rice for bread.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29956141-0CAB-4C21-9858-DF8B5C0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Swap chicken for beans.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6838452E-CBB2-46E3-9317-EAE1C70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Explain why the broad group still fits.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3FD04CEF-0C9B-4D21-B3DE-C9767ED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Save the labelled cards for Wednesday.</a:t>
            </a:r>
          </a:p>
        </p:txBody>
      </p:sp>
    </p:spTree>
    <p:extLst>
      <p:ext uri="{BB962C8B-B14F-4D97-AF65-F5344CB8AC3E}">
        <p14:creationId xmlns:p14="http://schemas.microsoft.com/office/powerpoint/2010/main" val="1601987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2026-09-06T13:05:07.1790000Z</dcterms:created>
  <dcterms:modified xsi:type="dcterms:W3CDTF">2026-09-06T13:05:07.1800000Z</dcterms:modified>
</coreProperties>
</file>