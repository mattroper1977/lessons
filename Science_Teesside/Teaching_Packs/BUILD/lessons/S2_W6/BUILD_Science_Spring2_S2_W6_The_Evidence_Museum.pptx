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5427f3a2494d8f" /><Relationship Type="http://schemas.openxmlformats.org/officeDocument/2006/relationships/extended-properties" Target="/docProps/app.xml" Id="R618afdeeb1f74ed3" /><Relationship Type="http://schemas.openxmlformats.org/officeDocument/2006/relationships/officeDocument" Target="/ppt/presentation.xml" Id="Rfdd3c639b06d4e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cae41b74b34d3d"/>
  </p:sldMasterIdLst>
  <p:notesMasterIdLst>
    <p:notesMasterId xmlns:r="http://schemas.openxmlformats.org/officeDocument/2006/relationships" r:id="Raa76110d7c464b80"/>
  </p:notesMasterIdLst>
  <p:sldIdLst>
    <p:sldId xmlns:r="http://schemas.openxmlformats.org/officeDocument/2006/relationships" id="256" r:id="R726b5a2e8f91478d"/>
    <p:sldId xmlns:r="http://schemas.openxmlformats.org/officeDocument/2006/relationships" id="257" r:id="R0c30cc500d8e4b5c"/>
    <p:sldId xmlns:r="http://schemas.openxmlformats.org/officeDocument/2006/relationships" id="258" r:id="R7ff218b6e95b4862"/>
    <p:sldId xmlns:r="http://schemas.openxmlformats.org/officeDocument/2006/relationships" id="259" r:id="R5997295edbc04858"/>
    <p:sldId xmlns:r="http://schemas.openxmlformats.org/officeDocument/2006/relationships" id="260" r:id="R547c7069b66b4182"/>
    <p:sldId xmlns:r="http://schemas.openxmlformats.org/officeDocument/2006/relationships" id="261" r:id="R6f04b28a14764840"/>
    <p:sldId xmlns:r="http://schemas.openxmlformats.org/officeDocument/2006/relationships" id="262" r:id="R499aebe47b6c4a96"/>
    <p:sldId xmlns:r="http://schemas.openxmlformats.org/officeDocument/2006/relationships" id="263" r:id="Ra4cc8fa7fc8e40f3"/>
    <p:sldId xmlns:r="http://schemas.openxmlformats.org/officeDocument/2006/relationships" id="264" r:id="R999e45f39d09441f"/>
    <p:sldId xmlns:r="http://schemas.openxmlformats.org/officeDocument/2006/relationships" id="265" r:id="R0e45f2d3f0eb432c"/>
    <p:sldId xmlns:r="http://schemas.openxmlformats.org/officeDocument/2006/relationships" id="266" r:id="R54d492783e50445d"/>
    <p:sldId xmlns:r="http://schemas.openxmlformats.org/officeDocument/2006/relationships" id="267" r:id="Rfc9ae1d7fc8f4145"/>
    <p:sldId xmlns:r="http://schemas.openxmlformats.org/officeDocument/2006/relationships" id="268" r:id="Re1320ccede574102"/>
    <p:sldId xmlns:r="http://schemas.openxmlformats.org/officeDocument/2006/relationships" id="269" r:id="Rf36fb65ef2c54a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e86d43b19c49ab" /><Relationship Type="http://schemas.openxmlformats.org/officeDocument/2006/relationships/slideMaster" Target="/ppt/slideMasters/slideMaster1.xml" Id="Rc8cae41b74b34d3d" /><Relationship Type="http://schemas.openxmlformats.org/officeDocument/2006/relationships/notesMaster" Target="/ppt/notesMasters/notesMaster1.xml" Id="Raa76110d7c464b80" /><Relationship Type="http://schemas.openxmlformats.org/officeDocument/2006/relationships/presProps" Target="/ppt/presProps.xml" Id="R8055a597ce8541c5" /><Relationship Type="http://schemas.openxmlformats.org/officeDocument/2006/relationships/tableStyles" Target="/ppt/tableStyles.xml" Id="R65b621e7d9544cef" /><Relationship Type="http://schemas.openxmlformats.org/officeDocument/2006/relationships/slide" Target="/ppt/slides/slide1.xml" Id="R726b5a2e8f91478d" /><Relationship Type="http://schemas.openxmlformats.org/officeDocument/2006/relationships/slide" Target="/ppt/slides/slide2.xml" Id="R0c30cc500d8e4b5c" /><Relationship Type="http://schemas.openxmlformats.org/officeDocument/2006/relationships/slide" Target="/ppt/slides/slide3.xml" Id="R7ff218b6e95b4862" /><Relationship Type="http://schemas.openxmlformats.org/officeDocument/2006/relationships/slide" Target="/ppt/slides/slide4.xml" Id="R5997295edbc04858" /><Relationship Type="http://schemas.openxmlformats.org/officeDocument/2006/relationships/slide" Target="/ppt/slides/slide5.xml" Id="R547c7069b66b4182" /><Relationship Type="http://schemas.openxmlformats.org/officeDocument/2006/relationships/slide" Target="/ppt/slides/slide6.xml" Id="R6f04b28a14764840" /><Relationship Type="http://schemas.openxmlformats.org/officeDocument/2006/relationships/slide" Target="/ppt/slides/slide7.xml" Id="R499aebe47b6c4a96" /><Relationship Type="http://schemas.openxmlformats.org/officeDocument/2006/relationships/slide" Target="/ppt/slides/slide8.xml" Id="Ra4cc8fa7fc8e40f3" /><Relationship Type="http://schemas.openxmlformats.org/officeDocument/2006/relationships/slide" Target="/ppt/slides/slide9.xml" Id="R999e45f39d09441f" /><Relationship Type="http://schemas.openxmlformats.org/officeDocument/2006/relationships/slide" Target="/ppt/slides/slide10.xml" Id="R0e45f2d3f0eb432c" /><Relationship Type="http://schemas.openxmlformats.org/officeDocument/2006/relationships/slide" Target="/ppt/slides/slide11.xml" Id="R54d492783e50445d" /><Relationship Type="http://schemas.openxmlformats.org/officeDocument/2006/relationships/slide" Target="/ppt/slides/slide12.xml" Id="Rfc9ae1d7fc8f4145" /><Relationship Type="http://schemas.openxmlformats.org/officeDocument/2006/relationships/slide" Target="/ppt/slides/slide13.xml" Id="Re1320ccede574102" /><Relationship Type="http://schemas.openxmlformats.org/officeDocument/2006/relationships/slide" Target="/ppt/slides/slide14.xml" Id="Rf36fb65ef2c54a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2d166c568743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5975f745774555" /><Relationship Type="http://schemas.openxmlformats.org/officeDocument/2006/relationships/notesMaster" Target="/ppt/notesMasters/notesMaster1.xml" Id="Rb5f649912b3442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518ce907f5441d" /><Relationship Type="http://schemas.openxmlformats.org/officeDocument/2006/relationships/notesMaster" Target="/ppt/notesMasters/notesMaster1.xml" Id="R913e9a98475d43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79c8a8854d4926" /><Relationship Type="http://schemas.openxmlformats.org/officeDocument/2006/relationships/notesMaster" Target="/ppt/notesMasters/notesMaster1.xml" Id="R1aabbf4a43de49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a829d194044a98" /><Relationship Type="http://schemas.openxmlformats.org/officeDocument/2006/relationships/notesMaster" Target="/ppt/notesMasters/notesMaster1.xml" Id="R274506400cb14a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f3cb9d57f94bf9" /><Relationship Type="http://schemas.openxmlformats.org/officeDocument/2006/relationships/notesMaster" Target="/ppt/notesMasters/notesMaster1.xml" Id="Ra7b2fa121e9240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1b660c098349c1" /><Relationship Type="http://schemas.openxmlformats.org/officeDocument/2006/relationships/notesMaster" Target="/ppt/notesMasters/notesMaster1.xml" Id="R1947f3c835d84a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3305b31fba46f7" /><Relationship Type="http://schemas.openxmlformats.org/officeDocument/2006/relationships/notesMaster" Target="/ppt/notesMasters/notesMaster1.xml" Id="Rbe7fc33c0aba4f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e0653b31844513" /><Relationship Type="http://schemas.openxmlformats.org/officeDocument/2006/relationships/notesMaster" Target="/ppt/notesMasters/notesMaster1.xml" Id="R63fb980b9d6a4d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8d981c326c4cd0" /><Relationship Type="http://schemas.openxmlformats.org/officeDocument/2006/relationships/notesMaster" Target="/ppt/notesMasters/notesMaster1.xml" Id="R28c5fabf1cea4d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d930ea548d45fc" /><Relationship Type="http://schemas.openxmlformats.org/officeDocument/2006/relationships/notesMaster" Target="/ppt/notesMasters/notesMaster1.xml" Id="R6ed1a2dbf89d46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b5bf6c1be54278" /><Relationship Type="http://schemas.openxmlformats.org/officeDocument/2006/relationships/notesMaster" Target="/ppt/notesMasters/notesMaster1.xml" Id="Ree1ff77370b045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480c116e6f468a" /><Relationship Type="http://schemas.openxmlformats.org/officeDocument/2006/relationships/notesMaster" Target="/ppt/notesMasters/notesMaster1.xml" Id="Rb483c5a343354b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acc40e48ab4ed3" /><Relationship Type="http://schemas.openxmlformats.org/officeDocument/2006/relationships/notesMaster" Target="/ppt/notesMasters/notesMaster1.xml" Id="R64902b87bc8641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d8a1f0004842ec" /><Relationship Type="http://schemas.openxmlformats.org/officeDocument/2006/relationships/notesMaster" Target="/ppt/notesMasters/notesMaster1.xml" Id="R163b5c8ee8a7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objective. Pupils may edit by choosing, pointing or writing; each route uses all three strands.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ancient life; mineral grains, organic matter, air, water or organisms; eyes receive light. Record uncertainty for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“A has a geological history. B was made today. Similar shape does not mean the same origin.” A fossil need not preserve every feature of an organism.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three-stage sequence: shell-bearing animal dies, sediment buries its shell, and much later a shell fossil is preserved in rock. This is one possible route, not every fossil.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“Card C lists decayed leaf fragments. That single clue defeats the word only in ‘soil is only rock’.” The diagram is not a measured recipe.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Enlarged schematic components of soil: mineral particles, organic matter and pore spaces containing air or water. Positions and sizes are illustrative, not measured proportions.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“The fossil is not making light. I trace both arrows to the same lit surface.” An ordinary object can be visible with reflected 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The lamp emits light onto the top surface of an opaque fossil exhibit; reflected light leaves that same lit surface and enters the eye. The eye is above the object surface.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Prediction partners choose first, then read the card evidence. W1: A fossil; B model. Neither card reveals the ancient shell’s exact original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W2: Soil is a mixture including mineral and organic material. Eyes receive light; the lamp is the source. Use cards C–E and diagrams. Reveal after a pupil commits to a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Use the given components and the lamp → exhibit → eye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second option. Re-teach evidence versus appearance if the fossil/model distinction is insecure.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Today’s clay imprint is an ancient fossil.</a:t>
            </a:r>
          </a:p>
          <a:p xmlns:a="http://schemas.openxmlformats.org/drawingml/2006/main">
            <a:r>
              <a:t>Its known history is a model made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The fossil can be seen when reflected light reaches the eye.</a:t>
            </a:r>
          </a:p>
          <a:p xmlns:a="http://schemas.openxmlformats.org/drawingml/2006/main">
            <a:r>
              <a:t>Correct. This matches the light path in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Soil contains no organic material.</a:t>
            </a:r>
          </a:p>
          <a:p xmlns:a="http://schemas.openxmlformats.org/drawingml/2006/main">
            <a:r>
              <a:t>Card C records decayed leaf fragments.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ONE route. Use one route with the shared records. Credit a accurate spoken museum label equally to a written label. Check that each claim has a specific clue.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 route with the shared records. Credit a accurate spoken museum label equally to a written label. Check that each claim has a specific clue.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independent time. Ask for a reason, not just a correct word. Use one route with the shared records. Credit a accurate spoken museum label equally to a written label. Check that each claim has a specific clue.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Listen to a selected pupil revision and visibly adopt a scientifically accurate contribution. Offer private, written or partner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Words such as only, every or disappeared can go beyond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review time. Name how a pupil contribution changed a label, method or conclusion. Do not rank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Words such as only, every or disappeared can go beyond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evidence. Use the answer key and re-teach the specified misconception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British Geological Survey: fossils</a:t>
            </a:r>
          </a:p>
          <a:p xmlns:a="http://schemas.openxmlformats.org/drawingml/2006/main">
            <a:r>
              <a:t>https://www.bgs.ac.uk/discovering-geology/fossils-and-geological-time/fossils/</a:t>
            </a:r>
          </a:p>
          <a:p xmlns:a="http://schemas.openxmlformats.org/drawingml/2006/main">
            <a:r>
              <a:t>Checked 8 September 2026. Preserved ancient remains or traces; formation and limits of fossil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bcf77503745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9974371bc54055" /><Relationship Type="http://schemas.openxmlformats.org/officeDocument/2006/relationships/slideLayout" Target="/ppt/slideLayouts/slideLayout1.xml" Id="R9c0a592910914d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0a592910914d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7aa21440b4ce3" /><Relationship Type="http://schemas.openxmlformats.org/officeDocument/2006/relationships/notesSlide" Target="/ppt/notesSlides/notesSlide1.xml" Id="R880220b0093e4d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6cba15d584d27" /><Relationship Type="http://schemas.openxmlformats.org/officeDocument/2006/relationships/notesSlide" Target="/ppt/notesSlides/notesSlide2.xml" Id="R78d1ba62742249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570ddddd14e09" /><Relationship Type="http://schemas.openxmlformats.org/officeDocument/2006/relationships/notesSlide" Target="/ppt/notesSlides/notesSlide3.xml" Id="Rc9cf0b11fd2140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6e6a9af9940d8" /><Relationship Type="http://schemas.openxmlformats.org/officeDocument/2006/relationships/notesSlide" Target="/ppt/notesSlides/notesSlide4.xml" Id="Rcbe907bbaf8941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06ec5625c42ea" /><Relationship Type="http://schemas.openxmlformats.org/officeDocument/2006/relationships/notesSlide" Target="/ppt/notesSlides/notesSlide5.xml" Id="R7cea29839daf47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42004c38d4e95" /><Relationship Type="http://schemas.openxmlformats.org/officeDocument/2006/relationships/notesSlide" Target="/ppt/notesSlides/notesSlide6.xml" Id="Raf894ceac7a944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8099139744e74" /><Relationship Type="http://schemas.openxmlformats.org/officeDocument/2006/relationships/notesSlide" Target="/ppt/notesSlides/notesSlide7.xml" Id="R815c048778cd4a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43f8331784700" /><Relationship Type="http://schemas.openxmlformats.org/officeDocument/2006/relationships/notesSlide" Target="/ppt/notesSlides/notesSlide8.xml" Id="Rc66e5a063c744d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7f2d1d1034096" /><Relationship Type="http://schemas.openxmlformats.org/officeDocument/2006/relationships/notesSlide" Target="/ppt/notesSlides/notesSlide9.xml" Id="Rb31dc5c6853042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731d64852483d" /><Relationship Type="http://schemas.openxmlformats.org/officeDocument/2006/relationships/notesSlide" Target="/ppt/notesSlides/notesSlide10.xml" Id="Rc4b70f0d8b7d4e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1c53440504081" /><Relationship Type="http://schemas.openxmlformats.org/officeDocument/2006/relationships/notesSlide" Target="/ppt/notesSlides/notesSlide11.xml" Id="Rbc4b0d1114bb4d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6b0598dcb4c41" /><Relationship Type="http://schemas.openxmlformats.org/officeDocument/2006/relationships/notesSlide" Target="/ppt/notesSlides/notesSlide12.xml" Id="R7ecf0a1259c340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5a255e99b4fea" /><Relationship Type="http://schemas.openxmlformats.org/officeDocument/2006/relationships/notesSlide" Target="/ppt/notesSlides/notesSlide13.xml" Id="R108e6497674c4f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1b83d1b3b4d91" /><Relationship Type="http://schemas.openxmlformats.org/officeDocument/2006/relationships/notesSlide" Target="/ppt/notesSlides/notesSlide14.xml" Id="R4e754f86dff641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0CB10A73-4BFE-4F26-8C79-CEECA2AF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2B8228D-AB11-429B-89A8-E5A690CD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903EFDE-356A-4AD0-B598-BF94D27D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13D4FCB-ED42-4FAE-BD2B-4372AC00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F1780A9A-956F-4D5C-B4D0-012539F8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5E2274D2-3A9F-41E4-BBC3-02B36AB6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e museum has three doubtful labels">
            <a:extLst xmlns:a="http://schemas.openxmlformats.org/drawingml/2006/main">
              <a:ext uri="{FF2B5EF4-FFF2-40B4-BE49-F238E27FC236}">
                <a16:creationId xmlns:a16="http://schemas.microsoft.com/office/drawing/2014/main" id="{E572478D-70E3-42EB-8C73-72F643AB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museum has three doubtful labels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34349D1-9AA2-4104-8688-5C45F58D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E92D8596-84F1-4317-8A48-077841B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DF8A6AB8-965C-4DA0-9B49-7FA96FF5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17802ADE-DB9A-47C5-A06C-23F41282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CC9560F-06A0-4CF3-8A67-E0252F88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3C9CB461-2EEF-4160-B9AA-5CBC723A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Use evidence to correct museum labels about fossils, soils and l">
            <a:extLst xmlns:a="http://schemas.openxmlformats.org/drawingml/2006/main">
              <a:ext uri="{FF2B5EF4-FFF2-40B4-BE49-F238E27FC236}">
                <a16:creationId xmlns:a16="http://schemas.microsoft.com/office/drawing/2014/main" id="{31AE24BE-9D16-4927-94D4-28114399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evidence to correct museum labels about fossils, soils and light.</a:t>
            </a:r>
          </a:p>
        </p:txBody>
      </p:sp>
      <p:sp>
        <p:nvSpPr>
          <p:cNvPr id="15" name="Become the evidence editor.">
            <a:extLst xmlns:a="http://schemas.openxmlformats.org/drawingml/2006/main">
              <a:ext uri="{FF2B5EF4-FFF2-40B4-BE49-F238E27FC236}">
                <a16:creationId xmlns:a16="http://schemas.microsoft.com/office/drawing/2014/main" id="{535E9DB4-F7DC-4DEF-B47C-859FF1E5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Become the evidence editor.</a:t>
            </a:r>
          </a:p>
        </p:txBody>
      </p:sp>
      <p:sp>
        <p:nvSpPr>
          <p:cNvPr id="16" name="Keep a claim only if the clues support it.">
            <a:extLst xmlns:a="http://schemas.openxmlformats.org/drawingml/2006/main">
              <a:ext uri="{FF2B5EF4-FFF2-40B4-BE49-F238E27FC236}">
                <a16:creationId xmlns:a16="http://schemas.microsoft.com/office/drawing/2014/main" id="{8308DD65-2E4A-478D-81AF-5B1FCD53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2358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a claim only if the clues support it.</a:t>
            </a:r>
          </a:p>
        </p:txBody>
      </p:sp>
    </p:spTree>
    <p:extLst>
      <p:ext uri="{BB962C8B-B14F-4D97-AF65-F5344CB8AC3E}">
        <p14:creationId xmlns:p14="http://schemas.microsoft.com/office/powerpoint/2010/main" val="1433171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A8E1335-5908-48AB-9EA6-5768FD33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0FB7B92-A2ED-414F-AA01-A4EC4AEF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3888FA9-4F44-4B39-9B04-02DC2513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54942E7-D8F2-4AF2-A840-A650232D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ADABA67F-6157-4AB5-9E71-72A6A467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F7BF27E5-D6F4-4339-A5D9-A5E1237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trieve one idea from each strand">
            <a:extLst xmlns:a="http://schemas.openxmlformats.org/drawingml/2006/main">
              <a:ext uri="{FF2B5EF4-FFF2-40B4-BE49-F238E27FC236}">
                <a16:creationId xmlns:a16="http://schemas.microsoft.com/office/drawing/2014/main" id="{5CAFBD5E-3D89-446B-AB0E-FC340FEF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Retrieve one idea from each strand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13557CD-F44C-498E-B148-D83A9E24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18967834-7A1F-4026-B0E7-44CEB9E5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4586CAF6-55F6-4F86-96F6-0BF06848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What can a fossil be evidence of?">
            <a:extLst xmlns:a="http://schemas.openxmlformats.org/drawingml/2006/main">
              <a:ext uri="{FF2B5EF4-FFF2-40B4-BE49-F238E27FC236}">
                <a16:creationId xmlns:a16="http://schemas.microsoft.com/office/drawing/2014/main" id="{847FEB1A-CE6C-408F-9DB9-B6A4CD38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What can a fossil be evidence of?</a:t>
            </a:r>
          </a:p>
        </p:txBody>
      </p:sp>
      <p:sp>
        <p:nvSpPr>
          <p:cNvPr id="12" name="2. Name something found in soil.">
            <a:extLst xmlns:a="http://schemas.openxmlformats.org/drawingml/2006/main">
              <a:ext uri="{FF2B5EF4-FFF2-40B4-BE49-F238E27FC236}">
                <a16:creationId xmlns:a16="http://schemas.microsoft.com/office/drawing/2014/main" id="{2597EF67-F739-4E6E-BE12-F37E329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Name something found in soil.</a:t>
            </a:r>
          </a:p>
        </p:txBody>
      </p:sp>
      <p:sp>
        <p:nvSpPr>
          <p:cNvPr id="13" name="3. Do eyes receive or make viewing light?">
            <a:extLst xmlns:a="http://schemas.openxmlformats.org/drawingml/2006/main">
              <a:ext uri="{FF2B5EF4-FFF2-40B4-BE49-F238E27FC236}">
                <a16:creationId xmlns:a16="http://schemas.microsoft.com/office/drawing/2014/main" id="{8AB76577-2DCF-417D-B6C9-1CAE418B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Do eyes receive or make viewing light?</a:t>
            </a:r>
          </a:p>
        </p:txBody>
      </p:sp>
    </p:spTree>
    <p:extLst>
      <p:ext uri="{BB962C8B-B14F-4D97-AF65-F5344CB8AC3E}">
        <p14:creationId xmlns:p14="http://schemas.microsoft.com/office/powerpoint/2010/main" val="1828908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0CE7EDA0-F537-485E-B759-5D012273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B29079C-A4EA-450E-99DE-4F441752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75532A2-2C12-47F9-83F6-B117D2AC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450DD10-AF5E-4F2F-B785-D4472FF7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6C9EA4E-0E27-40C2-9319-8C660D58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7 min">
            <a:extLst xmlns:a="http://schemas.openxmlformats.org/drawingml/2006/main">
              <a:ext uri="{FF2B5EF4-FFF2-40B4-BE49-F238E27FC236}">
                <a16:creationId xmlns:a16="http://schemas.microsoft.com/office/drawing/2014/main" id="{803172ED-1F1D-43D2-A0A2-AFD509DB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7 min</a:t>
            </a:r>
          </a:p>
        </p:txBody>
      </p:sp>
      <p:sp>
        <p:nvSpPr>
          <p:cNvPr id="7" name="I separate a fossil from a model">
            <a:extLst xmlns:a="http://schemas.openxmlformats.org/drawingml/2006/main">
              <a:ext uri="{FF2B5EF4-FFF2-40B4-BE49-F238E27FC236}">
                <a16:creationId xmlns:a16="http://schemas.microsoft.com/office/drawing/2014/main" id="{11975AD8-9DC0-49E4-8F9E-0BBE8FAB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separate a fossil from a model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ECB73B5-AA90-4352-AA49-D3CDEC0F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2CD8F4E7-3DC7-4C89-A5A4-82551C7A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4E04E9CE-483F-4D89-A1B0-2A91B93C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94F5AFB-1BE2-4DE7-8218-361AAB8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899002"/>
            <a:ext cx="1821996" cy="17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6"/>
          </a:solidFill>
          <a:ln xmlns:a="http://schemas.openxmlformats.org/drawingml/2006/main" w="21023">
            <a:solidFill>
              <a:srgbClr val="4E7A9B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34791AA-E070-4020-9EA3-31560979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3634808"/>
            <a:ext cx="630691" cy="490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E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13" name="Diagram label: 1  A shell remains">
            <a:extLst xmlns:a="http://schemas.openxmlformats.org/drawingml/2006/main">
              <a:ext uri="{FF2B5EF4-FFF2-40B4-BE49-F238E27FC236}">
                <a16:creationId xmlns:a16="http://schemas.microsoft.com/office/drawing/2014/main" id="{FBE81796-A8EB-4408-A727-B7B35576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2303349"/>
            <a:ext cx="1681843" cy="455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  A shell remains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A08F85A-7421-48FB-9CFC-27048ACA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9579" y="3810000"/>
            <a:ext cx="17168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E7A9B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79D0E64-958A-4A18-B51A-8F2FF5B2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46741" y="3760946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92EA3F4-136F-408E-8CAF-8144E1A1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002" y="2899002"/>
            <a:ext cx="1821996" cy="17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7AF2EDF-79D5-41A7-A13C-CE04908F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55079" y="3284424"/>
            <a:ext cx="168184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EBEBDAD-7602-4FE7-A5BA-AB06B84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55079" y="3564731"/>
            <a:ext cx="168184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CC78D00-8E0F-438B-B01A-11C12A6B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693" y="3810000"/>
            <a:ext cx="560614" cy="420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E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0" name="Diagram label: 2  Sediment&#10;buries it">
            <a:extLst xmlns:a="http://schemas.openxmlformats.org/drawingml/2006/main">
              <a:ext uri="{FF2B5EF4-FFF2-40B4-BE49-F238E27FC236}">
                <a16:creationId xmlns:a16="http://schemas.microsoft.com/office/drawing/2014/main" id="{B4C581C3-23E8-49B5-A01B-4C7A2F7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40" y="2303349"/>
            <a:ext cx="1962150" cy="455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  Sediment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buries it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B70FD82-3870-4466-BA33-AC0DEC66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12113" y="3810000"/>
            <a:ext cx="17168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E7A9B"/>
            </a:solidFill>
          </a:ln>
        </p:spPr>
      </p:sp>
      <p:sp>
        <p:nvSpPr>
          <p:cNvPr id="22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A6C59E5-5542-43D0-A02D-75D32B6C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59275" y="3760946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D0CDC58-5F0B-480F-B9D4-1906DA5B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536" y="2899002"/>
            <a:ext cx="1821996" cy="17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1A9"/>
          </a:solidFill>
          <a:ln xmlns:a="http://schemas.openxmlformats.org/drawingml/2006/main" w="21023">
            <a:solidFill>
              <a:srgbClr val="1F2937"/>
            </a:solidFill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5EA8AAF-A742-449A-9B5F-CA5C0732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227" y="3739923"/>
            <a:ext cx="595653" cy="4554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5CB"/>
          </a:solidFill>
          <a:ln xmlns:a="http://schemas.openxmlformats.org/drawingml/2006/main" w="21023">
            <a:solidFill>
              <a:srgbClr val="1F2937"/>
            </a:solidFill>
          </a:ln>
        </p:spPr>
      </p:sp>
      <p:sp>
        <p:nvSpPr>
          <p:cNvPr id="25" name="Diagram label: 3  Preserved&#10;in rock">
            <a:extLst xmlns:a="http://schemas.openxmlformats.org/drawingml/2006/main">
              <a:ext uri="{FF2B5EF4-FFF2-40B4-BE49-F238E27FC236}">
                <a16:creationId xmlns:a16="http://schemas.microsoft.com/office/drawing/2014/main" id="{860172D3-BC5A-47AC-9CE4-83B02F6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536" y="2303349"/>
            <a:ext cx="2032227" cy="455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  Preserved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 rock</a:t>
            </a:r>
          </a:p>
        </p:txBody>
      </p:sp>
      <p:sp>
        <p:nvSpPr>
          <p:cNvPr id="26" name="Diagram label: Much time passes. Most remains do not become fossils.">
            <a:extLst xmlns:a="http://schemas.openxmlformats.org/drawingml/2006/main">
              <a:ext uri="{FF2B5EF4-FFF2-40B4-BE49-F238E27FC236}">
                <a16:creationId xmlns:a16="http://schemas.microsoft.com/office/drawing/2014/main" id="{6E9F1B67-27F4-4F35-80C6-40A43919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5036344"/>
            <a:ext cx="6306911" cy="455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Much time passes. Most remains do not become fossils.</a:t>
            </a:r>
          </a:p>
        </p:txBody>
      </p:sp>
      <p:sp>
        <p:nvSpPr>
          <p:cNvPr id="27" name="A fossil preserves ancient evidence.  Today’s imprint can model ">
            <a:extLst xmlns:a="http://schemas.openxmlformats.org/drawingml/2006/main">
              <a:ext uri="{FF2B5EF4-FFF2-40B4-BE49-F238E27FC236}">
                <a16:creationId xmlns:a16="http://schemas.microsoft.com/office/drawing/2014/main" id="{D7603346-8FF8-4CE8-A704-78E7A0DB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fossil preserves ancient evidence. Today’s imprint can model a shape. The model does not become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ancient.</a:t>
            </a:r>
          </a:p>
        </p:txBody>
      </p:sp>
    </p:spTree>
    <p:extLst>
      <p:ext uri="{BB962C8B-B14F-4D97-AF65-F5344CB8AC3E}">
        <p14:creationId xmlns:p14="http://schemas.microsoft.com/office/powerpoint/2010/main" val="2004413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CC4A787D-EFFE-43AC-8A08-EB309A21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2DEBCB2-3E17-48A3-9F88-B2F60D0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8CB8EBF-E3FC-4918-9B90-96871796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9C83139-1E97-4928-8379-21DB8759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AC54D89C-A57D-4613-8B54-5FE6068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repair the soil label">
            <a:extLst xmlns:a="http://schemas.openxmlformats.org/drawingml/2006/main">
              <a:ext uri="{FF2B5EF4-FFF2-40B4-BE49-F238E27FC236}">
                <a16:creationId xmlns:a16="http://schemas.microsoft.com/office/drawing/2014/main" id="{5D92F34D-D52B-4CED-9226-F3E94C84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repair the soil label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3CFAAA8-66BD-4F4E-B2C7-A4A1C493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C7FCD473-5715-4A53-A04F-1D4B8D85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9" name="4 / 14">
            <a:extLst xmlns:a="http://schemas.openxmlformats.org/drawingml/2006/main">
              <a:ext uri="{FF2B5EF4-FFF2-40B4-BE49-F238E27FC236}">
                <a16:creationId xmlns:a16="http://schemas.microsoft.com/office/drawing/2014/main" id="{BB500AC8-E69B-4B1D-904B-FF025A7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89333E0-74D3-4FDA-9090-BB76F91A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557207"/>
            <a:ext cx="3658791" cy="2688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F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98AE44A-DAE7-4815-96C3-CE37CACB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2893219"/>
            <a:ext cx="896030" cy="5973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ABA0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53271E5-6D2D-47AA-AA53-3F2FD434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278" y="3938588"/>
            <a:ext cx="896030" cy="709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ABA0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9174E19-E4D0-47CE-B546-0AD6B035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17" y="4386603"/>
            <a:ext cx="597354" cy="5226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ABA0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6E5FA2F-9E02-4525-9F70-23CB1671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962" y="2781215"/>
            <a:ext cx="746692" cy="634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7B4F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D0E7699-E606-4719-84BE-3ACBE205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98" y="3938588"/>
            <a:ext cx="522684" cy="448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AEF"/>
          </a:solidFill>
          <a:ln xmlns:a="http://schemas.openxmlformats.org/drawingml/2006/main" w="22401">
            <a:solidFill>
              <a:srgbClr val="347EBC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A8B0F96-B855-4CBD-9571-F02CE559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601" y="2967888"/>
            <a:ext cx="485350" cy="5600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7" name="Diagram label: Mineral particles&#10;from rocks">
            <a:extLst xmlns:a="http://schemas.openxmlformats.org/drawingml/2006/main">
              <a:ext uri="{FF2B5EF4-FFF2-40B4-BE49-F238E27FC236}">
                <a16:creationId xmlns:a16="http://schemas.microsoft.com/office/drawing/2014/main" id="{52CC642C-F1E3-4EA3-B532-9A8E0973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038" y="2631877"/>
            <a:ext cx="2240076" cy="78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Mineral particles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from rocks</a:t>
            </a:r>
          </a:p>
        </p:txBody>
      </p:sp>
      <p:sp>
        <p:nvSpPr>
          <p:cNvPr id="18" name="Diagram label: Organic matter:&#10;remains of living things">
            <a:extLst xmlns:a="http://schemas.openxmlformats.org/drawingml/2006/main">
              <a:ext uri="{FF2B5EF4-FFF2-40B4-BE49-F238E27FC236}">
                <a16:creationId xmlns:a16="http://schemas.microsoft.com/office/drawing/2014/main" id="{7AB5220E-8126-4C90-BE73-6AF2AA9C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038" y="3714580"/>
            <a:ext cx="2240076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Organic matter: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remains of living things</a:t>
            </a:r>
          </a:p>
        </p:txBody>
      </p:sp>
      <p:sp>
        <p:nvSpPr>
          <p:cNvPr id="19" name="Diagram label: Spaces can hold&#10;air and water.">
            <a:extLst xmlns:a="http://schemas.openxmlformats.org/drawingml/2006/main">
              <a:ext uri="{FF2B5EF4-FFF2-40B4-BE49-F238E27FC236}">
                <a16:creationId xmlns:a16="http://schemas.microsoft.com/office/drawing/2014/main" id="{4CCFFCDD-CC7F-4F99-AA03-F119AC0C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038" y="4759949"/>
            <a:ext cx="2240076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Spaces can hold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air and water.</a:t>
            </a:r>
          </a:p>
        </p:txBody>
      </p:sp>
      <p:sp>
        <p:nvSpPr>
          <p:cNvPr id="20" name="Diagram label: Not to scale. Living organisms can also occur in soil.">
            <a:extLst xmlns:a="http://schemas.openxmlformats.org/drawingml/2006/main">
              <a:ext uri="{FF2B5EF4-FFF2-40B4-BE49-F238E27FC236}">
                <a16:creationId xmlns:a16="http://schemas.microsoft.com/office/drawing/2014/main" id="{2C6D9A46-3013-47BD-A52F-4704244A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5469306"/>
            <a:ext cx="6608224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to scale. Living organisms can also occur in soil.</a:t>
            </a:r>
          </a:p>
        </p:txBody>
      </p:sp>
      <p:sp>
        <p:nvSpPr>
          <p:cNvPr id="21" name="Mineral pieces are one part.  Organic matter is another.  Spaces">
            <a:extLst xmlns:a="http://schemas.openxmlformats.org/drawingml/2006/main">
              <a:ext uri="{FF2B5EF4-FFF2-40B4-BE49-F238E27FC236}">
                <a16:creationId xmlns:a16="http://schemas.microsoft.com/office/drawing/2014/main" id="{02B7CDFC-E1A0-40F7-87CF-DBDE774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Mineral pieces are one part. Organic matter is another. Spaces can contain air or water.</a:t>
            </a:r>
          </a:p>
        </p:txBody>
      </p:sp>
    </p:spTree>
    <p:extLst>
      <p:ext uri="{BB962C8B-B14F-4D97-AF65-F5344CB8AC3E}">
        <p14:creationId xmlns:p14="http://schemas.microsoft.com/office/powerpoint/2010/main" val="1752955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0EAB34AC-5E14-4556-99AC-290ADF85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ABA37F7-9E02-4952-ADE5-139C63DB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ABBEBB7-3A2F-4E96-A59F-B06772E6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56A8DBA-267C-4F6C-AE25-3BF77F08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D65F1AC0-4D75-45B1-B3DD-FBE52D2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follow the museum light">
            <a:extLst xmlns:a="http://schemas.openxmlformats.org/drawingml/2006/main">
              <a:ext uri="{FF2B5EF4-FFF2-40B4-BE49-F238E27FC236}">
                <a16:creationId xmlns:a16="http://schemas.microsoft.com/office/drawing/2014/main" id="{CE14E9D4-E820-45B0-BF99-0C2566C5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follow the museum light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28DFCDE-A6F2-4888-884C-5A286208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DC1554C5-2824-4C81-8F85-956AA2D8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15301A8D-C983-4F24-AAB3-FB2E7AF6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F2B0D30-A3CF-4BAA-A617-A9C3DA0F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2818550"/>
            <a:ext cx="1120038" cy="634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1" name="Diagram label: Lit lamp">
            <a:extLst xmlns:a="http://schemas.openxmlformats.org/drawingml/2006/main">
              <a:ext uri="{FF2B5EF4-FFF2-40B4-BE49-F238E27FC236}">
                <a16:creationId xmlns:a16="http://schemas.microsoft.com/office/drawing/2014/main" id="{D291B1FC-4187-4321-B679-F235C18E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2407869"/>
            <a:ext cx="1568053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Lit lamp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A9CFF95-028B-4A21-B11E-A8192CD7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646" y="3938588"/>
            <a:ext cx="1194707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1A9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3" name="Diagram label: Fossil exhibit">
            <a:extLst xmlns:a="http://schemas.openxmlformats.org/drawingml/2006/main">
              <a:ext uri="{FF2B5EF4-FFF2-40B4-BE49-F238E27FC236}">
                <a16:creationId xmlns:a16="http://schemas.microsoft.com/office/drawing/2014/main" id="{B1AE8773-3099-4F5A-B461-B98F31A6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639" y="4983956"/>
            <a:ext cx="2016068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Fossil exhibit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446185C-BA01-47CE-8247-AFD24BE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076" y="2855884"/>
            <a:ext cx="970700" cy="5973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5FF2380-2D1E-48C0-84DA-77F73DE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080" y="3005223"/>
            <a:ext cx="261342" cy="29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6" name="Diagram label: Eye">
            <a:extLst xmlns:a="http://schemas.openxmlformats.org/drawingml/2006/main">
              <a:ext uri="{FF2B5EF4-FFF2-40B4-BE49-F238E27FC236}">
                <a16:creationId xmlns:a16="http://schemas.microsoft.com/office/drawing/2014/main" id="{4BC7C9ED-89C0-4845-9534-255794B5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745" y="2407869"/>
            <a:ext cx="970700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Eye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487BF79-8A9E-4801-AB55-F1688CC8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5263" y="3266565"/>
            <a:ext cx="2016096" cy="6480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FB6AF749-167E-4D0C-800F-3F17F2A8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469133">
            <a:off x="5993971" y="3870324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56CC7B5-1725-41BB-90BB-7B1689AA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3288104"/>
            <a:ext cx="2276694" cy="650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2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0194A89-3882-49B0-8B71-F6894A99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43276">
            <a:off x="8345554" y="322865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1" name="Diagram label: Light arrives">
            <a:extLst xmlns:a="http://schemas.openxmlformats.org/drawingml/2006/main">
              <a:ext uri="{FF2B5EF4-FFF2-40B4-BE49-F238E27FC236}">
                <a16:creationId xmlns:a16="http://schemas.microsoft.com/office/drawing/2014/main" id="{02B811EC-F4E4-4E1B-B582-FF1B9D1C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593" y="4311933"/>
            <a:ext cx="1344046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 arrives</a:t>
            </a:r>
          </a:p>
        </p:txBody>
      </p:sp>
      <p:sp>
        <p:nvSpPr>
          <p:cNvPr id="22" name="Diagram label: Some reflected light&#10;enters the eye.">
            <a:extLst xmlns:a="http://schemas.openxmlformats.org/drawingml/2006/main">
              <a:ext uri="{FF2B5EF4-FFF2-40B4-BE49-F238E27FC236}">
                <a16:creationId xmlns:a16="http://schemas.microsoft.com/office/drawing/2014/main" id="{C4CB8D0A-72FC-42F4-8D5A-ED543CCD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4087926"/>
            <a:ext cx="2464083" cy="82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Some reflected light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enters the eye.</a:t>
            </a:r>
          </a:p>
        </p:txBody>
      </p:sp>
      <p:sp>
        <p:nvSpPr>
          <p:cNvPr id="23" name="Diagram label: A plain fossil is a reflector, not a light source.">
            <a:extLst xmlns:a="http://schemas.openxmlformats.org/drawingml/2006/main">
              <a:ext uri="{FF2B5EF4-FFF2-40B4-BE49-F238E27FC236}">
                <a16:creationId xmlns:a16="http://schemas.microsoft.com/office/drawing/2014/main" id="{E3660D9F-8A04-4DD2-BF5D-00F6BC44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5543975"/>
            <a:ext cx="6346882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plain fossil is a reflector, not a light source.</a:t>
            </a:r>
          </a:p>
        </p:txBody>
      </p:sp>
      <p:sp>
        <p:nvSpPr>
          <p:cNvPr id="24" name="Start at the lamp.  Follow reflected light into the eye.">
            <a:extLst xmlns:a="http://schemas.openxmlformats.org/drawingml/2006/main">
              <a:ext uri="{FF2B5EF4-FFF2-40B4-BE49-F238E27FC236}">
                <a16:creationId xmlns:a16="http://schemas.microsoft.com/office/drawing/2014/main" id="{1BF70FE5-0EDA-4172-9DCA-C8B8724B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Start at the lamp. Follow reflected light into the eye.</a:t>
            </a:r>
          </a:p>
        </p:txBody>
      </p:sp>
    </p:spTree>
    <p:extLst>
      <p:ext uri="{BB962C8B-B14F-4D97-AF65-F5344CB8AC3E}">
        <p14:creationId xmlns:p14="http://schemas.microsoft.com/office/powerpoint/2010/main" val="1501160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25A8AD7-269F-40AB-8590-D85D63E9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087CBFA-CDFE-41AB-B7E6-E5E8026D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63EA3C9-01AC-46ED-AD5F-44D621F8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DBEAF983-93B1-44C4-B086-F2E47CD7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67114CD2-368C-4206-BCF6-64003B65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0E6D855A-9E74-4640-9285-843E4AF3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Curators compare A and B">
            <a:extLst xmlns:a="http://schemas.openxmlformats.org/drawingml/2006/main">
              <a:ext uri="{FF2B5EF4-FFF2-40B4-BE49-F238E27FC236}">
                <a16:creationId xmlns:a16="http://schemas.microsoft.com/office/drawing/2014/main" id="{7F45EACA-4C8A-4CEE-9C16-AC07E49B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Curators compare A and B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93C6E0A-6CDA-43E0-910A-11AA0993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16F87732-39F5-4ED0-B525-2F9020B0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EE9067E9-B203-4EC8-8BEB-8D98E1FD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Which is ancient evidence? Which is a recent model? Explain usin">
            <a:extLst xmlns:a="http://schemas.openxmlformats.org/drawingml/2006/main">
              <a:ext uri="{FF2B5EF4-FFF2-40B4-BE49-F238E27FC236}">
                <a16:creationId xmlns:a16="http://schemas.microsoft.com/office/drawing/2014/main" id="{AAE56E4A-F8D4-4971-A679-2689EB99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is ancient evidence? Which is a recent model? Explain using the card history.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1515904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95485"/>
                <a:gridCol w="7229715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Exhibit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Given history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Preserved shell in ancient rock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Imprint made in clay today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upplied fictional exhibit records">
            <a:extLst xmlns:a="http://schemas.openxmlformats.org/drawingml/2006/main">
              <a:ext uri="{FF2B5EF4-FFF2-40B4-BE49-F238E27FC236}">
                <a16:creationId xmlns:a16="http://schemas.microsoft.com/office/drawing/2014/main" id="{B242F4F5-E4D5-45A9-AF42-5FE77858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5729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Supplied fictional exhibit records</a:t>
            </a:r>
          </a:p>
        </p:txBody>
      </p:sp>
    </p:spTree>
    <p:extLst>
      <p:ext uri="{BB962C8B-B14F-4D97-AF65-F5344CB8AC3E}">
        <p14:creationId xmlns:p14="http://schemas.microsoft.com/office/powerpoint/2010/main" val="1777323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63FE31E-BA9C-4650-A291-993E0D0B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466C3F9-0934-43EE-BE1D-2E460B9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65ECB25-785A-42FF-A65A-9015C52C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4B87B6C6-5229-4401-8F57-46D9A0E4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485710D7-FB21-4CF1-9CC3-5C8ED535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6E43D97F-4581-4272-87C9-E21408B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Repair the two-word traps">
            <a:extLst xmlns:a="http://schemas.openxmlformats.org/drawingml/2006/main">
              <a:ext uri="{FF2B5EF4-FFF2-40B4-BE49-F238E27FC236}">
                <a16:creationId xmlns:a16="http://schemas.microsoft.com/office/drawing/2014/main" id="{76C2BF4F-C282-49E7-B5B8-88CF1379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two-word traps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8179315-6165-49C3-9D71-19B62D92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AA9D6DFD-3D94-4755-B4E3-6F7B0260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105F25D5-203F-4B43-93C4-6288E378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“Soil is only rock.”">
            <a:extLst xmlns:a="http://schemas.openxmlformats.org/drawingml/2006/main">
              <a:ext uri="{FF2B5EF4-FFF2-40B4-BE49-F238E27FC236}">
                <a16:creationId xmlns:a16="http://schemas.microsoft.com/office/drawing/2014/main" id="{94BE9E4D-B0E2-4356-8511-D2D4F24A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“Soil is only rock.”</a:t>
            </a:r>
          </a:p>
        </p:txBody>
      </p:sp>
      <p:sp>
        <p:nvSpPr>
          <p:cNvPr id="12" name="“Eyes make viewing light.”">
            <a:extLst xmlns:a="http://schemas.openxmlformats.org/drawingml/2006/main">
              <a:ext uri="{FF2B5EF4-FFF2-40B4-BE49-F238E27FC236}">
                <a16:creationId xmlns:a16="http://schemas.microsoft.com/office/drawing/2014/main" id="{F738CE7E-9AF8-433D-9C18-680AA144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“Eyes make viewing light.”</a:t>
            </a:r>
          </a:p>
        </p:txBody>
      </p:sp>
      <p:sp>
        <p:nvSpPr>
          <p:cNvPr id="13" name="Change the smallest useful phrase.">
            <a:extLst xmlns:a="http://schemas.openxmlformats.org/drawingml/2006/main">
              <a:ext uri="{FF2B5EF4-FFF2-40B4-BE49-F238E27FC236}">
                <a16:creationId xmlns:a16="http://schemas.microsoft.com/office/drawing/2014/main" id="{77A1D636-D1FB-4E38-B3CA-924D90F0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the smallest useful phrase.</a:t>
            </a:r>
          </a:p>
        </p:txBody>
      </p:sp>
    </p:spTree>
    <p:extLst>
      <p:ext uri="{BB962C8B-B14F-4D97-AF65-F5344CB8AC3E}">
        <p14:creationId xmlns:p14="http://schemas.microsoft.com/office/powerpoint/2010/main" val="1707344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E698E0AE-9FA7-49BD-8F04-A30CC965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9ED2B24-3A62-459B-943B-8C56A24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A2C52AA-CA30-4855-866A-F4D4D5FA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2FEEB7C-093F-4E7C-B1D1-BA37ACB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DCC8041B-0F23-4CAA-B818-1A598A28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3E286AF6-AE90-428D-9E05-A12A6598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label can stay?">
            <a:extLst xmlns:a="http://schemas.openxmlformats.org/drawingml/2006/main">
              <a:ext uri="{FF2B5EF4-FFF2-40B4-BE49-F238E27FC236}">
                <a16:creationId xmlns:a16="http://schemas.microsoft.com/office/drawing/2014/main" id="{F2665468-61C0-4BE0-894C-5712C805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label can stay?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DA0C3D4-76A5-47A9-996B-C14FB61D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FBFEC5D7-9375-4481-86A8-2FB2F649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884A7EBD-FB92-487E-8CB0-7F85D2E1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Choose the claim with evidence.">
            <a:extLst xmlns:a="http://schemas.openxmlformats.org/drawingml/2006/main">
              <a:ext uri="{FF2B5EF4-FFF2-40B4-BE49-F238E27FC236}">
                <a16:creationId xmlns:a16="http://schemas.microsoft.com/office/drawing/2014/main" id="{67D451B5-A936-4975-B9E7-CA4068DA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claim with evidence.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BFF2573B-1062-4D0F-AFB7-AC2556C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1F65F0B-7D4A-4FCB-989E-E401C0F7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FA14B94E-9DB1-471E-8321-5E781045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Today’s clay imprint is an ancient fossil.">
            <a:extLst xmlns:a="http://schemas.openxmlformats.org/drawingml/2006/main">
              <a:ext uri="{FF2B5EF4-FFF2-40B4-BE49-F238E27FC236}">
                <a16:creationId xmlns:a16="http://schemas.microsoft.com/office/drawing/2014/main" id="{791E2E3D-1065-4C3C-9B6C-97F05D82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Today’s clay imprint is an ancient fossil.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E6CBCB7F-24AF-43A3-B239-FAC5D78A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17310B2-A1B4-4E06-AEE7-B3D1BEA3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0C8BEC95-DE3A-4761-AFD2-DA9CBA59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The fossil can be seen when reflected light reaches the eye.">
            <a:extLst xmlns:a="http://schemas.openxmlformats.org/drawingml/2006/main">
              <a:ext uri="{FF2B5EF4-FFF2-40B4-BE49-F238E27FC236}">
                <a16:creationId xmlns:a16="http://schemas.microsoft.com/office/drawing/2014/main" id="{BF268EF8-0F1A-4DD7-9914-028F4A15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fossil can be seen when reflected light reaches the eye.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5CA086B4-A010-45B5-A9B0-D681A116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32466D29-3833-494A-ADFE-CE7EF3F9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C45F1F73-007F-40D7-9819-7A9C7EBC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Soil contains no organic material.">
            <a:extLst xmlns:a="http://schemas.openxmlformats.org/drawingml/2006/main">
              <a:ext uri="{FF2B5EF4-FFF2-40B4-BE49-F238E27FC236}">
                <a16:creationId xmlns:a16="http://schemas.microsoft.com/office/drawing/2014/main" id="{0D3124E5-707A-4363-926D-BCAD35BC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Soil contains no organic material.</a:t>
            </a:r>
          </a:p>
        </p:txBody>
      </p:sp>
    </p:spTree>
    <p:extLst>
      <p:ext uri="{BB962C8B-B14F-4D97-AF65-F5344CB8AC3E}">
        <p14:creationId xmlns:p14="http://schemas.microsoft.com/office/powerpoint/2010/main" val="3412511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2639162-3C6A-4C09-93BA-DD057E63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A26B4A7-E6B4-4380-B5C6-5472CF6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8F9D930-ABC1-438D-945F-D6186AEA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48DF1AC5-7576-4CC7-AD9D-230AEE68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420B235B-28FD-4C6B-96AE-6ED3D0B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ACCD7A5C-99B5-471E-BB90-C3B01DE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science route">
            <a:extLst xmlns:a="http://schemas.openxmlformats.org/drawingml/2006/main">
              <a:ext uri="{FF2B5EF4-FFF2-40B4-BE49-F238E27FC236}">
                <a16:creationId xmlns:a16="http://schemas.microsoft.com/office/drawing/2014/main" id="{5BBEF761-05C0-49FD-B2ED-7C7F71D0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science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C0AD100-07EB-46BD-9638-70568997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D93010AB-9B2C-43EF-BB47-B08ADE04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6361D604-AB86-4BE0-8F27-C1862F8B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Correct short labels.">
            <a:extLst xmlns:a="http://schemas.openxmlformats.org/drawingml/2006/main">
              <a:ext uri="{FF2B5EF4-FFF2-40B4-BE49-F238E27FC236}">
                <a16:creationId xmlns:a16="http://schemas.microsoft.com/office/drawing/2014/main" id="{34FE3DA2-B298-401B-AD18-99364819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Correct short labels.</a:t>
            </a:r>
          </a:p>
        </p:txBody>
      </p:sp>
      <p:sp>
        <p:nvSpPr>
          <p:cNvPr id="12" name="Write a museum guide.">
            <a:extLst xmlns:a="http://schemas.openxmlformats.org/drawingml/2006/main">
              <a:ext uri="{FF2B5EF4-FFF2-40B4-BE49-F238E27FC236}">
                <a16:creationId xmlns:a16="http://schemas.microsoft.com/office/drawing/2014/main" id="{F1C0A906-FD05-4B5F-811A-A8384FFE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 museum guide.</a:t>
            </a:r>
          </a:p>
        </p:txBody>
      </p:sp>
      <p:sp>
        <p:nvSpPr>
          <p:cNvPr id="13" name="Review the limits of evidence.">
            <a:extLst xmlns:a="http://schemas.openxmlformats.org/drawingml/2006/main">
              <a:ext uri="{FF2B5EF4-FFF2-40B4-BE49-F238E27FC236}">
                <a16:creationId xmlns:a16="http://schemas.microsoft.com/office/drawing/2014/main" id="{89D13EA1-DC3D-423B-A735-AD2D2BE4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Review the limits of evidence.</a:t>
            </a:r>
          </a:p>
        </p:txBody>
      </p:sp>
    </p:spTree>
    <p:extLst>
      <p:ext uri="{BB962C8B-B14F-4D97-AF65-F5344CB8AC3E}">
        <p14:creationId xmlns:p14="http://schemas.microsoft.com/office/powerpoint/2010/main" val="854069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84FB40D-24CB-4346-8B90-03A86C7D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BF70FC9-4497-481F-A351-D490E063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5DDA606-78B6-4676-B83D-B428A5FA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91DD43F-8024-49AA-9378-1F9C146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92284FFD-0F06-4A38-9DF4-90821B06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80638FD5-AB05-406C-A345-1EEF39A4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evidence record">
            <a:extLst xmlns:a="http://schemas.openxmlformats.org/drawingml/2006/main">
              <a:ext uri="{FF2B5EF4-FFF2-40B4-BE49-F238E27FC236}">
                <a16:creationId xmlns:a16="http://schemas.microsoft.com/office/drawing/2014/main" id="{FECC18DB-F486-4AD6-AC54-1C564AF7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evidence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002A1BE-D350-480B-8CC3-3ED557E7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9EF43DF9-67F3-490A-BC59-1F3627C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10 / 14">
            <a:extLst xmlns:a="http://schemas.openxmlformats.org/drawingml/2006/main">
              <a:ext uri="{FF2B5EF4-FFF2-40B4-BE49-F238E27FC236}">
                <a16:creationId xmlns:a16="http://schemas.microsoft.com/office/drawing/2014/main" id="{182F0F40-2A95-407A-AC9E-781DAD86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1" name="Use the shared evidence.">
            <a:extLst xmlns:a="http://schemas.openxmlformats.org/drawingml/2006/main">
              <a:ext uri="{FF2B5EF4-FFF2-40B4-BE49-F238E27FC236}">
                <a16:creationId xmlns:a16="http://schemas.microsoft.com/office/drawing/2014/main" id="{AC9F600E-4F7A-4F70-BEC7-91AD4C0E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shared evidence.</a:t>
            </a:r>
          </a:p>
        </p:txBody>
      </p:sp>
      <p:sp>
        <p:nvSpPr>
          <p:cNvPr id="12" name="Explain one choice.">
            <a:extLst xmlns:a="http://schemas.openxmlformats.org/drawingml/2006/main">
              <a:ext uri="{FF2B5EF4-FFF2-40B4-BE49-F238E27FC236}">
                <a16:creationId xmlns:a16="http://schemas.microsoft.com/office/drawing/2014/main" id="{354309C9-8AA4-4A8B-904C-BEAF334A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one choice.</a:t>
            </a:r>
          </a:p>
        </p:txBody>
      </p:sp>
      <p:sp>
        <p:nvSpPr>
          <p:cNvPr id="13" name="Check a label or number.">
            <a:extLst xmlns:a="http://schemas.openxmlformats.org/drawingml/2006/main">
              <a:ext uri="{FF2B5EF4-FFF2-40B4-BE49-F238E27FC236}">
                <a16:creationId xmlns:a16="http://schemas.microsoft.com/office/drawing/2014/main" id="{93256434-AB15-4C82-98F7-C528572D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 label or number.</a:t>
            </a:r>
          </a:p>
        </p:txBody>
      </p:sp>
    </p:spTree>
    <p:extLst>
      <p:ext uri="{BB962C8B-B14F-4D97-AF65-F5344CB8AC3E}">
        <p14:creationId xmlns:p14="http://schemas.microsoft.com/office/powerpoint/2010/main" val="13141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63FF5FB-7C77-426E-B992-72AB23C9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6DF74A2-588C-4529-9D89-EAE37718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EBC73D8-E779-42D9-99EF-EEBB193B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4044296-47AF-46D3-9307-96D697F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BA381DED-011B-42FE-8135-67434843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what the evidence can show">
            <a:extLst xmlns:a="http://schemas.openxmlformats.org/drawingml/2006/main">
              <a:ext uri="{FF2B5EF4-FFF2-40B4-BE49-F238E27FC236}">
                <a16:creationId xmlns:a16="http://schemas.microsoft.com/office/drawing/2014/main" id="{FA6C0E7A-A564-45FE-BC36-1BCCD6E8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what the evidence can show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174334B1-1D06-4475-934C-5AFA7930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A5BBF8AB-8714-41DD-9BFA-97D25584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9" name="11 / 14">
            <a:extLst xmlns:a="http://schemas.openxmlformats.org/drawingml/2006/main">
              <a:ext uri="{FF2B5EF4-FFF2-40B4-BE49-F238E27FC236}">
                <a16:creationId xmlns:a16="http://schemas.microsoft.com/office/drawing/2014/main" id="{95F2FB05-F4AC-40C3-9536-AA185BC3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0" name="Point to the clue you used.">
            <a:extLst xmlns:a="http://schemas.openxmlformats.org/drawingml/2006/main">
              <a:ext uri="{FF2B5EF4-FFF2-40B4-BE49-F238E27FC236}">
                <a16:creationId xmlns:a16="http://schemas.microsoft.com/office/drawing/2014/main" id="{B4C03580-4B09-428B-99CC-10A8B222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Point to the clue you used.</a:t>
            </a:r>
          </a:p>
        </p:txBody>
      </p:sp>
      <p:sp>
        <p:nvSpPr>
          <p:cNvPr id="11" name="Remove an unsupported claim.">
            <a:extLst xmlns:a="http://schemas.openxmlformats.org/drawingml/2006/main">
              <a:ext uri="{FF2B5EF4-FFF2-40B4-BE49-F238E27FC236}">
                <a16:creationId xmlns:a16="http://schemas.microsoft.com/office/drawing/2014/main" id="{0A2BB338-6E6A-4590-AE47-E474C6C3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Remove an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8761129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96B7E66B-4D84-461D-8C91-1EFAF5B2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9CA6E18-C936-4410-9660-C03C6C9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75AB64D-FDB4-4D4E-B45A-DC2A2824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199851C-635E-40A4-B198-5362661B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5F1EC0FE-8DDD-4CA4-AAA5-BD2A673D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3E930E69-61E9-4889-9AFA-B22F29C9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the shared account">
            <a:extLst xmlns:a="http://schemas.openxmlformats.org/drawingml/2006/main">
              <a:ext uri="{FF2B5EF4-FFF2-40B4-BE49-F238E27FC236}">
                <a16:creationId xmlns:a16="http://schemas.microsoft.com/office/drawing/2014/main" id="{2A79C5EF-579A-4012-8075-9C7B49A5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the shared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F93878D-9944-4988-8864-A4C09535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2153BC41-B21C-4AC0-A479-6749944F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12 / 14">
            <a:extLst xmlns:a="http://schemas.openxmlformats.org/drawingml/2006/main">
              <a:ext uri="{FF2B5EF4-FFF2-40B4-BE49-F238E27FC236}">
                <a16:creationId xmlns:a16="http://schemas.microsoft.com/office/drawing/2014/main" id="{B8101775-D96E-416B-9136-995F2F28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1" name="Choose how to share.">
            <a:extLst xmlns:a="http://schemas.openxmlformats.org/drawingml/2006/main">
              <a:ext uri="{FF2B5EF4-FFF2-40B4-BE49-F238E27FC236}">
                <a16:creationId xmlns:a16="http://schemas.microsoft.com/office/drawing/2014/main" id="{634DCBE5-E9FA-4BBE-8614-E98162EF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share.</a:t>
            </a:r>
          </a:p>
        </p:txBody>
      </p:sp>
      <p:sp>
        <p:nvSpPr>
          <p:cNvPr id="12" name="Hear one evidence-based challenge.">
            <a:extLst xmlns:a="http://schemas.openxmlformats.org/drawingml/2006/main">
              <a:ext uri="{FF2B5EF4-FFF2-40B4-BE49-F238E27FC236}">
                <a16:creationId xmlns:a16="http://schemas.microsoft.com/office/drawing/2014/main" id="{F2FFFF3D-E71F-4BA5-B8DF-7C03E74F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 one evidence-based challenge.</a:t>
            </a:r>
          </a:p>
        </p:txBody>
      </p:sp>
      <p:sp>
        <p:nvSpPr>
          <p:cNvPr id="13" name="Improve or defend one idea.">
            <a:extLst xmlns:a="http://schemas.openxmlformats.org/drawingml/2006/main">
              <a:ext uri="{FF2B5EF4-FFF2-40B4-BE49-F238E27FC236}">
                <a16:creationId xmlns:a16="http://schemas.microsoft.com/office/drawing/2014/main" id="{14B42AD1-A58A-4E1A-9D43-77BEF697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or defend one idea.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6BD65775-E152-4793-B45A-411F23F6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F8D45DD0-FA79-45A9-B9B7-1F95CB58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ich word did our evidence make us change?">
            <a:extLst xmlns:a="http://schemas.openxmlformats.org/drawingml/2006/main">
              <a:ext uri="{FF2B5EF4-FFF2-40B4-BE49-F238E27FC236}">
                <a16:creationId xmlns:a16="http://schemas.microsoft.com/office/drawing/2014/main" id="{ACF9B74D-9DFC-468E-A4C9-3C4E0DF4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Which word did our evidence make us change?</a:t>
            </a:r>
          </a:p>
        </p:txBody>
      </p:sp>
    </p:spTree>
    <p:extLst>
      <p:ext uri="{BB962C8B-B14F-4D97-AF65-F5344CB8AC3E}">
        <p14:creationId xmlns:p14="http://schemas.microsoft.com/office/powerpoint/2010/main" val="7473690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D2F8E50E-996B-454B-926C-C91841D0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2D2754F-789E-42B2-B951-2F6673F7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5B02FD6-D5AA-4E79-B8BA-904F4CE1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C601385-D033-4956-9355-A190D671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5AE29F1B-D7EC-423A-994A-445B0F8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Keep the useful change">
            <a:extLst xmlns:a="http://schemas.openxmlformats.org/drawingml/2006/main">
              <a:ext uri="{FF2B5EF4-FFF2-40B4-BE49-F238E27FC236}">
                <a16:creationId xmlns:a16="http://schemas.microsoft.com/office/drawing/2014/main" id="{389D53D6-1ADE-4FBC-8FC0-BF7E114B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useful change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809A687-8CA5-4B18-B487-0B38D93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6FBAF346-6C6E-4338-823A-CBB379B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9" name="13 / 14">
            <a:extLst xmlns:a="http://schemas.openxmlformats.org/drawingml/2006/main">
              <a:ext uri="{FF2B5EF4-FFF2-40B4-BE49-F238E27FC236}">
                <a16:creationId xmlns:a16="http://schemas.microsoft.com/office/drawing/2014/main" id="{7398C8AA-8A09-4D7B-836A-A72C41D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0" name="What changed in our account?">
            <a:extLst xmlns:a="http://schemas.openxmlformats.org/drawingml/2006/main">
              <a:ext uri="{FF2B5EF4-FFF2-40B4-BE49-F238E27FC236}">
                <a16:creationId xmlns:a16="http://schemas.microsoft.com/office/drawing/2014/main" id="{185D1A6D-ACA2-4039-A174-D03ACC4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changed in our account?</a:t>
            </a:r>
          </a:p>
        </p:txBody>
      </p:sp>
      <p:sp>
        <p:nvSpPr>
          <p:cNvPr id="11" name="Which evidence helped?">
            <a:extLst xmlns:a="http://schemas.openxmlformats.org/drawingml/2006/main">
              <a:ext uri="{FF2B5EF4-FFF2-40B4-BE49-F238E27FC236}">
                <a16:creationId xmlns:a16="http://schemas.microsoft.com/office/drawing/2014/main" id="{1DA49372-FBD1-44E8-BCC4-5935FB26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evidence helped?</a:t>
            </a:r>
          </a:p>
        </p:txBody>
      </p:sp>
    </p:spTree>
    <p:extLst>
      <p:ext uri="{BB962C8B-B14F-4D97-AF65-F5344CB8AC3E}">
        <p14:creationId xmlns:p14="http://schemas.microsoft.com/office/powerpoint/2010/main" val="5446508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AA52612-56A2-41DA-99B6-0811F880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D6111A7-DCBC-45B7-9D00-6E97058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3AF2802-DAF2-45CE-8D5D-3BB8A01A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3B304D1-F8BA-4EC4-A332-ED35D107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0DCEFB10-E48D-4E73-B4D5-B89FFA2D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86691B53-70F0-40D5-9F6D-2E02CFA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final checks">
            <a:extLst xmlns:a="http://schemas.openxmlformats.org/drawingml/2006/main">
              <a:ext uri="{FF2B5EF4-FFF2-40B4-BE49-F238E27FC236}">
                <a16:creationId xmlns:a16="http://schemas.microsoft.com/office/drawing/2014/main" id="{81467F99-96E7-4512-A370-E3CA8C8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final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CA5EF86-24CA-49E7-945D-F85AE004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evidence museum">
            <a:extLst xmlns:a="http://schemas.openxmlformats.org/drawingml/2006/main">
              <a:ext uri="{FF2B5EF4-FFF2-40B4-BE49-F238E27FC236}">
                <a16:creationId xmlns:a16="http://schemas.microsoft.com/office/drawing/2014/main" id="{43A0964D-6324-42A8-84D8-B033FF01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evidence museum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6F37A42B-93E2-4B4B-8FD1-69C7B32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What does a fossil preserve?">
            <a:extLst xmlns:a="http://schemas.openxmlformats.org/drawingml/2006/main">
              <a:ext uri="{FF2B5EF4-FFF2-40B4-BE49-F238E27FC236}">
                <a16:creationId xmlns:a16="http://schemas.microsoft.com/office/drawing/2014/main" id="{20832C60-7D40-4043-BD01-A6C189F3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does a fossil preserve?</a:t>
            </a:r>
          </a:p>
        </p:txBody>
      </p:sp>
      <p:sp>
        <p:nvSpPr>
          <p:cNvPr id="12" name="E2. Name one non-mineral part of soil.">
            <a:extLst xmlns:a="http://schemas.openxmlformats.org/drawingml/2006/main">
              <a:ext uri="{FF2B5EF4-FFF2-40B4-BE49-F238E27FC236}">
                <a16:creationId xmlns:a16="http://schemas.microsoft.com/office/drawing/2014/main" id="{58DAC9ED-4605-4A93-ACA0-5A605FF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Name one non-mineral part of soil.</a:t>
            </a:r>
          </a:p>
        </p:txBody>
      </p:sp>
      <p:sp>
        <p:nvSpPr>
          <p:cNvPr id="13" name="E3. What must enter the eye to see the exhibit?">
            <a:extLst xmlns:a="http://schemas.openxmlformats.org/drawingml/2006/main">
              <a:ext uri="{FF2B5EF4-FFF2-40B4-BE49-F238E27FC236}">
                <a16:creationId xmlns:a16="http://schemas.microsoft.com/office/drawing/2014/main" id="{E9C4F950-6065-4FF3-9DFB-27475324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What must enter the eye to see the exhibit?</a:t>
            </a:r>
          </a:p>
        </p:txBody>
      </p:sp>
    </p:spTree>
    <p:extLst>
      <p:ext uri="{BB962C8B-B14F-4D97-AF65-F5344CB8AC3E}">
        <p14:creationId xmlns:p14="http://schemas.microsoft.com/office/powerpoint/2010/main" val="90608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2026-09-08T23:58:31.4480000Z</dcterms:created>
  <dcterms:modified xsi:type="dcterms:W3CDTF">2026-09-08T23:58:31.4480000Z</dcterms:modified>
</coreProperties>
</file>