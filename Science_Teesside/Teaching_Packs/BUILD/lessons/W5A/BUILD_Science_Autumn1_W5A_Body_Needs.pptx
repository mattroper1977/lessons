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329423eb286461f" /><Relationship Type="http://schemas.openxmlformats.org/officeDocument/2006/relationships/extended-properties" Target="/docProps/app.xml" Id="R35321eb1e11845ee" /><Relationship Type="http://schemas.openxmlformats.org/officeDocument/2006/relationships/officeDocument" Target="/ppt/presentation.xml" Id="R5610e47ef7e74077" /></Relationships>
</file>

<file path=ppt/presentation.xml><?xml version="1.0" encoding="utf-8"?>
<p:presentation xmlns:p="http://schemas.openxmlformats.org/presentationml/2006/main">
  <p:sldMasterIdLst>
    <p:sldMasterId xmlns:r="http://schemas.openxmlformats.org/officeDocument/2006/relationships" id="2147483648" r:id="Rff3814563ea2467a"/>
  </p:sldMasterIdLst>
  <p:notesMasterIdLst>
    <p:notesMasterId xmlns:r="http://schemas.openxmlformats.org/officeDocument/2006/relationships" r:id="R3a3f413a7bd74144"/>
  </p:notesMasterIdLst>
  <p:sldIdLst>
    <p:sldId xmlns:r="http://schemas.openxmlformats.org/officeDocument/2006/relationships" id="256" r:id="R8e4a5436e9e14bb5"/>
    <p:sldId xmlns:r="http://schemas.openxmlformats.org/officeDocument/2006/relationships" id="257" r:id="R731cdea21f3e445d"/>
    <p:sldId xmlns:r="http://schemas.openxmlformats.org/officeDocument/2006/relationships" id="258" r:id="R1aa3c90412cc485a"/>
    <p:sldId xmlns:r="http://schemas.openxmlformats.org/officeDocument/2006/relationships" id="259" r:id="R2ea3031ffc174009"/>
    <p:sldId xmlns:r="http://schemas.openxmlformats.org/officeDocument/2006/relationships" id="260" r:id="Rb29f92384f414031"/>
    <p:sldId xmlns:r="http://schemas.openxmlformats.org/officeDocument/2006/relationships" id="261" r:id="R7e2b0e36edd94842"/>
    <p:sldId xmlns:r="http://schemas.openxmlformats.org/officeDocument/2006/relationships" id="262" r:id="Rb3ecc317fcc2454c"/>
    <p:sldId xmlns:r="http://schemas.openxmlformats.org/officeDocument/2006/relationships" id="263" r:id="Re4fb2f7ffeec4ff9"/>
    <p:sldId xmlns:r="http://schemas.openxmlformats.org/officeDocument/2006/relationships" id="264" r:id="Rf0f2c12d46154f98"/>
    <p:sldId xmlns:r="http://schemas.openxmlformats.org/officeDocument/2006/relationships" id="265" r:id="Rc1d3bae2dc75453e"/>
    <p:sldId xmlns:r="http://schemas.openxmlformats.org/officeDocument/2006/relationships" id="266" r:id="Ra5a2d457e0504f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f94ecbe3dd14927" /><Relationship Type="http://schemas.openxmlformats.org/officeDocument/2006/relationships/slideMaster" Target="/ppt/slideMasters/slideMaster1.xml" Id="Rff3814563ea2467a" /><Relationship Type="http://schemas.openxmlformats.org/officeDocument/2006/relationships/notesMaster" Target="/ppt/notesMasters/notesMaster1.xml" Id="R3a3f413a7bd74144" /><Relationship Type="http://schemas.openxmlformats.org/officeDocument/2006/relationships/presProps" Target="/ppt/presProps.xml" Id="R12f33e2b3fc84d89" /><Relationship Type="http://schemas.openxmlformats.org/officeDocument/2006/relationships/tableStyles" Target="/ppt/tableStyles.xml" Id="R42f6306c769749e4" /><Relationship Type="http://schemas.openxmlformats.org/officeDocument/2006/relationships/slide" Target="/ppt/slides/slide1.xml" Id="R8e4a5436e9e14bb5" /><Relationship Type="http://schemas.openxmlformats.org/officeDocument/2006/relationships/slide" Target="/ppt/slides/slide2.xml" Id="R731cdea21f3e445d" /><Relationship Type="http://schemas.openxmlformats.org/officeDocument/2006/relationships/slide" Target="/ppt/slides/slide3.xml" Id="R1aa3c90412cc485a" /><Relationship Type="http://schemas.openxmlformats.org/officeDocument/2006/relationships/slide" Target="/ppt/slides/slide4.xml" Id="R2ea3031ffc174009" /><Relationship Type="http://schemas.openxmlformats.org/officeDocument/2006/relationships/slide" Target="/ppt/slides/slide5.xml" Id="Rb29f92384f414031" /><Relationship Type="http://schemas.openxmlformats.org/officeDocument/2006/relationships/slide" Target="/ppt/slides/slide6.xml" Id="R7e2b0e36edd94842" /><Relationship Type="http://schemas.openxmlformats.org/officeDocument/2006/relationships/slide" Target="/ppt/slides/slide7.xml" Id="Rb3ecc317fcc2454c" /><Relationship Type="http://schemas.openxmlformats.org/officeDocument/2006/relationships/slide" Target="/ppt/slides/slide8.xml" Id="Re4fb2f7ffeec4ff9" /><Relationship Type="http://schemas.openxmlformats.org/officeDocument/2006/relationships/slide" Target="/ppt/slides/slide9.xml" Id="Rf0f2c12d46154f98" /><Relationship Type="http://schemas.openxmlformats.org/officeDocument/2006/relationships/slide" Target="/ppt/slides/slide10.xml" Id="Rc1d3bae2dc75453e" /><Relationship Type="http://schemas.openxmlformats.org/officeDocument/2006/relationships/slide" Target="/ppt/slides/slide11.xml" Id="Ra5a2d457e0504f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21aa35c33e40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4fdedb5edc4904" /><Relationship Type="http://schemas.openxmlformats.org/officeDocument/2006/relationships/notesMaster" Target="/ppt/notesMasters/notesMaster1.xml" Id="R0e7c1013f6834e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da5020ea9845f1" /><Relationship Type="http://schemas.openxmlformats.org/officeDocument/2006/relationships/notesMaster" Target="/ppt/notesMasters/notesMaster1.xml" Id="R2ff669536436417c"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09e081faed457a" /><Relationship Type="http://schemas.openxmlformats.org/officeDocument/2006/relationships/notesMaster" Target="/ppt/notesMasters/notesMaster1.xml" Id="Rc68258a2d68848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9f678163752481d" /><Relationship Type="http://schemas.openxmlformats.org/officeDocument/2006/relationships/notesMaster" Target="/ppt/notesMasters/notesMaster1.xml" Id="R4760ddfcf6eb4f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7f3ed07e5349cd" /><Relationship Type="http://schemas.openxmlformats.org/officeDocument/2006/relationships/notesMaster" Target="/ppt/notesMasters/notesMaster1.xml" Id="R588b225698334fc6"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d081d4ebbe4c81" /><Relationship Type="http://schemas.openxmlformats.org/officeDocument/2006/relationships/notesMaster" Target="/ppt/notesMasters/notesMaster1.xml" Id="Rcbb344ef8e3d44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bc57b2e6404252" /><Relationship Type="http://schemas.openxmlformats.org/officeDocument/2006/relationships/notesMaster" Target="/ppt/notesMasters/notesMaster1.xml" Id="R6e03db902acc42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703c9dad544c30" /><Relationship Type="http://schemas.openxmlformats.org/officeDocument/2006/relationships/notesMaster" Target="/ppt/notesMasters/notesMaster1.xml" Id="Rd998a7a04fe04a0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d4d588e1bd848d0" /><Relationship Type="http://schemas.openxmlformats.org/officeDocument/2006/relationships/notesMaster" Target="/ppt/notesMasters/notesMaster1.xml" Id="R59e14be1c4ce4ff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c99f1afa2e04c4b" /><Relationship Type="http://schemas.openxmlformats.org/officeDocument/2006/relationships/notesMaster" Target="/ppt/notesMasters/notesMaster1.xml" Id="R5efc0534a179430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3b870d63f434c2d" /><Relationship Type="http://schemas.openxmlformats.org/officeDocument/2006/relationships/notesMaster" Target="/ppt/notesMasters/notesMaster1.xml" Id="Rba3e11c19a164f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Overview — 1 minutes within the source's 40-minute lesson.</a:t>
            </a:r>
          </a:p>
          <a:p xmlns:a="http://schemas.openxmlformats.org/drawingml/2006/main">
            <a:r>
              <a:t>Monday P3, 11:00-11:40. This one-minute overview is included in the 40-minute lesson.</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Arrival Task — 4 minutes within the source's 40-minute lesson.</a:t>
            </a:r>
          </a:p>
          <a:p xmlns:a="http://schemas.openxmlformats.org/drawingml/2006/main">
            <a:r>
              <a:t>Do not request personal diet disclosure. Supported: choose energy/growth labels. Standard: name a job. Stretch: name two and distinguish them. Retrieve the idea that muscles need a working body; no calorie discussion.</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at a Glance — 2 minutes within the source's 40-minute lesson.</a:t>
            </a:r>
          </a:p>
          <a:p xmlns:a="http://schemas.openxmlformats.org/drawingml/2006/main">
            <a:r>
              <a:t>Use energy, growth and repair, vitamins/minerals, fibre and water as age-appropriate vocabulary. These categories overlap: one food can supply more than one nutrient.</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1 — 5 minutes within the source's 40-minute lesson.</a:t>
            </a:r>
          </a:p>
          <a:p xmlns:a="http://schemas.openxmlformats.org/drawingml/2006/main">
            <a:r>
              <a:t>Model food/job links as examples, not exclusive categories. Bread also provides some protein, vitamins and minerals; beans/lentils also carbohydrate/fibre. Fruit/vegetables differ in nutrients. Do not claim a food has a single job or that one food can provide everything.</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1b — 4 minutes within the source's 40-minute lesson.</a:t>
            </a:r>
          </a:p>
          <a:p xmlns:a="http://schemas.openxmlformats.org/drawingml/2006/main">
            <a:r>
              <a:t>Water is needed alongside food and is present in many foods/drinks. Do not invent personal intake targets or encourage any restriction. Explain source model’s point: a collection of food cards is incomplete as a picture of bodily needs; water has functions despite no food energy.</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1 — first responses — 3 minutes within the source's 40-minute lesson.</a:t>
            </a:r>
          </a:p>
          <a:p xmlns:a="http://schemas.openxmlformats.org/drawingml/2006/main">
            <a:r>
              <a:t>Collect all pupil responses before modelling. Expected examples: starchy foods provide energy; beans/lentils supply protein for growth/repair. Accept other correct nutrient-linked jobs if justified. Do not treat one answer as excluding all other food functions.</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1 — compare — 3 minutes within the source's 40-minute lesson.</a:t>
            </a:r>
          </a:p>
          <a:p xmlns:a="http://schemas.openxmlformats.org/drawingml/2006/main">
            <a:r>
              <a:t>Variety can supply a broader range of nutrients than relying on one food. Adult reads the information table so pupils do not need to memorise all terms. Correct “only protein” gently with the supplied evidence.</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1b — 4 minutes within the source's 40-minute lesson.</a:t>
            </a:r>
          </a:p>
          <a:p xmlns:a="http://schemas.openxmlformats.org/drawingml/2006/main">
            <a:r>
              <a:t>Use matching cards: cow can eat grass, owl can eat mice, caterpillars can eat leaves, goldfish can eat suitable fish food. These are examples, not complete diets for every species. Adults, not pupils, manage actual animal feeding. Ask why giving any animal any food is not a sound rule.</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2 — 4 minutes within the source's 40-minute lesson.</a:t>
            </a:r>
          </a:p>
          <a:p xmlns:a="http://schemas.openxmlformats.org/drawingml/2006/main">
            <a:r>
              <a:t>Model because as evidence language. Supported: point from food to job; standard name a nutrient/job; stretch explain overlap. Food amount and type both matter, but no quantity/weight/calorie calculations or individual dietary advice.</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sort — 5 minutes within the source's 40-minute lesson.</a:t>
            </a:r>
          </a:p>
          <a:p xmlns:a="http://schemas.openxmlformats.org/drawingml/2006/main">
            <a:r>
              <a:t>Read example food labels aloud. Correct matches as in previous comparison. Claim false: animals have different feeding needs, e.g. cow eating grass and owl eating a mouse. Do not use the cards to decide actual feeding instructions for a pet.</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explain and save — 5 minutes within the source's 40-minute lesson.</a:t>
            </a:r>
          </a:p>
          <a:p xmlns:a="http://schemas.openxmlformats.org/drawingml/2006/main">
            <a:r>
              <a:t>Five minutes completes source ten-minute stage. Explain that different types of food matter as well as how much. Learner can pass or tell adult privately. Retain paper cards for Wednesday; never test the idea by feeding animals.</a:t>
            </a:r>
          </a:p>
          <a:p xmlns:a="http://schemas.openxmlformats.org/drawingml/2006/main">
            <a:r>
              <a:t/>
            </a:r>
          </a:p>
          <a:p xmlns:a="http://schemas.openxmlformats.org/drawingml/2006/main">
            <a:r>
              <a:t>[Sources]</a:t>
            </a:r>
          </a:p>
          <a:p xmlns:a="http://schemas.openxmlformats.org/drawingml/2006/main">
            <a:r>
              <a:t>https://github.com/MattRoper1977/Lessons/blob/main/Science_Teesside/Build/SCI_B_W5_Right_Nutrition.html</a:t>
            </a:r>
          </a:p>
          <a:p xmlns:a="http://schemas.openxmlformats.org/drawingml/2006/main">
            <a:r>
              <a:t>Git blob: 21014244de9f92bea3c1e10e53d0ce8592ea43ce.</a:t>
            </a:r>
          </a:p>
          <a:p xmlns:a="http://schemas.openxmlformats.org/drawingml/2006/main">
            <a:r>
              <a:t>SHA256: 1d06ba869b18be8328cf4723cc91b46298a63c494f95e92aa9563f23b15161d3.</a:t>
            </a:r>
          </a:p>
          <a:p xmlns:a="http://schemas.openxmlformats.org/drawingml/2006/main">
            <a:r>
              <a:t>User-supplied logo: approved-logo.jpg (unchanged attachment bytes).</a:t>
            </a:r>
          </a:p>
          <a:p xmlns:a="http://schemas.openxmlformats.org/drawingml/2006/main">
            <a:r>
              <a:t>White Rose Education, Year 3 Autumn Block 3 (2024): Nutrition and diet, steps 1 Food groups, 2 Understand the five food groups and 5 Animal diets. Concepts inform original card tasks; source photographs and printables are not redistributed.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8464ea69414d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50462d3cf1843ce" /><Relationship Type="http://schemas.openxmlformats.org/officeDocument/2006/relationships/slideLayout" Target="/ppt/slideLayouts/slideLayout1.xml" Id="Raa975ffd436549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975ffd436549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11521288d194004" /><Relationship Type="http://schemas.openxmlformats.org/officeDocument/2006/relationships/image" Target="/ppt/media/image.jpeg" Id="Rfad96ba659404a2c" /><Relationship Type="http://schemas.openxmlformats.org/officeDocument/2006/relationships/notesSlide" Target="/ppt/notesSlides/notesSlide1.xml" Id="Reb1301b46e3447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ae11ea2e06a4262" /><Relationship Type="http://schemas.openxmlformats.org/officeDocument/2006/relationships/image" Target="/ppt/media/image.jpeg" Id="R0aa27fc97e4343ac" /><Relationship Type="http://schemas.openxmlformats.org/officeDocument/2006/relationships/notesSlide" Target="/ppt/notesSlides/notesSlide2.xml" Id="R7f1b3e69e12a4f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c98b8b863154072" /><Relationship Type="http://schemas.openxmlformats.org/officeDocument/2006/relationships/image" Target="/ppt/media/image.jpeg" Id="R430251c364dd4179" /><Relationship Type="http://schemas.openxmlformats.org/officeDocument/2006/relationships/notesSlide" Target="/ppt/notesSlides/notesSlide3.xml" Id="R45b13136e3ce49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85bd0429c834dfb" /><Relationship Type="http://schemas.openxmlformats.org/officeDocument/2006/relationships/image" Target="/ppt/media/image.jpeg" Id="R6a035a1cebb14671" /><Relationship Type="http://schemas.openxmlformats.org/officeDocument/2006/relationships/notesSlide" Target="/ppt/notesSlides/notesSlide4.xml" Id="Ra7bd558e43cb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399353217345a1" /><Relationship Type="http://schemas.openxmlformats.org/officeDocument/2006/relationships/image" Target="/ppt/media/image.jpeg" Id="Rfc5103bcb33b41e8" /><Relationship Type="http://schemas.openxmlformats.org/officeDocument/2006/relationships/notesSlide" Target="/ppt/notesSlides/notesSlide5.xml" Id="R39e694dcfa6440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1fa9e13fc3a40f4" /><Relationship Type="http://schemas.openxmlformats.org/officeDocument/2006/relationships/image" Target="/ppt/media/image.jpeg" Id="R14acee18f1284b72" /><Relationship Type="http://schemas.openxmlformats.org/officeDocument/2006/relationships/notesSlide" Target="/ppt/notesSlides/notesSlide6.xml" Id="R00561edf42634e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dfbdec1b2a747ed" /><Relationship Type="http://schemas.openxmlformats.org/officeDocument/2006/relationships/image" Target="/ppt/media/image.jpeg" Id="Ra9a2ef8991fb4141" /><Relationship Type="http://schemas.openxmlformats.org/officeDocument/2006/relationships/notesSlide" Target="/ppt/notesSlides/notesSlide7.xml" Id="R981cf66f5a274e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620d52e5b2642a1" /><Relationship Type="http://schemas.openxmlformats.org/officeDocument/2006/relationships/image" Target="/ppt/media/image.jpeg" Id="Rba4aeb6958304ed4" /><Relationship Type="http://schemas.openxmlformats.org/officeDocument/2006/relationships/notesSlide" Target="/ppt/notesSlides/notesSlide8.xml" Id="R171e30e116484eb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5f382702c734c25" /><Relationship Type="http://schemas.openxmlformats.org/officeDocument/2006/relationships/image" Target="/ppt/media/image.jpeg" Id="R289f8aaaa805460b" /><Relationship Type="http://schemas.openxmlformats.org/officeDocument/2006/relationships/notesSlide" Target="/ppt/notesSlides/notesSlide9.xml" Id="R7a4e753da0424c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f90419b924f43c5" /><Relationship Type="http://schemas.openxmlformats.org/officeDocument/2006/relationships/image" Target="/ppt/media/image.jpeg" Id="Rc1c30059d01e40be" /><Relationship Type="http://schemas.openxmlformats.org/officeDocument/2006/relationships/notesSlide" Target="/ppt/notesSlides/notesSlide10.xml" Id="Rbb21f8049ce0437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ace7fe09c184c31" /><Relationship Type="http://schemas.openxmlformats.org/officeDocument/2006/relationships/image" Target="/ppt/media/image.jpeg" Id="R5930ad18f7224008" /><Relationship Type="http://schemas.openxmlformats.org/officeDocument/2006/relationships/notesSlide" Target="/ppt/notesSlides/notesSlide11.xml" Id="R36df9650853f4a11"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52B2F3BE-A99F-45F4-940A-D7BB5B551A4E}"/>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FE55DB8C-39CC-4B16-A093-7E3D89FB81A9}"/>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ad96ba659404a2c"/>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DA37379B-8780-45FE-AD35-D2930893AC5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What a body needs</a:t>
            </a:r>
          </a:p>
        </p:txBody>
      </p:sp>
      <p:sp>
        <p:nvSpPr>
          <p:cNvPr id="5" name="footer-line">
            <a:extLst xmlns:a="http://schemas.openxmlformats.org/drawingml/2006/main">
              <a:ext uri="{FF2B5EF4-FFF2-40B4-BE49-F238E27FC236}">
                <a16:creationId xmlns:a16="http://schemas.microsoft.com/office/drawing/2014/main" id="{E67C85C7-B0E1-41CE-B981-1FCEF7271C4B}"/>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9083D0E2-80BB-4114-B666-5C0DE22AE1FE}"/>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20B6151A-1DF1-401F-BAEB-0DA49DA5D330}"/>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01</a:t>
            </a:r>
          </a:p>
        </p:txBody>
      </p:sp>
      <p:sp>
        <p:nvSpPr>
          <p:cNvPr id="8" name="subtitle">
            <a:extLst xmlns:a="http://schemas.openxmlformats.org/drawingml/2006/main">
              <a:ext uri="{FF2B5EF4-FFF2-40B4-BE49-F238E27FC236}">
                <a16:creationId xmlns:a16="http://schemas.microsoft.com/office/drawing/2014/main" id="{9D56048A-EFE3-4737-B686-B8C0A423965B}"/>
              </a:ext>
            </a:extLst>
          </p:cNvPr>
          <p:cNvSpPr>
            <a:spLocks xmlns:a="http://schemas.openxmlformats.org/drawingml/2006/main" noGrp="1"/>
          </p:cNvSpPr>
          <p:nvPr/>
        </p:nvSpPr>
        <p:spPr>
          <a:xfrm xmlns:a="http://schemas.openxmlformats.org/drawingml/2006/main">
            <a:off x="609600" y="2809875"/>
            <a:ext cx="1066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900" b="1">
                <a:solidFill>
                  <a:srgbClr val="28685E"/>
                </a:solidFill>
              </a:defRPr>
            </a:pPr>
            <a:r>
              <a:rPr sz="3900" b="1">
                <a:solidFill>
                  <a:srgbClr val="28685E"/>
                </a:solidFill>
              </a:rPr>
              <a:t>Food has more than one job.</a:t>
            </a:r>
          </a:p>
        </p:txBody>
      </p:sp>
      <p:sp>
        <p:nvSpPr>
          <p:cNvPr id="9" name="body">
            <a:extLst xmlns:a="http://schemas.openxmlformats.org/drawingml/2006/main">
              <a:ext uri="{FF2B5EF4-FFF2-40B4-BE49-F238E27FC236}">
                <a16:creationId xmlns:a16="http://schemas.microsoft.com/office/drawing/2014/main" id="{F51AF731-7D62-4E6A-817E-63C52FA98532}"/>
              </a:ext>
            </a:extLst>
          </p:cNvPr>
          <p:cNvSpPr>
            <a:spLocks xmlns:a="http://schemas.openxmlformats.org/drawingml/2006/main" noGrp="1"/>
          </p:cNvSpPr>
          <p:nvPr/>
        </p:nvSpPr>
        <p:spPr>
          <a:xfrm xmlns:a="http://schemas.openxmlformats.org/drawingml/2006/main">
            <a:off x="609600" y="4143375"/>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I can explain why a body needs a range of nutrients.</a:t>
            </a:r>
          </a:p>
        </p:txBody>
      </p:sp>
    </p:spTree>
    <p:extLst>
      <p:ext uri="{BB962C8B-B14F-4D97-AF65-F5344CB8AC3E}">
        <p14:creationId xmlns:p14="http://schemas.microsoft.com/office/powerpoint/2010/main" val="366615608"/>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2A2497BE-C876-49B1-A920-5572080B9350}"/>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E2F26B21-EB97-4520-93DD-8E4F1FC41D20}"/>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aa27fc97e4343ac"/>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1252B9AA-FA25-4936-A772-BCC02E1D739B}"/>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Start with a body job</a:t>
            </a:r>
          </a:p>
        </p:txBody>
      </p:sp>
      <p:sp>
        <p:nvSpPr>
          <p:cNvPr id="5" name="footer-line">
            <a:extLst xmlns:a="http://schemas.openxmlformats.org/drawingml/2006/main">
              <a:ext uri="{FF2B5EF4-FFF2-40B4-BE49-F238E27FC236}">
                <a16:creationId xmlns:a16="http://schemas.microsoft.com/office/drawing/2014/main" id="{DFD2322A-FA50-40DF-B386-98813FF261CA}"/>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40C22829-0D80-4C67-8CE7-443582A4D275}"/>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EC62A02B-F9A6-4A04-81AA-503A5BE5E2CD}"/>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02</a:t>
            </a:r>
          </a:p>
        </p:txBody>
      </p:sp>
      <p:sp>
        <p:nvSpPr>
          <p:cNvPr id="8" name="line-0">
            <a:extLst xmlns:a="http://schemas.openxmlformats.org/drawingml/2006/main">
              <a:ext uri="{FF2B5EF4-FFF2-40B4-BE49-F238E27FC236}">
                <a16:creationId xmlns:a16="http://schemas.microsoft.com/office/drawing/2014/main" id="{3172ED3B-291D-4084-ACF3-C170A68BEE17}"/>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Think about a model body, not your own meals.</a:t>
            </a:r>
          </a:p>
        </p:txBody>
      </p:sp>
      <p:sp>
        <p:nvSpPr>
          <p:cNvPr id="9" name="line-1">
            <a:extLst xmlns:a="http://schemas.openxmlformats.org/drawingml/2006/main">
              <a:ext uri="{FF2B5EF4-FFF2-40B4-BE49-F238E27FC236}">
                <a16:creationId xmlns:a16="http://schemas.microsoft.com/office/drawing/2014/main" id="{54CF80C1-BACB-4A07-AE13-BFE191E71B43}"/>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What does food help a body do?</a:t>
            </a:r>
          </a:p>
        </p:txBody>
      </p:sp>
      <p:sp>
        <p:nvSpPr>
          <p:cNvPr id="10" name="line-2">
            <a:extLst xmlns:a="http://schemas.openxmlformats.org/drawingml/2006/main">
              <a:ext uri="{FF2B5EF4-FFF2-40B4-BE49-F238E27FC236}">
                <a16:creationId xmlns:a16="http://schemas.microsoft.com/office/drawing/2014/main" id="{7C7341C2-8698-469E-976F-B587B3D2CFD2}"/>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Name, draw or point to one job.</a:t>
            </a:r>
          </a:p>
        </p:txBody>
      </p:sp>
    </p:spTree>
    <p:extLst>
      <p:ext uri="{BB962C8B-B14F-4D97-AF65-F5344CB8AC3E}">
        <p14:creationId xmlns:p14="http://schemas.microsoft.com/office/powerpoint/2010/main" val="1303297508"/>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AFC8C6BB-9106-4ED4-89E9-ED1DE07FD727}"/>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20EFF8D3-D294-417E-9F27-890CFBCEF086}"/>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30251c364dd4179"/>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6364ECE7-0159-46F1-84AA-A2D7E82D84A8}"/>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Three things we will do</a:t>
            </a:r>
          </a:p>
        </p:txBody>
      </p:sp>
      <p:sp>
        <p:nvSpPr>
          <p:cNvPr id="5" name="footer-line">
            <a:extLst xmlns:a="http://schemas.openxmlformats.org/drawingml/2006/main">
              <a:ext uri="{FF2B5EF4-FFF2-40B4-BE49-F238E27FC236}">
                <a16:creationId xmlns:a16="http://schemas.microsoft.com/office/drawing/2014/main" id="{D12ACDD1-F40B-4246-9936-BA4A6052BD5A}"/>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21DBD736-4E2C-4EC9-9653-8263CF316325}"/>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96BD4667-865A-4F98-BE08-F0D5C249F2E6}"/>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03</a:t>
            </a:r>
          </a:p>
        </p:txBody>
      </p:sp>
      <p:sp>
        <p:nvSpPr>
          <p:cNvPr id="8" name="line-0">
            <a:extLst xmlns:a="http://schemas.openxmlformats.org/drawingml/2006/main">
              <a:ext uri="{FF2B5EF4-FFF2-40B4-BE49-F238E27FC236}">
                <a16:creationId xmlns:a16="http://schemas.microsoft.com/office/drawing/2014/main" id="{1677371B-EEFC-40D4-90BD-F2CB888762A4}"/>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Match food to body jobs.</a:t>
            </a:r>
          </a:p>
        </p:txBody>
      </p:sp>
      <p:sp>
        <p:nvSpPr>
          <p:cNvPr id="9" name="line-1">
            <a:extLst xmlns:a="http://schemas.openxmlformats.org/drawingml/2006/main">
              <a:ext uri="{FF2B5EF4-FFF2-40B4-BE49-F238E27FC236}">
                <a16:creationId xmlns:a16="http://schemas.microsoft.com/office/drawing/2014/main" id="{C75A9128-EBC1-4E75-A85B-EE34BE8E4748}"/>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Compare what different animals eat.</a:t>
            </a:r>
          </a:p>
        </p:txBody>
      </p:sp>
      <p:sp>
        <p:nvSpPr>
          <p:cNvPr id="10" name="line-2">
            <a:extLst xmlns:a="http://schemas.openxmlformats.org/drawingml/2006/main">
              <a:ext uri="{FF2B5EF4-FFF2-40B4-BE49-F238E27FC236}">
                <a16:creationId xmlns:a16="http://schemas.microsoft.com/office/drawing/2014/main" id="{9B0349AA-D60E-43AC-A1DF-62F3DEF53213}"/>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Explain why variety matters.</a:t>
            </a:r>
          </a:p>
        </p:txBody>
      </p:sp>
    </p:spTree>
    <p:extLst>
      <p:ext uri="{BB962C8B-B14F-4D97-AF65-F5344CB8AC3E}">
        <p14:creationId xmlns:p14="http://schemas.microsoft.com/office/powerpoint/2010/main" val="957314754"/>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1CC5042A-01E1-4F01-95EF-02F76EF3689E}"/>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066D6C43-E573-45DF-B32F-A02204FEDB7F}"/>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a035a1cebb14671"/>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B89AEC50-FFEC-42BA-A5AE-F57CFA409FE8}"/>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Food can help in several ways</a:t>
            </a:r>
          </a:p>
        </p:txBody>
      </p:sp>
      <p:sp>
        <p:nvSpPr>
          <p:cNvPr id="5" name="footer-line">
            <a:extLst xmlns:a="http://schemas.openxmlformats.org/drawingml/2006/main">
              <a:ext uri="{FF2B5EF4-FFF2-40B4-BE49-F238E27FC236}">
                <a16:creationId xmlns:a16="http://schemas.microsoft.com/office/drawing/2014/main" id="{8A4B7659-BFB1-4BB6-9E12-3BC506497C3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3C312A48-30FF-4482-8D27-94F82A0EC953}"/>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D3765A8D-395C-476A-A4F5-B718AC2BCCB2}"/>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04</a:t>
            </a:r>
          </a:p>
        </p:txBody>
      </p:sp>
      <p:sp>
        <p:nvSpPr>
          <p:cNvPr id="8" name="left-heading">
            <a:extLst xmlns:a="http://schemas.openxmlformats.org/drawingml/2006/main">
              <a:ext uri="{FF2B5EF4-FFF2-40B4-BE49-F238E27FC236}">
                <a16:creationId xmlns:a16="http://schemas.microsoft.com/office/drawing/2014/main" id="{72A3B5A9-B7B6-4E0F-9CC3-95EED43DAE26}"/>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EXAMPLE FOODS</a:t>
            </a:r>
          </a:p>
        </p:txBody>
      </p:sp>
      <p:sp>
        <p:nvSpPr>
          <p:cNvPr id="9" name="right-heading">
            <a:extLst xmlns:a="http://schemas.openxmlformats.org/drawingml/2006/main">
              <a:ext uri="{FF2B5EF4-FFF2-40B4-BE49-F238E27FC236}">
                <a16:creationId xmlns:a16="http://schemas.microsoft.com/office/drawing/2014/main" id="{94E4727C-7F4E-401F-A2DF-1BB24B1FA768}"/>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SOME OF THEIR JOBS</a:t>
            </a:r>
          </a:p>
        </p:txBody>
      </p:sp>
      <p:sp>
        <p:nvSpPr>
          <p:cNvPr id="10" name="left">
            <a:extLst xmlns:a="http://schemas.openxmlformats.org/drawingml/2006/main">
              <a:ext uri="{FF2B5EF4-FFF2-40B4-BE49-F238E27FC236}">
                <a16:creationId xmlns:a16="http://schemas.microsoft.com/office/drawing/2014/main" id="{8E9C2F16-3A3E-48F8-A369-98DF026FFCED}"/>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Bread or potatoes</a:t>
            </a:r>
          </a:p>
          <a:p xmlns:a="http://schemas.openxmlformats.org/drawingml/2006/main">
            <a:pPr>
              <a:defRPr sz="2400" b="0">
                <a:solidFill>
                  <a:srgbClr val="152B3A"/>
                </a:solidFill>
              </a:defRPr>
            </a:pPr>
            <a:r>
              <a:rPr sz="2400" b="0">
                <a:solidFill>
                  <a:srgbClr val="152B3A"/>
                </a:solidFill>
              </a:rPr>
              <a:t>Beans or lentils</a:t>
            </a:r>
          </a:p>
          <a:p xmlns:a="http://schemas.openxmlformats.org/drawingml/2006/main">
            <a:pPr>
              <a:defRPr sz="2400" b="0">
                <a:solidFill>
                  <a:srgbClr val="152B3A"/>
                </a:solidFill>
              </a:defRPr>
            </a:pPr>
            <a:r>
              <a:rPr sz="2400" b="0">
                <a:solidFill>
                  <a:srgbClr val="152B3A"/>
                </a:solidFill>
              </a:rPr>
              <a:t>Fruit and vegetables</a:t>
            </a:r>
          </a:p>
        </p:txBody>
      </p:sp>
      <p:sp>
        <p:nvSpPr>
          <p:cNvPr id="11" name="right">
            <a:extLst xmlns:a="http://schemas.openxmlformats.org/drawingml/2006/main">
              <a:ext uri="{FF2B5EF4-FFF2-40B4-BE49-F238E27FC236}">
                <a16:creationId xmlns:a16="http://schemas.microsoft.com/office/drawing/2014/main" id="{1CC47BD6-DA51-45BD-8EEE-F52A981A3A1F}"/>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Starchy carbohydrate gives energy.</a:t>
            </a:r>
          </a:p>
          <a:p xmlns:a="http://schemas.openxmlformats.org/drawingml/2006/main">
            <a:pPr>
              <a:defRPr sz="2400" b="0">
                <a:solidFill>
                  <a:srgbClr val="152B3A"/>
                </a:solidFill>
              </a:defRPr>
            </a:pPr>
            <a:r>
              <a:rPr sz="2400" b="0">
                <a:solidFill>
                  <a:srgbClr val="152B3A"/>
                </a:solidFill>
              </a:rPr>
              <a:t>Protein supports growth and repair.</a:t>
            </a:r>
          </a:p>
          <a:p xmlns:a="http://schemas.openxmlformats.org/drawingml/2006/main">
            <a:pPr>
              <a:defRPr sz="2400" b="0">
                <a:solidFill>
                  <a:srgbClr val="152B3A"/>
                </a:solidFill>
              </a:defRPr>
            </a:pPr>
            <a:r>
              <a:rPr sz="2400" b="0">
                <a:solidFill>
                  <a:srgbClr val="152B3A"/>
                </a:solidFill>
              </a:rPr>
              <a:t>Vitamins, minerals and fibre.</a:t>
            </a:r>
          </a:p>
        </p:txBody>
      </p:sp>
    </p:spTree>
    <p:extLst>
      <p:ext uri="{BB962C8B-B14F-4D97-AF65-F5344CB8AC3E}">
        <p14:creationId xmlns:p14="http://schemas.microsoft.com/office/powerpoint/2010/main" val="603830190"/>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536C68D0-555E-49E6-9FAE-2532AAB1878D}"/>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32A3EFB7-81DB-4FB0-AD3A-21178CBEA516}"/>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c5103bcb33b41e8"/>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F9AB4E67-A637-48D2-A253-CC18835D28E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Water matters too</a:t>
            </a:r>
          </a:p>
        </p:txBody>
      </p:sp>
      <p:sp>
        <p:nvSpPr>
          <p:cNvPr id="5" name="footer-line">
            <a:extLst xmlns:a="http://schemas.openxmlformats.org/drawingml/2006/main">
              <a:ext uri="{FF2B5EF4-FFF2-40B4-BE49-F238E27FC236}">
                <a16:creationId xmlns:a16="http://schemas.microsoft.com/office/drawing/2014/main" id="{28CCB190-9CED-43CD-837A-972703FFF7E3}"/>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908B97E4-2BE7-4B43-A5C0-78D68A73C242}"/>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97E28AEE-159F-4766-A07F-A5C858513A5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05</a:t>
            </a:r>
          </a:p>
        </p:txBody>
      </p:sp>
      <p:sp>
        <p:nvSpPr>
          <p:cNvPr id="8" name="statement">
            <a:extLst xmlns:a="http://schemas.openxmlformats.org/drawingml/2006/main">
              <a:ext uri="{FF2B5EF4-FFF2-40B4-BE49-F238E27FC236}">
                <a16:creationId xmlns:a16="http://schemas.microsoft.com/office/drawing/2014/main" id="{9FB464B6-5EED-4CF2-8038-E4B09B630906}"/>
              </a:ext>
            </a:extLst>
          </p:cNvPr>
          <p:cNvSpPr>
            <a:spLocks xmlns:a="http://schemas.openxmlformats.org/drawingml/2006/main" noGrp="1"/>
          </p:cNvSpPr>
          <p:nvPr/>
        </p:nvSpPr>
        <p:spPr>
          <a:xfrm xmlns:a="http://schemas.openxmlformats.org/drawingml/2006/main">
            <a:off x="609600" y="2686050"/>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925" b="1">
                <a:solidFill>
                  <a:srgbClr val="28685E"/>
                </a:solidFill>
              </a:defRPr>
            </a:pPr>
            <a:r>
              <a:rPr sz="2925" b="1">
                <a:solidFill>
                  <a:srgbClr val="28685E"/>
                </a:solidFill>
              </a:rPr>
              <a:t>Water helps move substances around the body and helps control body temperature.</a:t>
            </a:r>
          </a:p>
        </p:txBody>
      </p:sp>
      <p:sp>
        <p:nvSpPr>
          <p:cNvPr id="9" name="callout">
            <a:extLst xmlns:a="http://schemas.openxmlformats.org/drawingml/2006/main">
              <a:ext uri="{FF2B5EF4-FFF2-40B4-BE49-F238E27FC236}">
                <a16:creationId xmlns:a16="http://schemas.microsoft.com/office/drawing/2014/main" id="{96FEB789-9559-41DF-BA44-276876B2C5A3}"/>
              </a:ext>
            </a:extLst>
          </p:cNvPr>
          <p:cNvSpPr>
            <a:spLocks xmlns:a="http://schemas.openxmlformats.org/drawingml/2006/main" noGrp="1"/>
          </p:cNvSpPr>
          <p:nvPr/>
        </p:nvSpPr>
        <p:spPr>
          <a:xfrm xmlns:a="http://schemas.openxmlformats.org/drawingml/2006/main">
            <a:off x="609600" y="4552950"/>
            <a:ext cx="10858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00" b="0">
                <a:solidFill>
                  <a:srgbClr val="152B3A"/>
                </a:solidFill>
              </a:defRPr>
            </a:pPr>
            <a:r>
              <a:rPr sz="2700" b="0">
                <a:solidFill>
                  <a:srgbClr val="152B3A"/>
                </a:solidFill>
              </a:rPr>
              <a:t>Water does not supply food energy.</a:t>
            </a:r>
          </a:p>
        </p:txBody>
      </p:sp>
    </p:spTree>
    <p:extLst>
      <p:ext uri="{BB962C8B-B14F-4D97-AF65-F5344CB8AC3E}">
        <p14:creationId xmlns:p14="http://schemas.microsoft.com/office/powerpoint/2010/main" val="620617851"/>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73605DE7-7D52-4A3B-B759-55A1F429D05B}"/>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F627D526-7D17-48B2-9A24-92FEA4D97BA5}"/>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14acee18f1284b72"/>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25470FB5-0705-43EF-93B8-EE34DC6EB33D}"/>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Name one job, then check</a:t>
            </a:r>
          </a:p>
        </p:txBody>
      </p:sp>
      <p:sp>
        <p:nvSpPr>
          <p:cNvPr id="5" name="footer-line">
            <a:extLst xmlns:a="http://schemas.openxmlformats.org/drawingml/2006/main">
              <a:ext uri="{FF2B5EF4-FFF2-40B4-BE49-F238E27FC236}">
                <a16:creationId xmlns:a16="http://schemas.microsoft.com/office/drawing/2014/main" id="{1F959488-AF28-4337-931A-B46F1979D45F}"/>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41227935-51D0-47B7-9125-806EBA50FB8C}"/>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2B2B2A4D-9D13-42C9-94F7-02FF03BD67EB}"/>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06</a:t>
            </a:r>
          </a:p>
        </p:txBody>
      </p:sp>
      <p:sp>
        <p:nvSpPr>
          <p:cNvPr id="8" name="line-0">
            <a:extLst xmlns:a="http://schemas.openxmlformats.org/drawingml/2006/main">
              <a:ext uri="{FF2B5EF4-FFF2-40B4-BE49-F238E27FC236}">
                <a16:creationId xmlns:a16="http://schemas.microsoft.com/office/drawing/2014/main" id="{0C006172-8833-4D35-9646-199AF7670D93}"/>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Bread or potato: which body job fits?</a:t>
            </a:r>
          </a:p>
        </p:txBody>
      </p:sp>
      <p:sp>
        <p:nvSpPr>
          <p:cNvPr id="9" name="line-1">
            <a:extLst xmlns:a="http://schemas.openxmlformats.org/drawingml/2006/main">
              <a:ext uri="{FF2B5EF4-FFF2-40B4-BE49-F238E27FC236}">
                <a16:creationId xmlns:a16="http://schemas.microsoft.com/office/drawing/2014/main" id="{2707600E-5C65-44F6-8146-E2E1C7ED5C42}"/>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Beans or lentils: which job fits?</a:t>
            </a:r>
          </a:p>
        </p:txBody>
      </p:sp>
      <p:sp>
        <p:nvSpPr>
          <p:cNvPr id="10" name="line-2">
            <a:extLst xmlns:a="http://schemas.openxmlformats.org/drawingml/2006/main">
              <a:ext uri="{FF2B5EF4-FFF2-40B4-BE49-F238E27FC236}">
                <a16:creationId xmlns:a16="http://schemas.microsoft.com/office/drawing/2014/main" id="{0C52FBEB-4C62-4529-B961-3F2C5D285FEA}"/>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Give your reason before the explanation.</a:t>
            </a:r>
          </a:p>
        </p:txBody>
      </p:sp>
    </p:spTree>
    <p:extLst>
      <p:ext uri="{BB962C8B-B14F-4D97-AF65-F5344CB8AC3E}">
        <p14:creationId xmlns:p14="http://schemas.microsoft.com/office/powerpoint/2010/main" val="3945486"/>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93500BC2-AC2E-445A-91B4-6C1C10749CF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95D4C9EB-467F-4586-A9FF-2FDB78C43640}"/>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9a2ef8991fb4141"/>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7783F962-4ECE-4DB9-9063-8C9DCB58CD96}"/>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Can one food do more than one job?</a:t>
            </a:r>
          </a:p>
        </p:txBody>
      </p:sp>
      <p:sp>
        <p:nvSpPr>
          <p:cNvPr id="5" name="footer-line">
            <a:extLst xmlns:a="http://schemas.openxmlformats.org/drawingml/2006/main">
              <a:ext uri="{FF2B5EF4-FFF2-40B4-BE49-F238E27FC236}">
                <a16:creationId xmlns:a16="http://schemas.microsoft.com/office/drawing/2014/main" id="{341FC5CC-F449-412E-B6F1-379BCD92D502}"/>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C3A3DB69-8327-48B4-B73C-EDBF08F3A84E}"/>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422D5AB5-9E72-4C8D-BAFE-B1A66D569359}"/>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07</a:t>
            </a:r>
          </a:p>
        </p:txBody>
      </p:sp>
      <p:sp>
        <p:nvSpPr>
          <p:cNvPr id="8" name="line-0">
            <a:extLst xmlns:a="http://schemas.openxmlformats.org/drawingml/2006/main">
              <a:ext uri="{FF2B5EF4-FFF2-40B4-BE49-F238E27FC236}">
                <a16:creationId xmlns:a16="http://schemas.microsoft.com/office/drawing/2014/main" id="{6BAB7F1B-0F2E-4918-A115-68B76D04A93D}"/>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Beans can provide protein and carbohydrate.</a:t>
            </a:r>
          </a:p>
        </p:txBody>
      </p:sp>
      <p:sp>
        <p:nvSpPr>
          <p:cNvPr id="9" name="line-1">
            <a:extLst xmlns:a="http://schemas.openxmlformats.org/drawingml/2006/main">
              <a:ext uri="{FF2B5EF4-FFF2-40B4-BE49-F238E27FC236}">
                <a16:creationId xmlns:a16="http://schemas.microsoft.com/office/drawing/2014/main" id="{69F7DDF1-E7A0-41BE-8099-34B6A88FB170}"/>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Fruit and vegetables provide different nutrients.</a:t>
            </a:r>
          </a:p>
        </p:txBody>
      </p:sp>
      <p:sp>
        <p:nvSpPr>
          <p:cNvPr id="10" name="line-2">
            <a:extLst xmlns:a="http://schemas.openxmlformats.org/drawingml/2006/main">
              <a:ext uri="{FF2B5EF4-FFF2-40B4-BE49-F238E27FC236}">
                <a16:creationId xmlns:a16="http://schemas.microsoft.com/office/drawing/2014/main" id="{2079B20D-216E-4FB9-BD9C-55540DFE7E74}"/>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Why might a range of foods help?</a:t>
            </a:r>
          </a:p>
        </p:txBody>
      </p:sp>
    </p:spTree>
    <p:extLst>
      <p:ext uri="{BB962C8B-B14F-4D97-AF65-F5344CB8AC3E}">
        <p14:creationId xmlns:p14="http://schemas.microsoft.com/office/powerpoint/2010/main" val="640747525"/>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47E5AD21-5BFA-493B-B0BF-1D4666552082}"/>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6BBA322C-AB1C-4840-A675-F3AB87CF0010}"/>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a4aeb6958304ed4"/>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39F7B9BC-69E4-43E3-A8D1-B844DA70C4D3}"/>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Different animals, different needs</a:t>
            </a:r>
          </a:p>
        </p:txBody>
      </p:sp>
      <p:sp>
        <p:nvSpPr>
          <p:cNvPr id="5" name="footer-line">
            <a:extLst xmlns:a="http://schemas.openxmlformats.org/drawingml/2006/main">
              <a:ext uri="{FF2B5EF4-FFF2-40B4-BE49-F238E27FC236}">
                <a16:creationId xmlns:a16="http://schemas.microsoft.com/office/drawing/2014/main" id="{913DC028-6F5F-40F5-928A-5722749F4741}"/>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8F37A948-CC79-472B-BDB5-55F50CC89A47}"/>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32637B70-4E3E-4C4D-9575-80BA6B48BAAF}"/>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08</a:t>
            </a:r>
          </a:p>
        </p:txBody>
      </p:sp>
      <p:sp>
        <p:nvSpPr>
          <p:cNvPr id="8" name="left-heading">
            <a:extLst xmlns:a="http://schemas.openxmlformats.org/drawingml/2006/main">
              <a:ext uri="{FF2B5EF4-FFF2-40B4-BE49-F238E27FC236}">
                <a16:creationId xmlns:a16="http://schemas.microsoft.com/office/drawing/2014/main" id="{DFBF6A98-F4F0-4472-A5D0-F86C0EEDAE1A}"/>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EXAMPLE ANIMALS</a:t>
            </a:r>
          </a:p>
        </p:txBody>
      </p:sp>
      <p:sp>
        <p:nvSpPr>
          <p:cNvPr id="9" name="right-heading">
            <a:extLst xmlns:a="http://schemas.openxmlformats.org/drawingml/2006/main">
              <a:ext uri="{FF2B5EF4-FFF2-40B4-BE49-F238E27FC236}">
                <a16:creationId xmlns:a16="http://schemas.microsoft.com/office/drawing/2014/main" id="{6224BA8F-3ECB-4A2D-8561-4D7DA8AA2D48}"/>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EXAMPLE FOOD LINKS</a:t>
            </a:r>
          </a:p>
        </p:txBody>
      </p:sp>
      <p:sp>
        <p:nvSpPr>
          <p:cNvPr id="10" name="left">
            <a:extLst xmlns:a="http://schemas.openxmlformats.org/drawingml/2006/main">
              <a:ext uri="{FF2B5EF4-FFF2-40B4-BE49-F238E27FC236}">
                <a16:creationId xmlns:a16="http://schemas.microsoft.com/office/drawing/2014/main" id="{F6EDE245-5C2C-4E00-B70C-86EEC5E13F58}"/>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Cow</a:t>
            </a:r>
          </a:p>
          <a:p xmlns:a="http://schemas.openxmlformats.org/drawingml/2006/main">
            <a:pPr>
              <a:defRPr sz="2400" b="0">
                <a:solidFill>
                  <a:srgbClr val="152B3A"/>
                </a:solidFill>
              </a:defRPr>
            </a:pPr>
            <a:r>
              <a:rPr sz="2400" b="0">
                <a:solidFill>
                  <a:srgbClr val="152B3A"/>
                </a:solidFill>
              </a:rPr>
              <a:t>Owl</a:t>
            </a:r>
          </a:p>
          <a:p xmlns:a="http://schemas.openxmlformats.org/drawingml/2006/main">
            <a:pPr>
              <a:defRPr sz="2400" b="0">
                <a:solidFill>
                  <a:srgbClr val="152B3A"/>
                </a:solidFill>
              </a:defRPr>
            </a:pPr>
            <a:r>
              <a:rPr sz="2400" b="0">
                <a:solidFill>
                  <a:srgbClr val="152B3A"/>
                </a:solidFill>
              </a:rPr>
              <a:t>Caterpillar</a:t>
            </a:r>
          </a:p>
          <a:p xmlns:a="http://schemas.openxmlformats.org/drawingml/2006/main">
            <a:pPr>
              <a:defRPr sz="2400" b="0">
                <a:solidFill>
                  <a:srgbClr val="152B3A"/>
                </a:solidFill>
              </a:defRPr>
            </a:pPr>
            <a:r>
              <a:rPr sz="2400" b="0">
                <a:solidFill>
                  <a:srgbClr val="152B3A"/>
                </a:solidFill>
              </a:rPr>
              <a:t>Goldfish</a:t>
            </a:r>
          </a:p>
        </p:txBody>
      </p:sp>
      <p:sp>
        <p:nvSpPr>
          <p:cNvPr id="11" name="right">
            <a:extLst xmlns:a="http://schemas.openxmlformats.org/drawingml/2006/main">
              <a:ext uri="{FF2B5EF4-FFF2-40B4-BE49-F238E27FC236}">
                <a16:creationId xmlns:a16="http://schemas.microsoft.com/office/drawing/2014/main" id="{49E7BB37-5630-4DFA-BF8D-5AB63EDEB025}"/>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Grass</a:t>
            </a:r>
          </a:p>
          <a:p xmlns:a="http://schemas.openxmlformats.org/drawingml/2006/main">
            <a:pPr>
              <a:defRPr sz="2400" b="0">
                <a:solidFill>
                  <a:srgbClr val="152B3A"/>
                </a:solidFill>
              </a:defRPr>
            </a:pPr>
            <a:r>
              <a:rPr sz="2400" b="0">
                <a:solidFill>
                  <a:srgbClr val="152B3A"/>
                </a:solidFill>
              </a:rPr>
              <a:t>Mouse</a:t>
            </a:r>
          </a:p>
          <a:p xmlns:a="http://schemas.openxmlformats.org/drawingml/2006/main">
            <a:pPr>
              <a:defRPr sz="2400" b="0">
                <a:solidFill>
                  <a:srgbClr val="152B3A"/>
                </a:solidFill>
              </a:defRPr>
            </a:pPr>
            <a:r>
              <a:rPr sz="2400" b="0">
                <a:solidFill>
                  <a:srgbClr val="152B3A"/>
                </a:solidFill>
              </a:rPr>
              <a:t>Leaves</a:t>
            </a:r>
          </a:p>
          <a:p xmlns:a="http://schemas.openxmlformats.org/drawingml/2006/main">
            <a:pPr>
              <a:defRPr sz="2400" b="0">
                <a:solidFill>
                  <a:srgbClr val="152B3A"/>
                </a:solidFill>
              </a:defRPr>
            </a:pPr>
            <a:r>
              <a:rPr sz="2400" b="0">
                <a:solidFill>
                  <a:srgbClr val="152B3A"/>
                </a:solidFill>
              </a:rPr>
              <a:t>Suitable fish food</a:t>
            </a:r>
          </a:p>
        </p:txBody>
      </p:sp>
    </p:spTree>
    <p:extLst>
      <p:ext uri="{BB962C8B-B14F-4D97-AF65-F5344CB8AC3E}">
        <p14:creationId xmlns:p14="http://schemas.microsoft.com/office/powerpoint/2010/main" val="353485158"/>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01602328-29B2-4E6F-866F-11FCD3990D78}"/>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5F2E137D-03D0-4DDA-A8B0-C9CE1D3613AC}"/>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89f8aaaa805460b"/>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5232793B-9AB7-47A9-B1F8-123F1AC40E29}"/>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Build a reason with because</a:t>
            </a:r>
          </a:p>
        </p:txBody>
      </p:sp>
      <p:sp>
        <p:nvSpPr>
          <p:cNvPr id="5" name="footer-line">
            <a:extLst xmlns:a="http://schemas.openxmlformats.org/drawingml/2006/main">
              <a:ext uri="{FF2B5EF4-FFF2-40B4-BE49-F238E27FC236}">
                <a16:creationId xmlns:a16="http://schemas.microsoft.com/office/drawing/2014/main" id="{FF4EBD5D-5ED2-40EB-8BB1-EABE6B7FF89D}"/>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C676E50B-2F3C-48F8-8834-138BC32AAC74}"/>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D1D7C9EF-62C7-4A24-90DE-95DFF1F2BBFA}"/>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09</a:t>
            </a:r>
          </a:p>
        </p:txBody>
      </p:sp>
      <p:sp>
        <p:nvSpPr>
          <p:cNvPr id="8" name="statement">
            <a:extLst xmlns:a="http://schemas.openxmlformats.org/drawingml/2006/main">
              <a:ext uri="{FF2B5EF4-FFF2-40B4-BE49-F238E27FC236}">
                <a16:creationId xmlns:a16="http://schemas.microsoft.com/office/drawing/2014/main" id="{982EAADA-EA41-420B-B25A-99FDBC57BFF2}"/>
              </a:ext>
            </a:extLst>
          </p:cNvPr>
          <p:cNvSpPr>
            <a:spLocks xmlns:a="http://schemas.openxmlformats.org/drawingml/2006/main" noGrp="1"/>
          </p:cNvSpPr>
          <p:nvPr/>
        </p:nvSpPr>
        <p:spPr>
          <a:xfrm xmlns:a="http://schemas.openxmlformats.org/drawingml/2006/main">
            <a:off x="609600" y="2686050"/>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925" b="1">
                <a:solidFill>
                  <a:srgbClr val="28685E"/>
                </a:solidFill>
              </a:defRPr>
            </a:pPr>
            <a:r>
              <a:rPr sz="2925" b="1">
                <a:solidFill>
                  <a:srgbClr val="28685E"/>
                </a:solidFill>
              </a:rPr>
              <a:t>A model body needs a variety of foods because foods provide different nutrients.</a:t>
            </a:r>
          </a:p>
        </p:txBody>
      </p:sp>
      <p:sp>
        <p:nvSpPr>
          <p:cNvPr id="9" name="callout">
            <a:extLst xmlns:a="http://schemas.openxmlformats.org/drawingml/2006/main">
              <a:ext uri="{FF2B5EF4-FFF2-40B4-BE49-F238E27FC236}">
                <a16:creationId xmlns:a16="http://schemas.microsoft.com/office/drawing/2014/main" id="{5360497D-B987-4D7C-BC0A-E14A03E361E2}"/>
              </a:ext>
            </a:extLst>
          </p:cNvPr>
          <p:cNvSpPr>
            <a:spLocks xmlns:a="http://schemas.openxmlformats.org/drawingml/2006/main" noGrp="1"/>
          </p:cNvSpPr>
          <p:nvPr/>
        </p:nvSpPr>
        <p:spPr>
          <a:xfrm xmlns:a="http://schemas.openxmlformats.org/drawingml/2006/main">
            <a:off x="609600" y="4552950"/>
            <a:ext cx="10858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00" b="0">
                <a:solidFill>
                  <a:srgbClr val="152B3A"/>
                </a:solidFill>
              </a:defRPr>
            </a:pPr>
            <a:r>
              <a:rPr sz="2700" b="0">
                <a:solidFill>
                  <a:srgbClr val="152B3A"/>
                </a:solidFill>
              </a:rPr>
              <a:t>One food can do several jobs; it does not provide everything.</a:t>
            </a:r>
          </a:p>
        </p:txBody>
      </p:sp>
    </p:spTree>
    <p:extLst>
      <p:ext uri="{BB962C8B-B14F-4D97-AF65-F5344CB8AC3E}">
        <p14:creationId xmlns:p14="http://schemas.microsoft.com/office/powerpoint/2010/main" val="978859282"/>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9910172C-6917-4CFE-BBC1-E91EE741C342}"/>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5DD605B5-B195-42CC-80F9-F804B124D311}"/>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c1c30059d01e40be"/>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7714DBDB-27CB-40CC-8D16-099ECF87C5B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Match and challenge a claim</a:t>
            </a:r>
          </a:p>
        </p:txBody>
      </p:sp>
      <p:sp>
        <p:nvSpPr>
          <p:cNvPr id="5" name="footer-line">
            <a:extLst xmlns:a="http://schemas.openxmlformats.org/drawingml/2006/main">
              <a:ext uri="{FF2B5EF4-FFF2-40B4-BE49-F238E27FC236}">
                <a16:creationId xmlns:a16="http://schemas.microsoft.com/office/drawing/2014/main" id="{E8BF3F1B-1096-4940-9404-21436F0DDCBD}"/>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F88B3BF1-0DC2-48A4-B9C6-8395E50201B2}"/>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9B7C5CED-8793-4816-B36E-D7230263574A}"/>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10</a:t>
            </a:r>
          </a:p>
        </p:txBody>
      </p:sp>
      <p:sp>
        <p:nvSpPr>
          <p:cNvPr id="8" name="left-heading">
            <a:extLst xmlns:a="http://schemas.openxmlformats.org/drawingml/2006/main">
              <a:ext uri="{FF2B5EF4-FFF2-40B4-BE49-F238E27FC236}">
                <a16:creationId xmlns:a16="http://schemas.microsoft.com/office/drawing/2014/main" id="{F43981BB-DAE4-4BC9-A0BE-062A229CB4DB}"/>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MATCH THE EXAMPLES</a:t>
            </a:r>
          </a:p>
        </p:txBody>
      </p:sp>
      <p:sp>
        <p:nvSpPr>
          <p:cNvPr id="9" name="right-heading">
            <a:extLst xmlns:a="http://schemas.openxmlformats.org/drawingml/2006/main">
              <a:ext uri="{FF2B5EF4-FFF2-40B4-BE49-F238E27FC236}">
                <a16:creationId xmlns:a16="http://schemas.microsoft.com/office/drawing/2014/main" id="{F82E8E57-273C-44DF-90AE-E24F0771A9A0}"/>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CHECK THE CLAIM</a:t>
            </a:r>
          </a:p>
        </p:txBody>
      </p:sp>
      <p:sp>
        <p:nvSpPr>
          <p:cNvPr id="10" name="left">
            <a:extLst xmlns:a="http://schemas.openxmlformats.org/drawingml/2006/main">
              <a:ext uri="{FF2B5EF4-FFF2-40B4-BE49-F238E27FC236}">
                <a16:creationId xmlns:a16="http://schemas.microsoft.com/office/drawing/2014/main" id="{D8DD3C24-B44D-4785-8A04-E5BDC6283CCC}"/>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Cow — ?</a:t>
            </a:r>
          </a:p>
          <a:p xmlns:a="http://schemas.openxmlformats.org/drawingml/2006/main">
            <a:pPr>
              <a:defRPr sz="2400" b="0">
                <a:solidFill>
                  <a:srgbClr val="152B3A"/>
                </a:solidFill>
              </a:defRPr>
            </a:pPr>
            <a:r>
              <a:rPr sz="2400" b="0">
                <a:solidFill>
                  <a:srgbClr val="152B3A"/>
                </a:solidFill>
              </a:rPr>
              <a:t>Owl — ?</a:t>
            </a:r>
          </a:p>
          <a:p xmlns:a="http://schemas.openxmlformats.org/drawingml/2006/main">
            <a:pPr>
              <a:defRPr sz="2400" b="0">
                <a:solidFill>
                  <a:srgbClr val="152B3A"/>
                </a:solidFill>
              </a:defRPr>
            </a:pPr>
            <a:r>
              <a:rPr sz="2400" b="0">
                <a:solidFill>
                  <a:srgbClr val="152B3A"/>
                </a:solidFill>
              </a:rPr>
              <a:t>Caterpillar — ?</a:t>
            </a:r>
          </a:p>
          <a:p xmlns:a="http://schemas.openxmlformats.org/drawingml/2006/main">
            <a:pPr>
              <a:defRPr sz="2400" b="0">
                <a:solidFill>
                  <a:srgbClr val="152B3A"/>
                </a:solidFill>
              </a:defRPr>
            </a:pPr>
            <a:r>
              <a:rPr sz="2400" b="0">
                <a:solidFill>
                  <a:srgbClr val="152B3A"/>
                </a:solidFill>
              </a:rPr>
              <a:t>Goldfish — ?</a:t>
            </a:r>
          </a:p>
        </p:txBody>
      </p:sp>
      <p:sp>
        <p:nvSpPr>
          <p:cNvPr id="11" name="right">
            <a:extLst xmlns:a="http://schemas.openxmlformats.org/drawingml/2006/main">
              <a:ext uri="{FF2B5EF4-FFF2-40B4-BE49-F238E27FC236}">
                <a16:creationId xmlns:a16="http://schemas.microsoft.com/office/drawing/2014/main" id="{72BB6B9E-ACBA-4C54-97F3-2B484ABD341B}"/>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“Every animal needs the same food.”</a:t>
            </a:r>
          </a:p>
          <a:p xmlns:a="http://schemas.openxmlformats.org/drawingml/2006/main">
            <a:pPr>
              <a:defRPr sz="2400" b="0">
                <a:solidFill>
                  <a:srgbClr val="152B3A"/>
                </a:solidFill>
              </a:defRPr>
            </a:pPr>
            <a:r>
              <a:rPr sz="2400" b="0">
                <a:solidFill>
                  <a:srgbClr val="152B3A"/>
                </a:solidFill>
              </a:rPr>
              <a:t>Agree or correct it.</a:t>
            </a:r>
          </a:p>
          <a:p xmlns:a="http://schemas.openxmlformats.org/drawingml/2006/main">
            <a:pPr>
              <a:defRPr sz="2400" b="0">
                <a:solidFill>
                  <a:srgbClr val="152B3A"/>
                </a:solidFill>
              </a:defRPr>
            </a:pPr>
            <a:r>
              <a:rPr sz="2400" b="0">
                <a:solidFill>
                  <a:srgbClr val="152B3A"/>
                </a:solidFill>
              </a:rPr>
              <a:t>Use two examples as evidence.</a:t>
            </a:r>
          </a:p>
        </p:txBody>
      </p:sp>
    </p:spTree>
    <p:extLst>
      <p:ext uri="{BB962C8B-B14F-4D97-AF65-F5344CB8AC3E}">
        <p14:creationId xmlns:p14="http://schemas.microsoft.com/office/powerpoint/2010/main" val="126933329"/>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F7E02EF4-1B96-4ABF-8B84-FE0395F2C409}"/>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AF28C36B-1C63-4E4E-A157-045559DA411E}"/>
              </a:ext>
            </a:extLst>
          </p:cNvPr>
          <p:cNvSpPr>
            <a:spLocks xmlns:a="http://schemas.openxmlformats.org/drawingml/2006/main" noGrp="1"/>
          </p:cNvSpPr>
          <p:nvPr/>
        </p:nvSpPr>
        <p:spPr>
          <a:xfrm xmlns:a="http://schemas.openxmlformats.org/drawingml/2006/main">
            <a:off x="609600" y="7620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BUILD SCIENCE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930ad18f7224008"/>
          <a:stretch xmlns:a="http://schemas.openxmlformats.org/drawingml/2006/main"/>
        </p:blipFill>
        <p:spPr>
          <a:xfrm xmlns:a="http://schemas.openxmlformats.org/drawingml/2006/main">
            <a:off x="10801350" y="438150"/>
            <a:ext cx="781050" cy="7810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57ED06C7-CE0E-42F5-9601-08C30B4E4D11}"/>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Compare two choices and save</a:t>
            </a:r>
          </a:p>
        </p:txBody>
      </p:sp>
      <p:sp>
        <p:nvSpPr>
          <p:cNvPr id="5" name="footer-line">
            <a:extLst xmlns:a="http://schemas.openxmlformats.org/drawingml/2006/main">
              <a:ext uri="{FF2B5EF4-FFF2-40B4-BE49-F238E27FC236}">
                <a16:creationId xmlns:a16="http://schemas.microsoft.com/office/drawing/2014/main" id="{ABB42032-4FF7-424A-B351-8071ED616C6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6" name="footer">
            <a:extLst xmlns:a="http://schemas.openxmlformats.org/drawingml/2006/main">
              <a:ext uri="{FF2B5EF4-FFF2-40B4-BE49-F238E27FC236}">
                <a16:creationId xmlns:a16="http://schemas.microsoft.com/office/drawing/2014/main" id="{D6A0A323-DB7A-4D10-BA95-4A20EBF2AF59}"/>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5  ·  LESSON A</a:t>
            </a:r>
          </a:p>
        </p:txBody>
      </p:sp>
      <p:sp>
        <p:nvSpPr>
          <p:cNvPr id="7" name="page">
            <a:extLst xmlns:a="http://schemas.openxmlformats.org/drawingml/2006/main">
              <a:ext uri="{FF2B5EF4-FFF2-40B4-BE49-F238E27FC236}">
                <a16:creationId xmlns:a16="http://schemas.microsoft.com/office/drawing/2014/main" id="{415A0259-B75B-4853-9429-E7C1B9709CD0}"/>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11</a:t>
            </a:r>
          </a:p>
        </p:txBody>
      </p:sp>
      <p:sp>
        <p:nvSpPr>
          <p:cNvPr id="8" name="line-0">
            <a:extLst xmlns:a="http://schemas.openxmlformats.org/drawingml/2006/main">
              <a:ext uri="{FF2B5EF4-FFF2-40B4-BE49-F238E27FC236}">
                <a16:creationId xmlns:a16="http://schemas.microsoft.com/office/drawing/2014/main" id="{2587E9D9-2575-406D-B7D5-9CFC2698A626}"/>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Choose two animals and two food cards.</a:t>
            </a:r>
          </a:p>
        </p:txBody>
      </p:sp>
      <p:sp>
        <p:nvSpPr>
          <p:cNvPr id="9" name="line-1">
            <a:extLst xmlns:a="http://schemas.openxmlformats.org/drawingml/2006/main">
              <a:ext uri="{FF2B5EF4-FFF2-40B4-BE49-F238E27FC236}">
                <a16:creationId xmlns:a16="http://schemas.microsoft.com/office/drawing/2014/main" id="{BD24E4B4-E48A-4A21-943C-324FAAA03BBB}"/>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Would the same food suit both examples?</a:t>
            </a:r>
          </a:p>
        </p:txBody>
      </p:sp>
      <p:sp>
        <p:nvSpPr>
          <p:cNvPr id="10" name="line-2">
            <a:extLst xmlns:a="http://schemas.openxmlformats.org/drawingml/2006/main">
              <a:ext uri="{FF2B5EF4-FFF2-40B4-BE49-F238E27FC236}">
                <a16:creationId xmlns:a16="http://schemas.microsoft.com/office/drawing/2014/main" id="{13E5FD7A-DC1B-44FD-BE6B-E6235D636173}"/>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Explain or point to your evidence.</a:t>
            </a:r>
          </a:p>
        </p:txBody>
      </p:sp>
      <p:sp>
        <p:nvSpPr>
          <p:cNvPr id="11" name="line-3">
            <a:extLst xmlns:a="http://schemas.openxmlformats.org/drawingml/2006/main">
              <a:ext uri="{FF2B5EF4-FFF2-40B4-BE49-F238E27FC236}">
                <a16:creationId xmlns:a16="http://schemas.microsoft.com/office/drawing/2014/main" id="{2C2AD989-08CD-4999-BBA3-D5C8BE72A4F4}"/>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Save the cards and your reason.</a:t>
            </a:r>
          </a:p>
        </p:txBody>
      </p:sp>
    </p:spTree>
    <p:extLst>
      <p:ext uri="{BB962C8B-B14F-4D97-AF65-F5344CB8AC3E}">
        <p14:creationId xmlns:p14="http://schemas.microsoft.com/office/powerpoint/2010/main" val="3677796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2026-09-06T13:04:59.3000000Z</dcterms:created>
  <dcterms:modified xsi:type="dcterms:W3CDTF">2026-09-06T13:04:59.3000000Z</dcterms:modified>
</coreProperties>
</file>