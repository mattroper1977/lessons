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447144c094105" /><Relationship Type="http://schemas.openxmlformats.org/officeDocument/2006/relationships/extended-properties" Target="/docProps/app.xml" Id="Rc588b66296f04fc9" /><Relationship Type="http://schemas.openxmlformats.org/officeDocument/2006/relationships/officeDocument" Target="/ppt/presentation.xml" Id="R23c1505364a1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a44a9bcf7946cd"/>
  </p:sldMasterIdLst>
  <p:notesMasterIdLst>
    <p:notesMasterId xmlns:r="http://schemas.openxmlformats.org/officeDocument/2006/relationships" r:id="Rb172bda452064bb8"/>
  </p:notesMasterIdLst>
  <p:sldIdLst>
    <p:sldId xmlns:r="http://schemas.openxmlformats.org/officeDocument/2006/relationships" id="256" r:id="Rcdfe6c97d20a49cb"/>
    <p:sldId xmlns:r="http://schemas.openxmlformats.org/officeDocument/2006/relationships" id="257" r:id="R4c014debdf0d4cb4"/>
    <p:sldId xmlns:r="http://schemas.openxmlformats.org/officeDocument/2006/relationships" id="258" r:id="R5572069b8ab34378"/>
    <p:sldId xmlns:r="http://schemas.openxmlformats.org/officeDocument/2006/relationships" id="259" r:id="R8248adf7f1d1431e"/>
    <p:sldId xmlns:r="http://schemas.openxmlformats.org/officeDocument/2006/relationships" id="260" r:id="Rd3571b6c4fa047c2"/>
    <p:sldId xmlns:r="http://schemas.openxmlformats.org/officeDocument/2006/relationships" id="261" r:id="Rf4618bebc02d4fbd"/>
    <p:sldId xmlns:r="http://schemas.openxmlformats.org/officeDocument/2006/relationships" id="262" r:id="R98d359ff0f2049af"/>
    <p:sldId xmlns:r="http://schemas.openxmlformats.org/officeDocument/2006/relationships" id="263" r:id="Re1e90a3f42a9413f"/>
    <p:sldId xmlns:r="http://schemas.openxmlformats.org/officeDocument/2006/relationships" id="264" r:id="Rc83b80db63b4418b"/>
    <p:sldId xmlns:r="http://schemas.openxmlformats.org/officeDocument/2006/relationships" id="265" r:id="R4ed994622ccc4a7a"/>
    <p:sldId xmlns:r="http://schemas.openxmlformats.org/officeDocument/2006/relationships" id="266" r:id="Rce03d467bc824a48"/>
    <p:sldId xmlns:r="http://schemas.openxmlformats.org/officeDocument/2006/relationships" id="267" r:id="R00c3e87a21aa4292"/>
    <p:sldId xmlns:r="http://schemas.openxmlformats.org/officeDocument/2006/relationships" id="268" r:id="R24652927b83c4f13"/>
    <p:sldId xmlns:r="http://schemas.openxmlformats.org/officeDocument/2006/relationships" id="269" r:id="Rba85eb8c951049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c9c6c99cc24aa5" /><Relationship Type="http://schemas.openxmlformats.org/officeDocument/2006/relationships/slideMaster" Target="/ppt/slideMasters/slideMaster1.xml" Id="Rfaa44a9bcf7946cd" /><Relationship Type="http://schemas.openxmlformats.org/officeDocument/2006/relationships/notesMaster" Target="/ppt/notesMasters/notesMaster1.xml" Id="Rb172bda452064bb8" /><Relationship Type="http://schemas.openxmlformats.org/officeDocument/2006/relationships/presProps" Target="/ppt/presProps.xml" Id="R5adecfac23674942" /><Relationship Type="http://schemas.openxmlformats.org/officeDocument/2006/relationships/tableStyles" Target="/ppt/tableStyles.xml" Id="R44998893c1804b3f" /><Relationship Type="http://schemas.openxmlformats.org/officeDocument/2006/relationships/slide" Target="/ppt/slides/slide1.xml" Id="Rcdfe6c97d20a49cb" /><Relationship Type="http://schemas.openxmlformats.org/officeDocument/2006/relationships/slide" Target="/ppt/slides/slide2.xml" Id="R4c014debdf0d4cb4" /><Relationship Type="http://schemas.openxmlformats.org/officeDocument/2006/relationships/slide" Target="/ppt/slides/slide3.xml" Id="R5572069b8ab34378" /><Relationship Type="http://schemas.openxmlformats.org/officeDocument/2006/relationships/slide" Target="/ppt/slides/slide4.xml" Id="R8248adf7f1d1431e" /><Relationship Type="http://schemas.openxmlformats.org/officeDocument/2006/relationships/slide" Target="/ppt/slides/slide5.xml" Id="Rd3571b6c4fa047c2" /><Relationship Type="http://schemas.openxmlformats.org/officeDocument/2006/relationships/slide" Target="/ppt/slides/slide6.xml" Id="Rf4618bebc02d4fbd" /><Relationship Type="http://schemas.openxmlformats.org/officeDocument/2006/relationships/slide" Target="/ppt/slides/slide7.xml" Id="R98d359ff0f2049af" /><Relationship Type="http://schemas.openxmlformats.org/officeDocument/2006/relationships/slide" Target="/ppt/slides/slide8.xml" Id="Re1e90a3f42a9413f" /><Relationship Type="http://schemas.openxmlformats.org/officeDocument/2006/relationships/slide" Target="/ppt/slides/slide9.xml" Id="Rc83b80db63b4418b" /><Relationship Type="http://schemas.openxmlformats.org/officeDocument/2006/relationships/slide" Target="/ppt/slides/slide10.xml" Id="R4ed994622ccc4a7a" /><Relationship Type="http://schemas.openxmlformats.org/officeDocument/2006/relationships/slide" Target="/ppt/slides/slide11.xml" Id="Rce03d467bc824a48" /><Relationship Type="http://schemas.openxmlformats.org/officeDocument/2006/relationships/slide" Target="/ppt/slides/slide12.xml" Id="R00c3e87a21aa4292" /><Relationship Type="http://schemas.openxmlformats.org/officeDocument/2006/relationships/slide" Target="/ppt/slides/slide13.xml" Id="R24652927b83c4f13" /><Relationship Type="http://schemas.openxmlformats.org/officeDocument/2006/relationships/slide" Target="/ppt/slides/slide14.xml" Id="Rba85eb8c951049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a7971117844e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9b82a6f17b4ab0" /><Relationship Type="http://schemas.openxmlformats.org/officeDocument/2006/relationships/notesMaster" Target="/ppt/notesMasters/notesMaster1.xml" Id="Rf97bcf8c3111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a7a071bd546c1" /><Relationship Type="http://schemas.openxmlformats.org/officeDocument/2006/relationships/notesMaster" Target="/ppt/notesMasters/notesMaster1.xml" Id="R3bf682bd41c945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8946949d148e8" /><Relationship Type="http://schemas.openxmlformats.org/officeDocument/2006/relationships/notesMaster" Target="/ppt/notesMasters/notesMaster1.xml" Id="R91a3664c4c2a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6ae322481e4d39" /><Relationship Type="http://schemas.openxmlformats.org/officeDocument/2006/relationships/notesMaster" Target="/ppt/notesMasters/notesMaster1.xml" Id="R0da148c5f3d74e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c1b77a4d8948cf" /><Relationship Type="http://schemas.openxmlformats.org/officeDocument/2006/relationships/notesMaster" Target="/ppt/notesMasters/notesMaster1.xml" Id="Rd54bd1b4faac4b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3b80078f624e05" /><Relationship Type="http://schemas.openxmlformats.org/officeDocument/2006/relationships/notesMaster" Target="/ppt/notesMasters/notesMaster1.xml" Id="R18837ddf7894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a6f8d0c84240ba" /><Relationship Type="http://schemas.openxmlformats.org/officeDocument/2006/relationships/notesMaster" Target="/ppt/notesMasters/notesMaster1.xml" Id="Rffed55f107944d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00de91ea2e48d3" /><Relationship Type="http://schemas.openxmlformats.org/officeDocument/2006/relationships/notesMaster" Target="/ppt/notesMasters/notesMaster1.xml" Id="Rb64a7028017d42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4ca87aca0d4678" /><Relationship Type="http://schemas.openxmlformats.org/officeDocument/2006/relationships/notesMaster" Target="/ppt/notesMasters/notesMaster1.xml" Id="R261b99f7e26246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ed7638901843dd" /><Relationship Type="http://schemas.openxmlformats.org/officeDocument/2006/relationships/notesMaster" Target="/ppt/notesMasters/notesMaster1.xml" Id="R0d9942e04efb4c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5677365c75461f" /><Relationship Type="http://schemas.openxmlformats.org/officeDocument/2006/relationships/notesMaster" Target="/ppt/notesMasters/notesMaster1.xml" Id="R7b189f3be8824d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38482821734350" /><Relationship Type="http://schemas.openxmlformats.org/officeDocument/2006/relationships/notesMaster" Target="/ppt/notesMasters/notesMaster1.xml" Id="Rcb2f2c2cb7f644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8803fffec44049" /><Relationship Type="http://schemas.openxmlformats.org/officeDocument/2006/relationships/notesMaster" Target="/ppt/notesMasters/notesMaster1.xml" Id="R056735cddfce49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d830c785f1f418e" /><Relationship Type="http://schemas.openxmlformats.org/officeDocument/2006/relationships/notesMaster" Target="/ppt/notesMasters/notesMaster1.xml" Id="R691785b65d5e4b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purpose: choose a surface for a small model stopping zone, not for real vehicle safety equipment.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motion/speed/direction. 2 relevant control accepted. 3 cm. Explain that a block already moving can continue after a hand stops pushing.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“The direction of movement is not automatically the direction of every force. Here friction opposes the sliding and slows the unpushed block.” This is not a complete force diagram: weight and support act vertically.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wooden block is already sliding to the right on a stationary horizontal surface after leaving a ramp. Friction on the block points left. The movement arrow is distinct from a force arrow; vertical forces are omitted from this simplified focus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“A higher release might travel further even on the same material. I keep the ramp and release fixed before comparing surfaces.” Fix surface strips flat with comparable transitions and no bunching.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Side-view fixed ramp feeds a sliding wooden block onto a horizontal test surface. The same block is released without a push from one marked point; ramp angle, release point, transition and block face stay fixed. Run-out is measured from the ramp end to the same chosen block edge when stopped.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“Card is around 60 cm, rubber around 15 cm. In this setup rubber gives shorter run-out. I do not claim the material name gives the same result with every object.” Means are supplied summaries; core pupils can compare repeated ranges.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Horizontal bars start at zero and show constructed means: card 60 cm, cloth 23 cm, rubber 15 cm. They summarise three supplied repeated runs on each surface, not universal material constants.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rubber gives shortest run-out (14–16 cm). Partners take client and evidence adviser roles; client challenges a claim with a table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no; a push changes initial conditions. Repeat using the same marked release without a push; retain/annotate the flawed run rather than silently replacing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comparable starts and record any method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first option. If second chosen, point to relative sliding at the contact.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Friction on the block acts left, opposing sliding.</a:t>
            </a:r>
          </a:p>
          <a:p xmlns:a="http://schemas.openxmlformats.org/drawingml/2006/main">
            <a:r>
              <a:t>Correct. It opposes relative sliding on the stationary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Friction acts right because the block moves right.</a:t>
            </a:r>
          </a:p>
          <a:p xmlns:a="http://schemas.openxmlformats.org/drawingml/2006/main">
            <a:r>
              <a:t>Movement and friction point in opposite directions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No force can affect the block after the hand lets go.</a:t>
            </a:r>
          </a:p>
          <a:p xmlns:a="http://schemas.openxmlformats.org/drawingml/2006/main">
            <a:r>
              <a:t>Contact friction can continue after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Use supplied readings for the core task; optional practical after adult setup check. Keep actual values separately labelled. Do not require forces equations, coefficients or mean calculation for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supplied readings for the core task; optional practical after adult setup check. Keep actual values separately labelled. Do not require forces equations, coefficients or mean calculation for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Use supplied readings for the core task; optional practical after adult setup check. Keep actual values separately labelled. Do not require forces equations, coefficients or mean calculation for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Comparable starts, repeated distances and a purpose-specific claim make the choice stronger.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Comparable starts, repeated distances and a purpose-specific claim make the choice stronger.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OpenStax: friction</a:t>
            </a:r>
          </a:p>
          <a:p xmlns:a="http://schemas.openxmlformats.org/drawingml/2006/main">
            <a:r>
              <a:t>https://openstax.org/books/college-physics-2e/pages/5-1-friction</a:t>
            </a:r>
          </a:p>
          <a:p xmlns:a="http://schemas.openxmlformats.org/drawingml/2006/main">
            <a:r>
              <a:t>Checked 8 September 2026. Sliding friction opposes relative sliding at the contact. In a horizontal constant-speed pull, opposing horizontal forces balance. Surface-pair results are not universal rankings.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b0b03eab548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dac761bb5d471f" /><Relationship Type="http://schemas.openxmlformats.org/officeDocument/2006/relationships/slideLayout" Target="/ppt/slideLayouts/slideLayout1.xml" Id="R5e62a32e6731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62a32e6731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31e7a05834ad7" /><Relationship Type="http://schemas.openxmlformats.org/officeDocument/2006/relationships/notesSlide" Target="/ppt/notesSlides/notesSlide1.xml" Id="Raeac097ac2ed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8dad5bfbc4c28" /><Relationship Type="http://schemas.openxmlformats.org/officeDocument/2006/relationships/notesSlide" Target="/ppt/notesSlides/notesSlide2.xml" Id="R3e665ac9464f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ac300850b482b" /><Relationship Type="http://schemas.openxmlformats.org/officeDocument/2006/relationships/notesSlide" Target="/ppt/notesSlides/notesSlide3.xml" Id="R9ee74f9801b840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86d2db2f441e" /><Relationship Type="http://schemas.openxmlformats.org/officeDocument/2006/relationships/notesSlide" Target="/ppt/notesSlides/notesSlide4.xml" Id="R92932ebfbc8a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40ad04baa448a" /><Relationship Type="http://schemas.openxmlformats.org/officeDocument/2006/relationships/notesSlide" Target="/ppt/notesSlides/notesSlide5.xml" Id="Rd36e2444a5bc46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d9470607f4b14" /><Relationship Type="http://schemas.openxmlformats.org/officeDocument/2006/relationships/notesSlide" Target="/ppt/notesSlides/notesSlide6.xml" Id="R5cbadf8c682f44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6812ea7f64f42" /><Relationship Type="http://schemas.openxmlformats.org/officeDocument/2006/relationships/notesSlide" Target="/ppt/notesSlides/notesSlide7.xml" Id="R4a52afa7294547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e44ccaea2416c" /><Relationship Type="http://schemas.openxmlformats.org/officeDocument/2006/relationships/notesSlide" Target="/ppt/notesSlides/notesSlide8.xml" Id="Ra3c597c418224d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9a33ffed04a6c" /><Relationship Type="http://schemas.openxmlformats.org/officeDocument/2006/relationships/notesSlide" Target="/ppt/notesSlides/notesSlide9.xml" Id="Rcc15fa61008e46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36ce774af4a35" /><Relationship Type="http://schemas.openxmlformats.org/officeDocument/2006/relationships/notesSlide" Target="/ppt/notesSlides/notesSlide10.xml" Id="R054691691cd945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139a138d8440c" /><Relationship Type="http://schemas.openxmlformats.org/officeDocument/2006/relationships/notesSlide" Target="/ppt/notesSlides/notesSlide11.xml" Id="R4f005aa2a9e447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53925988841d3" /><Relationship Type="http://schemas.openxmlformats.org/officeDocument/2006/relationships/notesSlide" Target="/ppt/notesSlides/notesSlide12.xml" Id="R6df10663b12c4e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8262fd7c84e3e" /><Relationship Type="http://schemas.openxmlformats.org/officeDocument/2006/relationships/notesSlide" Target="/ppt/notesSlides/notesSlide13.xml" Id="R952f531eae3948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0043aeffe41de" /><Relationship Type="http://schemas.openxmlformats.org/officeDocument/2006/relationships/notesSlide" Target="/ppt/notesSlides/notesSlide14.xml" Id="R97ea9f9dee6441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52BD78D9-071C-42F0-870B-238FDED9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EFEC502-D327-48AF-86AF-936456D3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10C24DE-C2C0-4121-93B4-6F17A184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11F87D29-D898-47A4-99CE-8F691614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C9221DF6-DB9F-48EE-963F-366EB7C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17124589-AADC-4F5E-B9D5-A98D76B5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Which surface should stop the sliding block sooner?">
            <a:extLst xmlns:a="http://schemas.openxmlformats.org/drawingml/2006/main">
              <a:ext uri="{FF2B5EF4-FFF2-40B4-BE49-F238E27FC236}">
                <a16:creationId xmlns:a16="http://schemas.microsoft.com/office/drawing/2014/main" id="{E986F458-6A5F-434E-9CC2-D332E502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surface should stop the sliding block sooner?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560628F-D0A1-4F46-B132-BB96FA8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E438CA6A-CFDA-42BC-A59A-7296132E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9052F332-0181-4A99-AF1B-D9BA276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FCD59F5-FCAA-4113-831F-96CED0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75E887C6-2C51-4D79-B495-1B0DB41F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46830A94-A391-4886-88F0-302D9349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Compare a sliding block’s movement on different surfaces and exp">
            <a:extLst xmlns:a="http://schemas.openxmlformats.org/drawingml/2006/main">
              <a:ext uri="{FF2B5EF4-FFF2-40B4-BE49-F238E27FC236}">
                <a16:creationId xmlns:a16="http://schemas.microsoft.com/office/drawing/2014/main" id="{AFCB5686-5595-413A-96AB-C8943491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 sliding block’s movement on different surfaces and explain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effect of friction using a controlled test.</a:t>
            </a:r>
          </a:p>
        </p:txBody>
      </p:sp>
      <p:sp>
        <p:nvSpPr>
          <p:cNvPr id="15" name="Predict from evidence.">
            <a:extLst xmlns:a="http://schemas.openxmlformats.org/drawingml/2006/main">
              <a:ext uri="{FF2B5EF4-FFF2-40B4-BE49-F238E27FC236}">
                <a16:creationId xmlns:a16="http://schemas.microsoft.com/office/drawing/2014/main" id="{C0BC61F7-5B07-4BCB-A906-001E09A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Predict from evidence.</a:t>
            </a:r>
          </a:p>
        </p:txBody>
      </p:sp>
      <p:sp>
        <p:nvSpPr>
          <p:cNvPr id="16" name="Keep the release the same.">
            <a:extLst xmlns:a="http://schemas.openxmlformats.org/drawingml/2006/main">
              <a:ext uri="{FF2B5EF4-FFF2-40B4-BE49-F238E27FC236}">
                <a16:creationId xmlns:a16="http://schemas.microsoft.com/office/drawing/2014/main" id="{BD27A3D3-18CE-41C2-8156-725ABD1A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release the same.</a:t>
            </a:r>
          </a:p>
        </p:txBody>
      </p:sp>
    </p:spTree>
    <p:extLst>
      <p:ext uri="{BB962C8B-B14F-4D97-AF65-F5344CB8AC3E}">
        <p14:creationId xmlns:p14="http://schemas.microsoft.com/office/powerpoint/2010/main" val="71466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850443B-4F36-4981-8A45-092F1C7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9E01C4-4222-4B60-8F0E-2858F45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4F55277-4B53-429F-8FC2-7834F505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C9EA225-6F8C-4D32-97EA-F94F525E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3E5E37BB-BD29-428B-B1B7-6ECEEBF4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78DB8E16-B659-4FA9-80EB-13E3617B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trieve pushes, pulls and comparisons">
            <a:extLst xmlns:a="http://schemas.openxmlformats.org/drawingml/2006/main">
              <a:ext uri="{FF2B5EF4-FFF2-40B4-BE49-F238E27FC236}">
                <a16:creationId xmlns:a16="http://schemas.microsoft.com/office/drawing/2014/main" id="{14B423B4-3CAC-4661-B31C-670448F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pushes, pulls and comparisons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B33EA664-1BD2-4BB7-9A2F-6DFE5C58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6BFBED4F-EEEC-4302-B433-491A36F1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A6BD57F5-5138-48FA-ABB6-EDA7EE35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at can a push change?">
            <a:extLst xmlns:a="http://schemas.openxmlformats.org/drawingml/2006/main">
              <a:ext uri="{FF2B5EF4-FFF2-40B4-BE49-F238E27FC236}">
                <a16:creationId xmlns:a16="http://schemas.microsoft.com/office/drawing/2014/main" id="{73F8E084-7E0B-4AB8-AC8F-748EBD8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What can a push change?</a:t>
            </a:r>
          </a:p>
        </p:txBody>
      </p:sp>
      <p:sp>
        <p:nvSpPr>
          <p:cNvPr id="12" name="2. Name one thing to keep the same in a test.">
            <a:extLst xmlns:a="http://schemas.openxmlformats.org/drawingml/2006/main">
              <a:ext uri="{FF2B5EF4-FFF2-40B4-BE49-F238E27FC236}">
                <a16:creationId xmlns:a16="http://schemas.microsoft.com/office/drawing/2014/main" id="{EF31299E-74E0-4707-8C6F-C78683BD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Name one thing to keep the same in a test.</a:t>
            </a:r>
          </a:p>
        </p:txBody>
      </p:sp>
      <p:sp>
        <p:nvSpPr>
          <p:cNvPr id="13" name="3. What unit can measure a short distance?">
            <a:extLst xmlns:a="http://schemas.openxmlformats.org/drawingml/2006/main">
              <a:ext uri="{FF2B5EF4-FFF2-40B4-BE49-F238E27FC236}">
                <a16:creationId xmlns:a16="http://schemas.microsoft.com/office/drawing/2014/main" id="{C8A4A16B-E564-4565-8024-0ED7523B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What unit can measure a short distance?</a:t>
            </a:r>
          </a:p>
        </p:txBody>
      </p:sp>
    </p:spTree>
    <p:extLst>
      <p:ext uri="{BB962C8B-B14F-4D97-AF65-F5344CB8AC3E}">
        <p14:creationId xmlns:p14="http://schemas.microsoft.com/office/powerpoint/2010/main" val="1845440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F74A578F-4A24-4BCF-8D23-C5117A7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4F7799F-CFD0-4F5A-A712-AC577D4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28CC566-AC0D-4B4F-8009-9A781B8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1F54C9A-BCB4-430D-A6F3-15A94E71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7A0C340-E6AE-467F-B8C7-106AD12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99677D54-6447-4CFD-B2EF-4B8F35E5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distinguish motion from force">
            <a:extLst xmlns:a="http://schemas.openxmlformats.org/drawingml/2006/main">
              <a:ext uri="{FF2B5EF4-FFF2-40B4-BE49-F238E27FC236}">
                <a16:creationId xmlns:a16="http://schemas.microsoft.com/office/drawing/2014/main" id="{968961E1-7EA8-4515-80F2-436099A7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distinguish motion from force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85A10D6-7067-4FA4-98AA-3878050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B4C0ED59-552B-4514-B901-8A54E8A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D1BB741E-A588-4063-A114-F1517727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DB7F0F9-97AC-4F9D-884F-7A95DB8B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461272"/>
            <a:ext cx="6458885" cy="48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E288D65-5C7B-4CBE-95EB-0EF12BB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973" y="3602576"/>
            <a:ext cx="1456049" cy="858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A1CC6E2-271B-4390-AE21-303345D5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3977" y="3005223"/>
            <a:ext cx="264702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1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EECB294-A4C3-420C-9B6D-A3AC999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44866" y="2952954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15" name="Diagram label: Sliding direction">
            <a:extLst xmlns:a="http://schemas.openxmlformats.org/drawingml/2006/main">
              <a:ext uri="{FF2B5EF4-FFF2-40B4-BE49-F238E27FC236}">
                <a16:creationId xmlns:a16="http://schemas.microsoft.com/office/drawing/2014/main" id="{1E994728-2CDB-48A6-917F-21BA17B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316" y="2519873"/>
            <a:ext cx="3061437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Sliding direction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8563C57-28D9-4904-940C-CA39B3E7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22323" y="4311933"/>
            <a:ext cx="1862996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C0C9F90-FC5F-47BF-8EFC-D4BB7B9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743920" y="425966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8" name="Diagram label: Friction on the block">
            <a:extLst xmlns:a="http://schemas.openxmlformats.org/drawingml/2006/main">
              <a:ext uri="{FF2B5EF4-FFF2-40B4-BE49-F238E27FC236}">
                <a16:creationId xmlns:a16="http://schemas.microsoft.com/office/drawing/2014/main" id="{86C221C6-F832-4763-8BE0-2C04349B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3677245"/>
            <a:ext cx="2277410" cy="48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Friction on the block</a:t>
            </a:r>
          </a:p>
        </p:txBody>
      </p:sp>
      <p:sp>
        <p:nvSpPr>
          <p:cNvPr id="19" name="Diagram label: Stationary surface">
            <a:extLst xmlns:a="http://schemas.openxmlformats.org/drawingml/2006/main">
              <a:ext uri="{FF2B5EF4-FFF2-40B4-BE49-F238E27FC236}">
                <a16:creationId xmlns:a16="http://schemas.microsoft.com/office/drawing/2014/main" id="{B893DEBE-1C87-4B0D-B862-E99A60A6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631" y="5207964"/>
            <a:ext cx="2538753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Stationary surface</a:t>
            </a:r>
          </a:p>
        </p:txBody>
      </p:sp>
      <p:sp>
        <p:nvSpPr>
          <p:cNvPr id="20" name="Diagram label: After release: no hand keeps pushing the block.">
            <a:extLst xmlns:a="http://schemas.openxmlformats.org/drawingml/2006/main">
              <a:ext uri="{FF2B5EF4-FFF2-40B4-BE49-F238E27FC236}">
                <a16:creationId xmlns:a16="http://schemas.microsoft.com/office/drawing/2014/main" id="{BBB7D4F8-D07E-4F88-812B-3121DC86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5655979"/>
            <a:ext cx="6944235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After release: no hand keeps pushing the block.</a:t>
            </a:r>
          </a:p>
        </p:txBody>
      </p:sp>
      <p:sp>
        <p:nvSpPr>
          <p:cNvPr id="21" name="The block slides right.  Friction on it acts left.  Contact with">
            <a:extLst xmlns:a="http://schemas.openxmlformats.org/drawingml/2006/main">
              <a:ext uri="{FF2B5EF4-FFF2-40B4-BE49-F238E27FC236}">
                <a16:creationId xmlns:a16="http://schemas.microsoft.com/office/drawing/2014/main" id="{A4A97CD6-7650-4112-B2C0-B726F1AA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block slides right. Friction on it acts left. Contact with the surface matters.</a:t>
            </a:r>
          </a:p>
        </p:txBody>
      </p:sp>
    </p:spTree>
    <p:extLst>
      <p:ext uri="{BB962C8B-B14F-4D97-AF65-F5344CB8AC3E}">
        <p14:creationId xmlns:p14="http://schemas.microsoft.com/office/powerpoint/2010/main" val="6831535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24B826DE-74F6-4527-96D7-EF64426B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CF3AB2E-CC22-410A-92FE-B7656548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61E0E8F-E466-4084-9F66-E17102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76C2035-DB15-4F09-BEB7-7877FD7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005CF1F-B4F1-4654-83B1-48BD65A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keep the start conditions fixed">
            <a:extLst xmlns:a="http://schemas.openxmlformats.org/drawingml/2006/main">
              <a:ext uri="{FF2B5EF4-FFF2-40B4-BE49-F238E27FC236}">
                <a16:creationId xmlns:a16="http://schemas.microsoft.com/office/drawing/2014/main" id="{B126FDBF-B193-4700-900E-A46AE81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keep the start conditions fixed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204DF33-A554-41E7-85F0-B0C6955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1D02F2BE-0D0E-43C7-A113-89CA46B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A50908AC-A1A3-4369-A5C3-444357A8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3C16A5B-AB5C-4AA8-B16E-65F77162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22559" y="3191896"/>
            <a:ext cx="2389414" cy="13813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735">
            <a:solidFill>
              <a:srgbClr val="1F2937"/>
            </a:solidFill>
          </a:ln>
        </p:spPr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D301F8B-169B-48E0-9653-4C906B29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973" y="4573276"/>
            <a:ext cx="406947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735">
            <a:solidFill>
              <a:srgbClr val="1F2937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EE946F1-1CB9-4968-BAF2-92BFF0A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308" y="4610610"/>
            <a:ext cx="4032137" cy="298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B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ED65697-92E5-494D-BCF6-C2CB36E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98" y="2818550"/>
            <a:ext cx="634688" cy="448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4" name="Diagram label: Same ramp and release mark">
            <a:extLst xmlns:a="http://schemas.openxmlformats.org/drawingml/2006/main">
              <a:ext uri="{FF2B5EF4-FFF2-40B4-BE49-F238E27FC236}">
                <a16:creationId xmlns:a16="http://schemas.microsoft.com/office/drawing/2014/main" id="{DCFF2EA0-EA26-4C82-A4AE-824A9D1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146527"/>
            <a:ext cx="2986768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ramp and release mark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116C547-16FC-4CED-9A4D-A77FE149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909" y="2743880"/>
            <a:ext cx="953" cy="298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62F22B2-B125-4A25-9F73-5BA16D1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395" y="4125260"/>
            <a:ext cx="634688" cy="448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7" name="Diagram label: Block stops on&#10;test surface.">
            <a:extLst xmlns:a="http://schemas.openxmlformats.org/drawingml/2006/main">
              <a:ext uri="{FF2B5EF4-FFF2-40B4-BE49-F238E27FC236}">
                <a16:creationId xmlns:a16="http://schemas.microsoft.com/office/drawing/2014/main" id="{5C0052A3-3835-44A5-A50D-257EF853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54" y="3117226"/>
            <a:ext cx="2464083" cy="709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Block stops 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surface.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F809802-BF5A-4484-ABF4-7B60B1C1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973" y="5095960"/>
            <a:ext cx="261342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D07D69D-660C-4838-BED6-20B0FFF6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973" y="4983956"/>
            <a:ext cx="953" cy="22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B45CEB9-A93D-4BCB-84E2-10D0E0E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25395" y="4983956"/>
            <a:ext cx="953" cy="2240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1" name="Diagram label: Run-out distance (cm)">
            <a:extLst xmlns:a="http://schemas.openxmlformats.org/drawingml/2006/main">
              <a:ext uri="{FF2B5EF4-FFF2-40B4-BE49-F238E27FC236}">
                <a16:creationId xmlns:a16="http://schemas.microsoft.com/office/drawing/2014/main" id="{895BA22C-AA50-4ED0-A9B3-DCCC3BCB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323" y="5282633"/>
            <a:ext cx="268809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Run-out distance (cm)</a:t>
            </a:r>
          </a:p>
        </p:txBody>
      </p:sp>
      <p:sp>
        <p:nvSpPr>
          <p:cNvPr id="22" name="Diagram label: Use the same trailing edge at ramp end and when stopped.">
            <a:extLst xmlns:a="http://schemas.openxmlformats.org/drawingml/2006/main">
              <a:ext uri="{FF2B5EF4-FFF2-40B4-BE49-F238E27FC236}">
                <a16:creationId xmlns:a16="http://schemas.microsoft.com/office/drawing/2014/main" id="{0101B590-6CB1-4E67-9971-E620E36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655979"/>
            <a:ext cx="6832231" cy="261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11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same trailing edge at ramp end and when stopped.</a:t>
            </a:r>
          </a:p>
        </p:txBody>
      </p:sp>
      <p:sp>
        <p:nvSpPr>
          <p:cNvPr id="23" name="Same block, face and ramp.  Same release mark; no push.  Change ">
            <a:extLst xmlns:a="http://schemas.openxmlformats.org/drawingml/2006/main">
              <a:ext uri="{FF2B5EF4-FFF2-40B4-BE49-F238E27FC236}">
                <a16:creationId xmlns:a16="http://schemas.microsoft.com/office/drawing/2014/main" id="{9694DFD3-2262-4A07-8799-F8198DA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block, face and ramp. Same release mark; no push. Change only the level surface.</a:t>
            </a:r>
          </a:p>
        </p:txBody>
      </p:sp>
    </p:spTree>
    <p:extLst>
      <p:ext uri="{BB962C8B-B14F-4D97-AF65-F5344CB8AC3E}">
        <p14:creationId xmlns:p14="http://schemas.microsoft.com/office/powerpoint/2010/main" val="154504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2B1B0458-E86F-484D-BC48-F2E14524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9568123-F32A-4F40-8482-EC6D29EC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B06B707-DD37-4E13-B7D3-5EA7C3E1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90CA6A3-215D-4A1B-B43E-C3BAEE12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180D565-075F-4A16-A958-EFBBAD7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use repeats before choosing">
            <a:extLst xmlns:a="http://schemas.openxmlformats.org/drawingml/2006/main">
              <a:ext uri="{FF2B5EF4-FFF2-40B4-BE49-F238E27FC236}">
                <a16:creationId xmlns:a16="http://schemas.microsoft.com/office/drawing/2014/main" id="{F0699ED9-7408-43D8-96AB-9D58A977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use repeats before choosing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61B7F32-91D6-468E-BF1C-401340BD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A6758871-93D3-4079-BECE-31BEAE4C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52568332-12DD-4E91-8A03-FAA9D38B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Diagram label: Constructed mean run-out distances">
            <a:extLst xmlns:a="http://schemas.openxmlformats.org/drawingml/2006/main">
              <a:ext uri="{FF2B5EF4-FFF2-40B4-BE49-F238E27FC236}">
                <a16:creationId xmlns:a16="http://schemas.microsoft.com/office/drawing/2014/main" id="{EBBEDB07-04A1-4502-8480-70414DC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71858"/>
            <a:ext cx="686956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mean run-out distances</a:t>
            </a:r>
          </a:p>
        </p:txBody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EE29850-2984-4F7F-9493-DD0F4A1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1255" y="5021291"/>
            <a:ext cx="5376182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2" name="Diagram label: Run-out distance (cm)">
            <a:extLst xmlns:a="http://schemas.openxmlformats.org/drawingml/2006/main">
              <a:ext uri="{FF2B5EF4-FFF2-40B4-BE49-F238E27FC236}">
                <a16:creationId xmlns:a16="http://schemas.microsoft.com/office/drawing/2014/main" id="{32D875D6-DDE7-4FB8-9F4B-23DAD3ED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78" y="5543975"/>
            <a:ext cx="4480152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Run-out distance (cm)</a:t>
            </a:r>
          </a:p>
        </p:txBody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4E15897-D64F-4ACF-BE9D-9D05952D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1255" y="2743880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4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7DF4AF7D-1210-4642-912D-F8576626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47" y="5095960"/>
            <a:ext cx="48535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AAA62A0-CBE4-41A6-BAEC-D72C5B5D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3977" y="2743880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6" name="Diagram label: 20">
            <a:extLst xmlns:a="http://schemas.openxmlformats.org/drawingml/2006/main">
              <a:ext uri="{FF2B5EF4-FFF2-40B4-BE49-F238E27FC236}">
                <a16:creationId xmlns:a16="http://schemas.microsoft.com/office/drawing/2014/main" id="{5ECA6A6C-47B7-4827-993A-1EC73A2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970" y="5095960"/>
            <a:ext cx="48535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3DF0A31-33A2-4BD2-AB2B-A5DC8B31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66700" y="2743880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8" name="Diagram label: 40">
            <a:extLst xmlns:a="http://schemas.openxmlformats.org/drawingml/2006/main">
              <a:ext uri="{FF2B5EF4-FFF2-40B4-BE49-F238E27FC236}">
                <a16:creationId xmlns:a16="http://schemas.microsoft.com/office/drawing/2014/main" id="{CF5C3748-8C1C-4F74-9B08-BAB49EA0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5095960"/>
            <a:ext cx="48535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40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0147DC9-1D40-4265-83BD-E2FC48F4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09422" y="2743880"/>
            <a:ext cx="953" cy="22774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20" name="Diagram label: 60">
            <a:extLst xmlns:a="http://schemas.openxmlformats.org/drawingml/2006/main">
              <a:ext uri="{FF2B5EF4-FFF2-40B4-BE49-F238E27FC236}">
                <a16:creationId xmlns:a16="http://schemas.microsoft.com/office/drawing/2014/main" id="{F27B34F9-72FE-4A58-BA57-02B79A27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414" y="5095960"/>
            <a:ext cx="48535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60</a:t>
            </a:r>
          </a:p>
        </p:txBody>
      </p:sp>
      <p:sp>
        <p:nvSpPr>
          <p:cNvPr id="21" name="Diagram label: Card">
            <a:extLst xmlns:a="http://schemas.openxmlformats.org/drawingml/2006/main">
              <a:ext uri="{FF2B5EF4-FFF2-40B4-BE49-F238E27FC236}">
                <a16:creationId xmlns:a16="http://schemas.microsoft.com/office/drawing/2014/main" id="{48EE0CE0-D8F7-4CE7-8DD8-B1F847E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893219"/>
            <a:ext cx="970700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Card</a:t>
            </a:r>
          </a:p>
        </p:txBody>
      </p:sp>
      <p:sp>
        <p:nvSpPr>
          <p:cNvPr id="2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293183E-DF84-4D96-B40B-3E4B06EE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2893219"/>
            <a:ext cx="4928167" cy="410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7467">
            <a:solidFill>
              <a:srgbClr val="4E7A9B"/>
            </a:solidFill>
          </a:ln>
        </p:spPr>
      </p:sp>
      <p:sp>
        <p:nvSpPr>
          <p:cNvPr id="23" name="Diagram label: 60">
            <a:extLst xmlns:a="http://schemas.openxmlformats.org/drawingml/2006/main">
              <a:ext uri="{FF2B5EF4-FFF2-40B4-BE49-F238E27FC236}">
                <a16:creationId xmlns:a16="http://schemas.microsoft.com/office/drawing/2014/main" id="{709CFBA5-617E-400A-BB3B-CB04934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1426" y="2893219"/>
            <a:ext cx="634688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60</a:t>
            </a:r>
          </a:p>
        </p:txBody>
      </p:sp>
      <p:sp>
        <p:nvSpPr>
          <p:cNvPr id="24" name="Diagram label: Cloth">
            <a:extLst xmlns:a="http://schemas.openxmlformats.org/drawingml/2006/main">
              <a:ext uri="{FF2B5EF4-FFF2-40B4-BE49-F238E27FC236}">
                <a16:creationId xmlns:a16="http://schemas.microsoft.com/office/drawing/2014/main" id="{1CB70FDE-E039-4524-B28F-5F330C7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3677245"/>
            <a:ext cx="970700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Cloth</a:t>
            </a:r>
          </a:p>
        </p:txBody>
      </p:sp>
      <p:sp>
        <p:nvSpPr>
          <p:cNvPr id="2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C2FF4AF-C364-4052-9C1F-606F5FB4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3677245"/>
            <a:ext cx="1889131" cy="410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7467">
            <a:solidFill>
              <a:srgbClr val="3F7D6E"/>
            </a:solidFill>
          </a:ln>
        </p:spPr>
      </p:sp>
      <p:sp>
        <p:nvSpPr>
          <p:cNvPr id="26" name="Diagram label: 23">
            <a:extLst xmlns:a="http://schemas.openxmlformats.org/drawingml/2006/main">
              <a:ext uri="{FF2B5EF4-FFF2-40B4-BE49-F238E27FC236}">
                <a16:creationId xmlns:a16="http://schemas.microsoft.com/office/drawing/2014/main" id="{AD4A4AD5-FDD7-4B3E-9169-0065438B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389" y="3677245"/>
            <a:ext cx="634688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23</a:t>
            </a:r>
          </a:p>
        </p:txBody>
      </p:sp>
      <p:sp>
        <p:nvSpPr>
          <p:cNvPr id="27" name="Diagram label: Rubber">
            <a:extLst xmlns:a="http://schemas.openxmlformats.org/drawingml/2006/main">
              <a:ext uri="{FF2B5EF4-FFF2-40B4-BE49-F238E27FC236}">
                <a16:creationId xmlns:a16="http://schemas.microsoft.com/office/drawing/2014/main" id="{4AFA51CE-C715-470E-8F46-5F20FEB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4461272"/>
            <a:ext cx="970700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Rubber</a:t>
            </a:r>
          </a:p>
        </p:txBody>
      </p:sp>
      <p:sp>
        <p:nvSpPr>
          <p:cNvPr id="2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51E53FF-43E3-44EA-9B76-3A5B1C67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4461272"/>
            <a:ext cx="1232042" cy="410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7467">
            <a:solidFill>
              <a:srgbClr val="C9803B"/>
            </a:solidFill>
          </a:ln>
        </p:spPr>
      </p:sp>
      <p:sp>
        <p:nvSpPr>
          <p:cNvPr id="29" name="Diagram label: 15">
            <a:extLst xmlns:a="http://schemas.openxmlformats.org/drawingml/2006/main">
              <a:ext uri="{FF2B5EF4-FFF2-40B4-BE49-F238E27FC236}">
                <a16:creationId xmlns:a16="http://schemas.microsoft.com/office/drawing/2014/main" id="{DA803623-960F-44DC-BDB8-643063AC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300" y="4461272"/>
            <a:ext cx="634688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sp>
        <p:nvSpPr>
          <p:cNvPr id="30" name="Compare all three runs.  A longer run-out means less slowing her">
            <a:extLst xmlns:a="http://schemas.openxmlformats.org/drawingml/2006/main">
              <a:ext uri="{FF2B5EF4-FFF2-40B4-BE49-F238E27FC236}">
                <a16:creationId xmlns:a16="http://schemas.microsoft.com/office/drawing/2014/main" id="{4B2F2D56-BF49-4D35-AA6F-D27C839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all three runs. A longer run-out means less slowing here.</a:t>
            </a:r>
          </a:p>
        </p:txBody>
      </p:sp>
    </p:spTree>
    <p:extLst>
      <p:ext uri="{BB962C8B-B14F-4D97-AF65-F5344CB8AC3E}">
        <p14:creationId xmlns:p14="http://schemas.microsoft.com/office/powerpoint/2010/main" val="3363078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EF8A908-4D98-4047-A0A6-6EEA183A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5118E35-4825-441E-B66E-C0BF6E80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E03ADC1-CEC1-4423-AE92-7852C6D4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9DEFFA4A-3349-4DE8-8F99-55C2FD5D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634CE88-4029-4C16-8617-486C3EBA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A40E39C-116F-4934-A1AF-FD8F35E1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surface-selection meeting">
            <a:extLst xmlns:a="http://schemas.openxmlformats.org/drawingml/2006/main">
              <a:ext uri="{FF2B5EF4-FFF2-40B4-BE49-F238E27FC236}">
                <a16:creationId xmlns:a16="http://schemas.microsoft.com/office/drawing/2014/main" id="{A574C52A-2DFD-4CDA-B222-C8B19000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surface-selection meeting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2746E95-09DE-4651-B316-74F12EA5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55651F38-69BA-4E73-8300-6E3C114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C1F9B7B0-B4FC-4093-B6C6-999F1FD9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Read the three runs. Choose the shorter stopping zone. Use two r">
            <a:extLst xmlns:a="http://schemas.openxmlformats.org/drawingml/2006/main">
              <a:ext uri="{FF2B5EF4-FFF2-40B4-BE49-F238E27FC236}">
                <a16:creationId xmlns:a16="http://schemas.microsoft.com/office/drawing/2014/main" id="{FB0AEF2F-3EAA-418C-9DA9-1C6CFAFA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three runs. Choose the shorter stopping zone. Use two readings in your reason.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72863"/>
                <a:gridCol w="2817446"/>
                <a:gridCol w="2817446"/>
                <a:gridCol w="281744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Surface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Run 1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Run 2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Run 3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Card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62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Cloth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22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Rubber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16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sliding-block data; same ramp, block face and releas">
            <a:extLst xmlns:a="http://schemas.openxmlformats.org/drawingml/2006/main">
              <a:ext uri="{FF2B5EF4-FFF2-40B4-BE49-F238E27FC236}">
                <a16:creationId xmlns:a16="http://schemas.microsoft.com/office/drawing/2014/main" id="{97C76BFD-73AE-43D6-842C-9D73D1B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1030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sliding-block data; same ramp, block face and release</a:t>
            </a:r>
          </a:p>
        </p:txBody>
      </p:sp>
    </p:spTree>
    <p:extLst>
      <p:ext uri="{BB962C8B-B14F-4D97-AF65-F5344CB8AC3E}">
        <p14:creationId xmlns:p14="http://schemas.microsoft.com/office/powerpoint/2010/main" val="679982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2D4720F5-BE1A-42FD-BB55-35EF851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6BE62CD-594B-4435-B8B5-E2165259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3597186A-57AC-4211-81B5-06392191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AF03B82-5B82-4A30-872E-31C897E3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4C85127D-F069-43CE-81F5-3C23BFF3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5E8438C8-A250-4EED-A1E8-9E10C9C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Repair a changed release">
            <a:extLst xmlns:a="http://schemas.openxmlformats.org/drawingml/2006/main">
              <a:ext uri="{FF2B5EF4-FFF2-40B4-BE49-F238E27FC236}">
                <a16:creationId xmlns:a16="http://schemas.microsoft.com/office/drawing/2014/main" id="{C0BA040E-6BE3-49B5-BF5E-6CF35EF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Repair a changed release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81C18B1E-A851-4C25-98AC-DF05BFD7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0AA771B3-3857-4E17-BDD1-A6BCA87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8D3476EE-E8D9-43D2-B052-5E739961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A team pushes only the rubber run.">
            <a:extLst xmlns:a="http://schemas.openxmlformats.org/drawingml/2006/main">
              <a:ext uri="{FF2B5EF4-FFF2-40B4-BE49-F238E27FC236}">
                <a16:creationId xmlns:a16="http://schemas.microsoft.com/office/drawing/2014/main" id="{CB6094C9-28C4-4E96-9C80-2F48391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team pushes only the rubber run.</a:t>
            </a:r>
          </a:p>
        </p:txBody>
      </p:sp>
      <p:sp>
        <p:nvSpPr>
          <p:cNvPr id="12" name="Can we compare it fairly?">
            <a:extLst xmlns:a="http://schemas.openxmlformats.org/drawingml/2006/main">
              <a:ext uri="{FF2B5EF4-FFF2-40B4-BE49-F238E27FC236}">
                <a16:creationId xmlns:a16="http://schemas.microsoft.com/office/drawing/2014/main" id="{B0BEC69D-049F-4F38-AF61-BE958781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we compare it fairly?</a:t>
            </a:r>
          </a:p>
        </p:txBody>
      </p:sp>
      <p:sp>
        <p:nvSpPr>
          <p:cNvPr id="13" name="Name the repair.">
            <a:extLst xmlns:a="http://schemas.openxmlformats.org/drawingml/2006/main">
              <a:ext uri="{FF2B5EF4-FFF2-40B4-BE49-F238E27FC236}">
                <a16:creationId xmlns:a16="http://schemas.microsoft.com/office/drawing/2014/main" id="{214322E9-323B-487E-BEF4-6266A4D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the repair.</a:t>
            </a:r>
          </a:p>
        </p:txBody>
      </p:sp>
    </p:spTree>
    <p:extLst>
      <p:ext uri="{BB962C8B-B14F-4D97-AF65-F5344CB8AC3E}">
        <p14:creationId xmlns:p14="http://schemas.microsoft.com/office/powerpoint/2010/main" val="1019329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6A9519F2-C8A6-4BE1-8A28-9C012E31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BA14022-AA46-4705-B1E7-55DAF509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50133D1-1DC6-4640-A3DD-0E4CD55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36BA07D-BE0B-4537-B4C8-F1F73668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36DBE3DE-59D8-4A3E-82C9-A9A5BB5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66EC9AA-EFC3-42B1-A3D9-49EE3CC4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The block slides right after release.">
            <a:extLst xmlns:a="http://schemas.openxmlformats.org/drawingml/2006/main">
              <a:ext uri="{FF2B5EF4-FFF2-40B4-BE49-F238E27FC236}">
                <a16:creationId xmlns:a16="http://schemas.microsoft.com/office/drawing/2014/main" id="{EF0D9B45-8FD6-44BE-B24D-D69E827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block slides right after release.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15DADBF-9B6B-409E-A0C5-E23E31AE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065EFD6B-4A7A-4E6C-8889-DA79D3F5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F5727D96-8E3E-4CA5-B3D6-B9C30BEB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Which friction statement fits this setup?">
            <a:extLst xmlns:a="http://schemas.openxmlformats.org/drawingml/2006/main">
              <a:ext uri="{FF2B5EF4-FFF2-40B4-BE49-F238E27FC236}">
                <a16:creationId xmlns:a16="http://schemas.microsoft.com/office/drawing/2014/main" id="{69992EFE-8AA1-4AA2-B40C-F0969D3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friction statement fits this setup?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14CD0B7F-BDED-4DD1-8F1A-FA55519D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DD2769BE-107E-420B-AFD8-018E046B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9E5A236E-0B98-448F-A9AE-DD62DE66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Friction on the block acts left, opposing sliding.">
            <a:extLst xmlns:a="http://schemas.openxmlformats.org/drawingml/2006/main">
              <a:ext uri="{FF2B5EF4-FFF2-40B4-BE49-F238E27FC236}">
                <a16:creationId xmlns:a16="http://schemas.microsoft.com/office/drawing/2014/main" id="{8AF2E375-EFBB-4491-AFFE-C6C7F107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Friction on the block acts left, opposing sliding.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2C021632-3DF9-4128-B6CA-7413BFC0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40F6BA4-EDA8-4E1B-AA82-AD8103F4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1A88E3B6-662F-49F4-9892-3D92C61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Friction acts right because the block moves right.">
            <a:extLst xmlns:a="http://schemas.openxmlformats.org/drawingml/2006/main">
              <a:ext uri="{FF2B5EF4-FFF2-40B4-BE49-F238E27FC236}">
                <a16:creationId xmlns:a16="http://schemas.microsoft.com/office/drawing/2014/main" id="{53E78E03-FA32-4BCC-952C-B88926A4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Friction acts right because the block moves right.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7DFC8F12-F0AE-4C7C-A0BA-21961625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0F2BBF93-4B7A-4FD0-9108-4D3330E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5BA9C94D-11AC-4DF5-8B60-D1DB1843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No force can affect the block after the hand lets go.">
            <a:extLst xmlns:a="http://schemas.openxmlformats.org/drawingml/2006/main">
              <a:ext uri="{FF2B5EF4-FFF2-40B4-BE49-F238E27FC236}">
                <a16:creationId xmlns:a16="http://schemas.microsoft.com/office/drawing/2014/main" id="{15122C93-F120-456C-98DF-355EF6A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force can affect the block after the hand lets go.</a:t>
            </a:r>
          </a:p>
        </p:txBody>
      </p:sp>
    </p:spTree>
    <p:extLst>
      <p:ext uri="{BB962C8B-B14F-4D97-AF65-F5344CB8AC3E}">
        <p14:creationId xmlns:p14="http://schemas.microsoft.com/office/powerpoint/2010/main" val="1541808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B99758F2-13A0-4F44-AC4E-6C02FB57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A3B6C5F-A853-4EA9-BDCF-814E00CF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6432C6B-F379-4D28-B155-262BD98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62827CB-9434-449A-B68B-CC03036C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303CDF82-37B0-4291-BC80-25FEC093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883D5F6-CABE-41C3-939B-20B4FEE6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D6A5D5C6-09A8-4A1C-901C-FEB3AB5D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8E9C63E-8AE8-4B42-84F9-CC4EC52D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7EEED2FC-1998-4F39-A3BF-01649A48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3A61F0F7-2CFC-4320-8712-6304873D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Read and select a surface.">
            <a:extLst xmlns:a="http://schemas.openxmlformats.org/drawingml/2006/main">
              <a:ext uri="{FF2B5EF4-FFF2-40B4-BE49-F238E27FC236}">
                <a16:creationId xmlns:a16="http://schemas.microsoft.com/office/drawing/2014/main" id="{C6C6AB99-41BF-48F4-9DAD-52C28AB0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and select a surface.</a:t>
            </a:r>
          </a:p>
        </p:txBody>
      </p:sp>
      <p:sp>
        <p:nvSpPr>
          <p:cNvPr id="12" name="Write an evidence-based recommendation.">
            <a:extLst xmlns:a="http://schemas.openxmlformats.org/drawingml/2006/main">
              <a:ext uri="{FF2B5EF4-FFF2-40B4-BE49-F238E27FC236}">
                <a16:creationId xmlns:a16="http://schemas.microsoft.com/office/drawing/2014/main" id="{F3818614-1314-45E5-B0A3-D06A7D8D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Write an evidence-based recommendation.</a:t>
            </a:r>
          </a:p>
        </p:txBody>
      </p:sp>
      <p:sp>
        <p:nvSpPr>
          <p:cNvPr id="13" name="Review the strength of the test.">
            <a:extLst xmlns:a="http://schemas.openxmlformats.org/drawingml/2006/main">
              <a:ext uri="{FF2B5EF4-FFF2-40B4-BE49-F238E27FC236}">
                <a16:creationId xmlns:a16="http://schemas.microsoft.com/office/drawing/2014/main" id="{68F1D148-3E06-455A-850E-48B32DB7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Review the strength of the test.</a:t>
            </a:r>
          </a:p>
        </p:txBody>
      </p:sp>
    </p:spTree>
    <p:extLst>
      <p:ext uri="{BB962C8B-B14F-4D97-AF65-F5344CB8AC3E}">
        <p14:creationId xmlns:p14="http://schemas.microsoft.com/office/powerpoint/2010/main" val="20017623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035662B9-1376-4B8E-9112-C5C901B6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A691FDA-9C49-476C-B7A2-39226885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91FEDA8-46CA-4A95-9757-14F065CD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7C8567E-6DFB-404B-A004-66AF13DE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4BB83CA5-BC6E-465F-8C43-CBA61446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4D0A9C84-CDBD-4F8A-B89F-FBEC07C3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3DD8CD74-6000-45FA-B6BF-D256D97B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F3B035E-0B46-46F1-B971-88729B9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EBB81BD1-8D4C-48DE-B156-DDB5D815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017D9940-ABBB-4350-BAC0-A3F6E629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A9AE8543-A644-4D7F-ABB0-D029A307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F5659901-EA65-4833-887E-AAB0C3D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4CD911D9-B5E4-42B0-9420-4BC1308D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1472044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9722DA0-FB74-4FDA-BD1E-4E18D0B0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985D9F3-87D0-4228-8E1E-0D936490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8A645BB-7D79-48E4-A603-3AAFE16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421031C-94FA-4F90-A80C-F8736BE6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540897F2-071F-43CA-8CD5-DACBBFF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AA9D32E2-5F09-416D-86F9-A032198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55335AC-87B1-4B9C-B0D3-9FF92110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07EDBDA7-6DE9-4043-9B83-E08E9811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94678362-1BF2-4B18-BED5-86317A1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FEE83C0E-0402-4E9D-9752-70AADDF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7A5D3696-6105-403A-A9E2-FB003F38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601745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C5A16A17-946C-45E3-B4A3-56D3F68C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498D42A-9E53-4AD4-811D-52B40AA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FB67ED15-1911-48AB-AB32-404624D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E407800-6A93-4828-A1EC-6CA18788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B0B23D7-5B91-44DA-93EB-5529BE07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2C54788-47E2-43F7-B8A8-53EF37B4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85106A4C-61F8-480C-9E5F-B5EEBF4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E56A675-501E-4EF2-95B2-3F6B7AA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5604A971-FE01-4028-B63C-B05E2238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A7DCB176-CBEB-4ABC-93F2-C0B2241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0CBF7CBC-C9C6-419B-AF3C-C812C797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BB434B29-8D29-42AB-B5DC-C5F2539C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DF2E12C0-CCEA-426C-9468-4F52EA69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2ED5120-DADF-4643-ABEF-00377743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A088EDEC-515E-4A0E-BFCE-496704D4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made our surface choice defensible?">
            <a:extLst xmlns:a="http://schemas.openxmlformats.org/drawingml/2006/main">
              <a:ext uri="{FF2B5EF4-FFF2-40B4-BE49-F238E27FC236}">
                <a16:creationId xmlns:a16="http://schemas.microsoft.com/office/drawing/2014/main" id="{77C735DA-8C10-4BF1-B810-E25BBAAA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made our surface choice defensible?</a:t>
            </a:r>
          </a:p>
        </p:txBody>
      </p:sp>
    </p:spTree>
    <p:extLst>
      <p:ext uri="{BB962C8B-B14F-4D97-AF65-F5344CB8AC3E}">
        <p14:creationId xmlns:p14="http://schemas.microsoft.com/office/powerpoint/2010/main" val="1825418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D0DEC9C-DB05-4CA2-8463-E0E45BB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F0F7BF9-4F16-4995-A88C-7ADF930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96A113C-D1B5-4AB5-BFB1-A74D1C86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A4C830F5-DFF5-41D7-87A9-F15126B9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3B0B462F-0F26-4FE6-A2E1-70745FD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B7DA1899-526A-490E-85CF-C42527E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402DD70-EA51-4B82-AC18-938BA67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BD9AA244-F85D-4144-8FB7-E9D35376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1030D026-96D9-48F4-894D-FAD510A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17B39575-355F-480A-A47F-F344CEEE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E9810207-4591-47EC-879A-C4583C24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16992444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71D2B1B-6F6E-4FC5-A0AF-941D65D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508E83A-A485-4460-9FEE-F9B93866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481B847-56AF-4DE6-B218-9BAE17B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816FF0B-AC06-4E9F-92D3-3F3CD309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0784AE1A-F940-48C1-AD44-C38D913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A414825B-8CEB-4E4B-8F79-D1AE308F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2A23ECB4-AA1B-4573-A46A-D991E254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26B73D6-0DBF-42DB-BF03-74EC6AD7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friction surface lab">
            <a:extLst xmlns:a="http://schemas.openxmlformats.org/drawingml/2006/main">
              <a:ext uri="{FF2B5EF4-FFF2-40B4-BE49-F238E27FC236}">
                <a16:creationId xmlns:a16="http://schemas.microsoft.com/office/drawing/2014/main" id="{47560F33-17C9-4BF6-AC6A-79BEEEEC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friction surface lab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5BE04E9B-524B-4EFF-A088-4957C71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does friction oppose in this test?">
            <a:extLst xmlns:a="http://schemas.openxmlformats.org/drawingml/2006/main">
              <a:ext uri="{FF2B5EF4-FFF2-40B4-BE49-F238E27FC236}">
                <a16:creationId xmlns:a16="http://schemas.microsoft.com/office/drawing/2014/main" id="{8C651476-48EF-4DB2-B6F6-C037388C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does friction oppose in this test?</a:t>
            </a:r>
          </a:p>
        </p:txBody>
      </p:sp>
      <p:sp>
        <p:nvSpPr>
          <p:cNvPr id="12" name="E2. Which supplied surface gives the shortest run-out?">
            <a:extLst xmlns:a="http://schemas.openxmlformats.org/drawingml/2006/main">
              <a:ext uri="{FF2B5EF4-FFF2-40B4-BE49-F238E27FC236}">
                <a16:creationId xmlns:a16="http://schemas.microsoft.com/office/drawing/2014/main" id="{53B25D0F-37A2-4FC0-BAAF-E50B8B0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Which supplied surface gives the shortest run-out?</a:t>
            </a:r>
          </a:p>
        </p:txBody>
      </p:sp>
      <p:sp>
        <p:nvSpPr>
          <p:cNvPr id="13" name="E3. Name one start condition to keep the same.">
            <a:extLst xmlns:a="http://schemas.openxmlformats.org/drawingml/2006/main">
              <a:ext uri="{FF2B5EF4-FFF2-40B4-BE49-F238E27FC236}">
                <a16:creationId xmlns:a16="http://schemas.microsoft.com/office/drawing/2014/main" id="{73524726-4C3D-48A2-A222-C25CFAD2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Name one start condition to keep the same.</a:t>
            </a:r>
          </a:p>
        </p:txBody>
      </p:sp>
    </p:spTree>
    <p:extLst>
      <p:ext uri="{BB962C8B-B14F-4D97-AF65-F5344CB8AC3E}">
        <p14:creationId xmlns:p14="http://schemas.microsoft.com/office/powerpoint/2010/main" val="1891950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2026-09-08T23:56:21.8550000Z</dcterms:created>
  <dcterms:modified xsi:type="dcterms:W3CDTF">2026-09-08T23:56:21.8550000Z</dcterms:modified>
</coreProperties>
</file>