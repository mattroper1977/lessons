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79d7d0e9014232" /><Relationship Type="http://schemas.openxmlformats.org/officeDocument/2006/relationships/extended-properties" Target="/docProps/app.xml" Id="Rc78e9fe62dab490d" /><Relationship Type="http://schemas.openxmlformats.org/officeDocument/2006/relationships/officeDocument" Target="/ppt/presentation.xml" Id="R4d73b3273ae74c7e" /></Relationships>
</file>

<file path=ppt/presentation.xml><?xml version="1.0" encoding="utf-8"?>
<p:presentation xmlns:p="http://schemas.openxmlformats.org/presentationml/2006/main">
  <p:sldMasterIdLst>
    <p:sldMasterId xmlns:r="http://schemas.openxmlformats.org/officeDocument/2006/relationships" id="2147483648" r:id="Rcee806b4a3bb420f"/>
  </p:sldMasterIdLst>
  <p:notesMasterIdLst>
    <p:notesMasterId xmlns:r="http://schemas.openxmlformats.org/officeDocument/2006/relationships" r:id="Rc7a44441901247d0"/>
  </p:notesMasterIdLst>
  <p:sldIdLst>
    <p:sldId xmlns:r="http://schemas.openxmlformats.org/officeDocument/2006/relationships" id="256" r:id="R87a9cacb5c1a4370"/>
    <p:sldId xmlns:r="http://schemas.openxmlformats.org/officeDocument/2006/relationships" id="257" r:id="Rd407ee9b7a934f59"/>
    <p:sldId xmlns:r="http://schemas.openxmlformats.org/officeDocument/2006/relationships" id="258" r:id="R8991b86057fd4e94"/>
    <p:sldId xmlns:r="http://schemas.openxmlformats.org/officeDocument/2006/relationships" id="259" r:id="R3ff97ccaf26149ce"/>
    <p:sldId xmlns:r="http://schemas.openxmlformats.org/officeDocument/2006/relationships" id="260" r:id="R05e65f3e4236435d"/>
    <p:sldId xmlns:r="http://schemas.openxmlformats.org/officeDocument/2006/relationships" id="261" r:id="Rd5a6148093a148d5"/>
    <p:sldId xmlns:r="http://schemas.openxmlformats.org/officeDocument/2006/relationships" id="262" r:id="R0e805702453943f2"/>
    <p:sldId xmlns:r="http://schemas.openxmlformats.org/officeDocument/2006/relationships" id="263" r:id="R3126d530ce2d4d1e"/>
    <p:sldId xmlns:r="http://schemas.openxmlformats.org/officeDocument/2006/relationships" id="264" r:id="R4787398e28b74152"/>
    <p:sldId xmlns:r="http://schemas.openxmlformats.org/officeDocument/2006/relationships" id="265" r:id="R3964270cb4794d99"/>
    <p:sldId xmlns:r="http://schemas.openxmlformats.org/officeDocument/2006/relationships" id="266" r:id="Ra6313b3041c4490e"/>
    <p:sldId xmlns:r="http://schemas.openxmlformats.org/officeDocument/2006/relationships" id="267" r:id="Rd78b03aee23d4093"/>
    <p:sldId xmlns:r="http://schemas.openxmlformats.org/officeDocument/2006/relationships" id="268" r:id="Rb860bf219cdf4447"/>
    <p:sldId xmlns:r="http://schemas.openxmlformats.org/officeDocument/2006/relationships" id="269" r:id="R8505908c02ef4e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405e4953f14cf1" /><Relationship Type="http://schemas.openxmlformats.org/officeDocument/2006/relationships/slideMaster" Target="/ppt/slideMasters/slideMaster1.xml" Id="Rcee806b4a3bb420f" /><Relationship Type="http://schemas.openxmlformats.org/officeDocument/2006/relationships/notesMaster" Target="/ppt/notesMasters/notesMaster1.xml" Id="Rc7a44441901247d0" /><Relationship Type="http://schemas.openxmlformats.org/officeDocument/2006/relationships/presProps" Target="/ppt/presProps.xml" Id="Raa2c9ae938d24b89" /><Relationship Type="http://schemas.openxmlformats.org/officeDocument/2006/relationships/tableStyles" Target="/ppt/tableStyles.xml" Id="R3ab03e73d2eb44a1" /><Relationship Type="http://schemas.openxmlformats.org/officeDocument/2006/relationships/slide" Target="/ppt/slides/slide1.xml" Id="R87a9cacb5c1a4370" /><Relationship Type="http://schemas.openxmlformats.org/officeDocument/2006/relationships/slide" Target="/ppt/slides/slide2.xml" Id="Rd407ee9b7a934f59" /><Relationship Type="http://schemas.openxmlformats.org/officeDocument/2006/relationships/slide" Target="/ppt/slides/slide3.xml" Id="R8991b86057fd4e94" /><Relationship Type="http://schemas.openxmlformats.org/officeDocument/2006/relationships/slide" Target="/ppt/slides/slide4.xml" Id="R3ff97ccaf26149ce" /><Relationship Type="http://schemas.openxmlformats.org/officeDocument/2006/relationships/slide" Target="/ppt/slides/slide5.xml" Id="R05e65f3e4236435d" /><Relationship Type="http://schemas.openxmlformats.org/officeDocument/2006/relationships/slide" Target="/ppt/slides/slide6.xml" Id="Rd5a6148093a148d5" /><Relationship Type="http://schemas.openxmlformats.org/officeDocument/2006/relationships/slide" Target="/ppt/slides/slide7.xml" Id="R0e805702453943f2" /><Relationship Type="http://schemas.openxmlformats.org/officeDocument/2006/relationships/slide" Target="/ppt/slides/slide8.xml" Id="R3126d530ce2d4d1e" /><Relationship Type="http://schemas.openxmlformats.org/officeDocument/2006/relationships/slide" Target="/ppt/slides/slide9.xml" Id="R4787398e28b74152" /><Relationship Type="http://schemas.openxmlformats.org/officeDocument/2006/relationships/slide" Target="/ppt/slides/slide10.xml" Id="R3964270cb4794d99" /><Relationship Type="http://schemas.openxmlformats.org/officeDocument/2006/relationships/slide" Target="/ppt/slides/slide11.xml" Id="Ra6313b3041c4490e" /><Relationship Type="http://schemas.openxmlformats.org/officeDocument/2006/relationships/slide" Target="/ppt/slides/slide12.xml" Id="Rd78b03aee23d4093" /><Relationship Type="http://schemas.openxmlformats.org/officeDocument/2006/relationships/slide" Target="/ppt/slides/slide13.xml" Id="Rb860bf219cdf4447" /><Relationship Type="http://schemas.openxmlformats.org/officeDocument/2006/relationships/slide" Target="/ppt/slides/slide14.xml" Id="R8505908c02ef4e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79bc13b8ec4e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a5584ab4f04cf5" /><Relationship Type="http://schemas.openxmlformats.org/officeDocument/2006/relationships/notesMaster" Target="/ppt/notesMasters/notesMaster1.xml" Id="R2422f08518454e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834e609cf2455b" /><Relationship Type="http://schemas.openxmlformats.org/officeDocument/2006/relationships/notesMaster" Target="/ppt/notesMasters/notesMaster1.xml" Id="R119b6fab391f41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0f37283354b9a" /><Relationship Type="http://schemas.openxmlformats.org/officeDocument/2006/relationships/notesMaster" Target="/ppt/notesMasters/notesMaster1.xml" Id="R75844e64892840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e740f169194130" /><Relationship Type="http://schemas.openxmlformats.org/officeDocument/2006/relationships/notesMaster" Target="/ppt/notesMasters/notesMaster1.xml" Id="R7ba533056e5e4d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770b2429ce4a75" /><Relationship Type="http://schemas.openxmlformats.org/officeDocument/2006/relationships/notesMaster" Target="/ppt/notesMasters/notesMaster1.xml" Id="Rbd0a93a458ed4f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92788d5dd0464a" /><Relationship Type="http://schemas.openxmlformats.org/officeDocument/2006/relationships/notesMaster" Target="/ppt/notesMasters/notesMaster1.xml" Id="R0ea71709476d42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ffedb81ca042e4" /><Relationship Type="http://schemas.openxmlformats.org/officeDocument/2006/relationships/notesMaster" Target="/ppt/notesMasters/notesMaster1.xml" Id="R817fe4663dd84b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abfe7ee4ef437c" /><Relationship Type="http://schemas.openxmlformats.org/officeDocument/2006/relationships/notesMaster" Target="/ppt/notesMasters/notesMaster1.xml" Id="R5125bd4302ee4e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43640e0b544353" /><Relationship Type="http://schemas.openxmlformats.org/officeDocument/2006/relationships/notesMaster" Target="/ppt/notesMasters/notesMaster1.xml" Id="Rce7a9a9f8d1445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f9be40c1034811" /><Relationship Type="http://schemas.openxmlformats.org/officeDocument/2006/relationships/notesMaster" Target="/ppt/notesMasters/notesMaster1.xml" Id="Rd2fdb954c9ce44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4b50b1fae84a86" /><Relationship Type="http://schemas.openxmlformats.org/officeDocument/2006/relationships/notesMaster" Target="/ppt/notesMasters/notesMaster1.xml" Id="Re45fdfd34baf4c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05375a977a4883" /><Relationship Type="http://schemas.openxmlformats.org/officeDocument/2006/relationships/notesMaster" Target="/ppt/notesMasters/notesMaster1.xml" Id="R42fc5536dab446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c2f012e25e492d" /><Relationship Type="http://schemas.openxmlformats.org/officeDocument/2006/relationships/notesMaster" Target="/ppt/notesMasters/notesMaster1.xml" Id="R2c3240db67404b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509ed13dda4171" /><Relationship Type="http://schemas.openxmlformats.org/officeDocument/2006/relationships/notesMaster" Target="/ppt/notesMasters/notesMaster1.xml" Id="R64ce1c0f18864d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Invite a prediction without settling it. State that source means gives out its own visible light here. Objects can also reflect while emitting; we classify the stated situation.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Answers: light; yes; no. If needed trace one source→object→eye path from the previous lesson.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Think aloud: “I do not sort by bright or shiny. I ask whether this object gives out its own light. The lamp does. The plain card returns some arriving light.” A source can also reflect; the card’s reflected light began elsewhere.</a:t>
            </a:r>
          </a:p>
          <a:p xmlns:a="http://schemas.openxmlformats.org/drawingml/2006/main">
            <a:r>
              <a:t/>
            </a:r>
          </a:p>
          <a:p xmlns:a="http://schemas.openxmlformats.org/drawingml/2006/main">
            <a:r>
              <a:t>DIAGRAM DESCRIPTION</a:t>
            </a:r>
          </a:p>
          <a:p xmlns:a="http://schemas.openxmlformats.org/drawingml/2006/main">
            <a:r>
              <a:t>A lit lamp gives out its own visible light. A non-luminous card reflects some light arriving from that lamp. Both can be seen when light reaches an eye.</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Think aloud: “I trace the arrows towards the mirror, then away. The mirror changes the direction; it does not switch on its own supply of light.” Diagram uses equal incident/reflection angles qualitatively; no angle calculation required.</a:t>
            </a:r>
          </a:p>
          <a:p xmlns:a="http://schemas.openxmlformats.org/drawingml/2006/main">
            <a:r>
              <a:t/>
            </a:r>
          </a:p>
          <a:p xmlns:a="http://schemas.openxmlformats.org/drawingml/2006/main">
            <a:r>
              <a:t>DIAGRAM DESCRIPTION</a:t>
            </a:r>
          </a:p>
          <a:p xmlns:a="http://schemas.openxmlformats.org/drawingml/2006/main">
            <a:r>
              <a:t>A ray travels down and right onto a horizontal mirror, then up and right towards a screen; incident and reflected angles are equal in this schematic.</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 do time. Think aloud: “I can see the ordinary paper because light reaches my eyes from it. The arrows leave in several directions. Reflection does not always give a clear image.” Arrow counts are not measured amounts.</a:t>
            </a:r>
          </a:p>
          <a:p xmlns:a="http://schemas.openxmlformats.org/drawingml/2006/main">
            <a:r>
              <a:t/>
            </a:r>
          </a:p>
          <a:p xmlns:a="http://schemas.openxmlformats.org/drawingml/2006/main">
            <a:r>
              <a:t>DIAGRAM DESCRIPTION</a:t>
            </a:r>
          </a:p>
          <a:p xmlns:a="http://schemas.openxmlformats.org/drawingml/2006/main">
            <a:r>
              <a:t>A source ray reaches a rough paper surface; reflected rays leave in several directions. This is a schematic of diffuse reflection, not a ray traced from one perfectly flat point.</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Place two headings on the desk. Partners take reader and sorter roles, swapping after three cards. Use the evidence rather than memory alone. A/C/E source; B/D/F reflector.</a:t>
            </a:r>
          </a:p>
          <a:p xmlns:a="http://schemas.openxmlformats.org/drawingml/2006/main">
            <a:r>
              <a:t/>
            </a:r>
          </a:p>
          <a:p xmlns:a="http://schemas.openxmlformats.org/drawingml/2006/main">
            <a:r>
              <a:t>REVEAL / MODEL ANSWER</a:t>
            </a:r>
          </a:p>
          <a:p xmlns:a="http://schemas.openxmlformats.org/drawingml/2006/main">
            <a:r>
              <a:t>A, C and E give out their own light in these cases.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Hold up or describe an unlit phone screen. Let each pair revise one classification. In this stated off case the screen reflects room light, so it can still be visible. Also ask about the mirror in no light: it cannot create a view.</a:t>
            </a:r>
          </a:p>
          <a:p xmlns:a="http://schemas.openxmlformats.org/drawingml/2006/main">
            <a:r>
              <a:t/>
            </a:r>
          </a:p>
          <a:p xmlns:a="http://schemas.openxmlformats.org/drawingml/2006/main">
            <a:r>
              <a:t>REVEAL / MODEL ANSWER</a:t>
            </a:r>
          </a:p>
          <a:p xmlns:a="http://schemas.openxmlformats.org/drawingml/2006/main">
            <a:r>
              <a:t>The off screen can reflect room light. It no longer supplies its own display light.</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If only mirrors are credited with reflection, return to the paper diagram. If Moon is selected as source, ask pupils to trace the light backwards to the Sun without looking at it.</a:t>
            </a:r>
          </a:p>
          <a:p xmlns:a="http://schemas.openxmlformats.org/drawingml/2006/main">
            <a:r>
              <a:t/>
            </a:r>
          </a:p>
          <a:p xmlns:a="http://schemas.openxmlformats.org/drawingml/2006/main">
            <a:r>
              <a:t>A. All shiny objects make their own light.</a:t>
            </a:r>
          </a:p>
          <a:p xmlns:a="http://schemas.openxmlformats.org/drawingml/2006/main">
            <a:r>
              <a:t>Shiny surfaces such as mirrors reflect arriving light.</a:t>
            </a:r>
          </a:p>
          <a:p xmlns:a="http://schemas.openxmlformats.org/drawingml/2006/main">
            <a:r>
              <a:t/>
            </a:r>
          </a:p>
          <a:p xmlns:a="http://schemas.openxmlformats.org/drawingml/2006/main">
            <a:r>
              <a:t>B. Only a mirror can reflect light.</a:t>
            </a:r>
          </a:p>
          <a:p xmlns:a="http://schemas.openxmlformats.org/drawingml/2006/main">
            <a:r>
              <a:t>Paper and many other surfaces reflect light too.</a:t>
            </a:r>
          </a:p>
          <a:p xmlns:a="http://schemas.openxmlformats.org/drawingml/2006/main">
            <a:r>
              <a:t/>
            </a:r>
          </a:p>
          <a:p xmlns:a="http://schemas.openxmlformats.org/drawingml/2006/main">
            <a:r>
              <a:t>C. We can see paper when reflected light reaches our eyes.</a:t>
            </a:r>
          </a:p>
          <a:p xmlns:a="http://schemas.openxmlformats.org/drawingml/2006/main">
            <a:r>
              <a:t>Correct. Paper reflects some light from a source into the eye.</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Give one route only, selected with the pupil. The shared evidence page supports every route. Optional paper-and-mirror observation is supporting evidence; card sorting provides the full independent route. Avoid treating the classes as mutually exclusive for every possible object or condition.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12-minute independent stage. Optional paper-and-mirror observation is supporting evidence; card sorting provides the full independent route. Avoid treating the classes as mutually exclusive for every possible object or condition.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Allow ten minutes of independent response after the two-minute setup. Optional paper-and-mirror observation is supporting evidence; card sorting provides the full independent route. Avoid treating the classes as mutually exclusive for every possible object or condition.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independent stage. Ask the pupil to point to the clue supporting their answer; accept a spoken correction or changed choice.</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Give a private or paired option. Adopt one scientifically sound pupil revision in the class explanation and name the change. No public ranking.</a:t>
            </a:r>
          </a:p>
          <a:p xmlns:a="http://schemas.openxmlformats.org/drawingml/2006/main">
            <a:r>
              <a:t/>
            </a:r>
          </a:p>
          <a:p xmlns:a="http://schemas.openxmlformats.org/drawingml/2006/main">
            <a:r>
              <a:t>REVEAL / MODEL ANSWER</a:t>
            </a:r>
          </a:p>
          <a:p xmlns:a="http://schemas.openxmlformats.org/drawingml/2006/main">
            <a:r>
              <a:t>Ask: does it give out its own light, or reflect light arriving from elsewhere?</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Collect brief individual answers. Secure core requires the main idea and a relevant reason. Revisit the relevant worked diagram next lesson if the explanation reverses cause and effect.</a:t>
            </a:r>
          </a:p>
          <a:p xmlns:a="http://schemas.openxmlformats.org/drawingml/2006/main">
            <a:r>
              <a:t/>
            </a:r>
          </a:p>
          <a:p xmlns:a="http://schemas.openxmlformats.org/drawingml/2006/main">
            <a:r>
              <a:t>REVEAL / MODEL ANSWER</a:t>
            </a:r>
          </a:p>
          <a:p xmlns:a="http://schemas.openxmlformats.org/drawingml/2006/main">
            <a:r>
              <a:t>See the teacher answer guide for the three checks.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be0908e8b249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441d5dbe6a4276" /><Relationship Type="http://schemas.openxmlformats.org/officeDocument/2006/relationships/slideLayout" Target="/ppt/slideLayouts/slideLayout1.xml" Id="R0390a0213ce246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90a0213ce246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29ba2cc6964ae9" /><Relationship Type="http://schemas.openxmlformats.org/officeDocument/2006/relationships/notesSlide" Target="/ppt/notesSlides/notesSlide1.xml" Id="R3f13bcadd69c40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105155896b4fab" /><Relationship Type="http://schemas.openxmlformats.org/officeDocument/2006/relationships/notesSlide" Target="/ppt/notesSlides/notesSlide2.xml" Id="Rbb32716374cc45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99bc4ff78d4bc2" /><Relationship Type="http://schemas.openxmlformats.org/officeDocument/2006/relationships/notesSlide" Target="/ppt/notesSlides/notesSlide3.xml" Id="R59d081892d474d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54f54480184c21" /><Relationship Type="http://schemas.openxmlformats.org/officeDocument/2006/relationships/notesSlide" Target="/ppt/notesSlides/notesSlide4.xml" Id="Rb23dd34f52ef4f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689929db26439a" /><Relationship Type="http://schemas.openxmlformats.org/officeDocument/2006/relationships/notesSlide" Target="/ppt/notesSlides/notesSlide5.xml" Id="R5ead6cfc3cf343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ddf82d653c4d6c" /><Relationship Type="http://schemas.openxmlformats.org/officeDocument/2006/relationships/notesSlide" Target="/ppt/notesSlides/notesSlide6.xml" Id="R1adabb8955c14e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7dc41adafe4247" /><Relationship Type="http://schemas.openxmlformats.org/officeDocument/2006/relationships/notesSlide" Target="/ppt/notesSlides/notesSlide7.xml" Id="R00e8ffc1c9f04d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8dc40d9d1c442a" /><Relationship Type="http://schemas.openxmlformats.org/officeDocument/2006/relationships/notesSlide" Target="/ppt/notesSlides/notesSlide8.xml" Id="R8eecde487b7a45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2524ab627946b6" /><Relationship Type="http://schemas.openxmlformats.org/officeDocument/2006/relationships/notesSlide" Target="/ppt/notesSlides/notesSlide9.xml" Id="Rd1cad388b04448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9f5ced39304777" /><Relationship Type="http://schemas.openxmlformats.org/officeDocument/2006/relationships/notesSlide" Target="/ppt/notesSlides/notesSlide10.xml" Id="Rf2ba68f4932d4a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98a135fe95461a" /><Relationship Type="http://schemas.openxmlformats.org/officeDocument/2006/relationships/notesSlide" Target="/ppt/notesSlides/notesSlide11.xml" Id="R0c2ff39121d849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102290e34f457c" /><Relationship Type="http://schemas.openxmlformats.org/officeDocument/2006/relationships/notesSlide" Target="/ppt/notesSlides/notesSlide12.xml" Id="R9ccd00f633bc45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1394fd0b874847" /><Relationship Type="http://schemas.openxmlformats.org/officeDocument/2006/relationships/notesSlide" Target="/ppt/notesSlides/notesSlide13.xml" Id="Rdf358dc990d14e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ac2d0141dc4ead" /><Relationship Type="http://schemas.openxmlformats.org/officeDocument/2006/relationships/notesSlide" Target="/ppt/notesSlides/notesSlide14.xml" Id="R0df391f76f5a468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60BE60FF-97C9-41AC-8DE6-89D52B0FE1C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72334C5-8214-4793-8579-03DC5327E24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9A08E84-C700-4928-8918-06D7ED01817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4FBB39E-24A2-4ECA-9A7B-64D1DE9B680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6C8E80A2-403F-4322-8744-DCC4292DF3D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5CDF3163-E75A-4ED1-8775-7E57D2FCC30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Does bright mean source?">
            <a:extLst xmlns:a="http://schemas.openxmlformats.org/drawingml/2006/main">
              <a:ext uri="{FF2B5EF4-FFF2-40B4-BE49-F238E27FC236}">
                <a16:creationId xmlns:a16="http://schemas.microsoft.com/office/drawing/2014/main" id="{4823BF2F-03C5-41B9-A9C0-A459B985DFC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Does bright mean source?</a:t>
            </a:r>
          </a:p>
        </p:txBody>
      </p:sp>
      <p:sp>
        <p:nvSpPr>
          <p:cNvPr id="8" name="surface">
            <a:extLst xmlns:a="http://schemas.openxmlformats.org/drawingml/2006/main">
              <a:ext uri="{FF2B5EF4-FFF2-40B4-BE49-F238E27FC236}">
                <a16:creationId xmlns:a16="http://schemas.microsoft.com/office/drawing/2014/main" id="{A5197199-2384-46AC-A598-59F5B8F4A23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39034C8E-2359-4D9D-9225-50A37E1A9E2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1 / 14">
            <a:extLst xmlns:a="http://schemas.openxmlformats.org/drawingml/2006/main">
              <a:ext uri="{FF2B5EF4-FFF2-40B4-BE49-F238E27FC236}">
                <a16:creationId xmlns:a16="http://schemas.microsoft.com/office/drawing/2014/main" id="{162D55F6-1E58-402A-89DF-C2DB6771FD7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52AD8E64-AA4B-4466-AB91-2786E987BE39}"/>
              </a:ext>
            </a:extLst>
          </p:cNvPr>
          <p:cNvSpPr>
            <a:spLocks xmlns:a="http://schemas.openxmlformats.org/drawingml/2006/main" noGrp="1"/>
          </p:cNvSpPr>
          <p:nvPr/>
        </p:nvSpPr>
        <p:spPr>
          <a:xfrm xmlns:a="http://schemas.openxmlformats.org/drawingml/2006/main">
            <a:off x="533400" y="1885950"/>
            <a:ext cx="11125200" cy="9334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65FF60C4-35A6-4AF6-9627-C048169A9E6E}"/>
              </a:ext>
            </a:extLst>
          </p:cNvPr>
          <p:cNvSpPr>
            <a:spLocks xmlns:a="http://schemas.openxmlformats.org/drawingml/2006/main" noGrp="1"/>
          </p:cNvSpPr>
          <p:nvPr/>
        </p:nvSpPr>
        <p:spPr>
          <a:xfrm xmlns:a="http://schemas.openxmlformats.org/drawingml/2006/main">
            <a:off x="533400" y="1885950"/>
            <a:ext cx="66675" cy="9334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7A77B318-BCC2-4F85-ACE6-46B3C6D3E6E4}"/>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Distinguish objects that give out their own light from surfaces ">
            <a:extLst xmlns:a="http://schemas.openxmlformats.org/drawingml/2006/main">
              <a:ext uri="{FF2B5EF4-FFF2-40B4-BE49-F238E27FC236}">
                <a16:creationId xmlns:a16="http://schemas.microsoft.com/office/drawing/2014/main" id="{6B486D9B-6D36-45D3-8777-9C890F9BCF2F}"/>
              </a:ext>
            </a:extLst>
          </p:cNvPr>
          <p:cNvSpPr>
            <a:spLocks xmlns:a="http://schemas.openxmlformats.org/drawingml/2006/main" noGrp="1"/>
          </p:cNvSpPr>
          <p:nvPr/>
        </p:nvSpPr>
        <p:spPr>
          <a:xfrm xmlns:a="http://schemas.openxmlformats.org/drawingml/2006/main">
            <a:off x="762000" y="23622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Distinguish objects that give out their own light from surfaces that reflect light.</a:t>
            </a:r>
          </a:p>
        </p:txBody>
      </p:sp>
      <p:sp>
        <p:nvSpPr>
          <p:cNvPr id="15" name="A mirror looks bright.">
            <a:extLst xmlns:a="http://schemas.openxmlformats.org/drawingml/2006/main">
              <a:ext uri="{FF2B5EF4-FFF2-40B4-BE49-F238E27FC236}">
                <a16:creationId xmlns:a16="http://schemas.microsoft.com/office/drawing/2014/main" id="{CC4EDE7B-B63D-4E87-8309-B82E4671C9A8}"/>
              </a:ext>
            </a:extLst>
          </p:cNvPr>
          <p:cNvSpPr>
            <a:spLocks xmlns:a="http://schemas.openxmlformats.org/drawingml/2006/main" noGrp="1"/>
          </p:cNvSpPr>
          <p:nvPr/>
        </p:nvSpPr>
        <p:spPr>
          <a:xfrm xmlns:a="http://schemas.openxmlformats.org/drawingml/2006/main">
            <a:off x="762000" y="304800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A mirror looks bright.</a:t>
            </a:r>
          </a:p>
        </p:txBody>
      </p:sp>
      <p:sp>
        <p:nvSpPr>
          <p:cNvPr id="16" name="A lamp looks bright.">
            <a:extLst xmlns:a="http://schemas.openxmlformats.org/drawingml/2006/main">
              <a:ext uri="{FF2B5EF4-FFF2-40B4-BE49-F238E27FC236}">
                <a16:creationId xmlns:a16="http://schemas.microsoft.com/office/drawing/2014/main" id="{9F8BDFEE-DC89-407D-BD2C-05B6BC690C1B}"/>
              </a:ext>
            </a:extLst>
          </p:cNvPr>
          <p:cNvSpPr>
            <a:spLocks xmlns:a="http://schemas.openxmlformats.org/drawingml/2006/main" noGrp="1"/>
          </p:cNvSpPr>
          <p:nvPr/>
        </p:nvSpPr>
        <p:spPr>
          <a:xfrm xmlns:a="http://schemas.openxmlformats.org/drawingml/2006/main">
            <a:off x="762000" y="3622358"/>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A lamp looks bright.</a:t>
            </a:r>
          </a:p>
        </p:txBody>
      </p:sp>
      <p:sp>
        <p:nvSpPr>
          <p:cNvPr id="17" name="Did their light start in the same place?">
            <a:extLst xmlns:a="http://schemas.openxmlformats.org/drawingml/2006/main">
              <a:ext uri="{FF2B5EF4-FFF2-40B4-BE49-F238E27FC236}">
                <a16:creationId xmlns:a16="http://schemas.microsoft.com/office/drawing/2014/main" id="{5C6C204A-2A95-4D4A-A187-77C6144FFDFC}"/>
              </a:ext>
            </a:extLst>
          </p:cNvPr>
          <p:cNvSpPr>
            <a:spLocks xmlns:a="http://schemas.openxmlformats.org/drawingml/2006/main" noGrp="1"/>
          </p:cNvSpPr>
          <p:nvPr/>
        </p:nvSpPr>
        <p:spPr>
          <a:xfrm xmlns:a="http://schemas.openxmlformats.org/drawingml/2006/main">
            <a:off x="762000" y="419671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Did their light start in the same place?</a:t>
            </a:r>
          </a:p>
        </p:txBody>
      </p:sp>
    </p:spTree>
    <p:extLst>
      <p:ext uri="{BB962C8B-B14F-4D97-AF65-F5344CB8AC3E}">
        <p14:creationId xmlns:p14="http://schemas.microsoft.com/office/powerpoint/2010/main" val="7175876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01B30D0-6455-46DA-B5B3-D47D3BF50C3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64A3953-1EC4-4461-BFD2-3C901394CAD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68C693C-2CB5-4EF2-9ABD-2285E78B233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94FF2A8-0134-4893-A267-8B297FA05B4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58F060A3-CC8A-480B-98E2-E31C4BC679A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CB1BA879-BB76-4896-8AD5-91BEF81A44C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Follow the light">
            <a:extLst xmlns:a="http://schemas.openxmlformats.org/drawingml/2006/main">
              <a:ext uri="{FF2B5EF4-FFF2-40B4-BE49-F238E27FC236}">
                <a16:creationId xmlns:a16="http://schemas.microsoft.com/office/drawing/2014/main" id="{129125CF-7C94-4D9C-9293-5F5AD3F01C7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Follow the light</a:t>
            </a:r>
          </a:p>
        </p:txBody>
      </p:sp>
      <p:sp>
        <p:nvSpPr>
          <p:cNvPr id="8" name="surface">
            <a:extLst xmlns:a="http://schemas.openxmlformats.org/drawingml/2006/main">
              <a:ext uri="{FF2B5EF4-FFF2-40B4-BE49-F238E27FC236}">
                <a16:creationId xmlns:a16="http://schemas.microsoft.com/office/drawing/2014/main" id="{84DE5710-0E29-459F-AC21-E71B7A515FF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6EA8304A-6850-422C-8B14-7CAA0F0BB5D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2 / 14">
            <a:extLst xmlns:a="http://schemas.openxmlformats.org/drawingml/2006/main">
              <a:ext uri="{FF2B5EF4-FFF2-40B4-BE49-F238E27FC236}">
                <a16:creationId xmlns:a16="http://schemas.microsoft.com/office/drawing/2014/main" id="{E692F458-4ED1-411E-AB7E-8DCE1D9CEA1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What do we need to see?">
            <a:extLst xmlns:a="http://schemas.openxmlformats.org/drawingml/2006/main">
              <a:ext uri="{FF2B5EF4-FFF2-40B4-BE49-F238E27FC236}">
                <a16:creationId xmlns:a16="http://schemas.microsoft.com/office/drawing/2014/main" id="{2BCCF956-0A83-4C2C-B4F5-1635C4B62CE6}"/>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What do we need to see?</a:t>
            </a:r>
          </a:p>
        </p:txBody>
      </p:sp>
      <p:sp>
        <p:nvSpPr>
          <p:cNvPr id="12" name="2. Does light enter the eye?">
            <a:extLst xmlns:a="http://schemas.openxmlformats.org/drawingml/2006/main">
              <a:ext uri="{FF2B5EF4-FFF2-40B4-BE49-F238E27FC236}">
                <a16:creationId xmlns:a16="http://schemas.microsoft.com/office/drawing/2014/main" id="{8DA4CD15-730C-4763-891E-317718867B65}"/>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Does light enter the eye?</a:t>
            </a:r>
          </a:p>
        </p:txBody>
      </p:sp>
      <p:sp>
        <p:nvSpPr>
          <p:cNvPr id="13" name="3. Does an unlit plain card glow?">
            <a:extLst xmlns:a="http://schemas.openxmlformats.org/drawingml/2006/main">
              <a:ext uri="{FF2B5EF4-FFF2-40B4-BE49-F238E27FC236}">
                <a16:creationId xmlns:a16="http://schemas.microsoft.com/office/drawing/2014/main" id="{35FA2784-9967-4FDD-96A5-31CC76A6E3B3}"/>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Does an unlit plain card glow?</a:t>
            </a:r>
          </a:p>
        </p:txBody>
      </p:sp>
    </p:spTree>
    <p:extLst>
      <p:ext uri="{BB962C8B-B14F-4D97-AF65-F5344CB8AC3E}">
        <p14:creationId xmlns:p14="http://schemas.microsoft.com/office/powerpoint/2010/main" val="16565382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408830F1-70E8-47C0-8E97-72A518C3ACA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2871072-57C2-4293-A3A5-B554F271988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9EA8916-FBE8-45B4-80BB-F2A22A4CA12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57EB3CC-DA5D-43F2-B96D-5C90EC84ABD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99B1F550-3C09-45CC-9FB0-0C2AC2AC182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066CD713-6C3C-4D7A-9A2A-9330590ECB1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I ask where the light began">
            <a:extLst xmlns:a="http://schemas.openxmlformats.org/drawingml/2006/main">
              <a:ext uri="{FF2B5EF4-FFF2-40B4-BE49-F238E27FC236}">
                <a16:creationId xmlns:a16="http://schemas.microsoft.com/office/drawing/2014/main" id="{DC5C6812-435C-43AF-983D-76AEF2C2092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ask where the light began</a:t>
            </a:r>
          </a:p>
        </p:txBody>
      </p:sp>
      <p:sp>
        <p:nvSpPr>
          <p:cNvPr id="8" name="surface">
            <a:extLst xmlns:a="http://schemas.openxmlformats.org/drawingml/2006/main">
              <a:ext uri="{FF2B5EF4-FFF2-40B4-BE49-F238E27FC236}">
                <a16:creationId xmlns:a16="http://schemas.microsoft.com/office/drawing/2014/main" id="{037AEA84-8F6B-4AAE-B9BB-CCBBB75FBDB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A559CB9F-4276-44F7-9C25-762D21B0F84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3 / 14">
            <a:extLst xmlns:a="http://schemas.openxmlformats.org/drawingml/2006/main">
              <a:ext uri="{FF2B5EF4-FFF2-40B4-BE49-F238E27FC236}">
                <a16:creationId xmlns:a16="http://schemas.microsoft.com/office/drawing/2014/main" id="{67FA5090-52ED-40EF-B978-7AF15E15DDE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Editable scientific diagram">
            <a:extLst xmlns:a="http://schemas.openxmlformats.org/drawingml/2006/main">
              <a:ext uri="{FF2B5EF4-FFF2-40B4-BE49-F238E27FC236}">
                <a16:creationId xmlns:a16="http://schemas.microsoft.com/office/drawing/2014/main" id="{20AE4BEF-EEAD-461C-8812-38448AF60279}"/>
              </a:ext>
            </a:extLst>
          </p:cNvPr>
          <p:cNvSpPr>
            <a:spLocks xmlns:a="http://schemas.openxmlformats.org/drawingml/2006/main" noGrp="1"/>
          </p:cNvSpPr>
          <p:nvPr/>
        </p:nvSpPr>
        <p:spPr>
          <a:xfrm xmlns:a="http://schemas.openxmlformats.org/drawingml/2006/main">
            <a:off x="2885225" y="3341234"/>
            <a:ext cx="1344046" cy="746692"/>
          </a:xfrm>
          <a:prstGeom xmlns:a="http://schemas.openxmlformats.org/drawingml/2006/main" prst="rect">
            <a:avLst/>
          </a:prstGeom>
          <a:solidFill xmlns:a="http://schemas.openxmlformats.org/drawingml/2006/main">
            <a:srgbClr val="EDF3F7"/>
          </a:solidFill>
          <a:ln xmlns:a="http://schemas.openxmlformats.org/drawingml/2006/main" w="22401">
            <a:solidFill>
              <a:srgbClr val="4E7A9B"/>
            </a:solidFill>
          </a:ln>
        </p:spPr>
      </p:sp>
      <p:sp>
        <p:nvSpPr>
          <p:cNvPr id="12" name="Diagram label: Lit lamp">
            <a:extLst xmlns:a="http://schemas.openxmlformats.org/drawingml/2006/main">
              <a:ext uri="{FF2B5EF4-FFF2-40B4-BE49-F238E27FC236}">
                <a16:creationId xmlns:a16="http://schemas.microsoft.com/office/drawing/2014/main" id="{984F1421-FFAF-48EF-BBDA-8A10FEB00EF9}"/>
              </a:ext>
            </a:extLst>
          </p:cNvPr>
          <p:cNvSpPr>
            <a:spLocks xmlns:a="http://schemas.openxmlformats.org/drawingml/2006/main" noGrp="1"/>
          </p:cNvSpPr>
          <p:nvPr/>
        </p:nvSpPr>
        <p:spPr>
          <a:xfrm xmlns:a="http://schemas.openxmlformats.org/drawingml/2006/main">
            <a:off x="2773221" y="2818550"/>
            <a:ext cx="2016068"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81" b="1">
                <a:solidFill>
                  <a:srgbClr val="1F2937"/>
                </a:solidFill>
                <a:latin typeface="Nimbus Sans"/>
                <a:ea typeface="Nimbus Sans"/>
                <a:cs typeface="Nimbus Sans"/>
              </a:defRPr>
            </a:pPr>
            <a:r>
              <a:rPr sz="1881" b="1">
                <a:solidFill>
                  <a:srgbClr val="1F2937"/>
                </a:solidFill>
                <a:latin typeface="Nimbus Sans"/>
                <a:ea typeface="Nimbus Sans"/>
                <a:cs typeface="Nimbus Sans"/>
              </a:rPr>
              <a:t>Lit lamp</a:t>
            </a:r>
          </a:p>
        </p:txBody>
      </p:sp>
      <p:sp>
        <p:nvSpPr>
          <p:cNvPr id="13" name="Diagram line">
            <a:extLst xmlns:a="http://schemas.openxmlformats.org/drawingml/2006/main">
              <a:ext uri="{FF2B5EF4-FFF2-40B4-BE49-F238E27FC236}">
                <a16:creationId xmlns:a16="http://schemas.microsoft.com/office/drawing/2014/main" id="{26E51340-A64E-4C11-8E2F-F6B4263143B1}"/>
              </a:ext>
            </a:extLst>
          </p:cNvPr>
          <p:cNvSpPr>
            <a:spLocks xmlns:a="http://schemas.openxmlformats.org/drawingml/2006/main" noGrp="1"/>
          </p:cNvSpPr>
          <p:nvPr/>
        </p:nvSpPr>
        <p:spPr>
          <a:xfrm xmlns:a="http://schemas.openxmlformats.org/drawingml/2006/main" flipH="0" flipV="0">
            <a:off x="4229270" y="3714580"/>
            <a:ext cx="2385681"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4" name="Diagram arrowhead">
            <a:extLst xmlns:a="http://schemas.openxmlformats.org/drawingml/2006/main">
              <a:ext uri="{FF2B5EF4-FFF2-40B4-BE49-F238E27FC236}">
                <a16:creationId xmlns:a16="http://schemas.microsoft.com/office/drawing/2014/main" id="{349D1ACE-B21A-4BD7-836F-86BF55CED474}"/>
              </a:ext>
            </a:extLst>
          </p:cNvPr>
          <p:cNvSpPr>
            <a:spLocks xmlns:a="http://schemas.openxmlformats.org/drawingml/2006/main" noGrp="1"/>
          </p:cNvSpPr>
          <p:nvPr/>
        </p:nvSpPr>
        <p:spPr>
          <a:xfrm xmlns:a="http://schemas.openxmlformats.org/drawingml/2006/main" rot="5400000">
            <a:off x="6588817" y="3662311"/>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5" name="Editable scientific diagram">
            <a:extLst xmlns:a="http://schemas.openxmlformats.org/drawingml/2006/main">
              <a:ext uri="{FF2B5EF4-FFF2-40B4-BE49-F238E27FC236}">
                <a16:creationId xmlns:a16="http://schemas.microsoft.com/office/drawing/2014/main" id="{15FD2E86-CB02-432E-A912-89A839424BF1}"/>
              </a:ext>
            </a:extLst>
          </p:cNvPr>
          <p:cNvSpPr>
            <a:spLocks xmlns:a="http://schemas.openxmlformats.org/drawingml/2006/main" noGrp="1"/>
          </p:cNvSpPr>
          <p:nvPr/>
        </p:nvSpPr>
        <p:spPr>
          <a:xfrm xmlns:a="http://schemas.openxmlformats.org/drawingml/2006/main">
            <a:off x="6693354" y="3191896"/>
            <a:ext cx="970700" cy="1045369"/>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6" name="Diagram label: White card">
            <a:extLst xmlns:a="http://schemas.openxmlformats.org/drawingml/2006/main">
              <a:ext uri="{FF2B5EF4-FFF2-40B4-BE49-F238E27FC236}">
                <a16:creationId xmlns:a16="http://schemas.microsoft.com/office/drawing/2014/main" id="{60121823-C6FB-44AC-99A5-C4D51E0CCDC9}"/>
              </a:ext>
            </a:extLst>
          </p:cNvPr>
          <p:cNvSpPr>
            <a:spLocks xmlns:a="http://schemas.openxmlformats.org/drawingml/2006/main" noGrp="1"/>
          </p:cNvSpPr>
          <p:nvPr/>
        </p:nvSpPr>
        <p:spPr>
          <a:xfrm xmlns:a="http://schemas.openxmlformats.org/drawingml/2006/main">
            <a:off x="6432011" y="4535941"/>
            <a:ext cx="1866730"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White card</a:t>
            </a:r>
          </a:p>
        </p:txBody>
      </p:sp>
      <p:sp>
        <p:nvSpPr>
          <p:cNvPr id="17" name="Diagram line">
            <a:extLst xmlns:a="http://schemas.openxmlformats.org/drawingml/2006/main">
              <a:ext uri="{FF2B5EF4-FFF2-40B4-BE49-F238E27FC236}">
                <a16:creationId xmlns:a16="http://schemas.microsoft.com/office/drawing/2014/main" id="{35455238-48B8-447E-AF7B-28D734E62D4E}"/>
              </a:ext>
            </a:extLst>
          </p:cNvPr>
          <p:cNvSpPr>
            <a:spLocks xmlns:a="http://schemas.openxmlformats.org/drawingml/2006/main" noGrp="1"/>
          </p:cNvSpPr>
          <p:nvPr/>
        </p:nvSpPr>
        <p:spPr>
          <a:xfrm xmlns:a="http://schemas.openxmlformats.org/drawingml/2006/main" flipH="1" flipV="1">
            <a:off x="5261940" y="2605235"/>
            <a:ext cx="1431413" cy="1109345"/>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8" name="Diagram arrowhead">
            <a:extLst xmlns:a="http://schemas.openxmlformats.org/drawingml/2006/main">
              <a:ext uri="{FF2B5EF4-FFF2-40B4-BE49-F238E27FC236}">
                <a16:creationId xmlns:a16="http://schemas.microsoft.com/office/drawing/2014/main" id="{BF092688-C3E1-418D-91D5-C89E9F735428}"/>
              </a:ext>
            </a:extLst>
          </p:cNvPr>
          <p:cNvSpPr>
            <a:spLocks xmlns:a="http://schemas.openxmlformats.org/drawingml/2006/main" noGrp="1"/>
          </p:cNvSpPr>
          <p:nvPr/>
        </p:nvSpPr>
        <p:spPr>
          <a:xfrm xmlns:a="http://schemas.openxmlformats.org/drawingml/2006/main" rot="-3133459">
            <a:off x="5189015" y="2536957"/>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9" name="Diagram line">
            <a:extLst xmlns:a="http://schemas.openxmlformats.org/drawingml/2006/main">
              <a:ext uri="{FF2B5EF4-FFF2-40B4-BE49-F238E27FC236}">
                <a16:creationId xmlns:a16="http://schemas.microsoft.com/office/drawing/2014/main" id="{9C95882B-BF5F-42A5-A9FC-67B0DB9F905A}"/>
              </a:ext>
            </a:extLst>
          </p:cNvPr>
          <p:cNvSpPr>
            <a:spLocks xmlns:a="http://schemas.openxmlformats.org/drawingml/2006/main" noGrp="1"/>
          </p:cNvSpPr>
          <p:nvPr/>
        </p:nvSpPr>
        <p:spPr>
          <a:xfrm xmlns:a="http://schemas.openxmlformats.org/drawingml/2006/main" flipH="1" flipV="0">
            <a:off x="5264954" y="3714580"/>
            <a:ext cx="1428400" cy="964170"/>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20" name="Diagram arrowhead">
            <a:extLst xmlns:a="http://schemas.openxmlformats.org/drawingml/2006/main">
              <a:ext uri="{FF2B5EF4-FFF2-40B4-BE49-F238E27FC236}">
                <a16:creationId xmlns:a16="http://schemas.microsoft.com/office/drawing/2014/main" id="{D7EA0E03-AC8B-41D9-AE5E-32847F711143}"/>
              </a:ext>
            </a:extLst>
          </p:cNvPr>
          <p:cNvSpPr>
            <a:spLocks xmlns:a="http://schemas.openxmlformats.org/drawingml/2006/main" noGrp="1"/>
          </p:cNvSpPr>
          <p:nvPr/>
        </p:nvSpPr>
        <p:spPr>
          <a:xfrm xmlns:a="http://schemas.openxmlformats.org/drawingml/2006/main" rot="14158839">
            <a:off x="5191024" y="4641103"/>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1" name="Diagram label: Source: gives out&#10;its own light.">
            <a:extLst xmlns:a="http://schemas.openxmlformats.org/drawingml/2006/main">
              <a:ext uri="{FF2B5EF4-FFF2-40B4-BE49-F238E27FC236}">
                <a16:creationId xmlns:a16="http://schemas.microsoft.com/office/drawing/2014/main" id="{65DA9FF5-B99B-485B-83A1-575BCCED66F4}"/>
              </a:ext>
            </a:extLst>
          </p:cNvPr>
          <p:cNvSpPr>
            <a:spLocks xmlns:a="http://schemas.openxmlformats.org/drawingml/2006/main" noGrp="1"/>
          </p:cNvSpPr>
          <p:nvPr/>
        </p:nvSpPr>
        <p:spPr>
          <a:xfrm xmlns:a="http://schemas.openxmlformats.org/drawingml/2006/main">
            <a:off x="2735886" y="4983956"/>
            <a:ext cx="2613422"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Source: gives out</a:t>
            </a:r>
          </a:p>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its own light.</a:t>
            </a:r>
          </a:p>
        </p:txBody>
      </p:sp>
      <p:sp>
        <p:nvSpPr>
          <p:cNvPr id="22" name="Diagram label: Reflector: returns some&#10;light that reaches it.">
            <a:extLst xmlns:a="http://schemas.openxmlformats.org/drawingml/2006/main">
              <a:ext uri="{FF2B5EF4-FFF2-40B4-BE49-F238E27FC236}">
                <a16:creationId xmlns:a16="http://schemas.microsoft.com/office/drawing/2014/main" id="{FF30B066-A5F9-4E82-9DF5-AA5AF08495BA}"/>
              </a:ext>
            </a:extLst>
          </p:cNvPr>
          <p:cNvSpPr>
            <a:spLocks xmlns:a="http://schemas.openxmlformats.org/drawingml/2006/main" noGrp="1"/>
          </p:cNvSpPr>
          <p:nvPr/>
        </p:nvSpPr>
        <p:spPr>
          <a:xfrm xmlns:a="http://schemas.openxmlformats.org/drawingml/2006/main">
            <a:off x="5983996" y="5133295"/>
            <a:ext cx="3434783" cy="597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Reflector: returns some</a:t>
            </a:r>
          </a:p>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light that reaches it.</a:t>
            </a:r>
          </a:p>
        </p:txBody>
      </p:sp>
      <p:sp>
        <p:nvSpPr>
          <p:cNvPr id="23" name="The lit lamp gives out light.  The card receives light.  It refl">
            <a:extLst xmlns:a="http://schemas.openxmlformats.org/drawingml/2006/main">
              <a:ext uri="{FF2B5EF4-FFF2-40B4-BE49-F238E27FC236}">
                <a16:creationId xmlns:a16="http://schemas.microsoft.com/office/drawing/2014/main" id="{83C25DA9-FDE3-40F3-AE64-B2EF823B9A9F}"/>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lit lamp gives out light. The card receives light. It reflects some of that light.</a:t>
            </a:r>
          </a:p>
        </p:txBody>
      </p:sp>
    </p:spTree>
    <p:extLst>
      <p:ext uri="{BB962C8B-B14F-4D97-AF65-F5344CB8AC3E}">
        <p14:creationId xmlns:p14="http://schemas.microsoft.com/office/powerpoint/2010/main" val="15887368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urface">
            <a:extLst xmlns:a="http://schemas.openxmlformats.org/drawingml/2006/main">
              <a:ext uri="{FF2B5EF4-FFF2-40B4-BE49-F238E27FC236}">
                <a16:creationId xmlns:a16="http://schemas.microsoft.com/office/drawing/2014/main" id="{A760B3CB-0E66-4763-9BD6-94EC1A64E0A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05027EA-37BD-4A0B-AF2F-9940321865B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B9BB297-C0C3-4F07-BD7F-79CBAFBDE1F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0D2D233-0752-4AD8-960D-230A0EDB75C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1279782B-004A-4DD0-B294-D06E2116A2F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2AD09AC3-6F71-4A79-A148-88297E9AFC7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A mirror redirects light">
            <a:extLst xmlns:a="http://schemas.openxmlformats.org/drawingml/2006/main">
              <a:ext uri="{FF2B5EF4-FFF2-40B4-BE49-F238E27FC236}">
                <a16:creationId xmlns:a16="http://schemas.microsoft.com/office/drawing/2014/main" id="{9319AF35-C757-404E-BE8E-B5BD026817B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mirror redirects light</a:t>
            </a:r>
          </a:p>
        </p:txBody>
      </p:sp>
      <p:sp>
        <p:nvSpPr>
          <p:cNvPr id="8" name="surface">
            <a:extLst xmlns:a="http://schemas.openxmlformats.org/drawingml/2006/main">
              <a:ext uri="{FF2B5EF4-FFF2-40B4-BE49-F238E27FC236}">
                <a16:creationId xmlns:a16="http://schemas.microsoft.com/office/drawing/2014/main" id="{977CCD7A-E608-43B3-A9F7-05B5C750087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A74E6079-7BE6-429F-8EC8-AFDF318E18E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4 / 14">
            <a:extLst xmlns:a="http://schemas.openxmlformats.org/drawingml/2006/main">
              <a:ext uri="{FF2B5EF4-FFF2-40B4-BE49-F238E27FC236}">
                <a16:creationId xmlns:a16="http://schemas.microsoft.com/office/drawing/2014/main" id="{381C8B1D-77A1-4EC7-AFDD-A644D6B0CC3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1" name="Editable scientific diagram">
            <a:extLst xmlns:a="http://schemas.openxmlformats.org/drawingml/2006/main">
              <a:ext uri="{FF2B5EF4-FFF2-40B4-BE49-F238E27FC236}">
                <a16:creationId xmlns:a16="http://schemas.microsoft.com/office/drawing/2014/main" id="{4400E2D4-372D-446D-AE0B-1D360B3A03CF}"/>
              </a:ext>
            </a:extLst>
          </p:cNvPr>
          <p:cNvSpPr>
            <a:spLocks xmlns:a="http://schemas.openxmlformats.org/drawingml/2006/main" noGrp="1"/>
          </p:cNvSpPr>
          <p:nvPr/>
        </p:nvSpPr>
        <p:spPr>
          <a:xfrm xmlns:a="http://schemas.openxmlformats.org/drawingml/2006/main">
            <a:off x="2885225" y="2370534"/>
            <a:ext cx="1269376" cy="597354"/>
          </a:xfrm>
          <a:prstGeom xmlns:a="http://schemas.openxmlformats.org/drawingml/2006/main" prst="rect">
            <a:avLst/>
          </a:prstGeom>
          <a:solidFill xmlns:a="http://schemas.openxmlformats.org/drawingml/2006/main">
            <a:srgbClr val="EDF3F7"/>
          </a:solidFill>
          <a:ln xmlns:a="http://schemas.openxmlformats.org/drawingml/2006/main" w="22401">
            <a:solidFill>
              <a:srgbClr val="4E7A9B"/>
            </a:solidFill>
          </a:ln>
        </p:spPr>
      </p:sp>
      <p:sp>
        <p:nvSpPr>
          <p:cNvPr id="12" name="Diagram label: LED light">
            <a:extLst xmlns:a="http://schemas.openxmlformats.org/drawingml/2006/main">
              <a:ext uri="{FF2B5EF4-FFF2-40B4-BE49-F238E27FC236}">
                <a16:creationId xmlns:a16="http://schemas.microsoft.com/office/drawing/2014/main" id="{24FC3279-D5A5-4B23-9DC1-358640AF3A88}"/>
              </a:ext>
            </a:extLst>
          </p:cNvPr>
          <p:cNvSpPr>
            <a:spLocks xmlns:a="http://schemas.openxmlformats.org/drawingml/2006/main" noGrp="1"/>
          </p:cNvSpPr>
          <p:nvPr/>
        </p:nvSpPr>
        <p:spPr>
          <a:xfrm xmlns:a="http://schemas.openxmlformats.org/drawingml/2006/main">
            <a:off x="2885225" y="2071858"/>
            <a:ext cx="1493384"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LED light</a:t>
            </a:r>
          </a:p>
        </p:txBody>
      </p:sp>
      <p:sp>
        <p:nvSpPr>
          <p:cNvPr id="13" name="Diagram line">
            <a:extLst xmlns:a="http://schemas.openxmlformats.org/drawingml/2006/main">
              <a:ext uri="{FF2B5EF4-FFF2-40B4-BE49-F238E27FC236}">
                <a16:creationId xmlns:a16="http://schemas.microsoft.com/office/drawing/2014/main" id="{ADC4A589-0AB1-4274-941B-54395B429BEE}"/>
              </a:ext>
            </a:extLst>
          </p:cNvPr>
          <p:cNvSpPr>
            <a:spLocks xmlns:a="http://schemas.openxmlformats.org/drawingml/2006/main" noGrp="1"/>
          </p:cNvSpPr>
          <p:nvPr/>
        </p:nvSpPr>
        <p:spPr>
          <a:xfrm xmlns:a="http://schemas.openxmlformats.org/drawingml/2006/main" flipH="0" flipV="0">
            <a:off x="4154601" y="2967888"/>
            <a:ext cx="1882676" cy="1665444"/>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4" name="Diagram arrowhead">
            <a:extLst xmlns:a="http://schemas.openxmlformats.org/drawingml/2006/main">
              <a:ext uri="{FF2B5EF4-FFF2-40B4-BE49-F238E27FC236}">
                <a16:creationId xmlns:a16="http://schemas.microsoft.com/office/drawing/2014/main" id="{53DC2050-97CD-4CC5-A8C2-AFEFFE3F0C1D}"/>
              </a:ext>
            </a:extLst>
          </p:cNvPr>
          <p:cNvSpPr>
            <a:spLocks xmlns:a="http://schemas.openxmlformats.org/drawingml/2006/main" noGrp="1"/>
          </p:cNvSpPr>
          <p:nvPr/>
        </p:nvSpPr>
        <p:spPr>
          <a:xfrm xmlns:a="http://schemas.openxmlformats.org/drawingml/2006/main" rot="7889788">
            <a:off x="6004583" y="4598379"/>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5" name="Diagram line">
            <a:extLst xmlns:a="http://schemas.openxmlformats.org/drawingml/2006/main">
              <a:ext uri="{FF2B5EF4-FFF2-40B4-BE49-F238E27FC236}">
                <a16:creationId xmlns:a16="http://schemas.microsoft.com/office/drawing/2014/main" id="{D7824AB2-3386-460A-92A4-172373856688}"/>
              </a:ext>
            </a:extLst>
          </p:cNvPr>
          <p:cNvSpPr>
            <a:spLocks xmlns:a="http://schemas.openxmlformats.org/drawingml/2006/main" noGrp="1"/>
          </p:cNvSpPr>
          <p:nvPr/>
        </p:nvSpPr>
        <p:spPr>
          <a:xfrm xmlns:a="http://schemas.openxmlformats.org/drawingml/2006/main" flipH="0" flipV="1">
            <a:off x="6096000" y="3019835"/>
            <a:ext cx="1882676" cy="1665444"/>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6" name="Diagram arrowhead">
            <a:extLst xmlns:a="http://schemas.openxmlformats.org/drawingml/2006/main">
              <a:ext uri="{FF2B5EF4-FFF2-40B4-BE49-F238E27FC236}">
                <a16:creationId xmlns:a16="http://schemas.microsoft.com/office/drawing/2014/main" id="{95CC73FB-E8F7-4615-B76C-EB9077238654}"/>
              </a:ext>
            </a:extLst>
          </p:cNvPr>
          <p:cNvSpPr>
            <a:spLocks xmlns:a="http://schemas.openxmlformats.org/drawingml/2006/main" noGrp="1"/>
          </p:cNvSpPr>
          <p:nvPr/>
        </p:nvSpPr>
        <p:spPr>
          <a:xfrm xmlns:a="http://schemas.openxmlformats.org/drawingml/2006/main" rot="2910212">
            <a:off x="7945982" y="2950251"/>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7" name="Editable scientific diagram">
            <a:extLst xmlns:a="http://schemas.openxmlformats.org/drawingml/2006/main">
              <a:ext uri="{FF2B5EF4-FFF2-40B4-BE49-F238E27FC236}">
                <a16:creationId xmlns:a16="http://schemas.microsoft.com/office/drawing/2014/main" id="{591665FE-A094-4D99-A401-AB39B4DA6F03}"/>
              </a:ext>
            </a:extLst>
          </p:cNvPr>
          <p:cNvSpPr>
            <a:spLocks xmlns:a="http://schemas.openxmlformats.org/drawingml/2006/main" noGrp="1"/>
          </p:cNvSpPr>
          <p:nvPr/>
        </p:nvSpPr>
        <p:spPr>
          <a:xfrm xmlns:a="http://schemas.openxmlformats.org/drawingml/2006/main">
            <a:off x="4751954" y="4722614"/>
            <a:ext cx="2762760" cy="186673"/>
          </a:xfrm>
          <a:prstGeom xmlns:a="http://schemas.openxmlformats.org/drawingml/2006/main" prst="rect">
            <a:avLst/>
          </a:prstGeom>
          <a:solidFill xmlns:a="http://schemas.openxmlformats.org/drawingml/2006/main">
            <a:srgbClr val="DDEAF1"/>
          </a:solidFill>
          <a:ln xmlns:a="http://schemas.openxmlformats.org/drawingml/2006/main" w="22401">
            <a:solidFill>
              <a:srgbClr val="4E7A9B"/>
            </a:solidFill>
          </a:ln>
        </p:spPr>
      </p:sp>
      <p:sp>
        <p:nvSpPr>
          <p:cNvPr id="18" name="Diagram label: Flat mirror">
            <a:extLst xmlns:a="http://schemas.openxmlformats.org/drawingml/2006/main">
              <a:ext uri="{FF2B5EF4-FFF2-40B4-BE49-F238E27FC236}">
                <a16:creationId xmlns:a16="http://schemas.microsoft.com/office/drawing/2014/main" id="{98126861-5574-4990-8328-35AEC1DAC926}"/>
              </a:ext>
            </a:extLst>
          </p:cNvPr>
          <p:cNvSpPr>
            <a:spLocks xmlns:a="http://schemas.openxmlformats.org/drawingml/2006/main" noGrp="1"/>
          </p:cNvSpPr>
          <p:nvPr/>
        </p:nvSpPr>
        <p:spPr>
          <a:xfrm xmlns:a="http://schemas.openxmlformats.org/drawingml/2006/main">
            <a:off x="5050631" y="5095960"/>
            <a:ext cx="1941399"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Flat mirror</a:t>
            </a:r>
          </a:p>
        </p:txBody>
      </p:sp>
      <p:sp>
        <p:nvSpPr>
          <p:cNvPr id="19" name="Editable scientific diagram">
            <a:extLst xmlns:a="http://schemas.openxmlformats.org/drawingml/2006/main">
              <a:ext uri="{FF2B5EF4-FFF2-40B4-BE49-F238E27FC236}">
                <a16:creationId xmlns:a16="http://schemas.microsoft.com/office/drawing/2014/main" id="{5D775349-FC53-451D-9FDB-D249BC923F0A}"/>
              </a:ext>
            </a:extLst>
          </p:cNvPr>
          <p:cNvSpPr>
            <a:spLocks xmlns:a="http://schemas.openxmlformats.org/drawingml/2006/main" noGrp="1"/>
          </p:cNvSpPr>
          <p:nvPr/>
        </p:nvSpPr>
        <p:spPr>
          <a:xfrm xmlns:a="http://schemas.openxmlformats.org/drawingml/2006/main">
            <a:off x="8037399" y="2370534"/>
            <a:ext cx="224008" cy="1120038"/>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20" name="Diagram label: Screen&#10;receives light">
            <a:extLst xmlns:a="http://schemas.openxmlformats.org/drawingml/2006/main">
              <a:ext uri="{FF2B5EF4-FFF2-40B4-BE49-F238E27FC236}">
                <a16:creationId xmlns:a16="http://schemas.microsoft.com/office/drawing/2014/main" id="{5728A670-1605-47B3-B7E6-560AB498187B}"/>
              </a:ext>
            </a:extLst>
          </p:cNvPr>
          <p:cNvSpPr>
            <a:spLocks xmlns:a="http://schemas.openxmlformats.org/drawingml/2006/main" noGrp="1"/>
          </p:cNvSpPr>
          <p:nvPr/>
        </p:nvSpPr>
        <p:spPr>
          <a:xfrm xmlns:a="http://schemas.openxmlformats.org/drawingml/2006/main">
            <a:off x="8298741" y="2557207"/>
            <a:ext cx="1344046"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Screen</a:t>
            </a:r>
          </a:p>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receives light</a:t>
            </a:r>
          </a:p>
        </p:txBody>
      </p:sp>
      <p:sp>
        <p:nvSpPr>
          <p:cNvPr id="21" name="Diagram label: The mirror reflects light; it does not make the light.">
            <a:extLst xmlns:a="http://schemas.openxmlformats.org/drawingml/2006/main">
              <a:ext uri="{FF2B5EF4-FFF2-40B4-BE49-F238E27FC236}">
                <a16:creationId xmlns:a16="http://schemas.microsoft.com/office/drawing/2014/main" id="{8BF40152-E9E7-471B-88A4-4D89C8EB6A14}"/>
              </a:ext>
            </a:extLst>
          </p:cNvPr>
          <p:cNvSpPr>
            <a:spLocks xmlns:a="http://schemas.openxmlformats.org/drawingml/2006/main" noGrp="1"/>
          </p:cNvSpPr>
          <p:nvPr/>
        </p:nvSpPr>
        <p:spPr>
          <a:xfrm xmlns:a="http://schemas.openxmlformats.org/drawingml/2006/main">
            <a:off x="2735886" y="5618644"/>
            <a:ext cx="6720228"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The mirror reflects light; it does not make the light.</a:t>
            </a:r>
          </a:p>
        </p:txBody>
      </p:sp>
      <p:sp>
        <p:nvSpPr>
          <p:cNvPr id="22" name="Light reaches the mirror.  Reflected light reaches the screen.  ">
            <a:extLst xmlns:a="http://schemas.openxmlformats.org/drawingml/2006/main">
              <a:ext uri="{FF2B5EF4-FFF2-40B4-BE49-F238E27FC236}">
                <a16:creationId xmlns:a16="http://schemas.microsoft.com/office/drawing/2014/main" id="{CF8C1815-C34E-4811-8D57-32C97C09BD60}"/>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Light reaches the mirror. Reflected light reaches the screen. Switching off removes this source.</a:t>
            </a:r>
          </a:p>
        </p:txBody>
      </p:sp>
    </p:spTree>
    <p:extLst>
      <p:ext uri="{BB962C8B-B14F-4D97-AF65-F5344CB8AC3E}">
        <p14:creationId xmlns:p14="http://schemas.microsoft.com/office/powerpoint/2010/main" val="809360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urface">
            <a:extLst xmlns:a="http://schemas.openxmlformats.org/drawingml/2006/main">
              <a:ext uri="{FF2B5EF4-FFF2-40B4-BE49-F238E27FC236}">
                <a16:creationId xmlns:a16="http://schemas.microsoft.com/office/drawing/2014/main" id="{C0F5BF4F-1DAA-4CB8-A2AE-C33FAF6FFD7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76BDA3F-D3EA-4F33-8375-793DDBE860B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7151E4E-D827-4CA8-8EE6-9371BCC762C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C3FA8E0-DFBB-473C-95F7-416ADE1C5AD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9062ED9C-9A9A-48FD-AEC7-41A3C0B914A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Paper reflects too">
            <a:extLst xmlns:a="http://schemas.openxmlformats.org/drawingml/2006/main">
              <a:ext uri="{FF2B5EF4-FFF2-40B4-BE49-F238E27FC236}">
                <a16:creationId xmlns:a16="http://schemas.microsoft.com/office/drawing/2014/main" id="{48E248EE-3BF0-4B24-AF9E-83C2C27B32C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Paper reflects too</a:t>
            </a:r>
          </a:p>
        </p:txBody>
      </p:sp>
      <p:sp>
        <p:nvSpPr>
          <p:cNvPr id="7" name="surface">
            <a:extLst xmlns:a="http://schemas.openxmlformats.org/drawingml/2006/main">
              <a:ext uri="{FF2B5EF4-FFF2-40B4-BE49-F238E27FC236}">
                <a16:creationId xmlns:a16="http://schemas.microsoft.com/office/drawing/2014/main" id="{F64E5756-23B5-4B10-A749-5A3C35CB1AB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Light-source detectives">
            <a:extLst xmlns:a="http://schemas.openxmlformats.org/drawingml/2006/main">
              <a:ext uri="{FF2B5EF4-FFF2-40B4-BE49-F238E27FC236}">
                <a16:creationId xmlns:a16="http://schemas.microsoft.com/office/drawing/2014/main" id="{F6865286-55D4-44F2-A849-E6374C59BFD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9" name="5 / 14">
            <a:extLst xmlns:a="http://schemas.openxmlformats.org/drawingml/2006/main">
              <a:ext uri="{FF2B5EF4-FFF2-40B4-BE49-F238E27FC236}">
                <a16:creationId xmlns:a16="http://schemas.microsoft.com/office/drawing/2014/main" id="{F73EE693-1DDD-4E38-AD82-36FBF2D9235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0" name="Editable scientific diagram">
            <a:extLst xmlns:a="http://schemas.openxmlformats.org/drawingml/2006/main">
              <a:ext uri="{FF2B5EF4-FFF2-40B4-BE49-F238E27FC236}">
                <a16:creationId xmlns:a16="http://schemas.microsoft.com/office/drawing/2014/main" id="{375B2472-26C4-416F-8B10-FD0BFF662879}"/>
              </a:ext>
            </a:extLst>
          </p:cNvPr>
          <p:cNvSpPr>
            <a:spLocks xmlns:a="http://schemas.openxmlformats.org/drawingml/2006/main" noGrp="1"/>
          </p:cNvSpPr>
          <p:nvPr/>
        </p:nvSpPr>
        <p:spPr>
          <a:xfrm xmlns:a="http://schemas.openxmlformats.org/drawingml/2006/main">
            <a:off x="2885225" y="2370534"/>
            <a:ext cx="1120038" cy="522684"/>
          </a:xfrm>
          <a:prstGeom xmlns:a="http://schemas.openxmlformats.org/drawingml/2006/main" prst="rect">
            <a:avLst/>
          </a:prstGeom>
          <a:solidFill xmlns:a="http://schemas.openxmlformats.org/drawingml/2006/main">
            <a:srgbClr val="EDF3F7"/>
          </a:solidFill>
          <a:ln xmlns:a="http://schemas.openxmlformats.org/drawingml/2006/main" w="22401">
            <a:solidFill>
              <a:srgbClr val="4E7A9B"/>
            </a:solidFill>
          </a:ln>
        </p:spPr>
      </p:sp>
      <p:sp>
        <p:nvSpPr>
          <p:cNvPr id="11" name="Diagram label: LED light">
            <a:extLst xmlns:a="http://schemas.openxmlformats.org/drawingml/2006/main">
              <a:ext uri="{FF2B5EF4-FFF2-40B4-BE49-F238E27FC236}">
                <a16:creationId xmlns:a16="http://schemas.microsoft.com/office/drawing/2014/main" id="{D48D02B0-37DC-4F14-93B9-8A2AEB0E6F9D}"/>
              </a:ext>
            </a:extLst>
          </p:cNvPr>
          <p:cNvSpPr>
            <a:spLocks xmlns:a="http://schemas.openxmlformats.org/drawingml/2006/main" noGrp="1"/>
          </p:cNvSpPr>
          <p:nvPr/>
        </p:nvSpPr>
        <p:spPr>
          <a:xfrm xmlns:a="http://schemas.openxmlformats.org/drawingml/2006/main">
            <a:off x="2735886" y="2034523"/>
            <a:ext cx="1717392"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LED light</a:t>
            </a:r>
          </a:p>
        </p:txBody>
      </p:sp>
      <p:sp>
        <p:nvSpPr>
          <p:cNvPr id="12" name="Diagram line">
            <a:extLst xmlns:a="http://schemas.openxmlformats.org/drawingml/2006/main">
              <a:ext uri="{FF2B5EF4-FFF2-40B4-BE49-F238E27FC236}">
                <a16:creationId xmlns:a16="http://schemas.microsoft.com/office/drawing/2014/main" id="{EED1E40D-A8B3-48B3-A02F-FEC4EF63B901}"/>
              </a:ext>
            </a:extLst>
          </p:cNvPr>
          <p:cNvSpPr>
            <a:spLocks xmlns:a="http://schemas.openxmlformats.org/drawingml/2006/main" noGrp="1"/>
          </p:cNvSpPr>
          <p:nvPr/>
        </p:nvSpPr>
        <p:spPr>
          <a:xfrm xmlns:a="http://schemas.openxmlformats.org/drawingml/2006/main" flipH="0" flipV="0">
            <a:off x="4005263" y="2893219"/>
            <a:ext cx="1876937" cy="1299418"/>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3" name="Diagram arrowhead">
            <a:extLst xmlns:a="http://schemas.openxmlformats.org/drawingml/2006/main">
              <a:ext uri="{FF2B5EF4-FFF2-40B4-BE49-F238E27FC236}">
                <a16:creationId xmlns:a16="http://schemas.microsoft.com/office/drawing/2014/main" id="{34F413C0-3BDA-433A-A9A0-3B48606517D5}"/>
              </a:ext>
            </a:extLst>
          </p:cNvPr>
          <p:cNvSpPr>
            <a:spLocks xmlns:a="http://schemas.openxmlformats.org/drawingml/2006/main" noGrp="1"/>
          </p:cNvSpPr>
          <p:nvPr/>
        </p:nvSpPr>
        <p:spPr>
          <a:xfrm xmlns:a="http://schemas.openxmlformats.org/drawingml/2006/main" rot="7481709">
            <a:off x="5851418" y="4155244"/>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4" name="Editable scientific diagram">
            <a:extLst xmlns:a="http://schemas.openxmlformats.org/drawingml/2006/main">
              <a:ext uri="{FF2B5EF4-FFF2-40B4-BE49-F238E27FC236}">
                <a16:creationId xmlns:a16="http://schemas.microsoft.com/office/drawing/2014/main" id="{7F22290D-BAC7-4BC7-B6E3-F9C0975693E6}"/>
              </a:ext>
            </a:extLst>
          </p:cNvPr>
          <p:cNvSpPr>
            <a:spLocks xmlns:a="http://schemas.openxmlformats.org/drawingml/2006/main" noGrp="1"/>
          </p:cNvSpPr>
          <p:nvPr/>
        </p:nvSpPr>
        <p:spPr>
          <a:xfrm xmlns:a="http://schemas.openxmlformats.org/drawingml/2006/main">
            <a:off x="4602616" y="4311933"/>
            <a:ext cx="2986768" cy="373346"/>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5" name="Diagram label: White paper">
            <a:extLst xmlns:a="http://schemas.openxmlformats.org/drawingml/2006/main">
              <a:ext uri="{FF2B5EF4-FFF2-40B4-BE49-F238E27FC236}">
                <a16:creationId xmlns:a16="http://schemas.microsoft.com/office/drawing/2014/main" id="{CEF5BC13-9328-4E9E-A43F-6358707BE7CD}"/>
              </a:ext>
            </a:extLst>
          </p:cNvPr>
          <p:cNvSpPr>
            <a:spLocks xmlns:a="http://schemas.openxmlformats.org/drawingml/2006/main" noGrp="1"/>
          </p:cNvSpPr>
          <p:nvPr/>
        </p:nvSpPr>
        <p:spPr>
          <a:xfrm xmlns:a="http://schemas.openxmlformats.org/drawingml/2006/main">
            <a:off x="4938627" y="4797283"/>
            <a:ext cx="2986768"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White paper</a:t>
            </a:r>
          </a:p>
        </p:txBody>
      </p:sp>
      <p:sp>
        <p:nvSpPr>
          <p:cNvPr id="16" name="Diagram line">
            <a:extLst xmlns:a="http://schemas.openxmlformats.org/drawingml/2006/main">
              <a:ext uri="{FF2B5EF4-FFF2-40B4-BE49-F238E27FC236}">
                <a16:creationId xmlns:a16="http://schemas.microsoft.com/office/drawing/2014/main" id="{04D50CB4-6049-4705-9D34-6C959253EBDE}"/>
              </a:ext>
            </a:extLst>
          </p:cNvPr>
          <p:cNvSpPr>
            <a:spLocks xmlns:a="http://schemas.openxmlformats.org/drawingml/2006/main" noGrp="1"/>
          </p:cNvSpPr>
          <p:nvPr/>
        </p:nvSpPr>
        <p:spPr>
          <a:xfrm xmlns:a="http://schemas.openxmlformats.org/drawingml/2006/main" flipH="1" flipV="1">
            <a:off x="4299396" y="3413631"/>
            <a:ext cx="1647266" cy="82363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7" name="Diagram arrowhead">
            <a:extLst xmlns:a="http://schemas.openxmlformats.org/drawingml/2006/main">
              <a:ext uri="{FF2B5EF4-FFF2-40B4-BE49-F238E27FC236}">
                <a16:creationId xmlns:a16="http://schemas.microsoft.com/office/drawing/2014/main" id="{9A17F855-6E11-45E4-9AD7-2487C5BD3935}"/>
              </a:ext>
            </a:extLst>
          </p:cNvPr>
          <p:cNvSpPr>
            <a:spLocks xmlns:a="http://schemas.openxmlformats.org/drawingml/2006/main" noGrp="1"/>
          </p:cNvSpPr>
          <p:nvPr/>
        </p:nvSpPr>
        <p:spPr>
          <a:xfrm xmlns:a="http://schemas.openxmlformats.org/drawingml/2006/main" rot="-3806097">
            <a:off x="4223752" y="3349675"/>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8" name="Diagram line">
            <a:extLst xmlns:a="http://schemas.openxmlformats.org/drawingml/2006/main">
              <a:ext uri="{FF2B5EF4-FFF2-40B4-BE49-F238E27FC236}">
                <a16:creationId xmlns:a16="http://schemas.microsoft.com/office/drawing/2014/main" id="{21A9A6A5-0A5D-4689-911D-BA6F3CDDAF72}"/>
              </a:ext>
            </a:extLst>
          </p:cNvPr>
          <p:cNvSpPr>
            <a:spLocks xmlns:a="http://schemas.openxmlformats.org/drawingml/2006/main" noGrp="1"/>
          </p:cNvSpPr>
          <p:nvPr/>
        </p:nvSpPr>
        <p:spPr>
          <a:xfrm xmlns:a="http://schemas.openxmlformats.org/drawingml/2006/main" flipH="0" flipV="1">
            <a:off x="6021331" y="2708957"/>
            <a:ext cx="284336" cy="1528308"/>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9" name="Diagram arrowhead">
            <a:extLst xmlns:a="http://schemas.openxmlformats.org/drawingml/2006/main">
              <a:ext uri="{FF2B5EF4-FFF2-40B4-BE49-F238E27FC236}">
                <a16:creationId xmlns:a16="http://schemas.microsoft.com/office/drawing/2014/main" id="{5888CF85-3B26-424D-ADE8-0D20549E4FB7}"/>
              </a:ext>
            </a:extLst>
          </p:cNvPr>
          <p:cNvSpPr>
            <a:spLocks xmlns:a="http://schemas.openxmlformats.org/drawingml/2006/main" noGrp="1"/>
          </p:cNvSpPr>
          <p:nvPr/>
        </p:nvSpPr>
        <p:spPr>
          <a:xfrm xmlns:a="http://schemas.openxmlformats.org/drawingml/2006/main" rot="632351">
            <a:off x="6258179" y="2630995"/>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0" name="Diagram line">
            <a:extLst xmlns:a="http://schemas.openxmlformats.org/drawingml/2006/main">
              <a:ext uri="{FF2B5EF4-FFF2-40B4-BE49-F238E27FC236}">
                <a16:creationId xmlns:a16="http://schemas.microsoft.com/office/drawing/2014/main" id="{26FF7652-8B32-44AF-A865-5DCAD6608B38}"/>
              </a:ext>
            </a:extLst>
          </p:cNvPr>
          <p:cNvSpPr>
            <a:spLocks xmlns:a="http://schemas.openxmlformats.org/drawingml/2006/main" noGrp="1"/>
          </p:cNvSpPr>
          <p:nvPr/>
        </p:nvSpPr>
        <p:spPr>
          <a:xfrm xmlns:a="http://schemas.openxmlformats.org/drawingml/2006/main" flipH="0" flipV="1">
            <a:off x="6133335" y="3153742"/>
            <a:ext cx="2058692" cy="1083522"/>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21" name="Diagram arrowhead">
            <a:extLst xmlns:a="http://schemas.openxmlformats.org/drawingml/2006/main">
              <a:ext uri="{FF2B5EF4-FFF2-40B4-BE49-F238E27FC236}">
                <a16:creationId xmlns:a16="http://schemas.microsoft.com/office/drawing/2014/main" id="{0FAA8908-DF44-4E27-B9C9-29B72CA132FE}"/>
              </a:ext>
            </a:extLst>
          </p:cNvPr>
          <p:cNvSpPr>
            <a:spLocks xmlns:a="http://schemas.openxmlformats.org/drawingml/2006/main" noGrp="1"/>
          </p:cNvSpPr>
          <p:nvPr/>
        </p:nvSpPr>
        <p:spPr>
          <a:xfrm xmlns:a="http://schemas.openxmlformats.org/drawingml/2006/main" rot="3734488">
            <a:off x="8162885" y="3089302"/>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2" name="Diagram label: Reflected light&#10;in many&#10;directions">
            <a:extLst xmlns:a="http://schemas.openxmlformats.org/drawingml/2006/main">
              <a:ext uri="{FF2B5EF4-FFF2-40B4-BE49-F238E27FC236}">
                <a16:creationId xmlns:a16="http://schemas.microsoft.com/office/drawing/2014/main" id="{6C992404-0263-43E2-95C4-45E7638869AF}"/>
              </a:ext>
            </a:extLst>
          </p:cNvPr>
          <p:cNvSpPr>
            <a:spLocks xmlns:a="http://schemas.openxmlformats.org/drawingml/2006/main" noGrp="1"/>
          </p:cNvSpPr>
          <p:nvPr/>
        </p:nvSpPr>
        <p:spPr>
          <a:xfrm xmlns:a="http://schemas.openxmlformats.org/drawingml/2006/main">
            <a:off x="7813392" y="4162595"/>
            <a:ext cx="1941399" cy="896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Reflected light</a:t>
            </a:r>
          </a:p>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in many</a:t>
            </a:r>
          </a:p>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directions</a:t>
            </a:r>
          </a:p>
        </p:txBody>
      </p:sp>
      <p:sp>
        <p:nvSpPr>
          <p:cNvPr id="23" name="Diagram label: A clear mirror image is not needed for reflection.">
            <a:extLst xmlns:a="http://schemas.openxmlformats.org/drawingml/2006/main">
              <a:ext uri="{FF2B5EF4-FFF2-40B4-BE49-F238E27FC236}">
                <a16:creationId xmlns:a16="http://schemas.microsoft.com/office/drawing/2014/main" id="{BAFCC1CF-E518-4E62-A74A-296E58E2B0C0}"/>
              </a:ext>
            </a:extLst>
          </p:cNvPr>
          <p:cNvSpPr>
            <a:spLocks xmlns:a="http://schemas.openxmlformats.org/drawingml/2006/main" noGrp="1"/>
          </p:cNvSpPr>
          <p:nvPr/>
        </p:nvSpPr>
        <p:spPr>
          <a:xfrm xmlns:a="http://schemas.openxmlformats.org/drawingml/2006/main">
            <a:off x="2735886" y="5431971"/>
            <a:ext cx="6720228"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A clear mirror image is not needed for reflection.</a:t>
            </a:r>
          </a:p>
        </p:txBody>
      </p:sp>
      <p:sp>
        <p:nvSpPr>
          <p:cNvPr id="24" name="Paper need not look shiny.  Some reflected light reaches us.">
            <a:extLst xmlns:a="http://schemas.openxmlformats.org/drawingml/2006/main">
              <a:ext uri="{FF2B5EF4-FFF2-40B4-BE49-F238E27FC236}">
                <a16:creationId xmlns:a16="http://schemas.microsoft.com/office/drawing/2014/main" id="{E4013872-C1AA-42E7-893B-4D4B2AC99BF3}"/>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Paper need not look shiny. Some reflected light reaches us.</a:t>
            </a:r>
          </a:p>
        </p:txBody>
      </p:sp>
    </p:spTree>
    <p:extLst>
      <p:ext uri="{BB962C8B-B14F-4D97-AF65-F5344CB8AC3E}">
        <p14:creationId xmlns:p14="http://schemas.microsoft.com/office/powerpoint/2010/main" val="1088980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urface">
            <a:extLst xmlns:a="http://schemas.openxmlformats.org/drawingml/2006/main">
              <a:ext uri="{FF2B5EF4-FFF2-40B4-BE49-F238E27FC236}">
                <a16:creationId xmlns:a16="http://schemas.microsoft.com/office/drawing/2014/main" id="{22FFDCA7-F4AB-4C8C-9972-B334F851053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2558A18-6D22-450D-992C-9975A68E641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AE9A781-7B37-4B5E-9225-7248F41BAB1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5662FEE-D80C-45FC-8EF5-60B04ACB641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BB2FC22A-35B5-46B9-9764-39E7BF0D71F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6D580A5B-B27D-40CD-B96F-0070405307A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Sort the evidence cards">
            <a:extLst xmlns:a="http://schemas.openxmlformats.org/drawingml/2006/main">
              <a:ext uri="{FF2B5EF4-FFF2-40B4-BE49-F238E27FC236}">
                <a16:creationId xmlns:a16="http://schemas.microsoft.com/office/drawing/2014/main" id="{9172820B-CF78-4482-9843-B1ADFE57A98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Sort the evidence cards</a:t>
            </a:r>
          </a:p>
        </p:txBody>
      </p:sp>
      <p:sp>
        <p:nvSpPr>
          <p:cNvPr id="8" name="surface">
            <a:extLst xmlns:a="http://schemas.openxmlformats.org/drawingml/2006/main">
              <a:ext uri="{FF2B5EF4-FFF2-40B4-BE49-F238E27FC236}">
                <a16:creationId xmlns:a16="http://schemas.microsoft.com/office/drawing/2014/main" id="{F2A8CBF4-9096-4867-97FE-1577EBEEF31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0BE01B44-E599-4730-AA1A-618C160E4A7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6 / 14">
            <a:extLst xmlns:a="http://schemas.openxmlformats.org/drawingml/2006/main">
              <a:ext uri="{FF2B5EF4-FFF2-40B4-BE49-F238E27FC236}">
                <a16:creationId xmlns:a16="http://schemas.microsoft.com/office/drawing/2014/main" id="{F064A55A-D246-4A0A-B439-A82F38531AC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Read A–F. Choose source or reflector. Give a clue, then swap rol">
            <a:extLst xmlns:a="http://schemas.openxmlformats.org/drawingml/2006/main">
              <a:ext uri="{FF2B5EF4-FFF2-40B4-BE49-F238E27FC236}">
                <a16:creationId xmlns:a16="http://schemas.microsoft.com/office/drawing/2014/main" id="{185CDF28-874A-444B-9399-64141D9C3572}"/>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Read A–F. Choose source or reflector. Give a clue, then swap roles.</a:t>
            </a:r>
          </a:p>
        </p:txBody>
      </p:sp>
      <p:graphicFrame>
        <p:nvGraphicFramePr>
          <p:cNvPr id="26" name=""/>
          <p:cNvGraphicFramePr/>
          <p:nvPr/>
        </p:nvGraphicFramePr>
        <p:xfrm>
          <a:off xmlns:a="http://schemas.openxmlformats.org/drawingml/2006/main" x="533400" y="2295525"/>
          <a:ext xmlns:a="http://schemas.openxmlformats.org/drawingml/2006/main" cx="11125200" cy="3230404"/>
        </p:xfrm>
        <a:graphic xmlns:a="http://schemas.openxmlformats.org/drawingml/2006/main">
          <a:graphicData uri="http://schemas.openxmlformats.org/drawingml/2006/table">
            <a:tbl>
              <a:tblPr firstRow="1" bandRow="0"/>
              <a:tblGrid>
                <a:gridCol w="3895485"/>
                <a:gridCol w="7229715"/>
              </a:tblGrid>
              <a:tr h="461486">
                <a:tc>
                  <a:txBody>
                    <a:bodyPr lIns="95250" tIns="95250" rIns="95250" bIns="95250"/>
                    <a:lstStyle/>
                    <a:p>
                      <a:pPr algn="l"/>
                      <a:r>
                        <a:rPr sz="1725" b="1">
                          <a:solidFill>
                            <a:srgbClr val="FFFFFF"/>
                          </a:solidFill>
                          <a:latin typeface="Nimbus Sans"/>
                          <a:ea typeface="Nimbus Sans"/>
                          <a:cs typeface="Nimbus Sans"/>
                        </a:rPr>
                        <a:t>Card</a:t>
                      </a:r>
                    </a:p>
                  </a:txBody>
                  <a:tcPr marL="95250" marR="95250" marT="95250" marB="95250" anchor="ctr">
                    <a:solidFill>
                      <a:srgbClr val="4D82A0"/>
                    </a:solidFill>
                  </a:tcPr>
                </a:tc>
                <a:tc>
                  <a:txBody>
                    <a:bodyPr lIns="95250" tIns="95250" rIns="95250" bIns="95250"/>
                    <a:lstStyle/>
                    <a:p>
                      <a:pPr algn="l"/>
                      <a:r>
                        <a:rPr sz="1725" b="1">
                          <a:solidFill>
                            <a:srgbClr val="FFFFFF"/>
                          </a:solidFill>
                          <a:latin typeface="Nimbus Sans"/>
                          <a:ea typeface="Nimbus Sans"/>
                          <a:cs typeface="Nimbus Sans"/>
                        </a:rPr>
                        <a:t>Stated case</a:t>
                      </a:r>
                    </a:p>
                  </a:txBody>
                  <a:tcPr marL="95250" marR="95250" marT="95250" marB="95250" anchor="ctr">
                    <a:solidFill>
                      <a:srgbClr val="4D82A0"/>
                    </a:solidFill>
                  </a:tcPr>
                </a:tc>
              </a:tr>
              <a:tr h="461486">
                <a:tc>
                  <a:txBody>
                    <a:bodyPr lIns="95250" tIns="95250" rIns="95250" bIns="95250"/>
                    <a:lstStyle/>
                    <a:p>
                      <a:pPr algn="l"/>
                      <a:r>
                        <a:rPr sz="17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1725" b="0">
                          <a:solidFill>
                            <a:srgbClr val="1F2937"/>
                          </a:solidFill>
                          <a:latin typeface="Nimbus Sans"/>
                          <a:ea typeface="Nimbus Sans"/>
                          <a:cs typeface="Nimbus Sans"/>
                        </a:rPr>
                        <a:t>Lit LED lamp; gives out light</a:t>
                      </a:r>
                    </a:p>
                  </a:txBody>
                  <a:tcPr marL="95250" marR="95250" marT="95250" marB="95250" anchor="ctr">
                    <a:solidFill>
                      <a:srgbClr val="F4F7F9"/>
                    </a:solidFill>
                  </a:tcPr>
                </a:tc>
              </a:tr>
              <a:tr h="461486">
                <a:tc>
                  <a:txBody>
                    <a:bodyPr lIns="95250" tIns="95250" rIns="95250" bIns="95250"/>
                    <a:lstStyle/>
                    <a:p>
                      <a:pPr algn="l"/>
                      <a:r>
                        <a:rPr sz="17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1725" b="0">
                          <a:solidFill>
                            <a:srgbClr val="1F2937"/>
                          </a:solidFill>
                          <a:latin typeface="Nimbus Sans"/>
                          <a:ea typeface="Nimbus Sans"/>
                          <a:cs typeface="Nimbus Sans"/>
                        </a:rPr>
                        <a:t>Moon; lit by sunlight</a:t>
                      </a:r>
                    </a:p>
                  </a:txBody>
                  <a:tcPr marL="95250" marR="95250" marT="95250" marB="95250" anchor="ctr">
                    <a:solidFill>
                      <a:srgbClr val="FFFFFF"/>
                    </a:solidFill>
                  </a:tcPr>
                </a:tc>
              </a:tr>
              <a:tr h="461486">
                <a:tc>
                  <a:txBody>
                    <a:bodyPr lIns="95250" tIns="95250" rIns="95250" bIns="95250"/>
                    <a:lstStyle/>
                    <a:p>
                      <a:pPr algn="l"/>
                      <a:r>
                        <a:rPr sz="17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1725" b="0">
                          <a:solidFill>
                            <a:srgbClr val="1F2937"/>
                          </a:solidFill>
                          <a:latin typeface="Nimbus Sans"/>
                          <a:ea typeface="Nimbus Sans"/>
                          <a:cs typeface="Nimbus Sans"/>
                        </a:rPr>
                        <a:t>Phone screen on; emits light</a:t>
                      </a:r>
                    </a:p>
                  </a:txBody>
                  <a:tcPr marL="95250" marR="95250" marT="95250" marB="95250" anchor="ctr">
                    <a:solidFill>
                      <a:srgbClr val="F4F7F9"/>
                    </a:solidFill>
                  </a:tcPr>
                </a:tc>
              </a:tr>
              <a:tr h="461486">
                <a:tc>
                  <a:txBody>
                    <a:bodyPr lIns="95250" tIns="95250" rIns="95250" bIns="95250"/>
                    <a:lstStyle/>
                    <a:p>
                      <a:pPr algn="l"/>
                      <a:r>
                        <a:rPr sz="1725" b="0">
                          <a:solidFill>
                            <a:srgbClr val="1F2937"/>
                          </a:solidFill>
                          <a:latin typeface="Nimbus Sans"/>
                          <a:ea typeface="Nimbus Sans"/>
                          <a:cs typeface="Nimbus Sans"/>
                        </a:rPr>
                        <a:t>D</a:t>
                      </a:r>
                    </a:p>
                  </a:txBody>
                  <a:tcPr marL="95250" marR="95250" marT="95250" marB="95250" anchor="ctr">
                    <a:solidFill>
                      <a:srgbClr val="FFFFFF"/>
                    </a:solidFill>
                  </a:tcPr>
                </a:tc>
                <a:tc>
                  <a:txBody>
                    <a:bodyPr lIns="95250" tIns="95250" rIns="95250" bIns="95250"/>
                    <a:lstStyle/>
                    <a:p>
                      <a:pPr algn="l"/>
                      <a:r>
                        <a:rPr sz="1725" b="0">
                          <a:solidFill>
                            <a:srgbClr val="1F2937"/>
                          </a:solidFill>
                          <a:latin typeface="Nimbus Sans"/>
                          <a:ea typeface="Nimbus Sans"/>
                          <a:cs typeface="Nimbus Sans"/>
                        </a:rPr>
                        <a:t>Mirror; returns arriving light</a:t>
                      </a:r>
                    </a:p>
                  </a:txBody>
                  <a:tcPr marL="95250" marR="95250" marT="95250" marB="95250" anchor="ctr">
                    <a:solidFill>
                      <a:srgbClr val="FFFFFF"/>
                    </a:solidFill>
                  </a:tcPr>
                </a:tc>
              </a:tr>
              <a:tr h="461486">
                <a:tc>
                  <a:txBody>
                    <a:bodyPr lIns="95250" tIns="95250" rIns="95250" bIns="95250"/>
                    <a:lstStyle/>
                    <a:p>
                      <a:pPr algn="l"/>
                      <a:r>
                        <a:rPr sz="1725" b="0">
                          <a:solidFill>
                            <a:srgbClr val="1F2937"/>
                          </a:solidFill>
                          <a:latin typeface="Nimbus Sans"/>
                          <a:ea typeface="Nimbus Sans"/>
                          <a:cs typeface="Nimbus Sans"/>
                        </a:rPr>
                        <a:t>E</a:t>
                      </a:r>
                    </a:p>
                  </a:txBody>
                  <a:tcPr marL="95250" marR="95250" marT="95250" marB="95250" anchor="ctr">
                    <a:solidFill>
                      <a:srgbClr val="F4F7F9"/>
                    </a:solidFill>
                  </a:tcPr>
                </a:tc>
                <a:tc>
                  <a:txBody>
                    <a:bodyPr lIns="95250" tIns="95250" rIns="95250" bIns="95250"/>
                    <a:lstStyle/>
                    <a:p>
                      <a:pPr algn="l"/>
                      <a:r>
                        <a:rPr sz="1725" b="0">
                          <a:solidFill>
                            <a:srgbClr val="1F2937"/>
                          </a:solidFill>
                          <a:latin typeface="Nimbus Sans"/>
                          <a:ea typeface="Nimbus Sans"/>
                          <a:cs typeface="Nimbus Sans"/>
                        </a:rPr>
                        <a:t>Firefly; produces its own light</a:t>
                      </a:r>
                    </a:p>
                  </a:txBody>
                  <a:tcPr marL="95250" marR="95250" marT="95250" marB="95250" anchor="ctr">
                    <a:solidFill>
                      <a:srgbClr val="F4F7F9"/>
                    </a:solidFill>
                  </a:tcPr>
                </a:tc>
              </a:tr>
              <a:tr h="461486">
                <a:tc>
                  <a:txBody>
                    <a:bodyPr lIns="95250" tIns="95250" rIns="95250" bIns="95250"/>
                    <a:lstStyle/>
                    <a:p>
                      <a:pPr algn="l"/>
                      <a:r>
                        <a:rPr sz="1725" b="0">
                          <a:solidFill>
                            <a:srgbClr val="1F2937"/>
                          </a:solidFill>
                          <a:latin typeface="Nimbus Sans"/>
                          <a:ea typeface="Nimbus Sans"/>
                          <a:cs typeface="Nimbus Sans"/>
                        </a:rPr>
                        <a:t>F</a:t>
                      </a:r>
                    </a:p>
                  </a:txBody>
                  <a:tcPr marL="95250" marR="95250" marT="95250" marB="95250" anchor="ctr">
                    <a:solidFill>
                      <a:srgbClr val="FFFFFF"/>
                    </a:solidFill>
                  </a:tcPr>
                </a:tc>
                <a:tc>
                  <a:txBody>
                    <a:bodyPr lIns="95250" tIns="95250" rIns="95250" bIns="95250"/>
                    <a:lstStyle/>
                    <a:p>
                      <a:pPr algn="l"/>
                      <a:r>
                        <a:rPr sz="1725" b="0">
                          <a:solidFill>
                            <a:srgbClr val="1F2937"/>
                          </a:solidFill>
                          <a:latin typeface="Nimbus Sans"/>
                          <a:ea typeface="Nimbus Sans"/>
                          <a:cs typeface="Nimbus Sans"/>
                        </a:rPr>
                        <a:t>White paper; lit by room light</a:t>
                      </a:r>
                    </a:p>
                  </a:txBody>
                  <a:tcPr marL="95250" marR="95250" marT="95250" marB="95250" anchor="ctr">
                    <a:solidFill>
                      <a:srgbClr val="FFFFFF"/>
                    </a:solidFill>
                  </a:tcPr>
                </a:tc>
              </a:tr>
            </a:tbl>
          </a:graphicData>
        </a:graphic>
      </p:graphicFrame>
      <p:sp>
        <p:nvSpPr>
          <p:cNvPr id="13" name="Constructed teaching evidence">
            <a:extLst xmlns:a="http://schemas.openxmlformats.org/drawingml/2006/main">
              <a:ext uri="{FF2B5EF4-FFF2-40B4-BE49-F238E27FC236}">
                <a16:creationId xmlns:a16="http://schemas.microsoft.com/office/drawing/2014/main" id="{12DD3476-90B8-4020-A531-4C955A2BC151}"/>
              </a:ext>
            </a:extLst>
          </p:cNvPr>
          <p:cNvSpPr>
            <a:spLocks xmlns:a="http://schemas.openxmlformats.org/drawingml/2006/main" noGrp="1"/>
          </p:cNvSpPr>
          <p:nvPr/>
        </p:nvSpPr>
        <p:spPr>
          <a:xfrm xmlns:a="http://schemas.openxmlformats.org/drawingml/2006/main">
            <a:off x="533400" y="5640229"/>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teaching evidence</a:t>
            </a:r>
          </a:p>
        </p:txBody>
      </p:sp>
      <p:sp>
        <p:nvSpPr>
          <p:cNvPr id="14" name="W1. Which three are sources?">
            <a:extLst xmlns:a="http://schemas.openxmlformats.org/drawingml/2006/main">
              <a:ext uri="{FF2B5EF4-FFF2-40B4-BE49-F238E27FC236}">
                <a16:creationId xmlns:a16="http://schemas.microsoft.com/office/drawing/2014/main" id="{71F0726F-8483-4FD9-B89B-38E6559323EB}"/>
              </a:ext>
            </a:extLst>
          </p:cNvPr>
          <p:cNvSpPr>
            <a:spLocks xmlns:a="http://schemas.openxmlformats.org/drawingml/2006/main" noGrp="1"/>
          </p:cNvSpPr>
          <p:nvPr/>
        </p:nvSpPr>
        <p:spPr>
          <a:xfrm xmlns:a="http://schemas.openxmlformats.org/drawingml/2006/main">
            <a:off x="533400" y="5992654"/>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4D82A0"/>
                </a:solidFill>
                <a:latin typeface="Nimbus Sans"/>
                <a:ea typeface="Nimbus Sans"/>
                <a:cs typeface="Nimbus Sans"/>
              </a:defRPr>
            </a:pPr>
            <a:r>
              <a:rPr sz="2025" b="1">
                <a:solidFill>
                  <a:srgbClr val="4D82A0"/>
                </a:solidFill>
                <a:latin typeface="Nimbus Sans"/>
                <a:ea typeface="Nimbus Sans"/>
                <a:cs typeface="Nimbus Sans"/>
              </a:rPr>
              <a:t>W1. Which three are sources?</a:t>
            </a:r>
          </a:p>
        </p:txBody>
      </p:sp>
    </p:spTree>
    <p:extLst>
      <p:ext uri="{BB962C8B-B14F-4D97-AF65-F5344CB8AC3E}">
        <p14:creationId xmlns:p14="http://schemas.microsoft.com/office/powerpoint/2010/main" val="15947477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7CA9C10D-FEE3-4840-A8C0-BE19626FF2A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6702863-0660-475A-806E-55F67BDDBEC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381C67D-22A2-41F1-8241-C4777B4A899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29ECA8C-98A6-4E10-B360-105060050D4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1C7EB81B-802D-4903-ACD4-A52EB874463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7B7D12E4-A07D-4CB7-84DE-CAEBBE74A93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The switch-off challenge">
            <a:extLst xmlns:a="http://schemas.openxmlformats.org/drawingml/2006/main">
              <a:ext uri="{FF2B5EF4-FFF2-40B4-BE49-F238E27FC236}">
                <a16:creationId xmlns:a16="http://schemas.microsoft.com/office/drawing/2014/main" id="{9B365DC3-113B-4A1D-ADF0-01B03E4608F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switch-off challenge</a:t>
            </a:r>
          </a:p>
        </p:txBody>
      </p:sp>
      <p:sp>
        <p:nvSpPr>
          <p:cNvPr id="8" name="surface">
            <a:extLst xmlns:a="http://schemas.openxmlformats.org/drawingml/2006/main">
              <a:ext uri="{FF2B5EF4-FFF2-40B4-BE49-F238E27FC236}">
                <a16:creationId xmlns:a16="http://schemas.microsoft.com/office/drawing/2014/main" id="{6A2DA34B-DC36-4C3D-AF96-1DA99E5AC03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B18E8147-F81B-4B2C-AAED-1E39FE71FFC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7 / 14">
            <a:extLst xmlns:a="http://schemas.openxmlformats.org/drawingml/2006/main">
              <a:ext uri="{FF2B5EF4-FFF2-40B4-BE49-F238E27FC236}">
                <a16:creationId xmlns:a16="http://schemas.microsoft.com/office/drawing/2014/main" id="{7BE1A40A-5B13-427F-B1BC-8C6157EED23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The phone screen is now off.">
            <a:extLst xmlns:a="http://schemas.openxmlformats.org/drawingml/2006/main">
              <a:ext uri="{FF2B5EF4-FFF2-40B4-BE49-F238E27FC236}">
                <a16:creationId xmlns:a16="http://schemas.microsoft.com/office/drawing/2014/main" id="{6325641B-112E-4D8B-BA2E-8C5393A46917}"/>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The phone screen is now off.</a:t>
            </a:r>
          </a:p>
        </p:txBody>
      </p:sp>
      <p:sp>
        <p:nvSpPr>
          <p:cNvPr id="12" name="Room light still reaches it.">
            <a:extLst xmlns:a="http://schemas.openxmlformats.org/drawingml/2006/main">
              <a:ext uri="{FF2B5EF4-FFF2-40B4-BE49-F238E27FC236}">
                <a16:creationId xmlns:a16="http://schemas.microsoft.com/office/drawing/2014/main" id="{6734634F-D616-4485-B1E8-1FB173DCC6D3}"/>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Room light still reaches it.</a:t>
            </a:r>
          </a:p>
        </p:txBody>
      </p:sp>
      <p:sp>
        <p:nvSpPr>
          <p:cNvPr id="13" name="Can it be visible? Why?">
            <a:extLst xmlns:a="http://schemas.openxmlformats.org/drawingml/2006/main">
              <a:ext uri="{FF2B5EF4-FFF2-40B4-BE49-F238E27FC236}">
                <a16:creationId xmlns:a16="http://schemas.microsoft.com/office/drawing/2014/main" id="{4382341D-99B1-4646-A953-8C354B2C20F1}"/>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Can it be visible? Why?</a:t>
            </a:r>
          </a:p>
        </p:txBody>
      </p:sp>
      <p:sp>
        <p:nvSpPr>
          <p:cNvPr id="14" name="surface">
            <a:extLst xmlns:a="http://schemas.openxmlformats.org/drawingml/2006/main">
              <a:ext uri="{FF2B5EF4-FFF2-40B4-BE49-F238E27FC236}">
                <a16:creationId xmlns:a16="http://schemas.microsoft.com/office/drawing/2014/main" id="{94D3619A-F469-4D14-A25C-F846DB8A645D}"/>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B426C872-CF5D-457A-B506-BDAFFCBCB012}"/>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6" name="W2. How does switching off change our account?">
            <a:extLst xmlns:a="http://schemas.openxmlformats.org/drawingml/2006/main">
              <a:ext uri="{FF2B5EF4-FFF2-40B4-BE49-F238E27FC236}">
                <a16:creationId xmlns:a16="http://schemas.microsoft.com/office/drawing/2014/main" id="{7F89C008-E60E-4F60-B307-F0C1E191DD84}"/>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D82A0"/>
                </a:solidFill>
                <a:latin typeface="Nimbus Sans"/>
                <a:ea typeface="Nimbus Sans"/>
                <a:cs typeface="Nimbus Sans"/>
              </a:defRPr>
            </a:pPr>
            <a:r>
              <a:rPr sz="2175" b="1">
                <a:solidFill>
                  <a:srgbClr val="4D82A0"/>
                </a:solidFill>
                <a:latin typeface="Nimbus Sans"/>
                <a:ea typeface="Nimbus Sans"/>
                <a:cs typeface="Nimbus Sans"/>
              </a:rPr>
              <a:t>W2. How does switching off change our account?</a:t>
            </a:r>
          </a:p>
        </p:txBody>
      </p:sp>
    </p:spTree>
    <p:extLst>
      <p:ext uri="{BB962C8B-B14F-4D97-AF65-F5344CB8AC3E}">
        <p14:creationId xmlns:p14="http://schemas.microsoft.com/office/powerpoint/2010/main" val="2309865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980B111B-6965-4F55-9C86-6FB18543D76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287C15D-1DA6-4A4E-AD9A-EA045EEEBFB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ABAE541-2026-4761-9BE0-34301C97FD6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02834FC-05ED-4121-9658-BFD6A6913B3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BCD1413C-73A6-489D-B036-5A6D944607E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440BDC32-9771-4892-951A-B3BE919C9D5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statement works?">
            <a:extLst xmlns:a="http://schemas.openxmlformats.org/drawingml/2006/main">
              <a:ext uri="{FF2B5EF4-FFF2-40B4-BE49-F238E27FC236}">
                <a16:creationId xmlns:a16="http://schemas.microsoft.com/office/drawing/2014/main" id="{1C652DEB-9635-4F8E-9017-3C905876A2A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statement works?</a:t>
            </a:r>
          </a:p>
        </p:txBody>
      </p:sp>
      <p:sp>
        <p:nvSpPr>
          <p:cNvPr id="8" name="surface">
            <a:extLst xmlns:a="http://schemas.openxmlformats.org/drawingml/2006/main">
              <a:ext uri="{FF2B5EF4-FFF2-40B4-BE49-F238E27FC236}">
                <a16:creationId xmlns:a16="http://schemas.microsoft.com/office/drawing/2014/main" id="{FDE3BD7E-C992-4D8F-8AF7-F281FDF8FC2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7817D662-87F8-4174-8F1C-863DD75282D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8 / 14">
            <a:extLst xmlns:a="http://schemas.openxmlformats.org/drawingml/2006/main">
              <a:ext uri="{FF2B5EF4-FFF2-40B4-BE49-F238E27FC236}">
                <a16:creationId xmlns:a16="http://schemas.microsoft.com/office/drawing/2014/main" id="{F53D1091-FA9E-4065-B8C7-DA5307C6851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Choose one and give a reason.">
            <a:extLst xmlns:a="http://schemas.openxmlformats.org/drawingml/2006/main">
              <a:ext uri="{FF2B5EF4-FFF2-40B4-BE49-F238E27FC236}">
                <a16:creationId xmlns:a16="http://schemas.microsoft.com/office/drawing/2014/main" id="{6EF13CA6-6B34-48C0-B9AF-B3846B4B83BA}"/>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one and give a reason.</a:t>
            </a:r>
          </a:p>
        </p:txBody>
      </p:sp>
      <p:sp>
        <p:nvSpPr>
          <p:cNvPr id="12" name="surface">
            <a:extLst xmlns:a="http://schemas.openxmlformats.org/drawingml/2006/main">
              <a:ext uri="{FF2B5EF4-FFF2-40B4-BE49-F238E27FC236}">
                <a16:creationId xmlns:a16="http://schemas.microsoft.com/office/drawing/2014/main" id="{1A4ABA49-0DFE-4E20-9094-E88B2D9C698A}"/>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03C79FE4-B171-4C8B-BB59-BBBEA3E56101}"/>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F8F5808B-E2EC-4379-8A35-F40225F0E5D4}"/>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All shiny objects make their own light.">
            <a:extLst xmlns:a="http://schemas.openxmlformats.org/drawingml/2006/main">
              <a:ext uri="{FF2B5EF4-FFF2-40B4-BE49-F238E27FC236}">
                <a16:creationId xmlns:a16="http://schemas.microsoft.com/office/drawing/2014/main" id="{0B88E510-B356-4EE5-88E6-666B82DFE444}"/>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All shiny objects make their own light.</a:t>
            </a:r>
          </a:p>
        </p:txBody>
      </p:sp>
      <p:sp>
        <p:nvSpPr>
          <p:cNvPr id="16" name="surface">
            <a:extLst xmlns:a="http://schemas.openxmlformats.org/drawingml/2006/main">
              <a:ext uri="{FF2B5EF4-FFF2-40B4-BE49-F238E27FC236}">
                <a16:creationId xmlns:a16="http://schemas.microsoft.com/office/drawing/2014/main" id="{F79FAFF2-B74D-40D8-94B3-D450C8A4E247}"/>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BC211B68-520E-4490-ABDA-DB7CDDD9BD86}"/>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F1C9AE5B-CFAC-4D9A-98C1-2A9D6C4A6E46}"/>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Only a mirror can reflect light.">
            <a:extLst xmlns:a="http://schemas.openxmlformats.org/drawingml/2006/main">
              <a:ext uri="{FF2B5EF4-FFF2-40B4-BE49-F238E27FC236}">
                <a16:creationId xmlns:a16="http://schemas.microsoft.com/office/drawing/2014/main" id="{C0C42973-671D-45F7-ACEE-7B23A94158E0}"/>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Only a mirror can reflect light.</a:t>
            </a:r>
          </a:p>
        </p:txBody>
      </p:sp>
      <p:sp>
        <p:nvSpPr>
          <p:cNvPr id="20" name="surface">
            <a:extLst xmlns:a="http://schemas.openxmlformats.org/drawingml/2006/main">
              <a:ext uri="{FF2B5EF4-FFF2-40B4-BE49-F238E27FC236}">
                <a16:creationId xmlns:a16="http://schemas.microsoft.com/office/drawing/2014/main" id="{1EA1DD82-8334-40F9-B890-A0F0085E3D05}"/>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B298F3DE-988C-4D30-AEDC-24BA9077520A}"/>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071F80CC-74C7-4BBE-8F11-4752BD866641}"/>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We can see paper when reflected light reaches our eyes.">
            <a:extLst xmlns:a="http://schemas.openxmlformats.org/drawingml/2006/main">
              <a:ext uri="{FF2B5EF4-FFF2-40B4-BE49-F238E27FC236}">
                <a16:creationId xmlns:a16="http://schemas.microsoft.com/office/drawing/2014/main" id="{CBF75FAD-B847-4130-9B3F-CF9434280F20}"/>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We can see paper when reflected light reaches our eyes.</a:t>
            </a:r>
          </a:p>
        </p:txBody>
      </p:sp>
    </p:spTree>
    <p:extLst>
      <p:ext uri="{BB962C8B-B14F-4D97-AF65-F5344CB8AC3E}">
        <p14:creationId xmlns:p14="http://schemas.microsoft.com/office/powerpoint/2010/main" val="9748799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539271A1-54A7-4FB2-AC53-71C818CD52C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3662347-7104-4254-8DCB-13CAC8A149F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9F1872C-28FF-4605-B921-88F7FF2CF26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270C0BB-FA91-4948-8B25-DF27580B4A8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74AA0EA1-2956-41D0-923C-FFAA1A366FF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003FE229-FC52-4C75-B638-1F51C497EC8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hoose your investigation route">
            <a:extLst xmlns:a="http://schemas.openxmlformats.org/drawingml/2006/main">
              <a:ext uri="{FF2B5EF4-FFF2-40B4-BE49-F238E27FC236}">
                <a16:creationId xmlns:a16="http://schemas.microsoft.com/office/drawing/2014/main" id="{39D55A70-1B9A-4EDA-A4F0-B743785FA26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your investigation route</a:t>
            </a:r>
          </a:p>
        </p:txBody>
      </p:sp>
      <p:sp>
        <p:nvSpPr>
          <p:cNvPr id="8" name="surface">
            <a:extLst xmlns:a="http://schemas.openxmlformats.org/drawingml/2006/main">
              <a:ext uri="{FF2B5EF4-FFF2-40B4-BE49-F238E27FC236}">
                <a16:creationId xmlns:a16="http://schemas.microsoft.com/office/drawing/2014/main" id="{63A9AB71-DD4F-405F-BA00-135EDC96D2F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AD379E67-7DA2-4C1C-A8AF-298C48D305D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9 / 14">
            <a:extLst xmlns:a="http://schemas.openxmlformats.org/drawingml/2006/main">
              <a:ext uri="{FF2B5EF4-FFF2-40B4-BE49-F238E27FC236}">
                <a16:creationId xmlns:a16="http://schemas.microsoft.com/office/drawing/2014/main" id="{4C11294A-C850-43BF-8F1C-3153F0C8219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Match source or reflector.">
            <a:extLst xmlns:a="http://schemas.openxmlformats.org/drawingml/2006/main">
              <a:ext uri="{FF2B5EF4-FFF2-40B4-BE49-F238E27FC236}">
                <a16:creationId xmlns:a16="http://schemas.microsoft.com/office/drawing/2014/main" id="{91934CB8-FCC1-4C39-B11F-FE9DD89967C5}"/>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Match source or reflector.</a:t>
            </a:r>
          </a:p>
        </p:txBody>
      </p:sp>
      <p:sp>
        <p:nvSpPr>
          <p:cNvPr id="12" name="Write a display label.">
            <a:extLst xmlns:a="http://schemas.openxmlformats.org/drawingml/2006/main">
              <a:ext uri="{FF2B5EF4-FFF2-40B4-BE49-F238E27FC236}">
                <a16:creationId xmlns:a16="http://schemas.microsoft.com/office/drawing/2014/main" id="{4C18083C-577D-4ECE-AE1E-F6A7A1ABCA0E}"/>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Write a display label.</a:t>
            </a:r>
          </a:p>
        </p:txBody>
      </p:sp>
      <p:sp>
        <p:nvSpPr>
          <p:cNvPr id="13" name="Repair a sorting rule.">
            <a:extLst xmlns:a="http://schemas.openxmlformats.org/drawingml/2006/main">
              <a:ext uri="{FF2B5EF4-FFF2-40B4-BE49-F238E27FC236}">
                <a16:creationId xmlns:a16="http://schemas.microsoft.com/office/drawing/2014/main" id="{6FB1C1D6-09FF-464C-9773-A2B3E6773802}"/>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Repair a sorting rule.</a:t>
            </a:r>
          </a:p>
        </p:txBody>
      </p:sp>
    </p:spTree>
    <p:extLst>
      <p:ext uri="{BB962C8B-B14F-4D97-AF65-F5344CB8AC3E}">
        <p14:creationId xmlns:p14="http://schemas.microsoft.com/office/powerpoint/2010/main" val="13575211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6D5AE078-5F19-449F-871B-B8DCB49720D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AEF28EC-5A88-49FD-8E65-864A1D79536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6077BDB-9A41-494E-9F42-1BA91706479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63DC787-42E4-4972-A771-51A903E221D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9B88056C-19B7-4022-A66B-8526CE18A36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Use the evidence">
            <a:extLst xmlns:a="http://schemas.openxmlformats.org/drawingml/2006/main">
              <a:ext uri="{FF2B5EF4-FFF2-40B4-BE49-F238E27FC236}">
                <a16:creationId xmlns:a16="http://schemas.microsoft.com/office/drawing/2014/main" id="{7305E5A5-F892-4BC4-BC44-AE3CFDAFDED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evidence</a:t>
            </a:r>
          </a:p>
        </p:txBody>
      </p:sp>
      <p:sp>
        <p:nvSpPr>
          <p:cNvPr id="7" name="surface">
            <a:extLst xmlns:a="http://schemas.openxmlformats.org/drawingml/2006/main">
              <a:ext uri="{FF2B5EF4-FFF2-40B4-BE49-F238E27FC236}">
                <a16:creationId xmlns:a16="http://schemas.microsoft.com/office/drawing/2014/main" id="{23A6665F-7A9D-49D7-840C-E836543B77E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Light-source detectives">
            <a:extLst xmlns:a="http://schemas.openxmlformats.org/drawingml/2006/main">
              <a:ext uri="{FF2B5EF4-FFF2-40B4-BE49-F238E27FC236}">
                <a16:creationId xmlns:a16="http://schemas.microsoft.com/office/drawing/2014/main" id="{5757F4FE-05DB-478F-9B20-EF1CC508E63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9" name="10 / 14">
            <a:extLst xmlns:a="http://schemas.openxmlformats.org/drawingml/2006/main">
              <a:ext uri="{FF2B5EF4-FFF2-40B4-BE49-F238E27FC236}">
                <a16:creationId xmlns:a16="http://schemas.microsoft.com/office/drawing/2014/main" id="{06771212-1FBF-4A2B-9B98-E4E02A5ECA8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0" name="Read or point to one clue.">
            <a:extLst xmlns:a="http://schemas.openxmlformats.org/drawingml/2006/main">
              <a:ext uri="{FF2B5EF4-FFF2-40B4-BE49-F238E27FC236}">
                <a16:creationId xmlns:a16="http://schemas.microsoft.com/office/drawing/2014/main" id="{3EC6EC36-1643-4A7D-83B5-C2BF6E86D139}"/>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Read or point to one clue.</a:t>
            </a:r>
          </a:p>
        </p:txBody>
      </p:sp>
      <p:sp>
        <p:nvSpPr>
          <p:cNvPr id="11" name="Record what it supports.">
            <a:extLst xmlns:a="http://schemas.openxmlformats.org/drawingml/2006/main">
              <a:ext uri="{FF2B5EF4-FFF2-40B4-BE49-F238E27FC236}">
                <a16:creationId xmlns:a16="http://schemas.microsoft.com/office/drawing/2014/main" id="{E89B1D5C-734F-4104-8692-B0AB037E2DA3}"/>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Record what it supports.</a:t>
            </a:r>
          </a:p>
        </p:txBody>
      </p:sp>
      <p:sp>
        <p:nvSpPr>
          <p:cNvPr id="12" name="Keep your explanation short.">
            <a:extLst xmlns:a="http://schemas.openxmlformats.org/drawingml/2006/main">
              <a:ext uri="{FF2B5EF4-FFF2-40B4-BE49-F238E27FC236}">
                <a16:creationId xmlns:a16="http://schemas.microsoft.com/office/drawing/2014/main" id="{4ACED55A-5DCA-4A60-891B-7E4F9D1D4332}"/>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Keep your explanation short.</a:t>
            </a:r>
          </a:p>
        </p:txBody>
      </p:sp>
    </p:spTree>
    <p:extLst>
      <p:ext uri="{BB962C8B-B14F-4D97-AF65-F5344CB8AC3E}">
        <p14:creationId xmlns:p14="http://schemas.microsoft.com/office/powerpoint/2010/main" val="1488672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2588FCA-CF9A-4C3E-9B8E-1227141D5BA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C3AD12F-FAB0-4276-BF0B-1110B4672F9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4B5BBDF-5F56-4CCB-812F-EF0EABD4A70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FAB7FCB7-3502-4E70-954E-C906AAE0D1E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87A0EDC0-F1F5-480C-BF4D-6683B82E438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3BB5E01C-D25E-4127-B9D8-B35CD19496E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Make your own science record">
            <a:extLst xmlns:a="http://schemas.openxmlformats.org/drawingml/2006/main">
              <a:ext uri="{FF2B5EF4-FFF2-40B4-BE49-F238E27FC236}">
                <a16:creationId xmlns:a16="http://schemas.microsoft.com/office/drawing/2014/main" id="{5305756B-49E7-484D-99E6-E2726F48F7A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your own science record</a:t>
            </a:r>
          </a:p>
        </p:txBody>
      </p:sp>
      <p:sp>
        <p:nvSpPr>
          <p:cNvPr id="8" name="surface">
            <a:extLst xmlns:a="http://schemas.openxmlformats.org/drawingml/2006/main">
              <a:ext uri="{FF2B5EF4-FFF2-40B4-BE49-F238E27FC236}">
                <a16:creationId xmlns:a16="http://schemas.microsoft.com/office/drawing/2014/main" id="{CD6FD6C1-7710-4FA1-8567-08BB262B897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ABDD0DB3-9136-4FA3-A56F-451DCED6EF2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11 / 14">
            <a:extLst xmlns:a="http://schemas.openxmlformats.org/drawingml/2006/main">
              <a:ext uri="{FF2B5EF4-FFF2-40B4-BE49-F238E27FC236}">
                <a16:creationId xmlns:a16="http://schemas.microsoft.com/office/drawing/2014/main" id="{DBAABEBE-B7B9-47DF-9882-69DCAC99984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1" name="Complete your chosen route.">
            <a:extLst xmlns:a="http://schemas.openxmlformats.org/drawingml/2006/main">
              <a:ext uri="{FF2B5EF4-FFF2-40B4-BE49-F238E27FC236}">
                <a16:creationId xmlns:a16="http://schemas.microsoft.com/office/drawing/2014/main" id="{A0834EF7-935D-49FA-868B-D51D111520F5}"/>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Complete your chosen route.</a:t>
            </a:r>
          </a:p>
        </p:txBody>
      </p:sp>
      <p:sp>
        <p:nvSpPr>
          <p:cNvPr id="12" name="Use a diagram, words or speech.">
            <a:extLst xmlns:a="http://schemas.openxmlformats.org/drawingml/2006/main">
              <a:ext uri="{FF2B5EF4-FFF2-40B4-BE49-F238E27FC236}">
                <a16:creationId xmlns:a16="http://schemas.microsoft.com/office/drawing/2014/main" id="{23226EB9-27BA-4DED-B4BE-22820EE1098A}"/>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a diagram, words or speech.</a:t>
            </a:r>
          </a:p>
        </p:txBody>
      </p:sp>
      <p:sp>
        <p:nvSpPr>
          <p:cNvPr id="13" name="Check one answer with the evidence.">
            <a:extLst xmlns:a="http://schemas.openxmlformats.org/drawingml/2006/main">
              <a:ext uri="{FF2B5EF4-FFF2-40B4-BE49-F238E27FC236}">
                <a16:creationId xmlns:a16="http://schemas.microsoft.com/office/drawing/2014/main" id="{91012270-0239-4F86-9028-060C54FDC6E0}"/>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Check one answer with the evidence.</a:t>
            </a:r>
          </a:p>
        </p:txBody>
      </p:sp>
    </p:spTree>
    <p:extLst>
      <p:ext uri="{BB962C8B-B14F-4D97-AF65-F5344CB8AC3E}">
        <p14:creationId xmlns:p14="http://schemas.microsoft.com/office/powerpoint/2010/main" val="8655843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B1D8AF47-4BCD-4147-844E-E987B65ECFF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51442E3-A886-4A74-BEE8-1376EE2FF0A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F2947B2-C2DB-4595-B3FF-7C125F7A182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F3D1D4ED-3155-479E-9273-E5857E7340C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9DAAC43D-0308-4EBF-96C5-4BE48C1AD05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and improve">
            <a:extLst xmlns:a="http://schemas.openxmlformats.org/drawingml/2006/main">
              <a:ext uri="{FF2B5EF4-FFF2-40B4-BE49-F238E27FC236}">
                <a16:creationId xmlns:a16="http://schemas.microsoft.com/office/drawing/2014/main" id="{E2472DC9-8D54-46FE-A0AD-B91BA7F4214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and improve</a:t>
            </a:r>
          </a:p>
        </p:txBody>
      </p:sp>
      <p:sp>
        <p:nvSpPr>
          <p:cNvPr id="7" name="surface">
            <a:extLst xmlns:a="http://schemas.openxmlformats.org/drawingml/2006/main">
              <a:ext uri="{FF2B5EF4-FFF2-40B4-BE49-F238E27FC236}">
                <a16:creationId xmlns:a16="http://schemas.microsoft.com/office/drawing/2014/main" id="{988AC052-7BAF-4782-8352-A3C8FEAED87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Light-source detectives">
            <a:extLst xmlns:a="http://schemas.openxmlformats.org/drawingml/2006/main">
              <a:ext uri="{FF2B5EF4-FFF2-40B4-BE49-F238E27FC236}">
                <a16:creationId xmlns:a16="http://schemas.microsoft.com/office/drawing/2014/main" id="{1189DC29-7852-4326-8095-17584FAE0DC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9" name="12 / 14">
            <a:extLst xmlns:a="http://schemas.openxmlformats.org/drawingml/2006/main">
              <a:ext uri="{FF2B5EF4-FFF2-40B4-BE49-F238E27FC236}">
                <a16:creationId xmlns:a16="http://schemas.microsoft.com/office/drawing/2014/main" id="{9DA31492-6D5E-45D5-BEF2-DD372BBFE42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0" name="Does my answer match the evidence?">
            <a:extLst xmlns:a="http://schemas.openxmlformats.org/drawingml/2006/main">
              <a:ext uri="{FF2B5EF4-FFF2-40B4-BE49-F238E27FC236}">
                <a16:creationId xmlns:a16="http://schemas.microsoft.com/office/drawing/2014/main" id="{04A81B1B-5853-41BA-8924-8D839782F791}"/>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Does my answer match the evidence?</a:t>
            </a:r>
          </a:p>
        </p:txBody>
      </p:sp>
      <p:sp>
        <p:nvSpPr>
          <p:cNvPr id="11" name="Have I explained why?">
            <a:extLst xmlns:a="http://schemas.openxmlformats.org/drawingml/2006/main">
              <a:ext uri="{FF2B5EF4-FFF2-40B4-BE49-F238E27FC236}">
                <a16:creationId xmlns:a16="http://schemas.microsoft.com/office/drawing/2014/main" id="{A790B57E-2C1A-4DA2-BC60-55389B092B73}"/>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explained why?</a:t>
            </a:r>
          </a:p>
        </p:txBody>
      </p:sp>
      <p:sp>
        <p:nvSpPr>
          <p:cNvPr id="12" name="Improve one label or sentence.">
            <a:extLst xmlns:a="http://schemas.openxmlformats.org/drawingml/2006/main">
              <a:ext uri="{FF2B5EF4-FFF2-40B4-BE49-F238E27FC236}">
                <a16:creationId xmlns:a16="http://schemas.microsoft.com/office/drawing/2014/main" id="{DA086EA4-7701-41D6-BA4E-754F394AFDE6}"/>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Improve one label or sentence.</a:t>
            </a:r>
          </a:p>
        </p:txBody>
      </p:sp>
    </p:spTree>
    <p:extLst>
      <p:ext uri="{BB962C8B-B14F-4D97-AF65-F5344CB8AC3E}">
        <p14:creationId xmlns:p14="http://schemas.microsoft.com/office/powerpoint/2010/main" val="17462985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76AC6B1C-6400-4F86-85F0-6F73A29C6CC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7182070-F8AF-4CBC-9907-4D2731D7402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2638BA4-35ED-47BB-B6E7-844AB5EE6F3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55D79AA-7189-406C-9C35-35A3C12604F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8C948F74-8062-4446-8EA7-6CC14C2958B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7082A9FE-7FFB-45EA-A389-A9080F32DB0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improve our account">
            <a:extLst xmlns:a="http://schemas.openxmlformats.org/drawingml/2006/main">
              <a:ext uri="{FF2B5EF4-FFF2-40B4-BE49-F238E27FC236}">
                <a16:creationId xmlns:a16="http://schemas.microsoft.com/office/drawing/2014/main" id="{A5649A36-BB6C-45AD-BAB2-70B855384E8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improve our account</a:t>
            </a:r>
          </a:p>
        </p:txBody>
      </p:sp>
      <p:sp>
        <p:nvSpPr>
          <p:cNvPr id="8" name="surface">
            <a:extLst xmlns:a="http://schemas.openxmlformats.org/drawingml/2006/main">
              <a:ext uri="{FF2B5EF4-FFF2-40B4-BE49-F238E27FC236}">
                <a16:creationId xmlns:a16="http://schemas.microsoft.com/office/drawing/2014/main" id="{D970B77D-DF80-47FC-B5B0-79E5BDD928C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1CE32840-9E8A-4E91-B5E8-1AC40A5A204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13 / 14">
            <a:extLst xmlns:a="http://schemas.openxmlformats.org/drawingml/2006/main">
              <a:ext uri="{FF2B5EF4-FFF2-40B4-BE49-F238E27FC236}">
                <a16:creationId xmlns:a16="http://schemas.microsoft.com/office/drawing/2014/main" id="{52B5219F-E80F-4D1E-AB3D-0176036CE37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1" name="Choose how to share one idea.">
            <a:extLst xmlns:a="http://schemas.openxmlformats.org/drawingml/2006/main">
              <a:ext uri="{FF2B5EF4-FFF2-40B4-BE49-F238E27FC236}">
                <a16:creationId xmlns:a16="http://schemas.microsoft.com/office/drawing/2014/main" id="{9D111723-6466-4B6F-910D-646962B3EB9F}"/>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how to share one idea.</a:t>
            </a:r>
          </a:p>
        </p:txBody>
      </p:sp>
      <p:sp>
        <p:nvSpPr>
          <p:cNvPr id="12" name="Listen to another explanation.">
            <a:extLst xmlns:a="http://schemas.openxmlformats.org/drawingml/2006/main">
              <a:ext uri="{FF2B5EF4-FFF2-40B4-BE49-F238E27FC236}">
                <a16:creationId xmlns:a16="http://schemas.microsoft.com/office/drawing/2014/main" id="{BC3C3C14-3A34-4619-AB9E-8B7104CED49A}"/>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Listen to another explanation.</a:t>
            </a:r>
          </a:p>
        </p:txBody>
      </p:sp>
      <p:sp>
        <p:nvSpPr>
          <p:cNvPr id="13" name="Use evidence to improve our account.">
            <a:extLst xmlns:a="http://schemas.openxmlformats.org/drawingml/2006/main">
              <a:ext uri="{FF2B5EF4-FFF2-40B4-BE49-F238E27FC236}">
                <a16:creationId xmlns:a16="http://schemas.microsoft.com/office/drawing/2014/main" id="{80947410-2C49-47D0-884B-E7B49D641D03}"/>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evidence to improve our account.</a:t>
            </a:r>
          </a:p>
        </p:txBody>
      </p:sp>
      <p:sp>
        <p:nvSpPr>
          <p:cNvPr id="14" name="surface">
            <a:extLst xmlns:a="http://schemas.openxmlformats.org/drawingml/2006/main">
              <a:ext uri="{FF2B5EF4-FFF2-40B4-BE49-F238E27FC236}">
                <a16:creationId xmlns:a16="http://schemas.microsoft.com/office/drawing/2014/main" id="{EDFFE5F7-9C87-4B24-A0DA-59552F09480A}"/>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87AB3778-2FD1-4C87-BBAC-F4AEF9855103}"/>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How should we replace “bright means source”?">
            <a:extLst xmlns:a="http://schemas.openxmlformats.org/drawingml/2006/main">
              <a:ext uri="{FF2B5EF4-FFF2-40B4-BE49-F238E27FC236}">
                <a16:creationId xmlns:a16="http://schemas.microsoft.com/office/drawing/2014/main" id="{708E9150-D359-41E3-BAA6-6CBBEF9C6F8E}"/>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How should we replace “bright means source”?</a:t>
            </a:r>
          </a:p>
        </p:txBody>
      </p:sp>
    </p:spTree>
    <p:extLst>
      <p:ext uri="{BB962C8B-B14F-4D97-AF65-F5344CB8AC3E}">
        <p14:creationId xmlns:p14="http://schemas.microsoft.com/office/powerpoint/2010/main" val="18678411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19E989A6-F25E-4A53-A52A-DCAC79BCB96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1EDDB92-D75B-41D0-8C94-D3996EACE07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DB337EA-1D30-40EA-A359-BE710484E98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49C96EA6-5337-48A9-94D4-BBFD9C31A80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8B3C941D-5A9D-4326-8A68-551F3BF149D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D8C2DED6-58BF-4562-A677-A3B130797C2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hree quick checks">
            <a:extLst xmlns:a="http://schemas.openxmlformats.org/drawingml/2006/main">
              <a:ext uri="{FF2B5EF4-FFF2-40B4-BE49-F238E27FC236}">
                <a16:creationId xmlns:a16="http://schemas.microsoft.com/office/drawing/2014/main" id="{27D0BCF0-883F-4985-848F-C97FE57929F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quick checks</a:t>
            </a:r>
          </a:p>
        </p:txBody>
      </p:sp>
      <p:sp>
        <p:nvSpPr>
          <p:cNvPr id="8" name="surface">
            <a:extLst xmlns:a="http://schemas.openxmlformats.org/drawingml/2006/main">
              <a:ext uri="{FF2B5EF4-FFF2-40B4-BE49-F238E27FC236}">
                <a16:creationId xmlns:a16="http://schemas.microsoft.com/office/drawing/2014/main" id="{D633D570-F560-4109-9007-4BBD030154B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Light-source detectives">
            <a:extLst xmlns:a="http://schemas.openxmlformats.org/drawingml/2006/main">
              <a:ext uri="{FF2B5EF4-FFF2-40B4-BE49-F238E27FC236}">
                <a16:creationId xmlns:a16="http://schemas.microsoft.com/office/drawing/2014/main" id="{1118F3C3-5E14-4570-BEA4-2D15BA743E2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Light-source detectives</a:t>
            </a:r>
          </a:p>
        </p:txBody>
      </p:sp>
      <p:sp>
        <p:nvSpPr>
          <p:cNvPr id="10" name="14 / 14">
            <a:extLst xmlns:a="http://schemas.openxmlformats.org/drawingml/2006/main">
              <a:ext uri="{FF2B5EF4-FFF2-40B4-BE49-F238E27FC236}">
                <a16:creationId xmlns:a16="http://schemas.microsoft.com/office/drawing/2014/main" id="{AA721674-DF6F-4D79-B111-CC019560FDD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What is a light source?">
            <a:extLst xmlns:a="http://schemas.openxmlformats.org/drawingml/2006/main">
              <a:ext uri="{FF2B5EF4-FFF2-40B4-BE49-F238E27FC236}">
                <a16:creationId xmlns:a16="http://schemas.microsoft.com/office/drawing/2014/main" id="{41DF45E8-B855-49A1-8D1A-103AAF829F11}"/>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What is a light source?</a:t>
            </a:r>
          </a:p>
        </p:txBody>
      </p:sp>
      <p:sp>
        <p:nvSpPr>
          <p:cNvPr id="12" name="E2. Does ordinary paper reflect light?">
            <a:extLst xmlns:a="http://schemas.openxmlformats.org/drawingml/2006/main">
              <a:ext uri="{FF2B5EF4-FFF2-40B4-BE49-F238E27FC236}">
                <a16:creationId xmlns:a16="http://schemas.microsoft.com/office/drawing/2014/main" id="{E66C3D21-5223-4A0F-BFBA-0B26F93E4805}"/>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Does ordinary paper reflect light?</a:t>
            </a:r>
          </a:p>
        </p:txBody>
      </p:sp>
      <p:sp>
        <p:nvSpPr>
          <p:cNvPr id="13" name="E3. Does the Moon make the sunlight we see from it?">
            <a:extLst xmlns:a="http://schemas.openxmlformats.org/drawingml/2006/main">
              <a:ext uri="{FF2B5EF4-FFF2-40B4-BE49-F238E27FC236}">
                <a16:creationId xmlns:a16="http://schemas.microsoft.com/office/drawing/2014/main" id="{ED144468-191C-43FF-A891-F884E41833A0}"/>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Does the Moon make the sunlight we see from it?</a:t>
            </a:r>
          </a:p>
        </p:txBody>
      </p:sp>
    </p:spTree>
    <p:extLst>
      <p:ext uri="{BB962C8B-B14F-4D97-AF65-F5344CB8AC3E}">
        <p14:creationId xmlns:p14="http://schemas.microsoft.com/office/powerpoint/2010/main" val="861222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2026-09-08T23:11:37.5350000Z</dcterms:created>
  <dcterms:modified xsi:type="dcterms:W3CDTF">2026-09-08T23:11:37.5350000Z</dcterms:modified>
</coreProperties>
</file>