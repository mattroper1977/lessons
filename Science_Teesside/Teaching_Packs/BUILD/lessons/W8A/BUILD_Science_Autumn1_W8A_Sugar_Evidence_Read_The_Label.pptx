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ce77ada1d04bc4" /><Relationship Type="http://schemas.openxmlformats.org/officeDocument/2006/relationships/extended-properties" Target="/docProps/app.xml" Id="Rc0214ff9973c4d85" /><Relationship Type="http://schemas.openxmlformats.org/officeDocument/2006/relationships/officeDocument" Target="/ppt/presentation.xml" Id="R2f17609ab3d846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3ad8c19b22f4911"/>
  </p:sldMasterIdLst>
  <p:notesMasterIdLst>
    <p:notesMasterId xmlns:r="http://schemas.openxmlformats.org/officeDocument/2006/relationships" r:id="R39247e9b33db448e"/>
  </p:notesMasterIdLst>
  <p:sldIdLst>
    <p:sldId xmlns:r="http://schemas.openxmlformats.org/officeDocument/2006/relationships" id="256" r:id="R0eaca088c9fc46e2"/>
    <p:sldId xmlns:r="http://schemas.openxmlformats.org/officeDocument/2006/relationships" id="257" r:id="Rfedd64acacc84f69"/>
    <p:sldId xmlns:r="http://schemas.openxmlformats.org/officeDocument/2006/relationships" id="258" r:id="R997c9f7de8094d15"/>
    <p:sldId xmlns:r="http://schemas.openxmlformats.org/officeDocument/2006/relationships" id="259" r:id="R480f72fe6a4c456a"/>
    <p:sldId xmlns:r="http://schemas.openxmlformats.org/officeDocument/2006/relationships" id="260" r:id="R8f16d6e759534c4d"/>
    <p:sldId xmlns:r="http://schemas.openxmlformats.org/officeDocument/2006/relationships" id="261" r:id="Rd757712d0cfb4425"/>
    <p:sldId xmlns:r="http://schemas.openxmlformats.org/officeDocument/2006/relationships" id="262" r:id="Rf68bf8f7d10e43a9"/>
    <p:sldId xmlns:r="http://schemas.openxmlformats.org/officeDocument/2006/relationships" id="263" r:id="R6849911435c84129"/>
    <p:sldId xmlns:r="http://schemas.openxmlformats.org/officeDocument/2006/relationships" id="264" r:id="R8e018e00cc0e42f4"/>
    <p:sldId xmlns:r="http://schemas.openxmlformats.org/officeDocument/2006/relationships" id="265" r:id="R5edd3603f4c54033"/>
    <p:sldId xmlns:r="http://schemas.openxmlformats.org/officeDocument/2006/relationships" id="266" r:id="R65aaa5a9cad84d58"/>
    <p:sldId xmlns:r="http://schemas.openxmlformats.org/officeDocument/2006/relationships" id="267" r:id="R1952fc5c2f9e46a5"/>
    <p:sldId xmlns:r="http://schemas.openxmlformats.org/officeDocument/2006/relationships" id="268" r:id="R28e80b6372794471"/>
    <p:sldId xmlns:r="http://schemas.openxmlformats.org/officeDocument/2006/relationships" id="269" r:id="R7d8f1b9860a3487b"/>
    <p:sldId xmlns:r="http://schemas.openxmlformats.org/officeDocument/2006/relationships" id="270" r:id="R1924fbfa01374fdb"/>
    <p:sldId xmlns:r="http://schemas.openxmlformats.org/officeDocument/2006/relationships" id="271" r:id="Rb49bc36251ee4202"/>
    <p:sldId xmlns:r="http://schemas.openxmlformats.org/officeDocument/2006/relationships" id="272" r:id="R82108a8f40574883"/>
    <p:sldId xmlns:r="http://schemas.openxmlformats.org/officeDocument/2006/relationships" id="273" r:id="Rb9713d688da14a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bf1d29f8564652" /><Relationship Type="http://schemas.openxmlformats.org/officeDocument/2006/relationships/slideMaster" Target="/ppt/slideMasters/slideMaster1.xml" Id="R53ad8c19b22f4911" /><Relationship Type="http://schemas.openxmlformats.org/officeDocument/2006/relationships/notesMaster" Target="/ppt/notesMasters/notesMaster1.xml" Id="R39247e9b33db448e" /><Relationship Type="http://schemas.openxmlformats.org/officeDocument/2006/relationships/presProps" Target="/ppt/presProps.xml" Id="R6a41edf3f62f481c" /><Relationship Type="http://schemas.openxmlformats.org/officeDocument/2006/relationships/tableStyles" Target="/ppt/tableStyles.xml" Id="Rb6c4561c79fb489b" /><Relationship Type="http://schemas.openxmlformats.org/officeDocument/2006/relationships/slide" Target="/ppt/slides/slide1.xml" Id="R0eaca088c9fc46e2" /><Relationship Type="http://schemas.openxmlformats.org/officeDocument/2006/relationships/slide" Target="/ppt/slides/slide2.xml" Id="Rfedd64acacc84f69" /><Relationship Type="http://schemas.openxmlformats.org/officeDocument/2006/relationships/slide" Target="/ppt/slides/slide3.xml" Id="R997c9f7de8094d15" /><Relationship Type="http://schemas.openxmlformats.org/officeDocument/2006/relationships/slide" Target="/ppt/slides/slide4.xml" Id="R480f72fe6a4c456a" /><Relationship Type="http://schemas.openxmlformats.org/officeDocument/2006/relationships/slide" Target="/ppt/slides/slide5.xml" Id="R8f16d6e759534c4d" /><Relationship Type="http://schemas.openxmlformats.org/officeDocument/2006/relationships/slide" Target="/ppt/slides/slide6.xml" Id="Rd757712d0cfb4425" /><Relationship Type="http://schemas.openxmlformats.org/officeDocument/2006/relationships/slide" Target="/ppt/slides/slide7.xml" Id="Rf68bf8f7d10e43a9" /><Relationship Type="http://schemas.openxmlformats.org/officeDocument/2006/relationships/slide" Target="/ppt/slides/slide8.xml" Id="R6849911435c84129" /><Relationship Type="http://schemas.openxmlformats.org/officeDocument/2006/relationships/slide" Target="/ppt/slides/slide9.xml" Id="R8e018e00cc0e42f4" /><Relationship Type="http://schemas.openxmlformats.org/officeDocument/2006/relationships/slide" Target="/ppt/slides/slide10.xml" Id="R5edd3603f4c54033" /><Relationship Type="http://schemas.openxmlformats.org/officeDocument/2006/relationships/slide" Target="/ppt/slides/slide11.xml" Id="R65aaa5a9cad84d58" /><Relationship Type="http://schemas.openxmlformats.org/officeDocument/2006/relationships/slide" Target="/ppt/slides/slide12.xml" Id="R1952fc5c2f9e46a5" /><Relationship Type="http://schemas.openxmlformats.org/officeDocument/2006/relationships/slide" Target="/ppt/slides/slide13.xml" Id="R28e80b6372794471" /><Relationship Type="http://schemas.openxmlformats.org/officeDocument/2006/relationships/slide" Target="/ppt/slides/slide14.xml" Id="R7d8f1b9860a3487b" /><Relationship Type="http://schemas.openxmlformats.org/officeDocument/2006/relationships/slide" Target="/ppt/slides/slide15.xml" Id="R1924fbfa01374fdb" /><Relationship Type="http://schemas.openxmlformats.org/officeDocument/2006/relationships/slide" Target="/ppt/slides/slide16.xml" Id="Rb49bc36251ee4202" /><Relationship Type="http://schemas.openxmlformats.org/officeDocument/2006/relationships/slide" Target="/ppt/slides/slide17.xml" Id="R82108a8f40574883" /><Relationship Type="http://schemas.openxmlformats.org/officeDocument/2006/relationships/slide" Target="/ppt/slides/slide18.xml" Id="Rb9713d688da14a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6d0996711843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98f895d2c44587" /><Relationship Type="http://schemas.openxmlformats.org/officeDocument/2006/relationships/notesMaster" Target="/ppt/notesMasters/notesMaster1.xml" Id="R18bca08c09d14a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c56f13778246b9" /><Relationship Type="http://schemas.openxmlformats.org/officeDocument/2006/relationships/notesMaster" Target="/ppt/notesMasters/notesMaster1.xml" Id="R9da1b4b2e07440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243c138e5b45f0" /><Relationship Type="http://schemas.openxmlformats.org/officeDocument/2006/relationships/notesMaster" Target="/ppt/notesMasters/notesMaster1.xml" Id="R0c61cf3bc7bc4c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fb24f76aa0b4e6a" /><Relationship Type="http://schemas.openxmlformats.org/officeDocument/2006/relationships/notesMaster" Target="/ppt/notesMasters/notesMaster1.xml" Id="Rbe09a11912894a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8b66aa3b66440a" /><Relationship Type="http://schemas.openxmlformats.org/officeDocument/2006/relationships/notesMaster" Target="/ppt/notesMasters/notesMaster1.xml" Id="R3b8a3456709544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13ffbd7991401f" /><Relationship Type="http://schemas.openxmlformats.org/officeDocument/2006/relationships/notesMaster" Target="/ppt/notesMasters/notesMaster1.xml" Id="R160c933cb5404e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6517f82dcb54fb1" /><Relationship Type="http://schemas.openxmlformats.org/officeDocument/2006/relationships/notesMaster" Target="/ppt/notesMasters/notesMaster1.xml" Id="R78ef5b78925b429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1975143180c4d44" /><Relationship Type="http://schemas.openxmlformats.org/officeDocument/2006/relationships/notesMaster" Target="/ppt/notesMasters/notesMaster1.xml" Id="R8f9f81d1661044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97d628ff694fda" /><Relationship Type="http://schemas.openxmlformats.org/officeDocument/2006/relationships/notesMaster" Target="/ppt/notesMasters/notesMaster1.xml" Id="R5f76a3b500864c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7a6b7af1626490c" /><Relationship Type="http://schemas.openxmlformats.org/officeDocument/2006/relationships/notesMaster" Target="/ppt/notesMasters/notesMaster1.xml" Id="Rebfbb163d7584c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522c13a1ec471e" /><Relationship Type="http://schemas.openxmlformats.org/officeDocument/2006/relationships/notesMaster" Target="/ppt/notesMasters/notesMaster1.xml" Id="R22029221eb5746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092ff2529a42de" /><Relationship Type="http://schemas.openxmlformats.org/officeDocument/2006/relationships/notesMaster" Target="/ppt/notesMasters/notesMaster1.xml" Id="Rbfc9db6e65b24f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2e898750044fd8" /><Relationship Type="http://schemas.openxmlformats.org/officeDocument/2006/relationships/notesMaster" Target="/ppt/notesMasters/notesMaster1.xml" Id="R30b9d100364341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86706467b94118" /><Relationship Type="http://schemas.openxmlformats.org/officeDocument/2006/relationships/notesMaster" Target="/ppt/notesMasters/notesMaster1.xml" Id="Rafe9c08d319f44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9323ea85654aaf" /><Relationship Type="http://schemas.openxmlformats.org/officeDocument/2006/relationships/notesMaster" Target="/ppt/notesMasters/notesMaster1.xml" Id="Re750a002c8f842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c473b424384d5c" /><Relationship Type="http://schemas.openxmlformats.org/officeDocument/2006/relationships/notesMaster" Target="/ppt/notesMasters/notesMaster1.xml" Id="R1f71df33aaec462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0562fba74dd4b78" /><Relationship Type="http://schemas.openxmlformats.org/officeDocument/2006/relationships/notesMaster" Target="/ppt/notesMasters/notesMaster1.xml" Id="Rf324e2b8f935487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2cd0366dc6469f" /><Relationship Type="http://schemas.openxmlformats.org/officeDocument/2006/relationships/notesMaster" Target="/ppt/notesMasters/notesMaster1.xml" Id="Rc373bae4a12344c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8A · Explore</a:t>
            </a:r>
          </a:p>
          <a:p xmlns:a="http://schemas.openxmlformats.org/drawingml/2006/main">
            <a:r>
              <a:t>Learning objective: I can compare sugar values using the same label basis and order four supplied food labels from least to most sugar.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find the sugar line and read three things: the number, the unit (g) and the basis (per 100 g).</a:t>
            </a:r>
          </a:p>
          <a:p xmlns:a="http://schemas.openxmlformats.org/drawingml/2006/main">
            <a:r>
              <a:t>I can compare values only when the unit and basis match.</a:t>
            </a:r>
          </a:p>
          <a:p xmlns:a="http://schemas.openxmlformats.org/drawingml/2006/main">
            <a:r>
              <a:t>I can order four labels and explain that sugar is one part of nutrition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BUILD · Science · Week 8A · Explore</a:t>
            </a:r>
          </a:p>
          <a:p xmlns:a="http://schemas.openxmlformats.org/drawingml/2006/main">
            <a:r>
              <a:t>Learning objective: I can compare sugar values using the same label basis and order four supplied food labels from least to most sugar.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I can find the sugar line and read three things: the number, the unit (g) and the basis (per 100 g).</a:t>
            </a:r>
          </a:p>
          <a:p xmlns:a="http://schemas.openxmlformats.org/drawingml/2006/main">
            <a:r>
              <a:t>I can compare values only when the unit and basis match.</a:t>
            </a:r>
          </a:p>
          <a:p xmlns:a="http://schemas.openxmlformats.org/drawingml/2006/main">
            <a:r>
              <a:t>I can order four labels and explain that sugar is one part of nutrition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Arrival: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W7B: a food-chain arrow shows the direction of food and energy transfer.</a:t>
            </a:r>
          </a:p>
          <a:p xmlns:a="http://schemas.openxmlformats.org/drawingml/2006/main">
            <a:r>
              <a:t>W6: foods can be grouped, and balance means a varied pattern rather than one perfect food.</a:t>
            </a:r>
          </a:p>
          <a:p xmlns:a="http://schemas.openxmlformats.org/drawingml/2006/main">
            <a:r>
              <a:t>W5: food supports jobs such as energy, growth and repair.</a:t>
            </a:r>
          </a:p>
          <a:p xmlns:a="http://schemas.openxmlformats.org/drawingml/2006/main">
            <a:r>
              <a:t>Lead-in: a nutrition label gives numbers that can be compared carefully.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Explain what the arrow means in plant → caterpillar → bird.</a:t>
            </a:r>
          </a:p>
          <a:p xmlns:a="http://schemas.openxmlformats.org/drawingml/2006/main">
            <a:r>
              <a:t>Name two different jobs supported by nutrients.</a:t>
            </a:r>
          </a:p>
          <a:p xmlns:a="http://schemas.openxmlformats.org/drawingml/2006/main">
            <a:r>
              <a:t>State why a balanced pattern includes a range of food groups.</a:t>
            </a:r>
          </a:p>
          <a:p xmlns:a="http://schemas.openxmlformats.org/drawingml/2006/main">
            <a:r>
              <a:t>Lead-in: read the number, unit and basis from one supplied sugar line.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LABEL A · find the sugar line</a:t>
            </a:r>
          </a:p>
          <a:p xmlns:a="http://schemas.openxmlformats.org/drawingml/2006/main">
            <a:r>
              <a:t>Look at the yellow line. It says of which sugars 6 g . The panel says per 100 g 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LABEL B · find the sugar line</a:t>
            </a:r>
          </a:p>
          <a:p xmlns:a="http://schemas.openxmlformats.org/drawingml/2006/main">
            <a:r>
              <a:t>Same line, different food: 9 g per 100 g.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QUESTION · what can these numbers show?</a:t>
            </a:r>
          </a:p>
          <a:p xmlns:a="http://schemas.openxmlformats.org/drawingml/2006/main">
            <a:r>
              <a:t>They can show which has less sugar per 100 g . They cannot say which food is healthiest.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Label A has less sugar per 100 g than Label B.</a:t>
            </a:r>
          </a:p>
          <a:p xmlns:a="http://schemas.openxmlformats.org/drawingml/2006/main">
            <a:r>
              <a:t>Label A is the healthiest food in every way.</a:t>
            </a:r>
          </a:p>
          <a:p xmlns:a="http://schemas.openxmlformats.org/drawingml/2006/main">
            <a:r>
              <a:t>The values cannot be compared because every number on a label means something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LABEL A · find the sugar line</a:t>
            </a:r>
          </a:p>
          <a:p xmlns:a="http://schemas.openxmlformats.org/drawingml/2006/main">
            <a:r>
              <a:t>Look at the yellow line. It says of which sugars 6 g . The panel says per 100 g 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LABEL B · find the sugar line</a:t>
            </a:r>
          </a:p>
          <a:p xmlns:a="http://schemas.openxmlformats.org/drawingml/2006/main">
            <a:r>
              <a:t>Same line, different food: 9 g per 100 g.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QUESTION · what can these numbers show?</a:t>
            </a:r>
          </a:p>
          <a:p xmlns:a="http://schemas.openxmlformats.org/drawingml/2006/main">
            <a:r>
              <a:t>They can show which has less sugar per 100 g . They cannot say which food is healthiest.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Label A has less sugar per 100 g than Label B.</a:t>
            </a:r>
          </a:p>
          <a:p xmlns:a="http://schemas.openxmlformats.org/drawingml/2006/main">
            <a:r>
              <a:t>Label A is the healthiest food in every way.</a:t>
            </a:r>
          </a:p>
          <a:p xmlns:a="http://schemas.openxmlformats.org/drawingml/2006/main">
            <a:r>
              <a:t>The values cannot be compared because every number on a label means something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Starter: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LABEL A · find the sugar line</a:t>
            </a:r>
          </a:p>
          <a:p xmlns:a="http://schemas.openxmlformats.org/drawingml/2006/main">
            <a:r>
              <a:t>Look at the yellow line. It says of which sugars 6 g . The panel says per 100 g 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LABEL B · find the sugar line</a:t>
            </a:r>
          </a:p>
          <a:p xmlns:a="http://schemas.openxmlformats.org/drawingml/2006/main">
            <a:r>
              <a:t>Same line, different food: 9 g per 100 g.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QUESTION · what can these numbers show?</a:t>
            </a:r>
          </a:p>
          <a:p xmlns:a="http://schemas.openxmlformats.org/drawingml/2006/main">
            <a:r>
              <a:t>They can show which has less sugar per 100 g . They cannot say which food is healthiest.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Label A has less sugar per 100 g than Label B.</a:t>
            </a:r>
          </a:p>
          <a:p xmlns:a="http://schemas.openxmlformats.org/drawingml/2006/main">
            <a:r>
              <a:t>Label A is the healthiest food in every way.</a:t>
            </a:r>
          </a:p>
          <a:p xmlns:a="http://schemas.openxmlformats.org/drawingml/2006/main">
            <a:r>
              <a:t>The values cannot be compared because every number on a label means something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NUTRITION LABEL food information panel a standard panel giving amounts of energy and nutrients in a stated quantity of food</a:t>
            </a:r>
          </a:p>
          <a:p xmlns:a="http://schemas.openxmlformats.org/drawingml/2006/main">
            <a:r>
              <a:t>PER 100 G in the same 100 g amount a common basis that lets equal masses of foods be compared</a:t>
            </a:r>
          </a:p>
          <a:p xmlns:a="http://schemas.openxmlformats.org/drawingml/2006/main">
            <a:r>
              <a:t>EVIDENCE the number we read information used to support or challenge a claim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matched label cards remove serving-size differences so pupils can see a fair numerical comparison.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Find the nutrition panel, then find ‘Carbohydrate — of which sugars’ on the supplied simplified card.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Read all three parts aloud: the number, the unit g and the basis per 100 g.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Copy only the sugar value into the matching row of the results table; do not copy the total carbohydrate number by mistake.</a:t>
            </a:r>
          </a:p>
          <a:p xmlns:a="http://schemas.openxmlformats.org/drawingml/2006/main">
            <a:r>
              <a:t>Find the sugar line · picture first</a:t>
            </a:r>
          </a:p>
          <a:p xmlns:a="http://schemas.openxmlformats.org/drawingml/2006/main">
            <a:r>
              <a:t>Press the line that says of which sugars . Then read the three parts: the number, the unit, the basis.</a:t>
            </a:r>
          </a:p>
          <a:p xmlns:a="http://schemas.openxmlformats.org/drawingml/2006/main">
            <a:r>
              <a:t>Label 1</a:t>
            </a:r>
          </a:p>
          <a:p xmlns:a="http://schemas.openxmlformats.org/drawingml/2006/main">
            <a:r>
              <a:t>Label 2</a:t>
            </a:r>
          </a:p>
          <a:p xmlns:a="http://schemas.openxmlformats.org/drawingml/2006/main">
            <a:r>
              <a:t>Press a line on the label.</a:t>
            </a:r>
          </a:p>
          <a:p xmlns:a="http://schemas.openxmlformats.org/drawingml/2006/main">
            <a:r>
              <a:t>Watch for the trap: Carbohydrate is the big number. Of which sugars is the smaller number under it. Only the sugars line counts today.</a:t>
            </a:r>
          </a:p>
          <a:p xmlns:a="http://schemas.openxmlformats.org/drawingml/2006/main">
            <a:r>
              <a:t>Fair or not fair? · press one</a:t>
            </a:r>
          </a:p>
          <a:p xmlns:a="http://schemas.openxmlformats.org/drawingml/2006/main">
            <a:r>
              <a:t>A fair comparison needs the same basis : per 100 g with per 100 g.</a:t>
            </a:r>
          </a:p>
          <a:p xmlns:a="http://schemas.openxmlformats.org/drawingml/2006/main">
            <a:r>
              <a:t>4 g per 100 g vs 11 g per 100 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4 g per 100 g vs 3 g per serving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23 g per 100 g vs 9 g per 100 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6 g per 30 g serving vs 6 g per 100 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Not fair means the basis is different, so the numbers cannot be lined up. Convert first or leave it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NUTRITION LABEL food information panel a standard panel giving amounts of energy and nutrients in a stated quantity of food</a:t>
            </a:r>
          </a:p>
          <a:p xmlns:a="http://schemas.openxmlformats.org/drawingml/2006/main">
            <a:r>
              <a:t>PER 100 G in the same 100 g amount a common basis that lets equal masses of foods be compared</a:t>
            </a:r>
          </a:p>
          <a:p xmlns:a="http://schemas.openxmlformats.org/drawingml/2006/main">
            <a:r>
              <a:t>EVIDENCE the number we read information used to support or challenge a claim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matched label cards remove serving-size differences so pupils can see a fair numerical comparison.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Find the nutrition panel, then find ‘Carbohydrate — of which sugars’ on the supplied simplified card.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Read all three parts aloud: the number, the unit g and the basis per 100 g.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Copy only the sugar value into the matching row of the results table; do not copy the total carbohydrate number by mistake.</a:t>
            </a:r>
          </a:p>
          <a:p xmlns:a="http://schemas.openxmlformats.org/drawingml/2006/main">
            <a:r>
              <a:t>Find the sugar line · picture first</a:t>
            </a:r>
          </a:p>
          <a:p xmlns:a="http://schemas.openxmlformats.org/drawingml/2006/main">
            <a:r>
              <a:t>Press the line that says of which sugars . Then read the three parts: the number, the unit, the basis.</a:t>
            </a:r>
          </a:p>
          <a:p xmlns:a="http://schemas.openxmlformats.org/drawingml/2006/main">
            <a:r>
              <a:t>Label 1</a:t>
            </a:r>
          </a:p>
          <a:p xmlns:a="http://schemas.openxmlformats.org/drawingml/2006/main">
            <a:r>
              <a:t>Label 2</a:t>
            </a:r>
          </a:p>
          <a:p xmlns:a="http://schemas.openxmlformats.org/drawingml/2006/main">
            <a:r>
              <a:t>Press a line on the label.</a:t>
            </a:r>
          </a:p>
          <a:p xmlns:a="http://schemas.openxmlformats.org/drawingml/2006/main">
            <a:r>
              <a:t>Watch for the trap: Carbohydrate is the big number. Of which sugars is the smaller number under it. Only the sugars line counts today.</a:t>
            </a:r>
          </a:p>
          <a:p xmlns:a="http://schemas.openxmlformats.org/drawingml/2006/main">
            <a:r>
              <a:t>Fair or not fair? · press one</a:t>
            </a:r>
          </a:p>
          <a:p xmlns:a="http://schemas.openxmlformats.org/drawingml/2006/main">
            <a:r>
              <a:t>A fair comparison needs the same basis : per 100 g with per 100 g.</a:t>
            </a:r>
          </a:p>
          <a:p xmlns:a="http://schemas.openxmlformats.org/drawingml/2006/main">
            <a:r>
              <a:t>4 g per 100 g vs 11 g per 100 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4 g per 100 g vs 3 g per serving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23 g per 100 g vs 9 g per 100 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6 g per 30 g serving vs 6 g per 100 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Not fair means the basis is different, so the numbers cannot be lined up. Convert first or leave it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I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NUTRITION LABEL food information panel a standard panel giving amounts of energy and nutrients in a stated quantity of food</a:t>
            </a:r>
          </a:p>
          <a:p xmlns:a="http://schemas.openxmlformats.org/drawingml/2006/main">
            <a:r>
              <a:t>PER 100 G in the same 100 g amount a common basis that lets equal masses of foods be compared</a:t>
            </a:r>
          </a:p>
          <a:p xmlns:a="http://schemas.openxmlformats.org/drawingml/2006/main">
            <a:r>
              <a:t>EVIDENCE the number we read information used to support or challenge a claim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The matched label cards remove serving-size differences so pupils can see a fair numerical comparison.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Find the nutrition panel, then find ‘Carbohydrate — of which sugars’ on the supplied simplified card.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Read all three parts aloud: the number, the unit g and the basis per 100 g.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Copy only the sugar value into the matching row of the results table; do not copy the total carbohydrate number by mistake.</a:t>
            </a:r>
          </a:p>
          <a:p xmlns:a="http://schemas.openxmlformats.org/drawingml/2006/main">
            <a:r>
              <a:t>Find the sugar line · picture first</a:t>
            </a:r>
          </a:p>
          <a:p xmlns:a="http://schemas.openxmlformats.org/drawingml/2006/main">
            <a:r>
              <a:t>Press the line that says of which sugars . Then read the three parts: the number, the unit, the basis.</a:t>
            </a:r>
          </a:p>
          <a:p xmlns:a="http://schemas.openxmlformats.org/drawingml/2006/main">
            <a:r>
              <a:t>Label 1</a:t>
            </a:r>
          </a:p>
          <a:p xmlns:a="http://schemas.openxmlformats.org/drawingml/2006/main">
            <a:r>
              <a:t>Label 2</a:t>
            </a:r>
          </a:p>
          <a:p xmlns:a="http://schemas.openxmlformats.org/drawingml/2006/main">
            <a:r>
              <a:t>Press a line on the label.</a:t>
            </a:r>
          </a:p>
          <a:p xmlns:a="http://schemas.openxmlformats.org/drawingml/2006/main">
            <a:r>
              <a:t>Watch for the trap: Carbohydrate is the big number. Of which sugars is the smaller number under it. Only the sugars line counts today.</a:t>
            </a:r>
          </a:p>
          <a:p xmlns:a="http://schemas.openxmlformats.org/drawingml/2006/main">
            <a:r>
              <a:t>Fair or not fair? · press one</a:t>
            </a:r>
          </a:p>
          <a:p xmlns:a="http://schemas.openxmlformats.org/drawingml/2006/main">
            <a:r>
              <a:t>A fair comparison needs the same basis : per 100 g with per 100 g.</a:t>
            </a:r>
          </a:p>
          <a:p xmlns:a="http://schemas.openxmlformats.org/drawingml/2006/main">
            <a:r>
              <a:t>4 g per 100 g vs 11 g per 100 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4 g per 100 g vs 3 g per serving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23 g per 100 g vs 9 g per 100 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6 g per 30 g serving vs 6 g per 100 g</a:t>
            </a:r>
          </a:p>
          <a:p xmlns:a="http://schemas.openxmlformats.org/drawingml/2006/main">
            <a:r>
              <a:t>FAIR</a:t>
            </a:r>
          </a:p>
          <a:p xmlns:a="http://schemas.openxmlformats.org/drawingml/2006/main">
            <a:r>
              <a:t>NOT FAIR</a:t>
            </a:r>
          </a:p>
          <a:p xmlns:a="http://schemas.openxmlformats.org/drawingml/2006/main">
            <a:r>
              <a:t>Not fair means the basis is different, so the numbers cannot be lined up. Convert first or leave it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We do: 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Compare 4 g per 100 g with 11 g per 100 g.</a:t>
            </a:r>
          </a:p>
          <a:p xmlns:a="http://schemas.openxmlformats.org/drawingml/2006/main">
            <a:r>
              <a:t>Compare 4 g per 100 g with 3 g per serving without converting.</a:t>
            </a:r>
          </a:p>
          <a:p xmlns:a="http://schemas.openxmlformats.org/drawingml/2006/main">
            <a:r>
              <a:t>Choose the packet with the picture we like best.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Place the four same-basis values on a number line from the smallest number to the largest.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Say the bounded conclusion: ‘Label A has less sugar per 100 g than Label D.’ Keep ‘per 100 g’ in the sentence.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Name the limit: sugar is one part of a nutrition label. It cannot by itself prove which whole food, meal or diet is healthiest.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matched label cards remove serving-size differences so pupils can see a fair numerical comparison.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I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Place the four same-basis values on a number line from the smallest number to the largest.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Say the bounded conclusion: ‘Label A has less sugar per 100 g than Label D.’ Keep ‘per 100 g’ in the sentence.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Name the limit: sugar is one part of a nutrition label. It cannot by itself prove which whole food, meal or diet is healthiest.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The matched label cards remove serving-size differences so pupils can see a fair numerical comparison.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each supplied card, place the four values in order, then place the method and limitation cards.</a:t>
            </a:r>
          </a:p>
          <a:p xmlns:a="http://schemas.openxmlformats.org/drawingml/2006/main">
            <a:r>
              <a:t>Find the sugar line. Read number, unit and basis. Check every basis matches. Order the four values. State one supported claim and one limit.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Label A · 4 g per 100 g The supplied sugar line reads 4 g for each 100 g.</a:t>
            </a:r>
          </a:p>
          <a:p xmlns:a="http://schemas.openxmlformats.org/drawingml/2006/main">
            <a:r>
              <a:t>Label B · 9 g per 100 g The supplied sugar line reads 9 g for each 100 g.</a:t>
            </a:r>
          </a:p>
          <a:p xmlns:a="http://schemas.openxmlformats.org/drawingml/2006/main">
            <a:r>
              <a:t>Label C · 14 g per 100 g The supplied sugar line reads 14 g for each 100 g.</a:t>
            </a:r>
          </a:p>
          <a:p xmlns:a="http://schemas.openxmlformats.org/drawingml/2006/main">
            <a:r>
              <a:t>Label D · 23 g per 100 g The supplied sugar line reads 23 g for each 100 g.</a:t>
            </a:r>
          </a:p>
          <a:p xmlns:a="http://schemas.openxmlformats.org/drawingml/2006/main">
            <a:r>
              <a:t>Same nutrient, unit and basis Every value is sugar in g per 100 g.</a:t>
            </a:r>
          </a:p>
          <a:p xmlns:a="http://schemas.openxmlformats.org/drawingml/2006/main">
            <a:r>
              <a:t>Sugar is one part of nutrition The cards do not show every nutrient, portion, medical need or the whole diet.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1 · LEAST SUGAR PER 100 g</a:t>
            </a:r>
          </a:p>
          <a:p xmlns:a="http://schemas.openxmlformats.org/drawingml/2006/main">
            <a:r>
              <a:t>2 · NEXT VALUE</a:t>
            </a:r>
          </a:p>
          <a:p xmlns:a="http://schemas.openxmlformats.org/drawingml/2006/main">
            <a:r>
              <a:t>3 · NEXT VALUE</a:t>
            </a:r>
          </a:p>
          <a:p xmlns:a="http://schemas.openxmlformats.org/drawingml/2006/main">
            <a:r>
              <a:t>4 · MOST SUGAR PER 100 g</a:t>
            </a:r>
          </a:p>
          <a:p xmlns:a="http://schemas.openxmlformats.org/drawingml/2006/main">
            <a:r>
              <a:t>FAIR-COMPARISON RULE</a:t>
            </a:r>
          </a:p>
          <a:p xmlns:a="http://schemas.openxmlformats.org/drawingml/2006/main">
            <a:r>
              <a:t>LIMIT OF THE CLAIM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Label glitch: the food with the least sugar per 100 g is automatically the healthiest food for every person.</a:t>
            </a:r>
          </a:p>
          <a:p xmlns:a="http://schemas.openxmlformats.org/drawingml/2006/main">
            <a:r>
              <a:t>Keep it: one sugar number answers every health question.</a:t>
            </a:r>
          </a:p>
          <a:p xmlns:a="http://schemas.openxmlformats.org/drawingml/2006/main">
            <a:r>
              <a:t>Repair it: sugar is one measure; the label order supports only a same-basis sugar comparison.</a:t>
            </a:r>
          </a:p>
          <a:p xmlns:a="http://schemas.openxmlformats.org/drawingml/2006/main">
            <a:r>
              <a:t>Repair it: ignore the numbers and choose by packet picture.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each supplied card, place the four values in order, then place the method and limitation cards.</a:t>
            </a:r>
          </a:p>
          <a:p xmlns:a="http://schemas.openxmlformats.org/drawingml/2006/main">
            <a:r>
              <a:t>Find the sugar line. Read number, unit and basis. Check every basis matches. Order the four values. State one supported claim and one limit.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Label A · 4 g per 100 g The supplied sugar line reads 4 g for each 100 g.</a:t>
            </a:r>
          </a:p>
          <a:p xmlns:a="http://schemas.openxmlformats.org/drawingml/2006/main">
            <a:r>
              <a:t>Label B · 9 g per 100 g The supplied sugar line reads 9 g for each 100 g.</a:t>
            </a:r>
          </a:p>
          <a:p xmlns:a="http://schemas.openxmlformats.org/drawingml/2006/main">
            <a:r>
              <a:t>Label C · 14 g per 100 g The supplied sugar line reads 14 g for each 100 g.</a:t>
            </a:r>
          </a:p>
          <a:p xmlns:a="http://schemas.openxmlformats.org/drawingml/2006/main">
            <a:r>
              <a:t>Label D · 23 g per 100 g The supplied sugar line reads 23 g for each 100 g.</a:t>
            </a:r>
          </a:p>
          <a:p xmlns:a="http://schemas.openxmlformats.org/drawingml/2006/main">
            <a:r>
              <a:t>Same nutrient, unit and basis Every value is sugar in g per 100 g.</a:t>
            </a:r>
          </a:p>
          <a:p xmlns:a="http://schemas.openxmlformats.org/drawingml/2006/main">
            <a:r>
              <a:t>Sugar is one part of nutrition The cards do not show every nutrient, portion, medical need or the whole diet.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1 · LEAST SUGAR PER 100 g</a:t>
            </a:r>
          </a:p>
          <a:p xmlns:a="http://schemas.openxmlformats.org/drawingml/2006/main">
            <a:r>
              <a:t>2 · NEXT VALUE</a:t>
            </a:r>
          </a:p>
          <a:p xmlns:a="http://schemas.openxmlformats.org/drawingml/2006/main">
            <a:r>
              <a:t>3 · NEXT VALUE</a:t>
            </a:r>
          </a:p>
          <a:p xmlns:a="http://schemas.openxmlformats.org/drawingml/2006/main">
            <a:r>
              <a:t>4 · MOST SUGAR PER 100 g</a:t>
            </a:r>
          </a:p>
          <a:p xmlns:a="http://schemas.openxmlformats.org/drawingml/2006/main">
            <a:r>
              <a:t>FAIR-COMPARISON RULE</a:t>
            </a:r>
          </a:p>
          <a:p xmlns:a="http://schemas.openxmlformats.org/drawingml/2006/main">
            <a:r>
              <a:t>LIMIT OF THE CLAIM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Label glitch: the food with the least sugar per 100 g is automatically the healthiest food for every person.</a:t>
            </a:r>
          </a:p>
          <a:p xmlns:a="http://schemas.openxmlformats.org/drawingml/2006/main">
            <a:r>
              <a:t>Keep it: one sugar number answers every health question.</a:t>
            </a:r>
          </a:p>
          <a:p xmlns:a="http://schemas.openxmlformats.org/drawingml/2006/main">
            <a:r>
              <a:t>Repair it: sugar is one measure; the label order supports only a same-basis sugar comparison.</a:t>
            </a:r>
          </a:p>
          <a:p xmlns:a="http://schemas.openxmlformats.org/drawingml/2006/main">
            <a:r>
              <a:t>Repair it: ignore the numbers and choose by packet picture.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each supplied card, place the four values in order, then place the method and limitation cards.</a:t>
            </a:r>
          </a:p>
          <a:p xmlns:a="http://schemas.openxmlformats.org/drawingml/2006/main">
            <a:r>
              <a:t>Find the sugar line. Read number, unit and basis. Check every basis matches. Order the four values. State one supported claim and one limit.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Label A · 4 g per 100 g The supplied sugar line reads 4 g for each 100 g.</a:t>
            </a:r>
          </a:p>
          <a:p xmlns:a="http://schemas.openxmlformats.org/drawingml/2006/main">
            <a:r>
              <a:t>Label B · 9 g per 100 g The supplied sugar line reads 9 g for each 100 g.</a:t>
            </a:r>
          </a:p>
          <a:p xmlns:a="http://schemas.openxmlformats.org/drawingml/2006/main">
            <a:r>
              <a:t>Label C · 14 g per 100 g The supplied sugar line reads 14 g for each 100 g.</a:t>
            </a:r>
          </a:p>
          <a:p xmlns:a="http://schemas.openxmlformats.org/drawingml/2006/main">
            <a:r>
              <a:t>Label D · 23 g per 100 g The supplied sugar line reads 23 g for each 100 g.</a:t>
            </a:r>
          </a:p>
          <a:p xmlns:a="http://schemas.openxmlformats.org/drawingml/2006/main">
            <a:r>
              <a:t>Same nutrient, unit and basis Every value is sugar in g per 100 g.</a:t>
            </a:r>
          </a:p>
          <a:p xmlns:a="http://schemas.openxmlformats.org/drawingml/2006/main">
            <a:r>
              <a:t>Sugar is one part of nutrition The cards do not show every nutrient, portion, medical need or the whole diet.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1 · LEAST SUGAR PER 100 g</a:t>
            </a:r>
          </a:p>
          <a:p xmlns:a="http://schemas.openxmlformats.org/drawingml/2006/main">
            <a:r>
              <a:t>2 · NEXT VALUE</a:t>
            </a:r>
          </a:p>
          <a:p xmlns:a="http://schemas.openxmlformats.org/drawingml/2006/main">
            <a:r>
              <a:t>3 · NEXT VALUE</a:t>
            </a:r>
          </a:p>
          <a:p xmlns:a="http://schemas.openxmlformats.org/drawingml/2006/main">
            <a:r>
              <a:t>4 · MOST SUGAR PER 100 g</a:t>
            </a:r>
          </a:p>
          <a:p xmlns:a="http://schemas.openxmlformats.org/drawingml/2006/main">
            <a:r>
              <a:t>FAIR-COMPARISON RULE</a:t>
            </a:r>
          </a:p>
          <a:p xmlns:a="http://schemas.openxmlformats.org/drawingml/2006/main">
            <a:r>
              <a:t>LIMIT OF THE CLAIM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Label glitch: the food with the least sugar per 100 g is automatically the healthiest food for every person.</a:t>
            </a:r>
          </a:p>
          <a:p xmlns:a="http://schemas.openxmlformats.org/drawingml/2006/main">
            <a:r>
              <a:t>Keep it: one sugar number answers every health question.</a:t>
            </a:r>
          </a:p>
          <a:p xmlns:a="http://schemas.openxmlformats.org/drawingml/2006/main">
            <a:r>
              <a:t>Repair it: sugar is one measure; the label order supports only a same-basis sugar comparison.</a:t>
            </a:r>
          </a:p>
          <a:p xmlns:a="http://schemas.openxmlformats.org/drawingml/2006/main">
            <a:r>
              <a:t>Repair it: ignore the numbers and choose by packet picture.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Four fictional or photocopied nutrition-label cards on the same per-100 g basis; number line; results strip; pencil; optional clean empty packets as visual references.</a:t>
            </a:r>
          </a:p>
          <a:p xmlns:a="http://schemas.openxmlformats.org/drawingml/2006/main">
            <a:r>
              <a:t>Same outcome: I can compare sugar values using the same label basis and order four supplied food labels from least to most sugar.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label lab and preserve the ordered values plus the pupil's bounded conclusion on the print route.</a:t>
            </a:r>
          </a:p>
          <a:p xmlns:a="http://schemas.openxmlformats.org/drawingml/2006/main">
            <a:r>
              <a:t>Same evidence: Four sugar values in correct order with g per 100 g, one evidence sentence and one statement of what the comparison cannot show.</a:t>
            </a:r>
          </a:p>
          <a:p xmlns:a="http://schemas.openxmlformats.org/drawingml/2006/main">
            <a:r>
              <a:t>Equipment / setup Four fictional or photocopied nutrition-label cards on the same per-100 g basis; number line; results strip; pencil; optional clean empty packets as visual references.</a:t>
            </a:r>
          </a:p>
          <a:p xmlns:a="http://schemas.openxmlformats.org/drawingml/2006/main">
            <a:r>
              <a:t>Safety / sensory Nothing is eaten, opened or offered as a reward. Use clean empty packages or cards only. Check allergy and safeguarding arrangements even though there is no tasting; keep discussion about labels, not pupils' bodies or food choices.</a:t>
            </a:r>
          </a:p>
          <a:p xmlns:a="http://schemas.openxmlformats.org/drawingml/2006/main">
            <a:r>
              <a:t>Offline parity Use the in-page label lab and preserve the ordered values plus the pupil's bounded conclusion on the print route.</a:t>
            </a:r>
          </a:p>
          <a:p xmlns:a="http://schemas.openxmlformats.org/drawingml/2006/main">
            <a:r>
              <a:t>No-equipment/access route: Use large-print cards, symbols and a floor number line. A pupil may point or direct an adult to place each value; exact adult scribing is valid.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Read the four sugar lines, build the table independently and explain one comparison using less/more and per 100 g.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Label __ has __ g per 100 g. This is less/more than __ because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Independent: 10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Four fictional or photocopied nutrition-label cards on the same per-100 g basis; number line; results strip; pencil; optional clean empty packets as visual references.</a:t>
            </a:r>
          </a:p>
          <a:p xmlns:a="http://schemas.openxmlformats.org/drawingml/2006/main">
            <a:r>
              <a:t>Same outcome: I can compare sugar values using the same label basis and order four supplied food labels from least to most sugar.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Use the in-page label lab and preserve the ordered values plus the pupil's bounded conclusion on the print route.</a:t>
            </a:r>
          </a:p>
          <a:p xmlns:a="http://schemas.openxmlformats.org/drawingml/2006/main">
            <a:r>
              <a:t>Same evidence: Four sugar values in correct order with g per 100 g, one evidence sentence and one statement of what the comparison cannot show.</a:t>
            </a:r>
          </a:p>
          <a:p xmlns:a="http://schemas.openxmlformats.org/drawingml/2006/main">
            <a:r>
              <a:t>Equipment / setup Four fictional or photocopied nutrition-label cards on the same per-100 g basis; number line; results strip; pencil; optional clean empty packets as visual references.</a:t>
            </a:r>
          </a:p>
          <a:p xmlns:a="http://schemas.openxmlformats.org/drawingml/2006/main">
            <a:r>
              <a:t>Safety / sensory Nothing is eaten, opened or offered as a reward. Use clean empty packages or cards only. Check allergy and safeguarding arrangements even though there is no tasting; keep discussion about labels, not pupils' bodies or food choices.</a:t>
            </a:r>
          </a:p>
          <a:p xmlns:a="http://schemas.openxmlformats.org/drawingml/2006/main">
            <a:r>
              <a:t>Offline parity Use the in-page label lab and preserve the ordered values plus the pupil's bounded conclusion on the print route.</a:t>
            </a:r>
          </a:p>
          <a:p xmlns:a="http://schemas.openxmlformats.org/drawingml/2006/main">
            <a:r>
              <a:t>No-equipment/access route: Use large-print cards, symbols and a floor number line. A pupil may point or direct an adult to place each value; exact adult scribing is valid.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Read the four sugar lines, build the table independently and explain one comparison using less/more and per 100 g.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Use: Label __ has __ g per 100 g. This is less/more than __ because __.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SCI_B_W8A_Sugar_Labels_Explore.html.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move; written closure is optional when Voice and Audience are observable.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The simplified cards show sugar values only. They do not show portion eaten, frequency, other nutrients, allergies, medical needs or a whole dietary pattern.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Give one fair same-basis sugar comparison and state why sugar alone cannot describe the whole food.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Optional exact record of what I said or showed:</a:t>
            </a:r>
          </a:p>
          <a:p xmlns:a="http://schemas.openxmlformats.org/drawingml/2006/main">
            <a:r>
              <a:t>One next teaching move after the adult listened: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SCI_B_W8A_Sugar_Labels_Explore.html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a4fed7ac8446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b996a324c4a0e" /><Relationship Type="http://schemas.openxmlformats.org/officeDocument/2006/relationships/slideLayout" Target="/ppt/slideLayouts/slideLayout1.xml" Id="R18a86417abf64f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a86417abf64f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f80f9859c41c3" /><Relationship Type="http://schemas.openxmlformats.org/officeDocument/2006/relationships/hyperlink" Target="SCI_B_W8A_Sugar_Labels_Explore.html" TargetMode="External" Id="R9458bcf5dc5749b3" /><Relationship Type="http://schemas.openxmlformats.org/officeDocument/2006/relationships/notesSlide" Target="/ppt/notesSlides/notesSlide1.xml" Id="R19d6dedf1d5b45c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953d9cfb14931" /><Relationship Type="http://schemas.openxmlformats.org/officeDocument/2006/relationships/notesSlide" Target="/ppt/notesSlides/notesSlide2.xml" Id="R2874310d53b442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dc7b819704a14" /><Relationship Type="http://schemas.openxmlformats.org/officeDocument/2006/relationships/notesSlide" Target="/ppt/notesSlides/notesSlide3.xml" Id="R20fcdb2bb3a54e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470e413ab48c2" /><Relationship Type="http://schemas.openxmlformats.org/officeDocument/2006/relationships/notesSlide" Target="/ppt/notesSlides/notesSlide4.xml" Id="Rcb1e67d1e7ad4e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5553a5c4e4abd" /><Relationship Type="http://schemas.openxmlformats.org/officeDocument/2006/relationships/notesSlide" Target="/ppt/notesSlides/notesSlide5.xml" Id="R11b1f83dc29b47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67ac60e084656" /><Relationship Type="http://schemas.openxmlformats.org/officeDocument/2006/relationships/image" Target="/ppt/media/image.png" Id="R6ab5b9ad6d6a4cf0" /><Relationship Type="http://schemas.openxmlformats.org/officeDocument/2006/relationships/image" Target="/ppt/media/image2.png" Id="R5927bff5a1ad4e79" /><Relationship Type="http://schemas.openxmlformats.org/officeDocument/2006/relationships/image" Target="/ppt/media/image3.png" Id="Re9ed23e629924909" /><Relationship Type="http://schemas.openxmlformats.org/officeDocument/2006/relationships/notesSlide" Target="/ppt/notesSlides/notesSlide6.xml" Id="Rfa328420f5514d0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7a0431a05460a" /><Relationship Type="http://schemas.openxmlformats.org/officeDocument/2006/relationships/notesSlide" Target="/ppt/notesSlides/notesSlide7.xml" Id="Rebf32abe997843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eeed02fbb64131" /><Relationship Type="http://schemas.openxmlformats.org/officeDocument/2006/relationships/notesSlide" Target="/ppt/notesSlides/notesSlide8.xml" Id="R79d22e89d90549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9e83af8124afb" /><Relationship Type="http://schemas.openxmlformats.org/officeDocument/2006/relationships/image" Target="/ppt/media/image4.png" Id="R777cf031ff1c46a9" /><Relationship Type="http://schemas.openxmlformats.org/officeDocument/2006/relationships/notesSlide" Target="/ppt/notesSlides/notesSlide9.xml" Id="R4391040fdd1446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fd8149a494c8c" /><Relationship Type="http://schemas.openxmlformats.org/officeDocument/2006/relationships/notesSlide" Target="/ppt/notesSlides/notesSlide10.xml" Id="Rd7fff4b0acb64d0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da2e319aa426f" /><Relationship Type="http://schemas.openxmlformats.org/officeDocument/2006/relationships/notesSlide" Target="/ppt/notesSlides/notesSlide11.xml" Id="R9e360a6f0b7042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73f7565c44bdf" /><Relationship Type="http://schemas.openxmlformats.org/officeDocument/2006/relationships/notesSlide" Target="/ppt/notesSlides/notesSlide12.xml" Id="R586621e283c04ed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6b8bd24364375" /><Relationship Type="http://schemas.openxmlformats.org/officeDocument/2006/relationships/notesSlide" Target="/ppt/notesSlides/notesSlide13.xml" Id="R225893f161f04b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fd6397303b40c7" /><Relationship Type="http://schemas.openxmlformats.org/officeDocument/2006/relationships/notesSlide" Target="/ppt/notesSlides/notesSlide14.xml" Id="R6901088844c04a0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638800a804944" /><Relationship Type="http://schemas.openxmlformats.org/officeDocument/2006/relationships/notesSlide" Target="/ppt/notesSlides/notesSlide15.xml" Id="R6c747d7f17944bc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ba1104aee47ea" /><Relationship Type="http://schemas.openxmlformats.org/officeDocument/2006/relationships/notesSlide" Target="/ppt/notesSlides/notesSlide16.xml" Id="R0bfb2857c9024d1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9ff822a2c4fc4" /><Relationship Type="http://schemas.openxmlformats.org/officeDocument/2006/relationships/notesSlide" Target="/ppt/notesSlides/notesSlide17.xml" Id="R6366e943f4924d5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ed748c92954a3b" /><Relationship Type="http://schemas.openxmlformats.org/officeDocument/2006/relationships/notesSlide" Target="/ppt/notesSlides/notesSlide18.xml" Id="Ra8eb9e57b2ad42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87D37638-D407-416F-8EB6-1371A09C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CC5038C-D119-48C9-B622-51C226FE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FAD7F8A-1747-47C1-A582-822646D6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31FD17-C77B-496F-A2F7-08CD5E19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Sugar Evidence: Read the Label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A2F0F0D-7894-42BF-91AC-5441FAD9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202A23E7-05DB-43E8-ABE6-29429D97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compare sugar values using the same label basis and order four supplied food labels from least to most sugar.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DAA70989-5EA9-49E8-AFD5-D36930B4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3C1AFCD0-AA8B-48F2-BCB8-922F75D6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30E62697-7E8F-4E16-9028-7A94A166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number + unit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124896F7-BF8C-48A9-91BB-547C6ABC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91744C93-E2E7-48BB-A0FB-EFC1DF9B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6F97F090-4662-44B0-A9B2-6F916412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fair comparison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AA303E54-0CC5-464D-9F41-4874C7F1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DD3CE8CE-256C-413D-92D8-68519BC2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ORDER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A89E53F8-BE9D-4355-8467-80697DF3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DCAABC24-11E0-47BF-9EC6-C0F378C5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4E7A9B"/>
                </a:solidFill>
                <a:latin typeface="Arial"/>
                <a:ea typeface="Arial"/>
                <a:cs typeface="Arial"/>
                <a:hlinkClick xmlns:r="http://schemas.openxmlformats.org/officeDocument/2006/relationships" r:id="R9458bcf5dc5749b3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82A168C0-9C7C-4755-AEAE-EEDC33A8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B5908C9E-89A4-4725-870C-DDD00BEF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18</a:t>
            </a:r>
          </a:p>
        </p:txBody>
      </p:sp>
    </p:spTree>
    <p:extLst>
      <p:ext uri="{BB962C8B-B14F-4D97-AF65-F5344CB8AC3E}">
        <p14:creationId xmlns:p14="http://schemas.microsoft.com/office/powerpoint/2010/main" val="1749533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B2C2BBBE-1B1E-45A7-9A7B-38592F0D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7A9B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204F030-384D-4E36-95D2-9E644DE0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9F77B60-FC60-41AF-A0AD-2AA97868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7D3F2A-3579-48BE-A036-48BAD13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A8D5E08C-3C60-46C6-8798-12F98E9B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4CBFDE66-0F9A-4D90-A9FD-92DF0A6A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find the sugar number, unit and label basis.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9E6DC4E-5221-4B24-8EE0-106E486F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compare values only when the unit and basis match.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09B5E99-CCEA-4849-95B4-5620146C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I can order four labels and explain that sugar is one part of nutrition evidence.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1239DAE-EEAB-424F-9682-78189DD0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E7D12BF2-940F-4E52-9204-96075E2E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18</a:t>
            </a:r>
          </a:p>
        </p:txBody>
      </p:sp>
    </p:spTree>
    <p:extLst>
      <p:ext uri="{BB962C8B-B14F-4D97-AF65-F5344CB8AC3E}">
        <p14:creationId xmlns:p14="http://schemas.microsoft.com/office/powerpoint/2010/main" val="10642583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40C2E6F5-F2CA-4222-80F4-DF75C2073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AEBD250-1B8F-410A-B681-D6C231853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C58237F-C952-498D-9C0D-72E10951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F8EF6E7-1B5E-4A83-88F8-564EEE396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252015E-66AD-475C-A40A-41CFC462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A514641-2F92-4096-8573-187F1D37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Explain what the arrow means in plant → caterpillar → bird.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81C04C52-7128-489A-BDC5-9C939895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two different jobs supported by nutrients.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300F564-75D6-499C-AD5E-2260A374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why a balanced pattern includes a range of food groups.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58A26C1-E548-489C-B9A8-D3DCC291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read the number, unit and basis from one supplied sugar line.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E043D6F-FE8C-4897-A0DF-99EC5B4A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F7199AC9-31DB-4F9E-A461-0A72B755B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18</a:t>
            </a:r>
          </a:p>
        </p:txBody>
      </p:sp>
    </p:spTree>
    <p:extLst>
      <p:ext uri="{BB962C8B-B14F-4D97-AF65-F5344CB8AC3E}">
        <p14:creationId xmlns:p14="http://schemas.microsoft.com/office/powerpoint/2010/main" val="20701139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22F75EF5-37C5-4201-9EC1-55177D02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8818CCE-644F-4A8A-9364-1703C189F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3DE3689-2CAB-4DA2-BD0C-4F1F1311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D07379-15A1-4F3C-9D90-681415B0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Label A says 6 g sugar per 100 g. Label B says 9 g sugar per 100 g. Which first claim can the evidence support?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7F85D29-4FCF-4E44-94EA-A9DB2CD4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0A7B2520-4E59-4EDD-8EDE-AE406326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CC60354-650C-424E-BAA8-3E28E4A5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Label A has less sugar per 100 g than Label B.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2ED72F6-124C-4A59-A15E-B031BAA7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Label A is the healthiest food in every way.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058330D7-1DE1-46A2-AB0F-7B00E627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The values cannot be compared because every number on a label means something different.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941FCFDE-F32F-40B3-899A-DD5E0394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EA2C07ED-D288-4765-9701-05EEE957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18</a:t>
            </a:r>
          </a:p>
        </p:txBody>
      </p:sp>
    </p:spTree>
    <p:extLst>
      <p:ext uri="{BB962C8B-B14F-4D97-AF65-F5344CB8AC3E}">
        <p14:creationId xmlns:p14="http://schemas.microsoft.com/office/powerpoint/2010/main" val="746207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812C2B5E-3133-452C-9067-F8DC34DE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1F41DB9-225C-472F-BEB0-4F24DC81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FE453B9-3A4B-42B8-8FE1-E7E85CED8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CCA422-343F-462D-9E0F-4B62C183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0C64019-E7CA-4B32-8D35-D909851E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8512721-67BD-4CE0-959A-21B586A3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LABEL A · sugars 6 g per 100 g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71FADCA-44E3-45BE-A063-BF096DCB1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LABEL B · sugars 9 g per 100 g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72FFC770-DC51-43F0-BC72-C80B7CCA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QUESTION · what can the same-basis numbers show, and what can they not show?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B83ED675-F0CA-4D0E-86ED-125A353BB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A752339A-FE1E-4B95-8FD3-EE4B6959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18</a:t>
            </a:r>
          </a:p>
        </p:txBody>
      </p:sp>
    </p:spTree>
    <p:extLst>
      <p:ext uri="{BB962C8B-B14F-4D97-AF65-F5344CB8AC3E}">
        <p14:creationId xmlns:p14="http://schemas.microsoft.com/office/powerpoint/2010/main" val="166204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44EF8F86-D2E0-4E8B-BED6-703E9EB55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58356803-3A56-4C9C-8018-82AA32683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D2135F3-7A48-48CD-9A9F-688F0E82B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81744FF-3560-42D6-9F60-34F201D3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3D66470-23FB-4AEF-9833-6F1EE759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5b9ad6d6a4cf0"/>
          <a:stretch xmlns:a="http://schemas.openxmlformats.org/drawingml/2006/main"/>
        </p:blipFill>
        <p:spPr>
          <a:xfrm xmlns:a="http://schemas.openxmlformats.org/drawingml/2006/main">
            <a:off x="822325" y="2181225"/>
            <a:ext cx="3333750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6349124D-6837-4459-A766-EAA1B75E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Nutrition label A with the of-which-sugars line highlighted: 6 g per 100 g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7bff5a1ad4e79"/>
          <a:stretch xmlns:a="http://schemas.openxmlformats.org/drawingml/2006/main"/>
        </p:blipFill>
        <p:spPr>
          <a:xfrm xmlns:a="http://schemas.openxmlformats.org/drawingml/2006/main">
            <a:off x="4429125" y="2181225"/>
            <a:ext cx="3333750" cy="3000375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BDEE8511-611D-4CE9-AA2F-10CE1BABE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Nutrition label B with the of-which-sugars line highlighted: 9 g per 100 g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d23e629924909"/>
          <a:stretch xmlns:a="http://schemas.openxmlformats.org/drawingml/2006/main"/>
        </p:blipFill>
        <p:spPr>
          <a:xfrm xmlns:a="http://schemas.openxmlformats.org/drawingml/2006/main">
            <a:off x="8013700" y="3096724"/>
            <a:ext cx="3378200" cy="1169377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39EAD497-32BC-4A8B-9FB8-272926DFB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Six grams beside nine grams, both per 100 g, with a question mark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78F25F32-7283-4F3F-9C8E-88674DF9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2187C61B-2B84-43F8-8266-A1CFA64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18</a:t>
            </a:r>
          </a:p>
        </p:txBody>
      </p:sp>
    </p:spTree>
    <p:extLst>
      <p:ext uri="{BB962C8B-B14F-4D97-AF65-F5344CB8AC3E}">
        <p14:creationId xmlns:p14="http://schemas.microsoft.com/office/powerpoint/2010/main" val="4520802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D088488F-508E-4059-87D7-002F2696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F67615C-E501-442A-A150-7A2E1E520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DFF87C6-D63A-4B97-B45A-354D5A78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DB4E8A-EE81-4C98-9FA6-4D240A255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24733A0-25B2-4FF6-B1FE-3D6360563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2BF9E83-E123-40CD-BBB5-1A936E22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nutrition label — food information panel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B50EEF4-DCB0-4C7E-B57C-D43C8E11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per 100 g — in the same 100 g amount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55235FBA-73CC-4D45-9448-274994AD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evidence — the number we read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B3B60CC-AA84-4FA8-8461-E01DA351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1AB88F62-42B6-40A5-A57C-E422F78B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18</a:t>
            </a:r>
          </a:p>
        </p:txBody>
      </p:sp>
    </p:spTree>
    <p:extLst>
      <p:ext uri="{BB962C8B-B14F-4D97-AF65-F5344CB8AC3E}">
        <p14:creationId xmlns:p14="http://schemas.microsoft.com/office/powerpoint/2010/main" val="2403909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E27A98E-B150-4F68-8A1A-5CA051F8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B81162A-31E7-4824-9CA3-DE59F837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A2D01A0-FBE1-4951-9B2D-987D3BAB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CF50EF5-E250-46F8-8636-3ABD9EC4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D99DEA9-0259-4FE5-A0F5-D521BF67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5226096-EEDC-4F51-AC41-59A0D056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Find the nutrition panel, then find ‘Carbohydrate — of which sugars’ on the supplied simplified card.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E42E9DD7-7FC7-4AC3-87DE-E3E13946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all three parts aloud: the number, the unit g and the basis per 100 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5299EFC-3A31-4A4E-A7BE-A7467C1E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Copy only the sugar value into the matching row of the results table; do not copy the total carbohydrate number by mistake.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9702828A-78CA-4F0C-A6A3-D6488159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608B43E5-D0B6-4510-838E-1B642480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18</a:t>
            </a:r>
          </a:p>
        </p:txBody>
      </p:sp>
    </p:spTree>
    <p:extLst>
      <p:ext uri="{BB962C8B-B14F-4D97-AF65-F5344CB8AC3E}">
        <p14:creationId xmlns:p14="http://schemas.microsoft.com/office/powerpoint/2010/main" val="17903695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1F2DF14B-6A0D-482F-9353-75B2B5915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95E7341A-9366-4D01-BD14-245E445B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213A55B2-1992-4472-961E-729712FD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472108-D4C3-4F0F-B4A7-F75CCABE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90F18CCC-5197-4583-872E-E34DB6A3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cf031ff1c46a9"/>
          <a:stretch xmlns:a="http://schemas.openxmlformats.org/drawingml/2006/main"/>
        </p:blipFill>
        <p:spPr>
          <a:xfrm xmlns:a="http://schemas.openxmlformats.org/drawingml/2006/main">
            <a:off x="4429125" y="2181225"/>
            <a:ext cx="3333750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1CA1647C-FC75-48C2-AA80-A520CA79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Tappable nutrition label 1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A3EA408F-9DB4-4634-AA72-E13BF78E2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51A80C88-5B8E-4244-B86E-99CD3917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18</a:t>
            </a:r>
          </a:p>
        </p:txBody>
      </p:sp>
    </p:spTree>
    <p:extLst>
      <p:ext uri="{BB962C8B-B14F-4D97-AF65-F5344CB8AC3E}">
        <p14:creationId xmlns:p14="http://schemas.microsoft.com/office/powerpoint/2010/main" val="10252558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362E25D0-A442-4033-8382-BB8CBEEF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E77849D-684F-41A2-8902-2C398134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6081BE41-6ECE-44AD-92F6-37B177C5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675893E-709C-4E1D-ABCC-D058C2EAD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Which comparison is fair using the supplied cards?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476102A-D908-4CDB-9331-778F49ED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310DDBA-4E65-48B8-9FF5-4DD0B23D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Compare 4 g per 100 g with 11 g per 100 g.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C68D045-F0F6-4086-9FBC-CFFCFFBC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Compare 4 g per 100 g with 3 g per serving without converting.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86F2B61-ED1D-46D3-9EA6-3C00F918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Choose the packet with the picture we like best.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8C44091F-748B-4C33-B24B-E1ED7330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4CBAC9CE-D34C-49A4-9BD0-A7E4C8E7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5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CABE343-8D4D-49F9-96E1-5D1AA216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18</a:t>
            </a:r>
          </a:p>
        </p:txBody>
      </p:sp>
    </p:spTree>
    <p:extLst>
      <p:ext uri="{BB962C8B-B14F-4D97-AF65-F5344CB8AC3E}">
        <p14:creationId xmlns:p14="http://schemas.microsoft.com/office/powerpoint/2010/main" val="12570703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3627DDE-4F00-4EE3-A52F-DD574427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5F3D6E1-8BC2-4F56-B194-00694D55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A62AF472-CDA2-4D34-BDB2-8C2784A5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8E51A2-8BE7-4B36-8B32-85DFB0AF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0097AA5-D0CC-4478-ABB8-4D593716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D77B3B7-6EC5-4639-A017-EB51D6E9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the four same-basis values on a number line from the smallest number to the largest.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D598ED53-14D8-4E96-90DC-6A55E3CF1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Say the bounded conclusion: ‘Label A has less sugar per 100 g than Label D.’ Keep ‘per 100 g’ in the sentence.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2F3BC97F-F88E-4C17-9AF5-817DD461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Name the limit: sugar is one part of a nutrition label. It cannot by itself prove which whole food, meal or diet is healthiest.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CB503D4-5C1F-4F9C-BE8C-3F7913AA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7E68485-327B-4344-965C-708D8FFE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18</a:t>
            </a:r>
          </a:p>
        </p:txBody>
      </p:sp>
    </p:spTree>
    <p:extLst>
      <p:ext uri="{BB962C8B-B14F-4D97-AF65-F5344CB8AC3E}">
        <p14:creationId xmlns:p14="http://schemas.microsoft.com/office/powerpoint/2010/main" val="1660712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8918BB79-E3E3-4C47-8450-4F6BD48B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FA0FA06-B570-4483-A7BB-B0E438AAF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41D6522-8F14-4488-A8EC-E16EA4EB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FD4D9C9-18D9-4901-B9E6-07426C79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254D1F0E-1B7A-4CD6-B08C-10F0F33E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738E330-DA02-4CEE-BA4D-85302CDA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Label glitch: the food with the least sugar per 100 g is automatically the healthiest food for every person.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A104341-ED13-4648-A158-E80AC873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one sugar number answers every health question.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B6363BE-DE3B-4045-9171-DBA29DA5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sugar is one measure; the label order supports only a same-basis sugar comparison.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56A485BA-7D4A-4D81-A418-E297428D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1005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ignore the numbers and choose by packet picture.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F8BA9EFD-C076-4ADE-AC6A-2BBA8F51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1AB8F0B-303D-4352-9B61-5D8C8990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18</a:t>
            </a:r>
          </a:p>
        </p:txBody>
      </p:sp>
    </p:spTree>
    <p:extLst>
      <p:ext uri="{BB962C8B-B14F-4D97-AF65-F5344CB8AC3E}">
        <p14:creationId xmlns:p14="http://schemas.microsoft.com/office/powerpoint/2010/main" val="174798472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56A4AD15-EA5F-4052-BC60-3CA5CE73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A894382-BFC4-4814-A2C3-11E30B17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BA4142A-373B-427F-9A49-20CEEBB9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896197-51AD-4410-BC2B-D621F7B2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Same-Basis Sugar Label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5EB8182-74D1-4811-830F-E6257EB4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A920D519-D7D5-42B4-8E13-47D3E9D6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Read each supplied card, place the four values in order, then place the method and limitation cards.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1B2C3D4-9E34-4FF1-9594-0D0BBF5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Find the sugar line.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BDA5D78-BA83-4BDE-81B3-BDE22B46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Read number, unit and basis.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278E52D7-98F9-488F-8C9C-823FCA73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766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Check every basis matches.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4734F163-48DA-4076-ACF5-44E06DA4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Order the four values.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553D5E7C-CEF6-4D05-8F56-997DE2907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91075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State one supported claim and one limit.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AAD66361-85BA-4DA5-AE47-27A83148B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80227A8D-B55B-49EA-9134-CB63D1F09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18</a:t>
            </a:r>
          </a:p>
        </p:txBody>
      </p:sp>
    </p:spTree>
    <p:extLst>
      <p:ext uri="{BB962C8B-B14F-4D97-AF65-F5344CB8AC3E}">
        <p14:creationId xmlns:p14="http://schemas.microsoft.com/office/powerpoint/2010/main" val="19812255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phase edge">
            <a:extLst xmlns:a="http://schemas.openxmlformats.org/drawingml/2006/main">
              <a:ext uri="{FF2B5EF4-FFF2-40B4-BE49-F238E27FC236}">
                <a16:creationId xmlns:a16="http://schemas.microsoft.com/office/drawing/2014/main" id="{4E6EF8D5-11C3-437D-932D-A341CE39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C7589D3-C95C-482B-B2C3-C9DFC8A3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E79C072-3324-4E3A-A2D6-57A9119CE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427AF2C-C861-432B-AC2E-F404582B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Same-Basis Sugar Label Lab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6E84EC2-0931-4372-B7AD-0D7F3C56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EA15ADC-B876-4AE2-A240-414ACBA0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7" name="time">
            <a:extLst xmlns:a="http://schemas.openxmlformats.org/drawingml/2006/main">
              <a:ext uri="{FF2B5EF4-FFF2-40B4-BE49-F238E27FC236}">
                <a16:creationId xmlns:a16="http://schemas.microsoft.com/office/drawing/2014/main" id="{B537C110-C36D-4477-AF60-E8EC168A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8" name="number">
            <a:extLst xmlns:a="http://schemas.openxmlformats.org/drawingml/2006/main">
              <a:ext uri="{FF2B5EF4-FFF2-40B4-BE49-F238E27FC236}">
                <a16:creationId xmlns:a16="http://schemas.microsoft.com/office/drawing/2014/main" id="{1A9A6334-A2B3-4996-BA1A-49AE5154E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18</a:t>
            </a:r>
          </a:p>
        </p:txBody>
      </p:sp>
    </p:spTree>
    <p:extLst>
      <p:ext uri="{BB962C8B-B14F-4D97-AF65-F5344CB8AC3E}">
        <p14:creationId xmlns:p14="http://schemas.microsoft.com/office/powerpoint/2010/main" val="12692763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hase edge">
            <a:extLst xmlns:a="http://schemas.openxmlformats.org/drawingml/2006/main">
              <a:ext uri="{FF2B5EF4-FFF2-40B4-BE49-F238E27FC236}">
                <a16:creationId xmlns:a16="http://schemas.microsoft.com/office/drawing/2014/main" id="{9B356372-5099-4C2F-AF9C-4086B3CD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F8E27CB9-B535-4DAA-8A6D-423262CC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235F9D9-E6A9-4AB6-BD27-0A8DEDD96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D70273-0A03-4069-9C10-1456015E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D1CCFC36-42DD-463E-9700-98E3E1DF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DB86534-871C-4291-824B-66E74375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1 · LEAST SUGAR PER 100 g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A178E08-B6A7-4584-AA85-C6AEB3F0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2 · NEXT VALUE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B0A5241-9074-4AFE-9040-096115A0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3 · NEXT VALUE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3B561B64-A4AF-4026-ACBB-D378B7C55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4 · MOST SUGAR PER 100 g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6C4CB463-5CC9-4EED-A9E6-9849C4BB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FAIR-COMPARISON RULE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4BE4CCDC-84FE-41E6-ACA3-BA758BF5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LIMIT OF THE CLAIM</a:t>
            </a:r>
          </a:p>
        </p:txBody>
      </p:sp>
      <p:sp>
        <p:nvSpPr>
          <p:cNvPr id="12" name="content 6">
            <a:extLst xmlns:a="http://schemas.openxmlformats.org/drawingml/2006/main">
              <a:ext uri="{FF2B5EF4-FFF2-40B4-BE49-F238E27FC236}">
                <a16:creationId xmlns:a16="http://schemas.microsoft.com/office/drawing/2014/main" id="{C94E5A23-C1C5-442F-B456-49879301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14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Read the ordered values with units and basis. What claim is supported, and what broader claim is not supported?</a:t>
            </a:r>
          </a:p>
        </p:txBody>
      </p:sp>
      <p:sp>
        <p:nvSpPr>
          <p:cNvPr id="13" name="time">
            <a:extLst xmlns:a="http://schemas.openxmlformats.org/drawingml/2006/main">
              <a:ext uri="{FF2B5EF4-FFF2-40B4-BE49-F238E27FC236}">
                <a16:creationId xmlns:a16="http://schemas.microsoft.com/office/drawing/2014/main" id="{5E7BD86F-ED9E-466C-A836-0E08FEDA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4" name="number">
            <a:extLst xmlns:a="http://schemas.openxmlformats.org/drawingml/2006/main">
              <a:ext uri="{FF2B5EF4-FFF2-40B4-BE49-F238E27FC236}">
                <a16:creationId xmlns:a16="http://schemas.microsoft.com/office/drawing/2014/main" id="{1CE2AA89-AF9D-4092-829D-0FB53CEA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18</a:t>
            </a:r>
          </a:p>
        </p:txBody>
      </p:sp>
    </p:spTree>
    <p:extLst>
      <p:ext uri="{BB962C8B-B14F-4D97-AF65-F5344CB8AC3E}">
        <p14:creationId xmlns:p14="http://schemas.microsoft.com/office/powerpoint/2010/main" val="162696005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FD9E7A1-29E5-46F2-B714-CE43E6C3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9ED089A-8B82-4C18-B655-8F49962F5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FBFEED4-E3ED-46E8-965B-8D7AF58E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9D59AEB-D733-4D82-9BDA-D9F79DCB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B4DF2D7-705A-442C-BBDA-D792F519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058B66A-3D5D-4E90-932D-9F00FA86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Read and order four supplied label cards from least to most sugar per 100 g, then write or communicate one supported claim and one limitation.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9E4C8144-216F-4EB6-9F61-3DB991DE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Four sugar values in correct order with g per 100 g, one evidence sentence and one statement of what the comparison cannot show.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45E10B10-BE8F-41D0-BF84-F1057C96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85938297-40E5-40A9-A2F2-57D5C9E7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18</a:t>
            </a:r>
          </a:p>
        </p:txBody>
      </p:sp>
    </p:spTree>
    <p:extLst>
      <p:ext uri="{BB962C8B-B14F-4D97-AF65-F5344CB8AC3E}">
        <p14:creationId xmlns:p14="http://schemas.microsoft.com/office/powerpoint/2010/main" val="103295287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4EA16473-D150-4C3F-ADD8-F4EE954A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1688795-6F59-4ECC-815A-3A8639C7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0C95E535-84CB-48FA-A79E-17A4F4D8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0875F8-6E10-471A-8EA2-1425C40AB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16065200-15AB-491E-A0F7-391DB36A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D15A925-CECC-4B44-903A-3A83E433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Match four large number cards to a number line, then complete: __ g is least; __ g is most.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6A3BB08-5531-4CAB-93A4-344D199A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Read the four sugar lines, build the table independently and explain one comparison using less/more and per 100 g.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ACE1E6A-7DB5-4EAC-82C3-A668418F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Audit a mixed-basis comparison, explain why it is invalid and state what extra information would be needed before a wider nutrition claim.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02B6BED5-7749-444A-B33C-77AF3BAA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10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B9F8E64C-D7CD-44DB-849C-71D8091C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18</a:t>
            </a:r>
          </a:p>
        </p:txBody>
      </p:sp>
    </p:spTree>
    <p:extLst>
      <p:ext uri="{BB962C8B-B14F-4D97-AF65-F5344CB8AC3E}">
        <p14:creationId xmlns:p14="http://schemas.microsoft.com/office/powerpoint/2010/main" val="92731592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C8579BAD-137E-4D0E-A8C0-C9B87254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E204030-9AAB-4A5D-B3B0-B98DF5ED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BUILD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2AE696A-8638-4BAB-A490-E416D033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4E7A9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E7A9B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CECF3FF-A3D1-487D-A32C-98225FF6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A7C8503-2746-4A85-B923-F809EF781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8C0BBD9-0B7D-4C34-90A3-66918CAA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Give one fair same-basis sugar comparison and state why sugar alone cannot describe the whole food.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2EA42A5-EE1C-407D-A870-FE57F3BB5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ECB73EDE-374C-4F78-89DE-A2F88963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3D1A6E4D-80FA-4EF3-8B1C-87B8C408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18 / 18</a:t>
            </a:r>
          </a:p>
        </p:txBody>
      </p:sp>
    </p:spTree>
    <p:extLst>
      <p:ext uri="{BB962C8B-B14F-4D97-AF65-F5344CB8AC3E}">
        <p14:creationId xmlns:p14="http://schemas.microsoft.com/office/powerpoint/2010/main" val="10967402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2026-09-08T08:54:23.3270000Z</dcterms:created>
  <dcterms:modified xsi:type="dcterms:W3CDTF">2026-09-08T08:54:23.3270000Z</dcterms:modified>
</coreProperties>
</file>