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5c52421b48473e" /><Relationship Type="http://schemas.openxmlformats.org/officeDocument/2006/relationships/extended-properties" Target="/docProps/app.xml" Id="R778e06dd7bd24818" /><Relationship Type="http://schemas.openxmlformats.org/officeDocument/2006/relationships/officeDocument" Target="/ppt/presentation.xml" Id="Rab61bab2cb5840b8" /></Relationships>
</file>

<file path=ppt/presentation.xml><?xml version="1.0" encoding="utf-8"?>
<p:presentation xmlns:p="http://schemas.openxmlformats.org/presentationml/2006/main">
  <p:sldMasterIdLst>
    <p:sldMasterId xmlns:r="http://schemas.openxmlformats.org/officeDocument/2006/relationships" id="2147483648" r:id="Re8bee6959f73485b"/>
  </p:sldMasterIdLst>
  <p:notesMasterIdLst>
    <p:notesMasterId xmlns:r="http://schemas.openxmlformats.org/officeDocument/2006/relationships" r:id="R9f41a0fbe8f247bf"/>
  </p:notesMasterIdLst>
  <p:sldIdLst>
    <p:sldId xmlns:r="http://schemas.openxmlformats.org/officeDocument/2006/relationships" id="256" r:id="R79f4de71d65c4dfe"/>
    <p:sldId xmlns:r="http://schemas.openxmlformats.org/officeDocument/2006/relationships" id="257" r:id="Red2618e980c443bf"/>
    <p:sldId xmlns:r="http://schemas.openxmlformats.org/officeDocument/2006/relationships" id="258" r:id="Rff19eb7625d345a8"/>
    <p:sldId xmlns:r="http://schemas.openxmlformats.org/officeDocument/2006/relationships" id="259" r:id="R8ea86b48e01e4156"/>
    <p:sldId xmlns:r="http://schemas.openxmlformats.org/officeDocument/2006/relationships" id="260" r:id="R7a0c8d9ab6ae4583"/>
    <p:sldId xmlns:r="http://schemas.openxmlformats.org/officeDocument/2006/relationships" id="261" r:id="R832fe895f0cc4889"/>
    <p:sldId xmlns:r="http://schemas.openxmlformats.org/officeDocument/2006/relationships" id="262" r:id="R00ceeeec30224fcf"/>
    <p:sldId xmlns:r="http://schemas.openxmlformats.org/officeDocument/2006/relationships" id="263" r:id="R2bcb20ab52454d8e"/>
    <p:sldId xmlns:r="http://schemas.openxmlformats.org/officeDocument/2006/relationships" id="264" r:id="Rc3456a14838148ad"/>
    <p:sldId xmlns:r="http://schemas.openxmlformats.org/officeDocument/2006/relationships" id="265" r:id="R83b85fe7e90145e7"/>
    <p:sldId xmlns:r="http://schemas.openxmlformats.org/officeDocument/2006/relationships" id="266" r:id="Rf612e4f0e2404a7b"/>
    <p:sldId xmlns:r="http://schemas.openxmlformats.org/officeDocument/2006/relationships" id="267" r:id="R3ca0ccc71e534fa8"/>
    <p:sldId xmlns:r="http://schemas.openxmlformats.org/officeDocument/2006/relationships" id="268" r:id="Rb2e9c8956c12454e"/>
    <p:sldId xmlns:r="http://schemas.openxmlformats.org/officeDocument/2006/relationships" id="269" r:id="Rba0f327f780b496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d514a4de119467d" /><Relationship Type="http://schemas.openxmlformats.org/officeDocument/2006/relationships/slideMaster" Target="/ppt/slideMasters/slideMaster1.xml" Id="Re8bee6959f73485b" /><Relationship Type="http://schemas.openxmlformats.org/officeDocument/2006/relationships/notesMaster" Target="/ppt/notesMasters/notesMaster1.xml" Id="R9f41a0fbe8f247bf" /><Relationship Type="http://schemas.openxmlformats.org/officeDocument/2006/relationships/presProps" Target="/ppt/presProps.xml" Id="R117dd0fcdf9d4e7d" /><Relationship Type="http://schemas.openxmlformats.org/officeDocument/2006/relationships/tableStyles" Target="/ppt/tableStyles.xml" Id="R331348b0b9b64cb4" /><Relationship Type="http://schemas.openxmlformats.org/officeDocument/2006/relationships/slide" Target="/ppt/slides/slide1.xml" Id="R79f4de71d65c4dfe" /><Relationship Type="http://schemas.openxmlformats.org/officeDocument/2006/relationships/slide" Target="/ppt/slides/slide2.xml" Id="Red2618e980c443bf" /><Relationship Type="http://schemas.openxmlformats.org/officeDocument/2006/relationships/slide" Target="/ppt/slides/slide3.xml" Id="Rff19eb7625d345a8" /><Relationship Type="http://schemas.openxmlformats.org/officeDocument/2006/relationships/slide" Target="/ppt/slides/slide4.xml" Id="R8ea86b48e01e4156" /><Relationship Type="http://schemas.openxmlformats.org/officeDocument/2006/relationships/slide" Target="/ppt/slides/slide5.xml" Id="R7a0c8d9ab6ae4583" /><Relationship Type="http://schemas.openxmlformats.org/officeDocument/2006/relationships/slide" Target="/ppt/slides/slide6.xml" Id="R832fe895f0cc4889" /><Relationship Type="http://schemas.openxmlformats.org/officeDocument/2006/relationships/slide" Target="/ppt/slides/slide7.xml" Id="R00ceeeec30224fcf" /><Relationship Type="http://schemas.openxmlformats.org/officeDocument/2006/relationships/slide" Target="/ppt/slides/slide8.xml" Id="R2bcb20ab52454d8e" /><Relationship Type="http://schemas.openxmlformats.org/officeDocument/2006/relationships/slide" Target="/ppt/slides/slide9.xml" Id="Rc3456a14838148ad" /><Relationship Type="http://schemas.openxmlformats.org/officeDocument/2006/relationships/slide" Target="/ppt/slides/slide10.xml" Id="R83b85fe7e90145e7" /><Relationship Type="http://schemas.openxmlformats.org/officeDocument/2006/relationships/slide" Target="/ppt/slides/slide11.xml" Id="Rf612e4f0e2404a7b" /><Relationship Type="http://schemas.openxmlformats.org/officeDocument/2006/relationships/slide" Target="/ppt/slides/slide12.xml" Id="R3ca0ccc71e534fa8" /><Relationship Type="http://schemas.openxmlformats.org/officeDocument/2006/relationships/slide" Target="/ppt/slides/slide13.xml" Id="Rb2e9c8956c12454e" /><Relationship Type="http://schemas.openxmlformats.org/officeDocument/2006/relationships/slide" Target="/ppt/slides/slide14.xml" Id="Rba0f327f780b496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e7e594b873a400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964fe1541b49d1" /><Relationship Type="http://schemas.openxmlformats.org/officeDocument/2006/relationships/notesMaster" Target="/ppt/notesMasters/notesMaster1.xml" Id="R66b1ca78353440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3b232526de1941e5" /><Relationship Type="http://schemas.openxmlformats.org/officeDocument/2006/relationships/notesMaster" Target="/ppt/notesMasters/notesMaster1.xml" Id="R1e2e7d9434134c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6f0cfd6fb94b70" /><Relationship Type="http://schemas.openxmlformats.org/officeDocument/2006/relationships/notesMaster" Target="/ppt/notesMasters/notesMaster1.xml" Id="R64324ec0c50146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6c3be1228884485d" /><Relationship Type="http://schemas.openxmlformats.org/officeDocument/2006/relationships/notesMaster" Target="/ppt/notesMasters/notesMaster1.xml" Id="R9a950aedc8e34d81" /></Relationships>
</file>

<file path=ppt/notesSlides/_rels/notesSlide5.xml.rels>&#65279;<?xml version="1.0" encoding="utf-8"?><Relationships xmlns="http://schemas.openxmlformats.org/package/2006/relationships"><Relationship Type="http://schemas.openxmlformats.org/officeDocument/2006/relationships/slide" Target="/ppt/slides/slide5.xml" Id="Rdd9258a79aa44148" /><Relationship Type="http://schemas.openxmlformats.org/officeDocument/2006/relationships/notesMaster" Target="/ppt/notesMasters/notesMaster1.xml" Id="R77fb8fdae00a4b16" /></Relationships>
</file>

<file path=ppt/notesSlides/_rels/notesSlide6.xml.rels>&#65279;<?xml version="1.0" encoding="utf-8"?><Relationships xmlns="http://schemas.openxmlformats.org/package/2006/relationships"><Relationship Type="http://schemas.openxmlformats.org/officeDocument/2006/relationships/slide" Target="/ppt/slides/slide6.xml" Id="R5b54fec555ed418c" /><Relationship Type="http://schemas.openxmlformats.org/officeDocument/2006/relationships/notesMaster" Target="/ppt/notesMasters/notesMaster1.xml" Id="R70c176c4b10c48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4da17bac3e58491d" /><Relationship Type="http://schemas.openxmlformats.org/officeDocument/2006/relationships/notesMaster" Target="/ppt/notesMasters/notesMaster1.xml" Id="Rc672f4d4276d4b9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a04b7e673be4e77" /><Relationship Type="http://schemas.openxmlformats.org/officeDocument/2006/relationships/notesMaster" Target="/ppt/notesMasters/notesMaster1.xml" Id="R41074e03fd494f2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9bf72e9e7c94c1a" /><Relationship Type="http://schemas.openxmlformats.org/officeDocument/2006/relationships/notesMaster" Target="/ppt/notesMasters/notesMaster1.xml" Id="Rbf1451c6cb734c3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6af6eced75a4c0d" /><Relationship Type="http://schemas.openxmlformats.org/officeDocument/2006/relationships/notesMaster" Target="/ppt/notesMasters/notesMaster1.xml" Id="R275a641bbf4a465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b3745ed6e2c4fb1" /><Relationship Type="http://schemas.openxmlformats.org/officeDocument/2006/relationships/notesMaster" Target="/ppt/notesMasters/notesMaster1.xml" Id="Rfde67515979247c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deaa55acd1249b7" /><Relationship Type="http://schemas.openxmlformats.org/officeDocument/2006/relationships/notesMaster" Target="/ppt/notesMasters/notesMaster1.xml" Id="Rab4b22748ded4e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2f2b6c09e34487b" /><Relationship Type="http://schemas.openxmlformats.org/officeDocument/2006/relationships/notesMaster" Target="/ppt/notesMasters/notesMaster1.xml" Id="Rf725048a0cbe4d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a8180ed3d4242cd" /><Relationship Type="http://schemas.openxmlformats.org/officeDocument/2006/relationships/notesMaster" Target="/ppt/notesMasters/notesMaster1.xml" Id="R5e20ccfdef3a4cf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Present a familiar school-ground problem without assuming an actual site condition. Today we test samples, not decide the whole grounds design. Pupils can choose equipment or a paper lab.</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Retrieve prior soil lesson but provide the answers and a brief recap if this is taught separately. Ask pupils to show the larger number privately.</a:t>
            </a:r>
          </a:p>
          <a:p xmlns:a="http://schemas.openxmlformats.org/drawingml/2006/main">
            <a:r>
              <a:t/>
            </a:r>
          </a:p>
          <a:p xmlns:a="http://schemas.openxmlformats.org/drawingml/2006/main">
            <a:r>
              <a:t>REVEAL / MODEL ANSWER</a:t>
            </a:r>
          </a:p>
          <a:p xmlns:a="http://schemas.openxmlformats.org/drawingml/2006/main">
            <a:r>
              <a:t>1 Mineral and organic material. 2 A space between particles. 3 40 mL.</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Trace the broad blue route. Think aloud: I am looking for a connected route, not counting how brown the soil looks. In real soils, roots, cracks, particle mixtures and compaction affect paths. Do not teach that clay has fewer total pores than sand; tiny pores can hold water while large connected pores let it flow more freely.</a:t>
            </a:r>
          </a:p>
          <a:p xmlns:a="http://schemas.openxmlformats.org/drawingml/2006/main">
            <a:r>
              <a:t/>
            </a:r>
          </a:p>
          <a:p xmlns:a="http://schemas.openxmlformats.org/drawingml/2006/main">
            <a:r>
              <a:t>DIAGRAM DESCRIPTION</a:t>
            </a:r>
          </a:p>
          <a:p xmlns:a="http://schemas.openxmlformats.org/drawingml/2006/main">
            <a:r>
              <a:t>Two simplified pore networks. Broad connected paths permit easier flow than narrow connected paths in this model. Real soil also contains cracks, roots and aggregates; circle sizes are not to scale.</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Explain that the receiver sits directly below the draining pot in the actual setup; the diagram separates the parts for clarity. Demonstrate the method: start timer with first water, pour over 10 seconds, read at 2 minutes. Same pot/filter, loose packing and starting moisture. We compare water collected, a classroom indication of ease of drainage, not an intrinsic permeability coefficient.</a:t>
            </a:r>
          </a:p>
          <a:p xmlns:a="http://schemas.openxmlformats.org/drawingml/2006/main">
            <a:r>
              <a:t/>
            </a:r>
          </a:p>
          <a:p xmlns:a="http://schemas.openxmlformats.org/drawingml/2006/main">
            <a:r>
              <a:t>DIAGRAM DESCRIPTION</a:t>
            </a:r>
          </a:p>
          <a:p xmlns:a="http://schemas.openxmlformats.org/drawingml/2006/main">
            <a:r>
              <a:t>A draining pot holds 100 cubic centimetres of loosely filled soil above a matching filter and support. Sixty millilitres of water is added over ten seconds. A graduated container collects the water for a fixed time.</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Think aloud: the scale goes 0, 20, 40, 60. The level is halfway between 20 and 40, so 30 mL. This is a flat-surface model. With clear water in a narrow cylinder, read the bottom of the curved meniscus at eye level; with cloudy drainage use the visible surface consistently. Choose apparatus with a readable scale.</a:t>
            </a:r>
          </a:p>
          <a:p xmlns:a="http://schemas.openxmlformats.org/drawingml/2006/main">
            <a:r>
              <a:t/>
            </a:r>
          </a:p>
          <a:p xmlns:a="http://schemas.openxmlformats.org/drawingml/2006/main">
            <a:r>
              <a:t>REVEAL / MODEL ANSWER</a:t>
            </a:r>
          </a:p>
          <a:p xmlns:a="http://schemas.openxmlformats.org/drawingml/2006/main">
            <a:r>
              <a:t>30 mL: halfway between 20 and 40 mL.</a:t>
            </a:r>
          </a:p>
          <a:p xmlns:a="http://schemas.openxmlformats.org/drawingml/2006/main">
            <a:r>
              <a:t/>
            </a:r>
          </a:p>
          <a:p xmlns:a="http://schemas.openxmlformats.org/drawingml/2006/main">
            <a:r>
              <a:t>DIAGRAM DESCRIPTION</a:t>
            </a:r>
          </a:p>
          <a:p xmlns:a="http://schemas.openxmlformats.org/drawingml/2006/main">
            <a:r>
              <a:t>A simplified upright measuring cylinder with a level at 30 millilitres. The zero is at the bottom; equal distances represent equal 20 millilitre intervals. Read the surface at eye level.</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Work together as a test-design team. Each pupil selects one repair. B would confound water amount with soil; D would confound packing with soil. Same loose fill does not guarantee identical microscopic structure, but controls the action we take.</a:t>
            </a:r>
          </a:p>
          <a:p xmlns:a="http://schemas.openxmlformats.org/drawingml/2006/main">
            <a:r>
              <a:t/>
            </a:r>
          </a:p>
          <a:p xmlns:a="http://schemas.openxmlformats.org/drawingml/2006/main">
            <a:r>
              <a:t>REVEAL / MODEL ANSWER</a:t>
            </a:r>
          </a:p>
          <a:p xmlns:a="http://schemas.openxmlformats.org/drawingml/2006/main">
            <a:r>
              <a:t>Use A and C. Repair B: equal water. Repair D: the same loose preparation.</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4 minutes.</a:t>
            </a:r>
          </a:p>
          <a:p xmlns:a="http://schemas.openxmlformats.org/drawingml/2006/main">
            <a:r>
              <a:t/>
            </a:r>
          </a:p>
          <a:p xmlns:a="http://schemas.openxmlformats.org/drawingml/2006/main">
            <a:r>
              <a:t>Cover trial 2 briefly if helpful. Invite one learner to read, one compare, one justify. A&gt; B&gt; C in trial 1. Reveal trial 2 and note the same ordering. Constructed values illustrate reasoning; they are not real class results or universal values for named soil types.</a:t>
            </a:r>
          </a:p>
          <a:p xmlns:a="http://schemas.openxmlformats.org/drawingml/2006/main">
            <a:r>
              <a:t/>
            </a:r>
          </a:p>
          <a:p xmlns:a="http://schemas.openxmlformats.org/drawingml/2006/main">
            <a:r>
              <a:t>REVEAL / MODEL ANSWER</a:t>
            </a:r>
          </a:p>
          <a:p xmlns:a="http://schemas.openxmlformats.org/drawingml/2006/main">
            <a:r>
              <a:t>A: 42 mL. It is more than B: 26 and C: 10. Input and time were the same.</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All pupils commit first. If they choose B/C, point to the phrase “in this test”. If data comparison is wrong, line up the values 42, 26, 10 on a number line. Proceed to an appropriately supported independent route.</a:t>
            </a:r>
          </a:p>
          <a:p xmlns:a="http://schemas.openxmlformats.org/drawingml/2006/main">
            <a:r>
              <a:t/>
            </a:r>
          </a:p>
          <a:p xmlns:a="http://schemas.openxmlformats.org/drawingml/2006/main">
            <a:r>
              <a:t>A. A let most water through in this two-minute test.</a:t>
            </a:r>
          </a:p>
          <a:p xmlns:a="http://schemas.openxmlformats.org/drawingml/2006/main">
            <a:r>
              <a:t>Correct. A has the largest collected volume under the matched test conditions.</a:t>
            </a:r>
          </a:p>
          <a:p xmlns:a="http://schemas.openxmlformats.org/drawingml/2006/main">
            <a:r>
              <a:t/>
            </a:r>
          </a:p>
          <a:p xmlns:a="http://schemas.openxmlformats.org/drawingml/2006/main">
            <a:r>
              <a:t>B. C is the best soil for every plant.</a:t>
            </a:r>
          </a:p>
          <a:p xmlns:a="http://schemas.openxmlformats.org/drawingml/2006/main">
            <a:r>
              <a:t>This test alone does not measure every plant need or all soil properties.</a:t>
            </a:r>
          </a:p>
          <a:p xmlns:a="http://schemas.openxmlformats.org/drawingml/2006/main">
            <a:r>
              <a:t/>
            </a:r>
          </a:p>
          <a:p xmlns:a="http://schemas.openxmlformats.org/drawingml/2006/main">
            <a:r>
              <a:t>C. A must always drain fastest outdoors.</a:t>
            </a:r>
          </a:p>
          <a:p xmlns:a="http://schemas.openxmlformats.org/drawingml/2006/main">
            <a:r>
              <a:t>Outdoor structure, depth, cracks and starting moisture can change drainage.</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Choice is about access and evidence. Practical groups can test one soil and share class results, while individuals complete their chosen page. Paper pupils use both supplied trials. All routes need a compared result and a conclusion.</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Use identical draining pots and matching filters. Loosely fill each with 100 cm³ of prepared soil, without tamping. Add 60 mL over 10 seconds. Start timing when pouring starts. Collect and read at the stated time. Use fresh equally prepared portions for repeats. Keep soil out of the collection scale. Read at 2 minutes from the start of pouring. For practical pupils, a class trial plus the printed repeat can be compared but never presented as two class trials; label the source of each set.</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10 minutes.</a:t>
            </a:r>
          </a:p>
          <a:p xmlns:a="http://schemas.openxmlformats.org/drawingml/2006/main">
            <a:r>
              <a:t/>
            </a:r>
          </a:p>
          <a:p xmlns:a="http://schemas.openxmlformats.org/drawingml/2006/main">
            <a:r>
              <a:t>Circulate during the working time. Use practical readings if valid and record spills/overflow as failed trials needing a repeat; do not replace inconvenient data silently. Pupils using paper data must label them constructed sample data.</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Continue within the time allocated to this stage.</a:t>
            </a:r>
          </a:p>
          <a:p xmlns:a="http://schemas.openxmlformats.org/drawingml/2006/main">
            <a:r>
              <a:t/>
            </a:r>
          </a:p>
          <a:p xmlns:a="http://schemas.openxmlformats.org/drawingml/2006/main">
            <a:r>
              <a:t>Shares the independent time. Prompt a self-correction rather than adding another worksheet. A conclusion can be spoken and adult-scribed.</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3 minutes.</a:t>
            </a:r>
          </a:p>
          <a:p xmlns:a="http://schemas.openxmlformats.org/drawingml/2006/main">
            <a:r>
              <a:t/>
            </a:r>
          </a:p>
          <a:p xmlns:a="http://schemas.openxmlformats.org/drawingml/2006/main">
            <a:r>
              <a:t>Act on one pupil suggestion by adding it to the class method. State the influence: “We are changing our instruction because you spotted…” If using supplied data only, revise the model protocol, not pretend a real trial occurred.</a:t>
            </a:r>
          </a:p>
          <a:p xmlns:a="http://schemas.openxmlformats.org/drawingml/2006/main">
            <a:r>
              <a:t/>
            </a:r>
          </a:p>
          <a:p xmlns:a="http://schemas.openxmlformats.org/drawingml/2006/main">
            <a:r>
              <a:t>REVEAL / MODEL ANSWER</a:t>
            </a:r>
          </a:p>
          <a:p xmlns:a="http://schemas.openxmlformats.org/drawingml/2006/main">
            <a:r>
              <a:t>For example: matched preparation, an equal pour time, accurate readings or fresh repeated trials.</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Stage allocation: 2 minutes.</a:t>
            </a:r>
          </a:p>
          <a:p xmlns:a="http://schemas.openxmlformats.org/drawingml/2006/main">
            <a:r>
              <a:t/>
            </a:r>
          </a:p>
          <a:p xmlns:a="http://schemas.openxmlformats.org/drawingml/2006/main">
            <a:r>
              <a:t>Record core success when pupil compares a volume and identifies a matched condition. If not secure, reteach with just A and C and concrete number cards before the retention lesson.</a:t>
            </a:r>
          </a:p>
          <a:p xmlns:a="http://schemas.openxmlformats.org/drawingml/2006/main">
            <a:r>
              <a:t/>
            </a:r>
          </a:p>
          <a:p xmlns:a="http://schemas.openxmlformats.org/drawingml/2006/main">
            <a:r>
              <a:t>REVEAL / MODEL ANSWER</a:t>
            </a:r>
          </a:p>
          <a:p xmlns:a="http://schemas.openxmlformats.org/drawingml/2006/main">
            <a:r>
              <a:t>A. For example, 60 mL input or 2 minutes. No: more evidence about plant needs is needed.</a:t>
            </a:r>
          </a:p>
          <a:p xmlns:a="http://schemas.openxmlformats.org/drawingml/2006/main">
            <a:r>
              <a:t/>
            </a:r>
          </a:p>
          <a:p xmlns:a="http://schemas.openxmlformats.org/drawingml/2006/main">
            <a:r>
              <a:t>LESSON REFERENCES</a:t>
            </a:r>
          </a:p>
          <a:p xmlns:a="http://schemas.openxmlformats.org/drawingml/2006/main">
            <a:r>
              <a:t>USDA NRCS: Soil Infiltration — Guides for Educators</a:t>
            </a:r>
          </a:p>
          <a:p xmlns:a="http://schemas.openxmlformats.org/drawingml/2006/main">
            <a:r>
              <a:t>https://www.nrcs.usda.gov/sites/default/files/2022-10/Soil%20Infiltration.pdf</a:t>
            </a:r>
          </a:p>
          <a:p xmlns:a="http://schemas.openxmlformats.org/drawingml/2006/main">
            <a:r>
              <a:t>Checked 8 September 2026. Supports effects of pores, texture, initial moisture and compaction on water movement. Our pot drainage test is a comparative classroom model, not a measurement of field infiltration or intrinsic permeability.</a:t>
            </a:r>
          </a:p>
          <a:p xmlns:a="http://schemas.openxmlformats.org/drawingml/2006/main">
            <a:r>
              <a:t/>
            </a:r>
          </a:p>
          <a:p xmlns:a="http://schemas.openxmlformats.org/drawingml/2006/main">
            <a:r>
              <a:t>USDA NRCS: Soil Bulk Density, Moisture and Aeration — Guides for Educators</a:t>
            </a:r>
          </a:p>
          <a:p xmlns:a="http://schemas.openxmlformats.org/drawingml/2006/main">
            <a:r>
              <a:t>https://www.nrcs.usda.gov/sites/default/files/2022-10/Soil%20Bulk%20Density%20Moisture%20Aeration.pdf</a:t>
            </a:r>
          </a:p>
          <a:p xmlns:a="http://schemas.openxmlformats.org/drawingml/2006/main">
            <a:r>
              <a:t>Checked 8 September 2026. Supports pore space, stored water, organic matter and the distinction between water held and water available to plants. Short-time classroom water balance is an estimate and not a field-capacity measurement.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8ee1109c13403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2701d35f4340e2" /><Relationship Type="http://schemas.openxmlformats.org/officeDocument/2006/relationships/slideLayout" Target="/ppt/slideLayouts/slideLayout1.xml" Id="R17485657cbe047a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485657cbe047a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1edc8915cb84c63" /><Relationship Type="http://schemas.openxmlformats.org/officeDocument/2006/relationships/notesSlide" Target="/ppt/notesSlides/notesSlide1.xml" Id="Rc047b77c65d345e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721e87324cf48b2" /><Relationship Type="http://schemas.openxmlformats.org/officeDocument/2006/relationships/notesSlide" Target="/ppt/notesSlides/notesSlide2.xml" Id="R8c3748674b204cd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faa19a921b14939" /><Relationship Type="http://schemas.openxmlformats.org/officeDocument/2006/relationships/notesSlide" Target="/ppt/notesSlides/notesSlide3.xml" Id="R840a1b42aead4e7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c6dbdf5c3014540" /><Relationship Type="http://schemas.openxmlformats.org/officeDocument/2006/relationships/notesSlide" Target="/ppt/notesSlides/notesSlide4.xml" Id="R88ca793bd42f4f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cb9571b3e74a8f" /><Relationship Type="http://schemas.openxmlformats.org/officeDocument/2006/relationships/notesSlide" Target="/ppt/notesSlides/notesSlide5.xml" Id="Rafbbab5c98f842f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e62f4e4946407d" /><Relationship Type="http://schemas.openxmlformats.org/officeDocument/2006/relationships/notesSlide" Target="/ppt/notesSlides/notesSlide6.xml" Id="R5c78036d58cf46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b416c6d402e4205" /><Relationship Type="http://schemas.openxmlformats.org/officeDocument/2006/relationships/notesSlide" Target="/ppt/notesSlides/notesSlide7.xml" Id="R931ae77e8d8c47a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a5f25b04bf5484d" /><Relationship Type="http://schemas.openxmlformats.org/officeDocument/2006/relationships/notesSlide" Target="/ppt/notesSlides/notesSlide8.xml" Id="Re95880bd67884d7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a41adef47674159" /><Relationship Type="http://schemas.openxmlformats.org/officeDocument/2006/relationships/notesSlide" Target="/ppt/notesSlides/notesSlide9.xml" Id="R1236dd3727ca40e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478623b4a314f79" /><Relationship Type="http://schemas.openxmlformats.org/officeDocument/2006/relationships/notesSlide" Target="/ppt/notesSlides/notesSlide10.xml" Id="Ra79826ec2f6a46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d3383e074354377" /><Relationship Type="http://schemas.openxmlformats.org/officeDocument/2006/relationships/notesSlide" Target="/ppt/notesSlides/notesSlide11.xml" Id="R2d7b7a08c172405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09a7de19be7f45e4" /><Relationship Type="http://schemas.openxmlformats.org/officeDocument/2006/relationships/notesSlide" Target="/ppt/notesSlides/notesSlide12.xml" Id="R12eec0a53631495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9c9c4baeaef483a" /><Relationship Type="http://schemas.openxmlformats.org/officeDocument/2006/relationships/notesSlide" Target="/ppt/notesSlides/notesSlide13.xml" Id="R1cfdd13dfc874e6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00481322de0494d" /><Relationship Type="http://schemas.openxmlformats.org/officeDocument/2006/relationships/notesSlide" Target="/ppt/notesSlides/notesSlide14.xml" Id="R220517084f8e4c2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surface">
            <a:extLst xmlns:a="http://schemas.openxmlformats.org/drawingml/2006/main">
              <a:ext uri="{FF2B5EF4-FFF2-40B4-BE49-F238E27FC236}">
                <a16:creationId xmlns:a16="http://schemas.microsoft.com/office/drawing/2014/main" id="{9257F63A-B99B-4D95-BC3B-09D50E860A4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231B7E6-8173-42B5-BF48-E9E5A602918F}"/>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D8881C8C-700B-463C-B857-FBCF19A75ADC}"/>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22DD167F-C60F-4165-9E00-4F1857816A44}"/>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Opening">
            <a:extLst xmlns:a="http://schemas.openxmlformats.org/drawingml/2006/main">
              <a:ext uri="{FF2B5EF4-FFF2-40B4-BE49-F238E27FC236}">
                <a16:creationId xmlns:a16="http://schemas.microsoft.com/office/drawing/2014/main" id="{540973FF-36C3-4F09-82A2-652A2285D03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Opening</a:t>
            </a:r>
          </a:p>
        </p:txBody>
      </p:sp>
      <p:sp>
        <p:nvSpPr>
          <p:cNvPr id="6" name="2 min">
            <a:extLst xmlns:a="http://schemas.openxmlformats.org/drawingml/2006/main">
              <a:ext uri="{FF2B5EF4-FFF2-40B4-BE49-F238E27FC236}">
                <a16:creationId xmlns:a16="http://schemas.microsoft.com/office/drawing/2014/main" id="{5CE7CEE7-4BEB-48F1-8361-B43256BFAB6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Which sample drains most?">
            <a:extLst xmlns:a="http://schemas.openxmlformats.org/drawingml/2006/main">
              <a:ext uri="{FF2B5EF4-FFF2-40B4-BE49-F238E27FC236}">
                <a16:creationId xmlns:a16="http://schemas.microsoft.com/office/drawing/2014/main" id="{F7FA0874-5ADF-4B77-998A-AA51AD669E5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Which sample drains most?</a:t>
            </a:r>
          </a:p>
        </p:txBody>
      </p:sp>
      <p:sp>
        <p:nvSpPr>
          <p:cNvPr id="8" name="surface">
            <a:extLst xmlns:a="http://schemas.openxmlformats.org/drawingml/2006/main">
              <a:ext uri="{FF2B5EF4-FFF2-40B4-BE49-F238E27FC236}">
                <a16:creationId xmlns:a16="http://schemas.microsoft.com/office/drawing/2014/main" id="{108DAB92-5F2D-45CA-A18A-B4245F0890D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C3530FFB-8A4D-427E-B292-90E44C03EAE9}"/>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1 / 14">
            <a:extLst xmlns:a="http://schemas.openxmlformats.org/drawingml/2006/main">
              <a:ext uri="{FF2B5EF4-FFF2-40B4-BE49-F238E27FC236}">
                <a16:creationId xmlns:a16="http://schemas.microsoft.com/office/drawing/2014/main" id="{8CBA8675-5D03-4275-8522-C0134786E06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 / 14</a:t>
            </a:r>
          </a:p>
        </p:txBody>
      </p:sp>
      <p:sp>
        <p:nvSpPr>
          <p:cNvPr id="11" name="surface">
            <a:extLst xmlns:a="http://schemas.openxmlformats.org/drawingml/2006/main">
              <a:ext uri="{FF2B5EF4-FFF2-40B4-BE49-F238E27FC236}">
                <a16:creationId xmlns:a16="http://schemas.microsoft.com/office/drawing/2014/main" id="{9497F35E-79E2-4B2C-96B3-7D2530FEA731}"/>
              </a:ext>
            </a:extLst>
          </p:cNvPr>
          <p:cNvSpPr>
            <a:spLocks xmlns:a="http://schemas.openxmlformats.org/drawingml/2006/main" noGrp="1"/>
          </p:cNvSpPr>
          <p:nvPr/>
        </p:nvSpPr>
        <p:spPr>
          <a:xfrm xmlns:a="http://schemas.openxmlformats.org/drawingml/2006/main">
            <a:off x="533400" y="1885950"/>
            <a:ext cx="11125200" cy="9334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2" name="surface">
            <a:extLst xmlns:a="http://schemas.openxmlformats.org/drawingml/2006/main">
              <a:ext uri="{FF2B5EF4-FFF2-40B4-BE49-F238E27FC236}">
                <a16:creationId xmlns:a16="http://schemas.microsoft.com/office/drawing/2014/main" id="{3E4062F3-FF38-4A63-8644-42B841C65A63}"/>
              </a:ext>
            </a:extLst>
          </p:cNvPr>
          <p:cNvSpPr>
            <a:spLocks xmlns:a="http://schemas.openxmlformats.org/drawingml/2006/main" noGrp="1"/>
          </p:cNvSpPr>
          <p:nvPr/>
        </p:nvSpPr>
        <p:spPr>
          <a:xfrm xmlns:a="http://schemas.openxmlformats.org/drawingml/2006/main">
            <a:off x="533400" y="1885950"/>
            <a:ext cx="66675" cy="9334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3" name="Learning intention">
            <a:extLst xmlns:a="http://schemas.openxmlformats.org/drawingml/2006/main">
              <a:ext uri="{FF2B5EF4-FFF2-40B4-BE49-F238E27FC236}">
                <a16:creationId xmlns:a16="http://schemas.microsoft.com/office/drawing/2014/main" id="{CA3F2286-2B6A-4A19-A372-74037A978132}"/>
              </a:ext>
            </a:extLst>
          </p:cNvPr>
          <p:cNvSpPr>
            <a:spLocks xmlns:a="http://schemas.openxmlformats.org/drawingml/2006/main" noGrp="1"/>
          </p:cNvSpPr>
          <p:nvPr/>
        </p:nvSpPr>
        <p:spPr>
          <a:xfrm xmlns:a="http://schemas.openxmlformats.org/drawingml/2006/main">
            <a:off x="762000" y="2019300"/>
            <a:ext cx="1057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50" b="1">
                <a:solidFill>
                  <a:srgbClr val="4E7A9B"/>
                </a:solidFill>
                <a:latin typeface="Nimbus Sans"/>
                <a:ea typeface="Nimbus Sans"/>
                <a:cs typeface="Nimbus Sans"/>
              </a:defRPr>
            </a:pPr>
            <a:r>
              <a:rPr sz="1650" b="1">
                <a:solidFill>
                  <a:srgbClr val="4E7A9B"/>
                </a:solidFill>
                <a:latin typeface="Nimbus Sans"/>
                <a:ea typeface="Nimbus Sans"/>
                <a:cs typeface="Nimbus Sans"/>
              </a:rPr>
              <a:t>Learning intention</a:t>
            </a:r>
          </a:p>
        </p:txBody>
      </p:sp>
      <p:sp>
        <p:nvSpPr>
          <p:cNvPr id="14" name="Compare how much water passes through different soils in the sam">
            <a:extLst xmlns:a="http://schemas.openxmlformats.org/drawingml/2006/main">
              <a:ext uri="{FF2B5EF4-FFF2-40B4-BE49-F238E27FC236}">
                <a16:creationId xmlns:a16="http://schemas.microsoft.com/office/drawing/2014/main" id="{EF914CD5-F35C-432D-BBEE-C133FF26FA95}"/>
              </a:ext>
            </a:extLst>
          </p:cNvPr>
          <p:cNvSpPr>
            <a:spLocks xmlns:a="http://schemas.openxmlformats.org/drawingml/2006/main" noGrp="1"/>
          </p:cNvSpPr>
          <p:nvPr/>
        </p:nvSpPr>
        <p:spPr>
          <a:xfrm xmlns:a="http://schemas.openxmlformats.org/drawingml/2006/main">
            <a:off x="762000" y="236220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1F2937"/>
                </a:solidFill>
                <a:latin typeface="Nimbus Sans"/>
                <a:ea typeface="Nimbus Sans"/>
                <a:cs typeface="Nimbus Sans"/>
              </a:defRPr>
            </a:pPr>
            <a:r>
              <a:rPr sz="2175" b="1">
                <a:solidFill>
                  <a:srgbClr val="1F2937"/>
                </a:solidFill>
                <a:latin typeface="Nimbus Sans"/>
                <a:ea typeface="Nimbus Sans"/>
                <a:cs typeface="Nimbus Sans"/>
              </a:rPr>
              <a:t>Compare how much water passes through different soils in the same time.</a:t>
            </a:r>
          </a:p>
        </p:txBody>
      </p:sp>
      <p:sp>
        <p:nvSpPr>
          <p:cNvPr id="15" name="A puddle stays on one patch.">
            <a:extLst xmlns:a="http://schemas.openxmlformats.org/drawingml/2006/main">
              <a:ext uri="{FF2B5EF4-FFF2-40B4-BE49-F238E27FC236}">
                <a16:creationId xmlns:a16="http://schemas.microsoft.com/office/drawing/2014/main" id="{81220BD1-F005-4D80-BA5B-FE33AF17999F}"/>
              </a:ext>
            </a:extLst>
          </p:cNvPr>
          <p:cNvSpPr>
            <a:spLocks xmlns:a="http://schemas.openxmlformats.org/drawingml/2006/main" noGrp="1"/>
          </p:cNvSpPr>
          <p:nvPr/>
        </p:nvSpPr>
        <p:spPr>
          <a:xfrm xmlns:a="http://schemas.openxmlformats.org/drawingml/2006/main">
            <a:off x="762000" y="304800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A puddle stays on one patch.</a:t>
            </a:r>
          </a:p>
        </p:txBody>
      </p:sp>
      <p:sp>
        <p:nvSpPr>
          <p:cNvPr id="16" name="Another patch drains sooner.">
            <a:extLst xmlns:a="http://schemas.openxmlformats.org/drawingml/2006/main">
              <a:ext uri="{FF2B5EF4-FFF2-40B4-BE49-F238E27FC236}">
                <a16:creationId xmlns:a16="http://schemas.microsoft.com/office/drawing/2014/main" id="{A8DDCD8E-BCF3-49ED-9422-3A2FB0A44864}"/>
              </a:ext>
            </a:extLst>
          </p:cNvPr>
          <p:cNvSpPr>
            <a:spLocks xmlns:a="http://schemas.openxmlformats.org/drawingml/2006/main" noGrp="1"/>
          </p:cNvSpPr>
          <p:nvPr/>
        </p:nvSpPr>
        <p:spPr>
          <a:xfrm xmlns:a="http://schemas.openxmlformats.org/drawingml/2006/main">
            <a:off x="762000" y="3622358"/>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Another patch drains sooner.</a:t>
            </a:r>
          </a:p>
        </p:txBody>
      </p:sp>
      <p:sp>
        <p:nvSpPr>
          <p:cNvPr id="17" name="How can we compare soils fairly?">
            <a:extLst xmlns:a="http://schemas.openxmlformats.org/drawingml/2006/main">
              <a:ext uri="{FF2B5EF4-FFF2-40B4-BE49-F238E27FC236}">
                <a16:creationId xmlns:a16="http://schemas.microsoft.com/office/drawing/2014/main" id="{8060FF28-F23E-48E8-85CC-874B3060E49F}"/>
              </a:ext>
            </a:extLst>
          </p:cNvPr>
          <p:cNvSpPr>
            <a:spLocks xmlns:a="http://schemas.openxmlformats.org/drawingml/2006/main" noGrp="1"/>
          </p:cNvSpPr>
          <p:nvPr/>
        </p:nvSpPr>
        <p:spPr>
          <a:xfrm xmlns:a="http://schemas.openxmlformats.org/drawingml/2006/main">
            <a:off x="762000" y="419671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How can we compare soils fairly?</a:t>
            </a:r>
          </a:p>
        </p:txBody>
      </p:sp>
    </p:spTree>
    <p:extLst>
      <p:ext uri="{BB962C8B-B14F-4D97-AF65-F5344CB8AC3E}">
        <p14:creationId xmlns:p14="http://schemas.microsoft.com/office/powerpoint/2010/main" val="2370842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FE506705-DA29-4EDE-99E5-172D5B6F5E3B}"/>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AD2A306F-7617-4F48-A45D-867887B7007C}"/>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91720DFD-DCEE-459E-9F33-AC9555B576F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49830765-80CE-439C-B947-EFC79771FD8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trieval">
            <a:extLst xmlns:a="http://schemas.openxmlformats.org/drawingml/2006/main">
              <a:ext uri="{FF2B5EF4-FFF2-40B4-BE49-F238E27FC236}">
                <a16:creationId xmlns:a16="http://schemas.microsoft.com/office/drawing/2014/main" id="{96612AC4-E08D-432C-9CE4-692EC55C78C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Retrieval</a:t>
            </a:r>
          </a:p>
        </p:txBody>
      </p:sp>
      <p:sp>
        <p:nvSpPr>
          <p:cNvPr id="6" name="3 min">
            <a:extLst xmlns:a="http://schemas.openxmlformats.org/drawingml/2006/main">
              <a:ext uri="{FF2B5EF4-FFF2-40B4-BE49-F238E27FC236}">
                <a16:creationId xmlns:a16="http://schemas.microsoft.com/office/drawing/2014/main" id="{64627D61-66A7-4C53-9558-AAAF8E241586}"/>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Find the missing links">
            <a:extLst xmlns:a="http://schemas.openxmlformats.org/drawingml/2006/main">
              <a:ext uri="{FF2B5EF4-FFF2-40B4-BE49-F238E27FC236}">
                <a16:creationId xmlns:a16="http://schemas.microsoft.com/office/drawing/2014/main" id="{839394B2-D6F7-4985-A112-9E14E8C4E65A}"/>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Find the missing links</a:t>
            </a:r>
          </a:p>
        </p:txBody>
      </p:sp>
      <p:sp>
        <p:nvSpPr>
          <p:cNvPr id="8" name="surface">
            <a:extLst xmlns:a="http://schemas.openxmlformats.org/drawingml/2006/main">
              <a:ext uri="{FF2B5EF4-FFF2-40B4-BE49-F238E27FC236}">
                <a16:creationId xmlns:a16="http://schemas.microsoft.com/office/drawing/2014/main" id="{C9DFE2B0-A5F1-4781-BD62-0A61A0E02408}"/>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4DB631AA-EC71-44AD-A507-33EFBEDBC9D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2 / 14">
            <a:extLst xmlns:a="http://schemas.openxmlformats.org/drawingml/2006/main">
              <a:ext uri="{FF2B5EF4-FFF2-40B4-BE49-F238E27FC236}">
                <a16:creationId xmlns:a16="http://schemas.microsoft.com/office/drawing/2014/main" id="{50CD6050-A37A-4825-AFDC-7F8841F3E975}"/>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2 / 14</a:t>
            </a:r>
          </a:p>
        </p:txBody>
      </p:sp>
      <p:sp>
        <p:nvSpPr>
          <p:cNvPr id="11" name="1. Name two solid parts of soil.">
            <a:extLst xmlns:a="http://schemas.openxmlformats.org/drawingml/2006/main">
              <a:ext uri="{FF2B5EF4-FFF2-40B4-BE49-F238E27FC236}">
                <a16:creationId xmlns:a16="http://schemas.microsoft.com/office/drawing/2014/main" id="{09633E49-F196-411A-AD0D-B68C96D0368D}"/>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1. Name two solid parts of soil.</a:t>
            </a:r>
          </a:p>
        </p:txBody>
      </p:sp>
      <p:sp>
        <p:nvSpPr>
          <p:cNvPr id="12" name="2. What is a pore?">
            <a:extLst xmlns:a="http://schemas.openxmlformats.org/drawingml/2006/main">
              <a:ext uri="{FF2B5EF4-FFF2-40B4-BE49-F238E27FC236}">
                <a16:creationId xmlns:a16="http://schemas.microsoft.com/office/drawing/2014/main" id="{46001226-9E85-45DD-B29A-1F2E350649BA}"/>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2. What is a pore?</a:t>
            </a:r>
          </a:p>
        </p:txBody>
      </p:sp>
      <p:sp>
        <p:nvSpPr>
          <p:cNvPr id="13" name="3. Which is more: 20 mL or 40 mL?">
            <a:extLst xmlns:a="http://schemas.openxmlformats.org/drawingml/2006/main">
              <a:ext uri="{FF2B5EF4-FFF2-40B4-BE49-F238E27FC236}">
                <a16:creationId xmlns:a16="http://schemas.microsoft.com/office/drawing/2014/main" id="{C68394D4-0F0D-43F3-9F23-D07855F4C332}"/>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3. Which is more: 20 mL or 40 mL?</a:t>
            </a:r>
          </a:p>
        </p:txBody>
      </p:sp>
    </p:spTree>
    <p:extLst>
      <p:ext uri="{BB962C8B-B14F-4D97-AF65-F5344CB8AC3E}">
        <p14:creationId xmlns:p14="http://schemas.microsoft.com/office/powerpoint/2010/main" val="152933848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surface">
            <a:extLst xmlns:a="http://schemas.openxmlformats.org/drawingml/2006/main">
              <a:ext uri="{FF2B5EF4-FFF2-40B4-BE49-F238E27FC236}">
                <a16:creationId xmlns:a16="http://schemas.microsoft.com/office/drawing/2014/main" id="{51DC9690-8FAF-49CE-846D-92CF2206659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73D943A-4B6B-45BD-A927-81159611189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94EF9F4-841C-4514-8FBA-758F061AEBD5}"/>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F61C8B13-2928-486E-8120-F5846C615ACC}"/>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646FBB27-20FB-4994-B936-C18A4E36C75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3 min">
            <a:extLst xmlns:a="http://schemas.openxmlformats.org/drawingml/2006/main">
              <a:ext uri="{FF2B5EF4-FFF2-40B4-BE49-F238E27FC236}">
                <a16:creationId xmlns:a16="http://schemas.microsoft.com/office/drawing/2014/main" id="{077797D7-DDAA-4691-A1FF-896EAD33CA9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Follow a connected path">
            <a:extLst xmlns:a="http://schemas.openxmlformats.org/drawingml/2006/main">
              <a:ext uri="{FF2B5EF4-FFF2-40B4-BE49-F238E27FC236}">
                <a16:creationId xmlns:a16="http://schemas.microsoft.com/office/drawing/2014/main" id="{CA785919-C14C-41A3-8527-E85C31F196A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Follow a connected path</a:t>
            </a:r>
          </a:p>
        </p:txBody>
      </p:sp>
      <p:sp>
        <p:nvSpPr>
          <p:cNvPr id="8" name="surface">
            <a:extLst xmlns:a="http://schemas.openxmlformats.org/drawingml/2006/main">
              <a:ext uri="{FF2B5EF4-FFF2-40B4-BE49-F238E27FC236}">
                <a16:creationId xmlns:a16="http://schemas.microsoft.com/office/drawing/2014/main" id="{C2754DF2-E3F0-4A3D-98BC-0D6798194FC2}"/>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906662D3-1D85-4A95-8335-85133367F051}"/>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3 / 14">
            <a:extLst xmlns:a="http://schemas.openxmlformats.org/drawingml/2006/main">
              <a:ext uri="{FF2B5EF4-FFF2-40B4-BE49-F238E27FC236}">
                <a16:creationId xmlns:a16="http://schemas.microsoft.com/office/drawing/2014/main" id="{016CC665-91BD-4C4D-BE0A-9CCFED41ADE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3 / 14</a:t>
            </a:r>
          </a:p>
        </p:txBody>
      </p:sp>
      <p:sp>
        <p:nvSpPr>
          <p:cNvPr id="11" name="Diagram label: Broad connected paths">
            <a:extLst xmlns:a="http://schemas.openxmlformats.org/drawingml/2006/main">
              <a:ext uri="{FF2B5EF4-FFF2-40B4-BE49-F238E27FC236}">
                <a16:creationId xmlns:a16="http://schemas.microsoft.com/office/drawing/2014/main" id="{6A0335DF-4589-407E-BDE7-79559AAEF05D}"/>
              </a:ext>
            </a:extLst>
          </p:cNvPr>
          <p:cNvSpPr>
            <a:spLocks xmlns:a="http://schemas.openxmlformats.org/drawingml/2006/main" noGrp="1"/>
          </p:cNvSpPr>
          <p:nvPr/>
        </p:nvSpPr>
        <p:spPr>
          <a:xfrm xmlns:a="http://schemas.openxmlformats.org/drawingml/2006/main">
            <a:off x="2773221" y="2109192"/>
            <a:ext cx="2949433" cy="52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Broad connected paths</a:t>
            </a:r>
          </a:p>
        </p:txBody>
      </p:sp>
      <p:sp>
        <p:nvSpPr>
          <p:cNvPr id="12" name="Diagram label: Narrow connected paths">
            <a:extLst xmlns:a="http://schemas.openxmlformats.org/drawingml/2006/main">
              <a:ext uri="{FF2B5EF4-FFF2-40B4-BE49-F238E27FC236}">
                <a16:creationId xmlns:a16="http://schemas.microsoft.com/office/drawing/2014/main" id="{819654F8-D217-472F-85C1-0C1C3699D3DA}"/>
              </a:ext>
            </a:extLst>
          </p:cNvPr>
          <p:cNvSpPr>
            <a:spLocks xmlns:a="http://schemas.openxmlformats.org/drawingml/2006/main" noGrp="1"/>
          </p:cNvSpPr>
          <p:nvPr/>
        </p:nvSpPr>
        <p:spPr>
          <a:xfrm xmlns:a="http://schemas.openxmlformats.org/drawingml/2006/main">
            <a:off x="6469346" y="2109192"/>
            <a:ext cx="2949433" cy="52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64" b="1">
                <a:solidFill>
                  <a:srgbClr val="1F2937"/>
                </a:solidFill>
                <a:latin typeface="Nimbus Sans"/>
                <a:ea typeface="Nimbus Sans"/>
                <a:cs typeface="Nimbus Sans"/>
              </a:defRPr>
            </a:pPr>
            <a:r>
              <a:rPr sz="1764" b="1">
                <a:solidFill>
                  <a:srgbClr val="1F2937"/>
                </a:solidFill>
                <a:latin typeface="Nimbus Sans"/>
                <a:ea typeface="Nimbus Sans"/>
                <a:cs typeface="Nimbus Sans"/>
              </a:rPr>
              <a:t>Narrow connected paths</a:t>
            </a:r>
          </a:p>
        </p:txBody>
      </p:sp>
      <p:sp>
        <p:nvSpPr>
          <p:cNvPr id="13" name="Editable scientific diagram">
            <a:extLst xmlns:a="http://schemas.openxmlformats.org/drawingml/2006/main">
              <a:ext uri="{FF2B5EF4-FFF2-40B4-BE49-F238E27FC236}">
                <a16:creationId xmlns:a16="http://schemas.microsoft.com/office/drawing/2014/main" id="{044A3D85-EF40-416F-9913-FC2B9EC73991}"/>
              </a:ext>
            </a:extLst>
          </p:cNvPr>
          <p:cNvSpPr>
            <a:spLocks xmlns:a="http://schemas.openxmlformats.org/drawingml/2006/main" noGrp="1"/>
          </p:cNvSpPr>
          <p:nvPr/>
        </p:nvSpPr>
        <p:spPr>
          <a:xfrm xmlns:a="http://schemas.openxmlformats.org/drawingml/2006/main">
            <a:off x="2810555" y="2743880"/>
            <a:ext cx="2837429" cy="2389414"/>
          </a:xfrm>
          <a:prstGeom xmlns:a="http://schemas.openxmlformats.org/drawingml/2006/main" prst="rect">
            <a:avLst/>
          </a:prstGeom>
          <a:solidFill xmlns:a="http://schemas.openxmlformats.org/drawingml/2006/main">
            <a:srgbClr val="F1EADB"/>
          </a:solidFill>
          <a:ln xmlns:a="http://schemas.openxmlformats.org/drawingml/2006/main" w="14934">
            <a:solidFill>
              <a:srgbClr val="1F2937"/>
            </a:solidFill>
          </a:ln>
        </p:spPr>
      </p:sp>
      <p:sp>
        <p:nvSpPr>
          <p:cNvPr id="14" name="Editable scientific diagram">
            <a:extLst xmlns:a="http://schemas.openxmlformats.org/drawingml/2006/main">
              <a:ext uri="{FF2B5EF4-FFF2-40B4-BE49-F238E27FC236}">
                <a16:creationId xmlns:a16="http://schemas.microsoft.com/office/drawing/2014/main" id="{AC75A081-218D-453A-9A9F-1229D76C3704}"/>
              </a:ext>
            </a:extLst>
          </p:cNvPr>
          <p:cNvSpPr>
            <a:spLocks xmlns:a="http://schemas.openxmlformats.org/drawingml/2006/main" noGrp="1"/>
          </p:cNvSpPr>
          <p:nvPr/>
        </p:nvSpPr>
        <p:spPr>
          <a:xfrm xmlns:a="http://schemas.openxmlformats.org/drawingml/2006/main">
            <a:off x="6544015" y="2743880"/>
            <a:ext cx="2837429" cy="2389414"/>
          </a:xfrm>
          <a:prstGeom xmlns:a="http://schemas.openxmlformats.org/drawingml/2006/main" prst="rect">
            <a:avLst/>
          </a:prstGeom>
          <a:solidFill xmlns:a="http://schemas.openxmlformats.org/drawingml/2006/main">
            <a:srgbClr val="F1EADB"/>
          </a:solidFill>
          <a:ln xmlns:a="http://schemas.openxmlformats.org/drawingml/2006/main" w="14934">
            <a:solidFill>
              <a:srgbClr val="1F2937"/>
            </a:solidFill>
          </a:ln>
        </p:spPr>
      </p:sp>
      <p:sp>
        <p:nvSpPr>
          <p:cNvPr id="15" name="Editable scientific diagram">
            <a:extLst xmlns:a="http://schemas.openxmlformats.org/drawingml/2006/main">
              <a:ext uri="{FF2B5EF4-FFF2-40B4-BE49-F238E27FC236}">
                <a16:creationId xmlns:a16="http://schemas.microsoft.com/office/drawing/2014/main" id="{565C32C9-A00A-4DE8-9FEF-45CEAD87D160}"/>
              </a:ext>
            </a:extLst>
          </p:cNvPr>
          <p:cNvSpPr>
            <a:spLocks xmlns:a="http://schemas.openxmlformats.org/drawingml/2006/main" noGrp="1"/>
          </p:cNvSpPr>
          <p:nvPr/>
        </p:nvSpPr>
        <p:spPr>
          <a:xfrm xmlns:a="http://schemas.openxmlformats.org/drawingml/2006/main">
            <a:off x="2885225" y="2855884"/>
            <a:ext cx="784027" cy="709357"/>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6" name="Editable scientific diagram">
            <a:extLst xmlns:a="http://schemas.openxmlformats.org/drawingml/2006/main">
              <a:ext uri="{FF2B5EF4-FFF2-40B4-BE49-F238E27FC236}">
                <a16:creationId xmlns:a16="http://schemas.microsoft.com/office/drawing/2014/main" id="{5AD01566-AD63-429A-B406-812FDF2DB4FB}"/>
              </a:ext>
            </a:extLst>
          </p:cNvPr>
          <p:cNvSpPr>
            <a:spLocks xmlns:a="http://schemas.openxmlformats.org/drawingml/2006/main" noGrp="1"/>
          </p:cNvSpPr>
          <p:nvPr/>
        </p:nvSpPr>
        <p:spPr>
          <a:xfrm xmlns:a="http://schemas.openxmlformats.org/drawingml/2006/main">
            <a:off x="4527947" y="2855884"/>
            <a:ext cx="784027" cy="709357"/>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7" name="Editable scientific diagram">
            <a:extLst xmlns:a="http://schemas.openxmlformats.org/drawingml/2006/main">
              <a:ext uri="{FF2B5EF4-FFF2-40B4-BE49-F238E27FC236}">
                <a16:creationId xmlns:a16="http://schemas.microsoft.com/office/drawing/2014/main" id="{429FAAD7-B073-4F54-8A6C-9FFDFE7F3951}"/>
              </a:ext>
            </a:extLst>
          </p:cNvPr>
          <p:cNvSpPr>
            <a:spLocks xmlns:a="http://schemas.openxmlformats.org/drawingml/2006/main" noGrp="1"/>
          </p:cNvSpPr>
          <p:nvPr/>
        </p:nvSpPr>
        <p:spPr>
          <a:xfrm xmlns:a="http://schemas.openxmlformats.org/drawingml/2006/main">
            <a:off x="2885225" y="4050591"/>
            <a:ext cx="784027" cy="709357"/>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8" name="Editable scientific diagram">
            <a:extLst xmlns:a="http://schemas.openxmlformats.org/drawingml/2006/main">
              <a:ext uri="{FF2B5EF4-FFF2-40B4-BE49-F238E27FC236}">
                <a16:creationId xmlns:a16="http://schemas.microsoft.com/office/drawing/2014/main" id="{CF97760B-B004-4BB7-ABF4-072B1269CE44}"/>
              </a:ext>
            </a:extLst>
          </p:cNvPr>
          <p:cNvSpPr>
            <a:spLocks xmlns:a="http://schemas.openxmlformats.org/drawingml/2006/main" noGrp="1"/>
          </p:cNvSpPr>
          <p:nvPr/>
        </p:nvSpPr>
        <p:spPr>
          <a:xfrm xmlns:a="http://schemas.openxmlformats.org/drawingml/2006/main">
            <a:off x="4527947" y="4050591"/>
            <a:ext cx="784027" cy="709357"/>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19" name="Editable scientific diagram">
            <a:extLst xmlns:a="http://schemas.openxmlformats.org/drawingml/2006/main">
              <a:ext uri="{FF2B5EF4-FFF2-40B4-BE49-F238E27FC236}">
                <a16:creationId xmlns:a16="http://schemas.microsoft.com/office/drawing/2014/main" id="{44E42882-967C-44B0-AB72-917410E6B88B}"/>
              </a:ext>
            </a:extLst>
          </p:cNvPr>
          <p:cNvSpPr>
            <a:spLocks xmlns:a="http://schemas.openxmlformats.org/drawingml/2006/main" noGrp="1"/>
          </p:cNvSpPr>
          <p:nvPr/>
        </p:nvSpPr>
        <p:spPr>
          <a:xfrm xmlns:a="http://schemas.openxmlformats.org/drawingml/2006/main">
            <a:off x="6618684" y="2855884"/>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0" name="Editable scientific diagram">
            <a:extLst xmlns:a="http://schemas.openxmlformats.org/drawingml/2006/main">
              <a:ext uri="{FF2B5EF4-FFF2-40B4-BE49-F238E27FC236}">
                <a16:creationId xmlns:a16="http://schemas.microsoft.com/office/drawing/2014/main" id="{448FA9E4-CBC7-4D40-9579-0EF161A46303}"/>
              </a:ext>
            </a:extLst>
          </p:cNvPr>
          <p:cNvSpPr>
            <a:spLocks xmlns:a="http://schemas.openxmlformats.org/drawingml/2006/main" noGrp="1"/>
          </p:cNvSpPr>
          <p:nvPr/>
        </p:nvSpPr>
        <p:spPr>
          <a:xfrm xmlns:a="http://schemas.openxmlformats.org/drawingml/2006/main">
            <a:off x="7201104" y="2855884"/>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1" name="Editable scientific diagram">
            <a:extLst xmlns:a="http://schemas.openxmlformats.org/drawingml/2006/main">
              <a:ext uri="{FF2B5EF4-FFF2-40B4-BE49-F238E27FC236}">
                <a16:creationId xmlns:a16="http://schemas.microsoft.com/office/drawing/2014/main" id="{EC4D83D5-617D-4B68-A09B-FE44FB2EC697}"/>
              </a:ext>
            </a:extLst>
          </p:cNvPr>
          <p:cNvSpPr>
            <a:spLocks xmlns:a="http://schemas.openxmlformats.org/drawingml/2006/main" noGrp="1"/>
          </p:cNvSpPr>
          <p:nvPr/>
        </p:nvSpPr>
        <p:spPr>
          <a:xfrm xmlns:a="http://schemas.openxmlformats.org/drawingml/2006/main">
            <a:off x="7798458" y="2855884"/>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2" name="Editable scientific diagram">
            <a:extLst xmlns:a="http://schemas.openxmlformats.org/drawingml/2006/main">
              <a:ext uri="{FF2B5EF4-FFF2-40B4-BE49-F238E27FC236}">
                <a16:creationId xmlns:a16="http://schemas.microsoft.com/office/drawing/2014/main" id="{6A45422F-2118-43CA-B38E-B8BB8B371BB1}"/>
              </a:ext>
            </a:extLst>
          </p:cNvPr>
          <p:cNvSpPr>
            <a:spLocks xmlns:a="http://schemas.openxmlformats.org/drawingml/2006/main" noGrp="1"/>
          </p:cNvSpPr>
          <p:nvPr/>
        </p:nvSpPr>
        <p:spPr>
          <a:xfrm xmlns:a="http://schemas.openxmlformats.org/drawingml/2006/main">
            <a:off x="8410745" y="2855884"/>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3" name="Editable scientific diagram">
            <a:extLst xmlns:a="http://schemas.openxmlformats.org/drawingml/2006/main">
              <a:ext uri="{FF2B5EF4-FFF2-40B4-BE49-F238E27FC236}">
                <a16:creationId xmlns:a16="http://schemas.microsoft.com/office/drawing/2014/main" id="{000A6414-9E15-4F73-A753-259F39399AD8}"/>
              </a:ext>
            </a:extLst>
          </p:cNvPr>
          <p:cNvSpPr>
            <a:spLocks xmlns:a="http://schemas.openxmlformats.org/drawingml/2006/main" noGrp="1"/>
          </p:cNvSpPr>
          <p:nvPr/>
        </p:nvSpPr>
        <p:spPr>
          <a:xfrm xmlns:a="http://schemas.openxmlformats.org/drawingml/2006/main">
            <a:off x="6618684" y="3527907"/>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4" name="Editable scientific diagram">
            <a:extLst xmlns:a="http://schemas.openxmlformats.org/drawingml/2006/main">
              <a:ext uri="{FF2B5EF4-FFF2-40B4-BE49-F238E27FC236}">
                <a16:creationId xmlns:a16="http://schemas.microsoft.com/office/drawing/2014/main" id="{F7BEDE85-40F4-4BC2-817F-AE5ABEF89EC6}"/>
              </a:ext>
            </a:extLst>
          </p:cNvPr>
          <p:cNvSpPr>
            <a:spLocks xmlns:a="http://schemas.openxmlformats.org/drawingml/2006/main" noGrp="1"/>
          </p:cNvSpPr>
          <p:nvPr/>
        </p:nvSpPr>
        <p:spPr>
          <a:xfrm xmlns:a="http://schemas.openxmlformats.org/drawingml/2006/main">
            <a:off x="7201104" y="3527907"/>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5" name="Editable scientific diagram">
            <a:extLst xmlns:a="http://schemas.openxmlformats.org/drawingml/2006/main">
              <a:ext uri="{FF2B5EF4-FFF2-40B4-BE49-F238E27FC236}">
                <a16:creationId xmlns:a16="http://schemas.microsoft.com/office/drawing/2014/main" id="{39D24AE0-7CF6-4C14-AEBE-330A26D24089}"/>
              </a:ext>
            </a:extLst>
          </p:cNvPr>
          <p:cNvSpPr>
            <a:spLocks xmlns:a="http://schemas.openxmlformats.org/drawingml/2006/main" noGrp="1"/>
          </p:cNvSpPr>
          <p:nvPr/>
        </p:nvSpPr>
        <p:spPr>
          <a:xfrm xmlns:a="http://schemas.openxmlformats.org/drawingml/2006/main">
            <a:off x="7798458" y="3527907"/>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6" name="Editable scientific diagram">
            <a:extLst xmlns:a="http://schemas.openxmlformats.org/drawingml/2006/main">
              <a:ext uri="{FF2B5EF4-FFF2-40B4-BE49-F238E27FC236}">
                <a16:creationId xmlns:a16="http://schemas.microsoft.com/office/drawing/2014/main" id="{8784EC0E-C7A7-4C55-9702-D10DDD8B3BF8}"/>
              </a:ext>
            </a:extLst>
          </p:cNvPr>
          <p:cNvSpPr>
            <a:spLocks xmlns:a="http://schemas.openxmlformats.org/drawingml/2006/main" noGrp="1"/>
          </p:cNvSpPr>
          <p:nvPr/>
        </p:nvSpPr>
        <p:spPr>
          <a:xfrm xmlns:a="http://schemas.openxmlformats.org/drawingml/2006/main">
            <a:off x="8410745" y="3527907"/>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7" name="Editable scientific diagram">
            <a:extLst xmlns:a="http://schemas.openxmlformats.org/drawingml/2006/main">
              <a:ext uri="{FF2B5EF4-FFF2-40B4-BE49-F238E27FC236}">
                <a16:creationId xmlns:a16="http://schemas.microsoft.com/office/drawing/2014/main" id="{19C67E4B-3110-40FF-9B45-63B7117BA130}"/>
              </a:ext>
            </a:extLst>
          </p:cNvPr>
          <p:cNvSpPr>
            <a:spLocks xmlns:a="http://schemas.openxmlformats.org/drawingml/2006/main" noGrp="1"/>
          </p:cNvSpPr>
          <p:nvPr/>
        </p:nvSpPr>
        <p:spPr>
          <a:xfrm xmlns:a="http://schemas.openxmlformats.org/drawingml/2006/main">
            <a:off x="6618684" y="4274599"/>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8" name="Editable scientific diagram">
            <a:extLst xmlns:a="http://schemas.openxmlformats.org/drawingml/2006/main">
              <a:ext uri="{FF2B5EF4-FFF2-40B4-BE49-F238E27FC236}">
                <a16:creationId xmlns:a16="http://schemas.microsoft.com/office/drawing/2014/main" id="{92126546-F2CD-4BCF-9093-4AC680822378}"/>
              </a:ext>
            </a:extLst>
          </p:cNvPr>
          <p:cNvSpPr>
            <a:spLocks xmlns:a="http://schemas.openxmlformats.org/drawingml/2006/main" noGrp="1"/>
          </p:cNvSpPr>
          <p:nvPr/>
        </p:nvSpPr>
        <p:spPr>
          <a:xfrm xmlns:a="http://schemas.openxmlformats.org/drawingml/2006/main">
            <a:off x="7201104" y="4274599"/>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29" name="Editable scientific diagram">
            <a:extLst xmlns:a="http://schemas.openxmlformats.org/drawingml/2006/main">
              <a:ext uri="{FF2B5EF4-FFF2-40B4-BE49-F238E27FC236}">
                <a16:creationId xmlns:a16="http://schemas.microsoft.com/office/drawing/2014/main" id="{B6AA4210-5C15-49D3-B810-720D235AD859}"/>
              </a:ext>
            </a:extLst>
          </p:cNvPr>
          <p:cNvSpPr>
            <a:spLocks xmlns:a="http://schemas.openxmlformats.org/drawingml/2006/main" noGrp="1"/>
          </p:cNvSpPr>
          <p:nvPr/>
        </p:nvSpPr>
        <p:spPr>
          <a:xfrm xmlns:a="http://schemas.openxmlformats.org/drawingml/2006/main">
            <a:off x="7798458" y="4274599"/>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30" name="Editable scientific diagram">
            <a:extLst xmlns:a="http://schemas.openxmlformats.org/drawingml/2006/main">
              <a:ext uri="{FF2B5EF4-FFF2-40B4-BE49-F238E27FC236}">
                <a16:creationId xmlns:a16="http://schemas.microsoft.com/office/drawing/2014/main" id="{F98E91A7-780F-4D23-9ABC-52B1AA96C9E3}"/>
              </a:ext>
            </a:extLst>
          </p:cNvPr>
          <p:cNvSpPr>
            <a:spLocks xmlns:a="http://schemas.openxmlformats.org/drawingml/2006/main" noGrp="1"/>
          </p:cNvSpPr>
          <p:nvPr/>
        </p:nvSpPr>
        <p:spPr>
          <a:xfrm xmlns:a="http://schemas.openxmlformats.org/drawingml/2006/main">
            <a:off x="8410745" y="4274599"/>
            <a:ext cx="485350" cy="448015"/>
          </a:xfrm>
          <a:prstGeom xmlns:a="http://schemas.openxmlformats.org/drawingml/2006/main" prst="ellipse">
            <a:avLst/>
          </a:prstGeom>
          <a:solidFill xmlns:a="http://schemas.openxmlformats.org/drawingml/2006/main">
            <a:srgbClr val="B89B78"/>
          </a:solidFill>
          <a:ln xmlns:a="http://schemas.openxmlformats.org/drawingml/2006/main" w="14934">
            <a:solidFill>
              <a:srgbClr val="1F2937"/>
            </a:solidFill>
          </a:ln>
        </p:spPr>
      </p:sp>
      <p:sp>
        <p:nvSpPr>
          <p:cNvPr id="31" name="Diagram line">
            <a:extLst xmlns:a="http://schemas.openxmlformats.org/drawingml/2006/main">
              <a:ext uri="{FF2B5EF4-FFF2-40B4-BE49-F238E27FC236}">
                <a16:creationId xmlns:a16="http://schemas.microsoft.com/office/drawing/2014/main" id="{5148D4B3-D1AB-42C0-91F1-EBB9E1D127FD}"/>
              </a:ext>
            </a:extLst>
          </p:cNvPr>
          <p:cNvSpPr>
            <a:spLocks xmlns:a="http://schemas.openxmlformats.org/drawingml/2006/main" noGrp="1"/>
          </p:cNvSpPr>
          <p:nvPr/>
        </p:nvSpPr>
        <p:spPr>
          <a:xfrm xmlns:a="http://schemas.openxmlformats.org/drawingml/2006/main" flipH="0" flipV="0">
            <a:off x="4117266" y="2855884"/>
            <a:ext cx="953" cy="1975000"/>
          </a:xfrm>
          <a:prstGeom xmlns:a="http://schemas.openxmlformats.org/drawingml/2006/main" prst="line">
            <a:avLst/>
          </a:prstGeom>
          <a:noFill xmlns:a="http://schemas.openxmlformats.org/drawingml/2006/main"/>
          <a:ln xmlns:a="http://schemas.openxmlformats.org/drawingml/2006/main" w="29868">
            <a:solidFill>
              <a:srgbClr val="4E7A9B"/>
            </a:solidFill>
          </a:ln>
        </p:spPr>
      </p:sp>
      <p:sp>
        <p:nvSpPr>
          <p:cNvPr id="32" name="Diagram arrowhead">
            <a:extLst xmlns:a="http://schemas.openxmlformats.org/drawingml/2006/main">
              <a:ext uri="{FF2B5EF4-FFF2-40B4-BE49-F238E27FC236}">
                <a16:creationId xmlns:a16="http://schemas.microsoft.com/office/drawing/2014/main" id="{FC462D2F-FEBE-419F-BC12-3D7FAF6CAC9A}"/>
              </a:ext>
            </a:extLst>
          </p:cNvPr>
          <p:cNvSpPr>
            <a:spLocks xmlns:a="http://schemas.openxmlformats.org/drawingml/2006/main" noGrp="1"/>
          </p:cNvSpPr>
          <p:nvPr/>
        </p:nvSpPr>
        <p:spPr>
          <a:xfrm xmlns:a="http://schemas.openxmlformats.org/drawingml/2006/main" rot="10800000">
            <a:off x="4064998" y="4804750"/>
            <a:ext cx="104537" cy="104537"/>
          </a:xfrm>
          <a:prstGeom xmlns:a="http://schemas.openxmlformats.org/drawingml/2006/main" prst="triangle">
            <a:avLst/>
          </a:prstGeom>
          <a:solidFill xmlns:a="http://schemas.openxmlformats.org/drawingml/2006/main">
            <a:srgbClr val="4E7A9B"/>
          </a:solidFill>
          <a:ln xmlns:a="http://schemas.openxmlformats.org/drawingml/2006/main" w="0">
            <a:noFill/>
          </a:ln>
        </p:spPr>
      </p:sp>
      <p:sp>
        <p:nvSpPr>
          <p:cNvPr id="33" name="Diagram line">
            <a:extLst xmlns:a="http://schemas.openxmlformats.org/drawingml/2006/main">
              <a:ext uri="{FF2B5EF4-FFF2-40B4-BE49-F238E27FC236}">
                <a16:creationId xmlns:a16="http://schemas.microsoft.com/office/drawing/2014/main" id="{757E1AAE-DAA1-4726-9BEF-C18C84D58275}"/>
              </a:ext>
            </a:extLst>
          </p:cNvPr>
          <p:cNvSpPr>
            <a:spLocks xmlns:a="http://schemas.openxmlformats.org/drawingml/2006/main" noGrp="1"/>
          </p:cNvSpPr>
          <p:nvPr/>
        </p:nvSpPr>
        <p:spPr>
          <a:xfrm xmlns:a="http://schemas.openxmlformats.org/drawingml/2006/main" flipH="0" flipV="0">
            <a:off x="7731255" y="2870818"/>
            <a:ext cx="953" cy="1945133"/>
          </a:xfrm>
          <a:prstGeom xmlns:a="http://schemas.openxmlformats.org/drawingml/2006/main" prst="line">
            <a:avLst/>
          </a:prstGeom>
          <a:noFill xmlns:a="http://schemas.openxmlformats.org/drawingml/2006/main"/>
          <a:ln xmlns:a="http://schemas.openxmlformats.org/drawingml/2006/main" w="29868">
            <a:solidFill>
              <a:srgbClr val="4E7A9B"/>
            </a:solidFill>
          </a:ln>
        </p:spPr>
      </p:sp>
      <p:sp>
        <p:nvSpPr>
          <p:cNvPr id="34" name="Diagram arrowhead">
            <a:extLst xmlns:a="http://schemas.openxmlformats.org/drawingml/2006/main">
              <a:ext uri="{FF2B5EF4-FFF2-40B4-BE49-F238E27FC236}">
                <a16:creationId xmlns:a16="http://schemas.microsoft.com/office/drawing/2014/main" id="{C296968E-33BD-4BBA-928E-61F17FB89D41}"/>
              </a:ext>
            </a:extLst>
          </p:cNvPr>
          <p:cNvSpPr>
            <a:spLocks xmlns:a="http://schemas.openxmlformats.org/drawingml/2006/main" noGrp="1"/>
          </p:cNvSpPr>
          <p:nvPr/>
        </p:nvSpPr>
        <p:spPr>
          <a:xfrm xmlns:a="http://schemas.openxmlformats.org/drawingml/2006/main" rot="10800000">
            <a:off x="7678987" y="4789816"/>
            <a:ext cx="104537" cy="104537"/>
          </a:xfrm>
          <a:prstGeom xmlns:a="http://schemas.openxmlformats.org/drawingml/2006/main" prst="triangle">
            <a:avLst/>
          </a:prstGeom>
          <a:solidFill xmlns:a="http://schemas.openxmlformats.org/drawingml/2006/main">
            <a:srgbClr val="4E7A9B"/>
          </a:solidFill>
          <a:ln xmlns:a="http://schemas.openxmlformats.org/drawingml/2006/main" w="0">
            <a:noFill/>
          </a:ln>
        </p:spPr>
      </p:sp>
      <p:sp>
        <p:nvSpPr>
          <p:cNvPr id="35" name="Diagram label: A model of pathways, not a rule for every soil.">
            <a:extLst xmlns:a="http://schemas.openxmlformats.org/drawingml/2006/main">
              <a:ext uri="{FF2B5EF4-FFF2-40B4-BE49-F238E27FC236}">
                <a16:creationId xmlns:a16="http://schemas.microsoft.com/office/drawing/2014/main" id="{5751571B-3209-415C-97A7-3AA121B60932}"/>
              </a:ext>
            </a:extLst>
          </p:cNvPr>
          <p:cNvSpPr>
            <a:spLocks xmlns:a="http://schemas.openxmlformats.org/drawingml/2006/main" noGrp="1"/>
          </p:cNvSpPr>
          <p:nvPr/>
        </p:nvSpPr>
        <p:spPr>
          <a:xfrm xmlns:a="http://schemas.openxmlformats.org/drawingml/2006/main">
            <a:off x="2773221" y="5327435"/>
            <a:ext cx="6645558"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646" b="1">
                <a:solidFill>
                  <a:srgbClr val="1F2937"/>
                </a:solidFill>
                <a:latin typeface="Nimbus Sans"/>
                <a:ea typeface="Nimbus Sans"/>
                <a:cs typeface="Nimbus Sans"/>
              </a:defRPr>
            </a:pPr>
            <a:r>
              <a:rPr sz="1646" b="1">
                <a:solidFill>
                  <a:srgbClr val="1F2937"/>
                </a:solidFill>
                <a:latin typeface="Nimbus Sans"/>
                <a:ea typeface="Nimbus Sans"/>
                <a:cs typeface="Nimbus Sans"/>
              </a:rPr>
              <a:t>A model of pathways, not a rule for every soil.</a:t>
            </a:r>
          </a:p>
        </p:txBody>
      </p:sp>
      <p:sp>
        <p:nvSpPr>
          <p:cNvPr id="36" name="Water moves through connected pores.  Pore size and connections ">
            <a:extLst xmlns:a="http://schemas.openxmlformats.org/drawingml/2006/main">
              <a:ext uri="{FF2B5EF4-FFF2-40B4-BE49-F238E27FC236}">
                <a16:creationId xmlns:a16="http://schemas.microsoft.com/office/drawing/2014/main" id="{2F8E1123-4144-4E76-92EE-7E8FC1EEC11C}"/>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Water moves through connected pores. Pore size and connections matter. Real soil is more complex.</a:t>
            </a:r>
          </a:p>
        </p:txBody>
      </p:sp>
    </p:spTree>
    <p:extLst>
      <p:ext uri="{BB962C8B-B14F-4D97-AF65-F5344CB8AC3E}">
        <p14:creationId xmlns:p14="http://schemas.microsoft.com/office/powerpoint/2010/main" val="9508937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surface">
            <a:extLst xmlns:a="http://schemas.openxmlformats.org/drawingml/2006/main">
              <a:ext uri="{FF2B5EF4-FFF2-40B4-BE49-F238E27FC236}">
                <a16:creationId xmlns:a16="http://schemas.microsoft.com/office/drawing/2014/main" id="{1EC60D70-98A6-427B-B138-D82EC96A4C4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65CB7AC-5B74-404A-9536-8C0E106EDAE6}"/>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EDC89CF-E976-4700-B7EA-0CB797371AB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9080E29F-1986-4EE9-8BD1-08DC52618098}"/>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56EE762A-8593-42D9-8B71-AD8884E1C2F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2 min">
            <a:extLst xmlns:a="http://schemas.openxmlformats.org/drawingml/2006/main">
              <a:ext uri="{FF2B5EF4-FFF2-40B4-BE49-F238E27FC236}">
                <a16:creationId xmlns:a16="http://schemas.microsoft.com/office/drawing/2014/main" id="{E6F23653-E850-4281-B7AB-8F0E3431824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Give each soil the same test">
            <a:extLst xmlns:a="http://schemas.openxmlformats.org/drawingml/2006/main">
              <a:ext uri="{FF2B5EF4-FFF2-40B4-BE49-F238E27FC236}">
                <a16:creationId xmlns:a16="http://schemas.microsoft.com/office/drawing/2014/main" id="{2CB1406A-268C-4810-94C3-0DEFE25A36E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Give each soil the same test</a:t>
            </a:r>
          </a:p>
        </p:txBody>
      </p:sp>
      <p:sp>
        <p:nvSpPr>
          <p:cNvPr id="8" name="surface">
            <a:extLst xmlns:a="http://schemas.openxmlformats.org/drawingml/2006/main">
              <a:ext uri="{FF2B5EF4-FFF2-40B4-BE49-F238E27FC236}">
                <a16:creationId xmlns:a16="http://schemas.microsoft.com/office/drawing/2014/main" id="{42BF767C-613C-4B1D-B4AF-538EB02FB7D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62632A98-391A-4ECF-A5BE-E752C2F2D9DF}"/>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4 / 14">
            <a:extLst xmlns:a="http://schemas.openxmlformats.org/drawingml/2006/main">
              <a:ext uri="{FF2B5EF4-FFF2-40B4-BE49-F238E27FC236}">
                <a16:creationId xmlns:a16="http://schemas.microsoft.com/office/drawing/2014/main" id="{1D67F70B-504D-44D2-8FDB-121819818FF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4 / 14</a:t>
            </a:r>
          </a:p>
        </p:txBody>
      </p:sp>
      <p:sp>
        <p:nvSpPr>
          <p:cNvPr id="11" name="Editable scientific diagram">
            <a:extLst xmlns:a="http://schemas.openxmlformats.org/drawingml/2006/main">
              <a:ext uri="{FF2B5EF4-FFF2-40B4-BE49-F238E27FC236}">
                <a16:creationId xmlns:a16="http://schemas.microsoft.com/office/drawing/2014/main" id="{64513E0C-EBF1-4928-B873-DC0B5816DACF}"/>
              </a:ext>
            </a:extLst>
          </p:cNvPr>
          <p:cNvSpPr>
            <a:spLocks xmlns:a="http://schemas.openxmlformats.org/drawingml/2006/main" noGrp="1"/>
          </p:cNvSpPr>
          <p:nvPr/>
        </p:nvSpPr>
        <p:spPr>
          <a:xfrm xmlns:a="http://schemas.openxmlformats.org/drawingml/2006/main">
            <a:off x="2922559" y="3266565"/>
            <a:ext cx="2314745" cy="1456049"/>
          </a:xfrm>
          <a:prstGeom xmlns:a="http://schemas.openxmlformats.org/drawingml/2006/main" prst="rect">
            <a:avLst/>
          </a:prstGeom>
          <a:solidFill xmlns:a="http://schemas.openxmlformats.org/drawingml/2006/main">
            <a:srgbClr val="D4B893"/>
          </a:solidFill>
          <a:ln xmlns:a="http://schemas.openxmlformats.org/drawingml/2006/main" w="14934">
            <a:solidFill>
              <a:srgbClr val="1F2937"/>
            </a:solidFill>
          </a:ln>
        </p:spPr>
      </p:sp>
      <p:sp>
        <p:nvSpPr>
          <p:cNvPr id="12" name="Editable scientific diagram">
            <a:extLst xmlns:a="http://schemas.openxmlformats.org/drawingml/2006/main">
              <a:ext uri="{FF2B5EF4-FFF2-40B4-BE49-F238E27FC236}">
                <a16:creationId xmlns:a16="http://schemas.microsoft.com/office/drawing/2014/main" id="{9F1E970C-F15C-4463-8C76-AD88DFDB2A03}"/>
              </a:ext>
            </a:extLst>
          </p:cNvPr>
          <p:cNvSpPr>
            <a:spLocks xmlns:a="http://schemas.openxmlformats.org/drawingml/2006/main" noGrp="1"/>
          </p:cNvSpPr>
          <p:nvPr/>
        </p:nvSpPr>
        <p:spPr>
          <a:xfrm xmlns:a="http://schemas.openxmlformats.org/drawingml/2006/main">
            <a:off x="2922559" y="3042557"/>
            <a:ext cx="2314745" cy="1680057"/>
          </a:xfrm>
          <a:prstGeom xmlns:a="http://schemas.openxmlformats.org/drawingml/2006/main" prst="rect">
            <a:avLst/>
          </a:prstGeom>
          <a:noFill xmlns:a="http://schemas.openxmlformats.org/drawingml/2006/main"/>
          <a:ln xmlns:a="http://schemas.openxmlformats.org/drawingml/2006/main" w="14934">
            <a:solidFill>
              <a:srgbClr val="1F2937"/>
            </a:solidFill>
          </a:ln>
        </p:spPr>
      </p:sp>
      <p:sp>
        <p:nvSpPr>
          <p:cNvPr id="13" name="Diagram line">
            <a:extLst xmlns:a="http://schemas.openxmlformats.org/drawingml/2006/main">
              <a:ext uri="{FF2B5EF4-FFF2-40B4-BE49-F238E27FC236}">
                <a16:creationId xmlns:a16="http://schemas.microsoft.com/office/drawing/2014/main" id="{1D96C3A1-3445-4B13-832C-7301DA1E3F00}"/>
              </a:ext>
            </a:extLst>
          </p:cNvPr>
          <p:cNvSpPr>
            <a:spLocks xmlns:a="http://schemas.openxmlformats.org/drawingml/2006/main" noGrp="1"/>
          </p:cNvSpPr>
          <p:nvPr/>
        </p:nvSpPr>
        <p:spPr>
          <a:xfrm xmlns:a="http://schemas.openxmlformats.org/drawingml/2006/main" flipH="0" flipV="0">
            <a:off x="2922559" y="4745015"/>
            <a:ext cx="2314745"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4" name="Diagram label: Identical pot + filter">
            <a:extLst xmlns:a="http://schemas.openxmlformats.org/drawingml/2006/main">
              <a:ext uri="{FF2B5EF4-FFF2-40B4-BE49-F238E27FC236}">
                <a16:creationId xmlns:a16="http://schemas.microsoft.com/office/drawing/2014/main" id="{BB6C7324-E753-4736-8E56-84E8E20E94CB}"/>
              </a:ext>
            </a:extLst>
          </p:cNvPr>
          <p:cNvSpPr>
            <a:spLocks xmlns:a="http://schemas.openxmlformats.org/drawingml/2006/main" noGrp="1"/>
          </p:cNvSpPr>
          <p:nvPr/>
        </p:nvSpPr>
        <p:spPr>
          <a:xfrm xmlns:a="http://schemas.openxmlformats.org/drawingml/2006/main">
            <a:off x="2847890" y="4983956"/>
            <a:ext cx="2613422" cy="4480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Identical pot + filter</a:t>
            </a:r>
          </a:p>
        </p:txBody>
      </p:sp>
      <p:sp>
        <p:nvSpPr>
          <p:cNvPr id="15" name="Diagram line">
            <a:extLst xmlns:a="http://schemas.openxmlformats.org/drawingml/2006/main">
              <a:ext uri="{FF2B5EF4-FFF2-40B4-BE49-F238E27FC236}">
                <a16:creationId xmlns:a16="http://schemas.microsoft.com/office/drawing/2014/main" id="{E6DBE32C-8E0B-43EE-B43F-C8AB26881EB7}"/>
              </a:ext>
            </a:extLst>
          </p:cNvPr>
          <p:cNvSpPr>
            <a:spLocks xmlns:a="http://schemas.openxmlformats.org/drawingml/2006/main" noGrp="1"/>
          </p:cNvSpPr>
          <p:nvPr/>
        </p:nvSpPr>
        <p:spPr>
          <a:xfrm xmlns:a="http://schemas.openxmlformats.org/drawingml/2006/main" flipH="0" flipV="0">
            <a:off x="3818590" y="2333200"/>
            <a:ext cx="953" cy="518951"/>
          </a:xfrm>
          <a:prstGeom xmlns:a="http://schemas.openxmlformats.org/drawingml/2006/main" prst="line">
            <a:avLst/>
          </a:prstGeom>
          <a:noFill xmlns:a="http://schemas.openxmlformats.org/drawingml/2006/main"/>
          <a:ln xmlns:a="http://schemas.openxmlformats.org/drawingml/2006/main" w="29868">
            <a:solidFill>
              <a:srgbClr val="4E7A9B"/>
            </a:solidFill>
          </a:ln>
        </p:spPr>
      </p:sp>
      <p:sp>
        <p:nvSpPr>
          <p:cNvPr id="16" name="Diagram arrowhead">
            <a:extLst xmlns:a="http://schemas.openxmlformats.org/drawingml/2006/main">
              <a:ext uri="{FF2B5EF4-FFF2-40B4-BE49-F238E27FC236}">
                <a16:creationId xmlns:a16="http://schemas.microsoft.com/office/drawing/2014/main" id="{A4DE1886-6126-49E6-B17F-44FF63251E87}"/>
              </a:ext>
            </a:extLst>
          </p:cNvPr>
          <p:cNvSpPr>
            <a:spLocks xmlns:a="http://schemas.openxmlformats.org/drawingml/2006/main" noGrp="1"/>
          </p:cNvSpPr>
          <p:nvPr/>
        </p:nvSpPr>
        <p:spPr>
          <a:xfrm xmlns:a="http://schemas.openxmlformats.org/drawingml/2006/main" rot="10800000">
            <a:off x="3766321" y="2826016"/>
            <a:ext cx="104537" cy="104537"/>
          </a:xfrm>
          <a:prstGeom xmlns:a="http://schemas.openxmlformats.org/drawingml/2006/main" prst="triangle">
            <a:avLst/>
          </a:prstGeom>
          <a:solidFill xmlns:a="http://schemas.openxmlformats.org/drawingml/2006/main">
            <a:srgbClr val="4E7A9B"/>
          </a:solidFill>
          <a:ln xmlns:a="http://schemas.openxmlformats.org/drawingml/2006/main" w="0">
            <a:noFill/>
          </a:ln>
        </p:spPr>
      </p:sp>
      <p:sp>
        <p:nvSpPr>
          <p:cNvPr id="17" name="Diagram label: 60 mL added&#10;over 10 seconds">
            <a:extLst xmlns:a="http://schemas.openxmlformats.org/drawingml/2006/main">
              <a:ext uri="{FF2B5EF4-FFF2-40B4-BE49-F238E27FC236}">
                <a16:creationId xmlns:a16="http://schemas.microsoft.com/office/drawing/2014/main" id="{D4254471-00A1-4973-B1BF-E6C8F68EBA4B}"/>
              </a:ext>
            </a:extLst>
          </p:cNvPr>
          <p:cNvSpPr>
            <a:spLocks xmlns:a="http://schemas.openxmlformats.org/drawingml/2006/main" noGrp="1"/>
          </p:cNvSpPr>
          <p:nvPr/>
        </p:nvSpPr>
        <p:spPr>
          <a:xfrm xmlns:a="http://schemas.openxmlformats.org/drawingml/2006/main">
            <a:off x="4229270" y="2258531"/>
            <a:ext cx="2128072" cy="59735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60 mL added</a:t>
            </a:r>
          </a:p>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over 10 seconds</a:t>
            </a:r>
          </a:p>
        </p:txBody>
      </p:sp>
      <p:sp>
        <p:nvSpPr>
          <p:cNvPr id="18" name="Editable scientific diagram">
            <a:extLst xmlns:a="http://schemas.openxmlformats.org/drawingml/2006/main">
              <a:ext uri="{FF2B5EF4-FFF2-40B4-BE49-F238E27FC236}">
                <a16:creationId xmlns:a16="http://schemas.microsoft.com/office/drawing/2014/main" id="{F22C4D1C-2A70-48CB-8697-0C945CA8606A}"/>
              </a:ext>
            </a:extLst>
          </p:cNvPr>
          <p:cNvSpPr>
            <a:spLocks xmlns:a="http://schemas.openxmlformats.org/drawingml/2006/main" noGrp="1"/>
          </p:cNvSpPr>
          <p:nvPr/>
        </p:nvSpPr>
        <p:spPr>
          <a:xfrm xmlns:a="http://schemas.openxmlformats.org/drawingml/2006/main">
            <a:off x="6058665" y="4013257"/>
            <a:ext cx="1568053" cy="1456049"/>
          </a:xfrm>
          <a:prstGeom xmlns:a="http://schemas.openxmlformats.org/drawingml/2006/main" prst="rect">
            <a:avLst/>
          </a:prstGeom>
          <a:solidFill xmlns:a="http://schemas.openxmlformats.org/drawingml/2006/main">
            <a:srgbClr val="FFFFFF"/>
          </a:solidFill>
          <a:ln xmlns:a="http://schemas.openxmlformats.org/drawingml/2006/main" w="14934">
            <a:solidFill>
              <a:srgbClr val="1F2937"/>
            </a:solidFill>
          </a:ln>
        </p:spPr>
      </p:sp>
      <p:sp>
        <p:nvSpPr>
          <p:cNvPr id="19" name="Editable scientific diagram">
            <a:extLst xmlns:a="http://schemas.openxmlformats.org/drawingml/2006/main">
              <a:ext uri="{FF2B5EF4-FFF2-40B4-BE49-F238E27FC236}">
                <a16:creationId xmlns:a16="http://schemas.microsoft.com/office/drawing/2014/main" id="{CE54978F-F4AA-4455-8036-3715679E687C}"/>
              </a:ext>
            </a:extLst>
          </p:cNvPr>
          <p:cNvSpPr>
            <a:spLocks xmlns:a="http://schemas.openxmlformats.org/drawingml/2006/main" noGrp="1"/>
          </p:cNvSpPr>
          <p:nvPr/>
        </p:nvSpPr>
        <p:spPr>
          <a:xfrm xmlns:a="http://schemas.openxmlformats.org/drawingml/2006/main">
            <a:off x="6081066" y="4909287"/>
            <a:ext cx="1523252" cy="537618"/>
          </a:xfrm>
          <a:prstGeom xmlns:a="http://schemas.openxmlformats.org/drawingml/2006/main" prst="rect">
            <a:avLst/>
          </a:prstGeom>
          <a:solidFill xmlns:a="http://schemas.openxmlformats.org/drawingml/2006/main">
            <a:srgbClr val="D7ECF7"/>
          </a:solidFill>
          <a:ln xmlns:a="http://schemas.openxmlformats.org/drawingml/2006/main" w="14934">
            <a:solidFill>
              <a:srgbClr val="4E7A9B"/>
            </a:solidFill>
          </a:ln>
        </p:spPr>
      </p:sp>
      <p:sp>
        <p:nvSpPr>
          <p:cNvPr id="20" name="Diagram label: Read collected&#10;water at the&#10;same time.">
            <a:extLst xmlns:a="http://schemas.openxmlformats.org/drawingml/2006/main">
              <a:ext uri="{FF2B5EF4-FFF2-40B4-BE49-F238E27FC236}">
                <a16:creationId xmlns:a16="http://schemas.microsoft.com/office/drawing/2014/main" id="{EF698011-F98B-4F19-B21B-59C5C1F356FF}"/>
              </a:ext>
            </a:extLst>
          </p:cNvPr>
          <p:cNvSpPr>
            <a:spLocks xmlns:a="http://schemas.openxmlformats.org/drawingml/2006/main" noGrp="1"/>
          </p:cNvSpPr>
          <p:nvPr/>
        </p:nvSpPr>
        <p:spPr>
          <a:xfrm xmlns:a="http://schemas.openxmlformats.org/drawingml/2006/main">
            <a:off x="7925395" y="4155128"/>
            <a:ext cx="1680057" cy="9333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Read collected</a:t>
            </a:r>
          </a:p>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water at the</a:t>
            </a:r>
          </a:p>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same time.</a:t>
            </a:r>
          </a:p>
        </p:txBody>
      </p:sp>
      <p:sp>
        <p:nvSpPr>
          <p:cNvPr id="21" name="Diagram line">
            <a:extLst xmlns:a="http://schemas.openxmlformats.org/drawingml/2006/main">
              <a:ext uri="{FF2B5EF4-FFF2-40B4-BE49-F238E27FC236}">
                <a16:creationId xmlns:a16="http://schemas.microsoft.com/office/drawing/2014/main" id="{CD9416FB-DA10-449D-880C-72D128FAF317}"/>
              </a:ext>
            </a:extLst>
          </p:cNvPr>
          <p:cNvSpPr>
            <a:spLocks xmlns:a="http://schemas.openxmlformats.org/drawingml/2006/main" noGrp="1"/>
          </p:cNvSpPr>
          <p:nvPr/>
        </p:nvSpPr>
        <p:spPr>
          <a:xfrm xmlns:a="http://schemas.openxmlformats.org/drawingml/2006/main" flipH="0" flipV="0">
            <a:off x="5267172" y="4610610"/>
            <a:ext cx="653355" cy="953"/>
          </a:xfrm>
          <a:prstGeom xmlns:a="http://schemas.openxmlformats.org/drawingml/2006/main" prst="line">
            <a:avLst/>
          </a:prstGeom>
          <a:noFill xmlns:a="http://schemas.openxmlformats.org/drawingml/2006/main"/>
          <a:ln xmlns:a="http://schemas.openxmlformats.org/drawingml/2006/main" w="29868">
            <a:solidFill>
              <a:srgbClr val="4E7A9B"/>
            </a:solidFill>
          </a:ln>
        </p:spPr>
      </p:sp>
      <p:sp>
        <p:nvSpPr>
          <p:cNvPr id="22" name="Diagram arrowhead">
            <a:extLst xmlns:a="http://schemas.openxmlformats.org/drawingml/2006/main">
              <a:ext uri="{FF2B5EF4-FFF2-40B4-BE49-F238E27FC236}">
                <a16:creationId xmlns:a16="http://schemas.microsoft.com/office/drawing/2014/main" id="{5AD209AB-92CA-448D-BB61-AF48ABC40350}"/>
              </a:ext>
            </a:extLst>
          </p:cNvPr>
          <p:cNvSpPr>
            <a:spLocks xmlns:a="http://schemas.openxmlformats.org/drawingml/2006/main" noGrp="1"/>
          </p:cNvSpPr>
          <p:nvPr/>
        </p:nvSpPr>
        <p:spPr>
          <a:xfrm xmlns:a="http://schemas.openxmlformats.org/drawingml/2006/main" rot="5400000">
            <a:off x="5894393" y="4558342"/>
            <a:ext cx="104537" cy="104537"/>
          </a:xfrm>
          <a:prstGeom xmlns:a="http://schemas.openxmlformats.org/drawingml/2006/main" prst="triangle">
            <a:avLst/>
          </a:prstGeom>
          <a:solidFill xmlns:a="http://schemas.openxmlformats.org/drawingml/2006/main">
            <a:srgbClr val="4E7A9B"/>
          </a:solidFill>
          <a:ln xmlns:a="http://schemas.openxmlformats.org/drawingml/2006/main" w="0">
            <a:noFill/>
          </a:ln>
        </p:spPr>
      </p:sp>
      <p:sp>
        <p:nvSpPr>
          <p:cNvPr id="23" name="Diagram label: Water&#10;enters">
            <a:extLst xmlns:a="http://schemas.openxmlformats.org/drawingml/2006/main">
              <a:ext uri="{FF2B5EF4-FFF2-40B4-BE49-F238E27FC236}">
                <a16:creationId xmlns:a16="http://schemas.microsoft.com/office/drawing/2014/main" id="{01D5968E-7058-492A-99F2-51F4D5B76815}"/>
              </a:ext>
            </a:extLst>
          </p:cNvPr>
          <p:cNvSpPr>
            <a:spLocks xmlns:a="http://schemas.openxmlformats.org/drawingml/2006/main" noGrp="1"/>
          </p:cNvSpPr>
          <p:nvPr/>
        </p:nvSpPr>
        <p:spPr>
          <a:xfrm xmlns:a="http://schemas.openxmlformats.org/drawingml/2006/main">
            <a:off x="2810555" y="2594542"/>
            <a:ext cx="970700" cy="52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Water</a:t>
            </a:r>
          </a:p>
          <a:p xmlns:a="http://schemas.openxmlformats.org/drawingml/2006/main">
            <a:pPr algn="l">
              <a:lnSpc>
                <a:spcPct val="108000"/>
              </a:lnSpc>
              <a:buNone/>
              <a:defRPr sz="1411" b="0">
                <a:solidFill>
                  <a:srgbClr val="1F2937"/>
                </a:solidFill>
                <a:latin typeface="Nimbus Sans"/>
                <a:ea typeface="Nimbus Sans"/>
                <a:cs typeface="Nimbus Sans"/>
              </a:defRPr>
            </a:pPr>
            <a:r>
              <a:rPr sz="1411" b="0">
                <a:solidFill>
                  <a:srgbClr val="1F2937"/>
                </a:solidFill>
                <a:latin typeface="Nimbus Sans"/>
                <a:ea typeface="Nimbus Sans"/>
                <a:cs typeface="Nimbus Sans"/>
              </a:rPr>
              <a:t>enters</a:t>
            </a:r>
          </a:p>
        </p:txBody>
      </p:sp>
      <p:sp>
        <p:nvSpPr>
          <p:cNvPr id="24" name="Diagram label: 100 cm³ soil&#10;Loose; no tamping">
            <a:extLst xmlns:a="http://schemas.openxmlformats.org/drawingml/2006/main">
              <a:ext uri="{FF2B5EF4-FFF2-40B4-BE49-F238E27FC236}">
                <a16:creationId xmlns:a16="http://schemas.microsoft.com/office/drawing/2014/main" id="{4AF96F11-C8E2-48D4-B604-376D9F4F05DC}"/>
              </a:ext>
            </a:extLst>
          </p:cNvPr>
          <p:cNvSpPr>
            <a:spLocks xmlns:a="http://schemas.openxmlformats.org/drawingml/2006/main" noGrp="1"/>
          </p:cNvSpPr>
          <p:nvPr/>
        </p:nvSpPr>
        <p:spPr>
          <a:xfrm xmlns:a="http://schemas.openxmlformats.org/drawingml/2006/main">
            <a:off x="3109232" y="3602576"/>
            <a:ext cx="1904065" cy="746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100 cm³ soil</a:t>
            </a:r>
          </a:p>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Loose; no tamping</a:t>
            </a:r>
          </a:p>
        </p:txBody>
      </p:sp>
      <p:sp>
        <p:nvSpPr>
          <p:cNvPr id="25" name="Diagram label: Collection container">
            <a:extLst xmlns:a="http://schemas.openxmlformats.org/drawingml/2006/main">
              <a:ext uri="{FF2B5EF4-FFF2-40B4-BE49-F238E27FC236}">
                <a16:creationId xmlns:a16="http://schemas.microsoft.com/office/drawing/2014/main" id="{5490BB20-6861-4FFE-BB4F-5F0DAF94CDCA}"/>
              </a:ext>
            </a:extLst>
          </p:cNvPr>
          <p:cNvSpPr>
            <a:spLocks xmlns:a="http://schemas.openxmlformats.org/drawingml/2006/main" noGrp="1"/>
          </p:cNvSpPr>
          <p:nvPr/>
        </p:nvSpPr>
        <p:spPr>
          <a:xfrm xmlns:a="http://schemas.openxmlformats.org/drawingml/2006/main">
            <a:off x="6021331" y="5543975"/>
            <a:ext cx="2240076" cy="29867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Collection container</a:t>
            </a:r>
          </a:p>
        </p:txBody>
      </p:sp>
      <p:sp>
        <p:nvSpPr>
          <p:cNvPr id="26" name="Diagram label: Diagram shows collection separately&#10;so all parts are visible.">
            <a:extLst xmlns:a="http://schemas.openxmlformats.org/drawingml/2006/main">
              <a:ext uri="{FF2B5EF4-FFF2-40B4-BE49-F238E27FC236}">
                <a16:creationId xmlns:a16="http://schemas.microsoft.com/office/drawing/2014/main" id="{651450F6-65E1-445E-BD1E-B76172720C5F}"/>
              </a:ext>
            </a:extLst>
          </p:cNvPr>
          <p:cNvSpPr>
            <a:spLocks xmlns:a="http://schemas.openxmlformats.org/drawingml/2006/main" noGrp="1"/>
          </p:cNvSpPr>
          <p:nvPr/>
        </p:nvSpPr>
        <p:spPr>
          <a:xfrm xmlns:a="http://schemas.openxmlformats.org/drawingml/2006/main">
            <a:off x="5685319" y="3147094"/>
            <a:ext cx="3696125" cy="5226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Diagram shows collection separately</a:t>
            </a:r>
          </a:p>
          <a:p xmlns:a="http://schemas.openxmlformats.org/drawingml/2006/main">
            <a:pPr algn="l">
              <a:lnSpc>
                <a:spcPct val="108000"/>
              </a:lnSpc>
              <a:buNone/>
              <a:defRPr sz="1470" b="0">
                <a:solidFill>
                  <a:srgbClr val="1F2937"/>
                </a:solidFill>
                <a:latin typeface="Nimbus Sans"/>
                <a:ea typeface="Nimbus Sans"/>
                <a:cs typeface="Nimbus Sans"/>
              </a:defRPr>
            </a:pPr>
            <a:r>
              <a:rPr sz="1470" b="0">
                <a:solidFill>
                  <a:srgbClr val="1F2937"/>
                </a:solidFill>
                <a:latin typeface="Nimbus Sans"/>
                <a:ea typeface="Nimbus Sans"/>
                <a:cs typeface="Nimbus Sans"/>
              </a:rPr>
              <a:t>so all parts are visible.</a:t>
            </a:r>
          </a:p>
        </p:txBody>
      </p:sp>
      <p:sp>
        <p:nvSpPr>
          <p:cNvPr id="27" name="Same soil volume: 100 cm³.  Same water: 60 mL.  Read at exactly ">
            <a:extLst xmlns:a="http://schemas.openxmlformats.org/drawingml/2006/main">
              <a:ext uri="{FF2B5EF4-FFF2-40B4-BE49-F238E27FC236}">
                <a16:creationId xmlns:a16="http://schemas.microsoft.com/office/drawing/2014/main" id="{D0E83CF9-6BB7-4F07-969E-A8F659EFBB58}"/>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Same soil volume: 100 cm³. Same water: 60 mL. Read at exactly 2 minutes.</a:t>
            </a:r>
          </a:p>
        </p:txBody>
      </p:sp>
    </p:spTree>
    <p:extLst>
      <p:ext uri="{BB962C8B-B14F-4D97-AF65-F5344CB8AC3E}">
        <p14:creationId xmlns:p14="http://schemas.microsoft.com/office/powerpoint/2010/main" val="114708718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surface">
            <a:extLst xmlns:a="http://schemas.openxmlformats.org/drawingml/2006/main">
              <a:ext uri="{FF2B5EF4-FFF2-40B4-BE49-F238E27FC236}">
                <a16:creationId xmlns:a16="http://schemas.microsoft.com/office/drawing/2014/main" id="{B8DE2CC9-A975-4CBA-AB3A-515EE3371E92}"/>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D4705D96-B71A-46A1-8437-F26E954F501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3E6DA"/>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6C402E68-7D41-41C1-891F-FE463147CD56}"/>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C980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AE28454-DFB8-4E8A-893E-A67BAB1C4FA5}"/>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BUILD SCIENCE</a:t>
            </a:r>
          </a:p>
        </p:txBody>
      </p:sp>
      <p:sp>
        <p:nvSpPr>
          <p:cNvPr id="5" name="I do">
            <a:extLst xmlns:a="http://schemas.openxmlformats.org/drawingml/2006/main">
              <a:ext uri="{FF2B5EF4-FFF2-40B4-BE49-F238E27FC236}">
                <a16:creationId xmlns:a16="http://schemas.microsoft.com/office/drawing/2014/main" id="{0E3473EA-C991-4B9C-988C-5A2B85A681FE}"/>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C9803B"/>
                </a:solidFill>
                <a:latin typeface="Nimbus Sans"/>
                <a:ea typeface="Nimbus Sans"/>
                <a:cs typeface="Nimbus Sans"/>
              </a:defRPr>
            </a:pPr>
            <a:r>
              <a:rPr sz="1800" b="1">
                <a:solidFill>
                  <a:srgbClr val="C9803B"/>
                </a:solidFill>
                <a:latin typeface="Nimbus Sans"/>
                <a:ea typeface="Nimbus Sans"/>
                <a:cs typeface="Nimbus Sans"/>
              </a:rPr>
              <a:t>I do</a:t>
            </a:r>
          </a:p>
        </p:txBody>
      </p:sp>
      <p:sp>
        <p:nvSpPr>
          <p:cNvPr id="6" name="2 min">
            <a:extLst xmlns:a="http://schemas.openxmlformats.org/drawingml/2006/main">
              <a:ext uri="{FF2B5EF4-FFF2-40B4-BE49-F238E27FC236}">
                <a16:creationId xmlns:a16="http://schemas.microsoft.com/office/drawing/2014/main" id="{3FA43F4E-561F-4DDA-91E2-BDBD3BC20437}"/>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Read the scale carefully">
            <a:extLst xmlns:a="http://schemas.openxmlformats.org/drawingml/2006/main">
              <a:ext uri="{FF2B5EF4-FFF2-40B4-BE49-F238E27FC236}">
                <a16:creationId xmlns:a16="http://schemas.microsoft.com/office/drawing/2014/main" id="{5DC2CB44-03A3-4AAE-B2A8-6D219E2848D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Read the scale carefully</a:t>
            </a:r>
          </a:p>
        </p:txBody>
      </p:sp>
      <p:sp>
        <p:nvSpPr>
          <p:cNvPr id="8" name="surface">
            <a:extLst xmlns:a="http://schemas.openxmlformats.org/drawingml/2006/main">
              <a:ext uri="{FF2B5EF4-FFF2-40B4-BE49-F238E27FC236}">
                <a16:creationId xmlns:a16="http://schemas.microsoft.com/office/drawing/2014/main" id="{1418CADF-E071-44BB-A7DD-23C2E469003C}"/>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5D2D4ACA-252A-43CD-B1F2-1F3C12DF8A8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5 / 14">
            <a:extLst xmlns:a="http://schemas.openxmlformats.org/drawingml/2006/main">
              <a:ext uri="{FF2B5EF4-FFF2-40B4-BE49-F238E27FC236}">
                <a16:creationId xmlns:a16="http://schemas.microsoft.com/office/drawing/2014/main" id="{735C1511-3EB7-470B-9853-F6DBAD39933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5 / 14</a:t>
            </a:r>
          </a:p>
        </p:txBody>
      </p:sp>
      <p:sp>
        <p:nvSpPr>
          <p:cNvPr id="11" name="Editable scientific diagram">
            <a:extLst xmlns:a="http://schemas.openxmlformats.org/drawingml/2006/main">
              <a:ext uri="{FF2B5EF4-FFF2-40B4-BE49-F238E27FC236}">
                <a16:creationId xmlns:a16="http://schemas.microsoft.com/office/drawing/2014/main" id="{580F74E8-4A7C-4B69-863C-A42BB4BD1AD9}"/>
              </a:ext>
            </a:extLst>
          </p:cNvPr>
          <p:cNvSpPr>
            <a:spLocks xmlns:a="http://schemas.openxmlformats.org/drawingml/2006/main" noGrp="1"/>
          </p:cNvSpPr>
          <p:nvPr/>
        </p:nvSpPr>
        <p:spPr>
          <a:xfrm xmlns:a="http://schemas.openxmlformats.org/drawingml/2006/main">
            <a:off x="4303939" y="2594542"/>
            <a:ext cx="1642722" cy="2538753"/>
          </a:xfrm>
          <a:prstGeom xmlns:a="http://schemas.openxmlformats.org/drawingml/2006/main" prst="rect">
            <a:avLst/>
          </a:prstGeom>
          <a:solidFill xmlns:a="http://schemas.openxmlformats.org/drawingml/2006/main">
            <a:srgbClr val="FFFFFF"/>
          </a:solidFill>
          <a:ln xmlns:a="http://schemas.openxmlformats.org/drawingml/2006/main" w="14934">
            <a:solidFill>
              <a:srgbClr val="1F2937"/>
            </a:solidFill>
          </a:ln>
        </p:spPr>
      </p:sp>
      <p:sp>
        <p:nvSpPr>
          <p:cNvPr id="12" name="Editable scientific diagram">
            <a:extLst xmlns:a="http://schemas.openxmlformats.org/drawingml/2006/main">
              <a:ext uri="{FF2B5EF4-FFF2-40B4-BE49-F238E27FC236}">
                <a16:creationId xmlns:a16="http://schemas.microsoft.com/office/drawing/2014/main" id="{CFE6641F-3123-422F-855D-A65C69C1B023}"/>
              </a:ext>
            </a:extLst>
          </p:cNvPr>
          <p:cNvSpPr>
            <a:spLocks xmlns:a="http://schemas.openxmlformats.org/drawingml/2006/main" noGrp="1"/>
          </p:cNvSpPr>
          <p:nvPr/>
        </p:nvSpPr>
        <p:spPr>
          <a:xfrm xmlns:a="http://schemas.openxmlformats.org/drawingml/2006/main">
            <a:off x="4333807" y="3938588"/>
            <a:ext cx="1582987" cy="1164839"/>
          </a:xfrm>
          <a:prstGeom xmlns:a="http://schemas.openxmlformats.org/drawingml/2006/main" prst="rect">
            <a:avLst/>
          </a:prstGeom>
          <a:solidFill xmlns:a="http://schemas.openxmlformats.org/drawingml/2006/main">
            <a:srgbClr val="D7ECF7"/>
          </a:solidFill>
          <a:ln xmlns:a="http://schemas.openxmlformats.org/drawingml/2006/main" w="14934">
            <a:solidFill>
              <a:srgbClr val="4E7A9B"/>
            </a:solidFill>
          </a:ln>
        </p:spPr>
      </p:sp>
      <p:sp>
        <p:nvSpPr>
          <p:cNvPr id="13" name="Diagram line">
            <a:extLst xmlns:a="http://schemas.openxmlformats.org/drawingml/2006/main">
              <a:ext uri="{FF2B5EF4-FFF2-40B4-BE49-F238E27FC236}">
                <a16:creationId xmlns:a16="http://schemas.microsoft.com/office/drawing/2014/main" id="{5D6A307A-0238-41DE-85D7-62C0DEECBC49}"/>
              </a:ext>
            </a:extLst>
          </p:cNvPr>
          <p:cNvSpPr>
            <a:spLocks xmlns:a="http://schemas.openxmlformats.org/drawingml/2006/main" noGrp="1"/>
          </p:cNvSpPr>
          <p:nvPr/>
        </p:nvSpPr>
        <p:spPr>
          <a:xfrm xmlns:a="http://schemas.openxmlformats.org/drawingml/2006/main" flipH="0" flipV="0">
            <a:off x="5535981" y="2818550"/>
            <a:ext cx="410681"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4" name="Diagram line">
            <a:extLst xmlns:a="http://schemas.openxmlformats.org/drawingml/2006/main">
              <a:ext uri="{FF2B5EF4-FFF2-40B4-BE49-F238E27FC236}">
                <a16:creationId xmlns:a16="http://schemas.microsoft.com/office/drawing/2014/main" id="{7CAA9F28-E71A-4344-A78B-3C11636F7B39}"/>
              </a:ext>
            </a:extLst>
          </p:cNvPr>
          <p:cNvSpPr>
            <a:spLocks xmlns:a="http://schemas.openxmlformats.org/drawingml/2006/main" noGrp="1"/>
          </p:cNvSpPr>
          <p:nvPr/>
        </p:nvSpPr>
        <p:spPr>
          <a:xfrm xmlns:a="http://schemas.openxmlformats.org/drawingml/2006/main" flipH="0" flipV="0">
            <a:off x="5535981" y="3565242"/>
            <a:ext cx="410681"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5" name="Diagram line">
            <a:extLst xmlns:a="http://schemas.openxmlformats.org/drawingml/2006/main">
              <a:ext uri="{FF2B5EF4-FFF2-40B4-BE49-F238E27FC236}">
                <a16:creationId xmlns:a16="http://schemas.microsoft.com/office/drawing/2014/main" id="{5C9F4C2B-8C28-45DD-B1E3-DD947CF6264A}"/>
              </a:ext>
            </a:extLst>
          </p:cNvPr>
          <p:cNvSpPr>
            <a:spLocks xmlns:a="http://schemas.openxmlformats.org/drawingml/2006/main" noGrp="1"/>
          </p:cNvSpPr>
          <p:nvPr/>
        </p:nvSpPr>
        <p:spPr>
          <a:xfrm xmlns:a="http://schemas.openxmlformats.org/drawingml/2006/main" flipH="0" flipV="0">
            <a:off x="5535981" y="4311933"/>
            <a:ext cx="410681"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6" name="Diagram line">
            <a:extLst xmlns:a="http://schemas.openxmlformats.org/drawingml/2006/main">
              <a:ext uri="{FF2B5EF4-FFF2-40B4-BE49-F238E27FC236}">
                <a16:creationId xmlns:a16="http://schemas.microsoft.com/office/drawing/2014/main" id="{4F246418-E66C-4417-BE2C-49078B3B4FE1}"/>
              </a:ext>
            </a:extLst>
          </p:cNvPr>
          <p:cNvSpPr>
            <a:spLocks xmlns:a="http://schemas.openxmlformats.org/drawingml/2006/main" noGrp="1"/>
          </p:cNvSpPr>
          <p:nvPr/>
        </p:nvSpPr>
        <p:spPr>
          <a:xfrm xmlns:a="http://schemas.openxmlformats.org/drawingml/2006/main" flipH="0" flipV="0">
            <a:off x="5535981" y="5058625"/>
            <a:ext cx="410681" cy="953"/>
          </a:xfrm>
          <a:prstGeom xmlns:a="http://schemas.openxmlformats.org/drawingml/2006/main" prst="line">
            <a:avLst/>
          </a:prstGeom>
          <a:noFill xmlns:a="http://schemas.openxmlformats.org/drawingml/2006/main"/>
          <a:ln xmlns:a="http://schemas.openxmlformats.org/drawingml/2006/main" w="29868">
            <a:solidFill>
              <a:srgbClr val="1F2937"/>
            </a:solidFill>
          </a:ln>
        </p:spPr>
      </p:sp>
      <p:sp>
        <p:nvSpPr>
          <p:cNvPr id="17" name="Diagram label: 60 mL">
            <a:extLst xmlns:a="http://schemas.openxmlformats.org/drawingml/2006/main">
              <a:ext uri="{FF2B5EF4-FFF2-40B4-BE49-F238E27FC236}">
                <a16:creationId xmlns:a16="http://schemas.microsoft.com/office/drawing/2014/main" id="{A9B027E1-2A57-4C05-B07F-AA8686FF4911}"/>
              </a:ext>
            </a:extLst>
          </p:cNvPr>
          <p:cNvSpPr>
            <a:spLocks xmlns:a="http://schemas.openxmlformats.org/drawingml/2006/main" noGrp="1"/>
          </p:cNvSpPr>
          <p:nvPr/>
        </p:nvSpPr>
        <p:spPr>
          <a:xfrm xmlns:a="http://schemas.openxmlformats.org/drawingml/2006/main">
            <a:off x="6096000" y="2654277"/>
            <a:ext cx="746692"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0">
                <a:solidFill>
                  <a:srgbClr val="1F2937"/>
                </a:solidFill>
                <a:latin typeface="Nimbus Sans"/>
                <a:ea typeface="Nimbus Sans"/>
                <a:cs typeface="Nimbus Sans"/>
              </a:defRPr>
            </a:pPr>
            <a:r>
              <a:rPr sz="1705" b="0">
                <a:solidFill>
                  <a:srgbClr val="1F2937"/>
                </a:solidFill>
                <a:latin typeface="Nimbus Sans"/>
                <a:ea typeface="Nimbus Sans"/>
                <a:cs typeface="Nimbus Sans"/>
              </a:rPr>
              <a:t>60 mL</a:t>
            </a:r>
          </a:p>
        </p:txBody>
      </p:sp>
      <p:sp>
        <p:nvSpPr>
          <p:cNvPr id="18" name="Diagram label: 40 mL">
            <a:extLst xmlns:a="http://schemas.openxmlformats.org/drawingml/2006/main">
              <a:ext uri="{FF2B5EF4-FFF2-40B4-BE49-F238E27FC236}">
                <a16:creationId xmlns:a16="http://schemas.microsoft.com/office/drawing/2014/main" id="{B8146B35-8967-48A0-BF60-2C4AEC08AA65}"/>
              </a:ext>
            </a:extLst>
          </p:cNvPr>
          <p:cNvSpPr>
            <a:spLocks xmlns:a="http://schemas.openxmlformats.org/drawingml/2006/main" noGrp="1"/>
          </p:cNvSpPr>
          <p:nvPr/>
        </p:nvSpPr>
        <p:spPr>
          <a:xfrm xmlns:a="http://schemas.openxmlformats.org/drawingml/2006/main">
            <a:off x="6096000" y="3400969"/>
            <a:ext cx="746692"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0">
                <a:solidFill>
                  <a:srgbClr val="1F2937"/>
                </a:solidFill>
                <a:latin typeface="Nimbus Sans"/>
                <a:ea typeface="Nimbus Sans"/>
                <a:cs typeface="Nimbus Sans"/>
              </a:defRPr>
            </a:pPr>
            <a:r>
              <a:rPr sz="1705" b="0">
                <a:solidFill>
                  <a:srgbClr val="1F2937"/>
                </a:solidFill>
                <a:latin typeface="Nimbus Sans"/>
                <a:ea typeface="Nimbus Sans"/>
                <a:cs typeface="Nimbus Sans"/>
              </a:rPr>
              <a:t>40 mL</a:t>
            </a:r>
          </a:p>
        </p:txBody>
      </p:sp>
      <p:sp>
        <p:nvSpPr>
          <p:cNvPr id="19" name="Diagram label: 20 mL">
            <a:extLst xmlns:a="http://schemas.openxmlformats.org/drawingml/2006/main">
              <a:ext uri="{FF2B5EF4-FFF2-40B4-BE49-F238E27FC236}">
                <a16:creationId xmlns:a16="http://schemas.microsoft.com/office/drawing/2014/main" id="{AEFF3472-83A7-4F6D-A120-01FA6A700B49}"/>
              </a:ext>
            </a:extLst>
          </p:cNvPr>
          <p:cNvSpPr>
            <a:spLocks xmlns:a="http://schemas.openxmlformats.org/drawingml/2006/main" noGrp="1"/>
          </p:cNvSpPr>
          <p:nvPr/>
        </p:nvSpPr>
        <p:spPr>
          <a:xfrm xmlns:a="http://schemas.openxmlformats.org/drawingml/2006/main">
            <a:off x="6096000" y="4147661"/>
            <a:ext cx="746692"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0">
                <a:solidFill>
                  <a:srgbClr val="1F2937"/>
                </a:solidFill>
                <a:latin typeface="Nimbus Sans"/>
                <a:ea typeface="Nimbus Sans"/>
                <a:cs typeface="Nimbus Sans"/>
              </a:defRPr>
            </a:pPr>
            <a:r>
              <a:rPr sz="1705" b="0">
                <a:solidFill>
                  <a:srgbClr val="1F2937"/>
                </a:solidFill>
                <a:latin typeface="Nimbus Sans"/>
                <a:ea typeface="Nimbus Sans"/>
                <a:cs typeface="Nimbus Sans"/>
              </a:rPr>
              <a:t>20 mL</a:t>
            </a:r>
          </a:p>
        </p:txBody>
      </p:sp>
      <p:sp>
        <p:nvSpPr>
          <p:cNvPr id="20" name="Diagram label: 0 mL">
            <a:extLst xmlns:a="http://schemas.openxmlformats.org/drawingml/2006/main">
              <a:ext uri="{FF2B5EF4-FFF2-40B4-BE49-F238E27FC236}">
                <a16:creationId xmlns:a16="http://schemas.microsoft.com/office/drawing/2014/main" id="{B1841EF0-CA14-428F-91D1-A701226E8CE0}"/>
              </a:ext>
            </a:extLst>
          </p:cNvPr>
          <p:cNvSpPr>
            <a:spLocks xmlns:a="http://schemas.openxmlformats.org/drawingml/2006/main" noGrp="1"/>
          </p:cNvSpPr>
          <p:nvPr/>
        </p:nvSpPr>
        <p:spPr>
          <a:xfrm xmlns:a="http://schemas.openxmlformats.org/drawingml/2006/main">
            <a:off x="6096000" y="4894353"/>
            <a:ext cx="746692" cy="37334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0">
                <a:solidFill>
                  <a:srgbClr val="1F2937"/>
                </a:solidFill>
                <a:latin typeface="Nimbus Sans"/>
                <a:ea typeface="Nimbus Sans"/>
                <a:cs typeface="Nimbus Sans"/>
              </a:defRPr>
            </a:pPr>
            <a:r>
              <a:rPr sz="1705" b="0">
                <a:solidFill>
                  <a:srgbClr val="1F2937"/>
                </a:solidFill>
                <a:latin typeface="Nimbus Sans"/>
                <a:ea typeface="Nimbus Sans"/>
                <a:cs typeface="Nimbus Sans"/>
              </a:rPr>
              <a:t>0 mL</a:t>
            </a:r>
          </a:p>
        </p:txBody>
      </p:sp>
      <p:sp>
        <p:nvSpPr>
          <p:cNvPr id="21" name="Diagram line">
            <a:extLst xmlns:a="http://schemas.openxmlformats.org/drawingml/2006/main">
              <a:ext uri="{FF2B5EF4-FFF2-40B4-BE49-F238E27FC236}">
                <a16:creationId xmlns:a16="http://schemas.microsoft.com/office/drawing/2014/main" id="{1F3DC0CD-E8D0-4061-800E-8EA0FAB4F28A}"/>
              </a:ext>
            </a:extLst>
          </p:cNvPr>
          <p:cNvSpPr>
            <a:spLocks xmlns:a="http://schemas.openxmlformats.org/drawingml/2006/main" noGrp="1"/>
          </p:cNvSpPr>
          <p:nvPr/>
        </p:nvSpPr>
        <p:spPr>
          <a:xfrm xmlns:a="http://schemas.openxmlformats.org/drawingml/2006/main" flipH="0" flipV="0">
            <a:off x="2885225" y="3938588"/>
            <a:ext cx="1265643" cy="953"/>
          </a:xfrm>
          <a:prstGeom xmlns:a="http://schemas.openxmlformats.org/drawingml/2006/main" prst="line">
            <a:avLst/>
          </a:prstGeom>
          <a:noFill xmlns:a="http://schemas.openxmlformats.org/drawingml/2006/main"/>
          <a:ln xmlns:a="http://schemas.openxmlformats.org/drawingml/2006/main" w="29868">
            <a:solidFill>
              <a:srgbClr val="4E7A9B"/>
            </a:solidFill>
          </a:ln>
        </p:spPr>
      </p:sp>
      <p:sp>
        <p:nvSpPr>
          <p:cNvPr id="22" name="Diagram arrowhead">
            <a:extLst xmlns:a="http://schemas.openxmlformats.org/drawingml/2006/main">
              <a:ext uri="{FF2B5EF4-FFF2-40B4-BE49-F238E27FC236}">
                <a16:creationId xmlns:a16="http://schemas.microsoft.com/office/drawing/2014/main" id="{E71EE22D-5489-472F-A1DE-5BF39BD95B6E}"/>
              </a:ext>
            </a:extLst>
          </p:cNvPr>
          <p:cNvSpPr>
            <a:spLocks xmlns:a="http://schemas.openxmlformats.org/drawingml/2006/main" noGrp="1"/>
          </p:cNvSpPr>
          <p:nvPr/>
        </p:nvSpPr>
        <p:spPr>
          <a:xfrm xmlns:a="http://schemas.openxmlformats.org/drawingml/2006/main" rot="5400000">
            <a:off x="4124733" y="3886319"/>
            <a:ext cx="104537" cy="104537"/>
          </a:xfrm>
          <a:prstGeom xmlns:a="http://schemas.openxmlformats.org/drawingml/2006/main" prst="triangle">
            <a:avLst/>
          </a:prstGeom>
          <a:solidFill xmlns:a="http://schemas.openxmlformats.org/drawingml/2006/main">
            <a:srgbClr val="4E7A9B"/>
          </a:solidFill>
          <a:ln xmlns:a="http://schemas.openxmlformats.org/drawingml/2006/main" w="0">
            <a:noFill/>
          </a:ln>
        </p:spPr>
      </p:sp>
      <p:sp>
        <p:nvSpPr>
          <p:cNvPr id="23" name="Diagram label: Look at&#10;water level">
            <a:extLst xmlns:a="http://schemas.openxmlformats.org/drawingml/2006/main">
              <a:ext uri="{FF2B5EF4-FFF2-40B4-BE49-F238E27FC236}">
                <a16:creationId xmlns:a16="http://schemas.microsoft.com/office/drawing/2014/main" id="{029054B6-2503-493A-ADF1-1EFE976FFCD9}"/>
              </a:ext>
            </a:extLst>
          </p:cNvPr>
          <p:cNvSpPr>
            <a:spLocks xmlns:a="http://schemas.openxmlformats.org/drawingml/2006/main" noGrp="1"/>
          </p:cNvSpPr>
          <p:nvPr/>
        </p:nvSpPr>
        <p:spPr>
          <a:xfrm xmlns:a="http://schemas.openxmlformats.org/drawingml/2006/main">
            <a:off x="2810555" y="3117226"/>
            <a:ext cx="1269376" cy="67202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Look at</a:t>
            </a:r>
          </a:p>
          <a:p xmlns:a="http://schemas.openxmlformats.org/drawingml/2006/main">
            <a:pPr algn="l">
              <a:lnSpc>
                <a:spcPct val="108000"/>
              </a:lnSpc>
              <a:buNone/>
              <a:defRPr sz="1705" b="1">
                <a:solidFill>
                  <a:srgbClr val="1F2937"/>
                </a:solidFill>
                <a:latin typeface="Nimbus Sans"/>
                <a:ea typeface="Nimbus Sans"/>
                <a:cs typeface="Nimbus Sans"/>
              </a:defRPr>
            </a:pPr>
            <a:r>
              <a:rPr sz="1705" b="1">
                <a:solidFill>
                  <a:srgbClr val="1F2937"/>
                </a:solidFill>
                <a:latin typeface="Nimbus Sans"/>
                <a:ea typeface="Nimbus Sans"/>
                <a:cs typeface="Nimbus Sans"/>
              </a:rPr>
              <a:t>water level</a:t>
            </a:r>
          </a:p>
        </p:txBody>
      </p:sp>
      <p:sp>
        <p:nvSpPr>
          <p:cNvPr id="24" name="Diagram label: This level is&#10;30 mL.">
            <a:extLst xmlns:a="http://schemas.openxmlformats.org/drawingml/2006/main">
              <a:ext uri="{FF2B5EF4-FFF2-40B4-BE49-F238E27FC236}">
                <a16:creationId xmlns:a16="http://schemas.microsoft.com/office/drawing/2014/main" id="{A8CD586E-167E-4612-9D26-137D7BC4EC71}"/>
              </a:ext>
            </a:extLst>
          </p:cNvPr>
          <p:cNvSpPr>
            <a:spLocks xmlns:a="http://schemas.openxmlformats.org/drawingml/2006/main" noGrp="1"/>
          </p:cNvSpPr>
          <p:nvPr/>
        </p:nvSpPr>
        <p:spPr>
          <a:xfrm xmlns:a="http://schemas.openxmlformats.org/drawingml/2006/main">
            <a:off x="7290707" y="3565242"/>
            <a:ext cx="2090738" cy="70935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99" b="1">
                <a:solidFill>
                  <a:srgbClr val="1F2937"/>
                </a:solidFill>
                <a:latin typeface="Nimbus Sans"/>
                <a:ea typeface="Nimbus Sans"/>
                <a:cs typeface="Nimbus Sans"/>
              </a:defRPr>
            </a:pPr>
            <a:r>
              <a:rPr sz="1999" b="1">
                <a:solidFill>
                  <a:srgbClr val="1F2937"/>
                </a:solidFill>
                <a:latin typeface="Nimbus Sans"/>
                <a:ea typeface="Nimbus Sans"/>
                <a:cs typeface="Nimbus Sans"/>
              </a:rPr>
              <a:t>This level is</a:t>
            </a:r>
          </a:p>
          <a:p xmlns:a="http://schemas.openxmlformats.org/drawingml/2006/main">
            <a:pPr algn="l">
              <a:lnSpc>
                <a:spcPct val="108000"/>
              </a:lnSpc>
              <a:buNone/>
              <a:defRPr sz="1999" b="1">
                <a:solidFill>
                  <a:srgbClr val="1F2937"/>
                </a:solidFill>
                <a:latin typeface="Nimbus Sans"/>
                <a:ea typeface="Nimbus Sans"/>
                <a:cs typeface="Nimbus Sans"/>
              </a:defRPr>
            </a:pPr>
            <a:r>
              <a:rPr sz="1999" b="1">
                <a:solidFill>
                  <a:srgbClr val="1F2937"/>
                </a:solidFill>
                <a:latin typeface="Nimbus Sans"/>
                <a:ea typeface="Nimbus Sans"/>
                <a:cs typeface="Nimbus Sans"/>
              </a:rPr>
              <a:t>30 mL.</a:t>
            </a:r>
          </a:p>
        </p:txBody>
      </p:sp>
      <p:sp>
        <p:nvSpPr>
          <p:cNvPr id="25" name="Diagram label: Read between marks. Keep the container upright.">
            <a:extLst xmlns:a="http://schemas.openxmlformats.org/drawingml/2006/main">
              <a:ext uri="{FF2B5EF4-FFF2-40B4-BE49-F238E27FC236}">
                <a16:creationId xmlns:a16="http://schemas.microsoft.com/office/drawing/2014/main" id="{46BBD7FB-A9B4-4ADC-B3ED-C071797FBBAF}"/>
              </a:ext>
            </a:extLst>
          </p:cNvPr>
          <p:cNvSpPr>
            <a:spLocks xmlns:a="http://schemas.openxmlformats.org/drawingml/2006/main" noGrp="1"/>
          </p:cNvSpPr>
          <p:nvPr/>
        </p:nvSpPr>
        <p:spPr>
          <a:xfrm xmlns:a="http://schemas.openxmlformats.org/drawingml/2006/main">
            <a:off x="2810555" y="5402104"/>
            <a:ext cx="6570889" cy="48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87" b="1">
                <a:solidFill>
                  <a:srgbClr val="1F2937"/>
                </a:solidFill>
                <a:latin typeface="Nimbus Sans"/>
                <a:ea typeface="Nimbus Sans"/>
                <a:cs typeface="Nimbus Sans"/>
              </a:defRPr>
            </a:pPr>
            <a:r>
              <a:rPr sz="1587" b="1">
                <a:solidFill>
                  <a:srgbClr val="1F2937"/>
                </a:solidFill>
                <a:latin typeface="Nimbus Sans"/>
                <a:ea typeface="Nimbus Sans"/>
                <a:cs typeface="Nimbus Sans"/>
              </a:rPr>
              <a:t>Read between marks. Keep the container upright.</a:t>
            </a:r>
          </a:p>
        </p:txBody>
      </p:sp>
      <p:sp>
        <p:nvSpPr>
          <p:cNvPr id="26" name="Keep the container upright.  Look at the water level.  Read the ">
            <a:extLst xmlns:a="http://schemas.openxmlformats.org/drawingml/2006/main">
              <a:ext uri="{FF2B5EF4-FFF2-40B4-BE49-F238E27FC236}">
                <a16:creationId xmlns:a16="http://schemas.microsoft.com/office/drawing/2014/main" id="{46CFFBC3-76DB-4D38-9E2C-4087D9EE312A}"/>
              </a:ext>
            </a:extLst>
          </p:cNvPr>
          <p:cNvSpPr>
            <a:spLocks xmlns:a="http://schemas.openxmlformats.org/drawingml/2006/main" noGrp="1"/>
          </p:cNvSpPr>
          <p:nvPr/>
        </p:nvSpPr>
        <p:spPr>
          <a:xfrm xmlns:a="http://schemas.openxmlformats.org/drawingml/2006/main">
            <a:off x="533400" y="60864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0">
                <a:solidFill>
                  <a:srgbClr val="1F2937"/>
                </a:solidFill>
                <a:latin typeface="Nimbus Sans"/>
                <a:ea typeface="Nimbus Sans"/>
                <a:cs typeface="Nimbus Sans"/>
              </a:defRPr>
            </a:pPr>
            <a:r>
              <a:rPr sz="1800" b="0">
                <a:solidFill>
                  <a:srgbClr val="1F2937"/>
                </a:solidFill>
                <a:latin typeface="Nimbus Sans"/>
                <a:ea typeface="Nimbus Sans"/>
                <a:cs typeface="Nimbus Sans"/>
              </a:rPr>
              <a:t>Keep the container upright. Look at the water level. Read the volume in mL. What volume is shown?</a:t>
            </a:r>
          </a:p>
        </p:txBody>
      </p:sp>
    </p:spTree>
    <p:extLst>
      <p:ext uri="{BB962C8B-B14F-4D97-AF65-F5344CB8AC3E}">
        <p14:creationId xmlns:p14="http://schemas.microsoft.com/office/powerpoint/2010/main" val="5034387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81ADCACE-4A0E-4554-9950-3FAB560E25C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69CD5994-6F00-44DD-ADE5-D46E1BEDD9F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E2CA5995-A589-4F4D-B7BF-3E53F49A3920}"/>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364FE4C6-99B0-4160-8897-FD3B51E11546}"/>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D8B1B581-D074-4D48-AEC9-C99139A2B75F}"/>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741C2245-7F6D-48DE-A37D-B74AB3199ECC}"/>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Repair the unfair test">
            <a:extLst xmlns:a="http://schemas.openxmlformats.org/drawingml/2006/main">
              <a:ext uri="{FF2B5EF4-FFF2-40B4-BE49-F238E27FC236}">
                <a16:creationId xmlns:a16="http://schemas.microsoft.com/office/drawing/2014/main" id="{B9ABB060-12DC-404D-9367-149ADDECC5E3}"/>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Repair the unfair test</a:t>
            </a:r>
          </a:p>
        </p:txBody>
      </p:sp>
      <p:sp>
        <p:nvSpPr>
          <p:cNvPr id="8" name="surface">
            <a:extLst xmlns:a="http://schemas.openxmlformats.org/drawingml/2006/main">
              <a:ext uri="{FF2B5EF4-FFF2-40B4-BE49-F238E27FC236}">
                <a16:creationId xmlns:a16="http://schemas.microsoft.com/office/drawing/2014/main" id="{90A6ACE9-A970-4D31-BDBB-5F50887F9313}"/>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CEAC5144-B9AB-4B66-8893-4E8F4546C497}"/>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6 / 14">
            <a:extLst xmlns:a="http://schemas.openxmlformats.org/drawingml/2006/main">
              <a:ext uri="{FF2B5EF4-FFF2-40B4-BE49-F238E27FC236}">
                <a16:creationId xmlns:a16="http://schemas.microsoft.com/office/drawing/2014/main" id="{AA90FD5D-2A05-417E-8A8A-ACDB67E264D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6 / 14</a:t>
            </a:r>
          </a:p>
        </p:txBody>
      </p:sp>
      <p:sp>
        <p:nvSpPr>
          <p:cNvPr id="11" name="Choose the useful test cards. Fix any card that changes two thin">
            <a:extLst xmlns:a="http://schemas.openxmlformats.org/drawingml/2006/main">
              <a:ext uri="{FF2B5EF4-FFF2-40B4-BE49-F238E27FC236}">
                <a16:creationId xmlns:a16="http://schemas.microsoft.com/office/drawing/2014/main" id="{81F79E88-CFA7-49C3-8D65-35BC0E8C24A6}"/>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Choose the useful test cards. Fix any card that changes two things.</a:t>
            </a:r>
          </a:p>
        </p:txBody>
      </p:sp>
      <p:graphicFrame>
        <p:nvGraphicFramePr>
          <p:cNvPr id="25" name=""/>
          <p:cNvGraphicFramePr/>
          <p:nvPr/>
        </p:nvGraphicFramePr>
        <p:xfrm>
          <a:off xmlns:a="http://schemas.openxmlformats.org/drawingml/2006/main" x="533400" y="2295525"/>
          <a:ext xmlns:a="http://schemas.openxmlformats.org/drawingml/2006/main" cx="11125200" cy="2526506"/>
        </p:xfrm>
        <a:graphic xmlns:a="http://schemas.openxmlformats.org/drawingml/2006/main">
          <a:graphicData uri="http://schemas.openxmlformats.org/drawingml/2006/table">
            <a:tbl>
              <a:tblPr firstRow="1" bandRow="0"/>
              <a:tblGrid>
                <a:gridCol w="3743304"/>
                <a:gridCol w="7381896"/>
              </a:tblGrid>
              <a:tr h="505301">
                <a:tc>
                  <a:txBody>
                    <a:bodyPr lIns="95250" tIns="95250" rIns="95250" bIns="95250"/>
                    <a:lstStyle/>
                    <a:p>
                      <a:pPr algn="l"/>
                      <a:r>
                        <a:rPr sz="2025" b="1">
                          <a:solidFill>
                            <a:srgbClr val="FFFFFF"/>
                          </a:solidFill>
                          <a:latin typeface="Nimbus Sans"/>
                          <a:ea typeface="Nimbus Sans"/>
                          <a:cs typeface="Nimbus Sans"/>
                        </a:rPr>
                        <a:t>Card</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Plan</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A</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All pots: 60 mL; read at 2 min</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B</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A: 60 mL; B: 100 mL</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C</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All pots: 100 cm³; loose fill</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D</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Pack C tightly; leave A and B loose</a:t>
                      </a:r>
                    </a:p>
                  </a:txBody>
                  <a:tcPr marL="95250" marR="95250" marT="95250" marB="95250" anchor="ctr">
                    <a:solidFill>
                      <a:srgbClr val="FFFFFF"/>
                    </a:solidFill>
                  </a:tcPr>
                </a:tc>
              </a:tr>
            </a:tbl>
          </a:graphicData>
        </a:graphic>
      </p:graphicFrame>
      <p:sp>
        <p:nvSpPr>
          <p:cNvPr id="13" name="Constructed planning cards; identical apparatus is assumed">
            <a:extLst xmlns:a="http://schemas.openxmlformats.org/drawingml/2006/main">
              <a:ext uri="{FF2B5EF4-FFF2-40B4-BE49-F238E27FC236}">
                <a16:creationId xmlns:a16="http://schemas.microsoft.com/office/drawing/2014/main" id="{D832C3DB-B049-4BD5-8178-281F6EBE16F9}"/>
              </a:ext>
            </a:extLst>
          </p:cNvPr>
          <p:cNvSpPr>
            <a:spLocks xmlns:a="http://schemas.openxmlformats.org/drawingml/2006/main" noGrp="1"/>
          </p:cNvSpPr>
          <p:nvPr/>
        </p:nvSpPr>
        <p:spPr>
          <a:xfrm xmlns:a="http://schemas.openxmlformats.org/drawingml/2006/main">
            <a:off x="533400" y="4936331"/>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planning cards; identical apparatus is assumed</a:t>
            </a:r>
          </a:p>
        </p:txBody>
      </p:sp>
    </p:spTree>
    <p:extLst>
      <p:ext uri="{BB962C8B-B14F-4D97-AF65-F5344CB8AC3E}">
        <p14:creationId xmlns:p14="http://schemas.microsoft.com/office/powerpoint/2010/main" val="1721473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A9ACC84D-8AA3-4828-A1BA-0EDF0F4E8965}"/>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6BF22B8-D5DC-4A2A-BF8A-A9D4B2888BD7}"/>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08AD8AB-5C47-4E96-BEF0-6BA759FDB219}"/>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6519445A-7F2C-40E4-8E7D-AB7697577DFB}"/>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We do">
            <a:extLst xmlns:a="http://schemas.openxmlformats.org/drawingml/2006/main">
              <a:ext uri="{FF2B5EF4-FFF2-40B4-BE49-F238E27FC236}">
                <a16:creationId xmlns:a16="http://schemas.microsoft.com/office/drawing/2014/main" id="{70D0C7B2-8E26-4D49-9A45-65BCAEECB92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We do</a:t>
            </a:r>
          </a:p>
        </p:txBody>
      </p:sp>
      <p:sp>
        <p:nvSpPr>
          <p:cNvPr id="6" name="4 min">
            <a:extLst xmlns:a="http://schemas.openxmlformats.org/drawingml/2006/main">
              <a:ext uri="{FF2B5EF4-FFF2-40B4-BE49-F238E27FC236}">
                <a16:creationId xmlns:a16="http://schemas.microsoft.com/office/drawing/2014/main" id="{D1B9E548-C743-4656-B483-C0BAE1239315}"/>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4 min</a:t>
            </a:r>
          </a:p>
        </p:txBody>
      </p:sp>
      <p:sp>
        <p:nvSpPr>
          <p:cNvPr id="7" name="Read; compare; justify">
            <a:extLst xmlns:a="http://schemas.openxmlformats.org/drawingml/2006/main">
              <a:ext uri="{FF2B5EF4-FFF2-40B4-BE49-F238E27FC236}">
                <a16:creationId xmlns:a16="http://schemas.microsoft.com/office/drawing/2014/main" id="{A0D6740A-2F10-4370-B62D-07E953622D7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Read; compare; justify</a:t>
            </a:r>
          </a:p>
        </p:txBody>
      </p:sp>
      <p:sp>
        <p:nvSpPr>
          <p:cNvPr id="8" name="surface">
            <a:extLst xmlns:a="http://schemas.openxmlformats.org/drawingml/2006/main">
              <a:ext uri="{FF2B5EF4-FFF2-40B4-BE49-F238E27FC236}">
                <a16:creationId xmlns:a16="http://schemas.microsoft.com/office/drawing/2014/main" id="{4E8E9424-AC1A-4450-BE5F-7C6318E1806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A4751B27-39C9-41A9-BBF2-1228C01225B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7 / 14">
            <a:extLst xmlns:a="http://schemas.openxmlformats.org/drawingml/2006/main">
              <a:ext uri="{FF2B5EF4-FFF2-40B4-BE49-F238E27FC236}">
                <a16:creationId xmlns:a16="http://schemas.microsoft.com/office/drawing/2014/main" id="{F13D9406-27B0-4A29-B277-630F2370068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7 / 14</a:t>
            </a:r>
          </a:p>
        </p:txBody>
      </p:sp>
      <p:sp>
        <p:nvSpPr>
          <p:cNvPr id="11" name="Compare trial 1. Which sample let most water through? What makes">
            <a:extLst xmlns:a="http://schemas.openxmlformats.org/drawingml/2006/main">
              <a:ext uri="{FF2B5EF4-FFF2-40B4-BE49-F238E27FC236}">
                <a16:creationId xmlns:a16="http://schemas.microsoft.com/office/drawing/2014/main" id="{AE2E3B74-E758-44D0-9FE3-C70ED3AA492A}"/>
              </a:ext>
            </a:extLst>
          </p:cNvPr>
          <p:cNvSpPr>
            <a:spLocks xmlns:a="http://schemas.openxmlformats.org/drawingml/2006/main" noGrp="1"/>
          </p:cNvSpPr>
          <p:nvPr/>
        </p:nvSpPr>
        <p:spPr>
          <a:xfrm xmlns:a="http://schemas.openxmlformats.org/drawingml/2006/main">
            <a:off x="533400" y="1895475"/>
            <a:ext cx="11125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950" b="0">
                <a:solidFill>
                  <a:srgbClr val="1F2937"/>
                </a:solidFill>
                <a:latin typeface="Nimbus Sans"/>
                <a:ea typeface="Nimbus Sans"/>
                <a:cs typeface="Nimbus Sans"/>
              </a:defRPr>
            </a:pPr>
            <a:r>
              <a:rPr sz="1950" b="0">
                <a:solidFill>
                  <a:srgbClr val="1F2937"/>
                </a:solidFill>
                <a:latin typeface="Nimbus Sans"/>
                <a:ea typeface="Nimbus Sans"/>
                <a:cs typeface="Nimbus Sans"/>
              </a:rPr>
              <a:t>Compare trial 1. Which sample let most water through? What makes this a fairer comparison?</a:t>
            </a:r>
          </a:p>
        </p:txBody>
      </p:sp>
      <p:graphicFrame>
        <p:nvGraphicFramePr>
          <p:cNvPr id="25" name=""/>
          <p:cNvGraphicFramePr/>
          <p:nvPr/>
        </p:nvGraphicFramePr>
        <p:xfrm>
          <a:off xmlns:a="http://schemas.openxmlformats.org/drawingml/2006/main" x="533400" y="2295525"/>
          <a:ext xmlns:a="http://schemas.openxmlformats.org/drawingml/2006/main" cx="11125200" cy="2021205"/>
        </p:xfrm>
        <a:graphic xmlns:a="http://schemas.openxmlformats.org/drawingml/2006/main">
          <a:graphicData uri="http://schemas.openxmlformats.org/drawingml/2006/table">
            <a:tbl>
              <a:tblPr firstRow="1" bandRow="0"/>
              <a:tblGrid>
                <a:gridCol w="3105872"/>
                <a:gridCol w="4009664"/>
                <a:gridCol w="4009664"/>
              </a:tblGrid>
              <a:tr h="505301">
                <a:tc>
                  <a:txBody>
                    <a:bodyPr lIns="95250" tIns="95250" rIns="95250" bIns="95250"/>
                    <a:lstStyle/>
                    <a:p>
                      <a:pPr algn="l"/>
                      <a:r>
                        <a:rPr sz="2025" b="1">
                          <a:solidFill>
                            <a:srgbClr val="FFFFFF"/>
                          </a:solidFill>
                          <a:latin typeface="Nimbus Sans"/>
                          <a:ea typeface="Nimbus Sans"/>
                          <a:cs typeface="Nimbus Sans"/>
                        </a:rPr>
                        <a:t>Soil</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Trial 1: mL out</a:t>
                      </a:r>
                    </a:p>
                  </a:txBody>
                  <a:tcPr marL="95250" marR="95250" marT="95250" marB="95250" anchor="ctr">
                    <a:solidFill>
                      <a:srgbClr val="4D82A0"/>
                    </a:solidFill>
                  </a:tcPr>
                </a:tc>
                <a:tc>
                  <a:txBody>
                    <a:bodyPr lIns="95250" tIns="95250" rIns="95250" bIns="95250"/>
                    <a:lstStyle/>
                    <a:p>
                      <a:pPr algn="l"/>
                      <a:r>
                        <a:rPr sz="2025" b="1">
                          <a:solidFill>
                            <a:srgbClr val="FFFFFF"/>
                          </a:solidFill>
                          <a:latin typeface="Nimbus Sans"/>
                          <a:ea typeface="Nimbus Sans"/>
                          <a:cs typeface="Nimbus Sans"/>
                        </a:rPr>
                        <a:t>Trial 2: mL out</a:t>
                      </a:r>
                    </a:p>
                  </a:txBody>
                  <a:tcPr marL="95250" marR="95250" marT="95250" marB="95250" anchor="ctr">
                    <a:solidFill>
                      <a:srgbClr val="4D82A0"/>
                    </a:solidFill>
                  </a:tcPr>
                </a:tc>
              </a:tr>
              <a:tr h="505301">
                <a:tc>
                  <a:txBody>
                    <a:bodyPr lIns="95250" tIns="95250" rIns="95250" bIns="95250"/>
                    <a:lstStyle/>
                    <a:p>
                      <a:pPr algn="l"/>
                      <a:r>
                        <a:rPr sz="2025" b="0">
                          <a:solidFill>
                            <a:srgbClr val="1F2937"/>
                          </a:solidFill>
                          <a:latin typeface="Nimbus Sans"/>
                          <a:ea typeface="Nimbus Sans"/>
                          <a:cs typeface="Nimbus Sans"/>
                        </a:rPr>
                        <a:t>A</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42</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40</a:t>
                      </a:r>
                    </a:p>
                  </a:txBody>
                  <a:tcPr marL="95250" marR="95250" marT="95250" marB="95250" anchor="ctr">
                    <a:solidFill>
                      <a:srgbClr val="F4F7F9"/>
                    </a:solidFill>
                  </a:tcPr>
                </a:tc>
              </a:tr>
              <a:tr h="505301">
                <a:tc>
                  <a:txBody>
                    <a:bodyPr lIns="95250" tIns="95250" rIns="95250" bIns="95250"/>
                    <a:lstStyle/>
                    <a:p>
                      <a:pPr algn="l"/>
                      <a:r>
                        <a:rPr sz="2025" b="0">
                          <a:solidFill>
                            <a:srgbClr val="1F2937"/>
                          </a:solidFill>
                          <a:latin typeface="Nimbus Sans"/>
                          <a:ea typeface="Nimbus Sans"/>
                          <a:cs typeface="Nimbus Sans"/>
                        </a:rPr>
                        <a:t>B</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26</a:t>
                      </a:r>
                    </a:p>
                  </a:txBody>
                  <a:tcPr marL="95250" marR="95250" marT="95250" marB="95250" anchor="ctr">
                    <a:solidFill>
                      <a:srgbClr val="FFFFFF"/>
                    </a:solidFill>
                  </a:tcPr>
                </a:tc>
                <a:tc>
                  <a:txBody>
                    <a:bodyPr lIns="95250" tIns="95250" rIns="95250" bIns="95250"/>
                    <a:lstStyle/>
                    <a:p>
                      <a:pPr algn="l"/>
                      <a:r>
                        <a:rPr sz="2025" b="0">
                          <a:solidFill>
                            <a:srgbClr val="1F2937"/>
                          </a:solidFill>
                          <a:latin typeface="Nimbus Sans"/>
                          <a:ea typeface="Nimbus Sans"/>
                          <a:cs typeface="Nimbus Sans"/>
                        </a:rPr>
                        <a:t>28</a:t>
                      </a:r>
                    </a:p>
                  </a:txBody>
                  <a:tcPr marL="95250" marR="95250" marT="95250" marB="95250" anchor="ctr">
                    <a:solidFill>
                      <a:srgbClr val="FFFFFF"/>
                    </a:solidFill>
                  </a:tcPr>
                </a:tc>
              </a:tr>
              <a:tr h="505301">
                <a:tc>
                  <a:txBody>
                    <a:bodyPr lIns="95250" tIns="95250" rIns="95250" bIns="95250"/>
                    <a:lstStyle/>
                    <a:p>
                      <a:pPr algn="l"/>
                      <a:r>
                        <a:rPr sz="2025" b="0">
                          <a:solidFill>
                            <a:srgbClr val="1F2937"/>
                          </a:solidFill>
                          <a:latin typeface="Nimbus Sans"/>
                          <a:ea typeface="Nimbus Sans"/>
                          <a:cs typeface="Nimbus Sans"/>
                        </a:rPr>
                        <a:t>C</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10</a:t>
                      </a:r>
                    </a:p>
                  </a:txBody>
                  <a:tcPr marL="95250" marR="95250" marT="95250" marB="95250" anchor="ctr">
                    <a:solidFill>
                      <a:srgbClr val="F4F7F9"/>
                    </a:solidFill>
                  </a:tcPr>
                </a:tc>
                <a:tc>
                  <a:txBody>
                    <a:bodyPr lIns="95250" tIns="95250" rIns="95250" bIns="95250"/>
                    <a:lstStyle/>
                    <a:p>
                      <a:pPr algn="l"/>
                      <a:r>
                        <a:rPr sz="2025" b="0">
                          <a:solidFill>
                            <a:srgbClr val="1F2937"/>
                          </a:solidFill>
                          <a:latin typeface="Nimbus Sans"/>
                          <a:ea typeface="Nimbus Sans"/>
                          <a:cs typeface="Nimbus Sans"/>
                        </a:rPr>
                        <a:t>12</a:t>
                      </a:r>
                    </a:p>
                  </a:txBody>
                  <a:tcPr marL="95250" marR="95250" marT="95250" marB="95250" anchor="ctr">
                    <a:solidFill>
                      <a:srgbClr val="F4F7F9"/>
                    </a:solidFill>
                  </a:tcPr>
                </a:tc>
              </a:tr>
            </a:tbl>
          </a:graphicData>
        </a:graphic>
      </p:graphicFrame>
      <p:sp>
        <p:nvSpPr>
          <p:cNvPr id="13" name="Constructed sample data • 60 mL in • collect at 2 minutes">
            <a:extLst xmlns:a="http://schemas.openxmlformats.org/drawingml/2006/main">
              <a:ext uri="{FF2B5EF4-FFF2-40B4-BE49-F238E27FC236}">
                <a16:creationId xmlns:a16="http://schemas.microsoft.com/office/drawing/2014/main" id="{0B1942BA-1155-4A27-AAA7-AF097D39438F}"/>
              </a:ext>
            </a:extLst>
          </p:cNvPr>
          <p:cNvSpPr>
            <a:spLocks xmlns:a="http://schemas.openxmlformats.org/drawingml/2006/main" noGrp="1"/>
          </p:cNvSpPr>
          <p:nvPr/>
        </p:nvSpPr>
        <p:spPr>
          <a:xfrm xmlns:a="http://schemas.openxmlformats.org/drawingml/2006/main">
            <a:off x="533400" y="443103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500" b="0">
                <a:solidFill>
                  <a:srgbClr val="1F2937"/>
                </a:solidFill>
                <a:latin typeface="Nimbus Sans"/>
                <a:ea typeface="Nimbus Sans"/>
                <a:cs typeface="Nimbus Sans"/>
              </a:defRPr>
            </a:pPr>
            <a:r>
              <a:rPr sz="1500" b="0">
                <a:solidFill>
                  <a:srgbClr val="1F2937"/>
                </a:solidFill>
                <a:latin typeface="Nimbus Sans"/>
                <a:ea typeface="Nimbus Sans"/>
                <a:cs typeface="Nimbus Sans"/>
              </a:rPr>
              <a:t>Constructed sample data • 60 mL in • collect at 2 minutes</a:t>
            </a:r>
          </a:p>
        </p:txBody>
      </p:sp>
    </p:spTree>
    <p:extLst>
      <p:ext uri="{BB962C8B-B14F-4D97-AF65-F5344CB8AC3E}">
        <p14:creationId xmlns:p14="http://schemas.microsoft.com/office/powerpoint/2010/main" val="96236429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surface">
            <a:extLst xmlns:a="http://schemas.openxmlformats.org/drawingml/2006/main">
              <a:ext uri="{FF2B5EF4-FFF2-40B4-BE49-F238E27FC236}">
                <a16:creationId xmlns:a16="http://schemas.microsoft.com/office/drawing/2014/main" id="{549EFBB1-1078-48B2-B930-07C6C8A77D3E}"/>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C78F44B9-BFEE-4BFA-AE8B-5BCDF658CFAD}"/>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160E21E-263D-4CF6-82DE-2B3D8D45C65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A55E9DC-2835-4380-9352-01CEBD96FD82}"/>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BUILD SCIENCE</a:t>
            </a:r>
          </a:p>
        </p:txBody>
      </p:sp>
      <p:sp>
        <p:nvSpPr>
          <p:cNvPr id="5" name="Hinge">
            <a:extLst xmlns:a="http://schemas.openxmlformats.org/drawingml/2006/main">
              <a:ext uri="{FF2B5EF4-FFF2-40B4-BE49-F238E27FC236}">
                <a16:creationId xmlns:a16="http://schemas.microsoft.com/office/drawing/2014/main" id="{876C7409-C48E-4A81-987A-04FE0539D19C}"/>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D82A0"/>
                </a:solidFill>
                <a:latin typeface="Nimbus Sans"/>
                <a:ea typeface="Nimbus Sans"/>
                <a:cs typeface="Nimbus Sans"/>
              </a:defRPr>
            </a:pPr>
            <a:r>
              <a:rPr sz="1800" b="1">
                <a:solidFill>
                  <a:srgbClr val="4D82A0"/>
                </a:solidFill>
                <a:latin typeface="Nimbus Sans"/>
                <a:ea typeface="Nimbus Sans"/>
                <a:cs typeface="Nimbus Sans"/>
              </a:rPr>
              <a:t>Hinge</a:t>
            </a:r>
          </a:p>
        </p:txBody>
      </p:sp>
      <p:sp>
        <p:nvSpPr>
          <p:cNvPr id="6" name="3 min">
            <a:extLst xmlns:a="http://schemas.openxmlformats.org/drawingml/2006/main">
              <a:ext uri="{FF2B5EF4-FFF2-40B4-BE49-F238E27FC236}">
                <a16:creationId xmlns:a16="http://schemas.microsoft.com/office/drawing/2014/main" id="{4F05EA85-385B-405E-AD8D-7FAF81CF706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What can we conclude?">
            <a:extLst xmlns:a="http://schemas.openxmlformats.org/drawingml/2006/main">
              <a:ext uri="{FF2B5EF4-FFF2-40B4-BE49-F238E27FC236}">
                <a16:creationId xmlns:a16="http://schemas.microsoft.com/office/drawing/2014/main" id="{EDD6F0D0-089B-4E10-B0CC-7A4EC4F4CE6D}"/>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What can we conclude?</a:t>
            </a:r>
          </a:p>
        </p:txBody>
      </p:sp>
      <p:sp>
        <p:nvSpPr>
          <p:cNvPr id="8" name="surface">
            <a:extLst xmlns:a="http://schemas.openxmlformats.org/drawingml/2006/main">
              <a:ext uri="{FF2B5EF4-FFF2-40B4-BE49-F238E27FC236}">
                <a16:creationId xmlns:a16="http://schemas.microsoft.com/office/drawing/2014/main" id="{FD01F5A5-1FF9-4178-A8D1-EC4C5F99F97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DC4B2363-76E7-47A3-BC47-B75474A88E86}"/>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8 / 14">
            <a:extLst xmlns:a="http://schemas.openxmlformats.org/drawingml/2006/main">
              <a:ext uri="{FF2B5EF4-FFF2-40B4-BE49-F238E27FC236}">
                <a16:creationId xmlns:a16="http://schemas.microsoft.com/office/drawing/2014/main" id="{688AF5B3-95BF-4D16-8B20-D63E3C28E69E}"/>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8 / 14</a:t>
            </a:r>
          </a:p>
        </p:txBody>
      </p:sp>
      <p:sp>
        <p:nvSpPr>
          <p:cNvPr id="11" name="Choose the best claim.">
            <a:extLst xmlns:a="http://schemas.openxmlformats.org/drawingml/2006/main">
              <a:ext uri="{FF2B5EF4-FFF2-40B4-BE49-F238E27FC236}">
                <a16:creationId xmlns:a16="http://schemas.microsoft.com/office/drawing/2014/main" id="{592250AE-04FE-45DE-A18E-19D3017BF1D3}"/>
              </a:ext>
            </a:extLst>
          </p:cNvPr>
          <p:cNvSpPr>
            <a:spLocks xmlns:a="http://schemas.openxmlformats.org/drawingml/2006/main" noGrp="1"/>
          </p:cNvSpPr>
          <p:nvPr/>
        </p:nvSpPr>
        <p:spPr>
          <a:xfrm xmlns:a="http://schemas.openxmlformats.org/drawingml/2006/main">
            <a:off x="533400" y="1866900"/>
            <a:ext cx="111252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0">
                <a:solidFill>
                  <a:srgbClr val="1F2937"/>
                </a:solidFill>
                <a:latin typeface="Nimbus Sans"/>
                <a:ea typeface="Nimbus Sans"/>
                <a:cs typeface="Nimbus Sans"/>
              </a:defRPr>
            </a:pPr>
            <a:r>
              <a:rPr sz="2175" b="0">
                <a:solidFill>
                  <a:srgbClr val="1F2937"/>
                </a:solidFill>
                <a:latin typeface="Nimbus Sans"/>
                <a:ea typeface="Nimbus Sans"/>
                <a:cs typeface="Nimbus Sans"/>
              </a:rPr>
              <a:t>Choose the best claim.</a:t>
            </a:r>
          </a:p>
        </p:txBody>
      </p:sp>
      <p:sp>
        <p:nvSpPr>
          <p:cNvPr id="12" name="surface">
            <a:extLst xmlns:a="http://schemas.openxmlformats.org/drawingml/2006/main">
              <a:ext uri="{FF2B5EF4-FFF2-40B4-BE49-F238E27FC236}">
                <a16:creationId xmlns:a16="http://schemas.microsoft.com/office/drawing/2014/main" id="{FBCAADA5-4A4F-4596-8764-313C73B2272C}"/>
              </a:ext>
            </a:extLst>
          </p:cNvPr>
          <p:cNvSpPr>
            <a:spLocks xmlns:a="http://schemas.openxmlformats.org/drawingml/2006/main" noGrp="1"/>
          </p:cNvSpPr>
          <p:nvPr/>
        </p:nvSpPr>
        <p:spPr>
          <a:xfrm xmlns:a="http://schemas.openxmlformats.org/drawingml/2006/main">
            <a:off x="533400" y="23526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3" name="surface">
            <a:extLst xmlns:a="http://schemas.openxmlformats.org/drawingml/2006/main">
              <a:ext uri="{FF2B5EF4-FFF2-40B4-BE49-F238E27FC236}">
                <a16:creationId xmlns:a16="http://schemas.microsoft.com/office/drawing/2014/main" id="{C0C01F5F-6098-4608-8B1A-7959E4AF66EB}"/>
              </a:ext>
            </a:extLst>
          </p:cNvPr>
          <p:cNvSpPr>
            <a:spLocks xmlns:a="http://schemas.openxmlformats.org/drawingml/2006/main" noGrp="1"/>
          </p:cNvSpPr>
          <p:nvPr/>
        </p:nvSpPr>
        <p:spPr>
          <a:xfrm xmlns:a="http://schemas.openxmlformats.org/drawingml/2006/main">
            <a:off x="533400" y="23526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4" name="A">
            <a:extLst xmlns:a="http://schemas.openxmlformats.org/drawingml/2006/main">
              <a:ext uri="{FF2B5EF4-FFF2-40B4-BE49-F238E27FC236}">
                <a16:creationId xmlns:a16="http://schemas.microsoft.com/office/drawing/2014/main" id="{3746BECB-4C7E-40EA-832C-8F858CE08D0E}"/>
              </a:ext>
            </a:extLst>
          </p:cNvPr>
          <p:cNvSpPr>
            <a:spLocks xmlns:a="http://schemas.openxmlformats.org/drawingml/2006/main" noGrp="1"/>
          </p:cNvSpPr>
          <p:nvPr/>
        </p:nvSpPr>
        <p:spPr>
          <a:xfrm xmlns:a="http://schemas.openxmlformats.org/drawingml/2006/main">
            <a:off x="733425" y="24955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A</a:t>
            </a:r>
          </a:p>
        </p:txBody>
      </p:sp>
      <p:sp>
        <p:nvSpPr>
          <p:cNvPr id="15" name="A let most water through in this two-minute test.">
            <a:extLst xmlns:a="http://schemas.openxmlformats.org/drawingml/2006/main">
              <a:ext uri="{FF2B5EF4-FFF2-40B4-BE49-F238E27FC236}">
                <a16:creationId xmlns:a16="http://schemas.microsoft.com/office/drawing/2014/main" id="{CA74048A-FA32-4CF3-90BB-ADE3B79F2E91}"/>
              </a:ext>
            </a:extLst>
          </p:cNvPr>
          <p:cNvSpPr>
            <a:spLocks xmlns:a="http://schemas.openxmlformats.org/drawingml/2006/main" noGrp="1"/>
          </p:cNvSpPr>
          <p:nvPr/>
        </p:nvSpPr>
        <p:spPr>
          <a:xfrm xmlns:a="http://schemas.openxmlformats.org/drawingml/2006/main">
            <a:off x="1266825" y="24955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A let most water through in this two-minute test.</a:t>
            </a:r>
          </a:p>
        </p:txBody>
      </p:sp>
      <p:sp>
        <p:nvSpPr>
          <p:cNvPr id="16" name="surface">
            <a:extLst xmlns:a="http://schemas.openxmlformats.org/drawingml/2006/main">
              <a:ext uri="{FF2B5EF4-FFF2-40B4-BE49-F238E27FC236}">
                <a16:creationId xmlns:a16="http://schemas.microsoft.com/office/drawing/2014/main" id="{629681C4-757A-4698-8530-21DE61B9FBD2}"/>
              </a:ext>
            </a:extLst>
          </p:cNvPr>
          <p:cNvSpPr>
            <a:spLocks xmlns:a="http://schemas.openxmlformats.org/drawingml/2006/main" noGrp="1"/>
          </p:cNvSpPr>
          <p:nvPr/>
        </p:nvSpPr>
        <p:spPr>
          <a:xfrm xmlns:a="http://schemas.openxmlformats.org/drawingml/2006/main">
            <a:off x="533400" y="35337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17" name="surface">
            <a:extLst xmlns:a="http://schemas.openxmlformats.org/drawingml/2006/main">
              <a:ext uri="{FF2B5EF4-FFF2-40B4-BE49-F238E27FC236}">
                <a16:creationId xmlns:a16="http://schemas.microsoft.com/office/drawing/2014/main" id="{4088BC06-DDDB-4A34-AB56-9DBF09E4A2B9}"/>
              </a:ext>
            </a:extLst>
          </p:cNvPr>
          <p:cNvSpPr>
            <a:spLocks xmlns:a="http://schemas.openxmlformats.org/drawingml/2006/main" noGrp="1"/>
          </p:cNvSpPr>
          <p:nvPr/>
        </p:nvSpPr>
        <p:spPr>
          <a:xfrm xmlns:a="http://schemas.openxmlformats.org/drawingml/2006/main">
            <a:off x="533400" y="35337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18" name="B">
            <a:extLst xmlns:a="http://schemas.openxmlformats.org/drawingml/2006/main">
              <a:ext uri="{FF2B5EF4-FFF2-40B4-BE49-F238E27FC236}">
                <a16:creationId xmlns:a16="http://schemas.microsoft.com/office/drawing/2014/main" id="{00525461-C3FC-4758-9213-446565BECB6C}"/>
              </a:ext>
            </a:extLst>
          </p:cNvPr>
          <p:cNvSpPr>
            <a:spLocks xmlns:a="http://schemas.openxmlformats.org/drawingml/2006/main" noGrp="1"/>
          </p:cNvSpPr>
          <p:nvPr/>
        </p:nvSpPr>
        <p:spPr>
          <a:xfrm xmlns:a="http://schemas.openxmlformats.org/drawingml/2006/main">
            <a:off x="733425" y="36766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B</a:t>
            </a:r>
          </a:p>
        </p:txBody>
      </p:sp>
      <p:sp>
        <p:nvSpPr>
          <p:cNvPr id="19" name="C is the best soil for every plant.">
            <a:extLst xmlns:a="http://schemas.openxmlformats.org/drawingml/2006/main">
              <a:ext uri="{FF2B5EF4-FFF2-40B4-BE49-F238E27FC236}">
                <a16:creationId xmlns:a16="http://schemas.microsoft.com/office/drawing/2014/main" id="{DC346702-43D2-4354-BA2C-341C7DFD06D8}"/>
              </a:ext>
            </a:extLst>
          </p:cNvPr>
          <p:cNvSpPr>
            <a:spLocks xmlns:a="http://schemas.openxmlformats.org/drawingml/2006/main" noGrp="1"/>
          </p:cNvSpPr>
          <p:nvPr/>
        </p:nvSpPr>
        <p:spPr>
          <a:xfrm xmlns:a="http://schemas.openxmlformats.org/drawingml/2006/main">
            <a:off x="1266825" y="36766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C is the best soil for every plant.</a:t>
            </a:r>
          </a:p>
        </p:txBody>
      </p:sp>
      <p:sp>
        <p:nvSpPr>
          <p:cNvPr id="20" name="surface">
            <a:extLst xmlns:a="http://schemas.openxmlformats.org/drawingml/2006/main">
              <a:ext uri="{FF2B5EF4-FFF2-40B4-BE49-F238E27FC236}">
                <a16:creationId xmlns:a16="http://schemas.microsoft.com/office/drawing/2014/main" id="{A99BCB31-D087-4677-A665-FFC5502DB5A4}"/>
              </a:ext>
            </a:extLst>
          </p:cNvPr>
          <p:cNvSpPr>
            <a:spLocks xmlns:a="http://schemas.openxmlformats.org/drawingml/2006/main" noGrp="1"/>
          </p:cNvSpPr>
          <p:nvPr/>
        </p:nvSpPr>
        <p:spPr>
          <a:xfrm xmlns:a="http://schemas.openxmlformats.org/drawingml/2006/main">
            <a:off x="533400" y="4714875"/>
            <a:ext cx="11125200" cy="1066800"/>
          </a:xfrm>
          <a:prstGeom xmlns:a="http://schemas.openxmlformats.org/drawingml/2006/main" prst="rect">
            <a:avLst/>
          </a:prstGeom>
          <a:solidFill xmlns:a="http://schemas.openxmlformats.org/drawingml/2006/main">
            <a:srgbClr val="E4EDF2"/>
          </a:solidFill>
          <a:ln xmlns:a="http://schemas.openxmlformats.org/drawingml/2006/main" w="0">
            <a:noFill/>
          </a:ln>
        </p:spPr>
      </p:sp>
      <p:sp>
        <p:nvSpPr>
          <p:cNvPr id="21" name="surface">
            <a:extLst xmlns:a="http://schemas.openxmlformats.org/drawingml/2006/main">
              <a:ext uri="{FF2B5EF4-FFF2-40B4-BE49-F238E27FC236}">
                <a16:creationId xmlns:a16="http://schemas.microsoft.com/office/drawing/2014/main" id="{1D3D3357-ED9A-4F85-B0DA-9CD0AB88949D}"/>
              </a:ext>
            </a:extLst>
          </p:cNvPr>
          <p:cNvSpPr>
            <a:spLocks xmlns:a="http://schemas.openxmlformats.org/drawingml/2006/main" noGrp="1"/>
          </p:cNvSpPr>
          <p:nvPr/>
        </p:nvSpPr>
        <p:spPr>
          <a:xfrm xmlns:a="http://schemas.openxmlformats.org/drawingml/2006/main">
            <a:off x="533400" y="4714875"/>
            <a:ext cx="57150" cy="1066800"/>
          </a:xfrm>
          <a:prstGeom xmlns:a="http://schemas.openxmlformats.org/drawingml/2006/main" prst="rect">
            <a:avLst/>
          </a:prstGeom>
          <a:solidFill xmlns:a="http://schemas.openxmlformats.org/drawingml/2006/main">
            <a:srgbClr val="4D82A0"/>
          </a:solidFill>
          <a:ln xmlns:a="http://schemas.openxmlformats.org/drawingml/2006/main" w="0">
            <a:noFill/>
          </a:ln>
        </p:spPr>
      </p:sp>
      <p:sp>
        <p:nvSpPr>
          <p:cNvPr id="22" name="C">
            <a:extLst xmlns:a="http://schemas.openxmlformats.org/drawingml/2006/main">
              <a:ext uri="{FF2B5EF4-FFF2-40B4-BE49-F238E27FC236}">
                <a16:creationId xmlns:a16="http://schemas.microsoft.com/office/drawing/2014/main" id="{24C28473-CE87-4FB2-B1C9-4545ACEAA16C}"/>
              </a:ext>
            </a:extLst>
          </p:cNvPr>
          <p:cNvSpPr>
            <a:spLocks xmlns:a="http://schemas.openxmlformats.org/drawingml/2006/main" noGrp="1"/>
          </p:cNvSpPr>
          <p:nvPr/>
        </p:nvSpPr>
        <p:spPr>
          <a:xfrm xmlns:a="http://schemas.openxmlformats.org/drawingml/2006/main">
            <a:off x="733425" y="4857750"/>
            <a:ext cx="476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250" b="1">
                <a:solidFill>
                  <a:srgbClr val="4D82A0"/>
                </a:solidFill>
                <a:latin typeface="Nimbus Sans"/>
                <a:ea typeface="Nimbus Sans"/>
                <a:cs typeface="Nimbus Sans"/>
              </a:defRPr>
            </a:pPr>
            <a:r>
              <a:rPr sz="2250" b="1">
                <a:solidFill>
                  <a:srgbClr val="4D82A0"/>
                </a:solidFill>
                <a:latin typeface="Nimbus Sans"/>
                <a:ea typeface="Nimbus Sans"/>
                <a:cs typeface="Nimbus Sans"/>
              </a:rPr>
              <a:t>C</a:t>
            </a:r>
          </a:p>
        </p:txBody>
      </p:sp>
      <p:sp>
        <p:nvSpPr>
          <p:cNvPr id="23" name="A must always drain fastest outdoors.">
            <a:extLst xmlns:a="http://schemas.openxmlformats.org/drawingml/2006/main">
              <a:ext uri="{FF2B5EF4-FFF2-40B4-BE49-F238E27FC236}">
                <a16:creationId xmlns:a16="http://schemas.microsoft.com/office/drawing/2014/main" id="{9C42EC4A-3D6E-480D-8AA7-1B015C7CEBC5}"/>
              </a:ext>
            </a:extLst>
          </p:cNvPr>
          <p:cNvSpPr>
            <a:spLocks xmlns:a="http://schemas.openxmlformats.org/drawingml/2006/main" noGrp="1"/>
          </p:cNvSpPr>
          <p:nvPr/>
        </p:nvSpPr>
        <p:spPr>
          <a:xfrm xmlns:a="http://schemas.openxmlformats.org/drawingml/2006/main">
            <a:off x="1266825" y="4857750"/>
            <a:ext cx="101441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00" b="0">
                <a:solidFill>
                  <a:srgbClr val="1F2937"/>
                </a:solidFill>
                <a:latin typeface="Nimbus Sans"/>
                <a:ea typeface="Nimbus Sans"/>
                <a:cs typeface="Nimbus Sans"/>
              </a:defRPr>
            </a:pPr>
            <a:r>
              <a:rPr sz="2100" b="0">
                <a:solidFill>
                  <a:srgbClr val="1F2937"/>
                </a:solidFill>
                <a:latin typeface="Nimbus Sans"/>
                <a:ea typeface="Nimbus Sans"/>
                <a:cs typeface="Nimbus Sans"/>
              </a:rPr>
              <a:t>A must always drain fastest outdoors.</a:t>
            </a:r>
          </a:p>
        </p:txBody>
      </p:sp>
    </p:spTree>
    <p:extLst>
      <p:ext uri="{BB962C8B-B14F-4D97-AF65-F5344CB8AC3E}">
        <p14:creationId xmlns:p14="http://schemas.microsoft.com/office/powerpoint/2010/main" val="190493146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41E785B0-D70E-4C35-8374-9F6F80F95F2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75E66310-2765-4355-9691-18F52EFC53B0}"/>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ACAE7817-957E-4162-BFAB-D9E9245675C4}"/>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07EADB58-18D3-48A0-B80B-8CAD3AA8F89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94AA1431-D61B-4F4B-83ED-50E9A3F9C664}"/>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2 min">
            <a:extLst xmlns:a="http://schemas.openxmlformats.org/drawingml/2006/main">
              <a:ext uri="{FF2B5EF4-FFF2-40B4-BE49-F238E27FC236}">
                <a16:creationId xmlns:a16="http://schemas.microsoft.com/office/drawing/2014/main" id="{5DE01FC7-F679-4A8A-B1EA-DFB448D8D03A}"/>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Take a role; choose a route">
            <a:extLst xmlns:a="http://schemas.openxmlformats.org/drawingml/2006/main">
              <a:ext uri="{FF2B5EF4-FFF2-40B4-BE49-F238E27FC236}">
                <a16:creationId xmlns:a16="http://schemas.microsoft.com/office/drawing/2014/main" id="{297F1E0F-FACD-4AD0-B32F-BF78C1D1F482}"/>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Take a role; choose a route</a:t>
            </a:r>
          </a:p>
        </p:txBody>
      </p:sp>
      <p:sp>
        <p:nvSpPr>
          <p:cNvPr id="8" name="surface">
            <a:extLst xmlns:a="http://schemas.openxmlformats.org/drawingml/2006/main">
              <a:ext uri="{FF2B5EF4-FFF2-40B4-BE49-F238E27FC236}">
                <a16:creationId xmlns:a16="http://schemas.microsoft.com/office/drawing/2014/main" id="{C8AD94A3-EFD5-495F-9FAB-542C35C7AE34}"/>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D0CD1522-5471-4710-AA9F-AF62CC7F4780}"/>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9 / 14">
            <a:extLst xmlns:a="http://schemas.openxmlformats.org/drawingml/2006/main">
              <a:ext uri="{FF2B5EF4-FFF2-40B4-BE49-F238E27FC236}">
                <a16:creationId xmlns:a16="http://schemas.microsoft.com/office/drawing/2014/main" id="{8F74EB1C-7848-4959-993F-54344DBC6B09}"/>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9 / 14</a:t>
            </a:r>
          </a:p>
        </p:txBody>
      </p:sp>
      <p:sp>
        <p:nvSpPr>
          <p:cNvPr id="11" name="Timer, reader or recorder.">
            <a:extLst xmlns:a="http://schemas.openxmlformats.org/drawingml/2006/main">
              <a:ext uri="{FF2B5EF4-FFF2-40B4-BE49-F238E27FC236}">
                <a16:creationId xmlns:a16="http://schemas.microsoft.com/office/drawing/2014/main" id="{A59AB229-23F4-4FE8-869A-E0EDEA3E75D1}"/>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Timer, reader or recorder.</a:t>
            </a:r>
          </a:p>
        </p:txBody>
      </p:sp>
      <p:sp>
        <p:nvSpPr>
          <p:cNvPr id="12" name="Or work with the paper data.">
            <a:extLst xmlns:a="http://schemas.openxmlformats.org/drawingml/2006/main">
              <a:ext uri="{FF2B5EF4-FFF2-40B4-BE49-F238E27FC236}">
                <a16:creationId xmlns:a16="http://schemas.microsoft.com/office/drawing/2014/main" id="{E3EFAEF0-3823-4BC2-A4FB-9A2E05AC6D2B}"/>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Or work with the paper data.</a:t>
            </a:r>
          </a:p>
        </p:txBody>
      </p:sp>
      <p:sp>
        <p:nvSpPr>
          <p:cNvPr id="13" name="Use a result to justify your claim.">
            <a:extLst xmlns:a="http://schemas.openxmlformats.org/drawingml/2006/main">
              <a:ext uri="{FF2B5EF4-FFF2-40B4-BE49-F238E27FC236}">
                <a16:creationId xmlns:a16="http://schemas.microsoft.com/office/drawing/2014/main" id="{7E8AED45-357E-4993-8B27-0B9789DACDAF}"/>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Use a result to justify your claim.</a:t>
            </a:r>
          </a:p>
        </p:txBody>
      </p:sp>
    </p:spTree>
    <p:extLst>
      <p:ext uri="{BB962C8B-B14F-4D97-AF65-F5344CB8AC3E}">
        <p14:creationId xmlns:p14="http://schemas.microsoft.com/office/powerpoint/2010/main" val="1466536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CA08A8FE-F039-4945-A5B8-2734CE1A781A}"/>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F3C61638-C1EA-4DA4-BBD2-9A188CC984C9}"/>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7F03856B-49A1-40E1-82DC-BBB40951FFCE}"/>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6C427DCF-6C0C-4451-B1F4-BB4246B2965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D4F3CE7C-DE8F-46D4-AFC0-D4F91DA6E99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Our method in six actions">
            <a:extLst xmlns:a="http://schemas.openxmlformats.org/drawingml/2006/main">
              <a:ext uri="{FF2B5EF4-FFF2-40B4-BE49-F238E27FC236}">
                <a16:creationId xmlns:a16="http://schemas.microsoft.com/office/drawing/2014/main" id="{A3169C20-DF0B-403B-9537-BDE1696A51A8}"/>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Our method in six actions</a:t>
            </a:r>
          </a:p>
        </p:txBody>
      </p:sp>
      <p:sp>
        <p:nvSpPr>
          <p:cNvPr id="7" name="surface">
            <a:extLst xmlns:a="http://schemas.openxmlformats.org/drawingml/2006/main">
              <a:ext uri="{FF2B5EF4-FFF2-40B4-BE49-F238E27FC236}">
                <a16:creationId xmlns:a16="http://schemas.microsoft.com/office/drawing/2014/main" id="{7955B87D-1F93-453C-8DE9-1CEC3178AC91}"/>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oil: let the water through">
            <a:extLst xmlns:a="http://schemas.openxmlformats.org/drawingml/2006/main">
              <a:ext uri="{FF2B5EF4-FFF2-40B4-BE49-F238E27FC236}">
                <a16:creationId xmlns:a16="http://schemas.microsoft.com/office/drawing/2014/main" id="{9513AA99-2170-48A0-8B5C-A0DC7313BDC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9" name="10 / 14">
            <a:extLst xmlns:a="http://schemas.openxmlformats.org/drawingml/2006/main">
              <a:ext uri="{FF2B5EF4-FFF2-40B4-BE49-F238E27FC236}">
                <a16:creationId xmlns:a16="http://schemas.microsoft.com/office/drawing/2014/main" id="{03D28851-3678-4A89-A169-6A9AF9522AF8}"/>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10 / 14</a:t>
            </a:r>
          </a:p>
        </p:txBody>
      </p:sp>
      <p:sp>
        <p:nvSpPr>
          <p:cNvPr id="10" name="Fill; measure; start timer.">
            <a:extLst xmlns:a="http://schemas.openxmlformats.org/drawingml/2006/main">
              <a:ext uri="{FF2B5EF4-FFF2-40B4-BE49-F238E27FC236}">
                <a16:creationId xmlns:a16="http://schemas.microsoft.com/office/drawing/2014/main" id="{DA13DDFF-939B-4EEA-9793-DA5675A67C27}"/>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Fill; measure; start timer.</a:t>
            </a:r>
          </a:p>
        </p:txBody>
      </p:sp>
      <p:sp>
        <p:nvSpPr>
          <p:cNvPr id="11" name="Pour; collect; read.">
            <a:extLst xmlns:a="http://schemas.openxmlformats.org/drawingml/2006/main">
              <a:ext uri="{FF2B5EF4-FFF2-40B4-BE49-F238E27FC236}">
                <a16:creationId xmlns:a16="http://schemas.microsoft.com/office/drawing/2014/main" id="{214160CE-1443-4AE2-A343-DF9962B48A57}"/>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Pour; collect; read.</a:t>
            </a:r>
          </a:p>
        </p:txBody>
      </p:sp>
      <p:sp>
        <p:nvSpPr>
          <p:cNvPr id="12" name="Keep the conditions the same.">
            <a:extLst xmlns:a="http://schemas.openxmlformats.org/drawingml/2006/main">
              <a:ext uri="{FF2B5EF4-FFF2-40B4-BE49-F238E27FC236}">
                <a16:creationId xmlns:a16="http://schemas.microsoft.com/office/drawing/2014/main" id="{F3F6F6F7-538A-4F20-BA05-025E67AF71B4}"/>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Keep the conditions the same.</a:t>
            </a:r>
          </a:p>
        </p:txBody>
      </p:sp>
    </p:spTree>
    <p:extLst>
      <p:ext uri="{BB962C8B-B14F-4D97-AF65-F5344CB8AC3E}">
        <p14:creationId xmlns:p14="http://schemas.microsoft.com/office/powerpoint/2010/main" val="198326785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D29CCE01-869B-4791-821B-41107EFE9E44}"/>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384DBFC-4ABA-486D-A62E-F84DC205B58A}"/>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0DAEC94-C06A-428F-A937-B21896517D53}"/>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7095CE94-34E0-4B14-9CC5-EF81925B57D0}"/>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A38134A0-E8DF-4D8E-993B-93286D9B104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10 min">
            <a:extLst xmlns:a="http://schemas.openxmlformats.org/drawingml/2006/main">
              <a:ext uri="{FF2B5EF4-FFF2-40B4-BE49-F238E27FC236}">
                <a16:creationId xmlns:a16="http://schemas.microsoft.com/office/drawing/2014/main" id="{EFBDEEA1-0CD7-4F1D-A177-47CFC30A65F2}"/>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10 min</a:t>
            </a:r>
          </a:p>
        </p:txBody>
      </p:sp>
      <p:sp>
        <p:nvSpPr>
          <p:cNvPr id="7" name="Make the evidence count">
            <a:extLst xmlns:a="http://schemas.openxmlformats.org/drawingml/2006/main">
              <a:ext uri="{FF2B5EF4-FFF2-40B4-BE49-F238E27FC236}">
                <a16:creationId xmlns:a16="http://schemas.microsoft.com/office/drawing/2014/main" id="{3F763109-BCCE-421F-9AA0-E89D5C03F31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Make the evidence count</a:t>
            </a:r>
          </a:p>
        </p:txBody>
      </p:sp>
      <p:sp>
        <p:nvSpPr>
          <p:cNvPr id="8" name="surface">
            <a:extLst xmlns:a="http://schemas.openxmlformats.org/drawingml/2006/main">
              <a:ext uri="{FF2B5EF4-FFF2-40B4-BE49-F238E27FC236}">
                <a16:creationId xmlns:a16="http://schemas.microsoft.com/office/drawing/2014/main" id="{4E9FD3F8-C306-410A-BF7B-F60A19F5822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B4F76BA4-B610-450A-9E6E-234FAA68457E}"/>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11 / 14">
            <a:extLst xmlns:a="http://schemas.openxmlformats.org/drawingml/2006/main">
              <a:ext uri="{FF2B5EF4-FFF2-40B4-BE49-F238E27FC236}">
                <a16:creationId xmlns:a16="http://schemas.microsoft.com/office/drawing/2014/main" id="{E1F31F44-2751-45EA-A8AC-29FED661C5F2}"/>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11 / 14</a:t>
            </a:r>
          </a:p>
        </p:txBody>
      </p:sp>
      <p:sp>
        <p:nvSpPr>
          <p:cNvPr id="11" name="Write the volume with mL.">
            <a:extLst xmlns:a="http://schemas.openxmlformats.org/drawingml/2006/main">
              <a:ext uri="{FF2B5EF4-FFF2-40B4-BE49-F238E27FC236}">
                <a16:creationId xmlns:a16="http://schemas.microsoft.com/office/drawing/2014/main" id="{3C058BD6-A466-485C-B2B5-EA3CCADA9CD1}"/>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Write the volume with mL.</a:t>
            </a:r>
          </a:p>
        </p:txBody>
      </p:sp>
      <p:sp>
        <p:nvSpPr>
          <p:cNvPr id="12" name="Compare A, B and C.">
            <a:extLst xmlns:a="http://schemas.openxmlformats.org/drawingml/2006/main">
              <a:ext uri="{FF2B5EF4-FFF2-40B4-BE49-F238E27FC236}">
                <a16:creationId xmlns:a16="http://schemas.microsoft.com/office/drawing/2014/main" id="{AA0D8526-7FE1-4C06-9988-BDBAE173E2B6}"/>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Compare A, B and C.</a:t>
            </a:r>
          </a:p>
        </p:txBody>
      </p:sp>
      <p:sp>
        <p:nvSpPr>
          <p:cNvPr id="13" name="Finish: “In this test, __ because __.”">
            <a:extLst xmlns:a="http://schemas.openxmlformats.org/drawingml/2006/main">
              <a:ext uri="{FF2B5EF4-FFF2-40B4-BE49-F238E27FC236}">
                <a16:creationId xmlns:a16="http://schemas.microsoft.com/office/drawing/2014/main" id="{BBB64A6D-491A-4C3A-AF28-B87632D62B84}"/>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Finish: “In this test, __ because __.”</a:t>
            </a:r>
          </a:p>
        </p:txBody>
      </p:sp>
    </p:spTree>
    <p:extLst>
      <p:ext uri="{BB962C8B-B14F-4D97-AF65-F5344CB8AC3E}">
        <p14:creationId xmlns:p14="http://schemas.microsoft.com/office/powerpoint/2010/main" val="38326880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urface">
            <a:extLst xmlns:a="http://schemas.openxmlformats.org/drawingml/2006/main">
              <a:ext uri="{FF2B5EF4-FFF2-40B4-BE49-F238E27FC236}">
                <a16:creationId xmlns:a16="http://schemas.microsoft.com/office/drawing/2014/main" id="{34EC878F-A887-4673-9C37-81A1F6E09328}"/>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CEFF665-B388-4CDB-AF94-28F3E6D79724}"/>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F8F1D9"/>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285A177C-CEE3-41F9-BA7A-20A39AB3E372}"/>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D8A63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6C2F2C20-A947-4EAE-8F84-45B9DF8DFA8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BUILD SCIENCE</a:t>
            </a:r>
          </a:p>
        </p:txBody>
      </p:sp>
      <p:sp>
        <p:nvSpPr>
          <p:cNvPr id="5" name="You do">
            <a:extLst xmlns:a="http://schemas.openxmlformats.org/drawingml/2006/main">
              <a:ext uri="{FF2B5EF4-FFF2-40B4-BE49-F238E27FC236}">
                <a16:creationId xmlns:a16="http://schemas.microsoft.com/office/drawing/2014/main" id="{3A294969-B6AE-4F2A-B4BA-2A4FE050FA46}"/>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D8A63B"/>
                </a:solidFill>
                <a:latin typeface="Nimbus Sans"/>
                <a:ea typeface="Nimbus Sans"/>
                <a:cs typeface="Nimbus Sans"/>
              </a:defRPr>
            </a:pPr>
            <a:r>
              <a:rPr sz="1800" b="1">
                <a:solidFill>
                  <a:srgbClr val="D8A63B"/>
                </a:solidFill>
                <a:latin typeface="Nimbus Sans"/>
                <a:ea typeface="Nimbus Sans"/>
                <a:cs typeface="Nimbus Sans"/>
              </a:rPr>
              <a:t>You do</a:t>
            </a:r>
          </a:p>
        </p:txBody>
      </p:sp>
      <p:sp>
        <p:nvSpPr>
          <p:cNvPr id="6" name="Check before you claim">
            <a:extLst xmlns:a="http://schemas.openxmlformats.org/drawingml/2006/main">
              <a:ext uri="{FF2B5EF4-FFF2-40B4-BE49-F238E27FC236}">
                <a16:creationId xmlns:a16="http://schemas.microsoft.com/office/drawing/2014/main" id="{DA72F081-FF53-4E20-9031-33B117176FBE}"/>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Check before you claim</a:t>
            </a:r>
          </a:p>
        </p:txBody>
      </p:sp>
      <p:sp>
        <p:nvSpPr>
          <p:cNvPr id="7" name="surface">
            <a:extLst xmlns:a="http://schemas.openxmlformats.org/drawingml/2006/main">
              <a:ext uri="{FF2B5EF4-FFF2-40B4-BE49-F238E27FC236}">
                <a16:creationId xmlns:a16="http://schemas.microsoft.com/office/drawing/2014/main" id="{66E2FC97-52D4-4315-9CD7-6ABE6ED37F9B}"/>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8" name="Soil: let the water through">
            <a:extLst xmlns:a="http://schemas.openxmlformats.org/drawingml/2006/main">
              <a:ext uri="{FF2B5EF4-FFF2-40B4-BE49-F238E27FC236}">
                <a16:creationId xmlns:a16="http://schemas.microsoft.com/office/drawing/2014/main" id="{19968E4F-EFF7-4E7F-AF0F-9E7BFBFAD22B}"/>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9" name="12 / 14">
            <a:extLst xmlns:a="http://schemas.openxmlformats.org/drawingml/2006/main">
              <a:ext uri="{FF2B5EF4-FFF2-40B4-BE49-F238E27FC236}">
                <a16:creationId xmlns:a16="http://schemas.microsoft.com/office/drawing/2014/main" id="{417474CA-A431-4C57-940F-58E5FA6CA6C7}"/>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12 / 14</a:t>
            </a:r>
          </a:p>
        </p:txBody>
      </p:sp>
      <p:sp>
        <p:nvSpPr>
          <p:cNvPr id="10" name="Did each test use the same input?">
            <a:extLst xmlns:a="http://schemas.openxmlformats.org/drawingml/2006/main">
              <a:ext uri="{FF2B5EF4-FFF2-40B4-BE49-F238E27FC236}">
                <a16:creationId xmlns:a16="http://schemas.microsoft.com/office/drawing/2014/main" id="{2CE278E4-2637-44B9-A327-C5A7E23D231F}"/>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Did each test use the same input?</a:t>
            </a:r>
          </a:p>
        </p:txBody>
      </p:sp>
      <p:sp>
        <p:nvSpPr>
          <p:cNvPr id="11" name="Did we read at the same time?">
            <a:extLst xmlns:a="http://schemas.openxmlformats.org/drawingml/2006/main">
              <a:ext uri="{FF2B5EF4-FFF2-40B4-BE49-F238E27FC236}">
                <a16:creationId xmlns:a16="http://schemas.microsoft.com/office/drawing/2014/main" id="{0F2AA904-D5BC-4CBC-A657-121FDC30924C}"/>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Did we read at the same time?</a:t>
            </a:r>
          </a:p>
        </p:txBody>
      </p:sp>
      <p:sp>
        <p:nvSpPr>
          <p:cNvPr id="12" name="Does my claim name this test?">
            <a:extLst xmlns:a="http://schemas.openxmlformats.org/drawingml/2006/main">
              <a:ext uri="{FF2B5EF4-FFF2-40B4-BE49-F238E27FC236}">
                <a16:creationId xmlns:a16="http://schemas.microsoft.com/office/drawing/2014/main" id="{D8018507-F9D4-47B1-870A-6A52389EC141}"/>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Does my claim name this test?</a:t>
            </a:r>
          </a:p>
        </p:txBody>
      </p:sp>
    </p:spTree>
    <p:extLst>
      <p:ext uri="{BB962C8B-B14F-4D97-AF65-F5344CB8AC3E}">
        <p14:creationId xmlns:p14="http://schemas.microsoft.com/office/powerpoint/2010/main" val="130706638"/>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urface">
            <a:extLst xmlns:a="http://schemas.openxmlformats.org/drawingml/2006/main">
              <a:ext uri="{FF2B5EF4-FFF2-40B4-BE49-F238E27FC236}">
                <a16:creationId xmlns:a16="http://schemas.microsoft.com/office/drawing/2014/main" id="{9E3F75E1-DD1C-46F1-89D7-ABBE07D2AB9F}"/>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E2CB3510-170C-4382-BE71-594B0955DEEB}"/>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BA400E0F-3718-472C-83CF-8C1EFB18A94F}"/>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C8E306BA-339E-4FD3-B729-D503DEFE7BFD}"/>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Review">
            <a:extLst xmlns:a="http://schemas.openxmlformats.org/drawingml/2006/main">
              <a:ext uri="{FF2B5EF4-FFF2-40B4-BE49-F238E27FC236}">
                <a16:creationId xmlns:a16="http://schemas.microsoft.com/office/drawing/2014/main" id="{6526EA4E-58D2-4B4B-944F-05E19B88C820}"/>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Review</a:t>
            </a:r>
          </a:p>
        </p:txBody>
      </p:sp>
      <p:sp>
        <p:nvSpPr>
          <p:cNvPr id="6" name="3 min">
            <a:extLst xmlns:a="http://schemas.openxmlformats.org/drawingml/2006/main">
              <a:ext uri="{FF2B5EF4-FFF2-40B4-BE49-F238E27FC236}">
                <a16:creationId xmlns:a16="http://schemas.microsoft.com/office/drawing/2014/main" id="{687905C5-42BF-43E0-AB7B-B8924B85FB89}"/>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3 min</a:t>
            </a:r>
          </a:p>
        </p:txBody>
      </p:sp>
      <p:sp>
        <p:nvSpPr>
          <p:cNvPr id="7" name="Lundy loop: improve our test">
            <a:extLst xmlns:a="http://schemas.openxmlformats.org/drawingml/2006/main">
              <a:ext uri="{FF2B5EF4-FFF2-40B4-BE49-F238E27FC236}">
                <a16:creationId xmlns:a16="http://schemas.microsoft.com/office/drawing/2014/main" id="{D87CE1CD-52C0-476D-8B27-A11F91CD7DF4}"/>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Lundy loop: improve our test</a:t>
            </a:r>
          </a:p>
        </p:txBody>
      </p:sp>
      <p:sp>
        <p:nvSpPr>
          <p:cNvPr id="8" name="surface">
            <a:extLst xmlns:a="http://schemas.openxmlformats.org/drawingml/2006/main">
              <a:ext uri="{FF2B5EF4-FFF2-40B4-BE49-F238E27FC236}">
                <a16:creationId xmlns:a16="http://schemas.microsoft.com/office/drawing/2014/main" id="{C8228139-DF7E-4615-8943-2D569E52D420}"/>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757494BD-CCA4-4C5B-876F-12FBF28A027C}"/>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13 / 14">
            <a:extLst xmlns:a="http://schemas.openxmlformats.org/drawingml/2006/main">
              <a:ext uri="{FF2B5EF4-FFF2-40B4-BE49-F238E27FC236}">
                <a16:creationId xmlns:a16="http://schemas.microsoft.com/office/drawing/2014/main" id="{7A5DDB7C-8FEA-40E7-A570-0A6F9C9073B1}"/>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13 / 14</a:t>
            </a:r>
          </a:p>
        </p:txBody>
      </p:sp>
      <p:sp>
        <p:nvSpPr>
          <p:cNvPr id="11" name="Share one result or concern.">
            <a:extLst xmlns:a="http://schemas.openxmlformats.org/drawingml/2006/main">
              <a:ext uri="{FF2B5EF4-FFF2-40B4-BE49-F238E27FC236}">
                <a16:creationId xmlns:a16="http://schemas.microsoft.com/office/drawing/2014/main" id="{1805F0A9-1C55-4857-8F7D-B7DB713B3AEE}"/>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Share one result or concern.</a:t>
            </a:r>
          </a:p>
        </p:txBody>
      </p:sp>
      <p:sp>
        <p:nvSpPr>
          <p:cNvPr id="12" name="Listen for a different observation.">
            <a:extLst xmlns:a="http://schemas.openxmlformats.org/drawingml/2006/main">
              <a:ext uri="{FF2B5EF4-FFF2-40B4-BE49-F238E27FC236}">
                <a16:creationId xmlns:a16="http://schemas.microsoft.com/office/drawing/2014/main" id="{44C46103-BC92-42BC-B0FF-7AB8A6BDDE28}"/>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Listen for a different observation.</a:t>
            </a:r>
          </a:p>
        </p:txBody>
      </p:sp>
      <p:sp>
        <p:nvSpPr>
          <p:cNvPr id="13" name="Choose one useful improvement.">
            <a:extLst xmlns:a="http://schemas.openxmlformats.org/drawingml/2006/main">
              <a:ext uri="{FF2B5EF4-FFF2-40B4-BE49-F238E27FC236}">
                <a16:creationId xmlns:a16="http://schemas.microsoft.com/office/drawing/2014/main" id="{6BB14EEB-DB01-4FD1-8711-268C5854D9CB}"/>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Choose one useful improvement.</a:t>
            </a:r>
          </a:p>
        </p:txBody>
      </p:sp>
      <p:sp>
        <p:nvSpPr>
          <p:cNvPr id="14" name="surface">
            <a:extLst xmlns:a="http://schemas.openxmlformats.org/drawingml/2006/main">
              <a:ext uri="{FF2B5EF4-FFF2-40B4-BE49-F238E27FC236}">
                <a16:creationId xmlns:a16="http://schemas.microsoft.com/office/drawing/2014/main" id="{C06C0B1C-32CB-4B72-B505-A105A9674F8D}"/>
              </a:ext>
            </a:extLst>
          </p:cNvPr>
          <p:cNvSpPr>
            <a:spLocks xmlns:a="http://schemas.openxmlformats.org/drawingml/2006/main" noGrp="1"/>
          </p:cNvSpPr>
          <p:nvPr/>
        </p:nvSpPr>
        <p:spPr>
          <a:xfrm xmlns:a="http://schemas.openxmlformats.org/drawingml/2006/main">
            <a:off x="533400" y="5600700"/>
            <a:ext cx="11125200" cy="742950"/>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15" name="surface">
            <a:extLst xmlns:a="http://schemas.openxmlformats.org/drawingml/2006/main">
              <a:ext uri="{FF2B5EF4-FFF2-40B4-BE49-F238E27FC236}">
                <a16:creationId xmlns:a16="http://schemas.microsoft.com/office/drawing/2014/main" id="{FA596044-1280-400B-BF93-F0327528BF95}"/>
              </a:ext>
            </a:extLst>
          </p:cNvPr>
          <p:cNvSpPr>
            <a:spLocks xmlns:a="http://schemas.openxmlformats.org/drawingml/2006/main" noGrp="1"/>
          </p:cNvSpPr>
          <p:nvPr/>
        </p:nvSpPr>
        <p:spPr>
          <a:xfrm xmlns:a="http://schemas.openxmlformats.org/drawingml/2006/main">
            <a:off x="533400" y="5600700"/>
            <a:ext cx="66675" cy="74295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16" name="What would make our comparison more trustworthy?">
            <a:extLst xmlns:a="http://schemas.openxmlformats.org/drawingml/2006/main">
              <a:ext uri="{FF2B5EF4-FFF2-40B4-BE49-F238E27FC236}">
                <a16:creationId xmlns:a16="http://schemas.microsoft.com/office/drawing/2014/main" id="{644A82D4-FAAD-45F6-A03E-923EEFD05C10}"/>
              </a:ext>
            </a:extLst>
          </p:cNvPr>
          <p:cNvSpPr>
            <a:spLocks xmlns:a="http://schemas.openxmlformats.org/drawingml/2006/main" noGrp="1"/>
          </p:cNvSpPr>
          <p:nvPr/>
        </p:nvSpPr>
        <p:spPr>
          <a:xfrm xmlns:a="http://schemas.openxmlformats.org/drawingml/2006/main">
            <a:off x="762000" y="57340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175" b="1">
                <a:solidFill>
                  <a:srgbClr val="4E7A9B"/>
                </a:solidFill>
                <a:latin typeface="Nimbus Sans"/>
                <a:ea typeface="Nimbus Sans"/>
                <a:cs typeface="Nimbus Sans"/>
              </a:defRPr>
            </a:pPr>
            <a:r>
              <a:rPr sz="2175" b="1">
                <a:solidFill>
                  <a:srgbClr val="4E7A9B"/>
                </a:solidFill>
                <a:latin typeface="Nimbus Sans"/>
                <a:ea typeface="Nimbus Sans"/>
                <a:cs typeface="Nimbus Sans"/>
              </a:rPr>
              <a:t>What would make our comparison more trustworthy?</a:t>
            </a:r>
          </a:p>
        </p:txBody>
      </p:sp>
    </p:spTree>
    <p:extLst>
      <p:ext uri="{BB962C8B-B14F-4D97-AF65-F5344CB8AC3E}">
        <p14:creationId xmlns:p14="http://schemas.microsoft.com/office/powerpoint/2010/main" val="16485905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urface">
            <a:extLst xmlns:a="http://schemas.openxmlformats.org/drawingml/2006/main">
              <a:ext uri="{FF2B5EF4-FFF2-40B4-BE49-F238E27FC236}">
                <a16:creationId xmlns:a16="http://schemas.microsoft.com/office/drawing/2014/main" id="{582E9AF8-B1A3-41EA-805B-C1413ED90663}"/>
              </a:ext>
            </a:extLst>
          </p:cNvPr>
          <p:cNvSpPr>
            <a:spLocks xmlns:a="http://schemas.openxmlformats.org/drawingml/2006/main" noGrp="1"/>
          </p:cNvSpPr>
          <p:nvPr/>
        </p:nvSpPr>
        <p:spPr>
          <a:xfrm xmlns:a="http://schemas.openxmlformats.org/drawingml/2006/main">
            <a:off x="0" y="0"/>
            <a:ext cx="12192000" cy="152400"/>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2" name="surface">
            <a:extLst xmlns:a="http://schemas.openxmlformats.org/drawingml/2006/main">
              <a:ext uri="{FF2B5EF4-FFF2-40B4-BE49-F238E27FC236}">
                <a16:creationId xmlns:a16="http://schemas.microsoft.com/office/drawing/2014/main" id="{56F56ECD-065C-496F-B285-0D5E56EB62CE}"/>
              </a:ext>
            </a:extLst>
          </p:cNvPr>
          <p:cNvSpPr>
            <a:spLocks xmlns:a="http://schemas.openxmlformats.org/drawingml/2006/main" noGrp="1"/>
          </p:cNvSpPr>
          <p:nvPr/>
        </p:nvSpPr>
        <p:spPr>
          <a:xfrm xmlns:a="http://schemas.openxmlformats.org/drawingml/2006/main">
            <a:off x="457200" y="400050"/>
            <a:ext cx="11277600" cy="485775"/>
          </a:xfrm>
          <a:prstGeom xmlns:a="http://schemas.openxmlformats.org/drawingml/2006/main" prst="rect">
            <a:avLst/>
          </a:prstGeom>
          <a:solidFill xmlns:a="http://schemas.openxmlformats.org/drawingml/2006/main">
            <a:srgbClr val="E6F0E6"/>
          </a:solidFill>
          <a:ln xmlns:a="http://schemas.openxmlformats.org/drawingml/2006/main" w="0">
            <a:noFill/>
          </a:ln>
        </p:spPr>
      </p:sp>
      <p:sp>
        <p:nvSpPr>
          <p:cNvPr id="3" name="surface">
            <a:extLst xmlns:a="http://schemas.openxmlformats.org/drawingml/2006/main">
              <a:ext uri="{FF2B5EF4-FFF2-40B4-BE49-F238E27FC236}">
                <a16:creationId xmlns:a16="http://schemas.microsoft.com/office/drawing/2014/main" id="{4A544A44-6A07-4D88-9266-093467F8C6D8}"/>
              </a:ext>
            </a:extLst>
          </p:cNvPr>
          <p:cNvSpPr>
            <a:spLocks xmlns:a="http://schemas.openxmlformats.org/drawingml/2006/main" noGrp="1"/>
          </p:cNvSpPr>
          <p:nvPr/>
        </p:nvSpPr>
        <p:spPr>
          <a:xfrm xmlns:a="http://schemas.openxmlformats.org/drawingml/2006/main">
            <a:off x="457200" y="400050"/>
            <a:ext cx="66675" cy="485775"/>
          </a:xfrm>
          <a:prstGeom xmlns:a="http://schemas.openxmlformats.org/drawingml/2006/main" prst="rect">
            <a:avLst/>
          </a:prstGeom>
          <a:solidFill xmlns:a="http://schemas.openxmlformats.org/drawingml/2006/main">
            <a:srgbClr val="4E7A9B"/>
          </a:solidFill>
          <a:ln xmlns:a="http://schemas.openxmlformats.org/drawingml/2006/main" w="0">
            <a:noFill/>
          </a:ln>
        </p:spPr>
      </p:sp>
      <p:sp>
        <p:nvSpPr>
          <p:cNvPr id="4" name="BUILD SCIENCE">
            <a:extLst xmlns:a="http://schemas.openxmlformats.org/drawingml/2006/main">
              <a:ext uri="{FF2B5EF4-FFF2-40B4-BE49-F238E27FC236}">
                <a16:creationId xmlns:a16="http://schemas.microsoft.com/office/drawing/2014/main" id="{9766DFEB-435E-4FFA-B0B5-2300A254F86A}"/>
              </a:ext>
            </a:extLst>
          </p:cNvPr>
          <p:cNvSpPr>
            <a:spLocks xmlns:a="http://schemas.openxmlformats.org/drawingml/2006/main" noGrp="1"/>
          </p:cNvSpPr>
          <p:nvPr/>
        </p:nvSpPr>
        <p:spPr>
          <a:xfrm xmlns:a="http://schemas.openxmlformats.org/drawingml/2006/main">
            <a:off x="685800" y="504825"/>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BUILD SCIENCE</a:t>
            </a:r>
          </a:p>
        </p:txBody>
      </p:sp>
      <p:sp>
        <p:nvSpPr>
          <p:cNvPr id="5" name="Exit">
            <a:extLst xmlns:a="http://schemas.openxmlformats.org/drawingml/2006/main">
              <a:ext uri="{FF2B5EF4-FFF2-40B4-BE49-F238E27FC236}">
                <a16:creationId xmlns:a16="http://schemas.microsoft.com/office/drawing/2014/main" id="{7A6976C1-7758-4A7C-A72B-1BA76D8ABD5B}"/>
              </a:ext>
            </a:extLst>
          </p:cNvPr>
          <p:cNvSpPr>
            <a:spLocks xmlns:a="http://schemas.openxmlformats.org/drawingml/2006/main" noGrp="1"/>
          </p:cNvSpPr>
          <p:nvPr/>
        </p:nvSpPr>
        <p:spPr>
          <a:xfrm xmlns:a="http://schemas.openxmlformats.org/drawingml/2006/main">
            <a:off x="5943600" y="504825"/>
            <a:ext cx="37528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800" b="1">
                <a:solidFill>
                  <a:srgbClr val="4E7A9B"/>
                </a:solidFill>
                <a:latin typeface="Nimbus Sans"/>
                <a:ea typeface="Nimbus Sans"/>
                <a:cs typeface="Nimbus Sans"/>
              </a:defRPr>
            </a:pPr>
            <a:r>
              <a:rPr sz="1800" b="1">
                <a:solidFill>
                  <a:srgbClr val="4E7A9B"/>
                </a:solidFill>
                <a:latin typeface="Nimbus Sans"/>
                <a:ea typeface="Nimbus Sans"/>
                <a:cs typeface="Nimbus Sans"/>
              </a:rPr>
              <a:t>Exit</a:t>
            </a:r>
          </a:p>
        </p:txBody>
      </p:sp>
      <p:sp>
        <p:nvSpPr>
          <p:cNvPr id="6" name="2 min">
            <a:extLst xmlns:a="http://schemas.openxmlformats.org/drawingml/2006/main">
              <a:ext uri="{FF2B5EF4-FFF2-40B4-BE49-F238E27FC236}">
                <a16:creationId xmlns:a16="http://schemas.microsoft.com/office/drawing/2014/main" id="{EFB483E8-ED45-43B5-8EB3-ECAA3938C258}"/>
              </a:ext>
            </a:extLst>
          </p:cNvPr>
          <p:cNvSpPr>
            <a:spLocks xmlns:a="http://schemas.openxmlformats.org/drawingml/2006/main" noGrp="1"/>
          </p:cNvSpPr>
          <p:nvPr/>
        </p:nvSpPr>
        <p:spPr>
          <a:xfrm xmlns:a="http://schemas.openxmlformats.org/drawingml/2006/main">
            <a:off x="10029825" y="504825"/>
            <a:ext cx="14573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725" b="0">
                <a:solidFill>
                  <a:srgbClr val="465465"/>
                </a:solidFill>
                <a:latin typeface="Nimbus Sans"/>
                <a:ea typeface="Nimbus Sans"/>
                <a:cs typeface="Nimbus Sans"/>
              </a:defRPr>
            </a:pPr>
            <a:r>
              <a:rPr sz="1725" b="0">
                <a:solidFill>
                  <a:srgbClr val="465465"/>
                </a:solidFill>
                <a:latin typeface="Nimbus Sans"/>
                <a:ea typeface="Nimbus Sans"/>
                <a:cs typeface="Nimbus Sans"/>
              </a:rPr>
              <a:t>2 min</a:t>
            </a:r>
          </a:p>
        </p:txBody>
      </p:sp>
      <p:sp>
        <p:nvSpPr>
          <p:cNvPr id="7" name="Leave with an evidence claim">
            <a:extLst xmlns:a="http://schemas.openxmlformats.org/drawingml/2006/main">
              <a:ext uri="{FF2B5EF4-FFF2-40B4-BE49-F238E27FC236}">
                <a16:creationId xmlns:a16="http://schemas.microsoft.com/office/drawing/2014/main" id="{8BD0A280-844B-461A-8149-E3CF87C8E54F}"/>
              </a:ext>
            </a:extLst>
          </p:cNvPr>
          <p:cNvSpPr>
            <a:spLocks xmlns:a="http://schemas.openxmlformats.org/drawingml/2006/main" noGrp="1"/>
          </p:cNvSpPr>
          <p:nvPr/>
        </p:nvSpPr>
        <p:spPr>
          <a:xfrm xmlns:a="http://schemas.openxmlformats.org/drawingml/2006/main">
            <a:off x="533400" y="1066800"/>
            <a:ext cx="1112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3000" b="1">
                <a:solidFill>
                  <a:srgbClr val="1F2937"/>
                </a:solidFill>
                <a:latin typeface="Nimbus Sans"/>
                <a:ea typeface="Nimbus Sans"/>
                <a:cs typeface="Nimbus Sans"/>
              </a:defRPr>
            </a:pPr>
            <a:r>
              <a:rPr sz="3000" b="1">
                <a:solidFill>
                  <a:srgbClr val="1F2937"/>
                </a:solidFill>
                <a:latin typeface="Nimbus Sans"/>
                <a:ea typeface="Nimbus Sans"/>
                <a:cs typeface="Nimbus Sans"/>
              </a:rPr>
              <a:t>Leave with an evidence claim</a:t>
            </a:r>
          </a:p>
        </p:txBody>
      </p:sp>
      <p:sp>
        <p:nvSpPr>
          <p:cNvPr id="8" name="surface">
            <a:extLst xmlns:a="http://schemas.openxmlformats.org/drawingml/2006/main">
              <a:ext uri="{FF2B5EF4-FFF2-40B4-BE49-F238E27FC236}">
                <a16:creationId xmlns:a16="http://schemas.microsoft.com/office/drawing/2014/main" id="{B986D07F-CB8A-4ACF-BDB0-5E4400D31955}"/>
              </a:ext>
            </a:extLst>
          </p:cNvPr>
          <p:cNvSpPr>
            <a:spLocks xmlns:a="http://schemas.openxmlformats.org/drawingml/2006/main" noGrp="1"/>
          </p:cNvSpPr>
          <p:nvPr/>
        </p:nvSpPr>
        <p:spPr>
          <a:xfrm xmlns:a="http://schemas.openxmlformats.org/drawingml/2006/main">
            <a:off x="457200" y="6496050"/>
            <a:ext cx="11277600" cy="9525"/>
          </a:xfrm>
          <a:prstGeom xmlns:a="http://schemas.openxmlformats.org/drawingml/2006/main" prst="rect">
            <a:avLst/>
          </a:prstGeom>
          <a:solidFill xmlns:a="http://schemas.openxmlformats.org/drawingml/2006/main">
            <a:srgbClr val="D8DDE2"/>
          </a:solidFill>
          <a:ln xmlns:a="http://schemas.openxmlformats.org/drawingml/2006/main" w="0">
            <a:noFill/>
          </a:ln>
        </p:spPr>
      </p:sp>
      <p:sp>
        <p:nvSpPr>
          <p:cNvPr id="9" name="Soil: let the water through">
            <a:extLst xmlns:a="http://schemas.openxmlformats.org/drawingml/2006/main">
              <a:ext uri="{FF2B5EF4-FFF2-40B4-BE49-F238E27FC236}">
                <a16:creationId xmlns:a16="http://schemas.microsoft.com/office/drawing/2014/main" id="{D59BA0E9-0F1B-4249-AFF1-7C327BE1C89A}"/>
              </a:ext>
            </a:extLst>
          </p:cNvPr>
          <p:cNvSpPr>
            <a:spLocks xmlns:a="http://schemas.openxmlformats.org/drawingml/2006/main" noGrp="1"/>
          </p:cNvSpPr>
          <p:nvPr/>
        </p:nvSpPr>
        <p:spPr>
          <a:xfrm xmlns:a="http://schemas.openxmlformats.org/drawingml/2006/main">
            <a:off x="533400" y="6600825"/>
            <a:ext cx="10572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Soil: let the water through</a:t>
            </a:r>
          </a:p>
        </p:txBody>
      </p:sp>
      <p:sp>
        <p:nvSpPr>
          <p:cNvPr id="10" name="14 / 14">
            <a:extLst xmlns:a="http://schemas.openxmlformats.org/drawingml/2006/main">
              <a:ext uri="{FF2B5EF4-FFF2-40B4-BE49-F238E27FC236}">
                <a16:creationId xmlns:a16="http://schemas.microsoft.com/office/drawing/2014/main" id="{602716DF-996F-48B0-BDA2-E102DD7B0C46}"/>
              </a:ext>
            </a:extLst>
          </p:cNvPr>
          <p:cNvSpPr>
            <a:spLocks xmlns:a="http://schemas.openxmlformats.org/drawingml/2006/main" noGrp="1"/>
          </p:cNvSpPr>
          <p:nvPr/>
        </p:nvSpPr>
        <p:spPr>
          <a:xfrm xmlns:a="http://schemas.openxmlformats.org/drawingml/2006/main">
            <a:off x="10953750" y="6600825"/>
            <a:ext cx="685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1125" b="0">
                <a:solidFill>
                  <a:srgbClr val="64748B"/>
                </a:solidFill>
                <a:latin typeface="Nimbus Sans"/>
                <a:ea typeface="Nimbus Sans"/>
                <a:cs typeface="Nimbus Sans"/>
              </a:defRPr>
            </a:pPr>
            <a:r>
              <a:rPr sz="1125" b="0">
                <a:solidFill>
                  <a:srgbClr val="64748B"/>
                </a:solidFill>
                <a:latin typeface="Nimbus Sans"/>
                <a:ea typeface="Nimbus Sans"/>
                <a:cs typeface="Nimbus Sans"/>
              </a:rPr>
              <a:t>14 / 14</a:t>
            </a:r>
          </a:p>
        </p:txBody>
      </p:sp>
      <p:sp>
        <p:nvSpPr>
          <p:cNvPr id="11" name="E1. Which drained most in the sample data?">
            <a:extLst xmlns:a="http://schemas.openxmlformats.org/drawingml/2006/main">
              <a:ext uri="{FF2B5EF4-FFF2-40B4-BE49-F238E27FC236}">
                <a16:creationId xmlns:a16="http://schemas.microsoft.com/office/drawing/2014/main" id="{733967B7-4AFC-41BD-ABFE-EC4B95C5F6EC}"/>
              </a:ext>
            </a:extLst>
          </p:cNvPr>
          <p:cNvSpPr>
            <a:spLocks xmlns:a="http://schemas.openxmlformats.org/drawingml/2006/main" noGrp="1"/>
          </p:cNvSpPr>
          <p:nvPr/>
        </p:nvSpPr>
        <p:spPr>
          <a:xfrm xmlns:a="http://schemas.openxmlformats.org/drawingml/2006/main">
            <a:off x="762000" y="2028825"/>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E1. Which drained most in the sample data?</a:t>
            </a:r>
          </a:p>
        </p:txBody>
      </p:sp>
      <p:sp>
        <p:nvSpPr>
          <p:cNvPr id="12" name="E2. Name one condition kept the same.">
            <a:extLst xmlns:a="http://schemas.openxmlformats.org/drawingml/2006/main">
              <a:ext uri="{FF2B5EF4-FFF2-40B4-BE49-F238E27FC236}">
                <a16:creationId xmlns:a16="http://schemas.microsoft.com/office/drawing/2014/main" id="{58D91EF3-7AC6-4962-BA80-97EC64887FBC}"/>
              </a:ext>
            </a:extLst>
          </p:cNvPr>
          <p:cNvSpPr>
            <a:spLocks xmlns:a="http://schemas.openxmlformats.org/drawingml/2006/main" noGrp="1"/>
          </p:cNvSpPr>
          <p:nvPr/>
        </p:nvSpPr>
        <p:spPr>
          <a:xfrm xmlns:a="http://schemas.openxmlformats.org/drawingml/2006/main">
            <a:off x="762000" y="2603183"/>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E2. Name one condition kept the same.</a:t>
            </a:r>
          </a:p>
        </p:txBody>
      </p:sp>
      <p:sp>
        <p:nvSpPr>
          <p:cNvPr id="13" name="E3. Can this choose the best soil for every plant?">
            <a:extLst xmlns:a="http://schemas.openxmlformats.org/drawingml/2006/main">
              <a:ext uri="{FF2B5EF4-FFF2-40B4-BE49-F238E27FC236}">
                <a16:creationId xmlns:a16="http://schemas.microsoft.com/office/drawing/2014/main" id="{50FF84A4-A477-4805-B88A-59AFFEECAA7B}"/>
              </a:ext>
            </a:extLst>
          </p:cNvPr>
          <p:cNvSpPr>
            <a:spLocks xmlns:a="http://schemas.openxmlformats.org/drawingml/2006/main" noGrp="1"/>
          </p:cNvSpPr>
          <p:nvPr/>
        </p:nvSpPr>
        <p:spPr>
          <a:xfrm xmlns:a="http://schemas.openxmlformats.org/drawingml/2006/main">
            <a:off x="762000" y="3177540"/>
            <a:ext cx="10668000" cy="38385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8000"/>
              </a:lnSpc>
              <a:buNone/>
              <a:defRPr sz="2475" b="0">
                <a:solidFill>
                  <a:srgbClr val="1F2937"/>
                </a:solidFill>
                <a:latin typeface="Nimbus Sans"/>
                <a:ea typeface="Nimbus Sans"/>
                <a:cs typeface="Nimbus Sans"/>
              </a:defRPr>
            </a:pPr>
            <a:r>
              <a:rPr sz="2475" b="0">
                <a:solidFill>
                  <a:srgbClr val="1F2937"/>
                </a:solidFill>
                <a:latin typeface="Nimbus Sans"/>
                <a:ea typeface="Nimbus Sans"/>
                <a:cs typeface="Nimbus Sans"/>
              </a:rPr>
              <a:t>E3. Can this choose the best soil for every plant?</a:t>
            </a:r>
          </a:p>
        </p:txBody>
      </p:sp>
    </p:spTree>
    <p:extLst>
      <p:ext uri="{BB962C8B-B14F-4D97-AF65-F5344CB8AC3E}">
        <p14:creationId xmlns:p14="http://schemas.microsoft.com/office/powerpoint/2010/main" val="17085439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2026-09-08T22:32:56.2870000Z</dcterms:created>
  <dcterms:modified xsi:type="dcterms:W3CDTF">2026-09-08T22:32:56.2870000Z</dcterms:modified>
</coreProperties>
</file>