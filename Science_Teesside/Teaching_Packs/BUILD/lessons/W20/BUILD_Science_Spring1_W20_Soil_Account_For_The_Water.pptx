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684cc8714984edc" /><Relationship Type="http://schemas.openxmlformats.org/officeDocument/2006/relationships/extended-properties" Target="/docProps/app.xml" Id="R85cce85de9894a7e" /><Relationship Type="http://schemas.openxmlformats.org/officeDocument/2006/relationships/officeDocument" Target="/ppt/presentation.xml" Id="R3353069d3c444a7f" /></Relationships>
</file>

<file path=ppt/presentation.xml><?xml version="1.0" encoding="utf-8"?>
<p:presentation xmlns:p="http://schemas.openxmlformats.org/presentationml/2006/main">
  <p:sldMasterIdLst>
    <p:sldMasterId xmlns:r="http://schemas.openxmlformats.org/officeDocument/2006/relationships" id="2147483648" r:id="Rd71ea89fb10148be"/>
  </p:sldMasterIdLst>
  <p:notesMasterIdLst>
    <p:notesMasterId xmlns:r="http://schemas.openxmlformats.org/officeDocument/2006/relationships" r:id="Rcad37b5b6e6f4544"/>
  </p:notesMasterIdLst>
  <p:sldIdLst>
    <p:sldId xmlns:r="http://schemas.openxmlformats.org/officeDocument/2006/relationships" id="256" r:id="R2e4aad797aff4d17"/>
    <p:sldId xmlns:r="http://schemas.openxmlformats.org/officeDocument/2006/relationships" id="257" r:id="R0457d90055344870"/>
    <p:sldId xmlns:r="http://schemas.openxmlformats.org/officeDocument/2006/relationships" id="258" r:id="R4b6e7c3584ca4a42"/>
    <p:sldId xmlns:r="http://schemas.openxmlformats.org/officeDocument/2006/relationships" id="259" r:id="Re2cdf9712ddc4ece"/>
    <p:sldId xmlns:r="http://schemas.openxmlformats.org/officeDocument/2006/relationships" id="260" r:id="R11d7e3339f734cc3"/>
    <p:sldId xmlns:r="http://schemas.openxmlformats.org/officeDocument/2006/relationships" id="261" r:id="R9f01661559084fa9"/>
    <p:sldId xmlns:r="http://schemas.openxmlformats.org/officeDocument/2006/relationships" id="262" r:id="R63cd28ecc84c4b3a"/>
    <p:sldId xmlns:r="http://schemas.openxmlformats.org/officeDocument/2006/relationships" id="263" r:id="R8a90b19da6a04b5a"/>
    <p:sldId xmlns:r="http://schemas.openxmlformats.org/officeDocument/2006/relationships" id="264" r:id="R8eacc2b4af664a90"/>
    <p:sldId xmlns:r="http://schemas.openxmlformats.org/officeDocument/2006/relationships" id="265" r:id="R1a6a3e4aa04541d5"/>
    <p:sldId xmlns:r="http://schemas.openxmlformats.org/officeDocument/2006/relationships" id="266" r:id="Rab703df2c7754e92"/>
    <p:sldId xmlns:r="http://schemas.openxmlformats.org/officeDocument/2006/relationships" id="267" r:id="Rbb5822880bad4e34"/>
    <p:sldId xmlns:r="http://schemas.openxmlformats.org/officeDocument/2006/relationships" id="268" r:id="R3e2065dc23ca4a47"/>
    <p:sldId xmlns:r="http://schemas.openxmlformats.org/officeDocument/2006/relationships" id="269" r:id="Rf38ebf304a5e47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93d2257cc1041fd" /><Relationship Type="http://schemas.openxmlformats.org/officeDocument/2006/relationships/slideMaster" Target="/ppt/slideMasters/slideMaster1.xml" Id="Rd71ea89fb10148be" /><Relationship Type="http://schemas.openxmlformats.org/officeDocument/2006/relationships/notesMaster" Target="/ppt/notesMasters/notesMaster1.xml" Id="Rcad37b5b6e6f4544" /><Relationship Type="http://schemas.openxmlformats.org/officeDocument/2006/relationships/presProps" Target="/ppt/presProps.xml" Id="Ra16135d92a784a58" /><Relationship Type="http://schemas.openxmlformats.org/officeDocument/2006/relationships/tableStyles" Target="/ppt/tableStyles.xml" Id="Rfd21ec85edba4297" /><Relationship Type="http://schemas.openxmlformats.org/officeDocument/2006/relationships/slide" Target="/ppt/slides/slide1.xml" Id="R2e4aad797aff4d17" /><Relationship Type="http://schemas.openxmlformats.org/officeDocument/2006/relationships/slide" Target="/ppt/slides/slide2.xml" Id="R0457d90055344870" /><Relationship Type="http://schemas.openxmlformats.org/officeDocument/2006/relationships/slide" Target="/ppt/slides/slide3.xml" Id="R4b6e7c3584ca4a42" /><Relationship Type="http://schemas.openxmlformats.org/officeDocument/2006/relationships/slide" Target="/ppt/slides/slide4.xml" Id="Re2cdf9712ddc4ece" /><Relationship Type="http://schemas.openxmlformats.org/officeDocument/2006/relationships/slide" Target="/ppt/slides/slide5.xml" Id="R11d7e3339f734cc3" /><Relationship Type="http://schemas.openxmlformats.org/officeDocument/2006/relationships/slide" Target="/ppt/slides/slide6.xml" Id="R9f01661559084fa9" /><Relationship Type="http://schemas.openxmlformats.org/officeDocument/2006/relationships/slide" Target="/ppt/slides/slide7.xml" Id="R63cd28ecc84c4b3a" /><Relationship Type="http://schemas.openxmlformats.org/officeDocument/2006/relationships/slide" Target="/ppt/slides/slide8.xml" Id="R8a90b19da6a04b5a" /><Relationship Type="http://schemas.openxmlformats.org/officeDocument/2006/relationships/slide" Target="/ppt/slides/slide9.xml" Id="R8eacc2b4af664a90" /><Relationship Type="http://schemas.openxmlformats.org/officeDocument/2006/relationships/slide" Target="/ppt/slides/slide10.xml" Id="R1a6a3e4aa04541d5" /><Relationship Type="http://schemas.openxmlformats.org/officeDocument/2006/relationships/slide" Target="/ppt/slides/slide11.xml" Id="Rab703df2c7754e92" /><Relationship Type="http://schemas.openxmlformats.org/officeDocument/2006/relationships/slide" Target="/ppt/slides/slide12.xml" Id="Rbb5822880bad4e34" /><Relationship Type="http://schemas.openxmlformats.org/officeDocument/2006/relationships/slide" Target="/ppt/slides/slide13.xml" Id="R3e2065dc23ca4a47" /><Relationship Type="http://schemas.openxmlformats.org/officeDocument/2006/relationships/slide" Target="/ppt/slides/slide14.xml" Id="Rf38ebf304a5e47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ac8852ff10645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1a4993cf8794f0a" /><Relationship Type="http://schemas.openxmlformats.org/officeDocument/2006/relationships/notesMaster" Target="/ppt/notesMasters/notesMaster1.xml" Id="Rc72e8584e1644bb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81ce0b4ea04a04" /><Relationship Type="http://schemas.openxmlformats.org/officeDocument/2006/relationships/notesMaster" Target="/ppt/notesMasters/notesMaster1.xml" Id="R45dd7483f3bf4e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1a14d0e35b242db" /><Relationship Type="http://schemas.openxmlformats.org/officeDocument/2006/relationships/notesMaster" Target="/ppt/notesMasters/notesMaster1.xml" Id="R7fb4f888dc0348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5ec12eb2abc14aef" /><Relationship Type="http://schemas.openxmlformats.org/officeDocument/2006/relationships/notesMaster" Target="/ppt/notesMasters/notesMaster1.xml" Id="Rd86a5f725b4b46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76830b427142e3" /><Relationship Type="http://schemas.openxmlformats.org/officeDocument/2006/relationships/notesMaster" Target="/ppt/notesMasters/notesMaster1.xml" Id="R49692449f75d40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eeab7604b8dd4cb9" /><Relationship Type="http://schemas.openxmlformats.org/officeDocument/2006/relationships/notesMaster" Target="/ppt/notesMasters/notesMaster1.xml" Id="Rac5e5d9e02ae400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e90bdb2e9a4e58" /><Relationship Type="http://schemas.openxmlformats.org/officeDocument/2006/relationships/notesMaster" Target="/ppt/notesMasters/notesMaster1.xml" Id="R40801c709fdd49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34b3bdcda442fb" /><Relationship Type="http://schemas.openxmlformats.org/officeDocument/2006/relationships/notesMaster" Target="/ppt/notesMasters/notesMaster1.xml" Id="R20f8836eae2343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c1f881faf54cc6" /><Relationship Type="http://schemas.openxmlformats.org/officeDocument/2006/relationships/notesMaster" Target="/ppt/notesMasters/notesMaster1.xml" Id="R54fdc1572d0d46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738cc433b744ca" /><Relationship Type="http://schemas.openxmlformats.org/officeDocument/2006/relationships/notesMaster" Target="/ppt/notesMasters/notesMaster1.xml" Id="Rc12dc0e543ae4e3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cdc1b64fa9f4a57" /><Relationship Type="http://schemas.openxmlformats.org/officeDocument/2006/relationships/notesMaster" Target="/ppt/notesMasters/notesMaster1.xml" Id="R30af9edee883486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6d2ada6185049f9" /><Relationship Type="http://schemas.openxmlformats.org/officeDocument/2006/relationships/notesMaster" Target="/ppt/notesMasters/notesMaster1.xml" Id="R2f18544a7433455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14a975a2abf48ed" /><Relationship Type="http://schemas.openxmlformats.org/officeDocument/2006/relationships/notesMaster" Target="/ppt/notesMasters/notesMaster1.xml" Id="R179a5e784b78429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750196934904af5" /><Relationship Type="http://schemas.openxmlformats.org/officeDocument/2006/relationships/notesMaster" Target="/ppt/notesMasters/notesMaster1.xml" Id="R4ceb74ecd99e47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Recall the previous drainage comparison. Now the question is how much water has not left by a later, fixed time. We will estimate, then check what that number can and cannot mean.</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Accept a diagram or pointed pore, then a control. Separate arithmetic support from conceptual understanding: a calculator is allowed. Briefly model 60−20 if needed.</a:t>
            </a:r>
          </a:p>
          <a:p xmlns:a="http://schemas.openxmlformats.org/drawingml/2006/main">
            <a:r>
              <a:t/>
            </a:r>
          </a:p>
          <a:p xmlns:a="http://schemas.openxmlformats.org/drawingml/2006/main">
            <a:r>
              <a:t>REVEAL / MODEL ANSWER</a:t>
            </a:r>
          </a:p>
          <a:p xmlns:a="http://schemas.openxmlformats.org/drawingml/2006/main">
            <a:r>
              <a:t>Connected pores. For example, equal input or time. 40.</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Think aloud:60 mL went in, 34 mL was collected, so 60−34=26 mL was not collected at five minutes. We assume no spills and negligible evaporation and negligible initial water. I am not yet saying all 26 mL is held inside the soil. The bar lengths accurately represent the constructed numbers.</a:t>
            </a:r>
          </a:p>
          <a:p xmlns:a="http://schemas.openxmlformats.org/drawingml/2006/main">
            <a:r>
              <a:t/>
            </a:r>
          </a:p>
          <a:p xmlns:a="http://schemas.openxmlformats.org/drawingml/2006/main">
            <a:r>
              <a:t>DIAGRAM DESCRIPTION</a:t>
            </a:r>
          </a:p>
          <a:p xmlns:a="http://schemas.openxmlformats.org/drawingml/2006/main">
            <a:r>
              <a:t>Constructed worked example. Sixty millilitres were added and 34 millilitres collected after five minutes. The difference is 26 millilitres not collected. With no spills and negligible evaporation and negligible initial water, this is approximately water remaining in the setup.</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Trace each location. Say: input minus collected gives water not collected. With no losses this estimates water remaining in the whole setup. It is not an exact soil-only retention measurement or plant-available water. If standing water is visible, record it rather than calling it absorbed by soil.</a:t>
            </a:r>
          </a:p>
          <a:p xmlns:a="http://schemas.openxmlformats.org/drawingml/2006/main">
            <a:r>
              <a:t/>
            </a:r>
          </a:p>
          <a:p xmlns:a="http://schemas.openxmlformats.org/drawingml/2006/main">
            <a:r>
              <a:t>DIAGRAM DESCRIPTION</a:t>
            </a:r>
          </a:p>
          <a:p xmlns:a="http://schemas.openxmlformats.org/drawingml/2006/main">
            <a:r>
              <a:t>A simplified pot showing water above the soil, water in the soil pores, and water held by the filter. All three can contribute to the volume not collected. The illustration is not to scale.</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Work one row together visually: A 46 out means 14 notcollected. B 34 out means 26. C 22 out means 38. Point to the same total bar lengths. The word left on the diagram is shorthand for not collected under the no-loss, negligible-initial-water assumption, not a promise that every drop is in soil pores.</a:t>
            </a:r>
          </a:p>
          <a:p xmlns:a="http://schemas.openxmlformats.org/drawingml/2006/main">
            <a:r>
              <a:t/>
            </a:r>
          </a:p>
          <a:p xmlns:a="http://schemas.openxmlformats.org/drawingml/2006/main">
            <a:r>
              <a:t>REVEAL / MODEL ANSWER</a:t>
            </a:r>
          </a:p>
          <a:p xmlns:a="http://schemas.openxmlformats.org/drawingml/2006/main">
            <a:r>
              <a:t>C:60−22=38 mL at five minutes, under the stated assumptions.</a:t>
            </a:r>
          </a:p>
          <a:p xmlns:a="http://schemas.openxmlformats.org/drawingml/2006/main">
            <a:r>
              <a:t/>
            </a:r>
          </a:p>
          <a:p xmlns:a="http://schemas.openxmlformats.org/drawingml/2006/main">
            <a:r>
              <a:t>DIAGRAM DESCRIPTION</a:t>
            </a:r>
          </a:p>
          <a:p xmlns:a="http://schemas.openxmlformats.org/drawingml/2006/main">
            <a:r>
              <a:t>Constructed sample data: each sample receives 60 millilitres. After five minutes, A collects 46, B 34 and C 22 millilitres. Equal-length bars show collected volume and the remainder, under the no-spill assumption.</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Ask each pupil to choose an operation before the class explanation. Addition gives 94, which double-counts water rather than finding a remainder; 34−60 gives a negative amount and reverses input/output. Do not let arithmetic speed determine who contributes.</a:t>
            </a:r>
          </a:p>
          <a:p xmlns:a="http://schemas.openxmlformats.org/drawingml/2006/main">
            <a:r>
              <a:t/>
            </a:r>
          </a:p>
          <a:p xmlns:a="http://schemas.openxmlformats.org/drawingml/2006/main">
            <a:r>
              <a:t>REVEAL / MODEL ANSWER</a:t>
            </a:r>
          </a:p>
          <a:p xmlns:a="http://schemas.openxmlformats.org/drawingml/2006/main">
            <a:r>
              <a:t>60−34=26 mL not collected. Input minus collected is the needed direction.</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Choose the more careful claim first. P supports an approximate setup balance, still not soil-only. Q means some uncollected water is above the soil. R means some water was lost from the apparatus and not collected; repeat the trial, do not label it soil retention. Ask pupils to improve a claim in their own words.</a:t>
            </a:r>
          </a:p>
          <a:p xmlns:a="http://schemas.openxmlformats.org/drawingml/2006/main">
            <a:r>
              <a:t/>
            </a:r>
          </a:p>
          <a:p xmlns:a="http://schemas.openxmlformats.org/drawingml/2006/main">
            <a:r>
              <a:t>REVEAL / MODEL ANSWER</a:t>
            </a:r>
          </a:p>
          <a:p xmlns:a="http://schemas.openxmlformats.org/drawingml/2006/main">
            <a:r>
              <a:t>The second claim is measured. Q and R make a soil-only claim especially unreliable.</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If pupils choose A, return to the equal-length 60 mL bars and count what is left. If C, name one unmeasured factor such as root air or plant type. Then select an independent route.</a:t>
            </a:r>
          </a:p>
          <a:p xmlns:a="http://schemas.openxmlformats.org/drawingml/2006/main">
            <a:r>
              <a:t/>
            </a:r>
          </a:p>
          <a:p xmlns:a="http://schemas.openxmlformats.org/drawingml/2006/main">
            <a:r>
              <a:t>A. A has the greater amount not collected.</a:t>
            </a:r>
          </a:p>
          <a:p xmlns:a="http://schemas.openxmlformats.org/drawingml/2006/main">
            <a:r>
              <a:t>A has 14 mL not collected; C has 38 mL. The large collected value means a smaller remainder.</a:t>
            </a:r>
          </a:p>
          <a:p xmlns:a="http://schemas.openxmlformats.org/drawingml/2006/main">
            <a:r>
              <a:t/>
            </a:r>
          </a:p>
          <a:p xmlns:a="http://schemas.openxmlformats.org/drawingml/2006/main">
            <a:r>
              <a:t>B. C has the greater amount not collected at this time.</a:t>
            </a:r>
          </a:p>
          <a:p xmlns:a="http://schemas.openxmlformats.org/drawingml/2006/main">
            <a:r>
              <a:t>Correct. 60−22=38 mL, greater than A’s14 mL, under the stated conditions.</a:t>
            </a:r>
          </a:p>
          <a:p xmlns:a="http://schemas.openxmlformats.org/drawingml/2006/main">
            <a:r>
              <a:t/>
            </a:r>
          </a:p>
          <a:p xmlns:a="http://schemas.openxmlformats.org/drawingml/2006/main">
            <a:r>
              <a:t>C. C will therefore grow every plant best.</a:t>
            </a:r>
          </a:p>
          <a:p xmlns:a="http://schemas.openxmlformats.org/drawingml/2006/main">
            <a:r>
              <a:t>The balance does not measure every plant need or how much water roots can use.</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Distribute one route. Start an optional practical immediately so the five-minute collection fits inside the 12-minute independent stage. Use the same 60 mL input and 100 cm³ soil preparation as the model, if approved and piloted. Actual and constructed data must be clearly distinguished.</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Use identical draining pots and matching filters. Loosely fill each with 100 cm³ of prepared soil, without tamping. Add 60 mL over 10 seconds. Start timing when pouring starts. Collect and read at the stated time. Use fresh equally prepared portions for repeats. Keep soil out of the collection scale. For this lesson read at 5 minutes. Check for water above soil, continued dripping and spills. Pupils record these observations; a spilled or overflowing trial cannot support the uncorrected remaining-water estimate.</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For ICT, pupils enter headers Soil/Input_mL/Collected_mL/Not_collected_mL. Demonstrate =B2-C2 in D2, then fill down. Check against 60−46=14 so pupils understand the formula. The completed paper table is equally valid.</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independent time. Read the conclusion aloud if writing obscures meaning. Encourage “water not collected” or “estimated water remaining in the setup”, with no claim of exact plant-available water.</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Use one pupil’s caution—standing water, filter, spills or ongoing drainage—to improve the shared sentence. Name how their evidence changed the conclusion. Do not imply that no observation means no understanding.</a:t>
            </a:r>
          </a:p>
          <a:p xmlns:a="http://schemas.openxmlformats.org/drawingml/2006/main">
            <a:r>
              <a:t/>
            </a:r>
          </a:p>
          <a:p xmlns:a="http://schemas.openxmlformats.org/drawingml/2006/main">
            <a:r>
              <a:t>REVEAL / MODEL ANSWER</a:t>
            </a:r>
          </a:p>
          <a:p xmlns:a="http://schemas.openxmlformats.org/drawingml/2006/main">
            <a:r>
              <a:t>“C had the most water not collected at five minutes in this model test.”</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Core evidence is a correct supported subtraction and a sensible comparison. Recognising a limitation adds precision; if missing, use the apparatus diagram for a two-minute follow-up next lesson.</a:t>
            </a:r>
          </a:p>
          <a:p xmlns:a="http://schemas.openxmlformats.org/drawingml/2006/main">
            <a:r>
              <a:t/>
            </a:r>
          </a:p>
          <a:p xmlns:a="http://schemas.openxmlformats.org/drawingml/2006/main">
            <a:r>
              <a:t>REVEAL / MODEL ANSWER</a:t>
            </a:r>
          </a:p>
          <a:p xmlns:a="http://schemas.openxmlformats.org/drawingml/2006/main">
            <a:r>
              <a:t>20 mL. Above the soil or in the filter. More water may drain later.</a:t>
            </a:r>
          </a:p>
          <a:p xmlns:a="http://schemas.openxmlformats.org/drawingml/2006/main">
            <a:r>
              <a:t/>
            </a:r>
          </a:p>
          <a:p xmlns:a="http://schemas.openxmlformats.org/drawingml/2006/main">
            <a:r>
              <a:t>LESSON REFERENCES</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a:p xmlns:a="http://schemas.openxmlformats.org/drawingml/2006/main">
            <a:r>
              <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bc325644e8344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04909c80feb4597" /><Relationship Type="http://schemas.openxmlformats.org/officeDocument/2006/relationships/slideLayout" Target="/ppt/slideLayouts/slideLayout1.xml" Id="R4d0b23f83428401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0b23f83428401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5a3b25be9ed4ebb" /><Relationship Type="http://schemas.openxmlformats.org/officeDocument/2006/relationships/notesSlide" Target="/ppt/notesSlides/notesSlide1.xml" Id="R3a2e9ea157d44e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947d4db968f406a" /><Relationship Type="http://schemas.openxmlformats.org/officeDocument/2006/relationships/notesSlide" Target="/ppt/notesSlides/notesSlide2.xml" Id="R235e0d9894254f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6b93c078c3414e" /><Relationship Type="http://schemas.openxmlformats.org/officeDocument/2006/relationships/notesSlide" Target="/ppt/notesSlides/notesSlide3.xml" Id="R6284c1854dd943f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18187c5dfe64ade" /><Relationship Type="http://schemas.openxmlformats.org/officeDocument/2006/relationships/notesSlide" Target="/ppt/notesSlides/notesSlide4.xml" Id="R840b5075f0ab470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861de7e339944da" /><Relationship Type="http://schemas.openxmlformats.org/officeDocument/2006/relationships/notesSlide" Target="/ppt/notesSlides/notesSlide5.xml" Id="R131ef23df57246c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c9ec8c39cb34a38" /><Relationship Type="http://schemas.openxmlformats.org/officeDocument/2006/relationships/notesSlide" Target="/ppt/notesSlides/notesSlide6.xml" Id="Ra12e9050d4b049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36886d977f14033" /><Relationship Type="http://schemas.openxmlformats.org/officeDocument/2006/relationships/notesSlide" Target="/ppt/notesSlides/notesSlide7.xml" Id="R2b3a5bfbd20b4b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a50401ac6d4e0a" /><Relationship Type="http://schemas.openxmlformats.org/officeDocument/2006/relationships/notesSlide" Target="/ppt/notesSlides/notesSlide8.xml" Id="R442eae2d8e1245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60b52b036ad444b" /><Relationship Type="http://schemas.openxmlformats.org/officeDocument/2006/relationships/notesSlide" Target="/ppt/notesSlides/notesSlide9.xml" Id="R22bee2b0d4eb4a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1e06c6fc1b9469c" /><Relationship Type="http://schemas.openxmlformats.org/officeDocument/2006/relationships/notesSlide" Target="/ppt/notesSlides/notesSlide10.xml" Id="Rc324c57a836845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d3920c984084922" /><Relationship Type="http://schemas.openxmlformats.org/officeDocument/2006/relationships/notesSlide" Target="/ppt/notesSlides/notesSlide11.xml" Id="R187144cba45f40c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5e709732e234bf0" /><Relationship Type="http://schemas.openxmlformats.org/officeDocument/2006/relationships/notesSlide" Target="/ppt/notesSlides/notesSlide12.xml" Id="R69adc66972134c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d2f0f501a9f4b14" /><Relationship Type="http://schemas.openxmlformats.org/officeDocument/2006/relationships/notesSlide" Target="/ppt/notesSlides/notesSlide13.xml" Id="R2c88e422fb074e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249585b67e24f67" /><Relationship Type="http://schemas.openxmlformats.org/officeDocument/2006/relationships/notesSlide" Target="/ppt/notesSlides/notesSlide14.xml" Id="R1c72b0e5093a455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2F4B5215-DF23-495A-B428-69EC8369B3C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3875FD8-ED36-46E3-BF12-7CF4450BB04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C909AFC-95BB-46BD-ADBF-9CC12A59B87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20822E1-3C74-497F-9779-B6EDFB7E1B9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Opening">
            <a:extLst xmlns:a="http://schemas.openxmlformats.org/drawingml/2006/main">
              <a:ext uri="{FF2B5EF4-FFF2-40B4-BE49-F238E27FC236}">
                <a16:creationId xmlns:a16="http://schemas.microsoft.com/office/drawing/2014/main" id="{922C5E43-1907-428C-A839-BB8934F857F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4D30168B-E3C1-4F1A-9317-7A1F730264C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Where did the water go?">
            <a:extLst xmlns:a="http://schemas.openxmlformats.org/drawingml/2006/main">
              <a:ext uri="{FF2B5EF4-FFF2-40B4-BE49-F238E27FC236}">
                <a16:creationId xmlns:a16="http://schemas.microsoft.com/office/drawing/2014/main" id="{0912DE40-ED03-4604-AC1E-2567D55257F1}"/>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Where did the water go?</a:t>
            </a:r>
          </a:p>
        </p:txBody>
      </p:sp>
      <p:sp>
        <p:nvSpPr>
          <p:cNvPr id="8" name="surface">
            <a:extLst xmlns:a="http://schemas.openxmlformats.org/drawingml/2006/main">
              <a:ext uri="{FF2B5EF4-FFF2-40B4-BE49-F238E27FC236}">
                <a16:creationId xmlns:a16="http://schemas.microsoft.com/office/drawing/2014/main" id="{1CF61FE9-A4B7-48DA-BB86-53D8ABFDD88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7C5A5616-875B-4F47-B4E9-A1F04EDFCC1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1 / 14">
            <a:extLst xmlns:a="http://schemas.openxmlformats.org/drawingml/2006/main">
              <a:ext uri="{FF2B5EF4-FFF2-40B4-BE49-F238E27FC236}">
                <a16:creationId xmlns:a16="http://schemas.microsoft.com/office/drawing/2014/main" id="{3F7FE9B4-00C1-440E-95F2-9627CA1D4A0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14</a:t>
            </a:r>
          </a:p>
        </p:txBody>
      </p:sp>
      <p:sp>
        <p:nvSpPr>
          <p:cNvPr id="11" name="surface">
            <a:extLst xmlns:a="http://schemas.openxmlformats.org/drawingml/2006/main">
              <a:ext uri="{FF2B5EF4-FFF2-40B4-BE49-F238E27FC236}">
                <a16:creationId xmlns:a16="http://schemas.microsoft.com/office/drawing/2014/main" id="{028F74A1-EDCF-4067-B6A2-EEC3C325F947}"/>
              </a:ext>
            </a:extLst>
          </p:cNvPr>
          <p:cNvSpPr>
            <a:spLocks xmlns:a="http://schemas.openxmlformats.org/drawingml/2006/main" noGrp="1"/>
          </p:cNvSpPr>
          <p:nvPr/>
        </p:nvSpPr>
        <p:spPr>
          <a:xfrm xmlns:a="http://schemas.openxmlformats.org/drawingml/2006/main">
            <a:off x="533400" y="1885950"/>
            <a:ext cx="11125200" cy="1247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B03D1F33-B460-46A6-95BE-150DD4D0425C}"/>
              </a:ext>
            </a:extLst>
          </p:cNvPr>
          <p:cNvSpPr>
            <a:spLocks xmlns:a="http://schemas.openxmlformats.org/drawingml/2006/main" noGrp="1"/>
          </p:cNvSpPr>
          <p:nvPr/>
        </p:nvSpPr>
        <p:spPr>
          <a:xfrm xmlns:a="http://schemas.openxmlformats.org/drawingml/2006/main">
            <a:off x="533400" y="1885950"/>
            <a:ext cx="66675" cy="1247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4DA3EF85-11BA-4C96-97FE-0D48940F8775}"/>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4E7A9B"/>
                </a:solidFill>
                <a:latin typeface="Nimbus Sans"/>
                <a:ea typeface="Nimbus Sans"/>
                <a:cs typeface="Nimbus Sans"/>
              </a:defRPr>
            </a:pPr>
            <a:r>
              <a:rPr sz="1650" b="1">
                <a:solidFill>
                  <a:srgbClr val="4E7A9B"/>
                </a:solidFill>
                <a:latin typeface="Nimbus Sans"/>
                <a:ea typeface="Nimbus Sans"/>
                <a:cs typeface="Nimbus Sans"/>
              </a:rPr>
              <a:t>Learning intention</a:t>
            </a:r>
          </a:p>
        </p:txBody>
      </p:sp>
      <p:sp>
        <p:nvSpPr>
          <p:cNvPr id="14" name="Use input minus collected water to estimate and compare water re">
            <a:extLst xmlns:a="http://schemas.openxmlformats.org/drawingml/2006/main">
              <a:ext uri="{FF2B5EF4-FFF2-40B4-BE49-F238E27FC236}">
                <a16:creationId xmlns:a16="http://schemas.microsoft.com/office/drawing/2014/main" id="{321EEF9B-40E6-493C-A4B8-2E3552AF81E7}"/>
              </a:ext>
            </a:extLst>
          </p:cNvPr>
          <p:cNvSpPr>
            <a:spLocks xmlns:a="http://schemas.openxmlformats.org/drawingml/2006/main" noGrp="1"/>
          </p:cNvSpPr>
          <p:nvPr/>
        </p:nvSpPr>
        <p:spPr>
          <a:xfrm xmlns:a="http://schemas.openxmlformats.org/drawingml/2006/main">
            <a:off x="762000" y="2362200"/>
            <a:ext cx="10572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Use input minus collected water to estimate and compare water remaining after</a:t>
            </a:r>
          </a:p>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drainage.</a:t>
            </a:r>
          </a:p>
        </p:txBody>
      </p:sp>
      <p:sp>
        <p:nvSpPr>
          <p:cNvPr id="15" name="We add the same amount.">
            <a:extLst xmlns:a="http://schemas.openxmlformats.org/drawingml/2006/main">
              <a:ext uri="{FF2B5EF4-FFF2-40B4-BE49-F238E27FC236}">
                <a16:creationId xmlns:a16="http://schemas.microsoft.com/office/drawing/2014/main" id="{2B562EF0-9439-452A-B64F-4713DDCB815D}"/>
              </a:ext>
            </a:extLst>
          </p:cNvPr>
          <p:cNvSpPr>
            <a:spLocks xmlns:a="http://schemas.openxmlformats.org/drawingml/2006/main" noGrp="1"/>
          </p:cNvSpPr>
          <p:nvPr/>
        </p:nvSpPr>
        <p:spPr>
          <a:xfrm xmlns:a="http://schemas.openxmlformats.org/drawingml/2006/main">
            <a:off x="762000" y="33623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We add the same amount.</a:t>
            </a:r>
          </a:p>
        </p:txBody>
      </p:sp>
      <p:sp>
        <p:nvSpPr>
          <p:cNvPr id="16" name="Different amounts drain out.">
            <a:extLst xmlns:a="http://schemas.openxmlformats.org/drawingml/2006/main">
              <a:ext uri="{FF2B5EF4-FFF2-40B4-BE49-F238E27FC236}">
                <a16:creationId xmlns:a16="http://schemas.microsoft.com/office/drawing/2014/main" id="{45DB3339-8D0B-440E-A0D9-AF0DEFAAFC1C}"/>
              </a:ext>
            </a:extLst>
          </p:cNvPr>
          <p:cNvSpPr>
            <a:spLocks xmlns:a="http://schemas.openxmlformats.org/drawingml/2006/main" noGrp="1"/>
          </p:cNvSpPr>
          <p:nvPr/>
        </p:nvSpPr>
        <p:spPr>
          <a:xfrm xmlns:a="http://schemas.openxmlformats.org/drawingml/2006/main">
            <a:off x="762000" y="39366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Different amounts drain out.</a:t>
            </a:r>
          </a:p>
        </p:txBody>
      </p:sp>
      <p:sp>
        <p:nvSpPr>
          <p:cNvPr id="17" name="How much is not collected?">
            <a:extLst xmlns:a="http://schemas.openxmlformats.org/drawingml/2006/main">
              <a:ext uri="{FF2B5EF4-FFF2-40B4-BE49-F238E27FC236}">
                <a16:creationId xmlns:a16="http://schemas.microsoft.com/office/drawing/2014/main" id="{3E00721B-878B-4E9D-876D-A48AFEFBC954}"/>
              </a:ext>
            </a:extLst>
          </p:cNvPr>
          <p:cNvSpPr>
            <a:spLocks xmlns:a="http://schemas.openxmlformats.org/drawingml/2006/main" noGrp="1"/>
          </p:cNvSpPr>
          <p:nvPr/>
        </p:nvSpPr>
        <p:spPr>
          <a:xfrm xmlns:a="http://schemas.openxmlformats.org/drawingml/2006/main">
            <a:off x="762000" y="45110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How much is not collected?</a:t>
            </a:r>
          </a:p>
        </p:txBody>
      </p:sp>
    </p:spTree>
    <p:extLst>
      <p:ext uri="{BB962C8B-B14F-4D97-AF65-F5344CB8AC3E}">
        <p14:creationId xmlns:p14="http://schemas.microsoft.com/office/powerpoint/2010/main" val="1686109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7CAAAC7B-EC97-4BB8-A2ED-07A561F08C89}"/>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D32715C-616F-41FA-8EAF-19C96337705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5CEDBC5-3446-441F-9AE4-98AE9B6BB02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5882F9E7-5440-41E6-9D00-9EABCFE3F78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trieval">
            <a:extLst xmlns:a="http://schemas.openxmlformats.org/drawingml/2006/main">
              <a:ext uri="{FF2B5EF4-FFF2-40B4-BE49-F238E27FC236}">
                <a16:creationId xmlns:a16="http://schemas.microsoft.com/office/drawing/2014/main" id="{EA18DEF8-AA4F-42E9-B2AA-E5475F094FD3}"/>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5EA5F96E-F1BE-4360-B5D3-216C31FFC15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Three links from last time">
            <a:extLst xmlns:a="http://schemas.openxmlformats.org/drawingml/2006/main">
              <a:ext uri="{FF2B5EF4-FFF2-40B4-BE49-F238E27FC236}">
                <a16:creationId xmlns:a16="http://schemas.microsoft.com/office/drawing/2014/main" id="{5E82DB5C-58A2-4173-B590-E85211A4106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Three links from last time</a:t>
            </a:r>
          </a:p>
        </p:txBody>
      </p:sp>
      <p:sp>
        <p:nvSpPr>
          <p:cNvPr id="8" name="surface">
            <a:extLst xmlns:a="http://schemas.openxmlformats.org/drawingml/2006/main">
              <a:ext uri="{FF2B5EF4-FFF2-40B4-BE49-F238E27FC236}">
                <a16:creationId xmlns:a16="http://schemas.microsoft.com/office/drawing/2014/main" id="{0278C64E-A73F-4618-8491-F40DF05CC85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CA5D6AF9-B58A-4FB3-A734-6A9CB65CED4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2 / 14">
            <a:extLst xmlns:a="http://schemas.openxmlformats.org/drawingml/2006/main">
              <a:ext uri="{FF2B5EF4-FFF2-40B4-BE49-F238E27FC236}">
                <a16:creationId xmlns:a16="http://schemas.microsoft.com/office/drawing/2014/main" id="{03DC5541-E943-4373-AFA4-A94DE2D10C8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14</a:t>
            </a:r>
          </a:p>
        </p:txBody>
      </p:sp>
      <p:sp>
        <p:nvSpPr>
          <p:cNvPr id="11" name="1. Where can water move through soil?">
            <a:extLst xmlns:a="http://schemas.openxmlformats.org/drawingml/2006/main">
              <a:ext uri="{FF2B5EF4-FFF2-40B4-BE49-F238E27FC236}">
                <a16:creationId xmlns:a16="http://schemas.microsoft.com/office/drawing/2014/main" id="{A3DB78FF-5BE4-4AA1-9F75-6DB7F84F2712}"/>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1. Where can water move through soil?</a:t>
            </a:r>
          </a:p>
        </p:txBody>
      </p:sp>
      <p:sp>
        <p:nvSpPr>
          <p:cNvPr id="12" name="2. Name one fair-test control.">
            <a:extLst xmlns:a="http://schemas.openxmlformats.org/drawingml/2006/main">
              <a:ext uri="{FF2B5EF4-FFF2-40B4-BE49-F238E27FC236}">
                <a16:creationId xmlns:a16="http://schemas.microsoft.com/office/drawing/2014/main" id="{BB519295-CDCE-4669-B4C1-68CB78BBBF6E}"/>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2. Name one fair-test control.</a:t>
            </a:r>
          </a:p>
        </p:txBody>
      </p:sp>
      <p:sp>
        <p:nvSpPr>
          <p:cNvPr id="13" name="3. What is 60 minus 20?">
            <a:extLst xmlns:a="http://schemas.openxmlformats.org/drawingml/2006/main">
              <a:ext uri="{FF2B5EF4-FFF2-40B4-BE49-F238E27FC236}">
                <a16:creationId xmlns:a16="http://schemas.microsoft.com/office/drawing/2014/main" id="{D6F4F554-96E3-4A27-882A-793BA3DB0649}"/>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3. What is 60 minus 20?</a:t>
            </a:r>
          </a:p>
        </p:txBody>
      </p:sp>
    </p:spTree>
    <p:extLst>
      <p:ext uri="{BB962C8B-B14F-4D97-AF65-F5344CB8AC3E}">
        <p14:creationId xmlns:p14="http://schemas.microsoft.com/office/powerpoint/2010/main" val="115380669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surface">
            <a:extLst xmlns:a="http://schemas.openxmlformats.org/drawingml/2006/main">
              <a:ext uri="{FF2B5EF4-FFF2-40B4-BE49-F238E27FC236}">
                <a16:creationId xmlns:a16="http://schemas.microsoft.com/office/drawing/2014/main" id="{D2BC6C08-9882-46BD-B8C7-CB5185EF9E1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19ACBB40-0E3B-4BEF-8056-E395334DCB5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8D6F6DE-18EC-408E-8BC2-6AF7E7A4E12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6B532E51-BF65-4319-8149-7CE18D483D2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F33982B3-FE0C-4DE9-BFFF-C1E2828775C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E8580C8A-190B-442C-955C-8FEE72B7BF1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Account for the added water">
            <a:extLst xmlns:a="http://schemas.openxmlformats.org/drawingml/2006/main">
              <a:ext uri="{FF2B5EF4-FFF2-40B4-BE49-F238E27FC236}">
                <a16:creationId xmlns:a16="http://schemas.microsoft.com/office/drawing/2014/main" id="{D6A7528A-91E2-44B3-8C4E-A133DD1C60F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Account for the added water</a:t>
            </a:r>
          </a:p>
        </p:txBody>
      </p:sp>
      <p:sp>
        <p:nvSpPr>
          <p:cNvPr id="8" name="surface">
            <a:extLst xmlns:a="http://schemas.openxmlformats.org/drawingml/2006/main">
              <a:ext uri="{FF2B5EF4-FFF2-40B4-BE49-F238E27FC236}">
                <a16:creationId xmlns:a16="http://schemas.microsoft.com/office/drawing/2014/main" id="{A05F03D3-7889-4D08-B100-F795CE349A1F}"/>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F693F8D2-10A2-4B5D-BCB0-AE92D6B31FD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3 / 14">
            <a:extLst xmlns:a="http://schemas.openxmlformats.org/drawingml/2006/main">
              <a:ext uri="{FF2B5EF4-FFF2-40B4-BE49-F238E27FC236}">
                <a16:creationId xmlns:a16="http://schemas.microsoft.com/office/drawing/2014/main" id="{E14A7DF8-60FC-43CC-B632-BFEE59BD7EA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14</a:t>
            </a:r>
          </a:p>
        </p:txBody>
      </p:sp>
      <p:sp>
        <p:nvSpPr>
          <p:cNvPr id="11" name="Diagram label: 60 mL added">
            <a:extLst xmlns:a="http://schemas.openxmlformats.org/drawingml/2006/main">
              <a:ext uri="{FF2B5EF4-FFF2-40B4-BE49-F238E27FC236}">
                <a16:creationId xmlns:a16="http://schemas.microsoft.com/office/drawing/2014/main" id="{34DAF7B2-0AC2-45D4-9F0E-1A93CF8A6F46}"/>
              </a:ext>
            </a:extLst>
          </p:cNvPr>
          <p:cNvSpPr>
            <a:spLocks xmlns:a="http://schemas.openxmlformats.org/drawingml/2006/main" noGrp="1"/>
          </p:cNvSpPr>
          <p:nvPr/>
        </p:nvSpPr>
        <p:spPr>
          <a:xfrm xmlns:a="http://schemas.openxmlformats.org/drawingml/2006/main">
            <a:off x="2773221" y="2109192"/>
            <a:ext cx="6645558"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99" b="1">
                <a:solidFill>
                  <a:srgbClr val="1F2937"/>
                </a:solidFill>
                <a:latin typeface="Nimbus Sans"/>
                <a:ea typeface="Nimbus Sans"/>
                <a:cs typeface="Nimbus Sans"/>
              </a:defRPr>
            </a:pPr>
            <a:r>
              <a:rPr sz="1999" b="1">
                <a:solidFill>
                  <a:srgbClr val="1F2937"/>
                </a:solidFill>
                <a:latin typeface="Nimbus Sans"/>
                <a:ea typeface="Nimbus Sans"/>
                <a:cs typeface="Nimbus Sans"/>
              </a:rPr>
              <a:t>60 mL added</a:t>
            </a:r>
          </a:p>
        </p:txBody>
      </p:sp>
      <p:sp>
        <p:nvSpPr>
          <p:cNvPr id="12" name="Editable scientific diagram">
            <a:extLst xmlns:a="http://schemas.openxmlformats.org/drawingml/2006/main">
              <a:ext uri="{FF2B5EF4-FFF2-40B4-BE49-F238E27FC236}">
                <a16:creationId xmlns:a16="http://schemas.microsoft.com/office/drawing/2014/main" id="{BAB1150E-C210-4F76-8C8F-837F4BE33ECC}"/>
              </a:ext>
            </a:extLst>
          </p:cNvPr>
          <p:cNvSpPr>
            <a:spLocks xmlns:a="http://schemas.openxmlformats.org/drawingml/2006/main" noGrp="1"/>
          </p:cNvSpPr>
          <p:nvPr/>
        </p:nvSpPr>
        <p:spPr>
          <a:xfrm xmlns:a="http://schemas.openxmlformats.org/drawingml/2006/main">
            <a:off x="2773221" y="2706546"/>
            <a:ext cx="6720228" cy="784027"/>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13" name="Editable scientific diagram">
            <a:extLst xmlns:a="http://schemas.openxmlformats.org/drawingml/2006/main">
              <a:ext uri="{FF2B5EF4-FFF2-40B4-BE49-F238E27FC236}">
                <a16:creationId xmlns:a16="http://schemas.microsoft.com/office/drawing/2014/main" id="{35ED8070-5E65-4B00-B176-802163233618}"/>
              </a:ext>
            </a:extLst>
          </p:cNvPr>
          <p:cNvSpPr>
            <a:spLocks xmlns:a="http://schemas.openxmlformats.org/drawingml/2006/main" noGrp="1"/>
          </p:cNvSpPr>
          <p:nvPr/>
        </p:nvSpPr>
        <p:spPr>
          <a:xfrm xmlns:a="http://schemas.openxmlformats.org/drawingml/2006/main">
            <a:off x="2773221" y="3938588"/>
            <a:ext cx="3808129" cy="784027"/>
          </a:xfrm>
          <a:prstGeom xmlns:a="http://schemas.openxmlformats.org/drawingml/2006/main" prst="rect">
            <a:avLst/>
          </a:prstGeom>
          <a:solidFill xmlns:a="http://schemas.openxmlformats.org/drawingml/2006/main">
            <a:srgbClr val="9AC2D8"/>
          </a:solidFill>
          <a:ln xmlns:a="http://schemas.openxmlformats.org/drawingml/2006/main" w="14934">
            <a:solidFill>
              <a:srgbClr val="4E7A9B"/>
            </a:solidFill>
          </a:ln>
        </p:spPr>
      </p:sp>
      <p:sp>
        <p:nvSpPr>
          <p:cNvPr id="14" name="Editable scientific diagram">
            <a:extLst xmlns:a="http://schemas.openxmlformats.org/drawingml/2006/main">
              <a:ext uri="{FF2B5EF4-FFF2-40B4-BE49-F238E27FC236}">
                <a16:creationId xmlns:a16="http://schemas.microsoft.com/office/drawing/2014/main" id="{594595D1-0079-4BF0-84C9-096F241DCB7B}"/>
              </a:ext>
            </a:extLst>
          </p:cNvPr>
          <p:cNvSpPr>
            <a:spLocks xmlns:a="http://schemas.openxmlformats.org/drawingml/2006/main" noGrp="1"/>
          </p:cNvSpPr>
          <p:nvPr/>
        </p:nvSpPr>
        <p:spPr>
          <a:xfrm xmlns:a="http://schemas.openxmlformats.org/drawingml/2006/main">
            <a:off x="6581350" y="3938588"/>
            <a:ext cx="2912099" cy="784027"/>
          </a:xfrm>
          <a:prstGeom xmlns:a="http://schemas.openxmlformats.org/drawingml/2006/main" prst="rect">
            <a:avLst/>
          </a:prstGeom>
          <a:solidFill xmlns:a="http://schemas.openxmlformats.org/drawingml/2006/main">
            <a:srgbClr val="D7DFC2"/>
          </a:solidFill>
          <a:ln xmlns:a="http://schemas.openxmlformats.org/drawingml/2006/main" w="14934">
            <a:solidFill>
              <a:srgbClr val="617B40"/>
            </a:solidFill>
          </a:ln>
        </p:spPr>
      </p:sp>
      <p:sp>
        <p:nvSpPr>
          <p:cNvPr id="15" name="Diagram label: 34 mL collected">
            <a:extLst xmlns:a="http://schemas.openxmlformats.org/drawingml/2006/main">
              <a:ext uri="{FF2B5EF4-FFF2-40B4-BE49-F238E27FC236}">
                <a16:creationId xmlns:a16="http://schemas.microsoft.com/office/drawing/2014/main" id="{28082766-4C80-4E39-ACA5-1BC3939050C3}"/>
              </a:ext>
            </a:extLst>
          </p:cNvPr>
          <p:cNvSpPr>
            <a:spLocks xmlns:a="http://schemas.openxmlformats.org/drawingml/2006/main" noGrp="1"/>
          </p:cNvSpPr>
          <p:nvPr/>
        </p:nvSpPr>
        <p:spPr>
          <a:xfrm xmlns:a="http://schemas.openxmlformats.org/drawingml/2006/main">
            <a:off x="2885225" y="4043124"/>
            <a:ext cx="3584121" cy="5600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81" b="1">
                <a:solidFill>
                  <a:srgbClr val="1F2937"/>
                </a:solidFill>
                <a:latin typeface="Nimbus Sans"/>
                <a:ea typeface="Nimbus Sans"/>
                <a:cs typeface="Nimbus Sans"/>
              </a:defRPr>
            </a:pPr>
            <a:r>
              <a:rPr sz="1881" b="1">
                <a:solidFill>
                  <a:srgbClr val="1F2937"/>
                </a:solidFill>
                <a:latin typeface="Nimbus Sans"/>
                <a:ea typeface="Nimbus Sans"/>
                <a:cs typeface="Nimbus Sans"/>
              </a:rPr>
              <a:t>34 mL collected</a:t>
            </a:r>
          </a:p>
        </p:txBody>
      </p:sp>
      <p:sp>
        <p:nvSpPr>
          <p:cNvPr id="16" name="Diagram label: 26 mL not&#10;collected">
            <a:extLst xmlns:a="http://schemas.openxmlformats.org/drawingml/2006/main">
              <a:ext uri="{FF2B5EF4-FFF2-40B4-BE49-F238E27FC236}">
                <a16:creationId xmlns:a16="http://schemas.microsoft.com/office/drawing/2014/main" id="{F01FE5F3-FF6B-43C7-B0BD-890422AE9E36}"/>
              </a:ext>
            </a:extLst>
          </p:cNvPr>
          <p:cNvSpPr>
            <a:spLocks xmlns:a="http://schemas.openxmlformats.org/drawingml/2006/main" noGrp="1"/>
          </p:cNvSpPr>
          <p:nvPr/>
        </p:nvSpPr>
        <p:spPr>
          <a:xfrm xmlns:a="http://schemas.openxmlformats.org/drawingml/2006/main">
            <a:off x="6693354" y="4028191"/>
            <a:ext cx="2688091" cy="597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26 mL not</a:t>
            </a:r>
          </a:p>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collected</a:t>
            </a:r>
          </a:p>
        </p:txBody>
      </p:sp>
      <p:sp>
        <p:nvSpPr>
          <p:cNvPr id="17" name="Diagram line">
            <a:extLst xmlns:a="http://schemas.openxmlformats.org/drawingml/2006/main">
              <a:ext uri="{FF2B5EF4-FFF2-40B4-BE49-F238E27FC236}">
                <a16:creationId xmlns:a16="http://schemas.microsoft.com/office/drawing/2014/main" id="{EA9AC58C-C5F6-4015-B97C-5E32B4ABBF06}"/>
              </a:ext>
            </a:extLst>
          </p:cNvPr>
          <p:cNvSpPr>
            <a:spLocks xmlns:a="http://schemas.openxmlformats.org/drawingml/2006/main" noGrp="1"/>
          </p:cNvSpPr>
          <p:nvPr/>
        </p:nvSpPr>
        <p:spPr>
          <a:xfrm xmlns:a="http://schemas.openxmlformats.org/drawingml/2006/main" flipH="0" flipV="0">
            <a:off x="2773221" y="3639911"/>
            <a:ext cx="6720228"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8" name="Diagram label: 60 − 34 = 26 mL">
            <a:extLst xmlns:a="http://schemas.openxmlformats.org/drawingml/2006/main">
              <a:ext uri="{FF2B5EF4-FFF2-40B4-BE49-F238E27FC236}">
                <a16:creationId xmlns:a16="http://schemas.microsoft.com/office/drawing/2014/main" id="{2C0F980C-B6C3-43EA-9F5D-49314C4F9394}"/>
              </a:ext>
            </a:extLst>
          </p:cNvPr>
          <p:cNvSpPr>
            <a:spLocks xmlns:a="http://schemas.openxmlformats.org/drawingml/2006/main" noGrp="1"/>
          </p:cNvSpPr>
          <p:nvPr/>
        </p:nvSpPr>
        <p:spPr>
          <a:xfrm xmlns:a="http://schemas.openxmlformats.org/drawingml/2006/main">
            <a:off x="3071898" y="5028758"/>
            <a:ext cx="5973536" cy="597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8000"/>
              </a:lnSpc>
              <a:buNone/>
              <a:defRPr sz="2528" b="1">
                <a:solidFill>
                  <a:srgbClr val="1F2937"/>
                </a:solidFill>
                <a:latin typeface="Nimbus Sans"/>
                <a:ea typeface="Nimbus Sans"/>
                <a:cs typeface="Nimbus Sans"/>
              </a:defRPr>
            </a:pPr>
            <a:r>
              <a:rPr sz="2528" b="1">
                <a:solidFill>
                  <a:srgbClr val="1F2937"/>
                </a:solidFill>
                <a:latin typeface="Nimbus Sans"/>
                <a:ea typeface="Nimbus Sans"/>
                <a:cs typeface="Nimbus Sans"/>
              </a:rPr>
              <a:t>60 − 34 = 26 mL</a:t>
            </a:r>
          </a:p>
        </p:txBody>
      </p:sp>
      <p:sp>
        <p:nvSpPr>
          <p:cNvPr id="19" name="Diagram label: Model: initial water and losses ignored.">
            <a:extLst xmlns:a="http://schemas.openxmlformats.org/drawingml/2006/main">
              <a:ext uri="{FF2B5EF4-FFF2-40B4-BE49-F238E27FC236}">
                <a16:creationId xmlns:a16="http://schemas.microsoft.com/office/drawing/2014/main" id="{52993F17-696A-4C54-9C63-910DB7C372D4}"/>
              </a:ext>
            </a:extLst>
          </p:cNvPr>
          <p:cNvSpPr>
            <a:spLocks xmlns:a="http://schemas.openxmlformats.org/drawingml/2006/main" noGrp="1"/>
          </p:cNvSpPr>
          <p:nvPr/>
        </p:nvSpPr>
        <p:spPr>
          <a:xfrm xmlns:a="http://schemas.openxmlformats.org/drawingml/2006/main">
            <a:off x="2885225" y="5655979"/>
            <a:ext cx="6346882" cy="2613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Model: initial water and losses ignored.</a:t>
            </a:r>
          </a:p>
        </p:txBody>
      </p:sp>
      <p:sp>
        <p:nvSpPr>
          <p:cNvPr id="20" name="Start with the water added.  Subtract the water collected.  Reco">
            <a:extLst xmlns:a="http://schemas.openxmlformats.org/drawingml/2006/main">
              <a:ext uri="{FF2B5EF4-FFF2-40B4-BE49-F238E27FC236}">
                <a16:creationId xmlns:a16="http://schemas.microsoft.com/office/drawing/2014/main" id="{533F6B51-373F-4A9D-BCF2-1C17F46BDA3F}"/>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Start with the water added. Subtract the water collected. Record the difference in mL.</a:t>
            </a:r>
          </a:p>
        </p:txBody>
      </p:sp>
    </p:spTree>
    <p:extLst>
      <p:ext uri="{BB962C8B-B14F-4D97-AF65-F5344CB8AC3E}">
        <p14:creationId xmlns:p14="http://schemas.microsoft.com/office/powerpoint/2010/main" val="106206077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surface">
            <a:extLst xmlns:a="http://schemas.openxmlformats.org/drawingml/2006/main">
              <a:ext uri="{FF2B5EF4-FFF2-40B4-BE49-F238E27FC236}">
                <a16:creationId xmlns:a16="http://schemas.microsoft.com/office/drawing/2014/main" id="{606A2E72-2C50-40D6-9E66-9AE39826026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2BAEEC5D-B22D-4AD6-A91D-0765408D2D1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50BB6A2C-7CB5-49AC-9D74-33C1C00DA0AD}"/>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49BD255B-BCD1-4412-A9A2-40EB698A038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2BFF4A0C-A07F-45B9-AC5B-6A276FD7294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2 min">
            <a:extLst xmlns:a="http://schemas.openxmlformats.org/drawingml/2006/main">
              <a:ext uri="{FF2B5EF4-FFF2-40B4-BE49-F238E27FC236}">
                <a16:creationId xmlns:a16="http://schemas.microsoft.com/office/drawing/2014/main" id="{0711FFDD-4105-45C2-A61F-2939C355BC4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Be precise about “held”">
            <a:extLst xmlns:a="http://schemas.openxmlformats.org/drawingml/2006/main">
              <a:ext uri="{FF2B5EF4-FFF2-40B4-BE49-F238E27FC236}">
                <a16:creationId xmlns:a16="http://schemas.microsoft.com/office/drawing/2014/main" id="{EF87DE8E-AD4E-4FCB-B3A4-B86A4124C630}"/>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Be precise about “held”</a:t>
            </a:r>
          </a:p>
        </p:txBody>
      </p:sp>
      <p:sp>
        <p:nvSpPr>
          <p:cNvPr id="8" name="surface">
            <a:extLst xmlns:a="http://schemas.openxmlformats.org/drawingml/2006/main">
              <a:ext uri="{FF2B5EF4-FFF2-40B4-BE49-F238E27FC236}">
                <a16:creationId xmlns:a16="http://schemas.microsoft.com/office/drawing/2014/main" id="{362D1AA5-8E3C-4FB3-BCFF-5399A133D79A}"/>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F9A083A7-B0CE-43ED-A914-E1FAB24D7D9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4 / 14">
            <a:extLst xmlns:a="http://schemas.openxmlformats.org/drawingml/2006/main">
              <a:ext uri="{FF2B5EF4-FFF2-40B4-BE49-F238E27FC236}">
                <a16:creationId xmlns:a16="http://schemas.microsoft.com/office/drawing/2014/main" id="{DF09DD53-DE4C-4D29-BBF6-96CED9814A4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14</a:t>
            </a:r>
          </a:p>
        </p:txBody>
      </p:sp>
      <p:sp>
        <p:nvSpPr>
          <p:cNvPr id="11" name="Editable scientific diagram">
            <a:extLst xmlns:a="http://schemas.openxmlformats.org/drawingml/2006/main">
              <a:ext uri="{FF2B5EF4-FFF2-40B4-BE49-F238E27FC236}">
                <a16:creationId xmlns:a16="http://schemas.microsoft.com/office/drawing/2014/main" id="{93BA35D1-4E8D-4B0F-83B9-2E84FAE86547}"/>
              </a:ext>
            </a:extLst>
          </p:cNvPr>
          <p:cNvSpPr>
            <a:spLocks xmlns:a="http://schemas.openxmlformats.org/drawingml/2006/main" noGrp="1"/>
          </p:cNvSpPr>
          <p:nvPr/>
        </p:nvSpPr>
        <p:spPr>
          <a:xfrm xmlns:a="http://schemas.openxmlformats.org/drawingml/2006/main">
            <a:off x="2959894" y="2557207"/>
            <a:ext cx="2688091" cy="2426749"/>
          </a:xfrm>
          <a:prstGeom xmlns:a="http://schemas.openxmlformats.org/drawingml/2006/main" prst="rect">
            <a:avLst/>
          </a:prstGeom>
          <a:solidFill xmlns:a="http://schemas.openxmlformats.org/drawingml/2006/main">
            <a:srgbClr val="FFFFFF"/>
          </a:solidFill>
          <a:ln xmlns:a="http://schemas.openxmlformats.org/drawingml/2006/main" w="14934">
            <a:solidFill>
              <a:srgbClr val="1F2937"/>
            </a:solidFill>
          </a:ln>
        </p:spPr>
      </p:sp>
      <p:sp>
        <p:nvSpPr>
          <p:cNvPr id="12" name="Editable scientific diagram">
            <a:extLst xmlns:a="http://schemas.openxmlformats.org/drawingml/2006/main">
              <a:ext uri="{FF2B5EF4-FFF2-40B4-BE49-F238E27FC236}">
                <a16:creationId xmlns:a16="http://schemas.microsoft.com/office/drawing/2014/main" id="{014B398E-51EF-4614-BD90-A6116B307F37}"/>
              </a:ext>
            </a:extLst>
          </p:cNvPr>
          <p:cNvSpPr>
            <a:spLocks xmlns:a="http://schemas.openxmlformats.org/drawingml/2006/main" noGrp="1"/>
          </p:cNvSpPr>
          <p:nvPr/>
        </p:nvSpPr>
        <p:spPr>
          <a:xfrm xmlns:a="http://schemas.openxmlformats.org/drawingml/2006/main">
            <a:off x="2989761" y="3042557"/>
            <a:ext cx="2628356" cy="522684"/>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13" name="Editable scientific diagram">
            <a:extLst xmlns:a="http://schemas.openxmlformats.org/drawingml/2006/main">
              <a:ext uri="{FF2B5EF4-FFF2-40B4-BE49-F238E27FC236}">
                <a16:creationId xmlns:a16="http://schemas.microsoft.com/office/drawing/2014/main" id="{1A59B632-0C03-430C-A8CD-789368642E3B}"/>
              </a:ext>
            </a:extLst>
          </p:cNvPr>
          <p:cNvSpPr>
            <a:spLocks xmlns:a="http://schemas.openxmlformats.org/drawingml/2006/main" noGrp="1"/>
          </p:cNvSpPr>
          <p:nvPr/>
        </p:nvSpPr>
        <p:spPr>
          <a:xfrm xmlns:a="http://schemas.openxmlformats.org/drawingml/2006/main">
            <a:off x="2989761" y="3565242"/>
            <a:ext cx="2628356" cy="1284310"/>
          </a:xfrm>
          <a:prstGeom xmlns:a="http://schemas.openxmlformats.org/drawingml/2006/main" prst="rect">
            <a:avLst/>
          </a:prstGeom>
          <a:solidFill xmlns:a="http://schemas.openxmlformats.org/drawingml/2006/main">
            <a:srgbClr val="D4B893"/>
          </a:solidFill>
          <a:ln xmlns:a="http://schemas.openxmlformats.org/drawingml/2006/main" w="14934">
            <a:solidFill>
              <a:srgbClr val="1F2937"/>
            </a:solidFill>
          </a:ln>
        </p:spPr>
      </p:sp>
      <p:sp>
        <p:nvSpPr>
          <p:cNvPr id="14" name="Editable scientific diagram">
            <a:extLst xmlns:a="http://schemas.openxmlformats.org/drawingml/2006/main">
              <a:ext uri="{FF2B5EF4-FFF2-40B4-BE49-F238E27FC236}">
                <a16:creationId xmlns:a16="http://schemas.microsoft.com/office/drawing/2014/main" id="{7352CF26-18F5-4DA0-9869-BF76336F0369}"/>
              </a:ext>
            </a:extLst>
          </p:cNvPr>
          <p:cNvSpPr>
            <a:spLocks xmlns:a="http://schemas.openxmlformats.org/drawingml/2006/main" noGrp="1"/>
          </p:cNvSpPr>
          <p:nvPr/>
        </p:nvSpPr>
        <p:spPr>
          <a:xfrm xmlns:a="http://schemas.openxmlformats.org/drawingml/2006/main">
            <a:off x="2989761" y="4849552"/>
            <a:ext cx="2628356" cy="104537"/>
          </a:xfrm>
          <a:prstGeom xmlns:a="http://schemas.openxmlformats.org/drawingml/2006/main" prst="rect">
            <a:avLst/>
          </a:prstGeom>
          <a:solidFill xmlns:a="http://schemas.openxmlformats.org/drawingml/2006/main">
            <a:srgbClr val="ACCBDC"/>
          </a:solidFill>
          <a:ln xmlns:a="http://schemas.openxmlformats.org/drawingml/2006/main" w="14934">
            <a:solidFill>
              <a:srgbClr val="4E7A9B"/>
            </a:solidFill>
          </a:ln>
        </p:spPr>
      </p:sp>
      <p:sp>
        <p:nvSpPr>
          <p:cNvPr id="15" name="Editable scientific diagram">
            <a:extLst xmlns:a="http://schemas.openxmlformats.org/drawingml/2006/main">
              <a:ext uri="{FF2B5EF4-FFF2-40B4-BE49-F238E27FC236}">
                <a16:creationId xmlns:a16="http://schemas.microsoft.com/office/drawing/2014/main" id="{85645EE1-9CDA-4254-AFB4-4935B2D3EFF4}"/>
              </a:ext>
            </a:extLst>
          </p:cNvPr>
          <p:cNvSpPr>
            <a:spLocks xmlns:a="http://schemas.openxmlformats.org/drawingml/2006/main" noGrp="1"/>
          </p:cNvSpPr>
          <p:nvPr/>
        </p:nvSpPr>
        <p:spPr>
          <a:xfrm xmlns:a="http://schemas.openxmlformats.org/drawingml/2006/main">
            <a:off x="3183901" y="3789249"/>
            <a:ext cx="522684" cy="425614"/>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6" name="Editable scientific diagram">
            <a:extLst xmlns:a="http://schemas.openxmlformats.org/drawingml/2006/main">
              <a:ext uri="{FF2B5EF4-FFF2-40B4-BE49-F238E27FC236}">
                <a16:creationId xmlns:a16="http://schemas.microsoft.com/office/drawing/2014/main" id="{FB7CF987-1C82-482E-BF53-C77D69F4EEFD}"/>
              </a:ext>
            </a:extLst>
          </p:cNvPr>
          <p:cNvSpPr>
            <a:spLocks xmlns:a="http://schemas.openxmlformats.org/drawingml/2006/main" noGrp="1"/>
          </p:cNvSpPr>
          <p:nvPr/>
        </p:nvSpPr>
        <p:spPr>
          <a:xfrm xmlns:a="http://schemas.openxmlformats.org/drawingml/2006/main">
            <a:off x="4035130" y="3751915"/>
            <a:ext cx="522684" cy="425614"/>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7" name="Editable scientific diagram">
            <a:extLst xmlns:a="http://schemas.openxmlformats.org/drawingml/2006/main">
              <a:ext uri="{FF2B5EF4-FFF2-40B4-BE49-F238E27FC236}">
                <a16:creationId xmlns:a16="http://schemas.microsoft.com/office/drawing/2014/main" id="{836D660B-91B1-4348-92D0-717D4498FB5B}"/>
              </a:ext>
            </a:extLst>
          </p:cNvPr>
          <p:cNvSpPr>
            <a:spLocks xmlns:a="http://schemas.openxmlformats.org/drawingml/2006/main" noGrp="1"/>
          </p:cNvSpPr>
          <p:nvPr/>
        </p:nvSpPr>
        <p:spPr>
          <a:xfrm xmlns:a="http://schemas.openxmlformats.org/drawingml/2006/main">
            <a:off x="4886359" y="3901253"/>
            <a:ext cx="522684" cy="425614"/>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8" name="Editable scientific diagram">
            <a:extLst xmlns:a="http://schemas.openxmlformats.org/drawingml/2006/main">
              <a:ext uri="{FF2B5EF4-FFF2-40B4-BE49-F238E27FC236}">
                <a16:creationId xmlns:a16="http://schemas.microsoft.com/office/drawing/2014/main" id="{D1D225CB-915C-4DB6-98B7-9DCF2C00BAB0}"/>
              </a:ext>
            </a:extLst>
          </p:cNvPr>
          <p:cNvSpPr>
            <a:spLocks xmlns:a="http://schemas.openxmlformats.org/drawingml/2006/main" noGrp="1"/>
          </p:cNvSpPr>
          <p:nvPr/>
        </p:nvSpPr>
        <p:spPr>
          <a:xfrm xmlns:a="http://schemas.openxmlformats.org/drawingml/2006/main">
            <a:off x="3594582" y="4356735"/>
            <a:ext cx="522684" cy="425614"/>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9" name="Editable scientific diagram">
            <a:extLst xmlns:a="http://schemas.openxmlformats.org/drawingml/2006/main">
              <a:ext uri="{FF2B5EF4-FFF2-40B4-BE49-F238E27FC236}">
                <a16:creationId xmlns:a16="http://schemas.microsoft.com/office/drawing/2014/main" id="{3AC9F290-7880-4E03-AE1F-A714519DEDF3}"/>
              </a:ext>
            </a:extLst>
          </p:cNvPr>
          <p:cNvSpPr>
            <a:spLocks xmlns:a="http://schemas.openxmlformats.org/drawingml/2006/main" noGrp="1"/>
          </p:cNvSpPr>
          <p:nvPr/>
        </p:nvSpPr>
        <p:spPr>
          <a:xfrm xmlns:a="http://schemas.openxmlformats.org/drawingml/2006/main">
            <a:off x="4527947" y="4349268"/>
            <a:ext cx="522684" cy="425614"/>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0" name="Editable scientific diagram">
            <a:extLst xmlns:a="http://schemas.openxmlformats.org/drawingml/2006/main">
              <a:ext uri="{FF2B5EF4-FFF2-40B4-BE49-F238E27FC236}">
                <a16:creationId xmlns:a16="http://schemas.microsoft.com/office/drawing/2014/main" id="{FD33C77E-72E5-4C19-9AED-5A7FDD76543C}"/>
              </a:ext>
            </a:extLst>
          </p:cNvPr>
          <p:cNvSpPr>
            <a:spLocks xmlns:a="http://schemas.openxmlformats.org/drawingml/2006/main" noGrp="1"/>
          </p:cNvSpPr>
          <p:nvPr/>
        </p:nvSpPr>
        <p:spPr>
          <a:xfrm xmlns:a="http://schemas.openxmlformats.org/drawingml/2006/main">
            <a:off x="3855924" y="4199930"/>
            <a:ext cx="336011" cy="261342"/>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21" name="Editable scientific diagram">
            <a:extLst xmlns:a="http://schemas.openxmlformats.org/drawingml/2006/main">
              <a:ext uri="{FF2B5EF4-FFF2-40B4-BE49-F238E27FC236}">
                <a16:creationId xmlns:a16="http://schemas.microsoft.com/office/drawing/2014/main" id="{7D421A5C-1FD2-45E6-882B-D4CEE9D612D1}"/>
              </a:ext>
            </a:extLst>
          </p:cNvPr>
          <p:cNvSpPr>
            <a:spLocks xmlns:a="http://schemas.openxmlformats.org/drawingml/2006/main" noGrp="1"/>
          </p:cNvSpPr>
          <p:nvPr/>
        </p:nvSpPr>
        <p:spPr>
          <a:xfrm xmlns:a="http://schemas.openxmlformats.org/drawingml/2006/main">
            <a:off x="4751954" y="3677245"/>
            <a:ext cx="261342" cy="179206"/>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22" name="Diagram label: Water may still be&#10;above the soil.">
            <a:extLst xmlns:a="http://schemas.openxmlformats.org/drawingml/2006/main">
              <a:ext uri="{FF2B5EF4-FFF2-40B4-BE49-F238E27FC236}">
                <a16:creationId xmlns:a16="http://schemas.microsoft.com/office/drawing/2014/main" id="{9A1BE1E8-BDEA-4F0B-ADEE-1563CED8D19A}"/>
              </a:ext>
            </a:extLst>
          </p:cNvPr>
          <p:cNvSpPr>
            <a:spLocks xmlns:a="http://schemas.openxmlformats.org/drawingml/2006/main" noGrp="1"/>
          </p:cNvSpPr>
          <p:nvPr/>
        </p:nvSpPr>
        <p:spPr>
          <a:xfrm xmlns:a="http://schemas.openxmlformats.org/drawingml/2006/main">
            <a:off x="6693354" y="2855884"/>
            <a:ext cx="2725426"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Water may still be</a:t>
            </a:r>
          </a:p>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above the soil.</a:t>
            </a:r>
          </a:p>
        </p:txBody>
      </p:sp>
      <p:sp>
        <p:nvSpPr>
          <p:cNvPr id="23" name="Diagram line">
            <a:extLst xmlns:a="http://schemas.openxmlformats.org/drawingml/2006/main">
              <a:ext uri="{FF2B5EF4-FFF2-40B4-BE49-F238E27FC236}">
                <a16:creationId xmlns:a16="http://schemas.microsoft.com/office/drawing/2014/main" id="{F61672E1-193B-40A4-BD3E-D65A266471AD}"/>
              </a:ext>
            </a:extLst>
          </p:cNvPr>
          <p:cNvSpPr>
            <a:spLocks xmlns:a="http://schemas.openxmlformats.org/drawingml/2006/main" noGrp="1"/>
          </p:cNvSpPr>
          <p:nvPr/>
        </p:nvSpPr>
        <p:spPr>
          <a:xfrm xmlns:a="http://schemas.openxmlformats.org/drawingml/2006/main" flipH="1" flipV="0">
            <a:off x="5778656" y="3288965"/>
            <a:ext cx="802694" cy="953"/>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24" name="Diagram arrowhead">
            <a:extLst xmlns:a="http://schemas.openxmlformats.org/drawingml/2006/main">
              <a:ext uri="{FF2B5EF4-FFF2-40B4-BE49-F238E27FC236}">
                <a16:creationId xmlns:a16="http://schemas.microsoft.com/office/drawing/2014/main" id="{6205B506-CDF5-4346-8D11-E5B206999EBD}"/>
              </a:ext>
            </a:extLst>
          </p:cNvPr>
          <p:cNvSpPr>
            <a:spLocks xmlns:a="http://schemas.openxmlformats.org/drawingml/2006/main" noGrp="1"/>
          </p:cNvSpPr>
          <p:nvPr/>
        </p:nvSpPr>
        <p:spPr>
          <a:xfrm xmlns:a="http://schemas.openxmlformats.org/drawingml/2006/main" rot="16200000">
            <a:off x="5700253" y="3236697"/>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25" name="Diagram label: Some water remains&#10;in soil pores.">
            <a:extLst xmlns:a="http://schemas.openxmlformats.org/drawingml/2006/main">
              <a:ext uri="{FF2B5EF4-FFF2-40B4-BE49-F238E27FC236}">
                <a16:creationId xmlns:a16="http://schemas.microsoft.com/office/drawing/2014/main" id="{BA19E01D-D7F4-4691-A4BA-6113A3DF39F1}"/>
              </a:ext>
            </a:extLst>
          </p:cNvPr>
          <p:cNvSpPr>
            <a:spLocks xmlns:a="http://schemas.openxmlformats.org/drawingml/2006/main" noGrp="1"/>
          </p:cNvSpPr>
          <p:nvPr/>
        </p:nvSpPr>
        <p:spPr>
          <a:xfrm xmlns:a="http://schemas.openxmlformats.org/drawingml/2006/main">
            <a:off x="6693354" y="3834051"/>
            <a:ext cx="2725426"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Some water remains</a:t>
            </a:r>
          </a:p>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in soil pores.</a:t>
            </a:r>
          </a:p>
        </p:txBody>
      </p:sp>
      <p:sp>
        <p:nvSpPr>
          <p:cNvPr id="26" name="Diagram line">
            <a:extLst xmlns:a="http://schemas.openxmlformats.org/drawingml/2006/main">
              <a:ext uri="{FF2B5EF4-FFF2-40B4-BE49-F238E27FC236}">
                <a16:creationId xmlns:a16="http://schemas.microsoft.com/office/drawing/2014/main" id="{78FD261C-5F6D-4F5E-B55D-CA6DBA0D0F61}"/>
              </a:ext>
            </a:extLst>
          </p:cNvPr>
          <p:cNvSpPr>
            <a:spLocks xmlns:a="http://schemas.openxmlformats.org/drawingml/2006/main" noGrp="1"/>
          </p:cNvSpPr>
          <p:nvPr/>
        </p:nvSpPr>
        <p:spPr>
          <a:xfrm xmlns:a="http://schemas.openxmlformats.org/drawingml/2006/main" flipH="1" flipV="0">
            <a:off x="5786123" y="4237264"/>
            <a:ext cx="795227" cy="953"/>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27" name="Diagram arrowhead">
            <a:extLst xmlns:a="http://schemas.openxmlformats.org/drawingml/2006/main">
              <a:ext uri="{FF2B5EF4-FFF2-40B4-BE49-F238E27FC236}">
                <a16:creationId xmlns:a16="http://schemas.microsoft.com/office/drawing/2014/main" id="{81BBA48B-63F5-470B-9B64-CEFA2A88D184}"/>
              </a:ext>
            </a:extLst>
          </p:cNvPr>
          <p:cNvSpPr>
            <a:spLocks xmlns:a="http://schemas.openxmlformats.org/drawingml/2006/main" noGrp="1"/>
          </p:cNvSpPr>
          <p:nvPr/>
        </p:nvSpPr>
        <p:spPr>
          <a:xfrm xmlns:a="http://schemas.openxmlformats.org/drawingml/2006/main" rot="16200000">
            <a:off x="5707720" y="4184996"/>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28" name="Diagram label: The filter may&#10;hold some water.">
            <a:extLst xmlns:a="http://schemas.openxmlformats.org/drawingml/2006/main">
              <a:ext uri="{FF2B5EF4-FFF2-40B4-BE49-F238E27FC236}">
                <a16:creationId xmlns:a16="http://schemas.microsoft.com/office/drawing/2014/main" id="{C3381C1A-07AC-4ED9-87EC-E338149B8EDA}"/>
              </a:ext>
            </a:extLst>
          </p:cNvPr>
          <p:cNvSpPr>
            <a:spLocks xmlns:a="http://schemas.openxmlformats.org/drawingml/2006/main" noGrp="1"/>
          </p:cNvSpPr>
          <p:nvPr/>
        </p:nvSpPr>
        <p:spPr>
          <a:xfrm xmlns:a="http://schemas.openxmlformats.org/drawingml/2006/main">
            <a:off x="6693354" y="4774883"/>
            <a:ext cx="2725426"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The filter may</a:t>
            </a:r>
          </a:p>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hold some water.</a:t>
            </a:r>
          </a:p>
        </p:txBody>
      </p:sp>
      <p:sp>
        <p:nvSpPr>
          <p:cNvPr id="29" name="Diagram line">
            <a:extLst xmlns:a="http://schemas.openxmlformats.org/drawingml/2006/main">
              <a:ext uri="{FF2B5EF4-FFF2-40B4-BE49-F238E27FC236}">
                <a16:creationId xmlns:a16="http://schemas.microsoft.com/office/drawing/2014/main" id="{69E22C11-A2FD-45E7-8115-8D9CDCF54791}"/>
              </a:ext>
            </a:extLst>
          </p:cNvPr>
          <p:cNvSpPr>
            <a:spLocks xmlns:a="http://schemas.openxmlformats.org/drawingml/2006/main" noGrp="1"/>
          </p:cNvSpPr>
          <p:nvPr/>
        </p:nvSpPr>
        <p:spPr>
          <a:xfrm xmlns:a="http://schemas.openxmlformats.org/drawingml/2006/main" flipH="1" flipV="1">
            <a:off x="5785940" y="4914635"/>
            <a:ext cx="795410" cy="54387"/>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30" name="Diagram arrowhead">
            <a:extLst xmlns:a="http://schemas.openxmlformats.org/drawingml/2006/main">
              <a:ext uri="{FF2B5EF4-FFF2-40B4-BE49-F238E27FC236}">
                <a16:creationId xmlns:a16="http://schemas.microsoft.com/office/drawing/2014/main" id="{23CFAEB1-F1BB-467E-B0FB-1D5CA9CDCDE6}"/>
              </a:ext>
            </a:extLst>
          </p:cNvPr>
          <p:cNvSpPr>
            <a:spLocks xmlns:a="http://schemas.openxmlformats.org/drawingml/2006/main" noGrp="1"/>
          </p:cNvSpPr>
          <p:nvPr/>
        </p:nvSpPr>
        <p:spPr>
          <a:xfrm xmlns:a="http://schemas.openxmlformats.org/drawingml/2006/main" rot="-5165306">
            <a:off x="5707598" y="4860584"/>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31" name="Diagram label: Check for standing water, drips, leaks and spills.">
            <a:extLst xmlns:a="http://schemas.openxmlformats.org/drawingml/2006/main">
              <a:ext uri="{FF2B5EF4-FFF2-40B4-BE49-F238E27FC236}">
                <a16:creationId xmlns:a16="http://schemas.microsoft.com/office/drawing/2014/main" id="{82A3D25B-6371-44C7-BA2F-B7AE7AF48F6E}"/>
              </a:ext>
            </a:extLst>
          </p:cNvPr>
          <p:cNvSpPr>
            <a:spLocks xmlns:a="http://schemas.openxmlformats.org/drawingml/2006/main" noGrp="1"/>
          </p:cNvSpPr>
          <p:nvPr/>
        </p:nvSpPr>
        <p:spPr>
          <a:xfrm xmlns:a="http://schemas.openxmlformats.org/drawingml/2006/main">
            <a:off x="2810555" y="5499174"/>
            <a:ext cx="6645558" cy="3360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Check for standing water, drips, leaks and spills.</a:t>
            </a:r>
          </a:p>
        </p:txBody>
      </p:sp>
      <p:sp>
        <p:nvSpPr>
          <p:cNvPr id="32" name="Water can remain in soil pores.  Some may remain above the soil.">
            <a:extLst xmlns:a="http://schemas.openxmlformats.org/drawingml/2006/main">
              <a:ext uri="{FF2B5EF4-FFF2-40B4-BE49-F238E27FC236}">
                <a16:creationId xmlns:a16="http://schemas.microsoft.com/office/drawing/2014/main" id="{88C3F4D5-7F3B-4F09-907D-B262F16D302E}"/>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Water can remain in soil pores. Some may remain above the soil. The filter can hold water too.</a:t>
            </a:r>
          </a:p>
        </p:txBody>
      </p:sp>
    </p:spTree>
    <p:extLst>
      <p:ext uri="{BB962C8B-B14F-4D97-AF65-F5344CB8AC3E}">
        <p14:creationId xmlns:p14="http://schemas.microsoft.com/office/powerpoint/2010/main" val="158371156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urface">
            <a:extLst xmlns:a="http://schemas.openxmlformats.org/drawingml/2006/main">
              <a:ext uri="{FF2B5EF4-FFF2-40B4-BE49-F238E27FC236}">
                <a16:creationId xmlns:a16="http://schemas.microsoft.com/office/drawing/2014/main" id="{BDBC0010-4953-4F13-89F5-FD139854412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BF2F74A0-8C94-402F-A03A-A3F0F3868B5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4CAA308-65FA-49D2-A1F0-D725A2F477F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EE444D97-BBAB-42FA-8BA7-94338C33069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14644EAA-9F2B-43C8-8B40-47616D19C2E2}"/>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2 min">
            <a:extLst xmlns:a="http://schemas.openxmlformats.org/drawingml/2006/main">
              <a:ext uri="{FF2B5EF4-FFF2-40B4-BE49-F238E27FC236}">
                <a16:creationId xmlns:a16="http://schemas.microsoft.com/office/drawing/2014/main" id="{DE907E8D-5B6D-4B56-869F-D430D2DEE18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ompare equal water budgets">
            <a:extLst xmlns:a="http://schemas.openxmlformats.org/drawingml/2006/main">
              <a:ext uri="{FF2B5EF4-FFF2-40B4-BE49-F238E27FC236}">
                <a16:creationId xmlns:a16="http://schemas.microsoft.com/office/drawing/2014/main" id="{91A0E28E-992A-48D4-8B29-E1228B5D344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Compare equal water budgets</a:t>
            </a:r>
          </a:p>
        </p:txBody>
      </p:sp>
      <p:sp>
        <p:nvSpPr>
          <p:cNvPr id="8" name="surface">
            <a:extLst xmlns:a="http://schemas.openxmlformats.org/drawingml/2006/main">
              <a:ext uri="{FF2B5EF4-FFF2-40B4-BE49-F238E27FC236}">
                <a16:creationId xmlns:a16="http://schemas.microsoft.com/office/drawing/2014/main" id="{D6FAF5D1-8DE5-4756-A050-7E53EA14D7F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5EDF1E1E-C4CD-48E8-A28C-61230DB23844}"/>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5 / 14">
            <a:extLst xmlns:a="http://schemas.openxmlformats.org/drawingml/2006/main">
              <a:ext uri="{FF2B5EF4-FFF2-40B4-BE49-F238E27FC236}">
                <a16:creationId xmlns:a16="http://schemas.microsoft.com/office/drawing/2014/main" id="{EE8BD7EC-9F26-4BA6-B7E5-01AC81E0A18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14</a:t>
            </a:r>
          </a:p>
        </p:txBody>
      </p:sp>
      <p:sp>
        <p:nvSpPr>
          <p:cNvPr id="11" name="Diagram label: Constructed sample data • 60 mL in each">
            <a:extLst xmlns:a="http://schemas.openxmlformats.org/drawingml/2006/main">
              <a:ext uri="{FF2B5EF4-FFF2-40B4-BE49-F238E27FC236}">
                <a16:creationId xmlns:a16="http://schemas.microsoft.com/office/drawing/2014/main" id="{22534B75-51D6-488C-9F7D-6E8ECD2563B0}"/>
              </a:ext>
            </a:extLst>
          </p:cNvPr>
          <p:cNvSpPr>
            <a:spLocks xmlns:a="http://schemas.openxmlformats.org/drawingml/2006/main" noGrp="1"/>
          </p:cNvSpPr>
          <p:nvPr/>
        </p:nvSpPr>
        <p:spPr>
          <a:xfrm xmlns:a="http://schemas.openxmlformats.org/drawingml/2006/main">
            <a:off x="2907506" y="2058080"/>
            <a:ext cx="6376988"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Constructed sample data • 60 mL in each</a:t>
            </a:r>
          </a:p>
        </p:txBody>
      </p:sp>
      <p:sp>
        <p:nvSpPr>
          <p:cNvPr id="12" name="Diagram label: A">
            <a:extLst xmlns:a="http://schemas.openxmlformats.org/drawingml/2006/main">
              <a:ext uri="{FF2B5EF4-FFF2-40B4-BE49-F238E27FC236}">
                <a16:creationId xmlns:a16="http://schemas.microsoft.com/office/drawing/2014/main" id="{44D16FFE-AEED-4586-8A45-3F8663501241}"/>
              </a:ext>
            </a:extLst>
          </p:cNvPr>
          <p:cNvSpPr>
            <a:spLocks xmlns:a="http://schemas.openxmlformats.org/drawingml/2006/main" noGrp="1"/>
          </p:cNvSpPr>
          <p:nvPr/>
        </p:nvSpPr>
        <p:spPr>
          <a:xfrm xmlns:a="http://schemas.openxmlformats.org/drawingml/2006/main">
            <a:off x="2907506" y="2723810"/>
            <a:ext cx="525576"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A</a:t>
            </a:r>
          </a:p>
        </p:txBody>
      </p:sp>
      <p:sp>
        <p:nvSpPr>
          <p:cNvPr id="13" name="Editable scientific diagram">
            <a:extLst xmlns:a="http://schemas.openxmlformats.org/drawingml/2006/main">
              <a:ext uri="{FF2B5EF4-FFF2-40B4-BE49-F238E27FC236}">
                <a16:creationId xmlns:a16="http://schemas.microsoft.com/office/drawing/2014/main" id="{CD834C86-846A-4A6B-81EE-631FFD235C7D}"/>
              </a:ext>
            </a:extLst>
          </p:cNvPr>
          <p:cNvSpPr>
            <a:spLocks xmlns:a="http://schemas.openxmlformats.org/drawingml/2006/main" noGrp="1"/>
          </p:cNvSpPr>
          <p:nvPr/>
        </p:nvSpPr>
        <p:spPr>
          <a:xfrm xmlns:a="http://schemas.openxmlformats.org/drawingml/2006/main">
            <a:off x="3503159" y="2653733"/>
            <a:ext cx="4298019" cy="595653"/>
          </a:xfrm>
          <a:prstGeom xmlns:a="http://schemas.openxmlformats.org/drawingml/2006/main" prst="rect">
            <a:avLst/>
          </a:prstGeom>
          <a:solidFill xmlns:a="http://schemas.openxmlformats.org/drawingml/2006/main">
            <a:srgbClr val="9AC2D8"/>
          </a:solidFill>
          <a:ln xmlns:a="http://schemas.openxmlformats.org/drawingml/2006/main" w="14015">
            <a:solidFill>
              <a:srgbClr val="4E7A9B"/>
            </a:solidFill>
          </a:ln>
        </p:spPr>
      </p:sp>
      <p:sp>
        <p:nvSpPr>
          <p:cNvPr id="14" name="Editable scientific diagram">
            <a:extLst xmlns:a="http://schemas.openxmlformats.org/drawingml/2006/main">
              <a:ext uri="{FF2B5EF4-FFF2-40B4-BE49-F238E27FC236}">
                <a16:creationId xmlns:a16="http://schemas.microsoft.com/office/drawing/2014/main" id="{694FF198-77A6-4AA0-82CA-746DD6D2953B}"/>
              </a:ext>
            </a:extLst>
          </p:cNvPr>
          <p:cNvSpPr>
            <a:spLocks xmlns:a="http://schemas.openxmlformats.org/drawingml/2006/main" noGrp="1"/>
          </p:cNvSpPr>
          <p:nvPr/>
        </p:nvSpPr>
        <p:spPr>
          <a:xfrm xmlns:a="http://schemas.openxmlformats.org/drawingml/2006/main">
            <a:off x="7801178" y="2653733"/>
            <a:ext cx="1308123" cy="595653"/>
          </a:xfrm>
          <a:prstGeom xmlns:a="http://schemas.openxmlformats.org/drawingml/2006/main" prst="rect">
            <a:avLst/>
          </a:prstGeom>
          <a:solidFill xmlns:a="http://schemas.openxmlformats.org/drawingml/2006/main">
            <a:srgbClr val="D7DFC2"/>
          </a:solidFill>
          <a:ln xmlns:a="http://schemas.openxmlformats.org/drawingml/2006/main" w="14015">
            <a:solidFill>
              <a:srgbClr val="617B40"/>
            </a:solidFill>
          </a:ln>
        </p:spPr>
      </p:sp>
      <p:sp>
        <p:nvSpPr>
          <p:cNvPr id="15" name="Diagram label: 46 collected">
            <a:extLst xmlns:a="http://schemas.openxmlformats.org/drawingml/2006/main">
              <a:ext uri="{FF2B5EF4-FFF2-40B4-BE49-F238E27FC236}">
                <a16:creationId xmlns:a16="http://schemas.microsoft.com/office/drawing/2014/main" id="{61694BBA-E4D4-4B0A-B5ED-EF9A1F498FC5}"/>
              </a:ext>
            </a:extLst>
          </p:cNvPr>
          <p:cNvSpPr>
            <a:spLocks xmlns:a="http://schemas.openxmlformats.org/drawingml/2006/main" noGrp="1"/>
          </p:cNvSpPr>
          <p:nvPr/>
        </p:nvSpPr>
        <p:spPr>
          <a:xfrm xmlns:a="http://schemas.openxmlformats.org/drawingml/2006/main">
            <a:off x="3678351" y="2814910"/>
            <a:ext cx="3293609"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46 collected</a:t>
            </a:r>
          </a:p>
        </p:txBody>
      </p:sp>
      <p:sp>
        <p:nvSpPr>
          <p:cNvPr id="16" name="Diagram label: 14 left">
            <a:extLst xmlns:a="http://schemas.openxmlformats.org/drawingml/2006/main">
              <a:ext uri="{FF2B5EF4-FFF2-40B4-BE49-F238E27FC236}">
                <a16:creationId xmlns:a16="http://schemas.microsoft.com/office/drawing/2014/main" id="{68E2AD14-68F9-4A7A-9ED4-B809BE3B8D27}"/>
              </a:ext>
            </a:extLst>
          </p:cNvPr>
          <p:cNvSpPr>
            <a:spLocks xmlns:a="http://schemas.openxmlformats.org/drawingml/2006/main" noGrp="1"/>
          </p:cNvSpPr>
          <p:nvPr/>
        </p:nvSpPr>
        <p:spPr>
          <a:xfrm xmlns:a="http://schemas.openxmlformats.org/drawingml/2006/main">
            <a:off x="7875950" y="2744833"/>
            <a:ext cx="1156267" cy="45549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90" b="1">
                <a:solidFill>
                  <a:srgbClr val="1F2937"/>
                </a:solidFill>
                <a:latin typeface="Nimbus Sans"/>
                <a:ea typeface="Nimbus Sans"/>
                <a:cs typeface="Nimbus Sans"/>
              </a:defRPr>
            </a:pPr>
            <a:r>
              <a:rPr sz="1490" b="1">
                <a:solidFill>
                  <a:srgbClr val="1F2937"/>
                </a:solidFill>
                <a:latin typeface="Nimbus Sans"/>
                <a:ea typeface="Nimbus Sans"/>
                <a:cs typeface="Nimbus Sans"/>
              </a:rPr>
              <a:t>14 left</a:t>
            </a:r>
          </a:p>
        </p:txBody>
      </p:sp>
      <p:sp>
        <p:nvSpPr>
          <p:cNvPr id="17" name="Diagram label: B">
            <a:extLst xmlns:a="http://schemas.openxmlformats.org/drawingml/2006/main">
              <a:ext uri="{FF2B5EF4-FFF2-40B4-BE49-F238E27FC236}">
                <a16:creationId xmlns:a16="http://schemas.microsoft.com/office/drawing/2014/main" id="{89B7983D-BA2B-41BD-9D73-8607374B633E}"/>
              </a:ext>
            </a:extLst>
          </p:cNvPr>
          <p:cNvSpPr>
            <a:spLocks xmlns:a="http://schemas.openxmlformats.org/drawingml/2006/main" noGrp="1"/>
          </p:cNvSpPr>
          <p:nvPr/>
        </p:nvSpPr>
        <p:spPr>
          <a:xfrm xmlns:a="http://schemas.openxmlformats.org/drawingml/2006/main">
            <a:off x="2907506" y="3669846"/>
            <a:ext cx="525576"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B</a:t>
            </a:r>
          </a:p>
        </p:txBody>
      </p:sp>
      <p:sp>
        <p:nvSpPr>
          <p:cNvPr id="18" name="Editable scientific diagram">
            <a:extLst xmlns:a="http://schemas.openxmlformats.org/drawingml/2006/main">
              <a:ext uri="{FF2B5EF4-FFF2-40B4-BE49-F238E27FC236}">
                <a16:creationId xmlns:a16="http://schemas.microsoft.com/office/drawing/2014/main" id="{E6FFC563-1F49-4579-837F-A85EA58E3077}"/>
              </a:ext>
            </a:extLst>
          </p:cNvPr>
          <p:cNvSpPr>
            <a:spLocks xmlns:a="http://schemas.openxmlformats.org/drawingml/2006/main" noGrp="1"/>
          </p:cNvSpPr>
          <p:nvPr/>
        </p:nvSpPr>
        <p:spPr>
          <a:xfrm xmlns:a="http://schemas.openxmlformats.org/drawingml/2006/main">
            <a:off x="3503159" y="3599770"/>
            <a:ext cx="3176791" cy="595653"/>
          </a:xfrm>
          <a:prstGeom xmlns:a="http://schemas.openxmlformats.org/drawingml/2006/main" prst="rect">
            <a:avLst/>
          </a:prstGeom>
          <a:solidFill xmlns:a="http://schemas.openxmlformats.org/drawingml/2006/main">
            <a:srgbClr val="9AC2D8"/>
          </a:solidFill>
          <a:ln xmlns:a="http://schemas.openxmlformats.org/drawingml/2006/main" w="14015">
            <a:solidFill>
              <a:srgbClr val="4E7A9B"/>
            </a:solidFill>
          </a:ln>
        </p:spPr>
      </p:sp>
      <p:sp>
        <p:nvSpPr>
          <p:cNvPr id="19" name="Editable scientific diagram">
            <a:extLst xmlns:a="http://schemas.openxmlformats.org/drawingml/2006/main">
              <a:ext uri="{FF2B5EF4-FFF2-40B4-BE49-F238E27FC236}">
                <a16:creationId xmlns:a16="http://schemas.microsoft.com/office/drawing/2014/main" id="{CA940903-95D2-4F90-8E1A-CDE8C4AA0FB5}"/>
              </a:ext>
            </a:extLst>
          </p:cNvPr>
          <p:cNvSpPr>
            <a:spLocks xmlns:a="http://schemas.openxmlformats.org/drawingml/2006/main" noGrp="1"/>
          </p:cNvSpPr>
          <p:nvPr/>
        </p:nvSpPr>
        <p:spPr>
          <a:xfrm xmlns:a="http://schemas.openxmlformats.org/drawingml/2006/main">
            <a:off x="6679950" y="3599770"/>
            <a:ext cx="2429352" cy="595653"/>
          </a:xfrm>
          <a:prstGeom xmlns:a="http://schemas.openxmlformats.org/drawingml/2006/main" prst="rect">
            <a:avLst/>
          </a:prstGeom>
          <a:solidFill xmlns:a="http://schemas.openxmlformats.org/drawingml/2006/main">
            <a:srgbClr val="D7DFC2"/>
          </a:solidFill>
          <a:ln xmlns:a="http://schemas.openxmlformats.org/drawingml/2006/main" w="14015">
            <a:solidFill>
              <a:srgbClr val="617B40"/>
            </a:solidFill>
          </a:ln>
        </p:spPr>
      </p:sp>
      <p:sp>
        <p:nvSpPr>
          <p:cNvPr id="20" name="Diagram label: 34 collected">
            <a:extLst xmlns:a="http://schemas.openxmlformats.org/drawingml/2006/main">
              <a:ext uri="{FF2B5EF4-FFF2-40B4-BE49-F238E27FC236}">
                <a16:creationId xmlns:a16="http://schemas.microsoft.com/office/drawing/2014/main" id="{0D0228F4-C88E-44B4-BFEA-3A89F3D62D00}"/>
              </a:ext>
            </a:extLst>
          </p:cNvPr>
          <p:cNvSpPr>
            <a:spLocks xmlns:a="http://schemas.openxmlformats.org/drawingml/2006/main" noGrp="1"/>
          </p:cNvSpPr>
          <p:nvPr/>
        </p:nvSpPr>
        <p:spPr>
          <a:xfrm xmlns:a="http://schemas.openxmlformats.org/drawingml/2006/main">
            <a:off x="3678351" y="3760946"/>
            <a:ext cx="2627879"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34 collected</a:t>
            </a:r>
          </a:p>
        </p:txBody>
      </p:sp>
      <p:sp>
        <p:nvSpPr>
          <p:cNvPr id="21" name="Diagram label: 26 left">
            <a:extLst xmlns:a="http://schemas.openxmlformats.org/drawingml/2006/main">
              <a:ext uri="{FF2B5EF4-FFF2-40B4-BE49-F238E27FC236}">
                <a16:creationId xmlns:a16="http://schemas.microsoft.com/office/drawing/2014/main" id="{00FB219A-C031-424A-8882-BE66D007E629}"/>
              </a:ext>
            </a:extLst>
          </p:cNvPr>
          <p:cNvSpPr>
            <a:spLocks xmlns:a="http://schemas.openxmlformats.org/drawingml/2006/main" noGrp="1"/>
          </p:cNvSpPr>
          <p:nvPr/>
        </p:nvSpPr>
        <p:spPr>
          <a:xfrm xmlns:a="http://schemas.openxmlformats.org/drawingml/2006/main">
            <a:off x="6852829" y="3760946"/>
            <a:ext cx="2102304"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26 left</a:t>
            </a:r>
          </a:p>
        </p:txBody>
      </p:sp>
      <p:sp>
        <p:nvSpPr>
          <p:cNvPr id="22" name="Diagram label: C">
            <a:extLst xmlns:a="http://schemas.openxmlformats.org/drawingml/2006/main">
              <a:ext uri="{FF2B5EF4-FFF2-40B4-BE49-F238E27FC236}">
                <a16:creationId xmlns:a16="http://schemas.microsoft.com/office/drawing/2014/main" id="{F2423BB2-70FF-44B8-B3E6-155A66561AF6}"/>
              </a:ext>
            </a:extLst>
          </p:cNvPr>
          <p:cNvSpPr>
            <a:spLocks xmlns:a="http://schemas.openxmlformats.org/drawingml/2006/main" noGrp="1"/>
          </p:cNvSpPr>
          <p:nvPr/>
        </p:nvSpPr>
        <p:spPr>
          <a:xfrm xmlns:a="http://schemas.openxmlformats.org/drawingml/2006/main">
            <a:off x="2907506" y="4615883"/>
            <a:ext cx="525576" cy="42046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6" b="1">
                <a:solidFill>
                  <a:srgbClr val="1F2937"/>
                </a:solidFill>
                <a:latin typeface="Nimbus Sans"/>
                <a:ea typeface="Nimbus Sans"/>
                <a:cs typeface="Nimbus Sans"/>
              </a:defRPr>
            </a:pPr>
            <a:r>
              <a:rPr sz="1766" b="1">
                <a:solidFill>
                  <a:srgbClr val="1F2937"/>
                </a:solidFill>
                <a:latin typeface="Nimbus Sans"/>
                <a:ea typeface="Nimbus Sans"/>
                <a:cs typeface="Nimbus Sans"/>
              </a:rPr>
              <a:t>C</a:t>
            </a:r>
          </a:p>
        </p:txBody>
      </p:sp>
      <p:sp>
        <p:nvSpPr>
          <p:cNvPr id="23" name="Editable scientific diagram">
            <a:extLst xmlns:a="http://schemas.openxmlformats.org/drawingml/2006/main">
              <a:ext uri="{FF2B5EF4-FFF2-40B4-BE49-F238E27FC236}">
                <a16:creationId xmlns:a16="http://schemas.microsoft.com/office/drawing/2014/main" id="{7C257626-79EB-4009-8640-CABC975D062C}"/>
              </a:ext>
            </a:extLst>
          </p:cNvPr>
          <p:cNvSpPr>
            <a:spLocks xmlns:a="http://schemas.openxmlformats.org/drawingml/2006/main" noGrp="1"/>
          </p:cNvSpPr>
          <p:nvPr/>
        </p:nvSpPr>
        <p:spPr>
          <a:xfrm xmlns:a="http://schemas.openxmlformats.org/drawingml/2006/main">
            <a:off x="3503159" y="4545806"/>
            <a:ext cx="2055562" cy="595653"/>
          </a:xfrm>
          <a:prstGeom xmlns:a="http://schemas.openxmlformats.org/drawingml/2006/main" prst="rect">
            <a:avLst/>
          </a:prstGeom>
          <a:solidFill xmlns:a="http://schemas.openxmlformats.org/drawingml/2006/main">
            <a:srgbClr val="9AC2D8"/>
          </a:solidFill>
          <a:ln xmlns:a="http://schemas.openxmlformats.org/drawingml/2006/main" w="14015">
            <a:solidFill>
              <a:srgbClr val="4E7A9B"/>
            </a:solidFill>
          </a:ln>
        </p:spPr>
      </p:sp>
      <p:sp>
        <p:nvSpPr>
          <p:cNvPr id="24" name="Editable scientific diagram">
            <a:extLst xmlns:a="http://schemas.openxmlformats.org/drawingml/2006/main">
              <a:ext uri="{FF2B5EF4-FFF2-40B4-BE49-F238E27FC236}">
                <a16:creationId xmlns:a16="http://schemas.microsoft.com/office/drawing/2014/main" id="{DF9B6D61-AECC-47E5-915A-60B44BCFCDE3}"/>
              </a:ext>
            </a:extLst>
          </p:cNvPr>
          <p:cNvSpPr>
            <a:spLocks xmlns:a="http://schemas.openxmlformats.org/drawingml/2006/main" noGrp="1"/>
          </p:cNvSpPr>
          <p:nvPr/>
        </p:nvSpPr>
        <p:spPr>
          <a:xfrm xmlns:a="http://schemas.openxmlformats.org/drawingml/2006/main">
            <a:off x="5558721" y="4545806"/>
            <a:ext cx="3550581" cy="595653"/>
          </a:xfrm>
          <a:prstGeom xmlns:a="http://schemas.openxmlformats.org/drawingml/2006/main" prst="rect">
            <a:avLst/>
          </a:prstGeom>
          <a:solidFill xmlns:a="http://schemas.openxmlformats.org/drawingml/2006/main">
            <a:srgbClr val="D7DFC2"/>
          </a:solidFill>
          <a:ln xmlns:a="http://schemas.openxmlformats.org/drawingml/2006/main" w="14015">
            <a:solidFill>
              <a:srgbClr val="617B40"/>
            </a:solidFill>
          </a:ln>
        </p:spPr>
      </p:sp>
      <p:sp>
        <p:nvSpPr>
          <p:cNvPr id="25" name="Diagram label: 22 collected">
            <a:extLst xmlns:a="http://schemas.openxmlformats.org/drawingml/2006/main">
              <a:ext uri="{FF2B5EF4-FFF2-40B4-BE49-F238E27FC236}">
                <a16:creationId xmlns:a16="http://schemas.microsoft.com/office/drawing/2014/main" id="{4FC29B31-3116-4482-AD3C-1CCD8F08EA20}"/>
              </a:ext>
            </a:extLst>
          </p:cNvPr>
          <p:cNvSpPr>
            <a:spLocks xmlns:a="http://schemas.openxmlformats.org/drawingml/2006/main" noGrp="1"/>
          </p:cNvSpPr>
          <p:nvPr/>
        </p:nvSpPr>
        <p:spPr>
          <a:xfrm xmlns:a="http://schemas.openxmlformats.org/drawingml/2006/main">
            <a:off x="3643313" y="4706983"/>
            <a:ext cx="1857035"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00" b="1">
                <a:solidFill>
                  <a:srgbClr val="1F2937"/>
                </a:solidFill>
                <a:latin typeface="Nimbus Sans"/>
                <a:ea typeface="Nimbus Sans"/>
                <a:cs typeface="Nimbus Sans"/>
              </a:defRPr>
            </a:pPr>
            <a:r>
              <a:rPr sz="1600" b="1">
                <a:solidFill>
                  <a:srgbClr val="1F2937"/>
                </a:solidFill>
                <a:latin typeface="Nimbus Sans"/>
                <a:ea typeface="Nimbus Sans"/>
                <a:cs typeface="Nimbus Sans"/>
              </a:rPr>
              <a:t>22 collected</a:t>
            </a:r>
          </a:p>
        </p:txBody>
      </p:sp>
      <p:sp>
        <p:nvSpPr>
          <p:cNvPr id="26" name="Diagram label: 38 left">
            <a:extLst xmlns:a="http://schemas.openxmlformats.org/drawingml/2006/main">
              <a:ext uri="{FF2B5EF4-FFF2-40B4-BE49-F238E27FC236}">
                <a16:creationId xmlns:a16="http://schemas.microsoft.com/office/drawing/2014/main" id="{AAB5FF95-44CB-4077-AE15-2EF3E62019B0}"/>
              </a:ext>
            </a:extLst>
          </p:cNvPr>
          <p:cNvSpPr>
            <a:spLocks xmlns:a="http://schemas.openxmlformats.org/drawingml/2006/main" noGrp="1"/>
          </p:cNvSpPr>
          <p:nvPr/>
        </p:nvSpPr>
        <p:spPr>
          <a:xfrm xmlns:a="http://schemas.openxmlformats.org/drawingml/2006/main">
            <a:off x="5955846" y="4706983"/>
            <a:ext cx="2557803" cy="3503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5" b="1">
                <a:solidFill>
                  <a:srgbClr val="1F2937"/>
                </a:solidFill>
                <a:latin typeface="Nimbus Sans"/>
                <a:ea typeface="Nimbus Sans"/>
                <a:cs typeface="Nimbus Sans"/>
              </a:defRPr>
            </a:pPr>
            <a:r>
              <a:rPr sz="1655" b="1">
                <a:solidFill>
                  <a:srgbClr val="1F2937"/>
                </a:solidFill>
                <a:latin typeface="Nimbus Sans"/>
                <a:ea typeface="Nimbus Sans"/>
                <a:cs typeface="Nimbus Sans"/>
              </a:rPr>
              <a:t>38 left</a:t>
            </a:r>
          </a:p>
        </p:txBody>
      </p:sp>
      <p:sp>
        <p:nvSpPr>
          <p:cNvPr id="27" name="Diagram label: Left at 5 min; initial water/losses ignored.">
            <a:extLst xmlns:a="http://schemas.openxmlformats.org/drawingml/2006/main">
              <a:ext uri="{FF2B5EF4-FFF2-40B4-BE49-F238E27FC236}">
                <a16:creationId xmlns:a16="http://schemas.microsoft.com/office/drawing/2014/main" id="{29426DDA-EF1E-4BB1-B036-A5E66A277516}"/>
              </a:ext>
            </a:extLst>
          </p:cNvPr>
          <p:cNvSpPr>
            <a:spLocks xmlns:a="http://schemas.openxmlformats.org/drawingml/2006/main" noGrp="1"/>
          </p:cNvSpPr>
          <p:nvPr/>
        </p:nvSpPr>
        <p:spPr>
          <a:xfrm xmlns:a="http://schemas.openxmlformats.org/drawingml/2006/main">
            <a:off x="2907506" y="5365705"/>
            <a:ext cx="6376988" cy="2452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379" b="0">
                <a:solidFill>
                  <a:srgbClr val="1F2937"/>
                </a:solidFill>
                <a:latin typeface="Nimbus Sans"/>
                <a:ea typeface="Nimbus Sans"/>
                <a:cs typeface="Nimbus Sans"/>
              </a:defRPr>
            </a:pPr>
            <a:r>
              <a:rPr sz="1379" b="0">
                <a:solidFill>
                  <a:srgbClr val="1F2937"/>
                </a:solidFill>
                <a:latin typeface="Nimbus Sans"/>
                <a:ea typeface="Nimbus Sans"/>
                <a:cs typeface="Nimbus Sans"/>
              </a:rPr>
              <a:t>Left at 5 min; initial water/losses ignored.</a:t>
            </a:r>
          </a:p>
        </p:txBody>
      </p:sp>
      <p:sp>
        <p:nvSpPr>
          <p:cNvPr id="28" name="Each starts with 60 mL.  Less collected means more left over.  A">
            <a:extLst xmlns:a="http://schemas.openxmlformats.org/drawingml/2006/main">
              <a:ext uri="{FF2B5EF4-FFF2-40B4-BE49-F238E27FC236}">
                <a16:creationId xmlns:a16="http://schemas.microsoft.com/office/drawing/2014/main" id="{17163200-33C6-41CA-A1C3-746C6063B115}"/>
              </a:ext>
            </a:extLst>
          </p:cNvPr>
          <p:cNvSpPr>
            <a:spLocks xmlns:a="http://schemas.openxmlformats.org/drawingml/2006/main" noGrp="1"/>
          </p:cNvSpPr>
          <p:nvPr/>
        </p:nvSpPr>
        <p:spPr>
          <a:xfrm xmlns:a="http://schemas.openxmlformats.org/drawingml/2006/main">
            <a:off x="533400" y="5829300"/>
            <a:ext cx="11125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Each starts with 60 mL. Less collected means more left over. Always state the time. Which sample has the</a:t>
            </a:r>
          </a:p>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largest amount not collected?</a:t>
            </a:r>
          </a:p>
        </p:txBody>
      </p:sp>
    </p:spTree>
    <p:extLst>
      <p:ext uri="{BB962C8B-B14F-4D97-AF65-F5344CB8AC3E}">
        <p14:creationId xmlns:p14="http://schemas.microsoft.com/office/powerpoint/2010/main" val="2412623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urface">
            <a:extLst xmlns:a="http://schemas.openxmlformats.org/drawingml/2006/main">
              <a:ext uri="{FF2B5EF4-FFF2-40B4-BE49-F238E27FC236}">
                <a16:creationId xmlns:a16="http://schemas.microsoft.com/office/drawing/2014/main" id="{BE6D363C-87AF-440C-959B-2E6AB20506C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8037BD43-D132-48A5-BCB3-E992A19014D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7A21665-C31C-426C-8E9E-DB95D0E1C56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53AC859C-05F7-4756-BDFA-557AA61A362F}"/>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AA019D37-B1D2-4575-8CBD-1DED6A7B1A7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E9EC5025-DE59-4894-A6AB-F9209393620E}"/>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The water-budget team">
            <a:extLst xmlns:a="http://schemas.openxmlformats.org/drawingml/2006/main">
              <a:ext uri="{FF2B5EF4-FFF2-40B4-BE49-F238E27FC236}">
                <a16:creationId xmlns:a16="http://schemas.microsoft.com/office/drawing/2014/main" id="{58926716-9B05-4183-9B81-B951B71923E5}"/>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The water-budget team</a:t>
            </a:r>
          </a:p>
        </p:txBody>
      </p:sp>
      <p:sp>
        <p:nvSpPr>
          <p:cNvPr id="8" name="surface">
            <a:extLst xmlns:a="http://schemas.openxmlformats.org/drawingml/2006/main">
              <a:ext uri="{FF2B5EF4-FFF2-40B4-BE49-F238E27FC236}">
                <a16:creationId xmlns:a16="http://schemas.microsoft.com/office/drawing/2014/main" id="{3DB320E6-92BD-4A8F-B14A-E7A998CE9DD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4ED88BA8-0CD3-4D39-A34C-53CE07B013C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6 / 14">
            <a:extLst xmlns:a="http://schemas.openxmlformats.org/drawingml/2006/main">
              <a:ext uri="{FF2B5EF4-FFF2-40B4-BE49-F238E27FC236}">
                <a16:creationId xmlns:a16="http://schemas.microsoft.com/office/drawing/2014/main" id="{2C430028-FD9C-4339-AD8A-33EF940106D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14</a:t>
            </a:r>
          </a:p>
        </p:txBody>
      </p:sp>
      <p:sp>
        <p:nvSpPr>
          <p:cNvPr id="11" name="Read the inputs and outputs. Choose the correct calculation. Che">
            <a:extLst xmlns:a="http://schemas.openxmlformats.org/drawingml/2006/main">
              <a:ext uri="{FF2B5EF4-FFF2-40B4-BE49-F238E27FC236}">
                <a16:creationId xmlns:a16="http://schemas.microsoft.com/office/drawing/2014/main" id="{AE8CF7C8-4175-43B3-A010-96FFBD17A213}"/>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Read the inputs and outputs. Choose the correct calculation. Check with the whole-water bar.</a:t>
            </a:r>
          </a:p>
        </p:txBody>
      </p:sp>
      <p:graphicFrame>
        <p:nvGraphicFramePr>
          <p:cNvPr id="26" name=""/>
          <p:cNvGraphicFramePr/>
          <p:nvPr/>
        </p:nvGraphicFramePr>
        <p:xfrm>
          <a:off xmlns:a="http://schemas.openxmlformats.org/drawingml/2006/main" x="533400" y="2295525"/>
          <a:ext xmlns:a="http://schemas.openxmlformats.org/drawingml/2006/main" cx="11125200" cy="2021205"/>
        </p:xfrm>
        <a:graphic xmlns:a="http://schemas.openxmlformats.org/drawingml/2006/main">
          <a:graphicData uri="http://schemas.openxmlformats.org/drawingml/2006/table">
            <a:tbl>
              <a:tblPr firstRow="1" bandRow="0"/>
              <a:tblGrid>
                <a:gridCol w="3045744"/>
                <a:gridCol w="3210497"/>
                <a:gridCol w="4868959"/>
              </a:tblGrid>
              <a:tr h="505301">
                <a:tc>
                  <a:txBody>
                    <a:bodyPr lIns="95250" tIns="95250" rIns="95250" bIns="95250"/>
                    <a:lstStyle/>
                    <a:p>
                      <a:pPr algn="l"/>
                      <a:r>
                        <a:rPr sz="2025" b="1">
                          <a:solidFill>
                            <a:srgbClr val="FFFFFF"/>
                          </a:solidFill>
                          <a:latin typeface="Nimbus Sans"/>
                          <a:ea typeface="Nimbus Sans"/>
                          <a:cs typeface="Nimbus Sans"/>
                        </a:rPr>
                        <a:t>Soil</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Input (mL)</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Collected at 5 min (mL)</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A</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60</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46</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60</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34</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60</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22</a:t>
                      </a:r>
                    </a:p>
                  </a:txBody>
                  <a:tcPr marL="95250" marR="95250" marT="95250" marB="95250" anchor="ctr">
                    <a:solidFill>
                      <a:srgbClr val="F4F7F9"/>
                    </a:solidFill>
                  </a:tcPr>
                </a:tc>
              </a:tr>
            </a:tbl>
          </a:graphicData>
        </a:graphic>
      </p:graphicFrame>
      <p:sp>
        <p:nvSpPr>
          <p:cNvPr id="13" name="Constructed sample data • no spills • initial water and evaporat">
            <a:extLst xmlns:a="http://schemas.openxmlformats.org/drawingml/2006/main">
              <a:ext uri="{FF2B5EF4-FFF2-40B4-BE49-F238E27FC236}">
                <a16:creationId xmlns:a16="http://schemas.microsoft.com/office/drawing/2014/main" id="{49DDD6C2-E022-40C5-9C94-D6599B9CDA05}"/>
              </a:ext>
            </a:extLst>
          </p:cNvPr>
          <p:cNvSpPr>
            <a:spLocks xmlns:a="http://schemas.openxmlformats.org/drawingml/2006/main" noGrp="1"/>
          </p:cNvSpPr>
          <p:nvPr/>
        </p:nvSpPr>
        <p:spPr>
          <a:xfrm xmlns:a="http://schemas.openxmlformats.org/drawingml/2006/main">
            <a:off x="533400" y="443103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 no spills • initial water and evaporation ignored</a:t>
            </a:r>
          </a:p>
        </p:txBody>
      </p:sp>
      <p:sp>
        <p:nvSpPr>
          <p:cNvPr id="14" name="For B: 60−34, 60+34 or 34−60?">
            <a:extLst xmlns:a="http://schemas.openxmlformats.org/drawingml/2006/main">
              <a:ext uri="{FF2B5EF4-FFF2-40B4-BE49-F238E27FC236}">
                <a16:creationId xmlns:a16="http://schemas.microsoft.com/office/drawing/2014/main" id="{04D5FD03-E282-4A7A-88F0-68BB035151D5}"/>
              </a:ext>
            </a:extLst>
          </p:cNvPr>
          <p:cNvSpPr>
            <a:spLocks xmlns:a="http://schemas.openxmlformats.org/drawingml/2006/main" noGrp="1"/>
          </p:cNvSpPr>
          <p:nvPr/>
        </p:nvSpPr>
        <p:spPr>
          <a:xfrm xmlns:a="http://schemas.openxmlformats.org/drawingml/2006/main">
            <a:off x="533400" y="4850130"/>
            <a:ext cx="111252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025" b="1">
                <a:solidFill>
                  <a:srgbClr val="4D82A0"/>
                </a:solidFill>
                <a:latin typeface="Nimbus Sans"/>
                <a:ea typeface="Nimbus Sans"/>
                <a:cs typeface="Nimbus Sans"/>
              </a:defRPr>
            </a:pPr>
            <a:r>
              <a:rPr sz="2025" b="1">
                <a:solidFill>
                  <a:srgbClr val="4D82A0"/>
                </a:solidFill>
                <a:latin typeface="Nimbus Sans"/>
                <a:ea typeface="Nimbus Sans"/>
                <a:cs typeface="Nimbus Sans"/>
              </a:rPr>
              <a:t>For B: 60−34, 60+34 or 34−60?</a:t>
            </a:r>
          </a:p>
        </p:txBody>
      </p:sp>
    </p:spTree>
    <p:extLst>
      <p:ext uri="{BB962C8B-B14F-4D97-AF65-F5344CB8AC3E}">
        <p14:creationId xmlns:p14="http://schemas.microsoft.com/office/powerpoint/2010/main" val="45824399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03D9F585-DFD5-466E-801B-5FE0F96B8BC0}"/>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1327E54-5430-4F0D-909E-A32661E0785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30317A2B-2257-4FC5-A947-6012046A75BA}"/>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E43E236-3F84-4124-95C4-0418FEC0BF6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6AD99C0D-0B01-4514-98C7-AC51D3592DBD}"/>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2BF1C6C8-1263-490A-8BA3-7E5CA04F243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Find the overclaim">
            <a:extLst xmlns:a="http://schemas.openxmlformats.org/drawingml/2006/main">
              <a:ext uri="{FF2B5EF4-FFF2-40B4-BE49-F238E27FC236}">
                <a16:creationId xmlns:a16="http://schemas.microsoft.com/office/drawing/2014/main" id="{3D51E541-505D-4707-9BF9-302602C2E139}"/>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Find the overclaim</a:t>
            </a:r>
          </a:p>
        </p:txBody>
      </p:sp>
      <p:sp>
        <p:nvSpPr>
          <p:cNvPr id="8" name="surface">
            <a:extLst xmlns:a="http://schemas.openxmlformats.org/drawingml/2006/main">
              <a:ext uri="{FF2B5EF4-FFF2-40B4-BE49-F238E27FC236}">
                <a16:creationId xmlns:a16="http://schemas.microsoft.com/office/drawing/2014/main" id="{3C7871B0-D5B6-4D59-A22B-9CB2FC92E6B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B3ADD98D-1F26-4A49-B453-B1F70B2FA63F}"/>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7 / 14">
            <a:extLst xmlns:a="http://schemas.openxmlformats.org/drawingml/2006/main">
              <a:ext uri="{FF2B5EF4-FFF2-40B4-BE49-F238E27FC236}">
                <a16:creationId xmlns:a16="http://schemas.microsoft.com/office/drawing/2014/main" id="{0567151C-51FE-4FA1-88EB-4D07620CC75B}"/>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14</a:t>
            </a:r>
          </a:p>
        </p:txBody>
      </p:sp>
      <p:sp>
        <p:nvSpPr>
          <p:cNvPr id="11" name="“C held exactly 38 mL in the soil.” “C had 38 mL not collected a">
            <a:extLst xmlns:a="http://schemas.openxmlformats.org/drawingml/2006/main">
              <a:ext uri="{FF2B5EF4-FFF2-40B4-BE49-F238E27FC236}">
                <a16:creationId xmlns:a16="http://schemas.microsoft.com/office/drawing/2014/main" id="{A74AA33D-39E2-495A-881B-5DE9027CFBA0}"/>
              </a:ext>
            </a:extLst>
          </p:cNvPr>
          <p:cNvSpPr>
            <a:spLocks xmlns:a="http://schemas.openxmlformats.org/drawingml/2006/main" noGrp="1"/>
          </p:cNvSpPr>
          <p:nvPr/>
        </p:nvSpPr>
        <p:spPr>
          <a:xfrm xmlns:a="http://schemas.openxmlformats.org/drawingml/2006/main">
            <a:off x="533400" y="1895475"/>
            <a:ext cx="11125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“C held exactly 38 mL in the soil.” “C had 38 mL not collected at five minutes.” Which claim fits the</a:t>
            </a:r>
          </a:p>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evidence?</a:t>
            </a:r>
          </a:p>
        </p:txBody>
      </p:sp>
      <p:graphicFrame>
        <p:nvGraphicFramePr>
          <p:cNvPr id="25" name=""/>
          <p:cNvGraphicFramePr/>
          <p:nvPr/>
        </p:nvGraphicFramePr>
        <p:xfrm>
          <a:off xmlns:a="http://schemas.openxmlformats.org/drawingml/2006/main" x="533400" y="2581275"/>
          <a:ext xmlns:a="http://schemas.openxmlformats.org/drawingml/2006/main" cx="11125200" cy="2021205"/>
        </p:xfrm>
        <a:graphic xmlns:a="http://schemas.openxmlformats.org/drawingml/2006/main">
          <a:graphicData uri="http://schemas.openxmlformats.org/drawingml/2006/table">
            <a:tbl>
              <a:tblPr firstRow="1" bandRow="0"/>
              <a:tblGrid>
                <a:gridCol w="3591534"/>
                <a:gridCol w="7533666"/>
              </a:tblGrid>
              <a:tr h="505301">
                <a:tc>
                  <a:txBody>
                    <a:bodyPr lIns="95250" tIns="95250" rIns="95250" bIns="95250"/>
                    <a:lstStyle/>
                    <a:p>
                      <a:pPr algn="l"/>
                      <a:r>
                        <a:rPr sz="2025" b="1">
                          <a:solidFill>
                            <a:srgbClr val="FFFFFF"/>
                          </a:solidFill>
                          <a:latin typeface="Nimbus Sans"/>
                          <a:ea typeface="Nimbus Sans"/>
                          <a:cs typeface="Nimbus Sans"/>
                        </a:rPr>
                        <a:t>Check card</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What happened?</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P</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No spills; same apparatus; no losses assumed</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Q</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A puddle remained above the soil</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R</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Some water escaped onto the tray</a:t>
                      </a:r>
                    </a:p>
                  </a:txBody>
                  <a:tcPr marL="95250" marR="95250" marT="95250" marB="95250" anchor="ctr">
                    <a:solidFill>
                      <a:srgbClr val="F4F7F9"/>
                    </a:solidFill>
                  </a:tcPr>
                </a:tc>
              </a:tr>
            </a:tbl>
          </a:graphicData>
        </a:graphic>
      </p:graphicFrame>
      <p:sp>
        <p:nvSpPr>
          <p:cNvPr id="13" name="Constructed reasoning cards; consider each situation separately">
            <a:extLst xmlns:a="http://schemas.openxmlformats.org/drawingml/2006/main">
              <a:ext uri="{FF2B5EF4-FFF2-40B4-BE49-F238E27FC236}">
                <a16:creationId xmlns:a16="http://schemas.microsoft.com/office/drawing/2014/main" id="{8C50DFF7-912D-473B-B835-A01A22C04B71}"/>
              </a:ext>
            </a:extLst>
          </p:cNvPr>
          <p:cNvSpPr>
            <a:spLocks xmlns:a="http://schemas.openxmlformats.org/drawingml/2006/main" noGrp="1"/>
          </p:cNvSpPr>
          <p:nvPr/>
        </p:nvSpPr>
        <p:spPr>
          <a:xfrm xmlns:a="http://schemas.openxmlformats.org/drawingml/2006/main">
            <a:off x="533400" y="471678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reasoning cards; consider each situation separately</a:t>
            </a:r>
          </a:p>
        </p:txBody>
      </p:sp>
    </p:spTree>
    <p:extLst>
      <p:ext uri="{BB962C8B-B14F-4D97-AF65-F5344CB8AC3E}">
        <p14:creationId xmlns:p14="http://schemas.microsoft.com/office/powerpoint/2010/main" val="93552544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731BE7B9-2AC0-4C7E-A4E7-6E2EDF66FE9C}"/>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FC186FF-2520-401F-9DAE-369CC6895D9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76CABE4-0B25-4F70-879F-EF19354C4E4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29963F16-85D7-477F-A98F-ED0C4CAD64C9}"/>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Hinge">
            <a:extLst xmlns:a="http://schemas.openxmlformats.org/drawingml/2006/main">
              <a:ext uri="{FF2B5EF4-FFF2-40B4-BE49-F238E27FC236}">
                <a16:creationId xmlns:a16="http://schemas.microsoft.com/office/drawing/2014/main" id="{3D9C6FC9-F923-46A3-9766-0980ACBF532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CE883DC5-2942-436A-BD34-869288E7D7CB}"/>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ich statement is sound?">
            <a:extLst xmlns:a="http://schemas.openxmlformats.org/drawingml/2006/main">
              <a:ext uri="{FF2B5EF4-FFF2-40B4-BE49-F238E27FC236}">
                <a16:creationId xmlns:a16="http://schemas.microsoft.com/office/drawing/2014/main" id="{4327DC64-6E01-4A32-B139-7A86E4087B1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statement is sound?</a:t>
            </a:r>
          </a:p>
        </p:txBody>
      </p:sp>
      <p:sp>
        <p:nvSpPr>
          <p:cNvPr id="8" name="surface">
            <a:extLst xmlns:a="http://schemas.openxmlformats.org/drawingml/2006/main">
              <a:ext uri="{FF2B5EF4-FFF2-40B4-BE49-F238E27FC236}">
                <a16:creationId xmlns:a16="http://schemas.microsoft.com/office/drawing/2014/main" id="{290F2189-1686-4205-A5A5-8689DA5807E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2934A6AE-1A1C-4850-A067-E1104483D88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8 / 14">
            <a:extLst xmlns:a="http://schemas.openxmlformats.org/drawingml/2006/main">
              <a:ext uri="{FF2B5EF4-FFF2-40B4-BE49-F238E27FC236}">
                <a16:creationId xmlns:a16="http://schemas.microsoft.com/office/drawing/2014/main" id="{07539FF3-7125-456D-A6BD-C58163607F3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14</a:t>
            </a:r>
          </a:p>
        </p:txBody>
      </p:sp>
      <p:sp>
        <p:nvSpPr>
          <p:cNvPr id="11" name="Each sample receives 60 mL. A collects 46 mL; C collects 22 mL.">
            <a:extLst xmlns:a="http://schemas.openxmlformats.org/drawingml/2006/main">
              <a:ext uri="{FF2B5EF4-FFF2-40B4-BE49-F238E27FC236}">
                <a16:creationId xmlns:a16="http://schemas.microsoft.com/office/drawing/2014/main" id="{394B4E73-FFB6-455B-AE92-2ECE005661CE}"/>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Each sample receives 60 mL. A collects 46 mL; C collects 22 mL.</a:t>
            </a:r>
          </a:p>
        </p:txBody>
      </p:sp>
      <p:sp>
        <p:nvSpPr>
          <p:cNvPr id="12" name="surface">
            <a:extLst xmlns:a="http://schemas.openxmlformats.org/drawingml/2006/main">
              <a:ext uri="{FF2B5EF4-FFF2-40B4-BE49-F238E27FC236}">
                <a16:creationId xmlns:a16="http://schemas.microsoft.com/office/drawing/2014/main" id="{E1286208-E9A7-474F-85FC-CB766D26EC53}"/>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67FBF98A-5517-47BA-B4DE-8C6B7FB77408}"/>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8E35CA5C-3871-40A0-A39F-7BED81357A45}"/>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A has the greater amount not collected.">
            <a:extLst xmlns:a="http://schemas.openxmlformats.org/drawingml/2006/main">
              <a:ext uri="{FF2B5EF4-FFF2-40B4-BE49-F238E27FC236}">
                <a16:creationId xmlns:a16="http://schemas.microsoft.com/office/drawing/2014/main" id="{72D39500-DE56-4BB1-BF36-769688707DD7}"/>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 has the greater amount not collected.</a:t>
            </a:r>
          </a:p>
        </p:txBody>
      </p:sp>
      <p:sp>
        <p:nvSpPr>
          <p:cNvPr id="16" name="surface">
            <a:extLst xmlns:a="http://schemas.openxmlformats.org/drawingml/2006/main">
              <a:ext uri="{FF2B5EF4-FFF2-40B4-BE49-F238E27FC236}">
                <a16:creationId xmlns:a16="http://schemas.microsoft.com/office/drawing/2014/main" id="{E23FD987-B3CA-442D-9042-60EC4F1CD4DC}"/>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A88A882D-FC30-4C44-8C7B-2627CEACD290}"/>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D4BC700E-218A-497B-9959-9A4279DAFDD4}"/>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C has the greater amount not collected at this time.">
            <a:extLst xmlns:a="http://schemas.openxmlformats.org/drawingml/2006/main">
              <a:ext uri="{FF2B5EF4-FFF2-40B4-BE49-F238E27FC236}">
                <a16:creationId xmlns:a16="http://schemas.microsoft.com/office/drawing/2014/main" id="{FA5C7E63-B2A9-41B5-BB65-CF6DB317B594}"/>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C has the greater amount not collected at this time.</a:t>
            </a:r>
          </a:p>
        </p:txBody>
      </p:sp>
      <p:sp>
        <p:nvSpPr>
          <p:cNvPr id="20" name="surface">
            <a:extLst xmlns:a="http://schemas.openxmlformats.org/drawingml/2006/main">
              <a:ext uri="{FF2B5EF4-FFF2-40B4-BE49-F238E27FC236}">
                <a16:creationId xmlns:a16="http://schemas.microsoft.com/office/drawing/2014/main" id="{2C8059B5-CE27-4D5A-904A-3F99DDFD6CAA}"/>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3870058E-A01D-4E92-93CE-BFE5DB4A06A9}"/>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152DD0A2-1CBA-4755-B17E-E071427C7F2F}"/>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C will therefore grow every plant best.">
            <a:extLst xmlns:a="http://schemas.openxmlformats.org/drawingml/2006/main">
              <a:ext uri="{FF2B5EF4-FFF2-40B4-BE49-F238E27FC236}">
                <a16:creationId xmlns:a16="http://schemas.microsoft.com/office/drawing/2014/main" id="{6AB315FB-43A3-4855-A572-514C604E5622}"/>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C will therefore grow every plant best.</a:t>
            </a:r>
          </a:p>
        </p:txBody>
      </p:sp>
    </p:spTree>
    <p:extLst>
      <p:ext uri="{BB962C8B-B14F-4D97-AF65-F5344CB8AC3E}">
        <p14:creationId xmlns:p14="http://schemas.microsoft.com/office/powerpoint/2010/main" val="2915585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A536A911-6D40-4287-A107-A347625E4D41}"/>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08E0A1B-6EBF-4F81-92BE-CE98E1FBFC9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CFA39846-8D64-4416-92C9-773D3DA7EB0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D52335A0-1C73-455A-9B99-C2CAEFD72C2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D4CE9E15-FD63-444B-AF31-FC2654E7478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2 min">
            <a:extLst xmlns:a="http://schemas.openxmlformats.org/drawingml/2006/main">
              <a:ext uri="{FF2B5EF4-FFF2-40B4-BE49-F238E27FC236}">
                <a16:creationId xmlns:a16="http://schemas.microsoft.com/office/drawing/2014/main" id="{F933C9B0-8359-451B-9C2D-3BC53D7A008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Investigate; record; explain">
            <a:extLst xmlns:a="http://schemas.openxmlformats.org/drawingml/2006/main">
              <a:ext uri="{FF2B5EF4-FFF2-40B4-BE49-F238E27FC236}">
                <a16:creationId xmlns:a16="http://schemas.microsoft.com/office/drawing/2014/main" id="{77968968-8FF5-4C28-9DF5-E34C376079F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Investigate; record; explain</a:t>
            </a:r>
          </a:p>
        </p:txBody>
      </p:sp>
      <p:sp>
        <p:nvSpPr>
          <p:cNvPr id="8" name="surface">
            <a:extLst xmlns:a="http://schemas.openxmlformats.org/drawingml/2006/main">
              <a:ext uri="{FF2B5EF4-FFF2-40B4-BE49-F238E27FC236}">
                <a16:creationId xmlns:a16="http://schemas.microsoft.com/office/drawing/2014/main" id="{C2C0C204-5D66-4725-81E8-0AFE1759D3C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C942360C-FCC5-424A-92AC-F26AFB943D9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9 / 14">
            <a:extLst xmlns:a="http://schemas.openxmlformats.org/drawingml/2006/main">
              <a:ext uri="{FF2B5EF4-FFF2-40B4-BE49-F238E27FC236}">
                <a16:creationId xmlns:a16="http://schemas.microsoft.com/office/drawing/2014/main" id="{00663ACB-CCEF-4D35-9D73-6E5AB2F89583}"/>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14</a:t>
            </a:r>
          </a:p>
        </p:txBody>
      </p:sp>
      <p:sp>
        <p:nvSpPr>
          <p:cNvPr id="11" name="Choose paper data or a practical.">
            <a:extLst xmlns:a="http://schemas.openxmlformats.org/drawingml/2006/main">
              <a:ext uri="{FF2B5EF4-FFF2-40B4-BE49-F238E27FC236}">
                <a16:creationId xmlns:a16="http://schemas.microsoft.com/office/drawing/2014/main" id="{59DEA636-D319-4793-81E6-C05F4DDD6402}"/>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Choose paper data or a practical.</a:t>
            </a:r>
          </a:p>
        </p:txBody>
      </p:sp>
      <p:sp>
        <p:nvSpPr>
          <p:cNvPr id="12" name="Choose calculator, writing or spreadsheet.">
            <a:extLst xmlns:a="http://schemas.openxmlformats.org/drawingml/2006/main">
              <a:ext uri="{FF2B5EF4-FFF2-40B4-BE49-F238E27FC236}">
                <a16:creationId xmlns:a16="http://schemas.microsoft.com/office/drawing/2014/main" id="{4E77D5DD-5CC4-4429-B6BD-267074D9A7D0}"/>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Choose calculator, writing or spreadsheet.</a:t>
            </a:r>
          </a:p>
        </p:txBody>
      </p:sp>
      <p:sp>
        <p:nvSpPr>
          <p:cNvPr id="13" name="Use a number and a careful claim.">
            <a:extLst xmlns:a="http://schemas.openxmlformats.org/drawingml/2006/main">
              <a:ext uri="{FF2B5EF4-FFF2-40B4-BE49-F238E27FC236}">
                <a16:creationId xmlns:a16="http://schemas.microsoft.com/office/drawing/2014/main" id="{FD14CED7-F0EF-447A-AE69-729A31BEFCF4}"/>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a number and a careful claim.</a:t>
            </a:r>
          </a:p>
        </p:txBody>
      </p:sp>
    </p:spTree>
    <p:extLst>
      <p:ext uri="{BB962C8B-B14F-4D97-AF65-F5344CB8AC3E}">
        <p14:creationId xmlns:p14="http://schemas.microsoft.com/office/powerpoint/2010/main" val="6162362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9161DE24-D5DB-4662-981C-150E9EDB49F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0B58501C-DEED-4637-B707-CECCA61E7392}"/>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C3B1A50-4C2F-4C1B-B4BB-428E7282DB17}"/>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FE1908C5-6E46-4DDB-BA46-20F465EE84F3}"/>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AFA1B174-BEEE-421B-8022-9396D60741B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Keep the method matched">
            <a:extLst xmlns:a="http://schemas.openxmlformats.org/drawingml/2006/main">
              <a:ext uri="{FF2B5EF4-FFF2-40B4-BE49-F238E27FC236}">
                <a16:creationId xmlns:a16="http://schemas.microsoft.com/office/drawing/2014/main" id="{865DAE73-8331-469D-81A4-CD8CD2D5B64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Keep the method matched</a:t>
            </a:r>
          </a:p>
        </p:txBody>
      </p:sp>
      <p:sp>
        <p:nvSpPr>
          <p:cNvPr id="7" name="surface">
            <a:extLst xmlns:a="http://schemas.openxmlformats.org/drawingml/2006/main">
              <a:ext uri="{FF2B5EF4-FFF2-40B4-BE49-F238E27FC236}">
                <a16:creationId xmlns:a16="http://schemas.microsoft.com/office/drawing/2014/main" id="{010E6EE9-072A-4DC1-AA56-02F41225A0F7}"/>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oil: account for the water">
            <a:extLst xmlns:a="http://schemas.openxmlformats.org/drawingml/2006/main">
              <a:ext uri="{FF2B5EF4-FFF2-40B4-BE49-F238E27FC236}">
                <a16:creationId xmlns:a16="http://schemas.microsoft.com/office/drawing/2014/main" id="{364C8BFA-7CD7-4DEC-A097-BF13A402B72D}"/>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9" name="10 / 14">
            <a:extLst xmlns:a="http://schemas.openxmlformats.org/drawingml/2006/main">
              <a:ext uri="{FF2B5EF4-FFF2-40B4-BE49-F238E27FC236}">
                <a16:creationId xmlns:a16="http://schemas.microsoft.com/office/drawing/2014/main" id="{7E31B608-05C9-4106-A755-48B4C7BF807F}"/>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14</a:t>
            </a:r>
          </a:p>
        </p:txBody>
      </p:sp>
      <p:sp>
        <p:nvSpPr>
          <p:cNvPr id="10" name="Same soil volume and preparation.">
            <a:extLst xmlns:a="http://schemas.openxmlformats.org/drawingml/2006/main">
              <a:ext uri="{FF2B5EF4-FFF2-40B4-BE49-F238E27FC236}">
                <a16:creationId xmlns:a16="http://schemas.microsoft.com/office/drawing/2014/main" id="{C02CCD21-A18D-4F58-AC1F-12DEB77916E6}"/>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Same soil volume and preparation.</a:t>
            </a:r>
          </a:p>
        </p:txBody>
      </p:sp>
      <p:sp>
        <p:nvSpPr>
          <p:cNvPr id="11" name="60 mL poured over 10 seconds.">
            <a:extLst xmlns:a="http://schemas.openxmlformats.org/drawingml/2006/main">
              <a:ext uri="{FF2B5EF4-FFF2-40B4-BE49-F238E27FC236}">
                <a16:creationId xmlns:a16="http://schemas.microsoft.com/office/drawing/2014/main" id="{2E34E2FD-36D3-4F31-B857-AF27507C0CD4}"/>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60 mL poured over 10 seconds.</a:t>
            </a:r>
          </a:p>
        </p:txBody>
      </p:sp>
      <p:sp>
        <p:nvSpPr>
          <p:cNvPr id="12" name="Read at 5 minutes from pour start.">
            <a:extLst xmlns:a="http://schemas.openxmlformats.org/drawingml/2006/main">
              <a:ext uri="{FF2B5EF4-FFF2-40B4-BE49-F238E27FC236}">
                <a16:creationId xmlns:a16="http://schemas.microsoft.com/office/drawing/2014/main" id="{AAF66A8A-554A-42BC-BB25-7B0A475DA906}"/>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Read at 5 minutes from pour start.</a:t>
            </a:r>
          </a:p>
        </p:txBody>
      </p:sp>
    </p:spTree>
    <p:extLst>
      <p:ext uri="{BB962C8B-B14F-4D97-AF65-F5344CB8AC3E}">
        <p14:creationId xmlns:p14="http://schemas.microsoft.com/office/powerpoint/2010/main" val="16116029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0EA7A031-8E13-4679-8E41-40927695434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7234EBF-1386-4DC5-B2E9-31F798A85CA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18A270E-0033-4FFD-9BD2-41898BE8F4B1}"/>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BEBA421E-A742-46F1-A87B-CB59F35F6ED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CE8392AB-887C-447C-A340-D89186314408}"/>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7286F1E0-C7BC-4AFB-989D-0FB6BF53FF5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Make a water account">
            <a:extLst xmlns:a="http://schemas.openxmlformats.org/drawingml/2006/main">
              <a:ext uri="{FF2B5EF4-FFF2-40B4-BE49-F238E27FC236}">
                <a16:creationId xmlns:a16="http://schemas.microsoft.com/office/drawing/2014/main" id="{AEE87DD1-1BE0-4DA0-BA65-CE6431B344D6}"/>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a water account</a:t>
            </a:r>
          </a:p>
        </p:txBody>
      </p:sp>
      <p:sp>
        <p:nvSpPr>
          <p:cNvPr id="8" name="surface">
            <a:extLst xmlns:a="http://schemas.openxmlformats.org/drawingml/2006/main">
              <a:ext uri="{FF2B5EF4-FFF2-40B4-BE49-F238E27FC236}">
                <a16:creationId xmlns:a16="http://schemas.microsoft.com/office/drawing/2014/main" id="{082B3EF6-4461-43D5-9D40-3B18D99B6E4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39DFBCE7-255B-4134-BE3B-F7F4A5BC5792}"/>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11 / 14">
            <a:extLst xmlns:a="http://schemas.openxmlformats.org/drawingml/2006/main">
              <a:ext uri="{FF2B5EF4-FFF2-40B4-BE49-F238E27FC236}">
                <a16:creationId xmlns:a16="http://schemas.microsoft.com/office/drawing/2014/main" id="{EAF42CE5-B9BD-4C6F-AFBE-96D3B190DAE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14</a:t>
            </a:r>
          </a:p>
        </p:txBody>
      </p:sp>
      <p:sp>
        <p:nvSpPr>
          <p:cNvPr id="11" name="Input minus collected equals not collected.">
            <a:extLst xmlns:a="http://schemas.openxmlformats.org/drawingml/2006/main">
              <a:ext uri="{FF2B5EF4-FFF2-40B4-BE49-F238E27FC236}">
                <a16:creationId xmlns:a16="http://schemas.microsoft.com/office/drawing/2014/main" id="{F7460974-2924-4ABC-B592-0ACE3A1A2E34}"/>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Input minus collected equals not collected.</a:t>
            </a:r>
          </a:p>
        </p:txBody>
      </p:sp>
      <p:sp>
        <p:nvSpPr>
          <p:cNvPr id="12" name="Compare your three remainders.">
            <a:extLst xmlns:a="http://schemas.openxmlformats.org/drawingml/2006/main">
              <a:ext uri="{FF2B5EF4-FFF2-40B4-BE49-F238E27FC236}">
                <a16:creationId xmlns:a16="http://schemas.microsoft.com/office/drawing/2014/main" id="{410EF6CF-8CC2-4DC8-8A14-A467AEC8FF92}"/>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Compare your three remainders.</a:t>
            </a:r>
          </a:p>
        </p:txBody>
      </p:sp>
      <p:sp>
        <p:nvSpPr>
          <p:cNvPr id="13" name="Say what your estimate includes.">
            <a:extLst xmlns:a="http://schemas.openxmlformats.org/drawingml/2006/main">
              <a:ext uri="{FF2B5EF4-FFF2-40B4-BE49-F238E27FC236}">
                <a16:creationId xmlns:a16="http://schemas.microsoft.com/office/drawing/2014/main" id="{EB028771-EF03-4EF5-B711-3C6A06AE2028}"/>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Say what your estimate includes.</a:t>
            </a:r>
          </a:p>
        </p:txBody>
      </p:sp>
    </p:spTree>
    <p:extLst>
      <p:ext uri="{BB962C8B-B14F-4D97-AF65-F5344CB8AC3E}">
        <p14:creationId xmlns:p14="http://schemas.microsoft.com/office/powerpoint/2010/main" val="16502128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A44F44BA-21C9-48CF-BFAA-72C4BB948C2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46C70D36-012F-447D-B621-B39A85035C9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056A27C-02D9-40D0-BFC3-5294DEE41D2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59D7C53B-0B51-4C20-9494-702ACEAD8361}"/>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5F1A3073-BD26-4618-B492-7C4E0DD2442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the claim before sharing">
            <a:extLst xmlns:a="http://schemas.openxmlformats.org/drawingml/2006/main">
              <a:ext uri="{FF2B5EF4-FFF2-40B4-BE49-F238E27FC236}">
                <a16:creationId xmlns:a16="http://schemas.microsoft.com/office/drawing/2014/main" id="{620CC7BC-2C8B-4E11-AD0E-14EADBB81E4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the claim before sharing</a:t>
            </a:r>
          </a:p>
        </p:txBody>
      </p:sp>
      <p:sp>
        <p:nvSpPr>
          <p:cNvPr id="7" name="surface">
            <a:extLst xmlns:a="http://schemas.openxmlformats.org/drawingml/2006/main">
              <a:ext uri="{FF2B5EF4-FFF2-40B4-BE49-F238E27FC236}">
                <a16:creationId xmlns:a16="http://schemas.microsoft.com/office/drawing/2014/main" id="{53601F93-E3F5-486F-9C6B-461CBE6ADF7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oil: account for the water">
            <a:extLst xmlns:a="http://schemas.openxmlformats.org/drawingml/2006/main">
              <a:ext uri="{FF2B5EF4-FFF2-40B4-BE49-F238E27FC236}">
                <a16:creationId xmlns:a16="http://schemas.microsoft.com/office/drawing/2014/main" id="{049788BC-73F0-4194-953B-0A40C0079E9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9" name="12 / 14">
            <a:extLst xmlns:a="http://schemas.openxmlformats.org/drawingml/2006/main">
              <a:ext uri="{FF2B5EF4-FFF2-40B4-BE49-F238E27FC236}">
                <a16:creationId xmlns:a16="http://schemas.microsoft.com/office/drawing/2014/main" id="{4CA3E037-4EA9-483C-AEC1-0FB892A9883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14</a:t>
            </a:r>
          </a:p>
        </p:txBody>
      </p:sp>
      <p:sp>
        <p:nvSpPr>
          <p:cNvPr id="10" name="Have I used mL?">
            <a:extLst xmlns:a="http://schemas.openxmlformats.org/drawingml/2006/main">
              <a:ext uri="{FF2B5EF4-FFF2-40B4-BE49-F238E27FC236}">
                <a16:creationId xmlns:a16="http://schemas.microsoft.com/office/drawing/2014/main" id="{E2BEB089-B5AD-464B-B016-D54DC19306E6}"/>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used mL?</a:t>
            </a:r>
          </a:p>
        </p:txBody>
      </p:sp>
      <p:sp>
        <p:nvSpPr>
          <p:cNvPr id="11" name="Have I stated 5 minutes?">
            <a:extLst xmlns:a="http://schemas.openxmlformats.org/drawingml/2006/main">
              <a:ext uri="{FF2B5EF4-FFF2-40B4-BE49-F238E27FC236}">
                <a16:creationId xmlns:a16="http://schemas.microsoft.com/office/drawing/2014/main" id="{90FD23D8-4DE8-42DB-BF5E-E3AEB4F01399}"/>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stated 5 minutes?</a:t>
            </a:r>
          </a:p>
        </p:txBody>
      </p:sp>
      <p:sp>
        <p:nvSpPr>
          <p:cNvPr id="12" name="Have I checked for losses?">
            <a:extLst xmlns:a="http://schemas.openxmlformats.org/drawingml/2006/main">
              <a:ext uri="{FF2B5EF4-FFF2-40B4-BE49-F238E27FC236}">
                <a16:creationId xmlns:a16="http://schemas.microsoft.com/office/drawing/2014/main" id="{4386FFE2-1BDC-4C6E-B2D8-5A768FCEA36D}"/>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Have I checked for losses?</a:t>
            </a:r>
          </a:p>
        </p:txBody>
      </p:sp>
    </p:spTree>
    <p:extLst>
      <p:ext uri="{BB962C8B-B14F-4D97-AF65-F5344CB8AC3E}">
        <p14:creationId xmlns:p14="http://schemas.microsoft.com/office/powerpoint/2010/main" val="17813943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15A69D10-4EFB-40B0-9697-E14229696777}"/>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31FF3E8-89A7-492A-9CF0-93C14C30AE1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00D18C82-5BBA-483D-8B16-C075AAF3852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17E89A8C-285B-4D1F-A82F-881DE571907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view">
            <a:extLst xmlns:a="http://schemas.openxmlformats.org/drawingml/2006/main">
              <a:ext uri="{FF2B5EF4-FFF2-40B4-BE49-F238E27FC236}">
                <a16:creationId xmlns:a16="http://schemas.microsoft.com/office/drawing/2014/main" id="{82B67BA5-CF47-4858-AC8E-3466BF36BEC9}"/>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8752F6AE-6A85-43C0-8350-02A1E904093D}"/>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Lundy loop: improve the claim">
            <a:extLst xmlns:a="http://schemas.openxmlformats.org/drawingml/2006/main">
              <a:ext uri="{FF2B5EF4-FFF2-40B4-BE49-F238E27FC236}">
                <a16:creationId xmlns:a16="http://schemas.microsoft.com/office/drawing/2014/main" id="{9FF9E305-9879-42D5-A733-77BA18B6C58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Lundy loop: improve the claim</a:t>
            </a:r>
          </a:p>
        </p:txBody>
      </p:sp>
      <p:sp>
        <p:nvSpPr>
          <p:cNvPr id="8" name="surface">
            <a:extLst xmlns:a="http://schemas.openxmlformats.org/drawingml/2006/main">
              <a:ext uri="{FF2B5EF4-FFF2-40B4-BE49-F238E27FC236}">
                <a16:creationId xmlns:a16="http://schemas.microsoft.com/office/drawing/2014/main" id="{74E52460-AA30-4704-86B8-4B0C4570A5B6}"/>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1A3AE077-1DEA-491C-B634-5E5578454E8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13 / 14">
            <a:extLst xmlns:a="http://schemas.openxmlformats.org/drawingml/2006/main">
              <a:ext uri="{FF2B5EF4-FFF2-40B4-BE49-F238E27FC236}">
                <a16:creationId xmlns:a16="http://schemas.microsoft.com/office/drawing/2014/main" id="{D7727A2F-C601-43C9-80B4-09C91B3A2530}"/>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14</a:t>
            </a:r>
          </a:p>
        </p:txBody>
      </p:sp>
      <p:sp>
        <p:nvSpPr>
          <p:cNvPr id="11" name="Share a result or a concern.">
            <a:extLst xmlns:a="http://schemas.openxmlformats.org/drawingml/2006/main">
              <a:ext uri="{FF2B5EF4-FFF2-40B4-BE49-F238E27FC236}">
                <a16:creationId xmlns:a16="http://schemas.microsoft.com/office/drawing/2014/main" id="{90EC7BA3-E64E-4BEF-8615-ABDA0EE26A4F}"/>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Share a result or a concern.</a:t>
            </a:r>
          </a:p>
        </p:txBody>
      </p:sp>
      <p:sp>
        <p:nvSpPr>
          <p:cNvPr id="12" name="Listen for an overlooked location.">
            <a:extLst xmlns:a="http://schemas.openxmlformats.org/drawingml/2006/main">
              <a:ext uri="{FF2B5EF4-FFF2-40B4-BE49-F238E27FC236}">
                <a16:creationId xmlns:a16="http://schemas.microsoft.com/office/drawing/2014/main" id="{DE0A2F04-45E5-44C7-9945-978A5A38BE9B}"/>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Listen for an overlooked location.</a:t>
            </a:r>
          </a:p>
        </p:txBody>
      </p:sp>
      <p:sp>
        <p:nvSpPr>
          <p:cNvPr id="13" name="Rewrite one class conclusion.">
            <a:extLst xmlns:a="http://schemas.openxmlformats.org/drawingml/2006/main">
              <a:ext uri="{FF2B5EF4-FFF2-40B4-BE49-F238E27FC236}">
                <a16:creationId xmlns:a16="http://schemas.microsoft.com/office/drawing/2014/main" id="{F783701B-EF7E-4FDA-BA1B-3748A62C13C7}"/>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Rewrite one class conclusion.</a:t>
            </a:r>
          </a:p>
        </p:txBody>
      </p:sp>
      <p:sp>
        <p:nvSpPr>
          <p:cNvPr id="14" name="surface">
            <a:extLst xmlns:a="http://schemas.openxmlformats.org/drawingml/2006/main">
              <a:ext uri="{FF2B5EF4-FFF2-40B4-BE49-F238E27FC236}">
                <a16:creationId xmlns:a16="http://schemas.microsoft.com/office/drawing/2014/main" id="{8DC64EB4-A304-45B2-936C-039849950DEF}"/>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C165AB84-BC5F-44E7-99AF-F83992F9815A}"/>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6" name="What wording should our class keep?">
            <a:extLst xmlns:a="http://schemas.openxmlformats.org/drawingml/2006/main">
              <a:ext uri="{FF2B5EF4-FFF2-40B4-BE49-F238E27FC236}">
                <a16:creationId xmlns:a16="http://schemas.microsoft.com/office/drawing/2014/main" id="{173D13DC-AFE8-4127-BCFC-DF935DFC1C42}"/>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E7A9B"/>
                </a:solidFill>
                <a:latin typeface="Nimbus Sans"/>
                <a:ea typeface="Nimbus Sans"/>
                <a:cs typeface="Nimbus Sans"/>
              </a:defRPr>
            </a:pPr>
            <a:r>
              <a:rPr sz="2175" b="1">
                <a:solidFill>
                  <a:srgbClr val="4E7A9B"/>
                </a:solidFill>
                <a:latin typeface="Nimbus Sans"/>
                <a:ea typeface="Nimbus Sans"/>
                <a:cs typeface="Nimbus Sans"/>
              </a:rPr>
              <a:t>What wording should our class keep?</a:t>
            </a:r>
          </a:p>
        </p:txBody>
      </p:sp>
    </p:spTree>
    <p:extLst>
      <p:ext uri="{BB962C8B-B14F-4D97-AF65-F5344CB8AC3E}">
        <p14:creationId xmlns:p14="http://schemas.microsoft.com/office/powerpoint/2010/main" val="146077919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CAD592B1-F3CC-4638-9CEA-4773ED604FF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FA486A7-7C6B-433B-9695-1926681EC655}"/>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1FCFA1CB-D643-48D3-A587-67CAECD2F4E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1CF11E0F-74E1-40B3-977E-DEFF144DB9A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Exit">
            <a:extLst xmlns:a="http://schemas.openxmlformats.org/drawingml/2006/main">
              <a:ext uri="{FF2B5EF4-FFF2-40B4-BE49-F238E27FC236}">
                <a16:creationId xmlns:a16="http://schemas.microsoft.com/office/drawing/2014/main" id="{1843DD16-5E8F-444E-9658-82469ADB106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9973504D-6DC3-4482-BEE5-940727EB0EB0}"/>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Close the water account">
            <a:extLst xmlns:a="http://schemas.openxmlformats.org/drawingml/2006/main">
              <a:ext uri="{FF2B5EF4-FFF2-40B4-BE49-F238E27FC236}">
                <a16:creationId xmlns:a16="http://schemas.microsoft.com/office/drawing/2014/main" id="{000EB158-EC39-4ACA-AE0F-D9C5A22C847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Close the water account</a:t>
            </a:r>
          </a:p>
        </p:txBody>
      </p:sp>
      <p:sp>
        <p:nvSpPr>
          <p:cNvPr id="8" name="surface">
            <a:extLst xmlns:a="http://schemas.openxmlformats.org/drawingml/2006/main">
              <a:ext uri="{FF2B5EF4-FFF2-40B4-BE49-F238E27FC236}">
                <a16:creationId xmlns:a16="http://schemas.microsoft.com/office/drawing/2014/main" id="{875BA1DE-290C-4CBE-85CC-D7786AF5308E}"/>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account for the water">
            <a:extLst xmlns:a="http://schemas.openxmlformats.org/drawingml/2006/main">
              <a:ext uri="{FF2B5EF4-FFF2-40B4-BE49-F238E27FC236}">
                <a16:creationId xmlns:a16="http://schemas.microsoft.com/office/drawing/2014/main" id="{350DC4B3-C080-4859-8B5E-52D7894423D3}"/>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account for the water</a:t>
            </a:r>
          </a:p>
        </p:txBody>
      </p:sp>
      <p:sp>
        <p:nvSpPr>
          <p:cNvPr id="10" name="14 / 14">
            <a:extLst xmlns:a="http://schemas.openxmlformats.org/drawingml/2006/main">
              <a:ext uri="{FF2B5EF4-FFF2-40B4-BE49-F238E27FC236}">
                <a16:creationId xmlns:a16="http://schemas.microsoft.com/office/drawing/2014/main" id="{12D00013-052A-43B5-8BB0-13A845F2345A}"/>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14</a:t>
            </a:r>
          </a:p>
        </p:txBody>
      </p:sp>
      <p:sp>
        <p:nvSpPr>
          <p:cNvPr id="11" name="E1. 60 mL in; 40 mL out. How much not collected?">
            <a:extLst xmlns:a="http://schemas.openxmlformats.org/drawingml/2006/main">
              <a:ext uri="{FF2B5EF4-FFF2-40B4-BE49-F238E27FC236}">
                <a16:creationId xmlns:a16="http://schemas.microsoft.com/office/drawing/2014/main" id="{2D39C1BE-56C2-4DE3-812A-7729AACC6A91}"/>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E1. 60 mL in; 40 mL out. How much not collected?</a:t>
            </a:r>
          </a:p>
        </p:txBody>
      </p:sp>
      <p:sp>
        <p:nvSpPr>
          <p:cNvPr id="12" name="E2. Where else could water remain?">
            <a:extLst xmlns:a="http://schemas.openxmlformats.org/drawingml/2006/main">
              <a:ext uri="{FF2B5EF4-FFF2-40B4-BE49-F238E27FC236}">
                <a16:creationId xmlns:a16="http://schemas.microsoft.com/office/drawing/2014/main" id="{C0BD7129-D9BF-4384-80C5-5F67EF0CDF52}"/>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E2. Where else could water remain?</a:t>
            </a:r>
          </a:p>
        </p:txBody>
      </p:sp>
      <p:sp>
        <p:nvSpPr>
          <p:cNvPr id="13" name="E3. Why state the time?">
            <a:extLst xmlns:a="http://schemas.openxmlformats.org/drawingml/2006/main">
              <a:ext uri="{FF2B5EF4-FFF2-40B4-BE49-F238E27FC236}">
                <a16:creationId xmlns:a16="http://schemas.microsoft.com/office/drawing/2014/main" id="{5B9D3BAC-0AEE-453F-A2F6-3CFEB509E5D5}"/>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E3. Why state the time?</a:t>
            </a:r>
          </a:p>
        </p:txBody>
      </p:sp>
    </p:spTree>
    <p:extLst>
      <p:ext uri="{BB962C8B-B14F-4D97-AF65-F5344CB8AC3E}">
        <p14:creationId xmlns:p14="http://schemas.microsoft.com/office/powerpoint/2010/main" val="15407036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2026-09-08T22:38:12.2850000Z</dcterms:created>
  <dcterms:modified xsi:type="dcterms:W3CDTF">2026-09-08T22:38:12.2850000Z</dcterms:modified>
</coreProperties>
</file>