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5dc99e79d34b63" /><Relationship Type="http://schemas.openxmlformats.org/officeDocument/2006/relationships/extended-properties" Target="/docProps/app.xml" Id="R7cb6f4ce65954688" /><Relationship Type="http://schemas.openxmlformats.org/officeDocument/2006/relationships/officeDocument" Target="/ppt/presentation.xml" Id="R38a30178bb8743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8b4f9f20d14b1e"/>
  </p:sldMasterIdLst>
  <p:notesMasterIdLst>
    <p:notesMasterId xmlns:r="http://schemas.openxmlformats.org/officeDocument/2006/relationships" r:id="Rda564ea7d26b49de"/>
  </p:notesMasterIdLst>
  <p:sldIdLst>
    <p:sldId xmlns:r="http://schemas.openxmlformats.org/officeDocument/2006/relationships" id="256" r:id="Rfa8501e07db14c33"/>
    <p:sldId xmlns:r="http://schemas.openxmlformats.org/officeDocument/2006/relationships" id="257" r:id="Rfa2b2b187cee40e4"/>
    <p:sldId xmlns:r="http://schemas.openxmlformats.org/officeDocument/2006/relationships" id="258" r:id="Rb6b59b443a7e4968"/>
    <p:sldId xmlns:r="http://schemas.openxmlformats.org/officeDocument/2006/relationships" id="259" r:id="R96737900bb3f4c3d"/>
    <p:sldId xmlns:r="http://schemas.openxmlformats.org/officeDocument/2006/relationships" id="260" r:id="R2c087dac079349c5"/>
    <p:sldId xmlns:r="http://schemas.openxmlformats.org/officeDocument/2006/relationships" id="261" r:id="R830e6ad3ac2f4db9"/>
    <p:sldId xmlns:r="http://schemas.openxmlformats.org/officeDocument/2006/relationships" id="262" r:id="Re1904314a7fe48df"/>
    <p:sldId xmlns:r="http://schemas.openxmlformats.org/officeDocument/2006/relationships" id="263" r:id="R9dc989f87fa14a8c"/>
    <p:sldId xmlns:r="http://schemas.openxmlformats.org/officeDocument/2006/relationships" id="264" r:id="R881dd483446d425d"/>
    <p:sldId xmlns:r="http://schemas.openxmlformats.org/officeDocument/2006/relationships" id="265" r:id="R65a5b313a4e24bf3"/>
    <p:sldId xmlns:r="http://schemas.openxmlformats.org/officeDocument/2006/relationships" id="266" r:id="Rb1cce717085d4863"/>
    <p:sldId xmlns:r="http://schemas.openxmlformats.org/officeDocument/2006/relationships" id="267" r:id="R741af2035fc545a1"/>
    <p:sldId xmlns:r="http://schemas.openxmlformats.org/officeDocument/2006/relationships" id="268" r:id="R23e50cf51bd54c9d"/>
    <p:sldId xmlns:r="http://schemas.openxmlformats.org/officeDocument/2006/relationships" id="269" r:id="R8532a585655f4792"/>
    <p:sldId xmlns:r="http://schemas.openxmlformats.org/officeDocument/2006/relationships" id="270" r:id="R8eca6558fe8f4e2c"/>
    <p:sldId xmlns:r="http://schemas.openxmlformats.org/officeDocument/2006/relationships" id="271" r:id="Rf6c061fdccb7400e"/>
    <p:sldId xmlns:r="http://schemas.openxmlformats.org/officeDocument/2006/relationships" id="272" r:id="R486b8f41195c46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67390ec1441c2" /><Relationship Type="http://schemas.openxmlformats.org/officeDocument/2006/relationships/slideMaster" Target="/ppt/slideMasters/slideMaster1.xml" Id="Rd78b4f9f20d14b1e" /><Relationship Type="http://schemas.openxmlformats.org/officeDocument/2006/relationships/notesMaster" Target="/ppt/notesMasters/notesMaster1.xml" Id="Rda564ea7d26b49de" /><Relationship Type="http://schemas.openxmlformats.org/officeDocument/2006/relationships/presProps" Target="/ppt/presProps.xml" Id="R184e7932a7e5480b" /><Relationship Type="http://schemas.openxmlformats.org/officeDocument/2006/relationships/tableStyles" Target="/ppt/tableStyles.xml" Id="R3e4d2270a2c64de8" /><Relationship Type="http://schemas.openxmlformats.org/officeDocument/2006/relationships/slide" Target="/ppt/slides/slide1.xml" Id="Rfa8501e07db14c33" /><Relationship Type="http://schemas.openxmlformats.org/officeDocument/2006/relationships/slide" Target="/ppt/slides/slide2.xml" Id="Rfa2b2b187cee40e4" /><Relationship Type="http://schemas.openxmlformats.org/officeDocument/2006/relationships/slide" Target="/ppt/slides/slide3.xml" Id="Rb6b59b443a7e4968" /><Relationship Type="http://schemas.openxmlformats.org/officeDocument/2006/relationships/slide" Target="/ppt/slides/slide4.xml" Id="R96737900bb3f4c3d" /><Relationship Type="http://schemas.openxmlformats.org/officeDocument/2006/relationships/slide" Target="/ppt/slides/slide5.xml" Id="R2c087dac079349c5" /><Relationship Type="http://schemas.openxmlformats.org/officeDocument/2006/relationships/slide" Target="/ppt/slides/slide6.xml" Id="R830e6ad3ac2f4db9" /><Relationship Type="http://schemas.openxmlformats.org/officeDocument/2006/relationships/slide" Target="/ppt/slides/slide7.xml" Id="Re1904314a7fe48df" /><Relationship Type="http://schemas.openxmlformats.org/officeDocument/2006/relationships/slide" Target="/ppt/slides/slide8.xml" Id="R9dc989f87fa14a8c" /><Relationship Type="http://schemas.openxmlformats.org/officeDocument/2006/relationships/slide" Target="/ppt/slides/slide9.xml" Id="R881dd483446d425d" /><Relationship Type="http://schemas.openxmlformats.org/officeDocument/2006/relationships/slide" Target="/ppt/slides/slide10.xml" Id="R65a5b313a4e24bf3" /><Relationship Type="http://schemas.openxmlformats.org/officeDocument/2006/relationships/slide" Target="/ppt/slides/slide11.xml" Id="Rb1cce717085d4863" /><Relationship Type="http://schemas.openxmlformats.org/officeDocument/2006/relationships/slide" Target="/ppt/slides/slide12.xml" Id="R741af2035fc545a1" /><Relationship Type="http://schemas.openxmlformats.org/officeDocument/2006/relationships/slide" Target="/ppt/slides/slide13.xml" Id="R23e50cf51bd54c9d" /><Relationship Type="http://schemas.openxmlformats.org/officeDocument/2006/relationships/slide" Target="/ppt/slides/slide14.xml" Id="R8532a585655f4792" /><Relationship Type="http://schemas.openxmlformats.org/officeDocument/2006/relationships/slide" Target="/ppt/slides/slide15.xml" Id="R8eca6558fe8f4e2c" /><Relationship Type="http://schemas.openxmlformats.org/officeDocument/2006/relationships/slide" Target="/ppt/slides/slide16.xml" Id="Rf6c061fdccb7400e" /><Relationship Type="http://schemas.openxmlformats.org/officeDocument/2006/relationships/slide" Target="/ppt/slides/slide17.xml" Id="R486b8f41195c46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2a8a394a78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a39dae23245da" /><Relationship Type="http://schemas.openxmlformats.org/officeDocument/2006/relationships/notesMaster" Target="/ppt/notesMasters/notesMaster1.xml" Id="R69e98ae9981146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c3383d1394e68" /><Relationship Type="http://schemas.openxmlformats.org/officeDocument/2006/relationships/notesMaster" Target="/ppt/notesMasters/notesMaster1.xml" Id="R96b12de0a42c4e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5749cb675e46f5" /><Relationship Type="http://schemas.openxmlformats.org/officeDocument/2006/relationships/notesMaster" Target="/ppt/notesMasters/notesMaster1.xml" Id="R46b9e49bfe0749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0e59a2d02a408e" /><Relationship Type="http://schemas.openxmlformats.org/officeDocument/2006/relationships/notesMaster" Target="/ppt/notesMasters/notesMaster1.xml" Id="R27f6171a6c1546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dd7a39bce34194" /><Relationship Type="http://schemas.openxmlformats.org/officeDocument/2006/relationships/notesMaster" Target="/ppt/notesMasters/notesMaster1.xml" Id="R2e19c827f55f41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e7afae16e4c5a" /><Relationship Type="http://schemas.openxmlformats.org/officeDocument/2006/relationships/notesMaster" Target="/ppt/notesMasters/notesMaster1.xml" Id="R1b87812ecaa447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ff2226c2a4cbf" /><Relationship Type="http://schemas.openxmlformats.org/officeDocument/2006/relationships/notesMaster" Target="/ppt/notesMasters/notesMaster1.xml" Id="Rb21a12967af045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ec93597e948d7" /><Relationship Type="http://schemas.openxmlformats.org/officeDocument/2006/relationships/notesMaster" Target="/ppt/notesMasters/notesMaster1.xml" Id="R18a209bdf1fa43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8074c09d934350" /><Relationship Type="http://schemas.openxmlformats.org/officeDocument/2006/relationships/notesMaster" Target="/ppt/notesMasters/notesMaster1.xml" Id="R3b19b6ed9cef4c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a9e3806f50428b" /><Relationship Type="http://schemas.openxmlformats.org/officeDocument/2006/relationships/notesMaster" Target="/ppt/notesMasters/notesMaster1.xml" Id="Rc7f4ddf6d7b64f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2450fba2ca41fc" /><Relationship Type="http://schemas.openxmlformats.org/officeDocument/2006/relationships/notesMaster" Target="/ppt/notesMasters/notesMaster1.xml" Id="Raf36339313164d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7555f99294452c" /><Relationship Type="http://schemas.openxmlformats.org/officeDocument/2006/relationships/notesMaster" Target="/ppt/notesMasters/notesMaster1.xml" Id="R3122f92641fc4e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989514e78a4b8e" /><Relationship Type="http://schemas.openxmlformats.org/officeDocument/2006/relationships/notesMaster" Target="/ppt/notesMasters/notesMaster1.xml" Id="Refb73d68547c4b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8bc7d2b2fb4e31" /><Relationship Type="http://schemas.openxmlformats.org/officeDocument/2006/relationships/notesMaster" Target="/ppt/notesMasters/notesMaster1.xml" Id="Rbaca1e19f4a749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ed6d2f61324004" /><Relationship Type="http://schemas.openxmlformats.org/officeDocument/2006/relationships/notesMaster" Target="/ppt/notesMasters/notesMaster1.xml" Id="R4863e937a99d43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3cc18db9bc4ef3" /><Relationship Type="http://schemas.openxmlformats.org/officeDocument/2006/relationships/notesMaster" Target="/ppt/notesMasters/notesMaster1.xml" Id="Rb9f66bb18e7347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1255fd93b143ca" /><Relationship Type="http://schemas.openxmlformats.org/officeDocument/2006/relationships/notesMaster" Target="/ppt/notesMasters/notesMaster1.xml" Id="R7d562a8de2c549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9B · Do</a:t>
            </a:r>
          </a:p>
          <a:p xmlns:a="http://schemas.openxmlformats.org/drawingml/2006/main">
            <a:r>
              <a:t>Learning objective: I can apply a clear rock-grouping rule, check a mystery specimen and defend the placement with evidence.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ask one observable yes-or-no question.</a:t>
            </a:r>
          </a:p>
          <a:p xmlns:a="http://schemas.openxmlformats.org/drawingml/2006/main">
            <a:r>
              <a:t>I can apply the same meaning to every specimen.</a:t>
            </a:r>
          </a:p>
          <a:p xmlns:a="http://schemas.openxmlformats.org/drawingml/2006/main">
            <a:r>
              <a:t>I can place the mystery using the same evidence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9B · Do</a:t>
            </a:r>
          </a:p>
          <a:p xmlns:a="http://schemas.openxmlformats.org/drawingml/2006/main">
            <a:r>
              <a:t>Learning objective: I can apply a clear rock-grouping rule, check a mystery specimen and defend the placement with evidence.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ask one observable yes-or-no question.</a:t>
            </a:r>
          </a:p>
          <a:p xmlns:a="http://schemas.openxmlformats.org/drawingml/2006/main">
            <a:r>
              <a:t>I can apply the same meaning to every specimen.</a:t>
            </a:r>
          </a:p>
          <a:p xmlns:a="http://schemas.openxmlformats.org/drawingml/2006/main">
            <a:r>
              <a:t>I can place the mystery using the same evidence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W9A: observe before naming.</a:t>
            </a:r>
          </a:p>
          <a:p xmlns:a="http://schemas.openxmlformats.org/drawingml/2006/main">
            <a:r>
              <a:t>W9A: a property is a feature we can observe or test.</a:t>
            </a:r>
          </a:p>
          <a:p xmlns:a="http://schemas.openxmlformats.org/drawingml/2006/main">
            <a:r>
              <a:t>W9A: different clear rules can produce different valid groups.</a:t>
            </a:r>
          </a:p>
          <a:p xmlns:a="http://schemas.openxmlformats.org/drawingml/2006/main">
            <a:r>
              <a:t>Lead-in: a useful key keeps its question unchanged for every specimen.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Name two properties observed in W9A.</a:t>
            </a:r>
          </a:p>
          <a:p xmlns:a="http://schemas.openxmlformats.org/drawingml/2006/main">
            <a:r>
              <a:t>Compare Code A and Code E using one feature.</a:t>
            </a:r>
          </a:p>
          <a:p xmlns:a="http://schemas.openxmlformats.org/drawingml/2006/main">
            <a:r>
              <a:t>State one valid grouping rule from W9A.</a:t>
            </a:r>
          </a:p>
          <a:p xmlns:a="http://schemas.openxmlformats.org/drawingml/2006/main">
            <a:r>
              <a:t>Lead-in: turn that rule into one yes-or-no question.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RULE · are visible bands or flat sheets present?</a:t>
            </a:r>
          </a:p>
          <a:p xmlns:a="http://schemas.openxmlformats.org/drawingml/2006/main">
            <a:r>
              <a:t>The rule is a yes-or-no question you can answer by looking.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REFERENCE SET · A to F</a:t>
            </a:r>
          </a:p>
          <a:p xmlns:a="http://schemas.openxmlformats.org/drawingml/2006/main">
            <a:r>
              <a:t>Every rock gets the same question. No rock gets a special rule.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MYSTERY T · does it fit?</a:t>
            </a:r>
          </a:p>
          <a:p xmlns:a="http://schemas.openxmlformats.org/drawingml/2006/main">
            <a:r>
              <a:t>Do not move the line for the mystery. Ask the same question. Accept the answer.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Change the rule only for the mystery so the guess works.</a:t>
            </a:r>
          </a:p>
          <a:p xmlns:a="http://schemas.openxmlformats.org/drawingml/2006/main">
            <a:r>
              <a:t>Apply the same stated question to the mystery and accept the evidence-led group.</a:t>
            </a:r>
          </a:p>
          <a:p xmlns:a="http://schemas.openxmlformats.org/drawingml/2006/main">
            <a:r>
              <a:t>Hide the mystery because it makes the display harder.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RULE · are visible bands or flat sheets present?</a:t>
            </a:r>
          </a:p>
          <a:p xmlns:a="http://schemas.openxmlformats.org/drawingml/2006/main">
            <a:r>
              <a:t>The rule is a yes-or-no question you can answer by looking.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REFERENCE SET · A to F</a:t>
            </a:r>
          </a:p>
          <a:p xmlns:a="http://schemas.openxmlformats.org/drawingml/2006/main">
            <a:r>
              <a:t>Every rock gets the same question. No rock gets a special rule.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MYSTERY T · does it fit?</a:t>
            </a:r>
          </a:p>
          <a:p xmlns:a="http://schemas.openxmlformats.org/drawingml/2006/main">
            <a:r>
              <a:t>Do not move the line for the mystery. Ask the same question. Accept the answer.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Change the rule only for the mystery so the guess works.</a:t>
            </a:r>
          </a:p>
          <a:p xmlns:a="http://schemas.openxmlformats.org/drawingml/2006/main">
            <a:r>
              <a:t>Apply the same stated question to the mystery and accept the evidence-led group.</a:t>
            </a:r>
          </a:p>
          <a:p xmlns:a="http://schemas.openxmlformats.org/drawingml/2006/main">
            <a:r>
              <a:t>Hide the mystery because it makes the display harder.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RULE · are visible bands or flat sheets present?</a:t>
            </a:r>
          </a:p>
          <a:p xmlns:a="http://schemas.openxmlformats.org/drawingml/2006/main">
            <a:r>
              <a:t>The rule is a yes-or-no question you can answer by looking.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REFERENCE SET · A to F</a:t>
            </a:r>
          </a:p>
          <a:p xmlns:a="http://schemas.openxmlformats.org/drawingml/2006/main">
            <a:r>
              <a:t>Every rock gets the same question. No rock gets a special rule.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MYSTERY T · does it fit?</a:t>
            </a:r>
          </a:p>
          <a:p xmlns:a="http://schemas.openxmlformats.org/drawingml/2006/main">
            <a:r>
              <a:t>Do not move the line for the mystery. Ask the same question. Accept the answer.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Change the rule only for the mystery so the guess works.</a:t>
            </a:r>
          </a:p>
          <a:p xmlns:a="http://schemas.openxmlformats.org/drawingml/2006/main">
            <a:r>
              <a:t>Apply the same stated question to the mystery and accept the evidence-led group.</a:t>
            </a:r>
          </a:p>
          <a:p xmlns:a="http://schemas.openxmlformats.org/drawingml/2006/main">
            <a:r>
              <a:t>Hide the mystery because it makes the display harder.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CRITERION the feature that decides the stated property used as the boundary between groups</a:t>
            </a:r>
          </a:p>
          <a:p xmlns:a="http://schemas.openxmlformats.org/drawingml/2006/main">
            <a:r>
              <a:t>CONSISTENT same meaning every time apply the criterion in the same way to every specimen</a:t>
            </a:r>
          </a:p>
          <a:p xmlns:a="http://schemas.openxmlformats.org/drawingml/2006/main">
            <a:r>
              <a:t>KEY questions that sort a sequence or set of choices used to classify or identify using observable features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yes/no mats and visible criterion make consistency easy to check and make any moved boundary obvious.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Write one question that another person can answer by observing: ‘Are visible bands or clear flat planes present?’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Create YES and NO mats. Keep the question and its meaning visible between them.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each reference code in order. Say the evidence before placing the card.</a:t>
            </a:r>
          </a:p>
          <a:p xmlns:a="http://schemas.openxmlformats.org/drawingml/2006/main">
            <a:r>
              <a:t>Sorting key · one rule, two mats</a:t>
            </a:r>
          </a:p>
          <a:p xmlns:a="http://schemas.openxmlformats.org/drawingml/2006/main">
            <a:r>
              <a:t>The rule: Are visible bands or flat sheets present?</a:t>
            </a:r>
          </a:p>
          <a:p xmlns:a="http://schemas.openxmlformats.org/drawingml/2006/main">
            <a:r>
              <a:t>1 · Press a code. 2 · Look. 3 · Press YES or NO. The mystery appears when A to F are done.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B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E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Mystery T</a:t>
            </a:r>
          </a:p>
          <a:p xmlns:a="http://schemas.openxmlformats.org/drawingml/2006/main">
            <a:r>
              <a:t>YES mat</a:t>
            </a:r>
          </a:p>
          <a:p xmlns:a="http://schemas.openxmlformats.org/drawingml/2006/main">
            <a:r>
              <a:t>NO mat</a:t>
            </a:r>
          </a:p>
          <a:p xmlns:a="http://schemas.openxmlformats.org/drawingml/2006/main">
            <a:r>
              <a:t>YES mat: — · NO mat: —</a:t>
            </a:r>
          </a:p>
          <a:p xmlns:a="http://schemas.openxmlformats.org/drawingml/2006/main">
            <a:r>
              <a:t>Press a code to start.</a:t>
            </a:r>
          </a:p>
          <a:p xmlns:a="http://schemas.openxmlformats.org/drawingml/2006/main">
            <a:r>
              <a:t>New rule: holes?</a:t>
            </a:r>
          </a:p>
          <a:p xmlns:a="http://schemas.openxmlformats.org/drawingml/2006/main">
            <a:r>
              <a:t>New rule: big crystals?</a:t>
            </a:r>
          </a:p>
          <a:p xmlns:a="http://schemas.openxmlformats.org/drawingml/2006/main">
            <a:r>
              <a:t>↺ Back to bands/sheets</a:t>
            </a:r>
          </a:p>
          <a:p xmlns:a="http://schemas.openxmlformats.org/drawingml/2006/main">
            <a:r>
              <a:t>Same rocks, new rule, new groups. The rocks did not change. The question did.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CRITERION the feature that decides the stated property used as the boundary between groups</a:t>
            </a:r>
          </a:p>
          <a:p xmlns:a="http://schemas.openxmlformats.org/drawingml/2006/main">
            <a:r>
              <a:t>CONSISTENT same meaning every time apply the criterion in the same way to every specimen</a:t>
            </a:r>
          </a:p>
          <a:p xmlns:a="http://schemas.openxmlformats.org/drawingml/2006/main">
            <a:r>
              <a:t>KEY questions that sort a sequence or set of choices used to classify or identify using observable features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yes/no mats and visible criterion make consistency easy to check and make any moved boundary obvious.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Write one question that another person can answer by observing: ‘Are visible bands or clear flat planes present?’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Create YES and NO mats. Keep the question and its meaning visible between them.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Check each reference code in order. Say the evidence before placing the card.</a:t>
            </a:r>
          </a:p>
          <a:p xmlns:a="http://schemas.openxmlformats.org/drawingml/2006/main">
            <a:r>
              <a:t>Sorting key · one rule, two mats</a:t>
            </a:r>
          </a:p>
          <a:p xmlns:a="http://schemas.openxmlformats.org/drawingml/2006/main">
            <a:r>
              <a:t>The rule: Are visible bands or flat sheets present?</a:t>
            </a:r>
          </a:p>
          <a:p xmlns:a="http://schemas.openxmlformats.org/drawingml/2006/main">
            <a:r>
              <a:t>1 · Press a code. 2 · Look. 3 · Press YES or NO. The mystery appears when A to F are done.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B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E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Mystery T</a:t>
            </a:r>
          </a:p>
          <a:p xmlns:a="http://schemas.openxmlformats.org/drawingml/2006/main">
            <a:r>
              <a:t>YES mat</a:t>
            </a:r>
          </a:p>
          <a:p xmlns:a="http://schemas.openxmlformats.org/drawingml/2006/main">
            <a:r>
              <a:t>NO mat</a:t>
            </a:r>
          </a:p>
          <a:p xmlns:a="http://schemas.openxmlformats.org/drawingml/2006/main">
            <a:r>
              <a:t>YES mat: — · NO mat: —</a:t>
            </a:r>
          </a:p>
          <a:p xmlns:a="http://schemas.openxmlformats.org/drawingml/2006/main">
            <a:r>
              <a:t>Press a code to start.</a:t>
            </a:r>
          </a:p>
          <a:p xmlns:a="http://schemas.openxmlformats.org/drawingml/2006/main">
            <a:r>
              <a:t>New rule: holes?</a:t>
            </a:r>
          </a:p>
          <a:p xmlns:a="http://schemas.openxmlformats.org/drawingml/2006/main">
            <a:r>
              <a:t>New rule: big crystals?</a:t>
            </a:r>
          </a:p>
          <a:p xmlns:a="http://schemas.openxmlformats.org/drawingml/2006/main">
            <a:r>
              <a:t>↺ Back to bands/sheets</a:t>
            </a:r>
          </a:p>
          <a:p xmlns:a="http://schemas.openxmlformats.org/drawingml/2006/main">
            <a:r>
              <a:t>Same rocks, new rule, new groups. The rocks did not change. The question did.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YES, because faint visible bands still meet the stated rule.</a:t>
            </a:r>
          </a:p>
          <a:p xmlns:a="http://schemas.openxmlformats.org/drawingml/2006/main">
            <a:r>
              <a:t>NO, because only very dark bands count today.</a:t>
            </a:r>
          </a:p>
          <a:p xmlns:a="http://schemas.openxmlformats.org/drawingml/2006/main">
            <a:r>
              <a:t>Move the boundary after seeing Code C so either answer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Reveal Mystery T only after the reference set is placed. Apply the unchanged question and quote the mystery evidence.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Then choose a different observable question, clear both groups and regroup every specimen from the start.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Say what changed: the rocks stayed the same; the criterion changed, so the groups changed.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yes/no mats and visible criterion make consistency easy to check and make any moved boundary obvious.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Reveal Mystery T only after the reference set is placed. Apply the unchanged question and quote the mystery evidence.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Then choose a different observable question, clear both groups and regroup every specimen from the start.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Say what changed: the rocks stayed the same; the criterion changed, so the groups changed.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yes/no mats and visible criterion make consistency easy to check and make any moved boundary obvious.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Apply this fixed question to every card: Are visible bands or clear flat sheet-like planes present?</a:t>
            </a:r>
          </a:p>
          <a:p xmlns:a="http://schemas.openxmlformats.org/drawingml/2006/main">
            <a:r>
              <a:t>Read the fixed criterion. Choose a coded specimen. Say the visible evidence. Commit to YES or NO. Place Mystery T last.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Code A Speckled crystals; no visible bands or flat sheet-like planes.</a:t>
            </a:r>
          </a:p>
          <a:p xmlns:a="http://schemas.openxmlformats.org/drawingml/2006/main">
            <a:r>
              <a:t>Code B Fine dark surface; no visible bands or flat sheet-like planes.</a:t>
            </a:r>
          </a:p>
          <a:p xmlns:a="http://schemas.openxmlformats.org/drawingml/2006/main">
            <a:r>
              <a:t>Code C Many sand-sized grains and faint but visible bands.</a:t>
            </a:r>
          </a:p>
          <a:p xmlns:a="http://schemas.openxmlformats.org/drawingml/2006/main">
            <a:r>
              <a:t>Code D Mostly fine-looking surface; no visible bands or flat planes.</a:t>
            </a:r>
          </a:p>
          <a:p xmlns:a="http://schemas.openxmlformats.org/drawingml/2006/main">
            <a:r>
              <a:t>Code E Clear flat, sheet-like planes are visible.</a:t>
            </a:r>
          </a:p>
          <a:p xmlns:a="http://schemas.openxmlformats.org/drawingml/2006/main">
            <a:r>
              <a:t>Code F Many large holes; no visible bands or flat planes.</a:t>
            </a:r>
          </a:p>
          <a:p xmlns:a="http://schemas.openxmlformats.org/drawingml/2006/main">
            <a:r>
              <a:t>Mystery T Brown-grey surface with visible bands and no large holes.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YES · BANDS / FLAT PLANES PRESENT</a:t>
            </a:r>
          </a:p>
          <a:p xmlns:a="http://schemas.openxmlformats.org/drawingml/2006/main">
            <a:r>
              <a:t>NO · NOT VISIBLE IN THIS VIEW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Key glitch: rocks placed in different groups can never be grouped together later.</a:t>
            </a:r>
          </a:p>
          <a:p xmlns:a="http://schemas.openxmlformats.org/drawingml/2006/main">
            <a:r>
              <a:t>Keep it: the first grouping is permanent.</a:t>
            </a:r>
          </a:p>
          <a:p xmlns:a="http://schemas.openxmlformats.org/drawingml/2006/main">
            <a:r>
              <a:t>Repair it: change to another clear property and regroup every specimen consistently.</a:t>
            </a:r>
          </a:p>
          <a:p xmlns:a="http://schemas.openxmlformats.org/drawingml/2006/main">
            <a:r>
              <a:t>Repair it: move each rock without saying a new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Apply this fixed question to every card: Are visible bands or clear flat sheet-like planes present?</a:t>
            </a:r>
          </a:p>
          <a:p xmlns:a="http://schemas.openxmlformats.org/drawingml/2006/main">
            <a:r>
              <a:t>Read the fixed criterion. Choose a coded specimen. Say the visible evidence. Commit to YES or NO. Place Mystery T last.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Code A Speckled crystals; no visible bands or flat sheet-like planes.</a:t>
            </a:r>
          </a:p>
          <a:p xmlns:a="http://schemas.openxmlformats.org/drawingml/2006/main">
            <a:r>
              <a:t>Code B Fine dark surface; no visible bands or flat sheet-like planes.</a:t>
            </a:r>
          </a:p>
          <a:p xmlns:a="http://schemas.openxmlformats.org/drawingml/2006/main">
            <a:r>
              <a:t>Code C Many sand-sized grains and faint but visible bands.</a:t>
            </a:r>
          </a:p>
          <a:p xmlns:a="http://schemas.openxmlformats.org/drawingml/2006/main">
            <a:r>
              <a:t>Code D Mostly fine-looking surface; no visible bands or flat planes.</a:t>
            </a:r>
          </a:p>
          <a:p xmlns:a="http://schemas.openxmlformats.org/drawingml/2006/main">
            <a:r>
              <a:t>Code E Clear flat, sheet-like planes are visible.</a:t>
            </a:r>
          </a:p>
          <a:p xmlns:a="http://schemas.openxmlformats.org/drawingml/2006/main">
            <a:r>
              <a:t>Code F Many large holes; no visible bands or flat planes.</a:t>
            </a:r>
          </a:p>
          <a:p xmlns:a="http://schemas.openxmlformats.org/drawingml/2006/main">
            <a:r>
              <a:t>Mystery T Brown-grey surface with visible bands and no large holes.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YES · BANDS / FLAT PLANES PRESENT</a:t>
            </a:r>
          </a:p>
          <a:p xmlns:a="http://schemas.openxmlformats.org/drawingml/2006/main">
            <a:r>
              <a:t>NO · NOT VISIBLE IN THIS VIEW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Key glitch: rocks placed in different groups can never be grouped together later.</a:t>
            </a:r>
          </a:p>
          <a:p xmlns:a="http://schemas.openxmlformats.org/drawingml/2006/main">
            <a:r>
              <a:t>Keep it: the first grouping is permanent.</a:t>
            </a:r>
          </a:p>
          <a:p xmlns:a="http://schemas.openxmlformats.org/drawingml/2006/main">
            <a:r>
              <a:t>Repair it: change to another clear property and regroup every specimen consistently.</a:t>
            </a:r>
          </a:p>
          <a:p xmlns:a="http://schemas.openxmlformats.org/drawingml/2006/main">
            <a:r>
              <a:t>Repair it: move each rock without saying a new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Apply this fixed question to every card: Are visible bands or clear flat sheet-like planes present?</a:t>
            </a:r>
          </a:p>
          <a:p xmlns:a="http://schemas.openxmlformats.org/drawingml/2006/main">
            <a:r>
              <a:t>Read the fixed criterion. Choose a coded specimen. Say the visible evidence. Commit to YES or NO. Place Mystery T last.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Code A Speckled crystals; no visible bands or flat sheet-like planes.</a:t>
            </a:r>
          </a:p>
          <a:p xmlns:a="http://schemas.openxmlformats.org/drawingml/2006/main">
            <a:r>
              <a:t>Code B Fine dark surface; no visible bands or flat sheet-like planes.</a:t>
            </a:r>
          </a:p>
          <a:p xmlns:a="http://schemas.openxmlformats.org/drawingml/2006/main">
            <a:r>
              <a:t>Code C Many sand-sized grains and faint but visible bands.</a:t>
            </a:r>
          </a:p>
          <a:p xmlns:a="http://schemas.openxmlformats.org/drawingml/2006/main">
            <a:r>
              <a:t>Code D Mostly fine-looking surface; no visible bands or flat planes.</a:t>
            </a:r>
          </a:p>
          <a:p xmlns:a="http://schemas.openxmlformats.org/drawingml/2006/main">
            <a:r>
              <a:t>Code E Clear flat, sheet-like planes are visible.</a:t>
            </a:r>
          </a:p>
          <a:p xmlns:a="http://schemas.openxmlformats.org/drawingml/2006/main">
            <a:r>
              <a:t>Code F Many large holes; no visible bands or flat planes.</a:t>
            </a:r>
          </a:p>
          <a:p xmlns:a="http://schemas.openxmlformats.org/drawingml/2006/main">
            <a:r>
              <a:t>Mystery T Brown-grey surface with visible bands and no large holes.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YES · BANDS / FLAT PLANES PRESENT</a:t>
            </a:r>
          </a:p>
          <a:p xmlns:a="http://schemas.openxmlformats.org/drawingml/2006/main">
            <a:r>
              <a:t>NO · NOT VISIBLE IN THIS VIEW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Key glitch: rocks placed in different groups can never be grouped together later.</a:t>
            </a:r>
          </a:p>
          <a:p xmlns:a="http://schemas.openxmlformats.org/drawingml/2006/main">
            <a:r>
              <a:t>Keep it: the first grouping is permanent.</a:t>
            </a:r>
          </a:p>
          <a:p xmlns:a="http://schemas.openxmlformats.org/drawingml/2006/main">
            <a:r>
              <a:t>Repair it: change to another clear property and regroup every specimen consistently.</a:t>
            </a:r>
          </a:p>
          <a:p xmlns:a="http://schemas.openxmlformats.org/drawingml/2006/main">
            <a:r>
              <a:t>Repair it: move each rock without saying a new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Coded rock specimens or macro cards from W9A; yes/no mats; criterion cards for crystals, grains, bands/planes and holes; Mystery T; Sorting Key Case Card.</a:t>
            </a:r>
          </a:p>
          <a:p xmlns:a="http://schemas.openxmlformats.org/drawingml/2006/main">
            <a:r>
              <a:t>Same outcome: I can apply a clear rock-grouping rule, check a mystery specimen and defend the placement with evidence.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fixed-criterion key, then record the mystery placement and a second possible criterion.</a:t>
            </a:r>
          </a:p>
          <a:p xmlns:a="http://schemas.openxmlformats.org/drawingml/2006/main">
            <a:r>
              <a:t>Same evidence: A Sorting Key Case Card with one exact question, all reference placements, defended Mystery T placement and one complete regrouping rule.</a:t>
            </a:r>
          </a:p>
          <a:p xmlns:a="http://schemas.openxmlformats.org/drawingml/2006/main">
            <a:r>
              <a:t>Equipment / setup Coded rock specimens or macro cards from W9A; yes/no mats; criterion cards for crystals, grains, bands/planes and holes; Mystery T; Sorting Key Case Card.</a:t>
            </a:r>
          </a:p>
          <a:p xmlns:a="http://schemas.openxmlformats.org/drawingml/2006/main">
            <a:r>
              <a:t>Safety / sensory Keep pre-screened samples on trays. This is observation and card grouping only: no scratch, water, drop or break tests. A no-touch macro-card route is equivalent.</a:t>
            </a:r>
          </a:p>
          <a:p xmlns:a="http://schemas.openxmlformats.org/drawingml/2006/main">
            <a:r>
              <a:t>Offline parity Use the in-page fixed-criterion key, then record the mystery placement and a second possible criterion.</a:t>
            </a:r>
          </a:p>
          <a:p xmlns:a="http://schemas.openxmlformats.org/drawingml/2006/main">
            <a:r>
              <a:t>No-equipment/access route: Point or say/sign while an adult moves cards. The pupil owns the criterion and every placement decision.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or choose one yes/no criterion, classify all references, place Mystery T and regroup with a second rule.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My criterion is __. Code __ goes in YES/NO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Coded rock specimens or macro cards from W9A; yes/no mats; criterion cards for crystals, grains, bands/planes and holes; Mystery T; Sorting Key Case Card.</a:t>
            </a:r>
          </a:p>
          <a:p xmlns:a="http://schemas.openxmlformats.org/drawingml/2006/main">
            <a:r>
              <a:t>Same outcome: I can apply a clear rock-grouping rule, check a mystery specimen and defend the placement with evidence.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fixed-criterion key, then record the mystery placement and a second possible criterion.</a:t>
            </a:r>
          </a:p>
          <a:p xmlns:a="http://schemas.openxmlformats.org/drawingml/2006/main">
            <a:r>
              <a:t>Same evidence: A Sorting Key Case Card with one exact question, all reference placements, defended Mystery T placement and one complete regrouping rule.</a:t>
            </a:r>
          </a:p>
          <a:p xmlns:a="http://schemas.openxmlformats.org/drawingml/2006/main">
            <a:r>
              <a:t>Equipment / setup Coded rock specimens or macro cards from W9A; yes/no mats; criterion cards for crystals, grains, bands/planes and holes; Mystery T; Sorting Key Case Card.</a:t>
            </a:r>
          </a:p>
          <a:p xmlns:a="http://schemas.openxmlformats.org/drawingml/2006/main">
            <a:r>
              <a:t>Safety / sensory Keep pre-screened samples on trays. This is observation and card grouping only: no scratch, water, drop or break tests. A no-touch macro-card route is equivalent.</a:t>
            </a:r>
          </a:p>
          <a:p xmlns:a="http://schemas.openxmlformats.org/drawingml/2006/main">
            <a:r>
              <a:t>Offline parity Use the in-page fixed-criterion key, then record the mystery placement and a second possible criterion.</a:t>
            </a:r>
          </a:p>
          <a:p xmlns:a="http://schemas.openxmlformats.org/drawingml/2006/main">
            <a:r>
              <a:t>No-equipment/access route: Point or say/sign while an adult moves cards. The pupil owns the criterion and every placement decision.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or choose one yes/no criterion, classify all references, place Mystery T and regroup with a second rule.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My criterion is __. Code __ goes in YES/NO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SCI_B_W9B_Rock_Sorting_Key_Do-1.html.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two-way appearance key only classifies specimens under its chosen rule. It cannot identify an unknown rock from one image or reveal hidden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Defend Mystery T's placement and explain what changed when the criterion changed.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SCI_B_W9B_Rock_Sorting_Key_Do-1.html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19122dd0441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ca07228e04e8f" /><Relationship Type="http://schemas.openxmlformats.org/officeDocument/2006/relationships/slideLayout" Target="/ppt/slideLayouts/slideLayout1.xml" Id="Rd756eaf7d45d4c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56eaf7d45d4c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127f21afe4c5c" /><Relationship Type="http://schemas.openxmlformats.org/officeDocument/2006/relationships/hyperlink" Target="SCI_B_W9B_Rock_Sorting_Key_Do-1.html" TargetMode="External" Id="Re5e5ce47c3e44df2" /><Relationship Type="http://schemas.openxmlformats.org/officeDocument/2006/relationships/notesSlide" Target="/ppt/notesSlides/notesSlide1.xml" Id="R054eb9315328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44dc4113b49bb" /><Relationship Type="http://schemas.openxmlformats.org/officeDocument/2006/relationships/notesSlide" Target="/ppt/notesSlides/notesSlide2.xml" Id="Rd84cb62a1c3349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7398306374b37" /><Relationship Type="http://schemas.openxmlformats.org/officeDocument/2006/relationships/notesSlide" Target="/ppt/notesSlides/notesSlide3.xml" Id="Rd103456a007849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88ed8d3b54636" /><Relationship Type="http://schemas.openxmlformats.org/officeDocument/2006/relationships/notesSlide" Target="/ppt/notesSlides/notesSlide4.xml" Id="R9d356612acf54a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5d66420f646e6" /><Relationship Type="http://schemas.openxmlformats.org/officeDocument/2006/relationships/notesSlide" Target="/ppt/notesSlides/notesSlide5.xml" Id="R3d6053f4d74c4a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2789b860740cb" /><Relationship Type="http://schemas.openxmlformats.org/officeDocument/2006/relationships/image" Target="/ppt/media/image.png" Id="Rd17d68a2f83e4840" /><Relationship Type="http://schemas.openxmlformats.org/officeDocument/2006/relationships/image" Target="/ppt/media/image2.png" Id="R76a5b98092184fb7" /><Relationship Type="http://schemas.openxmlformats.org/officeDocument/2006/relationships/image" Target="/ppt/media/image3.png" Id="R8d1062bdaa944920" /><Relationship Type="http://schemas.openxmlformats.org/officeDocument/2006/relationships/notesSlide" Target="/ppt/notesSlides/notesSlide6.xml" Id="Rff25e1786f694e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d78c8b44340cd" /><Relationship Type="http://schemas.openxmlformats.org/officeDocument/2006/relationships/notesSlide" Target="/ppt/notesSlides/notesSlide7.xml" Id="R6b95e527793b42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69a75b3d84ac1" /><Relationship Type="http://schemas.openxmlformats.org/officeDocument/2006/relationships/notesSlide" Target="/ppt/notesSlides/notesSlide8.xml" Id="R229f0a54489842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f4afe5eb4489c" /><Relationship Type="http://schemas.openxmlformats.org/officeDocument/2006/relationships/notesSlide" Target="/ppt/notesSlides/notesSlide9.xml" Id="Rfd5c9112a68345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3ebabd24449f7" /><Relationship Type="http://schemas.openxmlformats.org/officeDocument/2006/relationships/notesSlide" Target="/ppt/notesSlides/notesSlide10.xml" Id="R4c8c840ab12348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24c4bca954926" /><Relationship Type="http://schemas.openxmlformats.org/officeDocument/2006/relationships/notesSlide" Target="/ppt/notesSlides/notesSlide11.xml" Id="R6d9e50eac3354a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0572a7e72467c" /><Relationship Type="http://schemas.openxmlformats.org/officeDocument/2006/relationships/notesSlide" Target="/ppt/notesSlides/notesSlide12.xml" Id="R19dc947ec88847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c69c45e2b4fcf" /><Relationship Type="http://schemas.openxmlformats.org/officeDocument/2006/relationships/notesSlide" Target="/ppt/notesSlides/notesSlide13.xml" Id="R2c67b261da784d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887285523449b" /><Relationship Type="http://schemas.openxmlformats.org/officeDocument/2006/relationships/notesSlide" Target="/ppt/notesSlides/notesSlide14.xml" Id="R67bc0ddc252c4e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074b1e4c34e06" /><Relationship Type="http://schemas.openxmlformats.org/officeDocument/2006/relationships/notesSlide" Target="/ppt/notesSlides/notesSlide15.xml" Id="R5b1c298269b346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5170d0e3a4262" /><Relationship Type="http://schemas.openxmlformats.org/officeDocument/2006/relationships/notesSlide" Target="/ppt/notesSlides/notesSlide16.xml" Id="Rd4239a2b25044a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e57e3bc9f407e" /><Relationship Type="http://schemas.openxmlformats.org/officeDocument/2006/relationships/notesSlide" Target="/ppt/notesSlides/notesSlide17.xml" Id="R2545681ddd8a46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41223F81-9764-4CBD-9A7F-010927B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2988F47-05CC-41C4-A04C-04F5FBFF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5FA02FF-4433-49C7-8A50-0665D05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72C785-AED3-492A-B8F4-92D87CB4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a Rock Sorting Key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E6C78C2-0F69-4C85-B2C3-AF6BFDE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169F2064-9413-4C59-AFE0-8640BF20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apply a clear rock-grouping rule, check a mystery specimen and defend the placement with evidence.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8B4CF27F-8F0E-4E89-8FB2-928A1D41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EA025581-7B25-4305-A785-6E797EC8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462416FA-4FAC-4781-99BE-8850FFCC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the rule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8525DDC2-660E-4D9C-905E-8ABDFC5C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2C1ECD5F-46D7-43E0-AE8B-E34960BF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7A42ADC0-AE41-4BBF-962C-5518FB40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stay consistent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82D7011A-D871-40C5-801D-48F8D1AC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721F23FF-49A4-4F38-AC5A-659E4437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DEFEND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86260337-8B12-4B0A-9809-893FBB1E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C26A29F7-ADCD-403F-9111-9CDFB882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e5e5ce47c3e44df2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595EE186-FC60-4B3E-98B4-E8EC1CD6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B478F04C-33D4-4F50-AB26-59EE336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463394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4418B1D-8049-496F-B9D0-F44A8FB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89DB9DD-2D74-475C-A4B6-10F2500E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A4EF75A-DDFF-4275-8610-60872E1E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71EF00-A6BB-42EF-9710-92D8518F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F669F5C-17F7-4989-B29B-63C719A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198AA51-60B3-4FCF-8229-7C7E809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ask one observable yes-or-no question.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D333BBD-CC75-46E7-97C3-EE350678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apply the same meaning to every specimen.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5AF8A58-B4A2-4498-AE85-9C8DFC60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place the mystery using the same evidence rule.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FCD9FCF-A580-434D-8EA0-79C5E7B3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5FB07D8-29BC-42AC-BC8A-2358A43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318697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9102B65-A67D-4183-9DF6-7E666991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891B1A2-8A8E-4471-808D-8823237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CA1F86F-6E76-4718-9B7E-577EC60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7DF5CC-7178-42B6-B27C-BC8B237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148E240-392D-459C-8F23-363BF0E1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FF5A087-E76F-419D-9DCA-DDB5DF2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two properties observed in W9A.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DA3A66D-5BAF-46B8-BA09-C6A9419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Code A and Code E using one feature.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A89FF84-FA83-4DE0-9CFB-BDBC330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valid grouping rule from W9A.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EA2C43F-5325-4A32-8985-AE455C40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turn that rule into one yes-or-no question.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E57C3D8-76CE-4733-AA79-2231C6BE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B5B60F7-9836-4A84-B2F0-D8D7C4D0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138767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A39C733-E737-4C51-BFC1-62EB726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8BC1AF4-B3A2-4530-B24C-2B6893FD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45CD174-1442-4BA7-9C04-74CA28A5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EA3238-6FEA-4521-B0C7-1A35694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mystery specimen does not fit the group you expected. What should happen first?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CFC99A5-415F-4429-8DAB-A946EE33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A642887-362B-48E4-A3C8-5F969CF3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C797F63-F8C5-40E9-BB95-14E2D40E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Change the rule only for the mystery so the guess works.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C6C86B5-F2F0-4328-9F3A-C4242581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Apply the same stated question to the mystery and accept the evidence-led group.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B375B37-435C-4338-BB40-B6E42CEB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Hide the mystery because it makes the display harder.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202FA2D-47B4-4910-B16C-870804B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EE6D323-3E03-4885-A467-37945C29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8569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C4D860A-FCF8-4B94-B9BF-D9A6FC6E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5F3BF2C-4BAC-4CA5-B9C8-30B3B33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D3189ED-A717-482A-9C62-D537DAD4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FDB37B-4EEB-427F-B6B8-9DB311C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2F6959F-C412-43FC-99D6-668347A1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BA1AB93-39D0-49A2-B6E5-8F003133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RULE · Are visible bands or clear flat sheet-like planes present?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27929E1-6FF6-456C-9DA8-99569FF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REFERENCE SET · apply the exact same question to Codes A–F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2E40EA1-F802-4ACB-B540-13AAC26C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MYSTERY T · visible bands; no large crystals or large holes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421B864-A624-4457-9D93-34AA3BD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CD199B0-C306-4B69-AB2A-5D58BAC2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885618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B662DEB5-14BA-4856-AA86-660529D6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4E2AD57-5246-49FF-857B-4B56857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B4079F-CD24-4C21-A61C-8FFE520A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A5873E-D9CA-421B-93C8-9520E016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8DBE955-FD97-4C1A-84F7-3E04B27D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d68a2f83e4840"/>
          <a:stretch xmlns:a="http://schemas.openxmlformats.org/drawingml/2006/main"/>
        </p:blipFill>
        <p:spPr>
          <a:xfrm xmlns:a="http://schemas.openxmlformats.org/drawingml/2006/main">
            <a:off x="8001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D2A527C-DD41-4496-95EF-78DF9656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Two mats, YES and NO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5b98092184fb7"/>
          <a:stretch xmlns:a="http://schemas.openxmlformats.org/drawingml/2006/main"/>
        </p:blipFill>
        <p:spPr>
          <a:xfrm xmlns:a="http://schemas.openxmlformats.org/drawingml/2006/main">
            <a:off x="44069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F0C05858-9CB0-440A-B314-6132020F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Six coded rocks in a row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062bdaa944920"/>
          <a:stretch xmlns:a="http://schemas.openxmlformats.org/drawingml/2006/main"/>
        </p:blipFill>
        <p:spPr>
          <a:xfrm xmlns:a="http://schemas.openxmlformats.org/drawingml/2006/main">
            <a:off x="80137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07316485-F9D2-4B34-9D4A-CC36471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mystery rock T with bands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B42C2974-8B78-427A-AA71-A2330A89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9810B3C-9148-4E8B-ADEF-78C90387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416439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7FEF1F2-9325-40A5-919A-F5B3E107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FA30E5F-4836-4A3A-9D10-7D51AF9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210FAA0-D8A0-4218-8505-88FC1DB9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6D71E8-3B74-4743-B76A-C2BE5C3C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231AD34-8393-4556-A884-5ABA0C81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EF6B28D-E7C7-4075-8F6B-91B14C73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criterion — the feature that decides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F374249-1DD1-4B06-A90F-922C3BB4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consistent — same meaning every time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9C92A64-64C8-4594-8326-1C3B922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key — questions that sort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332120B-5D72-4F19-BC93-6711E78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8A54C85-FFF9-49B0-BB99-2011B701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97888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E3A70F2-8706-4453-B5D9-A3F14E5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6D8F9DA-A873-4A5A-B1C4-50B1777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8BAD8A3-DD54-4647-AFEE-8AE3090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1BCA1E-C43E-4009-B9BF-0C227EF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B4311DA-EEF6-40D2-9777-38C7EC5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948DA71-8927-455F-A4BE-C5F54D17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Write one question that another person can answer by observing: ‘Are visible bands or clear flat planes present?’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D629383-6C84-4938-8CFD-8F86ADD5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Create YES and NO mats. Keep the question and its meaning visible between them.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4879F7F-7440-4220-94A5-B3EBC216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each reference code in order. Say the evidence before placing the card.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85945D1-02D4-480C-8C9A-F53A079F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4AE970A-7B79-40B4-80FA-63CA0269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824472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BFECCD5-908F-4463-93EF-148A16EA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F8DD4E6-1095-46C1-A8DE-03DF2001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218A2FB-69DC-4421-A5CF-0C24E660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14F2F4-EFF6-4AE7-BFEF-6DE5033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 C has faint visible bands. Your rule asks, ‘Are visible bands present?’ Where should it go?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35D1498-E173-477E-B2DF-4746C93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5007855-323E-456C-9C66-4D5F8514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YES, because faint visible bands still meet the stated rule.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1F84123-7708-493A-AC65-1E1F742D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NO, because only very dark bands count today.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3A5523A-B5FF-48DB-B711-EEC429D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Move the boundary after seeing Code C so either answer works.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DCEEA95-9330-427E-B342-72D6714F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3CC84D8-27AF-4D7D-8023-FBA2E7D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E7B3626-63F3-4251-8713-C4107BFF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580174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C0C5326B-FA11-444B-B40E-C8DECE69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E091749-2A20-4748-BE50-A74AEE12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7D2874-DA56-4A2D-B49D-19DD546D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6324AB-3876-4343-854F-1FA79B4E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062CBB6-5E7F-4055-9062-4E90A9CD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92F8AE6-A42B-48BA-9FB2-8E50F984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Reveal Mystery T only after the reference set is placed. Apply the unchanged question and quote the mystery evidence.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6CC15F0-ED59-4539-A999-1D467E8E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Then choose a different observable question, clear both groups and regroup every specimen from the start.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5CECBC0-0AA9-4811-B959-C33CE8E8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Say what changed: the rocks stayed the same; the criterion changed, so the groups changed.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30844CB-377E-4634-9AD7-1C27182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0DDFA88-6CC6-4C82-BB0E-AC83A35D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943558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10801D4-A122-48BE-A46F-7A83A5B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B72CAFC-5F21-4762-87F5-9872662E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507E92-CF91-4C5F-8E81-41173BC1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426EB9-3067-4537-9416-ADBC626C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44A186A-51A4-4669-97F2-66A1B924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D76692D-5E90-4CBE-A19B-FCBEE17F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Key glitch: rocks placed in different groups can never be grouped together later.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A0DE1A6-E6DC-4074-B650-05969F2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the first grouping is permanent.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D52D9FA-429D-4889-8383-8689E4F3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change to another clear property and regroup every specimen consistently.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4F35C60-1DCC-46CE-AA46-616BD7A4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move each rock without saying a new rule.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0534F6D-9114-499B-8629-4D19676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37AA0DE-E241-4A66-B1E3-9D37230D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69817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938064BD-E2E4-4B19-B19A-0F2EB58E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90F30FD-9EAC-4F4E-8A94-D7B45EE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EA561B4-FA4B-47E4-8599-EA115E71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0E572A-6ACF-46D2-9802-16BC90E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Bands-or-Planes Sorting Key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7CB42EA-99F8-4943-B416-33B7ACA8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52F952E-79D9-494F-AA42-399C4C98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Apply this fixed question to every card: Are visible bands or clear flat sheet-like planes present?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3201D6D-3BA9-4A15-B8F0-5F767A8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fixed criterion.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2FCCEA6-F1D1-4098-9303-E8F3A02F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a coded specimen.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D1EF958-18BE-477F-9314-71E02498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Say the visible evidence.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FD40657-8E92-4D67-853D-0FA535E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to YES or NO.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573BEA5-B8B3-48DB-9909-928AF86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Mystery T last.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E52FBA11-5A5B-452F-B238-BD855DE7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38B6301-AD52-49ED-BB5D-22A78B1A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152969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33C39B18-A14E-4F99-85EB-B412E4BF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18BC6B3-10AA-44B2-9CB1-75A4194C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87E6261-635B-41A8-87FE-0ADA7C4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982DFC-CE05-48AB-AD3A-2705ED08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Bands-or-Planes Sorting Key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C0398DE-4CF2-4B67-8301-E1E79E6E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816F236-343B-4D0A-8CD3-045DDC86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712D4F03-8FD7-4775-BC6C-7A0480C4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E7731F4-6E6C-4227-8311-764CE04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3918122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6BF1960-FAD7-4C0B-82B5-DC0B4493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DA5A31C-A1C0-4C68-B919-D8B7977C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1B550DD-A98B-48E0-B464-6F15815D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48DCFC-46E2-45D1-A3CD-5F901E0E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1F81C57-143C-4972-BACB-3B927ACB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6159460-0743-40B2-91B3-D3FD85F1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YES · BANDS / FLAT PLANES PRESENT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A941DBA-276E-40B3-837C-9BC824E9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NO · NOT VISIBLE IN THIS VIEW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C8C6E4C-D315-478E-946D-CF3F74F6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Defend Mystery T's placement. Then name another observable rule that would regroup every specimen.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6803CA5-22F8-49C5-80D2-3349CEA1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BF7461A-C6B2-4650-B79A-F5B0169A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0053626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185692D-B921-4AAE-8CF2-456DC35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BBC86E4-98D9-4C8C-B242-7BE3E75B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90873E2-B65B-4F89-B919-E27F2E12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983D38-F05D-4AA8-8045-0A9002C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5F22F2F-EBC6-445B-A7DA-50917E3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DC9F536-CD66-4818-8950-5E2636C0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Create and operate one yes/no sorting key for the coded rock set, place Mystery T and then show how a second rule changes the groups.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707F7D3-3652-404B-8358-410B879D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Sorting Key Case Card with one exact question, all reference placements, defended Mystery T placement and one complete regrouping rule.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322A263-DADB-4BCB-85F5-DC94993F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804DDF1-FECC-4597-949D-BA229CC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0099929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035241A-83C6-44B1-9BF4-14543548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857504E-941D-4AE9-B113-D22A076E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EEDA421-5516-4211-A611-6CC61EA3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224671-A704-4ECA-83E4-D33B0433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96D7B24-DB8E-4497-B510-E9C6197B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8D6095C-9775-43D7-AE57-54749304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Use one prepared yes/no question, place four reference cards and Mystery T, then say one evidence word for each.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E12E121-3756-48E2-A807-A7C28853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Write or choose one yes/no criterion, classify all references, place Mystery T and regroup with a second rule.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6CA977F-675F-405C-939D-4F18670C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two different keys for the same set and explain which is more useful for a stated display purpose.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25F36B8-256C-4F9C-84D8-FF9ECFF9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61915FA-5E6B-47BA-B127-18CB984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443446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84FD689-080D-4D19-9CBB-460E758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1CB89AE-4212-443B-8FBB-BD2D1AD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456E96E-E7E0-4DEE-984D-8D3C78C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9DDAD5-C3D9-4617-BA28-1E3AC031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6729C5D-48E2-470C-B1E1-B69C2B51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79968A3-35E4-4A34-AFD0-99D31D8D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Defend Mystery T's placement and explain what changed when the criterion changed.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4F63E42-D0BD-4D56-9259-ACDBDA7B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18ABF9C-7DF7-447B-8D6A-73EA4AD0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AD39433-BAC8-410C-A255-828D99C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384789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2026-09-08T08:54:26.6950000Z</dcterms:created>
  <dcterms:modified xsi:type="dcterms:W3CDTF">2026-09-08T08:54:26.6950000Z</dcterms:modified>
</coreProperties>
</file>