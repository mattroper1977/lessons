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c9c8eddb294d84" /><Relationship Type="http://schemas.openxmlformats.org/officeDocument/2006/relationships/extended-properties" Target="/docProps/app.xml" Id="R2ac4eff98cd1468b" /><Relationship Type="http://schemas.openxmlformats.org/officeDocument/2006/relationships/officeDocument" Target="/ppt/presentation.xml" Id="R1708f8d4fdce42c7" /></Relationships>
</file>

<file path=ppt/presentation.xml><?xml version="1.0" encoding="utf-8"?>
<p:presentation xmlns:p="http://schemas.openxmlformats.org/presentationml/2006/main">
  <p:sldMasterIdLst>
    <p:sldMasterId xmlns:r="http://schemas.openxmlformats.org/officeDocument/2006/relationships" id="2147483648" r:id="R4db38c5efeae4912"/>
  </p:sldMasterIdLst>
  <p:notesMasterIdLst>
    <p:notesMasterId xmlns:r="http://schemas.openxmlformats.org/officeDocument/2006/relationships" r:id="Re1133f0cc6ed4891"/>
  </p:notesMasterIdLst>
  <p:sldIdLst>
    <p:sldId xmlns:r="http://schemas.openxmlformats.org/officeDocument/2006/relationships" id="256" r:id="R59929bccbee6492c"/>
    <p:sldId xmlns:r="http://schemas.openxmlformats.org/officeDocument/2006/relationships" id="257" r:id="R9a7d5412e58d4dee"/>
    <p:sldId xmlns:r="http://schemas.openxmlformats.org/officeDocument/2006/relationships" id="258" r:id="Re28707f752a844c1"/>
    <p:sldId xmlns:r="http://schemas.openxmlformats.org/officeDocument/2006/relationships" id="259" r:id="R72d4c452cd0e4f9d"/>
    <p:sldId xmlns:r="http://schemas.openxmlformats.org/officeDocument/2006/relationships" id="260" r:id="R255370e5fca34acf"/>
    <p:sldId xmlns:r="http://schemas.openxmlformats.org/officeDocument/2006/relationships" id="261" r:id="R4ef3b2f6521b4a07"/>
    <p:sldId xmlns:r="http://schemas.openxmlformats.org/officeDocument/2006/relationships" id="262" r:id="R704ae112a4524691"/>
    <p:sldId xmlns:r="http://schemas.openxmlformats.org/officeDocument/2006/relationships" id="263" r:id="R7ebd2148bdb34f4b"/>
    <p:sldId xmlns:r="http://schemas.openxmlformats.org/officeDocument/2006/relationships" id="264" r:id="Ra90bdf70a5c846ef"/>
    <p:sldId xmlns:r="http://schemas.openxmlformats.org/officeDocument/2006/relationships" id="265" r:id="R5c4e9993587846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e0aeabe52943e6" /><Relationship Type="http://schemas.openxmlformats.org/officeDocument/2006/relationships/slideMaster" Target="/ppt/slideMasters/slideMaster1.xml" Id="R4db38c5efeae4912" /><Relationship Type="http://schemas.openxmlformats.org/officeDocument/2006/relationships/notesMaster" Target="/ppt/notesMasters/notesMaster1.xml" Id="Re1133f0cc6ed4891" /><Relationship Type="http://schemas.openxmlformats.org/officeDocument/2006/relationships/presProps" Target="/ppt/presProps.xml" Id="Ra7377da5a39e45c4" /><Relationship Type="http://schemas.openxmlformats.org/officeDocument/2006/relationships/tableStyles" Target="/ppt/tableStyles.xml" Id="Rbc33ac7a800d49f5" /><Relationship Type="http://schemas.openxmlformats.org/officeDocument/2006/relationships/slide" Target="/ppt/slides/slide1.xml" Id="R59929bccbee6492c" /><Relationship Type="http://schemas.openxmlformats.org/officeDocument/2006/relationships/slide" Target="/ppt/slides/slide2.xml" Id="R9a7d5412e58d4dee" /><Relationship Type="http://schemas.openxmlformats.org/officeDocument/2006/relationships/slide" Target="/ppt/slides/slide3.xml" Id="Re28707f752a844c1" /><Relationship Type="http://schemas.openxmlformats.org/officeDocument/2006/relationships/slide" Target="/ppt/slides/slide4.xml" Id="R72d4c452cd0e4f9d" /><Relationship Type="http://schemas.openxmlformats.org/officeDocument/2006/relationships/slide" Target="/ppt/slides/slide5.xml" Id="R255370e5fca34acf" /><Relationship Type="http://schemas.openxmlformats.org/officeDocument/2006/relationships/slide" Target="/ppt/slides/slide6.xml" Id="R4ef3b2f6521b4a07" /><Relationship Type="http://schemas.openxmlformats.org/officeDocument/2006/relationships/slide" Target="/ppt/slides/slide7.xml" Id="R704ae112a4524691" /><Relationship Type="http://schemas.openxmlformats.org/officeDocument/2006/relationships/slide" Target="/ppt/slides/slide8.xml" Id="R7ebd2148bdb34f4b" /><Relationship Type="http://schemas.openxmlformats.org/officeDocument/2006/relationships/slide" Target="/ppt/slides/slide9.xml" Id="Ra90bdf70a5c846ef" /><Relationship Type="http://schemas.openxmlformats.org/officeDocument/2006/relationships/slide" Target="/ppt/slides/slide10.xml" Id="R5c4e9993587846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2a03b41ae546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cd3dacd6994bd0" /><Relationship Type="http://schemas.openxmlformats.org/officeDocument/2006/relationships/notesMaster" Target="/ppt/notesMasters/notesMaster1.xml" Id="R1ba0b3cd5c4447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05848865a94658" /><Relationship Type="http://schemas.openxmlformats.org/officeDocument/2006/relationships/notesMaster" Target="/ppt/notesMasters/notesMaster1.xml" Id="Red8a0caeef0b4b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6e4021891a48bf" /><Relationship Type="http://schemas.openxmlformats.org/officeDocument/2006/relationships/notesMaster" Target="/ppt/notesMasters/notesMaster1.xml" Id="R5c1dcef25ab74f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3508bb2cc94b6d" /><Relationship Type="http://schemas.openxmlformats.org/officeDocument/2006/relationships/notesMaster" Target="/ppt/notesMasters/notesMaster1.xml" Id="Re40f96693d144a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1801923b804308" /><Relationship Type="http://schemas.openxmlformats.org/officeDocument/2006/relationships/notesMaster" Target="/ppt/notesMasters/notesMaster1.xml" Id="R1c7bd761f2094c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efd3ae1c554801" /><Relationship Type="http://schemas.openxmlformats.org/officeDocument/2006/relationships/notesMaster" Target="/ppt/notesMasters/notesMaster1.xml" Id="Rb105fc1a007d49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ae64704c17452a" /><Relationship Type="http://schemas.openxmlformats.org/officeDocument/2006/relationships/notesMaster" Target="/ppt/notesMasters/notesMaster1.xml" Id="Rad4521190f5947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93c256a36c40af" /><Relationship Type="http://schemas.openxmlformats.org/officeDocument/2006/relationships/notesMaster" Target="/ppt/notesMasters/notesMaster1.xml" Id="Rdab3e012217d47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e25fdda4a24949" /><Relationship Type="http://schemas.openxmlformats.org/officeDocument/2006/relationships/notesMaster" Target="/ppt/notesMasters/notesMaster1.xml" Id="R0abec87edea24d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87ae6729ad45ce" /><Relationship Type="http://schemas.openxmlformats.org/officeDocument/2006/relationships/notesMaster" Target="/ppt/notesMasters/notesMaster1.xml" Id="R29f754d802654d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Workshop reference — 0 minutes within the source's 40-minute lesson.</a:t>
            </a:r>
          </a:p>
          <a:p xmlns:a="http://schemas.openxmlformats.org/drawingml/2006/main">
            <a:r>
              <a:t>Wednesday P2, 10:10-10:50. Reference screen only; start the 32-minute workshop immediately. No additional starter or lesson time.</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https://github.com/MattRoper1977/Lessons/blob/main/Science_Teesside/Build/SCI_B_W5_Right_Nutrition.html</a:t>
            </a:r>
          </a:p>
          <a:p xmlns:a="http://schemas.openxmlformats.org/drawingml/2006/main">
            <a:r>
              <a:t>Git blob: 21014244de9f92bea3c1e10e53d0ce8592ea43ce.</a:t>
            </a:r>
          </a:p>
          <a:p xmlns:a="http://schemas.openxmlformats.org/drawingml/2006/main">
            <a:r>
              <a:t>SHA256: 1d06ba869b18be8328cf4723cc91b46298a63c494f95e92aa9563f23b15161d3.</a:t>
            </a:r>
          </a:p>
          <a:p xmlns:a="http://schemas.openxmlformats.org/drawingml/2006/main">
            <a:r>
              <a:t>User-supplied logo: approved-logo.jpg (unchanged attachment bytes).</a:t>
            </a:r>
          </a:p>
          <a:p xmlns:a="http://schemas.openxmlformats.org/drawingml/2006/main">
            <a:r>
              <a:t>White Rose Education, Year 3 Autumn Block 3 (2024): Nutrition and diet, steps 1 Food groups, 2 Understand the five food groups and 5 Animal diets. Concepts inform original card tasks; source photographs and printables are not redistributed.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retrieve — 4 minutes within the source's 40-minute lesson.</a:t>
            </a:r>
          </a:p>
          <a:p xmlns:a="http://schemas.openxmlformats.org/drawingml/2006/main">
            <a:r>
              <a:t>Four-minute preparation. Six revisit foods: bread, potato, beans, lentils, carrot, apple; water card. Adult can read or cut. No real food, personal meal reporting or portion calculations.</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https://github.com/MattRoper1977/Lessons/blob/main/Science_Teesside/Build/SCI_B_W5_Right_Nutrition.html</a:t>
            </a:r>
          </a:p>
          <a:p xmlns:a="http://schemas.openxmlformats.org/drawingml/2006/main">
            <a:r>
              <a:t>Git blob: 21014244de9f92bea3c1e10e53d0ce8592ea43ce.</a:t>
            </a:r>
          </a:p>
          <a:p xmlns:a="http://schemas.openxmlformats.org/drawingml/2006/main">
            <a:r>
              <a:t>SHA256: 1d06ba869b18be8328cf4723cc91b46298a63c494f95e92aa9563f23b15161d3.</a:t>
            </a:r>
          </a:p>
          <a:p xmlns:a="http://schemas.openxmlformats.org/drawingml/2006/main">
            <a:r>
              <a:t>User-supplied logo: approved-logo.jpg (unchanged attachment bytes).</a:t>
            </a:r>
          </a:p>
          <a:p xmlns:a="http://schemas.openxmlformats.org/drawingml/2006/main">
            <a:r>
              <a:t>White Rose Education, Year 3 Autumn Block 3 (2024): Nutrition and diet, steps 1 Food groups, 2 Understand the five food groups and 5 Animal diets. Concepts inform original card tasks; source photographs and printables are not redistributed.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First five minutes of source 20-minute investigation. Bread provides starchy carbohydrate and other nutrients; water has transport/temperature roles but no food energy. The fictional model is limited in range. Do not call a child’s lunch bad; discuss only this constructed case.</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https://github.com/MattRoper1977/Lessons/blob/main/Science_Teesside/Build/SCI_B_W5_Right_Nutrition.html</a:t>
            </a:r>
          </a:p>
          <a:p xmlns:a="http://schemas.openxmlformats.org/drawingml/2006/main">
            <a:r>
              <a:t>Git blob: 21014244de9f92bea3c1e10e53d0ce8592ea43ce.</a:t>
            </a:r>
          </a:p>
          <a:p xmlns:a="http://schemas.openxmlformats.org/drawingml/2006/main">
            <a:r>
              <a:t>SHA256: 1d06ba869b18be8328cf4723cc91b46298a63c494f95e92aa9563f23b15161d3.</a:t>
            </a:r>
          </a:p>
          <a:p xmlns:a="http://schemas.openxmlformats.org/drawingml/2006/main">
            <a:r>
              <a:t>User-supplied logo: approved-logo.jpg (unchanged attachment bytes).</a:t>
            </a:r>
          </a:p>
          <a:p xmlns:a="http://schemas.openxmlformats.org/drawingml/2006/main">
            <a:r>
              <a:t>White Rose Education, Year 3 Autumn Block 3 (2024): Nutrition and diet, steps 1 Food groups, 2 Understand the five food groups and 5 Animal diets. Concepts inform original card tasks; source photographs and printables are not redistributed.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Next five minutes. Example add beans/lentils for protein growth/repair and carrot/apple for vitamins/minerals/fibre. Multiple valid sets; no prescribed personal meal plan or exact portions. A food may supply several nutrients.</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https://github.com/MattRoper1977/Lessons/blob/main/Science_Teesside/Build/SCI_B_W5_Right_Nutrition.html</a:t>
            </a:r>
          </a:p>
          <a:p xmlns:a="http://schemas.openxmlformats.org/drawingml/2006/main">
            <a:r>
              <a:t>Git blob: 21014244de9f92bea3c1e10e53d0ce8592ea43ce.</a:t>
            </a:r>
          </a:p>
          <a:p xmlns:a="http://schemas.openxmlformats.org/drawingml/2006/main">
            <a:r>
              <a:t>SHA256: 1d06ba869b18be8328cf4723cc91b46298a63c494f95e92aa9563f23b15161d3.</a:t>
            </a:r>
          </a:p>
          <a:p xmlns:a="http://schemas.openxmlformats.org/drawingml/2006/main">
            <a:r>
              <a:t>User-supplied logo: approved-logo.jpg (unchanged attachment bytes).</a:t>
            </a:r>
          </a:p>
          <a:p xmlns:a="http://schemas.openxmlformats.org/drawingml/2006/main">
            <a:r>
              <a:t>White Rose Education, Year 3 Autumn Block 3 (2024): Nutrition and diet, steps 1 Food groups, 2 Understand the five food groups and 5 Animal diets. Concepts inform original card tasks; source photographs and printables are not redistributed.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Next five minutes. Beans or lentils can replace the meat as a protein source in this simplified model. Rice and vegetables remain. No requirement to disclose beliefs, religion or diet; fictitious requirement suffices.</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https://github.com/MattRoper1977/Lessons/blob/main/Science_Teesside/Build/SCI_B_W5_Right_Nutrition.html</a:t>
            </a:r>
          </a:p>
          <a:p xmlns:a="http://schemas.openxmlformats.org/drawingml/2006/main">
            <a:r>
              <a:t>Git blob: 21014244de9f92bea3c1e10e53d0ce8592ea43ce.</a:t>
            </a:r>
          </a:p>
          <a:p xmlns:a="http://schemas.openxmlformats.org/drawingml/2006/main">
            <a:r>
              <a:t>SHA256: 1d06ba869b18be8328cf4723cc91b46298a63c494f95e92aa9563f23b15161d3.</a:t>
            </a:r>
          </a:p>
          <a:p xmlns:a="http://schemas.openxmlformats.org/drawingml/2006/main">
            <a:r>
              <a:t>User-supplied logo: approved-logo.jpg (unchanged attachment bytes).</a:t>
            </a:r>
          </a:p>
          <a:p xmlns:a="http://schemas.openxmlformats.org/drawingml/2006/main">
            <a:r>
              <a:t>White Rose Education, Year 3 Autumn Block 3 (2024): Nutrition and diet, steps 1 Food groups, 2 Understand the five food groups and 5 Animal diets. Concepts inform original card tasks; source photographs and printables are not redistributed.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investigate — 5 minutes within the source's 40-minute lesson.</a:t>
            </a:r>
          </a:p>
          <a:p xmlns:a="http://schemas.openxmlformats.org/drawingml/2006/main">
            <a:r>
              <a:t>Final five minutes of 20-minute phase. Both supply protein and additional nutrients. Pupils can point to information table or dictate. Do not claim exact nutritional equivalence per gram or that one model covers all bodily needs.</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https://github.com/MattRoper1977/Lessons/blob/main/Science_Teesside/Build/SCI_B_W5_Right_Nutrition.html</a:t>
            </a:r>
          </a:p>
          <a:p xmlns:a="http://schemas.openxmlformats.org/drawingml/2006/main">
            <a:r>
              <a:t>Git blob: 21014244de9f92bea3c1e10e53d0ce8592ea43ce.</a:t>
            </a:r>
          </a:p>
          <a:p xmlns:a="http://schemas.openxmlformats.org/drawingml/2006/main">
            <a:r>
              <a:t>SHA256: 1d06ba869b18be8328cf4723cc91b46298a63c494f95e92aa9563f23b15161d3.</a:t>
            </a:r>
          </a:p>
          <a:p xmlns:a="http://schemas.openxmlformats.org/drawingml/2006/main">
            <a:r>
              <a:t>User-supplied logo: approved-logo.jpg (unchanged attachment bytes).</a:t>
            </a:r>
          </a:p>
          <a:p xmlns:a="http://schemas.openxmlformats.org/drawingml/2006/main">
            <a:r>
              <a:t>White Rose Education, Year 3 Autumn Block 3 (2024): Nutrition and diet, steps 1 Food groups, 2 Understand the five food groups and 5 Animal diets. Concepts inform original card tasks; source photographs and printables are not redistributed.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check — 2 minutes within the source's 40-minute lesson.</a:t>
            </a:r>
          </a:p>
          <a:p xmlns:a="http://schemas.openxmlformats.org/drawingml/2006/main">
            <a:r>
              <a:t>Two-minute check within source workshop. Preference may be valid in life, but this task’s evidence must connect food and body function. Keep original choice even if reason needs revision.</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https://github.com/MattRoper1977/Lessons/blob/main/Science_Teesside/Build/SCI_B_W5_Right_Nutrition.html</a:t>
            </a:r>
          </a:p>
          <a:p xmlns:a="http://schemas.openxmlformats.org/drawingml/2006/main">
            <a:r>
              <a:t>Git blob: 21014244de9f92bea3c1e10e53d0ce8592ea43ce.</a:t>
            </a:r>
          </a:p>
          <a:p xmlns:a="http://schemas.openxmlformats.org/drawingml/2006/main">
            <a:r>
              <a:t>SHA256: 1d06ba869b18be8328cf4723cc91b46298a63c494f95e92aa9563f23b15161d3.</a:t>
            </a:r>
          </a:p>
          <a:p xmlns:a="http://schemas.openxmlformats.org/drawingml/2006/main">
            <a:r>
              <a:t>User-supplied logo: approved-logo.jpg (unchanged attachment bytes).</a:t>
            </a:r>
          </a:p>
          <a:p xmlns:a="http://schemas.openxmlformats.org/drawingml/2006/main">
            <a:r>
              <a:t>White Rose Education, Year 3 Autumn Block 3 (2024): Nutrition and diet, steps 1 Food groups, 2 Understand the five food groups and 5 Animal diets. Concepts inform original card tasks; source photographs and printables are not redistributed.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Work — improve — 6 minutes within the source's 40-minute lesson.</a:t>
            </a:r>
          </a:p>
          <a:p xmlns:a="http://schemas.openxmlformats.org/drawingml/2006/main">
            <a:r>
              <a:t>Source final six minutes includes revision and tidy. Example vague “healthy” becomes “lentils provide protein for growth and repair.” Pupil can dictate exact meaning. Retain both versions; no photographs/public sharing required.</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https://github.com/MattRoper1977/Lessons/blob/main/Science_Teesside/Build/SCI_B_W5_Right_Nutrition.html</a:t>
            </a:r>
          </a:p>
          <a:p xmlns:a="http://schemas.openxmlformats.org/drawingml/2006/main">
            <a:r>
              <a:t>Git blob: 21014244de9f92bea3c1e10e53d0ce8592ea43ce.</a:t>
            </a:r>
          </a:p>
          <a:p xmlns:a="http://schemas.openxmlformats.org/drawingml/2006/main">
            <a:r>
              <a:t>SHA256: 1d06ba869b18be8328cf4723cc91b46298a63c494f95e92aa9563f23b15161d3.</a:t>
            </a:r>
          </a:p>
          <a:p xmlns:a="http://schemas.openxmlformats.org/drawingml/2006/main">
            <a:r>
              <a:t>User-supplied logo: approved-logo.jpg (unchanged attachment bytes).</a:t>
            </a:r>
          </a:p>
          <a:p xmlns:a="http://schemas.openxmlformats.org/drawingml/2006/main">
            <a:r>
              <a:t>White Rose Education, Year 3 Autumn Block 3 (2024): Nutrition and diet, steps 1 Food groups, 2 Understand the five food groups and 5 Animal diets. Concepts inform original card tasks; source photographs and printables are not redistributed.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Lundy Loop — 4 minutes within the source's 40-minute lesson.</a:t>
            </a:r>
          </a:p>
          <a:p xmlns:a="http://schemas.openxmlformats.org/drawingml/2006/main">
            <a:r>
              <a:t>Four minutes within the source lesson. Receive an actual observation or access request; do not force a peer audience. Name what can change now, make the change where possible and check whether it helped. The adult receives and names back the science shown as well as access feedback.</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https://github.com/MattRoper1977/Lessons/blob/main/Science_Teesside/Build/SCI_B_W5_Right_Nutrition.html</a:t>
            </a:r>
          </a:p>
          <a:p xmlns:a="http://schemas.openxmlformats.org/drawingml/2006/main">
            <a:r>
              <a:t>Git blob: 21014244de9f92bea3c1e10e53d0ce8592ea43ce.</a:t>
            </a:r>
          </a:p>
          <a:p xmlns:a="http://schemas.openxmlformats.org/drawingml/2006/main">
            <a:r>
              <a:t>SHA256: 1d06ba869b18be8328cf4723cc91b46298a63c494f95e92aa9563f23b15161d3.</a:t>
            </a:r>
          </a:p>
          <a:p xmlns:a="http://schemas.openxmlformats.org/drawingml/2006/main">
            <a:r>
              <a:t>User-supplied logo: approved-logo.jpg (unchanged attachment bytes).</a:t>
            </a:r>
          </a:p>
          <a:p xmlns:a="http://schemas.openxmlformats.org/drawingml/2006/main">
            <a:r>
              <a:t>White Rose Education, Year 3 Autumn Block 3 (2024): Nutrition and diet, steps 1 Food groups, 2 Understand the five food groups and 5 Animal diets. Concepts inform original card tasks; source photographs and printables are not redistributed.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Exit Ticket — 4 minutes within the source's 40-minute lesson.</a:t>
            </a:r>
          </a:p>
          <a:p xmlns:a="http://schemas.openxmlformats.org/drawingml/2006/main">
            <a:r>
              <a:t>Answers in teacher notes: food gives energy and nutrients for growth/repair and body functions; variety supplies a wider range of nutrients; beans/lentils provide protein plus carbohydrate/fibre. Water essential but no food energy. Accept evidence-linked speech/sign/pointing and record support.</a:t>
            </a:r>
          </a:p>
          <a:p xmlns:a="http://schemas.openxmlformats.org/drawingml/2006/main">
            <a:r>
              <a:t/>
            </a:r>
          </a:p>
          <a:p xmlns:a="http://schemas.openxmlformats.org/drawingml/2006/main">
            <a:r>
              <a:t>[Sources]</a:t>
            </a:r>
          </a:p>
          <a:p xmlns:a="http://schemas.openxmlformats.org/drawingml/2006/main">
            <a:r>
              <a:t>https://github.com/MattRoper1977/Lessons/blob/main/Science_Teesside/Build/SCI_B_W5_Right_Nutrition.html</a:t>
            </a:r>
          </a:p>
          <a:p xmlns:a="http://schemas.openxmlformats.org/drawingml/2006/main">
            <a:r>
              <a:t>Git blob: 21014244de9f92bea3c1e10e53d0ce8592ea43ce.</a:t>
            </a:r>
          </a:p>
          <a:p xmlns:a="http://schemas.openxmlformats.org/drawingml/2006/main">
            <a:r>
              <a:t>SHA256: 1d06ba869b18be8328cf4723cc91b46298a63c494f95e92aa9563f23b15161d3.</a:t>
            </a:r>
          </a:p>
          <a:p xmlns:a="http://schemas.openxmlformats.org/drawingml/2006/main">
            <a:r>
              <a:t>User-supplied logo: approved-logo.jpg (unchanged attachment bytes).</a:t>
            </a:r>
          </a:p>
          <a:p xmlns:a="http://schemas.openxmlformats.org/drawingml/2006/main">
            <a:r>
              <a:t>White Rose Education, Year 3 Autumn Block 3 (2024): Nutrition and diet, steps 1 Food groups, 2 Understand the five food groups and 5 Animal diets. Concepts inform original card tasks; source photographs and printables are not redistributed.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adec60d99c4f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b7ead839ee45ad" /><Relationship Type="http://schemas.openxmlformats.org/officeDocument/2006/relationships/slideLayout" Target="/ppt/slideLayouts/slideLayout1.xml" Id="Rd31815a3a37c4b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1815a3a37c4b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db4d0cc554482c" /><Relationship Type="http://schemas.openxmlformats.org/officeDocument/2006/relationships/image" Target="/ppt/media/image.jpeg" Id="R355beeb4a1be4e78" /><Relationship Type="http://schemas.openxmlformats.org/officeDocument/2006/relationships/notesSlide" Target="/ppt/notesSlides/notesSlide1.xml" Id="R91c2363fb13343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7d9af690f64d70" /><Relationship Type="http://schemas.openxmlformats.org/officeDocument/2006/relationships/image" Target="/ppt/media/image.jpeg" Id="R52083ea2001d4f88" /><Relationship Type="http://schemas.openxmlformats.org/officeDocument/2006/relationships/notesSlide" Target="/ppt/notesSlides/notesSlide2.xml" Id="R871250b9bbf447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e96cc6ba9d4b3d" /><Relationship Type="http://schemas.openxmlformats.org/officeDocument/2006/relationships/image" Target="/ppt/media/image.jpeg" Id="R7de53365c5774fc6" /><Relationship Type="http://schemas.openxmlformats.org/officeDocument/2006/relationships/notesSlide" Target="/ppt/notesSlides/notesSlide3.xml" Id="R6b7e243f407a4e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6e6134c52140b8" /><Relationship Type="http://schemas.openxmlformats.org/officeDocument/2006/relationships/image" Target="/ppt/media/image.jpeg" Id="R2f16567737a54b7f" /><Relationship Type="http://schemas.openxmlformats.org/officeDocument/2006/relationships/notesSlide" Target="/ppt/notesSlides/notesSlide4.xml" Id="Rafb6b547d26c4f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1f9fb7bd0524f56" /><Relationship Type="http://schemas.openxmlformats.org/officeDocument/2006/relationships/image" Target="/ppt/media/image.jpeg" Id="Rb385f3e0a28a44ba" /><Relationship Type="http://schemas.openxmlformats.org/officeDocument/2006/relationships/notesSlide" Target="/ppt/notesSlides/notesSlide5.xml" Id="R5e44827688aa40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2318ed0d2a453f" /><Relationship Type="http://schemas.openxmlformats.org/officeDocument/2006/relationships/image" Target="/ppt/media/image.jpeg" Id="Recde10f9e0114d8a" /><Relationship Type="http://schemas.openxmlformats.org/officeDocument/2006/relationships/notesSlide" Target="/ppt/notesSlides/notesSlide6.xml" Id="Rdfbb00df6ab544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28f08f64d640d9" /><Relationship Type="http://schemas.openxmlformats.org/officeDocument/2006/relationships/image" Target="/ppt/media/image.jpeg" Id="Rd1dc4560e85f432a" /><Relationship Type="http://schemas.openxmlformats.org/officeDocument/2006/relationships/notesSlide" Target="/ppt/notesSlides/notesSlide7.xml" Id="R0cc7b979f7c940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7b448e2e12417b" /><Relationship Type="http://schemas.openxmlformats.org/officeDocument/2006/relationships/image" Target="/ppt/media/image.jpeg" Id="R505329778b4a4793" /><Relationship Type="http://schemas.openxmlformats.org/officeDocument/2006/relationships/notesSlide" Target="/ppt/notesSlides/notesSlide8.xml" Id="R95680c3e920642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cb7d812611546c3" /><Relationship Type="http://schemas.openxmlformats.org/officeDocument/2006/relationships/image" Target="/ppt/media/image.jpeg" Id="R30a3263163304f01" /><Relationship Type="http://schemas.openxmlformats.org/officeDocument/2006/relationships/notesSlide" Target="/ppt/notesSlides/notesSlide9.xml" Id="R499082d8fed14d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baf20bbdb148ca" /><Relationship Type="http://schemas.openxmlformats.org/officeDocument/2006/relationships/image" Target="/ppt/media/image.jpeg" Id="R9bc88569627544a3" /><Relationship Type="http://schemas.openxmlformats.org/officeDocument/2006/relationships/notesSlide" Target="/ppt/notesSlides/notesSlide10.xml" Id="R4627a5e7e0ee4b8a"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top-rule">
            <a:extLst xmlns:a="http://schemas.openxmlformats.org/drawingml/2006/main">
              <a:ext uri="{FF2B5EF4-FFF2-40B4-BE49-F238E27FC236}">
                <a16:creationId xmlns:a16="http://schemas.microsoft.com/office/drawing/2014/main" id="{F209E7AA-7A66-4045-96CC-2575DF704815}"/>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E0BE4CB3-0A45-4589-8567-6A2FB11ECA5F}"/>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55beeb4a1be4e7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DFED5C3F-4785-4FAA-9B9D-FD7549EDEAEC}"/>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Food-jobs evidence mission</a:t>
            </a:r>
          </a:p>
        </p:txBody>
      </p:sp>
      <p:sp>
        <p:nvSpPr>
          <p:cNvPr id="5" name="footer-line">
            <a:extLst xmlns:a="http://schemas.openxmlformats.org/drawingml/2006/main">
              <a:ext uri="{FF2B5EF4-FFF2-40B4-BE49-F238E27FC236}">
                <a16:creationId xmlns:a16="http://schemas.microsoft.com/office/drawing/2014/main" id="{FED49A8B-E9EE-494E-B8DB-0B4F64E452E4}"/>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87BC68E6-B8EE-4D4B-938D-719C81ED9CA8}"/>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5  ·  LESSON B</a:t>
            </a:r>
          </a:p>
        </p:txBody>
      </p:sp>
      <p:sp>
        <p:nvSpPr>
          <p:cNvPr id="7" name="page">
            <a:extLst xmlns:a="http://schemas.openxmlformats.org/drawingml/2006/main">
              <a:ext uri="{FF2B5EF4-FFF2-40B4-BE49-F238E27FC236}">
                <a16:creationId xmlns:a16="http://schemas.microsoft.com/office/drawing/2014/main" id="{F60043FD-BB60-4115-8554-888F9CB33847}"/>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01</a:t>
            </a:r>
          </a:p>
        </p:txBody>
      </p:sp>
      <p:sp>
        <p:nvSpPr>
          <p:cNvPr id="8" name="subtitle">
            <a:extLst xmlns:a="http://schemas.openxmlformats.org/drawingml/2006/main">
              <a:ext uri="{FF2B5EF4-FFF2-40B4-BE49-F238E27FC236}">
                <a16:creationId xmlns:a16="http://schemas.microsoft.com/office/drawing/2014/main" id="{386D2203-96B3-4141-B8BB-B1BC2F3231CD}"/>
              </a:ext>
            </a:extLst>
          </p:cNvPr>
          <p:cNvSpPr>
            <a:spLocks xmlns:a="http://schemas.openxmlformats.org/drawingml/2006/main" noGrp="1"/>
          </p:cNvSpPr>
          <p:nvPr/>
        </p:nvSpPr>
        <p:spPr>
          <a:xfrm xmlns:a="http://schemas.openxmlformats.org/drawingml/2006/main">
            <a:off x="609600" y="2809875"/>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900" b="1">
                <a:solidFill>
                  <a:srgbClr val="28685E"/>
                </a:solidFill>
              </a:defRPr>
            </a:pPr>
            <a:r>
              <a:rPr sz="3900" b="1">
                <a:solidFill>
                  <a:srgbClr val="28685E"/>
                </a:solidFill>
              </a:rPr>
              <a:t>Choose. Explain. Revise.</a:t>
            </a:r>
          </a:p>
        </p:txBody>
      </p:sp>
      <p:sp>
        <p:nvSpPr>
          <p:cNvPr id="9" name="body">
            <a:extLst xmlns:a="http://schemas.openxmlformats.org/drawingml/2006/main">
              <a:ext uri="{FF2B5EF4-FFF2-40B4-BE49-F238E27FC236}">
                <a16:creationId xmlns:a16="http://schemas.microsoft.com/office/drawing/2014/main" id="{4394E606-7B23-45E5-BC8A-707FEA1194CF}"/>
              </a:ext>
            </a:extLst>
          </p:cNvPr>
          <p:cNvSpPr>
            <a:spLocks xmlns:a="http://schemas.openxmlformats.org/drawingml/2006/main" noGrp="1"/>
          </p:cNvSpPr>
          <p:nvPr/>
        </p:nvSpPr>
        <p:spPr>
          <a:xfrm xmlns:a="http://schemas.openxmlformats.org/drawingml/2006/main">
            <a:off x="609600" y="4143375"/>
            <a:ext cx="10668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I can use food information to improve a fictional model.</a:t>
            </a:r>
          </a:p>
        </p:txBody>
      </p:sp>
    </p:spTree>
    <p:extLst>
      <p:ext uri="{BB962C8B-B14F-4D97-AF65-F5344CB8AC3E}">
        <p14:creationId xmlns:p14="http://schemas.microsoft.com/office/powerpoint/2010/main" val="593350286"/>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D6478683-1118-4EB4-B35D-2ED0107A96E0}"/>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F3276D8-6B73-45B1-982A-10D2E3D34ED0}"/>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2083ea2001d4f8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E87FAB21-B2D7-43F5-BC16-B92C5A7BE5C3}"/>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Retrieve the food-job cards</a:t>
            </a:r>
          </a:p>
        </p:txBody>
      </p:sp>
      <p:sp>
        <p:nvSpPr>
          <p:cNvPr id="5" name="footer-line">
            <a:extLst xmlns:a="http://schemas.openxmlformats.org/drawingml/2006/main">
              <a:ext uri="{FF2B5EF4-FFF2-40B4-BE49-F238E27FC236}">
                <a16:creationId xmlns:a16="http://schemas.microsoft.com/office/drawing/2014/main" id="{C7CB2EC2-2FF4-4711-8ECF-67526C9E179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7D54A30-7BE3-4089-BD01-94CE675F3F1B}"/>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5  ·  LESSON B</a:t>
            </a:r>
          </a:p>
        </p:txBody>
      </p:sp>
      <p:sp>
        <p:nvSpPr>
          <p:cNvPr id="7" name="page">
            <a:extLst xmlns:a="http://schemas.openxmlformats.org/drawingml/2006/main">
              <a:ext uri="{FF2B5EF4-FFF2-40B4-BE49-F238E27FC236}">
                <a16:creationId xmlns:a16="http://schemas.microsoft.com/office/drawing/2014/main" id="{981732EC-8688-47F8-A9D3-9EB4DDD46AA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02</a:t>
            </a:r>
          </a:p>
        </p:txBody>
      </p:sp>
      <p:sp>
        <p:nvSpPr>
          <p:cNvPr id="8" name="line-0">
            <a:extLst xmlns:a="http://schemas.openxmlformats.org/drawingml/2006/main">
              <a:ext uri="{FF2B5EF4-FFF2-40B4-BE49-F238E27FC236}">
                <a16:creationId xmlns:a16="http://schemas.microsoft.com/office/drawing/2014/main" id="{4A5A7344-D6B2-4565-9CCB-D6221AEA3A04}"/>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Find Monday’s food-job choices.</a:t>
            </a:r>
          </a:p>
        </p:txBody>
      </p:sp>
      <p:sp>
        <p:nvSpPr>
          <p:cNvPr id="9" name="line-1">
            <a:extLst xmlns:a="http://schemas.openxmlformats.org/drawingml/2006/main">
              <a:ext uri="{FF2B5EF4-FFF2-40B4-BE49-F238E27FC236}">
                <a16:creationId xmlns:a16="http://schemas.microsoft.com/office/drawing/2014/main" id="{4E40E81D-EDD8-4243-80E8-567B02E8703B}"/>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Use the information table as evidence.</a:t>
            </a:r>
          </a:p>
        </p:txBody>
      </p:sp>
      <p:sp>
        <p:nvSpPr>
          <p:cNvPr id="10" name="line-2">
            <a:extLst xmlns:a="http://schemas.openxmlformats.org/drawingml/2006/main">
              <a:ext uri="{FF2B5EF4-FFF2-40B4-BE49-F238E27FC236}">
                <a16:creationId xmlns:a16="http://schemas.microsoft.com/office/drawing/2014/main" id="{7940E6F7-2161-4FB8-8BD2-125C688AF2F3}"/>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We use made-up menus, not personal meals.</a:t>
            </a:r>
          </a:p>
        </p:txBody>
      </p:sp>
    </p:spTree>
    <p:extLst>
      <p:ext uri="{BB962C8B-B14F-4D97-AF65-F5344CB8AC3E}">
        <p14:creationId xmlns:p14="http://schemas.microsoft.com/office/powerpoint/2010/main" val="534018034"/>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E440EEEC-FBCC-4BFF-A58E-9E3AD4E2738C}"/>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F3DBDF67-7737-4C2F-B175-39AD18D195B1}"/>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de53365c5774fc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E02C5995-EE29-4ABF-B8F4-760E4EA49D4D}"/>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Case 1: only bread and water</a:t>
            </a:r>
          </a:p>
        </p:txBody>
      </p:sp>
      <p:sp>
        <p:nvSpPr>
          <p:cNvPr id="5" name="footer-line">
            <a:extLst xmlns:a="http://schemas.openxmlformats.org/drawingml/2006/main">
              <a:ext uri="{FF2B5EF4-FFF2-40B4-BE49-F238E27FC236}">
                <a16:creationId xmlns:a16="http://schemas.microsoft.com/office/drawing/2014/main" id="{FDA58C4B-4DFA-4791-A911-2F0E608E02CE}"/>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F0C8D403-CA01-4028-9802-2D72FD4B8A60}"/>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5  ·  LESSON B</a:t>
            </a:r>
          </a:p>
        </p:txBody>
      </p:sp>
      <p:sp>
        <p:nvSpPr>
          <p:cNvPr id="7" name="page">
            <a:extLst xmlns:a="http://schemas.openxmlformats.org/drawingml/2006/main">
              <a:ext uri="{FF2B5EF4-FFF2-40B4-BE49-F238E27FC236}">
                <a16:creationId xmlns:a16="http://schemas.microsoft.com/office/drawing/2014/main" id="{2CCC0B1D-F8A6-4321-82C9-549345E69CE7}"/>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03</a:t>
            </a:r>
          </a:p>
        </p:txBody>
      </p:sp>
      <p:sp>
        <p:nvSpPr>
          <p:cNvPr id="8" name="line-0">
            <a:extLst xmlns:a="http://schemas.openxmlformats.org/drawingml/2006/main">
              <a:ext uri="{FF2B5EF4-FFF2-40B4-BE49-F238E27FC236}">
                <a16:creationId xmlns:a16="http://schemas.microsoft.com/office/drawing/2014/main" id="{1FC385A0-418D-40AE-8EA4-9717AF5598C7}"/>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Keep the bread and water cards.</a:t>
            </a:r>
          </a:p>
        </p:txBody>
      </p:sp>
      <p:sp>
        <p:nvSpPr>
          <p:cNvPr id="9" name="line-1">
            <a:extLst xmlns:a="http://schemas.openxmlformats.org/drawingml/2006/main">
              <a:ext uri="{FF2B5EF4-FFF2-40B4-BE49-F238E27FC236}">
                <a16:creationId xmlns:a16="http://schemas.microsoft.com/office/drawing/2014/main" id="{29974C85-497C-44D3-99A6-C15738EE06C9}"/>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What jobs do they help with?</a:t>
            </a:r>
          </a:p>
        </p:txBody>
      </p:sp>
      <p:sp>
        <p:nvSpPr>
          <p:cNvPr id="10" name="line-2">
            <a:extLst xmlns:a="http://schemas.openxmlformats.org/drawingml/2006/main">
              <a:ext uri="{FF2B5EF4-FFF2-40B4-BE49-F238E27FC236}">
                <a16:creationId xmlns:a16="http://schemas.microsoft.com/office/drawing/2014/main" id="{3D145D2A-071D-4E6D-9061-DFE539D42592}"/>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Which body needs are not well represented?</a:t>
            </a:r>
          </a:p>
        </p:txBody>
      </p:sp>
    </p:spTree>
    <p:extLst>
      <p:ext uri="{BB962C8B-B14F-4D97-AF65-F5344CB8AC3E}">
        <p14:creationId xmlns:p14="http://schemas.microsoft.com/office/powerpoint/2010/main" val="46610812"/>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41D2F2B3-2CD9-415A-BACA-B1F9DF65749D}"/>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F4AE1F25-1CBF-48E9-9DB6-EE8E472EB659}"/>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f16567737a54b7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C1149CC0-37DA-454A-91CE-F93D8C27592F}"/>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Add variety and give evidence</a:t>
            </a:r>
          </a:p>
        </p:txBody>
      </p:sp>
      <p:sp>
        <p:nvSpPr>
          <p:cNvPr id="5" name="footer-line">
            <a:extLst xmlns:a="http://schemas.openxmlformats.org/drawingml/2006/main">
              <a:ext uri="{FF2B5EF4-FFF2-40B4-BE49-F238E27FC236}">
                <a16:creationId xmlns:a16="http://schemas.microsoft.com/office/drawing/2014/main" id="{AD65BEC8-6519-4FDF-85F6-A8D5EF43E9A0}"/>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94088518-9FBD-490A-A36A-F25D370D258E}"/>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5  ·  LESSON B</a:t>
            </a:r>
          </a:p>
        </p:txBody>
      </p:sp>
      <p:sp>
        <p:nvSpPr>
          <p:cNvPr id="7" name="page">
            <a:extLst xmlns:a="http://schemas.openxmlformats.org/drawingml/2006/main">
              <a:ext uri="{FF2B5EF4-FFF2-40B4-BE49-F238E27FC236}">
                <a16:creationId xmlns:a16="http://schemas.microsoft.com/office/drawing/2014/main" id="{37C5BF45-6FB5-43CE-A2A0-0E042B7799C5}"/>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04</a:t>
            </a:r>
          </a:p>
        </p:txBody>
      </p:sp>
      <p:sp>
        <p:nvSpPr>
          <p:cNvPr id="8" name="line-0">
            <a:extLst xmlns:a="http://schemas.openxmlformats.org/drawingml/2006/main">
              <a:ext uri="{FF2B5EF4-FFF2-40B4-BE49-F238E27FC236}">
                <a16:creationId xmlns:a16="http://schemas.microsoft.com/office/drawing/2014/main" id="{06CE10A9-D5DA-4B4D-A98D-494B522DE0B8}"/>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Add a source of protein.</a:t>
            </a:r>
          </a:p>
        </p:txBody>
      </p:sp>
      <p:sp>
        <p:nvSpPr>
          <p:cNvPr id="9" name="line-1">
            <a:extLst xmlns:a="http://schemas.openxmlformats.org/drawingml/2006/main">
              <a:ext uri="{FF2B5EF4-FFF2-40B4-BE49-F238E27FC236}">
                <a16:creationId xmlns:a16="http://schemas.microsoft.com/office/drawing/2014/main" id="{B2EC4346-0F97-4F38-B30C-70AA74232FBB}"/>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Add fruit or vegetables.</a:t>
            </a:r>
          </a:p>
        </p:txBody>
      </p:sp>
      <p:sp>
        <p:nvSpPr>
          <p:cNvPr id="10" name="line-2">
            <a:extLst xmlns:a="http://schemas.openxmlformats.org/drawingml/2006/main">
              <a:ext uri="{FF2B5EF4-FFF2-40B4-BE49-F238E27FC236}">
                <a16:creationId xmlns:a16="http://schemas.microsoft.com/office/drawing/2014/main" id="{DACA63D2-B6A4-48E7-907C-D422346A996A}"/>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Explain what each addition can provide.</a:t>
            </a:r>
          </a:p>
        </p:txBody>
      </p:sp>
    </p:spTree>
    <p:extLst>
      <p:ext uri="{BB962C8B-B14F-4D97-AF65-F5344CB8AC3E}">
        <p14:creationId xmlns:p14="http://schemas.microsoft.com/office/powerpoint/2010/main" val="1979561424"/>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4220416A-0EA3-4C8E-9B22-8C2020C0AE0C}"/>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DDA76E28-5207-4797-A3DF-9A2E3CA2E049}"/>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385f3e0a28a44b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40A3709D-1561-4C1F-9339-507D70BB135E}"/>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Case 2: change the protein source</a:t>
            </a:r>
          </a:p>
        </p:txBody>
      </p:sp>
      <p:sp>
        <p:nvSpPr>
          <p:cNvPr id="5" name="footer-line">
            <a:extLst xmlns:a="http://schemas.openxmlformats.org/drawingml/2006/main">
              <a:ext uri="{FF2B5EF4-FFF2-40B4-BE49-F238E27FC236}">
                <a16:creationId xmlns:a16="http://schemas.microsoft.com/office/drawing/2014/main" id="{AC9B315D-EFFE-4572-BB8B-60093A94E8F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10F3781-1908-4B18-8235-63F201BC666A}"/>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5  ·  LESSON B</a:t>
            </a:r>
          </a:p>
        </p:txBody>
      </p:sp>
      <p:sp>
        <p:nvSpPr>
          <p:cNvPr id="7" name="page">
            <a:extLst xmlns:a="http://schemas.openxmlformats.org/drawingml/2006/main">
              <a:ext uri="{FF2B5EF4-FFF2-40B4-BE49-F238E27FC236}">
                <a16:creationId xmlns:a16="http://schemas.microsoft.com/office/drawing/2014/main" id="{84A0412B-EFBF-48F0-8738-687CC6D0678A}"/>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05</a:t>
            </a:r>
          </a:p>
        </p:txBody>
      </p:sp>
      <p:sp>
        <p:nvSpPr>
          <p:cNvPr id="8" name="line-0">
            <a:extLst xmlns:a="http://schemas.openxmlformats.org/drawingml/2006/main">
              <a:ext uri="{FF2B5EF4-FFF2-40B4-BE49-F238E27FC236}">
                <a16:creationId xmlns:a16="http://schemas.microsoft.com/office/drawing/2014/main" id="{F7BC5071-367D-4682-96B9-3DD938C75222}"/>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Start model: meat, rice and vegetables.</a:t>
            </a:r>
          </a:p>
        </p:txBody>
      </p:sp>
      <p:sp>
        <p:nvSpPr>
          <p:cNvPr id="9" name="line-1">
            <a:extLst xmlns:a="http://schemas.openxmlformats.org/drawingml/2006/main">
              <a:ext uri="{FF2B5EF4-FFF2-40B4-BE49-F238E27FC236}">
                <a16:creationId xmlns:a16="http://schemas.microsoft.com/office/drawing/2014/main" id="{C615B6C0-CF7D-4CF2-88F6-D20DF934C3F5}"/>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Now make the model meat-free.</a:t>
            </a:r>
          </a:p>
        </p:txBody>
      </p:sp>
      <p:sp>
        <p:nvSpPr>
          <p:cNvPr id="10" name="line-2">
            <a:extLst xmlns:a="http://schemas.openxmlformats.org/drawingml/2006/main">
              <a:ext uri="{FF2B5EF4-FFF2-40B4-BE49-F238E27FC236}">
                <a16:creationId xmlns:a16="http://schemas.microsoft.com/office/drawing/2014/main" id="{838CE36A-C29A-4816-A582-7E54A7C67D6B}"/>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Which card can replace meat’s protein role?</a:t>
            </a:r>
          </a:p>
        </p:txBody>
      </p:sp>
    </p:spTree>
    <p:extLst>
      <p:ext uri="{BB962C8B-B14F-4D97-AF65-F5344CB8AC3E}">
        <p14:creationId xmlns:p14="http://schemas.microsoft.com/office/powerpoint/2010/main" val="1517592921"/>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94541B6B-267A-4F6B-A44A-5D7D986CCABF}"/>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FDAF7257-8344-4DF6-B9A0-C6291308BC9D}"/>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cde10f9e0114d8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C46C3B8-0082-4AFC-BC8F-C3D7BD293AA1}"/>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Compare two workable choices</a:t>
            </a:r>
          </a:p>
        </p:txBody>
      </p:sp>
      <p:sp>
        <p:nvSpPr>
          <p:cNvPr id="5" name="footer-line">
            <a:extLst xmlns:a="http://schemas.openxmlformats.org/drawingml/2006/main">
              <a:ext uri="{FF2B5EF4-FFF2-40B4-BE49-F238E27FC236}">
                <a16:creationId xmlns:a16="http://schemas.microsoft.com/office/drawing/2014/main" id="{B10D1429-3AF7-4681-B069-831EA80146C5}"/>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09776C6A-D8EA-48EB-86BC-D38520019E31}"/>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5  ·  LESSON B</a:t>
            </a:r>
          </a:p>
        </p:txBody>
      </p:sp>
      <p:sp>
        <p:nvSpPr>
          <p:cNvPr id="7" name="page">
            <a:extLst xmlns:a="http://schemas.openxmlformats.org/drawingml/2006/main">
              <a:ext uri="{FF2B5EF4-FFF2-40B4-BE49-F238E27FC236}">
                <a16:creationId xmlns:a16="http://schemas.microsoft.com/office/drawing/2014/main" id="{72F9D4A6-C36B-4AB4-87C3-398302401C0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06</a:t>
            </a:r>
          </a:p>
        </p:txBody>
      </p:sp>
      <p:sp>
        <p:nvSpPr>
          <p:cNvPr id="8" name="line-0">
            <a:extLst xmlns:a="http://schemas.openxmlformats.org/drawingml/2006/main">
              <a:ext uri="{FF2B5EF4-FFF2-40B4-BE49-F238E27FC236}">
                <a16:creationId xmlns:a16="http://schemas.microsoft.com/office/drawing/2014/main" id="{C9ECA4B0-F210-4EC6-9218-A919A5985181}"/>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Try a beans version and a lentils version.</a:t>
            </a:r>
          </a:p>
        </p:txBody>
      </p:sp>
      <p:sp>
        <p:nvSpPr>
          <p:cNvPr id="9" name="line-1">
            <a:extLst xmlns:a="http://schemas.openxmlformats.org/drawingml/2006/main">
              <a:ext uri="{FF2B5EF4-FFF2-40B4-BE49-F238E27FC236}">
                <a16:creationId xmlns:a16="http://schemas.microsoft.com/office/drawing/2014/main" id="{A0EDBD83-6A5F-412F-9FE9-6888073108C2}"/>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Which body job does each help with?</a:t>
            </a:r>
          </a:p>
        </p:txBody>
      </p:sp>
      <p:sp>
        <p:nvSpPr>
          <p:cNvPr id="10" name="line-2">
            <a:extLst xmlns:a="http://schemas.openxmlformats.org/drawingml/2006/main">
              <a:ext uri="{FF2B5EF4-FFF2-40B4-BE49-F238E27FC236}">
                <a16:creationId xmlns:a16="http://schemas.microsoft.com/office/drawing/2014/main" id="{1B511459-15FA-4345-A000-43B89C23A549}"/>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How are the choices alike and different?</a:t>
            </a:r>
          </a:p>
        </p:txBody>
      </p:sp>
    </p:spTree>
    <p:extLst>
      <p:ext uri="{BB962C8B-B14F-4D97-AF65-F5344CB8AC3E}">
        <p14:creationId xmlns:p14="http://schemas.microsoft.com/office/powerpoint/2010/main" val="1835065988"/>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C9C24333-0F63-4019-B5E1-84B27921E914}"/>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3BB9997E-2EF6-4CD8-8D39-7B98551AF6C7}"/>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1dc4560e85f432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DB919DA8-E6E5-4B10-9235-AC59EBD03DE6}"/>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Pause: check the reason</a:t>
            </a:r>
          </a:p>
        </p:txBody>
      </p:sp>
      <p:sp>
        <p:nvSpPr>
          <p:cNvPr id="5" name="footer-line">
            <a:extLst xmlns:a="http://schemas.openxmlformats.org/drawingml/2006/main">
              <a:ext uri="{FF2B5EF4-FFF2-40B4-BE49-F238E27FC236}">
                <a16:creationId xmlns:a16="http://schemas.microsoft.com/office/drawing/2014/main" id="{B032B9EB-CD2A-4B98-A640-6A7CC321B07D}"/>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D11A56D7-8BC7-4F2C-B5D5-601F08DBB196}"/>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5  ·  LESSON B</a:t>
            </a:r>
          </a:p>
        </p:txBody>
      </p:sp>
      <p:sp>
        <p:nvSpPr>
          <p:cNvPr id="7" name="page">
            <a:extLst xmlns:a="http://schemas.openxmlformats.org/drawingml/2006/main">
              <a:ext uri="{FF2B5EF4-FFF2-40B4-BE49-F238E27FC236}">
                <a16:creationId xmlns:a16="http://schemas.microsoft.com/office/drawing/2014/main" id="{EC215490-3F6C-4381-AD76-8488D335BA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07</a:t>
            </a:r>
          </a:p>
        </p:txBody>
      </p:sp>
      <p:sp>
        <p:nvSpPr>
          <p:cNvPr id="8" name="line-0">
            <a:extLst xmlns:a="http://schemas.openxmlformats.org/drawingml/2006/main">
              <a:ext uri="{FF2B5EF4-FFF2-40B4-BE49-F238E27FC236}">
                <a16:creationId xmlns:a16="http://schemas.microsoft.com/office/drawing/2014/main" id="{ED521A2C-C24D-45B2-934E-03C6EF190CCB}"/>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Does the reason name a body job?</a:t>
            </a:r>
          </a:p>
        </p:txBody>
      </p:sp>
      <p:sp>
        <p:nvSpPr>
          <p:cNvPr id="9" name="line-1">
            <a:extLst xmlns:a="http://schemas.openxmlformats.org/drawingml/2006/main">
              <a:ext uri="{FF2B5EF4-FFF2-40B4-BE49-F238E27FC236}">
                <a16:creationId xmlns:a16="http://schemas.microsoft.com/office/drawing/2014/main" id="{CE0BA881-368F-4EB7-BF6B-A7FD9632DDC3}"/>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Check it against the food information.</a:t>
            </a:r>
          </a:p>
        </p:txBody>
      </p:sp>
      <p:sp>
        <p:nvSpPr>
          <p:cNvPr id="10" name="line-2">
            <a:extLst xmlns:a="http://schemas.openxmlformats.org/drawingml/2006/main">
              <a:ext uri="{FF2B5EF4-FFF2-40B4-BE49-F238E27FC236}">
                <a16:creationId xmlns:a16="http://schemas.microsoft.com/office/drawing/2014/main" id="{99443290-8BBC-47BA-BBE5-B7CBA24682B7}"/>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“I like it” does not show its nutrient job.</a:t>
            </a:r>
          </a:p>
        </p:txBody>
      </p:sp>
    </p:spTree>
    <p:extLst>
      <p:ext uri="{BB962C8B-B14F-4D97-AF65-F5344CB8AC3E}">
        <p14:creationId xmlns:p14="http://schemas.microsoft.com/office/powerpoint/2010/main" val="714195002"/>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F1247AF-A2E9-415F-A59C-0937ED09D995}"/>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DA0CE50-2D13-4D24-BD8E-27450975AD1F}"/>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05329778b4a479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3C3D4CF3-CA0D-4708-84CD-13CDC412A212}"/>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Improve one choice or explanation</a:t>
            </a:r>
          </a:p>
        </p:txBody>
      </p:sp>
      <p:sp>
        <p:nvSpPr>
          <p:cNvPr id="5" name="footer-line">
            <a:extLst xmlns:a="http://schemas.openxmlformats.org/drawingml/2006/main">
              <a:ext uri="{FF2B5EF4-FFF2-40B4-BE49-F238E27FC236}">
                <a16:creationId xmlns:a16="http://schemas.microsoft.com/office/drawing/2014/main" id="{25DA4066-938A-4F7F-849D-94ECC6E6658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3D310B6-EC04-4129-9515-BF35A22B1BDB}"/>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5  ·  LESSON B</a:t>
            </a:r>
          </a:p>
        </p:txBody>
      </p:sp>
      <p:sp>
        <p:nvSpPr>
          <p:cNvPr id="7" name="page">
            <a:extLst xmlns:a="http://schemas.openxmlformats.org/drawingml/2006/main">
              <a:ext uri="{FF2B5EF4-FFF2-40B4-BE49-F238E27FC236}">
                <a16:creationId xmlns:a16="http://schemas.microsoft.com/office/drawing/2014/main" id="{B44BB087-EE6D-4B2E-B7C1-6D230C2BF585}"/>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08</a:t>
            </a:r>
          </a:p>
        </p:txBody>
      </p:sp>
      <p:sp>
        <p:nvSpPr>
          <p:cNvPr id="8" name="line-0">
            <a:extLst xmlns:a="http://schemas.openxmlformats.org/drawingml/2006/main">
              <a:ext uri="{FF2B5EF4-FFF2-40B4-BE49-F238E27FC236}">
                <a16:creationId xmlns:a16="http://schemas.microsoft.com/office/drawing/2014/main" id="{B6914530-8C56-4A5E-ADC9-83CE1C7886E2}"/>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Keep the first version of a case.</a:t>
            </a:r>
          </a:p>
        </p:txBody>
      </p:sp>
      <p:sp>
        <p:nvSpPr>
          <p:cNvPr id="9" name="line-1">
            <a:extLst xmlns:a="http://schemas.openxmlformats.org/drawingml/2006/main">
              <a:ext uri="{FF2B5EF4-FFF2-40B4-BE49-F238E27FC236}">
                <a16:creationId xmlns:a16="http://schemas.microsoft.com/office/drawing/2014/main" id="{8BC41E23-0522-421B-B1AA-3C1C55458C1A}"/>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Change one choice or make the reason clearer.</a:t>
            </a:r>
          </a:p>
        </p:txBody>
      </p:sp>
      <p:sp>
        <p:nvSpPr>
          <p:cNvPr id="10" name="line-2">
            <a:extLst xmlns:a="http://schemas.openxmlformats.org/drawingml/2006/main">
              <a:ext uri="{FF2B5EF4-FFF2-40B4-BE49-F238E27FC236}">
                <a16:creationId xmlns:a16="http://schemas.microsoft.com/office/drawing/2014/main" id="{846A824E-B63A-4B61-A3BA-DB795EC4006C}"/>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Show what the food provides.</a:t>
            </a:r>
          </a:p>
        </p:txBody>
      </p:sp>
      <p:sp>
        <p:nvSpPr>
          <p:cNvPr id="11" name="line-3">
            <a:extLst xmlns:a="http://schemas.openxmlformats.org/drawingml/2006/main">
              <a:ext uri="{FF2B5EF4-FFF2-40B4-BE49-F238E27FC236}">
                <a16:creationId xmlns:a16="http://schemas.microsoft.com/office/drawing/2014/main" id="{D1EACC59-8AC4-4A62-8F0C-6D1B0F1C669A}"/>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Save both versions and tidy the cards.</a:t>
            </a:r>
          </a:p>
        </p:txBody>
      </p:sp>
    </p:spTree>
    <p:extLst>
      <p:ext uri="{BB962C8B-B14F-4D97-AF65-F5344CB8AC3E}">
        <p14:creationId xmlns:p14="http://schemas.microsoft.com/office/powerpoint/2010/main" val="694432732"/>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265DD60-4549-4E60-A7A8-016A06538B8F}"/>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B3ACBB91-153C-447C-B6F9-95F7B92C83EF}"/>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0a3263163304f0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FE7F83BF-7DDF-4EF3-8997-7AA578340413}"/>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Your voice can change the lesson</a:t>
            </a:r>
          </a:p>
        </p:txBody>
      </p:sp>
      <p:sp>
        <p:nvSpPr>
          <p:cNvPr id="5" name="footer-line">
            <a:extLst xmlns:a="http://schemas.openxmlformats.org/drawingml/2006/main">
              <a:ext uri="{FF2B5EF4-FFF2-40B4-BE49-F238E27FC236}">
                <a16:creationId xmlns:a16="http://schemas.microsoft.com/office/drawing/2014/main" id="{03D1A3E1-802C-499A-8702-AF43D89C4B16}"/>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9E5B5553-2608-4640-B518-30B823BDCFBA}"/>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5  ·  LESSON B</a:t>
            </a:r>
          </a:p>
        </p:txBody>
      </p:sp>
      <p:sp>
        <p:nvSpPr>
          <p:cNvPr id="7" name="page">
            <a:extLst xmlns:a="http://schemas.openxmlformats.org/drawingml/2006/main">
              <a:ext uri="{FF2B5EF4-FFF2-40B4-BE49-F238E27FC236}">
                <a16:creationId xmlns:a16="http://schemas.microsoft.com/office/drawing/2014/main" id="{07B51A24-4610-44C1-B2A9-FB6ADDF5EB0F}"/>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09</a:t>
            </a:r>
          </a:p>
        </p:txBody>
      </p:sp>
      <p:sp>
        <p:nvSpPr>
          <p:cNvPr id="8" name="line-0">
            <a:extLst xmlns:a="http://schemas.openxmlformats.org/drawingml/2006/main">
              <a:ext uri="{FF2B5EF4-FFF2-40B4-BE49-F238E27FC236}">
                <a16:creationId xmlns:a16="http://schemas.microsoft.com/office/drawing/2014/main" id="{F66591CF-4C36-498C-B2A1-1A43254DFAF2}"/>
              </a:ext>
            </a:extLst>
          </p:cNvPr>
          <p:cNvSpPr>
            <a:spLocks xmlns:a="http://schemas.openxmlformats.org/drawingml/2006/main" noGrp="1"/>
          </p:cNvSpPr>
          <p:nvPr/>
        </p:nvSpPr>
        <p:spPr>
          <a:xfrm xmlns:a="http://schemas.openxmlformats.org/drawingml/2006/main">
            <a:off x="609600" y="261937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What helped you join in?</a:t>
            </a:r>
          </a:p>
        </p:txBody>
      </p:sp>
      <p:sp>
        <p:nvSpPr>
          <p:cNvPr id="9" name="line-1">
            <a:extLst xmlns:a="http://schemas.openxmlformats.org/drawingml/2006/main">
              <a:ext uri="{FF2B5EF4-FFF2-40B4-BE49-F238E27FC236}">
                <a16:creationId xmlns:a16="http://schemas.microsoft.com/office/drawing/2014/main" id="{9F2CD302-CA65-40C5-9F4F-EC4AC3026C8C}"/>
              </a:ext>
            </a:extLst>
          </p:cNvPr>
          <p:cNvSpPr>
            <a:spLocks xmlns:a="http://schemas.openxmlformats.org/drawingml/2006/main" noGrp="1"/>
          </p:cNvSpPr>
          <p:nvPr/>
        </p:nvSpPr>
        <p:spPr>
          <a:xfrm xmlns:a="http://schemas.openxmlformats.org/drawingml/2006/main">
            <a:off x="609600" y="340995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What could make the next activity easier?</a:t>
            </a:r>
          </a:p>
        </p:txBody>
      </p:sp>
      <p:sp>
        <p:nvSpPr>
          <p:cNvPr id="10" name="line-2">
            <a:extLst xmlns:a="http://schemas.openxmlformats.org/drawingml/2006/main">
              <a:ext uri="{FF2B5EF4-FFF2-40B4-BE49-F238E27FC236}">
                <a16:creationId xmlns:a16="http://schemas.microsoft.com/office/drawing/2014/main" id="{2583D738-B699-4A77-BF72-757304171631}"/>
              </a:ext>
            </a:extLst>
          </p:cNvPr>
          <p:cNvSpPr>
            <a:spLocks xmlns:a="http://schemas.openxmlformats.org/drawingml/2006/main" noGrp="1"/>
          </p:cNvSpPr>
          <p:nvPr/>
        </p:nvSpPr>
        <p:spPr>
          <a:xfrm xmlns:a="http://schemas.openxmlformats.org/drawingml/2006/main">
            <a:off x="609600" y="4200525"/>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Point, sign, speak, write or pass privately.</a:t>
            </a:r>
          </a:p>
        </p:txBody>
      </p:sp>
      <p:sp>
        <p:nvSpPr>
          <p:cNvPr id="11" name="line-3">
            <a:extLst xmlns:a="http://schemas.openxmlformats.org/drawingml/2006/main">
              <a:ext uri="{FF2B5EF4-FFF2-40B4-BE49-F238E27FC236}">
                <a16:creationId xmlns:a16="http://schemas.microsoft.com/office/drawing/2014/main" id="{26DB3139-0872-4A26-89A8-ACA15A17132D}"/>
              </a:ext>
            </a:extLst>
          </p:cNvPr>
          <p:cNvSpPr>
            <a:spLocks xmlns:a="http://schemas.openxmlformats.org/drawingml/2006/main" noGrp="1"/>
          </p:cNvSpPr>
          <p:nvPr/>
        </p:nvSpPr>
        <p:spPr>
          <a:xfrm xmlns:a="http://schemas.openxmlformats.org/drawingml/2006/main">
            <a:off x="609600" y="4991100"/>
            <a:ext cx="10972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Adult: agree one change and explain any limit.</a:t>
            </a:r>
          </a:p>
        </p:txBody>
      </p:sp>
    </p:spTree>
    <p:extLst>
      <p:ext uri="{BB962C8B-B14F-4D97-AF65-F5344CB8AC3E}">
        <p14:creationId xmlns:p14="http://schemas.microsoft.com/office/powerpoint/2010/main" val="390003497"/>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413FD70D-6F46-43C5-8B41-2DBCBD9CDF98}"/>
              </a:ext>
            </a:extLst>
          </p:cNvPr>
          <p:cNvSpPr>
            <a:spLocks xmlns:a="http://schemas.openxmlformats.org/drawingml/2006/main" noGrp="1"/>
          </p:cNvSpPr>
          <p:nvPr/>
        </p:nvSpPr>
        <p:spPr>
          <a:xfrm xmlns:a="http://schemas.openxmlformats.org/drawingml/2006/main">
            <a:off x="609600" y="552450"/>
            <a:ext cx="781050" cy="5715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F0D479ED-5CA3-4431-8613-49A44E1EC837}"/>
              </a:ext>
            </a:extLst>
          </p:cNvPr>
          <p:cNvSpPr>
            <a:spLocks xmlns:a="http://schemas.openxmlformats.org/drawingml/2006/main" noGrp="1"/>
          </p:cNvSpPr>
          <p:nvPr/>
        </p:nvSpPr>
        <p:spPr>
          <a:xfrm xmlns:a="http://schemas.openxmlformats.org/drawingml/2006/main">
            <a:off x="609600" y="7620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500" b="1">
                <a:solidFill>
                  <a:srgbClr val="28685E"/>
                </a:solidFill>
              </a:defRPr>
            </a:pPr>
            <a:r>
              <a:rPr sz="1500" b="1">
                <a:solidFill>
                  <a:srgbClr val="28685E"/>
                </a:solidFill>
              </a:rPr>
              <a:t>MADE BY MATT  /  BUILD SCIENCE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bc88569627544a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8F7CAA2-5DDE-4CFC-9562-BF9810E334C9}"/>
              </a:ext>
            </a:extLst>
          </p:cNvPr>
          <p:cNvSpPr>
            <a:spLocks xmlns:a="http://schemas.openxmlformats.org/drawingml/2006/main" noGrp="1"/>
          </p:cNvSpPr>
          <p:nvPr/>
        </p:nvSpPr>
        <p:spPr>
          <a:xfrm xmlns:a="http://schemas.openxmlformats.org/drawingml/2006/main">
            <a:off x="609600" y="13525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3750" b="1">
                <a:solidFill>
                  <a:srgbClr val="152B3A"/>
                </a:solidFill>
              </a:defRPr>
            </a:pPr>
            <a:r>
              <a:rPr sz="3750" b="1">
                <a:solidFill>
                  <a:srgbClr val="152B3A"/>
                </a:solidFill>
              </a:rPr>
              <a:t>Explain a food job</a:t>
            </a:r>
          </a:p>
        </p:txBody>
      </p:sp>
      <p:sp>
        <p:nvSpPr>
          <p:cNvPr id="5" name="footer-line">
            <a:extLst xmlns:a="http://schemas.openxmlformats.org/drawingml/2006/main">
              <a:ext uri="{FF2B5EF4-FFF2-40B4-BE49-F238E27FC236}">
                <a16:creationId xmlns:a16="http://schemas.microsoft.com/office/drawing/2014/main" id="{6F65F416-4084-4B4F-B3D1-39AA32A24A41}"/>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70FB912E-C693-42F5-A1E2-E4C4F7B36957}"/>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275" b="0">
                <a:solidFill>
                  <a:srgbClr val="50616B"/>
                </a:solidFill>
              </a:defRPr>
            </a:pPr>
            <a:r>
              <a:rPr sz="1275" b="0">
                <a:solidFill>
                  <a:srgbClr val="50616B"/>
                </a:solidFill>
              </a:rPr>
              <a:t>AUTUMN 1  ·  WEEK 5  ·  LESSON B</a:t>
            </a:r>
          </a:p>
        </p:txBody>
      </p:sp>
      <p:sp>
        <p:nvSpPr>
          <p:cNvPr id="7" name="page">
            <a:extLst xmlns:a="http://schemas.openxmlformats.org/drawingml/2006/main">
              <a:ext uri="{FF2B5EF4-FFF2-40B4-BE49-F238E27FC236}">
                <a16:creationId xmlns:a16="http://schemas.microsoft.com/office/drawing/2014/main" id="{200C4FF1-342F-4D0F-8A4D-D7B41A5AD3F8}"/>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1350" b="1">
                <a:solidFill>
                  <a:srgbClr val="28685E"/>
                </a:solidFill>
              </a:defRPr>
            </a:pPr>
            <a:r>
              <a:rPr sz="1350" b="1">
                <a:solidFill>
                  <a:srgbClr val="28685E"/>
                </a:solidFill>
              </a:rPr>
              <a:t>10</a:t>
            </a:r>
          </a:p>
        </p:txBody>
      </p:sp>
      <p:sp>
        <p:nvSpPr>
          <p:cNvPr id="8" name="line-0">
            <a:extLst xmlns:a="http://schemas.openxmlformats.org/drawingml/2006/main">
              <a:ext uri="{FF2B5EF4-FFF2-40B4-BE49-F238E27FC236}">
                <a16:creationId xmlns:a16="http://schemas.microsoft.com/office/drawing/2014/main" id="{09CDF048-5C0A-4215-8F8C-928B63DAF4CC}"/>
              </a:ext>
            </a:extLst>
          </p:cNvPr>
          <p:cNvSpPr>
            <a:spLocks xmlns:a="http://schemas.openxmlformats.org/drawingml/2006/main" noGrp="1"/>
          </p:cNvSpPr>
          <p:nvPr/>
        </p:nvSpPr>
        <p:spPr>
          <a:xfrm xmlns:a="http://schemas.openxmlformats.org/drawingml/2006/main">
            <a:off x="609600" y="26193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Supported: name one body job of food.</a:t>
            </a:r>
          </a:p>
        </p:txBody>
      </p:sp>
      <p:sp>
        <p:nvSpPr>
          <p:cNvPr id="9" name="line-1">
            <a:extLst xmlns:a="http://schemas.openxmlformats.org/drawingml/2006/main">
              <a:ext uri="{FF2B5EF4-FFF2-40B4-BE49-F238E27FC236}">
                <a16:creationId xmlns:a16="http://schemas.microsoft.com/office/drawing/2014/main" id="{A2A9D7A1-07BA-4F9B-A17E-D069EE4E7F8B}"/>
              </a:ext>
            </a:extLst>
          </p:cNvPr>
          <p:cNvSpPr>
            <a:spLocks xmlns:a="http://schemas.openxmlformats.org/drawingml/2006/main" noGrp="1"/>
          </p:cNvSpPr>
          <p:nvPr/>
        </p:nvSpPr>
        <p:spPr>
          <a:xfrm xmlns:a="http://schemas.openxmlformats.org/drawingml/2006/main">
            <a:off x="609600" y="347662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Standard: explain why variety matters.</a:t>
            </a:r>
          </a:p>
        </p:txBody>
      </p:sp>
      <p:sp>
        <p:nvSpPr>
          <p:cNvPr id="10" name="line-2">
            <a:extLst xmlns:a="http://schemas.openxmlformats.org/drawingml/2006/main">
              <a:ext uri="{FF2B5EF4-FFF2-40B4-BE49-F238E27FC236}">
                <a16:creationId xmlns:a16="http://schemas.microsoft.com/office/drawing/2014/main" id="{AA51279C-87D2-4CED-9A6C-0CF85D26C26D}"/>
              </a:ext>
            </a:extLst>
          </p:cNvPr>
          <p:cNvSpPr>
            <a:spLocks xmlns:a="http://schemas.openxmlformats.org/drawingml/2006/main" noGrp="1"/>
          </p:cNvSpPr>
          <p:nvPr/>
        </p:nvSpPr>
        <p:spPr>
          <a:xfrm xmlns:a="http://schemas.openxmlformats.org/drawingml/2006/main">
            <a:off x="609600" y="4333875"/>
            <a:ext cx="109728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defRPr sz="2550" b="0">
                <a:solidFill>
                  <a:srgbClr val="152B3A"/>
                </a:solidFill>
              </a:defRPr>
            </a:pPr>
            <a:r>
              <a:rPr sz="2550" b="0">
                <a:solidFill>
                  <a:srgbClr val="152B3A"/>
                </a:solidFill>
              </a:rPr>
              <a:t>Stretch: can one food help several jobs?</a:t>
            </a:r>
          </a:p>
        </p:txBody>
      </p:sp>
    </p:spTree>
    <p:extLst>
      <p:ext uri="{BB962C8B-B14F-4D97-AF65-F5344CB8AC3E}">
        <p14:creationId xmlns:p14="http://schemas.microsoft.com/office/powerpoint/2010/main" val="9172265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2026-09-06T13:05:06.9900000Z</dcterms:created>
  <dcterms:modified xsi:type="dcterms:W3CDTF">2026-09-06T13:05:06.9900000Z</dcterms:modified>
</coreProperties>
</file>