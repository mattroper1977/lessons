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9bef272cf47f8" /><Relationship Type="http://schemas.openxmlformats.org/officeDocument/2006/relationships/extended-properties" Target="/docProps/app.xml" Id="R90077476d62f43a7" /><Relationship Type="http://schemas.openxmlformats.org/officeDocument/2006/relationships/officeDocument" Target="/ppt/presentation.xml" Id="R92e49bde9b2b4b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1e3bfce3884231"/>
  </p:sldMasterIdLst>
  <p:notesMasterIdLst>
    <p:notesMasterId xmlns:r="http://schemas.openxmlformats.org/officeDocument/2006/relationships" r:id="Rfb928a95550e46cb"/>
  </p:notesMasterIdLst>
  <p:sldIdLst>
    <p:sldId xmlns:r="http://schemas.openxmlformats.org/officeDocument/2006/relationships" id="256" r:id="R403459034a0b4ceb"/>
    <p:sldId xmlns:r="http://schemas.openxmlformats.org/officeDocument/2006/relationships" id="257" r:id="R96fb1449c4ed46df"/>
    <p:sldId xmlns:r="http://schemas.openxmlformats.org/officeDocument/2006/relationships" id="258" r:id="R10aade5a234b4f43"/>
    <p:sldId xmlns:r="http://schemas.openxmlformats.org/officeDocument/2006/relationships" id="259" r:id="R108f544f46ff4c54"/>
    <p:sldId xmlns:r="http://schemas.openxmlformats.org/officeDocument/2006/relationships" id="260" r:id="R658c3ec5064a4c4c"/>
    <p:sldId xmlns:r="http://schemas.openxmlformats.org/officeDocument/2006/relationships" id="261" r:id="R054ce8959cb2468a"/>
    <p:sldId xmlns:r="http://schemas.openxmlformats.org/officeDocument/2006/relationships" id="262" r:id="R4bdb3ca2fd4f4eed"/>
    <p:sldId xmlns:r="http://schemas.openxmlformats.org/officeDocument/2006/relationships" id="263" r:id="Rcc20835deaec4ea2"/>
    <p:sldId xmlns:r="http://schemas.openxmlformats.org/officeDocument/2006/relationships" id="264" r:id="R3c80287c704b425b"/>
    <p:sldId xmlns:r="http://schemas.openxmlformats.org/officeDocument/2006/relationships" id="265" r:id="R559af46145a346e6"/>
    <p:sldId xmlns:r="http://schemas.openxmlformats.org/officeDocument/2006/relationships" id="266" r:id="R43718e8a6254427d"/>
    <p:sldId xmlns:r="http://schemas.openxmlformats.org/officeDocument/2006/relationships" id="267" r:id="R95c9c9b52f164a3c"/>
    <p:sldId xmlns:r="http://schemas.openxmlformats.org/officeDocument/2006/relationships" id="268" r:id="R4edbcf72edaa4bde"/>
    <p:sldId xmlns:r="http://schemas.openxmlformats.org/officeDocument/2006/relationships" id="269" r:id="Ra167205f1273441d"/>
    <p:sldId xmlns:r="http://schemas.openxmlformats.org/officeDocument/2006/relationships" id="270" r:id="Re7e3d6d6e41440a9"/>
    <p:sldId xmlns:r="http://schemas.openxmlformats.org/officeDocument/2006/relationships" id="271" r:id="Rb85752193cf6487f"/>
    <p:sldId xmlns:r="http://schemas.openxmlformats.org/officeDocument/2006/relationships" id="272" r:id="R0e60d2bdf96245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211ae741c4984" /><Relationship Type="http://schemas.openxmlformats.org/officeDocument/2006/relationships/slideMaster" Target="/ppt/slideMasters/slideMaster1.xml" Id="R3f1e3bfce3884231" /><Relationship Type="http://schemas.openxmlformats.org/officeDocument/2006/relationships/notesMaster" Target="/ppt/notesMasters/notesMaster1.xml" Id="Rfb928a95550e46cb" /><Relationship Type="http://schemas.openxmlformats.org/officeDocument/2006/relationships/presProps" Target="/ppt/presProps.xml" Id="R43cd065237d84f2a" /><Relationship Type="http://schemas.openxmlformats.org/officeDocument/2006/relationships/tableStyles" Target="/ppt/tableStyles.xml" Id="R171047d01a3c440b" /><Relationship Type="http://schemas.openxmlformats.org/officeDocument/2006/relationships/slide" Target="/ppt/slides/slide1.xml" Id="R403459034a0b4ceb" /><Relationship Type="http://schemas.openxmlformats.org/officeDocument/2006/relationships/slide" Target="/ppt/slides/slide2.xml" Id="R96fb1449c4ed46df" /><Relationship Type="http://schemas.openxmlformats.org/officeDocument/2006/relationships/slide" Target="/ppt/slides/slide3.xml" Id="R10aade5a234b4f43" /><Relationship Type="http://schemas.openxmlformats.org/officeDocument/2006/relationships/slide" Target="/ppt/slides/slide4.xml" Id="R108f544f46ff4c54" /><Relationship Type="http://schemas.openxmlformats.org/officeDocument/2006/relationships/slide" Target="/ppt/slides/slide5.xml" Id="R658c3ec5064a4c4c" /><Relationship Type="http://schemas.openxmlformats.org/officeDocument/2006/relationships/slide" Target="/ppt/slides/slide6.xml" Id="R054ce8959cb2468a" /><Relationship Type="http://schemas.openxmlformats.org/officeDocument/2006/relationships/slide" Target="/ppt/slides/slide7.xml" Id="R4bdb3ca2fd4f4eed" /><Relationship Type="http://schemas.openxmlformats.org/officeDocument/2006/relationships/slide" Target="/ppt/slides/slide8.xml" Id="Rcc20835deaec4ea2" /><Relationship Type="http://schemas.openxmlformats.org/officeDocument/2006/relationships/slide" Target="/ppt/slides/slide9.xml" Id="R3c80287c704b425b" /><Relationship Type="http://schemas.openxmlformats.org/officeDocument/2006/relationships/slide" Target="/ppt/slides/slide10.xml" Id="R559af46145a346e6" /><Relationship Type="http://schemas.openxmlformats.org/officeDocument/2006/relationships/slide" Target="/ppt/slides/slide11.xml" Id="R43718e8a6254427d" /><Relationship Type="http://schemas.openxmlformats.org/officeDocument/2006/relationships/slide" Target="/ppt/slides/slide12.xml" Id="R95c9c9b52f164a3c" /><Relationship Type="http://schemas.openxmlformats.org/officeDocument/2006/relationships/slide" Target="/ppt/slides/slide13.xml" Id="R4edbcf72edaa4bde" /><Relationship Type="http://schemas.openxmlformats.org/officeDocument/2006/relationships/slide" Target="/ppt/slides/slide14.xml" Id="Ra167205f1273441d" /><Relationship Type="http://schemas.openxmlformats.org/officeDocument/2006/relationships/slide" Target="/ppt/slides/slide15.xml" Id="Re7e3d6d6e41440a9" /><Relationship Type="http://schemas.openxmlformats.org/officeDocument/2006/relationships/slide" Target="/ppt/slides/slide16.xml" Id="Rb85752193cf6487f" /><Relationship Type="http://schemas.openxmlformats.org/officeDocument/2006/relationships/slide" Target="/ppt/slides/slide17.xml" Id="R0e60d2bdf96245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127570ba2c4a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2daf9a62de49d3" /><Relationship Type="http://schemas.openxmlformats.org/officeDocument/2006/relationships/notesMaster" Target="/ppt/notesMasters/notesMaster1.xml" Id="R5807695174b34e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328258c78d4526" /><Relationship Type="http://schemas.openxmlformats.org/officeDocument/2006/relationships/notesMaster" Target="/ppt/notesMasters/notesMaster1.xml" Id="Rb300ef6e96a346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6f7d0bb0fe47f2" /><Relationship Type="http://schemas.openxmlformats.org/officeDocument/2006/relationships/notesMaster" Target="/ppt/notesMasters/notesMaster1.xml" Id="Rc60955c8c56842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fc8cb878a6492f" /><Relationship Type="http://schemas.openxmlformats.org/officeDocument/2006/relationships/notesMaster" Target="/ppt/notesMasters/notesMaster1.xml" Id="R8f12cb117fea47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25130802ff4905" /><Relationship Type="http://schemas.openxmlformats.org/officeDocument/2006/relationships/notesMaster" Target="/ppt/notesMasters/notesMaster1.xml" Id="Rb40dfdde44f047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5204c8039b4479" /><Relationship Type="http://schemas.openxmlformats.org/officeDocument/2006/relationships/notesMaster" Target="/ppt/notesMasters/notesMaster1.xml" Id="R1d28f1a90c7847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c9d39ae7904e50" /><Relationship Type="http://schemas.openxmlformats.org/officeDocument/2006/relationships/notesMaster" Target="/ppt/notesMasters/notesMaster1.xml" Id="R6e91b2e77c2a42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80e351c99946fc" /><Relationship Type="http://schemas.openxmlformats.org/officeDocument/2006/relationships/notesMaster" Target="/ppt/notesMasters/notesMaster1.xml" Id="R93731328e42940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c0180b1b2b4f25" /><Relationship Type="http://schemas.openxmlformats.org/officeDocument/2006/relationships/notesMaster" Target="/ppt/notesMasters/notesMaster1.xml" Id="R3808d00be96744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4e3eedd26042b2" /><Relationship Type="http://schemas.openxmlformats.org/officeDocument/2006/relationships/notesMaster" Target="/ppt/notesMasters/notesMaster1.xml" Id="R2eb47530f5f740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9736ab659b44ca" /><Relationship Type="http://schemas.openxmlformats.org/officeDocument/2006/relationships/notesMaster" Target="/ppt/notesMasters/notesMaster1.xml" Id="Rb7cafd97aac042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6450fc8b174e9d" /><Relationship Type="http://schemas.openxmlformats.org/officeDocument/2006/relationships/notesMaster" Target="/ppt/notesMasters/notesMaster1.xml" Id="R982f4ce5042e45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eff7598c6d47fe" /><Relationship Type="http://schemas.openxmlformats.org/officeDocument/2006/relationships/notesMaster" Target="/ppt/notesMasters/notesMaster1.xml" Id="Rc150e2ebf59143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3249ff36c448e0" /><Relationship Type="http://schemas.openxmlformats.org/officeDocument/2006/relationships/notesMaster" Target="/ppt/notesMasters/notesMaster1.xml" Id="Recce9823790b43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a4774d22c0471b" /><Relationship Type="http://schemas.openxmlformats.org/officeDocument/2006/relationships/notesMaster" Target="/ppt/notesMasters/notesMaster1.xml" Id="R9061a7e73e874c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8602420e294537" /><Relationship Type="http://schemas.openxmlformats.org/officeDocument/2006/relationships/notesMaster" Target="/ppt/notesMasters/notesMaster1.xml" Id="R938390acb04944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ed3d2fc00349b1" /><Relationship Type="http://schemas.openxmlformats.org/officeDocument/2006/relationships/notesMaster" Target="/ppt/notesMasters/notesMaster1.xml" Id="Rf21d686a4a8647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11B · Do</a:t>
            </a:r>
          </a:p>
          <a:p xmlns:a="http://schemas.openxmlformats.org/drawingml/2006/main">
            <a:r>
              <a:t>Learning objective: I can follow or direct a fixed water-passage method, record what reaches the collector and make a careful comparison of supplied samples.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Follow the fixed volume, time and sealed-route instructions safely.</a:t>
            </a:r>
          </a:p>
          <a:p xmlns:a="http://schemas.openxmlformats.org/drawingml/2006/main">
            <a:r>
              <a:t>Record surface observations and water collected below in mL.</a:t>
            </a:r>
          </a:p>
          <a:p xmlns:a="http://schemas.openxmlformats.org/drawingml/2006/main">
            <a:r>
              <a:t>Compare the supplied samples under this method without claiming waterproof forever.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11B · Do</a:t>
            </a:r>
          </a:p>
          <a:p xmlns:a="http://schemas.openxmlformats.org/drawingml/2006/main">
            <a:r>
              <a:t>Learning objective: I can follow or direct a fixed water-passage method, record what reaches the collector and make a careful comparison of supplied samples.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Follow the fixed volume, time and sealed-route instructions safely.</a:t>
            </a:r>
          </a:p>
          <a:p xmlns:a="http://schemas.openxmlformats.org/drawingml/2006/main">
            <a:r>
              <a:t>Record surface observations and water collected below in mL.</a:t>
            </a:r>
          </a:p>
          <a:p xmlns:a="http://schemas.openxmlformats.org/drawingml/2006/main">
            <a:r>
              <a:t>Compare the supplied samples under this method without claiming waterproof forever.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In Explore, water measured underneath showed passage through; a wet top, absorption or edge leak did not prove the same thing.</a:t>
            </a:r>
          </a:p>
          <a:p xmlns:a="http://schemas.openxmlformats.org/drawingml/2006/main">
            <a:r>
              <a:t>Prior week: point to or describe one useful model.</a:t>
            </a:r>
          </a:p>
          <a:p xmlns:a="http://schemas.openxmlformats.org/drawingml/2006/main">
            <a:r>
              <a:t>Older learning: what makes an observation useful as evidence?</a:t>
            </a:r>
          </a:p>
          <a:p xmlns:a="http://schemas.openxmlformats.org/drawingml/2006/main">
            <a:r>
              <a:t>Lead-in: what do you notice in today’s first picture?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Last lesson: what observation directly showed passage through?</a:t>
            </a:r>
          </a:p>
          <a:p xmlns:a="http://schemas.openxmlformats.org/drawingml/2006/main">
            <a:r>
              <a:t>Last lesson: why did an edge leak fail the method check?</a:t>
            </a:r>
          </a:p>
          <a:p xmlns:a="http://schemas.openxmlformats.org/drawingml/2006/main">
            <a:r>
              <a:t>Last week: state one sample-specific conclusion rule.</a:t>
            </a:r>
          </a:p>
          <a:p xmlns:a="http://schemas.openxmlformats.org/drawingml/2006/main">
            <a:r>
              <a:t>Lead-in: why must the collar stay sealed?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SEAL · water must not bypass the sample</a:t>
            </a:r>
          </a:p>
          <a:p xmlns:a="http://schemas.openxmlformats.org/drawingml/2006/main">
            <a:r>
              <a:t>Red seals stop water sneaking round the edge.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FOLLOW · same volume, same time</a:t>
            </a:r>
          </a:p>
          <a:p xmlns:a="http://schemas.openxmlformats.org/drawingml/2006/main">
            <a:r>
              <a:t>Same amount of water, same time, for every sample.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RECORD · what reached the collector</a:t>
            </a:r>
          </a:p>
          <a:p xmlns:a="http://schemas.openxmlformats.org/drawingml/2006/main">
            <a:r>
              <a:t>An edge leak is not "water through rock". Record it as a fault, not a result.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Count all tray water as passed through the rock.</a:t>
            </a:r>
          </a:p>
          <a:p xmlns:a="http://schemas.openxmlformats.org/drawingml/2006/main">
            <a:r>
              <a:t>Mark the run invalid because water bypassed the sample; stop and use the repaired or fixed-data route.</a:t>
            </a:r>
          </a:p>
          <a:p xmlns:a="http://schemas.openxmlformats.org/drawingml/2006/main">
            <a:r>
              <a:t>Guess how much probably went through and keep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SEAL · water must not bypass the sample</a:t>
            </a:r>
          </a:p>
          <a:p xmlns:a="http://schemas.openxmlformats.org/drawingml/2006/main">
            <a:r>
              <a:t>Red seals stop water sneaking round the edge.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FOLLOW · same volume, same time</a:t>
            </a:r>
          </a:p>
          <a:p xmlns:a="http://schemas.openxmlformats.org/drawingml/2006/main">
            <a:r>
              <a:t>Same amount of water, same time, for every sample.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RECORD · what reached the collector</a:t>
            </a:r>
          </a:p>
          <a:p xmlns:a="http://schemas.openxmlformats.org/drawingml/2006/main">
            <a:r>
              <a:t>An edge leak is not "water through rock". Record it as a fault, not a result.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Count all tray water as passed through the rock.</a:t>
            </a:r>
          </a:p>
          <a:p xmlns:a="http://schemas.openxmlformats.org/drawingml/2006/main">
            <a:r>
              <a:t>Mark the run invalid because water bypassed the sample; stop and use the repaired or fixed-data route.</a:t>
            </a:r>
          </a:p>
          <a:p xmlns:a="http://schemas.openxmlformats.org/drawingml/2006/main">
            <a:r>
              <a:t>Guess how much probably went through and keep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SEAL · water must not bypass the sample</a:t>
            </a:r>
          </a:p>
          <a:p xmlns:a="http://schemas.openxmlformats.org/drawingml/2006/main">
            <a:r>
              <a:t>Red seals stop water sneaking round the edge.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FOLLOW · same volume, same time</a:t>
            </a:r>
          </a:p>
          <a:p xmlns:a="http://schemas.openxmlformats.org/drawingml/2006/main">
            <a:r>
              <a:t>Same amount of water, same time, for every sample.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RECORD · what reached the collector</a:t>
            </a:r>
          </a:p>
          <a:p xmlns:a="http://schemas.openxmlformats.org/drawingml/2006/main">
            <a:r>
              <a:t>An edge leak is not "water through rock". Record it as a fault, not a result.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Count all tray water as passed through the rock.</a:t>
            </a:r>
          </a:p>
          <a:p xmlns:a="http://schemas.openxmlformats.org/drawingml/2006/main">
            <a:r>
              <a:t>Mark the run invalid because water bypassed the sample; stop and use the repaired or fixed-data route.</a:t>
            </a:r>
          </a:p>
          <a:p xmlns:a="http://schemas.openxmlformats.org/drawingml/2006/main">
            <a:r>
              <a:t>Guess how much probably went through and keep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PERMEABILITY how water passes through the ability of a material to let water travel through connected spaces</a:t>
            </a:r>
          </a:p>
          <a:p xmlns:a="http://schemas.openxmlformats.org/drawingml/2006/main">
            <a:r>
              <a:t>VOLUME amount of liquid the amount of liquid measured here in millilitres</a:t>
            </a:r>
          </a:p>
          <a:p xmlns:a="http://schemas.openxmlformats.org/drawingml/2006/main">
            <a:r>
              <a:t>VALID the method worked as stated a result produced without the named fault or safety stop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Check in order: seal held → 5 mL added → 120 s timed → collector read in mL → claim names supplied samples and method.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Staff check the stable tray, pre-inspected matched pieces, sealed collar and clear collector. Pupils may operate only agreed safe steps or direct an adult.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Add the fixed 5 mL with a needle-free tool, start the 120-second timer and observe top, underside and collector without moving the rig.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Record the amount collected below in mL and note surface-only, absorbed or passed-through evidence. Record a fault instead of inventing a result.</a:t>
            </a:r>
          </a:p>
          <a:p xmlns:a="http://schemas.openxmlformats.org/drawingml/2006/main">
            <a:r>
              <a:t>Sealed water bench · run the fixed method</a:t>
            </a:r>
          </a:p>
          <a:p xmlns:a="http://schemas.openxmlformats.org/drawingml/2006/main">
            <a:r>
              <a:t>Simulated for rehearsal. Same 10 mL, same 120 s, sealed edges. Only the sample changes.</a:t>
            </a:r>
          </a:p>
          <a:p xmlns:a="http://schemas.openxmlformats.org/drawingml/2006/main">
            <a:r>
              <a:t>Sample A</a:t>
            </a:r>
          </a:p>
          <a:p xmlns:a="http://schemas.openxmlformats.org/drawingml/2006/main">
            <a:r>
              <a:t>Sample C</a:t>
            </a:r>
          </a:p>
          <a:p xmlns:a="http://schemas.openxmlformats.org/drawingml/2006/main">
            <a:r>
              <a:t>Sample F</a:t>
            </a:r>
          </a:p>
          <a:p xmlns:a="http://schemas.openxmlformats.org/drawingml/2006/main">
            <a:r>
              <a:t>⏱ +30 s</a:t>
            </a:r>
          </a:p>
          <a:p xmlns:a="http://schemas.openxmlformats.org/drawingml/2006/main">
            <a:r>
              <a:t>Record at 120 s</a:t>
            </a:r>
          </a:p>
          <a:p xmlns:a="http://schemas.openxmlformats.org/drawingml/2006/main">
            <a:r>
              <a:t>Pick a sample. Pour 10 mL. Then press +30 s four times.</a:t>
            </a:r>
          </a:p>
          <a:p xmlns:a="http://schemas.openxmlformats.org/drawingml/2006/main">
            <a:r>
              <a:t>Results: —</a:t>
            </a:r>
          </a:p>
          <a:p xmlns:a="http://schemas.openxmlformats.org/drawingml/2006/main">
            <a:r>
              <a:t>A wet top is not the same as water through. Only the collector counts. "Waterproof forever" is never a fair claim from 120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PERMEABILITY how water passes through the ability of a material to let water travel through connected spaces</a:t>
            </a:r>
          </a:p>
          <a:p xmlns:a="http://schemas.openxmlformats.org/drawingml/2006/main">
            <a:r>
              <a:t>VOLUME amount of liquid the amount of liquid measured here in millilitres</a:t>
            </a:r>
          </a:p>
          <a:p xmlns:a="http://schemas.openxmlformats.org/drawingml/2006/main">
            <a:r>
              <a:t>VALID the method worked as stated a result produced without the named fault or safety stop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Check in order: seal held → 5 mL added → 120 s timed → collector read in mL → claim names supplied samples and method.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Staff check the stable tray, pre-inspected matched pieces, sealed collar and clear collector. Pupils may operate only agreed safe steps or direct an adult.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Add the fixed 5 mL with a needle-free tool, start the 120-second timer and observe top, underside and collector without moving the rig.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Record the amount collected below in mL and note surface-only, absorbed or passed-through evidence. Record a fault instead of inventing a result.</a:t>
            </a:r>
          </a:p>
          <a:p xmlns:a="http://schemas.openxmlformats.org/drawingml/2006/main">
            <a:r>
              <a:t>Sealed water bench · run the fixed method</a:t>
            </a:r>
          </a:p>
          <a:p xmlns:a="http://schemas.openxmlformats.org/drawingml/2006/main">
            <a:r>
              <a:t>Simulated for rehearsal. Same 10 mL, same 120 s, sealed edges. Only the sample changes.</a:t>
            </a:r>
          </a:p>
          <a:p xmlns:a="http://schemas.openxmlformats.org/drawingml/2006/main">
            <a:r>
              <a:t>Sample A</a:t>
            </a:r>
          </a:p>
          <a:p xmlns:a="http://schemas.openxmlformats.org/drawingml/2006/main">
            <a:r>
              <a:t>Sample C</a:t>
            </a:r>
          </a:p>
          <a:p xmlns:a="http://schemas.openxmlformats.org/drawingml/2006/main">
            <a:r>
              <a:t>Sample F</a:t>
            </a:r>
          </a:p>
          <a:p xmlns:a="http://schemas.openxmlformats.org/drawingml/2006/main">
            <a:r>
              <a:t>⏱ +30 s</a:t>
            </a:r>
          </a:p>
          <a:p xmlns:a="http://schemas.openxmlformats.org/drawingml/2006/main">
            <a:r>
              <a:t>Record at 120 s</a:t>
            </a:r>
          </a:p>
          <a:p xmlns:a="http://schemas.openxmlformats.org/drawingml/2006/main">
            <a:r>
              <a:t>Pick a sample. Pour 10 mL. Then press +30 s four times.</a:t>
            </a:r>
          </a:p>
          <a:p xmlns:a="http://schemas.openxmlformats.org/drawingml/2006/main">
            <a:r>
              <a:t>Results: —</a:t>
            </a:r>
          </a:p>
          <a:p xmlns:a="http://schemas.openxmlformats.org/drawingml/2006/main">
            <a:r>
              <a:t>A wet top is not the same as water through. Only the collector counts. "Waterproof forever" is never a fair claim from 120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PERMEABILITY how water passes through the ability of a material to let water travel through connected spaces</a:t>
            </a:r>
          </a:p>
          <a:p xmlns:a="http://schemas.openxmlformats.org/drawingml/2006/main">
            <a:r>
              <a:t>VOLUME amount of liquid the amount of liquid measured here in millilitres</a:t>
            </a:r>
          </a:p>
          <a:p xmlns:a="http://schemas.openxmlformats.org/drawingml/2006/main">
            <a:r>
              <a:t>VALID the method worked as stated a result produced without the named fault or safety stop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Check in order: seal held → 5 mL added → 120 s timed → collector read in mL → claim names supplied samples and method.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Staff check the stable tray, pre-inspected matched pieces, sealed collar and clear collector. Pupils may operate only agreed safe steps or direct an adult.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Add the fixed 5 mL with a needle-free tool, start the 120-second timer and observe top, underside and collector without moving the rig.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Record the amount collected below in mL and note surface-only, absorbed or passed-through evidence. Record a fault instead of inventing a result.</a:t>
            </a:r>
          </a:p>
          <a:p xmlns:a="http://schemas.openxmlformats.org/drawingml/2006/main">
            <a:r>
              <a:t>Sealed water bench · run the fixed method</a:t>
            </a:r>
          </a:p>
          <a:p xmlns:a="http://schemas.openxmlformats.org/drawingml/2006/main">
            <a:r>
              <a:t>Simulated for rehearsal. Same 10 mL, same 120 s, sealed edges. Only the sample changes.</a:t>
            </a:r>
          </a:p>
          <a:p xmlns:a="http://schemas.openxmlformats.org/drawingml/2006/main">
            <a:r>
              <a:t>Sample A</a:t>
            </a:r>
          </a:p>
          <a:p xmlns:a="http://schemas.openxmlformats.org/drawingml/2006/main">
            <a:r>
              <a:t>Sample C</a:t>
            </a:r>
          </a:p>
          <a:p xmlns:a="http://schemas.openxmlformats.org/drawingml/2006/main">
            <a:r>
              <a:t>Sample F</a:t>
            </a:r>
          </a:p>
          <a:p xmlns:a="http://schemas.openxmlformats.org/drawingml/2006/main">
            <a:r>
              <a:t>⏱ +30 s</a:t>
            </a:r>
          </a:p>
          <a:p xmlns:a="http://schemas.openxmlformats.org/drawingml/2006/main">
            <a:r>
              <a:t>Record at 120 s</a:t>
            </a:r>
          </a:p>
          <a:p xmlns:a="http://schemas.openxmlformats.org/drawingml/2006/main">
            <a:r>
              <a:t>Pick a sample. Pour 10 mL. Then press +30 s four times.</a:t>
            </a:r>
          </a:p>
          <a:p xmlns:a="http://schemas.openxmlformats.org/drawingml/2006/main">
            <a:r>
              <a:t>Results: —</a:t>
            </a:r>
          </a:p>
          <a:p xmlns:a="http://schemas.openxmlformats.org/drawingml/2006/main">
            <a:r>
              <a:t>A wet top is not the same as water through. Only the collector counts. "Waterproof forever" is never a fair claim from 120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More water passed through supplied Sample B under this method.</a:t>
            </a:r>
          </a:p>
          <a:p xmlns:a="http://schemas.openxmlformats.org/drawingml/2006/main">
            <a:r>
              <a:t>Sample A is waterproof forever.</a:t>
            </a:r>
          </a:p>
          <a:p xmlns:a="http://schemas.openxmlformats.org/drawingml/2006/main">
            <a:r>
              <a:t>Every rock like B always passes exactly 3.0 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Compare collected-water values only after checking that both runs were valid. A lower value means less passage was observed in the stated time, not proven permanent waterproofing.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Notice what the fixed method tried to hold steady: starting volume, time, collar area and prepared thickness. W13 will name and test these method controls directly.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End with one careful sentence: Under this method, more water passed through supplied Sample __. One result set is useful evidence, but samples and repeats can vary.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Check in order: seal held → 5 mL added → 120 s timed → collector read in mL → claim names supplied samples and method.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Compare collected-water values only after checking that both runs were valid. A lower value means less passage was observed in the stated time, not proven permanent waterproofing.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Notice what the fixed method tried to hold steady: starting volume, time, collar area and prepared thickness. W13 will name and test these method controls directly.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End with one careful sentence: Under this method, more water passed through supplied Sample __. One result set is useful evidence, but samples and repeats can vary.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Check in order: seal held → 5 mL added → 120 s timed → collector read in mL → claim names supplied samples and method.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lab record to VALID A, VALID B, METHOD FAULT or CAREFUL COMPARISON.</a:t>
            </a:r>
          </a:p>
          <a:p xmlns:a="http://schemas.openxmlformats.org/drawingml/2006/main">
            <a:r>
              <a:t>Check seal, volume and time on the record. Place valid results with the sample code. Move faults away from the comparison. Freeze the evidence and state a bounded comparison.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A · sealed run 5 mL added; 120 seconds; seal held; 0.5 mL collected below.</a:t>
            </a:r>
          </a:p>
          <a:p xmlns:a="http://schemas.openxmlformats.org/drawingml/2006/main">
            <a:r>
              <a:t>A · surface note A small bead remained on top and the collector held 0.5 mL; no edge leak was seen.</a:t>
            </a:r>
          </a:p>
          <a:p xmlns:a="http://schemas.openxmlformats.org/drawingml/2006/main">
            <a:r>
              <a:t>B · sealed run 5 mL added; 120 seconds; seal held; 3.0 mL collected below.</a:t>
            </a:r>
          </a:p>
          <a:p xmlns:a="http://schemas.openxmlformats.org/drawingml/2006/main">
            <a:r>
              <a:t>B · underside note Drops formed under the prepared sample inside the sealed area and entered the collector.</a:t>
            </a:r>
          </a:p>
          <a:p xmlns:a="http://schemas.openxmlformats.org/drawingml/2006/main">
            <a:r>
              <a:t>Loose collar Water ran down the outside edge into the tray; the collector reading cannot be separated from the leak.</a:t>
            </a:r>
          </a:p>
          <a:p xmlns:a="http://schemas.openxmlformats.org/drawingml/2006/main">
            <a:r>
              <a:t>Timer missed The team cannot say whether the run lasted 60, 120 or 180 seconds.</a:t>
            </a:r>
          </a:p>
          <a:p xmlns:a="http://schemas.openxmlformats.org/drawingml/2006/main">
            <a:r>
              <a:t>Bounded result Under the fixed method, more water passed through supplied Sample B than supplied Sample A.</a:t>
            </a:r>
          </a:p>
          <a:p xmlns:a="http://schemas.openxmlformats.org/drawingml/2006/main">
            <a:r>
              <a:t>Time caution Little water in 120 seconds does not prove that a sample is waterproof for every time and use.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VALID · SAMPLE A</a:t>
            </a:r>
          </a:p>
          <a:p xmlns:a="http://schemas.openxmlformats.org/drawingml/2006/main">
            <a:r>
              <a:t>VALID · SAMPLE B</a:t>
            </a:r>
          </a:p>
          <a:p xmlns:a="http://schemas.openxmlformats.org/drawingml/2006/main">
            <a:r>
              <a:t>METHOD FAULT · DO NOT COMPARE</a:t>
            </a:r>
          </a:p>
          <a:p xmlns:a="http://schemas.openxmlformats.org/drawingml/2006/main">
            <a:r>
              <a:t>CAREFUL COMPARISON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Lab glitch: any water in the tray counts as water through the rock.</a:t>
            </a:r>
          </a:p>
          <a:p xmlns:a="http://schemas.openxmlformats.org/drawingml/2006/main">
            <a:r>
              <a:t>Keep it: spills, leaks and collector water all mean the same thing.</a:t>
            </a:r>
          </a:p>
          <a:p xmlns:a="http://schemas.openxmlformats.org/drawingml/2006/main">
            <a:r>
              <a:t>Repair it: count only water reaching the collector through the sealed sample route; mark leaks as faults.</a:t>
            </a:r>
          </a:p>
          <a:p xmlns:a="http://schemas.openxmlformats.org/drawingml/2006/main">
            <a:r>
              <a:t>Repair it: estimate the leak and add a guessed collector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lab record to VALID A, VALID B, METHOD FAULT or CAREFUL COMPARISON.</a:t>
            </a:r>
          </a:p>
          <a:p xmlns:a="http://schemas.openxmlformats.org/drawingml/2006/main">
            <a:r>
              <a:t>Check seal, volume and time on the record. Place valid results with the sample code. Move faults away from the comparison. Freeze the evidence and state a bounded comparison.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A · sealed run 5 mL added; 120 seconds; seal held; 0.5 mL collected below.</a:t>
            </a:r>
          </a:p>
          <a:p xmlns:a="http://schemas.openxmlformats.org/drawingml/2006/main">
            <a:r>
              <a:t>A · surface note A small bead remained on top and the collector held 0.5 mL; no edge leak was seen.</a:t>
            </a:r>
          </a:p>
          <a:p xmlns:a="http://schemas.openxmlformats.org/drawingml/2006/main">
            <a:r>
              <a:t>B · sealed run 5 mL added; 120 seconds; seal held; 3.0 mL collected below.</a:t>
            </a:r>
          </a:p>
          <a:p xmlns:a="http://schemas.openxmlformats.org/drawingml/2006/main">
            <a:r>
              <a:t>B · underside note Drops formed under the prepared sample inside the sealed area and entered the collector.</a:t>
            </a:r>
          </a:p>
          <a:p xmlns:a="http://schemas.openxmlformats.org/drawingml/2006/main">
            <a:r>
              <a:t>Loose collar Water ran down the outside edge into the tray; the collector reading cannot be separated from the leak.</a:t>
            </a:r>
          </a:p>
          <a:p xmlns:a="http://schemas.openxmlformats.org/drawingml/2006/main">
            <a:r>
              <a:t>Timer missed The team cannot say whether the run lasted 60, 120 or 180 seconds.</a:t>
            </a:r>
          </a:p>
          <a:p xmlns:a="http://schemas.openxmlformats.org/drawingml/2006/main">
            <a:r>
              <a:t>Bounded result Under the fixed method, more water passed through supplied Sample B than supplied Sample A.</a:t>
            </a:r>
          </a:p>
          <a:p xmlns:a="http://schemas.openxmlformats.org/drawingml/2006/main">
            <a:r>
              <a:t>Time caution Little water in 120 seconds does not prove that a sample is waterproof for every time and use.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VALID · SAMPLE A</a:t>
            </a:r>
          </a:p>
          <a:p xmlns:a="http://schemas.openxmlformats.org/drawingml/2006/main">
            <a:r>
              <a:t>VALID · SAMPLE B</a:t>
            </a:r>
          </a:p>
          <a:p xmlns:a="http://schemas.openxmlformats.org/drawingml/2006/main">
            <a:r>
              <a:t>METHOD FAULT · DO NOT COMPARE</a:t>
            </a:r>
          </a:p>
          <a:p xmlns:a="http://schemas.openxmlformats.org/drawingml/2006/main">
            <a:r>
              <a:t>CAREFUL COMPARISON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Lab glitch: any water in the tray counts as water through the rock.</a:t>
            </a:r>
          </a:p>
          <a:p xmlns:a="http://schemas.openxmlformats.org/drawingml/2006/main">
            <a:r>
              <a:t>Keep it: spills, leaks and collector water all mean the same thing.</a:t>
            </a:r>
          </a:p>
          <a:p xmlns:a="http://schemas.openxmlformats.org/drawingml/2006/main">
            <a:r>
              <a:t>Repair it: count only water reaching the collector through the sealed sample route; mark leaks as faults.</a:t>
            </a:r>
          </a:p>
          <a:p xmlns:a="http://schemas.openxmlformats.org/drawingml/2006/main">
            <a:r>
              <a:t>Repair it: estimate the leak and add a guessed collector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Staff-built sealed rigs; pre-inspected prepared sample pieces; stable trays; 5 mL needle-free pipettes or syringes; marked collectors; 120-second timer; wipes; result sheet.</a:t>
            </a:r>
          </a:p>
          <a:p xmlns:a="http://schemas.openxmlformats.org/drawingml/2006/main">
            <a:r>
              <a:t>Same outcome: I can follow or direct a fixed water-passage method, record what reaches the collector and make a careful comparison of supplied samples.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embedded fixed records: A = 0.5 mL and B = 3.0 mL after the same 5 mL and 120 seconds. Complete the same observation and comparison table.</a:t>
            </a:r>
          </a:p>
          <a:p xmlns:a="http://schemas.openxmlformats.org/drawingml/2006/main">
            <a:r>
              <a:t>Same evidence: Method checklist, surface/underside observation, collector values with mL, valid/fault decision, bounded comparison and one method-control question for W13.</a:t>
            </a:r>
          </a:p>
          <a:p xmlns:a="http://schemas.openxmlformats.org/drawingml/2006/main">
            <a:r>
              <a:t>Equipment / setup Staff-built sealed rigs; pre-inspected prepared sample pieces; stable trays; 5 mL needle-free pipettes or syringes; marked collectors; 120-second timer; wipes; result sheet.</a:t>
            </a:r>
          </a:p>
          <a:p xmlns:a="http://schemas.openxmlformats.org/drawingml/2006/main">
            <a:r>
              <a:t>Safety / sensory Only staff build and approve rigs. No hammering, chipping, scratching, licking, tasting, smelling or dust blowing. Keep samples on trays, contain spills, stop for leaks/damage/flaking/dust and wash hands. A director or fixed-data route is full participation.</a:t>
            </a:r>
          </a:p>
          <a:p xmlns:a="http://schemas.openxmlformats.org/drawingml/2006/main">
            <a:r>
              <a:t>Offline parity Use the embedded fixed records: A = 0.5 mL and B = 3.0 mL after the same 5 mL and 120 seconds. Complete the same observation and comparison table.</a:t>
            </a:r>
          </a:p>
          <a:p xmlns:a="http://schemas.openxmlformats.org/drawingml/2006/main">
            <a:r>
              <a:t>No-equipment/access route: Use printed method and result cards. A pupil sequences the method and directs an adult scribe; no handling is required.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Record both valid results, reject one fault record and explain the sample comparison with a time limit.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Check seal, volume, time, collector and claim boundary in order.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Staff-built sealed rigs; pre-inspected prepared sample pieces; stable trays; 5 mL needle-free pipettes or syringes; marked collectors; 120-second timer; wipes; result sheet.</a:t>
            </a:r>
          </a:p>
          <a:p xmlns:a="http://schemas.openxmlformats.org/drawingml/2006/main">
            <a:r>
              <a:t>Same outcome: I can follow or direct a fixed water-passage method, record what reaches the collector and make a careful comparison of supplied samples.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embedded fixed records: A = 0.5 mL and B = 3.0 mL after the same 5 mL and 120 seconds. Complete the same observation and comparison table.</a:t>
            </a:r>
          </a:p>
          <a:p xmlns:a="http://schemas.openxmlformats.org/drawingml/2006/main">
            <a:r>
              <a:t>Same evidence: Method checklist, surface/underside observation, collector values with mL, valid/fault decision, bounded comparison and one method-control question for W13.</a:t>
            </a:r>
          </a:p>
          <a:p xmlns:a="http://schemas.openxmlformats.org/drawingml/2006/main">
            <a:r>
              <a:t>Equipment / setup Staff-built sealed rigs; pre-inspected prepared sample pieces; stable trays; 5 mL needle-free pipettes or syringes; marked collectors; 120-second timer; wipes; result sheet.</a:t>
            </a:r>
          </a:p>
          <a:p xmlns:a="http://schemas.openxmlformats.org/drawingml/2006/main">
            <a:r>
              <a:t>Safety / sensory Only staff build and approve rigs. No hammering, chipping, scratching, licking, tasting, smelling or dust blowing. Keep samples on trays, contain spills, stop for leaks/damage/flaking/dust and wash hands. A director or fixed-data route is full participation.</a:t>
            </a:r>
          </a:p>
          <a:p xmlns:a="http://schemas.openxmlformats.org/drawingml/2006/main">
            <a:r>
              <a:t>Offline parity Use the embedded fixed records: A = 0.5 mL and B = 3.0 mL after the same 5 mL and 120 seconds. Complete the same observation and comparison table.</a:t>
            </a:r>
          </a:p>
          <a:p xmlns:a="http://schemas.openxmlformats.org/drawingml/2006/main">
            <a:r>
              <a:t>No-equipment/access route: Use printed method and result cards. A pupil sequences the method and directs an adult scribe; no handling is required.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Record both valid results, reject one fault record and explain the sample comparison with a time limit.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Check seal, volume, time, collector and claim boundary in order.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SCI_B_W11B_Water_Through_Rock_Lab_Do.html.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move; written closure is optional when Voice and Audience are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lab uses a short classroom test on prepared samples. Natural variation, tiny cracks, sample thickness and sealing can affect results; the test is not a full building-performance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Give the comparison and explain why it does not mean waterproof forever.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Optional exact record of what I said or showed:</a:t>
            </a:r>
          </a:p>
          <a:p xmlns:a="http://schemas.openxmlformats.org/drawingml/2006/main">
            <a:r>
              <a:t>One next teaching move after the adult listened: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SCI_B_W11B_Water_Through_Rock_Lab_Do.html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6278644414f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f416bd58a412f" /><Relationship Type="http://schemas.openxmlformats.org/officeDocument/2006/relationships/slideLayout" Target="/ppt/slideLayouts/slideLayout1.xml" Id="R76131f53997042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131f53997042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361c645164b82" /><Relationship Type="http://schemas.openxmlformats.org/officeDocument/2006/relationships/hyperlink" Target="SCI_B_W11B_Water_Through_Rock_Lab_Do.html" TargetMode="External" Id="R76c2ad15075242fd" /><Relationship Type="http://schemas.openxmlformats.org/officeDocument/2006/relationships/notesSlide" Target="/ppt/notesSlides/notesSlide1.xml" Id="R54e847c638324d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c2c74952d4025" /><Relationship Type="http://schemas.openxmlformats.org/officeDocument/2006/relationships/notesSlide" Target="/ppt/notesSlides/notesSlide2.xml" Id="R5734d4f65f6d40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531a06ed34d6e" /><Relationship Type="http://schemas.openxmlformats.org/officeDocument/2006/relationships/notesSlide" Target="/ppt/notesSlides/notesSlide3.xml" Id="R8f1a440f5b034a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77f2967e34b42" /><Relationship Type="http://schemas.openxmlformats.org/officeDocument/2006/relationships/notesSlide" Target="/ppt/notesSlides/notesSlide4.xml" Id="R0293af80139a4f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c223703c64b11" /><Relationship Type="http://schemas.openxmlformats.org/officeDocument/2006/relationships/notesSlide" Target="/ppt/notesSlides/notesSlide5.xml" Id="R8937f075c0f84b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953988df14fca" /><Relationship Type="http://schemas.openxmlformats.org/officeDocument/2006/relationships/image" Target="/ppt/media/image.png" Id="Rc41eaddbe2684252" /><Relationship Type="http://schemas.openxmlformats.org/officeDocument/2006/relationships/image" Target="/ppt/media/image2.png" Id="Rae160fe6fe194304" /><Relationship Type="http://schemas.openxmlformats.org/officeDocument/2006/relationships/image" Target="/ppt/media/image3.png" Id="R1406705b53e54760" /><Relationship Type="http://schemas.openxmlformats.org/officeDocument/2006/relationships/notesSlide" Target="/ppt/notesSlides/notesSlide6.xml" Id="Rbf14bd20ebb747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fe72c4b45446f" /><Relationship Type="http://schemas.openxmlformats.org/officeDocument/2006/relationships/notesSlide" Target="/ppt/notesSlides/notesSlide7.xml" Id="Rd53321bc0b3245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2649f9ffc4018" /><Relationship Type="http://schemas.openxmlformats.org/officeDocument/2006/relationships/notesSlide" Target="/ppt/notesSlides/notesSlide8.xml" Id="R5e73d2d74a5247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c45cf8fe14cd7" /><Relationship Type="http://schemas.openxmlformats.org/officeDocument/2006/relationships/image" Target="/ppt/media/image4.png" Id="R309035171067438c" /><Relationship Type="http://schemas.openxmlformats.org/officeDocument/2006/relationships/notesSlide" Target="/ppt/notesSlides/notesSlide9.xml" Id="Rab411ed2531b43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7c559004e4c4b" /><Relationship Type="http://schemas.openxmlformats.org/officeDocument/2006/relationships/notesSlide" Target="/ppt/notesSlides/notesSlide10.xml" Id="Rdb3668b7d5a049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25331438c4513" /><Relationship Type="http://schemas.openxmlformats.org/officeDocument/2006/relationships/notesSlide" Target="/ppt/notesSlides/notesSlide11.xml" Id="R18b8aec505464d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72eae05f24454" /><Relationship Type="http://schemas.openxmlformats.org/officeDocument/2006/relationships/notesSlide" Target="/ppt/notesSlides/notesSlide12.xml" Id="Rad9ff717661f44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5b09477a94a60" /><Relationship Type="http://schemas.openxmlformats.org/officeDocument/2006/relationships/notesSlide" Target="/ppt/notesSlides/notesSlide13.xml" Id="R72d336c8868d49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033e66a9f48e5" /><Relationship Type="http://schemas.openxmlformats.org/officeDocument/2006/relationships/notesSlide" Target="/ppt/notesSlides/notesSlide14.xml" Id="Rcbc63d378a0648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88f4b01d74b07" /><Relationship Type="http://schemas.openxmlformats.org/officeDocument/2006/relationships/notesSlide" Target="/ppt/notesSlides/notesSlide15.xml" Id="R8e1d8058fb0541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57fabb53945ab" /><Relationship Type="http://schemas.openxmlformats.org/officeDocument/2006/relationships/notesSlide" Target="/ppt/notesSlides/notesSlide16.xml" Id="R191c32c7d3fe48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4374531824e8c" /><Relationship Type="http://schemas.openxmlformats.org/officeDocument/2006/relationships/notesSlide" Target="/ppt/notesSlides/notesSlide17.xml" Id="R2a437d35323249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F0A4EEB-6594-4008-B7F3-B6153E0C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080FE0C-9474-40B2-8E74-E7F171EA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48CABE1-F2E7-4585-9B3B-8E3E728E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4151EC-966E-46BD-A221-E5F1BB39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Water Through Rock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2AB12AA-10CF-4985-927B-E47BE4B7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62480B78-74D5-44D5-B586-45C22455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462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follow or direct a fixed water-passage method, record what reaches the collector and make a careful comparison of supplied samples.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6F33D44D-A462-4855-BCEA-4E4EA973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30588956-5253-4AB0-8799-C4E60770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SEAL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4BE339BC-2928-4F3A-AEF5-8376241D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water must not bypass the sample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A41F4FED-18B7-45CB-8B40-51C780A8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4B6E4498-DF08-4B43-B141-B87E6F90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FOLLOW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86047DD4-DCBB-418E-87DE-CD096A63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same stated lab method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B38D85C7-76ED-42FB-9509-CA8253A3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BC4DAADB-73C5-4E64-A051-27B930C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CA1538C8-FA15-4A5E-84D9-94AD859D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collector result in mL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816EAB28-1F20-4D48-B43C-15E38B04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  <a:hlinkClick xmlns:r="http://schemas.openxmlformats.org/officeDocument/2006/relationships" r:id="R76c2ad15075242fd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2448F4CD-1D93-4C7C-A3CE-78DD7695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C49625FF-C91E-4C2E-8439-D9EE6838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652758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3E4D69B9-4403-4EFF-BA3D-11676C4A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1D0A123-EBA7-4484-8F2E-72697B69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3E6A82F-5EE8-4094-9A78-C89BA8C9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45FFF1-22E3-4FDE-A684-5434C9AE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344B795-D4F3-45A1-8CD5-FAC8D0F2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27971D4-71F4-480E-811C-AB64464F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Follow the fixed volume, time and sealed-route instructions safely.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309D636-0F6D-4D56-8A7A-61A68CAF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 surface observations and water collected below in mL.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FA911F7-4FBE-4EA9-B7FC-7FB84458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the supplied samples under this method without claiming waterproof forever.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FD64006-9729-4D7A-BA46-21A15A2F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717EF226-1C0B-4BD1-9E48-AC892FAC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295859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FF17BC26-ACB7-4731-A3B0-3196F1F5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7FA08A7-4982-4708-AF09-D035579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BEEB4B1-D47C-4A5A-9FDE-60EE1B2C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6412BA-AF2C-406F-B7D8-8EED17DF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9953975-F8D9-4B20-AAF6-EA42A307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575D65E-253B-4E7C-9C50-E52EAD23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what observation directly showed passage through?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B71AAD0-5BB5-4A9F-BC87-B88B03B8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why did an edge leak fail the method check?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B328475-7B8E-4014-BFEA-6DF7E13D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week: state one sample-specific conclusion rule.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D6266B0-2135-4B42-B3F5-7D99C28B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why must the collar stay sealed?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7C1E4EA-6612-4965-9C1F-588AC6AC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54B33ED-7C71-4D3E-82B4-9B771C96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962139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6BA53A6-1AF5-4818-9547-68A88F9D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E33B8F5-7E03-46A9-B6F8-97F2148D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5FEC312-3476-402E-ACD3-4F8D6A74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3B288B-5A9B-4726-8011-EBBA5AF1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Water appears in the tray, but the collar leaked around the sample edge. What should the lab team record?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DEF077A-1DB1-4C34-96E2-B91DF0C2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40F7EEF-C051-415A-9241-3631AA84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D886860-DD91-419C-AB06-89E9CC4B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Count all tray water as passed through the rock.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BC53E07-D7A2-4491-8779-DC2B9FFA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Mark the run invalid because water bypassed the sample; stop and use the repaired or fixed-data route.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A29BF56-F963-4B91-9BB0-A1A069AA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Guess how much probably went through and keep the result.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C5CBE32-D43A-4884-99F1-CAEC8DDE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57F4A3D-A236-4FCD-8CEE-574B3291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848604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2AB87BE-173A-4FC3-9EAC-73B00832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064D255-2EE2-491C-A28F-FED5F573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729AFD5-78BA-4CE3-8429-3E6DC630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FD7D66-656D-46DF-8DDF-ACB6B609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DA55FD9-8D79-48D0-9C89-1930CCBB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64E7B55-A9A2-497B-994E-A909E40F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1: water is visible outside the sealed test area.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A44E90D-11F4-4317-8026-216F0B34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2: the collector and spill tray are not the same place.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711A593-F7A8-41BB-B827-6D6DC56F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Decision: valid passage evidence must reach the collector through the prepared sample.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FCB2380-3684-414A-B649-FE549166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FB6FBB0-3E65-402D-BF61-633AC8EE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608373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68DE09D1-43C9-4B55-B7A7-09FFB2B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0FC0309-B5AC-4785-9745-84987712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0AFDDF6-4F35-4AE0-85C2-AB95B59B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D29853-ADC5-47F3-9A6C-A8E1562E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DD4C7A7-C32D-4FD3-89CD-62CC811B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eaddbe2684252"/>
          <a:stretch xmlns:a="http://schemas.openxmlformats.org/drawingml/2006/main"/>
        </p:blipFill>
        <p:spPr>
          <a:xfrm xmlns:a="http://schemas.openxmlformats.org/drawingml/2006/main">
            <a:off x="800100" y="2752407"/>
            <a:ext cx="3378200" cy="185801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F27D350C-F981-4617-A8F1-13B48EE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sealed sample above a collector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60fe6fe194304"/>
          <a:stretch xmlns:a="http://schemas.openxmlformats.org/drawingml/2006/main"/>
        </p:blipFill>
        <p:spPr>
          <a:xfrm xmlns:a="http://schemas.openxmlformats.org/drawingml/2006/main">
            <a:off x="4406900" y="2752407"/>
            <a:ext cx="3378200" cy="185801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8DB0FA5D-BB25-47A7-88B9-CB80191C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Water collecting below the sample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6705b53e54760"/>
          <a:stretch xmlns:a="http://schemas.openxmlformats.org/drawingml/2006/main"/>
        </p:blipFill>
        <p:spPr>
          <a:xfrm xmlns:a="http://schemas.openxmlformats.org/drawingml/2006/main">
            <a:off x="8013700" y="2752407"/>
            <a:ext cx="3378200" cy="185801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352B4189-253D-4A8C-ADAE-47BB567B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An edge leak spoiling a result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A5336FBA-13BA-4BE5-86E7-78F1D852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1E35B2FC-FFDD-4573-AAF1-DA9ADC8E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372154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624C5E1-0007-4D15-AEC8-85B49C15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B8DBA82-5AAC-47DC-8500-D3D2B627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E0BE6D5-3ED2-42AF-90E7-8EDACBD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9049C5-4D39-4277-B883-604747AF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4A73096-0DB9-4C45-8CEF-BD5C86B6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AFCEA60-76E1-459F-A266-72592AD2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permeability — how water passes through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96375A5-5256-4626-BF7A-16989374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volume — amount of liquid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54F6F5B-6373-42D1-98AD-1B0C324B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valid — the method worked as stated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445B75B-A1BE-4675-BC0E-AEDB2ADA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B21994A-1C4F-49A2-AEB5-AF2A14DF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771842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E82130F-3433-4EA4-AF54-FE72E13A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089F615-FF9D-4FDF-BC1B-58827151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AE0C1A5-F721-4BBD-9BAF-AC9F8191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AA6C3E-0BAE-4E6B-A277-30A09FAE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DFDBED3-0943-4EE1-A6EA-BAC2F50D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6EC4AE1-E013-4002-8597-5F3D149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Staff check the stable tray, pre-inspected matched pieces, sealed collar and clear collector. Pupils may operate only agreed safe steps or direct an adult.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4ABC878-425A-47DD-B1BD-1F4C198F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the fixed 5 mL with a needle-free tool, start the 120-second timer and observe top, underside and collector without moving the rig.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BB73A8F-301A-46A4-B9F8-4CF72E03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 the amount collected below in mL and note surface-only, absorbed or passed-through evidence. Record a fault instead of inventing a result.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A16F38A-A8A4-445D-8327-FEB9B25C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E58B3BA-4A74-4C8B-AC61-D42A5C4C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256334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1663C8DC-12FF-482E-99C9-E6425756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77B5414-C9AA-4CF2-8368-DAF49B4D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AA22BD8-7A34-4E68-899D-D2364023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7D7CE1-7D1B-45CA-8CFF-A7B6B2DE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D8EA31F-19CB-48E3-89E4-3FC446C3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035171067438c"/>
          <a:stretch xmlns:a="http://schemas.openxmlformats.org/drawingml/2006/main"/>
        </p:blipFill>
        <p:spPr>
          <a:xfrm xmlns:a="http://schemas.openxmlformats.org/drawingml/2006/main">
            <a:off x="3368386" y="2181225"/>
            <a:ext cx="5455227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C9ABD3D8-D310-4139-B9B0-850E9B4B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Sealed water bench with collector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F57A48C-161F-4B68-A61D-F9F7FD95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8CF54DBC-9B82-4AFE-A870-9D9822E5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227465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679B8BD-D934-4145-96A0-D52D471E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49994CA-1871-4431-ACF1-91ED8346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D1457F9-CB43-4A47-A869-68F1D15C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CA65BA-6E91-4805-8088-6DD6BA1D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Sample A collects 0.5 mL and Sample B collects 3.0 mL after the same 5 mL and 120-second method. Which comparison is supported?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AF13135-97BE-4171-AD61-D98F57DB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C135E84-7375-4FFC-BB9D-BA1443FA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More water passed through supplied Sample B under this method.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ED120A3-8072-49DE-976A-8891E776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Sample A is waterproof forever.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7AC09ED-7A8B-4F7E-9E74-D6234E7D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Every rock like B always passes exactly 3.0 mL.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7AD457D-1D7A-4FB3-84E5-F9619977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ACF8BE2-C558-4DAE-9552-E0900F09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A19F4AF5-C698-4F8C-BA2C-8EE26A9A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618729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A956AFB-290B-4124-88CE-CA5F6C44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F57E987-4DFB-46A2-AD4D-95041B10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86AA5FD-6721-4BC9-A8B5-C36E2D81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B1EAB8-B52D-4056-897C-A38CFC89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0ACB124-6A2D-4041-AAE3-5EA60268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A0F9A35-414D-4FEC-A9C3-ACA3CBB6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collected-water values only after checking that both runs were valid. A lower value means less passage was observed in the stated time, not proven permanent waterproofing.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311AFFB-187A-4BC0-A541-49B092E2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Notice what the fixed method tried to hold steady: starting volume, time, collar area and prepared thickness. W13 will name and test these method controls directly.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1649557-B5A2-42E7-8432-05476FFB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End with one careful sentence: Under this method, more water passed through supplied Sample __. One result set is useful evidence, but samples and repeats can vary.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E2F633C-F755-4BED-A7BD-693F6774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B837408-2CAB-4B5F-8771-E808B224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0953933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7286A48-E514-461C-AEB6-13DB423C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9C25DC2-983F-4FC4-B7FE-89F64F49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8F1849A-BDD0-4B1D-928C-16B27509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D10F66-8E05-436B-9548-9BA512F5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93CC219-C693-4DB2-83A6-DA9823DD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CB3F807-AA01-4F4A-9E4F-E0A4BA23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Lab glitch: any water in the tray counts as water through the rock.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CA525CF-87A9-4361-8EDD-85BE88A4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spills, leaks and collector water all mean the same thing.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69CEC9D-6484-4203-823A-9532DBB1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count only water reaching the collector through the sealed sample route; mark leaks as faults.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C3178AF-6B12-4B23-9E49-DA09F9A2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estimate the leak and add a guessed collector result.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00F6B08-5867-4B63-ABF3-9A5E607E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76EF164-4286-4A7D-AF76-B9F239F5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7951928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7A39F8C3-175C-4DB3-889E-0E5882C7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6807CCC-1A28-44D3-B28A-C9AE6112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A09FE9E-22A7-496D-BF16-64BDA91C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C384D3-54BD-46F6-B4B1-11B424F1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Water-passage lab console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F17012E-8305-4A83-BFF4-2109DCAA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8FEB155-96D5-4172-AB09-6EFFD07C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lab record to VALID A, VALID B, METHOD FAULT or CAREFUL COMPARISON.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6F55BB5-3FAE-4B4B-ACCD-E3F9D039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 seal, volume and time on the record.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7F34027-92F2-493F-8C06-04E4DD2D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valid results with the sample code.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0910075-8487-45D6-8E2E-A0A35F8D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Move faults away from the comparison.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AF2BEBE-BE8E-4305-ADBB-F7692333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the evidence and state a bounded comparison.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D4B5C293-87C5-47B2-89FD-9ED278CB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CCBB0ABE-68DE-4933-BA17-DAE4DADF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D066D532-D733-44F8-A79F-669B41C2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2992858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4FB83369-7C52-417B-A68D-A000C155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55C9B74-3CC8-4190-95E6-8869B561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36F3A3A-DEC5-4D63-BC3B-EDE29013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57AB4B-37A0-46BC-AD45-C54FB96A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5029566-069B-43AF-BF95-444CD728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DC774D2-4CBA-4C2A-9B6A-647EE9FA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VALID · SAMPLE A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3E9DC22-7F67-4F57-B609-06397CFF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VALID · SAMPLE B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771FE38-82BB-4BA7-B51E-CE7A47E8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METHOD FAULT · DO NOT COMPARE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F28638D-EFDC-4726-9CF5-E2525BE0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CAREFUL COMPARISON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698A7C8-FA5E-48B9-8906-B6D79B38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frozen records to say what passed through, which run was valid and what the result does not prove.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FBE87F67-D92B-48E0-B170-CA0ADF19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4125B6EE-5656-45D4-A7F5-CC4343DC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4787382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321B480-3304-428B-AB09-8B9C94CF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83A8868-C136-48A4-AF60-3F9C4EE2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2C47F3D-1DE6-4B85-ADF6-3F50A842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6F858E-8C01-452B-BC3D-7849318E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0CBACB7-8F54-4A67-BA55-BD7129C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7AE5AE0-7526-4BBB-8323-9BFE9A6B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Follow or direct the fixed water-passage lab for supplied Samples A and B, or analyse the fixed equivalent records, then give a bounded comparison.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F0C1E26-9BDB-4EDE-9470-2516630A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Method checklist, surface/underside observation, collector values with mL, valid/fault decision, bounded comparison and one method-control question for W13.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D39B07EA-9EEB-4FFC-B874-A37CEDA0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10B4DF43-7208-44B2-8357-5E594FF2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6726632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5864DC7-F513-4DF1-952D-EDBDC429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B661DDD-3820-422A-A3E8-8AFA88E1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5643493-EEFD-4A82-BD6C-6AF5AA68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5B6917-3828-46A6-86FF-22DD4B72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B87FB86-E7FC-41EA-92F2-A95B4A6B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5CC4EEF-DF94-4BC1-B280-C7BEF7F4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Sequence the fixed method, place A and B result cards and complete an oral, pointed or scribed comparison.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EA525AC-4F1A-4A86-B670-2421084E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Record both valid results, reject one fault record and explain the sample comparison with a time limit.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DB0E1BD-EB86-4C5C-A220-69752FDA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Evaluate how thickness, seal or natural variation could affect the comparison and propose one control to investigate in W13.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D875B03-1239-434A-B641-759DF1B3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0B4AE63-2866-4E13-A797-2B0A1F4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44540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F97F7596-F5A4-41E0-BC1E-73CB30A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2E06DF0-2AB3-4815-9253-895F1D70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F9BE7A3-9A2C-4C9F-A249-15B485FC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7500A5-8812-45E6-A5ED-6B200254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E1AD647-326A-4BB2-B9AD-B02A505D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66B0648-A9E7-42DC-B0F0-8A41E43B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Give the comparison and explain why it does not mean waterproof forever.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F3F6201-2C5C-4B8A-817B-3F83F59F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C50E5945-7A46-4921-99B7-4C597E4A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50375A57-3507-4713-9F9E-2BF2C01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703657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2026-09-08T09:10:04.2720000Z</dcterms:created>
  <dcterms:modified xsi:type="dcterms:W3CDTF">2026-09-08T09:10:04.2720000Z</dcterms:modified>
</coreProperties>
</file>