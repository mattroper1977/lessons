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d1185f70814495" /><Relationship Type="http://schemas.openxmlformats.org/officeDocument/2006/relationships/extended-properties" Target="/docProps/app.xml" Id="R57ae1ba8ed104e9e" /><Relationship Type="http://schemas.openxmlformats.org/officeDocument/2006/relationships/officeDocument" Target="/ppt/presentation.xml" Id="Rb0ebd25119724e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225a768ad645ce"/>
  </p:sldMasterIdLst>
  <p:notesMasterIdLst>
    <p:notesMasterId xmlns:r="http://schemas.openxmlformats.org/officeDocument/2006/relationships" r:id="Racc21476b6a84b6c"/>
  </p:notesMasterIdLst>
  <p:sldIdLst>
    <p:sldId xmlns:r="http://schemas.openxmlformats.org/officeDocument/2006/relationships" id="256" r:id="Ra1e07976dd654505"/>
    <p:sldId xmlns:r="http://schemas.openxmlformats.org/officeDocument/2006/relationships" id="257" r:id="Rdf6bef1ae68b4779"/>
    <p:sldId xmlns:r="http://schemas.openxmlformats.org/officeDocument/2006/relationships" id="258" r:id="R597dc5799f4d46ba"/>
    <p:sldId xmlns:r="http://schemas.openxmlformats.org/officeDocument/2006/relationships" id="259" r:id="R3bfc1382057d437e"/>
    <p:sldId xmlns:r="http://schemas.openxmlformats.org/officeDocument/2006/relationships" id="260" r:id="R78d8d3deca9c47f1"/>
    <p:sldId xmlns:r="http://schemas.openxmlformats.org/officeDocument/2006/relationships" id="261" r:id="Rbec6e8b6133b47a8"/>
    <p:sldId xmlns:r="http://schemas.openxmlformats.org/officeDocument/2006/relationships" id="262" r:id="R9eaf1ff5270d433a"/>
    <p:sldId xmlns:r="http://schemas.openxmlformats.org/officeDocument/2006/relationships" id="263" r:id="Rfda819d9702e4e28"/>
    <p:sldId xmlns:r="http://schemas.openxmlformats.org/officeDocument/2006/relationships" id="264" r:id="R1e6cc8d0fe914caf"/>
    <p:sldId xmlns:r="http://schemas.openxmlformats.org/officeDocument/2006/relationships" id="265" r:id="R41d0be21ceb543fc"/>
    <p:sldId xmlns:r="http://schemas.openxmlformats.org/officeDocument/2006/relationships" id="266" r:id="Rff3ac2fcac984030"/>
    <p:sldId xmlns:r="http://schemas.openxmlformats.org/officeDocument/2006/relationships" id="267" r:id="Rc91caf0b2ec24435"/>
    <p:sldId xmlns:r="http://schemas.openxmlformats.org/officeDocument/2006/relationships" id="268" r:id="R36c13582ccdb4941"/>
    <p:sldId xmlns:r="http://schemas.openxmlformats.org/officeDocument/2006/relationships" id="269" r:id="R71e0ffd9b44245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ef8e61f361486a" /><Relationship Type="http://schemas.openxmlformats.org/officeDocument/2006/relationships/slideMaster" Target="/ppt/slideMasters/slideMaster1.xml" Id="R44225a768ad645ce" /><Relationship Type="http://schemas.openxmlformats.org/officeDocument/2006/relationships/notesMaster" Target="/ppt/notesMasters/notesMaster1.xml" Id="Racc21476b6a84b6c" /><Relationship Type="http://schemas.openxmlformats.org/officeDocument/2006/relationships/presProps" Target="/ppt/presProps.xml" Id="R1f316203b25e4ef5" /><Relationship Type="http://schemas.openxmlformats.org/officeDocument/2006/relationships/tableStyles" Target="/ppt/tableStyles.xml" Id="R45cbadfabf1e462a" /><Relationship Type="http://schemas.openxmlformats.org/officeDocument/2006/relationships/slide" Target="/ppt/slides/slide1.xml" Id="Ra1e07976dd654505" /><Relationship Type="http://schemas.openxmlformats.org/officeDocument/2006/relationships/slide" Target="/ppt/slides/slide2.xml" Id="Rdf6bef1ae68b4779" /><Relationship Type="http://schemas.openxmlformats.org/officeDocument/2006/relationships/slide" Target="/ppt/slides/slide3.xml" Id="R597dc5799f4d46ba" /><Relationship Type="http://schemas.openxmlformats.org/officeDocument/2006/relationships/slide" Target="/ppt/slides/slide4.xml" Id="R3bfc1382057d437e" /><Relationship Type="http://schemas.openxmlformats.org/officeDocument/2006/relationships/slide" Target="/ppt/slides/slide5.xml" Id="R78d8d3deca9c47f1" /><Relationship Type="http://schemas.openxmlformats.org/officeDocument/2006/relationships/slide" Target="/ppt/slides/slide6.xml" Id="Rbec6e8b6133b47a8" /><Relationship Type="http://schemas.openxmlformats.org/officeDocument/2006/relationships/slide" Target="/ppt/slides/slide7.xml" Id="R9eaf1ff5270d433a" /><Relationship Type="http://schemas.openxmlformats.org/officeDocument/2006/relationships/slide" Target="/ppt/slides/slide8.xml" Id="Rfda819d9702e4e28" /><Relationship Type="http://schemas.openxmlformats.org/officeDocument/2006/relationships/slide" Target="/ppt/slides/slide9.xml" Id="R1e6cc8d0fe914caf" /><Relationship Type="http://schemas.openxmlformats.org/officeDocument/2006/relationships/slide" Target="/ppt/slides/slide10.xml" Id="R41d0be21ceb543fc" /><Relationship Type="http://schemas.openxmlformats.org/officeDocument/2006/relationships/slide" Target="/ppt/slides/slide11.xml" Id="Rff3ac2fcac984030" /><Relationship Type="http://schemas.openxmlformats.org/officeDocument/2006/relationships/slide" Target="/ppt/slides/slide12.xml" Id="Rc91caf0b2ec24435" /><Relationship Type="http://schemas.openxmlformats.org/officeDocument/2006/relationships/slide" Target="/ppt/slides/slide13.xml" Id="R36c13582ccdb4941" /><Relationship Type="http://schemas.openxmlformats.org/officeDocument/2006/relationships/slide" Target="/ppt/slides/slide14.xml" Id="R71e0ffd9b44245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ba0023f7144b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7a234baef5485a" /><Relationship Type="http://schemas.openxmlformats.org/officeDocument/2006/relationships/notesMaster" Target="/ppt/notesMasters/notesMaster1.xml" Id="R2190cea92a8d48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75546ed5d64008" /><Relationship Type="http://schemas.openxmlformats.org/officeDocument/2006/relationships/notesMaster" Target="/ppt/notesMasters/notesMaster1.xml" Id="R7d056dace8be47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fd6e5b2c0745a5" /><Relationship Type="http://schemas.openxmlformats.org/officeDocument/2006/relationships/notesMaster" Target="/ppt/notesMasters/notesMaster1.xml" Id="R21ecd35a2e7646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d0b1538cdb4995" /><Relationship Type="http://schemas.openxmlformats.org/officeDocument/2006/relationships/notesMaster" Target="/ppt/notesMasters/notesMaster1.xml" Id="R56d9007058f342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03717589b24cd4" /><Relationship Type="http://schemas.openxmlformats.org/officeDocument/2006/relationships/notesMaster" Target="/ppt/notesMasters/notesMaster1.xml" Id="Rde3d8866fedc45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f38d4a52d44168" /><Relationship Type="http://schemas.openxmlformats.org/officeDocument/2006/relationships/notesMaster" Target="/ppt/notesMasters/notesMaster1.xml" Id="R3ef3c864452345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e80bf327694267" /><Relationship Type="http://schemas.openxmlformats.org/officeDocument/2006/relationships/notesMaster" Target="/ppt/notesMasters/notesMaster1.xml" Id="Rcaa09a75c19843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45798ac3ec4b7b" /><Relationship Type="http://schemas.openxmlformats.org/officeDocument/2006/relationships/notesMaster" Target="/ppt/notesMasters/notesMaster1.xml" Id="R810264db02414c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d0a6d6ac3e4980" /><Relationship Type="http://schemas.openxmlformats.org/officeDocument/2006/relationships/notesMaster" Target="/ppt/notesMasters/notesMaster1.xml" Id="R00a5787774da47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84127f12594b1d" /><Relationship Type="http://schemas.openxmlformats.org/officeDocument/2006/relationships/notesMaster" Target="/ppt/notesMasters/notesMaster1.xml" Id="R904f244ac9ba4d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7f776bdfe348c3" /><Relationship Type="http://schemas.openxmlformats.org/officeDocument/2006/relationships/notesMaster" Target="/ppt/notesMasters/notesMaster1.xml" Id="Rcebbea877bce40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bab4666f7e46c4" /><Relationship Type="http://schemas.openxmlformats.org/officeDocument/2006/relationships/notesMaster" Target="/ppt/notesMasters/notesMaster1.xml" Id="Rd44985996fbc42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5c849e9ac34ef7" /><Relationship Type="http://schemas.openxmlformats.org/officeDocument/2006/relationships/notesMaster" Target="/ppt/notesMasters/notesMaster1.xml" Id="Rafc239e5248f4a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111583ee5b44dd" /><Relationship Type="http://schemas.openxmlformats.org/officeDocument/2006/relationships/notesMaster" Target="/ppt/notesMasters/notesMaster1.xml" Id="R2846972e347948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a prediction. State the studio brief: choose a card position to make a shadow about 10 cm high. No artistic drawing ability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Answers: blocks light transmission; on the screen; no, it is a region receiving less light. If needed trace the source-card-screen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 keep the source and screen fixed. I only move the card. I trace the edge rays to the screen: their gap is wide. The shadow is large even though the card has not grown.” This diagram is an ideal small-source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Side-view light-ray model. Ray arrows point away from a small source. Boundary rays pass the top and bottom edges of an opaque card and locate the shadow on a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 check the same 4 cm card is used. Its edge rays now reach closer together on the fixed screen. In this setup, farther from the source means a smaller shadow.” Do not generalise without stating what is fixed.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Side-view light-ray model. Ray arrows point away from a small source. Boundary rays pass the top and bottom edges of an opaque card and locate the shadow on a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Model zero at the bottom of the shadow, read top at 8 cm. This is a constructed front-view example. Real blurred edges require a consistent chosen edge and a note about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Front-view screen with a rectangular shadow beside a ruler. The shadow runs from zero to eight centimetres; use the same top-to-bottom measure each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number is constructed ideal-model data, not a measurement made by a class. Pairs place the position cards on a 100 cm line drawn on paper and match the heights. Largest at 20 cm; size falls as source-card distance increases.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The model shadow height decreases: 20 cm, 10 cm, then 8 cm.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three supplied model cards only. Each pair chooses then tests its choice against the table. 40 cm matches the target; 20 cm gives too large a shadow, 50 cm too small. Real practical pupils should check their measured outcome rather than promise exact equality.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40 cm from the source gives a 10 cm shadow in this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Insist on the stated controls. If pupils say “nearer screen,” make them point to source and screen before restating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The shadow becomes larger.</a:t>
            </a:r>
          </a:p>
          <a:p xmlns:a="http://schemas.openxmlformats.org/drawingml/2006/main">
            <a:r>
              <a:t>Correct. The card blocks a wider spread of rays before they reach the fixed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The card itself becomes taller.</a:t>
            </a:r>
          </a:p>
          <a:p xmlns:a="http://schemas.openxmlformats.org/drawingml/2006/main">
            <a:r>
              <a:t>The physical card stays 4 cm high; only its position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The shadow must stay the same height.</a:t>
            </a:r>
          </a:p>
          <a:p xmlns:a="http://schemas.openxmlformats.org/drawingml/2006/main">
            <a:r>
              <a:t>The edge-ray positions at the screen change when the card moves.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route only, selected with the pupil. The shared evidence page supports every route. Practical option: test the marked card positions with source and screen fixed. Measure the same top-to-bottom edge convention. Keep actual readings separate from the supplied model. A paper ruler-line and cards give the complete alternative.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the 12-minute independent stage. Practical option: test the marked card positions with source and screen fixed. Measure the same top-to-bottom edge convention. Keep actual readings separate from the supplied model. A paper ruler-line and cards give the complete alternative.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Allow ten minutes of independent response after the two-minute setup. Practical option: test the marked card positions with source and screen fixed. Measure the same top-to-bottom edge convention. Keep actual readings separate from the supplied model. A paper ruler-line and cards give the complete alternative.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the independent stage. Ask the pupil to point to the clue supporting their answer; accept a spoken correction or changed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a private or paired option. Adopt one scientifically sound pupil revision in the class explanation and name the change. No public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Nearer the source, with the same card and fixed source and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brief individual answers. Secure core requires the main idea and a relevant reason. Revisit the relevant worked diagram next lesson if the explanation reverses cause and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See the teacher answer guide for the three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light outcomes anchor the BUILD content; ray explanations are carefully modelled as an accessible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1d616811045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1bd51ec27e4982" /><Relationship Type="http://schemas.openxmlformats.org/officeDocument/2006/relationships/slideLayout" Target="/ppt/slideLayouts/slideLayout1.xml" Id="R030028f7953845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0028f7953845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b9c0f72a64422" /><Relationship Type="http://schemas.openxmlformats.org/officeDocument/2006/relationships/notesSlide" Target="/ppt/notesSlides/notesSlide1.xml" Id="R028130b3d64042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f6d5a485a46ff" /><Relationship Type="http://schemas.openxmlformats.org/officeDocument/2006/relationships/notesSlide" Target="/ppt/notesSlides/notesSlide2.xml" Id="Radf2bf7ca9754f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f6251007a42c0" /><Relationship Type="http://schemas.openxmlformats.org/officeDocument/2006/relationships/notesSlide" Target="/ppt/notesSlides/notesSlide3.xml" Id="R340fd3b0be504b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23c8280bb4a1d" /><Relationship Type="http://schemas.openxmlformats.org/officeDocument/2006/relationships/notesSlide" Target="/ppt/notesSlides/notesSlide4.xml" Id="R7ee16dc1cab248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04c9c032d463b" /><Relationship Type="http://schemas.openxmlformats.org/officeDocument/2006/relationships/notesSlide" Target="/ppt/notesSlides/notesSlide5.xml" Id="R8d2234d371144f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fee76807b42c1" /><Relationship Type="http://schemas.openxmlformats.org/officeDocument/2006/relationships/notesSlide" Target="/ppt/notesSlides/notesSlide6.xml" Id="Rf6ebfb260b3f47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e6cee73114bc4" /><Relationship Type="http://schemas.openxmlformats.org/officeDocument/2006/relationships/notesSlide" Target="/ppt/notesSlides/notesSlide7.xml" Id="Rd1f205fa0a6545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af76ee3044c3f" /><Relationship Type="http://schemas.openxmlformats.org/officeDocument/2006/relationships/notesSlide" Target="/ppt/notesSlides/notesSlide8.xml" Id="R2293b4992eb241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a9d74ab564607" /><Relationship Type="http://schemas.openxmlformats.org/officeDocument/2006/relationships/notesSlide" Target="/ppt/notesSlides/notesSlide9.xml" Id="R15574ee89d394b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b45afc018477c" /><Relationship Type="http://schemas.openxmlformats.org/officeDocument/2006/relationships/notesSlide" Target="/ppt/notesSlides/notesSlide10.xml" Id="R6461d4b503fb48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194cb04734de7" /><Relationship Type="http://schemas.openxmlformats.org/officeDocument/2006/relationships/notesSlide" Target="/ppt/notesSlides/notesSlide11.xml" Id="R187756d9355a4e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44d9c2c8d4819" /><Relationship Type="http://schemas.openxmlformats.org/officeDocument/2006/relationships/notesSlide" Target="/ppt/notesSlides/notesSlide12.xml" Id="R7bdd6d3f80d246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f3325ba7a4016" /><Relationship Type="http://schemas.openxmlformats.org/officeDocument/2006/relationships/notesSlide" Target="/ppt/notesSlides/notesSlide13.xml" Id="R86e3ceff742647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aa5a33c8b4050" /><Relationship Type="http://schemas.openxmlformats.org/officeDocument/2006/relationships/notesSlide" Target="/ppt/notesSlides/notesSlide14.xml" Id="R6d5cb92a49f344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7F73DEF0-7246-4369-B9E9-F086E1A7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929D296-D9F0-42AB-8638-21DE8860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FBFE2DE-D743-496F-AF53-D984178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12A427F6-8A70-4EBC-AC0E-A0618509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B42EB93A-8123-48B1-BF6C-C4641D82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65CF8B5A-D0B7-4D24-9C7A-07B2FA0E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Same card. Two very different shadows.">
            <a:extLst xmlns:a="http://schemas.openxmlformats.org/drawingml/2006/main">
              <a:ext uri="{FF2B5EF4-FFF2-40B4-BE49-F238E27FC236}">
                <a16:creationId xmlns:a16="http://schemas.microsoft.com/office/drawing/2014/main" id="{4BE217F4-BD4A-4FC6-B434-318AA2DB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card. Two very different shadows.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0D66685-298A-4872-81AB-02DDECE3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95C52709-608B-43DA-96D2-6030E1D0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10" name="1 / 14">
            <a:extLst xmlns:a="http://schemas.openxmlformats.org/drawingml/2006/main">
              <a:ext uri="{FF2B5EF4-FFF2-40B4-BE49-F238E27FC236}">
                <a16:creationId xmlns:a16="http://schemas.microsoft.com/office/drawing/2014/main" id="{F7F5F892-8CCF-47D3-BA2F-1B2F8B92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ED7786F3-D95A-4C35-B6E7-9FF8C22F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CE2DC867-703E-41A5-A197-5CAD07AE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2AF61735-1B03-4F78-90DB-51C1651E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Describe how moving an opaque card changes its shadow size when ">
            <a:extLst xmlns:a="http://schemas.openxmlformats.org/drawingml/2006/main">
              <a:ext uri="{FF2B5EF4-FFF2-40B4-BE49-F238E27FC236}">
                <a16:creationId xmlns:a16="http://schemas.microsoft.com/office/drawing/2014/main" id="{2272816B-2B0E-4293-AE55-9FA50461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Describe how moving an opaque card changes its shadow size when the source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and screen stay fixed.</a:t>
            </a:r>
          </a:p>
        </p:txBody>
      </p:sp>
      <p:sp>
        <p:nvSpPr>
          <p:cNvPr id="15" name="The card stays 4 cm high.">
            <a:extLst xmlns:a="http://schemas.openxmlformats.org/drawingml/2006/main">
              <a:ext uri="{FF2B5EF4-FFF2-40B4-BE49-F238E27FC236}">
                <a16:creationId xmlns:a16="http://schemas.microsoft.com/office/drawing/2014/main" id="{6405461D-8286-4468-8CA4-022AF6E5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card stays 4 cm high.</a:t>
            </a:r>
          </a:p>
        </p:txBody>
      </p:sp>
      <p:sp>
        <p:nvSpPr>
          <p:cNvPr id="16" name="The source and screen stay still.">
            <a:extLst xmlns:a="http://schemas.openxmlformats.org/drawingml/2006/main">
              <a:ext uri="{FF2B5EF4-FFF2-40B4-BE49-F238E27FC236}">
                <a16:creationId xmlns:a16="http://schemas.microsoft.com/office/drawing/2014/main" id="{BE40321A-1889-4C9A-8F1B-AAA23F7D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66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source and screen stay still.</a:t>
            </a:r>
          </a:p>
        </p:txBody>
      </p:sp>
      <p:sp>
        <p:nvSpPr>
          <p:cNvPr id="17" name="Can its shadow change size?">
            <a:extLst xmlns:a="http://schemas.openxmlformats.org/drawingml/2006/main">
              <a:ext uri="{FF2B5EF4-FFF2-40B4-BE49-F238E27FC236}">
                <a16:creationId xmlns:a16="http://schemas.microsoft.com/office/drawing/2014/main" id="{A396377A-2E29-4C7D-821D-6BFD0A57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10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its shadow change size?</a:t>
            </a:r>
          </a:p>
        </p:txBody>
      </p:sp>
    </p:spTree>
    <p:extLst>
      <p:ext uri="{BB962C8B-B14F-4D97-AF65-F5344CB8AC3E}">
        <p14:creationId xmlns:p14="http://schemas.microsoft.com/office/powerpoint/2010/main" val="109639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95D1AED-B683-4D81-AE2E-80DD257B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336C1DC-D8F0-42F2-B6BD-731C6CAD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DCF0A0D-2138-402D-9268-A18C365E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5638182-8A80-45FF-91DA-F3993039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DB08785E-8EFF-4EE9-8E65-B1F28F68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93C4DE8C-1414-4B67-941F-968FE8A8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Keep the shadow idea clear">
            <a:extLst xmlns:a="http://schemas.openxmlformats.org/drawingml/2006/main">
              <a:ext uri="{FF2B5EF4-FFF2-40B4-BE49-F238E27FC236}">
                <a16:creationId xmlns:a16="http://schemas.microsoft.com/office/drawing/2014/main" id="{5BFB8459-E4FD-42B4-BD54-CBE77152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shadow idea clear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B2F52DC-747F-451A-B951-83B5EFB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5B29FBFB-5D2A-40E5-961A-50C7D33C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10" name="2 / 14">
            <a:extLst xmlns:a="http://schemas.openxmlformats.org/drawingml/2006/main">
              <a:ext uri="{FF2B5EF4-FFF2-40B4-BE49-F238E27FC236}">
                <a16:creationId xmlns:a16="http://schemas.microsoft.com/office/drawing/2014/main" id="{B8FF5D5B-44EF-4A9A-AAAD-606DCDB8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14</a:t>
            </a:r>
          </a:p>
        </p:txBody>
      </p:sp>
      <p:sp>
        <p:nvSpPr>
          <p:cNvPr id="11" name="1. What does an opaque card do?">
            <a:extLst xmlns:a="http://schemas.openxmlformats.org/drawingml/2006/main">
              <a:ext uri="{FF2B5EF4-FFF2-40B4-BE49-F238E27FC236}">
                <a16:creationId xmlns:a16="http://schemas.microsoft.com/office/drawing/2014/main" id="{553537C3-8457-4A2D-AD6D-8E868B2C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 What does an opaque card do?</a:t>
            </a:r>
          </a:p>
        </p:txBody>
      </p:sp>
      <p:sp>
        <p:nvSpPr>
          <p:cNvPr id="12" name="2. Where is the shadow seen?">
            <a:extLst xmlns:a="http://schemas.openxmlformats.org/drawingml/2006/main">
              <a:ext uri="{FF2B5EF4-FFF2-40B4-BE49-F238E27FC236}">
                <a16:creationId xmlns:a16="http://schemas.microsoft.com/office/drawing/2014/main" id="{F737A00C-8AEE-4EE2-9861-DC7843EE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 Where is the shadow seen?</a:t>
            </a:r>
          </a:p>
        </p:txBody>
      </p:sp>
      <p:sp>
        <p:nvSpPr>
          <p:cNvPr id="13" name="3. Is the shadow a solid object?">
            <a:extLst xmlns:a="http://schemas.openxmlformats.org/drawingml/2006/main">
              <a:ext uri="{FF2B5EF4-FFF2-40B4-BE49-F238E27FC236}">
                <a16:creationId xmlns:a16="http://schemas.microsoft.com/office/drawing/2014/main" id="{92D4EEC6-4CB0-4EE1-AD7B-F5EC9237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 Is the shadow a solid object?</a:t>
            </a:r>
          </a:p>
        </p:txBody>
      </p:sp>
    </p:spTree>
    <p:extLst>
      <p:ext uri="{BB962C8B-B14F-4D97-AF65-F5344CB8AC3E}">
        <p14:creationId xmlns:p14="http://schemas.microsoft.com/office/powerpoint/2010/main" val="487009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0CB3B21C-4E00-432B-8A95-1282E225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F30B59C-D570-4A68-A3FB-8790597C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6146923-186E-492D-AA37-9396D93D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CA79DF73-C41B-4590-ABE3-E4F5482D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AC7C691E-7235-494E-847C-E943EC71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151FF7B5-9384-4811-8AF0-BCB4637A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I move the card near the source">
            <a:extLst xmlns:a="http://schemas.openxmlformats.org/drawingml/2006/main">
              <a:ext uri="{FF2B5EF4-FFF2-40B4-BE49-F238E27FC236}">
                <a16:creationId xmlns:a16="http://schemas.microsoft.com/office/drawing/2014/main" id="{B5E9497E-ED74-4932-823C-9FE75EF0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move the card near the source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1D6F960-2ECD-41B5-8FD1-66F28915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D7F7D36D-E910-4025-8CF5-00A9777E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10" name="3 / 14">
            <a:extLst xmlns:a="http://schemas.openxmlformats.org/drawingml/2006/main">
              <a:ext uri="{FF2B5EF4-FFF2-40B4-BE49-F238E27FC236}">
                <a16:creationId xmlns:a16="http://schemas.microsoft.com/office/drawing/2014/main" id="{0C574897-07C1-4F67-A689-95E23FAA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14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BC301A93-B86D-4B73-BB4C-524EB842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3677245"/>
            <a:ext cx="373346" cy="373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2" name="Diagram label: Small LED source">
            <a:extLst xmlns:a="http://schemas.openxmlformats.org/drawingml/2006/main">
              <a:ext uri="{FF2B5EF4-FFF2-40B4-BE49-F238E27FC236}">
                <a16:creationId xmlns:a16="http://schemas.microsoft.com/office/drawing/2014/main" id="{FA634B06-F98A-40B4-BEA7-159F16D4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13" y="3079892"/>
            <a:ext cx="1642722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Small LED source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AFCCD7C-58D4-4621-A23C-FF79827C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429" y="2370534"/>
            <a:ext cx="179206" cy="3061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4" name="Diagram label: Screen">
            <a:extLst xmlns:a="http://schemas.openxmlformats.org/drawingml/2006/main">
              <a:ext uri="{FF2B5EF4-FFF2-40B4-BE49-F238E27FC236}">
                <a16:creationId xmlns:a16="http://schemas.microsoft.com/office/drawing/2014/main" id="{536537AD-86B0-4582-BEC7-A57190FE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068" y="5506641"/>
            <a:ext cx="1642722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Screen</a:t>
            </a:r>
          </a:p>
        </p:txBody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EADCB86-3667-4498-944D-0D2AC798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6567" y="3863918"/>
            <a:ext cx="92963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934EFA55-1B33-4EDF-B55C-A9B72A8D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50064" y="3811650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19B185E-6CDF-4F18-B6EF-38D8A4A1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332" y="3714580"/>
            <a:ext cx="104537" cy="298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B173ADC-FA8C-4A74-ACD9-C7AD3B94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59894" y="3126951"/>
            <a:ext cx="5895738" cy="7369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1D7E6406-26E8-4F1B-9DDF-E1207992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72499">
            <a:off x="8829296" y="3071441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99EFF7A-B09F-40BE-BA15-C0CFD730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9894" y="3863918"/>
            <a:ext cx="5895738" cy="7369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300CFA83-2219-438A-95F0-FD41496F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827501">
            <a:off x="8829296" y="4551859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22" name="Diagram label: Card blocks&#10;this light path.">
            <a:extLst xmlns:a="http://schemas.openxmlformats.org/drawingml/2006/main">
              <a:ext uri="{FF2B5EF4-FFF2-40B4-BE49-F238E27FC236}">
                <a16:creationId xmlns:a16="http://schemas.microsoft.com/office/drawing/2014/main" id="{1C81585B-2589-4988-A640-9AA8B19A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0574" y="2594542"/>
            <a:ext cx="1792061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Card blocks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this light path.</a:t>
            </a:r>
          </a:p>
        </p:txBody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67555F5-D37E-4725-877C-B8A88871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429" y="3117226"/>
            <a:ext cx="179206" cy="1493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D7A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24" name="Diagram label: Card is 20 cm from the source.">
            <a:extLst xmlns:a="http://schemas.openxmlformats.org/drawingml/2006/main">
              <a:ext uri="{FF2B5EF4-FFF2-40B4-BE49-F238E27FC236}">
                <a16:creationId xmlns:a16="http://schemas.microsoft.com/office/drawing/2014/main" id="{E68E82A2-5289-48F1-BBE5-AC347783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278" y="5133295"/>
            <a:ext cx="3360114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Card is 20 cm from the source.</a:t>
            </a:r>
          </a:p>
        </p:txBody>
      </p:sp>
      <p:sp>
        <p:nvSpPr>
          <p:cNvPr id="25" name="Diagram label: Fixed source and screen: 100 cm apart">
            <a:extLst xmlns:a="http://schemas.openxmlformats.org/drawingml/2006/main">
              <a:ext uri="{FF2B5EF4-FFF2-40B4-BE49-F238E27FC236}">
                <a16:creationId xmlns:a16="http://schemas.microsoft.com/office/drawing/2014/main" id="{02ACFC06-E269-4EB6-9E5F-B0CBA839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255" y="2071858"/>
            <a:ext cx="4778829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Fixed source and screen: 100 cm apart</a:t>
            </a:r>
          </a:p>
        </p:txBody>
      </p:sp>
      <p:sp>
        <p:nvSpPr>
          <p:cNvPr id="26" name="Diagram label: Same card:&#10;4 cm high">
            <a:extLst xmlns:a="http://schemas.openxmlformats.org/drawingml/2006/main">
              <a:ext uri="{FF2B5EF4-FFF2-40B4-BE49-F238E27FC236}">
                <a16:creationId xmlns:a16="http://schemas.microsoft.com/office/drawing/2014/main" id="{AD633672-02F0-45DF-8445-86B67DA3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244" y="4498606"/>
            <a:ext cx="1978734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card: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4 cm high</a:t>
            </a:r>
          </a:p>
        </p:txBody>
      </p:sp>
      <p:sp>
        <p:nvSpPr>
          <p:cNvPr id="27" name="The source and screen stay fixed.  The card is 20 cm from the so">
            <a:extLst xmlns:a="http://schemas.openxmlformats.org/drawingml/2006/main">
              <a:ext uri="{FF2B5EF4-FFF2-40B4-BE49-F238E27FC236}">
                <a16:creationId xmlns:a16="http://schemas.microsoft.com/office/drawing/2014/main" id="{C07FAEDC-6AF2-48BF-89DE-6C9503BA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source and screen stay fixed. The card is 20 cm from the source. The same card blocks a wider spread.</a:t>
            </a:r>
          </a:p>
        </p:txBody>
      </p:sp>
    </p:spTree>
    <p:extLst>
      <p:ext uri="{BB962C8B-B14F-4D97-AF65-F5344CB8AC3E}">
        <p14:creationId xmlns:p14="http://schemas.microsoft.com/office/powerpoint/2010/main" val="1787526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B4EE286D-1C08-422C-A0ED-B85677BC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4AD29B7-F3EA-447F-B6CD-1B45E72E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C6C8ECC-C177-42BC-B16D-4B4E66E8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EB4F7F3-440B-4527-8939-33D64065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BBA13E56-CD87-4A37-AEA7-5085CFDA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1C50733E-CB14-4A9D-9865-CDEBB883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I move it towards the screen">
            <a:extLst xmlns:a="http://schemas.openxmlformats.org/drawingml/2006/main">
              <a:ext uri="{FF2B5EF4-FFF2-40B4-BE49-F238E27FC236}">
                <a16:creationId xmlns:a16="http://schemas.microsoft.com/office/drawing/2014/main" id="{C31B7CD3-7A30-452B-B91C-A50F1E88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move it towards the screen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7BC321B-BD88-4B41-B2C3-D4C1575D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89116426-14EE-4B9E-B748-E940953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10" name="4 / 14">
            <a:extLst xmlns:a="http://schemas.openxmlformats.org/drawingml/2006/main">
              <a:ext uri="{FF2B5EF4-FFF2-40B4-BE49-F238E27FC236}">
                <a16:creationId xmlns:a16="http://schemas.microsoft.com/office/drawing/2014/main" id="{27E62C9C-0628-4566-84CB-62B4838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14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8A824A7-C6C0-4AA7-B060-A69A62D3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3677245"/>
            <a:ext cx="373346" cy="373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2" name="Diagram label: Small LED source">
            <a:extLst xmlns:a="http://schemas.openxmlformats.org/drawingml/2006/main">
              <a:ext uri="{FF2B5EF4-FFF2-40B4-BE49-F238E27FC236}">
                <a16:creationId xmlns:a16="http://schemas.microsoft.com/office/drawing/2014/main" id="{71A6FAAE-BE43-4DA1-93FF-9EDCC6C2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13" y="3079892"/>
            <a:ext cx="1642722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Small LED source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22C85E5-E51E-4653-AB54-F98C9F74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429" y="2370534"/>
            <a:ext cx="179206" cy="30614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4" name="Diagram label: Screen">
            <a:extLst xmlns:a="http://schemas.openxmlformats.org/drawingml/2006/main">
              <a:ext uri="{FF2B5EF4-FFF2-40B4-BE49-F238E27FC236}">
                <a16:creationId xmlns:a16="http://schemas.microsoft.com/office/drawing/2014/main" id="{AFFE7F82-DDA2-40B2-832B-EB6989EA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068" y="5506641"/>
            <a:ext cx="1642722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Screen</a:t>
            </a:r>
          </a:p>
        </p:txBody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17A68B7-3576-4B01-8925-FAB76961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6567" y="3863918"/>
            <a:ext cx="272169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BB0FF3A-E5E2-4FF5-9F6B-AD6D858F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42125" y="3811650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ED6C5D9-C30C-45F5-B1EB-B937E28E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393" y="3714580"/>
            <a:ext cx="104537" cy="298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F8184F0-5AB7-438B-B921-06D9D681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59894" y="3569157"/>
            <a:ext cx="5895231" cy="2947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8D8849A-DB0D-490B-A81F-38E378F3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28256">
            <a:off x="8828958" y="351558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F4CE0D2-EF1F-47B0-9851-894232F7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9894" y="3863918"/>
            <a:ext cx="5895231" cy="2947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E5AB37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ED20908-97C8-432B-8B33-BF87DEF3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71744">
            <a:off x="8828958" y="410771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5AB37"/>
          </a:solidFill>
          <a:ln xmlns:a="http://schemas.openxmlformats.org/drawingml/2006/main" w="0">
            <a:noFill/>
          </a:ln>
        </p:spPr>
      </p:sp>
      <p:sp>
        <p:nvSpPr>
          <p:cNvPr id="22" name="Diagram label: Card blocks&#10;this light path.">
            <a:extLst xmlns:a="http://schemas.openxmlformats.org/drawingml/2006/main">
              <a:ext uri="{FF2B5EF4-FFF2-40B4-BE49-F238E27FC236}">
                <a16:creationId xmlns:a16="http://schemas.microsoft.com/office/drawing/2014/main" id="{291787C4-327E-43D6-83E1-041BC21D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5" y="2594542"/>
            <a:ext cx="1792061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Card blocks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this light path.</a:t>
            </a:r>
          </a:p>
        </p:txBody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E8C3187-47E4-47C3-9D89-36E23C94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429" y="3565242"/>
            <a:ext cx="179206" cy="5973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D7A"/>
          </a:solidFill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24" name="Diagram label: Card is 50 cm from the source.">
            <a:extLst xmlns:a="http://schemas.openxmlformats.org/drawingml/2006/main">
              <a:ext uri="{FF2B5EF4-FFF2-40B4-BE49-F238E27FC236}">
                <a16:creationId xmlns:a16="http://schemas.microsoft.com/office/drawing/2014/main" id="{AFDD8A7B-41E2-4F6B-96FD-E1C9ED54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278" y="5133295"/>
            <a:ext cx="3360114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Card is 50 cm from the source.</a:t>
            </a:r>
          </a:p>
        </p:txBody>
      </p:sp>
      <p:sp>
        <p:nvSpPr>
          <p:cNvPr id="25" name="Diagram label: Fixed source and screen: 100 cm apart">
            <a:extLst xmlns:a="http://schemas.openxmlformats.org/drawingml/2006/main">
              <a:ext uri="{FF2B5EF4-FFF2-40B4-BE49-F238E27FC236}">
                <a16:creationId xmlns:a16="http://schemas.microsoft.com/office/drawing/2014/main" id="{D5D1CE41-9219-4AF7-8837-A930F4FF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255" y="2071858"/>
            <a:ext cx="4778829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Fixed source and screen: 100 cm apart</a:t>
            </a:r>
          </a:p>
        </p:txBody>
      </p:sp>
      <p:sp>
        <p:nvSpPr>
          <p:cNvPr id="26" name="Diagram label: Same card:&#10;4 cm high">
            <a:extLst xmlns:a="http://schemas.openxmlformats.org/drawingml/2006/main">
              <a:ext uri="{FF2B5EF4-FFF2-40B4-BE49-F238E27FC236}">
                <a16:creationId xmlns:a16="http://schemas.microsoft.com/office/drawing/2014/main" id="{B667A896-8161-4112-9A39-C7F8F488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244" y="4498606"/>
            <a:ext cx="1978734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card: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4 cm high</a:t>
            </a:r>
          </a:p>
        </p:txBody>
      </p:sp>
      <p:sp>
        <p:nvSpPr>
          <p:cNvPr id="27" name="Now the card is 50 cm from the source.  Its size is unchanged.  ">
            <a:extLst xmlns:a="http://schemas.openxmlformats.org/drawingml/2006/main">
              <a:ext uri="{FF2B5EF4-FFF2-40B4-BE49-F238E27FC236}">
                <a16:creationId xmlns:a16="http://schemas.microsoft.com/office/drawing/2014/main" id="{505E342A-4C8B-4C8A-972C-19510AFB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Now the card is 50 cm from the source. Its size is unchanged. The shadow on the screen is smaller.</a:t>
            </a:r>
          </a:p>
        </p:txBody>
      </p:sp>
    </p:spTree>
    <p:extLst>
      <p:ext uri="{BB962C8B-B14F-4D97-AF65-F5344CB8AC3E}">
        <p14:creationId xmlns:p14="http://schemas.microsoft.com/office/powerpoint/2010/main" val="736144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urface">
            <a:extLst xmlns:a="http://schemas.openxmlformats.org/drawingml/2006/main">
              <a:ext uri="{FF2B5EF4-FFF2-40B4-BE49-F238E27FC236}">
                <a16:creationId xmlns:a16="http://schemas.microsoft.com/office/drawing/2014/main" id="{BB84244D-66C9-4FEC-BF72-8B09DE01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234E4DB-5395-4186-8F61-D7899844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8EA1EEA-93AF-4F34-8942-DD82EBC8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E61BA294-3AA6-4B6F-9F71-6B8236B5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519BFDC4-4761-47DB-B4F1-AE8E2032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measure the same dimension">
            <a:extLst xmlns:a="http://schemas.openxmlformats.org/drawingml/2006/main">
              <a:ext uri="{FF2B5EF4-FFF2-40B4-BE49-F238E27FC236}">
                <a16:creationId xmlns:a16="http://schemas.microsoft.com/office/drawing/2014/main" id="{9C8BA3F4-E71C-45CE-992E-FE20996C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measure the same dimension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1FDA006-1AB4-422F-9BC2-5081A5EB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078326BD-ED75-4CB1-87AA-1CB40746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9" name="5 / 14">
            <a:extLst xmlns:a="http://schemas.openxmlformats.org/drawingml/2006/main">
              <a:ext uri="{FF2B5EF4-FFF2-40B4-BE49-F238E27FC236}">
                <a16:creationId xmlns:a16="http://schemas.microsoft.com/office/drawing/2014/main" id="{7B6CC6F1-6D89-484C-850B-E5978C54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14</a:t>
            </a:r>
          </a:p>
        </p:txBody>
      </p:sp>
      <p:sp>
        <p:nvSpPr>
          <p:cNvPr id="1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B8BF20E-E23D-4EDF-A286-9009EF5C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2333200"/>
            <a:ext cx="5973536" cy="2874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EB2D758-AAE2-4BA8-A69C-47AA517C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627" y="2818550"/>
            <a:ext cx="1418715" cy="17920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D7A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3EB3BD2-11A1-4DFB-9F9F-F971BDAC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66700" y="2818550"/>
            <a:ext cx="953" cy="17920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9467D6A-F3D0-46AF-8285-24F43FE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17361" y="4610610"/>
            <a:ext cx="29867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F5BA1B1-9A39-4EC8-9656-DE83C172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17361" y="2818550"/>
            <a:ext cx="29867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5" name="Diagram label: 0 cm">
            <a:extLst xmlns:a="http://schemas.openxmlformats.org/drawingml/2006/main">
              <a:ext uri="{FF2B5EF4-FFF2-40B4-BE49-F238E27FC236}">
                <a16:creationId xmlns:a16="http://schemas.microsoft.com/office/drawing/2014/main" id="{0D1CBF22-7BBB-4C1A-A6ED-FECF228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376" y="4423937"/>
            <a:ext cx="126937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 cm</a:t>
            </a:r>
          </a:p>
        </p:txBody>
      </p:sp>
      <p:sp>
        <p:nvSpPr>
          <p:cNvPr id="16" name="Diagram label: 8 cm">
            <a:extLst xmlns:a="http://schemas.openxmlformats.org/drawingml/2006/main">
              <a:ext uri="{FF2B5EF4-FFF2-40B4-BE49-F238E27FC236}">
                <a16:creationId xmlns:a16="http://schemas.microsoft.com/office/drawing/2014/main" id="{4956B772-0428-4398-B284-E585B6A0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376" y="2631877"/>
            <a:ext cx="126937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8 cm</a:t>
            </a:r>
          </a:p>
        </p:txBody>
      </p:sp>
      <p:sp>
        <p:nvSpPr>
          <p:cNvPr id="17" name="Diagram label: Measure from the bottom edge to the top edge.">
            <a:extLst xmlns:a="http://schemas.openxmlformats.org/drawingml/2006/main">
              <a:ext uri="{FF2B5EF4-FFF2-40B4-BE49-F238E27FC236}">
                <a16:creationId xmlns:a16="http://schemas.microsoft.com/office/drawing/2014/main" id="{D19E41BF-D57C-4960-9031-285D2ECC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5357302"/>
            <a:ext cx="6048205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Measure from the bottom edge to the top edge.</a:t>
            </a:r>
          </a:p>
        </p:txBody>
      </p:sp>
      <p:sp>
        <p:nvSpPr>
          <p:cNvPr id="18" name="Measure bottom to top.  Use centimetres each time.  Keep the rul">
            <a:extLst xmlns:a="http://schemas.openxmlformats.org/drawingml/2006/main">
              <a:ext uri="{FF2B5EF4-FFF2-40B4-BE49-F238E27FC236}">
                <a16:creationId xmlns:a16="http://schemas.microsoft.com/office/drawing/2014/main" id="{DDA8CF9C-2002-4FAD-BEFF-1322725A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Measure bottom to top. Use centimetres each time. Keep the ruler beside the screen.</a:t>
            </a:r>
          </a:p>
        </p:txBody>
      </p:sp>
    </p:spTree>
    <p:extLst>
      <p:ext uri="{BB962C8B-B14F-4D97-AF65-F5344CB8AC3E}">
        <p14:creationId xmlns:p14="http://schemas.microsoft.com/office/powerpoint/2010/main" val="1815810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A0FE035B-06BF-42EC-BA4A-83BBCD57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8D9879D-56C2-4BBE-BE6F-D320D3B1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B20D440-D5D3-49F7-9652-6C1D5E84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07E3692-D76F-47E6-9B51-8DB435C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D31EADD2-891E-4AC0-A824-1C006380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FC65B5BB-D3BD-4086-9CA5-8B50839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Find the pattern in the model">
            <a:extLst xmlns:a="http://schemas.openxmlformats.org/drawingml/2006/main">
              <a:ext uri="{FF2B5EF4-FFF2-40B4-BE49-F238E27FC236}">
                <a16:creationId xmlns:a16="http://schemas.microsoft.com/office/drawing/2014/main" id="{173B9330-1FDA-4B47-911F-E85604C4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Find the pattern in the model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F1974F7-4D98-4424-8712-3399EE28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066C2267-D15C-4013-B70B-BA19F30A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10" name="6 / 14">
            <a:extLst xmlns:a="http://schemas.openxmlformats.org/drawingml/2006/main">
              <a:ext uri="{FF2B5EF4-FFF2-40B4-BE49-F238E27FC236}">
                <a16:creationId xmlns:a16="http://schemas.microsoft.com/office/drawing/2014/main" id="{BFFB24ED-7C4B-48E0-9F64-70F1224D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14</a:t>
            </a:r>
          </a:p>
        </p:txBody>
      </p:sp>
      <p:sp>
        <p:nvSpPr>
          <p:cNvPr id="11" name="Compare the three positions. Which gives the largest shadow? Use">
            <a:extLst xmlns:a="http://schemas.openxmlformats.org/drawingml/2006/main">
              <a:ext uri="{FF2B5EF4-FFF2-40B4-BE49-F238E27FC236}">
                <a16:creationId xmlns:a16="http://schemas.microsoft.com/office/drawing/2014/main" id="{A86D66E9-51B9-4F4B-9606-D4F96C33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the three positions. Which gives the largest shadow? Use two numbers as evidence.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0212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55732"/>
                <a:gridCol w="3270798"/>
                <a:gridCol w="4298670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Source → card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Card height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Model shadow height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20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20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 cm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 cm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 cm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50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 cm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ideal point-source model; source → screen = 100 cm">
            <a:extLst xmlns:a="http://schemas.openxmlformats.org/drawingml/2006/main">
              <a:ext uri="{FF2B5EF4-FFF2-40B4-BE49-F238E27FC236}">
                <a16:creationId xmlns:a16="http://schemas.microsoft.com/office/drawing/2014/main" id="{093AC656-FEA6-4475-A528-0BFBCCA4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1030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ideal point-source model; source → screen = 100 cm</a:t>
            </a:r>
          </a:p>
        </p:txBody>
      </p:sp>
      <p:sp>
        <p:nvSpPr>
          <p:cNvPr id="14" name="W1. What changes as the card moves away from the source?">
            <a:extLst xmlns:a="http://schemas.openxmlformats.org/drawingml/2006/main">
              <a:ext uri="{FF2B5EF4-FFF2-40B4-BE49-F238E27FC236}">
                <a16:creationId xmlns:a16="http://schemas.microsoft.com/office/drawing/2014/main" id="{7C7E6335-DAAC-4EBE-833D-C63E2D41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345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W1. What changes as the card moves away from the source?</a:t>
            </a:r>
          </a:p>
        </p:txBody>
      </p:sp>
    </p:spTree>
    <p:extLst>
      <p:ext uri="{BB962C8B-B14F-4D97-AF65-F5344CB8AC3E}">
        <p14:creationId xmlns:p14="http://schemas.microsoft.com/office/powerpoint/2010/main" val="1293229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F9130F91-E6AF-4D60-B70F-BADBD30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E9A29B0-9F48-47A0-B3BA-584E3D05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C51B5AB-8478-43B9-9229-D336BFE8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7B59FD8C-817E-4D48-8CF2-B5E14FE0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D7831029-86E3-4A6A-A551-56C5C5F6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51295697-2AA1-4398-A5B3-D18B2105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Meet the studio target">
            <a:extLst xmlns:a="http://schemas.openxmlformats.org/drawingml/2006/main">
              <a:ext uri="{FF2B5EF4-FFF2-40B4-BE49-F238E27FC236}">
                <a16:creationId xmlns:a16="http://schemas.microsoft.com/office/drawing/2014/main" id="{A8AB64AF-CD51-4FFE-BF38-AABDED33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Meet the studio target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892455C-6BBF-4EC2-9FBC-FBD15AC6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0CCFED74-E82E-4CD2-9261-B0FEAAE2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10" name="7 / 14">
            <a:extLst xmlns:a="http://schemas.openxmlformats.org/drawingml/2006/main">
              <a:ext uri="{FF2B5EF4-FFF2-40B4-BE49-F238E27FC236}">
                <a16:creationId xmlns:a16="http://schemas.microsoft.com/office/drawing/2014/main" id="{29183E96-A0E5-4E48-86B2-BDAEF874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14</a:t>
            </a:r>
          </a:p>
        </p:txBody>
      </p:sp>
      <p:sp>
        <p:nvSpPr>
          <p:cNvPr id="11" name="Target: a shadow 10 cm high.">
            <a:extLst xmlns:a="http://schemas.openxmlformats.org/drawingml/2006/main">
              <a:ext uri="{FF2B5EF4-FFF2-40B4-BE49-F238E27FC236}">
                <a16:creationId xmlns:a16="http://schemas.microsoft.com/office/drawing/2014/main" id="{EB22FF28-043F-477F-AB0E-B81A044B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Target: a shadow 10 cm high.</a:t>
            </a:r>
          </a:p>
        </p:txBody>
      </p:sp>
      <p:sp>
        <p:nvSpPr>
          <p:cNvPr id="12" name="Choose a card position.">
            <a:extLst xmlns:a="http://schemas.openxmlformats.org/drawingml/2006/main">
              <a:ext uri="{FF2B5EF4-FFF2-40B4-BE49-F238E27FC236}">
                <a16:creationId xmlns:a16="http://schemas.microsoft.com/office/drawing/2014/main" id="{9D3B3039-5E7F-4E42-B943-6DBFB76E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card position.</a:t>
            </a:r>
          </a:p>
        </p:txBody>
      </p:sp>
      <p:sp>
        <p:nvSpPr>
          <p:cNvPr id="13" name="Explain why the other positions miss.">
            <a:extLst xmlns:a="http://schemas.openxmlformats.org/drawingml/2006/main">
              <a:ext uri="{FF2B5EF4-FFF2-40B4-BE49-F238E27FC236}">
                <a16:creationId xmlns:a16="http://schemas.microsoft.com/office/drawing/2014/main" id="{12869D11-B617-4C0F-A490-2D6CE867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why the other positions miss.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6578FFBD-5D09-4736-B579-F8DDEAB1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2085E31D-D77A-4792-A89A-99293A7E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6" name="W2. Which model position meets the target?">
            <a:extLst xmlns:a="http://schemas.openxmlformats.org/drawingml/2006/main">
              <a:ext uri="{FF2B5EF4-FFF2-40B4-BE49-F238E27FC236}">
                <a16:creationId xmlns:a16="http://schemas.microsoft.com/office/drawing/2014/main" id="{21A2572C-D62B-4539-AEE5-765B0B5F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W2. Which model position meets the target?</a:t>
            </a:r>
          </a:p>
        </p:txBody>
      </p:sp>
    </p:spTree>
    <p:extLst>
      <p:ext uri="{BB962C8B-B14F-4D97-AF65-F5344CB8AC3E}">
        <p14:creationId xmlns:p14="http://schemas.microsoft.com/office/powerpoint/2010/main" val="336211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7EEBE4DC-A95F-4207-8484-7D9656E3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F8288D9-BC02-4019-98DA-1A52AE15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72F0066-9B4E-41C6-9CF0-591CF0D0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1052B008-9CE2-405D-B4F0-706267C3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90041A9F-7408-49A8-B14B-B2248B10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F29D552B-A12F-4FB3-89EE-95A7143A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prediction follows this setup?">
            <a:extLst xmlns:a="http://schemas.openxmlformats.org/drawingml/2006/main">
              <a:ext uri="{FF2B5EF4-FFF2-40B4-BE49-F238E27FC236}">
                <a16:creationId xmlns:a16="http://schemas.microsoft.com/office/drawing/2014/main" id="{D4AF8DBB-9CB3-40B3-93FB-3464298C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prediction follows this setup?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85620CE-57F0-4DFC-9A49-D5947691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40C0B9DA-28D2-408F-87FD-0FBD4546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10" name="8 / 14">
            <a:extLst xmlns:a="http://schemas.openxmlformats.org/drawingml/2006/main">
              <a:ext uri="{FF2B5EF4-FFF2-40B4-BE49-F238E27FC236}">
                <a16:creationId xmlns:a16="http://schemas.microsoft.com/office/drawing/2014/main" id="{12083B15-3378-4378-A070-64BE5222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14</a:t>
            </a:r>
          </a:p>
        </p:txBody>
      </p:sp>
      <p:sp>
        <p:nvSpPr>
          <p:cNvPr id="11" name="The source and screen stay fixed. Move the same card towards the">
            <a:extLst xmlns:a="http://schemas.openxmlformats.org/drawingml/2006/main">
              <a:ext uri="{FF2B5EF4-FFF2-40B4-BE49-F238E27FC236}">
                <a16:creationId xmlns:a16="http://schemas.microsoft.com/office/drawing/2014/main" id="{E193D56D-2E69-4F90-AEC7-A0D2BEF8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source and screen stay fixed. Move the same card towards the source.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996C35A2-4916-4AD0-8ADB-EFEFD931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458CD26-7B9C-4720-B30C-17EC30C6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5D534802-D352-4E58-A40A-83F323F4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The shadow becomes larger.">
            <a:extLst xmlns:a="http://schemas.openxmlformats.org/drawingml/2006/main">
              <a:ext uri="{FF2B5EF4-FFF2-40B4-BE49-F238E27FC236}">
                <a16:creationId xmlns:a16="http://schemas.microsoft.com/office/drawing/2014/main" id="{F615FF51-F99A-4F67-A8DF-A1A183D8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shadow becomes larger.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FB924FF5-7CE1-45AD-AD6B-7BB9FAAA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45684A03-3A74-43F0-B91B-7F21389C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E5926C93-88C3-4708-975B-D0CFA443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The card itself becomes taller.">
            <a:extLst xmlns:a="http://schemas.openxmlformats.org/drawingml/2006/main">
              <a:ext uri="{FF2B5EF4-FFF2-40B4-BE49-F238E27FC236}">
                <a16:creationId xmlns:a16="http://schemas.microsoft.com/office/drawing/2014/main" id="{46F5EF7F-739E-4FD2-A210-B265C238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card itself becomes taller.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B5E3B1A1-2D3F-45B6-9DF3-0CC97D10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63BE057A-D417-417D-8AB5-0C55ADDF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3680FF62-8A21-4D04-AE2D-233735EF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The shadow must stay the same height.">
            <a:extLst xmlns:a="http://schemas.openxmlformats.org/drawingml/2006/main">
              <a:ext uri="{FF2B5EF4-FFF2-40B4-BE49-F238E27FC236}">
                <a16:creationId xmlns:a16="http://schemas.microsoft.com/office/drawing/2014/main" id="{7744C03C-1B79-42D3-B94F-1A99B69F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shadow must stay the same height.</a:t>
            </a:r>
          </a:p>
        </p:txBody>
      </p:sp>
    </p:spTree>
    <p:extLst>
      <p:ext uri="{BB962C8B-B14F-4D97-AF65-F5344CB8AC3E}">
        <p14:creationId xmlns:p14="http://schemas.microsoft.com/office/powerpoint/2010/main" val="775443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0E2CB21-81F2-4C80-9E24-B2169376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F3C58EB-CDA0-4C86-B99F-56E8A103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5CD5655-B49E-48C1-B683-D6092206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04E2E840-FC57-4BA9-8E1A-5FD71957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51F2976C-9B0F-4AC5-82A9-0838206C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70257DAF-671B-462F-B8CD-23FEE3EB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your investigation route">
            <a:extLst xmlns:a="http://schemas.openxmlformats.org/drawingml/2006/main">
              <a:ext uri="{FF2B5EF4-FFF2-40B4-BE49-F238E27FC236}">
                <a16:creationId xmlns:a16="http://schemas.microsoft.com/office/drawing/2014/main" id="{58BBF0C7-E5D6-4271-BA16-5C2A0653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investigation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35DC362-5996-41FC-90F2-EAFBD176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861DC932-92A3-417E-B49A-D61FF22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10" name="9 / 14">
            <a:extLst xmlns:a="http://schemas.openxmlformats.org/drawingml/2006/main">
              <a:ext uri="{FF2B5EF4-FFF2-40B4-BE49-F238E27FC236}">
                <a16:creationId xmlns:a16="http://schemas.microsoft.com/office/drawing/2014/main" id="{01DA7FA8-2BE4-4E7F-A0C4-879D8645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14</a:t>
            </a:r>
          </a:p>
        </p:txBody>
      </p:sp>
      <p:sp>
        <p:nvSpPr>
          <p:cNvPr id="11" name="Match the model values.">
            <a:extLst xmlns:a="http://schemas.openxmlformats.org/drawingml/2006/main">
              <a:ext uri="{FF2B5EF4-FFF2-40B4-BE49-F238E27FC236}">
                <a16:creationId xmlns:a16="http://schemas.microsoft.com/office/drawing/2014/main" id="{1A92E136-0B48-41F4-ABA6-2FC14B00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Match the model values.</a:t>
            </a:r>
          </a:p>
        </p:txBody>
      </p:sp>
      <p:sp>
        <p:nvSpPr>
          <p:cNvPr id="12" name="Recommend a studio position.">
            <a:extLst xmlns:a="http://schemas.openxmlformats.org/drawingml/2006/main">
              <a:ext uri="{FF2B5EF4-FFF2-40B4-BE49-F238E27FC236}">
                <a16:creationId xmlns:a16="http://schemas.microsoft.com/office/drawing/2014/main" id="{D1359972-3AA3-45FE-92C0-7487C4DE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Recommend a studio position.</a:t>
            </a:r>
          </a:p>
        </p:txBody>
      </p:sp>
      <p:sp>
        <p:nvSpPr>
          <p:cNvPr id="13" name="Predict between trials.">
            <a:extLst xmlns:a="http://schemas.openxmlformats.org/drawingml/2006/main">
              <a:ext uri="{FF2B5EF4-FFF2-40B4-BE49-F238E27FC236}">
                <a16:creationId xmlns:a16="http://schemas.microsoft.com/office/drawing/2014/main" id="{062081C2-096E-493A-AE27-27DDC254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Predict between trials.</a:t>
            </a:r>
          </a:p>
        </p:txBody>
      </p:sp>
    </p:spTree>
    <p:extLst>
      <p:ext uri="{BB962C8B-B14F-4D97-AF65-F5344CB8AC3E}">
        <p14:creationId xmlns:p14="http://schemas.microsoft.com/office/powerpoint/2010/main" val="1167725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D5D1392-3F64-4635-B68A-514ECBDA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8855A40-EBB5-4D52-ABC0-5C310B5C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012A1CF-E8DE-428F-9B3F-F7B813BD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A045B46-CB6F-4C64-8CDC-39708916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CA7689AB-6C50-42C8-9683-79E97E80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the evidence">
            <a:extLst xmlns:a="http://schemas.openxmlformats.org/drawingml/2006/main">
              <a:ext uri="{FF2B5EF4-FFF2-40B4-BE49-F238E27FC236}">
                <a16:creationId xmlns:a16="http://schemas.microsoft.com/office/drawing/2014/main" id="{624AEA84-4306-402E-9D5E-FBDEEB2E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49311F0-9205-4B6E-BBA7-829BDD0A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1E7E5739-D2F5-4890-98C5-14F8C12B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9" name="10 / 14">
            <a:extLst xmlns:a="http://schemas.openxmlformats.org/drawingml/2006/main">
              <a:ext uri="{FF2B5EF4-FFF2-40B4-BE49-F238E27FC236}">
                <a16:creationId xmlns:a16="http://schemas.microsoft.com/office/drawing/2014/main" id="{6B349167-0045-423E-B6D3-81BF27BA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14</a:t>
            </a:r>
          </a:p>
        </p:txBody>
      </p:sp>
      <p:sp>
        <p:nvSpPr>
          <p:cNvPr id="10" name="Read or point to one clue.">
            <a:extLst xmlns:a="http://schemas.openxmlformats.org/drawingml/2006/main">
              <a:ext uri="{FF2B5EF4-FFF2-40B4-BE49-F238E27FC236}">
                <a16:creationId xmlns:a16="http://schemas.microsoft.com/office/drawing/2014/main" id="{2C4E5292-FF94-48A9-BEAA-2D6DCAF4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or point to one clue.</a:t>
            </a:r>
          </a:p>
        </p:txBody>
      </p:sp>
      <p:sp>
        <p:nvSpPr>
          <p:cNvPr id="11" name="Record what it supports.">
            <a:extLst xmlns:a="http://schemas.openxmlformats.org/drawingml/2006/main">
              <a:ext uri="{FF2B5EF4-FFF2-40B4-BE49-F238E27FC236}">
                <a16:creationId xmlns:a16="http://schemas.microsoft.com/office/drawing/2014/main" id="{88865B38-8E4E-4F7B-B88B-21699FD0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Record what it supports.</a:t>
            </a:r>
          </a:p>
        </p:txBody>
      </p:sp>
      <p:sp>
        <p:nvSpPr>
          <p:cNvPr id="12" name="Keep your explanation short.">
            <a:extLst xmlns:a="http://schemas.openxmlformats.org/drawingml/2006/main">
              <a:ext uri="{FF2B5EF4-FFF2-40B4-BE49-F238E27FC236}">
                <a16:creationId xmlns:a16="http://schemas.microsoft.com/office/drawing/2014/main" id="{DEA5BF8B-1CC0-49B7-8490-6D209DD3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your explanation short.</a:t>
            </a:r>
          </a:p>
        </p:txBody>
      </p:sp>
    </p:spTree>
    <p:extLst>
      <p:ext uri="{BB962C8B-B14F-4D97-AF65-F5344CB8AC3E}">
        <p14:creationId xmlns:p14="http://schemas.microsoft.com/office/powerpoint/2010/main" val="10377870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7906048-EE8C-4D37-996F-04A13DC3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BC02B41-88ED-4619-A0F4-4031D426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BD4A7A0-C423-4FA3-B403-FA014BBC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4F8A314-E170-47D4-8A59-5A002F60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EF4BC83A-EFD0-4EA4-8956-EB09B82A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05D4DCE4-33E3-4316-8571-2F93D64F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own science record">
            <a:extLst xmlns:a="http://schemas.openxmlformats.org/drawingml/2006/main">
              <a:ext uri="{FF2B5EF4-FFF2-40B4-BE49-F238E27FC236}">
                <a16:creationId xmlns:a16="http://schemas.microsoft.com/office/drawing/2014/main" id="{D01BBF18-9758-42DC-A5CD-E3AD564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own science record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154C640B-A671-4366-8B67-5D8C2B47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46E89011-0BED-4B3B-91F6-7B1E06D7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10" name="11 / 14">
            <a:extLst xmlns:a="http://schemas.openxmlformats.org/drawingml/2006/main">
              <a:ext uri="{FF2B5EF4-FFF2-40B4-BE49-F238E27FC236}">
                <a16:creationId xmlns:a16="http://schemas.microsoft.com/office/drawing/2014/main" id="{CF714C66-C9D8-4E27-9E45-A962EC0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14</a:t>
            </a:r>
          </a:p>
        </p:txBody>
      </p:sp>
      <p:sp>
        <p:nvSpPr>
          <p:cNvPr id="11" name="Complete your chosen route.">
            <a:extLst xmlns:a="http://schemas.openxmlformats.org/drawingml/2006/main">
              <a:ext uri="{FF2B5EF4-FFF2-40B4-BE49-F238E27FC236}">
                <a16:creationId xmlns:a16="http://schemas.microsoft.com/office/drawing/2014/main" id="{A9B0FDAE-793E-46E1-B945-73D3B3DD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Complete your chosen route.</a:t>
            </a:r>
          </a:p>
        </p:txBody>
      </p:sp>
      <p:sp>
        <p:nvSpPr>
          <p:cNvPr id="12" name="Use a diagram, words or speech.">
            <a:extLst xmlns:a="http://schemas.openxmlformats.org/drawingml/2006/main">
              <a:ext uri="{FF2B5EF4-FFF2-40B4-BE49-F238E27FC236}">
                <a16:creationId xmlns:a16="http://schemas.microsoft.com/office/drawing/2014/main" id="{CD7B1194-E18E-4508-95FC-DC15A76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a diagram, words or speech.</a:t>
            </a:r>
          </a:p>
        </p:txBody>
      </p:sp>
      <p:sp>
        <p:nvSpPr>
          <p:cNvPr id="13" name="Check one answer with the evidence.">
            <a:extLst xmlns:a="http://schemas.openxmlformats.org/drawingml/2006/main">
              <a:ext uri="{FF2B5EF4-FFF2-40B4-BE49-F238E27FC236}">
                <a16:creationId xmlns:a16="http://schemas.microsoft.com/office/drawing/2014/main" id="{1A6BF209-CA7A-448E-9499-A2F06FAE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one answer with the evidence.</a:t>
            </a:r>
          </a:p>
        </p:txBody>
      </p:sp>
    </p:spTree>
    <p:extLst>
      <p:ext uri="{BB962C8B-B14F-4D97-AF65-F5344CB8AC3E}">
        <p14:creationId xmlns:p14="http://schemas.microsoft.com/office/powerpoint/2010/main" val="9908463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00A869A-4EAA-4D3B-A79F-1F7368AA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45B4315-0752-4CEE-B539-5ED996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9CE0CBB-2A13-4594-9F88-BADDDCAE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13D0D7A5-1D7F-498E-A680-390F70E1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5454BDF-9E2A-4324-AEEC-0FB801C9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and improve">
            <a:extLst xmlns:a="http://schemas.openxmlformats.org/drawingml/2006/main">
              <a:ext uri="{FF2B5EF4-FFF2-40B4-BE49-F238E27FC236}">
                <a16:creationId xmlns:a16="http://schemas.microsoft.com/office/drawing/2014/main" id="{7F471A86-A987-4E0B-81CB-8811C73A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and improve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E331EA3-5981-4656-AE3B-40D5C6D5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3C02C6F5-0FFD-43FA-96F2-444DF11C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9" name="12 / 14">
            <a:extLst xmlns:a="http://schemas.openxmlformats.org/drawingml/2006/main">
              <a:ext uri="{FF2B5EF4-FFF2-40B4-BE49-F238E27FC236}">
                <a16:creationId xmlns:a16="http://schemas.microsoft.com/office/drawing/2014/main" id="{292FAAAF-9485-45BF-8CBC-C110DAB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14</a:t>
            </a:r>
          </a:p>
        </p:txBody>
      </p:sp>
      <p:sp>
        <p:nvSpPr>
          <p:cNvPr id="10" name="Does my answer match the evidence?">
            <a:extLst xmlns:a="http://schemas.openxmlformats.org/drawingml/2006/main">
              <a:ext uri="{FF2B5EF4-FFF2-40B4-BE49-F238E27FC236}">
                <a16:creationId xmlns:a16="http://schemas.microsoft.com/office/drawing/2014/main" id="{0F5A7EC1-B4EC-482D-9C3A-D8528961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my answer match the evidence?</a:t>
            </a:r>
          </a:p>
        </p:txBody>
      </p:sp>
      <p:sp>
        <p:nvSpPr>
          <p:cNvPr id="11" name="Have I explained why?">
            <a:extLst xmlns:a="http://schemas.openxmlformats.org/drawingml/2006/main">
              <a:ext uri="{FF2B5EF4-FFF2-40B4-BE49-F238E27FC236}">
                <a16:creationId xmlns:a16="http://schemas.microsoft.com/office/drawing/2014/main" id="{4E802D9A-3C98-4BB9-AB03-E6E67AF3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explained why?</a:t>
            </a:r>
          </a:p>
        </p:txBody>
      </p:sp>
      <p:sp>
        <p:nvSpPr>
          <p:cNvPr id="12" name="Improve one label or sentence.">
            <a:extLst xmlns:a="http://schemas.openxmlformats.org/drawingml/2006/main">
              <a:ext uri="{FF2B5EF4-FFF2-40B4-BE49-F238E27FC236}">
                <a16:creationId xmlns:a16="http://schemas.microsoft.com/office/drawing/2014/main" id="{D28ED164-73D6-4381-8C64-1BA073B4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one label or sentence.</a:t>
            </a:r>
          </a:p>
        </p:txBody>
      </p:sp>
    </p:spTree>
    <p:extLst>
      <p:ext uri="{BB962C8B-B14F-4D97-AF65-F5344CB8AC3E}">
        <p14:creationId xmlns:p14="http://schemas.microsoft.com/office/powerpoint/2010/main" val="18102985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C2F363A3-D4C1-4FEE-95F5-326BEA3F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489F6D1-B959-482C-9354-62A61D02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3762122-A648-4B1C-A3E6-7C74CEDE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CF1A34D-B9B4-4B91-9317-4753DE87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746BF33C-694D-4CD5-8930-11642491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A707F3DC-8A79-48B7-8FAC-935CFB23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undy loop: improve our account">
            <a:extLst xmlns:a="http://schemas.openxmlformats.org/drawingml/2006/main">
              <a:ext uri="{FF2B5EF4-FFF2-40B4-BE49-F238E27FC236}">
                <a16:creationId xmlns:a16="http://schemas.microsoft.com/office/drawing/2014/main" id="{B04B9A27-EC34-4F4B-A15C-8D7FD100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Lundy loop: improve our account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5001531-FB4B-451D-ACE2-12DFD2F6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A64E139A-4660-4DC1-B9D9-8C0F73BA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10" name="13 / 14">
            <a:extLst xmlns:a="http://schemas.openxmlformats.org/drawingml/2006/main">
              <a:ext uri="{FF2B5EF4-FFF2-40B4-BE49-F238E27FC236}">
                <a16:creationId xmlns:a16="http://schemas.microsoft.com/office/drawing/2014/main" id="{32E37D96-060F-4943-80AC-F4D975EA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14</a:t>
            </a:r>
          </a:p>
        </p:txBody>
      </p:sp>
      <p:sp>
        <p:nvSpPr>
          <p:cNvPr id="11" name="Choose how to share one idea.">
            <a:extLst xmlns:a="http://schemas.openxmlformats.org/drawingml/2006/main">
              <a:ext uri="{FF2B5EF4-FFF2-40B4-BE49-F238E27FC236}">
                <a16:creationId xmlns:a16="http://schemas.microsoft.com/office/drawing/2014/main" id="{205A6792-76F8-489C-8CED-17CA21F9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how to share one idea.</a:t>
            </a:r>
          </a:p>
        </p:txBody>
      </p:sp>
      <p:sp>
        <p:nvSpPr>
          <p:cNvPr id="12" name="Listen to another explanation.">
            <a:extLst xmlns:a="http://schemas.openxmlformats.org/drawingml/2006/main">
              <a:ext uri="{FF2B5EF4-FFF2-40B4-BE49-F238E27FC236}">
                <a16:creationId xmlns:a16="http://schemas.microsoft.com/office/drawing/2014/main" id="{2815A27F-138D-487D-99D2-3B64E7EF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Listen to another explanation.</a:t>
            </a:r>
          </a:p>
        </p:txBody>
      </p:sp>
      <p:sp>
        <p:nvSpPr>
          <p:cNvPr id="13" name="Use evidence to improve our account.">
            <a:extLst xmlns:a="http://schemas.openxmlformats.org/drawingml/2006/main">
              <a:ext uri="{FF2B5EF4-FFF2-40B4-BE49-F238E27FC236}">
                <a16:creationId xmlns:a16="http://schemas.microsoft.com/office/drawing/2014/main" id="{06FB10D4-8AA2-408E-B25B-92E241D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evidence to improve our account.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59E7349-32FF-4946-9A9F-0A4ED0D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CE2F84F8-0E53-436C-94A4-FA48EF6E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What must we name when we say “nearer makes it larger”?">
            <a:extLst xmlns:a="http://schemas.openxmlformats.org/drawingml/2006/main">
              <a:ext uri="{FF2B5EF4-FFF2-40B4-BE49-F238E27FC236}">
                <a16:creationId xmlns:a16="http://schemas.microsoft.com/office/drawing/2014/main" id="{2EB7159D-48E5-47E9-8FC6-5C90082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What must we name when we say “nearer makes it larger”?</a:t>
            </a:r>
          </a:p>
        </p:txBody>
      </p:sp>
    </p:spTree>
    <p:extLst>
      <p:ext uri="{BB962C8B-B14F-4D97-AF65-F5344CB8AC3E}">
        <p14:creationId xmlns:p14="http://schemas.microsoft.com/office/powerpoint/2010/main" val="13254846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B6B43C95-69C1-4EC2-B409-34105BF6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AEEC606-B132-4606-A9A1-DADC5C26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DA59341-5236-44EF-9932-1C14A3DB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C6AED65-5E7E-42E9-9903-AD74BA70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D4F32438-365E-436D-8331-22A2B4A0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075AA75A-555D-46D0-B35A-CEC31ECA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quick checks">
            <a:extLst xmlns:a="http://schemas.openxmlformats.org/drawingml/2006/main">
              <a:ext uri="{FF2B5EF4-FFF2-40B4-BE49-F238E27FC236}">
                <a16:creationId xmlns:a16="http://schemas.microsoft.com/office/drawing/2014/main" id="{B7F8B1BF-0C11-4C81-9D1D-1FF115AE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quick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7EE1A8C-A6A2-4CA8-9905-009483B2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shadow-size studio">
            <a:extLst xmlns:a="http://schemas.openxmlformats.org/drawingml/2006/main">
              <a:ext uri="{FF2B5EF4-FFF2-40B4-BE49-F238E27FC236}">
                <a16:creationId xmlns:a16="http://schemas.microsoft.com/office/drawing/2014/main" id="{4E19A2D3-941A-440E-AE88-734EDF49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shadow-size studio</a:t>
            </a:r>
          </a:p>
        </p:txBody>
      </p:sp>
      <p:sp>
        <p:nvSpPr>
          <p:cNvPr id="10" name="14 / 14">
            <a:extLst xmlns:a="http://schemas.openxmlformats.org/drawingml/2006/main">
              <a:ext uri="{FF2B5EF4-FFF2-40B4-BE49-F238E27FC236}">
                <a16:creationId xmlns:a16="http://schemas.microsoft.com/office/drawing/2014/main" id="{6242A3EF-CBE6-4208-A0BE-6306DCCA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14</a:t>
            </a:r>
          </a:p>
        </p:txBody>
      </p:sp>
      <p:sp>
        <p:nvSpPr>
          <p:cNvPr id="11" name="E1. What happens to shadow size as this card moves towards the s">
            <a:extLst xmlns:a="http://schemas.openxmlformats.org/drawingml/2006/main">
              <a:ext uri="{FF2B5EF4-FFF2-40B4-BE49-F238E27FC236}">
                <a16:creationId xmlns:a16="http://schemas.microsoft.com/office/drawing/2014/main" id="{FA065456-67E1-4101-9F68-57D3E3B6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What happens to shadow size as this card moves towards the source?</a:t>
            </a:r>
          </a:p>
        </p:txBody>
      </p:sp>
      <p:sp>
        <p:nvSpPr>
          <p:cNvPr id="12" name="E2. Name one thing kept fixed.">
            <a:extLst xmlns:a="http://schemas.openxmlformats.org/drawingml/2006/main">
              <a:ext uri="{FF2B5EF4-FFF2-40B4-BE49-F238E27FC236}">
                <a16:creationId xmlns:a16="http://schemas.microsoft.com/office/drawing/2014/main" id="{94EAF863-D9F4-4D79-A6E3-FF0CCC24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Name one thing kept fixed.</a:t>
            </a:r>
          </a:p>
        </p:txBody>
      </p:sp>
      <p:sp>
        <p:nvSpPr>
          <p:cNvPr id="13" name="E3. Which model distance gives a 10 cm shadow?">
            <a:extLst xmlns:a="http://schemas.openxmlformats.org/drawingml/2006/main">
              <a:ext uri="{FF2B5EF4-FFF2-40B4-BE49-F238E27FC236}">
                <a16:creationId xmlns:a16="http://schemas.microsoft.com/office/drawing/2014/main" id="{BA4A97B4-70C0-4E58-B8E0-F0B0C87B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Which model distance gives a 10 cm shadow?</a:t>
            </a:r>
          </a:p>
        </p:txBody>
      </p:sp>
    </p:spTree>
    <p:extLst>
      <p:ext uri="{BB962C8B-B14F-4D97-AF65-F5344CB8AC3E}">
        <p14:creationId xmlns:p14="http://schemas.microsoft.com/office/powerpoint/2010/main" val="1028306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2026-09-08T23:12:01.5930000Z</dcterms:created>
  <dcterms:modified xsi:type="dcterms:W3CDTF">2026-09-08T23:12:01.5930000Z</dcterms:modified>
</coreProperties>
</file>