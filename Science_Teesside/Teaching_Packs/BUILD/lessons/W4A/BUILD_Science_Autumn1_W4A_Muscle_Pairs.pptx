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5ca131f9a847ca" /><Relationship Type="http://schemas.openxmlformats.org/officeDocument/2006/relationships/extended-properties" Target="/docProps/app.xml" Id="R03140df048934d34" /><Relationship Type="http://schemas.openxmlformats.org/officeDocument/2006/relationships/officeDocument" Target="/ppt/presentation.xml" Id="R32beac888fcc43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ffaea28e9b4d1b"/>
  </p:sldMasterIdLst>
  <p:notesMasterIdLst>
    <p:notesMasterId xmlns:r="http://schemas.openxmlformats.org/officeDocument/2006/relationships" r:id="Re5a34f3e5fe14610"/>
  </p:notesMasterIdLst>
  <p:sldIdLst>
    <p:sldId xmlns:r="http://schemas.openxmlformats.org/officeDocument/2006/relationships" id="256" r:id="R6f4a94bd02094e89"/>
    <p:sldId xmlns:r="http://schemas.openxmlformats.org/officeDocument/2006/relationships" id="257" r:id="R1ec444978612416f"/>
    <p:sldId xmlns:r="http://schemas.openxmlformats.org/officeDocument/2006/relationships" id="258" r:id="Re889080630ef437e"/>
    <p:sldId xmlns:r="http://schemas.openxmlformats.org/officeDocument/2006/relationships" id="259" r:id="R35d1a0ae72644567"/>
    <p:sldId xmlns:r="http://schemas.openxmlformats.org/officeDocument/2006/relationships" id="260" r:id="R87ebd52b74ac48e7"/>
    <p:sldId xmlns:r="http://schemas.openxmlformats.org/officeDocument/2006/relationships" id="261" r:id="R8a7f8cce53dc49d3"/>
    <p:sldId xmlns:r="http://schemas.openxmlformats.org/officeDocument/2006/relationships" id="262" r:id="R505414a4210a4913"/>
    <p:sldId xmlns:r="http://schemas.openxmlformats.org/officeDocument/2006/relationships" id="263" r:id="R32b3787335d04659"/>
    <p:sldId xmlns:r="http://schemas.openxmlformats.org/officeDocument/2006/relationships" id="264" r:id="R4fdd8c99cbdf4fa0"/>
    <p:sldId xmlns:r="http://schemas.openxmlformats.org/officeDocument/2006/relationships" id="265" r:id="R7f6c175f06f7486f"/>
    <p:sldId xmlns:r="http://schemas.openxmlformats.org/officeDocument/2006/relationships" id="266" r:id="R3340b387d7a041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9de56939824765" /><Relationship Type="http://schemas.openxmlformats.org/officeDocument/2006/relationships/slideMaster" Target="/ppt/slideMasters/slideMaster1.xml" Id="Re6ffaea28e9b4d1b" /><Relationship Type="http://schemas.openxmlformats.org/officeDocument/2006/relationships/notesMaster" Target="/ppt/notesMasters/notesMaster1.xml" Id="Re5a34f3e5fe14610" /><Relationship Type="http://schemas.openxmlformats.org/officeDocument/2006/relationships/presProps" Target="/ppt/presProps.xml" Id="R2f1395f11c3941b7" /><Relationship Type="http://schemas.openxmlformats.org/officeDocument/2006/relationships/tableStyles" Target="/ppt/tableStyles.xml" Id="R90ef75b112af471c" /><Relationship Type="http://schemas.openxmlformats.org/officeDocument/2006/relationships/slide" Target="/ppt/slides/slide1.xml" Id="R6f4a94bd02094e89" /><Relationship Type="http://schemas.openxmlformats.org/officeDocument/2006/relationships/slide" Target="/ppt/slides/slide2.xml" Id="R1ec444978612416f" /><Relationship Type="http://schemas.openxmlformats.org/officeDocument/2006/relationships/slide" Target="/ppt/slides/slide3.xml" Id="Re889080630ef437e" /><Relationship Type="http://schemas.openxmlformats.org/officeDocument/2006/relationships/slide" Target="/ppt/slides/slide4.xml" Id="R35d1a0ae72644567" /><Relationship Type="http://schemas.openxmlformats.org/officeDocument/2006/relationships/slide" Target="/ppt/slides/slide5.xml" Id="R87ebd52b74ac48e7" /><Relationship Type="http://schemas.openxmlformats.org/officeDocument/2006/relationships/slide" Target="/ppt/slides/slide6.xml" Id="R8a7f8cce53dc49d3" /><Relationship Type="http://schemas.openxmlformats.org/officeDocument/2006/relationships/slide" Target="/ppt/slides/slide7.xml" Id="R505414a4210a4913" /><Relationship Type="http://schemas.openxmlformats.org/officeDocument/2006/relationships/slide" Target="/ppt/slides/slide8.xml" Id="R32b3787335d04659" /><Relationship Type="http://schemas.openxmlformats.org/officeDocument/2006/relationships/slide" Target="/ppt/slides/slide9.xml" Id="R4fdd8c99cbdf4fa0" /><Relationship Type="http://schemas.openxmlformats.org/officeDocument/2006/relationships/slide" Target="/ppt/slides/slide10.xml" Id="R7f6c175f06f7486f" /><Relationship Type="http://schemas.openxmlformats.org/officeDocument/2006/relationships/slide" Target="/ppt/slides/slide11.xml" Id="R3340b387d7a041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d3207e7c4a941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4342b2583d417b" /><Relationship Type="http://schemas.openxmlformats.org/officeDocument/2006/relationships/notesMaster" Target="/ppt/notesMasters/notesMaster1.xml" Id="Ra484e5c5d8744e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43ca09f17d44ba" /><Relationship Type="http://schemas.openxmlformats.org/officeDocument/2006/relationships/notesMaster" Target="/ppt/notesMasters/notesMaster1.xml" Id="Re2ce60157d49420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fc99cfc6a5406f" /><Relationship Type="http://schemas.openxmlformats.org/officeDocument/2006/relationships/notesMaster" Target="/ppt/notesMasters/notesMaster1.xml" Id="Re88d21f201bd45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98fb315cc84542" /><Relationship Type="http://schemas.openxmlformats.org/officeDocument/2006/relationships/notesMaster" Target="/ppt/notesMasters/notesMaster1.xml" Id="R601fc6ebef9e45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bd4ad2553441d5" /><Relationship Type="http://schemas.openxmlformats.org/officeDocument/2006/relationships/notesMaster" Target="/ppt/notesMasters/notesMaster1.xml" Id="Rd1b042668db04f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c435c2039142bb" /><Relationship Type="http://schemas.openxmlformats.org/officeDocument/2006/relationships/notesMaster" Target="/ppt/notesMasters/notesMaster1.xml" Id="R572f18eefb7243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092a60618143ba" /><Relationship Type="http://schemas.openxmlformats.org/officeDocument/2006/relationships/notesMaster" Target="/ppt/notesMasters/notesMaster1.xml" Id="R7e1a7aee8ba14e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5fb51f34db40e0" /><Relationship Type="http://schemas.openxmlformats.org/officeDocument/2006/relationships/notesMaster" Target="/ppt/notesMasters/notesMaster1.xml" Id="R0420053cb8bf4e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865fc53de04e57" /><Relationship Type="http://schemas.openxmlformats.org/officeDocument/2006/relationships/notesMaster" Target="/ppt/notesMasters/notesMaster1.xml" Id="Rb800b15fdc4e45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dc66542b5f41c4" /><Relationship Type="http://schemas.openxmlformats.org/officeDocument/2006/relationships/notesMaster" Target="/ppt/notesMasters/notesMaster1.xml" Id="R54bb682a036640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c8314701e8438a" /><Relationship Type="http://schemas.openxmlformats.org/officeDocument/2006/relationships/notesMaster" Target="/ppt/notesMasters/notesMaster1.xml" Id="R360f19164abf42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Overview — 1 minutes within the source's 40-minute lesson.</a:t>
            </a:r>
          </a:p>
          <a:p xmlns:a="http://schemas.openxmlformats.org/drawingml/2006/main">
            <a:r>
              <a:t>Monday P3, 11:00-11:40. This one-minute overview is included in the 40-minute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Arrival Task — 4 minutes within the source's 40-minute lesson.</a:t>
            </a:r>
          </a:p>
          <a:p xmlns:a="http://schemas.openxmlformats.org/drawingml/2006/main">
            <a:r>
              <a:t>Use a card model, not compulsory body movement. Supported: point to the pull. Standard: predict which muscle acts. Stretch: compare both actions. Retrieve last week’s internal skeleton; do not assume anatomical vocabulary beyond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Today at a Glance — 2 minutes within the source's 40-minute lesson.</a:t>
            </a:r>
          </a:p>
          <a:p xmlns:a="http://schemas.openxmlformats.org/drawingml/2006/main">
            <a:r>
              <a:t>Introduce biceps/triceps, contract/relax with spoken repetition and printed labels. Adult manipulates the model first; pupils do not handle pins or stretched elastic.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1 — 5 minutes within the source's 40-minute lesson.</a:t>
            </a:r>
          </a:p>
          <a:p xmlns:a="http://schemas.openxmlformats.org/drawingml/2006/main">
            <a:r>
              <a:t>Original simplified card-arm diagram, not anatomical scale. Adult demonstrates gentle manual pull with a loose string anchored to a forearm tab. Model is supported at the upper strip. A string stands for the effect of a pulling muscle but does not shorten itself. Keep small split pin fixed; adult makes holes.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1b — 5 minutes within the source's 40-minute lesson.</a:t>
            </a:r>
          </a:p>
          <a:p xmlns:a="http://schemas.openxmlformats.org/drawingml/2006/main">
            <a:r>
              <a:t>Map card to bone, pin to elbow and string to muscle pull. Contracting muscle develops tension and can shorten to pull; at this level use the simple shortening model. Do not say relaxed muscle is disconnected or that every lowering action requires triceps contraction: gravity can lower an unsupported arm. Teach active movement in this chosen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 — commit — 3 minutes within the source's 40-minute lesson.</a:t>
            </a:r>
          </a:p>
          <a:p xmlns:a="http://schemas.openxmlformats.org/drawingml/2006/main">
            <a:r>
              <a:t>All pupils commit before teacher confirms. Bend = biceps contracts while triceps relaxes in the simplified elbow model. Offer colour/word labels together so colour is not the only identifier.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 — compare — 3 minutes within the source's 40-minute lesson.</a:t>
            </a:r>
          </a:p>
          <a:p xmlns:a="http://schemas.openxmlformats.org/drawingml/2006/main">
            <a:r>
              <a:t>Active straighten = triceps contracts, biceps relaxes. Ask pupil to direct adult model movement. Do not require pupil to show their own arm; accept pointing to word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1b — 4 minutes within the source's 40-minute lesson.</a:t>
            </a:r>
          </a:p>
          <a:p xmlns:a="http://schemas.openxmlformats.org/drawingml/2006/main">
            <a:r>
              <a:t>Ask how two different materials represent the same relationship. Both movements need a pulling action; a string cannot push the forearm. A model has limits and is not a complete anatomical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2 — 4 minutes within the source's 40-minute lesson.</a:t>
            </a:r>
          </a:p>
          <a:p xmlns:a="http://schemas.openxmlformats.org/drawingml/2006/main">
            <a:r>
              <a:t>Model a full sentence including both muscles rather than “the top one moves.” Accept placing CONTRACTS/RELAXES beside biceps/triceps labels. Adult notes the decision and explanation; photo of the model alone is insufficient.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sort — 5 minutes within the source's 40-minute lesson.</a:t>
            </a:r>
          </a:p>
          <a:p xmlns:a="http://schemas.openxmlformats.org/drawingml/2006/main">
            <a:r>
              <a:t>True: muscles pull; biceps/triceps form pair. False: muscles push bones. Add source claim “bones move on their own” as false if time: muscles generate forces moving bones at joints. Preserve response before discussion.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check and save — 4 minutes within the source's 40-minute lesson.</a:t>
            </a:r>
          </a:p>
          <a:p xmlns:a="http://schemas.openxmlformats.org/drawingml/2006/main">
            <a:r>
              <a:t>Final four minutes completes nine-minute source We Do 2 and exact 40 minutes. Let pupils direct adult movements if fine-motor access is a barrier. Do not begin Wednesday construction early. All elastic-band source ideas are replaced with loose strings under adult control.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https://github.com/MattRoper1977/Lessons/blob/main/Science_Teesside/Build/SCI_B_W4_Muscle_Pairs.html</a:t>
            </a:r>
          </a:p>
          <a:p xmlns:a="http://schemas.openxmlformats.org/drawingml/2006/main">
            <a:r>
              <a:t>Git blob: 25c277b919c5fcc62a4891abf2f7cbecf4999396.</a:t>
            </a:r>
          </a:p>
          <a:p xmlns:a="http://schemas.openxmlformats.org/drawingml/2006/main">
            <a:r>
              <a:t>SHA256: 4178be1248b51b44ea553d6b33735f09ddfbcc83fc58f28069f5386698ced06a.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2 (2024): Movement, steps 1 Joints and 2 How we move. Public materials use original text and native diagrams; the accepted website string model replaces source stretched elastic.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a5dffd7e0544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d6b74c0ba04c40" /><Relationship Type="http://schemas.openxmlformats.org/officeDocument/2006/relationships/slideLayout" Target="/ppt/slideLayouts/slideLayout1.xml" Id="R7c1fa8097f5043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1fa8097f5043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4b170e573f424a" /><Relationship Type="http://schemas.openxmlformats.org/officeDocument/2006/relationships/image" Target="/ppt/media/image.jpeg" Id="R323769db05274e3b" /><Relationship Type="http://schemas.openxmlformats.org/officeDocument/2006/relationships/notesSlide" Target="/ppt/notesSlides/notesSlide1.xml" Id="R3db6467535ef49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556c871fd49d8" /><Relationship Type="http://schemas.openxmlformats.org/officeDocument/2006/relationships/image" Target="/ppt/media/image.jpeg" Id="R755ad130d89846e4" /><Relationship Type="http://schemas.openxmlformats.org/officeDocument/2006/relationships/notesSlide" Target="/ppt/notesSlides/notesSlide2.xml" Id="R044578f55a4c43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b07d1b9674c79" /><Relationship Type="http://schemas.openxmlformats.org/officeDocument/2006/relationships/image" Target="/ppt/media/image.jpeg" Id="R8585e36ecc914701" /><Relationship Type="http://schemas.openxmlformats.org/officeDocument/2006/relationships/notesSlide" Target="/ppt/notesSlides/notesSlide3.xml" Id="Rf31d799ac08d45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6efd951a034d44" /><Relationship Type="http://schemas.openxmlformats.org/officeDocument/2006/relationships/image" Target="/ppt/media/image.jpeg" Id="R8fec9a4fca1d4054" /><Relationship Type="http://schemas.openxmlformats.org/officeDocument/2006/relationships/notesSlide" Target="/ppt/notesSlides/notesSlide4.xml" Id="R452e220c2bb143b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63a4c0d1da4fc3" /><Relationship Type="http://schemas.openxmlformats.org/officeDocument/2006/relationships/image" Target="/ppt/media/image.jpeg" Id="Ra1736b50f2244bb4" /><Relationship Type="http://schemas.openxmlformats.org/officeDocument/2006/relationships/notesSlide" Target="/ppt/notesSlides/notesSlide5.xml" Id="R37b912a08c424d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dc6fb6ef84d9f" /><Relationship Type="http://schemas.openxmlformats.org/officeDocument/2006/relationships/image" Target="/ppt/media/image.jpeg" Id="R07ed704e46544c3c" /><Relationship Type="http://schemas.openxmlformats.org/officeDocument/2006/relationships/notesSlide" Target="/ppt/notesSlides/notesSlide6.xml" Id="R16d9bae8705f4c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3e5e99a294c02" /><Relationship Type="http://schemas.openxmlformats.org/officeDocument/2006/relationships/image" Target="/ppt/media/image.jpeg" Id="R6275e60e82424e95" /><Relationship Type="http://schemas.openxmlformats.org/officeDocument/2006/relationships/notesSlide" Target="/ppt/notesSlides/notesSlide7.xml" Id="R408f14a1db2c45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f7c1af94184495" /><Relationship Type="http://schemas.openxmlformats.org/officeDocument/2006/relationships/image" Target="/ppt/media/image.jpeg" Id="Rb427821752964d55" /><Relationship Type="http://schemas.openxmlformats.org/officeDocument/2006/relationships/notesSlide" Target="/ppt/notesSlides/notesSlide8.xml" Id="R65337593954b48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ca7d7d0664bd7" /><Relationship Type="http://schemas.openxmlformats.org/officeDocument/2006/relationships/image" Target="/ppt/media/image.jpeg" Id="Rd5979aa7666c444a" /><Relationship Type="http://schemas.openxmlformats.org/officeDocument/2006/relationships/notesSlide" Target="/ppt/notesSlides/notesSlide9.xml" Id="R915b6aff97ca4d5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7566b84f042e3" /><Relationship Type="http://schemas.openxmlformats.org/officeDocument/2006/relationships/image" Target="/ppt/media/image.jpeg" Id="R32206280aa6f44bd" /><Relationship Type="http://schemas.openxmlformats.org/officeDocument/2006/relationships/notesSlide" Target="/ppt/notesSlides/notesSlide10.xml" Id="Rd5d1136ae4da42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580877c68941bf" /><Relationship Type="http://schemas.openxmlformats.org/officeDocument/2006/relationships/image" Target="/ppt/media/image.jpeg" Id="R8cf501224e3d4784" /><Relationship Type="http://schemas.openxmlformats.org/officeDocument/2006/relationships/notesSlide" Target="/ppt/notesSlides/notesSlide11.xml" Id="R3b44657d0d6043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rule">
            <a:extLst xmlns:a="http://schemas.openxmlformats.org/drawingml/2006/main">
              <a:ext uri="{FF2B5EF4-FFF2-40B4-BE49-F238E27FC236}">
                <a16:creationId xmlns:a16="http://schemas.microsoft.com/office/drawing/2014/main" id="{FF586692-CB5C-4161-9DB6-00F45604E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EB7F05FE-E321-4F8D-BA8A-4F330A59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3769db05274e3b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22024C-B228-404C-8987-E193CD80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Muscles work in pairs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3A14220-A963-4C07-B444-D4AE4DAB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896BAD9-A7C0-4FA8-ACA3-ABFB35A4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FC3E58C6-4271-462C-BEB5-EA7DEDB5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01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7EFF060D-9919-4821-9B44-BDAB615C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28685E"/>
                </a:solidFill>
              </a:defRPr>
            </a:pPr>
            <a:r>
              <a:rPr sz="3900" b="1">
                <a:solidFill>
                  <a:srgbClr val="28685E"/>
                </a:solidFill>
              </a:rPr>
              <a:t>Two muscles. Two pulling jobs.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8F38E100-7179-4FB1-AFE4-AD294869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I can explain a bend and an active straighten at the elbow.</a:t>
            </a:r>
          </a:p>
        </p:txBody>
      </p:sp>
    </p:spTree>
    <p:extLst>
      <p:ext uri="{BB962C8B-B14F-4D97-AF65-F5344CB8AC3E}">
        <p14:creationId xmlns:p14="http://schemas.microsoft.com/office/powerpoint/2010/main" val="14192772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AF2D70E6-54BB-4B81-AE09-B68D5751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3C92F34-500E-41C6-B102-FAD49ED0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ad130d89846e4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EF298EA-614D-4898-84B3-727855D1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Watch a bend and a straighten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0A009BE5-5974-446A-9F24-C647970A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70702232-F325-4E13-9E99-935888A9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4BD04AF-A2D9-449F-A2D2-EC4432C9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02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A6752764-D370-44DD-9734-381EA86C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Watch the adult’s card arm model.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DCEED2D2-6039-41DB-8F2A-6CE7FD7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Which pull makes the model bend?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421BD6DB-B5A9-4B6B-8271-AA93D4E2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Which pull makes it straighten?</a:t>
            </a:r>
          </a:p>
        </p:txBody>
      </p:sp>
    </p:spTree>
    <p:extLst>
      <p:ext uri="{BB962C8B-B14F-4D97-AF65-F5344CB8AC3E}">
        <p14:creationId xmlns:p14="http://schemas.microsoft.com/office/powerpoint/2010/main" val="16374812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FF53C3EE-45FE-4672-BBA7-052FD5BC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36AC7B87-2304-45E4-8031-29D2717A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5e36ecc914701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B56B41E-FB71-4158-A1AC-FDF863CF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Three things we will do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DCDF0610-A466-4133-8471-D6041850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062B520-6510-4DFD-A316-3C38B22B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6EFAF447-7F9B-4A2B-A17D-CB204FCD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03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427C1980-144B-48E5-9767-77626D2A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Meet the muscle pair.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D77CF3A2-5A18-4E99-AEFC-FBC556AA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Compare a bend and a straighten.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72DBFA14-34BA-4215-9B8F-FEE306D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Explain which muscle contracts.</a:t>
            </a:r>
          </a:p>
        </p:txBody>
      </p:sp>
    </p:spTree>
    <p:extLst>
      <p:ext uri="{BB962C8B-B14F-4D97-AF65-F5344CB8AC3E}">
        <p14:creationId xmlns:p14="http://schemas.microsoft.com/office/powerpoint/2010/main" val="6407127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rule">
            <a:extLst xmlns:a="http://schemas.openxmlformats.org/drawingml/2006/main">
              <a:ext uri="{FF2B5EF4-FFF2-40B4-BE49-F238E27FC236}">
                <a16:creationId xmlns:a16="http://schemas.microsoft.com/office/drawing/2014/main" id="{4C85A600-5974-4AA4-B13A-CE545DAF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1128A6EF-8D8A-42AD-92E6-E2E5766B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ec9a4fca1d4054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AD9302D-54DB-4C72-A90B-464B5A66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A model helps us see a pull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E4108AC0-BE10-4CDA-9781-097756EC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C65BE35B-62FF-4E46-9D81-1B51328D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F955665F-CDA1-4791-BD02-D8268BBB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04</a:t>
            </a:r>
          </a:p>
        </p:txBody>
      </p:sp>
      <p:sp>
        <p:nvSpPr>
          <p:cNvPr id="8" name="diagram-shape-0">
            <a:extLst xmlns:a="http://schemas.openxmlformats.org/drawingml/2006/main">
              <a:ext uri="{FF2B5EF4-FFF2-40B4-BE49-F238E27FC236}">
                <a16:creationId xmlns:a16="http://schemas.microsoft.com/office/drawing/2014/main" id="{013CCAB4-8314-448C-8A21-63CDCA61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952750"/>
            <a:ext cx="6477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6C5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9" name="diagram-shape-1">
            <a:extLst xmlns:a="http://schemas.openxmlformats.org/drawingml/2006/main">
              <a:ext uri="{FF2B5EF4-FFF2-40B4-BE49-F238E27FC236}">
                <a16:creationId xmlns:a16="http://schemas.microsoft.com/office/drawing/2014/main" id="{DD433700-889B-4B8B-B21B-842C43D6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86250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D6C5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10" name="diagram-shape-2">
            <a:extLst xmlns:a="http://schemas.openxmlformats.org/drawingml/2006/main">
              <a:ext uri="{FF2B5EF4-FFF2-40B4-BE49-F238E27FC236}">
                <a16:creationId xmlns:a16="http://schemas.microsoft.com/office/drawing/2014/main" id="{C9188243-1962-441A-AA9D-B6902E1B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3053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FA257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11" name="diagram-shape-3">
            <a:extLst xmlns:a="http://schemas.openxmlformats.org/drawingml/2006/main">
              <a:ext uri="{FF2B5EF4-FFF2-40B4-BE49-F238E27FC236}">
                <a16:creationId xmlns:a16="http://schemas.microsoft.com/office/drawing/2014/main" id="{CFC83E7B-73AD-4954-9E6B-BA3A25DA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323850" cy="609600"/>
          </a:xfrm>
          <a:prstGeom xmlns:a="http://schemas.openxmlformats.org/drawingml/2006/main" prst="upArrow">
            <a:avLst/>
          </a:prstGeom>
          <a:solidFill xmlns:a="http://schemas.openxmlformats.org/drawingml/2006/main">
            <a:srgbClr val="4E7A9B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12" name="diagram-label-4">
            <a:extLst xmlns:a="http://schemas.openxmlformats.org/drawingml/2006/main">
              <a:ext uri="{FF2B5EF4-FFF2-40B4-BE49-F238E27FC236}">
                <a16:creationId xmlns:a16="http://schemas.microsoft.com/office/drawing/2014/main" id="{41E32925-3DD9-44CF-A51A-A7C580C9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152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2B3A"/>
                </a:solidFill>
              </a:defRPr>
            </a:pPr>
            <a:r>
              <a:rPr sz="1875" b="1">
                <a:solidFill>
                  <a:srgbClr val="152B3A"/>
                </a:solidFill>
              </a:rPr>
              <a:t>card bone</a:t>
            </a:r>
          </a:p>
        </p:txBody>
      </p:sp>
      <p:sp>
        <p:nvSpPr>
          <p:cNvPr id="13" name="diagram-label-5">
            <a:extLst xmlns:a="http://schemas.openxmlformats.org/drawingml/2006/main">
              <a:ext uri="{FF2B5EF4-FFF2-40B4-BE49-F238E27FC236}">
                <a16:creationId xmlns:a16="http://schemas.microsoft.com/office/drawing/2014/main" id="{BF23C923-17F5-4590-A490-0EBDDF41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95825"/>
            <a:ext cx="2190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2B3A"/>
                </a:solidFill>
              </a:defRPr>
            </a:pPr>
            <a:r>
              <a:rPr sz="1875" b="1">
                <a:solidFill>
                  <a:srgbClr val="152B3A"/>
                </a:solidFill>
              </a:rPr>
              <a:t>elbow join</a:t>
            </a:r>
          </a:p>
        </p:txBody>
      </p:sp>
      <p:sp>
        <p:nvSpPr>
          <p:cNvPr id="14" name="diagram-label-6">
            <a:extLst xmlns:a="http://schemas.openxmlformats.org/drawingml/2006/main">
              <a:ext uri="{FF2B5EF4-FFF2-40B4-BE49-F238E27FC236}">
                <a16:creationId xmlns:a16="http://schemas.microsoft.com/office/drawing/2014/main" id="{E210F9B4-CEE1-44A0-9455-DDFCF27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67000"/>
            <a:ext cx="2333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2B3A"/>
                </a:solidFill>
              </a:defRPr>
            </a:pPr>
            <a:r>
              <a:rPr sz="1875" b="1">
                <a:solidFill>
                  <a:srgbClr val="152B3A"/>
                </a:solidFill>
              </a:rPr>
              <a:t>gentle pull</a:t>
            </a:r>
          </a:p>
        </p:txBody>
      </p:sp>
      <p:sp>
        <p:nvSpPr>
          <p:cNvPr id="15" name="diagram-body">
            <a:extLst xmlns:a="http://schemas.openxmlformats.org/drawingml/2006/main">
              <a:ext uri="{FF2B5EF4-FFF2-40B4-BE49-F238E27FC236}">
                <a16:creationId xmlns:a16="http://schemas.microsoft.com/office/drawing/2014/main" id="{32E41298-0DD8-4258-8A1D-43FCA863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857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2B3A"/>
                </a:solidFill>
              </a:defRPr>
            </a:pPr>
            <a:r>
              <a:rPr sz="2550" b="1">
                <a:solidFill>
                  <a:srgbClr val="152B3A"/>
                </a:solidFill>
              </a:rPr>
              <a:t>Card represents bones. The join represents an elbow.</a:t>
            </a:r>
          </a:p>
        </p:txBody>
      </p:sp>
      <p:sp>
        <p:nvSpPr>
          <p:cNvPr id="16" name="diagram-callout">
            <a:extLst xmlns:a="http://schemas.openxmlformats.org/drawingml/2006/main">
              <a:ext uri="{FF2B5EF4-FFF2-40B4-BE49-F238E27FC236}">
                <a16:creationId xmlns:a16="http://schemas.microsoft.com/office/drawing/2014/main" id="{123D18A9-5477-4BF9-98CA-E13A9EC2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14875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685E"/>
                </a:solidFill>
              </a:defRPr>
            </a:pPr>
            <a:r>
              <a:rPr sz="2175" b="0">
                <a:solidFill>
                  <a:srgbClr val="28685E"/>
                </a:solidFill>
              </a:rPr>
              <a:t>Loose string represents a muscle pull; it does not contract itself.</a:t>
            </a:r>
          </a:p>
        </p:txBody>
      </p:sp>
    </p:spTree>
    <p:extLst>
      <p:ext uri="{BB962C8B-B14F-4D97-AF65-F5344CB8AC3E}">
        <p14:creationId xmlns:p14="http://schemas.microsoft.com/office/powerpoint/2010/main" val="4141249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5393A53C-65A5-4DB2-BE0F-877BB376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73188BDA-B158-453D-A436-526C451E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36b50f2244bb4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D0D2DF-EB31-4E5D-8279-47657CAB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The body has a working pair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2FCE20BF-9E0F-4FA9-8A7C-CABBE642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FFA20A74-706F-4F15-84D6-2297E4A0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11180E7-D81F-4B7F-A112-D103182FD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05</a:t>
            </a:r>
          </a:p>
        </p:txBody>
      </p:sp>
      <p:sp>
        <p:nvSpPr>
          <p:cNvPr id="8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404F9620-67BD-42CF-BF8E-D4144CE4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BEND THE ELBOW</a:t>
            </a:r>
          </a:p>
        </p:txBody>
      </p:sp>
      <p:sp>
        <p:nvSpPr>
          <p:cNvPr id="9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0FCEF033-9D1A-415A-9539-BB990011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ACTIVELY STRAIGHTEN</a:t>
            </a:r>
          </a:p>
        </p:txBody>
      </p:sp>
      <p:sp>
        <p:nvSpPr>
          <p:cNvPr id="10" name="left">
            <a:extLst xmlns:a="http://schemas.openxmlformats.org/drawingml/2006/main">
              <a:ext uri="{FF2B5EF4-FFF2-40B4-BE49-F238E27FC236}">
                <a16:creationId xmlns:a16="http://schemas.microsoft.com/office/drawing/2014/main" id="{BDF74691-2274-4831-AD0C-E2DA8790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Biceps contracts.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Triceps relaxes.</a:t>
            </a:r>
          </a:p>
        </p:txBody>
      </p:sp>
      <p:sp>
        <p:nvSpPr>
          <p:cNvPr id="11" name="right">
            <a:extLst xmlns:a="http://schemas.openxmlformats.org/drawingml/2006/main">
              <a:ext uri="{FF2B5EF4-FFF2-40B4-BE49-F238E27FC236}">
                <a16:creationId xmlns:a16="http://schemas.microsoft.com/office/drawing/2014/main" id="{2B9FD130-C50D-46A3-9B8E-BA4D7846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Triceps contracts.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Biceps relaxes.</a:t>
            </a:r>
          </a:p>
        </p:txBody>
      </p:sp>
    </p:spTree>
    <p:extLst>
      <p:ext uri="{BB962C8B-B14F-4D97-AF65-F5344CB8AC3E}">
        <p14:creationId xmlns:p14="http://schemas.microsoft.com/office/powerpoint/2010/main" val="17830053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D09B848E-EDFC-434F-A6C1-75D915B9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A30924BC-E07B-4141-AB4D-913E4C74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d704e46544c3c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C88D64E-7714-4C42-9DA8-3F06DBF0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Choose the pulling muscle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E77DF146-1F70-4848-A0FA-720B253D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96805A7-E412-40C4-B92B-54A073B3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4EB55E33-EC0E-4AE7-B048-691B37E5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06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7DE0E16D-EA56-4499-AB83-3173EFD1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The card arm bends.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86142692-A935-45C5-BF15-93B310185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Choose: biceps or triceps contracts?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7F818547-2F65-47B5-88AC-660480C0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Say, sign or point before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261924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9E253F22-1C68-466A-A51A-9958749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EC73F4C9-DC33-45FD-AECA-A6B8F27F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5e60e82424e95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A8C0569-C8BC-4A74-B980-B3C1905D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Now swap the action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831303CC-EFE3-4AE8-8A03-2034D147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917C184F-3F0F-4397-9B74-1029CF38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30083DEC-0551-43A3-8D35-AD3E3726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07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B7E5A5E6-03C2-4407-8110-99C69F51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The model actively straightens.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279540E6-23E5-4967-B752-E2D43245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Which muscle contracts now?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2B2BE779-803F-4F10-A817-B258E383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What happens to its partner?</a:t>
            </a:r>
          </a:p>
        </p:txBody>
      </p:sp>
    </p:spTree>
    <p:extLst>
      <p:ext uri="{BB962C8B-B14F-4D97-AF65-F5344CB8AC3E}">
        <p14:creationId xmlns:p14="http://schemas.microsoft.com/office/powerpoint/2010/main" val="4957719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9C02609F-011B-498C-90C9-90806C2F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37372B64-E7F3-44C0-A334-546FB3EB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27821752964d55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5EC2125-DB06-4479-B266-2CA9AED8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Model and muscle: compare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F066F1A-6CA4-4D6A-9DF7-719A56CE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C9A6557-C7A5-4E08-B925-AF302A5F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5709D475-C761-4F6F-B334-86E473AE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08</a:t>
            </a:r>
          </a:p>
        </p:txBody>
      </p:sp>
      <p:sp>
        <p:nvSpPr>
          <p:cNvPr id="8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4E9C4614-2B63-4F31-AE20-58440C49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WHAT THE MODEL SHOWS</a:t>
            </a:r>
          </a:p>
        </p:txBody>
      </p:sp>
      <p:sp>
        <p:nvSpPr>
          <p:cNvPr id="9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F695EDBC-AD57-45F1-AD1E-ADE3F59D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WHAT IT DOES NOT SHOW</a:t>
            </a:r>
          </a:p>
        </p:txBody>
      </p:sp>
      <p:sp>
        <p:nvSpPr>
          <p:cNvPr id="10" name="left">
            <a:extLst xmlns:a="http://schemas.openxmlformats.org/drawingml/2006/main">
              <a:ext uri="{FF2B5EF4-FFF2-40B4-BE49-F238E27FC236}">
                <a16:creationId xmlns:a16="http://schemas.microsoft.com/office/drawing/2014/main" id="{228279D0-9DAC-499C-9531-FFB34845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A joint allows movement.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A pull acts on each side.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The roles can swap.</a:t>
            </a:r>
          </a:p>
        </p:txBody>
      </p:sp>
      <p:sp>
        <p:nvSpPr>
          <p:cNvPr id="11" name="right">
            <a:extLst xmlns:a="http://schemas.openxmlformats.org/drawingml/2006/main">
              <a:ext uri="{FF2B5EF4-FFF2-40B4-BE49-F238E27FC236}">
                <a16:creationId xmlns:a16="http://schemas.microsoft.com/office/drawing/2014/main" id="{D0FD2987-A3E6-4CFF-9B46-D0D71D35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String does not shorten itself.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Card is not living bone.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This is a simplified elbow.</a:t>
            </a:r>
          </a:p>
        </p:txBody>
      </p:sp>
    </p:spTree>
    <p:extLst>
      <p:ext uri="{BB962C8B-B14F-4D97-AF65-F5344CB8AC3E}">
        <p14:creationId xmlns:p14="http://schemas.microsoft.com/office/powerpoint/2010/main" val="9469216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rule">
            <a:extLst xmlns:a="http://schemas.openxmlformats.org/drawingml/2006/main">
              <a:ext uri="{FF2B5EF4-FFF2-40B4-BE49-F238E27FC236}">
                <a16:creationId xmlns:a16="http://schemas.microsoft.com/office/drawing/2014/main" id="{72B723FD-C047-406A-9150-AACA5D3C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59C0A00-43B2-4A7B-82BC-82BF43E4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979aa7666c444a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B3DFEB-342D-4F9C-88C2-A41C5633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Explain both muscle jobs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8FF8D272-FD5F-4789-A6CB-A7259765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BFB8787-F418-42FF-870E-05C983EF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454BAE40-44B9-4DB8-8CCB-16380918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09</a:t>
            </a:r>
          </a:p>
        </p:txBody>
      </p:sp>
      <p:sp>
        <p:nvSpPr>
          <p:cNvPr id="8" name="statement">
            <a:extLst xmlns:a="http://schemas.openxmlformats.org/drawingml/2006/main">
              <a:ext uri="{FF2B5EF4-FFF2-40B4-BE49-F238E27FC236}">
                <a16:creationId xmlns:a16="http://schemas.microsoft.com/office/drawing/2014/main" id="{106CA190-310E-4DFB-9590-7117C372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8685E"/>
                </a:solidFill>
              </a:defRPr>
            </a:pPr>
            <a:r>
              <a:rPr sz="2925" b="1">
                <a:solidFill>
                  <a:srgbClr val="28685E"/>
                </a:solidFill>
              </a:rPr>
              <a:t>When the elbow bends, the biceps contracts and the triceps relaxes.</a:t>
            </a:r>
          </a:p>
        </p:txBody>
      </p:sp>
      <p:sp>
        <p:nvSpPr>
          <p:cNvPr id="9" name="callout">
            <a:extLst xmlns:a="http://schemas.openxmlformats.org/drawingml/2006/main">
              <a:ext uri="{FF2B5EF4-FFF2-40B4-BE49-F238E27FC236}">
                <a16:creationId xmlns:a16="http://schemas.microsoft.com/office/drawing/2014/main" id="{82459344-0712-49BE-80E9-2407609E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52B3A"/>
                </a:solidFill>
              </a:defRPr>
            </a:pPr>
            <a:r>
              <a:rPr sz="2700" b="0">
                <a:solidFill>
                  <a:srgbClr val="152B3A"/>
                </a:solidFill>
              </a:rPr>
              <a:t>When it actively straightens, the pair swaps jobs.</a:t>
            </a:r>
          </a:p>
        </p:txBody>
      </p:sp>
    </p:spTree>
    <p:extLst>
      <p:ext uri="{BB962C8B-B14F-4D97-AF65-F5344CB8AC3E}">
        <p14:creationId xmlns:p14="http://schemas.microsoft.com/office/powerpoint/2010/main" val="1656357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3965121D-C7BE-4DA3-804C-D8A9F866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F00D5DA4-3F10-443B-9473-FD7E7E0E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06280aa6f44bd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77D45FF-D2C4-4B24-820C-81F8B95B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True or needs correcting?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63730BFA-A06E-46C7-A0AF-D827D7EB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3233825-A7ED-4607-8B72-D972F01A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3F5905BD-CB8C-4B05-AE5C-05B91902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10</a:t>
            </a:r>
          </a:p>
        </p:txBody>
      </p:sp>
      <p:sp>
        <p:nvSpPr>
          <p:cNvPr id="8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7D96EE3D-1218-4192-A062-A5C2AB9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READ EACH CLAIM</a:t>
            </a:r>
          </a:p>
        </p:txBody>
      </p:sp>
      <p:sp>
        <p:nvSpPr>
          <p:cNvPr id="9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D2438604-EAAF-4FB6-B71D-7A4F9E3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EXPLAIN THE CORRECTION</a:t>
            </a:r>
          </a:p>
        </p:txBody>
      </p:sp>
      <p:sp>
        <p:nvSpPr>
          <p:cNvPr id="10" name="left">
            <a:extLst xmlns:a="http://schemas.openxmlformats.org/drawingml/2006/main">
              <a:ext uri="{FF2B5EF4-FFF2-40B4-BE49-F238E27FC236}">
                <a16:creationId xmlns:a16="http://schemas.microsoft.com/office/drawing/2014/main" id="{5C526131-E9F8-4E82-A6A6-3E81B582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Muscles can pull.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Muscles can push bones.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Biceps and triceps form a pair.</a:t>
            </a:r>
          </a:p>
        </p:txBody>
      </p:sp>
      <p:sp>
        <p:nvSpPr>
          <p:cNvPr id="11" name="right">
            <a:extLst xmlns:a="http://schemas.openxmlformats.org/drawingml/2006/main">
              <a:ext uri="{FF2B5EF4-FFF2-40B4-BE49-F238E27FC236}">
                <a16:creationId xmlns:a16="http://schemas.microsoft.com/office/drawing/2014/main" id="{B8D1C58F-F059-4F9C-9048-3CDD6503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Which claims fit the model?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Which word needs changing?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Show the action that supports you.</a:t>
            </a:r>
          </a:p>
        </p:txBody>
      </p:sp>
    </p:spTree>
    <p:extLst>
      <p:ext uri="{BB962C8B-B14F-4D97-AF65-F5344CB8AC3E}">
        <p14:creationId xmlns:p14="http://schemas.microsoft.com/office/powerpoint/2010/main" val="6167769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47CDC810-D25B-47AC-83F3-FE494973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4BABEC5B-62ED-479B-91F0-89E26EDD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501224e3d4784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90A71E0-C7EB-47E7-A033-6BEF3008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Direct two moves and keep labels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D69D4F3F-2D52-4CDD-8FB9-2A6DEE94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13D846D9-64D0-43B2-896C-FF5A9A60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4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3B3E6543-22F3-40A9-9D02-EC59503F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11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AFEE5C9F-371E-41F7-B6AB-A128A3550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Direct one bend and one active straighten.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D4E53C06-40BA-4D1D-9904-F3C5CE93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Place CONTRACTS and RELAXES labels.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E4BD387C-FCE2-42AB-A0B6-9FB5EB985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Check one swap and correct it if needed.</a:t>
            </a:r>
          </a:p>
        </p:txBody>
      </p:sp>
      <p:sp>
        <p:nvSpPr>
          <p:cNvPr id="11" name="line-3">
            <a:extLst xmlns:a="http://schemas.openxmlformats.org/drawingml/2006/main">
              <a:ext uri="{FF2B5EF4-FFF2-40B4-BE49-F238E27FC236}">
                <a16:creationId xmlns:a16="http://schemas.microsoft.com/office/drawing/2014/main" id="{9D6C4A53-4E67-413A-937B-F11D8872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Keep the labels for Wednesday.</a:t>
            </a:r>
          </a:p>
        </p:txBody>
      </p:sp>
    </p:spTree>
    <p:extLst>
      <p:ext uri="{BB962C8B-B14F-4D97-AF65-F5344CB8AC3E}">
        <p14:creationId xmlns:p14="http://schemas.microsoft.com/office/powerpoint/2010/main" val="16169055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2026-09-06T13:04:59.3900000Z</dcterms:created>
  <dcterms:modified xsi:type="dcterms:W3CDTF">2026-09-06T13:04:59.3900000Z</dcterms:modified>
</coreProperties>
</file>