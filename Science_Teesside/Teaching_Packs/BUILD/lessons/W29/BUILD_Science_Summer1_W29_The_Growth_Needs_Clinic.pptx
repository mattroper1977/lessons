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2835df24134d4e" /><Relationship Type="http://schemas.openxmlformats.org/officeDocument/2006/relationships/extended-properties" Target="/docProps/app.xml" Id="R18ed1e1cb6cf40f8" /><Relationship Type="http://schemas.openxmlformats.org/officeDocument/2006/relationships/officeDocument" Target="/ppt/presentation.xml" Id="R93aa57e942b0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dae297f99b45fb"/>
  </p:sldMasterIdLst>
  <p:notesMasterIdLst>
    <p:notesMasterId xmlns:r="http://schemas.openxmlformats.org/officeDocument/2006/relationships" r:id="R8d195d27d9de48e5"/>
  </p:notesMasterIdLst>
  <p:sldIdLst>
    <p:sldId xmlns:r="http://schemas.openxmlformats.org/officeDocument/2006/relationships" id="256" r:id="R377424490acf4d66"/>
    <p:sldId xmlns:r="http://schemas.openxmlformats.org/officeDocument/2006/relationships" id="257" r:id="R3998419f925e44db"/>
    <p:sldId xmlns:r="http://schemas.openxmlformats.org/officeDocument/2006/relationships" id="258" r:id="Ra0f483b3bee642f6"/>
    <p:sldId xmlns:r="http://schemas.openxmlformats.org/officeDocument/2006/relationships" id="259" r:id="R358251bf8c4d49b1"/>
    <p:sldId xmlns:r="http://schemas.openxmlformats.org/officeDocument/2006/relationships" id="260" r:id="Rb64d34a035a74507"/>
    <p:sldId xmlns:r="http://schemas.openxmlformats.org/officeDocument/2006/relationships" id="261" r:id="Rf92c64ec14494a7f"/>
    <p:sldId xmlns:r="http://schemas.openxmlformats.org/officeDocument/2006/relationships" id="262" r:id="R3b2e197a5034480e"/>
    <p:sldId xmlns:r="http://schemas.openxmlformats.org/officeDocument/2006/relationships" id="263" r:id="R2444e20d64cd4a98"/>
    <p:sldId xmlns:r="http://schemas.openxmlformats.org/officeDocument/2006/relationships" id="264" r:id="R04445265f2bf4e36"/>
    <p:sldId xmlns:r="http://schemas.openxmlformats.org/officeDocument/2006/relationships" id="265" r:id="R34bbd9f518524ac8"/>
    <p:sldId xmlns:r="http://schemas.openxmlformats.org/officeDocument/2006/relationships" id="266" r:id="R0956790001f3414a"/>
    <p:sldId xmlns:r="http://schemas.openxmlformats.org/officeDocument/2006/relationships" id="267" r:id="R9b91b1a72ecd49d7"/>
    <p:sldId xmlns:r="http://schemas.openxmlformats.org/officeDocument/2006/relationships" id="268" r:id="R849048622ad04ce6"/>
    <p:sldId xmlns:r="http://schemas.openxmlformats.org/officeDocument/2006/relationships" id="269" r:id="R9fbaebe1f04542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35075e55a46e3" /><Relationship Type="http://schemas.openxmlformats.org/officeDocument/2006/relationships/slideMaster" Target="/ppt/slideMasters/slideMaster1.xml" Id="Re2dae297f99b45fb" /><Relationship Type="http://schemas.openxmlformats.org/officeDocument/2006/relationships/notesMaster" Target="/ppt/notesMasters/notesMaster1.xml" Id="R8d195d27d9de48e5" /><Relationship Type="http://schemas.openxmlformats.org/officeDocument/2006/relationships/presProps" Target="/ppt/presProps.xml" Id="Rb6ee261c2fb94f36" /><Relationship Type="http://schemas.openxmlformats.org/officeDocument/2006/relationships/tableStyles" Target="/ppt/tableStyles.xml" Id="Rc9e5b34159ac4d38" /><Relationship Type="http://schemas.openxmlformats.org/officeDocument/2006/relationships/slide" Target="/ppt/slides/slide1.xml" Id="R377424490acf4d66" /><Relationship Type="http://schemas.openxmlformats.org/officeDocument/2006/relationships/slide" Target="/ppt/slides/slide2.xml" Id="R3998419f925e44db" /><Relationship Type="http://schemas.openxmlformats.org/officeDocument/2006/relationships/slide" Target="/ppt/slides/slide3.xml" Id="Ra0f483b3bee642f6" /><Relationship Type="http://schemas.openxmlformats.org/officeDocument/2006/relationships/slide" Target="/ppt/slides/slide4.xml" Id="R358251bf8c4d49b1" /><Relationship Type="http://schemas.openxmlformats.org/officeDocument/2006/relationships/slide" Target="/ppt/slides/slide5.xml" Id="Rb64d34a035a74507" /><Relationship Type="http://schemas.openxmlformats.org/officeDocument/2006/relationships/slide" Target="/ppt/slides/slide6.xml" Id="Rf92c64ec14494a7f" /><Relationship Type="http://schemas.openxmlformats.org/officeDocument/2006/relationships/slide" Target="/ppt/slides/slide7.xml" Id="R3b2e197a5034480e" /><Relationship Type="http://schemas.openxmlformats.org/officeDocument/2006/relationships/slide" Target="/ppt/slides/slide8.xml" Id="R2444e20d64cd4a98" /><Relationship Type="http://schemas.openxmlformats.org/officeDocument/2006/relationships/slide" Target="/ppt/slides/slide9.xml" Id="R04445265f2bf4e36" /><Relationship Type="http://schemas.openxmlformats.org/officeDocument/2006/relationships/slide" Target="/ppt/slides/slide10.xml" Id="R34bbd9f518524ac8" /><Relationship Type="http://schemas.openxmlformats.org/officeDocument/2006/relationships/slide" Target="/ppt/slides/slide11.xml" Id="R0956790001f3414a" /><Relationship Type="http://schemas.openxmlformats.org/officeDocument/2006/relationships/slide" Target="/ppt/slides/slide12.xml" Id="R9b91b1a72ecd49d7" /><Relationship Type="http://schemas.openxmlformats.org/officeDocument/2006/relationships/slide" Target="/ppt/slides/slide13.xml" Id="R849048622ad04ce6" /><Relationship Type="http://schemas.openxmlformats.org/officeDocument/2006/relationships/slide" Target="/ppt/slides/slide14.xml" Id="R9fbaebe1f04542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65826fbf2246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1d0417045442b0" /><Relationship Type="http://schemas.openxmlformats.org/officeDocument/2006/relationships/notesMaster" Target="/ppt/notesMasters/notesMaster1.xml" Id="R7d9d0cfe0a6c4a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345523013d40f1" /><Relationship Type="http://schemas.openxmlformats.org/officeDocument/2006/relationships/notesMaster" Target="/ppt/notesMasters/notesMaster1.xml" Id="R65d158b4df1244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7714a6b7e84f60" /><Relationship Type="http://schemas.openxmlformats.org/officeDocument/2006/relationships/notesMaster" Target="/ppt/notesMasters/notesMaster1.xml" Id="R7f91d9a9a13b44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355a6f8b7a411d" /><Relationship Type="http://schemas.openxmlformats.org/officeDocument/2006/relationships/notesMaster" Target="/ppt/notesMasters/notesMaster1.xml" Id="R2b5564c991374d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89d65ca9c644e0" /><Relationship Type="http://schemas.openxmlformats.org/officeDocument/2006/relationships/notesMaster" Target="/ppt/notesMasters/notesMaster1.xml" Id="Rf85238a92fcf43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fcc74fa9aa4d65" /><Relationship Type="http://schemas.openxmlformats.org/officeDocument/2006/relationships/notesMaster" Target="/ppt/notesMasters/notesMaster1.xml" Id="R15b2194c2ea14f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211ecc33f4467c" /><Relationship Type="http://schemas.openxmlformats.org/officeDocument/2006/relationships/notesMaster" Target="/ppt/notesMasters/notesMaster1.xml" Id="R7383cf83818546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6b9dbd9fb94ec5" /><Relationship Type="http://schemas.openxmlformats.org/officeDocument/2006/relationships/notesMaster" Target="/ppt/notesMasters/notesMaster1.xml" Id="R9b349dab96114a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4a7aa857ab4135" /><Relationship Type="http://schemas.openxmlformats.org/officeDocument/2006/relationships/notesMaster" Target="/ppt/notesMasters/notesMaster1.xml" Id="R93a0cbb9191848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5cb1aa81f84bb6" /><Relationship Type="http://schemas.openxmlformats.org/officeDocument/2006/relationships/notesMaster" Target="/ppt/notesMasters/notesMaster1.xml" Id="R2c2ed1453f7846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adae60545a46f1" /><Relationship Type="http://schemas.openxmlformats.org/officeDocument/2006/relationships/notesMaster" Target="/ppt/notesMasters/notesMaster1.xml" Id="Re38a8dc59bdb40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47b7a2220d4440" /><Relationship Type="http://schemas.openxmlformats.org/officeDocument/2006/relationships/notesMaster" Target="/ppt/notesMasters/notesMaster1.xml" Id="R48053c78c26b4e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570b0e2b594914" /><Relationship Type="http://schemas.openxmlformats.org/officeDocument/2006/relationships/notesMaster" Target="/ppt/notesMasters/notesMaster1.xml" Id="Rb7eeb62acf414c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30d23689ef4dbb" /><Relationship Type="http://schemas.openxmlformats.org/officeDocument/2006/relationships/notesMaster" Target="/ppt/notesMasters/notesMaster1.xml" Id="R9c43afddf27343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Introduce constructed records of matched young bean seedlings. Do not present this as the class’s actual experiment.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roots. 2 light, water and carbon dioxide from air; light enough for the short prompt. 3 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“Providing water does not make light unnecessary. I check each requirement. I ask what is suitable for this plant, rather than assuming more is always better.”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growing green plant receives light energy, water and mineral nutrients, and exchanges gases with air. Appropriate temperature and space also matter. Amounts vary by species and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“13 is greater than 8, but pale small leaves change my judgement. Dark-grown seedlings can become elongated; taller is not a general health score.” The examples show selected seedlings from the constructed groups.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Constructed day-7 examples: light-grown group A has an 8 cm green seedling; dark-grown group B has a 13 cm pale elongated seedling. Heights alone cannot indicate healthy sustained growth.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“A seed starting in darkness does not prove that an established green plant can grow well indefinitely without light.” Seeds also differ in light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germinating seed can use stored food reserves. An established green plant needs light for sustained photosynthesis. Species differ in whether seeds need light to germinate.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W1: B is taller but pale; A shows stronger evidence of healthy growth here. All seedlings started about 3 cm. Two plants per group are supplied; not enough for a universal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W2: C adjust watering appropriately; D provide suitable warmth. Do not tell pupils to flood a pot or put a plant on a radiator. The cases stipulate the changed condition, not a general diagnosis from drooping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Address the stated missing requirement; keep other needs suitable.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second option. Return to leaf condition if height alone dominates.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B must be healthier because it is taller.</a:t>
            </a:r>
          </a:p>
          <a:p xmlns:a="http://schemas.openxmlformats.org/drawingml/2006/main">
            <a:r>
              <a:t>Pale small leaves challenge that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Height alone cannot establish which grows well.</a:t>
            </a:r>
          </a:p>
          <a:p xmlns:a="http://schemas.openxmlformats.org/drawingml/2006/main">
            <a:r>
              <a:t>Correct. Leaf condition and suitable inputs also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No green plant needs light.</a:t>
            </a:r>
          </a:p>
          <a:p xmlns:a="http://schemas.openxmlformats.org/drawingml/2006/main">
            <a:r>
              <a:t>Sustained photosynthesis needs light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ONE route. Use the shared constructed table. Do not diagnose an actual plant from one symptom. Accept suitable care language and more than one observation; do not reward a universal care recipe.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shared constructed table. Do not diagnose an actual plant from one symptom. Accept suitable care language and more than one observation; do not reward a universal care recipe.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independent time. Ask for a reason, not just a correct word. Use the shared constructed table. Do not diagnose an actual plant from one symptom. Accept suitable care language and more than one observation; do not reward a universal care recipe.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Listen to a selected pupil revision and visibly adopt a scientifically accurate contribution. Offer private, written or partner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A taller pale seedling does not automatically show healthier growth.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review time. Name how a pupil contribution changed a label, method or conclusion. Do not rank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A taller pale seedling does not automatically show healthier growth.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evidence. Use the answer key and re-teach the specified misconception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germination guide</a:t>
            </a:r>
          </a:p>
          <a:p xmlns:a="http://schemas.openxmlformats.org/drawingml/2006/main">
            <a:r>
              <a:t>https://www.rhs.org.uk/membership/rhs-members-seed-scheme/germination-guide</a:t>
            </a:r>
          </a:p>
          <a:p xmlns:a="http://schemas.openxmlformats.org/drawingml/2006/main">
            <a:r>
              <a:t>Checked 8 September 2026. Species differ in their germination requirements, including whether light is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7c7bb07984b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f02670349d4f29" /><Relationship Type="http://schemas.openxmlformats.org/officeDocument/2006/relationships/slideLayout" Target="/ppt/slideLayouts/slideLayout1.xml" Id="R45c77265b526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c77265b526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1211a335e4d27" /><Relationship Type="http://schemas.openxmlformats.org/officeDocument/2006/relationships/notesSlide" Target="/ppt/notesSlides/notesSlide1.xml" Id="R93382e7efdef44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e0214240942dc" /><Relationship Type="http://schemas.openxmlformats.org/officeDocument/2006/relationships/notesSlide" Target="/ppt/notesSlides/notesSlide2.xml" Id="R141c126885744f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a3e4d1c4244d2" /><Relationship Type="http://schemas.openxmlformats.org/officeDocument/2006/relationships/notesSlide" Target="/ppt/notesSlides/notesSlide3.xml" Id="R36f64dbaf9874d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e2bbacce940fe" /><Relationship Type="http://schemas.openxmlformats.org/officeDocument/2006/relationships/notesSlide" Target="/ppt/notesSlides/notesSlide4.xml" Id="R8693688660f647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62c25d55f49d0" /><Relationship Type="http://schemas.openxmlformats.org/officeDocument/2006/relationships/notesSlide" Target="/ppt/notesSlides/notesSlide5.xml" Id="Rdcdcb9b30bcb47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8091b04ef4665" /><Relationship Type="http://schemas.openxmlformats.org/officeDocument/2006/relationships/notesSlide" Target="/ppt/notesSlides/notesSlide6.xml" Id="Rf0a525d14d1f4c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c7e5f65324ea6" /><Relationship Type="http://schemas.openxmlformats.org/officeDocument/2006/relationships/notesSlide" Target="/ppt/notesSlides/notesSlide7.xml" Id="R995fb221370449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bb5b05ec744da" /><Relationship Type="http://schemas.openxmlformats.org/officeDocument/2006/relationships/notesSlide" Target="/ppt/notesSlides/notesSlide8.xml" Id="R6bd30148e3b04e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73c257586468f" /><Relationship Type="http://schemas.openxmlformats.org/officeDocument/2006/relationships/notesSlide" Target="/ppt/notesSlides/notesSlide9.xml" Id="Rb52d16c674da46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0902568674455" /><Relationship Type="http://schemas.openxmlformats.org/officeDocument/2006/relationships/notesSlide" Target="/ppt/notesSlides/notesSlide10.xml" Id="R2011d896c82543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2b35e53e944ea" /><Relationship Type="http://schemas.openxmlformats.org/officeDocument/2006/relationships/notesSlide" Target="/ppt/notesSlides/notesSlide11.xml" Id="Rc96738070f474f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5712da09c4991" /><Relationship Type="http://schemas.openxmlformats.org/officeDocument/2006/relationships/notesSlide" Target="/ppt/notesSlides/notesSlide12.xml" Id="R2d990011538341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585b95bee40a1" /><Relationship Type="http://schemas.openxmlformats.org/officeDocument/2006/relationships/notesSlide" Target="/ppt/notesSlides/notesSlide13.xml" Id="Rdc44e4343ff74c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fed705b604a6d" /><Relationship Type="http://schemas.openxmlformats.org/officeDocument/2006/relationships/notesSlide" Target="/ppt/notesSlides/notesSlide14.xml" Id="R91126699bc244d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AD85C24D-07AD-47C3-B044-3207BB33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6DC2237-2D26-4EBF-9A1D-95968E23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CD02174-BF07-478A-9AB0-8BEF2D60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40902EA6-6BAD-48C7-9CE5-E3068A48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E6A7CC78-5665-4BA0-88D4-679BF067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B2063B3B-52CE-495E-BADE-D4D3B74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Which plant needs a better care plan?">
            <a:extLst xmlns:a="http://schemas.openxmlformats.org/drawingml/2006/main">
              <a:ext uri="{FF2B5EF4-FFF2-40B4-BE49-F238E27FC236}">
                <a16:creationId xmlns:a16="http://schemas.microsoft.com/office/drawing/2014/main" id="{DE61486A-5139-4D61-991E-EE6E0F57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plant needs a better care plan?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EE0000F-FC48-4A0C-A148-8A5F9FAB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528B42B2-A2B2-4A1B-84C2-6C3B0766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87BA661B-DB15-4CDE-8B72-171BFDEE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1FBBE23-4037-44B8-9C27-EA22105E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F303C3A-41BC-4CF5-95DA-1CB04827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861A50FD-E9B6-49E5-A3CF-9FDD870E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Identify requirements for healthy plant growth and use height pl">
            <a:extLst xmlns:a="http://schemas.openxmlformats.org/drawingml/2006/main">
              <a:ext uri="{FF2B5EF4-FFF2-40B4-BE49-F238E27FC236}">
                <a16:creationId xmlns:a16="http://schemas.microsoft.com/office/drawing/2014/main" id="{DDAE22A4-2242-4751-AAD1-88E62F82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Identify requirements for healthy plant growth and use height plus leaf evidence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evaluate a care claim.</a:t>
            </a:r>
          </a:p>
        </p:txBody>
      </p:sp>
      <p:sp>
        <p:nvSpPr>
          <p:cNvPr id="15" name="Height is one clue.">
            <a:extLst xmlns:a="http://schemas.openxmlformats.org/drawingml/2006/main">
              <a:ext uri="{FF2B5EF4-FFF2-40B4-BE49-F238E27FC236}">
                <a16:creationId xmlns:a16="http://schemas.microsoft.com/office/drawing/2014/main" id="{65CC4A00-46FC-45D5-87C8-D50A570E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Height is one clue.</a:t>
            </a:r>
          </a:p>
        </p:txBody>
      </p:sp>
      <p:sp>
        <p:nvSpPr>
          <p:cNvPr id="16" name="Look for a second clue.">
            <a:extLst xmlns:a="http://schemas.openxmlformats.org/drawingml/2006/main">
              <a:ext uri="{FF2B5EF4-FFF2-40B4-BE49-F238E27FC236}">
                <a16:creationId xmlns:a16="http://schemas.microsoft.com/office/drawing/2014/main" id="{1B499523-90AF-4A91-8DC5-A0758EA4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66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Look for a second clue.</a:t>
            </a:r>
          </a:p>
        </p:txBody>
      </p:sp>
    </p:spTree>
    <p:extLst>
      <p:ext uri="{BB962C8B-B14F-4D97-AF65-F5344CB8AC3E}">
        <p14:creationId xmlns:p14="http://schemas.microsoft.com/office/powerpoint/2010/main" val="755761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08382D5-8708-44F4-8610-F574705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69EC1F6-7828-44F5-8EA9-E716A7A5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0E137D3-554F-42CE-B5BE-68C11376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0C7B7F2F-E28B-443F-9F94-EC1BFCD4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C993A1F0-596C-4E50-8CB6-EB37FA05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2F25E2DC-B4A2-4015-923A-404CC6F9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trieve the inputs">
            <a:extLst xmlns:a="http://schemas.openxmlformats.org/drawingml/2006/main">
              <a:ext uri="{FF2B5EF4-FFF2-40B4-BE49-F238E27FC236}">
                <a16:creationId xmlns:a16="http://schemas.microsoft.com/office/drawing/2014/main" id="{CE51FE1D-888F-4EF8-B3BD-490E236E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Retrieve the inputs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28EFA0F-5985-4759-BD6A-3F5B9C0E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B68CC0D1-A57C-4017-9F39-AC9E0508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A4AE2BC8-5363-464B-9F96-4F5AFA2B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Where does water enter?">
            <a:extLst xmlns:a="http://schemas.openxmlformats.org/drawingml/2006/main">
              <a:ext uri="{FF2B5EF4-FFF2-40B4-BE49-F238E27FC236}">
                <a16:creationId xmlns:a16="http://schemas.microsoft.com/office/drawing/2014/main" id="{83117BB1-5AC5-494E-AFE3-590CAB75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Where does water enter?</a:t>
            </a:r>
          </a:p>
        </p:txBody>
      </p:sp>
      <p:sp>
        <p:nvSpPr>
          <p:cNvPr id="12" name="2. What do green leaves need to make sugars?">
            <a:extLst xmlns:a="http://schemas.openxmlformats.org/drawingml/2006/main">
              <a:ext uri="{FF2B5EF4-FFF2-40B4-BE49-F238E27FC236}">
                <a16:creationId xmlns:a16="http://schemas.microsoft.com/office/drawing/2014/main" id="{1AF8AC72-7B04-4D9B-BE5C-C6F4F3E7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What do green leaves need to make sugars?</a:t>
            </a:r>
          </a:p>
        </p:txBody>
      </p:sp>
      <p:sp>
        <p:nvSpPr>
          <p:cNvPr id="13" name="3. Are minerals the same as ready-made sugar?">
            <a:extLst xmlns:a="http://schemas.openxmlformats.org/drawingml/2006/main">
              <a:ext uri="{FF2B5EF4-FFF2-40B4-BE49-F238E27FC236}">
                <a16:creationId xmlns:a16="http://schemas.microsoft.com/office/drawing/2014/main" id="{DE9BB964-1B52-45DA-9CF2-D444C896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Are minerals the same as ready-made sugar?</a:t>
            </a:r>
          </a:p>
        </p:txBody>
      </p:sp>
    </p:spTree>
    <p:extLst>
      <p:ext uri="{BB962C8B-B14F-4D97-AF65-F5344CB8AC3E}">
        <p14:creationId xmlns:p14="http://schemas.microsoft.com/office/powerpoint/2010/main" val="41484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64C8D91A-3D62-4EA8-B506-DD16C1BC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B840283-36AC-4333-B167-F59BD547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242B2CD-9378-472C-9645-64524061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D8FC4328-7C6D-4ACF-B0B7-4B9C2D94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A89E0A92-8428-4B36-B1F9-2812B9DF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7 min">
            <a:extLst xmlns:a="http://schemas.openxmlformats.org/drawingml/2006/main">
              <a:ext uri="{FF2B5EF4-FFF2-40B4-BE49-F238E27FC236}">
                <a16:creationId xmlns:a16="http://schemas.microsoft.com/office/drawing/2014/main" id="{FBD3B411-B8A7-470A-981C-5DECDB96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7 min</a:t>
            </a:r>
          </a:p>
        </p:txBody>
      </p:sp>
      <p:sp>
        <p:nvSpPr>
          <p:cNvPr id="7" name="I check the whole set of needs">
            <a:extLst xmlns:a="http://schemas.openxmlformats.org/drawingml/2006/main">
              <a:ext uri="{FF2B5EF4-FFF2-40B4-BE49-F238E27FC236}">
                <a16:creationId xmlns:a16="http://schemas.microsoft.com/office/drawing/2014/main" id="{862EA458-5B4A-43D9-B96B-B48B4477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check the whole set of needs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9B5FABD-7347-490F-9643-5A179F1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81001BF6-9AE7-43A8-82AB-69F19882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3FF2E1EF-CC40-41FF-B590-09ED3898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F6572FF-D1FD-4A57-903D-3108E031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285" y="4759949"/>
            <a:ext cx="2090738" cy="9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6F5C4E4-1BAD-441B-A7C2-3EED7711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47985" y="2706546"/>
            <a:ext cx="953" cy="20534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9603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353CF73-8CDA-4A12-8AE1-9FA8738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285" y="3341234"/>
            <a:ext cx="970700" cy="48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9746963-5F9B-43BE-A9D0-C88630C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52" y="3751915"/>
            <a:ext cx="1008034" cy="48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E2A090E-FD40-4051-8A58-DE8511E0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050631" y="4759949"/>
            <a:ext cx="597354" cy="48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E1CAF9D-B202-4B3E-9404-5416E5A7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47985" y="4759949"/>
            <a:ext cx="672023" cy="48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E013799-2C9E-469A-B753-61C8E8D8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49308" y="4759949"/>
            <a:ext cx="298677" cy="746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0502DA1-6E00-4C74-9190-87057BE7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47985" y="4759949"/>
            <a:ext cx="261342" cy="7840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9" name="Diagram label: Light energy">
            <a:extLst xmlns:a="http://schemas.openxmlformats.org/drawingml/2006/main">
              <a:ext uri="{FF2B5EF4-FFF2-40B4-BE49-F238E27FC236}">
                <a16:creationId xmlns:a16="http://schemas.microsoft.com/office/drawing/2014/main" id="{67D763A2-7E90-42A2-A983-D7EBB6BF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146527"/>
            <a:ext cx="2240076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Light energy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560B38E-8957-4CB4-A86A-309A71E7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17266" y="2594542"/>
            <a:ext cx="875666" cy="8056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C9803B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00FA913-A536-4BEC-AFC2-F46BBEDA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956843">
            <a:off x="4959897" y="3365581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2" name="Diagram label: Air around&#10;the plant">
            <a:extLst xmlns:a="http://schemas.openxmlformats.org/drawingml/2006/main">
              <a:ext uri="{FF2B5EF4-FFF2-40B4-BE49-F238E27FC236}">
                <a16:creationId xmlns:a16="http://schemas.microsoft.com/office/drawing/2014/main" id="{4DFCA137-DD30-4483-86C8-CBD9D1CB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711" y="2407869"/>
            <a:ext cx="2128072" cy="74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Air around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plant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F24E761-5972-40DA-AC3B-E43587CE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616623" y="3154561"/>
            <a:ext cx="935426" cy="3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2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B4831313-8AFB-457F-8672-9743F7FB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870019">
            <a:off x="6540152" y="3493252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5" name="Diagram label: Water + dissolved&#10;mineral nutrients">
            <a:extLst xmlns:a="http://schemas.openxmlformats.org/drawingml/2006/main">
              <a:ext uri="{FF2B5EF4-FFF2-40B4-BE49-F238E27FC236}">
                <a16:creationId xmlns:a16="http://schemas.microsoft.com/office/drawing/2014/main" id="{620B295E-6016-4502-94C8-992ED777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4535941"/>
            <a:ext cx="1829395" cy="89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+ dissolved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mineral nutrients</a:t>
            </a:r>
          </a:p>
        </p:txBody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AA19BF9-2AC5-4362-8A9A-DAB291B8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3939" y="5170629"/>
            <a:ext cx="817696" cy="34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347EBC"/>
            </a:solidFill>
          </a:ln>
        </p:spPr>
      </p:sp>
      <p:sp>
        <p:nvSpPr>
          <p:cNvPr id="2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CA4A747-4E7E-42A5-93FB-4CDF305C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43157">
            <a:off x="5095478" y="5153519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7EBC"/>
          </a:solidFill>
          <a:ln xmlns:a="http://schemas.openxmlformats.org/drawingml/2006/main" w="0">
            <a:noFill/>
          </a:ln>
        </p:spPr>
      </p:sp>
      <p:sp>
        <p:nvSpPr>
          <p:cNvPr id="28" name="Diagram label: Suitable warmth&#10;and enough space">
            <a:extLst xmlns:a="http://schemas.openxmlformats.org/drawingml/2006/main">
              <a:ext uri="{FF2B5EF4-FFF2-40B4-BE49-F238E27FC236}">
                <a16:creationId xmlns:a16="http://schemas.microsoft.com/office/drawing/2014/main" id="{D93E4C94-EBDB-407F-BD18-D021B157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042" y="4162595"/>
            <a:ext cx="2090738" cy="1045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Suitable warmth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and enough space</a:t>
            </a:r>
          </a:p>
        </p:txBody>
      </p:sp>
      <p:sp>
        <p:nvSpPr>
          <p:cNvPr id="29" name="Diagram label: More is not always better. Requirements vary.">
            <a:extLst xmlns:a="http://schemas.openxmlformats.org/drawingml/2006/main">
              <a:ext uri="{FF2B5EF4-FFF2-40B4-BE49-F238E27FC236}">
                <a16:creationId xmlns:a16="http://schemas.microsoft.com/office/drawing/2014/main" id="{B7080940-838B-455B-B062-81A794F9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882" y="5730648"/>
            <a:ext cx="6906901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More is not always better. Requirements vary.</a:t>
            </a:r>
          </a:p>
        </p:txBody>
      </p:sp>
      <p:sp>
        <p:nvSpPr>
          <p:cNvPr id="30" name="Light, water and minerals matter.  Use suitable warmth, air and ">
            <a:extLst xmlns:a="http://schemas.openxmlformats.org/drawingml/2006/main">
              <a:ext uri="{FF2B5EF4-FFF2-40B4-BE49-F238E27FC236}">
                <a16:creationId xmlns:a16="http://schemas.microsoft.com/office/drawing/2014/main" id="{4AD61FB2-5580-489A-837E-F16F9751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Light, water and minerals matter. Use suitable warmth, air and space. Requirements work together.</a:t>
            </a:r>
          </a:p>
        </p:txBody>
      </p:sp>
    </p:spTree>
    <p:extLst>
      <p:ext uri="{BB962C8B-B14F-4D97-AF65-F5344CB8AC3E}">
        <p14:creationId xmlns:p14="http://schemas.microsoft.com/office/powerpoint/2010/main" val="717528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A2E5AC95-5288-4C01-9B76-69F3D87D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8C8542B-5227-400B-B229-6F7D2DF4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0E3313F-E66A-4072-A338-5B3EA958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C227E911-837E-4150-9BFE-B4D1D0E2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B86A7D3E-93A7-45DE-8964-868B64B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refuse to use height alone">
            <a:extLst xmlns:a="http://schemas.openxmlformats.org/drawingml/2006/main">
              <a:ext uri="{FF2B5EF4-FFF2-40B4-BE49-F238E27FC236}">
                <a16:creationId xmlns:a16="http://schemas.microsoft.com/office/drawing/2014/main" id="{EE9A96A1-73E5-4974-B105-B86409D7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refuse to use height alone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D441DF6-BF45-44A7-B968-E54CFFF7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0C181092-EA7B-42FA-8168-7D442E07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9" name="4 / 14">
            <a:extLst xmlns:a="http://schemas.openxmlformats.org/drawingml/2006/main">
              <a:ext uri="{FF2B5EF4-FFF2-40B4-BE49-F238E27FC236}">
                <a16:creationId xmlns:a16="http://schemas.microsoft.com/office/drawing/2014/main" id="{3B6017D9-5749-452B-89F5-A2A3DADC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0" name="Diagram label: Constructed examples: day 7">
            <a:extLst xmlns:a="http://schemas.openxmlformats.org/drawingml/2006/main">
              <a:ext uri="{FF2B5EF4-FFF2-40B4-BE49-F238E27FC236}">
                <a16:creationId xmlns:a16="http://schemas.microsoft.com/office/drawing/2014/main" id="{2B9E6D6B-4BE2-45D1-8744-806FE6FB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2071858"/>
            <a:ext cx="6720228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examples: day 7</a:t>
            </a:r>
          </a:p>
        </p:txBody>
      </p:sp>
      <p:sp>
        <p:nvSpPr>
          <p:cNvPr id="1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3E7BA7F-4A12-4EB4-BA09-0E94ADB1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97228" y="5170629"/>
            <a:ext cx="630954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7F2C496-652D-4001-BC95-706758E9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41274" y="3714580"/>
            <a:ext cx="953" cy="14187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9603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3ED2BE7-9D19-4002-8DAD-52AA1A7F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920" y="3863918"/>
            <a:ext cx="597354" cy="3584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467C1EE-83CC-4D07-9960-F2767385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608" y="4349268"/>
            <a:ext cx="672023" cy="3584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0040E3D-8C8B-493C-8A91-4B2AA946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89384" y="2743880"/>
            <a:ext cx="953" cy="23894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7202">
            <a:solidFill>
              <a:srgbClr val="A9A373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63C7E42-5845-4B8D-A390-C55E0859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373" y="3117226"/>
            <a:ext cx="336011" cy="2016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B7"/>
          </a:solidFill>
          <a:ln xmlns:a="http://schemas.openxmlformats.org/drawingml/2006/main" w="22401">
            <a:solidFill>
              <a:srgbClr val="A9A373"/>
            </a:solidFill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1C098E9-E96F-431E-800C-238B7899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719" y="3714580"/>
            <a:ext cx="373346" cy="2090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B7"/>
          </a:solidFill>
          <a:ln xmlns:a="http://schemas.openxmlformats.org/drawingml/2006/main" w="22401">
            <a:solidFill>
              <a:srgbClr val="A9A373"/>
            </a:solidFill>
          </a:ln>
        </p:spPr>
      </p:sp>
      <p:sp>
        <p:nvSpPr>
          <p:cNvPr id="18" name="Diagram label: A: light available&#10;8 cm; green leaves">
            <a:extLst xmlns:a="http://schemas.openxmlformats.org/drawingml/2006/main">
              <a:ext uri="{FF2B5EF4-FFF2-40B4-BE49-F238E27FC236}">
                <a16:creationId xmlns:a16="http://schemas.microsoft.com/office/drawing/2014/main" id="{726DF835-0DB0-4114-ADF0-5AD1C99A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2445204"/>
            <a:ext cx="2688091" cy="709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A: light available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8 cm; green leaves</a:t>
            </a:r>
          </a:p>
        </p:txBody>
      </p:sp>
      <p:sp>
        <p:nvSpPr>
          <p:cNvPr id="19" name="Diagram label: B: no light">
            <a:extLst xmlns:a="http://schemas.openxmlformats.org/drawingml/2006/main">
              <a:ext uri="{FF2B5EF4-FFF2-40B4-BE49-F238E27FC236}">
                <a16:creationId xmlns:a16="http://schemas.microsoft.com/office/drawing/2014/main" id="{BDC5BE05-097B-4340-8CBE-3CD14D63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011" y="2370534"/>
            <a:ext cx="2837429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B: no light</a:t>
            </a:r>
          </a:p>
        </p:txBody>
      </p:sp>
      <p:sp>
        <p:nvSpPr>
          <p:cNvPr id="20" name="Diagram label: 13 cm; pale&#10;small leaves">
            <a:extLst xmlns:a="http://schemas.openxmlformats.org/drawingml/2006/main">
              <a:ext uri="{FF2B5EF4-FFF2-40B4-BE49-F238E27FC236}">
                <a16:creationId xmlns:a16="http://schemas.microsoft.com/office/drawing/2014/main" id="{0417F72D-4FCA-42D9-83DE-AFA6F580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403" y="3229230"/>
            <a:ext cx="1568053" cy="89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13 cm; pale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small leaves</a:t>
            </a:r>
          </a:p>
        </p:txBody>
      </p:sp>
      <p:sp>
        <p:nvSpPr>
          <p:cNvPr id="21" name="Diagram label: Record height AND leaf condition before judging growth.">
            <a:extLst xmlns:a="http://schemas.openxmlformats.org/drawingml/2006/main">
              <a:ext uri="{FF2B5EF4-FFF2-40B4-BE49-F238E27FC236}">
                <a16:creationId xmlns:a16="http://schemas.microsoft.com/office/drawing/2014/main" id="{F5865BAB-CC9E-488B-8018-BE55799F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5431971"/>
            <a:ext cx="6645558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 height AND leaf condition before judging growth.</a:t>
            </a:r>
          </a:p>
        </p:txBody>
      </p:sp>
      <p:sp>
        <p:nvSpPr>
          <p:cNvPr id="22" name="A is shorter and green.  B is taller and pale.  Both observation">
            <a:extLst xmlns:a="http://schemas.openxmlformats.org/drawingml/2006/main">
              <a:ext uri="{FF2B5EF4-FFF2-40B4-BE49-F238E27FC236}">
                <a16:creationId xmlns:a16="http://schemas.microsoft.com/office/drawing/2014/main" id="{95FA5DA8-546D-488E-B1FE-016CF1FB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is shorter and green. B is taller and pale. Both observations matter.</a:t>
            </a:r>
          </a:p>
        </p:txBody>
      </p:sp>
    </p:spTree>
    <p:extLst>
      <p:ext uri="{BB962C8B-B14F-4D97-AF65-F5344CB8AC3E}">
        <p14:creationId xmlns:p14="http://schemas.microsoft.com/office/powerpoint/2010/main" val="720368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7AA05E02-E512-4F39-908D-30C1032A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4472108-5A82-415C-8832-C651997A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7F96F4C-26CB-44FF-91C3-453B8CA2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4D57784-A5FE-4A27-9C91-E054E8C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A63055A8-F327-4879-AD9B-8F8BF2DE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separate seed and green-plant stages">
            <a:extLst xmlns:a="http://schemas.openxmlformats.org/drawingml/2006/main">
              <a:ext uri="{FF2B5EF4-FFF2-40B4-BE49-F238E27FC236}">
                <a16:creationId xmlns:a16="http://schemas.microsoft.com/office/drawing/2014/main" id="{D70116ED-9DE2-4E47-AEA8-E17AEE71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separate seed and green-plant stages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1C2F30D-922A-4998-80AE-4A0482BF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B8B53C56-7CED-4065-93D9-B710A090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5272969B-748A-425B-9DE2-D6F450C8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59E210C-EC37-4BC6-812A-E17CC3C5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370534"/>
            <a:ext cx="3136106" cy="276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C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3378FD3-0F3C-4397-A722-44B66E6C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82" y="3005223"/>
            <a:ext cx="1194707" cy="8213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BB8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0D6F410-D3E5-4C52-B619-DB6ABFCB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930593" y="3826584"/>
            <a:ext cx="186673" cy="224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735">
            <a:solidFill>
              <a:srgbClr val="C9803B"/>
            </a:solidFill>
          </a:ln>
        </p:spPr>
      </p:sp>
      <p:sp>
        <p:nvSpPr>
          <p:cNvPr id="13" name="Diagram label: Germinating seed">
            <a:extLst xmlns:a="http://schemas.openxmlformats.org/drawingml/2006/main">
              <a:ext uri="{FF2B5EF4-FFF2-40B4-BE49-F238E27FC236}">
                <a16:creationId xmlns:a16="http://schemas.microsoft.com/office/drawing/2014/main" id="{DB7801BD-0B94-4F01-8D5D-CE4E7233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2519873"/>
            <a:ext cx="2762760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Germinating seed</a:t>
            </a:r>
          </a:p>
        </p:txBody>
      </p:sp>
      <p:sp>
        <p:nvSpPr>
          <p:cNvPr id="14" name="Diagram label: Uses stored reserves.&#10;Needs water, oxygen and&#10;suitable temperature.">
            <a:extLst xmlns:a="http://schemas.openxmlformats.org/drawingml/2006/main">
              <a:ext uri="{FF2B5EF4-FFF2-40B4-BE49-F238E27FC236}">
                <a16:creationId xmlns:a16="http://schemas.microsoft.com/office/drawing/2014/main" id="{EA2C1291-15CC-4E22-9926-85E7D00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4162595"/>
            <a:ext cx="2688091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Uses stored reserves.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Needs water, oxygen 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suitable temperature.</a:t>
            </a:r>
          </a:p>
        </p:txBody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FB6F06E-E73E-4559-B696-3FE11DE1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342" y="2370534"/>
            <a:ext cx="3136106" cy="276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1C83D71-6F36-437C-A62A-CEEFAA3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776057" y="3303899"/>
            <a:ext cx="953" cy="8960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69">
            <a:solidFill>
              <a:srgbClr val="3F7D6E"/>
            </a:solidFill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C21EAD7-A68C-4C3B-9681-5234EF8B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703" y="3453238"/>
            <a:ext cx="597354" cy="37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2806487-3E3E-4A5E-A218-7F98F2C5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392" y="3826584"/>
            <a:ext cx="597354" cy="37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9" name="Diagram label: Established green plant">
            <a:extLst xmlns:a="http://schemas.openxmlformats.org/drawingml/2006/main">
              <a:ext uri="{FF2B5EF4-FFF2-40B4-BE49-F238E27FC236}">
                <a16:creationId xmlns:a16="http://schemas.microsoft.com/office/drawing/2014/main" id="{425AD84C-278B-4F9F-A61D-B7079ED4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2519873"/>
            <a:ext cx="2725426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Established green plant</a:t>
            </a:r>
          </a:p>
        </p:txBody>
      </p:sp>
      <p:sp>
        <p:nvSpPr>
          <p:cNvPr id="20" name="Diagram label: Needs light for sustained&#10;sugar-making.">
            <a:extLst xmlns:a="http://schemas.openxmlformats.org/drawingml/2006/main">
              <a:ext uri="{FF2B5EF4-FFF2-40B4-BE49-F238E27FC236}">
                <a16:creationId xmlns:a16="http://schemas.microsoft.com/office/drawing/2014/main" id="{17D21D25-C71B-4953-A98B-C3A6CAA4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4386603"/>
            <a:ext cx="2725426" cy="634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Needs light for sustained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sugar-making.</a:t>
            </a:r>
          </a:p>
        </p:txBody>
      </p:sp>
      <p:sp>
        <p:nvSpPr>
          <p:cNvPr id="21" name="Diagram label: Some seeds also need light to germinate; check the species.">
            <a:extLst xmlns:a="http://schemas.openxmlformats.org/drawingml/2006/main">
              <a:ext uri="{FF2B5EF4-FFF2-40B4-BE49-F238E27FC236}">
                <a16:creationId xmlns:a16="http://schemas.microsoft.com/office/drawing/2014/main" id="{7BD8566C-6494-4520-8BF1-145D555F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5431971"/>
            <a:ext cx="6832231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Some seeds also need light to germinate; check the species.</a:t>
            </a:r>
          </a:p>
        </p:txBody>
      </p:sp>
      <p:sp>
        <p:nvSpPr>
          <p:cNvPr id="22" name="Seeds can use stored reserves.  Established green growth needs l">
            <a:extLst xmlns:a="http://schemas.openxmlformats.org/drawingml/2006/main">
              <a:ext uri="{FF2B5EF4-FFF2-40B4-BE49-F238E27FC236}">
                <a16:creationId xmlns:a16="http://schemas.microsoft.com/office/drawing/2014/main" id="{8BF6C06B-6FE4-4CE3-9886-6F5A1BA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Seeds can use stored reserves. Established green growth needs light.</a:t>
            </a:r>
          </a:p>
        </p:txBody>
      </p:sp>
    </p:spTree>
    <p:extLst>
      <p:ext uri="{BB962C8B-B14F-4D97-AF65-F5344CB8AC3E}">
        <p14:creationId xmlns:p14="http://schemas.microsoft.com/office/powerpoint/2010/main" val="1253787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31511D9-650E-40AE-8734-296C1AEA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0AE5FCC-428F-400F-B592-2A82AEF5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8417E09-8B5C-44D8-AFC9-474C7C0B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D5E505B7-3C0D-440E-A080-86ED26C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DF6F9605-6168-4FFE-99E8-47B46092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229E217E-6613-44B6-93FA-348A0B1F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he evidence clinic: compare A and B">
            <a:extLst xmlns:a="http://schemas.openxmlformats.org/drawingml/2006/main">
              <a:ext uri="{FF2B5EF4-FFF2-40B4-BE49-F238E27FC236}">
                <a16:creationId xmlns:a16="http://schemas.microsoft.com/office/drawing/2014/main" id="{0402A00E-D999-4217-BB56-9B124589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evidence clinic: compare A and B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29DB9B6-B276-4473-8F40-F36246C4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3329DA4D-A67F-4401-A33C-9067F6F0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EB9E6C2B-44D7-415A-856D-9457CF47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Read both height readings. Read leaf condition. Make a care judg">
            <a:extLst xmlns:a="http://schemas.openxmlformats.org/drawingml/2006/main">
              <a:ext uri="{FF2B5EF4-FFF2-40B4-BE49-F238E27FC236}">
                <a16:creationId xmlns:a16="http://schemas.microsoft.com/office/drawing/2014/main" id="{110CC12E-4343-45D2-A637-36082A38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both height readings. Read leaf condition. Make a care judgement with a reason.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48859"/>
                <a:gridCol w="3887473"/>
                <a:gridCol w="4488868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Group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 7 heights (cm)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Leaf evidence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8, 9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Green; several leaves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12, 13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Pale; small leaves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3, 4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Drooping; dry compost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4, 5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Green; little new growth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sample data: two seedlings per group; all started ab">
            <a:extLst xmlns:a="http://schemas.openxmlformats.org/drawingml/2006/main">
              <a:ext uri="{FF2B5EF4-FFF2-40B4-BE49-F238E27FC236}">
                <a16:creationId xmlns:a16="http://schemas.microsoft.com/office/drawing/2014/main" id="{9DE174B2-40EA-444C-8DBA-4F8E98E5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6331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sample data: two seedlings per group; all started about 3 cm</a:t>
            </a:r>
          </a:p>
        </p:txBody>
      </p:sp>
    </p:spTree>
    <p:extLst>
      <p:ext uri="{BB962C8B-B14F-4D97-AF65-F5344CB8AC3E}">
        <p14:creationId xmlns:p14="http://schemas.microsoft.com/office/powerpoint/2010/main" val="309254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331CB3D-8F46-4298-BA4F-5569E35F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77D9C8E-8FC6-492D-958F-DF2212AF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2320A42-893C-4AC2-9FE8-95910D20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95D5BDC7-E3FA-4715-80DA-B26FBDD1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918BF292-5250-4FB1-8E1F-A5081BB2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CD16FD9E-BE61-433B-8F00-193C1F27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Choose a repair that fits the condition">
            <a:extLst xmlns:a="http://schemas.openxmlformats.org/drawingml/2006/main">
              <a:ext uri="{FF2B5EF4-FFF2-40B4-BE49-F238E27FC236}">
                <a16:creationId xmlns:a16="http://schemas.microsoft.com/office/drawing/2014/main" id="{B636C0BF-1A7A-41ED-9A82-5C10BEAE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repair that fits the condition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135D7D8-3595-4474-9F36-60143908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DEFD45D4-E7F5-4657-9F37-4E207F8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F15B055D-255C-4D09-BD91-3AA329E6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C: too little water.">
            <a:extLst xmlns:a="http://schemas.openxmlformats.org/drawingml/2006/main">
              <a:ext uri="{FF2B5EF4-FFF2-40B4-BE49-F238E27FC236}">
                <a16:creationId xmlns:a16="http://schemas.microsoft.com/office/drawing/2014/main" id="{6260AE78-13D3-47B4-AB17-088BE9D0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C: too little water.</a:t>
            </a:r>
          </a:p>
        </p:txBody>
      </p:sp>
      <p:sp>
        <p:nvSpPr>
          <p:cNvPr id="12" name="D: unsuitable cool conditions.">
            <a:extLst xmlns:a="http://schemas.openxmlformats.org/drawingml/2006/main">
              <a:ext uri="{FF2B5EF4-FFF2-40B4-BE49-F238E27FC236}">
                <a16:creationId xmlns:a16="http://schemas.microsoft.com/office/drawing/2014/main" id="{A0ADB6F6-5E28-4209-9A59-F3E96705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D: unsuitable cool conditions.</a:t>
            </a:r>
          </a:p>
        </p:txBody>
      </p:sp>
      <p:sp>
        <p:nvSpPr>
          <p:cNvPr id="13" name="Name a useful care change.">
            <a:extLst xmlns:a="http://schemas.openxmlformats.org/drawingml/2006/main">
              <a:ext uri="{FF2B5EF4-FFF2-40B4-BE49-F238E27FC236}">
                <a16:creationId xmlns:a16="http://schemas.microsoft.com/office/drawing/2014/main" id="{414B5295-13FA-4E53-AF64-7E363ED1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a useful care change.</a:t>
            </a:r>
          </a:p>
        </p:txBody>
      </p:sp>
    </p:spTree>
    <p:extLst>
      <p:ext uri="{BB962C8B-B14F-4D97-AF65-F5344CB8AC3E}">
        <p14:creationId xmlns:p14="http://schemas.microsoft.com/office/powerpoint/2010/main" val="7932712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CEC4FB65-9C17-4B11-B2E6-131C6C6E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8719C9F-C7AA-48BF-A817-74226908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63D2494-1733-4B32-A0C8-1774EFC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043A4105-DC43-4E6D-A154-27A0C7AB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6AFB5C93-D669-4946-A523-A116E4EA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6355232B-8ACB-4D5B-AA4E-A2F8B9F3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B is 13 cm and pale. A is 8 cm and green.">
            <a:extLst xmlns:a="http://schemas.openxmlformats.org/drawingml/2006/main">
              <a:ext uri="{FF2B5EF4-FFF2-40B4-BE49-F238E27FC236}">
                <a16:creationId xmlns:a16="http://schemas.microsoft.com/office/drawing/2014/main" id="{90E95280-8F7F-42CE-B243-47B872AF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 is 13 cm and pale. A is 8 cm and green.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3ED43AB-9A4D-4BC9-91FD-03FD490C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B704109F-9BC2-42B8-8BA7-18030934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4DE6E276-3293-4D31-9B50-07893E15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Which claim uses both clues?">
            <a:extLst xmlns:a="http://schemas.openxmlformats.org/drawingml/2006/main">
              <a:ext uri="{FF2B5EF4-FFF2-40B4-BE49-F238E27FC236}">
                <a16:creationId xmlns:a16="http://schemas.microsoft.com/office/drawing/2014/main" id="{376F1F1D-26ED-495F-9C0E-2CEF0549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claim uses both clues?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BCADA658-A904-4DC2-BAFE-21C8BFF4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7122BD6-A70D-4A28-8A6F-69F9516B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92E82D7D-B476-4C43-8FAD-CFCA3092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B must be healthier because it is taller.">
            <a:extLst xmlns:a="http://schemas.openxmlformats.org/drawingml/2006/main">
              <a:ext uri="{FF2B5EF4-FFF2-40B4-BE49-F238E27FC236}">
                <a16:creationId xmlns:a16="http://schemas.microsoft.com/office/drawing/2014/main" id="{8FF66BED-AE73-47CB-8C66-BFB8802E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 must be healthier because it is taller.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95CDA5B4-20F8-455A-8236-4B2737BA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C64A6681-81E4-44F4-B9D4-6A24D011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A9A182AE-FD42-43D8-A944-332E1F12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Height alone cannot establish which grows well.">
            <a:extLst xmlns:a="http://schemas.openxmlformats.org/drawingml/2006/main">
              <a:ext uri="{FF2B5EF4-FFF2-40B4-BE49-F238E27FC236}">
                <a16:creationId xmlns:a16="http://schemas.microsoft.com/office/drawing/2014/main" id="{B4BD8AC0-362A-4319-A995-3639B56B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Height alone cannot establish which grows well.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4D65D0DE-4625-420F-8BAB-D5CCF2BC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EC6259B1-8BA2-4402-B5F9-C5C5EC79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F11F8AB9-555F-4C87-9A6F-AA185012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No green plant needs light.">
            <a:extLst xmlns:a="http://schemas.openxmlformats.org/drawingml/2006/main">
              <a:ext uri="{FF2B5EF4-FFF2-40B4-BE49-F238E27FC236}">
                <a16:creationId xmlns:a16="http://schemas.microsoft.com/office/drawing/2014/main" id="{B4752DBE-BB95-48D2-8BB8-8FBFA8C7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 green plant needs light.</a:t>
            </a:r>
          </a:p>
        </p:txBody>
      </p:sp>
    </p:spTree>
    <p:extLst>
      <p:ext uri="{BB962C8B-B14F-4D97-AF65-F5344CB8AC3E}">
        <p14:creationId xmlns:p14="http://schemas.microsoft.com/office/powerpoint/2010/main" val="1847781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9D51E2B-0792-4BA7-BC60-4B345AB0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E833BB1-989D-493E-BD1C-3C336ED8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EED634C-9FAA-4B31-8244-ED76C1D0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FBC5556-4B2B-4E09-961D-66E2577B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E0EC38FC-3A90-4BE0-BCF9-3EF3B70D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0B3F4B19-5401-4B90-A0DF-797BDF21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science route">
            <a:extLst xmlns:a="http://schemas.openxmlformats.org/drawingml/2006/main">
              <a:ext uri="{FF2B5EF4-FFF2-40B4-BE49-F238E27FC236}">
                <a16:creationId xmlns:a16="http://schemas.microsoft.com/office/drawing/2014/main" id="{4BE2049B-AD19-4C0D-9727-98FEC635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science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4C25729-397E-42B0-85F0-0BBCF179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DB41365E-D507-40F8-9A3B-B4640158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8B279D77-F5C6-4CD7-8CA1-A6B114AD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Complete a care checklist.">
            <a:extLst xmlns:a="http://schemas.openxmlformats.org/drawingml/2006/main">
              <a:ext uri="{FF2B5EF4-FFF2-40B4-BE49-F238E27FC236}">
                <a16:creationId xmlns:a16="http://schemas.microsoft.com/office/drawing/2014/main" id="{D8DD84FF-7C22-4E67-983D-7498D0A3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Complete a care checklist.</a:t>
            </a:r>
          </a:p>
        </p:txBody>
      </p:sp>
      <p:sp>
        <p:nvSpPr>
          <p:cNvPr id="12" name="Write an evidence-based care brief.">
            <a:extLst xmlns:a="http://schemas.openxmlformats.org/drawingml/2006/main">
              <a:ext uri="{FF2B5EF4-FFF2-40B4-BE49-F238E27FC236}">
                <a16:creationId xmlns:a16="http://schemas.microsoft.com/office/drawing/2014/main" id="{6B2DB8EC-F4F0-454C-B5D8-DD16367F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an evidence-based care brief.</a:t>
            </a:r>
          </a:p>
        </p:txBody>
      </p:sp>
      <p:sp>
        <p:nvSpPr>
          <p:cNvPr id="13" name="Challenge a growth headline.">
            <a:extLst xmlns:a="http://schemas.openxmlformats.org/drawingml/2006/main">
              <a:ext uri="{FF2B5EF4-FFF2-40B4-BE49-F238E27FC236}">
                <a16:creationId xmlns:a16="http://schemas.microsoft.com/office/drawing/2014/main" id="{90E58065-08AC-43C2-A708-3A95DD19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Challenge a growth headline.</a:t>
            </a:r>
          </a:p>
        </p:txBody>
      </p:sp>
    </p:spTree>
    <p:extLst>
      <p:ext uri="{BB962C8B-B14F-4D97-AF65-F5344CB8AC3E}">
        <p14:creationId xmlns:p14="http://schemas.microsoft.com/office/powerpoint/2010/main" val="878070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F758D2A-FB75-4805-BDB0-A1580C94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1835890-3ABC-4A7D-8D8F-CBC8CD48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06125BF-E1B0-4A0D-AE4E-02880968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31B5B84-A6FF-4A3A-B743-7F21619A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1B0EBD2B-4A6B-4ECC-B23A-2814914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6ADBFCA6-915F-4C21-9F47-E88CF992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evidence record">
            <a:extLst xmlns:a="http://schemas.openxmlformats.org/drawingml/2006/main">
              <a:ext uri="{FF2B5EF4-FFF2-40B4-BE49-F238E27FC236}">
                <a16:creationId xmlns:a16="http://schemas.microsoft.com/office/drawing/2014/main" id="{7AC50DD9-F432-4A36-8F2B-D3F1F193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evidence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7A1F181-95EC-4B46-90DC-49480149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88AA7748-6D4E-404F-B49C-89C2D7CC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10" name="10 / 14">
            <a:extLst xmlns:a="http://schemas.openxmlformats.org/drawingml/2006/main">
              <a:ext uri="{FF2B5EF4-FFF2-40B4-BE49-F238E27FC236}">
                <a16:creationId xmlns:a16="http://schemas.microsoft.com/office/drawing/2014/main" id="{A73262F6-8FF1-4940-973A-C0AFF040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1" name="Use the shared evidence.">
            <a:extLst xmlns:a="http://schemas.openxmlformats.org/drawingml/2006/main">
              <a:ext uri="{FF2B5EF4-FFF2-40B4-BE49-F238E27FC236}">
                <a16:creationId xmlns:a16="http://schemas.microsoft.com/office/drawing/2014/main" id="{AAABABB1-3507-46D0-9B62-E878EA1F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shared evidence.</a:t>
            </a:r>
          </a:p>
        </p:txBody>
      </p:sp>
      <p:sp>
        <p:nvSpPr>
          <p:cNvPr id="12" name="Explain one choice.">
            <a:extLst xmlns:a="http://schemas.openxmlformats.org/drawingml/2006/main">
              <a:ext uri="{FF2B5EF4-FFF2-40B4-BE49-F238E27FC236}">
                <a16:creationId xmlns:a16="http://schemas.microsoft.com/office/drawing/2014/main" id="{5FDF753E-53D7-480C-9F34-90ADAB7B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one choice.</a:t>
            </a:r>
          </a:p>
        </p:txBody>
      </p:sp>
      <p:sp>
        <p:nvSpPr>
          <p:cNvPr id="13" name="Check a label or number.">
            <a:extLst xmlns:a="http://schemas.openxmlformats.org/drawingml/2006/main">
              <a:ext uri="{FF2B5EF4-FFF2-40B4-BE49-F238E27FC236}">
                <a16:creationId xmlns:a16="http://schemas.microsoft.com/office/drawing/2014/main" id="{30F1E65D-E282-414E-B337-187AA86F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 label or number.</a:t>
            </a:r>
          </a:p>
        </p:txBody>
      </p:sp>
    </p:spTree>
    <p:extLst>
      <p:ext uri="{BB962C8B-B14F-4D97-AF65-F5344CB8AC3E}">
        <p14:creationId xmlns:p14="http://schemas.microsoft.com/office/powerpoint/2010/main" val="8234011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D9804C2-6EE2-43A4-A918-39791E97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C23255E-B689-4AE6-B17F-28ECAE77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12C0EB7-421A-4A76-ABF2-4BFE326B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7EA3E8F-9BFB-4BB0-B152-E4CA0432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F711B99-C59D-457F-934A-65CAA58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what the evidence can show">
            <a:extLst xmlns:a="http://schemas.openxmlformats.org/drawingml/2006/main">
              <a:ext uri="{FF2B5EF4-FFF2-40B4-BE49-F238E27FC236}">
                <a16:creationId xmlns:a16="http://schemas.microsoft.com/office/drawing/2014/main" id="{7AFE1CEB-9C09-4DC3-B4D3-CA8984E6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what the evidence can show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D29265CA-7B27-4242-BF9E-C75E3EB8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25AC3326-CBA2-4127-9ED1-3DC4DB04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9" name="11 / 14">
            <a:extLst xmlns:a="http://schemas.openxmlformats.org/drawingml/2006/main">
              <a:ext uri="{FF2B5EF4-FFF2-40B4-BE49-F238E27FC236}">
                <a16:creationId xmlns:a16="http://schemas.microsoft.com/office/drawing/2014/main" id="{F88FFB8D-7072-412C-91B6-1556D2EA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0" name="Point to the clue you used.">
            <a:extLst xmlns:a="http://schemas.openxmlformats.org/drawingml/2006/main">
              <a:ext uri="{FF2B5EF4-FFF2-40B4-BE49-F238E27FC236}">
                <a16:creationId xmlns:a16="http://schemas.microsoft.com/office/drawing/2014/main" id="{E3791810-B11E-4DA7-8DC1-0D0C20B4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Point to the clue you used.</a:t>
            </a:r>
          </a:p>
        </p:txBody>
      </p:sp>
      <p:sp>
        <p:nvSpPr>
          <p:cNvPr id="11" name="Remove an unsupported claim.">
            <a:extLst xmlns:a="http://schemas.openxmlformats.org/drawingml/2006/main">
              <a:ext uri="{FF2B5EF4-FFF2-40B4-BE49-F238E27FC236}">
                <a16:creationId xmlns:a16="http://schemas.microsoft.com/office/drawing/2014/main" id="{5D19E870-19A6-4E58-B817-40D36235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Remove an unsupported claim.</a:t>
            </a:r>
          </a:p>
        </p:txBody>
      </p:sp>
    </p:spTree>
    <p:extLst>
      <p:ext uri="{BB962C8B-B14F-4D97-AF65-F5344CB8AC3E}">
        <p14:creationId xmlns:p14="http://schemas.microsoft.com/office/powerpoint/2010/main" val="174725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1AEE4968-4F38-43D6-9896-B82812D9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A94C57B-3063-4FC7-BF52-CC5F56A2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30F620E-709C-4C44-8CE4-EC8D4213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CD946D3-F0DB-438B-A682-14B16AF5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7623B51D-5BAA-453D-9919-8D2D80A2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4420090D-20B5-4553-A5B0-A7AFAE13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the shared account">
            <a:extLst xmlns:a="http://schemas.openxmlformats.org/drawingml/2006/main">
              <a:ext uri="{FF2B5EF4-FFF2-40B4-BE49-F238E27FC236}">
                <a16:creationId xmlns:a16="http://schemas.microsoft.com/office/drawing/2014/main" id="{9B0AADF9-D968-4A0B-A9BA-02D7A6F8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the shared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0948F18-C7CF-463D-A769-92FBE60A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55002B02-CA0D-4375-9C10-4DE8FE38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10" name="12 / 14">
            <a:extLst xmlns:a="http://schemas.openxmlformats.org/drawingml/2006/main">
              <a:ext uri="{FF2B5EF4-FFF2-40B4-BE49-F238E27FC236}">
                <a16:creationId xmlns:a16="http://schemas.microsoft.com/office/drawing/2014/main" id="{4BB5B778-CA37-452B-AE6D-F256A100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1" name="Choose how to share.">
            <a:extLst xmlns:a="http://schemas.openxmlformats.org/drawingml/2006/main">
              <a:ext uri="{FF2B5EF4-FFF2-40B4-BE49-F238E27FC236}">
                <a16:creationId xmlns:a16="http://schemas.microsoft.com/office/drawing/2014/main" id="{556B9241-1F7F-4BF7-B978-6BD3A866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share.</a:t>
            </a:r>
          </a:p>
        </p:txBody>
      </p:sp>
      <p:sp>
        <p:nvSpPr>
          <p:cNvPr id="12" name="Hear one evidence-based challenge.">
            <a:extLst xmlns:a="http://schemas.openxmlformats.org/drawingml/2006/main">
              <a:ext uri="{FF2B5EF4-FFF2-40B4-BE49-F238E27FC236}">
                <a16:creationId xmlns:a16="http://schemas.microsoft.com/office/drawing/2014/main" id="{BF1AFCF0-4659-4699-BCAF-DF0A2142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 one evidence-based challenge.</a:t>
            </a:r>
          </a:p>
        </p:txBody>
      </p:sp>
      <p:sp>
        <p:nvSpPr>
          <p:cNvPr id="13" name="Improve or defend one idea.">
            <a:extLst xmlns:a="http://schemas.openxmlformats.org/drawingml/2006/main">
              <a:ext uri="{FF2B5EF4-FFF2-40B4-BE49-F238E27FC236}">
                <a16:creationId xmlns:a16="http://schemas.microsoft.com/office/drawing/2014/main" id="{5A0F3EDA-2FF0-44C8-AAF0-D4C137D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or defend one idea.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8B40CD2C-81FC-4204-804A-EF0C9179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85048907-CECD-4393-AA19-C1C3269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at changed when we added leaf evidence?">
            <a:extLst xmlns:a="http://schemas.openxmlformats.org/drawingml/2006/main">
              <a:ext uri="{FF2B5EF4-FFF2-40B4-BE49-F238E27FC236}">
                <a16:creationId xmlns:a16="http://schemas.microsoft.com/office/drawing/2014/main" id="{F2F46061-1FD4-4776-A96E-A522E023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What changed when we added leaf evidence?</a:t>
            </a:r>
          </a:p>
        </p:txBody>
      </p:sp>
    </p:spTree>
    <p:extLst>
      <p:ext uri="{BB962C8B-B14F-4D97-AF65-F5344CB8AC3E}">
        <p14:creationId xmlns:p14="http://schemas.microsoft.com/office/powerpoint/2010/main" val="5647972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88EF2308-690D-46BC-BED7-4DDA293D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533F713-3580-4F5A-A6FC-D3FCBC9B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A47EAE5-1F63-4C6C-9836-D72F98B1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41F0540B-B1D8-4EE2-9FE0-9EEA0101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2FC862F5-9D41-4CAA-8DA6-402FCD19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Keep the useful change">
            <a:extLst xmlns:a="http://schemas.openxmlformats.org/drawingml/2006/main">
              <a:ext uri="{FF2B5EF4-FFF2-40B4-BE49-F238E27FC236}">
                <a16:creationId xmlns:a16="http://schemas.microsoft.com/office/drawing/2014/main" id="{06C0119C-7F42-41DB-8487-6024909B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useful change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4629328-43AD-4D69-92CB-10F7805D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39D27097-53B4-42E2-8180-5E540FC6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9" name="13 / 14">
            <a:extLst xmlns:a="http://schemas.openxmlformats.org/drawingml/2006/main">
              <a:ext uri="{FF2B5EF4-FFF2-40B4-BE49-F238E27FC236}">
                <a16:creationId xmlns:a16="http://schemas.microsoft.com/office/drawing/2014/main" id="{66ABA71F-D36B-4BF2-BA6C-A03BECEA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0" name="What changed in our account?">
            <a:extLst xmlns:a="http://schemas.openxmlformats.org/drawingml/2006/main">
              <a:ext uri="{FF2B5EF4-FFF2-40B4-BE49-F238E27FC236}">
                <a16:creationId xmlns:a16="http://schemas.microsoft.com/office/drawing/2014/main" id="{E0BFE855-F848-47E4-ABC9-5D6BD8FC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changed in our account?</a:t>
            </a:r>
          </a:p>
        </p:txBody>
      </p:sp>
      <p:sp>
        <p:nvSpPr>
          <p:cNvPr id="11" name="Which evidence helped?">
            <a:extLst xmlns:a="http://schemas.openxmlformats.org/drawingml/2006/main">
              <a:ext uri="{FF2B5EF4-FFF2-40B4-BE49-F238E27FC236}">
                <a16:creationId xmlns:a16="http://schemas.microsoft.com/office/drawing/2014/main" id="{B574F52D-A207-4E53-A3A8-B982D187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evidence helped?</a:t>
            </a:r>
          </a:p>
        </p:txBody>
      </p:sp>
    </p:spTree>
    <p:extLst>
      <p:ext uri="{BB962C8B-B14F-4D97-AF65-F5344CB8AC3E}">
        <p14:creationId xmlns:p14="http://schemas.microsoft.com/office/powerpoint/2010/main" val="7673717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18E802C-B0B5-4350-8534-5EE4554E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6DC6CB5-AC97-4ED6-AD22-8107FE24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812E22E-8859-4427-A41A-590F59FC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48CB0E51-2CE7-4913-9071-9B4215F9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CD27B36C-3576-4918-9D73-2EE82384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47172871-F47D-4FE2-9673-21E30BB2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final checks">
            <a:extLst xmlns:a="http://schemas.openxmlformats.org/drawingml/2006/main">
              <a:ext uri="{FF2B5EF4-FFF2-40B4-BE49-F238E27FC236}">
                <a16:creationId xmlns:a16="http://schemas.microsoft.com/office/drawing/2014/main" id="{F97CD5D1-5DE4-4D9E-8CA2-A197607D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final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17E4A35-24E4-4D26-A983-8F1D5326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needs clinic">
            <a:extLst xmlns:a="http://schemas.openxmlformats.org/drawingml/2006/main">
              <a:ext uri="{FF2B5EF4-FFF2-40B4-BE49-F238E27FC236}">
                <a16:creationId xmlns:a16="http://schemas.microsoft.com/office/drawing/2014/main" id="{8D2118A9-6874-4A37-92E1-DCB2127F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growth-needs clinic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C1356E39-7952-4791-BAA4-9EB359C2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Name two plant-growth requirements.">
            <a:extLst xmlns:a="http://schemas.openxmlformats.org/drawingml/2006/main">
              <a:ext uri="{FF2B5EF4-FFF2-40B4-BE49-F238E27FC236}">
                <a16:creationId xmlns:a16="http://schemas.microsoft.com/office/drawing/2014/main" id="{ACA2829D-74AE-4387-9FC2-353BF3D6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Name two plant-growth requirements.</a:t>
            </a:r>
          </a:p>
        </p:txBody>
      </p:sp>
      <p:sp>
        <p:nvSpPr>
          <p:cNvPr id="12" name="E2. Is height alone enough to judge healthy growth?">
            <a:extLst xmlns:a="http://schemas.openxmlformats.org/drawingml/2006/main">
              <a:ext uri="{FF2B5EF4-FFF2-40B4-BE49-F238E27FC236}">
                <a16:creationId xmlns:a16="http://schemas.microsoft.com/office/drawing/2014/main" id="{4AC1518B-7EC3-4D5A-A8D5-F4F8C5E0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Is height alone enough to judge healthy growth?</a:t>
            </a:r>
          </a:p>
        </p:txBody>
      </p:sp>
      <p:sp>
        <p:nvSpPr>
          <p:cNvPr id="13" name="E3. Do mineral nutrients replace light?">
            <a:extLst xmlns:a="http://schemas.openxmlformats.org/drawingml/2006/main">
              <a:ext uri="{FF2B5EF4-FFF2-40B4-BE49-F238E27FC236}">
                <a16:creationId xmlns:a16="http://schemas.microsoft.com/office/drawing/2014/main" id="{944D8910-0CED-4109-BCDB-DE3266F3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Do mineral nutrients replace light?</a:t>
            </a:r>
          </a:p>
        </p:txBody>
      </p:sp>
    </p:spTree>
    <p:extLst>
      <p:ext uri="{BB962C8B-B14F-4D97-AF65-F5344CB8AC3E}">
        <p14:creationId xmlns:p14="http://schemas.microsoft.com/office/powerpoint/2010/main" val="1131995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2026-09-08T23:49:06.0380000Z</dcterms:created>
  <dcterms:modified xsi:type="dcterms:W3CDTF">2026-09-08T23:49:06.0390000Z</dcterms:modified>
</coreProperties>
</file>