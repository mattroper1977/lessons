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bbb57381244196" /><Relationship Type="http://schemas.openxmlformats.org/officeDocument/2006/relationships/extended-properties" Target="/docProps/app.xml" Id="R4cb034705cd64dbf" /><Relationship Type="http://schemas.openxmlformats.org/officeDocument/2006/relationships/officeDocument" Target="/ppt/presentation.xml" Id="Rf963635740be43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4774ebbdad4474"/>
  </p:sldMasterIdLst>
  <p:notesMasterIdLst>
    <p:notesMasterId xmlns:r="http://schemas.openxmlformats.org/officeDocument/2006/relationships" r:id="R15bf9dd916d54cbf"/>
  </p:notesMasterIdLst>
  <p:sldIdLst>
    <p:sldId xmlns:r="http://schemas.openxmlformats.org/officeDocument/2006/relationships" id="256" r:id="Rdab5724c40744446"/>
    <p:sldId xmlns:r="http://schemas.openxmlformats.org/officeDocument/2006/relationships" id="257" r:id="R4eed18dcc46c4e96"/>
    <p:sldId xmlns:r="http://schemas.openxmlformats.org/officeDocument/2006/relationships" id="258" r:id="R55967ccedbcd4a14"/>
    <p:sldId xmlns:r="http://schemas.openxmlformats.org/officeDocument/2006/relationships" id="259" r:id="Rf7f49f897727433d"/>
    <p:sldId xmlns:r="http://schemas.openxmlformats.org/officeDocument/2006/relationships" id="260" r:id="R50bb294542154a8a"/>
    <p:sldId xmlns:r="http://schemas.openxmlformats.org/officeDocument/2006/relationships" id="261" r:id="R4c42adfd9eab4035"/>
    <p:sldId xmlns:r="http://schemas.openxmlformats.org/officeDocument/2006/relationships" id="262" r:id="Rbadd1bcf995a4967"/>
    <p:sldId xmlns:r="http://schemas.openxmlformats.org/officeDocument/2006/relationships" id="263" r:id="Rccfbd6406d39450a"/>
    <p:sldId xmlns:r="http://schemas.openxmlformats.org/officeDocument/2006/relationships" id="264" r:id="R861bd96e25ac4356"/>
    <p:sldId xmlns:r="http://schemas.openxmlformats.org/officeDocument/2006/relationships" id="265" r:id="R0dc7962d054049e0"/>
    <p:sldId xmlns:r="http://schemas.openxmlformats.org/officeDocument/2006/relationships" id="266" r:id="R17eb200f741a493f"/>
    <p:sldId xmlns:r="http://schemas.openxmlformats.org/officeDocument/2006/relationships" id="267" r:id="R46b3d80af2ec4389"/>
    <p:sldId xmlns:r="http://schemas.openxmlformats.org/officeDocument/2006/relationships" id="268" r:id="R4ba5e0cab4fe4f75"/>
    <p:sldId xmlns:r="http://schemas.openxmlformats.org/officeDocument/2006/relationships" id="269" r:id="Rfa46ed3e46954e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8b04e2b5574b5a" /><Relationship Type="http://schemas.openxmlformats.org/officeDocument/2006/relationships/slideMaster" Target="/ppt/slideMasters/slideMaster1.xml" Id="R394774ebbdad4474" /><Relationship Type="http://schemas.openxmlformats.org/officeDocument/2006/relationships/notesMaster" Target="/ppt/notesMasters/notesMaster1.xml" Id="R15bf9dd916d54cbf" /><Relationship Type="http://schemas.openxmlformats.org/officeDocument/2006/relationships/presProps" Target="/ppt/presProps.xml" Id="R47897f1d395047e0" /><Relationship Type="http://schemas.openxmlformats.org/officeDocument/2006/relationships/tableStyles" Target="/ppt/tableStyles.xml" Id="Rd764c724204b4470" /><Relationship Type="http://schemas.openxmlformats.org/officeDocument/2006/relationships/slide" Target="/ppt/slides/slide1.xml" Id="Rdab5724c40744446" /><Relationship Type="http://schemas.openxmlformats.org/officeDocument/2006/relationships/slide" Target="/ppt/slides/slide2.xml" Id="R4eed18dcc46c4e96" /><Relationship Type="http://schemas.openxmlformats.org/officeDocument/2006/relationships/slide" Target="/ppt/slides/slide3.xml" Id="R55967ccedbcd4a14" /><Relationship Type="http://schemas.openxmlformats.org/officeDocument/2006/relationships/slide" Target="/ppt/slides/slide4.xml" Id="Rf7f49f897727433d" /><Relationship Type="http://schemas.openxmlformats.org/officeDocument/2006/relationships/slide" Target="/ppt/slides/slide5.xml" Id="R50bb294542154a8a" /><Relationship Type="http://schemas.openxmlformats.org/officeDocument/2006/relationships/slide" Target="/ppt/slides/slide6.xml" Id="R4c42adfd9eab4035" /><Relationship Type="http://schemas.openxmlformats.org/officeDocument/2006/relationships/slide" Target="/ppt/slides/slide7.xml" Id="Rbadd1bcf995a4967" /><Relationship Type="http://schemas.openxmlformats.org/officeDocument/2006/relationships/slide" Target="/ppt/slides/slide8.xml" Id="Rccfbd6406d39450a" /><Relationship Type="http://schemas.openxmlformats.org/officeDocument/2006/relationships/slide" Target="/ppt/slides/slide9.xml" Id="R861bd96e25ac4356" /><Relationship Type="http://schemas.openxmlformats.org/officeDocument/2006/relationships/slide" Target="/ppt/slides/slide10.xml" Id="R0dc7962d054049e0" /><Relationship Type="http://schemas.openxmlformats.org/officeDocument/2006/relationships/slide" Target="/ppt/slides/slide11.xml" Id="R17eb200f741a493f" /><Relationship Type="http://schemas.openxmlformats.org/officeDocument/2006/relationships/slide" Target="/ppt/slides/slide12.xml" Id="R46b3d80af2ec4389" /><Relationship Type="http://schemas.openxmlformats.org/officeDocument/2006/relationships/slide" Target="/ppt/slides/slide13.xml" Id="R4ba5e0cab4fe4f75" /><Relationship Type="http://schemas.openxmlformats.org/officeDocument/2006/relationships/slide" Target="/ppt/slides/slide14.xml" Id="Rfa46ed3e46954e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c4143fe6c849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d1a433643a4159" /><Relationship Type="http://schemas.openxmlformats.org/officeDocument/2006/relationships/notesMaster" Target="/ppt/notesMasters/notesMaster1.xml" Id="R2ad21bfe4ed242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f7e770b3394f13" /><Relationship Type="http://schemas.openxmlformats.org/officeDocument/2006/relationships/notesMaster" Target="/ppt/notesMasters/notesMaster1.xml" Id="Ra28bb9301db344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72abf43c6d4758" /><Relationship Type="http://schemas.openxmlformats.org/officeDocument/2006/relationships/notesMaster" Target="/ppt/notesMasters/notesMaster1.xml" Id="Rd6afce29e55a4d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078673e309412f" /><Relationship Type="http://schemas.openxmlformats.org/officeDocument/2006/relationships/notesMaster" Target="/ppt/notesMasters/notesMaster1.xml" Id="R95fcbe53aec241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b245af095e4873" /><Relationship Type="http://schemas.openxmlformats.org/officeDocument/2006/relationships/notesMaster" Target="/ppt/notesMasters/notesMaster1.xml" Id="R3a9a0367aace40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698fed14844036" /><Relationship Type="http://schemas.openxmlformats.org/officeDocument/2006/relationships/notesMaster" Target="/ppt/notesMasters/notesMaster1.xml" Id="R9ae07712bec24b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79e66d0a3b44d6" /><Relationship Type="http://schemas.openxmlformats.org/officeDocument/2006/relationships/notesMaster" Target="/ppt/notesMasters/notesMaster1.xml" Id="Rf0216cc6f99145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49b12ce9524b7a" /><Relationship Type="http://schemas.openxmlformats.org/officeDocument/2006/relationships/notesMaster" Target="/ppt/notesMasters/notesMaster1.xml" Id="R53a6582d9bfb45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56e059d2334bf7" /><Relationship Type="http://schemas.openxmlformats.org/officeDocument/2006/relationships/notesMaster" Target="/ppt/notesMasters/notesMaster1.xml" Id="Re2103de236e748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e95152ba70482c" /><Relationship Type="http://schemas.openxmlformats.org/officeDocument/2006/relationships/notesMaster" Target="/ppt/notesMasters/notesMaster1.xml" Id="Ra7b49082515040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d52ff87a5f48e3" /><Relationship Type="http://schemas.openxmlformats.org/officeDocument/2006/relationships/notesMaster" Target="/ppt/notesMasters/notesMaster1.xml" Id="R6bc52483ba304a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847b2a81bf416c" /><Relationship Type="http://schemas.openxmlformats.org/officeDocument/2006/relationships/notesMaster" Target="/ppt/notesMasters/notesMaster1.xml" Id="R52414a349e1944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b45ee281774e28" /><Relationship Type="http://schemas.openxmlformats.org/officeDocument/2006/relationships/notesMaster" Target="/ppt/notesMasters/notesMaster1.xml" Id="R1f488f43de5e43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3f69c0cde64f4e" /><Relationship Type="http://schemas.openxmlformats.org/officeDocument/2006/relationships/notesMaster" Target="/ppt/notesMasters/notesMaster1.xml" Id="R421dcaf261de47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difference between planning now and waiting for growth later. All pupils can meet today’s planning objective on paper.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valid requirement. 2 no; leaf colour/condition also useful. 3 centimetres.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“If the groups differ, I would not know whether water or darkness mattered. I repair the light conditions before I start.” Other factors still need matching; use three comparable seedlings in each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 groups each have three matched young seedlings. Group A receives 5 mL in light; group B receives 15 mL in darkness. Water and light both vary, so their effects cannot be separated.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“Including the pot would add something I am not studying. I choose one start and endpoint and use them every time.” Worked reading is 6 cm.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ruler begins at the soil surface beside a seedling. The main shoot tip reaches 6 cm; measure from soil surface to shoot tip, without including pot height or forcing the plant straight.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“A results heading is not a result. I leave future values blank and plan who will measure.” Keep the same time of day; rotate positions within a comparable light area where useful and record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timeline lays out the proposed record: baseline day 0 then days 3, 7 and 10. Each uses the same plant IDs, height rule and leaf-condition notes. Future results remain unknown.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W1: daily water amount; height change and leaf condition; two relevant controls. Have one pupil challenge the plan and another point to a fix in the shared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W2: expectation is a prediction; the measured statement is only a result if actually measured. The class has not produced those data today. Choose a useful blank record heading and a baseline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Predict in a separate space. Record results only after observation.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 first option; all options need a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Change water amount; keep species and growing conditions comparable.</a:t>
            </a:r>
          </a:p>
          <a:p xmlns:a="http://schemas.openxmlformats.org/drawingml/2006/main">
            <a:r>
              <a:t>Correct. This isolates the planned water comparison more effectively.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Change water amount, species and light together.</a:t>
            </a:r>
          </a:p>
          <a:p xmlns:a="http://schemas.openxmlformats.org/drawingml/2006/main">
            <a:r>
              <a:t>Several factors could explain the difference.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Write the expected heights into the results table now.</a:t>
            </a:r>
          </a:p>
          <a:p xmlns:a="http://schemas.openxmlformats.org/drawingml/2006/main">
            <a:r>
              <a:t>Predictions are not measurements.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ONE route. Planning is today’s assessed product. An optional class setup must use adult-piloted care levels; paper plans remain fully valid. Do not let a pupil fill unknown results to make the plan look finished.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is today’s assessed product. An optional class setup must use adult-piloted care levels; paper plans remain fully valid. Do not let a pupil fill unknown results to make the plan look finished.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independent time. Ask for a reason, not just a correct word. Planning is today’s assessed product. An optional class setup must use adult-piloted care levels; paper plans remain fully valid. Do not let a pupil fill unknown results to make the plan look finished.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Listen to a selected pupil revision and visibly adopt a scientifically accurate contribution. Offer private, written or partner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Keep one planned change, matched groups, repeated plants and a consistent dated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review time. Name how a pupil contribution changed a label, method or conclusion. Do not rank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Keep one planned change, matched groups, repeated plants and a consistent dated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brief individual evidence. Use the answer key and re-teach the specified misconception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6004cfbb443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8067888f414f69" /><Relationship Type="http://schemas.openxmlformats.org/officeDocument/2006/relationships/slideLayout" Target="/ppt/slideLayouts/slideLayout1.xml" Id="R2fc72af30db940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c72af30db940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8d316913b46a7" /><Relationship Type="http://schemas.openxmlformats.org/officeDocument/2006/relationships/notesSlide" Target="/ppt/notesSlides/notesSlide1.xml" Id="R483f936562214e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bc8cca27f455d" /><Relationship Type="http://schemas.openxmlformats.org/officeDocument/2006/relationships/notesSlide" Target="/ppt/notesSlides/notesSlide2.xml" Id="R2cad9acc7eb442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7785843144318" /><Relationship Type="http://schemas.openxmlformats.org/officeDocument/2006/relationships/notesSlide" Target="/ppt/notesSlides/notesSlide3.xml" Id="R8296e3ac2f2c46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071adb2f04f66" /><Relationship Type="http://schemas.openxmlformats.org/officeDocument/2006/relationships/notesSlide" Target="/ppt/notesSlides/notesSlide4.xml" Id="R9094b9154f9547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6c4d5aeb14ef4" /><Relationship Type="http://schemas.openxmlformats.org/officeDocument/2006/relationships/notesSlide" Target="/ppt/notesSlides/notesSlide5.xml" Id="R8571da62844a4e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edc5b84654629" /><Relationship Type="http://schemas.openxmlformats.org/officeDocument/2006/relationships/notesSlide" Target="/ppt/notesSlides/notesSlide6.xml" Id="R7f4c92bfd5c648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9529502844c0d" /><Relationship Type="http://schemas.openxmlformats.org/officeDocument/2006/relationships/notesSlide" Target="/ppt/notesSlides/notesSlide7.xml" Id="R095f991065f24c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0239ec78e40f1" /><Relationship Type="http://schemas.openxmlformats.org/officeDocument/2006/relationships/notesSlide" Target="/ppt/notesSlides/notesSlide8.xml" Id="Rb837dc41a06a40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fdede06074576" /><Relationship Type="http://schemas.openxmlformats.org/officeDocument/2006/relationships/notesSlide" Target="/ppt/notesSlides/notesSlide9.xml" Id="R5a42e058d0ee44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fb1dca4864170" /><Relationship Type="http://schemas.openxmlformats.org/officeDocument/2006/relationships/notesSlide" Target="/ppt/notesSlides/notesSlide10.xml" Id="R794336eced7f4e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9bcedfad543e0" /><Relationship Type="http://schemas.openxmlformats.org/officeDocument/2006/relationships/notesSlide" Target="/ppt/notesSlides/notesSlide11.xml" Id="R7d0955c657fa44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ca576c26b4d05" /><Relationship Type="http://schemas.openxmlformats.org/officeDocument/2006/relationships/notesSlide" Target="/ppt/notesSlides/notesSlide12.xml" Id="Rd69b0634a6e940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ff0bb79c0461a" /><Relationship Type="http://schemas.openxmlformats.org/officeDocument/2006/relationships/notesSlide" Target="/ppt/notesSlides/notesSlide13.xml" Id="R87023fa44e464f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d8aa0921e47f2" /><Relationship Type="http://schemas.openxmlformats.org/officeDocument/2006/relationships/notesSlide" Target="/ppt/notesSlides/notesSlide14.xml" Id="Rbbdeaa322a334c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D09FFD54-5477-4AB2-827E-C55572AA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4D9B2C4-82CE-40E3-8ED4-56A255FC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862A2D7-E23C-4959-B380-C33B1FB1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DF8EB44E-7C50-4D89-8448-C12B176C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06361871-E893-4C91-97FC-DFBC4002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933B3644-4D9E-47D0-9C87-C41DB130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 good plan can be followed by someone else">
            <a:extLst xmlns:a="http://schemas.openxmlformats.org/drawingml/2006/main">
              <a:ext uri="{FF2B5EF4-FFF2-40B4-BE49-F238E27FC236}">
                <a16:creationId xmlns:a16="http://schemas.microsoft.com/office/drawing/2014/main" id="{BF337BD6-40E8-41FF-8820-A8E3F803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good plan can be followed by someone else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B0A8572-B211-4FAF-92F5-7B420202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D7A016EC-AABF-48FC-996F-187AD144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10" name="1 / 14">
            <a:extLst xmlns:a="http://schemas.openxmlformats.org/drawingml/2006/main">
              <a:ext uri="{FF2B5EF4-FFF2-40B4-BE49-F238E27FC236}">
                <a16:creationId xmlns:a16="http://schemas.microsoft.com/office/drawing/2014/main" id="{19D85002-A012-4213-8D40-B3336BEB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14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6AEF0D82-29BB-4F63-B783-A766CA39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F903158-5567-4D24-AEB7-828859B4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04A1E834-3A08-4A95-BE60-05F5FD59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Plan a controlled comparison of water amount and plant growth, w">
            <a:extLst xmlns:a="http://schemas.openxmlformats.org/drawingml/2006/main">
              <a:ext uri="{FF2B5EF4-FFF2-40B4-BE49-F238E27FC236}">
                <a16:creationId xmlns:a16="http://schemas.microsoft.com/office/drawing/2014/main" id="{DF979E45-057A-414A-A2F5-BD437CAD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Plan a controlled comparison of water amount and plant growth, with repeated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plants and consistent records.</a:t>
            </a:r>
          </a:p>
        </p:txBody>
      </p:sp>
      <p:sp>
        <p:nvSpPr>
          <p:cNvPr id="15" name="Make the question precise.">
            <a:extLst xmlns:a="http://schemas.openxmlformats.org/drawingml/2006/main">
              <a:ext uri="{FF2B5EF4-FFF2-40B4-BE49-F238E27FC236}">
                <a16:creationId xmlns:a16="http://schemas.microsoft.com/office/drawing/2014/main" id="{5683888D-F0A0-44EB-B62C-71615D51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the question precise.</a:t>
            </a:r>
          </a:p>
        </p:txBody>
      </p:sp>
      <p:sp>
        <p:nvSpPr>
          <p:cNvPr id="16" name="Make the comparison fair.">
            <a:extLst xmlns:a="http://schemas.openxmlformats.org/drawingml/2006/main">
              <a:ext uri="{FF2B5EF4-FFF2-40B4-BE49-F238E27FC236}">
                <a16:creationId xmlns:a16="http://schemas.microsoft.com/office/drawing/2014/main" id="{766DFBBD-D140-42BD-89BC-EC597EC5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66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the comparison fair.</a:t>
            </a:r>
          </a:p>
        </p:txBody>
      </p:sp>
    </p:spTree>
    <p:extLst>
      <p:ext uri="{BB962C8B-B14F-4D97-AF65-F5344CB8AC3E}">
        <p14:creationId xmlns:p14="http://schemas.microsoft.com/office/powerpoint/2010/main" val="1442381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731EFFB-4E7D-4762-9F72-A39E9E1F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BA8D705-7E7D-465C-8293-E1B8280A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072AD95-7CB2-4F18-8E56-1FF3CAC4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7401EF9-76D5-4CAA-A6C6-4A2CD044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B305D47E-2CCE-49C8-BB5F-01D4F39D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D0CF4983-EDC6-4822-8B8E-80D58CC0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trieve what makes a useful comparison">
            <a:extLst xmlns:a="http://schemas.openxmlformats.org/drawingml/2006/main">
              <a:ext uri="{FF2B5EF4-FFF2-40B4-BE49-F238E27FC236}">
                <a16:creationId xmlns:a16="http://schemas.microsoft.com/office/drawing/2014/main" id="{813607C3-A41C-4892-9086-686A3A5B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Retrieve what makes a useful comparison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B4772BA-0CC9-470C-B4E9-68ACDAD6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7C9EF2A7-7D91-4880-9B50-93139EA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10" name="2 / 14">
            <a:extLst xmlns:a="http://schemas.openxmlformats.org/drawingml/2006/main">
              <a:ext uri="{FF2B5EF4-FFF2-40B4-BE49-F238E27FC236}">
                <a16:creationId xmlns:a16="http://schemas.microsoft.com/office/drawing/2014/main" id="{B8C1A2BE-2921-47C3-9B7A-92B96058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14</a:t>
            </a:r>
          </a:p>
        </p:txBody>
      </p:sp>
      <p:sp>
        <p:nvSpPr>
          <p:cNvPr id="11" name="1. Name a plant-growth requirement.">
            <a:extLst xmlns:a="http://schemas.openxmlformats.org/drawingml/2006/main">
              <a:ext uri="{FF2B5EF4-FFF2-40B4-BE49-F238E27FC236}">
                <a16:creationId xmlns:a16="http://schemas.microsoft.com/office/drawing/2014/main" id="{9DF74D24-7A6B-4FB5-AD4D-191E17E8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 Name a plant-growth requirement.</a:t>
            </a:r>
          </a:p>
        </p:txBody>
      </p:sp>
      <p:sp>
        <p:nvSpPr>
          <p:cNvPr id="12" name="2. Is height the only useful observation?">
            <a:extLst xmlns:a="http://schemas.openxmlformats.org/drawingml/2006/main">
              <a:ext uri="{FF2B5EF4-FFF2-40B4-BE49-F238E27FC236}">
                <a16:creationId xmlns:a16="http://schemas.microsoft.com/office/drawing/2014/main" id="{4FAFC33C-FA70-427D-8F2E-C24A4130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2. Is height the only useful observation?</a:t>
            </a:r>
          </a:p>
        </p:txBody>
      </p:sp>
      <p:sp>
        <p:nvSpPr>
          <p:cNvPr id="13" name="3. What unit can we use for height?">
            <a:extLst xmlns:a="http://schemas.openxmlformats.org/drawingml/2006/main">
              <a:ext uri="{FF2B5EF4-FFF2-40B4-BE49-F238E27FC236}">
                <a16:creationId xmlns:a16="http://schemas.microsoft.com/office/drawing/2014/main" id="{9F6071E0-986B-434D-AD9F-6908E1B5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3. What unit can we use for height?</a:t>
            </a:r>
          </a:p>
        </p:txBody>
      </p:sp>
    </p:spTree>
    <p:extLst>
      <p:ext uri="{BB962C8B-B14F-4D97-AF65-F5344CB8AC3E}">
        <p14:creationId xmlns:p14="http://schemas.microsoft.com/office/powerpoint/2010/main" val="1390851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urface">
            <a:extLst xmlns:a="http://schemas.openxmlformats.org/drawingml/2006/main">
              <a:ext uri="{FF2B5EF4-FFF2-40B4-BE49-F238E27FC236}">
                <a16:creationId xmlns:a16="http://schemas.microsoft.com/office/drawing/2014/main" id="{E3F17515-8230-45C6-907D-EB110CC4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946F96B-4843-43E2-A7CB-B6FDFE1D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07246B4-F4E0-40E9-9FAF-3CD1FBB7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85BB2240-8AD9-4E2C-8203-0B148E6E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660D8FCB-7EBB-4B27-9134-AB22B806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7 min">
            <a:extLst xmlns:a="http://schemas.openxmlformats.org/drawingml/2006/main">
              <a:ext uri="{FF2B5EF4-FFF2-40B4-BE49-F238E27FC236}">
                <a16:creationId xmlns:a16="http://schemas.microsoft.com/office/drawing/2014/main" id="{741EDD9C-542E-4F85-A524-267D871E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7 min</a:t>
            </a:r>
          </a:p>
        </p:txBody>
      </p:sp>
      <p:sp>
        <p:nvSpPr>
          <p:cNvPr id="7" name="I repair two changes">
            <a:extLst xmlns:a="http://schemas.openxmlformats.org/drawingml/2006/main">
              <a:ext uri="{FF2B5EF4-FFF2-40B4-BE49-F238E27FC236}">
                <a16:creationId xmlns:a16="http://schemas.microsoft.com/office/drawing/2014/main" id="{B591E5F7-6FB4-4367-83E6-48043C0C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repair two changes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F5462A0-1137-427D-8A66-DF8CDB4A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B4911390-616A-401B-A271-46F047F4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10" name="3 / 14">
            <a:extLst xmlns:a="http://schemas.openxmlformats.org/drawingml/2006/main">
              <a:ext uri="{FF2B5EF4-FFF2-40B4-BE49-F238E27FC236}">
                <a16:creationId xmlns:a16="http://schemas.microsoft.com/office/drawing/2014/main" id="{40D91063-FA71-4108-9A46-A2FA0EA3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14</a:t>
            </a:r>
          </a:p>
        </p:txBody>
      </p:sp>
      <p:sp>
        <p:nvSpPr>
          <p:cNvPr id="11" name="Diagram label: Repair the comparison">
            <a:extLst xmlns:a="http://schemas.openxmlformats.org/drawingml/2006/main">
              <a:ext uri="{FF2B5EF4-FFF2-40B4-BE49-F238E27FC236}">
                <a16:creationId xmlns:a16="http://schemas.microsoft.com/office/drawing/2014/main" id="{443F5696-ECF7-40C0-BA16-D3C1B9EE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071858"/>
            <a:ext cx="6720228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the comparison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E0AB40B-CA28-4F45-B29E-32FAF4DC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901" y="4199930"/>
            <a:ext cx="522684" cy="634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AB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66A84CF-ADBB-4CB6-B5FF-102EC00C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45244" y="3602576"/>
            <a:ext cx="953" cy="597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268">
            <a:solidFill>
              <a:srgbClr val="3F7D6E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D5C919A-A18F-4D88-A0FB-71F82D5F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236" y="3714580"/>
            <a:ext cx="224008" cy="149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042415F-8B24-401C-BD52-D08C483F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593" y="4199930"/>
            <a:ext cx="522684" cy="634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AB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F03A3CA-EFF7-4898-B5DA-962FC907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91935" y="3602576"/>
            <a:ext cx="953" cy="597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268">
            <a:solidFill>
              <a:srgbClr val="3F7D6E"/>
            </a:solidFill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B523E43-85F0-436F-A822-AB0B706F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928" y="3714580"/>
            <a:ext cx="224008" cy="149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FEE01E1-2923-447B-AC5A-17EE5FF4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285" y="4199930"/>
            <a:ext cx="522684" cy="634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AB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DE832D6-71B7-4D56-9605-70120A58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38627" y="3602576"/>
            <a:ext cx="953" cy="597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268">
            <a:solidFill>
              <a:srgbClr val="3F7D6E"/>
            </a:solidFill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42FED32-4F1D-4B41-BCC5-B8F8AAEB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620" y="3714580"/>
            <a:ext cx="224008" cy="149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1" name="Diagram label: Group A: 5 mL daily">
            <a:extLst xmlns:a="http://schemas.openxmlformats.org/drawingml/2006/main">
              <a:ext uri="{FF2B5EF4-FFF2-40B4-BE49-F238E27FC236}">
                <a16:creationId xmlns:a16="http://schemas.microsoft.com/office/drawing/2014/main" id="{F27CE36B-BE19-43AB-83ED-24E4C2CA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901" y="2855884"/>
            <a:ext cx="2464083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Group A: 5 mL daily</a:t>
            </a:r>
          </a:p>
        </p:txBody>
      </p:sp>
      <p:sp>
        <p:nvSpPr>
          <p:cNvPr id="22" name="Diagram label: Three matched seedlings">
            <a:extLst xmlns:a="http://schemas.openxmlformats.org/drawingml/2006/main">
              <a:ext uri="{FF2B5EF4-FFF2-40B4-BE49-F238E27FC236}">
                <a16:creationId xmlns:a16="http://schemas.microsoft.com/office/drawing/2014/main" id="{1B06F15B-75B5-47BC-92DF-11AC8CC3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98" y="5058625"/>
            <a:ext cx="2538753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matched seedlings</a:t>
            </a:r>
          </a:p>
        </p:txBody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5DE25CF-2A0B-41EE-9AD2-529DEBB6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61" y="4199930"/>
            <a:ext cx="522684" cy="634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AB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2B2FC33-A83A-4D7D-9E04-BD63859C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178703" y="3602576"/>
            <a:ext cx="953" cy="597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268">
            <a:solidFill>
              <a:srgbClr val="3F7D6E"/>
            </a:solidFill>
          </a:ln>
        </p:spPr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A9BD4CA-6AD3-46E7-B371-F51E212C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696" y="3714580"/>
            <a:ext cx="224008" cy="149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0257AF7-A465-48F8-9D81-BA7F0DB5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053" y="4199930"/>
            <a:ext cx="522684" cy="634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AB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F2CC18C-A792-4BDB-8DFC-7859DAAA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25395" y="3602576"/>
            <a:ext cx="953" cy="597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268">
            <a:solidFill>
              <a:srgbClr val="3F7D6E"/>
            </a:solidFill>
          </a:ln>
        </p:spPr>
      </p:sp>
      <p:sp>
        <p:nvSpPr>
          <p:cNvPr id="2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D121FD5-CED8-49F2-99F6-1058E490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1388" y="3714580"/>
            <a:ext cx="224008" cy="149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CA2185D-C6A0-4113-AE1B-E6CA5BEB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745" y="4199930"/>
            <a:ext cx="522684" cy="634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AB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3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60E70F3-EF9B-457A-88F0-92FEFCD1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72087" y="3602576"/>
            <a:ext cx="953" cy="597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268">
            <a:solidFill>
              <a:srgbClr val="3F7D6E"/>
            </a:solidFill>
          </a:ln>
        </p:spPr>
      </p:sp>
      <p:sp>
        <p:nvSpPr>
          <p:cNvPr id="3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DB76384-8EC2-4073-A756-13050B20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080" y="3714580"/>
            <a:ext cx="224008" cy="149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32" name="Diagram label: Group B: 15 mL daily">
            <a:extLst xmlns:a="http://schemas.openxmlformats.org/drawingml/2006/main">
              <a:ext uri="{FF2B5EF4-FFF2-40B4-BE49-F238E27FC236}">
                <a16:creationId xmlns:a16="http://schemas.microsoft.com/office/drawing/2014/main" id="{B5F05641-25F8-41EF-B2F2-3FDE543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61" y="2855884"/>
            <a:ext cx="2464083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Group B: 15 mL daily</a:t>
            </a:r>
          </a:p>
        </p:txBody>
      </p:sp>
      <p:sp>
        <p:nvSpPr>
          <p:cNvPr id="33" name="Diagram label: Three matched seedlings">
            <a:extLst xmlns:a="http://schemas.openxmlformats.org/drawingml/2006/main">
              <a:ext uri="{FF2B5EF4-FFF2-40B4-BE49-F238E27FC236}">
                <a16:creationId xmlns:a16="http://schemas.microsoft.com/office/drawing/2014/main" id="{BD784586-751E-4EDC-8091-033DEB85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357" y="5058625"/>
            <a:ext cx="2538753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matched seedlings</a:t>
            </a:r>
          </a:p>
        </p:txBody>
      </p:sp>
      <p:sp>
        <p:nvSpPr>
          <p:cNvPr id="34" name="Diagram label: Sunny window">
            <a:extLst xmlns:a="http://schemas.openxmlformats.org/drawingml/2006/main">
              <a:ext uri="{FF2B5EF4-FFF2-40B4-BE49-F238E27FC236}">
                <a16:creationId xmlns:a16="http://schemas.microsoft.com/office/drawing/2014/main" id="{171D74B3-1046-42F8-9AF8-F08AA166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2407869"/>
            <a:ext cx="2688091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Sunny window</a:t>
            </a:r>
          </a:p>
        </p:txBody>
      </p:sp>
      <p:sp>
        <p:nvSpPr>
          <p:cNvPr id="35" name="Diagram label: Dark cupboard">
            <a:extLst xmlns:a="http://schemas.openxmlformats.org/drawingml/2006/main">
              <a:ext uri="{FF2B5EF4-FFF2-40B4-BE49-F238E27FC236}">
                <a16:creationId xmlns:a16="http://schemas.microsoft.com/office/drawing/2014/main" id="{3E50662F-D364-405A-ABBA-846E83DC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354" y="2407869"/>
            <a:ext cx="2762760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Dark cupboard</a:t>
            </a:r>
          </a:p>
        </p:txBody>
      </p:sp>
      <p:sp>
        <p:nvSpPr>
          <p:cNvPr id="36" name="Diagram label: Water AND light change: the cause becomes unclear.">
            <a:extLst xmlns:a="http://schemas.openxmlformats.org/drawingml/2006/main">
              <a:ext uri="{FF2B5EF4-FFF2-40B4-BE49-F238E27FC236}">
                <a16:creationId xmlns:a16="http://schemas.microsoft.com/office/drawing/2014/main" id="{A882F177-FADB-491F-BE21-C61E9FEA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5618644"/>
            <a:ext cx="6720228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AND light change: the cause becomes unclear.</a:t>
            </a:r>
          </a:p>
        </p:txBody>
      </p:sp>
      <p:sp>
        <p:nvSpPr>
          <p:cNvPr id="37" name="The flawed plan changes water and light.  I keep light comparabl">
            <a:extLst xmlns:a="http://schemas.openxmlformats.org/drawingml/2006/main">
              <a:ext uri="{FF2B5EF4-FFF2-40B4-BE49-F238E27FC236}">
                <a16:creationId xmlns:a16="http://schemas.microsoft.com/office/drawing/2014/main" id="{A114FDDE-7DA4-4A1C-9E91-BFA82734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flawed plan changes water and light. I keep light comparable. Then I test water amount.</a:t>
            </a:r>
          </a:p>
        </p:txBody>
      </p:sp>
    </p:spTree>
    <p:extLst>
      <p:ext uri="{BB962C8B-B14F-4D97-AF65-F5344CB8AC3E}">
        <p14:creationId xmlns:p14="http://schemas.microsoft.com/office/powerpoint/2010/main" val="45657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5551C16F-3FC0-4392-AE15-F04DB97C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DCDA5F8-B66D-4731-AA34-46355667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20D14E7-1F7C-4D0B-84EC-CF9C8EEC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801DC2AA-1A3B-4499-8C5A-B2A02852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DE798283-8A45-48BC-9686-91A0F16B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define the measurement before taking it">
            <a:extLst xmlns:a="http://schemas.openxmlformats.org/drawingml/2006/main">
              <a:ext uri="{FF2B5EF4-FFF2-40B4-BE49-F238E27FC236}">
                <a16:creationId xmlns:a16="http://schemas.microsoft.com/office/drawing/2014/main" id="{975A7108-8D07-491D-8F0C-4379D241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define the measurement before taking it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0D30364D-AAF1-4B50-B88E-2645AAE4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3166CFC7-8DB2-4E80-93B9-14AFA3EE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9" name="4 / 14">
            <a:extLst xmlns:a="http://schemas.openxmlformats.org/drawingml/2006/main">
              <a:ext uri="{FF2B5EF4-FFF2-40B4-BE49-F238E27FC236}">
                <a16:creationId xmlns:a16="http://schemas.microsoft.com/office/drawing/2014/main" id="{EB83C209-17E9-4526-A286-CD6DDA62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14</a:t>
            </a:r>
          </a:p>
        </p:txBody>
      </p:sp>
      <p:sp>
        <p:nvSpPr>
          <p:cNvPr id="1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19DBA26-9011-4D92-BD65-D638DB7D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255" y="4647945"/>
            <a:ext cx="2389414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AB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747F65E-5F80-4ECD-80D4-2279300C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75962" y="3079892"/>
            <a:ext cx="953" cy="15680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69">
            <a:solidFill>
              <a:srgbClr val="3F7D6E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DDA80D3-2468-4BE3-97C2-2752173B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935" y="3565242"/>
            <a:ext cx="784027" cy="4106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CD5FE71-B5B6-456A-9C43-09B9C834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297" y="3975922"/>
            <a:ext cx="746692" cy="373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E45D554-FA28-4D4C-AD15-6CB06A6D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81" y="2781215"/>
            <a:ext cx="634688" cy="22400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C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5" name="Diagram label: 0 cm: soil level">
            <a:extLst xmlns:a="http://schemas.openxmlformats.org/drawingml/2006/main">
              <a:ext uri="{FF2B5EF4-FFF2-40B4-BE49-F238E27FC236}">
                <a16:creationId xmlns:a16="http://schemas.microsoft.com/office/drawing/2014/main" id="{B098508E-3DAD-442B-AFB7-C0BDAD0E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046" y="4423937"/>
            <a:ext cx="1568053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 cm: soil level</a:t>
            </a:r>
          </a:p>
        </p:txBody>
      </p:sp>
      <p:sp>
        <p:nvSpPr>
          <p:cNvPr id="16" name="Diagram label: 6 cm: shoot tip">
            <a:extLst xmlns:a="http://schemas.openxmlformats.org/drawingml/2006/main">
              <a:ext uri="{FF2B5EF4-FFF2-40B4-BE49-F238E27FC236}">
                <a16:creationId xmlns:a16="http://schemas.microsoft.com/office/drawing/2014/main" id="{0DD2C410-27C4-4EAC-A3A9-BB3B5BD8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046" y="2818550"/>
            <a:ext cx="1717392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6 cm: shoot tip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C863478-84AB-4150-96C4-98E5309D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33335" y="4647945"/>
            <a:ext cx="11573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A2B788E-84DD-484B-9576-A1379213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87966" y="3079892"/>
            <a:ext cx="220274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19" name="Diagram label: Measure the same part, from the same starting level.">
            <a:extLst xmlns:a="http://schemas.openxmlformats.org/drawingml/2006/main">
              <a:ext uri="{FF2B5EF4-FFF2-40B4-BE49-F238E27FC236}">
                <a16:creationId xmlns:a16="http://schemas.microsoft.com/office/drawing/2014/main" id="{C926F87C-479A-452C-833A-29DB5F66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109192"/>
            <a:ext cx="6832231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Measure the same part, from the same starting level.</a:t>
            </a:r>
          </a:p>
        </p:txBody>
      </p:sp>
      <p:sp>
        <p:nvSpPr>
          <p:cNvPr id="20" name="Diagram label: Do not include the pot or straighten the shoot by force.">
            <a:extLst xmlns:a="http://schemas.openxmlformats.org/drawingml/2006/main">
              <a:ext uri="{FF2B5EF4-FFF2-40B4-BE49-F238E27FC236}">
                <a16:creationId xmlns:a16="http://schemas.microsoft.com/office/drawing/2014/main" id="{5562F3AA-0D00-47AB-B741-24D50EFF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5618644"/>
            <a:ext cx="6720228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 not include the pot or straighten the shoot by force.</a:t>
            </a:r>
          </a:p>
        </p:txBody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B7333F5-6D4D-4907-B296-0C38E09B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4647945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A188680-EC5C-4D30-9136-54B58F07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4386603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6B24BB7-2819-453C-BCAA-7F934430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4125260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9E9678B-449B-4151-81F5-58D50B36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3863918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5F9801D-A850-412C-B6CE-9113FE0C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3602576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4633E06-824E-45C7-8029-D3C20416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3341234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72A8237-BC7B-43C5-A1E2-647F9B38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3079892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8" name="Start at soil level.  Measure to the main shoot tip.  Record cen">
            <a:extLst xmlns:a="http://schemas.openxmlformats.org/drawingml/2006/main">
              <a:ext uri="{FF2B5EF4-FFF2-40B4-BE49-F238E27FC236}">
                <a16:creationId xmlns:a16="http://schemas.microsoft.com/office/drawing/2014/main" id="{5EE2E13B-EE33-4F24-9580-A80FF199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Start at soil level. Measure to the main shoot tip. Record centimetres.</a:t>
            </a:r>
          </a:p>
        </p:txBody>
      </p:sp>
    </p:spTree>
    <p:extLst>
      <p:ext uri="{BB962C8B-B14F-4D97-AF65-F5344CB8AC3E}">
        <p14:creationId xmlns:p14="http://schemas.microsoft.com/office/powerpoint/2010/main" val="7240122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D93ECFE9-36DF-41D2-9226-49CBA988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127D4CA-1BBF-4B4B-8649-8433B176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889234B-17A4-4AE5-A54E-18228300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3C12AFF3-84C9-4250-A93A-29C6E72A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D296E59F-EFE4-4E39-8B71-8161DAFA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make dates and responsibilities visible">
            <a:extLst xmlns:a="http://schemas.openxmlformats.org/drawingml/2006/main">
              <a:ext uri="{FF2B5EF4-FFF2-40B4-BE49-F238E27FC236}">
                <a16:creationId xmlns:a16="http://schemas.microsoft.com/office/drawing/2014/main" id="{2E010845-9D9A-4596-A412-7A62696E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make dates and responsibilities visible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E5F9715-70C1-4523-9F7E-127E0483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55553E1E-D50B-4BC7-8692-DC29CD22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9" name="5 / 14">
            <a:extLst xmlns:a="http://schemas.openxmlformats.org/drawingml/2006/main">
              <a:ext uri="{FF2B5EF4-FFF2-40B4-BE49-F238E27FC236}">
                <a16:creationId xmlns:a16="http://schemas.microsoft.com/office/drawing/2014/main" id="{830369A0-C045-43DE-A3C0-8DA0321D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14</a:t>
            </a:r>
          </a:p>
        </p:txBody>
      </p:sp>
      <p:sp>
        <p:nvSpPr>
          <p:cNvPr id="1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8DC559E-D46B-4536-A236-366DCDD8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34563" y="3677245"/>
            <a:ext cx="604820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4E7A9B"/>
            </a:solidFill>
          </a:ln>
        </p:spPr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3560841-C6CA-4A7F-B259-F0999679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431" y="3557775"/>
            <a:ext cx="238941" cy="2389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2" name="Diagram label: Day 0">
            <a:extLst xmlns:a="http://schemas.openxmlformats.org/drawingml/2006/main">
              <a:ext uri="{FF2B5EF4-FFF2-40B4-BE49-F238E27FC236}">
                <a16:creationId xmlns:a16="http://schemas.microsoft.com/office/drawing/2014/main" id="{42FEF381-E646-4BE2-AA9F-F3CDF955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818550"/>
            <a:ext cx="1194707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Day 0</a:t>
            </a:r>
          </a:p>
        </p:txBody>
      </p:sp>
      <p:sp>
        <p:nvSpPr>
          <p:cNvPr id="13" name="Diagram label: Label plants;&#10;record baseline">
            <a:extLst xmlns:a="http://schemas.openxmlformats.org/drawingml/2006/main">
              <a:ext uri="{FF2B5EF4-FFF2-40B4-BE49-F238E27FC236}">
                <a16:creationId xmlns:a16="http://schemas.microsoft.com/office/drawing/2014/main" id="{B827A7B5-1D4E-4297-BD50-98AB6182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875" y="4125260"/>
            <a:ext cx="1642722" cy="9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Label plants;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record baseline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90CEFFC-FDF5-452F-91E5-57B0341B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488" y="3557775"/>
            <a:ext cx="238941" cy="2389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5" name="Diagram label: Day 3">
            <a:extLst xmlns:a="http://schemas.openxmlformats.org/drawingml/2006/main">
              <a:ext uri="{FF2B5EF4-FFF2-40B4-BE49-F238E27FC236}">
                <a16:creationId xmlns:a16="http://schemas.microsoft.com/office/drawing/2014/main" id="{A93B4D03-0253-4E96-A4DC-DC5157C0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274" y="2818550"/>
            <a:ext cx="1194707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Day 3</a:t>
            </a:r>
          </a:p>
        </p:txBody>
      </p:sp>
      <p:sp>
        <p:nvSpPr>
          <p:cNvPr id="16" name="Diagram label: Height +&#10;leaf condition">
            <a:extLst xmlns:a="http://schemas.openxmlformats.org/drawingml/2006/main">
              <a:ext uri="{FF2B5EF4-FFF2-40B4-BE49-F238E27FC236}">
                <a16:creationId xmlns:a16="http://schemas.microsoft.com/office/drawing/2014/main" id="{8D199CC9-4F52-41B0-AA36-1AEEFF9A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932" y="4125260"/>
            <a:ext cx="1642722" cy="9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Height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leaf condition</a:t>
            </a:r>
          </a:p>
        </p:txBody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4C69E1F-EAF5-4059-8209-A0E2CDEF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225" y="3557775"/>
            <a:ext cx="238941" cy="2389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8" name="Diagram label: Day 7">
            <a:extLst xmlns:a="http://schemas.openxmlformats.org/drawingml/2006/main">
              <a:ext uri="{FF2B5EF4-FFF2-40B4-BE49-F238E27FC236}">
                <a16:creationId xmlns:a16="http://schemas.microsoft.com/office/drawing/2014/main" id="{35B511A2-C6FE-4D92-9871-CE06EF64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011" y="2818550"/>
            <a:ext cx="1194707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Day 7</a:t>
            </a:r>
          </a:p>
        </p:txBody>
      </p:sp>
      <p:sp>
        <p:nvSpPr>
          <p:cNvPr id="19" name="Diagram label: Height +&#10;leaf condition">
            <a:extLst xmlns:a="http://schemas.openxmlformats.org/drawingml/2006/main">
              <a:ext uri="{FF2B5EF4-FFF2-40B4-BE49-F238E27FC236}">
                <a16:creationId xmlns:a16="http://schemas.microsoft.com/office/drawing/2014/main" id="{DC54D150-78A9-4222-96C3-AFE2978B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669" y="4125260"/>
            <a:ext cx="1642722" cy="9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Height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leaf condition</a:t>
            </a:r>
          </a:p>
        </p:txBody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C626555-E4E3-4740-A652-CC9DF041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955" y="3557775"/>
            <a:ext cx="238941" cy="2389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21" name="Diagram label: Day 10">
            <a:extLst xmlns:a="http://schemas.openxmlformats.org/drawingml/2006/main">
              <a:ext uri="{FF2B5EF4-FFF2-40B4-BE49-F238E27FC236}">
                <a16:creationId xmlns:a16="http://schemas.microsoft.com/office/drawing/2014/main" id="{9CAA499C-C062-46DA-9E1F-0E18DEAC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741" y="2818550"/>
            <a:ext cx="1194707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Day 10</a:t>
            </a:r>
          </a:p>
        </p:txBody>
      </p:sp>
      <p:sp>
        <p:nvSpPr>
          <p:cNvPr id="22" name="Diagram label: Height +&#10;leaf condition">
            <a:extLst xmlns:a="http://schemas.openxmlformats.org/drawingml/2006/main">
              <a:ext uri="{FF2B5EF4-FFF2-40B4-BE49-F238E27FC236}">
                <a16:creationId xmlns:a16="http://schemas.microsoft.com/office/drawing/2014/main" id="{968DC32B-273D-4C8F-A182-F0C0DA38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399" y="4125260"/>
            <a:ext cx="1642722" cy="9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Height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leaf condition</a:t>
            </a:r>
          </a:p>
        </p:txBody>
      </p:sp>
      <p:sp>
        <p:nvSpPr>
          <p:cNvPr id="23" name="Diagram label: The plan contains actions, not made-up results.">
            <a:extLst xmlns:a="http://schemas.openxmlformats.org/drawingml/2006/main">
              <a:ext uri="{FF2B5EF4-FFF2-40B4-BE49-F238E27FC236}">
                <a16:creationId xmlns:a16="http://schemas.microsoft.com/office/drawing/2014/main" id="{A836B6D4-2521-4EEA-A7D9-00328264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183861"/>
            <a:ext cx="6794897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plan contains actions, not made-up results.</a:t>
            </a:r>
          </a:p>
        </p:txBody>
      </p:sp>
      <p:sp>
        <p:nvSpPr>
          <p:cNvPr id="24" name="Diagram label: Same observation time; record every plant, including difficulties.">
            <a:extLst xmlns:a="http://schemas.openxmlformats.org/drawingml/2006/main">
              <a:ext uri="{FF2B5EF4-FFF2-40B4-BE49-F238E27FC236}">
                <a16:creationId xmlns:a16="http://schemas.microsoft.com/office/drawing/2014/main" id="{67DC0FE3-3F0A-413C-9C18-2F8D32C0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5506641"/>
            <a:ext cx="6720228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observation time; record every plant, including difficulties.</a:t>
            </a:r>
          </a:p>
        </p:txBody>
      </p:sp>
      <p:sp>
        <p:nvSpPr>
          <p:cNvPr id="25" name="Record baseline first.  Return on agreed days.  Keep every plant">
            <a:extLst xmlns:a="http://schemas.openxmlformats.org/drawingml/2006/main">
              <a:ext uri="{FF2B5EF4-FFF2-40B4-BE49-F238E27FC236}">
                <a16:creationId xmlns:a16="http://schemas.microsoft.com/office/drawing/2014/main" id="{27AE36AC-A398-447C-8BD5-F7CF615B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Record baseline first. Return on agreed days. Keep every plant’s ID.</a:t>
            </a:r>
          </a:p>
        </p:txBody>
      </p:sp>
    </p:spTree>
    <p:extLst>
      <p:ext uri="{BB962C8B-B14F-4D97-AF65-F5344CB8AC3E}">
        <p14:creationId xmlns:p14="http://schemas.microsoft.com/office/powerpoint/2010/main" val="713773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6DA522A-552D-45C6-AC34-A82A7405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A6D3117-68C8-4C7D-B386-11EAE881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11A24D8-DEE5-463D-8AA3-FDD92296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E0CD90BB-2309-4A4D-AA0D-EDD34D27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95F042FF-8A39-43B8-8495-395B1E21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717899D6-12FE-405E-BC6B-DC20AB0C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The plan-repair meeting">
            <a:extLst xmlns:a="http://schemas.openxmlformats.org/drawingml/2006/main">
              <a:ext uri="{FF2B5EF4-FFF2-40B4-BE49-F238E27FC236}">
                <a16:creationId xmlns:a16="http://schemas.microsoft.com/office/drawing/2014/main" id="{C99644B5-84B9-4D33-ABE2-BC0F2C9C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plan-repair meeting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E046CC2-549E-40CA-B166-A87B4375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7509CEAA-D298-48F4-891E-931656CF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10" name="6 / 14">
            <a:extLst xmlns:a="http://schemas.openxmlformats.org/drawingml/2006/main">
              <a:ext uri="{FF2B5EF4-FFF2-40B4-BE49-F238E27FC236}">
                <a16:creationId xmlns:a16="http://schemas.microsoft.com/office/drawing/2014/main" id="{7FD0B71D-2579-4997-8C40-C9F2F804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14</a:t>
            </a:r>
          </a:p>
        </p:txBody>
      </p:sp>
      <p:sp>
        <p:nvSpPr>
          <p:cNvPr id="11" name="What will change? What will be measured? Name two things to keep">
            <a:extLst xmlns:a="http://schemas.openxmlformats.org/drawingml/2006/main">
              <a:ext uri="{FF2B5EF4-FFF2-40B4-BE49-F238E27FC236}">
                <a16:creationId xmlns:a16="http://schemas.microsoft.com/office/drawing/2014/main" id="{DD13B500-0ED0-4F96-98FA-557C164E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will change? What will be measured? Name two things to keep comparable.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0212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965837"/>
                <a:gridCol w="6159363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Plan part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Decision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Change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 versus 15 mL daily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Repeat plants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Three per group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Record days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0, 3, 7, 10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3" name="Fictional teaching plan; future results are unknown">
            <a:extLst xmlns:a="http://schemas.openxmlformats.org/drawingml/2006/main">
              <a:ext uri="{FF2B5EF4-FFF2-40B4-BE49-F238E27FC236}">
                <a16:creationId xmlns:a16="http://schemas.microsoft.com/office/drawing/2014/main" id="{466FE4DE-8D91-406A-BEF3-8404C57F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1030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Fictional teaching plan; future results are unknown</a:t>
            </a:r>
          </a:p>
        </p:txBody>
      </p:sp>
    </p:spTree>
    <p:extLst>
      <p:ext uri="{BB962C8B-B14F-4D97-AF65-F5344CB8AC3E}">
        <p14:creationId xmlns:p14="http://schemas.microsoft.com/office/powerpoint/2010/main" val="945628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6EC88CAA-961F-4199-9226-55CDCB1F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C91A15D-6063-474B-8407-7A2CA076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766E9C9-4D89-42C6-AD15-FE4E616E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81200F22-FF75-41C1-BC03-53B335DE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6DA7E50D-DBB7-430C-B55E-7A4F6496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69E96C38-081C-40CA-A5F4-34E4C1D3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Prediction or result?">
            <a:extLst xmlns:a="http://schemas.openxmlformats.org/drawingml/2006/main">
              <a:ext uri="{FF2B5EF4-FFF2-40B4-BE49-F238E27FC236}">
                <a16:creationId xmlns:a16="http://schemas.microsoft.com/office/drawing/2014/main" id="{DDBE5DFC-071D-4264-9413-F3436A31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Prediction or result?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DFCAC3D-CE89-457C-BFF5-7B0F340B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AAE05BCB-2587-4C00-B9D5-A55C6385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10" name="7 / 14">
            <a:extLst xmlns:a="http://schemas.openxmlformats.org/drawingml/2006/main">
              <a:ext uri="{FF2B5EF4-FFF2-40B4-BE49-F238E27FC236}">
                <a16:creationId xmlns:a16="http://schemas.microsoft.com/office/drawing/2014/main" id="{E1131E85-F6A4-4E9A-8768-9AE37F9C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14</a:t>
            </a:r>
          </a:p>
        </p:txBody>
      </p:sp>
      <p:sp>
        <p:nvSpPr>
          <p:cNvPr id="11" name="“I expect B to grow more.”">
            <a:extLst xmlns:a="http://schemas.openxmlformats.org/drawingml/2006/main">
              <a:ext uri="{FF2B5EF4-FFF2-40B4-BE49-F238E27FC236}">
                <a16:creationId xmlns:a16="http://schemas.microsoft.com/office/drawing/2014/main" id="{C77309DF-670B-430A-9C89-B1552849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“I expect B to grow more.”</a:t>
            </a:r>
          </a:p>
        </p:txBody>
      </p:sp>
      <p:sp>
        <p:nvSpPr>
          <p:cNvPr id="12" name="“B1 measured 6 cm today.”">
            <a:extLst xmlns:a="http://schemas.openxmlformats.org/drawingml/2006/main">
              <a:ext uri="{FF2B5EF4-FFF2-40B4-BE49-F238E27FC236}">
                <a16:creationId xmlns:a16="http://schemas.microsoft.com/office/drawing/2014/main" id="{AD4D2391-FE16-4BF7-8F95-1DA3A190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“B1 measured 6 cm today.”</a:t>
            </a:r>
          </a:p>
        </p:txBody>
      </p:sp>
      <p:sp>
        <p:nvSpPr>
          <p:cNvPr id="13" name="Which requires an actual measurement?">
            <a:extLst xmlns:a="http://schemas.openxmlformats.org/drawingml/2006/main">
              <a:ext uri="{FF2B5EF4-FFF2-40B4-BE49-F238E27FC236}">
                <a16:creationId xmlns:a16="http://schemas.microsoft.com/office/drawing/2014/main" id="{06D9E4B7-5C06-4B81-833B-1CCFD969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requires an actual measurement?</a:t>
            </a:r>
          </a:p>
        </p:txBody>
      </p:sp>
    </p:spTree>
    <p:extLst>
      <p:ext uri="{BB962C8B-B14F-4D97-AF65-F5344CB8AC3E}">
        <p14:creationId xmlns:p14="http://schemas.microsoft.com/office/powerpoint/2010/main" val="13661971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1897D269-7A93-407A-AEE1-A62A9332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1066600-C4FD-43DD-9C81-76CCCF59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84B522A-E94E-4061-B8AB-A8C1E50F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A66FE6FA-47CA-4B18-A2C0-AD8539B8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AE48A708-4592-41A1-A934-FFF6CB69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8E6F4DDE-5A46-4C14-98B8-DC05D570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plan best tests water amount?">
            <a:extLst xmlns:a="http://schemas.openxmlformats.org/drawingml/2006/main">
              <a:ext uri="{FF2B5EF4-FFF2-40B4-BE49-F238E27FC236}">
                <a16:creationId xmlns:a16="http://schemas.microsoft.com/office/drawing/2014/main" id="{BEBC4BBC-44AD-4D48-A5C7-2B367992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plan best tests water amount?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D32D123-E4E6-4F56-A75C-17879E3C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97C34C63-2B54-4957-A03C-91389E12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10" name="8 / 14">
            <a:extLst xmlns:a="http://schemas.openxmlformats.org/drawingml/2006/main">
              <a:ext uri="{FF2B5EF4-FFF2-40B4-BE49-F238E27FC236}">
                <a16:creationId xmlns:a16="http://schemas.microsoft.com/office/drawing/2014/main" id="{0348AA80-CEA3-4921-8FD2-875AAF7C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14</a:t>
            </a:r>
          </a:p>
        </p:txBody>
      </p:sp>
      <p:sp>
        <p:nvSpPr>
          <p:cNvPr id="11" name="Keep the intended change clear.">
            <a:extLst xmlns:a="http://schemas.openxmlformats.org/drawingml/2006/main">
              <a:ext uri="{FF2B5EF4-FFF2-40B4-BE49-F238E27FC236}">
                <a16:creationId xmlns:a16="http://schemas.microsoft.com/office/drawing/2014/main" id="{9670BF06-F2B7-4BA9-9110-EEE8A5AC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intended change clear.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91DAB85-00A5-4890-9331-793263EB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637CD26-55CA-4C57-B674-41B2F46B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A5BF7219-E19F-4548-8F81-0EF53F8D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Change water amount; keep species and growing conditions compara">
            <a:extLst xmlns:a="http://schemas.openxmlformats.org/drawingml/2006/main">
              <a:ext uri="{FF2B5EF4-FFF2-40B4-BE49-F238E27FC236}">
                <a16:creationId xmlns:a16="http://schemas.microsoft.com/office/drawing/2014/main" id="{25ABBAAC-8622-4FB4-9B70-D0DCD99E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 water amount; keep species and growing conditions comparable.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0554D45F-24A4-4D9C-A1A1-A54EC3DB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D0A4CF3A-515A-4415-A6B5-ABC2CAD5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943FA169-2ED8-4B02-9090-28AAB64E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Change water amount, species and light together.">
            <a:extLst xmlns:a="http://schemas.openxmlformats.org/drawingml/2006/main">
              <a:ext uri="{FF2B5EF4-FFF2-40B4-BE49-F238E27FC236}">
                <a16:creationId xmlns:a16="http://schemas.microsoft.com/office/drawing/2014/main" id="{B2AC97D1-7574-4B14-A83B-70340D92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 water amount, species and light together.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52482DF7-D740-4D5D-8DDB-19EF5459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5CB19E53-0C12-4CCA-99F4-8C58EA88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DE1BAC67-21A3-47BC-87D0-CBF24851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Write the expected heights into the results table now.">
            <a:extLst xmlns:a="http://schemas.openxmlformats.org/drawingml/2006/main">
              <a:ext uri="{FF2B5EF4-FFF2-40B4-BE49-F238E27FC236}">
                <a16:creationId xmlns:a16="http://schemas.microsoft.com/office/drawing/2014/main" id="{4C556ED6-B094-4CBB-A27E-6939FFCD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Write the expected heights into the results table now.</a:t>
            </a:r>
          </a:p>
        </p:txBody>
      </p:sp>
    </p:spTree>
    <p:extLst>
      <p:ext uri="{BB962C8B-B14F-4D97-AF65-F5344CB8AC3E}">
        <p14:creationId xmlns:p14="http://schemas.microsoft.com/office/powerpoint/2010/main" val="701856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0D0AF2A9-7805-49B2-B516-B7324654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D94BF31-B441-4B45-B207-0047253E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35E70C0-DC0A-4878-B272-8A02EEC3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AE8A4758-88EA-41DC-BDC5-CF76F7AE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7561B031-B03F-4728-9BCD-5A4AE500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4C02132C-F5F2-47B0-9BBA-460E091D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hoose your science route">
            <a:extLst xmlns:a="http://schemas.openxmlformats.org/drawingml/2006/main">
              <a:ext uri="{FF2B5EF4-FFF2-40B4-BE49-F238E27FC236}">
                <a16:creationId xmlns:a16="http://schemas.microsoft.com/office/drawing/2014/main" id="{2CE9646E-C5A7-45E6-BEEE-98BF411C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science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D065130-69C6-40D0-A64E-C2E17F77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A7E96917-9F39-4589-8935-4B266011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10" name="9 / 14">
            <a:extLst xmlns:a="http://schemas.openxmlformats.org/drawingml/2006/main">
              <a:ext uri="{FF2B5EF4-FFF2-40B4-BE49-F238E27FC236}">
                <a16:creationId xmlns:a16="http://schemas.microsoft.com/office/drawing/2014/main" id="{8A1CF7E6-9487-4176-BFE5-A35B75D3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14</a:t>
            </a:r>
          </a:p>
        </p:txBody>
      </p:sp>
      <p:sp>
        <p:nvSpPr>
          <p:cNvPr id="11" name="Assemble the core plan.">
            <a:extLst xmlns:a="http://schemas.openxmlformats.org/drawingml/2006/main">
              <a:ext uri="{FF2B5EF4-FFF2-40B4-BE49-F238E27FC236}">
                <a16:creationId xmlns:a16="http://schemas.microsoft.com/office/drawing/2014/main" id="{690FDF4D-7BFD-40DE-B04B-28C3CCB8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Assemble the core plan.</a:t>
            </a:r>
          </a:p>
        </p:txBody>
      </p:sp>
      <p:sp>
        <p:nvSpPr>
          <p:cNvPr id="12" name="Write a handover method.">
            <a:extLst xmlns:a="http://schemas.openxmlformats.org/drawingml/2006/main">
              <a:ext uri="{FF2B5EF4-FFF2-40B4-BE49-F238E27FC236}">
                <a16:creationId xmlns:a16="http://schemas.microsoft.com/office/drawing/2014/main" id="{110554C2-EB4A-4679-A57E-DB360163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Write a handover method.</a:t>
            </a:r>
          </a:p>
        </p:txBody>
      </p:sp>
      <p:sp>
        <p:nvSpPr>
          <p:cNvPr id="13" name="Audit and repair a weak plan.">
            <a:extLst xmlns:a="http://schemas.openxmlformats.org/drawingml/2006/main">
              <a:ext uri="{FF2B5EF4-FFF2-40B4-BE49-F238E27FC236}">
                <a16:creationId xmlns:a16="http://schemas.microsoft.com/office/drawing/2014/main" id="{7A4378F6-7452-46E2-94C6-85824F71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Audit and repair a weak plan.</a:t>
            </a:r>
          </a:p>
        </p:txBody>
      </p:sp>
    </p:spTree>
    <p:extLst>
      <p:ext uri="{BB962C8B-B14F-4D97-AF65-F5344CB8AC3E}">
        <p14:creationId xmlns:p14="http://schemas.microsoft.com/office/powerpoint/2010/main" val="15240090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312A5843-31B2-41B6-8DD1-74B9F59F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E716675-CFB9-4C44-9EF9-6120D849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2D8C826-A095-4916-839A-259C7CCA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F24F076D-C7A5-4333-977A-CD499DB0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57064520-9A93-4016-956F-48AF9E5E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D3EDED69-0FA6-4779-9A22-08D2342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your own evidence record">
            <a:extLst xmlns:a="http://schemas.openxmlformats.org/drawingml/2006/main">
              <a:ext uri="{FF2B5EF4-FFF2-40B4-BE49-F238E27FC236}">
                <a16:creationId xmlns:a16="http://schemas.microsoft.com/office/drawing/2014/main" id="{47E6D084-ADB3-43C1-9CE8-A6211942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your own evidence record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C5EAD39-6C31-4820-8F05-0E8D8B96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3094B6F8-B1CB-447B-9922-32F37DEF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10" name="10 / 14">
            <a:extLst xmlns:a="http://schemas.openxmlformats.org/drawingml/2006/main">
              <a:ext uri="{FF2B5EF4-FFF2-40B4-BE49-F238E27FC236}">
                <a16:creationId xmlns:a16="http://schemas.microsoft.com/office/drawing/2014/main" id="{2EAE9C51-A666-4D80-959D-721E33FE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14</a:t>
            </a:r>
          </a:p>
        </p:txBody>
      </p:sp>
      <p:sp>
        <p:nvSpPr>
          <p:cNvPr id="11" name="Use the shared evidence.">
            <a:extLst xmlns:a="http://schemas.openxmlformats.org/drawingml/2006/main">
              <a:ext uri="{FF2B5EF4-FFF2-40B4-BE49-F238E27FC236}">
                <a16:creationId xmlns:a16="http://schemas.microsoft.com/office/drawing/2014/main" id="{D8E9AD96-631C-491F-8B93-5FEBD1FC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shared evidence.</a:t>
            </a:r>
          </a:p>
        </p:txBody>
      </p:sp>
      <p:sp>
        <p:nvSpPr>
          <p:cNvPr id="12" name="Explain one choice.">
            <a:extLst xmlns:a="http://schemas.openxmlformats.org/drawingml/2006/main">
              <a:ext uri="{FF2B5EF4-FFF2-40B4-BE49-F238E27FC236}">
                <a16:creationId xmlns:a16="http://schemas.microsoft.com/office/drawing/2014/main" id="{7A157BD1-C042-421C-8305-8B15D649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one choice.</a:t>
            </a:r>
          </a:p>
        </p:txBody>
      </p:sp>
      <p:sp>
        <p:nvSpPr>
          <p:cNvPr id="13" name="Check a label or number.">
            <a:extLst xmlns:a="http://schemas.openxmlformats.org/drawingml/2006/main">
              <a:ext uri="{FF2B5EF4-FFF2-40B4-BE49-F238E27FC236}">
                <a16:creationId xmlns:a16="http://schemas.microsoft.com/office/drawing/2014/main" id="{02D64FC0-3C7C-41D0-928B-B0F0EA98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a label or number.</a:t>
            </a:r>
          </a:p>
        </p:txBody>
      </p:sp>
    </p:spTree>
    <p:extLst>
      <p:ext uri="{BB962C8B-B14F-4D97-AF65-F5344CB8AC3E}">
        <p14:creationId xmlns:p14="http://schemas.microsoft.com/office/powerpoint/2010/main" val="16134827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718638BF-C135-454F-A3A5-A61D0A7C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5ED0836-9166-4E2C-AF48-EA94193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B2C9D6A-A4EE-4B15-810F-C04FCC53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1E9286B-2AEA-4847-A026-CF8F2AC3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D09F7B4C-3645-4CB1-A865-83C61A91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what the evidence can show">
            <a:extLst xmlns:a="http://schemas.openxmlformats.org/drawingml/2006/main">
              <a:ext uri="{FF2B5EF4-FFF2-40B4-BE49-F238E27FC236}">
                <a16:creationId xmlns:a16="http://schemas.microsoft.com/office/drawing/2014/main" id="{637CEC78-F656-4972-9FB2-35AF0167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what the evidence can show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FEE82B7F-B87C-4AD8-9783-CFFE7961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3825E62D-FDA6-4E86-870A-42EA5387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9" name="11 / 14">
            <a:extLst xmlns:a="http://schemas.openxmlformats.org/drawingml/2006/main">
              <a:ext uri="{FF2B5EF4-FFF2-40B4-BE49-F238E27FC236}">
                <a16:creationId xmlns:a16="http://schemas.microsoft.com/office/drawing/2014/main" id="{62C0A64B-0082-4D36-99FB-9A736867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14</a:t>
            </a:r>
          </a:p>
        </p:txBody>
      </p:sp>
      <p:sp>
        <p:nvSpPr>
          <p:cNvPr id="10" name="Point to the clue you used.">
            <a:extLst xmlns:a="http://schemas.openxmlformats.org/drawingml/2006/main">
              <a:ext uri="{FF2B5EF4-FFF2-40B4-BE49-F238E27FC236}">
                <a16:creationId xmlns:a16="http://schemas.microsoft.com/office/drawing/2014/main" id="{89C02D7B-44B2-4AA5-8546-15C5EA8B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Point to the clue you used.</a:t>
            </a:r>
          </a:p>
        </p:txBody>
      </p:sp>
      <p:sp>
        <p:nvSpPr>
          <p:cNvPr id="11" name="Remove an unsupported claim.">
            <a:extLst xmlns:a="http://schemas.openxmlformats.org/drawingml/2006/main">
              <a:ext uri="{FF2B5EF4-FFF2-40B4-BE49-F238E27FC236}">
                <a16:creationId xmlns:a16="http://schemas.microsoft.com/office/drawing/2014/main" id="{4E8C83A7-5F83-43D7-831F-8F4942FC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Remove an unsupported claim.</a:t>
            </a:r>
          </a:p>
        </p:txBody>
      </p:sp>
    </p:spTree>
    <p:extLst>
      <p:ext uri="{BB962C8B-B14F-4D97-AF65-F5344CB8AC3E}">
        <p14:creationId xmlns:p14="http://schemas.microsoft.com/office/powerpoint/2010/main" val="10665111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8177A419-CA2D-402B-A78F-4FE56EEF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8825800-EF97-444B-8C00-9D5FE8C2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D322061-0850-4F42-A5BF-9AAB9F00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4F2FCA7-8E43-42B2-9B41-788B1300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89FE67DF-279D-43F3-98E8-DF8FC6F7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9CCF8463-4B29-44EF-9A3D-5F364180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Lundy loop: improve the shared account">
            <a:extLst xmlns:a="http://schemas.openxmlformats.org/drawingml/2006/main">
              <a:ext uri="{FF2B5EF4-FFF2-40B4-BE49-F238E27FC236}">
                <a16:creationId xmlns:a16="http://schemas.microsoft.com/office/drawing/2014/main" id="{9BCD9DD9-E16D-4A01-9101-45C4C171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Lundy loop: improve the shared account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4BF9FE0-F1BC-4FD1-A582-43E33BF3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549B8361-B49F-430F-8F08-FAAD546F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10" name="12 / 14">
            <a:extLst xmlns:a="http://schemas.openxmlformats.org/drawingml/2006/main">
              <a:ext uri="{FF2B5EF4-FFF2-40B4-BE49-F238E27FC236}">
                <a16:creationId xmlns:a16="http://schemas.microsoft.com/office/drawing/2014/main" id="{8236E89A-57EC-4652-9950-55DFBE99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14</a:t>
            </a:r>
          </a:p>
        </p:txBody>
      </p:sp>
      <p:sp>
        <p:nvSpPr>
          <p:cNvPr id="11" name="Choose how to share.">
            <a:extLst xmlns:a="http://schemas.openxmlformats.org/drawingml/2006/main">
              <a:ext uri="{FF2B5EF4-FFF2-40B4-BE49-F238E27FC236}">
                <a16:creationId xmlns:a16="http://schemas.microsoft.com/office/drawing/2014/main" id="{73804048-6DB7-4178-8491-DCAB68A3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how to share.</a:t>
            </a:r>
          </a:p>
        </p:txBody>
      </p:sp>
      <p:sp>
        <p:nvSpPr>
          <p:cNvPr id="12" name="Hear one evidence-based challenge.">
            <a:extLst xmlns:a="http://schemas.openxmlformats.org/drawingml/2006/main">
              <a:ext uri="{FF2B5EF4-FFF2-40B4-BE49-F238E27FC236}">
                <a16:creationId xmlns:a16="http://schemas.microsoft.com/office/drawing/2014/main" id="{7E440668-1FDD-462A-9036-2AD8C581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Hear one evidence-based challenge.</a:t>
            </a:r>
          </a:p>
        </p:txBody>
      </p:sp>
      <p:sp>
        <p:nvSpPr>
          <p:cNvPr id="13" name="Improve or defend one idea.">
            <a:extLst xmlns:a="http://schemas.openxmlformats.org/drawingml/2006/main">
              <a:ext uri="{FF2B5EF4-FFF2-40B4-BE49-F238E27FC236}">
                <a16:creationId xmlns:a16="http://schemas.microsoft.com/office/drawing/2014/main" id="{5048A908-45BF-4E98-9240-779A9B47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or defend one idea.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CC03951E-E97B-445F-ADF0-13A8375B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92892504-BA2C-421C-8D78-EF07755D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6" name="Which repair would make the eventual evidence more useful?">
            <a:extLst xmlns:a="http://schemas.openxmlformats.org/drawingml/2006/main">
              <a:ext uri="{FF2B5EF4-FFF2-40B4-BE49-F238E27FC236}">
                <a16:creationId xmlns:a16="http://schemas.microsoft.com/office/drawing/2014/main" id="{87064394-15BD-497F-A8E3-20BB1DA4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Which repair would make the eventual evidence more useful?</a:t>
            </a:r>
          </a:p>
        </p:txBody>
      </p:sp>
    </p:spTree>
    <p:extLst>
      <p:ext uri="{BB962C8B-B14F-4D97-AF65-F5344CB8AC3E}">
        <p14:creationId xmlns:p14="http://schemas.microsoft.com/office/powerpoint/2010/main" val="16786358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2E6773CA-0F68-43A8-BF62-59B5A75B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27C1A0E-E492-48C7-B5AE-71F4DCB5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48FCF1A-9D2F-4D6F-8399-D4EF6341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D285303E-1FBB-44B8-B828-7B3E1D8A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661D5B31-7A04-4F13-8C7F-28BF8BD7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Keep the useful change">
            <a:extLst xmlns:a="http://schemas.openxmlformats.org/drawingml/2006/main">
              <a:ext uri="{FF2B5EF4-FFF2-40B4-BE49-F238E27FC236}">
                <a16:creationId xmlns:a16="http://schemas.microsoft.com/office/drawing/2014/main" id="{DBC1464C-56FD-4E06-9AB3-37C69EC8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useful change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D74C895C-2BCF-4183-8F1E-7BE3FC12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243D7928-681C-42B9-98FD-927C08C4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9" name="13 / 14">
            <a:extLst xmlns:a="http://schemas.openxmlformats.org/drawingml/2006/main">
              <a:ext uri="{FF2B5EF4-FFF2-40B4-BE49-F238E27FC236}">
                <a16:creationId xmlns:a16="http://schemas.microsoft.com/office/drawing/2014/main" id="{71ABEE92-1F44-431F-96B2-82085094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14</a:t>
            </a:r>
          </a:p>
        </p:txBody>
      </p:sp>
      <p:sp>
        <p:nvSpPr>
          <p:cNvPr id="10" name="What changed in our account?">
            <a:extLst xmlns:a="http://schemas.openxmlformats.org/drawingml/2006/main">
              <a:ext uri="{FF2B5EF4-FFF2-40B4-BE49-F238E27FC236}">
                <a16:creationId xmlns:a16="http://schemas.microsoft.com/office/drawing/2014/main" id="{5EF17920-70BB-4037-B8B9-6DA1B403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changed in our account?</a:t>
            </a:r>
          </a:p>
        </p:txBody>
      </p:sp>
      <p:sp>
        <p:nvSpPr>
          <p:cNvPr id="11" name="Which evidence helped?">
            <a:extLst xmlns:a="http://schemas.openxmlformats.org/drawingml/2006/main">
              <a:ext uri="{FF2B5EF4-FFF2-40B4-BE49-F238E27FC236}">
                <a16:creationId xmlns:a16="http://schemas.microsoft.com/office/drawing/2014/main" id="{5C0DD7CD-E660-4CEA-BD79-15B0A3E4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evidence helped?</a:t>
            </a:r>
          </a:p>
        </p:txBody>
      </p:sp>
    </p:spTree>
    <p:extLst>
      <p:ext uri="{BB962C8B-B14F-4D97-AF65-F5344CB8AC3E}">
        <p14:creationId xmlns:p14="http://schemas.microsoft.com/office/powerpoint/2010/main" val="7321376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449DF36-7D0F-4E4C-9A51-61D76A9A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B629E2F-CF8B-41BF-8646-81190C13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ECDF41A-4DA6-471C-8656-BD9F96F4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119472F4-C73A-480E-B97D-63D50DBF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559FBC5A-649C-46B2-9732-E08F5AE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66D89AC1-572D-4D6C-9EA2-D696158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final checks">
            <a:extLst xmlns:a="http://schemas.openxmlformats.org/drawingml/2006/main">
              <a:ext uri="{FF2B5EF4-FFF2-40B4-BE49-F238E27FC236}">
                <a16:creationId xmlns:a16="http://schemas.microsoft.com/office/drawing/2014/main" id="{4FE418F0-3C5B-441A-A35D-2B732919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final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5B68051-1055-4314-B7A4-7EAB841B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water-trial planning board">
            <a:extLst xmlns:a="http://schemas.openxmlformats.org/drawingml/2006/main">
              <a:ext uri="{FF2B5EF4-FFF2-40B4-BE49-F238E27FC236}">
                <a16:creationId xmlns:a16="http://schemas.microsoft.com/office/drawing/2014/main" id="{A62A3DC7-975A-4B22-82BC-EE077084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water-trial planning board</a:t>
            </a:r>
          </a:p>
        </p:txBody>
      </p:sp>
      <p:sp>
        <p:nvSpPr>
          <p:cNvPr id="10" name="14 / 14">
            <a:extLst xmlns:a="http://schemas.openxmlformats.org/drawingml/2006/main">
              <a:ext uri="{FF2B5EF4-FFF2-40B4-BE49-F238E27FC236}">
                <a16:creationId xmlns:a16="http://schemas.microsoft.com/office/drawing/2014/main" id="{6D2EF250-FEA8-4B34-84E6-DFAFBF5F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14</a:t>
            </a:r>
          </a:p>
        </p:txBody>
      </p:sp>
      <p:sp>
        <p:nvSpPr>
          <p:cNvPr id="11" name="E1. What factor is this plan changing?">
            <a:extLst xmlns:a="http://schemas.openxmlformats.org/drawingml/2006/main">
              <a:ext uri="{FF2B5EF4-FFF2-40B4-BE49-F238E27FC236}">
                <a16:creationId xmlns:a16="http://schemas.microsoft.com/office/drawing/2014/main" id="{9004C165-B64B-40AA-8CD2-B12A2A40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What factor is this plan changing?</a:t>
            </a:r>
          </a:p>
        </p:txBody>
      </p:sp>
      <p:sp>
        <p:nvSpPr>
          <p:cNvPr id="12" name="E2. Why use three plants per group?">
            <a:extLst xmlns:a="http://schemas.openxmlformats.org/drawingml/2006/main">
              <a:ext uri="{FF2B5EF4-FFF2-40B4-BE49-F238E27FC236}">
                <a16:creationId xmlns:a16="http://schemas.microsoft.com/office/drawing/2014/main" id="{514B56B3-F8B2-4FB8-B516-6923E433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Why use three plants per group?</a:t>
            </a:r>
          </a:p>
        </p:txBody>
      </p:sp>
      <p:sp>
        <p:nvSpPr>
          <p:cNvPr id="13" name="E3. Should a prediction be copied into the results as a measurem">
            <a:extLst xmlns:a="http://schemas.openxmlformats.org/drawingml/2006/main">
              <a:ext uri="{FF2B5EF4-FFF2-40B4-BE49-F238E27FC236}">
                <a16:creationId xmlns:a16="http://schemas.microsoft.com/office/drawing/2014/main" id="{F398A652-9592-48CD-BCAE-D1556755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Should a prediction be copied into the results as a measurement?</a:t>
            </a:r>
          </a:p>
        </p:txBody>
      </p:sp>
    </p:spTree>
    <p:extLst>
      <p:ext uri="{BB962C8B-B14F-4D97-AF65-F5344CB8AC3E}">
        <p14:creationId xmlns:p14="http://schemas.microsoft.com/office/powerpoint/2010/main" val="1608580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2026-09-08T23:48:54.9380000Z</dcterms:created>
  <dcterms:modified xsi:type="dcterms:W3CDTF">2026-09-08T23:48:54.9380000Z</dcterms:modified>
</coreProperties>
</file>