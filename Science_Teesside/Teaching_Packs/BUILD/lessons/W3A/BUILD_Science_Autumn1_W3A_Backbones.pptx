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6e11c19be664a19" /><Relationship Type="http://schemas.openxmlformats.org/officeDocument/2006/relationships/extended-properties" Target="/docProps/app.xml" Id="Rabbd5d80d4f3477d" /><Relationship Type="http://schemas.openxmlformats.org/officeDocument/2006/relationships/officeDocument" Target="/ppt/presentation.xml" Id="R02f8d98f70a64ff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87c0f0cb1fa47a2"/>
  </p:sldMasterIdLst>
  <p:notesMasterIdLst>
    <p:notesMasterId xmlns:r="http://schemas.openxmlformats.org/officeDocument/2006/relationships" r:id="R01a45cda59f94688"/>
  </p:notesMasterIdLst>
  <p:sldIdLst>
    <p:sldId xmlns:r="http://schemas.openxmlformats.org/officeDocument/2006/relationships" id="256" r:id="R1b1b1ae6122a441c"/>
    <p:sldId xmlns:r="http://schemas.openxmlformats.org/officeDocument/2006/relationships" id="257" r:id="Rece6a0639c48494a"/>
    <p:sldId xmlns:r="http://schemas.openxmlformats.org/officeDocument/2006/relationships" id="258" r:id="Rabd76c2f80584b93"/>
    <p:sldId xmlns:r="http://schemas.openxmlformats.org/officeDocument/2006/relationships" id="259" r:id="R7d1dbe340a52495e"/>
    <p:sldId xmlns:r="http://schemas.openxmlformats.org/officeDocument/2006/relationships" id="260" r:id="Rf776d9df9e6042da"/>
    <p:sldId xmlns:r="http://schemas.openxmlformats.org/officeDocument/2006/relationships" id="261" r:id="Re1fff7dba29b4085"/>
    <p:sldId xmlns:r="http://schemas.openxmlformats.org/officeDocument/2006/relationships" id="262" r:id="R3226b876b92f4731"/>
    <p:sldId xmlns:r="http://schemas.openxmlformats.org/officeDocument/2006/relationships" id="263" r:id="Rd694e1a7ad7a44af"/>
    <p:sldId xmlns:r="http://schemas.openxmlformats.org/officeDocument/2006/relationships" id="264" r:id="R7380a467b2eb4f1a"/>
    <p:sldId xmlns:r="http://schemas.openxmlformats.org/officeDocument/2006/relationships" id="265" r:id="R04a431f4ec2b4516"/>
    <p:sldId xmlns:r="http://schemas.openxmlformats.org/officeDocument/2006/relationships" id="266" r:id="R170629fe2409489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f2b1d966b964353" /><Relationship Type="http://schemas.openxmlformats.org/officeDocument/2006/relationships/slideMaster" Target="/ppt/slideMasters/slideMaster1.xml" Id="Re87c0f0cb1fa47a2" /><Relationship Type="http://schemas.openxmlformats.org/officeDocument/2006/relationships/notesMaster" Target="/ppt/notesMasters/notesMaster1.xml" Id="R01a45cda59f94688" /><Relationship Type="http://schemas.openxmlformats.org/officeDocument/2006/relationships/presProps" Target="/ppt/presProps.xml" Id="R85f308dae88846c5" /><Relationship Type="http://schemas.openxmlformats.org/officeDocument/2006/relationships/tableStyles" Target="/ppt/tableStyles.xml" Id="R3ea0cc0c057342af" /><Relationship Type="http://schemas.openxmlformats.org/officeDocument/2006/relationships/slide" Target="/ppt/slides/slide1.xml" Id="R1b1b1ae6122a441c" /><Relationship Type="http://schemas.openxmlformats.org/officeDocument/2006/relationships/slide" Target="/ppt/slides/slide2.xml" Id="Rece6a0639c48494a" /><Relationship Type="http://schemas.openxmlformats.org/officeDocument/2006/relationships/slide" Target="/ppt/slides/slide3.xml" Id="Rabd76c2f80584b93" /><Relationship Type="http://schemas.openxmlformats.org/officeDocument/2006/relationships/slide" Target="/ppt/slides/slide4.xml" Id="R7d1dbe340a52495e" /><Relationship Type="http://schemas.openxmlformats.org/officeDocument/2006/relationships/slide" Target="/ppt/slides/slide5.xml" Id="Rf776d9df9e6042da" /><Relationship Type="http://schemas.openxmlformats.org/officeDocument/2006/relationships/slide" Target="/ppt/slides/slide6.xml" Id="Re1fff7dba29b4085" /><Relationship Type="http://schemas.openxmlformats.org/officeDocument/2006/relationships/slide" Target="/ppt/slides/slide7.xml" Id="R3226b876b92f4731" /><Relationship Type="http://schemas.openxmlformats.org/officeDocument/2006/relationships/slide" Target="/ppt/slides/slide8.xml" Id="Rd694e1a7ad7a44af" /><Relationship Type="http://schemas.openxmlformats.org/officeDocument/2006/relationships/slide" Target="/ppt/slides/slide9.xml" Id="R7380a467b2eb4f1a" /><Relationship Type="http://schemas.openxmlformats.org/officeDocument/2006/relationships/slide" Target="/ppt/slides/slide10.xml" Id="R04a431f4ec2b4516" /><Relationship Type="http://schemas.openxmlformats.org/officeDocument/2006/relationships/slide" Target="/ppt/slides/slide11.xml" Id="R170629fe2409489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e8dc78dc9b04c0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596296a248148b5" /><Relationship Type="http://schemas.openxmlformats.org/officeDocument/2006/relationships/notesMaster" Target="/ppt/notesMasters/notesMaster1.xml" Id="Rb4cb33b6a873436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99a1a3dc7914e6d" /><Relationship Type="http://schemas.openxmlformats.org/officeDocument/2006/relationships/notesMaster" Target="/ppt/notesMasters/notesMaster1.xml" Id="Rd844f2c71b66451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5f2b681137841ec" /><Relationship Type="http://schemas.openxmlformats.org/officeDocument/2006/relationships/notesMaster" Target="/ppt/notesMasters/notesMaster1.xml" Id="R8ac3e1a5ffc0488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7767213191f458d" /><Relationship Type="http://schemas.openxmlformats.org/officeDocument/2006/relationships/notesMaster" Target="/ppt/notesMasters/notesMaster1.xml" Id="R89a44b51f8c8420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95a298877d649c3" /><Relationship Type="http://schemas.openxmlformats.org/officeDocument/2006/relationships/notesMaster" Target="/ppt/notesMasters/notesMaster1.xml" Id="Rd3ce0f4e6283436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cf37870114c406b" /><Relationship Type="http://schemas.openxmlformats.org/officeDocument/2006/relationships/notesMaster" Target="/ppt/notesMasters/notesMaster1.xml" Id="R60d6dbd2c28f45c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a7406ee2f644097" /><Relationship Type="http://schemas.openxmlformats.org/officeDocument/2006/relationships/notesMaster" Target="/ppt/notesMasters/notesMaster1.xml" Id="R1a78689e9626436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1b487d2f2264957" /><Relationship Type="http://schemas.openxmlformats.org/officeDocument/2006/relationships/notesMaster" Target="/ppt/notesMasters/notesMaster1.xml" Id="R432f08dd28fa466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614489598f74b47" /><Relationship Type="http://schemas.openxmlformats.org/officeDocument/2006/relationships/notesMaster" Target="/ppt/notesMasters/notesMaster1.xml" Id="R45da755cdec74ca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47ad3edb384449d" /><Relationship Type="http://schemas.openxmlformats.org/officeDocument/2006/relationships/notesMaster" Target="/ppt/notesMasters/notesMaster1.xml" Id="Rf780e1f284d341f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8e6b8dd89a5430c" /><Relationship Type="http://schemas.openxmlformats.org/officeDocument/2006/relationships/notesMaster" Target="/ppt/notesMasters/notesMaster1.xml" Id="R21f5e9eccede449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Overview — 1 minutes within the source's 40-minute lesson.</a:t>
            </a:r>
          </a:p>
          <a:p xmlns:a="http://schemas.openxmlformats.org/drawingml/2006/main">
            <a:r>
              <a:t>Monday P3, 11:00-11:40. This one-minute overview is included in the 40-minute lesson.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https://github.com/MattRoper1977/Lessons/blob/main/Science_Teesside/Build/SCI_B_W3_Backbones.html</a:t>
            </a:r>
          </a:p>
          <a:p xmlns:a="http://schemas.openxmlformats.org/drawingml/2006/main">
            <a:r>
              <a:t>Git blob: 349b5b8637ba978dd594f77d80fbd7998dac1ff2.</a:t>
            </a:r>
          </a:p>
          <a:p xmlns:a="http://schemas.openxmlformats.org/drawingml/2006/main">
            <a:r>
              <a:t>SHA256: b3c0a0b3c66bfa199a9bce613bad2c7b5a35eaf97733e069fb5da8ebfe523442.</a:t>
            </a:r>
          </a:p>
          <a:p xmlns:a="http://schemas.openxmlformats.org/drawingml/2006/main">
            <a:r>
              <a:t>User-supplied logo: approved-logo.jpg (unchanged attachment bytes).</a:t>
            </a:r>
          </a:p>
          <a:p xmlns:a="http://schemas.openxmlformats.org/drawingml/2006/main">
            <a:r>
              <a:t>White Rose Education, Year 3 Autumn Block 1 (2024): Skeletons, steps 3-5; uploaded source lessons about animal bones, animals with/without a spine and comparing skeletons. Steps 1-2 provide optional prerequisite vocabulary; they are not relabelled as completed baseline teaching.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Arrival Task — 4 minutes within the source's 40-minute lesson.</a:t>
            </a:r>
          </a:p>
          <a:p xmlns:a="http://schemas.openxmlformats.org/drawingml/2006/main">
            <a:r>
              <a:t>Do not claim pupils learnt bones in Weeks 1-2: these were baseline weeks. Supported: offer fish/snail labels and read aloud. Standard: name an animal and predict. Stretch: name one possible example in each group. No checking of pupils’ own spines.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https://github.com/MattRoper1977/Lessons/blob/main/Science_Teesside/Build/SCI_B_W3_Backbones.html</a:t>
            </a:r>
          </a:p>
          <a:p xmlns:a="http://schemas.openxmlformats.org/drawingml/2006/main">
            <a:r>
              <a:t>Git blob: 349b5b8637ba978dd594f77d80fbd7998dac1ff2.</a:t>
            </a:r>
          </a:p>
          <a:p xmlns:a="http://schemas.openxmlformats.org/drawingml/2006/main">
            <a:r>
              <a:t>SHA256: b3c0a0b3c66bfa199a9bce613bad2c7b5a35eaf97733e069fb5da8ebfe523442.</a:t>
            </a:r>
          </a:p>
          <a:p xmlns:a="http://schemas.openxmlformats.org/drawingml/2006/main">
            <a:r>
              <a:t>User-supplied logo: approved-logo.jpg (unchanged attachment bytes).</a:t>
            </a:r>
          </a:p>
          <a:p xmlns:a="http://schemas.openxmlformats.org/drawingml/2006/main">
            <a:r>
              <a:t>White Rose Education, Year 3 Autumn Block 1 (2024): Skeletons, steps 3-5; uploaded source lessons about animal bones, animals with/without a spine and comparing skeletons. Steps 1-2 provide optional prerequisite vocabulary; they are not relabelled as completed baseline teaching.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Today at a Glance — 2 minutes within the source's 40-minute lesson.</a:t>
            </a:r>
          </a:p>
          <a:p xmlns:a="http://schemas.openxmlformats.org/drawingml/2006/main">
            <a:r>
              <a:t>Read the goal and introduce backbone, vertebrate and invertebrate orally. Pupils may point, sign, dictate or use an adult reader. This is the current Monday sequence; practical clue-card investigation is reserved for Wednesday.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https://github.com/MattRoper1977/Lessons/blob/main/Science_Teesside/Build/SCI_B_W3_Backbones.html</a:t>
            </a:r>
          </a:p>
          <a:p xmlns:a="http://schemas.openxmlformats.org/drawingml/2006/main">
            <a:r>
              <a:t>Git blob: 349b5b8637ba978dd594f77d80fbd7998dac1ff2.</a:t>
            </a:r>
          </a:p>
          <a:p xmlns:a="http://schemas.openxmlformats.org/drawingml/2006/main">
            <a:r>
              <a:t>SHA256: b3c0a0b3c66bfa199a9bce613bad2c7b5a35eaf97733e069fb5da8ebfe523442.</a:t>
            </a:r>
          </a:p>
          <a:p xmlns:a="http://schemas.openxmlformats.org/drawingml/2006/main">
            <a:r>
              <a:t>User-supplied logo: approved-logo.jpg (unchanged attachment bytes).</a:t>
            </a:r>
          </a:p>
          <a:p xmlns:a="http://schemas.openxmlformats.org/drawingml/2006/main">
            <a:r>
              <a:t>White Rose Education, Year 3 Autumn Block 1 (2024): Skeletons, steps 3-5; uploaded source lessons about animal bones, animals with/without a spine and comparing skeletons. Steps 1-2 provide optional prerequisite vocabulary; they are not relabelled as completed baseline teaching.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 1 — 5 minutes within the source's 40-minute lesson.</a:t>
            </a:r>
          </a:p>
          <a:p xmlns:a="http://schemas.openxmlformats.org/drawingml/2006/main">
            <a:r>
              <a:t>Original native schematic of a short section of backbone, not a complete animal skeleton or diagnostic image. Trace the sequence of small bones with a pointer. A fish has an internal backbone even though it has no legs. Explain that pictures alone may hide internal structures; we use the stated body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https://github.com/MattRoper1977/Lessons/blob/main/Science_Teesside/Build/SCI_B_W3_Backbones.html</a:t>
            </a:r>
          </a:p>
          <a:p xmlns:a="http://schemas.openxmlformats.org/drawingml/2006/main">
            <a:r>
              <a:t>Git blob: 349b5b8637ba978dd594f77d80fbd7998dac1ff2.</a:t>
            </a:r>
          </a:p>
          <a:p xmlns:a="http://schemas.openxmlformats.org/drawingml/2006/main">
            <a:r>
              <a:t>SHA256: b3c0a0b3c66bfa199a9bce613bad2c7b5a35eaf97733e069fb5da8ebfe523442.</a:t>
            </a:r>
          </a:p>
          <a:p xmlns:a="http://schemas.openxmlformats.org/drawingml/2006/main">
            <a:r>
              <a:t>User-supplied logo: approved-logo.jpg (unchanged attachment bytes).</a:t>
            </a:r>
          </a:p>
          <a:p xmlns:a="http://schemas.openxmlformats.org/drawingml/2006/main">
            <a:r>
              <a:t>White Rose Education, Year 3 Autumn Block 1 (2024): Skeletons, steps 3-5; uploaded source lessons about animal bones, animals with/without a spine and comparing skeletons. Steps 1-2 provide optional prerequisite vocabulary; they are not relabelled as completed baseline teaching.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 1b — 4 minutes within the source's 40-minute lesson.</a:t>
            </a:r>
          </a:p>
          <a:p xmlns:a="http://schemas.openxmlformats.org/drawingml/2006/main">
            <a:r>
              <a:t>Read a body-evidence card for each animal. A crab’s hard exoskeleton supports/protects it but is not an internal backbone. Invertebrate does not mean soft, small or unsupported. An earthworm can use muscles and fluid support. No live animals needed.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https://github.com/MattRoper1977/Lessons/blob/main/Science_Teesside/Build/SCI_B_W3_Backbones.html</a:t>
            </a:r>
          </a:p>
          <a:p xmlns:a="http://schemas.openxmlformats.org/drawingml/2006/main">
            <a:r>
              <a:t>Git blob: 349b5b8637ba978dd594f77d80fbd7998dac1ff2.</a:t>
            </a:r>
          </a:p>
          <a:p xmlns:a="http://schemas.openxmlformats.org/drawingml/2006/main">
            <a:r>
              <a:t>SHA256: b3c0a0b3c66bfa199a9bce613bad2c7b5a35eaf97733e069fb5da8ebfe523442.</a:t>
            </a:r>
          </a:p>
          <a:p xmlns:a="http://schemas.openxmlformats.org/drawingml/2006/main">
            <a:r>
              <a:t>User-supplied logo: approved-logo.jpg (unchanged attachment bytes).</a:t>
            </a:r>
          </a:p>
          <a:p xmlns:a="http://schemas.openxmlformats.org/drawingml/2006/main">
            <a:r>
              <a:t>White Rose Education, Year 3 Autumn Block 1 (2024): Skeletons, steps 3-5; uploaded source lessons about animal bones, animals with/without a spine and comparing skeletons. Steps 1-2 provide optional prerequisite vocabulary; they are not relabelled as completed baseline teaching.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 1 — first responses — 3 minutes within the source's 40-minute lesson.</a:t>
            </a:r>
          </a:p>
          <a:p xmlns:a="http://schemas.openxmlformats.org/drawingml/2006/main">
            <a:r>
              <a:t>Read each body clue, allow processing time and collect each pupil’s choice before confirming. Fish/frog = vertebrate; snail = invertebrate. Optional verbal clues and movable labels replace online animation. Ask which evidence made the decision possible.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https://github.com/MattRoper1977/Lessons/blob/main/Science_Teesside/Build/SCI_B_W3_Backbones.html</a:t>
            </a:r>
          </a:p>
          <a:p xmlns:a="http://schemas.openxmlformats.org/drawingml/2006/main">
            <a:r>
              <a:t>Git blob: 349b5b8637ba978dd594f77d80fbd7998dac1ff2.</a:t>
            </a:r>
          </a:p>
          <a:p xmlns:a="http://schemas.openxmlformats.org/drawingml/2006/main">
            <a:r>
              <a:t>SHA256: b3c0a0b3c66bfa199a9bce613bad2c7b5a35eaf97733e069fb5da8ebfe523442.</a:t>
            </a:r>
          </a:p>
          <a:p xmlns:a="http://schemas.openxmlformats.org/drawingml/2006/main">
            <a:r>
              <a:t>User-supplied logo: approved-logo.jpg (unchanged attachment bytes).</a:t>
            </a:r>
          </a:p>
          <a:p xmlns:a="http://schemas.openxmlformats.org/drawingml/2006/main">
            <a:r>
              <a:t>White Rose Education, Year 3 Autumn Block 1 (2024): Skeletons, steps 3-5; uploaded source lessons about animal bones, animals with/without a spine and comparing skeletons. Steps 1-2 provide optional prerequisite vocabulary; they are not relabelled as completed baseline teaching.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 1 — second responses — 3 minutes within the source's 40-minute lesson.</a:t>
            </a:r>
          </a:p>
          <a:p xmlns:a="http://schemas.openxmlformats.org/drawingml/2006/main">
            <a:r>
              <a:t>Mouse = vertebrate; crab/earthworm = invertebrate. The tiny mouse counters size-based guessing. Explain that a shell or outer case is useful support but is not a spine. Correct the rule gently rather than describing a pupil as wrong.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https://github.com/MattRoper1977/Lessons/blob/main/Science_Teesside/Build/SCI_B_W3_Backbones.html</a:t>
            </a:r>
          </a:p>
          <a:p xmlns:a="http://schemas.openxmlformats.org/drawingml/2006/main">
            <a:r>
              <a:t>Git blob: 349b5b8637ba978dd594f77d80fbd7998dac1ff2.</a:t>
            </a:r>
          </a:p>
          <a:p xmlns:a="http://schemas.openxmlformats.org/drawingml/2006/main">
            <a:r>
              <a:t>SHA256: b3c0a0b3c66bfa199a9bce613bad2c7b5a35eaf97733e069fb5da8ebfe523442.</a:t>
            </a:r>
          </a:p>
          <a:p xmlns:a="http://schemas.openxmlformats.org/drawingml/2006/main">
            <a:r>
              <a:t>User-supplied logo: approved-logo.jpg (unchanged attachment bytes).</a:t>
            </a:r>
          </a:p>
          <a:p xmlns:a="http://schemas.openxmlformats.org/drawingml/2006/main">
            <a:r>
              <a:t>White Rose Education, Year 3 Autumn Block 1 (2024): Skeletons, steps 3-5; uploaded source lessons about animal bones, animals with/without a spine and comparing skeletons. Steps 1-2 provide optional prerequisite vocabulary; they are not relabelled as completed baseline teaching.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 1b — 4 minutes within the source's 40-minute lesson.</a:t>
            </a:r>
          </a:p>
          <a:p xmlns:a="http://schemas.openxmlformats.org/drawingml/2006/main">
            <a:r>
              <a:t>Ask pupils to identify the shared evidence. Contrast a mouse and a large lobster if helpful: body size cannot decide the group. Use these four named examples; do not infer classifications from appearance alone.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https://github.com/MattRoper1977/Lessons/blob/main/Science_Teesside/Build/SCI_B_W3_Backbones.html</a:t>
            </a:r>
          </a:p>
          <a:p xmlns:a="http://schemas.openxmlformats.org/drawingml/2006/main">
            <a:r>
              <a:t>Git blob: 349b5b8637ba978dd594f77d80fbd7998dac1ff2.</a:t>
            </a:r>
          </a:p>
          <a:p xmlns:a="http://schemas.openxmlformats.org/drawingml/2006/main">
            <a:r>
              <a:t>SHA256: b3c0a0b3c66bfa199a9bce613bad2c7b5a35eaf97733e069fb5da8ebfe523442.</a:t>
            </a:r>
          </a:p>
          <a:p xmlns:a="http://schemas.openxmlformats.org/drawingml/2006/main">
            <a:r>
              <a:t>User-supplied logo: approved-logo.jpg (unchanged attachment bytes).</a:t>
            </a:r>
          </a:p>
          <a:p xmlns:a="http://schemas.openxmlformats.org/drawingml/2006/main">
            <a:r>
              <a:t>White Rose Education, Year 3 Autumn Block 1 (2024): Skeletons, steps 3-5; uploaded source lessons about animal bones, animals with/without a spine and comparing skeletons. Steps 1-2 provide optional prerequisite vocabulary; they are not relabelled as completed baseline teaching.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 2 — 4 minutes within the source's 40-minute lesson.</a:t>
            </a:r>
          </a:p>
          <a:p xmlns:a="http://schemas.openxmlformats.org/drawingml/2006/main">
            <a:r>
              <a:t>Model the source evidence loop. Supported: point to group and backbone clue; adult repeats pupil meaning. Standard: complete because sentence. Stretch: contrast why a hard outer case would not prove a backbone. A recorded pupil explanation is stronger evidence than a photo of a sort alone.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https://github.com/MattRoper1977/Lessons/blob/main/Science_Teesside/Build/SCI_B_W3_Backbones.html</a:t>
            </a:r>
          </a:p>
          <a:p xmlns:a="http://schemas.openxmlformats.org/drawingml/2006/main">
            <a:r>
              <a:t>Git blob: 349b5b8637ba978dd594f77d80fbd7998dac1ff2.</a:t>
            </a:r>
          </a:p>
          <a:p xmlns:a="http://schemas.openxmlformats.org/drawingml/2006/main">
            <a:r>
              <a:t>SHA256: b3c0a0b3c66bfa199a9bce613bad2c7b5a35eaf97733e069fb5da8ebfe523442.</a:t>
            </a:r>
          </a:p>
          <a:p xmlns:a="http://schemas.openxmlformats.org/drawingml/2006/main">
            <a:r>
              <a:t>User-supplied logo: approved-logo.jpg (unchanged attachment bytes).</a:t>
            </a:r>
          </a:p>
          <a:p xmlns:a="http://schemas.openxmlformats.org/drawingml/2006/main">
            <a:r>
              <a:t>White Rose Education, Year 3 Autumn Block 1 (2024): Skeletons, steps 3-5; uploaded source lessons about animal bones, animals with/without a spine and comparing skeletons. Steps 1-2 provide optional prerequisite vocabulary; they are not relabelled as completed baseline teaching.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 2 — sort — 5 minutes within the source's 40-minute lesson.</a:t>
            </a:r>
          </a:p>
          <a:p xmlns:a="http://schemas.openxmlformats.org/drawingml/2006/main">
            <a:r>
              <a:t>Worksheet supplies body evidence for each animal. Bat/snake = vertebrate; crab/jellyfish = invertebrate. The only reliable diagnostic criterion among these three is internal backbone. Size and fur are not universal tests. Let pupils place or direct labels before reveal; this is an original paper version of the source classification activity.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https://github.com/MattRoper1977/Lessons/blob/main/Science_Teesside/Build/SCI_B_W3_Backbones.html</a:t>
            </a:r>
          </a:p>
          <a:p xmlns:a="http://schemas.openxmlformats.org/drawingml/2006/main">
            <a:r>
              <a:t>Git blob: 349b5b8637ba978dd594f77d80fbd7998dac1ff2.</a:t>
            </a:r>
          </a:p>
          <a:p xmlns:a="http://schemas.openxmlformats.org/drawingml/2006/main">
            <a:r>
              <a:t>SHA256: b3c0a0b3c66bfa199a9bce613bad2c7b5a35eaf97733e069fb5da8ebfe523442.</a:t>
            </a:r>
          </a:p>
          <a:p xmlns:a="http://schemas.openxmlformats.org/drawingml/2006/main">
            <a:r>
              <a:t>User-supplied logo: approved-logo.jpg (unchanged attachment bytes).</a:t>
            </a:r>
          </a:p>
          <a:p xmlns:a="http://schemas.openxmlformats.org/drawingml/2006/main">
            <a:r>
              <a:t>White Rose Education, Year 3 Autumn Block 1 (2024): Skeletons, steps 3-5; uploaded source lessons about animal bones, animals with/without a spine and comparing skeletons. Steps 1-2 provide optional prerequisite vocabulary; they are not relabelled as completed baseline teaching.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 2 — explain and save — 5 minutes within the source's 40-minute lesson.</a:t>
            </a:r>
          </a:p>
          <a:p xmlns:a="http://schemas.openxmlformats.org/drawingml/2006/main">
            <a:r>
              <a:t>Five minutes completes source ten-minute We Do 2. Include checking rather than additional timed exit. Ask whether size, fur or legs prove the claim; they do not. Learner can pass or speak privately. End Monday here, retaining one explanation and the sort for the Wednesday evidence workshop.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https://github.com/MattRoper1977/Lessons/blob/main/Science_Teesside/Build/SCI_B_W3_Backbones.html</a:t>
            </a:r>
          </a:p>
          <a:p xmlns:a="http://schemas.openxmlformats.org/drawingml/2006/main">
            <a:r>
              <a:t>Git blob: 349b5b8637ba978dd594f77d80fbd7998dac1ff2.</a:t>
            </a:r>
          </a:p>
          <a:p xmlns:a="http://schemas.openxmlformats.org/drawingml/2006/main">
            <a:r>
              <a:t>SHA256: b3c0a0b3c66bfa199a9bce613bad2c7b5a35eaf97733e069fb5da8ebfe523442.</a:t>
            </a:r>
          </a:p>
          <a:p xmlns:a="http://schemas.openxmlformats.org/drawingml/2006/main">
            <a:r>
              <a:t>User-supplied logo: approved-logo.jpg (unchanged attachment bytes).</a:t>
            </a:r>
          </a:p>
          <a:p xmlns:a="http://schemas.openxmlformats.org/drawingml/2006/main">
            <a:r>
              <a:t>White Rose Education, Year 3 Autumn Block 1 (2024): Skeletons, steps 3-5; uploaded source lessons about animal bones, animals with/without a spine and comparing skeletons. Steps 1-2 provide optional prerequisite vocabulary; they are not relabelled as completed baseline teaching.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aa99bbb81242c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b8869748f444a42" /><Relationship Type="http://schemas.openxmlformats.org/officeDocument/2006/relationships/slideLayout" Target="/ppt/slideLayouts/slideLayout1.xml" Id="Rd236859869fb44b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236859869fb44b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2f582c022f472f" /><Relationship Type="http://schemas.openxmlformats.org/officeDocument/2006/relationships/image" Target="/ppt/media/image.jpeg" Id="Ra742187a61824acb" /><Relationship Type="http://schemas.openxmlformats.org/officeDocument/2006/relationships/notesSlide" Target="/ppt/notesSlides/notesSlide1.xml" Id="R4a8fc72dbc6e425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8b1e8c19b647ce" /><Relationship Type="http://schemas.openxmlformats.org/officeDocument/2006/relationships/image" Target="/ppt/media/image.jpeg" Id="R3705b2b1065241a3" /><Relationship Type="http://schemas.openxmlformats.org/officeDocument/2006/relationships/notesSlide" Target="/ppt/notesSlides/notesSlide2.xml" Id="R83dd27e297cb4ff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43b4a1011842ea" /><Relationship Type="http://schemas.openxmlformats.org/officeDocument/2006/relationships/image" Target="/ppt/media/image.jpeg" Id="Rdce0f98e8ba94221" /><Relationship Type="http://schemas.openxmlformats.org/officeDocument/2006/relationships/notesSlide" Target="/ppt/notesSlides/notesSlide3.xml" Id="R5b44ab0b5b9b419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0f57612b144884" /><Relationship Type="http://schemas.openxmlformats.org/officeDocument/2006/relationships/image" Target="/ppt/media/image.jpeg" Id="R532bb0fc1e484c7d" /><Relationship Type="http://schemas.openxmlformats.org/officeDocument/2006/relationships/notesSlide" Target="/ppt/notesSlides/notesSlide4.xml" Id="R34bb763ee52c482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d1b95ae6c542b1" /><Relationship Type="http://schemas.openxmlformats.org/officeDocument/2006/relationships/image" Target="/ppt/media/image.jpeg" Id="R0f5c5512af214285" /><Relationship Type="http://schemas.openxmlformats.org/officeDocument/2006/relationships/notesSlide" Target="/ppt/notesSlides/notesSlide5.xml" Id="R92f43d8209ff4fc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a0db46dcf34736" /><Relationship Type="http://schemas.openxmlformats.org/officeDocument/2006/relationships/image" Target="/ppt/media/image.jpeg" Id="Rdda1bde3f57f4584" /><Relationship Type="http://schemas.openxmlformats.org/officeDocument/2006/relationships/notesSlide" Target="/ppt/notesSlides/notesSlide6.xml" Id="Re050eb72a6104c3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ff3c032eee4116" /><Relationship Type="http://schemas.openxmlformats.org/officeDocument/2006/relationships/image" Target="/ppt/media/image.jpeg" Id="Rb2c2584b7fd0423b" /><Relationship Type="http://schemas.openxmlformats.org/officeDocument/2006/relationships/notesSlide" Target="/ppt/notesSlides/notesSlide7.xml" Id="Re2b9ccd0ae74455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4eb46ea7d34c70" /><Relationship Type="http://schemas.openxmlformats.org/officeDocument/2006/relationships/image" Target="/ppt/media/image.jpeg" Id="Rb1b68d5727c64637" /><Relationship Type="http://schemas.openxmlformats.org/officeDocument/2006/relationships/notesSlide" Target="/ppt/notesSlides/notesSlide8.xml" Id="Re0b930840bd84f5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abc60f49e44d08" /><Relationship Type="http://schemas.openxmlformats.org/officeDocument/2006/relationships/image" Target="/ppt/media/image.jpeg" Id="R34fe384b72cb40b9" /><Relationship Type="http://schemas.openxmlformats.org/officeDocument/2006/relationships/notesSlide" Target="/ppt/notesSlides/notesSlide9.xml" Id="R1e338ce7d32045b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1775744b1a43a3" /><Relationship Type="http://schemas.openxmlformats.org/officeDocument/2006/relationships/image" Target="/ppt/media/image.jpeg" Id="Rc534a565238a4398" /><Relationship Type="http://schemas.openxmlformats.org/officeDocument/2006/relationships/notesSlide" Target="/ppt/notesSlides/notesSlide10.xml" Id="Rc4200405f77c48a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ff305b10314176" /><Relationship Type="http://schemas.openxmlformats.org/officeDocument/2006/relationships/image" Target="/ppt/media/image.jpeg" Id="R3abe7c0f165b481e" /><Relationship Type="http://schemas.openxmlformats.org/officeDocument/2006/relationships/notesSlide" Target="/ppt/notesSlides/notesSlide11.xml" Id="R3cb384798a1e44e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op-rule">
            <a:extLst xmlns:a="http://schemas.openxmlformats.org/drawingml/2006/main">
              <a:ext uri="{FF2B5EF4-FFF2-40B4-BE49-F238E27FC236}">
                <a16:creationId xmlns:a16="http://schemas.microsoft.com/office/drawing/2014/main" id="{9DB8204C-8E23-4CD7-83FB-2204085E5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68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brand">
            <a:extLst xmlns:a="http://schemas.openxmlformats.org/drawingml/2006/main">
              <a:ext uri="{FF2B5EF4-FFF2-40B4-BE49-F238E27FC236}">
                <a16:creationId xmlns:a16="http://schemas.microsoft.com/office/drawing/2014/main" id="{BADF7A3E-0507-429F-BFC2-48CB68AC7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8685E"/>
                </a:solidFill>
              </a:defRPr>
            </a:pPr>
            <a:r>
              <a:rPr sz="1500" b="1">
                <a:solidFill>
                  <a:srgbClr val="28685E"/>
                </a:solidFill>
              </a:rPr>
              <a:t>MADE BY MATT  /  BUILD SCIENCE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42187a61824acb"/>
          <a:stretch xmlns:a="http://schemas.openxmlformats.org/drawingml/2006/main"/>
        </p:blipFill>
        <p:spPr>
          <a:xfrm xmlns:a="http://schemas.openxmlformats.org/drawingml/2006/main">
            <a:off x="10801350" y="438150"/>
            <a:ext cx="781050" cy="781050"/>
          </a:xfrm>
          <a:prstGeom xmlns:a="http://schemas.openxmlformats.org/drawingml/2006/main" prst="rect">
            <a:avLst/>
          </a:prstGeom>
        </p:spPr>
      </p:pic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74837D2-0FEA-4EC8-AEE1-DB06D8937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52B3A"/>
                </a:solidFill>
              </a:defRPr>
            </a:pPr>
            <a:r>
              <a:rPr sz="3750" b="1">
                <a:solidFill>
                  <a:srgbClr val="152B3A"/>
                </a:solidFill>
              </a:rPr>
              <a:t>Backbones and no backbones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BAF715D0-0B4B-43DC-A9E0-8921D344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9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2B58C95-D3A5-4D19-9AFD-294334D0E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0616B"/>
                </a:solidFill>
              </a:defRPr>
            </a:pPr>
            <a:r>
              <a:rPr sz="1275" b="0">
                <a:solidFill>
                  <a:srgbClr val="50616B"/>
                </a:solidFill>
              </a:rPr>
              <a:t>AUTUMN 1  ·  WEEK 3  ·  LESSON A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E8326B85-34E3-4AA0-87CA-53FBC7D1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362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8685E"/>
                </a:solidFill>
              </a:defRPr>
            </a:pPr>
            <a:r>
              <a:rPr sz="1350" b="1">
                <a:solidFill>
                  <a:srgbClr val="28685E"/>
                </a:solidFill>
              </a:rPr>
              <a:t>01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581BDF12-EE40-4B11-BAD5-6D7879908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9875"/>
            <a:ext cx="10668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28685E"/>
                </a:solidFill>
              </a:defRPr>
            </a:pPr>
            <a:r>
              <a:rPr sz="3900" b="1">
                <a:solidFill>
                  <a:srgbClr val="28685E"/>
                </a:solidFill>
              </a:rPr>
              <a:t>One body clue. Two animal groups.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CFC49468-3AA4-499A-988F-3CE8F23A1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43375"/>
            <a:ext cx="10668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52B3A"/>
                </a:solidFill>
              </a:defRPr>
            </a:pPr>
            <a:r>
              <a:rPr sz="2550" b="0">
                <a:solidFill>
                  <a:srgbClr val="152B3A"/>
                </a:solidFill>
              </a:rPr>
              <a:t>I can use evidence to decide whether an animal has a backbone.</a:t>
            </a:r>
          </a:p>
        </p:txBody>
      </p:sp>
    </p:spTree>
    <p:extLst>
      <p:ext uri="{BB962C8B-B14F-4D97-AF65-F5344CB8AC3E}">
        <p14:creationId xmlns:p14="http://schemas.microsoft.com/office/powerpoint/2010/main" val="125923686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op-rule">
            <a:extLst xmlns:a="http://schemas.openxmlformats.org/drawingml/2006/main">
              <a:ext uri="{FF2B5EF4-FFF2-40B4-BE49-F238E27FC236}">
                <a16:creationId xmlns:a16="http://schemas.microsoft.com/office/drawing/2014/main" id="{FF33059C-D699-406A-B441-19C747C68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68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brand">
            <a:extLst xmlns:a="http://schemas.openxmlformats.org/drawingml/2006/main">
              <a:ext uri="{FF2B5EF4-FFF2-40B4-BE49-F238E27FC236}">
                <a16:creationId xmlns:a16="http://schemas.microsoft.com/office/drawing/2014/main" id="{56C60FD3-6A44-40DE-AE21-A30370FB7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8685E"/>
                </a:solidFill>
              </a:defRPr>
            </a:pPr>
            <a:r>
              <a:rPr sz="1500" b="1">
                <a:solidFill>
                  <a:srgbClr val="28685E"/>
                </a:solidFill>
              </a:rPr>
              <a:t>MADE BY MATT  /  BUILD SCIENCE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05b2b1065241a3"/>
          <a:stretch xmlns:a="http://schemas.openxmlformats.org/drawingml/2006/main"/>
        </p:blipFill>
        <p:spPr>
          <a:xfrm xmlns:a="http://schemas.openxmlformats.org/drawingml/2006/main">
            <a:off x="10801350" y="438150"/>
            <a:ext cx="781050" cy="781050"/>
          </a:xfrm>
          <a:prstGeom xmlns:a="http://schemas.openxmlformats.org/drawingml/2006/main" prst="rect">
            <a:avLst/>
          </a:prstGeom>
        </p:spPr>
      </p:pic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A60821E-20B2-471A-8BB3-FAA506285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52B3A"/>
                </a:solidFill>
              </a:defRPr>
            </a:pPr>
            <a:r>
              <a:rPr sz="3750" b="1">
                <a:solidFill>
                  <a:srgbClr val="152B3A"/>
                </a:solidFill>
              </a:rPr>
              <a:t>Start with your own idea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7ECBDB34-6F42-48B3-A8D8-B23549269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9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57A55C73-0775-456F-A670-A41D2D640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0616B"/>
                </a:solidFill>
              </a:defRPr>
            </a:pPr>
            <a:r>
              <a:rPr sz="1275" b="0">
                <a:solidFill>
                  <a:srgbClr val="50616B"/>
                </a:solidFill>
              </a:rPr>
              <a:t>AUTUMN 1  ·  WEEK 3  ·  LESSON A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E496F9D1-14A9-495E-90A4-CC647BFFA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362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8685E"/>
                </a:solidFill>
              </a:defRPr>
            </a:pPr>
            <a:r>
              <a:rPr sz="1350" b="1">
                <a:solidFill>
                  <a:srgbClr val="28685E"/>
                </a:solidFill>
              </a:rPr>
              <a:t>02</a:t>
            </a:r>
          </a:p>
        </p:txBody>
      </p:sp>
      <p:sp>
        <p:nvSpPr>
          <p:cNvPr id="8" name="line-0">
            <a:extLst xmlns:a="http://schemas.openxmlformats.org/drawingml/2006/main">
              <a:ext uri="{FF2B5EF4-FFF2-40B4-BE49-F238E27FC236}">
                <a16:creationId xmlns:a16="http://schemas.microsoft.com/office/drawing/2014/main" id="{1904CE6B-201C-449D-A2D1-41ABF2A6C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52B3A"/>
                </a:solidFill>
              </a:defRPr>
            </a:pPr>
            <a:r>
              <a:rPr sz="2550" b="0">
                <a:solidFill>
                  <a:srgbClr val="152B3A"/>
                </a:solidFill>
              </a:rPr>
              <a:t>Name or point to an animal.</a:t>
            </a:r>
          </a:p>
        </p:txBody>
      </p:sp>
      <p:sp>
        <p:nvSpPr>
          <p:cNvPr id="9" name="line-1">
            <a:extLst xmlns:a="http://schemas.openxmlformats.org/drawingml/2006/main">
              <a:ext uri="{FF2B5EF4-FFF2-40B4-BE49-F238E27FC236}">
                <a16:creationId xmlns:a16="http://schemas.microsoft.com/office/drawing/2014/main" id="{19B1D911-7359-424D-8EA3-D4E122CC6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52B3A"/>
                </a:solidFill>
              </a:defRPr>
            </a:pPr>
            <a:r>
              <a:rPr sz="2550" b="0">
                <a:solidFill>
                  <a:srgbClr val="152B3A"/>
                </a:solidFill>
              </a:rPr>
              <a:t>Do you think it has a backbone?</a:t>
            </a:r>
          </a:p>
        </p:txBody>
      </p:sp>
      <p:sp>
        <p:nvSpPr>
          <p:cNvPr id="10" name="line-2">
            <a:extLst xmlns:a="http://schemas.openxmlformats.org/drawingml/2006/main">
              <a:ext uri="{FF2B5EF4-FFF2-40B4-BE49-F238E27FC236}">
                <a16:creationId xmlns:a16="http://schemas.microsoft.com/office/drawing/2014/main" id="{83C46BCB-BF61-4D42-8073-2594DB100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52B3A"/>
                </a:solidFill>
              </a:defRPr>
            </a:pPr>
            <a:r>
              <a:rPr sz="2550" b="0">
                <a:solidFill>
                  <a:srgbClr val="152B3A"/>
                </a:solidFill>
              </a:rPr>
              <a:t>Keep your first idea. We will check evidence.</a:t>
            </a:r>
          </a:p>
        </p:txBody>
      </p:sp>
    </p:spTree>
    <p:extLst>
      <p:ext uri="{BB962C8B-B14F-4D97-AF65-F5344CB8AC3E}">
        <p14:creationId xmlns:p14="http://schemas.microsoft.com/office/powerpoint/2010/main" val="89926106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op-rule">
            <a:extLst xmlns:a="http://schemas.openxmlformats.org/drawingml/2006/main">
              <a:ext uri="{FF2B5EF4-FFF2-40B4-BE49-F238E27FC236}">
                <a16:creationId xmlns:a16="http://schemas.microsoft.com/office/drawing/2014/main" id="{32FC33A1-19E9-485D-B622-53CFE200A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68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brand">
            <a:extLst xmlns:a="http://schemas.openxmlformats.org/drawingml/2006/main">
              <a:ext uri="{FF2B5EF4-FFF2-40B4-BE49-F238E27FC236}">
                <a16:creationId xmlns:a16="http://schemas.microsoft.com/office/drawing/2014/main" id="{9C0A2927-4B06-4B12-827A-74854258E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8685E"/>
                </a:solidFill>
              </a:defRPr>
            </a:pPr>
            <a:r>
              <a:rPr sz="1500" b="1">
                <a:solidFill>
                  <a:srgbClr val="28685E"/>
                </a:solidFill>
              </a:rPr>
              <a:t>MADE BY MATT  /  BUILD SCIENCE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e0f98e8ba94221"/>
          <a:stretch xmlns:a="http://schemas.openxmlformats.org/drawingml/2006/main"/>
        </p:blipFill>
        <p:spPr>
          <a:xfrm xmlns:a="http://schemas.openxmlformats.org/drawingml/2006/main">
            <a:off x="10801350" y="438150"/>
            <a:ext cx="781050" cy="781050"/>
          </a:xfrm>
          <a:prstGeom xmlns:a="http://schemas.openxmlformats.org/drawingml/2006/main" prst="rect">
            <a:avLst/>
          </a:prstGeom>
        </p:spPr>
      </p:pic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890C2AB-A585-439A-A531-4819FD440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52B3A"/>
                </a:solidFill>
              </a:defRPr>
            </a:pPr>
            <a:r>
              <a:rPr sz="3750" b="1">
                <a:solidFill>
                  <a:srgbClr val="152B3A"/>
                </a:solidFill>
              </a:rPr>
              <a:t>Three things we will do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5F9BB920-4327-4B67-BA9F-1733E9B20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9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CF9D4C09-C878-403A-8175-3E536C0D2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0616B"/>
                </a:solidFill>
              </a:defRPr>
            </a:pPr>
            <a:r>
              <a:rPr sz="1275" b="0">
                <a:solidFill>
                  <a:srgbClr val="50616B"/>
                </a:solidFill>
              </a:rPr>
              <a:t>AUTUMN 1  ·  WEEK 3  ·  LESSON A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DD965AFA-C423-4657-BE3B-3CA14C58E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362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8685E"/>
                </a:solidFill>
              </a:defRPr>
            </a:pPr>
            <a:r>
              <a:rPr sz="1350" b="1">
                <a:solidFill>
                  <a:srgbClr val="28685E"/>
                </a:solidFill>
              </a:rPr>
              <a:t>03</a:t>
            </a:r>
          </a:p>
        </p:txBody>
      </p:sp>
      <p:sp>
        <p:nvSpPr>
          <p:cNvPr id="8" name="line-0">
            <a:extLst xmlns:a="http://schemas.openxmlformats.org/drawingml/2006/main">
              <a:ext uri="{FF2B5EF4-FFF2-40B4-BE49-F238E27FC236}">
                <a16:creationId xmlns:a16="http://schemas.microsoft.com/office/drawing/2014/main" id="{8DDAA2C7-8457-4D52-80C0-C0381F70A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52B3A"/>
                </a:solidFill>
              </a:defRPr>
            </a:pPr>
            <a:r>
              <a:rPr sz="2550" b="0">
                <a:solidFill>
                  <a:srgbClr val="152B3A"/>
                </a:solidFill>
              </a:rPr>
              <a:t>Find a backbone in a model.</a:t>
            </a:r>
          </a:p>
        </p:txBody>
      </p:sp>
      <p:sp>
        <p:nvSpPr>
          <p:cNvPr id="9" name="line-1">
            <a:extLst xmlns:a="http://schemas.openxmlformats.org/drawingml/2006/main">
              <a:ext uri="{FF2B5EF4-FFF2-40B4-BE49-F238E27FC236}">
                <a16:creationId xmlns:a16="http://schemas.microsoft.com/office/drawing/2014/main" id="{4D03E454-F87E-4932-9ED2-E68D36EC5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52B3A"/>
                </a:solidFill>
              </a:defRPr>
            </a:pPr>
            <a:r>
              <a:rPr sz="2550" b="0">
                <a:solidFill>
                  <a:srgbClr val="152B3A"/>
                </a:solidFill>
              </a:rPr>
              <a:t>Sort animals using body evidence.</a:t>
            </a:r>
          </a:p>
        </p:txBody>
      </p:sp>
      <p:sp>
        <p:nvSpPr>
          <p:cNvPr id="10" name="line-2">
            <a:extLst xmlns:a="http://schemas.openxmlformats.org/drawingml/2006/main">
              <a:ext uri="{FF2B5EF4-FFF2-40B4-BE49-F238E27FC236}">
                <a16:creationId xmlns:a16="http://schemas.microsoft.com/office/drawing/2014/main" id="{DE91EC5A-D5D3-4A7F-B366-363E94EC0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52B3A"/>
                </a:solidFill>
              </a:defRPr>
            </a:pPr>
            <a:r>
              <a:rPr sz="2550" b="0">
                <a:solidFill>
                  <a:srgbClr val="152B3A"/>
                </a:solidFill>
              </a:rPr>
              <a:t>Explain one decision using because.</a:t>
            </a:r>
          </a:p>
        </p:txBody>
      </p:sp>
    </p:spTree>
    <p:extLst>
      <p:ext uri="{BB962C8B-B14F-4D97-AF65-F5344CB8AC3E}">
        <p14:creationId xmlns:p14="http://schemas.microsoft.com/office/powerpoint/2010/main" val="28992841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op-rule">
            <a:extLst xmlns:a="http://schemas.openxmlformats.org/drawingml/2006/main">
              <a:ext uri="{FF2B5EF4-FFF2-40B4-BE49-F238E27FC236}">
                <a16:creationId xmlns:a16="http://schemas.microsoft.com/office/drawing/2014/main" id="{49C030D0-6065-496F-A5FE-891C20834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68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brand">
            <a:extLst xmlns:a="http://schemas.openxmlformats.org/drawingml/2006/main">
              <a:ext uri="{FF2B5EF4-FFF2-40B4-BE49-F238E27FC236}">
                <a16:creationId xmlns:a16="http://schemas.microsoft.com/office/drawing/2014/main" id="{8D07B510-52AA-44B8-B50B-EAB926A3E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8685E"/>
                </a:solidFill>
              </a:defRPr>
            </a:pPr>
            <a:r>
              <a:rPr sz="1500" b="1">
                <a:solidFill>
                  <a:srgbClr val="28685E"/>
                </a:solidFill>
              </a:rPr>
              <a:t>MADE BY MATT  /  BUILD SCIENCE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2bb0fc1e484c7d"/>
          <a:stretch xmlns:a="http://schemas.openxmlformats.org/drawingml/2006/main"/>
        </p:blipFill>
        <p:spPr>
          <a:xfrm xmlns:a="http://schemas.openxmlformats.org/drawingml/2006/main">
            <a:off x="10801350" y="438150"/>
            <a:ext cx="781050" cy="781050"/>
          </a:xfrm>
          <a:prstGeom xmlns:a="http://schemas.openxmlformats.org/drawingml/2006/main" prst="rect">
            <a:avLst/>
          </a:prstGeom>
        </p:spPr>
      </p:pic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7FD85D7-C3F8-40EF-81B4-C95C649AE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52B3A"/>
                </a:solidFill>
              </a:defRPr>
            </a:pPr>
            <a:r>
              <a:rPr sz="3750" b="1">
                <a:solidFill>
                  <a:srgbClr val="152B3A"/>
                </a:solidFill>
              </a:rPr>
              <a:t>Look for bones inside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79BE4AF6-DCC7-4AF5-989E-1EDB5F833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9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03ED4754-6700-4BAF-BDA4-823723926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0616B"/>
                </a:solidFill>
              </a:defRPr>
            </a:pPr>
            <a:r>
              <a:rPr sz="1275" b="0">
                <a:solidFill>
                  <a:srgbClr val="50616B"/>
                </a:solidFill>
              </a:rPr>
              <a:t>AUTUMN 1  ·  WEEK 3  ·  LESSON A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89098E7D-4213-42F4-9FD7-22642BDDF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362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8685E"/>
                </a:solidFill>
              </a:defRPr>
            </a:pPr>
            <a:r>
              <a:rPr sz="1350" b="1">
                <a:solidFill>
                  <a:srgbClr val="28685E"/>
                </a:solidFill>
              </a:rPr>
              <a:t>04</a:t>
            </a:r>
          </a:p>
        </p:txBody>
      </p:sp>
      <p:sp>
        <p:nvSpPr>
          <p:cNvPr id="8" name="diagram-shape-0">
            <a:extLst xmlns:a="http://schemas.openxmlformats.org/drawingml/2006/main">
              <a:ext uri="{FF2B5EF4-FFF2-40B4-BE49-F238E27FC236}">
                <a16:creationId xmlns:a16="http://schemas.microsoft.com/office/drawing/2014/main" id="{318ED9EC-8E02-458D-A35B-A5E949B93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781300"/>
            <a:ext cx="762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DD"/>
          </a:solidFill>
          <a:ln xmlns:a="http://schemas.openxmlformats.org/drawingml/2006/main" w="19050">
            <a:solidFill>
              <a:srgbClr val="152B3A"/>
            </a:solidFill>
            <a:prstDash val="solid"/>
          </a:ln>
        </p:spPr>
      </p:sp>
      <p:sp>
        <p:nvSpPr>
          <p:cNvPr id="9" name="diagram-shape-1">
            <a:extLst xmlns:a="http://schemas.openxmlformats.org/drawingml/2006/main">
              <a:ext uri="{FF2B5EF4-FFF2-40B4-BE49-F238E27FC236}">
                <a16:creationId xmlns:a16="http://schemas.microsoft.com/office/drawing/2014/main" id="{7F03FAC8-68FD-4968-9B1C-E46FB13DE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209925"/>
            <a:ext cx="762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DD"/>
          </a:solidFill>
          <a:ln xmlns:a="http://schemas.openxmlformats.org/drawingml/2006/main" w="19050">
            <a:solidFill>
              <a:srgbClr val="152B3A"/>
            </a:solidFill>
            <a:prstDash val="solid"/>
          </a:ln>
        </p:spPr>
      </p:sp>
      <p:sp>
        <p:nvSpPr>
          <p:cNvPr id="10" name="diagram-shape-2">
            <a:extLst xmlns:a="http://schemas.openxmlformats.org/drawingml/2006/main">
              <a:ext uri="{FF2B5EF4-FFF2-40B4-BE49-F238E27FC236}">
                <a16:creationId xmlns:a16="http://schemas.microsoft.com/office/drawing/2014/main" id="{E73F6559-8E96-4901-9DC6-A4FD45CBA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638550"/>
            <a:ext cx="762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DD"/>
          </a:solidFill>
          <a:ln xmlns:a="http://schemas.openxmlformats.org/drawingml/2006/main" w="19050">
            <a:solidFill>
              <a:srgbClr val="152B3A"/>
            </a:solidFill>
            <a:prstDash val="solid"/>
          </a:ln>
        </p:spPr>
      </p:sp>
      <p:sp>
        <p:nvSpPr>
          <p:cNvPr id="11" name="diagram-shape-3">
            <a:extLst xmlns:a="http://schemas.openxmlformats.org/drawingml/2006/main">
              <a:ext uri="{FF2B5EF4-FFF2-40B4-BE49-F238E27FC236}">
                <a16:creationId xmlns:a16="http://schemas.microsoft.com/office/drawing/2014/main" id="{F6A35044-92B8-48E3-B8A2-E108583D8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067175"/>
            <a:ext cx="762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DD"/>
          </a:solidFill>
          <a:ln xmlns:a="http://schemas.openxmlformats.org/drawingml/2006/main" w="19050">
            <a:solidFill>
              <a:srgbClr val="152B3A"/>
            </a:solidFill>
            <a:prstDash val="solid"/>
          </a:ln>
        </p:spPr>
      </p:sp>
      <p:sp>
        <p:nvSpPr>
          <p:cNvPr id="12" name="diagram-shape-4">
            <a:extLst xmlns:a="http://schemas.openxmlformats.org/drawingml/2006/main">
              <a:ext uri="{FF2B5EF4-FFF2-40B4-BE49-F238E27FC236}">
                <a16:creationId xmlns:a16="http://schemas.microsoft.com/office/drawing/2014/main" id="{25A6D868-E91B-49B6-B92C-5BC8E5ACE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495800"/>
            <a:ext cx="762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DD"/>
          </a:solidFill>
          <a:ln xmlns:a="http://schemas.openxmlformats.org/drawingml/2006/main" w="19050">
            <a:solidFill>
              <a:srgbClr val="152B3A"/>
            </a:solidFill>
            <a:prstDash val="solid"/>
          </a:ln>
        </p:spPr>
      </p:sp>
      <p:sp>
        <p:nvSpPr>
          <p:cNvPr id="13" name="diagram-label-5">
            <a:extLst xmlns:a="http://schemas.openxmlformats.org/drawingml/2006/main">
              <a:ext uri="{FF2B5EF4-FFF2-40B4-BE49-F238E27FC236}">
                <a16:creationId xmlns:a16="http://schemas.microsoft.com/office/drawing/2014/main" id="{D8890A87-56BE-4D93-B7B1-E8D0D4ED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095875"/>
            <a:ext cx="3524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52B3A"/>
                </a:solidFill>
              </a:defRPr>
            </a:pPr>
            <a:r>
              <a:rPr sz="1875" b="1">
                <a:solidFill>
                  <a:srgbClr val="152B3A"/>
                </a:solidFill>
              </a:rPr>
              <a:t>simplified backbone</a:t>
            </a:r>
          </a:p>
        </p:txBody>
      </p:sp>
      <p:sp>
        <p:nvSpPr>
          <p:cNvPr id="14" name="diagram-label-6">
            <a:extLst xmlns:a="http://schemas.openxmlformats.org/drawingml/2006/main">
              <a:ext uri="{FF2B5EF4-FFF2-40B4-BE49-F238E27FC236}">
                <a16:creationId xmlns:a16="http://schemas.microsoft.com/office/drawing/2014/main" id="{03C7DA42-AF79-496A-99DF-464B6E48A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467100"/>
            <a:ext cx="1857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52B3A"/>
                </a:solidFill>
              </a:defRPr>
            </a:pPr>
            <a:r>
              <a:rPr sz="1875" b="1">
                <a:solidFill>
                  <a:srgbClr val="152B3A"/>
                </a:solidFill>
              </a:rPr>
              <a:t>small bones</a:t>
            </a:r>
          </a:p>
        </p:txBody>
      </p:sp>
      <p:sp>
        <p:nvSpPr>
          <p:cNvPr id="15" name="diagram-body">
            <a:extLst xmlns:a="http://schemas.openxmlformats.org/drawingml/2006/main">
              <a:ext uri="{FF2B5EF4-FFF2-40B4-BE49-F238E27FC236}">
                <a16:creationId xmlns:a16="http://schemas.microsoft.com/office/drawing/2014/main" id="{B80A066A-FF7E-4660-9A92-945D242BC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14625"/>
            <a:ext cx="4857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52B3A"/>
                </a:solidFill>
              </a:defRPr>
            </a:pPr>
            <a:r>
              <a:rPr sz="2550" b="1">
                <a:solidFill>
                  <a:srgbClr val="152B3A"/>
                </a:solidFill>
              </a:rPr>
              <a:t>A backbone is a connected series of small bones down the back.</a:t>
            </a:r>
          </a:p>
        </p:txBody>
      </p:sp>
      <p:sp>
        <p:nvSpPr>
          <p:cNvPr id="16" name="diagram-callout">
            <a:extLst xmlns:a="http://schemas.openxmlformats.org/drawingml/2006/main">
              <a:ext uri="{FF2B5EF4-FFF2-40B4-BE49-F238E27FC236}">
                <a16:creationId xmlns:a16="http://schemas.microsoft.com/office/drawing/2014/main" id="{F21C7DED-15ED-4E5F-A9E6-1E7F07FA3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714875"/>
            <a:ext cx="4857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8685E"/>
                </a:solidFill>
              </a:defRPr>
            </a:pPr>
            <a:r>
              <a:rPr sz="2175" b="0">
                <a:solidFill>
                  <a:srgbClr val="28685E"/>
                </a:solidFill>
              </a:rPr>
              <a:t>An animal with a backbone is a vertebrate.</a:t>
            </a:r>
          </a:p>
        </p:txBody>
      </p:sp>
    </p:spTree>
    <p:extLst>
      <p:ext uri="{BB962C8B-B14F-4D97-AF65-F5344CB8AC3E}">
        <p14:creationId xmlns:p14="http://schemas.microsoft.com/office/powerpoint/2010/main" val="140730775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-rule">
            <a:extLst xmlns:a="http://schemas.openxmlformats.org/drawingml/2006/main">
              <a:ext uri="{FF2B5EF4-FFF2-40B4-BE49-F238E27FC236}">
                <a16:creationId xmlns:a16="http://schemas.microsoft.com/office/drawing/2014/main" id="{C493D507-E0FA-4D1C-93E6-92AD3B907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68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brand">
            <a:extLst xmlns:a="http://schemas.openxmlformats.org/drawingml/2006/main">
              <a:ext uri="{FF2B5EF4-FFF2-40B4-BE49-F238E27FC236}">
                <a16:creationId xmlns:a16="http://schemas.microsoft.com/office/drawing/2014/main" id="{DC30FFB9-7324-4D1C-A238-6B231ED1F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8685E"/>
                </a:solidFill>
              </a:defRPr>
            </a:pPr>
            <a:r>
              <a:rPr sz="1500" b="1">
                <a:solidFill>
                  <a:srgbClr val="28685E"/>
                </a:solidFill>
              </a:rPr>
              <a:t>MADE BY MATT  /  BUILD SCIENCE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5c5512af214285"/>
          <a:stretch xmlns:a="http://schemas.openxmlformats.org/drawingml/2006/main"/>
        </p:blipFill>
        <p:spPr>
          <a:xfrm xmlns:a="http://schemas.openxmlformats.org/drawingml/2006/main">
            <a:off x="10801350" y="438150"/>
            <a:ext cx="781050" cy="781050"/>
          </a:xfrm>
          <a:prstGeom xmlns:a="http://schemas.openxmlformats.org/drawingml/2006/main" prst="rect">
            <a:avLst/>
          </a:prstGeom>
        </p:spPr>
      </p:pic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7AEA756-B40E-4255-9B77-3AD715C34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52B3A"/>
                </a:solidFill>
              </a:defRPr>
            </a:pPr>
            <a:r>
              <a:rPr sz="3750" b="1">
                <a:solidFill>
                  <a:srgbClr val="152B3A"/>
                </a:solidFill>
              </a:rPr>
              <a:t>A hard outside is different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321C433F-1352-4CE7-AE3D-2409EFCF6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9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F494C9A2-643D-484A-B1FE-8FF638351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0616B"/>
                </a:solidFill>
              </a:defRPr>
            </a:pPr>
            <a:r>
              <a:rPr sz="1275" b="0">
                <a:solidFill>
                  <a:srgbClr val="50616B"/>
                </a:solidFill>
              </a:rPr>
              <a:t>AUTUMN 1  ·  WEEK 3  ·  LESSON A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215B2EA6-790E-421F-A517-25E88EA64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362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8685E"/>
                </a:solidFill>
              </a:defRPr>
            </a:pPr>
            <a:r>
              <a:rPr sz="1350" b="1">
                <a:solidFill>
                  <a:srgbClr val="28685E"/>
                </a:solidFill>
              </a:rPr>
              <a:t>05</a:t>
            </a:r>
          </a:p>
        </p:txBody>
      </p:sp>
      <p:sp>
        <p:nvSpPr>
          <p:cNvPr id="8" name="left-heading">
            <a:extLst xmlns:a="http://schemas.openxmlformats.org/drawingml/2006/main">
              <a:ext uri="{FF2B5EF4-FFF2-40B4-BE49-F238E27FC236}">
                <a16:creationId xmlns:a16="http://schemas.microsoft.com/office/drawing/2014/main" id="{AB6C9DCA-AEAC-4FFB-8AD5-2B7D81114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495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8685E"/>
                </a:solidFill>
              </a:defRPr>
            </a:pPr>
            <a:r>
              <a:rPr sz="2025" b="1">
                <a:solidFill>
                  <a:srgbClr val="28685E"/>
                </a:solidFill>
              </a:rPr>
              <a:t>FISH</a:t>
            </a:r>
          </a:p>
        </p:txBody>
      </p:sp>
      <p:sp>
        <p:nvSpPr>
          <p:cNvPr id="9" name="right-heading">
            <a:extLst xmlns:a="http://schemas.openxmlformats.org/drawingml/2006/main">
              <a:ext uri="{FF2B5EF4-FFF2-40B4-BE49-F238E27FC236}">
                <a16:creationId xmlns:a16="http://schemas.microsoft.com/office/drawing/2014/main" id="{359DD03B-98A7-45E4-A3E7-D742E4A6C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19375"/>
            <a:ext cx="495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A65D25"/>
                </a:solidFill>
              </a:defRPr>
            </a:pPr>
            <a:r>
              <a:rPr sz="2025" b="1">
                <a:solidFill>
                  <a:srgbClr val="A65D25"/>
                </a:solidFill>
              </a:rPr>
              <a:t>CRAB</a:t>
            </a:r>
          </a:p>
        </p:txBody>
      </p:sp>
      <p:sp>
        <p:nvSpPr>
          <p:cNvPr id="10" name="left">
            <a:extLst xmlns:a="http://schemas.openxmlformats.org/drawingml/2006/main">
              <a:ext uri="{FF2B5EF4-FFF2-40B4-BE49-F238E27FC236}">
                <a16:creationId xmlns:a16="http://schemas.microsoft.com/office/drawing/2014/main" id="{2D19239A-16C3-4F13-9F13-0E10F5A14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495300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52B3A"/>
                </a:solidFill>
              </a:defRPr>
            </a:pPr>
            <a:r>
              <a:rPr sz="2400" b="0">
                <a:solidFill>
                  <a:srgbClr val="152B3A"/>
                </a:solidFill>
              </a:rPr>
              <a:t>Bones inside the body.</a:t>
            </a:r>
          </a:p>
          <a:p xmlns:a="http://schemas.openxmlformats.org/drawingml/2006/main">
            <a:pPr>
              <a:defRPr sz="2400" b="0">
                <a:solidFill>
                  <a:srgbClr val="152B3A"/>
                </a:solidFill>
              </a:defRPr>
            </a:pPr>
            <a:r>
              <a:rPr sz="2400" b="0">
                <a:solidFill>
                  <a:srgbClr val="152B3A"/>
                </a:solidFill>
              </a:rPr>
              <a:t>A backbone inside.</a:t>
            </a:r>
          </a:p>
          <a:p xmlns:a="http://schemas.openxmlformats.org/drawingml/2006/main">
            <a:pPr>
              <a:defRPr sz="2400" b="0">
                <a:solidFill>
                  <a:srgbClr val="152B3A"/>
                </a:solidFill>
              </a:defRPr>
            </a:pPr>
            <a:r>
              <a:rPr sz="2400" b="0">
                <a:solidFill>
                  <a:srgbClr val="152B3A"/>
                </a:solidFill>
              </a:rPr>
              <a:t>Vertebrate.</a:t>
            </a:r>
          </a:p>
        </p:txBody>
      </p:sp>
      <p:sp>
        <p:nvSpPr>
          <p:cNvPr id="11" name="right">
            <a:extLst xmlns:a="http://schemas.openxmlformats.org/drawingml/2006/main">
              <a:ext uri="{FF2B5EF4-FFF2-40B4-BE49-F238E27FC236}">
                <a16:creationId xmlns:a16="http://schemas.microsoft.com/office/drawing/2014/main" id="{FB72683B-234D-4995-82BC-CBE5413A3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33750"/>
            <a:ext cx="485775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52B3A"/>
                </a:solidFill>
              </a:defRPr>
            </a:pPr>
            <a:r>
              <a:rPr sz="2400" b="0">
                <a:solidFill>
                  <a:srgbClr val="152B3A"/>
                </a:solidFill>
              </a:rPr>
              <a:t>Hard case outside the body.</a:t>
            </a:r>
          </a:p>
          <a:p xmlns:a="http://schemas.openxmlformats.org/drawingml/2006/main">
            <a:pPr>
              <a:defRPr sz="2400" b="0">
                <a:solidFill>
                  <a:srgbClr val="152B3A"/>
                </a:solidFill>
              </a:defRPr>
            </a:pPr>
            <a:r>
              <a:rPr sz="2400" b="0">
                <a:solidFill>
                  <a:srgbClr val="152B3A"/>
                </a:solidFill>
              </a:rPr>
              <a:t>No backbone.</a:t>
            </a:r>
          </a:p>
          <a:p xmlns:a="http://schemas.openxmlformats.org/drawingml/2006/main">
            <a:pPr>
              <a:defRPr sz="2400" b="0">
                <a:solidFill>
                  <a:srgbClr val="152B3A"/>
                </a:solidFill>
              </a:defRPr>
            </a:pPr>
            <a:r>
              <a:rPr sz="2400" b="0">
                <a:solidFill>
                  <a:srgbClr val="152B3A"/>
                </a:solidFill>
              </a:rPr>
              <a:t>Invertebrate.</a:t>
            </a:r>
          </a:p>
        </p:txBody>
      </p:sp>
    </p:spTree>
    <p:extLst>
      <p:ext uri="{BB962C8B-B14F-4D97-AF65-F5344CB8AC3E}">
        <p14:creationId xmlns:p14="http://schemas.microsoft.com/office/powerpoint/2010/main" val="59416237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-rule">
            <a:extLst xmlns:a="http://schemas.openxmlformats.org/drawingml/2006/main">
              <a:ext uri="{FF2B5EF4-FFF2-40B4-BE49-F238E27FC236}">
                <a16:creationId xmlns:a16="http://schemas.microsoft.com/office/drawing/2014/main" id="{BCF5DFF8-82F6-459C-863B-EA57E018B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68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brand">
            <a:extLst xmlns:a="http://schemas.openxmlformats.org/drawingml/2006/main">
              <a:ext uri="{FF2B5EF4-FFF2-40B4-BE49-F238E27FC236}">
                <a16:creationId xmlns:a16="http://schemas.microsoft.com/office/drawing/2014/main" id="{53CBA8E0-86E3-44E7-800E-A2D7EC973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8685E"/>
                </a:solidFill>
              </a:defRPr>
            </a:pPr>
            <a:r>
              <a:rPr sz="1500" b="1">
                <a:solidFill>
                  <a:srgbClr val="28685E"/>
                </a:solidFill>
              </a:rPr>
              <a:t>MADE BY MATT  /  BUILD SCIENCE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a1bde3f57f4584"/>
          <a:stretch xmlns:a="http://schemas.openxmlformats.org/drawingml/2006/main"/>
        </p:blipFill>
        <p:spPr>
          <a:xfrm xmlns:a="http://schemas.openxmlformats.org/drawingml/2006/main">
            <a:off x="10801350" y="438150"/>
            <a:ext cx="781050" cy="781050"/>
          </a:xfrm>
          <a:prstGeom xmlns:a="http://schemas.openxmlformats.org/drawingml/2006/main" prst="rect">
            <a:avLst/>
          </a:prstGeom>
        </p:spPr>
      </p:pic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CE9D4C2-535A-4A35-A6FB-FE458DA29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52B3A"/>
                </a:solidFill>
              </a:defRPr>
            </a:pPr>
            <a:r>
              <a:rPr sz="3750" b="1">
                <a:solidFill>
                  <a:srgbClr val="152B3A"/>
                </a:solidFill>
              </a:rPr>
              <a:t>Decide before the explanation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1C812023-B8FD-4E0A-9D11-999BA9515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9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3AF8CB83-0535-4B3E-8866-9FBBE763A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0616B"/>
                </a:solidFill>
              </a:defRPr>
            </a:pPr>
            <a:r>
              <a:rPr sz="1275" b="0">
                <a:solidFill>
                  <a:srgbClr val="50616B"/>
                </a:solidFill>
              </a:rPr>
              <a:t>AUTUMN 1  ·  WEEK 3  ·  LESSON A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6FCA4C7B-30E2-47C9-80B7-37ED2892B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362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8685E"/>
                </a:solidFill>
              </a:defRPr>
            </a:pPr>
            <a:r>
              <a:rPr sz="1350" b="1">
                <a:solidFill>
                  <a:srgbClr val="28685E"/>
                </a:solidFill>
              </a:rPr>
              <a:t>06</a:t>
            </a:r>
          </a:p>
        </p:txBody>
      </p:sp>
      <p:sp>
        <p:nvSpPr>
          <p:cNvPr id="8" name="line-0">
            <a:extLst xmlns:a="http://schemas.openxmlformats.org/drawingml/2006/main">
              <a:ext uri="{FF2B5EF4-FFF2-40B4-BE49-F238E27FC236}">
                <a16:creationId xmlns:a16="http://schemas.microsoft.com/office/drawing/2014/main" id="{2B2E6014-43BA-42D5-B9F7-5B6CF1DD1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52B3A"/>
                </a:solidFill>
              </a:defRPr>
            </a:pPr>
            <a:r>
              <a:rPr sz="2550" b="0">
                <a:solidFill>
                  <a:srgbClr val="152B3A"/>
                </a:solidFill>
              </a:rPr>
              <a:t>Fish: bones inside include a backbone.</a:t>
            </a:r>
          </a:p>
        </p:txBody>
      </p:sp>
      <p:sp>
        <p:nvSpPr>
          <p:cNvPr id="9" name="line-1">
            <a:extLst xmlns:a="http://schemas.openxmlformats.org/drawingml/2006/main">
              <a:ext uri="{FF2B5EF4-FFF2-40B4-BE49-F238E27FC236}">
                <a16:creationId xmlns:a16="http://schemas.microsoft.com/office/drawing/2014/main" id="{50961C4A-D3A1-4AF8-8EE8-1A26944CA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52B3A"/>
                </a:solidFill>
              </a:defRPr>
            </a:pPr>
            <a:r>
              <a:rPr sz="2550" b="0">
                <a:solidFill>
                  <a:srgbClr val="152B3A"/>
                </a:solidFill>
              </a:rPr>
              <a:t>Snail: a shell, but no backbone.</a:t>
            </a:r>
          </a:p>
        </p:txBody>
      </p:sp>
      <p:sp>
        <p:nvSpPr>
          <p:cNvPr id="10" name="line-2">
            <a:extLst xmlns:a="http://schemas.openxmlformats.org/drawingml/2006/main">
              <a:ext uri="{FF2B5EF4-FFF2-40B4-BE49-F238E27FC236}">
                <a16:creationId xmlns:a16="http://schemas.microsoft.com/office/drawing/2014/main" id="{13475FF2-914C-43A4-9180-42BF74850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525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52B3A"/>
                </a:solidFill>
              </a:defRPr>
            </a:pPr>
            <a:r>
              <a:rPr sz="2550" b="0">
                <a:solidFill>
                  <a:srgbClr val="152B3A"/>
                </a:solidFill>
              </a:rPr>
              <a:t>Frog: bones inside include a backbone.</a:t>
            </a:r>
          </a:p>
        </p:txBody>
      </p:sp>
      <p:sp>
        <p:nvSpPr>
          <p:cNvPr id="11" name="line-3">
            <a:extLst xmlns:a="http://schemas.openxmlformats.org/drawingml/2006/main">
              <a:ext uri="{FF2B5EF4-FFF2-40B4-BE49-F238E27FC236}">
                <a16:creationId xmlns:a16="http://schemas.microsoft.com/office/drawing/2014/main" id="{7DA9457F-259D-4BFF-9E95-C76807238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911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52B3A"/>
                </a:solidFill>
              </a:defRPr>
            </a:pPr>
            <a:r>
              <a:rPr sz="2550" b="0">
                <a:solidFill>
                  <a:srgbClr val="152B3A"/>
                </a:solidFill>
              </a:rPr>
              <a:t>Choose: vertebrate or invertebrate.</a:t>
            </a:r>
          </a:p>
        </p:txBody>
      </p:sp>
    </p:spTree>
    <p:extLst>
      <p:ext uri="{BB962C8B-B14F-4D97-AF65-F5344CB8AC3E}">
        <p14:creationId xmlns:p14="http://schemas.microsoft.com/office/powerpoint/2010/main" val="120103537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-rule">
            <a:extLst xmlns:a="http://schemas.openxmlformats.org/drawingml/2006/main">
              <a:ext uri="{FF2B5EF4-FFF2-40B4-BE49-F238E27FC236}">
                <a16:creationId xmlns:a16="http://schemas.microsoft.com/office/drawing/2014/main" id="{DFB44416-AA22-4810-BCBC-DC0F9494B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68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brand">
            <a:extLst xmlns:a="http://schemas.openxmlformats.org/drawingml/2006/main">
              <a:ext uri="{FF2B5EF4-FFF2-40B4-BE49-F238E27FC236}">
                <a16:creationId xmlns:a16="http://schemas.microsoft.com/office/drawing/2014/main" id="{D1686814-67EF-4921-945C-F1C5AB69C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8685E"/>
                </a:solidFill>
              </a:defRPr>
            </a:pPr>
            <a:r>
              <a:rPr sz="1500" b="1">
                <a:solidFill>
                  <a:srgbClr val="28685E"/>
                </a:solidFill>
              </a:rPr>
              <a:t>MADE BY MATT  /  BUILD SCIENCE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c2584b7fd0423b"/>
          <a:stretch xmlns:a="http://schemas.openxmlformats.org/drawingml/2006/main"/>
        </p:blipFill>
        <p:spPr>
          <a:xfrm xmlns:a="http://schemas.openxmlformats.org/drawingml/2006/main">
            <a:off x="10801350" y="438150"/>
            <a:ext cx="781050" cy="781050"/>
          </a:xfrm>
          <a:prstGeom xmlns:a="http://schemas.openxmlformats.org/drawingml/2006/main" prst="rect">
            <a:avLst/>
          </a:prstGeom>
        </p:spPr>
      </p:pic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100165D-99BD-4E7C-9F3D-532CF4C79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52B3A"/>
                </a:solidFill>
              </a:defRPr>
            </a:pPr>
            <a:r>
              <a:rPr sz="3750" b="1">
                <a:solidFill>
                  <a:srgbClr val="152B3A"/>
                </a:solidFill>
              </a:rPr>
              <a:t>Try the rule again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CD83542F-4A48-4282-9F42-B093378E4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9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AADE7909-7930-42CF-8BAF-3B9C8DE86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0616B"/>
                </a:solidFill>
              </a:defRPr>
            </a:pPr>
            <a:r>
              <a:rPr sz="1275" b="0">
                <a:solidFill>
                  <a:srgbClr val="50616B"/>
                </a:solidFill>
              </a:rPr>
              <a:t>AUTUMN 1  ·  WEEK 3  ·  LESSON A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DBDBA8BA-AEAD-4174-BFBE-46C93E7B6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362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8685E"/>
                </a:solidFill>
              </a:defRPr>
            </a:pPr>
            <a:r>
              <a:rPr sz="1350" b="1">
                <a:solidFill>
                  <a:srgbClr val="28685E"/>
                </a:solidFill>
              </a:rPr>
              <a:t>07</a:t>
            </a:r>
          </a:p>
        </p:txBody>
      </p:sp>
      <p:sp>
        <p:nvSpPr>
          <p:cNvPr id="8" name="line-0">
            <a:extLst xmlns:a="http://schemas.openxmlformats.org/drawingml/2006/main">
              <a:ext uri="{FF2B5EF4-FFF2-40B4-BE49-F238E27FC236}">
                <a16:creationId xmlns:a16="http://schemas.microsoft.com/office/drawing/2014/main" id="{1F594133-0B61-445B-A1C1-6A7564E9D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52B3A"/>
                </a:solidFill>
              </a:defRPr>
            </a:pPr>
            <a:r>
              <a:rPr sz="2550" b="0">
                <a:solidFill>
                  <a:srgbClr val="152B3A"/>
                </a:solidFill>
              </a:rPr>
              <a:t>Mouse: an internal backbone.</a:t>
            </a:r>
          </a:p>
        </p:txBody>
      </p:sp>
      <p:sp>
        <p:nvSpPr>
          <p:cNvPr id="9" name="line-1">
            <a:extLst xmlns:a="http://schemas.openxmlformats.org/drawingml/2006/main">
              <a:ext uri="{FF2B5EF4-FFF2-40B4-BE49-F238E27FC236}">
                <a16:creationId xmlns:a16="http://schemas.microsoft.com/office/drawing/2014/main" id="{1ED30343-DCB9-4344-8FDF-ADD484BB0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52B3A"/>
                </a:solidFill>
              </a:defRPr>
            </a:pPr>
            <a:r>
              <a:rPr sz="2550" b="0">
                <a:solidFill>
                  <a:srgbClr val="152B3A"/>
                </a:solidFill>
              </a:rPr>
              <a:t>Crab: a hard outside; no backbone.</a:t>
            </a:r>
          </a:p>
        </p:txBody>
      </p:sp>
      <p:sp>
        <p:nvSpPr>
          <p:cNvPr id="10" name="line-2">
            <a:extLst xmlns:a="http://schemas.openxmlformats.org/drawingml/2006/main">
              <a:ext uri="{FF2B5EF4-FFF2-40B4-BE49-F238E27FC236}">
                <a16:creationId xmlns:a16="http://schemas.microsoft.com/office/drawing/2014/main" id="{9AEBA109-52C4-458C-828F-3C9A836C8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525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52B3A"/>
                </a:solidFill>
              </a:defRPr>
            </a:pPr>
            <a:r>
              <a:rPr sz="2550" b="0">
                <a:solidFill>
                  <a:srgbClr val="152B3A"/>
                </a:solidFill>
              </a:rPr>
              <a:t>Earthworm: fluid support; no backbone.</a:t>
            </a:r>
          </a:p>
        </p:txBody>
      </p:sp>
      <p:sp>
        <p:nvSpPr>
          <p:cNvPr id="11" name="line-3">
            <a:extLst xmlns:a="http://schemas.openxmlformats.org/drawingml/2006/main">
              <a:ext uri="{FF2B5EF4-FFF2-40B4-BE49-F238E27FC236}">
                <a16:creationId xmlns:a16="http://schemas.microsoft.com/office/drawing/2014/main" id="{BA19076E-B416-41DD-8D65-C7B386066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911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52B3A"/>
                </a:solidFill>
              </a:defRPr>
            </a:pPr>
            <a:r>
              <a:rPr sz="2550" b="0">
                <a:solidFill>
                  <a:srgbClr val="152B3A"/>
                </a:solidFill>
              </a:rPr>
              <a:t>Which body clue decides each group?</a:t>
            </a:r>
          </a:p>
        </p:txBody>
      </p:sp>
    </p:spTree>
    <p:extLst>
      <p:ext uri="{BB962C8B-B14F-4D97-AF65-F5344CB8AC3E}">
        <p14:creationId xmlns:p14="http://schemas.microsoft.com/office/powerpoint/2010/main" val="33253553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-rule">
            <a:extLst xmlns:a="http://schemas.openxmlformats.org/drawingml/2006/main">
              <a:ext uri="{FF2B5EF4-FFF2-40B4-BE49-F238E27FC236}">
                <a16:creationId xmlns:a16="http://schemas.microsoft.com/office/drawing/2014/main" id="{E7DE0724-EA72-4F4B-B4C5-B08681026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68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brand">
            <a:extLst xmlns:a="http://schemas.openxmlformats.org/drawingml/2006/main">
              <a:ext uri="{FF2B5EF4-FFF2-40B4-BE49-F238E27FC236}">
                <a16:creationId xmlns:a16="http://schemas.microsoft.com/office/drawing/2014/main" id="{502C8DF0-0717-4986-97B7-E014DEBCF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8685E"/>
                </a:solidFill>
              </a:defRPr>
            </a:pPr>
            <a:r>
              <a:rPr sz="1500" b="1">
                <a:solidFill>
                  <a:srgbClr val="28685E"/>
                </a:solidFill>
              </a:rPr>
              <a:t>MADE BY MATT  /  BUILD SCIENCE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b68d5727c64637"/>
          <a:stretch xmlns:a="http://schemas.openxmlformats.org/drawingml/2006/main"/>
        </p:blipFill>
        <p:spPr>
          <a:xfrm xmlns:a="http://schemas.openxmlformats.org/drawingml/2006/main">
            <a:off x="10801350" y="438150"/>
            <a:ext cx="781050" cy="781050"/>
          </a:xfrm>
          <a:prstGeom xmlns:a="http://schemas.openxmlformats.org/drawingml/2006/main" prst="rect">
            <a:avLst/>
          </a:prstGeom>
        </p:spPr>
      </p:pic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9E6C87B-5402-4355-B222-E838F90EC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52B3A"/>
                </a:solidFill>
              </a:defRPr>
            </a:pPr>
            <a:r>
              <a:rPr sz="3750" b="1">
                <a:solidFill>
                  <a:srgbClr val="152B3A"/>
                </a:solidFill>
              </a:rPr>
              <a:t>Different outsides, same test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FEB7DC22-E996-4F55-8E5D-48916DEA8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9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B0248D2E-0CDA-4C72-92DC-B76196CC2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0616B"/>
                </a:solidFill>
              </a:defRPr>
            </a:pPr>
            <a:r>
              <a:rPr sz="1275" b="0">
                <a:solidFill>
                  <a:srgbClr val="50616B"/>
                </a:solidFill>
              </a:rPr>
              <a:t>AUTUMN 1  ·  WEEK 3  ·  LESSON A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4D3A6E0D-EE9E-4262-B0CE-A580D9BE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362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8685E"/>
                </a:solidFill>
              </a:defRPr>
            </a:pPr>
            <a:r>
              <a:rPr sz="1350" b="1">
                <a:solidFill>
                  <a:srgbClr val="28685E"/>
                </a:solidFill>
              </a:rPr>
              <a:t>08</a:t>
            </a:r>
          </a:p>
        </p:txBody>
      </p:sp>
      <p:sp>
        <p:nvSpPr>
          <p:cNvPr id="8" name="left-heading">
            <a:extLst xmlns:a="http://schemas.openxmlformats.org/drawingml/2006/main">
              <a:ext uri="{FF2B5EF4-FFF2-40B4-BE49-F238E27FC236}">
                <a16:creationId xmlns:a16="http://schemas.microsoft.com/office/drawing/2014/main" id="{237F6565-5B9A-4055-8435-0E500C217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495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8685E"/>
                </a:solidFill>
              </a:defRPr>
            </a:pPr>
            <a:r>
              <a:rPr sz="2025" b="1">
                <a:solidFill>
                  <a:srgbClr val="28685E"/>
                </a:solidFill>
              </a:rPr>
              <a:t>THE ANIMALS</a:t>
            </a:r>
          </a:p>
        </p:txBody>
      </p:sp>
      <p:sp>
        <p:nvSpPr>
          <p:cNvPr id="9" name="right-heading">
            <a:extLst xmlns:a="http://schemas.openxmlformats.org/drawingml/2006/main">
              <a:ext uri="{FF2B5EF4-FFF2-40B4-BE49-F238E27FC236}">
                <a16:creationId xmlns:a16="http://schemas.microsoft.com/office/drawing/2014/main" id="{A08214FC-397C-48F0-80E6-30DF7D997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19375"/>
            <a:ext cx="495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A65D25"/>
                </a:solidFill>
              </a:defRPr>
            </a:pPr>
            <a:r>
              <a:rPr sz="2025" b="1">
                <a:solidFill>
                  <a:srgbClr val="A65D25"/>
                </a:solidFill>
              </a:rPr>
              <a:t>THE BODY EVIDENCE</a:t>
            </a:r>
          </a:p>
        </p:txBody>
      </p:sp>
      <p:sp>
        <p:nvSpPr>
          <p:cNvPr id="10" name="left">
            <a:extLst xmlns:a="http://schemas.openxmlformats.org/drawingml/2006/main">
              <a:ext uri="{FF2B5EF4-FFF2-40B4-BE49-F238E27FC236}">
                <a16:creationId xmlns:a16="http://schemas.microsoft.com/office/drawing/2014/main" id="{8518DEF3-2872-4279-B7C8-6D1831150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495300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52B3A"/>
                </a:solidFill>
              </a:defRPr>
            </a:pPr>
            <a:r>
              <a:rPr sz="2400" b="0">
                <a:solidFill>
                  <a:srgbClr val="152B3A"/>
                </a:solidFill>
              </a:rPr>
              <a:t>Fish and frog</a:t>
            </a:r>
          </a:p>
          <a:p xmlns:a="http://schemas.openxmlformats.org/drawingml/2006/main">
            <a:pPr>
              <a:defRPr sz="2400" b="0">
                <a:solidFill>
                  <a:srgbClr val="152B3A"/>
                </a:solidFill>
              </a:defRPr>
            </a:pPr>
            <a:r>
              <a:rPr sz="2400" b="0">
                <a:solidFill>
                  <a:srgbClr val="152B3A"/>
                </a:solidFill>
              </a:rPr>
              <a:t>Bird and lizard</a:t>
            </a:r>
          </a:p>
          <a:p xmlns:a="http://schemas.openxmlformats.org/drawingml/2006/main">
            <a:pPr>
              <a:defRPr sz="2400" b="0">
                <a:solidFill>
                  <a:srgbClr val="152B3A"/>
                </a:solidFill>
              </a:defRPr>
            </a:pPr>
            <a:r>
              <a:rPr sz="2400" b="0">
                <a:solidFill>
                  <a:srgbClr val="152B3A"/>
                </a:solidFill>
              </a:rPr>
              <a:t>Very different outsides.</a:t>
            </a:r>
          </a:p>
        </p:txBody>
      </p:sp>
      <p:sp>
        <p:nvSpPr>
          <p:cNvPr id="11" name="right">
            <a:extLst xmlns:a="http://schemas.openxmlformats.org/drawingml/2006/main">
              <a:ext uri="{FF2B5EF4-FFF2-40B4-BE49-F238E27FC236}">
                <a16:creationId xmlns:a16="http://schemas.microsoft.com/office/drawing/2014/main" id="{626E5754-F079-4A02-978E-4F8A55CDC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33750"/>
            <a:ext cx="485775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52B3A"/>
                </a:solidFill>
              </a:defRPr>
            </a:pPr>
            <a:r>
              <a:rPr sz="2400" b="0">
                <a:solidFill>
                  <a:srgbClr val="152B3A"/>
                </a:solidFill>
              </a:rPr>
              <a:t>All have an internal backbone.</a:t>
            </a:r>
          </a:p>
          <a:p xmlns:a="http://schemas.openxmlformats.org/drawingml/2006/main">
            <a:pPr>
              <a:defRPr sz="2400" b="0">
                <a:solidFill>
                  <a:srgbClr val="152B3A"/>
                </a:solidFill>
              </a:defRPr>
            </a:pPr>
            <a:r>
              <a:rPr sz="2400" b="0">
                <a:solidFill>
                  <a:srgbClr val="152B3A"/>
                </a:solidFill>
              </a:rPr>
              <a:t>All are vertebrates.</a:t>
            </a:r>
          </a:p>
          <a:p xmlns:a="http://schemas.openxmlformats.org/drawingml/2006/main">
            <a:pPr>
              <a:defRPr sz="2400" b="0">
                <a:solidFill>
                  <a:srgbClr val="152B3A"/>
                </a:solidFill>
              </a:defRPr>
            </a:pPr>
            <a:r>
              <a:rPr sz="2400" b="0">
                <a:solidFill>
                  <a:srgbClr val="152B3A"/>
                </a:solidFill>
              </a:rPr>
              <a:t>Fur and legs are not the test.</a:t>
            </a:r>
          </a:p>
        </p:txBody>
      </p:sp>
    </p:spTree>
    <p:extLst>
      <p:ext uri="{BB962C8B-B14F-4D97-AF65-F5344CB8AC3E}">
        <p14:creationId xmlns:p14="http://schemas.microsoft.com/office/powerpoint/2010/main" val="75014065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op-rule">
            <a:extLst xmlns:a="http://schemas.openxmlformats.org/drawingml/2006/main">
              <a:ext uri="{FF2B5EF4-FFF2-40B4-BE49-F238E27FC236}">
                <a16:creationId xmlns:a16="http://schemas.microsoft.com/office/drawing/2014/main" id="{68C4C742-D6E8-4EC5-9C7D-153986EA8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68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brand">
            <a:extLst xmlns:a="http://schemas.openxmlformats.org/drawingml/2006/main">
              <a:ext uri="{FF2B5EF4-FFF2-40B4-BE49-F238E27FC236}">
                <a16:creationId xmlns:a16="http://schemas.microsoft.com/office/drawing/2014/main" id="{2DE8A811-DFE2-4D75-AFAB-737D81009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8685E"/>
                </a:solidFill>
              </a:defRPr>
            </a:pPr>
            <a:r>
              <a:rPr sz="1500" b="1">
                <a:solidFill>
                  <a:srgbClr val="28685E"/>
                </a:solidFill>
              </a:rPr>
              <a:t>MADE BY MATT  /  BUILD SCIENCE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fe384b72cb40b9"/>
          <a:stretch xmlns:a="http://schemas.openxmlformats.org/drawingml/2006/main"/>
        </p:blipFill>
        <p:spPr>
          <a:xfrm xmlns:a="http://schemas.openxmlformats.org/drawingml/2006/main">
            <a:off x="10801350" y="438150"/>
            <a:ext cx="781050" cy="781050"/>
          </a:xfrm>
          <a:prstGeom xmlns:a="http://schemas.openxmlformats.org/drawingml/2006/main" prst="rect">
            <a:avLst/>
          </a:prstGeom>
        </p:spPr>
      </p:pic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41BC355-D136-47F3-B912-9AD5735E4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52B3A"/>
                </a:solidFill>
              </a:defRPr>
            </a:pPr>
            <a:r>
              <a:rPr sz="3750" b="1">
                <a:solidFill>
                  <a:srgbClr val="152B3A"/>
                </a:solidFill>
              </a:rPr>
              <a:t>Use because to show your reason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9C437A47-F099-44D2-9ED2-7A34DA725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9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B25BA3A8-830E-4F8F-A793-12C07B094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0616B"/>
                </a:solidFill>
              </a:defRPr>
            </a:pPr>
            <a:r>
              <a:rPr sz="1275" b="0">
                <a:solidFill>
                  <a:srgbClr val="50616B"/>
                </a:solidFill>
              </a:rPr>
              <a:t>AUTUMN 1  ·  WEEK 3  ·  LESSON A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A29D27EC-EE27-4331-8897-87593A851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362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8685E"/>
                </a:solidFill>
              </a:defRPr>
            </a:pPr>
            <a:r>
              <a:rPr sz="1350" b="1">
                <a:solidFill>
                  <a:srgbClr val="28685E"/>
                </a:solidFill>
              </a:rPr>
              <a:t>09</a:t>
            </a:r>
          </a:p>
        </p:txBody>
      </p:sp>
      <p:sp>
        <p:nvSpPr>
          <p:cNvPr id="8" name="statement">
            <a:extLst xmlns:a="http://schemas.openxmlformats.org/drawingml/2006/main">
              <a:ext uri="{FF2B5EF4-FFF2-40B4-BE49-F238E27FC236}">
                <a16:creationId xmlns:a16="http://schemas.microsoft.com/office/drawing/2014/main" id="{6D7FA4BB-531A-4DC8-A656-DED689801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10858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28685E"/>
                </a:solidFill>
              </a:defRPr>
            </a:pPr>
            <a:r>
              <a:rPr sz="2925" b="1">
                <a:solidFill>
                  <a:srgbClr val="28685E"/>
                </a:solidFill>
              </a:rPr>
              <a:t>The robin is a vertebrate because its body has an internal backbone.</a:t>
            </a:r>
          </a:p>
        </p:txBody>
      </p:sp>
      <p:sp>
        <p:nvSpPr>
          <p:cNvPr id="9" name="callout">
            <a:extLst xmlns:a="http://schemas.openxmlformats.org/drawingml/2006/main">
              <a:ext uri="{FF2B5EF4-FFF2-40B4-BE49-F238E27FC236}">
                <a16:creationId xmlns:a16="http://schemas.microsoft.com/office/drawing/2014/main" id="{3CD95ACE-B7FE-45DE-B787-0A75F50C1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10858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152B3A"/>
                </a:solidFill>
              </a:defRPr>
            </a:pPr>
            <a:r>
              <a:rPr sz="2700" b="0">
                <a:solidFill>
                  <a:srgbClr val="152B3A"/>
                </a:solidFill>
              </a:rPr>
              <a:t>Name the animal. Name the group. Give the body evidence.</a:t>
            </a:r>
          </a:p>
        </p:txBody>
      </p:sp>
    </p:spTree>
    <p:extLst>
      <p:ext uri="{BB962C8B-B14F-4D97-AF65-F5344CB8AC3E}">
        <p14:creationId xmlns:p14="http://schemas.microsoft.com/office/powerpoint/2010/main" val="133235862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-rule">
            <a:extLst xmlns:a="http://schemas.openxmlformats.org/drawingml/2006/main">
              <a:ext uri="{FF2B5EF4-FFF2-40B4-BE49-F238E27FC236}">
                <a16:creationId xmlns:a16="http://schemas.microsoft.com/office/drawing/2014/main" id="{CEFFD5FB-06E3-4A10-9C1E-5D6B832F3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68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brand">
            <a:extLst xmlns:a="http://schemas.openxmlformats.org/drawingml/2006/main">
              <a:ext uri="{FF2B5EF4-FFF2-40B4-BE49-F238E27FC236}">
                <a16:creationId xmlns:a16="http://schemas.microsoft.com/office/drawing/2014/main" id="{82DC3D44-CC17-446B-A6B8-0B1EADDDF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8685E"/>
                </a:solidFill>
              </a:defRPr>
            </a:pPr>
            <a:r>
              <a:rPr sz="1500" b="1">
                <a:solidFill>
                  <a:srgbClr val="28685E"/>
                </a:solidFill>
              </a:rPr>
              <a:t>MADE BY MATT  /  BUILD SCIENCE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34a565238a4398"/>
          <a:stretch xmlns:a="http://schemas.openxmlformats.org/drawingml/2006/main"/>
        </p:blipFill>
        <p:spPr>
          <a:xfrm xmlns:a="http://schemas.openxmlformats.org/drawingml/2006/main">
            <a:off x="10801350" y="438150"/>
            <a:ext cx="781050" cy="781050"/>
          </a:xfrm>
          <a:prstGeom xmlns:a="http://schemas.openxmlformats.org/drawingml/2006/main" prst="rect">
            <a:avLst/>
          </a:prstGeom>
        </p:spPr>
      </p:pic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DA6ABEF-ACD3-43FB-B487-5DEEBC8F7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52B3A"/>
                </a:solidFill>
              </a:defRPr>
            </a:pPr>
            <a:r>
              <a:rPr sz="3750" b="1">
                <a:solidFill>
                  <a:srgbClr val="152B3A"/>
                </a:solidFill>
              </a:rPr>
              <a:t>Sort the evidence cards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5FB65E0E-FD25-48F8-903E-AFE25A606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9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4F513C56-5AEE-4DF5-9457-1D8944228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0616B"/>
                </a:solidFill>
              </a:defRPr>
            </a:pPr>
            <a:r>
              <a:rPr sz="1275" b="0">
                <a:solidFill>
                  <a:srgbClr val="50616B"/>
                </a:solidFill>
              </a:rPr>
              <a:t>AUTUMN 1  ·  WEEK 3  ·  LESSON A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545CFDC8-59C3-41D7-8127-A2F15B5DF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362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8685E"/>
                </a:solidFill>
              </a:defRPr>
            </a:pPr>
            <a:r>
              <a:rPr sz="1350" b="1">
                <a:solidFill>
                  <a:srgbClr val="28685E"/>
                </a:solidFill>
              </a:rPr>
              <a:t>10</a:t>
            </a:r>
          </a:p>
        </p:txBody>
      </p:sp>
      <p:sp>
        <p:nvSpPr>
          <p:cNvPr id="8" name="left-heading">
            <a:extLst xmlns:a="http://schemas.openxmlformats.org/drawingml/2006/main">
              <a:ext uri="{FF2B5EF4-FFF2-40B4-BE49-F238E27FC236}">
                <a16:creationId xmlns:a16="http://schemas.microsoft.com/office/drawing/2014/main" id="{33E15CBA-997D-4971-B1F2-589F2EBE6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495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8685E"/>
                </a:solidFill>
              </a:defRPr>
            </a:pPr>
            <a:r>
              <a:rPr sz="2025" b="1">
                <a:solidFill>
                  <a:srgbClr val="28685E"/>
                </a:solidFill>
              </a:rPr>
              <a:t>ANIMAL CARDS</a:t>
            </a:r>
          </a:p>
        </p:txBody>
      </p:sp>
      <p:sp>
        <p:nvSpPr>
          <p:cNvPr id="9" name="right-heading">
            <a:extLst xmlns:a="http://schemas.openxmlformats.org/drawingml/2006/main">
              <a:ext uri="{FF2B5EF4-FFF2-40B4-BE49-F238E27FC236}">
                <a16:creationId xmlns:a16="http://schemas.microsoft.com/office/drawing/2014/main" id="{CFFD6622-F33B-4971-B241-389742EB7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19375"/>
            <a:ext cx="495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A65D25"/>
                </a:solidFill>
              </a:defRPr>
            </a:pPr>
            <a:r>
              <a:rPr sz="2025" b="1">
                <a:solidFill>
                  <a:srgbClr val="A65D25"/>
                </a:solidFill>
              </a:rPr>
              <a:t>IS THIS A RELIABLE TEST?</a:t>
            </a:r>
          </a:p>
        </p:txBody>
      </p:sp>
      <p:sp>
        <p:nvSpPr>
          <p:cNvPr id="10" name="left">
            <a:extLst xmlns:a="http://schemas.openxmlformats.org/drawingml/2006/main">
              <a:ext uri="{FF2B5EF4-FFF2-40B4-BE49-F238E27FC236}">
                <a16:creationId xmlns:a16="http://schemas.microsoft.com/office/drawing/2014/main" id="{653ACD97-30C4-4652-83F8-C8AC63FB3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495300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52B3A"/>
                </a:solidFill>
              </a:defRPr>
            </a:pPr>
            <a:r>
              <a:rPr sz="2400" b="0">
                <a:solidFill>
                  <a:srgbClr val="152B3A"/>
                </a:solidFill>
              </a:rPr>
              <a:t>Bat</a:t>
            </a:r>
          </a:p>
          <a:p xmlns:a="http://schemas.openxmlformats.org/drawingml/2006/main">
            <a:pPr>
              <a:defRPr sz="2400" b="0">
                <a:solidFill>
                  <a:srgbClr val="152B3A"/>
                </a:solidFill>
              </a:defRPr>
            </a:pPr>
            <a:r>
              <a:rPr sz="2400" b="0">
                <a:solidFill>
                  <a:srgbClr val="152B3A"/>
                </a:solidFill>
              </a:rPr>
              <a:t>Crab</a:t>
            </a:r>
          </a:p>
          <a:p xmlns:a="http://schemas.openxmlformats.org/drawingml/2006/main">
            <a:pPr>
              <a:defRPr sz="2400" b="0">
                <a:solidFill>
                  <a:srgbClr val="152B3A"/>
                </a:solidFill>
              </a:defRPr>
            </a:pPr>
            <a:r>
              <a:rPr sz="2400" b="0">
                <a:solidFill>
                  <a:srgbClr val="152B3A"/>
                </a:solidFill>
              </a:rPr>
              <a:t>Snake</a:t>
            </a:r>
          </a:p>
          <a:p xmlns:a="http://schemas.openxmlformats.org/drawingml/2006/main">
            <a:pPr>
              <a:defRPr sz="2400" b="0">
                <a:solidFill>
                  <a:srgbClr val="152B3A"/>
                </a:solidFill>
              </a:defRPr>
            </a:pPr>
            <a:r>
              <a:rPr sz="2400" b="0">
                <a:solidFill>
                  <a:srgbClr val="152B3A"/>
                </a:solidFill>
              </a:rPr>
              <a:t>Jellyfish</a:t>
            </a:r>
          </a:p>
        </p:txBody>
      </p:sp>
      <p:sp>
        <p:nvSpPr>
          <p:cNvPr id="11" name="right">
            <a:extLst xmlns:a="http://schemas.openxmlformats.org/drawingml/2006/main">
              <a:ext uri="{FF2B5EF4-FFF2-40B4-BE49-F238E27FC236}">
                <a16:creationId xmlns:a16="http://schemas.microsoft.com/office/drawing/2014/main" id="{ACBFBEC9-64D2-4740-A13A-FA1682D06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33750"/>
            <a:ext cx="485775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52B3A"/>
                </a:solidFill>
              </a:defRPr>
            </a:pPr>
            <a:r>
              <a:rPr sz="2400" b="0">
                <a:solidFill>
                  <a:srgbClr val="152B3A"/>
                </a:solidFill>
              </a:rPr>
              <a:t>It has a backbone inside.</a:t>
            </a:r>
          </a:p>
          <a:p xmlns:a="http://schemas.openxmlformats.org/drawingml/2006/main">
            <a:pPr>
              <a:defRPr sz="2400" b="0">
                <a:solidFill>
                  <a:srgbClr val="152B3A"/>
                </a:solidFill>
              </a:defRPr>
            </a:pPr>
            <a:r>
              <a:rPr sz="2400" b="0">
                <a:solidFill>
                  <a:srgbClr val="152B3A"/>
                </a:solidFill>
              </a:rPr>
              <a:t>It is furry.</a:t>
            </a:r>
          </a:p>
          <a:p xmlns:a="http://schemas.openxmlformats.org/drawingml/2006/main">
            <a:pPr>
              <a:defRPr sz="2400" b="0">
                <a:solidFill>
                  <a:srgbClr val="152B3A"/>
                </a:solidFill>
              </a:defRPr>
            </a:pPr>
            <a:r>
              <a:rPr sz="2400" b="0">
                <a:solidFill>
                  <a:srgbClr val="152B3A"/>
                </a:solidFill>
              </a:rPr>
              <a:t>It is small.</a:t>
            </a:r>
          </a:p>
        </p:txBody>
      </p:sp>
    </p:spTree>
    <p:extLst>
      <p:ext uri="{BB962C8B-B14F-4D97-AF65-F5344CB8AC3E}">
        <p14:creationId xmlns:p14="http://schemas.microsoft.com/office/powerpoint/2010/main" val="116393530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op-rule">
            <a:extLst xmlns:a="http://schemas.openxmlformats.org/drawingml/2006/main">
              <a:ext uri="{FF2B5EF4-FFF2-40B4-BE49-F238E27FC236}">
                <a16:creationId xmlns:a16="http://schemas.microsoft.com/office/drawing/2014/main" id="{AC36C9DA-4E70-4CC2-832A-638F33CF7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68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brand">
            <a:extLst xmlns:a="http://schemas.openxmlformats.org/drawingml/2006/main">
              <a:ext uri="{FF2B5EF4-FFF2-40B4-BE49-F238E27FC236}">
                <a16:creationId xmlns:a16="http://schemas.microsoft.com/office/drawing/2014/main" id="{2B621CA2-1E2F-4522-BE84-6130E41B7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8685E"/>
                </a:solidFill>
              </a:defRPr>
            </a:pPr>
            <a:r>
              <a:rPr sz="1500" b="1">
                <a:solidFill>
                  <a:srgbClr val="28685E"/>
                </a:solidFill>
              </a:rPr>
              <a:t>MADE BY MATT  /  BUILD SCIENCE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be7c0f165b481e"/>
          <a:stretch xmlns:a="http://schemas.openxmlformats.org/drawingml/2006/main"/>
        </p:blipFill>
        <p:spPr>
          <a:xfrm xmlns:a="http://schemas.openxmlformats.org/drawingml/2006/main">
            <a:off x="10801350" y="438150"/>
            <a:ext cx="781050" cy="781050"/>
          </a:xfrm>
          <a:prstGeom xmlns:a="http://schemas.openxmlformats.org/drawingml/2006/main" prst="rect">
            <a:avLst/>
          </a:prstGeom>
        </p:spPr>
      </p:pic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FECA8C6-1679-4927-9628-13381B8D7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52B3A"/>
                </a:solidFill>
              </a:defRPr>
            </a:pPr>
            <a:r>
              <a:rPr sz="3750" b="1">
                <a:solidFill>
                  <a:srgbClr val="152B3A"/>
                </a:solidFill>
              </a:rPr>
              <a:t>Check one choice and keep it</a:t>
            </a:r>
          </a:p>
        </p:txBody>
      </p:sp>
      <p:sp>
        <p:nvSpPr>
          <p:cNvPr id="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2CE48676-E6C8-4862-87D8-F9575AB04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9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7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1C6C9AB5-F8AE-4FC1-B494-5FDE4501A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50616B"/>
                </a:solidFill>
              </a:defRPr>
            </a:pPr>
            <a:r>
              <a:rPr sz="1275" b="0">
                <a:solidFill>
                  <a:srgbClr val="50616B"/>
                </a:solidFill>
              </a:rPr>
              <a:t>AUTUMN 1  ·  WEEK 3  ·  LESSON A</a:t>
            </a:r>
          </a:p>
        </p:txBody>
      </p:sp>
      <p:sp>
        <p:nvSpPr>
          <p:cNvPr id="7" name="page">
            <a:extLst xmlns:a="http://schemas.openxmlformats.org/drawingml/2006/main">
              <a:ext uri="{FF2B5EF4-FFF2-40B4-BE49-F238E27FC236}">
                <a16:creationId xmlns:a16="http://schemas.microsoft.com/office/drawing/2014/main" id="{D013F926-89F5-443E-8D42-FFB28F819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36270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8685E"/>
                </a:solidFill>
              </a:defRPr>
            </a:pPr>
            <a:r>
              <a:rPr sz="1350" b="1">
                <a:solidFill>
                  <a:srgbClr val="28685E"/>
                </a:solidFill>
              </a:rPr>
              <a:t>11</a:t>
            </a:r>
          </a:p>
        </p:txBody>
      </p:sp>
      <p:sp>
        <p:nvSpPr>
          <p:cNvPr id="8" name="line-0">
            <a:extLst xmlns:a="http://schemas.openxmlformats.org/drawingml/2006/main">
              <a:ext uri="{FF2B5EF4-FFF2-40B4-BE49-F238E27FC236}">
                <a16:creationId xmlns:a16="http://schemas.microsoft.com/office/drawing/2014/main" id="{6EE58552-675C-48BC-812E-F1FAE5D91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52B3A"/>
                </a:solidFill>
              </a:defRPr>
            </a:pPr>
            <a:r>
              <a:rPr sz="2550" b="0">
                <a:solidFill>
                  <a:srgbClr val="152B3A"/>
                </a:solidFill>
              </a:rPr>
              <a:t>Choose one animal card.</a:t>
            </a:r>
          </a:p>
        </p:txBody>
      </p:sp>
      <p:sp>
        <p:nvSpPr>
          <p:cNvPr id="9" name="line-1">
            <a:extLst xmlns:a="http://schemas.openxmlformats.org/drawingml/2006/main">
              <a:ext uri="{FF2B5EF4-FFF2-40B4-BE49-F238E27FC236}">
                <a16:creationId xmlns:a16="http://schemas.microsoft.com/office/drawing/2014/main" id="{A355BD32-E3FF-40A0-81DD-AE6072281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52B3A"/>
                </a:solidFill>
              </a:defRPr>
            </a:pPr>
            <a:r>
              <a:rPr sz="2550" b="0">
                <a:solidFill>
                  <a:srgbClr val="152B3A"/>
                </a:solidFill>
              </a:rPr>
              <a:t>Point to or say the body evidence.</a:t>
            </a:r>
          </a:p>
        </p:txBody>
      </p:sp>
      <p:sp>
        <p:nvSpPr>
          <p:cNvPr id="10" name="line-2">
            <a:extLst xmlns:a="http://schemas.openxmlformats.org/drawingml/2006/main">
              <a:ext uri="{FF2B5EF4-FFF2-40B4-BE49-F238E27FC236}">
                <a16:creationId xmlns:a16="http://schemas.microsoft.com/office/drawing/2014/main" id="{D2D25638-6343-4898-B8CB-94E2C6C4C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00525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52B3A"/>
                </a:solidFill>
              </a:defRPr>
            </a:pPr>
            <a:r>
              <a:rPr sz="2550" b="0">
                <a:solidFill>
                  <a:srgbClr val="152B3A"/>
                </a:solidFill>
              </a:rPr>
              <a:t>Keep or change your first choice.</a:t>
            </a:r>
          </a:p>
        </p:txBody>
      </p:sp>
      <p:sp>
        <p:nvSpPr>
          <p:cNvPr id="11" name="line-3">
            <a:extLst xmlns:a="http://schemas.openxmlformats.org/drawingml/2006/main">
              <a:ext uri="{FF2B5EF4-FFF2-40B4-BE49-F238E27FC236}">
                <a16:creationId xmlns:a16="http://schemas.microsoft.com/office/drawing/2014/main" id="{40F602E6-C104-4075-B81C-17CC05E2E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91100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52B3A"/>
                </a:solidFill>
              </a:defRPr>
            </a:pPr>
            <a:r>
              <a:rPr sz="2550" b="0">
                <a:solidFill>
                  <a:srgbClr val="152B3A"/>
                </a:solidFill>
              </a:rPr>
              <a:t>Label and save your work for Wednesday.</a:t>
            </a:r>
          </a:p>
        </p:txBody>
      </p:sp>
    </p:spTree>
    <p:extLst>
      <p:ext uri="{BB962C8B-B14F-4D97-AF65-F5344CB8AC3E}">
        <p14:creationId xmlns:p14="http://schemas.microsoft.com/office/powerpoint/2010/main" val="17323442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2026-09-06T12:56:09.6630000Z</dcterms:created>
  <dcterms:modified xsi:type="dcterms:W3CDTF">2026-09-06T12:56:09.6630000Z</dcterms:modified>
</coreProperties>
</file>