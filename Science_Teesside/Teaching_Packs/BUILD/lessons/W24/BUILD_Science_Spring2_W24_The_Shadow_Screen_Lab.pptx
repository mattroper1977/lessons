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15f311237a4c3b" /><Relationship Type="http://schemas.openxmlformats.org/officeDocument/2006/relationships/extended-properties" Target="/docProps/app.xml" Id="R2bbd643e349e4b9c" /><Relationship Type="http://schemas.openxmlformats.org/officeDocument/2006/relationships/officeDocument" Target="/ppt/presentation.xml" Id="R653b7d0af7fb4dec" /></Relationships>
</file>

<file path=ppt/presentation.xml><?xml version="1.0" encoding="utf-8"?>
<p:presentation xmlns:p="http://schemas.openxmlformats.org/presentationml/2006/main">
  <p:sldMasterIdLst>
    <p:sldMasterId xmlns:r="http://schemas.openxmlformats.org/officeDocument/2006/relationships" id="2147483648" r:id="Rd783fa3b72f849b8"/>
  </p:sldMasterIdLst>
  <p:notesMasterIdLst>
    <p:notesMasterId xmlns:r="http://schemas.openxmlformats.org/officeDocument/2006/relationships" r:id="R15e9a03999af462f"/>
  </p:notesMasterIdLst>
  <p:sldIdLst>
    <p:sldId xmlns:r="http://schemas.openxmlformats.org/officeDocument/2006/relationships" id="256" r:id="R1c86ad105e934155"/>
    <p:sldId xmlns:r="http://schemas.openxmlformats.org/officeDocument/2006/relationships" id="257" r:id="R47bcd1003f9a499d"/>
    <p:sldId xmlns:r="http://schemas.openxmlformats.org/officeDocument/2006/relationships" id="258" r:id="R85450e7a83a8479e"/>
    <p:sldId xmlns:r="http://schemas.openxmlformats.org/officeDocument/2006/relationships" id="259" r:id="R0cccc1ce35374d61"/>
    <p:sldId xmlns:r="http://schemas.openxmlformats.org/officeDocument/2006/relationships" id="260" r:id="R688040918f2642f6"/>
    <p:sldId xmlns:r="http://schemas.openxmlformats.org/officeDocument/2006/relationships" id="261" r:id="R851b5fd074a64a85"/>
    <p:sldId xmlns:r="http://schemas.openxmlformats.org/officeDocument/2006/relationships" id="262" r:id="Rfcda26ae6e2641f1"/>
    <p:sldId xmlns:r="http://schemas.openxmlformats.org/officeDocument/2006/relationships" id="263" r:id="Rf47734d684094c17"/>
    <p:sldId xmlns:r="http://schemas.openxmlformats.org/officeDocument/2006/relationships" id="264" r:id="R032963a9c9aa486d"/>
    <p:sldId xmlns:r="http://schemas.openxmlformats.org/officeDocument/2006/relationships" id="265" r:id="Rfc708cf775da4e43"/>
    <p:sldId xmlns:r="http://schemas.openxmlformats.org/officeDocument/2006/relationships" id="266" r:id="Rec0295e5d255496e"/>
    <p:sldId xmlns:r="http://schemas.openxmlformats.org/officeDocument/2006/relationships" id="267" r:id="R564914a9eb9841b4"/>
    <p:sldId xmlns:r="http://schemas.openxmlformats.org/officeDocument/2006/relationships" id="268" r:id="R8fefe875e70846ab"/>
    <p:sldId xmlns:r="http://schemas.openxmlformats.org/officeDocument/2006/relationships" id="269" r:id="R2d41d898388d44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c78dddefd349c9" /><Relationship Type="http://schemas.openxmlformats.org/officeDocument/2006/relationships/slideMaster" Target="/ppt/slideMasters/slideMaster1.xml" Id="Rd783fa3b72f849b8" /><Relationship Type="http://schemas.openxmlformats.org/officeDocument/2006/relationships/notesMaster" Target="/ppt/notesMasters/notesMaster1.xml" Id="R15e9a03999af462f" /><Relationship Type="http://schemas.openxmlformats.org/officeDocument/2006/relationships/presProps" Target="/ppt/presProps.xml" Id="R6ffc1f44e4b54a70" /><Relationship Type="http://schemas.openxmlformats.org/officeDocument/2006/relationships/tableStyles" Target="/ppt/tableStyles.xml" Id="Rbc4bc4e465e44a3d" /><Relationship Type="http://schemas.openxmlformats.org/officeDocument/2006/relationships/slide" Target="/ppt/slides/slide1.xml" Id="R1c86ad105e934155" /><Relationship Type="http://schemas.openxmlformats.org/officeDocument/2006/relationships/slide" Target="/ppt/slides/slide2.xml" Id="R47bcd1003f9a499d" /><Relationship Type="http://schemas.openxmlformats.org/officeDocument/2006/relationships/slide" Target="/ppt/slides/slide3.xml" Id="R85450e7a83a8479e" /><Relationship Type="http://schemas.openxmlformats.org/officeDocument/2006/relationships/slide" Target="/ppt/slides/slide4.xml" Id="R0cccc1ce35374d61" /><Relationship Type="http://schemas.openxmlformats.org/officeDocument/2006/relationships/slide" Target="/ppt/slides/slide5.xml" Id="R688040918f2642f6" /><Relationship Type="http://schemas.openxmlformats.org/officeDocument/2006/relationships/slide" Target="/ppt/slides/slide6.xml" Id="R851b5fd074a64a85" /><Relationship Type="http://schemas.openxmlformats.org/officeDocument/2006/relationships/slide" Target="/ppt/slides/slide7.xml" Id="Rfcda26ae6e2641f1" /><Relationship Type="http://schemas.openxmlformats.org/officeDocument/2006/relationships/slide" Target="/ppt/slides/slide8.xml" Id="Rf47734d684094c17" /><Relationship Type="http://schemas.openxmlformats.org/officeDocument/2006/relationships/slide" Target="/ppt/slides/slide9.xml" Id="R032963a9c9aa486d" /><Relationship Type="http://schemas.openxmlformats.org/officeDocument/2006/relationships/slide" Target="/ppt/slides/slide10.xml" Id="Rfc708cf775da4e43" /><Relationship Type="http://schemas.openxmlformats.org/officeDocument/2006/relationships/slide" Target="/ppt/slides/slide11.xml" Id="Rec0295e5d255496e" /><Relationship Type="http://schemas.openxmlformats.org/officeDocument/2006/relationships/slide" Target="/ppt/slides/slide12.xml" Id="R564914a9eb9841b4" /><Relationship Type="http://schemas.openxmlformats.org/officeDocument/2006/relationships/slide" Target="/ppt/slides/slide13.xml" Id="R8fefe875e70846ab" /><Relationship Type="http://schemas.openxmlformats.org/officeDocument/2006/relationships/slide" Target="/ppt/slides/slide14.xml" Id="R2d41d898388d44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a8ccf8a05b4c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5059ed02f54763" /><Relationship Type="http://schemas.openxmlformats.org/officeDocument/2006/relationships/notesMaster" Target="/ppt/notesMasters/notesMaster1.xml" Id="R314f7ffab0f949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f6b02db1b1466b" /><Relationship Type="http://schemas.openxmlformats.org/officeDocument/2006/relationships/notesMaster" Target="/ppt/notesMasters/notesMaster1.xml" Id="R1709618f886147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92cbea5c794d65" /><Relationship Type="http://schemas.openxmlformats.org/officeDocument/2006/relationships/notesMaster" Target="/ppt/notesMasters/notesMaster1.xml" Id="R7ce8e4d01d3247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46fd870e6e436a" /><Relationship Type="http://schemas.openxmlformats.org/officeDocument/2006/relationships/notesMaster" Target="/ppt/notesMasters/notesMaster1.xml" Id="R85f8f80fe51b46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6922b643884bb6" /><Relationship Type="http://schemas.openxmlformats.org/officeDocument/2006/relationships/notesMaster" Target="/ppt/notesMasters/notesMaster1.xml" Id="R2fbe5d5fc1f745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594f4283694363" /><Relationship Type="http://schemas.openxmlformats.org/officeDocument/2006/relationships/notesMaster" Target="/ppt/notesMasters/notesMaster1.xml" Id="R6b51300c777b42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0de776f0ec473c" /><Relationship Type="http://schemas.openxmlformats.org/officeDocument/2006/relationships/notesMaster" Target="/ppt/notesMasters/notesMaster1.xml" Id="Rbdf3bba0401444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456d9d8fff43ee" /><Relationship Type="http://schemas.openxmlformats.org/officeDocument/2006/relationships/notesMaster" Target="/ppt/notesMasters/notesMaster1.xml" Id="R51c92f22e9ee4e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31f3d07abe44eb" /><Relationship Type="http://schemas.openxmlformats.org/officeDocument/2006/relationships/notesMaster" Target="/ppt/notesMasters/notesMaster1.xml" Id="R4e5698427d3a45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9bf6118aff47c8" /><Relationship Type="http://schemas.openxmlformats.org/officeDocument/2006/relationships/notesMaster" Target="/ppt/notesMasters/notesMaster1.xml" Id="R0491939326b24a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a62a02a48a4813" /><Relationship Type="http://schemas.openxmlformats.org/officeDocument/2006/relationships/notesMaster" Target="/ppt/notesMasters/notesMaster1.xml" Id="Rd8578efcedb148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f194006d8e407d" /><Relationship Type="http://schemas.openxmlformats.org/officeDocument/2006/relationships/notesMaster" Target="/ppt/notesMasters/notesMaster1.xml" Id="R8ef160d8b05348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8c5636353c452b" /><Relationship Type="http://schemas.openxmlformats.org/officeDocument/2006/relationships/notesMaster" Target="/ppt/notesMasters/notesMaster1.xml" Id="R938a094c86964f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ebcc2835fb48fe" /><Relationship Type="http://schemas.openxmlformats.org/officeDocument/2006/relationships/notesMaster" Target="/ppt/notesMasters/notesMaster1.xml" Id="Rf7cb2f394b3242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Pose a stage-screen design brief. Pupils will choose a sample for a clear silhouette and explain how it works. No performance is required.</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Accept a valid source; reflection returns light from a surface; an opaque card blocks transmission. Explain that reflecting and blocking transmission can occur together.</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Think aloud: “I need a comparison. Before adding the card, I check that the source lights the screen. If it does not, I repair the setup before judging a material.”</a:t>
            </a:r>
          </a:p>
          <a:p xmlns:a="http://schemas.openxmlformats.org/drawingml/2006/main">
            <a:r>
              <a:t/>
            </a:r>
          </a:p>
          <a:p xmlns:a="http://schemas.openxmlformats.org/drawingml/2006/main">
            <a:r>
              <a:t>DIAGRAM DESCRIPTION</a:t>
            </a:r>
          </a:p>
          <a:p xmlns:a="http://schemas.openxmlformats.org/drawingml/2006/main">
            <a:r>
              <a:t>Three rays from a small light source reach a screen with no card in the path.</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Think aloud: “I trace the light towards the card. Some paths are stopped; rays past its edges still reach the screen. The shadow is on the screen, not a dark substance leaving the card.” Other room light can make it grey rather than black.</a:t>
            </a:r>
          </a:p>
          <a:p xmlns:a="http://schemas.openxmlformats.org/drawingml/2006/main">
            <a:r>
              <a:t/>
            </a:r>
          </a:p>
          <a:p xmlns:a="http://schemas.openxmlformats.org/drawingml/2006/main">
            <a:r>
              <a:t>DIAGRAM DESCRIPTION</a:t>
            </a:r>
          </a:p>
          <a:p xmlns:a="http://schemas.openxmlformats.org/drawingml/2006/main">
            <a:r>
              <a:t>Side-view light-ray model. Ray arrows point away from a small source. Boundary rays pass the top and bottom edges of an opaque card and locate the shadow on a screen.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I do time. Think aloud: “I judge the observation in this setup. Clear plastic may still give a faint edge or pattern; I will not claim it can never affect light.” These arrows are qualitative, not counts of photons or measured percentages.</a:t>
            </a:r>
          </a:p>
          <a:p xmlns:a="http://schemas.openxmlformats.org/drawingml/2006/main">
            <a:r>
              <a:t/>
            </a:r>
          </a:p>
          <a:p xmlns:a="http://schemas.openxmlformats.org/drawingml/2006/main">
            <a:r>
              <a:t>DIAGRAM DESCRIPTION</a:t>
            </a:r>
          </a:p>
          <a:p xmlns:a="http://schemas.openxmlformats.org/drawingml/2006/main">
            <a:r>
              <a:t>Schematic comparison of opaque card, a translucent sheet and clear plastic. Arrow counts are qualitative, not measured percentages. Clear materials may still cast faint shadows.</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Constructed evidence comes from the same source, screen and sample position. A opaque card is the best supported choice for the stated goal. Use reader, chooser and reason-giver roles; no competition.</a:t>
            </a:r>
          </a:p>
          <a:p xmlns:a="http://schemas.openxmlformats.org/drawingml/2006/main">
            <a:r>
              <a:t/>
            </a:r>
          </a:p>
          <a:p xmlns:a="http://schemas.openxmlformats.org/drawingml/2006/main">
            <a:r>
              <a:t>REVEAL / MODEL ANSWER</a:t>
            </a:r>
          </a:p>
          <a:p xmlns:a="http://schemas.openxmlformats.org/drawingml/2006/main">
            <a:r>
              <a:t>A: the opaque card gave the clearest dark shape in these cases.</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Let pupils move a card on a tabletop or use the case. A shadow from this card disappears from the tested screen area when it no longer blocks that path. Ask why a black and a red opaque card of equal shape can give similar silhouettes.</a:t>
            </a:r>
          </a:p>
          <a:p xmlns:a="http://schemas.openxmlformats.org/drawingml/2006/main">
            <a:r>
              <a:t/>
            </a:r>
          </a:p>
          <a:p xmlns:a="http://schemas.openxmlformats.org/drawingml/2006/main">
            <a:r>
              <a:t>REVEAL / MODEL ANSWER</a:t>
            </a:r>
          </a:p>
          <a:p xmlns:a="http://schemas.openxmlformats.org/drawingml/2006/main">
            <a:r>
              <a:t>Removing the blocker lets light reach that area again.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If pupils choose dark paint, remove and return the card in the model. If source goes off, show the ray paths still reaching around the edges.</a:t>
            </a:r>
          </a:p>
          <a:p xmlns:a="http://schemas.openxmlformats.org/drawingml/2006/main">
            <a:r>
              <a:t/>
            </a:r>
          </a:p>
          <a:p xmlns:a="http://schemas.openxmlformats.org/drawingml/2006/main">
            <a:r>
              <a:t>A. The card sends dark paint onto the screen.</a:t>
            </a:r>
          </a:p>
          <a:p xmlns:a="http://schemas.openxmlformats.org/drawingml/2006/main">
            <a:r>
              <a:t>No material travels from the card; some light paths are blocked.</a:t>
            </a:r>
          </a:p>
          <a:p xmlns:a="http://schemas.openxmlformats.org/drawingml/2006/main">
            <a:r>
              <a:t/>
            </a:r>
          </a:p>
          <a:p xmlns:a="http://schemas.openxmlformats.org/drawingml/2006/main">
            <a:r>
              <a:t>B. The card blocks light, so less reaches part of the screen.</a:t>
            </a:r>
          </a:p>
          <a:p xmlns:a="http://schemas.openxmlformats.org/drawingml/2006/main">
            <a:r>
              <a:t>Correct. This is the shadow region; light can still reach around the card.</a:t>
            </a:r>
          </a:p>
          <a:p xmlns:a="http://schemas.openxmlformats.org/drawingml/2006/main">
            <a:r>
              <a:t/>
            </a:r>
          </a:p>
          <a:p xmlns:a="http://schemas.openxmlformats.org/drawingml/2006/main">
            <a:r>
              <a:t>C. The source switches off when the card arrives.</a:t>
            </a:r>
          </a:p>
          <a:p xmlns:a="http://schemas.openxmlformats.org/drawingml/2006/main">
            <a:r>
              <a:t>The source can stay on. The card blocks only some paths.</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Give one route only, selected with the pupil. The shared evidence page supports every route. Optional practical: test pre-cut samples at the fixed position, leaving the source and screen still. Record actual observations rather than copying sample results. If contrast is poor, use the supplied cases and discuss the limitation.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12-minute independent stage. Optional practical: test pre-cut samples at the fixed position, leaving the source and screen still. Record actual observations rather than copying sample results. If contrast is poor, use the supplied cases and discuss the limitation.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Allow ten minutes of independent response after the two-minute setup. Optional practical: test pre-cut samples at the fixed position, leaving the source and screen still. Record actual observations rather than copying sample results. If contrast is poor, use the supplied cases and discuss the limitation.</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independent stage. Ask the pupil to point to the clue supporting their answer; accept a spoken correction or changed choice.</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Give a private or paired option. Adopt one scientifically sound pupil revision in the class explanation and name the change. No public ranking.</a:t>
            </a:r>
          </a:p>
          <a:p xmlns:a="http://schemas.openxmlformats.org/drawingml/2006/main">
            <a:r>
              <a:t/>
            </a:r>
          </a:p>
          <a:p xmlns:a="http://schemas.openxmlformats.org/drawingml/2006/main">
            <a:r>
              <a:t>REVEAL / MODEL ANSWER</a:t>
            </a:r>
          </a:p>
          <a:p xmlns:a="http://schemas.openxmlformats.org/drawingml/2006/main">
            <a:r>
              <a:t>It is not a substance: it is a region where less light reaches because light is blocked.</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Collect brief individual answers. Secure core requires the main idea and a relevant reason. Revisit the relevant worked diagram next lesson if the explanation reverses cause and effect.</a:t>
            </a:r>
          </a:p>
          <a:p xmlns:a="http://schemas.openxmlformats.org/drawingml/2006/main">
            <a:r>
              <a:t/>
            </a:r>
          </a:p>
          <a:p xmlns:a="http://schemas.openxmlformats.org/drawingml/2006/main">
            <a:r>
              <a:t>REVEAL / MODEL ANSWER</a:t>
            </a:r>
          </a:p>
          <a:p xmlns:a="http://schemas.openxmlformats.org/drawingml/2006/main">
            <a:r>
              <a:t>See the teacher answer guide for the three checks.</a:t>
            </a:r>
          </a:p>
          <a:p xmlns:a="http://schemas.openxmlformats.org/drawingml/2006/main">
            <a:r>
              <a:t/>
            </a:r>
          </a:p>
          <a:p xmlns:a="http://schemas.openxmlformats.org/drawingml/2006/main">
            <a:r>
              <a:t>LESSON REFERENCES</a:t>
            </a:r>
          </a:p>
          <a:p xmlns:a="http://schemas.openxmlformats.org/drawingml/2006/main">
            <a:r>
              <a:t>Department for Education: science programmes of study</a:t>
            </a:r>
          </a:p>
          <a:p xmlns:a="http://schemas.openxmlformats.org/drawingml/2006/main">
            <a:r>
              <a:t>https://www.gov.uk/government/publications/national-curriculum-in-england-science-programmes-of-study/national-curriculum-in-england-science-programmes-of-study</a:t>
            </a:r>
          </a:p>
          <a:p xmlns:a="http://schemas.openxmlformats.org/drawingml/2006/main">
            <a:r>
              <a:t>Checked 8 September 2026. Year 3 light outcomes anchor the BUILD content; ray explanations are carefully modelled as an accessible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3b161abbca4e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a2142457374753" /><Relationship Type="http://schemas.openxmlformats.org/officeDocument/2006/relationships/slideLayout" Target="/ppt/slideLayouts/slideLayout1.xml" Id="R5943066645c84d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43066645c84d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0ce5b6c3fa4ef7" /><Relationship Type="http://schemas.openxmlformats.org/officeDocument/2006/relationships/notesSlide" Target="/ppt/notesSlides/notesSlide1.xml" Id="Rbd44b2636c5c4d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0e89a2a5654d32" /><Relationship Type="http://schemas.openxmlformats.org/officeDocument/2006/relationships/notesSlide" Target="/ppt/notesSlides/notesSlide2.xml" Id="Rb27f33cd5dc944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54f5a0bc644b72" /><Relationship Type="http://schemas.openxmlformats.org/officeDocument/2006/relationships/notesSlide" Target="/ppt/notesSlides/notesSlide3.xml" Id="Rbf081872f2d847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b1ff8b5c0e4fcf" /><Relationship Type="http://schemas.openxmlformats.org/officeDocument/2006/relationships/notesSlide" Target="/ppt/notesSlides/notesSlide4.xml" Id="Rff45490425794f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407c95754b458c" /><Relationship Type="http://schemas.openxmlformats.org/officeDocument/2006/relationships/notesSlide" Target="/ppt/notesSlides/notesSlide5.xml" Id="R9220923c3e6d4e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b8a4b6ffdb46bc" /><Relationship Type="http://schemas.openxmlformats.org/officeDocument/2006/relationships/notesSlide" Target="/ppt/notesSlides/notesSlide6.xml" Id="R1f2eca7d46ff4f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f0bf245bdd4927" /><Relationship Type="http://schemas.openxmlformats.org/officeDocument/2006/relationships/notesSlide" Target="/ppt/notesSlides/notesSlide7.xml" Id="R31604b17a2f646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df454c18294c32" /><Relationship Type="http://schemas.openxmlformats.org/officeDocument/2006/relationships/notesSlide" Target="/ppt/notesSlides/notesSlide8.xml" Id="Rceb4f2ebeacc41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eb4f74b20c4bf3" /><Relationship Type="http://schemas.openxmlformats.org/officeDocument/2006/relationships/notesSlide" Target="/ppt/notesSlides/notesSlide9.xml" Id="Rfdaf9ce65e9648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fedfa70e1e4a86" /><Relationship Type="http://schemas.openxmlformats.org/officeDocument/2006/relationships/notesSlide" Target="/ppt/notesSlides/notesSlide10.xml" Id="R77d86787076442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e93afdc073411a" /><Relationship Type="http://schemas.openxmlformats.org/officeDocument/2006/relationships/notesSlide" Target="/ppt/notesSlides/notesSlide11.xml" Id="R9540d07f423e4c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ec5bc754394d47" /><Relationship Type="http://schemas.openxmlformats.org/officeDocument/2006/relationships/notesSlide" Target="/ppt/notesSlides/notesSlide12.xml" Id="R268b7615944746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e084da96c04cfe" /><Relationship Type="http://schemas.openxmlformats.org/officeDocument/2006/relationships/notesSlide" Target="/ppt/notesSlides/notesSlide13.xml" Id="R158dc4773aa443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000795803a4310" /><Relationship Type="http://schemas.openxmlformats.org/officeDocument/2006/relationships/notesSlide" Target="/ppt/notesSlides/notesSlide14.xml" Id="R40f4b1f0f7df417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urface">
            <a:extLst xmlns:a="http://schemas.openxmlformats.org/drawingml/2006/main">
              <a:ext uri="{FF2B5EF4-FFF2-40B4-BE49-F238E27FC236}">
                <a16:creationId xmlns:a16="http://schemas.microsoft.com/office/drawing/2014/main" id="{5C5F4A33-DF3D-4627-8201-5A88BD8CEE6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F363DCE-EC62-49C3-92F1-E578414A7A2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30CC90C-64C6-418F-9A88-CEEEFDCA123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53086C9A-67D7-4F32-A259-2AE841D3600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Opening">
            <a:extLst xmlns:a="http://schemas.openxmlformats.org/drawingml/2006/main">
              <a:ext uri="{FF2B5EF4-FFF2-40B4-BE49-F238E27FC236}">
                <a16:creationId xmlns:a16="http://schemas.microsoft.com/office/drawing/2014/main" id="{E28D4053-B73D-4C25-BEBE-EF8D71D3A8C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E0E5BA19-C0A0-4C85-B15D-4B7831EBFA0F}"/>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Build a screen silhouette">
            <a:extLst xmlns:a="http://schemas.openxmlformats.org/drawingml/2006/main">
              <a:ext uri="{FF2B5EF4-FFF2-40B4-BE49-F238E27FC236}">
                <a16:creationId xmlns:a16="http://schemas.microsoft.com/office/drawing/2014/main" id="{CCDE2D50-0873-4F41-BFFB-E8BDEE374B1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Build a screen silhouette</a:t>
            </a:r>
          </a:p>
        </p:txBody>
      </p:sp>
      <p:sp>
        <p:nvSpPr>
          <p:cNvPr id="8" name="surface">
            <a:extLst xmlns:a="http://schemas.openxmlformats.org/drawingml/2006/main">
              <a:ext uri="{FF2B5EF4-FFF2-40B4-BE49-F238E27FC236}">
                <a16:creationId xmlns:a16="http://schemas.microsoft.com/office/drawing/2014/main" id="{5CFCE7C4-F891-49AE-BE6B-82ED094BE63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C3345048-F1E6-452C-BC7E-F8630AB7C08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1 / 14">
            <a:extLst xmlns:a="http://schemas.openxmlformats.org/drawingml/2006/main">
              <a:ext uri="{FF2B5EF4-FFF2-40B4-BE49-F238E27FC236}">
                <a16:creationId xmlns:a16="http://schemas.microsoft.com/office/drawing/2014/main" id="{2DD77B93-6A65-4520-8D0F-D3BE3E84F69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14</a:t>
            </a:r>
          </a:p>
        </p:txBody>
      </p:sp>
      <p:sp>
        <p:nvSpPr>
          <p:cNvPr id="11" name="surface">
            <a:extLst xmlns:a="http://schemas.openxmlformats.org/drawingml/2006/main">
              <a:ext uri="{FF2B5EF4-FFF2-40B4-BE49-F238E27FC236}">
                <a16:creationId xmlns:a16="http://schemas.microsoft.com/office/drawing/2014/main" id="{628B5EAE-C2D5-4D29-BEE4-C0EEAC283895}"/>
              </a:ext>
            </a:extLst>
          </p:cNvPr>
          <p:cNvSpPr>
            <a:spLocks xmlns:a="http://schemas.openxmlformats.org/drawingml/2006/main" noGrp="1"/>
          </p:cNvSpPr>
          <p:nvPr/>
        </p:nvSpPr>
        <p:spPr>
          <a:xfrm xmlns:a="http://schemas.openxmlformats.org/drawingml/2006/main">
            <a:off x="533400" y="1885950"/>
            <a:ext cx="11125200" cy="9334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02A1D757-ADDA-4ED8-B96F-07EA6B0CEEF9}"/>
              </a:ext>
            </a:extLst>
          </p:cNvPr>
          <p:cNvSpPr>
            <a:spLocks xmlns:a="http://schemas.openxmlformats.org/drawingml/2006/main" noGrp="1"/>
          </p:cNvSpPr>
          <p:nvPr/>
        </p:nvSpPr>
        <p:spPr>
          <a:xfrm xmlns:a="http://schemas.openxmlformats.org/drawingml/2006/main">
            <a:off x="533400" y="1885950"/>
            <a:ext cx="66675" cy="9334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4366B43C-FD60-44BF-A13C-4362B369D6B5}"/>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4E7A9B"/>
                </a:solidFill>
                <a:latin typeface="Nimbus Sans"/>
                <a:ea typeface="Nimbus Sans"/>
                <a:cs typeface="Nimbus Sans"/>
              </a:defRPr>
            </a:pPr>
            <a:r>
              <a:rPr sz="1650" b="1">
                <a:solidFill>
                  <a:srgbClr val="4E7A9B"/>
                </a:solidFill>
                <a:latin typeface="Nimbus Sans"/>
                <a:ea typeface="Nimbus Sans"/>
                <a:cs typeface="Nimbus Sans"/>
              </a:rPr>
              <a:t>Learning intention</a:t>
            </a:r>
          </a:p>
        </p:txBody>
      </p:sp>
      <p:sp>
        <p:nvSpPr>
          <p:cNvPr id="14" name="Explain that a shadow forms where an object blocks light from a ">
            <a:extLst xmlns:a="http://schemas.openxmlformats.org/drawingml/2006/main">
              <a:ext uri="{FF2B5EF4-FFF2-40B4-BE49-F238E27FC236}">
                <a16:creationId xmlns:a16="http://schemas.microsoft.com/office/drawing/2014/main" id="{300DDC6B-70CA-43DB-ACFD-FFF74EA69FCB}"/>
              </a:ext>
            </a:extLst>
          </p:cNvPr>
          <p:cNvSpPr>
            <a:spLocks xmlns:a="http://schemas.openxmlformats.org/drawingml/2006/main" noGrp="1"/>
          </p:cNvSpPr>
          <p:nvPr/>
        </p:nvSpPr>
        <p:spPr>
          <a:xfrm xmlns:a="http://schemas.openxmlformats.org/drawingml/2006/main">
            <a:off x="762000" y="23622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Explain that a shadow forms where an object blocks light from a source.</a:t>
            </a:r>
          </a:p>
        </p:txBody>
      </p:sp>
      <p:sp>
        <p:nvSpPr>
          <p:cNvPr id="15" name="You need a clear dark shape.">
            <a:extLst xmlns:a="http://schemas.openxmlformats.org/drawingml/2006/main">
              <a:ext uri="{FF2B5EF4-FFF2-40B4-BE49-F238E27FC236}">
                <a16:creationId xmlns:a16="http://schemas.microsoft.com/office/drawing/2014/main" id="{E15D5A78-D974-4697-B8EA-723BD9F40B87}"/>
              </a:ext>
            </a:extLst>
          </p:cNvPr>
          <p:cNvSpPr>
            <a:spLocks xmlns:a="http://schemas.openxmlformats.org/drawingml/2006/main" noGrp="1"/>
          </p:cNvSpPr>
          <p:nvPr/>
        </p:nvSpPr>
        <p:spPr>
          <a:xfrm xmlns:a="http://schemas.openxmlformats.org/drawingml/2006/main">
            <a:off x="762000" y="304800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You need a clear dark shape.</a:t>
            </a:r>
          </a:p>
        </p:txBody>
      </p:sp>
      <p:sp>
        <p:nvSpPr>
          <p:cNvPr id="16" name="Which material should you choose?">
            <a:extLst xmlns:a="http://schemas.openxmlformats.org/drawingml/2006/main">
              <a:ext uri="{FF2B5EF4-FFF2-40B4-BE49-F238E27FC236}">
                <a16:creationId xmlns:a16="http://schemas.microsoft.com/office/drawing/2014/main" id="{DD2FB324-8FD3-4682-BFD1-8B586863761E}"/>
              </a:ext>
            </a:extLst>
          </p:cNvPr>
          <p:cNvSpPr>
            <a:spLocks xmlns:a="http://schemas.openxmlformats.org/drawingml/2006/main" noGrp="1"/>
          </p:cNvSpPr>
          <p:nvPr/>
        </p:nvSpPr>
        <p:spPr>
          <a:xfrm xmlns:a="http://schemas.openxmlformats.org/drawingml/2006/main">
            <a:off x="762000" y="3622358"/>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Which material should you choose?</a:t>
            </a:r>
          </a:p>
        </p:txBody>
      </p:sp>
      <p:sp>
        <p:nvSpPr>
          <p:cNvPr id="17" name="Use the light evidence.">
            <a:extLst xmlns:a="http://schemas.openxmlformats.org/drawingml/2006/main">
              <a:ext uri="{FF2B5EF4-FFF2-40B4-BE49-F238E27FC236}">
                <a16:creationId xmlns:a16="http://schemas.microsoft.com/office/drawing/2014/main" id="{80762309-661D-4D33-80AB-A3E5F73F9194}"/>
              </a:ext>
            </a:extLst>
          </p:cNvPr>
          <p:cNvSpPr>
            <a:spLocks xmlns:a="http://schemas.openxmlformats.org/drawingml/2006/main" noGrp="1"/>
          </p:cNvSpPr>
          <p:nvPr/>
        </p:nvSpPr>
        <p:spPr>
          <a:xfrm xmlns:a="http://schemas.openxmlformats.org/drawingml/2006/main">
            <a:off x="762000" y="419671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the light evidence.</a:t>
            </a:r>
          </a:p>
        </p:txBody>
      </p:sp>
    </p:spTree>
    <p:extLst>
      <p:ext uri="{BB962C8B-B14F-4D97-AF65-F5344CB8AC3E}">
        <p14:creationId xmlns:p14="http://schemas.microsoft.com/office/powerpoint/2010/main" val="11492369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70C602E9-6535-44D6-8163-C927C243C5C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766A45D-5990-4E80-9C5B-6D8F4191133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E13C914-6C41-4466-9A87-7299B304E4E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2F61F013-B348-43D8-945D-34F190681CC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trieval">
            <a:extLst xmlns:a="http://schemas.openxmlformats.org/drawingml/2006/main">
              <a:ext uri="{FF2B5EF4-FFF2-40B4-BE49-F238E27FC236}">
                <a16:creationId xmlns:a16="http://schemas.microsoft.com/office/drawing/2014/main" id="{3604E05E-94E7-47F6-B192-32970D0857C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8EF8F631-BBB4-4A41-AC94-ED628CAED82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Three clues for our design">
            <a:extLst xmlns:a="http://schemas.openxmlformats.org/drawingml/2006/main">
              <a:ext uri="{FF2B5EF4-FFF2-40B4-BE49-F238E27FC236}">
                <a16:creationId xmlns:a16="http://schemas.microsoft.com/office/drawing/2014/main" id="{86483371-C81C-45A7-A8A0-02C0AAAD1DA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Three clues for our design</a:t>
            </a:r>
          </a:p>
        </p:txBody>
      </p:sp>
      <p:sp>
        <p:nvSpPr>
          <p:cNvPr id="8" name="surface">
            <a:extLst xmlns:a="http://schemas.openxmlformats.org/drawingml/2006/main">
              <a:ext uri="{FF2B5EF4-FFF2-40B4-BE49-F238E27FC236}">
                <a16:creationId xmlns:a16="http://schemas.microsoft.com/office/drawing/2014/main" id="{885BADB9-B56C-4B4C-9C43-C96657EC0C3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09B2A333-B426-4760-820F-7FB0C9526A4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2 / 14">
            <a:extLst xmlns:a="http://schemas.openxmlformats.org/drawingml/2006/main">
              <a:ext uri="{FF2B5EF4-FFF2-40B4-BE49-F238E27FC236}">
                <a16:creationId xmlns:a16="http://schemas.microsoft.com/office/drawing/2014/main" id="{8351EA01-638F-4246-92B4-6A6E9840595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14</a:t>
            </a:r>
          </a:p>
        </p:txBody>
      </p:sp>
      <p:sp>
        <p:nvSpPr>
          <p:cNvPr id="11" name="1. Name a light source.">
            <a:extLst xmlns:a="http://schemas.openxmlformats.org/drawingml/2006/main">
              <a:ext uri="{FF2B5EF4-FFF2-40B4-BE49-F238E27FC236}">
                <a16:creationId xmlns:a16="http://schemas.microsoft.com/office/drawing/2014/main" id="{1455E71A-7F15-416C-BE8C-531A487DE8CF}"/>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1. Name a light source.</a:t>
            </a:r>
          </a:p>
        </p:txBody>
      </p:sp>
      <p:sp>
        <p:nvSpPr>
          <p:cNvPr id="12" name="2. What does a surface do when it reflects?">
            <a:extLst xmlns:a="http://schemas.openxmlformats.org/drawingml/2006/main">
              <a:ext uri="{FF2B5EF4-FFF2-40B4-BE49-F238E27FC236}">
                <a16:creationId xmlns:a16="http://schemas.microsoft.com/office/drawing/2014/main" id="{9E77D873-AE99-4C6C-96DE-286E4DF8C4C7}"/>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2. What does a surface do when it reflects?</a:t>
            </a:r>
          </a:p>
        </p:txBody>
      </p:sp>
      <p:sp>
        <p:nvSpPr>
          <p:cNvPr id="13" name="3. Can a card block light?">
            <a:extLst xmlns:a="http://schemas.openxmlformats.org/drawingml/2006/main">
              <a:ext uri="{FF2B5EF4-FFF2-40B4-BE49-F238E27FC236}">
                <a16:creationId xmlns:a16="http://schemas.microsoft.com/office/drawing/2014/main" id="{2B80FDF5-4A38-4958-B3F9-6F755B1F4271}"/>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3. Can a card block light?</a:t>
            </a:r>
          </a:p>
        </p:txBody>
      </p:sp>
    </p:spTree>
    <p:extLst>
      <p:ext uri="{BB962C8B-B14F-4D97-AF65-F5344CB8AC3E}">
        <p14:creationId xmlns:p14="http://schemas.microsoft.com/office/powerpoint/2010/main" val="11292989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F71C6A98-A681-452B-9026-F3D4F2D123D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9194B76-ADEE-4444-8990-232C4A285D8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B8CDD73-0441-44EB-915B-3CC0C01D15A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F99F623-01EF-4F60-A117-35FDFCF3A76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26AA02A4-AE64-4938-BA15-08C680BC052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4 min">
            <a:extLst xmlns:a="http://schemas.openxmlformats.org/drawingml/2006/main">
              <a:ext uri="{FF2B5EF4-FFF2-40B4-BE49-F238E27FC236}">
                <a16:creationId xmlns:a16="http://schemas.microsoft.com/office/drawing/2014/main" id="{4921502B-30E1-4369-83D7-57F884AF7594}"/>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I start without a blocker">
            <a:extLst xmlns:a="http://schemas.openxmlformats.org/drawingml/2006/main">
              <a:ext uri="{FF2B5EF4-FFF2-40B4-BE49-F238E27FC236}">
                <a16:creationId xmlns:a16="http://schemas.microsoft.com/office/drawing/2014/main" id="{5CAE1222-5ACB-4B0B-9E87-B2DC1DF503B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start without a blocker</a:t>
            </a:r>
          </a:p>
        </p:txBody>
      </p:sp>
      <p:sp>
        <p:nvSpPr>
          <p:cNvPr id="8" name="surface">
            <a:extLst xmlns:a="http://schemas.openxmlformats.org/drawingml/2006/main">
              <a:ext uri="{FF2B5EF4-FFF2-40B4-BE49-F238E27FC236}">
                <a16:creationId xmlns:a16="http://schemas.microsoft.com/office/drawing/2014/main" id="{7A634005-47BF-4DCF-A8EA-75C2CEC3DF0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506FE805-ABAD-4D26-A4B5-D5B11DB2373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3 / 14">
            <a:extLst xmlns:a="http://schemas.openxmlformats.org/drawingml/2006/main">
              <a:ext uri="{FF2B5EF4-FFF2-40B4-BE49-F238E27FC236}">
                <a16:creationId xmlns:a16="http://schemas.microsoft.com/office/drawing/2014/main" id="{B3EE9BB1-8E0E-4194-8F9D-DDFF2FDC561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14</a:t>
            </a:r>
          </a:p>
        </p:txBody>
      </p:sp>
      <p:sp>
        <p:nvSpPr>
          <p:cNvPr id="11" name="Editable scientific diagram">
            <a:extLst xmlns:a="http://schemas.openxmlformats.org/drawingml/2006/main">
              <a:ext uri="{FF2B5EF4-FFF2-40B4-BE49-F238E27FC236}">
                <a16:creationId xmlns:a16="http://schemas.microsoft.com/office/drawing/2014/main" id="{8446F6E6-E9F1-4896-AA85-065D215D5C0B}"/>
              </a:ext>
            </a:extLst>
          </p:cNvPr>
          <p:cNvSpPr>
            <a:spLocks xmlns:a="http://schemas.openxmlformats.org/drawingml/2006/main" noGrp="1"/>
          </p:cNvSpPr>
          <p:nvPr/>
        </p:nvSpPr>
        <p:spPr>
          <a:xfrm xmlns:a="http://schemas.openxmlformats.org/drawingml/2006/main">
            <a:off x="2773221" y="3677245"/>
            <a:ext cx="373346" cy="373346"/>
          </a:xfrm>
          <a:prstGeom xmlns:a="http://schemas.openxmlformats.org/drawingml/2006/main" prst="ellipse">
            <a:avLst/>
          </a:prstGeom>
          <a:solidFill xmlns:a="http://schemas.openxmlformats.org/drawingml/2006/main">
            <a:srgbClr val="FFF3D6"/>
          </a:solidFill>
          <a:ln xmlns:a="http://schemas.openxmlformats.org/drawingml/2006/main" w="22401">
            <a:solidFill>
              <a:srgbClr val="C9803B"/>
            </a:solidFill>
          </a:ln>
        </p:spPr>
      </p:sp>
      <p:sp>
        <p:nvSpPr>
          <p:cNvPr id="12" name="Diagram label: Small LED source">
            <a:extLst xmlns:a="http://schemas.openxmlformats.org/drawingml/2006/main">
              <a:ext uri="{FF2B5EF4-FFF2-40B4-BE49-F238E27FC236}">
                <a16:creationId xmlns:a16="http://schemas.microsoft.com/office/drawing/2014/main" id="{0DD55A4D-C880-4FD5-9990-4748276747DB}"/>
              </a:ext>
            </a:extLst>
          </p:cNvPr>
          <p:cNvSpPr>
            <a:spLocks xmlns:a="http://schemas.openxmlformats.org/drawingml/2006/main" noGrp="1"/>
          </p:cNvSpPr>
          <p:nvPr/>
        </p:nvSpPr>
        <p:spPr>
          <a:xfrm xmlns:a="http://schemas.openxmlformats.org/drawingml/2006/main">
            <a:off x="2549213" y="3079892"/>
            <a:ext cx="1642722"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Small LED source</a:t>
            </a:r>
          </a:p>
        </p:txBody>
      </p:sp>
      <p:sp>
        <p:nvSpPr>
          <p:cNvPr id="13" name="Editable scientific diagram">
            <a:extLst xmlns:a="http://schemas.openxmlformats.org/drawingml/2006/main">
              <a:ext uri="{FF2B5EF4-FFF2-40B4-BE49-F238E27FC236}">
                <a16:creationId xmlns:a16="http://schemas.microsoft.com/office/drawing/2014/main" id="{6FAC9474-258D-4FDE-871B-4463311452F8}"/>
              </a:ext>
            </a:extLst>
          </p:cNvPr>
          <p:cNvSpPr>
            <a:spLocks xmlns:a="http://schemas.openxmlformats.org/drawingml/2006/main" noGrp="1"/>
          </p:cNvSpPr>
          <p:nvPr/>
        </p:nvSpPr>
        <p:spPr>
          <a:xfrm xmlns:a="http://schemas.openxmlformats.org/drawingml/2006/main">
            <a:off x="8933429" y="2370534"/>
            <a:ext cx="179206" cy="3061437"/>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14" name="Diagram label: Screen">
            <a:extLst xmlns:a="http://schemas.openxmlformats.org/drawingml/2006/main">
              <a:ext uri="{FF2B5EF4-FFF2-40B4-BE49-F238E27FC236}">
                <a16:creationId xmlns:a16="http://schemas.microsoft.com/office/drawing/2014/main" id="{78855EC7-1DC2-4D2B-9AED-948F1760F579}"/>
              </a:ext>
            </a:extLst>
          </p:cNvPr>
          <p:cNvSpPr>
            <a:spLocks xmlns:a="http://schemas.openxmlformats.org/drawingml/2006/main" noGrp="1"/>
          </p:cNvSpPr>
          <p:nvPr/>
        </p:nvSpPr>
        <p:spPr>
          <a:xfrm xmlns:a="http://schemas.openxmlformats.org/drawingml/2006/main">
            <a:off x="8112068" y="5506641"/>
            <a:ext cx="1642722"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Screen</a:t>
            </a:r>
          </a:p>
        </p:txBody>
      </p:sp>
      <p:sp>
        <p:nvSpPr>
          <p:cNvPr id="15" name="Diagram line">
            <a:extLst xmlns:a="http://schemas.openxmlformats.org/drawingml/2006/main">
              <a:ext uri="{FF2B5EF4-FFF2-40B4-BE49-F238E27FC236}">
                <a16:creationId xmlns:a16="http://schemas.microsoft.com/office/drawing/2014/main" id="{FDB33084-BE03-4EB0-82E0-D5BA467D9C8F}"/>
              </a:ext>
            </a:extLst>
          </p:cNvPr>
          <p:cNvSpPr>
            <a:spLocks xmlns:a="http://schemas.openxmlformats.org/drawingml/2006/main" noGrp="1"/>
          </p:cNvSpPr>
          <p:nvPr/>
        </p:nvSpPr>
        <p:spPr>
          <a:xfrm xmlns:a="http://schemas.openxmlformats.org/drawingml/2006/main" flipH="0" flipV="1">
            <a:off x="3146567" y="2758779"/>
            <a:ext cx="5709889" cy="1105140"/>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6" name="Diagram arrowhead">
            <a:extLst xmlns:a="http://schemas.openxmlformats.org/drawingml/2006/main">
              <a:ext uri="{FF2B5EF4-FFF2-40B4-BE49-F238E27FC236}">
                <a16:creationId xmlns:a16="http://schemas.microsoft.com/office/drawing/2014/main" id="{BB6BECDA-7AA0-46E5-A107-F8830FC7F77B}"/>
              </a:ext>
            </a:extLst>
          </p:cNvPr>
          <p:cNvSpPr>
            <a:spLocks xmlns:a="http://schemas.openxmlformats.org/drawingml/2006/main" noGrp="1"/>
          </p:cNvSpPr>
          <p:nvPr/>
        </p:nvSpPr>
        <p:spPr>
          <a:xfrm xmlns:a="http://schemas.openxmlformats.org/drawingml/2006/main" rot="4742756">
            <a:off x="8829845" y="2701544"/>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7" name="Diagram line">
            <a:extLst xmlns:a="http://schemas.openxmlformats.org/drawingml/2006/main">
              <a:ext uri="{FF2B5EF4-FFF2-40B4-BE49-F238E27FC236}">
                <a16:creationId xmlns:a16="http://schemas.microsoft.com/office/drawing/2014/main" id="{DE8A441F-A00D-43CA-830B-448800162B08}"/>
              </a:ext>
            </a:extLst>
          </p:cNvPr>
          <p:cNvSpPr>
            <a:spLocks xmlns:a="http://schemas.openxmlformats.org/drawingml/2006/main" noGrp="1"/>
          </p:cNvSpPr>
          <p:nvPr/>
        </p:nvSpPr>
        <p:spPr>
          <a:xfrm xmlns:a="http://schemas.openxmlformats.org/drawingml/2006/main" flipH="0" flipV="0">
            <a:off x="3146567" y="3863918"/>
            <a:ext cx="5708460" cy="953"/>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8" name="Diagram arrowhead">
            <a:extLst xmlns:a="http://schemas.openxmlformats.org/drawingml/2006/main">
              <a:ext uri="{FF2B5EF4-FFF2-40B4-BE49-F238E27FC236}">
                <a16:creationId xmlns:a16="http://schemas.microsoft.com/office/drawing/2014/main" id="{0ADA8384-1B26-4C0F-B7DD-5B3E083F0F11}"/>
              </a:ext>
            </a:extLst>
          </p:cNvPr>
          <p:cNvSpPr>
            <a:spLocks xmlns:a="http://schemas.openxmlformats.org/drawingml/2006/main" noGrp="1"/>
          </p:cNvSpPr>
          <p:nvPr/>
        </p:nvSpPr>
        <p:spPr>
          <a:xfrm xmlns:a="http://schemas.openxmlformats.org/drawingml/2006/main" rot="5400000">
            <a:off x="8828893" y="3811650"/>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9" name="Diagram line">
            <a:extLst xmlns:a="http://schemas.openxmlformats.org/drawingml/2006/main">
              <a:ext uri="{FF2B5EF4-FFF2-40B4-BE49-F238E27FC236}">
                <a16:creationId xmlns:a16="http://schemas.microsoft.com/office/drawing/2014/main" id="{7BAD6D20-E91F-4733-A122-F7C83FBE9149}"/>
              </a:ext>
            </a:extLst>
          </p:cNvPr>
          <p:cNvSpPr>
            <a:spLocks xmlns:a="http://schemas.openxmlformats.org/drawingml/2006/main" noGrp="1"/>
          </p:cNvSpPr>
          <p:nvPr/>
        </p:nvSpPr>
        <p:spPr>
          <a:xfrm xmlns:a="http://schemas.openxmlformats.org/drawingml/2006/main" flipH="0" flipV="0">
            <a:off x="3146567" y="3863918"/>
            <a:ext cx="5710079" cy="1178855"/>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20" name="Diagram arrowhead">
            <a:extLst xmlns:a="http://schemas.openxmlformats.org/drawingml/2006/main">
              <a:ext uri="{FF2B5EF4-FFF2-40B4-BE49-F238E27FC236}">
                <a16:creationId xmlns:a16="http://schemas.microsoft.com/office/drawing/2014/main" id="{548FAD34-466F-412E-8817-9EEEDC880F47}"/>
              </a:ext>
            </a:extLst>
          </p:cNvPr>
          <p:cNvSpPr>
            <a:spLocks xmlns:a="http://schemas.openxmlformats.org/drawingml/2006/main" noGrp="1"/>
          </p:cNvSpPr>
          <p:nvPr/>
        </p:nvSpPr>
        <p:spPr>
          <a:xfrm xmlns:a="http://schemas.openxmlformats.org/drawingml/2006/main" rot="6099895">
            <a:off x="8829972" y="4995789"/>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1" name="Diagram label: No card blocks the light.">
            <a:extLst xmlns:a="http://schemas.openxmlformats.org/drawingml/2006/main">
              <a:ext uri="{FF2B5EF4-FFF2-40B4-BE49-F238E27FC236}">
                <a16:creationId xmlns:a16="http://schemas.microsoft.com/office/drawing/2014/main" id="{EB18A4B4-F3F4-45CE-B32C-D6EB120EEF76}"/>
              </a:ext>
            </a:extLst>
          </p:cNvPr>
          <p:cNvSpPr>
            <a:spLocks xmlns:a="http://schemas.openxmlformats.org/drawingml/2006/main" noGrp="1"/>
          </p:cNvSpPr>
          <p:nvPr/>
        </p:nvSpPr>
        <p:spPr>
          <a:xfrm xmlns:a="http://schemas.openxmlformats.org/drawingml/2006/main">
            <a:off x="4714620" y="2519873"/>
            <a:ext cx="3360114" cy="52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No card blocks the light.</a:t>
            </a:r>
          </a:p>
        </p:txBody>
      </p:sp>
      <p:sp>
        <p:nvSpPr>
          <p:cNvPr id="22" name="Diagram label: The screen receives light&#10;from the source.">
            <a:extLst xmlns:a="http://schemas.openxmlformats.org/drawingml/2006/main">
              <a:ext uri="{FF2B5EF4-FFF2-40B4-BE49-F238E27FC236}">
                <a16:creationId xmlns:a16="http://schemas.microsoft.com/office/drawing/2014/main" id="{535A03FC-7AE1-456D-8D07-8FF83CD86ED9}"/>
              </a:ext>
            </a:extLst>
          </p:cNvPr>
          <p:cNvSpPr>
            <a:spLocks xmlns:a="http://schemas.openxmlformats.org/drawingml/2006/main" noGrp="1"/>
          </p:cNvSpPr>
          <p:nvPr/>
        </p:nvSpPr>
        <p:spPr>
          <a:xfrm xmlns:a="http://schemas.openxmlformats.org/drawingml/2006/main">
            <a:off x="4191935" y="4685279"/>
            <a:ext cx="3658791" cy="597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The screen receives light</a:t>
            </a:r>
          </a:p>
          <a:p xmlns:a="http://schemas.openxmlformats.org/drawingml/2006/main">
            <a:pPr algn="l">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from the source.</a:t>
            </a:r>
          </a:p>
        </p:txBody>
      </p:sp>
      <p:sp>
        <p:nvSpPr>
          <p:cNvPr id="23" name="The source sends light to the screen.  Light reaches the tested ">
            <a:extLst xmlns:a="http://schemas.openxmlformats.org/drawingml/2006/main">
              <a:ext uri="{FF2B5EF4-FFF2-40B4-BE49-F238E27FC236}">
                <a16:creationId xmlns:a16="http://schemas.microsoft.com/office/drawing/2014/main" id="{F3ED019D-D30D-4FC9-9C74-94F2A7C69F40}"/>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The source sends light to the screen. Light reaches the tested area.</a:t>
            </a:r>
          </a:p>
        </p:txBody>
      </p:sp>
    </p:spTree>
    <p:extLst>
      <p:ext uri="{BB962C8B-B14F-4D97-AF65-F5344CB8AC3E}">
        <p14:creationId xmlns:p14="http://schemas.microsoft.com/office/powerpoint/2010/main" val="17123708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urface">
            <a:extLst xmlns:a="http://schemas.openxmlformats.org/drawingml/2006/main">
              <a:ext uri="{FF2B5EF4-FFF2-40B4-BE49-F238E27FC236}">
                <a16:creationId xmlns:a16="http://schemas.microsoft.com/office/drawing/2014/main" id="{B650BAA8-DC0D-43EA-BDEE-918771B183D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BBCF9A3-6938-43D7-8B36-E3D32B07586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30ECFEE-954F-4038-9B66-650E73E485D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1C5A4419-2749-4528-ABF4-759FD9FC0B8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97914B27-E6D3-42A8-8441-F750E44395D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96ABD085-E3E0-4619-A0E3-1AC7C287C34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I put a card in the path">
            <a:extLst xmlns:a="http://schemas.openxmlformats.org/drawingml/2006/main">
              <a:ext uri="{FF2B5EF4-FFF2-40B4-BE49-F238E27FC236}">
                <a16:creationId xmlns:a16="http://schemas.microsoft.com/office/drawing/2014/main" id="{74B8C087-DBFA-46AA-9DCE-C57CE8E9971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put a card in the path</a:t>
            </a:r>
          </a:p>
        </p:txBody>
      </p:sp>
      <p:sp>
        <p:nvSpPr>
          <p:cNvPr id="8" name="surface">
            <a:extLst xmlns:a="http://schemas.openxmlformats.org/drawingml/2006/main">
              <a:ext uri="{FF2B5EF4-FFF2-40B4-BE49-F238E27FC236}">
                <a16:creationId xmlns:a16="http://schemas.microsoft.com/office/drawing/2014/main" id="{2F41460E-05D5-4CA7-97CC-21E9D8FECA9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9477B59F-CD67-47B3-8AE8-527F82964FC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4 / 14">
            <a:extLst xmlns:a="http://schemas.openxmlformats.org/drawingml/2006/main">
              <a:ext uri="{FF2B5EF4-FFF2-40B4-BE49-F238E27FC236}">
                <a16:creationId xmlns:a16="http://schemas.microsoft.com/office/drawing/2014/main" id="{57D112AF-12B1-46EE-9F82-999695F0F52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14</a:t>
            </a:r>
          </a:p>
        </p:txBody>
      </p:sp>
      <p:sp>
        <p:nvSpPr>
          <p:cNvPr id="11" name="Editable scientific diagram">
            <a:extLst xmlns:a="http://schemas.openxmlformats.org/drawingml/2006/main">
              <a:ext uri="{FF2B5EF4-FFF2-40B4-BE49-F238E27FC236}">
                <a16:creationId xmlns:a16="http://schemas.microsoft.com/office/drawing/2014/main" id="{791B7BB0-766E-49A3-80C9-F14B9D84E8A7}"/>
              </a:ext>
            </a:extLst>
          </p:cNvPr>
          <p:cNvSpPr>
            <a:spLocks xmlns:a="http://schemas.openxmlformats.org/drawingml/2006/main" noGrp="1"/>
          </p:cNvSpPr>
          <p:nvPr/>
        </p:nvSpPr>
        <p:spPr>
          <a:xfrm xmlns:a="http://schemas.openxmlformats.org/drawingml/2006/main">
            <a:off x="2773221" y="3677245"/>
            <a:ext cx="373346" cy="373346"/>
          </a:xfrm>
          <a:prstGeom xmlns:a="http://schemas.openxmlformats.org/drawingml/2006/main" prst="ellipse">
            <a:avLst/>
          </a:prstGeom>
          <a:solidFill xmlns:a="http://schemas.openxmlformats.org/drawingml/2006/main">
            <a:srgbClr val="FFF3D6"/>
          </a:solidFill>
          <a:ln xmlns:a="http://schemas.openxmlformats.org/drawingml/2006/main" w="22401">
            <a:solidFill>
              <a:srgbClr val="C9803B"/>
            </a:solidFill>
          </a:ln>
        </p:spPr>
      </p:sp>
      <p:sp>
        <p:nvSpPr>
          <p:cNvPr id="12" name="Diagram label: Small LED source">
            <a:extLst xmlns:a="http://schemas.openxmlformats.org/drawingml/2006/main">
              <a:ext uri="{FF2B5EF4-FFF2-40B4-BE49-F238E27FC236}">
                <a16:creationId xmlns:a16="http://schemas.microsoft.com/office/drawing/2014/main" id="{9D8E8877-D1D0-4C69-A350-4074EBF72B16}"/>
              </a:ext>
            </a:extLst>
          </p:cNvPr>
          <p:cNvSpPr>
            <a:spLocks xmlns:a="http://schemas.openxmlformats.org/drawingml/2006/main" noGrp="1"/>
          </p:cNvSpPr>
          <p:nvPr/>
        </p:nvSpPr>
        <p:spPr>
          <a:xfrm xmlns:a="http://schemas.openxmlformats.org/drawingml/2006/main">
            <a:off x="2549213" y="3079892"/>
            <a:ext cx="1642722"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Small LED source</a:t>
            </a:r>
          </a:p>
        </p:txBody>
      </p:sp>
      <p:sp>
        <p:nvSpPr>
          <p:cNvPr id="13" name="Editable scientific diagram">
            <a:extLst xmlns:a="http://schemas.openxmlformats.org/drawingml/2006/main">
              <a:ext uri="{FF2B5EF4-FFF2-40B4-BE49-F238E27FC236}">
                <a16:creationId xmlns:a16="http://schemas.microsoft.com/office/drawing/2014/main" id="{6CA4E193-321F-4FCE-80F6-C93B188FAF82}"/>
              </a:ext>
            </a:extLst>
          </p:cNvPr>
          <p:cNvSpPr>
            <a:spLocks xmlns:a="http://schemas.openxmlformats.org/drawingml/2006/main" noGrp="1"/>
          </p:cNvSpPr>
          <p:nvPr/>
        </p:nvSpPr>
        <p:spPr>
          <a:xfrm xmlns:a="http://schemas.openxmlformats.org/drawingml/2006/main">
            <a:off x="8933429" y="2370534"/>
            <a:ext cx="179206" cy="3061437"/>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14" name="Diagram label: Screen">
            <a:extLst xmlns:a="http://schemas.openxmlformats.org/drawingml/2006/main">
              <a:ext uri="{FF2B5EF4-FFF2-40B4-BE49-F238E27FC236}">
                <a16:creationId xmlns:a16="http://schemas.microsoft.com/office/drawing/2014/main" id="{D360C7F0-DC92-4EBD-9FFE-F721126EE449}"/>
              </a:ext>
            </a:extLst>
          </p:cNvPr>
          <p:cNvSpPr>
            <a:spLocks xmlns:a="http://schemas.openxmlformats.org/drawingml/2006/main" noGrp="1"/>
          </p:cNvSpPr>
          <p:nvPr/>
        </p:nvSpPr>
        <p:spPr>
          <a:xfrm xmlns:a="http://schemas.openxmlformats.org/drawingml/2006/main">
            <a:off x="8112068" y="5506641"/>
            <a:ext cx="1642722"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Screen</a:t>
            </a:r>
          </a:p>
        </p:txBody>
      </p:sp>
      <p:sp>
        <p:nvSpPr>
          <p:cNvPr id="15" name="Diagram line">
            <a:extLst xmlns:a="http://schemas.openxmlformats.org/drawingml/2006/main">
              <a:ext uri="{FF2B5EF4-FFF2-40B4-BE49-F238E27FC236}">
                <a16:creationId xmlns:a16="http://schemas.microsoft.com/office/drawing/2014/main" id="{DF30C543-B87E-4598-9ED8-F44B7732CFBB}"/>
              </a:ext>
            </a:extLst>
          </p:cNvPr>
          <p:cNvSpPr>
            <a:spLocks xmlns:a="http://schemas.openxmlformats.org/drawingml/2006/main" noGrp="1"/>
          </p:cNvSpPr>
          <p:nvPr/>
        </p:nvSpPr>
        <p:spPr>
          <a:xfrm xmlns:a="http://schemas.openxmlformats.org/drawingml/2006/main" flipH="0" flipV="0">
            <a:off x="3146567" y="3863918"/>
            <a:ext cx="2423015" cy="953"/>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6" name="Diagram arrowhead">
            <a:extLst xmlns:a="http://schemas.openxmlformats.org/drawingml/2006/main">
              <a:ext uri="{FF2B5EF4-FFF2-40B4-BE49-F238E27FC236}">
                <a16:creationId xmlns:a16="http://schemas.microsoft.com/office/drawing/2014/main" id="{CB4A19F3-4996-421E-A6B4-B4CABB4A85C6}"/>
              </a:ext>
            </a:extLst>
          </p:cNvPr>
          <p:cNvSpPr>
            <a:spLocks xmlns:a="http://schemas.openxmlformats.org/drawingml/2006/main" noGrp="1"/>
          </p:cNvSpPr>
          <p:nvPr/>
        </p:nvSpPr>
        <p:spPr>
          <a:xfrm xmlns:a="http://schemas.openxmlformats.org/drawingml/2006/main" rot="5400000">
            <a:off x="5543448" y="3811650"/>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7" name="Editable scientific diagram">
            <a:extLst xmlns:a="http://schemas.openxmlformats.org/drawingml/2006/main">
              <a:ext uri="{FF2B5EF4-FFF2-40B4-BE49-F238E27FC236}">
                <a16:creationId xmlns:a16="http://schemas.microsoft.com/office/drawing/2014/main" id="{9BFF2D16-FF91-4D0C-AA50-572651DD4AD3}"/>
              </a:ext>
            </a:extLst>
          </p:cNvPr>
          <p:cNvSpPr>
            <a:spLocks xmlns:a="http://schemas.openxmlformats.org/drawingml/2006/main" noGrp="1"/>
          </p:cNvSpPr>
          <p:nvPr/>
        </p:nvSpPr>
        <p:spPr>
          <a:xfrm xmlns:a="http://schemas.openxmlformats.org/drawingml/2006/main">
            <a:off x="5595716" y="3565242"/>
            <a:ext cx="104537" cy="597354"/>
          </a:xfrm>
          <a:prstGeom xmlns:a="http://schemas.openxmlformats.org/drawingml/2006/main" prst="rect">
            <a:avLst/>
          </a:prstGeom>
          <a:solidFill xmlns:a="http://schemas.openxmlformats.org/drawingml/2006/main">
            <a:srgbClr val="1F2937"/>
          </a:solidFill>
          <a:ln xmlns:a="http://schemas.openxmlformats.org/drawingml/2006/main" w="22401">
            <a:solidFill>
              <a:srgbClr val="1F2937"/>
            </a:solidFill>
          </a:ln>
        </p:spPr>
      </p:sp>
      <p:sp>
        <p:nvSpPr>
          <p:cNvPr id="18" name="Diagram line">
            <a:extLst xmlns:a="http://schemas.openxmlformats.org/drawingml/2006/main">
              <a:ext uri="{FF2B5EF4-FFF2-40B4-BE49-F238E27FC236}">
                <a16:creationId xmlns:a16="http://schemas.microsoft.com/office/drawing/2014/main" id="{C68BA736-E17D-4BE4-9CA3-2098392F2945}"/>
              </a:ext>
            </a:extLst>
          </p:cNvPr>
          <p:cNvSpPr>
            <a:spLocks xmlns:a="http://schemas.openxmlformats.org/drawingml/2006/main" noGrp="1"/>
          </p:cNvSpPr>
          <p:nvPr/>
        </p:nvSpPr>
        <p:spPr>
          <a:xfrm xmlns:a="http://schemas.openxmlformats.org/drawingml/2006/main" flipH="0" flipV="1">
            <a:off x="2959894" y="3208850"/>
            <a:ext cx="5895613" cy="655068"/>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9" name="Diagram arrowhead">
            <a:extLst xmlns:a="http://schemas.openxmlformats.org/drawingml/2006/main">
              <a:ext uri="{FF2B5EF4-FFF2-40B4-BE49-F238E27FC236}">
                <a16:creationId xmlns:a16="http://schemas.microsoft.com/office/drawing/2014/main" id="{3AFDBF32-8070-41EC-9AC5-C8F4925591F8}"/>
              </a:ext>
            </a:extLst>
          </p:cNvPr>
          <p:cNvSpPr>
            <a:spLocks xmlns:a="http://schemas.openxmlformats.org/drawingml/2006/main" noGrp="1"/>
          </p:cNvSpPr>
          <p:nvPr/>
        </p:nvSpPr>
        <p:spPr>
          <a:xfrm xmlns:a="http://schemas.openxmlformats.org/drawingml/2006/main" rot="5019588">
            <a:off x="8829212" y="3153696"/>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0" name="Diagram line">
            <a:extLst xmlns:a="http://schemas.openxmlformats.org/drawingml/2006/main">
              <a:ext uri="{FF2B5EF4-FFF2-40B4-BE49-F238E27FC236}">
                <a16:creationId xmlns:a16="http://schemas.microsoft.com/office/drawing/2014/main" id="{EFECE7B0-1C39-489C-9D09-0E964D9DC6AF}"/>
              </a:ext>
            </a:extLst>
          </p:cNvPr>
          <p:cNvSpPr>
            <a:spLocks xmlns:a="http://schemas.openxmlformats.org/drawingml/2006/main" noGrp="1"/>
          </p:cNvSpPr>
          <p:nvPr/>
        </p:nvSpPr>
        <p:spPr>
          <a:xfrm xmlns:a="http://schemas.openxmlformats.org/drawingml/2006/main" flipH="0" flipV="0">
            <a:off x="2959894" y="3863918"/>
            <a:ext cx="5895613" cy="655068"/>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21" name="Diagram arrowhead">
            <a:extLst xmlns:a="http://schemas.openxmlformats.org/drawingml/2006/main">
              <a:ext uri="{FF2B5EF4-FFF2-40B4-BE49-F238E27FC236}">
                <a16:creationId xmlns:a16="http://schemas.microsoft.com/office/drawing/2014/main" id="{20CC3D39-EF62-4EE5-AB8A-08A46C14278B}"/>
              </a:ext>
            </a:extLst>
          </p:cNvPr>
          <p:cNvSpPr>
            <a:spLocks xmlns:a="http://schemas.openxmlformats.org/drawingml/2006/main" noGrp="1"/>
          </p:cNvSpPr>
          <p:nvPr/>
        </p:nvSpPr>
        <p:spPr>
          <a:xfrm xmlns:a="http://schemas.openxmlformats.org/drawingml/2006/main" rot="5780412">
            <a:off x="8829212" y="4469604"/>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2" name="Diagram label: Card blocks&#10;this light path.">
            <a:extLst xmlns:a="http://schemas.openxmlformats.org/drawingml/2006/main">
              <a:ext uri="{FF2B5EF4-FFF2-40B4-BE49-F238E27FC236}">
                <a16:creationId xmlns:a16="http://schemas.microsoft.com/office/drawing/2014/main" id="{B370FB10-05BB-49EB-BF84-11D19DF03650}"/>
              </a:ext>
            </a:extLst>
          </p:cNvPr>
          <p:cNvSpPr>
            <a:spLocks xmlns:a="http://schemas.openxmlformats.org/drawingml/2006/main" noGrp="1"/>
          </p:cNvSpPr>
          <p:nvPr/>
        </p:nvSpPr>
        <p:spPr>
          <a:xfrm xmlns:a="http://schemas.openxmlformats.org/drawingml/2006/main">
            <a:off x="4863958" y="2594542"/>
            <a:ext cx="1792061" cy="560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Card blocks</a:t>
            </a:r>
          </a:p>
          <a:p xmlns:a="http://schemas.openxmlformats.org/drawingml/2006/main">
            <a:pPr algn="l">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this light path.</a:t>
            </a:r>
          </a:p>
        </p:txBody>
      </p:sp>
      <p:sp>
        <p:nvSpPr>
          <p:cNvPr id="23" name="Editable scientific diagram">
            <a:extLst xmlns:a="http://schemas.openxmlformats.org/drawingml/2006/main">
              <a:ext uri="{FF2B5EF4-FFF2-40B4-BE49-F238E27FC236}">
                <a16:creationId xmlns:a16="http://schemas.microsoft.com/office/drawing/2014/main" id="{B5676D42-33E6-45E7-8467-9AEB28BDEA91}"/>
              </a:ext>
            </a:extLst>
          </p:cNvPr>
          <p:cNvSpPr>
            <a:spLocks xmlns:a="http://schemas.openxmlformats.org/drawingml/2006/main" noGrp="1"/>
          </p:cNvSpPr>
          <p:nvPr/>
        </p:nvSpPr>
        <p:spPr>
          <a:xfrm xmlns:a="http://schemas.openxmlformats.org/drawingml/2006/main">
            <a:off x="8933429" y="3200192"/>
            <a:ext cx="179206" cy="1327452"/>
          </a:xfrm>
          <a:prstGeom xmlns:a="http://schemas.openxmlformats.org/drawingml/2006/main" prst="rect">
            <a:avLst/>
          </a:prstGeom>
          <a:solidFill xmlns:a="http://schemas.openxmlformats.org/drawingml/2006/main">
            <a:srgbClr val="626D7A"/>
          </a:solidFill>
          <a:ln xmlns:a="http://schemas.openxmlformats.org/drawingml/2006/main" w="22401">
            <a:solidFill>
              <a:srgbClr val="1F2937"/>
            </a:solidFill>
          </a:ln>
        </p:spPr>
      </p:sp>
      <p:sp>
        <p:nvSpPr>
          <p:cNvPr id="24" name="Diagram label: Less light reaches&#10;this screen area:&#10;a shadow.">
            <a:extLst xmlns:a="http://schemas.openxmlformats.org/drawingml/2006/main">
              <a:ext uri="{FF2B5EF4-FFF2-40B4-BE49-F238E27FC236}">
                <a16:creationId xmlns:a16="http://schemas.microsoft.com/office/drawing/2014/main" id="{90A6F9C8-A415-4C33-8F3E-FD08B4B3BF3B}"/>
              </a:ext>
            </a:extLst>
          </p:cNvPr>
          <p:cNvSpPr>
            <a:spLocks xmlns:a="http://schemas.openxmlformats.org/drawingml/2006/main" noGrp="1"/>
          </p:cNvSpPr>
          <p:nvPr/>
        </p:nvSpPr>
        <p:spPr>
          <a:xfrm xmlns:a="http://schemas.openxmlformats.org/drawingml/2006/main">
            <a:off x="6842692" y="4610610"/>
            <a:ext cx="1941399" cy="746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Less light reaches</a:t>
            </a:r>
          </a:p>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this screen area:</a:t>
            </a:r>
          </a:p>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a shadow.</a:t>
            </a:r>
          </a:p>
        </p:txBody>
      </p:sp>
      <p:sp>
        <p:nvSpPr>
          <p:cNvPr id="25" name="The opaque card blocks light.  Less reaches part of the screen. ">
            <a:extLst xmlns:a="http://schemas.openxmlformats.org/drawingml/2006/main">
              <a:ext uri="{FF2B5EF4-FFF2-40B4-BE49-F238E27FC236}">
                <a16:creationId xmlns:a16="http://schemas.microsoft.com/office/drawing/2014/main" id="{2890FC3C-CF02-406B-B05C-9D71CAD98F93}"/>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The opaque card blocks light. Less reaches part of the screen. That darker area is the shadow.</a:t>
            </a:r>
          </a:p>
        </p:txBody>
      </p:sp>
    </p:spTree>
    <p:extLst>
      <p:ext uri="{BB962C8B-B14F-4D97-AF65-F5344CB8AC3E}">
        <p14:creationId xmlns:p14="http://schemas.microsoft.com/office/powerpoint/2010/main" val="6802391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surface">
            <a:extLst xmlns:a="http://schemas.openxmlformats.org/drawingml/2006/main">
              <a:ext uri="{FF2B5EF4-FFF2-40B4-BE49-F238E27FC236}">
                <a16:creationId xmlns:a16="http://schemas.microsoft.com/office/drawing/2014/main" id="{8F8F3CEB-CF48-4E99-A644-6AF11857E0D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2244897-55F6-4A2F-9967-0F1AEB6572B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209AA2F-4837-4866-B06E-EEA1D0BE400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9891AE81-901D-4EED-A8F1-9520E9061E4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ACF06EA0-730C-4194-BC80-925F04039DE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Materials let different amounts through">
            <a:extLst xmlns:a="http://schemas.openxmlformats.org/drawingml/2006/main">
              <a:ext uri="{FF2B5EF4-FFF2-40B4-BE49-F238E27FC236}">
                <a16:creationId xmlns:a16="http://schemas.microsoft.com/office/drawing/2014/main" id="{9D39AF3C-7087-4B50-BAB9-3E547DE08F9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Materials let different amounts through</a:t>
            </a:r>
          </a:p>
        </p:txBody>
      </p:sp>
      <p:sp>
        <p:nvSpPr>
          <p:cNvPr id="7" name="surface">
            <a:extLst xmlns:a="http://schemas.openxmlformats.org/drawingml/2006/main">
              <a:ext uri="{FF2B5EF4-FFF2-40B4-BE49-F238E27FC236}">
                <a16:creationId xmlns:a16="http://schemas.microsoft.com/office/drawing/2014/main" id="{8E077D50-053A-4EEF-AF49-2E8FBA83EAE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hadow-screen lab">
            <a:extLst xmlns:a="http://schemas.openxmlformats.org/drawingml/2006/main">
              <a:ext uri="{FF2B5EF4-FFF2-40B4-BE49-F238E27FC236}">
                <a16:creationId xmlns:a16="http://schemas.microsoft.com/office/drawing/2014/main" id="{627367DC-530D-465C-9464-7F690F95A4C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9" name="5 / 14">
            <a:extLst xmlns:a="http://schemas.openxmlformats.org/drawingml/2006/main">
              <a:ext uri="{FF2B5EF4-FFF2-40B4-BE49-F238E27FC236}">
                <a16:creationId xmlns:a16="http://schemas.microsoft.com/office/drawing/2014/main" id="{BD6A3FF0-7DA4-4F4C-9A47-BD01E253B57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14</a:t>
            </a:r>
          </a:p>
        </p:txBody>
      </p:sp>
      <p:sp>
        <p:nvSpPr>
          <p:cNvPr id="10" name="Diagram label: Same source, screen and sample position">
            <a:extLst xmlns:a="http://schemas.openxmlformats.org/drawingml/2006/main">
              <a:ext uri="{FF2B5EF4-FFF2-40B4-BE49-F238E27FC236}">
                <a16:creationId xmlns:a16="http://schemas.microsoft.com/office/drawing/2014/main" id="{CFC1C2E0-A67D-48D4-9AF8-B3421F4A629A}"/>
              </a:ext>
            </a:extLst>
          </p:cNvPr>
          <p:cNvSpPr>
            <a:spLocks xmlns:a="http://schemas.openxmlformats.org/drawingml/2006/main" noGrp="1"/>
          </p:cNvSpPr>
          <p:nvPr/>
        </p:nvSpPr>
        <p:spPr>
          <a:xfrm xmlns:a="http://schemas.openxmlformats.org/drawingml/2006/main">
            <a:off x="2773221" y="2071858"/>
            <a:ext cx="6720228"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Same source, screen and sample position</a:t>
            </a:r>
          </a:p>
        </p:txBody>
      </p:sp>
      <p:sp>
        <p:nvSpPr>
          <p:cNvPr id="11" name="Diagram label: Opaque card">
            <a:extLst xmlns:a="http://schemas.openxmlformats.org/drawingml/2006/main">
              <a:ext uri="{FF2B5EF4-FFF2-40B4-BE49-F238E27FC236}">
                <a16:creationId xmlns:a16="http://schemas.microsoft.com/office/drawing/2014/main" id="{DDEA74C1-C976-453F-B13D-BCDE53A38436}"/>
              </a:ext>
            </a:extLst>
          </p:cNvPr>
          <p:cNvSpPr>
            <a:spLocks xmlns:a="http://schemas.openxmlformats.org/drawingml/2006/main" noGrp="1"/>
          </p:cNvSpPr>
          <p:nvPr/>
        </p:nvSpPr>
        <p:spPr>
          <a:xfrm xmlns:a="http://schemas.openxmlformats.org/drawingml/2006/main">
            <a:off x="2661217" y="2706546"/>
            <a:ext cx="2240076" cy="560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Opaque card</a:t>
            </a:r>
          </a:p>
        </p:txBody>
      </p:sp>
      <p:sp>
        <p:nvSpPr>
          <p:cNvPr id="12" name="Diagram line">
            <a:extLst xmlns:a="http://schemas.openxmlformats.org/drawingml/2006/main">
              <a:ext uri="{FF2B5EF4-FFF2-40B4-BE49-F238E27FC236}">
                <a16:creationId xmlns:a16="http://schemas.microsoft.com/office/drawing/2014/main" id="{1C44C481-053E-4F10-8653-B6ED31F2F768}"/>
              </a:ext>
            </a:extLst>
          </p:cNvPr>
          <p:cNvSpPr>
            <a:spLocks xmlns:a="http://schemas.openxmlformats.org/drawingml/2006/main" noGrp="1"/>
          </p:cNvSpPr>
          <p:nvPr/>
        </p:nvSpPr>
        <p:spPr>
          <a:xfrm xmlns:a="http://schemas.openxmlformats.org/drawingml/2006/main" flipH="0" flipV="0">
            <a:off x="4714620" y="2967888"/>
            <a:ext cx="1041635" cy="953"/>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3" name="Diagram arrowhead">
            <a:extLst xmlns:a="http://schemas.openxmlformats.org/drawingml/2006/main">
              <a:ext uri="{FF2B5EF4-FFF2-40B4-BE49-F238E27FC236}">
                <a16:creationId xmlns:a16="http://schemas.microsoft.com/office/drawing/2014/main" id="{418C303F-1B22-4FB0-BB2E-538F82C86D1A}"/>
              </a:ext>
            </a:extLst>
          </p:cNvPr>
          <p:cNvSpPr>
            <a:spLocks xmlns:a="http://schemas.openxmlformats.org/drawingml/2006/main" noGrp="1"/>
          </p:cNvSpPr>
          <p:nvPr/>
        </p:nvSpPr>
        <p:spPr>
          <a:xfrm xmlns:a="http://schemas.openxmlformats.org/drawingml/2006/main" rot="5400000">
            <a:off x="5730121" y="2915620"/>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4" name="Editable scientific diagram">
            <a:extLst xmlns:a="http://schemas.openxmlformats.org/drawingml/2006/main">
              <a:ext uri="{FF2B5EF4-FFF2-40B4-BE49-F238E27FC236}">
                <a16:creationId xmlns:a16="http://schemas.microsoft.com/office/drawing/2014/main" id="{BDE0A743-8450-4FDF-8E06-17C7BDB8989E}"/>
              </a:ext>
            </a:extLst>
          </p:cNvPr>
          <p:cNvSpPr>
            <a:spLocks xmlns:a="http://schemas.openxmlformats.org/drawingml/2006/main" noGrp="1"/>
          </p:cNvSpPr>
          <p:nvPr/>
        </p:nvSpPr>
        <p:spPr>
          <a:xfrm xmlns:a="http://schemas.openxmlformats.org/drawingml/2006/main">
            <a:off x="5909327" y="2631877"/>
            <a:ext cx="224008" cy="672023"/>
          </a:xfrm>
          <a:prstGeom xmlns:a="http://schemas.openxmlformats.org/drawingml/2006/main" prst="rect">
            <a:avLst/>
          </a:prstGeom>
          <a:solidFill xmlns:a="http://schemas.openxmlformats.org/drawingml/2006/main">
            <a:srgbClr val="1F2937"/>
          </a:solidFill>
          <a:ln xmlns:a="http://schemas.openxmlformats.org/drawingml/2006/main" w="22401">
            <a:solidFill>
              <a:srgbClr val="4E7A9B"/>
            </a:solidFill>
          </a:ln>
        </p:spPr>
      </p:sp>
      <p:sp>
        <p:nvSpPr>
          <p:cNvPr id="15" name="Editable scientific diagram">
            <a:extLst xmlns:a="http://schemas.openxmlformats.org/drawingml/2006/main">
              <a:ext uri="{FF2B5EF4-FFF2-40B4-BE49-F238E27FC236}">
                <a16:creationId xmlns:a16="http://schemas.microsoft.com/office/drawing/2014/main" id="{5E192944-248F-4F20-8C30-9F9952F884C6}"/>
              </a:ext>
            </a:extLst>
          </p:cNvPr>
          <p:cNvSpPr>
            <a:spLocks xmlns:a="http://schemas.openxmlformats.org/drawingml/2006/main" noGrp="1"/>
          </p:cNvSpPr>
          <p:nvPr/>
        </p:nvSpPr>
        <p:spPr>
          <a:xfrm xmlns:a="http://schemas.openxmlformats.org/drawingml/2006/main">
            <a:off x="9082768" y="2631877"/>
            <a:ext cx="149338" cy="672023"/>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16" name="Diagram label: Translucent sheet">
            <a:extLst xmlns:a="http://schemas.openxmlformats.org/drawingml/2006/main">
              <a:ext uri="{FF2B5EF4-FFF2-40B4-BE49-F238E27FC236}">
                <a16:creationId xmlns:a16="http://schemas.microsoft.com/office/drawing/2014/main" id="{F0F816CB-16A2-4407-A2DF-09CD2C1FE096}"/>
              </a:ext>
            </a:extLst>
          </p:cNvPr>
          <p:cNvSpPr>
            <a:spLocks xmlns:a="http://schemas.openxmlformats.org/drawingml/2006/main" noGrp="1"/>
          </p:cNvSpPr>
          <p:nvPr/>
        </p:nvSpPr>
        <p:spPr>
          <a:xfrm xmlns:a="http://schemas.openxmlformats.org/drawingml/2006/main">
            <a:off x="2661217" y="3751915"/>
            <a:ext cx="2240076" cy="560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Translucent sheet</a:t>
            </a:r>
          </a:p>
        </p:txBody>
      </p:sp>
      <p:sp>
        <p:nvSpPr>
          <p:cNvPr id="17" name="Diagram line">
            <a:extLst xmlns:a="http://schemas.openxmlformats.org/drawingml/2006/main">
              <a:ext uri="{FF2B5EF4-FFF2-40B4-BE49-F238E27FC236}">
                <a16:creationId xmlns:a16="http://schemas.microsoft.com/office/drawing/2014/main" id="{BD96F3B2-4151-414D-8D69-E451FDB4EA4A}"/>
              </a:ext>
            </a:extLst>
          </p:cNvPr>
          <p:cNvSpPr>
            <a:spLocks xmlns:a="http://schemas.openxmlformats.org/drawingml/2006/main" noGrp="1"/>
          </p:cNvSpPr>
          <p:nvPr/>
        </p:nvSpPr>
        <p:spPr>
          <a:xfrm xmlns:a="http://schemas.openxmlformats.org/drawingml/2006/main" flipH="0" flipV="0">
            <a:off x="4714620" y="4013257"/>
            <a:ext cx="1041635" cy="953"/>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18" name="Diagram arrowhead">
            <a:extLst xmlns:a="http://schemas.openxmlformats.org/drawingml/2006/main">
              <a:ext uri="{FF2B5EF4-FFF2-40B4-BE49-F238E27FC236}">
                <a16:creationId xmlns:a16="http://schemas.microsoft.com/office/drawing/2014/main" id="{95384C79-71DA-4121-A60A-E9FADE4C75FC}"/>
              </a:ext>
            </a:extLst>
          </p:cNvPr>
          <p:cNvSpPr>
            <a:spLocks xmlns:a="http://schemas.openxmlformats.org/drawingml/2006/main" noGrp="1"/>
          </p:cNvSpPr>
          <p:nvPr/>
        </p:nvSpPr>
        <p:spPr>
          <a:xfrm xmlns:a="http://schemas.openxmlformats.org/drawingml/2006/main" rot="5400000">
            <a:off x="5730121" y="3960988"/>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19" name="Editable scientific diagram">
            <a:extLst xmlns:a="http://schemas.openxmlformats.org/drawingml/2006/main">
              <a:ext uri="{FF2B5EF4-FFF2-40B4-BE49-F238E27FC236}">
                <a16:creationId xmlns:a16="http://schemas.microsoft.com/office/drawing/2014/main" id="{CF07275A-20BC-4B0B-BB74-15A085EA1492}"/>
              </a:ext>
            </a:extLst>
          </p:cNvPr>
          <p:cNvSpPr>
            <a:spLocks xmlns:a="http://schemas.openxmlformats.org/drawingml/2006/main" noGrp="1"/>
          </p:cNvSpPr>
          <p:nvPr/>
        </p:nvSpPr>
        <p:spPr>
          <a:xfrm xmlns:a="http://schemas.openxmlformats.org/drawingml/2006/main">
            <a:off x="5909327" y="3677245"/>
            <a:ext cx="224008" cy="672023"/>
          </a:xfrm>
          <a:prstGeom xmlns:a="http://schemas.openxmlformats.org/drawingml/2006/main" prst="rect">
            <a:avLst/>
          </a:prstGeom>
          <a:solidFill xmlns:a="http://schemas.openxmlformats.org/drawingml/2006/main">
            <a:srgbClr val="BCC7CD"/>
          </a:solidFill>
          <a:ln xmlns:a="http://schemas.openxmlformats.org/drawingml/2006/main" w="22401">
            <a:solidFill>
              <a:srgbClr val="4E7A9B"/>
            </a:solidFill>
          </a:ln>
        </p:spPr>
      </p:sp>
      <p:sp>
        <p:nvSpPr>
          <p:cNvPr id="20" name="Editable scientific diagram">
            <a:extLst xmlns:a="http://schemas.openxmlformats.org/drawingml/2006/main">
              <a:ext uri="{FF2B5EF4-FFF2-40B4-BE49-F238E27FC236}">
                <a16:creationId xmlns:a16="http://schemas.microsoft.com/office/drawing/2014/main" id="{B49AA21C-F74B-48F8-B447-98A0D4E9A8B5}"/>
              </a:ext>
            </a:extLst>
          </p:cNvPr>
          <p:cNvSpPr>
            <a:spLocks xmlns:a="http://schemas.openxmlformats.org/drawingml/2006/main" noGrp="1"/>
          </p:cNvSpPr>
          <p:nvPr/>
        </p:nvSpPr>
        <p:spPr>
          <a:xfrm xmlns:a="http://schemas.openxmlformats.org/drawingml/2006/main">
            <a:off x="9082768" y="3677245"/>
            <a:ext cx="149338" cy="672023"/>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21" name="Diagram line">
            <a:extLst xmlns:a="http://schemas.openxmlformats.org/drawingml/2006/main">
              <a:ext uri="{FF2B5EF4-FFF2-40B4-BE49-F238E27FC236}">
                <a16:creationId xmlns:a16="http://schemas.microsoft.com/office/drawing/2014/main" id="{8A863D27-DF4D-40E9-92D8-80E1CF811B4F}"/>
              </a:ext>
            </a:extLst>
          </p:cNvPr>
          <p:cNvSpPr>
            <a:spLocks xmlns:a="http://schemas.openxmlformats.org/drawingml/2006/main" noGrp="1"/>
          </p:cNvSpPr>
          <p:nvPr/>
        </p:nvSpPr>
        <p:spPr>
          <a:xfrm xmlns:a="http://schemas.openxmlformats.org/drawingml/2006/main" flipH="0" flipV="1">
            <a:off x="6245338" y="3759200"/>
            <a:ext cx="2722031" cy="254056"/>
          </a:xfrm>
          <a:prstGeom xmlns:a="http://schemas.openxmlformats.org/drawingml/2006/main" prst="line">
            <a:avLst/>
          </a:prstGeom>
          <a:noFill xmlns:a="http://schemas.openxmlformats.org/drawingml/2006/main"/>
          <a:ln xmlns:a="http://schemas.openxmlformats.org/drawingml/2006/main" w="22401">
            <a:solidFill>
              <a:srgbClr val="E5AB37"/>
            </a:solidFill>
          </a:ln>
        </p:spPr>
      </p:sp>
      <p:sp>
        <p:nvSpPr>
          <p:cNvPr id="22" name="Diagram arrowhead">
            <a:extLst xmlns:a="http://schemas.openxmlformats.org/drawingml/2006/main">
              <a:ext uri="{FF2B5EF4-FFF2-40B4-BE49-F238E27FC236}">
                <a16:creationId xmlns:a16="http://schemas.microsoft.com/office/drawing/2014/main" id="{A48BC60F-50A7-43A7-B588-8B549B3831D8}"/>
              </a:ext>
            </a:extLst>
          </p:cNvPr>
          <p:cNvSpPr>
            <a:spLocks xmlns:a="http://schemas.openxmlformats.org/drawingml/2006/main" noGrp="1"/>
          </p:cNvSpPr>
          <p:nvPr/>
        </p:nvSpPr>
        <p:spPr>
          <a:xfrm xmlns:a="http://schemas.openxmlformats.org/drawingml/2006/main" rot="5080070">
            <a:off x="8941123" y="3704503"/>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3" name="Diagram line">
            <a:extLst xmlns:a="http://schemas.openxmlformats.org/drawingml/2006/main">
              <a:ext uri="{FF2B5EF4-FFF2-40B4-BE49-F238E27FC236}">
                <a16:creationId xmlns:a16="http://schemas.microsoft.com/office/drawing/2014/main" id="{E0323F26-48B6-4898-960E-5FA10FDD643A}"/>
              </a:ext>
            </a:extLst>
          </p:cNvPr>
          <p:cNvSpPr>
            <a:spLocks xmlns:a="http://schemas.openxmlformats.org/drawingml/2006/main" noGrp="1"/>
          </p:cNvSpPr>
          <p:nvPr/>
        </p:nvSpPr>
        <p:spPr>
          <a:xfrm xmlns:a="http://schemas.openxmlformats.org/drawingml/2006/main" flipH="0" flipV="0">
            <a:off x="6245338" y="4013257"/>
            <a:ext cx="2722031" cy="254056"/>
          </a:xfrm>
          <a:prstGeom xmlns:a="http://schemas.openxmlformats.org/drawingml/2006/main" prst="line">
            <a:avLst/>
          </a:prstGeom>
          <a:noFill xmlns:a="http://schemas.openxmlformats.org/drawingml/2006/main"/>
          <a:ln xmlns:a="http://schemas.openxmlformats.org/drawingml/2006/main" w="22401">
            <a:solidFill>
              <a:srgbClr val="E5AB37"/>
            </a:solidFill>
          </a:ln>
        </p:spPr>
      </p:sp>
      <p:sp>
        <p:nvSpPr>
          <p:cNvPr id="24" name="Diagram arrowhead">
            <a:extLst xmlns:a="http://schemas.openxmlformats.org/drawingml/2006/main">
              <a:ext uri="{FF2B5EF4-FFF2-40B4-BE49-F238E27FC236}">
                <a16:creationId xmlns:a16="http://schemas.microsoft.com/office/drawing/2014/main" id="{84A375B4-2DCE-4D69-84C5-5D147E19189A}"/>
              </a:ext>
            </a:extLst>
          </p:cNvPr>
          <p:cNvSpPr>
            <a:spLocks xmlns:a="http://schemas.openxmlformats.org/drawingml/2006/main" noGrp="1"/>
          </p:cNvSpPr>
          <p:nvPr/>
        </p:nvSpPr>
        <p:spPr>
          <a:xfrm xmlns:a="http://schemas.openxmlformats.org/drawingml/2006/main" rot="5719930">
            <a:off x="8941123" y="4217473"/>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5" name="Diagram label: Clear plastic">
            <a:extLst xmlns:a="http://schemas.openxmlformats.org/drawingml/2006/main">
              <a:ext uri="{FF2B5EF4-FFF2-40B4-BE49-F238E27FC236}">
                <a16:creationId xmlns:a16="http://schemas.microsoft.com/office/drawing/2014/main" id="{C9E240AE-DF9C-439E-898D-70A4D9942F7A}"/>
              </a:ext>
            </a:extLst>
          </p:cNvPr>
          <p:cNvSpPr>
            <a:spLocks xmlns:a="http://schemas.openxmlformats.org/drawingml/2006/main" noGrp="1"/>
          </p:cNvSpPr>
          <p:nvPr/>
        </p:nvSpPr>
        <p:spPr>
          <a:xfrm xmlns:a="http://schemas.openxmlformats.org/drawingml/2006/main">
            <a:off x="2661217" y="4797283"/>
            <a:ext cx="2240076" cy="560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Clear plastic</a:t>
            </a:r>
          </a:p>
        </p:txBody>
      </p:sp>
      <p:sp>
        <p:nvSpPr>
          <p:cNvPr id="26" name="Diagram line">
            <a:extLst xmlns:a="http://schemas.openxmlformats.org/drawingml/2006/main">
              <a:ext uri="{FF2B5EF4-FFF2-40B4-BE49-F238E27FC236}">
                <a16:creationId xmlns:a16="http://schemas.microsoft.com/office/drawing/2014/main" id="{233B71A1-F7DB-4640-B741-5E6702C74FE4}"/>
              </a:ext>
            </a:extLst>
          </p:cNvPr>
          <p:cNvSpPr>
            <a:spLocks xmlns:a="http://schemas.openxmlformats.org/drawingml/2006/main" noGrp="1"/>
          </p:cNvSpPr>
          <p:nvPr/>
        </p:nvSpPr>
        <p:spPr>
          <a:xfrm xmlns:a="http://schemas.openxmlformats.org/drawingml/2006/main" flipH="0" flipV="0">
            <a:off x="4714620" y="5058625"/>
            <a:ext cx="1041635" cy="953"/>
          </a:xfrm>
          <a:prstGeom xmlns:a="http://schemas.openxmlformats.org/drawingml/2006/main" prst="line">
            <a:avLst/>
          </a:prstGeom>
          <a:noFill xmlns:a="http://schemas.openxmlformats.org/drawingml/2006/main"/>
          <a:ln xmlns:a="http://schemas.openxmlformats.org/drawingml/2006/main" w="37335">
            <a:solidFill>
              <a:srgbClr val="E5AB37"/>
            </a:solidFill>
          </a:ln>
        </p:spPr>
      </p:sp>
      <p:sp>
        <p:nvSpPr>
          <p:cNvPr id="27" name="Diagram arrowhead">
            <a:extLst xmlns:a="http://schemas.openxmlformats.org/drawingml/2006/main">
              <a:ext uri="{FF2B5EF4-FFF2-40B4-BE49-F238E27FC236}">
                <a16:creationId xmlns:a16="http://schemas.microsoft.com/office/drawing/2014/main" id="{B619F528-EDEF-4055-B931-932A29B861E0}"/>
              </a:ext>
            </a:extLst>
          </p:cNvPr>
          <p:cNvSpPr>
            <a:spLocks xmlns:a="http://schemas.openxmlformats.org/drawingml/2006/main" noGrp="1"/>
          </p:cNvSpPr>
          <p:nvPr/>
        </p:nvSpPr>
        <p:spPr>
          <a:xfrm xmlns:a="http://schemas.openxmlformats.org/drawingml/2006/main" rot="5400000">
            <a:off x="5730121" y="5006357"/>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28" name="Editable scientific diagram">
            <a:extLst xmlns:a="http://schemas.openxmlformats.org/drawingml/2006/main">
              <a:ext uri="{FF2B5EF4-FFF2-40B4-BE49-F238E27FC236}">
                <a16:creationId xmlns:a16="http://schemas.microsoft.com/office/drawing/2014/main" id="{7B865F00-08D6-42D9-B239-8BA7DD5CB9A1}"/>
              </a:ext>
            </a:extLst>
          </p:cNvPr>
          <p:cNvSpPr>
            <a:spLocks xmlns:a="http://schemas.openxmlformats.org/drawingml/2006/main" noGrp="1"/>
          </p:cNvSpPr>
          <p:nvPr/>
        </p:nvSpPr>
        <p:spPr>
          <a:xfrm xmlns:a="http://schemas.openxmlformats.org/drawingml/2006/main">
            <a:off x="5909327" y="4722614"/>
            <a:ext cx="224008" cy="672023"/>
          </a:xfrm>
          <a:prstGeom xmlns:a="http://schemas.openxmlformats.org/drawingml/2006/main" prst="rect">
            <a:avLst/>
          </a:prstGeom>
          <a:solidFill xmlns:a="http://schemas.openxmlformats.org/drawingml/2006/main">
            <a:srgbClr val="E4EDF1"/>
          </a:solidFill>
          <a:ln xmlns:a="http://schemas.openxmlformats.org/drawingml/2006/main" w="22401">
            <a:solidFill>
              <a:srgbClr val="4E7A9B"/>
            </a:solidFill>
          </a:ln>
        </p:spPr>
      </p:sp>
      <p:sp>
        <p:nvSpPr>
          <p:cNvPr id="29" name="Editable scientific diagram">
            <a:extLst xmlns:a="http://schemas.openxmlformats.org/drawingml/2006/main">
              <a:ext uri="{FF2B5EF4-FFF2-40B4-BE49-F238E27FC236}">
                <a16:creationId xmlns:a16="http://schemas.microsoft.com/office/drawing/2014/main" id="{EEB718D9-0679-48B8-8685-74C7506BCF83}"/>
              </a:ext>
            </a:extLst>
          </p:cNvPr>
          <p:cNvSpPr>
            <a:spLocks xmlns:a="http://schemas.openxmlformats.org/drawingml/2006/main" noGrp="1"/>
          </p:cNvSpPr>
          <p:nvPr/>
        </p:nvSpPr>
        <p:spPr>
          <a:xfrm xmlns:a="http://schemas.openxmlformats.org/drawingml/2006/main">
            <a:off x="9082768" y="4722614"/>
            <a:ext cx="149338" cy="672023"/>
          </a:xfrm>
          <a:prstGeom xmlns:a="http://schemas.openxmlformats.org/drawingml/2006/main" prst="rect">
            <a:avLst/>
          </a:prstGeom>
          <a:solidFill xmlns:a="http://schemas.openxmlformats.org/drawingml/2006/main">
            <a:srgbClr val="FFFFFF"/>
          </a:solidFill>
          <a:ln xmlns:a="http://schemas.openxmlformats.org/drawingml/2006/main" w="22401">
            <a:solidFill>
              <a:srgbClr val="4E7A9B"/>
            </a:solidFill>
          </a:ln>
        </p:spPr>
      </p:sp>
      <p:sp>
        <p:nvSpPr>
          <p:cNvPr id="30" name="Diagram line">
            <a:extLst xmlns:a="http://schemas.openxmlformats.org/drawingml/2006/main">
              <a:ext uri="{FF2B5EF4-FFF2-40B4-BE49-F238E27FC236}">
                <a16:creationId xmlns:a16="http://schemas.microsoft.com/office/drawing/2014/main" id="{1FEB7135-D92E-46FC-B075-3C83DE423430}"/>
              </a:ext>
            </a:extLst>
          </p:cNvPr>
          <p:cNvSpPr>
            <a:spLocks xmlns:a="http://schemas.openxmlformats.org/drawingml/2006/main" noGrp="1"/>
          </p:cNvSpPr>
          <p:nvPr/>
        </p:nvSpPr>
        <p:spPr>
          <a:xfrm xmlns:a="http://schemas.openxmlformats.org/drawingml/2006/main" flipH="0" flipV="0">
            <a:off x="6245338" y="4969022"/>
            <a:ext cx="2721692" cy="953"/>
          </a:xfrm>
          <a:prstGeom xmlns:a="http://schemas.openxmlformats.org/drawingml/2006/main" prst="line">
            <a:avLst/>
          </a:prstGeom>
          <a:noFill xmlns:a="http://schemas.openxmlformats.org/drawingml/2006/main"/>
          <a:ln xmlns:a="http://schemas.openxmlformats.org/drawingml/2006/main" w="22401">
            <a:solidFill>
              <a:srgbClr val="E5AB37"/>
            </a:solidFill>
          </a:ln>
        </p:spPr>
      </p:sp>
      <p:sp>
        <p:nvSpPr>
          <p:cNvPr id="31" name="Diagram arrowhead">
            <a:extLst xmlns:a="http://schemas.openxmlformats.org/drawingml/2006/main">
              <a:ext uri="{FF2B5EF4-FFF2-40B4-BE49-F238E27FC236}">
                <a16:creationId xmlns:a16="http://schemas.microsoft.com/office/drawing/2014/main" id="{BA43B294-392B-41FC-A070-4F8712FD74AC}"/>
              </a:ext>
            </a:extLst>
          </p:cNvPr>
          <p:cNvSpPr>
            <a:spLocks xmlns:a="http://schemas.openxmlformats.org/drawingml/2006/main" noGrp="1"/>
          </p:cNvSpPr>
          <p:nvPr/>
        </p:nvSpPr>
        <p:spPr>
          <a:xfrm xmlns:a="http://schemas.openxmlformats.org/drawingml/2006/main" rot="5400000">
            <a:off x="8940896" y="4916754"/>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32" name="Diagram line">
            <a:extLst xmlns:a="http://schemas.openxmlformats.org/drawingml/2006/main">
              <a:ext uri="{FF2B5EF4-FFF2-40B4-BE49-F238E27FC236}">
                <a16:creationId xmlns:a16="http://schemas.microsoft.com/office/drawing/2014/main" id="{9E401399-5661-4674-B425-7FB850A46F5E}"/>
              </a:ext>
            </a:extLst>
          </p:cNvPr>
          <p:cNvSpPr>
            <a:spLocks xmlns:a="http://schemas.openxmlformats.org/drawingml/2006/main" noGrp="1"/>
          </p:cNvSpPr>
          <p:nvPr/>
        </p:nvSpPr>
        <p:spPr>
          <a:xfrm xmlns:a="http://schemas.openxmlformats.org/drawingml/2006/main" flipH="0" flipV="0">
            <a:off x="6245338" y="5058625"/>
            <a:ext cx="2721692" cy="953"/>
          </a:xfrm>
          <a:prstGeom xmlns:a="http://schemas.openxmlformats.org/drawingml/2006/main" prst="line">
            <a:avLst/>
          </a:prstGeom>
          <a:noFill xmlns:a="http://schemas.openxmlformats.org/drawingml/2006/main"/>
          <a:ln xmlns:a="http://schemas.openxmlformats.org/drawingml/2006/main" w="22401">
            <a:solidFill>
              <a:srgbClr val="E5AB37"/>
            </a:solidFill>
          </a:ln>
        </p:spPr>
      </p:sp>
      <p:sp>
        <p:nvSpPr>
          <p:cNvPr id="33" name="Diagram arrowhead">
            <a:extLst xmlns:a="http://schemas.openxmlformats.org/drawingml/2006/main">
              <a:ext uri="{FF2B5EF4-FFF2-40B4-BE49-F238E27FC236}">
                <a16:creationId xmlns:a16="http://schemas.microsoft.com/office/drawing/2014/main" id="{B854A955-8749-4F4C-8B68-2CBCE8FC59CB}"/>
              </a:ext>
            </a:extLst>
          </p:cNvPr>
          <p:cNvSpPr>
            <a:spLocks xmlns:a="http://schemas.openxmlformats.org/drawingml/2006/main" noGrp="1"/>
          </p:cNvSpPr>
          <p:nvPr/>
        </p:nvSpPr>
        <p:spPr>
          <a:xfrm xmlns:a="http://schemas.openxmlformats.org/drawingml/2006/main" rot="5400000">
            <a:off x="8940896" y="5006357"/>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34" name="Diagram line">
            <a:extLst xmlns:a="http://schemas.openxmlformats.org/drawingml/2006/main">
              <a:ext uri="{FF2B5EF4-FFF2-40B4-BE49-F238E27FC236}">
                <a16:creationId xmlns:a16="http://schemas.microsoft.com/office/drawing/2014/main" id="{38B0F688-925A-4754-B100-19D7F232BC7F}"/>
              </a:ext>
            </a:extLst>
          </p:cNvPr>
          <p:cNvSpPr>
            <a:spLocks xmlns:a="http://schemas.openxmlformats.org/drawingml/2006/main" noGrp="1"/>
          </p:cNvSpPr>
          <p:nvPr/>
        </p:nvSpPr>
        <p:spPr>
          <a:xfrm xmlns:a="http://schemas.openxmlformats.org/drawingml/2006/main" flipH="0" flipV="0">
            <a:off x="6245338" y="5148228"/>
            <a:ext cx="2721692" cy="953"/>
          </a:xfrm>
          <a:prstGeom xmlns:a="http://schemas.openxmlformats.org/drawingml/2006/main" prst="line">
            <a:avLst/>
          </a:prstGeom>
          <a:noFill xmlns:a="http://schemas.openxmlformats.org/drawingml/2006/main"/>
          <a:ln xmlns:a="http://schemas.openxmlformats.org/drawingml/2006/main" w="22401">
            <a:solidFill>
              <a:srgbClr val="E5AB37"/>
            </a:solidFill>
          </a:ln>
        </p:spPr>
      </p:sp>
      <p:sp>
        <p:nvSpPr>
          <p:cNvPr id="35" name="Diagram arrowhead">
            <a:extLst xmlns:a="http://schemas.openxmlformats.org/drawingml/2006/main">
              <a:ext uri="{FF2B5EF4-FFF2-40B4-BE49-F238E27FC236}">
                <a16:creationId xmlns:a16="http://schemas.microsoft.com/office/drawing/2014/main" id="{F6BE4F0C-1A66-4BF7-BED5-4C1DDA32BB8C}"/>
              </a:ext>
            </a:extLst>
          </p:cNvPr>
          <p:cNvSpPr>
            <a:spLocks xmlns:a="http://schemas.openxmlformats.org/drawingml/2006/main" noGrp="1"/>
          </p:cNvSpPr>
          <p:nvPr/>
        </p:nvSpPr>
        <p:spPr>
          <a:xfrm xmlns:a="http://schemas.openxmlformats.org/drawingml/2006/main" rot="5400000">
            <a:off x="8940896" y="5095960"/>
            <a:ext cx="104537" cy="104537"/>
          </a:xfrm>
          <a:prstGeom xmlns:a="http://schemas.openxmlformats.org/drawingml/2006/main" prst="triangle">
            <a:avLst/>
          </a:prstGeom>
          <a:solidFill xmlns:a="http://schemas.openxmlformats.org/drawingml/2006/main">
            <a:srgbClr val="E5AB37"/>
          </a:solidFill>
          <a:ln xmlns:a="http://schemas.openxmlformats.org/drawingml/2006/main" w="0">
            <a:noFill/>
          </a:ln>
        </p:spPr>
      </p:sp>
      <p:sp>
        <p:nvSpPr>
          <p:cNvPr id="36" name="Diagram label: Light blocked">
            <a:extLst xmlns:a="http://schemas.openxmlformats.org/drawingml/2006/main">
              <a:ext uri="{FF2B5EF4-FFF2-40B4-BE49-F238E27FC236}">
                <a16:creationId xmlns:a16="http://schemas.microsoft.com/office/drawing/2014/main" id="{8A67EA37-5BB9-490D-B26C-6C5E1D3BF3B4}"/>
              </a:ext>
            </a:extLst>
          </p:cNvPr>
          <p:cNvSpPr>
            <a:spLocks xmlns:a="http://schemas.openxmlformats.org/drawingml/2006/main" noGrp="1"/>
          </p:cNvSpPr>
          <p:nvPr/>
        </p:nvSpPr>
        <p:spPr>
          <a:xfrm xmlns:a="http://schemas.openxmlformats.org/drawingml/2006/main">
            <a:off x="6730688" y="3079892"/>
            <a:ext cx="2053403"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Light blocked</a:t>
            </a:r>
          </a:p>
        </p:txBody>
      </p:sp>
      <p:sp>
        <p:nvSpPr>
          <p:cNvPr id="37" name="Diagram label: Some light passes">
            <a:extLst xmlns:a="http://schemas.openxmlformats.org/drawingml/2006/main">
              <a:ext uri="{FF2B5EF4-FFF2-40B4-BE49-F238E27FC236}">
                <a16:creationId xmlns:a16="http://schemas.microsoft.com/office/drawing/2014/main" id="{000F88D1-95F6-45D8-92B1-B170ABB8A9D8}"/>
              </a:ext>
            </a:extLst>
          </p:cNvPr>
          <p:cNvSpPr>
            <a:spLocks xmlns:a="http://schemas.openxmlformats.org/drawingml/2006/main" noGrp="1"/>
          </p:cNvSpPr>
          <p:nvPr/>
        </p:nvSpPr>
        <p:spPr>
          <a:xfrm xmlns:a="http://schemas.openxmlformats.org/drawingml/2006/main">
            <a:off x="6506681" y="4386603"/>
            <a:ext cx="2464083"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Some light passes</a:t>
            </a:r>
          </a:p>
        </p:txBody>
      </p:sp>
      <p:sp>
        <p:nvSpPr>
          <p:cNvPr id="38" name="Diagram label: Much light passes">
            <a:extLst xmlns:a="http://schemas.openxmlformats.org/drawingml/2006/main">
              <a:ext uri="{FF2B5EF4-FFF2-40B4-BE49-F238E27FC236}">
                <a16:creationId xmlns:a16="http://schemas.microsoft.com/office/drawing/2014/main" id="{A9FAB188-27E2-4A5A-9A9B-ABCCBE24FE2E}"/>
              </a:ext>
            </a:extLst>
          </p:cNvPr>
          <p:cNvSpPr>
            <a:spLocks xmlns:a="http://schemas.openxmlformats.org/drawingml/2006/main" noGrp="1"/>
          </p:cNvSpPr>
          <p:nvPr/>
        </p:nvSpPr>
        <p:spPr>
          <a:xfrm xmlns:a="http://schemas.openxmlformats.org/drawingml/2006/main">
            <a:off x="6506681" y="5431971"/>
            <a:ext cx="2576087"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Much light passes</a:t>
            </a:r>
          </a:p>
        </p:txBody>
      </p:sp>
      <p:sp>
        <p:nvSpPr>
          <p:cNvPr id="39" name="Opaque: light is blocked.  Translucent: some light passes.  Clea">
            <a:extLst xmlns:a="http://schemas.openxmlformats.org/drawingml/2006/main">
              <a:ext uri="{FF2B5EF4-FFF2-40B4-BE49-F238E27FC236}">
                <a16:creationId xmlns:a16="http://schemas.microsoft.com/office/drawing/2014/main" id="{11CF5C1C-C3F0-4CB0-B47B-6D7FCC76A021}"/>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Opaque: light is blocked. Translucent: some light passes. Clear: much light passes.</a:t>
            </a:r>
          </a:p>
        </p:txBody>
      </p:sp>
    </p:spTree>
    <p:extLst>
      <p:ext uri="{BB962C8B-B14F-4D97-AF65-F5344CB8AC3E}">
        <p14:creationId xmlns:p14="http://schemas.microsoft.com/office/powerpoint/2010/main" val="5736386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urface">
            <a:extLst xmlns:a="http://schemas.openxmlformats.org/drawingml/2006/main">
              <a:ext uri="{FF2B5EF4-FFF2-40B4-BE49-F238E27FC236}">
                <a16:creationId xmlns:a16="http://schemas.microsoft.com/office/drawing/2014/main" id="{D8F3A8FD-5E0B-49A7-8344-6C11BE137AB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9B779EA-F79F-4547-865A-C6B4D1CD2018}"/>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52B4360-3982-4BD1-A498-24D2CECA041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8498D759-796B-4CDF-AAB9-A053668171F3}"/>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2053160A-C9BB-439F-9934-DE73DEE0E77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B74E1013-C689-4FCA-8274-F1DE4A266A95}"/>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Choose a silhouette material">
            <a:extLst xmlns:a="http://schemas.openxmlformats.org/drawingml/2006/main">
              <a:ext uri="{FF2B5EF4-FFF2-40B4-BE49-F238E27FC236}">
                <a16:creationId xmlns:a16="http://schemas.microsoft.com/office/drawing/2014/main" id="{2C3E10E0-6648-45C4-BF24-724735B6BB4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a silhouette material</a:t>
            </a:r>
          </a:p>
        </p:txBody>
      </p:sp>
      <p:sp>
        <p:nvSpPr>
          <p:cNvPr id="8" name="surface">
            <a:extLst xmlns:a="http://schemas.openxmlformats.org/drawingml/2006/main">
              <a:ext uri="{FF2B5EF4-FFF2-40B4-BE49-F238E27FC236}">
                <a16:creationId xmlns:a16="http://schemas.microsoft.com/office/drawing/2014/main" id="{74F6709C-0621-48E0-A768-5CB2712BDAA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50E21789-DC04-4489-A096-EE8DA390483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6 / 14">
            <a:extLst xmlns:a="http://schemas.openxmlformats.org/drawingml/2006/main">
              <a:ext uri="{FF2B5EF4-FFF2-40B4-BE49-F238E27FC236}">
                <a16:creationId xmlns:a16="http://schemas.microsoft.com/office/drawing/2014/main" id="{06DAB2D8-C3CB-45F7-B9B1-F1DFC2CE108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14</a:t>
            </a:r>
          </a:p>
        </p:txBody>
      </p:sp>
      <p:sp>
        <p:nvSpPr>
          <p:cNvPr id="11" name="Read the test cards. Choose for a dark silhouette. Point to the ">
            <a:extLst xmlns:a="http://schemas.openxmlformats.org/drawingml/2006/main">
              <a:ext uri="{FF2B5EF4-FFF2-40B4-BE49-F238E27FC236}">
                <a16:creationId xmlns:a16="http://schemas.microsoft.com/office/drawing/2014/main" id="{E4C6BF29-0997-40FB-BAB4-686F79A49762}"/>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Read the test cards. Choose for a dark silhouette. Point to the evidence.</a:t>
            </a:r>
          </a:p>
        </p:txBody>
      </p:sp>
      <p:graphicFrame>
        <p:nvGraphicFramePr>
          <p:cNvPr id="26" name=""/>
          <p:cNvGraphicFramePr/>
          <p:nvPr/>
        </p:nvGraphicFramePr>
        <p:xfrm>
          <a:off xmlns:a="http://schemas.openxmlformats.org/drawingml/2006/main" x="533400" y="2295525"/>
          <a:ext xmlns:a="http://schemas.openxmlformats.org/drawingml/2006/main" cx="11125200" cy="2021205"/>
        </p:xfrm>
        <a:graphic xmlns:a="http://schemas.openxmlformats.org/drawingml/2006/main">
          <a:graphicData uri="http://schemas.openxmlformats.org/drawingml/2006/table">
            <a:tbl>
              <a:tblPr firstRow="1" bandRow="0"/>
              <a:tblGrid>
                <a:gridCol w="2527331"/>
                <a:gridCol w="3473484"/>
                <a:gridCol w="5124385"/>
              </a:tblGrid>
              <a:tr h="505301">
                <a:tc>
                  <a:txBody>
                    <a:bodyPr lIns="95250" tIns="95250" rIns="95250" bIns="95250"/>
                    <a:lstStyle/>
                    <a:p>
                      <a:pPr algn="l"/>
                      <a:r>
                        <a:rPr sz="2025" b="1">
                          <a:solidFill>
                            <a:srgbClr val="FFFFFF"/>
                          </a:solidFill>
                          <a:latin typeface="Nimbus Sans"/>
                          <a:ea typeface="Nimbus Sans"/>
                          <a:cs typeface="Nimbus Sans"/>
                        </a:rPr>
                        <a:t>Card</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Sample</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Constructed observation</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A</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Opaque card</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Clear dark shape</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B</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Translucent paper</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Lighter, less distinct shape</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C</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Clear plastic</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Most light passes; faint edge visible</a:t>
                      </a:r>
                    </a:p>
                  </a:txBody>
                  <a:tcPr marL="95250" marR="95250" marT="95250" marB="95250" anchor="ctr">
                    <a:solidFill>
                      <a:srgbClr val="F4F7F9"/>
                    </a:solidFill>
                  </a:tcPr>
                </a:tc>
              </a:tr>
            </a:tbl>
          </a:graphicData>
        </a:graphic>
      </p:graphicFrame>
      <p:sp>
        <p:nvSpPr>
          <p:cNvPr id="13" name="Constructed teaching evidence">
            <a:extLst xmlns:a="http://schemas.openxmlformats.org/drawingml/2006/main">
              <a:ext uri="{FF2B5EF4-FFF2-40B4-BE49-F238E27FC236}">
                <a16:creationId xmlns:a16="http://schemas.microsoft.com/office/drawing/2014/main" id="{C4A782A7-4411-4D0A-B9E1-325030162FC5}"/>
              </a:ext>
            </a:extLst>
          </p:cNvPr>
          <p:cNvSpPr>
            <a:spLocks xmlns:a="http://schemas.openxmlformats.org/drawingml/2006/main" noGrp="1"/>
          </p:cNvSpPr>
          <p:nvPr/>
        </p:nvSpPr>
        <p:spPr>
          <a:xfrm xmlns:a="http://schemas.openxmlformats.org/drawingml/2006/main">
            <a:off x="533400" y="4431030"/>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teaching evidence</a:t>
            </a:r>
          </a:p>
        </p:txBody>
      </p:sp>
      <p:sp>
        <p:nvSpPr>
          <p:cNvPr id="14" name="W1. Which sample fits our design goal?">
            <a:extLst xmlns:a="http://schemas.openxmlformats.org/drawingml/2006/main">
              <a:ext uri="{FF2B5EF4-FFF2-40B4-BE49-F238E27FC236}">
                <a16:creationId xmlns:a16="http://schemas.microsoft.com/office/drawing/2014/main" id="{A75943E5-5060-49D1-9067-5ACA52FC24ED}"/>
              </a:ext>
            </a:extLst>
          </p:cNvPr>
          <p:cNvSpPr>
            <a:spLocks xmlns:a="http://schemas.openxmlformats.org/drawingml/2006/main" noGrp="1"/>
          </p:cNvSpPr>
          <p:nvPr/>
        </p:nvSpPr>
        <p:spPr>
          <a:xfrm xmlns:a="http://schemas.openxmlformats.org/drawingml/2006/main">
            <a:off x="533400" y="4783455"/>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4D82A0"/>
                </a:solidFill>
                <a:latin typeface="Nimbus Sans"/>
                <a:ea typeface="Nimbus Sans"/>
                <a:cs typeface="Nimbus Sans"/>
              </a:defRPr>
            </a:pPr>
            <a:r>
              <a:rPr sz="2025" b="1">
                <a:solidFill>
                  <a:srgbClr val="4D82A0"/>
                </a:solidFill>
                <a:latin typeface="Nimbus Sans"/>
                <a:ea typeface="Nimbus Sans"/>
                <a:cs typeface="Nimbus Sans"/>
              </a:rPr>
              <a:t>W1. Which sample fits our design goal?</a:t>
            </a:r>
          </a:p>
        </p:txBody>
      </p:sp>
    </p:spTree>
    <p:extLst>
      <p:ext uri="{BB962C8B-B14F-4D97-AF65-F5344CB8AC3E}">
        <p14:creationId xmlns:p14="http://schemas.microsoft.com/office/powerpoint/2010/main" val="12342583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5A2F45D6-0CC4-46DE-A180-3013C7000DA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C26DD28-56F6-4A24-B284-454393E5C74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28B6E00-BD84-4B5D-9750-F8D2548C13B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A82A31A4-F2F6-4561-BFC8-D24D4C1B8A0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B1B0344C-5918-4F76-941D-28C4E15268B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EA0912FD-B6A6-453D-AF05-F35FC30B48FD}"/>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The disappearing-shape challenge">
            <a:extLst xmlns:a="http://schemas.openxmlformats.org/drawingml/2006/main">
              <a:ext uri="{FF2B5EF4-FFF2-40B4-BE49-F238E27FC236}">
                <a16:creationId xmlns:a16="http://schemas.microsoft.com/office/drawing/2014/main" id="{BC806BD4-7148-4E4B-81C0-F6E0DCC4E4D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The disappearing-shape challenge</a:t>
            </a:r>
          </a:p>
        </p:txBody>
      </p:sp>
      <p:sp>
        <p:nvSpPr>
          <p:cNvPr id="8" name="surface">
            <a:extLst xmlns:a="http://schemas.openxmlformats.org/drawingml/2006/main">
              <a:ext uri="{FF2B5EF4-FFF2-40B4-BE49-F238E27FC236}">
                <a16:creationId xmlns:a16="http://schemas.microsoft.com/office/drawing/2014/main" id="{71DE81F5-8905-4868-930F-85F7A3C9098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F2CEBA5B-F492-4309-9296-7729FFB6698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7 / 14">
            <a:extLst xmlns:a="http://schemas.openxmlformats.org/drawingml/2006/main">
              <a:ext uri="{FF2B5EF4-FFF2-40B4-BE49-F238E27FC236}">
                <a16:creationId xmlns:a16="http://schemas.microsoft.com/office/drawing/2014/main" id="{E8523373-7D1F-40FE-A8D2-FBAE0333F15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14</a:t>
            </a:r>
          </a:p>
        </p:txBody>
      </p:sp>
      <p:sp>
        <p:nvSpPr>
          <p:cNvPr id="11" name="The card moves out of the beam.">
            <a:extLst xmlns:a="http://schemas.openxmlformats.org/drawingml/2006/main">
              <a:ext uri="{FF2B5EF4-FFF2-40B4-BE49-F238E27FC236}">
                <a16:creationId xmlns:a16="http://schemas.microsoft.com/office/drawing/2014/main" id="{91D9A601-1293-4F7C-9562-953B8F98E775}"/>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The card moves out of the beam.</a:t>
            </a:r>
          </a:p>
        </p:txBody>
      </p:sp>
      <p:sp>
        <p:nvSpPr>
          <p:cNvPr id="12" name="The source stays on.">
            <a:extLst xmlns:a="http://schemas.openxmlformats.org/drawingml/2006/main">
              <a:ext uri="{FF2B5EF4-FFF2-40B4-BE49-F238E27FC236}">
                <a16:creationId xmlns:a16="http://schemas.microsoft.com/office/drawing/2014/main" id="{96F1C786-4346-4C34-9CEC-291A2FA12389}"/>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The source stays on.</a:t>
            </a:r>
          </a:p>
        </p:txBody>
      </p:sp>
      <p:sp>
        <p:nvSpPr>
          <p:cNvPr id="13" name="Predict what changes on the screen.">
            <a:extLst xmlns:a="http://schemas.openxmlformats.org/drawingml/2006/main">
              <a:ext uri="{FF2B5EF4-FFF2-40B4-BE49-F238E27FC236}">
                <a16:creationId xmlns:a16="http://schemas.microsoft.com/office/drawing/2014/main" id="{402F1ECA-3D20-4B8F-99B2-F59A74C3DEFD}"/>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Predict what changes on the screen.</a:t>
            </a:r>
          </a:p>
        </p:txBody>
      </p:sp>
      <p:sp>
        <p:nvSpPr>
          <p:cNvPr id="14" name="surface">
            <a:extLst xmlns:a="http://schemas.openxmlformats.org/drawingml/2006/main">
              <a:ext uri="{FF2B5EF4-FFF2-40B4-BE49-F238E27FC236}">
                <a16:creationId xmlns:a16="http://schemas.microsoft.com/office/drawing/2014/main" id="{22FA01C3-4263-465F-8575-435544C4491F}"/>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CBB0D881-057E-46ED-92F3-ADF9DE0D9001}"/>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6" name="W2. What explains the change?">
            <a:extLst xmlns:a="http://schemas.openxmlformats.org/drawingml/2006/main">
              <a:ext uri="{FF2B5EF4-FFF2-40B4-BE49-F238E27FC236}">
                <a16:creationId xmlns:a16="http://schemas.microsoft.com/office/drawing/2014/main" id="{FF182857-A121-4E45-B7B1-EEB1C6CA2865}"/>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D82A0"/>
                </a:solidFill>
                <a:latin typeface="Nimbus Sans"/>
                <a:ea typeface="Nimbus Sans"/>
                <a:cs typeface="Nimbus Sans"/>
              </a:defRPr>
            </a:pPr>
            <a:r>
              <a:rPr sz="2175" b="1">
                <a:solidFill>
                  <a:srgbClr val="4D82A0"/>
                </a:solidFill>
                <a:latin typeface="Nimbus Sans"/>
                <a:ea typeface="Nimbus Sans"/>
                <a:cs typeface="Nimbus Sans"/>
              </a:rPr>
              <a:t>W2. What explains the change?</a:t>
            </a:r>
          </a:p>
        </p:txBody>
      </p:sp>
    </p:spTree>
    <p:extLst>
      <p:ext uri="{BB962C8B-B14F-4D97-AF65-F5344CB8AC3E}">
        <p14:creationId xmlns:p14="http://schemas.microsoft.com/office/powerpoint/2010/main" val="10247400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E25CF6D0-AEA9-4C1D-A58E-685D57BD284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9DFEA92-FC3B-446D-BE2E-3A029FBDF86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590EBDC-6B4B-437F-8DE3-3246DEA712C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85695EE7-7725-4EF9-A8EF-FAADED7EB19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Hinge">
            <a:extLst xmlns:a="http://schemas.openxmlformats.org/drawingml/2006/main">
              <a:ext uri="{FF2B5EF4-FFF2-40B4-BE49-F238E27FC236}">
                <a16:creationId xmlns:a16="http://schemas.microsoft.com/office/drawing/2014/main" id="{E9EA000A-8312-4251-9D30-B41799F7AAD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3778B56D-B34F-4A73-B382-00906209242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y is there a shadow?">
            <a:extLst xmlns:a="http://schemas.openxmlformats.org/drawingml/2006/main">
              <a:ext uri="{FF2B5EF4-FFF2-40B4-BE49-F238E27FC236}">
                <a16:creationId xmlns:a16="http://schemas.microsoft.com/office/drawing/2014/main" id="{C21EB52B-287F-46D1-A579-BD08E83162C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Why is there a shadow?</a:t>
            </a:r>
          </a:p>
        </p:txBody>
      </p:sp>
      <p:sp>
        <p:nvSpPr>
          <p:cNvPr id="8" name="surface">
            <a:extLst xmlns:a="http://schemas.openxmlformats.org/drawingml/2006/main">
              <a:ext uri="{FF2B5EF4-FFF2-40B4-BE49-F238E27FC236}">
                <a16:creationId xmlns:a16="http://schemas.microsoft.com/office/drawing/2014/main" id="{A723DD7C-7E6E-4F10-A819-4546F42081B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E8D9D885-7830-48F3-960F-0CAF817FAD4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8 / 14">
            <a:extLst xmlns:a="http://schemas.openxmlformats.org/drawingml/2006/main">
              <a:ext uri="{FF2B5EF4-FFF2-40B4-BE49-F238E27FC236}">
                <a16:creationId xmlns:a16="http://schemas.microsoft.com/office/drawing/2014/main" id="{F2AC50D8-8410-4A5F-8455-A8B75B5D851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14</a:t>
            </a:r>
          </a:p>
        </p:txBody>
      </p:sp>
      <p:sp>
        <p:nvSpPr>
          <p:cNvPr id="11" name="Choose the account that follows the light.">
            <a:extLst xmlns:a="http://schemas.openxmlformats.org/drawingml/2006/main">
              <a:ext uri="{FF2B5EF4-FFF2-40B4-BE49-F238E27FC236}">
                <a16:creationId xmlns:a16="http://schemas.microsoft.com/office/drawing/2014/main" id="{17D18C72-843D-4629-8854-4FF0F37C9A0F}"/>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Choose the account that follows the light.</a:t>
            </a:r>
          </a:p>
        </p:txBody>
      </p:sp>
      <p:sp>
        <p:nvSpPr>
          <p:cNvPr id="12" name="surface">
            <a:extLst xmlns:a="http://schemas.openxmlformats.org/drawingml/2006/main">
              <a:ext uri="{FF2B5EF4-FFF2-40B4-BE49-F238E27FC236}">
                <a16:creationId xmlns:a16="http://schemas.microsoft.com/office/drawing/2014/main" id="{2B16BC67-3CC3-4955-B1B8-E35E13A80CC8}"/>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C456B96A-27D1-454E-A9C3-0EAA5742E993}"/>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63EBCBCD-72ED-4560-B374-A517FFA3BA7A}"/>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The card sends dark paint onto the screen.">
            <a:extLst xmlns:a="http://schemas.openxmlformats.org/drawingml/2006/main">
              <a:ext uri="{FF2B5EF4-FFF2-40B4-BE49-F238E27FC236}">
                <a16:creationId xmlns:a16="http://schemas.microsoft.com/office/drawing/2014/main" id="{D369393E-7FB6-4986-B8C6-DBED15B2C936}"/>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card sends dark paint onto the screen.</a:t>
            </a:r>
          </a:p>
        </p:txBody>
      </p:sp>
      <p:sp>
        <p:nvSpPr>
          <p:cNvPr id="16" name="surface">
            <a:extLst xmlns:a="http://schemas.openxmlformats.org/drawingml/2006/main">
              <a:ext uri="{FF2B5EF4-FFF2-40B4-BE49-F238E27FC236}">
                <a16:creationId xmlns:a16="http://schemas.microsoft.com/office/drawing/2014/main" id="{3F2549F7-E137-40FF-991F-CECA650F4A6A}"/>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E289AD49-7393-4D79-B852-965D8FFE2C5E}"/>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FF82F6F9-EF8B-41F2-B3D9-8D359699C081}"/>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The card blocks light, so less reaches part of the screen.">
            <a:extLst xmlns:a="http://schemas.openxmlformats.org/drawingml/2006/main">
              <a:ext uri="{FF2B5EF4-FFF2-40B4-BE49-F238E27FC236}">
                <a16:creationId xmlns:a16="http://schemas.microsoft.com/office/drawing/2014/main" id="{2715F51A-5E1B-4D6F-9895-E9E6A0D25CD6}"/>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card blocks light, so less reaches part of the screen.</a:t>
            </a:r>
          </a:p>
        </p:txBody>
      </p:sp>
      <p:sp>
        <p:nvSpPr>
          <p:cNvPr id="20" name="surface">
            <a:extLst xmlns:a="http://schemas.openxmlformats.org/drawingml/2006/main">
              <a:ext uri="{FF2B5EF4-FFF2-40B4-BE49-F238E27FC236}">
                <a16:creationId xmlns:a16="http://schemas.microsoft.com/office/drawing/2014/main" id="{A5140C8C-84AC-42DE-9FA4-44326197F5F4}"/>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4E07FF88-053D-43F3-AA85-ED37AD077553}"/>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2122B241-AB42-4730-B7FC-F76BED914CD6}"/>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The source switches off when the card arrives.">
            <a:extLst xmlns:a="http://schemas.openxmlformats.org/drawingml/2006/main">
              <a:ext uri="{FF2B5EF4-FFF2-40B4-BE49-F238E27FC236}">
                <a16:creationId xmlns:a16="http://schemas.microsoft.com/office/drawing/2014/main" id="{CD8E532D-18C7-4060-8BCA-F63782A89E7C}"/>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The source switches off when the card arrives.</a:t>
            </a:r>
          </a:p>
        </p:txBody>
      </p:sp>
    </p:spTree>
    <p:extLst>
      <p:ext uri="{BB962C8B-B14F-4D97-AF65-F5344CB8AC3E}">
        <p14:creationId xmlns:p14="http://schemas.microsoft.com/office/powerpoint/2010/main" val="5578966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1C94A88E-0D7E-43AE-9309-A833859CA0E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154DA2A-FF59-4B5C-8F46-59D97084940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768CC63-7EBF-4A0D-9A88-9BF718B0661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3983C6DB-C682-45F7-8CD3-9B8DAE4FF0E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A6130C5A-E64D-4E04-B824-A0B50D3041B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2 min">
            <a:extLst xmlns:a="http://schemas.openxmlformats.org/drawingml/2006/main">
              <a:ext uri="{FF2B5EF4-FFF2-40B4-BE49-F238E27FC236}">
                <a16:creationId xmlns:a16="http://schemas.microsoft.com/office/drawing/2014/main" id="{859B724B-866D-4283-9808-CAA5E9A5E28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hoose your investigation route">
            <a:extLst xmlns:a="http://schemas.openxmlformats.org/drawingml/2006/main">
              <a:ext uri="{FF2B5EF4-FFF2-40B4-BE49-F238E27FC236}">
                <a16:creationId xmlns:a16="http://schemas.microsoft.com/office/drawing/2014/main" id="{5DD37640-53EC-4E71-B749-F083DBAE02A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your investigation route</a:t>
            </a:r>
          </a:p>
        </p:txBody>
      </p:sp>
      <p:sp>
        <p:nvSpPr>
          <p:cNvPr id="8" name="surface">
            <a:extLst xmlns:a="http://schemas.openxmlformats.org/drawingml/2006/main">
              <a:ext uri="{FF2B5EF4-FFF2-40B4-BE49-F238E27FC236}">
                <a16:creationId xmlns:a16="http://schemas.microsoft.com/office/drawing/2014/main" id="{7216DB06-A0BE-4DE7-8C6D-69C4F42DAAA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6465AF39-092B-451B-BBAF-B7AEF052A60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9 / 14">
            <a:extLst xmlns:a="http://schemas.openxmlformats.org/drawingml/2006/main">
              <a:ext uri="{FF2B5EF4-FFF2-40B4-BE49-F238E27FC236}">
                <a16:creationId xmlns:a16="http://schemas.microsoft.com/office/drawing/2014/main" id="{57142186-419F-4F68-AA9B-97F96806046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14</a:t>
            </a:r>
          </a:p>
        </p:txBody>
      </p:sp>
      <p:sp>
        <p:nvSpPr>
          <p:cNvPr id="11" name="Choose and order the setup.">
            <a:extLst xmlns:a="http://schemas.openxmlformats.org/drawingml/2006/main">
              <a:ext uri="{FF2B5EF4-FFF2-40B4-BE49-F238E27FC236}">
                <a16:creationId xmlns:a16="http://schemas.microsoft.com/office/drawing/2014/main" id="{D44F705B-A378-43F3-BF97-231F118783A0}"/>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Choose and order the setup.</a:t>
            </a:r>
          </a:p>
        </p:txBody>
      </p:sp>
      <p:sp>
        <p:nvSpPr>
          <p:cNvPr id="12" name="Record a design decision.">
            <a:extLst xmlns:a="http://schemas.openxmlformats.org/drawingml/2006/main">
              <a:ext uri="{FF2B5EF4-FFF2-40B4-BE49-F238E27FC236}">
                <a16:creationId xmlns:a16="http://schemas.microsoft.com/office/drawing/2014/main" id="{BB936B2A-F3C2-4992-A814-396E11914E65}"/>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Record a design decision.</a:t>
            </a:r>
          </a:p>
        </p:txBody>
      </p:sp>
      <p:sp>
        <p:nvSpPr>
          <p:cNvPr id="13" name="Repair a shadow explanation.">
            <a:extLst xmlns:a="http://schemas.openxmlformats.org/drawingml/2006/main">
              <a:ext uri="{FF2B5EF4-FFF2-40B4-BE49-F238E27FC236}">
                <a16:creationId xmlns:a16="http://schemas.microsoft.com/office/drawing/2014/main" id="{C40F36D1-E55F-4D5D-A386-106E653E1AFD}"/>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Repair a shadow explanation.</a:t>
            </a:r>
          </a:p>
        </p:txBody>
      </p:sp>
    </p:spTree>
    <p:extLst>
      <p:ext uri="{BB962C8B-B14F-4D97-AF65-F5344CB8AC3E}">
        <p14:creationId xmlns:p14="http://schemas.microsoft.com/office/powerpoint/2010/main" val="14301182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ADCCDB9F-BA21-4ADC-8063-4D64F727966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670731E-8F4D-46DF-ACFA-5C073FDE47F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355201C-1B98-46C8-B290-CC00734ABF4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E652DA9-6BD4-489F-8F6F-F832CCE7B3E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8FA6DBB8-B63D-4D5D-8FA8-613E68A7DDF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Use the evidence">
            <a:extLst xmlns:a="http://schemas.openxmlformats.org/drawingml/2006/main">
              <a:ext uri="{FF2B5EF4-FFF2-40B4-BE49-F238E27FC236}">
                <a16:creationId xmlns:a16="http://schemas.microsoft.com/office/drawing/2014/main" id="{1BF38D20-77DB-434B-BB5A-CA4EA6B424B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Use the evidence</a:t>
            </a:r>
          </a:p>
        </p:txBody>
      </p:sp>
      <p:sp>
        <p:nvSpPr>
          <p:cNvPr id="7" name="surface">
            <a:extLst xmlns:a="http://schemas.openxmlformats.org/drawingml/2006/main">
              <a:ext uri="{FF2B5EF4-FFF2-40B4-BE49-F238E27FC236}">
                <a16:creationId xmlns:a16="http://schemas.microsoft.com/office/drawing/2014/main" id="{0B61DBD9-0A94-40B5-A49E-9C8241E3544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hadow-screen lab">
            <a:extLst xmlns:a="http://schemas.openxmlformats.org/drawingml/2006/main">
              <a:ext uri="{FF2B5EF4-FFF2-40B4-BE49-F238E27FC236}">
                <a16:creationId xmlns:a16="http://schemas.microsoft.com/office/drawing/2014/main" id="{766BEA86-4A88-4B8B-A9B4-767512FED22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9" name="10 / 14">
            <a:extLst xmlns:a="http://schemas.openxmlformats.org/drawingml/2006/main">
              <a:ext uri="{FF2B5EF4-FFF2-40B4-BE49-F238E27FC236}">
                <a16:creationId xmlns:a16="http://schemas.microsoft.com/office/drawing/2014/main" id="{8771B8D2-BFCF-4E3B-8F1E-772B9DD0952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14</a:t>
            </a:r>
          </a:p>
        </p:txBody>
      </p:sp>
      <p:sp>
        <p:nvSpPr>
          <p:cNvPr id="10" name="Read or point to one clue.">
            <a:extLst xmlns:a="http://schemas.openxmlformats.org/drawingml/2006/main">
              <a:ext uri="{FF2B5EF4-FFF2-40B4-BE49-F238E27FC236}">
                <a16:creationId xmlns:a16="http://schemas.microsoft.com/office/drawing/2014/main" id="{EDA065FB-6474-4676-9206-80EAF836EAE6}"/>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Read or point to one clue.</a:t>
            </a:r>
          </a:p>
        </p:txBody>
      </p:sp>
      <p:sp>
        <p:nvSpPr>
          <p:cNvPr id="11" name="Record what it supports.">
            <a:extLst xmlns:a="http://schemas.openxmlformats.org/drawingml/2006/main">
              <a:ext uri="{FF2B5EF4-FFF2-40B4-BE49-F238E27FC236}">
                <a16:creationId xmlns:a16="http://schemas.microsoft.com/office/drawing/2014/main" id="{BE7223A0-07B1-4203-9B73-792EFB8973C0}"/>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Record what it supports.</a:t>
            </a:r>
          </a:p>
        </p:txBody>
      </p:sp>
      <p:sp>
        <p:nvSpPr>
          <p:cNvPr id="12" name="Keep your explanation short.">
            <a:extLst xmlns:a="http://schemas.openxmlformats.org/drawingml/2006/main">
              <a:ext uri="{FF2B5EF4-FFF2-40B4-BE49-F238E27FC236}">
                <a16:creationId xmlns:a16="http://schemas.microsoft.com/office/drawing/2014/main" id="{0AF39762-23F4-453C-9219-ED007362BE0A}"/>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Keep your explanation short.</a:t>
            </a:r>
          </a:p>
        </p:txBody>
      </p:sp>
    </p:spTree>
    <p:extLst>
      <p:ext uri="{BB962C8B-B14F-4D97-AF65-F5344CB8AC3E}">
        <p14:creationId xmlns:p14="http://schemas.microsoft.com/office/powerpoint/2010/main" val="17460375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BD718950-B47D-45AA-B1D2-54F22BAC3B8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5E58FF9-703C-4F10-9F4B-0B16781DE16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C6CDFC9-36CF-4E61-87D6-4017644FB1A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E021D056-4371-4E1C-B5F6-F9A811479B5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0C679E75-4002-49A9-BDD3-91D5485A874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4C1689F0-96AF-46CA-AF26-9BDFEFEF0FC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Make your own science record">
            <a:extLst xmlns:a="http://schemas.openxmlformats.org/drawingml/2006/main">
              <a:ext uri="{FF2B5EF4-FFF2-40B4-BE49-F238E27FC236}">
                <a16:creationId xmlns:a16="http://schemas.microsoft.com/office/drawing/2014/main" id="{0B1B477B-27AD-407B-BD6A-F6EA8752A92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Make your own science record</a:t>
            </a:r>
          </a:p>
        </p:txBody>
      </p:sp>
      <p:sp>
        <p:nvSpPr>
          <p:cNvPr id="8" name="surface">
            <a:extLst xmlns:a="http://schemas.openxmlformats.org/drawingml/2006/main">
              <a:ext uri="{FF2B5EF4-FFF2-40B4-BE49-F238E27FC236}">
                <a16:creationId xmlns:a16="http://schemas.microsoft.com/office/drawing/2014/main" id="{C343F4A7-05D4-42EE-B324-AEE9E7FF829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59628508-DC4C-4532-8867-C52F39C2EE3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11 / 14">
            <a:extLst xmlns:a="http://schemas.openxmlformats.org/drawingml/2006/main">
              <a:ext uri="{FF2B5EF4-FFF2-40B4-BE49-F238E27FC236}">
                <a16:creationId xmlns:a16="http://schemas.microsoft.com/office/drawing/2014/main" id="{ED37813E-9FB6-4464-B7E2-8CFBCAE3D48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14</a:t>
            </a:r>
          </a:p>
        </p:txBody>
      </p:sp>
      <p:sp>
        <p:nvSpPr>
          <p:cNvPr id="11" name="Complete your chosen route.">
            <a:extLst xmlns:a="http://schemas.openxmlformats.org/drawingml/2006/main">
              <a:ext uri="{FF2B5EF4-FFF2-40B4-BE49-F238E27FC236}">
                <a16:creationId xmlns:a16="http://schemas.microsoft.com/office/drawing/2014/main" id="{E00D9442-AC73-465C-99E0-037F736605DA}"/>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Complete your chosen route.</a:t>
            </a:r>
          </a:p>
        </p:txBody>
      </p:sp>
      <p:sp>
        <p:nvSpPr>
          <p:cNvPr id="12" name="Use a diagram, words or speech.">
            <a:extLst xmlns:a="http://schemas.openxmlformats.org/drawingml/2006/main">
              <a:ext uri="{FF2B5EF4-FFF2-40B4-BE49-F238E27FC236}">
                <a16:creationId xmlns:a16="http://schemas.microsoft.com/office/drawing/2014/main" id="{5C8FB87D-F6E7-41D3-A093-BDBD2AD67ED2}"/>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a diagram, words or speech.</a:t>
            </a:r>
          </a:p>
        </p:txBody>
      </p:sp>
      <p:sp>
        <p:nvSpPr>
          <p:cNvPr id="13" name="Check one answer with the evidence.">
            <a:extLst xmlns:a="http://schemas.openxmlformats.org/drawingml/2006/main">
              <a:ext uri="{FF2B5EF4-FFF2-40B4-BE49-F238E27FC236}">
                <a16:creationId xmlns:a16="http://schemas.microsoft.com/office/drawing/2014/main" id="{B36F7A31-90C2-4BF4-8612-B9EE14D23A02}"/>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Check one answer with the evidence.</a:t>
            </a:r>
          </a:p>
        </p:txBody>
      </p:sp>
    </p:spTree>
    <p:extLst>
      <p:ext uri="{BB962C8B-B14F-4D97-AF65-F5344CB8AC3E}">
        <p14:creationId xmlns:p14="http://schemas.microsoft.com/office/powerpoint/2010/main" val="6839570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777B2CB3-6BBC-4B2E-A16D-67AF361E4B2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980BC51-F4B6-4FF1-B239-D1B60AF16D8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635ED00-005D-47E7-A70B-7551FC9357D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CAE7E9A-5E64-4148-9CF3-3968FFEFF4B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3405DC33-BAB0-4587-97D4-287D635E314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and improve">
            <a:extLst xmlns:a="http://schemas.openxmlformats.org/drawingml/2006/main">
              <a:ext uri="{FF2B5EF4-FFF2-40B4-BE49-F238E27FC236}">
                <a16:creationId xmlns:a16="http://schemas.microsoft.com/office/drawing/2014/main" id="{00B36CA0-C9A5-4265-B03B-F114351EC14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and improve</a:t>
            </a:r>
          </a:p>
        </p:txBody>
      </p:sp>
      <p:sp>
        <p:nvSpPr>
          <p:cNvPr id="7" name="surface">
            <a:extLst xmlns:a="http://schemas.openxmlformats.org/drawingml/2006/main">
              <a:ext uri="{FF2B5EF4-FFF2-40B4-BE49-F238E27FC236}">
                <a16:creationId xmlns:a16="http://schemas.microsoft.com/office/drawing/2014/main" id="{766BB04C-DD9E-49B2-859A-E6AACA49C63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shadow-screen lab">
            <a:extLst xmlns:a="http://schemas.openxmlformats.org/drawingml/2006/main">
              <a:ext uri="{FF2B5EF4-FFF2-40B4-BE49-F238E27FC236}">
                <a16:creationId xmlns:a16="http://schemas.microsoft.com/office/drawing/2014/main" id="{56514CCC-012D-45E7-86BB-3F453F70F63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9" name="12 / 14">
            <a:extLst xmlns:a="http://schemas.openxmlformats.org/drawingml/2006/main">
              <a:ext uri="{FF2B5EF4-FFF2-40B4-BE49-F238E27FC236}">
                <a16:creationId xmlns:a16="http://schemas.microsoft.com/office/drawing/2014/main" id="{AF6BA9B1-12BA-4093-BF28-C62E33BFFCE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14</a:t>
            </a:r>
          </a:p>
        </p:txBody>
      </p:sp>
      <p:sp>
        <p:nvSpPr>
          <p:cNvPr id="10" name="Does my answer match the evidence?">
            <a:extLst xmlns:a="http://schemas.openxmlformats.org/drawingml/2006/main">
              <a:ext uri="{FF2B5EF4-FFF2-40B4-BE49-F238E27FC236}">
                <a16:creationId xmlns:a16="http://schemas.microsoft.com/office/drawing/2014/main" id="{EB4F6A3F-12F5-466F-9C56-AB2D8DA8C3A7}"/>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Does my answer match the evidence?</a:t>
            </a:r>
          </a:p>
        </p:txBody>
      </p:sp>
      <p:sp>
        <p:nvSpPr>
          <p:cNvPr id="11" name="Have I explained why?">
            <a:extLst xmlns:a="http://schemas.openxmlformats.org/drawingml/2006/main">
              <a:ext uri="{FF2B5EF4-FFF2-40B4-BE49-F238E27FC236}">
                <a16:creationId xmlns:a16="http://schemas.microsoft.com/office/drawing/2014/main" id="{7AAABC90-C1C9-44DE-A6C0-EB011F6B96F7}"/>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Have I explained why?</a:t>
            </a:r>
          </a:p>
        </p:txBody>
      </p:sp>
      <p:sp>
        <p:nvSpPr>
          <p:cNvPr id="12" name="Improve one label or sentence.">
            <a:extLst xmlns:a="http://schemas.openxmlformats.org/drawingml/2006/main">
              <a:ext uri="{FF2B5EF4-FFF2-40B4-BE49-F238E27FC236}">
                <a16:creationId xmlns:a16="http://schemas.microsoft.com/office/drawing/2014/main" id="{E189B1CD-2469-4F0A-BBC8-A3A20B84420F}"/>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Improve one label or sentence.</a:t>
            </a:r>
          </a:p>
        </p:txBody>
      </p:sp>
    </p:spTree>
    <p:extLst>
      <p:ext uri="{BB962C8B-B14F-4D97-AF65-F5344CB8AC3E}">
        <p14:creationId xmlns:p14="http://schemas.microsoft.com/office/powerpoint/2010/main" val="1772806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A910A9E9-F1B2-4FCC-BACE-08C41682FF9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0DC78C6-F550-4BC4-88E8-CA1F2D58CB8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BFBB46E-39B6-4F08-ABD5-BD873B2BC33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D10100AA-0C6B-412F-867C-311D6F49D8E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view">
            <a:extLst xmlns:a="http://schemas.openxmlformats.org/drawingml/2006/main">
              <a:ext uri="{FF2B5EF4-FFF2-40B4-BE49-F238E27FC236}">
                <a16:creationId xmlns:a16="http://schemas.microsoft.com/office/drawing/2014/main" id="{23BC559A-FD85-4327-B070-18F6EA5F35D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156D6E4A-C1F0-413D-914F-AD25B59462A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Lundy loop: improve our account">
            <a:extLst xmlns:a="http://schemas.openxmlformats.org/drawingml/2006/main">
              <a:ext uri="{FF2B5EF4-FFF2-40B4-BE49-F238E27FC236}">
                <a16:creationId xmlns:a16="http://schemas.microsoft.com/office/drawing/2014/main" id="{ABB1EFE1-EBE0-4765-9964-1E66F053A9C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Lundy loop: improve our account</a:t>
            </a:r>
          </a:p>
        </p:txBody>
      </p:sp>
      <p:sp>
        <p:nvSpPr>
          <p:cNvPr id="8" name="surface">
            <a:extLst xmlns:a="http://schemas.openxmlformats.org/drawingml/2006/main">
              <a:ext uri="{FF2B5EF4-FFF2-40B4-BE49-F238E27FC236}">
                <a16:creationId xmlns:a16="http://schemas.microsoft.com/office/drawing/2014/main" id="{8BBB7752-2120-44FF-ADCF-7021C73BCAD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BBC0AA07-9453-43B6-A596-85A319E3A09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13 / 14">
            <a:extLst xmlns:a="http://schemas.openxmlformats.org/drawingml/2006/main">
              <a:ext uri="{FF2B5EF4-FFF2-40B4-BE49-F238E27FC236}">
                <a16:creationId xmlns:a16="http://schemas.microsoft.com/office/drawing/2014/main" id="{0367230D-CB73-4E98-8AC8-C7A5D5D888F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14</a:t>
            </a:r>
          </a:p>
        </p:txBody>
      </p:sp>
      <p:sp>
        <p:nvSpPr>
          <p:cNvPr id="11" name="Choose how to share one idea.">
            <a:extLst xmlns:a="http://schemas.openxmlformats.org/drawingml/2006/main">
              <a:ext uri="{FF2B5EF4-FFF2-40B4-BE49-F238E27FC236}">
                <a16:creationId xmlns:a16="http://schemas.microsoft.com/office/drawing/2014/main" id="{6A8D28BF-CEC4-4C58-99B7-266852397A0A}"/>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Choose how to share one idea.</a:t>
            </a:r>
          </a:p>
        </p:txBody>
      </p:sp>
      <p:sp>
        <p:nvSpPr>
          <p:cNvPr id="12" name="Listen to another explanation.">
            <a:extLst xmlns:a="http://schemas.openxmlformats.org/drawingml/2006/main">
              <a:ext uri="{FF2B5EF4-FFF2-40B4-BE49-F238E27FC236}">
                <a16:creationId xmlns:a16="http://schemas.microsoft.com/office/drawing/2014/main" id="{D22668F9-8DA6-49D8-BA52-CF34C7F81ABD}"/>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Listen to another explanation.</a:t>
            </a:r>
          </a:p>
        </p:txBody>
      </p:sp>
      <p:sp>
        <p:nvSpPr>
          <p:cNvPr id="13" name="Use evidence to improve our account.">
            <a:extLst xmlns:a="http://schemas.openxmlformats.org/drawingml/2006/main">
              <a:ext uri="{FF2B5EF4-FFF2-40B4-BE49-F238E27FC236}">
                <a16:creationId xmlns:a16="http://schemas.microsoft.com/office/drawing/2014/main" id="{EE162F32-7E6C-4CF5-83BB-6A21AB936D58}"/>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evidence to improve our account.</a:t>
            </a:r>
          </a:p>
        </p:txBody>
      </p:sp>
      <p:sp>
        <p:nvSpPr>
          <p:cNvPr id="14" name="surface">
            <a:extLst xmlns:a="http://schemas.openxmlformats.org/drawingml/2006/main">
              <a:ext uri="{FF2B5EF4-FFF2-40B4-BE49-F238E27FC236}">
                <a16:creationId xmlns:a16="http://schemas.microsoft.com/office/drawing/2014/main" id="{A78DF378-459A-4FE7-B4ED-50594025D538}"/>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CF304F6B-2B4F-480F-84D3-2DC8B4D602D8}"/>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6" name="What is a shadow made of?">
            <a:extLst xmlns:a="http://schemas.openxmlformats.org/drawingml/2006/main">
              <a:ext uri="{FF2B5EF4-FFF2-40B4-BE49-F238E27FC236}">
                <a16:creationId xmlns:a16="http://schemas.microsoft.com/office/drawing/2014/main" id="{7554D491-A130-4011-B9E9-D161522EDC44}"/>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E7A9B"/>
                </a:solidFill>
                <a:latin typeface="Nimbus Sans"/>
                <a:ea typeface="Nimbus Sans"/>
                <a:cs typeface="Nimbus Sans"/>
              </a:defRPr>
            </a:pPr>
            <a:r>
              <a:rPr sz="2175" b="1">
                <a:solidFill>
                  <a:srgbClr val="4E7A9B"/>
                </a:solidFill>
                <a:latin typeface="Nimbus Sans"/>
                <a:ea typeface="Nimbus Sans"/>
                <a:cs typeface="Nimbus Sans"/>
              </a:rPr>
              <a:t>What is a shadow made of?</a:t>
            </a:r>
          </a:p>
        </p:txBody>
      </p:sp>
    </p:spTree>
    <p:extLst>
      <p:ext uri="{BB962C8B-B14F-4D97-AF65-F5344CB8AC3E}">
        <p14:creationId xmlns:p14="http://schemas.microsoft.com/office/powerpoint/2010/main" val="10697596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AAA9260A-51BF-454F-B513-23C97028B7C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79C04A3-4561-4AE0-9474-92585187B6E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85095BB-3E98-4DDB-AE62-9026A068E6C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1031E6AF-DACD-41A5-B332-5903A756F4E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Exit">
            <a:extLst xmlns:a="http://schemas.openxmlformats.org/drawingml/2006/main">
              <a:ext uri="{FF2B5EF4-FFF2-40B4-BE49-F238E27FC236}">
                <a16:creationId xmlns:a16="http://schemas.microsoft.com/office/drawing/2014/main" id="{F59FDA06-C3B0-4D94-BC7C-6369C35D8DE3}"/>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B58C3999-5456-4BD3-9BD7-AA63EC1FF1F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Three quick checks">
            <a:extLst xmlns:a="http://schemas.openxmlformats.org/drawingml/2006/main">
              <a:ext uri="{FF2B5EF4-FFF2-40B4-BE49-F238E27FC236}">
                <a16:creationId xmlns:a16="http://schemas.microsoft.com/office/drawing/2014/main" id="{271A18EA-B4DC-48B3-8BAC-E9413734185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Three quick checks</a:t>
            </a:r>
          </a:p>
        </p:txBody>
      </p:sp>
      <p:sp>
        <p:nvSpPr>
          <p:cNvPr id="8" name="surface">
            <a:extLst xmlns:a="http://schemas.openxmlformats.org/drawingml/2006/main">
              <a:ext uri="{FF2B5EF4-FFF2-40B4-BE49-F238E27FC236}">
                <a16:creationId xmlns:a16="http://schemas.microsoft.com/office/drawing/2014/main" id="{1AD2DFFE-F75F-4E14-8A70-29B40AAB467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shadow-screen lab">
            <a:extLst xmlns:a="http://schemas.openxmlformats.org/drawingml/2006/main">
              <a:ext uri="{FF2B5EF4-FFF2-40B4-BE49-F238E27FC236}">
                <a16:creationId xmlns:a16="http://schemas.microsoft.com/office/drawing/2014/main" id="{557E4E81-53AB-4FFB-95D7-7EE3825CDE9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shadow-screen lab</a:t>
            </a:r>
          </a:p>
        </p:txBody>
      </p:sp>
      <p:sp>
        <p:nvSpPr>
          <p:cNvPr id="10" name="14 / 14">
            <a:extLst xmlns:a="http://schemas.openxmlformats.org/drawingml/2006/main">
              <a:ext uri="{FF2B5EF4-FFF2-40B4-BE49-F238E27FC236}">
                <a16:creationId xmlns:a16="http://schemas.microsoft.com/office/drawing/2014/main" id="{9DABD8E8-8875-4B7F-8BDE-F13A48E1848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14</a:t>
            </a:r>
          </a:p>
        </p:txBody>
      </p:sp>
      <p:sp>
        <p:nvSpPr>
          <p:cNvPr id="11" name="E1. What does an opaque card do to light?">
            <a:extLst xmlns:a="http://schemas.openxmlformats.org/drawingml/2006/main">
              <a:ext uri="{FF2B5EF4-FFF2-40B4-BE49-F238E27FC236}">
                <a16:creationId xmlns:a16="http://schemas.microsoft.com/office/drawing/2014/main" id="{E22F72AE-5AB7-4261-9E9A-CA23EBDC38FF}"/>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E1. What does an opaque card do to light?</a:t>
            </a:r>
          </a:p>
        </p:txBody>
      </p:sp>
      <p:sp>
        <p:nvSpPr>
          <p:cNvPr id="12" name="E2. Where is the shadow in our setup?">
            <a:extLst xmlns:a="http://schemas.openxmlformats.org/drawingml/2006/main">
              <a:ext uri="{FF2B5EF4-FFF2-40B4-BE49-F238E27FC236}">
                <a16:creationId xmlns:a16="http://schemas.microsoft.com/office/drawing/2014/main" id="{83C119A6-6196-49FA-9F33-BB793C97B10C}"/>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E2. Where is the shadow in our setup?</a:t>
            </a:r>
          </a:p>
        </p:txBody>
      </p:sp>
      <p:sp>
        <p:nvSpPr>
          <p:cNvPr id="13" name="E3. What changes when the card leaves the beam?">
            <a:extLst xmlns:a="http://schemas.openxmlformats.org/drawingml/2006/main">
              <a:ext uri="{FF2B5EF4-FFF2-40B4-BE49-F238E27FC236}">
                <a16:creationId xmlns:a16="http://schemas.microsoft.com/office/drawing/2014/main" id="{01CD8508-B5B2-45D0-B640-36C01B297731}"/>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E3. What changes when the card leaves the beam?</a:t>
            </a:r>
          </a:p>
        </p:txBody>
      </p:sp>
    </p:spTree>
    <p:extLst>
      <p:ext uri="{BB962C8B-B14F-4D97-AF65-F5344CB8AC3E}">
        <p14:creationId xmlns:p14="http://schemas.microsoft.com/office/powerpoint/2010/main" val="6268336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2026-09-08T23:11:53.9630000Z</dcterms:created>
  <dcterms:modified xsi:type="dcterms:W3CDTF">2026-09-08T23:11:53.9630000Z</dcterms:modified>
</coreProperties>
</file>