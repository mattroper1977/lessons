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efdfd9488d4e12" /><Relationship Type="http://schemas.openxmlformats.org/officeDocument/2006/relationships/extended-properties" Target="/docProps/app.xml" Id="Rad341ef920ad4006" /><Relationship Type="http://schemas.openxmlformats.org/officeDocument/2006/relationships/officeDocument" Target="/ppt/presentation.xml" Id="R3615c115e875449b" /></Relationships>
</file>

<file path=ppt/presentation.xml><?xml version="1.0" encoding="utf-8"?>
<p:presentation xmlns:p="http://schemas.openxmlformats.org/presentationml/2006/main">
  <p:sldMasterIdLst>
    <p:sldMasterId xmlns:r="http://schemas.openxmlformats.org/officeDocument/2006/relationships" id="2147483648" r:id="Rd342bc00b55248a9"/>
  </p:sldMasterIdLst>
  <p:notesMasterIdLst>
    <p:notesMasterId xmlns:r="http://schemas.openxmlformats.org/officeDocument/2006/relationships" r:id="R67ca21f494c74a66"/>
  </p:notesMasterIdLst>
  <p:sldIdLst>
    <p:sldId xmlns:r="http://schemas.openxmlformats.org/officeDocument/2006/relationships" id="256" r:id="Rdc59c67d00434889"/>
    <p:sldId xmlns:r="http://schemas.openxmlformats.org/officeDocument/2006/relationships" id="257" r:id="Re7d1b977dd034361"/>
    <p:sldId xmlns:r="http://schemas.openxmlformats.org/officeDocument/2006/relationships" id="258" r:id="R6f6a7c0d3d694613"/>
    <p:sldId xmlns:r="http://schemas.openxmlformats.org/officeDocument/2006/relationships" id="259" r:id="R581d4c3617304393"/>
    <p:sldId xmlns:r="http://schemas.openxmlformats.org/officeDocument/2006/relationships" id="260" r:id="R56758fdff81447d9"/>
    <p:sldId xmlns:r="http://schemas.openxmlformats.org/officeDocument/2006/relationships" id="261" r:id="R949dffff0f214027"/>
    <p:sldId xmlns:r="http://schemas.openxmlformats.org/officeDocument/2006/relationships" id="262" r:id="R4400a805ba674ea9"/>
    <p:sldId xmlns:r="http://schemas.openxmlformats.org/officeDocument/2006/relationships" id="263" r:id="R2919915496e54bce"/>
    <p:sldId xmlns:r="http://schemas.openxmlformats.org/officeDocument/2006/relationships" id="264" r:id="R90f0ba734e9e4900"/>
    <p:sldId xmlns:r="http://schemas.openxmlformats.org/officeDocument/2006/relationships" id="265" r:id="Rf0d8d7ba5a3a4ec7"/>
    <p:sldId xmlns:r="http://schemas.openxmlformats.org/officeDocument/2006/relationships" id="266" r:id="R7ac0c3f8ba74475d"/>
    <p:sldId xmlns:r="http://schemas.openxmlformats.org/officeDocument/2006/relationships" id="267" r:id="R4259f9475b1d44b7"/>
    <p:sldId xmlns:r="http://schemas.openxmlformats.org/officeDocument/2006/relationships" id="268" r:id="R0577a9c06f2c4eaa"/>
    <p:sldId xmlns:r="http://schemas.openxmlformats.org/officeDocument/2006/relationships" id="269" r:id="R13d781c72c064ac1"/>
    <p:sldId xmlns:r="http://schemas.openxmlformats.org/officeDocument/2006/relationships" id="270" r:id="R56a4eefb74864a70"/>
    <p:sldId xmlns:r="http://schemas.openxmlformats.org/officeDocument/2006/relationships" id="271" r:id="R13d19623de724467"/>
    <p:sldId xmlns:r="http://schemas.openxmlformats.org/officeDocument/2006/relationships" id="272" r:id="R76acc76d12db40b1"/>
    <p:sldId xmlns:r="http://schemas.openxmlformats.org/officeDocument/2006/relationships" id="273" r:id="R6851c3643b9d4d08"/>
    <p:sldId xmlns:r="http://schemas.openxmlformats.org/officeDocument/2006/relationships" id="274" r:id="R2bc2a834a42043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7382e72e4342ff" /><Relationship Type="http://schemas.openxmlformats.org/officeDocument/2006/relationships/slideMaster" Target="/ppt/slideMasters/slideMaster1.xml" Id="Rd342bc00b55248a9" /><Relationship Type="http://schemas.openxmlformats.org/officeDocument/2006/relationships/notesMaster" Target="/ppt/notesMasters/notesMaster1.xml" Id="R67ca21f494c74a66" /><Relationship Type="http://schemas.openxmlformats.org/officeDocument/2006/relationships/presProps" Target="/ppt/presProps.xml" Id="Rd1d5f32e20904661" /><Relationship Type="http://schemas.openxmlformats.org/officeDocument/2006/relationships/tableStyles" Target="/ppt/tableStyles.xml" Id="R1003f50f00654e71" /><Relationship Type="http://schemas.openxmlformats.org/officeDocument/2006/relationships/slide" Target="/ppt/slides/slide1.xml" Id="Rdc59c67d00434889" /><Relationship Type="http://schemas.openxmlformats.org/officeDocument/2006/relationships/slide" Target="/ppt/slides/slide2.xml" Id="Re7d1b977dd034361" /><Relationship Type="http://schemas.openxmlformats.org/officeDocument/2006/relationships/slide" Target="/ppt/slides/slide3.xml" Id="R6f6a7c0d3d694613" /><Relationship Type="http://schemas.openxmlformats.org/officeDocument/2006/relationships/slide" Target="/ppt/slides/slide4.xml" Id="R581d4c3617304393" /><Relationship Type="http://schemas.openxmlformats.org/officeDocument/2006/relationships/slide" Target="/ppt/slides/slide5.xml" Id="R56758fdff81447d9" /><Relationship Type="http://schemas.openxmlformats.org/officeDocument/2006/relationships/slide" Target="/ppt/slides/slide6.xml" Id="R949dffff0f214027" /><Relationship Type="http://schemas.openxmlformats.org/officeDocument/2006/relationships/slide" Target="/ppt/slides/slide7.xml" Id="R4400a805ba674ea9" /><Relationship Type="http://schemas.openxmlformats.org/officeDocument/2006/relationships/slide" Target="/ppt/slides/slide8.xml" Id="R2919915496e54bce" /><Relationship Type="http://schemas.openxmlformats.org/officeDocument/2006/relationships/slide" Target="/ppt/slides/slide9.xml" Id="R90f0ba734e9e4900" /><Relationship Type="http://schemas.openxmlformats.org/officeDocument/2006/relationships/slide" Target="/ppt/slides/slide10.xml" Id="Rf0d8d7ba5a3a4ec7" /><Relationship Type="http://schemas.openxmlformats.org/officeDocument/2006/relationships/slide" Target="/ppt/slides/slide11.xml" Id="R7ac0c3f8ba74475d" /><Relationship Type="http://schemas.openxmlformats.org/officeDocument/2006/relationships/slide" Target="/ppt/slides/slide12.xml" Id="R4259f9475b1d44b7" /><Relationship Type="http://schemas.openxmlformats.org/officeDocument/2006/relationships/slide" Target="/ppt/slides/slide13.xml" Id="R0577a9c06f2c4eaa" /><Relationship Type="http://schemas.openxmlformats.org/officeDocument/2006/relationships/slide" Target="/ppt/slides/slide14.xml" Id="R13d781c72c064ac1" /><Relationship Type="http://schemas.openxmlformats.org/officeDocument/2006/relationships/slide" Target="/ppt/slides/slide15.xml" Id="R56a4eefb74864a70" /><Relationship Type="http://schemas.openxmlformats.org/officeDocument/2006/relationships/slide" Target="/ppt/slides/slide16.xml" Id="R13d19623de724467" /><Relationship Type="http://schemas.openxmlformats.org/officeDocument/2006/relationships/slide" Target="/ppt/slides/slide17.xml" Id="R76acc76d12db40b1" /><Relationship Type="http://schemas.openxmlformats.org/officeDocument/2006/relationships/slide" Target="/ppt/slides/slide18.xml" Id="R6851c3643b9d4d08" /><Relationship Type="http://schemas.openxmlformats.org/officeDocument/2006/relationships/slide" Target="/ppt/slides/slide19.xml" Id="R2bc2a834a42043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9d28a6eb0d45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d539d586cf4181" /><Relationship Type="http://schemas.openxmlformats.org/officeDocument/2006/relationships/notesMaster" Target="/ppt/notesMasters/notesMaster1.xml" Id="R247560750fc249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118da75ad249ae" /><Relationship Type="http://schemas.openxmlformats.org/officeDocument/2006/relationships/notesMaster" Target="/ppt/notesMasters/notesMaster1.xml" Id="R43ea6d3109774f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0dfdc5fadb414f" /><Relationship Type="http://schemas.openxmlformats.org/officeDocument/2006/relationships/notesMaster" Target="/ppt/notesMasters/notesMaster1.xml" Id="Re91aafaabdbf4d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8a89df195b4df3" /><Relationship Type="http://schemas.openxmlformats.org/officeDocument/2006/relationships/notesMaster" Target="/ppt/notesMasters/notesMaster1.xml" Id="R0d9ed14bcca449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0f5e1693a246be" /><Relationship Type="http://schemas.openxmlformats.org/officeDocument/2006/relationships/notesMaster" Target="/ppt/notesMasters/notesMaster1.xml" Id="Rb0573dba56674a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1c6167cfb54d68" /><Relationship Type="http://schemas.openxmlformats.org/officeDocument/2006/relationships/notesMaster" Target="/ppt/notesMasters/notesMaster1.xml" Id="R691f044d2b0347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7a92ca12784d44" /><Relationship Type="http://schemas.openxmlformats.org/officeDocument/2006/relationships/notesMaster" Target="/ppt/notesMasters/notesMaster1.xml" Id="Rb78598a92e7c4d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b4f2b1222c49d0" /><Relationship Type="http://schemas.openxmlformats.org/officeDocument/2006/relationships/notesMaster" Target="/ppt/notesMasters/notesMaster1.xml" Id="Ra66e57b985bd41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64257bed1649fe" /><Relationship Type="http://schemas.openxmlformats.org/officeDocument/2006/relationships/notesMaster" Target="/ppt/notesMasters/notesMaster1.xml" Id="Rcf415e94740b41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dbcf0ede554a56" /><Relationship Type="http://schemas.openxmlformats.org/officeDocument/2006/relationships/notesMaster" Target="/ppt/notesMasters/notesMaster1.xml" Id="R31d76541886647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02c4e415cc4821" /><Relationship Type="http://schemas.openxmlformats.org/officeDocument/2006/relationships/notesMaster" Target="/ppt/notesMasters/notesMaster1.xml" Id="R4a3383f61a3a49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57059598ff47c8" /><Relationship Type="http://schemas.openxmlformats.org/officeDocument/2006/relationships/notesMaster" Target="/ppt/notesMasters/notesMaster1.xml" Id="Rc04b129193ce4f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9752c173ff427b" /><Relationship Type="http://schemas.openxmlformats.org/officeDocument/2006/relationships/notesMaster" Target="/ppt/notesMasters/notesMaster1.xml" Id="R5a8b4662b07e4b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ff3511b7cc5434e" /><Relationship Type="http://schemas.openxmlformats.org/officeDocument/2006/relationships/notesMaster" Target="/ppt/notesMasters/notesMaster1.xml" Id="R82b95a5089d146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aca3af014749d7" /><Relationship Type="http://schemas.openxmlformats.org/officeDocument/2006/relationships/notesMaster" Target="/ppt/notesMasters/notesMaster1.xml" Id="Rc59f0104628343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4e6944ea9741a8" /><Relationship Type="http://schemas.openxmlformats.org/officeDocument/2006/relationships/notesMaster" Target="/ppt/notesMasters/notesMaster1.xml" Id="R8c377cd233a148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f2d7cdd45a747cf" /><Relationship Type="http://schemas.openxmlformats.org/officeDocument/2006/relationships/notesMaster" Target="/ppt/notesMasters/notesMaster1.xml" Id="Rc840b45361f8487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8a0801c40148c4" /><Relationship Type="http://schemas.openxmlformats.org/officeDocument/2006/relationships/notesMaster" Target="/ppt/notesMasters/notesMaster1.xml" Id="Rfe6711072a4844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4ab6b7fdae43c3" /><Relationship Type="http://schemas.openxmlformats.org/officeDocument/2006/relationships/notesMaster" Target="/ppt/notesMasters/notesMaster1.xml" Id="R36820c64c0c14b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Overview: 0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 card: preserve the learning goal; change modality before changing demand.</a:t>
            </a:r>
          </a:p>
          <a:p xmlns:a="http://schemas.openxmlformats.org/drawingml/2006/main">
            <a:r>
              <a:t/>
            </a:r>
          </a:p>
          <a:p xmlns:a="http://schemas.openxmlformats.org/drawingml/2006/main">
            <a:r>
              <a:t>Modal guidance carrier.</a:t>
            </a:r>
          </a:p>
          <a:p xmlns:a="http://schemas.openxmlformats.org/drawingml/2006/main">
            <a:r>
              <a:t/>
            </a:r>
          </a:p>
          <a:p xmlns:a="http://schemas.openxmlformats.org/drawingml/2006/main">
            <a:r>
              <a:t>A fossil-formation sequence · entry map: More layers can build and compact over a very long time as minerals and rock processes preserve evidence. Link that anchor only when this second detail is relevant: Later movement or erosion may expose a fossil; Mary Anning used careful observation of real fossils as evidence about life long ago. For this a fossil-formation sequence decision, use a printed choice, object placement, short phrase, symbol response or learner-directed mark;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 Science · Week 15A · Explore and apply</a:t>
            </a:r>
          </a:p>
          <a:p xmlns:a="http://schemas.openxmlformats.org/drawingml/2006/main">
            <a:r>
              <a:t>Objective: Sequence the main stages by which remains or traces can become fossils over a very long time and distinguish evidence from a compressed story.</a:t>
            </a:r>
          </a:p>
          <a:p xmlns:a="http://schemas.openxmlformats.org/drawingml/2006/main">
            <a:r>
              <a:t>Success evidence:</a:t>
            </a:r>
          </a:p>
          <a:p xmlns:a="http://schemas.openxmlformats.org/drawingml/2006/main">
            <a:r>
              <a:t>Sequence the main stages by which remains or traces can become fossils over a very long time and distinguish evidence from a compressed story.</a:t>
            </a:r>
          </a:p>
          <a:p xmlns:a="http://schemas.openxmlformats.org/drawingml/2006/main">
            <a:r>
              <a:t>Rapid burial can reduce disturbance and place remains beneath sediment.</a:t>
            </a:r>
          </a:p>
          <a:p xmlns:a="http://schemas.openxmlformats.org/drawingml/2006/main">
            <a:r>
              <a:t>Later movement or erosion may expose a fossil; Mary Anning used careful observation of real fossils as evidence about life long ago.</a:t>
            </a:r>
          </a:p>
          <a:p xmlns:a="http://schemas.openxmlformats.org/drawingml/2006/main">
            <a:r>
              <a:t>FOCUS → EVIDENCE → LIMIT</a:t>
            </a:r>
          </a:p>
          <a:p xmlns:a="http://schemas.openxmlformats.org/drawingml/2006/main">
            <a:r>
              <a:t>◆ Supported</a:t>
            </a:r>
          </a:p>
          <a:p xmlns:a="http://schemas.openxmlformats.org/drawingml/2006/main">
            <a:r>
              <a:t>Order five picture cards and match one prepared explanation to each stage.</a:t>
            </a:r>
          </a:p>
          <a:p xmlns:a="http://schemas.openxmlformats.org/drawingml/2006/main">
            <a:r>
              <a:t>▲ Standard</a:t>
            </a:r>
          </a:p>
          <a:p xmlns:a="http://schemas.openxmlformats.org/drawingml/2006/main">
            <a:r>
              <a:t>Order and explain the stages using burial, sediment, change, preservation and exposure.</a:t>
            </a:r>
          </a:p>
          <a:p xmlns:a="http://schemas.openxmlformats.org/drawingml/2006/main">
            <a:r>
              <a:t>Stretch</a:t>
            </a:r>
          </a:p>
          <a:p xmlns:a="http://schemas.openxmlformats.org/drawingml/2006/main">
            <a:r>
              <a:t>Explain why fossil formation is uncommon and evaluate where the simple sequence has limits.</a:t>
            </a:r>
          </a:p>
          <a:p xmlns:a="http://schemas.openxmlformats.org/drawingml/2006/main">
            <a:r>
              <a:t>Truth boundary: never backdate, never reconstruct a quotation, never stage an event, and never convert adult wording into the learner’s voice. Use only school-approved local materials. No diagnosis or medical advice. No personal or family disclosure. Learning does not depend on a runtime connection. No open runtime link. Never invent a result, date, quotation, event, audience response or learner wording. Handle only clean classroom specimens, photographs or replicas; no digging or striking rock is required. A learner may pause, use a private route, observe, or direct an adult without losing the learning entitlement.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first source: Later movement or erosion may expose a fossil; Mary Anning used careful observation of real fossils as evidence about life long ago. Link that anchor only when this second detail is relevant: Rapid burial can reduce disturbance and place remains beneath sediment. For this a fossil-formation sequence decision, use pointing, selecting, signing, speaking, typing or exact-word scribing;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Arrival decision: Rapid burial can reduce disturbance and place remains beneath sediment. Later movement or erosion may expose a fossil; Mary Anning used careful observation of real fossils as evidence about life long ago.</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first source: Later movement or erosion may expose a fossil; Mary Anning used careful observation of real fossils as evidence about life long ago. Link that anchor only when this second detail is relevant: Rapid burial can reduce disturbance and place remains beneath sediment. For this a fossil-formation sequence decision, use pointing, selecting, signing, speaking, typing or exact-word scribing;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Arrival decision: Rapid burial can reduce disturbance and place remains beneath sediment. Later movement or erosion may expose a fossil; Mary Anning used careful observation of real fossils as evidence about life long ago.</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initial comparison: Rapid burial can reduce disturbance and place remains beneath sediment. Link that anchor only when this second detail is relevant: Soft material usually changes or decays while harder parts, impressions or traces may remain. For this a fossil-formation sequence decision, use a quiet card sort, a spoken response, a communication aid or adult handling directed by the learner;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soft parts have gone; the hard parts are being covered. Which step comes next?</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How can a sequence explain fossil formation without pretending every fossil forms in exactly the same way? Soft material usually changes or decays while harder parts, impressions or traces may remain.</a:t>
            </a:r>
          </a:p>
          <a:p xmlns:a="http://schemas.openxmlformats.org/drawingml/2006/main">
            <a:r>
              <a:t>Checking questions:</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initial comparison: Rapid burial can reduce disturbance and place remains beneath sediment. Link that anchor only when this second detail is relevant: Soft material usually changes or decays while harder parts, impressions or traces may remain. For this a fossil-formation sequence decision, use a quiet card sort, a spoken response, a communication aid or adult handling directed by the learner;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soft parts have gone; the hard parts are being covered. Which step comes next?</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How can a sequence explain fossil formation without pretending every fossil forms in exactly the same way? Soft material usually changes or decays while harder parts, impressions or traces may remain.</a:t>
            </a:r>
          </a:p>
          <a:p xmlns:a="http://schemas.openxmlformats.org/drawingml/2006/main">
            <a:r>
              <a:t>Checking questions:</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initial comparison: Rapid burial can reduce disturbance and place remains beneath sediment. Link that anchor only when this second detail is relevant: Soft material usually changes or decays while harder parts, impressions or traces may remain. For this a fossil-formation sequence decision, use a quiet card sort, a spoken response, a communication aid or adult handling directed by the learner;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soft parts have gone; the hard parts are being covered. Which step comes next?</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How can a sequence explain fossil formation without pretending every fossil forms in exactly the same way? Soft material usually changes or decays while harder parts, impressions or traces may remain.</a:t>
            </a:r>
          </a:p>
          <a:p xmlns:a="http://schemas.openxmlformats.org/drawingml/2006/main">
            <a:r>
              <a:t>Checking questions:</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fossil-formation sequence · worked reasoning: Soft material usually changes or decays while harder parts, impressions or traces may remain. Link that anchor only when this second detail is relevant: More layers can build and compact over a very long time as minerals and rock processes preserve evidence. For this a fossil-formation sequence decision, use a printed choice, object placement, short phrase, symbol response or learner-directed mark;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formation sequencer</a:t>
            </a:r>
          </a:p>
          <a:p xmlns:a="http://schemas.openxmlformats.org/drawingml/2006/main">
            <a:r>
              <a:t>Press the five steps in order. Then answer the honesty question.</a:t>
            </a:r>
          </a:p>
          <a:p xmlns:a="http://schemas.openxmlformats.org/drawingml/2006/main">
            <a:r>
              <a:t>more layers press down and harden into rock</a:t>
            </a:r>
          </a:p>
          <a:p xmlns:a="http://schemas.openxmlformats.org/drawingml/2006/main">
            <a:r>
              <a:t>a living thing dies and sinks to the bottom</a:t>
            </a:r>
          </a:p>
          <a:p xmlns:a="http://schemas.openxmlformats.org/drawingml/2006/main">
            <a:r>
              <a:t>uplift or erosion brings the fossil to the surface</a:t>
            </a:r>
          </a:p>
          <a:p xmlns:a="http://schemas.openxmlformats.org/drawingml/2006/main">
            <a:r>
              <a:t>soft parts decay; hard parts are covered by sediment</a:t>
            </a:r>
          </a:p>
          <a:p xmlns:a="http://schemas.openxmlformats.org/drawingml/2006/main">
            <a:r>
              <a:t>minerals replace or fill the remains</a:t>
            </a:r>
          </a:p>
          <a:p xmlns:a="http://schemas.openxmlformats.org/drawingml/2006/main">
            <a:r>
              <a:t>Order: —</a:t>
            </a:r>
          </a:p>
          <a:p xmlns:a="http://schemas.openxmlformats.org/drawingml/2006/main">
            <a:r>
              <a:t>Every fossil forms exactly this way</a:t>
            </a:r>
          </a:p>
          <a:p xmlns:a="http://schemas.openxmlformats.org/drawingml/2006/main">
            <a:r>
              <a:t>This is one common route; footprints, amber and moulds form differently</a:t>
            </a:r>
          </a:p>
          <a:p xmlns:a="http://schemas.openxmlformats.org/drawingml/2006/main">
            <a:r>
              <a:t>A sequence is a model. Say what it does not cover.</a:t>
            </a:r>
          </a:p>
          <a:p xmlns:a="http://schemas.openxmlformats.org/drawingml/2006/main">
            <a:r>
              <a:t>REMAINS parts or traces left by a living thing</a:t>
            </a:r>
          </a:p>
          <a:p xmlns:a="http://schemas.openxmlformats.org/drawingml/2006/main">
            <a:r>
              <a:t>SEDIMENT loose material that can settle in layers</a:t>
            </a:r>
          </a:p>
          <a:p xmlns:a="http://schemas.openxmlformats.org/drawingml/2006/main">
            <a:r>
              <a:t>FOSSIL preserved remains, impression or trace from long ago</a:t>
            </a:r>
          </a:p>
          <a:p xmlns:a="http://schemas.openxmlformats.org/drawingml/2006/main">
            <a:r>
              <a:t>Vocabulary in use</a:t>
            </a:r>
          </a:p>
          <a:p xmlns:a="http://schemas.openxmlformats.org/drawingml/2006/main">
            <a:r>
              <a:t>REMAINS in a fossil-formation sequence: parts or traces left by a living thing. Apply REMAINS when this anchor matters—Rapid burial can reduce disturbance and place remains beneath sediment.—and check it beside this second anchor: Soft material usually changes or decays while harder parts, impressions or traces may remain.</a:t>
            </a:r>
          </a:p>
          <a:p xmlns:a="http://schemas.openxmlformats.org/drawingml/2006/main">
            <a:r>
              <a:t>SEDIMENT in a fossil-formation sequence: loose material that can settle in layers. Apply SEDIMENT when this anchor matters—Soft material usually changes or decays while harder parts, impressions or traces may remain.—and check it beside this second anchor: More layers can build and compact over a very long time as minerals and rock processes preserve evidence.</a:t>
            </a:r>
          </a:p>
          <a:p xmlns:a="http://schemas.openxmlformats.org/drawingml/2006/main">
            <a:r>
              <a:t>FOSSIL in a fossil-formation sequence: preserved remains, impression or trace from long ago. Apply FOSSIL when this anchor matters—More layers can build and compact over a very long time as minerals and rock processes preserve evidence.—and check it beside this second anchor: Later movement or erosion may expose a fossil; Mary Anning used careful observation of real fossils as evidence about life long ago.</a:t>
            </a:r>
          </a:p>
          <a:p xmlns:a="http://schemas.openxmlformats.org/drawingml/2006/main">
            <a:r>
              <a:t>Order five supplied picture cards: living thing or trace; burial by sediment; change while layers build; preserved fossil in rock; later exposure. Use ‘can’ and ‘may’ because the sequence is a model, not a promise for every organism. Mary Anning is named as a public figure connected with careful fossil finding and study, not as a fictional learner or exemplar.</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Sequence the main stages by which remains or traces can become fossils over a very long time and distinguish evidence from a compressed story.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fossil-formation sequence · worked reasoning: Soft material usually changes or decays while harder parts, impressions or traces may remain. Link that anchor only when this second detail is relevant: More layers can build and compact over a very long time as minerals and rock processes preserve evidence. For this a fossil-formation sequence decision, use a printed choice, object placement, short phrase, symbol response or learner-directed mark;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formation sequencer</a:t>
            </a:r>
          </a:p>
          <a:p xmlns:a="http://schemas.openxmlformats.org/drawingml/2006/main">
            <a:r>
              <a:t>Press the five steps in order. Then answer the honesty question.</a:t>
            </a:r>
          </a:p>
          <a:p xmlns:a="http://schemas.openxmlformats.org/drawingml/2006/main">
            <a:r>
              <a:t>more layers press down and harden into rock</a:t>
            </a:r>
          </a:p>
          <a:p xmlns:a="http://schemas.openxmlformats.org/drawingml/2006/main">
            <a:r>
              <a:t>a living thing dies and sinks to the bottom</a:t>
            </a:r>
          </a:p>
          <a:p xmlns:a="http://schemas.openxmlformats.org/drawingml/2006/main">
            <a:r>
              <a:t>uplift or erosion brings the fossil to the surface</a:t>
            </a:r>
          </a:p>
          <a:p xmlns:a="http://schemas.openxmlformats.org/drawingml/2006/main">
            <a:r>
              <a:t>soft parts decay; hard parts are covered by sediment</a:t>
            </a:r>
          </a:p>
          <a:p xmlns:a="http://schemas.openxmlformats.org/drawingml/2006/main">
            <a:r>
              <a:t>minerals replace or fill the remains</a:t>
            </a:r>
          </a:p>
          <a:p xmlns:a="http://schemas.openxmlformats.org/drawingml/2006/main">
            <a:r>
              <a:t>Order: —</a:t>
            </a:r>
          </a:p>
          <a:p xmlns:a="http://schemas.openxmlformats.org/drawingml/2006/main">
            <a:r>
              <a:t>Every fossil forms exactly this way</a:t>
            </a:r>
          </a:p>
          <a:p xmlns:a="http://schemas.openxmlformats.org/drawingml/2006/main">
            <a:r>
              <a:t>This is one common route; footprints, amber and moulds form differently</a:t>
            </a:r>
          </a:p>
          <a:p xmlns:a="http://schemas.openxmlformats.org/drawingml/2006/main">
            <a:r>
              <a:t>A sequence is a model. Say what it does not cover.</a:t>
            </a:r>
          </a:p>
          <a:p xmlns:a="http://schemas.openxmlformats.org/drawingml/2006/main">
            <a:r>
              <a:t>REMAINS parts or traces left by a living thing</a:t>
            </a:r>
          </a:p>
          <a:p xmlns:a="http://schemas.openxmlformats.org/drawingml/2006/main">
            <a:r>
              <a:t>SEDIMENT loose material that can settle in layers</a:t>
            </a:r>
          </a:p>
          <a:p xmlns:a="http://schemas.openxmlformats.org/drawingml/2006/main">
            <a:r>
              <a:t>FOSSIL preserved remains, impression or trace from long ago</a:t>
            </a:r>
          </a:p>
          <a:p xmlns:a="http://schemas.openxmlformats.org/drawingml/2006/main">
            <a:r>
              <a:t>Vocabulary in use</a:t>
            </a:r>
          </a:p>
          <a:p xmlns:a="http://schemas.openxmlformats.org/drawingml/2006/main">
            <a:r>
              <a:t>REMAINS in a fossil-formation sequence: parts or traces left by a living thing. Apply REMAINS when this anchor matters—Rapid burial can reduce disturbance and place remains beneath sediment.—and check it beside this second anchor: Soft material usually changes or decays while harder parts, impressions or traces may remain.</a:t>
            </a:r>
          </a:p>
          <a:p xmlns:a="http://schemas.openxmlformats.org/drawingml/2006/main">
            <a:r>
              <a:t>SEDIMENT in a fossil-formation sequence: loose material that can settle in layers. Apply SEDIMENT when this anchor matters—Soft material usually changes or decays while harder parts, impressions or traces may remain.—and check it beside this second anchor: More layers can build and compact over a very long time as minerals and rock processes preserve evidence.</a:t>
            </a:r>
          </a:p>
          <a:p xmlns:a="http://schemas.openxmlformats.org/drawingml/2006/main">
            <a:r>
              <a:t>FOSSIL in a fossil-formation sequence: preserved remains, impression or trace from long ago. Apply FOSSIL when this anchor matters—More layers can build and compact over a very long time as minerals and rock processes preserve evidence.—and check it beside this second anchor: Later movement or erosion may expose a fossil; Mary Anning used careful observation of real fossils as evidence about life long ago.</a:t>
            </a:r>
          </a:p>
          <a:p xmlns:a="http://schemas.openxmlformats.org/drawingml/2006/main">
            <a:r>
              <a:t>Order five supplied picture cards: living thing or trace; burial by sediment; change while layers build; preserved fossil in rock; later exposure. Use ‘can’ and ‘may’ because the sequence is a model, not a promise for every organism. Mary Anning is named as a public figure connected with careful fossil finding and study, not as a fictional learner or exemplar.</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Sequence the main stages by which remains or traces can become fossils over a very long time and distinguish evidence from a compressed story.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fossil-formation sequence · worked reasoning: Soft material usually changes or decays while harder parts, impressions or traces may remain. Link that anchor only when this second detail is relevant: More layers can build and compact over a very long time as minerals and rock processes preserve evidence. For this a fossil-formation sequence decision, use a printed choice, object placement, short phrase, symbol response or learner-directed mark;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formation sequencer</a:t>
            </a:r>
          </a:p>
          <a:p xmlns:a="http://schemas.openxmlformats.org/drawingml/2006/main">
            <a:r>
              <a:t>Press the five steps in order. Then answer the honesty question.</a:t>
            </a:r>
          </a:p>
          <a:p xmlns:a="http://schemas.openxmlformats.org/drawingml/2006/main">
            <a:r>
              <a:t>more layers press down and harden into rock</a:t>
            </a:r>
          </a:p>
          <a:p xmlns:a="http://schemas.openxmlformats.org/drawingml/2006/main">
            <a:r>
              <a:t>a living thing dies and sinks to the bottom</a:t>
            </a:r>
          </a:p>
          <a:p xmlns:a="http://schemas.openxmlformats.org/drawingml/2006/main">
            <a:r>
              <a:t>uplift or erosion brings the fossil to the surface</a:t>
            </a:r>
          </a:p>
          <a:p xmlns:a="http://schemas.openxmlformats.org/drawingml/2006/main">
            <a:r>
              <a:t>soft parts decay; hard parts are covered by sediment</a:t>
            </a:r>
          </a:p>
          <a:p xmlns:a="http://schemas.openxmlformats.org/drawingml/2006/main">
            <a:r>
              <a:t>minerals replace or fill the remains</a:t>
            </a:r>
          </a:p>
          <a:p xmlns:a="http://schemas.openxmlformats.org/drawingml/2006/main">
            <a:r>
              <a:t>Order: —</a:t>
            </a:r>
          </a:p>
          <a:p xmlns:a="http://schemas.openxmlformats.org/drawingml/2006/main">
            <a:r>
              <a:t>Every fossil forms exactly this way</a:t>
            </a:r>
          </a:p>
          <a:p xmlns:a="http://schemas.openxmlformats.org/drawingml/2006/main">
            <a:r>
              <a:t>This is one common route; footprints, amber and moulds form differently</a:t>
            </a:r>
          </a:p>
          <a:p xmlns:a="http://schemas.openxmlformats.org/drawingml/2006/main">
            <a:r>
              <a:t>A sequence is a model. Say what it does not cover.</a:t>
            </a:r>
          </a:p>
          <a:p xmlns:a="http://schemas.openxmlformats.org/drawingml/2006/main">
            <a:r>
              <a:t>REMAINS parts or traces left by a living thing</a:t>
            </a:r>
          </a:p>
          <a:p xmlns:a="http://schemas.openxmlformats.org/drawingml/2006/main">
            <a:r>
              <a:t>SEDIMENT loose material that can settle in layers</a:t>
            </a:r>
          </a:p>
          <a:p xmlns:a="http://schemas.openxmlformats.org/drawingml/2006/main">
            <a:r>
              <a:t>FOSSIL preserved remains, impression or trace from long ago</a:t>
            </a:r>
          </a:p>
          <a:p xmlns:a="http://schemas.openxmlformats.org/drawingml/2006/main">
            <a:r>
              <a:t>Vocabulary in use</a:t>
            </a:r>
          </a:p>
          <a:p xmlns:a="http://schemas.openxmlformats.org/drawingml/2006/main">
            <a:r>
              <a:t>REMAINS in a fossil-formation sequence: parts or traces left by a living thing. Apply REMAINS when this anchor matters—Rapid burial can reduce disturbance and place remains beneath sediment.—and check it beside this second anchor: Soft material usually changes or decays while harder parts, impressions or traces may remain.</a:t>
            </a:r>
          </a:p>
          <a:p xmlns:a="http://schemas.openxmlformats.org/drawingml/2006/main">
            <a:r>
              <a:t>SEDIMENT in a fossil-formation sequence: loose material that can settle in layers. Apply SEDIMENT when this anchor matters—Soft material usually changes or decays while harder parts, impressions or traces may remain.—and check it beside this second anchor: More layers can build and compact over a very long time as minerals and rock processes preserve evidence.</a:t>
            </a:r>
          </a:p>
          <a:p xmlns:a="http://schemas.openxmlformats.org/drawingml/2006/main">
            <a:r>
              <a:t>FOSSIL in a fossil-formation sequence: preserved remains, impression or trace from long ago. Apply FOSSIL when this anchor matters—More layers can build and compact over a very long time as minerals and rock processes preserve evidence.—and check it beside this second anchor: Later movement or erosion may expose a fossil; Mary Anning used careful observation of real fossils as evidence about life long ago.</a:t>
            </a:r>
          </a:p>
          <a:p xmlns:a="http://schemas.openxmlformats.org/drawingml/2006/main">
            <a:r>
              <a:t>Order five supplied picture cards: living thing or trace; burial by sediment; change while layers build; preserved fossil in rock; later exposure. Use ‘can’ and ‘may’ because the sequence is a model, not a promise for every organism. Mary Anning is named as a public figure connected with careful fossil finding and study, not as a fictional learner or exemplar.</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Sequence the main stages by which remains or traces can become fossils over a very long time and distinguish evidence from a compressed story.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 fossil-formation sequence · worked reasoning: Soft material usually changes or decays while harder parts, impressions or traces may remain. Link that anchor only when this second detail is relevant: More layers can build and compact over a very long time as minerals and rock processes preserve evidence. For this a fossil-formation sequence decision, use a printed choice, object placement, short phrase, symbol response or learner-directed mark;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Fossil formation sequencer</a:t>
            </a:r>
          </a:p>
          <a:p xmlns:a="http://schemas.openxmlformats.org/drawingml/2006/main">
            <a:r>
              <a:t>Press the five steps in order. Then answer the honesty question.</a:t>
            </a:r>
          </a:p>
          <a:p xmlns:a="http://schemas.openxmlformats.org/drawingml/2006/main">
            <a:r>
              <a:t>more layers press down and harden into rock</a:t>
            </a:r>
          </a:p>
          <a:p xmlns:a="http://schemas.openxmlformats.org/drawingml/2006/main">
            <a:r>
              <a:t>a living thing dies and sinks to the bottom</a:t>
            </a:r>
          </a:p>
          <a:p xmlns:a="http://schemas.openxmlformats.org/drawingml/2006/main">
            <a:r>
              <a:t>uplift or erosion brings the fossil to the surface</a:t>
            </a:r>
          </a:p>
          <a:p xmlns:a="http://schemas.openxmlformats.org/drawingml/2006/main">
            <a:r>
              <a:t>soft parts decay; hard parts are covered by sediment</a:t>
            </a:r>
          </a:p>
          <a:p xmlns:a="http://schemas.openxmlformats.org/drawingml/2006/main">
            <a:r>
              <a:t>minerals replace or fill the remains</a:t>
            </a:r>
          </a:p>
          <a:p xmlns:a="http://schemas.openxmlformats.org/drawingml/2006/main">
            <a:r>
              <a:t>Order: —</a:t>
            </a:r>
          </a:p>
          <a:p xmlns:a="http://schemas.openxmlformats.org/drawingml/2006/main">
            <a:r>
              <a:t>Every fossil forms exactly this way</a:t>
            </a:r>
          </a:p>
          <a:p xmlns:a="http://schemas.openxmlformats.org/drawingml/2006/main">
            <a:r>
              <a:t>This is one common route; footprints, amber and moulds form differently</a:t>
            </a:r>
          </a:p>
          <a:p xmlns:a="http://schemas.openxmlformats.org/drawingml/2006/main">
            <a:r>
              <a:t>A sequence is a model. Say what it does not cover.</a:t>
            </a:r>
          </a:p>
          <a:p xmlns:a="http://schemas.openxmlformats.org/drawingml/2006/main">
            <a:r>
              <a:t>REMAINS parts or traces left by a living thing</a:t>
            </a:r>
          </a:p>
          <a:p xmlns:a="http://schemas.openxmlformats.org/drawingml/2006/main">
            <a:r>
              <a:t>SEDIMENT loose material that can settle in layers</a:t>
            </a:r>
          </a:p>
          <a:p xmlns:a="http://schemas.openxmlformats.org/drawingml/2006/main">
            <a:r>
              <a:t>FOSSIL preserved remains, impression or trace from long ago</a:t>
            </a:r>
          </a:p>
          <a:p xmlns:a="http://schemas.openxmlformats.org/drawingml/2006/main">
            <a:r>
              <a:t>Vocabulary in use</a:t>
            </a:r>
          </a:p>
          <a:p xmlns:a="http://schemas.openxmlformats.org/drawingml/2006/main">
            <a:r>
              <a:t>REMAINS in a fossil-formation sequence: parts or traces left by a living thing. Apply REMAINS when this anchor matters—Rapid burial can reduce disturbance and place remains beneath sediment.—and check it beside this second anchor: Soft material usually changes or decays while harder parts, impressions or traces may remain.</a:t>
            </a:r>
          </a:p>
          <a:p xmlns:a="http://schemas.openxmlformats.org/drawingml/2006/main">
            <a:r>
              <a:t>SEDIMENT in a fossil-formation sequence: loose material that can settle in layers. Apply SEDIMENT when this anchor matters—Soft material usually changes or decays while harder parts, impressions or traces may remain.—and check it beside this second anchor: More layers can build and compact over a very long time as minerals and rock processes preserve evidence.</a:t>
            </a:r>
          </a:p>
          <a:p xmlns:a="http://schemas.openxmlformats.org/drawingml/2006/main">
            <a:r>
              <a:t>FOSSIL in a fossil-formation sequence: preserved remains, impression or trace from long ago. Apply FOSSIL when this anchor matters—More layers can build and compact over a very long time as minerals and rock processes preserve evidence.—and check it beside this second anchor: Later movement or erosion may expose a fossil; Mary Anning used careful observation of real fossils as evidence about life long ago.</a:t>
            </a:r>
          </a:p>
          <a:p xmlns:a="http://schemas.openxmlformats.org/drawingml/2006/main">
            <a:r>
              <a:t>Order five supplied picture cards: living thing or trace; burial by sediment; change while layers build; preserved fossil in rock; later exposure. Use ‘can’ and ‘may’ because the sequence is a model, not a promise for every organism. Mary Anning is named as a public figure connected with careful fossil finding and study, not as a fictional learner or exemplar.</a:t>
            </a:r>
          </a:p>
          <a:p xmlns:a="http://schemas.openxmlformats.org/drawingml/2006/main">
            <a:r>
              <a:t>Rapid burial can reduce disturbance and place remains beneath sediment.</a:t>
            </a:r>
          </a:p>
          <a:p xmlns:a="http://schemas.openxmlformats.org/drawingml/2006/main">
            <a:r>
              <a:t>Soft material usually changes or decays while harder parts, impressions or traces may remain.</a:t>
            </a:r>
          </a:p>
          <a:p xmlns:a="http://schemas.openxmlformats.org/drawingml/2006/main">
            <a:r>
              <a:t>More layers can build and compact over a very long time as minerals and rock processes preserve evidence.</a:t>
            </a:r>
          </a:p>
          <a:p xmlns:a="http://schemas.openxmlformats.org/drawingml/2006/main">
            <a:r>
              <a:t>Later movement or erosion may expose a fossil; Mary Anning used careful observation of real fossils as evidence about life long ago.</a:t>
            </a:r>
          </a:p>
          <a:p xmlns:a="http://schemas.openxmlformats.org/drawingml/2006/main">
            <a:r>
              <a:t>Sequence the main stages by which remains or traces can become fossils over a very long time and distinguish evidence from a compressed story.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We do: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hinge decision: More layers can build and compact over a very long time as minerals and rock processes preserve evidence. Link that anchor only when this second detail is relevant: Later movement or erosion may expose a fossil; Mary Anning used careful observation of real fossils as evidence about life long ago. For this a fossil-formation sequence decision, use pointing, selecting, signing, speaking, typing or exact-word scribing;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More layers can build and compact over a very long time as minerals and rock processes preserve evidence. Later movement or erosion may expose a fossil; Mary Anning used careful observation of real fossils as evidence about life long ago.</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second connection: Later movement or erosion may expose a fossil; Mary Anning used careful observation of real fossils as evidence about life long ago. Link that anchor only when this second detail is relevant: Rapid burial can reduce disturbance and place remains beneath sediment. For this a fossil-formation sequence decision, use a quiet card sort, a spoken response, a communication aid or adult handling directed by the learner;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Available evidence</a:t>
            </a:r>
          </a:p>
          <a:p xmlns:a="http://schemas.openxmlformats.org/drawingml/2006/main">
            <a:r>
              <a:t>Rapid burial can reduce disturbance and place remains beneath sediment.</a:t>
            </a:r>
          </a:p>
          <a:p xmlns:a="http://schemas.openxmlformats.org/drawingml/2006/main">
            <a:r>
              <a:t>Reasoning move</a:t>
            </a:r>
          </a:p>
          <a:p xmlns:a="http://schemas.openxmlformats.org/drawingml/2006/main">
            <a:r>
              <a:t>Soft material usually changes or decays while harder parts, impressions or traces may remain.</a:t>
            </a:r>
          </a:p>
          <a:p xmlns:a="http://schemas.openxmlformats.org/drawingml/2006/main">
            <a:r>
              <a:t>Boundary or next check</a:t>
            </a:r>
          </a:p>
          <a:p xmlns:a="http://schemas.openxmlformats.org/drawingml/2006/main">
            <a:r>
              <a:t>Later movement or erosion may expose a fossil; Mary Anning used careful observation of real fossils as evidence about life long ago.</a:t>
            </a:r>
          </a:p>
          <a:p xmlns:a="http://schemas.openxmlformats.org/drawingml/2006/main">
            <a:r>
              <a:t>Rapid burial can reduce disturbance and place remains beneath sediment. Later movement or erosion may expose a fossil; Mary Anning used careful observation of real fossils as evidence about life long ago.</a:t>
            </a:r>
          </a:p>
          <a:p xmlns:a="http://schemas.openxmlformats.org/drawingml/2006/main">
            <a:r>
              <a:t>Order five supplied picture cards: living thing or trace; burial by sediment; change while layers build; preserved fossil in rock; later exposure. Use ‘can’ and ‘may’ because the sequence is a model, not a promise for every organism. Mary Anning is named as a public figure connected with careful fossil finding and study, not as a fictional learner or exemplar. 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 Rapid burial can reduce disturbance and place remains beneath sediment. Soft material usually changes or decays while harder parts, impressions or traces may remain. More layers can build and compact over a very long time as minerals and rock processes preserve evidence. Later movement or erosion may expose a fossil; Mary Anning used careful observation of real fossils as evidence about life long ago. Order five picture cards and match one prepared explanation to each stage. Order and explain the stages using burial, sediment, change, preservation and exposure. Explain why fossil formation is uncommon and evaluate where the simple sequence has limits.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second connection: Later movement or erosion may expose a fossil; Mary Anning used careful observation of real fossils as evidence about life long ago. Link that anchor only when this second detail is relevant: Rapid burial can reduce disturbance and place remains beneath sediment. For this a fossil-formation sequence decision, use a quiet card sort, a spoken response, a communication aid or adult handling directed by the learner;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Available evidence</a:t>
            </a:r>
          </a:p>
          <a:p xmlns:a="http://schemas.openxmlformats.org/drawingml/2006/main">
            <a:r>
              <a:t>Rapid burial can reduce disturbance and place remains beneath sediment.</a:t>
            </a:r>
          </a:p>
          <a:p xmlns:a="http://schemas.openxmlformats.org/drawingml/2006/main">
            <a:r>
              <a:t>Reasoning move</a:t>
            </a:r>
          </a:p>
          <a:p xmlns:a="http://schemas.openxmlformats.org/drawingml/2006/main">
            <a:r>
              <a:t>Soft material usually changes or decays while harder parts, impressions or traces may remain.</a:t>
            </a:r>
          </a:p>
          <a:p xmlns:a="http://schemas.openxmlformats.org/drawingml/2006/main">
            <a:r>
              <a:t>Boundary or next check</a:t>
            </a:r>
          </a:p>
          <a:p xmlns:a="http://schemas.openxmlformats.org/drawingml/2006/main">
            <a:r>
              <a:t>Later movement or erosion may expose a fossil; Mary Anning used careful observation of real fossils as evidence about life long ago.</a:t>
            </a:r>
          </a:p>
          <a:p xmlns:a="http://schemas.openxmlformats.org/drawingml/2006/main">
            <a:r>
              <a:t>Rapid burial can reduce disturbance and place remains beneath sediment. Later movement or erosion may expose a fossil; Mary Anning used careful observation of real fossils as evidence about life long ago.</a:t>
            </a:r>
          </a:p>
          <a:p xmlns:a="http://schemas.openxmlformats.org/drawingml/2006/main">
            <a:r>
              <a:t>Order five supplied picture cards: living thing or trace; burial by sediment; change while layers build; preserved fossil in rock; later exposure. Use ‘can’ and ‘may’ because the sequence is a model, not a promise for every organism. Mary Anning is named as a public figure connected with careful fossil finding and study, not as a fictional learner or exemplar. 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 Rapid burial can reduce disturbance and place remains beneath sediment. Soft material usually changes or decays while harder parts, impressions or traces may remain. More layers can build and compact over a very long time as minerals and rock processes preserve evidence. Later movement or erosion may expose a fossil; Mary Anning used careful observation of real fossils as evidence about life long ago. Order five picture cards and match one prepared explanation to each stage. Order and explain the stages using burial, sediment, change, preservation and exposure. Explain why fossil formation is uncommon and evaluate where the simple sequence has limits.</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guided audit: Rapid burial can reduce disturbance and place remains beneath sediment. Link that anchor only when this second detail is relevant: Soft material usually changes or decays while harder parts, impressions or traces may remain. For this a fossil-formation sequence decision, use a printed choice, object placement, short phrase, symbol response or learner-directed mark;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Order five picture cards and match one prepared explanation to each stage.</a:t>
            </a:r>
          </a:p>
          <a:p xmlns:a="http://schemas.openxmlformats.org/drawingml/2006/main">
            <a:r>
              <a:t>▲ Standard</a:t>
            </a:r>
          </a:p>
          <a:p xmlns:a="http://schemas.openxmlformats.org/drawingml/2006/main">
            <a:r>
              <a:t>Order and explain the stages using burial, sediment, change, preservation and exposure.</a:t>
            </a:r>
          </a:p>
          <a:p xmlns:a="http://schemas.openxmlformats.org/drawingml/2006/main">
            <a:r>
              <a:t>Stretch</a:t>
            </a:r>
          </a:p>
          <a:p xmlns:a="http://schemas.openxmlformats.org/drawingml/2006/main">
            <a:r>
              <a:t>Explain why fossil formation is uncommon and evaluate where the simple sequence has limits.</a:t>
            </a:r>
          </a:p>
          <a:p xmlns:a="http://schemas.openxmlformats.org/drawingml/2006/main">
            <a:r>
              <a:t>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guided audit: Rapid burial can reduce disturbance and place remains beneath sediment. Link that anchor only when this second detail is relevant: Soft material usually changes or decays while harder parts, impressions or traces may remain. For this a fossil-formation sequence decision, use a printed choice, object placement, short phrase, symbol response or learner-directed mark;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Order five picture cards and match one prepared explanation to each stage.</a:t>
            </a:r>
          </a:p>
          <a:p xmlns:a="http://schemas.openxmlformats.org/drawingml/2006/main">
            <a:r>
              <a:t>▲ Standard</a:t>
            </a:r>
          </a:p>
          <a:p xmlns:a="http://schemas.openxmlformats.org/drawingml/2006/main">
            <a:r>
              <a:t>Order and explain the stages using burial, sediment, change, preservation and exposure.</a:t>
            </a:r>
          </a:p>
          <a:p xmlns:a="http://schemas.openxmlformats.org/drawingml/2006/main">
            <a:r>
              <a:t>Stretch</a:t>
            </a:r>
          </a:p>
          <a:p xmlns:a="http://schemas.openxmlformats.org/drawingml/2006/main">
            <a:r>
              <a:t>Explain why fossil formation is uncommon and evaluate where the simple sequence has limits.</a:t>
            </a:r>
          </a:p>
          <a:p xmlns:a="http://schemas.openxmlformats.org/drawingml/2006/main">
            <a:r>
              <a:t>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independent record: Soft material usually changes or decays while harder parts, impressions or traces may remain. Link that anchor only when this second detail is relevant: More layers can build and compact over a very long time as minerals and rock processes preserve evidence. For this a fossil-formation sequence decision, use pointing, selecting, signing, speaking, typing or exact-word scribing;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a:t>
            </a:r>
          </a:p>
          <a:p xmlns:a="http://schemas.openxmlformats.org/drawingml/2006/main">
            <a:r>
              <a:t>◆ Supported</a:t>
            </a:r>
          </a:p>
          <a:p xmlns:a="http://schemas.openxmlformats.org/drawingml/2006/main">
            <a:r>
              <a:t>Order five picture cards and match one prepared explanation to each stage.</a:t>
            </a:r>
          </a:p>
          <a:p xmlns:a="http://schemas.openxmlformats.org/drawingml/2006/main">
            <a:r>
              <a:t>▲ Standard</a:t>
            </a:r>
          </a:p>
          <a:p xmlns:a="http://schemas.openxmlformats.org/drawingml/2006/main">
            <a:r>
              <a:t>Order and explain the stages using burial, sediment, change, preservation and exposure.</a:t>
            </a:r>
          </a:p>
          <a:p xmlns:a="http://schemas.openxmlformats.org/drawingml/2006/main">
            <a:r>
              <a:t>Stretch</a:t>
            </a:r>
          </a:p>
          <a:p xmlns:a="http://schemas.openxmlformats.org/drawingml/2006/main">
            <a:r>
              <a:t>Explain why fossil formation is uncommon and evaluate where the simple sequence has limits.</a:t>
            </a:r>
          </a:p>
          <a:p xmlns:a="http://schemas.openxmlformats.org/drawingml/2006/main">
            <a:r>
              <a:t>Trace</a:t>
            </a:r>
          </a:p>
          <a:p xmlns:a="http://schemas.openxmlformats.org/drawingml/2006/main">
            <a:r>
              <a:t>Rapid burial can reduce disturbance and place remains beneath sediment.</a:t>
            </a:r>
          </a:p>
          <a:p xmlns:a="http://schemas.openxmlformats.org/drawingml/2006/main">
            <a:r>
              <a:t>Demand</a:t>
            </a:r>
          </a:p>
          <a:p xmlns:a="http://schemas.openxmlformats.org/drawingml/2006/main">
            <a:r>
              <a:t>More layers can build and compact over a very long time as minerals and rock processes preserve evidence.</a:t>
            </a:r>
          </a:p>
          <a:p xmlns:a="http://schemas.openxmlformats.org/drawingml/2006/main">
            <a:r>
              <a:t>Truth</a:t>
            </a:r>
          </a:p>
          <a:p xmlns:a="http://schemas.openxmlformats.org/drawingml/2006/main">
            <a:r>
              <a:t>Later movement or erosion may expose a fossil; Mary Anning used careful observation of real fossils as evidence about life long ago.</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independent record: Soft material usually changes or decays while harder parts, impressions or traces may remain. Link that anchor only when this second detail is relevant: More layers can build and compact over a very long time as minerals and rock processes preserve evidence. For this a fossil-formation sequence decision, use pointing, selecting, signing, speaking, typing or exact-word scribing;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a:t>
            </a:r>
          </a:p>
          <a:p xmlns:a="http://schemas.openxmlformats.org/drawingml/2006/main">
            <a:r>
              <a:t>◆ Supported</a:t>
            </a:r>
          </a:p>
          <a:p xmlns:a="http://schemas.openxmlformats.org/drawingml/2006/main">
            <a:r>
              <a:t>Order five picture cards and match one prepared explanation to each stage.</a:t>
            </a:r>
          </a:p>
          <a:p xmlns:a="http://schemas.openxmlformats.org/drawingml/2006/main">
            <a:r>
              <a:t>▲ Standard</a:t>
            </a:r>
          </a:p>
          <a:p xmlns:a="http://schemas.openxmlformats.org/drawingml/2006/main">
            <a:r>
              <a:t>Order and explain the stages using burial, sediment, change, preservation and exposure.</a:t>
            </a:r>
          </a:p>
          <a:p xmlns:a="http://schemas.openxmlformats.org/drawingml/2006/main">
            <a:r>
              <a:t>Stretch</a:t>
            </a:r>
          </a:p>
          <a:p xmlns:a="http://schemas.openxmlformats.org/drawingml/2006/main">
            <a:r>
              <a:t>Explain why fossil formation is uncommon and evaluate where the simple sequence has limits.</a:t>
            </a:r>
          </a:p>
          <a:p xmlns:a="http://schemas.openxmlformats.org/drawingml/2006/main">
            <a:r>
              <a:t>Trace</a:t>
            </a:r>
          </a:p>
          <a:p xmlns:a="http://schemas.openxmlformats.org/drawingml/2006/main">
            <a:r>
              <a:t>Rapid burial can reduce disturbance and place remains beneath sediment.</a:t>
            </a:r>
          </a:p>
          <a:p xmlns:a="http://schemas.openxmlformats.org/drawingml/2006/main">
            <a:r>
              <a:t>Demand</a:t>
            </a:r>
          </a:p>
          <a:p xmlns:a="http://schemas.openxmlformats.org/drawingml/2006/main">
            <a:r>
              <a:t>More layers can build and compact over a very long time as minerals and rock processes preserve evidence.</a:t>
            </a:r>
          </a:p>
          <a:p xmlns:a="http://schemas.openxmlformats.org/drawingml/2006/main">
            <a:r>
              <a:t>Truth</a:t>
            </a:r>
          </a:p>
          <a:p xmlns:a="http://schemas.openxmlformats.org/drawingml/2006/main">
            <a:r>
              <a:t>Later movement or erosion may expose a fossil; Mary Anning used careful observation of real fossils as evidence about life long ago.</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independent record: Soft material usually changes or decays while harder parts, impressions or traces may remain. Link that anchor only when this second detail is relevant: More layers can build and compact over a very long time as minerals and rock processes preserve evidence. For this a fossil-formation sequence decision, use pointing, selecting, signing, speaking, typing or exact-word scribing;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a:t>
            </a:r>
          </a:p>
          <a:p xmlns:a="http://schemas.openxmlformats.org/drawingml/2006/main">
            <a:r>
              <a:t>◆ Supported</a:t>
            </a:r>
          </a:p>
          <a:p xmlns:a="http://schemas.openxmlformats.org/drawingml/2006/main">
            <a:r>
              <a:t>Order five picture cards and match one prepared explanation to each stage.</a:t>
            </a:r>
          </a:p>
          <a:p xmlns:a="http://schemas.openxmlformats.org/drawingml/2006/main">
            <a:r>
              <a:t>▲ Standard</a:t>
            </a:r>
          </a:p>
          <a:p xmlns:a="http://schemas.openxmlformats.org/drawingml/2006/main">
            <a:r>
              <a:t>Order and explain the stages using burial, sediment, change, preservation and exposure.</a:t>
            </a:r>
          </a:p>
          <a:p xmlns:a="http://schemas.openxmlformats.org/drawingml/2006/main">
            <a:r>
              <a:t>Stretch</a:t>
            </a:r>
          </a:p>
          <a:p xmlns:a="http://schemas.openxmlformats.org/drawingml/2006/main">
            <a:r>
              <a:t>Explain why fossil formation is uncommon and evaluate where the simple sequence has limits.</a:t>
            </a:r>
          </a:p>
          <a:p xmlns:a="http://schemas.openxmlformats.org/drawingml/2006/main">
            <a:r>
              <a:t>Trace</a:t>
            </a:r>
          </a:p>
          <a:p xmlns:a="http://schemas.openxmlformats.org/drawingml/2006/main">
            <a:r>
              <a:t>Rapid burial can reduce disturbance and place remains beneath sediment.</a:t>
            </a:r>
          </a:p>
          <a:p xmlns:a="http://schemas.openxmlformats.org/drawingml/2006/main">
            <a:r>
              <a:t>Demand</a:t>
            </a:r>
          </a:p>
          <a:p xmlns:a="http://schemas.openxmlformats.org/drawingml/2006/main">
            <a:r>
              <a:t>More layers can build and compact over a very long time as minerals and rock processes preserve evidence.</a:t>
            </a:r>
          </a:p>
          <a:p xmlns:a="http://schemas.openxmlformats.org/drawingml/2006/main">
            <a:r>
              <a:t>Truth</a:t>
            </a:r>
          </a:p>
          <a:p xmlns:a="http://schemas.openxmlformats.org/drawingml/2006/main">
            <a:r>
              <a:t>Later movement or erosion may expose a fossil; Mary Anning used careful observation of real fossils as evidence about life long ago.</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SCI_B_W15A_Fossil_Formation_Story_Explore.html. Exit: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 fossil-formation sequence · receiving point: More layers can build and compact over a very long time as minerals and rock processes preserve evidence. Link that anchor only when this second detail is relevant: Later movement or erosion may expose a fossil; Mary Anning used careful observation of real fossils as evidence about life long ago. For this a fossil-formation sequence decision, use a quiet card sort, a spoken response, a communication aid or adult handling directed by the learner; the learner still chooses the evidence, order, comparison or action. Staff supporting a fossil-formation sequence may steady the named materials and read the displayed source exactly. They do not upgrade the a fossil-formation sequence response, fill its missing result or convert its plan into completion. If access to a fossil-formation sequence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Point to one transition in the sequence and explain what changes. The adult repeats the stage without making it certain for every fossil. Confirm, correct or add the caution card.</a:t>
            </a:r>
          </a:p>
          <a:p xmlns:a="http://schemas.openxmlformats.org/drawingml/2006/main">
            <a:r>
              <a:t>Final check: no result, quote, date, event or pupil wording has been created to make the map look complete. The HTML stores no learner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SCI_B_W15A_Fossil_Formation_Story_Explore.html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9d53da062940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d61d6ec9fe467e" /><Relationship Type="http://schemas.openxmlformats.org/officeDocument/2006/relationships/slideLayout" Target="/ppt/slideLayouts/slideLayout1.xml" Id="R0fd5a13b309240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d5a13b309240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d0d04301ab4cf8" /><Relationship Type="http://schemas.openxmlformats.org/officeDocument/2006/relationships/hyperlink" Target="SCI_B_W15A_Fossil_Formation_Story_Explore.html" TargetMode="External" Id="R1a2a2e8c67154e83" /><Relationship Type="http://schemas.openxmlformats.org/officeDocument/2006/relationships/notesSlide" Target="/ppt/notesSlides/notesSlide1.xml" Id="Red5fcff0a0254c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e50257b9454fcf" /><Relationship Type="http://schemas.openxmlformats.org/officeDocument/2006/relationships/notesSlide" Target="/ppt/notesSlides/notesSlide2.xml" Id="Rf250c8cfbe8c48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1fff81012340a3" /><Relationship Type="http://schemas.openxmlformats.org/officeDocument/2006/relationships/notesSlide" Target="/ppt/notesSlides/notesSlide3.xml" Id="Ra05cc0c0dff64a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d913fb032a4ea1" /><Relationship Type="http://schemas.openxmlformats.org/officeDocument/2006/relationships/notesSlide" Target="/ppt/notesSlides/notesSlide4.xml" Id="Raabd5165b5b048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399ee8761c4b29" /><Relationship Type="http://schemas.openxmlformats.org/officeDocument/2006/relationships/notesSlide" Target="/ppt/notesSlides/notesSlide5.xml" Id="Rdee10127b24741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8e28221a4c47f3" /><Relationship Type="http://schemas.openxmlformats.org/officeDocument/2006/relationships/image" Target="/ppt/media/image.png" Id="Rc3b23367e05b4619" /><Relationship Type="http://schemas.openxmlformats.org/officeDocument/2006/relationships/notesSlide" Target="/ppt/notesSlides/notesSlide6.xml" Id="Rdb5b871dc28d4e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b1c0396e5a4654" /><Relationship Type="http://schemas.openxmlformats.org/officeDocument/2006/relationships/notesSlide" Target="/ppt/notesSlides/notesSlide7.xml" Id="Rb700aee7bcc846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0cf0c93ab344b1" /><Relationship Type="http://schemas.openxmlformats.org/officeDocument/2006/relationships/notesSlide" Target="/ppt/notesSlides/notesSlide8.xml" Id="Rd0975f727d2045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e652ea0c74458a" /><Relationship Type="http://schemas.openxmlformats.org/officeDocument/2006/relationships/notesSlide" Target="/ppt/notesSlides/notesSlide9.xml" Id="R53acba22bf5243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93d73b6558410e" /><Relationship Type="http://schemas.openxmlformats.org/officeDocument/2006/relationships/notesSlide" Target="/ppt/notesSlides/notesSlide10.xml" Id="R299239cff8a645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2fdfc45650e4370" /><Relationship Type="http://schemas.openxmlformats.org/officeDocument/2006/relationships/notesSlide" Target="/ppt/notesSlides/notesSlide11.xml" Id="Rcfa6c94da18a4e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d57bd69f864d68" /><Relationship Type="http://schemas.openxmlformats.org/officeDocument/2006/relationships/notesSlide" Target="/ppt/notesSlides/notesSlide12.xml" Id="R8326b21b1d9843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bf306508c1344db" /><Relationship Type="http://schemas.openxmlformats.org/officeDocument/2006/relationships/notesSlide" Target="/ppt/notesSlides/notesSlide13.xml" Id="Rf753ad6c251340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70f314245141b2" /><Relationship Type="http://schemas.openxmlformats.org/officeDocument/2006/relationships/notesSlide" Target="/ppt/notesSlides/notesSlide14.xml" Id="R7439456d233945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6dc67f4dfa64bcb" /><Relationship Type="http://schemas.openxmlformats.org/officeDocument/2006/relationships/notesSlide" Target="/ppt/notesSlides/notesSlide15.xml" Id="Rb929ad79bc3441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1040df218f4707" /><Relationship Type="http://schemas.openxmlformats.org/officeDocument/2006/relationships/notesSlide" Target="/ppt/notesSlides/notesSlide16.xml" Id="R469e4bab5f1b42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95b5c470bae4191" /><Relationship Type="http://schemas.openxmlformats.org/officeDocument/2006/relationships/notesSlide" Target="/ppt/notesSlides/notesSlide17.xml" Id="R8256f7fe8bbc4e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d31a471d5c441c" /><Relationship Type="http://schemas.openxmlformats.org/officeDocument/2006/relationships/notesSlide" Target="/ppt/notesSlides/notesSlide18.xml" Id="R9f24e40565404a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65b4a4e15a442d8" /><Relationship Type="http://schemas.openxmlformats.org/officeDocument/2006/relationships/notesSlide" Target="/ppt/notesSlides/notesSlide19.xml" Id="Rf6cda8dfc56641a6"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2A5A0AE9-DDA3-487A-B3F1-30C787B221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7C82D1F-F5A1-471B-93FE-BE7E83287D1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71A8A523-0549-4F64-B893-2F01FBE5D36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B22F4B03-2819-43EF-BF24-AEFE5376E62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Fossil Formation Story</a:t>
            </a:r>
          </a:p>
        </p:txBody>
      </p:sp>
      <p:sp>
        <p:nvSpPr>
          <p:cNvPr id="5" name="paper panel">
            <a:extLst xmlns:a="http://schemas.openxmlformats.org/drawingml/2006/main">
              <a:ext uri="{FF2B5EF4-FFF2-40B4-BE49-F238E27FC236}">
                <a16:creationId xmlns:a16="http://schemas.microsoft.com/office/drawing/2014/main" id="{A5913DC1-350D-4FA4-90F4-08AFBE7594E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63DBFDCE-BFB5-4431-B274-A1ADA6174BEF}"/>
              </a:ext>
            </a:extLst>
          </p:cNvPr>
          <p:cNvSpPr>
            <a:spLocks xmlns:a="http://schemas.openxmlformats.org/drawingml/2006/main" noGrp="1"/>
          </p:cNvSpPr>
          <p:nvPr/>
        </p:nvSpPr>
        <p:spPr>
          <a:xfrm xmlns:a="http://schemas.openxmlformats.org/drawingml/2006/main">
            <a:off x="762000" y="2181225"/>
            <a:ext cx="10382250" cy="7882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Sequence the main stages by which remains or traces can become fossils over a very long time and distinguish evidence from a compressed story.</a:t>
            </a:r>
          </a:p>
        </p:txBody>
      </p:sp>
      <p:sp>
        <p:nvSpPr>
          <p:cNvPr id="7" name="HTML link">
            <a:extLst xmlns:a="http://schemas.openxmlformats.org/drawingml/2006/main">
              <a:ext uri="{FF2B5EF4-FFF2-40B4-BE49-F238E27FC236}">
                <a16:creationId xmlns:a16="http://schemas.microsoft.com/office/drawing/2014/main" id="{7C28863D-568D-4330-99F1-3A0CB3C1DDED}"/>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4E7A9B"/>
                </a:solidFill>
                <a:latin typeface="Arial"/>
                <a:ea typeface="Arial"/>
                <a:cs typeface="Arial"/>
              </a:defRPr>
            </a:pPr>
            <a:r>
              <a:rPr sz="1575" b="1">
                <a:solidFill>
                  <a:srgbClr val="4E7A9B"/>
                </a:solidFill>
                <a:latin typeface="Arial"/>
                <a:ea typeface="Arial"/>
                <a:cs typeface="Arial"/>
                <a:hlinkClick xmlns:r="http://schemas.openxmlformats.org/officeDocument/2006/relationships" r:id="R1a2a2e8c67154e83"/>
              </a:rPr>
              <a:t>Open the original interactive lesson</a:t>
            </a:r>
          </a:p>
        </p:txBody>
      </p:sp>
      <p:sp>
        <p:nvSpPr>
          <p:cNvPr id="8" name="time">
            <a:extLst xmlns:a="http://schemas.openxmlformats.org/drawingml/2006/main">
              <a:ext uri="{FF2B5EF4-FFF2-40B4-BE49-F238E27FC236}">
                <a16:creationId xmlns:a16="http://schemas.microsoft.com/office/drawing/2014/main" id="{6398862E-33A1-4765-BD7B-D036B73E753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1A99CDFF-AEAE-4F55-ADEF-6C1E6D22200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19</a:t>
            </a:r>
          </a:p>
        </p:txBody>
      </p:sp>
    </p:spTree>
    <p:extLst>
      <p:ext uri="{BB962C8B-B14F-4D97-AF65-F5344CB8AC3E}">
        <p14:creationId xmlns:p14="http://schemas.microsoft.com/office/powerpoint/2010/main" val="1486567949"/>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990F0495-DDC8-44A6-8B1D-D16CD270E7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7CE5322-6C1A-45FB-A392-62262E4C10D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46BDB13-96A8-4E8D-BEB8-FC6A5B00006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DB5919B6-EABA-4F24-BFD3-07740868025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E0480278-2541-40AC-86F8-F06DCF58C95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626E864-B1D1-491F-B3B7-E581F494CB82}"/>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Rapid burial can reduce disturbance and place remains beneath sediment.</a:t>
            </a:r>
          </a:p>
        </p:txBody>
      </p:sp>
      <p:sp>
        <p:nvSpPr>
          <p:cNvPr id="7" name="content 1">
            <a:extLst xmlns:a="http://schemas.openxmlformats.org/drawingml/2006/main">
              <a:ext uri="{FF2B5EF4-FFF2-40B4-BE49-F238E27FC236}">
                <a16:creationId xmlns:a16="http://schemas.microsoft.com/office/drawing/2014/main" id="{814B94F2-2D54-4858-B2AD-FDF06D6CF137}"/>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Soft material usually changes or decays while harder parts, impressions or traces may remain.</a:t>
            </a:r>
          </a:p>
        </p:txBody>
      </p:sp>
      <p:sp>
        <p:nvSpPr>
          <p:cNvPr id="8" name="content 2">
            <a:extLst xmlns:a="http://schemas.openxmlformats.org/drawingml/2006/main">
              <a:ext uri="{FF2B5EF4-FFF2-40B4-BE49-F238E27FC236}">
                <a16:creationId xmlns:a16="http://schemas.microsoft.com/office/drawing/2014/main" id="{2BDB142B-3A05-489E-A15C-63923D07B45D}"/>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More layers can build and compact over a very long time as minerals and rock processes preserve evidence.</a:t>
            </a:r>
          </a:p>
        </p:txBody>
      </p:sp>
      <p:sp>
        <p:nvSpPr>
          <p:cNvPr id="9" name="content 3">
            <a:extLst xmlns:a="http://schemas.openxmlformats.org/drawingml/2006/main">
              <a:ext uri="{FF2B5EF4-FFF2-40B4-BE49-F238E27FC236}">
                <a16:creationId xmlns:a16="http://schemas.microsoft.com/office/drawing/2014/main" id="{33668C98-7AA7-4668-A405-31F010B87CA3}"/>
              </a:ext>
            </a:extLst>
          </p:cNvPr>
          <p:cNvSpPr>
            <a:spLocks xmlns:a="http://schemas.openxmlformats.org/drawingml/2006/main" noGrp="1"/>
          </p:cNvSpPr>
          <p:nvPr/>
        </p:nvSpPr>
        <p:spPr>
          <a:xfrm xmlns:a="http://schemas.openxmlformats.org/drawingml/2006/main">
            <a:off x="800100" y="4210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Later movement or erosion may expose a fossil; Mary Anning used careful observation of real fossils as evidence about life long ago.</a:t>
            </a:r>
          </a:p>
        </p:txBody>
      </p:sp>
      <p:sp>
        <p:nvSpPr>
          <p:cNvPr id="10" name="time">
            <a:extLst xmlns:a="http://schemas.openxmlformats.org/drawingml/2006/main">
              <a:ext uri="{FF2B5EF4-FFF2-40B4-BE49-F238E27FC236}">
                <a16:creationId xmlns:a16="http://schemas.microsoft.com/office/drawing/2014/main" id="{D5832741-83F8-4287-9694-81251423A47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0DDAFE0F-682D-4954-8E54-B31B7545990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19</a:t>
            </a:r>
          </a:p>
        </p:txBody>
      </p:sp>
    </p:spTree>
    <p:extLst>
      <p:ext uri="{BB962C8B-B14F-4D97-AF65-F5344CB8AC3E}">
        <p14:creationId xmlns:p14="http://schemas.microsoft.com/office/powerpoint/2010/main" val="445442972"/>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42AB043F-8D92-4877-8E85-109FD6C31D9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28E7430-3416-4225-B1EE-82B2009A88B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6EBEA4C8-A20B-451F-B6A0-632D913D61D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EE5480B5-E34F-4182-92C4-1D4B60398FB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EFDC97F3-5BFE-4C17-B3B2-ED4EC8FC465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6DAEE8A-525A-480D-B964-3D3E2AA44BA3}"/>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Arrival decision: Rapid burial can reduce disturbance and place remains beneath sediment. Later movement or erosion may expose a fossil; Mary Anning used careful observation of real fossils as evidence about life long ago.</a:t>
            </a:r>
          </a:p>
        </p:txBody>
      </p:sp>
      <p:sp>
        <p:nvSpPr>
          <p:cNvPr id="7" name="time">
            <a:extLst xmlns:a="http://schemas.openxmlformats.org/drawingml/2006/main">
              <a:ext uri="{FF2B5EF4-FFF2-40B4-BE49-F238E27FC236}">
                <a16:creationId xmlns:a16="http://schemas.microsoft.com/office/drawing/2014/main" id="{21B91A64-932A-4A77-AC98-8719FFFEAEF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8" name="number">
            <a:extLst xmlns:a="http://schemas.openxmlformats.org/drawingml/2006/main">
              <a:ext uri="{FF2B5EF4-FFF2-40B4-BE49-F238E27FC236}">
                <a16:creationId xmlns:a16="http://schemas.microsoft.com/office/drawing/2014/main" id="{DE2A4E82-981B-4BB1-A12C-D52C8052142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19</a:t>
            </a:r>
          </a:p>
        </p:txBody>
      </p:sp>
    </p:spTree>
    <p:extLst>
      <p:ext uri="{BB962C8B-B14F-4D97-AF65-F5344CB8AC3E}">
        <p14:creationId xmlns:p14="http://schemas.microsoft.com/office/powerpoint/2010/main" val="685713621"/>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66CF3138-1437-4E22-B5B2-55AC06B6C3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AA28431-6943-4131-B562-2D5D22986FE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D9FE4A16-7CC3-4864-8A09-8433C9118FF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933EFFBA-D039-4453-95DE-BDB812204BA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sequence explain fossil formation without pretending every fossil forms in exactly the same way?</a:t>
            </a:r>
          </a:p>
        </p:txBody>
      </p:sp>
      <p:sp>
        <p:nvSpPr>
          <p:cNvPr id="5" name="paper panel">
            <a:extLst xmlns:a="http://schemas.openxmlformats.org/drawingml/2006/main">
              <a:ext uri="{FF2B5EF4-FFF2-40B4-BE49-F238E27FC236}">
                <a16:creationId xmlns:a16="http://schemas.microsoft.com/office/drawing/2014/main" id="{01254CCC-9F6E-4808-B980-B3D86CDD811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24265B7-DAD2-44E2-AC51-E127191066A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the soft parts have gone; the hard parts are being covered. Which step comes next?</a:t>
            </a:r>
          </a:p>
        </p:txBody>
      </p:sp>
      <p:sp>
        <p:nvSpPr>
          <p:cNvPr id="7" name="content 1">
            <a:extLst xmlns:a="http://schemas.openxmlformats.org/drawingml/2006/main">
              <a:ext uri="{FF2B5EF4-FFF2-40B4-BE49-F238E27FC236}">
                <a16:creationId xmlns:a16="http://schemas.microsoft.com/office/drawing/2014/main" id="{C0070C1A-FC10-4DE9-B977-B0880A3B2816}"/>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How can a sequence explain fossil formation without pretending every fossil forms in exactly the same way? Soft material usually changes or decays while harder parts, impressions or traces may remain.</a:t>
            </a:r>
          </a:p>
        </p:txBody>
      </p:sp>
      <p:sp>
        <p:nvSpPr>
          <p:cNvPr id="8" name="content 2">
            <a:extLst xmlns:a="http://schemas.openxmlformats.org/drawingml/2006/main">
              <a:ext uri="{FF2B5EF4-FFF2-40B4-BE49-F238E27FC236}">
                <a16:creationId xmlns:a16="http://schemas.microsoft.com/office/drawing/2014/main" id="{D7079A5E-D114-4B3E-B50E-A1F919BBFF81}"/>
              </a:ext>
            </a:extLst>
          </p:cNvPr>
          <p:cNvSpPr>
            <a:spLocks xmlns:a="http://schemas.openxmlformats.org/drawingml/2006/main" noGrp="1"/>
          </p:cNvSpPr>
          <p:nvPr/>
        </p:nvSpPr>
        <p:spPr>
          <a:xfrm xmlns:a="http://schemas.openxmlformats.org/drawingml/2006/main">
            <a:off x="800100" y="40862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Checking questions:</a:t>
            </a:r>
          </a:p>
        </p:txBody>
      </p:sp>
      <p:sp>
        <p:nvSpPr>
          <p:cNvPr id="9" name="content 3">
            <a:extLst xmlns:a="http://schemas.openxmlformats.org/drawingml/2006/main">
              <a:ext uri="{FF2B5EF4-FFF2-40B4-BE49-F238E27FC236}">
                <a16:creationId xmlns:a16="http://schemas.microsoft.com/office/drawing/2014/main" id="{0576ACD2-5A01-4BFD-B2E3-3AE936BBCE62}"/>
              </a:ext>
            </a:extLst>
          </p:cNvPr>
          <p:cNvSpPr>
            <a:spLocks xmlns:a="http://schemas.openxmlformats.org/drawingml/2006/main" noGrp="1"/>
          </p:cNvSpPr>
          <p:nvPr/>
        </p:nvSpPr>
        <p:spPr>
          <a:xfrm xmlns:a="http://schemas.openxmlformats.org/drawingml/2006/main">
            <a:off x="800100" y="45434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Rapid burial can reduce disturbance and place remains beneath sediment.</a:t>
            </a:r>
          </a:p>
        </p:txBody>
      </p:sp>
      <p:sp>
        <p:nvSpPr>
          <p:cNvPr id="10" name="content 4">
            <a:extLst xmlns:a="http://schemas.openxmlformats.org/drawingml/2006/main">
              <a:ext uri="{FF2B5EF4-FFF2-40B4-BE49-F238E27FC236}">
                <a16:creationId xmlns:a16="http://schemas.microsoft.com/office/drawing/2014/main" id="{CC692227-386D-492E-8E9D-CAC7BE8CE60A}"/>
              </a:ext>
            </a:extLst>
          </p:cNvPr>
          <p:cNvSpPr>
            <a:spLocks xmlns:a="http://schemas.openxmlformats.org/drawingml/2006/main" noGrp="1"/>
          </p:cNvSpPr>
          <p:nvPr/>
        </p:nvSpPr>
        <p:spPr>
          <a:xfrm xmlns:a="http://schemas.openxmlformats.org/drawingml/2006/main">
            <a:off x="800100" y="5000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Soft material usually changes or decays while harder parts, impressions or traces may remain.</a:t>
            </a:r>
          </a:p>
        </p:txBody>
      </p:sp>
      <p:sp>
        <p:nvSpPr>
          <p:cNvPr id="11" name="time">
            <a:extLst xmlns:a="http://schemas.openxmlformats.org/drawingml/2006/main">
              <a:ext uri="{FF2B5EF4-FFF2-40B4-BE49-F238E27FC236}">
                <a16:creationId xmlns:a16="http://schemas.microsoft.com/office/drawing/2014/main" id="{CAC75A0C-8307-4A14-9D5F-A13D170C4EF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2" name="number">
            <a:extLst xmlns:a="http://schemas.openxmlformats.org/drawingml/2006/main">
              <a:ext uri="{FF2B5EF4-FFF2-40B4-BE49-F238E27FC236}">
                <a16:creationId xmlns:a16="http://schemas.microsoft.com/office/drawing/2014/main" id="{73F3DC89-7602-404B-B3D3-776404F79DE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19</a:t>
            </a:r>
          </a:p>
        </p:txBody>
      </p:sp>
    </p:spTree>
    <p:extLst>
      <p:ext uri="{BB962C8B-B14F-4D97-AF65-F5344CB8AC3E}">
        <p14:creationId xmlns:p14="http://schemas.microsoft.com/office/powerpoint/2010/main" val="1500622805"/>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5D44BE2F-D949-4E69-9BC1-F26614E7F4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36B9006-458F-4B8E-B1C3-740258EC708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E890596A-9571-4015-BBD5-41823DEEFD7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49160541-EE66-46B0-B0C4-431A9438F88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sequence explain fossil formation without pretending every fossil forms in exactly the same way?</a:t>
            </a:r>
          </a:p>
        </p:txBody>
      </p:sp>
      <p:sp>
        <p:nvSpPr>
          <p:cNvPr id="5" name="paper panel">
            <a:extLst xmlns:a="http://schemas.openxmlformats.org/drawingml/2006/main">
              <a:ext uri="{FF2B5EF4-FFF2-40B4-BE49-F238E27FC236}">
                <a16:creationId xmlns:a16="http://schemas.microsoft.com/office/drawing/2014/main" id="{CE3075BC-536A-41D8-B3B5-70B51412F28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78E4D82-167E-44D1-B1D6-30C082CBB2D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More layers can build and compact over a very long time as minerals and rock processes preserve evidence.</a:t>
            </a:r>
          </a:p>
        </p:txBody>
      </p:sp>
      <p:sp>
        <p:nvSpPr>
          <p:cNvPr id="7" name="content 1">
            <a:extLst xmlns:a="http://schemas.openxmlformats.org/drawingml/2006/main">
              <a:ext uri="{FF2B5EF4-FFF2-40B4-BE49-F238E27FC236}">
                <a16:creationId xmlns:a16="http://schemas.microsoft.com/office/drawing/2014/main" id="{A40C6A42-7ACF-467C-9DF0-E532720FD953}"/>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Later movement or erosion may expose a fossil; Mary Anning used careful observation of real fossils as evidence about life long ago.</a:t>
            </a:r>
          </a:p>
        </p:txBody>
      </p:sp>
      <p:sp>
        <p:nvSpPr>
          <p:cNvPr id="8" name="time">
            <a:extLst xmlns:a="http://schemas.openxmlformats.org/drawingml/2006/main">
              <a:ext uri="{FF2B5EF4-FFF2-40B4-BE49-F238E27FC236}">
                <a16:creationId xmlns:a16="http://schemas.microsoft.com/office/drawing/2014/main" id="{7467B3FA-6A88-4C7B-A828-A0F7DB862F2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73FEF783-9679-4D36-AD99-A293E56B8E2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19</a:t>
            </a:r>
          </a:p>
        </p:txBody>
      </p:sp>
    </p:spTree>
    <p:extLst>
      <p:ext uri="{BB962C8B-B14F-4D97-AF65-F5344CB8AC3E}">
        <p14:creationId xmlns:p14="http://schemas.microsoft.com/office/powerpoint/2010/main" val="1278859130"/>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6B12DAC1-ECDC-49BD-8F82-463F6BB123D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02F38D4-4246-40B5-B7D8-47318804CF9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75B7BD6F-020B-4F19-A9E7-989367EF206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E49D74A7-73BD-4088-A824-7B6AA1EA697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sequence explain fossil formation without pretending every fossil forms in exactly the same way?</a:t>
            </a:r>
          </a:p>
        </p:txBody>
      </p:sp>
      <p:sp>
        <p:nvSpPr>
          <p:cNvPr id="5" name="paper panel">
            <a:extLst xmlns:a="http://schemas.openxmlformats.org/drawingml/2006/main">
              <a:ext uri="{FF2B5EF4-FFF2-40B4-BE49-F238E27FC236}">
                <a16:creationId xmlns:a16="http://schemas.microsoft.com/office/drawing/2014/main" id="{0A21A94F-2E30-4848-A1BD-3A3A03739E9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3b23367e05b4619"/>
          <a:stretch xmlns:a="http://schemas.openxmlformats.org/drawingml/2006/main"/>
        </p:blipFill>
        <p:spPr>
          <a:xfrm xmlns:a="http://schemas.openxmlformats.org/drawingml/2006/main">
            <a:off x="2195513" y="2181225"/>
            <a:ext cx="7800975"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CE085A59-F5DF-4665-A7BB-B30BED4748C0}"/>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Fossil formation stage 2: hard parts covered by sediment</a:t>
            </a:r>
          </a:p>
        </p:txBody>
      </p:sp>
      <p:sp>
        <p:nvSpPr>
          <p:cNvPr id="8" name="time">
            <a:extLst xmlns:a="http://schemas.openxmlformats.org/drawingml/2006/main">
              <a:ext uri="{FF2B5EF4-FFF2-40B4-BE49-F238E27FC236}">
                <a16:creationId xmlns:a16="http://schemas.microsoft.com/office/drawing/2014/main" id="{F19050AB-24F9-46B9-AD5F-63BF87099C4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5918F41A-A035-4757-9EAA-0D5A4174640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19</a:t>
            </a:r>
          </a:p>
        </p:txBody>
      </p:sp>
    </p:spTree>
    <p:extLst>
      <p:ext uri="{BB962C8B-B14F-4D97-AF65-F5344CB8AC3E}">
        <p14:creationId xmlns:p14="http://schemas.microsoft.com/office/powerpoint/2010/main" val="652333927"/>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5BB9DAB2-8165-48F0-8ADD-07D334E1EB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C1EB28B-F88A-42D1-A7A0-A7E7FE2070F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47AA1725-EFAB-4796-A63C-22C0CEBE440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B94A74CB-6DBC-45C4-8CC0-854572AF526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fossil-formation sequence</a:t>
            </a:r>
          </a:p>
        </p:txBody>
      </p:sp>
      <p:sp>
        <p:nvSpPr>
          <p:cNvPr id="5" name="paper panel">
            <a:extLst xmlns:a="http://schemas.openxmlformats.org/drawingml/2006/main">
              <a:ext uri="{FF2B5EF4-FFF2-40B4-BE49-F238E27FC236}">
                <a16:creationId xmlns:a16="http://schemas.microsoft.com/office/drawing/2014/main" id="{D8B09A97-7875-4BA8-BC84-81F3B46D052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1184600-7645-4E1F-956F-D6C01E6A0824}"/>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Fossil formation sequencer</a:t>
            </a:r>
          </a:p>
        </p:txBody>
      </p:sp>
      <p:sp>
        <p:nvSpPr>
          <p:cNvPr id="7" name="content 1">
            <a:extLst xmlns:a="http://schemas.openxmlformats.org/drawingml/2006/main">
              <a:ext uri="{FF2B5EF4-FFF2-40B4-BE49-F238E27FC236}">
                <a16:creationId xmlns:a16="http://schemas.microsoft.com/office/drawing/2014/main" id="{E5467528-524E-49ED-8A8B-8E606587D678}"/>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the five steps in order. Then answer the honesty question.</a:t>
            </a:r>
          </a:p>
        </p:txBody>
      </p:sp>
      <p:sp>
        <p:nvSpPr>
          <p:cNvPr id="8" name="time">
            <a:extLst xmlns:a="http://schemas.openxmlformats.org/drawingml/2006/main">
              <a:ext uri="{FF2B5EF4-FFF2-40B4-BE49-F238E27FC236}">
                <a16:creationId xmlns:a16="http://schemas.microsoft.com/office/drawing/2014/main" id="{FE760574-DBBE-40FC-81BB-F89658A56DA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6091F218-1BD3-4D78-88C0-05C36ADE7D4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19</a:t>
            </a:r>
          </a:p>
        </p:txBody>
      </p:sp>
    </p:spTree>
    <p:extLst>
      <p:ext uri="{BB962C8B-B14F-4D97-AF65-F5344CB8AC3E}">
        <p14:creationId xmlns:p14="http://schemas.microsoft.com/office/powerpoint/2010/main" val="965991590"/>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36A9043F-F520-45D2-AA7D-27EEC8E845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6566F2E-4C55-4ED3-B378-6446E93ACCC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A3C8AAC4-2924-4895-A9AC-24BF1D1DC39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10E019FD-9F08-47FE-9F4B-016C05D768E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fossil-formation sequence</a:t>
            </a:r>
          </a:p>
        </p:txBody>
      </p:sp>
      <p:sp>
        <p:nvSpPr>
          <p:cNvPr id="5" name="paper panel">
            <a:extLst xmlns:a="http://schemas.openxmlformats.org/drawingml/2006/main">
              <a:ext uri="{FF2B5EF4-FFF2-40B4-BE49-F238E27FC236}">
                <a16:creationId xmlns:a16="http://schemas.microsoft.com/office/drawing/2014/main" id="{55A50ADA-4EE7-4B33-B667-95D6B1FBA87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F710024-EEA7-4774-A0AD-83A8DA1A31D3}"/>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more layers choose down and harden into rock</a:t>
            </a:r>
          </a:p>
        </p:txBody>
      </p:sp>
      <p:sp>
        <p:nvSpPr>
          <p:cNvPr id="7" name="content 1">
            <a:extLst xmlns:a="http://schemas.openxmlformats.org/drawingml/2006/main">
              <a:ext uri="{FF2B5EF4-FFF2-40B4-BE49-F238E27FC236}">
                <a16:creationId xmlns:a16="http://schemas.microsoft.com/office/drawing/2014/main" id="{C8EEA244-D7B2-4433-A633-96CF107975D5}"/>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a living thing dies and sinks to the bottom</a:t>
            </a:r>
          </a:p>
        </p:txBody>
      </p:sp>
      <p:sp>
        <p:nvSpPr>
          <p:cNvPr id="8" name="content 2">
            <a:extLst xmlns:a="http://schemas.openxmlformats.org/drawingml/2006/main">
              <a:ext uri="{FF2B5EF4-FFF2-40B4-BE49-F238E27FC236}">
                <a16:creationId xmlns:a16="http://schemas.microsoft.com/office/drawing/2014/main" id="{21B1612A-F18B-4BF8-8DB4-AFDA312427F5}"/>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uplift or erosion brings the fossil to the surface</a:t>
            </a:r>
          </a:p>
        </p:txBody>
      </p:sp>
      <p:sp>
        <p:nvSpPr>
          <p:cNvPr id="9" name="content 3">
            <a:extLst xmlns:a="http://schemas.openxmlformats.org/drawingml/2006/main">
              <a:ext uri="{FF2B5EF4-FFF2-40B4-BE49-F238E27FC236}">
                <a16:creationId xmlns:a16="http://schemas.microsoft.com/office/drawing/2014/main" id="{A82CBF94-35F9-4EFB-B190-9D9C9E53B6D8}"/>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soft parts decay; hard parts are covered by sediment</a:t>
            </a:r>
          </a:p>
        </p:txBody>
      </p:sp>
      <p:sp>
        <p:nvSpPr>
          <p:cNvPr id="10" name="content 4">
            <a:extLst xmlns:a="http://schemas.openxmlformats.org/drawingml/2006/main">
              <a:ext uri="{FF2B5EF4-FFF2-40B4-BE49-F238E27FC236}">
                <a16:creationId xmlns:a16="http://schemas.microsoft.com/office/drawing/2014/main" id="{9EBAF30F-C2F8-48CD-BF48-3F024CB66615}"/>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minerals replace or fill the remains</a:t>
            </a:r>
          </a:p>
        </p:txBody>
      </p:sp>
      <p:sp>
        <p:nvSpPr>
          <p:cNvPr id="11" name="content 5">
            <a:extLst xmlns:a="http://schemas.openxmlformats.org/drawingml/2006/main">
              <a:ext uri="{FF2B5EF4-FFF2-40B4-BE49-F238E27FC236}">
                <a16:creationId xmlns:a16="http://schemas.microsoft.com/office/drawing/2014/main" id="{0792AF6F-6F04-484D-B84D-D2D2CCC59502}"/>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Every fossil forms exactly this way</a:t>
            </a:r>
          </a:p>
        </p:txBody>
      </p:sp>
      <p:sp>
        <p:nvSpPr>
          <p:cNvPr id="12" name="content 6">
            <a:extLst xmlns:a="http://schemas.openxmlformats.org/drawingml/2006/main">
              <a:ext uri="{FF2B5EF4-FFF2-40B4-BE49-F238E27FC236}">
                <a16:creationId xmlns:a16="http://schemas.microsoft.com/office/drawing/2014/main" id="{E6991BFF-4873-422F-A4EB-4CDCF0163B07}"/>
              </a:ext>
            </a:extLst>
          </p:cNvPr>
          <p:cNvSpPr>
            <a:spLocks xmlns:a="http://schemas.openxmlformats.org/drawingml/2006/main" noGrp="1"/>
          </p:cNvSpPr>
          <p:nvPr/>
        </p:nvSpPr>
        <p:spPr>
          <a:xfrm xmlns:a="http://schemas.openxmlformats.org/drawingml/2006/main">
            <a:off x="800100" y="4914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This is one common route; footprints, amber and moulds form differently</a:t>
            </a:r>
          </a:p>
        </p:txBody>
      </p:sp>
      <p:sp>
        <p:nvSpPr>
          <p:cNvPr id="13" name="content 7">
            <a:extLst xmlns:a="http://schemas.openxmlformats.org/drawingml/2006/main">
              <a:ext uri="{FF2B5EF4-FFF2-40B4-BE49-F238E27FC236}">
                <a16:creationId xmlns:a16="http://schemas.microsoft.com/office/drawing/2014/main" id="{782FE5DA-1073-4886-88D8-BD9D1428624E}"/>
              </a:ext>
            </a:extLst>
          </p:cNvPr>
          <p:cNvSpPr>
            <a:spLocks xmlns:a="http://schemas.openxmlformats.org/drawingml/2006/main" noGrp="1"/>
          </p:cNvSpPr>
          <p:nvPr/>
        </p:nvSpPr>
        <p:spPr>
          <a:xfrm xmlns:a="http://schemas.openxmlformats.org/drawingml/2006/main">
            <a:off x="800100" y="5372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sequence is a model. Say what it does not cover.</a:t>
            </a:r>
          </a:p>
        </p:txBody>
      </p:sp>
      <p:sp>
        <p:nvSpPr>
          <p:cNvPr id="14" name="time">
            <a:extLst xmlns:a="http://schemas.openxmlformats.org/drawingml/2006/main">
              <a:ext uri="{FF2B5EF4-FFF2-40B4-BE49-F238E27FC236}">
                <a16:creationId xmlns:a16="http://schemas.microsoft.com/office/drawing/2014/main" id="{DA487BB8-9CCF-4E20-B15C-26EDD5DA1AA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5" name="number">
            <a:extLst xmlns:a="http://schemas.openxmlformats.org/drawingml/2006/main">
              <a:ext uri="{FF2B5EF4-FFF2-40B4-BE49-F238E27FC236}">
                <a16:creationId xmlns:a16="http://schemas.microsoft.com/office/drawing/2014/main" id="{277E61EA-BB29-4744-85D9-87D67E9FEE4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19</a:t>
            </a:r>
          </a:p>
        </p:txBody>
      </p:sp>
    </p:spTree>
    <p:extLst>
      <p:ext uri="{BB962C8B-B14F-4D97-AF65-F5344CB8AC3E}">
        <p14:creationId xmlns:p14="http://schemas.microsoft.com/office/powerpoint/2010/main" val="1801693927"/>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3933183D-2845-4BE1-897F-97C75E2FB3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A348A70-FAE6-4E3D-90EE-F5A91B3EA5D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4EB9B929-C702-44CF-92E1-8DF14AB8D69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CEA59A43-4DBF-46DA-AB5E-007D42C060F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fossil-formation sequence</a:t>
            </a:r>
          </a:p>
        </p:txBody>
      </p:sp>
      <p:sp>
        <p:nvSpPr>
          <p:cNvPr id="5" name="paper panel">
            <a:extLst xmlns:a="http://schemas.openxmlformats.org/drawingml/2006/main">
              <a:ext uri="{FF2B5EF4-FFF2-40B4-BE49-F238E27FC236}">
                <a16:creationId xmlns:a16="http://schemas.microsoft.com/office/drawing/2014/main" id="{1AF2A239-7577-494A-9842-3FF39C1CCBC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6EAA9F2-83FF-4E36-A4A1-7F24D9BA97DE}"/>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REMAINS parts or traces left by a living thing</a:t>
            </a:r>
          </a:p>
        </p:txBody>
      </p:sp>
      <p:sp>
        <p:nvSpPr>
          <p:cNvPr id="7" name="content 1">
            <a:extLst xmlns:a="http://schemas.openxmlformats.org/drawingml/2006/main">
              <a:ext uri="{FF2B5EF4-FFF2-40B4-BE49-F238E27FC236}">
                <a16:creationId xmlns:a16="http://schemas.microsoft.com/office/drawing/2014/main" id="{2D91F24C-5134-4A85-9892-6FB9F12CF336}"/>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SEDIMENT loose material that can settle in layers</a:t>
            </a:r>
          </a:p>
        </p:txBody>
      </p:sp>
      <p:sp>
        <p:nvSpPr>
          <p:cNvPr id="8" name="content 2">
            <a:extLst xmlns:a="http://schemas.openxmlformats.org/drawingml/2006/main">
              <a:ext uri="{FF2B5EF4-FFF2-40B4-BE49-F238E27FC236}">
                <a16:creationId xmlns:a16="http://schemas.microsoft.com/office/drawing/2014/main" id="{6E3AB80B-80ED-4DD1-8404-E76B4D7E505D}"/>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FOSSIL preserved remains, impression or trace from long ago</a:t>
            </a:r>
          </a:p>
        </p:txBody>
      </p:sp>
      <p:sp>
        <p:nvSpPr>
          <p:cNvPr id="9" name="content 3">
            <a:extLst xmlns:a="http://schemas.openxmlformats.org/drawingml/2006/main">
              <a:ext uri="{FF2B5EF4-FFF2-40B4-BE49-F238E27FC236}">
                <a16:creationId xmlns:a16="http://schemas.microsoft.com/office/drawing/2014/main" id="{3375DC7A-CA2F-4670-A7F9-3F5BE9BE3DE6}"/>
              </a:ext>
            </a:extLst>
          </p:cNvPr>
          <p:cNvSpPr>
            <a:spLocks xmlns:a="http://schemas.openxmlformats.org/drawingml/2006/main" noGrp="1"/>
          </p:cNvSpPr>
          <p:nvPr/>
        </p:nvSpPr>
        <p:spPr>
          <a:xfrm xmlns:a="http://schemas.openxmlformats.org/drawingml/2006/main">
            <a:off x="800100" y="3543300"/>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Order five supplied picture cards: living thing or trace; burial by sediment; change while layers build; preserved fossil in rock; later exposure. Use ‘can’ and ‘may’ because the sequence is a model, not a promise for every organism. Mary Anning is named as a public figure connected with careful fossil finding and study, not as a fictional learner or exemplar.</a:t>
            </a:r>
          </a:p>
        </p:txBody>
      </p:sp>
      <p:sp>
        <p:nvSpPr>
          <p:cNvPr id="10" name="content 4">
            <a:extLst xmlns:a="http://schemas.openxmlformats.org/drawingml/2006/main">
              <a:ext uri="{FF2B5EF4-FFF2-40B4-BE49-F238E27FC236}">
                <a16:creationId xmlns:a16="http://schemas.microsoft.com/office/drawing/2014/main" id="{3A003D31-77FA-4CD1-A3C8-37B2C1EF949D}"/>
              </a:ext>
            </a:extLst>
          </p:cNvPr>
          <p:cNvSpPr>
            <a:spLocks xmlns:a="http://schemas.openxmlformats.org/drawingml/2006/main" noGrp="1"/>
          </p:cNvSpPr>
          <p:nvPr/>
        </p:nvSpPr>
        <p:spPr>
          <a:xfrm xmlns:a="http://schemas.openxmlformats.org/drawingml/2006/main">
            <a:off x="800100" y="53340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Rapid burial can reduce disturbance and place remains beneath sediment.</a:t>
            </a:r>
          </a:p>
        </p:txBody>
      </p:sp>
      <p:sp>
        <p:nvSpPr>
          <p:cNvPr id="11" name="time">
            <a:extLst xmlns:a="http://schemas.openxmlformats.org/drawingml/2006/main">
              <a:ext uri="{FF2B5EF4-FFF2-40B4-BE49-F238E27FC236}">
                <a16:creationId xmlns:a16="http://schemas.microsoft.com/office/drawing/2014/main" id="{673744BC-896C-4152-813D-601C00A9F79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2" name="number">
            <a:extLst xmlns:a="http://schemas.openxmlformats.org/drawingml/2006/main">
              <a:ext uri="{FF2B5EF4-FFF2-40B4-BE49-F238E27FC236}">
                <a16:creationId xmlns:a16="http://schemas.microsoft.com/office/drawing/2014/main" id="{8CE7AFA4-54CC-40F1-BB6D-1E1134F1356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19</a:t>
            </a:r>
          </a:p>
        </p:txBody>
      </p:sp>
    </p:spTree>
    <p:extLst>
      <p:ext uri="{BB962C8B-B14F-4D97-AF65-F5344CB8AC3E}">
        <p14:creationId xmlns:p14="http://schemas.microsoft.com/office/powerpoint/2010/main" val="1120470559"/>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23A4BF45-A850-493B-93B1-3605278A0A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1CFCDAF-797E-4DE6-87E7-6A264535A5D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96F9FF95-7B6D-46CC-8A85-9D087C90115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9721A597-E3CE-4DE1-85CF-84A498A9944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fossil-formation sequence</a:t>
            </a:r>
          </a:p>
        </p:txBody>
      </p:sp>
      <p:sp>
        <p:nvSpPr>
          <p:cNvPr id="5" name="paper panel">
            <a:extLst xmlns:a="http://schemas.openxmlformats.org/drawingml/2006/main">
              <a:ext uri="{FF2B5EF4-FFF2-40B4-BE49-F238E27FC236}">
                <a16:creationId xmlns:a16="http://schemas.microsoft.com/office/drawing/2014/main" id="{65CF1913-6188-41D0-BC6B-F2C51C77F9A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6C79AF4-1675-4895-8948-E7E02E4B96DB}"/>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Soft material usually changes or decays while harder parts, impressions or traces may remain.</a:t>
            </a:r>
          </a:p>
        </p:txBody>
      </p:sp>
      <p:sp>
        <p:nvSpPr>
          <p:cNvPr id="7" name="content 1">
            <a:extLst xmlns:a="http://schemas.openxmlformats.org/drawingml/2006/main">
              <a:ext uri="{FF2B5EF4-FFF2-40B4-BE49-F238E27FC236}">
                <a16:creationId xmlns:a16="http://schemas.microsoft.com/office/drawing/2014/main" id="{7E5EAE05-1931-42C1-8CE3-6FAF5BA9055F}"/>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More layers can build and compact over a very long time as minerals and rock processes preserve evidence.</a:t>
            </a:r>
          </a:p>
        </p:txBody>
      </p:sp>
      <p:sp>
        <p:nvSpPr>
          <p:cNvPr id="8" name="content 2">
            <a:extLst xmlns:a="http://schemas.openxmlformats.org/drawingml/2006/main">
              <a:ext uri="{FF2B5EF4-FFF2-40B4-BE49-F238E27FC236}">
                <a16:creationId xmlns:a16="http://schemas.microsoft.com/office/drawing/2014/main" id="{2E25C2EC-367A-42C3-BDEC-1A2C5710DE1B}"/>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Later movement or erosion may expose a fossil; Mary Anning used careful observation of real fossils as evidence about life long ago.</a:t>
            </a:r>
          </a:p>
        </p:txBody>
      </p:sp>
      <p:sp>
        <p:nvSpPr>
          <p:cNvPr id="9" name="content 3">
            <a:extLst xmlns:a="http://schemas.openxmlformats.org/drawingml/2006/main">
              <a:ext uri="{FF2B5EF4-FFF2-40B4-BE49-F238E27FC236}">
                <a16:creationId xmlns:a16="http://schemas.microsoft.com/office/drawing/2014/main" id="{582B33D5-8472-418D-AF5B-24F9403EE944}"/>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Sequence the main stages by which remains or traces can become fossils over a very long time and distinguish evidence from a compressed story.</a:t>
            </a:r>
          </a:p>
        </p:txBody>
      </p:sp>
      <p:sp>
        <p:nvSpPr>
          <p:cNvPr id="10" name="time">
            <a:extLst xmlns:a="http://schemas.openxmlformats.org/drawingml/2006/main">
              <a:ext uri="{FF2B5EF4-FFF2-40B4-BE49-F238E27FC236}">
                <a16:creationId xmlns:a16="http://schemas.microsoft.com/office/drawing/2014/main" id="{72EE1F01-5B04-4A0C-90FA-6FDA7E34D20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1" name="number">
            <a:extLst xmlns:a="http://schemas.openxmlformats.org/drawingml/2006/main">
              <a:ext uri="{FF2B5EF4-FFF2-40B4-BE49-F238E27FC236}">
                <a16:creationId xmlns:a16="http://schemas.microsoft.com/office/drawing/2014/main" id="{20F37331-11DA-495B-B1CD-352F93E42C4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19</a:t>
            </a:r>
          </a:p>
        </p:txBody>
      </p:sp>
    </p:spTree>
    <p:extLst>
      <p:ext uri="{BB962C8B-B14F-4D97-AF65-F5344CB8AC3E}">
        <p14:creationId xmlns:p14="http://schemas.microsoft.com/office/powerpoint/2010/main" val="1200741051"/>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09DFD302-E796-4A1E-A393-08F138005C6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7FE3415-C9B3-4869-AA7B-137C2DEBFEC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330AA7DC-A44F-411F-B5BA-992B3A1D78C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E59B02FE-5CAD-4D99-AB53-E559482A72E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sequence explain fossil formation without pretending every fossil forms in exactly the same way?</a:t>
            </a:r>
          </a:p>
        </p:txBody>
      </p:sp>
      <p:sp>
        <p:nvSpPr>
          <p:cNvPr id="5" name="paper panel">
            <a:extLst xmlns:a="http://schemas.openxmlformats.org/drawingml/2006/main">
              <a:ext uri="{FF2B5EF4-FFF2-40B4-BE49-F238E27FC236}">
                <a16:creationId xmlns:a16="http://schemas.microsoft.com/office/drawing/2014/main" id="{45E3BFB7-4CD4-4853-BF28-537AD3AB558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62FE019-3323-4AA8-AA0B-E8DD6A5C6B9E}"/>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More layers can build and compact over a very long time as minerals and rock processes preserve evidence. Later movement or erosion may expose a fossil; Mary Anning used careful observation of real fossils as evidence about life long ago.</a:t>
            </a:r>
          </a:p>
        </p:txBody>
      </p:sp>
      <p:sp>
        <p:nvSpPr>
          <p:cNvPr id="7" name="time">
            <a:extLst xmlns:a="http://schemas.openxmlformats.org/drawingml/2006/main">
              <a:ext uri="{FF2B5EF4-FFF2-40B4-BE49-F238E27FC236}">
                <a16:creationId xmlns:a16="http://schemas.microsoft.com/office/drawing/2014/main" id="{16364822-A009-4C03-BEB6-1DBD7C6781C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8" name="number">
            <a:extLst xmlns:a="http://schemas.openxmlformats.org/drawingml/2006/main">
              <a:ext uri="{FF2B5EF4-FFF2-40B4-BE49-F238E27FC236}">
                <a16:creationId xmlns:a16="http://schemas.microsoft.com/office/drawing/2014/main" id="{513A0915-0B1C-4E25-843B-A45FBD4B55D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19</a:t>
            </a:r>
          </a:p>
        </p:txBody>
      </p:sp>
    </p:spTree>
    <p:extLst>
      <p:ext uri="{BB962C8B-B14F-4D97-AF65-F5344CB8AC3E}">
        <p14:creationId xmlns:p14="http://schemas.microsoft.com/office/powerpoint/2010/main" val="1136346637"/>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727E1FA2-012E-475E-8A7A-013143EA23F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9192B55-856C-4A9B-8AF9-A1A6B152DF3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80E00E7-C9E2-4A0F-9BAA-9E4E405D3F0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3EB8C461-4CC1-40B8-948D-514D98C7521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fossil-formation sequence</a:t>
            </a:r>
          </a:p>
        </p:txBody>
      </p:sp>
      <p:sp>
        <p:nvSpPr>
          <p:cNvPr id="5" name="paper panel">
            <a:extLst xmlns:a="http://schemas.openxmlformats.org/drawingml/2006/main">
              <a:ext uri="{FF2B5EF4-FFF2-40B4-BE49-F238E27FC236}">
                <a16:creationId xmlns:a16="http://schemas.microsoft.com/office/drawing/2014/main" id="{C41DD573-7F95-417F-BAF0-0FCF09789A2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3C972E7-BA18-439A-9E81-9CAAD1B1773A}"/>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Available evidence</a:t>
            </a:r>
          </a:p>
        </p:txBody>
      </p:sp>
      <p:sp>
        <p:nvSpPr>
          <p:cNvPr id="7" name="content 1">
            <a:extLst xmlns:a="http://schemas.openxmlformats.org/drawingml/2006/main">
              <a:ext uri="{FF2B5EF4-FFF2-40B4-BE49-F238E27FC236}">
                <a16:creationId xmlns:a16="http://schemas.microsoft.com/office/drawing/2014/main" id="{637D2E05-7345-433C-A5CD-00A58FFBF2DA}"/>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Rapid burial can reduce disturbance and place remains beneath sediment.</a:t>
            </a:r>
          </a:p>
        </p:txBody>
      </p:sp>
      <p:sp>
        <p:nvSpPr>
          <p:cNvPr id="8" name="content 2">
            <a:extLst xmlns:a="http://schemas.openxmlformats.org/drawingml/2006/main">
              <a:ext uri="{FF2B5EF4-FFF2-40B4-BE49-F238E27FC236}">
                <a16:creationId xmlns:a16="http://schemas.microsoft.com/office/drawing/2014/main" id="{429710B5-62E1-4AE6-A951-F46B829A546D}"/>
              </a:ext>
            </a:extLst>
          </p:cNvPr>
          <p:cNvSpPr>
            <a:spLocks xmlns:a="http://schemas.openxmlformats.org/drawingml/2006/main" noGrp="1"/>
          </p:cNvSpPr>
          <p:nvPr/>
        </p:nvSpPr>
        <p:spPr>
          <a:xfrm xmlns:a="http://schemas.openxmlformats.org/drawingml/2006/main">
            <a:off x="800100" y="31051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Reasoning move</a:t>
            </a:r>
          </a:p>
        </p:txBody>
      </p:sp>
      <p:sp>
        <p:nvSpPr>
          <p:cNvPr id="9" name="content 3">
            <a:extLst xmlns:a="http://schemas.openxmlformats.org/drawingml/2006/main">
              <a:ext uri="{FF2B5EF4-FFF2-40B4-BE49-F238E27FC236}">
                <a16:creationId xmlns:a16="http://schemas.microsoft.com/office/drawing/2014/main" id="{4F1474EB-2611-490C-9DEC-1D34F0F393AD}"/>
              </a:ext>
            </a:extLst>
          </p:cNvPr>
          <p:cNvSpPr>
            <a:spLocks xmlns:a="http://schemas.openxmlformats.org/drawingml/2006/main" noGrp="1"/>
          </p:cNvSpPr>
          <p:nvPr/>
        </p:nvSpPr>
        <p:spPr>
          <a:xfrm xmlns:a="http://schemas.openxmlformats.org/drawingml/2006/main">
            <a:off x="800100" y="35814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Soft material usually changes or decays while harder parts, impressions or traces may remain.</a:t>
            </a:r>
          </a:p>
        </p:txBody>
      </p:sp>
      <p:sp>
        <p:nvSpPr>
          <p:cNvPr id="10" name="content 4">
            <a:extLst xmlns:a="http://schemas.openxmlformats.org/drawingml/2006/main">
              <a:ext uri="{FF2B5EF4-FFF2-40B4-BE49-F238E27FC236}">
                <a16:creationId xmlns:a16="http://schemas.microsoft.com/office/drawing/2014/main" id="{93236572-312C-4146-9D4B-95D17E610BFC}"/>
              </a:ext>
            </a:extLst>
          </p:cNvPr>
          <p:cNvSpPr>
            <a:spLocks xmlns:a="http://schemas.openxmlformats.org/drawingml/2006/main" noGrp="1"/>
          </p:cNvSpPr>
          <p:nvPr/>
        </p:nvSpPr>
        <p:spPr>
          <a:xfrm xmlns:a="http://schemas.openxmlformats.org/drawingml/2006/main">
            <a:off x="800100" y="43719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Boundary or next check</a:t>
            </a:r>
          </a:p>
        </p:txBody>
      </p:sp>
      <p:sp>
        <p:nvSpPr>
          <p:cNvPr id="11" name="content 5">
            <a:extLst xmlns:a="http://schemas.openxmlformats.org/drawingml/2006/main">
              <a:ext uri="{FF2B5EF4-FFF2-40B4-BE49-F238E27FC236}">
                <a16:creationId xmlns:a16="http://schemas.microsoft.com/office/drawing/2014/main" id="{1247650A-445D-4706-8EB9-C26FC5269874}"/>
              </a:ext>
            </a:extLst>
          </p:cNvPr>
          <p:cNvSpPr>
            <a:spLocks xmlns:a="http://schemas.openxmlformats.org/drawingml/2006/main" noGrp="1"/>
          </p:cNvSpPr>
          <p:nvPr/>
        </p:nvSpPr>
        <p:spPr>
          <a:xfrm xmlns:a="http://schemas.openxmlformats.org/drawingml/2006/main">
            <a:off x="800100" y="48482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Later movement or erosion may expose a fossil; Mary Anning used careful observation of real fossils as evidence about life long ago.</a:t>
            </a:r>
          </a:p>
        </p:txBody>
      </p:sp>
      <p:sp>
        <p:nvSpPr>
          <p:cNvPr id="12" name="time">
            <a:extLst xmlns:a="http://schemas.openxmlformats.org/drawingml/2006/main">
              <a:ext uri="{FF2B5EF4-FFF2-40B4-BE49-F238E27FC236}">
                <a16:creationId xmlns:a16="http://schemas.microsoft.com/office/drawing/2014/main" id="{A6E99B82-9105-4C09-BC1B-6C57F0DFBD6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3" name="number">
            <a:extLst xmlns:a="http://schemas.openxmlformats.org/drawingml/2006/main">
              <a:ext uri="{FF2B5EF4-FFF2-40B4-BE49-F238E27FC236}">
                <a16:creationId xmlns:a16="http://schemas.microsoft.com/office/drawing/2014/main" id="{17425850-2920-4D26-AA64-A985B26C0CA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19</a:t>
            </a:r>
          </a:p>
        </p:txBody>
      </p:sp>
    </p:spTree>
    <p:extLst>
      <p:ext uri="{BB962C8B-B14F-4D97-AF65-F5344CB8AC3E}">
        <p14:creationId xmlns:p14="http://schemas.microsoft.com/office/powerpoint/2010/main" val="742253647"/>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6BE49A02-B529-4B0A-B130-B1B47AE1CE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9B0DB79-DB5C-4F37-BB34-B7515ECB79B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0B4E1719-69BF-4C46-9796-3342458B661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85A5FD6D-ECDB-4DFE-811E-3F31BB229D6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fossil-formation sequence</a:t>
            </a:r>
          </a:p>
        </p:txBody>
      </p:sp>
      <p:sp>
        <p:nvSpPr>
          <p:cNvPr id="5" name="paper panel">
            <a:extLst xmlns:a="http://schemas.openxmlformats.org/drawingml/2006/main">
              <a:ext uri="{FF2B5EF4-FFF2-40B4-BE49-F238E27FC236}">
                <a16:creationId xmlns:a16="http://schemas.microsoft.com/office/drawing/2014/main" id="{B9D4B09E-1D58-4EF9-8F86-235739A2295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E7B5BCC-CCAF-4110-9DA1-808BC111BDCD}"/>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Rapid burial can reduce disturbance and place remains beneath sediment. Later movement or erosion may expose a fossil; Mary Anning used careful observation of real fossils as evidence about life long ago.</a:t>
            </a:r>
          </a:p>
        </p:txBody>
      </p:sp>
      <p:sp>
        <p:nvSpPr>
          <p:cNvPr id="7" name="time">
            <a:extLst xmlns:a="http://schemas.openxmlformats.org/drawingml/2006/main">
              <a:ext uri="{FF2B5EF4-FFF2-40B4-BE49-F238E27FC236}">
                <a16:creationId xmlns:a16="http://schemas.microsoft.com/office/drawing/2014/main" id="{E5526F81-D0FD-4F8A-896A-07111D66224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8" name="number">
            <a:extLst xmlns:a="http://schemas.openxmlformats.org/drawingml/2006/main">
              <a:ext uri="{FF2B5EF4-FFF2-40B4-BE49-F238E27FC236}">
                <a16:creationId xmlns:a16="http://schemas.microsoft.com/office/drawing/2014/main" id="{A3F037A9-E1CF-49EC-AFB8-20FFFB3321A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19</a:t>
            </a:r>
          </a:p>
        </p:txBody>
      </p:sp>
    </p:spTree>
    <p:extLst>
      <p:ext uri="{BB962C8B-B14F-4D97-AF65-F5344CB8AC3E}">
        <p14:creationId xmlns:p14="http://schemas.microsoft.com/office/powerpoint/2010/main" val="1524928362"/>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AC2F8A80-368F-4A5A-B82A-9EF288A2148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6D8E01E-CF53-473D-A37F-04909D2CAC2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66808191-8016-4FB5-9ED1-D2FEE4771E8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F3D640F2-69C7-4DAD-AB5B-3241050453B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fossil-formation sequence decision lab</a:t>
            </a:r>
          </a:p>
        </p:txBody>
      </p:sp>
      <p:sp>
        <p:nvSpPr>
          <p:cNvPr id="5" name="paper panel">
            <a:extLst xmlns:a="http://schemas.openxmlformats.org/drawingml/2006/main">
              <a:ext uri="{FF2B5EF4-FFF2-40B4-BE49-F238E27FC236}">
                <a16:creationId xmlns:a16="http://schemas.microsoft.com/office/drawing/2014/main" id="{F993593E-1388-45F0-9D12-C979FD119E4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759D859-CCDA-471A-84AB-FD0B62AAC8DA}"/>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7" name="content 1">
            <a:extLst xmlns:a="http://schemas.openxmlformats.org/drawingml/2006/main">
              <a:ext uri="{FF2B5EF4-FFF2-40B4-BE49-F238E27FC236}">
                <a16:creationId xmlns:a16="http://schemas.microsoft.com/office/drawing/2014/main" id="{208FD73F-E16E-400B-85F5-07D25EF935B5}"/>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Order five picture cards and match one prepared explanation to each stage.</a:t>
            </a:r>
          </a:p>
        </p:txBody>
      </p:sp>
      <p:sp>
        <p:nvSpPr>
          <p:cNvPr id="8" name="content 2">
            <a:extLst xmlns:a="http://schemas.openxmlformats.org/drawingml/2006/main">
              <a:ext uri="{FF2B5EF4-FFF2-40B4-BE49-F238E27FC236}">
                <a16:creationId xmlns:a16="http://schemas.microsoft.com/office/drawing/2014/main" id="{C54124D6-B189-48E7-B75B-3CEE21D8CCDE}"/>
              </a:ext>
            </a:extLst>
          </p:cNvPr>
          <p:cNvSpPr>
            <a:spLocks xmlns:a="http://schemas.openxmlformats.org/drawingml/2006/main" noGrp="1"/>
          </p:cNvSpPr>
          <p:nvPr/>
        </p:nvSpPr>
        <p:spPr>
          <a:xfrm xmlns:a="http://schemas.openxmlformats.org/drawingml/2006/main">
            <a:off x="800100" y="31051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9" name="content 3">
            <a:extLst xmlns:a="http://schemas.openxmlformats.org/drawingml/2006/main">
              <a:ext uri="{FF2B5EF4-FFF2-40B4-BE49-F238E27FC236}">
                <a16:creationId xmlns:a16="http://schemas.microsoft.com/office/drawing/2014/main" id="{8E7F2435-0FE9-403D-A9ED-823BCE623F80}"/>
              </a:ext>
            </a:extLst>
          </p:cNvPr>
          <p:cNvSpPr>
            <a:spLocks xmlns:a="http://schemas.openxmlformats.org/drawingml/2006/main" noGrp="1"/>
          </p:cNvSpPr>
          <p:nvPr/>
        </p:nvSpPr>
        <p:spPr>
          <a:xfrm xmlns:a="http://schemas.openxmlformats.org/drawingml/2006/main">
            <a:off x="800100" y="35814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Order and explain the stages using burial, sediment, change, preservation and exposure.</a:t>
            </a:r>
          </a:p>
        </p:txBody>
      </p:sp>
      <p:sp>
        <p:nvSpPr>
          <p:cNvPr id="10" name="content 4">
            <a:extLst xmlns:a="http://schemas.openxmlformats.org/drawingml/2006/main">
              <a:ext uri="{FF2B5EF4-FFF2-40B4-BE49-F238E27FC236}">
                <a16:creationId xmlns:a16="http://schemas.microsoft.com/office/drawing/2014/main" id="{F4FCBC2A-5AE8-4F15-9CE9-545DE57B2078}"/>
              </a:ext>
            </a:extLst>
          </p:cNvPr>
          <p:cNvSpPr>
            <a:spLocks xmlns:a="http://schemas.openxmlformats.org/drawingml/2006/main" noGrp="1"/>
          </p:cNvSpPr>
          <p:nvPr/>
        </p:nvSpPr>
        <p:spPr>
          <a:xfrm xmlns:a="http://schemas.openxmlformats.org/drawingml/2006/main">
            <a:off x="800100" y="43719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11" name="content 5">
            <a:extLst xmlns:a="http://schemas.openxmlformats.org/drawingml/2006/main">
              <a:ext uri="{FF2B5EF4-FFF2-40B4-BE49-F238E27FC236}">
                <a16:creationId xmlns:a16="http://schemas.microsoft.com/office/drawing/2014/main" id="{4AF53936-9B2D-4A05-A660-1505F6879F81}"/>
              </a:ext>
            </a:extLst>
          </p:cNvPr>
          <p:cNvSpPr>
            <a:spLocks xmlns:a="http://schemas.openxmlformats.org/drawingml/2006/main" noGrp="1"/>
          </p:cNvSpPr>
          <p:nvPr/>
        </p:nvSpPr>
        <p:spPr>
          <a:xfrm xmlns:a="http://schemas.openxmlformats.org/drawingml/2006/main">
            <a:off x="800100" y="48482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Explain why fossil formation is uncommon and evaluate where the simple sequence has limits.</a:t>
            </a:r>
          </a:p>
        </p:txBody>
      </p:sp>
      <p:sp>
        <p:nvSpPr>
          <p:cNvPr id="12" name="time">
            <a:extLst xmlns:a="http://schemas.openxmlformats.org/drawingml/2006/main">
              <a:ext uri="{FF2B5EF4-FFF2-40B4-BE49-F238E27FC236}">
                <a16:creationId xmlns:a16="http://schemas.microsoft.com/office/drawing/2014/main" id="{5071F52C-62E2-4778-9D7D-8E9B36E6BC9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3" name="number">
            <a:extLst xmlns:a="http://schemas.openxmlformats.org/drawingml/2006/main">
              <a:ext uri="{FF2B5EF4-FFF2-40B4-BE49-F238E27FC236}">
                <a16:creationId xmlns:a16="http://schemas.microsoft.com/office/drawing/2014/main" id="{1C1980B5-AC03-4D8A-B2EB-A58846631F4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19</a:t>
            </a:r>
          </a:p>
        </p:txBody>
      </p:sp>
    </p:spTree>
    <p:extLst>
      <p:ext uri="{BB962C8B-B14F-4D97-AF65-F5344CB8AC3E}">
        <p14:creationId xmlns:p14="http://schemas.microsoft.com/office/powerpoint/2010/main" val="849777032"/>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53F938DD-511F-4FFD-9756-E92870CA923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397A4FC-CDCE-487C-9C8E-F46AC88BC35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47E07008-F6DB-45D4-B2CD-F35A52F0F3C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6ADB4EB4-A20C-4807-98F2-59A55E8FF80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 fossil-formation sequence decision lab</a:t>
            </a:r>
          </a:p>
        </p:txBody>
      </p:sp>
      <p:sp>
        <p:nvSpPr>
          <p:cNvPr id="5" name="paper panel">
            <a:extLst xmlns:a="http://schemas.openxmlformats.org/drawingml/2006/main">
              <a:ext uri="{FF2B5EF4-FFF2-40B4-BE49-F238E27FC236}">
                <a16:creationId xmlns:a16="http://schemas.microsoft.com/office/drawing/2014/main" id="{00CCBEA2-51FD-429A-A286-D89BC4B6F99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1371BED-8BCD-4969-ADFE-F2250C4D45DC}"/>
              </a:ext>
            </a:extLst>
          </p:cNvPr>
          <p:cNvSpPr>
            <a:spLocks xmlns:a="http://schemas.openxmlformats.org/drawingml/2006/main" noGrp="1"/>
          </p:cNvSpPr>
          <p:nvPr/>
        </p:nvSpPr>
        <p:spPr>
          <a:xfrm xmlns:a="http://schemas.openxmlformats.org/drawingml/2006/main">
            <a:off x="800100" y="2171700"/>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a:t>
            </a:r>
          </a:p>
        </p:txBody>
      </p:sp>
      <p:sp>
        <p:nvSpPr>
          <p:cNvPr id="7" name="time">
            <a:extLst xmlns:a="http://schemas.openxmlformats.org/drawingml/2006/main">
              <a:ext uri="{FF2B5EF4-FFF2-40B4-BE49-F238E27FC236}">
                <a16:creationId xmlns:a16="http://schemas.microsoft.com/office/drawing/2014/main" id="{417C71ED-857B-4215-AD1E-6F1CE5FE950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8" name="number">
            <a:extLst xmlns:a="http://schemas.openxmlformats.org/drawingml/2006/main">
              <a:ext uri="{FF2B5EF4-FFF2-40B4-BE49-F238E27FC236}">
                <a16:creationId xmlns:a16="http://schemas.microsoft.com/office/drawing/2014/main" id="{05E5AB9F-EA59-43A4-B798-6670D6C6021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19</a:t>
            </a:r>
          </a:p>
        </p:txBody>
      </p:sp>
    </p:spTree>
    <p:extLst>
      <p:ext uri="{BB962C8B-B14F-4D97-AF65-F5344CB8AC3E}">
        <p14:creationId xmlns:p14="http://schemas.microsoft.com/office/powerpoint/2010/main" val="2109386794"/>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A28160EF-3E64-4121-A1DD-3651C0E6E3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A6B81B5-7A92-4A97-9AC8-614DF03B434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5A73DA9D-1549-416C-A848-76407F85A4B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CFF31119-212C-498C-9C5B-A1FB6F3DA87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 fossil-formation sequence</a:t>
            </a:r>
          </a:p>
        </p:txBody>
      </p:sp>
      <p:sp>
        <p:nvSpPr>
          <p:cNvPr id="5" name="paper panel">
            <a:extLst xmlns:a="http://schemas.openxmlformats.org/drawingml/2006/main">
              <a:ext uri="{FF2B5EF4-FFF2-40B4-BE49-F238E27FC236}">
                <a16:creationId xmlns:a16="http://schemas.microsoft.com/office/drawing/2014/main" id="{68534525-7389-4BD3-B592-5A08FEBAC54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6E6AFCA-60B8-4014-AF7B-5BE5E1C44747}"/>
              </a:ext>
            </a:extLst>
          </p:cNvPr>
          <p:cNvSpPr>
            <a:spLocks xmlns:a="http://schemas.openxmlformats.org/drawingml/2006/main" noGrp="1"/>
          </p:cNvSpPr>
          <p:nvPr/>
        </p:nvSpPr>
        <p:spPr>
          <a:xfrm xmlns:a="http://schemas.openxmlformats.org/drawingml/2006/main">
            <a:off x="800100" y="2171700"/>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Build a fossil-formation strip from the supplied cards. Add a short explanation beneath each stage, include ‘over a very long time’, and place one caution card showing that many remains never become fossils. Finish by identifying which stage is inferred from the model and which clue could be observed in a fossil or rock layer.</a:t>
            </a:r>
          </a:p>
        </p:txBody>
      </p:sp>
      <p:sp>
        <p:nvSpPr>
          <p:cNvPr id="7" name="content 1">
            <a:extLst xmlns:a="http://schemas.openxmlformats.org/drawingml/2006/main">
              <a:ext uri="{FF2B5EF4-FFF2-40B4-BE49-F238E27FC236}">
                <a16:creationId xmlns:a16="http://schemas.microsoft.com/office/drawing/2014/main" id="{704E0C7C-9FCA-4781-8D5B-1E238CFCB4ED}"/>
              </a:ext>
            </a:extLst>
          </p:cNvPr>
          <p:cNvSpPr>
            <a:spLocks xmlns:a="http://schemas.openxmlformats.org/drawingml/2006/main" noGrp="1"/>
          </p:cNvSpPr>
          <p:nvPr/>
        </p:nvSpPr>
        <p:spPr>
          <a:xfrm xmlns:a="http://schemas.openxmlformats.org/drawingml/2006/main">
            <a:off x="800100" y="39624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8" name="content 2">
            <a:extLst xmlns:a="http://schemas.openxmlformats.org/drawingml/2006/main">
              <a:ext uri="{FF2B5EF4-FFF2-40B4-BE49-F238E27FC236}">
                <a16:creationId xmlns:a16="http://schemas.microsoft.com/office/drawing/2014/main" id="{8FC8148F-79E3-4AEA-B1BA-63880F765F4C}"/>
              </a:ext>
            </a:extLst>
          </p:cNvPr>
          <p:cNvSpPr>
            <a:spLocks xmlns:a="http://schemas.openxmlformats.org/drawingml/2006/main" noGrp="1"/>
          </p:cNvSpPr>
          <p:nvPr/>
        </p:nvSpPr>
        <p:spPr>
          <a:xfrm xmlns:a="http://schemas.openxmlformats.org/drawingml/2006/main">
            <a:off x="800100" y="44386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Order five picture cards and match one prepared explanation to each stage.</a:t>
            </a:r>
          </a:p>
        </p:txBody>
      </p:sp>
      <p:sp>
        <p:nvSpPr>
          <p:cNvPr id="9" name="content 3">
            <a:extLst xmlns:a="http://schemas.openxmlformats.org/drawingml/2006/main">
              <a:ext uri="{FF2B5EF4-FFF2-40B4-BE49-F238E27FC236}">
                <a16:creationId xmlns:a16="http://schemas.microsoft.com/office/drawing/2014/main" id="{E3B2A86F-568B-4B2F-A8DA-FF13F9316D34}"/>
              </a:ext>
            </a:extLst>
          </p:cNvPr>
          <p:cNvSpPr>
            <a:spLocks xmlns:a="http://schemas.openxmlformats.org/drawingml/2006/main" noGrp="1"/>
          </p:cNvSpPr>
          <p:nvPr/>
        </p:nvSpPr>
        <p:spPr>
          <a:xfrm xmlns:a="http://schemas.openxmlformats.org/drawingml/2006/main">
            <a:off x="800100" y="4895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0" name="time">
            <a:extLst xmlns:a="http://schemas.openxmlformats.org/drawingml/2006/main">
              <a:ext uri="{FF2B5EF4-FFF2-40B4-BE49-F238E27FC236}">
                <a16:creationId xmlns:a16="http://schemas.microsoft.com/office/drawing/2014/main" id="{A9A70857-B294-4EB9-8422-A4F4010B445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1" name="number">
            <a:extLst xmlns:a="http://schemas.openxmlformats.org/drawingml/2006/main">
              <a:ext uri="{FF2B5EF4-FFF2-40B4-BE49-F238E27FC236}">
                <a16:creationId xmlns:a16="http://schemas.microsoft.com/office/drawing/2014/main" id="{0E586784-7C92-4CB7-8A3D-D377C2EFD12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19</a:t>
            </a:r>
          </a:p>
        </p:txBody>
      </p:sp>
    </p:spTree>
    <p:extLst>
      <p:ext uri="{BB962C8B-B14F-4D97-AF65-F5344CB8AC3E}">
        <p14:creationId xmlns:p14="http://schemas.microsoft.com/office/powerpoint/2010/main" val="248244099"/>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57E3A72B-23DD-436D-AD47-0E88231E76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EAB1BDE-43DC-4FA8-A0EF-B100F56D49A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7DE506BB-4107-40CD-9376-FA5112B144B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397FFC62-8EE2-4540-88B5-55526892367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 fossil-formation sequence</a:t>
            </a:r>
          </a:p>
        </p:txBody>
      </p:sp>
      <p:sp>
        <p:nvSpPr>
          <p:cNvPr id="5" name="paper panel">
            <a:extLst xmlns:a="http://schemas.openxmlformats.org/drawingml/2006/main">
              <a:ext uri="{FF2B5EF4-FFF2-40B4-BE49-F238E27FC236}">
                <a16:creationId xmlns:a16="http://schemas.microsoft.com/office/drawing/2014/main" id="{4B99CA52-43A9-4D16-8D83-FB57D9D0AA7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DAF4CEC-4350-44CA-82A1-457D01537EC5}"/>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Order and explain the stages using burial, sediment, change, preservation and exposure.</a:t>
            </a:r>
          </a:p>
        </p:txBody>
      </p:sp>
      <p:sp>
        <p:nvSpPr>
          <p:cNvPr id="7" name="content 1">
            <a:extLst xmlns:a="http://schemas.openxmlformats.org/drawingml/2006/main">
              <a:ext uri="{FF2B5EF4-FFF2-40B4-BE49-F238E27FC236}">
                <a16:creationId xmlns:a16="http://schemas.microsoft.com/office/drawing/2014/main" id="{15ACEBA7-0382-4ED0-9C2F-E0F7BA6BD114}"/>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8" name="content 2">
            <a:extLst xmlns:a="http://schemas.openxmlformats.org/drawingml/2006/main">
              <a:ext uri="{FF2B5EF4-FFF2-40B4-BE49-F238E27FC236}">
                <a16:creationId xmlns:a16="http://schemas.microsoft.com/office/drawing/2014/main" id="{291D57C1-AF6C-452B-8C82-67A3E7E7B998}"/>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Explain why fossil formation is uncommon and evaluate where the simple sequence has limits.</a:t>
            </a:r>
          </a:p>
        </p:txBody>
      </p:sp>
      <p:sp>
        <p:nvSpPr>
          <p:cNvPr id="9" name="content 3">
            <a:extLst xmlns:a="http://schemas.openxmlformats.org/drawingml/2006/main">
              <a:ext uri="{FF2B5EF4-FFF2-40B4-BE49-F238E27FC236}">
                <a16:creationId xmlns:a16="http://schemas.microsoft.com/office/drawing/2014/main" id="{9B13AB18-D954-4BDC-A39D-D844646089D0}"/>
              </a:ext>
            </a:extLst>
          </p:cNvPr>
          <p:cNvSpPr>
            <a:spLocks xmlns:a="http://schemas.openxmlformats.org/drawingml/2006/main" noGrp="1"/>
          </p:cNvSpPr>
          <p:nvPr/>
        </p:nvSpPr>
        <p:spPr>
          <a:xfrm xmlns:a="http://schemas.openxmlformats.org/drawingml/2006/main">
            <a:off x="800100" y="4229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Trace</a:t>
            </a:r>
          </a:p>
        </p:txBody>
      </p:sp>
      <p:sp>
        <p:nvSpPr>
          <p:cNvPr id="10" name="content 4">
            <a:extLst xmlns:a="http://schemas.openxmlformats.org/drawingml/2006/main">
              <a:ext uri="{FF2B5EF4-FFF2-40B4-BE49-F238E27FC236}">
                <a16:creationId xmlns:a16="http://schemas.microsoft.com/office/drawing/2014/main" id="{9D6F43CF-F130-44F5-94EE-B6ED992438EC}"/>
              </a:ext>
            </a:extLst>
          </p:cNvPr>
          <p:cNvSpPr>
            <a:spLocks xmlns:a="http://schemas.openxmlformats.org/drawingml/2006/main" noGrp="1"/>
          </p:cNvSpPr>
          <p:nvPr/>
        </p:nvSpPr>
        <p:spPr>
          <a:xfrm xmlns:a="http://schemas.openxmlformats.org/drawingml/2006/main">
            <a:off x="800100" y="4705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Rapid burial can reduce disturbance and place remains beneath sediment.</a:t>
            </a:r>
          </a:p>
        </p:txBody>
      </p:sp>
      <p:sp>
        <p:nvSpPr>
          <p:cNvPr id="11" name="content 5">
            <a:extLst xmlns:a="http://schemas.openxmlformats.org/drawingml/2006/main">
              <a:ext uri="{FF2B5EF4-FFF2-40B4-BE49-F238E27FC236}">
                <a16:creationId xmlns:a16="http://schemas.microsoft.com/office/drawing/2014/main" id="{77796E9D-977C-4A46-8081-8C2CF44DE52C}"/>
              </a:ext>
            </a:extLst>
          </p:cNvPr>
          <p:cNvSpPr>
            <a:spLocks xmlns:a="http://schemas.openxmlformats.org/drawingml/2006/main" noGrp="1"/>
          </p:cNvSpPr>
          <p:nvPr/>
        </p:nvSpPr>
        <p:spPr>
          <a:xfrm xmlns:a="http://schemas.openxmlformats.org/drawingml/2006/main">
            <a:off x="800100" y="51625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Demand</a:t>
            </a:r>
          </a:p>
        </p:txBody>
      </p:sp>
      <p:sp>
        <p:nvSpPr>
          <p:cNvPr id="12" name="time">
            <a:extLst xmlns:a="http://schemas.openxmlformats.org/drawingml/2006/main">
              <a:ext uri="{FF2B5EF4-FFF2-40B4-BE49-F238E27FC236}">
                <a16:creationId xmlns:a16="http://schemas.microsoft.com/office/drawing/2014/main" id="{C25C0599-4932-4931-B7F7-DA862ED15A8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3" name="number">
            <a:extLst xmlns:a="http://schemas.openxmlformats.org/drawingml/2006/main">
              <a:ext uri="{FF2B5EF4-FFF2-40B4-BE49-F238E27FC236}">
                <a16:creationId xmlns:a16="http://schemas.microsoft.com/office/drawing/2014/main" id="{07BCEA22-B04D-45DC-A4B4-081664BFA17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19</a:t>
            </a:r>
          </a:p>
        </p:txBody>
      </p:sp>
    </p:spTree>
    <p:extLst>
      <p:ext uri="{BB962C8B-B14F-4D97-AF65-F5344CB8AC3E}">
        <p14:creationId xmlns:p14="http://schemas.microsoft.com/office/powerpoint/2010/main" val="1130073439"/>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BBC64CF5-F87A-41CE-AA4F-05448ECD22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D805A84-921C-4651-8BB4-D8F49FD04D4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D38FA1A5-9853-4B0D-8DDF-6CB922707F1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715631BB-F23C-41BE-806C-41A5EFEB9CD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 fossil-formation sequence</a:t>
            </a:r>
          </a:p>
        </p:txBody>
      </p:sp>
      <p:sp>
        <p:nvSpPr>
          <p:cNvPr id="5" name="paper panel">
            <a:extLst xmlns:a="http://schemas.openxmlformats.org/drawingml/2006/main">
              <a:ext uri="{FF2B5EF4-FFF2-40B4-BE49-F238E27FC236}">
                <a16:creationId xmlns:a16="http://schemas.microsoft.com/office/drawing/2014/main" id="{73B4AA8D-F738-4CB4-91F0-F19E4FD47CD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990A94B-1FA9-481C-8092-B63214F0175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More layers can build and compact over a very long time as minerals and rock processes preserve evidence.</a:t>
            </a:r>
          </a:p>
        </p:txBody>
      </p:sp>
      <p:sp>
        <p:nvSpPr>
          <p:cNvPr id="7" name="content 1">
            <a:extLst xmlns:a="http://schemas.openxmlformats.org/drawingml/2006/main">
              <a:ext uri="{FF2B5EF4-FFF2-40B4-BE49-F238E27FC236}">
                <a16:creationId xmlns:a16="http://schemas.microsoft.com/office/drawing/2014/main" id="{62AF91B0-5A7A-4001-8342-FEA97DFB1B3E}"/>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Truth</a:t>
            </a:r>
          </a:p>
        </p:txBody>
      </p:sp>
      <p:sp>
        <p:nvSpPr>
          <p:cNvPr id="8" name="content 2">
            <a:extLst xmlns:a="http://schemas.openxmlformats.org/drawingml/2006/main">
              <a:ext uri="{FF2B5EF4-FFF2-40B4-BE49-F238E27FC236}">
                <a16:creationId xmlns:a16="http://schemas.microsoft.com/office/drawing/2014/main" id="{579C977A-8873-4B17-829A-430900D8A4EA}"/>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Later movement or erosion may expose a fossil; Mary Anning used careful observation of real fossils as evidence about life long ago.</a:t>
            </a:r>
          </a:p>
        </p:txBody>
      </p:sp>
      <p:sp>
        <p:nvSpPr>
          <p:cNvPr id="9" name="content 3">
            <a:extLst xmlns:a="http://schemas.openxmlformats.org/drawingml/2006/main">
              <a:ext uri="{FF2B5EF4-FFF2-40B4-BE49-F238E27FC236}">
                <a16:creationId xmlns:a16="http://schemas.microsoft.com/office/drawing/2014/main" id="{0E99E48E-7BDB-4A04-A859-8A90074BC9E0}"/>
              </a:ext>
            </a:extLst>
          </p:cNvPr>
          <p:cNvSpPr>
            <a:spLocks xmlns:a="http://schemas.openxmlformats.org/drawingml/2006/main" noGrp="1"/>
          </p:cNvSpPr>
          <p:nvPr/>
        </p:nvSpPr>
        <p:spPr>
          <a:xfrm xmlns:a="http://schemas.openxmlformats.org/drawingml/2006/main">
            <a:off x="800100" y="4229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Exit route remains available: pause, use the print pack, reduce visual density or direct an adult. The named learning demand remains available.</a:t>
            </a:r>
          </a:p>
        </p:txBody>
      </p:sp>
      <p:sp>
        <p:nvSpPr>
          <p:cNvPr id="10" name="time">
            <a:extLst xmlns:a="http://schemas.openxmlformats.org/drawingml/2006/main">
              <a:ext uri="{FF2B5EF4-FFF2-40B4-BE49-F238E27FC236}">
                <a16:creationId xmlns:a16="http://schemas.microsoft.com/office/drawing/2014/main" id="{2BE3C232-F53D-4343-BA92-7879BA22FC5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1" name="number">
            <a:extLst xmlns:a="http://schemas.openxmlformats.org/drawingml/2006/main">
              <a:ext uri="{FF2B5EF4-FFF2-40B4-BE49-F238E27FC236}">
                <a16:creationId xmlns:a16="http://schemas.microsoft.com/office/drawing/2014/main" id="{C8336AA1-E03C-44B4-A964-115BEAAD4C0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19</a:t>
            </a:r>
          </a:p>
        </p:txBody>
      </p:sp>
    </p:spTree>
    <p:extLst>
      <p:ext uri="{BB962C8B-B14F-4D97-AF65-F5344CB8AC3E}">
        <p14:creationId xmlns:p14="http://schemas.microsoft.com/office/powerpoint/2010/main" val="103682455"/>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024F3478-B00F-40C2-A6B3-07FCBD9699E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2D9E495-4A52-45CC-82BE-77DAABA21E2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AA3125FD-F65C-4D42-8FBD-022D72551DA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87D28DDD-4D4F-47A3-B610-82DF60F37FB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Audience receives; Influence changes one next action</a:t>
            </a:r>
          </a:p>
        </p:txBody>
      </p:sp>
      <p:sp>
        <p:nvSpPr>
          <p:cNvPr id="5" name="paper panel">
            <a:extLst xmlns:a="http://schemas.openxmlformats.org/drawingml/2006/main">
              <a:ext uri="{FF2B5EF4-FFF2-40B4-BE49-F238E27FC236}">
                <a16:creationId xmlns:a16="http://schemas.microsoft.com/office/drawing/2014/main" id="{05338C64-250D-44BB-8BBF-9645C390BE7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0C1E95C-3363-401E-8AAC-72BED9D31B9B}"/>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Point to one transition in the sequence and explain what changes. The adult repeats the stage without making it certain for every fossil. Confirm, correct or add the caution card.</a:t>
            </a:r>
          </a:p>
        </p:txBody>
      </p:sp>
      <p:sp>
        <p:nvSpPr>
          <p:cNvPr id="7" name="content 1">
            <a:extLst xmlns:a="http://schemas.openxmlformats.org/drawingml/2006/main">
              <a:ext uri="{FF2B5EF4-FFF2-40B4-BE49-F238E27FC236}">
                <a16:creationId xmlns:a16="http://schemas.microsoft.com/office/drawing/2014/main" id="{14ACD6D5-5299-4E00-B063-0B448FFCC4EF}"/>
              </a:ext>
            </a:extLst>
          </p:cNvPr>
          <p:cNvSpPr>
            <a:spLocks xmlns:a="http://schemas.openxmlformats.org/drawingml/2006/main" noGrp="1"/>
          </p:cNvSpPr>
          <p:nvPr/>
        </p:nvSpPr>
        <p:spPr>
          <a:xfrm xmlns:a="http://schemas.openxmlformats.org/drawingml/2006/main">
            <a:off x="800100" y="3295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Final check: no result, quote, date, event or pupil wording has been created to make the map look complete. The HTML stores no learner response.</a:t>
            </a:r>
          </a:p>
        </p:txBody>
      </p:sp>
      <p:sp>
        <p:nvSpPr>
          <p:cNvPr id="8" name="time">
            <a:extLst xmlns:a="http://schemas.openxmlformats.org/drawingml/2006/main">
              <a:ext uri="{FF2B5EF4-FFF2-40B4-BE49-F238E27FC236}">
                <a16:creationId xmlns:a16="http://schemas.microsoft.com/office/drawing/2014/main" id="{AE0A434E-423B-4D03-91B5-92E5B980942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9" name="number">
            <a:extLst xmlns:a="http://schemas.openxmlformats.org/drawingml/2006/main">
              <a:ext uri="{FF2B5EF4-FFF2-40B4-BE49-F238E27FC236}">
                <a16:creationId xmlns:a16="http://schemas.microsoft.com/office/drawing/2014/main" id="{B94A13EA-0E60-4BE4-A0BC-B87CB9A59D3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19</a:t>
            </a:r>
          </a:p>
        </p:txBody>
      </p:sp>
    </p:spTree>
    <p:extLst>
      <p:ext uri="{BB962C8B-B14F-4D97-AF65-F5344CB8AC3E}">
        <p14:creationId xmlns:p14="http://schemas.microsoft.com/office/powerpoint/2010/main" val="4400869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2026-09-08T09:10:09.6570000Z</dcterms:created>
  <dcterms:modified xsi:type="dcterms:W3CDTF">2026-09-08T09:10:09.6570000Z</dcterms:modified>
</coreProperties>
</file>