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8b725f68234dc7" /><Relationship Type="http://schemas.openxmlformats.org/officeDocument/2006/relationships/extended-properties" Target="/docProps/app.xml" Id="R756b5fbc14a24a1c" /><Relationship Type="http://schemas.openxmlformats.org/officeDocument/2006/relationships/officeDocument" Target="/ppt/presentation.xml" Id="R862aaa11d1b146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90ed4c60514590"/>
  </p:sldMasterIdLst>
  <p:notesMasterIdLst>
    <p:notesMasterId xmlns:r="http://schemas.openxmlformats.org/officeDocument/2006/relationships" r:id="Ra6ce9eab0b2a4cfe"/>
  </p:notesMasterIdLst>
  <p:sldIdLst>
    <p:sldId xmlns:r="http://schemas.openxmlformats.org/officeDocument/2006/relationships" id="256" r:id="R7281fa4b988c4d40"/>
    <p:sldId xmlns:r="http://schemas.openxmlformats.org/officeDocument/2006/relationships" id="257" r:id="R55a6fd76c01e486f"/>
    <p:sldId xmlns:r="http://schemas.openxmlformats.org/officeDocument/2006/relationships" id="258" r:id="Rf60c0b51d50c4635"/>
    <p:sldId xmlns:r="http://schemas.openxmlformats.org/officeDocument/2006/relationships" id="259" r:id="R0d1cc3a21dd74b11"/>
    <p:sldId xmlns:r="http://schemas.openxmlformats.org/officeDocument/2006/relationships" id="260" r:id="Ra9099ed269c94b4d"/>
    <p:sldId xmlns:r="http://schemas.openxmlformats.org/officeDocument/2006/relationships" id="261" r:id="Rc52eaec9f6a2438c"/>
    <p:sldId xmlns:r="http://schemas.openxmlformats.org/officeDocument/2006/relationships" id="262" r:id="R503d9914912b4198"/>
    <p:sldId xmlns:r="http://schemas.openxmlformats.org/officeDocument/2006/relationships" id="263" r:id="Rd157a05b84044ced"/>
    <p:sldId xmlns:r="http://schemas.openxmlformats.org/officeDocument/2006/relationships" id="264" r:id="Rc1c6aa8d52284a7c"/>
    <p:sldId xmlns:r="http://schemas.openxmlformats.org/officeDocument/2006/relationships" id="265" r:id="Rd6d8352149ee42c9"/>
    <p:sldId xmlns:r="http://schemas.openxmlformats.org/officeDocument/2006/relationships" id="266" r:id="Refbc4e62f7d44d80"/>
    <p:sldId xmlns:r="http://schemas.openxmlformats.org/officeDocument/2006/relationships" id="267" r:id="Re22abd6d48c3459a"/>
    <p:sldId xmlns:r="http://schemas.openxmlformats.org/officeDocument/2006/relationships" id="268" r:id="R35fd2ccb0d5944c3"/>
    <p:sldId xmlns:r="http://schemas.openxmlformats.org/officeDocument/2006/relationships" id="269" r:id="R763d3851fe8843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c51ff6ba7c436e" /><Relationship Type="http://schemas.openxmlformats.org/officeDocument/2006/relationships/slideMaster" Target="/ppt/slideMasters/slideMaster1.xml" Id="Re290ed4c60514590" /><Relationship Type="http://schemas.openxmlformats.org/officeDocument/2006/relationships/notesMaster" Target="/ppt/notesMasters/notesMaster1.xml" Id="Ra6ce9eab0b2a4cfe" /><Relationship Type="http://schemas.openxmlformats.org/officeDocument/2006/relationships/presProps" Target="/ppt/presProps.xml" Id="R4c899a343f8c4687" /><Relationship Type="http://schemas.openxmlformats.org/officeDocument/2006/relationships/tableStyles" Target="/ppt/tableStyles.xml" Id="Ra49e83888db94b5b" /><Relationship Type="http://schemas.openxmlformats.org/officeDocument/2006/relationships/slide" Target="/ppt/slides/slide1.xml" Id="R7281fa4b988c4d40" /><Relationship Type="http://schemas.openxmlformats.org/officeDocument/2006/relationships/slide" Target="/ppt/slides/slide2.xml" Id="R55a6fd76c01e486f" /><Relationship Type="http://schemas.openxmlformats.org/officeDocument/2006/relationships/slide" Target="/ppt/slides/slide3.xml" Id="Rf60c0b51d50c4635" /><Relationship Type="http://schemas.openxmlformats.org/officeDocument/2006/relationships/slide" Target="/ppt/slides/slide4.xml" Id="R0d1cc3a21dd74b11" /><Relationship Type="http://schemas.openxmlformats.org/officeDocument/2006/relationships/slide" Target="/ppt/slides/slide5.xml" Id="Ra9099ed269c94b4d" /><Relationship Type="http://schemas.openxmlformats.org/officeDocument/2006/relationships/slide" Target="/ppt/slides/slide6.xml" Id="Rc52eaec9f6a2438c" /><Relationship Type="http://schemas.openxmlformats.org/officeDocument/2006/relationships/slide" Target="/ppt/slides/slide7.xml" Id="R503d9914912b4198" /><Relationship Type="http://schemas.openxmlformats.org/officeDocument/2006/relationships/slide" Target="/ppt/slides/slide8.xml" Id="Rd157a05b84044ced" /><Relationship Type="http://schemas.openxmlformats.org/officeDocument/2006/relationships/slide" Target="/ppt/slides/slide9.xml" Id="Rc1c6aa8d52284a7c" /><Relationship Type="http://schemas.openxmlformats.org/officeDocument/2006/relationships/slide" Target="/ppt/slides/slide10.xml" Id="Rd6d8352149ee42c9" /><Relationship Type="http://schemas.openxmlformats.org/officeDocument/2006/relationships/slide" Target="/ppt/slides/slide11.xml" Id="Refbc4e62f7d44d80" /><Relationship Type="http://schemas.openxmlformats.org/officeDocument/2006/relationships/slide" Target="/ppt/slides/slide12.xml" Id="Re22abd6d48c3459a" /><Relationship Type="http://schemas.openxmlformats.org/officeDocument/2006/relationships/slide" Target="/ppt/slides/slide13.xml" Id="R35fd2ccb0d5944c3" /><Relationship Type="http://schemas.openxmlformats.org/officeDocument/2006/relationships/slide" Target="/ppt/slides/slide14.xml" Id="R763d3851fe8843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1955a32fe142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2a262aa1fa4870" /><Relationship Type="http://schemas.openxmlformats.org/officeDocument/2006/relationships/notesMaster" Target="/ppt/notesMasters/notesMaster1.xml" Id="Rbec7e081b2fc44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65bb647faa4b39" /><Relationship Type="http://schemas.openxmlformats.org/officeDocument/2006/relationships/notesMaster" Target="/ppt/notesMasters/notesMaster1.xml" Id="Rab3b7b78a5514b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cb8d1a457942c0" /><Relationship Type="http://schemas.openxmlformats.org/officeDocument/2006/relationships/notesMaster" Target="/ppt/notesMasters/notesMaster1.xml" Id="R25d3d6f8bb0a42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124bcaabc44255" /><Relationship Type="http://schemas.openxmlformats.org/officeDocument/2006/relationships/notesMaster" Target="/ppt/notesMasters/notesMaster1.xml" Id="R9e286b023e004a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67d497a9d7498a" /><Relationship Type="http://schemas.openxmlformats.org/officeDocument/2006/relationships/notesMaster" Target="/ppt/notesMasters/notesMaster1.xml" Id="Rd4bc1dfd571a44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eb20e6c1e24a78" /><Relationship Type="http://schemas.openxmlformats.org/officeDocument/2006/relationships/notesMaster" Target="/ppt/notesMasters/notesMaster1.xml" Id="R2240be43d4f64c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42a84d1211457c" /><Relationship Type="http://schemas.openxmlformats.org/officeDocument/2006/relationships/notesMaster" Target="/ppt/notesMasters/notesMaster1.xml" Id="Rc2d2f7f4908641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886be0ac9d43c3" /><Relationship Type="http://schemas.openxmlformats.org/officeDocument/2006/relationships/notesMaster" Target="/ppt/notesMasters/notesMaster1.xml" Id="R54e14faeaafd41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077236c3ab46d4" /><Relationship Type="http://schemas.openxmlformats.org/officeDocument/2006/relationships/notesMaster" Target="/ppt/notesMasters/notesMaster1.xml" Id="Rb692fe227f3a4e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f4d56283c54469" /><Relationship Type="http://schemas.openxmlformats.org/officeDocument/2006/relationships/notesMaster" Target="/ppt/notesMasters/notesMaster1.xml" Id="R260d3a3913184a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cacb3678874cf5" /><Relationship Type="http://schemas.openxmlformats.org/officeDocument/2006/relationships/notesMaster" Target="/ppt/notesMasters/notesMaster1.xml" Id="R8d5d172f30c348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76d0e663b074235" /><Relationship Type="http://schemas.openxmlformats.org/officeDocument/2006/relationships/notesMaster" Target="/ppt/notesMasters/notesMaster1.xml" Id="Rce7eda63edf646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08dce5d2ba4cca" /><Relationship Type="http://schemas.openxmlformats.org/officeDocument/2006/relationships/notesMaster" Target="/ppt/notesMasters/notesMaster1.xml" Id="Rfe91393428dc4c6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2f719445b94b92" /><Relationship Type="http://schemas.openxmlformats.org/officeDocument/2006/relationships/notesMaster" Target="/ppt/notesMasters/notesMaster1.xml" Id="Rb59c44ff63434f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State explicitly that animation steps through constructed records; no real plant grows ten days during this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 soil surface. 2 cm. 3 track the same plant over time and preserve repeats.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7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aloud: “I record B1, date, cm and 3 cm starting height. Later 11 cm does not mean 11 cm growth: 11 minus 3 is 8 cm.” Demonstrate one real baseline if ready, or use the labelled worked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ruler begins at the soil surface beside a seedling. The main shoot tip reaches 6 cm; measure from soil surface to shoot tip, without including pot height or forcing the plant straight.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“Day 3 to day 7 is four days, not three. The graph gives that interval more width. At day 10 the means are 6 and 11 cm.” Mean is an optional summary, explained as total divided by three; core pupils read individual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Axes start at zero. Horizontal spacing is proportional to elapsed days 0, 3, 7 and 10; height is in cm. Each plotted value is the exact mean of three supplied constructed readings; A is 3,4,5,6 and B is 3,5,8,11.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 do time. Think aloud: “No one measured plant X, so I cannot write zero. I mark missing. Our supplied six-plant table happens to be complete.”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Three example record states distinguish a valid measurement (6 cm), not measured (missing) and actual zero. A missing value must remain explicitly missing and should not be drawn as zero on a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W1: B1 goes from 3 to 11 cm; increase 8 cm. Have a pupil choose the date before the other reads the value. Step the model only after predicting.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W2: retain all three; natural variation is useful. At day 10 B plants are green with 5–6 leaves; A plants have 2–3 leaves and A3 slightly droops. Heights alone do not prove overall health or a universal best water amount.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Describe the pattern and its limits; keep every reading.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Correct second option. Use a difference bar or counted steps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11 cm</a:t>
            </a:r>
          </a:p>
          <a:p xmlns:a="http://schemas.openxmlformats.org/drawingml/2006/main">
            <a:r>
              <a:t>That is the final height, not the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8 cm</a:t>
            </a:r>
          </a:p>
          <a:p xmlns:a="http://schemas.openxmlformats.org/drawingml/2006/main">
            <a:r>
              <a:t>Correct. 11 minus 3 equals 8 cm.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0 cm because one other plant was not measured</a:t>
            </a:r>
          </a:p>
          <a:p xmlns:a="http://schemas.openxmlformats.org/drawingml/2006/main">
            <a:r>
              <a:t>B1 has both measurements; a separate missing value does not erase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ONE route. All routes analyse the supplied dates within this lesson. Optional setup means one baseline today plus an explicitly future schedule. Standard graph values B1: (0,3), (3,5), (7,8), (10,11). Do not require mean calculation for core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routes analyse the supplied dates within this lesson. Optional setup means one baseline today plus an explicitly future schedule. Standard graph values B1: (0,3), (3,5), (7,8), (10,11). Do not require mean calculation for core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independent time. Ask for a reason, not just a correct word. All routes analyse the supplied dates within this lesson. Optional setup means one baseline today plus an explicitly future schedule. Standard graph values B1: (0,3), (3,5), (7,8), (10,11). Do not require mean calculation for core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Listen to a selected pupil revision and visibly adopt a scientifically accurate contribution. Offer private, written or partner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Use change from baseline, keep repeats and leaf evidence, and show missing records as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Shares review time. Name how a pupil contribution changed a label, method or conclusion. Do not rank pupils.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Use change from baseline, keep repeats and leaf evidence, and show missing records as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 brief individual evidence. Use the answer key and re-teach the specified misconception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Department for Education: science programmes of study</a:t>
            </a:r>
          </a:p>
          <a:p xmlns:a="http://schemas.openxmlformats.org/drawingml/2006/main">
            <a:r>
              <a:t>https://www.gov.uk/government/publications/national-curriculum-in-england-science-programmes-of-study/national-curriculum-in-england-science-programmes-of-study</a:t>
            </a:r>
          </a:p>
          <a:p xmlns:a="http://schemas.openxmlformats.org/drawingml/2006/main">
            <a:r>
              <a:t>Checked 8 September 2026. Year 3 plants, rocks, light and forces underpin the SOW. Accessible teaching models are adapted to the named lesson objective.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Science and Plants for Schools: plant biology animations</a:t>
            </a:r>
          </a:p>
          <a:p xmlns:a="http://schemas.openxmlformats.org/drawingml/2006/main">
            <a:r>
              <a:t>https://www.saps.org.uk/teaching-resources/resources/1299/biology-animations-transport-of-water-and-sugar-respiration-and-photosynthesis-and-cell-growth-in-plants/</a:t>
            </a:r>
          </a:p>
          <a:p xmlns:a="http://schemas.openxmlformats.org/drawingml/2006/main">
            <a:r>
              <a:t>Checked 8 September 2026. Scientific background for our original simplified diagrams: photosynthesis, growth and transport. No external animation is required or embedded.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Royal Horticultural Society: sowing seeds indoors</a:t>
            </a:r>
          </a:p>
          <a:p xmlns:a="http://schemas.openxmlformats.org/drawingml/2006/main">
            <a:r>
              <a:t>https://www.rhs.org.uk/propagation/how-to-sow-seeds-indoors</a:t>
            </a:r>
          </a:p>
          <a:p xmlns:a="http://schemas.openxmlformats.org/drawingml/2006/main">
            <a:r>
              <a:t>Checked 8 September 2026. Germination uses stored reserves and requires appropriate water, oxygen and temperature; seedling care differs from starting germination.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20df7532e41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5744ee4ff7494e" /><Relationship Type="http://schemas.openxmlformats.org/officeDocument/2006/relationships/slideLayout" Target="/ppt/slideLayouts/slideLayout1.xml" Id="R2fe8278749e74d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e8278749e74d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5e28cf7bd48fc" /><Relationship Type="http://schemas.openxmlformats.org/officeDocument/2006/relationships/notesSlide" Target="/ppt/notesSlides/notesSlide1.xml" Id="Ra9d2e9f79a5a44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9d6fe99a648e5" /><Relationship Type="http://schemas.openxmlformats.org/officeDocument/2006/relationships/notesSlide" Target="/ppt/notesSlides/notesSlide2.xml" Id="R3d1fd71f4f3c47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9d6284b7b435d" /><Relationship Type="http://schemas.openxmlformats.org/officeDocument/2006/relationships/notesSlide" Target="/ppt/notesSlides/notesSlide3.xml" Id="Re2b530ac120440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db4a3b9e7460e" /><Relationship Type="http://schemas.openxmlformats.org/officeDocument/2006/relationships/notesSlide" Target="/ppt/notesSlides/notesSlide4.xml" Id="R0dac726e959a4a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e74db431f4fc4" /><Relationship Type="http://schemas.openxmlformats.org/officeDocument/2006/relationships/notesSlide" Target="/ppt/notesSlides/notesSlide5.xml" Id="R7a860a9b3e9a48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6329dab874064" /><Relationship Type="http://schemas.openxmlformats.org/officeDocument/2006/relationships/notesSlide" Target="/ppt/notesSlides/notesSlide6.xml" Id="R1f7261d86cb542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9fdd3092841a8" /><Relationship Type="http://schemas.openxmlformats.org/officeDocument/2006/relationships/notesSlide" Target="/ppt/notesSlides/notesSlide7.xml" Id="R4643a84a331442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72d9a04bf4d35" /><Relationship Type="http://schemas.openxmlformats.org/officeDocument/2006/relationships/notesSlide" Target="/ppt/notesSlides/notesSlide8.xml" Id="Rab5f2db4f4a04c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c09b636fc4adc" /><Relationship Type="http://schemas.openxmlformats.org/officeDocument/2006/relationships/notesSlide" Target="/ppt/notesSlides/notesSlide9.xml" Id="R1fb58c2321e841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6c5f1b2e84145" /><Relationship Type="http://schemas.openxmlformats.org/officeDocument/2006/relationships/notesSlide" Target="/ppt/notesSlides/notesSlide10.xml" Id="R0cfea009feef498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9406518884722" /><Relationship Type="http://schemas.openxmlformats.org/officeDocument/2006/relationships/notesSlide" Target="/ppt/notesSlides/notesSlide11.xml" Id="Ra0a66a9525ae46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279449f814f50" /><Relationship Type="http://schemas.openxmlformats.org/officeDocument/2006/relationships/notesSlide" Target="/ppt/notesSlides/notesSlide12.xml" Id="Rbb96464651604b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9dc4b04914e95" /><Relationship Type="http://schemas.openxmlformats.org/officeDocument/2006/relationships/notesSlide" Target="/ppt/notesSlides/notesSlide13.xml" Id="Rb225dfad365845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f9e34ef2a4664" /><Relationship Type="http://schemas.openxmlformats.org/officeDocument/2006/relationships/notesSlide" Target="/ppt/notesSlides/notesSlide14.xml" Id="R70838405fd5040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647D023E-CBD7-485E-B730-080366A9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64039C0-944E-4A19-8536-19A24D94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77800B8-A4B7-40BA-B231-9E8A0CEE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734E2DF2-10A5-42BC-A95C-FC21497B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243A203A-24FD-4901-AFD6-CE15DC3B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CED6A970-40F2-4E9A-9999-0A8A7BA2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A record should survive a change of observer">
            <a:extLst xmlns:a="http://schemas.openxmlformats.org/drawingml/2006/main">
              <a:ext uri="{FF2B5EF4-FFF2-40B4-BE49-F238E27FC236}">
                <a16:creationId xmlns:a16="http://schemas.microsoft.com/office/drawing/2014/main" id="{B1DFF29D-C336-4F15-9DA5-18102A6C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record should survive a change of observer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62A590B-A59A-46BE-A99C-DEFA0A02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D3F98828-D555-4183-8F21-E01D1266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10" name="1 / 14">
            <a:extLst xmlns:a="http://schemas.openxmlformats.org/drawingml/2006/main">
              <a:ext uri="{FF2B5EF4-FFF2-40B4-BE49-F238E27FC236}">
                <a16:creationId xmlns:a16="http://schemas.microsoft.com/office/drawing/2014/main" id="{4594386F-E532-41A2-8054-04BAB540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14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E8D87BF7-35F0-498C-8D21-2EE58F2B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6EAA0C62-75CC-443B-8283-950BF53D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FD90C86D-28C1-4D0A-8449-9BDB0924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Set up a consistent growth record and use dated repeated measure">
            <a:extLst xmlns:a="http://schemas.openxmlformats.org/drawingml/2006/main">
              <a:ext uri="{FF2B5EF4-FFF2-40B4-BE49-F238E27FC236}">
                <a16:creationId xmlns:a16="http://schemas.microsoft.com/office/drawing/2014/main" id="{579A173A-31F0-4406-96BB-A2D1162D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Set up a consistent growth record and use dated repeated measurements 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describe change over time.</a:t>
            </a:r>
          </a:p>
        </p:txBody>
      </p:sp>
      <p:sp>
        <p:nvSpPr>
          <p:cNvPr id="15" name="Keep IDs, dates and units.">
            <a:extLst xmlns:a="http://schemas.openxmlformats.org/drawingml/2006/main">
              <a:ext uri="{FF2B5EF4-FFF2-40B4-BE49-F238E27FC236}">
                <a16:creationId xmlns:a16="http://schemas.microsoft.com/office/drawing/2014/main" id="{BCD06C12-7341-4023-AC9C-4E58C906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IDs, dates and units.</a:t>
            </a:r>
          </a:p>
        </p:txBody>
      </p:sp>
      <p:sp>
        <p:nvSpPr>
          <p:cNvPr id="16" name="Use supplied evidence to see ten days.">
            <a:extLst xmlns:a="http://schemas.openxmlformats.org/drawingml/2006/main">
              <a:ext uri="{FF2B5EF4-FFF2-40B4-BE49-F238E27FC236}">
                <a16:creationId xmlns:a16="http://schemas.microsoft.com/office/drawing/2014/main" id="{383ECA58-9CB5-4A54-BE52-1EC04579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66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supplied evidence to see ten days.</a:t>
            </a:r>
          </a:p>
        </p:txBody>
      </p:sp>
    </p:spTree>
    <p:extLst>
      <p:ext uri="{BB962C8B-B14F-4D97-AF65-F5344CB8AC3E}">
        <p14:creationId xmlns:p14="http://schemas.microsoft.com/office/powerpoint/2010/main" val="13640159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E800443-74B5-4A2F-BA3E-60615325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375A587-4E03-41A2-9657-E3953930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7E5ECA6C-DD10-4439-B053-B70E04BB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D35A76FC-0BF8-44A3-9B17-19DAB0E4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C6CA02A8-964D-4299-9149-25B5D2E1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14D0152F-D385-4B8A-86AC-87E763AD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trieve the measurement rule">
            <a:extLst xmlns:a="http://schemas.openxmlformats.org/drawingml/2006/main">
              <a:ext uri="{FF2B5EF4-FFF2-40B4-BE49-F238E27FC236}">
                <a16:creationId xmlns:a16="http://schemas.microsoft.com/office/drawing/2014/main" id="{068899F3-4455-4DC5-A959-5843F508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Retrieve the measurement rule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918C783-E3CA-47CF-A14F-CF9D4762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4E5FBB0C-D82B-409E-927E-637EA631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10" name="2 / 14">
            <a:extLst xmlns:a="http://schemas.openxmlformats.org/drawingml/2006/main">
              <a:ext uri="{FF2B5EF4-FFF2-40B4-BE49-F238E27FC236}">
                <a16:creationId xmlns:a16="http://schemas.microsoft.com/office/drawing/2014/main" id="{B4E7263B-ACDF-4949-8B86-B03F25A0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14</a:t>
            </a:r>
          </a:p>
        </p:txBody>
      </p:sp>
      <p:sp>
        <p:nvSpPr>
          <p:cNvPr id="11" name="1. Where does the height ruler start?">
            <a:extLst xmlns:a="http://schemas.openxmlformats.org/drawingml/2006/main">
              <a:ext uri="{FF2B5EF4-FFF2-40B4-BE49-F238E27FC236}">
                <a16:creationId xmlns:a16="http://schemas.microsoft.com/office/drawing/2014/main" id="{349F6136-C2D9-43AA-9E73-625A8D30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1. Where does the height ruler start?</a:t>
            </a:r>
          </a:p>
        </p:txBody>
      </p:sp>
      <p:sp>
        <p:nvSpPr>
          <p:cNvPr id="12" name="2. What unit is used?">
            <a:extLst xmlns:a="http://schemas.openxmlformats.org/drawingml/2006/main">
              <a:ext uri="{FF2B5EF4-FFF2-40B4-BE49-F238E27FC236}">
                <a16:creationId xmlns:a16="http://schemas.microsoft.com/office/drawing/2014/main" id="{C414CDD9-95FA-4E3D-A83A-91FD1EC3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2. What unit is used?</a:t>
            </a:r>
          </a:p>
        </p:txBody>
      </p:sp>
      <p:sp>
        <p:nvSpPr>
          <p:cNvPr id="13" name="3. Why keep plant IDs?">
            <a:extLst xmlns:a="http://schemas.openxmlformats.org/drawingml/2006/main">
              <a:ext uri="{FF2B5EF4-FFF2-40B4-BE49-F238E27FC236}">
                <a16:creationId xmlns:a16="http://schemas.microsoft.com/office/drawing/2014/main" id="{6D35016A-5490-4673-A54D-76B818E1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3. Why keep plant IDs?</a:t>
            </a:r>
          </a:p>
        </p:txBody>
      </p:sp>
    </p:spTree>
    <p:extLst>
      <p:ext uri="{BB962C8B-B14F-4D97-AF65-F5344CB8AC3E}">
        <p14:creationId xmlns:p14="http://schemas.microsoft.com/office/powerpoint/2010/main" val="509437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urface">
            <a:extLst xmlns:a="http://schemas.openxmlformats.org/drawingml/2006/main">
              <a:ext uri="{FF2B5EF4-FFF2-40B4-BE49-F238E27FC236}">
                <a16:creationId xmlns:a16="http://schemas.microsoft.com/office/drawing/2014/main" id="{06B5E318-45B0-42FE-9470-4070ECD0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5A650E9-1640-4AB4-81EB-8F16B99B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667FEBC-D1FA-46B0-ACB9-05572C7A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211DBF8F-73AF-40DB-BEEE-115601CB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EA6C83FA-43DC-42D2-890B-93C8F418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7 min">
            <a:extLst xmlns:a="http://schemas.openxmlformats.org/drawingml/2006/main">
              <a:ext uri="{FF2B5EF4-FFF2-40B4-BE49-F238E27FC236}">
                <a16:creationId xmlns:a16="http://schemas.microsoft.com/office/drawing/2014/main" id="{80AC1445-C128-4588-BC4F-F780C772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7 min</a:t>
            </a:r>
          </a:p>
        </p:txBody>
      </p:sp>
      <p:sp>
        <p:nvSpPr>
          <p:cNvPr id="7" name="I set up the record before comparing">
            <a:extLst xmlns:a="http://schemas.openxmlformats.org/drawingml/2006/main">
              <a:ext uri="{FF2B5EF4-FFF2-40B4-BE49-F238E27FC236}">
                <a16:creationId xmlns:a16="http://schemas.microsoft.com/office/drawing/2014/main" id="{2A6F4660-FA7C-485D-A897-4B8FB1A1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set up the record before comparing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068E6232-F745-4BDB-958E-2893DD67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142A11C2-EEC0-45BF-8BF0-99308D96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10" name="3 / 14">
            <a:extLst xmlns:a="http://schemas.openxmlformats.org/drawingml/2006/main">
              <a:ext uri="{FF2B5EF4-FFF2-40B4-BE49-F238E27FC236}">
                <a16:creationId xmlns:a16="http://schemas.microsoft.com/office/drawing/2014/main" id="{741266C2-6CF4-4179-9324-D6F33E74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14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E639F062-FF2E-4076-84F6-7248388B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255" y="4647945"/>
            <a:ext cx="2389414" cy="8213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CAB0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724FD1F-DE4B-43B2-A6FC-CD13B003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975962" y="3079892"/>
            <a:ext cx="953" cy="15680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4669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E53B261-C380-4B8D-B910-62D73E5B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935" y="3565242"/>
            <a:ext cx="784027" cy="410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15E9914-E385-4D71-B999-4F7227A2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297" y="3975922"/>
            <a:ext cx="746692" cy="37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DE2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AB002D8-AC07-4AF2-A45A-FAB99ED2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81" y="2781215"/>
            <a:ext cx="634688" cy="22400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C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6" name="Diagram label: 0 cm: soil level">
            <a:extLst xmlns:a="http://schemas.openxmlformats.org/drawingml/2006/main">
              <a:ext uri="{FF2B5EF4-FFF2-40B4-BE49-F238E27FC236}">
                <a16:creationId xmlns:a16="http://schemas.microsoft.com/office/drawing/2014/main" id="{5DEFD875-4EE7-457B-8CF5-EC3A3FEB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046" y="4423937"/>
            <a:ext cx="1568053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 cm: soil level</a:t>
            </a:r>
          </a:p>
        </p:txBody>
      </p:sp>
      <p:sp>
        <p:nvSpPr>
          <p:cNvPr id="17" name="Diagram label: 6 cm: shoot tip">
            <a:extLst xmlns:a="http://schemas.openxmlformats.org/drawingml/2006/main">
              <a:ext uri="{FF2B5EF4-FFF2-40B4-BE49-F238E27FC236}">
                <a16:creationId xmlns:a16="http://schemas.microsoft.com/office/drawing/2014/main" id="{4AE3B8B6-4432-489E-BC5E-F44300EFC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046" y="2818550"/>
            <a:ext cx="1717392" cy="448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6 cm: shoot tip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62BA0AD-3895-4A73-B1CB-1508324E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133335" y="4647945"/>
            <a:ext cx="11573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39D0C16-261D-429D-ACE4-B2B7F43D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87966" y="3079892"/>
            <a:ext cx="220274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20" name="Diagram label: Measure the same part, from the same starting level.">
            <a:extLst xmlns:a="http://schemas.openxmlformats.org/drawingml/2006/main">
              <a:ext uri="{FF2B5EF4-FFF2-40B4-BE49-F238E27FC236}">
                <a16:creationId xmlns:a16="http://schemas.microsoft.com/office/drawing/2014/main" id="{85BAF196-EA52-4FA0-87DA-7353A367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109192"/>
            <a:ext cx="6832231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Measure the same part, from the same starting level.</a:t>
            </a:r>
          </a:p>
        </p:txBody>
      </p:sp>
      <p:sp>
        <p:nvSpPr>
          <p:cNvPr id="21" name="Diagram label: Do not include the pot or straighten the shoot by force.">
            <a:extLst xmlns:a="http://schemas.openxmlformats.org/drawingml/2006/main">
              <a:ext uri="{FF2B5EF4-FFF2-40B4-BE49-F238E27FC236}">
                <a16:creationId xmlns:a16="http://schemas.microsoft.com/office/drawing/2014/main" id="{FDECA143-8288-4467-BEBE-DB03FA8C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886" y="5618644"/>
            <a:ext cx="6720228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 not include the pot or straighten the shoot by force.</a:t>
            </a:r>
          </a:p>
        </p:txBody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7D6C97B-F240-46A9-86AD-D6D9FCB3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4647945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1F925F66-CDC2-40B4-AE2C-8A9D1A0B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4386603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3805150-6F44-4992-90BF-59CE2664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4125260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DD0817D-3B14-449D-8899-1ECB0F45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3863918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1F5B2EC-865F-42F1-88C1-D16EEB32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3602576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B15E3419-461E-4F8E-A740-91E6035B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3341234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B9F32E2-E0E7-4719-9388-14529D88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06681" y="3079892"/>
            <a:ext cx="18667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29" name="Label the plant.  Record date and baseline.  Use the same height">
            <a:extLst xmlns:a="http://schemas.openxmlformats.org/drawingml/2006/main">
              <a:ext uri="{FF2B5EF4-FFF2-40B4-BE49-F238E27FC236}">
                <a16:creationId xmlns:a16="http://schemas.microsoft.com/office/drawing/2014/main" id="{79ADCD77-CA62-4524-867D-1A94A19E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Label the plant. Record date and baseline. Use the same height rule.</a:t>
            </a:r>
          </a:p>
        </p:txBody>
      </p:sp>
    </p:spTree>
    <p:extLst>
      <p:ext uri="{BB962C8B-B14F-4D97-AF65-F5344CB8AC3E}">
        <p14:creationId xmlns:p14="http://schemas.microsoft.com/office/powerpoint/2010/main" val="3890899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urface">
            <a:extLst xmlns:a="http://schemas.openxmlformats.org/drawingml/2006/main">
              <a:ext uri="{FF2B5EF4-FFF2-40B4-BE49-F238E27FC236}">
                <a16:creationId xmlns:a16="http://schemas.microsoft.com/office/drawing/2014/main" id="{C3F68CC1-B2D0-4C72-916D-00A56407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002E550-D2B6-43F5-9DC9-28290F72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CE06D15-475B-4CF5-9155-7C4553F2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C9703D12-3F1E-438F-9F33-650338F4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4D9028E-A10F-4BB4-B83C-B0DCBA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read time before height">
            <a:extLst xmlns:a="http://schemas.openxmlformats.org/drawingml/2006/main">
              <a:ext uri="{FF2B5EF4-FFF2-40B4-BE49-F238E27FC236}">
                <a16:creationId xmlns:a16="http://schemas.microsoft.com/office/drawing/2014/main" id="{C6ED860C-8241-4662-8CF5-8A5DB49B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read time before height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20843BF-28FD-4084-B50C-481AB272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9FE52C8F-7C72-442B-9955-8BFDE793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9" name="4 / 14">
            <a:extLst xmlns:a="http://schemas.openxmlformats.org/drawingml/2006/main">
              <a:ext uri="{FF2B5EF4-FFF2-40B4-BE49-F238E27FC236}">
                <a16:creationId xmlns:a16="http://schemas.microsoft.com/office/drawing/2014/main" id="{37D6104A-6FE0-4FBD-8A2A-F712DA52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14</a:t>
            </a:r>
          </a:p>
        </p:txBody>
      </p:sp>
      <p:sp>
        <p:nvSpPr>
          <p:cNvPr id="10" name="Diagram label: Constructed group mean heights">
            <a:extLst xmlns:a="http://schemas.openxmlformats.org/drawingml/2006/main">
              <a:ext uri="{FF2B5EF4-FFF2-40B4-BE49-F238E27FC236}">
                <a16:creationId xmlns:a16="http://schemas.microsoft.com/office/drawing/2014/main" id="{2809BFE8-0A1A-4D7B-83FF-2246E785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034523"/>
            <a:ext cx="6794897" cy="373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0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group mean heights</a:t>
            </a:r>
          </a:p>
        </p:txBody>
      </p:sp>
      <p:sp>
        <p:nvSpPr>
          <p:cNvPr id="11" name="Diagram label: Height (cm)">
            <a:extLst xmlns:a="http://schemas.openxmlformats.org/drawingml/2006/main">
              <a:ext uri="{FF2B5EF4-FFF2-40B4-BE49-F238E27FC236}">
                <a16:creationId xmlns:a16="http://schemas.microsoft.com/office/drawing/2014/main" id="{A8063013-93FE-4CD9-8996-BD7CA2E0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430270"/>
            <a:ext cx="2165407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Height (cm)</a:t>
            </a:r>
          </a:p>
        </p:txBody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E6DB263-1CB9-4885-9755-C9185BFE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07909" y="5058625"/>
            <a:ext cx="578686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DFDDF83-99D2-4646-96C2-5411E72C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407909" y="2743880"/>
            <a:ext cx="953" cy="231474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401">
            <a:solidFill>
              <a:srgbClr val="1F2937"/>
            </a:solidFill>
          </a:ln>
        </p:spPr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0700C557-1359-41CA-B6EC-6080453A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0574" y="5058625"/>
            <a:ext cx="58241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D6DEE4"/>
            </a:solidFill>
          </a:ln>
        </p:spPr>
      </p:sp>
      <p:sp>
        <p:nvSpPr>
          <p:cNvPr id="15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6DD33226-F79A-459C-A90B-07EC71EE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4909287"/>
            <a:ext cx="410681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EE22434-ADC5-4F23-827D-A0D499BA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0574" y="4311933"/>
            <a:ext cx="58241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D6DEE4"/>
            </a:solidFill>
          </a:ln>
        </p:spPr>
      </p:sp>
      <p:sp>
        <p:nvSpPr>
          <p:cNvPr id="17" name="Diagram label: 4">
            <a:extLst xmlns:a="http://schemas.openxmlformats.org/drawingml/2006/main">
              <a:ext uri="{FF2B5EF4-FFF2-40B4-BE49-F238E27FC236}">
                <a16:creationId xmlns:a16="http://schemas.microsoft.com/office/drawing/2014/main" id="{5D65D58D-54E9-468B-A6C1-A5161BA9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4162595"/>
            <a:ext cx="410681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0D41515-E8FC-4E0A-BA14-78CF5C57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0574" y="3565242"/>
            <a:ext cx="58241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D6DEE4"/>
            </a:solidFill>
          </a:ln>
        </p:spPr>
      </p:sp>
      <p:sp>
        <p:nvSpPr>
          <p:cNvPr id="19" name="Diagram label: 8">
            <a:extLst xmlns:a="http://schemas.openxmlformats.org/drawingml/2006/main">
              <a:ext uri="{FF2B5EF4-FFF2-40B4-BE49-F238E27FC236}">
                <a16:creationId xmlns:a16="http://schemas.microsoft.com/office/drawing/2014/main" id="{391A830A-2AFC-4B01-993E-DA2C2A2C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3415903"/>
            <a:ext cx="410681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8</a:t>
            </a:r>
          </a:p>
        </p:txBody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84700E68-D912-487C-A5DF-D7B3DF54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70574" y="2818550"/>
            <a:ext cx="5824197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D6DEE4"/>
            </a:solidFill>
          </a:ln>
        </p:spPr>
      </p:sp>
      <p:sp>
        <p:nvSpPr>
          <p:cNvPr id="21" name="Diagram label: 12">
            <a:extLst xmlns:a="http://schemas.openxmlformats.org/drawingml/2006/main">
              <a:ext uri="{FF2B5EF4-FFF2-40B4-BE49-F238E27FC236}">
                <a16:creationId xmlns:a16="http://schemas.microsoft.com/office/drawing/2014/main" id="{658B6D92-50EC-4ED2-A3BD-F168A9C5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2669211"/>
            <a:ext cx="410681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A74F204-886D-44F3-97B0-B24CFB89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57247" y="5058625"/>
            <a:ext cx="953" cy="74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1F2937"/>
            </a:solidFill>
          </a:ln>
        </p:spPr>
      </p:sp>
      <p:sp>
        <p:nvSpPr>
          <p:cNvPr id="23" name="Diagram label: 0">
            <a:extLst xmlns:a="http://schemas.openxmlformats.org/drawingml/2006/main">
              <a:ext uri="{FF2B5EF4-FFF2-40B4-BE49-F238E27FC236}">
                <a16:creationId xmlns:a16="http://schemas.microsoft.com/office/drawing/2014/main" id="{74126608-4EF5-4A19-8451-69783DF1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3901" y="5170629"/>
            <a:ext cx="821361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2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3B0A879-A942-4D2D-8D85-A2FB94DB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25300" y="5058625"/>
            <a:ext cx="953" cy="74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1F2937"/>
            </a:solidFill>
          </a:ln>
        </p:spPr>
      </p:sp>
      <p:sp>
        <p:nvSpPr>
          <p:cNvPr id="25" name="Diagram label: 3">
            <a:extLst xmlns:a="http://schemas.openxmlformats.org/drawingml/2006/main">
              <a:ext uri="{FF2B5EF4-FFF2-40B4-BE49-F238E27FC236}">
                <a16:creationId xmlns:a16="http://schemas.microsoft.com/office/drawing/2014/main" id="{F8B4170A-A4AD-4731-969D-BEA3F968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1954" y="5170629"/>
            <a:ext cx="821361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6B7F5E7-C405-4D2C-99F8-55C12BF0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16038" y="5058625"/>
            <a:ext cx="953" cy="74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1F2937"/>
            </a:solidFill>
          </a:ln>
        </p:spPr>
      </p:sp>
      <p:sp>
        <p:nvSpPr>
          <p:cNvPr id="27" name="Diagram label: 7">
            <a:extLst xmlns:a="http://schemas.openxmlformats.org/drawingml/2006/main">
              <a:ext uri="{FF2B5EF4-FFF2-40B4-BE49-F238E27FC236}">
                <a16:creationId xmlns:a16="http://schemas.microsoft.com/office/drawing/2014/main" id="{167D3F4C-A4AA-4750-B5A9-5509D7DA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692" y="5170629"/>
            <a:ext cx="821361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7</a:t>
            </a:r>
          </a:p>
        </p:txBody>
      </p:sp>
      <p:sp>
        <p:nvSpPr>
          <p:cNvPr id="2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5373E0F3-D059-4D86-B593-16BA705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84091" y="5058625"/>
            <a:ext cx="953" cy="746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934">
            <a:solidFill>
              <a:srgbClr val="1F2937"/>
            </a:solidFill>
          </a:ln>
        </p:spPr>
      </p:sp>
      <p:sp>
        <p:nvSpPr>
          <p:cNvPr id="29" name="Diagram label: 10">
            <a:extLst xmlns:a="http://schemas.openxmlformats.org/drawingml/2006/main">
              <a:ext uri="{FF2B5EF4-FFF2-40B4-BE49-F238E27FC236}">
                <a16:creationId xmlns:a16="http://schemas.microsoft.com/office/drawing/2014/main" id="{266A3885-3FBA-4433-BAE8-B9A734BB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745" y="5170629"/>
            <a:ext cx="821361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30" name="Diagram label: Days since 3 May">
            <a:extLst xmlns:a="http://schemas.openxmlformats.org/drawingml/2006/main">
              <a:ext uri="{FF2B5EF4-FFF2-40B4-BE49-F238E27FC236}">
                <a16:creationId xmlns:a16="http://schemas.microsoft.com/office/drawing/2014/main" id="{886B7B8A-83C3-4ECF-A7A2-37ADDA7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6643" y="5618644"/>
            <a:ext cx="2352080" cy="298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2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Days since 3 May</a:t>
            </a:r>
          </a:p>
        </p:txBody>
      </p:sp>
      <p:sp>
        <p:nvSpPr>
          <p:cNvPr id="3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B3ECC97-8B90-4069-8FDA-3BED9987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446" y="4453805"/>
            <a:ext cx="89603" cy="89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7467">
            <a:solidFill>
              <a:srgbClr val="4E7A9B"/>
            </a:solidFill>
          </a:ln>
        </p:spPr>
      </p:sp>
      <p:sp>
        <p:nvSpPr>
          <p:cNvPr id="3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9970C61-39A1-49E4-9E87-0077957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57247" y="4311933"/>
            <a:ext cx="1568053" cy="1866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3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25E6EB1-95D7-4472-809F-3C20EE62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499" y="4267132"/>
            <a:ext cx="89603" cy="89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7467">
            <a:solidFill>
              <a:srgbClr val="4E7A9B"/>
            </a:solidFill>
          </a:ln>
        </p:spPr>
      </p:sp>
      <p:sp>
        <p:nvSpPr>
          <p:cNvPr id="3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BAFC0BE-FBDD-480C-A12C-F936E56A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25300" y="4125260"/>
            <a:ext cx="2090738" cy="1866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35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EB3D9DC-AC32-4A53-B8BB-4DA24B65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236" y="4080459"/>
            <a:ext cx="89603" cy="89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7467">
            <a:solidFill>
              <a:srgbClr val="4E7A9B"/>
            </a:solidFill>
          </a:ln>
        </p:spPr>
      </p:sp>
      <p:sp>
        <p:nvSpPr>
          <p:cNvPr id="3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14CD8E5-2FB9-440F-8CCD-5C19141A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16038" y="3938588"/>
            <a:ext cx="1568053" cy="18667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4E7A9B"/>
            </a:solidFill>
          </a:ln>
        </p:spPr>
      </p:sp>
      <p:sp>
        <p:nvSpPr>
          <p:cNvPr id="3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4F8B5A0-827A-486D-A240-11A1193A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290" y="3893786"/>
            <a:ext cx="89603" cy="89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7467">
            <a:solidFill>
              <a:srgbClr val="4E7A9B"/>
            </a:solidFill>
          </a:ln>
        </p:spPr>
      </p:sp>
      <p:sp>
        <p:nvSpPr>
          <p:cNvPr id="3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4FE1398-FD1C-4A74-846E-416B440A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446" y="4453805"/>
            <a:ext cx="89603" cy="89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7467">
            <a:solidFill>
              <a:srgbClr val="C9803B"/>
            </a:solidFill>
          </a:ln>
        </p:spPr>
      </p:sp>
      <p:sp>
        <p:nvSpPr>
          <p:cNvPr id="3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C8CCE2A1-0857-4DC3-BD8A-9FC18B9F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557247" y="4125260"/>
            <a:ext cx="1568053" cy="3733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C9803B"/>
            </a:solidFill>
          </a:ln>
        </p:spPr>
      </p:sp>
      <p:sp>
        <p:nvSpPr>
          <p:cNvPr id="4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8F7420EC-5A13-4228-B719-FC7BBCA5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499" y="4080459"/>
            <a:ext cx="89603" cy="89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7467">
            <a:solidFill>
              <a:srgbClr val="C9803B"/>
            </a:solidFill>
          </a:ln>
        </p:spPr>
      </p:sp>
      <p:sp>
        <p:nvSpPr>
          <p:cNvPr id="4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CB0EBE6-41DC-4CE2-8C56-B454619CB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25300" y="3565242"/>
            <a:ext cx="2090738" cy="5600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C9803B"/>
            </a:solidFill>
          </a:ln>
        </p:spPr>
      </p:sp>
      <p:sp>
        <p:nvSpPr>
          <p:cNvPr id="4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E1236F8-7DEA-474D-9374-4A228817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236" y="3520440"/>
            <a:ext cx="89603" cy="89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7467">
            <a:solidFill>
              <a:srgbClr val="C9803B"/>
            </a:solidFill>
          </a:ln>
        </p:spPr>
      </p:sp>
      <p:sp>
        <p:nvSpPr>
          <p:cNvPr id="43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E9D610B7-358B-49CB-B3D4-4E68258A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216038" y="3005223"/>
            <a:ext cx="1568053" cy="5600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868">
            <a:solidFill>
              <a:srgbClr val="C9803B"/>
            </a:solidFill>
          </a:ln>
        </p:spPr>
      </p:sp>
      <p:sp>
        <p:nvSpPr>
          <p:cNvPr id="4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22EAD16-5637-4F4C-ADDD-2F99D0A2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290" y="2960421"/>
            <a:ext cx="89603" cy="896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7467">
            <a:solidFill>
              <a:srgbClr val="C9803B"/>
            </a:solidFill>
          </a:ln>
        </p:spPr>
      </p:sp>
      <p:sp>
        <p:nvSpPr>
          <p:cNvPr id="45" name="Diagram label: A mean">
            <a:extLst xmlns:a="http://schemas.openxmlformats.org/drawingml/2006/main">
              <a:ext uri="{FF2B5EF4-FFF2-40B4-BE49-F238E27FC236}">
                <a16:creationId xmlns:a16="http://schemas.microsoft.com/office/drawing/2014/main" id="{AFEB2584-C57D-4EBD-9C1E-B17391B3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715" y="3453238"/>
            <a:ext cx="1642722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A mean</a:t>
            </a:r>
          </a:p>
        </p:txBody>
      </p:sp>
      <p:sp>
        <p:nvSpPr>
          <p:cNvPr id="46" name="Diagram label: B mean">
            <a:extLst xmlns:a="http://schemas.openxmlformats.org/drawingml/2006/main">
              <a:ext uri="{FF2B5EF4-FFF2-40B4-BE49-F238E27FC236}">
                <a16:creationId xmlns:a16="http://schemas.microsoft.com/office/drawing/2014/main" id="{38F9490E-846B-4E25-AC99-747D7E44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4715" y="2631877"/>
            <a:ext cx="1642722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 mean</a:t>
            </a:r>
          </a:p>
        </p:txBody>
      </p:sp>
      <p:sp>
        <p:nvSpPr>
          <p:cNvPr id="47" name="Read the day first.  Compare values at the same day.  The interv">
            <a:extLst xmlns:a="http://schemas.openxmlformats.org/drawingml/2006/main">
              <a:ext uri="{FF2B5EF4-FFF2-40B4-BE49-F238E27FC236}">
                <a16:creationId xmlns:a16="http://schemas.microsoft.com/office/drawing/2014/main" id="{EA87773D-4445-4DC0-95A7-FE13C961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the day first. Compare values at the same day. The intervals are not all equal.</a:t>
            </a:r>
          </a:p>
        </p:txBody>
      </p:sp>
    </p:spTree>
    <p:extLst>
      <p:ext uri="{BB962C8B-B14F-4D97-AF65-F5344CB8AC3E}">
        <p14:creationId xmlns:p14="http://schemas.microsoft.com/office/powerpoint/2010/main" val="803287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92CA3D86-A4F8-41D8-8E5C-35EEB6D1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45F0972B-B8DA-42EE-94FB-D77188D4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DBD292E-DD77-457C-B722-AEC0B4E9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765BAC8-3EFC-4714-9409-D73B7B0E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92964217-442A-4102-AAE2-BB367643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preserve a missing observation">
            <a:extLst xmlns:a="http://schemas.openxmlformats.org/drawingml/2006/main">
              <a:ext uri="{FF2B5EF4-FFF2-40B4-BE49-F238E27FC236}">
                <a16:creationId xmlns:a16="http://schemas.microsoft.com/office/drawing/2014/main" id="{240FF32C-1680-472A-994E-54A4816E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preserve a missing observation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09BD58D-3AB0-428F-927A-1754BDFD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335572E7-E691-4148-82F6-C056BDA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9" name="5 / 14">
            <a:extLst xmlns:a="http://schemas.openxmlformats.org/drawingml/2006/main">
              <a:ext uri="{FF2B5EF4-FFF2-40B4-BE49-F238E27FC236}">
                <a16:creationId xmlns:a16="http://schemas.microsoft.com/office/drawing/2014/main" id="{6BD8ECD5-49AD-427C-80D8-E7E738A3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14</a:t>
            </a:r>
          </a:p>
        </p:txBody>
      </p:sp>
      <p:sp>
        <p:nvSpPr>
          <p:cNvPr id="1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D622FF6-BD37-4C96-ADD4-79108E0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2594542"/>
            <a:ext cx="2090738" cy="2090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0E9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1" name="Diagram label: Measured">
            <a:extLst xmlns:a="http://schemas.openxmlformats.org/drawingml/2006/main">
              <a:ext uri="{FF2B5EF4-FFF2-40B4-BE49-F238E27FC236}">
                <a16:creationId xmlns:a16="http://schemas.microsoft.com/office/drawing/2014/main" id="{8A014BC6-7B60-4597-BCFF-CD56B10F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2818550"/>
            <a:ext cx="1717392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Measured</a:t>
            </a:r>
          </a:p>
        </p:txBody>
      </p:sp>
      <p:sp>
        <p:nvSpPr>
          <p:cNvPr id="12" name="Diagram label: 6 cm">
            <a:extLst xmlns:a="http://schemas.openxmlformats.org/drawingml/2006/main">
              <a:ext uri="{FF2B5EF4-FFF2-40B4-BE49-F238E27FC236}">
                <a16:creationId xmlns:a16="http://schemas.microsoft.com/office/drawing/2014/main" id="{87239370-213B-467E-B8F8-596907E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559" y="3453238"/>
            <a:ext cx="1642722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3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23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6 cm</a:t>
            </a:r>
          </a:p>
        </p:txBody>
      </p:sp>
      <p:sp>
        <p:nvSpPr>
          <p:cNvPr id="13" name="Diagram label: A valid height">
            <a:extLst xmlns:a="http://schemas.openxmlformats.org/drawingml/2006/main">
              <a:ext uri="{FF2B5EF4-FFF2-40B4-BE49-F238E27FC236}">
                <a16:creationId xmlns:a16="http://schemas.microsoft.com/office/drawing/2014/main" id="{078291D4-A0EC-4321-BDF2-535A92FC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890" y="4162595"/>
            <a:ext cx="1792061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valid height</a:t>
            </a:r>
          </a:p>
        </p:txBody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2892264B-FCDA-4DAB-9190-F8353A87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631" y="2594542"/>
            <a:ext cx="2090738" cy="2090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C"/>
          </a:solidFill>
          <a:ln xmlns:a="http://schemas.openxmlformats.org/drawingml/2006/main" w="22401">
            <a:solidFill>
              <a:srgbClr val="C9803B"/>
            </a:solidFill>
          </a:ln>
        </p:spPr>
      </p:sp>
      <p:sp>
        <p:nvSpPr>
          <p:cNvPr id="15" name="Diagram label: Not measured">
            <a:extLst xmlns:a="http://schemas.openxmlformats.org/drawingml/2006/main">
              <a:ext uri="{FF2B5EF4-FFF2-40B4-BE49-F238E27FC236}">
                <a16:creationId xmlns:a16="http://schemas.microsoft.com/office/drawing/2014/main" id="{840974E5-56D0-423D-AA4B-0661DA88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2818550"/>
            <a:ext cx="1754726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64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 measured</a:t>
            </a:r>
          </a:p>
        </p:txBody>
      </p:sp>
      <p:sp>
        <p:nvSpPr>
          <p:cNvPr id="16" name="Diagram label: Missing">
            <a:extLst xmlns:a="http://schemas.openxmlformats.org/drawingml/2006/main">
              <a:ext uri="{FF2B5EF4-FFF2-40B4-BE49-F238E27FC236}">
                <a16:creationId xmlns:a16="http://schemas.microsoft.com/office/drawing/2014/main" id="{ECA96BBE-CA49-41EE-851F-C873197C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3977" y="3453238"/>
            <a:ext cx="1344046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99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99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Missing</a:t>
            </a:r>
          </a:p>
        </p:txBody>
      </p:sp>
      <p:sp>
        <p:nvSpPr>
          <p:cNvPr id="17" name="Diagram label: Leave a gap;&#10;record the reason.">
            <a:extLst xmlns:a="http://schemas.openxmlformats.org/drawingml/2006/main">
              <a:ext uri="{FF2B5EF4-FFF2-40B4-BE49-F238E27FC236}">
                <a16:creationId xmlns:a16="http://schemas.microsoft.com/office/drawing/2014/main" id="{C685E357-B8FA-4000-A71C-BB48BDCF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7304" y="4087926"/>
            <a:ext cx="1754726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Leave a gap;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record the reason.</a:t>
            </a:r>
          </a:p>
        </p:txBody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EBE9AFA-C01F-4161-91C7-AEB9F7F3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711" y="2594542"/>
            <a:ext cx="2090738" cy="20907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7"/>
          </a:solidFill>
          <a:ln xmlns:a="http://schemas.openxmlformats.org/drawingml/2006/main" w="22401">
            <a:solidFill>
              <a:srgbClr val="4E7A9B"/>
            </a:solidFill>
          </a:ln>
        </p:spPr>
      </p:sp>
      <p:sp>
        <p:nvSpPr>
          <p:cNvPr id="19" name="Diagram label: Zero">
            <a:extLst xmlns:a="http://schemas.openxmlformats.org/drawingml/2006/main">
              <a:ext uri="{FF2B5EF4-FFF2-40B4-BE49-F238E27FC236}">
                <a16:creationId xmlns:a16="http://schemas.microsoft.com/office/drawing/2014/main" id="{1A151AFD-3D36-4754-A398-28688535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384" y="2818550"/>
            <a:ext cx="1680057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Zero</a:t>
            </a:r>
          </a:p>
        </p:txBody>
      </p:sp>
      <p:sp>
        <p:nvSpPr>
          <p:cNvPr id="20" name="Diagram label: 0 cm">
            <a:extLst xmlns:a="http://schemas.openxmlformats.org/drawingml/2006/main">
              <a:ext uri="{FF2B5EF4-FFF2-40B4-BE49-F238E27FC236}">
                <a16:creationId xmlns:a16="http://schemas.microsoft.com/office/drawing/2014/main" id="{764CF83F-C4DA-44D0-AB77-04C24C9B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388" y="3453238"/>
            <a:ext cx="1605388" cy="5226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34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234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 cm</a:t>
            </a:r>
          </a:p>
        </p:txBody>
      </p:sp>
      <p:sp>
        <p:nvSpPr>
          <p:cNvPr id="21" name="Diagram label: A number, not&#10;a missing mark.">
            <a:extLst xmlns:a="http://schemas.openxmlformats.org/drawingml/2006/main">
              <a:ext uri="{FF2B5EF4-FFF2-40B4-BE49-F238E27FC236}">
                <a16:creationId xmlns:a16="http://schemas.microsoft.com/office/drawing/2014/main" id="{C717464A-EDC7-40D6-93D3-252217AA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384" y="4087926"/>
            <a:ext cx="1717392" cy="5973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number, not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missing mark.</a:t>
            </a:r>
          </a:p>
        </p:txBody>
      </p:sp>
      <p:sp>
        <p:nvSpPr>
          <p:cNvPr id="22" name="Diagram label: These are record examples, separate from&#10;the complete growth table.">
            <a:extLst xmlns:a="http://schemas.openxmlformats.org/drawingml/2006/main">
              <a:ext uri="{FF2B5EF4-FFF2-40B4-BE49-F238E27FC236}">
                <a16:creationId xmlns:a16="http://schemas.microsoft.com/office/drawing/2014/main" id="{68E37DAE-0AB3-44D2-811E-0561DD1C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52" y="5133295"/>
            <a:ext cx="6757562" cy="672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These are record examples, separate from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complete growth table.</a:t>
            </a:r>
          </a:p>
        </p:txBody>
      </p:sp>
      <p:sp>
        <p:nvSpPr>
          <p:cNvPr id="23" name="Not measured is not zero.  Leave a gap and give the reason.">
            <a:extLst xmlns:a="http://schemas.openxmlformats.org/drawingml/2006/main">
              <a:ext uri="{FF2B5EF4-FFF2-40B4-BE49-F238E27FC236}">
                <a16:creationId xmlns:a16="http://schemas.microsoft.com/office/drawing/2014/main" id="{A3D15BDE-ABDC-4C23-9E24-7681A0AE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 measured is not zero. Leave a gap and give the reason.</a:t>
            </a:r>
          </a:p>
        </p:txBody>
      </p:sp>
    </p:spTree>
    <p:extLst>
      <p:ext uri="{BB962C8B-B14F-4D97-AF65-F5344CB8AC3E}">
        <p14:creationId xmlns:p14="http://schemas.microsoft.com/office/powerpoint/2010/main" val="1059458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19E05CE9-6247-4C1C-BCE6-DE08B16E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A84CBCF-0D99-40B9-A9E9-7DB37F7F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533C5717-2630-4D3A-BC46-914D6FC7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06051281-2B1E-44F1-A867-6B2FF463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F566A211-87B0-41A3-A756-F44A7BE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73CD79B9-79D3-43BD-9658-D9C31C83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The timeline evidence desk">
            <a:extLst xmlns:a="http://schemas.openxmlformats.org/drawingml/2006/main">
              <a:ext uri="{FF2B5EF4-FFF2-40B4-BE49-F238E27FC236}">
                <a16:creationId xmlns:a16="http://schemas.microsoft.com/office/drawing/2014/main" id="{FBC9863B-369A-4D30-B678-C484E2E4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timeline evidence desk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D844053A-73C7-48F5-A770-3881B20D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DC823140-00BD-4076-8190-CCA60C96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10" name="6 / 14">
            <a:extLst xmlns:a="http://schemas.openxmlformats.org/drawingml/2006/main">
              <a:ext uri="{FF2B5EF4-FFF2-40B4-BE49-F238E27FC236}">
                <a16:creationId xmlns:a16="http://schemas.microsoft.com/office/drawing/2014/main" id="{06907734-DED7-43BD-A861-B0D6EE9E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14</a:t>
            </a:r>
          </a:p>
        </p:txBody>
      </p:sp>
      <p:sp>
        <p:nvSpPr>
          <p:cNvPr id="11" name="Find B1 on day 0 and day 10. Calculate its height change. Check ">
            <a:extLst xmlns:a="http://schemas.openxmlformats.org/drawingml/2006/main">
              <a:ext uri="{FF2B5EF4-FFF2-40B4-BE49-F238E27FC236}">
                <a16:creationId xmlns:a16="http://schemas.microsoft.com/office/drawing/2014/main" id="{73288FE4-AD0E-48E4-A560-43B52CD2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Find B1 on day 0 and day 10. Calculate its height change. Check with another reader.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33400" y="229552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83688"/>
                <a:gridCol w="3970756"/>
                <a:gridCol w="3970756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A1 height (cm)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B1 height (cm)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11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Constructed sample data; individual plants A1 and B1">
            <a:extLst xmlns:a="http://schemas.openxmlformats.org/drawingml/2006/main">
              <a:ext uri="{FF2B5EF4-FFF2-40B4-BE49-F238E27FC236}">
                <a16:creationId xmlns:a16="http://schemas.microsoft.com/office/drawing/2014/main" id="{EAFB0916-2C69-4C72-9C3D-FEEC25A2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6331"/>
            <a:ext cx="11125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Constructed sample data; individual plants A1 and B1</a:t>
            </a:r>
          </a:p>
        </p:txBody>
      </p:sp>
    </p:spTree>
    <p:extLst>
      <p:ext uri="{BB962C8B-B14F-4D97-AF65-F5344CB8AC3E}">
        <p14:creationId xmlns:p14="http://schemas.microsoft.com/office/powerpoint/2010/main" val="562747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8D67FD28-124B-49EA-AB5A-846F2197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37425F4-A1F6-45D2-803B-A65D9C4A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4C32E60-56F9-494A-98F6-E25F4C7A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4A8AFE62-6AA7-418E-88EC-AAAC3CB1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3DCF71A2-8600-4D97-86E2-B4980EDC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F7AF6AC6-E950-4C56-A963-8B136D5B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Keep the differences visible">
            <a:extLst xmlns:a="http://schemas.openxmlformats.org/drawingml/2006/main">
              <a:ext uri="{FF2B5EF4-FFF2-40B4-BE49-F238E27FC236}">
                <a16:creationId xmlns:a16="http://schemas.microsoft.com/office/drawing/2014/main" id="{079F9AEA-0FDB-4D0A-B3F2-EC04008E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differences visible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A7D97465-7768-4345-A18E-CECF802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0E6FA89A-6E91-421C-BD36-227ADFD9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10" name="7 / 14">
            <a:extLst xmlns:a="http://schemas.openxmlformats.org/drawingml/2006/main">
              <a:ext uri="{FF2B5EF4-FFF2-40B4-BE49-F238E27FC236}">
                <a16:creationId xmlns:a16="http://schemas.microsoft.com/office/drawing/2014/main" id="{E87BB265-0B6A-49EF-854F-5EFAE0A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14</a:t>
            </a:r>
          </a:p>
        </p:txBody>
      </p:sp>
      <p:sp>
        <p:nvSpPr>
          <p:cNvPr id="11" name="B1, B2, B3 finish at 11, 12, 10 cm.">
            <a:extLst xmlns:a="http://schemas.openxmlformats.org/drawingml/2006/main">
              <a:ext uri="{FF2B5EF4-FFF2-40B4-BE49-F238E27FC236}">
                <a16:creationId xmlns:a16="http://schemas.microsoft.com/office/drawing/2014/main" id="{B07F5904-DD07-4A5B-AB37-73140947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B1, B2, B3 finish at 11, 12, 10 cm.</a:t>
            </a:r>
          </a:p>
        </p:txBody>
      </p:sp>
      <p:sp>
        <p:nvSpPr>
          <p:cNvPr id="12" name="Should we change them to match?">
            <a:extLst xmlns:a="http://schemas.openxmlformats.org/drawingml/2006/main">
              <a:ext uri="{FF2B5EF4-FFF2-40B4-BE49-F238E27FC236}">
                <a16:creationId xmlns:a16="http://schemas.microsoft.com/office/drawing/2014/main" id="{4CC72B5E-3AED-4BAE-B8AC-02A2055F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Should we change them to match?</a:t>
            </a:r>
          </a:p>
        </p:txBody>
      </p:sp>
      <p:sp>
        <p:nvSpPr>
          <p:cNvPr id="13" name="Add the leaf-condition record.">
            <a:extLst xmlns:a="http://schemas.openxmlformats.org/drawingml/2006/main">
              <a:ext uri="{FF2B5EF4-FFF2-40B4-BE49-F238E27FC236}">
                <a16:creationId xmlns:a16="http://schemas.microsoft.com/office/drawing/2014/main" id="{DE4D43F5-5C24-44BD-8F90-C1182C81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Add the leaf-condition record.</a:t>
            </a:r>
          </a:p>
        </p:txBody>
      </p:sp>
    </p:spTree>
    <p:extLst>
      <p:ext uri="{BB962C8B-B14F-4D97-AF65-F5344CB8AC3E}">
        <p14:creationId xmlns:p14="http://schemas.microsoft.com/office/powerpoint/2010/main" val="1117290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596223C9-C023-46B8-9D76-8A26D103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2A46AC60-A753-4C0B-98DD-2D536B7B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31C9A3B-44DF-4619-A253-5EB93E10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7EFA814B-9A1E-42E3-90E4-BAC8787B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8CC3F13A-6805-4BBF-BD4E-663B3216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8222D11A-2C3E-42C3-A247-6C165EFB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B1 starts at 3 cm and ends at 11 cm.">
            <a:extLst xmlns:a="http://schemas.openxmlformats.org/drawingml/2006/main">
              <a:ext uri="{FF2B5EF4-FFF2-40B4-BE49-F238E27FC236}">
                <a16:creationId xmlns:a16="http://schemas.microsoft.com/office/drawing/2014/main" id="{F9FA71C7-BB1A-499D-903D-FFB731C7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B1 starts at 3 cm and ends at 11 cm.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4AF0436-9887-45A4-BD31-7E6CCBC8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AAB523D8-A52A-420B-8032-B9447281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10" name="8 / 14">
            <a:extLst xmlns:a="http://schemas.openxmlformats.org/drawingml/2006/main">
              <a:ext uri="{FF2B5EF4-FFF2-40B4-BE49-F238E27FC236}">
                <a16:creationId xmlns:a16="http://schemas.microsoft.com/office/drawing/2014/main" id="{9DF233C2-B42D-47A9-87B2-6E0F7D89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14</a:t>
            </a:r>
          </a:p>
        </p:txBody>
      </p:sp>
      <p:sp>
        <p:nvSpPr>
          <p:cNvPr id="11" name="What is its recorded height increase?">
            <a:extLst xmlns:a="http://schemas.openxmlformats.org/drawingml/2006/main">
              <a:ext uri="{FF2B5EF4-FFF2-40B4-BE49-F238E27FC236}">
                <a16:creationId xmlns:a16="http://schemas.microsoft.com/office/drawing/2014/main" id="{661E4320-FDFB-4883-B8CA-14841E0D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is its recorded height increase?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E6B910D1-D3D7-4DE6-8214-A6203F02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958BB0DC-D602-4312-82C3-C7C928F4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C803CEA0-2CEF-4A63-9083-49097CC9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11 cm">
            <a:extLst xmlns:a="http://schemas.openxmlformats.org/drawingml/2006/main">
              <a:ext uri="{FF2B5EF4-FFF2-40B4-BE49-F238E27FC236}">
                <a16:creationId xmlns:a16="http://schemas.microsoft.com/office/drawing/2014/main" id="{78BB21FE-C8BD-4991-BA38-31D7C7A1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11 cm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2377C02E-1201-4ECB-9D27-81E8B29D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9BE9AC32-D9B2-482F-999D-485EF0F5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C7B211EB-E5B6-45AB-8941-5A989D6D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8 cm">
            <a:extLst xmlns:a="http://schemas.openxmlformats.org/drawingml/2006/main">
              <a:ext uri="{FF2B5EF4-FFF2-40B4-BE49-F238E27FC236}">
                <a16:creationId xmlns:a16="http://schemas.microsoft.com/office/drawing/2014/main" id="{F8DE0430-77B2-4B9D-86DF-5531F315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8 cm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EBC64989-9F53-4903-AF18-0A65533A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5C6B10C0-A05F-485A-9975-BD4952DC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3DB2AB74-BEA1-426D-9D02-FE1792C1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0 cm because one other plant was not measured">
            <a:extLst xmlns:a="http://schemas.openxmlformats.org/drawingml/2006/main">
              <a:ext uri="{FF2B5EF4-FFF2-40B4-BE49-F238E27FC236}">
                <a16:creationId xmlns:a16="http://schemas.microsoft.com/office/drawing/2014/main" id="{0A7270FA-8A23-4996-8D45-47D29024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0 cm because one other plant was not measured</a:t>
            </a:r>
          </a:p>
        </p:txBody>
      </p:sp>
    </p:spTree>
    <p:extLst>
      <p:ext uri="{BB962C8B-B14F-4D97-AF65-F5344CB8AC3E}">
        <p14:creationId xmlns:p14="http://schemas.microsoft.com/office/powerpoint/2010/main" val="1058753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4B6FF29-DA28-4743-A544-C8C5593F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963737E-A8E4-4A79-8CB1-AC1C206A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4F05A3F-4C46-4DC3-A63E-40686E78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3D3F5D8E-6265-41F8-8A7D-A3143A4B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0ED00CEE-3C30-4CDF-A9BC-E4BB2B7F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E16A62A0-4636-48D8-97F3-6D1C44BE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Choose your science route">
            <a:extLst xmlns:a="http://schemas.openxmlformats.org/drawingml/2006/main">
              <a:ext uri="{FF2B5EF4-FFF2-40B4-BE49-F238E27FC236}">
                <a16:creationId xmlns:a16="http://schemas.microsoft.com/office/drawing/2014/main" id="{E5531101-B3EE-4484-B8DC-745936BC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your science route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F1792BFD-2B25-4EAB-A500-2EFBA3DA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38BC6418-BB04-415F-A1A6-F6BB458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10" name="9 / 14">
            <a:extLst xmlns:a="http://schemas.openxmlformats.org/drawingml/2006/main">
              <a:ext uri="{FF2B5EF4-FFF2-40B4-BE49-F238E27FC236}">
                <a16:creationId xmlns:a16="http://schemas.microsoft.com/office/drawing/2014/main" id="{CB631B3A-4BD3-4DF2-886B-0F0080B6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14</a:t>
            </a:r>
          </a:p>
        </p:txBody>
      </p:sp>
      <p:sp>
        <p:nvSpPr>
          <p:cNvPr id="11" name="Read one plant’s changes.">
            <a:extLst xmlns:a="http://schemas.openxmlformats.org/drawingml/2006/main">
              <a:ext uri="{FF2B5EF4-FFF2-40B4-BE49-F238E27FC236}">
                <a16:creationId xmlns:a16="http://schemas.microsoft.com/office/drawing/2014/main" id="{112BB9E6-D10D-44C2-9B77-DD6CEFF6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Read one plant’s changes.</a:t>
            </a:r>
          </a:p>
        </p:txBody>
      </p:sp>
      <p:sp>
        <p:nvSpPr>
          <p:cNvPr id="12" name="Plot a dated growth record.">
            <a:extLst xmlns:a="http://schemas.openxmlformats.org/drawingml/2006/main">
              <a:ext uri="{FF2B5EF4-FFF2-40B4-BE49-F238E27FC236}">
                <a16:creationId xmlns:a16="http://schemas.microsoft.com/office/drawing/2014/main" id="{FA16BD13-6F45-4E7B-B401-24C2966A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Plot a dated growth record.</a:t>
            </a:r>
          </a:p>
        </p:txBody>
      </p:sp>
      <p:sp>
        <p:nvSpPr>
          <p:cNvPr id="13" name="Audit repeated evidence.">
            <a:extLst xmlns:a="http://schemas.openxmlformats.org/drawingml/2006/main">
              <a:ext uri="{FF2B5EF4-FFF2-40B4-BE49-F238E27FC236}">
                <a16:creationId xmlns:a16="http://schemas.microsoft.com/office/drawing/2014/main" id="{C4188D02-42E2-417B-AC09-22E35EC5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Audit repeated evidence.</a:t>
            </a:r>
          </a:p>
        </p:txBody>
      </p:sp>
    </p:spTree>
    <p:extLst>
      <p:ext uri="{BB962C8B-B14F-4D97-AF65-F5344CB8AC3E}">
        <p14:creationId xmlns:p14="http://schemas.microsoft.com/office/powerpoint/2010/main" val="2113400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AB7A2C6B-DC0F-4ACF-A38A-B57CFA47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867F716-E0F8-4BD4-97D7-AAF49CE1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B655147-58E0-4616-BA88-11E7F6D3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7CC657D-F666-4423-AFA7-91EAEA0D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9D4B888-DDAA-439A-A9F8-19366FC4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C1509441-7DFF-46C2-8246-D0163C49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Make your own evidence record">
            <a:extLst xmlns:a="http://schemas.openxmlformats.org/drawingml/2006/main">
              <a:ext uri="{FF2B5EF4-FFF2-40B4-BE49-F238E27FC236}">
                <a16:creationId xmlns:a16="http://schemas.microsoft.com/office/drawing/2014/main" id="{48376198-F4CF-4F39-B8C6-892960A8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Make your own evidence record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21D11381-7CA3-4326-96BA-A66CAE85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8535CD3D-81F4-4520-946A-078DD576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10" name="10 / 14">
            <a:extLst xmlns:a="http://schemas.openxmlformats.org/drawingml/2006/main">
              <a:ext uri="{FF2B5EF4-FFF2-40B4-BE49-F238E27FC236}">
                <a16:creationId xmlns:a16="http://schemas.microsoft.com/office/drawing/2014/main" id="{87F9C0D8-CD9B-43ED-99C5-280E954A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14</a:t>
            </a:r>
          </a:p>
        </p:txBody>
      </p:sp>
      <p:sp>
        <p:nvSpPr>
          <p:cNvPr id="11" name="Use the shared evidence.">
            <a:extLst xmlns:a="http://schemas.openxmlformats.org/drawingml/2006/main">
              <a:ext uri="{FF2B5EF4-FFF2-40B4-BE49-F238E27FC236}">
                <a16:creationId xmlns:a16="http://schemas.microsoft.com/office/drawing/2014/main" id="{1F2B51FA-D3C0-4FD2-821B-E2A9FAF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shared evidence.</a:t>
            </a:r>
          </a:p>
        </p:txBody>
      </p:sp>
      <p:sp>
        <p:nvSpPr>
          <p:cNvPr id="12" name="Explain one choice.">
            <a:extLst xmlns:a="http://schemas.openxmlformats.org/drawingml/2006/main">
              <a:ext uri="{FF2B5EF4-FFF2-40B4-BE49-F238E27FC236}">
                <a16:creationId xmlns:a16="http://schemas.microsoft.com/office/drawing/2014/main" id="{734814EA-2070-4334-A38C-A3DB937A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one choice.</a:t>
            </a:r>
          </a:p>
        </p:txBody>
      </p:sp>
      <p:sp>
        <p:nvSpPr>
          <p:cNvPr id="13" name="Check a label or number.">
            <a:extLst xmlns:a="http://schemas.openxmlformats.org/drawingml/2006/main">
              <a:ext uri="{FF2B5EF4-FFF2-40B4-BE49-F238E27FC236}">
                <a16:creationId xmlns:a16="http://schemas.microsoft.com/office/drawing/2014/main" id="{9365006C-2663-4D9A-A566-3C3CD77D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 label or number.</a:t>
            </a:r>
          </a:p>
        </p:txBody>
      </p:sp>
    </p:spTree>
    <p:extLst>
      <p:ext uri="{BB962C8B-B14F-4D97-AF65-F5344CB8AC3E}">
        <p14:creationId xmlns:p14="http://schemas.microsoft.com/office/powerpoint/2010/main" val="6036055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F8BF7D2B-7996-4E00-B5EC-98C97B44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A60E09BF-0CEF-47B4-ADDC-B800679A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1F4E264-D59B-4D21-92AF-C42F98FC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65C0237-162C-423E-8390-63B31E86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12CB0C3C-F59C-4722-A0DA-1A7B6EEF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what the evidence can show">
            <a:extLst xmlns:a="http://schemas.openxmlformats.org/drawingml/2006/main">
              <a:ext uri="{FF2B5EF4-FFF2-40B4-BE49-F238E27FC236}">
                <a16:creationId xmlns:a16="http://schemas.microsoft.com/office/drawing/2014/main" id="{D0E917E7-2C64-4AD3-A863-483A3884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what the evidence can show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86976299-CC0D-4757-82D9-B44A11E5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44D96274-888F-4162-8025-617BF418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9" name="11 / 14">
            <a:extLst xmlns:a="http://schemas.openxmlformats.org/drawingml/2006/main">
              <a:ext uri="{FF2B5EF4-FFF2-40B4-BE49-F238E27FC236}">
                <a16:creationId xmlns:a16="http://schemas.microsoft.com/office/drawing/2014/main" id="{28077D42-0808-485E-B91E-4772BAA0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14</a:t>
            </a:r>
          </a:p>
        </p:txBody>
      </p:sp>
      <p:sp>
        <p:nvSpPr>
          <p:cNvPr id="10" name="Point to the clue you used.">
            <a:extLst xmlns:a="http://schemas.openxmlformats.org/drawingml/2006/main">
              <a:ext uri="{FF2B5EF4-FFF2-40B4-BE49-F238E27FC236}">
                <a16:creationId xmlns:a16="http://schemas.microsoft.com/office/drawing/2014/main" id="{493CA47F-EBD6-4FB6-BD96-BB0D01CA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Point to the clue you used.</a:t>
            </a:r>
          </a:p>
        </p:txBody>
      </p:sp>
      <p:sp>
        <p:nvSpPr>
          <p:cNvPr id="11" name="Remove an unsupported claim.">
            <a:extLst xmlns:a="http://schemas.openxmlformats.org/drawingml/2006/main">
              <a:ext uri="{FF2B5EF4-FFF2-40B4-BE49-F238E27FC236}">
                <a16:creationId xmlns:a16="http://schemas.microsoft.com/office/drawing/2014/main" id="{3D5B2674-2846-4BDB-AE09-F654B1E9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Remove an unsupported claim.</a:t>
            </a:r>
          </a:p>
        </p:txBody>
      </p:sp>
    </p:spTree>
    <p:extLst>
      <p:ext uri="{BB962C8B-B14F-4D97-AF65-F5344CB8AC3E}">
        <p14:creationId xmlns:p14="http://schemas.microsoft.com/office/powerpoint/2010/main" val="9100047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420B7274-5612-43DD-84AC-3A1C9FF9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F2B09EB-E5AA-4835-BFD0-514FA219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95497BE-93BD-4C37-98E8-736C8037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669B8011-B5D3-4412-9F7E-5CC20C3F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77E677A5-EBE6-4922-8D0E-12E7F889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B821266A-01A5-469F-84AC-BD6FF48F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Lundy loop: improve the shared account">
            <a:extLst xmlns:a="http://schemas.openxmlformats.org/drawingml/2006/main">
              <a:ext uri="{FF2B5EF4-FFF2-40B4-BE49-F238E27FC236}">
                <a16:creationId xmlns:a16="http://schemas.microsoft.com/office/drawing/2014/main" id="{8379C2E1-D333-41B3-8295-E77D000C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Lundy loop: improve the shared account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3B2767B5-6CCC-436B-8E71-BBABBEF1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C5103965-23A6-49AA-9711-1E4070AE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10" name="12 / 14">
            <a:extLst xmlns:a="http://schemas.openxmlformats.org/drawingml/2006/main">
              <a:ext uri="{FF2B5EF4-FFF2-40B4-BE49-F238E27FC236}">
                <a16:creationId xmlns:a16="http://schemas.microsoft.com/office/drawing/2014/main" id="{0C1EB152-7A6E-4666-B64D-5AFD6C15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14</a:t>
            </a:r>
          </a:p>
        </p:txBody>
      </p:sp>
      <p:sp>
        <p:nvSpPr>
          <p:cNvPr id="11" name="Choose how to share.">
            <a:extLst xmlns:a="http://schemas.openxmlformats.org/drawingml/2006/main">
              <a:ext uri="{FF2B5EF4-FFF2-40B4-BE49-F238E27FC236}">
                <a16:creationId xmlns:a16="http://schemas.microsoft.com/office/drawing/2014/main" id="{1ADF6598-8822-41E3-BF35-0F782CD5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how to share.</a:t>
            </a:r>
          </a:p>
        </p:txBody>
      </p:sp>
      <p:sp>
        <p:nvSpPr>
          <p:cNvPr id="12" name="Hear one evidence-based challenge.">
            <a:extLst xmlns:a="http://schemas.openxmlformats.org/drawingml/2006/main">
              <a:ext uri="{FF2B5EF4-FFF2-40B4-BE49-F238E27FC236}">
                <a16:creationId xmlns:a16="http://schemas.microsoft.com/office/drawing/2014/main" id="{2F19CF9E-C514-442B-AAE3-C24F79C4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Hear one evidence-based challenge.</a:t>
            </a:r>
          </a:p>
        </p:txBody>
      </p:sp>
      <p:sp>
        <p:nvSpPr>
          <p:cNvPr id="13" name="Improve or defend one idea.">
            <a:extLst xmlns:a="http://schemas.openxmlformats.org/drawingml/2006/main">
              <a:ext uri="{FF2B5EF4-FFF2-40B4-BE49-F238E27FC236}">
                <a16:creationId xmlns:a16="http://schemas.microsoft.com/office/drawing/2014/main" id="{4A78C04A-76DD-4A40-850E-850CD8A2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or defend one idea.</a:t>
            </a:r>
          </a:p>
        </p:txBody>
      </p:sp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9E156F42-E0BE-4723-B18E-AD7E138A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5" name="surface">
            <a:extLst xmlns:a="http://schemas.openxmlformats.org/drawingml/2006/main">
              <a:ext uri="{FF2B5EF4-FFF2-40B4-BE49-F238E27FC236}">
                <a16:creationId xmlns:a16="http://schemas.microsoft.com/office/drawing/2014/main" id="{E09050A7-1DFA-4E3E-B4AA-583516CF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16" name="What made our growth statement more honest?">
            <a:extLst xmlns:a="http://schemas.openxmlformats.org/drawingml/2006/main">
              <a:ext uri="{FF2B5EF4-FFF2-40B4-BE49-F238E27FC236}">
                <a16:creationId xmlns:a16="http://schemas.microsoft.com/office/drawing/2014/main" id="{4D4DB1C0-B509-4AD2-B8B6-F1A02163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340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What made our growth statement more honest?</a:t>
            </a:r>
          </a:p>
        </p:txBody>
      </p:sp>
    </p:spTree>
    <p:extLst>
      <p:ext uri="{BB962C8B-B14F-4D97-AF65-F5344CB8AC3E}">
        <p14:creationId xmlns:p14="http://schemas.microsoft.com/office/powerpoint/2010/main" val="3967751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3F8877CE-ACF3-46FE-8877-77B069EA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F9A668F8-6933-4A69-A399-6F09B927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6C5C86A-3823-434D-9E6C-D6AF86EA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F2116DC5-4AF8-44D8-B46E-E441E739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03FC6FD2-83D7-4B75-ACF4-A4AAA107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Keep the useful change">
            <a:extLst xmlns:a="http://schemas.openxmlformats.org/drawingml/2006/main">
              <a:ext uri="{FF2B5EF4-FFF2-40B4-BE49-F238E27FC236}">
                <a16:creationId xmlns:a16="http://schemas.microsoft.com/office/drawing/2014/main" id="{C942C892-4BB0-4E94-9792-CA104E42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Keep the useful change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D4DA1FD7-DCEE-40DD-BE96-E374CBE3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E68C50AC-1332-4CE6-83EA-BCB0E380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9" name="13 / 14">
            <a:extLst xmlns:a="http://schemas.openxmlformats.org/drawingml/2006/main">
              <a:ext uri="{FF2B5EF4-FFF2-40B4-BE49-F238E27FC236}">
                <a16:creationId xmlns:a16="http://schemas.microsoft.com/office/drawing/2014/main" id="{CE2EF194-30A9-4117-A565-5D2DC1E4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14</a:t>
            </a:r>
          </a:p>
        </p:txBody>
      </p:sp>
      <p:sp>
        <p:nvSpPr>
          <p:cNvPr id="10" name="What changed in our account?">
            <a:extLst xmlns:a="http://schemas.openxmlformats.org/drawingml/2006/main">
              <a:ext uri="{FF2B5EF4-FFF2-40B4-BE49-F238E27FC236}">
                <a16:creationId xmlns:a16="http://schemas.microsoft.com/office/drawing/2014/main" id="{EAFD4A22-B523-456A-8761-67E70E42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What changed in our account?</a:t>
            </a:r>
          </a:p>
        </p:txBody>
      </p:sp>
      <p:sp>
        <p:nvSpPr>
          <p:cNvPr id="11" name="Which evidence helped?">
            <a:extLst xmlns:a="http://schemas.openxmlformats.org/drawingml/2006/main">
              <a:ext uri="{FF2B5EF4-FFF2-40B4-BE49-F238E27FC236}">
                <a16:creationId xmlns:a16="http://schemas.microsoft.com/office/drawing/2014/main" id="{BF14C58B-9BD5-47F1-99A0-F234D143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Which evidence helped?</a:t>
            </a:r>
          </a:p>
        </p:txBody>
      </p:sp>
    </p:spTree>
    <p:extLst>
      <p:ext uri="{BB962C8B-B14F-4D97-AF65-F5344CB8AC3E}">
        <p14:creationId xmlns:p14="http://schemas.microsoft.com/office/powerpoint/2010/main" val="9431048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E808937A-D192-4173-8C11-28D1276C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7772EB1-A3C1-46FF-9C7F-FD73CE4E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AB52BB9-18F3-4AFE-B6E2-73B1237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4" name="BUILD SCIENCE">
            <a:extLst xmlns:a="http://schemas.openxmlformats.org/drawingml/2006/main">
              <a:ext uri="{FF2B5EF4-FFF2-40B4-BE49-F238E27FC236}">
                <a16:creationId xmlns:a16="http://schemas.microsoft.com/office/drawing/2014/main" id="{5726CBF0-60B1-4EC1-BC3F-3388DDAF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BUILD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24963950-A329-4011-BC7C-4C4A99D9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E7A9B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F3E87F31-FE49-4843-A1DA-3967CE76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Three final checks">
            <a:extLst xmlns:a="http://schemas.openxmlformats.org/drawingml/2006/main">
              <a:ext uri="{FF2B5EF4-FFF2-40B4-BE49-F238E27FC236}">
                <a16:creationId xmlns:a16="http://schemas.microsoft.com/office/drawing/2014/main" id="{9CA18E27-BE4B-4501-9E42-5CA93229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Three final checks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CEEA068D-16ED-4AA2-B208-DC14FADA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growth-record studio">
            <a:extLst xmlns:a="http://schemas.openxmlformats.org/drawingml/2006/main">
              <a:ext uri="{FF2B5EF4-FFF2-40B4-BE49-F238E27FC236}">
                <a16:creationId xmlns:a16="http://schemas.microsoft.com/office/drawing/2014/main" id="{A2593C6D-3605-46D6-A468-3131F856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growth-record studio</a:t>
            </a:r>
          </a:p>
        </p:txBody>
      </p:sp>
      <p:sp>
        <p:nvSpPr>
          <p:cNvPr id="10" name="14 / 14">
            <a:extLst xmlns:a="http://schemas.openxmlformats.org/drawingml/2006/main">
              <a:ext uri="{FF2B5EF4-FFF2-40B4-BE49-F238E27FC236}">
                <a16:creationId xmlns:a16="http://schemas.microsoft.com/office/drawing/2014/main" id="{C7188E09-522B-4028-817F-CFAB56C1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14</a:t>
            </a:r>
          </a:p>
        </p:txBody>
      </p:sp>
      <p:sp>
        <p:nvSpPr>
          <p:cNvPr id="11" name="E1. What is a baseline?">
            <a:extLst xmlns:a="http://schemas.openxmlformats.org/drawingml/2006/main">
              <a:ext uri="{FF2B5EF4-FFF2-40B4-BE49-F238E27FC236}">
                <a16:creationId xmlns:a16="http://schemas.microsoft.com/office/drawing/2014/main" id="{AC7D1800-1F8D-4A5E-8B0D-A731B71D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is a baseline?</a:t>
            </a:r>
          </a:p>
        </p:txBody>
      </p:sp>
      <p:sp>
        <p:nvSpPr>
          <p:cNvPr id="12" name="E2. A plant changes from 3 to 11 cm. What is its increase?">
            <a:extLst xmlns:a="http://schemas.openxmlformats.org/drawingml/2006/main">
              <a:ext uri="{FF2B5EF4-FFF2-40B4-BE49-F238E27FC236}">
                <a16:creationId xmlns:a16="http://schemas.microsoft.com/office/drawing/2014/main" id="{54675E10-E827-4B8B-B625-5E07EE3A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3183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A plant changes from 3 to 11 cm. What is its increase?</a:t>
            </a:r>
          </a:p>
        </p:txBody>
      </p:sp>
      <p:sp>
        <p:nvSpPr>
          <p:cNvPr id="13" name="E3. Is a missing reading the same as zero?">
            <a:extLst xmlns:a="http://schemas.openxmlformats.org/drawingml/2006/main">
              <a:ext uri="{FF2B5EF4-FFF2-40B4-BE49-F238E27FC236}">
                <a16:creationId xmlns:a16="http://schemas.microsoft.com/office/drawing/2014/main" id="{CB18807A-5C38-4D49-A0D9-E574FE64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7540"/>
            <a:ext cx="106680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4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Is a missing reading the same as zero?</a:t>
            </a:r>
          </a:p>
        </p:txBody>
      </p:sp>
    </p:spTree>
    <p:extLst>
      <p:ext uri="{BB962C8B-B14F-4D97-AF65-F5344CB8AC3E}">
        <p14:creationId xmlns:p14="http://schemas.microsoft.com/office/powerpoint/2010/main" val="1132937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2026-09-08T23:54:14.7310000Z</dcterms:created>
  <dcterms:modified xsi:type="dcterms:W3CDTF">2026-09-08T23:54:14.7310000Z</dcterms:modified>
</coreProperties>
</file>