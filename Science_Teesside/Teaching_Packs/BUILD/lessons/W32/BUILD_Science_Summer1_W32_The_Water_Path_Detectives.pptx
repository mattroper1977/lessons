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5b50842e314576" /><Relationship Type="http://schemas.openxmlformats.org/officeDocument/2006/relationships/extended-properties" Target="/docProps/app.xml" Id="Rf931c146a4c4458b" /><Relationship Type="http://schemas.openxmlformats.org/officeDocument/2006/relationships/officeDocument" Target="/ppt/presentation.xml" Id="R2386965fc53042bc" /></Relationships>
</file>

<file path=ppt/presentation.xml><?xml version="1.0" encoding="utf-8"?>
<p:presentation xmlns:p="http://schemas.openxmlformats.org/presentationml/2006/main">
  <p:sldMasterIdLst>
    <p:sldMasterId xmlns:r="http://schemas.openxmlformats.org/officeDocument/2006/relationships" id="2147483648" r:id="Rf247865ce0cf4003"/>
  </p:sldMasterIdLst>
  <p:notesMasterIdLst>
    <p:notesMasterId xmlns:r="http://schemas.openxmlformats.org/officeDocument/2006/relationships" r:id="R3bf6373b4ca94244"/>
  </p:notesMasterIdLst>
  <p:sldIdLst>
    <p:sldId xmlns:r="http://schemas.openxmlformats.org/officeDocument/2006/relationships" id="256" r:id="Ra9a3602498584bc6"/>
    <p:sldId xmlns:r="http://schemas.openxmlformats.org/officeDocument/2006/relationships" id="257" r:id="R2325ee0966524fa8"/>
    <p:sldId xmlns:r="http://schemas.openxmlformats.org/officeDocument/2006/relationships" id="258" r:id="R6ca00102789f4f3f"/>
    <p:sldId xmlns:r="http://schemas.openxmlformats.org/officeDocument/2006/relationships" id="259" r:id="Rf27c768cccb84f1f"/>
    <p:sldId xmlns:r="http://schemas.openxmlformats.org/officeDocument/2006/relationships" id="260" r:id="Rf15755125c5841ff"/>
    <p:sldId xmlns:r="http://schemas.openxmlformats.org/officeDocument/2006/relationships" id="261" r:id="Rb35f4dcfd60b4b58"/>
    <p:sldId xmlns:r="http://schemas.openxmlformats.org/officeDocument/2006/relationships" id="262" r:id="Racde719d79494331"/>
    <p:sldId xmlns:r="http://schemas.openxmlformats.org/officeDocument/2006/relationships" id="263" r:id="R1640cfc1eb1d4ac9"/>
    <p:sldId xmlns:r="http://schemas.openxmlformats.org/officeDocument/2006/relationships" id="264" r:id="R722df8d181d24ce0"/>
    <p:sldId xmlns:r="http://schemas.openxmlformats.org/officeDocument/2006/relationships" id="265" r:id="R1db1d1beb6114d85"/>
    <p:sldId xmlns:r="http://schemas.openxmlformats.org/officeDocument/2006/relationships" id="266" r:id="Rab303ee726204728"/>
    <p:sldId xmlns:r="http://schemas.openxmlformats.org/officeDocument/2006/relationships" id="267" r:id="R1b89067c2abb4130"/>
    <p:sldId xmlns:r="http://schemas.openxmlformats.org/officeDocument/2006/relationships" id="268" r:id="Rf83e86ac8e40457f"/>
    <p:sldId xmlns:r="http://schemas.openxmlformats.org/officeDocument/2006/relationships" id="269" r:id="R96d74dff19964e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5ae47b42634548" /><Relationship Type="http://schemas.openxmlformats.org/officeDocument/2006/relationships/slideMaster" Target="/ppt/slideMasters/slideMaster1.xml" Id="Rf247865ce0cf4003" /><Relationship Type="http://schemas.openxmlformats.org/officeDocument/2006/relationships/notesMaster" Target="/ppt/notesMasters/notesMaster1.xml" Id="R3bf6373b4ca94244" /><Relationship Type="http://schemas.openxmlformats.org/officeDocument/2006/relationships/presProps" Target="/ppt/presProps.xml" Id="R0d39699768dd4ec2" /><Relationship Type="http://schemas.openxmlformats.org/officeDocument/2006/relationships/tableStyles" Target="/ppt/tableStyles.xml" Id="Ra0b9b7a7eb7643f1" /><Relationship Type="http://schemas.openxmlformats.org/officeDocument/2006/relationships/slide" Target="/ppt/slides/slide1.xml" Id="Ra9a3602498584bc6" /><Relationship Type="http://schemas.openxmlformats.org/officeDocument/2006/relationships/slide" Target="/ppt/slides/slide2.xml" Id="R2325ee0966524fa8" /><Relationship Type="http://schemas.openxmlformats.org/officeDocument/2006/relationships/slide" Target="/ppt/slides/slide3.xml" Id="R6ca00102789f4f3f" /><Relationship Type="http://schemas.openxmlformats.org/officeDocument/2006/relationships/slide" Target="/ppt/slides/slide4.xml" Id="Rf27c768cccb84f1f" /><Relationship Type="http://schemas.openxmlformats.org/officeDocument/2006/relationships/slide" Target="/ppt/slides/slide5.xml" Id="Rf15755125c5841ff" /><Relationship Type="http://schemas.openxmlformats.org/officeDocument/2006/relationships/slide" Target="/ppt/slides/slide6.xml" Id="Rb35f4dcfd60b4b58" /><Relationship Type="http://schemas.openxmlformats.org/officeDocument/2006/relationships/slide" Target="/ppt/slides/slide7.xml" Id="Racde719d79494331" /><Relationship Type="http://schemas.openxmlformats.org/officeDocument/2006/relationships/slide" Target="/ppt/slides/slide8.xml" Id="R1640cfc1eb1d4ac9" /><Relationship Type="http://schemas.openxmlformats.org/officeDocument/2006/relationships/slide" Target="/ppt/slides/slide9.xml" Id="R722df8d181d24ce0" /><Relationship Type="http://schemas.openxmlformats.org/officeDocument/2006/relationships/slide" Target="/ppt/slides/slide10.xml" Id="R1db1d1beb6114d85" /><Relationship Type="http://schemas.openxmlformats.org/officeDocument/2006/relationships/slide" Target="/ppt/slides/slide11.xml" Id="Rab303ee726204728" /><Relationship Type="http://schemas.openxmlformats.org/officeDocument/2006/relationships/slide" Target="/ppt/slides/slide12.xml" Id="R1b89067c2abb4130" /><Relationship Type="http://schemas.openxmlformats.org/officeDocument/2006/relationships/slide" Target="/ppt/slides/slide13.xml" Id="Rf83e86ac8e40457f" /><Relationship Type="http://schemas.openxmlformats.org/officeDocument/2006/relationships/slide" Target="/ppt/slides/slide14.xml" Id="R96d74dff19964e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9731f747be44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3d93b7cdfc48ee" /><Relationship Type="http://schemas.openxmlformats.org/officeDocument/2006/relationships/notesMaster" Target="/ppt/notesMasters/notesMaster1.xml" Id="Rdfa2db29a4f548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35b2bd5f0d4210" /><Relationship Type="http://schemas.openxmlformats.org/officeDocument/2006/relationships/notesMaster" Target="/ppt/notesMasters/notesMaster1.xml" Id="R9dca6fa384434d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05cda931a84b5c" /><Relationship Type="http://schemas.openxmlformats.org/officeDocument/2006/relationships/notesMaster" Target="/ppt/notesMasters/notesMaster1.xml" Id="R36c437fc4e3d4a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045d6cdbfd4e4b" /><Relationship Type="http://schemas.openxmlformats.org/officeDocument/2006/relationships/notesMaster" Target="/ppt/notesMasters/notesMaster1.xml" Id="R9da76bb7ba704f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922a8eaabe4b6e" /><Relationship Type="http://schemas.openxmlformats.org/officeDocument/2006/relationships/notesMaster" Target="/ppt/notesMasters/notesMaster1.xml" Id="R2f56c3590cc643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05f81967ff418a" /><Relationship Type="http://schemas.openxmlformats.org/officeDocument/2006/relationships/notesMaster" Target="/ppt/notesMasters/notesMaster1.xml" Id="R5be8c4eb2afb4f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d02cb960204b7a" /><Relationship Type="http://schemas.openxmlformats.org/officeDocument/2006/relationships/notesMaster" Target="/ppt/notesMasters/notesMaster1.xml" Id="R2621bf71673945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ef14d1623e4cb1" /><Relationship Type="http://schemas.openxmlformats.org/officeDocument/2006/relationships/notesMaster" Target="/ppt/notesMasters/notesMaster1.xml" Id="R9007f739e64249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4d5d69b01247e6" /><Relationship Type="http://schemas.openxmlformats.org/officeDocument/2006/relationships/notesMaster" Target="/ppt/notesMasters/notesMaster1.xml" Id="Rc4fcd65116924a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01de792bf84d77" /><Relationship Type="http://schemas.openxmlformats.org/officeDocument/2006/relationships/notesMaster" Target="/ppt/notesMasters/notesMaster1.xml" Id="R6f43ff6804e746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6eff04659843ec" /><Relationship Type="http://schemas.openxmlformats.org/officeDocument/2006/relationships/notesMaster" Target="/ppt/notesMasters/notesMaster1.xml" Id="R40ffb778447348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85974d058742c3" /><Relationship Type="http://schemas.openxmlformats.org/officeDocument/2006/relationships/notesMaster" Target="/ppt/notesMasters/notesMaster1.xml" Id="R6d9d7d6589da4d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9a836622014f47" /><Relationship Type="http://schemas.openxmlformats.org/officeDocument/2006/relationships/notesMaster" Target="/ppt/notesMasters/notesMaster1.xml" Id="R4bebc3f1234742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9136aae3834a09" /><Relationship Type="http://schemas.openxmlformats.org/officeDocument/2006/relationships/notesMaster" Target="/ppt/notesMasters/notesMaster1.xml" Id="R2d0d7b8177a648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Distinguish the rooted-plant explanation from the rootless demonstration. Neither pupils nor the lesson need to wait for colour to develop.</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1 roots. 2 stem. 3 no; roots absorb water and dissolved mineral nutrients, not chunks of soil.</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7 minutes.</a:t>
            </a:r>
          </a:p>
          <a:p xmlns:a="http://schemas.openxmlformats.org/drawingml/2006/main">
            <a:r>
              <a:t/>
            </a:r>
          </a:p>
          <a:p xmlns:a="http://schemas.openxmlformats.org/drawingml/2006/main">
            <a:r>
              <a:t>Think aloud: “I begin with water in soil, enter a root and follow xylem through the stem to a leaf. Some water evaporates and leaves as vapour.” Evaporation from leaves helps pull water upward; a straw-sucking mouth is not the mechanism.</a:t>
            </a:r>
          </a:p>
          <a:p xmlns:a="http://schemas.openxmlformats.org/drawingml/2006/main">
            <a:r>
              <a:t/>
            </a:r>
          </a:p>
          <a:p xmlns:a="http://schemas.openxmlformats.org/drawingml/2006/main">
            <a:r>
              <a:t>DIAGRAM DESCRIPTION</a:t>
            </a:r>
          </a:p>
          <a:p xmlns:a="http://schemas.openxmlformats.org/drawingml/2006/main">
            <a:r>
              <a:t>Selected water path in a rooted plant: soil water enters roots, travels upward in xylem through the stem, reaches leaves, and some leaves as water vapour. Arrows do not imply that all absorbed water is lost or that root uptake was demonstrated by a cut shoot.</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 do time. Think aloud: “I can investigate movement in this shoot, but I cannot claim to have shown root uptake because there are no roots.” Food colouring marks some pathways; it is not normal plant food.</a:t>
            </a:r>
          </a:p>
          <a:p xmlns:a="http://schemas.openxmlformats.org/drawingml/2006/main">
            <a:r>
              <a:t/>
            </a:r>
          </a:p>
          <a:p xmlns:a="http://schemas.openxmlformats.org/drawingml/2006/main">
            <a:r>
              <a:t>DIAGRAM DESCRIPTION</a:t>
            </a:r>
          </a:p>
          <a:p xmlns:a="http://schemas.openxmlformats.org/drawingml/2006/main">
            <a:r>
              <a:t>Two cut flower shoots stand in separate cups, one with coloured water and one with plain water. Dye can mark internal water routes in the shoot; neither shoot has roots. The plain-water cup is a comparison.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 do time. Think aloud: “Inside colour supports transport through internal pathways. A coloured outer surface alone would be weaker evidence.” Xylem name is helpful but not required for supported core explanation.</a:t>
            </a:r>
          </a:p>
          <a:p xmlns:a="http://schemas.openxmlformats.org/drawingml/2006/main">
            <a:r>
              <a:t/>
            </a:r>
          </a:p>
          <a:p xmlns:a="http://schemas.openxmlformats.org/drawingml/2006/main">
            <a:r>
              <a:t>DIAGRAM DESCRIPTION</a:t>
            </a:r>
          </a:p>
          <a:p xmlns:a="http://schemas.openxmlformats.org/drawingml/2006/main">
            <a:r>
              <a:t>Simplified adult-prepared stem cross-sections from the dye and plain-water comparison. Coloured spots represent selected stained water-carrying bundles, not uniform colouring of every tissue. Positions are illustrative and not a precise anatomy atlas.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W1: B then C then D. Use evidence reader, sequencer and sceptic roles. Ask what the plain-water comparison adds: colour comes from the dye condition. Records are constructed; no universal 2-hour or 24-hour rate is implied.</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W2: first supported; second unsupported because no roots. F also blocks “every missing drop entered the shoot”, because evaporation can reduce water level.</a:t>
            </a:r>
          </a:p>
          <a:p xmlns:a="http://schemas.openxmlformats.org/drawingml/2006/main">
            <a:r>
              <a:t/>
            </a:r>
          </a:p>
          <a:p xmlns:a="http://schemas.openxmlformats.org/drawingml/2006/main">
            <a:r>
              <a:t>REVEAL / MODEL ANSWER</a:t>
            </a:r>
          </a:p>
          <a:p xmlns:a="http://schemas.openxmlformats.org/drawingml/2006/main">
            <a:r>
              <a:t>Explain the demonstrated part of the route and state what was not tested.</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Correct first option. Revisit the section diagram if pupils treat the entire stem as one hollow pipe.</a:t>
            </a:r>
          </a:p>
          <a:p xmlns:a="http://schemas.openxmlformats.org/drawingml/2006/main">
            <a:r>
              <a:t/>
            </a:r>
          </a:p>
          <a:p xmlns:a="http://schemas.openxmlformats.org/drawingml/2006/main">
            <a:r>
              <a:t>A. Coloured water moved through internal pathways.</a:t>
            </a:r>
          </a:p>
          <a:p xmlns:a="http://schemas.openxmlformats.org/drawingml/2006/main">
            <a:r>
              <a:t>Correct. The tracer appears within the cut section.</a:t>
            </a:r>
          </a:p>
          <a:p xmlns:a="http://schemas.openxmlformats.org/drawingml/2006/main">
            <a:r>
              <a:t/>
            </a:r>
          </a:p>
          <a:p xmlns:a="http://schemas.openxmlformats.org/drawingml/2006/main">
            <a:r>
              <a:t>B. The demonstration directly observed root absorption.</a:t>
            </a:r>
          </a:p>
          <a:p xmlns:a="http://schemas.openxmlformats.org/drawingml/2006/main">
            <a:r>
              <a:t>There are no roots in this setup.</a:t>
            </a:r>
          </a:p>
          <a:p xmlns:a="http://schemas.openxmlformats.org/drawingml/2006/main">
            <a:r>
              <a:t/>
            </a:r>
          </a:p>
          <a:p xmlns:a="http://schemas.openxmlformats.org/drawingml/2006/main">
            <a:r>
              <a:t>C. The dye is the plant’s natural food.</a:t>
            </a:r>
          </a:p>
          <a:p xmlns:a="http://schemas.openxmlformats.org/drawingml/2006/main">
            <a:r>
              <a:t>It is a tracer; green plants make their own sugars.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Set ONE route. Require a connected route and a claim limited to the evidence. A diagram with correctly directed arrows can replace prose. Do not require detailed transpiration physics or a perfect anatomical section.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Require a connected route and a claim limited to the evidence. A diagram with correctly directed arrows can replace prose. Do not require detailed transpiration physics or a perfect anatomical section.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independent time. Ask for a reason, not just a correct word. Require a connected route and a claim limited to the evidence. A diagram with correctly directed arrows can replace prose. Do not require detailed transpiration physics or a perfect anatomical section.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Listen to a selected pupil revision and visibly adopt a scientifically accurate contribution. Offer private, written or partner feedback.</a:t>
            </a:r>
          </a:p>
          <a:p xmlns:a="http://schemas.openxmlformats.org/drawingml/2006/main">
            <a:r>
              <a:t/>
            </a:r>
          </a:p>
          <a:p xmlns:a="http://schemas.openxmlformats.org/drawingml/2006/main">
            <a:r>
              <a:t>REVEAL / MODEL ANSWER</a:t>
            </a:r>
          </a:p>
          <a:p xmlns:a="http://schemas.openxmlformats.org/drawingml/2006/main">
            <a:r>
              <a:t>The rootless shoot supports internal transport, while the full root pathway is a separate scientific model.</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review time. Name how a pupil contribution changed a label, method or conclusion. Do not rank pupils.</a:t>
            </a:r>
          </a:p>
          <a:p xmlns:a="http://schemas.openxmlformats.org/drawingml/2006/main">
            <a:r>
              <a:t/>
            </a:r>
          </a:p>
          <a:p xmlns:a="http://schemas.openxmlformats.org/drawingml/2006/main">
            <a:r>
              <a:t>REVEAL / MODEL ANSWER</a:t>
            </a:r>
          </a:p>
          <a:p xmlns:a="http://schemas.openxmlformats.org/drawingml/2006/main">
            <a:r>
              <a:t>The rootless shoot supports internal transport, while the full root pathway is a separate scientific model.</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Collect brief individual evidence. Use the answer key and re-teach the specified misconception if needed.</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plants, rocks, light and forces underpin the SOW. Accessible teaching models are adapted to the named lesson objective.</a:t>
            </a:r>
          </a:p>
          <a:p xmlns:a="http://schemas.openxmlformats.org/drawingml/2006/main">
            <a:r>
              <a:t/>
            </a:r>
          </a:p>
          <a:p xmlns:a="http://schemas.openxmlformats.org/drawingml/2006/main">
            <a:r>
              <a:t>Science and Plants for Schools: water transport</a:t>
            </a:r>
          </a:p>
          <a:p xmlns:a="http://schemas.openxmlformats.org/drawingml/2006/main">
            <a:r>
              <a:t>https://www.saps.org.uk/growth-hub/plants-as-inspirational-contexts-2-water-transport-in-plants/</a:t>
            </a:r>
          </a:p>
          <a:p xmlns:a="http://schemas.openxmlformats.org/drawingml/2006/main">
            <a:r>
              <a:t>Checked 8 September 2026. Xylem transports water and dissolved minerals; evaporation from leaves contributes to pulling water upwards. Phloem sugar transport is distinct.</a:t>
            </a:r>
          </a:p>
          <a:p xmlns:a="http://schemas.openxmlformats.org/drawingml/2006/main">
            <a:r>
              <a:t/>
            </a:r>
          </a:p>
          <a:p xmlns:a="http://schemas.openxmlformats.org/drawingml/2006/main">
            <a:r>
              <a:t>Science and Plants for Schools: how does water travel through a plant?</a:t>
            </a:r>
          </a:p>
          <a:p xmlns:a="http://schemas.openxmlformats.org/drawingml/2006/main">
            <a:r>
              <a:t>https://www.saps.org.uk/teaching-resources/resources/6555/how-does-water-travel-through-a-plant/</a:t>
            </a:r>
          </a:p>
          <a:p xmlns:a="http://schemas.openxmlformats.org/drawingml/2006/main">
            <a:r>
              <a:t>Checked 8 September 2026. Dye evidence can reveal internal water pathways. Our cut-shoot demonstration is explicitly not a complete rooted plant.</a:t>
            </a:r>
          </a:p>
          <a:p xmlns:a="http://schemas.openxmlformats.org/drawingml/2006/main">
            <a:r>
              <a:t/>
            </a:r>
          </a:p>
          <a:p xmlns:a="http://schemas.openxmlformats.org/drawingml/2006/main">
            <a:r>
              <a:t>Science and Plants for Schools: plant biology animations</a:t>
            </a:r>
          </a:p>
          <a:p xmlns:a="http://schemas.openxmlformats.org/drawingml/2006/main">
            <a:r>
              <a:t>https://www.saps.org.uk/teaching-resources/resources/1299/biology-animations-transport-of-water-and-sugar-respiration-and-photosynthesis-and-cell-growth-in-plants/</a:t>
            </a:r>
          </a:p>
          <a:p xmlns:a="http://schemas.openxmlformats.org/drawingml/2006/main">
            <a:r>
              <a:t>Checked 8 September 2026. Scientific background for our original simplified diagrams: photosynthesis, growth and transport. No external animation is required or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ed2490125e41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2ad85b9cf04c04" /><Relationship Type="http://schemas.openxmlformats.org/officeDocument/2006/relationships/slideLayout" Target="/ppt/slideLayouts/slideLayout1.xml" Id="Rac369059cc614c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369059cc614c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549a3dd2834f1b" /><Relationship Type="http://schemas.openxmlformats.org/officeDocument/2006/relationships/notesSlide" Target="/ppt/notesSlides/notesSlide1.xml" Id="R772aafdedda944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167dbeb1e64e73" /><Relationship Type="http://schemas.openxmlformats.org/officeDocument/2006/relationships/notesSlide" Target="/ppt/notesSlides/notesSlide2.xml" Id="Rccd5ead6621f4f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2e2e750af74d26" /><Relationship Type="http://schemas.openxmlformats.org/officeDocument/2006/relationships/notesSlide" Target="/ppt/notesSlides/notesSlide3.xml" Id="R1fe5f22bbcf140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5562de8da54c41" /><Relationship Type="http://schemas.openxmlformats.org/officeDocument/2006/relationships/notesSlide" Target="/ppt/notesSlides/notesSlide4.xml" Id="R483200e941f54a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d359d737de43c3" /><Relationship Type="http://schemas.openxmlformats.org/officeDocument/2006/relationships/notesSlide" Target="/ppt/notesSlides/notesSlide5.xml" Id="Rcbcf253a11a846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143e41b7114146" /><Relationship Type="http://schemas.openxmlformats.org/officeDocument/2006/relationships/notesSlide" Target="/ppt/notesSlides/notesSlide6.xml" Id="R6655ed3ccffa4f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8a4bb2124548d4" /><Relationship Type="http://schemas.openxmlformats.org/officeDocument/2006/relationships/notesSlide" Target="/ppt/notesSlides/notesSlide7.xml" Id="R7834b3d392934f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02d27120a6420a" /><Relationship Type="http://schemas.openxmlformats.org/officeDocument/2006/relationships/notesSlide" Target="/ppt/notesSlides/notesSlide8.xml" Id="R53e9f1b873f64c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e1a38893514a52" /><Relationship Type="http://schemas.openxmlformats.org/officeDocument/2006/relationships/notesSlide" Target="/ppt/notesSlides/notesSlide9.xml" Id="R04d7345bdf934b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239bfc5e394f9c" /><Relationship Type="http://schemas.openxmlformats.org/officeDocument/2006/relationships/notesSlide" Target="/ppt/notesSlides/notesSlide10.xml" Id="Rf2d817eec9d443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3bd8f87c2d4b8f" /><Relationship Type="http://schemas.openxmlformats.org/officeDocument/2006/relationships/notesSlide" Target="/ppt/notesSlides/notesSlide11.xml" Id="R1ba0968a90a143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091c6972414d3e" /><Relationship Type="http://schemas.openxmlformats.org/officeDocument/2006/relationships/notesSlide" Target="/ppt/notesSlides/notesSlide12.xml" Id="Rfcc06299819246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0b9c77d6684f3d" /><Relationship Type="http://schemas.openxmlformats.org/officeDocument/2006/relationships/notesSlide" Target="/ppt/notesSlides/notesSlide13.xml" Id="R26a4772c550346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43feb5ad124094" /><Relationship Type="http://schemas.openxmlformats.org/officeDocument/2006/relationships/notesSlide" Target="/ppt/notesSlides/notesSlide14.xml" Id="R123b4928d6934cf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0D0B4B3F-5921-40A1-B029-B1E8E15747E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D81D9DD-1E32-445D-8D9D-6ED4E49F337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19FD817-BA37-4BC3-94CD-E8D480322A1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41E583A9-441A-4284-9649-CC3CA30893D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Opening">
            <a:extLst xmlns:a="http://schemas.openxmlformats.org/drawingml/2006/main">
              <a:ext uri="{FF2B5EF4-FFF2-40B4-BE49-F238E27FC236}">
                <a16:creationId xmlns:a16="http://schemas.microsoft.com/office/drawing/2014/main" id="{95526057-38DF-409B-A780-B46022CB205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7D58ACF1-2388-4D14-B862-1E2FF86D919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How can water reach a leaf above the soil?">
            <a:extLst xmlns:a="http://schemas.openxmlformats.org/drawingml/2006/main">
              <a:ext uri="{FF2B5EF4-FFF2-40B4-BE49-F238E27FC236}">
                <a16:creationId xmlns:a16="http://schemas.microsoft.com/office/drawing/2014/main" id="{ABB4B931-FBC1-4325-9A86-50092C87532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How can water reach a leaf above the soil?</a:t>
            </a:r>
          </a:p>
        </p:txBody>
      </p:sp>
      <p:sp>
        <p:nvSpPr>
          <p:cNvPr id="8" name="surface">
            <a:extLst xmlns:a="http://schemas.openxmlformats.org/drawingml/2006/main">
              <a:ext uri="{FF2B5EF4-FFF2-40B4-BE49-F238E27FC236}">
                <a16:creationId xmlns:a16="http://schemas.microsoft.com/office/drawing/2014/main" id="{C76CFB4F-20D1-4538-B9AB-0B77B2F6AC1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E23C1FF7-2104-45BA-B39E-0F76925F09D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1 / 14">
            <a:extLst xmlns:a="http://schemas.openxmlformats.org/drawingml/2006/main">
              <a:ext uri="{FF2B5EF4-FFF2-40B4-BE49-F238E27FC236}">
                <a16:creationId xmlns:a16="http://schemas.microsoft.com/office/drawing/2014/main" id="{9BCB890C-6443-4E45-8F17-2E442EC4BCE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14</a:t>
            </a:r>
          </a:p>
        </p:txBody>
      </p:sp>
      <p:sp>
        <p:nvSpPr>
          <p:cNvPr id="11" name="surface">
            <a:extLst xmlns:a="http://schemas.openxmlformats.org/drawingml/2006/main">
              <a:ext uri="{FF2B5EF4-FFF2-40B4-BE49-F238E27FC236}">
                <a16:creationId xmlns:a16="http://schemas.microsoft.com/office/drawing/2014/main" id="{06A941AC-79B2-4A48-B307-8A583EE81169}"/>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95BF7F14-67BE-490C-9047-4E956382EF66}"/>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5B0F590F-AB21-4F02-B105-CF057E969ABB}"/>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4E7A9B"/>
                </a:solidFill>
                <a:latin typeface="Nimbus Sans"/>
                <a:ea typeface="Nimbus Sans"/>
                <a:cs typeface="Nimbus Sans"/>
              </a:defRPr>
            </a:pPr>
            <a:r>
              <a:rPr sz="1650" b="1">
                <a:solidFill>
                  <a:srgbClr val="4E7A9B"/>
                </a:solidFill>
                <a:latin typeface="Nimbus Sans"/>
                <a:ea typeface="Nimbus Sans"/>
                <a:cs typeface="Nimbus Sans"/>
              </a:rPr>
              <a:t>Learning intention</a:t>
            </a:r>
          </a:p>
        </p:txBody>
      </p:sp>
      <p:sp>
        <p:nvSpPr>
          <p:cNvPr id="14" name="Explain the root–stem–leaf water pathway and use dye evidence to">
            <a:extLst xmlns:a="http://schemas.openxmlformats.org/drawingml/2006/main">
              <a:ext uri="{FF2B5EF4-FFF2-40B4-BE49-F238E27FC236}">
                <a16:creationId xmlns:a16="http://schemas.microsoft.com/office/drawing/2014/main" id="{81DD3807-9A0D-4784-A798-EB23E78BA22A}"/>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Explain the root–stem–leaf water pathway and use dye evidence to identify</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internal transport in a cut shoot.</a:t>
            </a:r>
          </a:p>
        </p:txBody>
      </p:sp>
      <p:sp>
        <p:nvSpPr>
          <p:cNvPr id="15" name="Trace a route.">
            <a:extLst xmlns:a="http://schemas.openxmlformats.org/drawingml/2006/main">
              <a:ext uri="{FF2B5EF4-FFF2-40B4-BE49-F238E27FC236}">
                <a16:creationId xmlns:a16="http://schemas.microsoft.com/office/drawing/2014/main" id="{EA090D32-5D90-4C81-827A-D1843C32634F}"/>
              </a:ext>
            </a:extLst>
          </p:cNvPr>
          <p:cNvSpPr>
            <a:spLocks xmlns:a="http://schemas.openxmlformats.org/drawingml/2006/main" noGrp="1"/>
          </p:cNvSpPr>
          <p:nvPr/>
        </p:nvSpPr>
        <p:spPr>
          <a:xfrm xmlns:a="http://schemas.openxmlformats.org/drawingml/2006/main">
            <a:off x="762000" y="33623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Trace a route.</a:t>
            </a:r>
          </a:p>
        </p:txBody>
      </p:sp>
      <p:sp>
        <p:nvSpPr>
          <p:cNvPr id="16" name="Use a marker to test part of it.">
            <a:extLst xmlns:a="http://schemas.openxmlformats.org/drawingml/2006/main">
              <a:ext uri="{FF2B5EF4-FFF2-40B4-BE49-F238E27FC236}">
                <a16:creationId xmlns:a16="http://schemas.microsoft.com/office/drawing/2014/main" id="{D61AB771-98F2-403B-BFD0-F324B610DFED}"/>
              </a:ext>
            </a:extLst>
          </p:cNvPr>
          <p:cNvSpPr>
            <a:spLocks xmlns:a="http://schemas.openxmlformats.org/drawingml/2006/main" noGrp="1"/>
          </p:cNvSpPr>
          <p:nvPr/>
        </p:nvSpPr>
        <p:spPr>
          <a:xfrm xmlns:a="http://schemas.openxmlformats.org/drawingml/2006/main">
            <a:off x="762000" y="39366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a marker to test part of it.</a:t>
            </a:r>
          </a:p>
        </p:txBody>
      </p:sp>
    </p:spTree>
    <p:extLst>
      <p:ext uri="{BB962C8B-B14F-4D97-AF65-F5344CB8AC3E}">
        <p14:creationId xmlns:p14="http://schemas.microsoft.com/office/powerpoint/2010/main" val="14464789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05116ECB-FCAA-4D01-981E-2D4390150A5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81BD2FC-9888-43E8-A6BF-02BF59F654A8}"/>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712F40B-20E5-40EB-848A-D67A9DABCCD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AF3457C7-90B3-4891-95C3-D36A26BF443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trieval">
            <a:extLst xmlns:a="http://schemas.openxmlformats.org/drawingml/2006/main">
              <a:ext uri="{FF2B5EF4-FFF2-40B4-BE49-F238E27FC236}">
                <a16:creationId xmlns:a16="http://schemas.microsoft.com/office/drawing/2014/main" id="{129B4579-3559-456D-8554-2A74DE88F48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14B5F0F4-72A3-4D55-AA77-FC7DB24A35F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trieve the connected parts">
            <a:extLst xmlns:a="http://schemas.openxmlformats.org/drawingml/2006/main">
              <a:ext uri="{FF2B5EF4-FFF2-40B4-BE49-F238E27FC236}">
                <a16:creationId xmlns:a16="http://schemas.microsoft.com/office/drawing/2014/main" id="{92F04714-C2F5-4E21-A4D6-8166A92BF20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Retrieve the connected parts</a:t>
            </a:r>
          </a:p>
        </p:txBody>
      </p:sp>
      <p:sp>
        <p:nvSpPr>
          <p:cNvPr id="8" name="surface">
            <a:extLst xmlns:a="http://schemas.openxmlformats.org/drawingml/2006/main">
              <a:ext uri="{FF2B5EF4-FFF2-40B4-BE49-F238E27FC236}">
                <a16:creationId xmlns:a16="http://schemas.microsoft.com/office/drawing/2014/main" id="{FFB46E08-9F9A-442D-BC7C-217B5349ABE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C1A99020-72E5-4F98-9EAD-7D8A1493C30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2 / 14">
            <a:extLst xmlns:a="http://schemas.openxmlformats.org/drawingml/2006/main">
              <a:ext uri="{FF2B5EF4-FFF2-40B4-BE49-F238E27FC236}">
                <a16:creationId xmlns:a16="http://schemas.microsoft.com/office/drawing/2014/main" id="{BF41F61D-7424-4464-B464-5CF60D3F23D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14</a:t>
            </a:r>
          </a:p>
        </p:txBody>
      </p:sp>
      <p:sp>
        <p:nvSpPr>
          <p:cNvPr id="11" name="1. Which part takes in soil water?">
            <a:extLst xmlns:a="http://schemas.openxmlformats.org/drawingml/2006/main">
              <a:ext uri="{FF2B5EF4-FFF2-40B4-BE49-F238E27FC236}">
                <a16:creationId xmlns:a16="http://schemas.microsoft.com/office/drawing/2014/main" id="{C9B5E47A-9683-4A96-8D46-6C3D14EC86EC}"/>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1. Which part takes in soil water?</a:t>
            </a:r>
          </a:p>
        </p:txBody>
      </p:sp>
      <p:sp>
        <p:nvSpPr>
          <p:cNvPr id="12" name="2. Which part connects roots and leaves?">
            <a:extLst xmlns:a="http://schemas.openxmlformats.org/drawingml/2006/main">
              <a:ext uri="{FF2B5EF4-FFF2-40B4-BE49-F238E27FC236}">
                <a16:creationId xmlns:a16="http://schemas.microsoft.com/office/drawing/2014/main" id="{E7C73FDB-4E5E-45CC-BCFE-2267423A5B18}"/>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2. Which part connects roots and leaves?</a:t>
            </a:r>
          </a:p>
        </p:txBody>
      </p:sp>
      <p:sp>
        <p:nvSpPr>
          <p:cNvPr id="13" name="3. Does water usually enter as solid soil?">
            <a:extLst xmlns:a="http://schemas.openxmlformats.org/drawingml/2006/main">
              <a:ext uri="{FF2B5EF4-FFF2-40B4-BE49-F238E27FC236}">
                <a16:creationId xmlns:a16="http://schemas.microsoft.com/office/drawing/2014/main" id="{32A30BDE-2AB0-476A-99B6-4E32190366DF}"/>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3. Does water usually enter as solid soil?</a:t>
            </a:r>
          </a:p>
        </p:txBody>
      </p:sp>
    </p:spTree>
    <p:extLst>
      <p:ext uri="{BB962C8B-B14F-4D97-AF65-F5344CB8AC3E}">
        <p14:creationId xmlns:p14="http://schemas.microsoft.com/office/powerpoint/2010/main" val="5810623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urface">
            <a:extLst xmlns:a="http://schemas.openxmlformats.org/drawingml/2006/main">
              <a:ext uri="{FF2B5EF4-FFF2-40B4-BE49-F238E27FC236}">
                <a16:creationId xmlns:a16="http://schemas.microsoft.com/office/drawing/2014/main" id="{9D7969DC-39A7-4312-B5C3-298F8A60224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A1A9B9D-13A8-43C3-A553-E0074FED6EB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93909BB-A8A5-488F-9517-121B01BCF7A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CE7179D-3D31-4C38-9106-2D621B43334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E38D92BC-C667-4DF1-BFD6-0FEA831DF74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7 min">
            <a:extLst xmlns:a="http://schemas.openxmlformats.org/drawingml/2006/main">
              <a:ext uri="{FF2B5EF4-FFF2-40B4-BE49-F238E27FC236}">
                <a16:creationId xmlns:a16="http://schemas.microsoft.com/office/drawing/2014/main" id="{F991D0CE-28D1-4DD2-BCC7-03CD260E66F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7 min</a:t>
            </a:r>
          </a:p>
        </p:txBody>
      </p:sp>
      <p:sp>
        <p:nvSpPr>
          <p:cNvPr id="7" name="I trace the rooted-plant route">
            <a:extLst xmlns:a="http://schemas.openxmlformats.org/drawingml/2006/main">
              <a:ext uri="{FF2B5EF4-FFF2-40B4-BE49-F238E27FC236}">
                <a16:creationId xmlns:a16="http://schemas.microsoft.com/office/drawing/2014/main" id="{637A6349-D198-4155-B39B-AB92CBD60E2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trace the rooted-plant route</a:t>
            </a:r>
          </a:p>
        </p:txBody>
      </p:sp>
      <p:sp>
        <p:nvSpPr>
          <p:cNvPr id="8" name="surface">
            <a:extLst xmlns:a="http://schemas.openxmlformats.org/drawingml/2006/main">
              <a:ext uri="{FF2B5EF4-FFF2-40B4-BE49-F238E27FC236}">
                <a16:creationId xmlns:a16="http://schemas.microsoft.com/office/drawing/2014/main" id="{6C39C9A8-C929-4EC1-B931-F768DA15E4A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020FEED1-4DAD-4275-9133-C43D1D060F3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3 / 14">
            <a:extLst xmlns:a="http://schemas.openxmlformats.org/drawingml/2006/main">
              <a:ext uri="{FF2B5EF4-FFF2-40B4-BE49-F238E27FC236}">
                <a16:creationId xmlns:a16="http://schemas.microsoft.com/office/drawing/2014/main" id="{7752F5FA-2F09-4E7F-9833-C1A6A10137E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14</a:t>
            </a:r>
          </a:p>
        </p:txBody>
      </p:sp>
      <p:sp>
        <p:nvSpPr>
          <p:cNvPr id="11" name="Editable scientific diagram">
            <a:extLst xmlns:a="http://schemas.openxmlformats.org/drawingml/2006/main">
              <a:ext uri="{FF2B5EF4-FFF2-40B4-BE49-F238E27FC236}">
                <a16:creationId xmlns:a16="http://schemas.microsoft.com/office/drawing/2014/main" id="{81BBDA43-A3AE-465A-88EE-156C3D55DEDB}"/>
              </a:ext>
            </a:extLst>
          </p:cNvPr>
          <p:cNvSpPr>
            <a:spLocks xmlns:a="http://schemas.openxmlformats.org/drawingml/2006/main" noGrp="1"/>
          </p:cNvSpPr>
          <p:nvPr/>
        </p:nvSpPr>
        <p:spPr>
          <a:xfrm xmlns:a="http://schemas.openxmlformats.org/drawingml/2006/main">
            <a:off x="4677285" y="4759949"/>
            <a:ext cx="2090738" cy="933365"/>
          </a:xfrm>
          <a:prstGeom xmlns:a="http://schemas.openxmlformats.org/drawingml/2006/main" prst="rect">
            <a:avLst/>
          </a:prstGeom>
          <a:solidFill xmlns:a="http://schemas.openxmlformats.org/drawingml/2006/main">
            <a:srgbClr val="F3E8D7"/>
          </a:solidFill>
          <a:ln xmlns:a="http://schemas.openxmlformats.org/drawingml/2006/main" w="22401">
            <a:solidFill>
              <a:srgbClr val="C9803B"/>
            </a:solidFill>
          </a:ln>
        </p:spPr>
      </p:sp>
      <p:sp>
        <p:nvSpPr>
          <p:cNvPr id="12" name="Diagram line">
            <a:extLst xmlns:a="http://schemas.openxmlformats.org/drawingml/2006/main">
              <a:ext uri="{FF2B5EF4-FFF2-40B4-BE49-F238E27FC236}">
                <a16:creationId xmlns:a16="http://schemas.microsoft.com/office/drawing/2014/main" id="{15A30EED-A241-42ED-8A73-D90540AA5549}"/>
              </a:ext>
            </a:extLst>
          </p:cNvPr>
          <p:cNvSpPr>
            <a:spLocks xmlns:a="http://schemas.openxmlformats.org/drawingml/2006/main" noGrp="1"/>
          </p:cNvSpPr>
          <p:nvPr/>
        </p:nvSpPr>
        <p:spPr>
          <a:xfrm xmlns:a="http://schemas.openxmlformats.org/drawingml/2006/main" flipH="0" flipV="1">
            <a:off x="5647985" y="2706546"/>
            <a:ext cx="953" cy="2053403"/>
          </a:xfrm>
          <a:prstGeom xmlns:a="http://schemas.openxmlformats.org/drawingml/2006/main" prst="line">
            <a:avLst/>
          </a:prstGeom>
          <a:noFill xmlns:a="http://schemas.openxmlformats.org/drawingml/2006/main"/>
          <a:ln xmlns:a="http://schemas.openxmlformats.org/drawingml/2006/main" w="89603">
            <a:solidFill>
              <a:srgbClr val="3F7D6E"/>
            </a:solidFill>
          </a:ln>
        </p:spPr>
      </p:sp>
      <p:sp>
        <p:nvSpPr>
          <p:cNvPr id="13" name="Editable scientific diagram">
            <a:extLst xmlns:a="http://schemas.openxmlformats.org/drawingml/2006/main">
              <a:ext uri="{FF2B5EF4-FFF2-40B4-BE49-F238E27FC236}">
                <a16:creationId xmlns:a16="http://schemas.microsoft.com/office/drawing/2014/main" id="{82C2F772-FCE1-4375-AAB5-23F7C59A4E1F}"/>
              </a:ext>
            </a:extLst>
          </p:cNvPr>
          <p:cNvSpPr>
            <a:spLocks xmlns:a="http://schemas.openxmlformats.org/drawingml/2006/main" noGrp="1"/>
          </p:cNvSpPr>
          <p:nvPr/>
        </p:nvSpPr>
        <p:spPr>
          <a:xfrm xmlns:a="http://schemas.openxmlformats.org/drawingml/2006/main">
            <a:off x="4677285" y="3341234"/>
            <a:ext cx="970700" cy="485350"/>
          </a:xfrm>
          <a:prstGeom xmlns:a="http://schemas.openxmlformats.org/drawingml/2006/main" prst="ellipse">
            <a:avLst/>
          </a:prstGeom>
          <a:solidFill xmlns:a="http://schemas.openxmlformats.org/drawingml/2006/main">
            <a:srgbClr val="DDEDE2"/>
          </a:solidFill>
          <a:ln xmlns:a="http://schemas.openxmlformats.org/drawingml/2006/main" w="22401">
            <a:solidFill>
              <a:srgbClr val="3F7D6E"/>
            </a:solidFill>
          </a:ln>
        </p:spPr>
      </p:sp>
      <p:sp>
        <p:nvSpPr>
          <p:cNvPr id="14" name="Editable scientific diagram">
            <a:extLst xmlns:a="http://schemas.openxmlformats.org/drawingml/2006/main">
              <a:ext uri="{FF2B5EF4-FFF2-40B4-BE49-F238E27FC236}">
                <a16:creationId xmlns:a16="http://schemas.microsoft.com/office/drawing/2014/main" id="{9EBB7587-05FF-4D3E-BC46-E8DB73264839}"/>
              </a:ext>
            </a:extLst>
          </p:cNvPr>
          <p:cNvSpPr>
            <a:spLocks xmlns:a="http://schemas.openxmlformats.org/drawingml/2006/main" noGrp="1"/>
          </p:cNvSpPr>
          <p:nvPr/>
        </p:nvSpPr>
        <p:spPr>
          <a:xfrm xmlns:a="http://schemas.openxmlformats.org/drawingml/2006/main">
            <a:off x="5677852" y="3751915"/>
            <a:ext cx="1008034" cy="485350"/>
          </a:xfrm>
          <a:prstGeom xmlns:a="http://schemas.openxmlformats.org/drawingml/2006/main" prst="ellipse">
            <a:avLst/>
          </a:prstGeom>
          <a:solidFill xmlns:a="http://schemas.openxmlformats.org/drawingml/2006/main">
            <a:srgbClr val="DDEDE2"/>
          </a:solidFill>
          <a:ln xmlns:a="http://schemas.openxmlformats.org/drawingml/2006/main" w="22401">
            <a:solidFill>
              <a:srgbClr val="3F7D6E"/>
            </a:solidFill>
          </a:ln>
        </p:spPr>
      </p:sp>
      <p:sp>
        <p:nvSpPr>
          <p:cNvPr id="15" name="Diagram line">
            <a:extLst xmlns:a="http://schemas.openxmlformats.org/drawingml/2006/main">
              <a:ext uri="{FF2B5EF4-FFF2-40B4-BE49-F238E27FC236}">
                <a16:creationId xmlns:a16="http://schemas.microsoft.com/office/drawing/2014/main" id="{37D835DC-4AFD-4A19-8708-7CD93BE2DD1A}"/>
              </a:ext>
            </a:extLst>
          </p:cNvPr>
          <p:cNvSpPr>
            <a:spLocks xmlns:a="http://schemas.openxmlformats.org/drawingml/2006/main" noGrp="1"/>
          </p:cNvSpPr>
          <p:nvPr/>
        </p:nvSpPr>
        <p:spPr>
          <a:xfrm xmlns:a="http://schemas.openxmlformats.org/drawingml/2006/main" flipH="1" flipV="0">
            <a:off x="5050631" y="4759949"/>
            <a:ext cx="597354" cy="485350"/>
          </a:xfrm>
          <a:prstGeom xmlns:a="http://schemas.openxmlformats.org/drawingml/2006/main" prst="line">
            <a:avLst/>
          </a:prstGeom>
          <a:noFill xmlns:a="http://schemas.openxmlformats.org/drawingml/2006/main"/>
          <a:ln xmlns:a="http://schemas.openxmlformats.org/drawingml/2006/main" w="44802">
            <a:solidFill>
              <a:srgbClr val="C9803B"/>
            </a:solidFill>
          </a:ln>
        </p:spPr>
      </p:sp>
      <p:sp>
        <p:nvSpPr>
          <p:cNvPr id="16" name="Diagram line">
            <a:extLst xmlns:a="http://schemas.openxmlformats.org/drawingml/2006/main">
              <a:ext uri="{FF2B5EF4-FFF2-40B4-BE49-F238E27FC236}">
                <a16:creationId xmlns:a16="http://schemas.microsoft.com/office/drawing/2014/main" id="{E7A1688B-A10E-4AC9-969A-D697783D749C}"/>
              </a:ext>
            </a:extLst>
          </p:cNvPr>
          <p:cNvSpPr>
            <a:spLocks xmlns:a="http://schemas.openxmlformats.org/drawingml/2006/main" noGrp="1"/>
          </p:cNvSpPr>
          <p:nvPr/>
        </p:nvSpPr>
        <p:spPr>
          <a:xfrm xmlns:a="http://schemas.openxmlformats.org/drawingml/2006/main" flipH="0" flipV="0">
            <a:off x="5647985" y="4759949"/>
            <a:ext cx="672023" cy="485350"/>
          </a:xfrm>
          <a:prstGeom xmlns:a="http://schemas.openxmlformats.org/drawingml/2006/main" prst="line">
            <a:avLst/>
          </a:prstGeom>
          <a:noFill xmlns:a="http://schemas.openxmlformats.org/drawingml/2006/main"/>
          <a:ln xmlns:a="http://schemas.openxmlformats.org/drawingml/2006/main" w="44802">
            <a:solidFill>
              <a:srgbClr val="C9803B"/>
            </a:solidFill>
          </a:ln>
        </p:spPr>
      </p:sp>
      <p:sp>
        <p:nvSpPr>
          <p:cNvPr id="17" name="Diagram line">
            <a:extLst xmlns:a="http://schemas.openxmlformats.org/drawingml/2006/main">
              <a:ext uri="{FF2B5EF4-FFF2-40B4-BE49-F238E27FC236}">
                <a16:creationId xmlns:a16="http://schemas.microsoft.com/office/drawing/2014/main" id="{F3B701E8-9F2D-4D0E-AD08-ACEF89F69475}"/>
              </a:ext>
            </a:extLst>
          </p:cNvPr>
          <p:cNvSpPr>
            <a:spLocks xmlns:a="http://schemas.openxmlformats.org/drawingml/2006/main" noGrp="1"/>
          </p:cNvSpPr>
          <p:nvPr/>
        </p:nvSpPr>
        <p:spPr>
          <a:xfrm xmlns:a="http://schemas.openxmlformats.org/drawingml/2006/main" flipH="1" flipV="0">
            <a:off x="5349308" y="4759949"/>
            <a:ext cx="298677" cy="746692"/>
          </a:xfrm>
          <a:prstGeom xmlns:a="http://schemas.openxmlformats.org/drawingml/2006/main" prst="line">
            <a:avLst/>
          </a:prstGeom>
          <a:noFill xmlns:a="http://schemas.openxmlformats.org/drawingml/2006/main"/>
          <a:ln xmlns:a="http://schemas.openxmlformats.org/drawingml/2006/main" w="44802">
            <a:solidFill>
              <a:srgbClr val="C9803B"/>
            </a:solidFill>
          </a:ln>
        </p:spPr>
      </p:sp>
      <p:sp>
        <p:nvSpPr>
          <p:cNvPr id="18" name="Diagram line">
            <a:extLst xmlns:a="http://schemas.openxmlformats.org/drawingml/2006/main">
              <a:ext uri="{FF2B5EF4-FFF2-40B4-BE49-F238E27FC236}">
                <a16:creationId xmlns:a16="http://schemas.microsoft.com/office/drawing/2014/main" id="{E1AB4923-06FA-4B9D-8605-A11C1439BDBA}"/>
              </a:ext>
            </a:extLst>
          </p:cNvPr>
          <p:cNvSpPr>
            <a:spLocks xmlns:a="http://schemas.openxmlformats.org/drawingml/2006/main" noGrp="1"/>
          </p:cNvSpPr>
          <p:nvPr/>
        </p:nvSpPr>
        <p:spPr>
          <a:xfrm xmlns:a="http://schemas.openxmlformats.org/drawingml/2006/main" flipH="0" flipV="0">
            <a:off x="5647985" y="4759949"/>
            <a:ext cx="261342" cy="784027"/>
          </a:xfrm>
          <a:prstGeom xmlns:a="http://schemas.openxmlformats.org/drawingml/2006/main" prst="line">
            <a:avLst/>
          </a:prstGeom>
          <a:noFill xmlns:a="http://schemas.openxmlformats.org/drawingml/2006/main"/>
          <a:ln xmlns:a="http://schemas.openxmlformats.org/drawingml/2006/main" w="44802">
            <a:solidFill>
              <a:srgbClr val="C9803B"/>
            </a:solidFill>
          </a:ln>
        </p:spPr>
      </p:sp>
      <p:sp>
        <p:nvSpPr>
          <p:cNvPr id="19" name="Diagram label: Rooted plant: water path">
            <a:extLst xmlns:a="http://schemas.openxmlformats.org/drawingml/2006/main">
              <a:ext uri="{FF2B5EF4-FFF2-40B4-BE49-F238E27FC236}">
                <a16:creationId xmlns:a16="http://schemas.microsoft.com/office/drawing/2014/main" id="{62FB6611-3802-4F95-8E0C-A46DFDCF5C9E}"/>
              </a:ext>
            </a:extLst>
          </p:cNvPr>
          <p:cNvSpPr>
            <a:spLocks xmlns:a="http://schemas.openxmlformats.org/drawingml/2006/main" noGrp="1"/>
          </p:cNvSpPr>
          <p:nvPr/>
        </p:nvSpPr>
        <p:spPr>
          <a:xfrm xmlns:a="http://schemas.openxmlformats.org/drawingml/2006/main">
            <a:off x="2661217" y="2146527"/>
            <a:ext cx="6832231"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23" b="1">
                <a:solidFill>
                  <a:srgbClr val="1F2937"/>
                </a:solidFill>
                <a:latin typeface="Nimbus Sans"/>
                <a:ea typeface="Nimbus Sans"/>
                <a:cs typeface="Nimbus Sans"/>
              </a:defRPr>
            </a:pPr>
            <a:r>
              <a:rPr sz="1823" b="1">
                <a:solidFill>
                  <a:srgbClr val="1F2937"/>
                </a:solidFill>
                <a:latin typeface="Nimbus Sans"/>
                <a:ea typeface="Nimbus Sans"/>
                <a:cs typeface="Nimbus Sans"/>
              </a:rPr>
              <a:t>Rooted plant: water path</a:t>
            </a:r>
          </a:p>
        </p:txBody>
      </p:sp>
      <p:sp>
        <p:nvSpPr>
          <p:cNvPr id="20" name="Diagram line">
            <a:extLst xmlns:a="http://schemas.openxmlformats.org/drawingml/2006/main">
              <a:ext uri="{FF2B5EF4-FFF2-40B4-BE49-F238E27FC236}">
                <a16:creationId xmlns:a16="http://schemas.microsoft.com/office/drawing/2014/main" id="{9F8FAA5E-D931-490F-BEEB-E382E633A584}"/>
              </a:ext>
            </a:extLst>
          </p:cNvPr>
          <p:cNvSpPr>
            <a:spLocks xmlns:a="http://schemas.openxmlformats.org/drawingml/2006/main" noGrp="1"/>
          </p:cNvSpPr>
          <p:nvPr/>
        </p:nvSpPr>
        <p:spPr>
          <a:xfrm xmlns:a="http://schemas.openxmlformats.org/drawingml/2006/main" flipH="0" flipV="1">
            <a:off x="3706586" y="5215765"/>
            <a:ext cx="1415370" cy="141537"/>
          </a:xfrm>
          <a:prstGeom xmlns:a="http://schemas.openxmlformats.org/drawingml/2006/main" prst="line">
            <a:avLst/>
          </a:prstGeom>
          <a:noFill xmlns:a="http://schemas.openxmlformats.org/drawingml/2006/main"/>
          <a:ln xmlns:a="http://schemas.openxmlformats.org/drawingml/2006/main" w="29868">
            <a:solidFill>
              <a:srgbClr val="347EBC"/>
            </a:solidFill>
          </a:ln>
        </p:spPr>
      </p:sp>
      <p:sp>
        <p:nvSpPr>
          <p:cNvPr id="21" name="Diagram arrowhead">
            <a:extLst xmlns:a="http://schemas.openxmlformats.org/drawingml/2006/main">
              <a:ext uri="{FF2B5EF4-FFF2-40B4-BE49-F238E27FC236}">
                <a16:creationId xmlns:a16="http://schemas.microsoft.com/office/drawing/2014/main" id="{6F5F6CFE-8A8C-49BE-80FF-98888C0960EF}"/>
              </a:ext>
            </a:extLst>
          </p:cNvPr>
          <p:cNvSpPr>
            <a:spLocks xmlns:a="http://schemas.openxmlformats.org/drawingml/2006/main" noGrp="1"/>
          </p:cNvSpPr>
          <p:nvPr/>
        </p:nvSpPr>
        <p:spPr>
          <a:xfrm xmlns:a="http://schemas.openxmlformats.org/drawingml/2006/main" rot="5057364">
            <a:off x="5095692" y="5160896"/>
            <a:ext cx="104537" cy="104537"/>
          </a:xfrm>
          <a:prstGeom xmlns:a="http://schemas.openxmlformats.org/drawingml/2006/main" prst="triangle">
            <a:avLst/>
          </a:prstGeom>
          <a:solidFill xmlns:a="http://schemas.openxmlformats.org/drawingml/2006/main">
            <a:srgbClr val="347EBC"/>
          </a:solidFill>
          <a:ln xmlns:a="http://schemas.openxmlformats.org/drawingml/2006/main" w="0">
            <a:noFill/>
          </a:ln>
        </p:spPr>
      </p:sp>
      <p:sp>
        <p:nvSpPr>
          <p:cNvPr id="22" name="Diagram line">
            <a:extLst xmlns:a="http://schemas.openxmlformats.org/drawingml/2006/main">
              <a:ext uri="{FF2B5EF4-FFF2-40B4-BE49-F238E27FC236}">
                <a16:creationId xmlns:a16="http://schemas.microsoft.com/office/drawing/2014/main" id="{2D0678E5-6240-4404-91A6-A717047D8F3B}"/>
              </a:ext>
            </a:extLst>
          </p:cNvPr>
          <p:cNvSpPr>
            <a:spLocks xmlns:a="http://schemas.openxmlformats.org/drawingml/2006/main" noGrp="1"/>
          </p:cNvSpPr>
          <p:nvPr/>
        </p:nvSpPr>
        <p:spPr>
          <a:xfrm xmlns:a="http://schemas.openxmlformats.org/drawingml/2006/main" flipH="0" flipV="1">
            <a:off x="5423977" y="4822671"/>
            <a:ext cx="176966" cy="235955"/>
          </a:xfrm>
          <a:prstGeom xmlns:a="http://schemas.openxmlformats.org/drawingml/2006/main" prst="line">
            <a:avLst/>
          </a:prstGeom>
          <a:noFill xmlns:a="http://schemas.openxmlformats.org/drawingml/2006/main"/>
          <a:ln xmlns:a="http://schemas.openxmlformats.org/drawingml/2006/main" w="29868">
            <a:solidFill>
              <a:srgbClr val="347EBC"/>
            </a:solidFill>
          </a:ln>
        </p:spPr>
      </p:sp>
      <p:sp>
        <p:nvSpPr>
          <p:cNvPr id="23" name="Diagram arrowhead">
            <a:extLst xmlns:a="http://schemas.openxmlformats.org/drawingml/2006/main">
              <a:ext uri="{FF2B5EF4-FFF2-40B4-BE49-F238E27FC236}">
                <a16:creationId xmlns:a16="http://schemas.microsoft.com/office/drawing/2014/main" id="{59D1A587-6326-49D8-AC46-E0F05BF4A8C9}"/>
              </a:ext>
            </a:extLst>
          </p:cNvPr>
          <p:cNvSpPr>
            <a:spLocks xmlns:a="http://schemas.openxmlformats.org/drawingml/2006/main" noGrp="1"/>
          </p:cNvSpPr>
          <p:nvPr/>
        </p:nvSpPr>
        <p:spPr>
          <a:xfrm xmlns:a="http://schemas.openxmlformats.org/drawingml/2006/main" rot="2212194">
            <a:off x="5564355" y="4749495"/>
            <a:ext cx="104537" cy="104537"/>
          </a:xfrm>
          <a:prstGeom xmlns:a="http://schemas.openxmlformats.org/drawingml/2006/main" prst="triangle">
            <a:avLst/>
          </a:prstGeom>
          <a:solidFill xmlns:a="http://schemas.openxmlformats.org/drawingml/2006/main">
            <a:srgbClr val="347EBC"/>
          </a:solidFill>
          <a:ln xmlns:a="http://schemas.openxmlformats.org/drawingml/2006/main" w="0">
            <a:noFill/>
          </a:ln>
        </p:spPr>
      </p:sp>
      <p:sp>
        <p:nvSpPr>
          <p:cNvPr id="24" name="Diagram line">
            <a:extLst xmlns:a="http://schemas.openxmlformats.org/drawingml/2006/main">
              <a:ext uri="{FF2B5EF4-FFF2-40B4-BE49-F238E27FC236}">
                <a16:creationId xmlns:a16="http://schemas.microsoft.com/office/drawing/2014/main" id="{C5321F28-BF07-4749-B347-32F07284120A}"/>
              </a:ext>
            </a:extLst>
          </p:cNvPr>
          <p:cNvSpPr>
            <a:spLocks xmlns:a="http://schemas.openxmlformats.org/drawingml/2006/main" noGrp="1"/>
          </p:cNvSpPr>
          <p:nvPr/>
        </p:nvSpPr>
        <p:spPr>
          <a:xfrm xmlns:a="http://schemas.openxmlformats.org/drawingml/2006/main" flipH="0" flipV="1">
            <a:off x="5647985" y="3867652"/>
            <a:ext cx="953" cy="780293"/>
          </a:xfrm>
          <a:prstGeom xmlns:a="http://schemas.openxmlformats.org/drawingml/2006/main" prst="line">
            <a:avLst/>
          </a:prstGeom>
          <a:noFill xmlns:a="http://schemas.openxmlformats.org/drawingml/2006/main"/>
          <a:ln xmlns:a="http://schemas.openxmlformats.org/drawingml/2006/main" w="29868">
            <a:solidFill>
              <a:srgbClr val="347EBC"/>
            </a:solidFill>
          </a:ln>
        </p:spPr>
      </p:sp>
      <p:sp>
        <p:nvSpPr>
          <p:cNvPr id="25" name="Diagram arrowhead">
            <a:extLst xmlns:a="http://schemas.openxmlformats.org/drawingml/2006/main">
              <a:ext uri="{FF2B5EF4-FFF2-40B4-BE49-F238E27FC236}">
                <a16:creationId xmlns:a16="http://schemas.microsoft.com/office/drawing/2014/main" id="{022B3384-D6E4-41FD-985E-CDA5A0622BF7}"/>
              </a:ext>
            </a:extLst>
          </p:cNvPr>
          <p:cNvSpPr>
            <a:spLocks xmlns:a="http://schemas.openxmlformats.org/drawingml/2006/main" noGrp="1"/>
          </p:cNvSpPr>
          <p:nvPr/>
        </p:nvSpPr>
        <p:spPr>
          <a:xfrm xmlns:a="http://schemas.openxmlformats.org/drawingml/2006/main" rot="0">
            <a:off x="5595716" y="3789249"/>
            <a:ext cx="104537" cy="104537"/>
          </a:xfrm>
          <a:prstGeom xmlns:a="http://schemas.openxmlformats.org/drawingml/2006/main" prst="triangle">
            <a:avLst/>
          </a:prstGeom>
          <a:solidFill xmlns:a="http://schemas.openxmlformats.org/drawingml/2006/main">
            <a:srgbClr val="347EBC"/>
          </a:solidFill>
          <a:ln xmlns:a="http://schemas.openxmlformats.org/drawingml/2006/main" w="0">
            <a:noFill/>
          </a:ln>
        </p:spPr>
      </p:sp>
      <p:sp>
        <p:nvSpPr>
          <p:cNvPr id="26" name="Diagram line">
            <a:extLst xmlns:a="http://schemas.openxmlformats.org/drawingml/2006/main">
              <a:ext uri="{FF2B5EF4-FFF2-40B4-BE49-F238E27FC236}">
                <a16:creationId xmlns:a16="http://schemas.microsoft.com/office/drawing/2014/main" id="{01CE89B7-9996-41E9-9619-8B62C250E21B}"/>
              </a:ext>
            </a:extLst>
          </p:cNvPr>
          <p:cNvSpPr>
            <a:spLocks xmlns:a="http://schemas.openxmlformats.org/drawingml/2006/main" noGrp="1"/>
          </p:cNvSpPr>
          <p:nvPr/>
        </p:nvSpPr>
        <p:spPr>
          <a:xfrm xmlns:a="http://schemas.openxmlformats.org/drawingml/2006/main" flipH="1" flipV="1">
            <a:off x="5200686" y="3549446"/>
            <a:ext cx="447298" cy="127800"/>
          </a:xfrm>
          <a:prstGeom xmlns:a="http://schemas.openxmlformats.org/drawingml/2006/main" prst="line">
            <a:avLst/>
          </a:prstGeom>
          <a:noFill xmlns:a="http://schemas.openxmlformats.org/drawingml/2006/main"/>
          <a:ln xmlns:a="http://schemas.openxmlformats.org/drawingml/2006/main" w="29868">
            <a:solidFill>
              <a:srgbClr val="347EBC"/>
            </a:solidFill>
          </a:ln>
        </p:spPr>
      </p:sp>
      <p:sp>
        <p:nvSpPr>
          <p:cNvPr id="27" name="Diagram arrowhead">
            <a:extLst xmlns:a="http://schemas.openxmlformats.org/drawingml/2006/main">
              <a:ext uri="{FF2B5EF4-FFF2-40B4-BE49-F238E27FC236}">
                <a16:creationId xmlns:a16="http://schemas.microsoft.com/office/drawing/2014/main" id="{6B7514E3-9193-4EBD-A1DD-ACF4C7B61D1D}"/>
              </a:ext>
            </a:extLst>
          </p:cNvPr>
          <p:cNvSpPr>
            <a:spLocks xmlns:a="http://schemas.openxmlformats.org/drawingml/2006/main" noGrp="1"/>
          </p:cNvSpPr>
          <p:nvPr/>
        </p:nvSpPr>
        <p:spPr>
          <a:xfrm xmlns:a="http://schemas.openxmlformats.org/drawingml/2006/main" rot="-4443276">
            <a:off x="5123289" y="3489998"/>
            <a:ext cx="104537" cy="104537"/>
          </a:xfrm>
          <a:prstGeom xmlns:a="http://schemas.openxmlformats.org/drawingml/2006/main" prst="triangle">
            <a:avLst/>
          </a:prstGeom>
          <a:solidFill xmlns:a="http://schemas.openxmlformats.org/drawingml/2006/main">
            <a:srgbClr val="347EBC"/>
          </a:solidFill>
          <a:ln xmlns:a="http://schemas.openxmlformats.org/drawingml/2006/main" w="0">
            <a:noFill/>
          </a:ln>
        </p:spPr>
      </p:sp>
      <p:sp>
        <p:nvSpPr>
          <p:cNvPr id="28" name="Diagram line">
            <a:extLst xmlns:a="http://schemas.openxmlformats.org/drawingml/2006/main">
              <a:ext uri="{FF2B5EF4-FFF2-40B4-BE49-F238E27FC236}">
                <a16:creationId xmlns:a16="http://schemas.microsoft.com/office/drawing/2014/main" id="{0CDF327F-8C1B-4BBD-9D5A-0AB20D36EDC0}"/>
              </a:ext>
            </a:extLst>
          </p:cNvPr>
          <p:cNvSpPr>
            <a:spLocks xmlns:a="http://schemas.openxmlformats.org/drawingml/2006/main" noGrp="1"/>
          </p:cNvSpPr>
          <p:nvPr/>
        </p:nvSpPr>
        <p:spPr>
          <a:xfrm xmlns:a="http://schemas.openxmlformats.org/drawingml/2006/main" flipH="1" flipV="1">
            <a:off x="4692929" y="2988348"/>
            <a:ext cx="357702" cy="390220"/>
          </a:xfrm>
          <a:prstGeom xmlns:a="http://schemas.openxmlformats.org/drawingml/2006/main" prst="line">
            <a:avLst/>
          </a:prstGeom>
          <a:noFill xmlns:a="http://schemas.openxmlformats.org/drawingml/2006/main"/>
          <a:ln xmlns:a="http://schemas.openxmlformats.org/drawingml/2006/main" w="29868">
            <a:solidFill>
              <a:srgbClr val="347EBC"/>
            </a:solidFill>
          </a:ln>
        </p:spPr>
      </p:sp>
      <p:sp>
        <p:nvSpPr>
          <p:cNvPr id="29" name="Diagram arrowhead">
            <a:extLst xmlns:a="http://schemas.openxmlformats.org/drawingml/2006/main">
              <a:ext uri="{FF2B5EF4-FFF2-40B4-BE49-F238E27FC236}">
                <a16:creationId xmlns:a16="http://schemas.microsoft.com/office/drawing/2014/main" id="{1986067F-F5CD-4310-8852-008FB576415B}"/>
              </a:ext>
            </a:extLst>
          </p:cNvPr>
          <p:cNvSpPr>
            <a:spLocks xmlns:a="http://schemas.openxmlformats.org/drawingml/2006/main" noGrp="1"/>
          </p:cNvSpPr>
          <p:nvPr/>
        </p:nvSpPr>
        <p:spPr>
          <a:xfrm xmlns:a="http://schemas.openxmlformats.org/drawingml/2006/main" rot="-2550627">
            <a:off x="4623001" y="2916815"/>
            <a:ext cx="104537" cy="104537"/>
          </a:xfrm>
          <a:prstGeom xmlns:a="http://schemas.openxmlformats.org/drawingml/2006/main" prst="triangle">
            <a:avLst/>
          </a:prstGeom>
          <a:solidFill xmlns:a="http://schemas.openxmlformats.org/drawingml/2006/main">
            <a:srgbClr val="347EBC"/>
          </a:solidFill>
          <a:ln xmlns:a="http://schemas.openxmlformats.org/drawingml/2006/main" w="0">
            <a:noFill/>
          </a:ln>
        </p:spPr>
      </p:sp>
      <p:sp>
        <p:nvSpPr>
          <p:cNvPr id="30" name="Diagram label: Water enters&#10;the roots.">
            <a:extLst xmlns:a="http://schemas.openxmlformats.org/drawingml/2006/main">
              <a:ext uri="{FF2B5EF4-FFF2-40B4-BE49-F238E27FC236}">
                <a16:creationId xmlns:a16="http://schemas.microsoft.com/office/drawing/2014/main" id="{72F60036-A45A-4F64-AAC2-2B1B82943839}"/>
              </a:ext>
            </a:extLst>
          </p:cNvPr>
          <p:cNvSpPr>
            <a:spLocks xmlns:a="http://schemas.openxmlformats.org/drawingml/2006/main" noGrp="1"/>
          </p:cNvSpPr>
          <p:nvPr/>
        </p:nvSpPr>
        <p:spPr>
          <a:xfrm xmlns:a="http://schemas.openxmlformats.org/drawingml/2006/main">
            <a:off x="2698552" y="4386603"/>
            <a:ext cx="1941399"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Water enters</a:t>
            </a:r>
          </a:p>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the roots.</a:t>
            </a:r>
          </a:p>
        </p:txBody>
      </p:sp>
      <p:sp>
        <p:nvSpPr>
          <p:cNvPr id="31" name="Diagram label: Water travels up&#10;inside the stem&#10;to leaves.">
            <a:extLst xmlns:a="http://schemas.openxmlformats.org/drawingml/2006/main">
              <a:ext uri="{FF2B5EF4-FFF2-40B4-BE49-F238E27FC236}">
                <a16:creationId xmlns:a16="http://schemas.microsoft.com/office/drawing/2014/main" id="{5D6CC6F5-249D-48C4-803A-B330FB95F56C}"/>
              </a:ext>
            </a:extLst>
          </p:cNvPr>
          <p:cNvSpPr>
            <a:spLocks xmlns:a="http://schemas.openxmlformats.org/drawingml/2006/main" noGrp="1"/>
          </p:cNvSpPr>
          <p:nvPr/>
        </p:nvSpPr>
        <p:spPr>
          <a:xfrm xmlns:a="http://schemas.openxmlformats.org/drawingml/2006/main">
            <a:off x="7216038" y="3975922"/>
            <a:ext cx="2240076" cy="8586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Water travels up</a:t>
            </a:r>
          </a:p>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inside the stem</a:t>
            </a:r>
          </a:p>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to leaves.</a:t>
            </a:r>
          </a:p>
        </p:txBody>
      </p:sp>
      <p:sp>
        <p:nvSpPr>
          <p:cNvPr id="32" name="Diagram label: Some water leaves&#10;the leaves as vapour.">
            <a:extLst xmlns:a="http://schemas.openxmlformats.org/drawingml/2006/main">
              <a:ext uri="{FF2B5EF4-FFF2-40B4-BE49-F238E27FC236}">
                <a16:creationId xmlns:a16="http://schemas.microsoft.com/office/drawing/2014/main" id="{0D269EE6-1AEF-49C2-AD71-1FFBE20E080E}"/>
              </a:ext>
            </a:extLst>
          </p:cNvPr>
          <p:cNvSpPr>
            <a:spLocks xmlns:a="http://schemas.openxmlformats.org/drawingml/2006/main" noGrp="1"/>
          </p:cNvSpPr>
          <p:nvPr/>
        </p:nvSpPr>
        <p:spPr>
          <a:xfrm xmlns:a="http://schemas.openxmlformats.org/drawingml/2006/main">
            <a:off x="6506681" y="2519873"/>
            <a:ext cx="2912099" cy="8586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Some water leaves</a:t>
            </a:r>
          </a:p>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the leaves as vapour.</a:t>
            </a:r>
          </a:p>
        </p:txBody>
      </p:sp>
      <p:sp>
        <p:nvSpPr>
          <p:cNvPr id="33" name="Diagram label: These water-carrying pathways are called xylem.">
            <a:extLst xmlns:a="http://schemas.openxmlformats.org/drawingml/2006/main">
              <a:ext uri="{FF2B5EF4-FFF2-40B4-BE49-F238E27FC236}">
                <a16:creationId xmlns:a16="http://schemas.microsoft.com/office/drawing/2014/main" id="{9AEDE037-9E1B-47D2-9FB5-6CAA95B1C5C6}"/>
              </a:ext>
            </a:extLst>
          </p:cNvPr>
          <p:cNvSpPr>
            <a:spLocks xmlns:a="http://schemas.openxmlformats.org/drawingml/2006/main" noGrp="1"/>
          </p:cNvSpPr>
          <p:nvPr/>
        </p:nvSpPr>
        <p:spPr>
          <a:xfrm xmlns:a="http://schemas.openxmlformats.org/drawingml/2006/main">
            <a:off x="2661217" y="5730648"/>
            <a:ext cx="6794897"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These water-carrying pathways are called xylem.</a:t>
            </a:r>
          </a:p>
        </p:txBody>
      </p:sp>
      <p:sp>
        <p:nvSpPr>
          <p:cNvPr id="34" name="Soil → roots → stem → leaves.  Water moves through internal path">
            <a:extLst xmlns:a="http://schemas.openxmlformats.org/drawingml/2006/main">
              <a:ext uri="{FF2B5EF4-FFF2-40B4-BE49-F238E27FC236}">
                <a16:creationId xmlns:a16="http://schemas.microsoft.com/office/drawing/2014/main" id="{ADCCDF26-3460-4788-906A-1DD5AC5C7C14}"/>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Soil → roots → stem → leaves. Water moves through internal pathways.</a:t>
            </a:r>
          </a:p>
        </p:txBody>
      </p:sp>
    </p:spTree>
    <p:extLst>
      <p:ext uri="{BB962C8B-B14F-4D97-AF65-F5344CB8AC3E}">
        <p14:creationId xmlns:p14="http://schemas.microsoft.com/office/powerpoint/2010/main" val="11371382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urface">
            <a:extLst xmlns:a="http://schemas.openxmlformats.org/drawingml/2006/main">
              <a:ext uri="{FF2B5EF4-FFF2-40B4-BE49-F238E27FC236}">
                <a16:creationId xmlns:a16="http://schemas.microsoft.com/office/drawing/2014/main" id="{188DAFEB-4111-49B4-8117-EDF7993C880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C677590-C6FF-4190-A285-E9D5A197193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878EAB2-6901-4A3D-B1BB-0B81B0F3120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769422D5-0043-4DF5-B259-92EC126F769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AAFE5D63-8055-422F-A1C2-2E8B87551AC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mark water in a cut shoot">
            <a:extLst xmlns:a="http://schemas.openxmlformats.org/drawingml/2006/main">
              <a:ext uri="{FF2B5EF4-FFF2-40B4-BE49-F238E27FC236}">
                <a16:creationId xmlns:a16="http://schemas.microsoft.com/office/drawing/2014/main" id="{0EE04237-6698-4F78-A12A-B96FDF3662F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mark water in a cut shoot</a:t>
            </a:r>
          </a:p>
        </p:txBody>
      </p:sp>
      <p:sp>
        <p:nvSpPr>
          <p:cNvPr id="7" name="surface">
            <a:extLst xmlns:a="http://schemas.openxmlformats.org/drawingml/2006/main">
              <a:ext uri="{FF2B5EF4-FFF2-40B4-BE49-F238E27FC236}">
                <a16:creationId xmlns:a16="http://schemas.microsoft.com/office/drawing/2014/main" id="{297F33D2-C07B-47AB-A147-29780A4895F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water-path detectives">
            <a:extLst xmlns:a="http://schemas.openxmlformats.org/drawingml/2006/main">
              <a:ext uri="{FF2B5EF4-FFF2-40B4-BE49-F238E27FC236}">
                <a16:creationId xmlns:a16="http://schemas.microsoft.com/office/drawing/2014/main" id="{DDB49F05-70C9-44AA-BAB7-24E2C14C4EF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9" name="4 / 14">
            <a:extLst xmlns:a="http://schemas.openxmlformats.org/drawingml/2006/main">
              <a:ext uri="{FF2B5EF4-FFF2-40B4-BE49-F238E27FC236}">
                <a16:creationId xmlns:a16="http://schemas.microsoft.com/office/drawing/2014/main" id="{9F6B50C2-78CD-4FDA-A25A-0F0BD55B631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14</a:t>
            </a:r>
          </a:p>
        </p:txBody>
      </p:sp>
      <p:sp>
        <p:nvSpPr>
          <p:cNvPr id="10" name="Diagram label: Cut shoots: this demonstration has no roots.">
            <a:extLst xmlns:a="http://schemas.openxmlformats.org/drawingml/2006/main">
              <a:ext uri="{FF2B5EF4-FFF2-40B4-BE49-F238E27FC236}">
                <a16:creationId xmlns:a16="http://schemas.microsoft.com/office/drawing/2014/main" id="{90B21C9E-D911-49E2-81F8-527DE25AB29A}"/>
              </a:ext>
            </a:extLst>
          </p:cNvPr>
          <p:cNvSpPr>
            <a:spLocks xmlns:a="http://schemas.openxmlformats.org/drawingml/2006/main" noGrp="1"/>
          </p:cNvSpPr>
          <p:nvPr/>
        </p:nvSpPr>
        <p:spPr>
          <a:xfrm xmlns:a="http://schemas.openxmlformats.org/drawingml/2006/main">
            <a:off x="2661217" y="2071858"/>
            <a:ext cx="6869566"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Cut shoots: this demonstration has no roots.</a:t>
            </a:r>
          </a:p>
        </p:txBody>
      </p:sp>
      <p:sp>
        <p:nvSpPr>
          <p:cNvPr id="11" name="Editable scientific diagram">
            <a:extLst xmlns:a="http://schemas.openxmlformats.org/drawingml/2006/main">
              <a:ext uri="{FF2B5EF4-FFF2-40B4-BE49-F238E27FC236}">
                <a16:creationId xmlns:a16="http://schemas.microsoft.com/office/drawing/2014/main" id="{67C86C8F-E46B-4673-8259-A7912D59E79B}"/>
              </a:ext>
            </a:extLst>
          </p:cNvPr>
          <p:cNvSpPr>
            <a:spLocks xmlns:a="http://schemas.openxmlformats.org/drawingml/2006/main" noGrp="1"/>
          </p:cNvSpPr>
          <p:nvPr/>
        </p:nvSpPr>
        <p:spPr>
          <a:xfrm xmlns:a="http://schemas.openxmlformats.org/drawingml/2006/main">
            <a:off x="3370574" y="4087926"/>
            <a:ext cx="1642722" cy="1194707"/>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12" name="Editable scientific diagram">
            <a:extLst xmlns:a="http://schemas.openxmlformats.org/drawingml/2006/main">
              <a:ext uri="{FF2B5EF4-FFF2-40B4-BE49-F238E27FC236}">
                <a16:creationId xmlns:a16="http://schemas.microsoft.com/office/drawing/2014/main" id="{E720022B-9CF8-405D-A3B1-EE67233C1B5C}"/>
              </a:ext>
            </a:extLst>
          </p:cNvPr>
          <p:cNvSpPr>
            <a:spLocks xmlns:a="http://schemas.openxmlformats.org/drawingml/2006/main" noGrp="1"/>
          </p:cNvSpPr>
          <p:nvPr/>
        </p:nvSpPr>
        <p:spPr>
          <a:xfrm xmlns:a="http://schemas.openxmlformats.org/drawingml/2006/main">
            <a:off x="3407909" y="4610610"/>
            <a:ext cx="1568053" cy="634688"/>
          </a:xfrm>
          <a:prstGeom xmlns:a="http://schemas.openxmlformats.org/drawingml/2006/main" prst="rect">
            <a:avLst/>
          </a:prstGeom>
          <a:solidFill xmlns:a="http://schemas.openxmlformats.org/drawingml/2006/main">
            <a:srgbClr val="EDC3C8"/>
          </a:solidFill>
          <a:ln xmlns:a="http://schemas.openxmlformats.org/drawingml/2006/main" w="7467">
            <a:solidFill>
              <a:srgbClr val="EDC3C8"/>
            </a:solidFill>
          </a:ln>
        </p:spPr>
      </p:sp>
      <p:sp>
        <p:nvSpPr>
          <p:cNvPr id="13" name="Editable scientific diagram">
            <a:extLst xmlns:a="http://schemas.openxmlformats.org/drawingml/2006/main">
              <a:ext uri="{FF2B5EF4-FFF2-40B4-BE49-F238E27FC236}">
                <a16:creationId xmlns:a16="http://schemas.microsoft.com/office/drawing/2014/main" id="{652B2817-D3F4-4D91-A348-2C767591D84F}"/>
              </a:ext>
            </a:extLst>
          </p:cNvPr>
          <p:cNvSpPr>
            <a:spLocks xmlns:a="http://schemas.openxmlformats.org/drawingml/2006/main" noGrp="1"/>
          </p:cNvSpPr>
          <p:nvPr/>
        </p:nvSpPr>
        <p:spPr>
          <a:xfrm xmlns:a="http://schemas.openxmlformats.org/drawingml/2006/main">
            <a:off x="4050064" y="2855884"/>
            <a:ext cx="209074" cy="2090738"/>
          </a:xfrm>
          <a:prstGeom xmlns:a="http://schemas.openxmlformats.org/drawingml/2006/main" prst="rect">
            <a:avLst/>
          </a:prstGeom>
          <a:solidFill xmlns:a="http://schemas.openxmlformats.org/drawingml/2006/main">
            <a:srgbClr val="DDEDE2"/>
          </a:solidFill>
          <a:ln xmlns:a="http://schemas.openxmlformats.org/drawingml/2006/main" w="22401">
            <a:solidFill>
              <a:srgbClr val="3F7D6E"/>
            </a:solidFill>
          </a:ln>
        </p:spPr>
      </p:sp>
      <p:sp>
        <p:nvSpPr>
          <p:cNvPr id="14" name="Editable scientific diagram">
            <a:extLst xmlns:a="http://schemas.openxmlformats.org/drawingml/2006/main">
              <a:ext uri="{FF2B5EF4-FFF2-40B4-BE49-F238E27FC236}">
                <a16:creationId xmlns:a16="http://schemas.microsoft.com/office/drawing/2014/main" id="{88175AB2-9361-4328-8F7A-D687322544BE}"/>
              </a:ext>
            </a:extLst>
          </p:cNvPr>
          <p:cNvSpPr>
            <a:spLocks xmlns:a="http://schemas.openxmlformats.org/drawingml/2006/main" noGrp="1"/>
          </p:cNvSpPr>
          <p:nvPr/>
        </p:nvSpPr>
        <p:spPr>
          <a:xfrm xmlns:a="http://schemas.openxmlformats.org/drawingml/2006/main">
            <a:off x="3781255" y="2482538"/>
            <a:ext cx="746692" cy="522684"/>
          </a:xfrm>
          <a:prstGeom xmlns:a="http://schemas.openxmlformats.org/drawingml/2006/main" prst="ellipse">
            <a:avLst/>
          </a:prstGeom>
          <a:solidFill xmlns:a="http://schemas.openxmlformats.org/drawingml/2006/main">
            <a:srgbClr val="F8ECEA"/>
          </a:solidFill>
          <a:ln xmlns:a="http://schemas.openxmlformats.org/drawingml/2006/main" w="22401">
            <a:solidFill>
              <a:srgbClr val="C9803B"/>
            </a:solidFill>
          </a:ln>
        </p:spPr>
      </p:sp>
      <p:sp>
        <p:nvSpPr>
          <p:cNvPr id="15" name="Diagram label: Coloured water">
            <a:extLst xmlns:a="http://schemas.openxmlformats.org/drawingml/2006/main">
              <a:ext uri="{FF2B5EF4-FFF2-40B4-BE49-F238E27FC236}">
                <a16:creationId xmlns:a16="http://schemas.microsoft.com/office/drawing/2014/main" id="{11F8468D-B73F-4EA6-AAD4-38D6887B0D51}"/>
              </a:ext>
            </a:extLst>
          </p:cNvPr>
          <p:cNvSpPr>
            <a:spLocks xmlns:a="http://schemas.openxmlformats.org/drawingml/2006/main" noGrp="1"/>
          </p:cNvSpPr>
          <p:nvPr/>
        </p:nvSpPr>
        <p:spPr>
          <a:xfrm xmlns:a="http://schemas.openxmlformats.org/drawingml/2006/main">
            <a:off x="2885225" y="5469306"/>
            <a:ext cx="2650756"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Coloured water</a:t>
            </a:r>
          </a:p>
        </p:txBody>
      </p:sp>
      <p:sp>
        <p:nvSpPr>
          <p:cNvPr id="16" name="Editable scientific diagram">
            <a:extLst xmlns:a="http://schemas.openxmlformats.org/drawingml/2006/main">
              <a:ext uri="{FF2B5EF4-FFF2-40B4-BE49-F238E27FC236}">
                <a16:creationId xmlns:a16="http://schemas.microsoft.com/office/drawing/2014/main" id="{1FA287C3-9B95-4AFD-8D35-10A3B4736C1A}"/>
              </a:ext>
            </a:extLst>
          </p:cNvPr>
          <p:cNvSpPr>
            <a:spLocks xmlns:a="http://schemas.openxmlformats.org/drawingml/2006/main" noGrp="1"/>
          </p:cNvSpPr>
          <p:nvPr/>
        </p:nvSpPr>
        <p:spPr>
          <a:xfrm xmlns:a="http://schemas.openxmlformats.org/drawingml/2006/main">
            <a:off x="6880027" y="4087926"/>
            <a:ext cx="1642722" cy="1194707"/>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17" name="Editable scientific diagram">
            <a:extLst xmlns:a="http://schemas.openxmlformats.org/drawingml/2006/main">
              <a:ext uri="{FF2B5EF4-FFF2-40B4-BE49-F238E27FC236}">
                <a16:creationId xmlns:a16="http://schemas.microsoft.com/office/drawing/2014/main" id="{4C10BA4B-17CE-4C39-B568-35C9C8BDBAE5}"/>
              </a:ext>
            </a:extLst>
          </p:cNvPr>
          <p:cNvSpPr>
            <a:spLocks xmlns:a="http://schemas.openxmlformats.org/drawingml/2006/main" noGrp="1"/>
          </p:cNvSpPr>
          <p:nvPr/>
        </p:nvSpPr>
        <p:spPr>
          <a:xfrm xmlns:a="http://schemas.openxmlformats.org/drawingml/2006/main">
            <a:off x="6917361" y="4610610"/>
            <a:ext cx="1568053" cy="634688"/>
          </a:xfrm>
          <a:prstGeom xmlns:a="http://schemas.openxmlformats.org/drawingml/2006/main" prst="rect">
            <a:avLst/>
          </a:prstGeom>
          <a:solidFill xmlns:a="http://schemas.openxmlformats.org/drawingml/2006/main">
            <a:srgbClr val="DCECF5"/>
          </a:solidFill>
          <a:ln xmlns:a="http://schemas.openxmlformats.org/drawingml/2006/main" w="7467">
            <a:solidFill>
              <a:srgbClr val="DCECF5"/>
            </a:solidFill>
          </a:ln>
        </p:spPr>
      </p:sp>
      <p:sp>
        <p:nvSpPr>
          <p:cNvPr id="18" name="Editable scientific diagram">
            <a:extLst xmlns:a="http://schemas.openxmlformats.org/drawingml/2006/main">
              <a:ext uri="{FF2B5EF4-FFF2-40B4-BE49-F238E27FC236}">
                <a16:creationId xmlns:a16="http://schemas.microsoft.com/office/drawing/2014/main" id="{061D8E17-50A8-43BA-BE1A-BB33A5404D28}"/>
              </a:ext>
            </a:extLst>
          </p:cNvPr>
          <p:cNvSpPr>
            <a:spLocks xmlns:a="http://schemas.openxmlformats.org/drawingml/2006/main" noGrp="1"/>
          </p:cNvSpPr>
          <p:nvPr/>
        </p:nvSpPr>
        <p:spPr>
          <a:xfrm xmlns:a="http://schemas.openxmlformats.org/drawingml/2006/main">
            <a:off x="7559516" y="2855884"/>
            <a:ext cx="209074" cy="2090738"/>
          </a:xfrm>
          <a:prstGeom xmlns:a="http://schemas.openxmlformats.org/drawingml/2006/main" prst="rect">
            <a:avLst/>
          </a:prstGeom>
          <a:solidFill xmlns:a="http://schemas.openxmlformats.org/drawingml/2006/main">
            <a:srgbClr val="DDEDE2"/>
          </a:solidFill>
          <a:ln xmlns:a="http://schemas.openxmlformats.org/drawingml/2006/main" w="22401">
            <a:solidFill>
              <a:srgbClr val="3F7D6E"/>
            </a:solidFill>
          </a:ln>
        </p:spPr>
      </p:sp>
      <p:sp>
        <p:nvSpPr>
          <p:cNvPr id="19" name="Editable scientific diagram">
            <a:extLst xmlns:a="http://schemas.openxmlformats.org/drawingml/2006/main">
              <a:ext uri="{FF2B5EF4-FFF2-40B4-BE49-F238E27FC236}">
                <a16:creationId xmlns:a16="http://schemas.microsoft.com/office/drawing/2014/main" id="{50E04685-3AEF-45F9-A533-D4B213E7916A}"/>
              </a:ext>
            </a:extLst>
          </p:cNvPr>
          <p:cNvSpPr>
            <a:spLocks xmlns:a="http://schemas.openxmlformats.org/drawingml/2006/main" noGrp="1"/>
          </p:cNvSpPr>
          <p:nvPr/>
        </p:nvSpPr>
        <p:spPr>
          <a:xfrm xmlns:a="http://schemas.openxmlformats.org/drawingml/2006/main">
            <a:off x="7290707" y="2482538"/>
            <a:ext cx="746692" cy="522684"/>
          </a:xfrm>
          <a:prstGeom xmlns:a="http://schemas.openxmlformats.org/drawingml/2006/main" prst="ellipse">
            <a:avLst/>
          </a:prstGeom>
          <a:solidFill xmlns:a="http://schemas.openxmlformats.org/drawingml/2006/main">
            <a:srgbClr val="F8ECEA"/>
          </a:solidFill>
          <a:ln xmlns:a="http://schemas.openxmlformats.org/drawingml/2006/main" w="22401">
            <a:solidFill>
              <a:srgbClr val="C9803B"/>
            </a:solidFill>
          </a:ln>
        </p:spPr>
      </p:sp>
      <p:sp>
        <p:nvSpPr>
          <p:cNvPr id="20" name="Diagram label: Plain-water control">
            <a:extLst xmlns:a="http://schemas.openxmlformats.org/drawingml/2006/main">
              <a:ext uri="{FF2B5EF4-FFF2-40B4-BE49-F238E27FC236}">
                <a16:creationId xmlns:a16="http://schemas.microsoft.com/office/drawing/2014/main" id="{61152C5C-6483-4BF7-83A7-647D1328EA90}"/>
              </a:ext>
            </a:extLst>
          </p:cNvPr>
          <p:cNvSpPr>
            <a:spLocks xmlns:a="http://schemas.openxmlformats.org/drawingml/2006/main" noGrp="1"/>
          </p:cNvSpPr>
          <p:nvPr/>
        </p:nvSpPr>
        <p:spPr>
          <a:xfrm xmlns:a="http://schemas.openxmlformats.org/drawingml/2006/main">
            <a:off x="6394677" y="5469306"/>
            <a:ext cx="2650756"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Plain-water control</a:t>
            </a:r>
          </a:p>
        </p:txBody>
      </p:sp>
      <p:sp>
        <p:nvSpPr>
          <p:cNvPr id="21" name="Diagram line">
            <a:extLst xmlns:a="http://schemas.openxmlformats.org/drawingml/2006/main">
              <a:ext uri="{FF2B5EF4-FFF2-40B4-BE49-F238E27FC236}">
                <a16:creationId xmlns:a16="http://schemas.microsoft.com/office/drawing/2014/main" id="{5A299176-6537-4EFB-85D4-23A3352B167F}"/>
              </a:ext>
            </a:extLst>
          </p:cNvPr>
          <p:cNvSpPr>
            <a:spLocks xmlns:a="http://schemas.openxmlformats.org/drawingml/2006/main" noGrp="1"/>
          </p:cNvSpPr>
          <p:nvPr/>
        </p:nvSpPr>
        <p:spPr>
          <a:xfrm xmlns:a="http://schemas.openxmlformats.org/drawingml/2006/main" flipH="0" flipV="1">
            <a:off x="4154601" y="3195629"/>
            <a:ext cx="953" cy="1564320"/>
          </a:xfrm>
          <a:prstGeom xmlns:a="http://schemas.openxmlformats.org/drawingml/2006/main" prst="line">
            <a:avLst/>
          </a:prstGeom>
          <a:noFill xmlns:a="http://schemas.openxmlformats.org/drawingml/2006/main"/>
          <a:ln xmlns:a="http://schemas.openxmlformats.org/drawingml/2006/main" w="29868">
            <a:solidFill>
              <a:srgbClr val="B85865"/>
            </a:solidFill>
          </a:ln>
        </p:spPr>
      </p:sp>
      <p:sp>
        <p:nvSpPr>
          <p:cNvPr id="22" name="Diagram arrowhead">
            <a:extLst xmlns:a="http://schemas.openxmlformats.org/drawingml/2006/main">
              <a:ext uri="{FF2B5EF4-FFF2-40B4-BE49-F238E27FC236}">
                <a16:creationId xmlns:a16="http://schemas.microsoft.com/office/drawing/2014/main" id="{C35D3280-F834-4C79-930C-28C80791037A}"/>
              </a:ext>
            </a:extLst>
          </p:cNvPr>
          <p:cNvSpPr>
            <a:spLocks xmlns:a="http://schemas.openxmlformats.org/drawingml/2006/main" noGrp="1"/>
          </p:cNvSpPr>
          <p:nvPr/>
        </p:nvSpPr>
        <p:spPr>
          <a:xfrm xmlns:a="http://schemas.openxmlformats.org/drawingml/2006/main" rot="0">
            <a:off x="4102332" y="3117226"/>
            <a:ext cx="104537" cy="104537"/>
          </a:xfrm>
          <a:prstGeom xmlns:a="http://schemas.openxmlformats.org/drawingml/2006/main" prst="triangle">
            <a:avLst/>
          </a:prstGeom>
          <a:solidFill xmlns:a="http://schemas.openxmlformats.org/drawingml/2006/main">
            <a:srgbClr val="B85865"/>
          </a:solidFill>
          <a:ln xmlns:a="http://schemas.openxmlformats.org/drawingml/2006/main" w="0">
            <a:noFill/>
          </a:ln>
        </p:spPr>
      </p:sp>
      <p:sp>
        <p:nvSpPr>
          <p:cNvPr id="23" name="Diagram label: Dye can mark&#10;water pathways.">
            <a:extLst xmlns:a="http://schemas.openxmlformats.org/drawingml/2006/main">
              <a:ext uri="{FF2B5EF4-FFF2-40B4-BE49-F238E27FC236}">
                <a16:creationId xmlns:a16="http://schemas.microsoft.com/office/drawing/2014/main" id="{CEC6A10F-6E0D-4A11-9AA5-8C27AB6C87EF}"/>
              </a:ext>
            </a:extLst>
          </p:cNvPr>
          <p:cNvSpPr>
            <a:spLocks xmlns:a="http://schemas.openxmlformats.org/drawingml/2006/main" noGrp="1"/>
          </p:cNvSpPr>
          <p:nvPr/>
        </p:nvSpPr>
        <p:spPr>
          <a:xfrm xmlns:a="http://schemas.openxmlformats.org/drawingml/2006/main">
            <a:off x="5162635" y="3303899"/>
            <a:ext cx="1418715" cy="8586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Dye can mark</a:t>
            </a:r>
          </a:p>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water pathways.</a:t>
            </a:r>
          </a:p>
        </p:txBody>
      </p:sp>
      <p:sp>
        <p:nvSpPr>
          <p:cNvPr id="24" name="Diagram label: Cut stem">
            <a:extLst xmlns:a="http://schemas.openxmlformats.org/drawingml/2006/main">
              <a:ext uri="{FF2B5EF4-FFF2-40B4-BE49-F238E27FC236}">
                <a16:creationId xmlns:a16="http://schemas.microsoft.com/office/drawing/2014/main" id="{78F9EB5E-5B70-4915-AD67-1B80D5E6640C}"/>
              </a:ext>
            </a:extLst>
          </p:cNvPr>
          <p:cNvSpPr>
            <a:spLocks xmlns:a="http://schemas.openxmlformats.org/drawingml/2006/main" noGrp="1"/>
          </p:cNvSpPr>
          <p:nvPr/>
        </p:nvSpPr>
        <p:spPr>
          <a:xfrm xmlns:a="http://schemas.openxmlformats.org/drawingml/2006/main">
            <a:off x="2773221" y="2594542"/>
            <a:ext cx="1045369"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Cut stem</a:t>
            </a:r>
          </a:p>
        </p:txBody>
      </p:sp>
      <p:sp>
        <p:nvSpPr>
          <p:cNvPr id="25" name="Colour helps us follow movement.  A plain-water shoot is the com">
            <a:extLst xmlns:a="http://schemas.openxmlformats.org/drawingml/2006/main">
              <a:ext uri="{FF2B5EF4-FFF2-40B4-BE49-F238E27FC236}">
                <a16:creationId xmlns:a16="http://schemas.microsoft.com/office/drawing/2014/main" id="{9F29D46A-36C2-493F-9EB3-DC22DC72BC47}"/>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Colour helps us follow movement. A plain-water shoot is the comparison. This setup has no roots.</a:t>
            </a:r>
          </a:p>
        </p:txBody>
      </p:sp>
    </p:spTree>
    <p:extLst>
      <p:ext uri="{BB962C8B-B14F-4D97-AF65-F5344CB8AC3E}">
        <p14:creationId xmlns:p14="http://schemas.microsoft.com/office/powerpoint/2010/main" val="12180931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AB1E0063-13B3-4E31-929C-417A9C92D6C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25B3EF9-AE53-4991-A49B-757011FD397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33B9183-C841-482E-B431-006094ABF47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88ABE726-2033-430F-99CC-2DDC23D6039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58D3A607-D4D6-4C3B-BBE9-46265237D61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inspect the interior evidence">
            <a:extLst xmlns:a="http://schemas.openxmlformats.org/drawingml/2006/main">
              <a:ext uri="{FF2B5EF4-FFF2-40B4-BE49-F238E27FC236}">
                <a16:creationId xmlns:a16="http://schemas.microsoft.com/office/drawing/2014/main" id="{5421C2C1-6832-4BB9-A5DA-D775077A1D0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inspect the interior evidence</a:t>
            </a:r>
          </a:p>
        </p:txBody>
      </p:sp>
      <p:sp>
        <p:nvSpPr>
          <p:cNvPr id="7" name="surface">
            <a:extLst xmlns:a="http://schemas.openxmlformats.org/drawingml/2006/main">
              <a:ext uri="{FF2B5EF4-FFF2-40B4-BE49-F238E27FC236}">
                <a16:creationId xmlns:a16="http://schemas.microsoft.com/office/drawing/2014/main" id="{50112E3B-1EC0-4E2F-AF09-F18009AC524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water-path detectives">
            <a:extLst xmlns:a="http://schemas.openxmlformats.org/drawingml/2006/main">
              <a:ext uri="{FF2B5EF4-FFF2-40B4-BE49-F238E27FC236}">
                <a16:creationId xmlns:a16="http://schemas.microsoft.com/office/drawing/2014/main" id="{E4E30537-0003-4914-A417-F72C4411DC3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9" name="5 / 14">
            <a:extLst xmlns:a="http://schemas.openxmlformats.org/drawingml/2006/main">
              <a:ext uri="{FF2B5EF4-FFF2-40B4-BE49-F238E27FC236}">
                <a16:creationId xmlns:a16="http://schemas.microsoft.com/office/drawing/2014/main" id="{75F87D90-9B14-4AAB-9CC8-AB92ABD8235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14</a:t>
            </a:r>
          </a:p>
        </p:txBody>
      </p:sp>
      <p:sp>
        <p:nvSpPr>
          <p:cNvPr id="10" name="Diagram label: Constructed observation: adult-cut sections">
            <a:extLst xmlns:a="http://schemas.openxmlformats.org/drawingml/2006/main">
              <a:ext uri="{FF2B5EF4-FFF2-40B4-BE49-F238E27FC236}">
                <a16:creationId xmlns:a16="http://schemas.microsoft.com/office/drawing/2014/main" id="{91E3B9F0-E874-43FD-A34F-57BD94171859}"/>
              </a:ext>
            </a:extLst>
          </p:cNvPr>
          <p:cNvSpPr>
            <a:spLocks xmlns:a="http://schemas.openxmlformats.org/drawingml/2006/main" noGrp="1"/>
          </p:cNvSpPr>
          <p:nvPr/>
        </p:nvSpPr>
        <p:spPr>
          <a:xfrm xmlns:a="http://schemas.openxmlformats.org/drawingml/2006/main">
            <a:off x="2661217" y="2071858"/>
            <a:ext cx="6869566"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Constructed observation: adult-cut sections</a:t>
            </a:r>
          </a:p>
        </p:txBody>
      </p:sp>
      <p:sp>
        <p:nvSpPr>
          <p:cNvPr id="11" name="Editable scientific diagram">
            <a:extLst xmlns:a="http://schemas.openxmlformats.org/drawingml/2006/main">
              <a:ext uri="{FF2B5EF4-FFF2-40B4-BE49-F238E27FC236}">
                <a16:creationId xmlns:a16="http://schemas.microsoft.com/office/drawing/2014/main" id="{FE926430-95B7-4AA7-8DDC-1796C092B2E7}"/>
              </a:ext>
            </a:extLst>
          </p:cNvPr>
          <p:cNvSpPr>
            <a:spLocks xmlns:a="http://schemas.openxmlformats.org/drawingml/2006/main" noGrp="1"/>
          </p:cNvSpPr>
          <p:nvPr/>
        </p:nvSpPr>
        <p:spPr>
          <a:xfrm xmlns:a="http://schemas.openxmlformats.org/drawingml/2006/main">
            <a:off x="3183901" y="2893219"/>
            <a:ext cx="2165407" cy="1717392"/>
          </a:xfrm>
          <a:prstGeom xmlns:a="http://schemas.openxmlformats.org/drawingml/2006/main" prst="ellipse">
            <a:avLst/>
          </a:prstGeom>
          <a:solidFill xmlns:a="http://schemas.openxmlformats.org/drawingml/2006/main">
            <a:srgbClr val="E4F0E9"/>
          </a:solidFill>
          <a:ln xmlns:a="http://schemas.openxmlformats.org/drawingml/2006/main" w="22401">
            <a:solidFill>
              <a:srgbClr val="3F7D6E"/>
            </a:solidFill>
          </a:ln>
        </p:spPr>
      </p:sp>
      <p:sp>
        <p:nvSpPr>
          <p:cNvPr id="12" name="Editable scientific diagram">
            <a:extLst xmlns:a="http://schemas.openxmlformats.org/drawingml/2006/main">
              <a:ext uri="{FF2B5EF4-FFF2-40B4-BE49-F238E27FC236}">
                <a16:creationId xmlns:a16="http://schemas.microsoft.com/office/drawing/2014/main" id="{5A6C4042-0231-4AEA-BC9C-9F38F842029C}"/>
              </a:ext>
            </a:extLst>
          </p:cNvPr>
          <p:cNvSpPr>
            <a:spLocks xmlns:a="http://schemas.openxmlformats.org/drawingml/2006/main" noGrp="1"/>
          </p:cNvSpPr>
          <p:nvPr/>
        </p:nvSpPr>
        <p:spPr>
          <a:xfrm xmlns:a="http://schemas.openxmlformats.org/drawingml/2006/main">
            <a:off x="6917361" y="2893219"/>
            <a:ext cx="2165407" cy="1717392"/>
          </a:xfrm>
          <a:prstGeom xmlns:a="http://schemas.openxmlformats.org/drawingml/2006/main" prst="ellipse">
            <a:avLst/>
          </a:prstGeom>
          <a:solidFill xmlns:a="http://schemas.openxmlformats.org/drawingml/2006/main">
            <a:srgbClr val="E4F0E9"/>
          </a:solidFill>
          <a:ln xmlns:a="http://schemas.openxmlformats.org/drawingml/2006/main" w="22401">
            <a:solidFill>
              <a:srgbClr val="3F7D6E"/>
            </a:solidFill>
          </a:ln>
        </p:spPr>
      </p:sp>
      <p:sp>
        <p:nvSpPr>
          <p:cNvPr id="13" name="Diagram label: Dye shoot:&#10;coloured internal paths">
            <a:extLst xmlns:a="http://schemas.openxmlformats.org/drawingml/2006/main">
              <a:ext uri="{FF2B5EF4-FFF2-40B4-BE49-F238E27FC236}">
                <a16:creationId xmlns:a16="http://schemas.microsoft.com/office/drawing/2014/main" id="{9FCB5068-B1F3-41BC-8D52-9E9F6DD5EA35}"/>
              </a:ext>
            </a:extLst>
          </p:cNvPr>
          <p:cNvSpPr>
            <a:spLocks xmlns:a="http://schemas.openxmlformats.org/drawingml/2006/main" noGrp="1"/>
          </p:cNvSpPr>
          <p:nvPr/>
        </p:nvSpPr>
        <p:spPr>
          <a:xfrm xmlns:a="http://schemas.openxmlformats.org/drawingml/2006/main">
            <a:off x="3071898" y="4909287"/>
            <a:ext cx="2613422"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Dye shoot:</a:t>
            </a:r>
          </a:p>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coloured internal paths</a:t>
            </a:r>
          </a:p>
        </p:txBody>
      </p:sp>
      <p:sp>
        <p:nvSpPr>
          <p:cNvPr id="14" name="Diagram label: Plain-water shoot:&#10;no dye-coloured paths">
            <a:extLst xmlns:a="http://schemas.openxmlformats.org/drawingml/2006/main">
              <a:ext uri="{FF2B5EF4-FFF2-40B4-BE49-F238E27FC236}">
                <a16:creationId xmlns:a16="http://schemas.microsoft.com/office/drawing/2014/main" id="{F915EF6E-280F-496F-B882-B3E790766BC8}"/>
              </a:ext>
            </a:extLst>
          </p:cNvPr>
          <p:cNvSpPr>
            <a:spLocks xmlns:a="http://schemas.openxmlformats.org/drawingml/2006/main" noGrp="1"/>
          </p:cNvSpPr>
          <p:nvPr/>
        </p:nvSpPr>
        <p:spPr>
          <a:xfrm xmlns:a="http://schemas.openxmlformats.org/drawingml/2006/main">
            <a:off x="6656019" y="4909287"/>
            <a:ext cx="2874764"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Plain-water shoot:</a:t>
            </a:r>
          </a:p>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no dye-coloured paths</a:t>
            </a:r>
          </a:p>
        </p:txBody>
      </p:sp>
      <p:sp>
        <p:nvSpPr>
          <p:cNvPr id="15" name="Editable scientific diagram">
            <a:extLst xmlns:a="http://schemas.openxmlformats.org/drawingml/2006/main">
              <a:ext uri="{FF2B5EF4-FFF2-40B4-BE49-F238E27FC236}">
                <a16:creationId xmlns:a16="http://schemas.microsoft.com/office/drawing/2014/main" id="{AB7A177B-414C-45EB-B43A-1BFC39830E28}"/>
              </a:ext>
            </a:extLst>
          </p:cNvPr>
          <p:cNvSpPr>
            <a:spLocks xmlns:a="http://schemas.openxmlformats.org/drawingml/2006/main" noGrp="1"/>
          </p:cNvSpPr>
          <p:nvPr/>
        </p:nvSpPr>
        <p:spPr>
          <a:xfrm xmlns:a="http://schemas.openxmlformats.org/drawingml/2006/main">
            <a:off x="4901293" y="3677245"/>
            <a:ext cx="149338" cy="149338"/>
          </a:xfrm>
          <a:prstGeom xmlns:a="http://schemas.openxmlformats.org/drawingml/2006/main" prst="ellipse">
            <a:avLst/>
          </a:prstGeom>
          <a:solidFill xmlns:a="http://schemas.openxmlformats.org/drawingml/2006/main">
            <a:srgbClr val="B85865"/>
          </a:solidFill>
          <a:ln xmlns:a="http://schemas.openxmlformats.org/drawingml/2006/main" w="22401">
            <a:solidFill>
              <a:srgbClr val="B85865"/>
            </a:solidFill>
          </a:ln>
        </p:spPr>
      </p:sp>
      <p:sp>
        <p:nvSpPr>
          <p:cNvPr id="16" name="Editable scientific diagram">
            <a:extLst xmlns:a="http://schemas.openxmlformats.org/drawingml/2006/main">
              <a:ext uri="{FF2B5EF4-FFF2-40B4-BE49-F238E27FC236}">
                <a16:creationId xmlns:a16="http://schemas.microsoft.com/office/drawing/2014/main" id="{A81DB1D4-3039-4BF7-833D-4AACB50C8F80}"/>
              </a:ext>
            </a:extLst>
          </p:cNvPr>
          <p:cNvSpPr>
            <a:spLocks xmlns:a="http://schemas.openxmlformats.org/drawingml/2006/main" noGrp="1"/>
          </p:cNvSpPr>
          <p:nvPr/>
        </p:nvSpPr>
        <p:spPr>
          <a:xfrm xmlns:a="http://schemas.openxmlformats.org/drawingml/2006/main">
            <a:off x="4575203" y="4117069"/>
            <a:ext cx="149338" cy="149338"/>
          </a:xfrm>
          <a:prstGeom xmlns:a="http://schemas.openxmlformats.org/drawingml/2006/main" prst="ellipse">
            <a:avLst/>
          </a:prstGeom>
          <a:solidFill xmlns:a="http://schemas.openxmlformats.org/drawingml/2006/main">
            <a:srgbClr val="B85865"/>
          </a:solidFill>
          <a:ln xmlns:a="http://schemas.openxmlformats.org/drawingml/2006/main" w="22401">
            <a:solidFill>
              <a:srgbClr val="B85865"/>
            </a:solidFill>
          </a:ln>
        </p:spPr>
      </p:sp>
      <p:sp>
        <p:nvSpPr>
          <p:cNvPr id="17" name="Editable scientific diagram">
            <a:extLst xmlns:a="http://schemas.openxmlformats.org/drawingml/2006/main">
              <a:ext uri="{FF2B5EF4-FFF2-40B4-BE49-F238E27FC236}">
                <a16:creationId xmlns:a16="http://schemas.microsoft.com/office/drawing/2014/main" id="{58CF0B76-2280-4A2C-92CF-144A67595425}"/>
              </a:ext>
            </a:extLst>
          </p:cNvPr>
          <p:cNvSpPr>
            <a:spLocks xmlns:a="http://schemas.openxmlformats.org/drawingml/2006/main" noGrp="1"/>
          </p:cNvSpPr>
          <p:nvPr/>
        </p:nvSpPr>
        <p:spPr>
          <a:xfrm xmlns:a="http://schemas.openxmlformats.org/drawingml/2006/main">
            <a:off x="3896739" y="4152521"/>
            <a:ext cx="149338" cy="149338"/>
          </a:xfrm>
          <a:prstGeom xmlns:a="http://schemas.openxmlformats.org/drawingml/2006/main" prst="ellipse">
            <a:avLst/>
          </a:prstGeom>
          <a:solidFill xmlns:a="http://schemas.openxmlformats.org/drawingml/2006/main">
            <a:srgbClr val="B85865"/>
          </a:solidFill>
          <a:ln xmlns:a="http://schemas.openxmlformats.org/drawingml/2006/main" w="22401">
            <a:solidFill>
              <a:srgbClr val="B85865"/>
            </a:solidFill>
          </a:ln>
        </p:spPr>
      </p:sp>
      <p:sp>
        <p:nvSpPr>
          <p:cNvPr id="18" name="Editable scientific diagram">
            <a:extLst xmlns:a="http://schemas.openxmlformats.org/drawingml/2006/main">
              <a:ext uri="{FF2B5EF4-FFF2-40B4-BE49-F238E27FC236}">
                <a16:creationId xmlns:a16="http://schemas.microsoft.com/office/drawing/2014/main" id="{52FBD2BD-3574-4FD6-994A-98AADD6BA707}"/>
              </a:ext>
            </a:extLst>
          </p:cNvPr>
          <p:cNvSpPr>
            <a:spLocks xmlns:a="http://schemas.openxmlformats.org/drawingml/2006/main" noGrp="1"/>
          </p:cNvSpPr>
          <p:nvPr/>
        </p:nvSpPr>
        <p:spPr>
          <a:xfrm xmlns:a="http://schemas.openxmlformats.org/drawingml/2006/main">
            <a:off x="3489677" y="3751007"/>
            <a:ext cx="149338" cy="149338"/>
          </a:xfrm>
          <a:prstGeom xmlns:a="http://schemas.openxmlformats.org/drawingml/2006/main" prst="ellipse">
            <a:avLst/>
          </a:prstGeom>
          <a:solidFill xmlns:a="http://schemas.openxmlformats.org/drawingml/2006/main">
            <a:srgbClr val="B85865"/>
          </a:solidFill>
          <a:ln xmlns:a="http://schemas.openxmlformats.org/drawingml/2006/main" w="22401">
            <a:solidFill>
              <a:srgbClr val="B85865"/>
            </a:solidFill>
          </a:ln>
        </p:spPr>
      </p:sp>
      <p:sp>
        <p:nvSpPr>
          <p:cNvPr id="19" name="Editable scientific diagram">
            <a:extLst xmlns:a="http://schemas.openxmlformats.org/drawingml/2006/main">
              <a:ext uri="{FF2B5EF4-FFF2-40B4-BE49-F238E27FC236}">
                <a16:creationId xmlns:a16="http://schemas.microsoft.com/office/drawing/2014/main" id="{9DE2783A-8BC7-41EA-B6B5-F209A63E49E5}"/>
              </a:ext>
            </a:extLst>
          </p:cNvPr>
          <p:cNvSpPr>
            <a:spLocks xmlns:a="http://schemas.openxmlformats.org/drawingml/2006/main" noGrp="1"/>
          </p:cNvSpPr>
          <p:nvPr/>
        </p:nvSpPr>
        <p:spPr>
          <a:xfrm xmlns:a="http://schemas.openxmlformats.org/drawingml/2006/main">
            <a:off x="3728269" y="3281676"/>
            <a:ext cx="149338" cy="149338"/>
          </a:xfrm>
          <a:prstGeom xmlns:a="http://schemas.openxmlformats.org/drawingml/2006/main" prst="ellipse">
            <a:avLst/>
          </a:prstGeom>
          <a:solidFill xmlns:a="http://schemas.openxmlformats.org/drawingml/2006/main">
            <a:srgbClr val="B85865"/>
          </a:solidFill>
          <a:ln xmlns:a="http://schemas.openxmlformats.org/drawingml/2006/main" w="22401">
            <a:solidFill>
              <a:srgbClr val="B85865"/>
            </a:solidFill>
          </a:ln>
        </p:spPr>
      </p:sp>
      <p:sp>
        <p:nvSpPr>
          <p:cNvPr id="20" name="Editable scientific diagram">
            <a:extLst xmlns:a="http://schemas.openxmlformats.org/drawingml/2006/main">
              <a:ext uri="{FF2B5EF4-FFF2-40B4-BE49-F238E27FC236}">
                <a16:creationId xmlns:a16="http://schemas.microsoft.com/office/drawing/2014/main" id="{B64387FD-1329-4641-A815-F852F20AEB2D}"/>
              </a:ext>
            </a:extLst>
          </p:cNvPr>
          <p:cNvSpPr>
            <a:spLocks xmlns:a="http://schemas.openxmlformats.org/drawingml/2006/main" noGrp="1"/>
          </p:cNvSpPr>
          <p:nvPr/>
        </p:nvSpPr>
        <p:spPr>
          <a:xfrm xmlns:a="http://schemas.openxmlformats.org/drawingml/2006/main">
            <a:off x="4393153" y="3176031"/>
            <a:ext cx="149338" cy="149338"/>
          </a:xfrm>
          <a:prstGeom xmlns:a="http://schemas.openxmlformats.org/drawingml/2006/main" prst="ellipse">
            <a:avLst/>
          </a:prstGeom>
          <a:solidFill xmlns:a="http://schemas.openxmlformats.org/drawingml/2006/main">
            <a:srgbClr val="B85865"/>
          </a:solidFill>
          <a:ln xmlns:a="http://schemas.openxmlformats.org/drawingml/2006/main" w="22401">
            <a:solidFill>
              <a:srgbClr val="B85865"/>
            </a:solidFill>
          </a:ln>
        </p:spPr>
      </p:sp>
      <p:sp>
        <p:nvSpPr>
          <p:cNvPr id="21" name="Editable scientific diagram">
            <a:extLst xmlns:a="http://schemas.openxmlformats.org/drawingml/2006/main">
              <a:ext uri="{FF2B5EF4-FFF2-40B4-BE49-F238E27FC236}">
                <a16:creationId xmlns:a16="http://schemas.microsoft.com/office/drawing/2014/main" id="{B5F464A9-FA7B-4ABE-A77E-214C9B32BAD7}"/>
              </a:ext>
            </a:extLst>
          </p:cNvPr>
          <p:cNvSpPr>
            <a:spLocks xmlns:a="http://schemas.openxmlformats.org/drawingml/2006/main" noGrp="1"/>
          </p:cNvSpPr>
          <p:nvPr/>
        </p:nvSpPr>
        <p:spPr>
          <a:xfrm xmlns:a="http://schemas.openxmlformats.org/drawingml/2006/main">
            <a:off x="8634753" y="3677245"/>
            <a:ext cx="149338" cy="149338"/>
          </a:xfrm>
          <a:prstGeom xmlns:a="http://schemas.openxmlformats.org/drawingml/2006/main" prst="ellipse">
            <a:avLst/>
          </a:prstGeom>
          <a:solidFill xmlns:a="http://schemas.openxmlformats.org/drawingml/2006/main">
            <a:srgbClr val="A9C8B2"/>
          </a:solidFill>
          <a:ln xmlns:a="http://schemas.openxmlformats.org/drawingml/2006/main" w="22401">
            <a:solidFill>
              <a:srgbClr val="3F7D6E"/>
            </a:solidFill>
          </a:ln>
        </p:spPr>
      </p:sp>
      <p:sp>
        <p:nvSpPr>
          <p:cNvPr id="22" name="Editable scientific diagram">
            <a:extLst xmlns:a="http://schemas.openxmlformats.org/drawingml/2006/main">
              <a:ext uri="{FF2B5EF4-FFF2-40B4-BE49-F238E27FC236}">
                <a16:creationId xmlns:a16="http://schemas.microsoft.com/office/drawing/2014/main" id="{E930B80C-8142-4AB9-9966-0844B4CCD0DA}"/>
              </a:ext>
            </a:extLst>
          </p:cNvPr>
          <p:cNvSpPr>
            <a:spLocks xmlns:a="http://schemas.openxmlformats.org/drawingml/2006/main" noGrp="1"/>
          </p:cNvSpPr>
          <p:nvPr/>
        </p:nvSpPr>
        <p:spPr>
          <a:xfrm xmlns:a="http://schemas.openxmlformats.org/drawingml/2006/main">
            <a:off x="8308663" y="4117069"/>
            <a:ext cx="149338" cy="149338"/>
          </a:xfrm>
          <a:prstGeom xmlns:a="http://schemas.openxmlformats.org/drawingml/2006/main" prst="ellipse">
            <a:avLst/>
          </a:prstGeom>
          <a:solidFill xmlns:a="http://schemas.openxmlformats.org/drawingml/2006/main">
            <a:srgbClr val="A9C8B2"/>
          </a:solidFill>
          <a:ln xmlns:a="http://schemas.openxmlformats.org/drawingml/2006/main" w="22401">
            <a:solidFill>
              <a:srgbClr val="3F7D6E"/>
            </a:solidFill>
          </a:ln>
        </p:spPr>
      </p:sp>
      <p:sp>
        <p:nvSpPr>
          <p:cNvPr id="23" name="Editable scientific diagram">
            <a:extLst xmlns:a="http://schemas.openxmlformats.org/drawingml/2006/main">
              <a:ext uri="{FF2B5EF4-FFF2-40B4-BE49-F238E27FC236}">
                <a16:creationId xmlns:a16="http://schemas.microsoft.com/office/drawing/2014/main" id="{0F08948A-8515-484B-92CE-7285CA7DCEA4}"/>
              </a:ext>
            </a:extLst>
          </p:cNvPr>
          <p:cNvSpPr>
            <a:spLocks xmlns:a="http://schemas.openxmlformats.org/drawingml/2006/main" noGrp="1"/>
          </p:cNvSpPr>
          <p:nvPr/>
        </p:nvSpPr>
        <p:spPr>
          <a:xfrm xmlns:a="http://schemas.openxmlformats.org/drawingml/2006/main">
            <a:off x="7630198" y="4152521"/>
            <a:ext cx="149338" cy="149338"/>
          </a:xfrm>
          <a:prstGeom xmlns:a="http://schemas.openxmlformats.org/drawingml/2006/main" prst="ellipse">
            <a:avLst/>
          </a:prstGeom>
          <a:solidFill xmlns:a="http://schemas.openxmlformats.org/drawingml/2006/main">
            <a:srgbClr val="A9C8B2"/>
          </a:solidFill>
          <a:ln xmlns:a="http://schemas.openxmlformats.org/drawingml/2006/main" w="22401">
            <a:solidFill>
              <a:srgbClr val="3F7D6E"/>
            </a:solidFill>
          </a:ln>
        </p:spPr>
      </p:sp>
      <p:sp>
        <p:nvSpPr>
          <p:cNvPr id="24" name="Editable scientific diagram">
            <a:extLst xmlns:a="http://schemas.openxmlformats.org/drawingml/2006/main">
              <a:ext uri="{FF2B5EF4-FFF2-40B4-BE49-F238E27FC236}">
                <a16:creationId xmlns:a16="http://schemas.microsoft.com/office/drawing/2014/main" id="{0A0E213E-79E7-4A36-947B-F8E375AC317D}"/>
              </a:ext>
            </a:extLst>
          </p:cNvPr>
          <p:cNvSpPr>
            <a:spLocks xmlns:a="http://schemas.openxmlformats.org/drawingml/2006/main" noGrp="1"/>
          </p:cNvSpPr>
          <p:nvPr/>
        </p:nvSpPr>
        <p:spPr>
          <a:xfrm xmlns:a="http://schemas.openxmlformats.org/drawingml/2006/main">
            <a:off x="7223137" y="3751007"/>
            <a:ext cx="149338" cy="149338"/>
          </a:xfrm>
          <a:prstGeom xmlns:a="http://schemas.openxmlformats.org/drawingml/2006/main" prst="ellipse">
            <a:avLst/>
          </a:prstGeom>
          <a:solidFill xmlns:a="http://schemas.openxmlformats.org/drawingml/2006/main">
            <a:srgbClr val="A9C8B2"/>
          </a:solidFill>
          <a:ln xmlns:a="http://schemas.openxmlformats.org/drawingml/2006/main" w="22401">
            <a:solidFill>
              <a:srgbClr val="3F7D6E"/>
            </a:solidFill>
          </a:ln>
        </p:spPr>
      </p:sp>
      <p:sp>
        <p:nvSpPr>
          <p:cNvPr id="25" name="Editable scientific diagram">
            <a:extLst xmlns:a="http://schemas.openxmlformats.org/drawingml/2006/main">
              <a:ext uri="{FF2B5EF4-FFF2-40B4-BE49-F238E27FC236}">
                <a16:creationId xmlns:a16="http://schemas.microsoft.com/office/drawing/2014/main" id="{2DFD84A1-5309-4487-A38F-DFF1E8881C5C}"/>
              </a:ext>
            </a:extLst>
          </p:cNvPr>
          <p:cNvSpPr>
            <a:spLocks xmlns:a="http://schemas.openxmlformats.org/drawingml/2006/main" noGrp="1"/>
          </p:cNvSpPr>
          <p:nvPr/>
        </p:nvSpPr>
        <p:spPr>
          <a:xfrm xmlns:a="http://schemas.openxmlformats.org/drawingml/2006/main">
            <a:off x="7461728" y="3281676"/>
            <a:ext cx="149338" cy="149338"/>
          </a:xfrm>
          <a:prstGeom xmlns:a="http://schemas.openxmlformats.org/drawingml/2006/main" prst="ellipse">
            <a:avLst/>
          </a:prstGeom>
          <a:solidFill xmlns:a="http://schemas.openxmlformats.org/drawingml/2006/main">
            <a:srgbClr val="A9C8B2"/>
          </a:solidFill>
          <a:ln xmlns:a="http://schemas.openxmlformats.org/drawingml/2006/main" w="22401">
            <a:solidFill>
              <a:srgbClr val="3F7D6E"/>
            </a:solidFill>
          </a:ln>
        </p:spPr>
      </p:sp>
      <p:sp>
        <p:nvSpPr>
          <p:cNvPr id="26" name="Editable scientific diagram">
            <a:extLst xmlns:a="http://schemas.openxmlformats.org/drawingml/2006/main">
              <a:ext uri="{FF2B5EF4-FFF2-40B4-BE49-F238E27FC236}">
                <a16:creationId xmlns:a16="http://schemas.microsoft.com/office/drawing/2014/main" id="{EA39B317-7F49-4FFF-BC42-0BD342A72370}"/>
              </a:ext>
            </a:extLst>
          </p:cNvPr>
          <p:cNvSpPr>
            <a:spLocks xmlns:a="http://schemas.openxmlformats.org/drawingml/2006/main" noGrp="1"/>
          </p:cNvSpPr>
          <p:nvPr/>
        </p:nvSpPr>
        <p:spPr>
          <a:xfrm xmlns:a="http://schemas.openxmlformats.org/drawingml/2006/main">
            <a:off x="8126613" y="3176031"/>
            <a:ext cx="149338" cy="149338"/>
          </a:xfrm>
          <a:prstGeom xmlns:a="http://schemas.openxmlformats.org/drawingml/2006/main" prst="ellipse">
            <a:avLst/>
          </a:prstGeom>
          <a:solidFill xmlns:a="http://schemas.openxmlformats.org/drawingml/2006/main">
            <a:srgbClr val="A9C8B2"/>
          </a:solidFill>
          <a:ln xmlns:a="http://schemas.openxmlformats.org/drawingml/2006/main" w="22401">
            <a:solidFill>
              <a:srgbClr val="3F7D6E"/>
            </a:solidFill>
          </a:ln>
        </p:spPr>
      </p:sp>
      <p:sp>
        <p:nvSpPr>
          <p:cNvPr id="27" name="Colour appears in internal paths.  Not all tissue is coloured eq">
            <a:extLst xmlns:a="http://schemas.openxmlformats.org/drawingml/2006/main">
              <a:ext uri="{FF2B5EF4-FFF2-40B4-BE49-F238E27FC236}">
                <a16:creationId xmlns:a16="http://schemas.microsoft.com/office/drawing/2014/main" id="{DEF3A32B-5BFC-4390-94CA-DFD9BFDFB24F}"/>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Colour appears in internal paths. Not all tissue is coloured equally.</a:t>
            </a:r>
          </a:p>
        </p:txBody>
      </p:sp>
    </p:spTree>
    <p:extLst>
      <p:ext uri="{BB962C8B-B14F-4D97-AF65-F5344CB8AC3E}">
        <p14:creationId xmlns:p14="http://schemas.microsoft.com/office/powerpoint/2010/main" val="1392816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2145131F-13A5-4424-BA4A-4122C4C7F79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B26F644-2DCB-4850-A07D-8FFF1E6BE82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99B3750-9AC6-42A8-A250-8BB0DF8A89A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E1F5C9E8-0711-4D88-B8FD-CE4F4D95666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FA2FF1D0-36AA-46B0-9E5F-7A367675A5A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F705053D-5BB2-4FA7-9055-DBAD371C609F}"/>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Sequence the evidence before explaining">
            <a:extLst xmlns:a="http://schemas.openxmlformats.org/drawingml/2006/main">
              <a:ext uri="{FF2B5EF4-FFF2-40B4-BE49-F238E27FC236}">
                <a16:creationId xmlns:a16="http://schemas.microsoft.com/office/drawing/2014/main" id="{25799A0E-018D-4E28-98FA-D45F948640E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Sequence the evidence before explaining</a:t>
            </a:r>
          </a:p>
        </p:txBody>
      </p:sp>
      <p:sp>
        <p:nvSpPr>
          <p:cNvPr id="8" name="surface">
            <a:extLst xmlns:a="http://schemas.openxmlformats.org/drawingml/2006/main">
              <a:ext uri="{FF2B5EF4-FFF2-40B4-BE49-F238E27FC236}">
                <a16:creationId xmlns:a16="http://schemas.microsoft.com/office/drawing/2014/main" id="{90A55ABF-AEDC-46FC-A151-16A46BA6927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BA0CC3E6-5B5D-4D72-885A-1FC45B2BBBD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6 / 14">
            <a:extLst xmlns:a="http://schemas.openxmlformats.org/drawingml/2006/main">
              <a:ext uri="{FF2B5EF4-FFF2-40B4-BE49-F238E27FC236}">
                <a16:creationId xmlns:a16="http://schemas.microsoft.com/office/drawing/2014/main" id="{26F5D12E-382B-4E77-BAFC-8BEDF7C02D9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14</a:t>
            </a:r>
          </a:p>
        </p:txBody>
      </p:sp>
      <p:sp>
        <p:nvSpPr>
          <p:cNvPr id="11" name="B: setup. C: stem colour later. D: petal colour later still.">
            <a:extLst xmlns:a="http://schemas.openxmlformats.org/drawingml/2006/main">
              <a:ext uri="{FF2B5EF4-FFF2-40B4-BE49-F238E27FC236}">
                <a16:creationId xmlns:a16="http://schemas.microsoft.com/office/drawing/2014/main" id="{DA292F74-7F48-4520-B164-A151F70A3C61}"/>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B: setup. C: stem colour later. D: petal colour later still.</a:t>
            </a:r>
          </a:p>
        </p:txBody>
      </p:sp>
      <p:graphicFrame>
        <p:nvGraphicFramePr>
          <p:cNvPr id="25" name=""/>
          <p:cNvGraphicFramePr/>
          <p:nvPr/>
        </p:nvGraphicFramePr>
        <p:xfrm>
          <a:off xmlns:a="http://schemas.openxmlformats.org/drawingml/2006/main" x="533400" y="2295525"/>
          <a:ext xmlns:a="http://schemas.openxmlformats.org/drawingml/2006/main" cx="11125200" cy="1515904"/>
        </p:xfrm>
        <a:graphic xmlns:a="http://schemas.openxmlformats.org/drawingml/2006/main">
          <a:graphicData uri="http://schemas.openxmlformats.org/drawingml/2006/table">
            <a:tbl>
              <a:tblPr firstRow="1" bandRow="0"/>
              <a:tblGrid>
                <a:gridCol w="2381425"/>
                <a:gridCol w="5020484"/>
                <a:gridCol w="3723291"/>
              </a:tblGrid>
              <a:tr h="505301">
                <a:tc>
                  <a:txBody>
                    <a:bodyPr lIns="95250" tIns="95250" rIns="95250" bIns="95250"/>
                    <a:lstStyle/>
                    <a:p>
                      <a:pPr algn="l"/>
                      <a:r>
                        <a:rPr sz="2025" b="1">
                          <a:solidFill>
                            <a:srgbClr val="FFFFFF"/>
                          </a:solidFill>
                          <a:latin typeface="Nimbus Sans"/>
                          <a:ea typeface="Nimbus Sans"/>
                          <a:cs typeface="Nimbus Sans"/>
                        </a:rPr>
                        <a:t>Stage</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Dye shoot</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Plain-water comparison</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Start</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Placed in coloured water</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Placed in plain water</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Later</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Internal red paths; then some red petals</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No red dye colour</a:t>
                      </a:r>
                    </a:p>
                  </a:txBody>
                  <a:tcPr marL="95250" marR="95250" marT="95250" marB="95250" anchor="ctr">
                    <a:solidFill>
                      <a:srgbClr val="FFFFFF"/>
                    </a:solidFill>
                  </a:tcPr>
                </a:tc>
              </a:tr>
            </a:tbl>
          </a:graphicData>
        </a:graphic>
      </p:graphicFrame>
      <p:sp>
        <p:nvSpPr>
          <p:cNvPr id="13" name="Constructed observations; timings vary in real demonstrations">
            <a:extLst xmlns:a="http://schemas.openxmlformats.org/drawingml/2006/main">
              <a:ext uri="{FF2B5EF4-FFF2-40B4-BE49-F238E27FC236}">
                <a16:creationId xmlns:a16="http://schemas.microsoft.com/office/drawing/2014/main" id="{FEECA62F-B21F-4A6C-80FC-59D6FAAB0A6B}"/>
              </a:ext>
            </a:extLst>
          </p:cNvPr>
          <p:cNvSpPr>
            <a:spLocks xmlns:a="http://schemas.openxmlformats.org/drawingml/2006/main" noGrp="1"/>
          </p:cNvSpPr>
          <p:nvPr/>
        </p:nvSpPr>
        <p:spPr>
          <a:xfrm xmlns:a="http://schemas.openxmlformats.org/drawingml/2006/main">
            <a:off x="533400" y="3925729"/>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observations; timings vary in real demonstrations</a:t>
            </a:r>
          </a:p>
        </p:txBody>
      </p:sp>
    </p:spTree>
    <p:extLst>
      <p:ext uri="{BB962C8B-B14F-4D97-AF65-F5344CB8AC3E}">
        <p14:creationId xmlns:p14="http://schemas.microsoft.com/office/powerpoint/2010/main" val="17158953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C7691961-ED7A-4059-AEAF-0E25D4E8124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6D675D0-E19C-42F9-80CB-3CA0AC75D8F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3D6936C-8A15-4288-B553-12E42ABF03C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BFA766E7-BB60-44D8-A4AD-E90F73B70E5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3AA89E1D-BDFD-45B4-91E4-E1DF9CDC244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0C6DDC95-5163-4FEB-A9C1-2C81FF67F4F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Which claim reaches too far?">
            <a:extLst xmlns:a="http://schemas.openxmlformats.org/drawingml/2006/main">
              <a:ext uri="{FF2B5EF4-FFF2-40B4-BE49-F238E27FC236}">
                <a16:creationId xmlns:a16="http://schemas.microsoft.com/office/drawing/2014/main" id="{1D5568FC-729E-47ED-9C5B-8E59431AF71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claim reaches too far?</a:t>
            </a:r>
          </a:p>
        </p:txBody>
      </p:sp>
      <p:sp>
        <p:nvSpPr>
          <p:cNvPr id="8" name="surface">
            <a:extLst xmlns:a="http://schemas.openxmlformats.org/drawingml/2006/main">
              <a:ext uri="{FF2B5EF4-FFF2-40B4-BE49-F238E27FC236}">
                <a16:creationId xmlns:a16="http://schemas.microsoft.com/office/drawing/2014/main" id="{C6DFF926-2689-43C4-B956-2372D0CA8C3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6520FCD0-BF50-4CE8-95FE-AFB978B71D9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7 / 14">
            <a:extLst xmlns:a="http://schemas.openxmlformats.org/drawingml/2006/main">
              <a:ext uri="{FF2B5EF4-FFF2-40B4-BE49-F238E27FC236}">
                <a16:creationId xmlns:a16="http://schemas.microsoft.com/office/drawing/2014/main" id="{2752A3DD-7FF8-49AA-A15F-15779FB59E6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14</a:t>
            </a:r>
          </a:p>
        </p:txBody>
      </p:sp>
      <p:sp>
        <p:nvSpPr>
          <p:cNvPr id="11" name="“Water moved within this cut shoot.”">
            <a:extLst xmlns:a="http://schemas.openxmlformats.org/drawingml/2006/main">
              <a:ext uri="{FF2B5EF4-FFF2-40B4-BE49-F238E27FC236}">
                <a16:creationId xmlns:a16="http://schemas.microsoft.com/office/drawing/2014/main" id="{62418715-FFEA-4346-9C00-EC923F9FCCF2}"/>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“Water moved within this cut shoot.”</a:t>
            </a:r>
          </a:p>
        </p:txBody>
      </p:sp>
      <p:sp>
        <p:nvSpPr>
          <p:cNvPr id="12" name="“We proved how roots took up water.”">
            <a:extLst xmlns:a="http://schemas.openxmlformats.org/drawingml/2006/main">
              <a:ext uri="{FF2B5EF4-FFF2-40B4-BE49-F238E27FC236}">
                <a16:creationId xmlns:a16="http://schemas.microsoft.com/office/drawing/2014/main" id="{A57B8877-4595-4F81-BB13-CBBA155A16F3}"/>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“We proved how roots took up water.”</a:t>
            </a:r>
          </a:p>
        </p:txBody>
      </p:sp>
      <p:sp>
        <p:nvSpPr>
          <p:cNvPr id="13" name="Use B to choose.">
            <a:extLst xmlns:a="http://schemas.openxmlformats.org/drawingml/2006/main">
              <a:ext uri="{FF2B5EF4-FFF2-40B4-BE49-F238E27FC236}">
                <a16:creationId xmlns:a16="http://schemas.microsoft.com/office/drawing/2014/main" id="{C2FBAE84-3000-4D84-AE21-3193B10292A6}"/>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B to choose.</a:t>
            </a:r>
          </a:p>
        </p:txBody>
      </p:sp>
    </p:spTree>
    <p:extLst>
      <p:ext uri="{BB962C8B-B14F-4D97-AF65-F5344CB8AC3E}">
        <p14:creationId xmlns:p14="http://schemas.microsoft.com/office/powerpoint/2010/main" val="4122439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B18B6EA5-1D5A-4245-8261-DD33C7367C6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F7AAD65-A00B-45B8-8D33-CA22A979074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FB58C26-3769-48DB-9F52-2AA86DE4750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25D819B3-DA1E-449B-B481-CD3AAF7EB69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Hinge">
            <a:extLst xmlns:a="http://schemas.openxmlformats.org/drawingml/2006/main">
              <a:ext uri="{FF2B5EF4-FFF2-40B4-BE49-F238E27FC236}">
                <a16:creationId xmlns:a16="http://schemas.microsoft.com/office/drawing/2014/main" id="{541FC1D2-365A-4E46-AE0B-7D30C58989F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5F2DC253-240C-4C86-B27A-B921CE97B4E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at does an internal red path support?">
            <a:extLst xmlns:a="http://schemas.openxmlformats.org/drawingml/2006/main">
              <a:ext uri="{FF2B5EF4-FFF2-40B4-BE49-F238E27FC236}">
                <a16:creationId xmlns:a16="http://schemas.microsoft.com/office/drawing/2014/main" id="{037C2DB2-07E2-405C-9CA6-7193816C2B4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does an internal red path support?</a:t>
            </a:r>
          </a:p>
        </p:txBody>
      </p:sp>
      <p:sp>
        <p:nvSpPr>
          <p:cNvPr id="8" name="surface">
            <a:extLst xmlns:a="http://schemas.openxmlformats.org/drawingml/2006/main">
              <a:ext uri="{FF2B5EF4-FFF2-40B4-BE49-F238E27FC236}">
                <a16:creationId xmlns:a16="http://schemas.microsoft.com/office/drawing/2014/main" id="{C4ED474A-7B36-4F64-AE0E-52738302934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947466EA-7C75-4943-8FB2-6F95AA67DFB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8 / 14">
            <a:extLst xmlns:a="http://schemas.openxmlformats.org/drawingml/2006/main">
              <a:ext uri="{FF2B5EF4-FFF2-40B4-BE49-F238E27FC236}">
                <a16:creationId xmlns:a16="http://schemas.microsoft.com/office/drawing/2014/main" id="{3B504126-0D82-40CC-B375-4F320830373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14</a:t>
            </a:r>
          </a:p>
        </p:txBody>
      </p:sp>
      <p:sp>
        <p:nvSpPr>
          <p:cNvPr id="11" name="Focus on evidence inside the shoot.">
            <a:extLst xmlns:a="http://schemas.openxmlformats.org/drawingml/2006/main">
              <a:ext uri="{FF2B5EF4-FFF2-40B4-BE49-F238E27FC236}">
                <a16:creationId xmlns:a16="http://schemas.microsoft.com/office/drawing/2014/main" id="{AB09F445-F125-4165-8CF2-7E2AED42E389}"/>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Focus on evidence inside the shoot.</a:t>
            </a:r>
          </a:p>
        </p:txBody>
      </p:sp>
      <p:sp>
        <p:nvSpPr>
          <p:cNvPr id="12" name="surface">
            <a:extLst xmlns:a="http://schemas.openxmlformats.org/drawingml/2006/main">
              <a:ext uri="{FF2B5EF4-FFF2-40B4-BE49-F238E27FC236}">
                <a16:creationId xmlns:a16="http://schemas.microsoft.com/office/drawing/2014/main" id="{367A3DB5-4F6C-450B-893D-697DCD8721D1}"/>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4E7028F4-8195-437E-9257-E172F92ACBC0}"/>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AD313F46-643A-45F5-A4C5-0BC3B6B3C538}"/>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Coloured water moved through internal pathways.">
            <a:extLst xmlns:a="http://schemas.openxmlformats.org/drawingml/2006/main">
              <a:ext uri="{FF2B5EF4-FFF2-40B4-BE49-F238E27FC236}">
                <a16:creationId xmlns:a16="http://schemas.microsoft.com/office/drawing/2014/main" id="{11FFFDC4-E441-434A-9A49-1FE4FFA1332D}"/>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Coloured water moved through internal pathways.</a:t>
            </a:r>
          </a:p>
        </p:txBody>
      </p:sp>
      <p:sp>
        <p:nvSpPr>
          <p:cNvPr id="16" name="surface">
            <a:extLst xmlns:a="http://schemas.openxmlformats.org/drawingml/2006/main">
              <a:ext uri="{FF2B5EF4-FFF2-40B4-BE49-F238E27FC236}">
                <a16:creationId xmlns:a16="http://schemas.microsoft.com/office/drawing/2014/main" id="{B41F3C5A-6FD9-43F6-8A14-E50399A97779}"/>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6BE9FA0E-2C55-42AA-912A-0CF7DA53E17D}"/>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F6FBDEA0-7789-4F3E-A157-F3D01225AD05}"/>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The demonstration directly observed root absorption.">
            <a:extLst xmlns:a="http://schemas.openxmlformats.org/drawingml/2006/main">
              <a:ext uri="{FF2B5EF4-FFF2-40B4-BE49-F238E27FC236}">
                <a16:creationId xmlns:a16="http://schemas.microsoft.com/office/drawing/2014/main" id="{17B00513-3F39-4E76-A8D7-E60A40971203}"/>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demonstration directly observed root absorption.</a:t>
            </a:r>
          </a:p>
        </p:txBody>
      </p:sp>
      <p:sp>
        <p:nvSpPr>
          <p:cNvPr id="20" name="surface">
            <a:extLst xmlns:a="http://schemas.openxmlformats.org/drawingml/2006/main">
              <a:ext uri="{FF2B5EF4-FFF2-40B4-BE49-F238E27FC236}">
                <a16:creationId xmlns:a16="http://schemas.microsoft.com/office/drawing/2014/main" id="{45983031-6CF7-4C5F-A3A9-A5F2C9F8BAF6}"/>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8FE68D9A-0E8E-4333-B62D-54D49C6EC4AA}"/>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B7F92243-8CA6-4294-BEBB-10656EAFC418}"/>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The dye is the plant’s natural food.">
            <a:extLst xmlns:a="http://schemas.openxmlformats.org/drawingml/2006/main">
              <a:ext uri="{FF2B5EF4-FFF2-40B4-BE49-F238E27FC236}">
                <a16:creationId xmlns:a16="http://schemas.microsoft.com/office/drawing/2014/main" id="{F45C494D-7741-419B-B6A9-8FC98B06C7D3}"/>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dye is the plant’s natural food.</a:t>
            </a:r>
          </a:p>
        </p:txBody>
      </p:sp>
    </p:spTree>
    <p:extLst>
      <p:ext uri="{BB962C8B-B14F-4D97-AF65-F5344CB8AC3E}">
        <p14:creationId xmlns:p14="http://schemas.microsoft.com/office/powerpoint/2010/main" val="741575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FA8449F-1652-4A73-930F-52016C9A3F9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3AE3D30-3562-4C3A-91EF-06521BC623C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23B7DD4-1AFE-4156-8FE3-0A40423BA9A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BDCA18B2-5195-4AF8-B5B7-AAEEA7521DC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0F6AF6A8-1208-4C82-826A-2152F181CA8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2 min">
            <a:extLst xmlns:a="http://schemas.openxmlformats.org/drawingml/2006/main">
              <a:ext uri="{FF2B5EF4-FFF2-40B4-BE49-F238E27FC236}">
                <a16:creationId xmlns:a16="http://schemas.microsoft.com/office/drawing/2014/main" id="{85E79005-0C05-443C-98FB-A4F1D36E8BE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hoose your science route">
            <a:extLst xmlns:a="http://schemas.openxmlformats.org/drawingml/2006/main">
              <a:ext uri="{FF2B5EF4-FFF2-40B4-BE49-F238E27FC236}">
                <a16:creationId xmlns:a16="http://schemas.microsoft.com/office/drawing/2014/main" id="{CF3A2EE7-BEB4-4FFC-91CB-12707002276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your science route</a:t>
            </a:r>
          </a:p>
        </p:txBody>
      </p:sp>
      <p:sp>
        <p:nvSpPr>
          <p:cNvPr id="8" name="surface">
            <a:extLst xmlns:a="http://schemas.openxmlformats.org/drawingml/2006/main">
              <a:ext uri="{FF2B5EF4-FFF2-40B4-BE49-F238E27FC236}">
                <a16:creationId xmlns:a16="http://schemas.microsoft.com/office/drawing/2014/main" id="{7EB99D19-3D62-4CBC-8F3B-5A4DC4E232A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2F02990D-5DFC-40FF-BA84-ACD33EA7700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9 / 14">
            <a:extLst xmlns:a="http://schemas.openxmlformats.org/drawingml/2006/main">
              <a:ext uri="{FF2B5EF4-FFF2-40B4-BE49-F238E27FC236}">
                <a16:creationId xmlns:a16="http://schemas.microsoft.com/office/drawing/2014/main" id="{72C4C3B6-92A0-46D3-A7A7-C15B78019F2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14</a:t>
            </a:r>
          </a:p>
        </p:txBody>
      </p:sp>
      <p:sp>
        <p:nvSpPr>
          <p:cNvPr id="11" name="Complete the route and clues.">
            <a:extLst xmlns:a="http://schemas.openxmlformats.org/drawingml/2006/main">
              <a:ext uri="{FF2B5EF4-FFF2-40B4-BE49-F238E27FC236}">
                <a16:creationId xmlns:a16="http://schemas.microsoft.com/office/drawing/2014/main" id="{EC9422D1-A38C-4F03-A07F-2C15DC0C4922}"/>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Complete the route and clues.</a:t>
            </a:r>
          </a:p>
        </p:txBody>
      </p:sp>
      <p:sp>
        <p:nvSpPr>
          <p:cNvPr id="12" name="Write a transport explanation.">
            <a:extLst xmlns:a="http://schemas.openxmlformats.org/drawingml/2006/main">
              <a:ext uri="{FF2B5EF4-FFF2-40B4-BE49-F238E27FC236}">
                <a16:creationId xmlns:a16="http://schemas.microsoft.com/office/drawing/2014/main" id="{F5993C76-0B43-4DBD-8642-E31987AF912F}"/>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Write a transport explanation.</a:t>
            </a:r>
          </a:p>
        </p:txBody>
      </p:sp>
      <p:sp>
        <p:nvSpPr>
          <p:cNvPr id="13" name="Challenge the overclaim.">
            <a:extLst xmlns:a="http://schemas.openxmlformats.org/drawingml/2006/main">
              <a:ext uri="{FF2B5EF4-FFF2-40B4-BE49-F238E27FC236}">
                <a16:creationId xmlns:a16="http://schemas.microsoft.com/office/drawing/2014/main" id="{B56ABA5F-D4DC-4F2F-BA09-F297520B64F4}"/>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Challenge the overclaim.</a:t>
            </a:r>
          </a:p>
        </p:txBody>
      </p:sp>
    </p:spTree>
    <p:extLst>
      <p:ext uri="{BB962C8B-B14F-4D97-AF65-F5344CB8AC3E}">
        <p14:creationId xmlns:p14="http://schemas.microsoft.com/office/powerpoint/2010/main" val="1243617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D324F153-D694-4D5A-8D6E-6376F06922E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418CCC7-1689-459B-87D6-8BA0BB6D77E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F3C4343-8140-4915-A157-EED9155548A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C6EB25E-A3C7-46C6-A25F-7B7E5C66BBD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3507B1AC-F243-4551-AA47-8872EAADB5D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9E389143-9AFE-4C85-9523-04B17EDA02A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Make your own evidence record">
            <a:extLst xmlns:a="http://schemas.openxmlformats.org/drawingml/2006/main">
              <a:ext uri="{FF2B5EF4-FFF2-40B4-BE49-F238E27FC236}">
                <a16:creationId xmlns:a16="http://schemas.microsoft.com/office/drawing/2014/main" id="{99326556-EE92-4643-9F8A-167A0EFB387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your own evidence record</a:t>
            </a:r>
          </a:p>
        </p:txBody>
      </p:sp>
      <p:sp>
        <p:nvSpPr>
          <p:cNvPr id="8" name="surface">
            <a:extLst xmlns:a="http://schemas.openxmlformats.org/drawingml/2006/main">
              <a:ext uri="{FF2B5EF4-FFF2-40B4-BE49-F238E27FC236}">
                <a16:creationId xmlns:a16="http://schemas.microsoft.com/office/drawing/2014/main" id="{3A9A87DE-9284-489E-81BA-33FF58D9C6C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25CAB978-06DF-47FB-B6FD-13814744731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10 / 14">
            <a:extLst xmlns:a="http://schemas.openxmlformats.org/drawingml/2006/main">
              <a:ext uri="{FF2B5EF4-FFF2-40B4-BE49-F238E27FC236}">
                <a16:creationId xmlns:a16="http://schemas.microsoft.com/office/drawing/2014/main" id="{DEFF1B24-64EF-4B6A-8DD3-EBE5F19E0F1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14</a:t>
            </a:r>
          </a:p>
        </p:txBody>
      </p:sp>
      <p:sp>
        <p:nvSpPr>
          <p:cNvPr id="11" name="Use the shared evidence.">
            <a:extLst xmlns:a="http://schemas.openxmlformats.org/drawingml/2006/main">
              <a:ext uri="{FF2B5EF4-FFF2-40B4-BE49-F238E27FC236}">
                <a16:creationId xmlns:a16="http://schemas.microsoft.com/office/drawing/2014/main" id="{F96D4E84-E75C-4046-A915-AA7C7C4F6326}"/>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the shared evidence.</a:t>
            </a:r>
          </a:p>
        </p:txBody>
      </p:sp>
      <p:sp>
        <p:nvSpPr>
          <p:cNvPr id="12" name="Explain one choice.">
            <a:extLst xmlns:a="http://schemas.openxmlformats.org/drawingml/2006/main">
              <a:ext uri="{FF2B5EF4-FFF2-40B4-BE49-F238E27FC236}">
                <a16:creationId xmlns:a16="http://schemas.microsoft.com/office/drawing/2014/main" id="{6C144411-3B39-415D-AA0A-158B0B7E26A6}"/>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Explain one choice.</a:t>
            </a:r>
          </a:p>
        </p:txBody>
      </p:sp>
      <p:sp>
        <p:nvSpPr>
          <p:cNvPr id="13" name="Check a label or number.">
            <a:extLst xmlns:a="http://schemas.openxmlformats.org/drawingml/2006/main">
              <a:ext uri="{FF2B5EF4-FFF2-40B4-BE49-F238E27FC236}">
                <a16:creationId xmlns:a16="http://schemas.microsoft.com/office/drawing/2014/main" id="{B0463BF7-0B9B-4ABB-8C8A-7CF2CB7A6C1B}"/>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Check a label or number.</a:t>
            </a:r>
          </a:p>
        </p:txBody>
      </p:sp>
    </p:spTree>
    <p:extLst>
      <p:ext uri="{BB962C8B-B14F-4D97-AF65-F5344CB8AC3E}">
        <p14:creationId xmlns:p14="http://schemas.microsoft.com/office/powerpoint/2010/main" val="904729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62C4B8E1-4BB0-4E6E-956C-31DA98ACC4B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EB6A821-4679-4FFA-8D3D-6661BC9A81C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B756264-F49F-495A-9A5C-5D0C7F3B943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22DA8203-C6D0-4E11-98B4-78C31FE417C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7B49E3DB-65A1-41B2-B62A-8F831ADA9A2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what the evidence can show">
            <a:extLst xmlns:a="http://schemas.openxmlformats.org/drawingml/2006/main">
              <a:ext uri="{FF2B5EF4-FFF2-40B4-BE49-F238E27FC236}">
                <a16:creationId xmlns:a16="http://schemas.microsoft.com/office/drawing/2014/main" id="{33375B08-F947-4F2B-958D-7FA785BEE8FC}"/>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what the evidence can show</a:t>
            </a:r>
          </a:p>
        </p:txBody>
      </p:sp>
      <p:sp>
        <p:nvSpPr>
          <p:cNvPr id="7" name="surface">
            <a:extLst xmlns:a="http://schemas.openxmlformats.org/drawingml/2006/main">
              <a:ext uri="{FF2B5EF4-FFF2-40B4-BE49-F238E27FC236}">
                <a16:creationId xmlns:a16="http://schemas.microsoft.com/office/drawing/2014/main" id="{35AD582F-699B-463F-A56C-9BA3195B197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water-path detectives">
            <a:extLst xmlns:a="http://schemas.openxmlformats.org/drawingml/2006/main">
              <a:ext uri="{FF2B5EF4-FFF2-40B4-BE49-F238E27FC236}">
                <a16:creationId xmlns:a16="http://schemas.microsoft.com/office/drawing/2014/main" id="{19B83B02-2551-41E2-927B-53E31DFD5FB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9" name="11 / 14">
            <a:extLst xmlns:a="http://schemas.openxmlformats.org/drawingml/2006/main">
              <a:ext uri="{FF2B5EF4-FFF2-40B4-BE49-F238E27FC236}">
                <a16:creationId xmlns:a16="http://schemas.microsoft.com/office/drawing/2014/main" id="{2DEAA7E9-D1F4-47DC-87EE-DEA3C8339AC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14</a:t>
            </a:r>
          </a:p>
        </p:txBody>
      </p:sp>
      <p:sp>
        <p:nvSpPr>
          <p:cNvPr id="10" name="Point to the clue you used.">
            <a:extLst xmlns:a="http://schemas.openxmlformats.org/drawingml/2006/main">
              <a:ext uri="{FF2B5EF4-FFF2-40B4-BE49-F238E27FC236}">
                <a16:creationId xmlns:a16="http://schemas.microsoft.com/office/drawing/2014/main" id="{81BA7C1B-0141-4C5C-9080-86AE0CE2D2E2}"/>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Point to the clue you used.</a:t>
            </a:r>
          </a:p>
        </p:txBody>
      </p:sp>
      <p:sp>
        <p:nvSpPr>
          <p:cNvPr id="11" name="Remove an unsupported claim.">
            <a:extLst xmlns:a="http://schemas.openxmlformats.org/drawingml/2006/main">
              <a:ext uri="{FF2B5EF4-FFF2-40B4-BE49-F238E27FC236}">
                <a16:creationId xmlns:a16="http://schemas.microsoft.com/office/drawing/2014/main" id="{A56DDDAF-B817-49DD-B624-D0E6D468E132}"/>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Remove an unsupported claim.</a:t>
            </a:r>
          </a:p>
        </p:txBody>
      </p:sp>
    </p:spTree>
    <p:extLst>
      <p:ext uri="{BB962C8B-B14F-4D97-AF65-F5344CB8AC3E}">
        <p14:creationId xmlns:p14="http://schemas.microsoft.com/office/powerpoint/2010/main" val="9030600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31DF45E9-8B5A-47E8-A5AB-1D5306296B1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D3204DD-233E-4661-A3E7-13DD16D7426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3D36334-485D-4A7F-AD16-CEE79C35A7A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D84B1239-25ED-46CA-8EE1-F4D6F096DD7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view">
            <a:extLst xmlns:a="http://schemas.openxmlformats.org/drawingml/2006/main">
              <a:ext uri="{FF2B5EF4-FFF2-40B4-BE49-F238E27FC236}">
                <a16:creationId xmlns:a16="http://schemas.microsoft.com/office/drawing/2014/main" id="{92FA8CC8-663A-4D65-B36D-4C74DD72579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195B6C79-B4E5-4E08-AFFE-26BE669E7C5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Lundy loop: improve the shared account">
            <a:extLst xmlns:a="http://schemas.openxmlformats.org/drawingml/2006/main">
              <a:ext uri="{FF2B5EF4-FFF2-40B4-BE49-F238E27FC236}">
                <a16:creationId xmlns:a16="http://schemas.microsoft.com/office/drawing/2014/main" id="{58010233-D5CB-49F6-A984-D3B47991B73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Lundy loop: improve the shared account</a:t>
            </a:r>
          </a:p>
        </p:txBody>
      </p:sp>
      <p:sp>
        <p:nvSpPr>
          <p:cNvPr id="8" name="surface">
            <a:extLst xmlns:a="http://schemas.openxmlformats.org/drawingml/2006/main">
              <a:ext uri="{FF2B5EF4-FFF2-40B4-BE49-F238E27FC236}">
                <a16:creationId xmlns:a16="http://schemas.microsoft.com/office/drawing/2014/main" id="{B0C53E02-5A4F-472E-A7A9-7B6EE0002E4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9712662E-204E-4AFE-B967-D363868E3A9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12 / 14">
            <a:extLst xmlns:a="http://schemas.openxmlformats.org/drawingml/2006/main">
              <a:ext uri="{FF2B5EF4-FFF2-40B4-BE49-F238E27FC236}">
                <a16:creationId xmlns:a16="http://schemas.microsoft.com/office/drawing/2014/main" id="{505CBD73-06F4-49B7-9E93-D2D2C6A5D0D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14</a:t>
            </a:r>
          </a:p>
        </p:txBody>
      </p:sp>
      <p:sp>
        <p:nvSpPr>
          <p:cNvPr id="11" name="Choose how to share.">
            <a:extLst xmlns:a="http://schemas.openxmlformats.org/drawingml/2006/main">
              <a:ext uri="{FF2B5EF4-FFF2-40B4-BE49-F238E27FC236}">
                <a16:creationId xmlns:a16="http://schemas.microsoft.com/office/drawing/2014/main" id="{BBC0F35E-A1EE-4F4C-B7CF-805236D755E8}"/>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Choose how to share.</a:t>
            </a:r>
          </a:p>
        </p:txBody>
      </p:sp>
      <p:sp>
        <p:nvSpPr>
          <p:cNvPr id="12" name="Hear one evidence-based challenge.">
            <a:extLst xmlns:a="http://schemas.openxmlformats.org/drawingml/2006/main">
              <a:ext uri="{FF2B5EF4-FFF2-40B4-BE49-F238E27FC236}">
                <a16:creationId xmlns:a16="http://schemas.microsoft.com/office/drawing/2014/main" id="{ED73D1E7-5729-46B5-BBD1-6DA238D3CF40}"/>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Hear one evidence-based challenge.</a:t>
            </a:r>
          </a:p>
        </p:txBody>
      </p:sp>
      <p:sp>
        <p:nvSpPr>
          <p:cNvPr id="13" name="Improve or defend one idea.">
            <a:extLst xmlns:a="http://schemas.openxmlformats.org/drawingml/2006/main">
              <a:ext uri="{FF2B5EF4-FFF2-40B4-BE49-F238E27FC236}">
                <a16:creationId xmlns:a16="http://schemas.microsoft.com/office/drawing/2014/main" id="{311D802C-B077-4D1C-8BA5-C543FB3268D0}"/>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Improve or defend one idea.</a:t>
            </a:r>
          </a:p>
        </p:txBody>
      </p:sp>
      <p:sp>
        <p:nvSpPr>
          <p:cNvPr id="14" name="surface">
            <a:extLst xmlns:a="http://schemas.openxmlformats.org/drawingml/2006/main">
              <a:ext uri="{FF2B5EF4-FFF2-40B4-BE49-F238E27FC236}">
                <a16:creationId xmlns:a16="http://schemas.microsoft.com/office/drawing/2014/main" id="{526FFE6F-BBFA-4B12-9870-E97422431CE3}"/>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ECB61944-51B2-45E3-96BE-A71D5EB0A846}"/>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6" name="Which limit made the explanation more trustworthy?">
            <a:extLst xmlns:a="http://schemas.openxmlformats.org/drawingml/2006/main">
              <a:ext uri="{FF2B5EF4-FFF2-40B4-BE49-F238E27FC236}">
                <a16:creationId xmlns:a16="http://schemas.microsoft.com/office/drawing/2014/main" id="{618563C3-9CBA-4020-9E5E-2B27E7B57F8D}"/>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E7A9B"/>
                </a:solidFill>
                <a:latin typeface="Nimbus Sans"/>
                <a:ea typeface="Nimbus Sans"/>
                <a:cs typeface="Nimbus Sans"/>
              </a:defRPr>
            </a:pPr>
            <a:r>
              <a:rPr sz="2175" b="1">
                <a:solidFill>
                  <a:srgbClr val="4E7A9B"/>
                </a:solidFill>
                <a:latin typeface="Nimbus Sans"/>
                <a:ea typeface="Nimbus Sans"/>
                <a:cs typeface="Nimbus Sans"/>
              </a:rPr>
              <a:t>Which limit made the explanation more trustworthy?</a:t>
            </a:r>
          </a:p>
        </p:txBody>
      </p:sp>
    </p:spTree>
    <p:extLst>
      <p:ext uri="{BB962C8B-B14F-4D97-AF65-F5344CB8AC3E}">
        <p14:creationId xmlns:p14="http://schemas.microsoft.com/office/powerpoint/2010/main" val="8550832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0678B1F8-AA37-46BB-AF39-2E809EBB91C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5293F32-A50B-4286-80D4-F0D13E213A4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5D049D5-6D10-498F-8162-1ABBB45CCDA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B5F2CDFA-C2AA-4DE3-8E6B-BC5A2811715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view">
            <a:extLst xmlns:a="http://schemas.openxmlformats.org/drawingml/2006/main">
              <a:ext uri="{FF2B5EF4-FFF2-40B4-BE49-F238E27FC236}">
                <a16:creationId xmlns:a16="http://schemas.microsoft.com/office/drawing/2014/main" id="{07BE7E35-AA7C-422B-8D97-56A7B7B1133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Review</a:t>
            </a:r>
          </a:p>
        </p:txBody>
      </p:sp>
      <p:sp>
        <p:nvSpPr>
          <p:cNvPr id="6" name="Keep the useful change">
            <a:extLst xmlns:a="http://schemas.openxmlformats.org/drawingml/2006/main">
              <a:ext uri="{FF2B5EF4-FFF2-40B4-BE49-F238E27FC236}">
                <a16:creationId xmlns:a16="http://schemas.microsoft.com/office/drawing/2014/main" id="{B3B52F8A-09AE-4DF7-81E7-B662372A395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Keep the useful change</a:t>
            </a:r>
          </a:p>
        </p:txBody>
      </p:sp>
      <p:sp>
        <p:nvSpPr>
          <p:cNvPr id="7" name="surface">
            <a:extLst xmlns:a="http://schemas.openxmlformats.org/drawingml/2006/main">
              <a:ext uri="{FF2B5EF4-FFF2-40B4-BE49-F238E27FC236}">
                <a16:creationId xmlns:a16="http://schemas.microsoft.com/office/drawing/2014/main" id="{CA3A1DCE-DF10-474E-B862-1C893D8D8EE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water-path detectives">
            <a:extLst xmlns:a="http://schemas.openxmlformats.org/drawingml/2006/main">
              <a:ext uri="{FF2B5EF4-FFF2-40B4-BE49-F238E27FC236}">
                <a16:creationId xmlns:a16="http://schemas.microsoft.com/office/drawing/2014/main" id="{24364D19-B314-4CB9-A8D1-4C2B0C716EF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9" name="13 / 14">
            <a:extLst xmlns:a="http://schemas.openxmlformats.org/drawingml/2006/main">
              <a:ext uri="{FF2B5EF4-FFF2-40B4-BE49-F238E27FC236}">
                <a16:creationId xmlns:a16="http://schemas.microsoft.com/office/drawing/2014/main" id="{576DF89C-A291-4E6F-927F-92FA85EE14D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14</a:t>
            </a:r>
          </a:p>
        </p:txBody>
      </p:sp>
      <p:sp>
        <p:nvSpPr>
          <p:cNvPr id="10" name="What changed in our account?">
            <a:extLst xmlns:a="http://schemas.openxmlformats.org/drawingml/2006/main">
              <a:ext uri="{FF2B5EF4-FFF2-40B4-BE49-F238E27FC236}">
                <a16:creationId xmlns:a16="http://schemas.microsoft.com/office/drawing/2014/main" id="{2594138A-CA4A-493F-BF12-D97A2B574984}"/>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What changed in our account?</a:t>
            </a:r>
          </a:p>
        </p:txBody>
      </p:sp>
      <p:sp>
        <p:nvSpPr>
          <p:cNvPr id="11" name="Which evidence helped?">
            <a:extLst xmlns:a="http://schemas.openxmlformats.org/drawingml/2006/main">
              <a:ext uri="{FF2B5EF4-FFF2-40B4-BE49-F238E27FC236}">
                <a16:creationId xmlns:a16="http://schemas.microsoft.com/office/drawing/2014/main" id="{A5BF4B8D-19D6-409A-B0D8-FA217EEA87A0}"/>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Which evidence helped?</a:t>
            </a:r>
          </a:p>
        </p:txBody>
      </p:sp>
    </p:spTree>
    <p:extLst>
      <p:ext uri="{BB962C8B-B14F-4D97-AF65-F5344CB8AC3E}">
        <p14:creationId xmlns:p14="http://schemas.microsoft.com/office/powerpoint/2010/main" val="18429503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B06601D-50D2-440C-B385-BB5E17337AF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F425179-AD2C-4577-B5EA-2A85EB71BD9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8362E9B-E3CC-48AB-BBB0-756B66FC91B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A702D662-4A36-4C28-AF9A-33B6AE46CA3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Exit">
            <a:extLst xmlns:a="http://schemas.openxmlformats.org/drawingml/2006/main">
              <a:ext uri="{FF2B5EF4-FFF2-40B4-BE49-F238E27FC236}">
                <a16:creationId xmlns:a16="http://schemas.microsoft.com/office/drawing/2014/main" id="{855D24FE-7D5F-4C4D-985D-F79FCB28480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7A4EBFE4-57C4-4348-B3B6-4248B9800C9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Three final checks">
            <a:extLst xmlns:a="http://schemas.openxmlformats.org/drawingml/2006/main">
              <a:ext uri="{FF2B5EF4-FFF2-40B4-BE49-F238E27FC236}">
                <a16:creationId xmlns:a16="http://schemas.microsoft.com/office/drawing/2014/main" id="{F8DCE98E-9F27-4810-9720-432372B27B7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final checks</a:t>
            </a:r>
          </a:p>
        </p:txBody>
      </p:sp>
      <p:sp>
        <p:nvSpPr>
          <p:cNvPr id="8" name="surface">
            <a:extLst xmlns:a="http://schemas.openxmlformats.org/drawingml/2006/main">
              <a:ext uri="{FF2B5EF4-FFF2-40B4-BE49-F238E27FC236}">
                <a16:creationId xmlns:a16="http://schemas.microsoft.com/office/drawing/2014/main" id="{39D24DC2-A6C8-4D6D-867C-BD79348B575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water-path detectives">
            <a:extLst xmlns:a="http://schemas.openxmlformats.org/drawingml/2006/main">
              <a:ext uri="{FF2B5EF4-FFF2-40B4-BE49-F238E27FC236}">
                <a16:creationId xmlns:a16="http://schemas.microsoft.com/office/drawing/2014/main" id="{D2ECDB68-1B37-4D41-9F10-C4DFCEE26D8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water-path detectives</a:t>
            </a:r>
          </a:p>
        </p:txBody>
      </p:sp>
      <p:sp>
        <p:nvSpPr>
          <p:cNvPr id="10" name="14 / 14">
            <a:extLst xmlns:a="http://schemas.openxmlformats.org/drawingml/2006/main">
              <a:ext uri="{FF2B5EF4-FFF2-40B4-BE49-F238E27FC236}">
                <a16:creationId xmlns:a16="http://schemas.microsoft.com/office/drawing/2014/main" id="{19063384-F1B8-4A56-8082-6E9CF6F31E0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14</a:t>
            </a:r>
          </a:p>
        </p:txBody>
      </p:sp>
      <p:sp>
        <p:nvSpPr>
          <p:cNvPr id="11" name="E1. Which part takes in water from soil?">
            <a:extLst xmlns:a="http://schemas.openxmlformats.org/drawingml/2006/main">
              <a:ext uri="{FF2B5EF4-FFF2-40B4-BE49-F238E27FC236}">
                <a16:creationId xmlns:a16="http://schemas.microsoft.com/office/drawing/2014/main" id="{C669ECCF-FFB5-4559-9008-51F545253BB8}"/>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E1. Which part takes in water from soil?</a:t>
            </a:r>
          </a:p>
        </p:txBody>
      </p:sp>
      <p:sp>
        <p:nvSpPr>
          <p:cNvPr id="12" name="E2. Does water travel through internal stem pathways?">
            <a:extLst xmlns:a="http://schemas.openxmlformats.org/drawingml/2006/main">
              <a:ext uri="{FF2B5EF4-FFF2-40B4-BE49-F238E27FC236}">
                <a16:creationId xmlns:a16="http://schemas.microsoft.com/office/drawing/2014/main" id="{552D6C00-8F3E-4003-8CFC-6DD236A5D6D6}"/>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E2. Does water travel through internal stem pathways?</a:t>
            </a:r>
          </a:p>
        </p:txBody>
      </p:sp>
      <p:sp>
        <p:nvSpPr>
          <p:cNvPr id="13" name="E3. Did the cut-shoot experiment contain roots?">
            <a:extLst xmlns:a="http://schemas.openxmlformats.org/drawingml/2006/main">
              <a:ext uri="{FF2B5EF4-FFF2-40B4-BE49-F238E27FC236}">
                <a16:creationId xmlns:a16="http://schemas.microsoft.com/office/drawing/2014/main" id="{F38496D0-20BD-4879-8FE5-8D11A8945E67}"/>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E3. Did the cut-shoot experiment contain roots?</a:t>
            </a:r>
          </a:p>
        </p:txBody>
      </p:sp>
    </p:spTree>
    <p:extLst>
      <p:ext uri="{BB962C8B-B14F-4D97-AF65-F5344CB8AC3E}">
        <p14:creationId xmlns:p14="http://schemas.microsoft.com/office/powerpoint/2010/main" val="1554984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2026-09-08T23:54:01.8790000Z</dcterms:created>
  <dcterms:modified xsi:type="dcterms:W3CDTF">2026-09-08T23:54:01.8790000Z</dcterms:modified>
</coreProperties>
</file>