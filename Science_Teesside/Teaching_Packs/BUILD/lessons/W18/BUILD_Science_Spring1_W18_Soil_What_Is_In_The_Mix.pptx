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625b9257cf4fa3" /><Relationship Type="http://schemas.openxmlformats.org/officeDocument/2006/relationships/extended-properties" Target="/docProps/app.xml" Id="Rfef5f5e5d99045a6" /><Relationship Type="http://schemas.openxmlformats.org/officeDocument/2006/relationships/officeDocument" Target="/ppt/presentation.xml" Id="Ra00a259b5e064a89" /></Relationships>
</file>

<file path=ppt/presentation.xml><?xml version="1.0" encoding="utf-8"?>
<p:presentation xmlns:p="http://schemas.openxmlformats.org/presentationml/2006/main">
  <p:sldMasterIdLst>
    <p:sldMasterId xmlns:r="http://schemas.openxmlformats.org/officeDocument/2006/relationships" id="2147483648" r:id="Rb8ebccad4ce7454d"/>
  </p:sldMasterIdLst>
  <p:notesMasterIdLst>
    <p:notesMasterId xmlns:r="http://schemas.openxmlformats.org/officeDocument/2006/relationships" r:id="R2edbfb4eba804890"/>
  </p:notesMasterIdLst>
  <p:sldIdLst>
    <p:sldId xmlns:r="http://schemas.openxmlformats.org/officeDocument/2006/relationships" id="256" r:id="Rcb88450495bc4d35"/>
    <p:sldId xmlns:r="http://schemas.openxmlformats.org/officeDocument/2006/relationships" id="257" r:id="Rcb3b34f9624d43ce"/>
    <p:sldId xmlns:r="http://schemas.openxmlformats.org/officeDocument/2006/relationships" id="258" r:id="R70330f0804034cf8"/>
    <p:sldId xmlns:r="http://schemas.openxmlformats.org/officeDocument/2006/relationships" id="259" r:id="R4d574cc1c0c04fcb"/>
    <p:sldId xmlns:r="http://schemas.openxmlformats.org/officeDocument/2006/relationships" id="260" r:id="R7b29c29bdc754189"/>
    <p:sldId xmlns:r="http://schemas.openxmlformats.org/officeDocument/2006/relationships" id="261" r:id="R747e7e2a97204fb3"/>
    <p:sldId xmlns:r="http://schemas.openxmlformats.org/officeDocument/2006/relationships" id="262" r:id="R72c852992a504b6b"/>
    <p:sldId xmlns:r="http://schemas.openxmlformats.org/officeDocument/2006/relationships" id="263" r:id="Rb9315853c16345f0"/>
    <p:sldId xmlns:r="http://schemas.openxmlformats.org/officeDocument/2006/relationships" id="264" r:id="R8dfac509de4a4cd0"/>
    <p:sldId xmlns:r="http://schemas.openxmlformats.org/officeDocument/2006/relationships" id="265" r:id="R4a8cd808f1bf4e15"/>
    <p:sldId xmlns:r="http://schemas.openxmlformats.org/officeDocument/2006/relationships" id="266" r:id="R62bf0eef90774f08"/>
    <p:sldId xmlns:r="http://schemas.openxmlformats.org/officeDocument/2006/relationships" id="267" r:id="R1e9a3ca42c9e4a42"/>
    <p:sldId xmlns:r="http://schemas.openxmlformats.org/officeDocument/2006/relationships" id="268" r:id="R457fdfeca8ed4499"/>
    <p:sldId xmlns:r="http://schemas.openxmlformats.org/officeDocument/2006/relationships" id="269" r:id="R9f3e8e37fb4e4c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69a327301e4d0d" /><Relationship Type="http://schemas.openxmlformats.org/officeDocument/2006/relationships/slideMaster" Target="/ppt/slideMasters/slideMaster1.xml" Id="Rb8ebccad4ce7454d" /><Relationship Type="http://schemas.openxmlformats.org/officeDocument/2006/relationships/notesMaster" Target="/ppt/notesMasters/notesMaster1.xml" Id="R2edbfb4eba804890" /><Relationship Type="http://schemas.openxmlformats.org/officeDocument/2006/relationships/presProps" Target="/ppt/presProps.xml" Id="Ra2a1d107d2674051" /><Relationship Type="http://schemas.openxmlformats.org/officeDocument/2006/relationships/tableStyles" Target="/ppt/tableStyles.xml" Id="Rc8e23792e2eb4137" /><Relationship Type="http://schemas.openxmlformats.org/officeDocument/2006/relationships/slide" Target="/ppt/slides/slide1.xml" Id="Rcb88450495bc4d35" /><Relationship Type="http://schemas.openxmlformats.org/officeDocument/2006/relationships/slide" Target="/ppt/slides/slide2.xml" Id="Rcb3b34f9624d43ce" /><Relationship Type="http://schemas.openxmlformats.org/officeDocument/2006/relationships/slide" Target="/ppt/slides/slide3.xml" Id="R70330f0804034cf8" /><Relationship Type="http://schemas.openxmlformats.org/officeDocument/2006/relationships/slide" Target="/ppt/slides/slide4.xml" Id="R4d574cc1c0c04fcb" /><Relationship Type="http://schemas.openxmlformats.org/officeDocument/2006/relationships/slide" Target="/ppt/slides/slide5.xml" Id="R7b29c29bdc754189" /><Relationship Type="http://schemas.openxmlformats.org/officeDocument/2006/relationships/slide" Target="/ppt/slides/slide6.xml" Id="R747e7e2a97204fb3" /><Relationship Type="http://schemas.openxmlformats.org/officeDocument/2006/relationships/slide" Target="/ppt/slides/slide7.xml" Id="R72c852992a504b6b" /><Relationship Type="http://schemas.openxmlformats.org/officeDocument/2006/relationships/slide" Target="/ppt/slides/slide8.xml" Id="Rb9315853c16345f0" /><Relationship Type="http://schemas.openxmlformats.org/officeDocument/2006/relationships/slide" Target="/ppt/slides/slide9.xml" Id="R8dfac509de4a4cd0" /><Relationship Type="http://schemas.openxmlformats.org/officeDocument/2006/relationships/slide" Target="/ppt/slides/slide10.xml" Id="R4a8cd808f1bf4e15" /><Relationship Type="http://schemas.openxmlformats.org/officeDocument/2006/relationships/slide" Target="/ppt/slides/slide11.xml" Id="R62bf0eef90774f08" /><Relationship Type="http://schemas.openxmlformats.org/officeDocument/2006/relationships/slide" Target="/ppt/slides/slide12.xml" Id="R1e9a3ca42c9e4a42" /><Relationship Type="http://schemas.openxmlformats.org/officeDocument/2006/relationships/slide" Target="/ppt/slides/slide13.xml" Id="R457fdfeca8ed4499" /><Relationship Type="http://schemas.openxmlformats.org/officeDocument/2006/relationships/slide" Target="/ppt/slides/slide14.xml" Id="R9f3e8e37fb4e4c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e5849539db42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7aaa73c9424613" /><Relationship Type="http://schemas.openxmlformats.org/officeDocument/2006/relationships/notesMaster" Target="/ppt/notesMasters/notesMaster1.xml" Id="R99c0f8927aad41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57129adbdb4cf9" /><Relationship Type="http://schemas.openxmlformats.org/officeDocument/2006/relationships/notesMaster" Target="/ppt/notesMasters/notesMaster1.xml" Id="Rf2d6a5fedc9a44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00cdac0d254153" /><Relationship Type="http://schemas.openxmlformats.org/officeDocument/2006/relationships/notesMaster" Target="/ppt/notesMasters/notesMaster1.xml" Id="Ra44fc23818b947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f89a4cbdda4fa9" /><Relationship Type="http://schemas.openxmlformats.org/officeDocument/2006/relationships/notesMaster" Target="/ppt/notesMasters/notesMaster1.xml" Id="R8a6cbaf6811b4c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a1bf1dd0e2422e" /><Relationship Type="http://schemas.openxmlformats.org/officeDocument/2006/relationships/notesMaster" Target="/ppt/notesMasters/notesMaster1.xml" Id="R9e80a0eb435d44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9070aabd2b40e7" /><Relationship Type="http://schemas.openxmlformats.org/officeDocument/2006/relationships/notesMaster" Target="/ppt/notesMasters/notesMaster1.xml" Id="R111de0f3aedc40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43e781a7c44cf6" /><Relationship Type="http://schemas.openxmlformats.org/officeDocument/2006/relationships/notesMaster" Target="/ppt/notesMasters/notesMaster1.xml" Id="R909d5575492e4b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8eb13a918545a6" /><Relationship Type="http://schemas.openxmlformats.org/officeDocument/2006/relationships/notesMaster" Target="/ppt/notesMasters/notesMaster1.xml" Id="R056932e6be0d45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335dfe3cda4d29" /><Relationship Type="http://schemas.openxmlformats.org/officeDocument/2006/relationships/notesMaster" Target="/ppt/notesMasters/notesMaster1.xml" Id="Rfb0310948b73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7780ad45dd438c" /><Relationship Type="http://schemas.openxmlformats.org/officeDocument/2006/relationships/notesMaster" Target="/ppt/notesMasters/notesMaster1.xml" Id="R55847bcfbf0a4e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f64e9c4b284e28" /><Relationship Type="http://schemas.openxmlformats.org/officeDocument/2006/relationships/notesMaster" Target="/ppt/notesMasters/notesMaster1.xml" Id="R53db434b09234b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ac0dfe0bec43b7" /><Relationship Type="http://schemas.openxmlformats.org/officeDocument/2006/relationships/notesMaster" Target="/ppt/notesMasters/notesMaster1.xml" Id="Rb07b3c1d036448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d44c3168ca4e5c" /><Relationship Type="http://schemas.openxmlformats.org/officeDocument/2006/relationships/notesMaster" Target="/ppt/notesMasters/notesMaster1.xml" Id="R3cee07b292ad43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c510968a1948e8" /><Relationship Type="http://schemas.openxmlformats.org/officeDocument/2006/relationships/notesMaster" Target="/ppt/notesMasters/notesMaster1.xml" Id="R314299c6bb2c4f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Welcome pupils to a calm evidence lab. Accept initial ideas without confirming all. State the objective: use evidence to identify mineral and organic material. Choose handling or paper route privately.</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Read each question and allow spoken, pointed or written replies. Do not treat a quiet response as no understanding. If rock/material knowledge is insecure, point to A and name a mineral grain.</a:t>
            </a:r>
          </a:p>
          <a:p xmlns:a="http://schemas.openxmlformats.org/drawingml/2006/main">
            <a:r>
              <a:t/>
            </a:r>
          </a:p>
          <a:p xmlns:a="http://schemas.openxmlformats.org/drawingml/2006/main">
            <a:r>
              <a:t>REVEAL / MODEL ANSWER</a:t>
            </a:r>
          </a:p>
          <a:p xmlns:a="http://schemas.openxmlformats.org/drawingml/2006/main">
            <a:r>
              <a:t>1 Yes: a plant. 2 For example, hardness or colour. 3 See small details more clearly.</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Point to both branches. Think aloud: this rock breaks down and changes through weathering; it supplies mineral material. A fallen leaf came from a living plant. Its remains contribute organic matter. We are tracing sources, not saying every soil has equal amounts. Our mixed classroom model is not mature soil.</a:t>
            </a:r>
          </a:p>
          <a:p xmlns:a="http://schemas.openxmlformats.org/drawingml/2006/main">
            <a:r>
              <a:t/>
            </a:r>
          </a:p>
          <a:p xmlns:a="http://schemas.openxmlformats.org/drawingml/2006/main">
            <a:r>
              <a:t>DIAGRAM DESCRIPTION</a:t>
            </a:r>
          </a:p>
          <a:p xmlns:a="http://schemas.openxmlformats.org/drawingml/2006/main">
            <a:r>
              <a:t>Rock weathering supplies mineral particles; living things supply organic material. These processes occur over time. Mixing this model does not instantly make mature soil.</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Use the model, not a copied photo. Trace one mineral grain then a dead plant fragment. Point to one air pore and one water pore. State that real particles and pores differ greatly; this drawing does not give actual percentages or true sizes.</a:t>
            </a:r>
          </a:p>
          <a:p xmlns:a="http://schemas.openxmlformats.org/drawingml/2006/main">
            <a:r>
              <a:t/>
            </a:r>
          </a:p>
          <a:p xmlns:a="http://schemas.openxmlformats.org/drawingml/2006/main">
            <a:r>
              <a:t>DIAGRAM DESCRIPTION</a:t>
            </a:r>
          </a:p>
          <a:p xmlns:a="http://schemas.openxmlformats.org/drawingml/2006/main">
            <a:r>
              <a:t>Magnified model of soil: mineral grains, dead plant material, air spaces and water. The model does not show true sizes or fixed amounts.</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Optional adult demonstration only; otherwise use this before/after model. Think aloud: I see bubbles, so there is gas. In this ordinary soil test, escaping air is a sensible explanation. The diagram is a model; it is not a record of our own experiment.</a:t>
            </a:r>
          </a:p>
          <a:p xmlns:a="http://schemas.openxmlformats.org/drawingml/2006/main">
            <a:r>
              <a:t/>
            </a:r>
          </a:p>
          <a:p xmlns:a="http://schemas.openxmlformats.org/drawingml/2006/main">
            <a:r>
              <a:t>REVEAL / MODEL ANSWER</a:t>
            </a:r>
          </a:p>
          <a:p xmlns:a="http://schemas.openxmlformats.org/drawingml/2006/main">
            <a:r>
              <a:t>Air was in some spaces. Water entering pushed some of it out.</a:t>
            </a:r>
          </a:p>
          <a:p xmlns:a="http://schemas.openxmlformats.org/drawingml/2006/main">
            <a:r>
              <a:t/>
            </a:r>
          </a:p>
          <a:p xmlns:a="http://schemas.openxmlformats.org/drawingml/2006/main">
            <a:r>
              <a:t>DIAGRAM DESCRIPTION</a:t>
            </a:r>
          </a:p>
          <a:p xmlns:a="http://schemas.openxmlformats.org/drawingml/2006/main">
            <a:r>
              <a:t>Before water is added, spaces between soil particles contain air. As water enters, some air escapes as bubbles. The drawing is a model, not a photograph or a measured result.</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Pair roles: reader/observer and classifier, then swap. A: quartz identified as mineral, so mineral material. B/C: recognised plant remains, so organic. Invite a quiet pointing response plus adult-scribed reason. These are constructed examples, not observations made today.</a:t>
            </a:r>
          </a:p>
          <a:p xmlns:a="http://schemas.openxmlformats.org/drawingml/2006/main">
            <a:r>
              <a:t/>
            </a:r>
          </a:p>
          <a:p xmlns:a="http://schemas.openxmlformats.org/drawingml/2006/main">
            <a:r>
              <a:t>REVEAL / MODEL ANSWER</a:t>
            </a:r>
          </a:p>
          <a:p xmlns:a="http://schemas.openxmlformats.org/drawingml/2006/main">
            <a:r>
              <a:t>A: mineral. B and C: organic. Origin is stronger evidence than colour.</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Give each pair three positions on paper: accept, reject, need more. The wording “D must be organic” overclaims; reject the certainty or choose need more, provided reasoning says colour cannot decide. E supports escaping air; F supports water. Press for “supports” rather than “proves everything about the sample”.</a:t>
            </a:r>
          </a:p>
          <a:p xmlns:a="http://schemas.openxmlformats.org/drawingml/2006/main">
            <a:r>
              <a:t/>
            </a:r>
          </a:p>
          <a:p xmlns:a="http://schemas.openxmlformats.org/drawingml/2006/main">
            <a:r>
              <a:t>REVEAL / MODEL ANSWER</a:t>
            </a:r>
          </a:p>
          <a:p xmlns:a="http://schemas.openxmlformats.org/drawingml/2006/main">
            <a:r>
              <a:t>D: need more evidence. E and F: supported by the stated observations.</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Require an individual choice before discussion. If many choose A, rebuild the two-branch diagram. If C, contrast a dark mineral with the leaf-vein evidence. If secure, invite “can contain” rather than claiming every pore always contains both air and water.</a:t>
            </a:r>
          </a:p>
          <a:p xmlns:a="http://schemas.openxmlformats.org/drawingml/2006/main">
            <a:r>
              <a:t/>
            </a:r>
          </a:p>
          <a:p xmlns:a="http://schemas.openxmlformats.org/drawingml/2006/main">
            <a:r>
              <a:t>A. Soil is only ground-up rock.</a:t>
            </a:r>
          </a:p>
          <a:p xmlns:a="http://schemas.openxmlformats.org/drawingml/2006/main">
            <a:r>
              <a:t>Mineral material is part of soil, but this misses organic material and pores.</a:t>
            </a:r>
          </a:p>
          <a:p xmlns:a="http://schemas.openxmlformats.org/drawingml/2006/main">
            <a:r>
              <a:t/>
            </a:r>
          </a:p>
          <a:p xmlns:a="http://schemas.openxmlformats.org/drawingml/2006/main">
            <a:r>
              <a:t>B. Soil contains mineral and organic material; pores can contain air and water.</a:t>
            </a:r>
          </a:p>
          <a:p xmlns:a="http://schemas.openxmlformats.org/drawingml/2006/main">
            <a:r>
              <a:t>Correct. This includes the key solid components and the spaces between them.</a:t>
            </a:r>
          </a:p>
          <a:p xmlns:a="http://schemas.openxmlformats.org/drawingml/2006/main">
            <a:r>
              <a:t/>
            </a:r>
          </a:p>
          <a:p xmlns:a="http://schemas.openxmlformats.org/drawingml/2006/main">
            <a:r>
              <a:t>C. Every dark speck is a dead plant.</a:t>
            </a:r>
          </a:p>
          <a:p xmlns:a="http://schemas.openxmlformats.org/drawingml/2006/main">
            <a:r>
              <a:t>Colour alone cannot tell us the material or its origin.</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Give one route only, selected with the pupil. Supported uses A–C and the word bank; standard records all six cards; stretch assesses uncertain dark grains and improves a model. Pupils may observe screened soil too, but the evidence cards are sufficient.</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This slide shares the 12-minute You do stage. Hands-on: use a spoon or stick to move a small amount within a tray, observe with a lens, draw one mineral-looking grain and one identifiable plant fragment if present. Do not identify every tiny piece from appearance; record uncertain where appropriate. No sample is required for paper route.</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Independent work time includes optional observation, route tasks and a brief check. Provide a spoken rehearsal before writing. Check that each pupil links evidence to a component, not only recites a word. Stretch pupils add air/water and a model limitation.</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independent stage. Pupils use these checks to improve one response. Accept a private spoken improvement, a moved card, or a changed label as evidence of editing.</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Hear at least two different response routes without ranking them. Use one pupil suggestion to alter the drawn model and name the change. This gives the voice an actual influence. Ask one pupil to explain why the dark grain stayed uncertain.</a:t>
            </a:r>
          </a:p>
          <a:p xmlns:a="http://schemas.openxmlformats.org/drawingml/2006/main">
            <a:r>
              <a:t/>
            </a:r>
          </a:p>
          <a:p xmlns:a="http://schemas.openxmlformats.org/drawingml/2006/main">
            <a:r>
              <a:t>REVEAL / MODEL ANSWER</a:t>
            </a:r>
          </a:p>
          <a:p xmlns:a="http://schemas.openxmlformats.org/drawingml/2006/main">
            <a:r>
              <a:t>Organic material; also show spaces for air and water.</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Collect exit page or three private spoken answers. Secure core: a mineral example and an organic example with sensible origins. If either is missing, start next lesson with A/B card matching. Air/water is extension to the core outcome, not a barrier to recording progress.</a:t>
            </a:r>
          </a:p>
          <a:p xmlns:a="http://schemas.openxmlformats.org/drawingml/2006/main">
            <a:r>
              <a:t/>
            </a:r>
          </a:p>
          <a:p xmlns:a="http://schemas.openxmlformats.org/drawingml/2006/main">
            <a:r>
              <a:t>REVEAL / MODEL ANSWER</a:t>
            </a:r>
          </a:p>
          <a:p xmlns:a="http://schemas.openxmlformats.org/drawingml/2006/main">
            <a:r>
              <a:t>A quartz grain; a leaf or stem fragment; air or water.</a:t>
            </a:r>
          </a:p>
          <a:p xmlns:a="http://schemas.openxmlformats.org/drawingml/2006/main">
            <a:r>
              <a:t/>
            </a:r>
          </a:p>
          <a:p xmlns:a="http://schemas.openxmlformats.org/drawingml/2006/main">
            <a:r>
              <a:t>LESSON REFERENCES</a:t>
            </a:r>
          </a:p>
          <a:p xmlns:a="http://schemas.openxmlformats.org/drawingml/2006/main">
            <a:r>
              <a:t>USDA NRCS: Urban Soil Primer, chapter 2</a:t>
            </a:r>
          </a:p>
          <a:p xmlns:a="http://schemas.openxmlformats.org/drawingml/2006/main">
            <a:r>
              <a:t>https://www.nrcs.usda.gov/sites/default/files/2023-01/Urban-Soil-Primer-Homeowners-and-Renters.pdf</a:t>
            </a:r>
          </a:p>
          <a:p xmlns:a="http://schemas.openxmlformats.org/drawingml/2006/main">
            <a:r>
              <a:t>Checked 8 September 2026. Supports mineral material, organic matter, air and water as soil components and variation between soils. Teaching diagrams and evidence cards are original simplified models, not copied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1c5e4a87564f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06dd9c5d314c0d" /><Relationship Type="http://schemas.openxmlformats.org/officeDocument/2006/relationships/slideLayout" Target="/ppt/slideLayouts/slideLayout1.xml" Id="R64134f5f7b3240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134f5f7b3240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d031be4a55435d" /><Relationship Type="http://schemas.openxmlformats.org/officeDocument/2006/relationships/notesSlide" Target="/ppt/notesSlides/notesSlide1.xml" Id="R87ff5fe25b914e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5127eb77184c19" /><Relationship Type="http://schemas.openxmlformats.org/officeDocument/2006/relationships/notesSlide" Target="/ppt/notesSlides/notesSlide2.xml" Id="Rbcb339cdb53448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ab8b649cd248be" /><Relationship Type="http://schemas.openxmlformats.org/officeDocument/2006/relationships/notesSlide" Target="/ppt/notesSlides/notesSlide3.xml" Id="R4e3f2ffbea8947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20890c471c4d9c" /><Relationship Type="http://schemas.openxmlformats.org/officeDocument/2006/relationships/notesSlide" Target="/ppt/notesSlides/notesSlide4.xml" Id="R2d1f8899d61e4d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81f8a21c7b4ddd" /><Relationship Type="http://schemas.openxmlformats.org/officeDocument/2006/relationships/notesSlide" Target="/ppt/notesSlides/notesSlide5.xml" Id="R15676e0fa6a04d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8d42afa1b04fdc" /><Relationship Type="http://schemas.openxmlformats.org/officeDocument/2006/relationships/notesSlide" Target="/ppt/notesSlides/notesSlide6.xml" Id="R9e0e120737624e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915143215d4bc7" /><Relationship Type="http://schemas.openxmlformats.org/officeDocument/2006/relationships/notesSlide" Target="/ppt/notesSlides/notesSlide7.xml" Id="R1e61cfa18c3f49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f5917428aa4bd7" /><Relationship Type="http://schemas.openxmlformats.org/officeDocument/2006/relationships/notesSlide" Target="/ppt/notesSlides/notesSlide8.xml" Id="Rb2aab4e8773047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aebdebe5c04744" /><Relationship Type="http://schemas.openxmlformats.org/officeDocument/2006/relationships/notesSlide" Target="/ppt/notesSlides/notesSlide9.xml" Id="R7e4ab360ebb648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306e8f3abf4835" /><Relationship Type="http://schemas.openxmlformats.org/officeDocument/2006/relationships/notesSlide" Target="/ppt/notesSlides/notesSlide10.xml" Id="Rf1350179312c49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0afc3d4e7d422f" /><Relationship Type="http://schemas.openxmlformats.org/officeDocument/2006/relationships/notesSlide" Target="/ppt/notesSlides/notesSlide11.xml" Id="R23aa8fd78eed4b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d519809d764600" /><Relationship Type="http://schemas.openxmlformats.org/officeDocument/2006/relationships/notesSlide" Target="/ppt/notesSlides/notesSlide12.xml" Id="R74ef62fc2f3045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5282fe3a0149f4" /><Relationship Type="http://schemas.openxmlformats.org/officeDocument/2006/relationships/notesSlide" Target="/ppt/notesSlides/notesSlide13.xml" Id="R2822240525ec4c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c143cf488f24c38" /><Relationship Type="http://schemas.openxmlformats.org/officeDocument/2006/relationships/notesSlide" Target="/ppt/notesSlides/notesSlide14.xml" Id="Re7e542399fa84a4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urface">
            <a:extLst xmlns:a="http://schemas.openxmlformats.org/drawingml/2006/main">
              <a:ext uri="{FF2B5EF4-FFF2-40B4-BE49-F238E27FC236}">
                <a16:creationId xmlns:a16="http://schemas.microsoft.com/office/drawing/2014/main" id="{9090027C-AFA0-4E52-82BA-B246E95076F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995C896-2041-4082-89FA-6207F33E875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783F342-1D61-49E5-A1C0-6229693EFCD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78C680E1-26E5-4960-B34C-42E3A562CC7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Opening">
            <a:extLst xmlns:a="http://schemas.openxmlformats.org/drawingml/2006/main">
              <a:ext uri="{FF2B5EF4-FFF2-40B4-BE49-F238E27FC236}">
                <a16:creationId xmlns:a16="http://schemas.microsoft.com/office/drawing/2014/main" id="{10E22CE5-C498-422B-A413-7C577C8C3E3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A25D2F2C-1EA9-4D06-8DCD-C9A8166B353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Soil: what is in the mix?">
            <a:extLst xmlns:a="http://schemas.openxmlformats.org/drawingml/2006/main">
              <a:ext uri="{FF2B5EF4-FFF2-40B4-BE49-F238E27FC236}">
                <a16:creationId xmlns:a16="http://schemas.microsoft.com/office/drawing/2014/main" id="{D89D4A79-6665-403D-A0D1-E95179C979C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Soil: what is in the mix?</a:t>
            </a:r>
          </a:p>
        </p:txBody>
      </p:sp>
      <p:sp>
        <p:nvSpPr>
          <p:cNvPr id="8" name="surface">
            <a:extLst xmlns:a="http://schemas.openxmlformats.org/drawingml/2006/main">
              <a:ext uri="{FF2B5EF4-FFF2-40B4-BE49-F238E27FC236}">
                <a16:creationId xmlns:a16="http://schemas.microsoft.com/office/drawing/2014/main" id="{3B1AFBC2-1A73-42DF-9193-D15CF3872CE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8CB9A434-9B02-446F-8D2A-1DCFA75EB22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1 / 14">
            <a:extLst xmlns:a="http://schemas.openxmlformats.org/drawingml/2006/main">
              <a:ext uri="{FF2B5EF4-FFF2-40B4-BE49-F238E27FC236}">
                <a16:creationId xmlns:a16="http://schemas.microsoft.com/office/drawing/2014/main" id="{FE31D98B-90EB-4E57-B579-07ADC9F552A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14</a:t>
            </a:r>
          </a:p>
        </p:txBody>
      </p:sp>
      <p:sp>
        <p:nvSpPr>
          <p:cNvPr id="11" name="surface">
            <a:extLst xmlns:a="http://schemas.openxmlformats.org/drawingml/2006/main">
              <a:ext uri="{FF2B5EF4-FFF2-40B4-BE49-F238E27FC236}">
                <a16:creationId xmlns:a16="http://schemas.microsoft.com/office/drawing/2014/main" id="{96A695D9-6AA2-418B-BEBE-CE877E600ED6}"/>
              </a:ext>
            </a:extLst>
          </p:cNvPr>
          <p:cNvSpPr>
            <a:spLocks xmlns:a="http://schemas.openxmlformats.org/drawingml/2006/main" noGrp="1"/>
          </p:cNvSpPr>
          <p:nvPr/>
        </p:nvSpPr>
        <p:spPr>
          <a:xfrm xmlns:a="http://schemas.openxmlformats.org/drawingml/2006/main">
            <a:off x="533400" y="1885950"/>
            <a:ext cx="11125200" cy="9334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D35D7B87-6974-4887-989D-F6270E446B86}"/>
              </a:ext>
            </a:extLst>
          </p:cNvPr>
          <p:cNvSpPr>
            <a:spLocks xmlns:a="http://schemas.openxmlformats.org/drawingml/2006/main" noGrp="1"/>
          </p:cNvSpPr>
          <p:nvPr/>
        </p:nvSpPr>
        <p:spPr>
          <a:xfrm xmlns:a="http://schemas.openxmlformats.org/drawingml/2006/main">
            <a:off x="533400" y="1885950"/>
            <a:ext cx="66675" cy="9334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55FC4A20-AFA8-496C-81BF-52D92197DA63}"/>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4E7A9B"/>
                </a:solidFill>
                <a:latin typeface="Nimbus Sans"/>
                <a:ea typeface="Nimbus Sans"/>
                <a:cs typeface="Nimbus Sans"/>
              </a:defRPr>
            </a:pPr>
            <a:r>
              <a:rPr sz="1650" b="1">
                <a:solidFill>
                  <a:srgbClr val="4E7A9B"/>
                </a:solidFill>
                <a:latin typeface="Nimbus Sans"/>
                <a:ea typeface="Nimbus Sans"/>
                <a:cs typeface="Nimbus Sans"/>
              </a:rPr>
              <a:t>Learning intention</a:t>
            </a:r>
          </a:p>
        </p:txBody>
      </p:sp>
      <p:sp>
        <p:nvSpPr>
          <p:cNvPr id="14" name="Use evidence to show that soil contains rock material and organi">
            <a:extLst xmlns:a="http://schemas.openxmlformats.org/drawingml/2006/main">
              <a:ext uri="{FF2B5EF4-FFF2-40B4-BE49-F238E27FC236}">
                <a16:creationId xmlns:a16="http://schemas.microsoft.com/office/drawing/2014/main" id="{5C2042F0-F594-4051-AFDD-CFF112D32EA1}"/>
              </a:ext>
            </a:extLst>
          </p:cNvPr>
          <p:cNvSpPr>
            <a:spLocks xmlns:a="http://schemas.openxmlformats.org/drawingml/2006/main" noGrp="1"/>
          </p:cNvSpPr>
          <p:nvPr/>
        </p:nvSpPr>
        <p:spPr>
          <a:xfrm xmlns:a="http://schemas.openxmlformats.org/drawingml/2006/main">
            <a:off x="762000" y="23622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Use evidence to show that soil contains rock material and organic matter.</a:t>
            </a:r>
          </a:p>
        </p:txBody>
      </p:sp>
      <p:sp>
        <p:nvSpPr>
          <p:cNvPr id="15" name="You are the evidence team.">
            <a:extLst xmlns:a="http://schemas.openxmlformats.org/drawingml/2006/main">
              <a:ext uri="{FF2B5EF4-FFF2-40B4-BE49-F238E27FC236}">
                <a16:creationId xmlns:a16="http://schemas.microsoft.com/office/drawing/2014/main" id="{6BC3F3D6-55B0-4BB6-B370-B805FC74666D}"/>
              </a:ext>
            </a:extLst>
          </p:cNvPr>
          <p:cNvSpPr>
            <a:spLocks xmlns:a="http://schemas.openxmlformats.org/drawingml/2006/main" noGrp="1"/>
          </p:cNvSpPr>
          <p:nvPr/>
        </p:nvSpPr>
        <p:spPr>
          <a:xfrm xmlns:a="http://schemas.openxmlformats.org/drawingml/2006/main">
            <a:off x="762000" y="304800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You are the evidence team.</a:t>
            </a:r>
          </a:p>
        </p:txBody>
      </p:sp>
      <p:sp>
        <p:nvSpPr>
          <p:cNvPr id="16" name="What is hiding in a handful of soil?">
            <a:extLst xmlns:a="http://schemas.openxmlformats.org/drawingml/2006/main">
              <a:ext uri="{FF2B5EF4-FFF2-40B4-BE49-F238E27FC236}">
                <a16:creationId xmlns:a16="http://schemas.microsoft.com/office/drawing/2014/main" id="{CA0A544A-8064-416B-8ACC-055856045C2D}"/>
              </a:ext>
            </a:extLst>
          </p:cNvPr>
          <p:cNvSpPr>
            <a:spLocks xmlns:a="http://schemas.openxmlformats.org/drawingml/2006/main" noGrp="1"/>
          </p:cNvSpPr>
          <p:nvPr/>
        </p:nvSpPr>
        <p:spPr>
          <a:xfrm xmlns:a="http://schemas.openxmlformats.org/drawingml/2006/main">
            <a:off x="762000" y="3622358"/>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What is hiding in a handful of soil?</a:t>
            </a:r>
          </a:p>
        </p:txBody>
      </p:sp>
      <p:sp>
        <p:nvSpPr>
          <p:cNvPr id="17" name="surface">
            <a:extLst xmlns:a="http://schemas.openxmlformats.org/drawingml/2006/main">
              <a:ext uri="{FF2B5EF4-FFF2-40B4-BE49-F238E27FC236}">
                <a16:creationId xmlns:a16="http://schemas.microsoft.com/office/drawing/2014/main" id="{B04BE79A-7F0E-4DCC-B02B-084280147EBB}"/>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8" name="surface">
            <a:extLst xmlns:a="http://schemas.openxmlformats.org/drawingml/2006/main">
              <a:ext uri="{FF2B5EF4-FFF2-40B4-BE49-F238E27FC236}">
                <a16:creationId xmlns:a16="http://schemas.microsoft.com/office/drawing/2014/main" id="{D4B58EE6-8B7E-474B-A0A9-7761F8539305}"/>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9" name="What could we find?">
            <a:extLst xmlns:a="http://schemas.openxmlformats.org/drawingml/2006/main">
              <a:ext uri="{FF2B5EF4-FFF2-40B4-BE49-F238E27FC236}">
                <a16:creationId xmlns:a16="http://schemas.microsoft.com/office/drawing/2014/main" id="{A367B43D-3B5F-4A8C-9F89-2BB21D9B287C}"/>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What could we find?</a:t>
            </a:r>
          </a:p>
        </p:txBody>
      </p:sp>
    </p:spTree>
    <p:extLst>
      <p:ext uri="{BB962C8B-B14F-4D97-AF65-F5344CB8AC3E}">
        <p14:creationId xmlns:p14="http://schemas.microsoft.com/office/powerpoint/2010/main" val="1306873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B77ADAA3-2AFB-4B03-815B-003CA863D48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7E59748-CF9C-45AF-B741-63F77493232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4769034-9F2A-4586-BD84-7C47082DF83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FFC9E6A-6A0B-4E04-A56A-F3CAC1E42ED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trieval">
            <a:extLst xmlns:a="http://schemas.openxmlformats.org/drawingml/2006/main">
              <a:ext uri="{FF2B5EF4-FFF2-40B4-BE49-F238E27FC236}">
                <a16:creationId xmlns:a16="http://schemas.microsoft.com/office/drawing/2014/main" id="{7FE3C6F1-AF5F-4789-86DC-AF63D0EE964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A6BEF9F2-649F-4115-AB42-BA4A5702B67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Start with what we know">
            <a:extLst xmlns:a="http://schemas.openxmlformats.org/drawingml/2006/main">
              <a:ext uri="{FF2B5EF4-FFF2-40B4-BE49-F238E27FC236}">
                <a16:creationId xmlns:a16="http://schemas.microsoft.com/office/drawing/2014/main" id="{DA0C4933-4351-4845-9D2B-FB224A78999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Start with what we know</a:t>
            </a:r>
          </a:p>
        </p:txBody>
      </p:sp>
      <p:sp>
        <p:nvSpPr>
          <p:cNvPr id="8" name="surface">
            <a:extLst xmlns:a="http://schemas.openxmlformats.org/drawingml/2006/main">
              <a:ext uri="{FF2B5EF4-FFF2-40B4-BE49-F238E27FC236}">
                <a16:creationId xmlns:a16="http://schemas.microsoft.com/office/drawing/2014/main" id="{D1B079BC-E2DD-40D7-B9B3-BF772F74290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67BCDF29-E977-41DF-8DA8-6F63C3878BA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2 / 14">
            <a:extLst xmlns:a="http://schemas.openxmlformats.org/drawingml/2006/main">
              <a:ext uri="{FF2B5EF4-FFF2-40B4-BE49-F238E27FC236}">
                <a16:creationId xmlns:a16="http://schemas.microsoft.com/office/drawing/2014/main" id="{20402C55-4934-4306-AE04-B82D94A16F7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14</a:t>
            </a:r>
          </a:p>
        </p:txBody>
      </p:sp>
      <p:sp>
        <p:nvSpPr>
          <p:cNvPr id="11" name="1. Did a fallen leaf come from a living thing?">
            <a:extLst xmlns:a="http://schemas.openxmlformats.org/drawingml/2006/main">
              <a:ext uri="{FF2B5EF4-FFF2-40B4-BE49-F238E27FC236}">
                <a16:creationId xmlns:a16="http://schemas.microsoft.com/office/drawing/2014/main" id="{37A04326-56FB-4397-B9C7-3B0F21936A22}"/>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1. Did a fallen leaf come from a living thing?</a:t>
            </a:r>
          </a:p>
        </p:txBody>
      </p:sp>
      <p:sp>
        <p:nvSpPr>
          <p:cNvPr id="12" name="2. Name one property of a rock.">
            <a:extLst xmlns:a="http://schemas.openxmlformats.org/drawingml/2006/main">
              <a:ext uri="{FF2B5EF4-FFF2-40B4-BE49-F238E27FC236}">
                <a16:creationId xmlns:a16="http://schemas.microsoft.com/office/drawing/2014/main" id="{85AE6075-478A-487B-9076-5DEA7C032064}"/>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2. Name one property of a rock.</a:t>
            </a:r>
          </a:p>
        </p:txBody>
      </p:sp>
      <p:sp>
        <p:nvSpPr>
          <p:cNvPr id="13" name="3. What can a hand lens help us do?">
            <a:extLst xmlns:a="http://schemas.openxmlformats.org/drawingml/2006/main">
              <a:ext uri="{FF2B5EF4-FFF2-40B4-BE49-F238E27FC236}">
                <a16:creationId xmlns:a16="http://schemas.microsoft.com/office/drawing/2014/main" id="{8993149A-E374-4664-A685-D3E013E75929}"/>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3. What can a hand lens help us do?</a:t>
            </a:r>
          </a:p>
        </p:txBody>
      </p:sp>
    </p:spTree>
    <p:extLst>
      <p:ext uri="{BB962C8B-B14F-4D97-AF65-F5344CB8AC3E}">
        <p14:creationId xmlns:p14="http://schemas.microsoft.com/office/powerpoint/2010/main" val="590749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urface">
            <a:extLst xmlns:a="http://schemas.openxmlformats.org/drawingml/2006/main">
              <a:ext uri="{FF2B5EF4-FFF2-40B4-BE49-F238E27FC236}">
                <a16:creationId xmlns:a16="http://schemas.microsoft.com/office/drawing/2014/main" id="{8C066657-96C1-473C-9DB2-B3B66716774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ECFAED6-D0A1-48A7-99A6-B71AE45363E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18DE641-3B55-4403-8B44-4D48FF9B4F0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B8CFA1C-105D-4DFA-9645-B2E54CF6306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5C2B5921-B071-43FF-9EEB-6DB4510AFF8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4982BFE8-6A76-4B1B-8AF5-04E0693EEAB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Two sources, one mixture">
            <a:extLst xmlns:a="http://schemas.openxmlformats.org/drawingml/2006/main">
              <a:ext uri="{FF2B5EF4-FFF2-40B4-BE49-F238E27FC236}">
                <a16:creationId xmlns:a16="http://schemas.microsoft.com/office/drawing/2014/main" id="{BDED5455-C3D5-4F68-8FA5-0E83E813F36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Two sources, one mixture</a:t>
            </a:r>
          </a:p>
        </p:txBody>
      </p:sp>
      <p:sp>
        <p:nvSpPr>
          <p:cNvPr id="8" name="surface">
            <a:extLst xmlns:a="http://schemas.openxmlformats.org/drawingml/2006/main">
              <a:ext uri="{FF2B5EF4-FFF2-40B4-BE49-F238E27FC236}">
                <a16:creationId xmlns:a16="http://schemas.microsoft.com/office/drawing/2014/main" id="{A905C35F-82E2-45E5-8FD4-06C19D22536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961640D7-58ED-4BBD-8D7F-1E40D5A1191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3 / 14">
            <a:extLst xmlns:a="http://schemas.openxmlformats.org/drawingml/2006/main">
              <a:ext uri="{FF2B5EF4-FFF2-40B4-BE49-F238E27FC236}">
                <a16:creationId xmlns:a16="http://schemas.microsoft.com/office/drawing/2014/main" id="{53E423BF-4599-4B35-9E02-D0E2FBA969C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14</a:t>
            </a:r>
          </a:p>
        </p:txBody>
      </p:sp>
      <p:sp>
        <p:nvSpPr>
          <p:cNvPr id="11" name="Editable scientific diagram">
            <a:extLst xmlns:a="http://schemas.openxmlformats.org/drawingml/2006/main">
              <a:ext uri="{FF2B5EF4-FFF2-40B4-BE49-F238E27FC236}">
                <a16:creationId xmlns:a16="http://schemas.microsoft.com/office/drawing/2014/main" id="{54BD20E2-B88B-4EA8-9C5B-55D06E19C62B}"/>
              </a:ext>
            </a:extLst>
          </p:cNvPr>
          <p:cNvSpPr>
            <a:spLocks xmlns:a="http://schemas.openxmlformats.org/drawingml/2006/main" noGrp="1"/>
          </p:cNvSpPr>
          <p:nvPr/>
        </p:nvSpPr>
        <p:spPr>
          <a:xfrm xmlns:a="http://schemas.openxmlformats.org/drawingml/2006/main">
            <a:off x="2735886" y="2333200"/>
            <a:ext cx="2613422" cy="821361"/>
          </a:xfrm>
          <a:prstGeom xmlns:a="http://schemas.openxmlformats.org/drawingml/2006/main" prst="rect">
            <a:avLst/>
          </a:prstGeom>
          <a:solidFill xmlns:a="http://schemas.openxmlformats.org/drawingml/2006/main">
            <a:srgbClr val="ECE5DD"/>
          </a:solidFill>
          <a:ln xmlns:a="http://schemas.openxmlformats.org/drawingml/2006/main" w="14934">
            <a:solidFill>
              <a:srgbClr val="1F2937"/>
            </a:solidFill>
          </a:ln>
        </p:spPr>
      </p:sp>
      <p:sp>
        <p:nvSpPr>
          <p:cNvPr id="12" name="Diagram label: Rock material">
            <a:extLst xmlns:a="http://schemas.openxmlformats.org/drawingml/2006/main">
              <a:ext uri="{FF2B5EF4-FFF2-40B4-BE49-F238E27FC236}">
                <a16:creationId xmlns:a16="http://schemas.microsoft.com/office/drawing/2014/main" id="{DE5759CB-438B-4BAF-BBEF-4F4AAE0605E8}"/>
              </a:ext>
            </a:extLst>
          </p:cNvPr>
          <p:cNvSpPr>
            <a:spLocks xmlns:a="http://schemas.openxmlformats.org/drawingml/2006/main" noGrp="1"/>
          </p:cNvSpPr>
          <p:nvPr/>
        </p:nvSpPr>
        <p:spPr>
          <a:xfrm xmlns:a="http://schemas.openxmlformats.org/drawingml/2006/main">
            <a:off x="2922559" y="2557207"/>
            <a:ext cx="2240076"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81" b="1">
                <a:solidFill>
                  <a:srgbClr val="1F2937"/>
                </a:solidFill>
                <a:latin typeface="Nimbus Sans"/>
                <a:ea typeface="Nimbus Sans"/>
                <a:cs typeface="Nimbus Sans"/>
              </a:defRPr>
            </a:pPr>
            <a:r>
              <a:rPr sz="1881" b="1">
                <a:solidFill>
                  <a:srgbClr val="1F2937"/>
                </a:solidFill>
                <a:latin typeface="Nimbus Sans"/>
                <a:ea typeface="Nimbus Sans"/>
                <a:cs typeface="Nimbus Sans"/>
              </a:rPr>
              <a:t>Rock material</a:t>
            </a:r>
          </a:p>
        </p:txBody>
      </p:sp>
      <p:sp>
        <p:nvSpPr>
          <p:cNvPr id="13" name="Editable scientific diagram">
            <a:extLst xmlns:a="http://schemas.openxmlformats.org/drawingml/2006/main">
              <a:ext uri="{FF2B5EF4-FFF2-40B4-BE49-F238E27FC236}">
                <a16:creationId xmlns:a16="http://schemas.microsoft.com/office/drawing/2014/main" id="{734740BB-11C5-4B5A-BA46-EB8A6212C8F9}"/>
              </a:ext>
            </a:extLst>
          </p:cNvPr>
          <p:cNvSpPr>
            <a:spLocks xmlns:a="http://schemas.openxmlformats.org/drawingml/2006/main" noGrp="1"/>
          </p:cNvSpPr>
          <p:nvPr/>
        </p:nvSpPr>
        <p:spPr>
          <a:xfrm xmlns:a="http://schemas.openxmlformats.org/drawingml/2006/main">
            <a:off x="6842692" y="2333200"/>
            <a:ext cx="2613422" cy="821361"/>
          </a:xfrm>
          <a:prstGeom xmlns:a="http://schemas.openxmlformats.org/drawingml/2006/main" prst="rect">
            <a:avLst/>
          </a:prstGeom>
          <a:solidFill xmlns:a="http://schemas.openxmlformats.org/drawingml/2006/main">
            <a:srgbClr val="E8EEDC"/>
          </a:solidFill>
          <a:ln xmlns:a="http://schemas.openxmlformats.org/drawingml/2006/main" w="14934">
            <a:solidFill>
              <a:srgbClr val="1F2937"/>
            </a:solidFill>
          </a:ln>
        </p:spPr>
      </p:sp>
      <p:sp>
        <p:nvSpPr>
          <p:cNvPr id="14" name="Diagram label: Living things">
            <a:extLst xmlns:a="http://schemas.openxmlformats.org/drawingml/2006/main">
              <a:ext uri="{FF2B5EF4-FFF2-40B4-BE49-F238E27FC236}">
                <a16:creationId xmlns:a16="http://schemas.microsoft.com/office/drawing/2014/main" id="{6187C625-4653-4064-8795-6DA1D9B8B7A3}"/>
              </a:ext>
            </a:extLst>
          </p:cNvPr>
          <p:cNvSpPr>
            <a:spLocks xmlns:a="http://schemas.openxmlformats.org/drawingml/2006/main" noGrp="1"/>
          </p:cNvSpPr>
          <p:nvPr/>
        </p:nvSpPr>
        <p:spPr>
          <a:xfrm xmlns:a="http://schemas.openxmlformats.org/drawingml/2006/main">
            <a:off x="6992030" y="2557207"/>
            <a:ext cx="2314745"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81" b="1">
                <a:solidFill>
                  <a:srgbClr val="1F2937"/>
                </a:solidFill>
                <a:latin typeface="Nimbus Sans"/>
                <a:ea typeface="Nimbus Sans"/>
                <a:cs typeface="Nimbus Sans"/>
              </a:defRPr>
            </a:pPr>
            <a:r>
              <a:rPr sz="1881" b="1">
                <a:solidFill>
                  <a:srgbClr val="1F2937"/>
                </a:solidFill>
                <a:latin typeface="Nimbus Sans"/>
                <a:ea typeface="Nimbus Sans"/>
                <a:cs typeface="Nimbus Sans"/>
              </a:rPr>
              <a:t>Living things</a:t>
            </a:r>
          </a:p>
        </p:txBody>
      </p:sp>
      <p:sp>
        <p:nvSpPr>
          <p:cNvPr id="15" name="Diagram line">
            <a:extLst xmlns:a="http://schemas.openxmlformats.org/drawingml/2006/main">
              <a:ext uri="{FF2B5EF4-FFF2-40B4-BE49-F238E27FC236}">
                <a16:creationId xmlns:a16="http://schemas.microsoft.com/office/drawing/2014/main" id="{EEED1B04-3C02-4ABE-81C3-75B32223DBB0}"/>
              </a:ext>
            </a:extLst>
          </p:cNvPr>
          <p:cNvSpPr>
            <a:spLocks xmlns:a="http://schemas.openxmlformats.org/drawingml/2006/main" noGrp="1"/>
          </p:cNvSpPr>
          <p:nvPr/>
        </p:nvSpPr>
        <p:spPr>
          <a:xfrm xmlns:a="http://schemas.openxmlformats.org/drawingml/2006/main" flipH="0" flipV="0">
            <a:off x="4005263" y="3206829"/>
            <a:ext cx="953" cy="526418"/>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6" name="Diagram arrowhead">
            <a:extLst xmlns:a="http://schemas.openxmlformats.org/drawingml/2006/main">
              <a:ext uri="{FF2B5EF4-FFF2-40B4-BE49-F238E27FC236}">
                <a16:creationId xmlns:a16="http://schemas.microsoft.com/office/drawing/2014/main" id="{B471EDA0-99CA-4585-AE74-5F0D22824809}"/>
              </a:ext>
            </a:extLst>
          </p:cNvPr>
          <p:cNvSpPr>
            <a:spLocks xmlns:a="http://schemas.openxmlformats.org/drawingml/2006/main" noGrp="1"/>
          </p:cNvSpPr>
          <p:nvPr/>
        </p:nvSpPr>
        <p:spPr>
          <a:xfrm xmlns:a="http://schemas.openxmlformats.org/drawingml/2006/main" rot="10800000">
            <a:off x="3952994" y="3707113"/>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7" name="Diagram line">
            <a:extLst xmlns:a="http://schemas.openxmlformats.org/drawingml/2006/main">
              <a:ext uri="{FF2B5EF4-FFF2-40B4-BE49-F238E27FC236}">
                <a16:creationId xmlns:a16="http://schemas.microsoft.com/office/drawing/2014/main" id="{7939338D-D83F-42F6-AFD6-D6C9BF9FEBBF}"/>
              </a:ext>
            </a:extLst>
          </p:cNvPr>
          <p:cNvSpPr>
            <a:spLocks xmlns:a="http://schemas.openxmlformats.org/drawingml/2006/main" noGrp="1"/>
          </p:cNvSpPr>
          <p:nvPr/>
        </p:nvSpPr>
        <p:spPr>
          <a:xfrm xmlns:a="http://schemas.openxmlformats.org/drawingml/2006/main" flipH="0" flipV="0">
            <a:off x="8149403" y="3206829"/>
            <a:ext cx="953" cy="526418"/>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8" name="Diagram arrowhead">
            <a:extLst xmlns:a="http://schemas.openxmlformats.org/drawingml/2006/main">
              <a:ext uri="{FF2B5EF4-FFF2-40B4-BE49-F238E27FC236}">
                <a16:creationId xmlns:a16="http://schemas.microsoft.com/office/drawing/2014/main" id="{82F9C498-804C-4B43-B268-E92580462247}"/>
              </a:ext>
            </a:extLst>
          </p:cNvPr>
          <p:cNvSpPr>
            <a:spLocks xmlns:a="http://schemas.openxmlformats.org/drawingml/2006/main" noGrp="1"/>
          </p:cNvSpPr>
          <p:nvPr/>
        </p:nvSpPr>
        <p:spPr>
          <a:xfrm xmlns:a="http://schemas.openxmlformats.org/drawingml/2006/main" rot="10800000">
            <a:off x="8097134" y="3707113"/>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9" name="Diagram label: Weathering">
            <a:extLst xmlns:a="http://schemas.openxmlformats.org/drawingml/2006/main">
              <a:ext uri="{FF2B5EF4-FFF2-40B4-BE49-F238E27FC236}">
                <a16:creationId xmlns:a16="http://schemas.microsoft.com/office/drawing/2014/main" id="{3E90801A-C999-441F-84F1-8C072ECA14BC}"/>
              </a:ext>
            </a:extLst>
          </p:cNvPr>
          <p:cNvSpPr>
            <a:spLocks xmlns:a="http://schemas.openxmlformats.org/drawingml/2006/main" noGrp="1"/>
          </p:cNvSpPr>
          <p:nvPr/>
        </p:nvSpPr>
        <p:spPr>
          <a:xfrm xmlns:a="http://schemas.openxmlformats.org/drawingml/2006/main">
            <a:off x="2735886" y="3311366"/>
            <a:ext cx="1082703"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Weathering</a:t>
            </a:r>
          </a:p>
        </p:txBody>
      </p:sp>
      <p:sp>
        <p:nvSpPr>
          <p:cNvPr id="20" name="Diagram label: Remains&#10;break down">
            <a:extLst xmlns:a="http://schemas.openxmlformats.org/drawingml/2006/main">
              <a:ext uri="{FF2B5EF4-FFF2-40B4-BE49-F238E27FC236}">
                <a16:creationId xmlns:a16="http://schemas.microsoft.com/office/drawing/2014/main" id="{B61BA8AA-87AD-405B-9317-9E198BE7C12B}"/>
              </a:ext>
            </a:extLst>
          </p:cNvPr>
          <p:cNvSpPr>
            <a:spLocks xmlns:a="http://schemas.openxmlformats.org/drawingml/2006/main" noGrp="1"/>
          </p:cNvSpPr>
          <p:nvPr/>
        </p:nvSpPr>
        <p:spPr>
          <a:xfrm xmlns:a="http://schemas.openxmlformats.org/drawingml/2006/main">
            <a:off x="8298741" y="3311366"/>
            <a:ext cx="123204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Remains</a:t>
            </a:r>
          </a:p>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break down</a:t>
            </a:r>
          </a:p>
        </p:txBody>
      </p:sp>
      <p:sp>
        <p:nvSpPr>
          <p:cNvPr id="21" name="Editable scientific diagram">
            <a:extLst xmlns:a="http://schemas.openxmlformats.org/drawingml/2006/main">
              <a:ext uri="{FF2B5EF4-FFF2-40B4-BE49-F238E27FC236}">
                <a16:creationId xmlns:a16="http://schemas.microsoft.com/office/drawing/2014/main" id="{03A95A6A-F514-4DD7-AF47-6FB67D913808}"/>
              </a:ext>
            </a:extLst>
          </p:cNvPr>
          <p:cNvSpPr>
            <a:spLocks xmlns:a="http://schemas.openxmlformats.org/drawingml/2006/main" noGrp="1"/>
          </p:cNvSpPr>
          <p:nvPr/>
        </p:nvSpPr>
        <p:spPr>
          <a:xfrm xmlns:a="http://schemas.openxmlformats.org/drawingml/2006/main">
            <a:off x="2735886" y="3901253"/>
            <a:ext cx="2613422" cy="821361"/>
          </a:xfrm>
          <a:prstGeom xmlns:a="http://schemas.openxmlformats.org/drawingml/2006/main" prst="rect">
            <a:avLst/>
          </a:prstGeom>
          <a:solidFill xmlns:a="http://schemas.openxmlformats.org/drawingml/2006/main">
            <a:srgbClr val="EFE2CC"/>
          </a:solidFill>
          <a:ln xmlns:a="http://schemas.openxmlformats.org/drawingml/2006/main" w="14934">
            <a:solidFill>
              <a:srgbClr val="1F2937"/>
            </a:solidFill>
          </a:ln>
        </p:spPr>
      </p:sp>
      <p:sp>
        <p:nvSpPr>
          <p:cNvPr id="22" name="Diagram label: Mineral particles">
            <a:extLst xmlns:a="http://schemas.openxmlformats.org/drawingml/2006/main">
              <a:ext uri="{FF2B5EF4-FFF2-40B4-BE49-F238E27FC236}">
                <a16:creationId xmlns:a16="http://schemas.microsoft.com/office/drawing/2014/main" id="{CBD71563-CAC5-4B5B-8017-AF8AED994A99}"/>
              </a:ext>
            </a:extLst>
          </p:cNvPr>
          <p:cNvSpPr>
            <a:spLocks xmlns:a="http://schemas.openxmlformats.org/drawingml/2006/main" noGrp="1"/>
          </p:cNvSpPr>
          <p:nvPr/>
        </p:nvSpPr>
        <p:spPr>
          <a:xfrm xmlns:a="http://schemas.openxmlformats.org/drawingml/2006/main">
            <a:off x="2885225" y="4087926"/>
            <a:ext cx="2314745"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Mineral particles</a:t>
            </a:r>
          </a:p>
        </p:txBody>
      </p:sp>
      <p:sp>
        <p:nvSpPr>
          <p:cNvPr id="23" name="Editable scientific diagram">
            <a:extLst xmlns:a="http://schemas.openxmlformats.org/drawingml/2006/main">
              <a:ext uri="{FF2B5EF4-FFF2-40B4-BE49-F238E27FC236}">
                <a16:creationId xmlns:a16="http://schemas.microsoft.com/office/drawing/2014/main" id="{0EF227E1-D4AA-48C6-89C2-5A37C7FD15D8}"/>
              </a:ext>
            </a:extLst>
          </p:cNvPr>
          <p:cNvSpPr>
            <a:spLocks xmlns:a="http://schemas.openxmlformats.org/drawingml/2006/main" noGrp="1"/>
          </p:cNvSpPr>
          <p:nvPr/>
        </p:nvSpPr>
        <p:spPr>
          <a:xfrm xmlns:a="http://schemas.openxmlformats.org/drawingml/2006/main">
            <a:off x="6842692" y="3901253"/>
            <a:ext cx="2613422" cy="821361"/>
          </a:xfrm>
          <a:prstGeom xmlns:a="http://schemas.openxmlformats.org/drawingml/2006/main" prst="rect">
            <a:avLst/>
          </a:prstGeom>
          <a:solidFill xmlns:a="http://schemas.openxmlformats.org/drawingml/2006/main">
            <a:srgbClr val="E1E6D4"/>
          </a:solidFill>
          <a:ln xmlns:a="http://schemas.openxmlformats.org/drawingml/2006/main" w="14934">
            <a:solidFill>
              <a:srgbClr val="1F2937"/>
            </a:solidFill>
          </a:ln>
        </p:spPr>
      </p:sp>
      <p:sp>
        <p:nvSpPr>
          <p:cNvPr id="24" name="Diagram label: Organic matter">
            <a:extLst xmlns:a="http://schemas.openxmlformats.org/drawingml/2006/main">
              <a:ext uri="{FF2B5EF4-FFF2-40B4-BE49-F238E27FC236}">
                <a16:creationId xmlns:a16="http://schemas.microsoft.com/office/drawing/2014/main" id="{A33F51D8-DB39-47D9-9067-126FACD9CFC9}"/>
              </a:ext>
            </a:extLst>
          </p:cNvPr>
          <p:cNvSpPr>
            <a:spLocks xmlns:a="http://schemas.openxmlformats.org/drawingml/2006/main" noGrp="1"/>
          </p:cNvSpPr>
          <p:nvPr/>
        </p:nvSpPr>
        <p:spPr>
          <a:xfrm xmlns:a="http://schemas.openxmlformats.org/drawingml/2006/main">
            <a:off x="6992030" y="4087926"/>
            <a:ext cx="2314745"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Organic matter</a:t>
            </a:r>
          </a:p>
        </p:txBody>
      </p:sp>
      <p:sp>
        <p:nvSpPr>
          <p:cNvPr id="25" name="Diagram line">
            <a:extLst xmlns:a="http://schemas.openxmlformats.org/drawingml/2006/main">
              <a:ext uri="{FF2B5EF4-FFF2-40B4-BE49-F238E27FC236}">
                <a16:creationId xmlns:a16="http://schemas.microsoft.com/office/drawing/2014/main" id="{5A0A90F5-CBBC-4F67-844E-FE5D91C3174F}"/>
              </a:ext>
            </a:extLst>
          </p:cNvPr>
          <p:cNvSpPr>
            <a:spLocks xmlns:a="http://schemas.openxmlformats.org/drawingml/2006/main" noGrp="1"/>
          </p:cNvSpPr>
          <p:nvPr/>
        </p:nvSpPr>
        <p:spPr>
          <a:xfrm xmlns:a="http://schemas.openxmlformats.org/drawingml/2006/main" flipH="0" flipV="0">
            <a:off x="5349308" y="4386603"/>
            <a:ext cx="436647" cy="550847"/>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26" name="Diagram arrowhead">
            <a:extLst xmlns:a="http://schemas.openxmlformats.org/drawingml/2006/main">
              <a:ext uri="{FF2B5EF4-FFF2-40B4-BE49-F238E27FC236}">
                <a16:creationId xmlns:a16="http://schemas.microsoft.com/office/drawing/2014/main" id="{E6706060-CADE-4325-B1B1-67467E7EAA3A}"/>
              </a:ext>
            </a:extLst>
          </p:cNvPr>
          <p:cNvSpPr>
            <a:spLocks xmlns:a="http://schemas.openxmlformats.org/drawingml/2006/main" noGrp="1"/>
          </p:cNvSpPr>
          <p:nvPr/>
        </p:nvSpPr>
        <p:spPr>
          <a:xfrm xmlns:a="http://schemas.openxmlformats.org/drawingml/2006/main" rot="8495804">
            <a:off x="5749921" y="4905661"/>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7" name="Diagram line">
            <a:extLst xmlns:a="http://schemas.openxmlformats.org/drawingml/2006/main">
              <a:ext uri="{FF2B5EF4-FFF2-40B4-BE49-F238E27FC236}">
                <a16:creationId xmlns:a16="http://schemas.microsoft.com/office/drawing/2014/main" id="{EAC0B623-B5FE-456A-9685-547E5425684A}"/>
              </a:ext>
            </a:extLst>
          </p:cNvPr>
          <p:cNvSpPr>
            <a:spLocks xmlns:a="http://schemas.openxmlformats.org/drawingml/2006/main" noGrp="1"/>
          </p:cNvSpPr>
          <p:nvPr/>
        </p:nvSpPr>
        <p:spPr>
          <a:xfrm xmlns:a="http://schemas.openxmlformats.org/drawingml/2006/main" flipH="1" flipV="0">
            <a:off x="6406045" y="4386603"/>
            <a:ext cx="436647" cy="550847"/>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28" name="Diagram arrowhead">
            <a:extLst xmlns:a="http://schemas.openxmlformats.org/drawingml/2006/main">
              <a:ext uri="{FF2B5EF4-FFF2-40B4-BE49-F238E27FC236}">
                <a16:creationId xmlns:a16="http://schemas.microsoft.com/office/drawing/2014/main" id="{1143F492-5ED3-494E-8BEA-D18C0E498D7F}"/>
              </a:ext>
            </a:extLst>
          </p:cNvPr>
          <p:cNvSpPr>
            <a:spLocks xmlns:a="http://schemas.openxmlformats.org/drawingml/2006/main" noGrp="1"/>
          </p:cNvSpPr>
          <p:nvPr/>
        </p:nvSpPr>
        <p:spPr>
          <a:xfrm xmlns:a="http://schemas.openxmlformats.org/drawingml/2006/main" rot="13104196">
            <a:off x="6337543" y="4905661"/>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9" name="Editable scientific diagram">
            <a:extLst xmlns:a="http://schemas.openxmlformats.org/drawingml/2006/main">
              <a:ext uri="{FF2B5EF4-FFF2-40B4-BE49-F238E27FC236}">
                <a16:creationId xmlns:a16="http://schemas.microsoft.com/office/drawing/2014/main" id="{A7563A5A-EFDB-47F0-84DC-E1604AD87F7E}"/>
              </a:ext>
            </a:extLst>
          </p:cNvPr>
          <p:cNvSpPr>
            <a:spLocks xmlns:a="http://schemas.openxmlformats.org/drawingml/2006/main" noGrp="1"/>
          </p:cNvSpPr>
          <p:nvPr/>
        </p:nvSpPr>
        <p:spPr>
          <a:xfrm xmlns:a="http://schemas.openxmlformats.org/drawingml/2006/main">
            <a:off x="4602616" y="5081026"/>
            <a:ext cx="2986768" cy="597354"/>
          </a:xfrm>
          <a:prstGeom xmlns:a="http://schemas.openxmlformats.org/drawingml/2006/main" prst="rect">
            <a:avLst/>
          </a:prstGeom>
          <a:solidFill xmlns:a="http://schemas.openxmlformats.org/drawingml/2006/main">
            <a:srgbClr val="DEE9EE"/>
          </a:solidFill>
          <a:ln xmlns:a="http://schemas.openxmlformats.org/drawingml/2006/main" w="14934">
            <a:solidFill>
              <a:srgbClr val="1F2937"/>
            </a:solidFill>
          </a:ln>
        </p:spPr>
      </p:sp>
      <p:sp>
        <p:nvSpPr>
          <p:cNvPr id="30" name="Diagram label: Parts of a soil mixture">
            <a:extLst xmlns:a="http://schemas.openxmlformats.org/drawingml/2006/main">
              <a:ext uri="{FF2B5EF4-FFF2-40B4-BE49-F238E27FC236}">
                <a16:creationId xmlns:a16="http://schemas.microsoft.com/office/drawing/2014/main" id="{E5F563E3-FBE7-4990-A9F1-71FF51B2486E}"/>
              </a:ext>
            </a:extLst>
          </p:cNvPr>
          <p:cNvSpPr>
            <a:spLocks xmlns:a="http://schemas.openxmlformats.org/drawingml/2006/main" noGrp="1"/>
          </p:cNvSpPr>
          <p:nvPr/>
        </p:nvSpPr>
        <p:spPr>
          <a:xfrm xmlns:a="http://schemas.openxmlformats.org/drawingml/2006/main">
            <a:off x="4789289" y="5207964"/>
            <a:ext cx="2613422"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Parts of a soil mixture</a:t>
            </a:r>
          </a:p>
        </p:txBody>
      </p:sp>
      <p:sp>
        <p:nvSpPr>
          <p:cNvPr id="31" name="Rocks supply mineral material.  Living things supply organic mat">
            <a:extLst xmlns:a="http://schemas.openxmlformats.org/drawingml/2006/main">
              <a:ext uri="{FF2B5EF4-FFF2-40B4-BE49-F238E27FC236}">
                <a16:creationId xmlns:a16="http://schemas.microsoft.com/office/drawing/2014/main" id="{ADFE9F70-51AB-4B62-B773-CE50F87396C5}"/>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Rocks supply mineral material. Living things supply organic material. These processes take time.</a:t>
            </a:r>
          </a:p>
        </p:txBody>
      </p:sp>
    </p:spTree>
    <p:extLst>
      <p:ext uri="{BB962C8B-B14F-4D97-AF65-F5344CB8AC3E}">
        <p14:creationId xmlns:p14="http://schemas.microsoft.com/office/powerpoint/2010/main" val="17280581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surface">
            <a:extLst xmlns:a="http://schemas.openxmlformats.org/drawingml/2006/main">
              <a:ext uri="{FF2B5EF4-FFF2-40B4-BE49-F238E27FC236}">
                <a16:creationId xmlns:a16="http://schemas.microsoft.com/office/drawing/2014/main" id="{225F949E-657B-41A2-B46D-DEAA9C1BF19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3664DDB-4B0D-4EC5-879F-FB95D1142C5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5D19A1D-F42D-4BC8-BE09-382DD4BAA03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A197D617-0C03-458B-BC9F-1D598FB2284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57B59130-6B32-4F98-B2AF-B32082F73BF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2 min">
            <a:extLst xmlns:a="http://schemas.openxmlformats.org/drawingml/2006/main">
              <a:ext uri="{FF2B5EF4-FFF2-40B4-BE49-F238E27FC236}">
                <a16:creationId xmlns:a16="http://schemas.microsoft.com/office/drawing/2014/main" id="{A958A5F0-F965-470F-95C9-564BF8F5DCF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Zoom into soil">
            <a:extLst xmlns:a="http://schemas.openxmlformats.org/drawingml/2006/main">
              <a:ext uri="{FF2B5EF4-FFF2-40B4-BE49-F238E27FC236}">
                <a16:creationId xmlns:a16="http://schemas.microsoft.com/office/drawing/2014/main" id="{FD732440-3DF0-4807-876A-7FA0900BC07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Zoom into soil</a:t>
            </a:r>
          </a:p>
        </p:txBody>
      </p:sp>
      <p:sp>
        <p:nvSpPr>
          <p:cNvPr id="8" name="surface">
            <a:extLst xmlns:a="http://schemas.openxmlformats.org/drawingml/2006/main">
              <a:ext uri="{FF2B5EF4-FFF2-40B4-BE49-F238E27FC236}">
                <a16:creationId xmlns:a16="http://schemas.microsoft.com/office/drawing/2014/main" id="{4C643743-3076-4B65-B1B4-62729D263A0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18A0C69D-FCA5-4C00-B9D9-0971C302C36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4 / 14">
            <a:extLst xmlns:a="http://schemas.openxmlformats.org/drawingml/2006/main">
              <a:ext uri="{FF2B5EF4-FFF2-40B4-BE49-F238E27FC236}">
                <a16:creationId xmlns:a16="http://schemas.microsoft.com/office/drawing/2014/main" id="{3FEAE84B-8DF6-45D9-86F9-CE25024C1DA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14</a:t>
            </a:r>
          </a:p>
        </p:txBody>
      </p:sp>
      <p:sp>
        <p:nvSpPr>
          <p:cNvPr id="11" name="Editable scientific diagram">
            <a:extLst xmlns:a="http://schemas.openxmlformats.org/drawingml/2006/main">
              <a:ext uri="{FF2B5EF4-FFF2-40B4-BE49-F238E27FC236}">
                <a16:creationId xmlns:a16="http://schemas.microsoft.com/office/drawing/2014/main" id="{F1FDE511-5829-45A2-9928-7DAAE6FDEA14}"/>
              </a:ext>
            </a:extLst>
          </p:cNvPr>
          <p:cNvSpPr>
            <a:spLocks xmlns:a="http://schemas.openxmlformats.org/drawingml/2006/main" noGrp="1"/>
          </p:cNvSpPr>
          <p:nvPr/>
        </p:nvSpPr>
        <p:spPr>
          <a:xfrm xmlns:a="http://schemas.openxmlformats.org/drawingml/2006/main">
            <a:off x="2661217" y="2445204"/>
            <a:ext cx="4405483" cy="2912099"/>
          </a:xfrm>
          <a:prstGeom xmlns:a="http://schemas.openxmlformats.org/drawingml/2006/main" prst="rect">
            <a:avLst/>
          </a:prstGeom>
          <a:solidFill xmlns:a="http://schemas.openxmlformats.org/drawingml/2006/main">
            <a:srgbClr val="F3E9D8"/>
          </a:solidFill>
          <a:ln xmlns:a="http://schemas.openxmlformats.org/drawingml/2006/main" w="14934">
            <a:solidFill>
              <a:srgbClr val="1F2937"/>
            </a:solidFill>
          </a:ln>
        </p:spPr>
      </p:sp>
      <p:sp>
        <p:nvSpPr>
          <p:cNvPr id="12" name="Editable scientific diagram">
            <a:extLst xmlns:a="http://schemas.openxmlformats.org/drawingml/2006/main">
              <a:ext uri="{FF2B5EF4-FFF2-40B4-BE49-F238E27FC236}">
                <a16:creationId xmlns:a16="http://schemas.microsoft.com/office/drawing/2014/main" id="{DF8E2ED8-5D92-48F1-96C8-8E5B8D842C81}"/>
              </a:ext>
            </a:extLst>
          </p:cNvPr>
          <p:cNvSpPr>
            <a:spLocks xmlns:a="http://schemas.openxmlformats.org/drawingml/2006/main" noGrp="1"/>
          </p:cNvSpPr>
          <p:nvPr/>
        </p:nvSpPr>
        <p:spPr>
          <a:xfrm xmlns:a="http://schemas.openxmlformats.org/drawingml/2006/main">
            <a:off x="2959894" y="2706546"/>
            <a:ext cx="896030" cy="746692"/>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3" name="Editable scientific diagram">
            <a:extLst xmlns:a="http://schemas.openxmlformats.org/drawingml/2006/main">
              <a:ext uri="{FF2B5EF4-FFF2-40B4-BE49-F238E27FC236}">
                <a16:creationId xmlns:a16="http://schemas.microsoft.com/office/drawing/2014/main" id="{2EA000F1-7F86-44D5-B84A-CB14DFD20B04}"/>
              </a:ext>
            </a:extLst>
          </p:cNvPr>
          <p:cNvSpPr>
            <a:spLocks xmlns:a="http://schemas.openxmlformats.org/drawingml/2006/main" noGrp="1"/>
          </p:cNvSpPr>
          <p:nvPr/>
        </p:nvSpPr>
        <p:spPr>
          <a:xfrm xmlns:a="http://schemas.openxmlformats.org/drawingml/2006/main">
            <a:off x="4117266" y="2519873"/>
            <a:ext cx="1082703" cy="896030"/>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4" name="Editable scientific diagram">
            <a:extLst xmlns:a="http://schemas.openxmlformats.org/drawingml/2006/main">
              <a:ext uri="{FF2B5EF4-FFF2-40B4-BE49-F238E27FC236}">
                <a16:creationId xmlns:a16="http://schemas.microsoft.com/office/drawing/2014/main" id="{56B53F74-1735-46D2-AEBD-A5A0B17B5A37}"/>
              </a:ext>
            </a:extLst>
          </p:cNvPr>
          <p:cNvSpPr>
            <a:spLocks xmlns:a="http://schemas.openxmlformats.org/drawingml/2006/main" noGrp="1"/>
          </p:cNvSpPr>
          <p:nvPr/>
        </p:nvSpPr>
        <p:spPr>
          <a:xfrm xmlns:a="http://schemas.openxmlformats.org/drawingml/2006/main">
            <a:off x="5274639" y="2669211"/>
            <a:ext cx="933365" cy="821361"/>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5" name="Editable scientific diagram">
            <a:extLst xmlns:a="http://schemas.openxmlformats.org/drawingml/2006/main">
              <a:ext uri="{FF2B5EF4-FFF2-40B4-BE49-F238E27FC236}">
                <a16:creationId xmlns:a16="http://schemas.microsoft.com/office/drawing/2014/main" id="{20B60CCB-3480-4CC4-9BDD-A5CF03770204}"/>
              </a:ext>
            </a:extLst>
          </p:cNvPr>
          <p:cNvSpPr>
            <a:spLocks xmlns:a="http://schemas.openxmlformats.org/drawingml/2006/main" noGrp="1"/>
          </p:cNvSpPr>
          <p:nvPr/>
        </p:nvSpPr>
        <p:spPr>
          <a:xfrm xmlns:a="http://schemas.openxmlformats.org/drawingml/2006/main">
            <a:off x="6170669" y="3714580"/>
            <a:ext cx="634688" cy="746692"/>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6" name="Editable scientific diagram">
            <a:extLst xmlns:a="http://schemas.openxmlformats.org/drawingml/2006/main">
              <a:ext uri="{FF2B5EF4-FFF2-40B4-BE49-F238E27FC236}">
                <a16:creationId xmlns:a16="http://schemas.microsoft.com/office/drawing/2014/main" id="{47BFBF46-D8C8-4DF7-98A5-EA54617C8FD2}"/>
              </a:ext>
            </a:extLst>
          </p:cNvPr>
          <p:cNvSpPr>
            <a:spLocks xmlns:a="http://schemas.openxmlformats.org/drawingml/2006/main" noGrp="1"/>
          </p:cNvSpPr>
          <p:nvPr/>
        </p:nvSpPr>
        <p:spPr>
          <a:xfrm xmlns:a="http://schemas.openxmlformats.org/drawingml/2006/main">
            <a:off x="2959894" y="4087926"/>
            <a:ext cx="1008034" cy="896030"/>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7" name="Editable scientific diagram">
            <a:extLst xmlns:a="http://schemas.openxmlformats.org/drawingml/2006/main">
              <a:ext uri="{FF2B5EF4-FFF2-40B4-BE49-F238E27FC236}">
                <a16:creationId xmlns:a16="http://schemas.microsoft.com/office/drawing/2014/main" id="{39DA0A92-DEF1-4BC8-AC44-FB4874B5B68A}"/>
              </a:ext>
            </a:extLst>
          </p:cNvPr>
          <p:cNvSpPr>
            <a:spLocks xmlns:a="http://schemas.openxmlformats.org/drawingml/2006/main" noGrp="1"/>
          </p:cNvSpPr>
          <p:nvPr/>
        </p:nvSpPr>
        <p:spPr>
          <a:xfrm xmlns:a="http://schemas.openxmlformats.org/drawingml/2006/main">
            <a:off x="4490612" y="4237264"/>
            <a:ext cx="1120038" cy="746692"/>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8" name="Editable scientific diagram">
            <a:extLst xmlns:a="http://schemas.openxmlformats.org/drawingml/2006/main">
              <a:ext uri="{FF2B5EF4-FFF2-40B4-BE49-F238E27FC236}">
                <a16:creationId xmlns:a16="http://schemas.microsoft.com/office/drawing/2014/main" id="{20620EED-7B32-440C-B72A-C3F8AF82B5CF}"/>
              </a:ext>
            </a:extLst>
          </p:cNvPr>
          <p:cNvSpPr>
            <a:spLocks xmlns:a="http://schemas.openxmlformats.org/drawingml/2006/main" noGrp="1"/>
          </p:cNvSpPr>
          <p:nvPr/>
        </p:nvSpPr>
        <p:spPr>
          <a:xfrm xmlns:a="http://schemas.openxmlformats.org/drawingml/2006/main">
            <a:off x="4863958" y="3602576"/>
            <a:ext cx="597354" cy="485350"/>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9" name="Editable scientific diagram">
            <a:extLst xmlns:a="http://schemas.openxmlformats.org/drawingml/2006/main">
              <a:ext uri="{FF2B5EF4-FFF2-40B4-BE49-F238E27FC236}">
                <a16:creationId xmlns:a16="http://schemas.microsoft.com/office/drawing/2014/main" id="{B8D4B4E7-E3F6-4810-B11E-D7E5DF3C678B}"/>
              </a:ext>
            </a:extLst>
          </p:cNvPr>
          <p:cNvSpPr>
            <a:spLocks xmlns:a="http://schemas.openxmlformats.org/drawingml/2006/main" noGrp="1"/>
          </p:cNvSpPr>
          <p:nvPr/>
        </p:nvSpPr>
        <p:spPr>
          <a:xfrm xmlns:a="http://schemas.openxmlformats.org/drawingml/2006/main">
            <a:off x="3781255" y="3527907"/>
            <a:ext cx="485350" cy="410681"/>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0" name="Editable scientific diagram">
            <a:extLst xmlns:a="http://schemas.openxmlformats.org/drawingml/2006/main">
              <a:ext uri="{FF2B5EF4-FFF2-40B4-BE49-F238E27FC236}">
                <a16:creationId xmlns:a16="http://schemas.microsoft.com/office/drawing/2014/main" id="{A4C106E5-900E-427A-AAB8-20C57D953644}"/>
              </a:ext>
            </a:extLst>
          </p:cNvPr>
          <p:cNvSpPr>
            <a:spLocks xmlns:a="http://schemas.openxmlformats.org/drawingml/2006/main" noGrp="1"/>
          </p:cNvSpPr>
          <p:nvPr/>
        </p:nvSpPr>
        <p:spPr>
          <a:xfrm xmlns:a="http://schemas.openxmlformats.org/drawingml/2006/main">
            <a:off x="4132200" y="3692179"/>
            <a:ext cx="336011" cy="373346"/>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21" name="Editable scientific diagram">
            <a:extLst xmlns:a="http://schemas.openxmlformats.org/drawingml/2006/main">
              <a:ext uri="{FF2B5EF4-FFF2-40B4-BE49-F238E27FC236}">
                <a16:creationId xmlns:a16="http://schemas.microsoft.com/office/drawing/2014/main" id="{3B4BFC82-628D-4D30-8447-665FBFC44B97}"/>
              </a:ext>
            </a:extLst>
          </p:cNvPr>
          <p:cNvSpPr>
            <a:spLocks xmlns:a="http://schemas.openxmlformats.org/drawingml/2006/main" noGrp="1"/>
          </p:cNvSpPr>
          <p:nvPr/>
        </p:nvSpPr>
        <p:spPr>
          <a:xfrm xmlns:a="http://schemas.openxmlformats.org/drawingml/2006/main">
            <a:off x="5633051" y="4423937"/>
            <a:ext cx="388280" cy="522684"/>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22" name="Editable scientific diagram">
            <a:extLst xmlns:a="http://schemas.openxmlformats.org/drawingml/2006/main">
              <a:ext uri="{FF2B5EF4-FFF2-40B4-BE49-F238E27FC236}">
                <a16:creationId xmlns:a16="http://schemas.microsoft.com/office/drawing/2014/main" id="{AE24C2E8-718F-4602-912C-5FE99A11D26D}"/>
              </a:ext>
            </a:extLst>
          </p:cNvPr>
          <p:cNvSpPr>
            <a:spLocks xmlns:a="http://schemas.openxmlformats.org/drawingml/2006/main" noGrp="1"/>
          </p:cNvSpPr>
          <p:nvPr/>
        </p:nvSpPr>
        <p:spPr>
          <a:xfrm xmlns:a="http://schemas.openxmlformats.org/drawingml/2006/main">
            <a:off x="3146567" y="3639911"/>
            <a:ext cx="485350" cy="186673"/>
          </a:xfrm>
          <a:prstGeom xmlns:a="http://schemas.openxmlformats.org/drawingml/2006/main" prst="ellipse">
            <a:avLst/>
          </a:prstGeom>
          <a:solidFill xmlns:a="http://schemas.openxmlformats.org/drawingml/2006/main">
            <a:srgbClr val="6B7041"/>
          </a:solidFill>
          <a:ln xmlns:a="http://schemas.openxmlformats.org/drawingml/2006/main" w="14934">
            <a:solidFill>
              <a:srgbClr val="1F2937"/>
            </a:solidFill>
          </a:ln>
        </p:spPr>
      </p:sp>
      <p:sp>
        <p:nvSpPr>
          <p:cNvPr id="23" name="Diagram line">
            <a:extLst xmlns:a="http://schemas.openxmlformats.org/drawingml/2006/main">
              <a:ext uri="{FF2B5EF4-FFF2-40B4-BE49-F238E27FC236}">
                <a16:creationId xmlns:a16="http://schemas.microsoft.com/office/drawing/2014/main" id="{61482E91-DBBB-474D-8EEE-47D56E35BEC3}"/>
              </a:ext>
            </a:extLst>
          </p:cNvPr>
          <p:cNvSpPr>
            <a:spLocks xmlns:a="http://schemas.openxmlformats.org/drawingml/2006/main" noGrp="1"/>
          </p:cNvSpPr>
          <p:nvPr/>
        </p:nvSpPr>
        <p:spPr>
          <a:xfrm xmlns:a="http://schemas.openxmlformats.org/drawingml/2006/main" flipH="0" flipV="0">
            <a:off x="3146567" y="3729514"/>
            <a:ext cx="485350"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24" name="Editable scientific diagram">
            <a:extLst xmlns:a="http://schemas.openxmlformats.org/drawingml/2006/main">
              <a:ext uri="{FF2B5EF4-FFF2-40B4-BE49-F238E27FC236}">
                <a16:creationId xmlns:a16="http://schemas.microsoft.com/office/drawing/2014/main" id="{39226EAE-78C7-41CB-A59E-55091B469781}"/>
              </a:ext>
            </a:extLst>
          </p:cNvPr>
          <p:cNvSpPr>
            <a:spLocks xmlns:a="http://schemas.openxmlformats.org/drawingml/2006/main" noGrp="1"/>
          </p:cNvSpPr>
          <p:nvPr/>
        </p:nvSpPr>
        <p:spPr>
          <a:xfrm xmlns:a="http://schemas.openxmlformats.org/drawingml/2006/main">
            <a:off x="5633051" y="3677245"/>
            <a:ext cx="410681" cy="164272"/>
          </a:xfrm>
          <a:prstGeom xmlns:a="http://schemas.openxmlformats.org/drawingml/2006/main" prst="ellipse">
            <a:avLst/>
          </a:prstGeom>
          <a:solidFill xmlns:a="http://schemas.openxmlformats.org/drawingml/2006/main">
            <a:srgbClr val="6B7041"/>
          </a:solidFill>
          <a:ln xmlns:a="http://schemas.openxmlformats.org/drawingml/2006/main" w="14934">
            <a:solidFill>
              <a:srgbClr val="1F2937"/>
            </a:solidFill>
          </a:ln>
        </p:spPr>
      </p:sp>
      <p:sp>
        <p:nvSpPr>
          <p:cNvPr id="25" name="Diagram line">
            <a:extLst xmlns:a="http://schemas.openxmlformats.org/drawingml/2006/main">
              <a:ext uri="{FF2B5EF4-FFF2-40B4-BE49-F238E27FC236}">
                <a16:creationId xmlns:a16="http://schemas.microsoft.com/office/drawing/2014/main" id="{EB85B61E-DCF7-4C31-9C13-5680E9A2A00C}"/>
              </a:ext>
            </a:extLst>
          </p:cNvPr>
          <p:cNvSpPr>
            <a:spLocks xmlns:a="http://schemas.openxmlformats.org/drawingml/2006/main" noGrp="1"/>
          </p:cNvSpPr>
          <p:nvPr/>
        </p:nvSpPr>
        <p:spPr>
          <a:xfrm xmlns:a="http://schemas.openxmlformats.org/drawingml/2006/main" flipH="0" flipV="0">
            <a:off x="5633051" y="3759381"/>
            <a:ext cx="410681"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26" name="Diagram label: Mineral grains">
            <a:extLst xmlns:a="http://schemas.openxmlformats.org/drawingml/2006/main">
              <a:ext uri="{FF2B5EF4-FFF2-40B4-BE49-F238E27FC236}">
                <a16:creationId xmlns:a16="http://schemas.microsoft.com/office/drawing/2014/main" id="{C45C9E05-A596-4610-8050-142406FA3196}"/>
              </a:ext>
            </a:extLst>
          </p:cNvPr>
          <p:cNvSpPr>
            <a:spLocks xmlns:a="http://schemas.openxmlformats.org/drawingml/2006/main" noGrp="1"/>
          </p:cNvSpPr>
          <p:nvPr/>
        </p:nvSpPr>
        <p:spPr>
          <a:xfrm xmlns:a="http://schemas.openxmlformats.org/drawingml/2006/main">
            <a:off x="7402711" y="2445204"/>
            <a:ext cx="2165407"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Mineral grains</a:t>
            </a:r>
          </a:p>
        </p:txBody>
      </p:sp>
      <p:sp>
        <p:nvSpPr>
          <p:cNvPr id="27" name="Diagram line">
            <a:extLst xmlns:a="http://schemas.openxmlformats.org/drawingml/2006/main">
              <a:ext uri="{FF2B5EF4-FFF2-40B4-BE49-F238E27FC236}">
                <a16:creationId xmlns:a16="http://schemas.microsoft.com/office/drawing/2014/main" id="{89CBF50D-7F03-4C25-B750-A2A657955AE7}"/>
              </a:ext>
            </a:extLst>
          </p:cNvPr>
          <p:cNvSpPr>
            <a:spLocks xmlns:a="http://schemas.openxmlformats.org/drawingml/2006/main" noGrp="1"/>
          </p:cNvSpPr>
          <p:nvPr/>
        </p:nvSpPr>
        <p:spPr>
          <a:xfrm xmlns:a="http://schemas.openxmlformats.org/drawingml/2006/main" flipH="1" flipV="0">
            <a:off x="6135143" y="2781215"/>
            <a:ext cx="1080895" cy="24407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28" name="Diagram arrowhead">
            <a:extLst xmlns:a="http://schemas.openxmlformats.org/drawingml/2006/main">
              <a:ext uri="{FF2B5EF4-FFF2-40B4-BE49-F238E27FC236}">
                <a16:creationId xmlns:a16="http://schemas.microsoft.com/office/drawing/2014/main" id="{300B0E71-464D-4DBC-AA7D-46E4C905C397}"/>
              </a:ext>
            </a:extLst>
          </p:cNvPr>
          <p:cNvSpPr>
            <a:spLocks xmlns:a="http://schemas.openxmlformats.org/drawingml/2006/main" noGrp="1"/>
          </p:cNvSpPr>
          <p:nvPr/>
        </p:nvSpPr>
        <p:spPr>
          <a:xfrm xmlns:a="http://schemas.openxmlformats.org/drawingml/2006/main" rot="15436539">
            <a:off x="6057382" y="2978776"/>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9" name="Diagram label: Dead plant&#10;material">
            <a:extLst xmlns:a="http://schemas.openxmlformats.org/drawingml/2006/main">
              <a:ext uri="{FF2B5EF4-FFF2-40B4-BE49-F238E27FC236}">
                <a16:creationId xmlns:a16="http://schemas.microsoft.com/office/drawing/2014/main" id="{508AFA8B-F600-450F-BC2A-18706100B8E0}"/>
              </a:ext>
            </a:extLst>
          </p:cNvPr>
          <p:cNvSpPr>
            <a:spLocks xmlns:a="http://schemas.openxmlformats.org/drawingml/2006/main" noGrp="1"/>
          </p:cNvSpPr>
          <p:nvPr/>
        </p:nvSpPr>
        <p:spPr>
          <a:xfrm xmlns:a="http://schemas.openxmlformats.org/drawingml/2006/main">
            <a:off x="7402711" y="3214296"/>
            <a:ext cx="2165407" cy="634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Dead plant</a:t>
            </a:r>
          </a:p>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material</a:t>
            </a:r>
          </a:p>
        </p:txBody>
      </p:sp>
      <p:sp>
        <p:nvSpPr>
          <p:cNvPr id="30" name="Diagram line">
            <a:extLst xmlns:a="http://schemas.openxmlformats.org/drawingml/2006/main">
              <a:ext uri="{FF2B5EF4-FFF2-40B4-BE49-F238E27FC236}">
                <a16:creationId xmlns:a16="http://schemas.microsoft.com/office/drawing/2014/main" id="{3AEAB515-E274-4F79-96E9-7DC5AF8278BE}"/>
              </a:ext>
            </a:extLst>
          </p:cNvPr>
          <p:cNvSpPr>
            <a:spLocks xmlns:a="http://schemas.openxmlformats.org/drawingml/2006/main" noGrp="1"/>
          </p:cNvSpPr>
          <p:nvPr/>
        </p:nvSpPr>
        <p:spPr>
          <a:xfrm xmlns:a="http://schemas.openxmlformats.org/drawingml/2006/main" flipH="1" flipV="0">
            <a:off x="5986528" y="3520440"/>
            <a:ext cx="1229510" cy="217799"/>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31" name="Diagram arrowhead">
            <a:extLst xmlns:a="http://schemas.openxmlformats.org/drawingml/2006/main">
              <a:ext uri="{FF2B5EF4-FFF2-40B4-BE49-F238E27FC236}">
                <a16:creationId xmlns:a16="http://schemas.microsoft.com/office/drawing/2014/main" id="{008092C6-8DD1-4677-9870-145006D6C41B}"/>
              </a:ext>
            </a:extLst>
          </p:cNvPr>
          <p:cNvSpPr>
            <a:spLocks xmlns:a="http://schemas.openxmlformats.org/drawingml/2006/main" noGrp="1"/>
          </p:cNvSpPr>
          <p:nvPr/>
        </p:nvSpPr>
        <p:spPr>
          <a:xfrm xmlns:a="http://schemas.openxmlformats.org/drawingml/2006/main" rot="15597280">
            <a:off x="5908526" y="3690529"/>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32" name="Diagram label: Air in a pore">
            <a:extLst xmlns:a="http://schemas.openxmlformats.org/drawingml/2006/main">
              <a:ext uri="{FF2B5EF4-FFF2-40B4-BE49-F238E27FC236}">
                <a16:creationId xmlns:a16="http://schemas.microsoft.com/office/drawing/2014/main" id="{41A45003-55E6-4FB5-BACB-741CDE11EFAE}"/>
              </a:ext>
            </a:extLst>
          </p:cNvPr>
          <p:cNvSpPr>
            <a:spLocks xmlns:a="http://schemas.openxmlformats.org/drawingml/2006/main" noGrp="1"/>
          </p:cNvSpPr>
          <p:nvPr/>
        </p:nvSpPr>
        <p:spPr>
          <a:xfrm xmlns:a="http://schemas.openxmlformats.org/drawingml/2006/main">
            <a:off x="7402711" y="4043124"/>
            <a:ext cx="2165407"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Air in a pore</a:t>
            </a:r>
          </a:p>
        </p:txBody>
      </p:sp>
      <p:sp>
        <p:nvSpPr>
          <p:cNvPr id="33" name="Diagram line">
            <a:extLst xmlns:a="http://schemas.openxmlformats.org/drawingml/2006/main">
              <a:ext uri="{FF2B5EF4-FFF2-40B4-BE49-F238E27FC236}">
                <a16:creationId xmlns:a16="http://schemas.microsoft.com/office/drawing/2014/main" id="{284C4AF9-92D3-44F7-B04F-01B26827CD5E}"/>
              </a:ext>
            </a:extLst>
          </p:cNvPr>
          <p:cNvSpPr>
            <a:spLocks xmlns:a="http://schemas.openxmlformats.org/drawingml/2006/main" noGrp="1"/>
          </p:cNvSpPr>
          <p:nvPr/>
        </p:nvSpPr>
        <p:spPr>
          <a:xfrm xmlns:a="http://schemas.openxmlformats.org/drawingml/2006/main" flipH="1" flipV="1">
            <a:off x="5949916" y="4133919"/>
            <a:ext cx="1266122" cy="140680"/>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34" name="Diagram arrowhead">
            <a:extLst xmlns:a="http://schemas.openxmlformats.org/drawingml/2006/main">
              <a:ext uri="{FF2B5EF4-FFF2-40B4-BE49-F238E27FC236}">
                <a16:creationId xmlns:a16="http://schemas.microsoft.com/office/drawing/2014/main" id="{410F00F3-45A6-4AB2-BD71-FE4AB7D3AB80}"/>
              </a:ext>
            </a:extLst>
          </p:cNvPr>
          <p:cNvSpPr>
            <a:spLocks xmlns:a="http://schemas.openxmlformats.org/drawingml/2006/main" noGrp="1"/>
          </p:cNvSpPr>
          <p:nvPr/>
        </p:nvSpPr>
        <p:spPr>
          <a:xfrm xmlns:a="http://schemas.openxmlformats.org/drawingml/2006/main" rot="-5019588">
            <a:off x="5871673" y="4078764"/>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35" name="Diagram label: Water in a pore">
            <a:extLst xmlns:a="http://schemas.openxmlformats.org/drawingml/2006/main">
              <a:ext uri="{FF2B5EF4-FFF2-40B4-BE49-F238E27FC236}">
                <a16:creationId xmlns:a16="http://schemas.microsoft.com/office/drawing/2014/main" id="{1A4D16C2-2136-44D8-B4B1-CF64207E1EA6}"/>
              </a:ext>
            </a:extLst>
          </p:cNvPr>
          <p:cNvSpPr>
            <a:spLocks xmlns:a="http://schemas.openxmlformats.org/drawingml/2006/main" noGrp="1"/>
          </p:cNvSpPr>
          <p:nvPr/>
        </p:nvSpPr>
        <p:spPr>
          <a:xfrm xmlns:a="http://schemas.openxmlformats.org/drawingml/2006/main">
            <a:off x="7402711" y="4827151"/>
            <a:ext cx="2165407"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Water in a pore</a:t>
            </a:r>
          </a:p>
        </p:txBody>
      </p:sp>
      <p:sp>
        <p:nvSpPr>
          <p:cNvPr id="36" name="Diagram line">
            <a:extLst xmlns:a="http://schemas.openxmlformats.org/drawingml/2006/main">
              <a:ext uri="{FF2B5EF4-FFF2-40B4-BE49-F238E27FC236}">
                <a16:creationId xmlns:a16="http://schemas.microsoft.com/office/drawing/2014/main" id="{4AE2F59C-B127-4C83-9E9E-DF70F0B7EA9C}"/>
              </a:ext>
            </a:extLst>
          </p:cNvPr>
          <p:cNvSpPr>
            <a:spLocks xmlns:a="http://schemas.openxmlformats.org/drawingml/2006/main" noGrp="1"/>
          </p:cNvSpPr>
          <p:nvPr/>
        </p:nvSpPr>
        <p:spPr>
          <a:xfrm xmlns:a="http://schemas.openxmlformats.org/drawingml/2006/main" flipH="1" flipV="1">
            <a:off x="5910647" y="4726985"/>
            <a:ext cx="1305391" cy="331640"/>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37" name="Diagram arrowhead">
            <a:extLst xmlns:a="http://schemas.openxmlformats.org/drawingml/2006/main">
              <a:ext uri="{FF2B5EF4-FFF2-40B4-BE49-F238E27FC236}">
                <a16:creationId xmlns:a16="http://schemas.microsoft.com/office/drawing/2014/main" id="{07C952F0-CAEB-41E1-A9D9-3DAE0B74B47B}"/>
              </a:ext>
            </a:extLst>
          </p:cNvPr>
          <p:cNvSpPr>
            <a:spLocks xmlns:a="http://schemas.openxmlformats.org/drawingml/2006/main" noGrp="1"/>
          </p:cNvSpPr>
          <p:nvPr/>
        </p:nvSpPr>
        <p:spPr>
          <a:xfrm xmlns:a="http://schemas.openxmlformats.org/drawingml/2006/main" rot="-4544721">
            <a:off x="5833049" y="4668282"/>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38" name="Diagram label: Model: sizes and amounts are not to scale.">
            <a:extLst xmlns:a="http://schemas.openxmlformats.org/drawingml/2006/main">
              <a:ext uri="{FF2B5EF4-FFF2-40B4-BE49-F238E27FC236}">
                <a16:creationId xmlns:a16="http://schemas.microsoft.com/office/drawing/2014/main" id="{BD4F47FB-CCCB-4048-B466-92F06741D78C}"/>
              </a:ext>
            </a:extLst>
          </p:cNvPr>
          <p:cNvSpPr>
            <a:spLocks xmlns:a="http://schemas.openxmlformats.org/drawingml/2006/main" noGrp="1"/>
          </p:cNvSpPr>
          <p:nvPr/>
        </p:nvSpPr>
        <p:spPr>
          <a:xfrm xmlns:a="http://schemas.openxmlformats.org/drawingml/2006/main">
            <a:off x="2661217" y="5521574"/>
            <a:ext cx="6869566"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Model: sizes and amounts are not to scale.</a:t>
            </a:r>
          </a:p>
        </p:txBody>
      </p:sp>
      <p:sp>
        <p:nvSpPr>
          <p:cNvPr id="39" name="Soil contains more than solid pieces.  Air and water fit into sm">
            <a:extLst xmlns:a="http://schemas.openxmlformats.org/drawingml/2006/main">
              <a:ext uri="{FF2B5EF4-FFF2-40B4-BE49-F238E27FC236}">
                <a16:creationId xmlns:a16="http://schemas.microsoft.com/office/drawing/2014/main" id="{65AA32F1-E1DA-4F28-96A8-C1476C7757AB}"/>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Soil contains more than solid pieces. Air and water fit into small spaces. These spaces are called pores.</a:t>
            </a:r>
          </a:p>
        </p:txBody>
      </p:sp>
    </p:spTree>
    <p:extLst>
      <p:ext uri="{BB962C8B-B14F-4D97-AF65-F5344CB8AC3E}">
        <p14:creationId xmlns:p14="http://schemas.microsoft.com/office/powerpoint/2010/main" val="4992900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urface">
            <a:extLst xmlns:a="http://schemas.openxmlformats.org/drawingml/2006/main">
              <a:ext uri="{FF2B5EF4-FFF2-40B4-BE49-F238E27FC236}">
                <a16:creationId xmlns:a16="http://schemas.microsoft.com/office/drawing/2014/main" id="{C23C3481-68F5-461C-97EA-1852E9CBB7C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B206C08-2DDC-4018-A8EA-CA237D544FC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56782C9-2297-4F91-95B5-29CD0197DFD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7A623E18-7320-46EC-8BE9-3D7EDF8ACFE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A9D83194-D333-43F7-A668-63ABEB7A714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2 min">
            <a:extLst xmlns:a="http://schemas.openxmlformats.org/drawingml/2006/main">
              <a:ext uri="{FF2B5EF4-FFF2-40B4-BE49-F238E27FC236}">
                <a16:creationId xmlns:a16="http://schemas.microsoft.com/office/drawing/2014/main" id="{B6C9E564-A44D-40B5-8DFD-01538A9A9C1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 clue we cannot pick up">
            <a:extLst xmlns:a="http://schemas.openxmlformats.org/drawingml/2006/main">
              <a:ext uri="{FF2B5EF4-FFF2-40B4-BE49-F238E27FC236}">
                <a16:creationId xmlns:a16="http://schemas.microsoft.com/office/drawing/2014/main" id="{1D9B27D4-8016-4100-841A-C1D3042B731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clue we cannot pick up</a:t>
            </a:r>
          </a:p>
        </p:txBody>
      </p:sp>
      <p:sp>
        <p:nvSpPr>
          <p:cNvPr id="8" name="surface">
            <a:extLst xmlns:a="http://schemas.openxmlformats.org/drawingml/2006/main">
              <a:ext uri="{FF2B5EF4-FFF2-40B4-BE49-F238E27FC236}">
                <a16:creationId xmlns:a16="http://schemas.microsoft.com/office/drawing/2014/main" id="{CED0ECD3-BE66-44EB-9AA0-501C59C5AD4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08C4BF5C-5D2B-4098-931D-41534434DF8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5 / 14">
            <a:extLst xmlns:a="http://schemas.openxmlformats.org/drawingml/2006/main">
              <a:ext uri="{FF2B5EF4-FFF2-40B4-BE49-F238E27FC236}">
                <a16:creationId xmlns:a16="http://schemas.microsoft.com/office/drawing/2014/main" id="{BA6F40E7-CF58-437A-9604-F5C5520D08F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14</a:t>
            </a:r>
          </a:p>
        </p:txBody>
      </p:sp>
      <p:sp>
        <p:nvSpPr>
          <p:cNvPr id="11" name="Diagram label: Before: air in spaces">
            <a:extLst xmlns:a="http://schemas.openxmlformats.org/drawingml/2006/main">
              <a:ext uri="{FF2B5EF4-FFF2-40B4-BE49-F238E27FC236}">
                <a16:creationId xmlns:a16="http://schemas.microsoft.com/office/drawing/2014/main" id="{F0549FBC-7FC7-460C-AE10-02598B275B4E}"/>
              </a:ext>
            </a:extLst>
          </p:cNvPr>
          <p:cNvSpPr>
            <a:spLocks xmlns:a="http://schemas.openxmlformats.org/drawingml/2006/main" noGrp="1"/>
          </p:cNvSpPr>
          <p:nvPr/>
        </p:nvSpPr>
        <p:spPr>
          <a:xfrm xmlns:a="http://schemas.openxmlformats.org/drawingml/2006/main">
            <a:off x="2885225" y="2109192"/>
            <a:ext cx="261342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Before: air in spaces</a:t>
            </a:r>
          </a:p>
        </p:txBody>
      </p:sp>
      <p:sp>
        <p:nvSpPr>
          <p:cNvPr id="12" name="Diagram label: After: water enters">
            <a:extLst xmlns:a="http://schemas.openxmlformats.org/drawingml/2006/main">
              <a:ext uri="{FF2B5EF4-FFF2-40B4-BE49-F238E27FC236}">
                <a16:creationId xmlns:a16="http://schemas.microsoft.com/office/drawing/2014/main" id="{DED4B2E0-25E7-4BAA-BE24-E84FA4C6F9FE}"/>
              </a:ext>
            </a:extLst>
          </p:cNvPr>
          <p:cNvSpPr>
            <a:spLocks xmlns:a="http://schemas.openxmlformats.org/drawingml/2006/main" noGrp="1"/>
          </p:cNvSpPr>
          <p:nvPr/>
        </p:nvSpPr>
        <p:spPr>
          <a:xfrm xmlns:a="http://schemas.openxmlformats.org/drawingml/2006/main">
            <a:off x="6693354" y="2109192"/>
            <a:ext cx="2688091"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After: water enters</a:t>
            </a:r>
          </a:p>
        </p:txBody>
      </p:sp>
      <p:sp>
        <p:nvSpPr>
          <p:cNvPr id="13" name="Editable scientific diagram">
            <a:extLst xmlns:a="http://schemas.openxmlformats.org/drawingml/2006/main">
              <a:ext uri="{FF2B5EF4-FFF2-40B4-BE49-F238E27FC236}">
                <a16:creationId xmlns:a16="http://schemas.microsoft.com/office/drawing/2014/main" id="{4CCAA920-2921-40EC-90FE-984DB802F19B}"/>
              </a:ext>
            </a:extLst>
          </p:cNvPr>
          <p:cNvSpPr>
            <a:spLocks xmlns:a="http://schemas.openxmlformats.org/drawingml/2006/main" noGrp="1"/>
          </p:cNvSpPr>
          <p:nvPr/>
        </p:nvSpPr>
        <p:spPr>
          <a:xfrm xmlns:a="http://schemas.openxmlformats.org/drawingml/2006/main">
            <a:off x="2885225" y="2631877"/>
            <a:ext cx="2501418" cy="2389414"/>
          </a:xfrm>
          <a:prstGeom xmlns:a="http://schemas.openxmlformats.org/drawingml/2006/main" prst="rect">
            <a:avLst/>
          </a:prstGeom>
          <a:solidFill xmlns:a="http://schemas.openxmlformats.org/drawingml/2006/main">
            <a:srgbClr val="F6F0E5"/>
          </a:solidFill>
          <a:ln xmlns:a="http://schemas.openxmlformats.org/drawingml/2006/main" w="14934">
            <a:solidFill>
              <a:srgbClr val="1F2937"/>
            </a:solidFill>
          </a:ln>
        </p:spPr>
      </p:sp>
      <p:sp>
        <p:nvSpPr>
          <p:cNvPr id="14" name="Editable scientific diagram">
            <a:extLst xmlns:a="http://schemas.openxmlformats.org/drawingml/2006/main">
              <a:ext uri="{FF2B5EF4-FFF2-40B4-BE49-F238E27FC236}">
                <a16:creationId xmlns:a16="http://schemas.microsoft.com/office/drawing/2014/main" id="{AEDDF69F-2ED1-4ADB-A7C2-731245E21791}"/>
              </a:ext>
            </a:extLst>
          </p:cNvPr>
          <p:cNvSpPr>
            <a:spLocks xmlns:a="http://schemas.openxmlformats.org/drawingml/2006/main" noGrp="1"/>
          </p:cNvSpPr>
          <p:nvPr/>
        </p:nvSpPr>
        <p:spPr>
          <a:xfrm xmlns:a="http://schemas.openxmlformats.org/drawingml/2006/main">
            <a:off x="6693354" y="2631877"/>
            <a:ext cx="2501418" cy="2389414"/>
          </a:xfrm>
          <a:prstGeom xmlns:a="http://schemas.openxmlformats.org/drawingml/2006/main" prst="rect">
            <a:avLst/>
          </a:prstGeom>
          <a:solidFill xmlns:a="http://schemas.openxmlformats.org/drawingml/2006/main">
            <a:srgbClr val="D7ECF7"/>
          </a:solidFill>
          <a:ln xmlns:a="http://schemas.openxmlformats.org/drawingml/2006/main" w="14934">
            <a:solidFill>
              <a:srgbClr val="1F2937"/>
            </a:solidFill>
          </a:ln>
        </p:spPr>
      </p:sp>
      <p:sp>
        <p:nvSpPr>
          <p:cNvPr id="15" name="Editable scientific diagram">
            <a:extLst xmlns:a="http://schemas.openxmlformats.org/drawingml/2006/main">
              <a:ext uri="{FF2B5EF4-FFF2-40B4-BE49-F238E27FC236}">
                <a16:creationId xmlns:a16="http://schemas.microsoft.com/office/drawing/2014/main" id="{61D2F963-DFE7-4133-81B6-DEAB05D8503D}"/>
              </a:ext>
            </a:extLst>
          </p:cNvPr>
          <p:cNvSpPr>
            <a:spLocks xmlns:a="http://schemas.openxmlformats.org/drawingml/2006/main" noGrp="1"/>
          </p:cNvSpPr>
          <p:nvPr/>
        </p:nvSpPr>
        <p:spPr>
          <a:xfrm xmlns:a="http://schemas.openxmlformats.org/drawingml/2006/main">
            <a:off x="3034563" y="3117226"/>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6" name="Editable scientific diagram">
            <a:extLst xmlns:a="http://schemas.openxmlformats.org/drawingml/2006/main">
              <a:ext uri="{FF2B5EF4-FFF2-40B4-BE49-F238E27FC236}">
                <a16:creationId xmlns:a16="http://schemas.microsoft.com/office/drawing/2014/main" id="{FEC09075-19DB-4F3E-9DE9-1AB3DFC885C2}"/>
              </a:ext>
            </a:extLst>
          </p:cNvPr>
          <p:cNvSpPr>
            <a:spLocks xmlns:a="http://schemas.openxmlformats.org/drawingml/2006/main" noGrp="1"/>
          </p:cNvSpPr>
          <p:nvPr/>
        </p:nvSpPr>
        <p:spPr>
          <a:xfrm xmlns:a="http://schemas.openxmlformats.org/drawingml/2006/main">
            <a:off x="3893259" y="3005223"/>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7" name="Editable scientific diagram">
            <a:extLst xmlns:a="http://schemas.openxmlformats.org/drawingml/2006/main">
              <a:ext uri="{FF2B5EF4-FFF2-40B4-BE49-F238E27FC236}">
                <a16:creationId xmlns:a16="http://schemas.microsoft.com/office/drawing/2014/main" id="{42E59C41-8CE6-437F-AF46-5B0732CE877B}"/>
              </a:ext>
            </a:extLst>
          </p:cNvPr>
          <p:cNvSpPr>
            <a:spLocks xmlns:a="http://schemas.openxmlformats.org/drawingml/2006/main" noGrp="1"/>
          </p:cNvSpPr>
          <p:nvPr/>
        </p:nvSpPr>
        <p:spPr>
          <a:xfrm xmlns:a="http://schemas.openxmlformats.org/drawingml/2006/main">
            <a:off x="4565281" y="3565242"/>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8" name="Editable scientific diagram">
            <a:extLst xmlns:a="http://schemas.openxmlformats.org/drawingml/2006/main">
              <a:ext uri="{FF2B5EF4-FFF2-40B4-BE49-F238E27FC236}">
                <a16:creationId xmlns:a16="http://schemas.microsoft.com/office/drawing/2014/main" id="{C66636DC-ECCD-4286-A9A7-6375F680BEA3}"/>
              </a:ext>
            </a:extLst>
          </p:cNvPr>
          <p:cNvSpPr>
            <a:spLocks xmlns:a="http://schemas.openxmlformats.org/drawingml/2006/main" noGrp="1"/>
          </p:cNvSpPr>
          <p:nvPr/>
        </p:nvSpPr>
        <p:spPr>
          <a:xfrm xmlns:a="http://schemas.openxmlformats.org/drawingml/2006/main">
            <a:off x="3221236" y="4162595"/>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9" name="Editable scientific diagram">
            <a:extLst xmlns:a="http://schemas.openxmlformats.org/drawingml/2006/main">
              <a:ext uri="{FF2B5EF4-FFF2-40B4-BE49-F238E27FC236}">
                <a16:creationId xmlns:a16="http://schemas.microsoft.com/office/drawing/2014/main" id="{7C7434B1-B0A5-46F6-B384-0C7C1866B2F6}"/>
              </a:ext>
            </a:extLst>
          </p:cNvPr>
          <p:cNvSpPr>
            <a:spLocks xmlns:a="http://schemas.openxmlformats.org/drawingml/2006/main" noGrp="1"/>
          </p:cNvSpPr>
          <p:nvPr/>
        </p:nvSpPr>
        <p:spPr>
          <a:xfrm xmlns:a="http://schemas.openxmlformats.org/drawingml/2006/main">
            <a:off x="4005263" y="4087926"/>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0" name="Editable scientific diagram">
            <a:extLst xmlns:a="http://schemas.openxmlformats.org/drawingml/2006/main">
              <a:ext uri="{FF2B5EF4-FFF2-40B4-BE49-F238E27FC236}">
                <a16:creationId xmlns:a16="http://schemas.microsoft.com/office/drawing/2014/main" id="{E75D87B4-0DF6-487D-A886-B07E90AA1503}"/>
              </a:ext>
            </a:extLst>
          </p:cNvPr>
          <p:cNvSpPr>
            <a:spLocks xmlns:a="http://schemas.openxmlformats.org/drawingml/2006/main" noGrp="1"/>
          </p:cNvSpPr>
          <p:nvPr/>
        </p:nvSpPr>
        <p:spPr>
          <a:xfrm xmlns:a="http://schemas.openxmlformats.org/drawingml/2006/main">
            <a:off x="6917361" y="3117226"/>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1" name="Editable scientific diagram">
            <a:extLst xmlns:a="http://schemas.openxmlformats.org/drawingml/2006/main">
              <a:ext uri="{FF2B5EF4-FFF2-40B4-BE49-F238E27FC236}">
                <a16:creationId xmlns:a16="http://schemas.microsoft.com/office/drawing/2014/main" id="{01D6938D-AAB1-40B9-8AB3-40AE45FC6C0F}"/>
              </a:ext>
            </a:extLst>
          </p:cNvPr>
          <p:cNvSpPr>
            <a:spLocks xmlns:a="http://schemas.openxmlformats.org/drawingml/2006/main" noGrp="1"/>
          </p:cNvSpPr>
          <p:nvPr/>
        </p:nvSpPr>
        <p:spPr>
          <a:xfrm xmlns:a="http://schemas.openxmlformats.org/drawingml/2006/main">
            <a:off x="7776057" y="3005223"/>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2" name="Editable scientific diagram">
            <a:extLst xmlns:a="http://schemas.openxmlformats.org/drawingml/2006/main">
              <a:ext uri="{FF2B5EF4-FFF2-40B4-BE49-F238E27FC236}">
                <a16:creationId xmlns:a16="http://schemas.microsoft.com/office/drawing/2014/main" id="{ACE766A6-9E91-4D34-AD9B-B0FE4CFBC4E8}"/>
              </a:ext>
            </a:extLst>
          </p:cNvPr>
          <p:cNvSpPr>
            <a:spLocks xmlns:a="http://schemas.openxmlformats.org/drawingml/2006/main" noGrp="1"/>
          </p:cNvSpPr>
          <p:nvPr/>
        </p:nvSpPr>
        <p:spPr>
          <a:xfrm xmlns:a="http://schemas.openxmlformats.org/drawingml/2006/main">
            <a:off x="8448080" y="3565242"/>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3" name="Editable scientific diagram">
            <a:extLst xmlns:a="http://schemas.openxmlformats.org/drawingml/2006/main">
              <a:ext uri="{FF2B5EF4-FFF2-40B4-BE49-F238E27FC236}">
                <a16:creationId xmlns:a16="http://schemas.microsoft.com/office/drawing/2014/main" id="{7FEDDCA9-0D53-455C-89E1-6146D23B4879}"/>
              </a:ext>
            </a:extLst>
          </p:cNvPr>
          <p:cNvSpPr>
            <a:spLocks xmlns:a="http://schemas.openxmlformats.org/drawingml/2006/main" noGrp="1"/>
          </p:cNvSpPr>
          <p:nvPr/>
        </p:nvSpPr>
        <p:spPr>
          <a:xfrm xmlns:a="http://schemas.openxmlformats.org/drawingml/2006/main">
            <a:off x="7104034" y="4162595"/>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4" name="Editable scientific diagram">
            <a:extLst xmlns:a="http://schemas.openxmlformats.org/drawingml/2006/main">
              <a:ext uri="{FF2B5EF4-FFF2-40B4-BE49-F238E27FC236}">
                <a16:creationId xmlns:a16="http://schemas.microsoft.com/office/drawing/2014/main" id="{E90D8DF0-76BE-4E18-B104-AE316D7333C2}"/>
              </a:ext>
            </a:extLst>
          </p:cNvPr>
          <p:cNvSpPr>
            <a:spLocks xmlns:a="http://schemas.openxmlformats.org/drawingml/2006/main" noGrp="1"/>
          </p:cNvSpPr>
          <p:nvPr/>
        </p:nvSpPr>
        <p:spPr>
          <a:xfrm xmlns:a="http://schemas.openxmlformats.org/drawingml/2006/main">
            <a:off x="7888061" y="4087926"/>
            <a:ext cx="560019" cy="462949"/>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5" name="Diagram label: Air">
            <a:extLst xmlns:a="http://schemas.openxmlformats.org/drawingml/2006/main">
              <a:ext uri="{FF2B5EF4-FFF2-40B4-BE49-F238E27FC236}">
                <a16:creationId xmlns:a16="http://schemas.microsoft.com/office/drawing/2014/main" id="{78CFD07F-4685-48DB-A233-0ADDF1D12D6D}"/>
              </a:ext>
            </a:extLst>
          </p:cNvPr>
          <p:cNvSpPr>
            <a:spLocks xmlns:a="http://schemas.openxmlformats.org/drawingml/2006/main" noGrp="1"/>
          </p:cNvSpPr>
          <p:nvPr/>
        </p:nvSpPr>
        <p:spPr>
          <a:xfrm xmlns:a="http://schemas.openxmlformats.org/drawingml/2006/main">
            <a:off x="3646850" y="3669778"/>
            <a:ext cx="858696"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Air</a:t>
            </a:r>
          </a:p>
        </p:txBody>
      </p:sp>
      <p:sp>
        <p:nvSpPr>
          <p:cNvPr id="26" name="Editable scientific diagram">
            <a:extLst xmlns:a="http://schemas.openxmlformats.org/drawingml/2006/main">
              <a:ext uri="{FF2B5EF4-FFF2-40B4-BE49-F238E27FC236}">
                <a16:creationId xmlns:a16="http://schemas.microsoft.com/office/drawing/2014/main" id="{4699B62C-EEF7-4AAA-97AC-4FB42CFCA932}"/>
              </a:ext>
            </a:extLst>
          </p:cNvPr>
          <p:cNvSpPr>
            <a:spLocks xmlns:a="http://schemas.openxmlformats.org/drawingml/2006/main" noGrp="1"/>
          </p:cNvSpPr>
          <p:nvPr/>
        </p:nvSpPr>
        <p:spPr>
          <a:xfrm xmlns:a="http://schemas.openxmlformats.org/drawingml/2006/main">
            <a:off x="7216038" y="2766281"/>
            <a:ext cx="209074" cy="209074"/>
          </a:xfrm>
          <a:prstGeom xmlns:a="http://schemas.openxmlformats.org/drawingml/2006/main" prst="ellipse">
            <a:avLst/>
          </a:prstGeom>
          <a:solidFill xmlns:a="http://schemas.openxmlformats.org/drawingml/2006/main">
            <a:srgbClr val="FFFFFF"/>
          </a:solidFill>
          <a:ln xmlns:a="http://schemas.openxmlformats.org/drawingml/2006/main" w="14934">
            <a:solidFill>
              <a:srgbClr val="4E7A9B"/>
            </a:solidFill>
          </a:ln>
        </p:spPr>
      </p:sp>
      <p:sp>
        <p:nvSpPr>
          <p:cNvPr id="27" name="Editable scientific diagram">
            <a:extLst xmlns:a="http://schemas.openxmlformats.org/drawingml/2006/main">
              <a:ext uri="{FF2B5EF4-FFF2-40B4-BE49-F238E27FC236}">
                <a16:creationId xmlns:a16="http://schemas.microsoft.com/office/drawing/2014/main" id="{8C9BF15B-03BD-446C-9669-52630CFC5604}"/>
              </a:ext>
            </a:extLst>
          </p:cNvPr>
          <p:cNvSpPr>
            <a:spLocks xmlns:a="http://schemas.openxmlformats.org/drawingml/2006/main" noGrp="1"/>
          </p:cNvSpPr>
          <p:nvPr/>
        </p:nvSpPr>
        <p:spPr>
          <a:xfrm xmlns:a="http://schemas.openxmlformats.org/drawingml/2006/main">
            <a:off x="7604318" y="2781215"/>
            <a:ext cx="186673" cy="186673"/>
          </a:xfrm>
          <a:prstGeom xmlns:a="http://schemas.openxmlformats.org/drawingml/2006/main" prst="ellipse">
            <a:avLst/>
          </a:prstGeom>
          <a:solidFill xmlns:a="http://schemas.openxmlformats.org/drawingml/2006/main">
            <a:srgbClr val="FFFFFF"/>
          </a:solidFill>
          <a:ln xmlns:a="http://schemas.openxmlformats.org/drawingml/2006/main" w="14934">
            <a:solidFill>
              <a:srgbClr val="4E7A9B"/>
            </a:solidFill>
          </a:ln>
        </p:spPr>
      </p:sp>
      <p:sp>
        <p:nvSpPr>
          <p:cNvPr id="28" name="Editable scientific diagram">
            <a:extLst xmlns:a="http://schemas.openxmlformats.org/drawingml/2006/main">
              <a:ext uri="{FF2B5EF4-FFF2-40B4-BE49-F238E27FC236}">
                <a16:creationId xmlns:a16="http://schemas.microsoft.com/office/drawing/2014/main" id="{8936FA8E-4E58-4826-AB9E-212F99EC746D}"/>
              </a:ext>
            </a:extLst>
          </p:cNvPr>
          <p:cNvSpPr>
            <a:spLocks xmlns:a="http://schemas.openxmlformats.org/drawingml/2006/main" noGrp="1"/>
          </p:cNvSpPr>
          <p:nvPr/>
        </p:nvSpPr>
        <p:spPr>
          <a:xfrm xmlns:a="http://schemas.openxmlformats.org/drawingml/2006/main">
            <a:off x="8037399" y="2654277"/>
            <a:ext cx="164272" cy="164272"/>
          </a:xfrm>
          <a:prstGeom xmlns:a="http://schemas.openxmlformats.org/drawingml/2006/main" prst="ellipse">
            <a:avLst/>
          </a:prstGeom>
          <a:solidFill xmlns:a="http://schemas.openxmlformats.org/drawingml/2006/main">
            <a:srgbClr val="FFFFFF"/>
          </a:solidFill>
          <a:ln xmlns:a="http://schemas.openxmlformats.org/drawingml/2006/main" w="14934">
            <a:solidFill>
              <a:srgbClr val="4E7A9B"/>
            </a:solidFill>
          </a:ln>
        </p:spPr>
      </p:sp>
      <p:sp>
        <p:nvSpPr>
          <p:cNvPr id="29" name="Diagram line">
            <a:extLst xmlns:a="http://schemas.openxmlformats.org/drawingml/2006/main">
              <a:ext uri="{FF2B5EF4-FFF2-40B4-BE49-F238E27FC236}">
                <a16:creationId xmlns:a16="http://schemas.microsoft.com/office/drawing/2014/main" id="{E38F7DFB-91BE-45B7-8D9E-353D8620B598}"/>
              </a:ext>
            </a:extLst>
          </p:cNvPr>
          <p:cNvSpPr>
            <a:spLocks xmlns:a="http://schemas.openxmlformats.org/drawingml/2006/main" noGrp="1"/>
          </p:cNvSpPr>
          <p:nvPr/>
        </p:nvSpPr>
        <p:spPr>
          <a:xfrm xmlns:a="http://schemas.openxmlformats.org/drawingml/2006/main" flipH="0" flipV="0">
            <a:off x="5812257" y="3639911"/>
            <a:ext cx="489083"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30" name="Diagram arrowhead">
            <a:extLst xmlns:a="http://schemas.openxmlformats.org/drawingml/2006/main">
              <a:ext uri="{FF2B5EF4-FFF2-40B4-BE49-F238E27FC236}">
                <a16:creationId xmlns:a16="http://schemas.microsoft.com/office/drawing/2014/main" id="{B84887B3-CDB0-4D34-9E7F-B3D24F9F4536}"/>
              </a:ext>
            </a:extLst>
          </p:cNvPr>
          <p:cNvSpPr>
            <a:spLocks xmlns:a="http://schemas.openxmlformats.org/drawingml/2006/main" noGrp="1"/>
          </p:cNvSpPr>
          <p:nvPr/>
        </p:nvSpPr>
        <p:spPr>
          <a:xfrm xmlns:a="http://schemas.openxmlformats.org/drawingml/2006/main" rot="5400000">
            <a:off x="6275206" y="3587642"/>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31" name="Diagram label: Add&#10;water">
            <a:extLst xmlns:a="http://schemas.openxmlformats.org/drawingml/2006/main">
              <a:ext uri="{FF2B5EF4-FFF2-40B4-BE49-F238E27FC236}">
                <a16:creationId xmlns:a16="http://schemas.microsoft.com/office/drawing/2014/main" id="{B7111751-4653-4F17-9AA5-2DE81622FA09}"/>
              </a:ext>
            </a:extLst>
          </p:cNvPr>
          <p:cNvSpPr>
            <a:spLocks xmlns:a="http://schemas.openxmlformats.org/drawingml/2006/main" noGrp="1"/>
          </p:cNvSpPr>
          <p:nvPr/>
        </p:nvSpPr>
        <p:spPr>
          <a:xfrm xmlns:a="http://schemas.openxmlformats.org/drawingml/2006/main">
            <a:off x="5513580" y="3975922"/>
            <a:ext cx="1082703"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Add</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water</a:t>
            </a:r>
          </a:p>
        </p:txBody>
      </p:sp>
      <p:sp>
        <p:nvSpPr>
          <p:cNvPr id="32" name="Diagram label: Bubbles support: there was gas in the spaces.">
            <a:extLst xmlns:a="http://schemas.openxmlformats.org/drawingml/2006/main">
              <a:ext uri="{FF2B5EF4-FFF2-40B4-BE49-F238E27FC236}">
                <a16:creationId xmlns:a16="http://schemas.microsoft.com/office/drawing/2014/main" id="{870DBA0C-6090-4457-A9DC-AAFF4B0E2229}"/>
              </a:ext>
            </a:extLst>
          </p:cNvPr>
          <p:cNvSpPr>
            <a:spLocks xmlns:a="http://schemas.openxmlformats.org/drawingml/2006/main" noGrp="1"/>
          </p:cNvSpPr>
          <p:nvPr/>
        </p:nvSpPr>
        <p:spPr>
          <a:xfrm xmlns:a="http://schemas.openxmlformats.org/drawingml/2006/main">
            <a:off x="2885225" y="5245298"/>
            <a:ext cx="6346882"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Bubbles support: there was gas in the spaces.</a:t>
            </a:r>
          </a:p>
        </p:txBody>
      </p:sp>
      <p:sp>
        <p:nvSpPr>
          <p:cNvPr id="33" name="Watch water enter the spaces.  What could escape as bubbles?  Wh">
            <a:extLst xmlns:a="http://schemas.openxmlformats.org/drawingml/2006/main">
              <a:ext uri="{FF2B5EF4-FFF2-40B4-BE49-F238E27FC236}">
                <a16:creationId xmlns:a16="http://schemas.microsoft.com/office/drawing/2014/main" id="{A878CC90-1379-47F0-B986-9CCE2B802561}"/>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Watch water enter the spaces. What could escape as bubbles? What was in the space first?</a:t>
            </a:r>
          </a:p>
        </p:txBody>
      </p:sp>
    </p:spTree>
    <p:extLst>
      <p:ext uri="{BB962C8B-B14F-4D97-AF65-F5344CB8AC3E}">
        <p14:creationId xmlns:p14="http://schemas.microsoft.com/office/powerpoint/2010/main" val="20978703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urface">
            <a:extLst xmlns:a="http://schemas.openxmlformats.org/drawingml/2006/main">
              <a:ext uri="{FF2B5EF4-FFF2-40B4-BE49-F238E27FC236}">
                <a16:creationId xmlns:a16="http://schemas.microsoft.com/office/drawing/2014/main" id="{508F61AC-ED88-48B1-AF5C-DCCA42E460F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8D7B7B3-4758-422D-9749-E3EB4EFCFFE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6CCDEF9-0E89-4508-9D29-9298A9F26A7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E3695649-4F74-497C-BE6F-6332C3681BB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1CE4B2F4-670D-4A45-BA36-1C80B3E0AC4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A41E465F-6BB7-4EEE-9FEA-31586C07A84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The evidence desk">
            <a:extLst xmlns:a="http://schemas.openxmlformats.org/drawingml/2006/main">
              <a:ext uri="{FF2B5EF4-FFF2-40B4-BE49-F238E27FC236}">
                <a16:creationId xmlns:a16="http://schemas.microsoft.com/office/drawing/2014/main" id="{4EDB9DDC-A48A-4EA2-8941-C615B02D975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evidence desk</a:t>
            </a:r>
          </a:p>
        </p:txBody>
      </p:sp>
      <p:sp>
        <p:nvSpPr>
          <p:cNvPr id="8" name="surface">
            <a:extLst xmlns:a="http://schemas.openxmlformats.org/drawingml/2006/main">
              <a:ext uri="{FF2B5EF4-FFF2-40B4-BE49-F238E27FC236}">
                <a16:creationId xmlns:a16="http://schemas.microsoft.com/office/drawing/2014/main" id="{0AE26686-534E-4E36-9E72-E32118BE84F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71111782-BBED-48E2-BF3E-EE8781F9C37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6 / 14">
            <a:extLst xmlns:a="http://schemas.openxmlformats.org/drawingml/2006/main">
              <a:ext uri="{FF2B5EF4-FFF2-40B4-BE49-F238E27FC236}">
                <a16:creationId xmlns:a16="http://schemas.microsoft.com/office/drawing/2014/main" id="{AC4F2D79-E98A-4970-9E7C-B8B65A4E6CB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14</a:t>
            </a:r>
          </a:p>
        </p:txBody>
      </p:sp>
      <p:sp>
        <p:nvSpPr>
          <p:cNvPr id="11" name="Read cards A, B and C. Place each: mineral or organic. Give one ">
            <a:extLst xmlns:a="http://schemas.openxmlformats.org/drawingml/2006/main">
              <a:ext uri="{FF2B5EF4-FFF2-40B4-BE49-F238E27FC236}">
                <a16:creationId xmlns:a16="http://schemas.microsoft.com/office/drawing/2014/main" id="{E613BAA4-DA0E-4A90-9455-C77A37D176AB}"/>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Read cards A, B and C. Place each: mineral or organic. Give one clue for each choice.</a:t>
            </a:r>
          </a:p>
        </p:txBody>
      </p:sp>
      <p:graphicFrame>
        <p:nvGraphicFramePr>
          <p:cNvPr id="26" name=""/>
          <p:cNvGraphicFramePr/>
          <p:nvPr/>
        </p:nvGraphicFramePr>
        <p:xfrm>
          <a:off xmlns:a="http://schemas.openxmlformats.org/drawingml/2006/main" x="533400" y="2295525"/>
          <a:ext xmlns:a="http://schemas.openxmlformats.org/drawingml/2006/main" cx="11125200" cy="2021205"/>
        </p:xfrm>
        <a:graphic xmlns:a="http://schemas.openxmlformats.org/drawingml/2006/main">
          <a:graphicData uri="http://schemas.openxmlformats.org/drawingml/2006/table">
            <a:tbl>
              <a:tblPr firstRow="1" bandRow="0"/>
              <a:tblGrid>
                <a:gridCol w="3779389"/>
                <a:gridCol w="7345811"/>
              </a:tblGrid>
              <a:tr h="505301">
                <a:tc>
                  <a:txBody>
                    <a:bodyPr lIns="95250" tIns="95250" rIns="95250" bIns="95250"/>
                    <a:lstStyle/>
                    <a:p>
                      <a:pPr algn="l"/>
                      <a:r>
                        <a:rPr sz="2025" b="1">
                          <a:solidFill>
                            <a:srgbClr val="FFFFFF"/>
                          </a:solidFill>
                          <a:latin typeface="Nimbus Sans"/>
                          <a:ea typeface="Nimbus Sans"/>
                          <a:cs typeface="Nimbus Sans"/>
                        </a:rPr>
                        <a:t>Card</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Observed or stated clue</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Quartz grain; hard and gritty</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Leaf vein; came from a fallen leaf</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Fibres; came from a plant stem</a:t>
                      </a:r>
                    </a:p>
                  </a:txBody>
                  <a:tcPr marL="95250" marR="95250" marT="95250" marB="95250" anchor="ctr">
                    <a:solidFill>
                      <a:srgbClr val="F4F7F9"/>
                    </a:solidFill>
                  </a:tcPr>
                </a:tc>
              </a:tr>
            </a:tbl>
          </a:graphicData>
        </a:graphic>
      </p:graphicFrame>
      <p:sp>
        <p:nvSpPr>
          <p:cNvPr id="13" name="Constructed teaching evidence cards">
            <a:extLst xmlns:a="http://schemas.openxmlformats.org/drawingml/2006/main">
              <a:ext uri="{FF2B5EF4-FFF2-40B4-BE49-F238E27FC236}">
                <a16:creationId xmlns:a16="http://schemas.microsoft.com/office/drawing/2014/main" id="{B8ECB37B-65B4-4338-9F9E-D9932DE4A74B}"/>
              </a:ext>
            </a:extLst>
          </p:cNvPr>
          <p:cNvSpPr>
            <a:spLocks xmlns:a="http://schemas.openxmlformats.org/drawingml/2006/main" noGrp="1"/>
          </p:cNvSpPr>
          <p:nvPr/>
        </p:nvSpPr>
        <p:spPr>
          <a:xfrm xmlns:a="http://schemas.openxmlformats.org/drawingml/2006/main">
            <a:off x="533400" y="443103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teaching evidence cards</a:t>
            </a:r>
          </a:p>
        </p:txBody>
      </p:sp>
      <p:sp>
        <p:nvSpPr>
          <p:cNvPr id="14" name="Which clue supports your choice?">
            <a:extLst xmlns:a="http://schemas.openxmlformats.org/drawingml/2006/main">
              <a:ext uri="{FF2B5EF4-FFF2-40B4-BE49-F238E27FC236}">
                <a16:creationId xmlns:a16="http://schemas.microsoft.com/office/drawing/2014/main" id="{179C783C-0513-4CE8-B850-BAB4ABFC9A88}"/>
              </a:ext>
            </a:extLst>
          </p:cNvPr>
          <p:cNvSpPr>
            <a:spLocks xmlns:a="http://schemas.openxmlformats.org/drawingml/2006/main" noGrp="1"/>
          </p:cNvSpPr>
          <p:nvPr/>
        </p:nvSpPr>
        <p:spPr>
          <a:xfrm xmlns:a="http://schemas.openxmlformats.org/drawingml/2006/main">
            <a:off x="533400" y="485013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4D82A0"/>
                </a:solidFill>
                <a:latin typeface="Nimbus Sans"/>
                <a:ea typeface="Nimbus Sans"/>
                <a:cs typeface="Nimbus Sans"/>
              </a:defRPr>
            </a:pPr>
            <a:r>
              <a:rPr sz="2025" b="1">
                <a:solidFill>
                  <a:srgbClr val="4D82A0"/>
                </a:solidFill>
                <a:latin typeface="Nimbus Sans"/>
                <a:ea typeface="Nimbus Sans"/>
                <a:cs typeface="Nimbus Sans"/>
              </a:rPr>
              <a:t>Which clue supports your choice?</a:t>
            </a:r>
          </a:p>
        </p:txBody>
      </p:sp>
    </p:spTree>
    <p:extLst>
      <p:ext uri="{BB962C8B-B14F-4D97-AF65-F5344CB8AC3E}">
        <p14:creationId xmlns:p14="http://schemas.microsoft.com/office/powerpoint/2010/main" val="13144349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B056715F-C584-4B61-8B1C-3782BBC925F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9D251AA-DAFA-4072-9761-BE936576C2B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AD61430-D505-4057-BAFB-A4864A10DA3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796649D1-FF44-4A2A-B46A-37DD55CA3FE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5E964A9B-B395-4B61-BE5C-57566BCC176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D1FEF226-516B-4AB4-A87B-822D489A839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Accept, reject or need more?">
            <a:extLst xmlns:a="http://schemas.openxmlformats.org/drawingml/2006/main">
              <a:ext uri="{FF2B5EF4-FFF2-40B4-BE49-F238E27FC236}">
                <a16:creationId xmlns:a16="http://schemas.microsoft.com/office/drawing/2014/main" id="{5C70A3AD-641F-43F5-AA4C-F06A95E1607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Accept, reject or need more?</a:t>
            </a:r>
          </a:p>
        </p:txBody>
      </p:sp>
      <p:sp>
        <p:nvSpPr>
          <p:cNvPr id="8" name="surface">
            <a:extLst xmlns:a="http://schemas.openxmlformats.org/drawingml/2006/main">
              <a:ext uri="{FF2B5EF4-FFF2-40B4-BE49-F238E27FC236}">
                <a16:creationId xmlns:a16="http://schemas.microsoft.com/office/drawing/2014/main" id="{2DF58F02-9186-4065-9230-D54D02D2CBB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79031A2F-53BC-48C1-B62E-57D244D6759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7 / 14">
            <a:extLst xmlns:a="http://schemas.openxmlformats.org/drawingml/2006/main">
              <a:ext uri="{FF2B5EF4-FFF2-40B4-BE49-F238E27FC236}">
                <a16:creationId xmlns:a16="http://schemas.microsoft.com/office/drawing/2014/main" id="{A31036CA-43B1-4EE9-905F-FD61B6EC048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14</a:t>
            </a:r>
          </a:p>
        </p:txBody>
      </p:sp>
      <p:sp>
        <p:nvSpPr>
          <p:cNvPr id="11" name="D: a dark speck. E: bubbles as water enters. F: a damp sample le">
            <a:extLst xmlns:a="http://schemas.openxmlformats.org/drawingml/2006/main">
              <a:ext uri="{FF2B5EF4-FFF2-40B4-BE49-F238E27FC236}">
                <a16:creationId xmlns:a16="http://schemas.microsoft.com/office/drawing/2014/main" id="{F55416CE-0A24-4A7A-A9E3-B484FCC5ED1E}"/>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D: a dark speck. E: bubbles as water enters. F: a damp sample leaves a water mark.</a:t>
            </a:r>
          </a:p>
        </p:txBody>
      </p:sp>
      <p:graphicFrame>
        <p:nvGraphicFramePr>
          <p:cNvPr id="25" name=""/>
          <p:cNvGraphicFramePr/>
          <p:nvPr/>
        </p:nvGraphicFramePr>
        <p:xfrm>
          <a:off xmlns:a="http://schemas.openxmlformats.org/drawingml/2006/main" x="533400" y="2295525"/>
          <a:ext xmlns:a="http://schemas.openxmlformats.org/drawingml/2006/main" cx="11125200" cy="2021205"/>
        </p:xfrm>
        <a:graphic xmlns:a="http://schemas.openxmlformats.org/drawingml/2006/main">
          <a:graphicData uri="http://schemas.openxmlformats.org/drawingml/2006/table">
            <a:tbl>
              <a:tblPr firstRow="1" bandRow="0"/>
              <a:tblGrid>
                <a:gridCol w="5658535"/>
                <a:gridCol w="5466665"/>
              </a:tblGrid>
              <a:tr h="505301">
                <a:tc>
                  <a:txBody>
                    <a:bodyPr lIns="95250" tIns="95250" rIns="95250" bIns="95250"/>
                    <a:lstStyle/>
                    <a:p>
                      <a:pPr algn="l"/>
                      <a:r>
                        <a:rPr sz="2025" b="1">
                          <a:solidFill>
                            <a:srgbClr val="FFFFFF"/>
                          </a:solidFill>
                          <a:latin typeface="Nimbus Sans"/>
                          <a:ea typeface="Nimbus Sans"/>
                          <a:cs typeface="Nimbus Sans"/>
                        </a:rPr>
                        <a:t>Claim</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Our decision</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D must be organic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Accept / reject / need more?</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E supports air in pores</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Accept / reject / need more?</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F supports water in the sample</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Accept / reject / need more?</a:t>
                      </a:r>
                    </a:p>
                  </a:txBody>
                  <a:tcPr marL="95250" marR="95250" marT="95250" marB="95250" anchor="ctr">
                    <a:solidFill>
                      <a:srgbClr val="F4F7F9"/>
                    </a:solidFill>
                  </a:tcPr>
                </a:tc>
              </a:tr>
            </a:tbl>
          </a:graphicData>
        </a:graphic>
      </p:graphicFrame>
      <p:sp>
        <p:nvSpPr>
          <p:cNvPr id="13" name="Use evidence cards D–F">
            <a:extLst xmlns:a="http://schemas.openxmlformats.org/drawingml/2006/main">
              <a:ext uri="{FF2B5EF4-FFF2-40B4-BE49-F238E27FC236}">
                <a16:creationId xmlns:a16="http://schemas.microsoft.com/office/drawing/2014/main" id="{FAB9E979-108E-4EB1-92A1-8D77878E6E51}"/>
              </a:ext>
            </a:extLst>
          </p:cNvPr>
          <p:cNvSpPr>
            <a:spLocks xmlns:a="http://schemas.openxmlformats.org/drawingml/2006/main" noGrp="1"/>
          </p:cNvSpPr>
          <p:nvPr/>
        </p:nvSpPr>
        <p:spPr>
          <a:xfrm xmlns:a="http://schemas.openxmlformats.org/drawingml/2006/main">
            <a:off x="533400" y="443103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Use evidence cards D–F</a:t>
            </a:r>
          </a:p>
        </p:txBody>
      </p:sp>
    </p:spTree>
    <p:extLst>
      <p:ext uri="{BB962C8B-B14F-4D97-AF65-F5344CB8AC3E}">
        <p14:creationId xmlns:p14="http://schemas.microsoft.com/office/powerpoint/2010/main" val="4616924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C244DBA2-23CD-49A6-84D3-4F7C58D366E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76A23E5-5948-4297-B98E-B3663C4999B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15C9ADC-4A5D-47EC-AC01-FB808CDF016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4286E290-0741-4918-84A6-598121D0A13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Hinge">
            <a:extLst xmlns:a="http://schemas.openxmlformats.org/drawingml/2006/main">
              <a:ext uri="{FF2B5EF4-FFF2-40B4-BE49-F238E27FC236}">
                <a16:creationId xmlns:a16="http://schemas.microsoft.com/office/drawing/2014/main" id="{5445A740-0862-453F-B25C-A3F5E88CA83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72CB02EE-EA5A-4683-8ED1-F6B799F0617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account is best?">
            <a:extLst xmlns:a="http://schemas.openxmlformats.org/drawingml/2006/main">
              <a:ext uri="{FF2B5EF4-FFF2-40B4-BE49-F238E27FC236}">
                <a16:creationId xmlns:a16="http://schemas.microsoft.com/office/drawing/2014/main" id="{2FD81435-265F-4714-840B-5F3910F6489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account is best?</a:t>
            </a:r>
          </a:p>
        </p:txBody>
      </p:sp>
      <p:sp>
        <p:nvSpPr>
          <p:cNvPr id="8" name="surface">
            <a:extLst xmlns:a="http://schemas.openxmlformats.org/drawingml/2006/main">
              <a:ext uri="{FF2B5EF4-FFF2-40B4-BE49-F238E27FC236}">
                <a16:creationId xmlns:a16="http://schemas.microsoft.com/office/drawing/2014/main" id="{92BB09EE-28F5-43B0-98FC-08B292FFE78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166AF54F-A281-48AC-ACAD-76590E02F29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8 / 14">
            <a:extLst xmlns:a="http://schemas.openxmlformats.org/drawingml/2006/main">
              <a:ext uri="{FF2B5EF4-FFF2-40B4-BE49-F238E27FC236}">
                <a16:creationId xmlns:a16="http://schemas.microsoft.com/office/drawing/2014/main" id="{C85CED86-5872-4AE8-876A-BE0E5238D62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14</a:t>
            </a:r>
          </a:p>
        </p:txBody>
      </p:sp>
      <p:sp>
        <p:nvSpPr>
          <p:cNvPr id="11" name="Choose one. Be ready to explain.">
            <a:extLst xmlns:a="http://schemas.openxmlformats.org/drawingml/2006/main">
              <a:ext uri="{FF2B5EF4-FFF2-40B4-BE49-F238E27FC236}">
                <a16:creationId xmlns:a16="http://schemas.microsoft.com/office/drawing/2014/main" id="{4F33A855-E925-4825-A5ED-C0231CA1B5E4}"/>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Choose one. Be ready to explain.</a:t>
            </a:r>
          </a:p>
        </p:txBody>
      </p:sp>
      <p:sp>
        <p:nvSpPr>
          <p:cNvPr id="12" name="surface">
            <a:extLst xmlns:a="http://schemas.openxmlformats.org/drawingml/2006/main">
              <a:ext uri="{FF2B5EF4-FFF2-40B4-BE49-F238E27FC236}">
                <a16:creationId xmlns:a16="http://schemas.microsoft.com/office/drawing/2014/main" id="{09AF19D3-0050-42A7-82BC-09EDC972E4C6}"/>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F5BB189F-C93F-4194-B408-8A74F0E599D6}"/>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70FED855-EFAC-4EC6-BCB3-79CAC82BA396}"/>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Soil is only ground-up rock.">
            <a:extLst xmlns:a="http://schemas.openxmlformats.org/drawingml/2006/main">
              <a:ext uri="{FF2B5EF4-FFF2-40B4-BE49-F238E27FC236}">
                <a16:creationId xmlns:a16="http://schemas.microsoft.com/office/drawing/2014/main" id="{EF99FB42-6006-48FB-AD0D-1F1E7011B528}"/>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Soil is only ground-up rock.</a:t>
            </a:r>
          </a:p>
        </p:txBody>
      </p:sp>
      <p:sp>
        <p:nvSpPr>
          <p:cNvPr id="16" name="surface">
            <a:extLst xmlns:a="http://schemas.openxmlformats.org/drawingml/2006/main">
              <a:ext uri="{FF2B5EF4-FFF2-40B4-BE49-F238E27FC236}">
                <a16:creationId xmlns:a16="http://schemas.microsoft.com/office/drawing/2014/main" id="{A9B6A672-E1FD-4738-A69F-D521ED7CAAA9}"/>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0E20730F-42CD-449F-BE63-E9078C7540F5}"/>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B59E12E6-64B0-4717-8CBD-1EB1EF41A054}"/>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Soil contains mineral and organic material; pores can contain ai">
            <a:extLst xmlns:a="http://schemas.openxmlformats.org/drawingml/2006/main">
              <a:ext uri="{FF2B5EF4-FFF2-40B4-BE49-F238E27FC236}">
                <a16:creationId xmlns:a16="http://schemas.microsoft.com/office/drawing/2014/main" id="{0007B2AD-76EC-44FB-A64D-636706B1387F}"/>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Soil contains mineral and organic material; pores can contain air and water.</a:t>
            </a:r>
          </a:p>
        </p:txBody>
      </p:sp>
      <p:sp>
        <p:nvSpPr>
          <p:cNvPr id="20" name="surface">
            <a:extLst xmlns:a="http://schemas.openxmlformats.org/drawingml/2006/main">
              <a:ext uri="{FF2B5EF4-FFF2-40B4-BE49-F238E27FC236}">
                <a16:creationId xmlns:a16="http://schemas.microsoft.com/office/drawing/2014/main" id="{E024FFA8-C8C8-48C6-9EA3-CFC57382659F}"/>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F926057D-3DD6-4F30-8E5C-8FDC2038348B}"/>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C98CFB2B-DFEC-4617-A003-78763F916869}"/>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Every dark speck is a dead plant.">
            <a:extLst xmlns:a="http://schemas.openxmlformats.org/drawingml/2006/main">
              <a:ext uri="{FF2B5EF4-FFF2-40B4-BE49-F238E27FC236}">
                <a16:creationId xmlns:a16="http://schemas.microsoft.com/office/drawing/2014/main" id="{2B64481F-DAF5-4E1E-9509-A2618D872CE9}"/>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Every dark speck is a dead plant.</a:t>
            </a:r>
          </a:p>
        </p:txBody>
      </p:sp>
    </p:spTree>
    <p:extLst>
      <p:ext uri="{BB962C8B-B14F-4D97-AF65-F5344CB8AC3E}">
        <p14:creationId xmlns:p14="http://schemas.microsoft.com/office/powerpoint/2010/main" val="15294876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AFE49F6D-3C2A-42FF-90FB-AB4A0437482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A5281B7-141E-4E73-9880-32E738B8200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3E555CB-007D-4DD6-A583-D3A249A6E26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98075FEE-BF99-4FB8-A8B4-1722B497991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530F497A-EFC7-4733-B71D-91F00DC601E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2 min">
            <a:extLst xmlns:a="http://schemas.openxmlformats.org/drawingml/2006/main">
              <a:ext uri="{FF2B5EF4-FFF2-40B4-BE49-F238E27FC236}">
                <a16:creationId xmlns:a16="http://schemas.microsoft.com/office/drawing/2014/main" id="{A5B9E6E3-C0C9-4106-80DC-788CA5671DD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hoose your evidence route">
            <a:extLst xmlns:a="http://schemas.openxmlformats.org/drawingml/2006/main">
              <a:ext uri="{FF2B5EF4-FFF2-40B4-BE49-F238E27FC236}">
                <a16:creationId xmlns:a16="http://schemas.microsoft.com/office/drawing/2014/main" id="{E6BB035B-7981-4913-BC98-0FFFD085391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your evidence route</a:t>
            </a:r>
          </a:p>
        </p:txBody>
      </p:sp>
      <p:sp>
        <p:nvSpPr>
          <p:cNvPr id="8" name="surface">
            <a:extLst xmlns:a="http://schemas.openxmlformats.org/drawingml/2006/main">
              <a:ext uri="{FF2B5EF4-FFF2-40B4-BE49-F238E27FC236}">
                <a16:creationId xmlns:a16="http://schemas.microsoft.com/office/drawing/2014/main" id="{EA4BF07D-9E8D-4E31-89FD-5DA6B03B97C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7BA6B125-BAAC-4EE4-8DD9-B875D7507E5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9 / 14">
            <a:extLst xmlns:a="http://schemas.openxmlformats.org/drawingml/2006/main">
              <a:ext uri="{FF2B5EF4-FFF2-40B4-BE49-F238E27FC236}">
                <a16:creationId xmlns:a16="http://schemas.microsoft.com/office/drawing/2014/main" id="{942539ED-1BC5-4769-847D-0367F25999B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14</a:t>
            </a:r>
          </a:p>
        </p:txBody>
      </p:sp>
      <p:sp>
        <p:nvSpPr>
          <p:cNvPr id="11" name="Match and explain.">
            <a:extLst xmlns:a="http://schemas.openxmlformats.org/drawingml/2006/main">
              <a:ext uri="{FF2B5EF4-FFF2-40B4-BE49-F238E27FC236}">
                <a16:creationId xmlns:a16="http://schemas.microsoft.com/office/drawing/2014/main" id="{948BFDA8-DCAB-4526-A173-7C0F685472EC}"/>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Match and explain.</a:t>
            </a:r>
          </a:p>
        </p:txBody>
      </p:sp>
      <p:sp>
        <p:nvSpPr>
          <p:cNvPr id="12" name="Record and explain.">
            <a:extLst xmlns:a="http://schemas.openxmlformats.org/drawingml/2006/main">
              <a:ext uri="{FF2B5EF4-FFF2-40B4-BE49-F238E27FC236}">
                <a16:creationId xmlns:a16="http://schemas.microsoft.com/office/drawing/2014/main" id="{36F91901-89E9-4E9D-BC80-F6F55E8EC480}"/>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Record and explain.</a:t>
            </a:r>
          </a:p>
        </p:txBody>
      </p:sp>
      <p:sp>
        <p:nvSpPr>
          <p:cNvPr id="13" name="Challenge a model.">
            <a:extLst xmlns:a="http://schemas.openxmlformats.org/drawingml/2006/main">
              <a:ext uri="{FF2B5EF4-FFF2-40B4-BE49-F238E27FC236}">
                <a16:creationId xmlns:a16="http://schemas.microsoft.com/office/drawing/2014/main" id="{6111FED0-304A-4216-BA3F-3FB5010AE439}"/>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Challenge a model.</a:t>
            </a:r>
          </a:p>
        </p:txBody>
      </p:sp>
    </p:spTree>
    <p:extLst>
      <p:ext uri="{BB962C8B-B14F-4D97-AF65-F5344CB8AC3E}">
        <p14:creationId xmlns:p14="http://schemas.microsoft.com/office/powerpoint/2010/main" val="12599859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00AB40E-BD9A-45EE-A775-44533C8A222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DCEC6FE-C7B2-4263-9D93-0CC56914078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2B51B6B-7D82-4613-90E0-278F416146A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7B68BC01-C042-48B0-8032-BE3467FC96A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DA8A7F72-B0C7-414D-A770-5CFF656DCDB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Look closely; keep a trace">
            <a:extLst xmlns:a="http://schemas.openxmlformats.org/drawingml/2006/main">
              <a:ext uri="{FF2B5EF4-FFF2-40B4-BE49-F238E27FC236}">
                <a16:creationId xmlns:a16="http://schemas.microsoft.com/office/drawing/2014/main" id="{A30FBE07-AEB7-4D0D-B27E-214910A9432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Look closely; keep a trace</a:t>
            </a:r>
          </a:p>
        </p:txBody>
      </p:sp>
      <p:sp>
        <p:nvSpPr>
          <p:cNvPr id="7" name="surface">
            <a:extLst xmlns:a="http://schemas.openxmlformats.org/drawingml/2006/main">
              <a:ext uri="{FF2B5EF4-FFF2-40B4-BE49-F238E27FC236}">
                <a16:creationId xmlns:a16="http://schemas.microsoft.com/office/drawing/2014/main" id="{512ED357-B299-4821-B3A9-2CBC8DB7214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oil: what is in the mix?">
            <a:extLst xmlns:a="http://schemas.openxmlformats.org/drawingml/2006/main">
              <a:ext uri="{FF2B5EF4-FFF2-40B4-BE49-F238E27FC236}">
                <a16:creationId xmlns:a16="http://schemas.microsoft.com/office/drawing/2014/main" id="{91034D03-74EB-4205-B0AE-20243740868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9" name="10 / 14">
            <a:extLst xmlns:a="http://schemas.openxmlformats.org/drawingml/2006/main">
              <a:ext uri="{FF2B5EF4-FFF2-40B4-BE49-F238E27FC236}">
                <a16:creationId xmlns:a16="http://schemas.microsoft.com/office/drawing/2014/main" id="{CB826A8D-B4AB-4A40-9181-A3B13A1CCC8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14</a:t>
            </a:r>
          </a:p>
        </p:txBody>
      </p:sp>
      <p:sp>
        <p:nvSpPr>
          <p:cNvPr id="10" name="Use cards or a screened sample.">
            <a:extLst xmlns:a="http://schemas.openxmlformats.org/drawingml/2006/main">
              <a:ext uri="{FF2B5EF4-FFF2-40B4-BE49-F238E27FC236}">
                <a16:creationId xmlns:a16="http://schemas.microsoft.com/office/drawing/2014/main" id="{D30178AD-DC21-43EB-8894-36A4D8F07583}"/>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cards or a screened sample.</a:t>
            </a:r>
          </a:p>
        </p:txBody>
      </p:sp>
      <p:sp>
        <p:nvSpPr>
          <p:cNvPr id="11" name="Draw or name one thing you notice.">
            <a:extLst xmlns:a="http://schemas.openxmlformats.org/drawingml/2006/main">
              <a:ext uri="{FF2B5EF4-FFF2-40B4-BE49-F238E27FC236}">
                <a16:creationId xmlns:a16="http://schemas.microsoft.com/office/drawing/2014/main" id="{5BCD94DB-5B25-44A8-8FE4-DAFA6CCD9960}"/>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Draw or name one thing you notice.</a:t>
            </a:r>
          </a:p>
        </p:txBody>
      </p:sp>
      <p:sp>
        <p:nvSpPr>
          <p:cNvPr id="12" name="Say what the evidence supports.">
            <a:extLst xmlns:a="http://schemas.openxmlformats.org/drawingml/2006/main">
              <a:ext uri="{FF2B5EF4-FFF2-40B4-BE49-F238E27FC236}">
                <a16:creationId xmlns:a16="http://schemas.microsoft.com/office/drawing/2014/main" id="{D5FC1462-163D-4B01-B876-A719DD0A09B5}"/>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Say what the evidence supports.</a:t>
            </a:r>
          </a:p>
        </p:txBody>
      </p:sp>
    </p:spTree>
    <p:extLst>
      <p:ext uri="{BB962C8B-B14F-4D97-AF65-F5344CB8AC3E}">
        <p14:creationId xmlns:p14="http://schemas.microsoft.com/office/powerpoint/2010/main" val="3990873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5F7B7FAC-2E54-4D8E-A163-219BAD1D2E9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CFC06FD-09A5-42EA-9AB3-69239999571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ED9FBFE-DD2C-4F42-A083-1E4A19A0E6B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DBCDC7F8-E198-45B8-A65C-875DB4DFCCD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03D78691-B691-4C4A-A7FD-818CA22905B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A231D232-8197-4794-BA25-D1453A6F856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Build your explanation">
            <a:extLst xmlns:a="http://schemas.openxmlformats.org/drawingml/2006/main">
              <a:ext uri="{FF2B5EF4-FFF2-40B4-BE49-F238E27FC236}">
                <a16:creationId xmlns:a16="http://schemas.microsoft.com/office/drawing/2014/main" id="{8A2BC64C-CABD-4985-AE2B-75B6CA1832B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Build your explanation</a:t>
            </a:r>
          </a:p>
        </p:txBody>
      </p:sp>
      <p:sp>
        <p:nvSpPr>
          <p:cNvPr id="8" name="surface">
            <a:extLst xmlns:a="http://schemas.openxmlformats.org/drawingml/2006/main">
              <a:ext uri="{FF2B5EF4-FFF2-40B4-BE49-F238E27FC236}">
                <a16:creationId xmlns:a16="http://schemas.microsoft.com/office/drawing/2014/main" id="{B1E7171F-E6B3-4CE4-B106-A931289F707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D6F55EC5-4BFB-460C-BF3D-55FF5430AD9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11 / 14">
            <a:extLst xmlns:a="http://schemas.openxmlformats.org/drawingml/2006/main">
              <a:ext uri="{FF2B5EF4-FFF2-40B4-BE49-F238E27FC236}">
                <a16:creationId xmlns:a16="http://schemas.microsoft.com/office/drawing/2014/main" id="{C88B7023-3F17-4C30-ADAA-DB806D1F840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14</a:t>
            </a:r>
          </a:p>
        </p:txBody>
      </p:sp>
      <p:sp>
        <p:nvSpPr>
          <p:cNvPr id="11" name="Soil has mineral material such as __.">
            <a:extLst xmlns:a="http://schemas.openxmlformats.org/drawingml/2006/main">
              <a:ext uri="{FF2B5EF4-FFF2-40B4-BE49-F238E27FC236}">
                <a16:creationId xmlns:a16="http://schemas.microsoft.com/office/drawing/2014/main" id="{97B822BD-EF4D-4476-B1A2-F067FD8F8920}"/>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Soil has mineral material such as __.</a:t>
            </a:r>
          </a:p>
        </p:txBody>
      </p:sp>
      <p:sp>
        <p:nvSpPr>
          <p:cNvPr id="12" name="It has organic material such as __.">
            <a:extLst xmlns:a="http://schemas.openxmlformats.org/drawingml/2006/main">
              <a:ext uri="{FF2B5EF4-FFF2-40B4-BE49-F238E27FC236}">
                <a16:creationId xmlns:a16="http://schemas.microsoft.com/office/drawing/2014/main" id="{0363B475-1021-4E58-9BB3-C0641F8884F1}"/>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It has organic material such as __.</a:t>
            </a:r>
          </a:p>
        </p:txBody>
      </p:sp>
      <p:sp>
        <p:nvSpPr>
          <p:cNvPr id="13" name="One clue is __.">
            <a:extLst xmlns:a="http://schemas.openxmlformats.org/drawingml/2006/main">
              <a:ext uri="{FF2B5EF4-FFF2-40B4-BE49-F238E27FC236}">
                <a16:creationId xmlns:a16="http://schemas.microsoft.com/office/drawing/2014/main" id="{ECB66239-DD0B-41CE-A825-06F6E29D3FA2}"/>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One clue is __.</a:t>
            </a:r>
          </a:p>
        </p:txBody>
      </p:sp>
      <p:sp>
        <p:nvSpPr>
          <p:cNvPr id="14" name="surface">
            <a:extLst xmlns:a="http://schemas.openxmlformats.org/drawingml/2006/main">
              <a:ext uri="{FF2B5EF4-FFF2-40B4-BE49-F238E27FC236}">
                <a16:creationId xmlns:a16="http://schemas.microsoft.com/office/drawing/2014/main" id="{4BBABF1C-FD9D-4ADD-A7C1-4F473551356E}"/>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041C9B7F-4437-4700-9867-D6091F44B156}"/>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16" name="What can you say with confidence?">
            <a:extLst xmlns:a="http://schemas.openxmlformats.org/drawingml/2006/main">
              <a:ext uri="{FF2B5EF4-FFF2-40B4-BE49-F238E27FC236}">
                <a16:creationId xmlns:a16="http://schemas.microsoft.com/office/drawing/2014/main" id="{1BD051EA-1F80-44AB-98AB-3D5C8148C13A}"/>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D8A63B"/>
                </a:solidFill>
                <a:latin typeface="Nimbus Sans"/>
                <a:ea typeface="Nimbus Sans"/>
                <a:cs typeface="Nimbus Sans"/>
              </a:defRPr>
            </a:pPr>
            <a:r>
              <a:rPr sz="2175" b="1">
                <a:solidFill>
                  <a:srgbClr val="D8A63B"/>
                </a:solidFill>
                <a:latin typeface="Nimbus Sans"/>
                <a:ea typeface="Nimbus Sans"/>
                <a:cs typeface="Nimbus Sans"/>
              </a:rPr>
              <a:t>What can you say with confidence?</a:t>
            </a:r>
          </a:p>
        </p:txBody>
      </p:sp>
    </p:spTree>
    <p:extLst>
      <p:ext uri="{BB962C8B-B14F-4D97-AF65-F5344CB8AC3E}">
        <p14:creationId xmlns:p14="http://schemas.microsoft.com/office/powerpoint/2010/main" val="9333339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DE526C91-0235-4E0B-B6F6-8D9D40100C7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5A170FD-893A-4AC3-B869-2710E46FFAC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D58FC97-A0B0-4842-A935-5CF8A7B1049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BB5E3D7-CE16-4249-AD72-040BB4B104F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3DF86936-CD37-4420-8A1D-3056BCBD787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your account">
            <a:extLst xmlns:a="http://schemas.openxmlformats.org/drawingml/2006/main">
              <a:ext uri="{FF2B5EF4-FFF2-40B4-BE49-F238E27FC236}">
                <a16:creationId xmlns:a16="http://schemas.microsoft.com/office/drawing/2014/main" id="{E852E144-2846-45F9-B198-4F35FE59296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your account</a:t>
            </a:r>
          </a:p>
        </p:txBody>
      </p:sp>
      <p:sp>
        <p:nvSpPr>
          <p:cNvPr id="7" name="surface">
            <a:extLst xmlns:a="http://schemas.openxmlformats.org/drawingml/2006/main">
              <a:ext uri="{FF2B5EF4-FFF2-40B4-BE49-F238E27FC236}">
                <a16:creationId xmlns:a16="http://schemas.microsoft.com/office/drawing/2014/main" id="{3C0D6BD6-56FA-458F-8A4B-1EAC96E21C5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oil: what is in the mix?">
            <a:extLst xmlns:a="http://schemas.openxmlformats.org/drawingml/2006/main">
              <a:ext uri="{FF2B5EF4-FFF2-40B4-BE49-F238E27FC236}">
                <a16:creationId xmlns:a16="http://schemas.microsoft.com/office/drawing/2014/main" id="{F22BD3AD-810A-4158-8246-D73594C16A8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9" name="12 / 14">
            <a:extLst xmlns:a="http://schemas.openxmlformats.org/drawingml/2006/main">
              <a:ext uri="{FF2B5EF4-FFF2-40B4-BE49-F238E27FC236}">
                <a16:creationId xmlns:a16="http://schemas.microsoft.com/office/drawing/2014/main" id="{FD448791-973C-408C-AC61-9F1D417099E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14</a:t>
            </a:r>
          </a:p>
        </p:txBody>
      </p:sp>
      <p:sp>
        <p:nvSpPr>
          <p:cNvPr id="10" name="Have I named both kinds of material?">
            <a:extLst xmlns:a="http://schemas.openxmlformats.org/drawingml/2006/main">
              <a:ext uri="{FF2B5EF4-FFF2-40B4-BE49-F238E27FC236}">
                <a16:creationId xmlns:a16="http://schemas.microsoft.com/office/drawing/2014/main" id="{94519D7F-039B-4024-A4E3-C7CB0F44A69C}"/>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named both kinds of material?</a:t>
            </a:r>
          </a:p>
        </p:txBody>
      </p:sp>
      <p:sp>
        <p:nvSpPr>
          <p:cNvPr id="11" name="Have I used a clue?">
            <a:extLst xmlns:a="http://schemas.openxmlformats.org/drawingml/2006/main">
              <a:ext uri="{FF2B5EF4-FFF2-40B4-BE49-F238E27FC236}">
                <a16:creationId xmlns:a16="http://schemas.microsoft.com/office/drawing/2014/main" id="{A7EA1EC6-03A3-45DC-8855-BE2CFE804F6E}"/>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used a clue?</a:t>
            </a:r>
          </a:p>
        </p:txBody>
      </p:sp>
      <p:sp>
        <p:nvSpPr>
          <p:cNvPr id="12" name="Have I kept an uncertain grain uncertain?">
            <a:extLst xmlns:a="http://schemas.openxmlformats.org/drawingml/2006/main">
              <a:ext uri="{FF2B5EF4-FFF2-40B4-BE49-F238E27FC236}">
                <a16:creationId xmlns:a16="http://schemas.microsoft.com/office/drawing/2014/main" id="{6A300216-D832-4056-9F21-F87883523C77}"/>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kept an uncertain grain uncertain?</a:t>
            </a:r>
          </a:p>
        </p:txBody>
      </p:sp>
    </p:spTree>
    <p:extLst>
      <p:ext uri="{BB962C8B-B14F-4D97-AF65-F5344CB8AC3E}">
        <p14:creationId xmlns:p14="http://schemas.microsoft.com/office/powerpoint/2010/main" val="6146153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CA1FC59B-F2A6-403E-BF6E-74414BBDD95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D108BC6-3434-433A-BAC3-75A9B98B5A3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D7FB762-DAF8-4EC7-B866-94C98B66E10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60952D7F-B63D-4A49-B616-9B06AAEDB6C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98079B68-8DF5-4BDD-9656-67A52B37145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DB6DD50A-7844-4F4E-8338-6B33992C8F3F}"/>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Lundy loop: use your evidence">
            <a:extLst xmlns:a="http://schemas.openxmlformats.org/drawingml/2006/main">
              <a:ext uri="{FF2B5EF4-FFF2-40B4-BE49-F238E27FC236}">
                <a16:creationId xmlns:a16="http://schemas.microsoft.com/office/drawing/2014/main" id="{A3BAD1A3-E02B-435D-B789-DFF20B6947C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Lundy loop: use your evidence</a:t>
            </a:r>
          </a:p>
        </p:txBody>
      </p:sp>
      <p:sp>
        <p:nvSpPr>
          <p:cNvPr id="8" name="surface">
            <a:extLst xmlns:a="http://schemas.openxmlformats.org/drawingml/2006/main">
              <a:ext uri="{FF2B5EF4-FFF2-40B4-BE49-F238E27FC236}">
                <a16:creationId xmlns:a16="http://schemas.microsoft.com/office/drawing/2014/main" id="{A16895C1-137F-4D28-ADC2-E53AD956B7E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83F9C6D3-4B4C-4EF1-812F-11EBB527675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13 / 14">
            <a:extLst xmlns:a="http://schemas.openxmlformats.org/drawingml/2006/main">
              <a:ext uri="{FF2B5EF4-FFF2-40B4-BE49-F238E27FC236}">
                <a16:creationId xmlns:a16="http://schemas.microsoft.com/office/drawing/2014/main" id="{1C067899-927F-4438-82FB-AB84C609A6D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14</a:t>
            </a:r>
          </a:p>
        </p:txBody>
      </p:sp>
      <p:sp>
        <p:nvSpPr>
          <p:cNvPr id="11" name="Space: choose how to respond.">
            <a:extLst xmlns:a="http://schemas.openxmlformats.org/drawingml/2006/main">
              <a:ext uri="{FF2B5EF4-FFF2-40B4-BE49-F238E27FC236}">
                <a16:creationId xmlns:a16="http://schemas.microsoft.com/office/drawing/2014/main" id="{37D27410-A7E2-49E7-A642-31713BC0CD64}"/>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Space: choose how to respond.</a:t>
            </a:r>
          </a:p>
        </p:txBody>
      </p:sp>
      <p:sp>
        <p:nvSpPr>
          <p:cNvPr id="12" name="Voice: share one clue.">
            <a:extLst xmlns:a="http://schemas.openxmlformats.org/drawingml/2006/main">
              <a:ext uri="{FF2B5EF4-FFF2-40B4-BE49-F238E27FC236}">
                <a16:creationId xmlns:a16="http://schemas.microsoft.com/office/drawing/2014/main" id="{4A3A52B3-53EC-455D-96C9-84A8D1365A3A}"/>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Voice: share one clue.</a:t>
            </a:r>
          </a:p>
        </p:txBody>
      </p:sp>
      <p:sp>
        <p:nvSpPr>
          <p:cNvPr id="13" name="Influence: improve our soil model.">
            <a:extLst xmlns:a="http://schemas.openxmlformats.org/drawingml/2006/main">
              <a:ext uri="{FF2B5EF4-FFF2-40B4-BE49-F238E27FC236}">
                <a16:creationId xmlns:a16="http://schemas.microsoft.com/office/drawing/2014/main" id="{FA506792-4F76-4B8C-AE0A-A0D3276FBB4A}"/>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Influence: improve our soil model.</a:t>
            </a:r>
          </a:p>
        </p:txBody>
      </p:sp>
      <p:sp>
        <p:nvSpPr>
          <p:cNvPr id="14" name="surface">
            <a:extLst xmlns:a="http://schemas.openxmlformats.org/drawingml/2006/main">
              <a:ext uri="{FF2B5EF4-FFF2-40B4-BE49-F238E27FC236}">
                <a16:creationId xmlns:a16="http://schemas.microsoft.com/office/drawing/2014/main" id="{1271D556-A5D4-4BF7-B55A-0504BBF74132}"/>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14AD297B-3F65-4C85-A2D4-087615178C30}"/>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6" name="Which part must we add to a rock-only model?">
            <a:extLst xmlns:a="http://schemas.openxmlformats.org/drawingml/2006/main">
              <a:ext uri="{FF2B5EF4-FFF2-40B4-BE49-F238E27FC236}">
                <a16:creationId xmlns:a16="http://schemas.microsoft.com/office/drawing/2014/main" id="{6ACF2B59-08B0-4451-8F34-A2C15849C0F5}"/>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Which part must we add to a rock-only model?</a:t>
            </a:r>
          </a:p>
        </p:txBody>
      </p:sp>
    </p:spTree>
    <p:extLst>
      <p:ext uri="{BB962C8B-B14F-4D97-AF65-F5344CB8AC3E}">
        <p14:creationId xmlns:p14="http://schemas.microsoft.com/office/powerpoint/2010/main" val="20531437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4752A368-D106-4EEC-9692-08C727CBA7E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B1A7827-A3EB-43CB-BC52-16EC140D292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87B10F3-CD0C-49AA-8908-9929F1D5B5A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8DC652D4-A7F3-4500-ADD1-67CAAE5DB5A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Exit">
            <a:extLst xmlns:a="http://schemas.openxmlformats.org/drawingml/2006/main">
              <a:ext uri="{FF2B5EF4-FFF2-40B4-BE49-F238E27FC236}">
                <a16:creationId xmlns:a16="http://schemas.microsoft.com/office/drawing/2014/main" id="{D49D319A-4698-4F31-9B2E-6DFB869FCD7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D1CCE48A-4254-479F-BA73-885C5BC0935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hree small checks">
            <a:extLst xmlns:a="http://schemas.openxmlformats.org/drawingml/2006/main">
              <a:ext uri="{FF2B5EF4-FFF2-40B4-BE49-F238E27FC236}">
                <a16:creationId xmlns:a16="http://schemas.microsoft.com/office/drawing/2014/main" id="{6D5A51F8-D44E-4D2A-9814-632D9FD02CC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small checks</a:t>
            </a:r>
          </a:p>
        </p:txBody>
      </p:sp>
      <p:sp>
        <p:nvSpPr>
          <p:cNvPr id="8" name="surface">
            <a:extLst xmlns:a="http://schemas.openxmlformats.org/drawingml/2006/main">
              <a:ext uri="{FF2B5EF4-FFF2-40B4-BE49-F238E27FC236}">
                <a16:creationId xmlns:a16="http://schemas.microsoft.com/office/drawing/2014/main" id="{3D529E7A-E7BE-42D7-A1CA-0B9E43441BB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what is in the mix?">
            <a:extLst xmlns:a="http://schemas.openxmlformats.org/drawingml/2006/main">
              <a:ext uri="{FF2B5EF4-FFF2-40B4-BE49-F238E27FC236}">
                <a16:creationId xmlns:a16="http://schemas.microsoft.com/office/drawing/2014/main" id="{53A62B7D-320F-4FB2-B73A-4ACFA4186CA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what is in the mix?</a:t>
            </a:r>
          </a:p>
        </p:txBody>
      </p:sp>
      <p:sp>
        <p:nvSpPr>
          <p:cNvPr id="10" name="14 / 14">
            <a:extLst xmlns:a="http://schemas.openxmlformats.org/drawingml/2006/main">
              <a:ext uri="{FF2B5EF4-FFF2-40B4-BE49-F238E27FC236}">
                <a16:creationId xmlns:a16="http://schemas.microsoft.com/office/drawing/2014/main" id="{EBC2D8C6-6310-42AF-AD24-A1A3DC1CDE8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14</a:t>
            </a:r>
          </a:p>
        </p:txBody>
      </p:sp>
      <p:sp>
        <p:nvSpPr>
          <p:cNvPr id="11" name="E1. Name one mineral example.">
            <a:extLst xmlns:a="http://schemas.openxmlformats.org/drawingml/2006/main">
              <a:ext uri="{FF2B5EF4-FFF2-40B4-BE49-F238E27FC236}">
                <a16:creationId xmlns:a16="http://schemas.microsoft.com/office/drawing/2014/main" id="{43D93531-0E53-4679-9F40-570DD8B20C4A}"/>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E1. Name one mineral example.</a:t>
            </a:r>
          </a:p>
        </p:txBody>
      </p:sp>
      <p:sp>
        <p:nvSpPr>
          <p:cNvPr id="12" name="E2. Name one organic example.">
            <a:extLst xmlns:a="http://schemas.openxmlformats.org/drawingml/2006/main">
              <a:ext uri="{FF2B5EF4-FFF2-40B4-BE49-F238E27FC236}">
                <a16:creationId xmlns:a16="http://schemas.microsoft.com/office/drawing/2014/main" id="{960F969D-6551-4020-9F46-DFFC6029102A}"/>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E2. Name one organic example.</a:t>
            </a:r>
          </a:p>
        </p:txBody>
      </p:sp>
      <p:sp>
        <p:nvSpPr>
          <p:cNvPr id="13" name="E3. What can fill a soil pore?">
            <a:extLst xmlns:a="http://schemas.openxmlformats.org/drawingml/2006/main">
              <a:ext uri="{FF2B5EF4-FFF2-40B4-BE49-F238E27FC236}">
                <a16:creationId xmlns:a16="http://schemas.microsoft.com/office/drawing/2014/main" id="{2017A99B-1493-4C3E-AEC0-4088261CD1F4}"/>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E3. What can fill a soil pore?</a:t>
            </a:r>
          </a:p>
        </p:txBody>
      </p:sp>
    </p:spTree>
    <p:extLst>
      <p:ext uri="{BB962C8B-B14F-4D97-AF65-F5344CB8AC3E}">
        <p14:creationId xmlns:p14="http://schemas.microsoft.com/office/powerpoint/2010/main" val="1867533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2026-09-08T22:32:48.5810000Z</dcterms:created>
  <dcterms:modified xsi:type="dcterms:W3CDTF">2026-09-08T22:32:48.5810000Z</dcterms:modified>
</coreProperties>
</file>