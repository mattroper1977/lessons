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73e973eeb4494" /><Relationship Type="http://schemas.openxmlformats.org/officeDocument/2006/relationships/extended-properties" Target="/docProps/app.xml" Id="R653db0f9d2bc411f" /><Relationship Type="http://schemas.openxmlformats.org/officeDocument/2006/relationships/officeDocument" Target="/ppt/presentation.xml" Id="Rd5bd502fc2354c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264886aa94fd4"/>
  </p:sldMasterIdLst>
  <p:notesMasterIdLst>
    <p:notesMasterId xmlns:r="http://schemas.openxmlformats.org/officeDocument/2006/relationships" r:id="R40d63b1390c74fda"/>
  </p:notesMasterIdLst>
  <p:sldIdLst>
    <p:sldId xmlns:r="http://schemas.openxmlformats.org/officeDocument/2006/relationships" id="256" r:id="R0d5fa5b78df345a0"/>
    <p:sldId xmlns:r="http://schemas.openxmlformats.org/officeDocument/2006/relationships" id="257" r:id="R45d75ef3062d4e04"/>
    <p:sldId xmlns:r="http://schemas.openxmlformats.org/officeDocument/2006/relationships" id="258" r:id="R9dfc53e963c0435f"/>
    <p:sldId xmlns:r="http://schemas.openxmlformats.org/officeDocument/2006/relationships" id="259" r:id="R23f975aa982044bd"/>
    <p:sldId xmlns:r="http://schemas.openxmlformats.org/officeDocument/2006/relationships" id="260" r:id="R935e55d7b8074bf4"/>
    <p:sldId xmlns:r="http://schemas.openxmlformats.org/officeDocument/2006/relationships" id="261" r:id="Rf75db47ebc3f48cf"/>
    <p:sldId xmlns:r="http://schemas.openxmlformats.org/officeDocument/2006/relationships" id="262" r:id="R1a3cd6b4134849f1"/>
    <p:sldId xmlns:r="http://schemas.openxmlformats.org/officeDocument/2006/relationships" id="263" r:id="R0afe09190c4e49d7"/>
    <p:sldId xmlns:r="http://schemas.openxmlformats.org/officeDocument/2006/relationships" id="264" r:id="Rc4860d76318c49a9"/>
    <p:sldId xmlns:r="http://schemas.openxmlformats.org/officeDocument/2006/relationships" id="265" r:id="R35f75e017b644b6f"/>
    <p:sldId xmlns:r="http://schemas.openxmlformats.org/officeDocument/2006/relationships" id="266" r:id="R2f6f8c59ab4049ee"/>
    <p:sldId xmlns:r="http://schemas.openxmlformats.org/officeDocument/2006/relationships" id="267" r:id="Rac8670c23a544f47"/>
    <p:sldId xmlns:r="http://schemas.openxmlformats.org/officeDocument/2006/relationships" id="268" r:id="R992786df93f8409a"/>
    <p:sldId xmlns:r="http://schemas.openxmlformats.org/officeDocument/2006/relationships" id="269" r:id="R3d9c920153f74129"/>
    <p:sldId xmlns:r="http://schemas.openxmlformats.org/officeDocument/2006/relationships" id="270" r:id="R1201cb310a43405f"/>
    <p:sldId xmlns:r="http://schemas.openxmlformats.org/officeDocument/2006/relationships" id="271" r:id="R6bdf1ae791c54123"/>
    <p:sldId xmlns:r="http://schemas.openxmlformats.org/officeDocument/2006/relationships" id="272" r:id="Rb20231ab76b146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986bb77554e63" /><Relationship Type="http://schemas.openxmlformats.org/officeDocument/2006/relationships/slideMaster" Target="/ppt/slideMasters/slideMaster1.xml" Id="R4a8264886aa94fd4" /><Relationship Type="http://schemas.openxmlformats.org/officeDocument/2006/relationships/notesMaster" Target="/ppt/notesMasters/notesMaster1.xml" Id="R40d63b1390c74fda" /><Relationship Type="http://schemas.openxmlformats.org/officeDocument/2006/relationships/presProps" Target="/ppt/presProps.xml" Id="Rca5e673d970a42ab" /><Relationship Type="http://schemas.openxmlformats.org/officeDocument/2006/relationships/tableStyles" Target="/ppt/tableStyles.xml" Id="R88fcd8fbf4db4382" /><Relationship Type="http://schemas.openxmlformats.org/officeDocument/2006/relationships/slide" Target="/ppt/slides/slide1.xml" Id="R0d5fa5b78df345a0" /><Relationship Type="http://schemas.openxmlformats.org/officeDocument/2006/relationships/slide" Target="/ppt/slides/slide2.xml" Id="R45d75ef3062d4e04" /><Relationship Type="http://schemas.openxmlformats.org/officeDocument/2006/relationships/slide" Target="/ppt/slides/slide3.xml" Id="R9dfc53e963c0435f" /><Relationship Type="http://schemas.openxmlformats.org/officeDocument/2006/relationships/slide" Target="/ppt/slides/slide4.xml" Id="R23f975aa982044bd" /><Relationship Type="http://schemas.openxmlformats.org/officeDocument/2006/relationships/slide" Target="/ppt/slides/slide5.xml" Id="R935e55d7b8074bf4" /><Relationship Type="http://schemas.openxmlformats.org/officeDocument/2006/relationships/slide" Target="/ppt/slides/slide6.xml" Id="Rf75db47ebc3f48cf" /><Relationship Type="http://schemas.openxmlformats.org/officeDocument/2006/relationships/slide" Target="/ppt/slides/slide7.xml" Id="R1a3cd6b4134849f1" /><Relationship Type="http://schemas.openxmlformats.org/officeDocument/2006/relationships/slide" Target="/ppt/slides/slide8.xml" Id="R0afe09190c4e49d7" /><Relationship Type="http://schemas.openxmlformats.org/officeDocument/2006/relationships/slide" Target="/ppt/slides/slide9.xml" Id="Rc4860d76318c49a9" /><Relationship Type="http://schemas.openxmlformats.org/officeDocument/2006/relationships/slide" Target="/ppt/slides/slide10.xml" Id="R35f75e017b644b6f" /><Relationship Type="http://schemas.openxmlformats.org/officeDocument/2006/relationships/slide" Target="/ppt/slides/slide11.xml" Id="R2f6f8c59ab4049ee" /><Relationship Type="http://schemas.openxmlformats.org/officeDocument/2006/relationships/slide" Target="/ppt/slides/slide12.xml" Id="Rac8670c23a544f47" /><Relationship Type="http://schemas.openxmlformats.org/officeDocument/2006/relationships/slide" Target="/ppt/slides/slide13.xml" Id="R992786df93f8409a" /><Relationship Type="http://schemas.openxmlformats.org/officeDocument/2006/relationships/slide" Target="/ppt/slides/slide14.xml" Id="R3d9c920153f74129" /><Relationship Type="http://schemas.openxmlformats.org/officeDocument/2006/relationships/slide" Target="/ppt/slides/slide15.xml" Id="R1201cb310a43405f" /><Relationship Type="http://schemas.openxmlformats.org/officeDocument/2006/relationships/slide" Target="/ppt/slides/slide16.xml" Id="R6bdf1ae791c54123" /><Relationship Type="http://schemas.openxmlformats.org/officeDocument/2006/relationships/slide" Target="/ppt/slides/slide17.xml" Id="Rb20231ab76b146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6b1df9ba1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f09de19f0493b" /><Relationship Type="http://schemas.openxmlformats.org/officeDocument/2006/relationships/notesMaster" Target="/ppt/notesMasters/notesMaster1.xml" Id="Rf4b7d1898da342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a72a2a63a49c6" /><Relationship Type="http://schemas.openxmlformats.org/officeDocument/2006/relationships/notesMaster" Target="/ppt/notesMasters/notesMaster1.xml" Id="R73bff7dde707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e65c706924d1c" /><Relationship Type="http://schemas.openxmlformats.org/officeDocument/2006/relationships/notesMaster" Target="/ppt/notesMasters/notesMaster1.xml" Id="Rb73ec9b424d8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90b9b88f646d1" /><Relationship Type="http://schemas.openxmlformats.org/officeDocument/2006/relationships/notesMaster" Target="/ppt/notesMasters/notesMaster1.xml" Id="Rc7dc6a9f2a314f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bd5a7d6e2c460e" /><Relationship Type="http://schemas.openxmlformats.org/officeDocument/2006/relationships/notesMaster" Target="/ppt/notesMasters/notesMaster1.xml" Id="Rcdd249be64514a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2c2e255d0a481a" /><Relationship Type="http://schemas.openxmlformats.org/officeDocument/2006/relationships/notesMaster" Target="/ppt/notesMasters/notesMaster1.xml" Id="Rfee6e4fceecd45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32bfcad714771" /><Relationship Type="http://schemas.openxmlformats.org/officeDocument/2006/relationships/notesMaster" Target="/ppt/notesMasters/notesMaster1.xml" Id="R641719465ec5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77c636f98e42d0" /><Relationship Type="http://schemas.openxmlformats.org/officeDocument/2006/relationships/notesMaster" Target="/ppt/notesMasters/notesMaster1.xml" Id="R9780604e4dcf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421785ad3f4190" /><Relationship Type="http://schemas.openxmlformats.org/officeDocument/2006/relationships/notesMaster" Target="/ppt/notesMasters/notesMaster1.xml" Id="Rec7ab206b09644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b151c3f18148cc" /><Relationship Type="http://schemas.openxmlformats.org/officeDocument/2006/relationships/notesMaster" Target="/ppt/notesMasters/notesMaster1.xml" Id="R911a93c057f44b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969b1734d24dff" /><Relationship Type="http://schemas.openxmlformats.org/officeDocument/2006/relationships/notesMaster" Target="/ppt/notesMasters/notesMaster1.xml" Id="R1cd4e0b80ab3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4745c2449d4273" /><Relationship Type="http://schemas.openxmlformats.org/officeDocument/2006/relationships/notesMaster" Target="/ppt/notesMasters/notesMaster1.xml" Id="Rb434bb4f408b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695cd8820c4fe3" /><Relationship Type="http://schemas.openxmlformats.org/officeDocument/2006/relationships/notesMaster" Target="/ppt/notesMasters/notesMaster1.xml" Id="Ra41a85d3669847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aab14af8374ba1" /><Relationship Type="http://schemas.openxmlformats.org/officeDocument/2006/relationships/notesMaster" Target="/ppt/notesMasters/notesMaster1.xml" Id="Re6d1c80614fd48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0cdd61b8184881" /><Relationship Type="http://schemas.openxmlformats.org/officeDocument/2006/relationships/notesMaster" Target="/ppt/notesMasters/notesMaster1.xml" Id="Rd33e9b8496734c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660e7730c34d6f" /><Relationship Type="http://schemas.openxmlformats.org/officeDocument/2006/relationships/notesMaster" Target="/ppt/notesMasters/notesMaster1.xml" Id="R85940b648b5d48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a86e6e6e2d4dbd" /><Relationship Type="http://schemas.openxmlformats.org/officeDocument/2006/relationships/notesMaster" Target="/ppt/notesMasters/notesMaster1.xml" Id="Rdeece766f371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12B · Do</a:t>
            </a:r>
          </a:p>
          <a:p xmlns:a="http://schemas.openxmlformats.org/drawingml/2006/main">
            <a:r>
              <a:t>Learning objective: I can choose a supplied rock sample for a stated model job and justify the decision with relevant property evidence and a limit.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Use the job brief to select the relevant evidence columns.</a:t>
            </a:r>
          </a:p>
          <a:p xmlns:a="http://schemas.openxmlformats.org/drawingml/2006/main">
            <a:r>
              <a:t>Compare at least two supplied candidates before choosing.</a:t>
            </a:r>
          </a:p>
          <a:p xmlns:a="http://schemas.openxmlformats.org/drawingml/2006/main">
            <a:r>
              <a:t>Give a because decision, identify one limit and respond visibly to an audience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12B · Do</a:t>
            </a:r>
          </a:p>
          <a:p xmlns:a="http://schemas.openxmlformats.org/drawingml/2006/main">
            <a:r>
              <a:t>Learning objective: I can choose a supplied rock sample for a stated model job and justify the decision with relevant property evidence and a limit.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Use the job brief to select the relevant evidence columns.</a:t>
            </a:r>
          </a:p>
          <a:p xmlns:a="http://schemas.openxmlformats.org/drawingml/2006/main">
            <a:r>
              <a:t>Compare at least two supplied candidates before choosing.</a:t>
            </a:r>
          </a:p>
          <a:p xmlns:a="http://schemas.openxmlformats.org/drawingml/2006/main">
            <a:r>
              <a:t>Give a because decision, identify one limit and respond visibly to an audience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Explore, each job became a property question before any sample was chosen.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give one job-property because link.</a:t>
            </a:r>
          </a:p>
          <a:p xmlns:a="http://schemas.openxmlformats.org/drawingml/2006/main">
            <a:r>
              <a:t>Last lesson: why could a drainage job value water movement?</a:t>
            </a:r>
          </a:p>
          <a:p xmlns:a="http://schemas.openxmlformats.org/drawingml/2006/main">
            <a:r>
              <a:t>Last week: explain one careful sample-specific result.</a:t>
            </a:r>
          </a:p>
          <a:p xmlns:a="http://schemas.openxmlformats.org/drawingml/2006/main">
            <a:r>
              <a:t>Lead-in: what makes a comparison stronger than choosing the first sample?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BRIEF · what the job needs</a:t>
            </a:r>
          </a:p>
          <a:p xmlns:a="http://schemas.openxmlformats.org/drawingml/2006/main">
            <a:r>
              <a:t>Read the brief. Circle the columns that matter.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COMPARE · use the relevant evidence</a:t>
            </a:r>
          </a:p>
          <a:p xmlns:a="http://schemas.openxmlformats.org/drawingml/2006/main">
            <a:r>
              <a:t>Fictional yard evidence from your own tests. Compare at least two candidates.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DEFEND · answer the audience</a:t>
            </a:r>
          </a:p>
          <a:p xmlns:a="http://schemas.openxmlformats.org/drawingml/2006/main">
            <a:r>
              <a:t>A because-decision, one limit, and a real answer to a question.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Sample R, because its lower water passage and flat overlapping shape answer this brief.</a:t>
            </a:r>
          </a:p>
          <a:p xmlns:a="http://schemas.openxmlformats.org/drawingml/2006/main">
            <a:r>
              <a:t>Sample P, because scratch resistance must decide every job.</a:t>
            </a:r>
          </a:p>
          <a:p xmlns:a="http://schemas.openxmlformats.org/drawingml/2006/main">
            <a:r>
              <a:t>Choose whichever colour the group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BRIEF · what the job needs</a:t>
            </a:r>
          </a:p>
          <a:p xmlns:a="http://schemas.openxmlformats.org/drawingml/2006/main">
            <a:r>
              <a:t>Read the brief. Circle the columns that matter.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COMPARE · use the relevant evidence</a:t>
            </a:r>
          </a:p>
          <a:p xmlns:a="http://schemas.openxmlformats.org/drawingml/2006/main">
            <a:r>
              <a:t>Fictional yard evidence from your own tests. Compare at least two candidates.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DEFEND · answer the audience</a:t>
            </a:r>
          </a:p>
          <a:p xmlns:a="http://schemas.openxmlformats.org/drawingml/2006/main">
            <a:r>
              <a:t>A because-decision, one limit, and a real answer to a question.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Sample R, because its lower water passage and flat overlapping shape answer this brief.</a:t>
            </a:r>
          </a:p>
          <a:p xmlns:a="http://schemas.openxmlformats.org/drawingml/2006/main">
            <a:r>
              <a:t>Sample P, because scratch resistance must decide every job.</a:t>
            </a:r>
          </a:p>
          <a:p xmlns:a="http://schemas.openxmlformats.org/drawingml/2006/main">
            <a:r>
              <a:t>Choose whichever colour the group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BRIEF · what the job needs</a:t>
            </a:r>
          </a:p>
          <a:p xmlns:a="http://schemas.openxmlformats.org/drawingml/2006/main">
            <a:r>
              <a:t>Read the brief. Circle the columns that matter.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COMPARE · use the relevant evidence</a:t>
            </a:r>
          </a:p>
          <a:p xmlns:a="http://schemas.openxmlformats.org/drawingml/2006/main">
            <a:r>
              <a:t>Fictional yard evidence from your own tests. Compare at least two candidates.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DEFEND · answer the audience</a:t>
            </a:r>
          </a:p>
          <a:p xmlns:a="http://schemas.openxmlformats.org/drawingml/2006/main">
            <a:r>
              <a:t>A because-decision, one limit, and a real answer to a question.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Sample R, because its lower water passage and flat overlapping shape answer this brief.</a:t>
            </a:r>
          </a:p>
          <a:p xmlns:a="http://schemas.openxmlformats.org/drawingml/2006/main">
            <a:r>
              <a:t>Sample P, because scratch resistance must decide every job.</a:t>
            </a:r>
          </a:p>
          <a:p xmlns:a="http://schemas.openxmlformats.org/drawingml/2006/main">
            <a:r>
              <a:t>Choose whichever colour the group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CRITERIA the job rules the conditions a successful choice must meet</a:t>
            </a:r>
          </a:p>
          <a:p xmlns:a="http://schemas.openxmlformats.org/drawingml/2006/main">
            <a:r>
              <a:t>CANDIDATE one possible choice a sample being considered for the stated purpose</a:t>
            </a:r>
          </a:p>
          <a:p xmlns:a="http://schemas.openxmlformats.org/drawingml/2006/main">
            <a:r>
              <a:t>JUSTIFY give evidence for why to support a decision with relevant evidence and reasoning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Use: The brief needs __. I compared __ and __. I chose __ because __. We still need to check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Underline the criteria and circle only the evidence columns that answer them. Ignore colour unless appearance is named in the brief.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Compare two or more candidates on the same relevant columns. Do not add scores from unrelated properties just to create a winner.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Choose and justify: For this model rain cover, R is the stronger supplied candidate because less water passed and its source card says it forms overlapping flat pieces.</a:t>
            </a:r>
          </a:p>
          <a:p xmlns:a="http://schemas.openxmlformats.org/drawingml/2006/main">
            <a:r>
              <a:t>Evidence matrix · choose, defend, name a limit</a:t>
            </a:r>
          </a:p>
          <a:p xmlns:a="http://schemas.openxmlformats.org/drawingml/2006/main">
            <a:r>
              <a:t>Brief: rain-cover. Press the columns that matter, then press your choice, then answer the audience.</a:t>
            </a:r>
          </a:p>
          <a:p xmlns:a="http://schemas.openxmlformats.org/drawingml/2006/main">
            <a:r>
              <a:t>Columns that matter for a rain-cover:</a:t>
            </a:r>
          </a:p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water</a:t>
            </a:r>
          </a:p>
          <a:p xmlns:a="http://schemas.openxmlformats.org/drawingml/2006/main">
            <a:r>
              <a:t>look</a:t>
            </a:r>
          </a:p>
          <a:p xmlns:a="http://schemas.openxmlformats.org/drawingml/2006/main">
            <a:r>
              <a:t>My choice: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Start with the columns.</a:t>
            </a:r>
          </a:p>
          <a:p xmlns:a="http://schemas.openxmlformats.org/drawingml/2006/main">
            <a:r>
              <a:t>Audience asks: "Why not D?"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CRITERIA the job rules the conditions a successful choice must meet</a:t>
            </a:r>
          </a:p>
          <a:p xmlns:a="http://schemas.openxmlformats.org/drawingml/2006/main">
            <a:r>
              <a:t>CANDIDATE one possible choice a sample being considered for the stated purpose</a:t>
            </a:r>
          </a:p>
          <a:p xmlns:a="http://schemas.openxmlformats.org/drawingml/2006/main">
            <a:r>
              <a:t>JUSTIFY give evidence for why to support a decision with relevant evidence and reasoning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Use: The brief needs __. I compared __ and __. I chose __ because __. We still need to check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Underline the criteria and circle only the evidence columns that answer them. Ignore colour unless appearance is named in the brief.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Compare two or more candidates on the same relevant columns. Do not add scores from unrelated properties just to create a winner.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Choose and justify: For this model rain cover, R is the stronger supplied candidate because less water passed and its source card says it forms overlapping flat pieces.</a:t>
            </a:r>
          </a:p>
          <a:p xmlns:a="http://schemas.openxmlformats.org/drawingml/2006/main">
            <a:r>
              <a:t>Evidence matrix · choose, defend, name a limit</a:t>
            </a:r>
          </a:p>
          <a:p xmlns:a="http://schemas.openxmlformats.org/drawingml/2006/main">
            <a:r>
              <a:t>Brief: rain-cover. Press the columns that matter, then press your choice, then answer the audience.</a:t>
            </a:r>
          </a:p>
          <a:p xmlns:a="http://schemas.openxmlformats.org/drawingml/2006/main">
            <a:r>
              <a:t>Columns that matter for a rain-cover:</a:t>
            </a:r>
          </a:p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water</a:t>
            </a:r>
          </a:p>
          <a:p xmlns:a="http://schemas.openxmlformats.org/drawingml/2006/main">
            <a:r>
              <a:t>look</a:t>
            </a:r>
          </a:p>
          <a:p xmlns:a="http://schemas.openxmlformats.org/drawingml/2006/main">
            <a:r>
              <a:t>My choice: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Start with the columns.</a:t>
            </a:r>
          </a:p>
          <a:p xmlns:a="http://schemas.openxmlformats.org/drawingml/2006/main">
            <a:r>
              <a:t>Audience asks: "Why not D?"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CRITERIA the job rules the conditions a successful choice must meet</a:t>
            </a:r>
          </a:p>
          <a:p xmlns:a="http://schemas.openxmlformats.org/drawingml/2006/main">
            <a:r>
              <a:t>CANDIDATE one possible choice a sample being considered for the stated purpose</a:t>
            </a:r>
          </a:p>
          <a:p xmlns:a="http://schemas.openxmlformats.org/drawingml/2006/main">
            <a:r>
              <a:t>JUSTIFY give evidence for why to support a decision with relevant evidence and reasoning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Use: The brief needs __. I compared __ and __. I chose __ because __. We still need to check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Underline the criteria and circle only the evidence columns that answer them. Ignore colour unless appearance is named in the brief.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Compare two or more candidates on the same relevant columns. Do not add scores from unrelated properties just to create a winner.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Choose and justify: For this model rain cover, R is the stronger supplied candidate because less water passed and its source card says it forms overlapping flat pieces.</a:t>
            </a:r>
          </a:p>
          <a:p xmlns:a="http://schemas.openxmlformats.org/drawingml/2006/main">
            <a:r>
              <a:t>Evidence matrix · choose, defend, name a limit</a:t>
            </a:r>
          </a:p>
          <a:p xmlns:a="http://schemas.openxmlformats.org/drawingml/2006/main">
            <a:r>
              <a:t>Brief: rain-cover. Press the columns that matter, then press your choice, then answer the audience.</a:t>
            </a:r>
          </a:p>
          <a:p xmlns:a="http://schemas.openxmlformats.org/drawingml/2006/main">
            <a:r>
              <a:t>Columns that matter for a rain-cover:</a:t>
            </a:r>
          </a:p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water</a:t>
            </a:r>
          </a:p>
          <a:p xmlns:a="http://schemas.openxmlformats.org/drawingml/2006/main">
            <a:r>
              <a:t>look</a:t>
            </a:r>
          </a:p>
          <a:p xmlns:a="http://schemas.openxmlformats.org/drawingml/2006/main">
            <a:r>
              <a:t>My choice: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Start with the columns.</a:t>
            </a:r>
          </a:p>
          <a:p xmlns:a="http://schemas.openxmlformats.org/drawingml/2006/main">
            <a:r>
              <a:t>Audience asks: "Why not D?"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Choose P because it had a faint scratch mark and the surface card shows a stable, even path piece; keep grip as a separate safety check.</a:t>
            </a:r>
          </a:p>
          <a:p xmlns:a="http://schemas.openxmlformats.org/drawingml/2006/main">
            <a:r>
              <a:t>Choose D because its pattern is the most colourful.</a:t>
            </a:r>
          </a:p>
          <a:p xmlns:a="http://schemas.openxmlformats.org/drawingml/2006/main">
            <a:r>
              <a:t>Choose R because it let the least water through, even though the brief is about wear and walking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one limit before the audience responds: the evidence describes supplied samples in classroom tests, not every specimen or real installation.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Invite a question about criteria, evidence or a missing check. Repeat the question, then point to the matrix row it tests.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a visible change when the question exposes missing or stronger evidence. If the choice stays, record why the evidence still meets the criteria and name one transfer step.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Use: The brief needs __. I compared __ and __. I chose __ because __. We still need to check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one limit before the audience responds: the evidence describes supplied samples in classroom tests, not every specimen or real installation.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Invite a question about criteria, evidence or a missing check. Repeat the question, then point to the matrix row it tests.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a visible change when the question exposes missing or stronger evidence. If the choice stays, record why the evidence still meets the criteria and name one transfer step.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Use: The brief needs __. I compared __ and __. I chose __ because __. We still need to check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candidate evidence card to RAIN COVER, PATH, INDOOR DISPLAY or NEEDS ANOTHER CHECK.</a:t>
            </a:r>
          </a:p>
          <a:p xmlns:a="http://schemas.openxmlformats.org/drawingml/2006/main">
            <a:r>
              <a:t>Read the brief criterion. Compare the candidate evidence. Commit the strongest relevant match or flag a gap. Freeze a choice, then rehearse the justification and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Candidate R 0.5 mL through in the fixed water test; source card says it can form flat overlapping pieces; moderate scratch mark.</a:t>
            </a:r>
          </a:p>
          <a:p xmlns:a="http://schemas.openxmlformats.org/drawingml/2006/main">
            <a:r>
              <a:t>R caution The 120-second result does not prove permanent waterproofing or real roof approval.</a:t>
            </a:r>
          </a:p>
          <a:p xmlns:a="http://schemas.openxmlformats.org/drawingml/2006/main">
            <a:r>
              <a:t>Candidate P Faintest mark in the fixed scratch comparison; supplied surface card shows an even rough path piece; 1.0 mL through.</a:t>
            </a:r>
          </a:p>
          <a:p xmlns:a="http://schemas.openxmlformats.org/drawingml/2006/main">
            <a:r>
              <a:t>P safety gap No classroom result approves grip, loading or installation; those remain separate checks.</a:t>
            </a:r>
          </a:p>
          <a:p xmlns:a="http://schemas.openxmlformats.org/drawingml/2006/main">
            <a:r>
              <a:t>Candidate D Supplied piece has a clear pattern and smooth finish; it is stable indoors but shows a deeper scratch mark and 3.5 mL water passage.</a:t>
            </a:r>
          </a:p>
          <a:p xmlns:a="http://schemas.openxmlformats.org/drawingml/2006/main">
            <a:r>
              <a:t>Colour-only vote Choose D for the outdoor path because most pupils like its colour.</a:t>
            </a:r>
          </a:p>
          <a:p xmlns:a="http://schemas.openxmlformats.org/drawingml/2006/main">
            <a:r>
              <a:t>Candidate U U looks smooth in a photograph, but no scratch, water, shape or source evidence is supplied.</a:t>
            </a:r>
          </a:p>
          <a:p xmlns:a="http://schemas.openxmlformats.org/drawingml/2006/main">
            <a:r>
              <a:t>Display stability D may fit the visual brief only if the supplied base remains stable and is used indoors as stated.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RAIN-COVER MODEL</a:t>
            </a:r>
          </a:p>
          <a:p xmlns:a="http://schemas.openxmlformats.org/drawingml/2006/main">
            <a:r>
              <a:t>HARD-WEARING PATH MODEL</a:t>
            </a:r>
          </a:p>
          <a:p xmlns:a="http://schemas.openxmlformats.org/drawingml/2006/main">
            <a:r>
              <a:t>INDOOR DISPLAY</a:t>
            </a:r>
          </a:p>
          <a:p xmlns:a="http://schemas.openxmlformats.org/drawingml/2006/main">
            <a:r>
              <a:t>NEEDS ANOTHER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Decision glitch: add every property score and choose the biggest total, even when some properties do not matter to the brief.</a:t>
            </a:r>
          </a:p>
          <a:p xmlns:a="http://schemas.openxmlformats.org/drawingml/2006/main">
            <a:r>
              <a:t>Keep it: every property should count equally for every job.</a:t>
            </a:r>
          </a:p>
          <a:p xmlns:a="http://schemas.openxmlformats.org/drawingml/2006/main">
            <a:r>
              <a:t>Repair it: compare candidates using the criteria and evidence relevant to this stated purpose.</a:t>
            </a:r>
          </a:p>
          <a:p xmlns:a="http://schemas.openxmlformats.org/drawingml/2006/main">
            <a:r>
              <a:t>Repair it: replace evidence with a class popularity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candidate evidence card to RAIN COVER, PATH, INDOOR DISPLAY or NEEDS ANOTHER CHECK.</a:t>
            </a:r>
          </a:p>
          <a:p xmlns:a="http://schemas.openxmlformats.org/drawingml/2006/main">
            <a:r>
              <a:t>Read the brief criterion. Compare the candidate evidence. Commit the strongest relevant match or flag a gap. Freeze a choice, then rehearse the justification and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Candidate R 0.5 mL through in the fixed water test; source card says it can form flat overlapping pieces; moderate scratch mark.</a:t>
            </a:r>
          </a:p>
          <a:p xmlns:a="http://schemas.openxmlformats.org/drawingml/2006/main">
            <a:r>
              <a:t>R caution The 120-second result does not prove permanent waterproofing or real roof approval.</a:t>
            </a:r>
          </a:p>
          <a:p xmlns:a="http://schemas.openxmlformats.org/drawingml/2006/main">
            <a:r>
              <a:t>Candidate P Faintest mark in the fixed scratch comparison; supplied surface card shows an even rough path piece; 1.0 mL through.</a:t>
            </a:r>
          </a:p>
          <a:p xmlns:a="http://schemas.openxmlformats.org/drawingml/2006/main">
            <a:r>
              <a:t>P safety gap No classroom result approves grip, loading or installation; those remain separate checks.</a:t>
            </a:r>
          </a:p>
          <a:p xmlns:a="http://schemas.openxmlformats.org/drawingml/2006/main">
            <a:r>
              <a:t>Candidate D Supplied piece has a clear pattern and smooth finish; it is stable indoors but shows a deeper scratch mark and 3.5 mL water passage.</a:t>
            </a:r>
          </a:p>
          <a:p xmlns:a="http://schemas.openxmlformats.org/drawingml/2006/main">
            <a:r>
              <a:t>Colour-only vote Choose D for the outdoor path because most pupils like its colour.</a:t>
            </a:r>
          </a:p>
          <a:p xmlns:a="http://schemas.openxmlformats.org/drawingml/2006/main">
            <a:r>
              <a:t>Candidate U U looks smooth in a photograph, but no scratch, water, shape or source evidence is supplied.</a:t>
            </a:r>
          </a:p>
          <a:p xmlns:a="http://schemas.openxmlformats.org/drawingml/2006/main">
            <a:r>
              <a:t>Display stability D may fit the visual brief only if the supplied base remains stable and is used indoors as stated.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RAIN-COVER MODEL</a:t>
            </a:r>
          </a:p>
          <a:p xmlns:a="http://schemas.openxmlformats.org/drawingml/2006/main">
            <a:r>
              <a:t>HARD-WEARING PATH MODEL</a:t>
            </a:r>
          </a:p>
          <a:p xmlns:a="http://schemas.openxmlformats.org/drawingml/2006/main">
            <a:r>
              <a:t>INDOOR DISPLAY</a:t>
            </a:r>
          </a:p>
          <a:p xmlns:a="http://schemas.openxmlformats.org/drawingml/2006/main">
            <a:r>
              <a:t>NEEDS ANOTHER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Decision glitch: add every property score and choose the biggest total, even when some properties do not matter to the brief.</a:t>
            </a:r>
          </a:p>
          <a:p xmlns:a="http://schemas.openxmlformats.org/drawingml/2006/main">
            <a:r>
              <a:t>Keep it: every property should count equally for every job.</a:t>
            </a:r>
          </a:p>
          <a:p xmlns:a="http://schemas.openxmlformats.org/drawingml/2006/main">
            <a:r>
              <a:t>Repair it: compare candidates using the criteria and evidence relevant to this stated purpose.</a:t>
            </a:r>
          </a:p>
          <a:p xmlns:a="http://schemas.openxmlformats.org/drawingml/2006/main">
            <a:r>
              <a:t>Repair it: replace evidence with a class popularity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Fictional job briefs, candidate evidence matrix, decision sheet, audience question card and pencil or communication aid.</a:t>
            </a:r>
          </a:p>
          <a:p xmlns:a="http://schemas.openxmlformats.org/drawingml/2006/main">
            <a:r>
              <a:t>Same outcome: I can choose a supplied rock sample for a stated model job and justify the decision with relevant property evidence and a limit.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matrix and save the before-and-after choice locally; no account, upload or live website is needed.</a:t>
            </a:r>
          </a:p>
          <a:p xmlns:a="http://schemas.openxmlformats.org/drawingml/2006/main">
            <a:r>
              <a:t>Same evidence: Brief criteria, two-candidate comparison, chosen candidate, relevant because evidence, one limit, one audience question and visible response.</a:t>
            </a:r>
          </a:p>
          <a:p xmlns:a="http://schemas.openxmlformats.org/drawingml/2006/main">
            <a:r>
              <a:t>Equipment / setup Fictional job briefs, candidate evidence matrix, decision sheet, audience question card and pencil or communication aid.</a:t>
            </a:r>
          </a:p>
          <a:p xmlns:a="http://schemas.openxmlformats.org/drawingml/2006/main">
            <a:r>
              <a:t>Safety / sensory Use cards or sealed lightweight display samples only. No real construction, heavy lifting, scraping, wet testing, breaking, climbing or site work is required.</a:t>
            </a:r>
          </a:p>
          <a:p xmlns:a="http://schemas.openxmlformats.org/drawingml/2006/main">
            <a:r>
              <a:t>Offline parity Use the embedded matrix and save the before-and-after choice locally; no account, upload or live website is needed.</a:t>
            </a:r>
          </a:p>
          <a:p xmlns:a="http://schemas.openxmlformats.org/drawingml/2006/main">
            <a:r>
              <a:t>No-equipment/access route: Use two candidate cards and one enlarged brief at a time. An adult scribes exact pupil reasoning and the audience response.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three candidates on relevant criteria, justify one choice and revise or confirm it after an audience question.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Cross out irrelevant columns before comparing.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Fictional job briefs, candidate evidence matrix, decision sheet, audience question card and pencil or communication aid.</a:t>
            </a:r>
          </a:p>
          <a:p xmlns:a="http://schemas.openxmlformats.org/drawingml/2006/main">
            <a:r>
              <a:t>Same outcome: I can choose a supplied rock sample for a stated model job and justify the decision with relevant property evidence and a limit.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matrix and save the before-and-after choice locally; no account, upload or live website is needed.</a:t>
            </a:r>
          </a:p>
          <a:p xmlns:a="http://schemas.openxmlformats.org/drawingml/2006/main">
            <a:r>
              <a:t>Same evidence: Brief criteria, two-candidate comparison, chosen candidate, relevant because evidence, one limit, one audience question and visible response.</a:t>
            </a:r>
          </a:p>
          <a:p xmlns:a="http://schemas.openxmlformats.org/drawingml/2006/main">
            <a:r>
              <a:t>Equipment / setup Fictional job briefs, candidate evidence matrix, decision sheet, audience question card and pencil or communication aid.</a:t>
            </a:r>
          </a:p>
          <a:p xmlns:a="http://schemas.openxmlformats.org/drawingml/2006/main">
            <a:r>
              <a:t>Safety / sensory Use cards or sealed lightweight display samples only. No real construction, heavy lifting, scraping, wet testing, breaking, climbing or site work is required.</a:t>
            </a:r>
          </a:p>
          <a:p xmlns:a="http://schemas.openxmlformats.org/drawingml/2006/main">
            <a:r>
              <a:t>Offline parity Use the embedded matrix and save the before-and-after choice locally; no account, upload or live website is needed.</a:t>
            </a:r>
          </a:p>
          <a:p xmlns:a="http://schemas.openxmlformats.org/drawingml/2006/main">
            <a:r>
              <a:t>No-equipment/access route: Use two candidate cards and one enlarged brief at a time. An adult scribes exact pupil reasoning and the audience response.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three candidates on relevant criteria, justify one choice and revise or confirm it after an audience question.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Cross out irrelevant columns before comparing.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SCI_B_W12B_Choose_Rock_For_The_Job_Do.html.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fixed matrix is fictional and simplified. It supports classroom reasoning only; it cannot approve real materials, structures, costs, installation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State your choice, strongest evidence and one limit after the audience response.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SCI_B_W12B_Choose_Rock_For_The_Job_Do.html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468597d00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4466923f7947b9" /><Relationship Type="http://schemas.openxmlformats.org/officeDocument/2006/relationships/slideLayout" Target="/ppt/slideLayouts/slideLayout1.xml" Id="R4aafa5b92dd3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fa5b92dd3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d08f55504795" /><Relationship Type="http://schemas.openxmlformats.org/officeDocument/2006/relationships/hyperlink" Target="SCI_B_W12B_Choose_Rock_For_The_Job_Do.html" TargetMode="External" Id="Rfab178968b834eb9" /><Relationship Type="http://schemas.openxmlformats.org/officeDocument/2006/relationships/notesSlide" Target="/ppt/notesSlides/notesSlide1.xml" Id="R4c0454994e9b4f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ad56e50574cba" /><Relationship Type="http://schemas.openxmlformats.org/officeDocument/2006/relationships/notesSlide" Target="/ppt/notesSlides/notesSlide2.xml" Id="R260663856cc2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3ecc502c4ee0" /><Relationship Type="http://schemas.openxmlformats.org/officeDocument/2006/relationships/notesSlide" Target="/ppt/notesSlides/notesSlide3.xml" Id="Rae32a43bc9a8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6eb882b6a4103" /><Relationship Type="http://schemas.openxmlformats.org/officeDocument/2006/relationships/notesSlide" Target="/ppt/notesSlides/notesSlide4.xml" Id="Rd7f4fa44482347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0050180914605" /><Relationship Type="http://schemas.openxmlformats.org/officeDocument/2006/relationships/notesSlide" Target="/ppt/notesSlides/notesSlide5.xml" Id="R85fa99a226564c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0c081ef35446e" /><Relationship Type="http://schemas.openxmlformats.org/officeDocument/2006/relationships/image" Target="/ppt/media/image.png" Id="R1163b6218d39489c" /><Relationship Type="http://schemas.openxmlformats.org/officeDocument/2006/relationships/image" Target="/ppt/media/image2.png" Id="R19e4263c407943b3" /><Relationship Type="http://schemas.openxmlformats.org/officeDocument/2006/relationships/image" Target="/ppt/media/image3.png" Id="R3f2f890a7cdc4072" /><Relationship Type="http://schemas.openxmlformats.org/officeDocument/2006/relationships/notesSlide" Target="/ppt/notesSlides/notesSlide6.xml" Id="R84be7a22e799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7b6360d064633" /><Relationship Type="http://schemas.openxmlformats.org/officeDocument/2006/relationships/notesSlide" Target="/ppt/notesSlides/notesSlide7.xml" Id="R764b4ce4be2f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3bebf454649cd" /><Relationship Type="http://schemas.openxmlformats.org/officeDocument/2006/relationships/notesSlide" Target="/ppt/notesSlides/notesSlide8.xml" Id="R2d861bb77a384b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0ac6a552648e7" /><Relationship Type="http://schemas.openxmlformats.org/officeDocument/2006/relationships/image" Target="/ppt/media/image4.png" Id="R764d5c2c56e9494b" /><Relationship Type="http://schemas.openxmlformats.org/officeDocument/2006/relationships/notesSlide" Target="/ppt/notesSlides/notesSlide9.xml" Id="R75db2119522d40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0b92f0c948e5" /><Relationship Type="http://schemas.openxmlformats.org/officeDocument/2006/relationships/notesSlide" Target="/ppt/notesSlides/notesSlide10.xml" Id="Ra651d7e1836348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6d447cfd4468a" /><Relationship Type="http://schemas.openxmlformats.org/officeDocument/2006/relationships/notesSlide" Target="/ppt/notesSlides/notesSlide11.xml" Id="R2cf684ca377848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ce00698ca45f6" /><Relationship Type="http://schemas.openxmlformats.org/officeDocument/2006/relationships/notesSlide" Target="/ppt/notesSlides/notesSlide12.xml" Id="R1eeda664bc7341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417072aeb4c9f" /><Relationship Type="http://schemas.openxmlformats.org/officeDocument/2006/relationships/notesSlide" Target="/ppt/notesSlides/notesSlide13.xml" Id="R2d94f3483a8147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508f762f4432e" /><Relationship Type="http://schemas.openxmlformats.org/officeDocument/2006/relationships/notesSlide" Target="/ppt/notesSlides/notesSlide14.xml" Id="Rc7958a0a5b8b4b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3da90ad5643f9" /><Relationship Type="http://schemas.openxmlformats.org/officeDocument/2006/relationships/notesSlide" Target="/ppt/notesSlides/notesSlide15.xml" Id="Rd6c5a618b97440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a592bc58d41d8" /><Relationship Type="http://schemas.openxmlformats.org/officeDocument/2006/relationships/notesSlide" Target="/ppt/notesSlides/notesSlide16.xml" Id="R511d9233a26d4f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e53b68c8643e0" /><Relationship Type="http://schemas.openxmlformats.org/officeDocument/2006/relationships/notesSlide" Target="/ppt/notesSlides/notesSlide17.xml" Id="R75e6f2ec3f5a4a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CF725E-22D1-45E1-99DA-5D2B499B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DD96DBE-21B9-4C73-B8BC-916742A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4A988E5-6BBC-4E17-AB84-04CC8D62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1ED75C-75C9-4E27-AC3B-27DF298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Rock for the Job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88629D0-8849-423E-9E65-D47F7CC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7EDF627D-7CD8-4348-AB98-56F7E84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choose a supplied rock sample for a stated model job and justify the decision with relevant property evidence and a limit.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EB965432-8F6B-40BB-B2F3-EBB2F5BB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2D8DF9DC-1716-4D0B-AC19-9C048534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7414C385-38A4-47AB-BC48-977C9A9F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the job needs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050477FC-355C-4C7A-8171-8204D823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854DB6C7-4566-4B76-87E3-37128EB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218A3D4-84D8-46DC-A8F0-FB0AE44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relevant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A72B7E50-5F8F-4BD4-80CE-8C4323D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36644C84-3562-433D-B534-A81C219B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DF8CEDD9-9FA7-4B8E-B1FD-C6093A7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receive and use a question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47049EBB-BA00-4AEF-B89E-2001F020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fab178968b834eb9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A5D3D472-AF22-4BE4-BFB5-ECADFCDD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3FFE137F-7C73-402D-911F-B7E3B5D2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261386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6415BEC-5D9B-41DB-A691-4C43BBC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806B111-034F-41CE-945F-332E3114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08B39B-EC85-48C9-A9B2-660EC106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C5043-F487-4DDF-BAC7-A66BBD83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7C4CC08-5BDC-4831-A1C9-C83A06C5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2314DAB-FA8F-41BC-A03D-F1B6664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the job brief to select the relevant evidence columns.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BB4F81C-F94D-42DF-8732-2B3D8A41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at least two supplied candidates before choosing.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A8C623-985D-4648-8031-E6BFF7B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Give a because decision, identify one limit and respond visibly to an audience question.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80EE454-9045-4D51-A746-3935D6D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D7ABC9F-80AD-423A-87C2-360028BD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498435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D6CBD36-F76F-4B5A-968C-8E6FBE2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4CAFD27-3EC7-42C8-9FF1-37091C5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9510B3F-59FF-4E6F-B581-C463946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CC6212-4801-4869-B89F-53F0566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D81B04A-398A-4DBD-869A-90AE22DA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E465226-455C-4284-B016-ED36F77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give one job-property because link.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64F5D02-EDB8-45E8-B9D2-BFC2F3F3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could a drainage job value water movement?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023A5EB-D9CA-4E01-9DBD-7F33C46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explain one careful sample-specific result.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4EE07F8-E096-4304-8D0D-9EB738E4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makes a comparison stronger than choosing the first sample?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4B4B82C-85EA-46A6-86AE-06EA89A7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CC6C8FF-C44D-4FA8-B0A9-D50AB4FC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68318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7E76B8B-CC2E-43EC-91F0-C51DD793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81FFBDE-0F1A-4901-82A4-0127136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EC5F64-7473-4C0B-9034-92D58A3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304A43-525C-4DED-9006-E0451CD8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For a rain-cover model, Sample R lets 0.5 mL through and forms flat pieces. Sample P lets 1.0 mL through but has the faintest scratch mark. Which is the stronger first choice for this brief?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FA5D804-550E-4779-BEF4-9133E4F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DA5D7C0-BFF5-4DC9-95AA-6909F98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F5B2F97-E21A-415E-95CB-F0E3DA31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Sample R, because its lower water passage and flat overlapping shape answer this brief.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6E9A770-1938-4930-869A-659E4C5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Sample P, because scratch resistance must decide every job.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E71D6ED-7E6B-4E3D-A32E-9ABF8B57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Choose whichever colour the group likes most.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A3A2324-BDB1-4074-8FA9-91868ACE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568AE9C-08C7-470D-B8E2-5D91D86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428158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C7F3939-0324-4E81-A6E5-6D154123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F549E70-4891-4ECE-B976-50949B9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409710B-18C0-4D59-B749-22A0AAE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3618B9-170A-4B21-91A2-8015407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B2A3AC1-6DD4-4ECC-8FB2-4A81AC97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81A61EB-C4B4-479C-9758-C6C72CC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Brief need: help limit water below and overlap across the model roof.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D283EAF-C31D-4F3D-B741-590A6F25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 evidence: 0.5 mL through; flat-piece source card; moderate scratch mark.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4D95A65-1FC1-4714-88B6-D5A4C1E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 evidence: 1.0 mL through; block shape; faint scratch mark.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B67BFC4-6704-4592-8289-0B76AF90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DCA2D5C-3D03-40C1-9403-5999E11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284818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2340814-D79E-465B-908B-FE22707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51D326D-9021-4987-9D62-577F64E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9FAEA26-3A72-45CB-BCFB-D71AF114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29D957-444D-48FA-B7F1-22C94C6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1F3BCD-7BF9-4568-8F7B-365BC68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3b6218d39489c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9B05A5DD-9BB9-40FE-954B-C3EA2B1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job brief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4263c407943b3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BB59BCB6-E006-476A-9573-0210FBCD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evidence matrix for four codes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f890a7cdc4072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5D361BF7-D496-4575-A8EA-86F43EEF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 A highlighted with an audience question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6E58494E-A1E8-45B3-AD6F-6450E14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4C0931BF-5074-473A-BE3E-E8536C0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377597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1EB64D9-7ED8-42D2-980D-24C53BC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5B57FF1-92F7-45A4-9901-AE29259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BD0708A-E1F7-4391-8923-E89ED6B1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B9A0AE-A061-40E9-941F-62B1FFC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13C4FBA-A9A3-4C18-9D6E-A7C8EE4D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B973970-DA6A-4BA6-915B-5E92EFF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criteria — the job rules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785E409-465B-4AC1-991C-57734AB9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candidate — one possible choice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630748A-11B4-4D26-A5EF-D33C218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justify — give evidence for why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98C2E47-F2E5-4AB9-82F2-7EEEF3A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3A35C40-D45E-4DBF-B02E-A66D1708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199906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AEE75DD-8ADD-4D4B-B344-99F20CB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095E507-A17F-4D22-8D12-FA3881D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9188197-77E9-43AA-9455-8838DDC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0D94F5-8142-4459-A1A9-8E6B3BA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6C5B3FA-BF4F-4EED-B5FE-89391E7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4F95931-4A6A-4717-8B5F-F551037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Underline the criteria and circle only the evidence columns that answer them. Ignore colour unless appearance is named in the brief.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9B2D924-C90B-451B-800D-34606B41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two or more candidates on the same relevant columns. Do not add scores from unrelated properties just to create a winner.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09E557A-C301-448D-A6A3-9002737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and justify: For this model rain cover, R is the stronger supplied candidate because less water passed and its source card says it forms overlapping flat pieces.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13ED031-643C-4789-B260-1977134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005CF34-F3F9-44C4-9287-D943F4D2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439182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9C089D-CBE1-488F-98FB-E4885438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A07038A-B2D5-43F6-BFD7-3ED5ACB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1CC4B28-FB6F-4F9C-9C3F-D2BAF35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881998-DD56-43D9-A5FB-A171D9B4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CB1CD40-E4BC-4B78-B87A-AF97D239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d5c2c56e9494b"/>
          <a:stretch xmlns:a="http://schemas.openxmlformats.org/drawingml/2006/main"/>
        </p:blipFill>
        <p:spPr>
          <a:xfrm xmlns:a="http://schemas.openxmlformats.org/drawingml/2006/main">
            <a:off x="3095625" y="2181225"/>
            <a:ext cx="6000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C9B53E1-3119-4913-A171-5659F77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matrix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3690C2A-D607-4ADE-A22C-C662DEF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BC6A046-5BFF-4BD6-9085-A6C2AF3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072740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A8161E0-A561-42FD-9BCD-FC4B8A20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416A56E-0156-4BA2-8A21-665943E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51B77FB-46A3-47B2-B59F-0DCB274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ED9F96-0ADD-4567-8A73-06F3B8C6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For a hard-wearing path model, which decision uses the most relevant supplied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13FC2F-4A96-4C37-AAB7-E574756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445B216-765E-4C40-A726-76616984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Choose P because it had a faint scratch mark and the surface card shows a stable, even path piece; keep grip as a separate safety check.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2D41A75-967B-4D75-AB6E-B053303E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Choose D because its pattern is the most colourful.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63DE064-4953-476F-94B6-8B69D1D9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Choose R because it let the least water through, even though the brief is about wear and walking surface.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BB7FED3-6421-4487-94FF-BA2A8F1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F0D7017-D15E-4546-B68F-D12E1D6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31518F1-C135-4FB9-B22F-81DF98F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108063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FC1966A-8C36-4DBC-9CE8-EF0A09B2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4FFC213-FD8D-41F0-A814-238DBF0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5BD6063-1D6E-41C9-9BF6-8EB8712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6CA22D-33E3-4F39-8EF1-C152033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2FC35E-92DE-4462-983F-4C39112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98E9E9-0225-490E-9A94-7388326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one limit before the audience responds: the evidence describes supplied samples in classroom tests, not every specimen or real installation.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BE4CC6E-10D9-4D07-B837-73D6C1C0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Invite a question about criteria, evidence or a missing check. Repeat the question, then point to the matrix row it tests.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2D19C24-3C27-4204-BC75-F4EC077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Make a visible change when the question exposes missing or stronger evidence. If the choice stays, record why the evidence still meets the criteria and name one transfer step.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06E9171-0634-47AA-8AD6-F23D9FFA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D905F27-37A8-446F-9257-EC68B75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774127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C668C3C-EFF5-484C-9EF6-8952936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164771F-4ED3-4815-B9CC-C3A66F5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FE6562C-9451-4695-B685-63402ACE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4922AC-C0D2-47D9-B679-4F317B4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CED5C5C-D822-4F21-A1F9-E8E3873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2FD9BFD-2F47-42E6-A7BE-82D50E6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Decision glitch: add every property score and choose the biggest total, even when some properties do not matter to the brief.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CC06AEC-E1BB-4200-AA98-1ED5759F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every property should count equally for every job.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BCDF65A-E64B-4B24-882F-338668AB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compare candidates using the criteria and evidence relevant to this stated purpose.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9ECE7A4-9CBE-451C-86F7-AEAD1C9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replace evidence with a class popularity vote.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0F99BAE-416C-4931-96CF-A22C3495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26E2259-0460-4716-B7A2-2350BD9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764657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27D0E3-CDA6-4731-B1BD-E9771B7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EE910E4-F710-4D9D-8A5B-E115570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2A585F7-C49A-4BCC-A63E-81A67A74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70D262-22A7-424D-A775-2D258EB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Rock-choice evidence matrix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5D909E-2590-4B19-A56E-CF0B5E7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27C0013-DAC3-4D51-8FEC-5346A5C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candidate evidence card to RAIN COVER, PATH, INDOOR DISPLAY or NEEDS ANOTHER CHECK.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F48CB2B-5526-48A9-AD67-BF52DE0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brief criterion.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90E05B1-AC5A-4789-8F80-1214609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the candidate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19B37F2-A894-4DDD-89A2-D71BCDF1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the strongest relevant match or flag a gap.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B985B61-7B91-4DD3-92FE-A0FFA10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 choice, then rehearse the justification and limit.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B20FFB4-B6E4-4B8C-85A2-2B22B8A5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65E10310-7A8F-4011-B28B-5037534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2E54B09-6FE7-4C3F-B487-D9C0916C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5348852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215E0716-D8D9-4D4B-8765-D529194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46773B-BFB3-43E4-98D4-97FF966A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D991A9D-E1E4-4A4E-808A-CFDC5B0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A1E63D-5D82-4FFF-9CC8-599E5532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603D99-2195-48B3-8DF7-542D753D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8F85D2E-124D-4FF6-92D7-17E20D51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RAIN-COVER MODEL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6E4BA71-D4BE-445C-9CC6-5DC9D82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HARD-WEARING PATH MODEL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2EFCAF3-1291-477D-9B29-6493F79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INDOOR DISPLAY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F123C4D-45FB-4CDF-8A3A-CA95714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NEEDS ANOTHER CHECK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632DABFF-9C1E-470F-ABED-1B1055DD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Say: I chose __ for the model __ because __. Candidate __ was weaker because __. The matrix cannot tell us __.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EEF5468F-8B41-4AA9-A1A9-3162D06E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888B216B-7381-4D36-88E3-92AE333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857537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A5F8315-FB68-4F69-A275-CA493D5E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2D526D7-4EBF-46C7-AD49-608F9A74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717DEA7-2F2E-4EBA-9516-B5B9051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2C4D77-4873-44CC-8DFF-AAC6302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613C366-50FE-444B-9A8D-4669F72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6F23AE2-93C3-4516-A270-AEA5E725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supplied candidate for one model job, compare at least two options and revise or confirm the decision after a genuine audience question.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DC9D157-4E02-4397-A300-9053BD9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Brief criteria, two-candidate comparison, chosen candidate, relevant because evidence, one limit, one audience question and visible response.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74C814D-9E23-4EBF-8A0B-A4C1083F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93CB3E6-B238-410F-9F61-76B18A06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476132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BED9DFB-4CA5-4BC3-87D9-B9EF132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F48FB3-EABE-4B64-B5AE-0A14E61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A3C66AB-ED39-4347-BC05-7017EAC7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EF5895-2D5B-4F1C-B7D8-45620F54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FC717CE-7280-46FD-BBD8-D5EE6BA1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1AFB058-46DA-492A-8D79-DF9232BE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between two candidates for one brief and complete an oral, pointed or scribed because sentence plus one question-mark limit.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2B3ECC3-D1E1-48F2-8114-E461832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Compare three candidates on relevant criteria, justify one choice and revise or confirm it after an audience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FD3A270-A337-4BBF-8454-1F4E02A3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a trade-off, defend why one tempting candidate is unsuitable and explain how the decision would change for a different purpose.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A027CED-6EC4-43CB-9B13-838F33E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3D5B737-C184-4F8B-87B1-B6EB61CC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234082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4430343-8784-4D43-A7E7-2D78BB10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BF51E27-4A8D-4B16-A3E8-65E85B6D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5533EFB-23CF-4398-8CBE-39A1E7E8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B07943-C132-4939-B757-0C2B5279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E8EBAB-8D32-4664-92BD-244C1BC7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465BC31-A4B5-4E2D-990B-4FEA6274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your choice, strongest evidence and one limit after the audience response.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8A559F9-E94C-4BE4-8466-1557378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9BB0987-A2E4-4450-AC14-763E5E8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7723049-33B6-4F59-B82F-F289E2EA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665713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2026-09-08T08:54:14.7330000Z</dcterms:created>
  <dcterms:modified xsi:type="dcterms:W3CDTF">2026-09-08T08:54:14.7330000Z</dcterms:modified>
</coreProperties>
</file>