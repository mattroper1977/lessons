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7b74c05d703487e" /><Relationship Type="http://schemas.openxmlformats.org/officeDocument/2006/relationships/extended-properties" Target="/docProps/app.xml" Id="Rd81d1758ed274d78" /><Relationship Type="http://schemas.openxmlformats.org/officeDocument/2006/relationships/officeDocument" Target="/ppt/presentation.xml" Id="R1878752a8b934d58" /></Relationships>
</file>

<file path=ppt/presentation.xml><?xml version="1.0" encoding="utf-8"?>
<p:presentation xmlns:p="http://schemas.openxmlformats.org/presentationml/2006/main">
  <p:sldMasterIdLst>
    <p:sldMasterId xmlns:r="http://schemas.openxmlformats.org/officeDocument/2006/relationships" id="2147483648" r:id="R01bc5aa442c44329"/>
  </p:sldMasterIdLst>
  <p:notesMasterIdLst>
    <p:notesMasterId xmlns:r="http://schemas.openxmlformats.org/officeDocument/2006/relationships" r:id="R7dbe5b7d2ae94c38"/>
  </p:notesMasterIdLst>
  <p:sldIdLst>
    <p:sldId xmlns:r="http://schemas.openxmlformats.org/officeDocument/2006/relationships" id="256" r:id="Ra2aa3055117a4d36"/>
    <p:sldId xmlns:r="http://schemas.openxmlformats.org/officeDocument/2006/relationships" id="257" r:id="R5c780eb27ae14943"/>
    <p:sldId xmlns:r="http://schemas.openxmlformats.org/officeDocument/2006/relationships" id="258" r:id="Rde738871764f42d3"/>
    <p:sldId xmlns:r="http://schemas.openxmlformats.org/officeDocument/2006/relationships" id="259" r:id="R1bdf759efb7d4f1b"/>
    <p:sldId xmlns:r="http://schemas.openxmlformats.org/officeDocument/2006/relationships" id="260" r:id="Rae68ee23b2e34373"/>
    <p:sldId xmlns:r="http://schemas.openxmlformats.org/officeDocument/2006/relationships" id="261" r:id="Rb39c6ed8e41f4cc3"/>
    <p:sldId xmlns:r="http://schemas.openxmlformats.org/officeDocument/2006/relationships" id="262" r:id="Rf5975a2c9da74c6a"/>
    <p:sldId xmlns:r="http://schemas.openxmlformats.org/officeDocument/2006/relationships" id="263" r:id="R5547b514da6343cd"/>
    <p:sldId xmlns:r="http://schemas.openxmlformats.org/officeDocument/2006/relationships" id="264" r:id="R5667670ecf434532"/>
    <p:sldId xmlns:r="http://schemas.openxmlformats.org/officeDocument/2006/relationships" id="265" r:id="Rbde6248adb1d4a39"/>
    <p:sldId xmlns:r="http://schemas.openxmlformats.org/officeDocument/2006/relationships" id="266" r:id="R6da1b4e93d00437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64f5e3ff12d4ffe" /><Relationship Type="http://schemas.openxmlformats.org/officeDocument/2006/relationships/slideMaster" Target="/ppt/slideMasters/slideMaster1.xml" Id="R01bc5aa442c44329" /><Relationship Type="http://schemas.openxmlformats.org/officeDocument/2006/relationships/notesMaster" Target="/ppt/notesMasters/notesMaster1.xml" Id="R7dbe5b7d2ae94c38" /><Relationship Type="http://schemas.openxmlformats.org/officeDocument/2006/relationships/presProps" Target="/ppt/presProps.xml" Id="R27d279fc15664e76" /><Relationship Type="http://schemas.openxmlformats.org/officeDocument/2006/relationships/tableStyles" Target="/ppt/tableStyles.xml" Id="R58f38d7ad96e47da" /><Relationship Type="http://schemas.openxmlformats.org/officeDocument/2006/relationships/slide" Target="/ppt/slides/slide1.xml" Id="Ra2aa3055117a4d36" /><Relationship Type="http://schemas.openxmlformats.org/officeDocument/2006/relationships/slide" Target="/ppt/slides/slide2.xml" Id="R5c780eb27ae14943" /><Relationship Type="http://schemas.openxmlformats.org/officeDocument/2006/relationships/slide" Target="/ppt/slides/slide3.xml" Id="Rde738871764f42d3" /><Relationship Type="http://schemas.openxmlformats.org/officeDocument/2006/relationships/slide" Target="/ppt/slides/slide4.xml" Id="R1bdf759efb7d4f1b" /><Relationship Type="http://schemas.openxmlformats.org/officeDocument/2006/relationships/slide" Target="/ppt/slides/slide5.xml" Id="Rae68ee23b2e34373" /><Relationship Type="http://schemas.openxmlformats.org/officeDocument/2006/relationships/slide" Target="/ppt/slides/slide6.xml" Id="Rb39c6ed8e41f4cc3" /><Relationship Type="http://schemas.openxmlformats.org/officeDocument/2006/relationships/slide" Target="/ppt/slides/slide7.xml" Id="Rf5975a2c9da74c6a" /><Relationship Type="http://schemas.openxmlformats.org/officeDocument/2006/relationships/slide" Target="/ppt/slides/slide8.xml" Id="R5547b514da6343cd" /><Relationship Type="http://schemas.openxmlformats.org/officeDocument/2006/relationships/slide" Target="/ppt/slides/slide9.xml" Id="R5667670ecf434532" /><Relationship Type="http://schemas.openxmlformats.org/officeDocument/2006/relationships/slide" Target="/ppt/slides/slide10.xml" Id="Rbde6248adb1d4a39" /><Relationship Type="http://schemas.openxmlformats.org/officeDocument/2006/relationships/slide" Target="/ppt/slides/slide11.xml" Id="R6da1b4e93d00437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1acca1e1f6147d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543e7c6ccc84c53" /><Relationship Type="http://schemas.openxmlformats.org/officeDocument/2006/relationships/notesMaster" Target="/ppt/notesMasters/notesMaster1.xml" Id="R63ea8a14fcbe45d8" /></Relationships>
</file>

<file path=ppt/notesSlides/_rels/notesSlide2.xml.rels>&#65279;<?xml version="1.0" encoding="utf-8"?><Relationships xmlns="http://schemas.openxmlformats.org/package/2006/relationships"><Relationship Type="http://schemas.openxmlformats.org/officeDocument/2006/relationships/slide" Target="/ppt/slides/slide2.xml" Id="Rb5063ad3e75544a8" /><Relationship Type="http://schemas.openxmlformats.org/officeDocument/2006/relationships/notesMaster" Target="/ppt/notesMasters/notesMaster1.xml" Id="R10bcdd7d202a4685" /></Relationships>
</file>

<file path=ppt/notesSlides/_rels/notesSlide3.xml.rels>&#65279;<?xml version="1.0" encoding="utf-8"?><Relationships xmlns="http://schemas.openxmlformats.org/package/2006/relationships"><Relationship Type="http://schemas.openxmlformats.org/officeDocument/2006/relationships/slide" Target="/ppt/slides/slide3.xml" Id="R3355f0b6108a46fc" /><Relationship Type="http://schemas.openxmlformats.org/officeDocument/2006/relationships/notesMaster" Target="/ppt/notesMasters/notesMaster1.xml" Id="R8a35541d4972498f" /></Relationships>
</file>

<file path=ppt/notesSlides/_rels/notesSlide4.xml.rels>&#65279;<?xml version="1.0" encoding="utf-8"?><Relationships xmlns="http://schemas.openxmlformats.org/package/2006/relationships"><Relationship Type="http://schemas.openxmlformats.org/officeDocument/2006/relationships/slide" Target="/ppt/slides/slide4.xml" Id="Rb6bd1e70d4344c70" /><Relationship Type="http://schemas.openxmlformats.org/officeDocument/2006/relationships/notesMaster" Target="/ppt/notesMasters/notesMaster1.xml" Id="R041e1458c50d4ba2" /></Relationships>
</file>

<file path=ppt/notesSlides/_rels/notesSlide5.xml.rels>&#65279;<?xml version="1.0" encoding="utf-8"?><Relationships xmlns="http://schemas.openxmlformats.org/package/2006/relationships"><Relationship Type="http://schemas.openxmlformats.org/officeDocument/2006/relationships/slide" Target="/ppt/slides/slide5.xml" Id="R9fed4bbe98424afa" /><Relationship Type="http://schemas.openxmlformats.org/officeDocument/2006/relationships/notesMaster" Target="/ppt/notesMasters/notesMaster1.xml" Id="Rb0c99f63c9af4f3c" /></Relationships>
</file>

<file path=ppt/notesSlides/_rels/notesSlide6.xml.rels>&#65279;<?xml version="1.0" encoding="utf-8"?><Relationships xmlns="http://schemas.openxmlformats.org/package/2006/relationships"><Relationship Type="http://schemas.openxmlformats.org/officeDocument/2006/relationships/slide" Target="/ppt/slides/slide6.xml" Id="Ra4ba0bdb24b64093" /><Relationship Type="http://schemas.openxmlformats.org/officeDocument/2006/relationships/notesMaster" Target="/ppt/notesMasters/notesMaster1.xml" Id="Ra446c16b04c641a5" /></Relationships>
</file>

<file path=ppt/notesSlides/_rels/notesSlide7.xml.rels>&#65279;<?xml version="1.0" encoding="utf-8"?><Relationships xmlns="http://schemas.openxmlformats.org/package/2006/relationships"><Relationship Type="http://schemas.openxmlformats.org/officeDocument/2006/relationships/slide" Target="/ppt/slides/slide7.xml" Id="Rcfd5049170e14a97" /><Relationship Type="http://schemas.openxmlformats.org/officeDocument/2006/relationships/notesMaster" Target="/ppt/notesMasters/notesMaster1.xml" Id="R14a0427aef3943b8" /></Relationships>
</file>

<file path=ppt/notesSlides/_rels/notesSlide8.xml.rels>&#65279;<?xml version="1.0" encoding="utf-8"?><Relationships xmlns="http://schemas.openxmlformats.org/package/2006/relationships"><Relationship Type="http://schemas.openxmlformats.org/officeDocument/2006/relationships/slide" Target="/ppt/slides/slide8.xml" Id="R4f4ffc350de9465c" /><Relationship Type="http://schemas.openxmlformats.org/officeDocument/2006/relationships/notesMaster" Target="/ppt/notesMasters/notesMaster1.xml" Id="R99c8cae4c4b148c6" /></Relationships>
</file>

<file path=ppt/notesSlides/_rels/notesSlide9.xml.rels>&#65279;<?xml version="1.0" encoding="utf-8"?><Relationships xmlns="http://schemas.openxmlformats.org/package/2006/relationships"><Relationship Type="http://schemas.openxmlformats.org/officeDocument/2006/relationships/slide" Target="/ppt/slides/slide9.xml" Id="R600165f35fc84f54" /><Relationship Type="http://schemas.openxmlformats.org/officeDocument/2006/relationships/notesMaster" Target="/ppt/notesMasters/notesMaster1.xml" Id="Rd74b98c0ee54489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dc98ae9c437e48e3" /><Relationship Type="http://schemas.openxmlformats.org/officeDocument/2006/relationships/notesMaster" Target="/ppt/notesMasters/notesMaster1.xml" Id="Rd3979fd0781e41f8"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4bd01b1a08294bbb" /><Relationship Type="http://schemas.openxmlformats.org/officeDocument/2006/relationships/notesMaster" Target="/ppt/notesMasters/notesMaster1.xml" Id="R8d1c61f70bd9460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Workshop reference — 0 minutes within the source's 40-minute lesson.</a:t>
            </a:r>
          </a:p>
          <a:p xmlns:a="http://schemas.openxmlformats.org/drawingml/2006/main">
            <a:r>
              <a:t>Wednesday P2, 10:10-10:50. Reference screen only; start the 32-minute workshop immediately. No additional starter or lesson time.</a:t>
            </a:r>
          </a:p>
          <a:p xmlns:a="http://schemas.openxmlformats.org/drawingml/2006/main">
            <a:r>
              <a:t/>
            </a:r>
          </a:p>
          <a:p xmlns:a="http://schemas.openxmlformats.org/drawingml/2006/main">
            <a:r>
              <a:t>[Sources]</a:t>
            </a:r>
          </a:p>
          <a:p xmlns:a="http://schemas.openxmlformats.org/drawingml/2006/main">
            <a:r>
              <a:t>https://github.com/MattRoper1977/Lessons/blob/main/Science_Teesside/Build/SCI_B_W3_Backbones.html</a:t>
            </a:r>
          </a:p>
          <a:p xmlns:a="http://schemas.openxmlformats.org/drawingml/2006/main">
            <a:r>
              <a:t>Git blob: 349b5b8637ba978dd594f77d80fbd7998dac1ff2.</a:t>
            </a:r>
          </a:p>
          <a:p xmlns:a="http://schemas.openxmlformats.org/drawingml/2006/main">
            <a:r>
              <a:t>SHA256: b3c0a0b3c66bfa199a9bce613bad2c7b5a35eaf97733e069fb5da8ebfe523442.</a:t>
            </a:r>
          </a:p>
          <a:p xmlns:a="http://schemas.openxmlformats.org/drawingml/2006/main">
            <a:r>
              <a:t>User-supplied logo: approved-logo.jpg (unchanged attachment bytes).</a:t>
            </a:r>
          </a:p>
          <a:p xmlns:a="http://schemas.openxmlformats.org/drawingml/2006/main">
            <a:r>
              <a:t>White Rose Education, Year 3 Autumn Block 1 (2024): Skeletons, steps 3-5; uploaded source lessons about animal bones, animals with/without a spine and comparing skeletons. Steps 1-2 provide optional prerequisite vocabulary; they are not relabelled as completed baseline teaching.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Independent Work — retrieve — 4 minutes within the source's 40-minute lesson.</a:t>
            </a:r>
          </a:p>
          <a:p xmlns:a="http://schemas.openxmlformats.org/drawingml/2006/main">
            <a:r>
              <a:t>Source preparation phase, four minutes. Retrieve Monday’s eight-animal vocabulary: fish, bird, frog, lizard, mouse, snail, crab, earthworm. The first five have backbones; last three do not. Do not replace evidence with guessing from fur/size. Adult can read and cut.</a:t>
            </a:r>
          </a:p>
          <a:p xmlns:a="http://schemas.openxmlformats.org/drawingml/2006/main">
            <a:r>
              <a:t/>
            </a:r>
          </a:p>
          <a:p xmlns:a="http://schemas.openxmlformats.org/drawingml/2006/main">
            <a:r>
              <a:t>[Sources]</a:t>
            </a:r>
          </a:p>
          <a:p xmlns:a="http://schemas.openxmlformats.org/drawingml/2006/main">
            <a:r>
              <a:t>https://github.com/MattRoper1977/Lessons/blob/main/Science_Teesside/Build/SCI_B_W3_Backbones.html</a:t>
            </a:r>
          </a:p>
          <a:p xmlns:a="http://schemas.openxmlformats.org/drawingml/2006/main">
            <a:r>
              <a:t>Git blob: 349b5b8637ba978dd594f77d80fbd7998dac1ff2.</a:t>
            </a:r>
          </a:p>
          <a:p xmlns:a="http://schemas.openxmlformats.org/drawingml/2006/main">
            <a:r>
              <a:t>SHA256: b3c0a0b3c66bfa199a9bce613bad2c7b5a35eaf97733e069fb5da8ebfe523442.</a:t>
            </a:r>
          </a:p>
          <a:p xmlns:a="http://schemas.openxmlformats.org/drawingml/2006/main">
            <a:r>
              <a:t>User-supplied logo: approved-logo.jpg (unchanged attachment bytes).</a:t>
            </a:r>
          </a:p>
          <a:p xmlns:a="http://schemas.openxmlformats.org/drawingml/2006/main">
            <a:r>
              <a:t>White Rose Education, Year 3 Autumn Block 1 (2024): Skeletons, steps 3-5; uploaded source lessons about animal bones, animals with/without a spine and comparing skeletons. Steps 1-2 provide optional prerequisite vocabulary; they are not relabelled as completed baseline teaching.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Independent Work — investigate — 5 minutes within the source's 40-minute lesson.</a:t>
            </a:r>
          </a:p>
          <a:p xmlns:a="http://schemas.openxmlformats.org/drawingml/2006/main">
            <a:r>
              <a:t>First five minutes of source 20-minute investigation. Hide each clue initially and record first idea; then reveal clue and classify. Both are vertebrates. Wings do not decide classification; evidence of backbone does. Pupil can leave prediction unsure until evidence is available.</a:t>
            </a:r>
          </a:p>
          <a:p xmlns:a="http://schemas.openxmlformats.org/drawingml/2006/main">
            <a:r>
              <a:t/>
            </a:r>
          </a:p>
          <a:p xmlns:a="http://schemas.openxmlformats.org/drawingml/2006/main">
            <a:r>
              <a:t>[Sources]</a:t>
            </a:r>
          </a:p>
          <a:p xmlns:a="http://schemas.openxmlformats.org/drawingml/2006/main">
            <a:r>
              <a:t>https://github.com/MattRoper1977/Lessons/blob/main/Science_Teesside/Build/SCI_B_W3_Backbones.html</a:t>
            </a:r>
          </a:p>
          <a:p xmlns:a="http://schemas.openxmlformats.org/drawingml/2006/main">
            <a:r>
              <a:t>Git blob: 349b5b8637ba978dd594f77d80fbd7998dac1ff2.</a:t>
            </a:r>
          </a:p>
          <a:p xmlns:a="http://schemas.openxmlformats.org/drawingml/2006/main">
            <a:r>
              <a:t>SHA256: b3c0a0b3c66bfa199a9bce613bad2c7b5a35eaf97733e069fb5da8ebfe523442.</a:t>
            </a:r>
          </a:p>
          <a:p xmlns:a="http://schemas.openxmlformats.org/drawingml/2006/main">
            <a:r>
              <a:t>User-supplied logo: approved-logo.jpg (unchanged attachment bytes).</a:t>
            </a:r>
          </a:p>
          <a:p xmlns:a="http://schemas.openxmlformats.org/drawingml/2006/main">
            <a:r>
              <a:t>White Rose Education, Year 3 Autumn Block 1 (2024): Skeletons, steps 3-5; uploaded source lessons about animal bones, animals with/without a spine and comparing skeletons. Steps 1-2 provide optional prerequisite vocabulary; they are not relabelled as completed baseline teaching.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Independent Work — investigate — 5 minutes within the source's 40-minute lesson.</a:t>
            </a:r>
          </a:p>
          <a:p xmlns:a="http://schemas.openxmlformats.org/drawingml/2006/main">
            <a:r>
              <a:t>Next five minutes. Both are invertebrates but support differs. Beetle exoskeleton is a hard outside; earthworm support comes from muscles/fluid. Explain that no backbone does not mean no support. Native text comparison replaces source illustration; no live animals or handling.</a:t>
            </a:r>
          </a:p>
          <a:p xmlns:a="http://schemas.openxmlformats.org/drawingml/2006/main">
            <a:r>
              <a:t/>
            </a:r>
          </a:p>
          <a:p xmlns:a="http://schemas.openxmlformats.org/drawingml/2006/main">
            <a:r>
              <a:t>[Sources]</a:t>
            </a:r>
          </a:p>
          <a:p xmlns:a="http://schemas.openxmlformats.org/drawingml/2006/main">
            <a:r>
              <a:t>https://github.com/MattRoper1977/Lessons/blob/main/Science_Teesside/Build/SCI_B_W3_Backbones.html</a:t>
            </a:r>
          </a:p>
          <a:p xmlns:a="http://schemas.openxmlformats.org/drawingml/2006/main">
            <a:r>
              <a:t>Git blob: 349b5b8637ba978dd594f77d80fbd7998dac1ff2.</a:t>
            </a:r>
          </a:p>
          <a:p xmlns:a="http://schemas.openxmlformats.org/drawingml/2006/main">
            <a:r>
              <a:t>SHA256: b3c0a0b3c66bfa199a9bce613bad2c7b5a35eaf97733e069fb5da8ebfe523442.</a:t>
            </a:r>
          </a:p>
          <a:p xmlns:a="http://schemas.openxmlformats.org/drawingml/2006/main">
            <a:r>
              <a:t>User-supplied logo: approved-logo.jpg (unchanged attachment bytes).</a:t>
            </a:r>
          </a:p>
          <a:p xmlns:a="http://schemas.openxmlformats.org/drawingml/2006/main">
            <a:r>
              <a:t>White Rose Education, Year 3 Autumn Block 1 (2024): Skeletons, steps 3-5; uploaded source lessons about animal bones, animals with/without a spine and comparing skeletons. Steps 1-2 provide optional prerequisite vocabulary; they are not relabelled as completed baseline teaching.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Independent Work — investigate — 5 minutes within the source's 40-minute lesson.</a:t>
            </a:r>
          </a:p>
          <a:p xmlns:a="http://schemas.openxmlformats.org/drawingml/2006/main">
            <a:r>
              <a:t>Next five minutes. Adult can write pupil-dictated clues. One clue must discriminate backbone presence/absence: e.g. internal bones include a backbone, or hard outer case and no backbone. “It is small” alone cannot settle it. Keep hidden answer on the teacher side, not pupil public display.</a:t>
            </a:r>
          </a:p>
          <a:p xmlns:a="http://schemas.openxmlformats.org/drawingml/2006/main">
            <a:r>
              <a:t/>
            </a:r>
          </a:p>
          <a:p xmlns:a="http://schemas.openxmlformats.org/drawingml/2006/main">
            <a:r>
              <a:t>[Sources]</a:t>
            </a:r>
          </a:p>
          <a:p xmlns:a="http://schemas.openxmlformats.org/drawingml/2006/main">
            <a:r>
              <a:t>https://github.com/MattRoper1977/Lessons/blob/main/Science_Teesside/Build/SCI_B_W3_Backbones.html</a:t>
            </a:r>
          </a:p>
          <a:p xmlns:a="http://schemas.openxmlformats.org/drawingml/2006/main">
            <a:r>
              <a:t>Git blob: 349b5b8637ba978dd594f77d80fbd7998dac1ff2.</a:t>
            </a:r>
          </a:p>
          <a:p xmlns:a="http://schemas.openxmlformats.org/drawingml/2006/main">
            <a:r>
              <a:t>SHA256: b3c0a0b3c66bfa199a9bce613bad2c7b5a35eaf97733e069fb5da8ebfe523442.</a:t>
            </a:r>
          </a:p>
          <a:p xmlns:a="http://schemas.openxmlformats.org/drawingml/2006/main">
            <a:r>
              <a:t>User-supplied logo: approved-logo.jpg (unchanged attachment bytes).</a:t>
            </a:r>
          </a:p>
          <a:p xmlns:a="http://schemas.openxmlformats.org/drawingml/2006/main">
            <a:r>
              <a:t>White Rose Education, Year 3 Autumn Block 1 (2024): Skeletons, steps 3-5; uploaded source lessons about animal bones, animals with/without a spine and comparing skeletons. Steps 1-2 provide optional prerequisite vocabulary; they are not relabelled as completed baseline teaching.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Independent Work — investigate — 5 minutes within the source's 40-minute lesson.</a:t>
            </a:r>
          </a:p>
          <a:p xmlns:a="http://schemas.openxmlformats.org/drawingml/2006/main">
            <a:r>
              <a:t>Final five minutes of 20-minute investigation. No compulsory peer audience. A useful card need not identify the exact species; it should allow group classification. If solver guesses from size, ask author to improve body evidence. Adult notes pupil reasoning and support used.</a:t>
            </a:r>
          </a:p>
          <a:p xmlns:a="http://schemas.openxmlformats.org/drawingml/2006/main">
            <a:r>
              <a:t/>
            </a:r>
          </a:p>
          <a:p xmlns:a="http://schemas.openxmlformats.org/drawingml/2006/main">
            <a:r>
              <a:t>[Sources]</a:t>
            </a:r>
          </a:p>
          <a:p xmlns:a="http://schemas.openxmlformats.org/drawingml/2006/main">
            <a:r>
              <a:t>https://github.com/MattRoper1977/Lessons/blob/main/Science_Teesside/Build/SCI_B_W3_Backbones.html</a:t>
            </a:r>
          </a:p>
          <a:p xmlns:a="http://schemas.openxmlformats.org/drawingml/2006/main">
            <a:r>
              <a:t>Git blob: 349b5b8637ba978dd594f77d80fbd7998dac1ff2.</a:t>
            </a:r>
          </a:p>
          <a:p xmlns:a="http://schemas.openxmlformats.org/drawingml/2006/main">
            <a:r>
              <a:t>SHA256: b3c0a0b3c66bfa199a9bce613bad2c7b5a35eaf97733e069fb5da8ebfe523442.</a:t>
            </a:r>
          </a:p>
          <a:p xmlns:a="http://schemas.openxmlformats.org/drawingml/2006/main">
            <a:r>
              <a:t>User-supplied logo: approved-logo.jpg (unchanged attachment bytes).</a:t>
            </a:r>
          </a:p>
          <a:p xmlns:a="http://schemas.openxmlformats.org/drawingml/2006/main">
            <a:r>
              <a:t>White Rose Education, Year 3 Autumn Block 1 (2024): Skeletons, steps 3-5; uploaded source lessons about animal bones, animals with/without a spine and comparing skeletons. Steps 1-2 provide optional prerequisite vocabulary; they are not relabelled as completed baseline teaching.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Independent Work — check — 2 minutes within the source's 40-minute lesson.</a:t>
            </a:r>
          </a:p>
          <a:p xmlns:a="http://schemas.openxmlformats.org/drawingml/2006/main">
            <a:r>
              <a:t>Source two-minute check is included in 32, not extra. Ask whether the card distinguishes internal backbone from shell/outer case/fluid support. Let the pupil change an uncertain classification in response to evidence.</a:t>
            </a:r>
          </a:p>
          <a:p xmlns:a="http://schemas.openxmlformats.org/drawingml/2006/main">
            <a:r>
              <a:t/>
            </a:r>
          </a:p>
          <a:p xmlns:a="http://schemas.openxmlformats.org/drawingml/2006/main">
            <a:r>
              <a:t>[Sources]</a:t>
            </a:r>
          </a:p>
          <a:p xmlns:a="http://schemas.openxmlformats.org/drawingml/2006/main">
            <a:r>
              <a:t>https://github.com/MattRoper1977/Lessons/blob/main/Science_Teesside/Build/SCI_B_W3_Backbones.html</a:t>
            </a:r>
          </a:p>
          <a:p xmlns:a="http://schemas.openxmlformats.org/drawingml/2006/main">
            <a:r>
              <a:t>Git blob: 349b5b8637ba978dd594f77d80fbd7998dac1ff2.</a:t>
            </a:r>
          </a:p>
          <a:p xmlns:a="http://schemas.openxmlformats.org/drawingml/2006/main">
            <a:r>
              <a:t>SHA256: b3c0a0b3c66bfa199a9bce613bad2c7b5a35eaf97733e069fb5da8ebfe523442.</a:t>
            </a:r>
          </a:p>
          <a:p xmlns:a="http://schemas.openxmlformats.org/drawingml/2006/main">
            <a:r>
              <a:t>User-supplied logo: approved-logo.jpg (unchanged attachment bytes).</a:t>
            </a:r>
          </a:p>
          <a:p xmlns:a="http://schemas.openxmlformats.org/drawingml/2006/main">
            <a:r>
              <a:t>White Rose Education, Year 3 Autumn Block 1 (2024): Skeletons, steps 3-5; uploaded source lessons about animal bones, animals with/without a spine and comparing skeletons. Steps 1-2 provide optional prerequisite vocabulary; they are not relabelled as completed baseline teaching.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Independent Work — improve — 4 minutes within the source's 40-minute lesson.</a:t>
            </a:r>
          </a:p>
          <a:p xmlns:a="http://schemas.openxmlformats.org/drawingml/2006/main">
            <a:r>
              <a:t>First four minutes of final six-minute source phase. Example improvement: “hard body” becomes “hard case outside and no internal backbone.” A pupil can point to the right existing evidence sentence instead of composing text. Retain reasoning, not only a photograph.</a:t>
            </a:r>
          </a:p>
          <a:p xmlns:a="http://schemas.openxmlformats.org/drawingml/2006/main">
            <a:r>
              <a:t/>
            </a:r>
          </a:p>
          <a:p xmlns:a="http://schemas.openxmlformats.org/drawingml/2006/main">
            <a:r>
              <a:t>[Sources]</a:t>
            </a:r>
          </a:p>
          <a:p xmlns:a="http://schemas.openxmlformats.org/drawingml/2006/main">
            <a:r>
              <a:t>https://github.com/MattRoper1977/Lessons/blob/main/Science_Teesside/Build/SCI_B_W3_Backbones.html</a:t>
            </a:r>
          </a:p>
          <a:p xmlns:a="http://schemas.openxmlformats.org/drawingml/2006/main">
            <a:r>
              <a:t>Git blob: 349b5b8637ba978dd594f77d80fbd7998dac1ff2.</a:t>
            </a:r>
          </a:p>
          <a:p xmlns:a="http://schemas.openxmlformats.org/drawingml/2006/main">
            <a:r>
              <a:t>SHA256: b3c0a0b3c66bfa199a9bce613bad2c7b5a35eaf97733e069fb5da8ebfe523442.</a:t>
            </a:r>
          </a:p>
          <a:p xmlns:a="http://schemas.openxmlformats.org/drawingml/2006/main">
            <a:r>
              <a:t>User-supplied logo: approved-logo.jpg (unchanged attachment bytes).</a:t>
            </a:r>
          </a:p>
          <a:p xmlns:a="http://schemas.openxmlformats.org/drawingml/2006/main">
            <a:r>
              <a:t>White Rose Education, Year 3 Autumn Block 1 (2024): Skeletons, steps 3-5; uploaded source lessons about animal bones, animals with/without a spine and comparing skeletons. Steps 1-2 provide optional prerequisite vocabulary; they are not relabelled as completed baseline teaching.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Independent Work — tidy — 2 minutes within the source's 40-minute lesson.</a:t>
            </a:r>
          </a:p>
          <a:p xmlns:a="http://schemas.openxmlformats.org/drawingml/2006/main">
            <a:r>
              <a:t>Final two minutes of 32-minute workshop. Adult can label work without gathering any extra personal information. Store within normal classroom arrangements; no upload or public audience needed.</a:t>
            </a:r>
          </a:p>
          <a:p xmlns:a="http://schemas.openxmlformats.org/drawingml/2006/main">
            <a:r>
              <a:t/>
            </a:r>
          </a:p>
          <a:p xmlns:a="http://schemas.openxmlformats.org/drawingml/2006/main">
            <a:r>
              <a:t>[Sources]</a:t>
            </a:r>
          </a:p>
          <a:p xmlns:a="http://schemas.openxmlformats.org/drawingml/2006/main">
            <a:r>
              <a:t>https://github.com/MattRoper1977/Lessons/blob/main/Science_Teesside/Build/SCI_B_W3_Backbones.html</a:t>
            </a:r>
          </a:p>
          <a:p xmlns:a="http://schemas.openxmlformats.org/drawingml/2006/main">
            <a:r>
              <a:t>Git blob: 349b5b8637ba978dd594f77d80fbd7998dac1ff2.</a:t>
            </a:r>
          </a:p>
          <a:p xmlns:a="http://schemas.openxmlformats.org/drawingml/2006/main">
            <a:r>
              <a:t>SHA256: b3c0a0b3c66bfa199a9bce613bad2c7b5a35eaf97733e069fb5da8ebfe523442.</a:t>
            </a:r>
          </a:p>
          <a:p xmlns:a="http://schemas.openxmlformats.org/drawingml/2006/main">
            <a:r>
              <a:t>User-supplied logo: approved-logo.jpg (unchanged attachment bytes).</a:t>
            </a:r>
          </a:p>
          <a:p xmlns:a="http://schemas.openxmlformats.org/drawingml/2006/main">
            <a:r>
              <a:t>White Rose Education, Year 3 Autumn Block 1 (2024): Skeletons, steps 3-5; uploaded source lessons about animal bones, animals with/without a spine and comparing skeletons. Steps 1-2 provide optional prerequisite vocabulary; they are not relabelled as completed baseline teaching.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Lundy Loop — 4 minutes within the source's 40-minute lesson.</a:t>
            </a:r>
          </a:p>
          <a:p xmlns:a="http://schemas.openxmlformats.org/drawingml/2006/main">
            <a:r>
              <a:t>Four minutes within the source lesson. Receive an actual observation or access request; do not force a peer audience. Name what can change now, make the change where possible and check whether it helped. The adult receives and names back the science shown as well as access feedback.</a:t>
            </a:r>
          </a:p>
          <a:p xmlns:a="http://schemas.openxmlformats.org/drawingml/2006/main">
            <a:r>
              <a:t/>
            </a:r>
          </a:p>
          <a:p xmlns:a="http://schemas.openxmlformats.org/drawingml/2006/main">
            <a:r>
              <a:t>[Sources]</a:t>
            </a:r>
          </a:p>
          <a:p xmlns:a="http://schemas.openxmlformats.org/drawingml/2006/main">
            <a:r>
              <a:t>https://github.com/MattRoper1977/Lessons/blob/main/Science_Teesside/Build/SCI_B_W3_Backbones.html</a:t>
            </a:r>
          </a:p>
          <a:p xmlns:a="http://schemas.openxmlformats.org/drawingml/2006/main">
            <a:r>
              <a:t>Git blob: 349b5b8637ba978dd594f77d80fbd7998dac1ff2.</a:t>
            </a:r>
          </a:p>
          <a:p xmlns:a="http://schemas.openxmlformats.org/drawingml/2006/main">
            <a:r>
              <a:t>SHA256: b3c0a0b3c66bfa199a9bce613bad2c7b5a35eaf97733e069fb5da8ebfe523442.</a:t>
            </a:r>
          </a:p>
          <a:p xmlns:a="http://schemas.openxmlformats.org/drawingml/2006/main">
            <a:r>
              <a:t>User-supplied logo: approved-logo.jpg (unchanged attachment bytes).</a:t>
            </a:r>
          </a:p>
          <a:p xmlns:a="http://schemas.openxmlformats.org/drawingml/2006/main">
            <a:r>
              <a:t>White Rose Education, Year 3 Autumn Block 1 (2024): Skeletons, steps 3-5; uploaded source lessons about animal bones, animals with/without a spine and comparing skeletons. Steps 1-2 provide optional prerequisite vocabulary; they are not relabelled as completed baseline teaching.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Exit Ticket — 4 minutes within the source's 40-minute lesson.</a:t>
            </a:r>
          </a:p>
          <a:p xmlns:a="http://schemas.openxmlformats.org/drawingml/2006/main">
            <a:r>
              <a:t>Offer one route, not three compulsory questions. Answers stay in teacher notes: supported fish/bird/frog/lizard/mouse/bat; standard crab has hard outer case but no internal backbone; stretch tiny mouse has backbone while larger crab/lobster lacks one. Adult receives explanation, names back understanding and records a feasible next teaching step.</a:t>
            </a:r>
          </a:p>
          <a:p xmlns:a="http://schemas.openxmlformats.org/drawingml/2006/main">
            <a:r>
              <a:t/>
            </a:r>
          </a:p>
          <a:p xmlns:a="http://schemas.openxmlformats.org/drawingml/2006/main">
            <a:r>
              <a:t>[Sources]</a:t>
            </a:r>
          </a:p>
          <a:p xmlns:a="http://schemas.openxmlformats.org/drawingml/2006/main">
            <a:r>
              <a:t>https://github.com/MattRoper1977/Lessons/blob/main/Science_Teesside/Build/SCI_B_W3_Backbones.html</a:t>
            </a:r>
          </a:p>
          <a:p xmlns:a="http://schemas.openxmlformats.org/drawingml/2006/main">
            <a:r>
              <a:t>Git blob: 349b5b8637ba978dd594f77d80fbd7998dac1ff2.</a:t>
            </a:r>
          </a:p>
          <a:p xmlns:a="http://schemas.openxmlformats.org/drawingml/2006/main">
            <a:r>
              <a:t>SHA256: b3c0a0b3c66bfa199a9bce613bad2c7b5a35eaf97733e069fb5da8ebfe523442.</a:t>
            </a:r>
          </a:p>
          <a:p xmlns:a="http://schemas.openxmlformats.org/drawingml/2006/main">
            <a:r>
              <a:t>User-supplied logo: approved-logo.jpg (unchanged attachment bytes).</a:t>
            </a:r>
          </a:p>
          <a:p xmlns:a="http://schemas.openxmlformats.org/drawingml/2006/main">
            <a:r>
              <a:t>White Rose Education, Year 3 Autumn Block 1 (2024): Skeletons, steps 3-5; uploaded source lessons about animal bones, animals with/without a spine and comparing skeletons. Steps 1-2 provide optional prerequisite vocabulary; they are not relabelled as completed baseline teaching.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0348fbcef90439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d163e7ed6a44b96" /><Relationship Type="http://schemas.openxmlformats.org/officeDocument/2006/relationships/slideLayout" Target="/ppt/slideLayouts/slideLayout1.xml" Id="Rfb48842f6904407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b48842f6904407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93f0db041fff43ee" /><Relationship Type="http://schemas.openxmlformats.org/officeDocument/2006/relationships/image" Target="/ppt/media/image.jpeg" Id="Rfa47fa77662949bf" /><Relationship Type="http://schemas.openxmlformats.org/officeDocument/2006/relationships/notesSlide" Target="/ppt/notesSlides/notesSlide1.xml" Id="R95d48f0540ab45d9"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838fc70da1434dc7" /><Relationship Type="http://schemas.openxmlformats.org/officeDocument/2006/relationships/image" Target="/ppt/media/image.jpeg" Id="R6c8f7d7fae9b4b13" /><Relationship Type="http://schemas.openxmlformats.org/officeDocument/2006/relationships/notesSlide" Target="/ppt/notesSlides/notesSlide2.xml" Id="R0469d78c8a9f4227"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49a70ab476ab4dbf" /><Relationship Type="http://schemas.openxmlformats.org/officeDocument/2006/relationships/image" Target="/ppt/media/image.jpeg" Id="R5491c603e2f74a8d" /><Relationship Type="http://schemas.openxmlformats.org/officeDocument/2006/relationships/notesSlide" Target="/ppt/notesSlides/notesSlide3.xml" Id="R1fd2becdf71e4ddc"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9daf18a1dc774abd" /><Relationship Type="http://schemas.openxmlformats.org/officeDocument/2006/relationships/image" Target="/ppt/media/image.jpeg" Id="Re7aa2abf92504ae9" /><Relationship Type="http://schemas.openxmlformats.org/officeDocument/2006/relationships/notesSlide" Target="/ppt/notesSlides/notesSlide4.xml" Id="R34fdd14f417748db"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26fa7da120094d51" /><Relationship Type="http://schemas.openxmlformats.org/officeDocument/2006/relationships/image" Target="/ppt/media/image.jpeg" Id="R8f8f6051bbea4b36" /><Relationship Type="http://schemas.openxmlformats.org/officeDocument/2006/relationships/notesSlide" Target="/ppt/notesSlides/notesSlide5.xml" Id="R93b6c69f991a4910"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26e696bfa31e4b9e" /><Relationship Type="http://schemas.openxmlformats.org/officeDocument/2006/relationships/image" Target="/ppt/media/image.jpeg" Id="R9448203999fa4916" /><Relationship Type="http://schemas.openxmlformats.org/officeDocument/2006/relationships/notesSlide" Target="/ppt/notesSlides/notesSlide6.xml" Id="Rdc9158e168d14a5c"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bfca2b06c095474e" /><Relationship Type="http://schemas.openxmlformats.org/officeDocument/2006/relationships/image" Target="/ppt/media/image.jpeg" Id="R2073a739e0c4441c" /><Relationship Type="http://schemas.openxmlformats.org/officeDocument/2006/relationships/notesSlide" Target="/ppt/notesSlides/notesSlide7.xml" Id="Rd3dbae1aae414042"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82e13197fa3645ec" /><Relationship Type="http://schemas.openxmlformats.org/officeDocument/2006/relationships/image" Target="/ppt/media/image.jpeg" Id="R75058843ff5b4c98" /><Relationship Type="http://schemas.openxmlformats.org/officeDocument/2006/relationships/notesSlide" Target="/ppt/notesSlides/notesSlide8.xml" Id="R1c3f09325c86482e"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d883bb9760fd49bf" /><Relationship Type="http://schemas.openxmlformats.org/officeDocument/2006/relationships/image" Target="/ppt/media/image.jpeg" Id="Rc4520aee67dc4f46" /><Relationship Type="http://schemas.openxmlformats.org/officeDocument/2006/relationships/notesSlide" Target="/ppt/notesSlides/notesSlide9.xml" Id="Rff45f7d5a6e74d5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ddaaa428f0fc4f9e" /><Relationship Type="http://schemas.openxmlformats.org/officeDocument/2006/relationships/image" Target="/ppt/media/image.jpeg" Id="R4da5386d5ad141bf" /><Relationship Type="http://schemas.openxmlformats.org/officeDocument/2006/relationships/notesSlide" Target="/ppt/notesSlides/notesSlide10.xml" Id="R35aab0f1158040be"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2a12009a675e4741" /><Relationship Type="http://schemas.openxmlformats.org/officeDocument/2006/relationships/image" Target="/ppt/media/image.jpeg" Id="Rb2fef21c90bc4ee8" /><Relationship Type="http://schemas.openxmlformats.org/officeDocument/2006/relationships/notesSlide" Target="/ppt/notesSlides/notesSlide11.xml" Id="R0071d54994794d45" /></Relationships>
</file>

<file path=ppt/slides/slide1.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0" name="top-rule">
            <a:extLst xmlns:a="http://schemas.openxmlformats.org/drawingml/2006/main">
              <a:ext uri="{FF2B5EF4-FFF2-40B4-BE49-F238E27FC236}">
                <a16:creationId xmlns:a16="http://schemas.microsoft.com/office/drawing/2014/main" id="{18478733-0CBD-457B-A437-9C8D379794EE}"/>
              </a:ext>
            </a:extLst>
          </p:cNvPr>
          <p:cNvSpPr>
            <a:spLocks xmlns:a="http://schemas.openxmlformats.org/drawingml/2006/main" noGrp="1"/>
          </p:cNvSpPr>
          <p:nvPr/>
        </p:nvSpPr>
        <p:spPr>
          <a:xfrm xmlns:a="http://schemas.openxmlformats.org/drawingml/2006/main">
            <a:off x="609600" y="552450"/>
            <a:ext cx="781050" cy="57150"/>
          </a:xfrm>
          <a:prstGeom xmlns:a="http://schemas.openxmlformats.org/drawingml/2006/main" prst="rect">
            <a:avLst/>
          </a:prstGeom>
          <a:solidFill xmlns:a="http://schemas.openxmlformats.org/drawingml/2006/main">
            <a:srgbClr val="28685E"/>
          </a:solidFill>
          <a:ln xmlns:a="http://schemas.openxmlformats.org/drawingml/2006/main" w="0">
            <a:noFill/>
            <a:prstDash val="solid"/>
          </a:ln>
        </p:spPr>
      </p:sp>
      <p:sp>
        <p:nvSpPr>
          <p:cNvPr id="2" name="brand">
            <a:extLst xmlns:a="http://schemas.openxmlformats.org/drawingml/2006/main">
              <a:ext uri="{FF2B5EF4-FFF2-40B4-BE49-F238E27FC236}">
                <a16:creationId xmlns:a16="http://schemas.microsoft.com/office/drawing/2014/main" id="{4E3133CE-EFCF-474A-81FD-99DF948AD9A1}"/>
              </a:ext>
            </a:extLst>
          </p:cNvPr>
          <p:cNvSpPr>
            <a:spLocks xmlns:a="http://schemas.openxmlformats.org/drawingml/2006/main" noGrp="1"/>
          </p:cNvSpPr>
          <p:nvPr/>
        </p:nvSpPr>
        <p:spPr>
          <a:xfrm xmlns:a="http://schemas.openxmlformats.org/drawingml/2006/main">
            <a:off x="609600" y="762000"/>
            <a:ext cx="9334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500" b="1">
                <a:solidFill>
                  <a:srgbClr val="28685E"/>
                </a:solidFill>
              </a:defRPr>
            </a:pPr>
            <a:r>
              <a:rPr sz="1500" b="1">
                <a:solidFill>
                  <a:srgbClr val="28685E"/>
                </a:solidFill>
              </a:rPr>
              <a:t>MADE BY MATT  /  BUILD SCIENCE</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fa47fa77662949bf"/>
          <a:stretch xmlns:a="http://schemas.openxmlformats.org/drawingml/2006/main"/>
        </p:blipFill>
        <p:spPr>
          <a:xfrm xmlns:a="http://schemas.openxmlformats.org/drawingml/2006/main">
            <a:off x="10801350" y="438150"/>
            <a:ext cx="781050" cy="781050"/>
          </a:xfrm>
          <a:prstGeom xmlns:a="http://schemas.openxmlformats.org/drawingml/2006/main" prst="rect">
            <a:avLst/>
          </a:prstGeom>
        </p:spPr>
      </p:pic>
      <p:sp>
        <p:nvSpPr>
          <p:cNvPr id="4" name="title">
            <a:extLst xmlns:a="http://schemas.openxmlformats.org/drawingml/2006/main">
              <a:ext uri="{FF2B5EF4-FFF2-40B4-BE49-F238E27FC236}">
                <a16:creationId xmlns:a16="http://schemas.microsoft.com/office/drawing/2014/main" id="{88F923F8-40FE-4A1A-A2A4-E2C158067B73}"/>
              </a:ext>
            </a:extLst>
          </p:cNvPr>
          <p:cNvSpPr>
            <a:spLocks xmlns:a="http://schemas.openxmlformats.org/drawingml/2006/main" noGrp="1"/>
          </p:cNvSpPr>
          <p:nvPr/>
        </p:nvSpPr>
        <p:spPr>
          <a:xfrm xmlns:a="http://schemas.openxmlformats.org/drawingml/2006/main">
            <a:off x="609600" y="1352550"/>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3750" b="1">
                <a:solidFill>
                  <a:srgbClr val="152B3A"/>
                </a:solidFill>
              </a:defRPr>
            </a:pPr>
            <a:r>
              <a:rPr sz="3750" b="1">
                <a:solidFill>
                  <a:srgbClr val="152B3A"/>
                </a:solidFill>
              </a:rPr>
              <a:t>Backbone evidence lab</a:t>
            </a:r>
          </a:p>
        </p:txBody>
      </p:sp>
      <p:sp>
        <p:nvSpPr>
          <p:cNvPr id="5" name="footer-line">
            <a:extLst xmlns:a="http://schemas.openxmlformats.org/drawingml/2006/main">
              <a:ext uri="{FF2B5EF4-FFF2-40B4-BE49-F238E27FC236}">
                <a16:creationId xmlns:a16="http://schemas.microsoft.com/office/drawing/2014/main" id="{78DC91FC-C4BA-48AC-B6AC-4D0ED27A9C88}"/>
              </a:ext>
            </a:extLst>
          </p:cNvPr>
          <p:cNvSpPr>
            <a:spLocks xmlns:a="http://schemas.openxmlformats.org/drawingml/2006/main" noGrp="1"/>
          </p:cNvSpPr>
          <p:nvPr/>
        </p:nvSpPr>
        <p:spPr>
          <a:xfrm xmlns:a="http://schemas.openxmlformats.org/drawingml/2006/main">
            <a:off x="609600" y="6219825"/>
            <a:ext cx="10972800" cy="9525"/>
          </a:xfrm>
          <a:prstGeom xmlns:a="http://schemas.openxmlformats.org/drawingml/2006/main" prst="rect">
            <a:avLst/>
          </a:prstGeom>
          <a:solidFill xmlns:a="http://schemas.openxmlformats.org/drawingml/2006/main">
            <a:srgbClr val="DCE7DD"/>
          </a:solidFill>
          <a:ln xmlns:a="http://schemas.openxmlformats.org/drawingml/2006/main" w="0">
            <a:noFill/>
            <a:prstDash val="solid"/>
          </a:ln>
        </p:spPr>
      </p:sp>
      <p:sp>
        <p:nvSpPr>
          <p:cNvPr id="6" name="footer">
            <a:extLst xmlns:a="http://schemas.openxmlformats.org/drawingml/2006/main">
              <a:ext uri="{FF2B5EF4-FFF2-40B4-BE49-F238E27FC236}">
                <a16:creationId xmlns:a16="http://schemas.microsoft.com/office/drawing/2014/main" id="{13711934-F872-45FA-9438-1203DD117F7D}"/>
              </a:ext>
            </a:extLst>
          </p:cNvPr>
          <p:cNvSpPr>
            <a:spLocks xmlns:a="http://schemas.openxmlformats.org/drawingml/2006/main" noGrp="1"/>
          </p:cNvSpPr>
          <p:nvPr/>
        </p:nvSpPr>
        <p:spPr>
          <a:xfrm xmlns:a="http://schemas.openxmlformats.org/drawingml/2006/main">
            <a:off x="609600" y="6381750"/>
            <a:ext cx="990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275" b="0">
                <a:solidFill>
                  <a:srgbClr val="50616B"/>
                </a:solidFill>
              </a:defRPr>
            </a:pPr>
            <a:r>
              <a:rPr sz="1275" b="0">
                <a:solidFill>
                  <a:srgbClr val="50616B"/>
                </a:solidFill>
              </a:rPr>
              <a:t>AUTUMN 1  ·  WEEK 3  ·  LESSON B</a:t>
            </a:r>
          </a:p>
        </p:txBody>
      </p:sp>
      <p:sp>
        <p:nvSpPr>
          <p:cNvPr id="7" name="page">
            <a:extLst xmlns:a="http://schemas.openxmlformats.org/drawingml/2006/main">
              <a:ext uri="{FF2B5EF4-FFF2-40B4-BE49-F238E27FC236}">
                <a16:creationId xmlns:a16="http://schemas.microsoft.com/office/drawing/2014/main" id="{827A20A8-DA38-4A41-95AC-BF7C10B12678}"/>
              </a:ext>
            </a:extLst>
          </p:cNvPr>
          <p:cNvSpPr>
            <a:spLocks xmlns:a="http://schemas.openxmlformats.org/drawingml/2006/main" noGrp="1"/>
          </p:cNvSpPr>
          <p:nvPr/>
        </p:nvSpPr>
        <p:spPr>
          <a:xfrm xmlns:a="http://schemas.openxmlformats.org/drawingml/2006/main">
            <a:off x="11106150" y="6362700"/>
            <a:ext cx="476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350" b="1">
                <a:solidFill>
                  <a:srgbClr val="28685E"/>
                </a:solidFill>
              </a:defRPr>
            </a:pPr>
            <a:r>
              <a:rPr sz="1350" b="1">
                <a:solidFill>
                  <a:srgbClr val="28685E"/>
                </a:solidFill>
              </a:rPr>
              <a:t>01</a:t>
            </a:r>
          </a:p>
        </p:txBody>
      </p:sp>
      <p:sp>
        <p:nvSpPr>
          <p:cNvPr id="8" name="subtitle">
            <a:extLst xmlns:a="http://schemas.openxmlformats.org/drawingml/2006/main">
              <a:ext uri="{FF2B5EF4-FFF2-40B4-BE49-F238E27FC236}">
                <a16:creationId xmlns:a16="http://schemas.microsoft.com/office/drawing/2014/main" id="{5DFD864C-1156-4181-BF02-B21FE8290C71}"/>
              </a:ext>
            </a:extLst>
          </p:cNvPr>
          <p:cNvSpPr>
            <a:spLocks xmlns:a="http://schemas.openxmlformats.org/drawingml/2006/main" noGrp="1"/>
          </p:cNvSpPr>
          <p:nvPr/>
        </p:nvSpPr>
        <p:spPr>
          <a:xfrm xmlns:a="http://schemas.openxmlformats.org/drawingml/2006/main">
            <a:off x="609600" y="2809875"/>
            <a:ext cx="106680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3900" b="1">
                <a:solidFill>
                  <a:srgbClr val="28685E"/>
                </a:solidFill>
              </a:defRPr>
            </a:pPr>
            <a:r>
              <a:rPr sz="3900" b="1">
                <a:solidFill>
                  <a:srgbClr val="28685E"/>
                </a:solidFill>
              </a:rPr>
              <a:t>Look inside the evidence.</a:t>
            </a:r>
          </a:p>
        </p:txBody>
      </p:sp>
      <p:sp>
        <p:nvSpPr>
          <p:cNvPr id="9" name="body">
            <a:extLst xmlns:a="http://schemas.openxmlformats.org/drawingml/2006/main">
              <a:ext uri="{FF2B5EF4-FFF2-40B4-BE49-F238E27FC236}">
                <a16:creationId xmlns:a16="http://schemas.microsoft.com/office/drawing/2014/main" id="{758486F4-B485-4F22-9319-CC26C3B59D2E}"/>
              </a:ext>
            </a:extLst>
          </p:cNvPr>
          <p:cNvSpPr>
            <a:spLocks xmlns:a="http://schemas.openxmlformats.org/drawingml/2006/main" noGrp="1"/>
          </p:cNvSpPr>
          <p:nvPr/>
        </p:nvSpPr>
        <p:spPr>
          <a:xfrm xmlns:a="http://schemas.openxmlformats.org/drawingml/2006/main">
            <a:off x="609600" y="4143375"/>
            <a:ext cx="106680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I can justify a classification and improve a clue.</a:t>
            </a:r>
          </a:p>
        </p:txBody>
      </p:sp>
    </p:spTree>
    <p:extLst>
      <p:ext uri="{BB962C8B-B14F-4D97-AF65-F5344CB8AC3E}">
        <p14:creationId xmlns:p14="http://schemas.microsoft.com/office/powerpoint/2010/main" val="2063154569"/>
      </p:ext>
    </p:extLst>
  </p:cSld>
</p:sld>
</file>

<file path=ppt/slides/slide2.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1" name="top-rule">
            <a:extLst xmlns:a="http://schemas.openxmlformats.org/drawingml/2006/main">
              <a:ext uri="{FF2B5EF4-FFF2-40B4-BE49-F238E27FC236}">
                <a16:creationId xmlns:a16="http://schemas.microsoft.com/office/drawing/2014/main" id="{8D3586C4-ADF3-42A9-8BEF-87A58B6ED1B9}"/>
              </a:ext>
            </a:extLst>
          </p:cNvPr>
          <p:cNvSpPr>
            <a:spLocks xmlns:a="http://schemas.openxmlformats.org/drawingml/2006/main" noGrp="1"/>
          </p:cNvSpPr>
          <p:nvPr/>
        </p:nvSpPr>
        <p:spPr>
          <a:xfrm xmlns:a="http://schemas.openxmlformats.org/drawingml/2006/main">
            <a:off x="609600" y="552450"/>
            <a:ext cx="781050" cy="57150"/>
          </a:xfrm>
          <a:prstGeom xmlns:a="http://schemas.openxmlformats.org/drawingml/2006/main" prst="rect">
            <a:avLst/>
          </a:prstGeom>
          <a:solidFill xmlns:a="http://schemas.openxmlformats.org/drawingml/2006/main">
            <a:srgbClr val="28685E"/>
          </a:solidFill>
          <a:ln xmlns:a="http://schemas.openxmlformats.org/drawingml/2006/main" w="0">
            <a:noFill/>
            <a:prstDash val="solid"/>
          </a:ln>
        </p:spPr>
      </p:sp>
      <p:sp>
        <p:nvSpPr>
          <p:cNvPr id="2" name="brand">
            <a:extLst xmlns:a="http://schemas.openxmlformats.org/drawingml/2006/main">
              <a:ext uri="{FF2B5EF4-FFF2-40B4-BE49-F238E27FC236}">
                <a16:creationId xmlns:a16="http://schemas.microsoft.com/office/drawing/2014/main" id="{2101ABA2-988B-4275-AED3-94EBF048015E}"/>
              </a:ext>
            </a:extLst>
          </p:cNvPr>
          <p:cNvSpPr>
            <a:spLocks xmlns:a="http://schemas.openxmlformats.org/drawingml/2006/main" noGrp="1"/>
          </p:cNvSpPr>
          <p:nvPr/>
        </p:nvSpPr>
        <p:spPr>
          <a:xfrm xmlns:a="http://schemas.openxmlformats.org/drawingml/2006/main">
            <a:off x="609600" y="762000"/>
            <a:ext cx="9334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500" b="1">
                <a:solidFill>
                  <a:srgbClr val="28685E"/>
                </a:solidFill>
              </a:defRPr>
            </a:pPr>
            <a:r>
              <a:rPr sz="1500" b="1">
                <a:solidFill>
                  <a:srgbClr val="28685E"/>
                </a:solidFill>
              </a:rPr>
              <a:t>MADE BY MATT  /  BUILD SCIENCE</a:t>
            </a:r>
          </a:p>
        </p:txBody>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6c8f7d7fae9b4b13"/>
          <a:stretch xmlns:a="http://schemas.openxmlformats.org/drawingml/2006/main"/>
        </p:blipFill>
        <p:spPr>
          <a:xfrm xmlns:a="http://schemas.openxmlformats.org/drawingml/2006/main">
            <a:off x="10801350" y="438150"/>
            <a:ext cx="781050" cy="781050"/>
          </a:xfrm>
          <a:prstGeom xmlns:a="http://schemas.openxmlformats.org/drawingml/2006/main" prst="rect">
            <a:avLst/>
          </a:prstGeom>
        </p:spPr>
      </p:pic>
      <p:sp>
        <p:nvSpPr>
          <p:cNvPr id="4" name="title">
            <a:extLst xmlns:a="http://schemas.openxmlformats.org/drawingml/2006/main">
              <a:ext uri="{FF2B5EF4-FFF2-40B4-BE49-F238E27FC236}">
                <a16:creationId xmlns:a16="http://schemas.microsoft.com/office/drawing/2014/main" id="{AAA21000-DC8C-4672-9027-33D43964B3D7}"/>
              </a:ext>
            </a:extLst>
          </p:cNvPr>
          <p:cNvSpPr>
            <a:spLocks xmlns:a="http://schemas.openxmlformats.org/drawingml/2006/main" noGrp="1"/>
          </p:cNvSpPr>
          <p:nvPr/>
        </p:nvSpPr>
        <p:spPr>
          <a:xfrm xmlns:a="http://schemas.openxmlformats.org/drawingml/2006/main">
            <a:off x="609600" y="1352550"/>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3750" b="1">
                <a:solidFill>
                  <a:srgbClr val="152B3A"/>
                </a:solidFill>
              </a:defRPr>
            </a:pPr>
            <a:r>
              <a:rPr sz="3750" b="1">
                <a:solidFill>
                  <a:srgbClr val="152B3A"/>
                </a:solidFill>
              </a:rPr>
              <a:t>Return to Monday’s rule</a:t>
            </a:r>
          </a:p>
        </p:txBody>
      </p:sp>
      <p:sp>
        <p:nvSpPr>
          <p:cNvPr id="5" name="footer-line">
            <a:extLst xmlns:a="http://schemas.openxmlformats.org/drawingml/2006/main">
              <a:ext uri="{FF2B5EF4-FFF2-40B4-BE49-F238E27FC236}">
                <a16:creationId xmlns:a16="http://schemas.microsoft.com/office/drawing/2014/main" id="{2A333980-E691-48DD-B9C6-0685CAD6B155}"/>
              </a:ext>
            </a:extLst>
          </p:cNvPr>
          <p:cNvSpPr>
            <a:spLocks xmlns:a="http://schemas.openxmlformats.org/drawingml/2006/main" noGrp="1"/>
          </p:cNvSpPr>
          <p:nvPr/>
        </p:nvSpPr>
        <p:spPr>
          <a:xfrm xmlns:a="http://schemas.openxmlformats.org/drawingml/2006/main">
            <a:off x="609600" y="6219825"/>
            <a:ext cx="10972800" cy="9525"/>
          </a:xfrm>
          <a:prstGeom xmlns:a="http://schemas.openxmlformats.org/drawingml/2006/main" prst="rect">
            <a:avLst/>
          </a:prstGeom>
          <a:solidFill xmlns:a="http://schemas.openxmlformats.org/drawingml/2006/main">
            <a:srgbClr val="DCE7DD"/>
          </a:solidFill>
          <a:ln xmlns:a="http://schemas.openxmlformats.org/drawingml/2006/main" w="0">
            <a:noFill/>
            <a:prstDash val="solid"/>
          </a:ln>
        </p:spPr>
      </p:sp>
      <p:sp>
        <p:nvSpPr>
          <p:cNvPr id="6" name="footer">
            <a:extLst xmlns:a="http://schemas.openxmlformats.org/drawingml/2006/main">
              <a:ext uri="{FF2B5EF4-FFF2-40B4-BE49-F238E27FC236}">
                <a16:creationId xmlns:a16="http://schemas.microsoft.com/office/drawing/2014/main" id="{5F0FE0D3-E3F3-4AC9-857C-835C1ED7D9C7}"/>
              </a:ext>
            </a:extLst>
          </p:cNvPr>
          <p:cNvSpPr>
            <a:spLocks xmlns:a="http://schemas.openxmlformats.org/drawingml/2006/main" noGrp="1"/>
          </p:cNvSpPr>
          <p:nvPr/>
        </p:nvSpPr>
        <p:spPr>
          <a:xfrm xmlns:a="http://schemas.openxmlformats.org/drawingml/2006/main">
            <a:off x="609600" y="6381750"/>
            <a:ext cx="990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275" b="0">
                <a:solidFill>
                  <a:srgbClr val="50616B"/>
                </a:solidFill>
              </a:defRPr>
            </a:pPr>
            <a:r>
              <a:rPr sz="1275" b="0">
                <a:solidFill>
                  <a:srgbClr val="50616B"/>
                </a:solidFill>
              </a:rPr>
              <a:t>AUTUMN 1  ·  WEEK 3  ·  LESSON B</a:t>
            </a:r>
          </a:p>
        </p:txBody>
      </p:sp>
      <p:sp>
        <p:nvSpPr>
          <p:cNvPr id="7" name="page">
            <a:extLst xmlns:a="http://schemas.openxmlformats.org/drawingml/2006/main">
              <a:ext uri="{FF2B5EF4-FFF2-40B4-BE49-F238E27FC236}">
                <a16:creationId xmlns:a16="http://schemas.microsoft.com/office/drawing/2014/main" id="{8F108EBA-2CDB-46C4-A28C-7768D09DA8CE}"/>
              </a:ext>
            </a:extLst>
          </p:cNvPr>
          <p:cNvSpPr>
            <a:spLocks xmlns:a="http://schemas.openxmlformats.org/drawingml/2006/main" noGrp="1"/>
          </p:cNvSpPr>
          <p:nvPr/>
        </p:nvSpPr>
        <p:spPr>
          <a:xfrm xmlns:a="http://schemas.openxmlformats.org/drawingml/2006/main">
            <a:off x="11106150" y="6362700"/>
            <a:ext cx="476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350" b="1">
                <a:solidFill>
                  <a:srgbClr val="28685E"/>
                </a:solidFill>
              </a:defRPr>
            </a:pPr>
            <a:r>
              <a:rPr sz="1350" b="1">
                <a:solidFill>
                  <a:srgbClr val="28685E"/>
                </a:solidFill>
              </a:rPr>
              <a:t>02</a:t>
            </a:r>
          </a:p>
        </p:txBody>
      </p:sp>
      <p:sp>
        <p:nvSpPr>
          <p:cNvPr id="8" name="line-0">
            <a:extLst xmlns:a="http://schemas.openxmlformats.org/drawingml/2006/main">
              <a:ext uri="{FF2B5EF4-FFF2-40B4-BE49-F238E27FC236}">
                <a16:creationId xmlns:a16="http://schemas.microsoft.com/office/drawing/2014/main" id="{3DFA86B2-8639-4A1B-9F01-E34FB07B0601}"/>
              </a:ext>
            </a:extLst>
          </p:cNvPr>
          <p:cNvSpPr>
            <a:spLocks xmlns:a="http://schemas.openxmlformats.org/drawingml/2006/main" noGrp="1"/>
          </p:cNvSpPr>
          <p:nvPr/>
        </p:nvSpPr>
        <p:spPr>
          <a:xfrm xmlns:a="http://schemas.openxmlformats.org/drawingml/2006/main">
            <a:off x="609600" y="2619375"/>
            <a:ext cx="10972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Find your saved animal sort.</a:t>
            </a:r>
          </a:p>
        </p:txBody>
      </p:sp>
      <p:sp>
        <p:nvSpPr>
          <p:cNvPr id="9" name="line-1">
            <a:extLst xmlns:a="http://schemas.openxmlformats.org/drawingml/2006/main">
              <a:ext uri="{FF2B5EF4-FFF2-40B4-BE49-F238E27FC236}">
                <a16:creationId xmlns:a16="http://schemas.microsoft.com/office/drawing/2014/main" id="{A1FB827B-FF8A-4A90-A75E-35E703A02F70}"/>
              </a:ext>
            </a:extLst>
          </p:cNvPr>
          <p:cNvSpPr>
            <a:spLocks xmlns:a="http://schemas.openxmlformats.org/drawingml/2006/main" noGrp="1"/>
          </p:cNvSpPr>
          <p:nvPr/>
        </p:nvSpPr>
        <p:spPr>
          <a:xfrm xmlns:a="http://schemas.openxmlformats.org/drawingml/2006/main">
            <a:off x="609600" y="3476625"/>
            <a:ext cx="10972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Name or point to the backbone rule.</a:t>
            </a:r>
          </a:p>
        </p:txBody>
      </p:sp>
      <p:sp>
        <p:nvSpPr>
          <p:cNvPr id="10" name="line-2">
            <a:extLst xmlns:a="http://schemas.openxmlformats.org/drawingml/2006/main">
              <a:ext uri="{FF2B5EF4-FFF2-40B4-BE49-F238E27FC236}">
                <a16:creationId xmlns:a16="http://schemas.microsoft.com/office/drawing/2014/main" id="{1123178B-41E7-4EE7-81B6-E0024D289999}"/>
              </a:ext>
            </a:extLst>
          </p:cNvPr>
          <p:cNvSpPr>
            <a:spLocks xmlns:a="http://schemas.openxmlformats.org/drawingml/2006/main" noGrp="1"/>
          </p:cNvSpPr>
          <p:nvPr/>
        </p:nvSpPr>
        <p:spPr>
          <a:xfrm xmlns:a="http://schemas.openxmlformats.org/drawingml/2006/main">
            <a:off x="609600" y="4333875"/>
            <a:ext cx="10972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Choose: read, point, move cards or direct.</a:t>
            </a:r>
          </a:p>
        </p:txBody>
      </p:sp>
    </p:spTree>
    <p:extLst>
      <p:ext uri="{BB962C8B-B14F-4D97-AF65-F5344CB8AC3E}">
        <p14:creationId xmlns:p14="http://schemas.microsoft.com/office/powerpoint/2010/main" val="1659818447"/>
      </p:ext>
    </p:extLst>
  </p:cSld>
</p:sld>
</file>

<file path=ppt/slides/slide3.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2" name="top-rule">
            <a:extLst xmlns:a="http://schemas.openxmlformats.org/drawingml/2006/main">
              <a:ext uri="{FF2B5EF4-FFF2-40B4-BE49-F238E27FC236}">
                <a16:creationId xmlns:a16="http://schemas.microsoft.com/office/drawing/2014/main" id="{76143FE7-81AB-4088-A213-36EBFFDBCD68}"/>
              </a:ext>
            </a:extLst>
          </p:cNvPr>
          <p:cNvSpPr>
            <a:spLocks xmlns:a="http://schemas.openxmlformats.org/drawingml/2006/main" noGrp="1"/>
          </p:cNvSpPr>
          <p:nvPr/>
        </p:nvSpPr>
        <p:spPr>
          <a:xfrm xmlns:a="http://schemas.openxmlformats.org/drawingml/2006/main">
            <a:off x="609600" y="552450"/>
            <a:ext cx="781050" cy="57150"/>
          </a:xfrm>
          <a:prstGeom xmlns:a="http://schemas.openxmlformats.org/drawingml/2006/main" prst="rect">
            <a:avLst/>
          </a:prstGeom>
          <a:solidFill xmlns:a="http://schemas.openxmlformats.org/drawingml/2006/main">
            <a:srgbClr val="28685E"/>
          </a:solidFill>
          <a:ln xmlns:a="http://schemas.openxmlformats.org/drawingml/2006/main" w="0">
            <a:noFill/>
            <a:prstDash val="solid"/>
          </a:ln>
        </p:spPr>
      </p:sp>
      <p:sp>
        <p:nvSpPr>
          <p:cNvPr id="2" name="brand">
            <a:extLst xmlns:a="http://schemas.openxmlformats.org/drawingml/2006/main">
              <a:ext uri="{FF2B5EF4-FFF2-40B4-BE49-F238E27FC236}">
                <a16:creationId xmlns:a16="http://schemas.microsoft.com/office/drawing/2014/main" id="{DDC152E0-7EB2-4A14-84EA-1743EBA623DB}"/>
              </a:ext>
            </a:extLst>
          </p:cNvPr>
          <p:cNvSpPr>
            <a:spLocks xmlns:a="http://schemas.openxmlformats.org/drawingml/2006/main" noGrp="1"/>
          </p:cNvSpPr>
          <p:nvPr/>
        </p:nvSpPr>
        <p:spPr>
          <a:xfrm xmlns:a="http://schemas.openxmlformats.org/drawingml/2006/main">
            <a:off x="609600" y="762000"/>
            <a:ext cx="9334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500" b="1">
                <a:solidFill>
                  <a:srgbClr val="28685E"/>
                </a:solidFill>
              </a:defRPr>
            </a:pPr>
            <a:r>
              <a:rPr sz="1500" b="1">
                <a:solidFill>
                  <a:srgbClr val="28685E"/>
                </a:solidFill>
              </a:rPr>
              <a:t>MADE BY MATT  /  BUILD SCIENCE</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5491c603e2f74a8d"/>
          <a:stretch xmlns:a="http://schemas.openxmlformats.org/drawingml/2006/main"/>
        </p:blipFill>
        <p:spPr>
          <a:xfrm xmlns:a="http://schemas.openxmlformats.org/drawingml/2006/main">
            <a:off x="10801350" y="438150"/>
            <a:ext cx="781050" cy="781050"/>
          </a:xfrm>
          <a:prstGeom xmlns:a="http://schemas.openxmlformats.org/drawingml/2006/main" prst="rect">
            <a:avLst/>
          </a:prstGeom>
        </p:spPr>
      </p:pic>
      <p:sp>
        <p:nvSpPr>
          <p:cNvPr id="4" name="title">
            <a:extLst xmlns:a="http://schemas.openxmlformats.org/drawingml/2006/main">
              <a:ext uri="{FF2B5EF4-FFF2-40B4-BE49-F238E27FC236}">
                <a16:creationId xmlns:a16="http://schemas.microsoft.com/office/drawing/2014/main" id="{4A3B0A91-DD80-4C32-BC9B-0769570C2FCE}"/>
              </a:ext>
            </a:extLst>
          </p:cNvPr>
          <p:cNvSpPr>
            <a:spLocks xmlns:a="http://schemas.openxmlformats.org/drawingml/2006/main" noGrp="1"/>
          </p:cNvSpPr>
          <p:nvPr/>
        </p:nvSpPr>
        <p:spPr>
          <a:xfrm xmlns:a="http://schemas.openxmlformats.org/drawingml/2006/main">
            <a:off x="609600" y="1352550"/>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3750" b="1">
                <a:solidFill>
                  <a:srgbClr val="152B3A"/>
                </a:solidFill>
              </a:defRPr>
            </a:pPr>
            <a:r>
              <a:rPr sz="3750" b="1">
                <a:solidFill>
                  <a:srgbClr val="152B3A"/>
                </a:solidFill>
              </a:rPr>
              <a:t>Goldfish and bat: use body clues</a:t>
            </a:r>
          </a:p>
        </p:txBody>
      </p:sp>
      <p:sp>
        <p:nvSpPr>
          <p:cNvPr id="5" name="footer-line">
            <a:extLst xmlns:a="http://schemas.openxmlformats.org/drawingml/2006/main">
              <a:ext uri="{FF2B5EF4-FFF2-40B4-BE49-F238E27FC236}">
                <a16:creationId xmlns:a16="http://schemas.microsoft.com/office/drawing/2014/main" id="{8CD147CE-D0A4-4AA7-AF49-6CEC6C5EB73F}"/>
              </a:ext>
            </a:extLst>
          </p:cNvPr>
          <p:cNvSpPr>
            <a:spLocks xmlns:a="http://schemas.openxmlformats.org/drawingml/2006/main" noGrp="1"/>
          </p:cNvSpPr>
          <p:nvPr/>
        </p:nvSpPr>
        <p:spPr>
          <a:xfrm xmlns:a="http://schemas.openxmlformats.org/drawingml/2006/main">
            <a:off x="609600" y="6219825"/>
            <a:ext cx="10972800" cy="9525"/>
          </a:xfrm>
          <a:prstGeom xmlns:a="http://schemas.openxmlformats.org/drawingml/2006/main" prst="rect">
            <a:avLst/>
          </a:prstGeom>
          <a:solidFill xmlns:a="http://schemas.openxmlformats.org/drawingml/2006/main">
            <a:srgbClr val="DCE7DD"/>
          </a:solidFill>
          <a:ln xmlns:a="http://schemas.openxmlformats.org/drawingml/2006/main" w="0">
            <a:noFill/>
            <a:prstDash val="solid"/>
          </a:ln>
        </p:spPr>
      </p:sp>
      <p:sp>
        <p:nvSpPr>
          <p:cNvPr id="6" name="footer">
            <a:extLst xmlns:a="http://schemas.openxmlformats.org/drawingml/2006/main">
              <a:ext uri="{FF2B5EF4-FFF2-40B4-BE49-F238E27FC236}">
                <a16:creationId xmlns:a16="http://schemas.microsoft.com/office/drawing/2014/main" id="{1713245F-18D8-42B1-96CC-FF2FEFD47CAB}"/>
              </a:ext>
            </a:extLst>
          </p:cNvPr>
          <p:cNvSpPr>
            <a:spLocks xmlns:a="http://schemas.openxmlformats.org/drawingml/2006/main" noGrp="1"/>
          </p:cNvSpPr>
          <p:nvPr/>
        </p:nvSpPr>
        <p:spPr>
          <a:xfrm xmlns:a="http://schemas.openxmlformats.org/drawingml/2006/main">
            <a:off x="609600" y="6381750"/>
            <a:ext cx="990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275" b="0">
                <a:solidFill>
                  <a:srgbClr val="50616B"/>
                </a:solidFill>
              </a:defRPr>
            </a:pPr>
            <a:r>
              <a:rPr sz="1275" b="0">
                <a:solidFill>
                  <a:srgbClr val="50616B"/>
                </a:solidFill>
              </a:rPr>
              <a:t>AUTUMN 1  ·  WEEK 3  ·  LESSON B</a:t>
            </a:r>
          </a:p>
        </p:txBody>
      </p:sp>
      <p:sp>
        <p:nvSpPr>
          <p:cNvPr id="7" name="page">
            <a:extLst xmlns:a="http://schemas.openxmlformats.org/drawingml/2006/main">
              <a:ext uri="{FF2B5EF4-FFF2-40B4-BE49-F238E27FC236}">
                <a16:creationId xmlns:a16="http://schemas.microsoft.com/office/drawing/2014/main" id="{3CB7F9F1-B214-43C3-9D17-E552DF59CD51}"/>
              </a:ext>
            </a:extLst>
          </p:cNvPr>
          <p:cNvSpPr>
            <a:spLocks xmlns:a="http://schemas.openxmlformats.org/drawingml/2006/main" noGrp="1"/>
          </p:cNvSpPr>
          <p:nvPr/>
        </p:nvSpPr>
        <p:spPr>
          <a:xfrm xmlns:a="http://schemas.openxmlformats.org/drawingml/2006/main">
            <a:off x="11106150" y="6362700"/>
            <a:ext cx="476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350" b="1">
                <a:solidFill>
                  <a:srgbClr val="28685E"/>
                </a:solidFill>
              </a:defRPr>
            </a:pPr>
            <a:r>
              <a:rPr sz="1350" b="1">
                <a:solidFill>
                  <a:srgbClr val="28685E"/>
                </a:solidFill>
              </a:rPr>
              <a:t>03</a:t>
            </a:r>
          </a:p>
        </p:txBody>
      </p:sp>
      <p:sp>
        <p:nvSpPr>
          <p:cNvPr id="8" name="left-heading">
            <a:extLst xmlns:a="http://schemas.openxmlformats.org/drawingml/2006/main">
              <a:ext uri="{FF2B5EF4-FFF2-40B4-BE49-F238E27FC236}">
                <a16:creationId xmlns:a16="http://schemas.microsoft.com/office/drawing/2014/main" id="{70CC4937-7B90-4A15-8695-D74EB20F75A5}"/>
              </a:ext>
            </a:extLst>
          </p:cNvPr>
          <p:cNvSpPr>
            <a:spLocks xmlns:a="http://schemas.openxmlformats.org/drawingml/2006/main" noGrp="1"/>
          </p:cNvSpPr>
          <p:nvPr/>
        </p:nvSpPr>
        <p:spPr>
          <a:xfrm xmlns:a="http://schemas.openxmlformats.org/drawingml/2006/main">
            <a:off x="609600" y="2619375"/>
            <a:ext cx="4953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025" b="1">
                <a:solidFill>
                  <a:srgbClr val="28685E"/>
                </a:solidFill>
              </a:defRPr>
            </a:pPr>
            <a:r>
              <a:rPr sz="2025" b="1">
                <a:solidFill>
                  <a:srgbClr val="28685E"/>
                </a:solidFill>
              </a:rPr>
              <a:t>GOLDFISH</a:t>
            </a:r>
          </a:p>
        </p:txBody>
      </p:sp>
      <p:sp>
        <p:nvSpPr>
          <p:cNvPr id="9" name="right-heading">
            <a:extLst xmlns:a="http://schemas.openxmlformats.org/drawingml/2006/main">
              <a:ext uri="{FF2B5EF4-FFF2-40B4-BE49-F238E27FC236}">
                <a16:creationId xmlns:a16="http://schemas.microsoft.com/office/drawing/2014/main" id="{3DABB285-28EA-42C5-BE6C-E38232B218C7}"/>
              </a:ext>
            </a:extLst>
          </p:cNvPr>
          <p:cNvSpPr>
            <a:spLocks xmlns:a="http://schemas.openxmlformats.org/drawingml/2006/main" noGrp="1"/>
          </p:cNvSpPr>
          <p:nvPr/>
        </p:nvSpPr>
        <p:spPr>
          <a:xfrm xmlns:a="http://schemas.openxmlformats.org/drawingml/2006/main">
            <a:off x="6572250" y="2619375"/>
            <a:ext cx="4953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025" b="1">
                <a:solidFill>
                  <a:srgbClr val="A65D25"/>
                </a:solidFill>
              </a:defRPr>
            </a:pPr>
            <a:r>
              <a:rPr sz="2025" b="1">
                <a:solidFill>
                  <a:srgbClr val="A65D25"/>
                </a:solidFill>
              </a:rPr>
              <a:t>BAT</a:t>
            </a:r>
          </a:p>
        </p:txBody>
      </p:sp>
      <p:sp>
        <p:nvSpPr>
          <p:cNvPr id="10" name="left">
            <a:extLst xmlns:a="http://schemas.openxmlformats.org/drawingml/2006/main">
              <a:ext uri="{FF2B5EF4-FFF2-40B4-BE49-F238E27FC236}">
                <a16:creationId xmlns:a16="http://schemas.microsoft.com/office/drawing/2014/main" id="{565E3599-921B-497B-8582-5D0BEC706C6E}"/>
              </a:ext>
            </a:extLst>
          </p:cNvPr>
          <p:cNvSpPr>
            <a:spLocks xmlns:a="http://schemas.openxmlformats.org/drawingml/2006/main" noGrp="1"/>
          </p:cNvSpPr>
          <p:nvPr/>
        </p:nvSpPr>
        <p:spPr>
          <a:xfrm xmlns:a="http://schemas.openxmlformats.org/drawingml/2006/main">
            <a:off x="609600" y="3333750"/>
            <a:ext cx="4953000" cy="2524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400" b="0">
                <a:solidFill>
                  <a:srgbClr val="152B3A"/>
                </a:solidFill>
              </a:defRPr>
            </a:pPr>
            <a:r>
              <a:rPr sz="2400" b="0">
                <a:solidFill>
                  <a:srgbClr val="152B3A"/>
                </a:solidFill>
              </a:rPr>
              <a:t>Bones inside its body.</a:t>
            </a:r>
          </a:p>
          <a:p xmlns:a="http://schemas.openxmlformats.org/drawingml/2006/main">
            <a:pPr>
              <a:defRPr sz="2400" b="0">
                <a:solidFill>
                  <a:srgbClr val="152B3A"/>
                </a:solidFill>
              </a:defRPr>
            </a:pPr>
            <a:r>
              <a:rPr sz="2400" b="0">
                <a:solidFill>
                  <a:srgbClr val="152B3A"/>
                </a:solidFill>
              </a:rPr>
              <a:t>Those bones include a backbone.</a:t>
            </a:r>
          </a:p>
        </p:txBody>
      </p:sp>
      <p:sp>
        <p:nvSpPr>
          <p:cNvPr id="11" name="right">
            <a:extLst xmlns:a="http://schemas.openxmlformats.org/drawingml/2006/main">
              <a:ext uri="{FF2B5EF4-FFF2-40B4-BE49-F238E27FC236}">
                <a16:creationId xmlns:a16="http://schemas.microsoft.com/office/drawing/2014/main" id="{1553E90D-8CFE-4CD8-B749-3544597345C5}"/>
              </a:ext>
            </a:extLst>
          </p:cNvPr>
          <p:cNvSpPr>
            <a:spLocks xmlns:a="http://schemas.openxmlformats.org/drawingml/2006/main" noGrp="1"/>
          </p:cNvSpPr>
          <p:nvPr/>
        </p:nvSpPr>
        <p:spPr>
          <a:xfrm xmlns:a="http://schemas.openxmlformats.org/drawingml/2006/main">
            <a:off x="6572250" y="3333750"/>
            <a:ext cx="4857750" cy="2524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400" b="0">
                <a:solidFill>
                  <a:srgbClr val="152B3A"/>
                </a:solidFill>
              </a:defRPr>
            </a:pPr>
            <a:r>
              <a:rPr sz="2400" b="0">
                <a:solidFill>
                  <a:srgbClr val="152B3A"/>
                </a:solidFill>
              </a:rPr>
              <a:t>Wings on the outside.</a:t>
            </a:r>
          </a:p>
          <a:p xmlns:a="http://schemas.openxmlformats.org/drawingml/2006/main">
            <a:pPr>
              <a:defRPr sz="2400" b="0">
                <a:solidFill>
                  <a:srgbClr val="152B3A"/>
                </a:solidFill>
              </a:defRPr>
            </a:pPr>
            <a:r>
              <a:rPr sz="2400" b="0">
                <a:solidFill>
                  <a:srgbClr val="152B3A"/>
                </a:solidFill>
              </a:rPr>
              <a:t>An internal backbone.</a:t>
            </a:r>
          </a:p>
        </p:txBody>
      </p:sp>
    </p:spTree>
    <p:extLst>
      <p:ext uri="{BB962C8B-B14F-4D97-AF65-F5344CB8AC3E}">
        <p14:creationId xmlns:p14="http://schemas.microsoft.com/office/powerpoint/2010/main" val="27094067"/>
      </p:ext>
    </p:extLst>
  </p:cSld>
</p:sld>
</file>

<file path=ppt/slides/slide4.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2" name="top-rule">
            <a:extLst xmlns:a="http://schemas.openxmlformats.org/drawingml/2006/main">
              <a:ext uri="{FF2B5EF4-FFF2-40B4-BE49-F238E27FC236}">
                <a16:creationId xmlns:a16="http://schemas.microsoft.com/office/drawing/2014/main" id="{6F88D549-1CD5-4B37-9544-F00061F137DD}"/>
              </a:ext>
            </a:extLst>
          </p:cNvPr>
          <p:cNvSpPr>
            <a:spLocks xmlns:a="http://schemas.openxmlformats.org/drawingml/2006/main" noGrp="1"/>
          </p:cNvSpPr>
          <p:nvPr/>
        </p:nvSpPr>
        <p:spPr>
          <a:xfrm xmlns:a="http://schemas.openxmlformats.org/drawingml/2006/main">
            <a:off x="609600" y="552450"/>
            <a:ext cx="781050" cy="57150"/>
          </a:xfrm>
          <a:prstGeom xmlns:a="http://schemas.openxmlformats.org/drawingml/2006/main" prst="rect">
            <a:avLst/>
          </a:prstGeom>
          <a:solidFill xmlns:a="http://schemas.openxmlformats.org/drawingml/2006/main">
            <a:srgbClr val="28685E"/>
          </a:solidFill>
          <a:ln xmlns:a="http://schemas.openxmlformats.org/drawingml/2006/main" w="0">
            <a:noFill/>
            <a:prstDash val="solid"/>
          </a:ln>
        </p:spPr>
      </p:sp>
      <p:sp>
        <p:nvSpPr>
          <p:cNvPr id="2" name="brand">
            <a:extLst xmlns:a="http://schemas.openxmlformats.org/drawingml/2006/main">
              <a:ext uri="{FF2B5EF4-FFF2-40B4-BE49-F238E27FC236}">
                <a16:creationId xmlns:a16="http://schemas.microsoft.com/office/drawing/2014/main" id="{8C977064-658D-4C14-8B16-50596EA2E007}"/>
              </a:ext>
            </a:extLst>
          </p:cNvPr>
          <p:cNvSpPr>
            <a:spLocks xmlns:a="http://schemas.openxmlformats.org/drawingml/2006/main" noGrp="1"/>
          </p:cNvSpPr>
          <p:nvPr/>
        </p:nvSpPr>
        <p:spPr>
          <a:xfrm xmlns:a="http://schemas.openxmlformats.org/drawingml/2006/main">
            <a:off x="609600" y="762000"/>
            <a:ext cx="9334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500" b="1">
                <a:solidFill>
                  <a:srgbClr val="28685E"/>
                </a:solidFill>
              </a:defRPr>
            </a:pPr>
            <a:r>
              <a:rPr sz="1500" b="1">
                <a:solidFill>
                  <a:srgbClr val="28685E"/>
                </a:solidFill>
              </a:rPr>
              <a:t>MADE BY MATT  /  BUILD SCIENCE</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e7aa2abf92504ae9"/>
          <a:stretch xmlns:a="http://schemas.openxmlformats.org/drawingml/2006/main"/>
        </p:blipFill>
        <p:spPr>
          <a:xfrm xmlns:a="http://schemas.openxmlformats.org/drawingml/2006/main">
            <a:off x="10801350" y="438150"/>
            <a:ext cx="781050" cy="781050"/>
          </a:xfrm>
          <a:prstGeom xmlns:a="http://schemas.openxmlformats.org/drawingml/2006/main" prst="rect">
            <a:avLst/>
          </a:prstGeom>
        </p:spPr>
      </p:pic>
      <p:sp>
        <p:nvSpPr>
          <p:cNvPr id="4" name="title">
            <a:extLst xmlns:a="http://schemas.openxmlformats.org/drawingml/2006/main">
              <a:ext uri="{FF2B5EF4-FFF2-40B4-BE49-F238E27FC236}">
                <a16:creationId xmlns:a16="http://schemas.microsoft.com/office/drawing/2014/main" id="{50AB54FC-8FD3-4283-B6D8-607D085614FD}"/>
              </a:ext>
            </a:extLst>
          </p:cNvPr>
          <p:cNvSpPr>
            <a:spLocks xmlns:a="http://schemas.openxmlformats.org/drawingml/2006/main" noGrp="1"/>
          </p:cNvSpPr>
          <p:nvPr/>
        </p:nvSpPr>
        <p:spPr>
          <a:xfrm xmlns:a="http://schemas.openxmlformats.org/drawingml/2006/main">
            <a:off x="609600" y="1352550"/>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3750" b="1">
                <a:solidFill>
                  <a:srgbClr val="152B3A"/>
                </a:solidFill>
              </a:defRPr>
            </a:pPr>
            <a:r>
              <a:rPr sz="3750" b="1">
                <a:solidFill>
                  <a:srgbClr val="152B3A"/>
                </a:solidFill>
              </a:rPr>
              <a:t>Beetle and earthworm: compare</a:t>
            </a:r>
          </a:p>
        </p:txBody>
      </p:sp>
      <p:sp>
        <p:nvSpPr>
          <p:cNvPr id="5" name="footer-line">
            <a:extLst xmlns:a="http://schemas.openxmlformats.org/drawingml/2006/main">
              <a:ext uri="{FF2B5EF4-FFF2-40B4-BE49-F238E27FC236}">
                <a16:creationId xmlns:a16="http://schemas.microsoft.com/office/drawing/2014/main" id="{D2598D49-CDC1-4F40-8BC8-AC93BE468732}"/>
              </a:ext>
            </a:extLst>
          </p:cNvPr>
          <p:cNvSpPr>
            <a:spLocks xmlns:a="http://schemas.openxmlformats.org/drawingml/2006/main" noGrp="1"/>
          </p:cNvSpPr>
          <p:nvPr/>
        </p:nvSpPr>
        <p:spPr>
          <a:xfrm xmlns:a="http://schemas.openxmlformats.org/drawingml/2006/main">
            <a:off x="609600" y="6219825"/>
            <a:ext cx="10972800" cy="9525"/>
          </a:xfrm>
          <a:prstGeom xmlns:a="http://schemas.openxmlformats.org/drawingml/2006/main" prst="rect">
            <a:avLst/>
          </a:prstGeom>
          <a:solidFill xmlns:a="http://schemas.openxmlformats.org/drawingml/2006/main">
            <a:srgbClr val="DCE7DD"/>
          </a:solidFill>
          <a:ln xmlns:a="http://schemas.openxmlformats.org/drawingml/2006/main" w="0">
            <a:noFill/>
            <a:prstDash val="solid"/>
          </a:ln>
        </p:spPr>
      </p:sp>
      <p:sp>
        <p:nvSpPr>
          <p:cNvPr id="6" name="footer">
            <a:extLst xmlns:a="http://schemas.openxmlformats.org/drawingml/2006/main">
              <a:ext uri="{FF2B5EF4-FFF2-40B4-BE49-F238E27FC236}">
                <a16:creationId xmlns:a16="http://schemas.microsoft.com/office/drawing/2014/main" id="{03FC0A4D-22F1-4EE8-90A3-355AF65566B3}"/>
              </a:ext>
            </a:extLst>
          </p:cNvPr>
          <p:cNvSpPr>
            <a:spLocks xmlns:a="http://schemas.openxmlformats.org/drawingml/2006/main" noGrp="1"/>
          </p:cNvSpPr>
          <p:nvPr/>
        </p:nvSpPr>
        <p:spPr>
          <a:xfrm xmlns:a="http://schemas.openxmlformats.org/drawingml/2006/main">
            <a:off x="609600" y="6381750"/>
            <a:ext cx="990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275" b="0">
                <a:solidFill>
                  <a:srgbClr val="50616B"/>
                </a:solidFill>
              </a:defRPr>
            </a:pPr>
            <a:r>
              <a:rPr sz="1275" b="0">
                <a:solidFill>
                  <a:srgbClr val="50616B"/>
                </a:solidFill>
              </a:rPr>
              <a:t>AUTUMN 1  ·  WEEK 3  ·  LESSON B</a:t>
            </a:r>
          </a:p>
        </p:txBody>
      </p:sp>
      <p:sp>
        <p:nvSpPr>
          <p:cNvPr id="7" name="page">
            <a:extLst xmlns:a="http://schemas.openxmlformats.org/drawingml/2006/main">
              <a:ext uri="{FF2B5EF4-FFF2-40B4-BE49-F238E27FC236}">
                <a16:creationId xmlns:a16="http://schemas.microsoft.com/office/drawing/2014/main" id="{A616A642-2700-43A5-8D4F-2969CB7EF7E8}"/>
              </a:ext>
            </a:extLst>
          </p:cNvPr>
          <p:cNvSpPr>
            <a:spLocks xmlns:a="http://schemas.openxmlformats.org/drawingml/2006/main" noGrp="1"/>
          </p:cNvSpPr>
          <p:nvPr/>
        </p:nvSpPr>
        <p:spPr>
          <a:xfrm xmlns:a="http://schemas.openxmlformats.org/drawingml/2006/main">
            <a:off x="11106150" y="6362700"/>
            <a:ext cx="476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350" b="1">
                <a:solidFill>
                  <a:srgbClr val="28685E"/>
                </a:solidFill>
              </a:defRPr>
            </a:pPr>
            <a:r>
              <a:rPr sz="1350" b="1">
                <a:solidFill>
                  <a:srgbClr val="28685E"/>
                </a:solidFill>
              </a:rPr>
              <a:t>04</a:t>
            </a:r>
          </a:p>
        </p:txBody>
      </p:sp>
      <p:sp>
        <p:nvSpPr>
          <p:cNvPr id="8" name="left-heading">
            <a:extLst xmlns:a="http://schemas.openxmlformats.org/drawingml/2006/main">
              <a:ext uri="{FF2B5EF4-FFF2-40B4-BE49-F238E27FC236}">
                <a16:creationId xmlns:a16="http://schemas.microsoft.com/office/drawing/2014/main" id="{0C0FD245-A994-4CBA-975E-0E34BB0B22ED}"/>
              </a:ext>
            </a:extLst>
          </p:cNvPr>
          <p:cNvSpPr>
            <a:spLocks xmlns:a="http://schemas.openxmlformats.org/drawingml/2006/main" noGrp="1"/>
          </p:cNvSpPr>
          <p:nvPr/>
        </p:nvSpPr>
        <p:spPr>
          <a:xfrm xmlns:a="http://schemas.openxmlformats.org/drawingml/2006/main">
            <a:off x="609600" y="2619375"/>
            <a:ext cx="4953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025" b="1">
                <a:solidFill>
                  <a:srgbClr val="28685E"/>
                </a:solidFill>
              </a:defRPr>
            </a:pPr>
            <a:r>
              <a:rPr sz="2025" b="1">
                <a:solidFill>
                  <a:srgbClr val="28685E"/>
                </a:solidFill>
              </a:rPr>
              <a:t>BEETLE</a:t>
            </a:r>
          </a:p>
        </p:txBody>
      </p:sp>
      <p:sp>
        <p:nvSpPr>
          <p:cNvPr id="9" name="right-heading">
            <a:extLst xmlns:a="http://schemas.openxmlformats.org/drawingml/2006/main">
              <a:ext uri="{FF2B5EF4-FFF2-40B4-BE49-F238E27FC236}">
                <a16:creationId xmlns:a16="http://schemas.microsoft.com/office/drawing/2014/main" id="{5533BE61-0419-486E-A889-C83D7D83CD41}"/>
              </a:ext>
            </a:extLst>
          </p:cNvPr>
          <p:cNvSpPr>
            <a:spLocks xmlns:a="http://schemas.openxmlformats.org/drawingml/2006/main" noGrp="1"/>
          </p:cNvSpPr>
          <p:nvPr/>
        </p:nvSpPr>
        <p:spPr>
          <a:xfrm xmlns:a="http://schemas.openxmlformats.org/drawingml/2006/main">
            <a:off x="6572250" y="2619375"/>
            <a:ext cx="4953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025" b="1">
                <a:solidFill>
                  <a:srgbClr val="A65D25"/>
                </a:solidFill>
              </a:defRPr>
            </a:pPr>
            <a:r>
              <a:rPr sz="2025" b="1">
                <a:solidFill>
                  <a:srgbClr val="A65D25"/>
                </a:solidFill>
              </a:rPr>
              <a:t>EARTHWORM</a:t>
            </a:r>
          </a:p>
        </p:txBody>
      </p:sp>
      <p:sp>
        <p:nvSpPr>
          <p:cNvPr id="10" name="left">
            <a:extLst xmlns:a="http://schemas.openxmlformats.org/drawingml/2006/main">
              <a:ext uri="{FF2B5EF4-FFF2-40B4-BE49-F238E27FC236}">
                <a16:creationId xmlns:a16="http://schemas.microsoft.com/office/drawing/2014/main" id="{C16940EC-EC5F-4989-A69A-EBAA22DECDB0}"/>
              </a:ext>
            </a:extLst>
          </p:cNvPr>
          <p:cNvSpPr>
            <a:spLocks xmlns:a="http://schemas.openxmlformats.org/drawingml/2006/main" noGrp="1"/>
          </p:cNvSpPr>
          <p:nvPr/>
        </p:nvSpPr>
        <p:spPr>
          <a:xfrm xmlns:a="http://schemas.openxmlformats.org/drawingml/2006/main">
            <a:off x="609600" y="3333750"/>
            <a:ext cx="4953000" cy="2524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400" b="0">
                <a:solidFill>
                  <a:srgbClr val="152B3A"/>
                </a:solidFill>
              </a:defRPr>
            </a:pPr>
            <a:r>
              <a:rPr sz="2400" b="0">
                <a:solidFill>
                  <a:srgbClr val="152B3A"/>
                </a:solidFill>
              </a:rPr>
              <a:t>Hard outer case.</a:t>
            </a:r>
          </a:p>
          <a:p xmlns:a="http://schemas.openxmlformats.org/drawingml/2006/main">
            <a:pPr>
              <a:defRPr sz="2400" b="0">
                <a:solidFill>
                  <a:srgbClr val="152B3A"/>
                </a:solidFill>
              </a:defRPr>
            </a:pPr>
            <a:r>
              <a:rPr sz="2400" b="0">
                <a:solidFill>
                  <a:srgbClr val="152B3A"/>
                </a:solidFill>
              </a:rPr>
              <a:t>No internal backbone.</a:t>
            </a:r>
          </a:p>
        </p:txBody>
      </p:sp>
      <p:sp>
        <p:nvSpPr>
          <p:cNvPr id="11" name="right">
            <a:extLst xmlns:a="http://schemas.openxmlformats.org/drawingml/2006/main">
              <a:ext uri="{FF2B5EF4-FFF2-40B4-BE49-F238E27FC236}">
                <a16:creationId xmlns:a16="http://schemas.microsoft.com/office/drawing/2014/main" id="{49D89B32-9413-4534-BEDB-099BA4B07E3D}"/>
              </a:ext>
            </a:extLst>
          </p:cNvPr>
          <p:cNvSpPr>
            <a:spLocks xmlns:a="http://schemas.openxmlformats.org/drawingml/2006/main" noGrp="1"/>
          </p:cNvSpPr>
          <p:nvPr/>
        </p:nvSpPr>
        <p:spPr>
          <a:xfrm xmlns:a="http://schemas.openxmlformats.org/drawingml/2006/main">
            <a:off x="6572250" y="3333750"/>
            <a:ext cx="4857750" cy="2524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400" b="0">
                <a:solidFill>
                  <a:srgbClr val="152B3A"/>
                </a:solidFill>
              </a:defRPr>
            </a:pPr>
            <a:r>
              <a:rPr sz="2400" b="0">
                <a:solidFill>
                  <a:srgbClr val="152B3A"/>
                </a:solidFill>
              </a:rPr>
              <a:t>Muscles act against fluid inside.</a:t>
            </a:r>
          </a:p>
          <a:p xmlns:a="http://schemas.openxmlformats.org/drawingml/2006/main">
            <a:pPr>
              <a:defRPr sz="2400" b="0">
                <a:solidFill>
                  <a:srgbClr val="152B3A"/>
                </a:solidFill>
              </a:defRPr>
            </a:pPr>
            <a:r>
              <a:rPr sz="2400" b="0">
                <a:solidFill>
                  <a:srgbClr val="152B3A"/>
                </a:solidFill>
              </a:rPr>
              <a:t>Skin rings are not bones.</a:t>
            </a:r>
          </a:p>
        </p:txBody>
      </p:sp>
    </p:spTree>
    <p:extLst>
      <p:ext uri="{BB962C8B-B14F-4D97-AF65-F5344CB8AC3E}">
        <p14:creationId xmlns:p14="http://schemas.microsoft.com/office/powerpoint/2010/main" val="1202403913"/>
      </p:ext>
    </p:extLst>
  </p:cSld>
</p:sld>
</file>

<file path=ppt/slides/slide5.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2" name="top-rule">
            <a:extLst xmlns:a="http://schemas.openxmlformats.org/drawingml/2006/main">
              <a:ext uri="{FF2B5EF4-FFF2-40B4-BE49-F238E27FC236}">
                <a16:creationId xmlns:a16="http://schemas.microsoft.com/office/drawing/2014/main" id="{FDDAF6CF-2E4D-49E9-A4C1-37FBD633590C}"/>
              </a:ext>
            </a:extLst>
          </p:cNvPr>
          <p:cNvSpPr>
            <a:spLocks xmlns:a="http://schemas.openxmlformats.org/drawingml/2006/main" noGrp="1"/>
          </p:cNvSpPr>
          <p:nvPr/>
        </p:nvSpPr>
        <p:spPr>
          <a:xfrm xmlns:a="http://schemas.openxmlformats.org/drawingml/2006/main">
            <a:off x="609600" y="552450"/>
            <a:ext cx="781050" cy="57150"/>
          </a:xfrm>
          <a:prstGeom xmlns:a="http://schemas.openxmlformats.org/drawingml/2006/main" prst="rect">
            <a:avLst/>
          </a:prstGeom>
          <a:solidFill xmlns:a="http://schemas.openxmlformats.org/drawingml/2006/main">
            <a:srgbClr val="28685E"/>
          </a:solidFill>
          <a:ln xmlns:a="http://schemas.openxmlformats.org/drawingml/2006/main" w="0">
            <a:noFill/>
            <a:prstDash val="solid"/>
          </a:ln>
        </p:spPr>
      </p:sp>
      <p:sp>
        <p:nvSpPr>
          <p:cNvPr id="2" name="brand">
            <a:extLst xmlns:a="http://schemas.openxmlformats.org/drawingml/2006/main">
              <a:ext uri="{FF2B5EF4-FFF2-40B4-BE49-F238E27FC236}">
                <a16:creationId xmlns:a16="http://schemas.microsoft.com/office/drawing/2014/main" id="{45F7692B-BBC0-4CE6-B210-D9E0C80D8A28}"/>
              </a:ext>
            </a:extLst>
          </p:cNvPr>
          <p:cNvSpPr>
            <a:spLocks xmlns:a="http://schemas.openxmlformats.org/drawingml/2006/main" noGrp="1"/>
          </p:cNvSpPr>
          <p:nvPr/>
        </p:nvSpPr>
        <p:spPr>
          <a:xfrm xmlns:a="http://schemas.openxmlformats.org/drawingml/2006/main">
            <a:off x="609600" y="762000"/>
            <a:ext cx="9334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500" b="1">
                <a:solidFill>
                  <a:srgbClr val="28685E"/>
                </a:solidFill>
              </a:defRPr>
            </a:pPr>
            <a:r>
              <a:rPr sz="1500" b="1">
                <a:solidFill>
                  <a:srgbClr val="28685E"/>
                </a:solidFill>
              </a:rPr>
              <a:t>MADE BY MATT  /  BUILD SCIENCE</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8f8f6051bbea4b36"/>
          <a:stretch xmlns:a="http://schemas.openxmlformats.org/drawingml/2006/main"/>
        </p:blipFill>
        <p:spPr>
          <a:xfrm xmlns:a="http://schemas.openxmlformats.org/drawingml/2006/main">
            <a:off x="10801350" y="438150"/>
            <a:ext cx="781050" cy="781050"/>
          </a:xfrm>
          <a:prstGeom xmlns:a="http://schemas.openxmlformats.org/drawingml/2006/main" prst="rect">
            <a:avLst/>
          </a:prstGeom>
        </p:spPr>
      </p:pic>
      <p:sp>
        <p:nvSpPr>
          <p:cNvPr id="4" name="title">
            <a:extLst xmlns:a="http://schemas.openxmlformats.org/drawingml/2006/main">
              <a:ext uri="{FF2B5EF4-FFF2-40B4-BE49-F238E27FC236}">
                <a16:creationId xmlns:a16="http://schemas.microsoft.com/office/drawing/2014/main" id="{826D32D3-2C4A-45FB-84AE-F49F91C3B2CA}"/>
              </a:ext>
            </a:extLst>
          </p:cNvPr>
          <p:cNvSpPr>
            <a:spLocks xmlns:a="http://schemas.openxmlformats.org/drawingml/2006/main" noGrp="1"/>
          </p:cNvSpPr>
          <p:nvPr/>
        </p:nvSpPr>
        <p:spPr>
          <a:xfrm xmlns:a="http://schemas.openxmlformats.org/drawingml/2006/main">
            <a:off x="609600" y="1352550"/>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3750" b="1">
                <a:solidFill>
                  <a:srgbClr val="152B3A"/>
                </a:solidFill>
              </a:defRPr>
            </a:pPr>
            <a:r>
              <a:rPr sz="3750" b="1">
                <a:solidFill>
                  <a:srgbClr val="152B3A"/>
                </a:solidFill>
              </a:rPr>
              <a:t>Make a two-clue mystery card</a:t>
            </a:r>
          </a:p>
        </p:txBody>
      </p:sp>
      <p:sp>
        <p:nvSpPr>
          <p:cNvPr id="5" name="footer-line">
            <a:extLst xmlns:a="http://schemas.openxmlformats.org/drawingml/2006/main">
              <a:ext uri="{FF2B5EF4-FFF2-40B4-BE49-F238E27FC236}">
                <a16:creationId xmlns:a16="http://schemas.microsoft.com/office/drawing/2014/main" id="{2CDE57E1-62F0-400C-B281-EB62823EBE85}"/>
              </a:ext>
            </a:extLst>
          </p:cNvPr>
          <p:cNvSpPr>
            <a:spLocks xmlns:a="http://schemas.openxmlformats.org/drawingml/2006/main" noGrp="1"/>
          </p:cNvSpPr>
          <p:nvPr/>
        </p:nvSpPr>
        <p:spPr>
          <a:xfrm xmlns:a="http://schemas.openxmlformats.org/drawingml/2006/main">
            <a:off x="609600" y="6219825"/>
            <a:ext cx="10972800" cy="9525"/>
          </a:xfrm>
          <a:prstGeom xmlns:a="http://schemas.openxmlformats.org/drawingml/2006/main" prst="rect">
            <a:avLst/>
          </a:prstGeom>
          <a:solidFill xmlns:a="http://schemas.openxmlformats.org/drawingml/2006/main">
            <a:srgbClr val="DCE7DD"/>
          </a:solidFill>
          <a:ln xmlns:a="http://schemas.openxmlformats.org/drawingml/2006/main" w="0">
            <a:noFill/>
            <a:prstDash val="solid"/>
          </a:ln>
        </p:spPr>
      </p:sp>
      <p:sp>
        <p:nvSpPr>
          <p:cNvPr id="6" name="footer">
            <a:extLst xmlns:a="http://schemas.openxmlformats.org/drawingml/2006/main">
              <a:ext uri="{FF2B5EF4-FFF2-40B4-BE49-F238E27FC236}">
                <a16:creationId xmlns:a16="http://schemas.microsoft.com/office/drawing/2014/main" id="{58902A09-879A-41D9-B5D1-1F3E12626B9E}"/>
              </a:ext>
            </a:extLst>
          </p:cNvPr>
          <p:cNvSpPr>
            <a:spLocks xmlns:a="http://schemas.openxmlformats.org/drawingml/2006/main" noGrp="1"/>
          </p:cNvSpPr>
          <p:nvPr/>
        </p:nvSpPr>
        <p:spPr>
          <a:xfrm xmlns:a="http://schemas.openxmlformats.org/drawingml/2006/main">
            <a:off x="609600" y="6381750"/>
            <a:ext cx="990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275" b="0">
                <a:solidFill>
                  <a:srgbClr val="50616B"/>
                </a:solidFill>
              </a:defRPr>
            </a:pPr>
            <a:r>
              <a:rPr sz="1275" b="0">
                <a:solidFill>
                  <a:srgbClr val="50616B"/>
                </a:solidFill>
              </a:rPr>
              <a:t>AUTUMN 1  ·  WEEK 3  ·  LESSON B</a:t>
            </a:r>
          </a:p>
        </p:txBody>
      </p:sp>
      <p:sp>
        <p:nvSpPr>
          <p:cNvPr id="7" name="page">
            <a:extLst xmlns:a="http://schemas.openxmlformats.org/drawingml/2006/main">
              <a:ext uri="{FF2B5EF4-FFF2-40B4-BE49-F238E27FC236}">
                <a16:creationId xmlns:a16="http://schemas.microsoft.com/office/drawing/2014/main" id="{F366C96B-19DA-4744-B96D-0BCE21B1C834}"/>
              </a:ext>
            </a:extLst>
          </p:cNvPr>
          <p:cNvSpPr>
            <a:spLocks xmlns:a="http://schemas.openxmlformats.org/drawingml/2006/main" noGrp="1"/>
          </p:cNvSpPr>
          <p:nvPr/>
        </p:nvSpPr>
        <p:spPr>
          <a:xfrm xmlns:a="http://schemas.openxmlformats.org/drawingml/2006/main">
            <a:off x="11106150" y="6362700"/>
            <a:ext cx="476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350" b="1">
                <a:solidFill>
                  <a:srgbClr val="28685E"/>
                </a:solidFill>
              </a:defRPr>
            </a:pPr>
            <a:r>
              <a:rPr sz="1350" b="1">
                <a:solidFill>
                  <a:srgbClr val="28685E"/>
                </a:solidFill>
              </a:rPr>
              <a:t>05</a:t>
            </a:r>
          </a:p>
        </p:txBody>
      </p:sp>
      <p:sp>
        <p:nvSpPr>
          <p:cNvPr id="8" name="line-0">
            <a:extLst xmlns:a="http://schemas.openxmlformats.org/drawingml/2006/main">
              <a:ext uri="{FF2B5EF4-FFF2-40B4-BE49-F238E27FC236}">
                <a16:creationId xmlns:a16="http://schemas.microsoft.com/office/drawing/2014/main" id="{4206FE30-AB20-4C76-AC9E-BCD7B44BDAEB}"/>
              </a:ext>
            </a:extLst>
          </p:cNvPr>
          <p:cNvSpPr>
            <a:spLocks xmlns:a="http://schemas.openxmlformats.org/drawingml/2006/main" noGrp="1"/>
          </p:cNvSpPr>
          <p:nvPr/>
        </p:nvSpPr>
        <p:spPr>
          <a:xfrm xmlns:a="http://schemas.openxmlformats.org/drawingml/2006/main">
            <a:off x="609600" y="2619375"/>
            <a:ext cx="109728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Choose one animal from Monday.</a:t>
            </a:r>
          </a:p>
        </p:txBody>
      </p:sp>
      <p:sp>
        <p:nvSpPr>
          <p:cNvPr id="9" name="line-1">
            <a:extLst xmlns:a="http://schemas.openxmlformats.org/drawingml/2006/main">
              <a:ext uri="{FF2B5EF4-FFF2-40B4-BE49-F238E27FC236}">
                <a16:creationId xmlns:a16="http://schemas.microsoft.com/office/drawing/2014/main" id="{0B959E4D-F4B4-4742-8F92-ED9A2CC4E377}"/>
              </a:ext>
            </a:extLst>
          </p:cNvPr>
          <p:cNvSpPr>
            <a:spLocks xmlns:a="http://schemas.openxmlformats.org/drawingml/2006/main" noGrp="1"/>
          </p:cNvSpPr>
          <p:nvPr/>
        </p:nvSpPr>
        <p:spPr>
          <a:xfrm xmlns:a="http://schemas.openxmlformats.org/drawingml/2006/main">
            <a:off x="609600" y="3409950"/>
            <a:ext cx="109728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Hide its name.</a:t>
            </a:r>
          </a:p>
        </p:txBody>
      </p:sp>
      <p:sp>
        <p:nvSpPr>
          <p:cNvPr id="10" name="line-2">
            <a:extLst xmlns:a="http://schemas.openxmlformats.org/drawingml/2006/main">
              <a:ext uri="{FF2B5EF4-FFF2-40B4-BE49-F238E27FC236}">
                <a16:creationId xmlns:a16="http://schemas.microsoft.com/office/drawing/2014/main" id="{B7AB3DE1-CAE6-4323-871E-DDB99B72314F}"/>
              </a:ext>
            </a:extLst>
          </p:cNvPr>
          <p:cNvSpPr>
            <a:spLocks xmlns:a="http://schemas.openxmlformats.org/drawingml/2006/main" noGrp="1"/>
          </p:cNvSpPr>
          <p:nvPr/>
        </p:nvSpPr>
        <p:spPr>
          <a:xfrm xmlns:a="http://schemas.openxmlformats.org/drawingml/2006/main">
            <a:off x="609600" y="4200525"/>
            <a:ext cx="109728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Write or dictate two true body clues.</a:t>
            </a:r>
          </a:p>
        </p:txBody>
      </p:sp>
      <p:sp>
        <p:nvSpPr>
          <p:cNvPr id="11" name="line-3">
            <a:extLst xmlns:a="http://schemas.openxmlformats.org/drawingml/2006/main">
              <a:ext uri="{FF2B5EF4-FFF2-40B4-BE49-F238E27FC236}">
                <a16:creationId xmlns:a16="http://schemas.microsoft.com/office/drawing/2014/main" id="{178A2F5C-4245-4AE2-9F75-E2C2B3373E9E}"/>
              </a:ext>
            </a:extLst>
          </p:cNvPr>
          <p:cNvSpPr>
            <a:spLocks xmlns:a="http://schemas.openxmlformats.org/drawingml/2006/main" noGrp="1"/>
          </p:cNvSpPr>
          <p:nvPr/>
        </p:nvSpPr>
        <p:spPr>
          <a:xfrm xmlns:a="http://schemas.openxmlformats.org/drawingml/2006/main">
            <a:off x="609600" y="4991100"/>
            <a:ext cx="109728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Make at least one clue about its support.</a:t>
            </a:r>
          </a:p>
        </p:txBody>
      </p:sp>
    </p:spTree>
    <p:extLst>
      <p:ext uri="{BB962C8B-B14F-4D97-AF65-F5344CB8AC3E}">
        <p14:creationId xmlns:p14="http://schemas.microsoft.com/office/powerpoint/2010/main" val="1619547212"/>
      </p:ext>
    </p:extLst>
  </p:cSld>
</p:sld>
</file>

<file path=ppt/slides/slide6.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2" name="top-rule">
            <a:extLst xmlns:a="http://schemas.openxmlformats.org/drawingml/2006/main">
              <a:ext uri="{FF2B5EF4-FFF2-40B4-BE49-F238E27FC236}">
                <a16:creationId xmlns:a16="http://schemas.microsoft.com/office/drawing/2014/main" id="{22D864BA-0479-4BD3-8263-71542119A605}"/>
              </a:ext>
            </a:extLst>
          </p:cNvPr>
          <p:cNvSpPr>
            <a:spLocks xmlns:a="http://schemas.openxmlformats.org/drawingml/2006/main" noGrp="1"/>
          </p:cNvSpPr>
          <p:nvPr/>
        </p:nvSpPr>
        <p:spPr>
          <a:xfrm xmlns:a="http://schemas.openxmlformats.org/drawingml/2006/main">
            <a:off x="609600" y="552450"/>
            <a:ext cx="781050" cy="57150"/>
          </a:xfrm>
          <a:prstGeom xmlns:a="http://schemas.openxmlformats.org/drawingml/2006/main" prst="rect">
            <a:avLst/>
          </a:prstGeom>
          <a:solidFill xmlns:a="http://schemas.openxmlformats.org/drawingml/2006/main">
            <a:srgbClr val="28685E"/>
          </a:solidFill>
          <a:ln xmlns:a="http://schemas.openxmlformats.org/drawingml/2006/main" w="0">
            <a:noFill/>
            <a:prstDash val="solid"/>
          </a:ln>
        </p:spPr>
      </p:sp>
      <p:sp>
        <p:nvSpPr>
          <p:cNvPr id="2" name="brand">
            <a:extLst xmlns:a="http://schemas.openxmlformats.org/drawingml/2006/main">
              <a:ext uri="{FF2B5EF4-FFF2-40B4-BE49-F238E27FC236}">
                <a16:creationId xmlns:a16="http://schemas.microsoft.com/office/drawing/2014/main" id="{7CEDBF40-7A48-4F86-9EE7-D2C1B95E5E90}"/>
              </a:ext>
            </a:extLst>
          </p:cNvPr>
          <p:cNvSpPr>
            <a:spLocks xmlns:a="http://schemas.openxmlformats.org/drawingml/2006/main" noGrp="1"/>
          </p:cNvSpPr>
          <p:nvPr/>
        </p:nvSpPr>
        <p:spPr>
          <a:xfrm xmlns:a="http://schemas.openxmlformats.org/drawingml/2006/main">
            <a:off x="609600" y="762000"/>
            <a:ext cx="9334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500" b="1">
                <a:solidFill>
                  <a:srgbClr val="28685E"/>
                </a:solidFill>
              </a:defRPr>
            </a:pPr>
            <a:r>
              <a:rPr sz="1500" b="1">
                <a:solidFill>
                  <a:srgbClr val="28685E"/>
                </a:solidFill>
              </a:rPr>
              <a:t>MADE BY MATT  /  BUILD SCIENCE</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9448203999fa4916"/>
          <a:stretch xmlns:a="http://schemas.openxmlformats.org/drawingml/2006/main"/>
        </p:blipFill>
        <p:spPr>
          <a:xfrm xmlns:a="http://schemas.openxmlformats.org/drawingml/2006/main">
            <a:off x="10801350" y="438150"/>
            <a:ext cx="781050" cy="781050"/>
          </a:xfrm>
          <a:prstGeom xmlns:a="http://schemas.openxmlformats.org/drawingml/2006/main" prst="rect">
            <a:avLst/>
          </a:prstGeom>
        </p:spPr>
      </p:pic>
      <p:sp>
        <p:nvSpPr>
          <p:cNvPr id="4" name="title">
            <a:extLst xmlns:a="http://schemas.openxmlformats.org/drawingml/2006/main">
              <a:ext uri="{FF2B5EF4-FFF2-40B4-BE49-F238E27FC236}">
                <a16:creationId xmlns:a16="http://schemas.microsoft.com/office/drawing/2014/main" id="{56D9DABC-FAAF-41C5-9572-FAE14FFC9451}"/>
              </a:ext>
            </a:extLst>
          </p:cNvPr>
          <p:cNvSpPr>
            <a:spLocks xmlns:a="http://schemas.openxmlformats.org/drawingml/2006/main" noGrp="1"/>
          </p:cNvSpPr>
          <p:nvPr/>
        </p:nvSpPr>
        <p:spPr>
          <a:xfrm xmlns:a="http://schemas.openxmlformats.org/drawingml/2006/main">
            <a:off x="609600" y="1352550"/>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3750" b="1">
                <a:solidFill>
                  <a:srgbClr val="152B3A"/>
                </a:solidFill>
              </a:defRPr>
            </a:pPr>
            <a:r>
              <a:rPr sz="3750" b="1">
                <a:solidFill>
                  <a:srgbClr val="152B3A"/>
                </a:solidFill>
              </a:rPr>
              <a:t>Test the clue, then explain</a:t>
            </a:r>
          </a:p>
        </p:txBody>
      </p:sp>
      <p:sp>
        <p:nvSpPr>
          <p:cNvPr id="5" name="footer-line">
            <a:extLst xmlns:a="http://schemas.openxmlformats.org/drawingml/2006/main">
              <a:ext uri="{FF2B5EF4-FFF2-40B4-BE49-F238E27FC236}">
                <a16:creationId xmlns:a16="http://schemas.microsoft.com/office/drawing/2014/main" id="{06EF67D2-5375-43B4-A745-CC14FAE2124F}"/>
              </a:ext>
            </a:extLst>
          </p:cNvPr>
          <p:cNvSpPr>
            <a:spLocks xmlns:a="http://schemas.openxmlformats.org/drawingml/2006/main" noGrp="1"/>
          </p:cNvSpPr>
          <p:nvPr/>
        </p:nvSpPr>
        <p:spPr>
          <a:xfrm xmlns:a="http://schemas.openxmlformats.org/drawingml/2006/main">
            <a:off x="609600" y="6219825"/>
            <a:ext cx="10972800" cy="9525"/>
          </a:xfrm>
          <a:prstGeom xmlns:a="http://schemas.openxmlformats.org/drawingml/2006/main" prst="rect">
            <a:avLst/>
          </a:prstGeom>
          <a:solidFill xmlns:a="http://schemas.openxmlformats.org/drawingml/2006/main">
            <a:srgbClr val="DCE7DD"/>
          </a:solidFill>
          <a:ln xmlns:a="http://schemas.openxmlformats.org/drawingml/2006/main" w="0">
            <a:noFill/>
            <a:prstDash val="solid"/>
          </a:ln>
        </p:spPr>
      </p:sp>
      <p:sp>
        <p:nvSpPr>
          <p:cNvPr id="6" name="footer">
            <a:extLst xmlns:a="http://schemas.openxmlformats.org/drawingml/2006/main">
              <a:ext uri="{FF2B5EF4-FFF2-40B4-BE49-F238E27FC236}">
                <a16:creationId xmlns:a16="http://schemas.microsoft.com/office/drawing/2014/main" id="{CA8F590C-A06A-453E-8231-CD7C80D9404F}"/>
              </a:ext>
            </a:extLst>
          </p:cNvPr>
          <p:cNvSpPr>
            <a:spLocks xmlns:a="http://schemas.openxmlformats.org/drawingml/2006/main" noGrp="1"/>
          </p:cNvSpPr>
          <p:nvPr/>
        </p:nvSpPr>
        <p:spPr>
          <a:xfrm xmlns:a="http://schemas.openxmlformats.org/drawingml/2006/main">
            <a:off x="609600" y="6381750"/>
            <a:ext cx="990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275" b="0">
                <a:solidFill>
                  <a:srgbClr val="50616B"/>
                </a:solidFill>
              </a:defRPr>
            </a:pPr>
            <a:r>
              <a:rPr sz="1275" b="0">
                <a:solidFill>
                  <a:srgbClr val="50616B"/>
                </a:solidFill>
              </a:rPr>
              <a:t>AUTUMN 1  ·  WEEK 3  ·  LESSON B</a:t>
            </a:r>
          </a:p>
        </p:txBody>
      </p:sp>
      <p:sp>
        <p:nvSpPr>
          <p:cNvPr id="7" name="page">
            <a:extLst xmlns:a="http://schemas.openxmlformats.org/drawingml/2006/main">
              <a:ext uri="{FF2B5EF4-FFF2-40B4-BE49-F238E27FC236}">
                <a16:creationId xmlns:a16="http://schemas.microsoft.com/office/drawing/2014/main" id="{73A60124-AE42-4B7A-A3AD-213A5F477A61}"/>
              </a:ext>
            </a:extLst>
          </p:cNvPr>
          <p:cNvSpPr>
            <a:spLocks xmlns:a="http://schemas.openxmlformats.org/drawingml/2006/main" noGrp="1"/>
          </p:cNvSpPr>
          <p:nvPr/>
        </p:nvSpPr>
        <p:spPr>
          <a:xfrm xmlns:a="http://schemas.openxmlformats.org/drawingml/2006/main">
            <a:off x="11106150" y="6362700"/>
            <a:ext cx="476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350" b="1">
                <a:solidFill>
                  <a:srgbClr val="28685E"/>
                </a:solidFill>
              </a:defRPr>
            </a:pPr>
            <a:r>
              <a:rPr sz="1350" b="1">
                <a:solidFill>
                  <a:srgbClr val="28685E"/>
                </a:solidFill>
              </a:rPr>
              <a:t>06</a:t>
            </a:r>
          </a:p>
        </p:txBody>
      </p:sp>
      <p:sp>
        <p:nvSpPr>
          <p:cNvPr id="8" name="line-0">
            <a:extLst xmlns:a="http://schemas.openxmlformats.org/drawingml/2006/main">
              <a:ext uri="{FF2B5EF4-FFF2-40B4-BE49-F238E27FC236}">
                <a16:creationId xmlns:a16="http://schemas.microsoft.com/office/drawing/2014/main" id="{B8FAA63A-A192-41A6-9C9A-A610C3306269}"/>
              </a:ext>
            </a:extLst>
          </p:cNvPr>
          <p:cNvSpPr>
            <a:spLocks xmlns:a="http://schemas.openxmlformats.org/drawingml/2006/main" noGrp="1"/>
          </p:cNvSpPr>
          <p:nvPr/>
        </p:nvSpPr>
        <p:spPr>
          <a:xfrm xmlns:a="http://schemas.openxmlformats.org/drawingml/2006/main">
            <a:off x="609600" y="2619375"/>
            <a:ext cx="109728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Read the clues to an adult or partner.</a:t>
            </a:r>
          </a:p>
        </p:txBody>
      </p:sp>
      <p:sp>
        <p:nvSpPr>
          <p:cNvPr id="9" name="line-1">
            <a:extLst xmlns:a="http://schemas.openxmlformats.org/drawingml/2006/main">
              <a:ext uri="{FF2B5EF4-FFF2-40B4-BE49-F238E27FC236}">
                <a16:creationId xmlns:a16="http://schemas.microsoft.com/office/drawing/2014/main" id="{0E897469-A653-4FCB-B83C-4D47310314FC}"/>
              </a:ext>
            </a:extLst>
          </p:cNvPr>
          <p:cNvSpPr>
            <a:spLocks xmlns:a="http://schemas.openxmlformats.org/drawingml/2006/main" noGrp="1"/>
          </p:cNvSpPr>
          <p:nvPr/>
        </p:nvSpPr>
        <p:spPr>
          <a:xfrm xmlns:a="http://schemas.openxmlformats.org/drawingml/2006/main">
            <a:off x="609600" y="3409950"/>
            <a:ext cx="109728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Ask: which group, and why?</a:t>
            </a:r>
          </a:p>
        </p:txBody>
      </p:sp>
      <p:sp>
        <p:nvSpPr>
          <p:cNvPr id="10" name="line-2">
            <a:extLst xmlns:a="http://schemas.openxmlformats.org/drawingml/2006/main">
              <a:ext uri="{FF2B5EF4-FFF2-40B4-BE49-F238E27FC236}">
                <a16:creationId xmlns:a16="http://schemas.microsoft.com/office/drawing/2014/main" id="{69B4488C-F8C4-4869-A916-97AE4688D0AF}"/>
              </a:ext>
            </a:extLst>
          </p:cNvPr>
          <p:cNvSpPr>
            <a:spLocks xmlns:a="http://schemas.openxmlformats.org/drawingml/2006/main" noGrp="1"/>
          </p:cNvSpPr>
          <p:nvPr/>
        </p:nvSpPr>
        <p:spPr>
          <a:xfrm xmlns:a="http://schemas.openxmlformats.org/drawingml/2006/main">
            <a:off x="609600" y="4200525"/>
            <a:ext cx="109728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You can check the card on your own.</a:t>
            </a:r>
          </a:p>
        </p:txBody>
      </p:sp>
      <p:sp>
        <p:nvSpPr>
          <p:cNvPr id="11" name="line-3">
            <a:extLst xmlns:a="http://schemas.openxmlformats.org/drawingml/2006/main">
              <a:ext uri="{FF2B5EF4-FFF2-40B4-BE49-F238E27FC236}">
                <a16:creationId xmlns:a16="http://schemas.microsoft.com/office/drawing/2014/main" id="{990006E4-903D-4908-AD13-7096C2A68B6B}"/>
              </a:ext>
            </a:extLst>
          </p:cNvPr>
          <p:cNvSpPr>
            <a:spLocks xmlns:a="http://schemas.openxmlformats.org/drawingml/2006/main" noGrp="1"/>
          </p:cNvSpPr>
          <p:nvPr/>
        </p:nvSpPr>
        <p:spPr>
          <a:xfrm xmlns:a="http://schemas.openxmlformats.org/drawingml/2006/main">
            <a:off x="609600" y="4991100"/>
            <a:ext cx="109728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Does a clue prove the group?</a:t>
            </a:r>
          </a:p>
        </p:txBody>
      </p:sp>
    </p:spTree>
    <p:extLst>
      <p:ext uri="{BB962C8B-B14F-4D97-AF65-F5344CB8AC3E}">
        <p14:creationId xmlns:p14="http://schemas.microsoft.com/office/powerpoint/2010/main" val="396002145"/>
      </p:ext>
    </p:extLst>
  </p:cSld>
</p:sld>
</file>

<file path=ppt/slides/slide7.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1" name="top-rule">
            <a:extLst xmlns:a="http://schemas.openxmlformats.org/drawingml/2006/main">
              <a:ext uri="{FF2B5EF4-FFF2-40B4-BE49-F238E27FC236}">
                <a16:creationId xmlns:a16="http://schemas.microsoft.com/office/drawing/2014/main" id="{18DE72A8-D260-41C6-AD19-19565646C035}"/>
              </a:ext>
            </a:extLst>
          </p:cNvPr>
          <p:cNvSpPr>
            <a:spLocks xmlns:a="http://schemas.openxmlformats.org/drawingml/2006/main" noGrp="1"/>
          </p:cNvSpPr>
          <p:nvPr/>
        </p:nvSpPr>
        <p:spPr>
          <a:xfrm xmlns:a="http://schemas.openxmlformats.org/drawingml/2006/main">
            <a:off x="609600" y="552450"/>
            <a:ext cx="781050" cy="57150"/>
          </a:xfrm>
          <a:prstGeom xmlns:a="http://schemas.openxmlformats.org/drawingml/2006/main" prst="rect">
            <a:avLst/>
          </a:prstGeom>
          <a:solidFill xmlns:a="http://schemas.openxmlformats.org/drawingml/2006/main">
            <a:srgbClr val="28685E"/>
          </a:solidFill>
          <a:ln xmlns:a="http://schemas.openxmlformats.org/drawingml/2006/main" w="0">
            <a:noFill/>
            <a:prstDash val="solid"/>
          </a:ln>
        </p:spPr>
      </p:sp>
      <p:sp>
        <p:nvSpPr>
          <p:cNvPr id="2" name="brand">
            <a:extLst xmlns:a="http://schemas.openxmlformats.org/drawingml/2006/main">
              <a:ext uri="{FF2B5EF4-FFF2-40B4-BE49-F238E27FC236}">
                <a16:creationId xmlns:a16="http://schemas.microsoft.com/office/drawing/2014/main" id="{A39EC0E9-FF7C-4C5D-96CE-8C272D2392F3}"/>
              </a:ext>
            </a:extLst>
          </p:cNvPr>
          <p:cNvSpPr>
            <a:spLocks xmlns:a="http://schemas.openxmlformats.org/drawingml/2006/main" noGrp="1"/>
          </p:cNvSpPr>
          <p:nvPr/>
        </p:nvSpPr>
        <p:spPr>
          <a:xfrm xmlns:a="http://schemas.openxmlformats.org/drawingml/2006/main">
            <a:off x="609600" y="762000"/>
            <a:ext cx="9334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500" b="1">
                <a:solidFill>
                  <a:srgbClr val="28685E"/>
                </a:solidFill>
              </a:defRPr>
            </a:pPr>
            <a:r>
              <a:rPr sz="1500" b="1">
                <a:solidFill>
                  <a:srgbClr val="28685E"/>
                </a:solidFill>
              </a:rPr>
              <a:t>MADE BY MATT  /  BUILD SCIENCE</a:t>
            </a:r>
          </a:p>
        </p:txBody>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2073a739e0c4441c"/>
          <a:stretch xmlns:a="http://schemas.openxmlformats.org/drawingml/2006/main"/>
        </p:blipFill>
        <p:spPr>
          <a:xfrm xmlns:a="http://schemas.openxmlformats.org/drawingml/2006/main">
            <a:off x="10801350" y="438150"/>
            <a:ext cx="781050" cy="781050"/>
          </a:xfrm>
          <a:prstGeom xmlns:a="http://schemas.openxmlformats.org/drawingml/2006/main" prst="rect">
            <a:avLst/>
          </a:prstGeom>
        </p:spPr>
      </p:pic>
      <p:sp>
        <p:nvSpPr>
          <p:cNvPr id="4" name="title">
            <a:extLst xmlns:a="http://schemas.openxmlformats.org/drawingml/2006/main">
              <a:ext uri="{FF2B5EF4-FFF2-40B4-BE49-F238E27FC236}">
                <a16:creationId xmlns:a16="http://schemas.microsoft.com/office/drawing/2014/main" id="{CCC22D8A-217A-4CA9-9610-FD63D7B01F1B}"/>
              </a:ext>
            </a:extLst>
          </p:cNvPr>
          <p:cNvSpPr>
            <a:spLocks xmlns:a="http://schemas.openxmlformats.org/drawingml/2006/main" noGrp="1"/>
          </p:cNvSpPr>
          <p:nvPr/>
        </p:nvSpPr>
        <p:spPr>
          <a:xfrm xmlns:a="http://schemas.openxmlformats.org/drawingml/2006/main">
            <a:off x="609600" y="1352550"/>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3750" b="1">
                <a:solidFill>
                  <a:srgbClr val="152B3A"/>
                </a:solidFill>
              </a:defRPr>
            </a:pPr>
            <a:r>
              <a:rPr sz="3750" b="1">
                <a:solidFill>
                  <a:srgbClr val="152B3A"/>
                </a:solidFill>
              </a:rPr>
              <a:t>Pause and check the rule</a:t>
            </a:r>
          </a:p>
        </p:txBody>
      </p:sp>
      <p:sp>
        <p:nvSpPr>
          <p:cNvPr id="5" name="footer-line">
            <a:extLst xmlns:a="http://schemas.openxmlformats.org/drawingml/2006/main">
              <a:ext uri="{FF2B5EF4-FFF2-40B4-BE49-F238E27FC236}">
                <a16:creationId xmlns:a16="http://schemas.microsoft.com/office/drawing/2014/main" id="{3B2DD116-4902-402B-9177-FEA61FD9B2EA}"/>
              </a:ext>
            </a:extLst>
          </p:cNvPr>
          <p:cNvSpPr>
            <a:spLocks xmlns:a="http://schemas.openxmlformats.org/drawingml/2006/main" noGrp="1"/>
          </p:cNvSpPr>
          <p:nvPr/>
        </p:nvSpPr>
        <p:spPr>
          <a:xfrm xmlns:a="http://schemas.openxmlformats.org/drawingml/2006/main">
            <a:off x="609600" y="6219825"/>
            <a:ext cx="10972800" cy="9525"/>
          </a:xfrm>
          <a:prstGeom xmlns:a="http://schemas.openxmlformats.org/drawingml/2006/main" prst="rect">
            <a:avLst/>
          </a:prstGeom>
          <a:solidFill xmlns:a="http://schemas.openxmlformats.org/drawingml/2006/main">
            <a:srgbClr val="DCE7DD"/>
          </a:solidFill>
          <a:ln xmlns:a="http://schemas.openxmlformats.org/drawingml/2006/main" w="0">
            <a:noFill/>
            <a:prstDash val="solid"/>
          </a:ln>
        </p:spPr>
      </p:sp>
      <p:sp>
        <p:nvSpPr>
          <p:cNvPr id="6" name="footer">
            <a:extLst xmlns:a="http://schemas.openxmlformats.org/drawingml/2006/main">
              <a:ext uri="{FF2B5EF4-FFF2-40B4-BE49-F238E27FC236}">
                <a16:creationId xmlns:a16="http://schemas.microsoft.com/office/drawing/2014/main" id="{9096AD61-C3B0-4A26-9DAF-20C907C8FFC9}"/>
              </a:ext>
            </a:extLst>
          </p:cNvPr>
          <p:cNvSpPr>
            <a:spLocks xmlns:a="http://schemas.openxmlformats.org/drawingml/2006/main" noGrp="1"/>
          </p:cNvSpPr>
          <p:nvPr/>
        </p:nvSpPr>
        <p:spPr>
          <a:xfrm xmlns:a="http://schemas.openxmlformats.org/drawingml/2006/main">
            <a:off x="609600" y="6381750"/>
            <a:ext cx="990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275" b="0">
                <a:solidFill>
                  <a:srgbClr val="50616B"/>
                </a:solidFill>
              </a:defRPr>
            </a:pPr>
            <a:r>
              <a:rPr sz="1275" b="0">
                <a:solidFill>
                  <a:srgbClr val="50616B"/>
                </a:solidFill>
              </a:rPr>
              <a:t>AUTUMN 1  ·  WEEK 3  ·  LESSON B</a:t>
            </a:r>
          </a:p>
        </p:txBody>
      </p:sp>
      <p:sp>
        <p:nvSpPr>
          <p:cNvPr id="7" name="page">
            <a:extLst xmlns:a="http://schemas.openxmlformats.org/drawingml/2006/main">
              <a:ext uri="{FF2B5EF4-FFF2-40B4-BE49-F238E27FC236}">
                <a16:creationId xmlns:a16="http://schemas.microsoft.com/office/drawing/2014/main" id="{7E35D495-8F23-4D6E-843C-F09E6FE3D13F}"/>
              </a:ext>
            </a:extLst>
          </p:cNvPr>
          <p:cNvSpPr>
            <a:spLocks xmlns:a="http://schemas.openxmlformats.org/drawingml/2006/main" noGrp="1"/>
          </p:cNvSpPr>
          <p:nvPr/>
        </p:nvSpPr>
        <p:spPr>
          <a:xfrm xmlns:a="http://schemas.openxmlformats.org/drawingml/2006/main">
            <a:off x="11106150" y="6362700"/>
            <a:ext cx="476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350" b="1">
                <a:solidFill>
                  <a:srgbClr val="28685E"/>
                </a:solidFill>
              </a:defRPr>
            </a:pPr>
            <a:r>
              <a:rPr sz="1350" b="1">
                <a:solidFill>
                  <a:srgbClr val="28685E"/>
                </a:solidFill>
              </a:rPr>
              <a:t>07</a:t>
            </a:r>
          </a:p>
        </p:txBody>
      </p:sp>
      <p:sp>
        <p:nvSpPr>
          <p:cNvPr id="8" name="line-0">
            <a:extLst xmlns:a="http://schemas.openxmlformats.org/drawingml/2006/main">
              <a:ext uri="{FF2B5EF4-FFF2-40B4-BE49-F238E27FC236}">
                <a16:creationId xmlns:a16="http://schemas.microsoft.com/office/drawing/2014/main" id="{EB8EF59D-9F4F-48F4-9DC1-34B5018944EF}"/>
              </a:ext>
            </a:extLst>
          </p:cNvPr>
          <p:cNvSpPr>
            <a:spLocks xmlns:a="http://schemas.openxmlformats.org/drawingml/2006/main" noGrp="1"/>
          </p:cNvSpPr>
          <p:nvPr/>
        </p:nvSpPr>
        <p:spPr>
          <a:xfrm xmlns:a="http://schemas.openxmlformats.org/drawingml/2006/main">
            <a:off x="609600" y="2619375"/>
            <a:ext cx="10972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Look at one first idea and final choice.</a:t>
            </a:r>
          </a:p>
        </p:txBody>
      </p:sp>
      <p:sp>
        <p:nvSpPr>
          <p:cNvPr id="9" name="line-1">
            <a:extLst xmlns:a="http://schemas.openxmlformats.org/drawingml/2006/main">
              <a:ext uri="{FF2B5EF4-FFF2-40B4-BE49-F238E27FC236}">
                <a16:creationId xmlns:a16="http://schemas.microsoft.com/office/drawing/2014/main" id="{D09E8A6E-69B3-45D7-9751-62B61DA8FE9A}"/>
              </a:ext>
            </a:extLst>
          </p:cNvPr>
          <p:cNvSpPr>
            <a:spLocks xmlns:a="http://schemas.openxmlformats.org/drawingml/2006/main" noGrp="1"/>
          </p:cNvSpPr>
          <p:nvPr/>
        </p:nvSpPr>
        <p:spPr>
          <a:xfrm xmlns:a="http://schemas.openxmlformats.org/drawingml/2006/main">
            <a:off x="609600" y="3476625"/>
            <a:ext cx="10972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Point to the clue that decided it.</a:t>
            </a:r>
          </a:p>
        </p:txBody>
      </p:sp>
      <p:sp>
        <p:nvSpPr>
          <p:cNvPr id="10" name="line-2">
            <a:extLst xmlns:a="http://schemas.openxmlformats.org/drawingml/2006/main">
              <a:ext uri="{FF2B5EF4-FFF2-40B4-BE49-F238E27FC236}">
                <a16:creationId xmlns:a16="http://schemas.microsoft.com/office/drawing/2014/main" id="{3EBA87F5-D530-4660-84EF-5E729FA40C4B}"/>
              </a:ext>
            </a:extLst>
          </p:cNvPr>
          <p:cNvSpPr>
            <a:spLocks xmlns:a="http://schemas.openxmlformats.org/drawingml/2006/main" noGrp="1"/>
          </p:cNvSpPr>
          <p:nvPr/>
        </p:nvSpPr>
        <p:spPr>
          <a:xfrm xmlns:a="http://schemas.openxmlformats.org/drawingml/2006/main">
            <a:off x="609600" y="4333875"/>
            <a:ext cx="10972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Check: a skin ring is not a backbone.</a:t>
            </a:r>
          </a:p>
        </p:txBody>
      </p:sp>
    </p:spTree>
    <p:extLst>
      <p:ext uri="{BB962C8B-B14F-4D97-AF65-F5344CB8AC3E}">
        <p14:creationId xmlns:p14="http://schemas.microsoft.com/office/powerpoint/2010/main" val="1781967673"/>
      </p:ext>
    </p:extLst>
  </p:cSld>
</p:sld>
</file>

<file path=ppt/slides/slide8.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1" name="top-rule">
            <a:extLst xmlns:a="http://schemas.openxmlformats.org/drawingml/2006/main">
              <a:ext uri="{FF2B5EF4-FFF2-40B4-BE49-F238E27FC236}">
                <a16:creationId xmlns:a16="http://schemas.microsoft.com/office/drawing/2014/main" id="{B7B53450-C404-4D9B-9B81-4DA0A1E6D2C8}"/>
              </a:ext>
            </a:extLst>
          </p:cNvPr>
          <p:cNvSpPr>
            <a:spLocks xmlns:a="http://schemas.openxmlformats.org/drawingml/2006/main" noGrp="1"/>
          </p:cNvSpPr>
          <p:nvPr/>
        </p:nvSpPr>
        <p:spPr>
          <a:xfrm xmlns:a="http://schemas.openxmlformats.org/drawingml/2006/main">
            <a:off x="609600" y="552450"/>
            <a:ext cx="781050" cy="57150"/>
          </a:xfrm>
          <a:prstGeom xmlns:a="http://schemas.openxmlformats.org/drawingml/2006/main" prst="rect">
            <a:avLst/>
          </a:prstGeom>
          <a:solidFill xmlns:a="http://schemas.openxmlformats.org/drawingml/2006/main">
            <a:srgbClr val="28685E"/>
          </a:solidFill>
          <a:ln xmlns:a="http://schemas.openxmlformats.org/drawingml/2006/main" w="0">
            <a:noFill/>
            <a:prstDash val="solid"/>
          </a:ln>
        </p:spPr>
      </p:sp>
      <p:sp>
        <p:nvSpPr>
          <p:cNvPr id="2" name="brand">
            <a:extLst xmlns:a="http://schemas.openxmlformats.org/drawingml/2006/main">
              <a:ext uri="{FF2B5EF4-FFF2-40B4-BE49-F238E27FC236}">
                <a16:creationId xmlns:a16="http://schemas.microsoft.com/office/drawing/2014/main" id="{B3A1787C-EB15-4BA6-9BFC-2CB5565ED6B5}"/>
              </a:ext>
            </a:extLst>
          </p:cNvPr>
          <p:cNvSpPr>
            <a:spLocks xmlns:a="http://schemas.openxmlformats.org/drawingml/2006/main" noGrp="1"/>
          </p:cNvSpPr>
          <p:nvPr/>
        </p:nvSpPr>
        <p:spPr>
          <a:xfrm xmlns:a="http://schemas.openxmlformats.org/drawingml/2006/main">
            <a:off x="609600" y="762000"/>
            <a:ext cx="9334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500" b="1">
                <a:solidFill>
                  <a:srgbClr val="28685E"/>
                </a:solidFill>
              </a:defRPr>
            </a:pPr>
            <a:r>
              <a:rPr sz="1500" b="1">
                <a:solidFill>
                  <a:srgbClr val="28685E"/>
                </a:solidFill>
              </a:rPr>
              <a:t>MADE BY MATT  /  BUILD SCIENCE</a:t>
            </a:r>
          </a:p>
        </p:txBody>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75058843ff5b4c98"/>
          <a:stretch xmlns:a="http://schemas.openxmlformats.org/drawingml/2006/main"/>
        </p:blipFill>
        <p:spPr>
          <a:xfrm xmlns:a="http://schemas.openxmlformats.org/drawingml/2006/main">
            <a:off x="10801350" y="438150"/>
            <a:ext cx="781050" cy="781050"/>
          </a:xfrm>
          <a:prstGeom xmlns:a="http://schemas.openxmlformats.org/drawingml/2006/main" prst="rect">
            <a:avLst/>
          </a:prstGeom>
        </p:spPr>
      </p:pic>
      <p:sp>
        <p:nvSpPr>
          <p:cNvPr id="4" name="title">
            <a:extLst xmlns:a="http://schemas.openxmlformats.org/drawingml/2006/main">
              <a:ext uri="{FF2B5EF4-FFF2-40B4-BE49-F238E27FC236}">
                <a16:creationId xmlns:a16="http://schemas.microsoft.com/office/drawing/2014/main" id="{2984797D-7F48-44B6-B7C6-9E0E02428723}"/>
              </a:ext>
            </a:extLst>
          </p:cNvPr>
          <p:cNvSpPr>
            <a:spLocks xmlns:a="http://schemas.openxmlformats.org/drawingml/2006/main" noGrp="1"/>
          </p:cNvSpPr>
          <p:nvPr/>
        </p:nvSpPr>
        <p:spPr>
          <a:xfrm xmlns:a="http://schemas.openxmlformats.org/drawingml/2006/main">
            <a:off x="609600" y="1352550"/>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3750" b="1">
                <a:solidFill>
                  <a:srgbClr val="152B3A"/>
                </a:solidFill>
              </a:defRPr>
            </a:pPr>
            <a:r>
              <a:rPr sz="3750" b="1">
                <a:solidFill>
                  <a:srgbClr val="152B3A"/>
                </a:solidFill>
              </a:rPr>
              <a:t>Improve one clue and save it</a:t>
            </a:r>
          </a:p>
        </p:txBody>
      </p:sp>
      <p:sp>
        <p:nvSpPr>
          <p:cNvPr id="5" name="footer-line">
            <a:extLst xmlns:a="http://schemas.openxmlformats.org/drawingml/2006/main">
              <a:ext uri="{FF2B5EF4-FFF2-40B4-BE49-F238E27FC236}">
                <a16:creationId xmlns:a16="http://schemas.microsoft.com/office/drawing/2014/main" id="{534F0EBC-5169-4CCE-AA35-5A54712BB72A}"/>
              </a:ext>
            </a:extLst>
          </p:cNvPr>
          <p:cNvSpPr>
            <a:spLocks xmlns:a="http://schemas.openxmlformats.org/drawingml/2006/main" noGrp="1"/>
          </p:cNvSpPr>
          <p:nvPr/>
        </p:nvSpPr>
        <p:spPr>
          <a:xfrm xmlns:a="http://schemas.openxmlformats.org/drawingml/2006/main">
            <a:off x="609600" y="6219825"/>
            <a:ext cx="10972800" cy="9525"/>
          </a:xfrm>
          <a:prstGeom xmlns:a="http://schemas.openxmlformats.org/drawingml/2006/main" prst="rect">
            <a:avLst/>
          </a:prstGeom>
          <a:solidFill xmlns:a="http://schemas.openxmlformats.org/drawingml/2006/main">
            <a:srgbClr val="DCE7DD"/>
          </a:solidFill>
          <a:ln xmlns:a="http://schemas.openxmlformats.org/drawingml/2006/main" w="0">
            <a:noFill/>
            <a:prstDash val="solid"/>
          </a:ln>
        </p:spPr>
      </p:sp>
      <p:sp>
        <p:nvSpPr>
          <p:cNvPr id="6" name="footer">
            <a:extLst xmlns:a="http://schemas.openxmlformats.org/drawingml/2006/main">
              <a:ext uri="{FF2B5EF4-FFF2-40B4-BE49-F238E27FC236}">
                <a16:creationId xmlns:a16="http://schemas.microsoft.com/office/drawing/2014/main" id="{2543EE6D-AE1E-4A07-9A92-B1747A87D436}"/>
              </a:ext>
            </a:extLst>
          </p:cNvPr>
          <p:cNvSpPr>
            <a:spLocks xmlns:a="http://schemas.openxmlformats.org/drawingml/2006/main" noGrp="1"/>
          </p:cNvSpPr>
          <p:nvPr/>
        </p:nvSpPr>
        <p:spPr>
          <a:xfrm xmlns:a="http://schemas.openxmlformats.org/drawingml/2006/main">
            <a:off x="609600" y="6381750"/>
            <a:ext cx="990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275" b="0">
                <a:solidFill>
                  <a:srgbClr val="50616B"/>
                </a:solidFill>
              </a:defRPr>
            </a:pPr>
            <a:r>
              <a:rPr sz="1275" b="0">
                <a:solidFill>
                  <a:srgbClr val="50616B"/>
                </a:solidFill>
              </a:rPr>
              <a:t>AUTUMN 1  ·  WEEK 3  ·  LESSON B</a:t>
            </a:r>
          </a:p>
        </p:txBody>
      </p:sp>
      <p:sp>
        <p:nvSpPr>
          <p:cNvPr id="7" name="page">
            <a:extLst xmlns:a="http://schemas.openxmlformats.org/drawingml/2006/main">
              <a:ext uri="{FF2B5EF4-FFF2-40B4-BE49-F238E27FC236}">
                <a16:creationId xmlns:a16="http://schemas.microsoft.com/office/drawing/2014/main" id="{74D79E3B-62C4-4577-90A9-4EE6E1E94DFF}"/>
              </a:ext>
            </a:extLst>
          </p:cNvPr>
          <p:cNvSpPr>
            <a:spLocks xmlns:a="http://schemas.openxmlformats.org/drawingml/2006/main" noGrp="1"/>
          </p:cNvSpPr>
          <p:nvPr/>
        </p:nvSpPr>
        <p:spPr>
          <a:xfrm xmlns:a="http://schemas.openxmlformats.org/drawingml/2006/main">
            <a:off x="11106150" y="6362700"/>
            <a:ext cx="476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350" b="1">
                <a:solidFill>
                  <a:srgbClr val="28685E"/>
                </a:solidFill>
              </a:defRPr>
            </a:pPr>
            <a:r>
              <a:rPr sz="1350" b="1">
                <a:solidFill>
                  <a:srgbClr val="28685E"/>
                </a:solidFill>
              </a:rPr>
              <a:t>08</a:t>
            </a:r>
          </a:p>
        </p:txBody>
      </p:sp>
      <p:sp>
        <p:nvSpPr>
          <p:cNvPr id="8" name="line-0">
            <a:extLst xmlns:a="http://schemas.openxmlformats.org/drawingml/2006/main">
              <a:ext uri="{FF2B5EF4-FFF2-40B4-BE49-F238E27FC236}">
                <a16:creationId xmlns:a16="http://schemas.microsoft.com/office/drawing/2014/main" id="{67B3F551-94F6-4A0A-A47F-B4F7B91D6B97}"/>
              </a:ext>
            </a:extLst>
          </p:cNvPr>
          <p:cNvSpPr>
            <a:spLocks xmlns:a="http://schemas.openxmlformats.org/drawingml/2006/main" noGrp="1"/>
          </p:cNvSpPr>
          <p:nvPr/>
        </p:nvSpPr>
        <p:spPr>
          <a:xfrm xmlns:a="http://schemas.openxmlformats.org/drawingml/2006/main">
            <a:off x="609600" y="2619375"/>
            <a:ext cx="10972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Make one clue more precise.</a:t>
            </a:r>
          </a:p>
        </p:txBody>
      </p:sp>
      <p:sp>
        <p:nvSpPr>
          <p:cNvPr id="9" name="line-1">
            <a:extLst xmlns:a="http://schemas.openxmlformats.org/drawingml/2006/main">
              <a:ext uri="{FF2B5EF4-FFF2-40B4-BE49-F238E27FC236}">
                <a16:creationId xmlns:a16="http://schemas.microsoft.com/office/drawing/2014/main" id="{71635453-B765-4FDA-B9B8-90B38BA4D3F7}"/>
              </a:ext>
            </a:extLst>
          </p:cNvPr>
          <p:cNvSpPr>
            <a:spLocks xmlns:a="http://schemas.openxmlformats.org/drawingml/2006/main" noGrp="1"/>
          </p:cNvSpPr>
          <p:nvPr/>
        </p:nvSpPr>
        <p:spPr>
          <a:xfrm xmlns:a="http://schemas.openxmlformats.org/drawingml/2006/main">
            <a:off x="609600" y="3476625"/>
            <a:ext cx="10972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Keep your first and improved version.</a:t>
            </a:r>
          </a:p>
        </p:txBody>
      </p:sp>
      <p:sp>
        <p:nvSpPr>
          <p:cNvPr id="10" name="line-2">
            <a:extLst xmlns:a="http://schemas.openxmlformats.org/drawingml/2006/main">
              <a:ext uri="{FF2B5EF4-FFF2-40B4-BE49-F238E27FC236}">
                <a16:creationId xmlns:a16="http://schemas.microsoft.com/office/drawing/2014/main" id="{48BDCB70-DB3E-42CD-BA82-D550C168E3A6}"/>
              </a:ext>
            </a:extLst>
          </p:cNvPr>
          <p:cNvSpPr>
            <a:spLocks xmlns:a="http://schemas.openxmlformats.org/drawingml/2006/main" noGrp="1"/>
          </p:cNvSpPr>
          <p:nvPr/>
        </p:nvSpPr>
        <p:spPr>
          <a:xfrm xmlns:a="http://schemas.openxmlformats.org/drawingml/2006/main">
            <a:off x="609600" y="4333875"/>
            <a:ext cx="10972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Explain which animal group it supports.</a:t>
            </a:r>
          </a:p>
        </p:txBody>
      </p:sp>
    </p:spTree>
    <p:extLst>
      <p:ext uri="{BB962C8B-B14F-4D97-AF65-F5344CB8AC3E}">
        <p14:creationId xmlns:p14="http://schemas.microsoft.com/office/powerpoint/2010/main" val="1226760040"/>
      </p:ext>
    </p:extLst>
  </p:cSld>
</p:sld>
</file>

<file path=ppt/slides/slide9.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1" name="top-rule">
            <a:extLst xmlns:a="http://schemas.openxmlformats.org/drawingml/2006/main">
              <a:ext uri="{FF2B5EF4-FFF2-40B4-BE49-F238E27FC236}">
                <a16:creationId xmlns:a16="http://schemas.microsoft.com/office/drawing/2014/main" id="{5730D75B-B942-4E6B-B841-AB9F2692B016}"/>
              </a:ext>
            </a:extLst>
          </p:cNvPr>
          <p:cNvSpPr>
            <a:spLocks xmlns:a="http://schemas.openxmlformats.org/drawingml/2006/main" noGrp="1"/>
          </p:cNvSpPr>
          <p:nvPr/>
        </p:nvSpPr>
        <p:spPr>
          <a:xfrm xmlns:a="http://schemas.openxmlformats.org/drawingml/2006/main">
            <a:off x="609600" y="552450"/>
            <a:ext cx="781050" cy="57150"/>
          </a:xfrm>
          <a:prstGeom xmlns:a="http://schemas.openxmlformats.org/drawingml/2006/main" prst="rect">
            <a:avLst/>
          </a:prstGeom>
          <a:solidFill xmlns:a="http://schemas.openxmlformats.org/drawingml/2006/main">
            <a:srgbClr val="28685E"/>
          </a:solidFill>
          <a:ln xmlns:a="http://schemas.openxmlformats.org/drawingml/2006/main" w="0">
            <a:noFill/>
            <a:prstDash val="solid"/>
          </a:ln>
        </p:spPr>
      </p:sp>
      <p:sp>
        <p:nvSpPr>
          <p:cNvPr id="2" name="brand">
            <a:extLst xmlns:a="http://schemas.openxmlformats.org/drawingml/2006/main">
              <a:ext uri="{FF2B5EF4-FFF2-40B4-BE49-F238E27FC236}">
                <a16:creationId xmlns:a16="http://schemas.microsoft.com/office/drawing/2014/main" id="{948CF9F7-1AD6-4D93-9670-85C351B2CA16}"/>
              </a:ext>
            </a:extLst>
          </p:cNvPr>
          <p:cNvSpPr>
            <a:spLocks xmlns:a="http://schemas.openxmlformats.org/drawingml/2006/main" noGrp="1"/>
          </p:cNvSpPr>
          <p:nvPr/>
        </p:nvSpPr>
        <p:spPr>
          <a:xfrm xmlns:a="http://schemas.openxmlformats.org/drawingml/2006/main">
            <a:off x="609600" y="762000"/>
            <a:ext cx="9334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500" b="1">
                <a:solidFill>
                  <a:srgbClr val="28685E"/>
                </a:solidFill>
              </a:defRPr>
            </a:pPr>
            <a:r>
              <a:rPr sz="1500" b="1">
                <a:solidFill>
                  <a:srgbClr val="28685E"/>
                </a:solidFill>
              </a:rPr>
              <a:t>MADE BY MATT  /  BUILD SCIENCE</a:t>
            </a:r>
          </a:p>
        </p:txBody>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c4520aee67dc4f46"/>
          <a:stretch xmlns:a="http://schemas.openxmlformats.org/drawingml/2006/main"/>
        </p:blipFill>
        <p:spPr>
          <a:xfrm xmlns:a="http://schemas.openxmlformats.org/drawingml/2006/main">
            <a:off x="10801350" y="438150"/>
            <a:ext cx="781050" cy="781050"/>
          </a:xfrm>
          <a:prstGeom xmlns:a="http://schemas.openxmlformats.org/drawingml/2006/main" prst="rect">
            <a:avLst/>
          </a:prstGeom>
        </p:spPr>
      </p:pic>
      <p:sp>
        <p:nvSpPr>
          <p:cNvPr id="4" name="title">
            <a:extLst xmlns:a="http://schemas.openxmlformats.org/drawingml/2006/main">
              <a:ext uri="{FF2B5EF4-FFF2-40B4-BE49-F238E27FC236}">
                <a16:creationId xmlns:a16="http://schemas.microsoft.com/office/drawing/2014/main" id="{9CE129D0-1942-4912-9B17-5D6CDFF37EFC}"/>
              </a:ext>
            </a:extLst>
          </p:cNvPr>
          <p:cNvSpPr>
            <a:spLocks xmlns:a="http://schemas.openxmlformats.org/drawingml/2006/main" noGrp="1"/>
          </p:cNvSpPr>
          <p:nvPr/>
        </p:nvSpPr>
        <p:spPr>
          <a:xfrm xmlns:a="http://schemas.openxmlformats.org/drawingml/2006/main">
            <a:off x="609600" y="1352550"/>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3750" b="1">
                <a:solidFill>
                  <a:srgbClr val="152B3A"/>
                </a:solidFill>
              </a:defRPr>
            </a:pPr>
            <a:r>
              <a:rPr sz="3750" b="1">
                <a:solidFill>
                  <a:srgbClr val="152B3A"/>
                </a:solidFill>
              </a:rPr>
              <a:t>Leave the evidence ready</a:t>
            </a:r>
          </a:p>
        </p:txBody>
      </p:sp>
      <p:sp>
        <p:nvSpPr>
          <p:cNvPr id="5" name="footer-line">
            <a:extLst xmlns:a="http://schemas.openxmlformats.org/drawingml/2006/main">
              <a:ext uri="{FF2B5EF4-FFF2-40B4-BE49-F238E27FC236}">
                <a16:creationId xmlns:a16="http://schemas.microsoft.com/office/drawing/2014/main" id="{0ACB35AE-8106-4409-8A1D-239E4C178125}"/>
              </a:ext>
            </a:extLst>
          </p:cNvPr>
          <p:cNvSpPr>
            <a:spLocks xmlns:a="http://schemas.openxmlformats.org/drawingml/2006/main" noGrp="1"/>
          </p:cNvSpPr>
          <p:nvPr/>
        </p:nvSpPr>
        <p:spPr>
          <a:xfrm xmlns:a="http://schemas.openxmlformats.org/drawingml/2006/main">
            <a:off x="609600" y="6219825"/>
            <a:ext cx="10972800" cy="9525"/>
          </a:xfrm>
          <a:prstGeom xmlns:a="http://schemas.openxmlformats.org/drawingml/2006/main" prst="rect">
            <a:avLst/>
          </a:prstGeom>
          <a:solidFill xmlns:a="http://schemas.openxmlformats.org/drawingml/2006/main">
            <a:srgbClr val="DCE7DD"/>
          </a:solidFill>
          <a:ln xmlns:a="http://schemas.openxmlformats.org/drawingml/2006/main" w="0">
            <a:noFill/>
            <a:prstDash val="solid"/>
          </a:ln>
        </p:spPr>
      </p:sp>
      <p:sp>
        <p:nvSpPr>
          <p:cNvPr id="6" name="footer">
            <a:extLst xmlns:a="http://schemas.openxmlformats.org/drawingml/2006/main">
              <a:ext uri="{FF2B5EF4-FFF2-40B4-BE49-F238E27FC236}">
                <a16:creationId xmlns:a16="http://schemas.microsoft.com/office/drawing/2014/main" id="{B38C092E-65AD-4A9C-82A8-3D13D46C5945}"/>
              </a:ext>
            </a:extLst>
          </p:cNvPr>
          <p:cNvSpPr>
            <a:spLocks xmlns:a="http://schemas.openxmlformats.org/drawingml/2006/main" noGrp="1"/>
          </p:cNvSpPr>
          <p:nvPr/>
        </p:nvSpPr>
        <p:spPr>
          <a:xfrm xmlns:a="http://schemas.openxmlformats.org/drawingml/2006/main">
            <a:off x="609600" y="6381750"/>
            <a:ext cx="990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275" b="0">
                <a:solidFill>
                  <a:srgbClr val="50616B"/>
                </a:solidFill>
              </a:defRPr>
            </a:pPr>
            <a:r>
              <a:rPr sz="1275" b="0">
                <a:solidFill>
                  <a:srgbClr val="50616B"/>
                </a:solidFill>
              </a:rPr>
              <a:t>AUTUMN 1  ·  WEEK 3  ·  LESSON B</a:t>
            </a:r>
          </a:p>
        </p:txBody>
      </p:sp>
      <p:sp>
        <p:nvSpPr>
          <p:cNvPr id="7" name="page">
            <a:extLst xmlns:a="http://schemas.openxmlformats.org/drawingml/2006/main">
              <a:ext uri="{FF2B5EF4-FFF2-40B4-BE49-F238E27FC236}">
                <a16:creationId xmlns:a16="http://schemas.microsoft.com/office/drawing/2014/main" id="{1E7E47CD-F5DD-4640-8127-B3B27E549B07}"/>
              </a:ext>
            </a:extLst>
          </p:cNvPr>
          <p:cNvSpPr>
            <a:spLocks xmlns:a="http://schemas.openxmlformats.org/drawingml/2006/main" noGrp="1"/>
          </p:cNvSpPr>
          <p:nvPr/>
        </p:nvSpPr>
        <p:spPr>
          <a:xfrm xmlns:a="http://schemas.openxmlformats.org/drawingml/2006/main">
            <a:off x="11106150" y="6362700"/>
            <a:ext cx="476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350" b="1">
                <a:solidFill>
                  <a:srgbClr val="28685E"/>
                </a:solidFill>
              </a:defRPr>
            </a:pPr>
            <a:r>
              <a:rPr sz="1350" b="1">
                <a:solidFill>
                  <a:srgbClr val="28685E"/>
                </a:solidFill>
              </a:rPr>
              <a:t>09</a:t>
            </a:r>
          </a:p>
        </p:txBody>
      </p:sp>
      <p:sp>
        <p:nvSpPr>
          <p:cNvPr id="8" name="line-0">
            <a:extLst xmlns:a="http://schemas.openxmlformats.org/drawingml/2006/main">
              <a:ext uri="{FF2B5EF4-FFF2-40B4-BE49-F238E27FC236}">
                <a16:creationId xmlns:a16="http://schemas.microsoft.com/office/drawing/2014/main" id="{36B74EA5-BC0C-4C1F-81FD-DFDADBE6794C}"/>
              </a:ext>
            </a:extLst>
          </p:cNvPr>
          <p:cNvSpPr>
            <a:spLocks xmlns:a="http://schemas.openxmlformats.org/drawingml/2006/main" noGrp="1"/>
          </p:cNvSpPr>
          <p:nvPr/>
        </p:nvSpPr>
        <p:spPr>
          <a:xfrm xmlns:a="http://schemas.openxmlformats.org/drawingml/2006/main">
            <a:off x="609600" y="2619375"/>
            <a:ext cx="10972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Keep the sort, clue and explanation together.</a:t>
            </a:r>
          </a:p>
        </p:txBody>
      </p:sp>
      <p:sp>
        <p:nvSpPr>
          <p:cNvPr id="9" name="line-1">
            <a:extLst xmlns:a="http://schemas.openxmlformats.org/drawingml/2006/main">
              <a:ext uri="{FF2B5EF4-FFF2-40B4-BE49-F238E27FC236}">
                <a16:creationId xmlns:a16="http://schemas.microsoft.com/office/drawing/2014/main" id="{6464318E-19E4-4A8D-AC2C-A866D66B2EF7}"/>
              </a:ext>
            </a:extLst>
          </p:cNvPr>
          <p:cNvSpPr>
            <a:spLocks xmlns:a="http://schemas.openxmlformats.org/drawingml/2006/main" noGrp="1"/>
          </p:cNvSpPr>
          <p:nvPr/>
        </p:nvSpPr>
        <p:spPr>
          <a:xfrm xmlns:a="http://schemas.openxmlformats.org/drawingml/2006/main">
            <a:off x="609600" y="3476625"/>
            <a:ext cx="10972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Label your work.</a:t>
            </a:r>
          </a:p>
        </p:txBody>
      </p:sp>
      <p:sp>
        <p:nvSpPr>
          <p:cNvPr id="10" name="line-2">
            <a:extLst xmlns:a="http://schemas.openxmlformats.org/drawingml/2006/main">
              <a:ext uri="{FF2B5EF4-FFF2-40B4-BE49-F238E27FC236}">
                <a16:creationId xmlns:a16="http://schemas.microsoft.com/office/drawing/2014/main" id="{6AFD1CAD-5245-4089-8C0A-CEA43FCEE9A5}"/>
              </a:ext>
            </a:extLst>
          </p:cNvPr>
          <p:cNvSpPr>
            <a:spLocks xmlns:a="http://schemas.openxmlformats.org/drawingml/2006/main" noGrp="1"/>
          </p:cNvSpPr>
          <p:nvPr/>
        </p:nvSpPr>
        <p:spPr>
          <a:xfrm xmlns:a="http://schemas.openxmlformats.org/drawingml/2006/main">
            <a:off x="609600" y="4333875"/>
            <a:ext cx="10972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Return labels and clear the table.</a:t>
            </a:r>
          </a:p>
        </p:txBody>
      </p:sp>
    </p:spTree>
    <p:extLst>
      <p:ext uri="{BB962C8B-B14F-4D97-AF65-F5344CB8AC3E}">
        <p14:creationId xmlns:p14="http://schemas.microsoft.com/office/powerpoint/2010/main" val="639485194"/>
      </p:ext>
    </p:extLst>
  </p:cSld>
</p:sld>
</file>

<file path=ppt/slides/slide10.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2" name="top-rule">
            <a:extLst xmlns:a="http://schemas.openxmlformats.org/drawingml/2006/main">
              <a:ext uri="{FF2B5EF4-FFF2-40B4-BE49-F238E27FC236}">
                <a16:creationId xmlns:a16="http://schemas.microsoft.com/office/drawing/2014/main" id="{A86F248E-30BD-4CFD-8D12-642DCAE61BF7}"/>
              </a:ext>
            </a:extLst>
          </p:cNvPr>
          <p:cNvSpPr>
            <a:spLocks xmlns:a="http://schemas.openxmlformats.org/drawingml/2006/main" noGrp="1"/>
          </p:cNvSpPr>
          <p:nvPr/>
        </p:nvSpPr>
        <p:spPr>
          <a:xfrm xmlns:a="http://schemas.openxmlformats.org/drawingml/2006/main">
            <a:off x="609600" y="552450"/>
            <a:ext cx="781050" cy="57150"/>
          </a:xfrm>
          <a:prstGeom xmlns:a="http://schemas.openxmlformats.org/drawingml/2006/main" prst="rect">
            <a:avLst/>
          </a:prstGeom>
          <a:solidFill xmlns:a="http://schemas.openxmlformats.org/drawingml/2006/main">
            <a:srgbClr val="28685E"/>
          </a:solidFill>
          <a:ln xmlns:a="http://schemas.openxmlformats.org/drawingml/2006/main" w="0">
            <a:noFill/>
            <a:prstDash val="solid"/>
          </a:ln>
        </p:spPr>
      </p:sp>
      <p:sp>
        <p:nvSpPr>
          <p:cNvPr id="2" name="brand">
            <a:extLst xmlns:a="http://schemas.openxmlformats.org/drawingml/2006/main">
              <a:ext uri="{FF2B5EF4-FFF2-40B4-BE49-F238E27FC236}">
                <a16:creationId xmlns:a16="http://schemas.microsoft.com/office/drawing/2014/main" id="{EB8E9FC3-F1A6-4946-BB04-11686DC15121}"/>
              </a:ext>
            </a:extLst>
          </p:cNvPr>
          <p:cNvSpPr>
            <a:spLocks xmlns:a="http://schemas.openxmlformats.org/drawingml/2006/main" noGrp="1"/>
          </p:cNvSpPr>
          <p:nvPr/>
        </p:nvSpPr>
        <p:spPr>
          <a:xfrm xmlns:a="http://schemas.openxmlformats.org/drawingml/2006/main">
            <a:off x="609600" y="762000"/>
            <a:ext cx="9334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500" b="1">
                <a:solidFill>
                  <a:srgbClr val="28685E"/>
                </a:solidFill>
              </a:defRPr>
            </a:pPr>
            <a:r>
              <a:rPr sz="1500" b="1">
                <a:solidFill>
                  <a:srgbClr val="28685E"/>
                </a:solidFill>
              </a:rPr>
              <a:t>MADE BY MATT  /  BUILD SCIENCE</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4da5386d5ad141bf"/>
          <a:stretch xmlns:a="http://schemas.openxmlformats.org/drawingml/2006/main"/>
        </p:blipFill>
        <p:spPr>
          <a:xfrm xmlns:a="http://schemas.openxmlformats.org/drawingml/2006/main">
            <a:off x="10801350" y="438150"/>
            <a:ext cx="781050" cy="781050"/>
          </a:xfrm>
          <a:prstGeom xmlns:a="http://schemas.openxmlformats.org/drawingml/2006/main" prst="rect">
            <a:avLst/>
          </a:prstGeom>
        </p:spPr>
      </p:pic>
      <p:sp>
        <p:nvSpPr>
          <p:cNvPr id="4" name="title">
            <a:extLst xmlns:a="http://schemas.openxmlformats.org/drawingml/2006/main">
              <a:ext uri="{FF2B5EF4-FFF2-40B4-BE49-F238E27FC236}">
                <a16:creationId xmlns:a16="http://schemas.microsoft.com/office/drawing/2014/main" id="{C0B30E25-9938-4BBB-B891-D2CBE88BF550}"/>
              </a:ext>
            </a:extLst>
          </p:cNvPr>
          <p:cNvSpPr>
            <a:spLocks xmlns:a="http://schemas.openxmlformats.org/drawingml/2006/main" noGrp="1"/>
          </p:cNvSpPr>
          <p:nvPr/>
        </p:nvSpPr>
        <p:spPr>
          <a:xfrm xmlns:a="http://schemas.openxmlformats.org/drawingml/2006/main">
            <a:off x="609600" y="1352550"/>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3750" b="1">
                <a:solidFill>
                  <a:srgbClr val="152B3A"/>
                </a:solidFill>
              </a:defRPr>
            </a:pPr>
            <a:r>
              <a:rPr sz="3750" b="1">
                <a:solidFill>
                  <a:srgbClr val="152B3A"/>
                </a:solidFill>
              </a:rPr>
              <a:t>Your voice can change the lesson</a:t>
            </a:r>
          </a:p>
        </p:txBody>
      </p:sp>
      <p:sp>
        <p:nvSpPr>
          <p:cNvPr id="5" name="footer-line">
            <a:extLst xmlns:a="http://schemas.openxmlformats.org/drawingml/2006/main">
              <a:ext uri="{FF2B5EF4-FFF2-40B4-BE49-F238E27FC236}">
                <a16:creationId xmlns:a16="http://schemas.microsoft.com/office/drawing/2014/main" id="{509371D2-2EB9-4EA8-8E3F-1E895A01AE29}"/>
              </a:ext>
            </a:extLst>
          </p:cNvPr>
          <p:cNvSpPr>
            <a:spLocks xmlns:a="http://schemas.openxmlformats.org/drawingml/2006/main" noGrp="1"/>
          </p:cNvSpPr>
          <p:nvPr/>
        </p:nvSpPr>
        <p:spPr>
          <a:xfrm xmlns:a="http://schemas.openxmlformats.org/drawingml/2006/main">
            <a:off x="609600" y="6219825"/>
            <a:ext cx="10972800" cy="9525"/>
          </a:xfrm>
          <a:prstGeom xmlns:a="http://schemas.openxmlformats.org/drawingml/2006/main" prst="rect">
            <a:avLst/>
          </a:prstGeom>
          <a:solidFill xmlns:a="http://schemas.openxmlformats.org/drawingml/2006/main">
            <a:srgbClr val="DCE7DD"/>
          </a:solidFill>
          <a:ln xmlns:a="http://schemas.openxmlformats.org/drawingml/2006/main" w="0">
            <a:noFill/>
            <a:prstDash val="solid"/>
          </a:ln>
        </p:spPr>
      </p:sp>
      <p:sp>
        <p:nvSpPr>
          <p:cNvPr id="6" name="footer">
            <a:extLst xmlns:a="http://schemas.openxmlformats.org/drawingml/2006/main">
              <a:ext uri="{FF2B5EF4-FFF2-40B4-BE49-F238E27FC236}">
                <a16:creationId xmlns:a16="http://schemas.microsoft.com/office/drawing/2014/main" id="{DDC34A4A-26C6-4DD9-B49A-0DCB9A40A582}"/>
              </a:ext>
            </a:extLst>
          </p:cNvPr>
          <p:cNvSpPr>
            <a:spLocks xmlns:a="http://schemas.openxmlformats.org/drawingml/2006/main" noGrp="1"/>
          </p:cNvSpPr>
          <p:nvPr/>
        </p:nvSpPr>
        <p:spPr>
          <a:xfrm xmlns:a="http://schemas.openxmlformats.org/drawingml/2006/main">
            <a:off x="609600" y="6381750"/>
            <a:ext cx="990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275" b="0">
                <a:solidFill>
                  <a:srgbClr val="50616B"/>
                </a:solidFill>
              </a:defRPr>
            </a:pPr>
            <a:r>
              <a:rPr sz="1275" b="0">
                <a:solidFill>
                  <a:srgbClr val="50616B"/>
                </a:solidFill>
              </a:rPr>
              <a:t>AUTUMN 1  ·  WEEK 3  ·  LESSON B</a:t>
            </a:r>
          </a:p>
        </p:txBody>
      </p:sp>
      <p:sp>
        <p:nvSpPr>
          <p:cNvPr id="7" name="page">
            <a:extLst xmlns:a="http://schemas.openxmlformats.org/drawingml/2006/main">
              <a:ext uri="{FF2B5EF4-FFF2-40B4-BE49-F238E27FC236}">
                <a16:creationId xmlns:a16="http://schemas.microsoft.com/office/drawing/2014/main" id="{8F00F9DE-B491-4A75-A111-B4D85A5C5F80}"/>
              </a:ext>
            </a:extLst>
          </p:cNvPr>
          <p:cNvSpPr>
            <a:spLocks xmlns:a="http://schemas.openxmlformats.org/drawingml/2006/main" noGrp="1"/>
          </p:cNvSpPr>
          <p:nvPr/>
        </p:nvSpPr>
        <p:spPr>
          <a:xfrm xmlns:a="http://schemas.openxmlformats.org/drawingml/2006/main">
            <a:off x="11106150" y="6362700"/>
            <a:ext cx="476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350" b="1">
                <a:solidFill>
                  <a:srgbClr val="28685E"/>
                </a:solidFill>
              </a:defRPr>
            </a:pPr>
            <a:r>
              <a:rPr sz="1350" b="1">
                <a:solidFill>
                  <a:srgbClr val="28685E"/>
                </a:solidFill>
              </a:rPr>
              <a:t>10</a:t>
            </a:r>
          </a:p>
        </p:txBody>
      </p:sp>
      <p:sp>
        <p:nvSpPr>
          <p:cNvPr id="8" name="line-0">
            <a:extLst xmlns:a="http://schemas.openxmlformats.org/drawingml/2006/main">
              <a:ext uri="{FF2B5EF4-FFF2-40B4-BE49-F238E27FC236}">
                <a16:creationId xmlns:a16="http://schemas.microsoft.com/office/drawing/2014/main" id="{6001C2C4-148E-4798-8009-CFA7BEEB0332}"/>
              </a:ext>
            </a:extLst>
          </p:cNvPr>
          <p:cNvSpPr>
            <a:spLocks xmlns:a="http://schemas.openxmlformats.org/drawingml/2006/main" noGrp="1"/>
          </p:cNvSpPr>
          <p:nvPr/>
        </p:nvSpPr>
        <p:spPr>
          <a:xfrm xmlns:a="http://schemas.openxmlformats.org/drawingml/2006/main">
            <a:off x="609600" y="2619375"/>
            <a:ext cx="109728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What helped you join in?</a:t>
            </a:r>
          </a:p>
        </p:txBody>
      </p:sp>
      <p:sp>
        <p:nvSpPr>
          <p:cNvPr id="9" name="line-1">
            <a:extLst xmlns:a="http://schemas.openxmlformats.org/drawingml/2006/main">
              <a:ext uri="{FF2B5EF4-FFF2-40B4-BE49-F238E27FC236}">
                <a16:creationId xmlns:a16="http://schemas.microsoft.com/office/drawing/2014/main" id="{C512352A-81D7-4660-93BD-A4B37F3931E2}"/>
              </a:ext>
            </a:extLst>
          </p:cNvPr>
          <p:cNvSpPr>
            <a:spLocks xmlns:a="http://schemas.openxmlformats.org/drawingml/2006/main" noGrp="1"/>
          </p:cNvSpPr>
          <p:nvPr/>
        </p:nvSpPr>
        <p:spPr>
          <a:xfrm xmlns:a="http://schemas.openxmlformats.org/drawingml/2006/main">
            <a:off x="609600" y="3409950"/>
            <a:ext cx="109728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What could make the next activity easier?</a:t>
            </a:r>
          </a:p>
        </p:txBody>
      </p:sp>
      <p:sp>
        <p:nvSpPr>
          <p:cNvPr id="10" name="line-2">
            <a:extLst xmlns:a="http://schemas.openxmlformats.org/drawingml/2006/main">
              <a:ext uri="{FF2B5EF4-FFF2-40B4-BE49-F238E27FC236}">
                <a16:creationId xmlns:a16="http://schemas.microsoft.com/office/drawing/2014/main" id="{FDAE6397-ACEC-4090-85C1-B0F493244B75}"/>
              </a:ext>
            </a:extLst>
          </p:cNvPr>
          <p:cNvSpPr>
            <a:spLocks xmlns:a="http://schemas.openxmlformats.org/drawingml/2006/main" noGrp="1"/>
          </p:cNvSpPr>
          <p:nvPr/>
        </p:nvSpPr>
        <p:spPr>
          <a:xfrm xmlns:a="http://schemas.openxmlformats.org/drawingml/2006/main">
            <a:off x="609600" y="4200525"/>
            <a:ext cx="109728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Point, sign, speak, write or pass privately.</a:t>
            </a:r>
          </a:p>
        </p:txBody>
      </p:sp>
      <p:sp>
        <p:nvSpPr>
          <p:cNvPr id="11" name="line-3">
            <a:extLst xmlns:a="http://schemas.openxmlformats.org/drawingml/2006/main">
              <a:ext uri="{FF2B5EF4-FFF2-40B4-BE49-F238E27FC236}">
                <a16:creationId xmlns:a16="http://schemas.microsoft.com/office/drawing/2014/main" id="{A984F5D0-3855-48E1-BD38-9DABF954B253}"/>
              </a:ext>
            </a:extLst>
          </p:cNvPr>
          <p:cNvSpPr>
            <a:spLocks xmlns:a="http://schemas.openxmlformats.org/drawingml/2006/main" noGrp="1"/>
          </p:cNvSpPr>
          <p:nvPr/>
        </p:nvSpPr>
        <p:spPr>
          <a:xfrm xmlns:a="http://schemas.openxmlformats.org/drawingml/2006/main">
            <a:off x="609600" y="4991100"/>
            <a:ext cx="109728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Adult: agree one change and explain any limit.</a:t>
            </a:r>
          </a:p>
        </p:txBody>
      </p:sp>
    </p:spTree>
    <p:extLst>
      <p:ext uri="{BB962C8B-B14F-4D97-AF65-F5344CB8AC3E}">
        <p14:creationId xmlns:p14="http://schemas.microsoft.com/office/powerpoint/2010/main" val="959801003"/>
      </p:ext>
    </p:extLst>
  </p:cSld>
</p:sld>
</file>

<file path=ppt/slides/slide11.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1" name="top-rule">
            <a:extLst xmlns:a="http://schemas.openxmlformats.org/drawingml/2006/main">
              <a:ext uri="{FF2B5EF4-FFF2-40B4-BE49-F238E27FC236}">
                <a16:creationId xmlns:a16="http://schemas.microsoft.com/office/drawing/2014/main" id="{76765E64-6D3F-4F01-A27F-1C68D4767473}"/>
              </a:ext>
            </a:extLst>
          </p:cNvPr>
          <p:cNvSpPr>
            <a:spLocks xmlns:a="http://schemas.openxmlformats.org/drawingml/2006/main" noGrp="1"/>
          </p:cNvSpPr>
          <p:nvPr/>
        </p:nvSpPr>
        <p:spPr>
          <a:xfrm xmlns:a="http://schemas.openxmlformats.org/drawingml/2006/main">
            <a:off x="609600" y="552450"/>
            <a:ext cx="781050" cy="57150"/>
          </a:xfrm>
          <a:prstGeom xmlns:a="http://schemas.openxmlformats.org/drawingml/2006/main" prst="rect">
            <a:avLst/>
          </a:prstGeom>
          <a:solidFill xmlns:a="http://schemas.openxmlformats.org/drawingml/2006/main">
            <a:srgbClr val="28685E"/>
          </a:solidFill>
          <a:ln xmlns:a="http://schemas.openxmlformats.org/drawingml/2006/main" w="0">
            <a:noFill/>
            <a:prstDash val="solid"/>
          </a:ln>
        </p:spPr>
      </p:sp>
      <p:sp>
        <p:nvSpPr>
          <p:cNvPr id="2" name="brand">
            <a:extLst xmlns:a="http://schemas.openxmlformats.org/drawingml/2006/main">
              <a:ext uri="{FF2B5EF4-FFF2-40B4-BE49-F238E27FC236}">
                <a16:creationId xmlns:a16="http://schemas.microsoft.com/office/drawing/2014/main" id="{C9E21A9D-4648-43A6-AA15-2509EC3A9CF8}"/>
              </a:ext>
            </a:extLst>
          </p:cNvPr>
          <p:cNvSpPr>
            <a:spLocks xmlns:a="http://schemas.openxmlformats.org/drawingml/2006/main" noGrp="1"/>
          </p:cNvSpPr>
          <p:nvPr/>
        </p:nvSpPr>
        <p:spPr>
          <a:xfrm xmlns:a="http://schemas.openxmlformats.org/drawingml/2006/main">
            <a:off x="609600" y="762000"/>
            <a:ext cx="9334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500" b="1">
                <a:solidFill>
                  <a:srgbClr val="28685E"/>
                </a:solidFill>
              </a:defRPr>
            </a:pPr>
            <a:r>
              <a:rPr sz="1500" b="1">
                <a:solidFill>
                  <a:srgbClr val="28685E"/>
                </a:solidFill>
              </a:rPr>
              <a:t>MADE BY MATT  /  BUILD SCIENCE</a:t>
            </a:r>
          </a:p>
        </p:txBody>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b2fef21c90bc4ee8"/>
          <a:stretch xmlns:a="http://schemas.openxmlformats.org/drawingml/2006/main"/>
        </p:blipFill>
        <p:spPr>
          <a:xfrm xmlns:a="http://schemas.openxmlformats.org/drawingml/2006/main">
            <a:off x="10801350" y="438150"/>
            <a:ext cx="781050" cy="781050"/>
          </a:xfrm>
          <a:prstGeom xmlns:a="http://schemas.openxmlformats.org/drawingml/2006/main" prst="rect">
            <a:avLst/>
          </a:prstGeom>
        </p:spPr>
      </p:pic>
      <p:sp>
        <p:nvSpPr>
          <p:cNvPr id="4" name="title">
            <a:extLst xmlns:a="http://schemas.openxmlformats.org/drawingml/2006/main">
              <a:ext uri="{FF2B5EF4-FFF2-40B4-BE49-F238E27FC236}">
                <a16:creationId xmlns:a16="http://schemas.microsoft.com/office/drawing/2014/main" id="{9ADEA849-60D4-4DE4-84E1-F2050A8F0F8C}"/>
              </a:ext>
            </a:extLst>
          </p:cNvPr>
          <p:cNvSpPr>
            <a:spLocks xmlns:a="http://schemas.openxmlformats.org/drawingml/2006/main" noGrp="1"/>
          </p:cNvSpPr>
          <p:nvPr/>
        </p:nvSpPr>
        <p:spPr>
          <a:xfrm xmlns:a="http://schemas.openxmlformats.org/drawingml/2006/main">
            <a:off x="609600" y="1352550"/>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3750" b="1">
                <a:solidFill>
                  <a:srgbClr val="152B3A"/>
                </a:solidFill>
              </a:defRPr>
            </a:pPr>
            <a:r>
              <a:rPr sz="3750" b="1">
                <a:solidFill>
                  <a:srgbClr val="152B3A"/>
                </a:solidFill>
              </a:rPr>
              <a:t>Show the science you can explain</a:t>
            </a:r>
          </a:p>
        </p:txBody>
      </p:sp>
      <p:sp>
        <p:nvSpPr>
          <p:cNvPr id="5" name="footer-line">
            <a:extLst xmlns:a="http://schemas.openxmlformats.org/drawingml/2006/main">
              <a:ext uri="{FF2B5EF4-FFF2-40B4-BE49-F238E27FC236}">
                <a16:creationId xmlns:a16="http://schemas.microsoft.com/office/drawing/2014/main" id="{ED9B8FE3-C912-4E69-8D7C-77C7A4A791FD}"/>
              </a:ext>
            </a:extLst>
          </p:cNvPr>
          <p:cNvSpPr>
            <a:spLocks xmlns:a="http://schemas.openxmlformats.org/drawingml/2006/main" noGrp="1"/>
          </p:cNvSpPr>
          <p:nvPr/>
        </p:nvSpPr>
        <p:spPr>
          <a:xfrm xmlns:a="http://schemas.openxmlformats.org/drawingml/2006/main">
            <a:off x="609600" y="6219825"/>
            <a:ext cx="10972800" cy="9525"/>
          </a:xfrm>
          <a:prstGeom xmlns:a="http://schemas.openxmlformats.org/drawingml/2006/main" prst="rect">
            <a:avLst/>
          </a:prstGeom>
          <a:solidFill xmlns:a="http://schemas.openxmlformats.org/drawingml/2006/main">
            <a:srgbClr val="DCE7DD"/>
          </a:solidFill>
          <a:ln xmlns:a="http://schemas.openxmlformats.org/drawingml/2006/main" w="0">
            <a:noFill/>
            <a:prstDash val="solid"/>
          </a:ln>
        </p:spPr>
      </p:sp>
      <p:sp>
        <p:nvSpPr>
          <p:cNvPr id="6" name="footer">
            <a:extLst xmlns:a="http://schemas.openxmlformats.org/drawingml/2006/main">
              <a:ext uri="{FF2B5EF4-FFF2-40B4-BE49-F238E27FC236}">
                <a16:creationId xmlns:a16="http://schemas.microsoft.com/office/drawing/2014/main" id="{3C828681-D0C3-4967-98CF-98AAA59FFE50}"/>
              </a:ext>
            </a:extLst>
          </p:cNvPr>
          <p:cNvSpPr>
            <a:spLocks xmlns:a="http://schemas.openxmlformats.org/drawingml/2006/main" noGrp="1"/>
          </p:cNvSpPr>
          <p:nvPr/>
        </p:nvSpPr>
        <p:spPr>
          <a:xfrm xmlns:a="http://schemas.openxmlformats.org/drawingml/2006/main">
            <a:off x="609600" y="6381750"/>
            <a:ext cx="990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275" b="0">
                <a:solidFill>
                  <a:srgbClr val="50616B"/>
                </a:solidFill>
              </a:defRPr>
            </a:pPr>
            <a:r>
              <a:rPr sz="1275" b="0">
                <a:solidFill>
                  <a:srgbClr val="50616B"/>
                </a:solidFill>
              </a:rPr>
              <a:t>AUTUMN 1  ·  WEEK 3  ·  LESSON B</a:t>
            </a:r>
          </a:p>
        </p:txBody>
      </p:sp>
      <p:sp>
        <p:nvSpPr>
          <p:cNvPr id="7" name="page">
            <a:extLst xmlns:a="http://schemas.openxmlformats.org/drawingml/2006/main">
              <a:ext uri="{FF2B5EF4-FFF2-40B4-BE49-F238E27FC236}">
                <a16:creationId xmlns:a16="http://schemas.microsoft.com/office/drawing/2014/main" id="{07BD7ADC-4E8F-4E0D-81E5-79EA502E93CC}"/>
              </a:ext>
            </a:extLst>
          </p:cNvPr>
          <p:cNvSpPr>
            <a:spLocks xmlns:a="http://schemas.openxmlformats.org/drawingml/2006/main" noGrp="1"/>
          </p:cNvSpPr>
          <p:nvPr/>
        </p:nvSpPr>
        <p:spPr>
          <a:xfrm xmlns:a="http://schemas.openxmlformats.org/drawingml/2006/main">
            <a:off x="11106150" y="6362700"/>
            <a:ext cx="476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350" b="1">
                <a:solidFill>
                  <a:srgbClr val="28685E"/>
                </a:solidFill>
              </a:defRPr>
            </a:pPr>
            <a:r>
              <a:rPr sz="1350" b="1">
                <a:solidFill>
                  <a:srgbClr val="28685E"/>
                </a:solidFill>
              </a:rPr>
              <a:t>11</a:t>
            </a:r>
          </a:p>
        </p:txBody>
      </p:sp>
      <p:sp>
        <p:nvSpPr>
          <p:cNvPr id="8" name="line-0">
            <a:extLst xmlns:a="http://schemas.openxmlformats.org/drawingml/2006/main">
              <a:ext uri="{FF2B5EF4-FFF2-40B4-BE49-F238E27FC236}">
                <a16:creationId xmlns:a16="http://schemas.microsoft.com/office/drawing/2014/main" id="{D699DED7-3A11-44B1-B455-50CB7CCB2019}"/>
              </a:ext>
            </a:extLst>
          </p:cNvPr>
          <p:cNvSpPr>
            <a:spLocks xmlns:a="http://schemas.openxmlformats.org/drawingml/2006/main" noGrp="1"/>
          </p:cNvSpPr>
          <p:nvPr/>
        </p:nvSpPr>
        <p:spPr>
          <a:xfrm xmlns:a="http://schemas.openxmlformats.org/drawingml/2006/main">
            <a:off x="609600" y="2619375"/>
            <a:ext cx="10972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Supported: choose an animal with a backbone.</a:t>
            </a:r>
          </a:p>
        </p:txBody>
      </p:sp>
      <p:sp>
        <p:nvSpPr>
          <p:cNvPr id="9" name="line-1">
            <a:extLst xmlns:a="http://schemas.openxmlformats.org/drawingml/2006/main">
              <a:ext uri="{FF2B5EF4-FFF2-40B4-BE49-F238E27FC236}">
                <a16:creationId xmlns:a16="http://schemas.microsoft.com/office/drawing/2014/main" id="{C7EDB195-92D5-4D2D-8DF4-5AF6BD1AC73E}"/>
              </a:ext>
            </a:extLst>
          </p:cNvPr>
          <p:cNvSpPr>
            <a:spLocks xmlns:a="http://schemas.openxmlformats.org/drawingml/2006/main" noGrp="1"/>
          </p:cNvSpPr>
          <p:nvPr/>
        </p:nvSpPr>
        <p:spPr>
          <a:xfrm xmlns:a="http://schemas.openxmlformats.org/drawingml/2006/main">
            <a:off x="609600" y="3476625"/>
            <a:ext cx="10972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Standard: explain why a crab is invertebrate.</a:t>
            </a:r>
          </a:p>
        </p:txBody>
      </p:sp>
      <p:sp>
        <p:nvSpPr>
          <p:cNvPr id="10" name="line-2">
            <a:extLst xmlns:a="http://schemas.openxmlformats.org/drawingml/2006/main">
              <a:ext uri="{FF2B5EF4-FFF2-40B4-BE49-F238E27FC236}">
                <a16:creationId xmlns:a16="http://schemas.microsoft.com/office/drawing/2014/main" id="{1C1CA3D1-D62A-45E8-84AF-67196F44FC5C}"/>
              </a:ext>
            </a:extLst>
          </p:cNvPr>
          <p:cNvSpPr>
            <a:spLocks xmlns:a="http://schemas.openxmlformats.org/drawingml/2006/main" noGrp="1"/>
          </p:cNvSpPr>
          <p:nvPr/>
        </p:nvSpPr>
        <p:spPr>
          <a:xfrm xmlns:a="http://schemas.openxmlformats.org/drawingml/2006/main">
            <a:off x="609600" y="4333875"/>
            <a:ext cx="10972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Stretch: why is body size a poor test?</a:t>
            </a:r>
          </a:p>
        </p:txBody>
      </p:sp>
    </p:spTree>
    <p:extLst>
      <p:ext uri="{BB962C8B-B14F-4D97-AF65-F5344CB8AC3E}">
        <p14:creationId xmlns:p14="http://schemas.microsoft.com/office/powerpoint/2010/main" val="60937125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2026-09-06T13:00:25.7170000Z</dcterms:created>
  <dcterms:modified xsi:type="dcterms:W3CDTF">2026-09-06T13:00:25.7170000Z</dcterms:modified>
</coreProperties>
</file>