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1b930f5a124660" /><Relationship Type="http://schemas.openxmlformats.org/officeDocument/2006/relationships/extended-properties" Target="/docProps/app.xml" Id="R9828e92f5f064e57" /><Relationship Type="http://schemas.openxmlformats.org/officeDocument/2006/relationships/officeDocument" Target="/ppt/presentation.xml" Id="Rdf51688ed7534ba7" /></Relationships>
</file>

<file path=ppt/presentation.xml><?xml version="1.0" encoding="utf-8"?>
<p:presentation xmlns:p="http://schemas.openxmlformats.org/presentationml/2006/main">
  <p:sldMasterIdLst>
    <p:sldMasterId xmlns:r="http://schemas.openxmlformats.org/officeDocument/2006/relationships" id="2147483648" r:id="R4792f4d41a8641e0"/>
  </p:sldMasterIdLst>
  <p:notesMasterIdLst>
    <p:notesMasterId xmlns:r="http://schemas.openxmlformats.org/officeDocument/2006/relationships" r:id="R6a1d942bef0745de"/>
  </p:notesMasterIdLst>
  <p:sldIdLst>
    <p:sldId xmlns:r="http://schemas.openxmlformats.org/officeDocument/2006/relationships" id="256" r:id="R4250ffdf43ee4737"/>
    <p:sldId xmlns:r="http://schemas.openxmlformats.org/officeDocument/2006/relationships" id="257" r:id="Rc1fa6161b1824eef"/>
    <p:sldId xmlns:r="http://schemas.openxmlformats.org/officeDocument/2006/relationships" id="258" r:id="R2eb370440df04999"/>
    <p:sldId xmlns:r="http://schemas.openxmlformats.org/officeDocument/2006/relationships" id="259" r:id="Rc9f2c582a72b4d7d"/>
    <p:sldId xmlns:r="http://schemas.openxmlformats.org/officeDocument/2006/relationships" id="260" r:id="Rf5e6476321514ca4"/>
    <p:sldId xmlns:r="http://schemas.openxmlformats.org/officeDocument/2006/relationships" id="261" r:id="R20c7ecb1f68145df"/>
    <p:sldId xmlns:r="http://schemas.openxmlformats.org/officeDocument/2006/relationships" id="262" r:id="Rdb71114a85e94e7c"/>
    <p:sldId xmlns:r="http://schemas.openxmlformats.org/officeDocument/2006/relationships" id="263" r:id="R7454d918997249a8"/>
    <p:sldId xmlns:r="http://schemas.openxmlformats.org/officeDocument/2006/relationships" id="264" r:id="Rae2f05cc3b354a1f"/>
    <p:sldId xmlns:r="http://schemas.openxmlformats.org/officeDocument/2006/relationships" id="265" r:id="R4ff85ed10e9a42d8"/>
    <p:sldId xmlns:r="http://schemas.openxmlformats.org/officeDocument/2006/relationships" id="266" r:id="Rd16a5f2a858c4475"/>
    <p:sldId xmlns:r="http://schemas.openxmlformats.org/officeDocument/2006/relationships" id="267" r:id="R0b6b5b881a05468f"/>
    <p:sldId xmlns:r="http://schemas.openxmlformats.org/officeDocument/2006/relationships" id="268" r:id="R6c8002df4dcb4e39"/>
    <p:sldId xmlns:r="http://schemas.openxmlformats.org/officeDocument/2006/relationships" id="269" r:id="Re943d82112234084"/>
    <p:sldId xmlns:r="http://schemas.openxmlformats.org/officeDocument/2006/relationships" id="270" r:id="R4748b7a56b3d4578"/>
    <p:sldId xmlns:r="http://schemas.openxmlformats.org/officeDocument/2006/relationships" id="271" r:id="R2f66406741dd43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702daee9d942f6" /><Relationship Type="http://schemas.openxmlformats.org/officeDocument/2006/relationships/slideMaster" Target="/ppt/slideMasters/slideMaster1.xml" Id="R4792f4d41a8641e0" /><Relationship Type="http://schemas.openxmlformats.org/officeDocument/2006/relationships/notesMaster" Target="/ppt/notesMasters/notesMaster1.xml" Id="R6a1d942bef0745de" /><Relationship Type="http://schemas.openxmlformats.org/officeDocument/2006/relationships/presProps" Target="/ppt/presProps.xml" Id="Rcb169eb385c841a6" /><Relationship Type="http://schemas.openxmlformats.org/officeDocument/2006/relationships/tableStyles" Target="/ppt/tableStyles.xml" Id="R253c4ab30ccd4d39" /><Relationship Type="http://schemas.openxmlformats.org/officeDocument/2006/relationships/slide" Target="/ppt/slides/slide1.xml" Id="R4250ffdf43ee4737" /><Relationship Type="http://schemas.openxmlformats.org/officeDocument/2006/relationships/slide" Target="/ppt/slides/slide2.xml" Id="Rc1fa6161b1824eef" /><Relationship Type="http://schemas.openxmlformats.org/officeDocument/2006/relationships/slide" Target="/ppt/slides/slide3.xml" Id="R2eb370440df04999" /><Relationship Type="http://schemas.openxmlformats.org/officeDocument/2006/relationships/slide" Target="/ppt/slides/slide4.xml" Id="Rc9f2c582a72b4d7d" /><Relationship Type="http://schemas.openxmlformats.org/officeDocument/2006/relationships/slide" Target="/ppt/slides/slide5.xml" Id="Rf5e6476321514ca4" /><Relationship Type="http://schemas.openxmlformats.org/officeDocument/2006/relationships/slide" Target="/ppt/slides/slide6.xml" Id="R20c7ecb1f68145df" /><Relationship Type="http://schemas.openxmlformats.org/officeDocument/2006/relationships/slide" Target="/ppt/slides/slide7.xml" Id="Rdb71114a85e94e7c" /><Relationship Type="http://schemas.openxmlformats.org/officeDocument/2006/relationships/slide" Target="/ppt/slides/slide8.xml" Id="R7454d918997249a8" /><Relationship Type="http://schemas.openxmlformats.org/officeDocument/2006/relationships/slide" Target="/ppt/slides/slide9.xml" Id="Rae2f05cc3b354a1f" /><Relationship Type="http://schemas.openxmlformats.org/officeDocument/2006/relationships/slide" Target="/ppt/slides/slide10.xml" Id="R4ff85ed10e9a42d8" /><Relationship Type="http://schemas.openxmlformats.org/officeDocument/2006/relationships/slide" Target="/ppt/slides/slide11.xml" Id="Rd16a5f2a858c4475" /><Relationship Type="http://schemas.openxmlformats.org/officeDocument/2006/relationships/slide" Target="/ppt/slides/slide12.xml" Id="R0b6b5b881a05468f" /><Relationship Type="http://schemas.openxmlformats.org/officeDocument/2006/relationships/slide" Target="/ppt/slides/slide13.xml" Id="R6c8002df4dcb4e39" /><Relationship Type="http://schemas.openxmlformats.org/officeDocument/2006/relationships/slide" Target="/ppt/slides/slide14.xml" Id="Re943d82112234084" /><Relationship Type="http://schemas.openxmlformats.org/officeDocument/2006/relationships/slide" Target="/ppt/slides/slide15.xml" Id="R4748b7a56b3d4578" /><Relationship Type="http://schemas.openxmlformats.org/officeDocument/2006/relationships/slide" Target="/ppt/slides/slide16.xml" Id="R2f66406741dd43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825880e49a45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c433e5fb2d4377" /><Relationship Type="http://schemas.openxmlformats.org/officeDocument/2006/relationships/notesMaster" Target="/ppt/notesMasters/notesMaster1.xml" Id="Ra575d31ef7054f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1c95914548460c" /><Relationship Type="http://schemas.openxmlformats.org/officeDocument/2006/relationships/notesMaster" Target="/ppt/notesMasters/notesMaster1.xml" Id="R0a6bca673e5242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c237b5efcc4e89" /><Relationship Type="http://schemas.openxmlformats.org/officeDocument/2006/relationships/notesMaster" Target="/ppt/notesMasters/notesMaster1.xml" Id="R98631a0b531f43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b55f0d76fb4836" /><Relationship Type="http://schemas.openxmlformats.org/officeDocument/2006/relationships/notesMaster" Target="/ppt/notesMasters/notesMaster1.xml" Id="R57209cbffb4a42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0b00f26bdd418e" /><Relationship Type="http://schemas.openxmlformats.org/officeDocument/2006/relationships/notesMaster" Target="/ppt/notesMasters/notesMaster1.xml" Id="R7026d890b96d47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1ca9f0cbcd49a2" /><Relationship Type="http://schemas.openxmlformats.org/officeDocument/2006/relationships/notesMaster" Target="/ppt/notesMasters/notesMaster1.xml" Id="Rb8175a2f3f0b48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b2c4454c3f4da6" /><Relationship Type="http://schemas.openxmlformats.org/officeDocument/2006/relationships/notesMaster" Target="/ppt/notesMasters/notesMaster1.xml" Id="R1b12799ddbf94c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4fd7e676a84e38" /><Relationship Type="http://schemas.openxmlformats.org/officeDocument/2006/relationships/notesMaster" Target="/ppt/notesMasters/notesMaster1.xml" Id="R86bd71260ca84f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53cd156cd44334" /><Relationship Type="http://schemas.openxmlformats.org/officeDocument/2006/relationships/notesMaster" Target="/ppt/notesMasters/notesMaster1.xml" Id="Ra864b977ae9146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070827049b487a" /><Relationship Type="http://schemas.openxmlformats.org/officeDocument/2006/relationships/notesMaster" Target="/ppt/notesMasters/notesMaster1.xml" Id="R14d62299f4924d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090cec2eae41f6" /><Relationship Type="http://schemas.openxmlformats.org/officeDocument/2006/relationships/notesMaster" Target="/ppt/notesMasters/notesMaster1.xml" Id="R3614bc5681a542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bbab2c94f143ae" /><Relationship Type="http://schemas.openxmlformats.org/officeDocument/2006/relationships/notesMaster" Target="/ppt/notesMasters/notesMaster1.xml" Id="Rc9c6a5d076e540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16021c112e4dce" /><Relationship Type="http://schemas.openxmlformats.org/officeDocument/2006/relationships/notesMaster" Target="/ppt/notesMasters/notesMaster1.xml" Id="Rb65aadfeb85745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3949780cd94be7" /><Relationship Type="http://schemas.openxmlformats.org/officeDocument/2006/relationships/notesMaster" Target="/ppt/notesMasters/notesMaster1.xml" Id="R17674fc5637f4a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994b74b595442f" /><Relationship Type="http://schemas.openxmlformats.org/officeDocument/2006/relationships/notesMaster" Target="/ppt/notesMasters/notesMaster1.xml" Id="R02ea416603d543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7611d25cde428a" /><Relationship Type="http://schemas.openxmlformats.org/officeDocument/2006/relationships/notesMaster" Target="/ppt/notesMasters/notesMaster1.xml" Id="Rcee8de6c8b9942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Overview: 0 minutes TOTAL across all slides in this stage.</a:t>
            </a:r>
          </a:p>
          <a:p xmlns:a="http://schemas.openxmlformats.org/drawingml/2006/main">
            <a:r>
              <a:t/>
            </a:r>
          </a:p>
          <a:p xmlns:a="http://schemas.openxmlformats.org/drawingml/2006/main">
            <a:r>
              <a:t>Read setup, safety and sensory notes before pupils enter.</a:t>
            </a:r>
          </a:p>
          <a:p xmlns:a="http://schemas.openxmlformats.org/drawingml/2006/main">
            <a:r>
              <a:t/>
            </a:r>
          </a:p>
          <a:p xmlns:a="http://schemas.openxmlformats.org/drawingml/2006/main">
            <a:r>
              <a:t>Set predictable Space and keep the learning goal visible.</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 Science · Week 13A · Explore</a:t>
            </a:r>
          </a:p>
          <a:p xmlns:a="http://schemas.openxmlformats.org/drawingml/2006/main">
            <a:r>
              <a:t>Learning objective: I can plan a safe fair comparison by naming one changed variable, one measured result, the controls and the repeats.</a:t>
            </a:r>
          </a:p>
          <a:p xmlns:a="http://schemas.openxmlformats.org/drawingml/2006/main">
            <a:r>
              <a:t>Success criteria</a:t>
            </a:r>
          </a:p>
          <a:p xmlns:a="http://schemas.openxmlformats.org/drawingml/2006/main">
            <a:r>
              <a:t>Write or select one clear question for the W14 rock investigation.</a:t>
            </a:r>
          </a:p>
          <a:p xmlns:a="http://schemas.openxmlformats.org/drawingml/2006/main">
            <a:r>
              <a:t>Name what changes, what is measured and at least three important controls.</a:t>
            </a:r>
          </a:p>
          <a:p xmlns:a="http://schemas.openxmlformats.org/drawingml/2006/main">
            <a:r>
              <a:t>Prepare a repeat plan, blank table and safety stop for a method pilot.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Overview: 0 minutes TOTAL across all slides in this stage.</a:t>
            </a:r>
          </a:p>
          <a:p xmlns:a="http://schemas.openxmlformats.org/drawingml/2006/main">
            <a:r>
              <a:t/>
            </a:r>
          </a:p>
          <a:p xmlns:a="http://schemas.openxmlformats.org/drawingml/2006/main">
            <a:r>
              <a:t>Read setup, safety and sensory notes before pupils enter.</a:t>
            </a:r>
          </a:p>
          <a:p xmlns:a="http://schemas.openxmlformats.org/drawingml/2006/main">
            <a:r>
              <a:t/>
            </a:r>
          </a:p>
          <a:p xmlns:a="http://schemas.openxmlformats.org/drawingml/2006/main">
            <a:r>
              <a:t>Set predictable Space and keep the learning goal visible.</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 Science · Week 13A · Explore</a:t>
            </a:r>
          </a:p>
          <a:p xmlns:a="http://schemas.openxmlformats.org/drawingml/2006/main">
            <a:r>
              <a:t>Learning objective: I can plan a safe fair comparison by naming one changed variable, one measured result, the controls and the repeats.</a:t>
            </a:r>
          </a:p>
          <a:p xmlns:a="http://schemas.openxmlformats.org/drawingml/2006/main">
            <a:r>
              <a:t>Success criteria</a:t>
            </a:r>
          </a:p>
          <a:p xmlns:a="http://schemas.openxmlformats.org/drawingml/2006/main">
            <a:r>
              <a:t>Write or select one clear question for the W14 rock investigation.</a:t>
            </a:r>
          </a:p>
          <a:p xmlns:a="http://schemas.openxmlformats.org/drawingml/2006/main">
            <a:r>
              <a:t>Name what changes, what is measured and at least three important controls.</a:t>
            </a:r>
          </a:p>
          <a:p xmlns:a="http://schemas.openxmlformats.org/drawingml/2006/main">
            <a:r>
              <a:t>Prepare a repeat plan, blank table and safety stop for a method pilot.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Arrival: 4 minutes TOTAL across all slides in this stage.</a:t>
            </a:r>
          </a:p>
          <a:p xmlns:a="http://schemas.openxmlformats.org/drawingml/2006/main">
            <a:r>
              <a:t/>
            </a:r>
          </a:p>
          <a:p xmlns:a="http://schemas.openxmlformats.org/drawingml/2006/main">
            <a:r>
              <a:t>Wait, regulate and retrieve through the lightest workable route.</a:t>
            </a:r>
          </a:p>
          <a:p xmlns:a="http://schemas.openxmlformats.org/drawingml/2006/main">
            <a:r>
              <a:t/>
            </a:r>
          </a:p>
          <a:p xmlns:a="http://schemas.openxmlformats.org/drawingml/2006/main">
            <a:r>
              <a:t>If recall is inaccessible, point to one retrieval sentence; do not teach today’s answer.</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Retrieve only what has already been taught</a:t>
            </a:r>
          </a:p>
          <a:p xmlns:a="http://schemas.openxmlformats.org/drawingml/2006/main">
            <a:r>
              <a:t>In W12, the job brief selected relevant evidence; one pupil-chosen question now becomes a method-control problem.</a:t>
            </a:r>
          </a:p>
          <a:p xmlns:a="http://schemas.openxmlformats.org/drawingml/2006/main">
            <a:r>
              <a:t>Prior week: point to or describe one useful model.</a:t>
            </a:r>
          </a:p>
          <a:p xmlns:a="http://schemas.openxmlformats.org/drawingml/2006/main">
            <a:r>
              <a:t>Older learning: what makes an observation useful as evidence?</a:t>
            </a:r>
          </a:p>
          <a:p xmlns:a="http://schemas.openxmlformats.org/drawingml/2006/main">
            <a:r>
              <a:t>Lead-in: what do you notice in today’s first picture?</a:t>
            </a:r>
          </a:p>
          <a:p xmlns:a="http://schemas.openxmlformats.org/drawingml/2006/main">
            <a:r>
              <a:t>New to this class, absent, or not sure? Everything needed is in the retrieval box above. Read it, point to it or ask a familiar adult to read it exactly.</a:t>
            </a:r>
          </a:p>
          <a:p xmlns:a="http://schemas.openxmlformats.org/drawingml/2006/main">
            <a:r>
              <a:t>▲ Standard</a:t>
            </a:r>
          </a:p>
          <a:p xmlns:a="http://schemas.openxmlformats.org/drawingml/2006/main">
            <a:r>
              <a:t>Last lesson: what method question did your audience bank?</a:t>
            </a:r>
          </a:p>
          <a:p xmlns:a="http://schemas.openxmlformats.org/drawingml/2006/main">
            <a:r>
              <a:t>Last lesson: why did irrelevant evidence not help the choice?</a:t>
            </a:r>
          </a:p>
          <a:p xmlns:a="http://schemas.openxmlformats.org/drawingml/2006/main">
            <a:r>
              <a:t>Last week: name one condition held steady in the W11 fixed water method.</a:t>
            </a:r>
          </a:p>
          <a:p xmlns:a="http://schemas.openxmlformats.org/drawingml/2006/main">
            <a:r>
              <a:t>Lead-in: explain why a fair-test question must name what will be compared.</a:t>
            </a:r>
          </a:p>
          <a:p xmlns:a="http://schemas.openxmlformats.org/drawingml/2006/main">
            <a:r>
              <a:t>Read-aloud route: a familiar adult may read the task exactly while the text remains visible. No device voice or media permission is required.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Starter: 4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Planned difference: the sample</a:t>
            </a:r>
          </a:p>
          <a:p xmlns:a="http://schemas.openxmlformats.org/drawingml/2006/main">
            <a:r>
              <a:t>One planned change. Everything else the same.</a:t>
            </a:r>
          </a:p>
          <a:p xmlns:a="http://schemas.openxmlformats.org/drawingml/2006/main">
            <a:r>
              <a:t>LOCAL VISUAL HOOK · FRAME 2</a:t>
            </a:r>
          </a:p>
          <a:p xmlns:a="http://schemas.openxmlformats.org/drawingml/2006/main">
            <a:r>
              <a:t>Unplanned difference: the water</a:t>
            </a:r>
          </a:p>
          <a:p xmlns:a="http://schemas.openxmlformats.org/drawingml/2006/main">
            <a:r>
              <a:t>Now two things changed. Which one caused the result? Nobody can tell.</a:t>
            </a:r>
          </a:p>
          <a:p xmlns:a="http://schemas.openxmlformats.org/drawingml/2006/main">
            <a:r>
              <a:t>LOCAL VISUAL HOOK · FRAME 3</a:t>
            </a:r>
          </a:p>
          <a:p xmlns:a="http://schemas.openxmlformats.org/drawingml/2006/main">
            <a:r>
              <a:t>Unplanned difference: the time</a:t>
            </a:r>
          </a:p>
          <a:p xmlns:a="http://schemas.openxmlformats.org/drawingml/2006/main">
            <a:r>
              <a:t>Three differences. The comparison is worthless. Change one thing.</a:t>
            </a:r>
          </a:p>
          <a:p xmlns:a="http://schemas.openxmlformats.org/drawingml/2006/main">
            <a:r>
              <a:t>Commit one first idea. Predictions are held, not marked. Pointing, selecting, saying or signing all count.</a:t>
            </a:r>
          </a:p>
          <a:p xmlns:a="http://schemas.openxmlformats.org/drawingml/2006/main">
            <a:r>
              <a:t>Yes. Any two collected-water numbers make a fair comparison.</a:t>
            </a:r>
          </a:p>
          <a:p xmlns:a="http://schemas.openxmlformats.org/drawingml/2006/main">
            <a:r>
              <a:t>Not yet. Sample, starting volume and time all changed, so the cause is unclear.</a:t>
            </a:r>
          </a:p>
          <a:p xmlns:a="http://schemas.openxmlformats.org/drawingml/2006/main">
            <a:r>
              <a:t>Yes, because using more water always makes a better test.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Starter: 4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Planned difference: the sample</a:t>
            </a:r>
          </a:p>
          <a:p xmlns:a="http://schemas.openxmlformats.org/drawingml/2006/main">
            <a:r>
              <a:t>One planned change. Everything else the same.</a:t>
            </a:r>
          </a:p>
          <a:p xmlns:a="http://schemas.openxmlformats.org/drawingml/2006/main">
            <a:r>
              <a:t>LOCAL VISUAL HOOK · FRAME 2</a:t>
            </a:r>
          </a:p>
          <a:p xmlns:a="http://schemas.openxmlformats.org/drawingml/2006/main">
            <a:r>
              <a:t>Unplanned difference: the water</a:t>
            </a:r>
          </a:p>
          <a:p xmlns:a="http://schemas.openxmlformats.org/drawingml/2006/main">
            <a:r>
              <a:t>Now two things changed. Which one caused the result? Nobody can tell.</a:t>
            </a:r>
          </a:p>
          <a:p xmlns:a="http://schemas.openxmlformats.org/drawingml/2006/main">
            <a:r>
              <a:t>LOCAL VISUAL HOOK · FRAME 3</a:t>
            </a:r>
          </a:p>
          <a:p xmlns:a="http://schemas.openxmlformats.org/drawingml/2006/main">
            <a:r>
              <a:t>Unplanned difference: the time</a:t>
            </a:r>
          </a:p>
          <a:p xmlns:a="http://schemas.openxmlformats.org/drawingml/2006/main">
            <a:r>
              <a:t>Three differences. The comparison is worthless. Change one thing.</a:t>
            </a:r>
          </a:p>
          <a:p xmlns:a="http://schemas.openxmlformats.org/drawingml/2006/main">
            <a:r>
              <a:t>Commit one first idea. Predictions are held, not marked. Pointing, selecting, saying or signing all count.</a:t>
            </a:r>
          </a:p>
          <a:p xmlns:a="http://schemas.openxmlformats.org/drawingml/2006/main">
            <a:r>
              <a:t>Yes. Any two collected-water numbers make a fair comparison.</a:t>
            </a:r>
          </a:p>
          <a:p xmlns:a="http://schemas.openxmlformats.org/drawingml/2006/main">
            <a:r>
              <a:t>Not yet. Sample, starting volume and time all changed, so the cause is unclear.</a:t>
            </a:r>
          </a:p>
          <a:p xmlns:a="http://schemas.openxmlformats.org/drawingml/2006/main">
            <a:r>
              <a:t>Yes, because using more water always makes a better test.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Starter: 4 minutes TOTAL across all slides in this stage.</a:t>
            </a:r>
          </a:p>
          <a:p xmlns:a="http://schemas.openxmlformats.org/drawingml/2006/main">
            <a:r>
              <a:t/>
            </a:r>
          </a:p>
          <a:p xmlns:a="http://schemas.openxmlformats.org/drawingml/2006/main">
            <a:r>
              <a:t>Protect curiosity: receive every first idea without judgement.</a:t>
            </a:r>
          </a:p>
          <a:p xmlns:a="http://schemas.openxmlformats.org/drawingml/2006/main">
            <a:r>
              <a:t/>
            </a:r>
          </a:p>
          <a:p xmlns:a="http://schemas.openxmlformats.org/drawingml/2006/main">
            <a:r>
              <a:t>Ask ‘What makes you think that?’ and preserve the prediction for later evidence.</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LOCAL VISUAL HOOK · FRAME 1</a:t>
            </a:r>
          </a:p>
          <a:p xmlns:a="http://schemas.openxmlformats.org/drawingml/2006/main">
            <a:r>
              <a:t>Planned difference: the sample</a:t>
            </a:r>
          </a:p>
          <a:p xmlns:a="http://schemas.openxmlformats.org/drawingml/2006/main">
            <a:r>
              <a:t>One planned change. Everything else the same.</a:t>
            </a:r>
          </a:p>
          <a:p xmlns:a="http://schemas.openxmlformats.org/drawingml/2006/main">
            <a:r>
              <a:t>LOCAL VISUAL HOOK · FRAME 2</a:t>
            </a:r>
          </a:p>
          <a:p xmlns:a="http://schemas.openxmlformats.org/drawingml/2006/main">
            <a:r>
              <a:t>Unplanned difference: the water</a:t>
            </a:r>
          </a:p>
          <a:p xmlns:a="http://schemas.openxmlformats.org/drawingml/2006/main">
            <a:r>
              <a:t>Now two things changed. Which one caused the result? Nobody can tell.</a:t>
            </a:r>
          </a:p>
          <a:p xmlns:a="http://schemas.openxmlformats.org/drawingml/2006/main">
            <a:r>
              <a:t>LOCAL VISUAL HOOK · FRAME 3</a:t>
            </a:r>
          </a:p>
          <a:p xmlns:a="http://schemas.openxmlformats.org/drawingml/2006/main">
            <a:r>
              <a:t>Unplanned difference: the time</a:t>
            </a:r>
          </a:p>
          <a:p xmlns:a="http://schemas.openxmlformats.org/drawingml/2006/main">
            <a:r>
              <a:t>Three differences. The comparison is worthless. Change one thing.</a:t>
            </a:r>
          </a:p>
          <a:p xmlns:a="http://schemas.openxmlformats.org/drawingml/2006/main">
            <a:r>
              <a:t>Commit one first idea. Predictions are held, not marked. Pointing, selecting, saying or signing all count.</a:t>
            </a:r>
          </a:p>
          <a:p xmlns:a="http://schemas.openxmlformats.org/drawingml/2006/main">
            <a:r>
              <a:t>Yes. Any two collected-water numbers make a fair comparison.</a:t>
            </a:r>
          </a:p>
          <a:p xmlns:a="http://schemas.openxmlformats.org/drawingml/2006/main">
            <a:r>
              <a:t>Not yet. Sample, starting volume and time all changed, so the cause is unclear.</a:t>
            </a:r>
          </a:p>
          <a:p xmlns:a="http://schemas.openxmlformats.org/drawingml/2006/main">
            <a:r>
              <a:t>Yes, because using more water always makes a better test.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I do: 5 minutes TOTAL across all slides in this stage.</a:t>
            </a:r>
          </a:p>
          <a:p xmlns:a="http://schemas.openxmlformats.org/drawingml/2006/main">
            <a:r>
              <a:t/>
            </a:r>
          </a:p>
          <a:p xmlns:a="http://schemas.openxmlformats.org/drawingml/2006/main">
            <a:r>
              <a:t>Let the teacher/model carry the explanation; pupils watch, point or track.</a:t>
            </a:r>
          </a:p>
          <a:p xmlns:a="http://schemas.openxmlformats.org/drawingml/2006/main">
            <a:r>
              <a:t/>
            </a:r>
          </a:p>
          <a:p xmlns:a="http://schemas.openxmlformats.org/drawingml/2006/main">
            <a:r>
              <a:t>Use a visual cue only if access is the barrier, then fade it.</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VARIABLE a factor that can change something in an investigation that is changed, measured or controlled</a:t>
            </a:r>
          </a:p>
          <a:p xmlns:a="http://schemas.openxmlformats.org/drawingml/2006/main">
            <a:r>
              <a:t>CONTROL keep this the same an important factor held constant so the planned comparison is clearer</a:t>
            </a:r>
          </a:p>
          <a:p xmlns:a="http://schemas.openxmlformats.org/drawingml/2006/main">
            <a:r>
              <a:t>REPEAT do the same method again another valid trial used to check the pattern and variation</a:t>
            </a:r>
          </a:p>
          <a:p xmlns:a="http://schemas.openxmlformats.org/drawingml/2006/main">
            <a:r>
              <a:t>Fair-test control board</a:t>
            </a:r>
          </a:p>
          <a:p xmlns:a="http://schemas.openxmlformats.org/drawingml/2006/main">
            <a:r>
              <a:t>1</a:t>
            </a:r>
          </a:p>
          <a:p xmlns:a="http://schemas.openxmlformats.org/drawingml/2006/main">
            <a:r>
              <a:t>orange CHANGE card</a:t>
            </a:r>
          </a:p>
          <a:p xmlns:a="http://schemas.openxmlformats.org/drawingml/2006/main">
            <a:r>
              <a:t>2</a:t>
            </a:r>
          </a:p>
          <a:p xmlns:a="http://schemas.openxmlformats.org/drawingml/2006/main">
            <a:r>
              <a:t>blue MEASURE card</a:t>
            </a:r>
          </a:p>
          <a:p xmlns:a="http://schemas.openxmlformats.org/drawingml/2006/main">
            <a:r>
              <a:t>3</a:t>
            </a:r>
          </a:p>
          <a:p xmlns:a="http://schemas.openxmlformats.org/drawingml/2006/main">
            <a:r>
              <a:t>ring of SAME cards</a:t>
            </a:r>
          </a:p>
          <a:p xmlns:a="http://schemas.openxmlformats.org/drawingml/2006/main">
            <a:r>
              <a:t>4</a:t>
            </a:r>
          </a:p>
          <a:p xmlns:a="http://schemas.openxmlformats.org/drawingml/2006/main">
            <a:r>
              <a:t>separate PILOT gate</a:t>
            </a:r>
          </a:p>
          <a:p xmlns:a="http://schemas.openxmlformats.org/drawingml/2006/main">
            <a:r>
              <a:t>WHAT THIS MODEL HELPS US SEE</a:t>
            </a:r>
          </a:p>
          <a:p xmlns:a="http://schemas.openxmlformats.org/drawingml/2006/main">
            <a:r>
              <a:t>Use the planner: QUESTION → CHANGE → MEASURE → KEEP THE SAME → REPEAT → PILOT CHECK → SAFETY STOP.</a:t>
            </a:r>
          </a:p>
          <a:p xmlns:a="http://schemas.openxmlformats.org/drawingml/2006/main">
            <a:r>
              <a:t>WHAT THIS MODEL DOES NOT SHOW</a:t>
            </a:r>
          </a:p>
          <a:p xmlns:a="http://schemas.openxmlformats.org/drawingml/2006/main">
            <a:r>
              <a:t>A fair plan reduces alternative explanations but cannot remove natural sample variation. The pilot can improve procedure, yet only W14's approved repeated comparison may address the investigation question.</a:t>
            </a:r>
          </a:p>
          <a:p xmlns:a="http://schemas.openxmlformats.org/drawingml/2006/main">
            <a:r>
              <a:t>Step 1</a:t>
            </a:r>
          </a:p>
          <a:p xmlns:a="http://schemas.openxmlformats.org/drawingml/2006/main">
            <a:r>
              <a:t>Write the W14 question: Which supplied coded sample lets more water through in 120 seconds under this method?</a:t>
            </a:r>
          </a:p>
          <a:p xmlns:a="http://schemas.openxmlformats.org/drawingml/2006/main">
            <a:r>
              <a:t>Step 2</a:t>
            </a:r>
          </a:p>
          <a:p xmlns:a="http://schemas.openxmlformats.org/drawingml/2006/main">
            <a:r>
              <a:t>Change only the sample code. Measure water collected below in mL. Keep 5 mL starting volume and 120-second time the same.</a:t>
            </a:r>
          </a:p>
          <a:p xmlns:a="http://schemas.openxmlformats.org/drawingml/2006/main">
            <a:r>
              <a:t>Step 3</a:t>
            </a:r>
          </a:p>
          <a:p xmlns:a="http://schemas.openxmlformats.org/drawingml/2006/main">
            <a:r>
              <a:t>Add the less visible controls: same sealed collar area, matched prepared thickness, dry starting condition, stable rig and measuring tool.</a:t>
            </a:r>
          </a:p>
          <a:p xmlns:a="http://schemas.openxmlformats.org/drawingml/2006/main">
            <a:r>
              <a:t>Fair test planner · CHANGE, MEASURE, SAME</a:t>
            </a:r>
          </a:p>
          <a:p xmlns:a="http://schemas.openxmlformats.org/drawingml/2006/main">
            <a:r>
              <a:t>Press each card, then press the board it belongs on. A fair test has exactly ONE card on CHANGE.</a:t>
            </a:r>
          </a:p>
          <a:p xmlns:a="http://schemas.openxmlformats.org/drawingml/2006/main">
            <a:r>
              <a:t>volume of water (5 mL)</a:t>
            </a:r>
          </a:p>
          <a:p xmlns:a="http://schemas.openxmlformats.org/drawingml/2006/main">
            <a:r>
              <a:t>which rock sample</a:t>
            </a:r>
          </a:p>
          <a:p xmlns:a="http://schemas.openxmlformats.org/drawingml/2006/main">
            <a:r>
              <a:t>water collected below (mL)</a:t>
            </a:r>
          </a:p>
          <a:p xmlns:a="http://schemas.openxmlformats.org/drawingml/2006/main">
            <a:r>
              <a:t>time (120 s)</a:t>
            </a:r>
          </a:p>
          <a:p xmlns:a="http://schemas.openxmlformats.org/drawingml/2006/main">
            <a:r>
              <a:t>sample thickness</a:t>
            </a:r>
          </a:p>
          <a:p xmlns:a="http://schemas.openxmlformats.org/drawingml/2006/main">
            <a:r>
              <a:t>same collector and seal</a:t>
            </a:r>
          </a:p>
          <a:p xmlns:a="http://schemas.openxmlformats.org/drawingml/2006/main">
            <a:r>
              <a:t>wet patch on top?</a:t>
            </a:r>
          </a:p>
          <a:p xmlns:a="http://schemas.openxmlformats.org/drawingml/2006/main">
            <a:r>
              <a:t>1⃣ CHANGE</a:t>
            </a:r>
          </a:p>
          <a:p xmlns:a="http://schemas.openxmlformats.org/drawingml/2006/main">
            <a:r>
              <a:t>MEASURE</a:t>
            </a:r>
          </a:p>
          <a:p xmlns:a="http://schemas.openxmlformats.org/drawingml/2006/main">
            <a:r>
              <a:t>SAME</a:t>
            </a:r>
          </a:p>
          <a:p xmlns:a="http://schemas.openxmlformats.org/drawingml/2006/main">
            <a:r>
              <a:t>Press a card.</a:t>
            </a:r>
          </a:p>
          <a:p xmlns:a="http://schemas.openxmlformats.org/drawingml/2006/main">
            <a:r>
              <a:t>CHANGE: — · MEASURE: — · SAME: —</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I do: 5 minutes TOTAL across all slides in this stage.</a:t>
            </a:r>
          </a:p>
          <a:p xmlns:a="http://schemas.openxmlformats.org/drawingml/2006/main">
            <a:r>
              <a:t/>
            </a:r>
          </a:p>
          <a:p xmlns:a="http://schemas.openxmlformats.org/drawingml/2006/main">
            <a:r>
              <a:t>Let the teacher/model carry the explanation; pupils watch, point or track.</a:t>
            </a:r>
          </a:p>
          <a:p xmlns:a="http://schemas.openxmlformats.org/drawingml/2006/main">
            <a:r>
              <a:t/>
            </a:r>
          </a:p>
          <a:p xmlns:a="http://schemas.openxmlformats.org/drawingml/2006/main">
            <a:r>
              <a:t>Use a visual cue only if access is the barrier, then fade it.</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VARIABLE a factor that can change something in an investigation that is changed, measured or controlled</a:t>
            </a:r>
          </a:p>
          <a:p xmlns:a="http://schemas.openxmlformats.org/drawingml/2006/main">
            <a:r>
              <a:t>CONTROL keep this the same an important factor held constant so the planned comparison is clearer</a:t>
            </a:r>
          </a:p>
          <a:p xmlns:a="http://schemas.openxmlformats.org/drawingml/2006/main">
            <a:r>
              <a:t>REPEAT do the same method again another valid trial used to check the pattern and variation</a:t>
            </a:r>
          </a:p>
          <a:p xmlns:a="http://schemas.openxmlformats.org/drawingml/2006/main">
            <a:r>
              <a:t>Fair-test control board</a:t>
            </a:r>
          </a:p>
          <a:p xmlns:a="http://schemas.openxmlformats.org/drawingml/2006/main">
            <a:r>
              <a:t>1</a:t>
            </a:r>
          </a:p>
          <a:p xmlns:a="http://schemas.openxmlformats.org/drawingml/2006/main">
            <a:r>
              <a:t>orange CHANGE card</a:t>
            </a:r>
          </a:p>
          <a:p xmlns:a="http://schemas.openxmlformats.org/drawingml/2006/main">
            <a:r>
              <a:t>2</a:t>
            </a:r>
          </a:p>
          <a:p xmlns:a="http://schemas.openxmlformats.org/drawingml/2006/main">
            <a:r>
              <a:t>blue MEASURE card</a:t>
            </a:r>
          </a:p>
          <a:p xmlns:a="http://schemas.openxmlformats.org/drawingml/2006/main">
            <a:r>
              <a:t>3</a:t>
            </a:r>
          </a:p>
          <a:p xmlns:a="http://schemas.openxmlformats.org/drawingml/2006/main">
            <a:r>
              <a:t>ring of SAME cards</a:t>
            </a:r>
          </a:p>
          <a:p xmlns:a="http://schemas.openxmlformats.org/drawingml/2006/main">
            <a:r>
              <a:t>4</a:t>
            </a:r>
          </a:p>
          <a:p xmlns:a="http://schemas.openxmlformats.org/drawingml/2006/main">
            <a:r>
              <a:t>separate PILOT gate</a:t>
            </a:r>
          </a:p>
          <a:p xmlns:a="http://schemas.openxmlformats.org/drawingml/2006/main">
            <a:r>
              <a:t>WHAT THIS MODEL HELPS US SEE</a:t>
            </a:r>
          </a:p>
          <a:p xmlns:a="http://schemas.openxmlformats.org/drawingml/2006/main">
            <a:r>
              <a:t>Use the planner: QUESTION → CHANGE → MEASURE → KEEP THE SAME → REPEAT → PILOT CHECK → SAFETY STOP.</a:t>
            </a:r>
          </a:p>
          <a:p xmlns:a="http://schemas.openxmlformats.org/drawingml/2006/main">
            <a:r>
              <a:t>WHAT THIS MODEL DOES NOT SHOW</a:t>
            </a:r>
          </a:p>
          <a:p xmlns:a="http://schemas.openxmlformats.org/drawingml/2006/main">
            <a:r>
              <a:t>A fair plan reduces alternative explanations but cannot remove natural sample variation. The pilot can improve procedure, yet only W14's approved repeated comparison may address the investigation question.</a:t>
            </a:r>
          </a:p>
          <a:p xmlns:a="http://schemas.openxmlformats.org/drawingml/2006/main">
            <a:r>
              <a:t>Step 1</a:t>
            </a:r>
          </a:p>
          <a:p xmlns:a="http://schemas.openxmlformats.org/drawingml/2006/main">
            <a:r>
              <a:t>Write the W14 question: Which supplied coded sample lets more water through in 120 seconds under this method?</a:t>
            </a:r>
          </a:p>
          <a:p xmlns:a="http://schemas.openxmlformats.org/drawingml/2006/main">
            <a:r>
              <a:t>Step 2</a:t>
            </a:r>
          </a:p>
          <a:p xmlns:a="http://schemas.openxmlformats.org/drawingml/2006/main">
            <a:r>
              <a:t>Change only the sample code. Measure water collected below in mL. Keep 5 mL starting volume and 120-second time the same.</a:t>
            </a:r>
          </a:p>
          <a:p xmlns:a="http://schemas.openxmlformats.org/drawingml/2006/main">
            <a:r>
              <a:t>Step 3</a:t>
            </a:r>
          </a:p>
          <a:p xmlns:a="http://schemas.openxmlformats.org/drawingml/2006/main">
            <a:r>
              <a:t>Add the less visible controls: same sealed collar area, matched prepared thickness, dry starting condition, stable rig and measuring tool.</a:t>
            </a:r>
          </a:p>
          <a:p xmlns:a="http://schemas.openxmlformats.org/drawingml/2006/main">
            <a:r>
              <a:t>Fair test planner · CHANGE, MEASURE, SAME</a:t>
            </a:r>
          </a:p>
          <a:p xmlns:a="http://schemas.openxmlformats.org/drawingml/2006/main">
            <a:r>
              <a:t>Press each card, then press the board it belongs on. A fair test has exactly ONE card on CHANGE.</a:t>
            </a:r>
          </a:p>
          <a:p xmlns:a="http://schemas.openxmlformats.org/drawingml/2006/main">
            <a:r>
              <a:t>volume of water (5 mL)</a:t>
            </a:r>
          </a:p>
          <a:p xmlns:a="http://schemas.openxmlformats.org/drawingml/2006/main">
            <a:r>
              <a:t>which rock sample</a:t>
            </a:r>
          </a:p>
          <a:p xmlns:a="http://schemas.openxmlformats.org/drawingml/2006/main">
            <a:r>
              <a:t>water collected below (mL)</a:t>
            </a:r>
          </a:p>
          <a:p xmlns:a="http://schemas.openxmlformats.org/drawingml/2006/main">
            <a:r>
              <a:t>time (120 s)</a:t>
            </a:r>
          </a:p>
          <a:p xmlns:a="http://schemas.openxmlformats.org/drawingml/2006/main">
            <a:r>
              <a:t>sample thickness</a:t>
            </a:r>
          </a:p>
          <a:p xmlns:a="http://schemas.openxmlformats.org/drawingml/2006/main">
            <a:r>
              <a:t>same collector and seal</a:t>
            </a:r>
          </a:p>
          <a:p xmlns:a="http://schemas.openxmlformats.org/drawingml/2006/main">
            <a:r>
              <a:t>wet patch on top?</a:t>
            </a:r>
          </a:p>
          <a:p xmlns:a="http://schemas.openxmlformats.org/drawingml/2006/main">
            <a:r>
              <a:t>1⃣ CHANGE</a:t>
            </a:r>
          </a:p>
          <a:p xmlns:a="http://schemas.openxmlformats.org/drawingml/2006/main">
            <a:r>
              <a:t>MEASURE</a:t>
            </a:r>
          </a:p>
          <a:p xmlns:a="http://schemas.openxmlformats.org/drawingml/2006/main">
            <a:r>
              <a:t>SAME</a:t>
            </a:r>
          </a:p>
          <a:p xmlns:a="http://schemas.openxmlformats.org/drawingml/2006/main">
            <a:r>
              <a:t>Press a card.</a:t>
            </a:r>
          </a:p>
          <a:p xmlns:a="http://schemas.openxmlformats.org/drawingml/2006/main">
            <a:r>
              <a:t>CHANGE: — · MEASURE: — · SAME: —</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We do: 5 minutes TOTAL across all slides in this stage.</a:t>
            </a:r>
          </a:p>
          <a:p xmlns:a="http://schemas.openxmlformats.org/drawingml/2006/main">
            <a:r>
              <a:t/>
            </a:r>
          </a:p>
          <a:p xmlns:a="http://schemas.openxmlformats.org/drawingml/2006/main">
            <a:r>
              <a:t>Scan every response mode. Do not infer understanding from handwriting or confidence.</a:t>
            </a:r>
          </a:p>
          <a:p xmlns:a="http://schemas.openxmlformats.org/drawingml/2006/main">
            <a:r>
              <a:t/>
            </a:r>
          </a:p>
          <a:p xmlns:a="http://schemas.openxmlformats.org/drawingml/2006/main">
            <a:r>
              <a:t>Secure: transfer. Mixed: contrast. Misconception: counterexample then a fresh question.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Everyone commits before explanation.</a:t>
            </a:r>
          </a:p>
          <a:p xmlns:a="http://schemas.openxmlformats.org/drawingml/2006/main">
            <a:r>
              <a:t>Use a button, point, say/sign or let an adult operate the chosen button. A retry is information, not a penalty.</a:t>
            </a:r>
          </a:p>
          <a:p xmlns:a="http://schemas.openxmlformats.org/drawingml/2006/main">
            <a:r>
              <a:t>Audience move:</a:t>
            </a:r>
          </a:p>
          <a:p xmlns:a="http://schemas.openxmlformats.org/drawingml/2006/main">
            <a:r>
              <a:t>Change sample code; measure water collected in mL; keep volume, time, area and thickness the same.</a:t>
            </a:r>
          </a:p>
          <a:p xmlns:a="http://schemas.openxmlformats.org/drawingml/2006/main">
            <a:r>
              <a:t>Change sample, water volume and time; measure whichever result appears.</a:t>
            </a:r>
          </a:p>
          <a:p xmlns:a="http://schemas.openxmlformats.org/drawingml/2006/main">
            <a:r>
              <a:t>Scratch A, wet B and compare the two different observations as permeability.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I do 2: 4 minutes TOTAL across all slides in this stage.</a:t>
            </a:r>
          </a:p>
          <a:p xmlns:a="http://schemas.openxmlformats.org/drawingml/2006/main">
            <a:r>
              <a:t/>
            </a:r>
          </a:p>
          <a:p xmlns:a="http://schemas.openxmlformats.org/drawingml/2006/main">
            <a:r>
              <a:t>Model one complete evidence-to-explanation sentence, then pause.</a:t>
            </a:r>
          </a:p>
          <a:p xmlns:a="http://schemas.openxmlformats.org/drawingml/2006/main">
            <a:r>
              <a:t/>
            </a:r>
          </a:p>
          <a:p xmlns:a="http://schemas.openxmlformats.org/drawingml/2006/main">
            <a:r>
              <a:t>Keep the science words; change density, modality or adult role before changing the goal.</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Connection: the model is useful when its visible pattern is translated into a scientific explanation.</a:t>
            </a:r>
          </a:p>
          <a:p xmlns:a="http://schemas.openxmlformats.org/drawingml/2006/main">
            <a:r>
              <a:t>Connection 1</a:t>
            </a:r>
          </a:p>
          <a:p xmlns:a="http://schemas.openxmlformats.org/drawingml/2006/main">
            <a:r>
              <a:t>Plan the W14 repeats before seeing final results. Use staff-prepared dry matched pieces and preserve every valid raw value.</a:t>
            </a:r>
          </a:p>
          <a:p xmlns:a="http://schemas.openxmlformats.org/drawingml/2006/main">
            <a:r>
              <a:t>Connection 2</a:t>
            </a:r>
          </a:p>
          <a:p xmlns:a="http://schemas.openxmlformats.org/drawingml/2006/main">
            <a:r>
              <a:t>Prepare the pilot question separately: Can our instructions, seal, timer and table produce one valid practice record? The W13B pilot tests the method, not which final sample wins.</a:t>
            </a:r>
          </a:p>
          <a:p xmlns:a="http://schemas.openxmlformats.org/drawingml/2006/main">
            <a:r>
              <a:t>Connection 3</a:t>
            </a:r>
          </a:p>
          <a:p xmlns:a="http://schemas.openxmlformats.org/drawingml/2006/main">
            <a:r>
              <a:t>Add the safety stop: staff build and pretest rigs; stop for leaks, instability, damage, flaking, dust or unclear measurement and switch to the fixed pilot route.</a:t>
            </a:r>
          </a:p>
          <a:p xmlns:a="http://schemas.openxmlformats.org/drawingml/2006/main">
            <a:r>
              <a:t>MODEL STRENGTH</a:t>
            </a:r>
          </a:p>
          <a:p xmlns:a="http://schemas.openxmlformats.org/drawingml/2006/main">
            <a:r>
              <a:t>Use the planner: QUESTION → CHANGE → MEASURE → KEEP THE SAME → REPEAT → PILOT CHECK → SAFETY STOP.</a:t>
            </a:r>
          </a:p>
          <a:p xmlns:a="http://schemas.openxmlformats.org/drawingml/2006/main">
            <a:r>
              <a:t>MODEL LIMIT</a:t>
            </a:r>
          </a:p>
          <a:p xmlns:a="http://schemas.openxmlformats.org/drawingml/2006/main">
            <a:r>
              <a:t>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I do 2: 4 minutes TOTAL across all slides in this stage.</a:t>
            </a:r>
          </a:p>
          <a:p xmlns:a="http://schemas.openxmlformats.org/drawingml/2006/main">
            <a:r>
              <a:t/>
            </a:r>
          </a:p>
          <a:p xmlns:a="http://schemas.openxmlformats.org/drawingml/2006/main">
            <a:r>
              <a:t>Model one complete evidence-to-explanation sentence, then pause.</a:t>
            </a:r>
          </a:p>
          <a:p xmlns:a="http://schemas.openxmlformats.org/drawingml/2006/main">
            <a:r>
              <a:t/>
            </a:r>
          </a:p>
          <a:p xmlns:a="http://schemas.openxmlformats.org/drawingml/2006/main">
            <a:r>
              <a:t>Keep the science words; change density, modality or adult role before changing the goal.</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Connection: the model is useful when its visible pattern is translated into a scientific explanation.</a:t>
            </a:r>
          </a:p>
          <a:p xmlns:a="http://schemas.openxmlformats.org/drawingml/2006/main">
            <a:r>
              <a:t>Connection 1</a:t>
            </a:r>
          </a:p>
          <a:p xmlns:a="http://schemas.openxmlformats.org/drawingml/2006/main">
            <a:r>
              <a:t>Plan the W14 repeats before seeing final results. Use staff-prepared dry matched pieces and preserve every valid raw value.</a:t>
            </a:r>
          </a:p>
          <a:p xmlns:a="http://schemas.openxmlformats.org/drawingml/2006/main">
            <a:r>
              <a:t>Connection 2</a:t>
            </a:r>
          </a:p>
          <a:p xmlns:a="http://schemas.openxmlformats.org/drawingml/2006/main">
            <a:r>
              <a:t>Prepare the pilot question separately: Can our instructions, seal, timer and table produce one valid practice record? The W13B pilot tests the method, not which final sample wins.</a:t>
            </a:r>
          </a:p>
          <a:p xmlns:a="http://schemas.openxmlformats.org/drawingml/2006/main">
            <a:r>
              <a:t>Connection 3</a:t>
            </a:r>
          </a:p>
          <a:p xmlns:a="http://schemas.openxmlformats.org/drawingml/2006/main">
            <a:r>
              <a:t>Add the safety stop: staff build and pretest rigs; stop for leaks, instability, damage, flaking, dust or unclear measurement and switch to the fixed pilot route.</a:t>
            </a:r>
          </a:p>
          <a:p xmlns:a="http://schemas.openxmlformats.org/drawingml/2006/main">
            <a:r>
              <a:t>MODEL STRENGTH</a:t>
            </a:r>
          </a:p>
          <a:p xmlns:a="http://schemas.openxmlformats.org/drawingml/2006/main">
            <a:r>
              <a:t>Use the planner: QUESTION → CHANGE → MEASURE → KEEP THE SAME → REPEAT → PILOT CHECK → SAFETY STOP.</a:t>
            </a:r>
          </a:p>
          <a:p xmlns:a="http://schemas.openxmlformats.org/drawingml/2006/main">
            <a:r>
              <a:t>MODEL LIMIT</a:t>
            </a:r>
          </a:p>
          <a:p xmlns:a="http://schemas.openxmlformats.org/drawingml/2006/main">
            <a:r>
              <a:t>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We do 2: 4 minutes TOTAL across all slides in this stage.</a:t>
            </a:r>
          </a:p>
          <a:p xmlns:a="http://schemas.openxmlformats.org/drawingml/2006/main">
            <a:r>
              <a:t/>
            </a:r>
          </a:p>
          <a:p xmlns:a="http://schemas.openxmlformats.org/drawingml/2006/main">
            <a:r>
              <a:t>Protect pupil operation and thinking; support handling only where needed.</a:t>
            </a:r>
          </a:p>
          <a:p xmlns:a="http://schemas.openxmlformats.org/drawingml/2006/main">
            <a:r>
              <a:t/>
            </a:r>
          </a:p>
          <a:p xmlns:a="http://schemas.openxmlformats.org/drawingml/2006/main">
            <a:r>
              <a:t>Ask what changed and what stayed the same before supplying a scientific word.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Route each plan card to CHANGE, MEASURE, KEEP THE SAME or REPEAT / PILOT / SAFETY.</a:t>
            </a:r>
          </a:p>
          <a:p xmlns:a="http://schemas.openxmlformats.org/drawingml/2006/main">
            <a:r>
              <a:t>Read the factor or action. Decide its job in the plan. Commit and repair any mismatch. Freeze a complete method, then rehearse it for approval.</a:t>
            </a:r>
          </a:p>
          <a:p xmlns:a="http://schemas.openxmlformats.org/drawingml/2006/main">
            <a:r>
              <a:t>Cards to place</a:t>
            </a:r>
          </a:p>
          <a:p xmlns:a="http://schemas.openxmlformats.org/drawingml/2006/main">
            <a:r>
              <a:t>Sample code Use final supplied Sample A for one condition and final supplied Sample B for the other in W14.</a:t>
            </a:r>
          </a:p>
          <a:p xmlns:a="http://schemas.openxmlformats.org/drawingml/2006/main">
            <a:r>
              <a:t>Collected water Record water reaching the collector after 120 seconds, in mL.</a:t>
            </a:r>
          </a:p>
          <a:p xmlns:a="http://schemas.openxmlformats.org/drawingml/2006/main">
            <a:r>
              <a:t>Starting volume Use exactly 5 mL for every pilot and final valid trial.</a:t>
            </a:r>
          </a:p>
          <a:p xmlns:a="http://schemas.openxmlformats.org/drawingml/2006/main">
            <a:r>
              <a:t>Test time Use exactly 120 seconds for each valid trial.</a:t>
            </a:r>
          </a:p>
          <a:p xmlns:a="http://schemas.openxmlformats.org/drawingml/2006/main">
            <a:r>
              <a:t>Exposed area Use the same sealed collar opening for every prepared piece.</a:t>
            </a:r>
          </a:p>
          <a:p xmlns:a="http://schemas.openxmlformats.org/drawingml/2006/main">
            <a:r>
              <a:t>Prepared thickness Staff supply matched pieces with the same planned thickness.</a:t>
            </a:r>
          </a:p>
          <a:p xmlns:a="http://schemas.openxmlformats.org/drawingml/2006/main">
            <a:r>
              <a:t>Final repeats Plan up to three W14 trials per sample using dry matched pieces or the approved fixed-data equivalent.</a:t>
            </a:r>
          </a:p>
          <a:p xmlns:a="http://schemas.openxmlformats.org/drawingml/2006/main">
            <a:r>
              <a:t>Practice pilot Before W14, use one clearly labelled practice sample or fixed pilot record to test the instructions, seal, timer and table.</a:t>
            </a:r>
          </a:p>
          <a:p xmlns:a="http://schemas.openxmlformats.org/drawingml/2006/main">
            <a:r>
              <a:t>Safety stop Stop for leaks, unstable equipment, sample damage, flaking, dust or unclear measurement; switch to the fixed route.</a:t>
            </a:r>
          </a:p>
          <a:p xmlns:a="http://schemas.openxmlformats.org/drawingml/2006/main">
            <a:r>
              <a:t>Matching groups</a:t>
            </a:r>
          </a:p>
          <a:p xmlns:a="http://schemas.openxmlformats.org/drawingml/2006/main">
            <a:r>
              <a:t>CHANGE</a:t>
            </a:r>
          </a:p>
          <a:p xmlns:a="http://schemas.openxmlformats.org/drawingml/2006/main">
            <a:r>
              <a:t>MEASURE</a:t>
            </a:r>
          </a:p>
          <a:p xmlns:a="http://schemas.openxmlformats.org/drawingml/2006/main">
            <a:r>
              <a:t>KEEP THE SAME</a:t>
            </a:r>
          </a:p>
          <a:p xmlns:a="http://schemas.openxmlformats.org/drawingml/2006/main">
            <a:r>
              <a:t>REPEAT / PILOT / SAFETY</a:t>
            </a:r>
          </a:p>
          <a:p xmlns:a="http://schemas.openxmlformats.org/drawingml/2006/main">
            <a:r>
              <a:t>Freeze evidence</a:t>
            </a:r>
          </a:p>
          <a:p xmlns:a="http://schemas.openxmlformats.org/drawingml/2006/main">
            <a:r>
              <a:t>↺ Reset and retry</a:t>
            </a:r>
          </a:p>
          <a:p xmlns:a="http://schemas.openxmlformats.org/drawingml/2006/main">
            <a:r>
              <a:t>Science glitch · find and repair it</a:t>
            </a:r>
          </a:p>
          <a:p xmlns:a="http://schemas.openxmlformats.org/drawingml/2006/main">
            <a:r>
              <a:t>Claim: Planner glitch: a fair test is one where all samples get the same result.</a:t>
            </a:r>
          </a:p>
          <a:p xmlns:a="http://schemas.openxmlformats.org/drawingml/2006/main">
            <a:r>
              <a:t>Keep it: equal outcomes prove fairness.</a:t>
            </a:r>
          </a:p>
          <a:p xmlns:a="http://schemas.openxmlformats.org/drawingml/2006/main">
            <a:r>
              <a:t>Repair it: fair describes method control while one planned factor changes; final results may differ.</a:t>
            </a:r>
          </a:p>
          <a:p xmlns:a="http://schemas.openxmlformats.org/drawingml/2006/main">
            <a:r>
              <a:t>Repair it: use the pilot value as the final conclusion before testing A and B.</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We do 2: 4 minutes TOTAL across all slides in this stage.</a:t>
            </a:r>
          </a:p>
          <a:p xmlns:a="http://schemas.openxmlformats.org/drawingml/2006/main">
            <a:r>
              <a:t/>
            </a:r>
          </a:p>
          <a:p xmlns:a="http://schemas.openxmlformats.org/drawingml/2006/main">
            <a:r>
              <a:t>Protect pupil operation and thinking; support handling only where needed.</a:t>
            </a:r>
          </a:p>
          <a:p xmlns:a="http://schemas.openxmlformats.org/drawingml/2006/main">
            <a:r>
              <a:t/>
            </a:r>
          </a:p>
          <a:p xmlns:a="http://schemas.openxmlformats.org/drawingml/2006/main">
            <a:r>
              <a:t>Ask what changed and what stayed the same before supplying a scientific word.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Route each plan card to CHANGE, MEASURE, KEEP THE SAME or REPEAT / PILOT / SAFETY.</a:t>
            </a:r>
          </a:p>
          <a:p xmlns:a="http://schemas.openxmlformats.org/drawingml/2006/main">
            <a:r>
              <a:t>Read the factor or action. Decide its job in the plan. Commit and repair any mismatch. Freeze a complete method, then rehearse it for approval.</a:t>
            </a:r>
          </a:p>
          <a:p xmlns:a="http://schemas.openxmlformats.org/drawingml/2006/main">
            <a:r>
              <a:t>Cards to place</a:t>
            </a:r>
          </a:p>
          <a:p xmlns:a="http://schemas.openxmlformats.org/drawingml/2006/main">
            <a:r>
              <a:t>Sample code Use final supplied Sample A for one condition and final supplied Sample B for the other in W14.</a:t>
            </a:r>
          </a:p>
          <a:p xmlns:a="http://schemas.openxmlformats.org/drawingml/2006/main">
            <a:r>
              <a:t>Collected water Record water reaching the collector after 120 seconds, in mL.</a:t>
            </a:r>
          </a:p>
          <a:p xmlns:a="http://schemas.openxmlformats.org/drawingml/2006/main">
            <a:r>
              <a:t>Starting volume Use exactly 5 mL for every pilot and final valid trial.</a:t>
            </a:r>
          </a:p>
          <a:p xmlns:a="http://schemas.openxmlformats.org/drawingml/2006/main">
            <a:r>
              <a:t>Test time Use exactly 120 seconds for each valid trial.</a:t>
            </a:r>
          </a:p>
          <a:p xmlns:a="http://schemas.openxmlformats.org/drawingml/2006/main">
            <a:r>
              <a:t>Exposed area Use the same sealed collar opening for every prepared piece.</a:t>
            </a:r>
          </a:p>
          <a:p xmlns:a="http://schemas.openxmlformats.org/drawingml/2006/main">
            <a:r>
              <a:t>Prepared thickness Staff supply matched pieces with the same planned thickness.</a:t>
            </a:r>
          </a:p>
          <a:p xmlns:a="http://schemas.openxmlformats.org/drawingml/2006/main">
            <a:r>
              <a:t>Final repeats Plan up to three W14 trials per sample using dry matched pieces or the approved fixed-data equivalent.</a:t>
            </a:r>
          </a:p>
          <a:p xmlns:a="http://schemas.openxmlformats.org/drawingml/2006/main">
            <a:r>
              <a:t>Practice pilot Before W14, use one clearly labelled practice sample or fixed pilot record to test the instructions, seal, timer and table.</a:t>
            </a:r>
          </a:p>
          <a:p xmlns:a="http://schemas.openxmlformats.org/drawingml/2006/main">
            <a:r>
              <a:t>Safety stop Stop for leaks, unstable equipment, sample damage, flaking, dust or unclear measurement; switch to the fixed route.</a:t>
            </a:r>
          </a:p>
          <a:p xmlns:a="http://schemas.openxmlformats.org/drawingml/2006/main">
            <a:r>
              <a:t>Matching groups</a:t>
            </a:r>
          </a:p>
          <a:p xmlns:a="http://schemas.openxmlformats.org/drawingml/2006/main">
            <a:r>
              <a:t>CHANGE</a:t>
            </a:r>
          </a:p>
          <a:p xmlns:a="http://schemas.openxmlformats.org/drawingml/2006/main">
            <a:r>
              <a:t>MEASURE</a:t>
            </a:r>
          </a:p>
          <a:p xmlns:a="http://schemas.openxmlformats.org/drawingml/2006/main">
            <a:r>
              <a:t>KEEP THE SAME</a:t>
            </a:r>
          </a:p>
          <a:p xmlns:a="http://schemas.openxmlformats.org/drawingml/2006/main">
            <a:r>
              <a:t>REPEAT / PILOT / SAFETY</a:t>
            </a:r>
          </a:p>
          <a:p xmlns:a="http://schemas.openxmlformats.org/drawingml/2006/main">
            <a:r>
              <a:t>Freeze evidence</a:t>
            </a:r>
          </a:p>
          <a:p xmlns:a="http://schemas.openxmlformats.org/drawingml/2006/main">
            <a:r>
              <a:t>↺ Reset and retry</a:t>
            </a:r>
          </a:p>
          <a:p xmlns:a="http://schemas.openxmlformats.org/drawingml/2006/main">
            <a:r>
              <a:t>Science glitch · find and repair it</a:t>
            </a:r>
          </a:p>
          <a:p xmlns:a="http://schemas.openxmlformats.org/drawingml/2006/main">
            <a:r>
              <a:t>Claim: Planner glitch: a fair test is one where all samples get the same result.</a:t>
            </a:r>
          </a:p>
          <a:p xmlns:a="http://schemas.openxmlformats.org/drawingml/2006/main">
            <a:r>
              <a:t>Keep it: equal outcomes prove fairness.</a:t>
            </a:r>
          </a:p>
          <a:p xmlns:a="http://schemas.openxmlformats.org/drawingml/2006/main">
            <a:r>
              <a:t>Repair it: fair describes method control while one planned factor changes; final results may differ.</a:t>
            </a:r>
          </a:p>
          <a:p xmlns:a="http://schemas.openxmlformats.org/drawingml/2006/main">
            <a:r>
              <a:t>Repair it: use the pilot value as the final conclusion before testing A and B.</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Independent: 10 minutes TOTAL across all slides in this stage.</a:t>
            </a:r>
          </a:p>
          <a:p xmlns:a="http://schemas.openxmlformats.org/drawingml/2006/main">
            <a:r>
              <a:t/>
            </a:r>
          </a:p>
          <a:p xmlns:a="http://schemas.openxmlformats.org/drawingml/2006/main">
            <a:r>
              <a:t>Protect independence. Accept equivalent evidence routes and scribe exact meaning.</a:t>
            </a:r>
          </a:p>
          <a:p xmlns:a="http://schemas.openxmlformats.org/drawingml/2006/main">
            <a:r>
              <a:t/>
            </a:r>
          </a:p>
          <a:p xmlns:a="http://schemas.openxmlformats.org/drawingml/2006/main">
            <a:r>
              <a:t>Prompt only as much as needed; fade as soon as the pupil continues.</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Physical route</a:t>
            </a:r>
          </a:p>
          <a:p xmlns:a="http://schemas.openxmlformats.org/drawingml/2006/main">
            <a:r>
              <a:t>Control cards, diagram of staff-built sealed rig, method planner, blank final results table, pilot checklist and pencil or communication aid.</a:t>
            </a:r>
          </a:p>
          <a:p xmlns:a="http://schemas.openxmlformats.org/drawingml/2006/main">
            <a:r>
              <a:t>Same outcome: I can plan a safe fair comparison by naming one changed variable, one measured result, the controls and the repeats.</a:t>
            </a:r>
          </a:p>
          <a:p xmlns:a="http://schemas.openxmlformats.org/drawingml/2006/main">
            <a:r>
              <a:t>Offline digital / director route</a:t>
            </a:r>
          </a:p>
          <a:p xmlns:a="http://schemas.openxmlformats.org/drawingml/2006/main">
            <a:r>
              <a:t>Use the embedded planner and save the local method card. No camera, account, network, upload or pupil identity is used.</a:t>
            </a:r>
          </a:p>
          <a:p xmlns:a="http://schemas.openxmlformats.org/drawingml/2006/main">
            <a:r>
              <a:t>Same evidence: W14 question, prediction, changed variable, measure with unit, at least three controls, repeat plan, blank results table, W13B pilot checks and safety stop.</a:t>
            </a:r>
          </a:p>
          <a:p xmlns:a="http://schemas.openxmlformats.org/drawingml/2006/main">
            <a:r>
              <a:t>Equipment / setup Control cards, diagram of staff-built sealed rig, method planner, blank final results table, pilot checklist and pencil or communication aid.</a:t>
            </a:r>
          </a:p>
          <a:p xmlns:a="http://schemas.openxmlformats.org/drawingml/2006/main">
            <a:r>
              <a:t>Safety / sensory Planning uses dry cards only. Pupils do not cut, seal, build, lift, scratch or prepare rigs or samples. Physical piloting happens only after local risk assessment, staff pretesting and teacher approval.</a:t>
            </a:r>
          </a:p>
          <a:p xmlns:a="http://schemas.openxmlformats.org/drawingml/2006/main">
            <a:r>
              <a:t>Offline parity Use the embedded planner and save the local method card. No camera, account, network, upload or pupil identity is used.</a:t>
            </a:r>
          </a:p>
          <a:p xmlns:a="http://schemas.openxmlformats.org/drawingml/2006/main">
            <a:r>
              <a:t>No-equipment/access route: Use large CHANGE / MEASURE / SAME / PILOT cards while an adult scribes the pupil's exact plan and selected access route.</a:t>
            </a:r>
          </a:p>
          <a:p xmlns:a="http://schemas.openxmlformats.org/drawingml/2006/main">
            <a:r>
              <a:t>▲ Standard</a:t>
            </a:r>
          </a:p>
          <a:p xmlns:a="http://schemas.openxmlformats.org/drawingml/2006/main">
            <a:r>
              <a:t>Write the full plan, justify three controls and prepare separate pilot and final-data sheets.</a:t>
            </a:r>
          </a:p>
          <a:p xmlns:a="http://schemas.openxmlformats.org/drawingml/2006/main">
            <a:r>
              <a:t>Scaffold</a:t>
            </a:r>
          </a:p>
          <a:p xmlns:a="http://schemas.openxmlformats.org/drawingml/2006/main">
            <a:r>
              <a:t>Check that no final A/B result or conclusion appears before W14.</a:t>
            </a:r>
          </a:p>
          <a:p xmlns:a="http://schemas.openxmlformats.org/drawingml/2006/main">
            <a:r>
              <a:t>Evidence gate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Independent: 10 minutes TOTAL across all slides in this stage.</a:t>
            </a:r>
          </a:p>
          <a:p xmlns:a="http://schemas.openxmlformats.org/drawingml/2006/main">
            <a:r>
              <a:t/>
            </a:r>
          </a:p>
          <a:p xmlns:a="http://schemas.openxmlformats.org/drawingml/2006/main">
            <a:r>
              <a:t>Protect independence. Accept equivalent evidence routes and scribe exact meaning.</a:t>
            </a:r>
          </a:p>
          <a:p xmlns:a="http://schemas.openxmlformats.org/drawingml/2006/main">
            <a:r>
              <a:t/>
            </a:r>
          </a:p>
          <a:p xmlns:a="http://schemas.openxmlformats.org/drawingml/2006/main">
            <a:r>
              <a:t>Prompt only as much as needed; fade as soon as the pupil continues.</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Physical route</a:t>
            </a:r>
          </a:p>
          <a:p xmlns:a="http://schemas.openxmlformats.org/drawingml/2006/main">
            <a:r>
              <a:t>Control cards, diagram of staff-built sealed rig, method planner, blank final results table, pilot checklist and pencil or communication aid.</a:t>
            </a:r>
          </a:p>
          <a:p xmlns:a="http://schemas.openxmlformats.org/drawingml/2006/main">
            <a:r>
              <a:t>Same outcome: I can plan a safe fair comparison by naming one changed variable, one measured result, the controls and the repeats.</a:t>
            </a:r>
          </a:p>
          <a:p xmlns:a="http://schemas.openxmlformats.org/drawingml/2006/main">
            <a:r>
              <a:t>Offline digital / director route</a:t>
            </a:r>
          </a:p>
          <a:p xmlns:a="http://schemas.openxmlformats.org/drawingml/2006/main">
            <a:r>
              <a:t>Use the embedded planner and save the local method card. No camera, account, network, upload or pupil identity is used.</a:t>
            </a:r>
          </a:p>
          <a:p xmlns:a="http://schemas.openxmlformats.org/drawingml/2006/main">
            <a:r>
              <a:t>Same evidence: W14 question, prediction, changed variable, measure with unit, at least three controls, repeat plan, blank results table, W13B pilot checks and safety stop.</a:t>
            </a:r>
          </a:p>
          <a:p xmlns:a="http://schemas.openxmlformats.org/drawingml/2006/main">
            <a:r>
              <a:t>Equipment / setup Control cards, diagram of staff-built sealed rig, method planner, blank final results table, pilot checklist and pencil or communication aid.</a:t>
            </a:r>
          </a:p>
          <a:p xmlns:a="http://schemas.openxmlformats.org/drawingml/2006/main">
            <a:r>
              <a:t>Safety / sensory Planning uses dry cards only. Pupils do not cut, seal, build, lift, scratch or prepare rigs or samples. Physical piloting happens only after local risk assessment, staff pretesting and teacher approval.</a:t>
            </a:r>
          </a:p>
          <a:p xmlns:a="http://schemas.openxmlformats.org/drawingml/2006/main">
            <a:r>
              <a:t>Offline parity Use the embedded planner and save the local method card. No camera, account, network, upload or pupil identity is used.</a:t>
            </a:r>
          </a:p>
          <a:p xmlns:a="http://schemas.openxmlformats.org/drawingml/2006/main">
            <a:r>
              <a:t>No-equipment/access route: Use large CHANGE / MEASURE / SAME / PILOT cards while an adult scribes the pupil's exact plan and selected access route.</a:t>
            </a:r>
          </a:p>
          <a:p xmlns:a="http://schemas.openxmlformats.org/drawingml/2006/main">
            <a:r>
              <a:t>▲ Standard</a:t>
            </a:r>
          </a:p>
          <a:p xmlns:a="http://schemas.openxmlformats.org/drawingml/2006/main">
            <a:r>
              <a:t>Write the full plan, justify three controls and prepare separate pilot and final-data sheets.</a:t>
            </a:r>
          </a:p>
          <a:p xmlns:a="http://schemas.openxmlformats.org/drawingml/2006/main">
            <a:r>
              <a:t>Scaffold</a:t>
            </a:r>
          </a:p>
          <a:p xmlns:a="http://schemas.openxmlformats.org/drawingml/2006/main">
            <a:r>
              <a:t>Check that no final A/B result or conclusion appears before W14.</a:t>
            </a:r>
          </a:p>
          <a:p xmlns:a="http://schemas.openxmlformats.org/drawingml/2006/main">
            <a:r>
              <a:t>Evidence gate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SCI_B_W13A_Fair_Test_Planner_Change_One_Thing_Explore.html. Exit: 4 minutes TOTAL across all slides in this stage.</a:t>
            </a:r>
          </a:p>
          <a:p xmlns:a="http://schemas.openxmlformats.org/drawingml/2006/main">
            <a:r>
              <a:t/>
            </a:r>
          </a:p>
          <a:p xmlns:a="http://schemas.openxmlformats.org/drawingml/2006/main">
            <a:r>
              <a:t>Genuinely receive one final response and name back the Science heard or seen.</a:t>
            </a:r>
          </a:p>
          <a:p xmlns:a="http://schemas.openxmlformats.org/drawingml/2006/main">
            <a:r>
              <a:t/>
            </a:r>
          </a:p>
          <a:p xmlns:a="http://schemas.openxmlformats.org/drawingml/2006/main">
            <a:r>
              <a:t>Choose one visible next move; written closure is optional when Voice and Audience are observable.</a:t>
            </a:r>
          </a:p>
          <a:p xmlns:a="http://schemas.openxmlformats.org/drawingml/2006/main">
            <a:r>
              <a:t/>
            </a:r>
          </a:p>
          <a:p xmlns:a="http://schemas.openxmlformats.org/drawingml/2006/main">
            <a:r>
              <a:t>Model limit: A fair plan reduces alternative explanations but cannot remove natural sample variation. The pilot can improve procedure, yet only W14's approved repeated comparison may address the investigation question.</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Standard</a:t>
            </a:r>
          </a:p>
          <a:p xmlns:a="http://schemas.openxmlformats.org/drawingml/2006/main">
            <a:r>
              <a:t>Explain why W13B tests the method but does not answer the final A/B question.</a:t>
            </a:r>
          </a:p>
          <a:p xmlns:a="http://schemas.openxmlformats.org/drawingml/2006/main">
            <a:r>
              <a:t>Adult Audience</a:t>
            </a:r>
          </a:p>
          <a:p xmlns:a="http://schemas.openxmlformats.org/drawingml/2006/main">
            <a:r>
              <a:t>The familiar adult genuinely receives the pupil response, then says back the Science they heard or saw. The adult does not add a score or rewrite the pupil.</a:t>
            </a:r>
          </a:p>
          <a:p xmlns:a="http://schemas.openxmlformats.org/drawingml/2006/main">
            <a:r>
              <a:t>Optional exact record of what I said or showed:</a:t>
            </a:r>
          </a:p>
          <a:p xmlns:a="http://schemas.openxmlformats.org/drawingml/2006/main">
            <a:r>
              <a:t>One next teaching move after the adult listened: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SCI_B_W13A_Fair_Test_Planner_Change_One_Thing_Explore.html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b30752aeaf47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6b0cabffa442bb" /><Relationship Type="http://schemas.openxmlformats.org/officeDocument/2006/relationships/slideLayout" Target="/ppt/slideLayouts/slideLayout1.xml" Id="Rda4f49c0dccf4c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4f49c0dccf4c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49e641ee99445d" /><Relationship Type="http://schemas.openxmlformats.org/officeDocument/2006/relationships/hyperlink" Target="SCI_B_W13A_Fair_Test_Planner_Change_One_Thing_Explore.html" TargetMode="External" Id="R2737d8dcfa624f18" /><Relationship Type="http://schemas.openxmlformats.org/officeDocument/2006/relationships/notesSlide" Target="/ppt/notesSlides/notesSlide1.xml" Id="Ra62c8222ee3940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dd0da0ca064e16" /><Relationship Type="http://schemas.openxmlformats.org/officeDocument/2006/relationships/notesSlide" Target="/ppt/notesSlides/notesSlide2.xml" Id="R1c85b42af3c240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1ff5e048e44154" /><Relationship Type="http://schemas.openxmlformats.org/officeDocument/2006/relationships/notesSlide" Target="/ppt/notesSlides/notesSlide3.xml" Id="R873e2c542a294b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996a71908b431a" /><Relationship Type="http://schemas.openxmlformats.org/officeDocument/2006/relationships/notesSlide" Target="/ppt/notesSlides/notesSlide4.xml" Id="Rad7c2333093a46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59bfb2e76846ed" /><Relationship Type="http://schemas.openxmlformats.org/officeDocument/2006/relationships/notesSlide" Target="/ppt/notesSlides/notesSlide5.xml" Id="R26c8c1527f0944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fabda360b7410a" /><Relationship Type="http://schemas.openxmlformats.org/officeDocument/2006/relationships/image" Target="/ppt/media/image.png" Id="R9e4d6de8e6354db4" /><Relationship Type="http://schemas.openxmlformats.org/officeDocument/2006/relationships/image" Target="/ppt/media/image2.png" Id="R6744e6f86aca41e9" /><Relationship Type="http://schemas.openxmlformats.org/officeDocument/2006/relationships/image" Target="/ppt/media/image3.png" Id="R762bf2d3f72b4dd0" /><Relationship Type="http://schemas.openxmlformats.org/officeDocument/2006/relationships/notesSlide" Target="/ppt/notesSlides/notesSlide6.xml" Id="Ra42d9ae9ec3542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e7ee7ca34d499e" /><Relationship Type="http://schemas.openxmlformats.org/officeDocument/2006/relationships/notesSlide" Target="/ppt/notesSlides/notesSlide7.xml" Id="Reca1af7ae58146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b38e02d27f4449" /><Relationship Type="http://schemas.openxmlformats.org/officeDocument/2006/relationships/notesSlide" Target="/ppt/notesSlides/notesSlide8.xml" Id="Rb5a0da8f690842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7150db57834777" /><Relationship Type="http://schemas.openxmlformats.org/officeDocument/2006/relationships/notesSlide" Target="/ppt/notesSlides/notesSlide9.xml" Id="R8d21641aea8848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452fabaeba43d7" /><Relationship Type="http://schemas.openxmlformats.org/officeDocument/2006/relationships/notesSlide" Target="/ppt/notesSlides/notesSlide10.xml" Id="R9bb15e48c27f48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ba5c7e00cb04b45" /><Relationship Type="http://schemas.openxmlformats.org/officeDocument/2006/relationships/notesSlide" Target="/ppt/notesSlides/notesSlide11.xml" Id="R6f3f126b18a645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859c6f180e47dd" /><Relationship Type="http://schemas.openxmlformats.org/officeDocument/2006/relationships/notesSlide" Target="/ppt/notesSlides/notesSlide12.xml" Id="R17a585e0236240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358b46b216440e8" /><Relationship Type="http://schemas.openxmlformats.org/officeDocument/2006/relationships/notesSlide" Target="/ppt/notesSlides/notesSlide13.xml" Id="Rc9b240f26df345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34e6588203740ec" /><Relationship Type="http://schemas.openxmlformats.org/officeDocument/2006/relationships/notesSlide" Target="/ppt/notesSlides/notesSlide14.xml" Id="R5ed8598731b248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a66f95e1a2d4290" /><Relationship Type="http://schemas.openxmlformats.org/officeDocument/2006/relationships/notesSlide" Target="/ppt/notesSlides/notesSlide15.xml" Id="Rd8fe38f5a26343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9d3a1dab3e453e" /><Relationship Type="http://schemas.openxmlformats.org/officeDocument/2006/relationships/notesSlide" Target="/ppt/notesSlides/notesSlide16.xml" Id="R15ab2f12fdab46d9"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phase edge">
            <a:extLst xmlns:a="http://schemas.openxmlformats.org/drawingml/2006/main">
              <a:ext uri="{FF2B5EF4-FFF2-40B4-BE49-F238E27FC236}">
                <a16:creationId xmlns:a16="http://schemas.microsoft.com/office/drawing/2014/main" id="{D22F5FA3-ED72-47D6-90AB-2A666283A9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FFCE1D4-2126-457E-9CA1-83D58D8A4CA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C18C7206-DA1E-44D7-87EA-FEB70DBFD53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2CBF1D60-ABF7-4B78-BA84-A0982FA20F6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Fair Test Planner: Change One Thing</a:t>
            </a:r>
          </a:p>
        </p:txBody>
      </p:sp>
      <p:sp>
        <p:nvSpPr>
          <p:cNvPr id="5" name="paper panel">
            <a:extLst xmlns:a="http://schemas.openxmlformats.org/drawingml/2006/main">
              <a:ext uri="{FF2B5EF4-FFF2-40B4-BE49-F238E27FC236}">
                <a16:creationId xmlns:a16="http://schemas.microsoft.com/office/drawing/2014/main" id="{E85BCA17-C48E-4F18-8F78-28C515396DB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46F5FBA0-9A97-4681-B7A5-86BD42B97FB6}"/>
              </a:ext>
            </a:extLst>
          </p:cNvPr>
          <p:cNvSpPr>
            <a:spLocks xmlns:a="http://schemas.openxmlformats.org/drawingml/2006/main" noGrp="1"/>
          </p:cNvSpPr>
          <p:nvPr/>
        </p:nvSpPr>
        <p:spPr>
          <a:xfrm xmlns:a="http://schemas.openxmlformats.org/drawingml/2006/main">
            <a:off x="762000" y="2181225"/>
            <a:ext cx="5924550" cy="11252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I can plan a safe fair comparison by naming one changed variable, one measured result, the controls and the repeats.</a:t>
            </a:r>
          </a:p>
        </p:txBody>
      </p:sp>
      <p:sp>
        <p:nvSpPr>
          <p:cNvPr id="7" name="learning move 0">
            <a:extLst xmlns:a="http://schemas.openxmlformats.org/drawingml/2006/main">
              <a:ext uri="{FF2B5EF4-FFF2-40B4-BE49-F238E27FC236}">
                <a16:creationId xmlns:a16="http://schemas.microsoft.com/office/drawing/2014/main" id="{55EA8CC7-7960-486C-88AA-BB15945F0BC9}"/>
              </a:ext>
            </a:extLst>
          </p:cNvPr>
          <p:cNvSpPr>
            <a:spLocks xmlns:a="http://schemas.openxmlformats.org/drawingml/2006/main" noGrp="1"/>
          </p:cNvSpPr>
          <p:nvPr/>
        </p:nvSpPr>
        <p:spPr>
          <a:xfrm xmlns:a="http://schemas.openxmlformats.org/drawingml/2006/main">
            <a:off x="7029450" y="2305050"/>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8" name="move 0">
            <a:extLst xmlns:a="http://schemas.openxmlformats.org/drawingml/2006/main">
              <a:ext uri="{FF2B5EF4-FFF2-40B4-BE49-F238E27FC236}">
                <a16:creationId xmlns:a16="http://schemas.microsoft.com/office/drawing/2014/main" id="{FC6398D6-52B7-4C69-9AB6-6A05624F5A69}"/>
              </a:ext>
            </a:extLst>
          </p:cNvPr>
          <p:cNvSpPr>
            <a:spLocks xmlns:a="http://schemas.openxmlformats.org/drawingml/2006/main" noGrp="1"/>
          </p:cNvSpPr>
          <p:nvPr/>
        </p:nvSpPr>
        <p:spPr>
          <a:xfrm xmlns:a="http://schemas.openxmlformats.org/drawingml/2006/main">
            <a:off x="7200900" y="2428875"/>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CHANGE</a:t>
            </a:r>
          </a:p>
        </p:txBody>
      </p:sp>
      <p:sp>
        <p:nvSpPr>
          <p:cNvPr id="9" name="move detail 0">
            <a:extLst xmlns:a="http://schemas.openxmlformats.org/drawingml/2006/main">
              <a:ext uri="{FF2B5EF4-FFF2-40B4-BE49-F238E27FC236}">
                <a16:creationId xmlns:a16="http://schemas.microsoft.com/office/drawing/2014/main" id="{DB689638-F27D-404D-ADB8-724DD31EFC45}"/>
              </a:ext>
            </a:extLst>
          </p:cNvPr>
          <p:cNvSpPr>
            <a:spLocks xmlns:a="http://schemas.openxmlformats.org/drawingml/2006/main" noGrp="1"/>
          </p:cNvSpPr>
          <p:nvPr/>
        </p:nvSpPr>
        <p:spPr>
          <a:xfrm xmlns:a="http://schemas.openxmlformats.org/drawingml/2006/main">
            <a:off x="7200900" y="277177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one planned difference</a:t>
            </a:r>
          </a:p>
        </p:txBody>
      </p:sp>
      <p:sp>
        <p:nvSpPr>
          <p:cNvPr id="10" name="learning move 1">
            <a:extLst xmlns:a="http://schemas.openxmlformats.org/drawingml/2006/main">
              <a:ext uri="{FF2B5EF4-FFF2-40B4-BE49-F238E27FC236}">
                <a16:creationId xmlns:a16="http://schemas.microsoft.com/office/drawing/2014/main" id="{2B855947-D7F9-449B-A7D9-6063772B427E}"/>
              </a:ext>
            </a:extLst>
          </p:cNvPr>
          <p:cNvSpPr>
            <a:spLocks xmlns:a="http://schemas.openxmlformats.org/drawingml/2006/main" noGrp="1"/>
          </p:cNvSpPr>
          <p:nvPr/>
        </p:nvSpPr>
        <p:spPr>
          <a:xfrm xmlns:a="http://schemas.openxmlformats.org/drawingml/2006/main">
            <a:off x="7029450" y="3248025"/>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11" name="move 1">
            <a:extLst xmlns:a="http://schemas.openxmlformats.org/drawingml/2006/main">
              <a:ext uri="{FF2B5EF4-FFF2-40B4-BE49-F238E27FC236}">
                <a16:creationId xmlns:a16="http://schemas.microsoft.com/office/drawing/2014/main" id="{A6BDC6A5-7D05-4185-9D5D-E6D8719007E3}"/>
              </a:ext>
            </a:extLst>
          </p:cNvPr>
          <p:cNvSpPr>
            <a:spLocks xmlns:a="http://schemas.openxmlformats.org/drawingml/2006/main" noGrp="1"/>
          </p:cNvSpPr>
          <p:nvPr/>
        </p:nvSpPr>
        <p:spPr>
          <a:xfrm xmlns:a="http://schemas.openxmlformats.org/drawingml/2006/main">
            <a:off x="7200900" y="33718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MEASURE</a:t>
            </a:r>
          </a:p>
        </p:txBody>
      </p:sp>
      <p:sp>
        <p:nvSpPr>
          <p:cNvPr id="12" name="move detail 1">
            <a:extLst xmlns:a="http://schemas.openxmlformats.org/drawingml/2006/main">
              <a:ext uri="{FF2B5EF4-FFF2-40B4-BE49-F238E27FC236}">
                <a16:creationId xmlns:a16="http://schemas.microsoft.com/office/drawing/2014/main" id="{A26D251E-EF20-490A-BA0E-AF77AEDC2C54}"/>
              </a:ext>
            </a:extLst>
          </p:cNvPr>
          <p:cNvSpPr>
            <a:spLocks xmlns:a="http://schemas.openxmlformats.org/drawingml/2006/main" noGrp="1"/>
          </p:cNvSpPr>
          <p:nvPr/>
        </p:nvSpPr>
        <p:spPr>
          <a:xfrm xmlns:a="http://schemas.openxmlformats.org/drawingml/2006/main">
            <a:off x="7200900" y="3714750"/>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one result with a unit</a:t>
            </a:r>
          </a:p>
        </p:txBody>
      </p:sp>
      <p:sp>
        <p:nvSpPr>
          <p:cNvPr id="13" name="learning move 2">
            <a:extLst xmlns:a="http://schemas.openxmlformats.org/drawingml/2006/main">
              <a:ext uri="{FF2B5EF4-FFF2-40B4-BE49-F238E27FC236}">
                <a16:creationId xmlns:a16="http://schemas.microsoft.com/office/drawing/2014/main" id="{B813AFAF-FD2A-484B-8FBE-1A1FC92EF025}"/>
              </a:ext>
            </a:extLst>
          </p:cNvPr>
          <p:cNvSpPr>
            <a:spLocks xmlns:a="http://schemas.openxmlformats.org/drawingml/2006/main" noGrp="1"/>
          </p:cNvSpPr>
          <p:nvPr/>
        </p:nvSpPr>
        <p:spPr>
          <a:xfrm xmlns:a="http://schemas.openxmlformats.org/drawingml/2006/main">
            <a:off x="7029450" y="4191000"/>
            <a:ext cx="4238625" cy="800100"/>
          </a:xfrm>
          <a:prstGeom xmlns:a="http://schemas.openxmlformats.org/drawingml/2006/main" prst="rect">
            <a:avLst/>
          </a:prstGeom>
          <a:solidFill xmlns:a="http://schemas.openxmlformats.org/drawingml/2006/main">
            <a:srgbClr val="EAF0F3"/>
          </a:solidFill>
          <a:ln xmlns:a="http://schemas.openxmlformats.org/drawingml/2006/main" w="0">
            <a:noFill/>
          </a:ln>
        </p:spPr>
      </p:sp>
      <p:sp>
        <p:nvSpPr>
          <p:cNvPr id="14" name="move 2">
            <a:extLst xmlns:a="http://schemas.openxmlformats.org/drawingml/2006/main">
              <a:ext uri="{FF2B5EF4-FFF2-40B4-BE49-F238E27FC236}">
                <a16:creationId xmlns:a16="http://schemas.microsoft.com/office/drawing/2014/main" id="{895E7C60-9821-4AB6-B151-F3756085FA9D}"/>
              </a:ext>
            </a:extLst>
          </p:cNvPr>
          <p:cNvSpPr>
            <a:spLocks xmlns:a="http://schemas.openxmlformats.org/drawingml/2006/main" noGrp="1"/>
          </p:cNvSpPr>
          <p:nvPr/>
        </p:nvSpPr>
        <p:spPr>
          <a:xfrm xmlns:a="http://schemas.openxmlformats.org/drawingml/2006/main">
            <a:off x="7200900" y="4314825"/>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0233F"/>
                </a:solidFill>
                <a:latin typeface="Arial"/>
                <a:ea typeface="Arial"/>
                <a:cs typeface="Arial"/>
              </a:defRPr>
            </a:pPr>
            <a:r>
              <a:rPr sz="1875" b="1">
                <a:solidFill>
                  <a:srgbClr val="10233F"/>
                </a:solidFill>
                <a:latin typeface="Arial"/>
                <a:ea typeface="Arial"/>
                <a:cs typeface="Arial"/>
              </a:rPr>
              <a:t>CONTROL + REPEAT</a:t>
            </a:r>
          </a:p>
        </p:txBody>
      </p:sp>
      <p:sp>
        <p:nvSpPr>
          <p:cNvPr id="15" name="move detail 2">
            <a:extLst xmlns:a="http://schemas.openxmlformats.org/drawingml/2006/main">
              <a:ext uri="{FF2B5EF4-FFF2-40B4-BE49-F238E27FC236}">
                <a16:creationId xmlns:a16="http://schemas.microsoft.com/office/drawing/2014/main" id="{683EE3D9-2996-4878-AAF5-23FE12BD44C4}"/>
              </a:ext>
            </a:extLst>
          </p:cNvPr>
          <p:cNvSpPr>
            <a:spLocks xmlns:a="http://schemas.openxmlformats.org/drawingml/2006/main" noGrp="1"/>
          </p:cNvSpPr>
          <p:nvPr/>
        </p:nvSpPr>
        <p:spPr>
          <a:xfrm xmlns:a="http://schemas.openxmlformats.org/drawingml/2006/main">
            <a:off x="7200900" y="465772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0233F"/>
                </a:solidFill>
                <a:latin typeface="Arial"/>
                <a:ea typeface="Arial"/>
                <a:cs typeface="Arial"/>
              </a:defRPr>
            </a:pPr>
            <a:r>
              <a:rPr sz="1425" b="0">
                <a:solidFill>
                  <a:srgbClr val="10233F"/>
                </a:solidFill>
                <a:latin typeface="Arial"/>
                <a:ea typeface="Arial"/>
                <a:cs typeface="Arial"/>
              </a:rPr>
              <a:t>same method, checked evidence</a:t>
            </a:r>
          </a:p>
        </p:txBody>
      </p:sp>
      <p:sp>
        <p:nvSpPr>
          <p:cNvPr id="16" name="HTML link">
            <a:extLst xmlns:a="http://schemas.openxmlformats.org/drawingml/2006/main">
              <a:ext uri="{FF2B5EF4-FFF2-40B4-BE49-F238E27FC236}">
                <a16:creationId xmlns:a16="http://schemas.microsoft.com/office/drawing/2014/main" id="{0AC3A52A-A091-4A2C-B000-6148BA344397}"/>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4E7A9B"/>
                </a:solidFill>
                <a:latin typeface="Arial"/>
                <a:ea typeface="Arial"/>
                <a:cs typeface="Arial"/>
              </a:defRPr>
            </a:pPr>
            <a:r>
              <a:rPr sz="1575" b="1">
                <a:solidFill>
                  <a:srgbClr val="4E7A9B"/>
                </a:solidFill>
                <a:latin typeface="Arial"/>
                <a:ea typeface="Arial"/>
                <a:cs typeface="Arial"/>
                <a:hlinkClick xmlns:r="http://schemas.openxmlformats.org/officeDocument/2006/relationships" r:id="R2737d8dcfa624f18"/>
              </a:rPr>
              <a:t>Open the original interactive lesson</a:t>
            </a:r>
          </a:p>
        </p:txBody>
      </p:sp>
      <p:sp>
        <p:nvSpPr>
          <p:cNvPr id="17" name="time">
            <a:extLst xmlns:a="http://schemas.openxmlformats.org/drawingml/2006/main">
              <a:ext uri="{FF2B5EF4-FFF2-40B4-BE49-F238E27FC236}">
                <a16:creationId xmlns:a16="http://schemas.microsoft.com/office/drawing/2014/main" id="{6D146E74-1458-43F1-87A3-209704E209E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18" name="number">
            <a:extLst xmlns:a="http://schemas.openxmlformats.org/drawingml/2006/main">
              <a:ext uri="{FF2B5EF4-FFF2-40B4-BE49-F238E27FC236}">
                <a16:creationId xmlns:a16="http://schemas.microsoft.com/office/drawing/2014/main" id="{7880F0BA-D162-4BBB-A379-3406F2AA888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16</a:t>
            </a:r>
          </a:p>
        </p:txBody>
      </p:sp>
    </p:spTree>
    <p:extLst>
      <p:ext uri="{BB962C8B-B14F-4D97-AF65-F5344CB8AC3E}">
        <p14:creationId xmlns:p14="http://schemas.microsoft.com/office/powerpoint/2010/main" val="2090189483"/>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4F3810AD-CA1E-4C04-BF02-A0C53252DF9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25CA7D0-2F3A-48F9-9A36-8F1420611FA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6F875C96-51A2-43BA-A420-05AC02EAE30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B30B2991-B090-41B4-83F2-1B90ECED86A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What success looks like</a:t>
            </a:r>
          </a:p>
        </p:txBody>
      </p:sp>
      <p:sp>
        <p:nvSpPr>
          <p:cNvPr id="5" name="paper panel">
            <a:extLst xmlns:a="http://schemas.openxmlformats.org/drawingml/2006/main">
              <a:ext uri="{FF2B5EF4-FFF2-40B4-BE49-F238E27FC236}">
                <a16:creationId xmlns:a16="http://schemas.microsoft.com/office/drawing/2014/main" id="{4F505CC2-2156-4714-BBD7-DE2BCE06208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AAD1F97-51E1-4D8B-A3A2-BC3F5835CD92}"/>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Write or select one clear question for the W14 rock investigation.</a:t>
            </a:r>
          </a:p>
        </p:txBody>
      </p:sp>
      <p:sp>
        <p:nvSpPr>
          <p:cNvPr id="7" name="content 1">
            <a:extLst xmlns:a="http://schemas.openxmlformats.org/drawingml/2006/main">
              <a:ext uri="{FF2B5EF4-FFF2-40B4-BE49-F238E27FC236}">
                <a16:creationId xmlns:a16="http://schemas.microsoft.com/office/drawing/2014/main" id="{E6D684BB-3F21-4060-969B-D42A5A94575B}"/>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Name what changes, what is measured and at least three important controls.</a:t>
            </a:r>
          </a:p>
        </p:txBody>
      </p:sp>
      <p:sp>
        <p:nvSpPr>
          <p:cNvPr id="8" name="content 2">
            <a:extLst xmlns:a="http://schemas.openxmlformats.org/drawingml/2006/main">
              <a:ext uri="{FF2B5EF4-FFF2-40B4-BE49-F238E27FC236}">
                <a16:creationId xmlns:a16="http://schemas.microsoft.com/office/drawing/2014/main" id="{2978605D-F65E-4409-80BF-88C06AD0A5AA}"/>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Prepare a repeat plan, blank table and safety stop for a method pilot.</a:t>
            </a:r>
          </a:p>
        </p:txBody>
      </p:sp>
      <p:sp>
        <p:nvSpPr>
          <p:cNvPr id="9" name="time">
            <a:extLst xmlns:a="http://schemas.openxmlformats.org/drawingml/2006/main">
              <a:ext uri="{FF2B5EF4-FFF2-40B4-BE49-F238E27FC236}">
                <a16:creationId xmlns:a16="http://schemas.microsoft.com/office/drawing/2014/main" id="{4319DA44-3CB3-4C0D-BBBA-9768FE98BAD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10" name="number">
            <a:extLst xmlns:a="http://schemas.openxmlformats.org/drawingml/2006/main">
              <a:ext uri="{FF2B5EF4-FFF2-40B4-BE49-F238E27FC236}">
                <a16:creationId xmlns:a16="http://schemas.microsoft.com/office/drawing/2014/main" id="{623BF4CF-74CD-4E32-B8C0-EF029F81430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16</a:t>
            </a:r>
          </a:p>
        </p:txBody>
      </p:sp>
    </p:spTree>
    <p:extLst>
      <p:ext uri="{BB962C8B-B14F-4D97-AF65-F5344CB8AC3E}">
        <p14:creationId xmlns:p14="http://schemas.microsoft.com/office/powerpoint/2010/main" val="1229742252"/>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DC8F91DD-BCE8-4B7F-AE3B-E3558233FF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A248BBE-7796-4FBB-9106-BFDD77E38E5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4B274037-F70B-4F9E-83DE-3646C3A44DC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5C6DE34F-738F-4582-AB1C-14B704DEC69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and reconnect</a:t>
            </a:r>
          </a:p>
        </p:txBody>
      </p:sp>
      <p:sp>
        <p:nvSpPr>
          <p:cNvPr id="5" name="paper panel">
            <a:extLst xmlns:a="http://schemas.openxmlformats.org/drawingml/2006/main">
              <a:ext uri="{FF2B5EF4-FFF2-40B4-BE49-F238E27FC236}">
                <a16:creationId xmlns:a16="http://schemas.microsoft.com/office/drawing/2014/main" id="{FB35605A-4809-4FB0-A3EC-81B9D9D81A9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54E4709-4C26-4603-863B-8F7D3E799C0B}"/>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Last lesson: what method question did your audience bank?</a:t>
            </a:r>
          </a:p>
        </p:txBody>
      </p:sp>
      <p:sp>
        <p:nvSpPr>
          <p:cNvPr id="7" name="content 1">
            <a:extLst xmlns:a="http://schemas.openxmlformats.org/drawingml/2006/main">
              <a:ext uri="{FF2B5EF4-FFF2-40B4-BE49-F238E27FC236}">
                <a16:creationId xmlns:a16="http://schemas.microsoft.com/office/drawing/2014/main" id="{E02900AD-9CF2-4164-AD98-5EA562A8C9ED}"/>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Last lesson: why did irrelevant evidence not help the choice?</a:t>
            </a:r>
          </a:p>
        </p:txBody>
      </p:sp>
      <p:sp>
        <p:nvSpPr>
          <p:cNvPr id="8" name="content 2">
            <a:extLst xmlns:a="http://schemas.openxmlformats.org/drawingml/2006/main">
              <a:ext uri="{FF2B5EF4-FFF2-40B4-BE49-F238E27FC236}">
                <a16:creationId xmlns:a16="http://schemas.microsoft.com/office/drawing/2014/main" id="{98A5A7ED-6D87-40A1-95EF-639DDF65B75D}"/>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Last week: name one condition held steady in the W11 fixed water method.</a:t>
            </a:r>
          </a:p>
        </p:txBody>
      </p:sp>
      <p:sp>
        <p:nvSpPr>
          <p:cNvPr id="9" name="content 3">
            <a:extLst xmlns:a="http://schemas.openxmlformats.org/drawingml/2006/main">
              <a:ext uri="{FF2B5EF4-FFF2-40B4-BE49-F238E27FC236}">
                <a16:creationId xmlns:a16="http://schemas.microsoft.com/office/drawing/2014/main" id="{0E734ED9-C33B-4234-A871-4BDD2DAF48DF}"/>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Lead-in: explain why a fair-test question must name what will be compared.</a:t>
            </a:r>
          </a:p>
        </p:txBody>
      </p:sp>
      <p:sp>
        <p:nvSpPr>
          <p:cNvPr id="10" name="time">
            <a:extLst xmlns:a="http://schemas.openxmlformats.org/drawingml/2006/main">
              <a:ext uri="{FF2B5EF4-FFF2-40B4-BE49-F238E27FC236}">
                <a16:creationId xmlns:a16="http://schemas.microsoft.com/office/drawing/2014/main" id="{D345010A-8BA9-4DA1-A872-EBBE029C306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4 min across this stage</a:t>
            </a:r>
          </a:p>
        </p:txBody>
      </p:sp>
      <p:sp>
        <p:nvSpPr>
          <p:cNvPr id="11" name="number">
            <a:extLst xmlns:a="http://schemas.openxmlformats.org/drawingml/2006/main">
              <a:ext uri="{FF2B5EF4-FFF2-40B4-BE49-F238E27FC236}">
                <a16:creationId xmlns:a16="http://schemas.microsoft.com/office/drawing/2014/main" id="{2AEFDEED-E639-49DB-BE37-036CF937A65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16</a:t>
            </a:r>
          </a:p>
        </p:txBody>
      </p:sp>
    </p:spTree>
    <p:extLst>
      <p:ext uri="{BB962C8B-B14F-4D97-AF65-F5344CB8AC3E}">
        <p14:creationId xmlns:p14="http://schemas.microsoft.com/office/powerpoint/2010/main" val="521021525"/>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92E3A746-2286-49B8-8A46-A85012C47E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2C12AFB-575D-49BC-B763-101649F790B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145D7642-6DEA-476D-BCAE-092DE695445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6DCCF230-5B77-4DB6-AA33-DFF2707BAD6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Team A gives Sample A 5 mL for 120 seconds. Team B gives Sample B 10 mL for 60 seconds. Could a final comparison show which sample let more water through?</a:t>
            </a:r>
          </a:p>
        </p:txBody>
      </p:sp>
      <p:sp>
        <p:nvSpPr>
          <p:cNvPr id="5" name="paper panel">
            <a:extLst xmlns:a="http://schemas.openxmlformats.org/drawingml/2006/main">
              <a:ext uri="{FF2B5EF4-FFF2-40B4-BE49-F238E27FC236}">
                <a16:creationId xmlns:a16="http://schemas.microsoft.com/office/drawing/2014/main" id="{B2C18B63-6DED-4069-8DF7-A25CD035A1A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1D83F26-976C-48ED-8F9A-AA8BEE228D57}"/>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Think first. Point, say, sign or write your choice. Give one reason.</a:t>
            </a:r>
          </a:p>
        </p:txBody>
      </p:sp>
      <p:sp>
        <p:nvSpPr>
          <p:cNvPr id="7" name="content 1">
            <a:extLst xmlns:a="http://schemas.openxmlformats.org/drawingml/2006/main">
              <a:ext uri="{FF2B5EF4-FFF2-40B4-BE49-F238E27FC236}">
                <a16:creationId xmlns:a16="http://schemas.microsoft.com/office/drawing/2014/main" id="{182DC795-3ACC-4D59-8B41-3DFEEAD24E45}"/>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Yes. Any two collected-water numbers make a fair comparison.</a:t>
            </a:r>
          </a:p>
        </p:txBody>
      </p:sp>
      <p:sp>
        <p:nvSpPr>
          <p:cNvPr id="8" name="content 2">
            <a:extLst xmlns:a="http://schemas.openxmlformats.org/drawingml/2006/main">
              <a:ext uri="{FF2B5EF4-FFF2-40B4-BE49-F238E27FC236}">
                <a16:creationId xmlns:a16="http://schemas.microsoft.com/office/drawing/2014/main" id="{60089B4B-48EC-4AE4-B4AC-70BD9855C760}"/>
              </a:ext>
            </a:extLst>
          </p:cNvPr>
          <p:cNvSpPr>
            <a:spLocks xmlns:a="http://schemas.openxmlformats.org/drawingml/2006/main" noGrp="1"/>
          </p:cNvSpPr>
          <p:nvPr/>
        </p:nvSpPr>
        <p:spPr>
          <a:xfrm xmlns:a="http://schemas.openxmlformats.org/drawingml/2006/main">
            <a:off x="800100" y="3086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Not yet. Sample, starting volume and time all changed, so the cause is unclear.</a:t>
            </a:r>
          </a:p>
        </p:txBody>
      </p:sp>
      <p:sp>
        <p:nvSpPr>
          <p:cNvPr id="9" name="content 3">
            <a:extLst xmlns:a="http://schemas.openxmlformats.org/drawingml/2006/main">
              <a:ext uri="{FF2B5EF4-FFF2-40B4-BE49-F238E27FC236}">
                <a16:creationId xmlns:a16="http://schemas.microsoft.com/office/drawing/2014/main" id="{061B1D58-3650-4574-A30D-C10C17DE17BF}"/>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Yes, because using more water always makes a better test.</a:t>
            </a:r>
          </a:p>
        </p:txBody>
      </p:sp>
      <p:sp>
        <p:nvSpPr>
          <p:cNvPr id="10" name="time">
            <a:extLst xmlns:a="http://schemas.openxmlformats.org/drawingml/2006/main">
              <a:ext uri="{FF2B5EF4-FFF2-40B4-BE49-F238E27FC236}">
                <a16:creationId xmlns:a16="http://schemas.microsoft.com/office/drawing/2014/main" id="{327878CB-427E-4DF5-806D-32C5587F00F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4 min across this stage</a:t>
            </a:r>
          </a:p>
        </p:txBody>
      </p:sp>
      <p:sp>
        <p:nvSpPr>
          <p:cNvPr id="11" name="number">
            <a:extLst xmlns:a="http://schemas.openxmlformats.org/drawingml/2006/main">
              <a:ext uri="{FF2B5EF4-FFF2-40B4-BE49-F238E27FC236}">
                <a16:creationId xmlns:a16="http://schemas.microsoft.com/office/drawing/2014/main" id="{5E4399F3-C589-49C8-837D-0264D5B1DE7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16</a:t>
            </a:r>
          </a:p>
        </p:txBody>
      </p:sp>
    </p:spTree>
    <p:extLst>
      <p:ext uri="{BB962C8B-B14F-4D97-AF65-F5344CB8AC3E}">
        <p14:creationId xmlns:p14="http://schemas.microsoft.com/office/powerpoint/2010/main" val="598681835"/>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899D4EDE-3705-4AB3-8B0A-8B40A071FC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168BEBF-3D9F-41DC-B255-069660AAC18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DC1114BC-E7CF-4C93-A23A-30BCB61585E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0348A42A-7F88-4341-81B2-58A06572001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Look closely · what is the evidence?</a:t>
            </a:r>
          </a:p>
        </p:txBody>
      </p:sp>
      <p:sp>
        <p:nvSpPr>
          <p:cNvPr id="5" name="paper panel">
            <a:extLst xmlns:a="http://schemas.openxmlformats.org/drawingml/2006/main">
              <a:ext uri="{FF2B5EF4-FFF2-40B4-BE49-F238E27FC236}">
                <a16:creationId xmlns:a16="http://schemas.microsoft.com/office/drawing/2014/main" id="{6831C26F-53C4-4914-BFF5-69F3672F8A25}"/>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7EBF9DF-1E04-44F2-A836-ACBB7CBE3AE5}"/>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Planned difference: the supplied sample code should change.</a:t>
            </a:r>
          </a:p>
        </p:txBody>
      </p:sp>
      <p:sp>
        <p:nvSpPr>
          <p:cNvPr id="7" name="content 1">
            <a:extLst xmlns:a="http://schemas.openxmlformats.org/drawingml/2006/main">
              <a:ext uri="{FF2B5EF4-FFF2-40B4-BE49-F238E27FC236}">
                <a16:creationId xmlns:a16="http://schemas.microsoft.com/office/drawing/2014/main" id="{BE4A48B5-D8DB-4DE3-919C-143101254030}"/>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Unplanned difference: starting water changes from 5 mL to 10 mL.</a:t>
            </a:r>
          </a:p>
        </p:txBody>
      </p:sp>
      <p:sp>
        <p:nvSpPr>
          <p:cNvPr id="8" name="content 2">
            <a:extLst xmlns:a="http://schemas.openxmlformats.org/drawingml/2006/main">
              <a:ext uri="{FF2B5EF4-FFF2-40B4-BE49-F238E27FC236}">
                <a16:creationId xmlns:a16="http://schemas.microsoft.com/office/drawing/2014/main" id="{0898CAC1-9D71-4B3C-B3FB-7B16495C5CAE}"/>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Unplanned difference: test time changes from 120 seconds to 60 seconds.</a:t>
            </a:r>
          </a:p>
        </p:txBody>
      </p:sp>
      <p:sp>
        <p:nvSpPr>
          <p:cNvPr id="9" name="time">
            <a:extLst xmlns:a="http://schemas.openxmlformats.org/drawingml/2006/main">
              <a:ext uri="{FF2B5EF4-FFF2-40B4-BE49-F238E27FC236}">
                <a16:creationId xmlns:a16="http://schemas.microsoft.com/office/drawing/2014/main" id="{94F90F22-7EC4-4FCB-B267-EDED1D9949D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4 min across this stage</a:t>
            </a:r>
          </a:p>
        </p:txBody>
      </p:sp>
      <p:sp>
        <p:nvSpPr>
          <p:cNvPr id="10" name="number">
            <a:extLst xmlns:a="http://schemas.openxmlformats.org/drawingml/2006/main">
              <a:ext uri="{FF2B5EF4-FFF2-40B4-BE49-F238E27FC236}">
                <a16:creationId xmlns:a16="http://schemas.microsoft.com/office/drawing/2014/main" id="{02760405-FD36-468F-8C23-C94CA5FE3E3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16</a:t>
            </a:r>
          </a:p>
        </p:txBody>
      </p:sp>
    </p:spTree>
    <p:extLst>
      <p:ext uri="{BB962C8B-B14F-4D97-AF65-F5344CB8AC3E}">
        <p14:creationId xmlns:p14="http://schemas.microsoft.com/office/powerpoint/2010/main" val="1286978015"/>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3E04BAD5-6C67-4C34-960E-23F0D458260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B500309-E024-4F63-BCAC-4ABEC7C8AC6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1A90218E-59CF-4BFE-9736-5303B51C3B6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28123DB4-857D-4F65-AEE7-CF462E2C8CA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Look closely · what is the evidence?</a:t>
            </a:r>
          </a:p>
        </p:txBody>
      </p:sp>
      <p:sp>
        <p:nvSpPr>
          <p:cNvPr id="5" name="paper panel">
            <a:extLst xmlns:a="http://schemas.openxmlformats.org/drawingml/2006/main">
              <a:ext uri="{FF2B5EF4-FFF2-40B4-BE49-F238E27FC236}">
                <a16:creationId xmlns:a16="http://schemas.microsoft.com/office/drawing/2014/main" id="{C5DD7BE5-FFBB-4AEB-B592-A9AD4931BA7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e4d6de8e6354db4"/>
          <a:stretch xmlns:a="http://schemas.openxmlformats.org/drawingml/2006/main"/>
        </p:blipFill>
        <p:spPr>
          <a:xfrm xmlns:a="http://schemas.openxmlformats.org/drawingml/2006/main">
            <a:off x="800100" y="2836863"/>
            <a:ext cx="3378200" cy="1689100"/>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897C12C1-4D83-41D1-982C-B965665145A0}"/>
              </a:ext>
            </a:extLst>
          </p:cNvPr>
          <p:cNvSpPr>
            <a:spLocks xmlns:a="http://schemas.openxmlformats.org/drawingml/2006/main" noGrp="1"/>
          </p:cNvSpPr>
          <p:nvPr/>
        </p:nvSpPr>
        <p:spPr>
          <a:xfrm xmlns:a="http://schemas.openxmlformats.org/drawingml/2006/main">
            <a:off x="8001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Two teams differing only in sample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744e6f86aca41e9"/>
          <a:stretch xmlns:a="http://schemas.openxmlformats.org/drawingml/2006/main"/>
        </p:blipFill>
        <p:spPr>
          <a:xfrm xmlns:a="http://schemas.openxmlformats.org/drawingml/2006/main">
            <a:off x="4406900" y="2836863"/>
            <a:ext cx="3378200" cy="1689100"/>
          </a:xfrm>
          <a:prstGeom xmlns:a="http://schemas.openxmlformats.org/drawingml/2006/main" prst="rect">
            <a:avLst/>
          </a:prstGeom>
        </p:spPr>
      </p:pic>
      <p:sp>
        <p:nvSpPr>
          <p:cNvPr id="9" name="visual caption 1">
            <a:extLst xmlns:a="http://schemas.openxmlformats.org/drawingml/2006/main">
              <a:ext uri="{FF2B5EF4-FFF2-40B4-BE49-F238E27FC236}">
                <a16:creationId xmlns:a16="http://schemas.microsoft.com/office/drawing/2014/main" id="{7BBB4223-89B2-400C-A831-243B19D01AF7}"/>
              </a:ext>
            </a:extLst>
          </p:cNvPr>
          <p:cNvSpPr>
            <a:spLocks xmlns:a="http://schemas.openxmlformats.org/drawingml/2006/main" noGrp="1"/>
          </p:cNvSpPr>
          <p:nvPr/>
        </p:nvSpPr>
        <p:spPr>
          <a:xfrm xmlns:a="http://schemas.openxmlformats.org/drawingml/2006/main">
            <a:off x="44069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Team B used more water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62bf2d3f72b4dd0"/>
          <a:stretch xmlns:a="http://schemas.openxmlformats.org/drawingml/2006/main"/>
        </p:blipFill>
        <p:spPr>
          <a:xfrm xmlns:a="http://schemas.openxmlformats.org/drawingml/2006/main">
            <a:off x="8013700" y="2836863"/>
            <a:ext cx="3378200" cy="1689100"/>
          </a:xfrm>
          <a:prstGeom xmlns:a="http://schemas.openxmlformats.org/drawingml/2006/main" prst="rect">
            <a:avLst/>
          </a:prstGeom>
        </p:spPr>
      </p:pic>
      <p:sp>
        <p:nvSpPr>
          <p:cNvPr id="11" name="visual caption 2">
            <a:extLst xmlns:a="http://schemas.openxmlformats.org/drawingml/2006/main">
              <a:ext uri="{FF2B5EF4-FFF2-40B4-BE49-F238E27FC236}">
                <a16:creationId xmlns:a16="http://schemas.microsoft.com/office/drawing/2014/main" id="{608B4B89-F294-41B3-A02F-AB93487127CE}"/>
              </a:ext>
            </a:extLst>
          </p:cNvPr>
          <p:cNvSpPr>
            <a:spLocks xmlns:a="http://schemas.openxmlformats.org/drawingml/2006/main" noGrp="1"/>
          </p:cNvSpPr>
          <p:nvPr/>
        </p:nvSpPr>
        <p:spPr>
          <a:xfrm xmlns:a="http://schemas.openxmlformats.org/drawingml/2006/main">
            <a:off x="8013700" y="5314950"/>
            <a:ext cx="3378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0233F"/>
                </a:solidFill>
                <a:latin typeface="Arial"/>
                <a:ea typeface="Arial"/>
                <a:cs typeface="Arial"/>
              </a:defRPr>
            </a:pPr>
            <a:r>
              <a:rPr sz="1500" b="0">
                <a:solidFill>
                  <a:srgbClr val="10233F"/>
                </a:solidFill>
                <a:latin typeface="Arial"/>
                <a:ea typeface="Arial"/>
                <a:cs typeface="Arial"/>
              </a:rPr>
              <a:t>Team B also used less time</a:t>
            </a:r>
          </a:p>
        </p:txBody>
      </p:sp>
      <p:sp>
        <p:nvSpPr>
          <p:cNvPr id="12" name="time">
            <a:extLst xmlns:a="http://schemas.openxmlformats.org/drawingml/2006/main">
              <a:ext uri="{FF2B5EF4-FFF2-40B4-BE49-F238E27FC236}">
                <a16:creationId xmlns:a16="http://schemas.microsoft.com/office/drawing/2014/main" id="{04176C52-30C5-4ED3-9F26-A642D86BB77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4 min across this stage</a:t>
            </a:r>
          </a:p>
        </p:txBody>
      </p:sp>
      <p:sp>
        <p:nvSpPr>
          <p:cNvPr id="13" name="number">
            <a:extLst xmlns:a="http://schemas.openxmlformats.org/drawingml/2006/main">
              <a:ext uri="{FF2B5EF4-FFF2-40B4-BE49-F238E27FC236}">
                <a16:creationId xmlns:a16="http://schemas.microsoft.com/office/drawing/2014/main" id="{A1C13B6D-BAE4-428F-B91E-008888F787E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16</a:t>
            </a:r>
          </a:p>
        </p:txBody>
      </p:sp>
    </p:spTree>
    <p:extLst>
      <p:ext uri="{BB962C8B-B14F-4D97-AF65-F5344CB8AC3E}">
        <p14:creationId xmlns:p14="http://schemas.microsoft.com/office/powerpoint/2010/main" val="330299641"/>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84C08FE2-7C2D-4874-98DC-13FABF9D2AE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D73F238-ACE5-4028-9373-7F1F6D05891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18D69A89-1621-43BC-8132-5FAC3390984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1014AC7F-4E86-42A5-B6F7-B5DAB54A0D6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Words we will use</a:t>
            </a:r>
          </a:p>
        </p:txBody>
      </p:sp>
      <p:sp>
        <p:nvSpPr>
          <p:cNvPr id="5" name="paper panel">
            <a:extLst xmlns:a="http://schemas.openxmlformats.org/drawingml/2006/main">
              <a:ext uri="{FF2B5EF4-FFF2-40B4-BE49-F238E27FC236}">
                <a16:creationId xmlns:a16="http://schemas.microsoft.com/office/drawing/2014/main" id="{22D2B2FD-27AC-4E86-A3F0-F1BF6BBECED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F80C971-47A6-4E60-ADC3-1AA8B261B711}"/>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variable — a factor that can change</a:t>
            </a:r>
          </a:p>
        </p:txBody>
      </p:sp>
      <p:sp>
        <p:nvSpPr>
          <p:cNvPr id="7" name="content 1">
            <a:extLst xmlns:a="http://schemas.openxmlformats.org/drawingml/2006/main">
              <a:ext uri="{FF2B5EF4-FFF2-40B4-BE49-F238E27FC236}">
                <a16:creationId xmlns:a16="http://schemas.microsoft.com/office/drawing/2014/main" id="{D211AE73-AC44-4D31-AF82-F8950C81ECEB}"/>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control — keep this the same</a:t>
            </a:r>
          </a:p>
        </p:txBody>
      </p:sp>
      <p:sp>
        <p:nvSpPr>
          <p:cNvPr id="8" name="content 2">
            <a:extLst xmlns:a="http://schemas.openxmlformats.org/drawingml/2006/main">
              <a:ext uri="{FF2B5EF4-FFF2-40B4-BE49-F238E27FC236}">
                <a16:creationId xmlns:a16="http://schemas.microsoft.com/office/drawing/2014/main" id="{966D2182-6100-43EF-9848-95C3EB62664A}"/>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repeat — do the same method again</a:t>
            </a:r>
          </a:p>
        </p:txBody>
      </p:sp>
      <p:sp>
        <p:nvSpPr>
          <p:cNvPr id="9" name="time">
            <a:extLst xmlns:a="http://schemas.openxmlformats.org/drawingml/2006/main">
              <a:ext uri="{FF2B5EF4-FFF2-40B4-BE49-F238E27FC236}">
                <a16:creationId xmlns:a16="http://schemas.microsoft.com/office/drawing/2014/main" id="{F554DCEC-895A-4F4F-A976-97866576915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5 min across this stage</a:t>
            </a:r>
          </a:p>
        </p:txBody>
      </p:sp>
      <p:sp>
        <p:nvSpPr>
          <p:cNvPr id="10" name="number">
            <a:extLst xmlns:a="http://schemas.openxmlformats.org/drawingml/2006/main">
              <a:ext uri="{FF2B5EF4-FFF2-40B4-BE49-F238E27FC236}">
                <a16:creationId xmlns:a16="http://schemas.microsoft.com/office/drawing/2014/main" id="{1C7B3B36-BEA4-40B0-BC25-D3FBC66A3C8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16</a:t>
            </a:r>
          </a:p>
        </p:txBody>
      </p:sp>
    </p:spTree>
    <p:extLst>
      <p:ext uri="{BB962C8B-B14F-4D97-AF65-F5344CB8AC3E}">
        <p14:creationId xmlns:p14="http://schemas.microsoft.com/office/powerpoint/2010/main" val="1044671682"/>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C3CA64C4-20A8-4C2D-ACD8-7906BD75558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4B2399E-AFE0-48E4-81EF-47EAD489AD2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227B2F9C-A1F4-43B4-B190-0A4BB50E0463}"/>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BF5C72F7-C69E-40D0-B40B-1FCD74D5CB2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Watch the model</a:t>
            </a:r>
          </a:p>
        </p:txBody>
      </p:sp>
      <p:sp>
        <p:nvSpPr>
          <p:cNvPr id="5" name="paper panel">
            <a:extLst xmlns:a="http://schemas.openxmlformats.org/drawingml/2006/main">
              <a:ext uri="{FF2B5EF4-FFF2-40B4-BE49-F238E27FC236}">
                <a16:creationId xmlns:a16="http://schemas.microsoft.com/office/drawing/2014/main" id="{2ADD2497-726A-41A3-8368-B44EFE77B0E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6258FC1-D67C-4EF4-9CB7-CD00C7EBC491}"/>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Write the W14 question: Which supplied coded sample lets more water through in 120 seconds under this method?</a:t>
            </a:r>
          </a:p>
        </p:txBody>
      </p:sp>
      <p:sp>
        <p:nvSpPr>
          <p:cNvPr id="7" name="content 1">
            <a:extLst xmlns:a="http://schemas.openxmlformats.org/drawingml/2006/main">
              <a:ext uri="{FF2B5EF4-FFF2-40B4-BE49-F238E27FC236}">
                <a16:creationId xmlns:a16="http://schemas.microsoft.com/office/drawing/2014/main" id="{6D25F344-8DDB-4C0F-BF0F-1D7ABF97A2B6}"/>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Change only the sample code. Measure water collected below in mL. Keep 5 mL starting volume and 120-second time the same.</a:t>
            </a:r>
          </a:p>
        </p:txBody>
      </p:sp>
      <p:sp>
        <p:nvSpPr>
          <p:cNvPr id="8" name="content 2">
            <a:extLst xmlns:a="http://schemas.openxmlformats.org/drawingml/2006/main">
              <a:ext uri="{FF2B5EF4-FFF2-40B4-BE49-F238E27FC236}">
                <a16:creationId xmlns:a16="http://schemas.microsoft.com/office/drawing/2014/main" id="{D70F16AC-FD7F-4E86-AEE9-73287F180D5E}"/>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Add the less visible controls: same sealed collar area, matched prepared thickness, dry starting condition, stable rig and measuring tool.</a:t>
            </a:r>
          </a:p>
        </p:txBody>
      </p:sp>
      <p:sp>
        <p:nvSpPr>
          <p:cNvPr id="9" name="time">
            <a:extLst xmlns:a="http://schemas.openxmlformats.org/drawingml/2006/main">
              <a:ext uri="{FF2B5EF4-FFF2-40B4-BE49-F238E27FC236}">
                <a16:creationId xmlns:a16="http://schemas.microsoft.com/office/drawing/2014/main" id="{73568290-06BA-426B-BE55-567E277C197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5 min across this stage</a:t>
            </a:r>
          </a:p>
        </p:txBody>
      </p:sp>
      <p:sp>
        <p:nvSpPr>
          <p:cNvPr id="10" name="number">
            <a:extLst xmlns:a="http://schemas.openxmlformats.org/drawingml/2006/main">
              <a:ext uri="{FF2B5EF4-FFF2-40B4-BE49-F238E27FC236}">
                <a16:creationId xmlns:a16="http://schemas.microsoft.com/office/drawing/2014/main" id="{11A28635-865D-4A3A-B03F-FDFC9A34798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16</a:t>
            </a:r>
          </a:p>
        </p:txBody>
      </p:sp>
    </p:spTree>
    <p:extLst>
      <p:ext uri="{BB962C8B-B14F-4D97-AF65-F5344CB8AC3E}">
        <p14:creationId xmlns:p14="http://schemas.microsoft.com/office/powerpoint/2010/main" val="783893254"/>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601C6D80-1D13-4D00-A0E7-8AE4EAC3159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DBDD7742-91D5-4583-867C-5CAFA6F80EC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66934284-D2FC-4BA6-BFD4-60E82DD41F6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4F2BC846-310A-4540-A4F5-FA50004D4FD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Which plan changes one factor and measures one result?</a:t>
            </a:r>
          </a:p>
        </p:txBody>
      </p:sp>
      <p:sp>
        <p:nvSpPr>
          <p:cNvPr id="5" name="paper panel">
            <a:extLst xmlns:a="http://schemas.openxmlformats.org/drawingml/2006/main">
              <a:ext uri="{FF2B5EF4-FFF2-40B4-BE49-F238E27FC236}">
                <a16:creationId xmlns:a16="http://schemas.microsoft.com/office/drawing/2014/main" id="{690896AC-CC5A-4A14-B692-5BAE9328E43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4B1CBC9-1EC8-46ED-905A-85E193CAC9ED}"/>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Change sample code; measure water collected in mL; keep volume, time, area and thickness the same.</a:t>
            </a:r>
          </a:p>
        </p:txBody>
      </p:sp>
      <p:sp>
        <p:nvSpPr>
          <p:cNvPr id="7" name="content 1">
            <a:extLst xmlns:a="http://schemas.openxmlformats.org/drawingml/2006/main">
              <a:ext uri="{FF2B5EF4-FFF2-40B4-BE49-F238E27FC236}">
                <a16:creationId xmlns:a16="http://schemas.microsoft.com/office/drawing/2014/main" id="{171161FC-0B33-4145-ABCD-ECA60B9E143F}"/>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Change sample, water volume and time; measure whichever result appears.</a:t>
            </a:r>
          </a:p>
        </p:txBody>
      </p:sp>
      <p:sp>
        <p:nvSpPr>
          <p:cNvPr id="8" name="content 2">
            <a:extLst xmlns:a="http://schemas.openxmlformats.org/drawingml/2006/main">
              <a:ext uri="{FF2B5EF4-FFF2-40B4-BE49-F238E27FC236}">
                <a16:creationId xmlns:a16="http://schemas.microsoft.com/office/drawing/2014/main" id="{AC766589-7445-4132-9A78-99CF39DC6FF0}"/>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Scratch A, wet B and compare the two different observations as permeability.</a:t>
            </a:r>
          </a:p>
        </p:txBody>
      </p:sp>
      <p:sp>
        <p:nvSpPr>
          <p:cNvPr id="9" name="content 3">
            <a:extLst xmlns:a="http://schemas.openxmlformats.org/drawingml/2006/main">
              <a:ext uri="{FF2B5EF4-FFF2-40B4-BE49-F238E27FC236}">
                <a16:creationId xmlns:a16="http://schemas.microsoft.com/office/drawing/2014/main" id="{6ACC0AD1-0C0E-416B-827F-B02E327E7318}"/>
              </a:ext>
            </a:extLst>
          </p:cNvPr>
          <p:cNvSpPr>
            <a:spLocks xmlns:a="http://schemas.openxmlformats.org/drawingml/2006/main" noGrp="1"/>
          </p:cNvSpPr>
          <p:nvPr/>
        </p:nvSpPr>
        <p:spPr>
          <a:xfrm xmlns:a="http://schemas.openxmlformats.org/drawingml/2006/main">
            <a:off x="800100" y="4210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Commit to an answer. Show the evidence you used. Listen, then revise if needed.</a:t>
            </a:r>
          </a:p>
        </p:txBody>
      </p:sp>
      <p:sp>
        <p:nvSpPr>
          <p:cNvPr id="10" name="time">
            <a:extLst xmlns:a="http://schemas.openxmlformats.org/drawingml/2006/main">
              <a:ext uri="{FF2B5EF4-FFF2-40B4-BE49-F238E27FC236}">
                <a16:creationId xmlns:a16="http://schemas.microsoft.com/office/drawing/2014/main" id="{E856DA05-6C29-4576-A25D-0C7C3D1D63B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5 min across this stage</a:t>
            </a:r>
          </a:p>
        </p:txBody>
      </p:sp>
      <p:sp>
        <p:nvSpPr>
          <p:cNvPr id="11" name="number">
            <a:extLst xmlns:a="http://schemas.openxmlformats.org/drawingml/2006/main">
              <a:ext uri="{FF2B5EF4-FFF2-40B4-BE49-F238E27FC236}">
                <a16:creationId xmlns:a16="http://schemas.microsoft.com/office/drawing/2014/main" id="{5EBFD37A-54FF-49BE-B15A-DF7ADA775E1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16</a:t>
            </a:r>
          </a:p>
        </p:txBody>
      </p:sp>
    </p:spTree>
    <p:extLst>
      <p:ext uri="{BB962C8B-B14F-4D97-AF65-F5344CB8AC3E}">
        <p14:creationId xmlns:p14="http://schemas.microsoft.com/office/powerpoint/2010/main" val="369393677"/>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7487AA5B-6B69-4BBD-B210-4DD442B0AD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A6806B8-A98C-4E4A-BBA4-EB206FC079D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3D276B7C-CC65-4C26-851E-BE36D5CE251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E3311C57-EAEA-4258-8B97-C07747CFD5B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Build the explanation</a:t>
            </a:r>
          </a:p>
        </p:txBody>
      </p:sp>
      <p:sp>
        <p:nvSpPr>
          <p:cNvPr id="5" name="paper panel">
            <a:extLst xmlns:a="http://schemas.openxmlformats.org/drawingml/2006/main">
              <a:ext uri="{FF2B5EF4-FFF2-40B4-BE49-F238E27FC236}">
                <a16:creationId xmlns:a16="http://schemas.microsoft.com/office/drawing/2014/main" id="{45381400-CB5D-48AC-AD89-B71B8A8E938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5D68DAC-2C58-48B0-A3C6-3DD48C6098B0}"/>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Plan the W14 repeats before seeing final results. Use staff-prepared dry matched pieces and preserve every valid raw value.</a:t>
            </a:r>
          </a:p>
        </p:txBody>
      </p:sp>
      <p:sp>
        <p:nvSpPr>
          <p:cNvPr id="7" name="content 1">
            <a:extLst xmlns:a="http://schemas.openxmlformats.org/drawingml/2006/main">
              <a:ext uri="{FF2B5EF4-FFF2-40B4-BE49-F238E27FC236}">
                <a16:creationId xmlns:a16="http://schemas.microsoft.com/office/drawing/2014/main" id="{D4850E1A-7B0B-460B-8B64-65BC1FE647BF}"/>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Prepare the pilot question separately: Can our instructions, seal, timer and table produce one valid practice record? The W13B pilot tests the method, not which final sample wins.</a:t>
            </a:r>
          </a:p>
        </p:txBody>
      </p:sp>
      <p:sp>
        <p:nvSpPr>
          <p:cNvPr id="8" name="content 2">
            <a:extLst xmlns:a="http://schemas.openxmlformats.org/drawingml/2006/main">
              <a:ext uri="{FF2B5EF4-FFF2-40B4-BE49-F238E27FC236}">
                <a16:creationId xmlns:a16="http://schemas.microsoft.com/office/drawing/2014/main" id="{8F14A8CF-F32E-40D3-9F84-20DD3F719451}"/>
              </a:ext>
            </a:extLst>
          </p:cNvPr>
          <p:cNvSpPr>
            <a:spLocks xmlns:a="http://schemas.openxmlformats.org/drawingml/2006/main" noGrp="1"/>
          </p:cNvSpPr>
          <p:nvPr/>
        </p:nvSpPr>
        <p:spPr>
          <a:xfrm xmlns:a="http://schemas.openxmlformats.org/drawingml/2006/main">
            <a:off x="800100" y="40862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Add the safety stop: staff build and pretest rigs; stop for leaks, instability, damage, flaking, dust or unclear measurement and switch to the fixed pilot route.</a:t>
            </a:r>
          </a:p>
        </p:txBody>
      </p:sp>
      <p:sp>
        <p:nvSpPr>
          <p:cNvPr id="9" name="time">
            <a:extLst xmlns:a="http://schemas.openxmlformats.org/drawingml/2006/main">
              <a:ext uri="{FF2B5EF4-FFF2-40B4-BE49-F238E27FC236}">
                <a16:creationId xmlns:a16="http://schemas.microsoft.com/office/drawing/2014/main" id="{8311BE9C-9C7C-41B9-B8AD-ACA126DE098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4 min across this stage</a:t>
            </a:r>
          </a:p>
        </p:txBody>
      </p:sp>
      <p:sp>
        <p:nvSpPr>
          <p:cNvPr id="10" name="number">
            <a:extLst xmlns:a="http://schemas.openxmlformats.org/drawingml/2006/main">
              <a:ext uri="{FF2B5EF4-FFF2-40B4-BE49-F238E27FC236}">
                <a16:creationId xmlns:a16="http://schemas.microsoft.com/office/drawing/2014/main" id="{95F2CE8A-CA54-441E-AB46-82252FE2629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16</a:t>
            </a:r>
          </a:p>
        </p:txBody>
      </p:sp>
    </p:spTree>
    <p:extLst>
      <p:ext uri="{BB962C8B-B14F-4D97-AF65-F5344CB8AC3E}">
        <p14:creationId xmlns:p14="http://schemas.microsoft.com/office/powerpoint/2010/main" val="713841956"/>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B9212AEB-2B54-4C0E-BB11-B8CD78D0E7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C3FA74C-79AD-4732-8F63-A03CF1DB891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BBC987DB-03E6-4A2D-86F5-2CA139D4E01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00A17971-E8E9-4872-8230-AD9674333A2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Find and repair the misconception</a:t>
            </a:r>
          </a:p>
        </p:txBody>
      </p:sp>
      <p:sp>
        <p:nvSpPr>
          <p:cNvPr id="5" name="paper panel">
            <a:extLst xmlns:a="http://schemas.openxmlformats.org/drawingml/2006/main">
              <a:ext uri="{FF2B5EF4-FFF2-40B4-BE49-F238E27FC236}">
                <a16:creationId xmlns:a16="http://schemas.microsoft.com/office/drawing/2014/main" id="{05E44C9F-80B4-4850-93E5-60D50AA6BDE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5B5A234-C72F-4E64-A49F-CD0786D40607}"/>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Planner glitch: a fair test is one where all samples get the same result.</a:t>
            </a:r>
          </a:p>
        </p:txBody>
      </p:sp>
      <p:sp>
        <p:nvSpPr>
          <p:cNvPr id="7" name="content 1">
            <a:extLst xmlns:a="http://schemas.openxmlformats.org/drawingml/2006/main">
              <a:ext uri="{FF2B5EF4-FFF2-40B4-BE49-F238E27FC236}">
                <a16:creationId xmlns:a16="http://schemas.microsoft.com/office/drawing/2014/main" id="{A347BD93-125E-4345-9B10-78A08DD57264}"/>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Keep it: equal outcomes prove fairness.</a:t>
            </a:r>
          </a:p>
        </p:txBody>
      </p:sp>
      <p:sp>
        <p:nvSpPr>
          <p:cNvPr id="8" name="content 2">
            <a:extLst xmlns:a="http://schemas.openxmlformats.org/drawingml/2006/main">
              <a:ext uri="{FF2B5EF4-FFF2-40B4-BE49-F238E27FC236}">
                <a16:creationId xmlns:a16="http://schemas.microsoft.com/office/drawing/2014/main" id="{10386809-C43A-4640-A220-CCB2F7D0CCFA}"/>
              </a:ext>
            </a:extLst>
          </p:cNvPr>
          <p:cNvSpPr>
            <a:spLocks xmlns:a="http://schemas.openxmlformats.org/drawingml/2006/main" noGrp="1"/>
          </p:cNvSpPr>
          <p:nvPr/>
        </p:nvSpPr>
        <p:spPr>
          <a:xfrm xmlns:a="http://schemas.openxmlformats.org/drawingml/2006/main">
            <a:off x="800100" y="30861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Repair it: fair describes method control while one planned factor changes; final results may differ.</a:t>
            </a:r>
          </a:p>
        </p:txBody>
      </p:sp>
      <p:sp>
        <p:nvSpPr>
          <p:cNvPr id="9" name="content 3">
            <a:extLst xmlns:a="http://schemas.openxmlformats.org/drawingml/2006/main">
              <a:ext uri="{FF2B5EF4-FFF2-40B4-BE49-F238E27FC236}">
                <a16:creationId xmlns:a16="http://schemas.microsoft.com/office/drawing/2014/main" id="{4309D7D7-3543-4DDF-9DD1-3788EE79A910}"/>
              </a:ext>
            </a:extLst>
          </p:cNvPr>
          <p:cNvSpPr>
            <a:spLocks xmlns:a="http://schemas.openxmlformats.org/drawingml/2006/main" noGrp="1"/>
          </p:cNvSpPr>
          <p:nvPr/>
        </p:nvSpPr>
        <p:spPr>
          <a:xfrm xmlns:a="http://schemas.openxmlformats.org/drawingml/2006/main">
            <a:off x="800100" y="38766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Repair it: use the pilot value as the final conclusion before testing A and B.</a:t>
            </a:r>
          </a:p>
        </p:txBody>
      </p:sp>
      <p:sp>
        <p:nvSpPr>
          <p:cNvPr id="10" name="time">
            <a:extLst xmlns:a="http://schemas.openxmlformats.org/drawingml/2006/main">
              <a:ext uri="{FF2B5EF4-FFF2-40B4-BE49-F238E27FC236}">
                <a16:creationId xmlns:a16="http://schemas.microsoft.com/office/drawing/2014/main" id="{2BC53E1E-25E1-4924-BDD0-E781A7605AC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4 min across this stage</a:t>
            </a:r>
          </a:p>
        </p:txBody>
      </p:sp>
      <p:sp>
        <p:nvSpPr>
          <p:cNvPr id="11" name="number">
            <a:extLst xmlns:a="http://schemas.openxmlformats.org/drawingml/2006/main">
              <a:ext uri="{FF2B5EF4-FFF2-40B4-BE49-F238E27FC236}">
                <a16:creationId xmlns:a16="http://schemas.microsoft.com/office/drawing/2014/main" id="{965C6C07-9EAB-4548-B789-D9FFE1B575E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16</a:t>
            </a:r>
          </a:p>
        </p:txBody>
      </p:sp>
    </p:spTree>
    <p:extLst>
      <p:ext uri="{BB962C8B-B14F-4D97-AF65-F5344CB8AC3E}">
        <p14:creationId xmlns:p14="http://schemas.microsoft.com/office/powerpoint/2010/main" val="1400665311"/>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135F9EFE-ACE3-45AD-A1B3-807BF5A5C8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0355007-4322-4BD2-8EF5-4BAB1D47AB9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B75B4BC-7927-431C-B549-2CE17934745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3A88B734-2AC4-4E6C-A804-B0AF2EC9BEC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W14 fair-test control board</a:t>
            </a:r>
          </a:p>
        </p:txBody>
      </p:sp>
      <p:sp>
        <p:nvSpPr>
          <p:cNvPr id="5" name="paper panel">
            <a:extLst xmlns:a="http://schemas.openxmlformats.org/drawingml/2006/main">
              <a:ext uri="{FF2B5EF4-FFF2-40B4-BE49-F238E27FC236}">
                <a16:creationId xmlns:a16="http://schemas.microsoft.com/office/drawing/2014/main" id="{4CFF784D-686D-4CCF-B417-B0560013392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05E3016-D9FA-4904-B880-57F3DCF3333B}"/>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Route each plan card to CHANGE, MEASURE, KEEP THE SAME or REPEAT / PILOT / SAFETY.</a:t>
            </a:r>
          </a:p>
        </p:txBody>
      </p:sp>
      <p:sp>
        <p:nvSpPr>
          <p:cNvPr id="7" name="content 1">
            <a:extLst xmlns:a="http://schemas.openxmlformats.org/drawingml/2006/main">
              <a:ext uri="{FF2B5EF4-FFF2-40B4-BE49-F238E27FC236}">
                <a16:creationId xmlns:a16="http://schemas.microsoft.com/office/drawing/2014/main" id="{D53455BB-FD79-4316-AFDE-44AC3F3F8E8A}"/>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Read the factor or action.</a:t>
            </a:r>
          </a:p>
        </p:txBody>
      </p:sp>
      <p:sp>
        <p:nvSpPr>
          <p:cNvPr id="8" name="content 2">
            <a:extLst xmlns:a="http://schemas.openxmlformats.org/drawingml/2006/main">
              <a:ext uri="{FF2B5EF4-FFF2-40B4-BE49-F238E27FC236}">
                <a16:creationId xmlns:a16="http://schemas.microsoft.com/office/drawing/2014/main" id="{352855CD-DFD9-403A-9685-E26146FFF978}"/>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Decide its job in the plan.</a:t>
            </a:r>
          </a:p>
        </p:txBody>
      </p:sp>
      <p:sp>
        <p:nvSpPr>
          <p:cNvPr id="9" name="content 3">
            <a:extLst xmlns:a="http://schemas.openxmlformats.org/drawingml/2006/main">
              <a:ext uri="{FF2B5EF4-FFF2-40B4-BE49-F238E27FC236}">
                <a16:creationId xmlns:a16="http://schemas.microsoft.com/office/drawing/2014/main" id="{BA88FE49-9A88-4190-83B5-20D4EF03DB23}"/>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Commit and repair any mismatch.</a:t>
            </a:r>
          </a:p>
        </p:txBody>
      </p:sp>
      <p:sp>
        <p:nvSpPr>
          <p:cNvPr id="10" name="content 4">
            <a:extLst xmlns:a="http://schemas.openxmlformats.org/drawingml/2006/main">
              <a:ext uri="{FF2B5EF4-FFF2-40B4-BE49-F238E27FC236}">
                <a16:creationId xmlns:a16="http://schemas.microsoft.com/office/drawing/2014/main" id="{17C3FF5A-A4F9-4986-B525-D17A3E30BA27}"/>
              </a:ext>
            </a:extLst>
          </p:cNvPr>
          <p:cNvSpPr>
            <a:spLocks xmlns:a="http://schemas.openxmlformats.org/drawingml/2006/main" noGrp="1"/>
          </p:cNvSpPr>
          <p:nvPr/>
        </p:nvSpPr>
        <p:spPr>
          <a:xfrm xmlns:a="http://schemas.openxmlformats.org/drawingml/2006/main">
            <a:off x="800100" y="43338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Freeze a complete method, then rehearse it for approval.</a:t>
            </a:r>
          </a:p>
        </p:txBody>
      </p:sp>
      <p:sp>
        <p:nvSpPr>
          <p:cNvPr id="11" name="content 5">
            <a:extLst xmlns:a="http://schemas.openxmlformats.org/drawingml/2006/main">
              <a:ext uri="{FF2B5EF4-FFF2-40B4-BE49-F238E27FC236}">
                <a16:creationId xmlns:a16="http://schemas.microsoft.com/office/drawing/2014/main" id="{70EF9650-6BEA-438F-97FC-CB09D164AE32}"/>
              </a:ext>
            </a:extLst>
          </p:cNvPr>
          <p:cNvSpPr>
            <a:spLocks xmlns:a="http://schemas.openxmlformats.org/drawingml/2006/main" noGrp="1"/>
          </p:cNvSpPr>
          <p:nvPr/>
        </p:nvSpPr>
        <p:spPr>
          <a:xfrm xmlns:a="http://schemas.openxmlformats.org/drawingml/2006/main">
            <a:off x="800100" y="47910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the numbered cards in your pupil pack. Take turns to choose, justify and check. You may direct a partner to move a card.</a:t>
            </a:r>
          </a:p>
        </p:txBody>
      </p:sp>
      <p:sp>
        <p:nvSpPr>
          <p:cNvPr id="12" name="time">
            <a:extLst xmlns:a="http://schemas.openxmlformats.org/drawingml/2006/main">
              <a:ext uri="{FF2B5EF4-FFF2-40B4-BE49-F238E27FC236}">
                <a16:creationId xmlns:a16="http://schemas.microsoft.com/office/drawing/2014/main" id="{1E02D4A6-D7A1-46C7-A721-63A4331B246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3" name="number">
            <a:extLst xmlns:a="http://schemas.openxmlformats.org/drawingml/2006/main">
              <a:ext uri="{FF2B5EF4-FFF2-40B4-BE49-F238E27FC236}">
                <a16:creationId xmlns:a16="http://schemas.microsoft.com/office/drawing/2014/main" id="{C17A0FF3-A24E-405D-8D7C-85AA6205159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16</a:t>
            </a:r>
          </a:p>
        </p:txBody>
      </p:sp>
    </p:spTree>
    <p:extLst>
      <p:ext uri="{BB962C8B-B14F-4D97-AF65-F5344CB8AC3E}">
        <p14:creationId xmlns:p14="http://schemas.microsoft.com/office/powerpoint/2010/main" val="841919383"/>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84052169-6C3D-4F9B-896C-C62F7BDF988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3296CBA-F7B6-46E2-AC65-1AC2A1C8A05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18257D19-C78B-4EB3-95EA-108B4A0FA36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519B1B3C-B85A-42AF-9F96-B0852074F7F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a group · defend your placement</a:t>
            </a:r>
          </a:p>
        </p:txBody>
      </p:sp>
      <p:sp>
        <p:nvSpPr>
          <p:cNvPr id="5" name="paper panel">
            <a:extLst xmlns:a="http://schemas.openxmlformats.org/drawingml/2006/main">
              <a:ext uri="{FF2B5EF4-FFF2-40B4-BE49-F238E27FC236}">
                <a16:creationId xmlns:a16="http://schemas.microsoft.com/office/drawing/2014/main" id="{C3144461-CBE1-4E39-A88A-60CBAA95E96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DECE95E1-CC14-46FA-85FA-7F8908E80549}"/>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CHANGE</a:t>
            </a:r>
          </a:p>
        </p:txBody>
      </p:sp>
      <p:sp>
        <p:nvSpPr>
          <p:cNvPr id="7" name="content 1">
            <a:extLst xmlns:a="http://schemas.openxmlformats.org/drawingml/2006/main">
              <a:ext uri="{FF2B5EF4-FFF2-40B4-BE49-F238E27FC236}">
                <a16:creationId xmlns:a16="http://schemas.microsoft.com/office/drawing/2014/main" id="{D0DD6A38-5B8F-4B07-9298-AB47BB6DCE8C}"/>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MEASURE</a:t>
            </a:r>
          </a:p>
        </p:txBody>
      </p:sp>
      <p:sp>
        <p:nvSpPr>
          <p:cNvPr id="8" name="content 2">
            <a:extLst xmlns:a="http://schemas.openxmlformats.org/drawingml/2006/main">
              <a:ext uri="{FF2B5EF4-FFF2-40B4-BE49-F238E27FC236}">
                <a16:creationId xmlns:a16="http://schemas.microsoft.com/office/drawing/2014/main" id="{5A2AD482-252D-42CD-98BD-305D350FD6F0}"/>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KEEP THE SAME</a:t>
            </a:r>
          </a:p>
        </p:txBody>
      </p:sp>
      <p:sp>
        <p:nvSpPr>
          <p:cNvPr id="9" name="content 3">
            <a:extLst xmlns:a="http://schemas.openxmlformats.org/drawingml/2006/main">
              <a:ext uri="{FF2B5EF4-FFF2-40B4-BE49-F238E27FC236}">
                <a16:creationId xmlns:a16="http://schemas.microsoft.com/office/drawing/2014/main" id="{50918A75-5055-4ED7-9EB7-06145983BC2F}"/>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REPEAT / PILOT / SAFETY</a:t>
            </a:r>
          </a:p>
        </p:txBody>
      </p:sp>
      <p:sp>
        <p:nvSpPr>
          <p:cNvPr id="10" name="content 4">
            <a:extLst xmlns:a="http://schemas.openxmlformats.org/drawingml/2006/main">
              <a:ext uri="{FF2B5EF4-FFF2-40B4-BE49-F238E27FC236}">
                <a16:creationId xmlns:a16="http://schemas.microsoft.com/office/drawing/2014/main" id="{0A0E2992-5F4F-4CF2-AD20-8D2B102B1988}"/>
              </a:ext>
            </a:extLst>
          </p:cNvPr>
          <p:cNvSpPr>
            <a:spLocks xmlns:a="http://schemas.openxmlformats.org/drawingml/2006/main" noGrp="1"/>
          </p:cNvSpPr>
          <p:nvPr/>
        </p:nvSpPr>
        <p:spPr>
          <a:xfrm xmlns:a="http://schemas.openxmlformats.org/drawingml/2006/main">
            <a:off x="800100" y="40005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Rehearse: Change __. Measure __. Keep __, __ and __ the same. Pilot __. Repeat __ in W14. Stop if __.</a:t>
            </a:r>
          </a:p>
        </p:txBody>
      </p:sp>
      <p:sp>
        <p:nvSpPr>
          <p:cNvPr id="11" name="time">
            <a:extLst xmlns:a="http://schemas.openxmlformats.org/drawingml/2006/main">
              <a:ext uri="{FF2B5EF4-FFF2-40B4-BE49-F238E27FC236}">
                <a16:creationId xmlns:a16="http://schemas.microsoft.com/office/drawing/2014/main" id="{1D6E5E73-A5B8-4B87-96E2-CCE28B654BB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BEB1DEE2-3257-4D6B-98D0-1B8AF653877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16</a:t>
            </a:r>
          </a:p>
        </p:txBody>
      </p:sp>
    </p:spTree>
    <p:extLst>
      <p:ext uri="{BB962C8B-B14F-4D97-AF65-F5344CB8AC3E}">
        <p14:creationId xmlns:p14="http://schemas.microsoft.com/office/powerpoint/2010/main" val="131614925"/>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F9FEEB65-B3EC-4D54-8DCD-981D06810FF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DE9954C-94C9-437D-B6CD-20C84734818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90653325-3CB8-4A35-A41E-CEA225705B0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5526D91C-A31A-4F7F-BDED-1EC096D6A48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Your independent mission</a:t>
            </a:r>
          </a:p>
        </p:txBody>
      </p:sp>
      <p:sp>
        <p:nvSpPr>
          <p:cNvPr id="5" name="paper panel">
            <a:extLst xmlns:a="http://schemas.openxmlformats.org/drawingml/2006/main">
              <a:ext uri="{FF2B5EF4-FFF2-40B4-BE49-F238E27FC236}">
                <a16:creationId xmlns:a16="http://schemas.microsoft.com/office/drawing/2014/main" id="{DB2308DF-F5DF-4DDC-9EFA-10CDFAF5302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52969E2-F96D-495D-8A28-9F8CB4B15CE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Produce a W14-ready fair-test plan and a separate W13B pilot checklist, leaving all final sample result cells blank.</a:t>
            </a:r>
          </a:p>
        </p:txBody>
      </p:sp>
      <p:sp>
        <p:nvSpPr>
          <p:cNvPr id="7" name="content 1">
            <a:extLst xmlns:a="http://schemas.openxmlformats.org/drawingml/2006/main">
              <a:ext uri="{FF2B5EF4-FFF2-40B4-BE49-F238E27FC236}">
                <a16:creationId xmlns:a16="http://schemas.microsoft.com/office/drawing/2014/main" id="{A74E7058-8937-4655-910A-A155C86E52D7}"/>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Record: W14 question, prediction, changed variable, measure with unit, at least three controls, repeat plan, blank results table, W13B pilot checks and safety stop.</a:t>
            </a:r>
          </a:p>
        </p:txBody>
      </p:sp>
      <p:sp>
        <p:nvSpPr>
          <p:cNvPr id="8" name="time">
            <a:extLst xmlns:a="http://schemas.openxmlformats.org/drawingml/2006/main">
              <a:ext uri="{FF2B5EF4-FFF2-40B4-BE49-F238E27FC236}">
                <a16:creationId xmlns:a16="http://schemas.microsoft.com/office/drawing/2014/main" id="{A0DC34CF-D3FC-43ED-9EA4-2C1232EFEF2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10 min across this stage</a:t>
            </a:r>
          </a:p>
        </p:txBody>
      </p:sp>
      <p:sp>
        <p:nvSpPr>
          <p:cNvPr id="9" name="number">
            <a:extLst xmlns:a="http://schemas.openxmlformats.org/drawingml/2006/main">
              <a:ext uri="{FF2B5EF4-FFF2-40B4-BE49-F238E27FC236}">
                <a16:creationId xmlns:a16="http://schemas.microsoft.com/office/drawing/2014/main" id="{6A49CF52-A563-4C82-9E20-9AF9E35F065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16</a:t>
            </a:r>
          </a:p>
        </p:txBody>
      </p:sp>
    </p:spTree>
    <p:extLst>
      <p:ext uri="{BB962C8B-B14F-4D97-AF65-F5344CB8AC3E}">
        <p14:creationId xmlns:p14="http://schemas.microsoft.com/office/powerpoint/2010/main" val="1028071696"/>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6DC377BA-132E-4422-BEB8-A2EA236A1F8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56EA55F-4CC4-46F5-8654-17A01AC85F0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80567F33-B6DC-423F-9DE2-3880E86D2C9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37833FC1-7E43-463A-A94A-EF8D2C7FFBA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Choose your support and challenge</a:t>
            </a:r>
          </a:p>
        </p:txBody>
      </p:sp>
      <p:sp>
        <p:nvSpPr>
          <p:cNvPr id="5" name="paper panel">
            <a:extLst xmlns:a="http://schemas.openxmlformats.org/drawingml/2006/main">
              <a:ext uri="{FF2B5EF4-FFF2-40B4-BE49-F238E27FC236}">
                <a16:creationId xmlns:a16="http://schemas.microsoft.com/office/drawing/2014/main" id="{E05F01EE-C54F-49A4-B600-6C8F74AC8D81}"/>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1352D7DD-333C-4EF3-918F-2E3035765808}"/>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Supported: Build the method from fixed picture cards and choose one pilot check and one safety stop.</a:t>
            </a:r>
          </a:p>
        </p:txBody>
      </p:sp>
      <p:sp>
        <p:nvSpPr>
          <p:cNvPr id="7" name="content 1">
            <a:extLst xmlns:a="http://schemas.openxmlformats.org/drawingml/2006/main">
              <a:ext uri="{FF2B5EF4-FFF2-40B4-BE49-F238E27FC236}">
                <a16:creationId xmlns:a16="http://schemas.microsoft.com/office/drawing/2014/main" id="{2C219EE0-5B17-4651-B829-3AFEC737508A}"/>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Standard: Write the full plan, justify three controls and prepare separate pilot and final-data sheets.</a:t>
            </a:r>
          </a:p>
        </p:txBody>
      </p:sp>
      <p:sp>
        <p:nvSpPr>
          <p:cNvPr id="8" name="content 2">
            <a:extLst xmlns:a="http://schemas.openxmlformats.org/drawingml/2006/main">
              <a:ext uri="{FF2B5EF4-FFF2-40B4-BE49-F238E27FC236}">
                <a16:creationId xmlns:a16="http://schemas.microsoft.com/office/drawing/2014/main" id="{F5FDE9D4-D933-4E6D-BB7B-16486622ADA6}"/>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Stretch: Evaluate a flawed alternative, justify thickness and exposed-area controls, and explain what the pilot can and cannot establish.</a:t>
            </a:r>
          </a:p>
        </p:txBody>
      </p:sp>
      <p:sp>
        <p:nvSpPr>
          <p:cNvPr id="9" name="time">
            <a:extLst xmlns:a="http://schemas.openxmlformats.org/drawingml/2006/main">
              <a:ext uri="{FF2B5EF4-FFF2-40B4-BE49-F238E27FC236}">
                <a16:creationId xmlns:a16="http://schemas.microsoft.com/office/drawing/2014/main" id="{9E634EB8-AFD7-4596-A7F2-38C2D94AD46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10 min across this stage</a:t>
            </a:r>
          </a:p>
        </p:txBody>
      </p:sp>
      <p:sp>
        <p:nvSpPr>
          <p:cNvPr id="10" name="number">
            <a:extLst xmlns:a="http://schemas.openxmlformats.org/drawingml/2006/main">
              <a:ext uri="{FF2B5EF4-FFF2-40B4-BE49-F238E27FC236}">
                <a16:creationId xmlns:a16="http://schemas.microsoft.com/office/drawing/2014/main" id="{FBD17969-27A4-456E-A8E8-41BBD5B00FC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16</a:t>
            </a:r>
          </a:p>
        </p:txBody>
      </p:sp>
    </p:spTree>
    <p:extLst>
      <p:ext uri="{BB962C8B-B14F-4D97-AF65-F5344CB8AC3E}">
        <p14:creationId xmlns:p14="http://schemas.microsoft.com/office/powerpoint/2010/main" val="1050077191"/>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986BAEB5-BEC0-411C-BFAA-07760B416A6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9F3A362-EB48-4351-AA6E-C7D7729FE16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E7A9B"/>
                </a:solidFill>
                <a:latin typeface="Arial"/>
                <a:ea typeface="Arial"/>
                <a:cs typeface="Arial"/>
              </a:defRPr>
            </a:pPr>
            <a:r>
              <a:rPr sz="1500" b="1">
                <a:solidFill>
                  <a:srgbClr val="4E7A9B"/>
                </a:solidFill>
                <a:latin typeface="Arial"/>
                <a:ea typeface="Arial"/>
                <a:cs typeface="Arial"/>
              </a:rPr>
              <a:t>BUILD  /  SCIENCE</a:t>
            </a:r>
          </a:p>
        </p:txBody>
      </p:sp>
      <p:sp>
        <p:nvSpPr>
          <p:cNvPr id="3" name="phase">
            <a:extLst xmlns:a="http://schemas.openxmlformats.org/drawingml/2006/main">
              <a:ext uri="{FF2B5EF4-FFF2-40B4-BE49-F238E27FC236}">
                <a16:creationId xmlns:a16="http://schemas.microsoft.com/office/drawing/2014/main" id="{741F89C0-9068-4C41-AB69-8B58E85B6099}"/>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E7A9B"/>
                </a:solidFill>
                <a:latin typeface="Arial"/>
                <a:ea typeface="Arial"/>
                <a:cs typeface="Arial"/>
              </a:defRPr>
            </a:pPr>
            <a:r>
              <a:rPr sz="1425" b="1">
                <a:solidFill>
                  <a:srgbClr val="4E7A9B"/>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DFBB4BBB-B0D6-42E2-A42D-B967C2E3B9E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Show what you know</a:t>
            </a:r>
          </a:p>
        </p:txBody>
      </p:sp>
      <p:sp>
        <p:nvSpPr>
          <p:cNvPr id="5" name="paper panel">
            <a:extLst xmlns:a="http://schemas.openxmlformats.org/drawingml/2006/main">
              <a:ext uri="{FF2B5EF4-FFF2-40B4-BE49-F238E27FC236}">
                <a16:creationId xmlns:a16="http://schemas.microsoft.com/office/drawing/2014/main" id="{243431D1-6904-47B8-B256-F0F1AB7BE3A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D4E0D0B-556E-4984-97E7-80ED3F5725CF}"/>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Explain why W13B tests the method but does not answer the final A/B question.</a:t>
            </a:r>
          </a:p>
        </p:txBody>
      </p:sp>
      <p:sp>
        <p:nvSpPr>
          <p:cNvPr id="7" name="content 1">
            <a:extLst xmlns:a="http://schemas.openxmlformats.org/drawingml/2006/main">
              <a:ext uri="{FF2B5EF4-FFF2-40B4-BE49-F238E27FC236}">
                <a16:creationId xmlns:a16="http://schemas.microsoft.com/office/drawing/2014/main" id="{2AEB8026-E8EE-49CF-B1C0-2CC9D5D0E19D}"/>
              </a:ext>
            </a:extLst>
          </p:cNvPr>
          <p:cNvSpPr>
            <a:spLocks xmlns:a="http://schemas.openxmlformats.org/drawingml/2006/main" noGrp="1"/>
          </p:cNvSpPr>
          <p:nvPr/>
        </p:nvSpPr>
        <p:spPr>
          <a:xfrm xmlns:a="http://schemas.openxmlformats.org/drawingml/2006/main">
            <a:off x="800100" y="26289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Point to, read or explain the evidence you made. Choose one next step after the adult has listened.</a:t>
            </a:r>
          </a:p>
        </p:txBody>
      </p:sp>
      <p:sp>
        <p:nvSpPr>
          <p:cNvPr id="8" name="time">
            <a:extLst xmlns:a="http://schemas.openxmlformats.org/drawingml/2006/main">
              <a:ext uri="{FF2B5EF4-FFF2-40B4-BE49-F238E27FC236}">
                <a16:creationId xmlns:a16="http://schemas.microsoft.com/office/drawing/2014/main" id="{BAE6D84E-09B2-4DA8-ABBC-76AD91C82E2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9" name="number">
            <a:extLst xmlns:a="http://schemas.openxmlformats.org/drawingml/2006/main">
              <a:ext uri="{FF2B5EF4-FFF2-40B4-BE49-F238E27FC236}">
                <a16:creationId xmlns:a16="http://schemas.microsoft.com/office/drawing/2014/main" id="{DE6CCF58-6A00-4B8B-8847-7A2BCA928CD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16</a:t>
            </a:r>
          </a:p>
        </p:txBody>
      </p:sp>
    </p:spTree>
    <p:extLst>
      <p:ext uri="{BB962C8B-B14F-4D97-AF65-F5344CB8AC3E}">
        <p14:creationId xmlns:p14="http://schemas.microsoft.com/office/powerpoint/2010/main" val="6798987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2026-09-08T08:54:16.0000000Z</dcterms:created>
  <dcterms:modified xsi:type="dcterms:W3CDTF">2026-09-08T08:54:16.0000000Z</dcterms:modified>
</coreProperties>
</file>