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314921fb65445cf" /><Relationship Type="http://schemas.openxmlformats.org/officeDocument/2006/relationships/extended-properties" Target="/docProps/app.xml" Id="R8ae9775b3ff943fb" /><Relationship Type="http://schemas.openxmlformats.org/officeDocument/2006/relationships/officeDocument" Target="/ppt/presentation.xml" Id="R091d21f529f34f8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9b02747f6b4db5"/>
  </p:sldMasterIdLst>
  <p:notesMasterIdLst>
    <p:notesMasterId xmlns:r="http://schemas.openxmlformats.org/officeDocument/2006/relationships" r:id="Ra39efe7187064dc2"/>
  </p:notesMasterIdLst>
  <p:sldIdLst>
    <p:sldId xmlns:r="http://schemas.openxmlformats.org/officeDocument/2006/relationships" id="256" r:id="R1bc2bf5e8c2048c5"/>
    <p:sldId xmlns:r="http://schemas.openxmlformats.org/officeDocument/2006/relationships" id="257" r:id="R98a769b38e9c4f4d"/>
    <p:sldId xmlns:r="http://schemas.openxmlformats.org/officeDocument/2006/relationships" id="258" r:id="Rfe68fd1a1a064ef0"/>
    <p:sldId xmlns:r="http://schemas.openxmlformats.org/officeDocument/2006/relationships" id="259" r:id="Rc31f4099b5ee41b1"/>
    <p:sldId xmlns:r="http://schemas.openxmlformats.org/officeDocument/2006/relationships" id="260" r:id="Re81cf15c630b4a13"/>
    <p:sldId xmlns:r="http://schemas.openxmlformats.org/officeDocument/2006/relationships" id="261" r:id="R50ea0aedf34140f9"/>
    <p:sldId xmlns:r="http://schemas.openxmlformats.org/officeDocument/2006/relationships" id="262" r:id="Rfacd3aa28b8e4dd8"/>
    <p:sldId xmlns:r="http://schemas.openxmlformats.org/officeDocument/2006/relationships" id="263" r:id="Rbb9d8917f0ba46bc"/>
    <p:sldId xmlns:r="http://schemas.openxmlformats.org/officeDocument/2006/relationships" id="264" r:id="R7dfc6af0e1954ea2"/>
    <p:sldId xmlns:r="http://schemas.openxmlformats.org/officeDocument/2006/relationships" id="265" r:id="Reeec08db44d6412e"/>
    <p:sldId xmlns:r="http://schemas.openxmlformats.org/officeDocument/2006/relationships" id="266" r:id="Rf26a61430f1848ab"/>
    <p:sldId xmlns:r="http://schemas.openxmlformats.org/officeDocument/2006/relationships" id="267" r:id="R4d385704d5874c48"/>
    <p:sldId xmlns:r="http://schemas.openxmlformats.org/officeDocument/2006/relationships" id="268" r:id="Raaff32ce22a74288"/>
    <p:sldId xmlns:r="http://schemas.openxmlformats.org/officeDocument/2006/relationships" id="269" r:id="R396a78084afa44d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69d43214fc14221" /><Relationship Type="http://schemas.openxmlformats.org/officeDocument/2006/relationships/slideMaster" Target="/ppt/slideMasters/slideMaster1.xml" Id="Ra89b02747f6b4db5" /><Relationship Type="http://schemas.openxmlformats.org/officeDocument/2006/relationships/notesMaster" Target="/ppt/notesMasters/notesMaster1.xml" Id="Ra39efe7187064dc2" /><Relationship Type="http://schemas.openxmlformats.org/officeDocument/2006/relationships/presProps" Target="/ppt/presProps.xml" Id="R3ef16cd5756547d7" /><Relationship Type="http://schemas.openxmlformats.org/officeDocument/2006/relationships/tableStyles" Target="/ppt/tableStyles.xml" Id="Rbd68158ff5934eb8" /><Relationship Type="http://schemas.openxmlformats.org/officeDocument/2006/relationships/slide" Target="/ppt/slides/slide1.xml" Id="R1bc2bf5e8c2048c5" /><Relationship Type="http://schemas.openxmlformats.org/officeDocument/2006/relationships/slide" Target="/ppt/slides/slide2.xml" Id="R98a769b38e9c4f4d" /><Relationship Type="http://schemas.openxmlformats.org/officeDocument/2006/relationships/slide" Target="/ppt/slides/slide3.xml" Id="Rfe68fd1a1a064ef0" /><Relationship Type="http://schemas.openxmlformats.org/officeDocument/2006/relationships/slide" Target="/ppt/slides/slide4.xml" Id="Rc31f4099b5ee41b1" /><Relationship Type="http://schemas.openxmlformats.org/officeDocument/2006/relationships/slide" Target="/ppt/slides/slide5.xml" Id="Re81cf15c630b4a13" /><Relationship Type="http://schemas.openxmlformats.org/officeDocument/2006/relationships/slide" Target="/ppt/slides/slide6.xml" Id="R50ea0aedf34140f9" /><Relationship Type="http://schemas.openxmlformats.org/officeDocument/2006/relationships/slide" Target="/ppt/slides/slide7.xml" Id="Rfacd3aa28b8e4dd8" /><Relationship Type="http://schemas.openxmlformats.org/officeDocument/2006/relationships/slide" Target="/ppt/slides/slide8.xml" Id="Rbb9d8917f0ba46bc" /><Relationship Type="http://schemas.openxmlformats.org/officeDocument/2006/relationships/slide" Target="/ppt/slides/slide9.xml" Id="R7dfc6af0e1954ea2" /><Relationship Type="http://schemas.openxmlformats.org/officeDocument/2006/relationships/slide" Target="/ppt/slides/slide10.xml" Id="Reeec08db44d6412e" /><Relationship Type="http://schemas.openxmlformats.org/officeDocument/2006/relationships/slide" Target="/ppt/slides/slide11.xml" Id="Rf26a61430f1848ab" /><Relationship Type="http://schemas.openxmlformats.org/officeDocument/2006/relationships/slide" Target="/ppt/slides/slide12.xml" Id="R4d385704d5874c48" /><Relationship Type="http://schemas.openxmlformats.org/officeDocument/2006/relationships/slide" Target="/ppt/slides/slide13.xml" Id="Raaff32ce22a74288" /><Relationship Type="http://schemas.openxmlformats.org/officeDocument/2006/relationships/slide" Target="/ppt/slides/slide14.xml" Id="R396a78084afa44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f2b87ff3d2645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b00e8aa2924c60" /><Relationship Type="http://schemas.openxmlformats.org/officeDocument/2006/relationships/notesMaster" Target="/ppt/notesMasters/notesMaster1.xml" Id="R89ac66c81933499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7ee1f8f31194e5b" /><Relationship Type="http://schemas.openxmlformats.org/officeDocument/2006/relationships/notesMaster" Target="/ppt/notesMasters/notesMaster1.xml" Id="Rb3dc8c5b8694461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98583574ae04a65" /><Relationship Type="http://schemas.openxmlformats.org/officeDocument/2006/relationships/notesMaster" Target="/ppt/notesMasters/notesMaster1.xml" Id="R9d0b5433a872412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fd9e52df6d243dd" /><Relationship Type="http://schemas.openxmlformats.org/officeDocument/2006/relationships/notesMaster" Target="/ppt/notesMasters/notesMaster1.xml" Id="Rb2cda3ad0654499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3efc5ff4124725" /><Relationship Type="http://schemas.openxmlformats.org/officeDocument/2006/relationships/notesMaster" Target="/ppt/notesMasters/notesMaster1.xml" Id="R1743999e3d4e49b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40f38833c254ff1" /><Relationship Type="http://schemas.openxmlformats.org/officeDocument/2006/relationships/notesMaster" Target="/ppt/notesMasters/notesMaster1.xml" Id="R2b9c128113b340b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bdccb45d81c4e6c" /><Relationship Type="http://schemas.openxmlformats.org/officeDocument/2006/relationships/notesMaster" Target="/ppt/notesMasters/notesMaster1.xml" Id="Rfca2ee4051f14fa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0fee3b356a84576" /><Relationship Type="http://schemas.openxmlformats.org/officeDocument/2006/relationships/notesMaster" Target="/ppt/notesMasters/notesMaster1.xml" Id="R88554368a10b44d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286e47a406b43b6" /><Relationship Type="http://schemas.openxmlformats.org/officeDocument/2006/relationships/notesMaster" Target="/ppt/notesMasters/notesMaster1.xml" Id="R89778eb7bec14d7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f1bf67be16840a9" /><Relationship Type="http://schemas.openxmlformats.org/officeDocument/2006/relationships/notesMaster" Target="/ppt/notesMasters/notesMaster1.xml" Id="Rcf08cf932cc5442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5bf2dfafa644662" /><Relationship Type="http://schemas.openxmlformats.org/officeDocument/2006/relationships/notesMaster" Target="/ppt/notesMasters/notesMaster1.xml" Id="R4e7fb9e8eb5c47d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d2ba736f705435a" /><Relationship Type="http://schemas.openxmlformats.org/officeDocument/2006/relationships/notesMaster" Target="/ppt/notesMasters/notesMaster1.xml" Id="Ra5cefd73de0f489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26ef2bc390440ae" /><Relationship Type="http://schemas.openxmlformats.org/officeDocument/2006/relationships/notesMaster" Target="/ppt/notesMasters/notesMaster1.xml" Id="R80a8d227112f41e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58a3c7279834638" /><Relationship Type="http://schemas.openxmlformats.org/officeDocument/2006/relationships/notesMaster" Target="/ppt/notesMasters/notesMaster1.xml" Id="R1ad9b4152054428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Invite pupils to act as method reviewers. The goal is a justified repair, not spotting a classmate’s mistakes. Everyone uses the same supplied fictional team.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light outcomes anchor the BUILD content; ray explanations are carefully modelled as an accessible extension.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Answers opaque card; yes with setup specified; centimetres. Recall that position matters before introducing the flawed plan.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light outcomes anchor the BUILD content; ray explanations are carefully modelled as an accessible extension.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4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Think aloud: “The question is about card height. But I count two changes: height and distance. Distance can affect shadows, so I cannot say height alone caused any difference.”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Two tests use cards with different heights. One card is 30 cm and the other 20 cm from the source, so both height and distance change.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light outcomes anchor the BUILD content; ray explanations are carefully modelled as an accessible extension.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Think aloud: “I keep the same source and screen 60 cm apart. Each card stays 30 cm from the source. I also keep material, width and orientation the same. Now height is the intended difference.”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Two tests use cards with different heights. Both cards are placed 30 cm from the source, with a fixed screen 60 cm from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light outcomes anchor the BUILD content; ray explanations are carefully modelled as an accessible extension.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Shares I do time. Model zero at bottom and 8 cm at top. For repeats, check the same setup and read again; repositioning the card carefully between trials can check placement consistency. Do not silently switch to width or another ruler origin.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Front-view screen with a rectangular shadow beside a ruler. The shadow runs from zero to eight centimetres; use the same top-to-bottom measure each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light outcomes anchor the BUILD content; ray explanations are carefully modelled as an accessible extension.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4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Give pairs three headings: change / measure / keep same. Use plan cards A and B. Height is changed; shadow height measured; source-card and source-screen distances controlled, plus card material/width/orientation and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REVEAL / MODEL ANSWER</a:t>
            </a:r>
          </a:p>
          <a:p xmlns:a="http://schemas.openxmlformats.org/drawingml/2006/main">
            <a:r>
              <a:t>Change card height; measure shadow height; keep card position the same.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light outcomes anchor the BUILD content; ray explanations are carefully modelled as an accessible extension.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4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shared reading table. 4 cm card has 8, 8 and 9 cm shadows. Do not erase 9 to make a perfect double pattern. Suggest checking ruler zero, edges, alignment and card position, then repeat. All three card-height groups still support taller card → taller shadow in this setup.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REVEAL / MODEL ANSWER</a:t>
            </a:r>
          </a:p>
          <a:p xmlns:a="http://schemas.openxmlformats.org/drawingml/2006/main">
            <a:r>
              <a:t>Yes. Taller cards gave taller shadows here. Keep 9, check the setup and repeat if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light outcomes anchor the BUILD content; ray explanations are carefully modelled as an accessible extension.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A chosen, point back to distance effects. If C, explain that keeping the card height unchanged does not test its effect.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A. Change card height and source distance together.</a:t>
            </a:r>
          </a:p>
          <a:p xmlns:a="http://schemas.openxmlformats.org/drawingml/2006/main">
            <a:r>
              <a:t>Two changes mean we cannot separate their effects.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B. Change card height; keep the source, screen and card position fixed.</a:t>
            </a:r>
          </a:p>
          <a:p xmlns:a="http://schemas.openxmlformats.org/drawingml/2006/main">
            <a:r>
              <a:t>Correct. This isolates the intended change, with other relevant properties also controlled.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C. Keep card height the same and only change its colour.</a:t>
            </a:r>
          </a:p>
          <a:p xmlns:a="http://schemas.openxmlformats.org/drawingml/2006/main">
            <a:r>
              <a:t>That tests a different question, not the effect of height.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light outcomes anchor the BUILD content; ray explanations are carefully modelled as an accessible extension.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Give one route only, selected with the pupil. The shared evidence page supports every route. Practical option after adult plan check: test each card at the fixed holder position and take three readings, using the same shadow-height rule. Keep actual values separate from the constructed table. Paper reviewers use the plans and readings to complete the full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light outcomes anchor the BUILD content; ray explanations are carefully modelled as an accessible extension.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Shares the 12-minute independent stage. Practical option after adult plan check: test each card at the fixed holder position and take three readings, using the same shadow-height rule. Keep actual values separate from the constructed table. Paper reviewers use the plans and readings to complete the full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light outcomes anchor the BUILD content; ray explanations are carefully modelled as an accessible extension.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10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Allow ten minutes of independent response after the two-minute setup. Practical option after adult plan check: test each card at the fixed holder position and take three readings, using the same shadow-height rule. Keep actual values separate from the constructed table. Paper reviewers use the plans and readings to complete the full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light outcomes anchor the BUILD content; ray explanations are carefully modelled as an accessible extension.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Shares the independent stage. Ask the pupil to point to the clue supporting their answer; accept a spoken correction or changed choice.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light outcomes anchor the BUILD content; ray explanations are carefully modelled as an accessible extension.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Give a private or paired option. Adopt one scientifically sound pupil revision in the class explanation and name the change. No public ranking.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REVEAL / MODEL ANSWER</a:t>
            </a:r>
          </a:p>
          <a:p xmlns:a="http://schemas.openxmlformats.org/drawingml/2006/main">
            <a:r>
              <a:t>A clear question, one intended change, controlled comparisons and honest repeated readings.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light outcomes anchor the BUILD content; ray explanations are carefully modelled as an accessible extension.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Collect brief individual answers. Secure core requires the main idea and a relevant reason. Revisit the relevant worked diagram next lesson if the explanation reverses cause and effect.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REVEAL / MODEL ANSWER</a:t>
            </a:r>
          </a:p>
          <a:p xmlns:a="http://schemas.openxmlformats.org/drawingml/2006/main">
            <a:r>
              <a:t>See the teacher answer guide for the three checks.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light outcomes anchor the BUILD content; ray explanations are carefully modelled as an accessible extension.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15d701197945a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4c9a1e0a6ae4d98" /><Relationship Type="http://schemas.openxmlformats.org/officeDocument/2006/relationships/slideLayout" Target="/ppt/slideLayouts/slideLayout1.xml" Id="R3289a2bdbe9e484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89a2bdbe9e484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70d9f2be4f419d" /><Relationship Type="http://schemas.openxmlformats.org/officeDocument/2006/relationships/notesSlide" Target="/ppt/notesSlides/notesSlide1.xml" Id="R6dfe9445838148a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4b1777c25d43ac" /><Relationship Type="http://schemas.openxmlformats.org/officeDocument/2006/relationships/notesSlide" Target="/ppt/notesSlides/notesSlide2.xml" Id="R76510bd49083488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c895b11cbb4cc9" /><Relationship Type="http://schemas.openxmlformats.org/officeDocument/2006/relationships/notesSlide" Target="/ppt/notesSlides/notesSlide3.xml" Id="R10309140d97b4ba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996facd1b94670" /><Relationship Type="http://schemas.openxmlformats.org/officeDocument/2006/relationships/notesSlide" Target="/ppt/notesSlides/notesSlide4.xml" Id="Re7e86a84b012426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981fd32028466b" /><Relationship Type="http://schemas.openxmlformats.org/officeDocument/2006/relationships/notesSlide" Target="/ppt/notesSlides/notesSlide5.xml" Id="R6c7936448f594bd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7df31ecfbc4340" /><Relationship Type="http://schemas.openxmlformats.org/officeDocument/2006/relationships/notesSlide" Target="/ppt/notesSlides/notesSlide6.xml" Id="R7ab62316780149f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1d2bcb0da24990" /><Relationship Type="http://schemas.openxmlformats.org/officeDocument/2006/relationships/notesSlide" Target="/ppt/notesSlides/notesSlide7.xml" Id="R30f7d858294b488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91422f309a4238" /><Relationship Type="http://schemas.openxmlformats.org/officeDocument/2006/relationships/notesSlide" Target="/ppt/notesSlides/notesSlide8.xml" Id="R70161857b5b2468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81c1c93af54e7d" /><Relationship Type="http://schemas.openxmlformats.org/officeDocument/2006/relationships/notesSlide" Target="/ppt/notesSlides/notesSlide9.xml" Id="Rb6ee350427ee4dc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4f6393494b482e" /><Relationship Type="http://schemas.openxmlformats.org/officeDocument/2006/relationships/notesSlide" Target="/ppt/notesSlides/notesSlide10.xml" Id="Re43f921fc3f6430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d136d285a0429e" /><Relationship Type="http://schemas.openxmlformats.org/officeDocument/2006/relationships/notesSlide" Target="/ppt/notesSlides/notesSlide11.xml" Id="R54b8fd338e77432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6cd3043fe6452a" /><Relationship Type="http://schemas.openxmlformats.org/officeDocument/2006/relationships/notesSlide" Target="/ppt/notesSlides/notesSlide12.xml" Id="R923e593a542c4de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3d60f511a44e78" /><Relationship Type="http://schemas.openxmlformats.org/officeDocument/2006/relationships/notesSlide" Target="/ppt/notesSlides/notesSlide13.xml" Id="Rc5e340b58abc405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ff94e83c55498c" /><Relationship Type="http://schemas.openxmlformats.org/officeDocument/2006/relationships/notesSlide" Target="/ppt/notesSlides/notesSlide14.xml" Id="R4745c37db3b14ac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urface">
            <a:extLst xmlns:a="http://schemas.openxmlformats.org/drawingml/2006/main">
              <a:ext uri="{FF2B5EF4-FFF2-40B4-BE49-F238E27FC236}">
                <a16:creationId xmlns:a16="http://schemas.microsoft.com/office/drawing/2014/main" id="{B1EE198B-F8A8-44DB-8EBC-E9C9AA8DE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EAFC5F0C-056D-4EB8-81B4-D19A587C9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49A49C29-5EE9-45BC-A284-BFED4F891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77EF3BDD-BAF1-4078-BFC6-7D916EE59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Opening">
            <a:extLst xmlns:a="http://schemas.openxmlformats.org/drawingml/2006/main">
              <a:ext uri="{FF2B5EF4-FFF2-40B4-BE49-F238E27FC236}">
                <a16:creationId xmlns:a16="http://schemas.microsoft.com/office/drawing/2014/main" id="{5AC3D8A9-308C-4294-A0C8-CAADD3AFF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Opening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EA9C9489-6C2D-479D-ABE0-D694B50C0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Can this test answer its question?">
            <a:extLst xmlns:a="http://schemas.openxmlformats.org/drawingml/2006/main">
              <a:ext uri="{FF2B5EF4-FFF2-40B4-BE49-F238E27FC236}">
                <a16:creationId xmlns:a16="http://schemas.microsoft.com/office/drawing/2014/main" id="{734A6FC9-BAA4-4CB3-8C30-2611468EF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Can this test answer its question?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E2C5A1FB-6B85-491C-A71B-FD518EED0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fair-test repair lab">
            <a:extLst xmlns:a="http://schemas.openxmlformats.org/drawingml/2006/main">
              <a:ext uri="{FF2B5EF4-FFF2-40B4-BE49-F238E27FC236}">
                <a16:creationId xmlns:a16="http://schemas.microsoft.com/office/drawing/2014/main" id="{5DF852F9-6F9E-4D55-A818-D70EC79F1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fair-test repair lab</a:t>
            </a:r>
          </a:p>
        </p:txBody>
      </p:sp>
      <p:sp>
        <p:nvSpPr>
          <p:cNvPr id="10" name="1 / 14">
            <a:extLst xmlns:a="http://schemas.openxmlformats.org/drawingml/2006/main">
              <a:ext uri="{FF2B5EF4-FFF2-40B4-BE49-F238E27FC236}">
                <a16:creationId xmlns:a16="http://schemas.microsoft.com/office/drawing/2014/main" id="{3C2CFF23-9626-47E1-A489-7AC3DCEE7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 / 14</a:t>
            </a:r>
          </a:p>
        </p:txBody>
      </p:sp>
      <p:sp>
        <p:nvSpPr>
          <p:cNvPr id="11" name="surface">
            <a:extLst xmlns:a="http://schemas.openxmlformats.org/drawingml/2006/main">
              <a:ext uri="{FF2B5EF4-FFF2-40B4-BE49-F238E27FC236}">
                <a16:creationId xmlns:a16="http://schemas.microsoft.com/office/drawing/2014/main" id="{F4EF9C93-D0F7-49F5-A00A-EC6B163D8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11125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76050F15-B894-4E52-AA76-487BABB0A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6667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13" name="Learning intention">
            <a:extLst xmlns:a="http://schemas.openxmlformats.org/drawingml/2006/main">
              <a:ext uri="{FF2B5EF4-FFF2-40B4-BE49-F238E27FC236}">
                <a16:creationId xmlns:a16="http://schemas.microsoft.com/office/drawing/2014/main" id="{88A1B64E-EA46-49B3-A82A-2F2CE24E1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Learning intention</a:t>
            </a:r>
          </a:p>
        </p:txBody>
      </p:sp>
      <p:sp>
        <p:nvSpPr>
          <p:cNvPr id="14" name="Plan and use a fair test of how card height affects shadow heigh">
            <a:extLst xmlns:a="http://schemas.openxmlformats.org/drawingml/2006/main">
              <a:ext uri="{FF2B5EF4-FFF2-40B4-BE49-F238E27FC236}">
                <a16:creationId xmlns:a16="http://schemas.microsoft.com/office/drawing/2014/main" id="{983F5CD5-A3F7-4E8E-9223-53B6EFDF9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Plan and use a fair test of how card height affects shadow height.</a:t>
            </a:r>
          </a:p>
        </p:txBody>
      </p:sp>
      <p:sp>
        <p:nvSpPr>
          <p:cNvPr id="15" name="Question: do taller cards make taller shadows?">
            <a:extLst xmlns:a="http://schemas.openxmlformats.org/drawingml/2006/main">
              <a:ext uri="{FF2B5EF4-FFF2-40B4-BE49-F238E27FC236}">
                <a16:creationId xmlns:a16="http://schemas.microsoft.com/office/drawing/2014/main" id="{FEF507A7-A5F6-4472-A03D-9A1830B79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Question: do taller cards make taller shadows?</a:t>
            </a:r>
          </a:p>
        </p:txBody>
      </p:sp>
      <p:sp>
        <p:nvSpPr>
          <p:cNvPr id="16" name="A team changed height and distance.">
            <a:extLst xmlns:a="http://schemas.openxmlformats.org/drawingml/2006/main">
              <a:ext uri="{FF2B5EF4-FFF2-40B4-BE49-F238E27FC236}">
                <a16:creationId xmlns:a16="http://schemas.microsoft.com/office/drawing/2014/main" id="{87AB5698-59BC-48DB-951F-50BA06476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22358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team changed height and distance.</a:t>
            </a:r>
          </a:p>
        </p:txBody>
      </p:sp>
      <p:sp>
        <p:nvSpPr>
          <p:cNvPr id="17" name="Help repair its plan.">
            <a:extLst xmlns:a="http://schemas.openxmlformats.org/drawingml/2006/main">
              <a:ext uri="{FF2B5EF4-FFF2-40B4-BE49-F238E27FC236}">
                <a16:creationId xmlns:a16="http://schemas.microsoft.com/office/drawing/2014/main" id="{D55A6EC2-DD9A-4711-A0E7-BCEAD98B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6715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Help repair its plan.</a:t>
            </a:r>
          </a:p>
        </p:txBody>
      </p:sp>
    </p:spTree>
    <p:extLst>
      <p:ext uri="{BB962C8B-B14F-4D97-AF65-F5344CB8AC3E}">
        <p14:creationId xmlns:p14="http://schemas.microsoft.com/office/powerpoint/2010/main" val="20135797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67E357F6-598E-4CD2-849E-5E8946A3A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E069B56A-5CB8-4E1A-A494-5C6F1D161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E28DC999-7E0B-497D-9F90-410A81F08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0A8AFE80-AF63-40B0-9C2A-0E135323F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Retrieval">
            <a:extLst xmlns:a="http://schemas.openxmlformats.org/drawingml/2006/main">
              <a:ext uri="{FF2B5EF4-FFF2-40B4-BE49-F238E27FC236}">
                <a16:creationId xmlns:a16="http://schemas.microsoft.com/office/drawing/2014/main" id="{2B846A83-F19F-49E3-988B-1238DCD25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Retrieval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14EB896E-75D8-4FF6-A0FD-CD5E15C0C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Recall our shadow studio">
            <a:extLst xmlns:a="http://schemas.openxmlformats.org/drawingml/2006/main">
              <a:ext uri="{FF2B5EF4-FFF2-40B4-BE49-F238E27FC236}">
                <a16:creationId xmlns:a16="http://schemas.microsoft.com/office/drawing/2014/main" id="{EEFB88B7-FEA1-4D0F-B7F3-A811C924D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Recall our shadow studio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A39DC12C-44BC-4E48-A740-FE3707847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fair-test repair lab">
            <a:extLst xmlns:a="http://schemas.openxmlformats.org/drawingml/2006/main">
              <a:ext uri="{FF2B5EF4-FFF2-40B4-BE49-F238E27FC236}">
                <a16:creationId xmlns:a16="http://schemas.microsoft.com/office/drawing/2014/main" id="{D946BAA0-24EE-4EEB-A309-C00A7A4DC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fair-test repair lab</a:t>
            </a:r>
          </a:p>
        </p:txBody>
      </p:sp>
      <p:sp>
        <p:nvSpPr>
          <p:cNvPr id="10" name="2 / 14">
            <a:extLst xmlns:a="http://schemas.openxmlformats.org/drawingml/2006/main">
              <a:ext uri="{FF2B5EF4-FFF2-40B4-BE49-F238E27FC236}">
                <a16:creationId xmlns:a16="http://schemas.microsoft.com/office/drawing/2014/main" id="{D852FD0F-EB7F-426A-BC12-1BAC19169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2 / 14</a:t>
            </a:r>
          </a:p>
        </p:txBody>
      </p:sp>
      <p:sp>
        <p:nvSpPr>
          <p:cNvPr id="11" name="1. What blocks the light?">
            <a:extLst xmlns:a="http://schemas.openxmlformats.org/drawingml/2006/main">
              <a:ext uri="{FF2B5EF4-FFF2-40B4-BE49-F238E27FC236}">
                <a16:creationId xmlns:a16="http://schemas.microsoft.com/office/drawing/2014/main" id="{3869BC2D-FAE6-4A35-AB90-A05C51AB3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1. What blocks the light?</a:t>
            </a:r>
          </a:p>
        </p:txBody>
      </p:sp>
      <p:sp>
        <p:nvSpPr>
          <p:cNvPr id="12" name="2. Can moving a card change shadow size?">
            <a:extLst xmlns:a="http://schemas.openxmlformats.org/drawingml/2006/main">
              <a:ext uri="{FF2B5EF4-FFF2-40B4-BE49-F238E27FC236}">
                <a16:creationId xmlns:a16="http://schemas.microsoft.com/office/drawing/2014/main" id="{A829E9D0-4CC0-4730-8606-54FF0A59D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3183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2. Can moving a card change shadow size?</a:t>
            </a:r>
          </a:p>
        </p:txBody>
      </p:sp>
      <p:sp>
        <p:nvSpPr>
          <p:cNvPr id="13" name="3. What unit measures our shadow height?">
            <a:extLst xmlns:a="http://schemas.openxmlformats.org/drawingml/2006/main">
              <a:ext uri="{FF2B5EF4-FFF2-40B4-BE49-F238E27FC236}">
                <a16:creationId xmlns:a16="http://schemas.microsoft.com/office/drawing/2014/main" id="{E0995710-4226-4657-AC24-758E9ADBB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7540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3. What unit measures our shadow height?</a:t>
            </a:r>
          </a:p>
        </p:txBody>
      </p:sp>
    </p:spTree>
    <p:extLst>
      <p:ext uri="{BB962C8B-B14F-4D97-AF65-F5344CB8AC3E}">
        <p14:creationId xmlns:p14="http://schemas.microsoft.com/office/powerpoint/2010/main" val="8886010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urface">
            <a:extLst xmlns:a="http://schemas.openxmlformats.org/drawingml/2006/main">
              <a:ext uri="{FF2B5EF4-FFF2-40B4-BE49-F238E27FC236}">
                <a16:creationId xmlns:a16="http://schemas.microsoft.com/office/drawing/2014/main" id="{9C5C03B1-3E26-4D95-B9EB-12AEAAFCD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7A7FF275-EC35-435F-930F-9AD486B99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7315777B-4EA5-40D5-A932-773011C77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621D984C-09CC-4DED-B96F-7691A9093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8141ADE8-15F4-4E07-B28F-23A55E84A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4 min">
            <a:extLst xmlns:a="http://schemas.openxmlformats.org/drawingml/2006/main">
              <a:ext uri="{FF2B5EF4-FFF2-40B4-BE49-F238E27FC236}">
                <a16:creationId xmlns:a16="http://schemas.microsoft.com/office/drawing/2014/main" id="{BF77F9C4-CFFE-47DC-A1A1-2DF927E79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4 min</a:t>
            </a:r>
          </a:p>
        </p:txBody>
      </p:sp>
      <p:sp>
        <p:nvSpPr>
          <p:cNvPr id="7" name="I spot two changed factors">
            <a:extLst xmlns:a="http://schemas.openxmlformats.org/drawingml/2006/main">
              <a:ext uri="{FF2B5EF4-FFF2-40B4-BE49-F238E27FC236}">
                <a16:creationId xmlns:a16="http://schemas.microsoft.com/office/drawing/2014/main" id="{B65F2B21-9A54-4535-8506-3DC0836C4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 spot two changed factors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A1E038E0-29B1-491D-979A-683E3B475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fair-test repair lab">
            <a:extLst xmlns:a="http://schemas.openxmlformats.org/drawingml/2006/main">
              <a:ext uri="{FF2B5EF4-FFF2-40B4-BE49-F238E27FC236}">
                <a16:creationId xmlns:a16="http://schemas.microsoft.com/office/drawing/2014/main" id="{AC74B560-6224-4C0D-92CF-3DB14356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fair-test repair lab</a:t>
            </a:r>
          </a:p>
        </p:txBody>
      </p:sp>
      <p:sp>
        <p:nvSpPr>
          <p:cNvPr id="10" name="3 / 14">
            <a:extLst xmlns:a="http://schemas.openxmlformats.org/drawingml/2006/main">
              <a:ext uri="{FF2B5EF4-FFF2-40B4-BE49-F238E27FC236}">
                <a16:creationId xmlns:a16="http://schemas.microsoft.com/office/drawing/2014/main" id="{586FAF03-E361-4AD8-A236-A1A083C21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3 / 14</a:t>
            </a:r>
          </a:p>
        </p:txBody>
      </p:sp>
      <p:sp>
        <p:nvSpPr>
          <p:cNvPr id="11" name="Diagram label: PLAN NEEDS REPAIR">
            <a:extLst xmlns:a="http://schemas.openxmlformats.org/drawingml/2006/main">
              <a:ext uri="{FF2B5EF4-FFF2-40B4-BE49-F238E27FC236}">
                <a16:creationId xmlns:a16="http://schemas.microsoft.com/office/drawing/2014/main" id="{B970B569-D008-484B-B5D0-875261A96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1217" y="2034523"/>
            <a:ext cx="6869566" cy="373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PLAN NEEDS REPAIR</a:t>
            </a:r>
          </a:p>
        </p:txBody>
      </p:sp>
      <p:sp>
        <p:nvSpPr>
          <p:cNvPr id="12" name="Diagram label: Test A">
            <a:extLst xmlns:a="http://schemas.openxmlformats.org/drawingml/2006/main">
              <a:ext uri="{FF2B5EF4-FFF2-40B4-BE49-F238E27FC236}">
                <a16:creationId xmlns:a16="http://schemas.microsoft.com/office/drawing/2014/main" id="{7A57AECC-1A4D-42BE-9011-E6121C691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3882" y="2706546"/>
            <a:ext cx="1269376" cy="336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87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87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Test A</a:t>
            </a:r>
          </a:p>
        </p:txBody>
      </p:sp>
      <p:sp>
        <p:nvSpPr>
          <p:cNvPr id="13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ABF0C66F-2035-45DB-9170-F0C347B5A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4563" y="3191896"/>
            <a:ext cx="149338" cy="149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3D6"/>
          </a:solidFill>
          <a:ln xmlns:a="http://schemas.openxmlformats.org/drawingml/2006/main" w="22401">
            <a:solidFill>
              <a:srgbClr val="1F2937"/>
            </a:solidFill>
          </a:ln>
        </p:spPr>
      </p:sp>
      <p:sp>
        <p:nvSpPr>
          <p:cNvPr id="14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DAFF26E4-465A-4C46-B040-F37AD1CAC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183901" y="3266565"/>
            <a:ext cx="201233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7335">
            <a:solidFill>
              <a:srgbClr val="E5AB37"/>
            </a:solidFill>
          </a:ln>
        </p:spPr>
      </p:sp>
      <p:sp>
        <p:nvSpPr>
          <p:cNvPr id="15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1D11FEC8-FFF3-4BE3-8029-259471F8D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170102" y="3214296"/>
            <a:ext cx="104537" cy="1045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5AB37"/>
          </a:solidFill>
          <a:ln xmlns:a="http://schemas.openxmlformats.org/drawingml/2006/main" w="0">
            <a:noFill/>
          </a:ln>
        </p:spPr>
      </p:sp>
      <p:sp>
        <p:nvSpPr>
          <p:cNvPr id="16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7A1294C2-61E7-4DE4-B116-37022AD2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7040" y="3117226"/>
            <a:ext cx="104537" cy="29867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22401">
            <a:solidFill>
              <a:srgbClr val="1F2937"/>
            </a:solidFill>
          </a:ln>
        </p:spPr>
      </p:sp>
      <p:sp>
        <p:nvSpPr>
          <p:cNvPr id="17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339F3051-BE1C-4E25-811E-5E1878E43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384" y="2631877"/>
            <a:ext cx="149338" cy="12693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401">
            <a:solidFill>
              <a:srgbClr val="4E7A9B"/>
            </a:solidFill>
          </a:ln>
        </p:spPr>
      </p:sp>
      <p:sp>
        <p:nvSpPr>
          <p:cNvPr id="18" name="Diagram label: Source to card: 30 cm">
            <a:extLst xmlns:a="http://schemas.openxmlformats.org/drawingml/2006/main">
              <a:ext uri="{FF2B5EF4-FFF2-40B4-BE49-F238E27FC236}">
                <a16:creationId xmlns:a16="http://schemas.microsoft.com/office/drawing/2014/main" id="{3293DF15-8906-43DC-908C-2FC07F3A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4582" y="3527907"/>
            <a:ext cx="2538753" cy="373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11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11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Source to card: 30 cm</a:t>
            </a:r>
          </a:p>
        </p:txBody>
      </p:sp>
      <p:sp>
        <p:nvSpPr>
          <p:cNvPr id="19" name="Diagram label: Card: 2 cm">
            <a:extLst xmlns:a="http://schemas.openxmlformats.org/drawingml/2006/main">
              <a:ext uri="{FF2B5EF4-FFF2-40B4-BE49-F238E27FC236}">
                <a16:creationId xmlns:a16="http://schemas.microsoft.com/office/drawing/2014/main" id="{3345A2B9-8750-4353-B4F9-0E5DEFE85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7399" y="3042557"/>
            <a:ext cx="1642722" cy="672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Card: 2 cm</a:t>
            </a:r>
          </a:p>
        </p:txBody>
      </p:sp>
      <p:sp>
        <p:nvSpPr>
          <p:cNvPr id="20" name="Diagram label: Test B">
            <a:extLst xmlns:a="http://schemas.openxmlformats.org/drawingml/2006/main">
              <a:ext uri="{FF2B5EF4-FFF2-40B4-BE49-F238E27FC236}">
                <a16:creationId xmlns:a16="http://schemas.microsoft.com/office/drawing/2014/main" id="{372D578E-AC55-4128-8C4D-60F624A81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3882" y="4125260"/>
            <a:ext cx="1269376" cy="336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87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87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Test B</a:t>
            </a:r>
          </a:p>
        </p:txBody>
      </p:sp>
      <p:sp>
        <p:nvSpPr>
          <p:cNvPr id="21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239BE7C7-276D-4CE4-AC77-5C4513ABC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4563" y="4610610"/>
            <a:ext cx="149338" cy="149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3D6"/>
          </a:solidFill>
          <a:ln xmlns:a="http://schemas.openxmlformats.org/drawingml/2006/main" w="22401">
            <a:solidFill>
              <a:srgbClr val="1F2937"/>
            </a:solidFill>
          </a:ln>
        </p:spPr>
      </p:sp>
      <p:sp>
        <p:nvSpPr>
          <p:cNvPr id="22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3CE81849-279F-4B25-830B-A5B412097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183901" y="4685279"/>
            <a:ext cx="1265643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7335">
            <a:solidFill>
              <a:srgbClr val="E5AB37"/>
            </a:solidFill>
          </a:ln>
        </p:spPr>
      </p:sp>
      <p:sp>
        <p:nvSpPr>
          <p:cNvPr id="23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86CED533-D2F2-4C03-8CB3-A484A66B7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423410" y="4633011"/>
            <a:ext cx="104537" cy="1045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5AB37"/>
          </a:solidFill>
          <a:ln xmlns:a="http://schemas.openxmlformats.org/drawingml/2006/main" w="0">
            <a:noFill/>
          </a:ln>
        </p:spPr>
      </p:sp>
      <p:sp>
        <p:nvSpPr>
          <p:cNvPr id="24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086CC721-DB12-4E04-8238-105BF464A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0348" y="4386603"/>
            <a:ext cx="104537" cy="5973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22401">
            <a:solidFill>
              <a:srgbClr val="1F2937"/>
            </a:solidFill>
          </a:ln>
        </p:spPr>
      </p:sp>
      <p:sp>
        <p:nvSpPr>
          <p:cNvPr id="25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8CF2649C-8C32-47DD-BB2F-4350DA448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384" y="4050591"/>
            <a:ext cx="149338" cy="12693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401">
            <a:solidFill>
              <a:srgbClr val="4E7A9B"/>
            </a:solidFill>
          </a:ln>
        </p:spPr>
      </p:sp>
      <p:sp>
        <p:nvSpPr>
          <p:cNvPr id="26" name="Diagram label: Source to card: 20 cm">
            <a:extLst xmlns:a="http://schemas.openxmlformats.org/drawingml/2006/main">
              <a:ext uri="{FF2B5EF4-FFF2-40B4-BE49-F238E27FC236}">
                <a16:creationId xmlns:a16="http://schemas.microsoft.com/office/drawing/2014/main" id="{03FEB76C-CA8A-4F38-A374-2388BEA99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4582" y="5095960"/>
            <a:ext cx="2538753" cy="373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11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11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Source to card: 20 cm</a:t>
            </a:r>
          </a:p>
        </p:txBody>
      </p:sp>
      <p:sp>
        <p:nvSpPr>
          <p:cNvPr id="27" name="Diagram label: Card: 4 cm">
            <a:extLst xmlns:a="http://schemas.openxmlformats.org/drawingml/2006/main">
              <a:ext uri="{FF2B5EF4-FFF2-40B4-BE49-F238E27FC236}">
                <a16:creationId xmlns:a16="http://schemas.microsoft.com/office/drawing/2014/main" id="{04B58202-FCD5-4B32-B2D1-5142FDF5A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7399" y="4461272"/>
            <a:ext cx="1642722" cy="672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Card: 4 cm</a:t>
            </a:r>
          </a:p>
        </p:txBody>
      </p:sp>
      <p:sp>
        <p:nvSpPr>
          <p:cNvPr id="28" name="Diagram label: Same screen position: 60 cm from the source.">
            <a:extLst xmlns:a="http://schemas.openxmlformats.org/drawingml/2006/main">
              <a:ext uri="{FF2B5EF4-FFF2-40B4-BE49-F238E27FC236}">
                <a16:creationId xmlns:a16="http://schemas.microsoft.com/office/drawing/2014/main" id="{BB373087-086F-4302-80E2-E58108212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1217" y="5506641"/>
            <a:ext cx="6794897" cy="336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Same screen position: 60 cm from the source.</a:t>
            </a:r>
          </a:p>
        </p:txBody>
      </p:sp>
      <p:sp>
        <p:nvSpPr>
          <p:cNvPr id="29" name="A uses a 2 cm-high card.  B uses a 4 cm-high card.  Their distan">
            <a:extLst xmlns:a="http://schemas.openxmlformats.org/drawingml/2006/main">
              <a:ext uri="{FF2B5EF4-FFF2-40B4-BE49-F238E27FC236}">
                <a16:creationId xmlns:a16="http://schemas.microsoft.com/office/drawing/2014/main" id="{CF4401ED-CB05-4A0C-9233-B676804A9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86475"/>
            <a:ext cx="11125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uses a 2 cm-high card. B uses a 4 cm-high card. Their distances are different too.</a:t>
            </a:r>
          </a:p>
        </p:txBody>
      </p:sp>
    </p:spTree>
    <p:extLst>
      <p:ext uri="{BB962C8B-B14F-4D97-AF65-F5344CB8AC3E}">
        <p14:creationId xmlns:p14="http://schemas.microsoft.com/office/powerpoint/2010/main" val="13371888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urface">
            <a:extLst xmlns:a="http://schemas.openxmlformats.org/drawingml/2006/main">
              <a:ext uri="{FF2B5EF4-FFF2-40B4-BE49-F238E27FC236}">
                <a16:creationId xmlns:a16="http://schemas.microsoft.com/office/drawing/2014/main" id="{28BD7DD9-1A2C-4A72-BB45-C74CF1D7E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BA1AE016-2807-4F31-9571-2B01F9D6E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DAC410E5-5E29-4F12-97FD-808776732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858F2FE9-AC6C-4BC8-BDD8-813204C2B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5056F7F3-94AF-4BEB-9587-C970F9294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55AAD918-543E-4525-A64A-7FB56D27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I repair the comparison">
            <a:extLst xmlns:a="http://schemas.openxmlformats.org/drawingml/2006/main">
              <a:ext uri="{FF2B5EF4-FFF2-40B4-BE49-F238E27FC236}">
                <a16:creationId xmlns:a16="http://schemas.microsoft.com/office/drawing/2014/main" id="{CE3C6C56-992B-4BF8-938F-117848ED1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 repair the comparison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0B82D5B4-E341-48C9-89F5-09985381C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fair-test repair lab">
            <a:extLst xmlns:a="http://schemas.openxmlformats.org/drawingml/2006/main">
              <a:ext uri="{FF2B5EF4-FFF2-40B4-BE49-F238E27FC236}">
                <a16:creationId xmlns:a16="http://schemas.microsoft.com/office/drawing/2014/main" id="{1382939D-509A-46EC-B354-D29783C4F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fair-test repair lab</a:t>
            </a:r>
          </a:p>
        </p:txBody>
      </p:sp>
      <p:sp>
        <p:nvSpPr>
          <p:cNvPr id="10" name="4 / 14">
            <a:extLst xmlns:a="http://schemas.openxmlformats.org/drawingml/2006/main">
              <a:ext uri="{FF2B5EF4-FFF2-40B4-BE49-F238E27FC236}">
                <a16:creationId xmlns:a16="http://schemas.microsoft.com/office/drawing/2014/main" id="{56281FDC-2BA4-4880-89CA-3C8F938BC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4 / 14</a:t>
            </a:r>
          </a:p>
        </p:txBody>
      </p:sp>
      <p:sp>
        <p:nvSpPr>
          <p:cNvPr id="11" name="Diagram label: REPAIRED PLAN">
            <a:extLst xmlns:a="http://schemas.openxmlformats.org/drawingml/2006/main">
              <a:ext uri="{FF2B5EF4-FFF2-40B4-BE49-F238E27FC236}">
                <a16:creationId xmlns:a16="http://schemas.microsoft.com/office/drawing/2014/main" id="{227B35A8-0840-488B-A79A-1BA765719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1217" y="2034523"/>
            <a:ext cx="6869566" cy="373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REPAIRED PLAN</a:t>
            </a:r>
          </a:p>
        </p:txBody>
      </p:sp>
      <p:sp>
        <p:nvSpPr>
          <p:cNvPr id="12" name="Diagram label: Test A">
            <a:extLst xmlns:a="http://schemas.openxmlformats.org/drawingml/2006/main">
              <a:ext uri="{FF2B5EF4-FFF2-40B4-BE49-F238E27FC236}">
                <a16:creationId xmlns:a16="http://schemas.microsoft.com/office/drawing/2014/main" id="{F480BC54-948A-4D8D-A362-FFD94BAFF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3882" y="2706546"/>
            <a:ext cx="1269376" cy="336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87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87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Test A</a:t>
            </a:r>
          </a:p>
        </p:txBody>
      </p:sp>
      <p:sp>
        <p:nvSpPr>
          <p:cNvPr id="13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51081BA9-24BE-4E73-8959-27C930A00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4563" y="3191896"/>
            <a:ext cx="149338" cy="149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3D6"/>
          </a:solidFill>
          <a:ln xmlns:a="http://schemas.openxmlformats.org/drawingml/2006/main" w="22401">
            <a:solidFill>
              <a:srgbClr val="1F2937"/>
            </a:solidFill>
          </a:ln>
        </p:spPr>
      </p:sp>
      <p:sp>
        <p:nvSpPr>
          <p:cNvPr id="14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26A3A80A-5E40-494A-9AA0-E08C563E2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183901" y="3266565"/>
            <a:ext cx="201233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7335">
            <a:solidFill>
              <a:srgbClr val="E5AB37"/>
            </a:solidFill>
          </a:ln>
        </p:spPr>
      </p:sp>
      <p:sp>
        <p:nvSpPr>
          <p:cNvPr id="15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E5A000D7-DC33-46AB-B913-268020CD9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170102" y="3214296"/>
            <a:ext cx="104537" cy="1045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5AB37"/>
          </a:solidFill>
          <a:ln xmlns:a="http://schemas.openxmlformats.org/drawingml/2006/main" w="0">
            <a:noFill/>
          </a:ln>
        </p:spPr>
      </p:sp>
      <p:sp>
        <p:nvSpPr>
          <p:cNvPr id="16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6791609A-B79F-454B-9671-46DB8CEA3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7040" y="3117226"/>
            <a:ext cx="104537" cy="29867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22401">
            <a:solidFill>
              <a:srgbClr val="1F2937"/>
            </a:solidFill>
          </a:ln>
        </p:spPr>
      </p:sp>
      <p:sp>
        <p:nvSpPr>
          <p:cNvPr id="17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B466CB0D-EB4A-4375-825E-948A24DA0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384" y="2631877"/>
            <a:ext cx="149338" cy="12693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401">
            <a:solidFill>
              <a:srgbClr val="4E7A9B"/>
            </a:solidFill>
          </a:ln>
        </p:spPr>
      </p:sp>
      <p:sp>
        <p:nvSpPr>
          <p:cNvPr id="18" name="Diagram label: Source to card: 30 cm">
            <a:extLst xmlns:a="http://schemas.openxmlformats.org/drawingml/2006/main">
              <a:ext uri="{FF2B5EF4-FFF2-40B4-BE49-F238E27FC236}">
                <a16:creationId xmlns:a16="http://schemas.microsoft.com/office/drawing/2014/main" id="{79E2ED6B-153A-482C-99F6-9A182F587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4582" y="3527907"/>
            <a:ext cx="2538753" cy="373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11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11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Source to card: 30 cm</a:t>
            </a:r>
          </a:p>
        </p:txBody>
      </p:sp>
      <p:sp>
        <p:nvSpPr>
          <p:cNvPr id="19" name="Diagram label: Card: 2 cm">
            <a:extLst xmlns:a="http://schemas.openxmlformats.org/drawingml/2006/main">
              <a:ext uri="{FF2B5EF4-FFF2-40B4-BE49-F238E27FC236}">
                <a16:creationId xmlns:a16="http://schemas.microsoft.com/office/drawing/2014/main" id="{43C579FD-76A9-481B-901F-895DFF4B1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7399" y="3042557"/>
            <a:ext cx="1642722" cy="672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Card: 2 cm</a:t>
            </a:r>
          </a:p>
        </p:txBody>
      </p:sp>
      <p:sp>
        <p:nvSpPr>
          <p:cNvPr id="20" name="Diagram label: Test B">
            <a:extLst xmlns:a="http://schemas.openxmlformats.org/drawingml/2006/main">
              <a:ext uri="{FF2B5EF4-FFF2-40B4-BE49-F238E27FC236}">
                <a16:creationId xmlns:a16="http://schemas.microsoft.com/office/drawing/2014/main" id="{C2F199BA-3088-40AF-A6F0-F34DB589E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3882" y="4125260"/>
            <a:ext cx="1269376" cy="336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87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87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Test B</a:t>
            </a:r>
          </a:p>
        </p:txBody>
      </p:sp>
      <p:sp>
        <p:nvSpPr>
          <p:cNvPr id="21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76DE6568-D2A7-4FC8-BBC3-46A88CDCE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4563" y="4610610"/>
            <a:ext cx="149338" cy="149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3D6"/>
          </a:solidFill>
          <a:ln xmlns:a="http://schemas.openxmlformats.org/drawingml/2006/main" w="22401">
            <a:solidFill>
              <a:srgbClr val="1F2937"/>
            </a:solidFill>
          </a:ln>
        </p:spPr>
      </p:sp>
      <p:sp>
        <p:nvSpPr>
          <p:cNvPr id="22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16E68558-1B4E-4C1C-AC7C-BEC661520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183901" y="4685279"/>
            <a:ext cx="201233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7335">
            <a:solidFill>
              <a:srgbClr val="E5AB37"/>
            </a:solidFill>
          </a:ln>
        </p:spPr>
      </p:sp>
      <p:sp>
        <p:nvSpPr>
          <p:cNvPr id="23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2E51A4C2-2C67-42A0-BB84-43DDF3E8C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170102" y="4633011"/>
            <a:ext cx="104537" cy="1045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5AB37"/>
          </a:solidFill>
          <a:ln xmlns:a="http://schemas.openxmlformats.org/drawingml/2006/main" w="0">
            <a:noFill/>
          </a:ln>
        </p:spPr>
      </p:sp>
      <p:sp>
        <p:nvSpPr>
          <p:cNvPr id="24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A2047142-7930-4064-9C0D-E38F2D116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7040" y="4386603"/>
            <a:ext cx="104537" cy="5973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22401">
            <a:solidFill>
              <a:srgbClr val="1F2937"/>
            </a:solidFill>
          </a:ln>
        </p:spPr>
      </p:sp>
      <p:sp>
        <p:nvSpPr>
          <p:cNvPr id="25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E1740292-4E90-4C96-A87B-7B974D3DE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384" y="4050591"/>
            <a:ext cx="149338" cy="12693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401">
            <a:solidFill>
              <a:srgbClr val="4E7A9B"/>
            </a:solidFill>
          </a:ln>
        </p:spPr>
      </p:sp>
      <p:sp>
        <p:nvSpPr>
          <p:cNvPr id="26" name="Diagram label: Source to card: 30 cm">
            <a:extLst xmlns:a="http://schemas.openxmlformats.org/drawingml/2006/main">
              <a:ext uri="{FF2B5EF4-FFF2-40B4-BE49-F238E27FC236}">
                <a16:creationId xmlns:a16="http://schemas.microsoft.com/office/drawing/2014/main" id="{B2BFF0C8-2809-4CCD-BAC9-D149598E0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4582" y="5095960"/>
            <a:ext cx="2538753" cy="373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11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11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Source to card: 30 cm</a:t>
            </a:r>
          </a:p>
        </p:txBody>
      </p:sp>
      <p:sp>
        <p:nvSpPr>
          <p:cNvPr id="27" name="Diagram label: Card: 4 cm">
            <a:extLst xmlns:a="http://schemas.openxmlformats.org/drawingml/2006/main">
              <a:ext uri="{FF2B5EF4-FFF2-40B4-BE49-F238E27FC236}">
                <a16:creationId xmlns:a16="http://schemas.microsoft.com/office/drawing/2014/main" id="{2439E7A6-ACE9-4505-8394-D718C9B7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7399" y="4461272"/>
            <a:ext cx="1642722" cy="672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Card: 4 cm</a:t>
            </a:r>
          </a:p>
        </p:txBody>
      </p:sp>
      <p:sp>
        <p:nvSpPr>
          <p:cNvPr id="28" name="Diagram label: Same screen position: 60 cm from the source.">
            <a:extLst xmlns:a="http://schemas.openxmlformats.org/drawingml/2006/main">
              <a:ext uri="{FF2B5EF4-FFF2-40B4-BE49-F238E27FC236}">
                <a16:creationId xmlns:a16="http://schemas.microsoft.com/office/drawing/2014/main" id="{27D6DA14-1B64-4A20-986C-C219D3245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1217" y="5506641"/>
            <a:ext cx="6794897" cy="336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Same screen position: 60 cm from the source.</a:t>
            </a:r>
          </a:p>
        </p:txBody>
      </p:sp>
      <p:sp>
        <p:nvSpPr>
          <p:cNvPr id="29" name="Change card height only.  Keep source and screen still.  Keep ca">
            <a:extLst xmlns:a="http://schemas.openxmlformats.org/drawingml/2006/main">
              <a:ext uri="{FF2B5EF4-FFF2-40B4-BE49-F238E27FC236}">
                <a16:creationId xmlns:a16="http://schemas.microsoft.com/office/drawing/2014/main" id="{1CFB9622-B47B-4926-8A56-42906E640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86475"/>
            <a:ext cx="11125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Change card height only. Keep source and screen still. Keep card position at 30 cm.</a:t>
            </a:r>
          </a:p>
        </p:txBody>
      </p:sp>
    </p:spTree>
    <p:extLst>
      <p:ext uri="{BB962C8B-B14F-4D97-AF65-F5344CB8AC3E}">
        <p14:creationId xmlns:p14="http://schemas.microsoft.com/office/powerpoint/2010/main" val="4806210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urface">
            <a:extLst xmlns:a="http://schemas.openxmlformats.org/drawingml/2006/main">
              <a:ext uri="{FF2B5EF4-FFF2-40B4-BE49-F238E27FC236}">
                <a16:creationId xmlns:a16="http://schemas.microsoft.com/office/drawing/2014/main" id="{BC063C3A-7BE6-4EE7-8821-9E9684BF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33E7CA86-E464-4A8C-BB3E-1C798B171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9CEB0837-613A-4508-BD52-60B7B72B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7ECDC226-389F-4FE2-8ACC-EA192E161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13225E86-C345-4E64-9D69-41580B1E9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I measure and repeat consistently">
            <a:extLst xmlns:a="http://schemas.openxmlformats.org/drawingml/2006/main">
              <a:ext uri="{FF2B5EF4-FFF2-40B4-BE49-F238E27FC236}">
                <a16:creationId xmlns:a16="http://schemas.microsoft.com/office/drawing/2014/main" id="{1E2E3412-1C02-48F3-9F2D-1060F569B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 measure and repeat consistently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A09B690E-D4DD-40E9-88AD-149A97F11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The fair-test repair lab">
            <a:extLst xmlns:a="http://schemas.openxmlformats.org/drawingml/2006/main">
              <a:ext uri="{FF2B5EF4-FFF2-40B4-BE49-F238E27FC236}">
                <a16:creationId xmlns:a16="http://schemas.microsoft.com/office/drawing/2014/main" id="{400429F2-632C-45DC-A061-9A6AD4A3D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fair-test repair lab</a:t>
            </a:r>
          </a:p>
        </p:txBody>
      </p:sp>
      <p:sp>
        <p:nvSpPr>
          <p:cNvPr id="9" name="5 / 14">
            <a:extLst xmlns:a="http://schemas.openxmlformats.org/drawingml/2006/main">
              <a:ext uri="{FF2B5EF4-FFF2-40B4-BE49-F238E27FC236}">
                <a16:creationId xmlns:a16="http://schemas.microsoft.com/office/drawing/2014/main" id="{685FF9C3-7D47-487D-816C-99C73BCE9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5 / 14</a:t>
            </a:r>
          </a:p>
        </p:txBody>
      </p:sp>
      <p:sp>
        <p:nvSpPr>
          <p:cNvPr id="10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071AF8C5-7A17-4BF5-95A3-1139B8F31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5225" y="2333200"/>
            <a:ext cx="5973536" cy="2874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401">
            <a:solidFill>
              <a:srgbClr val="4E7A9B"/>
            </a:solidFill>
          </a:ln>
        </p:spPr>
      </p:sp>
      <p:sp>
        <p:nvSpPr>
          <p:cNvPr id="11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9E288597-6AC1-443A-88F9-08254A361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8627" y="2818550"/>
            <a:ext cx="1418715" cy="17920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6D7A"/>
          </a:solidFill>
          <a:ln xmlns:a="http://schemas.openxmlformats.org/drawingml/2006/main" w="22401">
            <a:solidFill>
              <a:srgbClr val="4E7A9B"/>
            </a:solidFill>
          </a:ln>
        </p:spPr>
      </p:sp>
      <p:sp>
        <p:nvSpPr>
          <p:cNvPr id="12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16FA5B48-7687-41F4-A2BF-8BDD8781D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066700" y="2818550"/>
            <a:ext cx="953" cy="179206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868">
            <a:solidFill>
              <a:srgbClr val="4E7A9B"/>
            </a:solidFill>
          </a:ln>
        </p:spPr>
      </p:sp>
      <p:sp>
        <p:nvSpPr>
          <p:cNvPr id="13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834D0C58-32FE-4506-A39E-1CCC52233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917361" y="4610610"/>
            <a:ext cx="298677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868">
            <a:solidFill>
              <a:srgbClr val="4E7A9B"/>
            </a:solidFill>
          </a:ln>
        </p:spPr>
      </p:sp>
      <p:sp>
        <p:nvSpPr>
          <p:cNvPr id="14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0A0C61C1-5C52-453C-ACC8-84794728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917361" y="2818550"/>
            <a:ext cx="298677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868">
            <a:solidFill>
              <a:srgbClr val="4E7A9B"/>
            </a:solidFill>
          </a:ln>
        </p:spPr>
      </p:sp>
      <p:sp>
        <p:nvSpPr>
          <p:cNvPr id="15" name="Diagram label: 0 cm">
            <a:extLst xmlns:a="http://schemas.openxmlformats.org/drawingml/2006/main">
              <a:ext uri="{FF2B5EF4-FFF2-40B4-BE49-F238E27FC236}">
                <a16:creationId xmlns:a16="http://schemas.microsoft.com/office/drawing/2014/main" id="{3FBCD280-DE9A-4E25-B981-0F3B0539D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5376" y="4423937"/>
            <a:ext cx="1269376" cy="336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0 cm</a:t>
            </a:r>
          </a:p>
        </p:txBody>
      </p:sp>
      <p:sp>
        <p:nvSpPr>
          <p:cNvPr id="16" name="Diagram label: 8 cm">
            <a:extLst xmlns:a="http://schemas.openxmlformats.org/drawingml/2006/main">
              <a:ext uri="{FF2B5EF4-FFF2-40B4-BE49-F238E27FC236}">
                <a16:creationId xmlns:a16="http://schemas.microsoft.com/office/drawing/2014/main" id="{6C5D19C1-A216-4815-BF7D-EF0D32EA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5376" y="2631877"/>
            <a:ext cx="1269376" cy="336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8 cm</a:t>
            </a:r>
          </a:p>
        </p:txBody>
      </p:sp>
      <p:sp>
        <p:nvSpPr>
          <p:cNvPr id="17" name="Diagram label: Measure from the bottom edge to the top edge.">
            <a:extLst xmlns:a="http://schemas.openxmlformats.org/drawingml/2006/main">
              <a:ext uri="{FF2B5EF4-FFF2-40B4-BE49-F238E27FC236}">
                <a16:creationId xmlns:a16="http://schemas.microsoft.com/office/drawing/2014/main" id="{2BAFD0A6-8DE8-4499-8D7F-ACECC38DA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4563" y="5357302"/>
            <a:ext cx="6048205" cy="410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Measure from the bottom edge to the top edge.</a:t>
            </a:r>
          </a:p>
        </p:txBody>
      </p:sp>
      <p:sp>
        <p:nvSpPr>
          <p:cNvPr id="18" name="Measure bottom to top in centimetres.  Use the same edge rule ea">
            <a:extLst xmlns:a="http://schemas.openxmlformats.org/drawingml/2006/main">
              <a:ext uri="{FF2B5EF4-FFF2-40B4-BE49-F238E27FC236}">
                <a16:creationId xmlns:a16="http://schemas.microsoft.com/office/drawing/2014/main" id="{23EB3116-DEC2-4510-8672-FD67A6B07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86475"/>
            <a:ext cx="11125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Measure bottom to top in centimetres. Use the same edge rule each time. Keep all readings.</a:t>
            </a:r>
          </a:p>
        </p:txBody>
      </p:sp>
    </p:spTree>
    <p:extLst>
      <p:ext uri="{BB962C8B-B14F-4D97-AF65-F5344CB8AC3E}">
        <p14:creationId xmlns:p14="http://schemas.microsoft.com/office/powerpoint/2010/main" val="12181333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urface">
            <a:extLst xmlns:a="http://schemas.openxmlformats.org/drawingml/2006/main">
              <a:ext uri="{FF2B5EF4-FFF2-40B4-BE49-F238E27FC236}">
                <a16:creationId xmlns:a16="http://schemas.microsoft.com/office/drawing/2014/main" id="{14B07140-FA59-47A5-8DDC-376FDDC6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34CC5305-4805-4ED4-882B-40516B9DE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2646F294-3FCA-4BEC-A159-13B59FA2C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8D1B9EEE-DBBB-4F4D-9196-A8776F767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We do">
            <a:extLst xmlns:a="http://schemas.openxmlformats.org/drawingml/2006/main">
              <a:ext uri="{FF2B5EF4-FFF2-40B4-BE49-F238E27FC236}">
                <a16:creationId xmlns:a16="http://schemas.microsoft.com/office/drawing/2014/main" id="{77FCD0E1-9905-43DA-8BC7-D334C1ABD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We do</a:t>
            </a:r>
          </a:p>
        </p:txBody>
      </p:sp>
      <p:sp>
        <p:nvSpPr>
          <p:cNvPr id="6" name="4 min">
            <a:extLst xmlns:a="http://schemas.openxmlformats.org/drawingml/2006/main">
              <a:ext uri="{FF2B5EF4-FFF2-40B4-BE49-F238E27FC236}">
                <a16:creationId xmlns:a16="http://schemas.microsoft.com/office/drawing/2014/main" id="{6FFF8F1C-DBEC-42F3-9D92-FC8E6C49B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4 min</a:t>
            </a:r>
          </a:p>
        </p:txBody>
      </p:sp>
      <p:sp>
        <p:nvSpPr>
          <p:cNvPr id="7" name="Make a test contract">
            <a:extLst xmlns:a="http://schemas.openxmlformats.org/drawingml/2006/main">
              <a:ext uri="{FF2B5EF4-FFF2-40B4-BE49-F238E27FC236}">
                <a16:creationId xmlns:a16="http://schemas.microsoft.com/office/drawing/2014/main" id="{9BAE8327-8EBE-4ECC-8553-B466FD81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Make a test contract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787004DE-2966-4422-A980-1EB99FEC0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fair-test repair lab">
            <a:extLst xmlns:a="http://schemas.openxmlformats.org/drawingml/2006/main">
              <a:ext uri="{FF2B5EF4-FFF2-40B4-BE49-F238E27FC236}">
                <a16:creationId xmlns:a16="http://schemas.microsoft.com/office/drawing/2014/main" id="{8E383893-3A91-4465-8A57-FC55D6FC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fair-test repair lab</a:t>
            </a:r>
          </a:p>
        </p:txBody>
      </p:sp>
      <p:sp>
        <p:nvSpPr>
          <p:cNvPr id="10" name="6 / 14">
            <a:extLst xmlns:a="http://schemas.openxmlformats.org/drawingml/2006/main">
              <a:ext uri="{FF2B5EF4-FFF2-40B4-BE49-F238E27FC236}">
                <a16:creationId xmlns:a16="http://schemas.microsoft.com/office/drawing/2014/main" id="{6DA4FA30-5C00-471A-A7FC-E35826452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6 / 14</a:t>
            </a:r>
          </a:p>
        </p:txBody>
      </p:sp>
      <p:sp>
        <p:nvSpPr>
          <p:cNvPr id="11" name="Choose the one change. Choose what to measure. Name two controls">
            <a:extLst xmlns:a="http://schemas.openxmlformats.org/drawingml/2006/main">
              <a:ext uri="{FF2B5EF4-FFF2-40B4-BE49-F238E27FC236}">
                <a16:creationId xmlns:a16="http://schemas.microsoft.com/office/drawing/2014/main" id="{5EE12251-EEC6-4B93-8EA2-42F0A1EBD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95475"/>
            <a:ext cx="1112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Choose the one change. Choose what to measure. Name two controls.</a:t>
            </a:r>
          </a:p>
        </p:txBody>
      </p:sp>
      <p:graphicFrame>
        <p:nvGraphicFramePr>
          <p:cNvPr id="26" name=""/>
          <p:cNvGraphicFramePr/>
          <p:nvPr/>
        </p:nvGraphicFramePr>
        <p:xfrm>
          <a:off xmlns:a="http://schemas.openxmlformats.org/drawingml/2006/main" x="533400" y="2295525"/>
          <a:ext xmlns:a="http://schemas.openxmlformats.org/drawingml/2006/main" cx="11125200" cy="202120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708400"/>
                <a:gridCol w="7416800"/>
              </a:tblGrid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Plan part</a:t>
                      </a:r>
                    </a:p>
                  </a:txBody>
                  <a:tcPr marL="95250" marR="95250" marT="95250" marB="95250" anchor="ctr">
                    <a:solidFill>
                      <a:srgbClr val="4D82A0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Choose from these</a:t>
                      </a:r>
                    </a:p>
                  </a:txBody>
                  <a:tcPr marL="95250" marR="95250" marT="95250" marB="95250" anchor="ctr">
                    <a:solidFill>
                      <a:srgbClr val="4D82A0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Change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Card height / source-screen distance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Measure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Shadow height / card colour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Keep same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Card position / card height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13" name="Constructed teaching evidence">
            <a:extLst xmlns:a="http://schemas.openxmlformats.org/drawingml/2006/main">
              <a:ext uri="{FF2B5EF4-FFF2-40B4-BE49-F238E27FC236}">
                <a16:creationId xmlns:a16="http://schemas.microsoft.com/office/drawing/2014/main" id="{CDA828F8-8426-4FA6-8FD4-53458443D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31030"/>
            <a:ext cx="11125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Constructed teaching evidence</a:t>
            </a:r>
          </a:p>
        </p:txBody>
      </p:sp>
      <p:sp>
        <p:nvSpPr>
          <p:cNvPr id="14" name="W1. Which choices answer our height question?">
            <a:extLst xmlns:a="http://schemas.openxmlformats.org/drawingml/2006/main">
              <a:ext uri="{FF2B5EF4-FFF2-40B4-BE49-F238E27FC236}">
                <a16:creationId xmlns:a16="http://schemas.microsoft.com/office/drawing/2014/main" id="{AFDEC935-6DEB-4D2A-B9CF-1F5D4535E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83455"/>
            <a:ext cx="11125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W1. Which choices answer our height question?</a:t>
            </a:r>
          </a:p>
        </p:txBody>
      </p:sp>
    </p:spTree>
    <p:extLst>
      <p:ext uri="{BB962C8B-B14F-4D97-AF65-F5344CB8AC3E}">
        <p14:creationId xmlns:p14="http://schemas.microsoft.com/office/powerpoint/2010/main" val="10209640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urface">
            <a:extLst xmlns:a="http://schemas.openxmlformats.org/drawingml/2006/main">
              <a:ext uri="{FF2B5EF4-FFF2-40B4-BE49-F238E27FC236}">
                <a16:creationId xmlns:a16="http://schemas.microsoft.com/office/drawing/2014/main" id="{5EA4BB6F-535A-426E-B33A-3159A6998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16D66C28-0029-446B-A118-C383714BF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3643CEEE-4D0F-4591-AECF-3BA80E6C7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2033BF92-420F-4784-B937-6A0C9CBC0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We do">
            <a:extLst xmlns:a="http://schemas.openxmlformats.org/drawingml/2006/main">
              <a:ext uri="{FF2B5EF4-FFF2-40B4-BE49-F238E27FC236}">
                <a16:creationId xmlns:a16="http://schemas.microsoft.com/office/drawing/2014/main" id="{898E8224-4E2C-4EEF-BB80-6CCD7A9A7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We do</a:t>
            </a:r>
          </a:p>
        </p:txBody>
      </p:sp>
      <p:sp>
        <p:nvSpPr>
          <p:cNvPr id="6" name="4 min">
            <a:extLst xmlns:a="http://schemas.openxmlformats.org/drawingml/2006/main">
              <a:ext uri="{FF2B5EF4-FFF2-40B4-BE49-F238E27FC236}">
                <a16:creationId xmlns:a16="http://schemas.microsoft.com/office/drawing/2014/main" id="{0FF4FB25-B765-41F4-AA37-EEF7644A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4 min</a:t>
            </a:r>
          </a:p>
        </p:txBody>
      </p:sp>
      <p:sp>
        <p:nvSpPr>
          <p:cNvPr id="7" name="What should we do with 9?">
            <a:extLst xmlns:a="http://schemas.openxmlformats.org/drawingml/2006/main">
              <a:ext uri="{FF2B5EF4-FFF2-40B4-BE49-F238E27FC236}">
                <a16:creationId xmlns:a16="http://schemas.microsoft.com/office/drawing/2014/main" id="{549F2260-6C33-483B-945B-339D593EF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What should we do with 9?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74108BD3-009C-402F-A8F7-D0674B48F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fair-test repair lab">
            <a:extLst xmlns:a="http://schemas.openxmlformats.org/drawingml/2006/main">
              <a:ext uri="{FF2B5EF4-FFF2-40B4-BE49-F238E27FC236}">
                <a16:creationId xmlns:a16="http://schemas.microsoft.com/office/drawing/2014/main" id="{2AA3485F-BFD1-462A-B91D-C319CF354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fair-test repair lab</a:t>
            </a:r>
          </a:p>
        </p:txBody>
      </p:sp>
      <p:sp>
        <p:nvSpPr>
          <p:cNvPr id="10" name="7 / 14">
            <a:extLst xmlns:a="http://schemas.openxmlformats.org/drawingml/2006/main">
              <a:ext uri="{FF2B5EF4-FFF2-40B4-BE49-F238E27FC236}">
                <a16:creationId xmlns:a16="http://schemas.microsoft.com/office/drawing/2014/main" id="{7427C090-FAF3-4D83-B90F-053150E3C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7 / 14</a:t>
            </a:r>
          </a:p>
        </p:txBody>
      </p:sp>
      <p:sp>
        <p:nvSpPr>
          <p:cNvPr id="11" name="Three readings include one difference. Keep the evidence. Check ">
            <a:extLst xmlns:a="http://schemas.openxmlformats.org/drawingml/2006/main">
              <a:ext uri="{FF2B5EF4-FFF2-40B4-BE49-F238E27FC236}">
                <a16:creationId xmlns:a16="http://schemas.microsoft.com/office/drawing/2014/main" id="{970F847B-9DBD-48B0-B1FA-4C4370F41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95475"/>
            <a:ext cx="1112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Three readings include one difference. Keep the evidence. Check and repeat if useful.</a:t>
            </a:r>
          </a:p>
        </p:txBody>
      </p:sp>
      <p:graphicFrame>
        <p:nvGraphicFramePr>
          <p:cNvPr id="26" name=""/>
          <p:cNvGraphicFramePr/>
          <p:nvPr/>
        </p:nvGraphicFramePr>
        <p:xfrm>
          <a:off xmlns:a="http://schemas.openxmlformats.org/drawingml/2006/main" x="533400" y="2295525"/>
          <a:ext xmlns:a="http://schemas.openxmlformats.org/drawingml/2006/main" cx="11125200" cy="202120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995798"/>
                <a:gridCol w="2709801"/>
                <a:gridCol w="2709801"/>
                <a:gridCol w="2709801"/>
              </a:tblGrid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Card height</a:t>
                      </a:r>
                    </a:p>
                  </a:txBody>
                  <a:tcPr marL="95250" marR="95250" marT="95250" marB="95250" anchor="ctr">
                    <a:solidFill>
                      <a:srgbClr val="4D82A0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Repeat 1</a:t>
                      </a:r>
                    </a:p>
                  </a:txBody>
                  <a:tcPr marL="95250" marR="95250" marT="95250" marB="95250" anchor="ctr">
                    <a:solidFill>
                      <a:srgbClr val="4D82A0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Repeat 2</a:t>
                      </a:r>
                    </a:p>
                  </a:txBody>
                  <a:tcPr marL="95250" marR="95250" marT="95250" marB="95250" anchor="ctr">
                    <a:solidFill>
                      <a:srgbClr val="4D82A0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Repeat 3</a:t>
                      </a:r>
                    </a:p>
                  </a:txBody>
                  <a:tcPr marL="95250" marR="95250" marT="95250" marB="95250" anchor="ctr">
                    <a:solidFill>
                      <a:srgbClr val="4D82A0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2 cm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4 cm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4 cm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4 cm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4 cm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8 cm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8 cm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9 cm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6 cm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12 cm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12 cm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12 cm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13" name="Constructed teaching readings, not class observations">
            <a:extLst xmlns:a="http://schemas.openxmlformats.org/drawingml/2006/main">
              <a:ext uri="{FF2B5EF4-FFF2-40B4-BE49-F238E27FC236}">
                <a16:creationId xmlns:a16="http://schemas.microsoft.com/office/drawing/2014/main" id="{E0189D74-2DA4-4C6D-A779-613BE298C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31030"/>
            <a:ext cx="11125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Constructed teaching readings, not class observations</a:t>
            </a:r>
          </a:p>
        </p:txBody>
      </p:sp>
      <p:sp>
        <p:nvSpPr>
          <p:cNvPr id="14" name="W2. Can we keep a useful conclusion and keep the 9?">
            <a:extLst xmlns:a="http://schemas.openxmlformats.org/drawingml/2006/main">
              <a:ext uri="{FF2B5EF4-FFF2-40B4-BE49-F238E27FC236}">
                <a16:creationId xmlns:a16="http://schemas.microsoft.com/office/drawing/2014/main" id="{A418C978-7590-4D17-9EFF-044185B2E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83455"/>
            <a:ext cx="11125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W2. Can we keep a useful conclusion and keep the 9?</a:t>
            </a:r>
          </a:p>
        </p:txBody>
      </p:sp>
    </p:spTree>
    <p:extLst>
      <p:ext uri="{BB962C8B-B14F-4D97-AF65-F5344CB8AC3E}">
        <p14:creationId xmlns:p14="http://schemas.microsoft.com/office/powerpoint/2010/main" val="13575376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urface">
            <a:extLst xmlns:a="http://schemas.openxmlformats.org/drawingml/2006/main">
              <a:ext uri="{FF2B5EF4-FFF2-40B4-BE49-F238E27FC236}">
                <a16:creationId xmlns:a16="http://schemas.microsoft.com/office/drawing/2014/main" id="{D2EEEA88-3F87-4440-9460-56BCA3D32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890A40E3-1DE4-4F22-B85D-BBEFF159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EEC1A82E-4199-49D4-B533-67D1D84F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32F10571-6FDF-431B-8FAE-4C8793ECF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Hinge">
            <a:extLst xmlns:a="http://schemas.openxmlformats.org/drawingml/2006/main">
              <a:ext uri="{FF2B5EF4-FFF2-40B4-BE49-F238E27FC236}">
                <a16:creationId xmlns:a16="http://schemas.microsoft.com/office/drawing/2014/main" id="{58F0706B-1DB4-4401-BA3D-F46420062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Hinge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EC5E8DDD-24AE-4AED-A5E1-C316B069D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Which plan is fair for this question?">
            <a:extLst xmlns:a="http://schemas.openxmlformats.org/drawingml/2006/main">
              <a:ext uri="{FF2B5EF4-FFF2-40B4-BE49-F238E27FC236}">
                <a16:creationId xmlns:a16="http://schemas.microsoft.com/office/drawing/2014/main" id="{9BC61FA5-E5B7-44D3-8524-6C8314585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Which plan is fair for this question?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74723527-2DB3-49AA-AC2E-3AD231CC4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fair-test repair lab">
            <a:extLst xmlns:a="http://schemas.openxmlformats.org/drawingml/2006/main">
              <a:ext uri="{FF2B5EF4-FFF2-40B4-BE49-F238E27FC236}">
                <a16:creationId xmlns:a16="http://schemas.microsoft.com/office/drawing/2014/main" id="{E730D70D-E98F-468C-B006-8C95FD2F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fair-test repair lab</a:t>
            </a:r>
          </a:p>
        </p:txBody>
      </p:sp>
      <p:sp>
        <p:nvSpPr>
          <p:cNvPr id="10" name="8 / 14">
            <a:extLst xmlns:a="http://schemas.openxmlformats.org/drawingml/2006/main">
              <a:ext uri="{FF2B5EF4-FFF2-40B4-BE49-F238E27FC236}">
                <a16:creationId xmlns:a16="http://schemas.microsoft.com/office/drawing/2014/main" id="{786EAB62-A5A3-483C-AA94-232D402E4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8 / 14</a:t>
            </a:r>
          </a:p>
        </p:txBody>
      </p:sp>
      <p:sp>
        <p:nvSpPr>
          <p:cNvPr id="11" name="Question: how does card height affect shadow height?">
            <a:extLst xmlns:a="http://schemas.openxmlformats.org/drawingml/2006/main">
              <a:ext uri="{FF2B5EF4-FFF2-40B4-BE49-F238E27FC236}">
                <a16:creationId xmlns:a16="http://schemas.microsoft.com/office/drawing/2014/main" id="{0C8C223A-6955-4D47-9DB2-6447BC89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11125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Question: how does card height affect shadow height?</a:t>
            </a:r>
          </a:p>
        </p:txBody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A9BAC939-C1CB-4EB3-9616-CCC1F920F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52675"/>
            <a:ext cx="11125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0B71249A-47EB-4525-97EF-D14D76313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526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14" name="A">
            <a:extLst xmlns:a="http://schemas.openxmlformats.org/drawingml/2006/main">
              <a:ext uri="{FF2B5EF4-FFF2-40B4-BE49-F238E27FC236}">
                <a16:creationId xmlns:a16="http://schemas.microsoft.com/office/drawing/2014/main" id="{8DC32F2A-93A2-4463-8928-5DF15B393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95550"/>
            <a:ext cx="47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A</a:t>
            </a:r>
          </a:p>
        </p:txBody>
      </p:sp>
      <p:sp>
        <p:nvSpPr>
          <p:cNvPr id="15" name="Change card height and source distance together.">
            <a:extLst xmlns:a="http://schemas.openxmlformats.org/drawingml/2006/main">
              <a:ext uri="{FF2B5EF4-FFF2-40B4-BE49-F238E27FC236}">
                <a16:creationId xmlns:a16="http://schemas.microsoft.com/office/drawing/2014/main" id="{E7AB7DB7-0D03-48A5-860D-2223EEC0C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495550"/>
            <a:ext cx="1014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Change card height and source distance together.</a:t>
            </a:r>
          </a:p>
        </p:txBody>
      </p:sp>
      <p:sp>
        <p:nvSpPr>
          <p:cNvPr id="16" name="surface">
            <a:extLst xmlns:a="http://schemas.openxmlformats.org/drawingml/2006/main">
              <a:ext uri="{FF2B5EF4-FFF2-40B4-BE49-F238E27FC236}">
                <a16:creationId xmlns:a16="http://schemas.microsoft.com/office/drawing/2014/main" id="{26BF9DD8-4D1E-4A11-81F6-380C6AE66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33775"/>
            <a:ext cx="11125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17" name="surface">
            <a:extLst xmlns:a="http://schemas.openxmlformats.org/drawingml/2006/main">
              <a:ext uri="{FF2B5EF4-FFF2-40B4-BE49-F238E27FC236}">
                <a16:creationId xmlns:a16="http://schemas.microsoft.com/office/drawing/2014/main" id="{DFF4DAB1-81F5-426F-981D-03506DEC1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337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18" name="B">
            <a:extLst xmlns:a="http://schemas.openxmlformats.org/drawingml/2006/main">
              <a:ext uri="{FF2B5EF4-FFF2-40B4-BE49-F238E27FC236}">
                <a16:creationId xmlns:a16="http://schemas.microsoft.com/office/drawing/2014/main" id="{5822E3E1-77F0-4FFC-ABBC-ACCB70AA4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676650"/>
            <a:ext cx="47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B</a:t>
            </a:r>
          </a:p>
        </p:txBody>
      </p:sp>
      <p:sp>
        <p:nvSpPr>
          <p:cNvPr id="19" name="Change card height; keep the source, screen and card position fi">
            <a:extLst xmlns:a="http://schemas.openxmlformats.org/drawingml/2006/main">
              <a:ext uri="{FF2B5EF4-FFF2-40B4-BE49-F238E27FC236}">
                <a16:creationId xmlns:a16="http://schemas.microsoft.com/office/drawing/2014/main" id="{C4930FEC-BD04-4706-A651-2C5696125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676650"/>
            <a:ext cx="1014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Change card height; keep the source, screen and card position fixed.</a:t>
            </a:r>
          </a:p>
        </p:txBody>
      </p:sp>
      <p:sp>
        <p:nvSpPr>
          <p:cNvPr id="20" name="surface">
            <a:extLst xmlns:a="http://schemas.openxmlformats.org/drawingml/2006/main">
              <a:ext uri="{FF2B5EF4-FFF2-40B4-BE49-F238E27FC236}">
                <a16:creationId xmlns:a16="http://schemas.microsoft.com/office/drawing/2014/main" id="{810AA9A0-6AD0-41AB-B471-9D8A7DD3E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14875"/>
            <a:ext cx="11125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21" name="surface">
            <a:extLst xmlns:a="http://schemas.openxmlformats.org/drawingml/2006/main">
              <a:ext uri="{FF2B5EF4-FFF2-40B4-BE49-F238E27FC236}">
                <a16:creationId xmlns:a16="http://schemas.microsoft.com/office/drawing/2014/main" id="{6897BEE1-9C42-456F-A02C-5A2F38396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148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2" name="C">
            <a:extLst xmlns:a="http://schemas.openxmlformats.org/drawingml/2006/main">
              <a:ext uri="{FF2B5EF4-FFF2-40B4-BE49-F238E27FC236}">
                <a16:creationId xmlns:a16="http://schemas.microsoft.com/office/drawing/2014/main" id="{1BCB9C6E-9DEB-4327-BF47-E2965862A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857750"/>
            <a:ext cx="47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C</a:t>
            </a:r>
          </a:p>
        </p:txBody>
      </p:sp>
      <p:sp>
        <p:nvSpPr>
          <p:cNvPr id="23" name="Keep card height the same and only change its colour.">
            <a:extLst xmlns:a="http://schemas.openxmlformats.org/drawingml/2006/main">
              <a:ext uri="{FF2B5EF4-FFF2-40B4-BE49-F238E27FC236}">
                <a16:creationId xmlns:a16="http://schemas.microsoft.com/office/drawing/2014/main" id="{9E3F6DAE-2790-47CE-888B-DBF6B626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857750"/>
            <a:ext cx="1014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Keep card height the same and only change its colour.</a:t>
            </a:r>
          </a:p>
        </p:txBody>
      </p:sp>
    </p:spTree>
    <p:extLst>
      <p:ext uri="{BB962C8B-B14F-4D97-AF65-F5344CB8AC3E}">
        <p14:creationId xmlns:p14="http://schemas.microsoft.com/office/powerpoint/2010/main" val="20774712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A14111D1-FB2F-489F-9AEC-37D31B78D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D5A49C9D-FE9A-4772-96C7-FF25AFF9C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64BA2DA3-17E1-449E-970A-F19EACBF6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A35F879F-9BD9-414D-B5A3-E012B3471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You do">
            <a:extLst xmlns:a="http://schemas.openxmlformats.org/drawingml/2006/main">
              <a:ext uri="{FF2B5EF4-FFF2-40B4-BE49-F238E27FC236}">
                <a16:creationId xmlns:a16="http://schemas.microsoft.com/office/drawing/2014/main" id="{2269F768-5CAD-4E37-AB8D-58B9B6BDD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You do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1392BC5A-B6F3-4B5B-B242-436C36114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Choose your investigation route">
            <a:extLst xmlns:a="http://schemas.openxmlformats.org/drawingml/2006/main">
              <a:ext uri="{FF2B5EF4-FFF2-40B4-BE49-F238E27FC236}">
                <a16:creationId xmlns:a16="http://schemas.microsoft.com/office/drawing/2014/main" id="{FF196926-7D94-4802-949F-68771B198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Choose your investigation route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284086D7-343D-4BDA-8132-2AF6EB00A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fair-test repair lab">
            <a:extLst xmlns:a="http://schemas.openxmlformats.org/drawingml/2006/main">
              <a:ext uri="{FF2B5EF4-FFF2-40B4-BE49-F238E27FC236}">
                <a16:creationId xmlns:a16="http://schemas.microsoft.com/office/drawing/2014/main" id="{84952972-F963-4437-85B7-9A5D0C919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fair-test repair lab</a:t>
            </a:r>
          </a:p>
        </p:txBody>
      </p:sp>
      <p:sp>
        <p:nvSpPr>
          <p:cNvPr id="10" name="9 / 14">
            <a:extLst xmlns:a="http://schemas.openxmlformats.org/drawingml/2006/main">
              <a:ext uri="{FF2B5EF4-FFF2-40B4-BE49-F238E27FC236}">
                <a16:creationId xmlns:a16="http://schemas.microsoft.com/office/drawing/2014/main" id="{E10CAD44-501D-4904-B49B-E7A61F77D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9 / 14</a:t>
            </a:r>
          </a:p>
        </p:txBody>
      </p:sp>
      <p:sp>
        <p:nvSpPr>
          <p:cNvPr id="11" name="Choose the test controls.">
            <a:extLst xmlns:a="http://schemas.openxmlformats.org/drawingml/2006/main">
              <a:ext uri="{FF2B5EF4-FFF2-40B4-BE49-F238E27FC236}">
                <a16:creationId xmlns:a16="http://schemas.microsoft.com/office/drawing/2014/main" id="{2E8F7BC0-F599-49A3-BE90-D13F83DAE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Choose the test controls.</a:t>
            </a:r>
          </a:p>
        </p:txBody>
      </p:sp>
      <p:sp>
        <p:nvSpPr>
          <p:cNvPr id="12" name="Write a method and conclusion.">
            <a:extLst xmlns:a="http://schemas.openxmlformats.org/drawingml/2006/main">
              <a:ext uri="{FF2B5EF4-FFF2-40B4-BE49-F238E27FC236}">
                <a16:creationId xmlns:a16="http://schemas.microsoft.com/office/drawing/2014/main" id="{CCD834D3-873C-46F8-9696-C7C9B92B2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3183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Write a method and conclusion.</a:t>
            </a:r>
          </a:p>
        </p:txBody>
      </p:sp>
      <p:sp>
        <p:nvSpPr>
          <p:cNvPr id="13" name="Review the strength of a claim.">
            <a:extLst xmlns:a="http://schemas.openxmlformats.org/drawingml/2006/main">
              <a:ext uri="{FF2B5EF4-FFF2-40B4-BE49-F238E27FC236}">
                <a16:creationId xmlns:a16="http://schemas.microsoft.com/office/drawing/2014/main" id="{08AFC8A2-9BFF-4118-A7FC-51CED73C0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7540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Review the strength of a claim.</a:t>
            </a:r>
          </a:p>
        </p:txBody>
      </p:sp>
    </p:spTree>
    <p:extLst>
      <p:ext uri="{BB962C8B-B14F-4D97-AF65-F5344CB8AC3E}">
        <p14:creationId xmlns:p14="http://schemas.microsoft.com/office/powerpoint/2010/main" val="199504146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B6F35C47-8CA0-48F9-AA47-FCFFB97D5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D05CC215-9429-433B-AC5A-7AD89E1B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18F6819A-E635-4D64-AA76-7CE93ED88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2B3511EF-CF44-4B24-9472-8BFF84E6A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You do">
            <a:extLst xmlns:a="http://schemas.openxmlformats.org/drawingml/2006/main">
              <a:ext uri="{FF2B5EF4-FFF2-40B4-BE49-F238E27FC236}">
                <a16:creationId xmlns:a16="http://schemas.microsoft.com/office/drawing/2014/main" id="{E1409A42-E419-49E5-867C-D23F38ABE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You do</a:t>
            </a:r>
          </a:p>
        </p:txBody>
      </p:sp>
      <p:sp>
        <p:nvSpPr>
          <p:cNvPr id="6" name="Use the evidence">
            <a:extLst xmlns:a="http://schemas.openxmlformats.org/drawingml/2006/main">
              <a:ext uri="{FF2B5EF4-FFF2-40B4-BE49-F238E27FC236}">
                <a16:creationId xmlns:a16="http://schemas.microsoft.com/office/drawing/2014/main" id="{34A2798A-2615-40BE-BEAD-9EB29B749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Use the evidence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509F6005-51B7-4BEC-998E-BCE671A16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The fair-test repair lab">
            <a:extLst xmlns:a="http://schemas.openxmlformats.org/drawingml/2006/main">
              <a:ext uri="{FF2B5EF4-FFF2-40B4-BE49-F238E27FC236}">
                <a16:creationId xmlns:a16="http://schemas.microsoft.com/office/drawing/2014/main" id="{221316DF-3C53-43A3-9752-D2C77551A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fair-test repair lab</a:t>
            </a:r>
          </a:p>
        </p:txBody>
      </p:sp>
      <p:sp>
        <p:nvSpPr>
          <p:cNvPr id="9" name="10 / 14">
            <a:extLst xmlns:a="http://schemas.openxmlformats.org/drawingml/2006/main">
              <a:ext uri="{FF2B5EF4-FFF2-40B4-BE49-F238E27FC236}">
                <a16:creationId xmlns:a16="http://schemas.microsoft.com/office/drawing/2014/main" id="{A9DBBBD6-A3E7-42B9-88EC-4B6513B5E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10 / 14</a:t>
            </a:r>
          </a:p>
        </p:txBody>
      </p:sp>
      <p:sp>
        <p:nvSpPr>
          <p:cNvPr id="10" name="Read or point to one clue.">
            <a:extLst xmlns:a="http://schemas.openxmlformats.org/drawingml/2006/main">
              <a:ext uri="{FF2B5EF4-FFF2-40B4-BE49-F238E27FC236}">
                <a16:creationId xmlns:a16="http://schemas.microsoft.com/office/drawing/2014/main" id="{669ABC7D-5146-4CD8-8D08-5FB32AA15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Read or point to one clue.</a:t>
            </a:r>
          </a:p>
        </p:txBody>
      </p:sp>
      <p:sp>
        <p:nvSpPr>
          <p:cNvPr id="11" name="Record what it supports.">
            <a:extLst xmlns:a="http://schemas.openxmlformats.org/drawingml/2006/main">
              <a:ext uri="{FF2B5EF4-FFF2-40B4-BE49-F238E27FC236}">
                <a16:creationId xmlns:a16="http://schemas.microsoft.com/office/drawing/2014/main" id="{AE031385-989D-4C69-819D-64D3890BA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3183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Record what it supports.</a:t>
            </a:r>
          </a:p>
        </p:txBody>
      </p:sp>
      <p:sp>
        <p:nvSpPr>
          <p:cNvPr id="12" name="Keep your explanation short.">
            <a:extLst xmlns:a="http://schemas.openxmlformats.org/drawingml/2006/main">
              <a:ext uri="{FF2B5EF4-FFF2-40B4-BE49-F238E27FC236}">
                <a16:creationId xmlns:a16="http://schemas.microsoft.com/office/drawing/2014/main" id="{032ECD56-68DE-4BFF-89D7-7D48CFF14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7540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Keep your explanation short.</a:t>
            </a:r>
          </a:p>
        </p:txBody>
      </p:sp>
    </p:spTree>
    <p:extLst>
      <p:ext uri="{BB962C8B-B14F-4D97-AF65-F5344CB8AC3E}">
        <p14:creationId xmlns:p14="http://schemas.microsoft.com/office/powerpoint/2010/main" val="108335196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88044740-25D5-4651-9982-62EBD238D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A605CC7B-5C0F-443B-8735-9CC4ED0B1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A10692DB-44E8-4E61-9AB6-82163C982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1DF82F0E-04A0-4442-A52E-38052CAB6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You do">
            <a:extLst xmlns:a="http://schemas.openxmlformats.org/drawingml/2006/main">
              <a:ext uri="{FF2B5EF4-FFF2-40B4-BE49-F238E27FC236}">
                <a16:creationId xmlns:a16="http://schemas.microsoft.com/office/drawing/2014/main" id="{E81FC1F4-75FD-45B0-AAB5-0525E1961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You do</a:t>
            </a:r>
          </a:p>
        </p:txBody>
      </p:sp>
      <p:sp>
        <p:nvSpPr>
          <p:cNvPr id="6" name="10 min">
            <a:extLst xmlns:a="http://schemas.openxmlformats.org/drawingml/2006/main">
              <a:ext uri="{FF2B5EF4-FFF2-40B4-BE49-F238E27FC236}">
                <a16:creationId xmlns:a16="http://schemas.microsoft.com/office/drawing/2014/main" id="{9D0804C9-1B7D-4B17-AE5A-65EA8A727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10 min</a:t>
            </a:r>
          </a:p>
        </p:txBody>
      </p:sp>
      <p:sp>
        <p:nvSpPr>
          <p:cNvPr id="7" name="Make your own science record">
            <a:extLst xmlns:a="http://schemas.openxmlformats.org/drawingml/2006/main">
              <a:ext uri="{FF2B5EF4-FFF2-40B4-BE49-F238E27FC236}">
                <a16:creationId xmlns:a16="http://schemas.microsoft.com/office/drawing/2014/main" id="{D011950E-362B-4ADB-828F-566199DF1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Make your own science record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C6A21D64-EAF8-44D1-BB6C-69D29C066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fair-test repair lab">
            <a:extLst xmlns:a="http://schemas.openxmlformats.org/drawingml/2006/main">
              <a:ext uri="{FF2B5EF4-FFF2-40B4-BE49-F238E27FC236}">
                <a16:creationId xmlns:a16="http://schemas.microsoft.com/office/drawing/2014/main" id="{4D54CEA6-C059-417C-BEB5-08F1EA651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fair-test repair lab</a:t>
            </a:r>
          </a:p>
        </p:txBody>
      </p:sp>
      <p:sp>
        <p:nvSpPr>
          <p:cNvPr id="10" name="11 / 14">
            <a:extLst xmlns:a="http://schemas.openxmlformats.org/drawingml/2006/main">
              <a:ext uri="{FF2B5EF4-FFF2-40B4-BE49-F238E27FC236}">
                <a16:creationId xmlns:a16="http://schemas.microsoft.com/office/drawing/2014/main" id="{AA1FDF62-B217-446E-9568-7C578584B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11 / 14</a:t>
            </a:r>
          </a:p>
        </p:txBody>
      </p:sp>
      <p:sp>
        <p:nvSpPr>
          <p:cNvPr id="11" name="Complete your chosen route.">
            <a:extLst xmlns:a="http://schemas.openxmlformats.org/drawingml/2006/main">
              <a:ext uri="{FF2B5EF4-FFF2-40B4-BE49-F238E27FC236}">
                <a16:creationId xmlns:a16="http://schemas.microsoft.com/office/drawing/2014/main" id="{2BB886D5-EADC-46BE-A252-EDE680DB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Complete your chosen route.</a:t>
            </a:r>
          </a:p>
        </p:txBody>
      </p:sp>
      <p:sp>
        <p:nvSpPr>
          <p:cNvPr id="12" name="Use a diagram, words or speech.">
            <a:extLst xmlns:a="http://schemas.openxmlformats.org/drawingml/2006/main">
              <a:ext uri="{FF2B5EF4-FFF2-40B4-BE49-F238E27FC236}">
                <a16:creationId xmlns:a16="http://schemas.microsoft.com/office/drawing/2014/main" id="{DA4CBC06-0C65-472D-A661-57DF13FAA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3183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Use a diagram, words or speech.</a:t>
            </a:r>
          </a:p>
        </p:txBody>
      </p:sp>
      <p:sp>
        <p:nvSpPr>
          <p:cNvPr id="13" name="Check one answer with the evidence.">
            <a:extLst xmlns:a="http://schemas.openxmlformats.org/drawingml/2006/main">
              <a:ext uri="{FF2B5EF4-FFF2-40B4-BE49-F238E27FC236}">
                <a16:creationId xmlns:a16="http://schemas.microsoft.com/office/drawing/2014/main" id="{3FB0E3DE-732D-4992-8426-57DB147C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7540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Check one answer with the evidence.</a:t>
            </a:r>
          </a:p>
        </p:txBody>
      </p:sp>
    </p:spTree>
    <p:extLst>
      <p:ext uri="{BB962C8B-B14F-4D97-AF65-F5344CB8AC3E}">
        <p14:creationId xmlns:p14="http://schemas.microsoft.com/office/powerpoint/2010/main" val="132040011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0CBD2657-ECEB-4378-92E2-A867B2B6C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EF61063D-527B-4459-BB12-2A3DEA69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FCEA3EBA-E193-41E8-B790-4FAD5DBB9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22423B90-994A-4931-8A7C-B8E68F41F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You do">
            <a:extLst xmlns:a="http://schemas.openxmlformats.org/drawingml/2006/main">
              <a:ext uri="{FF2B5EF4-FFF2-40B4-BE49-F238E27FC236}">
                <a16:creationId xmlns:a16="http://schemas.microsoft.com/office/drawing/2014/main" id="{DFAAB050-E42A-4973-A38F-0FA0AA2DC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You do</a:t>
            </a:r>
          </a:p>
        </p:txBody>
      </p:sp>
      <p:sp>
        <p:nvSpPr>
          <p:cNvPr id="6" name="Check and improve">
            <a:extLst xmlns:a="http://schemas.openxmlformats.org/drawingml/2006/main">
              <a:ext uri="{FF2B5EF4-FFF2-40B4-BE49-F238E27FC236}">
                <a16:creationId xmlns:a16="http://schemas.microsoft.com/office/drawing/2014/main" id="{0390872B-2D69-4B9D-8F98-012B5AF63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Check and improve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19CD9B45-94F9-489D-AD1D-51621D3F2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The fair-test repair lab">
            <a:extLst xmlns:a="http://schemas.openxmlformats.org/drawingml/2006/main">
              <a:ext uri="{FF2B5EF4-FFF2-40B4-BE49-F238E27FC236}">
                <a16:creationId xmlns:a16="http://schemas.microsoft.com/office/drawing/2014/main" id="{6D48650D-6C6E-4F4B-B330-633AA1364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fair-test repair lab</a:t>
            </a:r>
          </a:p>
        </p:txBody>
      </p:sp>
      <p:sp>
        <p:nvSpPr>
          <p:cNvPr id="9" name="12 / 14">
            <a:extLst xmlns:a="http://schemas.openxmlformats.org/drawingml/2006/main">
              <a:ext uri="{FF2B5EF4-FFF2-40B4-BE49-F238E27FC236}">
                <a16:creationId xmlns:a16="http://schemas.microsoft.com/office/drawing/2014/main" id="{5B99C555-320C-4F72-B08E-841B09B7A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12 / 14</a:t>
            </a:r>
          </a:p>
        </p:txBody>
      </p:sp>
      <p:sp>
        <p:nvSpPr>
          <p:cNvPr id="10" name="Does my answer match the evidence?">
            <a:extLst xmlns:a="http://schemas.openxmlformats.org/drawingml/2006/main">
              <a:ext uri="{FF2B5EF4-FFF2-40B4-BE49-F238E27FC236}">
                <a16:creationId xmlns:a16="http://schemas.microsoft.com/office/drawing/2014/main" id="{6F813F50-0453-4CBF-8692-9737C22DB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Does my answer match the evidence?</a:t>
            </a:r>
          </a:p>
        </p:txBody>
      </p:sp>
      <p:sp>
        <p:nvSpPr>
          <p:cNvPr id="11" name="Have I explained why?">
            <a:extLst xmlns:a="http://schemas.openxmlformats.org/drawingml/2006/main">
              <a:ext uri="{FF2B5EF4-FFF2-40B4-BE49-F238E27FC236}">
                <a16:creationId xmlns:a16="http://schemas.microsoft.com/office/drawing/2014/main" id="{4E8A9001-98F2-4970-B3B9-4F898CFA8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3183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Have I explained why?</a:t>
            </a:r>
          </a:p>
        </p:txBody>
      </p:sp>
      <p:sp>
        <p:nvSpPr>
          <p:cNvPr id="12" name="Improve one label or sentence.">
            <a:extLst xmlns:a="http://schemas.openxmlformats.org/drawingml/2006/main">
              <a:ext uri="{FF2B5EF4-FFF2-40B4-BE49-F238E27FC236}">
                <a16:creationId xmlns:a16="http://schemas.microsoft.com/office/drawing/2014/main" id="{E5E28722-B599-4553-9DEB-BD997D3C8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7540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Improve one label or sentence.</a:t>
            </a:r>
          </a:p>
        </p:txBody>
      </p:sp>
    </p:spTree>
    <p:extLst>
      <p:ext uri="{BB962C8B-B14F-4D97-AF65-F5344CB8AC3E}">
        <p14:creationId xmlns:p14="http://schemas.microsoft.com/office/powerpoint/2010/main" val="189479526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urface">
            <a:extLst xmlns:a="http://schemas.openxmlformats.org/drawingml/2006/main">
              <a:ext uri="{FF2B5EF4-FFF2-40B4-BE49-F238E27FC236}">
                <a16:creationId xmlns:a16="http://schemas.microsoft.com/office/drawing/2014/main" id="{B231F325-C18E-40C4-B332-F1B633FD8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8CB272CD-FFDE-4F7A-B89D-5C72E54D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B8AA457C-CE8E-436C-A610-5C064F948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55339E86-ABE3-4879-BFBF-A29771004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Review">
            <a:extLst xmlns:a="http://schemas.openxmlformats.org/drawingml/2006/main">
              <a:ext uri="{FF2B5EF4-FFF2-40B4-BE49-F238E27FC236}">
                <a16:creationId xmlns:a16="http://schemas.microsoft.com/office/drawing/2014/main" id="{045FDE1E-54F6-4704-B85E-4C402972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Review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CCDC6B00-A5F1-4DBC-A6C1-07CA006E1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Lundy loop: improve our account">
            <a:extLst xmlns:a="http://schemas.openxmlformats.org/drawingml/2006/main">
              <a:ext uri="{FF2B5EF4-FFF2-40B4-BE49-F238E27FC236}">
                <a16:creationId xmlns:a16="http://schemas.microsoft.com/office/drawing/2014/main" id="{0F1679B2-0E17-40C1-B2E8-AF2700443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Lundy loop: improve our account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9081DB82-BF60-432D-8278-684BC22BF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fair-test repair lab">
            <a:extLst xmlns:a="http://schemas.openxmlformats.org/drawingml/2006/main">
              <a:ext uri="{FF2B5EF4-FFF2-40B4-BE49-F238E27FC236}">
                <a16:creationId xmlns:a16="http://schemas.microsoft.com/office/drawing/2014/main" id="{1787BDF5-850C-4B1E-AE8D-F28FE76FD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fair-test repair lab</a:t>
            </a:r>
          </a:p>
        </p:txBody>
      </p:sp>
      <p:sp>
        <p:nvSpPr>
          <p:cNvPr id="10" name="13 / 14">
            <a:extLst xmlns:a="http://schemas.openxmlformats.org/drawingml/2006/main">
              <a:ext uri="{FF2B5EF4-FFF2-40B4-BE49-F238E27FC236}">
                <a16:creationId xmlns:a16="http://schemas.microsoft.com/office/drawing/2014/main" id="{5382D713-2A5A-4E62-847A-5773C781F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13 / 14</a:t>
            </a:r>
          </a:p>
        </p:txBody>
      </p:sp>
      <p:sp>
        <p:nvSpPr>
          <p:cNvPr id="11" name="Choose how to share one idea.">
            <a:extLst xmlns:a="http://schemas.openxmlformats.org/drawingml/2006/main">
              <a:ext uri="{FF2B5EF4-FFF2-40B4-BE49-F238E27FC236}">
                <a16:creationId xmlns:a16="http://schemas.microsoft.com/office/drawing/2014/main" id="{2C7CC67A-163A-4F24-81AA-40EA48CA2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Choose how to share one idea.</a:t>
            </a:r>
          </a:p>
        </p:txBody>
      </p:sp>
      <p:sp>
        <p:nvSpPr>
          <p:cNvPr id="12" name="Listen to another explanation.">
            <a:extLst xmlns:a="http://schemas.openxmlformats.org/drawingml/2006/main">
              <a:ext uri="{FF2B5EF4-FFF2-40B4-BE49-F238E27FC236}">
                <a16:creationId xmlns:a16="http://schemas.microsoft.com/office/drawing/2014/main" id="{A70ABC59-80E8-4E61-925C-169ADD269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3183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Listen to another explanation.</a:t>
            </a:r>
          </a:p>
        </p:txBody>
      </p:sp>
      <p:sp>
        <p:nvSpPr>
          <p:cNvPr id="13" name="Use evidence to improve our account.">
            <a:extLst xmlns:a="http://schemas.openxmlformats.org/drawingml/2006/main">
              <a:ext uri="{FF2B5EF4-FFF2-40B4-BE49-F238E27FC236}">
                <a16:creationId xmlns:a16="http://schemas.microsoft.com/office/drawing/2014/main" id="{1F8DDB9A-074B-402D-8E9E-DD14E11A1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7540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Use evidence to improve our account.</a:t>
            </a:r>
          </a:p>
        </p:txBody>
      </p:sp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3988565F-FE8B-4B54-9437-E779BC38D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00700"/>
            <a:ext cx="11125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15" name="surface">
            <a:extLst xmlns:a="http://schemas.openxmlformats.org/drawingml/2006/main">
              <a:ext uri="{FF2B5EF4-FFF2-40B4-BE49-F238E27FC236}">
                <a16:creationId xmlns:a16="http://schemas.microsoft.com/office/drawing/2014/main" id="{523AF257-5C12-42CA-9F8E-C470AC24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00700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16" name="What makes our conclusion stronger?">
            <a:extLst xmlns:a="http://schemas.openxmlformats.org/drawingml/2006/main">
              <a:ext uri="{FF2B5EF4-FFF2-40B4-BE49-F238E27FC236}">
                <a16:creationId xmlns:a16="http://schemas.microsoft.com/office/drawing/2014/main" id="{6AE4EDF4-733D-45F9-BE03-0308063D1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34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What makes our conclusion stronger?</a:t>
            </a:r>
          </a:p>
        </p:txBody>
      </p:sp>
    </p:spTree>
    <p:extLst>
      <p:ext uri="{BB962C8B-B14F-4D97-AF65-F5344CB8AC3E}">
        <p14:creationId xmlns:p14="http://schemas.microsoft.com/office/powerpoint/2010/main" val="137768802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DFC8FB98-5A92-4F42-B6CF-5A8A91953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7C4F7093-BB99-4FB2-9C48-873C5EBD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063E0A6F-44FD-4D32-8E39-B6ED9585F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6A2A2B8D-3E8F-439F-8DB5-7FA5C88F7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Exit">
            <a:extLst xmlns:a="http://schemas.openxmlformats.org/drawingml/2006/main">
              <a:ext uri="{FF2B5EF4-FFF2-40B4-BE49-F238E27FC236}">
                <a16:creationId xmlns:a16="http://schemas.microsoft.com/office/drawing/2014/main" id="{3C3BF406-F758-4F70-A77C-A242315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Exit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1D911109-27FA-4D27-92E9-7A7B0896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Three quick checks">
            <a:extLst xmlns:a="http://schemas.openxmlformats.org/drawingml/2006/main">
              <a:ext uri="{FF2B5EF4-FFF2-40B4-BE49-F238E27FC236}">
                <a16:creationId xmlns:a16="http://schemas.microsoft.com/office/drawing/2014/main" id="{972F0826-723D-42BF-9C73-D9BE46DC5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Three quick checks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6B504296-B103-4143-B2B1-1DA9B8130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fair-test repair lab">
            <a:extLst xmlns:a="http://schemas.openxmlformats.org/drawingml/2006/main">
              <a:ext uri="{FF2B5EF4-FFF2-40B4-BE49-F238E27FC236}">
                <a16:creationId xmlns:a16="http://schemas.microsoft.com/office/drawing/2014/main" id="{C637893F-B745-4518-AE92-6137AAE76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fair-test repair lab</a:t>
            </a:r>
          </a:p>
        </p:txBody>
      </p:sp>
      <p:sp>
        <p:nvSpPr>
          <p:cNvPr id="10" name="14 / 14">
            <a:extLst xmlns:a="http://schemas.openxmlformats.org/drawingml/2006/main">
              <a:ext uri="{FF2B5EF4-FFF2-40B4-BE49-F238E27FC236}">
                <a16:creationId xmlns:a16="http://schemas.microsoft.com/office/drawing/2014/main" id="{C134AE60-F878-43A7-8A17-6EF05FCC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14 / 14</a:t>
            </a:r>
          </a:p>
        </p:txBody>
      </p:sp>
      <p:sp>
        <p:nvSpPr>
          <p:cNvPr id="11" name="E1. What factor did this test change?">
            <a:extLst xmlns:a="http://schemas.openxmlformats.org/drawingml/2006/main">
              <a:ext uri="{FF2B5EF4-FFF2-40B4-BE49-F238E27FC236}">
                <a16:creationId xmlns:a16="http://schemas.microsoft.com/office/drawing/2014/main" id="{40F7EF45-536A-4466-BD8A-E14D6CA44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E1. What factor did this test change?</a:t>
            </a:r>
          </a:p>
        </p:txBody>
      </p:sp>
      <p:sp>
        <p:nvSpPr>
          <p:cNvPr id="12" name="E2. Name one thing kept the same.">
            <a:extLst xmlns:a="http://schemas.openxmlformats.org/drawingml/2006/main">
              <a:ext uri="{FF2B5EF4-FFF2-40B4-BE49-F238E27FC236}">
                <a16:creationId xmlns:a16="http://schemas.microsoft.com/office/drawing/2014/main" id="{4E11D06E-D82D-4A9A-BA98-A19ECF406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3183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E2. Name one thing kept the same.</a:t>
            </a:r>
          </a:p>
        </p:txBody>
      </p:sp>
      <p:sp>
        <p:nvSpPr>
          <p:cNvPr id="13" name="E3. Should we delete a different reading just to fit the pattern">
            <a:extLst xmlns:a="http://schemas.openxmlformats.org/drawingml/2006/main">
              <a:ext uri="{FF2B5EF4-FFF2-40B4-BE49-F238E27FC236}">
                <a16:creationId xmlns:a16="http://schemas.microsoft.com/office/drawing/2014/main" id="{4C235D2A-CF92-4A22-99F7-7DAE32562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7540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E3. Should we delete a different reading just to fit the pattern?</a:t>
            </a:r>
          </a:p>
        </p:txBody>
      </p:sp>
    </p:spTree>
    <p:extLst>
      <p:ext uri="{BB962C8B-B14F-4D97-AF65-F5344CB8AC3E}">
        <p14:creationId xmlns:p14="http://schemas.microsoft.com/office/powerpoint/2010/main" val="12338318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2026-09-08T23:12:09.7530000Z</dcterms:created>
  <dcterms:modified xsi:type="dcterms:W3CDTF">2026-09-08T23:12:09.7530000Z</dcterms:modified>
</coreProperties>
</file>