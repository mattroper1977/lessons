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139fa7a6c0c4017" /><Relationship Type="http://schemas.openxmlformats.org/officeDocument/2006/relationships/extended-properties" Target="/docProps/app.xml" Id="R14089d03095e4b20" /><Relationship Type="http://schemas.openxmlformats.org/officeDocument/2006/relationships/officeDocument" Target="/ppt/presentation.xml" Id="Rfb278a350d754f1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73a577632544703"/>
  </p:sldMasterIdLst>
  <p:notesMasterIdLst>
    <p:notesMasterId xmlns:r="http://schemas.openxmlformats.org/officeDocument/2006/relationships" r:id="Rad6c917646534964"/>
  </p:notesMasterIdLst>
  <p:sldIdLst>
    <p:sldId xmlns:r="http://schemas.openxmlformats.org/officeDocument/2006/relationships" id="256" r:id="R617560986d9e4c18"/>
    <p:sldId xmlns:r="http://schemas.openxmlformats.org/officeDocument/2006/relationships" id="257" r:id="Ra30051a09c324a12"/>
    <p:sldId xmlns:r="http://schemas.openxmlformats.org/officeDocument/2006/relationships" id="258" r:id="Ref6137499b86440b"/>
    <p:sldId xmlns:r="http://schemas.openxmlformats.org/officeDocument/2006/relationships" id="259" r:id="Rfd92f8a03bc1418f"/>
    <p:sldId xmlns:r="http://schemas.openxmlformats.org/officeDocument/2006/relationships" id="260" r:id="Rc2e97733c5a24e68"/>
    <p:sldId xmlns:r="http://schemas.openxmlformats.org/officeDocument/2006/relationships" id="261" r:id="R229b7395500c4abf"/>
    <p:sldId xmlns:r="http://schemas.openxmlformats.org/officeDocument/2006/relationships" id="262" r:id="R2eb7d009f9b74e20"/>
    <p:sldId xmlns:r="http://schemas.openxmlformats.org/officeDocument/2006/relationships" id="263" r:id="R296adc22bbb043d0"/>
    <p:sldId xmlns:r="http://schemas.openxmlformats.org/officeDocument/2006/relationships" id="264" r:id="R93c3e444d2dd4dd3"/>
    <p:sldId xmlns:r="http://schemas.openxmlformats.org/officeDocument/2006/relationships" id="265" r:id="R3a2a7248b5bd45b9"/>
    <p:sldId xmlns:r="http://schemas.openxmlformats.org/officeDocument/2006/relationships" id="266" r:id="Rb29c742832fd423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e6cd98f5b35480e" /><Relationship Type="http://schemas.openxmlformats.org/officeDocument/2006/relationships/slideMaster" Target="/ppt/slideMasters/slideMaster1.xml" Id="R873a577632544703" /><Relationship Type="http://schemas.openxmlformats.org/officeDocument/2006/relationships/notesMaster" Target="/ppt/notesMasters/notesMaster1.xml" Id="Rad6c917646534964" /><Relationship Type="http://schemas.openxmlformats.org/officeDocument/2006/relationships/presProps" Target="/ppt/presProps.xml" Id="Rc489e2fd6b3a4e04" /><Relationship Type="http://schemas.openxmlformats.org/officeDocument/2006/relationships/tableStyles" Target="/ppt/tableStyles.xml" Id="R204178afaad84504" /><Relationship Type="http://schemas.openxmlformats.org/officeDocument/2006/relationships/slide" Target="/ppt/slides/slide1.xml" Id="R617560986d9e4c18" /><Relationship Type="http://schemas.openxmlformats.org/officeDocument/2006/relationships/slide" Target="/ppt/slides/slide2.xml" Id="Ra30051a09c324a12" /><Relationship Type="http://schemas.openxmlformats.org/officeDocument/2006/relationships/slide" Target="/ppt/slides/slide3.xml" Id="Ref6137499b86440b" /><Relationship Type="http://schemas.openxmlformats.org/officeDocument/2006/relationships/slide" Target="/ppt/slides/slide4.xml" Id="Rfd92f8a03bc1418f" /><Relationship Type="http://schemas.openxmlformats.org/officeDocument/2006/relationships/slide" Target="/ppt/slides/slide5.xml" Id="Rc2e97733c5a24e68" /><Relationship Type="http://schemas.openxmlformats.org/officeDocument/2006/relationships/slide" Target="/ppt/slides/slide6.xml" Id="R229b7395500c4abf" /><Relationship Type="http://schemas.openxmlformats.org/officeDocument/2006/relationships/slide" Target="/ppt/slides/slide7.xml" Id="R2eb7d009f9b74e20" /><Relationship Type="http://schemas.openxmlformats.org/officeDocument/2006/relationships/slide" Target="/ppt/slides/slide8.xml" Id="R296adc22bbb043d0" /><Relationship Type="http://schemas.openxmlformats.org/officeDocument/2006/relationships/slide" Target="/ppt/slides/slide9.xml" Id="R93c3e444d2dd4dd3" /><Relationship Type="http://schemas.openxmlformats.org/officeDocument/2006/relationships/slide" Target="/ppt/slides/slide10.xml" Id="R3a2a7248b5bd45b9" /><Relationship Type="http://schemas.openxmlformats.org/officeDocument/2006/relationships/slide" Target="/ppt/slides/slide11.xml" Id="Rb29c742832fd423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12c20d74b8a443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d94d404ebde44f8" /><Relationship Type="http://schemas.openxmlformats.org/officeDocument/2006/relationships/notesMaster" Target="/ppt/notesMasters/notesMaster1.xml" Id="Rf27f3d2124de435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098ac6a10ae4705" /><Relationship Type="http://schemas.openxmlformats.org/officeDocument/2006/relationships/notesMaster" Target="/ppt/notesMasters/notesMaster1.xml" Id="Ra419702fc1da42b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832d6d686694b2e" /><Relationship Type="http://schemas.openxmlformats.org/officeDocument/2006/relationships/notesMaster" Target="/ppt/notesMasters/notesMaster1.xml" Id="Re904ffc0bfd7497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0b1f5becc674bc1" /><Relationship Type="http://schemas.openxmlformats.org/officeDocument/2006/relationships/notesMaster" Target="/ppt/notesMasters/notesMaster1.xml" Id="R77db91d61fab403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3652055f0fa4f8f" /><Relationship Type="http://schemas.openxmlformats.org/officeDocument/2006/relationships/notesMaster" Target="/ppt/notesMasters/notesMaster1.xml" Id="R7b1444fbf2e24ba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da5010f0c304e84" /><Relationship Type="http://schemas.openxmlformats.org/officeDocument/2006/relationships/notesMaster" Target="/ppt/notesMasters/notesMaster1.xml" Id="Rcf097256cd2f4d4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50cc5eb5573467c" /><Relationship Type="http://schemas.openxmlformats.org/officeDocument/2006/relationships/notesMaster" Target="/ppt/notesMasters/notesMaster1.xml" Id="R5e002359e6b14a7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5c17c52698f4d63" /><Relationship Type="http://schemas.openxmlformats.org/officeDocument/2006/relationships/notesMaster" Target="/ppt/notesMasters/notesMaster1.xml" Id="R68d33f23e7e241f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98bfb0d34204013" /><Relationship Type="http://schemas.openxmlformats.org/officeDocument/2006/relationships/notesMaster" Target="/ppt/notesMasters/notesMaster1.xml" Id="Ra8b65e384f6b44a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c23a1e62aee42d0" /><Relationship Type="http://schemas.openxmlformats.org/officeDocument/2006/relationships/notesMaster" Target="/ppt/notesMasters/notesMaster1.xml" Id="R96e673f9aca845b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a09e7f37c6546fb" /><Relationship Type="http://schemas.openxmlformats.org/officeDocument/2006/relationships/notesMaster" Target="/ppt/notesMasters/notesMaster1.xml" Id="R6667431c28e7412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Overview — 1 minutes within the source's 40-minute lesson.</a:t>
            </a:r>
          </a:p>
          <a:p xmlns:a="http://schemas.openxmlformats.org/drawingml/2006/main">
            <a:r>
              <a:t>Monday P3, 11:00-11:40. This one-minute overview is included in the 40-minute lesson.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https://github.com/MattRoper1977/Lessons/blob/main/Science_Teesside/Build/SCI_B_W7_Where_Food_Comes_From.html</a:t>
            </a:r>
          </a:p>
          <a:p xmlns:a="http://schemas.openxmlformats.org/drawingml/2006/main">
            <a:r>
              <a:t>Git blob: 3d5eb9032e658d14ac5911d9031b5bc5fe6fa393.</a:t>
            </a:r>
          </a:p>
          <a:p xmlns:a="http://schemas.openxmlformats.org/drawingml/2006/main">
            <a:r>
              <a:t>SHA256: a5d84a74f963224ee2d643bb8e2f98397f61ae569ba685ba571331d63a35f767.</a:t>
            </a:r>
          </a:p>
          <a:p xmlns:a="http://schemas.openxmlformats.org/drawingml/2006/main">
            <a:r>
              <a:t>User-supplied logo: approved-logo.jpg (unchanged attachment bytes).</a:t>
            </a:r>
          </a:p>
          <a:p xmlns:a="http://schemas.openxmlformats.org/drawingml/2006/main">
            <a:r>
              <a:t>White Rose Education, Year 3 Autumn Block 3 (2024), step 5 Animal diets, enriches producer/consumer discussion from the current website. Original food-chain models supply the current curriculum content; publisher media and worksheets are not copied.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Arrival Task — 4 minutes within the source's 40-minute lesson.</a:t>
            </a:r>
          </a:p>
          <a:p xmlns:a="http://schemas.openxmlformats.org/drawingml/2006/main">
            <a:r>
              <a:t>Supported points to grass label; standard names rabbit food; stretch proposes one feeding link. Use source examples, not a pupil’s own food. No collecting or feeding animals. First idea can be uncertain.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https://github.com/MattRoper1977/Lessons/blob/main/Science_Teesside/Build/SCI_B_W7_Where_Food_Comes_From.html</a:t>
            </a:r>
          </a:p>
          <a:p xmlns:a="http://schemas.openxmlformats.org/drawingml/2006/main">
            <a:r>
              <a:t>Git blob: 3d5eb9032e658d14ac5911d9031b5bc5fe6fa393.</a:t>
            </a:r>
          </a:p>
          <a:p xmlns:a="http://schemas.openxmlformats.org/drawingml/2006/main">
            <a:r>
              <a:t>SHA256: a5d84a74f963224ee2d643bb8e2f98397f61ae569ba685ba571331d63a35f767.</a:t>
            </a:r>
          </a:p>
          <a:p xmlns:a="http://schemas.openxmlformats.org/drawingml/2006/main">
            <a:r>
              <a:t>User-supplied logo: approved-logo.jpg (unchanged attachment bytes).</a:t>
            </a:r>
          </a:p>
          <a:p xmlns:a="http://schemas.openxmlformats.org/drawingml/2006/main">
            <a:r>
              <a:t>White Rose Education, Year 3 Autumn Block 3 (2024), step 5 Animal diets, enriches producer/consumer discussion from the current website. Original food-chain models supply the current curriculum content; publisher media and worksheets are not copied.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Today at a Glance — 2 minutes within the source's 40-minute lesson.</a:t>
            </a:r>
          </a:p>
          <a:p xmlns:a="http://schemas.openxmlformats.org/drawingml/2006/main">
            <a:r>
              <a:t>Producer/consumer are roles in these examples. Green plants make food using light; animals obtain food from eating. Do not teach that plant roots take food from soil or that all producers must be plants.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https://github.com/MattRoper1977/Lessons/blob/main/Science_Teesside/Build/SCI_B_W7_Where_Food_Comes_From.html</a:t>
            </a:r>
          </a:p>
          <a:p xmlns:a="http://schemas.openxmlformats.org/drawingml/2006/main">
            <a:r>
              <a:t>Git blob: 3d5eb9032e658d14ac5911d9031b5bc5fe6fa393.</a:t>
            </a:r>
          </a:p>
          <a:p xmlns:a="http://schemas.openxmlformats.org/drawingml/2006/main">
            <a:r>
              <a:t>SHA256: a5d84a74f963224ee2d643bb8e2f98397f61ae569ba685ba571331d63a35f767.</a:t>
            </a:r>
          </a:p>
          <a:p xmlns:a="http://schemas.openxmlformats.org/drawingml/2006/main">
            <a:r>
              <a:t>User-supplied logo: approved-logo.jpg (unchanged attachment bytes).</a:t>
            </a:r>
          </a:p>
          <a:p xmlns:a="http://schemas.openxmlformats.org/drawingml/2006/main">
            <a:r>
              <a:t>White Rose Education, Year 3 Autumn Block 3 (2024), step 5 Animal diets, enriches producer/consumer discussion from the current website. Original food-chain models supply the current curriculum content; publisher media and worksheets are not copied.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 Do 1 — 5 minutes within the source's 40-minute lesson.</a:t>
            </a:r>
          </a:p>
          <a:p xmlns:a="http://schemas.openxmlformats.org/drawingml/2006/main">
            <a:r>
              <a:t>Original native editable scientific chain. Arrows run grass → rabbit → fox. “Is eaten by” is the accessible reading. Grass is the producer in this model; rabbit and fox are consumers. The chain selects possible feeding links rather than describing everything the animals eat.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https://github.com/MattRoper1977/Lessons/blob/main/Science_Teesside/Build/SCI_B_W7_Where_Food_Comes_From.html</a:t>
            </a:r>
          </a:p>
          <a:p xmlns:a="http://schemas.openxmlformats.org/drawingml/2006/main">
            <a:r>
              <a:t>Git blob: 3d5eb9032e658d14ac5911d9031b5bc5fe6fa393.</a:t>
            </a:r>
          </a:p>
          <a:p xmlns:a="http://schemas.openxmlformats.org/drawingml/2006/main">
            <a:r>
              <a:t>SHA256: a5d84a74f963224ee2d643bb8e2f98397f61ae569ba685ba571331d63a35f767.</a:t>
            </a:r>
          </a:p>
          <a:p xmlns:a="http://schemas.openxmlformats.org/drawingml/2006/main">
            <a:r>
              <a:t>User-supplied logo: approved-logo.jpg (unchanged attachment bytes).</a:t>
            </a:r>
          </a:p>
          <a:p xmlns:a="http://schemas.openxmlformats.org/drawingml/2006/main">
            <a:r>
              <a:t>White Rose Education, Year 3 Autumn Block 3 (2024), step 5 Animal diets, enriches producer/consumer discussion from the current website. Original food-chain models supply the current curriculum content; publisher media and worksheets are not copied.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 Do 1b — 4 minutes within the source's 40-minute lesson.</a:t>
            </a:r>
          </a:p>
          <a:p xmlns:a="http://schemas.openxmlformats.org/drawingml/2006/main">
            <a:r>
              <a:t>Use feeding clue to diagnose the source deliberate error. Ask who gets the food. Do not explain arrows as “points to what the animal eats”, which reverses this convention. A pupil can physically turn a paper arrow to correct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https://github.com/MattRoper1977/Lessons/blob/main/Science_Teesside/Build/SCI_B_W7_Where_Food_Comes_From.html</a:t>
            </a:r>
          </a:p>
          <a:p xmlns:a="http://schemas.openxmlformats.org/drawingml/2006/main">
            <a:r>
              <a:t>Git blob: 3d5eb9032e658d14ac5911d9031b5bc5fe6fa393.</a:t>
            </a:r>
          </a:p>
          <a:p xmlns:a="http://schemas.openxmlformats.org/drawingml/2006/main">
            <a:r>
              <a:t>SHA256: a5d84a74f963224ee2d643bb8e2f98397f61ae569ba685ba571331d63a35f767.</a:t>
            </a:r>
          </a:p>
          <a:p xmlns:a="http://schemas.openxmlformats.org/drawingml/2006/main">
            <a:r>
              <a:t>User-supplied logo: approved-logo.jpg (unchanged attachment bytes).</a:t>
            </a:r>
          </a:p>
          <a:p xmlns:a="http://schemas.openxmlformats.org/drawingml/2006/main">
            <a:r>
              <a:t>White Rose Education, Year 3 Autumn Block 3 (2024), step 5 Animal diets, enriches producer/consumer discussion from the current website. Original food-chain models supply the current curriculum content; publisher media and worksheets are not copied.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 Do 1 — commit — 3 minutes within the source's 40-minute lesson.</a:t>
            </a:r>
          </a:p>
          <a:p xmlns:a="http://schemas.openxmlformats.org/drawingml/2006/main">
            <a:r>
              <a:t>Grass producer; rabbit and fox consumers. Do not imply fox eats only rabbits or every green plant/animal interaction is represented. At this level focus on these stated examples.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https://github.com/MattRoper1977/Lessons/blob/main/Science_Teesside/Build/SCI_B_W7_Where_Food_Comes_From.html</a:t>
            </a:r>
          </a:p>
          <a:p xmlns:a="http://schemas.openxmlformats.org/drawingml/2006/main">
            <a:r>
              <a:t>Git blob: 3d5eb9032e658d14ac5911d9031b5bc5fe6fa393.</a:t>
            </a:r>
          </a:p>
          <a:p xmlns:a="http://schemas.openxmlformats.org/drawingml/2006/main">
            <a:r>
              <a:t>SHA256: a5d84a74f963224ee2d643bb8e2f98397f61ae569ba685ba571331d63a35f767.</a:t>
            </a:r>
          </a:p>
          <a:p xmlns:a="http://schemas.openxmlformats.org/drawingml/2006/main">
            <a:r>
              <a:t>User-supplied logo: approved-logo.jpg (unchanged attachment bytes).</a:t>
            </a:r>
          </a:p>
          <a:p xmlns:a="http://schemas.openxmlformats.org/drawingml/2006/main">
            <a:r>
              <a:t>White Rose Education, Year 3 Autumn Block 3 (2024), step 5 Animal diets, enriches producer/consumer discussion from the current website. Original food-chain models supply the current curriculum content; publisher media and worksheets are not copied.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 Do 1 — compare — 3 minutes within the source's 40-minute lesson.</a:t>
            </a:r>
          </a:p>
          <a:p xmlns:a="http://schemas.openxmlformats.org/drawingml/2006/main">
            <a:r>
              <a:t>The green plant bearing the leaves is producer; caterpillar/robin consumers. Leaves are part of the producer plant, not a separate species. Caterpillars can eat leaves and robins can eat caterpillars. State “can” because real diets vary.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https://github.com/MattRoper1977/Lessons/blob/main/Science_Teesside/Build/SCI_B_W7_Where_Food_Comes_From.html</a:t>
            </a:r>
          </a:p>
          <a:p xmlns:a="http://schemas.openxmlformats.org/drawingml/2006/main">
            <a:r>
              <a:t>Git blob: 3d5eb9032e658d14ac5911d9031b5bc5fe6fa393.</a:t>
            </a:r>
          </a:p>
          <a:p xmlns:a="http://schemas.openxmlformats.org/drawingml/2006/main">
            <a:r>
              <a:t>SHA256: a5d84a74f963224ee2d643bb8e2f98397f61ae569ba685ba571331d63a35f767.</a:t>
            </a:r>
          </a:p>
          <a:p xmlns:a="http://schemas.openxmlformats.org/drawingml/2006/main">
            <a:r>
              <a:t>User-supplied logo: approved-logo.jpg (unchanged attachment bytes).</a:t>
            </a:r>
          </a:p>
          <a:p xmlns:a="http://schemas.openxmlformats.org/drawingml/2006/main">
            <a:r>
              <a:t>White Rose Education, Year 3 Autumn Block 3 (2024), step 5 Animal diets, enriches producer/consumer discussion from the current website. Original food-chain models supply the current curriculum content; publisher media and worksheets are not copied.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 Do 1b — 4 minutes within the source's 40-minute lesson.</a:t>
            </a:r>
          </a:p>
          <a:p xmlns:a="http://schemas.openxmlformats.org/drawingml/2006/main">
            <a:r>
              <a:t>Pupils predict without pretending a paper cover is measured ecological data. Less grass can mean less food for rabbits and indirectly affect foxes; exact changes uncertain because other foods and conditions matter. The plant starts food production in this model; sunlight is the energy source, not an edible food-chain organism.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https://github.com/MattRoper1977/Lessons/blob/main/Science_Teesside/Build/SCI_B_W7_Where_Food_Comes_From.html</a:t>
            </a:r>
          </a:p>
          <a:p xmlns:a="http://schemas.openxmlformats.org/drawingml/2006/main">
            <a:r>
              <a:t>Git blob: 3d5eb9032e658d14ac5911d9031b5bc5fe6fa393.</a:t>
            </a:r>
          </a:p>
          <a:p xmlns:a="http://schemas.openxmlformats.org/drawingml/2006/main">
            <a:r>
              <a:t>SHA256: a5d84a74f963224ee2d643bb8e2f98397f61ae569ba685ba571331d63a35f767.</a:t>
            </a:r>
          </a:p>
          <a:p xmlns:a="http://schemas.openxmlformats.org/drawingml/2006/main">
            <a:r>
              <a:t>User-supplied logo: approved-logo.jpg (unchanged attachment bytes).</a:t>
            </a:r>
          </a:p>
          <a:p xmlns:a="http://schemas.openxmlformats.org/drawingml/2006/main">
            <a:r>
              <a:t>White Rose Education, Year 3 Autumn Block 3 (2024), step 5 Animal diets, enriches producer/consumer discussion from the current website. Original food-chain models supply the current curriculum content; publisher media and worksheets are not copied.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 Do 2 — 4 minutes within the source's 40-minute lesson.</a:t>
            </a:r>
          </a:p>
          <a:p xmlns:a="http://schemas.openxmlformats.org/drawingml/2006/main">
            <a:r>
              <a:t>Model complete role-plus-reason statement. Green plants in model produce food using light; animals do not make food in that way. Supported learner can point from fox to consumer and feeding clue; teacher records actual meaning.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https://github.com/MattRoper1977/Lessons/blob/main/Science_Teesside/Build/SCI_B_W7_Where_Food_Comes_From.html</a:t>
            </a:r>
          </a:p>
          <a:p xmlns:a="http://schemas.openxmlformats.org/drawingml/2006/main">
            <a:r>
              <a:t>Git blob: 3d5eb9032e658d14ac5911d9031b5bc5fe6fa393.</a:t>
            </a:r>
          </a:p>
          <a:p xmlns:a="http://schemas.openxmlformats.org/drawingml/2006/main">
            <a:r>
              <a:t>SHA256: a5d84a74f963224ee2d643bb8e2f98397f61ae569ba685ba571331d63a35f767.</a:t>
            </a:r>
          </a:p>
          <a:p xmlns:a="http://schemas.openxmlformats.org/drawingml/2006/main">
            <a:r>
              <a:t>User-supplied logo: approved-logo.jpg (unchanged attachment bytes).</a:t>
            </a:r>
          </a:p>
          <a:p xmlns:a="http://schemas.openxmlformats.org/drawingml/2006/main">
            <a:r>
              <a:t>White Rose Education, Year 3 Autumn Block 3 (2024), step 5 Animal diets, enriches producer/consumer discussion from the current website. Original food-chain models supply the current curriculum content; publisher media and worksheets are not copied.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 Do 2 — sort — 5 minutes within the source's 40-minute lesson.</a:t>
            </a:r>
          </a:p>
          <a:p xmlns:a="http://schemas.openxmlformats.org/drawingml/2006/main">
            <a:r>
              <a:t>Build grass → rabbit → fox and correct source reversed chain fox → rabbit → grass. “Animals make their own food” false in intended biology sense; they obtain it by eating. We are discussing biological food production, not human cooking.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https://github.com/MattRoper1977/Lessons/blob/main/Science_Teesside/Build/SCI_B_W7_Where_Food_Comes_From.html</a:t>
            </a:r>
          </a:p>
          <a:p xmlns:a="http://schemas.openxmlformats.org/drawingml/2006/main">
            <a:r>
              <a:t>Git blob: 3d5eb9032e658d14ac5911d9031b5bc5fe6fa393.</a:t>
            </a:r>
          </a:p>
          <a:p xmlns:a="http://schemas.openxmlformats.org/drawingml/2006/main">
            <a:r>
              <a:t>SHA256: a5d84a74f963224ee2d643bb8e2f98397f61ae569ba685ba571331d63a35f767.</a:t>
            </a:r>
          </a:p>
          <a:p xmlns:a="http://schemas.openxmlformats.org/drawingml/2006/main">
            <a:r>
              <a:t>User-supplied logo: approved-logo.jpg (unchanged attachment bytes).</a:t>
            </a:r>
          </a:p>
          <a:p xmlns:a="http://schemas.openxmlformats.org/drawingml/2006/main">
            <a:r>
              <a:t>White Rose Education, Year 3 Autumn Block 3 (2024), step 5 Animal diets, enriches producer/consumer discussion from the current website. Original food-chain models supply the current curriculum content; publisher media and worksheets are not copied.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 Do 2 — explain and save — 5 minutes within the source's 40-minute lesson.</a:t>
            </a:r>
          </a:p>
          <a:p xmlns:a="http://schemas.openxmlformats.org/drawingml/2006/main">
            <a:r>
              <a:t>Five minutes completes current ten-minute We Do 2. Every pupil may point, direct, sign or speak before teacher reveal. Keep the first and repaired arrangement or a note of reason. Do not begin Wednesday change investigation early.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https://github.com/MattRoper1977/Lessons/blob/main/Science_Teesside/Build/SCI_B_W7_Where_Food_Comes_From.html</a:t>
            </a:r>
          </a:p>
          <a:p xmlns:a="http://schemas.openxmlformats.org/drawingml/2006/main">
            <a:r>
              <a:t>Git blob: 3d5eb9032e658d14ac5911d9031b5bc5fe6fa393.</a:t>
            </a:r>
          </a:p>
          <a:p xmlns:a="http://schemas.openxmlformats.org/drawingml/2006/main">
            <a:r>
              <a:t>SHA256: a5d84a74f963224ee2d643bb8e2f98397f61ae569ba685ba571331d63a35f767.</a:t>
            </a:r>
          </a:p>
          <a:p xmlns:a="http://schemas.openxmlformats.org/drawingml/2006/main">
            <a:r>
              <a:t>User-supplied logo: approved-logo.jpg (unchanged attachment bytes).</a:t>
            </a:r>
          </a:p>
          <a:p xmlns:a="http://schemas.openxmlformats.org/drawingml/2006/main">
            <a:r>
              <a:t>White Rose Education, Year 3 Autumn Block 3 (2024), step 5 Animal diets, enriches producer/consumer discussion from the current website. Original food-chain models supply the current curriculum content; publisher media and worksheets are not copied.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37d58394cd4a0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4467121c8414f7a" /><Relationship Type="http://schemas.openxmlformats.org/officeDocument/2006/relationships/slideLayout" Target="/ppt/slideLayouts/slideLayout1.xml" Id="R580aea378d504b1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80aea378d504b1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2ff3fb93574df2" /><Relationship Type="http://schemas.openxmlformats.org/officeDocument/2006/relationships/image" Target="/ppt/media/image.jpeg" Id="Raadce19f9c14485e" /><Relationship Type="http://schemas.openxmlformats.org/officeDocument/2006/relationships/notesSlide" Target="/ppt/notesSlides/notesSlide1.xml" Id="R119aa0489a644a6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fa4308e8aa4aa1" /><Relationship Type="http://schemas.openxmlformats.org/officeDocument/2006/relationships/image" Target="/ppt/media/image.jpeg" Id="R6922989a0304413d" /><Relationship Type="http://schemas.openxmlformats.org/officeDocument/2006/relationships/notesSlide" Target="/ppt/notesSlides/notesSlide2.xml" Id="R669c2ae9043b498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2fbcdb89c641a2" /><Relationship Type="http://schemas.openxmlformats.org/officeDocument/2006/relationships/image" Target="/ppt/media/image.jpeg" Id="R62640d204d174a70" /><Relationship Type="http://schemas.openxmlformats.org/officeDocument/2006/relationships/notesSlide" Target="/ppt/notesSlides/notesSlide3.xml" Id="Ree2c9f4b1a1440e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4848f923cc47d2" /><Relationship Type="http://schemas.openxmlformats.org/officeDocument/2006/relationships/image" Target="/ppt/media/image.jpeg" Id="R88e704dc79f34b90" /><Relationship Type="http://schemas.openxmlformats.org/officeDocument/2006/relationships/notesSlide" Target="/ppt/notesSlides/notesSlide4.xml" Id="R076cdd22d8234dd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fddc92fea74158" /><Relationship Type="http://schemas.openxmlformats.org/officeDocument/2006/relationships/image" Target="/ppt/media/image.jpeg" Id="R90d68d84db47464f" /><Relationship Type="http://schemas.openxmlformats.org/officeDocument/2006/relationships/notesSlide" Target="/ppt/notesSlides/notesSlide5.xml" Id="R990bdbb2e4f1470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e52996c70d438d" /><Relationship Type="http://schemas.openxmlformats.org/officeDocument/2006/relationships/image" Target="/ppt/media/image.jpeg" Id="Rf3913f8947cd42e8" /><Relationship Type="http://schemas.openxmlformats.org/officeDocument/2006/relationships/notesSlide" Target="/ppt/notesSlides/notesSlide6.xml" Id="Rc7ff3e85492942a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69469d480d4f7f" /><Relationship Type="http://schemas.openxmlformats.org/officeDocument/2006/relationships/image" Target="/ppt/media/image.jpeg" Id="R8c42a3446ade493a" /><Relationship Type="http://schemas.openxmlformats.org/officeDocument/2006/relationships/notesSlide" Target="/ppt/notesSlides/notesSlide7.xml" Id="R0f3a823b45ce4d5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2908ddbcbe446a" /><Relationship Type="http://schemas.openxmlformats.org/officeDocument/2006/relationships/image" Target="/ppt/media/image.jpeg" Id="R8438b7df58134b96" /><Relationship Type="http://schemas.openxmlformats.org/officeDocument/2006/relationships/notesSlide" Target="/ppt/notesSlides/notesSlide8.xml" Id="Rcc32ad2cd27945a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c7287a09d4498c" /><Relationship Type="http://schemas.openxmlformats.org/officeDocument/2006/relationships/image" Target="/ppt/media/image.jpeg" Id="R98957ed8932d4535" /><Relationship Type="http://schemas.openxmlformats.org/officeDocument/2006/relationships/notesSlide" Target="/ppt/notesSlides/notesSlide9.xml" Id="Rdf708649a4bd405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3fa031de934ed0" /><Relationship Type="http://schemas.openxmlformats.org/officeDocument/2006/relationships/image" Target="/ppt/media/image.jpeg" Id="R6422d6e1483b493e" /><Relationship Type="http://schemas.openxmlformats.org/officeDocument/2006/relationships/notesSlide" Target="/ppt/notesSlides/notesSlide10.xml" Id="R0c5391063317430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d428e044744dea" /><Relationship Type="http://schemas.openxmlformats.org/officeDocument/2006/relationships/image" Target="/ppt/media/image.jpeg" Id="R946eefda6f48497e" /><Relationship Type="http://schemas.openxmlformats.org/officeDocument/2006/relationships/notesSlide" Target="/ppt/notesSlides/notesSlide11.xml" Id="R317e4a979443452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op-rule">
            <a:extLst xmlns:a="http://schemas.openxmlformats.org/drawingml/2006/main">
              <a:ext uri="{FF2B5EF4-FFF2-40B4-BE49-F238E27FC236}">
                <a16:creationId xmlns:a16="http://schemas.microsoft.com/office/drawing/2014/main" id="{DDC6D6A4-EE0D-432C-8E18-20F6AFE75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781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0E5BCFF8-AAFF-4553-AEB7-DC65DDF39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8685E"/>
                </a:solidFill>
              </a:defRPr>
            </a:pPr>
            <a:r>
              <a:rPr sz="1500" b="1">
                <a:solidFill>
                  <a:srgbClr val="28685E"/>
                </a:solidFill>
              </a:rPr>
              <a:t>MADE BY MATT  /  BUILD SCIENCE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dce19f9c14485e"/>
          <a:stretch xmlns:a="http://schemas.openxmlformats.org/drawingml/2006/main"/>
        </p:blipFill>
        <p:spPr>
          <a:xfrm xmlns:a="http://schemas.openxmlformats.org/drawingml/2006/main">
            <a:off x="10801350" y="43815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794671C-68F9-4BE8-8E4C-A39DFD90D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52B3A"/>
                </a:solidFill>
              </a:defRPr>
            </a:pPr>
            <a:r>
              <a:rPr sz="3750" b="1">
                <a:solidFill>
                  <a:srgbClr val="152B3A"/>
                </a:solidFill>
              </a:rPr>
              <a:t>Animals get food by eating</a:t>
            </a:r>
          </a:p>
        </p:txBody>
      </p:sp>
      <p:sp>
        <p:nvSpPr>
          <p:cNvPr id="5" name="footer-line">
            <a:extLst xmlns:a="http://schemas.openxmlformats.org/drawingml/2006/main">
              <a:ext uri="{FF2B5EF4-FFF2-40B4-BE49-F238E27FC236}">
                <a16:creationId xmlns:a16="http://schemas.microsoft.com/office/drawing/2014/main" id="{F97486B4-843C-4E8D-A189-7F5B5E08C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2DC4FA9C-0462-49BF-844B-48508577F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</a:defRPr>
            </a:pPr>
            <a:r>
              <a:rPr sz="1275" b="0">
                <a:solidFill>
                  <a:srgbClr val="50616B"/>
                </a:solidFill>
              </a:rPr>
              <a:t>AUTUMN 1  ·  WEEK 7  ·  LESSON A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A3491D73-3BB0-4ADF-884F-2F7BF9841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8685E"/>
                </a:solidFill>
              </a:defRPr>
            </a:pPr>
            <a:r>
              <a:rPr sz="1350" b="1">
                <a:solidFill>
                  <a:srgbClr val="28685E"/>
                </a:solidFill>
              </a:rPr>
              <a:t>01</a:t>
            </a:r>
          </a:p>
        </p:txBody>
      </p:sp>
      <p:sp>
        <p:nvSpPr>
          <p:cNvPr id="8" name="subtitle">
            <a:extLst xmlns:a="http://schemas.openxmlformats.org/drawingml/2006/main">
              <a:ext uri="{FF2B5EF4-FFF2-40B4-BE49-F238E27FC236}">
                <a16:creationId xmlns:a16="http://schemas.microsoft.com/office/drawing/2014/main" id="{C67B7BB2-E83D-4117-B44D-7F2AA0FD7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9875"/>
            <a:ext cx="1066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28685E"/>
                </a:solidFill>
              </a:defRPr>
            </a:pPr>
            <a:r>
              <a:rPr sz="3900" b="1">
                <a:solidFill>
                  <a:srgbClr val="28685E"/>
                </a:solidFill>
              </a:rPr>
              <a:t>Follow the food and its energy.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2AA91956-55B8-4AF9-82E7-EDE9B336B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3375"/>
            <a:ext cx="1066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52B3A"/>
                </a:solidFill>
              </a:defRPr>
            </a:pPr>
            <a:r>
              <a:rPr sz="2550" b="0">
                <a:solidFill>
                  <a:srgbClr val="152B3A"/>
                </a:solidFill>
              </a:rPr>
              <a:t>I can build a food chain and explain its arrows.</a:t>
            </a:r>
          </a:p>
        </p:txBody>
      </p:sp>
    </p:spTree>
    <p:extLst>
      <p:ext uri="{BB962C8B-B14F-4D97-AF65-F5344CB8AC3E}">
        <p14:creationId xmlns:p14="http://schemas.microsoft.com/office/powerpoint/2010/main" val="201383755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rule">
            <a:extLst xmlns:a="http://schemas.openxmlformats.org/drawingml/2006/main">
              <a:ext uri="{FF2B5EF4-FFF2-40B4-BE49-F238E27FC236}">
                <a16:creationId xmlns:a16="http://schemas.microsoft.com/office/drawing/2014/main" id="{A1C0F618-7194-48B0-8225-2C2C2B61B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781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E0D9D23E-313B-40B8-A9F5-F3376BCA8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8685E"/>
                </a:solidFill>
              </a:defRPr>
            </a:pPr>
            <a:r>
              <a:rPr sz="1500" b="1">
                <a:solidFill>
                  <a:srgbClr val="28685E"/>
                </a:solidFill>
              </a:rPr>
              <a:t>MADE BY MATT  /  BUILD SCIENCE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22989a0304413d"/>
          <a:stretch xmlns:a="http://schemas.openxmlformats.org/drawingml/2006/main"/>
        </p:blipFill>
        <p:spPr>
          <a:xfrm xmlns:a="http://schemas.openxmlformats.org/drawingml/2006/main">
            <a:off x="10801350" y="43815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2FBCBC1-AF90-45D3-949C-6AEE291A6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52B3A"/>
                </a:solidFill>
              </a:defRPr>
            </a:pPr>
            <a:r>
              <a:rPr sz="3750" b="1">
                <a:solidFill>
                  <a:srgbClr val="152B3A"/>
                </a:solidFill>
              </a:rPr>
              <a:t>Start with a feeding link</a:t>
            </a:r>
          </a:p>
        </p:txBody>
      </p:sp>
      <p:sp>
        <p:nvSpPr>
          <p:cNvPr id="5" name="footer-line">
            <a:extLst xmlns:a="http://schemas.openxmlformats.org/drawingml/2006/main">
              <a:ext uri="{FF2B5EF4-FFF2-40B4-BE49-F238E27FC236}">
                <a16:creationId xmlns:a16="http://schemas.microsoft.com/office/drawing/2014/main" id="{D1BA73C0-E8DF-4518-96DD-C1946789F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31BD1F43-A89D-421A-92C5-8BE9E2F42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</a:defRPr>
            </a:pPr>
            <a:r>
              <a:rPr sz="1275" b="0">
                <a:solidFill>
                  <a:srgbClr val="50616B"/>
                </a:solidFill>
              </a:rPr>
              <a:t>AUTUMN 1  ·  WEEK 7  ·  LESSON A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C876DF8F-01E1-4024-8C8C-48D4BFE8E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8685E"/>
                </a:solidFill>
              </a:defRPr>
            </a:pPr>
            <a:r>
              <a:rPr sz="1350" b="1">
                <a:solidFill>
                  <a:srgbClr val="28685E"/>
                </a:solidFill>
              </a:rPr>
              <a:t>02</a:t>
            </a:r>
          </a:p>
        </p:txBody>
      </p:sp>
      <p:sp>
        <p:nvSpPr>
          <p:cNvPr id="8" name="line-0">
            <a:extLst xmlns:a="http://schemas.openxmlformats.org/drawingml/2006/main">
              <a:ext uri="{FF2B5EF4-FFF2-40B4-BE49-F238E27FC236}">
                <a16:creationId xmlns:a16="http://schemas.microsoft.com/office/drawing/2014/main" id="{381E00B3-D36A-4AB7-977C-0623CD25E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52B3A"/>
                </a:solidFill>
              </a:defRPr>
            </a:pPr>
            <a:r>
              <a:rPr sz="2550" b="0">
                <a:solidFill>
                  <a:srgbClr val="152B3A"/>
                </a:solidFill>
              </a:rPr>
              <a:t>A rabbit can eat grass.</a:t>
            </a:r>
          </a:p>
        </p:txBody>
      </p:sp>
      <p:sp>
        <p:nvSpPr>
          <p:cNvPr id="9" name="line-1">
            <a:extLst xmlns:a="http://schemas.openxmlformats.org/drawingml/2006/main">
              <a:ext uri="{FF2B5EF4-FFF2-40B4-BE49-F238E27FC236}">
                <a16:creationId xmlns:a16="http://schemas.microsoft.com/office/drawing/2014/main" id="{5DA8DB92-9556-4EE1-ACF6-115501536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52B3A"/>
                </a:solidFill>
              </a:defRPr>
            </a:pPr>
            <a:r>
              <a:rPr sz="2550" b="0">
                <a:solidFill>
                  <a:srgbClr val="152B3A"/>
                </a:solidFill>
              </a:rPr>
              <a:t>Which living thing is the plant?</a:t>
            </a:r>
          </a:p>
        </p:txBody>
      </p:sp>
      <p:sp>
        <p:nvSpPr>
          <p:cNvPr id="10" name="line-2">
            <a:extLst xmlns:a="http://schemas.openxmlformats.org/drawingml/2006/main">
              <a:ext uri="{FF2B5EF4-FFF2-40B4-BE49-F238E27FC236}">
                <a16:creationId xmlns:a16="http://schemas.microsoft.com/office/drawing/2014/main" id="{2032F60F-292B-4971-9E3B-F2DB630B4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52B3A"/>
                </a:solidFill>
              </a:defRPr>
            </a:pPr>
            <a:r>
              <a:rPr sz="2550" b="0">
                <a:solidFill>
                  <a:srgbClr val="152B3A"/>
                </a:solidFill>
              </a:rPr>
              <a:t>Who gets the food when the rabbit eats?</a:t>
            </a:r>
          </a:p>
        </p:txBody>
      </p:sp>
    </p:spTree>
    <p:extLst>
      <p:ext uri="{BB962C8B-B14F-4D97-AF65-F5344CB8AC3E}">
        <p14:creationId xmlns:p14="http://schemas.microsoft.com/office/powerpoint/2010/main" val="15177011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rule">
            <a:extLst xmlns:a="http://schemas.openxmlformats.org/drawingml/2006/main">
              <a:ext uri="{FF2B5EF4-FFF2-40B4-BE49-F238E27FC236}">
                <a16:creationId xmlns:a16="http://schemas.microsoft.com/office/drawing/2014/main" id="{1870666F-F628-49B5-AF98-B42E84F4A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781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93402FEF-2816-4E57-8DCD-E5E8BB7A2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8685E"/>
                </a:solidFill>
              </a:defRPr>
            </a:pPr>
            <a:r>
              <a:rPr sz="1500" b="1">
                <a:solidFill>
                  <a:srgbClr val="28685E"/>
                </a:solidFill>
              </a:rPr>
              <a:t>MADE BY MATT  /  BUILD SCIENCE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640d204d174a70"/>
          <a:stretch xmlns:a="http://schemas.openxmlformats.org/drawingml/2006/main"/>
        </p:blipFill>
        <p:spPr>
          <a:xfrm xmlns:a="http://schemas.openxmlformats.org/drawingml/2006/main">
            <a:off x="10801350" y="43815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A36983D-AE73-42CC-B765-1F068DBB0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52B3A"/>
                </a:solidFill>
              </a:defRPr>
            </a:pPr>
            <a:r>
              <a:rPr sz="3750" b="1">
                <a:solidFill>
                  <a:srgbClr val="152B3A"/>
                </a:solidFill>
              </a:rPr>
              <a:t>Three things we will do</a:t>
            </a:r>
          </a:p>
        </p:txBody>
      </p:sp>
      <p:sp>
        <p:nvSpPr>
          <p:cNvPr id="5" name="footer-line">
            <a:extLst xmlns:a="http://schemas.openxmlformats.org/drawingml/2006/main">
              <a:ext uri="{FF2B5EF4-FFF2-40B4-BE49-F238E27FC236}">
                <a16:creationId xmlns:a16="http://schemas.microsoft.com/office/drawing/2014/main" id="{45C6FD49-03E5-4465-B940-481C5B154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737BA013-A2EB-4B4A-BABF-55882013C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</a:defRPr>
            </a:pPr>
            <a:r>
              <a:rPr sz="1275" b="0">
                <a:solidFill>
                  <a:srgbClr val="50616B"/>
                </a:solidFill>
              </a:rPr>
              <a:t>AUTUMN 1  ·  WEEK 7  ·  LESSON A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57CE49EE-A91D-4FFE-9420-503ECB4FC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8685E"/>
                </a:solidFill>
              </a:defRPr>
            </a:pPr>
            <a:r>
              <a:rPr sz="1350" b="1">
                <a:solidFill>
                  <a:srgbClr val="28685E"/>
                </a:solidFill>
              </a:rPr>
              <a:t>03</a:t>
            </a:r>
          </a:p>
        </p:txBody>
      </p:sp>
      <p:sp>
        <p:nvSpPr>
          <p:cNvPr id="8" name="line-0">
            <a:extLst xmlns:a="http://schemas.openxmlformats.org/drawingml/2006/main">
              <a:ext uri="{FF2B5EF4-FFF2-40B4-BE49-F238E27FC236}">
                <a16:creationId xmlns:a16="http://schemas.microsoft.com/office/drawing/2014/main" id="{0AFE114B-C9CD-4D1B-91FF-7214C4BB3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52B3A"/>
                </a:solidFill>
              </a:defRPr>
            </a:pPr>
            <a:r>
              <a:rPr sz="2550" b="0">
                <a:solidFill>
                  <a:srgbClr val="152B3A"/>
                </a:solidFill>
              </a:rPr>
              <a:t>Identify a producer and consumers.</a:t>
            </a:r>
          </a:p>
        </p:txBody>
      </p:sp>
      <p:sp>
        <p:nvSpPr>
          <p:cNvPr id="9" name="line-1">
            <a:extLst xmlns:a="http://schemas.openxmlformats.org/drawingml/2006/main">
              <a:ext uri="{FF2B5EF4-FFF2-40B4-BE49-F238E27FC236}">
                <a16:creationId xmlns:a16="http://schemas.microsoft.com/office/drawing/2014/main" id="{7BC4342C-7B4D-4F6E-AEBE-B98A13767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52B3A"/>
                </a:solidFill>
              </a:defRPr>
            </a:pPr>
            <a:r>
              <a:rPr sz="2550" b="0">
                <a:solidFill>
                  <a:srgbClr val="152B3A"/>
                </a:solidFill>
              </a:rPr>
              <a:t>Read the food-chain arrow.</a:t>
            </a:r>
          </a:p>
        </p:txBody>
      </p:sp>
      <p:sp>
        <p:nvSpPr>
          <p:cNvPr id="10" name="line-2">
            <a:extLst xmlns:a="http://schemas.openxmlformats.org/drawingml/2006/main">
              <a:ext uri="{FF2B5EF4-FFF2-40B4-BE49-F238E27FC236}">
                <a16:creationId xmlns:a16="http://schemas.microsoft.com/office/drawing/2014/main" id="{074B5BDE-4C2F-4F99-8698-F6FF9D3E8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52B3A"/>
                </a:solidFill>
              </a:defRPr>
            </a:pPr>
            <a:r>
              <a:rPr sz="2550" b="0">
                <a:solidFill>
                  <a:srgbClr val="152B3A"/>
                </a:solidFill>
              </a:rPr>
              <a:t>Build and check a simple chain.</a:t>
            </a:r>
          </a:p>
        </p:txBody>
      </p:sp>
    </p:spTree>
    <p:extLst>
      <p:ext uri="{BB962C8B-B14F-4D97-AF65-F5344CB8AC3E}">
        <p14:creationId xmlns:p14="http://schemas.microsoft.com/office/powerpoint/2010/main" val="165240435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op-rule">
            <a:extLst xmlns:a="http://schemas.openxmlformats.org/drawingml/2006/main">
              <a:ext uri="{FF2B5EF4-FFF2-40B4-BE49-F238E27FC236}">
                <a16:creationId xmlns:a16="http://schemas.microsoft.com/office/drawing/2014/main" id="{D378C362-4A53-4EFA-BF55-61F3C5C74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781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C4D4F466-0F4B-4A49-89BB-1CC1CB508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8685E"/>
                </a:solidFill>
              </a:defRPr>
            </a:pPr>
            <a:r>
              <a:rPr sz="1500" b="1">
                <a:solidFill>
                  <a:srgbClr val="28685E"/>
                </a:solidFill>
              </a:rPr>
              <a:t>MADE BY MATT  /  BUILD SCIENCE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e704dc79f34b90"/>
          <a:stretch xmlns:a="http://schemas.openxmlformats.org/drawingml/2006/main"/>
        </p:blipFill>
        <p:spPr>
          <a:xfrm xmlns:a="http://schemas.openxmlformats.org/drawingml/2006/main">
            <a:off x="10801350" y="43815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63A3DA0-72D9-47A5-BB1B-69D9C3215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52B3A"/>
                </a:solidFill>
              </a:defRPr>
            </a:pPr>
            <a:r>
              <a:rPr sz="3750" b="1">
                <a:solidFill>
                  <a:srgbClr val="152B3A"/>
                </a:solidFill>
              </a:rPr>
              <a:t>Read the chain from food to eater</a:t>
            </a:r>
          </a:p>
        </p:txBody>
      </p:sp>
      <p:sp>
        <p:nvSpPr>
          <p:cNvPr id="5" name="footer-line">
            <a:extLst xmlns:a="http://schemas.openxmlformats.org/drawingml/2006/main">
              <a:ext uri="{FF2B5EF4-FFF2-40B4-BE49-F238E27FC236}">
                <a16:creationId xmlns:a16="http://schemas.microsoft.com/office/drawing/2014/main" id="{CF34E951-69B2-4C54-9CFB-A2EA79A04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B96A54FC-7657-47F5-90B3-3B5DE92FE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</a:defRPr>
            </a:pPr>
            <a:r>
              <a:rPr sz="1275" b="0">
                <a:solidFill>
                  <a:srgbClr val="50616B"/>
                </a:solidFill>
              </a:rPr>
              <a:t>AUTUMN 1  ·  WEEK 7  ·  LESSON A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E039E309-3C69-4812-8AB8-B2B2FDC35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8685E"/>
                </a:solidFill>
              </a:defRPr>
            </a:pPr>
            <a:r>
              <a:rPr sz="1350" b="1">
                <a:solidFill>
                  <a:srgbClr val="28685E"/>
                </a:solidFill>
              </a:rPr>
              <a:t>04</a:t>
            </a:r>
          </a:p>
        </p:txBody>
      </p:sp>
      <p:sp>
        <p:nvSpPr>
          <p:cNvPr id="8" name="diagram-shape-0">
            <a:extLst xmlns:a="http://schemas.openxmlformats.org/drawingml/2006/main">
              <a:ext uri="{FF2B5EF4-FFF2-40B4-BE49-F238E27FC236}">
                <a16:creationId xmlns:a16="http://schemas.microsoft.com/office/drawing/2014/main" id="{6976A7F1-58B9-4DB6-B2A7-98EF2E735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486150"/>
            <a:ext cx="428625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19050">
            <a:solidFill>
              <a:srgbClr val="152B3A"/>
            </a:solidFill>
            <a:prstDash val="solid"/>
          </a:ln>
        </p:spPr>
      </p:sp>
      <p:sp>
        <p:nvSpPr>
          <p:cNvPr id="9" name="diagram-shape-1">
            <a:extLst xmlns:a="http://schemas.openxmlformats.org/drawingml/2006/main">
              <a:ext uri="{FF2B5EF4-FFF2-40B4-BE49-F238E27FC236}">
                <a16:creationId xmlns:a16="http://schemas.microsoft.com/office/drawing/2014/main" id="{42B6ED87-3E93-4BA6-BBAD-46181DD49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486150"/>
            <a:ext cx="428625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19050">
            <a:solidFill>
              <a:srgbClr val="152B3A"/>
            </a:solidFill>
            <a:prstDash val="solid"/>
          </a:ln>
        </p:spPr>
      </p:sp>
      <p:sp>
        <p:nvSpPr>
          <p:cNvPr id="10" name="diagram-shape-2">
            <a:extLst xmlns:a="http://schemas.openxmlformats.org/drawingml/2006/main">
              <a:ext uri="{FF2B5EF4-FFF2-40B4-BE49-F238E27FC236}">
                <a16:creationId xmlns:a16="http://schemas.microsoft.com/office/drawing/2014/main" id="{0D205684-989A-4B74-9DF6-988ED46BF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13144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D"/>
          </a:solidFill>
          <a:ln xmlns:a="http://schemas.openxmlformats.org/drawingml/2006/main" w="19050">
            <a:solidFill>
              <a:srgbClr val="152B3A"/>
            </a:solidFill>
            <a:prstDash val="solid"/>
          </a:ln>
        </p:spPr>
      </p:sp>
      <p:sp>
        <p:nvSpPr>
          <p:cNvPr id="11" name="diagram-shape-3">
            <a:extLst xmlns:a="http://schemas.openxmlformats.org/drawingml/2006/main">
              <a:ext uri="{FF2B5EF4-FFF2-40B4-BE49-F238E27FC236}">
                <a16:creationId xmlns:a16="http://schemas.microsoft.com/office/drawing/2014/main" id="{04C7CAE4-0F28-4F35-B2F1-D65797566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238500"/>
            <a:ext cx="13144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D"/>
          </a:solidFill>
          <a:ln xmlns:a="http://schemas.openxmlformats.org/drawingml/2006/main" w="19050">
            <a:solidFill>
              <a:srgbClr val="152B3A"/>
            </a:solidFill>
            <a:prstDash val="solid"/>
          </a:ln>
        </p:spPr>
      </p:sp>
      <p:sp>
        <p:nvSpPr>
          <p:cNvPr id="12" name="diagram-shape-4">
            <a:extLst xmlns:a="http://schemas.openxmlformats.org/drawingml/2006/main">
              <a:ext uri="{FF2B5EF4-FFF2-40B4-BE49-F238E27FC236}">
                <a16:creationId xmlns:a16="http://schemas.microsoft.com/office/drawing/2014/main" id="{969A0B1D-4359-4428-80C0-56E82225B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238500"/>
            <a:ext cx="13144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D"/>
          </a:solidFill>
          <a:ln xmlns:a="http://schemas.openxmlformats.org/drawingml/2006/main" w="19050">
            <a:solidFill>
              <a:srgbClr val="152B3A"/>
            </a:solidFill>
            <a:prstDash val="solid"/>
          </a:ln>
        </p:spPr>
      </p:sp>
      <p:sp>
        <p:nvSpPr>
          <p:cNvPr id="13" name="diagram-label-5">
            <a:extLst xmlns:a="http://schemas.openxmlformats.org/drawingml/2006/main">
              <a:ext uri="{FF2B5EF4-FFF2-40B4-BE49-F238E27FC236}">
                <a16:creationId xmlns:a16="http://schemas.microsoft.com/office/drawing/2014/main" id="{D307962D-66FC-4C8D-A268-A6474EC54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67100"/>
            <a:ext cx="1123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52B3A"/>
                </a:solidFill>
              </a:defRPr>
            </a:pPr>
            <a:r>
              <a:rPr sz="1725" b="1">
                <a:solidFill>
                  <a:srgbClr val="152B3A"/>
                </a:solidFill>
              </a:rPr>
              <a:t>grass</a:t>
            </a:r>
          </a:p>
        </p:txBody>
      </p:sp>
      <p:sp>
        <p:nvSpPr>
          <p:cNvPr id="14" name="diagram-label-6">
            <a:extLst xmlns:a="http://schemas.openxmlformats.org/drawingml/2006/main">
              <a:ext uri="{FF2B5EF4-FFF2-40B4-BE49-F238E27FC236}">
                <a16:creationId xmlns:a16="http://schemas.microsoft.com/office/drawing/2014/main" id="{0DD2BCD7-8EFF-43C9-B5E7-61CF48B6D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467100"/>
            <a:ext cx="1123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52B3A"/>
                </a:solidFill>
              </a:defRPr>
            </a:pPr>
            <a:r>
              <a:rPr sz="1725" b="1">
                <a:solidFill>
                  <a:srgbClr val="152B3A"/>
                </a:solidFill>
              </a:rPr>
              <a:t>rabbit</a:t>
            </a:r>
          </a:p>
        </p:txBody>
      </p:sp>
      <p:sp>
        <p:nvSpPr>
          <p:cNvPr id="15" name="diagram-label-7">
            <a:extLst xmlns:a="http://schemas.openxmlformats.org/drawingml/2006/main">
              <a:ext uri="{FF2B5EF4-FFF2-40B4-BE49-F238E27FC236}">
                <a16:creationId xmlns:a16="http://schemas.microsoft.com/office/drawing/2014/main" id="{415B4EFD-51AF-49F9-9F80-165E859F7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467100"/>
            <a:ext cx="1123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52B3A"/>
                </a:solidFill>
              </a:defRPr>
            </a:pPr>
            <a:r>
              <a:rPr sz="1725" b="1">
                <a:solidFill>
                  <a:srgbClr val="152B3A"/>
                </a:solidFill>
              </a:rPr>
              <a:t>fox</a:t>
            </a:r>
          </a:p>
        </p:txBody>
      </p:sp>
      <p:sp>
        <p:nvSpPr>
          <p:cNvPr id="16" name="diagram-label-8">
            <a:extLst xmlns:a="http://schemas.openxmlformats.org/drawingml/2006/main">
              <a:ext uri="{FF2B5EF4-FFF2-40B4-BE49-F238E27FC236}">
                <a16:creationId xmlns:a16="http://schemas.microsoft.com/office/drawing/2014/main" id="{45A6C153-1522-4D13-AAFF-DFED1C173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67200"/>
            <a:ext cx="1381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52B3A"/>
                </a:solidFill>
              </a:defRPr>
            </a:pPr>
            <a:r>
              <a:rPr sz="1650" b="1">
                <a:solidFill>
                  <a:srgbClr val="152B3A"/>
                </a:solidFill>
              </a:rPr>
              <a:t>producer</a:t>
            </a:r>
          </a:p>
        </p:txBody>
      </p:sp>
      <p:sp>
        <p:nvSpPr>
          <p:cNvPr id="17" name="diagram-label-9">
            <a:extLst xmlns:a="http://schemas.openxmlformats.org/drawingml/2006/main">
              <a:ext uri="{FF2B5EF4-FFF2-40B4-BE49-F238E27FC236}">
                <a16:creationId xmlns:a16="http://schemas.microsoft.com/office/drawing/2014/main" id="{D9A627AC-E4D9-4F46-A2F3-C95DDA5C4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26720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52B3A"/>
                </a:solidFill>
              </a:defRPr>
            </a:pPr>
            <a:r>
              <a:rPr sz="1650" b="1">
                <a:solidFill>
                  <a:srgbClr val="152B3A"/>
                </a:solidFill>
              </a:rPr>
              <a:t>consumer</a:t>
            </a:r>
          </a:p>
        </p:txBody>
      </p:sp>
      <p:sp>
        <p:nvSpPr>
          <p:cNvPr id="18" name="diagram-label-10">
            <a:extLst xmlns:a="http://schemas.openxmlformats.org/drawingml/2006/main">
              <a:ext uri="{FF2B5EF4-FFF2-40B4-BE49-F238E27FC236}">
                <a16:creationId xmlns:a16="http://schemas.microsoft.com/office/drawing/2014/main" id="{66D05466-FDE4-414D-AFC0-20BD4E440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26720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52B3A"/>
                </a:solidFill>
              </a:defRPr>
            </a:pPr>
            <a:r>
              <a:rPr sz="1650" b="1">
                <a:solidFill>
                  <a:srgbClr val="152B3A"/>
                </a:solidFill>
              </a:rPr>
              <a:t>consumer</a:t>
            </a:r>
          </a:p>
        </p:txBody>
      </p:sp>
      <p:sp>
        <p:nvSpPr>
          <p:cNvPr id="19" name="diagram-label-11">
            <a:extLst xmlns:a="http://schemas.openxmlformats.org/drawingml/2006/main">
              <a:ext uri="{FF2B5EF4-FFF2-40B4-BE49-F238E27FC236}">
                <a16:creationId xmlns:a16="http://schemas.microsoft.com/office/drawing/2014/main" id="{A802FC7E-9C1E-4760-B5D1-F649AF47F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857750"/>
            <a:ext cx="4810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52B3A"/>
                </a:solidFill>
              </a:defRPr>
            </a:pPr>
            <a:r>
              <a:rPr sz="1800" b="1">
                <a:solidFill>
                  <a:srgbClr val="152B3A"/>
                </a:solidFill>
              </a:rPr>
              <a:t>food / energy passes to the eater</a:t>
            </a:r>
          </a:p>
        </p:txBody>
      </p:sp>
      <p:sp>
        <p:nvSpPr>
          <p:cNvPr id="20" name="diagram-body">
            <a:extLst xmlns:a="http://schemas.openxmlformats.org/drawingml/2006/main">
              <a:ext uri="{FF2B5EF4-FFF2-40B4-BE49-F238E27FC236}">
                <a16:creationId xmlns:a16="http://schemas.microsoft.com/office/drawing/2014/main" id="{D98B5D9E-53AD-453F-BBD1-F0893C36A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14625"/>
            <a:ext cx="4857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52B3A"/>
                </a:solidFill>
              </a:defRPr>
            </a:pPr>
            <a:r>
              <a:rPr sz="2550" b="1">
                <a:solidFill>
                  <a:srgbClr val="152B3A"/>
                </a:solidFill>
              </a:rPr>
              <a:t>Grass can be eaten by a rabbit. A rabbit can be eaten by a fox.</a:t>
            </a:r>
          </a:p>
        </p:txBody>
      </p:sp>
      <p:sp>
        <p:nvSpPr>
          <p:cNvPr id="21" name="diagram-callout">
            <a:extLst xmlns:a="http://schemas.openxmlformats.org/drawingml/2006/main">
              <a:ext uri="{FF2B5EF4-FFF2-40B4-BE49-F238E27FC236}">
                <a16:creationId xmlns:a16="http://schemas.microsoft.com/office/drawing/2014/main" id="{52343A62-4F3C-4BF4-A48B-D3A1D44CD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714875"/>
            <a:ext cx="4857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8685E"/>
                </a:solidFill>
              </a:defRPr>
            </a:pPr>
            <a:r>
              <a:rPr sz="2175" b="0">
                <a:solidFill>
                  <a:srgbClr val="28685E"/>
                </a:solidFill>
              </a:rPr>
              <a:t>The arrows show food and energy passing to the eater.</a:t>
            </a:r>
          </a:p>
        </p:txBody>
      </p:sp>
    </p:spTree>
    <p:extLst>
      <p:ext uri="{BB962C8B-B14F-4D97-AF65-F5344CB8AC3E}">
        <p14:creationId xmlns:p14="http://schemas.microsoft.com/office/powerpoint/2010/main" val="143207240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op-rule">
            <a:extLst xmlns:a="http://schemas.openxmlformats.org/drawingml/2006/main">
              <a:ext uri="{FF2B5EF4-FFF2-40B4-BE49-F238E27FC236}">
                <a16:creationId xmlns:a16="http://schemas.microsoft.com/office/drawing/2014/main" id="{3D39363E-84D2-49DE-94C2-9292F07BB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781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51093E28-6AB2-4CCA-8CC6-A42B3D088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8685E"/>
                </a:solidFill>
              </a:defRPr>
            </a:pPr>
            <a:r>
              <a:rPr sz="1500" b="1">
                <a:solidFill>
                  <a:srgbClr val="28685E"/>
                </a:solidFill>
              </a:rPr>
              <a:t>MADE BY MATT  /  BUILD SCIENCE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d68d84db47464f"/>
          <a:stretch xmlns:a="http://schemas.openxmlformats.org/drawingml/2006/main"/>
        </p:blipFill>
        <p:spPr>
          <a:xfrm xmlns:a="http://schemas.openxmlformats.org/drawingml/2006/main">
            <a:off x="10801350" y="43815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AE9010D-FAEE-4F1C-B390-1B6E776FC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52B3A"/>
                </a:solidFill>
              </a:defRPr>
            </a:pPr>
            <a:r>
              <a:rPr sz="3750" b="1">
                <a:solidFill>
                  <a:srgbClr val="152B3A"/>
                </a:solidFill>
              </a:rPr>
              <a:t>A reversed arrow changes meaning</a:t>
            </a:r>
          </a:p>
        </p:txBody>
      </p:sp>
      <p:sp>
        <p:nvSpPr>
          <p:cNvPr id="5" name="footer-line">
            <a:extLst xmlns:a="http://schemas.openxmlformats.org/drawingml/2006/main">
              <a:ext uri="{FF2B5EF4-FFF2-40B4-BE49-F238E27FC236}">
                <a16:creationId xmlns:a16="http://schemas.microsoft.com/office/drawing/2014/main" id="{F5EDEE8A-1D70-4F56-AA79-E15C90A29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5934830A-9B2F-4DC8-A3E7-A915DC3E4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</a:defRPr>
            </a:pPr>
            <a:r>
              <a:rPr sz="1275" b="0">
                <a:solidFill>
                  <a:srgbClr val="50616B"/>
                </a:solidFill>
              </a:rPr>
              <a:t>AUTUMN 1  ·  WEEK 7  ·  LESSON A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4821A2C5-0AEB-41D2-8FE9-0565D2585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8685E"/>
                </a:solidFill>
              </a:defRPr>
            </a:pPr>
            <a:r>
              <a:rPr sz="1350" b="1">
                <a:solidFill>
                  <a:srgbClr val="28685E"/>
                </a:solidFill>
              </a:rPr>
              <a:t>05</a:t>
            </a:r>
          </a:p>
        </p:txBody>
      </p:sp>
      <p:sp>
        <p:nvSpPr>
          <p:cNvPr id="8" name="left-heading">
            <a:extLst xmlns:a="http://schemas.openxmlformats.org/drawingml/2006/main">
              <a:ext uri="{FF2B5EF4-FFF2-40B4-BE49-F238E27FC236}">
                <a16:creationId xmlns:a16="http://schemas.microsoft.com/office/drawing/2014/main" id="{DDF217C5-2699-4338-A6EB-3E8EA9E89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8685E"/>
                </a:solidFill>
              </a:defRPr>
            </a:pPr>
            <a:r>
              <a:rPr sz="2025" b="1">
                <a:solidFill>
                  <a:srgbClr val="28685E"/>
                </a:solidFill>
              </a:rPr>
              <a:t>WRONG FOR THESE CLUES</a:t>
            </a:r>
          </a:p>
        </p:txBody>
      </p:sp>
      <p:sp>
        <p:nvSpPr>
          <p:cNvPr id="9" name="right-heading">
            <a:extLst xmlns:a="http://schemas.openxmlformats.org/drawingml/2006/main">
              <a:ext uri="{FF2B5EF4-FFF2-40B4-BE49-F238E27FC236}">
                <a16:creationId xmlns:a16="http://schemas.microsoft.com/office/drawing/2014/main" id="{C2B91F2D-3EB5-4F20-A75B-0F7BD8B51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19375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65D25"/>
                </a:solidFill>
              </a:defRPr>
            </a:pPr>
            <a:r>
              <a:rPr sz="2025" b="1">
                <a:solidFill>
                  <a:srgbClr val="A65D25"/>
                </a:solidFill>
              </a:rPr>
              <a:t>CHECK THE EVIDENCE</a:t>
            </a:r>
          </a:p>
        </p:txBody>
      </p:sp>
      <p:sp>
        <p:nvSpPr>
          <p:cNvPr id="10" name="left">
            <a:extLst xmlns:a="http://schemas.openxmlformats.org/drawingml/2006/main">
              <a:ext uri="{FF2B5EF4-FFF2-40B4-BE49-F238E27FC236}">
                <a16:creationId xmlns:a16="http://schemas.microsoft.com/office/drawing/2014/main" id="{EA4C48EA-D6C2-49FB-9554-7706A430A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4953000" cy="2524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52B3A"/>
                </a:solidFill>
              </a:defRPr>
            </a:pPr>
            <a:r>
              <a:rPr sz="2400" b="0">
                <a:solidFill>
                  <a:srgbClr val="152B3A"/>
                </a:solidFill>
              </a:rPr>
              <a:t>Rabbit → grass</a:t>
            </a:r>
          </a:p>
          <a:p xmlns:a="http://schemas.openxmlformats.org/drawingml/2006/main">
            <a:pPr>
              <a:defRPr sz="2400" b="0">
                <a:solidFill>
                  <a:srgbClr val="152B3A"/>
                </a:solidFill>
              </a:defRPr>
            </a:pPr>
            <a:r>
              <a:rPr sz="2400" b="0">
                <a:solidFill>
                  <a:srgbClr val="152B3A"/>
                </a:solidFill>
              </a:rPr>
              <a:t>This would pass food to grass.</a:t>
            </a:r>
          </a:p>
        </p:txBody>
      </p:sp>
      <p:sp>
        <p:nvSpPr>
          <p:cNvPr id="11" name="right">
            <a:extLst xmlns:a="http://schemas.openxmlformats.org/drawingml/2006/main">
              <a:ext uri="{FF2B5EF4-FFF2-40B4-BE49-F238E27FC236}">
                <a16:creationId xmlns:a16="http://schemas.microsoft.com/office/drawing/2014/main" id="{AFAD62AD-88D6-4544-8934-B2724E1BD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33750"/>
            <a:ext cx="4857750" cy="2524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52B3A"/>
                </a:solidFill>
              </a:defRPr>
            </a:pPr>
            <a:r>
              <a:rPr sz="2400" b="0">
                <a:solidFill>
                  <a:srgbClr val="152B3A"/>
                </a:solidFill>
              </a:rPr>
              <a:t>Grass → rabbit</a:t>
            </a:r>
          </a:p>
          <a:p xmlns:a="http://schemas.openxmlformats.org/drawingml/2006/main">
            <a:pPr>
              <a:defRPr sz="2400" b="0">
                <a:solidFill>
                  <a:srgbClr val="152B3A"/>
                </a:solidFill>
              </a:defRPr>
            </a:pPr>
            <a:r>
              <a:rPr sz="2400" b="0">
                <a:solidFill>
                  <a:srgbClr val="152B3A"/>
                </a:solidFill>
              </a:rPr>
              <a:t>The rabbit eats the grass.</a:t>
            </a:r>
          </a:p>
        </p:txBody>
      </p:sp>
    </p:spTree>
    <p:extLst>
      <p:ext uri="{BB962C8B-B14F-4D97-AF65-F5344CB8AC3E}">
        <p14:creationId xmlns:p14="http://schemas.microsoft.com/office/powerpoint/2010/main" val="118892131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op-rule">
            <a:extLst xmlns:a="http://schemas.openxmlformats.org/drawingml/2006/main">
              <a:ext uri="{FF2B5EF4-FFF2-40B4-BE49-F238E27FC236}">
                <a16:creationId xmlns:a16="http://schemas.microsoft.com/office/drawing/2014/main" id="{88A618F3-696F-4AAD-9C23-E02B437FE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781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4730DB31-B547-4B8E-90EA-193751336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8685E"/>
                </a:solidFill>
              </a:defRPr>
            </a:pPr>
            <a:r>
              <a:rPr sz="1500" b="1">
                <a:solidFill>
                  <a:srgbClr val="28685E"/>
                </a:solidFill>
              </a:rPr>
              <a:t>MADE BY MATT  /  BUILD SCIENCE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913f8947cd42e8"/>
          <a:stretch xmlns:a="http://schemas.openxmlformats.org/drawingml/2006/main"/>
        </p:blipFill>
        <p:spPr>
          <a:xfrm xmlns:a="http://schemas.openxmlformats.org/drawingml/2006/main">
            <a:off x="10801350" y="43815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64399A8-3842-455F-A1B3-443C9B7A4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52B3A"/>
                </a:solidFill>
              </a:defRPr>
            </a:pPr>
            <a:r>
              <a:rPr sz="3750" b="1">
                <a:solidFill>
                  <a:srgbClr val="152B3A"/>
                </a:solidFill>
              </a:rPr>
              <a:t>Producer or consumer?</a:t>
            </a:r>
          </a:p>
        </p:txBody>
      </p:sp>
      <p:sp>
        <p:nvSpPr>
          <p:cNvPr id="5" name="footer-line">
            <a:extLst xmlns:a="http://schemas.openxmlformats.org/drawingml/2006/main">
              <a:ext uri="{FF2B5EF4-FFF2-40B4-BE49-F238E27FC236}">
                <a16:creationId xmlns:a16="http://schemas.microsoft.com/office/drawing/2014/main" id="{93882461-1247-4B67-9303-0E762E4D3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0839B549-237C-4D23-BE8A-E968C9907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</a:defRPr>
            </a:pPr>
            <a:r>
              <a:rPr sz="1275" b="0">
                <a:solidFill>
                  <a:srgbClr val="50616B"/>
                </a:solidFill>
              </a:rPr>
              <a:t>AUTUMN 1  ·  WEEK 7  ·  LESSON A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A8751F64-FD8C-4F3E-AABB-6F17B901C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8685E"/>
                </a:solidFill>
              </a:defRPr>
            </a:pPr>
            <a:r>
              <a:rPr sz="1350" b="1">
                <a:solidFill>
                  <a:srgbClr val="28685E"/>
                </a:solidFill>
              </a:rPr>
              <a:t>06</a:t>
            </a:r>
          </a:p>
        </p:txBody>
      </p:sp>
      <p:sp>
        <p:nvSpPr>
          <p:cNvPr id="8" name="line-0">
            <a:extLst xmlns:a="http://schemas.openxmlformats.org/drawingml/2006/main">
              <a:ext uri="{FF2B5EF4-FFF2-40B4-BE49-F238E27FC236}">
                <a16:creationId xmlns:a16="http://schemas.microsoft.com/office/drawing/2014/main" id="{86B440C2-A40A-4E04-81DA-AF55BB8E3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52B3A"/>
                </a:solidFill>
              </a:defRPr>
            </a:pPr>
            <a:r>
              <a:rPr sz="2550" b="0">
                <a:solidFill>
                  <a:srgbClr val="152B3A"/>
                </a:solidFill>
              </a:rPr>
              <a:t>Green grass makes food using light.</a:t>
            </a:r>
          </a:p>
        </p:txBody>
      </p:sp>
      <p:sp>
        <p:nvSpPr>
          <p:cNvPr id="9" name="line-1">
            <a:extLst xmlns:a="http://schemas.openxmlformats.org/drawingml/2006/main">
              <a:ext uri="{FF2B5EF4-FFF2-40B4-BE49-F238E27FC236}">
                <a16:creationId xmlns:a16="http://schemas.microsoft.com/office/drawing/2014/main" id="{E4F41DC9-493B-44A1-A8C9-E070F6CA7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995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52B3A"/>
                </a:solidFill>
              </a:defRPr>
            </a:pPr>
            <a:r>
              <a:rPr sz="2550" b="0">
                <a:solidFill>
                  <a:srgbClr val="152B3A"/>
                </a:solidFill>
              </a:rPr>
              <a:t>A rabbit eats plants.</a:t>
            </a:r>
          </a:p>
        </p:txBody>
      </p:sp>
      <p:sp>
        <p:nvSpPr>
          <p:cNvPr id="10" name="line-2">
            <a:extLst xmlns:a="http://schemas.openxmlformats.org/drawingml/2006/main">
              <a:ext uri="{FF2B5EF4-FFF2-40B4-BE49-F238E27FC236}">
                <a16:creationId xmlns:a16="http://schemas.microsoft.com/office/drawing/2014/main" id="{91711E71-DA3D-44CC-9259-3C80F7645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005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52B3A"/>
                </a:solidFill>
              </a:defRPr>
            </a:pPr>
            <a:r>
              <a:rPr sz="2550" b="0">
                <a:solidFill>
                  <a:srgbClr val="152B3A"/>
                </a:solidFill>
              </a:rPr>
              <a:t>A fox eats other animals.</a:t>
            </a:r>
          </a:p>
        </p:txBody>
      </p:sp>
      <p:sp>
        <p:nvSpPr>
          <p:cNvPr id="11" name="line-3">
            <a:extLst xmlns:a="http://schemas.openxmlformats.org/drawingml/2006/main">
              <a:ext uri="{FF2B5EF4-FFF2-40B4-BE49-F238E27FC236}">
                <a16:creationId xmlns:a16="http://schemas.microsoft.com/office/drawing/2014/main" id="{A41F6446-FE96-4060-A112-1A76BEB15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911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52B3A"/>
                </a:solidFill>
              </a:defRPr>
            </a:pPr>
            <a:r>
              <a:rPr sz="2550" b="0">
                <a:solidFill>
                  <a:srgbClr val="152B3A"/>
                </a:solidFill>
              </a:rPr>
              <a:t>Choose the role before the explanation.</a:t>
            </a:r>
          </a:p>
        </p:txBody>
      </p:sp>
    </p:spTree>
    <p:extLst>
      <p:ext uri="{BB962C8B-B14F-4D97-AF65-F5344CB8AC3E}">
        <p14:creationId xmlns:p14="http://schemas.microsoft.com/office/powerpoint/2010/main" val="107686391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op-rule">
            <a:extLst xmlns:a="http://schemas.openxmlformats.org/drawingml/2006/main">
              <a:ext uri="{FF2B5EF4-FFF2-40B4-BE49-F238E27FC236}">
                <a16:creationId xmlns:a16="http://schemas.microsoft.com/office/drawing/2014/main" id="{78129247-0C69-48F6-BC41-54B5848A5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781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13DABF59-D400-402E-9C16-6C0E748FF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8685E"/>
                </a:solidFill>
              </a:defRPr>
            </a:pPr>
            <a:r>
              <a:rPr sz="1500" b="1">
                <a:solidFill>
                  <a:srgbClr val="28685E"/>
                </a:solidFill>
              </a:rPr>
              <a:t>MADE BY MATT  /  BUILD SCIENCE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42a3446ade493a"/>
          <a:stretch xmlns:a="http://schemas.openxmlformats.org/drawingml/2006/main"/>
        </p:blipFill>
        <p:spPr>
          <a:xfrm xmlns:a="http://schemas.openxmlformats.org/drawingml/2006/main">
            <a:off x="10801350" y="43815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4BDA3B1-457A-4EF7-AA28-2A3D5B408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52B3A"/>
                </a:solidFill>
              </a:defRPr>
            </a:pPr>
            <a:r>
              <a:rPr sz="3750" b="1">
                <a:solidFill>
                  <a:srgbClr val="152B3A"/>
                </a:solidFill>
              </a:rPr>
              <a:t>Try a second set of living things</a:t>
            </a:r>
          </a:p>
        </p:txBody>
      </p:sp>
      <p:sp>
        <p:nvSpPr>
          <p:cNvPr id="5" name="footer-line">
            <a:extLst xmlns:a="http://schemas.openxmlformats.org/drawingml/2006/main">
              <a:ext uri="{FF2B5EF4-FFF2-40B4-BE49-F238E27FC236}">
                <a16:creationId xmlns:a16="http://schemas.microsoft.com/office/drawing/2014/main" id="{FBDA8EE3-EBA6-487E-99AE-69F61F7D7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7C78191D-0207-4028-B748-28CB60320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</a:defRPr>
            </a:pPr>
            <a:r>
              <a:rPr sz="1275" b="0">
                <a:solidFill>
                  <a:srgbClr val="50616B"/>
                </a:solidFill>
              </a:rPr>
              <a:t>AUTUMN 1  ·  WEEK 7  ·  LESSON A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85343223-2F7E-4432-B36A-E04D68A19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8685E"/>
                </a:solidFill>
              </a:defRPr>
            </a:pPr>
            <a:r>
              <a:rPr sz="1350" b="1">
                <a:solidFill>
                  <a:srgbClr val="28685E"/>
                </a:solidFill>
              </a:rPr>
              <a:t>07</a:t>
            </a:r>
          </a:p>
        </p:txBody>
      </p:sp>
      <p:sp>
        <p:nvSpPr>
          <p:cNvPr id="8" name="line-0">
            <a:extLst xmlns:a="http://schemas.openxmlformats.org/drawingml/2006/main">
              <a:ext uri="{FF2B5EF4-FFF2-40B4-BE49-F238E27FC236}">
                <a16:creationId xmlns:a16="http://schemas.microsoft.com/office/drawing/2014/main" id="{E98EA253-A598-4434-A9B9-AE1C79BBF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52B3A"/>
                </a:solidFill>
              </a:defRPr>
            </a:pPr>
            <a:r>
              <a:rPr sz="2550" b="0">
                <a:solidFill>
                  <a:srgbClr val="152B3A"/>
                </a:solidFill>
              </a:rPr>
              <a:t>Green leaves on a plant</a:t>
            </a:r>
          </a:p>
        </p:txBody>
      </p:sp>
      <p:sp>
        <p:nvSpPr>
          <p:cNvPr id="9" name="line-1">
            <a:extLst xmlns:a="http://schemas.openxmlformats.org/drawingml/2006/main">
              <a:ext uri="{FF2B5EF4-FFF2-40B4-BE49-F238E27FC236}">
                <a16:creationId xmlns:a16="http://schemas.microsoft.com/office/drawing/2014/main" id="{556CF727-8736-4967-B0EE-EE5CACC87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995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52B3A"/>
                </a:solidFill>
              </a:defRPr>
            </a:pPr>
            <a:r>
              <a:rPr sz="2550" b="0">
                <a:solidFill>
                  <a:srgbClr val="152B3A"/>
                </a:solidFill>
              </a:rPr>
              <a:t>Caterpillar</a:t>
            </a:r>
          </a:p>
        </p:txBody>
      </p:sp>
      <p:sp>
        <p:nvSpPr>
          <p:cNvPr id="10" name="line-2">
            <a:extLst xmlns:a="http://schemas.openxmlformats.org/drawingml/2006/main">
              <a:ext uri="{FF2B5EF4-FFF2-40B4-BE49-F238E27FC236}">
                <a16:creationId xmlns:a16="http://schemas.microsoft.com/office/drawing/2014/main" id="{83002FCC-6ACB-4A89-93ED-6BAFC9F66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005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52B3A"/>
                </a:solidFill>
              </a:defRPr>
            </a:pPr>
            <a:r>
              <a:rPr sz="2550" b="0">
                <a:solidFill>
                  <a:srgbClr val="152B3A"/>
                </a:solidFill>
              </a:rPr>
              <a:t>Robin</a:t>
            </a:r>
          </a:p>
        </p:txBody>
      </p:sp>
      <p:sp>
        <p:nvSpPr>
          <p:cNvPr id="11" name="line-3">
            <a:extLst xmlns:a="http://schemas.openxmlformats.org/drawingml/2006/main">
              <a:ext uri="{FF2B5EF4-FFF2-40B4-BE49-F238E27FC236}">
                <a16:creationId xmlns:a16="http://schemas.microsoft.com/office/drawing/2014/main" id="{7B4A9419-DA9E-40A6-8986-0FB4F1F4A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911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52B3A"/>
                </a:solidFill>
              </a:defRPr>
            </a:pPr>
            <a:r>
              <a:rPr sz="2550" b="0">
                <a:solidFill>
                  <a:srgbClr val="152B3A"/>
                </a:solidFill>
              </a:rPr>
              <a:t>Which one makes food using light?</a:t>
            </a:r>
          </a:p>
        </p:txBody>
      </p:sp>
    </p:spTree>
    <p:extLst>
      <p:ext uri="{BB962C8B-B14F-4D97-AF65-F5344CB8AC3E}">
        <p14:creationId xmlns:p14="http://schemas.microsoft.com/office/powerpoint/2010/main" val="73019426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rule">
            <a:extLst xmlns:a="http://schemas.openxmlformats.org/drawingml/2006/main">
              <a:ext uri="{FF2B5EF4-FFF2-40B4-BE49-F238E27FC236}">
                <a16:creationId xmlns:a16="http://schemas.microsoft.com/office/drawing/2014/main" id="{15A46784-5527-437E-98DC-95FA24221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781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5B339064-5BE7-4FE2-897C-5DAB36A77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8685E"/>
                </a:solidFill>
              </a:defRPr>
            </a:pPr>
            <a:r>
              <a:rPr sz="1500" b="1">
                <a:solidFill>
                  <a:srgbClr val="28685E"/>
                </a:solidFill>
              </a:rPr>
              <a:t>MADE BY MATT  /  BUILD SCIENCE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38b7df58134b96"/>
          <a:stretch xmlns:a="http://schemas.openxmlformats.org/drawingml/2006/main"/>
        </p:blipFill>
        <p:spPr>
          <a:xfrm xmlns:a="http://schemas.openxmlformats.org/drawingml/2006/main">
            <a:off x="10801350" y="43815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799A0F7-6C44-49D0-9283-10100CE1A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52B3A"/>
                </a:solidFill>
              </a:defRPr>
            </a:pPr>
            <a:r>
              <a:rPr sz="3750" b="1">
                <a:solidFill>
                  <a:srgbClr val="152B3A"/>
                </a:solidFill>
              </a:rPr>
              <a:t>Cover the plant: what might change?</a:t>
            </a:r>
          </a:p>
        </p:txBody>
      </p:sp>
      <p:sp>
        <p:nvSpPr>
          <p:cNvPr id="5" name="footer-line">
            <a:extLst xmlns:a="http://schemas.openxmlformats.org/drawingml/2006/main">
              <a:ext uri="{FF2B5EF4-FFF2-40B4-BE49-F238E27FC236}">
                <a16:creationId xmlns:a16="http://schemas.microsoft.com/office/drawing/2014/main" id="{0338BD6D-CA27-41B1-BC28-B52CB3445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DAEA76D3-3D5D-436E-B2B9-8EBF91178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</a:defRPr>
            </a:pPr>
            <a:r>
              <a:rPr sz="1275" b="0">
                <a:solidFill>
                  <a:srgbClr val="50616B"/>
                </a:solidFill>
              </a:rPr>
              <a:t>AUTUMN 1  ·  WEEK 7  ·  LESSON A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530C5026-A4BF-4267-A3DC-813F05609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8685E"/>
                </a:solidFill>
              </a:defRPr>
            </a:pPr>
            <a:r>
              <a:rPr sz="1350" b="1">
                <a:solidFill>
                  <a:srgbClr val="28685E"/>
                </a:solidFill>
              </a:rPr>
              <a:t>08</a:t>
            </a:r>
          </a:p>
        </p:txBody>
      </p:sp>
      <p:sp>
        <p:nvSpPr>
          <p:cNvPr id="8" name="line-0">
            <a:extLst xmlns:a="http://schemas.openxmlformats.org/drawingml/2006/main">
              <a:ext uri="{FF2B5EF4-FFF2-40B4-BE49-F238E27FC236}">
                <a16:creationId xmlns:a16="http://schemas.microsoft.com/office/drawing/2014/main" id="{070D1191-ECB9-459A-AE4E-932736837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52B3A"/>
                </a:solidFill>
              </a:defRPr>
            </a:pPr>
            <a:r>
              <a:rPr sz="2550" b="0">
                <a:solidFill>
                  <a:srgbClr val="152B3A"/>
                </a:solidFill>
              </a:rPr>
              <a:t>Cover the grass in the model chain.</a:t>
            </a:r>
          </a:p>
        </p:txBody>
      </p:sp>
      <p:sp>
        <p:nvSpPr>
          <p:cNvPr id="9" name="line-1">
            <a:extLst xmlns:a="http://schemas.openxmlformats.org/drawingml/2006/main">
              <a:ext uri="{FF2B5EF4-FFF2-40B4-BE49-F238E27FC236}">
                <a16:creationId xmlns:a16="http://schemas.microsoft.com/office/drawing/2014/main" id="{B52EBF7E-1436-4C61-A431-D1F04CA6C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52B3A"/>
                </a:solidFill>
              </a:defRPr>
            </a:pPr>
            <a:r>
              <a:rPr sz="2550" b="0">
                <a:solidFill>
                  <a:srgbClr val="152B3A"/>
                </a:solidFill>
              </a:rPr>
              <a:t>What food source does the rabbit lose?</a:t>
            </a:r>
          </a:p>
        </p:txBody>
      </p:sp>
      <p:sp>
        <p:nvSpPr>
          <p:cNvPr id="10" name="line-2">
            <a:extLst xmlns:a="http://schemas.openxmlformats.org/drawingml/2006/main">
              <a:ext uri="{FF2B5EF4-FFF2-40B4-BE49-F238E27FC236}">
                <a16:creationId xmlns:a16="http://schemas.microsoft.com/office/drawing/2014/main" id="{4D2C6E29-1619-4B2F-AF39-89918D799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52B3A"/>
                </a:solidFill>
              </a:defRPr>
            </a:pPr>
            <a:r>
              <a:rPr sz="2550" b="0">
                <a:solidFill>
                  <a:srgbClr val="152B3A"/>
                </a:solidFill>
              </a:rPr>
              <a:t>Could a fox be affected later?</a:t>
            </a:r>
          </a:p>
        </p:txBody>
      </p:sp>
    </p:spTree>
    <p:extLst>
      <p:ext uri="{BB962C8B-B14F-4D97-AF65-F5344CB8AC3E}">
        <p14:creationId xmlns:p14="http://schemas.microsoft.com/office/powerpoint/2010/main" val="104039031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op-rule">
            <a:extLst xmlns:a="http://schemas.openxmlformats.org/drawingml/2006/main">
              <a:ext uri="{FF2B5EF4-FFF2-40B4-BE49-F238E27FC236}">
                <a16:creationId xmlns:a16="http://schemas.microsoft.com/office/drawing/2014/main" id="{94DC7114-18C6-4A2D-A613-63E49305F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781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D8437498-C2C6-476B-A659-6318D91F5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8685E"/>
                </a:solidFill>
              </a:defRPr>
            </a:pPr>
            <a:r>
              <a:rPr sz="1500" b="1">
                <a:solidFill>
                  <a:srgbClr val="28685E"/>
                </a:solidFill>
              </a:rPr>
              <a:t>MADE BY MATT  /  BUILD SCIENCE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957ed8932d4535"/>
          <a:stretch xmlns:a="http://schemas.openxmlformats.org/drawingml/2006/main"/>
        </p:blipFill>
        <p:spPr>
          <a:xfrm xmlns:a="http://schemas.openxmlformats.org/drawingml/2006/main">
            <a:off x="10801350" y="43815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D0078D6-7516-4F2A-B97F-86E2DC96B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52B3A"/>
                </a:solidFill>
              </a:defRPr>
            </a:pPr>
            <a:r>
              <a:rPr sz="3750" b="1">
                <a:solidFill>
                  <a:srgbClr val="152B3A"/>
                </a:solidFill>
              </a:rPr>
              <a:t>Explain a consumer using because</a:t>
            </a:r>
          </a:p>
        </p:txBody>
      </p:sp>
      <p:sp>
        <p:nvSpPr>
          <p:cNvPr id="5" name="footer-line">
            <a:extLst xmlns:a="http://schemas.openxmlformats.org/drawingml/2006/main">
              <a:ext uri="{FF2B5EF4-FFF2-40B4-BE49-F238E27FC236}">
                <a16:creationId xmlns:a16="http://schemas.microsoft.com/office/drawing/2014/main" id="{4B0EB790-4AF2-493C-B542-CD4B6E405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AAC7F7B2-3F5C-48A1-BF55-944B33F34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</a:defRPr>
            </a:pPr>
            <a:r>
              <a:rPr sz="1275" b="0">
                <a:solidFill>
                  <a:srgbClr val="50616B"/>
                </a:solidFill>
              </a:rPr>
              <a:t>AUTUMN 1  ·  WEEK 7  ·  LESSON A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95E4A5E5-71B9-4A4E-8A92-E7B99EAEB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8685E"/>
                </a:solidFill>
              </a:defRPr>
            </a:pPr>
            <a:r>
              <a:rPr sz="1350" b="1">
                <a:solidFill>
                  <a:srgbClr val="28685E"/>
                </a:solidFill>
              </a:rPr>
              <a:t>09</a:t>
            </a:r>
          </a:p>
        </p:txBody>
      </p:sp>
      <p:sp>
        <p:nvSpPr>
          <p:cNvPr id="8" name="statement">
            <a:extLst xmlns:a="http://schemas.openxmlformats.org/drawingml/2006/main">
              <a:ext uri="{FF2B5EF4-FFF2-40B4-BE49-F238E27FC236}">
                <a16:creationId xmlns:a16="http://schemas.microsoft.com/office/drawing/2014/main" id="{41858C4C-E5A2-4947-8A1C-81459E920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10858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28685E"/>
                </a:solidFill>
              </a:defRPr>
            </a:pPr>
            <a:r>
              <a:rPr sz="2925" b="1">
                <a:solidFill>
                  <a:srgbClr val="28685E"/>
                </a:solidFill>
              </a:rPr>
              <a:t>The fox is a consumer because it obtains food by eating other living things.</a:t>
            </a:r>
          </a:p>
        </p:txBody>
      </p:sp>
      <p:sp>
        <p:nvSpPr>
          <p:cNvPr id="9" name="callout">
            <a:extLst xmlns:a="http://schemas.openxmlformats.org/drawingml/2006/main">
              <a:ext uri="{FF2B5EF4-FFF2-40B4-BE49-F238E27FC236}">
                <a16:creationId xmlns:a16="http://schemas.microsoft.com/office/drawing/2014/main" id="{B48A36A1-DF99-42A6-8758-1AB7C5B3C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10858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152B3A"/>
                </a:solidFill>
              </a:defRPr>
            </a:pPr>
            <a:r>
              <a:rPr sz="2700" b="0">
                <a:solidFill>
                  <a:srgbClr val="152B3A"/>
                </a:solidFill>
              </a:rPr>
              <a:t>Food-chain arrows show food and energy passing to the eater.</a:t>
            </a:r>
          </a:p>
        </p:txBody>
      </p:sp>
    </p:spTree>
    <p:extLst>
      <p:ext uri="{BB962C8B-B14F-4D97-AF65-F5344CB8AC3E}">
        <p14:creationId xmlns:p14="http://schemas.microsoft.com/office/powerpoint/2010/main" val="144513805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op-rule">
            <a:extLst xmlns:a="http://schemas.openxmlformats.org/drawingml/2006/main">
              <a:ext uri="{FF2B5EF4-FFF2-40B4-BE49-F238E27FC236}">
                <a16:creationId xmlns:a16="http://schemas.microsoft.com/office/drawing/2014/main" id="{7380BDF6-4625-44C0-91EE-CC8A08BCD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781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A66337E8-2A80-4437-94CD-676C03053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8685E"/>
                </a:solidFill>
              </a:defRPr>
            </a:pPr>
            <a:r>
              <a:rPr sz="1500" b="1">
                <a:solidFill>
                  <a:srgbClr val="28685E"/>
                </a:solidFill>
              </a:rPr>
              <a:t>MADE BY MATT  /  BUILD SCIENCE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22d6e1483b493e"/>
          <a:stretch xmlns:a="http://schemas.openxmlformats.org/drawingml/2006/main"/>
        </p:blipFill>
        <p:spPr>
          <a:xfrm xmlns:a="http://schemas.openxmlformats.org/drawingml/2006/main">
            <a:off x="10801350" y="43815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2B44B07-F81C-404A-B3FA-EB7F4E386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52B3A"/>
                </a:solidFill>
              </a:defRPr>
            </a:pPr>
            <a:r>
              <a:rPr sz="3750" b="1">
                <a:solidFill>
                  <a:srgbClr val="152B3A"/>
                </a:solidFill>
              </a:rPr>
              <a:t>Put the chain the right way round</a:t>
            </a:r>
          </a:p>
        </p:txBody>
      </p:sp>
      <p:sp>
        <p:nvSpPr>
          <p:cNvPr id="5" name="footer-line">
            <a:extLst xmlns:a="http://schemas.openxmlformats.org/drawingml/2006/main">
              <a:ext uri="{FF2B5EF4-FFF2-40B4-BE49-F238E27FC236}">
                <a16:creationId xmlns:a16="http://schemas.microsoft.com/office/drawing/2014/main" id="{07A9E3F2-7F45-4779-8F6B-7FDC6A197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69994895-555E-4E4B-B29F-B026967A9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</a:defRPr>
            </a:pPr>
            <a:r>
              <a:rPr sz="1275" b="0">
                <a:solidFill>
                  <a:srgbClr val="50616B"/>
                </a:solidFill>
              </a:rPr>
              <a:t>AUTUMN 1  ·  WEEK 7  ·  LESSON A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F32F64F6-A40B-459B-A3D8-6F88F1B87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8685E"/>
                </a:solidFill>
              </a:defRPr>
            </a:pPr>
            <a:r>
              <a:rPr sz="1350" b="1">
                <a:solidFill>
                  <a:srgbClr val="28685E"/>
                </a:solidFill>
              </a:rPr>
              <a:t>10</a:t>
            </a:r>
          </a:p>
        </p:txBody>
      </p:sp>
      <p:sp>
        <p:nvSpPr>
          <p:cNvPr id="8" name="left-heading">
            <a:extLst xmlns:a="http://schemas.openxmlformats.org/drawingml/2006/main">
              <a:ext uri="{FF2B5EF4-FFF2-40B4-BE49-F238E27FC236}">
                <a16:creationId xmlns:a16="http://schemas.microsoft.com/office/drawing/2014/main" id="{3184A5AE-AEF4-4C1D-A656-61CCF5A2E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8685E"/>
                </a:solidFill>
              </a:defRPr>
            </a:pPr>
            <a:r>
              <a:rPr sz="2025" b="1">
                <a:solidFill>
                  <a:srgbClr val="28685E"/>
                </a:solidFill>
              </a:rPr>
              <a:t>USE THE FEEDING CLUES</a:t>
            </a:r>
          </a:p>
        </p:txBody>
      </p:sp>
      <p:sp>
        <p:nvSpPr>
          <p:cNvPr id="9" name="right-heading">
            <a:extLst xmlns:a="http://schemas.openxmlformats.org/drawingml/2006/main">
              <a:ext uri="{FF2B5EF4-FFF2-40B4-BE49-F238E27FC236}">
                <a16:creationId xmlns:a16="http://schemas.microsoft.com/office/drawing/2014/main" id="{10636758-FE76-4EFC-B995-C742F016D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19375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65D25"/>
                </a:solidFill>
              </a:defRPr>
            </a:pPr>
            <a:r>
              <a:rPr sz="2025" b="1">
                <a:solidFill>
                  <a:srgbClr val="A65D25"/>
                </a:solidFill>
              </a:rPr>
              <a:t>CHECK THE CLAIMS</a:t>
            </a:r>
          </a:p>
        </p:txBody>
      </p:sp>
      <p:sp>
        <p:nvSpPr>
          <p:cNvPr id="10" name="left">
            <a:extLst xmlns:a="http://schemas.openxmlformats.org/drawingml/2006/main">
              <a:ext uri="{FF2B5EF4-FFF2-40B4-BE49-F238E27FC236}">
                <a16:creationId xmlns:a16="http://schemas.microsoft.com/office/drawing/2014/main" id="{99B183C1-B3F2-48B8-8436-50E110D72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4953000" cy="2524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52B3A"/>
                </a:solidFill>
              </a:defRPr>
            </a:pPr>
            <a:r>
              <a:rPr sz="2400" b="0">
                <a:solidFill>
                  <a:srgbClr val="152B3A"/>
                </a:solidFill>
              </a:rPr>
              <a:t>Rabbits can eat grass.</a:t>
            </a:r>
          </a:p>
          <a:p xmlns:a="http://schemas.openxmlformats.org/drawingml/2006/main">
            <a:pPr>
              <a:defRPr sz="2400" b="0">
                <a:solidFill>
                  <a:srgbClr val="152B3A"/>
                </a:solidFill>
              </a:defRPr>
            </a:pPr>
            <a:r>
              <a:rPr sz="2400" b="0">
                <a:solidFill>
                  <a:srgbClr val="152B3A"/>
                </a:solidFill>
              </a:rPr>
              <a:t>Foxes can eat rabbits.</a:t>
            </a:r>
          </a:p>
        </p:txBody>
      </p:sp>
      <p:sp>
        <p:nvSpPr>
          <p:cNvPr id="11" name="right">
            <a:extLst xmlns:a="http://schemas.openxmlformats.org/drawingml/2006/main">
              <a:ext uri="{FF2B5EF4-FFF2-40B4-BE49-F238E27FC236}">
                <a16:creationId xmlns:a16="http://schemas.microsoft.com/office/drawing/2014/main" id="{0CA862EA-29CA-47AD-9A4E-52A258D61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33750"/>
            <a:ext cx="4857750" cy="2524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52B3A"/>
                </a:solidFill>
              </a:defRPr>
            </a:pPr>
            <a:r>
              <a:rPr sz="2400" b="0">
                <a:solidFill>
                  <a:srgbClr val="152B3A"/>
                </a:solidFill>
              </a:rPr>
              <a:t>Which organism comes first?</a:t>
            </a:r>
          </a:p>
          <a:p xmlns:a="http://schemas.openxmlformats.org/drawingml/2006/main">
            <a:pPr>
              <a:defRPr sz="2400" b="0">
                <a:solidFill>
                  <a:srgbClr val="152B3A"/>
                </a:solidFill>
              </a:defRPr>
            </a:pPr>
            <a:r>
              <a:rPr sz="2400" b="0">
                <a:solidFill>
                  <a:srgbClr val="152B3A"/>
                </a:solidFill>
              </a:rPr>
              <a:t>Where does each arrow point?</a:t>
            </a:r>
          </a:p>
          <a:p xmlns:a="http://schemas.openxmlformats.org/drawingml/2006/main">
            <a:pPr>
              <a:defRPr sz="2400" b="0">
                <a:solidFill>
                  <a:srgbClr val="152B3A"/>
                </a:solidFill>
              </a:defRPr>
            </a:pPr>
            <a:r>
              <a:rPr sz="2400" b="0">
                <a:solidFill>
                  <a:srgbClr val="152B3A"/>
                </a:solidFill>
              </a:rPr>
              <a:t>“Animals make their own food.”</a:t>
            </a:r>
          </a:p>
        </p:txBody>
      </p:sp>
    </p:spTree>
    <p:extLst>
      <p:ext uri="{BB962C8B-B14F-4D97-AF65-F5344CB8AC3E}">
        <p14:creationId xmlns:p14="http://schemas.microsoft.com/office/powerpoint/2010/main" val="102497373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op-rule">
            <a:extLst xmlns:a="http://schemas.openxmlformats.org/drawingml/2006/main">
              <a:ext uri="{FF2B5EF4-FFF2-40B4-BE49-F238E27FC236}">
                <a16:creationId xmlns:a16="http://schemas.microsoft.com/office/drawing/2014/main" id="{3F40A450-9430-4698-85F4-E39644D2B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781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6CB221F4-BABA-46E1-94F3-6AC317CC1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8685E"/>
                </a:solidFill>
              </a:defRPr>
            </a:pPr>
            <a:r>
              <a:rPr sz="1500" b="1">
                <a:solidFill>
                  <a:srgbClr val="28685E"/>
                </a:solidFill>
              </a:rPr>
              <a:t>MADE BY MATT  /  BUILD SCIENCE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6eefda6f48497e"/>
          <a:stretch xmlns:a="http://schemas.openxmlformats.org/drawingml/2006/main"/>
        </p:blipFill>
        <p:spPr>
          <a:xfrm xmlns:a="http://schemas.openxmlformats.org/drawingml/2006/main">
            <a:off x="10801350" y="43815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254F7A0-5442-4B8F-AAF2-E243BFA53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52B3A"/>
                </a:solidFill>
              </a:defRPr>
            </a:pPr>
            <a:r>
              <a:rPr sz="3750" b="1">
                <a:solidFill>
                  <a:srgbClr val="152B3A"/>
                </a:solidFill>
              </a:rPr>
              <a:t>Repair one arrow and save it</a:t>
            </a:r>
          </a:p>
        </p:txBody>
      </p:sp>
      <p:sp>
        <p:nvSpPr>
          <p:cNvPr id="5" name="footer-line">
            <a:extLst xmlns:a="http://schemas.openxmlformats.org/drawingml/2006/main">
              <a:ext uri="{FF2B5EF4-FFF2-40B4-BE49-F238E27FC236}">
                <a16:creationId xmlns:a16="http://schemas.microsoft.com/office/drawing/2014/main" id="{A4DFF048-D0A8-4703-B996-C93CE7C2F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E595B333-B2E1-4915-8FCE-8E3C35AF1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</a:defRPr>
            </a:pPr>
            <a:r>
              <a:rPr sz="1275" b="0">
                <a:solidFill>
                  <a:srgbClr val="50616B"/>
                </a:solidFill>
              </a:rPr>
              <a:t>AUTUMN 1  ·  WEEK 7  ·  LESSON A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4199DCEC-61DD-426D-B7CD-A422F5972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8685E"/>
                </a:solidFill>
              </a:defRPr>
            </a:pPr>
            <a:r>
              <a:rPr sz="1350" b="1">
                <a:solidFill>
                  <a:srgbClr val="28685E"/>
                </a:solidFill>
              </a:rPr>
              <a:t>11</a:t>
            </a:r>
          </a:p>
        </p:txBody>
      </p:sp>
      <p:sp>
        <p:nvSpPr>
          <p:cNvPr id="8" name="line-0">
            <a:extLst xmlns:a="http://schemas.openxmlformats.org/drawingml/2006/main">
              <a:ext uri="{FF2B5EF4-FFF2-40B4-BE49-F238E27FC236}">
                <a16:creationId xmlns:a16="http://schemas.microsoft.com/office/drawing/2014/main" id="{E398B8F2-8E6D-43A6-9363-427990B3F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52B3A"/>
                </a:solidFill>
              </a:defRPr>
            </a:pPr>
            <a:r>
              <a:rPr sz="2550" b="0">
                <a:solidFill>
                  <a:srgbClr val="152B3A"/>
                </a:solidFill>
              </a:rPr>
              <a:t>Turn one arrow the wrong way on purpose.</a:t>
            </a:r>
          </a:p>
        </p:txBody>
      </p:sp>
      <p:sp>
        <p:nvSpPr>
          <p:cNvPr id="9" name="line-1">
            <a:extLst xmlns:a="http://schemas.openxmlformats.org/drawingml/2006/main">
              <a:ext uri="{FF2B5EF4-FFF2-40B4-BE49-F238E27FC236}">
                <a16:creationId xmlns:a16="http://schemas.microsoft.com/office/drawing/2014/main" id="{D0807BAF-1291-4342-900C-0D8F5200D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995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52B3A"/>
                </a:solidFill>
              </a:defRPr>
            </a:pPr>
            <a:r>
              <a:rPr sz="2550" b="0">
                <a:solidFill>
                  <a:srgbClr val="152B3A"/>
                </a:solidFill>
              </a:rPr>
              <a:t>Use the feeding clue to repair it.</a:t>
            </a:r>
          </a:p>
        </p:txBody>
      </p:sp>
      <p:sp>
        <p:nvSpPr>
          <p:cNvPr id="10" name="line-2">
            <a:extLst xmlns:a="http://schemas.openxmlformats.org/drawingml/2006/main">
              <a:ext uri="{FF2B5EF4-FFF2-40B4-BE49-F238E27FC236}">
                <a16:creationId xmlns:a16="http://schemas.microsoft.com/office/drawing/2014/main" id="{2D81D799-0D54-445D-B45F-234F2A347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005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52B3A"/>
                </a:solidFill>
              </a:defRPr>
            </a:pPr>
            <a:r>
              <a:rPr sz="2550" b="0">
                <a:solidFill>
                  <a:srgbClr val="152B3A"/>
                </a:solidFill>
              </a:rPr>
              <a:t>Say who receives food at that arrow.</a:t>
            </a:r>
          </a:p>
        </p:txBody>
      </p:sp>
      <p:sp>
        <p:nvSpPr>
          <p:cNvPr id="11" name="line-3">
            <a:extLst xmlns:a="http://schemas.openxmlformats.org/drawingml/2006/main">
              <a:ext uri="{FF2B5EF4-FFF2-40B4-BE49-F238E27FC236}">
                <a16:creationId xmlns:a16="http://schemas.microsoft.com/office/drawing/2014/main" id="{6E714230-FCB6-4FDD-B89E-E1EF9BF73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911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52B3A"/>
                </a:solidFill>
              </a:defRPr>
            </a:pPr>
            <a:r>
              <a:rPr sz="2550" b="0">
                <a:solidFill>
                  <a:srgbClr val="152B3A"/>
                </a:solidFill>
              </a:rPr>
              <a:t>Keep the chain for Wednesday.</a:t>
            </a:r>
          </a:p>
        </p:txBody>
      </p:sp>
    </p:spTree>
    <p:extLst>
      <p:ext uri="{BB962C8B-B14F-4D97-AF65-F5344CB8AC3E}">
        <p14:creationId xmlns:p14="http://schemas.microsoft.com/office/powerpoint/2010/main" val="3249320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2026-09-06T13:09:08.1880000Z</dcterms:created>
  <dcterms:modified xsi:type="dcterms:W3CDTF">2026-09-06T13:09:08.1880000Z</dcterms:modified>
</coreProperties>
</file>