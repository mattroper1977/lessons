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ed3c74ae3b4666" /><Relationship Type="http://schemas.openxmlformats.org/officeDocument/2006/relationships/extended-properties" Target="/docProps/app.xml" Id="R6694fcfddae346c0" /><Relationship Type="http://schemas.openxmlformats.org/officeDocument/2006/relationships/officeDocument" Target="/ppt/presentation.xml" Id="R6bcc76f4e52c49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267d1462b744d3"/>
  </p:sldMasterIdLst>
  <p:notesMasterIdLst>
    <p:notesMasterId xmlns:r="http://schemas.openxmlformats.org/officeDocument/2006/relationships" r:id="R76c513a06a454add"/>
  </p:notesMasterIdLst>
  <p:sldIdLst>
    <p:sldId xmlns:r="http://schemas.openxmlformats.org/officeDocument/2006/relationships" id="256" r:id="R02e37f0302cd47c3"/>
    <p:sldId xmlns:r="http://schemas.openxmlformats.org/officeDocument/2006/relationships" id="257" r:id="R6d8e789c4ea94c1c"/>
    <p:sldId xmlns:r="http://schemas.openxmlformats.org/officeDocument/2006/relationships" id="258" r:id="R6d0f6dc78e4840b8"/>
    <p:sldId xmlns:r="http://schemas.openxmlformats.org/officeDocument/2006/relationships" id="259" r:id="R3c7ae9666d96424e"/>
    <p:sldId xmlns:r="http://schemas.openxmlformats.org/officeDocument/2006/relationships" id="260" r:id="R0ecdf43f9b894772"/>
    <p:sldId xmlns:r="http://schemas.openxmlformats.org/officeDocument/2006/relationships" id="261" r:id="R6ad7197747b0456f"/>
    <p:sldId xmlns:r="http://schemas.openxmlformats.org/officeDocument/2006/relationships" id="262" r:id="R308bb4e650ba4ca2"/>
    <p:sldId xmlns:r="http://schemas.openxmlformats.org/officeDocument/2006/relationships" id="263" r:id="R196b681e67164d3d"/>
    <p:sldId xmlns:r="http://schemas.openxmlformats.org/officeDocument/2006/relationships" id="264" r:id="Rc395969a9f3c4b88"/>
    <p:sldId xmlns:r="http://schemas.openxmlformats.org/officeDocument/2006/relationships" id="265" r:id="R7e6f556fa9054687"/>
    <p:sldId xmlns:r="http://schemas.openxmlformats.org/officeDocument/2006/relationships" id="266" r:id="Rce3c1932c22c4854"/>
    <p:sldId xmlns:r="http://schemas.openxmlformats.org/officeDocument/2006/relationships" id="267" r:id="Reb23b1da2fbc4849"/>
    <p:sldId xmlns:r="http://schemas.openxmlformats.org/officeDocument/2006/relationships" id="268" r:id="Rb372bc859d39499d"/>
    <p:sldId xmlns:r="http://schemas.openxmlformats.org/officeDocument/2006/relationships" id="269" r:id="R4b9fa5a2413e4049"/>
    <p:sldId xmlns:r="http://schemas.openxmlformats.org/officeDocument/2006/relationships" id="270" r:id="Rd7fc6e0c42bc4b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5d7bdb3aaa47cc" /><Relationship Type="http://schemas.openxmlformats.org/officeDocument/2006/relationships/slideMaster" Target="/ppt/slideMasters/slideMaster1.xml" Id="R4b267d1462b744d3" /><Relationship Type="http://schemas.openxmlformats.org/officeDocument/2006/relationships/notesMaster" Target="/ppt/notesMasters/notesMaster1.xml" Id="R76c513a06a454add" /><Relationship Type="http://schemas.openxmlformats.org/officeDocument/2006/relationships/presProps" Target="/ppt/presProps.xml" Id="R10b919aaf9604c0d" /><Relationship Type="http://schemas.openxmlformats.org/officeDocument/2006/relationships/tableStyles" Target="/ppt/tableStyles.xml" Id="Rbb775897ef814f3c" /><Relationship Type="http://schemas.openxmlformats.org/officeDocument/2006/relationships/slide" Target="/ppt/slides/slide1.xml" Id="R02e37f0302cd47c3" /><Relationship Type="http://schemas.openxmlformats.org/officeDocument/2006/relationships/slide" Target="/ppt/slides/slide2.xml" Id="R6d8e789c4ea94c1c" /><Relationship Type="http://schemas.openxmlformats.org/officeDocument/2006/relationships/slide" Target="/ppt/slides/slide3.xml" Id="R6d0f6dc78e4840b8" /><Relationship Type="http://schemas.openxmlformats.org/officeDocument/2006/relationships/slide" Target="/ppt/slides/slide4.xml" Id="R3c7ae9666d96424e" /><Relationship Type="http://schemas.openxmlformats.org/officeDocument/2006/relationships/slide" Target="/ppt/slides/slide5.xml" Id="R0ecdf43f9b894772" /><Relationship Type="http://schemas.openxmlformats.org/officeDocument/2006/relationships/slide" Target="/ppt/slides/slide6.xml" Id="R6ad7197747b0456f" /><Relationship Type="http://schemas.openxmlformats.org/officeDocument/2006/relationships/slide" Target="/ppt/slides/slide7.xml" Id="R308bb4e650ba4ca2" /><Relationship Type="http://schemas.openxmlformats.org/officeDocument/2006/relationships/slide" Target="/ppt/slides/slide8.xml" Id="R196b681e67164d3d" /><Relationship Type="http://schemas.openxmlformats.org/officeDocument/2006/relationships/slide" Target="/ppt/slides/slide9.xml" Id="Rc395969a9f3c4b88" /><Relationship Type="http://schemas.openxmlformats.org/officeDocument/2006/relationships/slide" Target="/ppt/slides/slide10.xml" Id="R7e6f556fa9054687" /><Relationship Type="http://schemas.openxmlformats.org/officeDocument/2006/relationships/slide" Target="/ppt/slides/slide11.xml" Id="Rce3c1932c22c4854" /><Relationship Type="http://schemas.openxmlformats.org/officeDocument/2006/relationships/slide" Target="/ppt/slides/slide12.xml" Id="Reb23b1da2fbc4849" /><Relationship Type="http://schemas.openxmlformats.org/officeDocument/2006/relationships/slide" Target="/ppt/slides/slide13.xml" Id="Rb372bc859d39499d" /><Relationship Type="http://schemas.openxmlformats.org/officeDocument/2006/relationships/slide" Target="/ppt/slides/slide14.xml" Id="R4b9fa5a2413e4049" /><Relationship Type="http://schemas.openxmlformats.org/officeDocument/2006/relationships/slide" Target="/ppt/slides/slide15.xml" Id="Rd7fc6e0c42bc4b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42e902c3fe46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73fb523e684f8f" /><Relationship Type="http://schemas.openxmlformats.org/officeDocument/2006/relationships/notesMaster" Target="/ppt/notesMasters/notesMaster1.xml" Id="Rac4d74b5325447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bd2fe698fb49ad" /><Relationship Type="http://schemas.openxmlformats.org/officeDocument/2006/relationships/notesMaster" Target="/ppt/notesMasters/notesMaster1.xml" Id="Rf0f02693e8cd43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2c0862fed04fb9" /><Relationship Type="http://schemas.openxmlformats.org/officeDocument/2006/relationships/notesMaster" Target="/ppt/notesMasters/notesMaster1.xml" Id="R407806a9541c46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a1921997974eb2" /><Relationship Type="http://schemas.openxmlformats.org/officeDocument/2006/relationships/notesMaster" Target="/ppt/notesMasters/notesMaster1.xml" Id="R172027b594ea4e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ea09a4ff194a88" /><Relationship Type="http://schemas.openxmlformats.org/officeDocument/2006/relationships/notesMaster" Target="/ppt/notesMasters/notesMaster1.xml" Id="R2c4be5fe98d741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baee4cdfb442c3" /><Relationship Type="http://schemas.openxmlformats.org/officeDocument/2006/relationships/notesMaster" Target="/ppt/notesMasters/notesMaster1.xml" Id="Rafe98fd9d0684a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efb7575c2e40de" /><Relationship Type="http://schemas.openxmlformats.org/officeDocument/2006/relationships/notesMaster" Target="/ppt/notesMasters/notesMaster1.xml" Id="Rf231965d61404d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57d924d3244422" /><Relationship Type="http://schemas.openxmlformats.org/officeDocument/2006/relationships/notesMaster" Target="/ppt/notesMasters/notesMaster1.xml" Id="R91026663771044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dee1ae3aba4453" /><Relationship Type="http://schemas.openxmlformats.org/officeDocument/2006/relationships/notesMaster" Target="/ppt/notesMasters/notesMaster1.xml" Id="Rcca61c48a93544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e348757851403b" /><Relationship Type="http://schemas.openxmlformats.org/officeDocument/2006/relationships/notesMaster" Target="/ppt/notesMasters/notesMaster1.xml" Id="R2bc31fd2779c4e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22b0d7541f4882" /><Relationship Type="http://schemas.openxmlformats.org/officeDocument/2006/relationships/notesMaster" Target="/ppt/notesMasters/notesMaster1.xml" Id="R025b136fc83a44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dae47000044052" /><Relationship Type="http://schemas.openxmlformats.org/officeDocument/2006/relationships/notesMaster" Target="/ppt/notesMasters/notesMaster1.xml" Id="R5306af0957aa4f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e307984ed442fc" /><Relationship Type="http://schemas.openxmlformats.org/officeDocument/2006/relationships/notesMaster" Target="/ppt/notesMasters/notesMaster1.xml" Id="R1eb88ae1213841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9194fd37c34be3" /><Relationship Type="http://schemas.openxmlformats.org/officeDocument/2006/relationships/notesMaster" Target="/ppt/notesMasters/notesMaster1.xml" Id="R1080404d050b42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6c29d0b9c64107" /><Relationship Type="http://schemas.openxmlformats.org/officeDocument/2006/relationships/notesMaster" Target="/ppt/notesMasters/notesMaster1.xml" Id="Rab09ed6ac3a44e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formative purpose, route recording and the 17-minute independent window. It is not a prediction of a GCSE grade. Keep pupil marks private.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Answers: no; no; amount/change and time with units. Do not reveal the checkpoint data calculations.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 communicable because a virus can spread; Q non-communicable because no infectious cause is transmitted. Use these analogous cases, not assessment A/B.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Recap comparison: two fictional conditions share a rash symptom. One is caused by a transmissible virus; the other is a non-infectious skin reaction. The cause and route determine the category, not rash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accurate sentence per role. Explain that the recap provides teaching support; checkpoint scores therefore describe post-recap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Recap role model linking a recognised antigen to antibody response and retained memory lymphocytes. Memory supports a faster later response to the same antigen; it is not an antibody protein.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7, 8, 9 over 2 minutes: mean 8; rate 4 bubbles/min. Check that pupils see two different divisions with different purposes.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Analogous warm-up: three counts each lasting 2 minutes are 7, 8 and 9 bubbles; mean 8 per 2 minutes gives 4 bubbles/min. The checkpoint uses different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P’s transmissible virus contrasts with Q’s non-infectious cause. Accept a clear comparison without a diagnosis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Recap comparison: two fictional conditions share a rash symptom. One is caused by a transmissible virus; the other is a non-infectious skin reaction. The cause and route determine the category, not rash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Antibody. Ask how the memory-cell label should change; it is a cell. This is a warm-up, not the independent answer 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Recap role model linking a recognised antigen to antibody response and retained memory lymphocytes. Memory supports a faster later response to the same antigen; it is not an antibody protein.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8 count was per 2 minutes; dividing by 2 gives 4 bubbles/min. Do not expose checkpoint 800-lux answer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Analogous warm-up: three counts each lasting 2 minutes are 7, 8 and 9 bubbles; mean 8 per 2 minutes gives 4 bubbles/min. The checkpoint uses different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 option: mean and rate answer different questions. Briefly re-teach timing if needed; record extra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A mean count and a per-minute rate can differ.</a:t>
            </a:r>
          </a:p>
          <a:p xmlns:a="http://schemas.openxmlformats.org/drawingml/2006/main">
            <a:r>
              <a:t>Correct. Yes. A count taken over several minutes must be divided by that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Every mean count is automatically per minute.</a:t>
            </a:r>
          </a:p>
          <a:p xmlns:a="http://schemas.openxmlformats.org/drawingml/2006/main">
            <a:r>
              <a:t>Only if the count interval is one minute; check the supplied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instructions only. A scribe/read-aloud may support access without adding science; record prompts or scientific help. Do not show answers during this window.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17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timer optional and discreet. Supported S1–S4, standard M1–M4 or challenge T1–T4 each totals 16 marks. No public competition. Collect a first response before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 release relevant answers. Mark with the route-specific 16-mark scheme. Do not compare unlike support routes as equal test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private teacher/TA discussion. Retain first and revised response as evidence of learning; do not inflate the original independent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 a specific accurate distinction and an actionable next step. Scores guide re-teaching by item, not a grade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exit minute. Record route, support and one next teaching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specific recognition and immune memory; all checkpoint wording is original.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bubble-count interpretation. All assessment counts are constructed.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a448bf13d40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6baed8e92e49bb" /><Relationship Type="http://schemas.openxmlformats.org/officeDocument/2006/relationships/slideLayout" Target="/ppt/slideLayouts/slideLayout1.xml" Id="R4068428215aa4c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68428215aa4c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fa67e032b4e4d" /><Relationship Type="http://schemas.openxmlformats.org/officeDocument/2006/relationships/notesSlide" Target="/ppt/notesSlides/notesSlide1.xml" Id="Rc67ccc6ff09b4b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a18ae90d9467f" /><Relationship Type="http://schemas.openxmlformats.org/officeDocument/2006/relationships/notesSlide" Target="/ppt/notesSlides/notesSlide2.xml" Id="R8abd50193da049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99336b1164080" /><Relationship Type="http://schemas.openxmlformats.org/officeDocument/2006/relationships/notesSlide" Target="/ppt/notesSlides/notesSlide3.xml" Id="R33040038293843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5a9740fb74613" /><Relationship Type="http://schemas.openxmlformats.org/officeDocument/2006/relationships/notesSlide" Target="/ppt/notesSlides/notesSlide4.xml" Id="R9b044c8d53274b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15dd3527a4622" /><Relationship Type="http://schemas.openxmlformats.org/officeDocument/2006/relationships/notesSlide" Target="/ppt/notesSlides/notesSlide5.xml" Id="R6ca5ea9b9b5647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50e899fca44d9" /><Relationship Type="http://schemas.openxmlformats.org/officeDocument/2006/relationships/notesSlide" Target="/ppt/notesSlides/notesSlide6.xml" Id="Rf7f1974bd9b841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a1885605d49a5" /><Relationship Type="http://schemas.openxmlformats.org/officeDocument/2006/relationships/notesSlide" Target="/ppt/notesSlides/notesSlide7.xml" Id="Rdb6ef7a3a96b4f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1fcf512204af5" /><Relationship Type="http://schemas.openxmlformats.org/officeDocument/2006/relationships/notesSlide" Target="/ppt/notesSlides/notesSlide8.xml" Id="Rb618efb90d3540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390561e204f05" /><Relationship Type="http://schemas.openxmlformats.org/officeDocument/2006/relationships/notesSlide" Target="/ppt/notesSlides/notesSlide9.xml" Id="Rfa4d8f4009ab4d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a49802d7d47de" /><Relationship Type="http://schemas.openxmlformats.org/officeDocument/2006/relationships/notesSlide" Target="/ppt/notesSlides/notesSlide10.xml" Id="R225ddc46f0154b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02c16f0b2472b" /><Relationship Type="http://schemas.openxmlformats.org/officeDocument/2006/relationships/notesSlide" Target="/ppt/notesSlides/notesSlide11.xml" Id="Rd2411fd8639240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8b297203f4f05" /><Relationship Type="http://schemas.openxmlformats.org/officeDocument/2006/relationships/notesSlide" Target="/ppt/notesSlides/notesSlide12.xml" Id="R393fc5088ee247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538c81bdf4fac" /><Relationship Type="http://schemas.openxmlformats.org/officeDocument/2006/relationships/notesSlide" Target="/ppt/notesSlides/notesSlide13.xml" Id="Rb77a3c9f6b0f48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8f4f3b5814ed3" /><Relationship Type="http://schemas.openxmlformats.org/officeDocument/2006/relationships/notesSlide" Target="/ppt/notesSlides/notesSlide14.xml" Id="R051fcf742edd46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423f3bda94b5c" /><Relationship Type="http://schemas.openxmlformats.org/officeDocument/2006/relationships/notesSlide" Target="/ppt/notesSlides/notesSlide15.xml" Id="R7c1a91928c8849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E576E744-3341-4C4F-AF83-44204579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D793177-CE61-4E46-BA0F-B2F85CFF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347981A-B620-4324-AAD1-66E9940D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25736040-F2D7-47EE-BC24-E42E68C9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3D563E7E-E3E5-482C-91D0-444009EE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57A108A0-57CC-45C8-876B-543E58DB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 checkpoint with a useful next step">
            <a:extLst xmlns:a="http://schemas.openxmlformats.org/drawingml/2006/main">
              <a:ext uri="{FF2B5EF4-FFF2-40B4-BE49-F238E27FC236}">
                <a16:creationId xmlns:a16="http://schemas.microsoft.com/office/drawing/2014/main" id="{45438E6D-358A-4525-A5C7-A00BB4A9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checkpoint with a useful next step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1C1610F-3D18-4980-B6CC-29CB043C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68594B0C-0089-478D-BA73-FCD103BF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670C2285-6034-443F-ADAA-F15F08AE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C5096326-E76B-416C-A49D-34BE577A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FB14B84-6595-4FFD-91DD-19066C81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EAE6192B-2349-48A4-8E0C-BD2EBCA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Apply taught disease, immunity and plant concepts in an original">
            <a:extLst xmlns:a="http://schemas.openxmlformats.org/drawingml/2006/main">
              <a:ext uri="{FF2B5EF4-FFF2-40B4-BE49-F238E27FC236}">
                <a16:creationId xmlns:a16="http://schemas.microsoft.com/office/drawing/2014/main" id="{66FE61F6-C574-43BC-A479-42AF1CC7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Apply taught disease, immunity and plant concepts in an original diagnostic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checkpoint.</a:t>
            </a:r>
          </a:p>
        </p:txBody>
      </p:sp>
      <p:sp>
        <p:nvSpPr>
          <p:cNvPr id="15" name="Use what you have learned, then improve one answer.">
            <a:extLst xmlns:a="http://schemas.openxmlformats.org/drawingml/2006/main">
              <a:ext uri="{FF2B5EF4-FFF2-40B4-BE49-F238E27FC236}">
                <a16:creationId xmlns:a16="http://schemas.microsoft.com/office/drawing/2014/main" id="{E7BFA75A-A64E-4066-93AB-AE9E3250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what you have learned, then improve one answer.</a:t>
            </a:r>
          </a:p>
        </p:txBody>
      </p:sp>
      <p:sp>
        <p:nvSpPr>
          <p:cNvPr id="16" name="This is an original 16-mark classroom task.">
            <a:extLst xmlns:a="http://schemas.openxmlformats.org/drawingml/2006/main">
              <a:ext uri="{FF2B5EF4-FFF2-40B4-BE49-F238E27FC236}">
                <a16:creationId xmlns:a16="http://schemas.microsoft.com/office/drawing/2014/main" id="{25C47B4D-D975-40B4-82A9-94E6A84E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This is an original 16-mark classroom task.</a:t>
            </a:r>
          </a:p>
        </p:txBody>
      </p:sp>
    </p:spTree>
    <p:extLst>
      <p:ext uri="{BB962C8B-B14F-4D97-AF65-F5344CB8AC3E}">
        <p14:creationId xmlns:p14="http://schemas.microsoft.com/office/powerpoint/2010/main" val="975459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EEA1E37-5A50-4175-B334-B5A3650B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CE893E7-8D5E-4A35-865B-7FBFE513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C618FFE-3B8F-4C52-99D1-8ECAD8B3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9085DCFA-DD06-4AA5-A493-F328ED0F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893B09C9-78D9-46D3-8977-11B3AF70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BF91DD6C-98FB-4523-9A1B-E8DB02A0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Bring the core distinctions back">
            <a:extLst xmlns:a="http://schemas.openxmlformats.org/drawingml/2006/main">
              <a:ext uri="{FF2B5EF4-FFF2-40B4-BE49-F238E27FC236}">
                <a16:creationId xmlns:a16="http://schemas.microsoft.com/office/drawing/2014/main" id="{07D367CF-570B-4A65-81B4-DB5ED4F2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Bring the core distinctions back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DD34A22-6708-4656-95DB-177CC9B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D5105917-AC75-4158-9D7F-9A6290D4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B3B151FE-9118-412F-AC43-223568BE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Does a shared symptom prove a shared cause?">
            <a:extLst xmlns:a="http://schemas.openxmlformats.org/drawingml/2006/main">
              <a:ext uri="{FF2B5EF4-FFF2-40B4-BE49-F238E27FC236}">
                <a16:creationId xmlns:a16="http://schemas.microsoft.com/office/drawing/2014/main" id="{745DB025-1402-48B7-B0C6-49280766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Does a shared symptom prove a shared cause?</a:t>
            </a:r>
          </a:p>
        </p:txBody>
      </p:sp>
      <p:sp>
        <p:nvSpPr>
          <p:cNvPr id="12" name="R2. Is a protein a cell?">
            <a:extLst xmlns:a="http://schemas.openxmlformats.org/drawingml/2006/main">
              <a:ext uri="{FF2B5EF4-FFF2-40B4-BE49-F238E27FC236}">
                <a16:creationId xmlns:a16="http://schemas.microsoft.com/office/drawing/2014/main" id="{1E71177A-FF2B-46BA-BC2A-5B1C65C0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Is a protein a cell?</a:t>
            </a:r>
          </a:p>
        </p:txBody>
      </p:sp>
      <p:sp>
        <p:nvSpPr>
          <p:cNvPr id="13" name="R3. What must a rate include?">
            <a:extLst xmlns:a="http://schemas.openxmlformats.org/drawingml/2006/main">
              <a:ext uri="{FF2B5EF4-FFF2-40B4-BE49-F238E27FC236}">
                <a16:creationId xmlns:a16="http://schemas.microsoft.com/office/drawing/2014/main" id="{48FB2CCC-82D0-4E41-B598-CF6E834A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What must a rate include?</a:t>
            </a:r>
          </a:p>
        </p:txBody>
      </p:sp>
    </p:spTree>
    <p:extLst>
      <p:ext uri="{BB962C8B-B14F-4D97-AF65-F5344CB8AC3E}">
        <p14:creationId xmlns:p14="http://schemas.microsoft.com/office/powerpoint/2010/main" val="2090068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C536A304-D9FB-4097-849A-2DB860FE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3051823-EDA1-4AB7-97B6-2ED642DC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39EE791-2B4F-4A79-A985-740C4DDC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397FF36-3D4E-4D10-AD23-0FBEAF42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6804604A-6597-471A-8158-EA45A573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A95A1901-AB64-436D-8FA4-D5CD7F41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ad causal evidence">
            <a:extLst xmlns:a="http://schemas.openxmlformats.org/drawingml/2006/main">
              <a:ext uri="{FF2B5EF4-FFF2-40B4-BE49-F238E27FC236}">
                <a16:creationId xmlns:a16="http://schemas.microsoft.com/office/drawing/2014/main" id="{D856EC09-A3DE-41FA-A851-87C895BC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causal evidence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D966E08-9EBD-4ABB-8F3F-4878095A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316601C0-D023-46E1-B89F-F28740FE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9BD7D2C0-6C22-4B3A-9524-1D07F485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A cause test beats a symptom guess">
            <a:extLst xmlns:a="http://schemas.openxmlformats.org/drawingml/2006/main">
              <a:ext uri="{FF2B5EF4-FFF2-40B4-BE49-F238E27FC236}">
                <a16:creationId xmlns:a16="http://schemas.microsoft.com/office/drawing/2014/main" id="{2E8C0247-8B37-45A2-9682-AAD09AA9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cause test beats a symptom guess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37EC83B-4BD0-4FA5-B953-8DC6BC81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669211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3" name="Diagram label: Recap P: virus&#10;Can spread between hosts">
            <a:extLst xmlns:a="http://schemas.openxmlformats.org/drawingml/2006/main">
              <a:ext uri="{FF2B5EF4-FFF2-40B4-BE49-F238E27FC236}">
                <a16:creationId xmlns:a16="http://schemas.microsoft.com/office/drawing/2014/main" id="{652F6BA7-89CF-4F64-AE24-7FB73D89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2803616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Recap P: virus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spread between hosts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185F874-B971-4ED6-8AAF-5104042F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677" y="2669211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5" name="Diagram label: Recap Q: skin reaction&#10;No infectious cause">
            <a:extLst xmlns:a="http://schemas.openxmlformats.org/drawingml/2006/main">
              <a:ext uri="{FF2B5EF4-FFF2-40B4-BE49-F238E27FC236}">
                <a16:creationId xmlns:a16="http://schemas.microsoft.com/office/drawing/2014/main" id="{9FE15EA9-B2E3-4355-9F46-38AAD181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015" y="2803616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Recap Q: skin reaction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 infectious cause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F2E5ADA-0ECB-4B01-AAE1-A181CC98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4311933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Both may show a rash&#10;A symptom can be shared">
            <a:extLst xmlns:a="http://schemas.openxmlformats.org/drawingml/2006/main">
              <a:ext uri="{FF2B5EF4-FFF2-40B4-BE49-F238E27FC236}">
                <a16:creationId xmlns:a16="http://schemas.microsoft.com/office/drawing/2014/main" id="{F0283F7D-C456-467F-89ED-D7FEC669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446338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Both may show a rash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symptom can be shared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3657A3A-CEC2-4333-BF10-8CC3AF1D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677" y="4311933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9" name="Diagram label: Find the cause and route&#10;Do not diagnose a pupil">
            <a:extLst xmlns:a="http://schemas.openxmlformats.org/drawingml/2006/main">
              <a:ext uri="{FF2B5EF4-FFF2-40B4-BE49-F238E27FC236}">
                <a16:creationId xmlns:a16="http://schemas.microsoft.com/office/drawing/2014/main" id="{9E8CE788-D32E-4B9E-BD60-083B2021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015" y="4446338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Find the cause and route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 not diagnose a pupil</a:t>
            </a:r>
          </a:p>
        </p:txBody>
      </p:sp>
      <p:sp>
        <p:nvSpPr>
          <p:cNvPr id="20" name="I identify the cause before classifying.  A symptom alone is not">
            <a:extLst xmlns:a="http://schemas.openxmlformats.org/drawingml/2006/main">
              <a:ext uri="{FF2B5EF4-FFF2-40B4-BE49-F238E27FC236}">
                <a16:creationId xmlns:a16="http://schemas.microsoft.com/office/drawing/2014/main" id="{130D3256-2D10-49AC-A33D-C91E07FF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identify the cause before classifying. A symptom alone is not enough.</a:t>
            </a:r>
          </a:p>
        </p:txBody>
      </p:sp>
    </p:spTree>
    <p:extLst>
      <p:ext uri="{BB962C8B-B14F-4D97-AF65-F5344CB8AC3E}">
        <p14:creationId xmlns:p14="http://schemas.microsoft.com/office/powerpoint/2010/main" val="18105572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3B7D77CA-204A-47A7-BA0D-85A1AF3E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00734D8-3A68-47EF-9A77-C7C4A05A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93911B6-1D4A-4235-8BEF-092F19AA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B9E0CB1-477D-4871-A5C1-F2C6D2BB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5647164B-F0A2-4363-8A80-156196B7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E4BF1313-5372-4319-AE19-00DFAEC9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Keep the mechanism clear">
            <a:extLst xmlns:a="http://schemas.openxmlformats.org/drawingml/2006/main">
              <a:ext uri="{FF2B5EF4-FFF2-40B4-BE49-F238E27FC236}">
                <a16:creationId xmlns:a16="http://schemas.microsoft.com/office/drawing/2014/main" id="{5458BE8E-B391-4A8A-82D0-26250C75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mechanism clear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2C8B94D-4D63-42AC-9A7F-8A612859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505CE40A-BC48-43F5-A286-F9B0B5E1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10" name="4 / 15">
            <a:extLst xmlns:a="http://schemas.openxmlformats.org/drawingml/2006/main">
              <a:ext uri="{FF2B5EF4-FFF2-40B4-BE49-F238E27FC236}">
                <a16:creationId xmlns:a16="http://schemas.microsoft.com/office/drawing/2014/main" id="{293673F3-F406-4034-B5BD-A4E9096C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1" name="Diagram label: Keep cells and proteins distinct">
            <a:extLst xmlns:a="http://schemas.openxmlformats.org/drawingml/2006/main">
              <a:ext uri="{FF2B5EF4-FFF2-40B4-BE49-F238E27FC236}">
                <a16:creationId xmlns:a16="http://schemas.microsoft.com/office/drawing/2014/main" id="{0DEB19A1-2BCD-4B7F-B7E9-349E538D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cells and proteins distinct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79AF2B7-1D20-48B6-BD74-176C0D96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2618695"/>
            <a:ext cx="2908187" cy="1016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3" name="Diagram label: Antigen recognised&#10;Specific response starts">
            <a:extLst xmlns:a="http://schemas.openxmlformats.org/drawingml/2006/main">
              <a:ext uri="{FF2B5EF4-FFF2-40B4-BE49-F238E27FC236}">
                <a16:creationId xmlns:a16="http://schemas.microsoft.com/office/drawing/2014/main" id="{23B969A1-6D0C-463A-9836-41D761F9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2744833"/>
            <a:ext cx="2627879" cy="80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Antigen recognised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Specific response starts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6CCAFDD-9BBC-4874-9239-128E51BA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307" y="2618695"/>
            <a:ext cx="2908187" cy="1016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5" name="Diagram label: Specialised cells&#10;Make antibody proteins">
            <a:extLst xmlns:a="http://schemas.openxmlformats.org/drawingml/2006/main">
              <a:ext uri="{FF2B5EF4-FFF2-40B4-BE49-F238E27FC236}">
                <a16:creationId xmlns:a16="http://schemas.microsoft.com/office/drawing/2014/main" id="{E9F3C864-B448-48C9-8C3C-8C9292AC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61" y="2744833"/>
            <a:ext cx="2627879" cy="80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Specialised cells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antibody proteins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FAA6541-1311-47D7-84F3-35E2BC27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4160384"/>
            <a:ext cx="2908187" cy="1016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7" name="Diagram label: Later same antigen&#10;Faster response possible">
            <a:extLst xmlns:a="http://schemas.openxmlformats.org/drawingml/2006/main">
              <a:ext uri="{FF2B5EF4-FFF2-40B4-BE49-F238E27FC236}">
                <a16:creationId xmlns:a16="http://schemas.microsoft.com/office/drawing/2014/main" id="{F265FBAF-7776-4BDC-9D90-9A91CA1A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4286522"/>
            <a:ext cx="2627879" cy="80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Later same antigen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Faster response possible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BA02808-1E02-4790-987A-ECD6893F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307" y="4160384"/>
            <a:ext cx="2908187" cy="1016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9" name="Diagram label: Memory lymphocytes&#10;Some cells persist">
            <a:extLst xmlns:a="http://schemas.openxmlformats.org/drawingml/2006/main">
              <a:ext uri="{FF2B5EF4-FFF2-40B4-BE49-F238E27FC236}">
                <a16:creationId xmlns:a16="http://schemas.microsoft.com/office/drawing/2014/main" id="{795B8A9F-8EC3-416E-B97F-AC6C2DB8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61" y="4286522"/>
            <a:ext cx="2627879" cy="80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Memory lymphocytes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Some cells persist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A3D7AE6-4372-4DF2-97E5-36D2E919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85770" y="3130255"/>
            <a:ext cx="31184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EC601D2A-3D0F-48C8-A9B5-6CB5B8F6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73084" y="3081201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18B53BA-9A8E-4FF5-8607-4310B45B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47920" y="3725908"/>
            <a:ext cx="953" cy="269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7EF78533-87B4-4A09-83ED-78D53038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798866" y="3971177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B7D76B3-8FBC-4E57-864A-B2C53D96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994389" y="4664937"/>
            <a:ext cx="31184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2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CB390C5A-7F70-4ABA-B0B3-3224967F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920808" y="4615883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6" name="Diagram label: The diagram is a role model, not a clinical forecast.">
            <a:extLst xmlns:a="http://schemas.openxmlformats.org/drawingml/2006/main">
              <a:ext uri="{FF2B5EF4-FFF2-40B4-BE49-F238E27FC236}">
                <a16:creationId xmlns:a16="http://schemas.microsoft.com/office/drawing/2014/main" id="{86431D1F-CA53-4ECE-8C64-A795BE3B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5316651"/>
            <a:ext cx="6447064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diagram is a role model, not a clinical forecast.</a:t>
            </a:r>
          </a:p>
        </p:txBody>
      </p:sp>
      <p:sp>
        <p:nvSpPr>
          <p:cNvPr id="27" name="Antigens, antibodies and memory cells have different roles.  A l">
            <a:extLst xmlns:a="http://schemas.openxmlformats.org/drawingml/2006/main">
              <a:ext uri="{FF2B5EF4-FFF2-40B4-BE49-F238E27FC236}">
                <a16:creationId xmlns:a16="http://schemas.microsoft.com/office/drawing/2014/main" id="{0DE0AED1-3011-4107-AD1F-1C5AB770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Antigens, antibodies and memory cells have different roles. A later response is specific to recognised antigen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features.</a:t>
            </a:r>
          </a:p>
        </p:txBody>
      </p:sp>
    </p:spTree>
    <p:extLst>
      <p:ext uri="{BB962C8B-B14F-4D97-AF65-F5344CB8AC3E}">
        <p14:creationId xmlns:p14="http://schemas.microsoft.com/office/powerpoint/2010/main" val="1612449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F09FFA7D-A0EC-4F70-9C3D-53331B2D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070E4C8-E363-4CF9-A500-5A55F914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D15D4EE-6B03-4590-B17B-99A7412C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BBD4946B-22B7-44A7-928E-F981100B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0C08FD2B-F9AF-4081-B956-980DAC7E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B099053C-F2ED-4226-A4B5-B04A94E5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alculate, then attach the unit">
            <a:extLst xmlns:a="http://schemas.openxmlformats.org/drawingml/2006/main">
              <a:ext uri="{FF2B5EF4-FFF2-40B4-BE49-F238E27FC236}">
                <a16:creationId xmlns:a16="http://schemas.microsoft.com/office/drawing/2014/main" id="{70023DB4-5C9C-4B72-8669-AB2CC4F5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Calculate, then attach the unit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DE9128F-DD99-4308-AA9E-F48D9340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0772B0E5-DA89-430F-9D60-F51BF802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10" name="5 / 15">
            <a:extLst xmlns:a="http://schemas.openxmlformats.org/drawingml/2006/main">
              <a:ext uri="{FF2B5EF4-FFF2-40B4-BE49-F238E27FC236}">
                <a16:creationId xmlns:a16="http://schemas.microsoft.com/office/drawing/2014/main" id="{ABD6E41D-E348-4C3C-A7DE-811CADF8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1" name="Diagram label: Worked method, different numbers">
            <a:extLst xmlns:a="http://schemas.openxmlformats.org/drawingml/2006/main">
              <a:ext uri="{FF2B5EF4-FFF2-40B4-BE49-F238E27FC236}">
                <a16:creationId xmlns:a16="http://schemas.microsoft.com/office/drawing/2014/main" id="{4A42BFC6-7377-48E1-AA99-0D53AA06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Worked method, different numbers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882B732-1016-4CCF-840A-4AA770ED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55" y="2855884"/>
            <a:ext cx="2800095" cy="9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3" name="Diagram label: Counts: 7, 8, 9&#10;Each lasted 2 minutes">
            <a:extLst xmlns:a="http://schemas.openxmlformats.org/drawingml/2006/main">
              <a:ext uri="{FF2B5EF4-FFF2-40B4-BE49-F238E27FC236}">
                <a16:creationId xmlns:a16="http://schemas.microsoft.com/office/drawing/2014/main" id="{30FB08D5-81E1-49F9-A432-1E44807A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3027623"/>
            <a:ext cx="2501418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Counts: 7, 8, 9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Each lasted 2 minutes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10ED414-E319-43A9-8097-EFC6C7EC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22654" y="3341234"/>
            <a:ext cx="70562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9AF27500-1D8E-4CDF-AB9D-399FF8AC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02144" y="3288965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5129980-6BD4-4666-B3C0-698941CB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19" y="2855884"/>
            <a:ext cx="2725426" cy="9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Mean count=8&#10;Rate = 4 bubbles/min">
            <a:extLst xmlns:a="http://schemas.openxmlformats.org/drawingml/2006/main">
              <a:ext uri="{FF2B5EF4-FFF2-40B4-BE49-F238E27FC236}">
                <a16:creationId xmlns:a16="http://schemas.microsoft.com/office/drawing/2014/main" id="{9FCA4448-A57D-4BCF-AB73-D7E20426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357" y="3027623"/>
            <a:ext cx="2426749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Mean count=8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Rate = 4 bubbles/min</a:t>
            </a:r>
          </a:p>
        </p:txBody>
      </p:sp>
      <p:sp>
        <p:nvSpPr>
          <p:cNvPr id="18" name="Diagram label: (7+8+9)÷3=8; then 8 ÷ 2 = 4&#10;Check the time before writing the rate.">
            <a:extLst xmlns:a="http://schemas.openxmlformats.org/drawingml/2006/main">
              <a:ext uri="{FF2B5EF4-FFF2-40B4-BE49-F238E27FC236}">
                <a16:creationId xmlns:a16="http://schemas.microsoft.com/office/drawing/2014/main" id="{6D56D072-BCCF-480A-953D-500C5F5E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311933"/>
            <a:ext cx="6496220" cy="746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(7+8+9)÷3=8; then 8 ÷ 2 = 4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the time before writing the rate.</a:t>
            </a:r>
          </a:p>
        </p:txBody>
      </p:sp>
      <p:sp>
        <p:nvSpPr>
          <p:cNvPr id="19" name="Diagram label: Constructed warm-up data; not the checkpoint answers.">
            <a:extLst xmlns:a="http://schemas.openxmlformats.org/drawingml/2006/main">
              <a:ext uri="{FF2B5EF4-FFF2-40B4-BE49-F238E27FC236}">
                <a16:creationId xmlns:a16="http://schemas.microsoft.com/office/drawing/2014/main" id="{3351EAE2-1D09-4447-9C60-58555417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5357302"/>
            <a:ext cx="6496220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warm-up data; not the checkpoint answers.</a:t>
            </a:r>
          </a:p>
        </p:txBody>
      </p:sp>
      <p:sp>
        <p:nvSpPr>
          <p:cNvPr id="20" name="Find the mean count.  Divide by the duration of each count.">
            <a:extLst xmlns:a="http://schemas.openxmlformats.org/drawingml/2006/main">
              <a:ext uri="{FF2B5EF4-FFF2-40B4-BE49-F238E27FC236}">
                <a16:creationId xmlns:a16="http://schemas.microsoft.com/office/drawing/2014/main" id="{67CF620A-D049-4194-8415-7C162437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Find the mean count. Divide by the duration of each count.</a:t>
            </a:r>
          </a:p>
        </p:txBody>
      </p:sp>
    </p:spTree>
    <p:extLst>
      <p:ext uri="{BB962C8B-B14F-4D97-AF65-F5344CB8AC3E}">
        <p14:creationId xmlns:p14="http://schemas.microsoft.com/office/powerpoint/2010/main" val="1128070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B77AF683-5D8D-4651-8C33-BE75BC86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E462184-DC0C-4C65-AB15-B0825D65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53DA028-866D-4EB7-B1AB-378A2406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777BBD1A-83B5-4853-9836-78A653F7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24672F55-90C9-4575-8DEC-5D83B90E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7B593021-4347-42A0-A680-2E824C06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Repair a worked explanation">
            <a:extLst xmlns:a="http://schemas.openxmlformats.org/drawingml/2006/main">
              <a:ext uri="{FF2B5EF4-FFF2-40B4-BE49-F238E27FC236}">
                <a16:creationId xmlns:a16="http://schemas.microsoft.com/office/drawing/2014/main" id="{BC7DB738-F0A3-43D1-B92D-40F571BA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 a worked explanation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498DEC1-DF45-4942-AEDD-2F0090FD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5A1CD933-880B-4CA0-B16F-079F022A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17F3EC20-4061-4051-8CA3-26ADC476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Diagram label: A cause test beats a symptom guess">
            <a:extLst xmlns:a="http://schemas.openxmlformats.org/drawingml/2006/main">
              <a:ext uri="{FF2B5EF4-FFF2-40B4-BE49-F238E27FC236}">
                <a16:creationId xmlns:a16="http://schemas.microsoft.com/office/drawing/2014/main" id="{C54ED732-B52C-4B05-B138-E2B6D471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cause test beats a symptom guess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815C9D2-3F29-4321-9304-D1C90CB1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669211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3" name="Diagram label: Recap P: virus&#10;Can spread between hosts">
            <a:extLst xmlns:a="http://schemas.openxmlformats.org/drawingml/2006/main">
              <a:ext uri="{FF2B5EF4-FFF2-40B4-BE49-F238E27FC236}">
                <a16:creationId xmlns:a16="http://schemas.microsoft.com/office/drawing/2014/main" id="{9984EFE1-6EA1-4CC8-A287-EDE77FA0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2803616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Recap P: virus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spread between hosts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2F8593D-AF68-49AF-BFE2-700451F6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677" y="2669211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5" name="Diagram label: Recap Q: skin reaction&#10;No infectious cause">
            <a:extLst xmlns:a="http://schemas.openxmlformats.org/drawingml/2006/main">
              <a:ext uri="{FF2B5EF4-FFF2-40B4-BE49-F238E27FC236}">
                <a16:creationId xmlns:a16="http://schemas.microsoft.com/office/drawing/2014/main" id="{CDAB3519-1C1B-48EC-9B50-1EDD9476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015" y="2803616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Recap Q: skin reaction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 infectious cause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9ACA2E3-628C-43C4-8E91-8E00511B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4311933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Both may show a rash&#10;A symptom can be shared">
            <a:extLst xmlns:a="http://schemas.openxmlformats.org/drawingml/2006/main">
              <a:ext uri="{FF2B5EF4-FFF2-40B4-BE49-F238E27FC236}">
                <a16:creationId xmlns:a16="http://schemas.microsoft.com/office/drawing/2014/main" id="{23B94373-70CC-4B6D-9B18-75ADCF10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446338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Both may show a rash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symptom can be shared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5763C53-A03D-4DAF-9FB0-A6A4AFFC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677" y="4311933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9" name="Diagram label: Find the cause and route&#10;Do not diagnose a pupil">
            <a:extLst xmlns:a="http://schemas.openxmlformats.org/drawingml/2006/main">
              <a:ext uri="{FF2B5EF4-FFF2-40B4-BE49-F238E27FC236}">
                <a16:creationId xmlns:a16="http://schemas.microsoft.com/office/drawing/2014/main" id="{2C437DE4-BFC6-4FD7-9DAD-A8034473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015" y="4446338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Find the cause and route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 not diagnose a pupil</a:t>
            </a:r>
          </a:p>
        </p:txBody>
      </p:sp>
      <p:sp>
        <p:nvSpPr>
          <p:cNvPr id="20" name="W1. “P and Q have a rash, so both must be infectious.”  Repair i">
            <a:extLst xmlns:a="http://schemas.openxmlformats.org/drawingml/2006/main">
              <a:ext uri="{FF2B5EF4-FFF2-40B4-BE49-F238E27FC236}">
                <a16:creationId xmlns:a16="http://schemas.microsoft.com/office/drawing/2014/main" id="{2130BDC4-070D-4129-AEC4-E89CE248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“P and Q have a rash, so both must be infectious.” Repair it with one causal clue.</a:t>
            </a:r>
          </a:p>
        </p:txBody>
      </p:sp>
    </p:spTree>
    <p:extLst>
      <p:ext uri="{BB962C8B-B14F-4D97-AF65-F5344CB8AC3E}">
        <p14:creationId xmlns:p14="http://schemas.microsoft.com/office/powerpoint/2010/main" val="665592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CBB1952D-F848-4FEC-B1A2-C48606D7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C293783-3C20-48D0-9A3B-4F0E3FCA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4DCE2AC-D5FF-4BE8-B40E-C6F7A004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EAE6A2A9-143C-43C2-8E3B-5988D009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7F98E808-3DA4-4473-9CAF-55C5ED55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CC197516-361A-4CD5-A753-EE3D7270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Check the role labels">
            <a:extLst xmlns:a="http://schemas.openxmlformats.org/drawingml/2006/main">
              <a:ext uri="{FF2B5EF4-FFF2-40B4-BE49-F238E27FC236}">
                <a16:creationId xmlns:a16="http://schemas.microsoft.com/office/drawing/2014/main" id="{D0629732-048B-4ACF-BD35-9435E0DB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the role labels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DC1FF01-709A-488B-B9A8-95653D69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F2B92C17-4C05-4854-B2FC-5683B70A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10" name="7 / 15">
            <a:extLst xmlns:a="http://schemas.openxmlformats.org/drawingml/2006/main">
              <a:ext uri="{FF2B5EF4-FFF2-40B4-BE49-F238E27FC236}">
                <a16:creationId xmlns:a16="http://schemas.microsoft.com/office/drawing/2014/main" id="{B51CA56B-CBA8-48B4-8831-37C00D4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1" name="Diagram label: Keep cells and proteins distinct">
            <a:extLst xmlns:a="http://schemas.openxmlformats.org/drawingml/2006/main">
              <a:ext uri="{FF2B5EF4-FFF2-40B4-BE49-F238E27FC236}">
                <a16:creationId xmlns:a16="http://schemas.microsoft.com/office/drawing/2014/main" id="{D5EFE501-B37B-47E3-844C-0E5745BD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cells and proteins distinct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BBB1891-241F-4A40-8A01-C2131705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669211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3" name="Diagram label: Antigen recognised&#10;Specific response starts">
            <a:extLst xmlns:a="http://schemas.openxmlformats.org/drawingml/2006/main">
              <a:ext uri="{FF2B5EF4-FFF2-40B4-BE49-F238E27FC236}">
                <a16:creationId xmlns:a16="http://schemas.microsoft.com/office/drawing/2014/main" id="{803692D9-6C88-409C-B34E-5028C94D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2803616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Antigen recognised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Specific response starts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C439D94-63EE-4394-B2C9-C57A82F8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677" y="2669211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5" name="Diagram label: Specialised cells&#10;Make antibody proteins">
            <a:extLst xmlns:a="http://schemas.openxmlformats.org/drawingml/2006/main">
              <a:ext uri="{FF2B5EF4-FFF2-40B4-BE49-F238E27FC236}">
                <a16:creationId xmlns:a16="http://schemas.microsoft.com/office/drawing/2014/main" id="{AEC78522-55ED-4295-800A-7C5A4FFC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015" y="2803616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Specialised cells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antibody proteins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ED8AFC3-A9AF-4329-A229-2C18AD5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4311933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Later same antigen&#10;Faster response possible">
            <a:extLst xmlns:a="http://schemas.openxmlformats.org/drawingml/2006/main">
              <a:ext uri="{FF2B5EF4-FFF2-40B4-BE49-F238E27FC236}">
                <a16:creationId xmlns:a16="http://schemas.microsoft.com/office/drawing/2014/main" id="{9F28C30F-AEC0-4421-B9B4-BD284D33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446338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Later same antigen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Faster response possible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F802B6B-2435-49D1-BC71-05F38BF1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677" y="4311933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9" name="Diagram label: Memory lymphocytes&#10;Some cells persist">
            <a:extLst xmlns:a="http://schemas.openxmlformats.org/drawingml/2006/main">
              <a:ext uri="{FF2B5EF4-FFF2-40B4-BE49-F238E27FC236}">
                <a16:creationId xmlns:a16="http://schemas.microsoft.com/office/drawing/2014/main" id="{C64459E6-E85E-4F8D-8117-8B1FFEE0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015" y="4446338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Memory lymphocytes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Some cells persist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DA7DA2D-6C19-426F-8F95-2BFC9323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71992" y="3214296"/>
            <a:ext cx="33227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B62829F4-3486-45AD-BCEC-724D7FA9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78136" y="3162028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D293B6F-F54D-4135-8516-F80821A1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62730" y="3848984"/>
            <a:ext cx="953" cy="287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CAC4BEB-88A0-475C-9FAA-FD607B39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910461" y="4110327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7BF5BDE-7073-4290-AA2C-1C04FE55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987730" y="4849552"/>
            <a:ext cx="33227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2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A168478-34DF-4BC0-A04F-D6D4DB87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909327" y="479728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6" name="Diagram label: The diagram is a role model, not a clinical forecast.">
            <a:extLst xmlns:a="http://schemas.openxmlformats.org/drawingml/2006/main">
              <a:ext uri="{FF2B5EF4-FFF2-40B4-BE49-F238E27FC236}">
                <a16:creationId xmlns:a16="http://schemas.microsoft.com/office/drawing/2014/main" id="{4971BB16-1F6C-44FA-B4C1-61144723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5543975"/>
            <a:ext cx="686956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diagram is a role model, not a clinical forecast.</a:t>
            </a:r>
          </a:p>
        </p:txBody>
      </p:sp>
      <p:sp>
        <p:nvSpPr>
          <p:cNvPr id="27" name="W2. Which label belongs on a protein: antibody or memory lymphoc">
            <a:extLst xmlns:a="http://schemas.openxmlformats.org/drawingml/2006/main">
              <a:ext uri="{FF2B5EF4-FFF2-40B4-BE49-F238E27FC236}">
                <a16:creationId xmlns:a16="http://schemas.microsoft.com/office/drawing/2014/main" id="{40E64C7E-3642-4A4F-8607-05E88A47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Which label belongs on a protein: antibody or memory lymphocyte?</a:t>
            </a:r>
          </a:p>
        </p:txBody>
      </p:sp>
    </p:spTree>
    <p:extLst>
      <p:ext uri="{BB962C8B-B14F-4D97-AF65-F5344CB8AC3E}">
        <p14:creationId xmlns:p14="http://schemas.microsoft.com/office/powerpoint/2010/main" val="1795670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26B0D1B7-841D-4066-97AB-62B87634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5B1FB12-0046-447C-AB62-FB1612E5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431CB36-429B-44F7-A3E9-6480BADF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9C64594E-C156-4A4E-99CD-6CA50952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6756D616-6166-4986-8C4D-E8BAD07D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AA736BEF-1EEA-447E-BED1-A7337D06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Audit a unit">
            <a:extLst xmlns:a="http://schemas.openxmlformats.org/drawingml/2006/main">
              <a:ext uri="{FF2B5EF4-FFF2-40B4-BE49-F238E27FC236}">
                <a16:creationId xmlns:a16="http://schemas.microsoft.com/office/drawing/2014/main" id="{FE757DCD-3BCE-4672-9A67-2534996E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Audit a unit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821A5D8-E456-4F37-ABEE-597ED230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2BB3B158-E9BF-411A-B1DD-7787A620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10" name="8 / 15">
            <a:extLst xmlns:a="http://schemas.openxmlformats.org/drawingml/2006/main">
              <a:ext uri="{FF2B5EF4-FFF2-40B4-BE49-F238E27FC236}">
                <a16:creationId xmlns:a16="http://schemas.microsoft.com/office/drawing/2014/main" id="{F0B8A2F4-3D25-41F0-965F-0018E85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1" name="Diagram label: Worked method, different numbers">
            <a:extLst xmlns:a="http://schemas.openxmlformats.org/drawingml/2006/main">
              <a:ext uri="{FF2B5EF4-FFF2-40B4-BE49-F238E27FC236}">
                <a16:creationId xmlns:a16="http://schemas.microsoft.com/office/drawing/2014/main" id="{368F3846-2172-4263-A03E-6A6AB621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Worked method, different numbers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4F4DC7E-9FA5-4B31-BD8F-4E526B20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55" y="2855884"/>
            <a:ext cx="2800095" cy="9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3" name="Diagram label: Counts: 7, 8, 9&#10;Each lasted 2 minutes">
            <a:extLst xmlns:a="http://schemas.openxmlformats.org/drawingml/2006/main">
              <a:ext uri="{FF2B5EF4-FFF2-40B4-BE49-F238E27FC236}">
                <a16:creationId xmlns:a16="http://schemas.microsoft.com/office/drawing/2014/main" id="{C0DE3BE8-F9C3-4ECF-836A-BE3B5CF0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3027623"/>
            <a:ext cx="2501418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Counts: 7, 8, 9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Each lasted 2 minutes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96B74D6-ABBA-451F-B9C4-38AC2DA9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22654" y="3341234"/>
            <a:ext cx="70562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8C227822-7819-437D-BDC2-AE10BA61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02144" y="3288965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34F0C2E-333D-4E1B-B403-6304F9FB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19" y="2855884"/>
            <a:ext cx="2725426" cy="9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Mean count=8&#10;Rate = 4 bubbles/min">
            <a:extLst xmlns:a="http://schemas.openxmlformats.org/drawingml/2006/main">
              <a:ext uri="{FF2B5EF4-FFF2-40B4-BE49-F238E27FC236}">
                <a16:creationId xmlns:a16="http://schemas.microsoft.com/office/drawing/2014/main" id="{FDBD8EFE-EDBE-486D-BAE8-CA1C124E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357" y="3027623"/>
            <a:ext cx="2426749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Mean count=8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Rate = 4 bubbles/min</a:t>
            </a:r>
          </a:p>
        </p:txBody>
      </p:sp>
      <p:sp>
        <p:nvSpPr>
          <p:cNvPr id="18" name="Diagram label: (7+8+9)÷3=8; then 8 ÷ 2 = 4&#10;Check the time before writing the rate.">
            <a:extLst xmlns:a="http://schemas.openxmlformats.org/drawingml/2006/main">
              <a:ext uri="{FF2B5EF4-FFF2-40B4-BE49-F238E27FC236}">
                <a16:creationId xmlns:a16="http://schemas.microsoft.com/office/drawing/2014/main" id="{180C88E3-977A-4F49-B4FA-4219944F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311933"/>
            <a:ext cx="6496220" cy="746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(7+8+9)÷3=8; then 8 ÷ 2 = 4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the time before writing the rate.</a:t>
            </a:r>
          </a:p>
        </p:txBody>
      </p:sp>
      <p:sp>
        <p:nvSpPr>
          <p:cNvPr id="19" name="Diagram label: Constructed warm-up data; not the checkpoint answers.">
            <a:extLst xmlns:a="http://schemas.openxmlformats.org/drawingml/2006/main">
              <a:ext uri="{FF2B5EF4-FFF2-40B4-BE49-F238E27FC236}">
                <a16:creationId xmlns:a16="http://schemas.microsoft.com/office/drawing/2014/main" id="{4B6E03E7-53DA-4ECD-8A95-B159C776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5357302"/>
            <a:ext cx="6496220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warm-up data; not the checkpoint answers.</a:t>
            </a:r>
          </a:p>
        </p:txBody>
      </p:sp>
      <p:sp>
        <p:nvSpPr>
          <p:cNvPr id="20" name="W3. A pupil writes 8 bubbles/min for the warm-up.  Which part of">
            <a:extLst xmlns:a="http://schemas.openxmlformats.org/drawingml/2006/main">
              <a:ext uri="{FF2B5EF4-FFF2-40B4-BE49-F238E27FC236}">
                <a16:creationId xmlns:a16="http://schemas.microsoft.com/office/drawing/2014/main" id="{A40AD4C0-AA87-41A4-AC96-7021EF29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A pupil writes 8 bubbles/min for the warm-up. Which part of the method did they miss?</a:t>
            </a:r>
          </a:p>
        </p:txBody>
      </p:sp>
    </p:spTree>
    <p:extLst>
      <p:ext uri="{BB962C8B-B14F-4D97-AF65-F5344CB8AC3E}">
        <p14:creationId xmlns:p14="http://schemas.microsoft.com/office/powerpoint/2010/main" val="20644534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C91E0A96-D426-4392-8050-355E6588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424EAF2-E933-4F48-AAF4-069E8612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33A3D2C-A68C-42DE-8650-BC9103ED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9D011EA0-B6D8-4C1A-984C-A9D18C1A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B7C7E9B0-DA5B-48C6-82F4-7C1ED22A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AD6CC8C2-D45B-4052-ADF3-8DFABE31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Ready to work independently?">
            <a:extLst xmlns:a="http://schemas.openxmlformats.org/drawingml/2006/main">
              <a:ext uri="{FF2B5EF4-FFF2-40B4-BE49-F238E27FC236}">
                <a16:creationId xmlns:a16="http://schemas.microsoft.com/office/drawing/2014/main" id="{44D57F96-4A3B-4D62-94B7-68F20AED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Ready to work independently?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E6E571A-4BC3-44E2-A731-01EC879F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996570C5-1182-4DA8-879F-1F03AE59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2E6EC404-E9DE-402D-9F6C-FBDC1916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Which statement is accurate?">
            <a:extLst xmlns:a="http://schemas.openxmlformats.org/drawingml/2006/main">
              <a:ext uri="{FF2B5EF4-FFF2-40B4-BE49-F238E27FC236}">
                <a16:creationId xmlns:a16="http://schemas.microsoft.com/office/drawing/2014/main" id="{89FE691A-84CB-4E68-8992-C1060F48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statement is accurate?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5BEB6523-5441-446A-9707-A166E7C3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3CAA39B1-8506-45B2-BADA-30021F44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F1B4839B-ACA0-441F-A5A6-70E4BB32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A mean count and a per-minute rate can differ.">
            <a:extLst xmlns:a="http://schemas.openxmlformats.org/drawingml/2006/main">
              <a:ext uri="{FF2B5EF4-FFF2-40B4-BE49-F238E27FC236}">
                <a16:creationId xmlns:a16="http://schemas.microsoft.com/office/drawing/2014/main" id="{DB0EED10-0115-4038-85C3-2C4D77D6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mean count and a per-minute rate can differ.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0923911D-F2A3-4E6A-AD00-1F5A2FC9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3B247F15-AAA9-4BCD-A46B-0F324FF4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988AE4B1-A49C-4042-A72E-29190986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Every mean count is automatically per minute.">
            <a:extLst xmlns:a="http://schemas.openxmlformats.org/drawingml/2006/main">
              <a:ext uri="{FF2B5EF4-FFF2-40B4-BE49-F238E27FC236}">
                <a16:creationId xmlns:a16="http://schemas.microsoft.com/office/drawing/2014/main" id="{63B9C03F-5453-4AB5-AE8F-311B5276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Every mean count is automatically per minute.</a:t>
            </a:r>
          </a:p>
        </p:txBody>
      </p:sp>
    </p:spTree>
    <p:extLst>
      <p:ext uri="{BB962C8B-B14F-4D97-AF65-F5344CB8AC3E}">
        <p14:creationId xmlns:p14="http://schemas.microsoft.com/office/powerpoint/2010/main" val="988510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C8C5E003-88F3-47B7-89E4-232F7A69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26BF30E-0C19-4DD9-ABCD-8B6F49B6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8CA878B-0CB6-478E-953E-F8EB1D6A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BBBAA3C7-74AF-4D1B-8541-FDD13F59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865F8A5C-22D6-44DD-929B-20FB8A33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F2020543-447F-4E0B-B6F4-26ACA104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Choose the agreed route">
            <a:extLst xmlns:a="http://schemas.openxmlformats.org/drawingml/2006/main">
              <a:ext uri="{FF2B5EF4-FFF2-40B4-BE49-F238E27FC236}">
                <a16:creationId xmlns:a16="http://schemas.microsoft.com/office/drawing/2014/main" id="{34AF05AA-B4F9-436C-96CD-5806D6FE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agreed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2FCC876-2C20-4C9C-AB61-1CC159BD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0F56BAC2-4753-42D1-B68F-40AB21C3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41DF43E8-23AA-4715-9BA5-7772FBDE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Shared evidence + one response page.">
            <a:extLst xmlns:a="http://schemas.openxmlformats.org/drawingml/2006/main">
              <a:ext uri="{FF2B5EF4-FFF2-40B4-BE49-F238E27FC236}">
                <a16:creationId xmlns:a16="http://schemas.microsoft.com/office/drawing/2014/main" id="{69F6376D-964A-47B6-BEB2-2A1D941F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Shared evidence + one response page.</a:t>
            </a:r>
          </a:p>
        </p:txBody>
      </p:sp>
      <p:sp>
        <p:nvSpPr>
          <p:cNvPr id="12" name="Four questions, 4 marks each: 16 in total.">
            <a:extLst xmlns:a="http://schemas.openxmlformats.org/drawingml/2006/main">
              <a:ext uri="{FF2B5EF4-FFF2-40B4-BE49-F238E27FC236}">
                <a16:creationId xmlns:a16="http://schemas.microsoft.com/office/drawing/2014/main" id="{23606200-F0F2-449B-ABDB-76C41117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Four questions, 4 marks each: 16 in total.</a:t>
            </a:r>
          </a:p>
        </p:txBody>
      </p:sp>
      <p:sp>
        <p:nvSpPr>
          <p:cNvPr id="13" name="Work independently for 17 minutes.">
            <a:extLst xmlns:a="http://schemas.openxmlformats.org/drawingml/2006/main">
              <a:ext uri="{FF2B5EF4-FFF2-40B4-BE49-F238E27FC236}">
                <a16:creationId xmlns:a16="http://schemas.microsoft.com/office/drawing/2014/main" id="{A56FAA72-D040-4635-B1C3-70CA95E6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Work independently for 17 minutes.</a:t>
            </a:r>
          </a:p>
        </p:txBody>
      </p:sp>
    </p:spTree>
    <p:extLst>
      <p:ext uri="{BB962C8B-B14F-4D97-AF65-F5344CB8AC3E}">
        <p14:creationId xmlns:p14="http://schemas.microsoft.com/office/powerpoint/2010/main" val="1554259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3FE32026-3229-4A59-8C34-F8D12517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8640EFE-D0C8-4132-8B96-E0FBF8B9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138C125-233A-4318-898B-44CD20B4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26D0405B-D397-43BB-BA5B-03FDBE6E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2A29FAAA-B25B-455A-8D48-DB041060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7 min">
            <a:extLst xmlns:a="http://schemas.openxmlformats.org/drawingml/2006/main">
              <a:ext uri="{FF2B5EF4-FFF2-40B4-BE49-F238E27FC236}">
                <a16:creationId xmlns:a16="http://schemas.microsoft.com/office/drawing/2014/main" id="{624358C6-A97E-4342-A0E8-2D7FB0CC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17 min</a:t>
            </a:r>
          </a:p>
        </p:txBody>
      </p:sp>
      <p:sp>
        <p:nvSpPr>
          <p:cNvPr id="7" name="Independent checkpoint">
            <a:extLst xmlns:a="http://schemas.openxmlformats.org/drawingml/2006/main">
              <a:ext uri="{FF2B5EF4-FFF2-40B4-BE49-F238E27FC236}">
                <a16:creationId xmlns:a16="http://schemas.microsoft.com/office/drawing/2014/main" id="{3C3DA888-F909-48A1-B212-D684E04A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Independent checkpoint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50E7880-9F70-436B-B860-BE07F3A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B576DF8A-5C89-4C62-9DC5-A143ACBD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10" name="11 / 15">
            <a:extLst xmlns:a="http://schemas.openxmlformats.org/drawingml/2006/main">
              <a:ext uri="{FF2B5EF4-FFF2-40B4-BE49-F238E27FC236}">
                <a16:creationId xmlns:a16="http://schemas.microsoft.com/office/drawing/2014/main" id="{16F57ADE-39DE-4972-B6B6-A54CCA4B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1" name="Use the supplied cases and constructed table.">
            <a:extLst xmlns:a="http://schemas.openxmlformats.org/drawingml/2006/main">
              <a:ext uri="{FF2B5EF4-FFF2-40B4-BE49-F238E27FC236}">
                <a16:creationId xmlns:a16="http://schemas.microsoft.com/office/drawing/2014/main" id="{D0FE530A-6EE3-4888-848E-A27CDA0B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supplied cases and constructed table.</a:t>
            </a:r>
          </a:p>
        </p:txBody>
      </p:sp>
      <p:sp>
        <p:nvSpPr>
          <p:cNvPr id="12" name="Show calculations and use precise labels.">
            <a:extLst xmlns:a="http://schemas.openxmlformats.org/drawingml/2006/main">
              <a:ext uri="{FF2B5EF4-FFF2-40B4-BE49-F238E27FC236}">
                <a16:creationId xmlns:a16="http://schemas.microsoft.com/office/drawing/2014/main" id="{6FA3D443-C620-454E-9CFC-85ECC8A4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Show calculations and use precise labels.</a:t>
            </a:r>
          </a:p>
        </p:txBody>
      </p:sp>
      <p:sp>
        <p:nvSpPr>
          <p:cNvPr id="13" name="If stuck, leave a space and move on.">
            <a:extLst xmlns:a="http://schemas.openxmlformats.org/drawingml/2006/main">
              <a:ext uri="{FF2B5EF4-FFF2-40B4-BE49-F238E27FC236}">
                <a16:creationId xmlns:a16="http://schemas.microsoft.com/office/drawing/2014/main" id="{8D81D2B5-1E32-4993-9055-A68D487B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If stuck, leave a space and move on.</a:t>
            </a:r>
          </a:p>
        </p:txBody>
      </p:sp>
    </p:spTree>
    <p:extLst>
      <p:ext uri="{BB962C8B-B14F-4D97-AF65-F5344CB8AC3E}">
        <p14:creationId xmlns:p14="http://schemas.microsoft.com/office/powerpoint/2010/main" val="3222974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D40A81A-FBD4-4D7C-BF5C-32424F07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2F39DFB-F1D5-4661-8B97-59520B7D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496B99A-26D9-45D0-8CD2-E1C67EA4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27512507-15E0-44E4-8656-42D1632D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924764B3-3A7D-4B2F-9E18-B433142B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7D5C24F1-F356-4368-B1BE-581A0A0D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Feedback after the checkpoint">
            <a:extLst xmlns:a="http://schemas.openxmlformats.org/drawingml/2006/main">
              <a:ext uri="{FF2B5EF4-FFF2-40B4-BE49-F238E27FC236}">
                <a16:creationId xmlns:a16="http://schemas.microsoft.com/office/drawing/2014/main" id="{D071A7C0-C232-4F14-A684-F2564385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Feedback after the checkpoint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AC4F4DF-6F85-4D1F-89B8-5521EBB9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1CE395E5-B100-426E-AE8D-5D722A5F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10" name="12 / 15">
            <a:extLst xmlns:a="http://schemas.openxmlformats.org/drawingml/2006/main">
              <a:ext uri="{FF2B5EF4-FFF2-40B4-BE49-F238E27FC236}">
                <a16:creationId xmlns:a16="http://schemas.microsoft.com/office/drawing/2014/main" id="{131DB03F-C49E-4008-B806-F08CB582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1" name="Use the teacher’s item feedback.">
            <a:extLst xmlns:a="http://schemas.openxmlformats.org/drawingml/2006/main">
              <a:ext uri="{FF2B5EF4-FFF2-40B4-BE49-F238E27FC236}">
                <a16:creationId xmlns:a16="http://schemas.microsoft.com/office/drawing/2014/main" id="{1844DA6F-4C38-49B8-B1C6-14B288F6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teacher’s item feedback.</a:t>
            </a:r>
          </a:p>
        </p:txBody>
      </p:sp>
      <p:sp>
        <p:nvSpPr>
          <p:cNvPr id="12" name="Choose one error with the biggest scientific effect.">
            <a:extLst xmlns:a="http://schemas.openxmlformats.org/drawingml/2006/main">
              <a:ext uri="{FF2B5EF4-FFF2-40B4-BE49-F238E27FC236}">
                <a16:creationId xmlns:a16="http://schemas.microsoft.com/office/drawing/2014/main" id="{EC62E699-DE25-448E-B80D-7DEE8D53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one error with the biggest scientific effect.</a:t>
            </a:r>
          </a:p>
        </p:txBody>
      </p:sp>
    </p:spTree>
    <p:extLst>
      <p:ext uri="{BB962C8B-B14F-4D97-AF65-F5344CB8AC3E}">
        <p14:creationId xmlns:p14="http://schemas.microsoft.com/office/powerpoint/2010/main" val="20157582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69B67D3B-71DA-4FBA-A964-ED47E6B6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32464A7-E848-4D2F-A8B6-D17FCD7C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21E4C15-2971-414A-B3A4-DE876BD2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A08A7D73-8962-4E89-8AB4-EB69E991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712BF67D-01F4-49FF-A178-E067A6C2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7923CCF1-8CF5-4F0A-9726-246D3E40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Make the correction explain why">
            <a:extLst xmlns:a="http://schemas.openxmlformats.org/drawingml/2006/main">
              <a:ext uri="{FF2B5EF4-FFF2-40B4-BE49-F238E27FC236}">
                <a16:creationId xmlns:a16="http://schemas.microsoft.com/office/drawing/2014/main" id="{54E1415B-C83B-43E2-8CDD-418AFA5F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the correction explain why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DB3771F-5D62-4539-822D-23B0C84A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FA896E35-7F9C-4397-B134-522A1AC2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8AB5C2D0-F0EA-4B94-9ED4-3615C3FC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L1. Improve one answer using a because statement.">
            <a:extLst xmlns:a="http://schemas.openxmlformats.org/drawingml/2006/main">
              <a:ext uri="{FF2B5EF4-FFF2-40B4-BE49-F238E27FC236}">
                <a16:creationId xmlns:a16="http://schemas.microsoft.com/office/drawing/2014/main" id="{B1615DD1-9125-4B2B-A971-0BE898EB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L1. Improve one answer using a because statement.</a:t>
            </a:r>
          </a:p>
        </p:txBody>
      </p:sp>
      <p:sp>
        <p:nvSpPr>
          <p:cNvPr id="12" name="Audience asks: “What evidence or mechanism changed it?”">
            <a:extLst xmlns:a="http://schemas.openxmlformats.org/drawingml/2006/main">
              <a:ext uri="{FF2B5EF4-FFF2-40B4-BE49-F238E27FC236}">
                <a16:creationId xmlns:a16="http://schemas.microsoft.com/office/drawing/2014/main" id="{4EAA1B63-6EE1-4F84-AAB9-6CAF4F54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 asks: “What evidence or mechanism changed it?”</a:t>
            </a:r>
          </a:p>
        </p:txBody>
      </p:sp>
    </p:spTree>
    <p:extLst>
      <p:ext uri="{BB962C8B-B14F-4D97-AF65-F5344CB8AC3E}">
        <p14:creationId xmlns:p14="http://schemas.microsoft.com/office/powerpoint/2010/main" val="18551278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567277AE-52EF-4C70-8591-A60B828D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659F342-92D4-4216-882E-7DAD35C6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16B0D96-6433-4D72-8DD6-D0C15CC6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01B83415-6FE2-46B5-88EA-6DFC19DD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789466CA-A88A-4D64-BF1C-6227B2FA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31166C46-33CD-4992-8B45-A0154E81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Plan the next five minutes of teaching">
            <a:extLst xmlns:a="http://schemas.openxmlformats.org/drawingml/2006/main">
              <a:ext uri="{FF2B5EF4-FFF2-40B4-BE49-F238E27FC236}">
                <a16:creationId xmlns:a16="http://schemas.microsoft.com/office/drawing/2014/main" id="{50CD905A-F435-49D2-AC0C-44D496DD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Plan the next five minutes of teaching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80D9786-06F4-482D-A509-58CA15EF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E2962F03-0D3B-4B5B-A09F-5B176609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10" name="14 / 15">
            <a:extLst xmlns:a="http://schemas.openxmlformats.org/drawingml/2006/main">
              <a:ext uri="{FF2B5EF4-FFF2-40B4-BE49-F238E27FC236}">
                <a16:creationId xmlns:a16="http://schemas.microsoft.com/office/drawing/2014/main" id="{E203C2B1-F0AB-4E83-8974-1DD0A66E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1" name="E1. Name one distinction you can now explain.">
            <a:extLst xmlns:a="http://schemas.openxmlformats.org/drawingml/2006/main">
              <a:ext uri="{FF2B5EF4-FFF2-40B4-BE49-F238E27FC236}">
                <a16:creationId xmlns:a16="http://schemas.microsoft.com/office/drawing/2014/main" id="{9DB687B2-1BBE-4F35-B99A-094B69FD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Name one distinction you can now explain.</a:t>
            </a:r>
          </a:p>
        </p:txBody>
      </p:sp>
      <p:sp>
        <p:nvSpPr>
          <p:cNvPr id="12" name="E2. Choose one next step: cause, memory, plant transport or rate">
            <a:extLst xmlns:a="http://schemas.openxmlformats.org/drawingml/2006/main">
              <a:ext uri="{FF2B5EF4-FFF2-40B4-BE49-F238E27FC236}">
                <a16:creationId xmlns:a16="http://schemas.microsoft.com/office/drawing/2014/main" id="{AE164152-B3D6-41B8-9DCE-609434E5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Choose one next step: cause, memory, plant transport or rate.</a:t>
            </a:r>
          </a:p>
        </p:txBody>
      </p:sp>
    </p:spTree>
    <p:extLst>
      <p:ext uri="{BB962C8B-B14F-4D97-AF65-F5344CB8AC3E}">
        <p14:creationId xmlns:p14="http://schemas.microsoft.com/office/powerpoint/2010/main" val="1343926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F08D6641-E03B-4C5C-BBE3-939E8DB9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EC50749-7A42-487B-AA7B-C9006AFD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376C01B-7B20-4A63-8C18-C6FFF47A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6B02884-14FE-4751-B9F6-4E8FD0FA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A1B495FA-0490-45C2-9FD8-CFB80C31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Keep both versions">
            <a:extLst xmlns:a="http://schemas.openxmlformats.org/drawingml/2006/main">
              <a:ext uri="{FF2B5EF4-FFF2-40B4-BE49-F238E27FC236}">
                <a16:creationId xmlns:a16="http://schemas.microsoft.com/office/drawing/2014/main" id="{690CBED7-ABFC-45DF-A31E-0D0A5B30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both versions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87D093A5-CA30-446B-8B53-245A2810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Health and plants: evidence checkpoint">
            <a:extLst xmlns:a="http://schemas.openxmlformats.org/drawingml/2006/main">
              <a:ext uri="{FF2B5EF4-FFF2-40B4-BE49-F238E27FC236}">
                <a16:creationId xmlns:a16="http://schemas.microsoft.com/office/drawing/2014/main" id="{C75F56FC-1399-4D8B-874E-2BDBF5DD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Health and plants: evidence checkpoint</a:t>
            </a:r>
          </a:p>
        </p:txBody>
      </p:sp>
      <p:sp>
        <p:nvSpPr>
          <p:cNvPr id="9" name="15 / 15">
            <a:extLst xmlns:a="http://schemas.openxmlformats.org/drawingml/2006/main">
              <a:ext uri="{FF2B5EF4-FFF2-40B4-BE49-F238E27FC236}">
                <a16:creationId xmlns:a16="http://schemas.microsoft.com/office/drawing/2014/main" id="{55FFDA30-453C-46D9-B47B-34472B8E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0" name="First attempt shows the starting point.">
            <a:extLst xmlns:a="http://schemas.openxmlformats.org/drawingml/2006/main">
              <a:ext uri="{FF2B5EF4-FFF2-40B4-BE49-F238E27FC236}">
                <a16:creationId xmlns:a16="http://schemas.microsoft.com/office/drawing/2014/main" id="{CB1DC7FD-CDA3-4B77-A243-97791936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First attempt shows the starting point.</a:t>
            </a:r>
          </a:p>
        </p:txBody>
      </p:sp>
      <p:sp>
        <p:nvSpPr>
          <p:cNvPr id="11" name="A reasoned correction shows the improvement.">
            <a:extLst xmlns:a="http://schemas.openxmlformats.org/drawingml/2006/main">
              <a:ext uri="{FF2B5EF4-FFF2-40B4-BE49-F238E27FC236}">
                <a16:creationId xmlns:a16="http://schemas.microsoft.com/office/drawing/2014/main" id="{C0232E52-A587-4840-926F-0939525F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reasoned correction shows the improvement.</a:t>
            </a:r>
          </a:p>
        </p:txBody>
      </p:sp>
    </p:spTree>
    <p:extLst>
      <p:ext uri="{BB962C8B-B14F-4D97-AF65-F5344CB8AC3E}">
        <p14:creationId xmlns:p14="http://schemas.microsoft.com/office/powerpoint/2010/main" val="704780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2026-09-08T23:56:46.7880000Z</dcterms:created>
  <dcterms:modified xsi:type="dcterms:W3CDTF">2026-09-08T23:56:46.7880000Z</dcterms:modified>
</coreProperties>
</file>