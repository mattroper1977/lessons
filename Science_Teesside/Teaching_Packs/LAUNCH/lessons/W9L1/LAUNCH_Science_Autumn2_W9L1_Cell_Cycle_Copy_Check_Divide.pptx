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15e91c3f2441c1" /><Relationship Type="http://schemas.openxmlformats.org/officeDocument/2006/relationships/extended-properties" Target="/docProps/app.xml" Id="Rb051a9d74a9e48dc" /><Relationship Type="http://schemas.openxmlformats.org/officeDocument/2006/relationships/officeDocument" Target="/ppt/presentation.xml" Id="R2f8880478d924d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686a9615ed4293"/>
  </p:sldMasterIdLst>
  <p:notesMasterIdLst>
    <p:notesMasterId xmlns:r="http://schemas.openxmlformats.org/officeDocument/2006/relationships" r:id="Rc9d54035ce734e7b"/>
  </p:notesMasterIdLst>
  <p:sldIdLst>
    <p:sldId xmlns:r="http://schemas.openxmlformats.org/officeDocument/2006/relationships" id="256" r:id="Rdf1f79df11824795"/>
    <p:sldId xmlns:r="http://schemas.openxmlformats.org/officeDocument/2006/relationships" id="257" r:id="R003c6f719c1c4492"/>
    <p:sldId xmlns:r="http://schemas.openxmlformats.org/officeDocument/2006/relationships" id="258" r:id="Rfaf6da02b72e4cc3"/>
    <p:sldId xmlns:r="http://schemas.openxmlformats.org/officeDocument/2006/relationships" id="259" r:id="R84cb2271df194420"/>
    <p:sldId xmlns:r="http://schemas.openxmlformats.org/officeDocument/2006/relationships" id="260" r:id="Rb43d2dcff9be4ff0"/>
    <p:sldId xmlns:r="http://schemas.openxmlformats.org/officeDocument/2006/relationships" id="261" r:id="R216da5fe554b483f"/>
    <p:sldId xmlns:r="http://schemas.openxmlformats.org/officeDocument/2006/relationships" id="262" r:id="R7471b887832446d6"/>
    <p:sldId xmlns:r="http://schemas.openxmlformats.org/officeDocument/2006/relationships" id="263" r:id="R1b33d098fb9f4b8b"/>
    <p:sldId xmlns:r="http://schemas.openxmlformats.org/officeDocument/2006/relationships" id="264" r:id="Re2c308fcd6b048f4"/>
    <p:sldId xmlns:r="http://schemas.openxmlformats.org/officeDocument/2006/relationships" id="265" r:id="R4fc47719ef2c441f"/>
    <p:sldId xmlns:r="http://schemas.openxmlformats.org/officeDocument/2006/relationships" id="266" r:id="R15eb8526b372404b"/>
    <p:sldId xmlns:r="http://schemas.openxmlformats.org/officeDocument/2006/relationships" id="267" r:id="R40877981abde4884"/>
    <p:sldId xmlns:r="http://schemas.openxmlformats.org/officeDocument/2006/relationships" id="268" r:id="R195fdda6925c4508"/>
    <p:sldId xmlns:r="http://schemas.openxmlformats.org/officeDocument/2006/relationships" id="269" r:id="R7682e6f73a7742a3"/>
    <p:sldId xmlns:r="http://schemas.openxmlformats.org/officeDocument/2006/relationships" id="270" r:id="R5c2d03d6f5a74065"/>
    <p:sldId xmlns:r="http://schemas.openxmlformats.org/officeDocument/2006/relationships" id="271" r:id="R3b317672f48e418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132cd110fa4f1e" /><Relationship Type="http://schemas.openxmlformats.org/officeDocument/2006/relationships/slideMaster" Target="/ppt/slideMasters/slideMaster1.xml" Id="R47686a9615ed4293" /><Relationship Type="http://schemas.openxmlformats.org/officeDocument/2006/relationships/notesMaster" Target="/ppt/notesMasters/notesMaster1.xml" Id="Rc9d54035ce734e7b" /><Relationship Type="http://schemas.openxmlformats.org/officeDocument/2006/relationships/presProps" Target="/ppt/presProps.xml" Id="R7027576114f3490c" /><Relationship Type="http://schemas.openxmlformats.org/officeDocument/2006/relationships/tableStyles" Target="/ppt/tableStyles.xml" Id="R3369ece918bb4e37" /><Relationship Type="http://schemas.openxmlformats.org/officeDocument/2006/relationships/slide" Target="/ppt/slides/slide1.xml" Id="Rdf1f79df11824795" /><Relationship Type="http://schemas.openxmlformats.org/officeDocument/2006/relationships/slide" Target="/ppt/slides/slide2.xml" Id="R003c6f719c1c4492" /><Relationship Type="http://schemas.openxmlformats.org/officeDocument/2006/relationships/slide" Target="/ppt/slides/slide3.xml" Id="Rfaf6da02b72e4cc3" /><Relationship Type="http://schemas.openxmlformats.org/officeDocument/2006/relationships/slide" Target="/ppt/slides/slide4.xml" Id="R84cb2271df194420" /><Relationship Type="http://schemas.openxmlformats.org/officeDocument/2006/relationships/slide" Target="/ppt/slides/slide5.xml" Id="Rb43d2dcff9be4ff0" /><Relationship Type="http://schemas.openxmlformats.org/officeDocument/2006/relationships/slide" Target="/ppt/slides/slide6.xml" Id="R216da5fe554b483f" /><Relationship Type="http://schemas.openxmlformats.org/officeDocument/2006/relationships/slide" Target="/ppt/slides/slide7.xml" Id="R7471b887832446d6" /><Relationship Type="http://schemas.openxmlformats.org/officeDocument/2006/relationships/slide" Target="/ppt/slides/slide8.xml" Id="R1b33d098fb9f4b8b" /><Relationship Type="http://schemas.openxmlformats.org/officeDocument/2006/relationships/slide" Target="/ppt/slides/slide9.xml" Id="Re2c308fcd6b048f4" /><Relationship Type="http://schemas.openxmlformats.org/officeDocument/2006/relationships/slide" Target="/ppt/slides/slide10.xml" Id="R4fc47719ef2c441f" /><Relationship Type="http://schemas.openxmlformats.org/officeDocument/2006/relationships/slide" Target="/ppt/slides/slide11.xml" Id="R15eb8526b372404b" /><Relationship Type="http://schemas.openxmlformats.org/officeDocument/2006/relationships/slide" Target="/ppt/slides/slide12.xml" Id="R40877981abde4884" /><Relationship Type="http://schemas.openxmlformats.org/officeDocument/2006/relationships/slide" Target="/ppt/slides/slide13.xml" Id="R195fdda6925c4508" /><Relationship Type="http://schemas.openxmlformats.org/officeDocument/2006/relationships/slide" Target="/ppt/slides/slide14.xml" Id="R7682e6f73a7742a3" /><Relationship Type="http://schemas.openxmlformats.org/officeDocument/2006/relationships/slide" Target="/ppt/slides/slide15.xml" Id="R5c2d03d6f5a74065" /><Relationship Type="http://schemas.openxmlformats.org/officeDocument/2006/relationships/slide" Target="/ppt/slides/slide16.xml" Id="R3b317672f48e41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2b6f8e25c94d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1fdd7ace9a4cd1" /><Relationship Type="http://schemas.openxmlformats.org/officeDocument/2006/relationships/notesMaster" Target="/ppt/notesMasters/notesMaster1.xml" Id="Raad2b34a7bd948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d0b184de394339" /><Relationship Type="http://schemas.openxmlformats.org/officeDocument/2006/relationships/notesMaster" Target="/ppt/notesMasters/notesMaster1.xml" Id="R875c356fdeba45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03881920464b22" /><Relationship Type="http://schemas.openxmlformats.org/officeDocument/2006/relationships/notesMaster" Target="/ppt/notesMasters/notesMaster1.xml" Id="R8b5fabbaf13d4d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5e91652daa4f1b" /><Relationship Type="http://schemas.openxmlformats.org/officeDocument/2006/relationships/notesMaster" Target="/ppt/notesMasters/notesMaster1.xml" Id="Rd38e2ed7352744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026bfd8d984772" /><Relationship Type="http://schemas.openxmlformats.org/officeDocument/2006/relationships/notesMaster" Target="/ppt/notesMasters/notesMaster1.xml" Id="Rb3d858740bf4425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381c9161eff4dba" /><Relationship Type="http://schemas.openxmlformats.org/officeDocument/2006/relationships/notesMaster" Target="/ppt/notesMasters/notesMaster1.xml" Id="Rb5e8f80074ec412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2b863b7d8844be" /><Relationship Type="http://schemas.openxmlformats.org/officeDocument/2006/relationships/notesMaster" Target="/ppt/notesMasters/notesMaster1.xml" Id="R10d476e597de4b0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8501f819108489f" /><Relationship Type="http://schemas.openxmlformats.org/officeDocument/2006/relationships/notesMaster" Target="/ppt/notesMasters/notesMaster1.xml" Id="Rc29eb010a6d74a7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b1e2615d15f451e" /><Relationship Type="http://schemas.openxmlformats.org/officeDocument/2006/relationships/notesMaster" Target="/ppt/notesMasters/notesMaster1.xml" Id="R5bb7adba20b4455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4ad6bddc9ec46b8" /><Relationship Type="http://schemas.openxmlformats.org/officeDocument/2006/relationships/notesMaster" Target="/ppt/notesMasters/notesMaster1.xml" Id="R73ea263b37634d7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84ddbceefeb4643" /><Relationship Type="http://schemas.openxmlformats.org/officeDocument/2006/relationships/notesMaster" Target="/ppt/notesMasters/notesMaster1.xml" Id="Rd1f5761c08c84ef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91c0e6e47e44480" /><Relationship Type="http://schemas.openxmlformats.org/officeDocument/2006/relationships/notesMaster" Target="/ppt/notesMasters/notesMaster1.xml" Id="Rfe942d60f4f44e0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6057dc56c384062" /><Relationship Type="http://schemas.openxmlformats.org/officeDocument/2006/relationships/notesMaster" Target="/ppt/notesMasters/notesMaster1.xml" Id="R8efbcde3a597435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e121249e7ff4069" /><Relationship Type="http://schemas.openxmlformats.org/officeDocument/2006/relationships/notesMaster" Target="/ppt/notesMasters/notesMaster1.xml" Id="R1a6570c70d4e4fc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58565ba64304d47" /><Relationship Type="http://schemas.openxmlformats.org/officeDocument/2006/relationships/notesMaster" Target="/ppt/notesMasters/notesMaster1.xml" Id="Rbe83ab1e6f5f4ed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0b2b4b26f394d50" /><Relationship Type="http://schemas.openxmlformats.org/officeDocument/2006/relationships/notesMaster" Target="/ppt/notesMasters/notesMaster1.xml" Id="R2b20acc6f8734e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SCI_L_W9L1_Cell_Cycle_Introduce.html.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setup, safety and sensory notes before pupils 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predictable Space and keep the learning goal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Stage cards freeze a continuous, three-dimensional process into neat snapshots. Chromosomes, spindle fibres, cell size and timing are not to scale, and checkpoints and molecular controls are mostly omitted.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LAUNCH · GCSE Biology · Week 9 · Introduce</a:t>
            </a:r>
          </a:p>
          <a:p xmlns:a="http://schemas.openxmlformats.org/drawingml/2006/main">
            <a:r>
              <a:t>Learning objective: I can describe the cell cycle, distinguishing interphase from mitosis and cytokinesis, and sequence prophase, metaphase, anaphase and telophase using chromosome evidence.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Describe interphase as growth, increase of subcellular structures and DNA replication before mitosis.</a:t>
            </a:r>
          </a:p>
          <a:p xmlns:a="http://schemas.openxmlformats.org/drawingml/2006/main">
            <a:r>
              <a:t>Sequence prophase, metaphase, anaphase and telophase using the positions and appearance of chromosomes.</a:t>
            </a:r>
          </a:p>
          <a:p xmlns:a="http://schemas.openxmlformats.org/drawingml/2006/main">
            <a:r>
              <a:t>Explain that cytokinesis divides the cytoplasm and membrane after nuclear division to form two daughter cells.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SCI_L_W9L1_Cell_Cycle_Introduce.html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SCI_L_W9L1_Cell_Cycle_Introduce.html.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setup, safety and sensory notes before pupils 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predictable Space and keep the learning goal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Stage cards freeze a continuous, three-dimensional process into neat snapshots. Chromosomes, spindle fibres, cell size and timing are not to scale, and checkpoints and molecular controls are mostly omitted.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LAUNCH · GCSE Biology · Week 9 · Introduce</a:t>
            </a:r>
          </a:p>
          <a:p xmlns:a="http://schemas.openxmlformats.org/drawingml/2006/main">
            <a:r>
              <a:t>Learning objective: I can describe the cell cycle, distinguishing interphase from mitosis and cytokinesis, and sequence prophase, metaphase, anaphase and telophase using chromosome evidence.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Describe interphase as growth, increase of subcellular structures and DNA replication before mitosis.</a:t>
            </a:r>
          </a:p>
          <a:p xmlns:a="http://schemas.openxmlformats.org/drawingml/2006/main">
            <a:r>
              <a:t>Sequence prophase, metaphase, anaphase and telophase using the positions and appearance of chromosomes.</a:t>
            </a:r>
          </a:p>
          <a:p xmlns:a="http://schemas.openxmlformats.org/drawingml/2006/main">
            <a:r>
              <a:t>Explain that cytokinesis divides the cytoplasm and membrane after nuclear division to form two daughter cells.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SCI_L_W9L1_Cell_Cycle_Introduce.html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SCI_L_W9L1_Cell_Cycle_Introduce.html. Arrival: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Wait, regulate and retrieve through the lightest workable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recall is inaccessible, point to one retrieval sentence; do not teach today’s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Stage cards freeze a continuous, three-dimensional process into neat snapshots. Chromosomes, spindle fibres, cell size and timing are not to scale, and checkpoints and molecular controls are mostly omitted.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 only what has already been taught</a:t>
            </a:r>
          </a:p>
          <a:p xmlns:a="http://schemas.openxmlformats.org/drawingml/2006/main">
            <a:r>
              <a:t>Topic 1: genetic material is found as chromosomes in the nucleus of a eukaryotic cell.</a:t>
            </a:r>
          </a:p>
          <a:p xmlns:a="http://schemas.openxmlformats.org/drawingml/2006/main">
            <a:r>
              <a:t>W8: evidence and explanation must be kept distinct; an observation does not automatically prove a mechanism.</a:t>
            </a:r>
          </a:p>
          <a:p xmlns:a="http://schemas.openxmlformats.org/drawingml/2006/main">
            <a:r>
              <a:t>A multicellular organism begins from one cell and increases its cell number during growth.</a:t>
            </a:r>
          </a:p>
          <a:p xmlns:a="http://schemas.openxmlformats.org/drawingml/2006/main">
            <a:r>
              <a:t>Lead-in: copying DNA and separating chromosome copies are different events in the cell cycle.</a:t>
            </a:r>
          </a:p>
          <a:p xmlns:a="http://schemas.openxmlformats.org/drawingml/2006/main">
            <a:r>
              <a:t>New to this class, absent, or not sure? Everything needed is in the retrieval box above. Read it, point to it or ask a familiar adult to read it exactly.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State where chromosomes are found in an animal or plant cell.</a:t>
            </a:r>
          </a:p>
          <a:p xmlns:a="http://schemas.openxmlformats.org/drawingml/2006/main">
            <a:r>
              <a:t>Explain why DNA must be copied before one cell forms two cells.</a:t>
            </a:r>
          </a:p>
          <a:p xmlns:a="http://schemas.openxmlformats.org/drawingml/2006/main">
            <a:r>
              <a:t>Distinguish growth of one cell from an increase in cell number.</a:t>
            </a:r>
          </a:p>
          <a:p xmlns:a="http://schemas.openxmlformats.org/drawingml/2006/main">
            <a:r>
              <a:t>Lead-in: predict what must happen to chromosome copies before cytokinesis.</a:t>
            </a:r>
          </a:p>
          <a:p xmlns:a="http://schemas.openxmlformats.org/drawingml/2006/main">
            <a:r>
              <a:t>Read-aloud route: a familiar adult may read the task exactly while the text remains visible. No device voice or media permission is required.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SCI_L_W9L1_Cell_Cycle_Introduce.html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SCI_L_W9L1_Cell_Cycle_Introduce.html. Starter: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Stage cards freeze a continuous, three-dimensional process into neat snapshots. Chromosomes, spindle fibres, cell size and timing are not to scale, and checkpoints and molecular controls are mostly omitted.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Interphase: the longest stage. Copy first.</a:t>
            </a:r>
          </a:p>
          <a:p xmlns:a="http://schemas.openxmlformats.org/drawingml/2006/main">
            <a:r>
              <a:t>Growth, more subcellular structures, and DNA replication — before any division.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Mitosis: P · M · A.</a:t>
            </a:r>
          </a:p>
          <a:p xmlns:a="http://schemas.openxmlformats.org/drawingml/2006/main">
            <a:r>
              <a:t>Chromosomes appear → line up in the middle → copies pulled apart 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Telophase, then cytokinesis.</a:t>
            </a:r>
          </a:p>
          <a:p xmlns:a="http://schemas.openxmlformats.org/drawingml/2006/main">
            <a:r>
              <a:t>Two nuclei form, then the cytoplasm divides: two genetically identical daughter cells.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Interphase, which prepares the cell for nuclear division.</a:t>
            </a:r>
          </a:p>
          <a:p xmlns:a="http://schemas.openxmlformats.org/drawingml/2006/main">
            <a:r>
              <a:t>Cytokinesis, because the cytoplasm has already formed two cells.</a:t>
            </a:r>
          </a:p>
          <a:p xmlns:a="http://schemas.openxmlformats.org/drawingml/2006/main">
            <a:r>
              <a:t>The end of the cycle, because DNA copying alone makes two daughter cells.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SCI_L_W9L1_Cell_Cycle_Introduce.html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SCI_L_W9L1_Cell_Cycle_Introduce.html. Starter: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Stage cards freeze a continuous, three-dimensional process into neat snapshots. Chromosomes, spindle fibres, cell size and timing are not to scale, and checkpoints and molecular controls are mostly omitted.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Interphase: the longest stage. Copy first.</a:t>
            </a:r>
          </a:p>
          <a:p xmlns:a="http://schemas.openxmlformats.org/drawingml/2006/main">
            <a:r>
              <a:t>Growth, more subcellular structures, and DNA replication — before any division.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Mitosis: P · M · A.</a:t>
            </a:r>
          </a:p>
          <a:p xmlns:a="http://schemas.openxmlformats.org/drawingml/2006/main">
            <a:r>
              <a:t>Chromosomes appear → line up in the middle → copies pulled apart 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Telophase, then cytokinesis.</a:t>
            </a:r>
          </a:p>
          <a:p xmlns:a="http://schemas.openxmlformats.org/drawingml/2006/main">
            <a:r>
              <a:t>Two nuclei form, then the cytoplasm divides: two genetically identical daughter cells.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Interphase, which prepares the cell for nuclear division.</a:t>
            </a:r>
          </a:p>
          <a:p xmlns:a="http://schemas.openxmlformats.org/drawingml/2006/main">
            <a:r>
              <a:t>Cytokinesis, because the cytoplasm has already formed two cells.</a:t>
            </a:r>
          </a:p>
          <a:p xmlns:a="http://schemas.openxmlformats.org/drawingml/2006/main">
            <a:r>
              <a:t>The end of the cycle, because DNA copying alone makes two daughter cells.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SCI_L_W9L1_Cell_Cycle_Introduce.html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SCI_L_W9L1_Cell_Cycle_Introduce.html. I do: 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Stage cards freeze a continuous, three-dimensional process into neat snapshots. Chromosomes, spindle fibres, cell size and timing are not to scale, and checkpoints and molecular controls are mostly omitted.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INTERPHASE prepare and copy the part of the cell cycle when a cell grows, increases subcellular structures and replicates its DNA before mitosis</a:t>
            </a:r>
          </a:p>
          <a:p xmlns:a="http://schemas.openxmlformats.org/drawingml/2006/main">
            <a:r>
              <a:t>MITOSIS divide the nucleus nuclear division that separates copied chromosomes into two genetically identical sets</a:t>
            </a:r>
          </a:p>
          <a:p xmlns:a="http://schemas.openxmlformats.org/drawingml/2006/main">
            <a:r>
              <a:t>CYTOKINESIS split the cell division of the cytoplasm and cell membrane to form two daughter cells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Use the chain PREPARE → ALIGN → SEPARATE → REFORM → SPLIT, then replace each everyday word with the formal stage and its chromosome evidence.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Stage cards freeze a continuous, three-dimensional process into neat snapshots. Chromosomes, spindle fibres, cell size and timing are not to scale, and checkpoints and molecular controls are mostly omitted.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Begin with one parent cell. During interphase it grows, increases subcellular structures and replicates its DNA so each chromosome has a copied partner.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During mitosis, condensed chromosomes become visible, arrange and separate so one copy of each chromosome reaches each end of the cell.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During cytokinesis, the cytoplasm and membrane divide. The outcome is two daughter cells, not one cell with twice the normal chromosome number.</a:t>
            </a:r>
          </a:p>
          <a:p xmlns:a="http://schemas.openxmlformats.org/drawingml/2006/main">
            <a:r>
              <a:t>Mitosis sequencer · press the cells in order</a:t>
            </a:r>
          </a:p>
          <a:p xmlns:a="http://schemas.openxmlformats.org/drawingml/2006/main">
            <a:r>
              <a:t>The cards are shuffled. Use the chromosome evidence in each picture, not the name. Start with the copying stage.</a:t>
            </a:r>
          </a:p>
          <a:p xmlns:a="http://schemas.openxmlformats.org/drawingml/2006/main">
            <a:r>
              <a:t>lined up in the MIDDLE</a:t>
            </a:r>
          </a:p>
          <a:p xmlns:a="http://schemas.openxmlformats.org/drawingml/2006/main">
            <a:r>
              <a:t>cytoplasm divides · 2 identical daughter cells</a:t>
            </a:r>
          </a:p>
          <a:p xmlns:a="http://schemas.openxmlformats.org/drawingml/2006/main">
            <a:r>
              <a:t>nucleus intact · DNA copied</a:t>
            </a:r>
          </a:p>
          <a:p xmlns:a="http://schemas.openxmlformats.org/drawingml/2006/main">
            <a:r>
              <a:t>copies pulled APART to the poles</a:t>
            </a:r>
          </a:p>
          <a:p xmlns:a="http://schemas.openxmlformats.org/drawingml/2006/main">
            <a:r>
              <a:t>chromosomes visible · nucleus breaks down</a:t>
            </a:r>
          </a:p>
          <a:p xmlns:a="http://schemas.openxmlformats.org/drawingml/2006/main">
            <a:r>
              <a:t>TWO nuclei form · cell begins to pinch</a:t>
            </a:r>
          </a:p>
          <a:p xmlns:a="http://schemas.openxmlformats.org/drawingml/2006/main">
            <a:r>
              <a:t>Sequence: —</a:t>
            </a:r>
          </a:p>
          <a:p xmlns:a="http://schemas.openxmlformats.org/drawingml/2006/main">
            <a:r>
              <a:t>↺ Reset</a:t>
            </a:r>
          </a:p>
          <a:p xmlns:a="http://schemas.openxmlformats.org/drawingml/2006/main">
            <a:r>
              <a:t>Why identical?</a:t>
            </a:r>
          </a:p>
          <a:p xmlns:a="http://schemas.openxmlformats.org/drawingml/2006/main">
            <a:r>
              <a:t>Foundation tier: interphase → prophase → metaphase → anaphase → telophase → cytokinesis. Do not add spindle-fibre detail, checkpoints or meiosis here.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SCI_L_W9L1_Cell_Cycle_Introduce.html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SCI_L_W9L1_Cell_Cycle_Introduce.html. I do: 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Stage cards freeze a continuous, three-dimensional process into neat snapshots. Chromosomes, spindle fibres, cell size and timing are not to scale, and checkpoints and molecular controls are mostly omitted.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INTERPHASE prepare and copy the part of the cell cycle when a cell grows, increases subcellular structures and replicates its DNA before mitosis</a:t>
            </a:r>
          </a:p>
          <a:p xmlns:a="http://schemas.openxmlformats.org/drawingml/2006/main">
            <a:r>
              <a:t>MITOSIS divide the nucleus nuclear division that separates copied chromosomes into two genetically identical sets</a:t>
            </a:r>
          </a:p>
          <a:p xmlns:a="http://schemas.openxmlformats.org/drawingml/2006/main">
            <a:r>
              <a:t>CYTOKINESIS split the cell division of the cytoplasm and cell membrane to form two daughter cells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Use the chain PREPARE → ALIGN → SEPARATE → REFORM → SPLIT, then replace each everyday word with the formal stage and its chromosome evidence.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Stage cards freeze a continuous, three-dimensional process into neat snapshots. Chromosomes, spindle fibres, cell size and timing are not to scale, and checkpoints and molecular controls are mostly omitted.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Begin with one parent cell. During interphase it grows, increases subcellular structures and replicates its DNA so each chromosome has a copied partner.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During mitosis, condensed chromosomes become visible, arrange and separate so one copy of each chromosome reaches each end of the cell.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During cytokinesis, the cytoplasm and membrane divide. The outcome is two daughter cells, not one cell with twice the normal chromosome number.</a:t>
            </a:r>
          </a:p>
          <a:p xmlns:a="http://schemas.openxmlformats.org/drawingml/2006/main">
            <a:r>
              <a:t>Mitosis sequencer · press the cells in order</a:t>
            </a:r>
          </a:p>
          <a:p xmlns:a="http://schemas.openxmlformats.org/drawingml/2006/main">
            <a:r>
              <a:t>The cards are shuffled. Use the chromosome evidence in each picture, not the name. Start with the copying stage.</a:t>
            </a:r>
          </a:p>
          <a:p xmlns:a="http://schemas.openxmlformats.org/drawingml/2006/main">
            <a:r>
              <a:t>lined up in the MIDDLE</a:t>
            </a:r>
          </a:p>
          <a:p xmlns:a="http://schemas.openxmlformats.org/drawingml/2006/main">
            <a:r>
              <a:t>cytoplasm divides · 2 identical daughter cells</a:t>
            </a:r>
          </a:p>
          <a:p xmlns:a="http://schemas.openxmlformats.org/drawingml/2006/main">
            <a:r>
              <a:t>nucleus intact · DNA copied</a:t>
            </a:r>
          </a:p>
          <a:p xmlns:a="http://schemas.openxmlformats.org/drawingml/2006/main">
            <a:r>
              <a:t>copies pulled APART to the poles</a:t>
            </a:r>
          </a:p>
          <a:p xmlns:a="http://schemas.openxmlformats.org/drawingml/2006/main">
            <a:r>
              <a:t>chromosomes visible · nucleus breaks down</a:t>
            </a:r>
          </a:p>
          <a:p xmlns:a="http://schemas.openxmlformats.org/drawingml/2006/main">
            <a:r>
              <a:t>TWO nuclei form · cell begins to pinch</a:t>
            </a:r>
          </a:p>
          <a:p xmlns:a="http://schemas.openxmlformats.org/drawingml/2006/main">
            <a:r>
              <a:t>Sequence: —</a:t>
            </a:r>
          </a:p>
          <a:p xmlns:a="http://schemas.openxmlformats.org/drawingml/2006/main">
            <a:r>
              <a:t>↺ Reset</a:t>
            </a:r>
          </a:p>
          <a:p xmlns:a="http://schemas.openxmlformats.org/drawingml/2006/main">
            <a:r>
              <a:t>Why identical?</a:t>
            </a:r>
          </a:p>
          <a:p xmlns:a="http://schemas.openxmlformats.org/drawingml/2006/main">
            <a:r>
              <a:t>Foundation tier: interphase → prophase → metaphase → anaphase → telophase → cytokinesis. Do not add spindle-fibre detail, checkpoints or meiosis here.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SCI_L_W9L1_Cell_Cycle_Introduce.html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SCI_L_W9L1_Cell_Cycle_Introduce.html. We do: 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Scan every response mode. Do not infer understanding from handwriting or confidence.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Secure: transfer. Mixed: contrast. Misconception: counterexample then a fresh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Stage cards freeze a continuous, three-dimensional process into neat snapshots. Chromosomes, spindle fibres, cell size and timing are not to scale, and checkpoints and molecular controls are mostly omitted.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Everyone commits before explanation.</a:t>
            </a:r>
          </a:p>
          <a:p xmlns:a="http://schemas.openxmlformats.org/drawingml/2006/main">
            <a:r>
              <a:t>Use a button, point, say/sign or let an adult operate the chosen button. A retry is information, not a penalty.</a:t>
            </a:r>
          </a:p>
          <a:p xmlns:a="http://schemas.openxmlformats.org/drawingml/2006/main">
            <a:r>
              <a:t>Audience move: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Copied chromosomes align across the middle of the cell.</a:t>
            </a:r>
          </a:p>
          <a:p xmlns:a="http://schemas.openxmlformats.org/drawingml/2006/main">
            <a:r>
              <a:t>The cell replicates its DNA before nuclear division.</a:t>
            </a:r>
          </a:p>
          <a:p xmlns:a="http://schemas.openxmlformats.org/drawingml/2006/main">
            <a:r>
              <a:t>Sister chromosome copies move to opposite ends of the cell.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SCI_L_W9L1_Cell_Cycle_Introduce.html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SCI_L_W9L1_Cell_Cycle_Introduce.html. I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complete evidence-to-explanation sentence, then pause.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science words; change density, modality or adult role before changing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Stage cards freeze a continuous, three-dimensional process into neat snapshots. Chromosomes, spindle fibres, cell size and timing are not to scale, and checkpoints and molecular controls are mostly omitted.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Connection: the model is useful when its visible pattern is translated into a scientific explanation.</a:t>
            </a:r>
          </a:p>
          <a:p xmlns:a="http://schemas.openxmlformats.org/drawingml/2006/main">
            <a:r>
              <a:t>Connection 1</a:t>
            </a:r>
          </a:p>
          <a:p xmlns:a="http://schemas.openxmlformats.org/drawingml/2006/main">
            <a:r>
              <a:t>Sequence the evidence: prophase — chromosomes condense; metaphase — chromosomes align near the cell equator; anaphase — sister chromatids separate towards opposite poles.</a:t>
            </a:r>
          </a:p>
          <a:p xmlns:a="http://schemas.openxmlformats.org/drawingml/2006/main">
            <a:r>
              <a:t>Connection 2</a:t>
            </a:r>
          </a:p>
          <a:p xmlns:a="http://schemas.openxmlformats.org/drawingml/2006/main">
            <a:r>
              <a:t>Complete the sequence: telophase — two chromosome groups reach the poles and new nuclei form; cytokinesis then divides the cytoplasm and membrane.</a:t>
            </a:r>
          </a:p>
          <a:p xmlns:a="http://schemas.openxmlformats.org/drawingml/2006/main">
            <a:r>
              <a:t>Connection 3</a:t>
            </a:r>
          </a:p>
          <a:p xmlns:a="http://schemas.openxmlformats.org/drawingml/2006/main">
            <a:r>
              <a:t>Check the boundary: interphase precedes mitosis, while cytokinesis completes cell division. Stage boundaries in real cells are gradual rather than perfectly sharp.</a:t>
            </a:r>
          </a:p>
          <a:p xmlns:a="http://schemas.openxmlformats.org/drawingml/2006/main">
            <a:r>
              <a:t>MODEL STRENGTH</a:t>
            </a:r>
          </a:p>
          <a:p xmlns:a="http://schemas.openxmlformats.org/drawingml/2006/main">
            <a:r>
              <a:t>Use the chain PREPARE → ALIGN → SEPARATE → REFORM → SPLIT, then replace each everyday word with the formal stage and its chromosome evidence.</a:t>
            </a:r>
          </a:p>
          <a:p xmlns:a="http://schemas.openxmlformats.org/drawingml/2006/main">
            <a:r>
              <a:t>MODEL LIMIT</a:t>
            </a:r>
          </a:p>
          <a:p xmlns:a="http://schemas.openxmlformats.org/drawingml/2006/main">
            <a:r>
              <a:t>Stage cards freeze a continuous, three-dimensional process into neat snapshots. Chromosomes, spindle fibres, cell size and timing are not to scale, and checkpoints and molecular controls are mostly omitted.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SCI_L_W9L1_Cell_Cycle_Introduce.html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SCI_L_W9L1_Cell_Cycle_Introduce.html. I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complete evidence-to-explanation sentence, then pause.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science words; change density, modality or adult role before changing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Stage cards freeze a continuous, three-dimensional process into neat snapshots. Chromosomes, spindle fibres, cell size and timing are not to scale, and checkpoints and molecular controls are mostly omitted.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Connection: the model is useful when its visible pattern is translated into a scientific explanation.</a:t>
            </a:r>
          </a:p>
          <a:p xmlns:a="http://schemas.openxmlformats.org/drawingml/2006/main">
            <a:r>
              <a:t>Connection 1</a:t>
            </a:r>
          </a:p>
          <a:p xmlns:a="http://schemas.openxmlformats.org/drawingml/2006/main">
            <a:r>
              <a:t>Sequence the evidence: prophase — chromosomes condense; metaphase — chromosomes align near the cell equator; anaphase — sister chromatids separate towards opposite poles.</a:t>
            </a:r>
          </a:p>
          <a:p xmlns:a="http://schemas.openxmlformats.org/drawingml/2006/main">
            <a:r>
              <a:t>Connection 2</a:t>
            </a:r>
          </a:p>
          <a:p xmlns:a="http://schemas.openxmlformats.org/drawingml/2006/main">
            <a:r>
              <a:t>Complete the sequence: telophase — two chromosome groups reach the poles and new nuclei form; cytokinesis then divides the cytoplasm and membrane.</a:t>
            </a:r>
          </a:p>
          <a:p xmlns:a="http://schemas.openxmlformats.org/drawingml/2006/main">
            <a:r>
              <a:t>Connection 3</a:t>
            </a:r>
          </a:p>
          <a:p xmlns:a="http://schemas.openxmlformats.org/drawingml/2006/main">
            <a:r>
              <a:t>Check the boundary: interphase precedes mitosis, while cytokinesis completes cell division. Stage boundaries in real cells are gradual rather than perfectly sharp.</a:t>
            </a:r>
          </a:p>
          <a:p xmlns:a="http://schemas.openxmlformats.org/drawingml/2006/main">
            <a:r>
              <a:t>MODEL STRENGTH</a:t>
            </a:r>
          </a:p>
          <a:p xmlns:a="http://schemas.openxmlformats.org/drawingml/2006/main">
            <a:r>
              <a:t>Use the chain PREPARE → ALIGN → SEPARATE → REFORM → SPLIT, then replace each everyday word with the formal stage and its chromosome evidence.</a:t>
            </a:r>
          </a:p>
          <a:p xmlns:a="http://schemas.openxmlformats.org/drawingml/2006/main">
            <a:r>
              <a:t>MODEL LIMIT</a:t>
            </a:r>
          </a:p>
          <a:p xmlns:a="http://schemas.openxmlformats.org/drawingml/2006/main">
            <a:r>
              <a:t>Stage cards freeze a continuous, three-dimensional process into neat snapshots. Chromosomes, spindle fibres, cell size and timing are not to scale, and checkpoints and molecular controls are mostly omitted.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SCI_L_W9L1_Cell_Cycle_Introduce.html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SCI_L_W9L1_Cell_Cycle_Introduce.html.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Stage cards freeze a continuous, three-dimensional process into neat snapshots. Chromosomes, spindle fibres, cell size and timing are not to scale, and checkpoints and molecular controls are mostly omitted.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Route each event to preparation before nuclear division, nuclear division, or cell split/outcome, then build one defensible sequence.</a:t>
            </a:r>
          </a:p>
          <a:p xmlns:a="http://schemas.openxmlformats.org/drawingml/2006/main">
            <a:r>
              <a:t>Read one event card and identify what changes. Commit it to interphase, mitosis or cytokinesis/outcome. Place mitotic events in chromosome-evidence order. Freeze the sequence only when DNA copying and chromosome separation are not confused.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Cell growth The cell grows and increases the number of subcellular structures.</a:t>
            </a:r>
          </a:p>
          <a:p xmlns:a="http://schemas.openxmlformats.org/drawingml/2006/main">
            <a:r>
              <a:t>DNA replication Each chromosome's DNA is copied before nuclear division.</a:t>
            </a:r>
          </a:p>
          <a:p xmlns:a="http://schemas.openxmlformats.org/drawingml/2006/main">
            <a:r>
              <a:t>Chromosomes condense Copied chromosomes become shorter, thicker and more visible in prophase.</a:t>
            </a:r>
          </a:p>
          <a:p xmlns:a="http://schemas.openxmlformats.org/drawingml/2006/main">
            <a:r>
              <a:t>Chromosomes align Copied chromosomes arrange near the equator of the cell in metaphase.</a:t>
            </a:r>
          </a:p>
          <a:p xmlns:a="http://schemas.openxmlformats.org/drawingml/2006/main">
            <a:r>
              <a:t>Sister chromatids separate Copied chromosome halves move towards opposite poles in anaphase.</a:t>
            </a:r>
          </a:p>
          <a:p xmlns:a="http://schemas.openxmlformats.org/drawingml/2006/main">
            <a:r>
              <a:t>Two nuclei reform Nuclear envelopes form around the two chromosome groups during telophase.</a:t>
            </a:r>
          </a:p>
          <a:p xmlns:a="http://schemas.openxmlformats.org/drawingml/2006/main">
            <a:r>
              <a:t>Cytoplasm divides The membrane and cytoplasm separate the parent cell into two daughter cells.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INTERPHASE · PREPARE</a:t>
            </a:r>
          </a:p>
          <a:p xmlns:a="http://schemas.openxmlformats.org/drawingml/2006/main">
            <a:r>
              <a:t>MITOSIS · NUCLEAR DIVISION</a:t>
            </a:r>
          </a:p>
          <a:p xmlns:a="http://schemas.openxmlformats.org/drawingml/2006/main">
            <a:r>
              <a:t>CYTOKINESIS · CELL SPLIT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Cell-cycle glitch: DNA is copied during mitosis, then cytokinesis doubles the chromosome number in each daughter cell.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Keep it: every division should double chromosome number.</a:t>
            </a:r>
          </a:p>
          <a:p xmlns:a="http://schemas.openxmlformats.org/drawingml/2006/main">
            <a:r>
              <a:t>Repair it: DNA is copied in interphase, mitosis separates copies and cytokinesis forms daughters with the parent chromosome number.</a:t>
            </a:r>
          </a:p>
          <a:p xmlns:a="http://schemas.openxmlformats.org/drawingml/2006/main">
            <a:r>
              <a:t>Repair it: remove DNA copying because daughter cells do not need genetic information.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SCI_L_W9L1_Cell_Cycle_Introduce.html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SCI_L_W9L1_Cell_Cycle_Introduce.html.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Stage cards freeze a continuous, three-dimensional process into neat snapshots. Chromosomes, spindle fibres, cell size and timing are not to scale, and checkpoints and molecular controls are mostly omitted.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Route each event to preparation before nuclear division, nuclear division, or cell split/outcome, then build one defensible sequence.</a:t>
            </a:r>
          </a:p>
          <a:p xmlns:a="http://schemas.openxmlformats.org/drawingml/2006/main">
            <a:r>
              <a:t>Read one event card and identify what changes. Commit it to interphase, mitosis or cytokinesis/outcome. Place mitotic events in chromosome-evidence order. Freeze the sequence only when DNA copying and chromosome separation are not confused.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Cell growth The cell grows and increases the number of subcellular structures.</a:t>
            </a:r>
          </a:p>
          <a:p xmlns:a="http://schemas.openxmlformats.org/drawingml/2006/main">
            <a:r>
              <a:t>DNA replication Each chromosome's DNA is copied before nuclear division.</a:t>
            </a:r>
          </a:p>
          <a:p xmlns:a="http://schemas.openxmlformats.org/drawingml/2006/main">
            <a:r>
              <a:t>Chromosomes condense Copied chromosomes become shorter, thicker and more visible in prophase.</a:t>
            </a:r>
          </a:p>
          <a:p xmlns:a="http://schemas.openxmlformats.org/drawingml/2006/main">
            <a:r>
              <a:t>Chromosomes align Copied chromosomes arrange near the equator of the cell in metaphase.</a:t>
            </a:r>
          </a:p>
          <a:p xmlns:a="http://schemas.openxmlformats.org/drawingml/2006/main">
            <a:r>
              <a:t>Sister chromatids separate Copied chromosome halves move towards opposite poles in anaphase.</a:t>
            </a:r>
          </a:p>
          <a:p xmlns:a="http://schemas.openxmlformats.org/drawingml/2006/main">
            <a:r>
              <a:t>Two nuclei reform Nuclear envelopes form around the two chromosome groups during telophase.</a:t>
            </a:r>
          </a:p>
          <a:p xmlns:a="http://schemas.openxmlformats.org/drawingml/2006/main">
            <a:r>
              <a:t>Cytoplasm divides The membrane and cytoplasm separate the parent cell into two daughter cells.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INTERPHASE · PREPARE</a:t>
            </a:r>
          </a:p>
          <a:p xmlns:a="http://schemas.openxmlformats.org/drawingml/2006/main">
            <a:r>
              <a:t>MITOSIS · NUCLEAR DIVISION</a:t>
            </a:r>
          </a:p>
          <a:p xmlns:a="http://schemas.openxmlformats.org/drawingml/2006/main">
            <a:r>
              <a:t>CYTOKINESIS · CELL SPLIT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Cell-cycle glitch: DNA is copied during mitosis, then cytokinesis doubles the chromosome number in each daughter cell.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Keep it: every division should double chromosome number.</a:t>
            </a:r>
          </a:p>
          <a:p xmlns:a="http://schemas.openxmlformats.org/drawingml/2006/main">
            <a:r>
              <a:t>Repair it: DNA is copied in interphase, mitosis separates copies and cytokinesis forms daughters with the parent chromosome number.</a:t>
            </a:r>
          </a:p>
          <a:p xmlns:a="http://schemas.openxmlformats.org/drawingml/2006/main">
            <a:r>
              <a:t>Repair it: remove DNA copying because daughter cells do not need genetic information.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SCI_L_W9L1_Cell_Cycle_Introduce.html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SCI_L_W9L1_Cell_Cycle_Introduce.html.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Stage cards freeze a continuous, three-dimensional process into neat snapshots. Chromosomes, spindle fibres, cell size and timing are not to scale, and checkpoints and molecular controls are mostly omitted.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Route each event to preparation before nuclear division, nuclear division, or cell split/outcome, then build one defensible sequence.</a:t>
            </a:r>
          </a:p>
          <a:p xmlns:a="http://schemas.openxmlformats.org/drawingml/2006/main">
            <a:r>
              <a:t>Read one event card and identify what changes. Commit it to interphase, mitosis or cytokinesis/outcome. Place mitotic events in chromosome-evidence order. Freeze the sequence only when DNA copying and chromosome separation are not confused.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Cell growth The cell grows and increases the number of subcellular structures.</a:t>
            </a:r>
          </a:p>
          <a:p xmlns:a="http://schemas.openxmlformats.org/drawingml/2006/main">
            <a:r>
              <a:t>DNA replication Each chromosome's DNA is copied before nuclear division.</a:t>
            </a:r>
          </a:p>
          <a:p xmlns:a="http://schemas.openxmlformats.org/drawingml/2006/main">
            <a:r>
              <a:t>Chromosomes condense Copied chromosomes become shorter, thicker and more visible in prophase.</a:t>
            </a:r>
          </a:p>
          <a:p xmlns:a="http://schemas.openxmlformats.org/drawingml/2006/main">
            <a:r>
              <a:t>Chromosomes align Copied chromosomes arrange near the equator of the cell in metaphase.</a:t>
            </a:r>
          </a:p>
          <a:p xmlns:a="http://schemas.openxmlformats.org/drawingml/2006/main">
            <a:r>
              <a:t>Sister chromatids separate Copied chromosome halves move towards opposite poles in anaphase.</a:t>
            </a:r>
          </a:p>
          <a:p xmlns:a="http://schemas.openxmlformats.org/drawingml/2006/main">
            <a:r>
              <a:t>Two nuclei reform Nuclear envelopes form around the two chromosome groups during telophase.</a:t>
            </a:r>
          </a:p>
          <a:p xmlns:a="http://schemas.openxmlformats.org/drawingml/2006/main">
            <a:r>
              <a:t>Cytoplasm divides The membrane and cytoplasm separate the parent cell into two daughter cells.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INTERPHASE · PREPARE</a:t>
            </a:r>
          </a:p>
          <a:p xmlns:a="http://schemas.openxmlformats.org/drawingml/2006/main">
            <a:r>
              <a:t>MITOSIS · NUCLEAR DIVISION</a:t>
            </a:r>
          </a:p>
          <a:p xmlns:a="http://schemas.openxmlformats.org/drawingml/2006/main">
            <a:r>
              <a:t>CYTOKINESIS · CELL SPLIT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Cell-cycle glitch: DNA is copied during mitosis, then cytokinesis doubles the chromosome number in each daughter cell.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Keep it: every division should double chromosome number.</a:t>
            </a:r>
          </a:p>
          <a:p xmlns:a="http://schemas.openxmlformats.org/drawingml/2006/main">
            <a:r>
              <a:t>Repair it: DNA is copied in interphase, mitosis separates copies and cytokinesis forms daughters with the parent chromosome number.</a:t>
            </a:r>
          </a:p>
          <a:p xmlns:a="http://schemas.openxmlformats.org/drawingml/2006/main">
            <a:r>
              <a:t>Repair it: remove DNA copying because daughter cells do not need genetic information.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SCI_L_W9L1_Cell_Cycle_Introduce.html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SCI_L_W9L1_Cell_Cycle_Introduce.html. Independent: 10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independence. Accept equivalent evidence routes and scribe exact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 only as much as needed; fade as soon as the pupil continues.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Stage cards freeze a continuous, three-dimensional process into neat snapshots. Chromosomes, spindle fibres, cell size and timing are not to scale, and checkpoints and molecular controls are mostly omitted.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 route</a:t>
            </a:r>
          </a:p>
          <a:p xmlns:a="http://schemas.openxmlformats.org/drawingml/2006/main">
            <a:r>
              <a:t>Stage cards, chromosome-copy counters, prepared diagram or micrograph set, sequencing grid and command-word frame.</a:t>
            </a:r>
          </a:p>
          <a:p xmlns:a="http://schemas.openxmlformats.org/drawingml/2006/main">
            <a:r>
              <a:t>Same outcome: I can describe the cell cycle, distinguishing interphase from mitosis and cytokinesis, and sequence prophase, metaphase, anaphase and telophase using chromosome evidence.</a:t>
            </a:r>
          </a:p>
          <a:p xmlns:a="http://schemas.openxmlformats.org/drawingml/2006/main">
            <a:r>
              <a:t>Offline digital / director route</a:t>
            </a:r>
          </a:p>
          <a:p xmlns:a="http://schemas.openxmlformats.org/drawingml/2006/main">
            <a:r>
              <a:t>Order the same stage evidence in the local interactive and type one DESCRIBE and one EXPLAIN response. Digital completion does not replace the pupil-owned reasoning record.</a:t>
            </a:r>
          </a:p>
          <a:p xmlns:a="http://schemas.openxmlformats.org/drawingml/2006/main">
            <a:r>
              <a:t>Same evidence: A complete ordered cycle, at least four stage-evidence links, a correct distinction between DNA replication and chromosome separation, and one pupil-owned explanation.</a:t>
            </a:r>
          </a:p>
          <a:p xmlns:a="http://schemas.openxmlformats.org/drawingml/2006/main">
            <a:r>
              <a:t>Equipment / setup Stage cards, chromosome-copy counters, prepared diagram or micrograph set, sequencing grid and command-word frame.</a:t>
            </a:r>
          </a:p>
          <a:p xmlns:a="http://schemas.openxmlformats.org/drawingml/2006/main">
            <a:r>
              <a:t>Safety / sensory This is a model-and-image lesson with no live tissue collection. If prepared slides and microscopes are used, carry microscopes with two hands, keep slides flat and report damaged glass; use only teacher-approved images.</a:t>
            </a:r>
          </a:p>
          <a:p xmlns:a="http://schemas.openxmlformats.org/drawingml/2006/main">
            <a:r>
              <a:t>Offline parity Order the same stage evidence in the local interactive and type one DESCRIBE and one EXPLAIN response. Digital completion does not replace the pupil-owned reasoning record.</a:t>
            </a:r>
          </a:p>
          <a:p xmlns:a="http://schemas.openxmlformats.org/drawingml/2006/main">
            <a:r>
              <a:t>No-equipment/access route: Use enlarged tactile cards, spoken choices or eye-pointing while an adult records the pupil's exact sequence and reasons. The same formal vocabulary and evidence standard apply.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Sequence interphase, four named mitotic stages and cytokinesis, annotate visible evidence, then explain why DNA replication must precede mitosis.</a:t>
            </a:r>
          </a:p>
          <a:p xmlns:a="http://schemas.openxmlformats.org/drawingml/2006/main">
            <a:r>
              <a:t>Scaffold</a:t>
            </a:r>
          </a:p>
          <a:p xmlns:a="http://schemas.openxmlformats.org/drawingml/2006/main">
            <a:r>
              <a:t>Use DESCRIBE for the ordered changes and EXPLAIN for cause plus biological reason.</a:t>
            </a:r>
          </a:p>
          <a:p xmlns:a="http://schemas.openxmlformats.org/drawingml/2006/main">
            <a:r>
              <a:t>Evidence gate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SCI_L_W9L1_Cell_Cycle_Introduce.html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SCI_L_W9L1_Cell_Cycle_Introduce.html. Independent: 10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independence. Accept equivalent evidence routes and scribe exact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 only as much as needed; fade as soon as the pupil continues.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Stage cards freeze a continuous, three-dimensional process into neat snapshots. Chromosomes, spindle fibres, cell size and timing are not to scale, and checkpoints and molecular controls are mostly omitted.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 route</a:t>
            </a:r>
          </a:p>
          <a:p xmlns:a="http://schemas.openxmlformats.org/drawingml/2006/main">
            <a:r>
              <a:t>Stage cards, chromosome-copy counters, prepared diagram or micrograph set, sequencing grid and command-word frame.</a:t>
            </a:r>
          </a:p>
          <a:p xmlns:a="http://schemas.openxmlformats.org/drawingml/2006/main">
            <a:r>
              <a:t>Same outcome: I can describe the cell cycle, distinguishing interphase from mitosis and cytokinesis, and sequence prophase, metaphase, anaphase and telophase using chromosome evidence.</a:t>
            </a:r>
          </a:p>
          <a:p xmlns:a="http://schemas.openxmlformats.org/drawingml/2006/main">
            <a:r>
              <a:t>Offline digital / director route</a:t>
            </a:r>
          </a:p>
          <a:p xmlns:a="http://schemas.openxmlformats.org/drawingml/2006/main">
            <a:r>
              <a:t>Order the same stage evidence in the local interactive and type one DESCRIBE and one EXPLAIN response. Digital completion does not replace the pupil-owned reasoning record.</a:t>
            </a:r>
          </a:p>
          <a:p xmlns:a="http://schemas.openxmlformats.org/drawingml/2006/main">
            <a:r>
              <a:t>Same evidence: A complete ordered cycle, at least four stage-evidence links, a correct distinction between DNA replication and chromosome separation, and one pupil-owned explanation.</a:t>
            </a:r>
          </a:p>
          <a:p xmlns:a="http://schemas.openxmlformats.org/drawingml/2006/main">
            <a:r>
              <a:t>Equipment / setup Stage cards, chromosome-copy counters, prepared diagram or micrograph set, sequencing grid and command-word frame.</a:t>
            </a:r>
          </a:p>
          <a:p xmlns:a="http://schemas.openxmlformats.org/drawingml/2006/main">
            <a:r>
              <a:t>Safety / sensory This is a model-and-image lesson with no live tissue collection. If prepared slides and microscopes are used, carry microscopes with two hands, keep slides flat and report damaged glass; use only teacher-approved images.</a:t>
            </a:r>
          </a:p>
          <a:p xmlns:a="http://schemas.openxmlformats.org/drawingml/2006/main">
            <a:r>
              <a:t>Offline parity Order the same stage evidence in the local interactive and type one DESCRIBE and one EXPLAIN response. Digital completion does not replace the pupil-owned reasoning record.</a:t>
            </a:r>
          </a:p>
          <a:p xmlns:a="http://schemas.openxmlformats.org/drawingml/2006/main">
            <a:r>
              <a:t>No-equipment/access route: Use enlarged tactile cards, spoken choices or eye-pointing while an adult records the pupil's exact sequence and reasons. The same formal vocabulary and evidence standard apply.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Sequence interphase, four named mitotic stages and cytokinesis, annotate visible evidence, then explain why DNA replication must precede mitosis.</a:t>
            </a:r>
          </a:p>
          <a:p xmlns:a="http://schemas.openxmlformats.org/drawingml/2006/main">
            <a:r>
              <a:t>Scaffold</a:t>
            </a:r>
          </a:p>
          <a:p xmlns:a="http://schemas.openxmlformats.org/drawingml/2006/main">
            <a:r>
              <a:t>Use DESCRIBE for the ordered changes and EXPLAIN for cause plus biological reason.</a:t>
            </a:r>
          </a:p>
          <a:p xmlns:a="http://schemas.openxmlformats.org/drawingml/2006/main">
            <a:r>
              <a:t>Evidence gate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SCI_L_W9L1_Cell_Cycle_Introduce.html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SCI_L_W9L1_Cell_Cycle_Introduce.html. Exit: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Genuinely receive one final response and name back the Science heard or seen.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Give one next move; the pupil edits or re-attempts on the existing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Stage cards freeze a continuous, three-dimensional process into neat snapshots. Chromosomes, spindle fibres, cell size and timing are not to scale, and checkpoints and molecular controls are mostly omitted.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Standard</a:t>
            </a:r>
          </a:p>
          <a:p xmlns:a="http://schemas.openxmlformats.org/drawingml/2006/main">
            <a:r>
              <a:t>Describe the cell cycle from interphase to two daughter cells using at least four formal stage terms.</a:t>
            </a:r>
          </a:p>
          <a:p xmlns:a="http://schemas.openxmlformats.org/drawingml/2006/main">
            <a:r>
              <a:t>Adult Audience</a:t>
            </a:r>
          </a:p>
          <a:p xmlns:a="http://schemas.openxmlformats.org/drawingml/2006/main">
            <a:r>
              <a:t>The familiar adult genuinely receives the pupil response, then says back the Science they heard or saw. The adult does not add a score or rewrite the pupil.</a:t>
            </a:r>
          </a:p>
          <a:p xmlns:a="http://schemas.openxmlformats.org/drawingml/2006/main">
            <a:r>
              <a:t>I changed / next I will …</a:t>
            </a:r>
          </a:p>
          <a:p xmlns:a="http://schemas.openxmlformats.org/drawingml/2006/main">
            <a:r>
              <a:t>Adult feedback that produced the edit / re-attempt: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SCI_L_W9L1_Cell_Cycle_Introduce.html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c130b202f542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381edf3b114928" /><Relationship Type="http://schemas.openxmlformats.org/officeDocument/2006/relationships/slideLayout" Target="/ppt/slideLayouts/slideLayout1.xml" Id="R5cb63830d9ca4d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b63830d9ca4d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db9bcc595c4329" /><Relationship Type="http://schemas.openxmlformats.org/officeDocument/2006/relationships/hyperlink" Target="SCI_L_W9L1_Cell_Cycle_Introduce.html" TargetMode="External" Id="R7b797dacc4b64b78" /><Relationship Type="http://schemas.openxmlformats.org/officeDocument/2006/relationships/notesSlide" Target="/ppt/notesSlides/notesSlide1.xml" Id="Rde7503758e6242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7bfc61736e4f9c" /><Relationship Type="http://schemas.openxmlformats.org/officeDocument/2006/relationships/notesSlide" Target="/ppt/notesSlides/notesSlide2.xml" Id="R57b00533f89542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db3d8ee7994a70" /><Relationship Type="http://schemas.openxmlformats.org/officeDocument/2006/relationships/notesSlide" Target="/ppt/notesSlides/notesSlide3.xml" Id="R490ce43f2bd240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e2153b88ad4aaf" /><Relationship Type="http://schemas.openxmlformats.org/officeDocument/2006/relationships/notesSlide" Target="/ppt/notesSlides/notesSlide4.xml" Id="R4e7048af2baa4a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5d7a3e3410404f" /><Relationship Type="http://schemas.openxmlformats.org/officeDocument/2006/relationships/image" Target="/ppt/media/image.png" Id="R5108123ba278486d" /><Relationship Type="http://schemas.openxmlformats.org/officeDocument/2006/relationships/image" Target="/ppt/media/image2.png" Id="Re44a775995084aae" /><Relationship Type="http://schemas.openxmlformats.org/officeDocument/2006/relationships/image" Target="/ppt/media/image3.png" Id="Rf2cfa9f8ef8b4b9e" /><Relationship Type="http://schemas.openxmlformats.org/officeDocument/2006/relationships/notesSlide" Target="/ppt/notesSlides/notesSlide5.xml" Id="Ra04f9ca64da14c3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097b2f003740b6" /><Relationship Type="http://schemas.openxmlformats.org/officeDocument/2006/relationships/notesSlide" Target="/ppt/notesSlides/notesSlide6.xml" Id="R237a89c86e914f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4fa97be4e6423f" /><Relationship Type="http://schemas.openxmlformats.org/officeDocument/2006/relationships/notesSlide" Target="/ppt/notesSlides/notesSlide7.xml" Id="R32c1032e7b234a5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16b68963894d84" /><Relationship Type="http://schemas.openxmlformats.org/officeDocument/2006/relationships/notesSlide" Target="/ppt/notesSlides/notesSlide8.xml" Id="R7cc591c9fc5942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9ae206d151417d" /><Relationship Type="http://schemas.openxmlformats.org/officeDocument/2006/relationships/notesSlide" Target="/ppt/notesSlides/notesSlide9.xml" Id="R5f5bf0313c7f4ca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5d08b10a224126" /><Relationship Type="http://schemas.openxmlformats.org/officeDocument/2006/relationships/notesSlide" Target="/ppt/notesSlides/notesSlide10.xml" Id="Rba00104c10054ee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bb84eae152410b" /><Relationship Type="http://schemas.openxmlformats.org/officeDocument/2006/relationships/notesSlide" Target="/ppt/notesSlides/notesSlide11.xml" Id="Ra98828b9c8c5419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257d6e7794499f" /><Relationship Type="http://schemas.openxmlformats.org/officeDocument/2006/relationships/notesSlide" Target="/ppt/notesSlides/notesSlide12.xml" Id="R98f02b8c16c14fd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d04ed79e944d1e" /><Relationship Type="http://schemas.openxmlformats.org/officeDocument/2006/relationships/notesSlide" Target="/ppt/notesSlides/notesSlide13.xml" Id="Rc9a8709fc0ac475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73ffab5e4f41a2" /><Relationship Type="http://schemas.openxmlformats.org/officeDocument/2006/relationships/notesSlide" Target="/ppt/notesSlides/notesSlide14.xml" Id="R3baf4e1ea915482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e65ab7876b4843" /><Relationship Type="http://schemas.openxmlformats.org/officeDocument/2006/relationships/notesSlide" Target="/ppt/notesSlides/notesSlide15.xml" Id="Rea680d801c9c411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25bc13207b4aa0" /><Relationship Type="http://schemas.openxmlformats.org/officeDocument/2006/relationships/notesSlide" Target="/ppt/notesSlides/notesSlide16.xml" Id="R406201fd3ef7402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hase edge">
            <a:extLst xmlns:a="http://schemas.openxmlformats.org/drawingml/2006/main">
              <a:ext uri="{FF2B5EF4-FFF2-40B4-BE49-F238E27FC236}">
                <a16:creationId xmlns:a16="http://schemas.microsoft.com/office/drawing/2014/main" id="{7F44CC3A-14AC-426B-9322-75AACD27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2D8CE205-FB8E-450C-9D92-5241276F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FF896C8C-DF6F-40A7-9F4A-74C93367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77171B9-D4BC-441C-ABCC-F4F0600F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Cell Cycle: Copy, Check, Divide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AD483DB1-9E01-488F-82E0-2B8B156C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objective 0">
            <a:extLst xmlns:a="http://schemas.openxmlformats.org/drawingml/2006/main">
              <a:ext uri="{FF2B5EF4-FFF2-40B4-BE49-F238E27FC236}">
                <a16:creationId xmlns:a16="http://schemas.microsoft.com/office/drawing/2014/main" id="{BB9C9DCE-4DE0-43A0-A01B-4F2D7FEF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1225"/>
            <a:ext cx="5924550" cy="17992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I can describe the cell cycle, distinguishing interphase from mitosis and cytokinesis, and sequence prophase, metaphase, anaphase and telophase using chromosome evidence.</a:t>
            </a:r>
          </a:p>
        </p:txBody>
      </p:sp>
      <p:sp>
        <p:nvSpPr>
          <p:cNvPr id="7" name="learning move 0">
            <a:extLst xmlns:a="http://schemas.openxmlformats.org/drawingml/2006/main">
              <a:ext uri="{FF2B5EF4-FFF2-40B4-BE49-F238E27FC236}">
                <a16:creationId xmlns:a16="http://schemas.microsoft.com/office/drawing/2014/main" id="{12F6949B-0569-4650-B01D-AE876E65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05050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8" name="move 0">
            <a:extLst xmlns:a="http://schemas.openxmlformats.org/drawingml/2006/main">
              <a:ext uri="{FF2B5EF4-FFF2-40B4-BE49-F238E27FC236}">
                <a16:creationId xmlns:a16="http://schemas.microsoft.com/office/drawing/2014/main" id="{4598A8C5-4D1F-44E4-952A-2E92D499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2887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COPY DNA</a:t>
            </a:r>
          </a:p>
        </p:txBody>
      </p:sp>
      <p:sp>
        <p:nvSpPr>
          <p:cNvPr id="9" name="move detail 0">
            <a:extLst xmlns:a="http://schemas.openxmlformats.org/drawingml/2006/main">
              <a:ext uri="{FF2B5EF4-FFF2-40B4-BE49-F238E27FC236}">
                <a16:creationId xmlns:a16="http://schemas.microsoft.com/office/drawing/2014/main" id="{3C1C3420-1946-4744-978C-C035804B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7177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during interphase</a:t>
            </a:r>
          </a:p>
        </p:txBody>
      </p:sp>
      <p:sp>
        <p:nvSpPr>
          <p:cNvPr id="10" name="learning move 1">
            <a:extLst xmlns:a="http://schemas.openxmlformats.org/drawingml/2006/main">
              <a:ext uri="{FF2B5EF4-FFF2-40B4-BE49-F238E27FC236}">
                <a16:creationId xmlns:a16="http://schemas.microsoft.com/office/drawing/2014/main" id="{E553D1AC-ACC3-4637-B5B3-8386D816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48025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11" name="move 1">
            <a:extLst xmlns:a="http://schemas.openxmlformats.org/drawingml/2006/main">
              <a:ext uri="{FF2B5EF4-FFF2-40B4-BE49-F238E27FC236}">
                <a16:creationId xmlns:a16="http://schemas.microsoft.com/office/drawing/2014/main" id="{E43DD616-E489-459B-B9ED-C45921B8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718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SEPARATE COPIES</a:t>
            </a:r>
          </a:p>
        </p:txBody>
      </p:sp>
      <p:sp>
        <p:nvSpPr>
          <p:cNvPr id="12" name="move detail 1">
            <a:extLst xmlns:a="http://schemas.openxmlformats.org/drawingml/2006/main">
              <a:ext uri="{FF2B5EF4-FFF2-40B4-BE49-F238E27FC236}">
                <a16:creationId xmlns:a16="http://schemas.microsoft.com/office/drawing/2014/main" id="{C5C2AF88-95CA-4828-AFE7-6EB0FAFB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147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during mitosis</a:t>
            </a:r>
          </a:p>
        </p:txBody>
      </p:sp>
      <p:sp>
        <p:nvSpPr>
          <p:cNvPr id="13" name="learning move 2">
            <a:extLst xmlns:a="http://schemas.openxmlformats.org/drawingml/2006/main">
              <a:ext uri="{FF2B5EF4-FFF2-40B4-BE49-F238E27FC236}">
                <a16:creationId xmlns:a16="http://schemas.microsoft.com/office/drawing/2014/main" id="{6B689326-3CF1-4B73-BD98-83165EDE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91000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14" name="move 2">
            <a:extLst xmlns:a="http://schemas.openxmlformats.org/drawingml/2006/main">
              <a:ext uri="{FF2B5EF4-FFF2-40B4-BE49-F238E27FC236}">
                <a16:creationId xmlns:a16="http://schemas.microsoft.com/office/drawing/2014/main" id="{1F555134-B75B-492F-AC32-FD9F2D1F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1482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DIVIDE CELL</a:t>
            </a:r>
          </a:p>
        </p:txBody>
      </p:sp>
      <p:sp>
        <p:nvSpPr>
          <p:cNvPr id="15" name="move detail 2">
            <a:extLst xmlns:a="http://schemas.openxmlformats.org/drawingml/2006/main">
              <a:ext uri="{FF2B5EF4-FFF2-40B4-BE49-F238E27FC236}">
                <a16:creationId xmlns:a16="http://schemas.microsoft.com/office/drawing/2014/main" id="{E2CEF17E-9C45-4F3D-BD28-0620EC2E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5772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cytokinesis</a:t>
            </a:r>
          </a:p>
        </p:txBody>
      </p:sp>
      <p:sp>
        <p:nvSpPr>
          <p:cNvPr id="16" name="HTML link">
            <a:extLst xmlns:a="http://schemas.openxmlformats.org/drawingml/2006/main">
              <a:ext uri="{FF2B5EF4-FFF2-40B4-BE49-F238E27FC236}">
                <a16:creationId xmlns:a16="http://schemas.microsoft.com/office/drawing/2014/main" id="{B30E7DCB-9DE0-4157-A8D7-CB934CF2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95925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A5C9E"/>
                </a:solidFill>
                <a:latin typeface="Arial"/>
                <a:ea typeface="Arial"/>
                <a:cs typeface="Arial"/>
                <a:hlinkClick xmlns:r="http://schemas.openxmlformats.org/officeDocument/2006/relationships" r:id="R7b797dacc4b64b78"/>
              </a:rPr>
              <a:t>Open the original interactive lesson</a:t>
            </a:r>
          </a:p>
        </p:txBody>
      </p:sp>
      <p:sp>
        <p:nvSpPr>
          <p:cNvPr id="17" name="time">
            <a:extLst xmlns:a="http://schemas.openxmlformats.org/drawingml/2006/main">
              <a:ext uri="{FF2B5EF4-FFF2-40B4-BE49-F238E27FC236}">
                <a16:creationId xmlns:a16="http://schemas.microsoft.com/office/drawing/2014/main" id="{962722C4-5ABD-4C6C-8891-A543CF7F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18" name="number">
            <a:extLst xmlns:a="http://schemas.openxmlformats.org/drawingml/2006/main">
              <a:ext uri="{FF2B5EF4-FFF2-40B4-BE49-F238E27FC236}">
                <a16:creationId xmlns:a16="http://schemas.microsoft.com/office/drawing/2014/main" id="{05BD93AA-E7D9-49E1-BDE3-56F07333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 / 16</a:t>
            </a:r>
          </a:p>
        </p:txBody>
      </p:sp>
    </p:spTree>
    <p:extLst>
      <p:ext uri="{BB962C8B-B14F-4D97-AF65-F5344CB8AC3E}">
        <p14:creationId xmlns:p14="http://schemas.microsoft.com/office/powerpoint/2010/main" val="10875202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2B4F3990-7ABE-4E09-8CE0-BBD982DBF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41AF88C9-F811-45A8-80C3-5C4F4D35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C35170C3-A0A2-4440-8E05-F2F345DE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F1E05F2-41D1-4F01-A63A-198B6B8FC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What success looks like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EFC7C798-2DE4-4E21-BD03-92680196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495A0495-805F-4BC5-9582-46EA4FDB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Describe interphase as growth, increase of subcellular structures and DNA replication before mitosis.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88DB16CB-E8FF-46D1-A3C4-B94573F1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Sequence prophase, metaphase, anaphase and telophase using the positions and appearance of chromosomes.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4970C063-EF76-4681-B78A-77A3D9A6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Explain that cytokinesis divides the cytoplasm and membrane after nuclear division to form two daughter cells.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10A6189F-D427-42B4-BCD3-189017AC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28E7A611-3A0A-4F92-9974-BCB5A900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2 / 16</a:t>
            </a:r>
          </a:p>
        </p:txBody>
      </p:sp>
    </p:spTree>
    <p:extLst>
      <p:ext uri="{BB962C8B-B14F-4D97-AF65-F5344CB8AC3E}">
        <p14:creationId xmlns:p14="http://schemas.microsoft.com/office/powerpoint/2010/main" val="20509112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0FE3CDA2-9806-4ABF-915B-2CEA50EF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5966FAC9-C0A8-4981-B64C-46F7BFF7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34F37240-0D8C-4CEF-9E98-16016E7E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E1EDFF0-1E9B-4283-9550-FDFC3DDF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Retrieve and reconnect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DBCD7002-C93F-49A9-851B-5FA0C7DF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5EF50A45-30D3-4F44-9F45-6BFEEEB1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State where chromosomes are found in an animal or plant cell.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83442B6F-D947-4918-A184-1DCF6236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Explain why DNA must be copied before one cell forms two cells.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828FB062-1726-4FE9-A362-483195B3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Distinguish growth of one cell from an increase in cell number.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2955B90C-90B7-4156-BDA6-7AF6DA30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Lead-in: predict what must happen to chromosome copies before cytokinesis.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F7B62CE0-1640-4C9D-8018-C27F9D19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ARRIVAL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EA1CA1C1-48C1-4371-A3AB-497894E3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3 / 16</a:t>
            </a:r>
          </a:p>
        </p:txBody>
      </p:sp>
    </p:spTree>
    <p:extLst>
      <p:ext uri="{BB962C8B-B14F-4D97-AF65-F5344CB8AC3E}">
        <p14:creationId xmlns:p14="http://schemas.microsoft.com/office/powerpoint/2010/main" val="14811701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53B82C3B-DC12-4955-BC62-2DCE0C4F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C3DF1ABF-4C44-4C09-B5C7-74A32188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15E968DA-E6E2-47B9-A63B-BDE55607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6F51DF3-7D88-426B-80B9-FAD7EC4E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A cell has grown and copied its DNA, but the chromosome copies have not yet separated. Which part of the cycle is it completing?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A0F54861-46C6-4CD6-9F5C-3788402D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EFD6E3A6-89AB-42A3-A0C8-6E38E861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Think first. Point, say, sign or write your choice. Give one reason.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02A3BA8C-FEF6-45C3-8F56-72FF4C8D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Interphase, which prepares the cell for nuclear division.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C6730CBC-9BEE-4913-B38D-A0430C96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Cytokinesis, because the cytoplasm has already formed two cells.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B51E4A31-15D6-4702-BEBE-461E204B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The end of the cycle, because DNA copying alone makes two daughter cells.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155E15E2-A157-43CA-A1C3-E6D0091D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C4A8A44C-A7C5-41A9-8FF7-A6319FA8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 / 16</a:t>
            </a:r>
          </a:p>
        </p:txBody>
      </p:sp>
    </p:spTree>
    <p:extLst>
      <p:ext uri="{BB962C8B-B14F-4D97-AF65-F5344CB8AC3E}">
        <p14:creationId xmlns:p14="http://schemas.microsoft.com/office/powerpoint/2010/main" val="2430149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EAB6B303-77D3-45B1-9CCE-DD4B957F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3E4D9BF9-4E0B-4239-901F-359AA6EA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FFFF77CC-167C-47A4-ADDF-876CBEDD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5F0CF60-A271-4759-BB69-6D47F702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Look closely · what is the evidence?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541F05D7-5648-45F2-8BD5-35066FE3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08123ba278486d"/>
          <a:stretch xmlns:a="http://schemas.openxmlformats.org/drawingml/2006/main"/>
        </p:blipFill>
        <p:spPr>
          <a:xfrm xmlns:a="http://schemas.openxmlformats.org/drawingml/2006/main">
            <a:off x="800100" y="2977621"/>
            <a:ext cx="3378200" cy="1407583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64BF5AB4-22EF-4CE5-8134-058D6650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Interphase cell with intact nucleus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4a775995084aae"/>
          <a:stretch xmlns:a="http://schemas.openxmlformats.org/drawingml/2006/main"/>
        </p:blipFill>
        <p:spPr>
          <a:xfrm xmlns:a="http://schemas.openxmlformats.org/drawingml/2006/main">
            <a:off x="4406900" y="2977621"/>
            <a:ext cx="3378200" cy="1407583"/>
          </a:xfrm>
          <a:prstGeom xmlns:a="http://schemas.openxmlformats.org/drawingml/2006/main" prst="rect">
            <a:avLst/>
          </a:prstGeom>
        </p:spPr>
      </p:pic>
      <p:sp>
        <p:nvSpPr>
          <p:cNvPr id="9" name="visual caption 1">
            <a:extLst xmlns:a="http://schemas.openxmlformats.org/drawingml/2006/main">
              <a:ext uri="{FF2B5EF4-FFF2-40B4-BE49-F238E27FC236}">
                <a16:creationId xmlns:a16="http://schemas.microsoft.com/office/drawing/2014/main" id="{350A5B4E-8A8D-4DD3-8482-4A9DCBF93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Prophase, metaphase, anaphase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cfa9f8ef8b4b9e"/>
          <a:stretch xmlns:a="http://schemas.openxmlformats.org/drawingml/2006/main"/>
        </p:blipFill>
        <p:spPr>
          <a:xfrm xmlns:a="http://schemas.openxmlformats.org/drawingml/2006/main">
            <a:off x="8013700" y="2977621"/>
            <a:ext cx="3378200" cy="1407583"/>
          </a:xfrm>
          <a:prstGeom xmlns:a="http://schemas.openxmlformats.org/drawingml/2006/main" prst="rect">
            <a:avLst/>
          </a:prstGeom>
        </p:spPr>
      </p:pic>
      <p:sp>
        <p:nvSpPr>
          <p:cNvPr id="11" name="visual caption 2">
            <a:extLst xmlns:a="http://schemas.openxmlformats.org/drawingml/2006/main">
              <a:ext uri="{FF2B5EF4-FFF2-40B4-BE49-F238E27FC236}">
                <a16:creationId xmlns:a16="http://schemas.microsoft.com/office/drawing/2014/main" id="{77A3B983-BF4C-4741-88FA-CB9E261D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Telophase then cytokinesis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97CF7F30-1389-424B-A385-D20A0AFF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4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AB7EBCAD-CDD4-487F-87A7-24C21F5B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5 / 16</a:t>
            </a:r>
          </a:p>
        </p:txBody>
      </p:sp>
    </p:spTree>
    <p:extLst>
      <p:ext uri="{BB962C8B-B14F-4D97-AF65-F5344CB8AC3E}">
        <p14:creationId xmlns:p14="http://schemas.microsoft.com/office/powerpoint/2010/main" val="8995897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5669AA24-AA5D-423D-A91A-C9C19F17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F622FD35-AEB2-48E3-852E-77691B50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827F4BD9-2E09-4AD3-93E8-6519D76B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2267535-8207-4299-9A03-F00BA03AF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Words we will use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BAFE8551-8482-4025-AB5C-0A606AC4A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BCC2821C-AE1F-4050-BB7A-7C2B580D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interphase — prepare and copy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72F7F248-7AEC-48B4-B56F-8E3D7D3F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mitosis — divide the nucleus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F651B4CE-D132-48F9-9DDB-7FC6EC28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cytokinesis — split the cell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E26CE87D-29B9-45B9-8F4A-528D09E3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5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57E206AF-0639-4336-BB44-481D4BE5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6 / 16</a:t>
            </a:r>
          </a:p>
        </p:txBody>
      </p:sp>
    </p:spTree>
    <p:extLst>
      <p:ext uri="{BB962C8B-B14F-4D97-AF65-F5344CB8AC3E}">
        <p14:creationId xmlns:p14="http://schemas.microsoft.com/office/powerpoint/2010/main" val="5415546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105F0757-D006-45BC-AB5C-D1475D12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53B8723B-47FE-4010-B94F-CFDB11A5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3710ABEE-7A99-4713-99B2-74F6C451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BB2358D-3B21-4685-BA64-78D101BD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Watch the model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DF55B2DC-B017-4858-9DCE-48BD2385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28BB1E70-8460-4495-BDE9-A48555FB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Begin with one parent cell. During interphase it grows, increases subcellular structures and replicates its DNA so each chromosome has a copied partner.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9F56E4AA-2CAE-4D72-90E1-2B5207A29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During mitosis, condensed chromosomes become visible, arrange and separate so one copy of each chromosome reaches each end of the cell.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441061AE-C06B-463E-8EA4-AD359BFC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8622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During cytokinesis, the cytoplasm and membrane divide. The outcome is two daughter cells, not one cell with twice the normal chromosome number.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51019B50-9654-4590-8EF7-6345237E9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5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21D91965-2C18-4567-B97D-71D5275D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7 / 16</a:t>
            </a:r>
          </a:p>
        </p:txBody>
      </p:sp>
    </p:spTree>
    <p:extLst>
      <p:ext uri="{BB962C8B-B14F-4D97-AF65-F5344CB8AC3E}">
        <p14:creationId xmlns:p14="http://schemas.microsoft.com/office/powerpoint/2010/main" val="4861324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65566693-9438-4D3A-A4C7-23C5238B6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66FE15B1-534F-479D-9C69-E72A23FE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F4F268F7-B04C-4FFE-B48B-753866A02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A5607F4-7AAA-42F2-A66C-248F111E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Which event belongs to interphase rather than mitosis?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E96DF56E-36FA-4251-AD66-3E02B6AF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4D5B47FA-4F3D-4597-8AA0-7D07A2C5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Copied chromosomes align across the middle of the cell.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2BFE3AC8-CBF7-49FB-AA98-ADCE8321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The cell replicates its DNA before nuclear division.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B178485C-DEF8-4F76-A4BD-A0CCA022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Sister chromosome copies move to opposite ends of the cell.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67F15639-7CC0-4EEB-8609-45C04C5D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Commit to an answer. Show the evidence you used. Listen, then revise if needed.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F4E6C0B0-FE5E-445F-AD02-E4DC3973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· 5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3B62AA11-9C2F-49A3-87EF-1493931F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8 / 16</a:t>
            </a:r>
          </a:p>
        </p:txBody>
      </p:sp>
    </p:spTree>
    <p:extLst>
      <p:ext uri="{BB962C8B-B14F-4D97-AF65-F5344CB8AC3E}">
        <p14:creationId xmlns:p14="http://schemas.microsoft.com/office/powerpoint/2010/main" val="5776881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E2178C89-61DA-497B-B11C-F9364836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353999F3-2E10-420B-82D1-D9527738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01407ECE-33E9-492A-BB73-4D80DA9C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3FF17EE-28CE-42C2-818D-14D614E4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Build the explanation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67357AE3-AF0F-47C0-8588-76D1ADBA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B89E045C-2086-456D-B796-2FDDEF81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Sequence the evidence: prophase — chromosomes condense; metaphase — chromosomes align near the cell equator; anaphase — sister chromatids separate towards opposite poles.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6C6A0EB5-3DD2-4634-B282-4284058D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Complete the sequence: telophase — two chromosome groups reach the poles and new nuclei form; cytokinesis then divides the cytoplasm and membrane.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72DCDEB4-4D8B-4E2B-812B-A646D221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86225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Check the boundary: interphase precedes mitosis, while cytokinesis completes cell division. Stage boundaries in real cells are gradual rather than perfectly sharp.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77B59A0F-8094-464A-93E4-89281EA3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3834C287-9EA0-4F9A-A615-9458FCF4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9 / 16</a:t>
            </a:r>
          </a:p>
        </p:txBody>
      </p:sp>
    </p:spTree>
    <p:extLst>
      <p:ext uri="{BB962C8B-B14F-4D97-AF65-F5344CB8AC3E}">
        <p14:creationId xmlns:p14="http://schemas.microsoft.com/office/powerpoint/2010/main" val="6344968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517373D5-C6AD-4176-B0CE-C72B1C2D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ABBE361C-5D23-439E-96B5-AF59B837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9D85141A-A580-4FA8-A798-BBD76E4F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52570F3-9BA1-40F4-B71D-EC6216B19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Find and repair the misconception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8E41F95A-B9C4-4D8F-B023-B0C9038D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E775E000-12AA-4BCC-8EE5-96B8DBDB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Cell-cycle glitch: DNA is copied during mitosis, then cytokinesis doubles the chromosome number in each daughter cell.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4183DA45-2CA2-4F36-BCA1-51624DC0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Keep it: every division should double chromosome number.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04161574-DF50-41B6-9F72-B4D24AE0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Repair it: DNA is copied in interphase, mitosis separates copies and cytokinesis forms daughters with the parent chromosome number.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69594EBD-EB0A-40A6-A4B8-32A7399E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Repair it: remove DNA copying because daughter cells do not need genetic information.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7B8FD6B7-F1A7-4DDC-9AA6-29BF6635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EC5CB449-3D8D-4353-9625-08AABAC6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10 / 16</a:t>
            </a:r>
          </a:p>
        </p:txBody>
      </p:sp>
    </p:spTree>
    <p:extLst>
      <p:ext uri="{BB962C8B-B14F-4D97-AF65-F5344CB8AC3E}">
        <p14:creationId xmlns:p14="http://schemas.microsoft.com/office/powerpoint/2010/main" val="15089348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hase edge">
            <a:extLst xmlns:a="http://schemas.openxmlformats.org/drawingml/2006/main">
              <a:ext uri="{FF2B5EF4-FFF2-40B4-BE49-F238E27FC236}">
                <a16:creationId xmlns:a16="http://schemas.microsoft.com/office/drawing/2014/main" id="{D46DC7EA-1799-4ABD-81A0-3799BCAF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BFDD3459-13E6-4290-94C0-2BEA701C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2D38F463-CAD9-43F9-B4AC-8E0E9067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C9415D3-46DC-4EBC-8D45-41753451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Cell-cycle event routing console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AB3AB3B6-A6B3-46FD-8CDB-4F98E0F52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F7C9549C-62F3-4060-A98F-F60AD684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Route each event to preparation before nuclear division, nuclear division, or cell split/outcome, then build one defensible sequence.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EFC17AEC-68DB-477E-856C-DE3DAEEE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Read one event card and identify what changes.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BF70F141-F6C4-4D2B-9C60-0CEEFE41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Commit it to interphase, mitosis or cytokinesis/outcome.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5D5480AB-E50C-4684-9539-05CC29F5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Place mitotic events in chromosome-evidence order.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F455EBA4-138F-4E22-A45A-34A2CC11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338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Freeze the sequence only when DNA copying and chromosome separation are not confused.</a:t>
            </a:r>
          </a:p>
        </p:txBody>
      </p:sp>
      <p:sp>
        <p:nvSpPr>
          <p:cNvPr id="11" name="time">
            <a:extLst xmlns:a="http://schemas.openxmlformats.org/drawingml/2006/main">
              <a:ext uri="{FF2B5EF4-FFF2-40B4-BE49-F238E27FC236}">
                <a16:creationId xmlns:a16="http://schemas.microsoft.com/office/drawing/2014/main" id="{F5168795-56BD-4F61-AB59-539046A2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2" name="number">
            <a:extLst xmlns:a="http://schemas.openxmlformats.org/drawingml/2006/main">
              <a:ext uri="{FF2B5EF4-FFF2-40B4-BE49-F238E27FC236}">
                <a16:creationId xmlns:a16="http://schemas.microsoft.com/office/drawing/2014/main" id="{569BF7AC-7D92-4BB3-9875-FFC07F00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11 / 16</a:t>
            </a:r>
          </a:p>
        </p:txBody>
      </p:sp>
    </p:spTree>
    <p:extLst>
      <p:ext uri="{BB962C8B-B14F-4D97-AF65-F5344CB8AC3E}">
        <p14:creationId xmlns:p14="http://schemas.microsoft.com/office/powerpoint/2010/main" val="18804155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hase edge">
            <a:extLst xmlns:a="http://schemas.openxmlformats.org/drawingml/2006/main">
              <a:ext uri="{FF2B5EF4-FFF2-40B4-BE49-F238E27FC236}">
                <a16:creationId xmlns:a16="http://schemas.microsoft.com/office/drawing/2014/main" id="{D6BE5029-6054-423A-8CF2-7661720D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7295BEDF-ADE6-4525-9CC8-41A43057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EDB5AA7D-2CB7-4882-A00B-83A530F5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641E089-5EAD-420B-93D3-B0C1B0D3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Cell-cycle event routing console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A7B3694A-59A1-4BD0-BCD2-26E47DAB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7577D388-6BE3-4C9D-BAB8-B79A5316D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the numbered cards in your pupil pack. Take turns to choose, justify and check. You may direct a partner to move a card.</a:t>
            </a:r>
          </a:p>
        </p:txBody>
      </p:sp>
      <p:sp>
        <p:nvSpPr>
          <p:cNvPr id="7" name="time">
            <a:extLst xmlns:a="http://schemas.openxmlformats.org/drawingml/2006/main">
              <a:ext uri="{FF2B5EF4-FFF2-40B4-BE49-F238E27FC236}">
                <a16:creationId xmlns:a16="http://schemas.microsoft.com/office/drawing/2014/main" id="{6247CB81-2AC5-4863-8FF8-87A8717F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3CA810C0-6035-4921-83F5-0E703FCD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12 / 16</a:t>
            </a:r>
          </a:p>
        </p:txBody>
      </p:sp>
    </p:spTree>
    <p:extLst>
      <p:ext uri="{BB962C8B-B14F-4D97-AF65-F5344CB8AC3E}">
        <p14:creationId xmlns:p14="http://schemas.microsoft.com/office/powerpoint/2010/main" val="209798519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2120E905-2691-4C9D-8E15-B911976D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4CEFF83B-7B73-49E0-B5C1-813EED19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5E3ECE3B-7288-4E2A-923C-7772E1CA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09EC731-D886-4E70-931A-E7786DB6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a group · defend your placement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6A67FC8A-B2E1-4FC3-AD34-67490FF4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C5F5B19B-846F-47C9-9B47-54D6AD87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INTERPHASE · PREPARE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CBAA9225-8985-4702-BE8F-8BE8E2FB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MITOSIS · NUCLEAR DIVISION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7F4BC234-481D-465B-A00F-4347BE1F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CYTOKINESIS · CELL SPLIT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F3E81992-6439-4F61-9550-98C315DB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Describe the complete cycle using interphase, one visible clue for each mitotic stage, and cytokinesis.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E08C969F-549B-42E9-BB8C-4529A60D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4B8861EB-756C-4BCC-8490-2DB93709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13 / 16</a:t>
            </a:r>
          </a:p>
        </p:txBody>
      </p:sp>
    </p:spTree>
    <p:extLst>
      <p:ext uri="{BB962C8B-B14F-4D97-AF65-F5344CB8AC3E}">
        <p14:creationId xmlns:p14="http://schemas.microsoft.com/office/powerpoint/2010/main" val="35003806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79E9AA9F-7C54-4AE4-A9AC-C5BC8BE5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39D436D5-44B0-4ECF-A33A-6071C016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030BDC9A-1E44-49C7-AA78-85B40245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C3D777C-C3FA-4467-A6B3-B1086383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Your independent mission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AFA9ED32-74DF-4BBA-A08A-1A164980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2BBBB2B2-B76A-44CF-B2E3-FCC344E8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Create an evidence-labelled cell-cycle sequence and answer GCSE DESCRIBE and EXPLAIN questions that distinguish interphase, mitosis and cytokinesis.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ECFF1072-B3F1-42AA-83AB-579FDBB5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Record: A complete ordered cycle, at least four stage-evidence links, a correct distinction between DNA replication and chromosome separation, and one pupil-owned explanation.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DE1D588D-9148-44AD-9668-490BD49A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10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084507F2-F0B7-478D-A646-58C444EA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14 / 16</a:t>
            </a:r>
          </a:p>
        </p:txBody>
      </p:sp>
    </p:spTree>
    <p:extLst>
      <p:ext uri="{BB962C8B-B14F-4D97-AF65-F5344CB8AC3E}">
        <p14:creationId xmlns:p14="http://schemas.microsoft.com/office/powerpoint/2010/main" val="159735306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9F8E653E-4AC3-4F8B-9A24-18EDC9F3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4CA97F60-D7A6-406D-80CE-0B6288B0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BF333CDE-3995-4039-A037-4B4B5221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6BC7882-9E3B-41FD-BDA3-AB666B5E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your support and challenge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08870348-F2C2-4DC4-A494-41709D01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8DBE481F-A985-4894-BC14-DA5330D4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Supported: Order six labelled picture cards, match prepare/divide/split, and complete a stem explaining when DNA is copied.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CA5F204F-F3D4-4699-919D-350062A9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Standard: Sequence interphase, four named mitotic stages and cytokinesis, annotate visible evidence, then explain why DNA replication must precede mitosis.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2336B9C5-EF9F-41F0-8699-3F41DF39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8622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Stretch: Evaluate an incorrect cell-cycle model, repair chromosome-number reasoning and explain why stage boundaries can be uncertain in a snapshot.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750F2312-185D-464A-AD31-55CDFB18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10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F385C4D8-E548-451B-A089-364E367D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15 / 16</a:t>
            </a:r>
          </a:p>
        </p:txBody>
      </p:sp>
    </p:spTree>
    <p:extLst>
      <p:ext uri="{BB962C8B-B14F-4D97-AF65-F5344CB8AC3E}">
        <p14:creationId xmlns:p14="http://schemas.microsoft.com/office/powerpoint/2010/main" val="183972461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7DB917DB-F6F8-45A6-9C7D-D128A790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2EAF7B3C-91A1-4791-BE65-C0E1F3CF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6652F218-4728-48B7-AA84-01CEF446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DA55547-52BB-4F2C-B04C-2BE1442E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Show what you know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C8B83B6A-9A2E-4DE3-9F33-E29C9D92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B114351C-8DF4-4B62-B375-5DF0017A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Describe the cell cycle from interphase to two daughter cells using at least four formal stage terms.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2C5B9D78-0C8F-4331-B586-EFFBBC0D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Point to, read or explain the evidence you made. Choose one next step after the adult has listened.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6CC5638E-6DA6-4228-9E09-F30E8C78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EXIT · 4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3DEF8F23-93A0-44BA-B292-DF629307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16 / 16</a:t>
            </a:r>
          </a:p>
        </p:txBody>
      </p:sp>
    </p:spTree>
    <p:extLst>
      <p:ext uri="{BB962C8B-B14F-4D97-AF65-F5344CB8AC3E}">
        <p14:creationId xmlns:p14="http://schemas.microsoft.com/office/powerpoint/2010/main" val="4267748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2026-09-08T09:10:24.7120000Z</dcterms:created>
  <dcterms:modified xsi:type="dcterms:W3CDTF">2026-09-08T09:10:24.7120000Z</dcterms:modified>
</coreProperties>
</file>