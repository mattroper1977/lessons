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c52e42911f4260" /><Relationship Type="http://schemas.openxmlformats.org/officeDocument/2006/relationships/extended-properties" Target="/docProps/app.xml" Id="R30475162974f41a9" /><Relationship Type="http://schemas.openxmlformats.org/officeDocument/2006/relationships/officeDocument" Target="/ppt/presentation.xml" Id="Rbb7cf6ff0aab4d59" /></Relationships>
</file>

<file path=ppt/presentation.xml><?xml version="1.0" encoding="utf-8"?>
<p:presentation xmlns:p="http://schemas.openxmlformats.org/presentationml/2006/main">
  <p:sldMasterIdLst>
    <p:sldMasterId xmlns:r="http://schemas.openxmlformats.org/officeDocument/2006/relationships" id="2147483648" r:id="Rd62f3eb7e5754d62"/>
  </p:sldMasterIdLst>
  <p:notesMasterIdLst>
    <p:notesMasterId xmlns:r="http://schemas.openxmlformats.org/officeDocument/2006/relationships" r:id="Rf52938c96ea04b7a"/>
  </p:notesMasterIdLst>
  <p:sldIdLst>
    <p:sldId xmlns:r="http://schemas.openxmlformats.org/officeDocument/2006/relationships" id="256" r:id="R3fed93b8f9af431f"/>
    <p:sldId xmlns:r="http://schemas.openxmlformats.org/officeDocument/2006/relationships" id="257" r:id="Rad507f2606d24e7b"/>
    <p:sldId xmlns:r="http://schemas.openxmlformats.org/officeDocument/2006/relationships" id="258" r:id="Re28c09ff3b06463a"/>
    <p:sldId xmlns:r="http://schemas.openxmlformats.org/officeDocument/2006/relationships" id="259" r:id="Rabcf0b6ffd60435e"/>
    <p:sldId xmlns:r="http://schemas.openxmlformats.org/officeDocument/2006/relationships" id="260" r:id="R390c027934f247b4"/>
    <p:sldId xmlns:r="http://schemas.openxmlformats.org/officeDocument/2006/relationships" id="261" r:id="Rf1717ba02aff4ce4"/>
    <p:sldId xmlns:r="http://schemas.openxmlformats.org/officeDocument/2006/relationships" id="262" r:id="R0b0ed866ff71488f"/>
    <p:sldId xmlns:r="http://schemas.openxmlformats.org/officeDocument/2006/relationships" id="263" r:id="Rb33ed942367b4009"/>
    <p:sldId xmlns:r="http://schemas.openxmlformats.org/officeDocument/2006/relationships" id="264" r:id="R690b70679aed4bfa"/>
    <p:sldId xmlns:r="http://schemas.openxmlformats.org/officeDocument/2006/relationships" id="265" r:id="R9e9e51498df84403"/>
    <p:sldId xmlns:r="http://schemas.openxmlformats.org/officeDocument/2006/relationships" id="266" r:id="R2d4c60cbc43a4433"/>
    <p:sldId xmlns:r="http://schemas.openxmlformats.org/officeDocument/2006/relationships" id="267" r:id="R6a514a64895d4d99"/>
    <p:sldId xmlns:r="http://schemas.openxmlformats.org/officeDocument/2006/relationships" id="268" r:id="R239b65c4c60b4e5e"/>
    <p:sldId xmlns:r="http://schemas.openxmlformats.org/officeDocument/2006/relationships" id="269" r:id="R892bb11e3b2143d2"/>
    <p:sldId xmlns:r="http://schemas.openxmlformats.org/officeDocument/2006/relationships" id="270" r:id="R15c106aab3ac4d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b7cc58c7f14002" /><Relationship Type="http://schemas.openxmlformats.org/officeDocument/2006/relationships/slideMaster" Target="/ppt/slideMasters/slideMaster1.xml" Id="Rd62f3eb7e5754d62" /><Relationship Type="http://schemas.openxmlformats.org/officeDocument/2006/relationships/notesMaster" Target="/ppt/notesMasters/notesMaster1.xml" Id="Rf52938c96ea04b7a" /><Relationship Type="http://schemas.openxmlformats.org/officeDocument/2006/relationships/presProps" Target="/ppt/presProps.xml" Id="R10eafb089d814c05" /><Relationship Type="http://schemas.openxmlformats.org/officeDocument/2006/relationships/tableStyles" Target="/ppt/tableStyles.xml" Id="R6fa1597e45354f27" /><Relationship Type="http://schemas.openxmlformats.org/officeDocument/2006/relationships/slide" Target="/ppt/slides/slide1.xml" Id="R3fed93b8f9af431f" /><Relationship Type="http://schemas.openxmlformats.org/officeDocument/2006/relationships/slide" Target="/ppt/slides/slide2.xml" Id="Rad507f2606d24e7b" /><Relationship Type="http://schemas.openxmlformats.org/officeDocument/2006/relationships/slide" Target="/ppt/slides/slide3.xml" Id="Re28c09ff3b06463a" /><Relationship Type="http://schemas.openxmlformats.org/officeDocument/2006/relationships/slide" Target="/ppt/slides/slide4.xml" Id="Rabcf0b6ffd60435e" /><Relationship Type="http://schemas.openxmlformats.org/officeDocument/2006/relationships/slide" Target="/ppt/slides/slide5.xml" Id="R390c027934f247b4" /><Relationship Type="http://schemas.openxmlformats.org/officeDocument/2006/relationships/slide" Target="/ppt/slides/slide6.xml" Id="Rf1717ba02aff4ce4" /><Relationship Type="http://schemas.openxmlformats.org/officeDocument/2006/relationships/slide" Target="/ppt/slides/slide7.xml" Id="R0b0ed866ff71488f" /><Relationship Type="http://schemas.openxmlformats.org/officeDocument/2006/relationships/slide" Target="/ppt/slides/slide8.xml" Id="Rb33ed942367b4009" /><Relationship Type="http://schemas.openxmlformats.org/officeDocument/2006/relationships/slide" Target="/ppt/slides/slide9.xml" Id="R690b70679aed4bfa" /><Relationship Type="http://schemas.openxmlformats.org/officeDocument/2006/relationships/slide" Target="/ppt/slides/slide10.xml" Id="R9e9e51498df84403" /><Relationship Type="http://schemas.openxmlformats.org/officeDocument/2006/relationships/slide" Target="/ppt/slides/slide11.xml" Id="R2d4c60cbc43a4433" /><Relationship Type="http://schemas.openxmlformats.org/officeDocument/2006/relationships/slide" Target="/ppt/slides/slide12.xml" Id="R6a514a64895d4d99" /><Relationship Type="http://schemas.openxmlformats.org/officeDocument/2006/relationships/slide" Target="/ppt/slides/slide13.xml" Id="R239b65c4c60b4e5e" /><Relationship Type="http://schemas.openxmlformats.org/officeDocument/2006/relationships/slide" Target="/ppt/slides/slide14.xml" Id="R892bb11e3b2143d2" /><Relationship Type="http://schemas.openxmlformats.org/officeDocument/2006/relationships/slide" Target="/ppt/slides/slide15.xml" Id="R15c106aab3ac4d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69f9d7778c49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a3067a0c774789" /><Relationship Type="http://schemas.openxmlformats.org/officeDocument/2006/relationships/notesMaster" Target="/ppt/notesMasters/notesMaster1.xml" Id="R88cc205281ad49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6a10ee0cec432d" /><Relationship Type="http://schemas.openxmlformats.org/officeDocument/2006/relationships/notesMaster" Target="/ppt/notesMasters/notesMaster1.xml" Id="R9364eb35c6d74e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c9c689aa6f4fda" /><Relationship Type="http://schemas.openxmlformats.org/officeDocument/2006/relationships/notesMaster" Target="/ppt/notesMasters/notesMaster1.xml" Id="Rb92594be809c43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e6706f87824108" /><Relationship Type="http://schemas.openxmlformats.org/officeDocument/2006/relationships/notesMaster" Target="/ppt/notesMasters/notesMaster1.xml" Id="R5d43e3ff92de48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e5847a205f4d8b" /><Relationship Type="http://schemas.openxmlformats.org/officeDocument/2006/relationships/notesMaster" Target="/ppt/notesMasters/notesMaster1.xml" Id="R74fc308956e547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140acee4384443" /><Relationship Type="http://schemas.openxmlformats.org/officeDocument/2006/relationships/notesMaster" Target="/ppt/notesMasters/notesMaster1.xml" Id="Rc5ef4adde03349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37011380b94ba4" /><Relationship Type="http://schemas.openxmlformats.org/officeDocument/2006/relationships/notesMaster" Target="/ppt/notesMasters/notesMaster1.xml" Id="R20f52d00c8d944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c23c4f793144f3" /><Relationship Type="http://schemas.openxmlformats.org/officeDocument/2006/relationships/notesMaster" Target="/ppt/notesMasters/notesMaster1.xml" Id="R767514b44ea745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5a4f44a38e4d50" /><Relationship Type="http://schemas.openxmlformats.org/officeDocument/2006/relationships/notesMaster" Target="/ppt/notesMasters/notesMaster1.xml" Id="Rc5bf2386129846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12f5b03a1545df" /><Relationship Type="http://schemas.openxmlformats.org/officeDocument/2006/relationships/notesMaster" Target="/ppt/notesMasters/notesMaster1.xml" Id="Reefad9cf938d46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851883661549c0" /><Relationship Type="http://schemas.openxmlformats.org/officeDocument/2006/relationships/notesMaster" Target="/ppt/notesMasters/notesMaster1.xml" Id="R335800fb0b2549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aea1927b574305" /><Relationship Type="http://schemas.openxmlformats.org/officeDocument/2006/relationships/notesMaster" Target="/ppt/notesMasters/notesMaster1.xml" Id="R832398b6d53b48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0498059caa4092" /><Relationship Type="http://schemas.openxmlformats.org/officeDocument/2006/relationships/notesMaster" Target="/ppt/notesMasters/notesMaster1.xml" Id="R163b62dc54f741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5f7675e339451b" /><Relationship Type="http://schemas.openxmlformats.org/officeDocument/2006/relationships/notesMaster" Target="/ppt/notesMasters/notesMaster1.xml" Id="R4773b0ebde8e48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ea3d4d737b46f4" /><Relationship Type="http://schemas.openxmlformats.org/officeDocument/2006/relationships/notesMaster" Target="/ppt/notesMasters/notesMaster1.xml" Id="Rcf2b8272ec6846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Introduce a fictional garden decision. More individuals and more species are different claims. Ask pupils to predict what else they need to know before supporting a decision.</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R1 photosynthesis. R2 non-living. R3 no; a sample represents part of a site and may miss species. Revisit sample versus population if needed.</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Think aloud: light is abiotic. Its availability can affect plant photosynthesis. Plant cover can change shade and moisture conditions. An ecosystem explanation includes relationships, not just two disconnected lists. Soil contains living and non-living components; soil moisture is the non-living factor here.</a:t>
            </a:r>
          </a:p>
          <a:p xmlns:a="http://schemas.openxmlformats.org/drawingml/2006/main">
            <a:r>
              <a:t/>
            </a:r>
          </a:p>
          <a:p xmlns:a="http://schemas.openxmlformats.org/drawingml/2006/main">
            <a:r>
              <a:t>DIAGRAM DESCRIPTION</a:t>
            </a:r>
          </a:p>
          <a:p xmlns:a="http://schemas.openxmlformats.org/drawingml/2006/main">
            <a:r>
              <a:t>The community panel names organisms. The abiotic panel names light, temperature and soil moisture. Directed labelled links show that light supports plant photosynthesis and plant cover can affect shade and soil moisture.</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Trace leaves → aphids → ladybirds and leaves → caterpillars → blue tits. The model selects plausible garden feeding links and omits decomposers and other foods. It does not predict exact population sizes or timings.</a:t>
            </a:r>
          </a:p>
          <a:p xmlns:a="http://schemas.openxmlformats.org/drawingml/2006/main">
            <a:r>
              <a:t/>
            </a:r>
          </a:p>
          <a:p xmlns:a="http://schemas.openxmlformats.org/drawingml/2006/main">
            <a:r>
              <a:t>DIAGRAM DESCRIPTION</a:t>
            </a:r>
          </a:p>
          <a:p xmlns:a="http://schemas.openxmlformats.org/drawingml/2006/main">
            <a:r>
              <a:t>Plant leaves feed caterpillars and aphids; blue tits eat caterpillars and aphids; ladybirds eat aphids. Arrows run from the food to the consumer. Decomposers and many additional links are omitted.</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Work the analogous mini-example aloud: sample X contains 3 daisies and 3 clover plants, so 6 individuals and 2 species. For the displayed main data ask pupils to do their own counting during We do. A zero means not recorded in this sample, not proven absent everywhere.</a:t>
            </a:r>
          </a:p>
          <a:p xmlns:a="http://schemas.openxmlformats.org/drawingml/2006/main">
            <a:r>
              <a:t/>
            </a:r>
          </a:p>
          <a:p xmlns:a="http://schemas.openxmlformats.org/drawingml/2006/main">
            <a:r>
              <a:t>DIAGRAM DESCRIPTION</a:t>
            </a:r>
          </a:p>
          <a:p xmlns:a="http://schemas.openxmlformats.org/drawingml/2006/main">
            <a:r>
              <a:t>Constructed equal-area samples contain twenty individuals each. Patch A has sixteen daisies and four clover plants, with zero dandelions or plantains. Patch B has five individuals of each of the four named species. Counts are not whole-site totals.</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8 minutes across three We do steps. First classify soil moisture as abiotic and aphid feeding as biotic, then connect one factor to an organism. All necessary web links and counts are printed on shared page 1.</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W2: ladybirds may have less prey and their abundance may fall, but alternative foods, movement, timing and other factors could alter outcomes. Blue tits also have other foods in the simplified web. Do not use numerical reductions or inevitable extinction.</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W3 A=2 recorded species, B=4, so B greater recorded richness in these samples. Totals equal. Cannot establish site-wide biodiversity or cause from one sample per patch. Teacher helps replace “proves” with “in these samples”.</a:t>
            </a:r>
          </a:p>
          <a:p xmlns:a="http://schemas.openxmlformats.org/drawingml/2006/main">
            <a:r>
              <a:t/>
            </a:r>
          </a:p>
          <a:p xmlns:a="http://schemas.openxmlformats.org/drawingml/2006/main">
            <a:r>
              <a:t>REVEAL / MODEL ANSWER</a:t>
            </a:r>
          </a:p>
          <a:p xmlns:a="http://schemas.openxmlformats.org/drawingml/2006/main">
            <a:r>
              <a:t>Patch B: 4 recorded species. Patch A: 2. One sample cannot establish the cause.</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 incorrect: abundance and richness differ. B correct, bounded by the samples. C incorrect: one sample and no controlled comparison cannot prove cause. If uncertain, count non-zero species separately from summing individuals.</a:t>
            </a:r>
          </a:p>
          <a:p xmlns:a="http://schemas.openxmlformats.org/drawingml/2006/main">
            <a:r>
              <a:t/>
            </a:r>
          </a:p>
          <a:p xmlns:a="http://schemas.openxmlformats.org/drawingml/2006/main">
            <a:r>
              <a:t>A. Both patches have identical biodiversity because totals match.</a:t>
            </a:r>
          </a:p>
          <a:p xmlns:a="http://schemas.openxmlformats.org/drawingml/2006/main">
            <a:r>
              <a:t>Equal abundance does not imply equal richness or all other biodiversity measures.</a:t>
            </a:r>
          </a:p>
          <a:p xmlns:a="http://schemas.openxmlformats.org/drawingml/2006/main">
            <a:r>
              <a:t/>
            </a:r>
          </a:p>
          <a:p xmlns:a="http://schemas.openxmlformats.org/drawingml/2006/main">
            <a:r>
              <a:t>B. Patch B has greater recorded species richness in these samples.</a:t>
            </a:r>
          </a:p>
          <a:p xmlns:a="http://schemas.openxmlformats.org/drawingml/2006/main">
            <a:r>
              <a:t>Correct. Four species were recorded in B compared with two in A.</a:t>
            </a:r>
          </a:p>
          <a:p xmlns:a="http://schemas.openxmlformats.org/drawingml/2006/main">
            <a:r>
              <a:t/>
            </a:r>
          </a:p>
          <a:p xmlns:a="http://schemas.openxmlformats.org/drawingml/2006/main">
            <a:r>
              <a:t>C. The mowing method definitely caused the difference.</a:t>
            </a:r>
          </a:p>
          <a:p xmlns:a="http://schemas.openxmlformats.org/drawingml/2006/main">
            <a:r>
              <a:t>The data do not isolate mowing or rule out sampling variation.</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10 minutes independent. Core evidence is an ecosystem relationship, correctly directed feeding link, and bounded richness comparison. Pupils may draw with labels or dictate their own analysis. A recommendation is to investigate further, not to claim a proved cause.</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Prompt checking without correcting individual arrows before they attempt the task.</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Repeated matched-area plant samples at randomly selected locations are an appropriate next step. Measuring another relevant factor can help interpret differences.</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Offer teacher or private self-review as alternatives to peer review. Accept distinct accurate abiotic links. Do not penalise pupils for choosing a cautious recommendation.</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Lundy: capture pupils’ questions, choose one feasible follow-up and explicitly report how their reasoning influenced the next task. Do not require pupils to promise outdoor participation.</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E1 interactions with abiotic environment. E2 transfer from food to consumer. E3 no; need counts split by species. E4 pupil sheet asks one sampling improvement. Collect before model answer.</a:t>
            </a:r>
          </a:p>
          <a:p xmlns:a="http://schemas.openxmlformats.org/drawingml/2006/main">
            <a:r>
              <a:t/>
            </a:r>
          </a:p>
          <a:p xmlns:a="http://schemas.openxmlformats.org/drawingml/2006/main">
            <a:r>
              <a:t>LESSON REFERENCES</a:t>
            </a:r>
          </a:p>
          <a:p xmlns:a="http://schemas.openxmlformats.org/drawingml/2006/main">
            <a:r>
              <a:t>OpenStax Biology 2e: Ecology of ecosystems</a:t>
            </a:r>
          </a:p>
          <a:p xmlns:a="http://schemas.openxmlformats.org/drawingml/2006/main">
            <a:r>
              <a:t>https://openstax.org/books/biology-2e/pages/46-1-ecology-of-ecosystems</a:t>
            </a:r>
          </a:p>
          <a:p xmlns:a="http://schemas.openxmlformats.org/drawingml/2006/main">
            <a:r>
              <a:t>Checked September 2026. Ecosystem interactions and food-to-consumer arrows; our selected garden links and tasks are original.</a:t>
            </a:r>
          </a:p>
          <a:p xmlns:a="http://schemas.openxmlformats.org/drawingml/2006/main">
            <a:r>
              <a:t/>
            </a:r>
          </a:p>
          <a:p xmlns:a="http://schemas.openxmlformats.org/drawingml/2006/main">
            <a:r>
              <a:t>OpenStax Biology 2e: Community ecology</a:t>
            </a:r>
          </a:p>
          <a:p xmlns:a="http://schemas.openxmlformats.org/drawingml/2006/main">
            <a:r>
              <a:t>https://openstax.org/books/biology-2e/pages/45-6-community-ecology</a:t>
            </a:r>
          </a:p>
          <a:p xmlns:a="http://schemas.openxmlformats.org/drawingml/2006/main">
            <a:r>
              <a:t>Primary-source reference checked by the independent audit. Species richness and relative abundance are distinct community measures.</a:t>
            </a:r>
          </a:p>
          <a:p xmlns:a="http://schemas.openxmlformats.org/drawingml/2006/main">
            <a:r>
              <a:t/>
            </a:r>
          </a:p>
          <a:p xmlns:a="http://schemas.openxmlformats.org/drawingml/2006/main">
            <a:r>
              <a:t>OpenStax Biology 2e: The biodiversity crisis</a:t>
            </a:r>
          </a:p>
          <a:p xmlns:a="http://schemas.openxmlformats.org/drawingml/2006/main">
            <a:r>
              <a:t>https://openstax.org/books/biology-2e/pages/47-1-the-biodiversity-crisis</a:t>
            </a:r>
          </a:p>
          <a:p xmlns:a="http://schemas.openxmlformats.org/drawingml/2006/main">
            <a:r>
              <a:t>Checked September 2026. Biodiversity includes variation at more than one level; richness is only one aspect.</a:t>
            </a:r>
          </a:p>
          <a:p xmlns:a="http://schemas.openxmlformats.org/drawingml/2006/main">
            <a:r>
              <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Actual Issue 4 PDF checked. Topic 9 ecological relationships and sampling progression; this introduction is an original teacher resource, not an official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137b64a33e43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3aefde6a8f4367" /><Relationship Type="http://schemas.openxmlformats.org/officeDocument/2006/relationships/slideLayout" Target="/ppt/slideLayouts/slideLayout1.xml" Id="R87b79fb20f3647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b79fb20f3647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6a596a832e4577" /><Relationship Type="http://schemas.openxmlformats.org/officeDocument/2006/relationships/notesSlide" Target="/ppt/notesSlides/notesSlide1.xml" Id="R3299679e4c444d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8ecc8a371c49e0" /><Relationship Type="http://schemas.openxmlformats.org/officeDocument/2006/relationships/notesSlide" Target="/ppt/notesSlides/notesSlide2.xml" Id="R7bd9f0f74bc44c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4916d0dff74d0a" /><Relationship Type="http://schemas.openxmlformats.org/officeDocument/2006/relationships/notesSlide" Target="/ppt/notesSlides/notesSlide3.xml" Id="R08f611ecd0f041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e091b454864233" /><Relationship Type="http://schemas.openxmlformats.org/officeDocument/2006/relationships/notesSlide" Target="/ppt/notesSlides/notesSlide4.xml" Id="Rc9133910a40d4c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53e522c976409b" /><Relationship Type="http://schemas.openxmlformats.org/officeDocument/2006/relationships/notesSlide" Target="/ppt/notesSlides/notesSlide5.xml" Id="Rf44e41563e2242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7877bd63ac40be" /><Relationship Type="http://schemas.openxmlformats.org/officeDocument/2006/relationships/notesSlide" Target="/ppt/notesSlides/notesSlide6.xml" Id="R2d62c334dabe46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7d7b248a0d4ce6" /><Relationship Type="http://schemas.openxmlformats.org/officeDocument/2006/relationships/notesSlide" Target="/ppt/notesSlides/notesSlide7.xml" Id="Re9867497467243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44ec53a99c45ac" /><Relationship Type="http://schemas.openxmlformats.org/officeDocument/2006/relationships/notesSlide" Target="/ppt/notesSlides/notesSlide8.xml" Id="R51e97ddf154242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086d9a827c41f5" /><Relationship Type="http://schemas.openxmlformats.org/officeDocument/2006/relationships/notesSlide" Target="/ppt/notesSlides/notesSlide9.xml" Id="R1a235438efc345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62a2ce9ee244af" /><Relationship Type="http://schemas.openxmlformats.org/officeDocument/2006/relationships/notesSlide" Target="/ppt/notesSlides/notesSlide10.xml" Id="R57c0911c964f48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eafa4789904e3e" /><Relationship Type="http://schemas.openxmlformats.org/officeDocument/2006/relationships/notesSlide" Target="/ppt/notesSlides/notesSlide11.xml" Id="Rdaa3a4a5b2c345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85326dd3264883" /><Relationship Type="http://schemas.openxmlformats.org/officeDocument/2006/relationships/notesSlide" Target="/ppt/notesSlides/notesSlide12.xml" Id="R32ef425fb58844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455014872549d1" /><Relationship Type="http://schemas.openxmlformats.org/officeDocument/2006/relationships/notesSlide" Target="/ppt/notesSlides/notesSlide13.xml" Id="Rf15af989e6ec44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5f69d5cb7c4b28" /><Relationship Type="http://schemas.openxmlformats.org/officeDocument/2006/relationships/notesSlide" Target="/ppt/notesSlides/notesSlide14.xml" Id="Ra2eeab4633644e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68ee85de5740b1" /><Relationship Type="http://schemas.openxmlformats.org/officeDocument/2006/relationships/notesSlide" Target="/ppt/notesSlides/notesSlide15.xml" Id="Rbc73b0c5d27f4aa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7461782C-A0EC-4F03-8A98-B134D0182D8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26A92E5-F541-4CA2-97B9-A15C2E00562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96D3127-AFFA-4804-94DE-1291A321190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216C7D96-7F63-4D5E-9061-000559A1B23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Opening">
            <a:extLst xmlns:a="http://schemas.openxmlformats.org/drawingml/2006/main">
              <a:ext uri="{FF2B5EF4-FFF2-40B4-BE49-F238E27FC236}">
                <a16:creationId xmlns:a16="http://schemas.microsoft.com/office/drawing/2014/main" id="{E6E3B422-F522-4852-9F70-909224A1276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94C1BFEA-F416-4065-B9E1-972B92E4C34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Which border deserves a closer look?">
            <a:extLst xmlns:a="http://schemas.openxmlformats.org/drawingml/2006/main">
              <a:ext uri="{FF2B5EF4-FFF2-40B4-BE49-F238E27FC236}">
                <a16:creationId xmlns:a16="http://schemas.microsoft.com/office/drawing/2014/main" id="{DBC3636A-F7E5-4C7D-8EC9-F294DB45F47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border deserves a closer look?</a:t>
            </a:r>
          </a:p>
        </p:txBody>
      </p:sp>
      <p:sp>
        <p:nvSpPr>
          <p:cNvPr id="8" name="surface">
            <a:extLst xmlns:a="http://schemas.openxmlformats.org/drawingml/2006/main">
              <a:ext uri="{FF2B5EF4-FFF2-40B4-BE49-F238E27FC236}">
                <a16:creationId xmlns:a16="http://schemas.microsoft.com/office/drawing/2014/main" id="{48FDD245-8AA5-4B53-A754-4DCFB79AFE1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AE121EDE-04DF-4125-A8F2-29384BA859C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1 / 15">
            <a:extLst xmlns:a="http://schemas.openxmlformats.org/drawingml/2006/main">
              <a:ext uri="{FF2B5EF4-FFF2-40B4-BE49-F238E27FC236}">
                <a16:creationId xmlns:a16="http://schemas.microsoft.com/office/drawing/2014/main" id="{A42D4443-1D45-402C-999C-01206A67BC2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B1DF2211-B56C-4A4F-A7C3-0F5D472AC34F}"/>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88835A7E-E46B-4EAE-825D-34C1E46A3A57}"/>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B2CC73A7-E3B2-4153-BBA7-CA794898BDEB}"/>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7A5C9E"/>
                </a:solidFill>
                <a:latin typeface="Nimbus Sans"/>
                <a:ea typeface="Nimbus Sans"/>
                <a:cs typeface="Nimbus Sans"/>
              </a:defRPr>
            </a:pPr>
            <a:r>
              <a:rPr sz="1650" b="1">
                <a:solidFill>
                  <a:srgbClr val="7A5C9E"/>
                </a:solidFill>
                <a:latin typeface="Nimbus Sans"/>
                <a:ea typeface="Nimbus Sans"/>
                <a:cs typeface="Nimbus Sans"/>
              </a:rPr>
              <a:t>Learning intention</a:t>
            </a:r>
          </a:p>
        </p:txBody>
      </p:sp>
      <p:sp>
        <p:nvSpPr>
          <p:cNvPr id="14" name="Describe an ecosystem and biodiversity, then use a food web and ">
            <a:extLst xmlns:a="http://schemas.openxmlformats.org/drawingml/2006/main">
              <a:ext uri="{FF2B5EF4-FFF2-40B4-BE49-F238E27FC236}">
                <a16:creationId xmlns:a16="http://schemas.microsoft.com/office/drawing/2014/main" id="{DED7F4DA-12E0-445E-9FD4-00DA19448977}"/>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Describe an ecosystem and biodiversity, then use a food web and sample</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counts to support a cautious recommendation.</a:t>
            </a:r>
          </a:p>
        </p:txBody>
      </p:sp>
      <p:sp>
        <p:nvSpPr>
          <p:cNvPr id="15" name="Two garden patches each contain 20 counted plants.">
            <a:extLst xmlns:a="http://schemas.openxmlformats.org/drawingml/2006/main">
              <a:ext uri="{FF2B5EF4-FFF2-40B4-BE49-F238E27FC236}">
                <a16:creationId xmlns:a16="http://schemas.microsoft.com/office/drawing/2014/main" id="{1E136A20-EFC8-4234-BB8D-1A7790D0ACBC}"/>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Two garden patches each contain 20 counted plants.</a:t>
            </a:r>
          </a:p>
        </p:txBody>
      </p:sp>
      <p:sp>
        <p:nvSpPr>
          <p:cNvPr id="16" name="Are they equally rich in species?">
            <a:extLst xmlns:a="http://schemas.openxmlformats.org/drawingml/2006/main">
              <a:ext uri="{FF2B5EF4-FFF2-40B4-BE49-F238E27FC236}">
                <a16:creationId xmlns:a16="http://schemas.microsoft.com/office/drawing/2014/main" id="{148FEDD4-6DC8-4DC1-B30A-0EE6328C5BFE}"/>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Are they equally rich in species?</a:t>
            </a:r>
          </a:p>
        </p:txBody>
      </p:sp>
      <p:sp>
        <p:nvSpPr>
          <p:cNvPr id="17" name="A garden team needs an evidence brief.">
            <a:extLst xmlns:a="http://schemas.openxmlformats.org/drawingml/2006/main">
              <a:ext uri="{FF2B5EF4-FFF2-40B4-BE49-F238E27FC236}">
                <a16:creationId xmlns:a16="http://schemas.microsoft.com/office/drawing/2014/main" id="{3D0F801F-9789-40F9-B42B-1DE54A8314FD}"/>
              </a:ext>
            </a:extLst>
          </p:cNvPr>
          <p:cNvSpPr>
            <a:spLocks xmlns:a="http://schemas.openxmlformats.org/drawingml/2006/main" noGrp="1"/>
          </p:cNvSpPr>
          <p:nvPr/>
        </p:nvSpPr>
        <p:spPr>
          <a:xfrm xmlns:a="http://schemas.openxmlformats.org/drawingml/2006/main">
            <a:off x="762000" y="44691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garden team needs an evidence brief.</a:t>
            </a:r>
          </a:p>
        </p:txBody>
      </p:sp>
    </p:spTree>
    <p:extLst>
      <p:ext uri="{BB962C8B-B14F-4D97-AF65-F5344CB8AC3E}">
        <p14:creationId xmlns:p14="http://schemas.microsoft.com/office/powerpoint/2010/main" val="10486004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B8753F91-BC54-4C78-981C-E507D0FD60D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C093E86-73E1-4DD2-B4B0-9FAB4C2B270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06B9187-27F5-4256-96C8-CDAC643C47C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76D3F8B8-CE61-49FA-A193-84EE360F69F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trieval">
            <a:extLst xmlns:a="http://schemas.openxmlformats.org/drawingml/2006/main">
              <a:ext uri="{FF2B5EF4-FFF2-40B4-BE49-F238E27FC236}">
                <a16:creationId xmlns:a16="http://schemas.microsoft.com/office/drawing/2014/main" id="{5CD4F81B-6C70-4F97-A618-AEC275972EC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C3F5CF46-2E88-40FF-9462-F89D790C4EF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Build the starting vocabulary">
            <a:extLst xmlns:a="http://schemas.openxmlformats.org/drawingml/2006/main">
              <a:ext uri="{FF2B5EF4-FFF2-40B4-BE49-F238E27FC236}">
                <a16:creationId xmlns:a16="http://schemas.microsoft.com/office/drawing/2014/main" id="{18404F04-1C2F-4835-9B91-46A202E1786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Build the starting vocabulary</a:t>
            </a:r>
          </a:p>
        </p:txBody>
      </p:sp>
      <p:sp>
        <p:nvSpPr>
          <p:cNvPr id="8" name="surface">
            <a:extLst xmlns:a="http://schemas.openxmlformats.org/drawingml/2006/main">
              <a:ext uri="{FF2B5EF4-FFF2-40B4-BE49-F238E27FC236}">
                <a16:creationId xmlns:a16="http://schemas.microsoft.com/office/drawing/2014/main" id="{302C3589-8458-45D3-A5A4-9B082CAC5D0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0B364CC0-C24A-439F-AA98-8C985747B58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2 / 15">
            <a:extLst xmlns:a="http://schemas.openxmlformats.org/drawingml/2006/main">
              <a:ext uri="{FF2B5EF4-FFF2-40B4-BE49-F238E27FC236}">
                <a16:creationId xmlns:a16="http://schemas.microsoft.com/office/drawing/2014/main" id="{8544D3C1-F7D7-4117-B40D-5C18E2E204A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do plants use light for?">
            <a:extLst xmlns:a="http://schemas.openxmlformats.org/drawingml/2006/main">
              <a:ext uri="{FF2B5EF4-FFF2-40B4-BE49-F238E27FC236}">
                <a16:creationId xmlns:a16="http://schemas.microsoft.com/office/drawing/2014/main" id="{2C84A6C3-FA02-495B-B57C-EB18A559BE73}"/>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do plants use light for?</a:t>
            </a:r>
          </a:p>
        </p:txBody>
      </p:sp>
      <p:sp>
        <p:nvSpPr>
          <p:cNvPr id="12" name="R2. Is soil moisture living or non-living?">
            <a:extLst xmlns:a="http://schemas.openxmlformats.org/drawingml/2006/main">
              <a:ext uri="{FF2B5EF4-FFF2-40B4-BE49-F238E27FC236}">
                <a16:creationId xmlns:a16="http://schemas.microsoft.com/office/drawing/2014/main" id="{77819D4D-1C7E-4E30-A66D-4EE5578A59A4}"/>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Is soil moisture living or non-living?</a:t>
            </a:r>
          </a:p>
        </p:txBody>
      </p:sp>
      <p:sp>
        <p:nvSpPr>
          <p:cNvPr id="13" name="R3. Does one sample show every organism at a site?">
            <a:extLst xmlns:a="http://schemas.openxmlformats.org/drawingml/2006/main">
              <a:ext uri="{FF2B5EF4-FFF2-40B4-BE49-F238E27FC236}">
                <a16:creationId xmlns:a16="http://schemas.microsoft.com/office/drawing/2014/main" id="{11BA38D0-EA58-4FE1-82F9-6B335BBAC0EE}"/>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Does one sample show every organism at a site?</a:t>
            </a:r>
          </a:p>
        </p:txBody>
      </p:sp>
    </p:spTree>
    <p:extLst>
      <p:ext uri="{BB962C8B-B14F-4D97-AF65-F5344CB8AC3E}">
        <p14:creationId xmlns:p14="http://schemas.microsoft.com/office/powerpoint/2010/main" val="10532671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urface">
            <a:extLst xmlns:a="http://schemas.openxmlformats.org/drawingml/2006/main">
              <a:ext uri="{FF2B5EF4-FFF2-40B4-BE49-F238E27FC236}">
                <a16:creationId xmlns:a16="http://schemas.microsoft.com/office/drawing/2014/main" id="{6680F2E5-BC5E-4A68-B3BC-11833003909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534C31B-BB50-4810-98B3-0A2D433BCB8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D394A1F-12D1-4CAF-93E0-9D08D100CA7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EF51DE56-15CA-48FE-AA42-3B0991A630E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5B3EC913-71D1-4482-A0F1-1D319F241A8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8 min">
            <a:extLst xmlns:a="http://schemas.openxmlformats.org/drawingml/2006/main">
              <a:ext uri="{FF2B5EF4-FFF2-40B4-BE49-F238E27FC236}">
                <a16:creationId xmlns:a16="http://schemas.microsoft.com/office/drawing/2014/main" id="{B5DC3929-2B90-484D-8296-489A50D6743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I explain an interaction">
            <a:extLst xmlns:a="http://schemas.openxmlformats.org/drawingml/2006/main">
              <a:ext uri="{FF2B5EF4-FFF2-40B4-BE49-F238E27FC236}">
                <a16:creationId xmlns:a16="http://schemas.microsoft.com/office/drawing/2014/main" id="{16537749-4C90-4136-90AA-BD40432CC18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explain an interaction</a:t>
            </a:r>
          </a:p>
        </p:txBody>
      </p:sp>
      <p:sp>
        <p:nvSpPr>
          <p:cNvPr id="8" name="surface">
            <a:extLst xmlns:a="http://schemas.openxmlformats.org/drawingml/2006/main">
              <a:ext uri="{FF2B5EF4-FFF2-40B4-BE49-F238E27FC236}">
                <a16:creationId xmlns:a16="http://schemas.microsoft.com/office/drawing/2014/main" id="{E329CE82-FA71-4F7C-8BA5-3DA63A36E3F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FAEC1A2B-B9FC-4334-9F11-1D92A4B15A5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3 / 15">
            <a:extLst xmlns:a="http://schemas.openxmlformats.org/drawingml/2006/main">
              <a:ext uri="{FF2B5EF4-FFF2-40B4-BE49-F238E27FC236}">
                <a16:creationId xmlns:a16="http://schemas.microsoft.com/office/drawing/2014/main" id="{5D202B98-CE7E-4EB1-B35B-EB8F5FD9C25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More than a list of living things">
            <a:extLst xmlns:a="http://schemas.openxmlformats.org/drawingml/2006/main">
              <a:ext uri="{FF2B5EF4-FFF2-40B4-BE49-F238E27FC236}">
                <a16:creationId xmlns:a16="http://schemas.microsoft.com/office/drawing/2014/main" id="{D8954995-B99D-46A9-BE14-9E8055A87D15}"/>
              </a:ext>
            </a:extLst>
          </p:cNvPr>
          <p:cNvSpPr>
            <a:spLocks xmlns:a="http://schemas.openxmlformats.org/drawingml/2006/main" noGrp="1"/>
          </p:cNvSpPr>
          <p:nvPr/>
        </p:nvSpPr>
        <p:spPr>
          <a:xfrm xmlns:a="http://schemas.openxmlformats.org/drawingml/2006/main">
            <a:off x="2837429" y="1988004"/>
            <a:ext cx="6517141"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More than a list of living things</a:t>
            </a:r>
          </a:p>
        </p:txBody>
      </p:sp>
      <p:sp>
        <p:nvSpPr>
          <p:cNvPr id="12" name="Editable scientific diagram">
            <a:extLst xmlns:a="http://schemas.openxmlformats.org/drawingml/2006/main">
              <a:ext uri="{FF2B5EF4-FFF2-40B4-BE49-F238E27FC236}">
                <a16:creationId xmlns:a16="http://schemas.microsoft.com/office/drawing/2014/main" id="{7EDA2D33-66D5-4C4B-A146-C10627E44479}"/>
              </a:ext>
            </a:extLst>
          </p:cNvPr>
          <p:cNvSpPr>
            <a:spLocks xmlns:a="http://schemas.openxmlformats.org/drawingml/2006/main" noGrp="1"/>
          </p:cNvSpPr>
          <p:nvPr/>
        </p:nvSpPr>
        <p:spPr>
          <a:xfrm xmlns:a="http://schemas.openxmlformats.org/drawingml/2006/main">
            <a:off x="2942545" y="2618695"/>
            <a:ext cx="2557803" cy="1821996"/>
          </a:xfrm>
          <a:prstGeom xmlns:a="http://schemas.openxmlformats.org/drawingml/2006/main" prst="rect">
            <a:avLst/>
          </a:prstGeom>
          <a:solidFill xmlns:a="http://schemas.openxmlformats.org/drawingml/2006/main">
            <a:srgbClr val="EFF7F3"/>
          </a:solidFill>
          <a:ln xmlns:a="http://schemas.openxmlformats.org/drawingml/2006/main" w="21023">
            <a:solidFill>
              <a:srgbClr val="7A5C9E"/>
            </a:solidFill>
          </a:ln>
        </p:spPr>
      </p:sp>
      <p:sp>
        <p:nvSpPr>
          <p:cNvPr id="13" name="Diagram label: COMMUNITY">
            <a:extLst xmlns:a="http://schemas.openxmlformats.org/drawingml/2006/main">
              <a:ext uri="{FF2B5EF4-FFF2-40B4-BE49-F238E27FC236}">
                <a16:creationId xmlns:a16="http://schemas.microsoft.com/office/drawing/2014/main" id="{93CED9BE-7596-422E-9397-AD5CF9FE0FA6}"/>
              </a:ext>
            </a:extLst>
          </p:cNvPr>
          <p:cNvSpPr>
            <a:spLocks xmlns:a="http://schemas.openxmlformats.org/drawingml/2006/main" noGrp="1"/>
          </p:cNvSpPr>
          <p:nvPr/>
        </p:nvSpPr>
        <p:spPr>
          <a:xfrm xmlns:a="http://schemas.openxmlformats.org/drawingml/2006/main">
            <a:off x="3047660" y="2723810"/>
            <a:ext cx="2347572"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COMMUNITY</a:t>
            </a:r>
          </a:p>
        </p:txBody>
      </p:sp>
      <p:sp>
        <p:nvSpPr>
          <p:cNvPr id="14" name="Diagram label: Plants&#10;Aphids and caterpillars&#10;Ladybirds and blue tits">
            <a:extLst xmlns:a="http://schemas.openxmlformats.org/drawingml/2006/main">
              <a:ext uri="{FF2B5EF4-FFF2-40B4-BE49-F238E27FC236}">
                <a16:creationId xmlns:a16="http://schemas.microsoft.com/office/drawing/2014/main" id="{03095A9E-A4B0-41ED-BB60-84C0DC0D3B33}"/>
              </a:ext>
            </a:extLst>
          </p:cNvPr>
          <p:cNvSpPr>
            <a:spLocks xmlns:a="http://schemas.openxmlformats.org/drawingml/2006/main" noGrp="1"/>
          </p:cNvSpPr>
          <p:nvPr/>
        </p:nvSpPr>
        <p:spPr>
          <a:xfrm xmlns:a="http://schemas.openxmlformats.org/drawingml/2006/main">
            <a:off x="3047660" y="3249386"/>
            <a:ext cx="2347572" cy="9109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Plants</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Aphids and caterpillars</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Ladybirds and blue tits</a:t>
            </a:r>
          </a:p>
        </p:txBody>
      </p:sp>
      <p:sp>
        <p:nvSpPr>
          <p:cNvPr id="15" name="Editable scientific diagram">
            <a:extLst xmlns:a="http://schemas.openxmlformats.org/drawingml/2006/main">
              <a:ext uri="{FF2B5EF4-FFF2-40B4-BE49-F238E27FC236}">
                <a16:creationId xmlns:a16="http://schemas.microsoft.com/office/drawing/2014/main" id="{E45F3442-EB77-4538-9910-9BDF459130E7}"/>
              </a:ext>
            </a:extLst>
          </p:cNvPr>
          <p:cNvSpPr>
            <a:spLocks xmlns:a="http://schemas.openxmlformats.org/drawingml/2006/main" noGrp="1"/>
          </p:cNvSpPr>
          <p:nvPr/>
        </p:nvSpPr>
        <p:spPr>
          <a:xfrm xmlns:a="http://schemas.openxmlformats.org/drawingml/2006/main">
            <a:off x="6691653" y="2618695"/>
            <a:ext cx="2557803" cy="1821996"/>
          </a:xfrm>
          <a:prstGeom xmlns:a="http://schemas.openxmlformats.org/drawingml/2006/main" prst="rect">
            <a:avLst/>
          </a:prstGeom>
          <a:solidFill xmlns:a="http://schemas.openxmlformats.org/drawingml/2006/main">
            <a:srgbClr val="EFF7F3"/>
          </a:solidFill>
          <a:ln xmlns:a="http://schemas.openxmlformats.org/drawingml/2006/main" w="21023">
            <a:solidFill>
              <a:srgbClr val="4D82A0"/>
            </a:solidFill>
          </a:ln>
        </p:spPr>
      </p:sp>
      <p:sp>
        <p:nvSpPr>
          <p:cNvPr id="16" name="Diagram label: ABIOTIC ENVIRONMENT">
            <a:extLst xmlns:a="http://schemas.openxmlformats.org/drawingml/2006/main">
              <a:ext uri="{FF2B5EF4-FFF2-40B4-BE49-F238E27FC236}">
                <a16:creationId xmlns:a16="http://schemas.microsoft.com/office/drawing/2014/main" id="{D2A4EF5B-741F-4CA8-8B16-ACB3BB9D535E}"/>
              </a:ext>
            </a:extLst>
          </p:cNvPr>
          <p:cNvSpPr>
            <a:spLocks xmlns:a="http://schemas.openxmlformats.org/drawingml/2006/main" noGrp="1"/>
          </p:cNvSpPr>
          <p:nvPr/>
        </p:nvSpPr>
        <p:spPr>
          <a:xfrm xmlns:a="http://schemas.openxmlformats.org/drawingml/2006/main">
            <a:off x="6796768" y="2723810"/>
            <a:ext cx="2347572"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ABIOTIC ENVIRONMENT</a:t>
            </a:r>
          </a:p>
        </p:txBody>
      </p:sp>
      <p:sp>
        <p:nvSpPr>
          <p:cNvPr id="17" name="Diagram label: Light&#10;Temperature&#10;Soil moisture">
            <a:extLst xmlns:a="http://schemas.openxmlformats.org/drawingml/2006/main">
              <a:ext uri="{FF2B5EF4-FFF2-40B4-BE49-F238E27FC236}">
                <a16:creationId xmlns:a16="http://schemas.microsoft.com/office/drawing/2014/main" id="{515B87CD-7C82-4696-8706-A1114A28C1D8}"/>
              </a:ext>
            </a:extLst>
          </p:cNvPr>
          <p:cNvSpPr>
            <a:spLocks xmlns:a="http://schemas.openxmlformats.org/drawingml/2006/main" noGrp="1"/>
          </p:cNvSpPr>
          <p:nvPr/>
        </p:nvSpPr>
        <p:spPr>
          <a:xfrm xmlns:a="http://schemas.openxmlformats.org/drawingml/2006/main">
            <a:off x="6796768" y="3249386"/>
            <a:ext cx="2347572" cy="9109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Light</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Temperature</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Soil moisture</a:t>
            </a:r>
          </a:p>
        </p:txBody>
      </p:sp>
      <p:sp>
        <p:nvSpPr>
          <p:cNvPr id="18" name="Diagram line">
            <a:extLst xmlns:a="http://schemas.openxmlformats.org/drawingml/2006/main">
              <a:ext uri="{FF2B5EF4-FFF2-40B4-BE49-F238E27FC236}">
                <a16:creationId xmlns:a16="http://schemas.microsoft.com/office/drawing/2014/main" id="{4CDC36D9-BA7A-451B-8554-FB5FE2EA9B05}"/>
              </a:ext>
            </a:extLst>
          </p:cNvPr>
          <p:cNvSpPr>
            <a:spLocks xmlns:a="http://schemas.openxmlformats.org/drawingml/2006/main" noGrp="1"/>
          </p:cNvSpPr>
          <p:nvPr/>
        </p:nvSpPr>
        <p:spPr>
          <a:xfrm xmlns:a="http://schemas.openxmlformats.org/drawingml/2006/main" flipH="1" flipV="0">
            <a:off x="5608966" y="3109232"/>
            <a:ext cx="1047648" cy="953"/>
          </a:xfrm>
          <a:prstGeom xmlns:a="http://schemas.openxmlformats.org/drawingml/2006/main" prst="line">
            <a:avLst/>
          </a:prstGeom>
          <a:noFill xmlns:a="http://schemas.openxmlformats.org/drawingml/2006/main"/>
          <a:ln xmlns:a="http://schemas.openxmlformats.org/drawingml/2006/main" w="35038">
            <a:solidFill>
              <a:srgbClr val="4D82A0"/>
            </a:solidFill>
          </a:ln>
        </p:spPr>
      </p:sp>
      <p:sp>
        <p:nvSpPr>
          <p:cNvPr id="19" name="Diagram arrowhead">
            <a:extLst xmlns:a="http://schemas.openxmlformats.org/drawingml/2006/main">
              <a:ext uri="{FF2B5EF4-FFF2-40B4-BE49-F238E27FC236}">
                <a16:creationId xmlns:a16="http://schemas.microsoft.com/office/drawing/2014/main" id="{FC40FB64-BB3B-456A-B837-D29FB81668A1}"/>
              </a:ext>
            </a:extLst>
          </p:cNvPr>
          <p:cNvSpPr>
            <a:spLocks xmlns:a="http://schemas.openxmlformats.org/drawingml/2006/main" noGrp="1"/>
          </p:cNvSpPr>
          <p:nvPr/>
        </p:nvSpPr>
        <p:spPr>
          <a:xfrm xmlns:a="http://schemas.openxmlformats.org/drawingml/2006/main" rot="16200000">
            <a:off x="5535386" y="3060178"/>
            <a:ext cx="98108" cy="98108"/>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20" name="Diagram label: Light for&#10;plants">
            <a:extLst xmlns:a="http://schemas.openxmlformats.org/drawingml/2006/main">
              <a:ext uri="{FF2B5EF4-FFF2-40B4-BE49-F238E27FC236}">
                <a16:creationId xmlns:a16="http://schemas.microsoft.com/office/drawing/2014/main" id="{EA9C2C6C-63D8-4CBB-B94F-0D7008E1C2B0}"/>
              </a:ext>
            </a:extLst>
          </p:cNvPr>
          <p:cNvSpPr>
            <a:spLocks xmlns:a="http://schemas.openxmlformats.org/drawingml/2006/main" noGrp="1"/>
          </p:cNvSpPr>
          <p:nvPr/>
        </p:nvSpPr>
        <p:spPr>
          <a:xfrm xmlns:a="http://schemas.openxmlformats.org/drawingml/2006/main">
            <a:off x="5570424" y="2618695"/>
            <a:ext cx="1051152"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Light for</a:t>
            </a:r>
          </a:p>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plants</a:t>
            </a:r>
          </a:p>
        </p:txBody>
      </p:sp>
      <p:sp>
        <p:nvSpPr>
          <p:cNvPr id="21" name="Diagram line">
            <a:extLst xmlns:a="http://schemas.openxmlformats.org/drawingml/2006/main">
              <a:ext uri="{FF2B5EF4-FFF2-40B4-BE49-F238E27FC236}">
                <a16:creationId xmlns:a16="http://schemas.microsoft.com/office/drawing/2014/main" id="{84282264-391C-49FB-88AC-C1516A4013F3}"/>
              </a:ext>
            </a:extLst>
          </p:cNvPr>
          <p:cNvSpPr>
            <a:spLocks xmlns:a="http://schemas.openxmlformats.org/drawingml/2006/main" noGrp="1"/>
          </p:cNvSpPr>
          <p:nvPr/>
        </p:nvSpPr>
        <p:spPr>
          <a:xfrm xmlns:a="http://schemas.openxmlformats.org/drawingml/2006/main" flipH="0" flipV="0">
            <a:off x="5535386" y="3985192"/>
            <a:ext cx="1047648"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22" name="Diagram arrowhead">
            <a:extLst xmlns:a="http://schemas.openxmlformats.org/drawingml/2006/main">
              <a:ext uri="{FF2B5EF4-FFF2-40B4-BE49-F238E27FC236}">
                <a16:creationId xmlns:a16="http://schemas.microsoft.com/office/drawing/2014/main" id="{300D1384-885F-41C9-A357-8FBFC1C4EA81}"/>
              </a:ext>
            </a:extLst>
          </p:cNvPr>
          <p:cNvSpPr>
            <a:spLocks xmlns:a="http://schemas.openxmlformats.org/drawingml/2006/main" noGrp="1"/>
          </p:cNvSpPr>
          <p:nvPr/>
        </p:nvSpPr>
        <p:spPr>
          <a:xfrm xmlns:a="http://schemas.openxmlformats.org/drawingml/2006/main" rot="5400000">
            <a:off x="6558507" y="3936138"/>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3" name="Diagram label: Plant cover&#10;changes&#10;shade">
            <a:extLst xmlns:a="http://schemas.openxmlformats.org/drawingml/2006/main">
              <a:ext uri="{FF2B5EF4-FFF2-40B4-BE49-F238E27FC236}">
                <a16:creationId xmlns:a16="http://schemas.microsoft.com/office/drawing/2014/main" id="{AC222D0B-81E4-443C-A02C-6B152840B144}"/>
              </a:ext>
            </a:extLst>
          </p:cNvPr>
          <p:cNvSpPr>
            <a:spLocks xmlns:a="http://schemas.openxmlformats.org/drawingml/2006/main" noGrp="1"/>
          </p:cNvSpPr>
          <p:nvPr/>
        </p:nvSpPr>
        <p:spPr>
          <a:xfrm xmlns:a="http://schemas.openxmlformats.org/drawingml/2006/main">
            <a:off x="5570424" y="4090307"/>
            <a:ext cx="1051152" cy="6657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Plant cover</a:t>
            </a:r>
          </a:p>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changes</a:t>
            </a:r>
          </a:p>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shade</a:t>
            </a:r>
          </a:p>
        </p:txBody>
      </p:sp>
      <p:sp>
        <p:nvSpPr>
          <p:cNvPr id="24" name="Diagram label: Ecosystem = community + environment&#10;+ their interactions.">
            <a:extLst xmlns:a="http://schemas.openxmlformats.org/drawingml/2006/main">
              <a:ext uri="{FF2B5EF4-FFF2-40B4-BE49-F238E27FC236}">
                <a16:creationId xmlns:a16="http://schemas.microsoft.com/office/drawing/2014/main" id="{73FDB9C0-39C0-4366-BB6B-E38B16670B8F}"/>
              </a:ext>
            </a:extLst>
          </p:cNvPr>
          <p:cNvSpPr>
            <a:spLocks xmlns:a="http://schemas.openxmlformats.org/drawingml/2006/main" noGrp="1"/>
          </p:cNvSpPr>
          <p:nvPr/>
        </p:nvSpPr>
        <p:spPr>
          <a:xfrm xmlns:a="http://schemas.openxmlformats.org/drawingml/2006/main">
            <a:off x="2977583" y="4931229"/>
            <a:ext cx="6236834" cy="5255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Ecosystem = community + environment</a:t>
            </a:r>
          </a:p>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 their interactions.</a:t>
            </a:r>
          </a:p>
        </p:txBody>
      </p:sp>
      <p:sp>
        <p:nvSpPr>
          <p:cNvPr id="25" name="A community includes populations of different species.  An ecosy">
            <a:extLst xmlns:a="http://schemas.openxmlformats.org/drawingml/2006/main">
              <a:ext uri="{FF2B5EF4-FFF2-40B4-BE49-F238E27FC236}">
                <a16:creationId xmlns:a16="http://schemas.microsoft.com/office/drawing/2014/main" id="{759AAC40-451E-483A-83B8-6FCA1AA9282B}"/>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community includes populations of different species. An ecosystem includes their environment and</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interactions. I connect an abiotic factor to a living response.</a:t>
            </a:r>
          </a:p>
        </p:txBody>
      </p:sp>
    </p:spTree>
    <p:extLst>
      <p:ext uri="{BB962C8B-B14F-4D97-AF65-F5344CB8AC3E}">
        <p14:creationId xmlns:p14="http://schemas.microsoft.com/office/powerpoint/2010/main" val="1145737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urface">
            <a:extLst xmlns:a="http://schemas.openxmlformats.org/drawingml/2006/main">
              <a:ext uri="{FF2B5EF4-FFF2-40B4-BE49-F238E27FC236}">
                <a16:creationId xmlns:a16="http://schemas.microsoft.com/office/drawing/2014/main" id="{D1F073A7-662E-4B33-BD51-13DA0D4E242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2E4E5CA-7382-4E97-8922-516C0C57D65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3320A4F-86E3-47C5-9D09-AE339BE3690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1CC08C51-C3CA-4DBD-B7CA-4F6EEBD5D9A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265FDB9B-00D6-4827-991E-B86B030DB1E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read the arrow in the right direction">
            <a:extLst xmlns:a="http://schemas.openxmlformats.org/drawingml/2006/main">
              <a:ext uri="{FF2B5EF4-FFF2-40B4-BE49-F238E27FC236}">
                <a16:creationId xmlns:a16="http://schemas.microsoft.com/office/drawing/2014/main" id="{C820C5C6-A301-4F72-AB5D-D5C2DFA4F87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read the arrow in the right direction</a:t>
            </a:r>
          </a:p>
        </p:txBody>
      </p:sp>
      <p:sp>
        <p:nvSpPr>
          <p:cNvPr id="7" name="surface">
            <a:extLst xmlns:a="http://schemas.openxmlformats.org/drawingml/2006/main">
              <a:ext uri="{FF2B5EF4-FFF2-40B4-BE49-F238E27FC236}">
                <a16:creationId xmlns:a16="http://schemas.microsoft.com/office/drawing/2014/main" id="{9AB1533B-9F60-43AE-9DC5-6AD0A70BD9A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E9F117AC-539A-4FD3-B317-1E3B23E5A74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4 / 15">
            <a:extLst xmlns:a="http://schemas.openxmlformats.org/drawingml/2006/main">
              <a:ext uri="{FF2B5EF4-FFF2-40B4-BE49-F238E27FC236}">
                <a16:creationId xmlns:a16="http://schemas.microsoft.com/office/drawing/2014/main" id="{393CD14F-D811-431F-8311-FA7A0718E4A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0" name="Diagram label: Follow food → consumer">
            <a:extLst xmlns:a="http://schemas.openxmlformats.org/drawingml/2006/main">
              <a:ext uri="{FF2B5EF4-FFF2-40B4-BE49-F238E27FC236}">
                <a16:creationId xmlns:a16="http://schemas.microsoft.com/office/drawing/2014/main" id="{5FBA935A-4DA5-46BD-B038-03793A3C40FA}"/>
              </a:ext>
            </a:extLst>
          </p:cNvPr>
          <p:cNvSpPr>
            <a:spLocks xmlns:a="http://schemas.openxmlformats.org/drawingml/2006/main" noGrp="1"/>
          </p:cNvSpPr>
          <p:nvPr/>
        </p:nvSpPr>
        <p:spPr>
          <a:xfrm xmlns:a="http://schemas.openxmlformats.org/drawingml/2006/main">
            <a:off x="2837429" y="1988004"/>
            <a:ext cx="6517141"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Follow food → consumer</a:t>
            </a:r>
          </a:p>
        </p:txBody>
      </p:sp>
      <p:sp>
        <p:nvSpPr>
          <p:cNvPr id="11" name="Editable scientific diagram">
            <a:extLst xmlns:a="http://schemas.openxmlformats.org/drawingml/2006/main">
              <a:ext uri="{FF2B5EF4-FFF2-40B4-BE49-F238E27FC236}">
                <a16:creationId xmlns:a16="http://schemas.microsoft.com/office/drawing/2014/main" id="{6CF9B80F-76AA-4EB0-B04B-FA5A0A2DC006}"/>
              </a:ext>
            </a:extLst>
          </p:cNvPr>
          <p:cNvSpPr>
            <a:spLocks xmlns:a="http://schemas.openxmlformats.org/drawingml/2006/main" noGrp="1"/>
          </p:cNvSpPr>
          <p:nvPr/>
        </p:nvSpPr>
        <p:spPr>
          <a:xfrm xmlns:a="http://schemas.openxmlformats.org/drawingml/2006/main">
            <a:off x="2872468" y="3529693"/>
            <a:ext cx="1541689" cy="630691"/>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2" name="Diagram label: Plant leaves">
            <a:extLst xmlns:a="http://schemas.openxmlformats.org/drawingml/2006/main">
              <a:ext uri="{FF2B5EF4-FFF2-40B4-BE49-F238E27FC236}">
                <a16:creationId xmlns:a16="http://schemas.microsoft.com/office/drawing/2014/main" id="{7D5CD443-7672-4D5D-A766-3DA8655FC260}"/>
              </a:ext>
            </a:extLst>
          </p:cNvPr>
          <p:cNvSpPr>
            <a:spLocks xmlns:a="http://schemas.openxmlformats.org/drawingml/2006/main" noGrp="1"/>
          </p:cNvSpPr>
          <p:nvPr/>
        </p:nvSpPr>
        <p:spPr>
          <a:xfrm xmlns:a="http://schemas.openxmlformats.org/drawingml/2006/main">
            <a:off x="2928529" y="3669846"/>
            <a:ext cx="1429566"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Plant leaves</a:t>
            </a:r>
          </a:p>
        </p:txBody>
      </p:sp>
      <p:sp>
        <p:nvSpPr>
          <p:cNvPr id="13" name="Editable scientific diagram">
            <a:extLst xmlns:a="http://schemas.openxmlformats.org/drawingml/2006/main">
              <a:ext uri="{FF2B5EF4-FFF2-40B4-BE49-F238E27FC236}">
                <a16:creationId xmlns:a16="http://schemas.microsoft.com/office/drawing/2014/main" id="{BFA9608A-9663-4F17-8B09-18286C2F431F}"/>
              </a:ext>
            </a:extLst>
          </p:cNvPr>
          <p:cNvSpPr>
            <a:spLocks xmlns:a="http://schemas.openxmlformats.org/drawingml/2006/main" noGrp="1"/>
          </p:cNvSpPr>
          <p:nvPr/>
        </p:nvSpPr>
        <p:spPr>
          <a:xfrm xmlns:a="http://schemas.openxmlformats.org/drawingml/2006/main">
            <a:off x="5149963" y="2548618"/>
            <a:ext cx="1751920" cy="630691"/>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4" name="Diagram label: Caterpillars">
            <a:extLst xmlns:a="http://schemas.openxmlformats.org/drawingml/2006/main">
              <a:ext uri="{FF2B5EF4-FFF2-40B4-BE49-F238E27FC236}">
                <a16:creationId xmlns:a16="http://schemas.microsoft.com/office/drawing/2014/main" id="{71E2207A-B3F7-466E-9586-FC52E70B4605}"/>
              </a:ext>
            </a:extLst>
          </p:cNvPr>
          <p:cNvSpPr>
            <a:spLocks xmlns:a="http://schemas.openxmlformats.org/drawingml/2006/main" noGrp="1"/>
          </p:cNvSpPr>
          <p:nvPr/>
        </p:nvSpPr>
        <p:spPr>
          <a:xfrm xmlns:a="http://schemas.openxmlformats.org/drawingml/2006/main">
            <a:off x="5206025" y="2688771"/>
            <a:ext cx="1639797"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Caterpillars</a:t>
            </a:r>
          </a:p>
        </p:txBody>
      </p:sp>
      <p:sp>
        <p:nvSpPr>
          <p:cNvPr id="15" name="Editable scientific diagram">
            <a:extLst xmlns:a="http://schemas.openxmlformats.org/drawingml/2006/main">
              <a:ext uri="{FF2B5EF4-FFF2-40B4-BE49-F238E27FC236}">
                <a16:creationId xmlns:a16="http://schemas.microsoft.com/office/drawing/2014/main" id="{E577CA23-D59A-464F-BEC5-2814F0AFF13C}"/>
              </a:ext>
            </a:extLst>
          </p:cNvPr>
          <p:cNvSpPr>
            <a:spLocks xmlns:a="http://schemas.openxmlformats.org/drawingml/2006/main" noGrp="1"/>
          </p:cNvSpPr>
          <p:nvPr/>
        </p:nvSpPr>
        <p:spPr>
          <a:xfrm xmlns:a="http://schemas.openxmlformats.org/drawingml/2006/main">
            <a:off x="5149963" y="4440691"/>
            <a:ext cx="1751920" cy="630691"/>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6" name="Diagram label: Aphids">
            <a:extLst xmlns:a="http://schemas.openxmlformats.org/drawingml/2006/main">
              <a:ext uri="{FF2B5EF4-FFF2-40B4-BE49-F238E27FC236}">
                <a16:creationId xmlns:a16="http://schemas.microsoft.com/office/drawing/2014/main" id="{6EAE5D3A-C3BA-466F-93FF-2A12FCA3105E}"/>
              </a:ext>
            </a:extLst>
          </p:cNvPr>
          <p:cNvSpPr>
            <a:spLocks xmlns:a="http://schemas.openxmlformats.org/drawingml/2006/main" noGrp="1"/>
          </p:cNvSpPr>
          <p:nvPr/>
        </p:nvSpPr>
        <p:spPr>
          <a:xfrm xmlns:a="http://schemas.openxmlformats.org/drawingml/2006/main">
            <a:off x="5206025" y="4580845"/>
            <a:ext cx="1639797"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Aphids</a:t>
            </a:r>
          </a:p>
        </p:txBody>
      </p:sp>
      <p:sp>
        <p:nvSpPr>
          <p:cNvPr id="17" name="Editable scientific diagram">
            <a:extLst xmlns:a="http://schemas.openxmlformats.org/drawingml/2006/main">
              <a:ext uri="{FF2B5EF4-FFF2-40B4-BE49-F238E27FC236}">
                <a16:creationId xmlns:a16="http://schemas.microsoft.com/office/drawing/2014/main" id="{2194D84B-9671-493E-A17B-53AFC014B061}"/>
              </a:ext>
            </a:extLst>
          </p:cNvPr>
          <p:cNvSpPr>
            <a:spLocks xmlns:a="http://schemas.openxmlformats.org/drawingml/2006/main" noGrp="1"/>
          </p:cNvSpPr>
          <p:nvPr/>
        </p:nvSpPr>
        <p:spPr>
          <a:xfrm xmlns:a="http://schemas.openxmlformats.org/drawingml/2006/main">
            <a:off x="7637689" y="4440691"/>
            <a:ext cx="1681843" cy="630691"/>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8" name="Diagram label: Ladybirds">
            <a:extLst xmlns:a="http://schemas.openxmlformats.org/drawingml/2006/main">
              <a:ext uri="{FF2B5EF4-FFF2-40B4-BE49-F238E27FC236}">
                <a16:creationId xmlns:a16="http://schemas.microsoft.com/office/drawing/2014/main" id="{1B4883AC-EC75-403E-AFB9-68A0328665AB}"/>
              </a:ext>
            </a:extLst>
          </p:cNvPr>
          <p:cNvSpPr>
            <a:spLocks xmlns:a="http://schemas.openxmlformats.org/drawingml/2006/main" noGrp="1"/>
          </p:cNvSpPr>
          <p:nvPr/>
        </p:nvSpPr>
        <p:spPr>
          <a:xfrm xmlns:a="http://schemas.openxmlformats.org/drawingml/2006/main">
            <a:off x="7693751" y="4580845"/>
            <a:ext cx="1569720"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Ladybirds</a:t>
            </a:r>
          </a:p>
        </p:txBody>
      </p:sp>
      <p:sp>
        <p:nvSpPr>
          <p:cNvPr id="19" name="Editable scientific diagram">
            <a:extLst xmlns:a="http://schemas.openxmlformats.org/drawingml/2006/main">
              <a:ext uri="{FF2B5EF4-FFF2-40B4-BE49-F238E27FC236}">
                <a16:creationId xmlns:a16="http://schemas.microsoft.com/office/drawing/2014/main" id="{E74DF60D-35FC-4212-817D-132F8F779221}"/>
              </a:ext>
            </a:extLst>
          </p:cNvPr>
          <p:cNvSpPr>
            <a:spLocks xmlns:a="http://schemas.openxmlformats.org/drawingml/2006/main" noGrp="1"/>
          </p:cNvSpPr>
          <p:nvPr/>
        </p:nvSpPr>
        <p:spPr>
          <a:xfrm xmlns:a="http://schemas.openxmlformats.org/drawingml/2006/main">
            <a:off x="7637689" y="2548618"/>
            <a:ext cx="1681843" cy="630691"/>
          </a:xfrm>
          <a:prstGeom xmlns:a="http://schemas.openxmlformats.org/drawingml/2006/main" prst="rect">
            <a:avLst/>
          </a:prstGeom>
          <a:solidFill xmlns:a="http://schemas.openxmlformats.org/drawingml/2006/main">
            <a:srgbClr val="EFF7F3"/>
          </a:solidFill>
          <a:ln xmlns:a="http://schemas.openxmlformats.org/drawingml/2006/main" w="21023">
            <a:solidFill>
              <a:srgbClr val="7A5C9E"/>
            </a:solidFill>
          </a:ln>
        </p:spPr>
      </p:sp>
      <p:sp>
        <p:nvSpPr>
          <p:cNvPr id="20" name="Diagram label: Blue tits">
            <a:extLst xmlns:a="http://schemas.openxmlformats.org/drawingml/2006/main">
              <a:ext uri="{FF2B5EF4-FFF2-40B4-BE49-F238E27FC236}">
                <a16:creationId xmlns:a16="http://schemas.microsoft.com/office/drawing/2014/main" id="{18B9C620-4E17-4AD0-B1D4-9C3FAB17BC9E}"/>
              </a:ext>
            </a:extLst>
          </p:cNvPr>
          <p:cNvSpPr>
            <a:spLocks xmlns:a="http://schemas.openxmlformats.org/drawingml/2006/main" noGrp="1"/>
          </p:cNvSpPr>
          <p:nvPr/>
        </p:nvSpPr>
        <p:spPr>
          <a:xfrm xmlns:a="http://schemas.openxmlformats.org/drawingml/2006/main">
            <a:off x="7693751" y="2688771"/>
            <a:ext cx="1569720"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Blue tits</a:t>
            </a:r>
          </a:p>
        </p:txBody>
      </p:sp>
      <p:sp>
        <p:nvSpPr>
          <p:cNvPr id="21" name="Diagram line">
            <a:extLst xmlns:a="http://schemas.openxmlformats.org/drawingml/2006/main">
              <a:ext uri="{FF2B5EF4-FFF2-40B4-BE49-F238E27FC236}">
                <a16:creationId xmlns:a16="http://schemas.microsoft.com/office/drawing/2014/main" id="{E85B3763-F60A-49B4-B0A4-53FEF1981A6E}"/>
              </a:ext>
            </a:extLst>
          </p:cNvPr>
          <p:cNvSpPr>
            <a:spLocks xmlns:a="http://schemas.openxmlformats.org/drawingml/2006/main" noGrp="1"/>
          </p:cNvSpPr>
          <p:nvPr/>
        </p:nvSpPr>
        <p:spPr>
          <a:xfrm xmlns:a="http://schemas.openxmlformats.org/drawingml/2006/main" flipH="0" flipV="1">
            <a:off x="4414157" y="3054796"/>
            <a:ext cx="647422" cy="615051"/>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22" name="Diagram arrowhead">
            <a:extLst xmlns:a="http://schemas.openxmlformats.org/drawingml/2006/main">
              <a:ext uri="{FF2B5EF4-FFF2-40B4-BE49-F238E27FC236}">
                <a16:creationId xmlns:a16="http://schemas.microsoft.com/office/drawing/2014/main" id="{20FB1234-2B0E-4C7F-9D8D-DFDF54FA2C72}"/>
              </a:ext>
            </a:extLst>
          </p:cNvPr>
          <p:cNvSpPr>
            <a:spLocks xmlns:a="http://schemas.openxmlformats.org/drawingml/2006/main" noGrp="1"/>
          </p:cNvSpPr>
          <p:nvPr/>
        </p:nvSpPr>
        <p:spPr>
          <a:xfrm xmlns:a="http://schemas.openxmlformats.org/drawingml/2006/main" rot="2788128">
            <a:off x="5030307" y="2988849"/>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3" name="Diagram line">
            <a:extLst xmlns:a="http://schemas.openxmlformats.org/drawingml/2006/main">
              <a:ext uri="{FF2B5EF4-FFF2-40B4-BE49-F238E27FC236}">
                <a16:creationId xmlns:a16="http://schemas.microsoft.com/office/drawing/2014/main" id="{E0E092B8-447C-4A26-83B9-F23C3B153409}"/>
              </a:ext>
            </a:extLst>
          </p:cNvPr>
          <p:cNvSpPr>
            <a:spLocks xmlns:a="http://schemas.openxmlformats.org/drawingml/2006/main" noGrp="1"/>
          </p:cNvSpPr>
          <p:nvPr/>
        </p:nvSpPr>
        <p:spPr>
          <a:xfrm xmlns:a="http://schemas.openxmlformats.org/drawingml/2006/main" flipH="0" flipV="0">
            <a:off x="4414157" y="4020230"/>
            <a:ext cx="646076" cy="581468"/>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24" name="Diagram arrowhead">
            <a:extLst xmlns:a="http://schemas.openxmlformats.org/drawingml/2006/main">
              <a:ext uri="{FF2B5EF4-FFF2-40B4-BE49-F238E27FC236}">
                <a16:creationId xmlns:a16="http://schemas.microsoft.com/office/drawing/2014/main" id="{BD75DD40-E1EC-4226-8457-DF475C3DE8F4}"/>
              </a:ext>
            </a:extLst>
          </p:cNvPr>
          <p:cNvSpPr>
            <a:spLocks xmlns:a="http://schemas.openxmlformats.org/drawingml/2006/main" noGrp="1"/>
          </p:cNvSpPr>
          <p:nvPr/>
        </p:nvSpPr>
        <p:spPr>
          <a:xfrm xmlns:a="http://schemas.openxmlformats.org/drawingml/2006/main" rot="7919233">
            <a:off x="5029410" y="4569052"/>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5" name="Diagram line">
            <a:extLst xmlns:a="http://schemas.openxmlformats.org/drawingml/2006/main">
              <a:ext uri="{FF2B5EF4-FFF2-40B4-BE49-F238E27FC236}">
                <a16:creationId xmlns:a16="http://schemas.microsoft.com/office/drawing/2014/main" id="{D2A88287-8A0B-47E5-A624-08F0FBE02227}"/>
              </a:ext>
            </a:extLst>
          </p:cNvPr>
          <p:cNvSpPr>
            <a:spLocks xmlns:a="http://schemas.openxmlformats.org/drawingml/2006/main" noGrp="1"/>
          </p:cNvSpPr>
          <p:nvPr/>
        </p:nvSpPr>
        <p:spPr>
          <a:xfrm xmlns:a="http://schemas.openxmlformats.org/drawingml/2006/main" flipH="0" flipV="0">
            <a:off x="6936921" y="2863963"/>
            <a:ext cx="592149"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26" name="Diagram arrowhead">
            <a:extLst xmlns:a="http://schemas.openxmlformats.org/drawingml/2006/main">
              <a:ext uri="{FF2B5EF4-FFF2-40B4-BE49-F238E27FC236}">
                <a16:creationId xmlns:a16="http://schemas.microsoft.com/office/drawing/2014/main" id="{B60C9485-921D-43C9-AEFB-3254DF2400A1}"/>
              </a:ext>
            </a:extLst>
          </p:cNvPr>
          <p:cNvSpPr>
            <a:spLocks xmlns:a="http://schemas.openxmlformats.org/drawingml/2006/main" noGrp="1"/>
          </p:cNvSpPr>
          <p:nvPr/>
        </p:nvSpPr>
        <p:spPr>
          <a:xfrm xmlns:a="http://schemas.openxmlformats.org/drawingml/2006/main" rot="5400000">
            <a:off x="7504543" y="2814910"/>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7" name="Diagram line">
            <a:extLst xmlns:a="http://schemas.openxmlformats.org/drawingml/2006/main">
              <a:ext uri="{FF2B5EF4-FFF2-40B4-BE49-F238E27FC236}">
                <a16:creationId xmlns:a16="http://schemas.microsoft.com/office/drawing/2014/main" id="{37C7DDF9-6B6E-40C7-AB8C-3F71549DD1DB}"/>
              </a:ext>
            </a:extLst>
          </p:cNvPr>
          <p:cNvSpPr>
            <a:spLocks xmlns:a="http://schemas.openxmlformats.org/drawingml/2006/main" noGrp="1"/>
          </p:cNvSpPr>
          <p:nvPr/>
        </p:nvSpPr>
        <p:spPr>
          <a:xfrm xmlns:a="http://schemas.openxmlformats.org/drawingml/2006/main" flipH="0" flipV="0">
            <a:off x="6936921" y="4756037"/>
            <a:ext cx="592149"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28" name="Diagram arrowhead">
            <a:extLst xmlns:a="http://schemas.openxmlformats.org/drawingml/2006/main">
              <a:ext uri="{FF2B5EF4-FFF2-40B4-BE49-F238E27FC236}">
                <a16:creationId xmlns:a16="http://schemas.microsoft.com/office/drawing/2014/main" id="{7EFB3B8C-140E-40E9-8FF8-6B3D9CAD7B91}"/>
              </a:ext>
            </a:extLst>
          </p:cNvPr>
          <p:cNvSpPr>
            <a:spLocks xmlns:a="http://schemas.openxmlformats.org/drawingml/2006/main" noGrp="1"/>
          </p:cNvSpPr>
          <p:nvPr/>
        </p:nvSpPr>
        <p:spPr>
          <a:xfrm xmlns:a="http://schemas.openxmlformats.org/drawingml/2006/main" rot="5400000">
            <a:off x="7504543" y="4706983"/>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9" name="Diagram line">
            <a:extLst xmlns:a="http://schemas.openxmlformats.org/drawingml/2006/main">
              <a:ext uri="{FF2B5EF4-FFF2-40B4-BE49-F238E27FC236}">
                <a16:creationId xmlns:a16="http://schemas.microsoft.com/office/drawing/2014/main" id="{0EC3C763-BE2E-4380-98DF-176B2E9F964E}"/>
              </a:ext>
            </a:extLst>
          </p:cNvPr>
          <p:cNvSpPr>
            <a:spLocks xmlns:a="http://schemas.openxmlformats.org/drawingml/2006/main" noGrp="1"/>
          </p:cNvSpPr>
          <p:nvPr/>
        </p:nvSpPr>
        <p:spPr>
          <a:xfrm xmlns:a="http://schemas.openxmlformats.org/drawingml/2006/main" flipH="0" flipV="1">
            <a:off x="6166077" y="3256878"/>
            <a:ext cx="1621799" cy="1148774"/>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30" name="Diagram arrowhead">
            <a:extLst xmlns:a="http://schemas.openxmlformats.org/drawingml/2006/main">
              <a:ext uri="{FF2B5EF4-FFF2-40B4-BE49-F238E27FC236}">
                <a16:creationId xmlns:a16="http://schemas.microsoft.com/office/drawing/2014/main" id="{BC29398C-2E27-4E62-AACC-911FBE402EF7}"/>
              </a:ext>
            </a:extLst>
          </p:cNvPr>
          <p:cNvSpPr>
            <a:spLocks xmlns:a="http://schemas.openxmlformats.org/drawingml/2006/main" noGrp="1"/>
          </p:cNvSpPr>
          <p:nvPr/>
        </p:nvSpPr>
        <p:spPr>
          <a:xfrm xmlns:a="http://schemas.openxmlformats.org/drawingml/2006/main" rot="3281327">
            <a:off x="7758837" y="3193647"/>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31" name="Diagram label: Selected garden feeding links; arrows carry energy and material.">
            <a:extLst xmlns:a="http://schemas.openxmlformats.org/drawingml/2006/main">
              <a:ext uri="{FF2B5EF4-FFF2-40B4-BE49-F238E27FC236}">
                <a16:creationId xmlns:a16="http://schemas.microsoft.com/office/drawing/2014/main" id="{B23A1082-7BD8-4DA4-855A-8A912DA5D5D1}"/>
              </a:ext>
            </a:extLst>
          </p:cNvPr>
          <p:cNvSpPr>
            <a:spLocks xmlns:a="http://schemas.openxmlformats.org/drawingml/2006/main" noGrp="1"/>
          </p:cNvSpPr>
          <p:nvPr/>
        </p:nvSpPr>
        <p:spPr>
          <a:xfrm xmlns:a="http://schemas.openxmlformats.org/drawingml/2006/main">
            <a:off x="2907506" y="5281613"/>
            <a:ext cx="6376988"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Selected garden feeding links; arrows carry energy and material.</a:t>
            </a:r>
          </a:p>
        </p:txBody>
      </p:sp>
      <p:sp>
        <p:nvSpPr>
          <p:cNvPr id="32" name="Leaf → aphid means the aphid feeds on the plant.  Arrows show fo">
            <a:extLst xmlns:a="http://schemas.openxmlformats.org/drawingml/2006/main">
              <a:ext uri="{FF2B5EF4-FFF2-40B4-BE49-F238E27FC236}">
                <a16:creationId xmlns:a16="http://schemas.microsoft.com/office/drawing/2014/main" id="{CB3E9975-C178-4D6F-A5B7-2A25DDF57C0B}"/>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Leaf → aphid means the aphid feeds on the plant. Arrows show food-to-consumer transfer. A web joins</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several feeding routes.</a:t>
            </a:r>
          </a:p>
        </p:txBody>
      </p:sp>
    </p:spTree>
    <p:extLst>
      <p:ext uri="{BB962C8B-B14F-4D97-AF65-F5344CB8AC3E}">
        <p14:creationId xmlns:p14="http://schemas.microsoft.com/office/powerpoint/2010/main" val="20841029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urface">
            <a:extLst xmlns:a="http://schemas.openxmlformats.org/drawingml/2006/main">
              <a:ext uri="{FF2B5EF4-FFF2-40B4-BE49-F238E27FC236}">
                <a16:creationId xmlns:a16="http://schemas.microsoft.com/office/drawing/2014/main" id="{216B31FD-D2E8-47A0-B969-25ABC5CA124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B392B34-22F2-4B6F-8878-92BC3E60363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1505834-BB78-48A6-B51B-78B7ED5F295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1AE8D9CC-B9DB-4B92-816B-B2E20FBD0D9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9E6B9CB9-F17D-4499-9F7F-ED6C86C4BA6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count species separately from individuals">
            <a:extLst xmlns:a="http://schemas.openxmlformats.org/drawingml/2006/main">
              <a:ext uri="{FF2B5EF4-FFF2-40B4-BE49-F238E27FC236}">
                <a16:creationId xmlns:a16="http://schemas.microsoft.com/office/drawing/2014/main" id="{9E1A4366-260D-4F6A-8DD2-AEE690B3AF5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count species separately from individuals</a:t>
            </a:r>
          </a:p>
        </p:txBody>
      </p:sp>
      <p:sp>
        <p:nvSpPr>
          <p:cNvPr id="7" name="surface">
            <a:extLst xmlns:a="http://schemas.openxmlformats.org/drawingml/2006/main">
              <a:ext uri="{FF2B5EF4-FFF2-40B4-BE49-F238E27FC236}">
                <a16:creationId xmlns:a16="http://schemas.microsoft.com/office/drawing/2014/main" id="{7214917B-43BA-4B2C-9D90-B6B75D7B425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DCA89CA3-FEB3-482B-BC4E-174F2D3F42F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5 / 15">
            <a:extLst xmlns:a="http://schemas.openxmlformats.org/drawingml/2006/main">
              <a:ext uri="{FF2B5EF4-FFF2-40B4-BE49-F238E27FC236}">
                <a16:creationId xmlns:a16="http://schemas.microsoft.com/office/drawing/2014/main" id="{7E6A0D62-0528-4EEB-8548-C1F7FA47BDA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0" name="Diagram label: Equal totals can hide different richness">
            <a:extLst xmlns:a="http://schemas.openxmlformats.org/drawingml/2006/main">
              <a:ext uri="{FF2B5EF4-FFF2-40B4-BE49-F238E27FC236}">
                <a16:creationId xmlns:a16="http://schemas.microsoft.com/office/drawing/2014/main" id="{3C19991E-58E7-4D67-9185-FCABADD8BB57}"/>
              </a:ext>
            </a:extLst>
          </p:cNvPr>
          <p:cNvSpPr>
            <a:spLocks xmlns:a="http://schemas.openxmlformats.org/drawingml/2006/main" noGrp="1"/>
          </p:cNvSpPr>
          <p:nvPr/>
        </p:nvSpPr>
        <p:spPr>
          <a:xfrm xmlns:a="http://schemas.openxmlformats.org/drawingml/2006/main">
            <a:off x="2802391" y="1952965"/>
            <a:ext cx="6587218"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Equal totals can hide different richness</a:t>
            </a:r>
          </a:p>
        </p:txBody>
      </p:sp>
      <p:sp>
        <p:nvSpPr>
          <p:cNvPr id="11" name="Diagram label: Patch A">
            <a:extLst xmlns:a="http://schemas.openxmlformats.org/drawingml/2006/main">
              <a:ext uri="{FF2B5EF4-FFF2-40B4-BE49-F238E27FC236}">
                <a16:creationId xmlns:a16="http://schemas.microsoft.com/office/drawing/2014/main" id="{B6478B33-D857-4892-A229-5051F721202F}"/>
              </a:ext>
            </a:extLst>
          </p:cNvPr>
          <p:cNvSpPr>
            <a:spLocks xmlns:a="http://schemas.openxmlformats.org/drawingml/2006/main" noGrp="1"/>
          </p:cNvSpPr>
          <p:nvPr/>
        </p:nvSpPr>
        <p:spPr>
          <a:xfrm xmlns:a="http://schemas.openxmlformats.org/drawingml/2006/main">
            <a:off x="4274004" y="2373426"/>
            <a:ext cx="210230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Patch A</a:t>
            </a:r>
          </a:p>
        </p:txBody>
      </p:sp>
      <p:sp>
        <p:nvSpPr>
          <p:cNvPr id="12" name="Diagram label: Patch B">
            <a:extLst xmlns:a="http://schemas.openxmlformats.org/drawingml/2006/main">
              <a:ext uri="{FF2B5EF4-FFF2-40B4-BE49-F238E27FC236}">
                <a16:creationId xmlns:a16="http://schemas.microsoft.com/office/drawing/2014/main" id="{2E11FA34-2381-4CAD-876D-3375044DA26F}"/>
              </a:ext>
            </a:extLst>
          </p:cNvPr>
          <p:cNvSpPr>
            <a:spLocks xmlns:a="http://schemas.openxmlformats.org/drawingml/2006/main" noGrp="1"/>
          </p:cNvSpPr>
          <p:nvPr/>
        </p:nvSpPr>
        <p:spPr>
          <a:xfrm xmlns:a="http://schemas.openxmlformats.org/drawingml/2006/main">
            <a:off x="6901883" y="2373426"/>
            <a:ext cx="210230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Patch B</a:t>
            </a:r>
          </a:p>
        </p:txBody>
      </p:sp>
      <p:sp>
        <p:nvSpPr>
          <p:cNvPr id="13" name="Diagram label: Daisy">
            <a:extLst xmlns:a="http://schemas.openxmlformats.org/drawingml/2006/main">
              <a:ext uri="{FF2B5EF4-FFF2-40B4-BE49-F238E27FC236}">
                <a16:creationId xmlns:a16="http://schemas.microsoft.com/office/drawing/2014/main" id="{7AB57760-111E-4C4A-B981-E7EBBE6A9F52}"/>
              </a:ext>
            </a:extLst>
          </p:cNvPr>
          <p:cNvSpPr>
            <a:spLocks xmlns:a="http://schemas.openxmlformats.org/drawingml/2006/main" noGrp="1"/>
          </p:cNvSpPr>
          <p:nvPr/>
        </p:nvSpPr>
        <p:spPr>
          <a:xfrm xmlns:a="http://schemas.openxmlformats.org/drawingml/2006/main">
            <a:off x="2837429" y="2884986"/>
            <a:ext cx="1261382"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Daisy</a:t>
            </a:r>
          </a:p>
        </p:txBody>
      </p:sp>
      <p:sp>
        <p:nvSpPr>
          <p:cNvPr id="14" name="Editable scientific diagram">
            <a:extLst xmlns:a="http://schemas.openxmlformats.org/drawingml/2006/main">
              <a:ext uri="{FF2B5EF4-FFF2-40B4-BE49-F238E27FC236}">
                <a16:creationId xmlns:a16="http://schemas.microsoft.com/office/drawing/2014/main" id="{884714DF-073A-46CE-BAFE-C4024069589D}"/>
              </a:ext>
            </a:extLst>
          </p:cNvPr>
          <p:cNvSpPr>
            <a:spLocks xmlns:a="http://schemas.openxmlformats.org/drawingml/2006/main" noGrp="1"/>
          </p:cNvSpPr>
          <p:nvPr/>
        </p:nvSpPr>
        <p:spPr>
          <a:xfrm xmlns:a="http://schemas.openxmlformats.org/drawingml/2006/main">
            <a:off x="4379119" y="2884986"/>
            <a:ext cx="1681843" cy="266292"/>
          </a:xfrm>
          <a:prstGeom xmlns:a="http://schemas.openxmlformats.org/drawingml/2006/main" prst="rect">
            <a:avLst/>
          </a:prstGeom>
          <a:solidFill xmlns:a="http://schemas.openxmlformats.org/drawingml/2006/main">
            <a:srgbClr val="C9803B"/>
          </a:solidFill>
          <a:ln xmlns:a="http://schemas.openxmlformats.org/drawingml/2006/main" w="21023">
            <a:solidFill>
              <a:srgbClr val="C9803B"/>
            </a:solidFill>
          </a:ln>
        </p:spPr>
      </p:sp>
      <p:sp>
        <p:nvSpPr>
          <p:cNvPr id="15" name="Diagram label: 16">
            <a:extLst xmlns:a="http://schemas.openxmlformats.org/drawingml/2006/main">
              <a:ext uri="{FF2B5EF4-FFF2-40B4-BE49-F238E27FC236}">
                <a16:creationId xmlns:a16="http://schemas.microsoft.com/office/drawing/2014/main" id="{A1B9F138-CC68-4530-BDB4-757F542C47CD}"/>
              </a:ext>
            </a:extLst>
          </p:cNvPr>
          <p:cNvSpPr>
            <a:spLocks xmlns:a="http://schemas.openxmlformats.org/drawingml/2006/main" noGrp="1"/>
          </p:cNvSpPr>
          <p:nvPr/>
        </p:nvSpPr>
        <p:spPr>
          <a:xfrm xmlns:a="http://schemas.openxmlformats.org/drawingml/2006/main">
            <a:off x="6131038" y="2828925"/>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16</a:t>
            </a:r>
          </a:p>
        </p:txBody>
      </p:sp>
      <p:sp>
        <p:nvSpPr>
          <p:cNvPr id="16" name="Editable scientific diagram">
            <a:extLst xmlns:a="http://schemas.openxmlformats.org/drawingml/2006/main">
              <a:ext uri="{FF2B5EF4-FFF2-40B4-BE49-F238E27FC236}">
                <a16:creationId xmlns:a16="http://schemas.microsoft.com/office/drawing/2014/main" id="{A7B7DDD1-83F5-4CBD-A4BE-E0EDDA747F17}"/>
              </a:ext>
            </a:extLst>
          </p:cNvPr>
          <p:cNvSpPr>
            <a:spLocks xmlns:a="http://schemas.openxmlformats.org/drawingml/2006/main" noGrp="1"/>
          </p:cNvSpPr>
          <p:nvPr/>
        </p:nvSpPr>
        <p:spPr>
          <a:xfrm xmlns:a="http://schemas.openxmlformats.org/drawingml/2006/main">
            <a:off x="7042037" y="2884986"/>
            <a:ext cx="525576" cy="266292"/>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17" name="Diagram label: 5">
            <a:extLst xmlns:a="http://schemas.openxmlformats.org/drawingml/2006/main">
              <a:ext uri="{FF2B5EF4-FFF2-40B4-BE49-F238E27FC236}">
                <a16:creationId xmlns:a16="http://schemas.microsoft.com/office/drawing/2014/main" id="{C121419D-9D59-4C68-8933-225ED9C7DD95}"/>
              </a:ext>
            </a:extLst>
          </p:cNvPr>
          <p:cNvSpPr>
            <a:spLocks xmlns:a="http://schemas.openxmlformats.org/drawingml/2006/main" noGrp="1"/>
          </p:cNvSpPr>
          <p:nvPr/>
        </p:nvSpPr>
        <p:spPr>
          <a:xfrm xmlns:a="http://schemas.openxmlformats.org/drawingml/2006/main">
            <a:off x="7637689" y="2828925"/>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5</a:t>
            </a:r>
          </a:p>
        </p:txBody>
      </p:sp>
      <p:sp>
        <p:nvSpPr>
          <p:cNvPr id="18" name="Diagram label: Clover">
            <a:extLst xmlns:a="http://schemas.openxmlformats.org/drawingml/2006/main">
              <a:ext uri="{FF2B5EF4-FFF2-40B4-BE49-F238E27FC236}">
                <a16:creationId xmlns:a16="http://schemas.microsoft.com/office/drawing/2014/main" id="{1A35D7C5-D448-4B37-9284-E6E03B274D84}"/>
              </a:ext>
            </a:extLst>
          </p:cNvPr>
          <p:cNvSpPr>
            <a:spLocks xmlns:a="http://schemas.openxmlformats.org/drawingml/2006/main" noGrp="1"/>
          </p:cNvSpPr>
          <p:nvPr/>
        </p:nvSpPr>
        <p:spPr>
          <a:xfrm xmlns:a="http://schemas.openxmlformats.org/drawingml/2006/main">
            <a:off x="2837429" y="3417570"/>
            <a:ext cx="1261382"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Clover</a:t>
            </a:r>
          </a:p>
        </p:txBody>
      </p:sp>
      <p:sp>
        <p:nvSpPr>
          <p:cNvPr id="19" name="Editable scientific diagram">
            <a:extLst xmlns:a="http://schemas.openxmlformats.org/drawingml/2006/main">
              <a:ext uri="{FF2B5EF4-FFF2-40B4-BE49-F238E27FC236}">
                <a16:creationId xmlns:a16="http://schemas.microsoft.com/office/drawing/2014/main" id="{522ED723-E8BD-4619-AB2A-29770E27FEFC}"/>
              </a:ext>
            </a:extLst>
          </p:cNvPr>
          <p:cNvSpPr>
            <a:spLocks xmlns:a="http://schemas.openxmlformats.org/drawingml/2006/main" noGrp="1"/>
          </p:cNvSpPr>
          <p:nvPr/>
        </p:nvSpPr>
        <p:spPr>
          <a:xfrm xmlns:a="http://schemas.openxmlformats.org/drawingml/2006/main">
            <a:off x="4379119" y="3417570"/>
            <a:ext cx="420461" cy="266292"/>
          </a:xfrm>
          <a:prstGeom xmlns:a="http://schemas.openxmlformats.org/drawingml/2006/main" prst="rect">
            <a:avLst/>
          </a:prstGeom>
          <a:solidFill xmlns:a="http://schemas.openxmlformats.org/drawingml/2006/main">
            <a:srgbClr val="C9803B"/>
          </a:solidFill>
          <a:ln xmlns:a="http://schemas.openxmlformats.org/drawingml/2006/main" w="21023">
            <a:solidFill>
              <a:srgbClr val="C9803B"/>
            </a:solidFill>
          </a:ln>
        </p:spPr>
      </p:sp>
      <p:sp>
        <p:nvSpPr>
          <p:cNvPr id="20" name="Diagram label: 4">
            <a:extLst xmlns:a="http://schemas.openxmlformats.org/drawingml/2006/main">
              <a:ext uri="{FF2B5EF4-FFF2-40B4-BE49-F238E27FC236}">
                <a16:creationId xmlns:a16="http://schemas.microsoft.com/office/drawing/2014/main" id="{BAADDE54-19F2-4069-A819-6ACBD5348071}"/>
              </a:ext>
            </a:extLst>
          </p:cNvPr>
          <p:cNvSpPr>
            <a:spLocks xmlns:a="http://schemas.openxmlformats.org/drawingml/2006/main" noGrp="1"/>
          </p:cNvSpPr>
          <p:nvPr/>
        </p:nvSpPr>
        <p:spPr>
          <a:xfrm xmlns:a="http://schemas.openxmlformats.org/drawingml/2006/main">
            <a:off x="4869656" y="3361509"/>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4</a:t>
            </a:r>
          </a:p>
        </p:txBody>
      </p:sp>
      <p:sp>
        <p:nvSpPr>
          <p:cNvPr id="21" name="Editable scientific diagram">
            <a:extLst xmlns:a="http://schemas.openxmlformats.org/drawingml/2006/main">
              <a:ext uri="{FF2B5EF4-FFF2-40B4-BE49-F238E27FC236}">
                <a16:creationId xmlns:a16="http://schemas.microsoft.com/office/drawing/2014/main" id="{2E7814EB-FD7F-4733-B60E-1E95E4C99E4B}"/>
              </a:ext>
            </a:extLst>
          </p:cNvPr>
          <p:cNvSpPr>
            <a:spLocks xmlns:a="http://schemas.openxmlformats.org/drawingml/2006/main" noGrp="1"/>
          </p:cNvSpPr>
          <p:nvPr/>
        </p:nvSpPr>
        <p:spPr>
          <a:xfrm xmlns:a="http://schemas.openxmlformats.org/drawingml/2006/main">
            <a:off x="7042037" y="3417570"/>
            <a:ext cx="525576" cy="266292"/>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22" name="Diagram label: 5">
            <a:extLst xmlns:a="http://schemas.openxmlformats.org/drawingml/2006/main">
              <a:ext uri="{FF2B5EF4-FFF2-40B4-BE49-F238E27FC236}">
                <a16:creationId xmlns:a16="http://schemas.microsoft.com/office/drawing/2014/main" id="{C3AAD230-F893-4CDF-8C7C-F8B1004DFF4C}"/>
              </a:ext>
            </a:extLst>
          </p:cNvPr>
          <p:cNvSpPr>
            <a:spLocks xmlns:a="http://schemas.openxmlformats.org/drawingml/2006/main" noGrp="1"/>
          </p:cNvSpPr>
          <p:nvPr/>
        </p:nvSpPr>
        <p:spPr>
          <a:xfrm xmlns:a="http://schemas.openxmlformats.org/drawingml/2006/main">
            <a:off x="7637689" y="3361509"/>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5</a:t>
            </a:r>
          </a:p>
        </p:txBody>
      </p:sp>
      <p:sp>
        <p:nvSpPr>
          <p:cNvPr id="23" name="Diagram label: Dandelion">
            <a:extLst xmlns:a="http://schemas.openxmlformats.org/drawingml/2006/main">
              <a:ext uri="{FF2B5EF4-FFF2-40B4-BE49-F238E27FC236}">
                <a16:creationId xmlns:a16="http://schemas.microsoft.com/office/drawing/2014/main" id="{10C929FF-C2F8-4B79-9A02-A8C6A900682A}"/>
              </a:ext>
            </a:extLst>
          </p:cNvPr>
          <p:cNvSpPr>
            <a:spLocks xmlns:a="http://schemas.openxmlformats.org/drawingml/2006/main" noGrp="1"/>
          </p:cNvSpPr>
          <p:nvPr/>
        </p:nvSpPr>
        <p:spPr>
          <a:xfrm xmlns:a="http://schemas.openxmlformats.org/drawingml/2006/main">
            <a:off x="2837429" y="3950154"/>
            <a:ext cx="1261382"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Dandelion</a:t>
            </a:r>
          </a:p>
        </p:txBody>
      </p:sp>
      <p:sp>
        <p:nvSpPr>
          <p:cNvPr id="24" name="Diagram label: 0">
            <a:extLst xmlns:a="http://schemas.openxmlformats.org/drawingml/2006/main">
              <a:ext uri="{FF2B5EF4-FFF2-40B4-BE49-F238E27FC236}">
                <a16:creationId xmlns:a16="http://schemas.microsoft.com/office/drawing/2014/main" id="{F1C126B0-86E3-4011-92F1-04791A16BD0F}"/>
              </a:ext>
            </a:extLst>
          </p:cNvPr>
          <p:cNvSpPr>
            <a:spLocks xmlns:a="http://schemas.openxmlformats.org/drawingml/2006/main" noGrp="1"/>
          </p:cNvSpPr>
          <p:nvPr/>
        </p:nvSpPr>
        <p:spPr>
          <a:xfrm xmlns:a="http://schemas.openxmlformats.org/drawingml/2006/main">
            <a:off x="4449196" y="3894092"/>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0</a:t>
            </a:r>
          </a:p>
        </p:txBody>
      </p:sp>
      <p:sp>
        <p:nvSpPr>
          <p:cNvPr id="25" name="Editable scientific diagram">
            <a:extLst xmlns:a="http://schemas.openxmlformats.org/drawingml/2006/main">
              <a:ext uri="{FF2B5EF4-FFF2-40B4-BE49-F238E27FC236}">
                <a16:creationId xmlns:a16="http://schemas.microsoft.com/office/drawing/2014/main" id="{84CD86E1-6B36-4596-99BD-4CB053C24BA0}"/>
              </a:ext>
            </a:extLst>
          </p:cNvPr>
          <p:cNvSpPr>
            <a:spLocks xmlns:a="http://schemas.openxmlformats.org/drawingml/2006/main" noGrp="1"/>
          </p:cNvSpPr>
          <p:nvPr/>
        </p:nvSpPr>
        <p:spPr>
          <a:xfrm xmlns:a="http://schemas.openxmlformats.org/drawingml/2006/main">
            <a:off x="7042037" y="3950154"/>
            <a:ext cx="525576" cy="266292"/>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26" name="Diagram label: 5">
            <a:extLst xmlns:a="http://schemas.openxmlformats.org/drawingml/2006/main">
              <a:ext uri="{FF2B5EF4-FFF2-40B4-BE49-F238E27FC236}">
                <a16:creationId xmlns:a16="http://schemas.microsoft.com/office/drawing/2014/main" id="{4BE83369-322B-4E11-806C-7D30973F6322}"/>
              </a:ext>
            </a:extLst>
          </p:cNvPr>
          <p:cNvSpPr>
            <a:spLocks xmlns:a="http://schemas.openxmlformats.org/drawingml/2006/main" noGrp="1"/>
          </p:cNvSpPr>
          <p:nvPr/>
        </p:nvSpPr>
        <p:spPr>
          <a:xfrm xmlns:a="http://schemas.openxmlformats.org/drawingml/2006/main">
            <a:off x="7637689" y="3894092"/>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5</a:t>
            </a:r>
          </a:p>
        </p:txBody>
      </p:sp>
      <p:sp>
        <p:nvSpPr>
          <p:cNvPr id="27" name="Diagram label: Plantain">
            <a:extLst xmlns:a="http://schemas.openxmlformats.org/drawingml/2006/main">
              <a:ext uri="{FF2B5EF4-FFF2-40B4-BE49-F238E27FC236}">
                <a16:creationId xmlns:a16="http://schemas.microsoft.com/office/drawing/2014/main" id="{B93B54DB-2656-455D-8E16-C92C185E6792}"/>
              </a:ext>
            </a:extLst>
          </p:cNvPr>
          <p:cNvSpPr>
            <a:spLocks xmlns:a="http://schemas.openxmlformats.org/drawingml/2006/main" noGrp="1"/>
          </p:cNvSpPr>
          <p:nvPr/>
        </p:nvSpPr>
        <p:spPr>
          <a:xfrm xmlns:a="http://schemas.openxmlformats.org/drawingml/2006/main">
            <a:off x="2837429" y="4482737"/>
            <a:ext cx="1261382"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Plantain</a:t>
            </a:r>
          </a:p>
        </p:txBody>
      </p:sp>
      <p:sp>
        <p:nvSpPr>
          <p:cNvPr id="28" name="Diagram label: 0">
            <a:extLst xmlns:a="http://schemas.openxmlformats.org/drawingml/2006/main">
              <a:ext uri="{FF2B5EF4-FFF2-40B4-BE49-F238E27FC236}">
                <a16:creationId xmlns:a16="http://schemas.microsoft.com/office/drawing/2014/main" id="{BC231843-24BE-46D4-B909-C2583ABB6489}"/>
              </a:ext>
            </a:extLst>
          </p:cNvPr>
          <p:cNvSpPr>
            <a:spLocks xmlns:a="http://schemas.openxmlformats.org/drawingml/2006/main" noGrp="1"/>
          </p:cNvSpPr>
          <p:nvPr/>
        </p:nvSpPr>
        <p:spPr>
          <a:xfrm xmlns:a="http://schemas.openxmlformats.org/drawingml/2006/main">
            <a:off x="4449196" y="4426676"/>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0</a:t>
            </a:r>
          </a:p>
        </p:txBody>
      </p:sp>
      <p:sp>
        <p:nvSpPr>
          <p:cNvPr id="29" name="Editable scientific diagram">
            <a:extLst xmlns:a="http://schemas.openxmlformats.org/drawingml/2006/main">
              <a:ext uri="{FF2B5EF4-FFF2-40B4-BE49-F238E27FC236}">
                <a16:creationId xmlns:a16="http://schemas.microsoft.com/office/drawing/2014/main" id="{23B1699D-984C-4F35-A1CA-2935EB52588E}"/>
              </a:ext>
            </a:extLst>
          </p:cNvPr>
          <p:cNvSpPr>
            <a:spLocks xmlns:a="http://schemas.openxmlformats.org/drawingml/2006/main" noGrp="1"/>
          </p:cNvSpPr>
          <p:nvPr/>
        </p:nvSpPr>
        <p:spPr>
          <a:xfrm xmlns:a="http://schemas.openxmlformats.org/drawingml/2006/main">
            <a:off x="7042037" y="4482737"/>
            <a:ext cx="525576" cy="266292"/>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30" name="Diagram label: 5">
            <a:extLst xmlns:a="http://schemas.openxmlformats.org/drawingml/2006/main">
              <a:ext uri="{FF2B5EF4-FFF2-40B4-BE49-F238E27FC236}">
                <a16:creationId xmlns:a16="http://schemas.microsoft.com/office/drawing/2014/main" id="{CFA434BF-FAD2-4C67-8BF9-8D517E88192F}"/>
              </a:ext>
            </a:extLst>
          </p:cNvPr>
          <p:cNvSpPr>
            <a:spLocks xmlns:a="http://schemas.openxmlformats.org/drawingml/2006/main" noGrp="1"/>
          </p:cNvSpPr>
          <p:nvPr/>
        </p:nvSpPr>
        <p:spPr>
          <a:xfrm xmlns:a="http://schemas.openxmlformats.org/drawingml/2006/main">
            <a:off x="7637689" y="4426676"/>
            <a:ext cx="45549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5</a:t>
            </a:r>
          </a:p>
        </p:txBody>
      </p:sp>
      <p:sp>
        <p:nvSpPr>
          <p:cNvPr id="31" name="Diagram label: Constructed data: one 1 m² sample per patch.&#10;Bar length shows number of individual plants; totals = 20 each.">
            <a:extLst xmlns:a="http://schemas.openxmlformats.org/drawingml/2006/main">
              <a:ext uri="{FF2B5EF4-FFF2-40B4-BE49-F238E27FC236}">
                <a16:creationId xmlns:a16="http://schemas.microsoft.com/office/drawing/2014/main" id="{79B7204B-BB0A-4859-A0EF-DB5114FC0F87}"/>
              </a:ext>
            </a:extLst>
          </p:cNvPr>
          <p:cNvSpPr>
            <a:spLocks xmlns:a="http://schemas.openxmlformats.org/drawingml/2006/main" noGrp="1"/>
          </p:cNvSpPr>
          <p:nvPr/>
        </p:nvSpPr>
        <p:spPr>
          <a:xfrm xmlns:a="http://schemas.openxmlformats.org/drawingml/2006/main">
            <a:off x="2837429" y="5036344"/>
            <a:ext cx="6517141" cy="595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Constructed data: one 1 m² sample per patch.</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Bar length shows number of individual plants; totals = 20 each.</a:t>
            </a:r>
          </a:p>
        </p:txBody>
      </p:sp>
      <p:sp>
        <p:nvSpPr>
          <p:cNvPr id="32" name="Abundance counts individuals.  Richness counts the different spe">
            <a:extLst xmlns:a="http://schemas.openxmlformats.org/drawingml/2006/main">
              <a:ext uri="{FF2B5EF4-FFF2-40B4-BE49-F238E27FC236}">
                <a16:creationId xmlns:a16="http://schemas.microsoft.com/office/drawing/2014/main" id="{F6B19F0B-D78E-4BF0-A6B6-71368BBF6998}"/>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Abundance counts individuals. Richness counts the different species present. Equal sample totals can have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different richness.</a:t>
            </a:r>
          </a:p>
        </p:txBody>
      </p:sp>
    </p:spTree>
    <p:extLst>
      <p:ext uri="{BB962C8B-B14F-4D97-AF65-F5344CB8AC3E}">
        <p14:creationId xmlns:p14="http://schemas.microsoft.com/office/powerpoint/2010/main" val="12980868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9F49C62-7AA5-465F-8760-E00A92916AB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95A707E-A95D-4AA7-BD0F-AB248652D04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1793BD0-0171-44E5-8CAC-51DD2C63433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5EE2B4A1-ED1D-4D57-B45D-0DD94CB5A41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F03B6BBC-A9DB-4AFB-B923-C739235A24F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8 min">
            <a:extLst xmlns:a="http://schemas.openxmlformats.org/drawingml/2006/main">
              <a:ext uri="{FF2B5EF4-FFF2-40B4-BE49-F238E27FC236}">
                <a16:creationId xmlns:a16="http://schemas.microsoft.com/office/drawing/2014/main" id="{C066ABEA-CE2C-44C3-93B2-905121A5F3A4}"/>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The garden evidence desk">
            <a:extLst xmlns:a="http://schemas.openxmlformats.org/drawingml/2006/main">
              <a:ext uri="{FF2B5EF4-FFF2-40B4-BE49-F238E27FC236}">
                <a16:creationId xmlns:a16="http://schemas.microsoft.com/office/drawing/2014/main" id="{567E9343-54AD-42B0-A2B2-D06BB8F83F3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garden evidence desk</a:t>
            </a:r>
          </a:p>
        </p:txBody>
      </p:sp>
      <p:sp>
        <p:nvSpPr>
          <p:cNvPr id="8" name="surface">
            <a:extLst xmlns:a="http://schemas.openxmlformats.org/drawingml/2006/main">
              <a:ext uri="{FF2B5EF4-FFF2-40B4-BE49-F238E27FC236}">
                <a16:creationId xmlns:a16="http://schemas.microsoft.com/office/drawing/2014/main" id="{C3415270-FF68-4B8D-8DD3-02A4EE170BC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A20C9BAE-D582-4EE8-A006-3C33C61F6A0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6 / 15">
            <a:extLst xmlns:a="http://schemas.openxmlformats.org/drawingml/2006/main">
              <a:ext uri="{FF2B5EF4-FFF2-40B4-BE49-F238E27FC236}">
                <a16:creationId xmlns:a16="http://schemas.microsoft.com/office/drawing/2014/main" id="{15A5BE6C-79A4-4A9C-AECB-F2E54F2CBD2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W1. Use card A to explain an ecosystem interaction. W2. Trace a ">
            <a:extLst xmlns:a="http://schemas.openxmlformats.org/drawingml/2006/main">
              <a:ext uri="{FF2B5EF4-FFF2-40B4-BE49-F238E27FC236}">
                <a16:creationId xmlns:a16="http://schemas.microsoft.com/office/drawing/2014/main" id="{57EBDFE7-3A90-49BE-9A5B-051909B4F15F}"/>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W1. Use card A to explain an ecosystem interaction. W2. Trace a possible effect of fewer aphids.</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W3. Compare counts without overclaiming.</a:t>
            </a:r>
          </a:p>
        </p:txBody>
      </p:sp>
      <p:graphicFrame>
        <p:nvGraphicFramePr>
          <p:cNvPr id="25" name=""/>
          <p:cNvGraphicFramePr/>
          <p:nvPr/>
        </p:nvGraphicFramePr>
        <p:xfrm>
          <a:off xmlns:a="http://schemas.openxmlformats.org/drawingml/2006/main" x="533400" y="2581275"/>
          <a:ext xmlns:a="http://schemas.openxmlformats.org/drawingml/2006/main" cx="11125200" cy="2526506"/>
        </p:xfrm>
        <a:graphic xmlns:a="http://schemas.openxmlformats.org/drawingml/2006/main">
          <a:graphicData uri="http://schemas.openxmlformats.org/drawingml/2006/table">
            <a:tbl>
              <a:tblPr firstRow="1" bandRow="0"/>
              <a:tblGrid>
                <a:gridCol w="3708400"/>
                <a:gridCol w="3708400"/>
                <a:gridCol w="3708400"/>
              </a:tblGrid>
              <a:tr h="505301">
                <a:tc>
                  <a:txBody>
                    <a:bodyPr lIns="95250" tIns="95250" rIns="95250" bIns="95250"/>
                    <a:lstStyle/>
                    <a:p>
                      <a:pPr algn="l"/>
                      <a:r>
                        <a:rPr sz="2025" b="1">
                          <a:solidFill>
                            <a:srgbClr val="FFFFFF"/>
                          </a:solidFill>
                          <a:latin typeface="Nimbus Sans"/>
                          <a:ea typeface="Nimbus Sans"/>
                          <a:cs typeface="Nimbus Sans"/>
                        </a:rPr>
                        <a:t>Species</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Patch A</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Patch B</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Daisy</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16</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5</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Clover</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4</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5</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Dandelion</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0</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5</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Plantain</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5</a:t>
                      </a:r>
                    </a:p>
                  </a:txBody>
                  <a:tcPr marL="95250" marR="95250" marT="95250" marB="95250" anchor="ctr">
                    <a:solidFill>
                      <a:srgbClr val="FFFFFF"/>
                    </a:solidFill>
                  </a:tcPr>
                </a:tc>
              </a:tr>
            </a:tbl>
          </a:graphicData>
        </a:graphic>
      </p:graphicFrame>
      <p:sp>
        <p:nvSpPr>
          <p:cNvPr id="13" name="Constructed data: one 1 m² sample in each patch. Counts are indi">
            <a:extLst xmlns:a="http://schemas.openxmlformats.org/drawingml/2006/main">
              <a:ext uri="{FF2B5EF4-FFF2-40B4-BE49-F238E27FC236}">
                <a16:creationId xmlns:a16="http://schemas.microsoft.com/office/drawing/2014/main" id="{C7DE7022-FD0B-47E7-8A73-ED89D998F9DD}"/>
              </a:ext>
            </a:extLst>
          </p:cNvPr>
          <p:cNvSpPr>
            <a:spLocks xmlns:a="http://schemas.openxmlformats.org/drawingml/2006/main" noGrp="1"/>
          </p:cNvSpPr>
          <p:nvPr/>
        </p:nvSpPr>
        <p:spPr>
          <a:xfrm xmlns:a="http://schemas.openxmlformats.org/drawingml/2006/main">
            <a:off x="533400" y="5222081"/>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data: one 1 m² sample in each patch. Counts are individual plants.</a:t>
            </a:r>
          </a:p>
        </p:txBody>
      </p:sp>
    </p:spTree>
    <p:extLst>
      <p:ext uri="{BB962C8B-B14F-4D97-AF65-F5344CB8AC3E}">
        <p14:creationId xmlns:p14="http://schemas.microsoft.com/office/powerpoint/2010/main" val="19245528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66BBF908-5B19-4483-BC59-F83907B62D4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FA93179-A4B6-466D-A0B7-3BE12E1883F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4643527-2C73-4AE5-805C-72C5DF0554D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9B90F8DC-D973-46DD-854E-F62ACD017F2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E298772C-4CF0-41E9-8E2E-8D3BE5FA1A0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Predict a possible knock-on effect">
            <a:extLst xmlns:a="http://schemas.openxmlformats.org/drawingml/2006/main">
              <a:ext uri="{FF2B5EF4-FFF2-40B4-BE49-F238E27FC236}">
                <a16:creationId xmlns:a16="http://schemas.microsoft.com/office/drawing/2014/main" id="{45CA83BA-B3DE-4AFC-BEFC-4CC89826592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Predict a possible knock-on effect</a:t>
            </a:r>
          </a:p>
        </p:txBody>
      </p:sp>
      <p:sp>
        <p:nvSpPr>
          <p:cNvPr id="7" name="surface">
            <a:extLst xmlns:a="http://schemas.openxmlformats.org/drawingml/2006/main">
              <a:ext uri="{FF2B5EF4-FFF2-40B4-BE49-F238E27FC236}">
                <a16:creationId xmlns:a16="http://schemas.microsoft.com/office/drawing/2014/main" id="{357BF1AA-09DC-4CC6-96FC-F49C109E5BD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BCC7395F-AC7F-4057-80A8-FB40A0C83EB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7 / 15">
            <a:extLst xmlns:a="http://schemas.openxmlformats.org/drawingml/2006/main">
              <a:ext uri="{FF2B5EF4-FFF2-40B4-BE49-F238E27FC236}">
                <a16:creationId xmlns:a16="http://schemas.microsoft.com/office/drawing/2014/main" id="{792AFFFB-DC7A-469E-AEFE-F96868D686E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0" name="Aphid abundance falls.">
            <a:extLst xmlns:a="http://schemas.openxmlformats.org/drawingml/2006/main">
              <a:ext uri="{FF2B5EF4-FFF2-40B4-BE49-F238E27FC236}">
                <a16:creationId xmlns:a16="http://schemas.microsoft.com/office/drawing/2014/main" id="{E944B791-8F39-44F5-8C52-521554BC687E}"/>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Aphid abundance falls.</a:t>
            </a:r>
          </a:p>
        </p:txBody>
      </p:sp>
      <p:sp>
        <p:nvSpPr>
          <p:cNvPr id="11" name="What could happen to ladybirds, and why?">
            <a:extLst xmlns:a="http://schemas.openxmlformats.org/drawingml/2006/main">
              <a:ext uri="{FF2B5EF4-FFF2-40B4-BE49-F238E27FC236}">
                <a16:creationId xmlns:a16="http://schemas.microsoft.com/office/drawing/2014/main" id="{19275193-8628-4F92-B28C-852009D0FAC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What could happen to ladybirds, and why?</a:t>
            </a:r>
          </a:p>
        </p:txBody>
      </p:sp>
      <p:sp>
        <p:nvSpPr>
          <p:cNvPr id="12" name="Why is the outcome not guaranteed?">
            <a:extLst xmlns:a="http://schemas.openxmlformats.org/drawingml/2006/main">
              <a:ext uri="{FF2B5EF4-FFF2-40B4-BE49-F238E27FC236}">
                <a16:creationId xmlns:a16="http://schemas.microsoft.com/office/drawing/2014/main" id="{2FD3D30D-CB19-48C5-8924-54F4B7EA061B}"/>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Why is the outcome not guaranteed?</a:t>
            </a:r>
          </a:p>
        </p:txBody>
      </p:sp>
    </p:spTree>
    <p:extLst>
      <p:ext uri="{BB962C8B-B14F-4D97-AF65-F5344CB8AC3E}">
        <p14:creationId xmlns:p14="http://schemas.microsoft.com/office/powerpoint/2010/main" val="2131300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9B8138E8-2759-48AD-96F7-8813B1404BF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E76ED1F-69A2-4E4D-ACAF-B68BF05D77E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B0FC1C1-5FB2-404F-B8FF-FAC8D239BCF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9600B18-D3EA-403F-8102-4DCA4EC6F6A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36D14217-B7BC-4D90-A09D-1AF23C91E33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Write a claim the evidence can carry">
            <a:extLst xmlns:a="http://schemas.openxmlformats.org/drawingml/2006/main">
              <a:ext uri="{FF2B5EF4-FFF2-40B4-BE49-F238E27FC236}">
                <a16:creationId xmlns:a16="http://schemas.microsoft.com/office/drawing/2014/main" id="{3DB31597-FAD7-413F-8FF1-46AF5F07B62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a claim the evidence can carry</a:t>
            </a:r>
          </a:p>
        </p:txBody>
      </p:sp>
      <p:sp>
        <p:nvSpPr>
          <p:cNvPr id="7" name="surface">
            <a:extLst xmlns:a="http://schemas.openxmlformats.org/drawingml/2006/main">
              <a:ext uri="{FF2B5EF4-FFF2-40B4-BE49-F238E27FC236}">
                <a16:creationId xmlns:a16="http://schemas.microsoft.com/office/drawing/2014/main" id="{E2B353BA-BC91-4D97-A60E-A4C906E3C44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094412A8-6D76-4942-B8BF-1604DD6F0D1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8 / 15">
            <a:extLst xmlns:a="http://schemas.openxmlformats.org/drawingml/2006/main">
              <a:ext uri="{FF2B5EF4-FFF2-40B4-BE49-F238E27FC236}">
                <a16:creationId xmlns:a16="http://schemas.microsoft.com/office/drawing/2014/main" id="{3DA5640F-58F5-4B9E-9D8F-A484E831A9A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Both samples contain 20 individuals.">
            <a:extLst xmlns:a="http://schemas.openxmlformats.org/drawingml/2006/main">
              <a:ext uri="{FF2B5EF4-FFF2-40B4-BE49-F238E27FC236}">
                <a16:creationId xmlns:a16="http://schemas.microsoft.com/office/drawing/2014/main" id="{2FC92501-9F33-4C9C-90F9-34792A06082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Both samples contain 20 individuals.</a:t>
            </a:r>
          </a:p>
        </p:txBody>
      </p:sp>
      <p:sp>
        <p:nvSpPr>
          <p:cNvPr id="11" name="Which has greater recorded richness?">
            <a:extLst xmlns:a="http://schemas.openxmlformats.org/drawingml/2006/main">
              <a:ext uri="{FF2B5EF4-FFF2-40B4-BE49-F238E27FC236}">
                <a16:creationId xmlns:a16="http://schemas.microsoft.com/office/drawing/2014/main" id="{D6C31D5A-19C2-4C99-A975-59C7906B930D}"/>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Which has greater recorded richness?</a:t>
            </a:r>
          </a:p>
        </p:txBody>
      </p:sp>
      <p:sp>
        <p:nvSpPr>
          <p:cNvPr id="12" name="Does this prove a maintenance method caused it?">
            <a:extLst xmlns:a="http://schemas.openxmlformats.org/drawingml/2006/main">
              <a:ext uri="{FF2B5EF4-FFF2-40B4-BE49-F238E27FC236}">
                <a16:creationId xmlns:a16="http://schemas.microsoft.com/office/drawing/2014/main" id="{277B67FC-2CFC-4351-9A95-F15BAD9F4A2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this prove a maintenance method caused it?</a:t>
            </a:r>
          </a:p>
        </p:txBody>
      </p:sp>
    </p:spTree>
    <p:extLst>
      <p:ext uri="{BB962C8B-B14F-4D97-AF65-F5344CB8AC3E}">
        <p14:creationId xmlns:p14="http://schemas.microsoft.com/office/powerpoint/2010/main" val="12252017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14CAC6E0-900F-4398-B8FD-3AA7EC17FF0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ABB4FC9-BA19-4878-8FD9-2E8D7416BD1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DA20682-30D6-4A6F-A192-84DDBC88825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F426911B-E6F8-4A68-AC21-6119295134C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Hinge">
            <a:extLst xmlns:a="http://schemas.openxmlformats.org/drawingml/2006/main">
              <a:ext uri="{FF2B5EF4-FFF2-40B4-BE49-F238E27FC236}">
                <a16:creationId xmlns:a16="http://schemas.microsoft.com/office/drawing/2014/main" id="{69862080-339B-4370-959C-392636579D9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C15E94D3-F520-4203-B96D-C7365AD730A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Choose the defensible headline">
            <a:extLst xmlns:a="http://schemas.openxmlformats.org/drawingml/2006/main">
              <a:ext uri="{FF2B5EF4-FFF2-40B4-BE49-F238E27FC236}">
                <a16:creationId xmlns:a16="http://schemas.microsoft.com/office/drawing/2014/main" id="{1ED80EEE-DE2A-44AB-9265-4D55E1B4583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the defensible headline</a:t>
            </a:r>
          </a:p>
        </p:txBody>
      </p:sp>
      <p:sp>
        <p:nvSpPr>
          <p:cNvPr id="8" name="surface">
            <a:extLst xmlns:a="http://schemas.openxmlformats.org/drawingml/2006/main">
              <a:ext uri="{FF2B5EF4-FFF2-40B4-BE49-F238E27FC236}">
                <a16:creationId xmlns:a16="http://schemas.microsoft.com/office/drawing/2014/main" id="{7E6CD10A-A726-44B9-B1AD-E2F2E0256E8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089DDDF1-1F16-414A-8A25-83A8E5461F1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9 / 15">
            <a:extLst xmlns:a="http://schemas.openxmlformats.org/drawingml/2006/main">
              <a:ext uri="{FF2B5EF4-FFF2-40B4-BE49-F238E27FC236}">
                <a16:creationId xmlns:a16="http://schemas.microsoft.com/office/drawing/2014/main" id="{70EA1454-4C17-42BC-B52F-2BF86E595C5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Which headline matches our data?">
            <a:extLst xmlns:a="http://schemas.openxmlformats.org/drawingml/2006/main">
              <a:ext uri="{FF2B5EF4-FFF2-40B4-BE49-F238E27FC236}">
                <a16:creationId xmlns:a16="http://schemas.microsoft.com/office/drawing/2014/main" id="{8FE4E1CD-EC85-49C1-B391-B93BE01647A0}"/>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Which headline matches our data?</a:t>
            </a:r>
          </a:p>
        </p:txBody>
      </p:sp>
      <p:sp>
        <p:nvSpPr>
          <p:cNvPr id="12" name="surface">
            <a:extLst xmlns:a="http://schemas.openxmlformats.org/drawingml/2006/main">
              <a:ext uri="{FF2B5EF4-FFF2-40B4-BE49-F238E27FC236}">
                <a16:creationId xmlns:a16="http://schemas.microsoft.com/office/drawing/2014/main" id="{C3A5193D-73C9-43B0-AA74-4F92E574826B}"/>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9A332FB5-E1D5-4E62-81BD-6ABEC3E15FE2}"/>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EAB218F5-34E6-4719-8B85-36D1F2A1BD01}"/>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Both patches have identical biodiversity because totals match.">
            <a:extLst xmlns:a="http://schemas.openxmlformats.org/drawingml/2006/main">
              <a:ext uri="{FF2B5EF4-FFF2-40B4-BE49-F238E27FC236}">
                <a16:creationId xmlns:a16="http://schemas.microsoft.com/office/drawing/2014/main" id="{6CFE8B86-8A3F-412B-82BC-92ED0B572F8E}"/>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Both patches have identical biodiversity because totals match.</a:t>
            </a:r>
          </a:p>
        </p:txBody>
      </p:sp>
      <p:sp>
        <p:nvSpPr>
          <p:cNvPr id="16" name="surface">
            <a:extLst xmlns:a="http://schemas.openxmlformats.org/drawingml/2006/main">
              <a:ext uri="{FF2B5EF4-FFF2-40B4-BE49-F238E27FC236}">
                <a16:creationId xmlns:a16="http://schemas.microsoft.com/office/drawing/2014/main" id="{E008F8E7-0C14-40AD-944F-8F1E93CF3C9B}"/>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D62AF93C-FEF8-449A-AD1E-B3D57DC9E2B3}"/>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48225F0C-3D77-496F-BD01-229D909322DC}"/>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Patch B has greater recorded species richness in these samples.">
            <a:extLst xmlns:a="http://schemas.openxmlformats.org/drawingml/2006/main">
              <a:ext uri="{FF2B5EF4-FFF2-40B4-BE49-F238E27FC236}">
                <a16:creationId xmlns:a16="http://schemas.microsoft.com/office/drawing/2014/main" id="{F6F77D72-985B-48BC-8928-0C9C65825914}"/>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Patch B has greater recorded species richness in these samples.</a:t>
            </a:r>
          </a:p>
        </p:txBody>
      </p:sp>
      <p:sp>
        <p:nvSpPr>
          <p:cNvPr id="20" name="surface">
            <a:extLst xmlns:a="http://schemas.openxmlformats.org/drawingml/2006/main">
              <a:ext uri="{FF2B5EF4-FFF2-40B4-BE49-F238E27FC236}">
                <a16:creationId xmlns:a16="http://schemas.microsoft.com/office/drawing/2014/main" id="{8C993174-6B60-47FE-AD49-5BAC8A8153B7}"/>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3E8B753C-0E88-4DBA-9371-80F694697E68}"/>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F876DF97-1824-427C-AD56-0A9D8448017F}"/>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The mowing method definitely caused the difference.">
            <a:extLst xmlns:a="http://schemas.openxmlformats.org/drawingml/2006/main">
              <a:ext uri="{FF2B5EF4-FFF2-40B4-BE49-F238E27FC236}">
                <a16:creationId xmlns:a16="http://schemas.microsoft.com/office/drawing/2014/main" id="{15DE657F-EE69-4A57-9610-72716F8B6093}"/>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mowing method definitely caused the difference.</a:t>
            </a:r>
          </a:p>
        </p:txBody>
      </p:sp>
    </p:spTree>
    <p:extLst>
      <p:ext uri="{BB962C8B-B14F-4D97-AF65-F5344CB8AC3E}">
        <p14:creationId xmlns:p14="http://schemas.microsoft.com/office/powerpoint/2010/main" val="20457270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4843DE1B-7092-444A-81D2-DE54CA227B9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C7D996E-30EE-428D-B154-2C2F74FE0A0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AE1236E-81ED-4847-80C2-E659B306D28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D14CA1A-6809-4F1E-98B0-CF6C1E5E7BC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F6742833-B37A-4B16-BB61-EB1D58C3C86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31F53FA5-D789-4D9B-A023-43661EF8CAF4}"/>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Write the garden team’s brief">
            <a:extLst xmlns:a="http://schemas.openxmlformats.org/drawingml/2006/main">
              <a:ext uri="{FF2B5EF4-FFF2-40B4-BE49-F238E27FC236}">
                <a16:creationId xmlns:a16="http://schemas.microsoft.com/office/drawing/2014/main" id="{EA085B7F-57A7-4B0B-96DF-DD7779D5390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the garden team’s brief</a:t>
            </a:r>
          </a:p>
        </p:txBody>
      </p:sp>
      <p:sp>
        <p:nvSpPr>
          <p:cNvPr id="8" name="surface">
            <a:extLst xmlns:a="http://schemas.openxmlformats.org/drawingml/2006/main">
              <a:ext uri="{FF2B5EF4-FFF2-40B4-BE49-F238E27FC236}">
                <a16:creationId xmlns:a16="http://schemas.microsoft.com/office/drawing/2014/main" id="{93F55EE7-0F92-46C5-B370-0543CF82A4F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1CEF4F58-A590-4B2E-8934-AC1EB01BCEF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10 / 15">
            <a:extLst xmlns:a="http://schemas.openxmlformats.org/drawingml/2006/main">
              <a:ext uri="{FF2B5EF4-FFF2-40B4-BE49-F238E27FC236}">
                <a16:creationId xmlns:a16="http://schemas.microsoft.com/office/drawing/2014/main" id="{8681E411-52C6-4F24-9231-492BD90C502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esponse route.">
            <a:extLst xmlns:a="http://schemas.openxmlformats.org/drawingml/2006/main">
              <a:ext uri="{FF2B5EF4-FFF2-40B4-BE49-F238E27FC236}">
                <a16:creationId xmlns:a16="http://schemas.microsoft.com/office/drawing/2014/main" id="{68295DF1-B4A0-4BF8-A6D2-AD19C4A9F645}"/>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response route.</a:t>
            </a:r>
          </a:p>
        </p:txBody>
      </p:sp>
      <p:sp>
        <p:nvSpPr>
          <p:cNvPr id="12" name="Explain an interaction and a feeding relationship.">
            <a:extLst xmlns:a="http://schemas.openxmlformats.org/drawingml/2006/main">
              <a:ext uri="{FF2B5EF4-FFF2-40B4-BE49-F238E27FC236}">
                <a16:creationId xmlns:a16="http://schemas.microsoft.com/office/drawing/2014/main" id="{95F2ED88-A7BD-49A0-AAC5-43D63361E27E}"/>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an interaction and a feeding relationship.</a:t>
            </a:r>
          </a:p>
        </p:txBody>
      </p:sp>
      <p:sp>
        <p:nvSpPr>
          <p:cNvPr id="13" name="Use a numerical comparison and a limit.">
            <a:extLst xmlns:a="http://schemas.openxmlformats.org/drawingml/2006/main">
              <a:ext uri="{FF2B5EF4-FFF2-40B4-BE49-F238E27FC236}">
                <a16:creationId xmlns:a16="http://schemas.microsoft.com/office/drawing/2014/main" id="{6638D61F-EECE-4D0C-A0E4-1313635C71EC}"/>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a numerical comparison and a limit.</a:t>
            </a:r>
          </a:p>
        </p:txBody>
      </p:sp>
    </p:spTree>
    <p:extLst>
      <p:ext uri="{BB962C8B-B14F-4D97-AF65-F5344CB8AC3E}">
        <p14:creationId xmlns:p14="http://schemas.microsoft.com/office/powerpoint/2010/main" val="5090796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64740E02-0346-4840-82C1-5E8F1E7E1B7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0C6CA9E-0740-4B4E-8F45-33ABB363CB5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721A1FE-ABA1-41D9-AE9B-26B4A7A9355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91DDFD12-F54F-4657-A6FE-0E487659CF0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64AD22D7-BA31-47BA-A680-17696EE41D1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your arrows">
            <a:extLst xmlns:a="http://schemas.openxmlformats.org/drawingml/2006/main">
              <a:ext uri="{FF2B5EF4-FFF2-40B4-BE49-F238E27FC236}">
                <a16:creationId xmlns:a16="http://schemas.microsoft.com/office/drawing/2014/main" id="{E3BC5305-217E-4E92-8BDD-F2BBFB6A470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your arrows</a:t>
            </a:r>
          </a:p>
        </p:txBody>
      </p:sp>
      <p:sp>
        <p:nvSpPr>
          <p:cNvPr id="7" name="surface">
            <a:extLst xmlns:a="http://schemas.openxmlformats.org/drawingml/2006/main">
              <a:ext uri="{FF2B5EF4-FFF2-40B4-BE49-F238E27FC236}">
                <a16:creationId xmlns:a16="http://schemas.microsoft.com/office/drawing/2014/main" id="{3875A0BE-E4D2-476E-A3F5-B13D163F8F7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327B691E-E0B7-434D-8C1C-51E7D0B9087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11 / 15">
            <a:extLst xmlns:a="http://schemas.openxmlformats.org/drawingml/2006/main">
              <a:ext uri="{FF2B5EF4-FFF2-40B4-BE49-F238E27FC236}">
                <a16:creationId xmlns:a16="http://schemas.microsoft.com/office/drawing/2014/main" id="{4901EA6C-AA40-4B14-9E5A-58D5A0B393F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Can you read each arrow as “is eaten by”?">
            <a:extLst xmlns:a="http://schemas.openxmlformats.org/drawingml/2006/main">
              <a:ext uri="{FF2B5EF4-FFF2-40B4-BE49-F238E27FC236}">
                <a16:creationId xmlns:a16="http://schemas.microsoft.com/office/drawing/2014/main" id="{179EE467-9216-4D62-A1B1-699CBE246D8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Can you read each arrow as “is eaten by”?</a:t>
            </a:r>
          </a:p>
        </p:txBody>
      </p:sp>
      <p:sp>
        <p:nvSpPr>
          <p:cNvPr id="11" name="Does a consumer have another food in the model?">
            <a:extLst xmlns:a="http://schemas.openxmlformats.org/drawingml/2006/main">
              <a:ext uri="{FF2B5EF4-FFF2-40B4-BE49-F238E27FC236}">
                <a16:creationId xmlns:a16="http://schemas.microsoft.com/office/drawing/2014/main" id="{FA0236B8-172D-4958-B691-94E9E242FCA5}"/>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a consumer have another food in the model?</a:t>
            </a:r>
          </a:p>
        </p:txBody>
      </p:sp>
      <p:sp>
        <p:nvSpPr>
          <p:cNvPr id="12" name="Use “may” when explaining a population change.">
            <a:extLst xmlns:a="http://schemas.openxmlformats.org/drawingml/2006/main">
              <a:ext uri="{FF2B5EF4-FFF2-40B4-BE49-F238E27FC236}">
                <a16:creationId xmlns:a16="http://schemas.microsoft.com/office/drawing/2014/main" id="{467A6CAD-735E-4808-BD34-40FC41F3A13D}"/>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“may” when explaining a population change.</a:t>
            </a:r>
          </a:p>
        </p:txBody>
      </p:sp>
    </p:spTree>
    <p:extLst>
      <p:ext uri="{BB962C8B-B14F-4D97-AF65-F5344CB8AC3E}">
        <p14:creationId xmlns:p14="http://schemas.microsoft.com/office/powerpoint/2010/main" val="3211926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BC34194E-8253-4ED2-B49C-9AA7514A439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AD353EA-13F2-4F9B-9D83-DCDF62D5149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826C473-BCD0-488A-A528-D24A325BD65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C7BAE2E8-E23B-4975-B24B-18D849D0DE6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92318143-C991-4BA2-B1E2-068A4617467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your evidence language">
            <a:extLst xmlns:a="http://schemas.openxmlformats.org/drawingml/2006/main">
              <a:ext uri="{FF2B5EF4-FFF2-40B4-BE49-F238E27FC236}">
                <a16:creationId xmlns:a16="http://schemas.microsoft.com/office/drawing/2014/main" id="{BD1631C1-9816-4BE4-8FF0-5D244F7D37A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your evidence language</a:t>
            </a:r>
          </a:p>
        </p:txBody>
      </p:sp>
      <p:sp>
        <p:nvSpPr>
          <p:cNvPr id="7" name="surface">
            <a:extLst xmlns:a="http://schemas.openxmlformats.org/drawingml/2006/main">
              <a:ext uri="{FF2B5EF4-FFF2-40B4-BE49-F238E27FC236}">
                <a16:creationId xmlns:a16="http://schemas.microsoft.com/office/drawing/2014/main" id="{752530FB-E8C9-44F6-ABDD-C67E617AEA5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DCF563AA-443E-4884-A294-875062E4F27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12 / 15">
            <a:extLst xmlns:a="http://schemas.openxmlformats.org/drawingml/2006/main">
              <a:ext uri="{FF2B5EF4-FFF2-40B4-BE49-F238E27FC236}">
                <a16:creationId xmlns:a16="http://schemas.microsoft.com/office/drawing/2014/main" id="{F214936B-C42C-41B5-9353-8A7325F9470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State what was counted and the sample area.">
            <a:extLst xmlns:a="http://schemas.openxmlformats.org/drawingml/2006/main">
              <a:ext uri="{FF2B5EF4-FFF2-40B4-BE49-F238E27FC236}">
                <a16:creationId xmlns:a16="http://schemas.microsoft.com/office/drawing/2014/main" id="{C10D269F-1E74-4491-8DEA-77715591FB1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State what was counted and the sample area.</a:t>
            </a:r>
          </a:p>
        </p:txBody>
      </p:sp>
      <p:sp>
        <p:nvSpPr>
          <p:cNvPr id="11" name="Separate number of species from total individuals.">
            <a:extLst xmlns:a="http://schemas.openxmlformats.org/drawingml/2006/main">
              <a:ext uri="{FF2B5EF4-FFF2-40B4-BE49-F238E27FC236}">
                <a16:creationId xmlns:a16="http://schemas.microsoft.com/office/drawing/2014/main" id="{B8D7C6A9-4A82-4237-8EC1-C763C726A347}"/>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Separate number of species from total individuals.</a:t>
            </a:r>
          </a:p>
        </p:txBody>
      </p:sp>
      <p:sp>
        <p:nvSpPr>
          <p:cNvPr id="12" name="Name one next measurement you would make.">
            <a:extLst xmlns:a="http://schemas.openxmlformats.org/drawingml/2006/main">
              <a:ext uri="{FF2B5EF4-FFF2-40B4-BE49-F238E27FC236}">
                <a16:creationId xmlns:a16="http://schemas.microsoft.com/office/drawing/2014/main" id="{4EDF94E3-1972-40E5-939E-5F89BDEEBD69}"/>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one next measurement you would make.</a:t>
            </a:r>
          </a:p>
        </p:txBody>
      </p:sp>
    </p:spTree>
    <p:extLst>
      <p:ext uri="{BB962C8B-B14F-4D97-AF65-F5344CB8AC3E}">
        <p14:creationId xmlns:p14="http://schemas.microsoft.com/office/powerpoint/2010/main" val="441075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AFDCA73F-018E-4997-BB56-FEFF2C5256A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2C80C88-C09A-4553-8F47-6A59B418EB8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CA7BD19-AA7C-4CC4-90BA-296B8EF5494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B18C8A3-A480-470C-9C30-D9AC6972C8F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509460E4-1B39-4019-9DF5-16F73862E61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4 min">
            <a:extLst xmlns:a="http://schemas.openxmlformats.org/drawingml/2006/main">
              <a:ext uri="{FF2B5EF4-FFF2-40B4-BE49-F238E27FC236}">
                <a16:creationId xmlns:a16="http://schemas.microsoft.com/office/drawing/2014/main" id="{606D0C4D-9F5E-4C6C-8E77-FB808A6C455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Peer-review the brief">
            <a:extLst xmlns:a="http://schemas.openxmlformats.org/drawingml/2006/main">
              <a:ext uri="{FF2B5EF4-FFF2-40B4-BE49-F238E27FC236}">
                <a16:creationId xmlns:a16="http://schemas.microsoft.com/office/drawing/2014/main" id="{0B7FD167-7676-40D9-89F9-B7088736F9A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Peer-review the brief</a:t>
            </a:r>
          </a:p>
        </p:txBody>
      </p:sp>
      <p:sp>
        <p:nvSpPr>
          <p:cNvPr id="8" name="surface">
            <a:extLst xmlns:a="http://schemas.openxmlformats.org/drawingml/2006/main">
              <a:ext uri="{FF2B5EF4-FFF2-40B4-BE49-F238E27FC236}">
                <a16:creationId xmlns:a16="http://schemas.microsoft.com/office/drawing/2014/main" id="{B4225F6E-AB4A-461B-BA61-92894AD65FB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291DCD8F-C507-4114-A0C2-A7A0D82A8E8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13 / 15">
            <a:extLst xmlns:a="http://schemas.openxmlformats.org/drawingml/2006/main">
              <a:ext uri="{FF2B5EF4-FFF2-40B4-BE49-F238E27FC236}">
                <a16:creationId xmlns:a16="http://schemas.microsoft.com/office/drawing/2014/main" id="{D64E1487-B6F7-4D62-9006-C2C6D10B932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Underline the relationship, numerical evidence and limit.">
            <a:extLst xmlns:a="http://schemas.openxmlformats.org/drawingml/2006/main">
              <a:ext uri="{FF2B5EF4-FFF2-40B4-BE49-F238E27FC236}">
                <a16:creationId xmlns:a16="http://schemas.microsoft.com/office/drawing/2014/main" id="{8F7BDA58-37A6-4BE8-9DAE-ABB346492A03}"/>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Underline the relationship, numerical evidence and limit.</a:t>
            </a:r>
          </a:p>
        </p:txBody>
      </p:sp>
      <p:sp>
        <p:nvSpPr>
          <p:cNvPr id="12" name="Find one claim that is too strong.">
            <a:extLst xmlns:a="http://schemas.openxmlformats.org/drawingml/2006/main">
              <a:ext uri="{FF2B5EF4-FFF2-40B4-BE49-F238E27FC236}">
                <a16:creationId xmlns:a16="http://schemas.microsoft.com/office/drawing/2014/main" id="{9176E7CC-B756-4B4C-8517-DFA1E81CE02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Find one claim that is too strong.</a:t>
            </a:r>
          </a:p>
        </p:txBody>
      </p:sp>
      <p:sp>
        <p:nvSpPr>
          <p:cNvPr id="13" name="Revise it after feedback.">
            <a:extLst xmlns:a="http://schemas.openxmlformats.org/drawingml/2006/main">
              <a:ext uri="{FF2B5EF4-FFF2-40B4-BE49-F238E27FC236}">
                <a16:creationId xmlns:a16="http://schemas.microsoft.com/office/drawing/2014/main" id="{DBB8FC9D-3205-45C0-A3CA-ED5A853590D9}"/>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Revise it after feedback.</a:t>
            </a:r>
          </a:p>
        </p:txBody>
      </p:sp>
    </p:spTree>
    <p:extLst>
      <p:ext uri="{BB962C8B-B14F-4D97-AF65-F5344CB8AC3E}">
        <p14:creationId xmlns:p14="http://schemas.microsoft.com/office/powerpoint/2010/main" val="20906403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863E56E2-30F4-4CA2-99CE-52DBE73893F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7973510-0752-4AF0-9828-5A726267B8B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8D992B5-943C-4DF3-96D3-791AA76943A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13E4B62B-045F-4546-A059-9E185EDA7DB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288BB0A7-D0DA-406E-825E-CDCA0B63E98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Give the garden team a question">
            <a:extLst xmlns:a="http://schemas.openxmlformats.org/drawingml/2006/main">
              <a:ext uri="{FF2B5EF4-FFF2-40B4-BE49-F238E27FC236}">
                <a16:creationId xmlns:a16="http://schemas.microsoft.com/office/drawing/2014/main" id="{2D5ED9E9-A663-4717-98DB-61DDC8AC58C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Give the garden team a question</a:t>
            </a:r>
          </a:p>
        </p:txBody>
      </p:sp>
      <p:sp>
        <p:nvSpPr>
          <p:cNvPr id="7" name="surface">
            <a:extLst xmlns:a="http://schemas.openxmlformats.org/drawingml/2006/main">
              <a:ext uri="{FF2B5EF4-FFF2-40B4-BE49-F238E27FC236}">
                <a16:creationId xmlns:a16="http://schemas.microsoft.com/office/drawing/2014/main" id="{F38F3DBF-2507-4362-B581-1B13A76EAE5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border brief: an ecosystem evidence web">
            <a:extLst xmlns:a="http://schemas.openxmlformats.org/drawingml/2006/main">
              <a:ext uri="{FF2B5EF4-FFF2-40B4-BE49-F238E27FC236}">
                <a16:creationId xmlns:a16="http://schemas.microsoft.com/office/drawing/2014/main" id="{6866A993-ADDF-40A6-A2E3-CE712639A36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9" name="14 / 15">
            <a:extLst xmlns:a="http://schemas.openxmlformats.org/drawingml/2006/main">
              <a:ext uri="{FF2B5EF4-FFF2-40B4-BE49-F238E27FC236}">
                <a16:creationId xmlns:a16="http://schemas.microsoft.com/office/drawing/2014/main" id="{066C79A5-5304-4351-A419-555259880BF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Choose one next question about the patches.">
            <a:extLst xmlns:a="http://schemas.openxmlformats.org/drawingml/2006/main">
              <a:ext uri="{FF2B5EF4-FFF2-40B4-BE49-F238E27FC236}">
                <a16:creationId xmlns:a16="http://schemas.microsoft.com/office/drawing/2014/main" id="{25FB49E1-E687-4E75-AC29-B44C0EF960E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next question about the patches.</a:t>
            </a:r>
          </a:p>
        </p:txBody>
      </p:sp>
      <p:sp>
        <p:nvSpPr>
          <p:cNvPr id="11" name="Explain which evidence would answer it.">
            <a:extLst xmlns:a="http://schemas.openxmlformats.org/drawingml/2006/main">
              <a:ext uri="{FF2B5EF4-FFF2-40B4-BE49-F238E27FC236}">
                <a16:creationId xmlns:a16="http://schemas.microsoft.com/office/drawing/2014/main" id="{678356D3-0A1C-4BB7-BB1D-861D7B664C3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which evidence would answer it.</a:t>
            </a:r>
          </a:p>
        </p:txBody>
      </p:sp>
      <p:sp>
        <p:nvSpPr>
          <p:cNvPr id="12" name="We will select a question for later sampling.">
            <a:extLst xmlns:a="http://schemas.openxmlformats.org/drawingml/2006/main">
              <a:ext uri="{FF2B5EF4-FFF2-40B4-BE49-F238E27FC236}">
                <a16:creationId xmlns:a16="http://schemas.microsoft.com/office/drawing/2014/main" id="{FC99FFBC-D817-4694-8756-73F0A6EA1BDB}"/>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We will select a question for later sampling.</a:t>
            </a:r>
          </a:p>
        </p:txBody>
      </p:sp>
    </p:spTree>
    <p:extLst>
      <p:ext uri="{BB962C8B-B14F-4D97-AF65-F5344CB8AC3E}">
        <p14:creationId xmlns:p14="http://schemas.microsoft.com/office/powerpoint/2010/main" val="13762077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5FF3026-DF5D-42FF-8933-6DAA37A1547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913A7E6-9BE5-4FBA-B154-D4051E0EB84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0B207CA-7385-450C-8CEF-FEB29A64098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8BA6B136-2132-4A30-A99F-2DE882DC2BA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Exit">
            <a:extLst xmlns:a="http://schemas.openxmlformats.org/drawingml/2006/main">
              <a:ext uri="{FF2B5EF4-FFF2-40B4-BE49-F238E27FC236}">
                <a16:creationId xmlns:a16="http://schemas.microsoft.com/office/drawing/2014/main" id="{A1CCEECF-02D9-4632-AB76-F3B14EC0168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76B79B07-FDFF-4824-8624-D02EAA1EB07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Make three ideas precise">
            <a:extLst xmlns:a="http://schemas.openxmlformats.org/drawingml/2006/main">
              <a:ext uri="{FF2B5EF4-FFF2-40B4-BE49-F238E27FC236}">
                <a16:creationId xmlns:a16="http://schemas.microsoft.com/office/drawing/2014/main" id="{0B11FB91-6CA0-475C-A002-986C69E1615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three ideas precise</a:t>
            </a:r>
          </a:p>
        </p:txBody>
      </p:sp>
      <p:sp>
        <p:nvSpPr>
          <p:cNvPr id="8" name="surface">
            <a:extLst xmlns:a="http://schemas.openxmlformats.org/drawingml/2006/main">
              <a:ext uri="{FF2B5EF4-FFF2-40B4-BE49-F238E27FC236}">
                <a16:creationId xmlns:a16="http://schemas.microsoft.com/office/drawing/2014/main" id="{AE590EAC-8D58-45F5-9CB6-1E0035E68B1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border brief: an ecosystem evidence web">
            <a:extLst xmlns:a="http://schemas.openxmlformats.org/drawingml/2006/main">
              <a:ext uri="{FF2B5EF4-FFF2-40B4-BE49-F238E27FC236}">
                <a16:creationId xmlns:a16="http://schemas.microsoft.com/office/drawing/2014/main" id="{85DC1763-657E-47D7-81AF-291AB28B2A3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border brief: an ecosystem evidence web</a:t>
            </a:r>
          </a:p>
        </p:txBody>
      </p:sp>
      <p:sp>
        <p:nvSpPr>
          <p:cNvPr id="10" name="15 / 15">
            <a:extLst xmlns:a="http://schemas.openxmlformats.org/drawingml/2006/main">
              <a:ext uri="{FF2B5EF4-FFF2-40B4-BE49-F238E27FC236}">
                <a16:creationId xmlns:a16="http://schemas.microsoft.com/office/drawing/2014/main" id="{A66807ED-5DF6-4CB8-80BA-DA55045B862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What makes an ecosystem more than a community?">
            <a:extLst xmlns:a="http://schemas.openxmlformats.org/drawingml/2006/main">
              <a:ext uri="{FF2B5EF4-FFF2-40B4-BE49-F238E27FC236}">
                <a16:creationId xmlns:a16="http://schemas.microsoft.com/office/drawing/2014/main" id="{E1D666CE-0817-4159-BD96-79CA4BB799C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What makes an ecosystem more than a community?</a:t>
            </a:r>
          </a:p>
        </p:txBody>
      </p:sp>
      <p:sp>
        <p:nvSpPr>
          <p:cNvPr id="12" name="E2. What does a food-web arrow show?">
            <a:extLst xmlns:a="http://schemas.openxmlformats.org/drawingml/2006/main">
              <a:ext uri="{FF2B5EF4-FFF2-40B4-BE49-F238E27FC236}">
                <a16:creationId xmlns:a16="http://schemas.microsoft.com/office/drawing/2014/main" id="{C517B6EC-A650-44C7-8671-35862EF94A9D}"/>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What does a food-web arrow show?</a:t>
            </a:r>
          </a:p>
        </p:txBody>
      </p:sp>
      <p:sp>
        <p:nvSpPr>
          <p:cNvPr id="13" name="E3. Can total abundance alone tell us richness?">
            <a:extLst xmlns:a="http://schemas.openxmlformats.org/drawingml/2006/main">
              <a:ext uri="{FF2B5EF4-FFF2-40B4-BE49-F238E27FC236}">
                <a16:creationId xmlns:a16="http://schemas.microsoft.com/office/drawing/2014/main" id="{D64A6D23-4553-490D-8906-A15DED21EAA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Can total abundance alone tell us richness?</a:t>
            </a:r>
          </a:p>
        </p:txBody>
      </p:sp>
    </p:spTree>
    <p:extLst>
      <p:ext uri="{BB962C8B-B14F-4D97-AF65-F5344CB8AC3E}">
        <p14:creationId xmlns:p14="http://schemas.microsoft.com/office/powerpoint/2010/main" val="677166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2026-09-08T23:48:24.2020000Z</dcterms:created>
  <dcterms:modified xsi:type="dcterms:W3CDTF">2026-09-08T23:48:24.2020000Z</dcterms:modified>
</coreProperties>
</file>