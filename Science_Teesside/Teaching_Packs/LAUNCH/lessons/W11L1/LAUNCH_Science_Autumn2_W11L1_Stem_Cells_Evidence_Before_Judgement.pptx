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9b545236d149b8" /><Relationship Type="http://schemas.openxmlformats.org/officeDocument/2006/relationships/extended-properties" Target="/docProps/app.xml" Id="R54143ca0c4844930" /><Relationship Type="http://schemas.openxmlformats.org/officeDocument/2006/relationships/officeDocument" Target="/ppt/presentation.xml" Id="R1c51e58d3f1d45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91d23c8a354f17"/>
  </p:sldMasterIdLst>
  <p:notesMasterIdLst>
    <p:notesMasterId xmlns:r="http://schemas.openxmlformats.org/officeDocument/2006/relationships" r:id="Rdca76d0978604368"/>
  </p:notesMasterIdLst>
  <p:sldIdLst>
    <p:sldId xmlns:r="http://schemas.openxmlformats.org/officeDocument/2006/relationships" id="256" r:id="R9dee9fed65744f73"/>
    <p:sldId xmlns:r="http://schemas.openxmlformats.org/officeDocument/2006/relationships" id="257" r:id="R52f97649aafc4eb6"/>
    <p:sldId xmlns:r="http://schemas.openxmlformats.org/officeDocument/2006/relationships" id="258" r:id="Ree23307340564eec"/>
    <p:sldId xmlns:r="http://schemas.openxmlformats.org/officeDocument/2006/relationships" id="259" r:id="Re093b625c2e54980"/>
    <p:sldId xmlns:r="http://schemas.openxmlformats.org/officeDocument/2006/relationships" id="260" r:id="R6545df858dbe457a"/>
    <p:sldId xmlns:r="http://schemas.openxmlformats.org/officeDocument/2006/relationships" id="261" r:id="Rbf579bc380b34592"/>
    <p:sldId xmlns:r="http://schemas.openxmlformats.org/officeDocument/2006/relationships" id="262" r:id="Rccde67e7144a41da"/>
    <p:sldId xmlns:r="http://schemas.openxmlformats.org/officeDocument/2006/relationships" id="263" r:id="R41869007060b4cdc"/>
    <p:sldId xmlns:r="http://schemas.openxmlformats.org/officeDocument/2006/relationships" id="264" r:id="Reab2db343b994a53"/>
    <p:sldId xmlns:r="http://schemas.openxmlformats.org/officeDocument/2006/relationships" id="265" r:id="Rb43fd09028134f74"/>
    <p:sldId xmlns:r="http://schemas.openxmlformats.org/officeDocument/2006/relationships" id="266" r:id="R08962666937d4b95"/>
    <p:sldId xmlns:r="http://schemas.openxmlformats.org/officeDocument/2006/relationships" id="267" r:id="R54b76c3d24c94c55"/>
    <p:sldId xmlns:r="http://schemas.openxmlformats.org/officeDocument/2006/relationships" id="268" r:id="R3f1affad8f974e9a"/>
    <p:sldId xmlns:r="http://schemas.openxmlformats.org/officeDocument/2006/relationships" id="269" r:id="R4ba8f72845264313"/>
    <p:sldId xmlns:r="http://schemas.openxmlformats.org/officeDocument/2006/relationships" id="270" r:id="Ref3c0df455594e7e"/>
    <p:sldId xmlns:r="http://schemas.openxmlformats.org/officeDocument/2006/relationships" id="271" r:id="Rc1f9efb90e9d42dd"/>
    <p:sldId xmlns:r="http://schemas.openxmlformats.org/officeDocument/2006/relationships" id="272" r:id="Re766a1f0cd5a45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53cb1f304c4031" /><Relationship Type="http://schemas.openxmlformats.org/officeDocument/2006/relationships/slideMaster" Target="/ppt/slideMasters/slideMaster1.xml" Id="R9091d23c8a354f17" /><Relationship Type="http://schemas.openxmlformats.org/officeDocument/2006/relationships/notesMaster" Target="/ppt/notesMasters/notesMaster1.xml" Id="Rdca76d0978604368" /><Relationship Type="http://schemas.openxmlformats.org/officeDocument/2006/relationships/presProps" Target="/ppt/presProps.xml" Id="Rc858741bcf06412a" /><Relationship Type="http://schemas.openxmlformats.org/officeDocument/2006/relationships/tableStyles" Target="/ppt/tableStyles.xml" Id="R765e98419d1048da" /><Relationship Type="http://schemas.openxmlformats.org/officeDocument/2006/relationships/slide" Target="/ppt/slides/slide1.xml" Id="R9dee9fed65744f73" /><Relationship Type="http://schemas.openxmlformats.org/officeDocument/2006/relationships/slide" Target="/ppt/slides/slide2.xml" Id="R52f97649aafc4eb6" /><Relationship Type="http://schemas.openxmlformats.org/officeDocument/2006/relationships/slide" Target="/ppt/slides/slide3.xml" Id="Ree23307340564eec" /><Relationship Type="http://schemas.openxmlformats.org/officeDocument/2006/relationships/slide" Target="/ppt/slides/slide4.xml" Id="Re093b625c2e54980" /><Relationship Type="http://schemas.openxmlformats.org/officeDocument/2006/relationships/slide" Target="/ppt/slides/slide5.xml" Id="R6545df858dbe457a" /><Relationship Type="http://schemas.openxmlformats.org/officeDocument/2006/relationships/slide" Target="/ppt/slides/slide6.xml" Id="Rbf579bc380b34592" /><Relationship Type="http://schemas.openxmlformats.org/officeDocument/2006/relationships/slide" Target="/ppt/slides/slide7.xml" Id="Rccde67e7144a41da" /><Relationship Type="http://schemas.openxmlformats.org/officeDocument/2006/relationships/slide" Target="/ppt/slides/slide8.xml" Id="R41869007060b4cdc" /><Relationship Type="http://schemas.openxmlformats.org/officeDocument/2006/relationships/slide" Target="/ppt/slides/slide9.xml" Id="Reab2db343b994a53" /><Relationship Type="http://schemas.openxmlformats.org/officeDocument/2006/relationships/slide" Target="/ppt/slides/slide10.xml" Id="Rb43fd09028134f74" /><Relationship Type="http://schemas.openxmlformats.org/officeDocument/2006/relationships/slide" Target="/ppt/slides/slide11.xml" Id="R08962666937d4b95" /><Relationship Type="http://schemas.openxmlformats.org/officeDocument/2006/relationships/slide" Target="/ppt/slides/slide12.xml" Id="R54b76c3d24c94c55" /><Relationship Type="http://schemas.openxmlformats.org/officeDocument/2006/relationships/slide" Target="/ppt/slides/slide13.xml" Id="R3f1affad8f974e9a" /><Relationship Type="http://schemas.openxmlformats.org/officeDocument/2006/relationships/slide" Target="/ppt/slides/slide14.xml" Id="R4ba8f72845264313" /><Relationship Type="http://schemas.openxmlformats.org/officeDocument/2006/relationships/slide" Target="/ppt/slides/slide15.xml" Id="Ref3c0df455594e7e" /><Relationship Type="http://schemas.openxmlformats.org/officeDocument/2006/relationships/slide" Target="/ppt/slides/slide16.xml" Id="Rc1f9efb90e9d42dd" /><Relationship Type="http://schemas.openxmlformats.org/officeDocument/2006/relationships/slide" Target="/ppt/slides/slide17.xml" Id="Re766a1f0cd5a45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3ac28712f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49fce5ca34005" /><Relationship Type="http://schemas.openxmlformats.org/officeDocument/2006/relationships/notesMaster" Target="/ppt/notesMasters/notesMaster1.xml" Id="Re4c4c59426cc46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cb671458a4e87" /><Relationship Type="http://schemas.openxmlformats.org/officeDocument/2006/relationships/notesMaster" Target="/ppt/notesMasters/notesMaster1.xml" Id="R2b918d14ca5c45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b2d975c1874251" /><Relationship Type="http://schemas.openxmlformats.org/officeDocument/2006/relationships/notesMaster" Target="/ppt/notesMasters/notesMaster1.xml" Id="Ra67dba02e1c24a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77e59925ae406c" /><Relationship Type="http://schemas.openxmlformats.org/officeDocument/2006/relationships/notesMaster" Target="/ppt/notesMasters/notesMaster1.xml" Id="Rdd58297f88054b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77eda065224b15" /><Relationship Type="http://schemas.openxmlformats.org/officeDocument/2006/relationships/notesMaster" Target="/ppt/notesMasters/notesMaster1.xml" Id="Rd55eab88f88243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97d6ab06324242" /><Relationship Type="http://schemas.openxmlformats.org/officeDocument/2006/relationships/notesMaster" Target="/ppt/notesMasters/notesMaster1.xml" Id="Rda3fa258bd764a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f1210687c745b6" /><Relationship Type="http://schemas.openxmlformats.org/officeDocument/2006/relationships/notesMaster" Target="/ppt/notesMasters/notesMaster1.xml" Id="R0b0a240840c845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c14490911d4cdf" /><Relationship Type="http://schemas.openxmlformats.org/officeDocument/2006/relationships/notesMaster" Target="/ppt/notesMasters/notesMaster1.xml" Id="Rb2aaae3bbe1f48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7dfacd22a14ae7" /><Relationship Type="http://schemas.openxmlformats.org/officeDocument/2006/relationships/notesMaster" Target="/ppt/notesMasters/notesMaster1.xml" Id="Rfdafdff1d7c648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62472b4d8c41a8" /><Relationship Type="http://schemas.openxmlformats.org/officeDocument/2006/relationships/notesMaster" Target="/ppt/notesMasters/notesMaster1.xml" Id="R18067deeffaf49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24fa2716f943c2" /><Relationship Type="http://schemas.openxmlformats.org/officeDocument/2006/relationships/notesMaster" Target="/ppt/notesMasters/notesMaster1.xml" Id="R3cb39fb26e3f4d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fce9fba14d4033" /><Relationship Type="http://schemas.openxmlformats.org/officeDocument/2006/relationships/notesMaster" Target="/ppt/notesMasters/notesMaster1.xml" Id="R7d1bd6da36ee4f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7ffdf4d8744759" /><Relationship Type="http://schemas.openxmlformats.org/officeDocument/2006/relationships/notesMaster" Target="/ppt/notesMasters/notesMaster1.xml" Id="R9df70bc4fd4647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fce17279aa45e4" /><Relationship Type="http://schemas.openxmlformats.org/officeDocument/2006/relationships/notesMaster" Target="/ppt/notesMasters/notesMaster1.xml" Id="R33a0a64f634249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ed4da899ff4a10" /><Relationship Type="http://schemas.openxmlformats.org/officeDocument/2006/relationships/notesMaster" Target="/ppt/notesMasters/notesMaster1.xml" Id="R8a7d5e998bcf4b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815e03e56e45c8" /><Relationship Type="http://schemas.openxmlformats.org/officeDocument/2006/relationships/notesMaster" Target="/ppt/notesMasters/notesMaster1.xml" Id="Ra9d0647056804cd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a163f7d1424c8d" /><Relationship Type="http://schemas.openxmlformats.org/officeDocument/2006/relationships/notesMaster" Target="/ppt/notesMasters/notesMaster1.xml" Id="R7c6a6ade5c2a4b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11 · Introduce</a:t>
            </a:r>
          </a:p>
          <a:p xmlns:a="http://schemas.openxmlformats.org/drawingml/2006/main">
            <a:r>
              <a:t>Learning objective: I can describe stem-cell functions and distinguish scientific evidence, ethical concern and uncertainty.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describe a stem cell as able to divide and differentiate.</a:t>
            </a:r>
          </a:p>
          <a:p xmlns:a="http://schemas.openxmlformats.org/drawingml/2006/main">
            <a:r>
              <a:t>I can distinguish embryonic stem cells, adult stem cells and plant meristems.</a:t>
            </a:r>
          </a:p>
          <a:p xmlns:a="http://schemas.openxmlformats.org/drawingml/2006/main">
            <a:r>
              <a:t>I can classify a statement as evidence, ethical concern or uncertainty.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· GCSE Biology · Week 11 · Introduce</a:t>
            </a:r>
          </a:p>
          <a:p xmlns:a="http://schemas.openxmlformats.org/drawingml/2006/main">
            <a:r>
              <a:t>Learning objective: I can describe stem-cell functions and distinguish scientific evidence, ethical concern and uncertainty.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describe a stem cell as able to divide and differentiate.</a:t>
            </a:r>
          </a:p>
          <a:p xmlns:a="http://schemas.openxmlformats.org/drawingml/2006/main">
            <a:r>
              <a:t>I can distinguish embryonic stem cells, adult stem cells and plant meristems.</a:t>
            </a:r>
          </a:p>
          <a:p xmlns:a="http://schemas.openxmlformats.org/drawingml/2006/main">
            <a:r>
              <a:t>I can classify a statement as evidence, ethical concern or uncertainty.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W10: growth in animals uses cell division and differentiation.</a:t>
            </a:r>
          </a:p>
          <a:p xmlns:a="http://schemas.openxmlformats.org/drawingml/2006/main">
            <a:r>
              <a:t>W10: growth in plants also uses cell elongation and meristems.</a:t>
            </a:r>
          </a:p>
          <a:p xmlns:a="http://schemas.openxmlformats.org/drawingml/2006/main">
            <a:r>
              <a:t>W8: mitosis produces two genetically identical diploid body cells.</a:t>
            </a:r>
          </a:p>
          <a:p xmlns:a="http://schemas.openxmlformats.org/drawingml/2006/main">
            <a:r>
              <a:t>Lead-in: which claim about a future treatment would need evidence?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State one role of mitosis in growth or repair.</a:t>
            </a:r>
          </a:p>
          <a:p xmlns:a="http://schemas.openxmlformats.org/drawingml/2006/main">
            <a:r>
              <a:t>Describe differentiation in one sentence.</a:t>
            </a:r>
          </a:p>
          <a:p xmlns:a="http://schemas.openxmlformats.org/drawingml/2006/main">
            <a:r>
              <a:t>Name the plant tissue that contains stem cells.</a:t>
            </a:r>
          </a:p>
          <a:p xmlns:a="http://schemas.openxmlformats.org/drawingml/2006/main">
            <a:r>
              <a:t>Lead-in: why is 'might help' different from 'has been shown to help'?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CLAIM · what is being said</a:t>
            </a:r>
          </a:p>
          <a:p xmlns:a="http://schemas.openxmlformats.org/drawingml/2006/main">
            <a:r>
              <a:t>A possibility, not yet a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what was observed</a:t>
            </a:r>
          </a:p>
          <a:p xmlns:a="http://schemas.openxmlformats.org/drawingml/2006/main">
            <a:r>
              <a:t>Observed, dated, countable.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LIMIT · what is still uncertain</a:t>
            </a:r>
          </a:p>
          <a:p xmlns:a="http://schemas.openxmlformats.org/drawingml/2006/main">
            <a:r>
              <a:t>Uncertainty and ethics are separate from the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Accept it because stem cells can differentiate.</a:t>
            </a:r>
          </a:p>
          <a:p xmlns:a="http://schemas.openxmlformats.org/drawingml/2006/main">
            <a:r>
              <a:t>Check the evidence, the cell type, the outcomes and the risks.</a:t>
            </a:r>
          </a:p>
          <a:p xmlns:a="http://schemas.openxmlformats.org/drawingml/2006/main">
            <a:r>
              <a:t>Reject every possible medical use of stem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CLAIM · what is being said</a:t>
            </a:r>
          </a:p>
          <a:p xmlns:a="http://schemas.openxmlformats.org/drawingml/2006/main">
            <a:r>
              <a:t>A possibility, not yet a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what was observed</a:t>
            </a:r>
          </a:p>
          <a:p xmlns:a="http://schemas.openxmlformats.org/drawingml/2006/main">
            <a:r>
              <a:t>Observed, dated, countable.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LIMIT · what is still uncertain</a:t>
            </a:r>
          </a:p>
          <a:p xmlns:a="http://schemas.openxmlformats.org/drawingml/2006/main">
            <a:r>
              <a:t>Uncertainty and ethics are separate from the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Accept it because stem cells can differentiate.</a:t>
            </a:r>
          </a:p>
          <a:p xmlns:a="http://schemas.openxmlformats.org/drawingml/2006/main">
            <a:r>
              <a:t>Check the evidence, the cell type, the outcomes and the risks.</a:t>
            </a:r>
          </a:p>
          <a:p xmlns:a="http://schemas.openxmlformats.org/drawingml/2006/main">
            <a:r>
              <a:t>Reject every possible medical use of stem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CLAIM · what is being said</a:t>
            </a:r>
          </a:p>
          <a:p xmlns:a="http://schemas.openxmlformats.org/drawingml/2006/main">
            <a:r>
              <a:t>A possibility, not yet a result.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what was observed</a:t>
            </a:r>
          </a:p>
          <a:p xmlns:a="http://schemas.openxmlformats.org/drawingml/2006/main">
            <a:r>
              <a:t>Observed, dated, countable.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LIMIT · what is still uncertain</a:t>
            </a:r>
          </a:p>
          <a:p xmlns:a="http://schemas.openxmlformats.org/drawingml/2006/main">
            <a:r>
              <a:t>Uncertainty and ethics are separate from the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Accept it because stem cells can differentiate.</a:t>
            </a:r>
          </a:p>
          <a:p xmlns:a="http://schemas.openxmlformats.org/drawingml/2006/main">
            <a:r>
              <a:t>Check the evidence, the cell type, the outcomes and the risks.</a:t>
            </a:r>
          </a:p>
          <a:p xmlns:a="http://schemas.openxmlformats.org/drawingml/2006/main">
            <a:r>
              <a:t>Reject every possible medical use of stem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STEM CELL unspecialised starting cell a cell that can divide and can differentiate into one or more specialised cell types</a:t>
            </a:r>
          </a:p>
          <a:p xmlns:a="http://schemas.openxmlformats.org/drawingml/2006/main">
            <a:r>
              <a:t>DIFFERENTIATE become specialised to change into a cell with structures suited to a particular function</a:t>
            </a:r>
          </a:p>
          <a:p xmlns:a="http://schemas.openxmlformats.org/drawingml/2006/main">
            <a:r>
              <a:t>ETHICAL about what ought to be done concerning values, rights, responsibilities and possible harm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three-column model keeps scientific findings, ethical concerns and uncertainty visible without pretending they are the same type of statement.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Begin with function: stem cells can divide, then some daughter cells can differentiate into specialised cells.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Distinguish sources: embryonic stem cells can form many cell types; adult stem cells usually form a more limited range; meristems produce new plant cells.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claim and evidence separate: a biological ability creates a possible use, but clinical benefit and safety still require evidence.</a:t>
            </a:r>
          </a:p>
          <a:p xmlns:a="http://schemas.openxmlformats.org/drawingml/2006/main">
            <a:r>
              <a:t>Sort the statements · evidence, ethical concern, or uncertainty?</a:t>
            </a:r>
          </a:p>
          <a:p xmlns:a="http://schemas.openxmlformats.org/drawingml/2006/main">
            <a:r>
              <a:t>12 of 20 treated mice showed improved movement</a:t>
            </a:r>
          </a:p>
          <a:p xmlns:a="http://schemas.openxmlformats.org/drawingml/2006/main">
            <a:r>
              <a:t>Should embryos be used as a source of cells?</a:t>
            </a:r>
          </a:p>
          <a:p xmlns:a="http://schemas.openxmlformats.org/drawingml/2006/main">
            <a:r>
              <a:t>Follow-up lasted only eight weeks</a:t>
            </a:r>
          </a:p>
          <a:p xmlns:a="http://schemas.openxmlformats.org/drawingml/2006/main">
            <a:r>
              <a:t>Cells in culture formed nerve-like cells</a:t>
            </a:r>
          </a:p>
          <a:p xmlns:a="http://schemas.openxmlformats.org/drawingml/2006/main">
            <a:r>
              <a:t>Would a treatment only be available to those who can pay?</a:t>
            </a:r>
          </a:p>
          <a:p xmlns:a="http://schemas.openxmlformats.org/drawingml/2006/main">
            <a:r>
              <a:t>It is not known whether the effect lasts in humans</a:t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ethical concern</a:t>
            </a:r>
          </a:p>
          <a:p xmlns:a="http://schemas.openxmlformats.org/drawingml/2006/main">
            <a:r>
              <a:t>uncertainty</a:t>
            </a:r>
          </a:p>
          <a:p xmlns:a="http://schemas.openxmlformats.org/drawingml/2006/main">
            <a:r>
              <a:t>Press a statement.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STEM CELL unspecialised starting cell a cell that can divide and can differentiate into one or more specialised cell types</a:t>
            </a:r>
          </a:p>
          <a:p xmlns:a="http://schemas.openxmlformats.org/drawingml/2006/main">
            <a:r>
              <a:t>DIFFERENTIATE become specialised to change into a cell with structures suited to a particular function</a:t>
            </a:r>
          </a:p>
          <a:p xmlns:a="http://schemas.openxmlformats.org/drawingml/2006/main">
            <a:r>
              <a:t>ETHICAL about what ought to be done concerning values, rights, responsibilities and possible harm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three-column model keeps scientific findings, ethical concerns and uncertainty visible without pretending they are the same type of statement.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Begin with function: stem cells can divide, then some daughter cells can differentiate into specialised cells.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Distinguish sources: embryonic stem cells can form many cell types; adult stem cells usually form a more limited range; meristems produce new plant cells.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Keep claim and evidence separate: a biological ability creates a possible use, but clinical benefit and safety still require evidence.</a:t>
            </a:r>
          </a:p>
          <a:p xmlns:a="http://schemas.openxmlformats.org/drawingml/2006/main">
            <a:r>
              <a:t>Sort the statements · evidence, ethical concern, or uncertainty?</a:t>
            </a:r>
          </a:p>
          <a:p xmlns:a="http://schemas.openxmlformats.org/drawingml/2006/main">
            <a:r>
              <a:t>12 of 20 treated mice showed improved movement</a:t>
            </a:r>
          </a:p>
          <a:p xmlns:a="http://schemas.openxmlformats.org/drawingml/2006/main">
            <a:r>
              <a:t>Should embryos be used as a source of cells?</a:t>
            </a:r>
          </a:p>
          <a:p xmlns:a="http://schemas.openxmlformats.org/drawingml/2006/main">
            <a:r>
              <a:t>Follow-up lasted only eight weeks</a:t>
            </a:r>
          </a:p>
          <a:p xmlns:a="http://schemas.openxmlformats.org/drawingml/2006/main">
            <a:r>
              <a:t>Cells in culture formed nerve-like cells</a:t>
            </a:r>
          </a:p>
          <a:p xmlns:a="http://schemas.openxmlformats.org/drawingml/2006/main">
            <a:r>
              <a:t>Would a treatment only be available to those who can pay?</a:t>
            </a:r>
          </a:p>
          <a:p xmlns:a="http://schemas.openxmlformats.org/drawingml/2006/main">
            <a:r>
              <a:t>It is not known whether the effect lasts in humans</a:t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ethical concern</a:t>
            </a:r>
          </a:p>
          <a:p xmlns:a="http://schemas.openxmlformats.org/drawingml/2006/main">
            <a:r>
              <a:t>uncertainty</a:t>
            </a:r>
          </a:p>
          <a:p xmlns:a="http://schemas.openxmlformats.org/drawingml/2006/main">
            <a:r>
              <a:t>Press a statement.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It can divide and produce cells that differentiate, supporting growth or replacement.</a:t>
            </a:r>
          </a:p>
          <a:p xmlns:a="http://schemas.openxmlformats.org/drawingml/2006/main">
            <a:r>
              <a:t>It is called undifferentiated.</a:t>
            </a:r>
          </a:p>
          <a:p xmlns:a="http://schemas.openxmlformats.org/drawingml/2006/main">
            <a:r>
              <a:t>It cures every disease.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Scientific evidence can estimate possible benefit and harm; it cannot decide a moral value by itself.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An ethical concern may focus on the source of cells, consent, fairness or acceptable harm.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 careful judgement names what is known, what is valued and what remains uncertain.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three-column model keeps scientific findings, ethical concerns and uncertainty visible without pretending they are the same type of statement.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Scientific evidence can estimate possible benefit and harm; it cannot decide a moral value by itself.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An ethical concern may focus on the source of cells, consent, fairness or acceptable harm.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A careful judgement names what is known, what is valued and what remains uncertain.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three-column model keeps scientific findings, ethical concerns and uncertainty visible without pretending they are the same type of statement.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statement by its main role. Then explain why one statement could matter to more than one column.</a:t>
            </a:r>
          </a:p>
          <a:p xmlns:a="http://schemas.openxmlformats.org/drawingml/2006/main">
            <a:r>
              <a:t>READ CLASSIFY JUSTIFY CHECK REPAIR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Observed division Cells in a controlled culture divided and some differentiated into a named cell type.</a:t>
            </a:r>
          </a:p>
          <a:p xmlns:a="http://schemas.openxmlformats.org/drawingml/2006/main">
            <a:r>
              <a:t>Consent matters People disagree about when and how cells may be donated and used.</a:t>
            </a:r>
          </a:p>
          <a:p xmlns:a="http://schemas.openxmlformats.org/drawingml/2006/main">
            <a:r>
              <a:t>Long-term outcome unknown The study has not followed participants for long enough to measure later effects.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SCIENTIFIC EVIDENCE</a:t>
            </a:r>
          </a:p>
          <a:p xmlns:a="http://schemas.openxmlformats.org/drawingml/2006/main">
            <a:r>
              <a:t>ETHICAL CONCERN</a:t>
            </a:r>
          </a:p>
          <a:p xmlns:a="http://schemas.openxmlformats.org/drawingml/2006/main">
            <a:r>
              <a:t>UNCERTAINTY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If stem cells can become specialised cells, a stem-cell treatment is automatically safe and effective.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biological possibility proves clinical success.</a:t>
            </a:r>
          </a:p>
          <a:p xmlns:a="http://schemas.openxmlformats.org/drawingml/2006/main">
            <a:r>
              <a:t>Repair it: possible use still needs evidence of benefit, risk and long-term outcome.</a:t>
            </a:r>
          </a:p>
          <a:p xmlns:a="http://schemas.openxmlformats.org/drawingml/2006/main">
            <a:r>
              <a:t>Repair it: no stem-cell research can ever be ethical.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statement by its main role. Then explain why one statement could matter to more than one column.</a:t>
            </a:r>
          </a:p>
          <a:p xmlns:a="http://schemas.openxmlformats.org/drawingml/2006/main">
            <a:r>
              <a:t>READ CLASSIFY JUSTIFY CHECK REPAIR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Observed division Cells in a controlled culture divided and some differentiated into a named cell type.</a:t>
            </a:r>
          </a:p>
          <a:p xmlns:a="http://schemas.openxmlformats.org/drawingml/2006/main">
            <a:r>
              <a:t>Consent matters People disagree about when and how cells may be donated and used.</a:t>
            </a:r>
          </a:p>
          <a:p xmlns:a="http://schemas.openxmlformats.org/drawingml/2006/main">
            <a:r>
              <a:t>Long-term outcome unknown The study has not followed participants for long enough to measure later effects.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SCIENTIFIC EVIDENCE</a:t>
            </a:r>
          </a:p>
          <a:p xmlns:a="http://schemas.openxmlformats.org/drawingml/2006/main">
            <a:r>
              <a:t>ETHICAL CONCERN</a:t>
            </a:r>
          </a:p>
          <a:p xmlns:a="http://schemas.openxmlformats.org/drawingml/2006/main">
            <a:r>
              <a:t>UNCERTAINTY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If stem cells can become specialised cells, a stem-cell treatment is automatically safe and effective.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biological possibility proves clinical success.</a:t>
            </a:r>
          </a:p>
          <a:p xmlns:a="http://schemas.openxmlformats.org/drawingml/2006/main">
            <a:r>
              <a:t>Repair it: possible use still needs evidence of benefit, risk and long-term outcome.</a:t>
            </a:r>
          </a:p>
          <a:p xmlns:a="http://schemas.openxmlformats.org/drawingml/2006/main">
            <a:r>
              <a:t>Repair it: no stem-cell research can ever be ethical.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statement by its main role. Then explain why one statement could matter to more than one column.</a:t>
            </a:r>
          </a:p>
          <a:p xmlns:a="http://schemas.openxmlformats.org/drawingml/2006/main">
            <a:r>
              <a:t>READ CLASSIFY JUSTIFY CHECK REPAIR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Observed division Cells in a controlled culture divided and some differentiated into a named cell type.</a:t>
            </a:r>
          </a:p>
          <a:p xmlns:a="http://schemas.openxmlformats.org/drawingml/2006/main">
            <a:r>
              <a:t>Consent matters People disagree about when and how cells may be donated and used.</a:t>
            </a:r>
          </a:p>
          <a:p xmlns:a="http://schemas.openxmlformats.org/drawingml/2006/main">
            <a:r>
              <a:t>Long-term outcome unknown The study has not followed participants for long enough to measure later effects.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SCIENTIFIC EVIDENCE</a:t>
            </a:r>
          </a:p>
          <a:p xmlns:a="http://schemas.openxmlformats.org/drawingml/2006/main">
            <a:r>
              <a:t>ETHICAL CONCERN</a:t>
            </a:r>
          </a:p>
          <a:p xmlns:a="http://schemas.openxmlformats.org/drawingml/2006/main">
            <a:r>
              <a:t>UNCERTAINTY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If stem cells can become specialised cells, a stem-cell treatment is automatically safe and effective.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>Keep it: biological possibility proves clinical success.</a:t>
            </a:r>
          </a:p>
          <a:p xmlns:a="http://schemas.openxmlformats.org/drawingml/2006/main">
            <a:r>
              <a:t>Repair it: possible use still needs evidence of benefit, risk and long-term outcome.</a:t>
            </a:r>
          </a:p>
          <a:p xmlns:a="http://schemas.openxmlformats.org/drawingml/2006/main">
            <a:r>
              <a:t>Repair it: no stem-cell research can ever be ethical.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Stem-cell type cards, evidence/ethics/uncertainty mat, glossary sheet and pencil.</a:t>
            </a:r>
          </a:p>
          <a:p xmlns:a="http://schemas.openxmlformats.org/drawingml/2006/main">
            <a:r>
              <a:t>Same outcome: I can describe stem-cell functions and distinguish scientific evidence, ethical concern and uncertainty.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classification lab with the same statements and preserve the final three-column arrangement on paper or by teacher observation.</a:t>
            </a:r>
          </a:p>
          <a:p xmlns:a="http://schemas.openxmlformats.org/drawingml/2006/main">
            <a:r>
              <a:t>Same evidence: An accurate glossary, classified statements and one cautious claim that distinguishes possibility from evidence.</a:t>
            </a:r>
          </a:p>
          <a:p xmlns:a="http://schemas.openxmlformats.org/drawingml/2006/main">
            <a:r>
              <a:t>Equipment / setup Stem-cell type cards, evidence/ethics/uncertainty mat, glossary sheet and pencil.</a:t>
            </a:r>
          </a:p>
          <a:p xmlns:a="http://schemas.openxmlformats.org/drawingml/2006/main">
            <a:r>
              <a:t>Safety / sensory Use neutral, non-personal cases. No pupil is asked to disclose beliefs, fertility history, disability or medical experience; pass is always available.</a:t>
            </a:r>
          </a:p>
          <a:p xmlns:a="http://schemas.openxmlformats.org/drawingml/2006/main">
            <a:r>
              <a:t>Offline parity Use the local classification lab with the same statements and preserve the final three-column arrangement on paper or by teacher observation.</a:t>
            </a:r>
          </a:p>
          <a:p xmlns:a="http://schemas.openxmlformats.org/drawingml/2006/main">
            <a:r>
              <a:t>No-equipment/access route: Point to or direct an adult to place each card, then dictate the scientific reason. Exact adult scribing is equivalent evidence.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Classify three statements and describe one stem-cell function before writing one cautious claim.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Evidence shows __. It does not yet show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Stem-cell type cards, evidence/ethics/uncertainty mat, glossary sheet and pencil.</a:t>
            </a:r>
          </a:p>
          <a:p xmlns:a="http://schemas.openxmlformats.org/drawingml/2006/main">
            <a:r>
              <a:t>Same outcome: I can describe stem-cell functions and distinguish scientific evidence, ethical concern and uncertainty.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local classification lab with the same statements and preserve the final three-column arrangement on paper or by teacher observation.</a:t>
            </a:r>
          </a:p>
          <a:p xmlns:a="http://schemas.openxmlformats.org/drawingml/2006/main">
            <a:r>
              <a:t>Same evidence: An accurate glossary, classified statements and one cautious claim that distinguishes possibility from evidence.</a:t>
            </a:r>
          </a:p>
          <a:p xmlns:a="http://schemas.openxmlformats.org/drawingml/2006/main">
            <a:r>
              <a:t>Equipment / setup Stem-cell type cards, evidence/ethics/uncertainty mat, glossary sheet and pencil.</a:t>
            </a:r>
          </a:p>
          <a:p xmlns:a="http://schemas.openxmlformats.org/drawingml/2006/main">
            <a:r>
              <a:t>Safety / sensory Use neutral, non-personal cases. No pupil is asked to disclose beliefs, fertility history, disability or medical experience; pass is always available.</a:t>
            </a:r>
          </a:p>
          <a:p xmlns:a="http://schemas.openxmlformats.org/drawingml/2006/main">
            <a:r>
              <a:t>Offline parity Use the local classification lab with the same statements and preserve the final three-column arrangement on paper or by teacher observation.</a:t>
            </a:r>
          </a:p>
          <a:p xmlns:a="http://schemas.openxmlformats.org/drawingml/2006/main">
            <a:r>
              <a:t>No-equipment/access route: Point to or direct an adult to place each card, then dictate the scientific reason. Exact adult scribing is equivalent evidence.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Classify three statements and describe one stem-cell function before writing one cautious claim.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Evidence shows __. It does not yet show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SCI_L_W11L1_Stem_Cell_Evidence_Introduce.html.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one next move; the pupil edits or re-attempts on the existing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Real decisions involve more evidence, different stakeholders and changing medical knowledge; three cards cannot settle an ethical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Distinguish scientific evidence from an ethical concern in this context.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I changed / next I will …</a:t>
            </a:r>
          </a:p>
          <a:p xmlns:a="http://schemas.openxmlformats.org/drawingml/2006/main">
            <a:r>
              <a:t>Adult feedback that produced the edit / re-attempt:</a:t>
            </a:r>
          </a:p>
          <a:p xmlns:a="http://schemas.openxmlformats.org/drawingml/2006/main">
            <a:r>
              <a:t>QUESTION EVIDENCE PATTERN EXPLANATION APPLICATION EVALUATION</a:t>
            </a:r>
          </a:p>
          <a:p xmlns:a="http://schemas.openxmlformats.org/drawingml/2006/main">
            <a:r>
              <a:t>LAUNCH rule: explanation is earned through prediction, observation, measurement, calculation or reasoning from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SCI_L_W11L1_Stem_Cell_Evidence_Introduce.html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e8c2d6a304c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7cc7ede25f4e9d" /><Relationship Type="http://schemas.openxmlformats.org/officeDocument/2006/relationships/slideLayout" Target="/ppt/slideLayouts/slideLayout1.xml" Id="Rbc16e0d00c574a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6e0d00c574a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a98c0ced448f7" /><Relationship Type="http://schemas.openxmlformats.org/officeDocument/2006/relationships/hyperlink" Target="SCI_L_W11L1_Stem_Cell_Evidence_Introduce.html" TargetMode="External" Id="Rd99a916013df4d85" /><Relationship Type="http://schemas.openxmlformats.org/officeDocument/2006/relationships/notesSlide" Target="/ppt/notesSlides/notesSlide1.xml" Id="R09b6178ff6424c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8f0058efa4b99" /><Relationship Type="http://schemas.openxmlformats.org/officeDocument/2006/relationships/notesSlide" Target="/ppt/notesSlides/notesSlide2.xml" Id="R0df5b2f8c7b24e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c60741ee34e57" /><Relationship Type="http://schemas.openxmlformats.org/officeDocument/2006/relationships/notesSlide" Target="/ppt/notesSlides/notesSlide3.xml" Id="Rab0c70f78e784c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2cf66ac4d49a8" /><Relationship Type="http://schemas.openxmlformats.org/officeDocument/2006/relationships/notesSlide" Target="/ppt/notesSlides/notesSlide4.xml" Id="Re35df93ad87840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a2f29096e4584" /><Relationship Type="http://schemas.openxmlformats.org/officeDocument/2006/relationships/notesSlide" Target="/ppt/notesSlides/notesSlide5.xml" Id="R87da1dfa00054c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efcfd8f6e4185" /><Relationship Type="http://schemas.openxmlformats.org/officeDocument/2006/relationships/image" Target="/ppt/media/image.png" Id="R05c6faf6593f4986" /><Relationship Type="http://schemas.openxmlformats.org/officeDocument/2006/relationships/image" Target="/ppt/media/image2.png" Id="R8af9efb2b9b84621" /><Relationship Type="http://schemas.openxmlformats.org/officeDocument/2006/relationships/image" Target="/ppt/media/image3.png" Id="Ref710f9f60af4154" /><Relationship Type="http://schemas.openxmlformats.org/officeDocument/2006/relationships/notesSlide" Target="/ppt/notesSlides/notesSlide6.xml" Id="Rf1039c8c21f745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d318fc6804a31" /><Relationship Type="http://schemas.openxmlformats.org/officeDocument/2006/relationships/notesSlide" Target="/ppt/notesSlides/notesSlide7.xml" Id="R40cc5887b2a84d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82ca281654850" /><Relationship Type="http://schemas.openxmlformats.org/officeDocument/2006/relationships/notesSlide" Target="/ppt/notesSlides/notesSlide8.xml" Id="R229b82ec67e845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3820ea9c1449d" /><Relationship Type="http://schemas.openxmlformats.org/officeDocument/2006/relationships/notesSlide" Target="/ppt/notesSlides/notesSlide9.xml" Id="Raf83d4538f1e4d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3db510a424f15" /><Relationship Type="http://schemas.openxmlformats.org/officeDocument/2006/relationships/notesSlide" Target="/ppt/notesSlides/notesSlide10.xml" Id="Ra3f2eff8e60045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21c7140ca4f3d" /><Relationship Type="http://schemas.openxmlformats.org/officeDocument/2006/relationships/notesSlide" Target="/ppt/notesSlides/notesSlide11.xml" Id="R2f8d6f8f25404d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baaec005c4be7" /><Relationship Type="http://schemas.openxmlformats.org/officeDocument/2006/relationships/notesSlide" Target="/ppt/notesSlides/notesSlide12.xml" Id="Rf8b989609a2c45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74dfc98944fbc" /><Relationship Type="http://schemas.openxmlformats.org/officeDocument/2006/relationships/notesSlide" Target="/ppt/notesSlides/notesSlide13.xml" Id="R0bf6a8f97af243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4dd2e9a304a2c" /><Relationship Type="http://schemas.openxmlformats.org/officeDocument/2006/relationships/notesSlide" Target="/ppt/notesSlides/notesSlide14.xml" Id="R15099803602847a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c4a51bd2d4032" /><Relationship Type="http://schemas.openxmlformats.org/officeDocument/2006/relationships/notesSlide" Target="/ppt/notesSlides/notesSlide15.xml" Id="R17eacc908a2240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d934ae2fc45e9" /><Relationship Type="http://schemas.openxmlformats.org/officeDocument/2006/relationships/notesSlide" Target="/ppt/notesSlides/notesSlide16.xml" Id="R298c8155b2fc421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cd44fa646443a" /><Relationship Type="http://schemas.openxmlformats.org/officeDocument/2006/relationships/notesSlide" Target="/ppt/notesSlides/notesSlide17.xml" Id="R08375bae1fdf4d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B4DB2D0A-37E1-45E0-9967-4C65E78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25CE8C2-E84D-48D5-9C72-517ADA86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1055DD-5F13-4210-85C2-0036FCF5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A30F786-2156-4EF4-B47A-A94BF1F8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Stem Cells: Evidence Before Judgement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995939B-E291-44C7-900E-5F92E29E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5402FDAB-7DA5-40D8-9060-AE8C2BC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describe stem-cell functions and distinguish scientific evidence, ethical concern and uncertainty.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606C04E4-5FF4-4B14-8457-0B4D9182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022C2D9D-03A7-49CA-9A91-5F74A417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DF8317A2-84A0-4D0A-A1C9-22BB87F2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divide and differentiate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A1B4634D-3285-4430-A43C-A293A249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8C29048D-BCC7-4053-9D7E-6BE33E6A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F235BDE2-4200-49BC-973B-98AA6FD2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observations support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531B3145-47A2-48C1-BFEE-6FB83CB5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5B2318EC-BD06-4D69-B520-9CC2CB10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ETHICS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17FC8D13-7EF7-471A-9835-3E245E77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values as well as facts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89A65A47-F695-476A-8482-B66DA576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A5C9E"/>
                </a:solidFill>
                <a:latin typeface="Arial"/>
                <a:ea typeface="Arial"/>
                <a:cs typeface="Arial"/>
                <a:hlinkClick xmlns:r="http://schemas.openxmlformats.org/officeDocument/2006/relationships" r:id="Rd99a916013df4d85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919F008E-04B8-441E-B703-050F8BF8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7388AEFB-A4E8-48B4-A79D-7D3C5CD5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497732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0C117AE-1D81-498F-AFF4-98C9C34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C9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80FF9C3-6F79-466E-A36B-A867E12D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AE434F6-D7D7-4320-AC1B-7531B210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066E3C1-CB5A-4856-A422-51AA4BA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360F894-F159-46AF-BD47-B29C4282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A61111E-C451-40ED-B604-49BC5589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describe a stem cell as able to divide and differentiate.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D12262A-5ABA-48EC-BACA-60D135AB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embryonic stem cells, adult stem cells and plant meristems.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CC2EC3F-48AA-482B-8D5E-CF6DB030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classify a statement as evidence, ethical concern or uncertainty.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41C45261-685D-4A21-92AE-CC5BA978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CC2ACF3-DB58-49E1-B599-2C14A9BD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793758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71CDF432-3C91-4F9E-8FFD-C9738413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1705CD2-B2A9-41B6-83C5-8E3761B7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F0095D4-BD78-4A63-9208-B61A4894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D63147-BDDD-4DF5-9E11-08E42254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605DFE1-4B1F-415E-AA3B-5F951E28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9FA91BE-434D-4D07-88CF-721C0362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role of mitosis in growth or repair.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55F679D-C067-4D4E-96F9-3A5CA46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differentiation in one sentence.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F0AC71E-7803-40C4-85F5-074415D5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plant tissue that contains stem cells.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14D59B05-507C-45CE-9116-0F46D032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why is 'might help' different from 'has been shown to help'?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A07CC65-A32B-4ACF-A3B1-D943CC1F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509FE64-9CFC-440E-93B5-580A8BD1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842489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7CB7AB1-13EA-4D9D-890A-76833A8C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52FBC76-4723-4A49-AF0F-2C9E7DE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4B1AF90-801A-4C64-9D8D-0B3B0E7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355959-8B9B-47C1-943B-A22DB544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headline says, 'Stem cells will cure every damaged organ.' What should a scientist do first?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E6884FE-B021-4581-9718-CB786D29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2744464-0A24-4D5E-8BB0-40AEF353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8037204-0A54-43A1-A260-DCB81314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Accept it because stem cells can differentiate.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2F23701-6FF1-4EF7-903B-09A89AFA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Check the evidence, the cell type, the outcomes and the risks.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972B304-D00D-470E-B15D-4A93E169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Reject every possible medical use of stem cells.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C2AB1E1-CD1C-4443-BA66-5103199C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6D89415-5DB6-47B6-AE81-4223417F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851424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233F5F5-E656-4827-87EE-1F90F4D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9F8F2E4-DDDC-4339-8365-888EE7E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C0BAE49-45A5-464E-A8AE-CD102A62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25517F-2344-4639-9ABE-48DABA45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4A701A6-CE57-4270-865E-4AAF2C16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011C028-3F3C-4549-AB31-EFC13617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CLAIM · what is being said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E729CF6-757D-414A-9C36-C1AEF46D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· what was observed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A8AB394-3DDD-4E27-9BCE-D5C11AF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LIMIT · what is still uncertain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AF83516-E02F-4FBE-9F04-DBE220FB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AF47CD8-C182-4987-B182-88221D13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28139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5028E3B3-E724-4887-880A-463CF406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667B92A-FE0A-4930-A73E-328D0CB6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0E60330-199F-4221-907C-69EC7FD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047328-24D6-4339-BB86-0FCAE0FE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5892165-CCBE-45EB-B6A4-FDD8F36E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6faf6593f4986"/>
          <a:stretch xmlns:a="http://schemas.openxmlformats.org/drawingml/2006/main"/>
        </p:blipFill>
        <p:spPr>
          <a:xfrm xmlns:a="http://schemas.openxmlformats.org/drawingml/2006/main">
            <a:off x="800100" y="3324103"/>
            <a:ext cx="3378200" cy="714619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87178E2F-79D9-40D8-AD41-A76438B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9efb2b9b84621"/>
          <a:stretch xmlns:a="http://schemas.openxmlformats.org/drawingml/2006/main"/>
        </p:blipFill>
        <p:spPr>
          <a:xfrm xmlns:a="http://schemas.openxmlformats.org/drawingml/2006/main">
            <a:off x="4406900" y="3324103"/>
            <a:ext cx="3378200" cy="714619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9E4A60E7-3429-49D6-A9D4-AC2B2B37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10f9f60af4154"/>
          <a:stretch xmlns:a="http://schemas.openxmlformats.org/drawingml/2006/main"/>
        </p:blipFill>
        <p:spPr>
          <a:xfrm xmlns:a="http://schemas.openxmlformats.org/drawingml/2006/main">
            <a:off x="8013700" y="3324103"/>
            <a:ext cx="3378200" cy="714619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C62CC21F-3D09-4DD5-9511-67D0EB6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1D1B3712-B5A3-498D-8EF5-78D9D136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2EF0864-8606-47C4-A47B-E7FAB16F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777523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2E314CB-BC91-4939-B231-6B273C29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229704E-F389-4602-8A92-8E98B831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916C3F1-D5AB-4A30-975E-6E340438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52D44D-FA4B-47F2-9FFF-131E80CA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0A444EA-A7BF-4684-A3E3-101C61E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D64D813-68BC-494E-89ED-13C429D1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stem cell — unspecialised starting cell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39F2CF5-29D5-4287-B0C0-1AC6553A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differentiate — become specialised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BB307C0-D1AF-4A4E-8AD0-BF6A040E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ethical — about what ought to be done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67870AA5-273D-4A0F-83BC-4A5BE46D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2858BA5-F5FE-439D-95D5-F213B784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903274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3A8E566-66FA-4CCF-BC10-7612C615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726CF9F-B163-4C2A-849E-37641953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21039B4-AFA0-4F80-9514-A58A29AF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9FBA63-6A48-42CF-91CA-A4015752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954D66B-1E8B-46A4-9FD3-D9103589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A0172B9-81A4-4289-9393-B13AA99C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Begin with function: stem cells can divide, then some daughter cells can differentiate into specialised cells.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4CCBD4B-F3CB-466C-8478-B9114696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Distinguish sources: embryonic stem cells can form many cell types; adult stem cells usually form a more limited range; meristems produce new plant cells.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747FC43-BC52-4850-99F8-5F655C9D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claim and evidence separate: a biological ability creates a possible use, but clinical benefit and safety still require evidence.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0453200-58B9-4AB9-BBFE-197E210E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E777701-7E01-44AE-97F7-F59B75F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749756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94522E6-75F8-4C78-A476-64A04AA5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41EECB0-6B6A-433D-90CF-349EC697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E001E7F-65C6-45D0-9370-7BE9CC41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A21E22-ABF5-43F9-AF3E-6E6F6512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statement describes a stem-cell function rather than only a property?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236B708-EED0-4381-A7A2-825FA713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C8D85E5-9FCE-4995-9F0F-83BAA6D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It can divide and produce cells that differentiate, supporting growth or replacement.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10092A3-9936-4FEC-9CFA-D90D8784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It is called undifferentiated.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B844D39-0EE7-4328-BD01-37877AF8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It cures every disease.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B71FE70-434D-43F3-A38B-4D249F4E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5273DD6-3A59-44F2-99D7-7C20E1B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682729E-04A7-44DC-B639-84118836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20558277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52A580B-0EFE-47D8-864B-AAB58F98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0944133-7701-4990-B293-32D73078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04591D0-889A-456B-A298-F51F36E9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6E426B-B804-4FCF-B1AC-3F60C0A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1DBC95D-986F-4F70-8001-C0D2EB68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DB6CBD8-F0B0-4DCC-ABA9-E25E7CFA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Scientific evidence can estimate possible benefit and harm; it cannot decide a moral value by itself.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08F6E97-95E9-4F75-A47A-4B648A7A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An ethical concern may focus on the source of cells, consent, fairness or acceptable harm.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8AE5054-1EA0-4B51-8497-F126EC8F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careful judgement names what is known, what is valued and what remains uncertain.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CC4DEFE0-8CA3-4A75-94C7-A53CCEC4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AC99F5F-AC5A-419A-94C4-76614805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489285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B928459-C4B4-4845-B205-5678775A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21ECEBF-1D60-4815-8D84-E2A5FFAC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52C9634-6334-4793-A87E-C2679E1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F0CA4A-A5DB-48CC-AF07-099E9340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DD62F02-2838-4151-8177-E6FA2B5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D00B274-23C5-4F1F-BCED-928C7F6C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If stem cells can become specialised cells, a stem-cell treatment is automatically safe and effective.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AA9C080-C6B8-4A3E-9035-2E420243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biological possibility proves clinical success.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A90677F-E12B-4A0C-AEF1-D97E8925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possible use still needs evidence of benefit, risk and long-term outcome.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DD648841-E4D9-445E-AA8F-1D15AA92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no stem-cell research can ever be ethical.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ADCC85F-3E51-48E4-B6A2-7A264716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9548452-9A79-448D-94BE-E91D47E1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694974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0658D3C-243A-4193-9F1B-ABF2E390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529618B-FBFD-4CAD-B3B2-29C5DB91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016477-2575-43D8-9AB4-A3C2F534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B41BC09-3F9E-4643-92D4-D274EE8D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Evidence, ethics or uncertainty?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7E041CB-79DD-4C62-B3AB-5817AF4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868BA04-074C-46EB-8BE0-19A76EC0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statement by its main role. Then explain why one statement could matter to more than one column.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B037D61-F663-4E2C-BFA1-09787DE3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77ECFF6-B39F-4F82-A099-2EF36B20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CLASSIFY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39B1672-4771-421D-A387-69F33403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JUSTIFY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0DA006FB-617F-4AD1-A0AE-9DEDEAC5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619DE0B8-14FB-4070-BF53-7E650B2A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B771884-C6EA-4EB8-A7E9-CD350D22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829E17D9-E50C-4FBD-998C-A6E4099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2690408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CBC07462-A271-420B-8EF8-F9AB2AA9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DCBB97F-4F13-41D2-A49E-2015EFA7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9EC5D05-1987-4612-9DAB-2CC951E0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E1B7E8-B52C-4790-BDB4-19ECEF35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Evidence, ethics or uncertainty?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90F8F0E-AAD6-44C7-A536-54C53824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D0B3555-B89D-4EA7-9E63-F910AC5A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2BFFE24A-7B3D-44C1-8CCE-86DCF03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06903389-F30E-479A-8173-6732EA2D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853357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7BE460D-CDBE-4CBB-8DB4-8159E928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B8E6A21-B281-4C6B-9DAA-DFDD9EC9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D262C9E-7C9B-4043-87DB-EF3BE518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C71F05-A16B-4B1D-A43C-30E5BD6D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559C2C6-3B53-47EE-A994-F547FB2E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B35E3F1-FE6B-471D-8CC1-9C87CEC7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SCIENTIFIC EVIDENCE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B971EA0-CE79-4DDD-AA74-0D7AEAEF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ETHICAL CONCERN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C36AED1-5A5C-4713-AF46-068AD6F2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UNCERTAINTY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25881E2-4F8F-452E-9A61-70A35C2E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column contains a fact, which contains a value question and which names a gap in evidence?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1C21CFA-7FD6-4BBD-AE98-2F887DC2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BFA2289B-6EEC-44EF-BC31-385CB011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6008656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AA8688F0-7F87-4D6C-9C78-16E1911E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E3C4BBA-711D-48E9-B2D0-AFA4EBAC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F0D476A-F161-4E13-BC86-448CEE33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70A33F2-3379-48EE-B7CA-76B1D157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4725333-D438-4457-8D13-467F4A1B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B73E20B-6B48-4403-8141-90CB7143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a stem-cell evidence glossary and classify three short statements before writing one cautious scientific claim.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23D2FA1-F29D-407B-B1FA-98B217F8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An accurate glossary, classified statements and one cautious claim that distinguishes possibility from evidence.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A5575F0C-5CC1-4A13-9726-AD677A4C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7FE1E68-A0E6-4301-B982-43293E5E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10125618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EC984BA-E481-4F2C-8EB3-A6757520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B17D4DA-1A04-4D84-89F9-1A854B5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8572C58-72F9-448A-8409-1FB916FB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DEF8569-D02C-47EA-8346-FD91F895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377DDA3-84F4-4799-B8C7-8F8F9FA9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BC6874-F3CB-454F-956B-0C2703AB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Match stem cell, differentiate and ethical to icon-backed meanings; sort three statements.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A769E9A-5A66-476B-B8FB-2FD4C7CB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Classify three statements and describe one stem-cell function before writing one cautious claim.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FAC0F78-8227-4453-9BB0-98079D2C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Classify three statements, identify one overlap and explain why function alone cannot prove treatment success.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F41D961-645C-42F7-BFA4-C2A668A0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D0AC84E-C31B-4913-AB2D-3E68A7E7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9423116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85C90845-6881-4A25-BEA1-C0AD32BF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05C6B29-A45A-4F5C-B080-A4E1D19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LAUNCH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346E11D-DD24-43F6-9B29-F61BD753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5C9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A5C9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673A8F-A53D-4166-89DE-38574A2E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4F6D24F-1862-4874-8745-E12CE050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EB53887-E626-4649-B84C-EE273D52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Distinguish scientific evidence from an ethical concern in this context.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7B42322-D1A2-44DD-8192-B69CF6E0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3E17CC3D-4778-46D6-A2EC-EE93E93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FE8F79B-4A24-41EF-BBBB-ACD7E96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1259298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2026-09-08T08:54:16.0290000Z</dcterms:created>
  <dcterms:modified xsi:type="dcterms:W3CDTF">2026-09-08T08:54:16.0290000Z</dcterms:modified>
</coreProperties>
</file>