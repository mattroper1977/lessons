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582a2c44df4f88" /><Relationship Type="http://schemas.openxmlformats.org/officeDocument/2006/relationships/extended-properties" Target="/docProps/app.xml" Id="R894b3a3dce824bf9" /><Relationship Type="http://schemas.openxmlformats.org/officeDocument/2006/relationships/officeDocument" Target="/ppt/presentation.xml" Id="Rfb51fe187f1346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39a10a02564aec"/>
  </p:sldMasterIdLst>
  <p:notesMasterIdLst>
    <p:notesMasterId xmlns:r="http://schemas.openxmlformats.org/officeDocument/2006/relationships" r:id="Rbd26ffa25d5a46d5"/>
  </p:notesMasterIdLst>
  <p:sldIdLst>
    <p:sldId xmlns:r="http://schemas.openxmlformats.org/officeDocument/2006/relationships" id="256" r:id="Ra4742a6a86be447c"/>
    <p:sldId xmlns:r="http://schemas.openxmlformats.org/officeDocument/2006/relationships" id="257" r:id="R41f365045fd54a08"/>
    <p:sldId xmlns:r="http://schemas.openxmlformats.org/officeDocument/2006/relationships" id="258" r:id="R0dbabfd8b3594901"/>
    <p:sldId xmlns:r="http://schemas.openxmlformats.org/officeDocument/2006/relationships" id="259" r:id="R35e0822d95f148a3"/>
    <p:sldId xmlns:r="http://schemas.openxmlformats.org/officeDocument/2006/relationships" id="260" r:id="R35db9ac950c249dc"/>
    <p:sldId xmlns:r="http://schemas.openxmlformats.org/officeDocument/2006/relationships" id="261" r:id="R32c83611d27b4d37"/>
    <p:sldId xmlns:r="http://schemas.openxmlformats.org/officeDocument/2006/relationships" id="262" r:id="Rab7c7b80d9e64388"/>
    <p:sldId xmlns:r="http://schemas.openxmlformats.org/officeDocument/2006/relationships" id="263" r:id="R5383715c52974ba6"/>
    <p:sldId xmlns:r="http://schemas.openxmlformats.org/officeDocument/2006/relationships" id="264" r:id="R28ac346afa464ee9"/>
    <p:sldId xmlns:r="http://schemas.openxmlformats.org/officeDocument/2006/relationships" id="265" r:id="R2929fbea0f97411b"/>
    <p:sldId xmlns:r="http://schemas.openxmlformats.org/officeDocument/2006/relationships" id="266" r:id="R8d9825a6aa944122"/>
    <p:sldId xmlns:r="http://schemas.openxmlformats.org/officeDocument/2006/relationships" id="267" r:id="R69260f2e9b434af7"/>
    <p:sldId xmlns:r="http://schemas.openxmlformats.org/officeDocument/2006/relationships" id="268" r:id="Rf036ba435a004e4c"/>
    <p:sldId xmlns:r="http://schemas.openxmlformats.org/officeDocument/2006/relationships" id="269" r:id="R727f5b8171e042d8"/>
    <p:sldId xmlns:r="http://schemas.openxmlformats.org/officeDocument/2006/relationships" id="270" r:id="Rfdaa50753c844ee0"/>
    <p:sldId xmlns:r="http://schemas.openxmlformats.org/officeDocument/2006/relationships" id="271" r:id="R3982d982bb5146ab"/>
    <p:sldId xmlns:r="http://schemas.openxmlformats.org/officeDocument/2006/relationships" id="272" r:id="R48b6f12f736f43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7296424ae74234" /><Relationship Type="http://schemas.openxmlformats.org/officeDocument/2006/relationships/slideMaster" Target="/ppt/slideMasters/slideMaster1.xml" Id="Rc039a10a02564aec" /><Relationship Type="http://schemas.openxmlformats.org/officeDocument/2006/relationships/notesMaster" Target="/ppt/notesMasters/notesMaster1.xml" Id="Rbd26ffa25d5a46d5" /><Relationship Type="http://schemas.openxmlformats.org/officeDocument/2006/relationships/presProps" Target="/ppt/presProps.xml" Id="R422d6aa7587d4c56" /><Relationship Type="http://schemas.openxmlformats.org/officeDocument/2006/relationships/tableStyles" Target="/ppt/tableStyles.xml" Id="R61334315e9d34c7b" /><Relationship Type="http://schemas.openxmlformats.org/officeDocument/2006/relationships/slide" Target="/ppt/slides/slide1.xml" Id="Ra4742a6a86be447c" /><Relationship Type="http://schemas.openxmlformats.org/officeDocument/2006/relationships/slide" Target="/ppt/slides/slide2.xml" Id="R41f365045fd54a08" /><Relationship Type="http://schemas.openxmlformats.org/officeDocument/2006/relationships/slide" Target="/ppt/slides/slide3.xml" Id="R0dbabfd8b3594901" /><Relationship Type="http://schemas.openxmlformats.org/officeDocument/2006/relationships/slide" Target="/ppt/slides/slide4.xml" Id="R35e0822d95f148a3" /><Relationship Type="http://schemas.openxmlformats.org/officeDocument/2006/relationships/slide" Target="/ppt/slides/slide5.xml" Id="R35db9ac950c249dc" /><Relationship Type="http://schemas.openxmlformats.org/officeDocument/2006/relationships/slide" Target="/ppt/slides/slide6.xml" Id="R32c83611d27b4d37" /><Relationship Type="http://schemas.openxmlformats.org/officeDocument/2006/relationships/slide" Target="/ppt/slides/slide7.xml" Id="Rab7c7b80d9e64388" /><Relationship Type="http://schemas.openxmlformats.org/officeDocument/2006/relationships/slide" Target="/ppt/slides/slide8.xml" Id="R5383715c52974ba6" /><Relationship Type="http://schemas.openxmlformats.org/officeDocument/2006/relationships/slide" Target="/ppt/slides/slide9.xml" Id="R28ac346afa464ee9" /><Relationship Type="http://schemas.openxmlformats.org/officeDocument/2006/relationships/slide" Target="/ppt/slides/slide10.xml" Id="R2929fbea0f97411b" /><Relationship Type="http://schemas.openxmlformats.org/officeDocument/2006/relationships/slide" Target="/ppt/slides/slide11.xml" Id="R8d9825a6aa944122" /><Relationship Type="http://schemas.openxmlformats.org/officeDocument/2006/relationships/slide" Target="/ppt/slides/slide12.xml" Id="R69260f2e9b434af7" /><Relationship Type="http://schemas.openxmlformats.org/officeDocument/2006/relationships/slide" Target="/ppt/slides/slide13.xml" Id="Rf036ba435a004e4c" /><Relationship Type="http://schemas.openxmlformats.org/officeDocument/2006/relationships/slide" Target="/ppt/slides/slide14.xml" Id="R727f5b8171e042d8" /><Relationship Type="http://schemas.openxmlformats.org/officeDocument/2006/relationships/slide" Target="/ppt/slides/slide15.xml" Id="Rfdaa50753c844ee0" /><Relationship Type="http://schemas.openxmlformats.org/officeDocument/2006/relationships/slide" Target="/ppt/slides/slide16.xml" Id="R3982d982bb5146ab" /><Relationship Type="http://schemas.openxmlformats.org/officeDocument/2006/relationships/slide" Target="/ppt/slides/slide17.xml" Id="R48b6f12f736f43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4894af661048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28f8a982564344" /><Relationship Type="http://schemas.openxmlformats.org/officeDocument/2006/relationships/notesMaster" Target="/ppt/notesMasters/notesMaster1.xml" Id="Ra2bffbcd6c624e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368fb5130f416e" /><Relationship Type="http://schemas.openxmlformats.org/officeDocument/2006/relationships/notesMaster" Target="/ppt/notesMasters/notesMaster1.xml" Id="R243687e6f67d43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d8f89849274354" /><Relationship Type="http://schemas.openxmlformats.org/officeDocument/2006/relationships/notesMaster" Target="/ppt/notesMasters/notesMaster1.xml" Id="Rdcc3faf4571448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d2e13d31224202" /><Relationship Type="http://schemas.openxmlformats.org/officeDocument/2006/relationships/notesMaster" Target="/ppt/notesMasters/notesMaster1.xml" Id="R43fa41b3383f40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9c09e66b6947b1" /><Relationship Type="http://schemas.openxmlformats.org/officeDocument/2006/relationships/notesMaster" Target="/ppt/notesMasters/notesMaster1.xml" Id="Rad5230846cd847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3a3acfd59a4215" /><Relationship Type="http://schemas.openxmlformats.org/officeDocument/2006/relationships/notesMaster" Target="/ppt/notesMasters/notesMaster1.xml" Id="R2c418678975342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a6b3c90973447f" /><Relationship Type="http://schemas.openxmlformats.org/officeDocument/2006/relationships/notesMaster" Target="/ppt/notesMasters/notesMaster1.xml" Id="R62794d467e034a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b30830788f45c5" /><Relationship Type="http://schemas.openxmlformats.org/officeDocument/2006/relationships/notesMaster" Target="/ppt/notesMasters/notesMaster1.xml" Id="R581d235322574e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ccb2c7aac646e6" /><Relationship Type="http://schemas.openxmlformats.org/officeDocument/2006/relationships/notesMaster" Target="/ppt/notesMasters/notesMaster1.xml" Id="R664055e5bd7c41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f3c0e0923d4bbd" /><Relationship Type="http://schemas.openxmlformats.org/officeDocument/2006/relationships/notesMaster" Target="/ppt/notesMasters/notesMaster1.xml" Id="R95c9a8be1c9948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dee7a6369f4d3a" /><Relationship Type="http://schemas.openxmlformats.org/officeDocument/2006/relationships/notesMaster" Target="/ppt/notesMasters/notesMaster1.xml" Id="R3b305feac8df45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89ad6a84e7446f" /><Relationship Type="http://schemas.openxmlformats.org/officeDocument/2006/relationships/notesMaster" Target="/ppt/notesMasters/notesMaster1.xml" Id="Ra4406079928a49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9d6711e56a49d7" /><Relationship Type="http://schemas.openxmlformats.org/officeDocument/2006/relationships/notesMaster" Target="/ppt/notesMasters/notesMaster1.xml" Id="R44db23780a1545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53b53026de4b04" /><Relationship Type="http://schemas.openxmlformats.org/officeDocument/2006/relationships/notesMaster" Target="/ppt/notesMasters/notesMaster1.xml" Id="Rc63b0d96fa3e41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e7dba6c27141a4" /><Relationship Type="http://schemas.openxmlformats.org/officeDocument/2006/relationships/notesMaster" Target="/ppt/notesMasters/notesMaster1.xml" Id="R8c651cf1ac024b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92637d498724376" /><Relationship Type="http://schemas.openxmlformats.org/officeDocument/2006/relationships/notesMaster" Target="/ppt/notesMasters/notesMaster1.xml" Id="Rd1bbd12904fb4f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9917d943fe4e47" /><Relationship Type="http://schemas.openxmlformats.org/officeDocument/2006/relationships/notesMaster" Target="/ppt/notesMasters/notesMaster1.xml" Id="R3df2fd8d364244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8 Enrichment · Do</a:t>
            </a:r>
          </a:p>
          <a:p xmlns:a="http://schemas.openxmlformats.org/drawingml/2006/main">
            <a:r>
              <a:t>Learning objective: I can calculate amylase rate from endpoint time, plot and interpret the pH pattern, evaluate the method, and apply Topic 1 knowledge to exam-style evidence.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Calculate rate as 1 divided by time with correct substitution and units, or use the stated scaled-rate convention accurately.</a:t>
            </a:r>
          </a:p>
          <a:p xmlns:a="http://schemas.openxmlformats.org/drawingml/2006/main">
            <a:r>
              <a:t>Plot or interpret pH against rate and identify an evidence-supported optimum without overstating precision.</a:t>
            </a:r>
          </a:p>
          <a:p xmlns:a="http://schemas.openxmlformats.org/drawingml/2006/main">
            <a:r>
              <a:t>Evaluate one strength, one limitation and one justified improvement, then transfer a Topic 1 idea to a fresh question.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8 Enrichment · Do</a:t>
            </a:r>
          </a:p>
          <a:p xmlns:a="http://schemas.openxmlformats.org/drawingml/2006/main">
            <a:r>
              <a:t>Learning objective: I can calculate amylase rate from endpoint time, plot and interpret the pH pattern, evaluate the method, and apply Topic 1 knowledge to exam-style evidence.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Calculate rate as 1 divided by time with correct substitution and units, or use the stated scaled-rate convention accurately.</a:t>
            </a:r>
          </a:p>
          <a:p xmlns:a="http://schemas.openxmlformats.org/drawingml/2006/main">
            <a:r>
              <a:t>Plot or interpret pH against rate and identify an evidence-supported optimum without overstating precision.</a:t>
            </a:r>
          </a:p>
          <a:p xmlns:a="http://schemas.openxmlformats.org/drawingml/2006/main">
            <a:r>
              <a:t>Evaluate one strength, one limitation and one justified improvement, then transfer a Topic 1 idea to a fresh question.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Last lesson: the endpoint is the first sampled time when iodine remains orange-brown because starch is not detected.</a:t>
            </a:r>
          </a:p>
          <a:p xmlns:a="http://schemas.openxmlformats.org/drawingml/2006/main">
            <a:r>
              <a:t>Last lesson: a shorter endpoint time represents faster starch breakdown under the conditions tested.</a:t>
            </a:r>
          </a:p>
          <a:p xmlns:a="http://schemas.openxmlformats.org/drawingml/2006/main">
            <a:r>
              <a:t>W7 command words: CALCULATE requires working; EVALUATE requires evidence, strengths/limitations and a supported judgement.</a:t>
            </a:r>
          </a:p>
          <a:p xmlns:a="http://schemas.openxmlformats.org/drawingml/2006/main">
            <a:r>
              <a:t>Lead-in: reciprocal rate lets faster reactions have larger numerical rate values.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Explain why shorter endpoint time means faster amylase activity.</a:t>
            </a:r>
          </a:p>
          <a:p xmlns:a="http://schemas.openxmlformats.org/drawingml/2006/main">
            <a:r>
              <a:t>State one controlled variable from the investigation.</a:t>
            </a:r>
          </a:p>
          <a:p xmlns:a="http://schemas.openxmlformats.org/drawingml/2006/main">
            <a:r>
              <a:t>W7: state what working a CALCULATE answer should show.</a:t>
            </a:r>
          </a:p>
          <a:p xmlns:a="http://schemas.openxmlformats.org/drawingml/2006/main">
            <a:r>
              <a:t>Lead-in: calculate 1 ÷ 50 and include s⁻¹.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Turn a time into a rate.</a:t>
            </a:r>
          </a:p>
          <a:p xmlns:a="http://schemas.openxmlformats.org/drawingml/2006/main">
            <a:r>
              <a:t>Long time = slow. Rate = 1 ÷ time makes bigger mean faster.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Plot pH against rate.</a:t>
            </a:r>
          </a:p>
          <a:p xmlns:a="http://schemas.openxmlformats.org/drawingml/2006/main">
            <a:r>
              <a:t>The pattern: rate rises to a peak, then falls. Both ends are zero — denatured.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Name the optimum without overstating it.</a:t>
            </a:r>
          </a:p>
          <a:p xmlns:a="http://schemas.openxmlformats.org/drawingml/2006/main">
            <a:r>
              <a:t>We tested pH 5, 7, 9. The peak is "about 7" — we cannot claim 7.0 from three points.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The 200 s trial was faster because its time number is larger.</a:t>
            </a:r>
          </a:p>
          <a:p xmlns:a="http://schemas.openxmlformats.org/drawingml/2006/main">
            <a:r>
              <a:t>The 50 s trial was faster and should have the larger value when rate = 1/time.</a:t>
            </a:r>
          </a:p>
          <a:p xmlns:a="http://schemas.openxmlformats.org/drawingml/2006/main">
            <a:r>
              <a:t>Both rates are identical because both reached an endpoint.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Turn a time into a rate.</a:t>
            </a:r>
          </a:p>
          <a:p xmlns:a="http://schemas.openxmlformats.org/drawingml/2006/main">
            <a:r>
              <a:t>Long time = slow. Rate = 1 ÷ time makes bigger mean faster.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Plot pH against rate.</a:t>
            </a:r>
          </a:p>
          <a:p xmlns:a="http://schemas.openxmlformats.org/drawingml/2006/main">
            <a:r>
              <a:t>The pattern: rate rises to a peak, then falls. Both ends are zero — denatured.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Name the optimum without overstating it.</a:t>
            </a:r>
          </a:p>
          <a:p xmlns:a="http://schemas.openxmlformats.org/drawingml/2006/main">
            <a:r>
              <a:t>We tested pH 5, 7, 9. The peak is "about 7" — we cannot claim 7.0 from three points.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The 200 s trial was faster because its time number is larger.</a:t>
            </a:r>
          </a:p>
          <a:p xmlns:a="http://schemas.openxmlformats.org/drawingml/2006/main">
            <a:r>
              <a:t>The 50 s trial was faster and should have the larger value when rate = 1/time.</a:t>
            </a:r>
          </a:p>
          <a:p xmlns:a="http://schemas.openxmlformats.org/drawingml/2006/main">
            <a:r>
              <a:t>Both rates are identical because both reached an endpoint.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RECIPROCAL one divided by a quantity written as 1 divided by the original value</a:t>
            </a:r>
          </a:p>
          <a:p xmlns:a="http://schemas.openxmlformats.org/drawingml/2006/main">
            <a:r>
              <a:t>OPTIMUM highest measured activity the tested condition at which enzyme activity is greatest</a:t>
            </a:r>
          </a:p>
          <a:p xmlns:a="http://schemas.openxmlformats.org/drawingml/2006/main">
            <a:r>
              <a:t>EVALUATE weigh evidence and judge to review evidence, strengths and limitations and reach a supported judgement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A reciprocal-rate table and graph translate time evidence into a pattern in enzyme activity. Use observed points first, then add the active-site explanation.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Write the relationship before substituting: rate = 1/time. Keep endpoint time in seconds unless the question states otherwise.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For 80 s, substitute rate = 1/80 and calculate 0.0125 s⁻¹. Show sufficient working before rounding appropriately.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Check direction: a shorter time must produce a larger reciprocal rate. If it does not, check the operation and data entry.</a:t>
            </a:r>
          </a:p>
          <a:p xmlns:a="http://schemas.openxmlformats.org/drawingml/2006/main">
            <a:r>
              <a:t>Rate and graph builder · press the endpoint you recorded</a:t>
            </a:r>
          </a:p>
          <a:p xmlns:a="http://schemas.openxmlformats.org/drawingml/2006/main">
            <a:r>
              <a:t>For each pH, press the endpoint time. The rate is calculated and plotted. Then judge the optimum.</a:t>
            </a:r>
          </a:p>
          <a:p xmlns:a="http://schemas.openxmlformats.org/drawingml/2006/main">
            <a:r>
              <a:t>pH 3: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pH 5: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pH 7: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pH 9: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pH 11: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Rates: —</a:t>
            </a:r>
          </a:p>
          <a:p xmlns:a="http://schemas.openxmlformats.org/drawingml/2006/main">
            <a:r>
              <a:t>The optimum is exactly pH 7.0</a:t>
            </a:r>
          </a:p>
          <a:p xmlns:a="http://schemas.openxmlformats.org/drawingml/2006/main">
            <a:r>
              <a:t>The optimum is about pH 7, between the tested values 5 and 9</a:t>
            </a:r>
          </a:p>
          <a:p xmlns:a="http://schemas.openxmlformats.org/drawingml/2006/main">
            <a:r>
              <a:t>Choose the claim the evidence supports.</a:t>
            </a:r>
          </a:p>
          <a:p xmlns:a="http://schemas.openxmlformats.org/drawingml/2006/main">
            <a:r>
              <a:t>Evaluation prompts: strength — same interval, same temperature; limitation — 30 s gaps make every endpoint ±30 s; improvement — sample every 10 s near the endpoint, or test pH 6 and 8.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RECIPROCAL one divided by a quantity written as 1 divided by the original value</a:t>
            </a:r>
          </a:p>
          <a:p xmlns:a="http://schemas.openxmlformats.org/drawingml/2006/main">
            <a:r>
              <a:t>OPTIMUM highest measured activity the tested condition at which enzyme activity is greatest</a:t>
            </a:r>
          </a:p>
          <a:p xmlns:a="http://schemas.openxmlformats.org/drawingml/2006/main">
            <a:r>
              <a:t>EVALUATE weigh evidence and judge to review evidence, strengths and limitations and reach a supported judgement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A reciprocal-rate table and graph translate time evidence into a pattern in enzyme activity. Use observed points first, then add the active-site explanation.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Write the relationship before substituting: rate = 1/time. Keep endpoint time in seconds unless the question states otherwise.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For 80 s, substitute rate = 1/80 and calculate 0.0125 s⁻¹. Show sufficient working before rounding appropriately.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Check direction: a shorter time must produce a larger reciprocal rate. If it does not, check the operation and data entry.</a:t>
            </a:r>
          </a:p>
          <a:p xmlns:a="http://schemas.openxmlformats.org/drawingml/2006/main">
            <a:r>
              <a:t>Rate and graph builder · press the endpoint you recorded</a:t>
            </a:r>
          </a:p>
          <a:p xmlns:a="http://schemas.openxmlformats.org/drawingml/2006/main">
            <a:r>
              <a:t>For each pH, press the endpoint time. The rate is calculated and plotted. Then judge the optimum.</a:t>
            </a:r>
          </a:p>
          <a:p xmlns:a="http://schemas.openxmlformats.org/drawingml/2006/main">
            <a:r>
              <a:t>pH 3: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pH 5: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pH 7: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pH 9: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pH 11: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Rates: —</a:t>
            </a:r>
          </a:p>
          <a:p xmlns:a="http://schemas.openxmlformats.org/drawingml/2006/main">
            <a:r>
              <a:t>The optimum is exactly pH 7.0</a:t>
            </a:r>
          </a:p>
          <a:p xmlns:a="http://schemas.openxmlformats.org/drawingml/2006/main">
            <a:r>
              <a:t>The optimum is about pH 7, between the tested values 5 and 9</a:t>
            </a:r>
          </a:p>
          <a:p xmlns:a="http://schemas.openxmlformats.org/drawingml/2006/main">
            <a:r>
              <a:t>Choose the claim the evidence supports.</a:t>
            </a:r>
          </a:p>
          <a:p xmlns:a="http://schemas.openxmlformats.org/drawingml/2006/main">
            <a:r>
              <a:t>Evaluation prompts: strength — same interval, same temperature; limitation — 30 s gaps make every endpoint ±30 s; improvement — sample every 10 s near the endpoint, or test pH 6 and 8.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RECIPROCAL one divided by a quantity written as 1 divided by the original value</a:t>
            </a:r>
          </a:p>
          <a:p xmlns:a="http://schemas.openxmlformats.org/drawingml/2006/main">
            <a:r>
              <a:t>OPTIMUM highest measured activity the tested condition at which enzyme activity is greatest</a:t>
            </a:r>
          </a:p>
          <a:p xmlns:a="http://schemas.openxmlformats.org/drawingml/2006/main">
            <a:r>
              <a:t>EVALUATE weigh evidence and judge to review evidence, strengths and limitations and reach a supported judgement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A reciprocal-rate table and graph translate time evidence into a pattern in enzyme activity. Use observed points first, then add the active-site explanation.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Write the relationship before substituting: rate = 1/time. Keep endpoint time in seconds unless the question states otherwise.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For 80 s, substitute rate = 1/80 and calculate 0.0125 s⁻¹. Show sufficient working before rounding appropriately.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Check direction: a shorter time must produce a larger reciprocal rate. If it does not, check the operation and data entry.</a:t>
            </a:r>
          </a:p>
          <a:p xmlns:a="http://schemas.openxmlformats.org/drawingml/2006/main">
            <a:r>
              <a:t>Rate and graph builder · press the endpoint you recorded</a:t>
            </a:r>
          </a:p>
          <a:p xmlns:a="http://schemas.openxmlformats.org/drawingml/2006/main">
            <a:r>
              <a:t>For each pH, press the endpoint time. The rate is calculated and plotted. Then judge the optimum.</a:t>
            </a:r>
          </a:p>
          <a:p xmlns:a="http://schemas.openxmlformats.org/drawingml/2006/main">
            <a:r>
              <a:t>pH 3: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pH 5: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pH 7: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pH 9: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pH 11:</a:t>
            </a:r>
          </a:p>
          <a:p xmlns:a="http://schemas.openxmlformats.org/drawingml/2006/main">
            <a:r>
              <a:t>60</a:t>
            </a:r>
          </a:p>
          <a:p xmlns:a="http://schemas.openxmlformats.org/drawingml/2006/main">
            <a:r>
              <a:t>90</a:t>
            </a:r>
          </a:p>
          <a:p xmlns:a="http://schemas.openxmlformats.org/drawingml/2006/main">
            <a:r>
              <a:t>120</a:t>
            </a:r>
          </a:p>
          <a:p xmlns:a="http://schemas.openxmlformats.org/drawingml/2006/main">
            <a:r>
              <a:t>150</a:t>
            </a:r>
          </a:p>
          <a:p xmlns:a="http://schemas.openxmlformats.org/drawingml/2006/main">
            <a:r>
              <a:t>180</a:t>
            </a:r>
          </a:p>
          <a:p xmlns:a="http://schemas.openxmlformats.org/drawingml/2006/main">
            <a:r>
              <a:t>240</a:t>
            </a:r>
          </a:p>
          <a:p xmlns:a="http://schemas.openxmlformats.org/drawingml/2006/main">
            <a:r>
              <a:t>no endpoint</a:t>
            </a:r>
          </a:p>
          <a:p xmlns:a="http://schemas.openxmlformats.org/drawingml/2006/main">
            <a:r>
              <a:t>Rates: —</a:t>
            </a:r>
          </a:p>
          <a:p xmlns:a="http://schemas.openxmlformats.org/drawingml/2006/main">
            <a:r>
              <a:t>The optimum is exactly pH 7.0</a:t>
            </a:r>
          </a:p>
          <a:p xmlns:a="http://schemas.openxmlformats.org/drawingml/2006/main">
            <a:r>
              <a:t>The optimum is about pH 7, between the tested values 5 and 9</a:t>
            </a:r>
          </a:p>
          <a:p xmlns:a="http://schemas.openxmlformats.org/drawingml/2006/main">
            <a:r>
              <a:t>Choose the claim the evidence supports.</a:t>
            </a:r>
          </a:p>
          <a:p xmlns:a="http://schemas.openxmlformats.org/drawingml/2006/main">
            <a:r>
              <a:t>Evaluation prompts: strength — same interval, same temperature; limitation — 30 s gaps make every endpoint ±30 s; improvement — sample every 10 s near the endpoint, or test pH 6 and 8.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125 s⁻¹</a:t>
            </a:r>
          </a:p>
          <a:p xmlns:a="http://schemas.openxmlformats.org/drawingml/2006/main">
            <a:r>
              <a:t>0.00800 s⁻¹</a:t>
            </a:r>
          </a:p>
          <a:p xmlns:a="http://schemas.openxmlformats.org/drawingml/2006/main">
            <a:r>
              <a:t>0.125 s⁻¹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Plot pH on the independent-variable x-axis and rate on the y-axis. Use an even scale, units and a sensible smooth trend only when the data justify it.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Identify the highest measured rate as the optimum among the pH values tested. Describe the rise/fall pattern before explaining it with active-site shape and denaturation.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Evaluate the endpoint method: fixed intervals and controlled variables support comparison; subjective colour judgement and interval-limited timing reduce precision. Justify an improvement such as shorter fixed intervals or an objective colour measure if authorised.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A reciprocal-rate table and graph translate time evidence into a pattern in enzyme activity. Use observed points first, then add the active-site explanation.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Plot pH on the independent-variable x-axis and rate on the y-axis. Use an even scale, units and a sensible smooth trend only when the data justify it.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Identify the highest measured rate as the optimum among the pH values tested. Describe the rise/fall pattern before explaining it with active-site shape and denaturation.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Evaluate the endpoint method: fixed intervals and controlled variables support comparison; subjective colour judgement and interval-limited timing reduce precision. Justify an improvement such as shorter fixed intervals or an objective colour measure if authorised.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A reciprocal-rate table and graph translate time evidence into a pattern in enzyme activity. Use observed points first, then add the active-site explanation.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data statement to calculation check, pattern/conclusion or evaluation before writing the full response.</a:t>
            </a:r>
          </a:p>
          <a:p xmlns:a="http://schemas.openxmlformats.org/drawingml/2006/main">
            <a:r>
              <a:t>Choose one evidence statement. Commit it to calculation, conclusion or evaluation. Repair using the command word and dataset. Freeze a chain containing one correct value, one cautious pattern and one justified method judgement.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Reciprocal value Endpoint 100 s gives 1/100 = 0.0100 s⁻¹.</a:t>
            </a:r>
          </a:p>
          <a:p xmlns:a="http://schemas.openxmlformats.org/drawingml/2006/main">
            <a:r>
              <a:t>Direction check The shortest time should correspond to the largest reciprocal rate.</a:t>
            </a:r>
          </a:p>
          <a:p xmlns:a="http://schemas.openxmlformats.org/drawingml/2006/main">
            <a:r>
              <a:t>Highest tested rate The largest mean rate occurs at pH 7 among the tested values.</a:t>
            </a:r>
          </a:p>
          <a:p xmlns:a="http://schemas.openxmlformats.org/drawingml/2006/main">
            <a:r>
              <a:t>Rise then fall Rate rises towards the peak and falls on either side in this dataset.</a:t>
            </a:r>
          </a:p>
          <a:p xmlns:a="http://schemas.openxmlformats.org/drawingml/2006/main">
            <a:r>
              <a:t>Subjective endpoint Different observers may judge a borderline iodine colour differently.</a:t>
            </a:r>
          </a:p>
          <a:p xmlns:a="http://schemas.openxmlformats.org/drawingml/2006/main">
            <a:r>
              <a:t>Shorter interval A shorter fixed sampling interval could narrow the endpoint-time window if the authorised method allows it.</a:t>
            </a:r>
          </a:p>
          <a:p xmlns:a="http://schemas.openxmlformats.org/drawingml/2006/main">
            <a:r>
              <a:t>Preserve anomaly One repeat is far from the others; keep it visible, check the method and justify any treatment.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CALCULATION CHECK</a:t>
            </a:r>
          </a:p>
          <a:p xmlns:a="http://schemas.openxmlformats.org/drawingml/2006/main">
            <a:r>
              <a:t>PATTERN / CONCLUSION</a:t>
            </a:r>
          </a:p>
          <a:p xmlns:a="http://schemas.openxmlformats.org/drawingml/2006/main">
            <a:r>
              <a:t>EVALUATION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Graph glitch: join every point sharply, ignore repeats and call the highest plotted pH the exact optimum for all amylase.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a graph proves an exact universal optimum.</a:t>
            </a:r>
          </a:p>
          <a:p xmlns:a="http://schemas.openxmlformats.org/drawingml/2006/main">
            <a:r>
              <a:t>Repair it: show the data honestly, use repeats/uncertainty and call it the optimum among the tested conditions.</a:t>
            </a:r>
          </a:p>
          <a:p xmlns:a="http://schemas.openxmlformats.org/drawingml/2006/main">
            <a:r>
              <a:t>Repair it: remove any value that prevents a smooth curve.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data statement to calculation check, pattern/conclusion or evaluation before writing the full response.</a:t>
            </a:r>
          </a:p>
          <a:p xmlns:a="http://schemas.openxmlformats.org/drawingml/2006/main">
            <a:r>
              <a:t>Choose one evidence statement. Commit it to calculation, conclusion or evaluation. Repair using the command word and dataset. Freeze a chain containing one correct value, one cautious pattern and one justified method judgement.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Reciprocal value Endpoint 100 s gives 1/100 = 0.0100 s⁻¹.</a:t>
            </a:r>
          </a:p>
          <a:p xmlns:a="http://schemas.openxmlformats.org/drawingml/2006/main">
            <a:r>
              <a:t>Direction check The shortest time should correspond to the largest reciprocal rate.</a:t>
            </a:r>
          </a:p>
          <a:p xmlns:a="http://schemas.openxmlformats.org/drawingml/2006/main">
            <a:r>
              <a:t>Highest tested rate The largest mean rate occurs at pH 7 among the tested values.</a:t>
            </a:r>
          </a:p>
          <a:p xmlns:a="http://schemas.openxmlformats.org/drawingml/2006/main">
            <a:r>
              <a:t>Rise then fall Rate rises towards the peak and falls on either side in this dataset.</a:t>
            </a:r>
          </a:p>
          <a:p xmlns:a="http://schemas.openxmlformats.org/drawingml/2006/main">
            <a:r>
              <a:t>Subjective endpoint Different observers may judge a borderline iodine colour differently.</a:t>
            </a:r>
          </a:p>
          <a:p xmlns:a="http://schemas.openxmlformats.org/drawingml/2006/main">
            <a:r>
              <a:t>Shorter interval A shorter fixed sampling interval could narrow the endpoint-time window if the authorised method allows it.</a:t>
            </a:r>
          </a:p>
          <a:p xmlns:a="http://schemas.openxmlformats.org/drawingml/2006/main">
            <a:r>
              <a:t>Preserve anomaly One repeat is far from the others; keep it visible, check the method and justify any treatment.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CALCULATION CHECK</a:t>
            </a:r>
          </a:p>
          <a:p xmlns:a="http://schemas.openxmlformats.org/drawingml/2006/main">
            <a:r>
              <a:t>PATTERN / CONCLUSION</a:t>
            </a:r>
          </a:p>
          <a:p xmlns:a="http://schemas.openxmlformats.org/drawingml/2006/main">
            <a:r>
              <a:t>EVALUATION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Graph glitch: join every point sharply, ignore repeats and call the highest plotted pH the exact optimum for all amylase.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a graph proves an exact universal optimum.</a:t>
            </a:r>
          </a:p>
          <a:p xmlns:a="http://schemas.openxmlformats.org/drawingml/2006/main">
            <a:r>
              <a:t>Repair it: show the data honestly, use repeats/uncertainty and call it the optimum among the tested conditions.</a:t>
            </a:r>
          </a:p>
          <a:p xmlns:a="http://schemas.openxmlformats.org/drawingml/2006/main">
            <a:r>
              <a:t>Repair it: remove any value that prevents a smooth curve.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data statement to calculation check, pattern/conclusion or evaluation before writing the full response.</a:t>
            </a:r>
          </a:p>
          <a:p xmlns:a="http://schemas.openxmlformats.org/drawingml/2006/main">
            <a:r>
              <a:t>Choose one evidence statement. Commit it to calculation, conclusion or evaluation. Repair using the command word and dataset. Freeze a chain containing one correct value, one cautious pattern and one justified method judgement.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Reciprocal value Endpoint 100 s gives 1/100 = 0.0100 s⁻¹.</a:t>
            </a:r>
          </a:p>
          <a:p xmlns:a="http://schemas.openxmlformats.org/drawingml/2006/main">
            <a:r>
              <a:t>Direction check The shortest time should correspond to the largest reciprocal rate.</a:t>
            </a:r>
          </a:p>
          <a:p xmlns:a="http://schemas.openxmlformats.org/drawingml/2006/main">
            <a:r>
              <a:t>Highest tested rate The largest mean rate occurs at pH 7 among the tested values.</a:t>
            </a:r>
          </a:p>
          <a:p xmlns:a="http://schemas.openxmlformats.org/drawingml/2006/main">
            <a:r>
              <a:t>Rise then fall Rate rises towards the peak and falls on either side in this dataset.</a:t>
            </a:r>
          </a:p>
          <a:p xmlns:a="http://schemas.openxmlformats.org/drawingml/2006/main">
            <a:r>
              <a:t>Subjective endpoint Different observers may judge a borderline iodine colour differently.</a:t>
            </a:r>
          </a:p>
          <a:p xmlns:a="http://schemas.openxmlformats.org/drawingml/2006/main">
            <a:r>
              <a:t>Shorter interval A shorter fixed sampling interval could narrow the endpoint-time window if the authorised method allows it.</a:t>
            </a:r>
          </a:p>
          <a:p xmlns:a="http://schemas.openxmlformats.org/drawingml/2006/main">
            <a:r>
              <a:t>Preserve anomaly One repeat is far from the others; keep it visible, check the method and justify any treatment.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CALCULATION CHECK</a:t>
            </a:r>
          </a:p>
          <a:p xmlns:a="http://schemas.openxmlformats.org/drawingml/2006/main">
            <a:r>
              <a:t>PATTERN / CONCLUSION</a:t>
            </a:r>
          </a:p>
          <a:p xmlns:a="http://schemas.openxmlformats.org/drawingml/2006/main">
            <a:r>
              <a:t>EVALUATION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Graph glitch: join every point sharply, ignore repeats and call the highest plotted pH the exact optimum for all amylase.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a graph proves an exact universal optimum.</a:t>
            </a:r>
          </a:p>
          <a:p xmlns:a="http://schemas.openxmlformats.org/drawingml/2006/main">
            <a:r>
              <a:t>Repair it: show the data honestly, use repeats/uncertainty and call it the optimum among the tested conditions.</a:t>
            </a:r>
          </a:p>
          <a:p xmlns:a="http://schemas.openxmlformats.org/drawingml/2006/main">
            <a:r>
              <a:t>Repair it: remove any value that prevents a smooth curve.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Pupil or teacher-provided raw dataset, calculator, graph paper or local spreadsheet, ruler, command-word frame and Topic 1 retrieval grid.</a:t>
            </a:r>
          </a:p>
          <a:p xmlns:a="http://schemas.openxmlformats.org/drawingml/2006/main">
            <a:r>
              <a:t>Same outcome: I can calculate amylase rate from endpoint time, plot and interpret the pH pattern, evaluate the method, and apply Topic 1 knowledge to exam-style evidence.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Enter the supplied local data, calculate rates with formulas, make a labelled graph and save locally. Check one value by hand so the spreadsheet does not hide an input or formula error.</a:t>
            </a:r>
          </a:p>
          <a:p xmlns:a="http://schemas.openxmlformats.org/drawingml/2006/main">
            <a:r>
              <a:t>Same evidence: Shown rate working, an accurately labelled graph or equivalent data interpretation, a bounded conclusion, a strength-limitation-improvement chain and one Topic 1 transfer response.</a:t>
            </a:r>
          </a:p>
          <a:p xmlns:a="http://schemas.openxmlformats.org/drawingml/2006/main">
            <a:r>
              <a:t>Equipment / setup Pupil or teacher-provided raw dataset, calculator, graph paper or local spreadsheet, ruler, command-word frame and Topic 1 retrieval grid.</a:t>
            </a:r>
          </a:p>
          <a:p xmlns:a="http://schemas.openxmlformats.org/drawingml/2006/main">
            <a:r>
              <a:t>Safety / sensory Analysis uses no reagents. Keep original raw data unchanged, use anonymised/class data only and follow school device/privacy rules. Do not present the analysis page as proof that the wet practical was completed.</a:t>
            </a:r>
          </a:p>
          <a:p xmlns:a="http://schemas.openxmlformats.org/drawingml/2006/main">
            <a:r>
              <a:t>Offline parity Enter the supplied local data, calculate rates with formulas, make a labelled graph and save locally. Check one value by hand so the spreadsheet does not hide an input or formula error.</a:t>
            </a:r>
          </a:p>
          <a:p xmlns:a="http://schemas.openxmlformats.org/drawingml/2006/main">
            <a:r>
              <a:t>No-equipment/access route: Use a pre-scaled graph, rate choice cards and an adult-scribed evaluation from the pupil's exact reasoning; mathematical and command-word goals remain visible.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Calculate the full rate column, plot the graph, describe and explain the pattern, then evaluate the endpoint method and answer one Topic 1 exam question.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Follow CALCULATE → DESCRIBE → EXPLAIN → EVALUATE; keep each command-word response distinct.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Pupil or teacher-provided raw dataset, calculator, graph paper or local spreadsheet, ruler, command-word frame and Topic 1 retrieval grid.</a:t>
            </a:r>
          </a:p>
          <a:p xmlns:a="http://schemas.openxmlformats.org/drawingml/2006/main">
            <a:r>
              <a:t>Same outcome: I can calculate amylase rate from endpoint time, plot and interpret the pH pattern, evaluate the method, and apply Topic 1 knowledge to exam-style evidence.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Enter the supplied local data, calculate rates with formulas, make a labelled graph and save locally. Check one value by hand so the spreadsheet does not hide an input or formula error.</a:t>
            </a:r>
          </a:p>
          <a:p xmlns:a="http://schemas.openxmlformats.org/drawingml/2006/main">
            <a:r>
              <a:t>Same evidence: Shown rate working, an accurately labelled graph or equivalent data interpretation, a bounded conclusion, a strength-limitation-improvement chain and one Topic 1 transfer response.</a:t>
            </a:r>
          </a:p>
          <a:p xmlns:a="http://schemas.openxmlformats.org/drawingml/2006/main">
            <a:r>
              <a:t>Equipment / setup Pupil or teacher-provided raw dataset, calculator, graph paper or local spreadsheet, ruler, command-word frame and Topic 1 retrieval grid.</a:t>
            </a:r>
          </a:p>
          <a:p xmlns:a="http://schemas.openxmlformats.org/drawingml/2006/main">
            <a:r>
              <a:t>Safety / sensory Analysis uses no reagents. Keep original raw data unchanged, use anonymised/class data only and follow school device/privacy rules. Do not present the analysis page as proof that the wet practical was completed.</a:t>
            </a:r>
          </a:p>
          <a:p xmlns:a="http://schemas.openxmlformats.org/drawingml/2006/main">
            <a:r>
              <a:t>Offline parity Enter the supplied local data, calculate rates with formulas, make a labelled graph and save locally. Check one value by hand so the spreadsheet does not hide an input or formula error.</a:t>
            </a:r>
          </a:p>
          <a:p xmlns:a="http://schemas.openxmlformats.org/drawingml/2006/main">
            <a:r>
              <a:t>No-equipment/access route: Use a pre-scaled graph, rate choice cards and an adult-scribed evaluation from the pupil's exact reasoning; mathematical and command-word goals remain visible.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Calculate the full rate column, plot the graph, describe and explain the pattern, then evaluate the endpoint method and answer one Topic 1 exam question.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Follow CALCULATE → DESCRIBE → EXPLAIN → EVALUATE; keep each command-word response distinct.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SCI_L_W8L3_Amylase_Rate_And_Topic_1_Do.html.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smooth curve can hide repeats, anomalies and uncertainty. The graph covers only tested pH values and does not by itself prove the molecular mechanism or an exact optimum between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Use one graph feature to explain how pH affected amylase, then name one justified method improvement.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SCI_L_W8L3_Amylase_Rate_And_Topic_1_Do.html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abf1286a848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3f347ff35047e8" /><Relationship Type="http://schemas.openxmlformats.org/officeDocument/2006/relationships/slideLayout" Target="/ppt/slideLayouts/slideLayout1.xml" Id="R8f8d2219602947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8d2219602947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caa42b5b046b6" /><Relationship Type="http://schemas.openxmlformats.org/officeDocument/2006/relationships/hyperlink" Target="SCI_L_W8L3_Amylase_Rate_And_Topic_1_Do.html" TargetMode="External" Id="R822fe5c7a4c540cd" /><Relationship Type="http://schemas.openxmlformats.org/officeDocument/2006/relationships/notesSlide" Target="/ppt/notesSlides/notesSlide1.xml" Id="R17dc19388d3e47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e605cd6834745" /><Relationship Type="http://schemas.openxmlformats.org/officeDocument/2006/relationships/notesSlide" Target="/ppt/notesSlides/notesSlide2.xml" Id="R7504b5b10dcb49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74eed46934b13" /><Relationship Type="http://schemas.openxmlformats.org/officeDocument/2006/relationships/notesSlide" Target="/ppt/notesSlides/notesSlide3.xml" Id="Ra72a95afe41a4d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a162ca3644965" /><Relationship Type="http://schemas.openxmlformats.org/officeDocument/2006/relationships/notesSlide" Target="/ppt/notesSlides/notesSlide4.xml" Id="Rfaedf6cd4f1c4e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9043ad4f44a4f" /><Relationship Type="http://schemas.openxmlformats.org/officeDocument/2006/relationships/image" Target="/ppt/media/image.png" Id="Rde4daed134c9416c" /><Relationship Type="http://schemas.openxmlformats.org/officeDocument/2006/relationships/image" Target="/ppt/media/image2.png" Id="R7133a029af1c4fa6" /><Relationship Type="http://schemas.openxmlformats.org/officeDocument/2006/relationships/image" Target="/ppt/media/image3.png" Id="R5900e43c673a4837" /><Relationship Type="http://schemas.openxmlformats.org/officeDocument/2006/relationships/notesSlide" Target="/ppt/notesSlides/notesSlide5.xml" Id="Rb3c18b955e9e48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e250efd0a4d54" /><Relationship Type="http://schemas.openxmlformats.org/officeDocument/2006/relationships/notesSlide" Target="/ppt/notesSlides/notesSlide6.xml" Id="R777bbb69f7b845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3e54af67b44c1" /><Relationship Type="http://schemas.openxmlformats.org/officeDocument/2006/relationships/notesSlide" Target="/ppt/notesSlides/notesSlide7.xml" Id="R08c12efb90724c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042409da74120" /><Relationship Type="http://schemas.openxmlformats.org/officeDocument/2006/relationships/image" Target="/ppt/media/image4.png" Id="R919e72fd2c5c4a88" /><Relationship Type="http://schemas.openxmlformats.org/officeDocument/2006/relationships/notesSlide" Target="/ppt/notesSlides/notesSlide8.xml" Id="R45dcc11634314e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f0f6d265d475f" /><Relationship Type="http://schemas.openxmlformats.org/officeDocument/2006/relationships/notesSlide" Target="/ppt/notesSlides/notesSlide9.xml" Id="R5a4b2d0658944f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0c7af46cc4003" /><Relationship Type="http://schemas.openxmlformats.org/officeDocument/2006/relationships/notesSlide" Target="/ppt/notesSlides/notesSlide10.xml" Id="R356bb270a9454f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cb5a73f494332" /><Relationship Type="http://schemas.openxmlformats.org/officeDocument/2006/relationships/notesSlide" Target="/ppt/notesSlides/notesSlide11.xml" Id="R5a68a0cd90ba44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19c2e0d904df0" /><Relationship Type="http://schemas.openxmlformats.org/officeDocument/2006/relationships/notesSlide" Target="/ppt/notesSlides/notesSlide12.xml" Id="Rdf475fe40b4c4c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50075d3064cb3" /><Relationship Type="http://schemas.openxmlformats.org/officeDocument/2006/relationships/notesSlide" Target="/ppt/notesSlides/notesSlide13.xml" Id="Ra022e0e2483445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88a9936b14b61" /><Relationship Type="http://schemas.openxmlformats.org/officeDocument/2006/relationships/notesSlide" Target="/ppt/notesSlides/notesSlide14.xml" Id="R4134797da7254f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becace01a42bd" /><Relationship Type="http://schemas.openxmlformats.org/officeDocument/2006/relationships/notesSlide" Target="/ppt/notesSlides/notesSlide15.xml" Id="Rd14237fc229346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90b7d32134a3a" /><Relationship Type="http://schemas.openxmlformats.org/officeDocument/2006/relationships/notesSlide" Target="/ppt/notesSlides/notesSlide16.xml" Id="R23092ce094704b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851a1a0cf49ec" /><Relationship Type="http://schemas.openxmlformats.org/officeDocument/2006/relationships/notesSlide" Target="/ppt/notesSlides/notesSlide17.xml" Id="R65fa2a0ba0d44e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3D7BD94D-842B-4EF0-BEA1-EC49D331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A46F618-DBE5-44F3-9215-0E47225F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8CC9A5D-21A0-4365-83F7-5A2A5DE9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E5AFAB-2C1D-4073-9912-5909982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Amylase Rate, Graph and Topic 1 Consolidation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C6DC0EA-C495-4BD2-BCDE-41FEDA1F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5B64214D-5E97-41DC-BAEE-028DA2E7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462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calculate amylase rate from endpoint time, plot and interpret the pH pattern, evaluate the method, and apply Topic 1 knowledge to exam-style evidence.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D84CA6BE-D07B-4475-A491-6882F822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D2F285A5-20A7-4708-BD81-067841AA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RATE  1  TIME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31B54B96-C395-4700-8FEB-8EA87FB5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working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08D64E04-50C9-4799-A2FE-9EF056BB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075E6FF8-C6E6-48DE-95C2-AA45A46E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pHRATE GRAPH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BC93A997-AEBF-4620-A78B-C81105B3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interpret pattern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026396D4-09A5-448A-AF89-703B5EE0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6C902CFC-A768-472B-8916-11976508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D57C1D99-B8A7-4E39-9DC5-331B7B45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 + judgement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51DFE96B-B2BD-4EDE-916D-18464A54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822fe5c7a4c540cd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71690C43-AF13-4DBB-BB23-8CC9E9BC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9F87772C-3987-4E8D-BB3C-09803975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2039899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4E97DEF-ADC3-4F73-9DBA-4E277B40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17305AE-87DB-4948-93A0-BCA3ECE2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34A4B96-38E1-490E-8468-08089AB5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B1C632-5707-482C-B8AF-236C53DF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DCB7FB0-D62C-45AF-A375-24120263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71258FD-8B20-49C9-A5CF-30F058F3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Calculate rate as 1 divided by time with correct substitution and units, or use the stated scaled-rate convention accurately.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B305DE2-9743-45CE-B08B-32F67A85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Plot or interpret pH against rate and identify an evidence-supported optimum without overstating precision.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ADFFEFF-B2FF-4D4D-BE3D-380E098F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Evaluate one strength, one limitation and one justified improvement, then transfer a Topic 1 idea to a fresh question.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7B2B9A9-6F38-487D-96AA-22AF3BBF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A852883-AF80-4E77-ACFF-90AB99AA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7484018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B06775CE-7CD5-456F-A172-39D78CE0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13DA5F8-B677-4411-9796-1D325174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7F6CA48-84C2-4C62-9B3E-90D7AA51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78F46C-11C4-4F43-BA88-6832C27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918E106-75A7-4BA9-8CBA-FF72009E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D2A1386-399F-43C0-9694-BCD727E3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why shorter endpoint time means faster amylase activity.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C5EB438-5035-4594-8801-3076753D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one controlled variable from the investigation.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2F4AA3E-D988-4EE5-B39D-0961B599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W7: state what working a CALCULATE answer should show.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64A5782-C4D5-4EE6-9C0F-BCDACBB3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calculate 1 ÷ 50 and include s⁻¹.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92418D5-D07F-4F42-A731-1BAC58E9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114DF3BC-2761-4503-976A-09E692B2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778267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1AEA03D9-0EA2-4E85-B8EF-3579E6C5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4348281-489C-4827-B7C6-44E7BBE4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E95D0CC-C5F7-4290-A02D-D2FAE03D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C230E3-7404-4D01-9804-7B5E1A3E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Two trials reached the endpoint in 50 s and 200 s. Which interpretation should you test against the full dataset?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3CA6FE3-3DBC-4DD7-A630-FA09000B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908B406-D386-489E-B463-FAD89817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51D9883-04F4-4717-B619-0F75B5E1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The 200 s trial was faster because its time number is larger.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AA5FC30-9EAA-4B50-8E42-0DFF2177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The 50 s trial was faster and should have the larger value when rate = 1/time.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8EE2CE4-DC26-4B1E-9F07-9582CA67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Both rates are identical because both reached an endpoint.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C7DFC4B5-EA41-48B4-9103-79B9C9D4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2C3AE0A-D4B1-469C-9982-F82B1A54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1784153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5D849432-4ACD-45E9-B7B8-2F2DF4CA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2F3CDC0-57B1-4E8C-BE09-5A8A42CC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7B8BFE5-B4FF-4221-A456-91F7AD98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FE1140-9214-4323-A5D0-C09E63D3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6A5D02A-91F1-4656-A1C7-96190BAA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daed134c9416c"/>
          <a:stretch xmlns:a="http://schemas.openxmlformats.org/drawingml/2006/main"/>
        </p:blipFill>
        <p:spPr>
          <a:xfrm xmlns:a="http://schemas.openxmlformats.org/drawingml/2006/main">
            <a:off x="800100" y="2789943"/>
            <a:ext cx="3378200" cy="1782939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AA6E523B-63FA-4DE2-94E7-FFAFCAAD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Rate equals one divided by time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3a029af1c4fa6"/>
          <a:stretch xmlns:a="http://schemas.openxmlformats.org/drawingml/2006/main"/>
        </p:blipFill>
        <p:spPr>
          <a:xfrm xmlns:a="http://schemas.openxmlformats.org/drawingml/2006/main">
            <a:off x="4406900" y="2789943"/>
            <a:ext cx="3378200" cy="1782939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F7303E31-B362-46EA-9D29-05F5CCCA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pH against rate line graph peaking at pH 7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0e43c673a4837"/>
          <a:stretch xmlns:a="http://schemas.openxmlformats.org/drawingml/2006/main"/>
        </p:blipFill>
        <p:spPr>
          <a:xfrm xmlns:a="http://schemas.openxmlformats.org/drawingml/2006/main">
            <a:off x="8013700" y="2789943"/>
            <a:ext cx="3378200" cy="1782939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64480A43-D39A-4293-B996-C598B8A8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same graph with a shaded optimum band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B25588EC-81CD-4C24-9BD9-D18E69F5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3AEA6803-1A0B-4B6F-B31A-89FFC9EA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920670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8324400-F2FE-403D-9507-4A6EC26E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4607D17-C4FC-42D3-805A-6D454707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F72EEAE-FE78-49D6-B156-055639E7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487893-F17F-450A-92EE-D74EF7A1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88DD53C-5DE9-4026-8417-ED63C6AA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6014E80-BEB0-4540-91BB-95AEABC7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reciprocal — one divided by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1BB68D3-1822-4191-A3B3-2E1BA767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optimum — highest measured activity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DB7586F-9F2C-4E35-81DB-BAA709C5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evaluate — weigh evidence and judge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A84AE498-093F-4521-AE8B-25A299A3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5094482B-4DAE-4F99-8D03-F7B49FFE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1791957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92BF7FF-5610-42AE-9D91-E71EEE4A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5A7BE52-5721-493B-8446-DD49C453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7B232DA-275B-4677-A596-5F4C3490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D75A30-BE2F-4C85-AC78-685CEBAF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FF4A07A-D26A-4761-8D31-4ED245D3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474AB95-2C04-4047-A7F0-CDD03AA1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Write the relationship before substituting: rate = 1/time. Keep endpoint time in seconds unless the question states otherwise.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7F4C474-8D38-425D-ABBC-0C7FCED2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For 80 s, substitute rate = 1/80 and calculate 0.0125 s⁻¹. Show sufficient working before rounding appropriately.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FC18D72-E825-46F6-B525-F40F9926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Check direction: a shorter time must produce a larger reciprocal rate. If it does not, check the operation and data entry.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6C1CC860-83F9-4B99-83A0-E09125C5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1A80CA4C-2122-499D-BCC4-6B8CDC34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13756336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70A52555-B1BD-479E-907C-E446BF2D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A8B8B20-311B-4C18-B60C-58CC7BE1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A900DEA-8016-4055-A58B-BE212EE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2880E1-E771-4043-AE75-F606F645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A8342A8-36EA-4FF6-B181-E9843973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e72fd2c5c4a88"/>
          <a:stretch xmlns:a="http://schemas.openxmlformats.org/drawingml/2006/main"/>
        </p:blipFill>
        <p:spPr>
          <a:xfrm xmlns:a="http://schemas.openxmlformats.org/drawingml/2006/main">
            <a:off x="3253539" y="2181225"/>
            <a:ext cx="5684921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C382A7B9-DE9E-48BA-AF9E-8C8A2EB0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Live graph of pH against rate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0FCD58B2-DC87-4E1F-84CA-4991B3C2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E56A2915-BA8E-40FF-83CB-2C49D0AD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16340942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D662E85-0F00-4CA8-9847-606C89FD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0DA9C4A-D565-4695-8D10-FA44E7D7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3430F8F-179C-4749-921E-D39E3500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D6F298-4FEE-46EB-A92F-ED8D4B0D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trial at pH 6 reaches the endpoint in 125 s. What is its rate to three significant figures?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B87E002-55CD-4F19-A61F-C9137071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390B455-2C39-44C0-A0ED-6457EC81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125 s⁻¹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73EC16E-EF6E-4C91-9EF4-87062FE4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0.00800 s⁻¹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04C063E-F8FD-4E23-B5A6-83A64B44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0.125 s⁻¹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194909A-CE3B-4A9E-A2A1-00B4FF0D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8FFF2A1C-0CF0-4C2A-A312-C90A984C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8785918-BDE2-49CE-B560-1A56E3A0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7821596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C9AA2A1-B574-454A-B447-A949E0B0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B8E23AB-8BEA-4CE3-BBD5-7A1C1E5F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9F31FE3-16CA-4728-82D8-6DB44238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865760-E3BF-41D6-AE76-50C918CB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7463432-5F55-4457-AC25-77C989A2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E4388D1-9116-43C6-9113-F01E8DC1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Plot pH on the independent-variable x-axis and rate on the y-axis. Use an even scale, units and a sensible smooth trend only when the data justify it.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B6FA75A-94B1-409B-980C-C1CFF98E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Identify the highest measured rate as the optimum among the pH values tested. Describe the rise/fall pattern before explaining it with active-site shape and denaturation.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06F19CC-45E2-4FC8-9360-3D3C880D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Evaluate the endpoint method: fixed intervals and controlled variables support comparison; subjective colour judgement and interval-limited timing reduce precision. Justify an improvement such as shorter fixed intervals or an objective colour measure if authorised.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22D58329-3086-4FAC-AF36-304B55F7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7FA82225-427D-4B00-BE16-F0B6FD86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3019504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66A0D52-9755-40F1-857C-1560A358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FA6E6E8-9ABD-4E6F-9269-2500AEB0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E6816EA-7B74-43C0-AEF1-D853E475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B687B3-FE58-41AA-B9CA-BD8E1FD5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7F2A435-CA48-4099-82D1-F42B8954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E0BE375-8B45-48E8-B01C-DD6C7D8C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Graph glitch: join every point sharply, ignore repeats and call the highest plotted pH the exact optimum for all amylase.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E35D2EB-A044-41A3-9B1A-7BE45CD6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a graph proves an exact universal optimum.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867C1F6-FB47-48BE-98AA-9A67B157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show the data honestly, use repeats/uncertainty and call it the optimum among the tested conditions.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A8FEE41-58FA-4DD8-A652-DCFA2198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remove any value that prevents a smooth curve.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3FB02564-2B2B-4090-9265-D49CFFB5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3845DE09-1CF0-45DE-BE70-5BBFB2EB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13571390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07626EA1-BAC4-47EB-8472-4A6E5228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6B8692E-4439-4434-A3D3-571E4570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13C9A4E-D7C7-486A-AE79-044C84A3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744533-DA6A-4B92-8A50-887D2D40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Calculation, graph and evaluation triage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C18E0FF-BE73-4F42-875F-7A1CE3FA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2AB8AE7-3EE1-4103-8776-D42A66BC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Route each data statement to calculation check, pattern/conclusion or evaluation before writing the full response.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8C9082C-B5DF-4BE0-AF29-15C99345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one evidence statement.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957F889-683F-4539-B1B7-E452C480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Commit it to calculation, conclusion or evaluation.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F6123DE-58EE-4E8D-8D7B-6F14CFB8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Repair using the command word and dataset.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9861731C-B2A9-4564-956F-3A28FB7E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a chain containing one correct value, one cautious pattern and one justified method judgement.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0FD72B84-9CFF-47AC-9D1A-77FAD8CA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15B89E59-5FE6-47C4-B8FD-83ED7903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6991190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6B298BD7-3786-4B9C-9AF0-36387B11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DE53035-A25F-4E0F-AD85-418B8790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9B2BFC0-CD74-42BA-B073-07C3D67C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210C3C-4306-4D85-AE89-792D57EB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Calculation, graph and evaluation triage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0A79791-71AB-45BB-82B9-47787AAC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ABA95D0-9CCD-41E8-BD46-473B0810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D4089AAD-3446-4CD8-9F78-0B9808E5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9A23259-5425-4783-AE9A-59440F85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6255627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F5D03876-F4A5-44A8-AA43-956520A8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D7B406D-5724-4D5F-ABB2-B1520420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330D2E8-B750-4827-B51B-572609F5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9D6623-7C50-4A36-8F11-2E6528A0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81F967D-4F38-4980-9EFE-42730E33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8885A0A-03E1-4828-BA0A-627FDCEA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CALCULATION CHECK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28D5110-3DEC-45DD-B2D7-C07AD655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PATTERN / CONCLUSION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F2B23A1-0814-4782-8BAD-2A605DA6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EVALUATION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F3E0E96-E36F-4E53-B288-776DE170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State one result, one explanation and one method judgement, making clear which claim comes from data and which comes from biological knowledge.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D4B6761-E1EB-474E-A289-54A3F11E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90CDA11-4FF9-4485-9D61-DD60A9E5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0549735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A85C335A-8E99-472C-A59A-FB5036F1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F44C76B-C446-484E-A82E-F110A1A4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B78E439-A93A-4F42-B3BE-82F7F795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002954-85F2-4E18-A3FB-AA37B05C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AE85390-6B9E-4D68-ABC7-F3F1F6C8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F07C1A4-8299-4793-BE52-08390849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Complete a GCSE-style CP analysis: rate table, pH-rate graph, evidence-led conclusion, method evaluation and a compact Topic 1 transfer check.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168FA09-806F-478D-9CB8-631C9AFD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Shown rate working, an accurately labelled graph or equivalent data interpretation, a bounded conclusion, a strength-limitation-improvement chain and one Topic 1 transfer response.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EAAFC9D-6A46-4882-B4FD-3E3B74F0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B5D975DF-7F48-4F02-BDFF-B97DEA5A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9687757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E1C7AA1D-D87A-4053-BED8-410F6937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5A2CDBB-29C2-4A47-A408-163C8833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652E518-7BA1-46C7-8366-B8EAA120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9FEF26-BB12-463C-9104-7C2C372C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FF460ED-0B43-4D81-9319-56BC221D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D849B01-6000-4356-9DD1-CA31916F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Calculate three rates from a worked equation, plot supplied coordinates, choose the tested optimum and complete one limitation-improvement pair.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E60FEB7-84B5-4B61-B8F2-3174DECA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Calculate the full rate column, plot the graph, describe and explain the pattern, then evaluate the endpoint method and answer one Topic 1 exam question.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2ED232E-792C-4375-B527-037FC8C4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Analyse repeats and uncertainty, justify the tested optimum, evaluate whether the conclusion is valid and transfer enzyme/transport knowledge to an unfamiliar context.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DD872E1-6C45-4ADE-8C3F-CC09DCF0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B692E11B-3E55-45FD-9AE5-68230352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948440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FE51709C-857E-4A8E-8308-002EFDE9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73C9D95-DC97-436B-8F4C-0DA6FFA8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3CE507B-A1EF-4D93-AC43-45D53CB0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2D10FE-CFC2-495C-99BD-2C5EF4DD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3F59BD8-0E17-4B56-AD91-46367D68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765F463-0A52-454C-885A-D456DD88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one graph feature to explain how pH affected amylase, then name one justified method improvement.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5021112-0F78-40C5-9C07-2F852FB9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8ECA3C5E-5470-4BBA-AA7F-2759DD2D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5D48071B-6F42-4AAE-BCD6-6E89A44B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286776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2026-09-08T09:10:23.7310000Z</dcterms:created>
  <dcterms:modified xsi:type="dcterms:W3CDTF">2026-09-08T09:10:23.7310000Z</dcterms:modified>
</coreProperties>
</file>