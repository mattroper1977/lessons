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099d8dd3fb430b" /><Relationship Type="http://schemas.openxmlformats.org/officeDocument/2006/relationships/extended-properties" Target="/docProps/app.xml" Id="R558e5284d0cc4275" /><Relationship Type="http://schemas.openxmlformats.org/officeDocument/2006/relationships/officeDocument" Target="/ppt/presentation.xml" Id="R8d776c5185f943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ac04869ab74012"/>
  </p:sldMasterIdLst>
  <p:notesMasterIdLst>
    <p:notesMasterId xmlns:r="http://schemas.openxmlformats.org/officeDocument/2006/relationships" r:id="Rd10beb75eec944f9"/>
  </p:notesMasterIdLst>
  <p:sldIdLst>
    <p:sldId xmlns:r="http://schemas.openxmlformats.org/officeDocument/2006/relationships" id="256" r:id="Re1c0d5df1e424c67"/>
    <p:sldId xmlns:r="http://schemas.openxmlformats.org/officeDocument/2006/relationships" id="257" r:id="R849c4d159a2d4627"/>
    <p:sldId xmlns:r="http://schemas.openxmlformats.org/officeDocument/2006/relationships" id="258" r:id="R197ffbd5f91f4907"/>
    <p:sldId xmlns:r="http://schemas.openxmlformats.org/officeDocument/2006/relationships" id="259" r:id="R14fc98cebc754654"/>
    <p:sldId xmlns:r="http://schemas.openxmlformats.org/officeDocument/2006/relationships" id="260" r:id="R021ab38413364b29"/>
    <p:sldId xmlns:r="http://schemas.openxmlformats.org/officeDocument/2006/relationships" id="261" r:id="R5c799db481774bb4"/>
    <p:sldId xmlns:r="http://schemas.openxmlformats.org/officeDocument/2006/relationships" id="262" r:id="R1d005beda8ae408d"/>
    <p:sldId xmlns:r="http://schemas.openxmlformats.org/officeDocument/2006/relationships" id="263" r:id="R68c9637f2db14033"/>
    <p:sldId xmlns:r="http://schemas.openxmlformats.org/officeDocument/2006/relationships" id="264" r:id="R17fece43fa314a7b"/>
    <p:sldId xmlns:r="http://schemas.openxmlformats.org/officeDocument/2006/relationships" id="265" r:id="Rc005cfee47e54608"/>
    <p:sldId xmlns:r="http://schemas.openxmlformats.org/officeDocument/2006/relationships" id="266" r:id="Rb1c533b107454f03"/>
    <p:sldId xmlns:r="http://schemas.openxmlformats.org/officeDocument/2006/relationships" id="267" r:id="R68ca765b183640bc"/>
    <p:sldId xmlns:r="http://schemas.openxmlformats.org/officeDocument/2006/relationships" id="268" r:id="R5b1c84f83420435e"/>
    <p:sldId xmlns:r="http://schemas.openxmlformats.org/officeDocument/2006/relationships" id="269" r:id="R01e90c0621da48b1"/>
    <p:sldId xmlns:r="http://schemas.openxmlformats.org/officeDocument/2006/relationships" id="270" r:id="R992c583ad1ef41e8"/>
    <p:sldId xmlns:r="http://schemas.openxmlformats.org/officeDocument/2006/relationships" id="271" r:id="R47928eb363e84327"/>
    <p:sldId xmlns:r="http://schemas.openxmlformats.org/officeDocument/2006/relationships" id="272" r:id="Rb695f60c168843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3731b0039241b0" /><Relationship Type="http://schemas.openxmlformats.org/officeDocument/2006/relationships/slideMaster" Target="/ppt/slideMasters/slideMaster1.xml" Id="R62ac04869ab74012" /><Relationship Type="http://schemas.openxmlformats.org/officeDocument/2006/relationships/notesMaster" Target="/ppt/notesMasters/notesMaster1.xml" Id="Rd10beb75eec944f9" /><Relationship Type="http://schemas.openxmlformats.org/officeDocument/2006/relationships/presProps" Target="/ppt/presProps.xml" Id="R861892fe04b94053" /><Relationship Type="http://schemas.openxmlformats.org/officeDocument/2006/relationships/tableStyles" Target="/ppt/tableStyles.xml" Id="R8d1471e74ae14ff6" /><Relationship Type="http://schemas.openxmlformats.org/officeDocument/2006/relationships/slide" Target="/ppt/slides/slide1.xml" Id="Re1c0d5df1e424c67" /><Relationship Type="http://schemas.openxmlformats.org/officeDocument/2006/relationships/slide" Target="/ppt/slides/slide2.xml" Id="R849c4d159a2d4627" /><Relationship Type="http://schemas.openxmlformats.org/officeDocument/2006/relationships/slide" Target="/ppt/slides/slide3.xml" Id="R197ffbd5f91f4907" /><Relationship Type="http://schemas.openxmlformats.org/officeDocument/2006/relationships/slide" Target="/ppt/slides/slide4.xml" Id="R14fc98cebc754654" /><Relationship Type="http://schemas.openxmlformats.org/officeDocument/2006/relationships/slide" Target="/ppt/slides/slide5.xml" Id="R021ab38413364b29" /><Relationship Type="http://schemas.openxmlformats.org/officeDocument/2006/relationships/slide" Target="/ppt/slides/slide6.xml" Id="R5c799db481774bb4" /><Relationship Type="http://schemas.openxmlformats.org/officeDocument/2006/relationships/slide" Target="/ppt/slides/slide7.xml" Id="R1d005beda8ae408d" /><Relationship Type="http://schemas.openxmlformats.org/officeDocument/2006/relationships/slide" Target="/ppt/slides/slide8.xml" Id="R68c9637f2db14033" /><Relationship Type="http://schemas.openxmlformats.org/officeDocument/2006/relationships/slide" Target="/ppt/slides/slide9.xml" Id="R17fece43fa314a7b" /><Relationship Type="http://schemas.openxmlformats.org/officeDocument/2006/relationships/slide" Target="/ppt/slides/slide10.xml" Id="Rc005cfee47e54608" /><Relationship Type="http://schemas.openxmlformats.org/officeDocument/2006/relationships/slide" Target="/ppt/slides/slide11.xml" Id="Rb1c533b107454f03" /><Relationship Type="http://schemas.openxmlformats.org/officeDocument/2006/relationships/slide" Target="/ppt/slides/slide12.xml" Id="R68ca765b183640bc" /><Relationship Type="http://schemas.openxmlformats.org/officeDocument/2006/relationships/slide" Target="/ppt/slides/slide13.xml" Id="R5b1c84f83420435e" /><Relationship Type="http://schemas.openxmlformats.org/officeDocument/2006/relationships/slide" Target="/ppt/slides/slide14.xml" Id="R01e90c0621da48b1" /><Relationship Type="http://schemas.openxmlformats.org/officeDocument/2006/relationships/slide" Target="/ppt/slides/slide15.xml" Id="R992c583ad1ef41e8" /><Relationship Type="http://schemas.openxmlformats.org/officeDocument/2006/relationships/slide" Target="/ppt/slides/slide16.xml" Id="R47928eb363e84327" /><Relationship Type="http://schemas.openxmlformats.org/officeDocument/2006/relationships/slide" Target="/ppt/slides/slide17.xml" Id="Rb695f60c168843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f61f5fca3248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976a2d938547ee" /><Relationship Type="http://schemas.openxmlformats.org/officeDocument/2006/relationships/notesMaster" Target="/ppt/notesMasters/notesMaster1.xml" Id="R0e8c3d8e67e041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16b45f7cf0445e" /><Relationship Type="http://schemas.openxmlformats.org/officeDocument/2006/relationships/notesMaster" Target="/ppt/notesMasters/notesMaster1.xml" Id="R66d0974a3ea644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42ca7f306e4e6f" /><Relationship Type="http://schemas.openxmlformats.org/officeDocument/2006/relationships/notesMaster" Target="/ppt/notesMasters/notesMaster1.xml" Id="R5c57f48410cb46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7eee44971442f5" /><Relationship Type="http://schemas.openxmlformats.org/officeDocument/2006/relationships/notesMaster" Target="/ppt/notesMasters/notesMaster1.xml" Id="R917009877c2f46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abbc871e4a44db" /><Relationship Type="http://schemas.openxmlformats.org/officeDocument/2006/relationships/notesMaster" Target="/ppt/notesMasters/notesMaster1.xml" Id="Re039beb1c33248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f8ee65bc314037" /><Relationship Type="http://schemas.openxmlformats.org/officeDocument/2006/relationships/notesMaster" Target="/ppt/notesMasters/notesMaster1.xml" Id="R253b68d696864d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68cdd04a364488" /><Relationship Type="http://schemas.openxmlformats.org/officeDocument/2006/relationships/notesMaster" Target="/ppt/notesMasters/notesMaster1.xml" Id="Rf38c3b69296c4a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535b091e66409f" /><Relationship Type="http://schemas.openxmlformats.org/officeDocument/2006/relationships/notesMaster" Target="/ppt/notesMasters/notesMaster1.xml" Id="R3a4f86a4b98f4b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77c43462474b7f" /><Relationship Type="http://schemas.openxmlformats.org/officeDocument/2006/relationships/notesMaster" Target="/ppt/notesMasters/notesMaster1.xml" Id="R826e022fd4c746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f7c0ddbab44355" /><Relationship Type="http://schemas.openxmlformats.org/officeDocument/2006/relationships/notesMaster" Target="/ppt/notesMasters/notesMaster1.xml" Id="Rf66d9f67862045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1ff32907dd4c51" /><Relationship Type="http://schemas.openxmlformats.org/officeDocument/2006/relationships/notesMaster" Target="/ppt/notesMasters/notesMaster1.xml" Id="Rd553fa7fcb524a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d3677a7ebd4ec3" /><Relationship Type="http://schemas.openxmlformats.org/officeDocument/2006/relationships/notesMaster" Target="/ppt/notesMasters/notesMaster1.xml" Id="R175285d5d3bb4a6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e153432df4c454a" /><Relationship Type="http://schemas.openxmlformats.org/officeDocument/2006/relationships/notesMaster" Target="/ppt/notesMasters/notesMaster1.xml" Id="Re3d6c6b26ae1427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97b251cedb7416c" /><Relationship Type="http://schemas.openxmlformats.org/officeDocument/2006/relationships/notesMaster" Target="/ppt/notesMasters/notesMaster1.xml" Id="R154a3263e4da45f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bd6394f00964a2d" /><Relationship Type="http://schemas.openxmlformats.org/officeDocument/2006/relationships/notesMaster" Target="/ppt/notesMasters/notesMaster1.xml" Id="R72ab76e4df8040d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14c160b0b564460" /><Relationship Type="http://schemas.openxmlformats.org/officeDocument/2006/relationships/notesMaster" Target="/ppt/notesMasters/notesMaster1.xml" Id="R316df1436c81493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a44f693794446fe" /><Relationship Type="http://schemas.openxmlformats.org/officeDocument/2006/relationships/notesMaster" Target="/ppt/notesMasters/notesMaster1.xml" Id="R1159aa39e0e644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SCI_L_W8L1_Enzyme_Action_Introduce.html.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Card shapes do not show molecular movement, collisions, bonds or gradual changes in protein structure. A neat lock-and-key picture is a simplified representation, not a literal rigid 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LAUNCH · GCSE Biology · Week 8 Enrichment · Introduce</a:t>
            </a:r>
          </a:p>
          <a:p xmlns:a="http://schemas.openxmlformats.org/drawingml/2006/main">
            <a:r>
              <a:t>Learning objective: I can explain enzyme specificity and denaturation, then identify the variables and evidence needed to investigate the effect of pH on amylase safely.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Use enzyme, substrate, active site and specificity accurately in an explanation.</a:t>
            </a:r>
          </a:p>
          <a:p xmlns:a="http://schemas.openxmlformats.org/drawingml/2006/main">
            <a:r>
              <a:t>Explain how an unsuitable pH can change an active site's shape and reduce enzyme activity.</a:t>
            </a:r>
          </a:p>
          <a:p xmlns:a="http://schemas.openxmlformats.org/drawingml/2006/main">
            <a:r>
              <a:t>Identify pH as the independent variable, time to starch disappearance as the dependent variable, and suitable control variables.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SCI_L_W8L1_Enzyme_Action_Introduce.html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SCI_L_W8L1_Enzyme_Action_Introduce.html.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Card shapes do not show molecular movement, collisions, bonds or gradual changes in protein structure. A neat lock-and-key picture is a simplified representation, not a literal rigid 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LAUNCH · GCSE Biology · Week 8 Enrichment · Introduce</a:t>
            </a:r>
          </a:p>
          <a:p xmlns:a="http://schemas.openxmlformats.org/drawingml/2006/main">
            <a:r>
              <a:t>Learning objective: I can explain enzyme specificity and denaturation, then identify the variables and evidence needed to investigate the effect of pH on amylase safely.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Use enzyme, substrate, active site and specificity accurately in an explanation.</a:t>
            </a:r>
          </a:p>
          <a:p xmlns:a="http://schemas.openxmlformats.org/drawingml/2006/main">
            <a:r>
              <a:t>Explain how an unsuitable pH can change an active site's shape and reduce enzyme activity.</a:t>
            </a:r>
          </a:p>
          <a:p xmlns:a="http://schemas.openxmlformats.org/drawingml/2006/main">
            <a:r>
              <a:t>Identify pH as the independent variable, time to starch disappearance as the dependent variable, and suitable control variables.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SCI_L_W8L1_Enzyme_Action_Introduce.html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SCI_L_W8L1_Enzyme_Action_Introduce.html. Arrival: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Wait, regulate and retrieve through the lightest workable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recall is inaccessible, point to one retrieval sentence; do not teach today’s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Card shapes do not show molecular movement, collisions, bonds or gradual changes in protein structure. A neat lock-and-key picture is a simplified representation, not a literal rigid 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 only what has already been taught</a:t>
            </a:r>
          </a:p>
          <a:p xmlns:a="http://schemas.openxmlformats.org/drawingml/2006/main">
            <a:r>
              <a:t>W7 review: enzymes are biological catalysts, but enzyme action was not securely taught in the installed W6–W7 sequence; today's retrieval box supplies the prerequisite facts.</a:t>
            </a:r>
          </a:p>
          <a:p xmlns:a="http://schemas.openxmlformats.org/drawingml/2006/main">
            <a:r>
              <a:t>Topic 1: a cell reaction can be investigated by changing one independent variable and measuring one dependent variable.</a:t>
            </a:r>
          </a:p>
          <a:p xmlns:a="http://schemas.openxmlformats.org/drawingml/2006/main">
            <a:r>
              <a:t>Osmosis practical: control variables make comparisons more valid.</a:t>
            </a:r>
          </a:p>
          <a:p xmlns:a="http://schemas.openxmlformats.org/drawingml/2006/main">
            <a:r>
              <a:t>Lead-in: amylase breaks the substrate starch into smaller sugars.</a:t>
            </a:r>
          </a:p>
          <a:p xmlns:a="http://schemas.openxmlformats.org/drawingml/2006/main">
            <a:r>
              <a:t>New to this class, absent, or not sure? Everything needed is in the retrieval box above. Read it, point to it or ask a familiar adult to read it exactly.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State what a biological catalyst does.</a:t>
            </a:r>
          </a:p>
          <a:p xmlns:a="http://schemas.openxmlformats.org/drawingml/2006/main">
            <a:r>
              <a:t>Name the substrate broken down by amylase.</a:t>
            </a:r>
          </a:p>
          <a:p xmlns:a="http://schemas.openxmlformats.org/drawingml/2006/main">
            <a:r>
              <a:t>Explain why temperature and solution volumes should stay constant in a pH investigation.</a:t>
            </a:r>
          </a:p>
          <a:p xmlns:a="http://schemas.openxmlformats.org/drawingml/2006/main">
            <a:r>
              <a:t>Lead-in: predict what an extreme pH might do to an enzyme's active site.</a:t>
            </a:r>
          </a:p>
          <a:p xmlns:a="http://schemas.openxmlformats.org/drawingml/2006/main">
            <a:r>
              <a:t>Read-aloud route: a familiar adult may read the task exactly while the text remains visible. No device voice or media permission is required.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SCI_L_W8L1_Enzyme_Action_Introduce.html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SCI_L_W8L1_Enzyme_Action_Introduce.html.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Card shapes do not show molecular movement, collisions, bonds or gradual changes in protein structure. A neat lock-and-key picture is a simplified representation, not a literal rigid 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Iodine is blue-black when starch is still present.</a:t>
            </a:r>
          </a:p>
          <a:p xmlns:a="http://schemas.openxmlformats.org/drawingml/2006/main">
            <a:r>
              <a:t>Iodine is the starch detector . Blue-black = starch present.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Iodine stays orange-brown when starch is not detected.</a:t>
            </a:r>
          </a:p>
          <a:p xmlns:a="http://schemas.openxmlformats.org/drawingml/2006/main">
            <a:r>
              <a:t>Amylase broke the starch down. No starch → iodine keeps its own colour.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Equal mixtures at different pH reach the endpoint at different times.</a:t>
            </a:r>
          </a:p>
          <a:p xmlns:a="http://schemas.openxmlformats.org/drawingml/2006/main">
            <a:r>
              <a:t>Only pH changed. So pH changed how fast amylase worked. That is the investigation.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Amylase will always work equally fast because enzymes never change.</a:t>
            </a:r>
          </a:p>
          <a:p xmlns:a="http://schemas.openxmlformats.org/drawingml/2006/main">
            <a:r>
              <a:t>There may be an optimum pH where starch disappears in the shortest time.</a:t>
            </a:r>
          </a:p>
          <a:p xmlns:a="http://schemas.openxmlformats.org/drawingml/2006/main">
            <a:r>
              <a:t>The buffer with the brightest label will make the reaction fastest.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SCI_L_W8L1_Enzyme_Action_Introduce.html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SCI_L_W8L1_Enzyme_Action_Introduce.html.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Card shapes do not show molecular movement, collisions, bonds or gradual changes in protein structure. A neat lock-and-key picture is a simplified representation, not a literal rigid 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Iodine is blue-black when starch is still present.</a:t>
            </a:r>
          </a:p>
          <a:p xmlns:a="http://schemas.openxmlformats.org/drawingml/2006/main">
            <a:r>
              <a:t>Iodine is the starch detector . Blue-black = starch present.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Iodine stays orange-brown when starch is not detected.</a:t>
            </a:r>
          </a:p>
          <a:p xmlns:a="http://schemas.openxmlformats.org/drawingml/2006/main">
            <a:r>
              <a:t>Amylase broke the starch down. No starch → iodine keeps its own colour.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Equal mixtures at different pH reach the endpoint at different times.</a:t>
            </a:r>
          </a:p>
          <a:p xmlns:a="http://schemas.openxmlformats.org/drawingml/2006/main">
            <a:r>
              <a:t>Only pH changed. So pH changed how fast amylase worked. That is the investigation.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Amylase will always work equally fast because enzymes never change.</a:t>
            </a:r>
          </a:p>
          <a:p xmlns:a="http://schemas.openxmlformats.org/drawingml/2006/main">
            <a:r>
              <a:t>There may be an optimum pH where starch disappears in the shortest time.</a:t>
            </a:r>
          </a:p>
          <a:p xmlns:a="http://schemas.openxmlformats.org/drawingml/2006/main">
            <a:r>
              <a:t>The buffer with the brightest label will make the reaction fastest.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SCI_L_W8L1_Enzyme_Action_Introduce.html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SCI_L_W8L1_Enzyme_Action_Introduce.html. I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Card shapes do not show molecular movement, collisions, bonds or gradual changes in protein structure. A neat lock-and-key picture is a simplified representation, not a literal rigid 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SPECIFICITY one substrate fits the ability of an enzyme's active site to bind a particular substrate</a:t>
            </a:r>
          </a:p>
          <a:p xmlns:a="http://schemas.openxmlformats.org/drawingml/2006/main">
            <a:r>
              <a:t>DENATURE active site changes shape to change an enzyme's three-dimensional shape so its active site no longer works effectively</a:t>
            </a:r>
          </a:p>
          <a:p xmlns:a="http://schemas.openxmlformats.org/drawingml/2006/main">
            <a:r>
              <a:t>VARIABLE what changes or is measured a factor deliberately changed, measured or kept constant in an investigation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Use the model to connect active-site shape, substrate binding and a measurable endpoint. Record the sentence: pH may affect active-site shape, so we measure the time until starch is no longer detected.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Card shapes do not show molecular movement, collisions, bonds or gradual changes in protein structure. A neat lock-and-key picture is a simplified representation, not a literal rigid lock.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Represent amylase with one active-site shape and starch with a complementary substrate piece. Bind them briefly to show an enzyme-substrate complex.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Separate the product pieces and return the enzyme model unchanged. The enzyme can catalyse another reaction and is not consumed.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Alter the active-site model to represent denaturation. The substrate no longer fits well, so successful collisions and reaction rate fall.</a:t>
            </a:r>
          </a:p>
          <a:p xmlns:a="http://schemas.openxmlformats.org/drawingml/2006/main">
            <a:r>
              <a:t>Active site model · change the pH</a:t>
            </a:r>
          </a:p>
          <a:p xmlns:a="http://schemas.openxmlformats.org/drawingml/2006/main">
            <a:r>
              <a:t>One enzyme, one substrate. Press a pH and watch the active site . Specific = only starch fits. Denatured = the shape has changed and nothing fits.</a:t>
            </a:r>
          </a:p>
          <a:p xmlns:a="http://schemas.openxmlformats.org/drawingml/2006/main">
            <a:r>
              <a:t>pH 3</a:t>
            </a:r>
          </a:p>
          <a:p xmlns:a="http://schemas.openxmlformats.org/drawingml/2006/main">
            <a:r>
              <a:t>pH 5</a:t>
            </a:r>
          </a:p>
          <a:p xmlns:a="http://schemas.openxmlformats.org/drawingml/2006/main">
            <a:r>
              <a:t>pH 7</a:t>
            </a:r>
          </a:p>
          <a:p xmlns:a="http://schemas.openxmlformats.org/drawingml/2006/main">
            <a:r>
              <a:t>pH 9</a:t>
            </a:r>
          </a:p>
          <a:p xmlns:a="http://schemas.openxmlformats.org/drawingml/2006/main">
            <a:r>
              <a:t>pH 11</a:t>
            </a:r>
          </a:p>
          <a:p xmlns:a="http://schemas.openxmlformats.org/drawingml/2006/main">
            <a:r>
              <a:t>pH 7: the substrate fits the active site. Reaction fastest. This is the optimum for amylase (about pH 7).</a:t>
            </a:r>
          </a:p>
          <a:p xmlns:a="http://schemas.openxmlformats.org/drawingml/2006/main">
            <a:r>
              <a:t>Sort the variables</a:t>
            </a:r>
          </a:p>
          <a:p xmlns:a="http://schemas.openxmlformats.org/drawingml/2006/main">
            <a:r>
              <a:t>pH of the buffer</a:t>
            </a:r>
          </a:p>
          <a:p xmlns:a="http://schemas.openxmlformats.org/drawingml/2006/main">
            <a:r>
              <a:t>time until starch is no longer detected</a:t>
            </a:r>
          </a:p>
          <a:p xmlns:a="http://schemas.openxmlformats.org/drawingml/2006/main">
            <a:r>
              <a:t>temperature (water bath)</a:t>
            </a:r>
          </a:p>
          <a:p xmlns:a="http://schemas.openxmlformats.org/drawingml/2006/main">
            <a:r>
              <a:t>volume and concentration of starch</a:t>
            </a:r>
          </a:p>
          <a:p xmlns:a="http://schemas.openxmlformats.org/drawingml/2006/main">
            <a:r>
              <a:t>volume of amylase</a:t>
            </a:r>
          </a:p>
          <a:p xmlns:a="http://schemas.openxmlformats.org/drawingml/2006/main">
            <a:r>
              <a:t>sampling interval (every 30 s)</a:t>
            </a:r>
          </a:p>
          <a:p xmlns:a="http://schemas.openxmlformats.org/drawingml/2006/main">
            <a:r>
              <a:t>Independent (I change)</a:t>
            </a:r>
          </a:p>
          <a:p xmlns:a="http://schemas.openxmlformats.org/drawingml/2006/main">
            <a:r>
              <a:t>Dependent (I measure)</a:t>
            </a:r>
          </a:p>
          <a:p xmlns:a="http://schemas.openxmlformats.org/drawingml/2006/main">
            <a:r>
              <a:t>Control (I keep the same)</a:t>
            </a:r>
          </a:p>
          <a:p xmlns:a="http://schemas.openxmlformats.org/drawingml/2006/main">
            <a:r>
              <a:t>Press a variable, then its type.</a:t>
            </a:r>
          </a:p>
          <a:p xmlns:a="http://schemas.openxmlformats.org/drawingml/2006/main">
            <a:r>
              <a:t>Foundation tier: enzyme, substrate, active site, specific, denatured, optimum. Do not add lock-and-key vs induced-fit or activation energy.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SCI_L_W8L1_Enzyme_Action_Introduce.html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SCI_L_W8L1_Enzyme_Action_Introduce.html. I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Card shapes do not show molecular movement, collisions, bonds or gradual changes in protein structure. A neat lock-and-key picture is a simplified representation, not a literal rigid 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SPECIFICITY one substrate fits the ability of an enzyme's active site to bind a particular substrate</a:t>
            </a:r>
          </a:p>
          <a:p xmlns:a="http://schemas.openxmlformats.org/drawingml/2006/main">
            <a:r>
              <a:t>DENATURE active site changes shape to change an enzyme's three-dimensional shape so its active site no longer works effectively</a:t>
            </a:r>
          </a:p>
          <a:p xmlns:a="http://schemas.openxmlformats.org/drawingml/2006/main">
            <a:r>
              <a:t>VARIABLE what changes or is measured a factor deliberately changed, measured or kept constant in an investigation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Use the model to connect active-site shape, substrate binding and a measurable endpoint. Record the sentence: pH may affect active-site shape, so we measure the time until starch is no longer detected.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Card shapes do not show molecular movement, collisions, bonds or gradual changes in protein structure. A neat lock-and-key picture is a simplified representation, not a literal rigid lock.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Represent amylase with one active-site shape and starch with a complementary substrate piece. Bind them briefly to show an enzyme-substrate complex.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Separate the product pieces and return the enzyme model unchanged. The enzyme can catalyse another reaction and is not consumed.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Alter the active-site model to represent denaturation. The substrate no longer fits well, so successful collisions and reaction rate fall.</a:t>
            </a:r>
          </a:p>
          <a:p xmlns:a="http://schemas.openxmlformats.org/drawingml/2006/main">
            <a:r>
              <a:t>Active site model · change the pH</a:t>
            </a:r>
          </a:p>
          <a:p xmlns:a="http://schemas.openxmlformats.org/drawingml/2006/main">
            <a:r>
              <a:t>One enzyme, one substrate. Press a pH and watch the active site . Specific = only starch fits. Denatured = the shape has changed and nothing fits.</a:t>
            </a:r>
          </a:p>
          <a:p xmlns:a="http://schemas.openxmlformats.org/drawingml/2006/main">
            <a:r>
              <a:t>pH 3</a:t>
            </a:r>
          </a:p>
          <a:p xmlns:a="http://schemas.openxmlformats.org/drawingml/2006/main">
            <a:r>
              <a:t>pH 5</a:t>
            </a:r>
          </a:p>
          <a:p xmlns:a="http://schemas.openxmlformats.org/drawingml/2006/main">
            <a:r>
              <a:t>pH 7</a:t>
            </a:r>
          </a:p>
          <a:p xmlns:a="http://schemas.openxmlformats.org/drawingml/2006/main">
            <a:r>
              <a:t>pH 9</a:t>
            </a:r>
          </a:p>
          <a:p xmlns:a="http://schemas.openxmlformats.org/drawingml/2006/main">
            <a:r>
              <a:t>pH 11</a:t>
            </a:r>
          </a:p>
          <a:p xmlns:a="http://schemas.openxmlformats.org/drawingml/2006/main">
            <a:r>
              <a:t>pH 7: the substrate fits the active site. Reaction fastest. This is the optimum for amylase (about pH 7).</a:t>
            </a:r>
          </a:p>
          <a:p xmlns:a="http://schemas.openxmlformats.org/drawingml/2006/main">
            <a:r>
              <a:t>Sort the variables</a:t>
            </a:r>
          </a:p>
          <a:p xmlns:a="http://schemas.openxmlformats.org/drawingml/2006/main">
            <a:r>
              <a:t>pH of the buffer</a:t>
            </a:r>
          </a:p>
          <a:p xmlns:a="http://schemas.openxmlformats.org/drawingml/2006/main">
            <a:r>
              <a:t>time until starch is no longer detected</a:t>
            </a:r>
          </a:p>
          <a:p xmlns:a="http://schemas.openxmlformats.org/drawingml/2006/main">
            <a:r>
              <a:t>temperature (water bath)</a:t>
            </a:r>
          </a:p>
          <a:p xmlns:a="http://schemas.openxmlformats.org/drawingml/2006/main">
            <a:r>
              <a:t>volume and concentration of starch</a:t>
            </a:r>
          </a:p>
          <a:p xmlns:a="http://schemas.openxmlformats.org/drawingml/2006/main">
            <a:r>
              <a:t>volume of amylase</a:t>
            </a:r>
          </a:p>
          <a:p xmlns:a="http://schemas.openxmlformats.org/drawingml/2006/main">
            <a:r>
              <a:t>sampling interval (every 30 s)</a:t>
            </a:r>
          </a:p>
          <a:p xmlns:a="http://schemas.openxmlformats.org/drawingml/2006/main">
            <a:r>
              <a:t>Independent (I change)</a:t>
            </a:r>
          </a:p>
          <a:p xmlns:a="http://schemas.openxmlformats.org/drawingml/2006/main">
            <a:r>
              <a:t>Dependent (I measure)</a:t>
            </a:r>
          </a:p>
          <a:p xmlns:a="http://schemas.openxmlformats.org/drawingml/2006/main">
            <a:r>
              <a:t>Control (I keep the same)</a:t>
            </a:r>
          </a:p>
          <a:p xmlns:a="http://schemas.openxmlformats.org/drawingml/2006/main">
            <a:r>
              <a:t>Press a variable, then its type.</a:t>
            </a:r>
          </a:p>
          <a:p xmlns:a="http://schemas.openxmlformats.org/drawingml/2006/main">
            <a:r>
              <a:t>Foundation tier: enzyme, substrate, active site, specific, denatured, optimum. Do not add lock-and-key vs induced-fit or activation energy.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SCI_L_W8L1_Enzyme_Action_Introduce.html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SCI_L_W8L1_Enzyme_Action_Introduce.html. I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Card shapes do not show molecular movement, collisions, bonds or gradual changes in protein structure. A neat lock-and-key picture is a simplified representation, not a literal rigid 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SPECIFICITY one substrate fits the ability of an enzyme's active site to bind a particular substrate</a:t>
            </a:r>
          </a:p>
          <a:p xmlns:a="http://schemas.openxmlformats.org/drawingml/2006/main">
            <a:r>
              <a:t>DENATURE active site changes shape to change an enzyme's three-dimensional shape so its active site no longer works effectively</a:t>
            </a:r>
          </a:p>
          <a:p xmlns:a="http://schemas.openxmlformats.org/drawingml/2006/main">
            <a:r>
              <a:t>VARIABLE what changes or is measured a factor deliberately changed, measured or kept constant in an investigation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Use the model to connect active-site shape, substrate binding and a measurable endpoint. Record the sentence: pH may affect active-site shape, so we measure the time until starch is no longer detected.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Card shapes do not show molecular movement, collisions, bonds or gradual changes in protein structure. A neat lock-and-key picture is a simplified representation, not a literal rigid lock.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Represent amylase with one active-site shape and starch with a complementary substrate piece. Bind them briefly to show an enzyme-substrate complex.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Separate the product pieces and return the enzyme model unchanged. The enzyme can catalyse another reaction and is not consumed.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Alter the active-site model to represent denaturation. The substrate no longer fits well, so successful collisions and reaction rate fall.</a:t>
            </a:r>
          </a:p>
          <a:p xmlns:a="http://schemas.openxmlformats.org/drawingml/2006/main">
            <a:r>
              <a:t>Active site model · change the pH</a:t>
            </a:r>
          </a:p>
          <a:p xmlns:a="http://schemas.openxmlformats.org/drawingml/2006/main">
            <a:r>
              <a:t>One enzyme, one substrate. Press a pH and watch the active site . Specific = only starch fits. Denatured = the shape has changed and nothing fits.</a:t>
            </a:r>
          </a:p>
          <a:p xmlns:a="http://schemas.openxmlformats.org/drawingml/2006/main">
            <a:r>
              <a:t>pH 3</a:t>
            </a:r>
          </a:p>
          <a:p xmlns:a="http://schemas.openxmlformats.org/drawingml/2006/main">
            <a:r>
              <a:t>pH 5</a:t>
            </a:r>
          </a:p>
          <a:p xmlns:a="http://schemas.openxmlformats.org/drawingml/2006/main">
            <a:r>
              <a:t>pH 7</a:t>
            </a:r>
          </a:p>
          <a:p xmlns:a="http://schemas.openxmlformats.org/drawingml/2006/main">
            <a:r>
              <a:t>pH 9</a:t>
            </a:r>
          </a:p>
          <a:p xmlns:a="http://schemas.openxmlformats.org/drawingml/2006/main">
            <a:r>
              <a:t>pH 11</a:t>
            </a:r>
          </a:p>
          <a:p xmlns:a="http://schemas.openxmlformats.org/drawingml/2006/main">
            <a:r>
              <a:t>pH 7: the substrate fits the active site. Reaction fastest. This is the optimum for amylase (about pH 7).</a:t>
            </a:r>
          </a:p>
          <a:p xmlns:a="http://schemas.openxmlformats.org/drawingml/2006/main">
            <a:r>
              <a:t>Sort the variables</a:t>
            </a:r>
          </a:p>
          <a:p xmlns:a="http://schemas.openxmlformats.org/drawingml/2006/main">
            <a:r>
              <a:t>pH of the buffer</a:t>
            </a:r>
          </a:p>
          <a:p xmlns:a="http://schemas.openxmlformats.org/drawingml/2006/main">
            <a:r>
              <a:t>time until starch is no longer detected</a:t>
            </a:r>
          </a:p>
          <a:p xmlns:a="http://schemas.openxmlformats.org/drawingml/2006/main">
            <a:r>
              <a:t>temperature (water bath)</a:t>
            </a:r>
          </a:p>
          <a:p xmlns:a="http://schemas.openxmlformats.org/drawingml/2006/main">
            <a:r>
              <a:t>volume and concentration of starch</a:t>
            </a:r>
          </a:p>
          <a:p xmlns:a="http://schemas.openxmlformats.org/drawingml/2006/main">
            <a:r>
              <a:t>volume of amylase</a:t>
            </a:r>
          </a:p>
          <a:p xmlns:a="http://schemas.openxmlformats.org/drawingml/2006/main">
            <a:r>
              <a:t>sampling interval (every 30 s)</a:t>
            </a:r>
          </a:p>
          <a:p xmlns:a="http://schemas.openxmlformats.org/drawingml/2006/main">
            <a:r>
              <a:t>Independent (I change)</a:t>
            </a:r>
          </a:p>
          <a:p xmlns:a="http://schemas.openxmlformats.org/drawingml/2006/main">
            <a:r>
              <a:t>Dependent (I measure)</a:t>
            </a:r>
          </a:p>
          <a:p xmlns:a="http://schemas.openxmlformats.org/drawingml/2006/main">
            <a:r>
              <a:t>Control (I keep the same)</a:t>
            </a:r>
          </a:p>
          <a:p xmlns:a="http://schemas.openxmlformats.org/drawingml/2006/main">
            <a:r>
              <a:t>Press a variable, then its type.</a:t>
            </a:r>
          </a:p>
          <a:p xmlns:a="http://schemas.openxmlformats.org/drawingml/2006/main">
            <a:r>
              <a:t>Foundation tier: enzyme, substrate, active site, specific, denatured, optimum. Do not add lock-and-key vs induced-fit or activation energy.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SCI_L_W8L1_Enzyme_Action_Introduce.html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SCI_L_W8L1_Enzyme_Action_Introduce.html. We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Scan every response mode. Do not infer understanding from handwriting or confidence.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Secure: transfer. Mixed: contrast. Misconception: counterexample then a fresh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Card shapes do not show molecular movement, collisions, bonds or gradual changes in protein structure. A neat lock-and-key picture is a simplified representation, not a literal rigid 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Everyone commits before explanation.</a:t>
            </a:r>
          </a:p>
          <a:p xmlns:a="http://schemas.openxmlformats.org/drawingml/2006/main">
            <a:r>
              <a:t>Use a button, point, say/sign or let an adult operate the chosen button. A retry is information, not a penalty.</a:t>
            </a:r>
          </a:p>
          <a:p xmlns:a="http://schemas.openxmlformats.org/drawingml/2006/main">
            <a:r>
              <a:t>Audience move: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Every enzyme binds every substrate if enough time passes.</a:t>
            </a:r>
          </a:p>
          <a:p xmlns:a="http://schemas.openxmlformats.org/drawingml/2006/main">
            <a:r>
              <a:t>An enzyme's active site has a complementary shape to its particular substrate.</a:t>
            </a:r>
          </a:p>
          <a:p xmlns:a="http://schemas.openxmlformats.org/drawingml/2006/main">
            <a:r>
              <a:t>The substrate permanently changes the enzyme into a product.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SCI_L_W8L1_Enzyme_Action_Introduce.html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SCI_L_W8L1_Enzyme_Action_Introduce.html.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Card shapes do not show molecular movement, collisions, bonds or gradual changes in protein structure. A neat lock-and-key picture is a simplified representation, not a literal rigid 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Translate the model into a testable question: how does buffer pH affect the time amylase takes to digest starch?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Set the variables: IV = buffer pH; DV = time until a sample no longer turns iodine blue-black; CVs include temperature, enzyme and starch concentrations and volumes, sampling interval and mixing method.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Add a negative control sample with starch but no active amylase. It should continue to test positive for starch and helps show that starch loss depends on the enzyme.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Use the model to connect active-site shape, substrate binding and a measurable endpoint. Record the sentence: pH may affect active-site shape, so we measure the time until starch is no longer detected.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Card shapes do not show molecular movement, collisions, bonds or gradual changes in protein structure. A neat lock-and-key picture is a simplified representation, not a literal rigid lock.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SCI_L_W8L1_Enzyme_Action_Introduce.html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SCI_L_W8L1_Enzyme_Action_Introduce.html.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Card shapes do not show molecular movement, collisions, bonds or gradual changes in protein structure. A neat lock-and-key picture is a simplified representation, not a literal rigid 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Translate the model into a testable question: how does buffer pH affect the time amylase takes to digest starch?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Set the variables: IV = buffer pH; DV = time until a sample no longer turns iodine blue-black; CVs include temperature, enzyme and starch concentrations and volumes, sampling interval and mixing method.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Add a negative control sample with starch but no active amylase. It should continue to test positive for starch and helps show that starch loss depends on the enzyme.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Use the model to connect active-site shape, substrate binding and a measurable endpoint. Record the sentence: pH may affect active-site shape, so we measure the time until starch is no longer detected.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Card shapes do not show molecular movement, collisions, bonds or gradual changes in protein structure. A neat lock-and-key picture is a simplified representation, not a literal rigid lock.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SCI_L_W8L1_Enzyme_Action_Introduce.html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SCI_L_W8L1_Enzyme_Action_Introduce.html.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Card shapes do not show molecular movement, collisions, bonds or gradual changes in protein structure. A neat lock-and-key picture is a simplified representation, not a literal rigid 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Route each planning card to independent variable, dependent evidence or control/validity before writing the method.</a:t>
            </a:r>
          </a:p>
          <a:p xmlns:a="http://schemas.openxmlformats.org/drawingml/2006/main">
            <a:r>
              <a:t>Read one planning card. Commit it to IV, DV or control/validity. Repair any mismatch using the question being tested. Freeze the plan only when the cause, outcome and fair-comparison conditions are visible.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Buffer pH Use labelled buffers so mixtures differ in pH according to the centre-approved method.</a:t>
            </a:r>
          </a:p>
          <a:p xmlns:a="http://schemas.openxmlformats.org/drawingml/2006/main">
            <a:r>
              <a:t>Endpoint time Record the time until a sample no longer makes iodine turn blue-black.</a:t>
            </a:r>
          </a:p>
          <a:p xmlns:a="http://schemas.openxmlformats.org/drawingml/2006/main">
            <a:r>
              <a:t>Constant temperature Keep every reaction at the same approved temperature throughout the comparison.</a:t>
            </a:r>
          </a:p>
          <a:p xmlns:a="http://schemas.openxmlformats.org/drawingml/2006/main">
            <a:r>
              <a:t>Equal volumes Use the same approved volume and concentration of amylase and starch in every trial.</a:t>
            </a:r>
          </a:p>
          <a:p xmlns:a="http://schemas.openxmlformats.org/drawingml/2006/main">
            <a:r>
              <a:t>Sampling interval Sample every fixed number of seconds using the interval in the centre method.</a:t>
            </a:r>
          </a:p>
          <a:p xmlns:a="http://schemas.openxmlformats.org/drawingml/2006/main">
            <a:r>
              <a:t>No-amylase control A separate starch mixture contains no active amylase and should remain starch-positive.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INDEPENDENT VARIABLE</a:t>
            </a:r>
          </a:p>
          <a:p xmlns:a="http://schemas.openxmlformats.org/drawingml/2006/main">
            <a:r>
              <a:t>DEPENDENT EVIDENCE</a:t>
            </a:r>
          </a:p>
          <a:p xmlns:a="http://schemas.openxmlformats.org/drawingml/2006/main">
            <a:r>
              <a:t>CONTROL / VALIDITY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Planning glitch: change pH, temperature and amylase volume together so the result is more dramatic.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several changes make the evidence stronger.</a:t>
            </a:r>
          </a:p>
          <a:p xmlns:a="http://schemas.openxmlformats.org/drawingml/2006/main">
            <a:r>
              <a:t>Repair it: change pH only and control other rate factors so the comparison can test pH.</a:t>
            </a:r>
          </a:p>
          <a:p xmlns:a="http://schemas.openxmlformats.org/drawingml/2006/main">
            <a:r>
              <a:t>Repair it: remove the time measurement and judge by which tube looks best.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SCI_L_W8L1_Enzyme_Action_Introduce.html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SCI_L_W8L1_Enzyme_Action_Introduce.html.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Card shapes do not show molecular movement, collisions, bonds or gradual changes in protein structure. A neat lock-and-key picture is a simplified representation, not a literal rigid 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Route each planning card to independent variable, dependent evidence or control/validity before writing the method.</a:t>
            </a:r>
          </a:p>
          <a:p xmlns:a="http://schemas.openxmlformats.org/drawingml/2006/main">
            <a:r>
              <a:t>Read one planning card. Commit it to IV, DV or control/validity. Repair any mismatch using the question being tested. Freeze the plan only when the cause, outcome and fair-comparison conditions are visible.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Buffer pH Use labelled buffers so mixtures differ in pH according to the centre-approved method.</a:t>
            </a:r>
          </a:p>
          <a:p xmlns:a="http://schemas.openxmlformats.org/drawingml/2006/main">
            <a:r>
              <a:t>Endpoint time Record the time until a sample no longer makes iodine turn blue-black.</a:t>
            </a:r>
          </a:p>
          <a:p xmlns:a="http://schemas.openxmlformats.org/drawingml/2006/main">
            <a:r>
              <a:t>Constant temperature Keep every reaction at the same approved temperature throughout the comparison.</a:t>
            </a:r>
          </a:p>
          <a:p xmlns:a="http://schemas.openxmlformats.org/drawingml/2006/main">
            <a:r>
              <a:t>Equal volumes Use the same approved volume and concentration of amylase and starch in every trial.</a:t>
            </a:r>
          </a:p>
          <a:p xmlns:a="http://schemas.openxmlformats.org/drawingml/2006/main">
            <a:r>
              <a:t>Sampling interval Sample every fixed number of seconds using the interval in the centre method.</a:t>
            </a:r>
          </a:p>
          <a:p xmlns:a="http://schemas.openxmlformats.org/drawingml/2006/main">
            <a:r>
              <a:t>No-amylase control A separate starch mixture contains no active amylase and should remain starch-positive.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INDEPENDENT VARIABLE</a:t>
            </a:r>
          </a:p>
          <a:p xmlns:a="http://schemas.openxmlformats.org/drawingml/2006/main">
            <a:r>
              <a:t>DEPENDENT EVIDENCE</a:t>
            </a:r>
          </a:p>
          <a:p xmlns:a="http://schemas.openxmlformats.org/drawingml/2006/main">
            <a:r>
              <a:t>CONTROL / VALIDITY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Planning glitch: change pH, temperature and amylase volume together so the result is more dramatic.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several changes make the evidence stronger.</a:t>
            </a:r>
          </a:p>
          <a:p xmlns:a="http://schemas.openxmlformats.org/drawingml/2006/main">
            <a:r>
              <a:t>Repair it: change pH only and control other rate factors so the comparison can test pH.</a:t>
            </a:r>
          </a:p>
          <a:p xmlns:a="http://schemas.openxmlformats.org/drawingml/2006/main">
            <a:r>
              <a:t>Repair it: remove the time measurement and judge by which tube looks best.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SCI_L_W8L1_Enzyme_Action_Introduce.html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SCI_L_W8L1_Enzyme_Action_Introduce.html.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Card shapes do not show molecular movement, collisions, bonds or gradual changes in protein structure. A neat lock-and-key picture is a simplified representation, not a literal rigid 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Route each planning card to independent variable, dependent evidence or control/validity before writing the method.</a:t>
            </a:r>
          </a:p>
          <a:p xmlns:a="http://schemas.openxmlformats.org/drawingml/2006/main">
            <a:r>
              <a:t>Read one planning card. Commit it to IV, DV or control/validity. Repair any mismatch using the question being tested. Freeze the plan only when the cause, outcome and fair-comparison conditions are visible.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Buffer pH Use labelled buffers so mixtures differ in pH according to the centre-approved method.</a:t>
            </a:r>
          </a:p>
          <a:p xmlns:a="http://schemas.openxmlformats.org/drawingml/2006/main">
            <a:r>
              <a:t>Endpoint time Record the time until a sample no longer makes iodine turn blue-black.</a:t>
            </a:r>
          </a:p>
          <a:p xmlns:a="http://schemas.openxmlformats.org/drawingml/2006/main">
            <a:r>
              <a:t>Constant temperature Keep every reaction at the same approved temperature throughout the comparison.</a:t>
            </a:r>
          </a:p>
          <a:p xmlns:a="http://schemas.openxmlformats.org/drawingml/2006/main">
            <a:r>
              <a:t>Equal volumes Use the same approved volume and concentration of amylase and starch in every trial.</a:t>
            </a:r>
          </a:p>
          <a:p xmlns:a="http://schemas.openxmlformats.org/drawingml/2006/main">
            <a:r>
              <a:t>Sampling interval Sample every fixed number of seconds using the interval in the centre method.</a:t>
            </a:r>
          </a:p>
          <a:p xmlns:a="http://schemas.openxmlformats.org/drawingml/2006/main">
            <a:r>
              <a:t>No-amylase control A separate starch mixture contains no active amylase and should remain starch-positive.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INDEPENDENT VARIABLE</a:t>
            </a:r>
          </a:p>
          <a:p xmlns:a="http://schemas.openxmlformats.org/drawingml/2006/main">
            <a:r>
              <a:t>DEPENDENT EVIDENCE</a:t>
            </a:r>
          </a:p>
          <a:p xmlns:a="http://schemas.openxmlformats.org/drawingml/2006/main">
            <a:r>
              <a:t>CONTROL / VALIDITY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Planning glitch: change pH, temperature and amylase volume together so the result is more dramatic.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several changes make the evidence stronger.</a:t>
            </a:r>
          </a:p>
          <a:p xmlns:a="http://schemas.openxmlformats.org/drawingml/2006/main">
            <a:r>
              <a:t>Repair it: change pH only and control other rate factors so the comparison can test pH.</a:t>
            </a:r>
          </a:p>
          <a:p xmlns:a="http://schemas.openxmlformats.org/drawingml/2006/main">
            <a:r>
              <a:t>Repair it: remove the time measurement and judge by which tube looks best.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SCI_L_W8L1_Enzyme_Action_Introduce.html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SCI_L_W8L1_Enzyme_Action_Introduce.html. Independent: 10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Card shapes do not show molecular movement, collisions, bonds or gradual changes in protein structure. A neat lock-and-key picture is a simplified representation, not a literal rigid 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Planning sheet, apparatus cards, pH-buffer labels, results-table template and current centre method/risk assessment supplied by the teacher. No reagent handling is required in this Introduce lesson.</a:t>
            </a:r>
          </a:p>
          <a:p xmlns:a="http://schemas.openxmlformats.org/drawingml/2006/main">
            <a:r>
              <a:t>Same outcome: I can explain enzyme specificity and denaturation, then identify the variables and evidence needed to investigate the effect of pH on amylase safely.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in-page planning console, then type an ordered variables table and method outline locally. It prepares the practical but does not certify completion.</a:t>
            </a:r>
          </a:p>
          <a:p xmlns:a="http://schemas.openxmlformats.org/drawingml/2006/main">
            <a:r>
              <a:t>Same evidence: A pupil-owned prediction, IV/DV/CV table, ordered method outline, results-table headings and one justified safety/control decision.</a:t>
            </a:r>
          </a:p>
          <a:p xmlns:a="http://schemas.openxmlformats.org/drawingml/2006/main">
            <a:r>
              <a:t>Equipment / setup Planning sheet, apparatus cards, pH-buffer labels, results-table template and current centre method/risk assessment supplied by the teacher. No reagent handling is required in this Introduce lesson.</a:t>
            </a:r>
          </a:p>
          <a:p xmlns:a="http://schemas.openxmlformats.org/drawingml/2006/main">
            <a:r>
              <a:t>Safety / sensory This lesson plans but does not authorise practical work. The teacher/technician must supply the current centre-approved Pearson method, COSHH information and local risk assessment; pupils must not infer concentrations, heating arrangements or disposal from this deck.</a:t>
            </a:r>
          </a:p>
          <a:p xmlns:a="http://schemas.openxmlformats.org/drawingml/2006/main">
            <a:r>
              <a:t>Offline parity Use the in-page planning console, then type an ordered variables table and method outline locally. It prepares the practical but does not certify completion.</a:t>
            </a:r>
          </a:p>
          <a:p xmlns:a="http://schemas.openxmlformats.org/drawingml/2006/main">
            <a:r>
              <a:t>No-equipment/access route: Sequence printed method cards and direct an adult to scribe exact decisions. Keep all GCSE variables and safety reasoning.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Write an ordered method outline, identify variables and control sample, and design a table for pH, endpoint time and rate.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 numbered steps and the command-word frame: EXPLAIN = point + scientific reason.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SCI_L_W8L1_Enzyme_Action_Introduce.html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SCI_L_W8L1_Enzyme_Action_Introduce.html. Independent: 10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Card shapes do not show molecular movement, collisions, bonds or gradual changes in protein structure. A neat lock-and-key picture is a simplified representation, not a literal rigid 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Planning sheet, apparatus cards, pH-buffer labels, results-table template and current centre method/risk assessment supplied by the teacher. No reagent handling is required in this Introduce lesson.</a:t>
            </a:r>
          </a:p>
          <a:p xmlns:a="http://schemas.openxmlformats.org/drawingml/2006/main">
            <a:r>
              <a:t>Same outcome: I can explain enzyme specificity and denaturation, then identify the variables and evidence needed to investigate the effect of pH on amylase safely.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in-page planning console, then type an ordered variables table and method outline locally. It prepares the practical but does not certify completion.</a:t>
            </a:r>
          </a:p>
          <a:p xmlns:a="http://schemas.openxmlformats.org/drawingml/2006/main">
            <a:r>
              <a:t>Same evidence: A pupil-owned prediction, IV/DV/CV table, ordered method outline, results-table headings and one justified safety/control decision.</a:t>
            </a:r>
          </a:p>
          <a:p xmlns:a="http://schemas.openxmlformats.org/drawingml/2006/main">
            <a:r>
              <a:t>Equipment / setup Planning sheet, apparatus cards, pH-buffer labels, results-table template and current centre method/risk assessment supplied by the teacher. No reagent handling is required in this Introduce lesson.</a:t>
            </a:r>
          </a:p>
          <a:p xmlns:a="http://schemas.openxmlformats.org/drawingml/2006/main">
            <a:r>
              <a:t>Safety / sensory This lesson plans but does not authorise practical work. The teacher/technician must supply the current centre-approved Pearson method, COSHH information and local risk assessment; pupils must not infer concentrations, heating arrangements or disposal from this deck.</a:t>
            </a:r>
          </a:p>
          <a:p xmlns:a="http://schemas.openxmlformats.org/drawingml/2006/main">
            <a:r>
              <a:t>Offline parity Use the in-page planning console, then type an ordered variables table and method outline locally. It prepares the practical but does not certify completion.</a:t>
            </a:r>
          </a:p>
          <a:p xmlns:a="http://schemas.openxmlformats.org/drawingml/2006/main">
            <a:r>
              <a:t>No-equipment/access route: Sequence printed method cards and direct an adult to scribe exact decisions. Keep all GCSE variables and safety reasoning.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Write an ordered method outline, identify variables and control sample, and design a table for pH, endpoint time and rate.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 numbered steps and the command-word frame: EXPLAIN = point + scientific reason.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SCI_L_W8L1_Enzyme_Action_Introduce.html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SCI_L_W8L1_Enzyme_Action_Introduce.html.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Genuinely receive one final response and name back the Science heard or seen.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one next move; the pupil edits or re-attempts on the existing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Card shapes do not show molecular movement, collisions, bonds or gradual changes in protein structure. A neat lock-and-key picture is a simplified representation, not a literal rigid 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Standard</a:t>
            </a:r>
          </a:p>
          <a:p xmlns:a="http://schemas.openxmlformats.org/drawingml/2006/main">
            <a:r>
              <a:t>Explain why temperature and volumes must be controlled when investigating pH and amylase.</a:t>
            </a:r>
          </a:p>
          <a:p xmlns:a="http://schemas.openxmlformats.org/drawingml/2006/main">
            <a:r>
              <a:t>Adult Audience</a:t>
            </a:r>
          </a:p>
          <a:p xmlns:a="http://schemas.openxmlformats.org/drawingml/2006/main">
            <a:r>
              <a:t>The familiar adult genuinely receives the pupil response, then says back the Science they heard or saw. The adult does not add a score or rewrite the pupil.</a:t>
            </a:r>
          </a:p>
          <a:p xmlns:a="http://schemas.openxmlformats.org/drawingml/2006/main">
            <a:r>
              <a:t>I changed / next I will …</a:t>
            </a:r>
          </a:p>
          <a:p xmlns:a="http://schemas.openxmlformats.org/drawingml/2006/main">
            <a:r>
              <a:t>Adult feedback that produced the edit / re-attempt: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SCI_L_W8L1_Enzyme_Action_Introduce.html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47b625799d46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f52eff3d854b71" /><Relationship Type="http://schemas.openxmlformats.org/officeDocument/2006/relationships/slideLayout" Target="/ppt/slideLayouts/slideLayout1.xml" Id="Rd58910afe6f447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8910afe6f447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d1b539ce84af0" /><Relationship Type="http://schemas.openxmlformats.org/officeDocument/2006/relationships/hyperlink" Target="SCI_L_W8L1_Enzyme_Action_Introduce.html" TargetMode="External" Id="R3d22e229eb5b4f07" /><Relationship Type="http://schemas.openxmlformats.org/officeDocument/2006/relationships/notesSlide" Target="/ppt/notesSlides/notesSlide1.xml" Id="Rf16529c3ee9c41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a7322002a497c" /><Relationship Type="http://schemas.openxmlformats.org/officeDocument/2006/relationships/notesSlide" Target="/ppt/notesSlides/notesSlide2.xml" Id="R54aa683c2d3445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0d8979ffe4bcd" /><Relationship Type="http://schemas.openxmlformats.org/officeDocument/2006/relationships/notesSlide" Target="/ppt/notesSlides/notesSlide3.xml" Id="R1cfde0b6777e45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be0da10424f84" /><Relationship Type="http://schemas.openxmlformats.org/officeDocument/2006/relationships/notesSlide" Target="/ppt/notesSlides/notesSlide4.xml" Id="R74f4979c629f4f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662ff84894104" /><Relationship Type="http://schemas.openxmlformats.org/officeDocument/2006/relationships/image" Target="/ppt/media/image.png" Id="Rc09b731db3c642f9" /><Relationship Type="http://schemas.openxmlformats.org/officeDocument/2006/relationships/image" Target="/ppt/media/image2.png" Id="R022aaaaef43b488a" /><Relationship Type="http://schemas.openxmlformats.org/officeDocument/2006/relationships/image" Target="/ppt/media/image3.png" Id="R71bb735585fc4094" /><Relationship Type="http://schemas.openxmlformats.org/officeDocument/2006/relationships/notesSlide" Target="/ppt/notesSlides/notesSlide5.xml" Id="Ra456050bccc143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e3adad0db49dd" /><Relationship Type="http://schemas.openxmlformats.org/officeDocument/2006/relationships/notesSlide" Target="/ppt/notesSlides/notesSlide6.xml" Id="R0a39a4d9815e41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8e3de6a2c4a33" /><Relationship Type="http://schemas.openxmlformats.org/officeDocument/2006/relationships/notesSlide" Target="/ppt/notesSlides/notesSlide7.xml" Id="Re502cf342f414c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c58ce8d5d41ab" /><Relationship Type="http://schemas.openxmlformats.org/officeDocument/2006/relationships/image" Target="/ppt/media/image4.png" Id="R545267f5629d4617" /><Relationship Type="http://schemas.openxmlformats.org/officeDocument/2006/relationships/notesSlide" Target="/ppt/notesSlides/notesSlide8.xml" Id="Rdc9afa0a77b14e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74294e740466e" /><Relationship Type="http://schemas.openxmlformats.org/officeDocument/2006/relationships/notesSlide" Target="/ppt/notesSlides/notesSlide9.xml" Id="R165baaabe4c84f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fbf1122874b5c" /><Relationship Type="http://schemas.openxmlformats.org/officeDocument/2006/relationships/notesSlide" Target="/ppt/notesSlides/notesSlide10.xml" Id="R28ec2dbf4da54f9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98b456f554f18" /><Relationship Type="http://schemas.openxmlformats.org/officeDocument/2006/relationships/notesSlide" Target="/ppt/notesSlides/notesSlide11.xml" Id="R14ab774c4a254a2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f9bcb3e6a4a9c" /><Relationship Type="http://schemas.openxmlformats.org/officeDocument/2006/relationships/notesSlide" Target="/ppt/notesSlides/notesSlide12.xml" Id="Rc2ea9f096120423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3da459fb24f1c" /><Relationship Type="http://schemas.openxmlformats.org/officeDocument/2006/relationships/notesSlide" Target="/ppt/notesSlides/notesSlide13.xml" Id="R762ced62106d4d4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6544a550b411e" /><Relationship Type="http://schemas.openxmlformats.org/officeDocument/2006/relationships/notesSlide" Target="/ppt/notesSlides/notesSlide14.xml" Id="R6b1ebdaa84794dd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6877e305c4c52" /><Relationship Type="http://schemas.openxmlformats.org/officeDocument/2006/relationships/notesSlide" Target="/ppt/notesSlides/notesSlide15.xml" Id="Rd1872b7f136c430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7c3264b3640ad" /><Relationship Type="http://schemas.openxmlformats.org/officeDocument/2006/relationships/notesSlide" Target="/ppt/notesSlides/notesSlide16.xml" Id="R8c6d03993443401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379020597428a" /><Relationship Type="http://schemas.openxmlformats.org/officeDocument/2006/relationships/notesSlide" Target="/ppt/notesSlides/notesSlide17.xml" Id="Rbdced796f46d45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hase edge">
            <a:extLst xmlns:a="http://schemas.openxmlformats.org/drawingml/2006/main">
              <a:ext uri="{FF2B5EF4-FFF2-40B4-BE49-F238E27FC236}">
                <a16:creationId xmlns:a16="http://schemas.microsoft.com/office/drawing/2014/main" id="{708951A2-0DB0-4089-BB3E-2AC4E414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312CF5E-CC5A-49C6-8E95-DCCEC1DB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7378FA8-9C3D-4962-8327-84A49EB4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998EC14-37F1-40B8-B34D-3C9F2638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Enzyme Action: Preparing the pH Investigation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21654B9-C090-4C1E-8845-D3DABA3E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06927E3C-FDCD-4499-B8E9-07D43713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5924550" cy="1462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 can explain enzyme specificity and denaturation, then identify the variables and evidence needed to investigate the effect of pH on amylase safely.</a:t>
            </a:r>
          </a:p>
        </p:txBody>
      </p:sp>
      <p:sp>
        <p:nvSpPr>
          <p:cNvPr id="7" name="learning move 0">
            <a:extLst xmlns:a="http://schemas.openxmlformats.org/drawingml/2006/main">
              <a:ext uri="{FF2B5EF4-FFF2-40B4-BE49-F238E27FC236}">
                <a16:creationId xmlns:a16="http://schemas.microsoft.com/office/drawing/2014/main" id="{B465DC01-5963-4342-820F-4AF9A202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8" name="move 0">
            <a:extLst xmlns:a="http://schemas.openxmlformats.org/drawingml/2006/main">
              <a:ext uri="{FF2B5EF4-FFF2-40B4-BE49-F238E27FC236}">
                <a16:creationId xmlns:a16="http://schemas.microsoft.com/office/drawing/2014/main" id="{0745E8C5-327C-45C5-B1AC-F523E437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28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ACTIVE SITE</a:t>
            </a:r>
          </a:p>
        </p:txBody>
      </p:sp>
      <p:sp>
        <p:nvSpPr>
          <p:cNvPr id="9" name="move detail 0">
            <a:extLst xmlns:a="http://schemas.openxmlformats.org/drawingml/2006/main">
              <a:ext uri="{FF2B5EF4-FFF2-40B4-BE49-F238E27FC236}">
                <a16:creationId xmlns:a16="http://schemas.microsoft.com/office/drawing/2014/main" id="{3D5C815A-B498-4459-BF50-A7CD1490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specific fit</a:t>
            </a:r>
          </a:p>
        </p:txBody>
      </p:sp>
      <p:sp>
        <p:nvSpPr>
          <p:cNvPr id="10" name="learning move 1">
            <a:extLst xmlns:a="http://schemas.openxmlformats.org/drawingml/2006/main">
              <a:ext uri="{FF2B5EF4-FFF2-40B4-BE49-F238E27FC236}">
                <a16:creationId xmlns:a16="http://schemas.microsoft.com/office/drawing/2014/main" id="{64151ABB-CAFB-48D4-B0E6-D455271A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48025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1" name="move 1">
            <a:extLst xmlns:a="http://schemas.openxmlformats.org/drawingml/2006/main">
              <a:ext uri="{FF2B5EF4-FFF2-40B4-BE49-F238E27FC236}">
                <a16:creationId xmlns:a16="http://schemas.microsoft.com/office/drawing/2014/main" id="{ADFDF3AA-8636-4295-BB15-99CE1C6C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CHANGE pH</a:t>
            </a:r>
          </a:p>
        </p:txBody>
      </p:sp>
      <p:sp>
        <p:nvSpPr>
          <p:cNvPr id="12" name="move detail 1">
            <a:extLst xmlns:a="http://schemas.openxmlformats.org/drawingml/2006/main">
              <a:ext uri="{FF2B5EF4-FFF2-40B4-BE49-F238E27FC236}">
                <a16:creationId xmlns:a16="http://schemas.microsoft.com/office/drawing/2014/main" id="{191931B5-6F15-4956-AA24-25143806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one variable</a:t>
            </a:r>
          </a:p>
        </p:txBody>
      </p:sp>
      <p:sp>
        <p:nvSpPr>
          <p:cNvPr id="13" name="learning move 2">
            <a:extLst xmlns:a="http://schemas.openxmlformats.org/drawingml/2006/main">
              <a:ext uri="{FF2B5EF4-FFF2-40B4-BE49-F238E27FC236}">
                <a16:creationId xmlns:a16="http://schemas.microsoft.com/office/drawing/2014/main" id="{92B8F9D0-41FC-4E47-8BAC-2F61587E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4" name="move 2">
            <a:extLst xmlns:a="http://schemas.openxmlformats.org/drawingml/2006/main">
              <a:ext uri="{FF2B5EF4-FFF2-40B4-BE49-F238E27FC236}">
                <a16:creationId xmlns:a16="http://schemas.microsoft.com/office/drawing/2014/main" id="{3FFC3B77-6CC1-47B8-814F-C3A9B17F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148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TIME ENDPOINT</a:t>
            </a:r>
          </a:p>
        </p:txBody>
      </p:sp>
      <p:sp>
        <p:nvSpPr>
          <p:cNvPr id="15" name="move detail 2">
            <a:extLst xmlns:a="http://schemas.openxmlformats.org/drawingml/2006/main">
              <a:ext uri="{FF2B5EF4-FFF2-40B4-BE49-F238E27FC236}">
                <a16:creationId xmlns:a16="http://schemas.microsoft.com/office/drawing/2014/main" id="{3C31ED8A-1F17-4F77-B023-1C89714A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577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observable evidence</a:t>
            </a:r>
          </a:p>
        </p:txBody>
      </p:sp>
      <p:sp>
        <p:nvSpPr>
          <p:cNvPr id="16" name="HTML link">
            <a:extLst xmlns:a="http://schemas.openxmlformats.org/drawingml/2006/main">
              <a:ext uri="{FF2B5EF4-FFF2-40B4-BE49-F238E27FC236}">
                <a16:creationId xmlns:a16="http://schemas.microsoft.com/office/drawing/2014/main" id="{CD91EBE3-9B46-46E9-8964-0CA8BDE5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A5C9E"/>
                </a:solidFill>
                <a:latin typeface="Arial"/>
                <a:ea typeface="Arial"/>
                <a:cs typeface="Arial"/>
                <a:hlinkClick xmlns:r="http://schemas.openxmlformats.org/officeDocument/2006/relationships" r:id="R3d22e229eb5b4f07"/>
              </a:rPr>
              <a:t>Open the original interactive lesson</a:t>
            </a:r>
          </a:p>
        </p:txBody>
      </p:sp>
      <p:sp>
        <p:nvSpPr>
          <p:cNvPr id="17" name="time">
            <a:extLst xmlns:a="http://schemas.openxmlformats.org/drawingml/2006/main">
              <a:ext uri="{FF2B5EF4-FFF2-40B4-BE49-F238E27FC236}">
                <a16:creationId xmlns:a16="http://schemas.microsoft.com/office/drawing/2014/main" id="{713C5B92-993D-4C5E-B0C6-ACB60901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8" name="number">
            <a:extLst xmlns:a="http://schemas.openxmlformats.org/drawingml/2006/main">
              <a:ext uri="{FF2B5EF4-FFF2-40B4-BE49-F238E27FC236}">
                <a16:creationId xmlns:a16="http://schemas.microsoft.com/office/drawing/2014/main" id="{3A269F61-E625-45CC-BEC6-8D1276E0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 / 17</a:t>
            </a:r>
          </a:p>
        </p:txBody>
      </p:sp>
    </p:spTree>
    <p:extLst>
      <p:ext uri="{BB962C8B-B14F-4D97-AF65-F5344CB8AC3E}">
        <p14:creationId xmlns:p14="http://schemas.microsoft.com/office/powerpoint/2010/main" val="17628113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076BA24F-A9B8-41E8-B87F-2201E91F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72E33C0-4E3B-4372-8A6B-91FD6D58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3AFC4FB-2E85-4A82-A983-A6AA2334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C220F14-BFC8-40A9-AA62-CEA1AC50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success looks like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B790B41-C6A2-423A-BF71-ACF8CCB5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B734852-55AA-4A17-8968-FFB1CA5A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Use enzyme, substrate, active site and specificity accurately in an explanation.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46DB1DF-7E0B-40A2-9B45-C0D0B9DE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Explain how an unsuitable pH can change an active site's shape and reduce enzyme activity.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7EEAFCD3-794C-4E6B-8505-648DC356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Identify pH as the independent variable, time to starch disappearance as the dependent variable, and suitable control variables.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02663EBE-1A74-4DEC-9568-79FD3C82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93C40677-7978-4965-AA35-D67DA9BC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 / 17</a:t>
            </a:r>
          </a:p>
        </p:txBody>
      </p:sp>
    </p:spTree>
    <p:extLst>
      <p:ext uri="{BB962C8B-B14F-4D97-AF65-F5344CB8AC3E}">
        <p14:creationId xmlns:p14="http://schemas.microsoft.com/office/powerpoint/2010/main" val="15835678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9A4414A9-73FE-4C0C-ABB1-35AEC108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51C80CA-8442-4222-BD9F-A4467A69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5935194-40D1-414D-82A1-067DD454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789BCE3-577B-4383-9E40-E7C4D88A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724318D-1F54-4717-9CEC-6B663B70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8522FCA-A3ED-4DF7-9379-580670E4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State what a biological catalyst does.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7D73DBDA-29CE-48A8-BF83-C7A32230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Name the substrate broken down by amylase.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D7CEC09-90F6-4E64-A56C-188C32DC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Explain why temperature and solution volumes should stay constant in a pH investigation.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65BA567B-F6D5-4FE3-86C3-990EA6F6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Lead-in: predict what an extreme pH might do to an enzyme's active site.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369BE95A-4F33-4BCD-881D-3F98A949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ARRIVAL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50C3103B-721F-42C4-A6E1-3BB81EFD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3 / 17</a:t>
            </a:r>
          </a:p>
        </p:txBody>
      </p:sp>
    </p:spTree>
    <p:extLst>
      <p:ext uri="{BB962C8B-B14F-4D97-AF65-F5344CB8AC3E}">
        <p14:creationId xmlns:p14="http://schemas.microsoft.com/office/powerpoint/2010/main" val="12785881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8247656E-13E6-4164-A47B-FD38B84E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34251CC-8C32-41C1-B928-BA3FE9F0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B9A19B9-DBF0-4956-9B77-1FCEC093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3E628BF-0671-4908-A9B9-762DDE3F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Three amylase mixtures contain the same starch and are kept at the same temperature. Which first prediction is scientifically testable?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BE08AD1-D7C6-4271-9822-35D2F6D0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72AC4E5-5908-42E3-8E38-3CDCB306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Think first. Point, say, sign or write your choice. Give one reason.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7675109E-D04D-4C8F-824D-A22A7F68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Amylase will always work equally fast because enzymes never change.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B74C8C3-9513-43A6-9D15-0857F5C0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There may be an optimum pH where starch disappears in the shortest time.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87ACD999-D06E-43B6-A575-FD01E828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The buffer with the brightest label will make the reaction fastest.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18C39E87-67C0-48EE-A8A9-66D4A644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CC50EFB4-3BA6-414F-9AB5-B6DCAD65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 / 17</a:t>
            </a:r>
          </a:p>
        </p:txBody>
      </p:sp>
    </p:spTree>
    <p:extLst>
      <p:ext uri="{BB962C8B-B14F-4D97-AF65-F5344CB8AC3E}">
        <p14:creationId xmlns:p14="http://schemas.microsoft.com/office/powerpoint/2010/main" val="4949038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A5B1BC1F-6052-4ADC-BBE1-03E61340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A0E386E-C63E-4D61-8A89-DD4F566F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467C7F9-88AB-4FF7-A493-2CF539A3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17244EB-B0FE-413F-8EBF-B713741F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D931503-EDE5-43C3-8A6C-897D6E54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9b731db3c642f9"/>
          <a:stretch xmlns:a="http://schemas.openxmlformats.org/drawingml/2006/main"/>
        </p:blipFill>
        <p:spPr>
          <a:xfrm xmlns:a="http://schemas.openxmlformats.org/drawingml/2006/main">
            <a:off x="800100" y="2789943"/>
            <a:ext cx="3378200" cy="1782939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31D7B0C4-8231-4327-935D-03C802AB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Three tubes all blue-black with iodine at the start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2aaaaef43b488a"/>
          <a:stretch xmlns:a="http://schemas.openxmlformats.org/drawingml/2006/main"/>
        </p:blipFill>
        <p:spPr>
          <a:xfrm xmlns:a="http://schemas.openxmlformats.org/drawingml/2006/main">
            <a:off x="4406900" y="2789943"/>
            <a:ext cx="3378200" cy="1782939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28505930-E1BF-46BE-ACAC-1C60065C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One tube orange-brown, two still blue-black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b735585fc4094"/>
          <a:stretch xmlns:a="http://schemas.openxmlformats.org/drawingml/2006/main"/>
        </p:blipFill>
        <p:spPr>
          <a:xfrm xmlns:a="http://schemas.openxmlformats.org/drawingml/2006/main">
            <a:off x="8013700" y="2789943"/>
            <a:ext cx="3378200" cy="1782939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F2E6A491-697F-4329-97B1-916E4496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Three tubes at different pH reaching the endpoint at different times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5DDACFC7-BA76-4168-8825-6001F958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9FDEFC34-2930-43EE-A8A1-4E503FB7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5 / 17</a:t>
            </a:r>
          </a:p>
        </p:txBody>
      </p:sp>
    </p:spTree>
    <p:extLst>
      <p:ext uri="{BB962C8B-B14F-4D97-AF65-F5344CB8AC3E}">
        <p14:creationId xmlns:p14="http://schemas.microsoft.com/office/powerpoint/2010/main" val="11176238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043DE20D-FA66-4C4B-B28D-3A1778F5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4C066D6-3E36-4D27-A479-C233B1A3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1315D27-F6DC-4014-A9B7-F2747FF0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66199AA-BC73-4655-A46E-50F77E88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Words we will use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BD75C7C-09AF-429A-BCF9-0242EEBF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332351B1-3E2D-46DB-AECD-F949FEF0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specificity — one substrate fits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9582D4E-10CD-4D19-A761-5FD2164C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denature — active site changes shape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7FF6826A-0729-475A-B1B2-AFCDCBBA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variable — what changes or is measured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C88FCACD-B08A-465C-862F-6E336BBE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91C36FB9-15B7-475B-A63A-683C1FE8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6 / 17</a:t>
            </a:r>
          </a:p>
        </p:txBody>
      </p:sp>
    </p:spTree>
    <p:extLst>
      <p:ext uri="{BB962C8B-B14F-4D97-AF65-F5344CB8AC3E}">
        <p14:creationId xmlns:p14="http://schemas.microsoft.com/office/powerpoint/2010/main" val="347578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7C37B0FF-DE69-4B5B-A6A2-58239D34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1AD421A-E62E-4815-9471-2BBF4023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4BACA8E-9634-4598-A6AD-CE3F3568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6FEBA9F-92E8-4E59-AB95-BC9DC384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174F962-B36F-4C2B-9BA9-691998A2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609A47A-A081-45C4-B1CB-E3F2C719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Represent amylase with one active-site shape and starch with a complementary substrate piece. Bind them briefly to show an enzyme-substrate complex.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E0C3E92-1469-40D9-9306-32210B75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Separate the product pieces and return the enzyme model unchanged. The enzyme can catalyse another reaction and is not consumed.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936724B-0DBC-421F-B5A6-32F9C0FD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Alter the active-site model to represent denaturation. The substrate no longer fits well, so successful collisions and reaction rate fall.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67154CCB-7B88-4943-BC76-9EAA1C68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E9FD355B-CC0C-49C2-96BF-A0661EDF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7 / 17</a:t>
            </a:r>
          </a:p>
        </p:txBody>
      </p:sp>
    </p:spTree>
    <p:extLst>
      <p:ext uri="{BB962C8B-B14F-4D97-AF65-F5344CB8AC3E}">
        <p14:creationId xmlns:p14="http://schemas.microsoft.com/office/powerpoint/2010/main" val="1035285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49E80049-AC7F-4825-86FE-0C883937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0C98C7E-F072-4C75-AD0E-6A70740E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EE1819B-5C82-4D14-9675-38DAB713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DFEC34D-72BA-4354-B093-2D6BA657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A7AF88D-F651-40F4-9E60-F8B159E2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5267f5629d4617"/>
          <a:stretch xmlns:a="http://schemas.openxmlformats.org/drawingml/2006/main"/>
        </p:blipFill>
        <p:spPr>
          <a:xfrm xmlns:a="http://schemas.openxmlformats.org/drawingml/2006/main">
            <a:off x="3253539" y="2181225"/>
            <a:ext cx="5684921" cy="3000375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441AECDB-0FC4-413B-81DE-97E335FD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Enzyme active site model at the chosen pH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8C325F1D-7909-44C5-94E1-816673D2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5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4AC76274-0E00-4386-B925-005C7F07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8 / 17</a:t>
            </a:r>
          </a:p>
        </p:txBody>
      </p:sp>
    </p:spTree>
    <p:extLst>
      <p:ext uri="{BB962C8B-B14F-4D97-AF65-F5344CB8AC3E}">
        <p14:creationId xmlns:p14="http://schemas.microsoft.com/office/powerpoint/2010/main" val="20446614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A1EE01B3-C990-4E98-A7BB-835EBF01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4290106-6BDE-4B3F-B945-F5F8436C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F341E1A-EC4E-48E9-9A74-118B1572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DA31A7B-A82B-436E-B2F1-E1338374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Which statement best explains enzyme specificity?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E55B8ED-1B4E-44DB-8C9F-A145F1D9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2A647CF-017F-47B4-AE9A-859C348F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Every enzyme binds every substrate if enough time passes.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37A37FD2-D311-4F11-B41D-76AFC0B6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An enzyme's active site has a complementary shape to its particular substrate.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C6D9C5D7-893A-4478-8CCA-0C41B7A7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The substrate permanently changes the enzyme into a product.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E191EB83-A616-415E-9103-C6393E11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Commit to an answer. Show the evidence you used. Listen, then revise if needed.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1B132FE2-C235-42DE-AD78-ED35E74F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· 5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30975FF8-774E-4EFF-A488-2BDDF091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9 / 17</a:t>
            </a:r>
          </a:p>
        </p:txBody>
      </p:sp>
    </p:spTree>
    <p:extLst>
      <p:ext uri="{BB962C8B-B14F-4D97-AF65-F5344CB8AC3E}">
        <p14:creationId xmlns:p14="http://schemas.microsoft.com/office/powerpoint/2010/main" val="12903931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CC199647-ED0D-42C7-A420-E3C6213C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461D464-011D-46DA-A85B-33C6E6F7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1419BAC-049D-409B-8D7B-8C5193A9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FA3A5F8-98CC-4E01-93CD-736D14CB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Build the explanation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F076E68-034F-4FCF-A33C-C5398258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A771A0DA-BFB3-428D-BDE2-8134CE3E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Translate the model into a testable question: how does buffer pH affect the time amylase takes to digest starch?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59FDFAE-0DA4-4985-9560-9ED2F832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Set the variables: IV = buffer pH; DV = time until a sample no longer turns iodine blue-black; CVs include temperature, enzyme and starch concentrations and volumes, sampling interval and mixing method.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BD59D141-7368-425D-B554-EFEF5761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Add a negative control sample with starch but no active amylase. It should continue to test positive for starch and helps show that starch loss depends on the enzyme.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5AA6B981-0BD3-4A5D-80B2-17F85C5B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0C262DDD-60FE-47AF-ADF9-86CE9E3F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10 / 17</a:t>
            </a:r>
          </a:p>
        </p:txBody>
      </p:sp>
    </p:spTree>
    <p:extLst>
      <p:ext uri="{BB962C8B-B14F-4D97-AF65-F5344CB8AC3E}">
        <p14:creationId xmlns:p14="http://schemas.microsoft.com/office/powerpoint/2010/main" val="21187242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A1C3A80F-FEF5-4A11-84EA-0F7267AD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5ACA94E-E02A-4FFB-946B-2BB780AD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001911C-557C-4EE7-AB50-723EAC56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03500F3-2CE1-41C1-9C8F-3432D2A3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Find and repair the misconception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3503B15-8D19-4372-A098-DC314A8B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C60A49E-7FBA-46A7-AF43-1CB1EC97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Planning glitch: change pH, temperature and amylase volume together so the result is more dramatic.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186AD1F7-20FE-4DFD-8770-735516C5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Keep it: several changes make the evidence stronger.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19358CE6-2410-4A4D-B512-889E294D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Repair it: change pH only and control other rate factors so the comparison can test pH.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E568FDC9-51FE-45AB-88CB-8996F319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Repair it: remove the time measurement and judge by which tube looks best.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2CAEECF7-BED7-43B2-8D92-94F3B67E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DD4B7176-B3E4-45F5-840F-61C27CA6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11 / 17</a:t>
            </a:r>
          </a:p>
        </p:txBody>
      </p:sp>
    </p:spTree>
    <p:extLst>
      <p:ext uri="{BB962C8B-B14F-4D97-AF65-F5344CB8AC3E}">
        <p14:creationId xmlns:p14="http://schemas.microsoft.com/office/powerpoint/2010/main" val="4538430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55F19036-0212-4265-9F3A-DAEBFD02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52B9B64-04BA-48A9-8C58-E295730F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18963CC-A4A2-4F2D-8065-0F1856F1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FAF9ABA-A75F-4BFC-B8BD-018C84EC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Variables and validity planning console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6C485D0-1BAB-4291-9213-958B1EFA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E534864-5D15-4137-B5CC-F8B71BB1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Route each planning card to independent variable, dependent evidence or control/validity before writing the method.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8868969-1158-4EC9-810A-E348BB5C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Read one planning card.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E9C2FBC-2898-474E-BF20-DD25F682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Commit it to IV, DV or control/validity.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C8906E84-34CA-4FB7-8489-BDDF2005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Repair any mismatch using the question being tested.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A95F98B9-1F1C-4A0B-AB59-1CEBC2A6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Freeze the plan only when the cause, outcome and fair-comparison conditions are visible.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594D7DEC-5678-4ACB-88C2-53818FCB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000662E7-8EE4-4A23-834A-BE7291AE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12708368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hase edge">
            <a:extLst xmlns:a="http://schemas.openxmlformats.org/drawingml/2006/main">
              <a:ext uri="{FF2B5EF4-FFF2-40B4-BE49-F238E27FC236}">
                <a16:creationId xmlns:a16="http://schemas.microsoft.com/office/drawing/2014/main" id="{79781806-574B-40CC-AF9C-8AAF3E60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0B0C683-B860-4130-A1EF-24F269BC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A6EBEF2-B50B-4E40-8F93-41751598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3833F45-5BA7-4213-B188-1104A8A9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Variables and validity planning console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1F09204-EBCC-4115-B143-42166CBD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FD7B813-753F-46E1-BE7D-BD35ED92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the numbered cards in your pupil pack. Take turns to choose, justify and check. You may direct a partner to move a card.</a:t>
            </a:r>
          </a:p>
        </p:txBody>
      </p:sp>
      <p:sp>
        <p:nvSpPr>
          <p:cNvPr id="7" name="time">
            <a:extLst xmlns:a="http://schemas.openxmlformats.org/drawingml/2006/main">
              <a:ext uri="{FF2B5EF4-FFF2-40B4-BE49-F238E27FC236}">
                <a16:creationId xmlns:a16="http://schemas.microsoft.com/office/drawing/2014/main" id="{6014344B-D0D5-4BBE-B3A9-612D5EF6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78422E8C-EB8A-4391-994C-9E3F16CF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13 / 17</a:t>
            </a:r>
          </a:p>
        </p:txBody>
      </p:sp>
    </p:spTree>
    <p:extLst>
      <p:ext uri="{BB962C8B-B14F-4D97-AF65-F5344CB8AC3E}">
        <p14:creationId xmlns:p14="http://schemas.microsoft.com/office/powerpoint/2010/main" val="13772925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A8639770-8B9E-4A5B-A3D0-629204B9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9C47D54-C99C-432F-8BC0-B5615F12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C4C2AC1B-28DE-469F-98FD-587CA8C1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4EC8C97-0272-4BC2-8D14-45E69DCD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a group · defend your placement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CB024C3-4488-45FA-BB18-E70E3F7F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998F238-CB54-412B-9C57-69FBE69C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INDEPENDENT VARIABLE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3DC6F93C-0BB5-4030-BFDD-B921651A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DEPENDENT EVIDENCE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F46FBEB7-9BAA-4ED5-8782-FD82A40F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CONTROL / VALIDITY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05534E84-89DA-461F-9F88-96EE098A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State the predicted causal chain: changing pH may change active-site shape, which changes endpoint time and calculated rate.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F1B0AEA9-5110-4256-8B42-8EEDB1C4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DF7A7D68-BC66-43F9-9BD8-A6800915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14 / 17</a:t>
            </a:r>
          </a:p>
        </p:txBody>
      </p:sp>
    </p:spTree>
    <p:extLst>
      <p:ext uri="{BB962C8B-B14F-4D97-AF65-F5344CB8AC3E}">
        <p14:creationId xmlns:p14="http://schemas.microsoft.com/office/powerpoint/2010/main" val="20075025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C2B89B29-1AC4-4FEB-A816-8FAF27F5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17412C4-C38A-4B0A-8C6B-15327DC7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7EBAF6A-7DEF-4337-8398-4E909375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CD3B2A0-9575-4631-B2EB-902892F7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Your independent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A9E7516-0CDF-4335-AF8A-0A0D26CD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D300E1F-92C8-41CB-901F-3219A20F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Produce a safe, ordered CP 1.10 planning record that another trained person could follow using the centre-approved Pearson method and local risk assessment.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B6964C5-62D7-416A-8860-C250C1B9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Record: A pupil-owned prediction, IV/DV/CV table, ordered method outline, results-table headings and one justified safety/control decision.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15A6C297-CB27-43A8-A944-9514B901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10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9595B682-9E99-451C-94C7-DED9DDA2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15 / 17</a:t>
            </a:r>
          </a:p>
        </p:txBody>
      </p:sp>
    </p:spTree>
    <p:extLst>
      <p:ext uri="{BB962C8B-B14F-4D97-AF65-F5344CB8AC3E}">
        <p14:creationId xmlns:p14="http://schemas.microsoft.com/office/powerpoint/2010/main" val="79081269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DEAC4628-94B9-4CE5-927B-1E47B348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E09D64C-BC43-4C0A-A1CF-947A8D03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CBA2AF3-5537-4AE4-8AFB-48610445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679203B-F8AB-4040-B3D8-119EDB62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your support and challenge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3E349CB-513A-4966-B96D-F5A0D7C5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CF45EBF-3AFE-409A-92A8-60E4BCBA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Supported: Complete a labelled IV/DV/CV table and order six picture-method cards; finish one because sentence about keeping temperature constant.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EE9F21D-624B-4800-862E-EF059C23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Standard: Write an ordered method outline, identify variables and control sample, and design a table for pH, endpoint time and rate.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98B420E-1460-4E56-8383-FE499E3A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Stretch: Justify the controls and sampling interval, predict the rate pattern, and identify one source of uncertainty before practical work begins.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6904B878-2CA3-438C-98E7-1D18933E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10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AC6EB0AD-B596-48A3-A0CD-DA68975E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16 / 17</a:t>
            </a:r>
          </a:p>
        </p:txBody>
      </p:sp>
    </p:spTree>
    <p:extLst>
      <p:ext uri="{BB962C8B-B14F-4D97-AF65-F5344CB8AC3E}">
        <p14:creationId xmlns:p14="http://schemas.microsoft.com/office/powerpoint/2010/main" val="13215027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C1C0FE18-6CA6-406C-AB99-6CA642B8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B53BE38-BC9C-45E4-A681-1E65304D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A3681F9-F2B9-4181-A8B8-E2902336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47C81FD-F7E2-4A3A-87D2-0DEA7CD8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50A30A41-0E0A-4D6E-8CC1-3CDA6764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977CEA8-8F07-4E6C-AADD-10317750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Explain why temperature and volumes must be controlled when investigating pH and amylase.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7EDC69F-63B9-4037-88C9-EE3B4958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Point to, read or explain the evidence you made. Choose one next step after the adult has listened.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B3588FE3-496D-4706-96E6-E74879BB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67F470E9-6ED9-41AE-AC94-8F508C82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20464927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2026-09-08T09:10:22.7640000Z</dcterms:created>
  <dcterms:modified xsi:type="dcterms:W3CDTF">2026-09-08T09:10:22.7640000Z</dcterms:modified>
</coreProperties>
</file>