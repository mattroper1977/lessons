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5778019cee4dcf" /><Relationship Type="http://schemas.openxmlformats.org/officeDocument/2006/relationships/extended-properties" Target="/docProps/app.xml" Id="R792d6a7cb79e4b60" /><Relationship Type="http://schemas.openxmlformats.org/officeDocument/2006/relationships/officeDocument" Target="/ppt/presentation.xml" Id="Re6636054e5d64fe0" /></Relationships>
</file>

<file path=ppt/presentation.xml><?xml version="1.0" encoding="utf-8"?>
<p:presentation xmlns:p="http://schemas.openxmlformats.org/presentationml/2006/main">
  <p:sldMasterIdLst>
    <p:sldMasterId xmlns:r="http://schemas.openxmlformats.org/officeDocument/2006/relationships" id="2147483648" r:id="Rd6e63b412ce44af6"/>
  </p:sldMasterIdLst>
  <p:notesMasterIdLst>
    <p:notesMasterId xmlns:r="http://schemas.openxmlformats.org/officeDocument/2006/relationships" r:id="Rfaa78293117b4356"/>
  </p:notesMasterIdLst>
  <p:sldIdLst>
    <p:sldId xmlns:r="http://schemas.openxmlformats.org/officeDocument/2006/relationships" id="256" r:id="R6113d37959744c5c"/>
    <p:sldId xmlns:r="http://schemas.openxmlformats.org/officeDocument/2006/relationships" id="257" r:id="R996bb2f1d0ba4865"/>
    <p:sldId xmlns:r="http://schemas.openxmlformats.org/officeDocument/2006/relationships" id="258" r:id="Radebbbfacf6c40eb"/>
    <p:sldId xmlns:r="http://schemas.openxmlformats.org/officeDocument/2006/relationships" id="259" r:id="R3b0584323152412f"/>
    <p:sldId xmlns:r="http://schemas.openxmlformats.org/officeDocument/2006/relationships" id="260" r:id="R45056f3b0b3f4cf0"/>
    <p:sldId xmlns:r="http://schemas.openxmlformats.org/officeDocument/2006/relationships" id="261" r:id="Re87926c078e54648"/>
    <p:sldId xmlns:r="http://schemas.openxmlformats.org/officeDocument/2006/relationships" id="262" r:id="Rd8915268d3c5479c"/>
    <p:sldId xmlns:r="http://schemas.openxmlformats.org/officeDocument/2006/relationships" id="263" r:id="Rd9941ba57c2a4efd"/>
    <p:sldId xmlns:r="http://schemas.openxmlformats.org/officeDocument/2006/relationships" id="264" r:id="R2f7b53b05ce24e5f"/>
    <p:sldId xmlns:r="http://schemas.openxmlformats.org/officeDocument/2006/relationships" id="265" r:id="R8af404c438574605"/>
    <p:sldId xmlns:r="http://schemas.openxmlformats.org/officeDocument/2006/relationships" id="266" r:id="R8f681974c1634f91"/>
    <p:sldId xmlns:r="http://schemas.openxmlformats.org/officeDocument/2006/relationships" id="267" r:id="R84a60da088fc4ed7"/>
    <p:sldId xmlns:r="http://schemas.openxmlformats.org/officeDocument/2006/relationships" id="268" r:id="R2ad0df90421b4f64"/>
    <p:sldId xmlns:r="http://schemas.openxmlformats.org/officeDocument/2006/relationships" id="269" r:id="R9d114592411448f2"/>
    <p:sldId xmlns:r="http://schemas.openxmlformats.org/officeDocument/2006/relationships" id="270" r:id="Rcc889510a00647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f6426129154412" /><Relationship Type="http://schemas.openxmlformats.org/officeDocument/2006/relationships/slideMaster" Target="/ppt/slideMasters/slideMaster1.xml" Id="Rd6e63b412ce44af6" /><Relationship Type="http://schemas.openxmlformats.org/officeDocument/2006/relationships/notesMaster" Target="/ppt/notesMasters/notesMaster1.xml" Id="Rfaa78293117b4356" /><Relationship Type="http://schemas.openxmlformats.org/officeDocument/2006/relationships/presProps" Target="/ppt/presProps.xml" Id="R599f2e5902f7402d" /><Relationship Type="http://schemas.openxmlformats.org/officeDocument/2006/relationships/tableStyles" Target="/ppt/tableStyles.xml" Id="R9875c0b93f8f4712" /><Relationship Type="http://schemas.openxmlformats.org/officeDocument/2006/relationships/slide" Target="/ppt/slides/slide1.xml" Id="R6113d37959744c5c" /><Relationship Type="http://schemas.openxmlformats.org/officeDocument/2006/relationships/slide" Target="/ppt/slides/slide2.xml" Id="R996bb2f1d0ba4865" /><Relationship Type="http://schemas.openxmlformats.org/officeDocument/2006/relationships/slide" Target="/ppt/slides/slide3.xml" Id="Radebbbfacf6c40eb" /><Relationship Type="http://schemas.openxmlformats.org/officeDocument/2006/relationships/slide" Target="/ppt/slides/slide4.xml" Id="R3b0584323152412f" /><Relationship Type="http://schemas.openxmlformats.org/officeDocument/2006/relationships/slide" Target="/ppt/slides/slide5.xml" Id="R45056f3b0b3f4cf0" /><Relationship Type="http://schemas.openxmlformats.org/officeDocument/2006/relationships/slide" Target="/ppt/slides/slide6.xml" Id="Re87926c078e54648" /><Relationship Type="http://schemas.openxmlformats.org/officeDocument/2006/relationships/slide" Target="/ppt/slides/slide7.xml" Id="Rd8915268d3c5479c" /><Relationship Type="http://schemas.openxmlformats.org/officeDocument/2006/relationships/slide" Target="/ppt/slides/slide8.xml" Id="Rd9941ba57c2a4efd" /><Relationship Type="http://schemas.openxmlformats.org/officeDocument/2006/relationships/slide" Target="/ppt/slides/slide9.xml" Id="R2f7b53b05ce24e5f" /><Relationship Type="http://schemas.openxmlformats.org/officeDocument/2006/relationships/slide" Target="/ppt/slides/slide10.xml" Id="R8af404c438574605" /><Relationship Type="http://schemas.openxmlformats.org/officeDocument/2006/relationships/slide" Target="/ppt/slides/slide11.xml" Id="R8f681974c1634f91" /><Relationship Type="http://schemas.openxmlformats.org/officeDocument/2006/relationships/slide" Target="/ppt/slides/slide12.xml" Id="R84a60da088fc4ed7" /><Relationship Type="http://schemas.openxmlformats.org/officeDocument/2006/relationships/slide" Target="/ppt/slides/slide13.xml" Id="R2ad0df90421b4f64" /><Relationship Type="http://schemas.openxmlformats.org/officeDocument/2006/relationships/slide" Target="/ppt/slides/slide14.xml" Id="R9d114592411448f2" /><Relationship Type="http://schemas.openxmlformats.org/officeDocument/2006/relationships/slide" Target="/ppt/slides/slide15.xml" Id="Rcc889510a00647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36eb793fc945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c5dfadfff84911" /><Relationship Type="http://schemas.openxmlformats.org/officeDocument/2006/relationships/notesMaster" Target="/ppt/notesMasters/notesMaster1.xml" Id="R6470417ccd7346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b1d48ce5c54109" /><Relationship Type="http://schemas.openxmlformats.org/officeDocument/2006/relationships/notesMaster" Target="/ppt/notesMasters/notesMaster1.xml" Id="Rf0e0cafc034741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72cc8d8f904217" /><Relationship Type="http://schemas.openxmlformats.org/officeDocument/2006/relationships/notesMaster" Target="/ppt/notesMasters/notesMaster1.xml" Id="R5fd260564ef14e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2f1605215148c5" /><Relationship Type="http://schemas.openxmlformats.org/officeDocument/2006/relationships/notesMaster" Target="/ppt/notesMasters/notesMaster1.xml" Id="R3b5df344000f4d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497dc6a6fe462d" /><Relationship Type="http://schemas.openxmlformats.org/officeDocument/2006/relationships/notesMaster" Target="/ppt/notesMasters/notesMaster1.xml" Id="Raec1f30eaeaf4a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b84fbbc34a4238" /><Relationship Type="http://schemas.openxmlformats.org/officeDocument/2006/relationships/notesMaster" Target="/ppt/notesMasters/notesMaster1.xml" Id="Rc425ea656c3d44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b75b6a49c64a9c" /><Relationship Type="http://schemas.openxmlformats.org/officeDocument/2006/relationships/notesMaster" Target="/ppt/notesMasters/notesMaster1.xml" Id="R8b43dd30f7d44e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4c304024614144" /><Relationship Type="http://schemas.openxmlformats.org/officeDocument/2006/relationships/notesMaster" Target="/ppt/notesMasters/notesMaster1.xml" Id="Rd20f11da9d384a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9ca4e1f43a4c2d" /><Relationship Type="http://schemas.openxmlformats.org/officeDocument/2006/relationships/notesMaster" Target="/ppt/notesMasters/notesMaster1.xml" Id="Rffa963e1620b4a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67890377454d61" /><Relationship Type="http://schemas.openxmlformats.org/officeDocument/2006/relationships/notesMaster" Target="/ppt/notesMasters/notesMaster1.xml" Id="Rc56bc742658142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894321f4174e3c" /><Relationship Type="http://schemas.openxmlformats.org/officeDocument/2006/relationships/notesMaster" Target="/ppt/notesMasters/notesMaster1.xml" Id="R807a0d893b2842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64e8985ad0433d" /><Relationship Type="http://schemas.openxmlformats.org/officeDocument/2006/relationships/notesMaster" Target="/ppt/notesMasters/notesMaster1.xml" Id="R6e57064355e64d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38aaf1a7484cc1" /><Relationship Type="http://schemas.openxmlformats.org/officeDocument/2006/relationships/notesMaster" Target="/ppt/notesMasters/notesMaster1.xml" Id="Ref3e728225e54f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10a1b65d9e457e" /><Relationship Type="http://schemas.openxmlformats.org/officeDocument/2006/relationships/notesMaster" Target="/ppt/notesMasters/notesMaster1.xml" Id="Rd4d26c1f5ed64d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ab2019747a4649" /><Relationship Type="http://schemas.openxmlformats.org/officeDocument/2006/relationships/notesMaster" Target="/ppt/notesMasters/notesMaster1.xml" Id="Rb9cc6bc4949342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Show the outcome and predict the trade-off: 'If I choose only the biggest yield, what might I miss?' Do not introduce competition or claim pupils are plant geneticists making actual release decisions. This is a paper breeding model.</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R1 a version of a gene. R2 no; offspring inherit combinations and vary. R3 yes, for example water/light/nutrients. If R2 is insecure, point to the later sibling table before pupils make selections. Accept accurate plain-language explanations.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Think aloud through a crop goal: 'I want useful grain yield and lower disease damage. I compare candidates, select parents and breed them. I cannot order their offspring to be perfect, so I test offspring before choosing the next parents.' Describe variation as the reason selection is possible. The cycle is a model, not a one-lesson growing practical.</a:t>
            </a:r>
          </a:p>
          <a:p xmlns:a="http://schemas.openxmlformats.org/drawingml/2006/main">
            <a:r>
              <a:t/>
            </a:r>
          </a:p>
          <a:p xmlns:a="http://schemas.openxmlformats.org/drawingml/2006/main">
            <a:r>
              <a:t>DIAGRAM DESCRIPTION</a:t>
            </a:r>
          </a:p>
          <a:p xmlns:a="http://schemas.openxmlformats.org/drawingml/2006/main">
            <a:r>
              <a:t>Four linked steps: choose parents for inherited traits, reproduce, compare varied offspring, and select for the next generation. The repeated cycle changes the breeding population; individual plants do not choose to change their genes.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Use the two-locus diagram only as a compact recap. Parent AABB contributes AB and aabb contributes ab, so AaBb receives alleles from both. Do not assign dominant yield or resistance labels to these letters; those complex traits are not a monohybrid cross. Say: 'This tells me how genetic information is passed on, not the exact crop yield.'</a:t>
            </a:r>
          </a:p>
          <a:p xmlns:a="http://schemas.openxmlformats.org/drawingml/2006/main">
            <a:r>
              <a:t/>
            </a:r>
          </a:p>
          <a:p xmlns:a="http://schemas.openxmlformats.org/drawingml/2006/main">
            <a:r>
              <a:t>DIAGRAM DESCRIPTION</a:t>
            </a:r>
          </a:p>
          <a:p xmlns:a="http://schemas.openxmlformats.org/drawingml/2006/main">
            <a:r>
              <a:t>Conceptual inheritance model using fictitious allele symbols at two loci. Parents AABB and aabb produce AaBb offspring. This shows transmission of alleles only: yield and disease resistance in the breeding activity are multi-gene traits, not assigned to these symbols.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Teacher model: 'The mean increased by 10 g from generation 0 to 3 in these constructed results. I should not say every plant improved or that selection alone is proved to cause the change. The trial conditions were held the same, but a comparison line would strengthen a causal claim.' Ask a pupil to locate G2 = 43 g.</a:t>
            </a:r>
          </a:p>
          <a:p xmlns:a="http://schemas.openxmlformats.org/drawingml/2006/main">
            <a:r>
              <a:t/>
            </a:r>
          </a:p>
          <a:p xmlns:a="http://schemas.openxmlformats.org/drawingml/2006/main">
            <a:r>
              <a:t>DIAGRAM DESCRIPTION</a:t>
            </a:r>
          </a:p>
          <a:p xmlns:a="http://schemas.openxmlformats.org/drawingml/2006/main">
            <a:r>
              <a:t>Constructed sample data: mean grain mass per plant is 34, 39, 43 and 44 g in generations 0 to 3, with the same trial conditions. This illustrates a possible outcome, not a guarantee that yield always rises or that every offspring improves.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preceding 3-minute I do stage. Distinguish increased risk from certainty. Plant breeders may intentionally use inbred lines in particular programmes, but this school scenario prioritises diversity and resilience. Do not generalise family relationships to pupils or request examples from their families.</a:t>
            </a:r>
          </a:p>
          <a:p xmlns:a="http://schemas.openxmlformats.org/drawingml/2006/main">
            <a:r>
              <a:t/>
            </a:r>
          </a:p>
          <a:p xmlns:a="http://schemas.openxmlformats.org/drawingml/2006/main">
            <a:r>
              <a:t>DIAGRAM DESCRIPTION</a:t>
            </a:r>
          </a:p>
          <a:p xmlns:a="http://schemas.openxmlformats.org/drawingml/2006/main">
            <a:r>
              <a:t>Two conceptual breeding plans: repeatedly select two close relatives, or include suitable unrelated lines. Less diversity can increase shared vulnerability. Different labels represent family lines, not a count of all genes.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7 minutes.</a:t>
            </a:r>
          </a:p>
          <a:p xmlns:a="http://schemas.openxmlformats.org/drawingml/2006/main">
            <a:r>
              <a:t/>
            </a:r>
          </a:p>
          <a:p xmlns:a="http://schemas.openxmlformats.org/drawingml/2006/main">
            <a:r>
              <a:t>Use the displayed constructed table and the printed copy. Two minutes private/paired choice, then explain using both criteria. B and C meet the rule; B has damage2, C1 and C yield46. A and D fail damage despite high yield. These are choices between characterised breeding lines; the rule is deliberately strict to make an evidence-based decision possible.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preceding 7-minute We do. Reveal constructed offspring outcomes only after round1 decision. S has 50 g and damage2, so meets both traits and has the highest qualifying yield. E (45 g, damage1, unrelated F5) is a reasonable next partner to retain diversity rather than repeatedly breed close siblings. Accept P only with an explicit reason and acknowledgement of diversity risk; E is preferred under this programme. Re-test plants/offspring and use more samples before scaling up.</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Collect independent answers. If B is not selected, return to parents → inherited alleles → varied offspring → selection. The response must say population/generations, not a plant trying harder.</a:t>
            </a:r>
          </a:p>
          <a:p xmlns:a="http://schemas.openxmlformats.org/drawingml/2006/main">
            <a:r>
              <a:t/>
            </a:r>
          </a:p>
          <a:p xmlns:a="http://schemas.openxmlformats.org/drawingml/2006/main">
            <a:r>
              <a:t>A. Each plant decides to change its genes.</a:t>
            </a:r>
          </a:p>
          <a:p xmlns:a="http://schemas.openxmlformats.org/drawingml/2006/main">
            <a:r>
              <a:t>Individuals do not intentionally change genes to meet the breeder’s goal.</a:t>
            </a:r>
          </a:p>
          <a:p xmlns:a="http://schemas.openxmlformats.org/drawingml/2006/main">
            <a:r>
              <a:t/>
            </a:r>
          </a:p>
          <a:p xmlns:a="http://schemas.openxmlformats.org/drawingml/2006/main">
            <a:r>
              <a:t>B. Desired inherited traits can become more common in later generations.</a:t>
            </a:r>
          </a:p>
          <a:p xmlns:a="http://schemas.openxmlformats.org/drawingml/2006/main">
            <a:r>
              <a:t>Correct. Selected parents pass on alleles, and repeated selection can change the breeding population.</a:t>
            </a:r>
          </a:p>
          <a:p xmlns:a="http://schemas.openxmlformats.org/drawingml/2006/main">
            <a:r>
              <a:t/>
            </a:r>
          </a:p>
          <a:p xmlns:a="http://schemas.openxmlformats.org/drawingml/2006/main">
            <a:r>
              <a:t>C. Every offspring has exactly the same traits.</a:t>
            </a:r>
          </a:p>
          <a:p xmlns:a="http://schemas.openxmlformats.org/drawingml/2006/main">
            <a:r>
              <a:t>Sexual offspring vary; outcomes must be tested.</a:t>
            </a:r>
          </a:p>
          <a:p xmlns:a="http://schemas.openxmlformats.org/drawingml/2006/main">
            <a:r>
              <a:t/>
            </a:r>
          </a:p>
          <a:p xmlns:a="http://schemas.openxmlformats.org/drawingml/2006/main">
            <a:r>
              <a:t>D. Growing conditions no longer matter.</a:t>
            </a:r>
          </a:p>
          <a:p xmlns:a="http://schemas.openxmlformats.org/drawingml/2006/main">
            <a:r>
              <a:t>Environment continues to affect crop performance.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11 minutes.</a:t>
            </a:r>
          </a:p>
          <a:p xmlns:a="http://schemas.openxmlformats.org/drawingml/2006/main">
            <a:r>
              <a:t/>
            </a:r>
          </a:p>
          <a:p xmlns:a="http://schemas.openxmlformats.org/drawingml/2006/main">
            <a:r>
              <a:t>Offer one route only. Supported = short stems/selection table; Standard = two-generation decision log; Stretch = evaluate claimed success with comparison evidence. The product should allow another scientist to understand the decision, not merely name two letters. At minute4 ask 'Which criterion ruled one out?' At minute8 check the future test.</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11-minute independent stage. A TA may read the criteria and table aloud. Do not supply the chosen letters. Pupils may speak the log while someone records it. Stretch pupils should evaluate a control line and sampling, not simply write more.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independent time. Correct 'all offspring will inherit both features' to 'some offspring may combine useful alleles, so we select after testing'. Mark explanations by content, not quantity of writing.</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Light Lundy loop: choice of partner or teacher audience; pointing/speaking/writing equally welcome; teacher uses one suggestion in the shared model. Sample question: 'Where did you account for damage rather than only yield?' Give time to revise.</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3-minute review. Use three formative checks; this is not a board mark scheme. Explicitly praise a changed decision justified by new evidence, not certainty or competitiveness.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 minutes.</a:t>
            </a:r>
          </a:p>
          <a:p xmlns:a="http://schemas.openxmlformats.org/drawingml/2006/main">
            <a:r>
              <a:t/>
            </a:r>
          </a:p>
          <a:p xmlns:a="http://schemas.openxmlformats.org/drawingml/2006/main">
            <a:r>
              <a:t>E1 select parents, breed, test/compare offspring, repeat selecting suitable offspring. E2 they vary and environment affects performance. E3 reduced genetic diversity/increased chance of harmful recessive combinations or shared vulnerability. Accept precise short responses.</a:t>
            </a:r>
          </a:p>
          <a:p xmlns:a="http://schemas.openxmlformats.org/drawingml/2006/main">
            <a:r>
              <a:t/>
            </a:r>
          </a:p>
          <a:p xmlns:a="http://schemas.openxmlformats.org/drawingml/2006/main">
            <a:r>
              <a:t>LESSON REFERENCES</a:t>
            </a:r>
          </a:p>
          <a:p xmlns:a="http://schemas.openxmlformats.org/drawingml/2006/main">
            <a:r>
              <a:t>Pearson Edexcel GCSE Biology 1BI0 specification, Topic 4</a:t>
            </a:r>
          </a:p>
          <a:p xmlns:a="http://schemas.openxmlformats.org/drawingml/2006/main">
            <a:r>
              <a:t>https://qualifications.pearson.com/content/dam/pdf/GCSE/Science/2016/Specification/gcse-biology-spec.pdf</a:t>
            </a:r>
          </a:p>
          <a:p xmlns:a="http://schemas.openxmlformats.org/drawingml/2006/main">
            <a:r>
              <a:t>Used to check GCSE relevance; teacher-authored practice, not an official assessment. Checked 8 September 2026.</a:t>
            </a:r>
          </a:p>
          <a:p xmlns:a="http://schemas.openxmlformats.org/drawingml/2006/main">
            <a:r>
              <a:t/>
            </a:r>
          </a:p>
          <a:p xmlns:a="http://schemas.openxmlformats.org/drawingml/2006/main">
            <a:r>
              <a:t>FDA: Science and History of GMOs and Other Food Modification Processes</a:t>
            </a:r>
          </a:p>
          <a:p xmlns:a="http://schemas.openxmlformats.org/drawingml/2006/main">
            <a:r>
              <a:t>https://www.fda.gov/food/agricultural-biotechnology/science-and-history-gmos-and-other-food-modification-processes</a:t>
            </a:r>
          </a:p>
          <a:p xmlns:a="http://schemas.openxmlformats.org/drawingml/2006/main">
            <a:r>
              <a:t>Checked traditional selection/cross-breeding versus direct engineering. All programme numbers and family labels are original constructed sample data. Checked 8 September 2026.</a:t>
            </a:r>
          </a:p>
          <a:p xmlns:a="http://schemas.openxmlformats.org/drawingml/2006/main">
            <a:r>
              <a:t/>
            </a:r>
          </a:p>
          <a:p xmlns:a="http://schemas.openxmlformats.org/drawingml/2006/main">
            <a:r>
              <a:t>RHS: F1 hybrids explained</a:t>
            </a:r>
          </a:p>
          <a:p xmlns:a="http://schemas.openxmlformats.org/drawingml/2006/main">
            <a:r>
              <a:t>https://www.rhs.org.uk/vegetables/f1-hybrids</a:t>
            </a:r>
          </a:p>
          <a:p xmlns:a="http://schemas.openxmlformats.org/drawingml/2006/main">
            <a:r>
              <a:t>Checked plant breeding and the purpose and drawbacks of inbred lines. Checked 8 September 2026.</a:t>
            </a:r>
          </a:p>
          <a:p xmlns:a="http://schemas.openxmlformats.org/drawingml/2006/main">
            <a:r>
              <a:t/>
            </a:r>
          </a:p>
          <a:p xmlns:a="http://schemas.openxmlformats.org/drawingml/2006/main">
            <a:r>
              <a:t>Sandner et al.: Stresses affect inbreeding depression in complex ways</a:t>
            </a:r>
          </a:p>
          <a:p xmlns:a="http://schemas.openxmlformats.org/drawingml/2006/main">
            <a:r>
              <a:t>https://www.nature.com/articles/s41437-021-00454-5</a:t>
            </a:r>
          </a:p>
          <a:p xmlns:a="http://schemas.openxmlformats.org/drawingml/2006/main">
            <a:r>
              <a:t>Primary plant research supporting risk-based, context-dependent discussion of inbreeding rather than a claim that harm is guaranteed. Checked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273e961f124e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99a4303e24748" /><Relationship Type="http://schemas.openxmlformats.org/officeDocument/2006/relationships/slideLayout" Target="/ppt/slideLayouts/slideLayout1.xml" Id="Ra49fcfa3c8d449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9fcfa3c8d449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71e767dccf466d" /><Relationship Type="http://schemas.openxmlformats.org/officeDocument/2006/relationships/notesSlide" Target="/ppt/notesSlides/notesSlide1.xml" Id="Ra9c44c7287424f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460025d54b4c13" /><Relationship Type="http://schemas.openxmlformats.org/officeDocument/2006/relationships/notesSlide" Target="/ppt/notesSlides/notesSlide2.xml" Id="R485381a179a84c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3bcbda9ac04e64" /><Relationship Type="http://schemas.openxmlformats.org/officeDocument/2006/relationships/notesSlide" Target="/ppt/notesSlides/notesSlide3.xml" Id="R3e84e63397484b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cefde5fd32446a" /><Relationship Type="http://schemas.openxmlformats.org/officeDocument/2006/relationships/notesSlide" Target="/ppt/notesSlides/notesSlide4.xml" Id="R143e4c71911b42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7a270425974975" /><Relationship Type="http://schemas.openxmlformats.org/officeDocument/2006/relationships/notesSlide" Target="/ppt/notesSlides/notesSlide5.xml" Id="R849147071dfb49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c106b7feba443d" /><Relationship Type="http://schemas.openxmlformats.org/officeDocument/2006/relationships/notesSlide" Target="/ppt/notesSlides/notesSlide6.xml" Id="R78e74da93dcf4a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8e36f45cac4868" /><Relationship Type="http://schemas.openxmlformats.org/officeDocument/2006/relationships/notesSlide" Target="/ppt/notesSlides/notesSlide7.xml" Id="Rd68e6127253845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186a58978347a2" /><Relationship Type="http://schemas.openxmlformats.org/officeDocument/2006/relationships/notesSlide" Target="/ppt/notesSlides/notesSlide8.xml" Id="Rd7dc99dbbdbd46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46db979b57448f9" /><Relationship Type="http://schemas.openxmlformats.org/officeDocument/2006/relationships/notesSlide" Target="/ppt/notesSlides/notesSlide9.xml" Id="R8b1f9a53ba3149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cb2dc7a6d84985" /><Relationship Type="http://schemas.openxmlformats.org/officeDocument/2006/relationships/notesSlide" Target="/ppt/notesSlides/notesSlide10.xml" Id="Rd590d821ed0741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d56271d2f14c75" /><Relationship Type="http://schemas.openxmlformats.org/officeDocument/2006/relationships/notesSlide" Target="/ppt/notesSlides/notesSlide11.xml" Id="Rf6e165e01b2840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cd642dca3f42ed" /><Relationship Type="http://schemas.openxmlformats.org/officeDocument/2006/relationships/notesSlide" Target="/ppt/notesSlides/notesSlide12.xml" Id="R00dd3b2fdeec48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42de84c6b844ad" /><Relationship Type="http://schemas.openxmlformats.org/officeDocument/2006/relationships/notesSlide" Target="/ppt/notesSlides/notesSlide13.xml" Id="R1fd786dffcbb42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e835e42c54443f8" /><Relationship Type="http://schemas.openxmlformats.org/officeDocument/2006/relationships/notesSlide" Target="/ppt/notesSlides/notesSlide14.xml" Id="R525327d957b844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6ff078a25084d77" /><Relationship Type="http://schemas.openxmlformats.org/officeDocument/2006/relationships/notesSlide" Target="/ppt/notesSlides/notesSlide15.xml" Id="Rcdb0c42235b344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EC853FEE-05D6-4962-ACD6-D620E497EBE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77C6F8F-2815-4ECF-9DF1-3759D3A3346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C2B1635-A20D-4FD8-9F9B-B34066B43C5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B4C39E04-A8D4-47B3-8AC5-6A00ABA0E15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Opening">
            <a:extLst xmlns:a="http://schemas.openxmlformats.org/drawingml/2006/main">
              <a:ext uri="{FF2B5EF4-FFF2-40B4-BE49-F238E27FC236}">
                <a16:creationId xmlns:a16="http://schemas.microsoft.com/office/drawing/2014/main" id="{748A5253-E8B4-46EF-98CA-0008864642C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579ED199-5A0E-41A6-847B-854554B106B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an a breeder improve two traits at once?">
            <a:extLst xmlns:a="http://schemas.openxmlformats.org/drawingml/2006/main">
              <a:ext uri="{FF2B5EF4-FFF2-40B4-BE49-F238E27FC236}">
                <a16:creationId xmlns:a16="http://schemas.microsoft.com/office/drawing/2014/main" id="{29E8AAE5-E567-49F0-9111-EF3F1E4D720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Can a breeder improve two traits at once?</a:t>
            </a:r>
          </a:p>
        </p:txBody>
      </p:sp>
      <p:sp>
        <p:nvSpPr>
          <p:cNvPr id="8" name="surface">
            <a:extLst xmlns:a="http://schemas.openxmlformats.org/drawingml/2006/main">
              <a:ext uri="{FF2B5EF4-FFF2-40B4-BE49-F238E27FC236}">
                <a16:creationId xmlns:a16="http://schemas.microsoft.com/office/drawing/2014/main" id="{8294192D-9F7F-42E0-A96B-4FF2795793A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AA2F74F8-E449-42AE-B5EE-59C78230601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1 / 15">
            <a:extLst xmlns:a="http://schemas.openxmlformats.org/drawingml/2006/main">
              <a:ext uri="{FF2B5EF4-FFF2-40B4-BE49-F238E27FC236}">
                <a16:creationId xmlns:a16="http://schemas.microsoft.com/office/drawing/2014/main" id="{7E5B85C4-7909-4B02-8029-E478903C430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51ABF8F9-9E9E-4D8A-BD0F-B28FBED729D0}"/>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452ED4FE-C524-42AA-AC9E-7CEFA75630CF}"/>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007802E9-186B-4E01-86E7-AF9562603A56}"/>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7A5C9E"/>
                </a:solidFill>
                <a:latin typeface="Nimbus Sans"/>
                <a:ea typeface="Nimbus Sans"/>
                <a:cs typeface="Nimbus Sans"/>
              </a:defRPr>
            </a:pPr>
            <a:r>
              <a:rPr sz="1650" b="1">
                <a:solidFill>
                  <a:srgbClr val="7A5C9E"/>
                </a:solidFill>
                <a:latin typeface="Nimbus Sans"/>
                <a:ea typeface="Nimbus Sans"/>
                <a:cs typeface="Nimbus Sans"/>
              </a:rPr>
              <a:t>Learning intention</a:t>
            </a:r>
          </a:p>
        </p:txBody>
      </p:sp>
      <p:sp>
        <p:nvSpPr>
          <p:cNvPr id="14" name="Explain selective breeding and justify a breeding plan using inh">
            <a:extLst xmlns:a="http://schemas.openxmlformats.org/drawingml/2006/main">
              <a:ext uri="{FF2B5EF4-FFF2-40B4-BE49-F238E27FC236}">
                <a16:creationId xmlns:a16="http://schemas.microsoft.com/office/drawing/2014/main" id="{DD12143E-3160-4871-96BB-4C94116BCBF5}"/>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Explain selective breeding and justify a breeding plan using inherited traits,</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performance evidence and genetic diversity.</a:t>
            </a:r>
          </a:p>
        </p:txBody>
      </p:sp>
      <p:sp>
        <p:nvSpPr>
          <p:cNvPr id="15" name="Mission: plan a productive, disease-resistant crop.">
            <a:extLst xmlns:a="http://schemas.openxmlformats.org/drawingml/2006/main">
              <a:ext uri="{FF2B5EF4-FFF2-40B4-BE49-F238E27FC236}">
                <a16:creationId xmlns:a16="http://schemas.microsoft.com/office/drawing/2014/main" id="{43040E48-DD70-4B09-9C1C-222799E2CDCF}"/>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Mission: plan a productive, disease-resistant crop.</a:t>
            </a:r>
          </a:p>
        </p:txBody>
      </p:sp>
      <p:sp>
        <p:nvSpPr>
          <p:cNvPr id="16" name="A good choice must use evidence and survive a second check.">
            <a:extLst xmlns:a="http://schemas.openxmlformats.org/drawingml/2006/main">
              <a:ext uri="{FF2B5EF4-FFF2-40B4-BE49-F238E27FC236}">
                <a16:creationId xmlns:a16="http://schemas.microsoft.com/office/drawing/2014/main" id="{E5956FD4-24D5-48C0-9275-6E95629DF51E}"/>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good choice must use evidence and survive a second check.</a:t>
            </a:r>
          </a:p>
        </p:txBody>
      </p:sp>
    </p:spTree>
    <p:extLst>
      <p:ext uri="{BB962C8B-B14F-4D97-AF65-F5344CB8AC3E}">
        <p14:creationId xmlns:p14="http://schemas.microsoft.com/office/powerpoint/2010/main" val="11085711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F3A5FE39-03E3-43B4-BE46-10FB163A2DC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E517164-4A4E-4294-8E50-73B989AF0CE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BEFC694-9EAA-41B2-9263-0DC80B1ABBE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6D154D3B-DB02-485D-800F-56CFC8B1CBE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trieval">
            <a:extLst xmlns:a="http://schemas.openxmlformats.org/drawingml/2006/main">
              <a:ext uri="{FF2B5EF4-FFF2-40B4-BE49-F238E27FC236}">
                <a16:creationId xmlns:a16="http://schemas.microsoft.com/office/drawing/2014/main" id="{8C6B7DC5-6055-44AC-84A3-C11854A26DE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AFF2878E-44F2-4151-8F8A-3518766FBA34}"/>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trieve inheritance">
            <a:extLst xmlns:a="http://schemas.openxmlformats.org/drawingml/2006/main">
              <a:ext uri="{FF2B5EF4-FFF2-40B4-BE49-F238E27FC236}">
                <a16:creationId xmlns:a16="http://schemas.microsoft.com/office/drawing/2014/main" id="{7BC4048B-0735-45C1-9C23-8C5FEF62088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Retrieve inheritance</a:t>
            </a:r>
          </a:p>
        </p:txBody>
      </p:sp>
      <p:sp>
        <p:nvSpPr>
          <p:cNvPr id="8" name="surface">
            <a:extLst xmlns:a="http://schemas.openxmlformats.org/drawingml/2006/main">
              <a:ext uri="{FF2B5EF4-FFF2-40B4-BE49-F238E27FC236}">
                <a16:creationId xmlns:a16="http://schemas.microsoft.com/office/drawing/2014/main" id="{1784ADC6-3B2C-4014-BB6D-96CB9036B03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25C0EF86-23EF-4C91-9C25-3A60F8D8243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2 / 15">
            <a:extLst xmlns:a="http://schemas.openxmlformats.org/drawingml/2006/main">
              <a:ext uri="{FF2B5EF4-FFF2-40B4-BE49-F238E27FC236}">
                <a16:creationId xmlns:a16="http://schemas.microsoft.com/office/drawing/2014/main" id="{7A96D049-94BB-493A-A682-E138878C394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is an allele?">
            <a:extLst xmlns:a="http://schemas.openxmlformats.org/drawingml/2006/main">
              <a:ext uri="{FF2B5EF4-FFF2-40B4-BE49-F238E27FC236}">
                <a16:creationId xmlns:a16="http://schemas.microsoft.com/office/drawing/2014/main" id="{1CE196ED-1931-4C9C-AC10-7EDC8E9989D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is an allele?</a:t>
            </a:r>
          </a:p>
        </p:txBody>
      </p:sp>
      <p:sp>
        <p:nvSpPr>
          <p:cNvPr id="12" name="R2. Are sexual offspring always identical to their parents?">
            <a:extLst xmlns:a="http://schemas.openxmlformats.org/drawingml/2006/main">
              <a:ext uri="{FF2B5EF4-FFF2-40B4-BE49-F238E27FC236}">
                <a16:creationId xmlns:a16="http://schemas.microsoft.com/office/drawing/2014/main" id="{3A99D90F-05BF-4A46-8663-32792CAFAB08}"/>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Are sexual offspring always identical to their parents?</a:t>
            </a:r>
          </a:p>
        </p:txBody>
      </p:sp>
      <p:sp>
        <p:nvSpPr>
          <p:cNvPr id="13" name="R3. Can growing conditions affect measured yield?">
            <a:extLst xmlns:a="http://schemas.openxmlformats.org/drawingml/2006/main">
              <a:ext uri="{FF2B5EF4-FFF2-40B4-BE49-F238E27FC236}">
                <a16:creationId xmlns:a16="http://schemas.microsoft.com/office/drawing/2014/main" id="{F366A749-5339-4731-8087-12F1A0630353}"/>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Can growing conditions affect measured yield?</a:t>
            </a:r>
          </a:p>
        </p:txBody>
      </p:sp>
    </p:spTree>
    <p:extLst>
      <p:ext uri="{BB962C8B-B14F-4D97-AF65-F5344CB8AC3E}">
        <p14:creationId xmlns:p14="http://schemas.microsoft.com/office/powerpoint/2010/main" val="18219403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urface">
            <a:extLst xmlns:a="http://schemas.openxmlformats.org/drawingml/2006/main">
              <a:ext uri="{FF2B5EF4-FFF2-40B4-BE49-F238E27FC236}">
                <a16:creationId xmlns:a16="http://schemas.microsoft.com/office/drawing/2014/main" id="{5F376704-6F71-4EAE-91D2-F76333D6D5E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3926787-AD0D-4EA1-BE03-CC1A459D709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D5255F6-69EF-43BD-914F-7C7FC4A67F4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4FF4B3F2-FEA4-4A83-B80B-53AEEA1E06A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D7036967-18FE-406D-9ABD-09830280DD0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4 min">
            <a:extLst xmlns:a="http://schemas.openxmlformats.org/drawingml/2006/main">
              <a:ext uri="{FF2B5EF4-FFF2-40B4-BE49-F238E27FC236}">
                <a16:creationId xmlns:a16="http://schemas.microsoft.com/office/drawing/2014/main" id="{12AFA87B-47EE-435C-9495-4803552FCA2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How selective breeding works">
            <a:extLst xmlns:a="http://schemas.openxmlformats.org/drawingml/2006/main">
              <a:ext uri="{FF2B5EF4-FFF2-40B4-BE49-F238E27FC236}">
                <a16:creationId xmlns:a16="http://schemas.microsoft.com/office/drawing/2014/main" id="{C626361D-1ADE-4FCB-A872-511C02D661C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How selective breeding works</a:t>
            </a:r>
          </a:p>
        </p:txBody>
      </p:sp>
      <p:sp>
        <p:nvSpPr>
          <p:cNvPr id="8" name="surface">
            <a:extLst xmlns:a="http://schemas.openxmlformats.org/drawingml/2006/main">
              <a:ext uri="{FF2B5EF4-FFF2-40B4-BE49-F238E27FC236}">
                <a16:creationId xmlns:a16="http://schemas.microsoft.com/office/drawing/2014/main" id="{FC14F948-C097-4CA5-B4D4-021E40CED39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BEB55E68-4EC0-4FB9-8ECB-744E6F3546B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3 / 15">
            <a:extLst xmlns:a="http://schemas.openxmlformats.org/drawingml/2006/main">
              <a:ext uri="{FF2B5EF4-FFF2-40B4-BE49-F238E27FC236}">
                <a16:creationId xmlns:a16="http://schemas.microsoft.com/office/drawing/2014/main" id="{B6150FF6-6AF8-45E5-9F9C-84C2C562D3A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Select, breed, compare, repeat">
            <a:extLst xmlns:a="http://schemas.openxmlformats.org/drawingml/2006/main">
              <a:ext uri="{FF2B5EF4-FFF2-40B4-BE49-F238E27FC236}">
                <a16:creationId xmlns:a16="http://schemas.microsoft.com/office/drawing/2014/main" id="{60C651D2-3A65-4030-A1F9-FF6905EC813C}"/>
              </a:ext>
            </a:extLst>
          </p:cNvPr>
          <p:cNvSpPr>
            <a:spLocks xmlns:a="http://schemas.openxmlformats.org/drawingml/2006/main" noGrp="1"/>
          </p:cNvSpPr>
          <p:nvPr/>
        </p:nvSpPr>
        <p:spPr>
          <a:xfrm xmlns:a="http://schemas.openxmlformats.org/drawingml/2006/main">
            <a:off x="2802391" y="1988004"/>
            <a:ext cx="658721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Select, breed, compare, repeat</a:t>
            </a:r>
          </a:p>
        </p:txBody>
      </p:sp>
      <p:sp>
        <p:nvSpPr>
          <p:cNvPr id="12" name="Editable scientific diagram">
            <a:extLst xmlns:a="http://schemas.openxmlformats.org/drawingml/2006/main">
              <a:ext uri="{FF2B5EF4-FFF2-40B4-BE49-F238E27FC236}">
                <a16:creationId xmlns:a16="http://schemas.microsoft.com/office/drawing/2014/main" id="{3F59F1F3-FD07-4CCA-838F-D1F95D3782F9}"/>
              </a:ext>
            </a:extLst>
          </p:cNvPr>
          <p:cNvSpPr>
            <a:spLocks xmlns:a="http://schemas.openxmlformats.org/drawingml/2006/main" noGrp="1"/>
          </p:cNvSpPr>
          <p:nvPr/>
        </p:nvSpPr>
        <p:spPr>
          <a:xfrm xmlns:a="http://schemas.openxmlformats.org/drawingml/2006/main">
            <a:off x="2977583" y="2583656"/>
            <a:ext cx="2592841"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3" name="Diagram label: 1. Select parents&#10;with useful&#10;inherited traits">
            <a:extLst xmlns:a="http://schemas.openxmlformats.org/drawingml/2006/main">
              <a:ext uri="{FF2B5EF4-FFF2-40B4-BE49-F238E27FC236}">
                <a16:creationId xmlns:a16="http://schemas.microsoft.com/office/drawing/2014/main" id="{ECEEAD29-B4FF-4523-B99C-B9DC0ACF939B}"/>
              </a:ext>
            </a:extLst>
          </p:cNvPr>
          <p:cNvSpPr>
            <a:spLocks xmlns:a="http://schemas.openxmlformats.org/drawingml/2006/main" noGrp="1"/>
          </p:cNvSpPr>
          <p:nvPr/>
        </p:nvSpPr>
        <p:spPr>
          <a:xfrm xmlns:a="http://schemas.openxmlformats.org/drawingml/2006/main">
            <a:off x="3117737" y="2674756"/>
            <a:ext cx="2312534" cy="805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1. Select parents</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with useful</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inherited traits</a:t>
            </a:r>
          </a:p>
        </p:txBody>
      </p:sp>
      <p:sp>
        <p:nvSpPr>
          <p:cNvPr id="14" name="Editable scientific diagram">
            <a:extLst xmlns:a="http://schemas.openxmlformats.org/drawingml/2006/main">
              <a:ext uri="{FF2B5EF4-FFF2-40B4-BE49-F238E27FC236}">
                <a16:creationId xmlns:a16="http://schemas.microsoft.com/office/drawing/2014/main" id="{FC9523A3-E47E-4465-9E47-FCC52AA1E6CF}"/>
              </a:ext>
            </a:extLst>
          </p:cNvPr>
          <p:cNvSpPr>
            <a:spLocks xmlns:a="http://schemas.openxmlformats.org/drawingml/2006/main" noGrp="1"/>
          </p:cNvSpPr>
          <p:nvPr/>
        </p:nvSpPr>
        <p:spPr>
          <a:xfrm xmlns:a="http://schemas.openxmlformats.org/drawingml/2006/main">
            <a:off x="6621576" y="2583656"/>
            <a:ext cx="2592841"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5" name="Diagram label: 2. Breed them&#10;Offspring inherit&#10;alleles">
            <a:extLst xmlns:a="http://schemas.openxmlformats.org/drawingml/2006/main">
              <a:ext uri="{FF2B5EF4-FFF2-40B4-BE49-F238E27FC236}">
                <a16:creationId xmlns:a16="http://schemas.microsoft.com/office/drawing/2014/main" id="{73BFC65D-2887-48AD-8D8C-D151FB7B7D4B}"/>
              </a:ext>
            </a:extLst>
          </p:cNvPr>
          <p:cNvSpPr>
            <a:spLocks xmlns:a="http://schemas.openxmlformats.org/drawingml/2006/main" noGrp="1"/>
          </p:cNvSpPr>
          <p:nvPr/>
        </p:nvSpPr>
        <p:spPr>
          <a:xfrm xmlns:a="http://schemas.openxmlformats.org/drawingml/2006/main">
            <a:off x="6761729" y="2674756"/>
            <a:ext cx="2312534" cy="805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2. Breed them</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Offspring inherit</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alleles</a:t>
            </a:r>
          </a:p>
        </p:txBody>
      </p:sp>
      <p:sp>
        <p:nvSpPr>
          <p:cNvPr id="16" name="Editable scientific diagram">
            <a:extLst xmlns:a="http://schemas.openxmlformats.org/drawingml/2006/main">
              <a:ext uri="{FF2B5EF4-FFF2-40B4-BE49-F238E27FC236}">
                <a16:creationId xmlns:a16="http://schemas.microsoft.com/office/drawing/2014/main" id="{3742DDF3-231D-424B-A077-104B871877C7}"/>
              </a:ext>
            </a:extLst>
          </p:cNvPr>
          <p:cNvSpPr>
            <a:spLocks xmlns:a="http://schemas.openxmlformats.org/drawingml/2006/main" noGrp="1"/>
          </p:cNvSpPr>
          <p:nvPr/>
        </p:nvSpPr>
        <p:spPr>
          <a:xfrm xmlns:a="http://schemas.openxmlformats.org/drawingml/2006/main">
            <a:off x="6621576" y="4265499"/>
            <a:ext cx="2592841"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7" name="Diagram label: 3. Compare offspring&#10;They vary">
            <a:extLst xmlns:a="http://schemas.openxmlformats.org/drawingml/2006/main">
              <a:ext uri="{FF2B5EF4-FFF2-40B4-BE49-F238E27FC236}">
                <a16:creationId xmlns:a16="http://schemas.microsoft.com/office/drawing/2014/main" id="{B7163B55-5624-4B5B-A2B3-50C5086C1D87}"/>
              </a:ext>
            </a:extLst>
          </p:cNvPr>
          <p:cNvSpPr>
            <a:spLocks xmlns:a="http://schemas.openxmlformats.org/drawingml/2006/main" noGrp="1"/>
          </p:cNvSpPr>
          <p:nvPr/>
        </p:nvSpPr>
        <p:spPr>
          <a:xfrm xmlns:a="http://schemas.openxmlformats.org/drawingml/2006/main">
            <a:off x="6761729" y="4405653"/>
            <a:ext cx="2312534" cy="6657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3. Compare offspring</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They vary</a:t>
            </a:r>
          </a:p>
        </p:txBody>
      </p:sp>
      <p:sp>
        <p:nvSpPr>
          <p:cNvPr id="18" name="Editable scientific diagram">
            <a:extLst xmlns:a="http://schemas.openxmlformats.org/drawingml/2006/main">
              <a:ext uri="{FF2B5EF4-FFF2-40B4-BE49-F238E27FC236}">
                <a16:creationId xmlns:a16="http://schemas.microsoft.com/office/drawing/2014/main" id="{09033588-25D9-4AED-B3BD-8ECF81A595BB}"/>
              </a:ext>
            </a:extLst>
          </p:cNvPr>
          <p:cNvSpPr>
            <a:spLocks xmlns:a="http://schemas.openxmlformats.org/drawingml/2006/main" noGrp="1"/>
          </p:cNvSpPr>
          <p:nvPr/>
        </p:nvSpPr>
        <p:spPr>
          <a:xfrm xmlns:a="http://schemas.openxmlformats.org/drawingml/2006/main">
            <a:off x="2977583" y="4265499"/>
            <a:ext cx="2592841"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9" name="Diagram label: 4. Select again&#10;Check health&#10;and diversity">
            <a:extLst xmlns:a="http://schemas.openxmlformats.org/drawingml/2006/main">
              <a:ext uri="{FF2B5EF4-FFF2-40B4-BE49-F238E27FC236}">
                <a16:creationId xmlns:a16="http://schemas.microsoft.com/office/drawing/2014/main" id="{E1DAAED1-2E91-4776-BC3E-D834235198BF}"/>
              </a:ext>
            </a:extLst>
          </p:cNvPr>
          <p:cNvSpPr>
            <a:spLocks xmlns:a="http://schemas.openxmlformats.org/drawingml/2006/main" noGrp="1"/>
          </p:cNvSpPr>
          <p:nvPr/>
        </p:nvSpPr>
        <p:spPr>
          <a:xfrm xmlns:a="http://schemas.openxmlformats.org/drawingml/2006/main">
            <a:off x="3117737" y="4335576"/>
            <a:ext cx="2312534" cy="8409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4. Select again</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Check health</a:t>
            </a:r>
          </a:p>
          <a:p xmlns:a="http://schemas.openxmlformats.org/drawingml/2006/main">
            <a:pPr algn="l">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and diversity</a:t>
            </a:r>
          </a:p>
        </p:txBody>
      </p:sp>
      <p:sp>
        <p:nvSpPr>
          <p:cNvPr id="20" name="Diagram line">
            <a:extLst xmlns:a="http://schemas.openxmlformats.org/drawingml/2006/main">
              <a:ext uri="{FF2B5EF4-FFF2-40B4-BE49-F238E27FC236}">
                <a16:creationId xmlns:a16="http://schemas.microsoft.com/office/drawing/2014/main" id="{E3CAA0CD-94AB-4A1B-B7E8-32011FD347C8}"/>
              </a:ext>
            </a:extLst>
          </p:cNvPr>
          <p:cNvSpPr>
            <a:spLocks xmlns:a="http://schemas.openxmlformats.org/drawingml/2006/main" noGrp="1"/>
          </p:cNvSpPr>
          <p:nvPr/>
        </p:nvSpPr>
        <p:spPr>
          <a:xfrm xmlns:a="http://schemas.openxmlformats.org/drawingml/2006/main" flipH="0" flipV="0">
            <a:off x="5640501" y="3039155"/>
            <a:ext cx="802379"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21" name="Diagram arrowhead">
            <a:extLst xmlns:a="http://schemas.openxmlformats.org/drawingml/2006/main">
              <a:ext uri="{FF2B5EF4-FFF2-40B4-BE49-F238E27FC236}">
                <a16:creationId xmlns:a16="http://schemas.microsoft.com/office/drawing/2014/main" id="{B4D9C6D1-1922-4433-997E-07C0020D872D}"/>
              </a:ext>
            </a:extLst>
          </p:cNvPr>
          <p:cNvSpPr>
            <a:spLocks xmlns:a="http://schemas.openxmlformats.org/drawingml/2006/main" noGrp="1"/>
          </p:cNvSpPr>
          <p:nvPr/>
        </p:nvSpPr>
        <p:spPr>
          <a:xfrm xmlns:a="http://schemas.openxmlformats.org/drawingml/2006/main" rot="5400000">
            <a:off x="6418353" y="2990102"/>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2" name="Diagram line">
            <a:extLst xmlns:a="http://schemas.openxmlformats.org/drawingml/2006/main">
              <a:ext uri="{FF2B5EF4-FFF2-40B4-BE49-F238E27FC236}">
                <a16:creationId xmlns:a16="http://schemas.microsoft.com/office/drawing/2014/main" id="{A65BBD9C-7851-489B-9822-46B08182D436}"/>
              </a:ext>
            </a:extLst>
          </p:cNvPr>
          <p:cNvSpPr>
            <a:spLocks xmlns:a="http://schemas.openxmlformats.org/drawingml/2006/main" noGrp="1"/>
          </p:cNvSpPr>
          <p:nvPr/>
        </p:nvSpPr>
        <p:spPr>
          <a:xfrm xmlns:a="http://schemas.openxmlformats.org/drawingml/2006/main" flipH="0" flipV="0">
            <a:off x="7917996" y="3634808"/>
            <a:ext cx="953" cy="451995"/>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23" name="Diagram arrowhead">
            <a:extLst xmlns:a="http://schemas.openxmlformats.org/drawingml/2006/main">
              <a:ext uri="{FF2B5EF4-FFF2-40B4-BE49-F238E27FC236}">
                <a16:creationId xmlns:a16="http://schemas.microsoft.com/office/drawing/2014/main" id="{F2B1FC0A-C2C6-4C1F-9BEB-F88BF0AFA2FE}"/>
              </a:ext>
            </a:extLst>
          </p:cNvPr>
          <p:cNvSpPr>
            <a:spLocks xmlns:a="http://schemas.openxmlformats.org/drawingml/2006/main" noGrp="1"/>
          </p:cNvSpPr>
          <p:nvPr/>
        </p:nvSpPr>
        <p:spPr>
          <a:xfrm xmlns:a="http://schemas.openxmlformats.org/drawingml/2006/main" rot="10800000">
            <a:off x="7868943" y="4062276"/>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4" name="Diagram line">
            <a:extLst xmlns:a="http://schemas.openxmlformats.org/drawingml/2006/main">
              <a:ext uri="{FF2B5EF4-FFF2-40B4-BE49-F238E27FC236}">
                <a16:creationId xmlns:a16="http://schemas.microsoft.com/office/drawing/2014/main" id="{2BF4F0D5-34A6-4264-9766-E57B669A9E58}"/>
              </a:ext>
            </a:extLst>
          </p:cNvPr>
          <p:cNvSpPr>
            <a:spLocks xmlns:a="http://schemas.openxmlformats.org/drawingml/2006/main" noGrp="1"/>
          </p:cNvSpPr>
          <p:nvPr/>
        </p:nvSpPr>
        <p:spPr>
          <a:xfrm xmlns:a="http://schemas.openxmlformats.org/drawingml/2006/main" flipH="1" flipV="0">
            <a:off x="5714082" y="4720998"/>
            <a:ext cx="802379" cy="953"/>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25" name="Diagram arrowhead">
            <a:extLst xmlns:a="http://schemas.openxmlformats.org/drawingml/2006/main">
              <a:ext uri="{FF2B5EF4-FFF2-40B4-BE49-F238E27FC236}">
                <a16:creationId xmlns:a16="http://schemas.microsoft.com/office/drawing/2014/main" id="{DE3DD653-B34E-409A-BF93-9DF39239708E}"/>
              </a:ext>
            </a:extLst>
          </p:cNvPr>
          <p:cNvSpPr>
            <a:spLocks xmlns:a="http://schemas.openxmlformats.org/drawingml/2006/main" noGrp="1"/>
          </p:cNvSpPr>
          <p:nvPr/>
        </p:nvSpPr>
        <p:spPr>
          <a:xfrm xmlns:a="http://schemas.openxmlformats.org/drawingml/2006/main" rot="16200000">
            <a:off x="5640501" y="4671944"/>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6" name="Diagram line">
            <a:extLst xmlns:a="http://schemas.openxmlformats.org/drawingml/2006/main">
              <a:ext uri="{FF2B5EF4-FFF2-40B4-BE49-F238E27FC236}">
                <a16:creationId xmlns:a16="http://schemas.microsoft.com/office/drawing/2014/main" id="{74450A7A-AD84-4E4E-9BEA-6E4242E16C64}"/>
              </a:ext>
            </a:extLst>
          </p:cNvPr>
          <p:cNvSpPr>
            <a:spLocks xmlns:a="http://schemas.openxmlformats.org/drawingml/2006/main" noGrp="1"/>
          </p:cNvSpPr>
          <p:nvPr/>
        </p:nvSpPr>
        <p:spPr>
          <a:xfrm xmlns:a="http://schemas.openxmlformats.org/drawingml/2006/main" flipH="0" flipV="1">
            <a:off x="4274004" y="3708389"/>
            <a:ext cx="953" cy="451995"/>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27" name="Diagram arrowhead">
            <a:extLst xmlns:a="http://schemas.openxmlformats.org/drawingml/2006/main">
              <a:ext uri="{FF2B5EF4-FFF2-40B4-BE49-F238E27FC236}">
                <a16:creationId xmlns:a16="http://schemas.microsoft.com/office/drawing/2014/main" id="{1BB6BA18-FBA2-45DB-82A9-D2351FBF3110}"/>
              </a:ext>
            </a:extLst>
          </p:cNvPr>
          <p:cNvSpPr>
            <a:spLocks xmlns:a="http://schemas.openxmlformats.org/drawingml/2006/main" noGrp="1"/>
          </p:cNvSpPr>
          <p:nvPr/>
        </p:nvSpPr>
        <p:spPr>
          <a:xfrm xmlns:a="http://schemas.openxmlformats.org/drawingml/2006/main" rot="0">
            <a:off x="4224950" y="3634808"/>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8" name="Humans decide which organisms reproduce.  Choose inherited trait">
            <a:extLst xmlns:a="http://schemas.openxmlformats.org/drawingml/2006/main">
              <a:ext uri="{FF2B5EF4-FFF2-40B4-BE49-F238E27FC236}">
                <a16:creationId xmlns:a16="http://schemas.microsoft.com/office/drawing/2014/main" id="{416DDFC7-D3C1-4CCC-BD34-94ECB40C940A}"/>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Humans decide which organisms reproduce. Choose inherited traits, breed, compare offspring, select again.</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Repeat across generations.</a:t>
            </a:r>
          </a:p>
        </p:txBody>
      </p:sp>
    </p:spTree>
    <p:extLst>
      <p:ext uri="{BB962C8B-B14F-4D97-AF65-F5344CB8AC3E}">
        <p14:creationId xmlns:p14="http://schemas.microsoft.com/office/powerpoint/2010/main" val="5034072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70BC2EFD-B0D3-4B82-84D9-CAE3957AB8B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84CF8AC-BBD8-4480-8572-39B6FD1F258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FE85214-5164-4672-A6AC-8E34953A93E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2360493E-3E06-4948-9647-696A7914D4D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4A8A7FAF-4120-42F9-8F8D-2C4CC7982FA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520DCE59-0824-426E-8DD0-A310603F3CE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Inheritance is a mechanism">
            <a:extLst xmlns:a="http://schemas.openxmlformats.org/drawingml/2006/main">
              <a:ext uri="{FF2B5EF4-FFF2-40B4-BE49-F238E27FC236}">
                <a16:creationId xmlns:a16="http://schemas.microsoft.com/office/drawing/2014/main" id="{ABE6AACC-9155-4172-AC81-9F4BCC91870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Inheritance is a mechanism</a:t>
            </a:r>
          </a:p>
        </p:txBody>
      </p:sp>
      <p:sp>
        <p:nvSpPr>
          <p:cNvPr id="8" name="surface">
            <a:extLst xmlns:a="http://schemas.openxmlformats.org/drawingml/2006/main">
              <a:ext uri="{FF2B5EF4-FFF2-40B4-BE49-F238E27FC236}">
                <a16:creationId xmlns:a16="http://schemas.microsoft.com/office/drawing/2014/main" id="{3CF57FFB-53C4-4973-9795-935AACE024E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9D0FA525-0C83-478E-940A-1C78926E4CE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4 / 15">
            <a:extLst xmlns:a="http://schemas.openxmlformats.org/drawingml/2006/main">
              <a:ext uri="{FF2B5EF4-FFF2-40B4-BE49-F238E27FC236}">
                <a16:creationId xmlns:a16="http://schemas.microsoft.com/office/drawing/2014/main" id="{2569CA24-4D8D-470E-9D7D-2CE3C6DDFDA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1" name="Diagram label: An allele can be inherited; a wish cannot">
            <a:extLst xmlns:a="http://schemas.openxmlformats.org/drawingml/2006/main">
              <a:ext uri="{FF2B5EF4-FFF2-40B4-BE49-F238E27FC236}">
                <a16:creationId xmlns:a16="http://schemas.microsoft.com/office/drawing/2014/main" id="{8182A19C-651F-4BDD-B081-63F8E644D0A9}"/>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An allele can be inherited; a wish cannot</a:t>
            </a:r>
          </a:p>
        </p:txBody>
      </p:sp>
      <p:sp>
        <p:nvSpPr>
          <p:cNvPr id="12" name="Editable scientific diagram">
            <a:extLst xmlns:a="http://schemas.openxmlformats.org/drawingml/2006/main">
              <a:ext uri="{FF2B5EF4-FFF2-40B4-BE49-F238E27FC236}">
                <a16:creationId xmlns:a16="http://schemas.microsoft.com/office/drawing/2014/main" id="{631079DA-AF19-4E26-9993-8A4674FC70EB}"/>
              </a:ext>
            </a:extLst>
          </p:cNvPr>
          <p:cNvSpPr>
            <a:spLocks xmlns:a="http://schemas.openxmlformats.org/drawingml/2006/main" noGrp="1"/>
          </p:cNvSpPr>
          <p:nvPr/>
        </p:nvSpPr>
        <p:spPr>
          <a:xfrm xmlns:a="http://schemas.openxmlformats.org/drawingml/2006/main">
            <a:off x="3012621" y="2583656"/>
            <a:ext cx="2452688" cy="910998"/>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3" name="Diagram label: Parent 1&#10;AABB">
            <a:extLst xmlns:a="http://schemas.openxmlformats.org/drawingml/2006/main">
              <a:ext uri="{FF2B5EF4-FFF2-40B4-BE49-F238E27FC236}">
                <a16:creationId xmlns:a16="http://schemas.microsoft.com/office/drawing/2014/main" id="{8EE25C44-3E12-4AFB-8B8D-8505F7BBB208}"/>
              </a:ext>
            </a:extLst>
          </p:cNvPr>
          <p:cNvSpPr>
            <a:spLocks xmlns:a="http://schemas.openxmlformats.org/drawingml/2006/main" noGrp="1"/>
          </p:cNvSpPr>
          <p:nvPr/>
        </p:nvSpPr>
        <p:spPr>
          <a:xfrm xmlns:a="http://schemas.openxmlformats.org/drawingml/2006/main">
            <a:off x="3152775" y="2723810"/>
            <a:ext cx="2172380"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Parent 1</a:t>
            </a:r>
          </a:p>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AABB</a:t>
            </a:r>
          </a:p>
        </p:txBody>
      </p:sp>
      <p:sp>
        <p:nvSpPr>
          <p:cNvPr id="14" name="Editable scientific diagram">
            <a:extLst xmlns:a="http://schemas.openxmlformats.org/drawingml/2006/main">
              <a:ext uri="{FF2B5EF4-FFF2-40B4-BE49-F238E27FC236}">
                <a16:creationId xmlns:a16="http://schemas.microsoft.com/office/drawing/2014/main" id="{D58DBA77-81CC-45E1-9C1B-A2589AB04163}"/>
              </a:ext>
            </a:extLst>
          </p:cNvPr>
          <p:cNvSpPr>
            <a:spLocks xmlns:a="http://schemas.openxmlformats.org/drawingml/2006/main" noGrp="1"/>
          </p:cNvSpPr>
          <p:nvPr/>
        </p:nvSpPr>
        <p:spPr>
          <a:xfrm xmlns:a="http://schemas.openxmlformats.org/drawingml/2006/main">
            <a:off x="6726691" y="2583656"/>
            <a:ext cx="2452688" cy="910998"/>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5" name="Diagram label: Parent 2&#10;aabb">
            <a:extLst xmlns:a="http://schemas.openxmlformats.org/drawingml/2006/main">
              <a:ext uri="{FF2B5EF4-FFF2-40B4-BE49-F238E27FC236}">
                <a16:creationId xmlns:a16="http://schemas.microsoft.com/office/drawing/2014/main" id="{13E9A8AD-0ACA-4FF5-A5FB-656D458B771F}"/>
              </a:ext>
            </a:extLst>
          </p:cNvPr>
          <p:cNvSpPr>
            <a:spLocks xmlns:a="http://schemas.openxmlformats.org/drawingml/2006/main" noGrp="1"/>
          </p:cNvSpPr>
          <p:nvPr/>
        </p:nvSpPr>
        <p:spPr>
          <a:xfrm xmlns:a="http://schemas.openxmlformats.org/drawingml/2006/main">
            <a:off x="6866845" y="2723810"/>
            <a:ext cx="2172380"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Parent 2</a:t>
            </a:r>
          </a:p>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aabb</a:t>
            </a:r>
          </a:p>
        </p:txBody>
      </p:sp>
      <p:sp>
        <p:nvSpPr>
          <p:cNvPr id="16" name="Diagram line">
            <a:extLst xmlns:a="http://schemas.openxmlformats.org/drawingml/2006/main">
              <a:ext uri="{FF2B5EF4-FFF2-40B4-BE49-F238E27FC236}">
                <a16:creationId xmlns:a16="http://schemas.microsoft.com/office/drawing/2014/main" id="{2552D0AD-2CBA-4FB0-B32E-90789BA85E67}"/>
              </a:ext>
            </a:extLst>
          </p:cNvPr>
          <p:cNvSpPr>
            <a:spLocks xmlns:a="http://schemas.openxmlformats.org/drawingml/2006/main" noGrp="1"/>
          </p:cNvSpPr>
          <p:nvPr/>
        </p:nvSpPr>
        <p:spPr>
          <a:xfrm xmlns:a="http://schemas.openxmlformats.org/drawingml/2006/main" flipH="0" flipV="0">
            <a:off x="4414157" y="3564731"/>
            <a:ext cx="1124728" cy="529284"/>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17" name="Diagram arrowhead">
            <a:extLst xmlns:a="http://schemas.openxmlformats.org/drawingml/2006/main">
              <a:ext uri="{FF2B5EF4-FFF2-40B4-BE49-F238E27FC236}">
                <a16:creationId xmlns:a16="http://schemas.microsoft.com/office/drawing/2014/main" id="{4C73AA37-EB8C-4210-A577-2B6C368EDB89}"/>
              </a:ext>
            </a:extLst>
          </p:cNvPr>
          <p:cNvSpPr>
            <a:spLocks xmlns:a="http://schemas.openxmlformats.org/drawingml/2006/main" noGrp="1"/>
          </p:cNvSpPr>
          <p:nvPr/>
        </p:nvSpPr>
        <p:spPr>
          <a:xfrm xmlns:a="http://schemas.openxmlformats.org/drawingml/2006/main" rot="6912067">
            <a:off x="5512024" y="4055405"/>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18" name="Diagram line">
            <a:extLst xmlns:a="http://schemas.openxmlformats.org/drawingml/2006/main">
              <a:ext uri="{FF2B5EF4-FFF2-40B4-BE49-F238E27FC236}">
                <a16:creationId xmlns:a16="http://schemas.microsoft.com/office/drawing/2014/main" id="{E98E4055-9AA7-429B-864A-53308F930573}"/>
              </a:ext>
            </a:extLst>
          </p:cNvPr>
          <p:cNvSpPr>
            <a:spLocks xmlns:a="http://schemas.openxmlformats.org/drawingml/2006/main" noGrp="1"/>
          </p:cNvSpPr>
          <p:nvPr/>
        </p:nvSpPr>
        <p:spPr>
          <a:xfrm xmlns:a="http://schemas.openxmlformats.org/drawingml/2006/main" flipH="1" flipV="0">
            <a:off x="6653776" y="3564731"/>
            <a:ext cx="1194143" cy="530730"/>
          </a:xfrm>
          <a:prstGeom xmlns:a="http://schemas.openxmlformats.org/drawingml/2006/main" prst="line">
            <a:avLst/>
          </a:prstGeom>
          <a:noFill xmlns:a="http://schemas.openxmlformats.org/drawingml/2006/main"/>
          <a:ln xmlns:a="http://schemas.openxmlformats.org/drawingml/2006/main" w="35038">
            <a:solidFill>
              <a:srgbClr val="7A5C9E"/>
            </a:solidFill>
          </a:ln>
        </p:spPr>
      </p:sp>
      <p:sp>
        <p:nvSpPr>
          <p:cNvPr id="19" name="Diagram arrowhead">
            <a:extLst xmlns:a="http://schemas.openxmlformats.org/drawingml/2006/main">
              <a:ext uri="{FF2B5EF4-FFF2-40B4-BE49-F238E27FC236}">
                <a16:creationId xmlns:a16="http://schemas.microsoft.com/office/drawing/2014/main" id="{D049C5C5-E278-48D3-AF62-D084DF50B256}"/>
              </a:ext>
            </a:extLst>
          </p:cNvPr>
          <p:cNvSpPr>
            <a:spLocks xmlns:a="http://schemas.openxmlformats.org/drawingml/2006/main" noGrp="1"/>
          </p:cNvSpPr>
          <p:nvPr/>
        </p:nvSpPr>
        <p:spPr>
          <a:xfrm xmlns:a="http://schemas.openxmlformats.org/drawingml/2006/main" rot="14762251">
            <a:off x="6582310" y="4056369"/>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0" name="Editable scientific diagram">
            <a:extLst xmlns:a="http://schemas.openxmlformats.org/drawingml/2006/main">
              <a:ext uri="{FF2B5EF4-FFF2-40B4-BE49-F238E27FC236}">
                <a16:creationId xmlns:a16="http://schemas.microsoft.com/office/drawing/2014/main" id="{2697B51D-1EE2-41F2-8BDE-BCD5F74EF893}"/>
              </a:ext>
            </a:extLst>
          </p:cNvPr>
          <p:cNvSpPr>
            <a:spLocks xmlns:a="http://schemas.openxmlformats.org/drawingml/2006/main" noGrp="1"/>
          </p:cNvSpPr>
          <p:nvPr/>
        </p:nvSpPr>
        <p:spPr>
          <a:xfrm xmlns:a="http://schemas.openxmlformats.org/drawingml/2006/main">
            <a:off x="4869656" y="4160384"/>
            <a:ext cx="2452688" cy="770845"/>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21" name="Diagram label: Offspring: AaBb">
            <a:extLst xmlns:a="http://schemas.openxmlformats.org/drawingml/2006/main">
              <a:ext uri="{FF2B5EF4-FFF2-40B4-BE49-F238E27FC236}">
                <a16:creationId xmlns:a16="http://schemas.microsoft.com/office/drawing/2014/main" id="{786D9BE0-C24E-41EB-A2B7-67D8EA4B5F9F}"/>
              </a:ext>
            </a:extLst>
          </p:cNvPr>
          <p:cNvSpPr>
            <a:spLocks xmlns:a="http://schemas.openxmlformats.org/drawingml/2006/main" noGrp="1"/>
          </p:cNvSpPr>
          <p:nvPr/>
        </p:nvSpPr>
        <p:spPr>
          <a:xfrm xmlns:a="http://schemas.openxmlformats.org/drawingml/2006/main">
            <a:off x="5009810" y="4300538"/>
            <a:ext cx="2172380" cy="490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Offspring: AaBb</a:t>
            </a:r>
          </a:p>
        </p:txBody>
      </p:sp>
      <p:sp>
        <p:nvSpPr>
          <p:cNvPr id="22" name="Diagram label: Symbol model only. Real yield and resistance&#10;can involve many genes and the environment.">
            <a:extLst xmlns:a="http://schemas.openxmlformats.org/drawingml/2006/main">
              <a:ext uri="{FF2B5EF4-FFF2-40B4-BE49-F238E27FC236}">
                <a16:creationId xmlns:a16="http://schemas.microsoft.com/office/drawing/2014/main" id="{8F17FCBB-15DE-4110-B19D-92AF38BD0E8B}"/>
              </a:ext>
            </a:extLst>
          </p:cNvPr>
          <p:cNvSpPr>
            <a:spLocks xmlns:a="http://schemas.openxmlformats.org/drawingml/2006/main" noGrp="1"/>
          </p:cNvSpPr>
          <p:nvPr/>
        </p:nvSpPr>
        <p:spPr>
          <a:xfrm xmlns:a="http://schemas.openxmlformats.org/drawingml/2006/main">
            <a:off x="2942545" y="5141459"/>
            <a:ext cx="6306911" cy="490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Symbol model only. Real yield and resistance</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can involve many genes and the environment.</a:t>
            </a:r>
          </a:p>
        </p:txBody>
      </p:sp>
      <p:sp>
        <p:nvSpPr>
          <p:cNvPr id="23" name="Offspring receive alleles from both parents.  A simple model can">
            <a:extLst xmlns:a="http://schemas.openxmlformats.org/drawingml/2006/main">
              <a:ext uri="{FF2B5EF4-FFF2-40B4-BE49-F238E27FC236}">
                <a16:creationId xmlns:a16="http://schemas.microsoft.com/office/drawing/2014/main" id="{8E6979A6-0FA8-4D1E-8FCC-B4A983FB8C15}"/>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Offspring receive alleles from both parents. A simple model can show inheritance. Real yield and resistance</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can involve many genes.</a:t>
            </a:r>
          </a:p>
        </p:txBody>
      </p:sp>
    </p:spTree>
    <p:extLst>
      <p:ext uri="{BB962C8B-B14F-4D97-AF65-F5344CB8AC3E}">
        <p14:creationId xmlns:p14="http://schemas.microsoft.com/office/powerpoint/2010/main" val="9214406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surface">
            <a:extLst xmlns:a="http://schemas.openxmlformats.org/drawingml/2006/main">
              <a:ext uri="{FF2B5EF4-FFF2-40B4-BE49-F238E27FC236}">
                <a16:creationId xmlns:a16="http://schemas.microsoft.com/office/drawing/2014/main" id="{A645BF76-0B98-4422-AEB6-EC05F0A180D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0C22642-79F7-4D37-9372-E4AB19E9727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2A76D36-DCB0-4AAF-9CFD-8AF52665620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25A671E7-781E-47B3-A052-F7B8C194BB4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C6B1DEB2-8A8D-44FD-8412-07150C7B663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BC46B715-4388-4711-ACDF-A4F21B59126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ad change across generations">
            <a:extLst xmlns:a="http://schemas.openxmlformats.org/drawingml/2006/main">
              <a:ext uri="{FF2B5EF4-FFF2-40B4-BE49-F238E27FC236}">
                <a16:creationId xmlns:a16="http://schemas.microsoft.com/office/drawing/2014/main" id="{47C82CBC-A79C-4393-B96C-08343E80963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Read change across generations</a:t>
            </a:r>
          </a:p>
        </p:txBody>
      </p:sp>
      <p:sp>
        <p:nvSpPr>
          <p:cNvPr id="8" name="surface">
            <a:extLst xmlns:a="http://schemas.openxmlformats.org/drawingml/2006/main">
              <a:ext uri="{FF2B5EF4-FFF2-40B4-BE49-F238E27FC236}">
                <a16:creationId xmlns:a16="http://schemas.microsoft.com/office/drawing/2014/main" id="{04109CD7-9321-4A1A-A389-FEF82814BD9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4F777645-D650-488D-B46F-0794CC1DCF5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5 / 15">
            <a:extLst xmlns:a="http://schemas.openxmlformats.org/drawingml/2006/main">
              <a:ext uri="{FF2B5EF4-FFF2-40B4-BE49-F238E27FC236}">
                <a16:creationId xmlns:a16="http://schemas.microsoft.com/office/drawing/2014/main" id="{83511994-F45D-4157-8E9F-F3A45F81868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1" name="Diagram label: Constructed sample data: selected crop line">
            <a:extLst xmlns:a="http://schemas.openxmlformats.org/drawingml/2006/main">
              <a:ext uri="{FF2B5EF4-FFF2-40B4-BE49-F238E27FC236}">
                <a16:creationId xmlns:a16="http://schemas.microsoft.com/office/drawing/2014/main" id="{35810B60-A053-477A-ACC5-A73D9CAAB7DA}"/>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Constructed sample data: selected crop line</a:t>
            </a:r>
          </a:p>
        </p:txBody>
      </p:sp>
      <p:sp>
        <p:nvSpPr>
          <p:cNvPr id="12" name="Diagram label: Mean grain mass per plant (g); matched conditions">
            <a:extLst xmlns:a="http://schemas.openxmlformats.org/drawingml/2006/main">
              <a:ext uri="{FF2B5EF4-FFF2-40B4-BE49-F238E27FC236}">
                <a16:creationId xmlns:a16="http://schemas.microsoft.com/office/drawing/2014/main" id="{73A50D80-B095-401B-81DF-C563CFD35D42}"/>
              </a:ext>
            </a:extLst>
          </p:cNvPr>
          <p:cNvSpPr>
            <a:spLocks xmlns:a="http://schemas.openxmlformats.org/drawingml/2006/main" noGrp="1"/>
          </p:cNvSpPr>
          <p:nvPr/>
        </p:nvSpPr>
        <p:spPr>
          <a:xfrm xmlns:a="http://schemas.openxmlformats.org/drawingml/2006/main">
            <a:off x="2837429" y="2310357"/>
            <a:ext cx="651714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Mean grain mass per plant (g); matched conditions</a:t>
            </a:r>
          </a:p>
        </p:txBody>
      </p:sp>
      <p:sp>
        <p:nvSpPr>
          <p:cNvPr id="13" name="Diagram line">
            <a:extLst xmlns:a="http://schemas.openxmlformats.org/drawingml/2006/main">
              <a:ext uri="{FF2B5EF4-FFF2-40B4-BE49-F238E27FC236}">
                <a16:creationId xmlns:a16="http://schemas.microsoft.com/office/drawing/2014/main" id="{5C249389-8BC5-4001-A2C7-C35AF5932BAC}"/>
              </a:ext>
            </a:extLst>
          </p:cNvPr>
          <p:cNvSpPr>
            <a:spLocks xmlns:a="http://schemas.openxmlformats.org/drawingml/2006/main" noGrp="1"/>
          </p:cNvSpPr>
          <p:nvPr/>
        </p:nvSpPr>
        <p:spPr>
          <a:xfrm xmlns:a="http://schemas.openxmlformats.org/drawingml/2006/main" flipH="0" flipV="0">
            <a:off x="3503159" y="4896190"/>
            <a:ext cx="5536066" cy="953"/>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14" name="Diagram line">
            <a:extLst xmlns:a="http://schemas.openxmlformats.org/drawingml/2006/main">
              <a:ext uri="{FF2B5EF4-FFF2-40B4-BE49-F238E27FC236}">
                <a16:creationId xmlns:a16="http://schemas.microsoft.com/office/drawing/2014/main" id="{23ABA77C-FAF0-462E-B60C-3A6455F5C674}"/>
              </a:ext>
            </a:extLst>
          </p:cNvPr>
          <p:cNvSpPr>
            <a:spLocks xmlns:a="http://schemas.openxmlformats.org/drawingml/2006/main" noGrp="1"/>
          </p:cNvSpPr>
          <p:nvPr/>
        </p:nvSpPr>
        <p:spPr>
          <a:xfrm xmlns:a="http://schemas.openxmlformats.org/drawingml/2006/main" flipH="0" flipV="0">
            <a:off x="3503159" y="2723810"/>
            <a:ext cx="953" cy="2172380"/>
          </a:xfrm>
          <a:prstGeom xmlns:a="http://schemas.openxmlformats.org/drawingml/2006/main" prst="line">
            <a:avLst/>
          </a:prstGeom>
          <a:noFill xmlns:a="http://schemas.openxmlformats.org/drawingml/2006/main"/>
          <a:ln xmlns:a="http://schemas.openxmlformats.org/drawingml/2006/main" w="28031">
            <a:solidFill>
              <a:srgbClr val="1F2937"/>
            </a:solidFill>
          </a:ln>
        </p:spPr>
      </p:sp>
      <p:sp>
        <p:nvSpPr>
          <p:cNvPr id="15" name="Diagram line">
            <a:extLst xmlns:a="http://schemas.openxmlformats.org/drawingml/2006/main">
              <a:ext uri="{FF2B5EF4-FFF2-40B4-BE49-F238E27FC236}">
                <a16:creationId xmlns:a16="http://schemas.microsoft.com/office/drawing/2014/main" id="{F7176E3E-D02A-409B-9527-0B6D589A5A63}"/>
              </a:ext>
            </a:extLst>
          </p:cNvPr>
          <p:cNvSpPr>
            <a:spLocks xmlns:a="http://schemas.openxmlformats.org/drawingml/2006/main" noGrp="1"/>
          </p:cNvSpPr>
          <p:nvPr/>
        </p:nvSpPr>
        <p:spPr>
          <a:xfrm xmlns:a="http://schemas.openxmlformats.org/drawingml/2006/main" flipH="0" flipV="0">
            <a:off x="3433082" y="4896190"/>
            <a:ext cx="5606143" cy="953"/>
          </a:xfrm>
          <a:prstGeom xmlns:a="http://schemas.openxmlformats.org/drawingml/2006/main" prst="line">
            <a:avLst/>
          </a:prstGeom>
          <a:noFill xmlns:a="http://schemas.openxmlformats.org/drawingml/2006/main"/>
          <a:ln xmlns:a="http://schemas.openxmlformats.org/drawingml/2006/main" w="14015">
            <a:solidFill>
              <a:srgbClr val="D8D3DC"/>
            </a:solidFill>
          </a:ln>
        </p:spPr>
      </p:sp>
      <p:sp>
        <p:nvSpPr>
          <p:cNvPr id="16" name="Diagram label: 30">
            <a:extLst xmlns:a="http://schemas.openxmlformats.org/drawingml/2006/main">
              <a:ext uri="{FF2B5EF4-FFF2-40B4-BE49-F238E27FC236}">
                <a16:creationId xmlns:a16="http://schemas.microsoft.com/office/drawing/2014/main" id="{1099B84C-5798-44C1-8040-CC715FBA4731}"/>
              </a:ext>
            </a:extLst>
          </p:cNvPr>
          <p:cNvSpPr>
            <a:spLocks xmlns:a="http://schemas.openxmlformats.org/drawingml/2006/main" noGrp="1"/>
          </p:cNvSpPr>
          <p:nvPr/>
        </p:nvSpPr>
        <p:spPr>
          <a:xfrm xmlns:a="http://schemas.openxmlformats.org/drawingml/2006/main">
            <a:off x="2907506" y="4777060"/>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30</a:t>
            </a:r>
          </a:p>
        </p:txBody>
      </p:sp>
      <p:sp>
        <p:nvSpPr>
          <p:cNvPr id="17" name="Diagram line">
            <a:extLst xmlns:a="http://schemas.openxmlformats.org/drawingml/2006/main">
              <a:ext uri="{FF2B5EF4-FFF2-40B4-BE49-F238E27FC236}">
                <a16:creationId xmlns:a16="http://schemas.microsoft.com/office/drawing/2014/main" id="{03BA0A5D-B629-4A55-8705-1A33AF241868}"/>
              </a:ext>
            </a:extLst>
          </p:cNvPr>
          <p:cNvSpPr>
            <a:spLocks xmlns:a="http://schemas.openxmlformats.org/drawingml/2006/main" noGrp="1"/>
          </p:cNvSpPr>
          <p:nvPr/>
        </p:nvSpPr>
        <p:spPr>
          <a:xfrm xmlns:a="http://schemas.openxmlformats.org/drawingml/2006/main" flipH="0" flipV="0">
            <a:off x="3433082" y="4405653"/>
            <a:ext cx="5606143" cy="953"/>
          </a:xfrm>
          <a:prstGeom xmlns:a="http://schemas.openxmlformats.org/drawingml/2006/main" prst="line">
            <a:avLst/>
          </a:prstGeom>
          <a:noFill xmlns:a="http://schemas.openxmlformats.org/drawingml/2006/main"/>
          <a:ln xmlns:a="http://schemas.openxmlformats.org/drawingml/2006/main" w="14015">
            <a:solidFill>
              <a:srgbClr val="D8D3DC"/>
            </a:solidFill>
          </a:ln>
        </p:spPr>
      </p:sp>
      <p:sp>
        <p:nvSpPr>
          <p:cNvPr id="18" name="Diagram label: 35">
            <a:extLst xmlns:a="http://schemas.openxmlformats.org/drawingml/2006/main">
              <a:ext uri="{FF2B5EF4-FFF2-40B4-BE49-F238E27FC236}">
                <a16:creationId xmlns:a16="http://schemas.microsoft.com/office/drawing/2014/main" id="{A3C3978E-47E0-4534-B82A-73F8F6E5ED35}"/>
              </a:ext>
            </a:extLst>
          </p:cNvPr>
          <p:cNvSpPr>
            <a:spLocks xmlns:a="http://schemas.openxmlformats.org/drawingml/2006/main" noGrp="1"/>
          </p:cNvSpPr>
          <p:nvPr/>
        </p:nvSpPr>
        <p:spPr>
          <a:xfrm xmlns:a="http://schemas.openxmlformats.org/drawingml/2006/main">
            <a:off x="2907506" y="4286522"/>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35</a:t>
            </a:r>
          </a:p>
        </p:txBody>
      </p:sp>
      <p:sp>
        <p:nvSpPr>
          <p:cNvPr id="19" name="Diagram line">
            <a:extLst xmlns:a="http://schemas.openxmlformats.org/drawingml/2006/main">
              <a:ext uri="{FF2B5EF4-FFF2-40B4-BE49-F238E27FC236}">
                <a16:creationId xmlns:a16="http://schemas.microsoft.com/office/drawing/2014/main" id="{3A893B02-8598-4B85-AF3D-522489A2A4B7}"/>
              </a:ext>
            </a:extLst>
          </p:cNvPr>
          <p:cNvSpPr>
            <a:spLocks xmlns:a="http://schemas.openxmlformats.org/drawingml/2006/main" noGrp="1"/>
          </p:cNvSpPr>
          <p:nvPr/>
        </p:nvSpPr>
        <p:spPr>
          <a:xfrm xmlns:a="http://schemas.openxmlformats.org/drawingml/2006/main" flipH="0" flipV="0">
            <a:off x="3433082" y="3915115"/>
            <a:ext cx="5606143" cy="953"/>
          </a:xfrm>
          <a:prstGeom xmlns:a="http://schemas.openxmlformats.org/drawingml/2006/main" prst="line">
            <a:avLst/>
          </a:prstGeom>
          <a:noFill xmlns:a="http://schemas.openxmlformats.org/drawingml/2006/main"/>
          <a:ln xmlns:a="http://schemas.openxmlformats.org/drawingml/2006/main" w="14015">
            <a:solidFill>
              <a:srgbClr val="D8D3DC"/>
            </a:solidFill>
          </a:ln>
        </p:spPr>
      </p:sp>
      <p:sp>
        <p:nvSpPr>
          <p:cNvPr id="20" name="Diagram label: 40">
            <a:extLst xmlns:a="http://schemas.openxmlformats.org/drawingml/2006/main">
              <a:ext uri="{FF2B5EF4-FFF2-40B4-BE49-F238E27FC236}">
                <a16:creationId xmlns:a16="http://schemas.microsoft.com/office/drawing/2014/main" id="{1B84AA2D-6CE9-46B8-B497-9D5EF71C53B9}"/>
              </a:ext>
            </a:extLst>
          </p:cNvPr>
          <p:cNvSpPr>
            <a:spLocks xmlns:a="http://schemas.openxmlformats.org/drawingml/2006/main" noGrp="1"/>
          </p:cNvSpPr>
          <p:nvPr/>
        </p:nvSpPr>
        <p:spPr>
          <a:xfrm xmlns:a="http://schemas.openxmlformats.org/drawingml/2006/main">
            <a:off x="2907506" y="3795985"/>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40</a:t>
            </a:r>
          </a:p>
        </p:txBody>
      </p:sp>
      <p:sp>
        <p:nvSpPr>
          <p:cNvPr id="21" name="Diagram line">
            <a:extLst xmlns:a="http://schemas.openxmlformats.org/drawingml/2006/main">
              <a:ext uri="{FF2B5EF4-FFF2-40B4-BE49-F238E27FC236}">
                <a16:creationId xmlns:a16="http://schemas.microsoft.com/office/drawing/2014/main" id="{50A71490-FA1B-4549-9110-C0F5A25668EA}"/>
              </a:ext>
            </a:extLst>
          </p:cNvPr>
          <p:cNvSpPr>
            <a:spLocks xmlns:a="http://schemas.openxmlformats.org/drawingml/2006/main" noGrp="1"/>
          </p:cNvSpPr>
          <p:nvPr/>
        </p:nvSpPr>
        <p:spPr>
          <a:xfrm xmlns:a="http://schemas.openxmlformats.org/drawingml/2006/main" flipH="0" flipV="0">
            <a:off x="3433082" y="3424578"/>
            <a:ext cx="5606143" cy="953"/>
          </a:xfrm>
          <a:prstGeom xmlns:a="http://schemas.openxmlformats.org/drawingml/2006/main" prst="line">
            <a:avLst/>
          </a:prstGeom>
          <a:noFill xmlns:a="http://schemas.openxmlformats.org/drawingml/2006/main"/>
          <a:ln xmlns:a="http://schemas.openxmlformats.org/drawingml/2006/main" w="14015">
            <a:solidFill>
              <a:srgbClr val="D8D3DC"/>
            </a:solidFill>
          </a:ln>
        </p:spPr>
      </p:sp>
      <p:sp>
        <p:nvSpPr>
          <p:cNvPr id="22" name="Diagram label: 45">
            <a:extLst xmlns:a="http://schemas.openxmlformats.org/drawingml/2006/main">
              <a:ext uri="{FF2B5EF4-FFF2-40B4-BE49-F238E27FC236}">
                <a16:creationId xmlns:a16="http://schemas.microsoft.com/office/drawing/2014/main" id="{196CBEE9-8090-4E21-B7BF-655DDB8437FE}"/>
              </a:ext>
            </a:extLst>
          </p:cNvPr>
          <p:cNvSpPr>
            <a:spLocks xmlns:a="http://schemas.openxmlformats.org/drawingml/2006/main" noGrp="1"/>
          </p:cNvSpPr>
          <p:nvPr/>
        </p:nvSpPr>
        <p:spPr>
          <a:xfrm xmlns:a="http://schemas.openxmlformats.org/drawingml/2006/main">
            <a:off x="2907506" y="3305447"/>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45</a:t>
            </a:r>
          </a:p>
        </p:txBody>
      </p:sp>
      <p:sp>
        <p:nvSpPr>
          <p:cNvPr id="23" name="Diagram line">
            <a:extLst xmlns:a="http://schemas.openxmlformats.org/drawingml/2006/main">
              <a:ext uri="{FF2B5EF4-FFF2-40B4-BE49-F238E27FC236}">
                <a16:creationId xmlns:a16="http://schemas.microsoft.com/office/drawing/2014/main" id="{7DDC2CDF-703E-49E7-B709-5E1E6E28FC27}"/>
              </a:ext>
            </a:extLst>
          </p:cNvPr>
          <p:cNvSpPr>
            <a:spLocks xmlns:a="http://schemas.openxmlformats.org/drawingml/2006/main" noGrp="1"/>
          </p:cNvSpPr>
          <p:nvPr/>
        </p:nvSpPr>
        <p:spPr>
          <a:xfrm xmlns:a="http://schemas.openxmlformats.org/drawingml/2006/main" flipH="0" flipV="0">
            <a:off x="3433082" y="2934040"/>
            <a:ext cx="5606143" cy="953"/>
          </a:xfrm>
          <a:prstGeom xmlns:a="http://schemas.openxmlformats.org/drawingml/2006/main" prst="line">
            <a:avLst/>
          </a:prstGeom>
          <a:noFill xmlns:a="http://schemas.openxmlformats.org/drawingml/2006/main"/>
          <a:ln xmlns:a="http://schemas.openxmlformats.org/drawingml/2006/main" w="14015">
            <a:solidFill>
              <a:srgbClr val="D8D3DC"/>
            </a:solidFill>
          </a:ln>
        </p:spPr>
      </p:sp>
      <p:sp>
        <p:nvSpPr>
          <p:cNvPr id="24" name="Diagram label: 50">
            <a:extLst xmlns:a="http://schemas.openxmlformats.org/drawingml/2006/main">
              <a:ext uri="{FF2B5EF4-FFF2-40B4-BE49-F238E27FC236}">
                <a16:creationId xmlns:a16="http://schemas.microsoft.com/office/drawing/2014/main" id="{0557CD00-68F0-4950-8EA4-C7EFB11D4044}"/>
              </a:ext>
            </a:extLst>
          </p:cNvPr>
          <p:cNvSpPr>
            <a:spLocks xmlns:a="http://schemas.openxmlformats.org/drawingml/2006/main" noGrp="1"/>
          </p:cNvSpPr>
          <p:nvPr/>
        </p:nvSpPr>
        <p:spPr>
          <a:xfrm xmlns:a="http://schemas.openxmlformats.org/drawingml/2006/main">
            <a:off x="2907506" y="2814910"/>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50</a:t>
            </a:r>
          </a:p>
        </p:txBody>
      </p:sp>
      <p:sp>
        <p:nvSpPr>
          <p:cNvPr id="25" name="Editable scientific diagram">
            <a:extLst xmlns:a="http://schemas.openxmlformats.org/drawingml/2006/main">
              <a:ext uri="{FF2B5EF4-FFF2-40B4-BE49-F238E27FC236}">
                <a16:creationId xmlns:a16="http://schemas.microsoft.com/office/drawing/2014/main" id="{D7A7F6CE-B3D1-45E1-85C2-12B758E2AEA3}"/>
              </a:ext>
            </a:extLst>
          </p:cNvPr>
          <p:cNvSpPr>
            <a:spLocks xmlns:a="http://schemas.openxmlformats.org/drawingml/2006/main" noGrp="1"/>
          </p:cNvSpPr>
          <p:nvPr/>
        </p:nvSpPr>
        <p:spPr>
          <a:xfrm xmlns:a="http://schemas.openxmlformats.org/drawingml/2006/main">
            <a:off x="4014719" y="4454706"/>
            <a:ext cx="98108" cy="98108"/>
          </a:xfrm>
          <a:prstGeom xmlns:a="http://schemas.openxmlformats.org/drawingml/2006/main" prst="ellipse">
            <a:avLst/>
          </a:prstGeom>
          <a:solidFill xmlns:a="http://schemas.openxmlformats.org/drawingml/2006/main">
            <a:srgbClr val="7A5C9E"/>
          </a:solidFill>
          <a:ln xmlns:a="http://schemas.openxmlformats.org/drawingml/2006/main" w="21023">
            <a:solidFill>
              <a:srgbClr val="7A5C9E"/>
            </a:solidFill>
          </a:ln>
        </p:spPr>
      </p:sp>
      <p:sp>
        <p:nvSpPr>
          <p:cNvPr id="26" name="Diagram label: G0">
            <a:extLst xmlns:a="http://schemas.openxmlformats.org/drawingml/2006/main">
              <a:ext uri="{FF2B5EF4-FFF2-40B4-BE49-F238E27FC236}">
                <a16:creationId xmlns:a16="http://schemas.microsoft.com/office/drawing/2014/main" id="{ABDF466B-837B-4724-AC6D-B604E5A7E6F1}"/>
              </a:ext>
            </a:extLst>
          </p:cNvPr>
          <p:cNvSpPr>
            <a:spLocks xmlns:a="http://schemas.openxmlformats.org/drawingml/2006/main" noGrp="1"/>
          </p:cNvSpPr>
          <p:nvPr/>
        </p:nvSpPr>
        <p:spPr>
          <a:xfrm xmlns:a="http://schemas.openxmlformats.org/drawingml/2006/main">
            <a:off x="3608274" y="5071382"/>
            <a:ext cx="91099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G0</a:t>
            </a:r>
          </a:p>
        </p:txBody>
      </p:sp>
      <p:sp>
        <p:nvSpPr>
          <p:cNvPr id="27" name="Diagram label: 34">
            <a:extLst xmlns:a="http://schemas.openxmlformats.org/drawingml/2006/main">
              <a:ext uri="{FF2B5EF4-FFF2-40B4-BE49-F238E27FC236}">
                <a16:creationId xmlns:a16="http://schemas.microsoft.com/office/drawing/2014/main" id="{365535BD-19E0-46C7-9458-F652DEC0389E}"/>
              </a:ext>
            </a:extLst>
          </p:cNvPr>
          <p:cNvSpPr>
            <a:spLocks xmlns:a="http://schemas.openxmlformats.org/drawingml/2006/main" noGrp="1"/>
          </p:cNvSpPr>
          <p:nvPr/>
        </p:nvSpPr>
        <p:spPr>
          <a:xfrm xmlns:a="http://schemas.openxmlformats.org/drawingml/2006/main">
            <a:off x="3853543" y="4167392"/>
            <a:ext cx="42046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34</a:t>
            </a:r>
          </a:p>
        </p:txBody>
      </p:sp>
      <p:sp>
        <p:nvSpPr>
          <p:cNvPr id="28" name="Editable scientific diagram">
            <a:extLst xmlns:a="http://schemas.openxmlformats.org/drawingml/2006/main">
              <a:ext uri="{FF2B5EF4-FFF2-40B4-BE49-F238E27FC236}">
                <a16:creationId xmlns:a16="http://schemas.microsoft.com/office/drawing/2014/main" id="{9F003B39-E9D8-4B31-AA80-67A4F660A86F}"/>
              </a:ext>
            </a:extLst>
          </p:cNvPr>
          <p:cNvSpPr>
            <a:spLocks xmlns:a="http://schemas.openxmlformats.org/drawingml/2006/main" noGrp="1"/>
          </p:cNvSpPr>
          <p:nvPr/>
        </p:nvSpPr>
        <p:spPr>
          <a:xfrm xmlns:a="http://schemas.openxmlformats.org/drawingml/2006/main">
            <a:off x="5486332" y="3964169"/>
            <a:ext cx="98108" cy="98108"/>
          </a:xfrm>
          <a:prstGeom xmlns:a="http://schemas.openxmlformats.org/drawingml/2006/main" prst="ellipse">
            <a:avLst/>
          </a:prstGeom>
          <a:solidFill xmlns:a="http://schemas.openxmlformats.org/drawingml/2006/main">
            <a:srgbClr val="7A5C9E"/>
          </a:solidFill>
          <a:ln xmlns:a="http://schemas.openxmlformats.org/drawingml/2006/main" w="21023">
            <a:solidFill>
              <a:srgbClr val="7A5C9E"/>
            </a:solidFill>
          </a:ln>
        </p:spPr>
      </p:sp>
      <p:sp>
        <p:nvSpPr>
          <p:cNvPr id="29" name="Diagram label: G1">
            <a:extLst xmlns:a="http://schemas.openxmlformats.org/drawingml/2006/main">
              <a:ext uri="{FF2B5EF4-FFF2-40B4-BE49-F238E27FC236}">
                <a16:creationId xmlns:a16="http://schemas.microsoft.com/office/drawing/2014/main" id="{068E99EB-EE75-404E-A012-787DFDEFF35C}"/>
              </a:ext>
            </a:extLst>
          </p:cNvPr>
          <p:cNvSpPr>
            <a:spLocks xmlns:a="http://schemas.openxmlformats.org/drawingml/2006/main" noGrp="1"/>
          </p:cNvSpPr>
          <p:nvPr/>
        </p:nvSpPr>
        <p:spPr>
          <a:xfrm xmlns:a="http://schemas.openxmlformats.org/drawingml/2006/main">
            <a:off x="5079887" y="5071382"/>
            <a:ext cx="91099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G1</a:t>
            </a:r>
          </a:p>
        </p:txBody>
      </p:sp>
      <p:sp>
        <p:nvSpPr>
          <p:cNvPr id="30" name="Diagram label: 39">
            <a:extLst xmlns:a="http://schemas.openxmlformats.org/drawingml/2006/main">
              <a:ext uri="{FF2B5EF4-FFF2-40B4-BE49-F238E27FC236}">
                <a16:creationId xmlns:a16="http://schemas.microsoft.com/office/drawing/2014/main" id="{D2E40D3B-42E2-43A7-8E14-3967B7730D9E}"/>
              </a:ext>
            </a:extLst>
          </p:cNvPr>
          <p:cNvSpPr>
            <a:spLocks xmlns:a="http://schemas.openxmlformats.org/drawingml/2006/main" noGrp="1"/>
          </p:cNvSpPr>
          <p:nvPr/>
        </p:nvSpPr>
        <p:spPr>
          <a:xfrm xmlns:a="http://schemas.openxmlformats.org/drawingml/2006/main">
            <a:off x="5325155" y="3676854"/>
            <a:ext cx="42046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39</a:t>
            </a:r>
          </a:p>
        </p:txBody>
      </p:sp>
      <p:sp>
        <p:nvSpPr>
          <p:cNvPr id="31" name="Editable scientific diagram">
            <a:extLst xmlns:a="http://schemas.openxmlformats.org/drawingml/2006/main">
              <a:ext uri="{FF2B5EF4-FFF2-40B4-BE49-F238E27FC236}">
                <a16:creationId xmlns:a16="http://schemas.microsoft.com/office/drawing/2014/main" id="{86A2FE30-D15C-4C00-BC7C-951045463BF3}"/>
              </a:ext>
            </a:extLst>
          </p:cNvPr>
          <p:cNvSpPr>
            <a:spLocks xmlns:a="http://schemas.openxmlformats.org/drawingml/2006/main" noGrp="1"/>
          </p:cNvSpPr>
          <p:nvPr/>
        </p:nvSpPr>
        <p:spPr>
          <a:xfrm xmlns:a="http://schemas.openxmlformats.org/drawingml/2006/main">
            <a:off x="6957944" y="3571739"/>
            <a:ext cx="98108" cy="98108"/>
          </a:xfrm>
          <a:prstGeom xmlns:a="http://schemas.openxmlformats.org/drawingml/2006/main" prst="ellipse">
            <a:avLst/>
          </a:prstGeom>
          <a:solidFill xmlns:a="http://schemas.openxmlformats.org/drawingml/2006/main">
            <a:srgbClr val="7A5C9E"/>
          </a:solidFill>
          <a:ln xmlns:a="http://schemas.openxmlformats.org/drawingml/2006/main" w="21023">
            <a:solidFill>
              <a:srgbClr val="7A5C9E"/>
            </a:solidFill>
          </a:ln>
        </p:spPr>
      </p:sp>
      <p:sp>
        <p:nvSpPr>
          <p:cNvPr id="32" name="Diagram label: G2">
            <a:extLst xmlns:a="http://schemas.openxmlformats.org/drawingml/2006/main">
              <a:ext uri="{FF2B5EF4-FFF2-40B4-BE49-F238E27FC236}">
                <a16:creationId xmlns:a16="http://schemas.microsoft.com/office/drawing/2014/main" id="{18F34F79-A29E-4430-B006-2A124059DDD1}"/>
              </a:ext>
            </a:extLst>
          </p:cNvPr>
          <p:cNvSpPr>
            <a:spLocks xmlns:a="http://schemas.openxmlformats.org/drawingml/2006/main" noGrp="1"/>
          </p:cNvSpPr>
          <p:nvPr/>
        </p:nvSpPr>
        <p:spPr>
          <a:xfrm xmlns:a="http://schemas.openxmlformats.org/drawingml/2006/main">
            <a:off x="6551499" y="5071382"/>
            <a:ext cx="91099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G2</a:t>
            </a:r>
          </a:p>
        </p:txBody>
      </p:sp>
      <p:sp>
        <p:nvSpPr>
          <p:cNvPr id="33" name="Diagram label: 43">
            <a:extLst xmlns:a="http://schemas.openxmlformats.org/drawingml/2006/main">
              <a:ext uri="{FF2B5EF4-FFF2-40B4-BE49-F238E27FC236}">
                <a16:creationId xmlns:a16="http://schemas.microsoft.com/office/drawing/2014/main" id="{346BA45A-491C-4505-9359-4EC49A4789E8}"/>
              </a:ext>
            </a:extLst>
          </p:cNvPr>
          <p:cNvSpPr>
            <a:spLocks xmlns:a="http://schemas.openxmlformats.org/drawingml/2006/main" noGrp="1"/>
          </p:cNvSpPr>
          <p:nvPr/>
        </p:nvSpPr>
        <p:spPr>
          <a:xfrm xmlns:a="http://schemas.openxmlformats.org/drawingml/2006/main">
            <a:off x="6796768" y="3284424"/>
            <a:ext cx="42046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43</a:t>
            </a:r>
          </a:p>
        </p:txBody>
      </p:sp>
      <p:sp>
        <p:nvSpPr>
          <p:cNvPr id="34" name="Editable scientific diagram">
            <a:extLst xmlns:a="http://schemas.openxmlformats.org/drawingml/2006/main">
              <a:ext uri="{FF2B5EF4-FFF2-40B4-BE49-F238E27FC236}">
                <a16:creationId xmlns:a16="http://schemas.microsoft.com/office/drawing/2014/main" id="{75F1CE43-2849-4D89-AC60-346D7684B2CC}"/>
              </a:ext>
            </a:extLst>
          </p:cNvPr>
          <p:cNvSpPr>
            <a:spLocks xmlns:a="http://schemas.openxmlformats.org/drawingml/2006/main" noGrp="1"/>
          </p:cNvSpPr>
          <p:nvPr/>
        </p:nvSpPr>
        <p:spPr>
          <a:xfrm xmlns:a="http://schemas.openxmlformats.org/drawingml/2006/main">
            <a:off x="8429557" y="3473631"/>
            <a:ext cx="98108" cy="98108"/>
          </a:xfrm>
          <a:prstGeom xmlns:a="http://schemas.openxmlformats.org/drawingml/2006/main" prst="ellipse">
            <a:avLst/>
          </a:prstGeom>
          <a:solidFill xmlns:a="http://schemas.openxmlformats.org/drawingml/2006/main">
            <a:srgbClr val="7A5C9E"/>
          </a:solidFill>
          <a:ln xmlns:a="http://schemas.openxmlformats.org/drawingml/2006/main" w="21023">
            <a:solidFill>
              <a:srgbClr val="7A5C9E"/>
            </a:solidFill>
          </a:ln>
        </p:spPr>
      </p:sp>
      <p:sp>
        <p:nvSpPr>
          <p:cNvPr id="35" name="Diagram label: G3">
            <a:extLst xmlns:a="http://schemas.openxmlformats.org/drawingml/2006/main">
              <a:ext uri="{FF2B5EF4-FFF2-40B4-BE49-F238E27FC236}">
                <a16:creationId xmlns:a16="http://schemas.microsoft.com/office/drawing/2014/main" id="{B04BA8EB-DFA7-458B-8F4C-F8E5C23FCE7E}"/>
              </a:ext>
            </a:extLst>
          </p:cNvPr>
          <p:cNvSpPr>
            <a:spLocks xmlns:a="http://schemas.openxmlformats.org/drawingml/2006/main" noGrp="1"/>
          </p:cNvSpPr>
          <p:nvPr/>
        </p:nvSpPr>
        <p:spPr>
          <a:xfrm xmlns:a="http://schemas.openxmlformats.org/drawingml/2006/main">
            <a:off x="8023112" y="5071382"/>
            <a:ext cx="910998"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G3</a:t>
            </a:r>
          </a:p>
        </p:txBody>
      </p:sp>
      <p:sp>
        <p:nvSpPr>
          <p:cNvPr id="36" name="Diagram label: 44">
            <a:extLst xmlns:a="http://schemas.openxmlformats.org/drawingml/2006/main">
              <a:ext uri="{FF2B5EF4-FFF2-40B4-BE49-F238E27FC236}">
                <a16:creationId xmlns:a16="http://schemas.microsoft.com/office/drawing/2014/main" id="{C80771F5-0734-4992-935C-9B7A7F947F4E}"/>
              </a:ext>
            </a:extLst>
          </p:cNvPr>
          <p:cNvSpPr>
            <a:spLocks xmlns:a="http://schemas.openxmlformats.org/drawingml/2006/main" noGrp="1"/>
          </p:cNvSpPr>
          <p:nvPr/>
        </p:nvSpPr>
        <p:spPr>
          <a:xfrm xmlns:a="http://schemas.openxmlformats.org/drawingml/2006/main">
            <a:off x="8268380" y="3186317"/>
            <a:ext cx="42046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44</a:t>
            </a:r>
          </a:p>
        </p:txBody>
      </p:sp>
      <p:sp>
        <p:nvSpPr>
          <p:cNvPr id="37" name="Diagram line">
            <a:extLst xmlns:a="http://schemas.openxmlformats.org/drawingml/2006/main">
              <a:ext uri="{FF2B5EF4-FFF2-40B4-BE49-F238E27FC236}">
                <a16:creationId xmlns:a16="http://schemas.microsoft.com/office/drawing/2014/main" id="{04C023A1-5201-467A-862C-8B1AA871BB84}"/>
              </a:ext>
            </a:extLst>
          </p:cNvPr>
          <p:cNvSpPr>
            <a:spLocks xmlns:a="http://schemas.openxmlformats.org/drawingml/2006/main" noGrp="1"/>
          </p:cNvSpPr>
          <p:nvPr/>
        </p:nvSpPr>
        <p:spPr>
          <a:xfrm xmlns:a="http://schemas.openxmlformats.org/drawingml/2006/main" flipH="0" flipV="1">
            <a:off x="4063773" y="4013223"/>
            <a:ext cx="1471613" cy="490538"/>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38" name="Diagram line">
            <a:extLst xmlns:a="http://schemas.openxmlformats.org/drawingml/2006/main">
              <a:ext uri="{FF2B5EF4-FFF2-40B4-BE49-F238E27FC236}">
                <a16:creationId xmlns:a16="http://schemas.microsoft.com/office/drawing/2014/main" id="{9E39CE1B-DC5B-43B4-B81F-75840475CB26}"/>
              </a:ext>
            </a:extLst>
          </p:cNvPr>
          <p:cNvSpPr>
            <a:spLocks xmlns:a="http://schemas.openxmlformats.org/drawingml/2006/main" noGrp="1"/>
          </p:cNvSpPr>
          <p:nvPr/>
        </p:nvSpPr>
        <p:spPr>
          <a:xfrm xmlns:a="http://schemas.openxmlformats.org/drawingml/2006/main" flipH="0" flipV="1">
            <a:off x="5535386" y="3620793"/>
            <a:ext cx="1471613" cy="392430"/>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39" name="Diagram line">
            <a:extLst xmlns:a="http://schemas.openxmlformats.org/drawingml/2006/main">
              <a:ext uri="{FF2B5EF4-FFF2-40B4-BE49-F238E27FC236}">
                <a16:creationId xmlns:a16="http://schemas.microsoft.com/office/drawing/2014/main" id="{86ED4E83-3E56-48CA-825B-12C7D595598F}"/>
              </a:ext>
            </a:extLst>
          </p:cNvPr>
          <p:cNvSpPr>
            <a:spLocks xmlns:a="http://schemas.openxmlformats.org/drawingml/2006/main" noGrp="1"/>
          </p:cNvSpPr>
          <p:nvPr/>
        </p:nvSpPr>
        <p:spPr>
          <a:xfrm xmlns:a="http://schemas.openxmlformats.org/drawingml/2006/main" flipH="0" flipV="1">
            <a:off x="7006998" y="3522685"/>
            <a:ext cx="1471613" cy="98108"/>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40" name="Diagram label: Generation (G)">
            <a:extLst xmlns:a="http://schemas.openxmlformats.org/drawingml/2006/main">
              <a:ext uri="{FF2B5EF4-FFF2-40B4-BE49-F238E27FC236}">
                <a16:creationId xmlns:a16="http://schemas.microsoft.com/office/drawing/2014/main" id="{6A2D8072-A8CB-48E9-A184-0CD51EB92185}"/>
              </a:ext>
            </a:extLst>
          </p:cNvPr>
          <p:cNvSpPr>
            <a:spLocks xmlns:a="http://schemas.openxmlformats.org/drawingml/2006/main" noGrp="1"/>
          </p:cNvSpPr>
          <p:nvPr/>
        </p:nvSpPr>
        <p:spPr>
          <a:xfrm xmlns:a="http://schemas.openxmlformats.org/drawingml/2006/main">
            <a:off x="4694464" y="5421766"/>
            <a:ext cx="3153455" cy="210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Generation (G)</a:t>
            </a:r>
          </a:p>
        </p:txBody>
      </p:sp>
      <p:sp>
        <p:nvSpPr>
          <p:cNvPr id="41" name="The population mean can shift after selection.  G0 to G3: 34 g t">
            <a:extLst xmlns:a="http://schemas.openxmlformats.org/drawingml/2006/main">
              <a:ext uri="{FF2B5EF4-FFF2-40B4-BE49-F238E27FC236}">
                <a16:creationId xmlns:a16="http://schemas.microsoft.com/office/drawing/2014/main" id="{77B21663-D71F-4DFB-8DF1-51E4614ABC2F}"/>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The population mean can shift after selection. G0 to G3: 34 g to 44 g per plant. A trend is not a guarantee for</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every plant.</a:t>
            </a:r>
          </a:p>
        </p:txBody>
      </p:sp>
    </p:spTree>
    <p:extLst>
      <p:ext uri="{BB962C8B-B14F-4D97-AF65-F5344CB8AC3E}">
        <p14:creationId xmlns:p14="http://schemas.microsoft.com/office/powerpoint/2010/main" val="4034430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urface">
            <a:extLst xmlns:a="http://schemas.openxmlformats.org/drawingml/2006/main">
              <a:ext uri="{FF2B5EF4-FFF2-40B4-BE49-F238E27FC236}">
                <a16:creationId xmlns:a16="http://schemas.microsoft.com/office/drawing/2014/main" id="{95DEEBE9-7134-4225-B586-41658EFC812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B4291EA-048D-4E5B-A202-3ED5FE5752F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00B3C90-ABAE-44C0-8B6E-AA1F1CC7309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4BF2B14E-4744-474A-8B99-B636F2B878A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3D0804A3-B2CB-431B-9EF8-6B0306352DB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Protect useful variation">
            <a:extLst xmlns:a="http://schemas.openxmlformats.org/drawingml/2006/main">
              <a:ext uri="{FF2B5EF4-FFF2-40B4-BE49-F238E27FC236}">
                <a16:creationId xmlns:a16="http://schemas.microsoft.com/office/drawing/2014/main" id="{028615DF-B9B0-4FB1-BAFD-B1E9F21A978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Protect useful variation</a:t>
            </a:r>
          </a:p>
        </p:txBody>
      </p:sp>
      <p:sp>
        <p:nvSpPr>
          <p:cNvPr id="7" name="surface">
            <a:extLst xmlns:a="http://schemas.openxmlformats.org/drawingml/2006/main">
              <a:ext uri="{FF2B5EF4-FFF2-40B4-BE49-F238E27FC236}">
                <a16:creationId xmlns:a16="http://schemas.microsoft.com/office/drawing/2014/main" id="{C7EF2858-4E29-4816-8664-8DC1A68BBC4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elective breeding: design a resilient crop">
            <a:extLst xmlns:a="http://schemas.openxmlformats.org/drawingml/2006/main">
              <a:ext uri="{FF2B5EF4-FFF2-40B4-BE49-F238E27FC236}">
                <a16:creationId xmlns:a16="http://schemas.microsoft.com/office/drawing/2014/main" id="{B31210E8-C5EE-4CB5-B49F-ED945F5B67D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9" name="6 / 15">
            <a:extLst xmlns:a="http://schemas.openxmlformats.org/drawingml/2006/main">
              <a:ext uri="{FF2B5EF4-FFF2-40B4-BE49-F238E27FC236}">
                <a16:creationId xmlns:a16="http://schemas.microsoft.com/office/drawing/2014/main" id="{4F337AEB-5186-419F-865B-7D8B17E861B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0" name="Diagram label: Select useful traits and protect diversity">
            <a:extLst xmlns:a="http://schemas.openxmlformats.org/drawingml/2006/main">
              <a:ext uri="{FF2B5EF4-FFF2-40B4-BE49-F238E27FC236}">
                <a16:creationId xmlns:a16="http://schemas.microsoft.com/office/drawing/2014/main" id="{CC114D2D-B098-4E76-9820-6A162788A2BA}"/>
              </a:ext>
            </a:extLst>
          </p:cNvPr>
          <p:cNvSpPr>
            <a:spLocks xmlns:a="http://schemas.openxmlformats.org/drawingml/2006/main" noGrp="1"/>
          </p:cNvSpPr>
          <p:nvPr/>
        </p:nvSpPr>
        <p:spPr>
          <a:xfrm xmlns:a="http://schemas.openxmlformats.org/drawingml/2006/main">
            <a:off x="2837429" y="1988004"/>
            <a:ext cx="651714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11" b="1">
                <a:solidFill>
                  <a:srgbClr val="1F2937"/>
                </a:solidFill>
                <a:latin typeface="Nimbus Sans"/>
                <a:ea typeface="Nimbus Sans"/>
                <a:cs typeface="Nimbus Sans"/>
              </a:defRPr>
            </a:pPr>
            <a:r>
              <a:rPr sz="1711" b="1">
                <a:solidFill>
                  <a:srgbClr val="1F2937"/>
                </a:solidFill>
                <a:latin typeface="Nimbus Sans"/>
                <a:ea typeface="Nimbus Sans"/>
                <a:cs typeface="Nimbus Sans"/>
              </a:rPr>
              <a:t>Select useful traits and protect diversity</a:t>
            </a:r>
          </a:p>
        </p:txBody>
      </p:sp>
      <p:sp>
        <p:nvSpPr>
          <p:cNvPr id="11" name="Editable scientific diagram">
            <a:extLst xmlns:a="http://schemas.openxmlformats.org/drawingml/2006/main">
              <a:ext uri="{FF2B5EF4-FFF2-40B4-BE49-F238E27FC236}">
                <a16:creationId xmlns:a16="http://schemas.microsoft.com/office/drawing/2014/main" id="{06E632AF-4C74-439E-9726-B8504B5EB012}"/>
              </a:ext>
            </a:extLst>
          </p:cNvPr>
          <p:cNvSpPr>
            <a:spLocks xmlns:a="http://schemas.openxmlformats.org/drawingml/2006/main" noGrp="1"/>
          </p:cNvSpPr>
          <p:nvPr/>
        </p:nvSpPr>
        <p:spPr>
          <a:xfrm xmlns:a="http://schemas.openxmlformats.org/drawingml/2006/main">
            <a:off x="2942545" y="2583656"/>
            <a:ext cx="2943225" cy="2312534"/>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2" name="Editable scientific diagram">
            <a:extLst xmlns:a="http://schemas.openxmlformats.org/drawingml/2006/main">
              <a:ext uri="{FF2B5EF4-FFF2-40B4-BE49-F238E27FC236}">
                <a16:creationId xmlns:a16="http://schemas.microsoft.com/office/drawing/2014/main" id="{44FB55C9-E051-4111-B54E-8B0869C719ED}"/>
              </a:ext>
            </a:extLst>
          </p:cNvPr>
          <p:cNvSpPr>
            <a:spLocks xmlns:a="http://schemas.openxmlformats.org/drawingml/2006/main" noGrp="1"/>
          </p:cNvSpPr>
          <p:nvPr/>
        </p:nvSpPr>
        <p:spPr>
          <a:xfrm xmlns:a="http://schemas.openxmlformats.org/drawingml/2006/main">
            <a:off x="6306230" y="2583656"/>
            <a:ext cx="2943225" cy="2312534"/>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3" name="Diagram label: Repeated close&#10;relatives">
            <a:extLst xmlns:a="http://schemas.openxmlformats.org/drawingml/2006/main">
              <a:ext uri="{FF2B5EF4-FFF2-40B4-BE49-F238E27FC236}">
                <a16:creationId xmlns:a16="http://schemas.microsoft.com/office/drawing/2014/main" id="{92E13281-942A-41F9-91D3-5134A85FCDBB}"/>
              </a:ext>
            </a:extLst>
          </p:cNvPr>
          <p:cNvSpPr>
            <a:spLocks xmlns:a="http://schemas.openxmlformats.org/drawingml/2006/main" noGrp="1"/>
          </p:cNvSpPr>
          <p:nvPr/>
        </p:nvSpPr>
        <p:spPr>
          <a:xfrm xmlns:a="http://schemas.openxmlformats.org/drawingml/2006/main">
            <a:off x="3082698" y="2723810"/>
            <a:ext cx="2662918" cy="560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Repeated close</a:t>
            </a:r>
          </a:p>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relatives</a:t>
            </a:r>
          </a:p>
        </p:txBody>
      </p:sp>
      <p:sp>
        <p:nvSpPr>
          <p:cNvPr id="14" name="Diagram label: Several suitable&#10;family lines">
            <a:extLst xmlns:a="http://schemas.openxmlformats.org/drawingml/2006/main">
              <a:ext uri="{FF2B5EF4-FFF2-40B4-BE49-F238E27FC236}">
                <a16:creationId xmlns:a16="http://schemas.microsoft.com/office/drawing/2014/main" id="{A3653815-D0B6-46A9-B439-9FCA5739C5CC}"/>
              </a:ext>
            </a:extLst>
          </p:cNvPr>
          <p:cNvSpPr>
            <a:spLocks xmlns:a="http://schemas.openxmlformats.org/drawingml/2006/main" noGrp="1"/>
          </p:cNvSpPr>
          <p:nvPr/>
        </p:nvSpPr>
        <p:spPr>
          <a:xfrm xmlns:a="http://schemas.openxmlformats.org/drawingml/2006/main">
            <a:off x="6446384" y="2723810"/>
            <a:ext cx="2662918" cy="5606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Several suitable</a:t>
            </a:r>
          </a:p>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family lines</a:t>
            </a:r>
          </a:p>
        </p:txBody>
      </p:sp>
      <p:sp>
        <p:nvSpPr>
          <p:cNvPr id="15" name="Editable scientific diagram">
            <a:extLst xmlns:a="http://schemas.openxmlformats.org/drawingml/2006/main">
              <a:ext uri="{FF2B5EF4-FFF2-40B4-BE49-F238E27FC236}">
                <a16:creationId xmlns:a16="http://schemas.microsoft.com/office/drawing/2014/main" id="{C143846A-F87D-44BB-9CDC-84ED2B530E07}"/>
              </a:ext>
            </a:extLst>
          </p:cNvPr>
          <p:cNvSpPr>
            <a:spLocks xmlns:a="http://schemas.openxmlformats.org/drawingml/2006/main" noGrp="1"/>
          </p:cNvSpPr>
          <p:nvPr/>
        </p:nvSpPr>
        <p:spPr>
          <a:xfrm xmlns:a="http://schemas.openxmlformats.org/drawingml/2006/main">
            <a:off x="3398044" y="3494654"/>
            <a:ext cx="665729" cy="525576"/>
          </a:xfrm>
          <a:prstGeom xmlns:a="http://schemas.openxmlformats.org/drawingml/2006/main" prst="ellipse">
            <a:avLst/>
          </a:prstGeom>
          <a:solidFill xmlns:a="http://schemas.openxmlformats.org/drawingml/2006/main">
            <a:srgbClr val="F0EBF5"/>
          </a:solidFill>
          <a:ln xmlns:a="http://schemas.openxmlformats.org/drawingml/2006/main" w="21023">
            <a:solidFill>
              <a:srgbClr val="7A5C9E"/>
            </a:solidFill>
          </a:ln>
        </p:spPr>
      </p:sp>
      <p:sp>
        <p:nvSpPr>
          <p:cNvPr id="16" name="Diagram label: F1">
            <a:extLst xmlns:a="http://schemas.openxmlformats.org/drawingml/2006/main">
              <a:ext uri="{FF2B5EF4-FFF2-40B4-BE49-F238E27FC236}">
                <a16:creationId xmlns:a16="http://schemas.microsoft.com/office/drawing/2014/main" id="{215341C0-8EBE-4B30-99B9-BBA4E9BB5447}"/>
              </a:ext>
            </a:extLst>
          </p:cNvPr>
          <p:cNvSpPr>
            <a:spLocks xmlns:a="http://schemas.openxmlformats.org/drawingml/2006/main" noGrp="1"/>
          </p:cNvSpPr>
          <p:nvPr/>
        </p:nvSpPr>
        <p:spPr>
          <a:xfrm xmlns:a="http://schemas.openxmlformats.org/drawingml/2006/main">
            <a:off x="3468121" y="3606777"/>
            <a:ext cx="525576"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F1</a:t>
            </a:r>
          </a:p>
        </p:txBody>
      </p:sp>
      <p:sp>
        <p:nvSpPr>
          <p:cNvPr id="17" name="Editable scientific diagram">
            <a:extLst xmlns:a="http://schemas.openxmlformats.org/drawingml/2006/main">
              <a:ext uri="{FF2B5EF4-FFF2-40B4-BE49-F238E27FC236}">
                <a16:creationId xmlns:a16="http://schemas.microsoft.com/office/drawing/2014/main" id="{BCC01574-AC7D-4F29-ACD8-EAE17C4CC75C}"/>
              </a:ext>
            </a:extLst>
          </p:cNvPr>
          <p:cNvSpPr>
            <a:spLocks xmlns:a="http://schemas.openxmlformats.org/drawingml/2006/main" noGrp="1"/>
          </p:cNvSpPr>
          <p:nvPr/>
        </p:nvSpPr>
        <p:spPr>
          <a:xfrm xmlns:a="http://schemas.openxmlformats.org/drawingml/2006/main">
            <a:off x="4694464" y="3494654"/>
            <a:ext cx="665729" cy="525576"/>
          </a:xfrm>
          <a:prstGeom xmlns:a="http://schemas.openxmlformats.org/drawingml/2006/main" prst="ellipse">
            <a:avLst/>
          </a:prstGeom>
          <a:solidFill xmlns:a="http://schemas.openxmlformats.org/drawingml/2006/main">
            <a:srgbClr val="F0EBF5"/>
          </a:solidFill>
          <a:ln xmlns:a="http://schemas.openxmlformats.org/drawingml/2006/main" w="21023">
            <a:solidFill>
              <a:srgbClr val="7A5C9E"/>
            </a:solidFill>
          </a:ln>
        </p:spPr>
      </p:sp>
      <p:sp>
        <p:nvSpPr>
          <p:cNvPr id="18" name="Diagram label: F1">
            <a:extLst xmlns:a="http://schemas.openxmlformats.org/drawingml/2006/main">
              <a:ext uri="{FF2B5EF4-FFF2-40B4-BE49-F238E27FC236}">
                <a16:creationId xmlns:a16="http://schemas.microsoft.com/office/drawing/2014/main" id="{0F3DB903-0283-4342-B43C-BBFB5B7EC792}"/>
              </a:ext>
            </a:extLst>
          </p:cNvPr>
          <p:cNvSpPr>
            <a:spLocks xmlns:a="http://schemas.openxmlformats.org/drawingml/2006/main" noGrp="1"/>
          </p:cNvSpPr>
          <p:nvPr/>
        </p:nvSpPr>
        <p:spPr>
          <a:xfrm xmlns:a="http://schemas.openxmlformats.org/drawingml/2006/main">
            <a:off x="4764541" y="3606777"/>
            <a:ext cx="525576"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F1</a:t>
            </a:r>
          </a:p>
        </p:txBody>
      </p:sp>
      <p:sp>
        <p:nvSpPr>
          <p:cNvPr id="19" name="Editable scientific diagram">
            <a:extLst xmlns:a="http://schemas.openxmlformats.org/drawingml/2006/main">
              <a:ext uri="{FF2B5EF4-FFF2-40B4-BE49-F238E27FC236}">
                <a16:creationId xmlns:a16="http://schemas.microsoft.com/office/drawing/2014/main" id="{B3482017-45DF-4FE2-B326-7F816174D5DE}"/>
              </a:ext>
            </a:extLst>
          </p:cNvPr>
          <p:cNvSpPr>
            <a:spLocks xmlns:a="http://schemas.openxmlformats.org/drawingml/2006/main" noGrp="1"/>
          </p:cNvSpPr>
          <p:nvPr/>
        </p:nvSpPr>
        <p:spPr>
          <a:xfrm xmlns:a="http://schemas.openxmlformats.org/drawingml/2006/main">
            <a:off x="6726691" y="3494654"/>
            <a:ext cx="665729" cy="525576"/>
          </a:xfrm>
          <a:prstGeom xmlns:a="http://schemas.openxmlformats.org/drawingml/2006/main" prst="ellipse">
            <a:avLst/>
          </a:prstGeom>
          <a:solidFill xmlns:a="http://schemas.openxmlformats.org/drawingml/2006/main">
            <a:srgbClr val="F0EBF5"/>
          </a:solidFill>
          <a:ln xmlns:a="http://schemas.openxmlformats.org/drawingml/2006/main" w="21023">
            <a:solidFill>
              <a:srgbClr val="7A5C9E"/>
            </a:solidFill>
          </a:ln>
        </p:spPr>
      </p:sp>
      <p:sp>
        <p:nvSpPr>
          <p:cNvPr id="20" name="Diagram label: F1">
            <a:extLst xmlns:a="http://schemas.openxmlformats.org/drawingml/2006/main">
              <a:ext uri="{FF2B5EF4-FFF2-40B4-BE49-F238E27FC236}">
                <a16:creationId xmlns:a16="http://schemas.microsoft.com/office/drawing/2014/main" id="{CA523780-BBFD-4CF1-AE01-7C8CD2791924}"/>
              </a:ext>
            </a:extLst>
          </p:cNvPr>
          <p:cNvSpPr>
            <a:spLocks xmlns:a="http://schemas.openxmlformats.org/drawingml/2006/main" noGrp="1"/>
          </p:cNvSpPr>
          <p:nvPr/>
        </p:nvSpPr>
        <p:spPr>
          <a:xfrm xmlns:a="http://schemas.openxmlformats.org/drawingml/2006/main">
            <a:off x="6796768" y="3606777"/>
            <a:ext cx="525576"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F1</a:t>
            </a:r>
          </a:p>
        </p:txBody>
      </p:sp>
      <p:sp>
        <p:nvSpPr>
          <p:cNvPr id="21" name="Editable scientific diagram">
            <a:extLst xmlns:a="http://schemas.openxmlformats.org/drawingml/2006/main">
              <a:ext uri="{FF2B5EF4-FFF2-40B4-BE49-F238E27FC236}">
                <a16:creationId xmlns:a16="http://schemas.microsoft.com/office/drawing/2014/main" id="{F8B7DF62-3370-46D4-9C4E-C82D24EE447F}"/>
              </a:ext>
            </a:extLst>
          </p:cNvPr>
          <p:cNvSpPr>
            <a:spLocks xmlns:a="http://schemas.openxmlformats.org/drawingml/2006/main" noGrp="1"/>
          </p:cNvSpPr>
          <p:nvPr/>
        </p:nvSpPr>
        <p:spPr>
          <a:xfrm xmlns:a="http://schemas.openxmlformats.org/drawingml/2006/main">
            <a:off x="7602651" y="3494654"/>
            <a:ext cx="665729" cy="525576"/>
          </a:xfrm>
          <a:prstGeom xmlns:a="http://schemas.openxmlformats.org/drawingml/2006/main" prst="ellipse">
            <a:avLst/>
          </a:prstGeom>
          <a:solidFill xmlns:a="http://schemas.openxmlformats.org/drawingml/2006/main">
            <a:srgbClr val="F0EBF5"/>
          </a:solidFill>
          <a:ln xmlns:a="http://schemas.openxmlformats.org/drawingml/2006/main" w="21023">
            <a:solidFill>
              <a:srgbClr val="7A5C9E"/>
            </a:solidFill>
          </a:ln>
        </p:spPr>
      </p:sp>
      <p:sp>
        <p:nvSpPr>
          <p:cNvPr id="22" name="Diagram label: F2">
            <a:extLst xmlns:a="http://schemas.openxmlformats.org/drawingml/2006/main">
              <a:ext uri="{FF2B5EF4-FFF2-40B4-BE49-F238E27FC236}">
                <a16:creationId xmlns:a16="http://schemas.microsoft.com/office/drawing/2014/main" id="{9EA3FA54-848C-4C1B-9688-864DB8AFA592}"/>
              </a:ext>
            </a:extLst>
          </p:cNvPr>
          <p:cNvSpPr>
            <a:spLocks xmlns:a="http://schemas.openxmlformats.org/drawingml/2006/main" noGrp="1"/>
          </p:cNvSpPr>
          <p:nvPr/>
        </p:nvSpPr>
        <p:spPr>
          <a:xfrm xmlns:a="http://schemas.openxmlformats.org/drawingml/2006/main">
            <a:off x="7672728" y="3606777"/>
            <a:ext cx="525576"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F2</a:t>
            </a:r>
          </a:p>
        </p:txBody>
      </p:sp>
      <p:sp>
        <p:nvSpPr>
          <p:cNvPr id="23" name="Editable scientific diagram">
            <a:extLst xmlns:a="http://schemas.openxmlformats.org/drawingml/2006/main">
              <a:ext uri="{FF2B5EF4-FFF2-40B4-BE49-F238E27FC236}">
                <a16:creationId xmlns:a16="http://schemas.microsoft.com/office/drawing/2014/main" id="{FA515294-18A9-4394-B222-D11B6B9EAF28}"/>
              </a:ext>
            </a:extLst>
          </p:cNvPr>
          <p:cNvSpPr>
            <a:spLocks xmlns:a="http://schemas.openxmlformats.org/drawingml/2006/main" noGrp="1"/>
          </p:cNvSpPr>
          <p:nvPr/>
        </p:nvSpPr>
        <p:spPr>
          <a:xfrm xmlns:a="http://schemas.openxmlformats.org/drawingml/2006/main">
            <a:off x="8443572" y="3494654"/>
            <a:ext cx="665729" cy="525576"/>
          </a:xfrm>
          <a:prstGeom xmlns:a="http://schemas.openxmlformats.org/drawingml/2006/main" prst="ellipse">
            <a:avLst/>
          </a:prstGeom>
          <a:solidFill xmlns:a="http://schemas.openxmlformats.org/drawingml/2006/main">
            <a:srgbClr val="F0EBF5"/>
          </a:solidFill>
          <a:ln xmlns:a="http://schemas.openxmlformats.org/drawingml/2006/main" w="21023">
            <a:solidFill>
              <a:srgbClr val="7A5C9E"/>
            </a:solidFill>
          </a:ln>
        </p:spPr>
      </p:sp>
      <p:sp>
        <p:nvSpPr>
          <p:cNvPr id="24" name="Diagram label: F3">
            <a:extLst xmlns:a="http://schemas.openxmlformats.org/drawingml/2006/main">
              <a:ext uri="{FF2B5EF4-FFF2-40B4-BE49-F238E27FC236}">
                <a16:creationId xmlns:a16="http://schemas.microsoft.com/office/drawing/2014/main" id="{EF0AC365-2474-4EBE-97DE-27A0DAD221FF}"/>
              </a:ext>
            </a:extLst>
          </p:cNvPr>
          <p:cNvSpPr>
            <a:spLocks xmlns:a="http://schemas.openxmlformats.org/drawingml/2006/main" noGrp="1"/>
          </p:cNvSpPr>
          <p:nvPr/>
        </p:nvSpPr>
        <p:spPr>
          <a:xfrm xmlns:a="http://schemas.openxmlformats.org/drawingml/2006/main">
            <a:off x="8513649" y="3606777"/>
            <a:ext cx="525576"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F3</a:t>
            </a:r>
          </a:p>
        </p:txBody>
      </p:sp>
      <p:sp>
        <p:nvSpPr>
          <p:cNvPr id="25" name="Diagram label: Can reduce genetic diversity&#10;and increase inbreeding risk.">
            <a:extLst xmlns:a="http://schemas.openxmlformats.org/drawingml/2006/main">
              <a:ext uri="{FF2B5EF4-FFF2-40B4-BE49-F238E27FC236}">
                <a16:creationId xmlns:a16="http://schemas.microsoft.com/office/drawing/2014/main" id="{09F72A50-B572-4D28-A0E4-B6A24374B932}"/>
              </a:ext>
            </a:extLst>
          </p:cNvPr>
          <p:cNvSpPr>
            <a:spLocks xmlns:a="http://schemas.openxmlformats.org/drawingml/2006/main" noGrp="1"/>
          </p:cNvSpPr>
          <p:nvPr/>
        </p:nvSpPr>
        <p:spPr>
          <a:xfrm xmlns:a="http://schemas.openxmlformats.org/drawingml/2006/main">
            <a:off x="3117737" y="4265499"/>
            <a:ext cx="2592841"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Can reduce genetic diversity</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and increase inbreeding risk.</a:t>
            </a:r>
          </a:p>
        </p:txBody>
      </p:sp>
      <p:sp>
        <p:nvSpPr>
          <p:cNvPr id="26" name="Diagram label: Retain useful variation;&#10;still test offspring carefully.">
            <a:extLst xmlns:a="http://schemas.openxmlformats.org/drawingml/2006/main">
              <a:ext uri="{FF2B5EF4-FFF2-40B4-BE49-F238E27FC236}">
                <a16:creationId xmlns:a16="http://schemas.microsoft.com/office/drawing/2014/main" id="{39382CF5-BC11-47F6-88E6-18B2A21568E0}"/>
              </a:ext>
            </a:extLst>
          </p:cNvPr>
          <p:cNvSpPr>
            <a:spLocks xmlns:a="http://schemas.openxmlformats.org/drawingml/2006/main" noGrp="1"/>
          </p:cNvSpPr>
          <p:nvPr/>
        </p:nvSpPr>
        <p:spPr>
          <a:xfrm xmlns:a="http://schemas.openxmlformats.org/drawingml/2006/main">
            <a:off x="6446384" y="4265499"/>
            <a:ext cx="2662918"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Retain useful variation;</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still test offspring carefully.</a:t>
            </a:r>
          </a:p>
        </p:txBody>
      </p:sp>
      <p:sp>
        <p:nvSpPr>
          <p:cNvPr id="27" name="Diagram label: Neither plan guarantees health or future yield.&#10;Family labels are a simplified model.">
            <a:extLst xmlns:a="http://schemas.openxmlformats.org/drawingml/2006/main">
              <a:ext uri="{FF2B5EF4-FFF2-40B4-BE49-F238E27FC236}">
                <a16:creationId xmlns:a16="http://schemas.microsoft.com/office/drawing/2014/main" id="{DE60431D-585E-4EF2-8000-2C66F2C06853}"/>
              </a:ext>
            </a:extLst>
          </p:cNvPr>
          <p:cNvSpPr>
            <a:spLocks xmlns:a="http://schemas.openxmlformats.org/drawingml/2006/main" noGrp="1"/>
          </p:cNvSpPr>
          <p:nvPr/>
        </p:nvSpPr>
        <p:spPr>
          <a:xfrm xmlns:a="http://schemas.openxmlformats.org/drawingml/2006/main">
            <a:off x="2977583" y="5176497"/>
            <a:ext cx="6236834"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Neither plan guarantees health or future yield.</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Family labels are a simplified model.</a:t>
            </a:r>
          </a:p>
        </p:txBody>
      </p:sp>
      <p:sp>
        <p:nvSpPr>
          <p:cNvPr id="28" name="Repeated close-relative breeding can reduce diversity.  Some har">
            <a:extLst xmlns:a="http://schemas.openxmlformats.org/drawingml/2006/main">
              <a:ext uri="{FF2B5EF4-FFF2-40B4-BE49-F238E27FC236}">
                <a16:creationId xmlns:a16="http://schemas.microsoft.com/office/drawing/2014/main" id="{A5C15AA1-700B-4E70-8B12-D690380304CF}"/>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Repeated close-relative breeding can reduce diversity. Some harmful recessive combinations become more</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likely. Retain suitable unrelated lines and check offspring.</a:t>
            </a:r>
          </a:p>
        </p:txBody>
      </p:sp>
    </p:spTree>
    <p:extLst>
      <p:ext uri="{BB962C8B-B14F-4D97-AF65-F5344CB8AC3E}">
        <p14:creationId xmlns:p14="http://schemas.microsoft.com/office/powerpoint/2010/main" val="12059831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55995C0B-A44B-4551-97C3-FD9171875E5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FCF46D9-EB77-4305-9F5A-3D04FB98D52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26D880B-D079-401E-AE16-B637496B3B0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8DB67EFA-D67E-454D-ABB3-00446D7CD3A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7E83D019-059D-4334-846B-7FDFDE94748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7 min">
            <a:extLst xmlns:a="http://schemas.openxmlformats.org/drawingml/2006/main">
              <a:ext uri="{FF2B5EF4-FFF2-40B4-BE49-F238E27FC236}">
                <a16:creationId xmlns:a16="http://schemas.microsoft.com/office/drawing/2014/main" id="{4DD5CB89-4B33-4C5A-9767-C9E6102980B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7 min</a:t>
            </a:r>
          </a:p>
        </p:txBody>
      </p:sp>
      <p:sp>
        <p:nvSpPr>
          <p:cNvPr id="7" name="Breeding round 1: choose the parents">
            <a:extLst xmlns:a="http://schemas.openxmlformats.org/drawingml/2006/main">
              <a:ext uri="{FF2B5EF4-FFF2-40B4-BE49-F238E27FC236}">
                <a16:creationId xmlns:a16="http://schemas.microsoft.com/office/drawing/2014/main" id="{2458F097-4136-4DAA-9182-4477D508E2B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Breeding round 1: choose the parents</a:t>
            </a:r>
          </a:p>
        </p:txBody>
      </p:sp>
      <p:sp>
        <p:nvSpPr>
          <p:cNvPr id="8" name="surface">
            <a:extLst xmlns:a="http://schemas.openxmlformats.org/drawingml/2006/main">
              <a:ext uri="{FF2B5EF4-FFF2-40B4-BE49-F238E27FC236}">
                <a16:creationId xmlns:a16="http://schemas.microsoft.com/office/drawing/2014/main" id="{5CDFA4E7-E360-4402-BDD2-C940EAD6109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C69D05E2-4CC5-4764-9695-7FA1ACD4411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7 / 15">
            <a:extLst xmlns:a="http://schemas.openxmlformats.org/drawingml/2006/main">
              <a:ext uri="{FF2B5EF4-FFF2-40B4-BE49-F238E27FC236}">
                <a16:creationId xmlns:a16="http://schemas.microsoft.com/office/drawing/2014/main" id="{79E25944-06BA-477D-87B9-8FE7252AADB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1" name="W1. Both parents: damage at most 2. At least one parent: yield a">
            <a:extLst xmlns:a="http://schemas.openxmlformats.org/drawingml/2006/main">
              <a:ext uri="{FF2B5EF4-FFF2-40B4-BE49-F238E27FC236}">
                <a16:creationId xmlns:a16="http://schemas.microsoft.com/office/drawing/2014/main" id="{95B2E112-C666-47DA-91BF-7EA0F34ADC03}"/>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W1. Both parents: damage at most 2. At least one parent: yield at least 45 g. Use different family</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lines. Choose and justify.</a:t>
            </a:r>
          </a:p>
        </p:txBody>
      </p:sp>
      <p:graphicFrame>
        <p:nvGraphicFramePr>
          <p:cNvPr id="25" name=""/>
          <p:cNvGraphicFramePr/>
          <p:nvPr/>
        </p:nvGraphicFramePr>
        <p:xfrm>
          <a:off xmlns:a="http://schemas.openxmlformats.org/drawingml/2006/main" x="533400" y="2581275"/>
          <a:ext xmlns:a="http://schemas.openxmlformats.org/drawingml/2006/main" cx="11125200" cy="2526506"/>
        </p:xfrm>
        <a:graphic xmlns:a="http://schemas.openxmlformats.org/drawingml/2006/main">
          <a:graphicData uri="http://schemas.openxmlformats.org/drawingml/2006/table">
            <a:tbl>
              <a:tblPr firstRow="1" bandRow="0"/>
              <a:tblGrid>
                <a:gridCol w="3041560"/>
                <a:gridCol w="4217885"/>
                <a:gridCol w="3865755"/>
              </a:tblGrid>
              <a:tr h="505301">
                <a:tc>
                  <a:txBody>
                    <a:bodyPr lIns="95250" tIns="95250" rIns="95250" bIns="95250"/>
                    <a:lstStyle/>
                    <a:p>
                      <a:pPr algn="l"/>
                      <a:r>
                        <a:rPr sz="2025" b="1">
                          <a:solidFill>
                            <a:srgbClr val="FFFFFF"/>
                          </a:solidFill>
                          <a:latin typeface="Nimbus Sans"/>
                          <a:ea typeface="Nimbus Sans"/>
                          <a:cs typeface="Nimbus Sans"/>
                        </a:rPr>
                        <a:t>Line / family</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Mean grain mass (g/plant)</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Disease damage (0–10)</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A / F1</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48</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6</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 / F2</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40</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2</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C / F3</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46</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D / F1</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52</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8</a:t>
                      </a:r>
                    </a:p>
                  </a:txBody>
                  <a:tcPr marL="95250" marR="95250" marT="95250" marB="95250" anchor="ctr">
                    <a:solidFill>
                      <a:srgbClr val="FFFFFF"/>
                    </a:solidFill>
                  </a:tcPr>
                </a:tc>
              </a:tr>
            </a:tbl>
          </a:graphicData>
        </a:graphic>
      </p:graphicFrame>
      <p:sp>
        <p:nvSpPr>
          <p:cNvPr id="13" name="Constructed sample data: matched trial conditions; lower damage ">
            <a:extLst xmlns:a="http://schemas.openxmlformats.org/drawingml/2006/main">
              <a:ext uri="{FF2B5EF4-FFF2-40B4-BE49-F238E27FC236}">
                <a16:creationId xmlns:a16="http://schemas.microsoft.com/office/drawing/2014/main" id="{826BBA63-017C-490E-A1B3-BBDC72ADB256}"/>
              </a:ext>
            </a:extLst>
          </p:cNvPr>
          <p:cNvSpPr>
            <a:spLocks xmlns:a="http://schemas.openxmlformats.org/drawingml/2006/main" noGrp="1"/>
          </p:cNvSpPr>
          <p:nvPr/>
        </p:nvSpPr>
        <p:spPr>
          <a:xfrm xmlns:a="http://schemas.openxmlformats.org/drawingml/2006/main">
            <a:off x="533400" y="5222081"/>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matched trial conditions; lower damage is better. Each line mean comes from 10 plants.</a:t>
            </a:r>
          </a:p>
        </p:txBody>
      </p:sp>
    </p:spTree>
    <p:extLst>
      <p:ext uri="{BB962C8B-B14F-4D97-AF65-F5344CB8AC3E}">
        <p14:creationId xmlns:p14="http://schemas.microsoft.com/office/powerpoint/2010/main" val="13394278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91A719D1-8B73-4317-B82A-0A805E4588B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E00F04A-4E8F-4B6B-8D76-224C095FEFE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13ECED4-4237-4F89-B91A-FF4DF5E717B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C957B675-0FEA-4BE4-A8C7-EAD616C00FF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4717EF72-6798-4EE2-9A0D-84859232A50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Breeding round 2: respond to new evidence">
            <a:extLst xmlns:a="http://schemas.openxmlformats.org/drawingml/2006/main">
              <a:ext uri="{FF2B5EF4-FFF2-40B4-BE49-F238E27FC236}">
                <a16:creationId xmlns:a16="http://schemas.microsoft.com/office/drawing/2014/main" id="{C7CC4B62-FE06-4261-A5F3-9E161D3B317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Breeding round 2: respond to new evidence</a:t>
            </a:r>
          </a:p>
        </p:txBody>
      </p:sp>
      <p:sp>
        <p:nvSpPr>
          <p:cNvPr id="7" name="surface">
            <a:extLst xmlns:a="http://schemas.openxmlformats.org/drawingml/2006/main">
              <a:ext uri="{FF2B5EF4-FFF2-40B4-BE49-F238E27FC236}">
                <a16:creationId xmlns:a16="http://schemas.microsoft.com/office/drawing/2014/main" id="{3C96588A-032A-464F-87C2-45A77E852DB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elective breeding: design a resilient crop">
            <a:extLst xmlns:a="http://schemas.openxmlformats.org/drawingml/2006/main">
              <a:ext uri="{FF2B5EF4-FFF2-40B4-BE49-F238E27FC236}">
                <a16:creationId xmlns:a16="http://schemas.microsoft.com/office/drawing/2014/main" id="{EF455C7D-729C-43A7-A822-35736B2B188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9" name="8 / 15">
            <a:extLst xmlns:a="http://schemas.openxmlformats.org/drawingml/2006/main">
              <a:ext uri="{FF2B5EF4-FFF2-40B4-BE49-F238E27FC236}">
                <a16:creationId xmlns:a16="http://schemas.microsoft.com/office/drawing/2014/main" id="{FD7E155D-970B-4484-B5EC-D8E14EB317A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W2. Offspring target: yield at least 45 g; damage at most 2. W3.">
            <a:extLst xmlns:a="http://schemas.openxmlformats.org/drawingml/2006/main">
              <a:ext uri="{FF2B5EF4-FFF2-40B4-BE49-F238E27FC236}">
                <a16:creationId xmlns:a16="http://schemas.microsoft.com/office/drawing/2014/main" id="{4B406E14-59A3-4D93-A29D-6BE5CEAFBFBF}"/>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W2. Offspring target: yield at least 45 g; damage at most 2. W3. Choose its next partner: sibling P or</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unrelated E? Justify the choice and one needed check.</a:t>
            </a:r>
          </a:p>
        </p:txBody>
      </p:sp>
      <p:graphicFrame>
        <p:nvGraphicFramePr>
          <p:cNvPr id="23" name=""/>
          <p:cNvGraphicFramePr/>
          <p:nvPr/>
        </p:nvGraphicFramePr>
        <p:xfrm>
          <a:off xmlns:a="http://schemas.openxmlformats.org/drawingml/2006/main" x="533400" y="2581275"/>
          <a:ext xmlns:a="http://schemas.openxmlformats.org/drawingml/2006/main" cx="11125200" cy="3031808"/>
        </p:xfrm>
        <a:graphic xmlns:a="http://schemas.openxmlformats.org/drawingml/2006/main">
          <a:graphicData uri="http://schemas.openxmlformats.org/drawingml/2006/table">
            <a:tbl>
              <a:tblPr firstRow="1" bandRow="0"/>
              <a:tblGrid>
                <a:gridCol w="3549596"/>
                <a:gridCol w="3741603"/>
                <a:gridCol w="3834002"/>
              </a:tblGrid>
              <a:tr h="505301">
                <a:tc>
                  <a:txBody>
                    <a:bodyPr lIns="95250" tIns="95250" rIns="95250" bIns="95250"/>
                    <a:lstStyle/>
                    <a:p>
                      <a:pPr algn="l"/>
                      <a:r>
                        <a:rPr sz="2025" b="1">
                          <a:solidFill>
                            <a:srgbClr val="FFFFFF"/>
                          </a:solidFill>
                          <a:latin typeface="Nimbus Sans"/>
                          <a:ea typeface="Nimbus Sans"/>
                          <a:cs typeface="Nimbus Sans"/>
                        </a:rPr>
                        <a:t>Candidate / family</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Grain mass (g/plant)</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Disease damage (0–10)</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P / F4</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45</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Q / F4</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48</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6</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R / F4</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42</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0</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S / F4</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50</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2</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E / F5 (unrelated)</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45</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a:t>
                      </a:r>
                    </a:p>
                  </a:txBody>
                  <a:tcPr marL="95250" marR="95250" marT="95250" marB="95250" anchor="ctr">
                    <a:solidFill>
                      <a:srgbClr val="F4F7F9"/>
                    </a:solidFill>
                  </a:tcPr>
                </a:tc>
              </a:tr>
            </a:tbl>
          </a:graphicData>
        </a:graphic>
      </p:graphicFrame>
      <p:sp>
        <p:nvSpPr>
          <p:cNvPr id="12" name="Constructed sample data: P–S are siblings from B × C; E is from ">
            <a:extLst xmlns:a="http://schemas.openxmlformats.org/drawingml/2006/main">
              <a:ext uri="{FF2B5EF4-FFF2-40B4-BE49-F238E27FC236}">
                <a16:creationId xmlns:a16="http://schemas.microsoft.com/office/drawing/2014/main" id="{667C14E1-945C-479B-B0C5-56CE27720F7A}"/>
              </a:ext>
            </a:extLst>
          </p:cNvPr>
          <p:cNvSpPr>
            <a:spLocks xmlns:a="http://schemas.openxmlformats.org/drawingml/2006/main" noGrp="1"/>
          </p:cNvSpPr>
          <p:nvPr/>
        </p:nvSpPr>
        <p:spPr>
          <a:xfrm xmlns:a="http://schemas.openxmlformats.org/drawingml/2006/main">
            <a:off x="533400" y="5727383"/>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P–S are siblings from B × C; E is from a separate suitable line. One trial per plant.</a:t>
            </a:r>
          </a:p>
        </p:txBody>
      </p:sp>
    </p:spTree>
    <p:extLst>
      <p:ext uri="{BB962C8B-B14F-4D97-AF65-F5344CB8AC3E}">
        <p14:creationId xmlns:p14="http://schemas.microsoft.com/office/powerpoint/2010/main" val="17121294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64ED57CF-0897-452A-8FF9-168768D9F75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C710D4C-6AA1-412B-8111-B337BB01C55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CE3BB95-A10A-4DCF-8B68-0305529FB64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8FFAAC53-C007-4260-B75F-2D2CBAC4157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Hinge">
            <a:extLst xmlns:a="http://schemas.openxmlformats.org/drawingml/2006/main">
              <a:ext uri="{FF2B5EF4-FFF2-40B4-BE49-F238E27FC236}">
                <a16:creationId xmlns:a16="http://schemas.microsoft.com/office/drawing/2014/main" id="{A21F4EB5-FF73-4064-A4A4-8B478BAF24A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CC5DF75D-6C18-4D9F-821E-EC328631DDC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at changes after selection?">
            <a:extLst xmlns:a="http://schemas.openxmlformats.org/drawingml/2006/main">
              <a:ext uri="{FF2B5EF4-FFF2-40B4-BE49-F238E27FC236}">
                <a16:creationId xmlns:a16="http://schemas.microsoft.com/office/drawing/2014/main" id="{9A4425D2-0783-4C17-946B-DDD7CA308AB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changes after selection?</a:t>
            </a:r>
          </a:p>
        </p:txBody>
      </p:sp>
      <p:sp>
        <p:nvSpPr>
          <p:cNvPr id="8" name="surface">
            <a:extLst xmlns:a="http://schemas.openxmlformats.org/drawingml/2006/main">
              <a:ext uri="{FF2B5EF4-FFF2-40B4-BE49-F238E27FC236}">
                <a16:creationId xmlns:a16="http://schemas.microsoft.com/office/drawing/2014/main" id="{539C9AEF-54F4-403E-A5FE-D68419095B3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D5D0DDF2-CFB0-4344-9B84-8BE4A9D29D6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9 / 15">
            <a:extLst xmlns:a="http://schemas.openxmlformats.org/drawingml/2006/main">
              <a:ext uri="{FF2B5EF4-FFF2-40B4-BE49-F238E27FC236}">
                <a16:creationId xmlns:a16="http://schemas.microsoft.com/office/drawing/2014/main" id="{20AB1B9F-CB0D-401F-BD6F-1B9A9F7EFDA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A breeder repeatedly selects resistant plants. Choose the best b">
            <a:extLst xmlns:a="http://schemas.openxmlformats.org/drawingml/2006/main">
              <a:ext uri="{FF2B5EF4-FFF2-40B4-BE49-F238E27FC236}">
                <a16:creationId xmlns:a16="http://schemas.microsoft.com/office/drawing/2014/main" id="{6014899D-2E61-442C-84DC-C05569A99A5A}"/>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A breeder repeatedly selects resistant plants. Choose the best biological explanation.</a:t>
            </a:r>
          </a:p>
        </p:txBody>
      </p:sp>
      <p:sp>
        <p:nvSpPr>
          <p:cNvPr id="12" name="surface">
            <a:extLst xmlns:a="http://schemas.openxmlformats.org/drawingml/2006/main">
              <a:ext uri="{FF2B5EF4-FFF2-40B4-BE49-F238E27FC236}">
                <a16:creationId xmlns:a16="http://schemas.microsoft.com/office/drawing/2014/main" id="{128C0B73-1A22-4F82-AA25-F648C39C6402}"/>
              </a:ext>
            </a:extLst>
          </p:cNvPr>
          <p:cNvSpPr>
            <a:spLocks xmlns:a="http://schemas.openxmlformats.org/drawingml/2006/main" noGrp="1"/>
          </p:cNvSpPr>
          <p:nvPr/>
        </p:nvSpPr>
        <p:spPr>
          <a:xfrm xmlns:a="http://schemas.openxmlformats.org/drawingml/2006/main">
            <a:off x="533400" y="2352675"/>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27687C48-F674-4ABC-85ED-D878EAE784AA}"/>
              </a:ext>
            </a:extLst>
          </p:cNvPr>
          <p:cNvSpPr>
            <a:spLocks xmlns:a="http://schemas.openxmlformats.org/drawingml/2006/main" noGrp="1"/>
          </p:cNvSpPr>
          <p:nvPr/>
        </p:nvSpPr>
        <p:spPr>
          <a:xfrm xmlns:a="http://schemas.openxmlformats.org/drawingml/2006/main">
            <a:off x="533400" y="2352675"/>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C69D9110-899E-4E44-8EED-3314587F8421}"/>
              </a:ext>
            </a:extLst>
          </p:cNvPr>
          <p:cNvSpPr>
            <a:spLocks xmlns:a="http://schemas.openxmlformats.org/drawingml/2006/main" noGrp="1"/>
          </p:cNvSpPr>
          <p:nvPr/>
        </p:nvSpPr>
        <p:spPr>
          <a:xfrm xmlns:a="http://schemas.openxmlformats.org/drawingml/2006/main">
            <a:off x="733425" y="2495550"/>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Each plant decides to change its genes.">
            <a:extLst xmlns:a="http://schemas.openxmlformats.org/drawingml/2006/main">
              <a:ext uri="{FF2B5EF4-FFF2-40B4-BE49-F238E27FC236}">
                <a16:creationId xmlns:a16="http://schemas.microsoft.com/office/drawing/2014/main" id="{FD77BC03-4616-49BE-BA01-F2A65C3923EC}"/>
              </a:ext>
            </a:extLst>
          </p:cNvPr>
          <p:cNvSpPr>
            <a:spLocks xmlns:a="http://schemas.openxmlformats.org/drawingml/2006/main" noGrp="1"/>
          </p:cNvSpPr>
          <p:nvPr/>
        </p:nvSpPr>
        <p:spPr>
          <a:xfrm xmlns:a="http://schemas.openxmlformats.org/drawingml/2006/main">
            <a:off x="1266825" y="2495550"/>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Each plant decides to change its genes.</a:t>
            </a:r>
          </a:p>
        </p:txBody>
      </p:sp>
      <p:sp>
        <p:nvSpPr>
          <p:cNvPr id="16" name="surface">
            <a:extLst xmlns:a="http://schemas.openxmlformats.org/drawingml/2006/main">
              <a:ext uri="{FF2B5EF4-FFF2-40B4-BE49-F238E27FC236}">
                <a16:creationId xmlns:a16="http://schemas.microsoft.com/office/drawing/2014/main" id="{8C7C251B-119C-47C3-8B34-E536A5B577DC}"/>
              </a:ext>
            </a:extLst>
          </p:cNvPr>
          <p:cNvSpPr>
            <a:spLocks xmlns:a="http://schemas.openxmlformats.org/drawingml/2006/main" noGrp="1"/>
          </p:cNvSpPr>
          <p:nvPr/>
        </p:nvSpPr>
        <p:spPr>
          <a:xfrm xmlns:a="http://schemas.openxmlformats.org/drawingml/2006/main">
            <a:off x="533400" y="3359944"/>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C7372CB8-C311-4F23-8D5F-6C911E95DE6C}"/>
              </a:ext>
            </a:extLst>
          </p:cNvPr>
          <p:cNvSpPr>
            <a:spLocks xmlns:a="http://schemas.openxmlformats.org/drawingml/2006/main" noGrp="1"/>
          </p:cNvSpPr>
          <p:nvPr/>
        </p:nvSpPr>
        <p:spPr>
          <a:xfrm xmlns:a="http://schemas.openxmlformats.org/drawingml/2006/main">
            <a:off x="533400" y="3359944"/>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002943A2-6674-4685-A055-549E65E65E8B}"/>
              </a:ext>
            </a:extLst>
          </p:cNvPr>
          <p:cNvSpPr>
            <a:spLocks xmlns:a="http://schemas.openxmlformats.org/drawingml/2006/main" noGrp="1"/>
          </p:cNvSpPr>
          <p:nvPr/>
        </p:nvSpPr>
        <p:spPr>
          <a:xfrm xmlns:a="http://schemas.openxmlformats.org/drawingml/2006/main">
            <a:off x="733425" y="3502819"/>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Desired inherited traits can become more common in later generat">
            <a:extLst xmlns:a="http://schemas.openxmlformats.org/drawingml/2006/main">
              <a:ext uri="{FF2B5EF4-FFF2-40B4-BE49-F238E27FC236}">
                <a16:creationId xmlns:a16="http://schemas.microsoft.com/office/drawing/2014/main" id="{59040786-AC81-430D-B1DB-C334281CA1BC}"/>
              </a:ext>
            </a:extLst>
          </p:cNvPr>
          <p:cNvSpPr>
            <a:spLocks xmlns:a="http://schemas.openxmlformats.org/drawingml/2006/main" noGrp="1"/>
          </p:cNvSpPr>
          <p:nvPr/>
        </p:nvSpPr>
        <p:spPr>
          <a:xfrm xmlns:a="http://schemas.openxmlformats.org/drawingml/2006/main">
            <a:off x="1266825" y="3502819"/>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Desired inherited traits can become more common in later generations.</a:t>
            </a:r>
          </a:p>
        </p:txBody>
      </p:sp>
      <p:sp>
        <p:nvSpPr>
          <p:cNvPr id="20" name="surface">
            <a:extLst xmlns:a="http://schemas.openxmlformats.org/drawingml/2006/main">
              <a:ext uri="{FF2B5EF4-FFF2-40B4-BE49-F238E27FC236}">
                <a16:creationId xmlns:a16="http://schemas.microsoft.com/office/drawing/2014/main" id="{53268AC5-C07D-4E80-9BB0-C9F7CE35084F}"/>
              </a:ext>
            </a:extLst>
          </p:cNvPr>
          <p:cNvSpPr>
            <a:spLocks xmlns:a="http://schemas.openxmlformats.org/drawingml/2006/main" noGrp="1"/>
          </p:cNvSpPr>
          <p:nvPr/>
        </p:nvSpPr>
        <p:spPr>
          <a:xfrm xmlns:a="http://schemas.openxmlformats.org/drawingml/2006/main">
            <a:off x="533400" y="4367213"/>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BD495CD7-66A0-4D0B-9784-45500C9317CC}"/>
              </a:ext>
            </a:extLst>
          </p:cNvPr>
          <p:cNvSpPr>
            <a:spLocks xmlns:a="http://schemas.openxmlformats.org/drawingml/2006/main" noGrp="1"/>
          </p:cNvSpPr>
          <p:nvPr/>
        </p:nvSpPr>
        <p:spPr>
          <a:xfrm xmlns:a="http://schemas.openxmlformats.org/drawingml/2006/main">
            <a:off x="533400" y="4367213"/>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B5971160-3365-4511-8E6A-F7A0472AADF0}"/>
              </a:ext>
            </a:extLst>
          </p:cNvPr>
          <p:cNvSpPr>
            <a:spLocks xmlns:a="http://schemas.openxmlformats.org/drawingml/2006/main" noGrp="1"/>
          </p:cNvSpPr>
          <p:nvPr/>
        </p:nvSpPr>
        <p:spPr>
          <a:xfrm xmlns:a="http://schemas.openxmlformats.org/drawingml/2006/main">
            <a:off x="733425" y="4510088"/>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Every offspring has exactly the same traits.">
            <a:extLst xmlns:a="http://schemas.openxmlformats.org/drawingml/2006/main">
              <a:ext uri="{FF2B5EF4-FFF2-40B4-BE49-F238E27FC236}">
                <a16:creationId xmlns:a16="http://schemas.microsoft.com/office/drawing/2014/main" id="{22E9D56A-EE96-45D5-B995-265B94B8C084}"/>
              </a:ext>
            </a:extLst>
          </p:cNvPr>
          <p:cNvSpPr>
            <a:spLocks xmlns:a="http://schemas.openxmlformats.org/drawingml/2006/main" noGrp="1"/>
          </p:cNvSpPr>
          <p:nvPr/>
        </p:nvSpPr>
        <p:spPr>
          <a:xfrm xmlns:a="http://schemas.openxmlformats.org/drawingml/2006/main">
            <a:off x="1266825" y="4510088"/>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Every offspring has exactly the same traits.</a:t>
            </a:r>
          </a:p>
        </p:txBody>
      </p:sp>
      <p:sp>
        <p:nvSpPr>
          <p:cNvPr id="24" name="surface">
            <a:extLst xmlns:a="http://schemas.openxmlformats.org/drawingml/2006/main">
              <a:ext uri="{FF2B5EF4-FFF2-40B4-BE49-F238E27FC236}">
                <a16:creationId xmlns:a16="http://schemas.microsoft.com/office/drawing/2014/main" id="{DE409A28-BD00-46DB-AD56-138EF09CB36D}"/>
              </a:ext>
            </a:extLst>
          </p:cNvPr>
          <p:cNvSpPr>
            <a:spLocks xmlns:a="http://schemas.openxmlformats.org/drawingml/2006/main" noGrp="1"/>
          </p:cNvSpPr>
          <p:nvPr/>
        </p:nvSpPr>
        <p:spPr>
          <a:xfrm xmlns:a="http://schemas.openxmlformats.org/drawingml/2006/main">
            <a:off x="533400" y="5374481"/>
            <a:ext cx="11125200" cy="892969"/>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5" name="surface">
            <a:extLst xmlns:a="http://schemas.openxmlformats.org/drawingml/2006/main">
              <a:ext uri="{FF2B5EF4-FFF2-40B4-BE49-F238E27FC236}">
                <a16:creationId xmlns:a16="http://schemas.microsoft.com/office/drawing/2014/main" id="{1277C7EB-DB58-43D9-BA52-0C6B95758C85}"/>
              </a:ext>
            </a:extLst>
          </p:cNvPr>
          <p:cNvSpPr>
            <a:spLocks xmlns:a="http://schemas.openxmlformats.org/drawingml/2006/main" noGrp="1"/>
          </p:cNvSpPr>
          <p:nvPr/>
        </p:nvSpPr>
        <p:spPr>
          <a:xfrm xmlns:a="http://schemas.openxmlformats.org/drawingml/2006/main">
            <a:off x="533400" y="5374481"/>
            <a:ext cx="57150" cy="892969"/>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6" name="D">
            <a:extLst xmlns:a="http://schemas.openxmlformats.org/drawingml/2006/main">
              <a:ext uri="{FF2B5EF4-FFF2-40B4-BE49-F238E27FC236}">
                <a16:creationId xmlns:a16="http://schemas.microsoft.com/office/drawing/2014/main" id="{0A8BACF5-D025-41C3-86A5-AE259934FCCD}"/>
              </a:ext>
            </a:extLst>
          </p:cNvPr>
          <p:cNvSpPr>
            <a:spLocks xmlns:a="http://schemas.openxmlformats.org/drawingml/2006/main" noGrp="1"/>
          </p:cNvSpPr>
          <p:nvPr/>
        </p:nvSpPr>
        <p:spPr>
          <a:xfrm xmlns:a="http://schemas.openxmlformats.org/drawingml/2006/main">
            <a:off x="733425" y="5517356"/>
            <a:ext cx="476250" cy="702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D</a:t>
            </a:r>
          </a:p>
        </p:txBody>
      </p:sp>
      <p:sp>
        <p:nvSpPr>
          <p:cNvPr id="27" name="Growing conditions no longer matter.">
            <a:extLst xmlns:a="http://schemas.openxmlformats.org/drawingml/2006/main">
              <a:ext uri="{FF2B5EF4-FFF2-40B4-BE49-F238E27FC236}">
                <a16:creationId xmlns:a16="http://schemas.microsoft.com/office/drawing/2014/main" id="{5EA7F2C6-5689-42AE-8DD1-0D44FD016C78}"/>
              </a:ext>
            </a:extLst>
          </p:cNvPr>
          <p:cNvSpPr>
            <a:spLocks xmlns:a="http://schemas.openxmlformats.org/drawingml/2006/main" noGrp="1"/>
          </p:cNvSpPr>
          <p:nvPr/>
        </p:nvSpPr>
        <p:spPr>
          <a:xfrm xmlns:a="http://schemas.openxmlformats.org/drawingml/2006/main">
            <a:off x="1266825" y="5517356"/>
            <a:ext cx="10144125" cy="683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Growing conditions no longer matter.</a:t>
            </a:r>
          </a:p>
        </p:txBody>
      </p:sp>
    </p:spTree>
    <p:extLst>
      <p:ext uri="{BB962C8B-B14F-4D97-AF65-F5344CB8AC3E}">
        <p14:creationId xmlns:p14="http://schemas.microsoft.com/office/powerpoint/2010/main" val="14887231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CB1881F9-9CF4-4AEB-876C-33D9874CF61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D88AE91-6698-4595-A282-ED655CD1790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8201470-E504-452B-8728-6894D2E27A6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9004606B-691E-42F9-85E4-17B6380F524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91A77BA4-B7F5-4127-A531-2C9DC73F1CF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1 min">
            <a:extLst xmlns:a="http://schemas.openxmlformats.org/drawingml/2006/main">
              <a:ext uri="{FF2B5EF4-FFF2-40B4-BE49-F238E27FC236}">
                <a16:creationId xmlns:a16="http://schemas.microsoft.com/office/drawing/2014/main" id="{5CB1BFF4-517A-4D75-BBB0-D66EFE6AEB3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11 min</a:t>
            </a:r>
          </a:p>
        </p:txBody>
      </p:sp>
      <p:sp>
        <p:nvSpPr>
          <p:cNvPr id="7" name="Write a two-generation breeding log">
            <a:extLst xmlns:a="http://schemas.openxmlformats.org/drawingml/2006/main">
              <a:ext uri="{FF2B5EF4-FFF2-40B4-BE49-F238E27FC236}">
                <a16:creationId xmlns:a16="http://schemas.microsoft.com/office/drawing/2014/main" id="{26E7382B-2577-4C38-BD6A-619769EFEFE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Write a two-generation breeding log</a:t>
            </a:r>
          </a:p>
        </p:txBody>
      </p:sp>
      <p:sp>
        <p:nvSpPr>
          <p:cNvPr id="8" name="surface">
            <a:extLst xmlns:a="http://schemas.openxmlformats.org/drawingml/2006/main">
              <a:ext uri="{FF2B5EF4-FFF2-40B4-BE49-F238E27FC236}">
                <a16:creationId xmlns:a16="http://schemas.microsoft.com/office/drawing/2014/main" id="{19D3ACA9-4C4F-4D33-9B57-A8A076EEC33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077DFF8B-94C0-4978-A2EC-63322F45C3D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10 / 15">
            <a:extLst xmlns:a="http://schemas.openxmlformats.org/drawingml/2006/main">
              <a:ext uri="{FF2B5EF4-FFF2-40B4-BE49-F238E27FC236}">
                <a16:creationId xmlns:a16="http://schemas.microsoft.com/office/drawing/2014/main" id="{138BE2F3-8C7E-4C84-90BB-4880B271AE4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Use the shared candidate and offspring evidence.">
            <a:extLst xmlns:a="http://schemas.openxmlformats.org/drawingml/2006/main">
              <a:ext uri="{FF2B5EF4-FFF2-40B4-BE49-F238E27FC236}">
                <a16:creationId xmlns:a16="http://schemas.microsoft.com/office/drawing/2014/main" id="{90B7793E-56D0-4B94-BE15-771DDBAAB5A6}"/>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the shared candidate and offspring evidence.</a:t>
            </a:r>
          </a:p>
        </p:txBody>
      </p:sp>
      <p:sp>
        <p:nvSpPr>
          <p:cNvPr id="12" name="Record selection, rejection and the reason for each.">
            <a:extLst xmlns:a="http://schemas.openxmlformats.org/drawingml/2006/main">
              <a:ext uri="{FF2B5EF4-FFF2-40B4-BE49-F238E27FC236}">
                <a16:creationId xmlns:a16="http://schemas.microsoft.com/office/drawing/2014/main" id="{E3D5B3E4-F36C-431D-A50F-E3516C1E0473}"/>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Record selection, rejection and the reason for each.</a:t>
            </a:r>
          </a:p>
        </p:txBody>
      </p:sp>
      <p:sp>
        <p:nvSpPr>
          <p:cNvPr id="13" name="Finish with a prediction and a test.">
            <a:extLst xmlns:a="http://schemas.openxmlformats.org/drawingml/2006/main">
              <a:ext uri="{FF2B5EF4-FFF2-40B4-BE49-F238E27FC236}">
                <a16:creationId xmlns:a16="http://schemas.microsoft.com/office/drawing/2014/main" id="{B2B39377-D31A-46C9-91BF-0EEB0C95CF4F}"/>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Finish with a prediction and a test.</a:t>
            </a:r>
          </a:p>
        </p:txBody>
      </p:sp>
    </p:spTree>
    <p:extLst>
      <p:ext uri="{BB962C8B-B14F-4D97-AF65-F5344CB8AC3E}">
        <p14:creationId xmlns:p14="http://schemas.microsoft.com/office/powerpoint/2010/main" val="7388616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C082C94A-80C1-4242-A565-A13F6B1B641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A5EE83E-ECD6-49F6-9135-669F7380E05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8811E87-D32E-4C03-B517-F5E36AD3FA6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77AB6DE3-A4F7-4B1B-870E-CF7649F8B51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DA654E25-7B4C-4D71-A691-DF0BED9ED8E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A decision needs its evidence">
            <a:extLst xmlns:a="http://schemas.openxmlformats.org/drawingml/2006/main">
              <a:ext uri="{FF2B5EF4-FFF2-40B4-BE49-F238E27FC236}">
                <a16:creationId xmlns:a16="http://schemas.microsoft.com/office/drawing/2014/main" id="{11EDD76E-656C-400C-93C5-9136A8F5CFF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decision needs its evidence</a:t>
            </a:r>
          </a:p>
        </p:txBody>
      </p:sp>
      <p:sp>
        <p:nvSpPr>
          <p:cNvPr id="7" name="surface">
            <a:extLst xmlns:a="http://schemas.openxmlformats.org/drawingml/2006/main">
              <a:ext uri="{FF2B5EF4-FFF2-40B4-BE49-F238E27FC236}">
                <a16:creationId xmlns:a16="http://schemas.microsoft.com/office/drawing/2014/main" id="{CBF884F2-2E88-4FEA-B899-B9ADAC5A30B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elective breeding: design a resilient crop">
            <a:extLst xmlns:a="http://schemas.openxmlformats.org/drawingml/2006/main">
              <a:ext uri="{FF2B5EF4-FFF2-40B4-BE49-F238E27FC236}">
                <a16:creationId xmlns:a16="http://schemas.microsoft.com/office/drawing/2014/main" id="{CD21CBD2-A6C2-4287-9AEE-0A85E8F22C3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9" name="11 / 15">
            <a:extLst xmlns:a="http://schemas.openxmlformats.org/drawingml/2006/main">
              <a:ext uri="{FF2B5EF4-FFF2-40B4-BE49-F238E27FC236}">
                <a16:creationId xmlns:a16="http://schemas.microsoft.com/office/drawing/2014/main" id="{6645AA87-DCBB-4697-B2D4-64B768827E5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I selected … because the table shows …">
            <a:extLst xmlns:a="http://schemas.openxmlformats.org/drawingml/2006/main">
              <a:ext uri="{FF2B5EF4-FFF2-40B4-BE49-F238E27FC236}">
                <a16:creationId xmlns:a16="http://schemas.microsoft.com/office/drawing/2014/main" id="{D659EAF2-7756-4A8F-9263-63AA6629281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 selected … because the table shows …</a:t>
            </a:r>
          </a:p>
        </p:txBody>
      </p:sp>
      <p:sp>
        <p:nvSpPr>
          <p:cNvPr id="11" name="I rejected … because …">
            <a:extLst xmlns:a="http://schemas.openxmlformats.org/drawingml/2006/main">
              <a:ext uri="{FF2B5EF4-FFF2-40B4-BE49-F238E27FC236}">
                <a16:creationId xmlns:a16="http://schemas.microsoft.com/office/drawing/2014/main" id="{71DB9DE3-17BF-48BF-93B4-E4365C31BC9C}"/>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 rejected … because …</a:t>
            </a:r>
          </a:p>
        </p:txBody>
      </p:sp>
      <p:sp>
        <p:nvSpPr>
          <p:cNvPr id="12" name="I would check … before the next generation.">
            <a:extLst xmlns:a="http://schemas.openxmlformats.org/drawingml/2006/main">
              <a:ext uri="{FF2B5EF4-FFF2-40B4-BE49-F238E27FC236}">
                <a16:creationId xmlns:a16="http://schemas.microsoft.com/office/drawing/2014/main" id="{27BA175E-5F86-4157-9CCB-34ADAD0C348D}"/>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 would check … before the next generation.</a:t>
            </a:r>
          </a:p>
        </p:txBody>
      </p:sp>
    </p:spTree>
    <p:extLst>
      <p:ext uri="{BB962C8B-B14F-4D97-AF65-F5344CB8AC3E}">
        <p14:creationId xmlns:p14="http://schemas.microsoft.com/office/powerpoint/2010/main" val="9057076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2153EF6A-B13E-49BF-B151-3555E3C2444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DAB4D49-5C8C-4AF3-9BE4-A0DFFB3A64F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F0A891E-18B3-4E3F-AD23-89AD98D1978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EFD9CC0C-70CE-4D0F-A307-87733AEBBF5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24970822-86E6-4194-A492-ADCF3D0F81C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Do not promise a perfect crop">
            <a:extLst xmlns:a="http://schemas.openxmlformats.org/drawingml/2006/main">
              <a:ext uri="{FF2B5EF4-FFF2-40B4-BE49-F238E27FC236}">
                <a16:creationId xmlns:a16="http://schemas.microsoft.com/office/drawing/2014/main" id="{A1551805-B54D-44B9-A63D-F77AF6415D1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Do not promise a perfect crop</a:t>
            </a:r>
          </a:p>
        </p:txBody>
      </p:sp>
      <p:sp>
        <p:nvSpPr>
          <p:cNvPr id="7" name="surface">
            <a:extLst xmlns:a="http://schemas.openxmlformats.org/drawingml/2006/main">
              <a:ext uri="{FF2B5EF4-FFF2-40B4-BE49-F238E27FC236}">
                <a16:creationId xmlns:a16="http://schemas.microsoft.com/office/drawing/2014/main" id="{FA47E15B-9A04-499D-BA76-7F8A91FDC71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elective breeding: design a resilient crop">
            <a:extLst xmlns:a="http://schemas.openxmlformats.org/drawingml/2006/main">
              <a:ext uri="{FF2B5EF4-FFF2-40B4-BE49-F238E27FC236}">
                <a16:creationId xmlns:a16="http://schemas.microsoft.com/office/drawing/2014/main" id="{75F77DAF-4425-4508-8330-AB670519FAB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9" name="12 / 15">
            <a:extLst xmlns:a="http://schemas.openxmlformats.org/drawingml/2006/main">
              <a:ext uri="{FF2B5EF4-FFF2-40B4-BE49-F238E27FC236}">
                <a16:creationId xmlns:a16="http://schemas.microsoft.com/office/drawing/2014/main" id="{8B2FCA9F-C27D-4C92-9CF2-7959715AA93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Predict a possible shift in the population.">
            <a:extLst xmlns:a="http://schemas.openxmlformats.org/drawingml/2006/main">
              <a:ext uri="{FF2B5EF4-FFF2-40B4-BE49-F238E27FC236}">
                <a16:creationId xmlns:a16="http://schemas.microsoft.com/office/drawing/2014/main" id="{896504B0-662F-4A15-84AA-0CE81C975954}"/>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Predict a possible shift in the population.</a:t>
            </a:r>
          </a:p>
        </p:txBody>
      </p:sp>
      <p:sp>
        <p:nvSpPr>
          <p:cNvPr id="11" name="Keep uncertainty about individual offspring.">
            <a:extLst xmlns:a="http://schemas.openxmlformats.org/drawingml/2006/main">
              <a:ext uri="{FF2B5EF4-FFF2-40B4-BE49-F238E27FC236}">
                <a16:creationId xmlns:a16="http://schemas.microsoft.com/office/drawing/2014/main" id="{3C893605-082B-408D-8590-622AEC751484}"/>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Keep uncertainty about individual offspring.</a:t>
            </a:r>
          </a:p>
        </p:txBody>
      </p:sp>
      <p:sp>
        <p:nvSpPr>
          <p:cNvPr id="12" name="Name a way to retain diversity.">
            <a:extLst xmlns:a="http://schemas.openxmlformats.org/drawingml/2006/main">
              <a:ext uri="{FF2B5EF4-FFF2-40B4-BE49-F238E27FC236}">
                <a16:creationId xmlns:a16="http://schemas.microsoft.com/office/drawing/2014/main" id="{19C19D26-684F-4BBA-9D29-16320A13CF85}"/>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 a way to retain diversity.</a:t>
            </a:r>
          </a:p>
        </p:txBody>
      </p:sp>
    </p:spTree>
    <p:extLst>
      <p:ext uri="{BB962C8B-B14F-4D97-AF65-F5344CB8AC3E}">
        <p14:creationId xmlns:p14="http://schemas.microsoft.com/office/powerpoint/2010/main" val="6785583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9AFC956-C709-43FE-AB7B-4DBCD2C9A0C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2873AE5-4773-4D04-9FFD-73F63E8F542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46E4A00-436F-4658-B0A4-A38E2ACB533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AA0E3303-4304-4500-AF1B-757731C3CF4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316793A4-75CE-4250-B999-8E0C3E87F0D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EB0962E5-8B8B-451F-851D-35B3BCC27BB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Peer-check the breeding plan">
            <a:extLst xmlns:a="http://schemas.openxmlformats.org/drawingml/2006/main">
              <a:ext uri="{FF2B5EF4-FFF2-40B4-BE49-F238E27FC236}">
                <a16:creationId xmlns:a16="http://schemas.microsoft.com/office/drawing/2014/main" id="{7B47DBC7-E5A9-4E28-8BA8-FBB736556DE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Peer-check the breeding plan</a:t>
            </a:r>
          </a:p>
        </p:txBody>
      </p:sp>
      <p:sp>
        <p:nvSpPr>
          <p:cNvPr id="8" name="surface">
            <a:extLst xmlns:a="http://schemas.openxmlformats.org/drawingml/2006/main">
              <a:ext uri="{FF2B5EF4-FFF2-40B4-BE49-F238E27FC236}">
                <a16:creationId xmlns:a16="http://schemas.microsoft.com/office/drawing/2014/main" id="{4F42C9C2-C0CD-4614-B08C-6B2CE526379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D5FAC9A8-A3BD-4B9A-98D7-016C4CFE1AD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13 / 15">
            <a:extLst xmlns:a="http://schemas.openxmlformats.org/drawingml/2006/main">
              <a:ext uri="{FF2B5EF4-FFF2-40B4-BE49-F238E27FC236}">
                <a16:creationId xmlns:a16="http://schemas.microsoft.com/office/drawing/2014/main" id="{1F66068E-4072-4B47-9783-E974F5D96D5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Can your reader follow both selections?">
            <a:extLst xmlns:a="http://schemas.openxmlformats.org/drawingml/2006/main">
              <a:ext uri="{FF2B5EF4-FFF2-40B4-BE49-F238E27FC236}">
                <a16:creationId xmlns:a16="http://schemas.microsoft.com/office/drawing/2014/main" id="{CAD919AD-8F5D-44B9-A99B-726DB60DB1CD}"/>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Can your reader follow both selections?</a:t>
            </a:r>
          </a:p>
        </p:txBody>
      </p:sp>
      <p:sp>
        <p:nvSpPr>
          <p:cNvPr id="12" name="Ask one question about a trait or risk.">
            <a:extLst xmlns:a="http://schemas.openxmlformats.org/drawingml/2006/main">
              <a:ext uri="{FF2B5EF4-FFF2-40B4-BE49-F238E27FC236}">
                <a16:creationId xmlns:a16="http://schemas.microsoft.com/office/drawing/2014/main" id="{FE996237-C8BC-45AF-B353-20B69670DDD6}"/>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Ask one question about a trait or risk.</a:t>
            </a:r>
          </a:p>
        </p:txBody>
      </p:sp>
      <p:sp>
        <p:nvSpPr>
          <p:cNvPr id="13" name="Use the response to improve one decision.">
            <a:extLst xmlns:a="http://schemas.openxmlformats.org/drawingml/2006/main">
              <a:ext uri="{FF2B5EF4-FFF2-40B4-BE49-F238E27FC236}">
                <a16:creationId xmlns:a16="http://schemas.microsoft.com/office/drawing/2014/main" id="{1BC90932-D023-4BB6-ABD0-5DAC75E83A08}"/>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the response to improve one decision.</a:t>
            </a:r>
          </a:p>
        </p:txBody>
      </p:sp>
    </p:spTree>
    <p:extLst>
      <p:ext uri="{BB962C8B-B14F-4D97-AF65-F5344CB8AC3E}">
        <p14:creationId xmlns:p14="http://schemas.microsoft.com/office/powerpoint/2010/main" val="2924421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7FBDD239-D1FD-4C99-917B-B9B9BE55350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755C67E-3F3E-4308-BC92-4F450CE2CB3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35EEFA0-FD75-44B7-9AE2-E881261CCBC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55E67BB7-5A88-4F9B-A8D5-2927A915D34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2828CCF4-06B2-41CD-905C-E7CAA4B90AB7}"/>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A strong breeding log">
            <a:extLst xmlns:a="http://schemas.openxmlformats.org/drawingml/2006/main">
              <a:ext uri="{FF2B5EF4-FFF2-40B4-BE49-F238E27FC236}">
                <a16:creationId xmlns:a16="http://schemas.microsoft.com/office/drawing/2014/main" id="{5868BACD-5BA3-49A4-926D-A816A481E95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strong breeding log</a:t>
            </a:r>
          </a:p>
        </p:txBody>
      </p:sp>
      <p:sp>
        <p:nvSpPr>
          <p:cNvPr id="7" name="surface">
            <a:extLst xmlns:a="http://schemas.openxmlformats.org/drawingml/2006/main">
              <a:ext uri="{FF2B5EF4-FFF2-40B4-BE49-F238E27FC236}">
                <a16:creationId xmlns:a16="http://schemas.microsoft.com/office/drawing/2014/main" id="{26F25E35-4187-44A0-A5A1-7DC1F281222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elective breeding: design a resilient crop">
            <a:extLst xmlns:a="http://schemas.openxmlformats.org/drawingml/2006/main">
              <a:ext uri="{FF2B5EF4-FFF2-40B4-BE49-F238E27FC236}">
                <a16:creationId xmlns:a16="http://schemas.microsoft.com/office/drawing/2014/main" id="{148831F1-179D-4549-B355-B7E34D1477D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9" name="14 / 15">
            <a:extLst xmlns:a="http://schemas.openxmlformats.org/drawingml/2006/main">
              <a:ext uri="{FF2B5EF4-FFF2-40B4-BE49-F238E27FC236}">
                <a16:creationId xmlns:a16="http://schemas.microsoft.com/office/drawing/2014/main" id="{68F10A2F-DB64-4682-87C5-D7B8AAA9A14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Names a valid selection with two data points.">
            <a:extLst xmlns:a="http://schemas.openxmlformats.org/drawingml/2006/main">
              <a:ext uri="{FF2B5EF4-FFF2-40B4-BE49-F238E27FC236}">
                <a16:creationId xmlns:a16="http://schemas.microsoft.com/office/drawing/2014/main" id="{50D9D709-BDD6-4C72-9613-EA8001788E28}"/>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Names a valid selection with two data points.</a:t>
            </a:r>
          </a:p>
        </p:txBody>
      </p:sp>
      <p:sp>
        <p:nvSpPr>
          <p:cNvPr id="11" name="Explains inheritance, variation and repeated selection.">
            <a:extLst xmlns:a="http://schemas.openxmlformats.org/drawingml/2006/main">
              <a:ext uri="{FF2B5EF4-FFF2-40B4-BE49-F238E27FC236}">
                <a16:creationId xmlns:a16="http://schemas.microsoft.com/office/drawing/2014/main" id="{49328696-3228-414C-A831-8A38465436E5}"/>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Explains inheritance, variation and repeated selection.</a:t>
            </a:r>
          </a:p>
        </p:txBody>
      </p:sp>
      <p:sp>
        <p:nvSpPr>
          <p:cNvPr id="12" name="Includes diversity and a practical next check.">
            <a:extLst xmlns:a="http://schemas.openxmlformats.org/drawingml/2006/main">
              <a:ext uri="{FF2B5EF4-FFF2-40B4-BE49-F238E27FC236}">
                <a16:creationId xmlns:a16="http://schemas.microsoft.com/office/drawing/2014/main" id="{E63E04F6-F8DC-4E93-B9ED-F61DA87EFA1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Includes diversity and a practical next check.</a:t>
            </a:r>
          </a:p>
        </p:txBody>
      </p:sp>
    </p:spTree>
    <p:extLst>
      <p:ext uri="{BB962C8B-B14F-4D97-AF65-F5344CB8AC3E}">
        <p14:creationId xmlns:p14="http://schemas.microsoft.com/office/powerpoint/2010/main" val="17821820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6D0EDA09-9E38-433F-BB27-D76F0327A86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3DABC2B-E1F2-4F05-BC37-DDC36D41E1E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3629F30-3FA8-43F8-B64E-B2A1CB988AF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63D32DD7-3010-475C-88FD-080796D95B3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Exit">
            <a:extLst xmlns:a="http://schemas.openxmlformats.org/drawingml/2006/main">
              <a:ext uri="{FF2B5EF4-FFF2-40B4-BE49-F238E27FC236}">
                <a16:creationId xmlns:a16="http://schemas.microsoft.com/office/drawing/2014/main" id="{18927D4F-268A-401C-A40E-5E131D25FA77}"/>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Exit</a:t>
            </a:r>
          </a:p>
        </p:txBody>
      </p:sp>
      <p:sp>
        <p:nvSpPr>
          <p:cNvPr id="6" name="1 min">
            <a:extLst xmlns:a="http://schemas.openxmlformats.org/drawingml/2006/main">
              <a:ext uri="{FF2B5EF4-FFF2-40B4-BE49-F238E27FC236}">
                <a16:creationId xmlns:a16="http://schemas.microsoft.com/office/drawing/2014/main" id="{43751261-5DB6-4B01-B23B-1CE5E7DC4F4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 min</a:t>
            </a:r>
          </a:p>
        </p:txBody>
      </p:sp>
      <p:sp>
        <p:nvSpPr>
          <p:cNvPr id="7" name="Transfer the method">
            <a:extLst xmlns:a="http://schemas.openxmlformats.org/drawingml/2006/main">
              <a:ext uri="{FF2B5EF4-FFF2-40B4-BE49-F238E27FC236}">
                <a16:creationId xmlns:a16="http://schemas.microsoft.com/office/drawing/2014/main" id="{7CBDD821-9338-4064-B92E-59FEA89C62B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Transfer the method</a:t>
            </a:r>
          </a:p>
        </p:txBody>
      </p:sp>
      <p:sp>
        <p:nvSpPr>
          <p:cNvPr id="8" name="surface">
            <a:extLst xmlns:a="http://schemas.openxmlformats.org/drawingml/2006/main">
              <a:ext uri="{FF2B5EF4-FFF2-40B4-BE49-F238E27FC236}">
                <a16:creationId xmlns:a16="http://schemas.microsoft.com/office/drawing/2014/main" id="{8A1C98F8-4BC4-4FE3-99E3-D4C9B4FC176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elective breeding: design a resilient crop">
            <a:extLst xmlns:a="http://schemas.openxmlformats.org/drawingml/2006/main">
              <a:ext uri="{FF2B5EF4-FFF2-40B4-BE49-F238E27FC236}">
                <a16:creationId xmlns:a16="http://schemas.microsoft.com/office/drawing/2014/main" id="{4CA3E66F-1FF2-43CD-A43C-DAF25FE5411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Selective breeding: design a resilient crop</a:t>
            </a:r>
          </a:p>
        </p:txBody>
      </p:sp>
      <p:sp>
        <p:nvSpPr>
          <p:cNvPr id="10" name="15 / 15">
            <a:extLst xmlns:a="http://schemas.openxmlformats.org/drawingml/2006/main">
              <a:ext uri="{FF2B5EF4-FFF2-40B4-BE49-F238E27FC236}">
                <a16:creationId xmlns:a16="http://schemas.microsoft.com/office/drawing/2014/main" id="{25B44ECB-1FF8-4883-9FF4-D0ABDD29974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Give the four main selective-breeding steps.">
            <a:extLst xmlns:a="http://schemas.openxmlformats.org/drawingml/2006/main">
              <a:ext uri="{FF2B5EF4-FFF2-40B4-BE49-F238E27FC236}">
                <a16:creationId xmlns:a16="http://schemas.microsoft.com/office/drawing/2014/main" id="{62B1F6D1-50D4-4730-BBE9-D11B7CABDCBD}"/>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Give the four main selective-breeding steps.</a:t>
            </a:r>
          </a:p>
        </p:txBody>
      </p:sp>
      <p:sp>
        <p:nvSpPr>
          <p:cNvPr id="12" name="E2. Why test offspring before choosing again?">
            <a:extLst xmlns:a="http://schemas.openxmlformats.org/drawingml/2006/main">
              <a:ext uri="{FF2B5EF4-FFF2-40B4-BE49-F238E27FC236}">
                <a16:creationId xmlns:a16="http://schemas.microsoft.com/office/drawing/2014/main" id="{1CEB40C3-BF6B-4E8D-947F-058BF8B50FD3}"/>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Why test offspring before choosing again?</a:t>
            </a:r>
          </a:p>
        </p:txBody>
      </p:sp>
      <p:sp>
        <p:nvSpPr>
          <p:cNvPr id="13" name="E3. Name one risk of repeatedly using close relatives.">
            <a:extLst xmlns:a="http://schemas.openxmlformats.org/drawingml/2006/main">
              <a:ext uri="{FF2B5EF4-FFF2-40B4-BE49-F238E27FC236}">
                <a16:creationId xmlns:a16="http://schemas.microsoft.com/office/drawing/2014/main" id="{D6A983DE-5348-4AE0-A549-CDF3760E4D8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Name one risk of repeatedly using close relatives.</a:t>
            </a:r>
          </a:p>
        </p:txBody>
      </p:sp>
    </p:spTree>
    <p:extLst>
      <p:ext uri="{BB962C8B-B14F-4D97-AF65-F5344CB8AC3E}">
        <p14:creationId xmlns:p14="http://schemas.microsoft.com/office/powerpoint/2010/main" val="518922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2026-09-08T22:39:51.9450000Z</dcterms:created>
  <dcterms:modified xsi:type="dcterms:W3CDTF">2026-09-08T22:39:51.9450000Z</dcterms:modified>
</coreProperties>
</file>