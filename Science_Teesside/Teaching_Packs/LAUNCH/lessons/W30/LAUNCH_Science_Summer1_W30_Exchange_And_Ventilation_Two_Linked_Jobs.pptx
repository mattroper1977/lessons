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8f3f8c5e87456d" /><Relationship Type="http://schemas.openxmlformats.org/officeDocument/2006/relationships/extended-properties" Target="/docProps/app.xml" Id="R2f3251e3fe0a4850" /><Relationship Type="http://schemas.openxmlformats.org/officeDocument/2006/relationships/officeDocument" Target="/ppt/presentation.xml" Id="R676592f30cb645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83cac1e3f4093"/>
  </p:sldMasterIdLst>
  <p:notesMasterIdLst>
    <p:notesMasterId xmlns:r="http://schemas.openxmlformats.org/officeDocument/2006/relationships" r:id="R5880e2a507ab4251"/>
  </p:notesMasterIdLst>
  <p:sldIdLst>
    <p:sldId xmlns:r="http://schemas.openxmlformats.org/officeDocument/2006/relationships" id="256" r:id="R0fb1b7d1622346be"/>
    <p:sldId xmlns:r="http://schemas.openxmlformats.org/officeDocument/2006/relationships" id="257" r:id="R5fc9e6db3fbe429b"/>
    <p:sldId xmlns:r="http://schemas.openxmlformats.org/officeDocument/2006/relationships" id="258" r:id="R1feda582b0f04cf6"/>
    <p:sldId xmlns:r="http://schemas.openxmlformats.org/officeDocument/2006/relationships" id="259" r:id="R036056ec5dcd4c44"/>
    <p:sldId xmlns:r="http://schemas.openxmlformats.org/officeDocument/2006/relationships" id="260" r:id="R6064246b5bca42a1"/>
    <p:sldId xmlns:r="http://schemas.openxmlformats.org/officeDocument/2006/relationships" id="261" r:id="R8c1ad216f66943ea"/>
    <p:sldId xmlns:r="http://schemas.openxmlformats.org/officeDocument/2006/relationships" id="262" r:id="Rfd62fc4b03fd43de"/>
    <p:sldId xmlns:r="http://schemas.openxmlformats.org/officeDocument/2006/relationships" id="263" r:id="Rcb59140c821f420e"/>
    <p:sldId xmlns:r="http://schemas.openxmlformats.org/officeDocument/2006/relationships" id="264" r:id="R0ad1ff3801a84472"/>
    <p:sldId xmlns:r="http://schemas.openxmlformats.org/officeDocument/2006/relationships" id="265" r:id="R3f340cb673b849bf"/>
    <p:sldId xmlns:r="http://schemas.openxmlformats.org/officeDocument/2006/relationships" id="266" r:id="Rafe7a600cdd741ee"/>
    <p:sldId xmlns:r="http://schemas.openxmlformats.org/officeDocument/2006/relationships" id="267" r:id="Rb9e3eee1b00045be"/>
    <p:sldId xmlns:r="http://schemas.openxmlformats.org/officeDocument/2006/relationships" id="268" r:id="Rc17e37a170ec4a2f"/>
    <p:sldId xmlns:r="http://schemas.openxmlformats.org/officeDocument/2006/relationships" id="269" r:id="R86352c5b165d4d4d"/>
    <p:sldId xmlns:r="http://schemas.openxmlformats.org/officeDocument/2006/relationships" id="270" r:id="R43ab072b72314a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6d34940a734906" /><Relationship Type="http://schemas.openxmlformats.org/officeDocument/2006/relationships/slideMaster" Target="/ppt/slideMasters/slideMaster1.xml" Id="R08283cac1e3f4093" /><Relationship Type="http://schemas.openxmlformats.org/officeDocument/2006/relationships/notesMaster" Target="/ppt/notesMasters/notesMaster1.xml" Id="R5880e2a507ab4251" /><Relationship Type="http://schemas.openxmlformats.org/officeDocument/2006/relationships/presProps" Target="/ppt/presProps.xml" Id="Rfd289187589c4576" /><Relationship Type="http://schemas.openxmlformats.org/officeDocument/2006/relationships/tableStyles" Target="/ppt/tableStyles.xml" Id="R34bee1f175f44889" /><Relationship Type="http://schemas.openxmlformats.org/officeDocument/2006/relationships/slide" Target="/ppt/slides/slide1.xml" Id="R0fb1b7d1622346be" /><Relationship Type="http://schemas.openxmlformats.org/officeDocument/2006/relationships/slide" Target="/ppt/slides/slide2.xml" Id="R5fc9e6db3fbe429b" /><Relationship Type="http://schemas.openxmlformats.org/officeDocument/2006/relationships/slide" Target="/ppt/slides/slide3.xml" Id="R1feda582b0f04cf6" /><Relationship Type="http://schemas.openxmlformats.org/officeDocument/2006/relationships/slide" Target="/ppt/slides/slide4.xml" Id="R036056ec5dcd4c44" /><Relationship Type="http://schemas.openxmlformats.org/officeDocument/2006/relationships/slide" Target="/ppt/slides/slide5.xml" Id="R6064246b5bca42a1" /><Relationship Type="http://schemas.openxmlformats.org/officeDocument/2006/relationships/slide" Target="/ppt/slides/slide6.xml" Id="R8c1ad216f66943ea" /><Relationship Type="http://schemas.openxmlformats.org/officeDocument/2006/relationships/slide" Target="/ppt/slides/slide7.xml" Id="Rfd62fc4b03fd43de" /><Relationship Type="http://schemas.openxmlformats.org/officeDocument/2006/relationships/slide" Target="/ppt/slides/slide8.xml" Id="Rcb59140c821f420e" /><Relationship Type="http://schemas.openxmlformats.org/officeDocument/2006/relationships/slide" Target="/ppt/slides/slide9.xml" Id="R0ad1ff3801a84472" /><Relationship Type="http://schemas.openxmlformats.org/officeDocument/2006/relationships/slide" Target="/ppt/slides/slide10.xml" Id="R3f340cb673b849bf" /><Relationship Type="http://schemas.openxmlformats.org/officeDocument/2006/relationships/slide" Target="/ppt/slides/slide11.xml" Id="Rafe7a600cdd741ee" /><Relationship Type="http://schemas.openxmlformats.org/officeDocument/2006/relationships/slide" Target="/ppt/slides/slide12.xml" Id="Rb9e3eee1b00045be" /><Relationship Type="http://schemas.openxmlformats.org/officeDocument/2006/relationships/slide" Target="/ppt/slides/slide13.xml" Id="Rc17e37a170ec4a2f" /><Relationship Type="http://schemas.openxmlformats.org/officeDocument/2006/relationships/slide" Target="/ppt/slides/slide14.xml" Id="R86352c5b165d4d4d" /><Relationship Type="http://schemas.openxmlformats.org/officeDocument/2006/relationships/slide" Target="/ppt/slides/slide15.xml" Id="R43ab072b7231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0c987be70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58046b0dd4aa6" /><Relationship Type="http://schemas.openxmlformats.org/officeDocument/2006/relationships/notesMaster" Target="/ppt/notesMasters/notesMaster1.xml" Id="R222004501519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89453f17c4528" /><Relationship Type="http://schemas.openxmlformats.org/officeDocument/2006/relationships/notesMaster" Target="/ppt/notesMasters/notesMaster1.xml" Id="Re358c19fe33141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d4a74272c4a00" /><Relationship Type="http://schemas.openxmlformats.org/officeDocument/2006/relationships/notesMaster" Target="/ppt/notesMasters/notesMaster1.xml" Id="R768549ceafe640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f23558f2c46bb" /><Relationship Type="http://schemas.openxmlformats.org/officeDocument/2006/relationships/notesMaster" Target="/ppt/notesMasters/notesMaster1.xml" Id="R4ff1fe3b2bd14e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de8cf71bf74f23" /><Relationship Type="http://schemas.openxmlformats.org/officeDocument/2006/relationships/notesMaster" Target="/ppt/notesMasters/notesMaster1.xml" Id="Rc453a49fb8844f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9f9ba48dc74c9d" /><Relationship Type="http://schemas.openxmlformats.org/officeDocument/2006/relationships/notesMaster" Target="/ppt/notesMasters/notesMaster1.xml" Id="R67aea092192943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a9dbf4ca24d51" /><Relationship Type="http://schemas.openxmlformats.org/officeDocument/2006/relationships/notesMaster" Target="/ppt/notesMasters/notesMaster1.xml" Id="R49f9fa69aa514a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eeb633f2748f9" /><Relationship Type="http://schemas.openxmlformats.org/officeDocument/2006/relationships/notesMaster" Target="/ppt/notesMasters/notesMaster1.xml" Id="Red8e241c938e40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d17a4070a74737" /><Relationship Type="http://schemas.openxmlformats.org/officeDocument/2006/relationships/notesMaster" Target="/ppt/notesMasters/notesMaster1.xml" Id="Rd65e3c9691c7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553247e0ec4ee3" /><Relationship Type="http://schemas.openxmlformats.org/officeDocument/2006/relationships/notesMaster" Target="/ppt/notesMasters/notesMaster1.xml" Id="Rb8e61ef111bc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df8fa489924ded" /><Relationship Type="http://schemas.openxmlformats.org/officeDocument/2006/relationships/notesMaster" Target="/ppt/notesMasters/notesMaster1.xml" Id="R1363f17b8e194b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7e347573ca480d" /><Relationship Type="http://schemas.openxmlformats.org/officeDocument/2006/relationships/notesMaster" Target="/ppt/notesMasters/notesMaster1.xml" Id="Rc6abf9d21ff947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4b0f2b82074cb9" /><Relationship Type="http://schemas.openxmlformats.org/officeDocument/2006/relationships/notesMaster" Target="/ppt/notesMasters/notesMaster1.xml" Id="R498043516b984f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77bf854413458c" /><Relationship Type="http://schemas.openxmlformats.org/officeDocument/2006/relationships/notesMaster" Target="/ppt/notesMasters/notesMaster1.xml" Id="R14a6726d3eb44a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d5de28d0fa4c95" /><Relationship Type="http://schemas.openxmlformats.org/officeDocument/2006/relationships/notesMaster" Target="/ppt/notesMasters/notesMaster1.xml" Id="Ra12cdf7fdcb2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pupils to distinguish opening a door from people moving through it as a limited analogy; return immediately to actual gas mechanisms.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down a concentration gradient. R2: oxygen, with other transported substances. R3: no; cellular respiration releases energy in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along oxygen arrow, then carbon-dioxide arrow. State that gases cross the thin exchange surface by diffusion; blood and ventilation maintain differences. Do not claim all blood always has one uniform gas concentration.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alveolar exchange: oxygen diffuses from alveolar air into arriving oxygen-poor capillary blood; carbon dioxide diffuses from blood into alveolar air. A thin barrier separates air and blood. Directions are based on gradients, not active pumping of gases.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diaphragm contraction/flattening plus ribs up/out. Pressure falls below surrounding air pressure, so air enters. Quiet exhalation follows relaxation and elastic recoil; forced exhalation is beyond this core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Two-panel schematic of quiet breathing. Inhalation: diaphragm contracts/flattens, ribs move up/out, thoracic volume rises and pressure falls below atmospheric pressure so air enters. Quiet exhalation: muscles relax and elastic recoil reduces volume, raising pressure so air leaves.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constructed model to illustrate one factor at a time. P→Q doubles area with other model factors equal; P→R doubles thickness. A relative index is not an oxygen saturation, clinical reading or empirical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Idealised relative diffusion-rate indices calculated as area×concentration difference÷thickness with the same omitted proportionality constant. P:2×4/1=8; Q:4×4/1=16; R:2×4/2=4. This is a mathematical comparison, not measured physiological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P/Q changes area only: Q is faster in the model. P/R changes thickness only: R is slower. Ask pupils to identify the unchanged columns before giving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Alveolar oxygen is removed into blood and not replenished as effectively; the difference can shrink, reducing net oxygen diffusion if other factors are comparable. This is a conceptual case; pupils do not hold their breath.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alveolar exchange: oxygen diffuses from alveolar air into arriving oxygen-poor capillary blood; carbon dioxide diffuses from blood into alveolar air. A thin barrier separates air and blood. Directions are based on gradients, not active pumping of gases.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Diaphragm action supports ventilation; oxygen diffuses across alveoli into blood; cells use oxygen in aerobic respiration. No process has to be personified.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Ventilation moves air. Diffusion exchanges gases. Cellular respiration releases energy in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option correct. Use the two-panel diagrams to separate air movement from gas diffusion.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 thin exchange barrier helps because it shortens diffusion distance.</a:t>
            </a:r>
          </a:p>
          <a:p xmlns:a="http://schemas.openxmlformats.org/drawingml/2006/main">
            <a:r>
              <a:t>Correct. Yes, with other factors equal, a shorter path supports faster diffusion.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diaphragm directly pushes oxygen through blood-cell membranes.</a:t>
            </a:r>
          </a:p>
          <a:p xmlns:a="http://schemas.openxmlformats.org/drawingml/2006/main">
            <a:r>
              <a:t>It changes thoracic volume/pressure; gas exchange across the lung barrier is diffusion.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large surface always guarantees fast exchange, regardless of every other factor.</a:t>
            </a:r>
          </a:p>
          <a:p xmlns:a="http://schemas.openxmlformats.org/drawingml/2006/main">
            <a:r>
              <a:t>Gradient and distance also matter; one favourable factor is not a universal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focuses on mechanisms and fair factor comparisons. The formula extension is Biology-specific reasoning, not inherently Higher-only.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Check the pressure direction before asking for extended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improves a process label or identifies a relevant gradient. Quiet teacher/TA audience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accurate wording rather than these exact verbs. Ask pupil to correct one misleading “pumps oxygen into cells”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falls below atmospheric pressure as volume rises. E2: shorter path. E3: ventilation/diffusion. No breathing exercise is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minute; use an annotated diagram if writing demand is a barrier.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What breathing does for the body</a:t>
            </a:r>
          </a:p>
          <a:p xmlns:a="http://schemas.openxmlformats.org/drawingml/2006/main">
            <a:r>
              <a:t>https://www.nhlbi.nih.gov/health/lungs/breathing-benefits</a:t>
            </a:r>
          </a:p>
          <a:p xmlns:a="http://schemas.openxmlformats.org/drawingml/2006/main">
            <a:r>
              <a:t>Checked alveolar exchange and oxygen/carbon-dioxide transport.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context. All diagrams and relative-index examples are original classroom models.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158fba0e4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5dea287b443de" /><Relationship Type="http://schemas.openxmlformats.org/officeDocument/2006/relationships/slideLayout" Target="/ppt/slideLayouts/slideLayout1.xml" Id="R0b560bb5eae14b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60bb5eae14b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c5fe26a1e49ec" /><Relationship Type="http://schemas.openxmlformats.org/officeDocument/2006/relationships/notesSlide" Target="/ppt/notesSlides/notesSlide1.xml" Id="R7e5d21a0927b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1abf746c5483e" /><Relationship Type="http://schemas.openxmlformats.org/officeDocument/2006/relationships/notesSlide" Target="/ppt/notesSlides/notesSlide2.xml" Id="Rb48dd87d2f66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b88283c194709" /><Relationship Type="http://schemas.openxmlformats.org/officeDocument/2006/relationships/notesSlide" Target="/ppt/notesSlides/notesSlide3.xml" Id="R0fa9e827b0ae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613d1de8d4098" /><Relationship Type="http://schemas.openxmlformats.org/officeDocument/2006/relationships/notesSlide" Target="/ppt/notesSlides/notesSlide4.xml" Id="Rb7a2ad459e15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fc12744a644bc" /><Relationship Type="http://schemas.openxmlformats.org/officeDocument/2006/relationships/notesSlide" Target="/ppt/notesSlides/notesSlide5.xml" Id="R6c4cce41602345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ab40f60e14257" /><Relationship Type="http://schemas.openxmlformats.org/officeDocument/2006/relationships/notesSlide" Target="/ppt/notesSlides/notesSlide6.xml" Id="R6bcbdba878524f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b74ab85414a67" /><Relationship Type="http://schemas.openxmlformats.org/officeDocument/2006/relationships/notesSlide" Target="/ppt/notesSlides/notesSlide7.xml" Id="Re122f7d59ba845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468875b4248e6" /><Relationship Type="http://schemas.openxmlformats.org/officeDocument/2006/relationships/notesSlide" Target="/ppt/notesSlides/notesSlide8.xml" Id="Rff3d85c681b2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cb8de89354597" /><Relationship Type="http://schemas.openxmlformats.org/officeDocument/2006/relationships/notesSlide" Target="/ppt/notesSlides/notesSlide9.xml" Id="R4d84de1699f848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ae911ace4ae8" /><Relationship Type="http://schemas.openxmlformats.org/officeDocument/2006/relationships/notesSlide" Target="/ppt/notesSlides/notesSlide10.xml" Id="R49bfe9a569c74b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5ac38b65a4e96" /><Relationship Type="http://schemas.openxmlformats.org/officeDocument/2006/relationships/notesSlide" Target="/ppt/notesSlides/notesSlide11.xml" Id="R9a115b86554748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081a9fb2d4cbe" /><Relationship Type="http://schemas.openxmlformats.org/officeDocument/2006/relationships/notesSlide" Target="/ppt/notesSlides/notesSlide12.xml" Id="R1f04f1e4235a44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2084efb82478b" /><Relationship Type="http://schemas.openxmlformats.org/officeDocument/2006/relationships/notesSlide" Target="/ppt/notesSlides/notesSlide13.xml" Id="R4c1098ec363c4b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6261e1464f1d" /><Relationship Type="http://schemas.openxmlformats.org/officeDocument/2006/relationships/notesSlide" Target="/ppt/notesSlides/notesSlide14.xml" Id="R257656f87ca34d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c014438534a86" /><Relationship Type="http://schemas.openxmlformats.org/officeDocument/2006/relationships/notesSlide" Target="/ppt/notesSlides/notesSlide15.xml" Id="R9cf3b4029d0740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BDEC712-76C5-4F8F-9262-E1C12B0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CEDC4AA-9F38-4AB7-A5B8-FFCF6EA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E53B960-EC8C-4414-BB2E-CE7B5DA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F75E09F-B009-4931-8BC5-7733EEA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05C11B24-9C99-44DE-9326-86CA18CB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C6B77CC-F799-4D02-82E6-02DB513A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air moved. Has exchange happened yet?">
            <a:extLst xmlns:a="http://schemas.openxmlformats.org/drawingml/2006/main">
              <a:ext uri="{FF2B5EF4-FFF2-40B4-BE49-F238E27FC236}">
                <a16:creationId xmlns:a16="http://schemas.microsoft.com/office/drawing/2014/main" id="{77A6B53A-220C-42AE-86E3-51468F0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air moved. Has exchange happened yet?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32C4108-6D5C-4F7D-95D6-564DE2AE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1F869680-7E12-4B3F-B5FA-4FF04B1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ED469A95-6441-4D04-BE2C-792989E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65CA56DD-783D-4AAF-A853-C88D1711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4A12A19-CD72-4003-8C14-DE6C6928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903E1E17-049C-4E75-9BD9-5C24877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how ventilation and alveolar structure support gas excha">
            <a:extLst xmlns:a="http://schemas.openxmlformats.org/drawingml/2006/main">
              <a:ext uri="{FF2B5EF4-FFF2-40B4-BE49-F238E27FC236}">
                <a16:creationId xmlns:a16="http://schemas.microsoft.com/office/drawing/2014/main" id="{333C727B-E59C-4165-B53A-2972924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ventilation and alveolar structure support gas exchange, using an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idealised comparison model.</a:t>
            </a:r>
          </a:p>
        </p:txBody>
      </p:sp>
      <p:sp>
        <p:nvSpPr>
          <p:cNvPr id="15" name="Mission: separate air movement from particle movement.">
            <a:extLst xmlns:a="http://schemas.openxmlformats.org/drawingml/2006/main">
              <a:ext uri="{FF2B5EF4-FFF2-40B4-BE49-F238E27FC236}">
                <a16:creationId xmlns:a16="http://schemas.microsoft.com/office/drawing/2014/main" id="{0D18B692-E2A1-4308-AECB-2801EBB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separate air movement from particle movement.</a:t>
            </a:r>
          </a:p>
        </p:txBody>
      </p:sp>
      <p:sp>
        <p:nvSpPr>
          <p:cNvPr id="16" name="Then connect both to blood transport.">
            <a:extLst xmlns:a="http://schemas.openxmlformats.org/drawingml/2006/main">
              <a:ext uri="{FF2B5EF4-FFF2-40B4-BE49-F238E27FC236}">
                <a16:creationId xmlns:a16="http://schemas.microsoft.com/office/drawing/2014/main" id="{EA6B69BF-E8B6-4312-B2BB-D220522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connect both to blood transport.</a:t>
            </a:r>
          </a:p>
        </p:txBody>
      </p:sp>
    </p:spTree>
    <p:extLst>
      <p:ext uri="{BB962C8B-B14F-4D97-AF65-F5344CB8AC3E}">
        <p14:creationId xmlns:p14="http://schemas.microsoft.com/office/powerpoint/2010/main" val="849398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FA92F55-A528-4715-82D4-B660119C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BBF4F26-7683-435A-8DBA-3405AF87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C8DD595-C821-44A0-AD34-D487F2B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2FB9CB8-4964-4DEA-A3BF-7733205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F70668A5-B2BB-4F44-8E2B-3D182F3E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7C37EDD-696A-468F-BBD8-DC6E15F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drives diffusion?">
            <a:extLst xmlns:a="http://schemas.openxmlformats.org/drawingml/2006/main">
              <a:ext uri="{FF2B5EF4-FFF2-40B4-BE49-F238E27FC236}">
                <a16:creationId xmlns:a16="http://schemas.microsoft.com/office/drawing/2014/main" id="{B922494B-DEDA-44D2-9F08-07D5AC2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drives diffusion?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586C6E3-DC58-4B74-8FF5-987CEFC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99A4443C-8D7B-4803-8C3C-8AD6E48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B218EF40-188B-4ABA-B39A-D7228E1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In which direction is net diffusion?">
            <a:extLst xmlns:a="http://schemas.openxmlformats.org/drawingml/2006/main">
              <a:ext uri="{FF2B5EF4-FFF2-40B4-BE49-F238E27FC236}">
                <a16:creationId xmlns:a16="http://schemas.microsoft.com/office/drawing/2014/main" id="{9FC92237-23B0-4B04-A116-1A307E5E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In which direction is net diffusion?</a:t>
            </a:r>
          </a:p>
        </p:txBody>
      </p:sp>
      <p:sp>
        <p:nvSpPr>
          <p:cNvPr id="12" name="R2. What does circulating blood transport from the lungs?">
            <a:extLst xmlns:a="http://schemas.openxmlformats.org/drawingml/2006/main">
              <a:ext uri="{FF2B5EF4-FFF2-40B4-BE49-F238E27FC236}">
                <a16:creationId xmlns:a16="http://schemas.microsoft.com/office/drawing/2014/main" id="{69E11F24-FC50-4538-95A1-3E78A48B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circulating blood transport from the lungs?</a:t>
            </a:r>
          </a:p>
        </p:txBody>
      </p:sp>
      <p:sp>
        <p:nvSpPr>
          <p:cNvPr id="13" name="R3. Is respiration simply another word for breathing?">
            <a:extLst xmlns:a="http://schemas.openxmlformats.org/drawingml/2006/main">
              <a:ext uri="{FF2B5EF4-FFF2-40B4-BE49-F238E27FC236}">
                <a16:creationId xmlns:a16="http://schemas.microsoft.com/office/drawing/2014/main" id="{6E0E0305-3F27-491D-8151-FDE1F5D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Is respiration simply another word for breathing?</a:t>
            </a:r>
          </a:p>
        </p:txBody>
      </p:sp>
    </p:spTree>
    <p:extLst>
      <p:ext uri="{BB962C8B-B14F-4D97-AF65-F5344CB8AC3E}">
        <p14:creationId xmlns:p14="http://schemas.microsoft.com/office/powerpoint/2010/main" val="1822019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C63015D5-F3C0-4DAF-B8E4-8F26CFC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AC61D9D-4EB8-4E85-84D1-A51CA4B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066F3BB-F19D-4402-A1F6-82BE9C7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922BE46-C121-480D-AA16-C3A63164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2614CA92-4196-4D07-86A7-117FD330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81483308-EE08-4E48-BD48-42E8D3FE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Follow one gas at a time">
            <a:extLst xmlns:a="http://schemas.openxmlformats.org/drawingml/2006/main">
              <a:ext uri="{FF2B5EF4-FFF2-40B4-BE49-F238E27FC236}">
                <a16:creationId xmlns:a16="http://schemas.microsoft.com/office/drawing/2014/main" id="{9036CC67-E4D6-45DE-BE42-1E96D37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Follow one gas at a time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BB7430B-9DA3-42D1-9691-2FCC01FA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F8E0CF80-AAD1-4B2E-B1EF-7277247B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A12924D2-7C07-4FD9-B54F-9A7E90A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Oxygen and carbon dioxide diffuse in opposite directions">
            <a:extLst xmlns:a="http://schemas.openxmlformats.org/drawingml/2006/main">
              <a:ext uri="{FF2B5EF4-FFF2-40B4-BE49-F238E27FC236}">
                <a16:creationId xmlns:a16="http://schemas.microsoft.com/office/drawing/2014/main" id="{72674482-7816-4434-8049-FEED85DE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 and carbon dioxide diffuse in opposite directions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9BD1E66-1576-4C5C-9C37-9BEF3AF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863963"/>
            <a:ext cx="2417649" cy="1892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21023">
            <a:solidFill>
              <a:srgbClr val="4D82A0"/>
            </a:solidFill>
          </a:ln>
        </p:spPr>
      </p:sp>
      <p:sp>
        <p:nvSpPr>
          <p:cNvPr id="13" name="Diagram label: Alveolar air&#10;Higher oxygen than&#10;arriving blood">
            <a:extLst xmlns:a="http://schemas.openxmlformats.org/drawingml/2006/main">
              <a:ext uri="{FF2B5EF4-FFF2-40B4-BE49-F238E27FC236}">
                <a16:creationId xmlns:a16="http://schemas.microsoft.com/office/drawing/2014/main" id="{1634299E-71DF-4392-8835-C32691E1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74194"/>
            <a:ext cx="1892073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Alveolar air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Higher oxygen than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arriving blood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0D6481C-02D8-41E4-8E40-C9EC072D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828925"/>
            <a:ext cx="2417649" cy="1927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21023">
            <a:solidFill>
              <a:srgbClr val="B34D4D"/>
            </a:solidFill>
          </a:ln>
        </p:spPr>
      </p:sp>
      <p:sp>
        <p:nvSpPr>
          <p:cNvPr id="15" name="Diagram label: Arriving blood&#10;Lower oxygen than&#10;alveolar air">
            <a:extLst xmlns:a="http://schemas.openxmlformats.org/drawingml/2006/main">
              <a:ext uri="{FF2B5EF4-FFF2-40B4-BE49-F238E27FC236}">
                <a16:creationId xmlns:a16="http://schemas.microsoft.com/office/drawing/2014/main" id="{4991467A-A83B-4316-8B82-61675B4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39155"/>
            <a:ext cx="1997188" cy="66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Arriving blood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Lower oxygen than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alveolar air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B8A55CC-A50B-429D-8E0E-DCAE52B2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80654" y="2723810"/>
            <a:ext cx="953" cy="21373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6A2B974-0365-4DD9-ACE5-F9C9C50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60962" y="2723810"/>
            <a:ext cx="953" cy="21373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FFDB928-D614-49FA-B7B8-3144487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74771" y="3915115"/>
            <a:ext cx="174841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D444349-FC2F-4D80-9190-34DDA30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98660" y="386606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FC5C99F-66DF-4202-B411-9D05E56C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002" y="3550716"/>
            <a:ext cx="1541689" cy="2803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Diagram label: Oxygen">
            <a:extLst xmlns:a="http://schemas.openxmlformats.org/drawingml/2006/main">
              <a:ext uri="{FF2B5EF4-FFF2-40B4-BE49-F238E27FC236}">
                <a16:creationId xmlns:a16="http://schemas.microsoft.com/office/drawing/2014/main" id="{E3206F3E-E5EC-4046-B25B-AB11671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40" y="3550716"/>
            <a:ext cx="1471613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0C7FD44-9081-4986-A158-53F68EA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48352" y="4440691"/>
            <a:ext cx="174841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B34D4D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525AEAA-6E22-493A-9651-5E24D282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974771" y="439163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0FADA17-305C-4F15-8C9C-1C435C2B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48" y="4545806"/>
            <a:ext cx="1786958" cy="315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5" name="Diagram label: Carbon dioxide">
            <a:extLst xmlns:a="http://schemas.openxmlformats.org/drawingml/2006/main">
              <a:ext uri="{FF2B5EF4-FFF2-40B4-BE49-F238E27FC236}">
                <a16:creationId xmlns:a16="http://schemas.microsoft.com/office/drawing/2014/main" id="{249B874F-9631-40DD-8887-C5BFEE1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887" y="4545806"/>
            <a:ext cx="1716881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</a:t>
            </a:r>
          </a:p>
        </p:txBody>
      </p:sp>
      <p:sp>
        <p:nvSpPr>
          <p:cNvPr id="26" name="Diagram label: Thin, moist exchange barrier&#10;Short diffusion distance">
            <a:extLst xmlns:a="http://schemas.openxmlformats.org/drawingml/2006/main">
              <a:ext uri="{FF2B5EF4-FFF2-40B4-BE49-F238E27FC236}">
                <a16:creationId xmlns:a16="http://schemas.microsoft.com/office/drawing/2014/main" id="{9D4F359B-2DE2-4B93-906D-51B2E94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5106421"/>
            <a:ext cx="3293609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Thin, moist exchange barrier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Short diffusion distance</a:t>
            </a:r>
          </a:p>
        </p:txBody>
      </p:sp>
      <p:sp>
        <p:nvSpPr>
          <p:cNvPr id="27" name="Diagram label: Blood flow and ventilation&#10;help maintain gradients">
            <a:extLst xmlns:a="http://schemas.openxmlformats.org/drawingml/2006/main">
              <a:ext uri="{FF2B5EF4-FFF2-40B4-BE49-F238E27FC236}">
                <a16:creationId xmlns:a16="http://schemas.microsoft.com/office/drawing/2014/main" id="{E4A03900-BE84-43FA-B3DB-4EF85D7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53" y="5106421"/>
            <a:ext cx="2592841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flow and ventilation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help maintain gradients</a:t>
            </a:r>
          </a:p>
        </p:txBody>
      </p:sp>
      <p:sp>
        <p:nvSpPr>
          <p:cNvPr id="28" name="Oxygen diffuses from alveolar air into blood.  Carbon dioxide di">
            <a:extLst xmlns:a="http://schemas.openxmlformats.org/drawingml/2006/main">
              <a:ext uri="{FF2B5EF4-FFF2-40B4-BE49-F238E27FC236}">
                <a16:creationId xmlns:a16="http://schemas.microsoft.com/office/drawing/2014/main" id="{B23DFD5E-7DED-4F8C-9B77-15D16AC5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 diffuses from alveolar air into blood. Carbon dioxide diffuses from blood into alveolar air. Each gas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follows its own gradient.</a:t>
            </a:r>
          </a:p>
        </p:txBody>
      </p:sp>
    </p:spTree>
    <p:extLst>
      <p:ext uri="{BB962C8B-B14F-4D97-AF65-F5344CB8AC3E}">
        <p14:creationId xmlns:p14="http://schemas.microsoft.com/office/powerpoint/2010/main" val="1564571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AC992475-6DA0-4A52-BF9E-9E93F06A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A84BB3D-E652-455A-845E-76C42D4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148BD40-0966-4D89-9174-5DB9F8B4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0C5227B-1B8F-4F85-9F47-C36581F4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012E5A9-A903-43BD-96EA-DB0C398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A698E560-6940-43C4-AF37-64024EA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ir moves because pressure changes">
            <a:extLst xmlns:a="http://schemas.openxmlformats.org/drawingml/2006/main">
              <a:ext uri="{FF2B5EF4-FFF2-40B4-BE49-F238E27FC236}">
                <a16:creationId xmlns:a16="http://schemas.microsoft.com/office/drawing/2014/main" id="{072CEA8F-9D6C-412E-B32D-F0BA5025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moves because pressure changes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5934008-92B7-4D06-9001-D3B3D1D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0DC357F6-10B8-4FEA-A6B0-0E55B3A2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04060721-7C63-42A1-9460-DF00E222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Ventilation changes volume and pressure">
            <a:extLst xmlns:a="http://schemas.openxmlformats.org/drawingml/2006/main">
              <a:ext uri="{FF2B5EF4-FFF2-40B4-BE49-F238E27FC236}">
                <a16:creationId xmlns:a16="http://schemas.microsoft.com/office/drawing/2014/main" id="{FE78EFBF-CD8C-4798-81BA-9DB901A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Ventilation changes volume and pressure</a:t>
            </a:r>
          </a:p>
        </p:txBody>
      </p:sp>
      <p:sp>
        <p:nvSpPr>
          <p:cNvPr id="12" name="Diagram label: Inhalation">
            <a:extLst xmlns:a="http://schemas.openxmlformats.org/drawingml/2006/main">
              <a:ext uri="{FF2B5EF4-FFF2-40B4-BE49-F238E27FC236}">
                <a16:creationId xmlns:a16="http://schemas.microsoft.com/office/drawing/2014/main" id="{78C14019-3502-4494-8E5D-184F3FF9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2460137"/>
            <a:ext cx="29120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Inhalation</a:t>
            </a:r>
          </a:p>
        </p:txBody>
      </p:sp>
      <p:sp>
        <p:nvSpPr>
          <p:cNvPr id="13" name="Diagram label: Quiet exhalation">
            <a:extLst xmlns:a="http://schemas.openxmlformats.org/drawingml/2006/main">
              <a:ext uri="{FF2B5EF4-FFF2-40B4-BE49-F238E27FC236}">
                <a16:creationId xmlns:a16="http://schemas.microsoft.com/office/drawing/2014/main" id="{90697993-682D-4070-A92D-9066031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2460137"/>
            <a:ext cx="29120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Quiet exhalation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DFF0947-F36B-461E-8790-2ED5565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28" y="3042557"/>
            <a:ext cx="2464083" cy="1680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BB32A96-99B2-4C7E-80DA-30C0D000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574" y="3303899"/>
            <a:ext cx="709357" cy="112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46B2A68-B520-48AF-824F-D328E74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08" y="3303899"/>
            <a:ext cx="709357" cy="112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ACFE79E-0E0C-4E19-ADDB-C89EF69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9270" y="2818550"/>
            <a:ext cx="953" cy="54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4D82A0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B4646E9-F434-4F04-975B-60FC304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66548" y="3327793"/>
            <a:ext cx="125444" cy="1254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9F3B30E-F52F-4F1F-A803-8A443DBF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4759949"/>
            <a:ext cx="2090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0E2701E-7946-4538-863C-35C83580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688" y="3303899"/>
            <a:ext cx="2464083" cy="1418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7F3B1EB-E94B-4F91-873F-6E35FEC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034" y="3490572"/>
            <a:ext cx="709357" cy="858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C88489A-B588-4242-87C4-257D98F6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68" y="3490572"/>
            <a:ext cx="709357" cy="858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A78F6C2-39D1-40CE-8629-E472DC0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62730" y="2912633"/>
            <a:ext cx="953" cy="54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4D82A0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338B29B-413C-4D87-892F-91B94CBA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008" y="2818550"/>
            <a:ext cx="125444" cy="1254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F6A1D74-EE22-421A-A509-2BBDCAA1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7361" y="4423937"/>
            <a:ext cx="1045369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78DE9C3-751D-4109-8B39-EEBA28D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730" y="4423937"/>
            <a:ext cx="1045369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7" name="Diagram label: Diaphragm contracts/flattens&#10;Volume rises; pressure falls&#10;Air enters">
            <a:extLst xmlns:a="http://schemas.openxmlformats.org/drawingml/2006/main">
              <a:ext uri="{FF2B5EF4-FFF2-40B4-BE49-F238E27FC236}">
                <a16:creationId xmlns:a16="http://schemas.microsoft.com/office/drawing/2014/main" id="{F5F59805-51AF-458F-AD5F-B423A5E5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4983956"/>
            <a:ext cx="2912099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Diaphragm contracts/flattens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Volume rises; pressure falls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enters</a:t>
            </a:r>
          </a:p>
        </p:txBody>
      </p:sp>
      <p:sp>
        <p:nvSpPr>
          <p:cNvPr id="28" name="Diagram label: Diaphragm relaxes; recoil&#10;Volume falls; pressure rises&#10;Air leaves">
            <a:extLst xmlns:a="http://schemas.openxmlformats.org/drawingml/2006/main">
              <a:ext uri="{FF2B5EF4-FFF2-40B4-BE49-F238E27FC236}">
                <a16:creationId xmlns:a16="http://schemas.microsoft.com/office/drawing/2014/main" id="{EFA4B0B7-524F-4591-B7A2-6A56186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4983956"/>
            <a:ext cx="2912099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Diaphragm relaxes; recoil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Volume falls; pressure rises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leaves</a:t>
            </a:r>
          </a:p>
        </p:txBody>
      </p:sp>
      <p:sp>
        <p:nvSpPr>
          <p:cNvPr id="29" name="Inhalation increases thoracic volume and lowers pressure.  Quiet">
            <a:extLst xmlns:a="http://schemas.openxmlformats.org/drawingml/2006/main">
              <a:ext uri="{FF2B5EF4-FFF2-40B4-BE49-F238E27FC236}">
                <a16:creationId xmlns:a16="http://schemas.microsoft.com/office/drawing/2014/main" id="{EB74C05C-2C96-441E-A294-AEC0AE30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Inhalation increases thoracic volume and lowers pressure. Quiet exhalation reverses the volume change.</a:t>
            </a:r>
          </a:p>
        </p:txBody>
      </p:sp>
    </p:spTree>
    <p:extLst>
      <p:ext uri="{BB962C8B-B14F-4D97-AF65-F5344CB8AC3E}">
        <p14:creationId xmlns:p14="http://schemas.microsoft.com/office/powerpoint/2010/main" val="1873107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2B672A93-BD1E-402B-8F83-9FEDBC5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5514E2A-A0FD-44F8-8FBF-B6317F3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9B7F363-721D-40A6-AF35-A1B58DC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A11CFD0-9270-46C9-BD90-3D15F165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1602B95-D791-46C5-B6CA-9960AAD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C6CAA59-0FD3-4733-83F8-5510543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Explain the exchange adaptations">
            <a:extLst xmlns:a="http://schemas.openxmlformats.org/drawingml/2006/main">
              <a:ext uri="{FF2B5EF4-FFF2-40B4-BE49-F238E27FC236}">
                <a16:creationId xmlns:a16="http://schemas.microsoft.com/office/drawing/2014/main" id="{E8BB1A83-805E-4554-974F-08B4E53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the exchange adaptations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2E931BE-AD11-4A16-865B-2521857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1FC005C2-A00E-48FA-BED1-9DD6DFD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8D3FB441-0DD8-4B20-8614-256B636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Constructed model: compare one factor">
            <a:extLst xmlns:a="http://schemas.openxmlformats.org/drawingml/2006/main">
              <a:ext uri="{FF2B5EF4-FFF2-40B4-BE49-F238E27FC236}">
                <a16:creationId xmlns:a16="http://schemas.microsoft.com/office/drawing/2014/main" id="{3D4254EA-DEFE-478F-8FD1-C634C696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model: compare one factor</a:t>
            </a:r>
          </a:p>
        </p:txBody>
      </p:sp>
      <p:sp>
        <p:nvSpPr>
          <p:cNvPr id="12" name="Diagram label: Relative model rate index; not a clinical unit">
            <a:extLst xmlns:a="http://schemas.openxmlformats.org/drawingml/2006/main">
              <a:ext uri="{FF2B5EF4-FFF2-40B4-BE49-F238E27FC236}">
                <a16:creationId xmlns:a16="http://schemas.microsoft.com/office/drawing/2014/main" id="{501DFF8D-DF01-4B24-80B7-A188B18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373426"/>
            <a:ext cx="630691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Relative model rate index; not a clinical unit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810A938-6218-4585-8A02-329A1EE0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378517-03B4-478E-AC35-9BBE12BA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793887"/>
            <a:ext cx="953" cy="2207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46D1DE2-98D2-4C9C-8986-5FE872C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5B5F0109-BF89-4C38-BD10-DE768E6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875167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26B2C53-16B3-43EA-8C91-ED7CC5B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4475729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8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72BE1A7B-C8D9-4B06-8499-930D0A4F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349591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7CC1595-8B9F-486F-AF47-E58EF0AA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950154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0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411075FB-E8B9-467C-BADD-CB31E7E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824015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9DD151B-CDFE-4BD6-A312-88AE513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424578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2" name="Diagram label: 15">
            <a:extLst xmlns:a="http://schemas.openxmlformats.org/drawingml/2006/main">
              <a:ext uri="{FF2B5EF4-FFF2-40B4-BE49-F238E27FC236}">
                <a16:creationId xmlns:a16="http://schemas.microsoft.com/office/drawing/2014/main" id="{53B28CF6-18DC-4B26-BFA8-655CE371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298439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D8FC8F3-BAB6-4E0E-A0B5-5483F7F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899002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4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8EE294D9-4F6B-41AA-8E7C-447EFF6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277286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31F41FC-DE11-433F-9B02-DA33E76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4160384"/>
            <a:ext cx="1483292" cy="840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6" name="Diagram label: 8">
            <a:extLst xmlns:a="http://schemas.openxmlformats.org/drawingml/2006/main">
              <a:ext uri="{FF2B5EF4-FFF2-40B4-BE49-F238E27FC236}">
                <a16:creationId xmlns:a16="http://schemas.microsoft.com/office/drawing/2014/main" id="{700FA394-55D1-470F-831B-07AAA27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3880077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27" name="Diagram label: P">
            <a:extLst xmlns:a="http://schemas.openxmlformats.org/drawingml/2006/main">
              <a:ext uri="{FF2B5EF4-FFF2-40B4-BE49-F238E27FC236}">
                <a16:creationId xmlns:a16="http://schemas.microsoft.com/office/drawing/2014/main" id="{3E203A77-FE05-40C5-B63B-8351D5F6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A719494-B45B-49FC-B8C9-F07C7C1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912" y="3319463"/>
            <a:ext cx="1483292" cy="1681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9" name="Diagram label: 16">
            <a:extLst xmlns:a="http://schemas.openxmlformats.org/drawingml/2006/main">
              <a:ext uri="{FF2B5EF4-FFF2-40B4-BE49-F238E27FC236}">
                <a16:creationId xmlns:a16="http://schemas.microsoft.com/office/drawing/2014/main" id="{E0488CB3-C184-4945-AB6A-B8FA3AE6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912" y="3039155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sp>
        <p:nvSpPr>
          <p:cNvPr id="30" name="Diagram label: Q">
            <a:extLst xmlns:a="http://schemas.openxmlformats.org/drawingml/2006/main">
              <a:ext uri="{FF2B5EF4-FFF2-40B4-BE49-F238E27FC236}">
                <a16:creationId xmlns:a16="http://schemas.microsoft.com/office/drawing/2014/main" id="{EC1A58F4-12AB-4BD7-B70C-3A511794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873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48B4DE0-57FE-4373-9D84-AE168474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472" y="4580845"/>
            <a:ext cx="1483292" cy="4204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32" name="Diagram label: 4">
            <a:extLst xmlns:a="http://schemas.openxmlformats.org/drawingml/2006/main">
              <a:ext uri="{FF2B5EF4-FFF2-40B4-BE49-F238E27FC236}">
                <a16:creationId xmlns:a16="http://schemas.microsoft.com/office/drawing/2014/main" id="{20AFAE0E-1068-4600-B2E7-771E1C85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472" y="4300538"/>
            <a:ext cx="148329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33" name="Diagram label: R">
            <a:extLst xmlns:a="http://schemas.openxmlformats.org/drawingml/2006/main">
              <a:ext uri="{FF2B5EF4-FFF2-40B4-BE49-F238E27FC236}">
                <a16:creationId xmlns:a16="http://schemas.microsoft.com/office/drawing/2014/main" id="{E249FC25-ED6C-4945-A60C-F5790AF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434" y="5106421"/>
            <a:ext cx="155336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</a:t>
            </a:r>
          </a:p>
        </p:txBody>
      </p:sp>
      <p:sp>
        <p:nvSpPr>
          <p:cNvPr id="34" name="Large area offers more exchange surface.  A thin barrier gives a">
            <a:extLst xmlns:a="http://schemas.openxmlformats.org/drawingml/2006/main">
              <a:ext uri="{FF2B5EF4-FFF2-40B4-BE49-F238E27FC236}">
                <a16:creationId xmlns:a16="http://schemas.microsoft.com/office/drawing/2014/main" id="{DF48B553-99F3-4201-8AEB-2FC0808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Large area offers more exchange surface. A thin barrier gives a short diffusion distance. Ventilation and flow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help sustain gradients.</a:t>
            </a:r>
          </a:p>
        </p:txBody>
      </p:sp>
    </p:spTree>
    <p:extLst>
      <p:ext uri="{BB962C8B-B14F-4D97-AF65-F5344CB8AC3E}">
        <p14:creationId xmlns:p14="http://schemas.microsoft.com/office/powerpoint/2010/main" val="415220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B2B3FFB-BC37-4854-B5F0-49B4BBF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9AA31E9-D625-436A-AB03-0573E639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5588C55-2BCD-4537-9778-3360F20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54A0A0A-93FE-4151-AA49-24A44A79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FA6AA323-E893-49AC-82B7-D3D7A5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7A9DF83-D441-43FE-9807-6CF761D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Diffusion design desk">
            <a:extLst xmlns:a="http://schemas.openxmlformats.org/drawingml/2006/main">
              <a:ext uri="{FF2B5EF4-FFF2-40B4-BE49-F238E27FC236}">
                <a16:creationId xmlns:a16="http://schemas.microsoft.com/office/drawing/2014/main" id="{E56C5082-FB7F-4046-8EAB-7F78D1EE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Diffusion design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A7B038D-A08F-4F0E-97AA-DE981B87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281059BF-3A92-47F5-994D-58A08DF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6D6958ED-48D7-47B5-9653-3DC9BFB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Which pair changes area only? Predict the faster case. W2. W">
            <a:extLst xmlns:a="http://schemas.openxmlformats.org/drawingml/2006/main">
              <a:ext uri="{FF2B5EF4-FFF2-40B4-BE49-F238E27FC236}">
                <a16:creationId xmlns:a16="http://schemas.microsoft.com/office/drawing/2014/main" id="{B213523E-A7F6-4AC1-9751-7265E5C3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Which pair changes area only? Predict the faster case. W2. Which pair changes thickness only?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 the slower case.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31695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11456"/>
                <a:gridCol w="2417470"/>
                <a:gridCol w="3851645"/>
                <a:gridCol w="2844629"/>
              </a:tblGrid>
              <a:tr h="801053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Relative area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Relative concentration difference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Relative thickness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idealised comparison; rate index = area × concentrat">
            <a:extLst xmlns:a="http://schemas.openxmlformats.org/drawingml/2006/main">
              <a:ext uri="{FF2B5EF4-FFF2-40B4-BE49-F238E27FC236}">
                <a16:creationId xmlns:a16="http://schemas.microsoft.com/office/drawing/2014/main" id="{3CB5FE00-D4FF-451D-8549-045242B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25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idealised comparison; rate index = area × concentration difference ÷ thickness.</a:t>
            </a:r>
          </a:p>
        </p:txBody>
      </p:sp>
    </p:spTree>
    <p:extLst>
      <p:ext uri="{BB962C8B-B14F-4D97-AF65-F5344CB8AC3E}">
        <p14:creationId xmlns:p14="http://schemas.microsoft.com/office/powerpoint/2010/main" val="1797042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C3BD9EEB-0338-4287-9C76-A6334D8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EBF99C6-2A5C-4C6E-AA40-23B0C60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60DFF7C-7AE8-46D9-AC7A-FB2ABFDF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9458152-F6A1-40E5-AD9C-D8EF5024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EE3F8B3-3D0E-438C-B0D9-B61B652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80594640-A346-41DD-AD2C-8E74D04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race a ventilation failure in the model">
            <a:extLst xmlns:a="http://schemas.openxmlformats.org/drawingml/2006/main">
              <a:ext uri="{FF2B5EF4-FFF2-40B4-BE49-F238E27FC236}">
                <a16:creationId xmlns:a16="http://schemas.microsoft.com/office/drawing/2014/main" id="{B33C2CEC-6EDE-48F5-94E3-1F6FEE23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a ventilation failure in the model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8B28AAB-DB7D-456D-96ED-7D9E055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375E571F-0DB8-46F7-9326-F2D2A1D7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0F9E345E-20A4-490F-BA2F-92C30F3F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Oxygen and carbon dioxide diffuse in opposite directions">
            <a:extLst xmlns:a="http://schemas.openxmlformats.org/drawingml/2006/main">
              <a:ext uri="{FF2B5EF4-FFF2-40B4-BE49-F238E27FC236}">
                <a16:creationId xmlns:a16="http://schemas.microsoft.com/office/drawing/2014/main" id="{EF8CF6CD-7B15-4219-BB29-555A723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 and carbon dioxide diffuse in opposite directions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B3EF157-BA7F-4BBA-8812-1E7DE7E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930553"/>
            <a:ext cx="2576087" cy="2016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3" name="Diagram label: Alveolar air&#10;Higher oxygen than&#10;arriving blood">
            <a:extLst xmlns:a="http://schemas.openxmlformats.org/drawingml/2006/main">
              <a:ext uri="{FF2B5EF4-FFF2-40B4-BE49-F238E27FC236}">
                <a16:creationId xmlns:a16="http://schemas.microsoft.com/office/drawing/2014/main" id="{3379FD7F-BE91-45BA-9947-3D0B698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3154561"/>
            <a:ext cx="2016068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Alveolar air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Higher oxygen than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arriving blood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19B13A5-6B05-4B5F-86D0-92D763B2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2893219"/>
            <a:ext cx="2576087" cy="20534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22401">
            <a:solidFill>
              <a:srgbClr val="B34D4D"/>
            </a:solidFill>
          </a:ln>
        </p:spPr>
      </p:sp>
      <p:sp>
        <p:nvSpPr>
          <p:cNvPr id="15" name="Diagram label: Arriving blood&#10;Lower oxygen than&#10;alveolar air">
            <a:extLst xmlns:a="http://schemas.openxmlformats.org/drawingml/2006/main">
              <a:ext uri="{FF2B5EF4-FFF2-40B4-BE49-F238E27FC236}">
                <a16:creationId xmlns:a16="http://schemas.microsoft.com/office/drawing/2014/main" id="{3C27CF4D-D2D2-4B16-BFE1-F17E260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117226"/>
            <a:ext cx="2128072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Arriving blood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Lower oxygen than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alveolar air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4F240F-B26A-4D40-B288-7547D94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59989" y="2781215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E13E4C6-4DD5-47FA-A939-F018E859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8665" y="2781215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553D6D6-C08B-47EC-A57A-A820F96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1293" y="4050591"/>
            <a:ext cx="18629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D27A656-E371-4078-BE98-FE6EB27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38155" y="39983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E5589C8-551C-4EF4-BB65-53E07EE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00" y="3662311"/>
            <a:ext cx="1642722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Diagram label: Oxygen">
            <a:extLst xmlns:a="http://schemas.openxmlformats.org/drawingml/2006/main">
              <a:ext uri="{FF2B5EF4-FFF2-40B4-BE49-F238E27FC236}">
                <a16:creationId xmlns:a16="http://schemas.microsoft.com/office/drawing/2014/main" id="{83DB09BF-D972-47A7-A858-18A4C4B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3662311"/>
            <a:ext cx="1568053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Oxygen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C8A4AFC-1800-44D2-8227-7BBDB19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979696" y="4610610"/>
            <a:ext cx="18629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B34D4D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7182590-5029-4BC5-BB1F-3409F90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901293" y="455834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C7CA7CB-7F71-4166-A398-0201040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962" y="4722614"/>
            <a:ext cx="1904065" cy="336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5" name="Diagram label: Carbon dioxide">
            <a:extLst xmlns:a="http://schemas.openxmlformats.org/drawingml/2006/main">
              <a:ext uri="{FF2B5EF4-FFF2-40B4-BE49-F238E27FC236}">
                <a16:creationId xmlns:a16="http://schemas.microsoft.com/office/drawing/2014/main" id="{FF3994E5-3D50-4E8C-83F0-70A672E6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297" y="4722614"/>
            <a:ext cx="1829395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Carbon dioxide</a:t>
            </a:r>
          </a:p>
        </p:txBody>
      </p:sp>
      <p:sp>
        <p:nvSpPr>
          <p:cNvPr id="26" name="Diagram label: Thin, moist exchange barrier&#10;Short diffusion distance">
            <a:extLst xmlns:a="http://schemas.openxmlformats.org/drawingml/2006/main">
              <a:ext uri="{FF2B5EF4-FFF2-40B4-BE49-F238E27FC236}">
                <a16:creationId xmlns:a16="http://schemas.microsoft.com/office/drawing/2014/main" id="{5B2904AD-3DC0-42F3-A234-AAF9131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319968"/>
            <a:ext cx="3509452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Thin, moist exchange barrier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Short diffusion distance</a:t>
            </a:r>
          </a:p>
        </p:txBody>
      </p:sp>
      <p:sp>
        <p:nvSpPr>
          <p:cNvPr id="27" name="Diagram label: Blood flow and ventilation&#10;help maintain gradients">
            <a:extLst xmlns:a="http://schemas.openxmlformats.org/drawingml/2006/main">
              <a:ext uri="{FF2B5EF4-FFF2-40B4-BE49-F238E27FC236}">
                <a16:creationId xmlns:a16="http://schemas.microsoft.com/office/drawing/2014/main" id="{A3FDAC90-B802-4BA4-98AF-503062FB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688" y="5319968"/>
            <a:ext cx="2762760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flow and ventilation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help maintain gradients</a:t>
            </a:r>
          </a:p>
        </p:txBody>
      </p:sp>
      <p:sp>
        <p:nvSpPr>
          <p:cNvPr id="28" name="W3. Fresh air stops being replaced while exchange continues.  Wh">
            <a:extLst xmlns:a="http://schemas.openxmlformats.org/drawingml/2006/main">
              <a:ext uri="{FF2B5EF4-FFF2-40B4-BE49-F238E27FC236}">
                <a16:creationId xmlns:a16="http://schemas.microsoft.com/office/drawing/2014/main" id="{A6B1743F-0C1C-4AE7-84C1-CE0F802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Fresh air stops being replaced while exchange continues. Why may the oxygen gradient decrease?</a:t>
            </a:r>
          </a:p>
        </p:txBody>
      </p:sp>
    </p:spTree>
    <p:extLst>
      <p:ext uri="{BB962C8B-B14F-4D97-AF65-F5344CB8AC3E}">
        <p14:creationId xmlns:p14="http://schemas.microsoft.com/office/powerpoint/2010/main" val="115441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13BA68E-345B-44CF-A599-6004527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5D8BF04-5349-4F5D-8008-97C094E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99B4FCE-16EF-4957-AE57-C1941A9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961E5CF-B2E3-4458-BDAE-F19AA5AF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6C5BA4B-128D-4DF0-8BE1-1A2FDD6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CEFEE12-7DB2-4096-8B5F-2E8211DB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a three-process caption">
            <a:extLst xmlns:a="http://schemas.openxmlformats.org/drawingml/2006/main">
              <a:ext uri="{FF2B5EF4-FFF2-40B4-BE49-F238E27FC236}">
                <a16:creationId xmlns:a16="http://schemas.microsoft.com/office/drawing/2014/main" id="{BBEB5F31-EAC0-4EC9-91F1-EADA9C4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a three-process caption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E800A4D-FBC0-4265-A0C0-1CA8789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41503EBB-2915-4CCB-A9B7-CE04925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CF4502CA-BA6F-4D76-8527-0C34E9DE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“The diaphragm respires oxygen into the blood.”">
            <a:extLst xmlns:a="http://schemas.openxmlformats.org/drawingml/2006/main">
              <a:ext uri="{FF2B5EF4-FFF2-40B4-BE49-F238E27FC236}">
                <a16:creationId xmlns:a16="http://schemas.microsoft.com/office/drawing/2014/main" id="{C7988AD9-EC80-4E75-AD78-6B601D3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diaphragm respires oxygen into the blood.”</a:t>
            </a:r>
          </a:p>
        </p:txBody>
      </p:sp>
      <p:sp>
        <p:nvSpPr>
          <p:cNvPr id="12" name="Replace it with ventilation, diffusion and respiration in the ri">
            <a:extLst xmlns:a="http://schemas.openxmlformats.org/drawingml/2006/main">
              <a:ext uri="{FF2B5EF4-FFF2-40B4-BE49-F238E27FC236}">
                <a16:creationId xmlns:a16="http://schemas.microsoft.com/office/drawing/2014/main" id="{236EBC84-7FFD-429C-8A86-D234A75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Replace it with ventilation, diffusion and respiration in the right places.</a:t>
            </a:r>
          </a:p>
        </p:txBody>
      </p:sp>
    </p:spTree>
    <p:extLst>
      <p:ext uri="{BB962C8B-B14F-4D97-AF65-F5344CB8AC3E}">
        <p14:creationId xmlns:p14="http://schemas.microsoft.com/office/powerpoint/2010/main" val="657627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D56F398C-EEBB-4BF8-9ED4-D526F09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B4B445D-F495-4DB8-946A-493F85A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52E020C-37E1-47CD-AEB5-D2C3C2F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C8C6BC7-7B06-4EBE-82D4-5545246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60022DDB-273C-4870-AA94-BF261B1B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433F971-39AC-4611-B5EB-6C1A2C06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explanation names the mechanism?">
            <a:extLst xmlns:a="http://schemas.openxmlformats.org/drawingml/2006/main">
              <a:ext uri="{FF2B5EF4-FFF2-40B4-BE49-F238E27FC236}">
                <a16:creationId xmlns:a16="http://schemas.microsoft.com/office/drawing/2014/main" id="{949BC040-83BE-4FA9-ABA2-6454296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explanation names the mechanism?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CAD6171-3E18-443E-9B3E-AF38D628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276706E4-C63F-4EB3-A455-F4E6DB0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9B559021-5B10-4167-B4E4-93DB1B76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supported claim.">
            <a:extLst xmlns:a="http://schemas.openxmlformats.org/drawingml/2006/main">
              <a:ext uri="{FF2B5EF4-FFF2-40B4-BE49-F238E27FC236}">
                <a16:creationId xmlns:a16="http://schemas.microsoft.com/office/drawing/2014/main" id="{6A27DA6F-53B5-4E05-B2AE-10EE694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supported claim.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AACB267-4DD7-4F41-A93D-47D8B7E7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8F3C179-15AF-4F3F-A168-22923981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0F9AEE05-EC76-4ABD-A374-FEF88876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A thin exchange barrier helps because it shortens diffusion dist">
            <a:extLst xmlns:a="http://schemas.openxmlformats.org/drawingml/2006/main">
              <a:ext uri="{FF2B5EF4-FFF2-40B4-BE49-F238E27FC236}">
                <a16:creationId xmlns:a16="http://schemas.microsoft.com/office/drawing/2014/main" id="{59B0FD17-73C0-4D21-BECB-EDC515F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thin exchange barrier helps because it shortens diffusion distance.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F483DFA-835A-462C-A906-DA530CA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850A5F0A-C724-4896-B3E5-649B87D5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8A3B8E49-9A2D-4291-A709-3A5A2E4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he diaphragm directly pushes oxygen through blood-cell membrane">
            <a:extLst xmlns:a="http://schemas.openxmlformats.org/drawingml/2006/main">
              <a:ext uri="{FF2B5EF4-FFF2-40B4-BE49-F238E27FC236}">
                <a16:creationId xmlns:a16="http://schemas.microsoft.com/office/drawing/2014/main" id="{ADDCD929-2922-453E-AEE2-F698263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diaphragm directly pushes oxygen through blood-cell membranes.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9D84318-511E-4E9B-BCFA-D093268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D048E61B-39AC-470F-BE86-D3154B59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FFB5C825-D7A1-4815-A9B3-3329305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large surface always guarantees fast exchange, regardless of e">
            <a:extLst xmlns:a="http://schemas.openxmlformats.org/drawingml/2006/main">
              <a:ext uri="{FF2B5EF4-FFF2-40B4-BE49-F238E27FC236}">
                <a16:creationId xmlns:a16="http://schemas.microsoft.com/office/drawing/2014/main" id="{19F00F42-0AB7-4964-9B59-3C14E0C2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large surface always guarantees fast exchange, regardless of every other factor.</a:t>
            </a:r>
          </a:p>
        </p:txBody>
      </p:sp>
    </p:spTree>
    <p:extLst>
      <p:ext uri="{BB962C8B-B14F-4D97-AF65-F5344CB8AC3E}">
        <p14:creationId xmlns:p14="http://schemas.microsoft.com/office/powerpoint/2010/main" val="1477654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3044EA3-E976-4FD6-BF66-D89CE216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F3F9E5A-99D8-410D-8284-15532BE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0C409EB-EA19-4E61-87BF-57AEED0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81C020E-88F0-4E35-9D6E-B7E2DE94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A0A24A6B-CCEF-41DD-BEB6-C308ECB0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FA2031EA-5811-4C3B-88B5-16E67EDA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Build an exchange explanation">
            <a:extLst xmlns:a="http://schemas.openxmlformats.org/drawingml/2006/main">
              <a:ext uri="{FF2B5EF4-FFF2-40B4-BE49-F238E27FC236}">
                <a16:creationId xmlns:a16="http://schemas.microsoft.com/office/drawing/2014/main" id="{61B4625E-3F5A-4D53-94B3-FEBB798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an exchange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E065C02-1CFD-46B3-88E2-0123CCF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858C48D2-6DC5-4613-A293-643CB43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EE605FBE-8ECD-48B2-8107-B8BDF03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oute.">
            <a:extLst xmlns:a="http://schemas.openxmlformats.org/drawingml/2006/main">
              <a:ext uri="{FF2B5EF4-FFF2-40B4-BE49-F238E27FC236}">
                <a16:creationId xmlns:a16="http://schemas.microsoft.com/office/drawing/2014/main" id="{9A4C151D-A7FB-4196-88D5-2A45DC8A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route.</a:t>
            </a:r>
          </a:p>
        </p:txBody>
      </p:sp>
      <p:sp>
        <p:nvSpPr>
          <p:cNvPr id="12" name="Use labelled arrows, the comparison table and a model limit.">
            <a:extLst xmlns:a="http://schemas.openxmlformats.org/drawingml/2006/main">
              <a:ext uri="{FF2B5EF4-FFF2-40B4-BE49-F238E27FC236}">
                <a16:creationId xmlns:a16="http://schemas.microsoft.com/office/drawing/2014/main" id="{43B1CFA7-311D-4B98-9251-646E06C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labelled arrows, the comparison table and a model limit.</a:t>
            </a:r>
          </a:p>
        </p:txBody>
      </p:sp>
    </p:spTree>
    <p:extLst>
      <p:ext uri="{BB962C8B-B14F-4D97-AF65-F5344CB8AC3E}">
        <p14:creationId xmlns:p14="http://schemas.microsoft.com/office/powerpoint/2010/main" val="52876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A59D463-3710-4B72-8DDC-70CDDA3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BC94EBB-8863-4F52-AFCE-BCF99AD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EA7F617-65C8-4994-928F-7511B7C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4DA9A34-4A17-4A35-BBC9-5DCA3D4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3E494C3-3E95-4960-8763-67E64DE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5FC5DF7C-4298-471B-B756-14B6CBE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the link from structure to function">
            <a:extLst xmlns:a="http://schemas.openxmlformats.org/drawingml/2006/main">
              <a:ext uri="{FF2B5EF4-FFF2-40B4-BE49-F238E27FC236}">
                <a16:creationId xmlns:a16="http://schemas.microsoft.com/office/drawing/2014/main" id="{10D292E7-2504-4E9B-BC77-1B604EC9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link from structure to function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AEEFE79-636C-4ECC-A435-42D50092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E78FAE2D-3426-45E6-9FB4-16313D3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67088952-E1F1-445B-9221-EC92A551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Structure → effect on exchange → reason.">
            <a:extLst xmlns:a="http://schemas.openxmlformats.org/drawingml/2006/main">
              <a:ext uri="{FF2B5EF4-FFF2-40B4-BE49-F238E27FC236}">
                <a16:creationId xmlns:a16="http://schemas.microsoft.com/office/drawing/2014/main" id="{9040D4FD-84E7-477B-9C9A-804DC56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Structure → effect on exchange → reason.</a:t>
            </a:r>
          </a:p>
        </p:txBody>
      </p:sp>
      <p:sp>
        <p:nvSpPr>
          <p:cNvPr id="12" name="Separate model predictions from measurements.">
            <a:extLst xmlns:a="http://schemas.openxmlformats.org/drawingml/2006/main">
              <a:ext uri="{FF2B5EF4-FFF2-40B4-BE49-F238E27FC236}">
                <a16:creationId xmlns:a16="http://schemas.microsoft.com/office/drawing/2014/main" id="{287F5F04-B010-4D1F-8270-04DED10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Separate model predictions from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20066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CD268B5-3B17-4A7C-9ED5-A671B9AA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55FD0E6-5D85-4887-95EA-D5FA102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491BB60-34B6-407B-9D63-98FE3DF6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EEB1B99-5C92-4203-87F1-0B03B60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FC5BE489-604E-4386-AEF9-95C5D73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E23A95D-A7A2-449E-98C5-CAB7EE0C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asks: what actually moves?">
            <a:extLst xmlns:a="http://schemas.openxmlformats.org/drawingml/2006/main">
              <a:ext uri="{FF2B5EF4-FFF2-40B4-BE49-F238E27FC236}">
                <a16:creationId xmlns:a16="http://schemas.microsoft.com/office/drawing/2014/main" id="{2C2AF03E-E8C7-499B-9CD2-043705D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what actually moves?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27F4C95-C9BC-411A-93E5-F842CF1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9B4D62A8-A2F5-4F5D-80D4-C0893C92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911904A9-D312-4F05-A9E0-B788BB13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one explanation.">
            <a:extLst xmlns:a="http://schemas.openxmlformats.org/drawingml/2006/main">
              <a:ext uri="{FF2B5EF4-FFF2-40B4-BE49-F238E27FC236}">
                <a16:creationId xmlns:a16="http://schemas.microsoft.com/office/drawing/2014/main" id="{23AAAC2E-816D-4B49-BFCA-A227CE7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one explanation.</a:t>
            </a:r>
          </a:p>
        </p:txBody>
      </p:sp>
      <p:sp>
        <p:nvSpPr>
          <p:cNvPr id="12" name="Audience asks whether it concerns air, gas particles or blood.">
            <a:extLst xmlns:a="http://schemas.openxmlformats.org/drawingml/2006/main">
              <a:ext uri="{FF2B5EF4-FFF2-40B4-BE49-F238E27FC236}">
                <a16:creationId xmlns:a16="http://schemas.microsoft.com/office/drawing/2014/main" id="{A064DE2D-1CF7-43EB-B22E-8DA2E91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 whether it concerns air, gas particles or blood.</a:t>
            </a:r>
          </a:p>
        </p:txBody>
      </p:sp>
    </p:spTree>
    <p:extLst>
      <p:ext uri="{BB962C8B-B14F-4D97-AF65-F5344CB8AC3E}">
        <p14:creationId xmlns:p14="http://schemas.microsoft.com/office/powerpoint/2010/main" val="1171391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8C29B65-4144-445F-82F8-E46508B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C7B2B74-5B14-4555-BA6D-B459C7B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2F4252E-52A7-4D6F-807D-2C8C066D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3B661E3-95DC-401A-B54C-9F97944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BBEF4708-4393-43AF-963B-B2AC137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5219581-9282-4620-BFBF-FDA483CC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Use three precise verbs">
            <a:extLst xmlns:a="http://schemas.openxmlformats.org/drawingml/2006/main">
              <a:ext uri="{FF2B5EF4-FFF2-40B4-BE49-F238E27FC236}">
                <a16:creationId xmlns:a16="http://schemas.microsoft.com/office/drawing/2014/main" id="{1C45844D-99AE-4FA6-BCB9-5C96A01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three precise verbs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1E645E8-2C15-4831-A3F9-134807F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480587C4-996A-4568-B701-B0138677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0D502564-E945-4BC3-887C-CDA795A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Ventilate air. Diffuse gases. Transport blood.">
            <a:extLst xmlns:a="http://schemas.openxmlformats.org/drawingml/2006/main">
              <a:ext uri="{FF2B5EF4-FFF2-40B4-BE49-F238E27FC236}">
                <a16:creationId xmlns:a16="http://schemas.microsoft.com/office/drawing/2014/main" id="{6365F79D-1C30-45BD-BF2F-62ED7438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Ventilate air. Diffuse gases. Transport blood.</a:t>
            </a:r>
          </a:p>
        </p:txBody>
      </p:sp>
      <p:sp>
        <p:nvSpPr>
          <p:cNvPr id="12" name="Then explain cellular respiration separately.">
            <a:extLst xmlns:a="http://schemas.openxmlformats.org/drawingml/2006/main">
              <a:ext uri="{FF2B5EF4-FFF2-40B4-BE49-F238E27FC236}">
                <a16:creationId xmlns:a16="http://schemas.microsoft.com/office/drawing/2014/main" id="{A926C3B0-9DD0-461C-B2C7-93F2B8AB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explain cellular respiration separately.</a:t>
            </a:r>
          </a:p>
        </p:txBody>
      </p:sp>
    </p:spTree>
    <p:extLst>
      <p:ext uri="{BB962C8B-B14F-4D97-AF65-F5344CB8AC3E}">
        <p14:creationId xmlns:p14="http://schemas.microsoft.com/office/powerpoint/2010/main" val="1339961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9749204-13FA-4457-92FE-084293A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170CF85-15F5-41D8-8ABC-C485AB1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6F4DB83-D803-45D5-AD89-0C34929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E9EADFA-99CF-40A6-AC0F-5EFCA90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8CEF7618-F2E9-47BC-B453-C0B83286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C22CCB15-8B0D-4147-9716-66AB31B2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Three mechanism checks">
            <a:extLst xmlns:a="http://schemas.openxmlformats.org/drawingml/2006/main">
              <a:ext uri="{FF2B5EF4-FFF2-40B4-BE49-F238E27FC236}">
                <a16:creationId xmlns:a16="http://schemas.microsoft.com/office/drawing/2014/main" id="{7888D392-97A9-4AFE-8B2D-F183E110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mechanism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B699DBD-1386-4DFA-9461-0A955EA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B96E8E6D-C066-49D8-AB9D-D036704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135D1228-F7A1-4AB8-A2E7-D4DC551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What happens to pressure during inhalation?">
            <a:extLst xmlns:a="http://schemas.openxmlformats.org/drawingml/2006/main">
              <a:ext uri="{FF2B5EF4-FFF2-40B4-BE49-F238E27FC236}">
                <a16:creationId xmlns:a16="http://schemas.microsoft.com/office/drawing/2014/main" id="{D350818E-A7C1-4624-A564-BA3BC171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happens to pressure during inhalation?</a:t>
            </a:r>
          </a:p>
        </p:txBody>
      </p:sp>
      <p:sp>
        <p:nvSpPr>
          <p:cNvPr id="12" name="E2. Why does a thin barrier help diffusion?">
            <a:extLst xmlns:a="http://schemas.openxmlformats.org/drawingml/2006/main">
              <a:ext uri="{FF2B5EF4-FFF2-40B4-BE49-F238E27FC236}">
                <a16:creationId xmlns:a16="http://schemas.microsoft.com/office/drawing/2014/main" id="{A60637A9-EBF3-46EB-A6A2-D60D566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does a thin barrier help diffusion?</a:t>
            </a:r>
          </a:p>
        </p:txBody>
      </p:sp>
      <p:sp>
        <p:nvSpPr>
          <p:cNvPr id="13" name="E3. Name one process distinct from respiration.">
            <a:extLst xmlns:a="http://schemas.openxmlformats.org/drawingml/2006/main">
              <a:ext uri="{FF2B5EF4-FFF2-40B4-BE49-F238E27FC236}">
                <a16:creationId xmlns:a16="http://schemas.microsoft.com/office/drawing/2014/main" id="{5502A15E-B638-445A-9C66-3D5ADE9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Name one process distinct from respiration.</a:t>
            </a:r>
          </a:p>
        </p:txBody>
      </p:sp>
    </p:spTree>
    <p:extLst>
      <p:ext uri="{BB962C8B-B14F-4D97-AF65-F5344CB8AC3E}">
        <p14:creationId xmlns:p14="http://schemas.microsoft.com/office/powerpoint/2010/main" val="11061153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8249ABE8-6C19-4E7C-88DE-698A016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39EF808-CF2E-4EC6-A188-E5FA4F5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97C1F6B-9EEA-4DB7-BA4E-8599698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E0BD80F-19D8-492A-94D9-4FC9792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FCE573C5-192C-417B-A631-079F627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2F6A7A83-9F09-4546-94DE-BE61077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2215FA4-DD92-43DE-B761-9404758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Exchange and ventilation: two linked jobs">
            <a:extLst xmlns:a="http://schemas.openxmlformats.org/drawingml/2006/main">
              <a:ext uri="{FF2B5EF4-FFF2-40B4-BE49-F238E27FC236}">
                <a16:creationId xmlns:a16="http://schemas.microsoft.com/office/drawing/2014/main" id="{E0090E41-5DC7-4944-A281-F80339A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Exchange and ventilation: two linked jobs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78493D04-5E49-4147-99D4-F3233FD0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Pressure • gas gradient • diffusion distance • model scope.">
            <a:extLst xmlns:a="http://schemas.openxmlformats.org/drawingml/2006/main">
              <a:ext uri="{FF2B5EF4-FFF2-40B4-BE49-F238E27FC236}">
                <a16:creationId xmlns:a16="http://schemas.microsoft.com/office/drawing/2014/main" id="{48111A1C-BAB8-49C3-B7D2-46FB3D6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Pressure • gas gradient • diffusion distance • model scope.</a:t>
            </a:r>
          </a:p>
        </p:txBody>
      </p:sp>
    </p:spTree>
    <p:extLst>
      <p:ext uri="{BB962C8B-B14F-4D97-AF65-F5344CB8AC3E}">
        <p14:creationId xmlns:p14="http://schemas.microsoft.com/office/powerpoint/2010/main" val="2004046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2026-09-09T00:08:46.5690000Z</dcterms:created>
  <dcterms:modified xsi:type="dcterms:W3CDTF">2026-09-09T00:08:46.5700000Z</dcterms:modified>
</coreProperties>
</file>