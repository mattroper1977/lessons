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bfde0501d04cf8" /><Relationship Type="http://schemas.openxmlformats.org/officeDocument/2006/relationships/extended-properties" Target="/docProps/app.xml" Id="Rff182f5d79be4019" /><Relationship Type="http://schemas.openxmlformats.org/officeDocument/2006/relationships/officeDocument" Target="/ppt/presentation.xml" Id="R5c3731e412f442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24b803bd6744a2"/>
  </p:sldMasterIdLst>
  <p:notesMasterIdLst>
    <p:notesMasterId xmlns:r="http://schemas.openxmlformats.org/officeDocument/2006/relationships" r:id="R611300af13f84d03"/>
  </p:notesMasterIdLst>
  <p:sldIdLst>
    <p:sldId xmlns:r="http://schemas.openxmlformats.org/officeDocument/2006/relationships" id="256" r:id="R164ec8b34a5643e3"/>
    <p:sldId xmlns:r="http://schemas.openxmlformats.org/officeDocument/2006/relationships" id="257" r:id="Rb658636be2284371"/>
    <p:sldId xmlns:r="http://schemas.openxmlformats.org/officeDocument/2006/relationships" id="258" r:id="Ra83496c20b024fee"/>
    <p:sldId xmlns:r="http://schemas.openxmlformats.org/officeDocument/2006/relationships" id="259" r:id="R35bbab1f85da40ed"/>
    <p:sldId xmlns:r="http://schemas.openxmlformats.org/officeDocument/2006/relationships" id="260" r:id="Rdaa47e99f7e84369"/>
    <p:sldId xmlns:r="http://schemas.openxmlformats.org/officeDocument/2006/relationships" id="261" r:id="R3aaa9240a15148ca"/>
    <p:sldId xmlns:r="http://schemas.openxmlformats.org/officeDocument/2006/relationships" id="262" r:id="Rd472a3196b334f17"/>
    <p:sldId xmlns:r="http://schemas.openxmlformats.org/officeDocument/2006/relationships" id="263" r:id="R67f395003f504ad6"/>
    <p:sldId xmlns:r="http://schemas.openxmlformats.org/officeDocument/2006/relationships" id="264" r:id="Rb76142b17b6c4875"/>
    <p:sldId xmlns:r="http://schemas.openxmlformats.org/officeDocument/2006/relationships" id="265" r:id="R972b5a3744bd4ae0"/>
    <p:sldId xmlns:r="http://schemas.openxmlformats.org/officeDocument/2006/relationships" id="266" r:id="Ra26c64bf4a2d4fd4"/>
    <p:sldId xmlns:r="http://schemas.openxmlformats.org/officeDocument/2006/relationships" id="267" r:id="R24e5d637f53e40f7"/>
    <p:sldId xmlns:r="http://schemas.openxmlformats.org/officeDocument/2006/relationships" id="268" r:id="R3c78ca777aa8429d"/>
    <p:sldId xmlns:r="http://schemas.openxmlformats.org/officeDocument/2006/relationships" id="269" r:id="R008d1d379f664471"/>
    <p:sldId xmlns:r="http://schemas.openxmlformats.org/officeDocument/2006/relationships" id="270" r:id="Ra2e305529f0f4a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a9c1156b3b41b5" /><Relationship Type="http://schemas.openxmlformats.org/officeDocument/2006/relationships/slideMaster" Target="/ppt/slideMasters/slideMaster1.xml" Id="R8124b803bd6744a2" /><Relationship Type="http://schemas.openxmlformats.org/officeDocument/2006/relationships/notesMaster" Target="/ppt/notesMasters/notesMaster1.xml" Id="R611300af13f84d03" /><Relationship Type="http://schemas.openxmlformats.org/officeDocument/2006/relationships/presProps" Target="/ppt/presProps.xml" Id="Rcd05c9ba0d664c92" /><Relationship Type="http://schemas.openxmlformats.org/officeDocument/2006/relationships/tableStyles" Target="/ppt/tableStyles.xml" Id="R759af16daffd447f" /><Relationship Type="http://schemas.openxmlformats.org/officeDocument/2006/relationships/slide" Target="/ppt/slides/slide1.xml" Id="R164ec8b34a5643e3" /><Relationship Type="http://schemas.openxmlformats.org/officeDocument/2006/relationships/slide" Target="/ppt/slides/slide2.xml" Id="Rb658636be2284371" /><Relationship Type="http://schemas.openxmlformats.org/officeDocument/2006/relationships/slide" Target="/ppt/slides/slide3.xml" Id="Ra83496c20b024fee" /><Relationship Type="http://schemas.openxmlformats.org/officeDocument/2006/relationships/slide" Target="/ppt/slides/slide4.xml" Id="R35bbab1f85da40ed" /><Relationship Type="http://schemas.openxmlformats.org/officeDocument/2006/relationships/slide" Target="/ppt/slides/slide5.xml" Id="Rdaa47e99f7e84369" /><Relationship Type="http://schemas.openxmlformats.org/officeDocument/2006/relationships/slide" Target="/ppt/slides/slide6.xml" Id="R3aaa9240a15148ca" /><Relationship Type="http://schemas.openxmlformats.org/officeDocument/2006/relationships/slide" Target="/ppt/slides/slide7.xml" Id="Rd472a3196b334f17" /><Relationship Type="http://schemas.openxmlformats.org/officeDocument/2006/relationships/slide" Target="/ppt/slides/slide8.xml" Id="R67f395003f504ad6" /><Relationship Type="http://schemas.openxmlformats.org/officeDocument/2006/relationships/slide" Target="/ppt/slides/slide9.xml" Id="Rb76142b17b6c4875" /><Relationship Type="http://schemas.openxmlformats.org/officeDocument/2006/relationships/slide" Target="/ppt/slides/slide10.xml" Id="R972b5a3744bd4ae0" /><Relationship Type="http://schemas.openxmlformats.org/officeDocument/2006/relationships/slide" Target="/ppt/slides/slide11.xml" Id="Ra26c64bf4a2d4fd4" /><Relationship Type="http://schemas.openxmlformats.org/officeDocument/2006/relationships/slide" Target="/ppt/slides/slide12.xml" Id="R24e5d637f53e40f7" /><Relationship Type="http://schemas.openxmlformats.org/officeDocument/2006/relationships/slide" Target="/ppt/slides/slide13.xml" Id="R3c78ca777aa8429d" /><Relationship Type="http://schemas.openxmlformats.org/officeDocument/2006/relationships/slide" Target="/ppt/slides/slide14.xml" Id="R008d1d379f664471" /><Relationship Type="http://schemas.openxmlformats.org/officeDocument/2006/relationships/slide" Target="/ppt/slides/slide15.xml" Id="Ra2e305529f0f4a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1880ee31c949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5c091a7e064429" /><Relationship Type="http://schemas.openxmlformats.org/officeDocument/2006/relationships/notesMaster" Target="/ppt/notesMasters/notesMaster1.xml" Id="Rfccd1fabf4c741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c4eaf5144c407d" /><Relationship Type="http://schemas.openxmlformats.org/officeDocument/2006/relationships/notesMaster" Target="/ppt/notesMasters/notesMaster1.xml" Id="R21ee04573ce040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9f432087a94d28" /><Relationship Type="http://schemas.openxmlformats.org/officeDocument/2006/relationships/notesMaster" Target="/ppt/notesMasters/notesMaster1.xml" Id="R181a23c4662345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5cb0993ce64bbf" /><Relationship Type="http://schemas.openxmlformats.org/officeDocument/2006/relationships/notesMaster" Target="/ppt/notesMasters/notesMaster1.xml" Id="Rf1989b8d0fa545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3bf6f9a04f4341" /><Relationship Type="http://schemas.openxmlformats.org/officeDocument/2006/relationships/notesMaster" Target="/ppt/notesMasters/notesMaster1.xml" Id="R76d1b48e183842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8fb062205e450d" /><Relationship Type="http://schemas.openxmlformats.org/officeDocument/2006/relationships/notesMaster" Target="/ppt/notesMasters/notesMaster1.xml" Id="R049d8a9cf46346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209e07a54546f7" /><Relationship Type="http://schemas.openxmlformats.org/officeDocument/2006/relationships/notesMaster" Target="/ppt/notesMasters/notesMaster1.xml" Id="R256a5fb7829e41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ef362affd948f7" /><Relationship Type="http://schemas.openxmlformats.org/officeDocument/2006/relationships/notesMaster" Target="/ppt/notesMasters/notesMaster1.xml" Id="Rff315958c29b46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e7fa2f70db4374" /><Relationship Type="http://schemas.openxmlformats.org/officeDocument/2006/relationships/notesMaster" Target="/ppt/notesMasters/notesMaster1.xml" Id="R1a0155d9a4b446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09d4fd9e9d4ce3" /><Relationship Type="http://schemas.openxmlformats.org/officeDocument/2006/relationships/notesMaster" Target="/ppt/notesMasters/notesMaster1.xml" Id="Ra32cff74646a48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2bc71020274b43" /><Relationship Type="http://schemas.openxmlformats.org/officeDocument/2006/relationships/notesMaster" Target="/ppt/notesMasters/notesMaster1.xml" Id="R53dca454592448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cf4ecb692543f3" /><Relationship Type="http://schemas.openxmlformats.org/officeDocument/2006/relationships/notesMaster" Target="/ppt/notesMasters/notesMaster1.xml" Id="R5e5bdc46fcdf44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b5d977bb414257" /><Relationship Type="http://schemas.openxmlformats.org/officeDocument/2006/relationships/notesMaster" Target="/ppt/notesMasters/notesMaster1.xml" Id="Rabca322bbe7c43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a66c51b1c344e1" /><Relationship Type="http://schemas.openxmlformats.org/officeDocument/2006/relationships/notesMaster" Target="/ppt/notesMasters/notesMaster1.xml" Id="R8aca9a7be59149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fb21d4ea6c49c9" /><Relationship Type="http://schemas.openxmlformats.org/officeDocument/2006/relationships/notesMaster" Target="/ppt/notesMasters/notesMaster1.xml" Id="R7ee0a75f2d0242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prediction. Explain that “memory” is a property of immune cells, not a person remembering to fight an infection.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disease-causing agent. R2 reduces entry. R3 no: a cell contains many molecules; antibody proteins are made by cells. Teach protein as a type of molecule without requiring amino-acid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Model: “Mucus traps particles/pathogens. Cilia move mucus towards the throat, helping remove them from the airways.” Contrast with acid’s chemical action. Avoid saying cilia kill pathogens or that all swallowed pathogens die.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Four labelled examples pair a defence with a mechanism: skin barrier, mucus and cilia in airways, lysozyme in tears, hydrochloric acid in the stomach. These reduce entry or survival, not a perfect shield.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“I have a cell that makes proteins, and a protein that binds a target. They are not the same object. The simplified shape lets me predict which target fits; real binding depends on molecular structure.” Antibodies may neutralise/mark; other cells can engulf.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Simplified shape-matching model, not molecular scale: antibody protein has binding sites complementary to antigen X. Antigen Y is a different shape. Binding helps the immune response; antibodies are not cells and do not themselves engulf pathogens.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read x-axis first, then compare y-values at the same elapsed day. “20−2=18 units more, in this constructed dataset. It does not tell me an individual’s protection or a universal time.” Later exposure is to the same antigen; no universal-antibody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Constructed teaching data comparing elapsed days after first and later exposure to the same antigen. Arbitrary antibody units: first response 0,0,2,6,10,7; later response 0,8,20,32,30,24 at days 0,2,4,6,8,10. Not clinical measurements or a protective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 exposure → specific antibody response and formation of memory → memory retained → faster response on later exposure to same antigen. Antibody production and memory formation overlap; avoid a strict claim that memory waits until every antibody disappears.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Antigen exposure triggers a specific response and memory formation. Memory retained → faster response to the same antigen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No: a different antigen may not have a complementary binding site. The drawing models specificity, not actual molecular scale or all immune mechanisms. Let pupils trace/point before revealing.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Simplified shape-matching model, not molecular scale: antibody protein has binding sites complementary to antigen X. Antigen Y is a different shape. Binding helps the immune response; antibodies are not cells and do not themselves engulf pathogens.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versus 32 arbitrary units; difference 26. Memory supports faster/larger response to same antigen. Numbers constructed; graph not a clinical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 correct. Use protein/cell wordcards if A; refer antigen X/Y if C; distinguish medicine mechanisms if 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Antibodies are memory cells.</a:t>
            </a:r>
          </a:p>
          <a:p xmlns:a="http://schemas.openxmlformats.org/drawingml/2006/main">
            <a:r>
              <a:t>Antibodies are proteins; memory lymphocytes are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Memory lymphocytes support a faster response to the same antigen.</a:t>
            </a:r>
          </a:p>
          <a:p xmlns:a="http://schemas.openxmlformats.org/drawingml/2006/main">
            <a:r>
              <a:t>Correct. Yes. Specific memory helps the later response begin sooner and often become larger.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One antibody protects equally against every pathogen.</a:t>
            </a:r>
          </a:p>
          <a:p xmlns:a="http://schemas.openxmlformats.org/drawingml/2006/main">
            <a:r>
              <a:t>Antibody binding is specific; different antigen features may not be recognised.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D. Antibiotics work by creating immune memory.</a:t>
            </a:r>
          </a:p>
          <a:p xmlns:a="http://schemas.openxmlformats.org/drawingml/2006/main">
            <a:r>
              <a:t>Antibiotics act against bacteria. They are not a method for creating specific immune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selected route and shared evidence; pupils need no online research.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Supported S1–S4; standard M1–M4; stretch T1–T4. Assess the cell/protein distinction before asking longer explanations. If needed, place lymphocyte and antibody in separate boxes with makes between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quiet partner/TA exchange. Pupil improves a label or arrow using the question, or defends an accurate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Model: vaccination stimulates a specific response and memory; later exposure can be dealt with faster, reducing disease risk/severity, but protection varies and is not guaranteed. Do not introduce schedules or individual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one accurate mechanism each. E 3 should include same antigen and faster response. Revisit matching model if universal protection 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exit minute. Pupils choose privately. No health or vaccination status is requested.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How do vaccines work?</a:t>
            </a:r>
          </a:p>
          <a:p xmlns:a="http://schemas.openxmlformats.org/drawingml/2006/main">
            <a:r>
              <a:t>https://www.who.int/news-room/feature-stories/detail/how-do-vaccines-work</a:t>
            </a:r>
          </a:p>
          <a:p xmlns:a="http://schemas.openxmlformats.org/drawingml/2006/main">
            <a:r>
              <a:t>Checked antigen specificity, immune memory and vaccination. Graph values are original constructed numbers, not vaccine-performance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NIAID: Immune system overview</a:t>
            </a:r>
          </a:p>
          <a:p xmlns:a="http://schemas.openxmlformats.org/drawingml/2006/main">
            <a:r>
              <a:t>https://www.niaid.nih.gov/research/immune-system-overview</a:t>
            </a:r>
          </a:p>
          <a:p xmlns:a="http://schemas.openxmlformats.org/drawingml/2006/main">
            <a:r>
              <a:t>Checked distinction between cells, proteins and innate/adaptive immune functions.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bacteria-versus-virus contrast; no treatment decisions or dosing advice.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18d2f6b7849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19155faee44bb1" /><Relationship Type="http://schemas.openxmlformats.org/officeDocument/2006/relationships/slideLayout" Target="/ppt/slideLayouts/slideLayout1.xml" Id="Rafc3fef38c8b41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c3fef38c8b41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6243b5aa04fe1" /><Relationship Type="http://schemas.openxmlformats.org/officeDocument/2006/relationships/notesSlide" Target="/ppt/notesSlides/notesSlide1.xml" Id="Re21699b05bb94d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6df16899f46f7" /><Relationship Type="http://schemas.openxmlformats.org/officeDocument/2006/relationships/notesSlide" Target="/ppt/notesSlides/notesSlide2.xml" Id="R0ae096cc2b8544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f4701189c48ba" /><Relationship Type="http://schemas.openxmlformats.org/officeDocument/2006/relationships/notesSlide" Target="/ppt/notesSlides/notesSlide3.xml" Id="R7c99ae13d2754d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5d24135e3457b" /><Relationship Type="http://schemas.openxmlformats.org/officeDocument/2006/relationships/notesSlide" Target="/ppt/notesSlides/notesSlide4.xml" Id="Rc0db78ada57041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a4f9220f04154" /><Relationship Type="http://schemas.openxmlformats.org/officeDocument/2006/relationships/notesSlide" Target="/ppt/notesSlides/notesSlide5.xml" Id="R22cc46555c5b47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232ebab714c37" /><Relationship Type="http://schemas.openxmlformats.org/officeDocument/2006/relationships/notesSlide" Target="/ppt/notesSlides/notesSlide6.xml" Id="Rbe40858f72dd44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4088112b24cfa" /><Relationship Type="http://schemas.openxmlformats.org/officeDocument/2006/relationships/notesSlide" Target="/ppt/notesSlides/notesSlide7.xml" Id="Rfeaae04c481a44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a9d223dfc42cf" /><Relationship Type="http://schemas.openxmlformats.org/officeDocument/2006/relationships/notesSlide" Target="/ppt/notesSlides/notesSlide8.xml" Id="Rdc39498c72764f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0e6747f1a4b3b" /><Relationship Type="http://schemas.openxmlformats.org/officeDocument/2006/relationships/notesSlide" Target="/ppt/notesSlides/notesSlide9.xml" Id="Rc1321c67c7e74c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30eeaf5b847be" /><Relationship Type="http://schemas.openxmlformats.org/officeDocument/2006/relationships/notesSlide" Target="/ppt/notesSlides/notesSlide10.xml" Id="R78e5b022af3040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1d6b0b62646c8" /><Relationship Type="http://schemas.openxmlformats.org/officeDocument/2006/relationships/notesSlide" Target="/ppt/notesSlides/notesSlide11.xml" Id="Re2393a3494f648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dbd20371a4117" /><Relationship Type="http://schemas.openxmlformats.org/officeDocument/2006/relationships/notesSlide" Target="/ppt/notesSlides/notesSlide12.xml" Id="R83301e92a9934a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163f81a324e55" /><Relationship Type="http://schemas.openxmlformats.org/officeDocument/2006/relationships/notesSlide" Target="/ppt/notesSlides/notesSlide13.xml" Id="R361f4805b69442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46db783b64cbb" /><Relationship Type="http://schemas.openxmlformats.org/officeDocument/2006/relationships/notesSlide" Target="/ppt/notesSlides/notesSlide14.xml" Id="R9fc8203533484a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493e96a58430e" /><Relationship Type="http://schemas.openxmlformats.org/officeDocument/2006/relationships/notesSlide" Target="/ppt/notesSlides/notesSlide15.xml" Id="Rbc886dd0f60c4e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C58355F1-B2EF-44CF-893C-4C9C6FBE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4FE4D2F-6D42-4469-8794-21F70B53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5C66310-2B29-4912-8FE0-FCD0F898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55F7E923-9083-400C-9639-D8435820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8DC714C1-2364-488C-9BE9-0C3A725E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B2EBB2DC-7AA6-45A0-AD2A-396EFA83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How can the second response be faster?">
            <a:extLst xmlns:a="http://schemas.openxmlformats.org/drawingml/2006/main">
              <a:ext uri="{FF2B5EF4-FFF2-40B4-BE49-F238E27FC236}">
                <a16:creationId xmlns:a16="http://schemas.microsoft.com/office/drawing/2014/main" id="{1BE42FB6-4628-4BCC-99CB-BAAE958C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How can the second response be faster?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AAAD293-A94B-4BF4-95C9-8CDEFEE6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803965F9-C941-47DB-B29F-C0F1C583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61426C04-A6CF-4506-9B5D-25735E50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930428B7-89D7-4142-9303-D7DF89C1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D7AFE864-6A38-4432-AF3D-22B2653E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7863EE2A-DC43-46A4-BA30-285F8CA9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Explain how barriers and the specific immune response protect th">
            <a:extLst xmlns:a="http://schemas.openxmlformats.org/drawingml/2006/main">
              <a:ext uri="{FF2B5EF4-FFF2-40B4-BE49-F238E27FC236}">
                <a16:creationId xmlns:a16="http://schemas.microsoft.com/office/drawing/2014/main" id="{9C875FE2-7F33-4154-83ED-575DDE66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how barriers and the specific immune response protect the body,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including memory after immunisation.</a:t>
            </a:r>
          </a:p>
        </p:txBody>
      </p:sp>
      <p:sp>
        <p:nvSpPr>
          <p:cNvPr id="15" name="Mission: build a defence explanation from cells, proteins and ev">
            <a:extLst xmlns:a="http://schemas.openxmlformats.org/drawingml/2006/main">
              <a:ext uri="{FF2B5EF4-FFF2-40B4-BE49-F238E27FC236}">
                <a16:creationId xmlns:a16="http://schemas.microsoft.com/office/drawing/2014/main" id="{B18268BB-EDB3-4ECC-A1EB-B206B387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Mission: build a defence explanation from cells, proteins and evidence.</a:t>
            </a:r>
          </a:p>
        </p:txBody>
      </p:sp>
      <p:sp>
        <p:nvSpPr>
          <p:cNvPr id="16" name="Use the model; no personal health stories needed.">
            <a:extLst xmlns:a="http://schemas.openxmlformats.org/drawingml/2006/main">
              <a:ext uri="{FF2B5EF4-FFF2-40B4-BE49-F238E27FC236}">
                <a16:creationId xmlns:a16="http://schemas.microsoft.com/office/drawing/2014/main" id="{6E8EE9E6-9ADD-4191-A2DD-CC33C5FE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model; no personal health stories needed.</a:t>
            </a:r>
          </a:p>
        </p:txBody>
      </p:sp>
    </p:spTree>
    <p:extLst>
      <p:ext uri="{BB962C8B-B14F-4D97-AF65-F5344CB8AC3E}">
        <p14:creationId xmlns:p14="http://schemas.microsoft.com/office/powerpoint/2010/main" val="1407824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19BDA54F-E3F6-495B-963C-C7CFE83C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92197C3-5D93-46BA-B341-6BDD2615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8589377-4930-4DF3-9B53-4BC3CC0D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581EDB5C-5374-49A7-8662-ABD1A608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499F7E6C-8F65-4FB7-872A-4BAA9AB0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8A28B677-470D-4047-A73C-5869429C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Three distinctions">
            <a:extLst xmlns:a="http://schemas.openxmlformats.org/drawingml/2006/main">
              <a:ext uri="{FF2B5EF4-FFF2-40B4-BE49-F238E27FC236}">
                <a16:creationId xmlns:a16="http://schemas.microsoft.com/office/drawing/2014/main" id="{02D883CB-E86D-47F0-BB24-00D1A6A4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distinctions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BE12392-CDBA-41D4-9970-103BB9D6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7344AF50-012C-4285-871A-1F61E52D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3DD3CFFD-7F19-4CEC-AE30-A09B914C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at is a pathogen?">
            <a:extLst xmlns:a="http://schemas.openxmlformats.org/drawingml/2006/main">
              <a:ext uri="{FF2B5EF4-FFF2-40B4-BE49-F238E27FC236}">
                <a16:creationId xmlns:a16="http://schemas.microsoft.com/office/drawing/2014/main" id="{D40B7225-5BC1-44DC-9405-8F4E8879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What is a pathogen?</a:t>
            </a:r>
          </a:p>
        </p:txBody>
      </p:sp>
      <p:sp>
        <p:nvSpPr>
          <p:cNvPr id="12" name="R2. What does a physical barrier do?">
            <a:extLst xmlns:a="http://schemas.openxmlformats.org/drawingml/2006/main">
              <a:ext uri="{FF2B5EF4-FFF2-40B4-BE49-F238E27FC236}">
                <a16:creationId xmlns:a16="http://schemas.microsoft.com/office/drawing/2014/main" id="{122A6D2A-7214-489D-8B19-7C25D66B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What does a physical barrier do?</a:t>
            </a:r>
          </a:p>
        </p:txBody>
      </p:sp>
      <p:sp>
        <p:nvSpPr>
          <p:cNvPr id="13" name="R3. Is a cell the same thing as a protein?">
            <a:extLst xmlns:a="http://schemas.openxmlformats.org/drawingml/2006/main">
              <a:ext uri="{FF2B5EF4-FFF2-40B4-BE49-F238E27FC236}">
                <a16:creationId xmlns:a16="http://schemas.microsoft.com/office/drawing/2014/main" id="{8E7FBE31-5C5E-4EC9-A369-EE0F9B31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Is a cell the same thing as a protein?</a:t>
            </a:r>
          </a:p>
        </p:txBody>
      </p:sp>
    </p:spTree>
    <p:extLst>
      <p:ext uri="{BB962C8B-B14F-4D97-AF65-F5344CB8AC3E}">
        <p14:creationId xmlns:p14="http://schemas.microsoft.com/office/powerpoint/2010/main" val="656584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E803AB99-4091-4934-9E65-D79B4F6B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5BBC1D1-65D5-48F5-9893-83F63C7D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D251EC6-80FD-4F41-A7C9-59A27085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636A41F-049E-4187-9324-10D89EC8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389902FC-0753-4E0B-81E6-B8A21B46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9959A6D3-2746-4B0C-B89D-3F16DEAD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Before a specific response">
            <a:extLst xmlns:a="http://schemas.openxmlformats.org/drawingml/2006/main">
              <a:ext uri="{FF2B5EF4-FFF2-40B4-BE49-F238E27FC236}">
                <a16:creationId xmlns:a16="http://schemas.microsoft.com/office/drawing/2014/main" id="{868BAD29-A4E2-4F23-909F-194D881C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Before a specific response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91FD9F8-2416-4BCA-AD8C-3A5275D0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EACD468F-3211-40AA-9DDE-F84370A6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50D52E83-B1FD-4990-B86D-397D22A8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Defences at the entry points">
            <a:extLst xmlns:a="http://schemas.openxmlformats.org/drawingml/2006/main">
              <a:ext uri="{FF2B5EF4-FFF2-40B4-BE49-F238E27FC236}">
                <a16:creationId xmlns:a16="http://schemas.microsoft.com/office/drawing/2014/main" id="{085D8844-AE5B-4F0B-BDDA-34B16645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Defences at the entry points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3AE66B7-5A0B-4783-90D1-800A31C4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669211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Skin&#10;Physical barrier">
            <a:extLst xmlns:a="http://schemas.openxmlformats.org/drawingml/2006/main">
              <a:ext uri="{FF2B5EF4-FFF2-40B4-BE49-F238E27FC236}">
                <a16:creationId xmlns:a16="http://schemas.microsoft.com/office/drawing/2014/main" id="{4ABE05A8-B927-4D8F-ABFA-27942328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2803616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Skin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Physical barrier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FAF4C40-4399-4903-BA1A-E779AF75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677" y="2669211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5" name="Diagram label: Airway mucus + cilia&#10;Trap material,&#10;then move it">
            <a:extLst xmlns:a="http://schemas.openxmlformats.org/drawingml/2006/main">
              <a:ext uri="{FF2B5EF4-FFF2-40B4-BE49-F238E27FC236}">
                <a16:creationId xmlns:a16="http://schemas.microsoft.com/office/drawing/2014/main" id="{328BD0F3-4E15-4CA2-8682-1EAA4970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2803616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Airway mucus + cilia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Trap material,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then move it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8333B6A-1FF8-4F66-8789-06FAE205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4311933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Tears: lysozyme&#10;Damages some&#10;bacterial walls">
            <a:extLst xmlns:a="http://schemas.openxmlformats.org/drawingml/2006/main">
              <a:ext uri="{FF2B5EF4-FFF2-40B4-BE49-F238E27FC236}">
                <a16:creationId xmlns:a16="http://schemas.microsoft.com/office/drawing/2014/main" id="{D431F89E-323E-4963-BAC1-2E6F1B0D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446338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Tears: lysozyme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Damages some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bacterial walls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FABD347-6D26-4A9B-BD7C-BB8FB2C3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677" y="4311933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9" name="Diagram label: Stomach acid&#10;Kills many swallowed&#10;pathogens">
            <a:extLst xmlns:a="http://schemas.openxmlformats.org/drawingml/2006/main">
              <a:ext uri="{FF2B5EF4-FFF2-40B4-BE49-F238E27FC236}">
                <a16:creationId xmlns:a16="http://schemas.microsoft.com/office/drawing/2014/main" id="{EC4EAFC3-01A7-403D-ABD3-1BD99C05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4446338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Stomach acid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Kills many swallowed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pathogens</a:t>
            </a:r>
          </a:p>
        </p:txBody>
      </p:sp>
      <p:sp>
        <p:nvSpPr>
          <p:cNvPr id="20" name="Diagram label: Barriers reduce entry or survival; they are not perfect.">
            <a:extLst xmlns:a="http://schemas.openxmlformats.org/drawingml/2006/main">
              <a:ext uri="{FF2B5EF4-FFF2-40B4-BE49-F238E27FC236}">
                <a16:creationId xmlns:a16="http://schemas.microsoft.com/office/drawing/2014/main" id="{6E45CD9C-C8F6-41E3-918C-F6848897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5543975"/>
            <a:ext cx="686956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Barriers reduce entry or survival; they are not perfect.</a:t>
            </a:r>
          </a:p>
        </p:txBody>
      </p:sp>
      <p:sp>
        <p:nvSpPr>
          <p:cNvPr id="21" name="Match a structure with its protective action.  I explain how it ">
            <a:extLst xmlns:a="http://schemas.openxmlformats.org/drawingml/2006/main">
              <a:ext uri="{FF2B5EF4-FFF2-40B4-BE49-F238E27FC236}">
                <a16:creationId xmlns:a16="http://schemas.microsoft.com/office/drawing/2014/main" id="{1EF53AB3-D41B-439B-B3D3-A61D1465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Match a structure with its protective action. I explain how it works, not just where it is.</a:t>
            </a:r>
          </a:p>
        </p:txBody>
      </p:sp>
    </p:spTree>
    <p:extLst>
      <p:ext uri="{BB962C8B-B14F-4D97-AF65-F5344CB8AC3E}">
        <p14:creationId xmlns:p14="http://schemas.microsoft.com/office/powerpoint/2010/main" val="11689147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2E36664F-ADA9-44C8-86CB-27CA2379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F59DBDD-CEFB-47C2-B4F9-0A9C70A8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0490502-DDB4-4F46-9AC3-B38F89A4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140A1176-82CB-4879-8718-5787EF71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6AE14587-E633-4A19-BBDE-F306374E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DBF00EBB-EB27-4C6C-8EE9-5F98B2B4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cognise the antigen">
            <a:extLst xmlns:a="http://schemas.openxmlformats.org/drawingml/2006/main">
              <a:ext uri="{FF2B5EF4-FFF2-40B4-BE49-F238E27FC236}">
                <a16:creationId xmlns:a16="http://schemas.microsoft.com/office/drawing/2014/main" id="{4F8FA09E-22D3-4218-9FE1-DEEA953C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Recognise the antigen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3E30BE3-940F-4F2F-9A5E-0491CB3D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2B06BDD5-FF3C-4CED-8D08-4A3AE8A4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4 / 15">
            <a:extLst xmlns:a="http://schemas.openxmlformats.org/drawingml/2006/main">
              <a:ext uri="{FF2B5EF4-FFF2-40B4-BE49-F238E27FC236}">
                <a16:creationId xmlns:a16="http://schemas.microsoft.com/office/drawing/2014/main" id="{301F2BCC-DDEB-4E0C-8E39-369D4E0C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1" name="Diagram label: A protein can recognise a specific antigen">
            <a:extLst xmlns:a="http://schemas.openxmlformats.org/drawingml/2006/main">
              <a:ext uri="{FF2B5EF4-FFF2-40B4-BE49-F238E27FC236}">
                <a16:creationId xmlns:a16="http://schemas.microsoft.com/office/drawing/2014/main" id="{4CDEBE24-8879-4E43-944E-D0F83CA6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protein can recognise a specific antigen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70DEF7C-6ACA-4B07-9652-EF3955C0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93887"/>
            <a:ext cx="1786958" cy="15066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BD9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B91F25A-CFCC-4695-8518-D93CD405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543" y="2604679"/>
            <a:ext cx="385422" cy="385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ED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4" name="Diagram label: Pathogen surface&#10;Antigen X: square">
            <a:extLst xmlns:a="http://schemas.openxmlformats.org/drawingml/2006/main">
              <a:ext uri="{FF2B5EF4-FFF2-40B4-BE49-F238E27FC236}">
                <a16:creationId xmlns:a16="http://schemas.microsoft.com/office/drawing/2014/main" id="{3FA78E18-C331-4228-B0B9-E41927E0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4475729"/>
            <a:ext cx="2102304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Pathogen surface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2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Antigen X: square</a:t>
            </a:r>
          </a:p>
        </p:txBody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6E6B068-82E9-41CB-8548-849C5772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6154" y="3389539"/>
            <a:ext cx="953" cy="6306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8108">
            <a:solidFill>
              <a:srgbClr val="7A5C9E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B85FC65-E81C-4695-8180-21A61AA7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759631" y="2934040"/>
            <a:ext cx="476522" cy="4554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8108">
            <a:solidFill>
              <a:srgbClr val="7A5C9E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255A81C-B7CB-4A91-98CF-0DF16E30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6154" y="2934040"/>
            <a:ext cx="476522" cy="4554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8108">
            <a:solidFill>
              <a:srgbClr val="7A5C9E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135D71A-7866-4B26-AF91-D757A65A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1524" y="2849948"/>
            <a:ext cx="953" cy="2172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7A5C9E"/>
            </a:solidFill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8E52653-374E-42AC-ABD2-F51FCA9C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1524" y="3067186"/>
            <a:ext cx="20322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7A5C9E"/>
            </a:solidFill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B792A93-B479-4209-91DA-C55DB989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10783" y="2849948"/>
            <a:ext cx="953" cy="2172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7A5C9E"/>
            </a:solidFill>
          </a:ln>
        </p:spPr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E1276BD-5202-47E8-9C81-00BFF276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07561" y="3067186"/>
            <a:ext cx="20322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7A5C9E"/>
            </a:solidFill>
          </a:ln>
        </p:spPr>
      </p:sp>
      <p:sp>
        <p:nvSpPr>
          <p:cNvPr id="22" name="Diagram label: Antibody protein&#10;Binding-site model">
            <a:extLst xmlns:a="http://schemas.openxmlformats.org/drawingml/2006/main">
              <a:ext uri="{FF2B5EF4-FFF2-40B4-BE49-F238E27FC236}">
                <a16:creationId xmlns:a16="http://schemas.microsoft.com/office/drawing/2014/main" id="{BB8648CA-7A7A-4357-A9C8-8956C5A1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40" y="4475729"/>
            <a:ext cx="2032227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Antibody protein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2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Binding-site model</a:t>
            </a:r>
          </a:p>
        </p:txBody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1A26DE1-31FB-4A34-B2BF-40513BB8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958" y="2934040"/>
            <a:ext cx="981075" cy="981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4" name="Diagram label: Antigen Y&#10;Different fit">
            <a:extLst xmlns:a="http://schemas.openxmlformats.org/drawingml/2006/main">
              <a:ext uri="{FF2B5EF4-FFF2-40B4-BE49-F238E27FC236}">
                <a16:creationId xmlns:a16="http://schemas.microsoft.com/office/drawing/2014/main" id="{DC0A53A8-0770-483A-AF0B-C8284C23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497" y="4475729"/>
            <a:ext cx="1786958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Antigen 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2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Different fit</a:t>
            </a:r>
          </a:p>
        </p:txBody>
      </p:sp>
      <p:sp>
        <p:nvSpPr>
          <p:cNvPr id="25" name="Diagram label: A simplified recognition model; shapes are not to scale.">
            <a:extLst xmlns:a="http://schemas.openxmlformats.org/drawingml/2006/main">
              <a:ext uri="{FF2B5EF4-FFF2-40B4-BE49-F238E27FC236}">
                <a16:creationId xmlns:a16="http://schemas.microsoft.com/office/drawing/2014/main" id="{8AFAFA4B-1D77-44B1-B0E7-9E74FBA3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5211536"/>
            <a:ext cx="6306911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simplified recognition model; shapes are not to scale.</a:t>
            </a:r>
          </a:p>
        </p:txBody>
      </p:sp>
      <p:sp>
        <p:nvSpPr>
          <p:cNvPr id="26" name="An antigen can trigger a specific immune response.  Antibodies a">
            <a:extLst xmlns:a="http://schemas.openxmlformats.org/drawingml/2006/main">
              <a:ext uri="{FF2B5EF4-FFF2-40B4-BE49-F238E27FC236}">
                <a16:creationId xmlns:a16="http://schemas.microsoft.com/office/drawing/2014/main" id="{AB12C0F8-E235-4393-80A0-8E8E0C45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 antigen can trigger a specific immune response. Antibodies are proteins made by specialised cells.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Binding depends on the antigen.</a:t>
            </a:r>
          </a:p>
        </p:txBody>
      </p:sp>
    </p:spTree>
    <p:extLst>
      <p:ext uri="{BB962C8B-B14F-4D97-AF65-F5344CB8AC3E}">
        <p14:creationId xmlns:p14="http://schemas.microsoft.com/office/powerpoint/2010/main" val="1125419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surface">
            <a:extLst xmlns:a="http://schemas.openxmlformats.org/drawingml/2006/main">
              <a:ext uri="{FF2B5EF4-FFF2-40B4-BE49-F238E27FC236}">
                <a16:creationId xmlns:a16="http://schemas.microsoft.com/office/drawing/2014/main" id="{08DB1684-ADE2-419E-AD08-C7EB9E0A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79A0F2B-C1E9-4083-9F53-EA48CFA6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4E401A5-EC86-4DF0-AE34-3B058E0E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7BF02CD-77BC-4A3E-84C6-F58C8341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ECAE8257-A001-4064-B122-2E4DEFD4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5825BEC0-522A-43F4-9897-21C203CF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ad the time and amount">
            <a:extLst xmlns:a="http://schemas.openxmlformats.org/drawingml/2006/main">
              <a:ext uri="{FF2B5EF4-FFF2-40B4-BE49-F238E27FC236}">
                <a16:creationId xmlns:a16="http://schemas.microsoft.com/office/drawing/2014/main" id="{358E94D8-C429-43C8-A0A5-9F826F23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the time and amount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A6F7BE1-02E5-4E7C-88F4-2ED58DD4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8744647D-0795-42E2-913B-95A70A4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5 / 15">
            <a:extLst xmlns:a="http://schemas.openxmlformats.org/drawingml/2006/main">
              <a:ext uri="{FF2B5EF4-FFF2-40B4-BE49-F238E27FC236}">
                <a16:creationId xmlns:a16="http://schemas.microsoft.com/office/drawing/2014/main" id="{C5901410-B0A6-4C65-B100-0379941F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1" name="Diagram label: Same antigen: compare the responses">
            <a:extLst xmlns:a="http://schemas.openxmlformats.org/drawingml/2006/main">
              <a:ext uri="{FF2B5EF4-FFF2-40B4-BE49-F238E27FC236}">
                <a16:creationId xmlns:a16="http://schemas.microsoft.com/office/drawing/2014/main" id="{B6F41964-526F-4B49-A556-010FA305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antigen: compare the responses</a:t>
            </a:r>
          </a:p>
        </p:txBody>
      </p:sp>
      <p:sp>
        <p:nvSpPr>
          <p:cNvPr id="12" name="Diagram label: Antibody amount (arbitrary units)">
            <a:extLst xmlns:a="http://schemas.openxmlformats.org/drawingml/2006/main">
              <a:ext uri="{FF2B5EF4-FFF2-40B4-BE49-F238E27FC236}">
                <a16:creationId xmlns:a16="http://schemas.microsoft.com/office/drawing/2014/main" id="{904DE23D-4E2C-4DBE-839A-286D4A32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2373426"/>
            <a:ext cx="6517141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Antibody amount (arbitrary units)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36441C7-E252-47FA-80D5-ECFA44F2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03159" y="4861152"/>
            <a:ext cx="553606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35D937E-4E86-4ED5-916D-D9541439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03159" y="2828925"/>
            <a:ext cx="953" cy="20322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1F2937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8B57208-5165-4BBE-B7D0-6F2EA474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03159" y="4861152"/>
            <a:ext cx="553606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16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38B790E8-B0D6-4F59-B52B-922751DC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52" y="4735014"/>
            <a:ext cx="546599" cy="252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16BC8C6-D04B-452F-BD34-4E25E9D4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03159" y="4388133"/>
            <a:ext cx="553606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18" name="Diagram label: 10">
            <a:extLst xmlns:a="http://schemas.openxmlformats.org/drawingml/2006/main">
              <a:ext uri="{FF2B5EF4-FFF2-40B4-BE49-F238E27FC236}">
                <a16:creationId xmlns:a16="http://schemas.microsoft.com/office/drawing/2014/main" id="{D19B57B4-6392-4583-98D4-2FF22B93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52" y="4261995"/>
            <a:ext cx="546599" cy="252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2C1D3DD-DD63-439F-9391-21B5E1C1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03159" y="3915115"/>
            <a:ext cx="553606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0" name="Diagram label: 20">
            <a:extLst xmlns:a="http://schemas.openxmlformats.org/drawingml/2006/main">
              <a:ext uri="{FF2B5EF4-FFF2-40B4-BE49-F238E27FC236}">
                <a16:creationId xmlns:a16="http://schemas.microsoft.com/office/drawing/2014/main" id="{E7F502CF-DE6A-4C77-9D92-0614E4D8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52" y="3788977"/>
            <a:ext cx="546599" cy="252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20</a:t>
            </a:r>
          </a:p>
        </p:txBody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A78D8B7-DF7D-4B62-AC7E-F98B29AE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03159" y="3442097"/>
            <a:ext cx="553606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2" name="Diagram label: 30">
            <a:extLst xmlns:a="http://schemas.openxmlformats.org/drawingml/2006/main">
              <a:ext uri="{FF2B5EF4-FFF2-40B4-BE49-F238E27FC236}">
                <a16:creationId xmlns:a16="http://schemas.microsoft.com/office/drawing/2014/main" id="{4A7DF282-E8DC-4481-8BB1-914A755D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52" y="3315959"/>
            <a:ext cx="546599" cy="252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30</a:t>
            </a:r>
          </a:p>
        </p:txBody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DA2BBE3-E8B3-4B50-9764-C8DB264D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03159" y="2969079"/>
            <a:ext cx="553606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4" name="Diagram label: 40">
            <a:extLst xmlns:a="http://schemas.openxmlformats.org/drawingml/2006/main">
              <a:ext uri="{FF2B5EF4-FFF2-40B4-BE49-F238E27FC236}">
                <a16:creationId xmlns:a16="http://schemas.microsoft.com/office/drawing/2014/main" id="{CBE93CE8-4DB2-4316-8D22-23C94213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52" y="2842940"/>
            <a:ext cx="546599" cy="252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40</a:t>
            </a:r>
          </a:p>
        </p:txBody>
      </p:sp>
      <p:sp>
        <p:nvSpPr>
          <p:cNvPr id="25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81C5BEBB-7C24-489E-85FE-DC47E63F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044" y="4945244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26" name="Diagram label: 2">
            <a:extLst xmlns:a="http://schemas.openxmlformats.org/drawingml/2006/main">
              <a:ext uri="{FF2B5EF4-FFF2-40B4-BE49-F238E27FC236}">
                <a16:creationId xmlns:a16="http://schemas.microsoft.com/office/drawing/2014/main" id="{C414D59C-3402-418D-ABFB-B9216EDF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180" y="4945244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27" name="Diagram label: 4">
            <a:extLst xmlns:a="http://schemas.openxmlformats.org/drawingml/2006/main">
              <a:ext uri="{FF2B5EF4-FFF2-40B4-BE49-F238E27FC236}">
                <a16:creationId xmlns:a16="http://schemas.microsoft.com/office/drawing/2014/main" id="{D8E31150-A686-48D9-A18A-A9F8AD85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317" y="4945244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8" name="Diagram label: 6">
            <a:extLst xmlns:a="http://schemas.openxmlformats.org/drawingml/2006/main">
              <a:ext uri="{FF2B5EF4-FFF2-40B4-BE49-F238E27FC236}">
                <a16:creationId xmlns:a16="http://schemas.microsoft.com/office/drawing/2014/main" id="{C131FA4C-1662-4026-BF92-C033AAE6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453" y="4945244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6</a:t>
            </a:r>
          </a:p>
        </p:txBody>
      </p:sp>
      <p:sp>
        <p:nvSpPr>
          <p:cNvPr id="29" name="Diagram label: 8">
            <a:extLst xmlns:a="http://schemas.openxmlformats.org/drawingml/2006/main">
              <a:ext uri="{FF2B5EF4-FFF2-40B4-BE49-F238E27FC236}">
                <a16:creationId xmlns:a16="http://schemas.microsoft.com/office/drawing/2014/main" id="{4036C779-F780-447A-95AE-34268BC6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89" y="4945244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8</a:t>
            </a:r>
          </a:p>
        </p:txBody>
      </p:sp>
      <p:sp>
        <p:nvSpPr>
          <p:cNvPr id="30" name="Diagram label: 10">
            <a:extLst xmlns:a="http://schemas.openxmlformats.org/drawingml/2006/main">
              <a:ext uri="{FF2B5EF4-FFF2-40B4-BE49-F238E27FC236}">
                <a16:creationId xmlns:a16="http://schemas.microsoft.com/office/drawing/2014/main" id="{464305BB-330D-4038-83D6-F30DBAB6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726" y="4945244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3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6A68E41-8CDD-4FF0-86AB-BCA263D0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3313" y="4861152"/>
            <a:ext cx="103713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C9803B"/>
            </a:solidFill>
          </a:ln>
        </p:spPr>
      </p:sp>
      <p:sp>
        <p:nvSpPr>
          <p:cNvPr id="3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7250532-CA43-4B7A-A89C-6FE46EF9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80449" y="4766548"/>
            <a:ext cx="1037136" cy="94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C9803B"/>
            </a:solidFill>
          </a:ln>
        </p:spPr>
      </p:sp>
      <p:sp>
        <p:nvSpPr>
          <p:cNvPr id="3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72F72B7-4FFA-498F-8BDC-83B7175A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717585" y="4577341"/>
            <a:ext cx="1037136" cy="1892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C9803B"/>
            </a:solidFill>
          </a:ln>
        </p:spPr>
      </p:sp>
      <p:sp>
        <p:nvSpPr>
          <p:cNvPr id="3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A6464B9-E1ED-4799-AFA5-9838C9B8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754722" y="4388133"/>
            <a:ext cx="1037136" cy="1892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C9803B"/>
            </a:solidFill>
          </a:ln>
        </p:spPr>
      </p:sp>
      <p:sp>
        <p:nvSpPr>
          <p:cNvPr id="3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93314BC-B8C2-4601-8E16-FA994461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91858" y="4388133"/>
            <a:ext cx="1037136" cy="14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C9803B"/>
            </a:solidFill>
          </a:ln>
        </p:spPr>
      </p:sp>
      <p:sp>
        <p:nvSpPr>
          <p:cNvPr id="3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0A6986A-D1B4-48D8-9521-8313DF4D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266" y="4819106"/>
            <a:ext cx="84092" cy="84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3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63541A1-1A56-43C2-9A72-72BBC323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403" y="4819106"/>
            <a:ext cx="84092" cy="84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3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D147AA0-3BC3-4EAB-BCC9-2558D1D6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539" y="4724502"/>
            <a:ext cx="84092" cy="84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3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D2ADF94-AA98-46D1-933B-8549425A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676" y="4535295"/>
            <a:ext cx="84092" cy="84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4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72BC2C2-DC8E-43B4-97CA-C033B894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812" y="4346087"/>
            <a:ext cx="84092" cy="84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4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9A47D8C-B964-42B4-8805-C2DDF31F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949" y="4487993"/>
            <a:ext cx="84092" cy="84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42" name="Diagram label: First exposure">
            <a:extLst xmlns:a="http://schemas.openxmlformats.org/drawingml/2006/main">
              <a:ext uri="{FF2B5EF4-FFF2-40B4-BE49-F238E27FC236}">
                <a16:creationId xmlns:a16="http://schemas.microsoft.com/office/drawing/2014/main" id="{1625679A-D170-41B7-A115-486F780B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5421766"/>
            <a:ext cx="2592841" cy="252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24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324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First exposure</a:t>
            </a:r>
          </a:p>
        </p:txBody>
      </p:sp>
      <p:sp>
        <p:nvSpPr>
          <p:cNvPr id="4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69B12C5-E896-4C72-A069-D78AE672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43313" y="4482737"/>
            <a:ext cx="1037136" cy="3784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4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7FE060D-C139-4E9F-8E3F-58393C91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80449" y="3915115"/>
            <a:ext cx="1037136" cy="567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4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F0A8332-542F-4CFC-8928-71210413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717585" y="3347493"/>
            <a:ext cx="1037136" cy="567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4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E852D3D-06E6-4E5C-B982-D3977BEA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54722" y="3347493"/>
            <a:ext cx="1037136" cy="94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4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6C706A1-3D57-48CB-A019-C4ABE1F2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91858" y="3442097"/>
            <a:ext cx="1037136" cy="2838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4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C315EB4-051F-49C5-BB02-5364F93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266" y="4819106"/>
            <a:ext cx="84092" cy="84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4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A9CA955-1605-42B7-BA7F-E6543D29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403" y="4440691"/>
            <a:ext cx="84092" cy="84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5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A570861-4DF2-4E14-B251-7EBDED9A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539" y="3873069"/>
            <a:ext cx="84092" cy="84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5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54DDF56-D12C-41B0-AC02-AC621F92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676" y="3305447"/>
            <a:ext cx="84092" cy="84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5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8F0D29A-B9C0-4A76-9153-5068E195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812" y="3400051"/>
            <a:ext cx="84092" cy="84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5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EA4A8EB-3E34-4F36-9900-D9663A1E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949" y="3683862"/>
            <a:ext cx="84092" cy="84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54" name="Diagram label: Later same antigen">
            <a:extLst xmlns:a="http://schemas.openxmlformats.org/drawingml/2006/main">
              <a:ext uri="{FF2B5EF4-FFF2-40B4-BE49-F238E27FC236}">
                <a16:creationId xmlns:a16="http://schemas.microsoft.com/office/drawing/2014/main" id="{60CBF455-1463-404E-BC5B-1213639E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269" y="5421766"/>
            <a:ext cx="2592841" cy="252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24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324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Later same antigen</a:t>
            </a:r>
          </a:p>
        </p:txBody>
      </p:sp>
      <p:sp>
        <p:nvSpPr>
          <p:cNvPr id="55" name="Diagram label: Days since each exposure">
            <a:extLst xmlns:a="http://schemas.openxmlformats.org/drawingml/2006/main">
              <a:ext uri="{FF2B5EF4-FFF2-40B4-BE49-F238E27FC236}">
                <a16:creationId xmlns:a16="http://schemas.microsoft.com/office/drawing/2014/main" id="{3D7173ED-C1F5-4263-94DF-1CB4D361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080" y="5183505"/>
            <a:ext cx="4134530" cy="224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Days since each exposure</a:t>
            </a:r>
          </a:p>
        </p:txBody>
      </p:sp>
      <p:sp>
        <p:nvSpPr>
          <p:cNvPr id="56" name="At day 4: first response 2 units; later response 20.  The later ">
            <a:extLst xmlns:a="http://schemas.openxmlformats.org/drawingml/2006/main">
              <a:ext uri="{FF2B5EF4-FFF2-40B4-BE49-F238E27FC236}">
                <a16:creationId xmlns:a16="http://schemas.microsoft.com/office/drawing/2014/main" id="{FD5FAA49-CCC8-4204-B698-E5549253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At day 4: first response 2 units; later response 20. The later response begins sooner in this model. Memory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lymphocytes support the faster response.</a:t>
            </a:r>
          </a:p>
        </p:txBody>
      </p:sp>
    </p:spTree>
    <p:extLst>
      <p:ext uri="{BB962C8B-B14F-4D97-AF65-F5344CB8AC3E}">
        <p14:creationId xmlns:p14="http://schemas.microsoft.com/office/powerpoint/2010/main" val="4291894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EB5C2A1-BF6C-4AB2-BA86-E0103AA2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CABECFD-5891-4279-8B27-85EED8F6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5E5E6E2-DF3A-4A6E-8E69-52C33B8A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9CB2443D-2210-4B73-AE3B-2CFBEFF4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A2413F83-EEBF-4F49-A436-3AC5767C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287217FB-A3AA-4370-8374-C035D968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Build the explanation chain">
            <a:extLst xmlns:a="http://schemas.openxmlformats.org/drawingml/2006/main">
              <a:ext uri="{FF2B5EF4-FFF2-40B4-BE49-F238E27FC236}">
                <a16:creationId xmlns:a16="http://schemas.microsoft.com/office/drawing/2014/main" id="{D926E9E3-4623-4C79-AB2B-7F6AE43A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Build the explanation chain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AB96584-5F6A-400E-B614-789E59C2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981930CE-65DE-40F8-8D58-F1088AF3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018A2562-DD85-4253-BE55-C94E15B3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Order: antibody response • antigen exposure • memory retaine">
            <a:extLst xmlns:a="http://schemas.openxmlformats.org/drawingml/2006/main">
              <a:ext uri="{FF2B5EF4-FFF2-40B4-BE49-F238E27FC236}">
                <a16:creationId xmlns:a16="http://schemas.microsoft.com/office/drawing/2014/main" id="{200AFA01-93FB-4E77-AB2D-737C44FE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687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Order: antibody response • antigen exposure • memory retained • faster later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response.</a:t>
            </a:r>
          </a:p>
        </p:txBody>
      </p:sp>
      <p:sp>
        <p:nvSpPr>
          <p:cNvPr id="12" name="Give each arrow a reason.">
            <a:extLst xmlns:a="http://schemas.openxmlformats.org/drawingml/2006/main">
              <a:ext uri="{FF2B5EF4-FFF2-40B4-BE49-F238E27FC236}">
                <a16:creationId xmlns:a16="http://schemas.microsoft.com/office/drawing/2014/main" id="{3026A62C-5169-4DD8-8629-4F147F02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70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Give each arrow a reason.</a:t>
            </a:r>
          </a:p>
        </p:txBody>
      </p:sp>
    </p:spTree>
    <p:extLst>
      <p:ext uri="{BB962C8B-B14F-4D97-AF65-F5344CB8AC3E}">
        <p14:creationId xmlns:p14="http://schemas.microsoft.com/office/powerpoint/2010/main" val="18258955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5E1833BD-13B0-4EC1-AB88-A5023A0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435F43B-EBDA-4B58-8428-9AF28F3D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E966897-D36C-4180-A28B-4BD3597D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7D2697CE-408A-4F7F-B17C-3C512E43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F592AED6-36E4-4E6A-A145-5A63638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98D5803B-0A38-4F28-873D-2B2AC2B7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hoose a target, test the fit">
            <a:extLst xmlns:a="http://schemas.openxmlformats.org/drawingml/2006/main">
              <a:ext uri="{FF2B5EF4-FFF2-40B4-BE49-F238E27FC236}">
                <a16:creationId xmlns:a16="http://schemas.microsoft.com/office/drawing/2014/main" id="{B4DB74E3-A791-4F53-A100-74FEAD51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target, test the fit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BE1A851-5325-4F6A-BE2C-16C28F7F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D98B1379-4032-4810-8968-AEC0D74F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7 / 15">
            <a:extLst xmlns:a="http://schemas.openxmlformats.org/drawingml/2006/main">
              <a:ext uri="{FF2B5EF4-FFF2-40B4-BE49-F238E27FC236}">
                <a16:creationId xmlns:a16="http://schemas.microsoft.com/office/drawing/2014/main" id="{32F986A8-727E-4B56-BB80-83E64DCD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1" name="Diagram label: A protein can recognise a specific antigen">
            <a:extLst xmlns:a="http://schemas.openxmlformats.org/drawingml/2006/main">
              <a:ext uri="{FF2B5EF4-FFF2-40B4-BE49-F238E27FC236}">
                <a16:creationId xmlns:a16="http://schemas.microsoft.com/office/drawing/2014/main" id="{C80E0EFF-B761-4E1B-A2C6-8033B1CA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protein can recognise a specific antigen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764D4D8-BFE4-4BB8-91E6-B543A630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2855884"/>
            <a:ext cx="1904065" cy="1605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BD9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BCDD3EA-0E52-47F9-A793-8707CDFD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586" y="2654277"/>
            <a:ext cx="410681" cy="410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ED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4" name="Diagram label: Pathogen surface&#10;Antigen X: square">
            <a:extLst xmlns:a="http://schemas.openxmlformats.org/drawingml/2006/main">
              <a:ext uri="{FF2B5EF4-FFF2-40B4-BE49-F238E27FC236}">
                <a16:creationId xmlns:a16="http://schemas.microsoft.com/office/drawing/2014/main" id="{2B6F40A8-00BD-4455-8CDE-BC9FDE2F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647945"/>
            <a:ext cx="2240076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Pathogen surface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Antigen X: square</a:t>
            </a:r>
          </a:p>
        </p:txBody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8417F0D-A8CC-48F4-8B2C-B0578968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45338" y="3490572"/>
            <a:ext cx="953" cy="6720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537">
            <a:solidFill>
              <a:srgbClr val="7A5C9E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1688C0E-2F40-475F-91BC-FC3E3FB6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737588" y="3005223"/>
            <a:ext cx="507751" cy="48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537">
            <a:solidFill>
              <a:srgbClr val="7A5C9E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998C87D-223A-409B-8C76-00D4A484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45338" y="3005223"/>
            <a:ext cx="507751" cy="48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537">
            <a:solidFill>
              <a:srgbClr val="7A5C9E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B6F902A-A598-4422-B8BD-A8B8E2BB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33051" y="2915620"/>
            <a:ext cx="953" cy="23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7A5C9E"/>
            </a:solidFill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7DC6B7E-26D1-42CF-B5AF-CA82AC30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33051" y="3147094"/>
            <a:ext cx="21654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7A5C9E"/>
            </a:solidFill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A827E0C-0E73-4B99-A655-6A463A3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7626" y="2915620"/>
            <a:ext cx="953" cy="23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7A5C9E"/>
            </a:solidFill>
          </a:ln>
        </p:spPr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A150FE7-41B6-48E2-8B0C-F289B4C9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41085" y="3147094"/>
            <a:ext cx="21654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7A5C9E"/>
            </a:solidFill>
          </a:ln>
        </p:spPr>
      </p:sp>
      <p:sp>
        <p:nvSpPr>
          <p:cNvPr id="22" name="Diagram label: Antibody protein&#10;Binding-site model">
            <a:extLst xmlns:a="http://schemas.openxmlformats.org/drawingml/2006/main">
              <a:ext uri="{FF2B5EF4-FFF2-40B4-BE49-F238E27FC236}">
                <a16:creationId xmlns:a16="http://schemas.microsoft.com/office/drawing/2014/main" id="{A356610E-2F2C-4751-A13A-82D77791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5" y="4647945"/>
            <a:ext cx="2165407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Antibody protein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Binding-site model</a:t>
            </a:r>
          </a:p>
        </p:txBody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3CFF5FC-4A8D-484B-A5D1-07A37C19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65" y="3005223"/>
            <a:ext cx="1045369" cy="10453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4" name="Diagram label: Antigen Y&#10;Different fit">
            <a:extLst xmlns:a="http://schemas.openxmlformats.org/drawingml/2006/main">
              <a:ext uri="{FF2B5EF4-FFF2-40B4-BE49-F238E27FC236}">
                <a16:creationId xmlns:a16="http://schemas.microsoft.com/office/drawing/2014/main" id="{26713379-E601-4C30-8404-4E33A988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049" y="4647945"/>
            <a:ext cx="1904065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Antigen 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Different fit</a:t>
            </a:r>
          </a:p>
        </p:txBody>
      </p:sp>
      <p:sp>
        <p:nvSpPr>
          <p:cNvPr id="25" name="Diagram label: A simplified recognition model; shapes are not to scale.">
            <a:extLst xmlns:a="http://schemas.openxmlformats.org/drawingml/2006/main">
              <a:ext uri="{FF2B5EF4-FFF2-40B4-BE49-F238E27FC236}">
                <a16:creationId xmlns:a16="http://schemas.microsoft.com/office/drawing/2014/main" id="{70885575-DA63-4E8D-8205-117E5BE7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5431971"/>
            <a:ext cx="6720228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simplified recognition model; shapes are not to scale.</a:t>
            </a:r>
          </a:p>
        </p:txBody>
      </p:sp>
      <p:sp>
        <p:nvSpPr>
          <p:cNvPr id="26" name="W2. Would an X-specific antibody necessarily bind Y?  Explain wh">
            <a:extLst xmlns:a="http://schemas.openxmlformats.org/drawingml/2006/main">
              <a:ext uri="{FF2B5EF4-FFF2-40B4-BE49-F238E27FC236}">
                <a16:creationId xmlns:a16="http://schemas.microsoft.com/office/drawing/2014/main" id="{EF49870A-5943-46D2-9C1E-A16642CF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Would an X-specific antibody necessarily bind Y? Explain what the model can and cannot show.</a:t>
            </a:r>
          </a:p>
        </p:txBody>
      </p:sp>
    </p:spTree>
    <p:extLst>
      <p:ext uri="{BB962C8B-B14F-4D97-AF65-F5344CB8AC3E}">
        <p14:creationId xmlns:p14="http://schemas.microsoft.com/office/powerpoint/2010/main" val="21451817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2D788A17-D7DC-416C-8ED6-98E9B364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D78A1C5-BF3B-4841-9D52-F5518196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86E0900-2D4A-420E-B82C-5E65D915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144FA79-A7C8-49CD-B9AF-88FAE683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E714383D-D39A-4ECA-B199-05DC3A4B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CCA48815-B202-4159-97D8-DC698B2C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Evidence desk: compare day 6">
            <a:extLst xmlns:a="http://schemas.openxmlformats.org/drawingml/2006/main">
              <a:ext uri="{FF2B5EF4-FFF2-40B4-BE49-F238E27FC236}">
                <a16:creationId xmlns:a16="http://schemas.microsoft.com/office/drawing/2014/main" id="{1CEA9567-D6C4-41C7-87F9-A1F1619E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Evidence desk: compare day 6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CCD060F-21AD-4CA4-AA03-706F4528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E08720EC-49EF-4D35-9490-37A24CCE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8 / 15">
            <a:extLst xmlns:a="http://schemas.openxmlformats.org/drawingml/2006/main">
              <a:ext uri="{FF2B5EF4-FFF2-40B4-BE49-F238E27FC236}">
                <a16:creationId xmlns:a16="http://schemas.microsoft.com/office/drawing/2014/main" id="{A6838BFB-F291-4EED-A56C-7F51C8EE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1" name="W3. Find each day-6 amount and the difference. Explain one reaso">
            <a:extLst xmlns:a="http://schemas.openxmlformats.org/drawingml/2006/main">
              <a:ext uri="{FF2B5EF4-FFF2-40B4-BE49-F238E27FC236}">
                <a16:creationId xmlns:a16="http://schemas.microsoft.com/office/drawing/2014/main" id="{A2E6E71E-A9A9-4FCB-BF9E-3FF42341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Find each day-6 amount and the difference. Explain one reason and one limit.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353710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81769"/>
                <a:gridCol w="3005445"/>
                <a:gridCol w="4337986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Days after exposure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First: units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Later same antigen: units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32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24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teaching data; arbitrary units, not protective thres">
            <a:extLst xmlns:a="http://schemas.openxmlformats.org/drawingml/2006/main">
              <a:ext uri="{FF2B5EF4-FFF2-40B4-BE49-F238E27FC236}">
                <a16:creationId xmlns:a16="http://schemas.microsoft.com/office/drawing/2014/main" id="{81E29C0B-CA27-40E4-B7B5-15DD2FBB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6934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teaching data; arbitrary units, not protective thresholds.</a:t>
            </a:r>
          </a:p>
        </p:txBody>
      </p:sp>
    </p:spTree>
    <p:extLst>
      <p:ext uri="{BB962C8B-B14F-4D97-AF65-F5344CB8AC3E}">
        <p14:creationId xmlns:p14="http://schemas.microsoft.com/office/powerpoint/2010/main" val="20802290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53A3A2C1-C855-4B9E-B141-1650D3BB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65FA86E-CBB7-428B-A1CD-0420206A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6E0EBC8-BF7E-4AF2-9F3A-186B3AE8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750C843-8570-4882-BDF3-B6DEC3FA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45592FB9-774B-43AB-9773-319D5D84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71F2A756-103A-48EA-A442-DCD33317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mechanism is correct?">
            <a:extLst xmlns:a="http://schemas.openxmlformats.org/drawingml/2006/main">
              <a:ext uri="{FF2B5EF4-FFF2-40B4-BE49-F238E27FC236}">
                <a16:creationId xmlns:a16="http://schemas.microsoft.com/office/drawing/2014/main" id="{2DA67E1F-E8B4-40E4-8FBD-DDC7A9D2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mechanism is correct?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ED7F489-BE6C-4186-ADB7-87CA14DF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0A609DE8-6E70-4C34-B3CE-040666AF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F80381E4-760E-4008-BB48-DFD33956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Choose one explanation and defend it.">
            <a:extLst xmlns:a="http://schemas.openxmlformats.org/drawingml/2006/main">
              <a:ext uri="{FF2B5EF4-FFF2-40B4-BE49-F238E27FC236}">
                <a16:creationId xmlns:a16="http://schemas.microsoft.com/office/drawing/2014/main" id="{48D4B14F-464D-4CF0-A77A-4E88F379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one explanation and defend it.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3FBEC18C-17E7-49D5-B1BF-C87CF8FD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1F464BB-493B-4D4D-9ADF-519F19E3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05FDCD5C-3BDE-4C21-BB83-E7D987AC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Antibodies are memory cells.">
            <a:extLst xmlns:a="http://schemas.openxmlformats.org/drawingml/2006/main">
              <a:ext uri="{FF2B5EF4-FFF2-40B4-BE49-F238E27FC236}">
                <a16:creationId xmlns:a16="http://schemas.microsoft.com/office/drawing/2014/main" id="{AD397FA0-C983-43D2-B437-0FF699D4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Antibodies are memory cells.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BC604EF9-DA05-4CFC-85A6-FA54D33B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35B4C118-9697-4FE6-A7A7-7A9484E4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2A791A5D-742E-470F-82B9-D18F9BA0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02819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Memory lymphocytes support a faster response to the same antigen">
            <a:extLst xmlns:a="http://schemas.openxmlformats.org/drawingml/2006/main">
              <a:ext uri="{FF2B5EF4-FFF2-40B4-BE49-F238E27FC236}">
                <a16:creationId xmlns:a16="http://schemas.microsoft.com/office/drawing/2014/main" id="{F9248A9E-1A07-4901-9F80-B625C7BB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502819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Memory lymphocytes support a faster response to the same antigen.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1FFCC221-F458-4C62-B3CD-441F72EB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53056F0F-6E10-439E-A16F-B442F59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51BFD991-069F-43B7-90C4-EF5747D8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10088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One antibody protects equally against every pathogen.">
            <a:extLst xmlns:a="http://schemas.openxmlformats.org/drawingml/2006/main">
              <a:ext uri="{FF2B5EF4-FFF2-40B4-BE49-F238E27FC236}">
                <a16:creationId xmlns:a16="http://schemas.microsoft.com/office/drawing/2014/main" id="{9265A892-41F0-47A8-B170-B48713A8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0088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One antibody protects equally against every pathogen.</a:t>
            </a:r>
          </a:p>
        </p:txBody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6920B452-E9DA-4337-A3C7-33D8B68B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D8DFB869-8C43-4367-A9C3-3990CBF9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6" name="D">
            <a:extLst xmlns:a="http://schemas.openxmlformats.org/drawingml/2006/main">
              <a:ext uri="{FF2B5EF4-FFF2-40B4-BE49-F238E27FC236}">
                <a16:creationId xmlns:a16="http://schemas.microsoft.com/office/drawing/2014/main" id="{19D2FB8A-877E-4A4B-90D0-66E589D9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17356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27" name="Antibiotics work by creating immune memory.">
            <a:extLst xmlns:a="http://schemas.openxmlformats.org/drawingml/2006/main">
              <a:ext uri="{FF2B5EF4-FFF2-40B4-BE49-F238E27FC236}">
                <a16:creationId xmlns:a16="http://schemas.microsoft.com/office/drawing/2014/main" id="{D89CF4EB-C99D-4882-AA20-91ADF985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517356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Antibiotics work by creating immune memory.</a:t>
            </a:r>
          </a:p>
        </p:txBody>
      </p:sp>
    </p:spTree>
    <p:extLst>
      <p:ext uri="{BB962C8B-B14F-4D97-AF65-F5344CB8AC3E}">
        <p14:creationId xmlns:p14="http://schemas.microsoft.com/office/powerpoint/2010/main" val="10100209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43C255D-2FAA-44AB-A756-F8949723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D4C3629-FE09-4764-8BC2-BF46EAD8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327752E-0C4B-4851-8DF6-561836C8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6965E739-0C68-438B-AA11-FC568FF9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86B0C27E-2BE1-414E-A626-429C7164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5DC8C5E2-E94D-438D-B740-C6E6BDD2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Create a defence explanation">
            <a:extLst xmlns:a="http://schemas.openxmlformats.org/drawingml/2006/main">
              <a:ext uri="{FF2B5EF4-FFF2-40B4-BE49-F238E27FC236}">
                <a16:creationId xmlns:a16="http://schemas.microsoft.com/office/drawing/2014/main" id="{0A51EA0E-EA49-479F-A97C-9F19CF06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Create a defence explanation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78653B0-695D-4C56-96EC-527D0388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7C49DC0D-3AA8-436C-94B8-7D90CE81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16092C07-E5A0-4910-8579-510C8A9A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the agreed response page.">
            <a:extLst xmlns:a="http://schemas.openxmlformats.org/drawingml/2006/main">
              <a:ext uri="{FF2B5EF4-FFF2-40B4-BE49-F238E27FC236}">
                <a16:creationId xmlns:a16="http://schemas.microsoft.com/office/drawing/2014/main" id="{4610C77B-0B91-46B5-A56C-6E7867D9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agreed response page.</a:t>
            </a:r>
          </a:p>
        </p:txBody>
      </p:sp>
      <p:sp>
        <p:nvSpPr>
          <p:cNvPr id="12" name="Use an arrow chain, short sentences or a narrated diagram.">
            <a:extLst xmlns:a="http://schemas.openxmlformats.org/drawingml/2006/main">
              <a:ext uri="{FF2B5EF4-FFF2-40B4-BE49-F238E27FC236}">
                <a16:creationId xmlns:a16="http://schemas.microsoft.com/office/drawing/2014/main" id="{8D053C70-FD3A-4519-AA53-1C147ADC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an arrow chain, short sentences or a narrated diagram.</a:t>
            </a:r>
          </a:p>
        </p:txBody>
      </p:sp>
    </p:spTree>
    <p:extLst>
      <p:ext uri="{BB962C8B-B14F-4D97-AF65-F5344CB8AC3E}">
        <p14:creationId xmlns:p14="http://schemas.microsoft.com/office/powerpoint/2010/main" val="10327733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DDA89B63-ED0F-4D0D-9C83-1E0C1C24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526EDBC-32CB-4570-9E81-1D855844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C236AF1-FBA9-4F4E-B957-ABF53D12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B5950DFA-19A6-48B3-9516-65D7E9AB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00FCED19-E7B2-4143-A032-B01306BA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76C31DD7-BE2A-46C7-9E70-E68A358E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the model teach someone">
            <a:extLst xmlns:a="http://schemas.openxmlformats.org/drawingml/2006/main">
              <a:ext uri="{FF2B5EF4-FFF2-40B4-BE49-F238E27FC236}">
                <a16:creationId xmlns:a16="http://schemas.microsoft.com/office/drawing/2014/main" id="{EA129317-5964-4A6A-B40A-0273EC56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the model teach someone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567BAF8-951E-494D-9B25-6E79C26F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A2B1DE26-F8CE-48FF-8E88-DDEC6830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11 / 15">
            <a:extLst xmlns:a="http://schemas.openxmlformats.org/drawingml/2006/main">
              <a:ext uri="{FF2B5EF4-FFF2-40B4-BE49-F238E27FC236}">
                <a16:creationId xmlns:a16="http://schemas.microsoft.com/office/drawing/2014/main" id="{1BB3BDD3-0201-4E53-A489-1C780C30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1" name="Include a barrier, recognition and memory.">
            <a:extLst xmlns:a="http://schemas.openxmlformats.org/drawingml/2006/main">
              <a:ext uri="{FF2B5EF4-FFF2-40B4-BE49-F238E27FC236}">
                <a16:creationId xmlns:a16="http://schemas.microsoft.com/office/drawing/2014/main" id="{48620D4E-D38F-4CD6-85D1-299A0BEE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Include a barrier, recognition and memory.</a:t>
            </a:r>
          </a:p>
        </p:txBody>
      </p:sp>
      <p:sp>
        <p:nvSpPr>
          <p:cNvPr id="12" name="Use one numerical comparison from the graph.">
            <a:extLst xmlns:a="http://schemas.openxmlformats.org/drawingml/2006/main">
              <a:ext uri="{FF2B5EF4-FFF2-40B4-BE49-F238E27FC236}">
                <a16:creationId xmlns:a16="http://schemas.microsoft.com/office/drawing/2014/main" id="{025BF2C7-21AB-4F48-A816-F84ECBEF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one numerical comparison from the graph.</a:t>
            </a:r>
          </a:p>
        </p:txBody>
      </p:sp>
    </p:spTree>
    <p:extLst>
      <p:ext uri="{BB962C8B-B14F-4D97-AF65-F5344CB8AC3E}">
        <p14:creationId xmlns:p14="http://schemas.microsoft.com/office/powerpoint/2010/main" val="17700448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BAD6209B-48D2-44EC-B4F2-BF23ABCD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AE4AC54-DC41-427E-9567-92A8CC02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A6C675D-D5A9-4DDB-9E62-2E484D14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479C099-626C-409B-824C-01848D5A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69060E12-3E17-4D7B-83EB-0FC91C31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9950FD40-55B0-4030-A222-AB680343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udience test: is the mechanism clear?">
            <a:extLst xmlns:a="http://schemas.openxmlformats.org/drawingml/2006/main">
              <a:ext uri="{FF2B5EF4-FFF2-40B4-BE49-F238E27FC236}">
                <a16:creationId xmlns:a16="http://schemas.microsoft.com/office/drawing/2014/main" id="{748E95E4-93A3-4EC3-B5D9-994DD88E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test: is the mechanism clear?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567A81F-016E-42FD-875D-E642F161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0D11EFB7-0867-4E4A-81CD-124F8851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12 / 15">
            <a:extLst xmlns:a="http://schemas.openxmlformats.org/drawingml/2006/main">
              <a:ext uri="{FF2B5EF4-FFF2-40B4-BE49-F238E27FC236}">
                <a16:creationId xmlns:a16="http://schemas.microsoft.com/office/drawing/2014/main" id="{1374F2A9-AA7B-4BD3-AF48-BABF9799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1" name="L1. Share one part of the explanation.">
            <a:extLst xmlns:a="http://schemas.openxmlformats.org/drawingml/2006/main">
              <a:ext uri="{FF2B5EF4-FFF2-40B4-BE49-F238E27FC236}">
                <a16:creationId xmlns:a16="http://schemas.microsoft.com/office/drawing/2014/main" id="{AB6F3E05-81C5-4602-AA53-D039A301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L1. Share one part of the explanation.</a:t>
            </a:r>
          </a:p>
        </p:txBody>
      </p:sp>
      <p:sp>
        <p:nvSpPr>
          <p:cNvPr id="12" name="Audience: “Which is a cell? Which is a protein?”">
            <a:extLst xmlns:a="http://schemas.openxmlformats.org/drawingml/2006/main">
              <a:ext uri="{FF2B5EF4-FFF2-40B4-BE49-F238E27FC236}">
                <a16:creationId xmlns:a16="http://schemas.microsoft.com/office/drawing/2014/main" id="{A6A2842D-F68E-493A-AAB8-5904FBBF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Audience: “Which is a cell? Which is a protein?”</a:t>
            </a:r>
          </a:p>
        </p:txBody>
      </p:sp>
    </p:spTree>
    <p:extLst>
      <p:ext uri="{BB962C8B-B14F-4D97-AF65-F5344CB8AC3E}">
        <p14:creationId xmlns:p14="http://schemas.microsoft.com/office/powerpoint/2010/main" val="10428028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DA57BA10-47AF-4FD6-A2AD-41A86B26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8BC8672-66C6-4BFF-9491-C1E857D9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2E35003-4E4B-4FB0-9A5B-3CF5F9AD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619063AF-B137-4F8A-9E38-3EECDBF8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75ECDB1E-DDB4-4F46-BD96-968A565E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7A8E420F-6096-4550-94D0-B64A1A64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Improve the final claim">
            <a:extLst xmlns:a="http://schemas.openxmlformats.org/drawingml/2006/main">
              <a:ext uri="{FF2B5EF4-FFF2-40B4-BE49-F238E27FC236}">
                <a16:creationId xmlns:a16="http://schemas.microsoft.com/office/drawing/2014/main" id="{5502BD8E-9BCA-4DEF-932E-00A1B35B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the final claim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B0A92F9-1D5D-4375-9E66-B753317E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0AE4EAA0-ABD9-477D-BDDE-B2520C8A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1F431358-1756-4B3C-8F8E-A8B7CEE2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“The vaccine gives perfect protection forever.”">
            <a:extLst xmlns:a="http://schemas.openxmlformats.org/drawingml/2006/main">
              <a:ext uri="{FF2B5EF4-FFF2-40B4-BE49-F238E27FC236}">
                <a16:creationId xmlns:a16="http://schemas.microsoft.com/office/drawing/2014/main" id="{CF11B394-80DE-418E-A077-F5E1C4B3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“The vaccine gives perfect protection forever.”</a:t>
            </a:r>
          </a:p>
        </p:txBody>
      </p:sp>
      <p:sp>
        <p:nvSpPr>
          <p:cNvPr id="12" name="Replace certainty with a careful mechanism.">
            <a:extLst xmlns:a="http://schemas.openxmlformats.org/drawingml/2006/main">
              <a:ext uri="{FF2B5EF4-FFF2-40B4-BE49-F238E27FC236}">
                <a16:creationId xmlns:a16="http://schemas.microsoft.com/office/drawing/2014/main" id="{E3E0EDC6-7CC2-4B80-ADF9-BD521D66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Replace certainty with a careful mechanism.</a:t>
            </a:r>
          </a:p>
        </p:txBody>
      </p:sp>
    </p:spTree>
    <p:extLst>
      <p:ext uri="{BB962C8B-B14F-4D97-AF65-F5344CB8AC3E}">
        <p14:creationId xmlns:p14="http://schemas.microsoft.com/office/powerpoint/2010/main" val="220215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B958514E-5649-4243-A636-71989F84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AA13DC7-5CC1-40BD-BEA3-8A454EAD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62205EF-B851-46E4-B831-F2D2B2FA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CE3DB3CD-9A4D-41A1-963C-F3AFACCA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E6E92FB5-E415-4FD1-A6AC-C6499AED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7F15713A-D86E-4F56-9AAB-FF25A777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Explain the faster response">
            <a:extLst xmlns:a="http://schemas.openxmlformats.org/drawingml/2006/main">
              <a:ext uri="{FF2B5EF4-FFF2-40B4-BE49-F238E27FC236}">
                <a16:creationId xmlns:a16="http://schemas.microsoft.com/office/drawing/2014/main" id="{444CB74C-E89A-4BCE-8255-CCFA39C7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the faster response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785FC25-D15C-4068-BC40-94F0F959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3BCBE533-3690-47B2-92FA-69481134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10" name="14 / 15">
            <a:extLst xmlns:a="http://schemas.openxmlformats.org/drawingml/2006/main">
              <a:ext uri="{FF2B5EF4-FFF2-40B4-BE49-F238E27FC236}">
                <a16:creationId xmlns:a16="http://schemas.microsoft.com/office/drawing/2014/main" id="{43094CD6-2C9B-4672-B449-CCCDF97B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1" name="E 1. Name one barrier and its action.">
            <a:extLst xmlns:a="http://schemas.openxmlformats.org/drawingml/2006/main">
              <a:ext uri="{FF2B5EF4-FFF2-40B4-BE49-F238E27FC236}">
                <a16:creationId xmlns:a16="http://schemas.microsoft.com/office/drawing/2014/main" id="{17D35AF8-60B6-4349-99DE-A49E22E3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 1. Name one barrier and its action.</a:t>
            </a:r>
          </a:p>
        </p:txBody>
      </p:sp>
      <p:sp>
        <p:nvSpPr>
          <p:cNvPr id="12" name="E 2. Is an antibody a cell or protein?">
            <a:extLst xmlns:a="http://schemas.openxmlformats.org/drawingml/2006/main">
              <a:ext uri="{FF2B5EF4-FFF2-40B4-BE49-F238E27FC236}">
                <a16:creationId xmlns:a16="http://schemas.microsoft.com/office/drawing/2014/main" id="{044E681A-D58D-48E0-9255-640EEB8A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 2. Is an antibody a cell or protein?</a:t>
            </a:r>
          </a:p>
        </p:txBody>
      </p:sp>
      <p:sp>
        <p:nvSpPr>
          <p:cNvPr id="13" name="E 3. How does memory help next time?">
            <a:extLst xmlns:a="http://schemas.openxmlformats.org/drawingml/2006/main">
              <a:ext uri="{FF2B5EF4-FFF2-40B4-BE49-F238E27FC236}">
                <a16:creationId xmlns:a16="http://schemas.microsoft.com/office/drawing/2014/main" id="{1A59F3AE-0DFB-4641-8484-F12989FE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 3. How does memory help next time?</a:t>
            </a:r>
          </a:p>
        </p:txBody>
      </p:sp>
    </p:spTree>
    <p:extLst>
      <p:ext uri="{BB962C8B-B14F-4D97-AF65-F5344CB8AC3E}">
        <p14:creationId xmlns:p14="http://schemas.microsoft.com/office/powerpoint/2010/main" val="1796486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C111FD7E-0AA2-4A97-92BC-D7D655A3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30033E5-5BA9-46A9-A3FB-94BDD3D9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D648BB7-8002-49CA-9C83-98E13F96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36463BBE-E306-4FAB-A26A-061887E0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815BC2B1-5786-40EC-8514-E313F95C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Choose the next useful step">
            <a:extLst xmlns:a="http://schemas.openxmlformats.org/drawingml/2006/main">
              <a:ext uri="{FF2B5EF4-FFF2-40B4-BE49-F238E27FC236}">
                <a16:creationId xmlns:a16="http://schemas.microsoft.com/office/drawing/2014/main" id="{D15C0C57-7FD4-4887-B51D-600C4944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next useful step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B80777A1-2C67-4F1D-AB19-F42FE61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Immune memory: recognise, respond, remember">
            <a:extLst xmlns:a="http://schemas.openxmlformats.org/drawingml/2006/main">
              <a:ext uri="{FF2B5EF4-FFF2-40B4-BE49-F238E27FC236}">
                <a16:creationId xmlns:a16="http://schemas.microsoft.com/office/drawing/2014/main" id="{F54BD189-0F19-46EB-A73E-579E69F7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Immune memory: recognise, respond, remember</a:t>
            </a:r>
          </a:p>
        </p:txBody>
      </p:sp>
      <p:sp>
        <p:nvSpPr>
          <p:cNvPr id="9" name="15 / 15">
            <a:extLst xmlns:a="http://schemas.openxmlformats.org/drawingml/2006/main">
              <a:ext uri="{FF2B5EF4-FFF2-40B4-BE49-F238E27FC236}">
                <a16:creationId xmlns:a16="http://schemas.microsoft.com/office/drawing/2014/main" id="{C7A54B48-249E-4D2D-B749-073958FC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0" name="Barrier action • specific binding • memory • graph reading.">
            <a:extLst xmlns:a="http://schemas.openxmlformats.org/drawingml/2006/main">
              <a:ext uri="{FF2B5EF4-FFF2-40B4-BE49-F238E27FC236}">
                <a16:creationId xmlns:a16="http://schemas.microsoft.com/office/drawing/2014/main" id="{81E5D81C-4505-40CE-BDE4-FE1400C9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Barrier action • specific binding • memory • graph reading.</a:t>
            </a:r>
          </a:p>
        </p:txBody>
      </p:sp>
    </p:spTree>
    <p:extLst>
      <p:ext uri="{BB962C8B-B14F-4D97-AF65-F5344CB8AC3E}">
        <p14:creationId xmlns:p14="http://schemas.microsoft.com/office/powerpoint/2010/main" val="855917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2026-09-08T23:16:07.3130000Z</dcterms:created>
  <dcterms:modified xsi:type="dcterms:W3CDTF">2026-09-08T23:16:07.3130000Z</dcterms:modified>
</coreProperties>
</file>