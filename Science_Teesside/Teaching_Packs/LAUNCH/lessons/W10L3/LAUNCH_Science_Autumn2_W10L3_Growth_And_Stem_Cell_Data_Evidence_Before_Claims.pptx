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2f946bf08460f" /><Relationship Type="http://schemas.openxmlformats.org/officeDocument/2006/relationships/extended-properties" Target="/docProps/app.xml" Id="R5a793d91a05e47c5" /><Relationship Type="http://schemas.openxmlformats.org/officeDocument/2006/relationships/officeDocument" Target="/ppt/presentation.xml" Id="R84bdbb1c13b0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30a2fed2d4fbd"/>
  </p:sldMasterIdLst>
  <p:notesMasterIdLst>
    <p:notesMasterId xmlns:r="http://schemas.openxmlformats.org/officeDocument/2006/relationships" r:id="Rd9846f55f6154d5b"/>
  </p:notesMasterIdLst>
  <p:sldIdLst>
    <p:sldId xmlns:r="http://schemas.openxmlformats.org/officeDocument/2006/relationships" id="256" r:id="Rfa3b96a581d94017"/>
    <p:sldId xmlns:r="http://schemas.openxmlformats.org/officeDocument/2006/relationships" id="257" r:id="R2e884f58f6a64a01"/>
    <p:sldId xmlns:r="http://schemas.openxmlformats.org/officeDocument/2006/relationships" id="258" r:id="Rcb32d9901f34420e"/>
    <p:sldId xmlns:r="http://schemas.openxmlformats.org/officeDocument/2006/relationships" id="259" r:id="R670225c6042f4b6b"/>
    <p:sldId xmlns:r="http://schemas.openxmlformats.org/officeDocument/2006/relationships" id="260" r:id="Rfb55639940bf4bf2"/>
    <p:sldId xmlns:r="http://schemas.openxmlformats.org/officeDocument/2006/relationships" id="261" r:id="R1a05c9b432454eb6"/>
    <p:sldId xmlns:r="http://schemas.openxmlformats.org/officeDocument/2006/relationships" id="262" r:id="R006029bdf92240d7"/>
    <p:sldId xmlns:r="http://schemas.openxmlformats.org/officeDocument/2006/relationships" id="263" r:id="R38997150d9a349c6"/>
    <p:sldId xmlns:r="http://schemas.openxmlformats.org/officeDocument/2006/relationships" id="264" r:id="R14f8beaebb4d4596"/>
    <p:sldId xmlns:r="http://schemas.openxmlformats.org/officeDocument/2006/relationships" id="265" r:id="R4462f7c195734dfe"/>
    <p:sldId xmlns:r="http://schemas.openxmlformats.org/officeDocument/2006/relationships" id="266" r:id="R0be17b59403d4ae8"/>
    <p:sldId xmlns:r="http://schemas.openxmlformats.org/officeDocument/2006/relationships" id="267" r:id="R6a15067356a540a7"/>
    <p:sldId xmlns:r="http://schemas.openxmlformats.org/officeDocument/2006/relationships" id="268" r:id="R7306683084584ce2"/>
    <p:sldId xmlns:r="http://schemas.openxmlformats.org/officeDocument/2006/relationships" id="269" r:id="Radaeb850fdc74fa2"/>
    <p:sldId xmlns:r="http://schemas.openxmlformats.org/officeDocument/2006/relationships" id="270" r:id="R978c40b0f8b741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b6890561b4fc5" /><Relationship Type="http://schemas.openxmlformats.org/officeDocument/2006/relationships/slideMaster" Target="/ppt/slideMasters/slideMaster1.xml" Id="R54c30a2fed2d4fbd" /><Relationship Type="http://schemas.openxmlformats.org/officeDocument/2006/relationships/notesMaster" Target="/ppt/notesMasters/notesMaster1.xml" Id="Rd9846f55f6154d5b" /><Relationship Type="http://schemas.openxmlformats.org/officeDocument/2006/relationships/presProps" Target="/ppt/presProps.xml" Id="Rf5189e00145045a9" /><Relationship Type="http://schemas.openxmlformats.org/officeDocument/2006/relationships/tableStyles" Target="/ppt/tableStyles.xml" Id="R3f530a1f49344ebe" /><Relationship Type="http://schemas.openxmlformats.org/officeDocument/2006/relationships/slide" Target="/ppt/slides/slide1.xml" Id="Rfa3b96a581d94017" /><Relationship Type="http://schemas.openxmlformats.org/officeDocument/2006/relationships/slide" Target="/ppt/slides/slide2.xml" Id="R2e884f58f6a64a01" /><Relationship Type="http://schemas.openxmlformats.org/officeDocument/2006/relationships/slide" Target="/ppt/slides/slide3.xml" Id="Rcb32d9901f34420e" /><Relationship Type="http://schemas.openxmlformats.org/officeDocument/2006/relationships/slide" Target="/ppt/slides/slide4.xml" Id="R670225c6042f4b6b" /><Relationship Type="http://schemas.openxmlformats.org/officeDocument/2006/relationships/slide" Target="/ppt/slides/slide5.xml" Id="Rfb55639940bf4bf2" /><Relationship Type="http://schemas.openxmlformats.org/officeDocument/2006/relationships/slide" Target="/ppt/slides/slide6.xml" Id="R1a05c9b432454eb6" /><Relationship Type="http://schemas.openxmlformats.org/officeDocument/2006/relationships/slide" Target="/ppt/slides/slide7.xml" Id="R006029bdf92240d7" /><Relationship Type="http://schemas.openxmlformats.org/officeDocument/2006/relationships/slide" Target="/ppt/slides/slide8.xml" Id="R38997150d9a349c6" /><Relationship Type="http://schemas.openxmlformats.org/officeDocument/2006/relationships/slide" Target="/ppt/slides/slide9.xml" Id="R14f8beaebb4d4596" /><Relationship Type="http://schemas.openxmlformats.org/officeDocument/2006/relationships/slide" Target="/ppt/slides/slide10.xml" Id="R4462f7c195734dfe" /><Relationship Type="http://schemas.openxmlformats.org/officeDocument/2006/relationships/slide" Target="/ppt/slides/slide11.xml" Id="R0be17b59403d4ae8" /><Relationship Type="http://schemas.openxmlformats.org/officeDocument/2006/relationships/slide" Target="/ppt/slides/slide12.xml" Id="R6a15067356a540a7" /><Relationship Type="http://schemas.openxmlformats.org/officeDocument/2006/relationships/slide" Target="/ppt/slides/slide13.xml" Id="R7306683084584ce2" /><Relationship Type="http://schemas.openxmlformats.org/officeDocument/2006/relationships/slide" Target="/ppt/slides/slide14.xml" Id="Radaeb850fdc74fa2" /><Relationship Type="http://schemas.openxmlformats.org/officeDocument/2006/relationships/slide" Target="/ppt/slides/slide15.xml" Id="R978c40b0f8b741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88bd5947c4a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388b6f2654b4a" /><Relationship Type="http://schemas.openxmlformats.org/officeDocument/2006/relationships/notesMaster" Target="/ppt/notesMasters/notesMaster1.xml" Id="R5780fcd57042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35d7c47534cc1" /><Relationship Type="http://schemas.openxmlformats.org/officeDocument/2006/relationships/notesMaster" Target="/ppt/notesMasters/notesMaster1.xml" Id="R43e6988af435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d4efcd72f34aba" /><Relationship Type="http://schemas.openxmlformats.org/officeDocument/2006/relationships/notesMaster" Target="/ppt/notesMasters/notesMaster1.xml" Id="Rbd84f96e8cc545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2e125e2fd84a38" /><Relationship Type="http://schemas.openxmlformats.org/officeDocument/2006/relationships/notesMaster" Target="/ppt/notesMasters/notesMaster1.xml" Id="R12f1510970aa41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25589a3e724f4e" /><Relationship Type="http://schemas.openxmlformats.org/officeDocument/2006/relationships/notesMaster" Target="/ppt/notesMasters/notesMaster1.xml" Id="Rc6f044fc2d734d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d50cfd523b4a46" /><Relationship Type="http://schemas.openxmlformats.org/officeDocument/2006/relationships/notesMaster" Target="/ppt/notesMasters/notesMaster1.xml" Id="R3f20f7bc54144b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551b10f194393" /><Relationship Type="http://schemas.openxmlformats.org/officeDocument/2006/relationships/notesMaster" Target="/ppt/notesMasters/notesMaster1.xml" Id="Rac5d3726e379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cbcd6315214665" /><Relationship Type="http://schemas.openxmlformats.org/officeDocument/2006/relationships/notesMaster" Target="/ppt/notesMasters/notesMaster1.xml" Id="R96287f5cfeb347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74c67c79d54313" /><Relationship Type="http://schemas.openxmlformats.org/officeDocument/2006/relationships/notesMaster" Target="/ppt/notesMasters/notesMaster1.xml" Id="Rc45a3964964744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ed891b0cd64ab3" /><Relationship Type="http://schemas.openxmlformats.org/officeDocument/2006/relationships/notesMaster" Target="/ppt/notesMasters/notesMaster1.xml" Id="R04f919af331449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3fcf73ae194a43" /><Relationship Type="http://schemas.openxmlformats.org/officeDocument/2006/relationships/notesMaster" Target="/ppt/notesMasters/notesMaster1.xml" Id="Ra933a741243646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7ad7b5a7e149ad" /><Relationship Type="http://schemas.openxmlformats.org/officeDocument/2006/relationships/notesMaster" Target="/ppt/notesMasters/notesMaster1.xml" Id="R29eba0c261ab44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2edf83a79c40c3" /><Relationship Type="http://schemas.openxmlformats.org/officeDocument/2006/relationships/notesMaster" Target="/ppt/notesMasters/notesMaster1.xml" Id="R68c7d3f8071c4b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f0ae77e4934c84" /><Relationship Type="http://schemas.openxmlformats.org/officeDocument/2006/relationships/notesMaster" Target="/ppt/notesMasters/notesMaster1.xml" Id="R3a3d20f555fa49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9f8b9ec90e46f2" /><Relationship Type="http://schemas.openxmlformats.org/officeDocument/2006/relationships/notesMaster" Target="/ppt/notesMasters/notesMaster1.xml" Id="Ref2cb16ceca245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10 · Do</a:t>
            </a:r>
          </a:p>
          <a:p xmlns:a="http://schemas.openxmlformats.org/drawingml/2006/main">
            <a:r>
              <a:t>Learning objective: I can interpret growth and stem-cell data, calculate changes or proportions, and evaluate application claims using evidence and biological limitations.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Describe a growth pattern from axes, values and units without diagnosing from one data point.</a:t>
            </a:r>
          </a:p>
          <a:p xmlns:a="http://schemas.openxmlformats.org/drawingml/2006/main">
            <a:r>
              <a:t>Calculate a change, percentage change or cell proportion with shown working.</a:t>
            </a:r>
          </a:p>
          <a:p xmlns:a="http://schemas.openxmlformats.org/drawingml/2006/main">
            <a:r>
              <a:t>Apply stem-cell and differentiation knowledge to evaluate a claim, separating potential benefit from evidence limits and uncertainty.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10 · Do</a:t>
            </a:r>
          </a:p>
          <a:p xmlns:a="http://schemas.openxmlformats.org/drawingml/2006/main">
            <a:r>
              <a:t>Learning objective: I can interpret growth and stem-cell data, calculate changes or proportions, and evaluate application claims using evidence and biological limitations.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Describe a growth pattern from axes, values and units without diagnosing from one data point.</a:t>
            </a:r>
          </a:p>
          <a:p xmlns:a="http://schemas.openxmlformats.org/drawingml/2006/main">
            <a:r>
              <a:t>Calculate a change, percentage change or cell proportion with shown working.</a:t>
            </a:r>
          </a:p>
          <a:p xmlns:a="http://schemas.openxmlformats.org/drawingml/2006/main">
            <a:r>
              <a:t>Apply stem-cell and differentiation knowledge to evaluate a claim, separating potential benefit from evidence limits and uncertainty.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Last lesson: stem cells self-renew and produce cells that can differentiate.</a:t>
            </a:r>
          </a:p>
          <a:p xmlns:a="http://schemas.openxmlformats.org/drawingml/2006/main">
            <a:r>
              <a:t>Last lesson: embryonic, adult tissue and meristem cells differ in source, potential and role.</a:t>
            </a:r>
          </a:p>
          <a:p xmlns:a="http://schemas.openxmlformats.org/drawingml/2006/main">
            <a:r>
              <a:t>W10L1: organism-level growth data do not directly show cell division or differentiation.</a:t>
            </a:r>
          </a:p>
          <a:p xmlns:a="http://schemas.openxmlformats.org/drawingml/2006/main">
            <a:r>
              <a:t>Lead-in: a strong application answer separates measured evidence, biological explanation and remaining uncertainty.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one limitation of interpreting a single growth measurement.</a:t>
            </a:r>
          </a:p>
          <a:p xmlns:a="http://schemas.openxmlformats.org/drawingml/2006/main">
            <a:r>
              <a:t>Write the equation for percentage change.</a:t>
            </a:r>
          </a:p>
          <a:p xmlns:a="http://schemas.openxmlformats.org/drawingml/2006/main">
            <a:r>
              <a:t>Compare embryonic and adult tissue stem-cell potential.</a:t>
            </a:r>
          </a:p>
          <a:p xmlns:a="http://schemas.openxmlformats.org/drawingml/2006/main">
            <a:r>
              <a:t>Lead-in: distinguish evidence of differentiation from evidence of patient benefit.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Proportion = 72 ÷ 90 = 0.80</a:t>
            </a:r>
          </a:p>
          <a:p xmlns:a="http://schemas.openxmlformats.org/drawingml/2006/main">
            <a:r>
              <a:t>Numerator: cells with the marker. Denominator: cells counted.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Percentage = 0.80 × 100 = 80%</a:t>
            </a:r>
          </a:p>
          <a:p xmlns:a="http://schemas.openxmlformats.org/drawingml/2006/main">
            <a:r>
              <a:t>Same number, different unit.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A cell marker in culture is not a patient outcome.</a:t>
            </a:r>
          </a:p>
          <a:p xmlns:a="http://schemas.openxmlformats.org/drawingml/2006/main">
            <a:r>
              <a:t>Say exactly what was measured, on what, and stop there.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treatment is guaranteed to cure 80% of patients.</a:t>
            </a:r>
          </a:p>
          <a:p xmlns:a="http://schemas.openxmlformats.org/drawingml/2006/main">
            <a:r>
              <a:t>80% showed the marker in this culture; clinical safety and benefit still require separate evidence.</a:t>
            </a:r>
          </a:p>
          <a:p xmlns:a="http://schemas.openxmlformats.org/drawingml/2006/main">
            <a:r>
              <a:t>All 90 cells differentiated because 72 is close to 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Proportion = 72 ÷ 90 = 0.80</a:t>
            </a:r>
          </a:p>
          <a:p xmlns:a="http://schemas.openxmlformats.org/drawingml/2006/main">
            <a:r>
              <a:t>Numerator: cells with the marker. Denominator: cells counted.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Percentage = 0.80 × 100 = 80%</a:t>
            </a:r>
          </a:p>
          <a:p xmlns:a="http://schemas.openxmlformats.org/drawingml/2006/main">
            <a:r>
              <a:t>Same number, different unit.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A cell marker in culture is not a patient outcome.</a:t>
            </a:r>
          </a:p>
          <a:p xmlns:a="http://schemas.openxmlformats.org/drawingml/2006/main">
            <a:r>
              <a:t>Say exactly what was measured, on what, and stop there.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treatment is guaranteed to cure 80% of patients.</a:t>
            </a:r>
          </a:p>
          <a:p xmlns:a="http://schemas.openxmlformats.org/drawingml/2006/main">
            <a:r>
              <a:t>80% showed the marker in this culture; clinical safety and benefit still require separate evidence.</a:t>
            </a:r>
          </a:p>
          <a:p xmlns:a="http://schemas.openxmlformats.org/drawingml/2006/main">
            <a:r>
              <a:t>All 90 cells differentiated because 72 is close to 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PERCENTILE position in a reference distribution a value showing the relative position of a measurement within a reference group</a:t>
            </a:r>
          </a:p>
          <a:p xmlns:a="http://schemas.openxmlformats.org/drawingml/2006/main">
            <a:r>
              <a:t>EFFICACY how well an intervention works the extent to which an intervention produces its intended outcome under specified conditions</a:t>
            </a:r>
          </a:p>
          <a:p xmlns:a="http://schemas.openxmlformats.org/drawingml/2006/main">
            <a:r>
              <a:t>INFERENCE reasoned interpretation a conclusion drawn from evidence and scientific knowledge rather than observed directly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DATA → CALCULATION → BIOLOGICAL EXPLANATION → LIMIT → JUDGEMENT. Do not replace a measured culture or growth outcome with a medical conclusion.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For a fictional growth chart, read age, measurement and unit, then describe direction and change using values rather than labels such as normal or abnormal.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Calculate a change or percentage change and check the denominator. If a percentile is supplied, describe relative position and pattern over time without treating it as a diagnosis.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Separate layers: the chart directly records organism measurements; mitosis, elongation and differentiation are biological explanations that require additional evidence.</a:t>
            </a:r>
          </a:p>
          <a:p xmlns:a="http://schemas.openxmlformats.org/drawingml/2006/main">
            <a:r>
              <a:t>Data desk · calculate, then bound the claim</a:t>
            </a:r>
          </a:p>
          <a:p xmlns:a="http://schemas.openxmlformats.org/drawingml/2006/main">
            <a:r>
              <a:t>Culture A: 72 of 90 cells show the marker. Culture B: 36 of 60. Which culture has the higher percentage?</a:t>
            </a:r>
          </a:p>
          <a:p xmlns:a="http://schemas.openxmlformats.org/drawingml/2006/main">
            <a:r>
              <a:t>A — 72 is bigger than 36</a:t>
            </a:r>
          </a:p>
          <a:p xmlns:a="http://schemas.openxmlformats.org/drawingml/2006/main">
            <a:r>
              <a:t>A — 80% vs 60%</a:t>
            </a:r>
          </a:p>
          <a:p xmlns:a="http://schemas.openxmlformats.org/drawingml/2006/main">
            <a:r>
              <a:t>B — smaller sample, so more reliable</a:t>
            </a:r>
          </a:p>
          <a:p xmlns:a="http://schemas.openxmlformats.org/drawingml/2006/main">
            <a:r>
              <a:t>Compare percentages, not raw counts.</a:t>
            </a:r>
          </a:p>
          <a:p xmlns:a="http://schemas.openxmlformats.org/drawingml/2006/main">
            <a:r>
              <a:t>Which claim is bounded by the evidence?</a:t>
            </a:r>
          </a:p>
          <a:p xmlns:a="http://schemas.openxmlformats.org/drawingml/2006/main">
            <a:r>
              <a:t>“This treatment cures the disease.”</a:t>
            </a:r>
          </a:p>
          <a:p xmlns:a="http://schemas.openxmlformats.org/drawingml/2006/main">
            <a:r>
              <a:t>“In this sample, the treatment increased the proportion of marker-positive cells.”</a:t>
            </a:r>
          </a:p>
          <a:p xmlns:a="http://schemas.openxmlformats.org/drawingml/2006/main">
            <a:r>
              <a:t>A chart records what was measured; the claim must not outrun it.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PERCENTILE position in a reference distribution a value showing the relative position of a measurement within a reference group</a:t>
            </a:r>
          </a:p>
          <a:p xmlns:a="http://schemas.openxmlformats.org/drawingml/2006/main">
            <a:r>
              <a:t>EFFICACY how well an intervention works the extent to which an intervention produces its intended outcome under specified conditions</a:t>
            </a:r>
          </a:p>
          <a:p xmlns:a="http://schemas.openxmlformats.org/drawingml/2006/main">
            <a:r>
              <a:t>INFERENCE reasoned interpretation a conclusion drawn from evidence and scientific knowledge rather than observed directly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DATA → CALCULATION → BIOLOGICAL EXPLANATION → LIMIT → JUDGEMENT. Do not replace a measured culture or growth outcome with a medical conclusion.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For a fictional growth chart, read age, measurement and unit, then describe direction and change using values rather than labels such as normal or abnormal.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Calculate a change or percentage change and check the denominator. If a percentile is supplied, describe relative position and pattern over time without treating it as a diagnosis.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Separate layers: the chart directly records organism measurements; mitosis, elongation and differentiation are biological explanations that require additional evidence.</a:t>
            </a:r>
          </a:p>
          <a:p xmlns:a="http://schemas.openxmlformats.org/drawingml/2006/main">
            <a:r>
              <a:t>Data desk · calculate, then bound the claim</a:t>
            </a:r>
          </a:p>
          <a:p xmlns:a="http://schemas.openxmlformats.org/drawingml/2006/main">
            <a:r>
              <a:t>Culture A: 72 of 90 cells show the marker. Culture B: 36 of 60. Which culture has the higher percentage?</a:t>
            </a:r>
          </a:p>
          <a:p xmlns:a="http://schemas.openxmlformats.org/drawingml/2006/main">
            <a:r>
              <a:t>A — 72 is bigger than 36</a:t>
            </a:r>
          </a:p>
          <a:p xmlns:a="http://schemas.openxmlformats.org/drawingml/2006/main">
            <a:r>
              <a:t>A — 80% vs 60%</a:t>
            </a:r>
          </a:p>
          <a:p xmlns:a="http://schemas.openxmlformats.org/drawingml/2006/main">
            <a:r>
              <a:t>B — smaller sample, so more reliable</a:t>
            </a:r>
          </a:p>
          <a:p xmlns:a="http://schemas.openxmlformats.org/drawingml/2006/main">
            <a:r>
              <a:t>Compare percentages, not raw counts.</a:t>
            </a:r>
          </a:p>
          <a:p xmlns:a="http://schemas.openxmlformats.org/drawingml/2006/main">
            <a:r>
              <a:t>Which claim is bounded by the evidence?</a:t>
            </a:r>
          </a:p>
          <a:p xmlns:a="http://schemas.openxmlformats.org/drawingml/2006/main">
            <a:r>
              <a:t>“This treatment cures the disease.”</a:t>
            </a:r>
          </a:p>
          <a:p xmlns:a="http://schemas.openxmlformats.org/drawingml/2006/main">
            <a:r>
              <a:t>“In this sample, the treatment increased the proportion of marker-positive cells.”</a:t>
            </a:r>
          </a:p>
          <a:p xmlns:a="http://schemas.openxmlformats.org/drawingml/2006/main">
            <a:r>
              <a:t>A chart records what was measured; the claim must not outrun it.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measurements show a broadly consistent relative growth pattern across these time points.</a:t>
            </a:r>
          </a:p>
          <a:p xmlns:a="http://schemas.openxmlformats.org/drawingml/2006/main">
            <a:r>
              <a:t>Every cell divided at the same rate and no health check could ever be needed.</a:t>
            </a:r>
          </a:p>
          <a:p xmlns:a="http://schemas.openxmlformats.org/drawingml/2006/main">
            <a:r>
              <a:t>The chart proves exactly which genes were active in each tissue.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For a fictional stem-cell dataset, identify groups, sample sizes, measured outcome and time point before calculating a proportion or difference.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Use the result to make a bounded claim: the intervention increased or decreased the measured outcome under the study conditions.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application by pairing a potential biological benefit with at least one limitation such as small sample, short follow-up, missing control, adverse effects or an indirect marker.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DATA → CALCULATION → BIOLOGICAL EXPLANATION → LIMIT → JUDGEMENT. Do not replace a measured culture or growth outcome with a medical conclusion.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For a fictional stem-cell dataset, identify groups, sample sizes, measured outcome and time point before calculating a proportion or difference.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Use the result to make a bounded claim: the intervention increased or decreased the measured outcome under the study conditions.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Evaluate application by pairing a potential biological benefit with at least one limitation such as small sample, short follow-up, missing control, adverse effects or an indirect marker.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DATA → CALCULATION → BIOLOGICAL EXPLANATION → LIMIT → JUDGEMENT. Do not replace a measured culture or growth outcome with a medical conclusion.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statement to directly supported, reasonable inference or unsupported overclaim before composing the evaluation.</a:t>
            </a:r>
          </a:p>
          <a:p xmlns:a="http://schemas.openxmlformats.org/drawingml/2006/main">
            <a:r>
              <a:t>Read the dataset and one candidate statement. Commit it to the evidence strength it deserves. Repair it by adding a value, biological link or limitation. Freeze a conclusion that is useful without becoming diagnostic or promotional.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Measured increase Mean fictional tissue thickness increased from 1.8 mm to 2.4 mm over the stated interval.</a:t>
            </a:r>
          </a:p>
          <a:p xmlns:a="http://schemas.openxmlformats.org/drawingml/2006/main">
            <a:r>
              <a:t>Marker percentage 80% of observed culture cells carried the stated differentiation marker.</a:t>
            </a:r>
          </a:p>
          <a:p xmlns:a="http://schemas.openxmlformats.org/drawingml/2006/main">
            <a:r>
              <a:t>Cell-process link The tissue increase is consistent with cell division and growth, although these processes were not imaged directly.</a:t>
            </a:r>
          </a:p>
          <a:p xmlns:a="http://schemas.openxmlformats.org/drawingml/2006/main">
            <a:r>
              <a:t>Potential repair If differentiated cells function and persist safely, they could potentially contribute to tissue repair.</a:t>
            </a:r>
          </a:p>
          <a:p xmlns:a="http://schemas.openxmlformats.org/drawingml/2006/main">
            <a:r>
              <a:t>One-point diagnosis One fictional measurement below a percentile line proves a specific disease.</a:t>
            </a:r>
          </a:p>
          <a:p xmlns:a="http://schemas.openxmlformats.org/drawingml/2006/main">
            <a:r>
              <a:t>Guaranteed cure A high marker percentage proves the stem-cell treatment is safe and will cure everyone.</a:t>
            </a:r>
          </a:p>
          <a:p xmlns:a="http://schemas.openxmlformats.org/drawingml/2006/main">
            <a:r>
              <a:t>Single-cause claim Because two variables change together, the stem cells must be the only possible cause.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DIRECTLY SUPPORTED</a:t>
            </a:r>
          </a:p>
          <a:p xmlns:a="http://schemas.openxmlformats.org/drawingml/2006/main">
            <a:r>
              <a:t>REASONABLE INFERENCE</a:t>
            </a:r>
          </a:p>
          <a:p xmlns:a="http://schemas.openxmlformats.org/drawingml/2006/main">
            <a:r>
              <a:t>UNSUPPORTED OVERCLAIM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Application glitch: the group with the larger average must prove the treatment works for every person and has no risks.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one larger mean establishes universal safety and efficacy.</a:t>
            </a:r>
          </a:p>
          <a:p xmlns:a="http://schemas.openxmlformats.org/drawingml/2006/main">
            <a:r>
              <a:t>Repair it: quantify the difference, check variation and controls, then state benefits and limitations before judging.</a:t>
            </a:r>
          </a:p>
          <a:p xmlns:a="http://schemas.openxmlformats.org/drawingml/2006/main">
            <a:r>
              <a:t>Repair it: ignore all quantitative evidence and decide from opinion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statement to directly supported, reasonable inference or unsupported overclaim before composing the evaluation.</a:t>
            </a:r>
          </a:p>
          <a:p xmlns:a="http://schemas.openxmlformats.org/drawingml/2006/main">
            <a:r>
              <a:t>Read the dataset and one candidate statement. Commit it to the evidence strength it deserves. Repair it by adding a value, biological link or limitation. Freeze a conclusion that is useful without becoming diagnostic or promotional.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Measured increase Mean fictional tissue thickness increased from 1.8 mm to 2.4 mm over the stated interval.</a:t>
            </a:r>
          </a:p>
          <a:p xmlns:a="http://schemas.openxmlformats.org/drawingml/2006/main">
            <a:r>
              <a:t>Marker percentage 80% of observed culture cells carried the stated differentiation marker.</a:t>
            </a:r>
          </a:p>
          <a:p xmlns:a="http://schemas.openxmlformats.org/drawingml/2006/main">
            <a:r>
              <a:t>Cell-process link The tissue increase is consistent with cell division and growth, although these processes were not imaged directly.</a:t>
            </a:r>
          </a:p>
          <a:p xmlns:a="http://schemas.openxmlformats.org/drawingml/2006/main">
            <a:r>
              <a:t>Potential repair If differentiated cells function and persist safely, they could potentially contribute to tissue repair.</a:t>
            </a:r>
          </a:p>
          <a:p xmlns:a="http://schemas.openxmlformats.org/drawingml/2006/main">
            <a:r>
              <a:t>One-point diagnosis One fictional measurement below a percentile line proves a specific disease.</a:t>
            </a:r>
          </a:p>
          <a:p xmlns:a="http://schemas.openxmlformats.org/drawingml/2006/main">
            <a:r>
              <a:t>Guaranteed cure A high marker percentage proves the stem-cell treatment is safe and will cure everyone.</a:t>
            </a:r>
          </a:p>
          <a:p xmlns:a="http://schemas.openxmlformats.org/drawingml/2006/main">
            <a:r>
              <a:t>Single-cause claim Because two variables change together, the stem cells must be the only possible cause.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DIRECTLY SUPPORTED</a:t>
            </a:r>
          </a:p>
          <a:p xmlns:a="http://schemas.openxmlformats.org/drawingml/2006/main">
            <a:r>
              <a:t>REASONABLE INFERENCE</a:t>
            </a:r>
          </a:p>
          <a:p xmlns:a="http://schemas.openxmlformats.org/drawingml/2006/main">
            <a:r>
              <a:t>UNSUPPORTED OVERCLAIM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Application glitch: the group with the larger average must prove the treatment works for every person and has no risks.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one larger mean establishes universal safety and efficacy.</a:t>
            </a:r>
          </a:p>
          <a:p xmlns:a="http://schemas.openxmlformats.org/drawingml/2006/main">
            <a:r>
              <a:t>Repair it: quantify the difference, check variation and controls, then state benefits and limitations before judging.</a:t>
            </a:r>
          </a:p>
          <a:p xmlns:a="http://schemas.openxmlformats.org/drawingml/2006/main">
            <a:r>
              <a:t>Repair it: ignore all quantitative evidence and decide from opinion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Fictional/anonymised growth chart, fictional stem-cell results table, calculator, ruler, command-word guide and claim-strength cards.</a:t>
            </a:r>
          </a:p>
          <a:p xmlns:a="http://schemas.openxmlformats.org/drawingml/2006/main">
            <a:r>
              <a:t>Same outcome: I can interpret growth and stem-cell data, calculate changes or proportions, and evaluate application claims using evidence and biological limitations.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local graph/table tools and save only supplied fictional data. Check calculations by hand and do not publish, diagnose or recommend treatment from classroom outputs.</a:t>
            </a:r>
          </a:p>
          <a:p xmlns:a="http://schemas.openxmlformats.org/drawingml/2006/main">
            <a:r>
              <a:t>Same evidence: A value-and-unit growth description, shown calculation, stem-cell data comparison, biological explanation, limitation and supported judgement ready to feed W11 ethics work.</a:t>
            </a:r>
          </a:p>
          <a:p xmlns:a="http://schemas.openxmlformats.org/drawingml/2006/main">
            <a:r>
              <a:t>Equipment / setup Fictional/anonymised growth chart, fictional stem-cell results table, calculator, ruler, command-word guide and claim-strength cards.</a:t>
            </a:r>
          </a:p>
          <a:p xmlns:a="http://schemas.openxmlformats.org/drawingml/2006/main">
            <a:r>
              <a:t>Safety / sensory Use no personal growth or medical data. This is not a diagnostic or treatment activity; use supplied fictional cases, avoid personal disclosure and route health concerns through approved school support.</a:t>
            </a:r>
          </a:p>
          <a:p xmlns:a="http://schemas.openxmlformats.org/drawingml/2006/main">
            <a:r>
              <a:t>Offline parity Use local graph/table tools and save only supplied fictional data. Check calculations by hand and do not publish, diagnose or recommend treatment from classroom outputs.</a:t>
            </a:r>
          </a:p>
          <a:p xmlns:a="http://schemas.openxmlformats.org/drawingml/2006/main">
            <a:r>
              <a:t>No-equipment/access route: Use enlarged pre-plotted graphs, table overlays, calculator prompts, oral choice cards and exact pupil-directed scribing. Retain the calculation and evidence-limit requirements.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Interpret the growth pattern, calculate change and cell percentage, then evaluate the fictional application using one benefit and two evidence limitations.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Work in DESCRIBE → CALCULATE → EXPLAIN → EVALUATE order and quote at least two values.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Fictional/anonymised growth chart, fictional stem-cell results table, calculator, ruler, command-word guide and claim-strength cards.</a:t>
            </a:r>
          </a:p>
          <a:p xmlns:a="http://schemas.openxmlformats.org/drawingml/2006/main">
            <a:r>
              <a:t>Same outcome: I can interpret growth and stem-cell data, calculate changes or proportions, and evaluate application claims using evidence and biological limitations.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local graph/table tools and save only supplied fictional data. Check calculations by hand and do not publish, diagnose or recommend treatment from classroom outputs.</a:t>
            </a:r>
          </a:p>
          <a:p xmlns:a="http://schemas.openxmlformats.org/drawingml/2006/main">
            <a:r>
              <a:t>Same evidence: A value-and-unit growth description, shown calculation, stem-cell data comparison, biological explanation, limitation and supported judgement ready to feed W11 ethics work.</a:t>
            </a:r>
          </a:p>
          <a:p xmlns:a="http://schemas.openxmlformats.org/drawingml/2006/main">
            <a:r>
              <a:t>Equipment / setup Fictional/anonymised growth chart, fictional stem-cell results table, calculator, ruler, command-word guide and claim-strength cards.</a:t>
            </a:r>
          </a:p>
          <a:p xmlns:a="http://schemas.openxmlformats.org/drawingml/2006/main">
            <a:r>
              <a:t>Safety / sensory Use no personal growth or medical data. This is not a diagnostic or treatment activity; use supplied fictional cases, avoid personal disclosure and route health concerns through approved school support.</a:t>
            </a:r>
          </a:p>
          <a:p xmlns:a="http://schemas.openxmlformats.org/drawingml/2006/main">
            <a:r>
              <a:t>Offline parity Use local graph/table tools and save only supplied fictional data. Check calculations by hand and do not publish, diagnose or recommend treatment from classroom outputs.</a:t>
            </a:r>
          </a:p>
          <a:p xmlns:a="http://schemas.openxmlformats.org/drawingml/2006/main">
            <a:r>
              <a:t>No-equipment/access route: Use enlarged pre-plotted graphs, table overlays, calculator prompts, oral choice cards and exact pupil-directed scribing. Retain the calculation and evidence-limit requirements.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Interpret the growth pattern, calculate change and cell percentage, then evaluate the fictional application using one benefit and two evidence limitations.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Work in DESCRIBE → CALCULATE → EXPLAIN → EVALUATE order and quote at least two values.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SCI_L_W10L3_Growth_Stem_Cell_Data_Application_Do.html.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Simplified datasets omit individual variation, full methods, longer-term outcomes and many confounders. Percentile charts and cell markers are useful evidence tools but cannot diagnose or establish a treatment's complete safety and effectiveness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Use one value to support a stem-cell application claim and one limitation to bound it.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SCI_L_W10L3_Growth_Stem_Cell_Data_Application_Do.html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bb67d346c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2b0691ab394b0a" /><Relationship Type="http://schemas.openxmlformats.org/officeDocument/2006/relationships/slideLayout" Target="/ppt/slideLayouts/slideLayout1.xml" Id="R763c5ec48286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3c5ec48286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265fe24c74a56" /><Relationship Type="http://schemas.openxmlformats.org/officeDocument/2006/relationships/hyperlink" Target="SCI_L_W10L3_Growth_Stem_Cell_Data_Application_Do.html" TargetMode="External" Id="R6e69361cb71948ac" /><Relationship Type="http://schemas.openxmlformats.org/officeDocument/2006/relationships/notesSlide" Target="/ppt/notesSlides/notesSlide1.xml" Id="Rd284f63f50a348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c9bde7c5e4078" /><Relationship Type="http://schemas.openxmlformats.org/officeDocument/2006/relationships/notesSlide" Target="/ppt/notesSlides/notesSlide2.xml" Id="R8b346e86f2f547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10e460eb94ae5" /><Relationship Type="http://schemas.openxmlformats.org/officeDocument/2006/relationships/notesSlide" Target="/ppt/notesSlides/notesSlide3.xml" Id="R3d0415b4bb1549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a0c0593cc4e2e" /><Relationship Type="http://schemas.openxmlformats.org/officeDocument/2006/relationships/notesSlide" Target="/ppt/notesSlides/notesSlide4.xml" Id="Radf5535ed99649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22d25ef854375" /><Relationship Type="http://schemas.openxmlformats.org/officeDocument/2006/relationships/image" Target="/ppt/media/image.png" Id="Rab47df3d046348e4" /><Relationship Type="http://schemas.openxmlformats.org/officeDocument/2006/relationships/image" Target="/ppt/media/image2.png" Id="Re446b837dc6d4809" /><Relationship Type="http://schemas.openxmlformats.org/officeDocument/2006/relationships/image" Target="/ppt/media/image3.png" Id="Red78cf1a198c4259" /><Relationship Type="http://schemas.openxmlformats.org/officeDocument/2006/relationships/notesSlide" Target="/ppt/notesSlides/notesSlide5.xml" Id="Rbfe9ca14a68343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3a2444dff47c9" /><Relationship Type="http://schemas.openxmlformats.org/officeDocument/2006/relationships/notesSlide" Target="/ppt/notesSlides/notesSlide6.xml" Id="R3bc580cae250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80719f5574f2b" /><Relationship Type="http://schemas.openxmlformats.org/officeDocument/2006/relationships/notesSlide" Target="/ppt/notesSlides/notesSlide7.xml" Id="R96d5eb5c8ef74a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562943bf74608" /><Relationship Type="http://schemas.openxmlformats.org/officeDocument/2006/relationships/notesSlide" Target="/ppt/notesSlides/notesSlide8.xml" Id="R11e143ea1b5846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2c61cdfa14b32" /><Relationship Type="http://schemas.openxmlformats.org/officeDocument/2006/relationships/notesSlide" Target="/ppt/notesSlides/notesSlide9.xml" Id="Rb38b93151345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9c455234f4d0d" /><Relationship Type="http://schemas.openxmlformats.org/officeDocument/2006/relationships/notesSlide" Target="/ppt/notesSlides/notesSlide10.xml" Id="R6d269958c29b4a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8157f56a54975" /><Relationship Type="http://schemas.openxmlformats.org/officeDocument/2006/relationships/notesSlide" Target="/ppt/notesSlides/notesSlide11.xml" Id="R599a8f8aac8a47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5c28235824b0f" /><Relationship Type="http://schemas.openxmlformats.org/officeDocument/2006/relationships/notesSlide" Target="/ppt/notesSlides/notesSlide12.xml" Id="R69daab98cd3441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c692303ff4b55" /><Relationship Type="http://schemas.openxmlformats.org/officeDocument/2006/relationships/notesSlide" Target="/ppt/notesSlides/notesSlide13.xml" Id="Rd13f380e2fc144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e62fb07f6491f" /><Relationship Type="http://schemas.openxmlformats.org/officeDocument/2006/relationships/notesSlide" Target="/ppt/notesSlides/notesSlide14.xml" Id="Ra77a10b91e7745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f9b1efc324989" /><Relationship Type="http://schemas.openxmlformats.org/officeDocument/2006/relationships/notesSlide" Target="/ppt/notesSlides/notesSlide15.xml" Id="Rc16383d0b4da4c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507B6BC-430B-4DDE-83E2-958872C8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79731A3-63D0-41F8-803B-01A3B5BB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0A23E0D-C6CD-4B99-8C34-61E00A9A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574558-9C0B-497A-A1BD-A4E10CC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Growth and Stem-Cell Data: Evidence Before Claims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A14F54E-36C6-4FFD-B1C6-8A794DD9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E3B4FE53-51D2-4F3C-8CF9-D2A3505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interpret growth and stem-cell data, calculate changes or proportions, and evaluate application claims using evidence and biological limitations.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C57C2A62-028A-4C83-ADF4-2E1BF57E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A8ABC9C6-613C-4B82-B996-C45A330A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DESCRIBE DATA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5E7EEBD2-1772-4B0B-AD10-742372F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values + units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09BF4B8F-A818-4481-9008-498C7F53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B224F4A4-4AFD-447C-8BC7-B2C5BF5B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C5FBD9B3-5A57-4D1A-8800-CC54CA7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working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9D4F3A6A-2EC1-4F2B-969F-88BD7DD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CCF372FD-7ACE-4EF9-84E6-389F6A39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EVALUATE CLAIM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A69BD018-91C8-4625-84E8-109E0811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 + limit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18AB030D-E321-4130-917A-D47433EB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6e69361cb71948ac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513455B8-285E-4D4C-850D-94A925DE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EFCC1BD8-8FD4-42FA-8DD6-29995C21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573200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EDFCFE0-A2A9-4C2D-9EEB-2029F4F1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2948AD5-C38C-4E28-9E3C-001A95B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ABCD1F1-AA0A-4758-9EED-9801456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21996A-9BBC-4BFF-AA76-CABB12B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FF3354B-ED8A-410A-8B67-FC83B21E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5EA8930-D0E3-4AB9-851C-600A3BD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a growth pattern from axes, values and units without diagnosing from one data point.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1BA4ACB-CA90-46DA-9350-C760406D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a change, percentage change or cell proportion with shown working.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2BF406F-3F0A-4016-B127-C0C1BA4D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Apply stem-cell and differentiation knowledge to evaluate a claim, separating potential benefit from evidence limits and uncertainty.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47A1B15-7F16-45DA-BD46-57C285A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E04E9DD-36C6-4EBD-94EC-E18EA83F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342550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83AEE18-72B4-4D98-9B9D-F270E7D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674EA83-37BA-408E-9D64-949F236E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9A9DD9A-2449-4D26-B826-CD4F0112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2CEBF6-2CEA-4DB4-AF5E-0794138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3D47394-DC70-4F41-82F7-992AD28D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4BF60C3-F783-4DC9-BB3A-7C64542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limitation of interpreting a single growth measurement.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E1BE2C7-CC2B-480C-B39E-BF4C5388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Write the equation for percentage change.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5DC169B-0BF7-4D3A-9A8E-2FB8ADA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embryonic and adult tissue stem-cell potential.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144B26E-656A-464F-A86B-8E4E74D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distinguish evidence of differentiation from evidence of patient benefit.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F5580D1-BFBF-4FA5-BFF5-063EF670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BF8E4A6-6E0E-45B8-87A4-73EC7151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546272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286B269-A662-4200-80D6-5C43C833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B74F545-6C59-43F7-9D4B-F68D1593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E7FBA36-01A1-4EA7-822A-A9D6929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9955EB-4254-47C2-AD4F-F96A1797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fictional culture study reports that 72 of 90 cells show the intended marker. Which response is scientifically strongest?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0801129-F2D5-4C9F-9FCE-9733F5CF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16330B1-F4FA-49D2-B3B0-1F1A2D5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D23F529-C676-4350-B0E6-7701E4C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treatment is guaranteed to cure 80% of patients.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4CA484C-EF1C-4C19-AA72-44EB7630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80% showed the marker in this culture; clinical safety and benefit still require separate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AAFED7B-1564-4D0D-B5F9-E5A18E3D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All 90 cells differentiated because 72 is close to 90.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9E68121-96AE-4919-9861-134C2BFD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1064C66-B0DF-4F2A-B3BA-D061FA8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854489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42AB13F-5980-4466-8E59-2B0E5D7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73497D8-F92A-4B59-BA7C-596FEB9C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DCBE4DE-F8AF-4EEC-9277-F7C11EA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668B7E-B6BF-481E-885A-EE1E457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7F99E10-6F77-4842-9A7A-6FFD20DB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7df3d046348e4"/>
          <a:stretch xmlns:a="http://schemas.openxmlformats.org/drawingml/2006/main"/>
        </p:blipFill>
        <p:spPr>
          <a:xfrm xmlns:a="http://schemas.openxmlformats.org/drawingml/2006/main">
            <a:off x="8001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35B50A7-06E7-44D7-8934-BF154E5D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Proportion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6b837dc6d4809"/>
          <a:stretch xmlns:a="http://schemas.openxmlformats.org/drawingml/2006/main"/>
        </p:blipFill>
        <p:spPr>
          <a:xfrm xmlns:a="http://schemas.openxmlformats.org/drawingml/2006/main">
            <a:off x="44069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C4C67842-FBF7-4A81-BE00-90A2311A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Percentage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8cf1a198c4259"/>
          <a:stretch xmlns:a="http://schemas.openxmlformats.org/drawingml/2006/main"/>
        </p:blipFill>
        <p:spPr>
          <a:xfrm xmlns:a="http://schemas.openxmlformats.org/drawingml/2006/main">
            <a:off x="80137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CF3E5DE2-231D-4B3C-B71C-96BE907B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Bounded claim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E6A5D70B-F8FF-4EFF-B6BA-16EF411E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1EA7291-5E62-4749-B1F3-28C2275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731220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716D4DA-7CA4-4733-A849-3587BFBD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CE69099-ACCC-40F5-92AE-B331FA6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3DED8DA-2128-4912-A20A-ABC515B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3F4056-EE3D-4215-B0EA-205F7BD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81707E7-47FE-4A09-8742-EDB4D80F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4688155-A920-4C9E-829D-A52DCD4E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percentile — position in a reference distribution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CD5A60F-2D99-4067-BE5A-DB145AEB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efficacy — how well an intervention works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F2B4CEA-697F-4857-BF7D-5E52530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inference — reasoned interpretation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2A6B1E9-8F2A-4E9C-B814-43CCC4E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0ACA10E-7662-41BC-944B-4226E2E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692172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B873EB1-42E7-4DC5-9A80-9D7E026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44F373A-BD1B-4987-A5AF-019A306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FE67492-078F-4498-9251-FDFEAA6A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4246F5-72EA-442B-B3B4-5D8E2258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D8C3674-9C04-4E0E-80D5-97B0C13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D22901B-2B6F-4726-8705-0F4B8486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 a fictional growth chart, read age, measurement and unit, then describe direction and change using values rather than labels such as normal or abnormal.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2A4063C-D37C-458D-BFF8-A5CE642A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Calculate a change or percentage change and check the denominator. If a percentile is supplied, describe relative position and pattern over time without treating it as a diagnosis.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CBC199C-593C-4659-9391-6426A61B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Separate layers: the chart directly records organism measurements; mitosis, elongation and differentiation are biological explanations that require additional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B609E8D-FA70-4377-8720-08C889F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F41A124-ADC3-405E-8F4E-5F9486B0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813356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CFE7E3D-E32A-4B44-A9D0-40109F51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8758FF1-3682-439D-B25E-DFE67D55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26CC3F2-AD77-4EB9-90BD-F4703DC0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1D5DCD-814C-4AFA-9E09-596A7C5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fictional pupil's height follows approximately the same percentile line at three time points. Which conclusion is justified by this chart alone?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07BAC15-7627-46EC-8026-4CCE161A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1178445-F6EB-4CDB-BDB6-0AB5219D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measurements show a broadly consistent relative growth pattern across these time points.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095D8C0-EBB4-45DA-8BDB-DAF5CC6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Every cell divided at the same rate and no health check could ever be needed.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E48FF85-7F45-4CD0-B021-AB90A2D4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chart proves exactly which genes were active in each tissue.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2DA9BF6-AB91-4DC0-B464-BBDC214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E6A6B74-815E-4E4B-8323-CD5AA68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30B5B96-A04B-404F-8060-67EED804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045000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424F6A9-BE93-4044-8403-2BF8AF9C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CCD87BD-775B-4CDA-93BE-FBDB44D4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9094C6-7122-4730-A64C-AF94E824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96FD50-DB81-4B08-B6C9-0C6A8190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054A60D-F22E-4F06-865F-56589D4A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A416BE3-D197-415C-A6EF-5459FF9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 a fictional stem-cell dataset, identify groups, sample sizes, measured outcome and time point before calculating a proportion or difference.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5BC236D-8B88-4C9C-8A0F-69F2EEED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the result to make a bounded claim: the intervention increased or decreased the measured outcome under the study conditions.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CAB775C-7A36-421D-9902-41AB4648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Evaluate application by pairing a potential biological benefit with at least one limitation such as small sample, short follow-up, missing control, adverse effects or an indirect marker.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A59F228-C285-406B-A7D1-78E56EA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5989424-0289-47DD-B537-9A147CF5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562400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02C9C8-FD1C-4D8E-B754-922D0B3A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185E2F0-F676-4265-8138-11E2A87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74A9235-DA3D-4155-88BA-C68508F7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A98B3D-25CD-41E6-B394-9AEDDDF3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416A14A-8BC2-47CE-AC86-686F0C8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D199510-0375-4FA9-9FBF-FC3DFD38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Application glitch: the group with the larger average must prove the treatment works for every person and has no risks.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6241C77-91C1-4C1B-B696-23C710B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larger mean establishes universal safety and efficacy.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0F407BB-5FF2-42DC-97FC-4CEE012E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quantify the difference, check variation and controls, then state benefits and limitations before judging.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9A69D9B-0754-4A6E-ADF8-64A3E384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ignore all quantitative evidence and decide from opinion alone.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B954AD3-04DB-4E20-A10B-0DB4C7E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D9E5E5F-9FC7-4FED-BC72-14F65EE0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816864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2A68EA0-5C4A-4004-AD79-F8505DFA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E638FEA-A06D-45B3-9CDC-AA89CBA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851A346-EE45-4F91-B391-4470B2C6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BADF9C-9D4F-45C9-B1BA-7CBDFC20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Claim-strength evidence triage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61BAB99-2BED-49A7-87ED-176FC2E7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19D93B1-6606-4810-BECB-2858729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statement to directly supported, reasonable inference or unsupported overclaim before composing the evaluation.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5CB6258-A1D7-4FDE-A709-1CD05E3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dataset and one candidate statement.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F7B851C-7F2F-437E-83D7-85A8A99C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the evidence strength it deserves.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5CDDD16-3137-4B46-AB40-A06A91D5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it by adding a value, biological link or limitation.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7D5FF0B-3346-4061-932B-E5A80BC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 conclusion that is useful without becoming diagnostic or promotional.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DF450B86-1CD2-43BD-BC80-CCF529F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31F2459-D47D-40F3-8C59-1464958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63814A0D-21C9-4FCD-B64D-0AA4254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8530850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B2BEAC2-646E-4C1E-A842-E24CD56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87794EC-C901-4BD0-99D6-1E5063D5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402C849-9C8D-4C09-9302-F0326D70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23AE6F-A221-4C61-9D4B-EAF031F3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ED24C91-FA94-4D9E-8F1E-FD4ECED6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B534EE2-F244-4351-B400-646C3E00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DIRECTLY SUPPORTED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56F6D15-A8F9-4E7C-A8E7-752163B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REASONABLE INFERENCE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EBAF43B-C069-4095-A4BE-2949588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UNSUPPORTED OVERCLAIM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956659B-20AE-4CCF-8155-FE64AA20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one direct result, one justified inference and one claim the dataset cannot support.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1F20380-E644-4EA7-86CB-6884513F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0915C37-1023-4AE9-A1EB-9062172C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076803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433B42-75C9-4665-B977-BDF16C2F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8624BC0-1621-41F9-B7DA-F0729BA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E7FC5C6-457F-4C44-86B2-908FF7F3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F1663F-5FB4-4923-AFB8-AF4C9110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F4E7860-6FE3-4830-A540-0726B23D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9F22505-1781-4F87-95FD-39206B5F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Complete a GCSE application pack containing a growth-chart interpretation, two shown calculations and an evidence-led evaluation of a fictional stem-cell claim.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EEC9E5D-1485-4FBE-93C6-D681B7D5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value-and-unit growth description, shown calculation, stem-cell data comparison, biological explanation, limitation and supported judgement ready to feed W11 ethics work.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66DA428-4E5C-46D8-92A2-5BA3C22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6290050-B42A-4DB7-8B46-8DD0070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6035268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4F9C35B-3102-4C22-8198-42154B0B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1B6E3B2-4A5A-4A2C-BAE4-2A9EF0C4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981CFA5-EC7C-4417-B18B-B4265A77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9B0A52-C320-4A87-B523-D512ABB1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8E28D1C-B422-4D9F-87D9-7454DCC1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A79C01D-451F-4E08-A63B-18AEF281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Read two graph values, calculate one change and one worked percentage, then select and justify a bounded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917A384-52A5-41CA-A8B0-68ABB99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Interpret the growth pattern, calculate change and cell percentage, then evaluate the fictional application using one benefit and two evidence limitations.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2C143B6-EF9C-48E6-9483-41B34C33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Compare groups using quantitative evidence, examine variation or control quality, and reach a conditional judgement that separates efficacy, safety and ethics.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EA9C92A-C8AE-4F1A-BDD2-1B89042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952A273-C511-4C50-86DD-C3780792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2336110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695BDC2-38F4-42E4-B477-3C98D1FB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9760C58-8D5B-414A-8434-D0CB44C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EA10DE3-9F7B-4408-8EC0-D6B98EB9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EC15D7-5C6D-469D-8012-18AAF9D6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4E8E313-B8EF-403E-8F86-D80B522E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A492230-E366-4593-B34E-56A8AC5D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one value to support a stem-cell application claim and one limitation to bound 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217653B-A003-4518-BD40-814E485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7A11812-ECAE-4347-BD9F-F57C3A8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CBE6605-662F-4690-9455-0ABE85F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783645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2026-09-08T08:54:14.9050000Z</dcterms:created>
  <dcterms:modified xsi:type="dcterms:W3CDTF">2026-09-08T08:54:14.9050000Z</dcterms:modified>
</coreProperties>
</file>