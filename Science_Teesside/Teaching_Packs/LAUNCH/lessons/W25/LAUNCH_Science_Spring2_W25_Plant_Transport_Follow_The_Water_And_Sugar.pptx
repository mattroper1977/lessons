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726a1d8874e12" /><Relationship Type="http://schemas.openxmlformats.org/officeDocument/2006/relationships/extended-properties" Target="/docProps/app.xml" Id="Ree7b23aa6636427a" /><Relationship Type="http://schemas.openxmlformats.org/officeDocument/2006/relationships/officeDocument" Target="/ppt/presentation.xml" Id="R759191ca1cd046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db30e54b84579"/>
  </p:sldMasterIdLst>
  <p:notesMasterIdLst>
    <p:notesMasterId xmlns:r="http://schemas.openxmlformats.org/officeDocument/2006/relationships" r:id="R8a3ec71f3b0d4f57"/>
  </p:notesMasterIdLst>
  <p:sldIdLst>
    <p:sldId xmlns:r="http://schemas.openxmlformats.org/officeDocument/2006/relationships" id="256" r:id="R8865ec99f3d24c0d"/>
    <p:sldId xmlns:r="http://schemas.openxmlformats.org/officeDocument/2006/relationships" id="257" r:id="R018f2ba02ef04a86"/>
    <p:sldId xmlns:r="http://schemas.openxmlformats.org/officeDocument/2006/relationships" id="258" r:id="R76bb45fa40124ebd"/>
    <p:sldId xmlns:r="http://schemas.openxmlformats.org/officeDocument/2006/relationships" id="259" r:id="Rcd6d2125272a4b44"/>
    <p:sldId xmlns:r="http://schemas.openxmlformats.org/officeDocument/2006/relationships" id="260" r:id="R9dad40615f694d99"/>
    <p:sldId xmlns:r="http://schemas.openxmlformats.org/officeDocument/2006/relationships" id="261" r:id="R58253ade747d4df2"/>
    <p:sldId xmlns:r="http://schemas.openxmlformats.org/officeDocument/2006/relationships" id="262" r:id="R3473a15bb2044745"/>
    <p:sldId xmlns:r="http://schemas.openxmlformats.org/officeDocument/2006/relationships" id="263" r:id="R8111c1cc9e4d4cbc"/>
    <p:sldId xmlns:r="http://schemas.openxmlformats.org/officeDocument/2006/relationships" id="264" r:id="Rad01d7a60d904c97"/>
    <p:sldId xmlns:r="http://schemas.openxmlformats.org/officeDocument/2006/relationships" id="265" r:id="R7f606df3c1d9408a"/>
    <p:sldId xmlns:r="http://schemas.openxmlformats.org/officeDocument/2006/relationships" id="266" r:id="R9e812a0dc6d94013"/>
    <p:sldId xmlns:r="http://schemas.openxmlformats.org/officeDocument/2006/relationships" id="267" r:id="Rc411ff9b782a4dae"/>
    <p:sldId xmlns:r="http://schemas.openxmlformats.org/officeDocument/2006/relationships" id="268" r:id="R035b9d1a034b454e"/>
    <p:sldId xmlns:r="http://schemas.openxmlformats.org/officeDocument/2006/relationships" id="269" r:id="Rb7924305c930430b"/>
    <p:sldId xmlns:r="http://schemas.openxmlformats.org/officeDocument/2006/relationships" id="270" r:id="R25e81d12eb284a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8f477804c49ff" /><Relationship Type="http://schemas.openxmlformats.org/officeDocument/2006/relationships/slideMaster" Target="/ppt/slideMasters/slideMaster1.xml" Id="R4b8db30e54b84579" /><Relationship Type="http://schemas.openxmlformats.org/officeDocument/2006/relationships/notesMaster" Target="/ppt/notesMasters/notesMaster1.xml" Id="R8a3ec71f3b0d4f57" /><Relationship Type="http://schemas.openxmlformats.org/officeDocument/2006/relationships/presProps" Target="/ppt/presProps.xml" Id="R661125c698744b91" /><Relationship Type="http://schemas.openxmlformats.org/officeDocument/2006/relationships/tableStyles" Target="/ppt/tableStyles.xml" Id="R794984c6a50a4b2f" /><Relationship Type="http://schemas.openxmlformats.org/officeDocument/2006/relationships/slide" Target="/ppt/slides/slide1.xml" Id="R8865ec99f3d24c0d" /><Relationship Type="http://schemas.openxmlformats.org/officeDocument/2006/relationships/slide" Target="/ppt/slides/slide2.xml" Id="R018f2ba02ef04a86" /><Relationship Type="http://schemas.openxmlformats.org/officeDocument/2006/relationships/slide" Target="/ppt/slides/slide3.xml" Id="R76bb45fa40124ebd" /><Relationship Type="http://schemas.openxmlformats.org/officeDocument/2006/relationships/slide" Target="/ppt/slides/slide4.xml" Id="Rcd6d2125272a4b44" /><Relationship Type="http://schemas.openxmlformats.org/officeDocument/2006/relationships/slide" Target="/ppt/slides/slide5.xml" Id="R9dad40615f694d99" /><Relationship Type="http://schemas.openxmlformats.org/officeDocument/2006/relationships/slide" Target="/ppt/slides/slide6.xml" Id="R58253ade747d4df2" /><Relationship Type="http://schemas.openxmlformats.org/officeDocument/2006/relationships/slide" Target="/ppt/slides/slide7.xml" Id="R3473a15bb2044745" /><Relationship Type="http://schemas.openxmlformats.org/officeDocument/2006/relationships/slide" Target="/ppt/slides/slide8.xml" Id="R8111c1cc9e4d4cbc" /><Relationship Type="http://schemas.openxmlformats.org/officeDocument/2006/relationships/slide" Target="/ppt/slides/slide9.xml" Id="Rad01d7a60d904c97" /><Relationship Type="http://schemas.openxmlformats.org/officeDocument/2006/relationships/slide" Target="/ppt/slides/slide10.xml" Id="R7f606df3c1d9408a" /><Relationship Type="http://schemas.openxmlformats.org/officeDocument/2006/relationships/slide" Target="/ppt/slides/slide11.xml" Id="R9e812a0dc6d94013" /><Relationship Type="http://schemas.openxmlformats.org/officeDocument/2006/relationships/slide" Target="/ppt/slides/slide12.xml" Id="Rc411ff9b782a4dae" /><Relationship Type="http://schemas.openxmlformats.org/officeDocument/2006/relationships/slide" Target="/ppt/slides/slide13.xml" Id="R035b9d1a034b454e" /><Relationship Type="http://schemas.openxmlformats.org/officeDocument/2006/relationships/slide" Target="/ppt/slides/slide14.xml" Id="Rb7924305c930430b" /><Relationship Type="http://schemas.openxmlformats.org/officeDocument/2006/relationships/slide" Target="/ppt/slides/slide15.xml" Id="R25e81d12eb28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33ed8ae70e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7791ba50eb4ff8" /><Relationship Type="http://schemas.openxmlformats.org/officeDocument/2006/relationships/notesMaster" Target="/ppt/notesMasters/notesMaster1.xml" Id="R682955ff16d64e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4b179b4f884c19" /><Relationship Type="http://schemas.openxmlformats.org/officeDocument/2006/relationships/notesMaster" Target="/ppt/notesMasters/notesMaster1.xml" Id="Rc86db9db487143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5228f8721241d0" /><Relationship Type="http://schemas.openxmlformats.org/officeDocument/2006/relationships/notesMaster" Target="/ppt/notesMasters/notesMaster1.xml" Id="R50625b48f2e74e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d013d150954021" /><Relationship Type="http://schemas.openxmlformats.org/officeDocument/2006/relationships/notesMaster" Target="/ppt/notesMasters/notesMaster1.xml" Id="R64446851dfe4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cddc1ce0764012" /><Relationship Type="http://schemas.openxmlformats.org/officeDocument/2006/relationships/notesMaster" Target="/ppt/notesMasters/notesMaster1.xml" Id="R6528c52450624d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2768b3a1794008" /><Relationship Type="http://schemas.openxmlformats.org/officeDocument/2006/relationships/notesMaster" Target="/ppt/notesMasters/notesMaster1.xml" Id="R06d2fb7f9f1a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a430fd5a504a7f" /><Relationship Type="http://schemas.openxmlformats.org/officeDocument/2006/relationships/notesMaster" Target="/ppt/notesMasters/notesMaster1.xml" Id="Rb69cfeda407f47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11c0c129fb40e0" /><Relationship Type="http://schemas.openxmlformats.org/officeDocument/2006/relationships/notesMaster" Target="/ppt/notesMasters/notesMaster1.xml" Id="R3b27542450b342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42e38d0afc42b3" /><Relationship Type="http://schemas.openxmlformats.org/officeDocument/2006/relationships/notesMaster" Target="/ppt/notesMasters/notesMaster1.xml" Id="R166a0dda598844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03f8b51816453c" /><Relationship Type="http://schemas.openxmlformats.org/officeDocument/2006/relationships/notesMaster" Target="/ppt/notesMasters/notesMaster1.xml" Id="R1bd26ee95cd440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7969d5b0ba4753" /><Relationship Type="http://schemas.openxmlformats.org/officeDocument/2006/relationships/notesMaster" Target="/ppt/notesMasters/notesMaster1.xml" Id="R4f1ba160b0e644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b4be112a4d47a3" /><Relationship Type="http://schemas.openxmlformats.org/officeDocument/2006/relationships/notesMaster" Target="/ppt/notesMasters/notesMaster1.xml" Id="R54352b257c0341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94c2ba03134de7" /><Relationship Type="http://schemas.openxmlformats.org/officeDocument/2006/relationships/notesMaster" Target="/ppt/notesMasters/notesMaster1.xml" Id="R23814fa0f7904d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07bc3df9a445f9" /><Relationship Type="http://schemas.openxmlformats.org/officeDocument/2006/relationships/notesMaster" Target="/ppt/notesMasters/notesMaster1.xml" Id="Rb14fd6e568d649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0819334064d10" /><Relationship Type="http://schemas.openxmlformats.org/officeDocument/2006/relationships/notesMaster" Target="/ppt/notesMasters/notesMaster1.xml" Id="R5ebdd4730fe4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prediction; no need to know transpiration term yet. Show the planned distinction between material transport and a measurement of uptake.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glucose. R2 osmosis. R3 change/amount divided by time. Explain glucose can be converted to sucrose for transport; root uptake is not sugar absorption from soil.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blue path from roots to leaf. Root hairs give large area; water can enter by osmosis, while mineral ions may require active transport. Then model leaf-to-bud and leaf-to-root sucrose paths. Xylem conducting cells are hollow/dead with lignified walls; phloem includes living cells and energy-dependent loading/transport processes.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Whole-plant transport model: blue xylem arrows carry water and mineral ions from roots towards the leaves. Purple phloem paths move sucrose from a source leaf to a growing bud above and roots below in different tubes. Plant and paths are schematic, not to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“First liquid becomes vapour: evaporation. Then vapour spreads out through the pore: diffusion. I should not call these the same process.” Wind can remove humid air near the leaf, increasing the vapour gradient if other conditions are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Leaf-section model: water at moist internal cell surfaces evaporates into internal air spaces. Water vapour diffuses through a stoma to the air when a gradient exists. Guard cells control the pore. Shapes are schematic, not a complete leaf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Trace the bubble towards shoot. “This is movement along a capillary, not water vapour counted at a leaf. Most uptake may replace loss, but some water is used/retained; leaks matter.” Equal tubing permits comparative movement rates; volume requires cross-sectional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Schematic bubble potometer: the shoot takes up water, drawing an air bubble along the graduated capillary towards the shoot. The measured distance over time indicates volume uptake only when capillary cross-section is known. It is not a direct measurement of water vapour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Still mean 12 mm; moving mean 30 mm. Rates 2.4 and 6 mm/min. Constructed matched shoot/light/temperature/capillary data; effects are conditional, not a universal fixed wind multiplier.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Moving air removes humid air near stomata, increasing diffusion gradient; more water evaporates/is lost; uptake through xylem tends to replace it. No claim fan pushes water through leaf. Accept accurate arrow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Leaf-section model: water at moist internal cell surfaces evaporates into internal air spaces. Water vapour diffuses through a stoma to the air when a gradient exists. Guard cells control the pore. Shapes are schematic, not a complete leaf 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“Water-uptake proxy” or “bubble movement indicating uptake.” Uptake may differ from loss; volume not directly known from distance alone. Ask what extra quantity converts distance to volume: cross-sectional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Measure bubble movement per time. Infer water uptake; treat transpiration as a proxy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correct. A swaps tissue/material; C swaps measurement/inference; D misses source/sink.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Xylem carries sucrose made in the roots.</a:t>
            </a:r>
          </a:p>
          <a:p xmlns:a="http://schemas.openxmlformats.org/drawingml/2006/main">
            <a:r>
              <a:t>Xylem carries water/mineral ions; phloem transports sucrose between sources and sinks.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Water evaporates inside a leaf and vapour diffuses through stomata.</a:t>
            </a:r>
          </a:p>
          <a:p xmlns:a="http://schemas.openxmlformats.org/drawingml/2006/main">
            <a:r>
              <a:t>Correct. Yes: state change first, then diffusion through the pore.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A potometer directly measures all water vapour leaving a leaf.</a:t>
            </a:r>
          </a:p>
          <a:p xmlns:a="http://schemas.openxmlformats.org/drawingml/2006/main">
            <a:r>
              <a:t>A bubble potometer measures uptake; it does not collect all vapour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D. Phloem transport is always downward.</a:t>
            </a:r>
          </a:p>
          <a:p xmlns:a="http://schemas.openxmlformats.org/drawingml/2006/main">
            <a:r>
              <a:t>A sink may be above or below a source; different tubes can transport in different directions.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evidence supplied. Let pupils point or narrate arrows rather than require lengthy prose.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Supported S1–S4; standard M1–M4; stretch T1–T4. Check that moving air explanation includes vapour gradient, not fan pushing liquid. If numbers confuse, model rate from a 10 mm/5 min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Quiet partner/TA review. Pupil adds tissue label or changes “exact transpiration” to an accurate uptake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still 2.4 versus moving 6 mm/min in the supplied setup; stronger air movement is consistent with faster uptake, not a direct measurement of every evaporated molecule.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E1 phloem. E2=4 mm/min. E3 some water used/retained and apparatus limitations. Collect one precise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exit minute. Revisit a source leaf with sinks above/below if downward-only misconception persists.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Pearson Edexcel GCSE Biology 1BI0 specification</a:t>
            </a:r>
          </a:p>
          <a:p xmlns:a="http://schemas.openxmlformats.org/drawingml/2006/main">
            <a:r>
              <a:t>https://qualifications.pearson.com/content/dam/pdf/GCSE/Science/2016/Specification/gcse-biology-spec.pdf</a:t>
            </a:r>
          </a:p>
          <a:p xmlns:a="http://schemas.openxmlformats.org/drawingml/2006/main">
            <a:r>
              <a:t>Used to check relevant Foundation curriculum content; this is teacher-authored practice, not an official assessment or complete unit.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SAPS: Investigating transpiration with a potometer</a:t>
            </a:r>
          </a:p>
          <a:p xmlns:a="http://schemas.openxmlformats.org/drawingml/2006/main">
            <a:r>
              <a:t>https://www.saps.org.uk/teaching-resources/resources/1263/investigating-transpiration-with-a-potometer/</a:t>
            </a:r>
          </a:p>
          <a:p xmlns:a="http://schemas.openxmlformats.org/drawingml/2006/main">
            <a:r>
              <a:t>Checked water-uptake measurement and the distinction from mass-loss methods. All movement values in this lesson are constructed. Checked 8 September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Transport of water and solutes in plants</a:t>
            </a:r>
          </a:p>
          <a:p xmlns:a="http://schemas.openxmlformats.org/drawingml/2006/main">
            <a:r>
              <a:t>https://openstax.org/books/biology-2e/pages/30-5-transport-of-water-and-solutes-in-plants</a:t>
            </a:r>
          </a:p>
          <a:p xmlns:a="http://schemas.openxmlformats.org/drawingml/2006/main">
            <a:r>
              <a:t>Checked xylem/phloem, source-to-sink transport, stomata and water movement. Checked 8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b22b837d648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f8da7d89a64cbf" /><Relationship Type="http://schemas.openxmlformats.org/officeDocument/2006/relationships/slideLayout" Target="/ppt/slideLayouts/slideLayout1.xml" Id="R8a2c35bee771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c35bee771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caddc9cf5438a" /><Relationship Type="http://schemas.openxmlformats.org/officeDocument/2006/relationships/notesSlide" Target="/ppt/notesSlides/notesSlide1.xml" Id="R4787a85665a9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6fe777c704074" /><Relationship Type="http://schemas.openxmlformats.org/officeDocument/2006/relationships/notesSlide" Target="/ppt/notesSlides/notesSlide2.xml" Id="R275f571c077e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eced780054691" /><Relationship Type="http://schemas.openxmlformats.org/officeDocument/2006/relationships/notesSlide" Target="/ppt/notesSlides/notesSlide3.xml" Id="R091921019f4049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a4021323d4c41" /><Relationship Type="http://schemas.openxmlformats.org/officeDocument/2006/relationships/notesSlide" Target="/ppt/notesSlides/notesSlide4.xml" Id="R0006fecc1cfe41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30542549a402a" /><Relationship Type="http://schemas.openxmlformats.org/officeDocument/2006/relationships/notesSlide" Target="/ppt/notesSlides/notesSlide5.xml" Id="R3c0ebe6d92134c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82c995a2e40ef" /><Relationship Type="http://schemas.openxmlformats.org/officeDocument/2006/relationships/notesSlide" Target="/ppt/notesSlides/notesSlide6.xml" Id="R63b96260669649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5317d66144e90" /><Relationship Type="http://schemas.openxmlformats.org/officeDocument/2006/relationships/notesSlide" Target="/ppt/notesSlides/notesSlide7.xml" Id="R2f1af678e376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046058c4a4df8" /><Relationship Type="http://schemas.openxmlformats.org/officeDocument/2006/relationships/notesSlide" Target="/ppt/notesSlides/notesSlide8.xml" Id="R8a6091fa37aa45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a1a5d22de4422" /><Relationship Type="http://schemas.openxmlformats.org/officeDocument/2006/relationships/notesSlide" Target="/ppt/notesSlides/notesSlide9.xml" Id="R53244f368b9c4c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037af04844041" /><Relationship Type="http://schemas.openxmlformats.org/officeDocument/2006/relationships/notesSlide" Target="/ppt/notesSlides/notesSlide10.xml" Id="R79436669606f45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44c093fb9410d" /><Relationship Type="http://schemas.openxmlformats.org/officeDocument/2006/relationships/notesSlide" Target="/ppt/notesSlides/notesSlide11.xml" Id="R68db1cad2dbb4f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c482bc5e54f22" /><Relationship Type="http://schemas.openxmlformats.org/officeDocument/2006/relationships/notesSlide" Target="/ppt/notesSlides/notesSlide12.xml" Id="R3534c7d70a8a4c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5ee4d6d8741c9" /><Relationship Type="http://schemas.openxmlformats.org/officeDocument/2006/relationships/notesSlide" Target="/ppt/notesSlides/notesSlide13.xml" Id="Rbfaf8e4b32d740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277a2e3f4414f" /><Relationship Type="http://schemas.openxmlformats.org/officeDocument/2006/relationships/notesSlide" Target="/ppt/notesSlides/notesSlide14.xml" Id="R5f09025edf9a4c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79ee9eea44e4d" /><Relationship Type="http://schemas.openxmlformats.org/officeDocument/2006/relationships/notesSlide" Target="/ppt/notesSlides/notesSlide15.xml" Id="R5feba89c0a1248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C973BA3-4F98-431B-A7EE-3A9EBDB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DFB2DE8-9DD1-45CC-9281-11CA687B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B9457D0-F9F2-4073-899E-70008A0B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1D7DC66-34CE-4306-AA0F-3F2090A0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3F828511-AD0E-42E1-A9F0-0CB75D3B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1FCD13B-4770-4939-ADAE-D744E440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How does water reach a leaf?">
            <a:extLst xmlns:a="http://schemas.openxmlformats.org/drawingml/2006/main">
              <a:ext uri="{FF2B5EF4-FFF2-40B4-BE49-F238E27FC236}">
                <a16:creationId xmlns:a16="http://schemas.microsoft.com/office/drawing/2014/main" id="{BA5A5BCF-9F7B-4A06-B7E9-FA7F6739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How does water reach a leaf?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E55D680-6FE9-425D-8E4F-18BA1FE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3A789B8C-8507-4FFA-8D6F-F297B0F7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25F93A4C-AAC0-4B2E-A31D-4A66F09A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28D9167B-7C00-4F63-94B5-19F9722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6A424D3-D900-4838-9254-514BA947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2F00869C-204F-4BA4-BE65-18B12C95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Explain plant transport and use potometer evidence to infer how ">
            <a:extLst xmlns:a="http://schemas.openxmlformats.org/drawingml/2006/main">
              <a:ext uri="{FF2B5EF4-FFF2-40B4-BE49-F238E27FC236}">
                <a16:creationId xmlns:a16="http://schemas.microsoft.com/office/drawing/2014/main" id="{30B5ACE5-8C26-4F2C-8A5E-E5C445C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plant transport and use potometer evidence to infer how air movement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affects water uptake.</a:t>
            </a:r>
          </a:p>
        </p:txBody>
      </p:sp>
      <p:sp>
        <p:nvSpPr>
          <p:cNvPr id="15" name="Mission: trace materials, then test a transport explanation.">
            <a:extLst xmlns:a="http://schemas.openxmlformats.org/drawingml/2006/main">
              <a:ext uri="{FF2B5EF4-FFF2-40B4-BE49-F238E27FC236}">
                <a16:creationId xmlns:a16="http://schemas.microsoft.com/office/drawing/2014/main" id="{1F322632-CA47-4BD8-9A2C-060D8824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Mission: trace materials, then test a transport explanation.</a:t>
            </a:r>
          </a:p>
        </p:txBody>
      </p:sp>
      <p:sp>
        <p:nvSpPr>
          <p:cNvPr id="16" name="A moving bubble is evidence—but evidence of what?">
            <a:extLst xmlns:a="http://schemas.openxmlformats.org/drawingml/2006/main">
              <a:ext uri="{FF2B5EF4-FFF2-40B4-BE49-F238E27FC236}">
                <a16:creationId xmlns:a16="http://schemas.microsoft.com/office/drawing/2014/main" id="{2BC0658E-3CE4-431E-8B78-67CB365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moving bubble is evidence—but evidence of what?</a:t>
            </a:r>
          </a:p>
        </p:txBody>
      </p:sp>
    </p:spTree>
    <p:extLst>
      <p:ext uri="{BB962C8B-B14F-4D97-AF65-F5344CB8AC3E}">
        <p14:creationId xmlns:p14="http://schemas.microsoft.com/office/powerpoint/2010/main" val="2020591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AF35898-C5DB-46FA-850B-F2D896E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5040A45-E4D9-40BA-80D8-F2E5C5C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6578D9A-69F0-4311-841D-2F9961D5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5A0DE93-8CDC-475C-987E-AF90AB14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792B5DDB-B25E-4F0D-A1E9-A630E14E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9F3243C-49E2-43CF-B597-F71D3FD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at moves and why?">
            <a:extLst xmlns:a="http://schemas.openxmlformats.org/drawingml/2006/main">
              <a:ext uri="{FF2B5EF4-FFF2-40B4-BE49-F238E27FC236}">
                <a16:creationId xmlns:a16="http://schemas.microsoft.com/office/drawing/2014/main" id="{37DF6832-F43F-4F54-AC3C-1D34FD9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moves and why?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2418BE2-FE62-4A3C-8285-792BF1BD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502291A2-68AA-4881-AF55-6064266D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3F34A804-7467-49FA-9B58-CC37CE5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useful sugar does photosynthesis first make?">
            <a:extLst xmlns:a="http://schemas.openxmlformats.org/drawingml/2006/main">
              <a:ext uri="{FF2B5EF4-FFF2-40B4-BE49-F238E27FC236}">
                <a16:creationId xmlns:a16="http://schemas.microsoft.com/office/drawing/2014/main" id="{98E2DA92-7A1C-40E7-BDEB-93AC08A8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useful sugar does photosynthesis first make?</a:t>
            </a:r>
          </a:p>
        </p:txBody>
      </p:sp>
      <p:sp>
        <p:nvSpPr>
          <p:cNvPr id="12" name="R2. Name the process by which water crosses a partially permeabl">
            <a:extLst xmlns:a="http://schemas.openxmlformats.org/drawingml/2006/main">
              <a:ext uri="{FF2B5EF4-FFF2-40B4-BE49-F238E27FC236}">
                <a16:creationId xmlns:a16="http://schemas.microsoft.com/office/drawing/2014/main" id="{979B3110-DF4C-4397-94A9-998E5DBB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Name the process by which water crosses a partially permeable membrane.</a:t>
            </a:r>
          </a:p>
        </p:txBody>
      </p:sp>
      <p:sp>
        <p:nvSpPr>
          <p:cNvPr id="13" name="R3. How do you calculate a rate?">
            <a:extLst xmlns:a="http://schemas.openxmlformats.org/drawingml/2006/main">
              <a:ext uri="{FF2B5EF4-FFF2-40B4-BE49-F238E27FC236}">
                <a16:creationId xmlns:a16="http://schemas.microsoft.com/office/drawing/2014/main" id="{9418EF63-DC5E-4E90-9AC4-45C4DF4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How do you calculate a rate?</a:t>
            </a:r>
          </a:p>
        </p:txBody>
      </p:sp>
    </p:spTree>
    <p:extLst>
      <p:ext uri="{BB962C8B-B14F-4D97-AF65-F5344CB8AC3E}">
        <p14:creationId xmlns:p14="http://schemas.microsoft.com/office/powerpoint/2010/main" val="1375757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urface">
            <a:extLst xmlns:a="http://schemas.openxmlformats.org/drawingml/2006/main">
              <a:ext uri="{FF2B5EF4-FFF2-40B4-BE49-F238E27FC236}">
                <a16:creationId xmlns:a16="http://schemas.microsoft.com/office/drawing/2014/main" id="{C5A29306-8CFE-4C66-B5ED-BBF7C519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D5FA435-89CF-484D-95A4-E2CEE1AA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5246A50-CD1B-4F3A-B5DE-DB692F1B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2B5B1D0F-8EBD-4ED6-94D8-86EB334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B3A58B6-0AB7-4A5D-AD17-961F43B5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50A911D4-7CD4-46F4-AE8C-0FE227C5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I follow one material at a time">
            <a:extLst xmlns:a="http://schemas.openxmlformats.org/drawingml/2006/main">
              <a:ext uri="{FF2B5EF4-FFF2-40B4-BE49-F238E27FC236}">
                <a16:creationId xmlns:a16="http://schemas.microsoft.com/office/drawing/2014/main" id="{20B38807-A3AF-4185-BA78-DA789F12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one material at a time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0DC3112-CA59-4C3A-90AE-8728346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2314270F-CC77-470F-99FD-F8A56141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65B643AC-D5ED-49B5-9421-90465A09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Two tissues, different jobs">
            <a:extLst xmlns:a="http://schemas.openxmlformats.org/drawingml/2006/main">
              <a:ext uri="{FF2B5EF4-FFF2-40B4-BE49-F238E27FC236}">
                <a16:creationId xmlns:a16="http://schemas.microsoft.com/office/drawing/2014/main" id="{7DD7FAB8-2BF3-4F23-85BA-4221D8C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Two tissues, different jobs</a:t>
            </a:r>
          </a:p>
        </p:txBody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DD08320-6E82-487A-94A6-882FA38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90885" y="2828925"/>
            <a:ext cx="953" cy="20322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4">
            <a:solidFill>
              <a:srgbClr val="3F7D6E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6A439F3-FE5B-4312-A0C5-B197580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90885" y="3179309"/>
            <a:ext cx="1156267" cy="420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069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E6CE080-E550-4CA5-A885-DFD0211B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688771"/>
            <a:ext cx="1962150" cy="9109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5" name="Diagram label: Source leaf&#10;Makes sugars">
            <a:extLst xmlns:a="http://schemas.openxmlformats.org/drawingml/2006/main">
              <a:ext uri="{FF2B5EF4-FFF2-40B4-BE49-F238E27FC236}">
                <a16:creationId xmlns:a16="http://schemas.microsoft.com/office/drawing/2014/main" id="{005DED8A-0B9A-4BE2-9C7C-0B406FF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998" y="2920025"/>
            <a:ext cx="1681843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Source leaf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Makes sugars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EC1C968-7217-40A5-B1C0-8FBCCF14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2408464"/>
            <a:ext cx="1156267" cy="6306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Diagram label: Growing bud: sink">
            <a:extLst xmlns:a="http://schemas.openxmlformats.org/drawingml/2006/main">
              <a:ext uri="{FF2B5EF4-FFF2-40B4-BE49-F238E27FC236}">
                <a16:creationId xmlns:a16="http://schemas.microsoft.com/office/drawing/2014/main" id="{8F89B5F6-D2E7-4064-9E19-F926A0B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806" y="2198234"/>
            <a:ext cx="2347572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Growing bud: sink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1D77E94-AF8B-41B5-A15D-28C79F20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578299" y="2422480"/>
            <a:ext cx="113354" cy="17003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3F7D6E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CA8A5647-4AD8-4BAD-8B08-31C6C7CE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21404">
            <a:off x="6515640" y="256386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E018897-05E0-43FE-9D8F-94B2E32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290117" y="4861152"/>
            <a:ext cx="700768" cy="350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069">
            <a:solidFill>
              <a:srgbClr val="3F7D6E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408FCFD-EBD9-4828-B38A-EDB0DECD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90885" y="4861152"/>
            <a:ext cx="455499" cy="42046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069">
            <a:solidFill>
              <a:srgbClr val="3F7D6E"/>
            </a:solidFill>
          </a:ln>
        </p:spPr>
      </p:sp>
      <p:sp>
        <p:nvSpPr>
          <p:cNvPr id="22" name="Diagram label: Roots: sink&#10;Water/mineral uptake">
            <a:extLst xmlns:a="http://schemas.openxmlformats.org/drawingml/2006/main">
              <a:ext uri="{FF2B5EF4-FFF2-40B4-BE49-F238E27FC236}">
                <a16:creationId xmlns:a16="http://schemas.microsoft.com/office/drawing/2014/main" id="{76165E87-5DFB-4E99-90AC-0DB439F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883" y="4875167"/>
            <a:ext cx="2312534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Roots: sink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Water/mineral uptake</a:t>
            </a:r>
          </a:p>
        </p:txBody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E4078BF-5588-4DB5-A48D-DE979C5F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0424" y="3317360"/>
            <a:ext cx="953" cy="1543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9054">
            <a:solidFill>
              <a:srgbClr val="4D82A0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AD6FDAA-D2E6-40CB-8F07-D11F677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1749" y="3214347"/>
            <a:ext cx="137351" cy="1373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1C8B301-063E-4B24-A2F6-8330ED52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11346" y="3599770"/>
            <a:ext cx="953" cy="10532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9054">
            <a:solidFill>
              <a:srgbClr val="7A5C9E"/>
            </a:solidFill>
          </a:ln>
        </p:spPr>
      </p:sp>
      <p:sp>
        <p:nvSpPr>
          <p:cNvPr id="2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D53FF46-37DF-4285-9DF3-A522B1E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42670" y="4618686"/>
            <a:ext cx="137351" cy="1373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004DD27-26DC-4075-9294-2A3E4B2F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21576" y="2966976"/>
            <a:ext cx="953" cy="5276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9054">
            <a:solidFill>
              <a:srgbClr val="7A5C9E"/>
            </a:solidFill>
          </a:ln>
        </p:spPr>
      </p:sp>
      <p:sp>
        <p:nvSpPr>
          <p:cNvPr id="28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EC70E66A-BA8D-4A81-B6DC-4A135FA0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2901" y="2863963"/>
            <a:ext cx="137351" cy="137351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9" name="Diagram label: Xylem&#10;Water + mineral ions&#10;Mainly upward">
            <a:extLst xmlns:a="http://schemas.openxmlformats.org/drawingml/2006/main">
              <a:ext uri="{FF2B5EF4-FFF2-40B4-BE49-F238E27FC236}">
                <a16:creationId xmlns:a16="http://schemas.microsoft.com/office/drawing/2014/main" id="{BDB61C4F-86D4-4B8F-BB06-7C0AF054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3039155"/>
            <a:ext cx="2312534" cy="70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Xylem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Water + mineral 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Mainly upward</a:t>
            </a:r>
          </a:p>
        </p:txBody>
      </p:sp>
      <p:sp>
        <p:nvSpPr>
          <p:cNvPr id="30" name="Diagram label: Phloem&#10;Sucrose: source to sink&#10;Different tubes">
            <a:extLst xmlns:a="http://schemas.openxmlformats.org/drawingml/2006/main">
              <a:ext uri="{FF2B5EF4-FFF2-40B4-BE49-F238E27FC236}">
                <a16:creationId xmlns:a16="http://schemas.microsoft.com/office/drawing/2014/main" id="{5E96CE39-CC30-457E-81F5-70E1E333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429" y="4160384"/>
            <a:ext cx="2312534" cy="770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Phloem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Sucrose: source to sink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35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Different tubes</a:t>
            </a:r>
          </a:p>
        </p:txBody>
      </p:sp>
      <p:sp>
        <p:nvSpPr>
          <p:cNvPr id="31" name="Diagram label: Phloem transport uses living cells and energy.">
            <a:extLst xmlns:a="http://schemas.openxmlformats.org/drawingml/2006/main">
              <a:ext uri="{FF2B5EF4-FFF2-40B4-BE49-F238E27FC236}">
                <a16:creationId xmlns:a16="http://schemas.microsoft.com/office/drawing/2014/main" id="{C9C8F416-ACE4-40CD-A0F9-365CBD00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5456804"/>
            <a:ext cx="6096680" cy="210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Phloem transport uses living cells and energy.</a:t>
            </a:r>
          </a:p>
        </p:txBody>
      </p:sp>
      <p:sp>
        <p:nvSpPr>
          <p:cNvPr id="32" name="Xylem carries water and mineral ions.  Phloem transports dissolv">
            <a:extLst xmlns:a="http://schemas.openxmlformats.org/drawingml/2006/main">
              <a:ext uri="{FF2B5EF4-FFF2-40B4-BE49-F238E27FC236}">
                <a16:creationId xmlns:a16="http://schemas.microsoft.com/office/drawing/2014/main" id="{5C319E2B-B196-4991-A338-BF7EA2C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Xylem carries water and mineral ions. Phloem transports dissolved sucrose from source to sink. Different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tubes can carry sucrose in different directions.</a:t>
            </a:r>
          </a:p>
        </p:txBody>
      </p:sp>
    </p:spTree>
    <p:extLst>
      <p:ext uri="{BB962C8B-B14F-4D97-AF65-F5344CB8AC3E}">
        <p14:creationId xmlns:p14="http://schemas.microsoft.com/office/powerpoint/2010/main" val="99930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C9AD1818-42E3-4AA8-8C8B-9C4A2952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4534965-2C62-480C-B5DA-71AD16ED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1B9F64D-1E69-4735-9FC2-47734A32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4F08E2B-D321-436B-9F63-AFC25C5A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FF7AECE1-96CC-4EC9-B191-808773F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A581955-DA5B-46EF-BE37-78A754F1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he leaf links water loss to transport">
            <a:extLst xmlns:a="http://schemas.openxmlformats.org/drawingml/2006/main">
              <a:ext uri="{FF2B5EF4-FFF2-40B4-BE49-F238E27FC236}">
                <a16:creationId xmlns:a16="http://schemas.microsoft.com/office/drawing/2014/main" id="{EF4CC270-D4C2-4724-900F-487B40CB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leaf links water loss to transport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B34AD0C-DD28-450C-95A0-6F00361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EF16818C-F72C-470A-8BD6-444DDCB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4 / 15">
            <a:extLst xmlns:a="http://schemas.openxmlformats.org/drawingml/2006/main">
              <a:ext uri="{FF2B5EF4-FFF2-40B4-BE49-F238E27FC236}">
                <a16:creationId xmlns:a16="http://schemas.microsoft.com/office/drawing/2014/main" id="{88A06D69-66DD-4BFC-81E2-5DFFC479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1" name="Diagram label: Transpiration: evaporation, then diffusion">
            <a:extLst xmlns:a="http://schemas.openxmlformats.org/drawingml/2006/main">
              <a:ext uri="{FF2B5EF4-FFF2-40B4-BE49-F238E27FC236}">
                <a16:creationId xmlns:a16="http://schemas.microsoft.com/office/drawing/2014/main" id="{B7B06B2B-6447-4E13-9A1F-DB562ED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Transpiration: evaporation, then diffusion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50F68FE-EB02-4C72-8A8A-D695E3C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2513579"/>
            <a:ext cx="6376988" cy="2172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Inside the leaf">
            <a:extLst xmlns:a="http://schemas.openxmlformats.org/drawingml/2006/main">
              <a:ext uri="{FF2B5EF4-FFF2-40B4-BE49-F238E27FC236}">
                <a16:creationId xmlns:a16="http://schemas.microsoft.com/office/drawing/2014/main" id="{172E1228-0222-4D47-8711-9A7BA458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2653733"/>
            <a:ext cx="609668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Inside the leaf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8C272EC-68E3-4174-B760-C47349BC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005" y="3109232"/>
            <a:ext cx="1471613" cy="946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5FCE22D-6EE8-4E6E-B7DE-35B0EEC9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09232"/>
            <a:ext cx="1471613" cy="9460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Moist cell&#10;surface">
            <a:extLst xmlns:a="http://schemas.openxmlformats.org/drawingml/2006/main">
              <a:ext uri="{FF2B5EF4-FFF2-40B4-BE49-F238E27FC236}">
                <a16:creationId xmlns:a16="http://schemas.microsoft.com/office/drawing/2014/main" id="{6E9B9BC9-C698-4A97-BECB-3B2962A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59" y="3354501"/>
            <a:ext cx="1191305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Moist cell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surface</a:t>
            </a:r>
          </a:p>
        </p:txBody>
      </p:sp>
      <p:sp>
        <p:nvSpPr>
          <p:cNvPr id="17" name="Diagram label: Moist cell&#10;surface">
            <a:extLst xmlns:a="http://schemas.openxmlformats.org/drawingml/2006/main">
              <a:ext uri="{FF2B5EF4-FFF2-40B4-BE49-F238E27FC236}">
                <a16:creationId xmlns:a16="http://schemas.microsoft.com/office/drawing/2014/main" id="{4CE7E600-69D7-48E7-BEF6-F22A01B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229" y="3354501"/>
            <a:ext cx="1191305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Moist cell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surface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C06F699-FF48-4182-ABDF-DEB789C6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09810" y="3599770"/>
            <a:ext cx="771117" cy="2570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10EE2C9-0F46-4B79-BBF9-7A092E84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506097">
            <a:off x="5755141" y="3815511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Diagram label: Water evaporates&#10;into air spaces">
            <a:extLst xmlns:a="http://schemas.openxmlformats.org/drawingml/2006/main">
              <a:ext uri="{FF2B5EF4-FFF2-40B4-BE49-F238E27FC236}">
                <a16:creationId xmlns:a16="http://schemas.microsoft.com/office/drawing/2014/main" id="{50BA0F7C-5C52-471F-82E3-1788E8E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39155"/>
            <a:ext cx="1927112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evaporates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into air spaces</a:t>
            </a:r>
          </a:p>
        </p:txBody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C5E65B2-249C-4D6E-AFFC-3F14B98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4370614"/>
            <a:ext cx="2522764" cy="315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3B0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8BFA756-F7B5-4BB0-A07F-A935EF1F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729" y="4370614"/>
            <a:ext cx="2522764" cy="315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3B0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CE20510-A75C-4E03-8321-C646B1E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002" y="4279514"/>
            <a:ext cx="560614" cy="560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D831019-A1CC-4635-9D8F-1D23F66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384" y="4279514"/>
            <a:ext cx="560614" cy="560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9831EE2-5467-415F-89BB-56DE04C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90307"/>
            <a:ext cx="953" cy="1012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2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81A74A0-8672-4393-BBA3-B6C8DF2F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46946" y="5078390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7" name="Diagram label: Guard cells control&#10;the stomatal pore">
            <a:extLst xmlns:a="http://schemas.openxmlformats.org/drawingml/2006/main">
              <a:ext uri="{FF2B5EF4-FFF2-40B4-BE49-F238E27FC236}">
                <a16:creationId xmlns:a16="http://schemas.microsoft.com/office/drawing/2014/main" id="{DCFB6BDA-120A-40C3-9479-E1A3BC34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4896190"/>
            <a:ext cx="2487726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Guard cells control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stomatal pore</a:t>
            </a:r>
          </a:p>
        </p:txBody>
      </p:sp>
      <p:sp>
        <p:nvSpPr>
          <p:cNvPr id="28" name="Diagram label: Water vapour diffuses&#10;to surrounding air">
            <a:extLst xmlns:a="http://schemas.openxmlformats.org/drawingml/2006/main">
              <a:ext uri="{FF2B5EF4-FFF2-40B4-BE49-F238E27FC236}">
                <a16:creationId xmlns:a16="http://schemas.microsoft.com/office/drawing/2014/main" id="{24FC047D-9AE2-4AC4-83F9-81D1C3B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691" y="4966267"/>
            <a:ext cx="2452688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vapour diffuses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surrounding air</a:t>
            </a:r>
          </a:p>
        </p:txBody>
      </p:sp>
      <p:sp>
        <p:nvSpPr>
          <p:cNvPr id="29" name="Diagram label: Outside the leaf">
            <a:extLst xmlns:a="http://schemas.openxmlformats.org/drawingml/2006/main">
              <a:ext uri="{FF2B5EF4-FFF2-40B4-BE49-F238E27FC236}">
                <a16:creationId xmlns:a16="http://schemas.microsoft.com/office/drawing/2014/main" id="{A27DAAEF-79EE-4511-AEC0-E3BA572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40" y="5351689"/>
            <a:ext cx="1751920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Outside the leaf</a:t>
            </a:r>
          </a:p>
        </p:txBody>
      </p:sp>
      <p:sp>
        <p:nvSpPr>
          <p:cNvPr id="30" name="Water evaporates from internal moist surfaces.  Water vapour dif">
            <a:extLst xmlns:a="http://schemas.openxmlformats.org/drawingml/2006/main">
              <a:ext uri="{FF2B5EF4-FFF2-40B4-BE49-F238E27FC236}">
                <a16:creationId xmlns:a16="http://schemas.microsoft.com/office/drawing/2014/main" id="{8D7C03D0-330F-45A5-916A-2B8A4978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evaporates from internal moist surfaces. Water vapour diffuses through stomata. This loss helps draw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through xylem.</a:t>
            </a:r>
          </a:p>
        </p:txBody>
      </p:sp>
    </p:spTree>
    <p:extLst>
      <p:ext uri="{BB962C8B-B14F-4D97-AF65-F5344CB8AC3E}">
        <p14:creationId xmlns:p14="http://schemas.microsoft.com/office/powerpoint/2010/main" val="1100390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urface">
            <a:extLst xmlns:a="http://schemas.openxmlformats.org/drawingml/2006/main">
              <a:ext uri="{FF2B5EF4-FFF2-40B4-BE49-F238E27FC236}">
                <a16:creationId xmlns:a16="http://schemas.microsoft.com/office/drawing/2014/main" id="{D094C444-7639-488E-A976-40F376B0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49190FD-DA11-48A9-8851-DD133B7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8043703-3001-410B-87D9-2ADA299D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000E918A-C223-4AFA-B10C-CF058636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10E6567-61CE-4B8F-AE2F-572913F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53341E44-4ED0-4BDB-8C2C-26406A6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I name the measured quantity">
            <a:extLst xmlns:a="http://schemas.openxmlformats.org/drawingml/2006/main">
              <a:ext uri="{FF2B5EF4-FFF2-40B4-BE49-F238E27FC236}">
                <a16:creationId xmlns:a16="http://schemas.microsoft.com/office/drawing/2014/main" id="{22036983-C63A-49A0-966D-59793D49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name the measured quantity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F8F4081-C82D-4B21-8E56-18A2CAD9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4CD42036-70B6-4583-9E6C-5DAE8D8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5 / 15">
            <a:extLst xmlns:a="http://schemas.openxmlformats.org/drawingml/2006/main">
              <a:ext uri="{FF2B5EF4-FFF2-40B4-BE49-F238E27FC236}">
                <a16:creationId xmlns:a16="http://schemas.microsoft.com/office/drawing/2014/main" id="{3ED3403A-7F5C-441C-9923-360FF181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1" name="Diagram label: A moving bubble indicates water uptake">
            <a:extLst xmlns:a="http://schemas.openxmlformats.org/drawingml/2006/main">
              <a:ext uri="{FF2B5EF4-FFF2-40B4-BE49-F238E27FC236}">
                <a16:creationId xmlns:a16="http://schemas.microsoft.com/office/drawing/2014/main" id="{2A49F102-5281-49AA-802E-83AB85A3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1" y="1988004"/>
            <a:ext cx="6587218" cy="33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moving bubble indicates water uptake</a:t>
            </a:r>
          </a:p>
        </p:txBody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8D59CD0-40A9-487D-AC43-AB75C9E0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17737" y="4020230"/>
            <a:ext cx="4519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77">
            <a:solidFill>
              <a:srgbClr val="4D82A0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E493B0C-6099-446D-8E13-AC991C18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37689" y="3074194"/>
            <a:ext cx="953" cy="9460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77">
            <a:solidFill>
              <a:srgbClr val="4D82A0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66C1824-9C16-4C16-B279-9BE4108F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637689" y="2548618"/>
            <a:ext cx="953" cy="525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0077">
            <a:solidFill>
              <a:srgbClr val="3F7D6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2131341-8E99-47E8-A32D-9CB24174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7843" y="2443503"/>
            <a:ext cx="1051152" cy="5606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F4261CE-5F2A-4368-9B26-EE206C6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61" y="2548618"/>
            <a:ext cx="1086190" cy="5956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04C82DC-C7A2-4A0F-A0AB-937D8851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965" y="3936138"/>
            <a:ext cx="420461" cy="168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023">
            <a:solidFill>
              <a:srgbClr val="1F2937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4D0DE5B-2054-4D6F-9986-F0939135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64541" y="3634808"/>
            <a:ext cx="104764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031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C0F56F4-E37C-4407-AF3D-8E3D5DA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87662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Diagram label: Bubble moves towards&#10;the water-taking shoot">
            <a:extLst xmlns:a="http://schemas.openxmlformats.org/drawingml/2006/main">
              <a:ext uri="{FF2B5EF4-FFF2-40B4-BE49-F238E27FC236}">
                <a16:creationId xmlns:a16="http://schemas.microsoft.com/office/drawing/2014/main" id="{1A8EA67F-6005-414E-9C4D-441AF1A9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0" y="3109232"/>
            <a:ext cx="2487726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Bubble moves towards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3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water-taking shoot</a:t>
            </a:r>
          </a:p>
        </p:txBody>
      </p:sp>
      <p:sp>
        <p:nvSpPr>
          <p:cNvPr id="21" name="Diagram label: Graduated capillary&#10;Measure distance and time">
            <a:extLst xmlns:a="http://schemas.openxmlformats.org/drawingml/2006/main">
              <a:ext uri="{FF2B5EF4-FFF2-40B4-BE49-F238E27FC236}">
                <a16:creationId xmlns:a16="http://schemas.microsoft.com/office/drawing/2014/main" id="{385A1879-B888-4BFC-8552-B75AA705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506" y="4370614"/>
            <a:ext cx="2312534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Graduated capillary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distance and time</a:t>
            </a:r>
          </a:p>
        </p:txBody>
      </p:sp>
      <p:sp>
        <p:nvSpPr>
          <p:cNvPr id="22" name="Diagram label: Sealed shoot connection&#10;Check for leaks">
            <a:extLst xmlns:a="http://schemas.openxmlformats.org/drawingml/2006/main">
              <a:ext uri="{FF2B5EF4-FFF2-40B4-BE49-F238E27FC236}">
                <a16:creationId xmlns:a16="http://schemas.microsoft.com/office/drawing/2014/main" id="{E927511A-F8CB-4282-AA9B-61FC0B09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768" y="4370614"/>
            <a:ext cx="2452688" cy="525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Sealed shoot connection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for leaks</a:t>
            </a:r>
          </a:p>
        </p:txBody>
      </p:sp>
      <p:sp>
        <p:nvSpPr>
          <p:cNvPr id="23" name="Diagram label: Uptake is a proxy for transpiration, not an exact match.">
            <a:extLst xmlns:a="http://schemas.openxmlformats.org/drawingml/2006/main">
              <a:ext uri="{FF2B5EF4-FFF2-40B4-BE49-F238E27FC236}">
                <a16:creationId xmlns:a16="http://schemas.microsoft.com/office/drawing/2014/main" id="{7A5CE0A3-12E5-4E7D-A5B3-42BE4BF2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106421"/>
            <a:ext cx="5921488" cy="455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Uptake is a proxy for transpiration, not an exact match.</a:t>
            </a:r>
          </a:p>
        </p:txBody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C9FCEB3-A4A4-40EE-A73D-EEB5055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92929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A69056-E776-45F2-A472-BFF442C7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3236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DDB6102-ADFA-4A62-A509-E0F944E3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3543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1539F58-63A5-4569-9F48-A3DA609A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33850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68CBE8B-C478-486D-8E67-FB2DD6A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14157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2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2DD67FA-7699-4A4C-9856-9FE08793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94464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235BF69-1C54-4EAF-90AC-6DC5439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74771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2E3B60B-4998-4F2B-AEC2-ADFCC056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55079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A7A61CD-C12D-4F0E-B9BA-86A3F31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35386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B4E9004-0777-4648-B355-B207A4FE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5693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614E174-28D8-4DEB-95AF-D6637F53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1AC5ABE-E06C-4775-B224-30ACCD84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76307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7DE7B8D-8852-4798-84BB-87D04C39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56614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09B2888-E491-45D0-ABFE-73E94EF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36921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F3FC9E0-81C0-405B-8AAC-F8002E32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7229" y="4125346"/>
            <a:ext cx="953" cy="1401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015">
            <a:solidFill>
              <a:srgbClr val="1F2937"/>
            </a:solidFill>
          </a:ln>
        </p:spPr>
      </p:sp>
      <p:sp>
        <p:nvSpPr>
          <p:cNvPr id="39" name="Bubble distance ÷ time gives movement rate.  Worked example:15 m">
            <a:extLst xmlns:a="http://schemas.openxmlformats.org/drawingml/2006/main">
              <a:ext uri="{FF2B5EF4-FFF2-40B4-BE49-F238E27FC236}">
                <a16:creationId xmlns:a16="http://schemas.microsoft.com/office/drawing/2014/main" id="{2D598C27-2D08-42E3-8B7C-393E55B5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Bubble distance ÷ time gives movement rate. Worked example:15 mm ÷5 min =3 mm/min. Water uptake is 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proxy for transpiration.</a:t>
            </a:r>
          </a:p>
        </p:txBody>
      </p:sp>
    </p:spTree>
    <p:extLst>
      <p:ext uri="{BB962C8B-B14F-4D97-AF65-F5344CB8AC3E}">
        <p14:creationId xmlns:p14="http://schemas.microsoft.com/office/powerpoint/2010/main" val="1573506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887320E-C192-4C4F-955D-454898CE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4E737ED-EF05-482D-A816-74399A9F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7F29C0A-6C99-4AC6-9C65-559A4D6F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E42E917-B871-4280-8FFE-8532E26B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19B24E3B-B524-4D14-92EE-8798A674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8FF69CA-4778-4AB2-B150-E6127D1B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ir-movement investigation">
            <a:extLst xmlns:a="http://schemas.openxmlformats.org/drawingml/2006/main">
              <a:ext uri="{FF2B5EF4-FFF2-40B4-BE49-F238E27FC236}">
                <a16:creationId xmlns:a16="http://schemas.microsoft.com/office/drawing/2014/main" id="{8B85DAFA-B7D5-4058-A54E-27EFABB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Air-movement investigation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CB580B3-C62D-4352-B9F3-181E2B4A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0A0CAB3A-546F-428C-9EDC-8E91A76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68180C3A-ACE0-4940-A8DF-C0FDEC4F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Find the mean movement in each condition. Divide by 5 minute">
            <a:extLst xmlns:a="http://schemas.openxmlformats.org/drawingml/2006/main">
              <a:ext uri="{FF2B5EF4-FFF2-40B4-BE49-F238E27FC236}">
                <a16:creationId xmlns:a16="http://schemas.microsoft.com/office/drawing/2014/main" id="{06390685-2EE8-414E-8376-2C76137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Find the mean movement in each condition. Divide by 5 minutes to compare rates.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1515904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7694"/>
                <a:gridCol w="4077883"/>
                <a:gridCol w="3759622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Air condition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Bubble movements(mm)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Minutes per trial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Still air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12,11,13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 each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Moving air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30,28,32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 each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repeats; same shoot/capillary/light and 20°C.">
            <a:extLst xmlns:a="http://schemas.openxmlformats.org/drawingml/2006/main">
              <a:ext uri="{FF2B5EF4-FFF2-40B4-BE49-F238E27FC236}">
                <a16:creationId xmlns:a16="http://schemas.microsoft.com/office/drawing/2014/main" id="{B9A59621-4817-42AF-8EF6-02AC436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5729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repeats; same shoot/capillary/light and 20°C.</a:t>
            </a:r>
          </a:p>
        </p:txBody>
      </p:sp>
    </p:spTree>
    <p:extLst>
      <p:ext uri="{BB962C8B-B14F-4D97-AF65-F5344CB8AC3E}">
        <p14:creationId xmlns:p14="http://schemas.microsoft.com/office/powerpoint/2010/main" val="557616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1E066A06-8853-4C9A-838F-45CFECC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8481953-BF4C-4120-8F4C-9C4F3F9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F4F2A5F-43A1-4F99-8183-B0AC0382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8A58B8B7-5A94-4C5B-8D5F-03BC0002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0F8F42B-3016-4B5E-9CBA-41E6E20C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5BC8BC12-3FEA-464D-A45B-4BCEDBE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race the explanation backwards">
            <a:extLst xmlns:a="http://schemas.openxmlformats.org/drawingml/2006/main">
              <a:ext uri="{FF2B5EF4-FFF2-40B4-BE49-F238E27FC236}">
                <a16:creationId xmlns:a16="http://schemas.microsoft.com/office/drawing/2014/main" id="{29AD044F-15F9-4469-8DD3-56C6EB85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Trace the explanation backwards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6EDB9BB-A394-4746-9D92-1BFE86BC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0245E100-2323-4613-9D30-417A0489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7 / 15">
            <a:extLst xmlns:a="http://schemas.openxmlformats.org/drawingml/2006/main">
              <a:ext uri="{FF2B5EF4-FFF2-40B4-BE49-F238E27FC236}">
                <a16:creationId xmlns:a16="http://schemas.microsoft.com/office/drawing/2014/main" id="{00BEE064-325F-4FA5-B289-1E14B9C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1" name="Diagram label: Transpiration: evaporation, then diffusion">
            <a:extLst xmlns:a="http://schemas.openxmlformats.org/drawingml/2006/main">
              <a:ext uri="{FF2B5EF4-FFF2-40B4-BE49-F238E27FC236}">
                <a16:creationId xmlns:a16="http://schemas.microsoft.com/office/drawing/2014/main" id="{414D1817-0CE1-4498-8707-23B3EE4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548" y="1997188"/>
            <a:ext cx="7018904" cy="35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Transpiration: evaporation, then diffusion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DA34C2E-EDFE-4FE5-9446-E8DEFFE5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557207"/>
            <a:ext cx="6794897" cy="2314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Diagram label: Inside the leaf">
            <a:extLst xmlns:a="http://schemas.openxmlformats.org/drawingml/2006/main">
              <a:ext uri="{FF2B5EF4-FFF2-40B4-BE49-F238E27FC236}">
                <a16:creationId xmlns:a16="http://schemas.microsoft.com/office/drawing/2014/main" id="{C6AA09A7-8552-4EF8-9F5C-9F5AFAE2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2706546"/>
            <a:ext cx="649622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Inside the leaf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A4B7F8F-62AB-4C21-A135-08D96A6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3191896"/>
            <a:ext cx="1568053" cy="10080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1E5A9DD0-6AF5-4F53-BED9-C399FD8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369" y="3191896"/>
            <a:ext cx="1568053" cy="10080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6" name="Diagram label: Moist cell&#10;surface">
            <a:extLst xmlns:a="http://schemas.openxmlformats.org/drawingml/2006/main">
              <a:ext uri="{FF2B5EF4-FFF2-40B4-BE49-F238E27FC236}">
                <a16:creationId xmlns:a16="http://schemas.microsoft.com/office/drawing/2014/main" id="{2DCABF0F-4AE2-48D2-86F5-E1AD7C7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240" y="3453238"/>
            <a:ext cx="1269376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Moist cell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surface</a:t>
            </a:r>
          </a:p>
        </p:txBody>
      </p:sp>
      <p:sp>
        <p:nvSpPr>
          <p:cNvPr id="17" name="Diagram label: Moist cell&#10;surface">
            <a:extLst xmlns:a="http://schemas.openxmlformats.org/drawingml/2006/main">
              <a:ext uri="{FF2B5EF4-FFF2-40B4-BE49-F238E27FC236}">
                <a16:creationId xmlns:a16="http://schemas.microsoft.com/office/drawing/2014/main" id="{69FE600C-7381-4D87-8CEB-4935E7B9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707" y="3453238"/>
            <a:ext cx="1269376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Moist cell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surface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2A3E4F9-DDBD-4AED-9D5E-202F9873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8627" y="3714580"/>
            <a:ext cx="821651" cy="2738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27891CA4-8A91-4596-913F-387959CA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506097">
            <a:off x="5732803" y="394446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0" name="Diagram label: Water evaporates&#10;into air spaces">
            <a:extLst xmlns:a="http://schemas.openxmlformats.org/drawingml/2006/main">
              <a:ext uri="{FF2B5EF4-FFF2-40B4-BE49-F238E27FC236}">
                <a16:creationId xmlns:a16="http://schemas.microsoft.com/office/drawing/2014/main" id="{7F1CD4D9-6466-4162-B130-01B34CE4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631" y="3117226"/>
            <a:ext cx="2053403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evaporates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into air spaces</a:t>
            </a:r>
          </a:p>
        </p:txBody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B7C39B9-FB55-4A43-B913-4A6CD94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4535941"/>
            <a:ext cx="2688091" cy="336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3B0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53FE154-8668-4830-962D-51147A9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357" y="4535941"/>
            <a:ext cx="2688091" cy="336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3B0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6886B8C-82F0-4BEE-B28A-A303A123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00" y="4438871"/>
            <a:ext cx="597354" cy="597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0EC3F69-0A54-4389-BD57-C9FB780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9346" y="4438871"/>
            <a:ext cx="597354" cy="5973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E8C7D87-9CDF-4452-B305-0DFB1174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237264"/>
            <a:ext cx="953" cy="10789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D82A0"/>
            </a:solidFill>
          </a:ln>
        </p:spPr>
      </p:sp>
      <p:sp>
        <p:nvSpPr>
          <p:cNvPr id="2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1C76AD0E-ED12-4E6B-B091-468FDE0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43732" y="5290100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7" name="Diagram label: Guard cells control&#10;the stomatal pore">
            <a:extLst xmlns:a="http://schemas.openxmlformats.org/drawingml/2006/main">
              <a:ext uri="{FF2B5EF4-FFF2-40B4-BE49-F238E27FC236}">
                <a16:creationId xmlns:a16="http://schemas.microsoft.com/office/drawing/2014/main" id="{E14EED65-9757-4CC1-B459-DE4F98AF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5095960"/>
            <a:ext cx="2650756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Guard cells control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stomatal pore</a:t>
            </a:r>
          </a:p>
        </p:txBody>
      </p:sp>
      <p:sp>
        <p:nvSpPr>
          <p:cNvPr id="28" name="Diagram label: Water vapour diffuses&#10;to surrounding air">
            <a:extLst xmlns:a="http://schemas.openxmlformats.org/drawingml/2006/main">
              <a:ext uri="{FF2B5EF4-FFF2-40B4-BE49-F238E27FC236}">
                <a16:creationId xmlns:a16="http://schemas.microsoft.com/office/drawing/2014/main" id="{15FEED20-1791-4E05-9F40-5423EC5F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023" y="5170629"/>
            <a:ext cx="2613422" cy="56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vapour diffuses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to surrounding air</a:t>
            </a:r>
          </a:p>
        </p:txBody>
      </p:sp>
      <p:sp>
        <p:nvSpPr>
          <p:cNvPr id="29" name="Diagram label: Outside the leaf">
            <a:extLst xmlns:a="http://schemas.openxmlformats.org/drawingml/2006/main">
              <a:ext uri="{FF2B5EF4-FFF2-40B4-BE49-F238E27FC236}">
                <a16:creationId xmlns:a16="http://schemas.microsoft.com/office/drawing/2014/main" id="{38CBABEF-CDBE-41B6-8217-8F92802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635" y="5581310"/>
            <a:ext cx="1866730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Outside the leaf</a:t>
            </a:r>
          </a:p>
        </p:txBody>
      </p:sp>
      <p:sp>
        <p:nvSpPr>
          <p:cNvPr id="30" name="W2. Moving air gave faster uptake here.  Explain from surroundin">
            <a:extLst xmlns:a="http://schemas.openxmlformats.org/drawingml/2006/main">
              <a:ext uri="{FF2B5EF4-FFF2-40B4-BE49-F238E27FC236}">
                <a16:creationId xmlns:a16="http://schemas.microsoft.com/office/drawing/2014/main" id="{7FA57519-1D4F-4BD8-BEFD-E5190347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Moving air gave faster uptake here. Explain from surrounding air → leaf loss → xylem uptake.</a:t>
            </a:r>
          </a:p>
        </p:txBody>
      </p:sp>
    </p:spTree>
    <p:extLst>
      <p:ext uri="{BB962C8B-B14F-4D97-AF65-F5344CB8AC3E}">
        <p14:creationId xmlns:p14="http://schemas.microsoft.com/office/powerpoint/2010/main" val="1959653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2CC2711-79E6-4AE9-A5FE-6B356BF2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81F286E-1DA3-4CEC-ADA1-8BA0B43B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2A86171-BE19-4E39-9FAE-1CE7218F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CEC943C2-76B8-45C7-8546-B72EBDDA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6470B44-C65B-488B-B5CF-DC0D4247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0AE6A4D-5AB2-4E8B-AF0C-CD855DD9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Repair the instrument claim">
            <a:extLst xmlns:a="http://schemas.openxmlformats.org/drawingml/2006/main">
              <a:ext uri="{FF2B5EF4-FFF2-40B4-BE49-F238E27FC236}">
                <a16:creationId xmlns:a16="http://schemas.microsoft.com/office/drawing/2014/main" id="{65609842-B261-42A7-8209-E052895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the instrument claim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91AB7AB-5246-4663-8F9A-7182092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139C01D2-D28B-438E-9D90-C14045B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8 / 15">
            <a:extLst xmlns:a="http://schemas.openxmlformats.org/drawingml/2006/main">
              <a:ext uri="{FF2B5EF4-FFF2-40B4-BE49-F238E27FC236}">
                <a16:creationId xmlns:a16="http://schemas.microsoft.com/office/drawing/2014/main" id="{E56E9668-7D2D-4057-BE7E-93FFA2E0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1" name="W3. “The bubble proves exactly how much water evaporated.”">
            <a:extLst xmlns:a="http://schemas.openxmlformats.org/drawingml/2006/main">
              <a:ext uri="{FF2B5EF4-FFF2-40B4-BE49-F238E27FC236}">
                <a16:creationId xmlns:a16="http://schemas.microsoft.com/office/drawing/2014/main" id="{7C7C44FE-64E3-4231-853E-CBE4555E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“The bubble proves exactly how much water evaporated.”</a:t>
            </a:r>
          </a:p>
        </p:txBody>
      </p:sp>
      <p:sp>
        <p:nvSpPr>
          <p:cNvPr id="12" name="What should the label say instead?">
            <a:extLst xmlns:a="http://schemas.openxmlformats.org/drawingml/2006/main">
              <a:ext uri="{FF2B5EF4-FFF2-40B4-BE49-F238E27FC236}">
                <a16:creationId xmlns:a16="http://schemas.microsoft.com/office/drawing/2014/main" id="{48B19989-51BF-41FF-B2E8-1DAC1746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should the label say instead?</a:t>
            </a:r>
          </a:p>
        </p:txBody>
      </p:sp>
    </p:spTree>
    <p:extLst>
      <p:ext uri="{BB962C8B-B14F-4D97-AF65-F5344CB8AC3E}">
        <p14:creationId xmlns:p14="http://schemas.microsoft.com/office/powerpoint/2010/main" val="1573737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BFF76969-3B63-40ED-9939-8AE0A00B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EBA5DC3-CBAE-48C2-9873-E89932A2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734C19F-C0CC-4DCA-832D-3A66CC5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7E432BF-BAA7-443A-9A19-FA0296C9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C504818F-5F65-49A8-9EB8-D20406BF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39ADADF-1BC4-4CBC-A67B-B7F7CBC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Choose the accurate transport statement">
            <a:extLst xmlns:a="http://schemas.openxmlformats.org/drawingml/2006/main">
              <a:ext uri="{FF2B5EF4-FFF2-40B4-BE49-F238E27FC236}">
                <a16:creationId xmlns:a16="http://schemas.microsoft.com/office/drawing/2014/main" id="{E637FE52-BB37-41BD-A346-629110E8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accurate transport statement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9E81A54-50EC-4DAE-88B3-904F60A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213A3E16-4573-408F-8A42-76759381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A2B086A8-BD21-4071-9706-91479A05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Read the material and direction carefully.">
            <a:extLst xmlns:a="http://schemas.openxmlformats.org/drawingml/2006/main">
              <a:ext uri="{FF2B5EF4-FFF2-40B4-BE49-F238E27FC236}">
                <a16:creationId xmlns:a16="http://schemas.microsoft.com/office/drawing/2014/main" id="{E2FA59DC-3D82-4E4A-B1ED-2798BC8D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material and direction carefully.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29A8EA3-549A-4143-B2EC-28F08698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4C3866FE-29A3-4719-B51F-799FB60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4B43E1C3-06DA-451B-BE77-8CF1D2B2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Xylem carries sucrose made in the roots.">
            <a:extLst xmlns:a="http://schemas.openxmlformats.org/drawingml/2006/main">
              <a:ext uri="{FF2B5EF4-FFF2-40B4-BE49-F238E27FC236}">
                <a16:creationId xmlns:a16="http://schemas.microsoft.com/office/drawing/2014/main" id="{F7124E9F-4DAC-436D-A42A-C603C480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Xylem carries sucrose made in the roots.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CE63561E-058E-4563-ACE8-FF246F1D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4F3B5C1-0C11-4AA8-B448-426485AC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9944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3BC6D272-B2A4-4611-939D-5F8C030D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02819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Water evaporates inside a leaf and vapour diffuses through stoma">
            <a:extLst xmlns:a="http://schemas.openxmlformats.org/drawingml/2006/main">
              <a:ext uri="{FF2B5EF4-FFF2-40B4-BE49-F238E27FC236}">
                <a16:creationId xmlns:a16="http://schemas.microsoft.com/office/drawing/2014/main" id="{2706A234-4E55-47A2-882A-B909EEF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02819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Water evaporates inside a leaf and vapour diffuses through stomata.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27E55E3D-7116-49DB-AED6-49B1634B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B03E8A76-1824-4BFF-9278-ADE28F5F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7213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200C9D91-555F-4530-A170-85F3DCC7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10088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A potometer directly measures all water vapour leaving a leaf.">
            <a:extLst xmlns:a="http://schemas.openxmlformats.org/drawingml/2006/main">
              <a:ext uri="{FF2B5EF4-FFF2-40B4-BE49-F238E27FC236}">
                <a16:creationId xmlns:a16="http://schemas.microsoft.com/office/drawing/2014/main" id="{F5304DD1-0026-4D42-BF9C-EB25E74C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0088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potometer directly measures all water vapour leaving a leaf.</a:t>
            </a:r>
          </a:p>
        </p:txBody>
      </p:sp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52DEFD35-60D7-42E0-A70D-D486B5E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1112520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15367800-E3D2-46A3-8B7F-E3608BF1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4481"/>
            <a:ext cx="57150" cy="8929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6" name="D">
            <a:extLst xmlns:a="http://schemas.openxmlformats.org/drawingml/2006/main">
              <a:ext uri="{FF2B5EF4-FFF2-40B4-BE49-F238E27FC236}">
                <a16:creationId xmlns:a16="http://schemas.microsoft.com/office/drawing/2014/main" id="{8EDC0E2A-5B4F-401D-AC7E-F811A302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17356"/>
            <a:ext cx="476250" cy="702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7" name="Phloem transport is always downward.">
            <a:extLst xmlns:a="http://schemas.openxmlformats.org/drawingml/2006/main">
              <a:ext uri="{FF2B5EF4-FFF2-40B4-BE49-F238E27FC236}">
                <a16:creationId xmlns:a16="http://schemas.microsoft.com/office/drawing/2014/main" id="{F5FDAEB4-466B-4EB2-921C-9AD7BD9A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517356"/>
            <a:ext cx="10144125" cy="683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Phloem transport is always downward.</a:t>
            </a:r>
          </a:p>
        </p:txBody>
      </p:sp>
    </p:spTree>
    <p:extLst>
      <p:ext uri="{BB962C8B-B14F-4D97-AF65-F5344CB8AC3E}">
        <p14:creationId xmlns:p14="http://schemas.microsoft.com/office/powerpoint/2010/main" val="10363494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92EE838-CA5A-4325-876D-044D44D8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EB1EEBA-6641-46F1-9CE2-2B908CB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5A1F62E-A090-4448-ABC2-DD48565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FD3AA424-86B2-491A-B528-5BD8384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74BFA042-BC3C-4B68-87AF-205A9906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FFF1F654-CE5E-40F7-81BC-CB9ABD9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Prepare the transport report">
            <a:extLst xmlns:a="http://schemas.openxmlformats.org/drawingml/2006/main">
              <a:ext uri="{FF2B5EF4-FFF2-40B4-BE49-F238E27FC236}">
                <a16:creationId xmlns:a16="http://schemas.microsoft.com/office/drawing/2014/main" id="{5431324A-AACE-412D-BD4D-99C68B9D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Prepare the transport report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AC07813-7695-4CFD-A74D-AB83BC72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C25845D8-C311-4B9D-8D38-2CC776C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A08A9842-69ED-4B9B-B75C-517366C4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your route.">
            <a:extLst xmlns:a="http://schemas.openxmlformats.org/drawingml/2006/main">
              <a:ext uri="{FF2B5EF4-FFF2-40B4-BE49-F238E27FC236}">
                <a16:creationId xmlns:a16="http://schemas.microsoft.com/office/drawing/2014/main" id="{CD93394C-61C8-4B70-A180-840E8C94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route.</a:t>
            </a:r>
          </a:p>
        </p:txBody>
      </p:sp>
      <p:sp>
        <p:nvSpPr>
          <p:cNvPr id="12" name="Show a material path, a rate and a justified limit.">
            <a:extLst xmlns:a="http://schemas.openxmlformats.org/drawingml/2006/main">
              <a:ext uri="{FF2B5EF4-FFF2-40B4-BE49-F238E27FC236}">
                <a16:creationId xmlns:a16="http://schemas.microsoft.com/office/drawing/2014/main" id="{463CC070-0A80-4D41-A957-7E032E9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a material path, a rate and a justified limit.</a:t>
            </a:r>
          </a:p>
        </p:txBody>
      </p:sp>
    </p:spTree>
    <p:extLst>
      <p:ext uri="{BB962C8B-B14F-4D97-AF65-F5344CB8AC3E}">
        <p14:creationId xmlns:p14="http://schemas.microsoft.com/office/powerpoint/2010/main" val="974353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061AE7E-CF38-450E-9FD4-08F7C1AF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AA5933A-C3DF-4243-AE07-20B1313F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2EB9D3D-F07D-4521-A32F-09D03471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DFBF6C26-C1EF-4730-A372-0649EB9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15295EE2-C46B-4B77-B595-A463765F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42D6300E-3B27-4545-88F0-88C487C4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the explanation traceable">
            <a:extLst xmlns:a="http://schemas.openxmlformats.org/drawingml/2006/main">
              <a:ext uri="{FF2B5EF4-FFF2-40B4-BE49-F238E27FC236}">
                <a16:creationId xmlns:a16="http://schemas.microsoft.com/office/drawing/2014/main" id="{4E3A9F56-F773-40C9-8BAC-C586446C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the explanation traceable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14F6084-6278-4537-99D4-DDCB3A59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F894284B-9A42-4009-A0BB-E8745B0E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11 / 15">
            <a:extLst xmlns:a="http://schemas.openxmlformats.org/drawingml/2006/main">
              <a:ext uri="{FF2B5EF4-FFF2-40B4-BE49-F238E27FC236}">
                <a16:creationId xmlns:a16="http://schemas.microsoft.com/office/drawing/2014/main" id="{3B67D2BF-A563-4841-9A06-7AF5EEE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1" name="Material → tissue → destination.">
            <a:extLst xmlns:a="http://schemas.openxmlformats.org/drawingml/2006/main">
              <a:ext uri="{FF2B5EF4-FFF2-40B4-BE49-F238E27FC236}">
                <a16:creationId xmlns:a16="http://schemas.microsoft.com/office/drawing/2014/main" id="{ABFFEBB9-B5D9-4613-B35C-F04D6D20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Material → tissue → destination.</a:t>
            </a:r>
          </a:p>
        </p:txBody>
      </p:sp>
      <p:sp>
        <p:nvSpPr>
          <p:cNvPr id="12" name="Movement → calculation → inference → limitation.">
            <a:extLst xmlns:a="http://schemas.openxmlformats.org/drawingml/2006/main">
              <a:ext uri="{FF2B5EF4-FFF2-40B4-BE49-F238E27FC236}">
                <a16:creationId xmlns:a16="http://schemas.microsoft.com/office/drawing/2014/main" id="{58608F3E-CFE1-47D1-A491-D31FA0F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Movement → calculation → inference → limitation.</a:t>
            </a:r>
          </a:p>
        </p:txBody>
      </p:sp>
    </p:spTree>
    <p:extLst>
      <p:ext uri="{BB962C8B-B14F-4D97-AF65-F5344CB8AC3E}">
        <p14:creationId xmlns:p14="http://schemas.microsoft.com/office/powerpoint/2010/main" val="18082423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9DF42CA-D577-44AA-86E5-CA18693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9833933-6C09-4133-A101-0EE7D0CC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938294B-0867-4A62-974E-34F7F2DC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6AEAC615-E646-4FF3-A846-E88AC3B6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FD7E24F4-BFBC-40C5-B141-F91C69F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3322F6A-70B1-493A-9BBD-DABBF8EE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udience: follow my arrows">
            <a:extLst xmlns:a="http://schemas.openxmlformats.org/drawingml/2006/main">
              <a:ext uri="{FF2B5EF4-FFF2-40B4-BE49-F238E27FC236}">
                <a16:creationId xmlns:a16="http://schemas.microsoft.com/office/drawing/2014/main" id="{9F6BA72C-DE29-44BF-BBA0-85F4F6E2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Audience: follow my arrows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06DA768-1780-4E99-94FC-DFC0B04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35B8731A-BAEC-4A1F-ACFA-9CB8153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12 / 15">
            <a:extLst xmlns:a="http://schemas.openxmlformats.org/drawingml/2006/main">
              <a:ext uri="{FF2B5EF4-FFF2-40B4-BE49-F238E27FC236}">
                <a16:creationId xmlns:a16="http://schemas.microsoft.com/office/drawing/2014/main" id="{053D17D8-23CC-4AD3-90F9-AC038388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1" name="L1. Show one material route or measurement.">
            <a:extLst xmlns:a="http://schemas.openxmlformats.org/drawingml/2006/main">
              <a:ext uri="{FF2B5EF4-FFF2-40B4-BE49-F238E27FC236}">
                <a16:creationId xmlns:a16="http://schemas.microsoft.com/office/drawing/2014/main" id="{5BB77242-A055-4BE6-AFB2-E152A462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L1. Show one material route or measurement.</a:t>
            </a:r>
          </a:p>
        </p:txBody>
      </p:sp>
      <p:sp>
        <p:nvSpPr>
          <p:cNvPr id="12" name="Audience asks: “Is that measured or inferred?”">
            <a:extLst xmlns:a="http://schemas.openxmlformats.org/drawingml/2006/main">
              <a:ext uri="{FF2B5EF4-FFF2-40B4-BE49-F238E27FC236}">
                <a16:creationId xmlns:a16="http://schemas.microsoft.com/office/drawing/2014/main" id="{A43BFB75-9768-439F-AC16-55F648C7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Audience asks: “Is that measured or inferred?”</a:t>
            </a:r>
          </a:p>
        </p:txBody>
      </p:sp>
    </p:spTree>
    <p:extLst>
      <p:ext uri="{BB962C8B-B14F-4D97-AF65-F5344CB8AC3E}">
        <p14:creationId xmlns:p14="http://schemas.microsoft.com/office/powerpoint/2010/main" val="19029637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6407105-1418-49AA-9611-8DB0D53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B024DBF-0C5C-491F-8C4D-3FFFFE88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8309BEA-C5DA-4F7D-9128-AC46DB1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E843ECCF-6562-42ED-B6BA-8F14E67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3B5BFE3C-90EF-477D-B290-3A71571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3ED6DF7E-F682-4BFF-BFB2-A1C48115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A careful transport explanation">
            <a:extLst xmlns:a="http://schemas.openxmlformats.org/drawingml/2006/main">
              <a:ext uri="{FF2B5EF4-FFF2-40B4-BE49-F238E27FC236}">
                <a16:creationId xmlns:a16="http://schemas.microsoft.com/office/drawing/2014/main" id="{68291BEC-AE25-4E4D-9956-210EBF83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careful transport explanation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C2E7C22-5E03-482E-802C-E850E137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AE1D8438-B812-4F75-A017-F558459E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A917E078-4580-4DBD-911F-4E33F8F1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The tissue explains the path.">
            <a:extLst xmlns:a="http://schemas.openxmlformats.org/drawingml/2006/main">
              <a:ext uri="{FF2B5EF4-FFF2-40B4-BE49-F238E27FC236}">
                <a16:creationId xmlns:a16="http://schemas.microsoft.com/office/drawing/2014/main" id="{663133A2-ABEC-49A6-B456-8B61689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tissue explains the path.</a:t>
            </a:r>
          </a:p>
        </p:txBody>
      </p:sp>
      <p:sp>
        <p:nvSpPr>
          <p:cNvPr id="12" name="The leaf explains the loss.">
            <a:extLst xmlns:a="http://schemas.openxmlformats.org/drawingml/2006/main">
              <a:ext uri="{FF2B5EF4-FFF2-40B4-BE49-F238E27FC236}">
                <a16:creationId xmlns:a16="http://schemas.microsoft.com/office/drawing/2014/main" id="{1353DE39-37BF-4BF5-B5F0-E7119D9F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leaf explains the loss.</a:t>
            </a:r>
          </a:p>
        </p:txBody>
      </p:sp>
      <p:sp>
        <p:nvSpPr>
          <p:cNvPr id="13" name="The apparatus defines the measurement.">
            <a:extLst xmlns:a="http://schemas.openxmlformats.org/drawingml/2006/main">
              <a:ext uri="{FF2B5EF4-FFF2-40B4-BE49-F238E27FC236}">
                <a16:creationId xmlns:a16="http://schemas.microsoft.com/office/drawing/2014/main" id="{DA48977E-8B2B-40B2-9565-A90D7B2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apparatus defines the measurement.</a:t>
            </a:r>
          </a:p>
        </p:txBody>
      </p:sp>
    </p:spTree>
    <p:extLst>
      <p:ext uri="{BB962C8B-B14F-4D97-AF65-F5344CB8AC3E}">
        <p14:creationId xmlns:p14="http://schemas.microsoft.com/office/powerpoint/2010/main" val="5100034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BFD2B1C-ACE3-4FD0-832F-285F7FE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0DB8A16-5FE1-473F-B408-32239BF5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63A7455-901B-46A6-84C7-D9C4206E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B23B2FC2-0316-4922-9D88-8A38486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D2675BCD-0D2F-4BA8-ADFE-49E082F3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1 min">
            <a:extLst xmlns:a="http://schemas.openxmlformats.org/drawingml/2006/main">
              <a:ext uri="{FF2B5EF4-FFF2-40B4-BE49-F238E27FC236}">
                <a16:creationId xmlns:a16="http://schemas.microsoft.com/office/drawing/2014/main" id="{C8113693-B9F6-4D51-B82D-C5818940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 min</a:t>
            </a:r>
          </a:p>
        </p:txBody>
      </p:sp>
      <p:sp>
        <p:nvSpPr>
          <p:cNvPr id="7" name="Name the path and the proxy">
            <a:extLst xmlns:a="http://schemas.openxmlformats.org/drawingml/2006/main">
              <a:ext uri="{FF2B5EF4-FFF2-40B4-BE49-F238E27FC236}">
                <a16:creationId xmlns:a16="http://schemas.microsoft.com/office/drawing/2014/main" id="{93A0073E-44CB-4F96-B59E-0B86BDE6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path and the proxy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4019D40-3363-4B6F-9C3D-42F2519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46EB61B3-F244-45A3-9732-50F85BFC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10" name="14 / 15">
            <a:extLst xmlns:a="http://schemas.openxmlformats.org/drawingml/2006/main">
              <a:ext uri="{FF2B5EF4-FFF2-40B4-BE49-F238E27FC236}">
                <a16:creationId xmlns:a16="http://schemas.microsoft.com/office/drawing/2014/main" id="{794684DE-44C8-4BD9-AAD8-E639ED08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1" name="E1. Name the tissue carrying sucrose.">
            <a:extLst xmlns:a="http://schemas.openxmlformats.org/drawingml/2006/main">
              <a:ext uri="{FF2B5EF4-FFF2-40B4-BE49-F238E27FC236}">
                <a16:creationId xmlns:a16="http://schemas.microsoft.com/office/drawing/2014/main" id="{B65FED33-2171-4ED4-8367-008EAF7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Name the tissue carrying sucrose.</a:t>
            </a:r>
          </a:p>
        </p:txBody>
      </p:sp>
      <p:sp>
        <p:nvSpPr>
          <p:cNvPr id="12" name="E2. 20 mm in 5 minutes: calculate movement rate.">
            <a:extLst xmlns:a="http://schemas.openxmlformats.org/drawingml/2006/main">
              <a:ext uri="{FF2B5EF4-FFF2-40B4-BE49-F238E27FC236}">
                <a16:creationId xmlns:a16="http://schemas.microsoft.com/office/drawing/2014/main" id="{BE04E884-A6E0-46B0-9211-7AFB0099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20 mm in 5 minutes: calculate movement rate.</a:t>
            </a:r>
          </a:p>
        </p:txBody>
      </p:sp>
      <p:sp>
        <p:nvSpPr>
          <p:cNvPr id="13" name="E3. Why is uptake not exact transpiration?">
            <a:extLst xmlns:a="http://schemas.openxmlformats.org/drawingml/2006/main">
              <a:ext uri="{FF2B5EF4-FFF2-40B4-BE49-F238E27FC236}">
                <a16:creationId xmlns:a16="http://schemas.microsoft.com/office/drawing/2014/main" id="{2644D2F6-9E5F-41E3-B7F4-47FCBE9E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Why is uptake not exact transpiration?</a:t>
            </a:r>
          </a:p>
        </p:txBody>
      </p:sp>
    </p:spTree>
    <p:extLst>
      <p:ext uri="{BB962C8B-B14F-4D97-AF65-F5344CB8AC3E}">
        <p14:creationId xmlns:p14="http://schemas.microsoft.com/office/powerpoint/2010/main" val="1538824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F823D00F-4912-48DA-865E-90036590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E87931A-96F9-45C8-9469-8BEB31C2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77A9849-2D53-4FA4-8A04-EBBC8D2F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4" name="LAUNCH SCIENCE">
            <a:extLst xmlns:a="http://schemas.openxmlformats.org/drawingml/2006/main">
              <a:ext uri="{FF2B5EF4-FFF2-40B4-BE49-F238E27FC236}">
                <a16:creationId xmlns:a16="http://schemas.microsoft.com/office/drawing/2014/main" id="{ABCD932D-7C11-4640-ABBF-DC57130A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LAUNCH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EB00D290-FB60-4AE5-8ED5-F437F7DD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7A5C9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Choose the next useful step">
            <a:extLst xmlns:a="http://schemas.openxmlformats.org/drawingml/2006/main">
              <a:ext uri="{FF2B5EF4-FFF2-40B4-BE49-F238E27FC236}">
                <a16:creationId xmlns:a16="http://schemas.microsoft.com/office/drawing/2014/main" id="{B831AE68-8C26-4869-A321-FC8BC79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next useful step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FF656A57-F589-4E2F-99FC-F76119EE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Plant transport: follow the water and sugar">
            <a:extLst xmlns:a="http://schemas.openxmlformats.org/drawingml/2006/main">
              <a:ext uri="{FF2B5EF4-FFF2-40B4-BE49-F238E27FC236}">
                <a16:creationId xmlns:a16="http://schemas.microsoft.com/office/drawing/2014/main" id="{3047339A-141B-4B87-98EF-D45E0F0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Plant transport: follow the water and sugar</a:t>
            </a:r>
          </a:p>
        </p:txBody>
      </p:sp>
      <p:sp>
        <p:nvSpPr>
          <p:cNvPr id="9" name="15 / 15">
            <a:extLst xmlns:a="http://schemas.openxmlformats.org/drawingml/2006/main">
              <a:ext uri="{FF2B5EF4-FFF2-40B4-BE49-F238E27FC236}">
                <a16:creationId xmlns:a16="http://schemas.microsoft.com/office/drawing/2014/main" id="{0F5C529F-832D-4C7D-9E8D-40256706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0" name="Tissue roles • leaf mechanism • rate • proxy.">
            <a:extLst xmlns:a="http://schemas.openxmlformats.org/drawingml/2006/main">
              <a:ext uri="{FF2B5EF4-FFF2-40B4-BE49-F238E27FC236}">
                <a16:creationId xmlns:a16="http://schemas.microsoft.com/office/drawing/2014/main" id="{D34B1B52-6926-46A2-B18C-4975018C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Tissue roles • leaf mechanism • rate • proxy.</a:t>
            </a:r>
          </a:p>
        </p:txBody>
      </p:sp>
    </p:spTree>
    <p:extLst>
      <p:ext uri="{BB962C8B-B14F-4D97-AF65-F5344CB8AC3E}">
        <p14:creationId xmlns:p14="http://schemas.microsoft.com/office/powerpoint/2010/main" val="199733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2026-09-08T23:20:50.9330000Z</dcterms:created>
  <dcterms:modified xsi:type="dcterms:W3CDTF">2026-09-08T23:20:50.9330000Z</dcterms:modified>
</coreProperties>
</file>