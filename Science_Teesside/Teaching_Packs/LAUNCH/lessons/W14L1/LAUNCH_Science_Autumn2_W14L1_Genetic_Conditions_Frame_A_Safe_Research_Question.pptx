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6a187e11e246a0" /><Relationship Type="http://schemas.openxmlformats.org/officeDocument/2006/relationships/extended-properties" Target="/docProps/app.xml" Id="R6c74df6439cd4e50" /><Relationship Type="http://schemas.openxmlformats.org/officeDocument/2006/relationships/officeDocument" Target="/ppt/presentation.xml" Id="R666b09f9c5ff4efe" /></Relationships>
</file>

<file path=ppt/presentation.xml><?xml version="1.0" encoding="utf-8"?>
<p:presentation xmlns:p="http://schemas.openxmlformats.org/presentationml/2006/main">
  <p:sldMasterIdLst>
    <p:sldMasterId xmlns:r="http://schemas.openxmlformats.org/officeDocument/2006/relationships" id="2147483648" r:id="Re2f2139d5fd7495e"/>
  </p:sldMasterIdLst>
  <p:notesMasterIdLst>
    <p:notesMasterId xmlns:r="http://schemas.openxmlformats.org/officeDocument/2006/relationships" r:id="R026dc6c645714a91"/>
  </p:notesMasterIdLst>
  <p:sldIdLst>
    <p:sldId xmlns:r="http://schemas.openxmlformats.org/officeDocument/2006/relationships" id="256" r:id="Racff3ce80307455d"/>
    <p:sldId xmlns:r="http://schemas.openxmlformats.org/officeDocument/2006/relationships" id="257" r:id="Rce41dbfe07e04d21"/>
    <p:sldId xmlns:r="http://schemas.openxmlformats.org/officeDocument/2006/relationships" id="258" r:id="R70515468e6d14c63"/>
    <p:sldId xmlns:r="http://schemas.openxmlformats.org/officeDocument/2006/relationships" id="259" r:id="R0d862f06c2824dd1"/>
    <p:sldId xmlns:r="http://schemas.openxmlformats.org/officeDocument/2006/relationships" id="260" r:id="R85af4801112d43cf"/>
    <p:sldId xmlns:r="http://schemas.openxmlformats.org/officeDocument/2006/relationships" id="261" r:id="Ra046f4ee9ff0400e"/>
    <p:sldId xmlns:r="http://schemas.openxmlformats.org/officeDocument/2006/relationships" id="262" r:id="Rec2d6ce334074716"/>
    <p:sldId xmlns:r="http://schemas.openxmlformats.org/officeDocument/2006/relationships" id="263" r:id="R8835670a42024a26"/>
    <p:sldId xmlns:r="http://schemas.openxmlformats.org/officeDocument/2006/relationships" id="264" r:id="Rab2d9b6751d84526"/>
    <p:sldId xmlns:r="http://schemas.openxmlformats.org/officeDocument/2006/relationships" id="265" r:id="Rb96800c9d6744c24"/>
    <p:sldId xmlns:r="http://schemas.openxmlformats.org/officeDocument/2006/relationships" id="266" r:id="Rdfa1d2d6d6fb4ab2"/>
    <p:sldId xmlns:r="http://schemas.openxmlformats.org/officeDocument/2006/relationships" id="267" r:id="R7474ab6c11894386"/>
    <p:sldId xmlns:r="http://schemas.openxmlformats.org/officeDocument/2006/relationships" id="268" r:id="R73b388f6d34f4cd9"/>
    <p:sldId xmlns:r="http://schemas.openxmlformats.org/officeDocument/2006/relationships" id="269" r:id="R5de5d5c6283344dd"/>
    <p:sldId xmlns:r="http://schemas.openxmlformats.org/officeDocument/2006/relationships" id="270" r:id="R3918e0dc74ee40c9"/>
    <p:sldId xmlns:r="http://schemas.openxmlformats.org/officeDocument/2006/relationships" id="271" r:id="R673b687b82074469"/>
    <p:sldId xmlns:r="http://schemas.openxmlformats.org/officeDocument/2006/relationships" id="272" r:id="R14979057f5c343b8"/>
    <p:sldId xmlns:r="http://schemas.openxmlformats.org/officeDocument/2006/relationships" id="273" r:id="R91088b7e114245cd"/>
    <p:sldId xmlns:r="http://schemas.openxmlformats.org/officeDocument/2006/relationships" id="274" r:id="Rd5b1a2b77b654ee7"/>
    <p:sldId xmlns:r="http://schemas.openxmlformats.org/officeDocument/2006/relationships" id="275" r:id="Rb3b12a648d684bf4"/>
    <p:sldId xmlns:r="http://schemas.openxmlformats.org/officeDocument/2006/relationships" id="276" r:id="R3906e516df4f48cf"/>
    <p:sldId xmlns:r="http://schemas.openxmlformats.org/officeDocument/2006/relationships" id="277" r:id="R279c62f3be204d76"/>
    <p:sldId xmlns:r="http://schemas.openxmlformats.org/officeDocument/2006/relationships" id="278" r:id="Re2e509f5d81b44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36315dde38405f" /><Relationship Type="http://schemas.openxmlformats.org/officeDocument/2006/relationships/slideMaster" Target="/ppt/slideMasters/slideMaster1.xml" Id="Re2f2139d5fd7495e" /><Relationship Type="http://schemas.openxmlformats.org/officeDocument/2006/relationships/notesMaster" Target="/ppt/notesMasters/notesMaster1.xml" Id="R026dc6c645714a91" /><Relationship Type="http://schemas.openxmlformats.org/officeDocument/2006/relationships/presProps" Target="/ppt/presProps.xml" Id="R1c3d7f14ab794174" /><Relationship Type="http://schemas.openxmlformats.org/officeDocument/2006/relationships/tableStyles" Target="/ppt/tableStyles.xml" Id="R7e03cc38819a49d0" /><Relationship Type="http://schemas.openxmlformats.org/officeDocument/2006/relationships/slide" Target="/ppt/slides/slide1.xml" Id="Racff3ce80307455d" /><Relationship Type="http://schemas.openxmlformats.org/officeDocument/2006/relationships/slide" Target="/ppt/slides/slide2.xml" Id="Rce41dbfe07e04d21" /><Relationship Type="http://schemas.openxmlformats.org/officeDocument/2006/relationships/slide" Target="/ppt/slides/slide3.xml" Id="R70515468e6d14c63" /><Relationship Type="http://schemas.openxmlformats.org/officeDocument/2006/relationships/slide" Target="/ppt/slides/slide4.xml" Id="R0d862f06c2824dd1" /><Relationship Type="http://schemas.openxmlformats.org/officeDocument/2006/relationships/slide" Target="/ppt/slides/slide5.xml" Id="R85af4801112d43cf" /><Relationship Type="http://schemas.openxmlformats.org/officeDocument/2006/relationships/slide" Target="/ppt/slides/slide6.xml" Id="Ra046f4ee9ff0400e" /><Relationship Type="http://schemas.openxmlformats.org/officeDocument/2006/relationships/slide" Target="/ppt/slides/slide7.xml" Id="Rec2d6ce334074716" /><Relationship Type="http://schemas.openxmlformats.org/officeDocument/2006/relationships/slide" Target="/ppt/slides/slide8.xml" Id="R8835670a42024a26" /><Relationship Type="http://schemas.openxmlformats.org/officeDocument/2006/relationships/slide" Target="/ppt/slides/slide9.xml" Id="Rab2d9b6751d84526" /><Relationship Type="http://schemas.openxmlformats.org/officeDocument/2006/relationships/slide" Target="/ppt/slides/slide10.xml" Id="Rb96800c9d6744c24" /><Relationship Type="http://schemas.openxmlformats.org/officeDocument/2006/relationships/slide" Target="/ppt/slides/slide11.xml" Id="Rdfa1d2d6d6fb4ab2" /><Relationship Type="http://schemas.openxmlformats.org/officeDocument/2006/relationships/slide" Target="/ppt/slides/slide12.xml" Id="R7474ab6c11894386" /><Relationship Type="http://schemas.openxmlformats.org/officeDocument/2006/relationships/slide" Target="/ppt/slides/slide13.xml" Id="R73b388f6d34f4cd9" /><Relationship Type="http://schemas.openxmlformats.org/officeDocument/2006/relationships/slide" Target="/ppt/slides/slide14.xml" Id="R5de5d5c6283344dd" /><Relationship Type="http://schemas.openxmlformats.org/officeDocument/2006/relationships/slide" Target="/ppt/slides/slide15.xml" Id="R3918e0dc74ee40c9" /><Relationship Type="http://schemas.openxmlformats.org/officeDocument/2006/relationships/slide" Target="/ppt/slides/slide16.xml" Id="R673b687b82074469" /><Relationship Type="http://schemas.openxmlformats.org/officeDocument/2006/relationships/slide" Target="/ppt/slides/slide17.xml" Id="R14979057f5c343b8" /><Relationship Type="http://schemas.openxmlformats.org/officeDocument/2006/relationships/slide" Target="/ppt/slides/slide18.xml" Id="R91088b7e114245cd" /><Relationship Type="http://schemas.openxmlformats.org/officeDocument/2006/relationships/slide" Target="/ppt/slides/slide19.xml" Id="Rd5b1a2b77b654ee7" /><Relationship Type="http://schemas.openxmlformats.org/officeDocument/2006/relationships/slide" Target="/ppt/slides/slide20.xml" Id="Rb3b12a648d684bf4" /><Relationship Type="http://schemas.openxmlformats.org/officeDocument/2006/relationships/slide" Target="/ppt/slides/slide21.xml" Id="R3906e516df4f48cf" /><Relationship Type="http://schemas.openxmlformats.org/officeDocument/2006/relationships/slide" Target="/ppt/slides/slide22.xml" Id="R279c62f3be204d76" /><Relationship Type="http://schemas.openxmlformats.org/officeDocument/2006/relationships/slide" Target="/ppt/slides/slide23.xml" Id="Re2e509f5d81b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f7e5a5331e43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e78f2dc24942fe" /><Relationship Type="http://schemas.openxmlformats.org/officeDocument/2006/relationships/notesMaster" Target="/ppt/notesMasters/notesMaster1.xml" Id="R0bae780a388e4a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2e9c8106e7481e" /><Relationship Type="http://schemas.openxmlformats.org/officeDocument/2006/relationships/notesMaster" Target="/ppt/notesMasters/notesMaster1.xml" Id="R54846619e56f42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558b2e389f4462" /><Relationship Type="http://schemas.openxmlformats.org/officeDocument/2006/relationships/notesMaster" Target="/ppt/notesMasters/notesMaster1.xml" Id="R356e7e9510cb49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b5b0711fa74e15" /><Relationship Type="http://schemas.openxmlformats.org/officeDocument/2006/relationships/notesMaster" Target="/ppt/notesMasters/notesMaster1.xml" Id="R73bf0acb9dd444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58d0b84f1a4464" /><Relationship Type="http://schemas.openxmlformats.org/officeDocument/2006/relationships/notesMaster" Target="/ppt/notesMasters/notesMaster1.xml" Id="R9adb4893bf4e45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44384c929c4b58" /><Relationship Type="http://schemas.openxmlformats.org/officeDocument/2006/relationships/notesMaster" Target="/ppt/notesMasters/notesMaster1.xml" Id="Rd35aae5ab30248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f7d5842efe4d9b" /><Relationship Type="http://schemas.openxmlformats.org/officeDocument/2006/relationships/notesMaster" Target="/ppt/notesMasters/notesMaster1.xml" Id="R538209d27fca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d09ee175e4380" /><Relationship Type="http://schemas.openxmlformats.org/officeDocument/2006/relationships/notesMaster" Target="/ppt/notesMasters/notesMaster1.xml" Id="Rb272eb38d51a41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b0a45c08a448b7" /><Relationship Type="http://schemas.openxmlformats.org/officeDocument/2006/relationships/notesMaster" Target="/ppt/notesMasters/notesMaster1.xml" Id="R634d6f2f1bbb4f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cbbca8603d4491" /><Relationship Type="http://schemas.openxmlformats.org/officeDocument/2006/relationships/notesMaster" Target="/ppt/notesMasters/notesMaster1.xml" Id="R88aeca56036940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c4e3978a6245c9" /><Relationship Type="http://schemas.openxmlformats.org/officeDocument/2006/relationships/notesMaster" Target="/ppt/notesMasters/notesMaster1.xml" Id="R1154864d25e244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43812074a041bf" /><Relationship Type="http://schemas.openxmlformats.org/officeDocument/2006/relationships/notesMaster" Target="/ppt/notesMasters/notesMaster1.xml" Id="R23ca3577632e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2f2b9704144ca3" /><Relationship Type="http://schemas.openxmlformats.org/officeDocument/2006/relationships/notesMaster" Target="/ppt/notesMasters/notesMaster1.xml" Id="Rcea4edd24a3941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21463f4e274597" /><Relationship Type="http://schemas.openxmlformats.org/officeDocument/2006/relationships/notesMaster" Target="/ppt/notesMasters/notesMaster1.xml" Id="R710d3ae4451f47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89799d8fd74fc8" /><Relationship Type="http://schemas.openxmlformats.org/officeDocument/2006/relationships/notesMaster" Target="/ppt/notesMasters/notesMaster1.xml" Id="R45acd3c0638542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d5742075f44752" /><Relationship Type="http://schemas.openxmlformats.org/officeDocument/2006/relationships/notesMaster" Target="/ppt/notesMasters/notesMaster1.xml" Id="R4f01d43abc314f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401c3ecf1c4de0" /><Relationship Type="http://schemas.openxmlformats.org/officeDocument/2006/relationships/notesMaster" Target="/ppt/notesMasters/notesMaster1.xml" Id="R94e97be3bb4c44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b5fdb13f0e48dd" /><Relationship Type="http://schemas.openxmlformats.org/officeDocument/2006/relationships/notesMaster" Target="/ppt/notesMasters/notesMaster1.xml" Id="Ra0786807c58a46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a9b890af0d46f8" /><Relationship Type="http://schemas.openxmlformats.org/officeDocument/2006/relationships/notesMaster" Target="/ppt/notesMasters/notesMaster1.xml" Id="Rf68767d9a74542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c47f78139143d9" /><Relationship Type="http://schemas.openxmlformats.org/officeDocument/2006/relationships/notesMaster" Target="/ppt/notesMasters/notesMaster1.xml" Id="R1a0a1dfcad7c464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6084aabc7149b4" /><Relationship Type="http://schemas.openxmlformats.org/officeDocument/2006/relationships/notesMaster" Target="/ppt/notesMasters/notesMaster1.xml" Id="R51269b23d4544e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7d2f56bfd614a3b" /><Relationship Type="http://schemas.openxmlformats.org/officeDocument/2006/relationships/notesMaster" Target="/ppt/notesMasters/notesMaster1.xml" Id="Rd26a58057beb4c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d63f511a844466" /><Relationship Type="http://schemas.openxmlformats.org/officeDocument/2006/relationships/notesMaster" Target="/ppt/notesMasters/notesMaster1.xml" Id="Rcf49a0a9ff764e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Overview: 0 minutes TOTAL across all slides in this stage.</a:t>
            </a:r>
          </a:p>
          <a:p xmlns:a="http://schemas.openxmlformats.org/drawingml/2006/main">
            <a:r>
              <a:t/>
            </a:r>
          </a:p>
          <a:p xmlns:a="http://schemas.openxmlformats.org/drawingml/2006/main">
            <a:r>
              <a:t>Prepare the approved local source set and privacy-safe access routes; keep the 1BI0 Foundation decision central.</a:t>
            </a:r>
          </a:p>
          <a:p xmlns:a="http://schemas.openxmlformats.org/drawingml/2006/main">
            <a:r>
              <a:t/>
            </a:r>
          </a:p>
          <a:p xmlns:a="http://schemas.openxmlformats.org/drawingml/2006/main">
            <a:r>
              <a:t>Keep optional IGCSE depth staff-directed and separate from the core class route; do not use legacy 4SS0 framing.</a:t>
            </a:r>
          </a:p>
          <a:p xmlns:a="http://schemas.openxmlformats.org/drawingml/2006/main">
            <a:r>
              <a:t/>
            </a:r>
          </a:p>
          <a:p xmlns:a="http://schemas.openxmlformats.org/drawingml/2006/main">
            <a:r>
              <a:t>Staff preview Keep the 1BI0 Foundation explanation, approved local source set, privacy boundary and learner-authored evidence decision central. Optional IGCSE depth remains staff-directed.</a:t>
            </a:r>
          </a:p>
          <a:p xmlns:a="http://schemas.openxmlformats.org/drawingml/2006/main">
            <a:r>
              <a:t/>
            </a:r>
          </a:p>
          <a:p xmlns:a="http://schemas.openxmlformats.org/drawingml/2006/main">
            <a:r>
              <a:t>Staff qualification / truth boundary Core teaching anchor: Edexcel GCSE Biology 1BI0 Foundation / Combined Science 1SC0 Foundation. IGCSE 4BI1/4CH1/4PH1 is optional stretch for eligible pupils only. No diagnosis or medical advice. The SoW cell adds no unit, code, criterion or level. This lesson imports none of those as new criteria. Staff-only stretch: eligible pupils may use approved 4BI1/4CH1/4PH1 depth. It never governs the core class route. Legacy 4SS0 framing is not the governing route.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LAUNCH · Science · Autumn · Week 14 · Introduce</a:t>
            </a:r>
          </a:p>
          <a:p xmlns:a="http://schemas.openxmlformats.org/drawingml/2006/main">
            <a:r>
              <a:t>SoW outcome: Research a genetic condition online; present.</a:t>
            </a:r>
          </a:p>
          <a:p xmlns:a="http://schemas.openxmlformats.org/drawingml/2006/main">
            <a:r>
              <a:t>Learning objective: I can turn the SoW topic into a respectful research question, plan a school-approved source search, and separate biological explanation from personal or medical claims.</a:t>
            </a:r>
          </a:p>
          <a:p xmlns:a="http://schemas.openxmlformats.org/drawingml/2006/main">
            <a:r>
              <a:t>Success checks for today's activity — not assessment criteria</a:t>
            </a:r>
          </a:p>
          <a:p xmlns:a="http://schemas.openxmlformats.org/drawingml/2006/main">
            <a:r>
              <a:t>Write a bounded question about inheritance, variation or evidence without asking for anyone's personal or family information.</a:t>
            </a:r>
          </a:p>
          <a:p xmlns:a="http://schemas.openxmlformats.org/drawingml/2006/main">
            <a:r>
              <a:t>Plan to use at least two school-approved sources and record publisher, date and purpose.</a:t>
            </a:r>
          </a:p>
          <a:p xmlns:a="http://schemas.openxmlformats.org/drawingml/2006/main">
            <a:r>
              <a:t>List what the final explanation must distinguish: established evidence, probability, lived-experience variation and uncertainty.</a:t>
            </a:r>
          </a:p>
          <a:p xmlns:a="http://schemas.openxmlformats.org/drawingml/2006/main">
            <a:r>
              <a:t>F-L-M-G</a:t>
            </a:r>
          </a:p>
          <a:p xmlns:a="http://schemas.openxmlformats.org/drawingml/2006/main">
            <a:r>
              <a:t>Find · Label · Map · Gap</a:t>
            </a:r>
          </a:p>
          <a:p xmlns:a="http://schemas.openxmlformats.org/drawingml/2006/main">
            <a:r>
              <a:t>research and present without overclaiming</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Stretch</a:t>
            </a:r>
          </a:p>
          <a:p xmlns:a="http://schemas.openxmlformats.org/drawingml/2006/main">
            <a:r>
              <a:t>Compare how question wording could bias the search, then design a neutral alternative and an uncertainty check.</a:t>
            </a:r>
          </a:p>
          <a:p xmlns:a="http://schemas.openxmlformats.org/drawingml/2006/main">
            <a:r>
              <a:t>Previous lesson Next lesson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a private statement: I remember gene/allele links; I need a diagram; I need a full recap. No personal history is requested.</a:t>
            </a:r>
          </a:p>
          <a:p xmlns:a="http://schemas.openxmlformats.org/drawingml/2006/main">
            <a:r>
              <a:t>Gene and allele A gene is a section of DNA involved in a characteristic. Alleles are different versions of a gene. Retrieve these ideas without naming a real person's genotype.</a:t>
            </a:r>
          </a:p>
          <a:p xmlns:a="http://schemas.openxmlformats.org/drawingml/2006/main">
            <a:r>
              <a:t>Genotype and phenotype Genotype describes an allele combination in a model. Phenotype is the observed characteristic. A source may describe patterns, but it cannot diagnose a pupil.</a:t>
            </a:r>
          </a:p>
          <a:p xmlns:a="http://schemas.openxmlformats.org/drawingml/2006/main">
            <a:r>
              <a:t>Probability and certainty An inherited combination can affect probability. Probability is not a promise about one person, and a presentation must not turn a population pattern into an individual prediction.</a:t>
            </a:r>
          </a:p>
          <a:p xmlns:a="http://schemas.openxmlformats.org/drawingml/2006/main">
            <a:r>
              <a:t>Research boundary The C44 task is to research a teacher-approved genetic condition and present. It does not ask for family histories, test results, symptoms or medical decisions.</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a private statement: I remember gene/allele links; I need a diagram; I need a full recap. No personal history is requested.</a:t>
            </a:r>
          </a:p>
          <a:p xmlns:a="http://schemas.openxmlformats.org/drawingml/2006/main">
            <a:r>
              <a:t>Gene and allele A gene is a section of DNA involved in a characteristic. Alleles are different versions of a gene. Retrieve these ideas without naming a real person's genotype.</a:t>
            </a:r>
          </a:p>
          <a:p xmlns:a="http://schemas.openxmlformats.org/drawingml/2006/main">
            <a:r>
              <a:t>Genotype and phenotype Genotype describes an allele combination in a model. Phenotype is the observed characteristic. A source may describe patterns, but it cannot diagnose a pupil.</a:t>
            </a:r>
          </a:p>
          <a:p xmlns:a="http://schemas.openxmlformats.org/drawingml/2006/main">
            <a:r>
              <a:t>Probability and certainty An inherited combination can affect probability. Probability is not a promise about one person, and a presentation must not turn a population pattern into an individual prediction.</a:t>
            </a:r>
          </a:p>
          <a:p xmlns:a="http://schemas.openxmlformats.org/drawingml/2006/main">
            <a:r>
              <a:t>Research boundary The C44 task is to research a teacher-approved genetic condition and present. It does not ask for family histories, test results, symptoms or medical decisions.</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a private statement: I remember gene/allele links; I need a diagram; I need a full recap. No personal history is requested.</a:t>
            </a:r>
          </a:p>
          <a:p xmlns:a="http://schemas.openxmlformats.org/drawingml/2006/main">
            <a:r>
              <a:t>Gene and allele A gene is a section of DNA involved in a characteristic. Alleles are different versions of a gene. Retrieve these ideas without naming a real person's genotype.</a:t>
            </a:r>
          </a:p>
          <a:p xmlns:a="http://schemas.openxmlformats.org/drawingml/2006/main">
            <a:r>
              <a:t>Genotype and phenotype Genotype describes an allele combination in a model. Phenotype is the observed characteristic. A source may describe patterns, but it cannot diagnose a pupil.</a:t>
            </a:r>
          </a:p>
          <a:p xmlns:a="http://schemas.openxmlformats.org/drawingml/2006/main">
            <a:r>
              <a:t>Probability and certainty An inherited combination can affect probability. Probability is not a promise about one person, and a presentation must not turn a population pattern into an individual prediction.</a:t>
            </a:r>
          </a:p>
          <a:p xmlns:a="http://schemas.openxmlformats.org/drawingml/2006/main">
            <a:r>
              <a:t>Research boundary The C44 task is to research a teacher-approved genetic condition and present. It does not ask for family histories, test results, symptoms or medical decisions.</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Which question is safer and more scientific: one asking how evidence supports an inheritance explanation, or one asking pupils to disclose family information? Explain the boundary.</a:t>
            </a:r>
          </a:p>
          <a:p xmlns:a="http://schemas.openxmlformats.org/drawingml/2006/main">
            <a:r>
              <a:t>Picture first: a good question is about the biology. Personal and family disclosure is never part of this task.</a:t>
            </a:r>
          </a:p>
          <a:p xmlns:a="http://schemas.openxmlformats.org/drawingml/2006/main">
            <a:r>
              <a:t>Question test</a:t>
            </a:r>
          </a:p>
          <a:p xmlns:a="http://schemas.openxmlformats.org/drawingml/2006/main">
            <a:r>
              <a:t>A useful research question is answerable from approved sources, uses neutral language, has a clear science focus and leaves diagnosis, advice and personal disclosure outside the task. If the wording assumes its conclusion, rewrite it before searching.</a:t>
            </a:r>
          </a:p>
          <a:p xmlns:a="http://schemas.openxmlformats.org/drawingml/2006/main">
            <a:r>
              <a:t>How do approved sources explain the inheritance pattern and its uncertainty?</a:t>
            </a:r>
          </a:p>
          <a:p xmlns:a="http://schemas.openxmlformats.org/drawingml/2006/main">
            <a:r>
              <a:t>Who in our class or families may have this condition?</a:t>
            </a:r>
          </a:p>
          <a:p xmlns:a="http://schemas.openxmlformats.org/drawingml/2006/main">
            <a:r>
              <a:t>Can the presentation predict exactly what will happen to one person?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Which question is safer and more scientific: one asking how evidence supports an inheritance explanation, or one asking pupils to disclose family information? Explain the boundary.</a:t>
            </a:r>
          </a:p>
          <a:p xmlns:a="http://schemas.openxmlformats.org/drawingml/2006/main">
            <a:r>
              <a:t>Picture first: a good question is about the biology. Personal and family disclosure is never part of this task.</a:t>
            </a:r>
          </a:p>
          <a:p xmlns:a="http://schemas.openxmlformats.org/drawingml/2006/main">
            <a:r>
              <a:t>Question test</a:t>
            </a:r>
          </a:p>
          <a:p xmlns:a="http://schemas.openxmlformats.org/drawingml/2006/main">
            <a:r>
              <a:t>A useful research question is answerable from approved sources, uses neutral language, has a clear science focus and leaves diagnosis, advice and personal disclosure outside the task. If the wording assumes its conclusion, rewrite it before searching.</a:t>
            </a:r>
          </a:p>
          <a:p xmlns:a="http://schemas.openxmlformats.org/drawingml/2006/main">
            <a:r>
              <a:t>How do approved sources explain the inheritance pattern and its uncertainty?</a:t>
            </a:r>
          </a:p>
          <a:p xmlns:a="http://schemas.openxmlformats.org/drawingml/2006/main">
            <a:r>
              <a:t>Who in our class or families may have this condition?</a:t>
            </a:r>
          </a:p>
          <a:p xmlns:a="http://schemas.openxmlformats.org/drawingml/2006/main">
            <a:r>
              <a:t>Can the presentation predict exactly what will happen to one person?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Which question is safer and more scientific: one asking how evidence supports an inheritance explanation, or one asking pupils to disclose family information? Explain the boundary.</a:t>
            </a:r>
          </a:p>
          <a:p xmlns:a="http://schemas.openxmlformats.org/drawingml/2006/main">
            <a:r>
              <a:t>Picture first: a good question is about the biology. Personal and family disclosure is never part of this task.</a:t>
            </a:r>
          </a:p>
          <a:p xmlns:a="http://schemas.openxmlformats.org/drawingml/2006/main">
            <a:r>
              <a:t>Question test</a:t>
            </a:r>
          </a:p>
          <a:p xmlns:a="http://schemas.openxmlformats.org/drawingml/2006/main">
            <a:r>
              <a:t>A useful research question is answerable from approved sources, uses neutral language, has a clear science focus and leaves diagnosis, advice and personal disclosure outside the task. If the wording assumes its conclusion, rewrite it before searching.</a:t>
            </a:r>
          </a:p>
          <a:p xmlns:a="http://schemas.openxmlformats.org/drawingml/2006/main">
            <a:r>
              <a:t>How do approved sources explain the inheritance pattern and its uncertainty?</a:t>
            </a:r>
          </a:p>
          <a:p xmlns:a="http://schemas.openxmlformats.org/drawingml/2006/main">
            <a:r>
              <a:t>Who in our class or families may have this condition?</a:t>
            </a:r>
          </a:p>
          <a:p xmlns:a="http://schemas.openxmlformats.org/drawingml/2006/main">
            <a:r>
              <a:t>Can the presentation predict exactly what will happen to one person?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Respectful research question checker</a:t>
            </a:r>
          </a:p>
          <a:p xmlns:a="http://schemas.openxmlformats.org/drawingml/2006/main">
            <a:r>
              <a:t>Press a draft question, then judge it. The condition is the one your teacher approved.</a:t>
            </a:r>
          </a:p>
          <a:p xmlns:a="http://schemas.openxmlformats.org/drawingml/2006/main">
            <a:r>
              <a:t>How is the condition inherited, and what does that mean for probability in a Punnett square?</a:t>
            </a:r>
          </a:p>
          <a:p xmlns:a="http://schemas.openxmlformats.org/drawingml/2006/main">
            <a:r>
              <a:t>Who in our class might have it?</a:t>
            </a:r>
          </a:p>
          <a:p xmlns:a="http://schemas.openxmlformats.org/drawingml/2006/main">
            <a:r>
              <a:t>What do school-approved sources say the condition changes in the body, and how is that known?</a:t>
            </a:r>
          </a:p>
          <a:p xmlns:a="http://schemas.openxmlformats.org/drawingml/2006/main">
            <a:r>
              <a:t>Is it their parents’ fault?</a:t>
            </a:r>
          </a:p>
          <a:p xmlns:a="http://schemas.openxmlformats.org/drawingml/2006/main">
            <a:r>
              <a:t>Where do the sources agree and disagree, and what is still uncertain?</a:t>
            </a:r>
          </a:p>
          <a:p xmlns:a="http://schemas.openxmlformats.org/drawingml/2006/main">
            <a:r>
              <a:t>respectful, answerable from biology</a:t>
            </a:r>
          </a:p>
          <a:p xmlns:a="http://schemas.openxmlformats.org/drawingml/2006/main">
            <a:r>
              <a:t>about people, not biology — rewrite</a:t>
            </a:r>
          </a:p>
          <a:p xmlns:a="http://schemas.openxmlformats.org/drawingml/2006/main">
            <a:r>
              <a:t>Press a card.</a:t>
            </a:r>
          </a:p>
          <a:p xmlns:a="http://schemas.openxmlformats.org/drawingml/2006/main">
            <a:r>
              <a:t>Find the C44 purpose: research a genetic condition and present an evidence-led explanation.</a:t>
            </a:r>
          </a:p>
          <a:p xmlns:a="http://schemas.openxmlformats.org/drawingml/2006/main">
            <a:r>
              <a:t>Label the science needed: gene, allele, inheritance pattern, probability, variation and uncertainty at 1BI0 Foundation core.</a:t>
            </a:r>
          </a:p>
          <a:p xmlns:a="http://schemas.openxmlformats.org/drawingml/2006/main">
            <a:r>
              <a:t>Map each part of the question to an approved source field; leave a visible Gap where evidence cannot settle an individual outcome.</a:t>
            </a:r>
          </a:p>
          <a:p xmlns:a="http://schemas.openxmlformats.org/drawingml/2006/main">
            <a:r>
              <a:t>Broad topic “A genetic condition” is a topic, not yet a workable question. It gives no boundary for evidence or presentation.</a:t>
            </a:r>
          </a:p>
          <a:p xmlns:a="http://schemas.openxmlformats.org/drawingml/2006/main">
            <a:r>
              <a:t>Bounded question “How do two approved sources explain the inherited biology, variation and uncertainty?” identifies evidence that can be found and compared.</a:t>
            </a:r>
          </a:p>
          <a:p xmlns:a="http://schemas.openxmlformats.org/drawingml/2006/main">
            <a:r>
              <a:t>Presentation purpose The audience needs a clear Foundation explanation and an honest limit, not a medical profile of a person.</a:t>
            </a:r>
          </a:p>
          <a:p xmlns:a="http://schemas.openxmlformats.org/drawingml/2006/main">
            <a:r>
              <a:t>Success decision The question is ready only when it is neutral, source-answerable, private and precise enough to organise the final explanation.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Respectful research question checker</a:t>
            </a:r>
          </a:p>
          <a:p xmlns:a="http://schemas.openxmlformats.org/drawingml/2006/main">
            <a:r>
              <a:t>Press a draft question, then judge it. The condition is the one your teacher approved.</a:t>
            </a:r>
          </a:p>
          <a:p xmlns:a="http://schemas.openxmlformats.org/drawingml/2006/main">
            <a:r>
              <a:t>How is the condition inherited, and what does that mean for probability in a Punnett square?</a:t>
            </a:r>
          </a:p>
          <a:p xmlns:a="http://schemas.openxmlformats.org/drawingml/2006/main">
            <a:r>
              <a:t>Who in our class might have it?</a:t>
            </a:r>
          </a:p>
          <a:p xmlns:a="http://schemas.openxmlformats.org/drawingml/2006/main">
            <a:r>
              <a:t>What do school-approved sources say the condition changes in the body, and how is that known?</a:t>
            </a:r>
          </a:p>
          <a:p xmlns:a="http://schemas.openxmlformats.org/drawingml/2006/main">
            <a:r>
              <a:t>Is it their parents’ fault?</a:t>
            </a:r>
          </a:p>
          <a:p xmlns:a="http://schemas.openxmlformats.org/drawingml/2006/main">
            <a:r>
              <a:t>Where do the sources agree and disagree, and what is still uncertain?</a:t>
            </a:r>
          </a:p>
          <a:p xmlns:a="http://schemas.openxmlformats.org/drawingml/2006/main">
            <a:r>
              <a:t>respectful, answerable from biology</a:t>
            </a:r>
          </a:p>
          <a:p xmlns:a="http://schemas.openxmlformats.org/drawingml/2006/main">
            <a:r>
              <a:t>about people, not biology — rewrite</a:t>
            </a:r>
          </a:p>
          <a:p xmlns:a="http://schemas.openxmlformats.org/drawingml/2006/main">
            <a:r>
              <a:t>Press a card.</a:t>
            </a:r>
          </a:p>
          <a:p xmlns:a="http://schemas.openxmlformats.org/drawingml/2006/main">
            <a:r>
              <a:t>Find the C44 purpose: research a genetic condition and present an evidence-led explanation.</a:t>
            </a:r>
          </a:p>
          <a:p xmlns:a="http://schemas.openxmlformats.org/drawingml/2006/main">
            <a:r>
              <a:t>Label the science needed: gene, allele, inheritance pattern, probability, variation and uncertainty at 1BI0 Foundation core.</a:t>
            </a:r>
          </a:p>
          <a:p xmlns:a="http://schemas.openxmlformats.org/drawingml/2006/main">
            <a:r>
              <a:t>Map each part of the question to an approved source field; leave a visible Gap where evidence cannot settle an individual outcome.</a:t>
            </a:r>
          </a:p>
          <a:p xmlns:a="http://schemas.openxmlformats.org/drawingml/2006/main">
            <a:r>
              <a:t>Broad topic “A genetic condition” is a topic, not yet a workable question. It gives no boundary for evidence or presentation.</a:t>
            </a:r>
          </a:p>
          <a:p xmlns:a="http://schemas.openxmlformats.org/drawingml/2006/main">
            <a:r>
              <a:t>Bounded question “How do two approved sources explain the inherited biology, variation and uncertainty?” identifies evidence that can be found and compared.</a:t>
            </a:r>
          </a:p>
          <a:p xmlns:a="http://schemas.openxmlformats.org/drawingml/2006/main">
            <a:r>
              <a:t>Presentation purpose The audience needs a clear Foundation explanation and an honest limit, not a medical profile of a person.</a:t>
            </a:r>
          </a:p>
          <a:p xmlns:a="http://schemas.openxmlformats.org/drawingml/2006/main">
            <a:r>
              <a:t>Success decision The question is ready only when it is neutral, source-answerable, private and precise enough to organise the final explanation.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Respectful research question checker</a:t>
            </a:r>
          </a:p>
          <a:p xmlns:a="http://schemas.openxmlformats.org/drawingml/2006/main">
            <a:r>
              <a:t>Press a draft question, then judge it. The condition is the one your teacher approved.</a:t>
            </a:r>
          </a:p>
          <a:p xmlns:a="http://schemas.openxmlformats.org/drawingml/2006/main">
            <a:r>
              <a:t>How is the condition inherited, and what does that mean for probability in a Punnett square?</a:t>
            </a:r>
          </a:p>
          <a:p xmlns:a="http://schemas.openxmlformats.org/drawingml/2006/main">
            <a:r>
              <a:t>Who in our class might have it?</a:t>
            </a:r>
          </a:p>
          <a:p xmlns:a="http://schemas.openxmlformats.org/drawingml/2006/main">
            <a:r>
              <a:t>What do school-approved sources say the condition changes in the body, and how is that known?</a:t>
            </a:r>
          </a:p>
          <a:p xmlns:a="http://schemas.openxmlformats.org/drawingml/2006/main">
            <a:r>
              <a:t>Is it their parents’ fault?</a:t>
            </a:r>
          </a:p>
          <a:p xmlns:a="http://schemas.openxmlformats.org/drawingml/2006/main">
            <a:r>
              <a:t>Where do the sources agree and disagree, and what is still uncertain?</a:t>
            </a:r>
          </a:p>
          <a:p xmlns:a="http://schemas.openxmlformats.org/drawingml/2006/main">
            <a:r>
              <a:t>respectful, answerable from biology</a:t>
            </a:r>
          </a:p>
          <a:p xmlns:a="http://schemas.openxmlformats.org/drawingml/2006/main">
            <a:r>
              <a:t>about people, not biology — rewrite</a:t>
            </a:r>
          </a:p>
          <a:p xmlns:a="http://schemas.openxmlformats.org/drawingml/2006/main">
            <a:r>
              <a:t>Press a card.</a:t>
            </a:r>
          </a:p>
          <a:p xmlns:a="http://schemas.openxmlformats.org/drawingml/2006/main">
            <a:r>
              <a:t>Find the C44 purpose: research a genetic condition and present an evidence-led explanation.</a:t>
            </a:r>
          </a:p>
          <a:p xmlns:a="http://schemas.openxmlformats.org/drawingml/2006/main">
            <a:r>
              <a:t>Label the science needed: gene, allele, inheritance pattern, probability, variation and uncertainty at 1BI0 Foundation core.</a:t>
            </a:r>
          </a:p>
          <a:p xmlns:a="http://schemas.openxmlformats.org/drawingml/2006/main">
            <a:r>
              <a:t>Map each part of the question to an approved source field; leave a visible Gap where evidence cannot settle an individual outcome.</a:t>
            </a:r>
          </a:p>
          <a:p xmlns:a="http://schemas.openxmlformats.org/drawingml/2006/main">
            <a:r>
              <a:t>Broad topic “A genetic condition” is a topic, not yet a workable question. It gives no boundary for evidence or presentation.</a:t>
            </a:r>
          </a:p>
          <a:p xmlns:a="http://schemas.openxmlformats.org/drawingml/2006/main">
            <a:r>
              <a:t>Bounded question “How do two approved sources explain the inherited biology, variation and uncertainty?” identifies evidence that can be found and compared.</a:t>
            </a:r>
          </a:p>
          <a:p xmlns:a="http://schemas.openxmlformats.org/drawingml/2006/main">
            <a:r>
              <a:t>Presentation purpose The audience needs a clear Foundation explanation and an honest limit, not a medical profile of a person.</a:t>
            </a:r>
          </a:p>
          <a:p xmlns:a="http://schemas.openxmlformats.org/drawingml/2006/main">
            <a:r>
              <a:t>Success decision The question is ready only when it is neutral, source-answerable, private and precise enough to organise the final explanation.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Respectful research question checker</a:t>
            </a:r>
          </a:p>
          <a:p xmlns:a="http://schemas.openxmlformats.org/drawingml/2006/main">
            <a:r>
              <a:t>Press a draft question, then judge it. The condition is the one your teacher approved.</a:t>
            </a:r>
          </a:p>
          <a:p xmlns:a="http://schemas.openxmlformats.org/drawingml/2006/main">
            <a:r>
              <a:t>How is the condition inherited, and what does that mean for probability in a Punnett square?</a:t>
            </a:r>
          </a:p>
          <a:p xmlns:a="http://schemas.openxmlformats.org/drawingml/2006/main">
            <a:r>
              <a:t>Who in our class might have it?</a:t>
            </a:r>
          </a:p>
          <a:p xmlns:a="http://schemas.openxmlformats.org/drawingml/2006/main">
            <a:r>
              <a:t>What do school-approved sources say the condition changes in the body, and how is that known?</a:t>
            </a:r>
          </a:p>
          <a:p xmlns:a="http://schemas.openxmlformats.org/drawingml/2006/main">
            <a:r>
              <a:t>Is it their parents’ fault?</a:t>
            </a:r>
          </a:p>
          <a:p xmlns:a="http://schemas.openxmlformats.org/drawingml/2006/main">
            <a:r>
              <a:t>Where do the sources agree and disagree, and what is still uncertain?</a:t>
            </a:r>
          </a:p>
          <a:p xmlns:a="http://schemas.openxmlformats.org/drawingml/2006/main">
            <a:r>
              <a:t>respectful, answerable from biology</a:t>
            </a:r>
          </a:p>
          <a:p xmlns:a="http://schemas.openxmlformats.org/drawingml/2006/main">
            <a:r>
              <a:t>about people, not biology — rewrite</a:t>
            </a:r>
          </a:p>
          <a:p xmlns:a="http://schemas.openxmlformats.org/drawingml/2006/main">
            <a:r>
              <a:t>Press a card.</a:t>
            </a:r>
          </a:p>
          <a:p xmlns:a="http://schemas.openxmlformats.org/drawingml/2006/main">
            <a:r>
              <a:t>Find the C44 purpose: research a genetic condition and present an evidence-led explanation.</a:t>
            </a:r>
          </a:p>
          <a:p xmlns:a="http://schemas.openxmlformats.org/drawingml/2006/main">
            <a:r>
              <a:t>Label the science needed: gene, allele, inheritance pattern, probability, variation and uncertainty at 1BI0 Foundation core.</a:t>
            </a:r>
          </a:p>
          <a:p xmlns:a="http://schemas.openxmlformats.org/drawingml/2006/main">
            <a:r>
              <a:t>Map each part of the question to an approved source field; leave a visible Gap where evidence cannot settle an individual outcome.</a:t>
            </a:r>
          </a:p>
          <a:p xmlns:a="http://schemas.openxmlformats.org/drawingml/2006/main">
            <a:r>
              <a:t>Broad topic “A genetic condition” is a topic, not yet a workable question. It gives no boundary for evidence or presentation.</a:t>
            </a:r>
          </a:p>
          <a:p xmlns:a="http://schemas.openxmlformats.org/drawingml/2006/main">
            <a:r>
              <a:t>Bounded question “How do two approved sources explain the inherited biology, variation and uncertainty?” identifies evidence that can be found and compared.</a:t>
            </a:r>
          </a:p>
          <a:p xmlns:a="http://schemas.openxmlformats.org/drawingml/2006/main">
            <a:r>
              <a:t>Presentation purpose The audience needs a clear Foundation explanation and an honest limit, not a medical profile of a person.</a:t>
            </a:r>
          </a:p>
          <a:p xmlns:a="http://schemas.openxmlformats.org/drawingml/2006/main">
            <a:r>
              <a:t>Success decision The question is ready only when it is neutral, source-answerable, private and precise enough to organise the final explanation.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Select the checks that make a source useful for this question, not merely easy to read.</a:t>
            </a:r>
          </a:p>
          <a:p xmlns:a="http://schemas.openxmlformats.org/drawingml/2006/main">
            <a:r>
              <a:t>Authority Who published the item, for what audience, and under what scientific or public-information responsibility?</a:t>
            </a:r>
          </a:p>
          <a:p xmlns:a="http://schemas.openxmlformats.org/drawingml/2006/main">
            <a:r>
              <a:t>Currency What date or review date is visible? A date helps locate the item; it does not make every claim correct.</a:t>
            </a:r>
          </a:p>
          <a:p xmlns:a="http://schemas.openxmlformats.org/drawingml/2006/main">
            <a:r>
              <a:t>Relevance Which exact part answers the bounded inheritance question? Do not collect an entire page when one defined idea is needed.</a:t>
            </a:r>
          </a:p>
          <a:p xmlns:a="http://schemas.openxmlformats.org/drawingml/2006/main">
            <a:r>
              <a:t>Boundary Does the source explain biology without inviting self-diagnosis, personal disclosure or unqualified advice?</a:t>
            </a:r>
          </a:p>
          <a:p xmlns:a="http://schemas.openxmlformats.org/drawingml/2006/main">
            <a:r>
              <a:t>A school-approved source set narrows access safely. The learner still makes the scientific choice, records why the source is relevant and keeps one uncertainty visible.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Select the checks that make a source useful for this question, not merely easy to read.</a:t>
            </a:r>
          </a:p>
          <a:p xmlns:a="http://schemas.openxmlformats.org/drawingml/2006/main">
            <a:r>
              <a:t>Authority Who published the item, for what audience, and under what scientific or public-information responsibility?</a:t>
            </a:r>
          </a:p>
          <a:p xmlns:a="http://schemas.openxmlformats.org/drawingml/2006/main">
            <a:r>
              <a:t>Currency What date or review date is visible? A date helps locate the item; it does not make every claim correct.</a:t>
            </a:r>
          </a:p>
          <a:p xmlns:a="http://schemas.openxmlformats.org/drawingml/2006/main">
            <a:r>
              <a:t>Relevance Which exact part answers the bounded inheritance question? Do not collect an entire page when one defined idea is needed.</a:t>
            </a:r>
          </a:p>
          <a:p xmlns:a="http://schemas.openxmlformats.org/drawingml/2006/main">
            <a:r>
              <a:t>Boundary Does the source explain biology without inviting self-diagnosis, personal disclosure or unqualified advice?</a:t>
            </a:r>
          </a:p>
          <a:p xmlns:a="http://schemas.openxmlformats.org/drawingml/2006/main">
            <a:r>
              <a:t>A school-approved source set narrows access safely. The learner still makes the scientific choice, records why the source is relevant and keeps one uncertainty visible.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Use neutral language: a person with a condition, unless a teacher-approved source explains a community preference.</a:t>
            </a:r>
          </a:p>
          <a:p xmlns:a="http://schemas.openxmlformats.org/drawingml/2006/main">
            <a:r>
              <a:t>Separate inheritance probability from certainty about any individual person.</a:t>
            </a:r>
          </a:p>
          <a:p xmlns:a="http://schemas.openxmlformats.org/drawingml/2006/main">
            <a:r>
              <a:t>Keep medical decisions, diagnosis and personal advice outside the task.</a:t>
            </a:r>
          </a:p>
          <a:p xmlns:a="http://schemas.openxmlformats.org/drawingml/2006/main">
            <a:r>
              <a:t>Inside C44 Explain inherited biology, compare approved evidence, credit sources, present variation and state uncertainty.</a:t>
            </a:r>
          </a:p>
          <a:p xmlns:a="http://schemas.openxmlformats.org/drawingml/2006/main">
            <a:r>
              <a:t>Outside C44 Ask about symptoms, test results, family history, treatment choices or whether a named person has a condition.</a:t>
            </a:r>
          </a:p>
          <a:p xmlns:a="http://schemas.openxmlformats.org/drawingml/2006/main">
            <a:r>
              <a:t>Repair move Replace personal wording with “What do approved sources explain?” and replace certainty with an evidence-bounded probability statement.</a:t>
            </a:r>
          </a:p>
          <a:p xmlns:a="http://schemas.openxmlformats.org/drawingml/2006/main">
            <a:r>
              <a:t>Escalation If a pupil raises a personal concern, pause the public task and use the school's approved safeguarding or health-support route.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Use neutral language: a person with a condition, unless a teacher-approved source explains a community preference.</a:t>
            </a:r>
          </a:p>
          <a:p xmlns:a="http://schemas.openxmlformats.org/drawingml/2006/main">
            <a:r>
              <a:t>Separate inheritance probability from certainty about any individual person.</a:t>
            </a:r>
          </a:p>
          <a:p xmlns:a="http://schemas.openxmlformats.org/drawingml/2006/main">
            <a:r>
              <a:t>Keep medical decisions, diagnosis and personal advice outside the task.</a:t>
            </a:r>
          </a:p>
          <a:p xmlns:a="http://schemas.openxmlformats.org/drawingml/2006/main">
            <a:r>
              <a:t>Inside C44 Explain inherited biology, compare approved evidence, credit sources, present variation and state uncertainty.</a:t>
            </a:r>
          </a:p>
          <a:p xmlns:a="http://schemas.openxmlformats.org/drawingml/2006/main">
            <a:r>
              <a:t>Outside C44 Ask about symptoms, test results, family history, treatment choices or whether a named person has a condition.</a:t>
            </a:r>
          </a:p>
          <a:p xmlns:a="http://schemas.openxmlformats.org/drawingml/2006/main">
            <a:r>
              <a:t>Repair move Replace personal wording with “What do approved sources explain?” and replace certainty with an evidence-bounded probability statement.</a:t>
            </a:r>
          </a:p>
          <a:p xmlns:a="http://schemas.openxmlformats.org/drawingml/2006/main">
            <a:r>
              <a:t>Escalation If a pupil raises a personal concern, pause the public task and use the school's approved safeguarding or health-support route.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Write a bounded question and identify two teacher-approved source cards or locally saved extracts.</a:t>
            </a:r>
          </a:p>
          <a:p xmlns:a="http://schemas.openxmlformats.org/drawingml/2006/main">
            <a:r>
              <a:t>2 · Connect</a:t>
            </a:r>
          </a:p>
          <a:p xmlns:a="http://schemas.openxmlformats.org/drawingml/2006/main">
            <a:r>
              <a:t>Match each source type to one science field: inherited biology, probability, variation, evidence or uncertainty.</a:t>
            </a:r>
          </a:p>
          <a:p xmlns:a="http://schemas.openxmlformats.org/drawingml/2006/main">
            <a:r>
              <a:t>3 · Limit</a:t>
            </a:r>
          </a:p>
          <a:p xmlns:a="http://schemas.openxmlformats.org/drawingml/2006/main">
            <a:r>
              <a:t>Write one statement the sources must not be used to make about an individual person.</a:t>
            </a:r>
          </a:p>
          <a:p xmlns:a="http://schemas.openxmlformats.org/drawingml/2006/main">
            <a:r>
              <a:t>Keywords Use the approved condition name plus inheritance, gene or allele, evidence, probability and variation. Avoid a real person's name or family detail.</a:t>
            </a:r>
          </a:p>
          <a:p xmlns:a="http://schemas.openxmlformats.org/drawingml/2006/main">
            <a:r>
              <a:t>Source record Prepare fields for publisher, title, date or review date, purpose, local locator and the exact idea used.</a:t>
            </a:r>
          </a:p>
          <a:p xmlns:a="http://schemas.openxmlformats.org/drawingml/2006/main">
            <a:r>
              <a:t>Two-source reason One source can be incomplete. A second source allows agreement, emphasis and uncertainty to be compared rather than copied.</a:t>
            </a:r>
          </a:p>
          <a:p xmlns:a="http://schemas.openxmlformats.org/drawingml/2006/main">
            <a:r>
              <a:t>Presentation route Decide whether the final explanation will be a private talk, four-panel card, narrated local slide or another agreed accessible form.</a:t>
            </a:r>
          </a:p>
          <a:p xmlns:a="http://schemas.openxmlformats.org/drawingml/2006/main">
            <a:r>
              <a:t>Current-main LAUNCH Science W12 DNA and W13 inheritance lessons, pack curriculum alignment, and teacher-approved local source cards; the HTML opens no live URL.</a:t>
            </a:r>
          </a:p>
          <a:p xmlns:a="http://schemas.openxmlformats.org/drawingml/2006/main">
            <a:r>
              <a:t>Rehearse the plan aloud or by pointing. The audience checks whether every field serves C44 and whether privacy, respect and evidence limits are explicit before the independent brief begins.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Write a bounded question and identify two teacher-approved source cards or locally saved extracts.</a:t>
            </a:r>
          </a:p>
          <a:p xmlns:a="http://schemas.openxmlformats.org/drawingml/2006/main">
            <a:r>
              <a:t>2 · Connect</a:t>
            </a:r>
          </a:p>
          <a:p xmlns:a="http://schemas.openxmlformats.org/drawingml/2006/main">
            <a:r>
              <a:t>Match each source type to one science field: inherited biology, probability, variation, evidence or uncertainty.</a:t>
            </a:r>
          </a:p>
          <a:p xmlns:a="http://schemas.openxmlformats.org/drawingml/2006/main">
            <a:r>
              <a:t>3 · Limit</a:t>
            </a:r>
          </a:p>
          <a:p xmlns:a="http://schemas.openxmlformats.org/drawingml/2006/main">
            <a:r>
              <a:t>Write one statement the sources must not be used to make about an individual person.</a:t>
            </a:r>
          </a:p>
          <a:p xmlns:a="http://schemas.openxmlformats.org/drawingml/2006/main">
            <a:r>
              <a:t>Keywords Use the approved condition name plus inheritance, gene or allele, evidence, probability and variation. Avoid a real person's name or family detail.</a:t>
            </a:r>
          </a:p>
          <a:p xmlns:a="http://schemas.openxmlformats.org/drawingml/2006/main">
            <a:r>
              <a:t>Source record Prepare fields for publisher, title, date or review date, purpose, local locator and the exact idea used.</a:t>
            </a:r>
          </a:p>
          <a:p xmlns:a="http://schemas.openxmlformats.org/drawingml/2006/main">
            <a:r>
              <a:t>Two-source reason One source can be incomplete. A second source allows agreement, emphasis and uncertainty to be compared rather than copied.</a:t>
            </a:r>
          </a:p>
          <a:p xmlns:a="http://schemas.openxmlformats.org/drawingml/2006/main">
            <a:r>
              <a:t>Presentation route Decide whether the final explanation will be a private talk, four-panel card, narrated local slide or another agreed accessible form.</a:t>
            </a:r>
          </a:p>
          <a:p xmlns:a="http://schemas.openxmlformats.org/drawingml/2006/main">
            <a:r>
              <a:t>Current-main LAUNCH Science W12 DNA and W13 inheritance lessons, pack curriculum alignment, and teacher-approved local source cards; the HTML opens no live URL.</a:t>
            </a:r>
          </a:p>
          <a:p xmlns:a="http://schemas.openxmlformats.org/drawingml/2006/main">
            <a:r>
              <a:t>Rehearse the plan aloud or by pointing. The audience checks whether every field serves C44 and whether privacy, respect and evidence limits are explicit before the independent brief begins.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Write a bounded question and identify two teacher-approved source cards or locally saved extracts.</a:t>
            </a:r>
          </a:p>
          <a:p xmlns:a="http://schemas.openxmlformats.org/drawingml/2006/main">
            <a:r>
              <a:t>2 · Connect</a:t>
            </a:r>
          </a:p>
          <a:p xmlns:a="http://schemas.openxmlformats.org/drawingml/2006/main">
            <a:r>
              <a:t>Match each source type to one science field: inherited biology, probability, variation, evidence or uncertainty.</a:t>
            </a:r>
          </a:p>
          <a:p xmlns:a="http://schemas.openxmlformats.org/drawingml/2006/main">
            <a:r>
              <a:t>3 · Limit</a:t>
            </a:r>
          </a:p>
          <a:p xmlns:a="http://schemas.openxmlformats.org/drawingml/2006/main">
            <a:r>
              <a:t>Write one statement the sources must not be used to make about an individual person.</a:t>
            </a:r>
          </a:p>
          <a:p xmlns:a="http://schemas.openxmlformats.org/drawingml/2006/main">
            <a:r>
              <a:t>Keywords Use the approved condition name plus inheritance, gene or allele, evidence, probability and variation. Avoid a real person's name or family detail.</a:t>
            </a:r>
          </a:p>
          <a:p xmlns:a="http://schemas.openxmlformats.org/drawingml/2006/main">
            <a:r>
              <a:t>Source record Prepare fields for publisher, title, date or review date, purpose, local locator and the exact idea used.</a:t>
            </a:r>
          </a:p>
          <a:p xmlns:a="http://schemas.openxmlformats.org/drawingml/2006/main">
            <a:r>
              <a:t>Two-source reason One source can be incomplete. A second source allows agreement, emphasis and uncertainty to be compared rather than copied.</a:t>
            </a:r>
          </a:p>
          <a:p xmlns:a="http://schemas.openxmlformats.org/drawingml/2006/main">
            <a:r>
              <a:t>Presentation route Decide whether the final explanation will be a private talk, four-panel card, narrated local slide or another agreed accessible form.</a:t>
            </a:r>
          </a:p>
          <a:p xmlns:a="http://schemas.openxmlformats.org/drawingml/2006/main">
            <a:r>
              <a:t>Current-main LAUNCH Science W12 DNA and W13 inheritance lessons, pack curriculum alignment, and teacher-approved local source cards; the HTML opens no live URL.</a:t>
            </a:r>
          </a:p>
          <a:p xmlns:a="http://schemas.openxmlformats.org/drawingml/2006/main">
            <a:r>
              <a:t>Rehearse the plan aloud or by pointing. The audience checks whether every field serves C44 and whether privacy, respect and evidence limits are explicit before the independent brief begins.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research brief for one teacher-approved genetic condition using no personal or family data. Record the question, keywords, two approved source types, the evidence categories required, a respectful-language check and one uncertainty that must remain visible.</a:t>
            </a:r>
          </a:p>
          <a:p xmlns:a="http://schemas.openxmlformats.org/drawingml/2006/main">
            <a:r>
              <a:t>A · Question Write one neutral, source-answerable question. Underline the science concept and circle the word that keeps the claim bounded.</a:t>
            </a:r>
          </a:p>
          <a:p xmlns:a="http://schemas.openxmlformats.org/drawingml/2006/main">
            <a:r>
              <a:t>B · Search map List two approved source types and the field each must answer. Add publisher, date, purpose and local locator boxes.</a:t>
            </a:r>
          </a:p>
          <a:p xmlns:a="http://schemas.openxmlformats.org/drawingml/2006/main">
            <a:r>
              <a:t>C · Evidence categories Prepare headings for inherited biology, source evidence, probability, variation, lived-experience variation and uncertainty.</a:t>
            </a:r>
          </a:p>
          <a:p xmlns:a="http://schemas.openxmlformats.org/drawingml/2006/main">
            <a:r>
              <a:t>D · Privacy test Check that the plan requests no pupil or family history, diagnosis, symptoms, test results, treatment choice or medical advice.</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Stretch</a:t>
            </a:r>
          </a:p>
          <a:p xmlns:a="http://schemas.openxmlformats.org/drawingml/2006/main">
            <a:r>
              <a:t>Compare how question wording could bias the search, then design a neutral alternative and an uncertainty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research brief for one teacher-approved genetic condition using no personal or family data. Record the question, keywords, two approved source types, the evidence categories required, a respectful-language check and one uncertainty that must remain visible.</a:t>
            </a:r>
          </a:p>
          <a:p xmlns:a="http://schemas.openxmlformats.org/drawingml/2006/main">
            <a:r>
              <a:t>A · Question Write one neutral, source-answerable question. Underline the science concept and circle the word that keeps the claim bounded.</a:t>
            </a:r>
          </a:p>
          <a:p xmlns:a="http://schemas.openxmlformats.org/drawingml/2006/main">
            <a:r>
              <a:t>B · Search map List two approved source types and the field each must answer. Add publisher, date, purpose and local locator boxes.</a:t>
            </a:r>
          </a:p>
          <a:p xmlns:a="http://schemas.openxmlformats.org/drawingml/2006/main">
            <a:r>
              <a:t>C · Evidence categories Prepare headings for inherited biology, source evidence, probability, variation, lived-experience variation and uncertainty.</a:t>
            </a:r>
          </a:p>
          <a:p xmlns:a="http://schemas.openxmlformats.org/drawingml/2006/main">
            <a:r>
              <a:t>D · Privacy test Check that the plan requests no pupil or family history, diagnosis, symptoms, test results, treatment choice or medical advice.</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Stretch</a:t>
            </a:r>
          </a:p>
          <a:p xmlns:a="http://schemas.openxmlformats.org/drawingml/2006/main">
            <a:r>
              <a:t>Compare how question wording could bias the search, then design a neutral alternative and an uncertainty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research brief for one teacher-approved genetic condition using no personal or family data. Record the question, keywords, two approved source types, the evidence categories required, a respectful-language check and one uncertainty that must remain visible.</a:t>
            </a:r>
          </a:p>
          <a:p xmlns:a="http://schemas.openxmlformats.org/drawingml/2006/main">
            <a:r>
              <a:t>A · Question Write one neutral, source-answerable question. Underline the science concept and circle the word that keeps the claim bounded.</a:t>
            </a:r>
          </a:p>
          <a:p xmlns:a="http://schemas.openxmlformats.org/drawingml/2006/main">
            <a:r>
              <a:t>B · Search map List two approved source types and the field each must answer. Add publisher, date, purpose and local locator boxes.</a:t>
            </a:r>
          </a:p>
          <a:p xmlns:a="http://schemas.openxmlformats.org/drawingml/2006/main">
            <a:r>
              <a:t>C · Evidence categories Prepare headings for inherited biology, source evidence, probability, variation, lived-experience variation and uncertainty.</a:t>
            </a:r>
          </a:p>
          <a:p xmlns:a="http://schemas.openxmlformats.org/drawingml/2006/main">
            <a:r>
              <a:t>D · Privacy test Check that the plan requests no pupil or family history, diagnosis, symptoms, test results, treatment choice or medical advice.</a:t>
            </a:r>
          </a:p>
          <a:p xmlns:a="http://schemas.openxmlformats.org/drawingml/2006/main">
            <a:r>
              <a:t>◆ Supported</a:t>
            </a:r>
          </a:p>
          <a:p xmlns:a="http://schemas.openxmlformats.org/drawingml/2006/main">
            <a:r>
              <a:t>Choose a teacher-approved question frame and two prepared source cards; identify what each source can answer.</a:t>
            </a:r>
          </a:p>
          <a:p xmlns:a="http://schemas.openxmlformats.org/drawingml/2006/main">
            <a:r>
              <a:t>▲ Standard</a:t>
            </a:r>
          </a:p>
          <a:p xmlns:a="http://schemas.openxmlformats.org/drawingml/2006/main">
            <a:r>
              <a:t>Refine a bounded question, plan two-source triangulation and identify one privacy or interpretation risk.</a:t>
            </a:r>
          </a:p>
          <a:p xmlns:a="http://schemas.openxmlformats.org/drawingml/2006/main">
            <a:r>
              <a:t>Stretch</a:t>
            </a:r>
          </a:p>
          <a:p xmlns:a="http://schemas.openxmlformats.org/drawingml/2006/main">
            <a:r>
              <a:t>Compare how question wording could bias the search, then design a neutral alternative and an uncertainty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W14L2 applies the plan to compare and record evidence from the approved source set.</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Submit the question and source plan privately. State one claim the research may support and one claim it must not make.</a:t>
            </a:r>
          </a:p>
          <a:p xmlns:a="http://schemas.openxmlformats.org/drawingml/2006/main">
            <a:r>
              <a:t>Evidence link Complete: “My question asks … The first approved source should help because …”</a:t>
            </a:r>
          </a:p>
          <a:p xmlns:a="http://schemas.openxmlformats.org/drawingml/2006/main">
            <a:r>
              <a:t>Honest limit Complete: “The research cannot decide … about one individual person.”</a:t>
            </a:r>
          </a:p>
          <a:p xmlns:a="http://schemas.openxmlformats.org/drawingml/2006/main">
            <a:r>
              <a:t>Next action Name the first source field to complete in W14L2 and the locator that will keep it checkable.</a:t>
            </a:r>
          </a:p>
          <a:p xmlns:a="http://schemas.openxmlformats.org/drawingml/2006/main">
            <a:r>
              <a:t>Audience response The adult names back the question and privacy boundary, then gives a realistic report-back point.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SCI_L_W14L1_Genetic_Condition_Research_Introduce.html.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W14L2 applies the plan to compare and record evidence from the approved source set.</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Submit the question and source plan privately. State one claim the research may support and one claim it must not make.</a:t>
            </a:r>
          </a:p>
          <a:p xmlns:a="http://schemas.openxmlformats.org/drawingml/2006/main">
            <a:r>
              <a:t>Evidence link Complete: “My question asks … The first approved source should help because …”</a:t>
            </a:r>
          </a:p>
          <a:p xmlns:a="http://schemas.openxmlformats.org/drawingml/2006/main">
            <a:r>
              <a:t>Honest limit Complete: “The research cannot decide … about one individual person.”</a:t>
            </a:r>
          </a:p>
          <a:p xmlns:a="http://schemas.openxmlformats.org/drawingml/2006/main">
            <a:r>
              <a:t>Next action Name the first source field to complete in W14L2 and the locator that will keep it checkable.</a:t>
            </a:r>
          </a:p>
          <a:p xmlns:a="http://schemas.openxmlformats.org/drawingml/2006/main">
            <a:r>
              <a:t>Audience response The adult names back the question and privacy boundary, then gives a realistic report-back point.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SCI_L_W14L1_Genetic_Condition_Research_Introduce.html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470b78183044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5ab09c4aba4f14" /><Relationship Type="http://schemas.openxmlformats.org/officeDocument/2006/relationships/slideLayout" Target="/ppt/slideLayouts/slideLayout1.xml" Id="R94a44afaf40c43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a44afaf40c43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3aec9dee534f2c" /><Relationship Type="http://schemas.openxmlformats.org/officeDocument/2006/relationships/hyperlink" Target="SCI_L_W14L1_Genetic_Condition_Research_Introduce.html" TargetMode="External" Id="R118f115d47bd4c2a" /><Relationship Type="http://schemas.openxmlformats.org/officeDocument/2006/relationships/notesSlide" Target="/ppt/notesSlides/notesSlide1.xml" Id="R90459d923e4542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a7f4595bad4ef9" /><Relationship Type="http://schemas.openxmlformats.org/officeDocument/2006/relationships/notesSlide" Target="/ppt/notesSlides/notesSlide2.xml" Id="Rb63a242b516043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54d1ce35f846c6" /><Relationship Type="http://schemas.openxmlformats.org/officeDocument/2006/relationships/notesSlide" Target="/ppt/notesSlides/notesSlide3.xml" Id="R50897541c4dc4c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f1eb5813624b03" /><Relationship Type="http://schemas.openxmlformats.org/officeDocument/2006/relationships/notesSlide" Target="/ppt/notesSlides/notesSlide4.xml" Id="R01a587c60c5846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402b34d02a453c" /><Relationship Type="http://schemas.openxmlformats.org/officeDocument/2006/relationships/notesSlide" Target="/ppt/notesSlides/notesSlide5.xml" Id="R9340c0257cd348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95c251acda4eee" /><Relationship Type="http://schemas.openxmlformats.org/officeDocument/2006/relationships/notesSlide" Target="/ppt/notesSlides/notesSlide6.xml" Id="R204983e466174e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9287b8d6f445e2" /><Relationship Type="http://schemas.openxmlformats.org/officeDocument/2006/relationships/image" Target="/ppt/media/image.png" Id="R882fbd55eefd48dd" /><Relationship Type="http://schemas.openxmlformats.org/officeDocument/2006/relationships/notesSlide" Target="/ppt/notesSlides/notesSlide7.xml" Id="Rdd799402e3c846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6ebb663c4e4816" /><Relationship Type="http://schemas.openxmlformats.org/officeDocument/2006/relationships/notesSlide" Target="/ppt/notesSlides/notesSlide8.xml" Id="R7c2e2a0d268d4e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450c85a9514169" /><Relationship Type="http://schemas.openxmlformats.org/officeDocument/2006/relationships/notesSlide" Target="/ppt/notesSlides/notesSlide9.xml" Id="Re36bc8c93d284e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19d454e9cf4304" /><Relationship Type="http://schemas.openxmlformats.org/officeDocument/2006/relationships/notesSlide" Target="/ppt/notesSlides/notesSlide10.xml" Id="R748128b7df3040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2a72fc6abd44f4" /><Relationship Type="http://schemas.openxmlformats.org/officeDocument/2006/relationships/notesSlide" Target="/ppt/notesSlides/notesSlide11.xml" Id="R848f29d9adb648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d18b3daa3d43d4" /><Relationship Type="http://schemas.openxmlformats.org/officeDocument/2006/relationships/notesSlide" Target="/ppt/notesSlides/notesSlide12.xml" Id="R98750192c4fb42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ee10a4f698b4be7" /><Relationship Type="http://schemas.openxmlformats.org/officeDocument/2006/relationships/notesSlide" Target="/ppt/notesSlides/notesSlide13.xml" Id="R388389de05e84d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7e0a18f1db417d" /><Relationship Type="http://schemas.openxmlformats.org/officeDocument/2006/relationships/notesSlide" Target="/ppt/notesSlides/notesSlide14.xml" Id="R86f02e7c96f84e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9d1eb2090a4e31" /><Relationship Type="http://schemas.openxmlformats.org/officeDocument/2006/relationships/notesSlide" Target="/ppt/notesSlides/notesSlide15.xml" Id="R06005aa7cc0945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ee5d25a7c94095" /><Relationship Type="http://schemas.openxmlformats.org/officeDocument/2006/relationships/notesSlide" Target="/ppt/notesSlides/notesSlide16.xml" Id="R1e8425cfa5184c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e1f5317d574131" /><Relationship Type="http://schemas.openxmlformats.org/officeDocument/2006/relationships/notesSlide" Target="/ppt/notesSlides/notesSlide17.xml" Id="R3075885fe6a645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e53c41d72841f7" /><Relationship Type="http://schemas.openxmlformats.org/officeDocument/2006/relationships/notesSlide" Target="/ppt/notesSlides/notesSlide18.xml" Id="Rdc38d490a9724f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b7f8b17da5846d3" /><Relationship Type="http://schemas.openxmlformats.org/officeDocument/2006/relationships/notesSlide" Target="/ppt/notesSlides/notesSlide19.xml" Id="Rba47a1e1d41049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e7cde50e2442d3" /><Relationship Type="http://schemas.openxmlformats.org/officeDocument/2006/relationships/notesSlide" Target="/ppt/notesSlides/notesSlide20.xml" Id="Rb2a44393464447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e2dcd7ce2a44d3b" /><Relationship Type="http://schemas.openxmlformats.org/officeDocument/2006/relationships/notesSlide" Target="/ppt/notesSlides/notesSlide21.xml" Id="R391cc9899a0942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287a704f0f04f67" /><Relationship Type="http://schemas.openxmlformats.org/officeDocument/2006/relationships/notesSlide" Target="/ppt/notesSlides/notesSlide22.xml" Id="Ra6355a829b784e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a7d596fb47749b6" /><Relationship Type="http://schemas.openxmlformats.org/officeDocument/2006/relationships/notesSlide" Target="/ppt/notesSlides/notesSlide23.xml" Id="R75fb6da12e874110"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E155F89B-7C24-4958-AD7F-67BADC1805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918B23A-10FA-4B00-987C-61128E79494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0305D21-0DAC-4F67-999E-E01476DC5C4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1C4C3968-4227-48F7-B4E0-71D598F672A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Genetic Conditions: Frame a Safe Research Question</a:t>
            </a:r>
          </a:p>
        </p:txBody>
      </p:sp>
      <p:sp>
        <p:nvSpPr>
          <p:cNvPr id="5" name="paper panel">
            <a:extLst xmlns:a="http://schemas.openxmlformats.org/drawingml/2006/main">
              <a:ext uri="{FF2B5EF4-FFF2-40B4-BE49-F238E27FC236}">
                <a16:creationId xmlns:a16="http://schemas.microsoft.com/office/drawing/2014/main" id="{E0FB68AE-3205-42D0-8589-BC3B106551B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8C2014AC-365C-4B80-BEBB-40B4F7E48A8F}"/>
              </a:ext>
            </a:extLst>
          </p:cNvPr>
          <p:cNvSpPr>
            <a:spLocks xmlns:a="http://schemas.openxmlformats.org/drawingml/2006/main" noGrp="1"/>
          </p:cNvSpPr>
          <p:nvPr/>
        </p:nvSpPr>
        <p:spPr>
          <a:xfrm xmlns:a="http://schemas.openxmlformats.org/drawingml/2006/main">
            <a:off x="762000" y="2181225"/>
            <a:ext cx="103822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turn the SoW topic into a respectful research question, plan a school-approved source search, and separate biological explanation from personal or medical claims.</a:t>
            </a:r>
          </a:p>
        </p:txBody>
      </p:sp>
      <p:sp>
        <p:nvSpPr>
          <p:cNvPr id="7" name="HTML link">
            <a:extLst xmlns:a="http://schemas.openxmlformats.org/drawingml/2006/main">
              <a:ext uri="{FF2B5EF4-FFF2-40B4-BE49-F238E27FC236}">
                <a16:creationId xmlns:a16="http://schemas.microsoft.com/office/drawing/2014/main" id="{6515CE5D-FB48-4268-85C9-484F3720A161}"/>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hlinkClick xmlns:r="http://schemas.openxmlformats.org/officeDocument/2006/relationships" r:id="R118f115d47bd4c2a"/>
              </a:rPr>
              <a:t>Open the original interactive lesson</a:t>
            </a:r>
          </a:p>
        </p:txBody>
      </p:sp>
      <p:sp>
        <p:nvSpPr>
          <p:cNvPr id="8" name="time">
            <a:extLst xmlns:a="http://schemas.openxmlformats.org/drawingml/2006/main">
              <a:ext uri="{FF2B5EF4-FFF2-40B4-BE49-F238E27FC236}">
                <a16:creationId xmlns:a16="http://schemas.microsoft.com/office/drawing/2014/main" id="{BF93C139-8F21-4CCE-AD77-4EEFE4068EC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89D8D351-3AD6-41F2-8D29-EB3F14550A3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23</a:t>
            </a:r>
          </a:p>
        </p:txBody>
      </p:sp>
    </p:spTree>
    <p:extLst>
      <p:ext uri="{BB962C8B-B14F-4D97-AF65-F5344CB8AC3E}">
        <p14:creationId xmlns:p14="http://schemas.microsoft.com/office/powerpoint/2010/main" val="1713640888"/>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DE7790C-2DBE-413C-B47A-7704624744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8BA65FF-3D98-46AD-9982-5D8CCBC99C4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C9E8935-B242-4B8C-8AF9-0DE15266425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6882F26A-61D0-4791-8874-73116003FE5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3141EDCC-24D2-472F-B4BE-0F72A1FDC65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3B8C000-EFEF-406E-A559-2281CB77EAE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private statement: I remember gene/allele links; I need a diagram; I need a full recap. No personal history is requested.</a:t>
            </a:r>
          </a:p>
        </p:txBody>
      </p:sp>
      <p:sp>
        <p:nvSpPr>
          <p:cNvPr id="7" name="content 1">
            <a:extLst xmlns:a="http://schemas.openxmlformats.org/drawingml/2006/main">
              <a:ext uri="{FF2B5EF4-FFF2-40B4-BE49-F238E27FC236}">
                <a16:creationId xmlns:a16="http://schemas.microsoft.com/office/drawing/2014/main" id="{C7ACB78A-73D3-4F87-96D7-FB7E71D43946}"/>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Gene and allele A gene is a section of DNA involved in a characteristic. Alleles are different versions of a gene. Retrieve these ideas without naming a real person's genotype.</a:t>
            </a:r>
          </a:p>
        </p:txBody>
      </p:sp>
      <p:sp>
        <p:nvSpPr>
          <p:cNvPr id="8" name="content 2">
            <a:extLst xmlns:a="http://schemas.openxmlformats.org/drawingml/2006/main">
              <a:ext uri="{FF2B5EF4-FFF2-40B4-BE49-F238E27FC236}">
                <a16:creationId xmlns:a16="http://schemas.microsoft.com/office/drawing/2014/main" id="{67A27C1A-7D9B-4F3E-B310-3FFFA4988667}"/>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Genotype and phenotype Genotype describes an allele combination in a model. Phenotype is the observed characteristic. A source may describe patterns, but it cannot diagnose a pupil.</a:t>
            </a:r>
          </a:p>
        </p:txBody>
      </p:sp>
      <p:sp>
        <p:nvSpPr>
          <p:cNvPr id="9" name="time">
            <a:extLst xmlns:a="http://schemas.openxmlformats.org/drawingml/2006/main">
              <a:ext uri="{FF2B5EF4-FFF2-40B4-BE49-F238E27FC236}">
                <a16:creationId xmlns:a16="http://schemas.microsoft.com/office/drawing/2014/main" id="{7938FBEE-D567-4046-AA66-8F63CA5DBEC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0" name="number">
            <a:extLst xmlns:a="http://schemas.openxmlformats.org/drawingml/2006/main">
              <a:ext uri="{FF2B5EF4-FFF2-40B4-BE49-F238E27FC236}">
                <a16:creationId xmlns:a16="http://schemas.microsoft.com/office/drawing/2014/main" id="{8C2C2513-D8DA-4934-AD94-F3E891DC592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23</a:t>
            </a:r>
          </a:p>
        </p:txBody>
      </p:sp>
    </p:spTree>
    <p:extLst>
      <p:ext uri="{BB962C8B-B14F-4D97-AF65-F5344CB8AC3E}">
        <p14:creationId xmlns:p14="http://schemas.microsoft.com/office/powerpoint/2010/main" val="1789896519"/>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0916AFD-69CD-4EA3-BD9E-281A4C0E56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3FBB468-9E8B-44BB-90F4-E3E3831BD66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EFFC1A4-0475-471D-9F7C-1AFD277AFE6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4A3444D0-18CA-4A16-AF3C-5648A997EEA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B9853B0F-D459-45A8-A976-BF82B96CFA7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2D66D93-ADF9-4077-8BBE-0A8BD7E4762E}"/>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Probability and certainty An inherited combination can affect probability. Probability is not a promise about one person, and a presentation must not turn a population pattern into an individual prediction.</a:t>
            </a:r>
          </a:p>
        </p:txBody>
      </p:sp>
      <p:sp>
        <p:nvSpPr>
          <p:cNvPr id="7" name="content 1">
            <a:extLst xmlns:a="http://schemas.openxmlformats.org/drawingml/2006/main">
              <a:ext uri="{FF2B5EF4-FFF2-40B4-BE49-F238E27FC236}">
                <a16:creationId xmlns:a16="http://schemas.microsoft.com/office/drawing/2014/main" id="{F532E0AA-9E9E-4A14-B992-558DDF2D7362}"/>
              </a:ext>
            </a:extLst>
          </p:cNvPr>
          <p:cNvSpPr>
            <a:spLocks xmlns:a="http://schemas.openxmlformats.org/drawingml/2006/main" noGrp="1"/>
          </p:cNvSpPr>
          <p:nvPr/>
        </p:nvSpPr>
        <p:spPr>
          <a:xfrm xmlns:a="http://schemas.openxmlformats.org/drawingml/2006/main">
            <a:off x="800100" y="32956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Research boundary The C44 task is to research a teacher-approved genetic condition and present. It does not ask for family histories, test results, symptoms or medical decisions.</a:t>
            </a:r>
          </a:p>
        </p:txBody>
      </p:sp>
      <p:sp>
        <p:nvSpPr>
          <p:cNvPr id="8" name="content 2">
            <a:extLst xmlns:a="http://schemas.openxmlformats.org/drawingml/2006/main">
              <a:ext uri="{FF2B5EF4-FFF2-40B4-BE49-F238E27FC236}">
                <a16:creationId xmlns:a16="http://schemas.microsoft.com/office/drawing/2014/main" id="{F6FF3440-21FA-4AE7-825F-F73228A651E2}"/>
              </a:ext>
            </a:extLst>
          </p:cNvPr>
          <p:cNvSpPr>
            <a:spLocks xmlns:a="http://schemas.openxmlformats.org/drawingml/2006/main" noGrp="1"/>
          </p:cNvSpPr>
          <p:nvPr/>
        </p:nvSpPr>
        <p:spPr>
          <a:xfrm xmlns:a="http://schemas.openxmlformats.org/drawingml/2006/main">
            <a:off x="800100" y="44196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7F47BD0B-B227-4F7A-85C4-EEF2621A7B6D}"/>
              </a:ext>
            </a:extLst>
          </p:cNvPr>
          <p:cNvSpPr>
            <a:spLocks xmlns:a="http://schemas.openxmlformats.org/drawingml/2006/main" noGrp="1"/>
          </p:cNvSpPr>
          <p:nvPr/>
        </p:nvSpPr>
        <p:spPr>
          <a:xfrm xmlns:a="http://schemas.openxmlformats.org/drawingml/2006/main">
            <a:off x="800100" y="4895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teacher-approved question frame and two prepared source cards; identify what each source can answer.</a:t>
            </a:r>
          </a:p>
        </p:txBody>
      </p:sp>
      <p:sp>
        <p:nvSpPr>
          <p:cNvPr id="10" name="time">
            <a:extLst xmlns:a="http://schemas.openxmlformats.org/drawingml/2006/main">
              <a:ext uri="{FF2B5EF4-FFF2-40B4-BE49-F238E27FC236}">
                <a16:creationId xmlns:a16="http://schemas.microsoft.com/office/drawing/2014/main" id="{CDAF00E6-8022-4867-9CE2-AF339D8C28B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F5A635CC-C701-4D64-B2BF-B49ABE9CA3E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23</a:t>
            </a:r>
          </a:p>
        </p:txBody>
      </p:sp>
    </p:spTree>
    <p:extLst>
      <p:ext uri="{BB962C8B-B14F-4D97-AF65-F5344CB8AC3E}">
        <p14:creationId xmlns:p14="http://schemas.microsoft.com/office/powerpoint/2010/main" val="5750531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0D34656F-AFE6-412F-9EFD-873DCD2071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E0047B9-5AC4-47F4-85D9-D6E463521E6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65406CA-7E8D-4D86-89E3-8CA0EC88C96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1F872AA6-0B6F-423F-B960-2BFC7937970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29CCB1B7-2B04-4DE4-A0CF-E9650931799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FE5574D-BB8C-4438-9298-62A43D76657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BCD157A5-7EA4-46C1-B643-0A05AC8FCC21}"/>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Refine a bounded question, plan two-source triangulation and identify one privacy or interpretation risk.</a:t>
            </a:r>
          </a:p>
        </p:txBody>
      </p:sp>
      <p:sp>
        <p:nvSpPr>
          <p:cNvPr id="8" name="time">
            <a:extLst xmlns:a="http://schemas.openxmlformats.org/drawingml/2006/main">
              <a:ext uri="{FF2B5EF4-FFF2-40B4-BE49-F238E27FC236}">
                <a16:creationId xmlns:a16="http://schemas.microsoft.com/office/drawing/2014/main" id="{79DA8E8C-2B3E-4A49-9811-EAE4E4792AF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9" name="number">
            <a:extLst xmlns:a="http://schemas.openxmlformats.org/drawingml/2006/main">
              <a:ext uri="{FF2B5EF4-FFF2-40B4-BE49-F238E27FC236}">
                <a16:creationId xmlns:a16="http://schemas.microsoft.com/office/drawing/2014/main" id="{0CCBCC6D-A66E-4417-9DD4-E7BA187F922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23</a:t>
            </a:r>
          </a:p>
        </p:txBody>
      </p:sp>
    </p:spTree>
    <p:extLst>
      <p:ext uri="{BB962C8B-B14F-4D97-AF65-F5344CB8AC3E}">
        <p14:creationId xmlns:p14="http://schemas.microsoft.com/office/powerpoint/2010/main" val="1765921792"/>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01764EB0-0074-4DB3-8CBC-34BA5AF991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B78A310-6F7D-438B-8AF2-60CA03C892C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68FF303-1561-4B80-906C-3B6FDF508CA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46F4A8F-011C-4616-9B27-68AD527DD33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842638E3-D5D7-41A2-926C-372201C94A8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7008D99-09E0-4CC2-947F-B59EB1A632CA}"/>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Which question is safer and more scientific: one asking how evidence supports an inheritance explanation, or one asking pupils to disclose family information? Explain the boundary.</a:t>
            </a:r>
          </a:p>
        </p:txBody>
      </p:sp>
      <p:sp>
        <p:nvSpPr>
          <p:cNvPr id="7" name="content 1">
            <a:extLst xmlns:a="http://schemas.openxmlformats.org/drawingml/2006/main">
              <a:ext uri="{FF2B5EF4-FFF2-40B4-BE49-F238E27FC236}">
                <a16:creationId xmlns:a16="http://schemas.microsoft.com/office/drawing/2014/main" id="{6E08C7D3-63BD-4C28-882F-4660C01702F2}"/>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a good question is about the biology. Personal and family disclosure is never part of this task.</a:t>
            </a:r>
          </a:p>
        </p:txBody>
      </p:sp>
      <p:sp>
        <p:nvSpPr>
          <p:cNvPr id="8" name="content 2">
            <a:extLst xmlns:a="http://schemas.openxmlformats.org/drawingml/2006/main">
              <a:ext uri="{FF2B5EF4-FFF2-40B4-BE49-F238E27FC236}">
                <a16:creationId xmlns:a16="http://schemas.microsoft.com/office/drawing/2014/main" id="{59BE7299-8462-4975-A20C-A77C99B4CD6A}"/>
              </a:ext>
            </a:extLst>
          </p:cNvPr>
          <p:cNvSpPr>
            <a:spLocks xmlns:a="http://schemas.openxmlformats.org/drawingml/2006/main" noGrp="1"/>
          </p:cNvSpPr>
          <p:nvPr/>
        </p:nvSpPr>
        <p:spPr>
          <a:xfrm xmlns:a="http://schemas.openxmlformats.org/drawingml/2006/main">
            <a:off x="800100" y="4086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Question test</a:t>
            </a:r>
          </a:p>
        </p:txBody>
      </p:sp>
      <p:sp>
        <p:nvSpPr>
          <p:cNvPr id="9" name="time">
            <a:extLst xmlns:a="http://schemas.openxmlformats.org/drawingml/2006/main">
              <a:ext uri="{FF2B5EF4-FFF2-40B4-BE49-F238E27FC236}">
                <a16:creationId xmlns:a16="http://schemas.microsoft.com/office/drawing/2014/main" id="{003AF651-4323-43B8-AC70-E01DE159173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3D00C8DB-1FBA-4E12-9F42-BA5D6347258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23</a:t>
            </a:r>
          </a:p>
        </p:txBody>
      </p:sp>
    </p:spTree>
    <p:extLst>
      <p:ext uri="{BB962C8B-B14F-4D97-AF65-F5344CB8AC3E}">
        <p14:creationId xmlns:p14="http://schemas.microsoft.com/office/powerpoint/2010/main" val="2049497631"/>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85D5D7FE-4B30-4FB6-B57C-A1B6665FAE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46621CA-3901-4B39-A608-17DDAA29E85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FB51556-D580-440D-B337-A89255DD06F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AE530547-089C-4441-9B59-0C77DD58B74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DC2EBCDA-F887-4B0D-8CB0-06346407EBC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A0AD2BB-3327-4793-AB61-1BD365E767FF}"/>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useful research question is answerable from approved sources, uses neutral language, has a clear science focus and leaves diagnosis, advice and personal disclosure outside the task. If the wording assumes its conclusion, rewrite it before searching.</a:t>
            </a:r>
          </a:p>
        </p:txBody>
      </p:sp>
      <p:sp>
        <p:nvSpPr>
          <p:cNvPr id="7" name="content 1">
            <a:extLst xmlns:a="http://schemas.openxmlformats.org/drawingml/2006/main">
              <a:ext uri="{FF2B5EF4-FFF2-40B4-BE49-F238E27FC236}">
                <a16:creationId xmlns:a16="http://schemas.microsoft.com/office/drawing/2014/main" id="{6403F470-C2AE-4A94-B86C-87AD1A13E9FF}"/>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How do approved sources explain the inheritance pattern and its uncertainty?</a:t>
            </a:r>
          </a:p>
        </p:txBody>
      </p:sp>
      <p:sp>
        <p:nvSpPr>
          <p:cNvPr id="8" name="content 2">
            <a:extLst xmlns:a="http://schemas.openxmlformats.org/drawingml/2006/main">
              <a:ext uri="{FF2B5EF4-FFF2-40B4-BE49-F238E27FC236}">
                <a16:creationId xmlns:a16="http://schemas.microsoft.com/office/drawing/2014/main" id="{6FC2AA72-D777-4FD0-B0BB-6DE609B763A9}"/>
              </a:ext>
            </a:extLst>
          </p:cNvPr>
          <p:cNvSpPr>
            <a:spLocks xmlns:a="http://schemas.openxmlformats.org/drawingml/2006/main" noGrp="1"/>
          </p:cNvSpPr>
          <p:nvPr/>
        </p:nvSpPr>
        <p:spPr>
          <a:xfrm xmlns:a="http://schemas.openxmlformats.org/drawingml/2006/main">
            <a:off x="800100" y="44196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Who in our class or families may have this condition?</a:t>
            </a:r>
          </a:p>
        </p:txBody>
      </p:sp>
      <p:sp>
        <p:nvSpPr>
          <p:cNvPr id="9" name="content 3">
            <a:extLst xmlns:a="http://schemas.openxmlformats.org/drawingml/2006/main">
              <a:ext uri="{FF2B5EF4-FFF2-40B4-BE49-F238E27FC236}">
                <a16:creationId xmlns:a16="http://schemas.microsoft.com/office/drawing/2014/main" id="{E60668E5-ADEA-4804-9BF2-ED417CE083BC}"/>
              </a:ext>
            </a:extLst>
          </p:cNvPr>
          <p:cNvSpPr>
            <a:spLocks xmlns:a="http://schemas.openxmlformats.org/drawingml/2006/main" noGrp="1"/>
          </p:cNvSpPr>
          <p:nvPr/>
        </p:nvSpPr>
        <p:spPr>
          <a:xfrm xmlns:a="http://schemas.openxmlformats.org/drawingml/2006/main">
            <a:off x="800100" y="48768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Can the presentation predict exactly what will happen to one person?</a:t>
            </a:r>
          </a:p>
        </p:txBody>
      </p:sp>
      <p:sp>
        <p:nvSpPr>
          <p:cNvPr id="10" name="time">
            <a:extLst xmlns:a="http://schemas.openxmlformats.org/drawingml/2006/main">
              <a:ext uri="{FF2B5EF4-FFF2-40B4-BE49-F238E27FC236}">
                <a16:creationId xmlns:a16="http://schemas.microsoft.com/office/drawing/2014/main" id="{C7D753F6-1285-4DA4-96F8-5FD1FEFCC93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1" name="number">
            <a:extLst xmlns:a="http://schemas.openxmlformats.org/drawingml/2006/main">
              <a:ext uri="{FF2B5EF4-FFF2-40B4-BE49-F238E27FC236}">
                <a16:creationId xmlns:a16="http://schemas.microsoft.com/office/drawing/2014/main" id="{13168448-F1F2-4630-A71D-4750503266E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23</a:t>
            </a:r>
          </a:p>
        </p:txBody>
      </p:sp>
    </p:spTree>
    <p:extLst>
      <p:ext uri="{BB962C8B-B14F-4D97-AF65-F5344CB8AC3E}">
        <p14:creationId xmlns:p14="http://schemas.microsoft.com/office/powerpoint/2010/main" val="1456808586"/>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7ACA775-4B74-4BEF-BA96-DDFDC3C34C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62C1758-2E63-4082-90EB-441AA4F8312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013697F8-7375-4899-9A43-B0729D0A5FF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C46112C4-D6BF-48F9-80FB-A6F6FBA70B6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FB0CA9CF-40AC-47E9-8D6B-D6BA7881FA8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2fbd55eefd48dd"/>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7652888E-52E2-4AEF-818E-499F7450564B}"/>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Four parts of a respectful research plan</a:t>
            </a:r>
          </a:p>
        </p:txBody>
      </p:sp>
      <p:sp>
        <p:nvSpPr>
          <p:cNvPr id="8" name="time">
            <a:extLst xmlns:a="http://schemas.openxmlformats.org/drawingml/2006/main">
              <a:ext uri="{FF2B5EF4-FFF2-40B4-BE49-F238E27FC236}">
                <a16:creationId xmlns:a16="http://schemas.microsoft.com/office/drawing/2014/main" id="{AA247F30-15C9-477C-85B7-3EB5927EE48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396ECF61-8E9A-4405-AB3C-0CBC149FBE5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23</a:t>
            </a:r>
          </a:p>
        </p:txBody>
      </p:sp>
    </p:spTree>
    <p:extLst>
      <p:ext uri="{BB962C8B-B14F-4D97-AF65-F5344CB8AC3E}">
        <p14:creationId xmlns:p14="http://schemas.microsoft.com/office/powerpoint/2010/main" val="2069885614"/>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79E76A6C-EDD9-4657-B6E8-04B7B21946C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FD23A40-23B6-481B-A305-E05B4BFE804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0156E10-5D10-4D54-A359-77D9AE99278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E1D36F7-7ACC-4198-929B-A12B7D95178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908C1301-C029-49E1-A214-3A3F896C09A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A3D1B0C-610F-47D8-866C-4CC8F1783C4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Respectful research question checker</a:t>
            </a:r>
          </a:p>
        </p:txBody>
      </p:sp>
      <p:sp>
        <p:nvSpPr>
          <p:cNvPr id="7" name="content 1">
            <a:extLst xmlns:a="http://schemas.openxmlformats.org/drawingml/2006/main">
              <a:ext uri="{FF2B5EF4-FFF2-40B4-BE49-F238E27FC236}">
                <a16:creationId xmlns:a16="http://schemas.microsoft.com/office/drawing/2014/main" id="{CBABEEF8-D3C6-4A26-A03A-A5AC059A0622}"/>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draft question, then judge it. The condition is the one your teacher approved.</a:t>
            </a:r>
          </a:p>
        </p:txBody>
      </p:sp>
      <p:sp>
        <p:nvSpPr>
          <p:cNvPr id="8" name="time">
            <a:extLst xmlns:a="http://schemas.openxmlformats.org/drawingml/2006/main">
              <a:ext uri="{FF2B5EF4-FFF2-40B4-BE49-F238E27FC236}">
                <a16:creationId xmlns:a16="http://schemas.microsoft.com/office/drawing/2014/main" id="{34ABEEEC-14E1-4126-A8C9-474A5991D74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7FADA0F8-54B1-40D3-8803-4F9C12E39EB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23</a:t>
            </a:r>
          </a:p>
        </p:txBody>
      </p:sp>
    </p:spTree>
    <p:extLst>
      <p:ext uri="{BB962C8B-B14F-4D97-AF65-F5344CB8AC3E}">
        <p14:creationId xmlns:p14="http://schemas.microsoft.com/office/powerpoint/2010/main" val="1042292262"/>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221175C4-2427-41D5-AED4-8B6E13B472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6C48A6E-F58F-4439-A55D-33BA850F895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B579B24-0ED2-44C7-8E61-1DE7B535B03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3F52CA1C-86F5-47D5-A20A-12DDCD52B3E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832ECD05-7AB3-4FDB-8B62-231C08AC3B8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A7C06C1-8C22-4CC3-86E5-8F55822C4FF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How is the condition inherited, and what does that mean for probability in a Punnett square?</a:t>
            </a:r>
          </a:p>
        </p:txBody>
      </p:sp>
      <p:sp>
        <p:nvSpPr>
          <p:cNvPr id="7" name="content 1">
            <a:extLst xmlns:a="http://schemas.openxmlformats.org/drawingml/2006/main">
              <a:ext uri="{FF2B5EF4-FFF2-40B4-BE49-F238E27FC236}">
                <a16:creationId xmlns:a16="http://schemas.microsoft.com/office/drawing/2014/main" id="{D6553016-142D-4CD2-80FE-AD3E73DF8D64}"/>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Who in our class might have it?</a:t>
            </a:r>
          </a:p>
        </p:txBody>
      </p:sp>
      <p:sp>
        <p:nvSpPr>
          <p:cNvPr id="8" name="content 2">
            <a:extLst xmlns:a="http://schemas.openxmlformats.org/drawingml/2006/main">
              <a:ext uri="{FF2B5EF4-FFF2-40B4-BE49-F238E27FC236}">
                <a16:creationId xmlns:a16="http://schemas.microsoft.com/office/drawing/2014/main" id="{19579DCB-6D2A-486A-8F92-6E03CA0AAA3E}"/>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What do school-approved sources say the condition changes in the body, and how is that known?</a:t>
            </a:r>
          </a:p>
        </p:txBody>
      </p:sp>
      <p:sp>
        <p:nvSpPr>
          <p:cNvPr id="9" name="content 3">
            <a:extLst xmlns:a="http://schemas.openxmlformats.org/drawingml/2006/main">
              <a:ext uri="{FF2B5EF4-FFF2-40B4-BE49-F238E27FC236}">
                <a16:creationId xmlns:a16="http://schemas.microsoft.com/office/drawing/2014/main" id="{563F0D5D-8766-4516-96A5-B37CFEBFE294}"/>
              </a:ext>
            </a:extLst>
          </p:cNvPr>
          <p:cNvSpPr>
            <a:spLocks xmlns:a="http://schemas.openxmlformats.org/drawingml/2006/main" noGrp="1"/>
          </p:cNvSpPr>
          <p:nvPr/>
        </p:nvSpPr>
        <p:spPr>
          <a:xfrm xmlns:a="http://schemas.openxmlformats.org/drawingml/2006/main">
            <a:off x="800100" y="42100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Is it their parents’ fault?</a:t>
            </a:r>
          </a:p>
        </p:txBody>
      </p:sp>
      <p:sp>
        <p:nvSpPr>
          <p:cNvPr id="10" name="content 4">
            <a:extLst xmlns:a="http://schemas.openxmlformats.org/drawingml/2006/main">
              <a:ext uri="{FF2B5EF4-FFF2-40B4-BE49-F238E27FC236}">
                <a16:creationId xmlns:a16="http://schemas.microsoft.com/office/drawing/2014/main" id="{27A17E2A-6680-4271-975D-36D5B5632729}"/>
              </a:ext>
            </a:extLst>
          </p:cNvPr>
          <p:cNvSpPr>
            <a:spLocks xmlns:a="http://schemas.openxmlformats.org/drawingml/2006/main" noGrp="1"/>
          </p:cNvSpPr>
          <p:nvPr/>
        </p:nvSpPr>
        <p:spPr>
          <a:xfrm xmlns:a="http://schemas.openxmlformats.org/drawingml/2006/main">
            <a:off x="800100" y="46672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Where do the sources agree and disagree, and what is still uncertain?</a:t>
            </a:r>
          </a:p>
        </p:txBody>
      </p:sp>
      <p:sp>
        <p:nvSpPr>
          <p:cNvPr id="11" name="content 5">
            <a:extLst xmlns:a="http://schemas.openxmlformats.org/drawingml/2006/main">
              <a:ext uri="{FF2B5EF4-FFF2-40B4-BE49-F238E27FC236}">
                <a16:creationId xmlns:a16="http://schemas.microsoft.com/office/drawing/2014/main" id="{589943D4-0193-4125-9B07-D163F046CE23}"/>
              </a:ext>
            </a:extLst>
          </p:cNvPr>
          <p:cNvSpPr>
            <a:spLocks xmlns:a="http://schemas.openxmlformats.org/drawingml/2006/main" noGrp="1"/>
          </p:cNvSpPr>
          <p:nvPr/>
        </p:nvSpPr>
        <p:spPr>
          <a:xfrm xmlns:a="http://schemas.openxmlformats.org/drawingml/2006/main">
            <a:off x="800100" y="51244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respectful, answerable from biology</a:t>
            </a:r>
          </a:p>
        </p:txBody>
      </p:sp>
      <p:sp>
        <p:nvSpPr>
          <p:cNvPr id="12" name="time">
            <a:extLst xmlns:a="http://schemas.openxmlformats.org/drawingml/2006/main">
              <a:ext uri="{FF2B5EF4-FFF2-40B4-BE49-F238E27FC236}">
                <a16:creationId xmlns:a16="http://schemas.microsoft.com/office/drawing/2014/main" id="{D6ADC7BA-A289-4081-989B-27FCD65A627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3" name="number">
            <a:extLst xmlns:a="http://schemas.openxmlformats.org/drawingml/2006/main">
              <a:ext uri="{FF2B5EF4-FFF2-40B4-BE49-F238E27FC236}">
                <a16:creationId xmlns:a16="http://schemas.microsoft.com/office/drawing/2014/main" id="{8A95FBC0-2FEB-44F0-8930-22191C9596E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23</a:t>
            </a:r>
          </a:p>
        </p:txBody>
      </p:sp>
    </p:spTree>
    <p:extLst>
      <p:ext uri="{BB962C8B-B14F-4D97-AF65-F5344CB8AC3E}">
        <p14:creationId xmlns:p14="http://schemas.microsoft.com/office/powerpoint/2010/main" val="1865566035"/>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0A2EC599-F8A0-4711-9D2F-649761AF77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36CC25E-C251-4A43-B6F2-286F4DE87F7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47A4348-2431-4CE1-8FF5-E05D57D14FC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0DA22F53-0D8B-419D-B053-A9451564439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C848E964-27ED-457F-B4F6-5341828CBC9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6045E27-39C5-42A7-A877-CABC74E5508E}"/>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about people, not biology — rewrite</a:t>
            </a:r>
          </a:p>
        </p:txBody>
      </p:sp>
      <p:sp>
        <p:nvSpPr>
          <p:cNvPr id="7" name="content 1">
            <a:extLst xmlns:a="http://schemas.openxmlformats.org/drawingml/2006/main">
              <a:ext uri="{FF2B5EF4-FFF2-40B4-BE49-F238E27FC236}">
                <a16:creationId xmlns:a16="http://schemas.microsoft.com/office/drawing/2014/main" id="{2C7FE634-9DA8-4BE0-BD59-9A3979739B37}"/>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Find the C44 purpose: research a genetic condition and present an evidence-led explanation.</a:t>
            </a:r>
          </a:p>
        </p:txBody>
      </p:sp>
      <p:sp>
        <p:nvSpPr>
          <p:cNvPr id="8" name="content 2">
            <a:extLst xmlns:a="http://schemas.openxmlformats.org/drawingml/2006/main">
              <a:ext uri="{FF2B5EF4-FFF2-40B4-BE49-F238E27FC236}">
                <a16:creationId xmlns:a16="http://schemas.microsoft.com/office/drawing/2014/main" id="{DEF5D4A1-3F38-46B9-99E7-1920B84A6B86}"/>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Label the science needed: gene, allele, inheritance pattern, probability, variation and uncertainty at 1BI0 Foundation core.</a:t>
            </a:r>
          </a:p>
        </p:txBody>
      </p:sp>
      <p:sp>
        <p:nvSpPr>
          <p:cNvPr id="9" name="content 3">
            <a:extLst xmlns:a="http://schemas.openxmlformats.org/drawingml/2006/main">
              <a:ext uri="{FF2B5EF4-FFF2-40B4-BE49-F238E27FC236}">
                <a16:creationId xmlns:a16="http://schemas.microsoft.com/office/drawing/2014/main" id="{AED47671-30FC-4F67-91BF-676EC489BA5C}"/>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Map each part of the question to an approved source field; leave a visible Gap where evidence cannot settle an individual outcome.</a:t>
            </a:r>
          </a:p>
        </p:txBody>
      </p:sp>
      <p:sp>
        <p:nvSpPr>
          <p:cNvPr id="10" name="content 4">
            <a:extLst xmlns:a="http://schemas.openxmlformats.org/drawingml/2006/main">
              <a:ext uri="{FF2B5EF4-FFF2-40B4-BE49-F238E27FC236}">
                <a16:creationId xmlns:a16="http://schemas.microsoft.com/office/drawing/2014/main" id="{698EA313-DC52-4ABF-8F99-EA763FE80F19}"/>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Broad topic “A genetic condition” is a topic, not yet a workable question. It gives no boundary for evidence or presentation.</a:t>
            </a:r>
          </a:p>
        </p:txBody>
      </p:sp>
      <p:sp>
        <p:nvSpPr>
          <p:cNvPr id="11" name="time">
            <a:extLst xmlns:a="http://schemas.openxmlformats.org/drawingml/2006/main">
              <a:ext uri="{FF2B5EF4-FFF2-40B4-BE49-F238E27FC236}">
                <a16:creationId xmlns:a16="http://schemas.microsoft.com/office/drawing/2014/main" id="{66448A1E-9A2B-4647-AB6E-1B917145809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64D18892-C15B-4B97-924B-A3D14D64C12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23</a:t>
            </a:r>
          </a:p>
        </p:txBody>
      </p:sp>
    </p:spTree>
    <p:extLst>
      <p:ext uri="{BB962C8B-B14F-4D97-AF65-F5344CB8AC3E}">
        <p14:creationId xmlns:p14="http://schemas.microsoft.com/office/powerpoint/2010/main" val="696422640"/>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1E35489E-1475-4030-A025-9DBBA77925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BDC0E60-1E30-44E1-9FDB-2B255A0D191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F741FCE-1CA2-491D-B835-923D04F9A61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8DD59D82-ED5B-4D1F-8DEC-5A7BB98BD76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9972B45E-A5D9-4AAB-BC12-23251E6537D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13AD05F-9538-40A5-841F-504874322901}"/>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Bounded question “How do two approved sources explain the inherited biology, variation and uncertainty?” identifies evidence that can be found and compared.</a:t>
            </a:r>
          </a:p>
        </p:txBody>
      </p:sp>
      <p:sp>
        <p:nvSpPr>
          <p:cNvPr id="7" name="content 1">
            <a:extLst xmlns:a="http://schemas.openxmlformats.org/drawingml/2006/main">
              <a:ext uri="{FF2B5EF4-FFF2-40B4-BE49-F238E27FC236}">
                <a16:creationId xmlns:a16="http://schemas.microsoft.com/office/drawing/2014/main" id="{76C74B81-581C-459F-949A-72B0204C1AE8}"/>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Presentation purpose The audience needs a clear Foundation explanation and an honest limit, not a medical profile of a person.</a:t>
            </a:r>
          </a:p>
        </p:txBody>
      </p:sp>
      <p:sp>
        <p:nvSpPr>
          <p:cNvPr id="8" name="content 2">
            <a:extLst xmlns:a="http://schemas.openxmlformats.org/drawingml/2006/main">
              <a:ext uri="{FF2B5EF4-FFF2-40B4-BE49-F238E27FC236}">
                <a16:creationId xmlns:a16="http://schemas.microsoft.com/office/drawing/2014/main" id="{85E7445B-7FE8-4933-9D93-7A27043CA4E3}"/>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Success decision The question is ready only when it is neutral, source-answerable, private and precise enough to organise the final explanation.</a:t>
            </a:r>
          </a:p>
        </p:txBody>
      </p:sp>
      <p:sp>
        <p:nvSpPr>
          <p:cNvPr id="9" name="time">
            <a:extLst xmlns:a="http://schemas.openxmlformats.org/drawingml/2006/main">
              <a:ext uri="{FF2B5EF4-FFF2-40B4-BE49-F238E27FC236}">
                <a16:creationId xmlns:a16="http://schemas.microsoft.com/office/drawing/2014/main" id="{A6410BF9-4956-4007-9907-2A31168EA3C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0" name="number">
            <a:extLst xmlns:a="http://schemas.openxmlformats.org/drawingml/2006/main">
              <a:ext uri="{FF2B5EF4-FFF2-40B4-BE49-F238E27FC236}">
                <a16:creationId xmlns:a16="http://schemas.microsoft.com/office/drawing/2014/main" id="{25ECE434-2706-4A0C-BF50-27F54F444DC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23</a:t>
            </a:r>
          </a:p>
        </p:txBody>
      </p:sp>
    </p:spTree>
    <p:extLst>
      <p:ext uri="{BB962C8B-B14F-4D97-AF65-F5344CB8AC3E}">
        <p14:creationId xmlns:p14="http://schemas.microsoft.com/office/powerpoint/2010/main" val="2014073724"/>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D83843BE-5D09-4E43-9F08-34D32072D9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2F3E458-10EC-48B0-B1AF-BD114DCC362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18F6086-5B8A-4DE1-8A49-F4EEDC5AF57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85DF471A-BDBC-46F2-88C4-7962044F18A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389E1AA0-370F-4C36-83C7-DB4F12AD063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595C731-8A9F-4E1B-A12E-E5F950DC208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Select the checks that make a source useful for this question, not merely easy to read.</a:t>
            </a:r>
          </a:p>
        </p:txBody>
      </p:sp>
      <p:sp>
        <p:nvSpPr>
          <p:cNvPr id="7" name="content 1">
            <a:extLst xmlns:a="http://schemas.openxmlformats.org/drawingml/2006/main">
              <a:ext uri="{FF2B5EF4-FFF2-40B4-BE49-F238E27FC236}">
                <a16:creationId xmlns:a16="http://schemas.microsoft.com/office/drawing/2014/main" id="{88B079CB-214B-409D-B4CF-BA830C74CD6F}"/>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Authority Who published the item, for what audience, and under what scientific or public-information responsibility?</a:t>
            </a:r>
          </a:p>
        </p:txBody>
      </p:sp>
      <p:sp>
        <p:nvSpPr>
          <p:cNvPr id="8" name="content 2">
            <a:extLst xmlns:a="http://schemas.openxmlformats.org/drawingml/2006/main">
              <a:ext uri="{FF2B5EF4-FFF2-40B4-BE49-F238E27FC236}">
                <a16:creationId xmlns:a16="http://schemas.microsoft.com/office/drawing/2014/main" id="{E8F86397-6FB8-4746-82DF-73D2936C1D01}"/>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Currency What date or review date is visible? A date helps locate the item; it does not make every claim correct.</a:t>
            </a:r>
          </a:p>
        </p:txBody>
      </p:sp>
      <p:sp>
        <p:nvSpPr>
          <p:cNvPr id="9" name="content 3">
            <a:extLst xmlns:a="http://schemas.openxmlformats.org/drawingml/2006/main">
              <a:ext uri="{FF2B5EF4-FFF2-40B4-BE49-F238E27FC236}">
                <a16:creationId xmlns:a16="http://schemas.microsoft.com/office/drawing/2014/main" id="{C99B7E55-3DAA-46DF-AF8A-B30F5387D4D3}"/>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Relevance Which exact part answers the bounded inheritance question? Do not collect an entire page when one defined idea is needed.</a:t>
            </a:r>
          </a:p>
        </p:txBody>
      </p:sp>
      <p:sp>
        <p:nvSpPr>
          <p:cNvPr id="10" name="time">
            <a:extLst xmlns:a="http://schemas.openxmlformats.org/drawingml/2006/main">
              <a:ext uri="{FF2B5EF4-FFF2-40B4-BE49-F238E27FC236}">
                <a16:creationId xmlns:a16="http://schemas.microsoft.com/office/drawing/2014/main" id="{59168AD9-9EDB-4B3D-B2F8-697A92EB728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6E9CAB94-01AE-4E4C-AA6B-2148F03D4FC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23</a:t>
            </a:r>
          </a:p>
        </p:txBody>
      </p:sp>
    </p:spTree>
    <p:extLst>
      <p:ext uri="{BB962C8B-B14F-4D97-AF65-F5344CB8AC3E}">
        <p14:creationId xmlns:p14="http://schemas.microsoft.com/office/powerpoint/2010/main" val="610874091"/>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AAFE34DC-58E0-41FE-8716-0E98956C49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819C85F-DC56-44AE-B6FA-60E6222640A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D9E9417-6A66-4F42-BBB4-1BC6B89D945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983A97AF-7275-43A0-B07C-79060648ADF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CDC7F079-5B2D-426A-9000-C9E1D046507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6124E41-1939-4771-A0C2-1AE915B356B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Boundary Does the source explain biology without inviting self-diagnosis, personal disclosure or unqualified advice?</a:t>
            </a:r>
          </a:p>
        </p:txBody>
      </p:sp>
      <p:sp>
        <p:nvSpPr>
          <p:cNvPr id="7" name="content 1">
            <a:extLst xmlns:a="http://schemas.openxmlformats.org/drawingml/2006/main">
              <a:ext uri="{FF2B5EF4-FFF2-40B4-BE49-F238E27FC236}">
                <a16:creationId xmlns:a16="http://schemas.microsoft.com/office/drawing/2014/main" id="{84380AEE-D378-4F50-8693-EC15B56E0D5E}"/>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school-approved source set narrows access safely. The learner still makes the scientific choice, records why the source is relevant and keeps one uncertainty visible.</a:t>
            </a:r>
          </a:p>
        </p:txBody>
      </p:sp>
      <p:sp>
        <p:nvSpPr>
          <p:cNvPr id="8" name="time">
            <a:extLst xmlns:a="http://schemas.openxmlformats.org/drawingml/2006/main">
              <a:ext uri="{FF2B5EF4-FFF2-40B4-BE49-F238E27FC236}">
                <a16:creationId xmlns:a16="http://schemas.microsoft.com/office/drawing/2014/main" id="{20B155FF-3F29-46CC-9F10-B4042715193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9" name="number">
            <a:extLst xmlns:a="http://schemas.openxmlformats.org/drawingml/2006/main">
              <a:ext uri="{FF2B5EF4-FFF2-40B4-BE49-F238E27FC236}">
                <a16:creationId xmlns:a16="http://schemas.microsoft.com/office/drawing/2014/main" id="{AB0FB0A6-C3CE-4613-B4AF-0ADF17567FB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23</a:t>
            </a:r>
          </a:p>
        </p:txBody>
      </p:sp>
    </p:spTree>
    <p:extLst>
      <p:ext uri="{BB962C8B-B14F-4D97-AF65-F5344CB8AC3E}">
        <p14:creationId xmlns:p14="http://schemas.microsoft.com/office/powerpoint/2010/main" val="52302554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5182E74-2CDF-4066-8C19-D97E09F142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3CDEE3F-A312-45CB-A698-AA4584F5041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8985B4A-2795-49AB-A720-8FEE1AE40C3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DC5B8C6D-824E-4040-BB50-E0A8A680E23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04F5F6CE-3F50-4E00-B5F9-B44F757E905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C3F907C-C075-444D-9F96-8526533A5DC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neutral language: a person with a condition, unless a teacher-approved source explains a community preference.</a:t>
            </a:r>
          </a:p>
        </p:txBody>
      </p:sp>
      <p:sp>
        <p:nvSpPr>
          <p:cNvPr id="7" name="content 1">
            <a:extLst xmlns:a="http://schemas.openxmlformats.org/drawingml/2006/main">
              <a:ext uri="{FF2B5EF4-FFF2-40B4-BE49-F238E27FC236}">
                <a16:creationId xmlns:a16="http://schemas.microsoft.com/office/drawing/2014/main" id="{D805137E-F5CB-406D-A9A8-2D068D7B70C5}"/>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Separate inheritance probability from certainty about any individual person.</a:t>
            </a:r>
          </a:p>
        </p:txBody>
      </p:sp>
      <p:sp>
        <p:nvSpPr>
          <p:cNvPr id="8" name="content 2">
            <a:extLst xmlns:a="http://schemas.openxmlformats.org/drawingml/2006/main">
              <a:ext uri="{FF2B5EF4-FFF2-40B4-BE49-F238E27FC236}">
                <a16:creationId xmlns:a16="http://schemas.microsoft.com/office/drawing/2014/main" id="{A445F470-2B56-4859-A7DC-1485B26AFD5D}"/>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medical decisions, diagnosis and personal advice outside the task.</a:t>
            </a:r>
          </a:p>
        </p:txBody>
      </p:sp>
      <p:sp>
        <p:nvSpPr>
          <p:cNvPr id="9" name="content 3">
            <a:extLst xmlns:a="http://schemas.openxmlformats.org/drawingml/2006/main">
              <a:ext uri="{FF2B5EF4-FFF2-40B4-BE49-F238E27FC236}">
                <a16:creationId xmlns:a16="http://schemas.microsoft.com/office/drawing/2014/main" id="{FC03347A-5E3A-4A01-B3AD-E2A8B42C7788}"/>
              </a:ext>
            </a:extLst>
          </p:cNvPr>
          <p:cNvSpPr>
            <a:spLocks xmlns:a="http://schemas.openxmlformats.org/drawingml/2006/main" noGrp="1"/>
          </p:cNvSpPr>
          <p:nvPr/>
        </p:nvSpPr>
        <p:spPr>
          <a:xfrm xmlns:a="http://schemas.openxmlformats.org/drawingml/2006/main">
            <a:off x="800100" y="38766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Inside C44 Explain inherited biology, compare approved evidence, credit sources, present variation and state uncertainty.</a:t>
            </a:r>
          </a:p>
        </p:txBody>
      </p:sp>
      <p:sp>
        <p:nvSpPr>
          <p:cNvPr id="10" name="content 4">
            <a:extLst xmlns:a="http://schemas.openxmlformats.org/drawingml/2006/main">
              <a:ext uri="{FF2B5EF4-FFF2-40B4-BE49-F238E27FC236}">
                <a16:creationId xmlns:a16="http://schemas.microsoft.com/office/drawing/2014/main" id="{A50D5464-7931-46C8-A9DC-B675519C2A12}"/>
              </a:ext>
            </a:extLst>
          </p:cNvPr>
          <p:cNvSpPr>
            <a:spLocks xmlns:a="http://schemas.openxmlformats.org/drawingml/2006/main" noGrp="1"/>
          </p:cNvSpPr>
          <p:nvPr/>
        </p:nvSpPr>
        <p:spPr>
          <a:xfrm xmlns:a="http://schemas.openxmlformats.org/drawingml/2006/main">
            <a:off x="800100" y="46672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Outside C44 Ask about symptoms, test results, family history, treatment choices or whether a named person has a condition.</a:t>
            </a:r>
          </a:p>
        </p:txBody>
      </p:sp>
      <p:sp>
        <p:nvSpPr>
          <p:cNvPr id="11" name="time">
            <a:extLst xmlns:a="http://schemas.openxmlformats.org/drawingml/2006/main">
              <a:ext uri="{FF2B5EF4-FFF2-40B4-BE49-F238E27FC236}">
                <a16:creationId xmlns:a16="http://schemas.microsoft.com/office/drawing/2014/main" id="{C6CFAE4E-DA17-4D31-9373-F4625816A4A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ACA0E590-F2D4-4D47-A646-42366A79C27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23</a:t>
            </a:r>
          </a:p>
        </p:txBody>
      </p:sp>
    </p:spTree>
    <p:extLst>
      <p:ext uri="{BB962C8B-B14F-4D97-AF65-F5344CB8AC3E}">
        <p14:creationId xmlns:p14="http://schemas.microsoft.com/office/powerpoint/2010/main" val="1449966809"/>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86702690-2E87-4471-B102-2CE217B371A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EDFCB9E-2C11-4D86-B9D6-6AD447E9301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E0F4B7F5-31CA-4988-9E7A-1F3DF9B144C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C7CAB9C-1740-40EF-9D71-AA9F1575731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D725F6D5-228F-4799-B992-11D937FE5E0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D3D5133-E6B9-41E1-9101-0D39807AD67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Repair move Replace personal wording with “What do approved sources explain?” and replace certainty with an evidence-bounded probability statement.</a:t>
            </a:r>
          </a:p>
        </p:txBody>
      </p:sp>
      <p:sp>
        <p:nvSpPr>
          <p:cNvPr id="7" name="content 1">
            <a:extLst xmlns:a="http://schemas.openxmlformats.org/drawingml/2006/main">
              <a:ext uri="{FF2B5EF4-FFF2-40B4-BE49-F238E27FC236}">
                <a16:creationId xmlns:a16="http://schemas.microsoft.com/office/drawing/2014/main" id="{F93A70C0-9A87-46B3-9A41-5D9F1366F00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Escalation If a pupil raises a personal concern, pause the public task and use the school's approved safeguarding or health-support route.</a:t>
            </a:r>
          </a:p>
        </p:txBody>
      </p:sp>
      <p:sp>
        <p:nvSpPr>
          <p:cNvPr id="8" name="time">
            <a:extLst xmlns:a="http://schemas.openxmlformats.org/drawingml/2006/main">
              <a:ext uri="{FF2B5EF4-FFF2-40B4-BE49-F238E27FC236}">
                <a16:creationId xmlns:a16="http://schemas.microsoft.com/office/drawing/2014/main" id="{10BDB890-8470-4978-962F-1E676D46FF8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9" name="number">
            <a:extLst xmlns:a="http://schemas.openxmlformats.org/drawingml/2006/main">
              <a:ext uri="{FF2B5EF4-FFF2-40B4-BE49-F238E27FC236}">
                <a16:creationId xmlns:a16="http://schemas.microsoft.com/office/drawing/2014/main" id="{FCD87B0D-173B-490D-BFA7-73F41651203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23</a:t>
            </a:r>
          </a:p>
        </p:txBody>
      </p:sp>
    </p:spTree>
    <p:extLst>
      <p:ext uri="{BB962C8B-B14F-4D97-AF65-F5344CB8AC3E}">
        <p14:creationId xmlns:p14="http://schemas.microsoft.com/office/powerpoint/2010/main" val="1167537433"/>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D7C6C79-2427-4828-9938-9DC76D00DC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E1733B3-2076-4782-AFDD-AD48B0CC843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741D17F5-72EE-4139-9C63-5CA817741C1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1C28DF73-8446-4648-A613-01CEA841601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7154AAF0-5480-4789-83CB-13EA871F50D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E2D0DF8-CB79-41BB-8632-AC102DED42EE}"/>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1 · Locate</a:t>
            </a:r>
          </a:p>
        </p:txBody>
      </p:sp>
      <p:sp>
        <p:nvSpPr>
          <p:cNvPr id="7" name="content 1">
            <a:extLst xmlns:a="http://schemas.openxmlformats.org/drawingml/2006/main">
              <a:ext uri="{FF2B5EF4-FFF2-40B4-BE49-F238E27FC236}">
                <a16:creationId xmlns:a16="http://schemas.microsoft.com/office/drawing/2014/main" id="{BC001B50-920B-4A6D-BD3B-281DA4268E5F}"/>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Write a bounded question and identify two teacher-approved source cards or locally saved extracts.</a:t>
            </a:r>
          </a:p>
        </p:txBody>
      </p:sp>
      <p:sp>
        <p:nvSpPr>
          <p:cNvPr id="8" name="content 2">
            <a:extLst xmlns:a="http://schemas.openxmlformats.org/drawingml/2006/main">
              <a:ext uri="{FF2B5EF4-FFF2-40B4-BE49-F238E27FC236}">
                <a16:creationId xmlns:a16="http://schemas.microsoft.com/office/drawing/2014/main" id="{A7CEE9B4-9AB3-4C07-826D-6D6B7E69B734}"/>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2 · Connect</a:t>
            </a:r>
          </a:p>
        </p:txBody>
      </p:sp>
      <p:sp>
        <p:nvSpPr>
          <p:cNvPr id="9" name="content 3">
            <a:extLst xmlns:a="http://schemas.openxmlformats.org/drawingml/2006/main">
              <a:ext uri="{FF2B5EF4-FFF2-40B4-BE49-F238E27FC236}">
                <a16:creationId xmlns:a16="http://schemas.microsoft.com/office/drawing/2014/main" id="{A273FBE9-ECBF-45A5-8DAC-7866094ACB40}"/>
              </a:ext>
            </a:extLst>
          </p:cNvPr>
          <p:cNvSpPr>
            <a:spLocks xmlns:a="http://schemas.openxmlformats.org/drawingml/2006/main" noGrp="1"/>
          </p:cNvSpPr>
          <p:nvPr/>
        </p:nvSpPr>
        <p:spPr>
          <a:xfrm xmlns:a="http://schemas.openxmlformats.org/drawingml/2006/main">
            <a:off x="800100" y="38766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Match each source type to one science field: inherited biology, probability, variation, evidence or uncertainty.</a:t>
            </a:r>
          </a:p>
        </p:txBody>
      </p:sp>
      <p:sp>
        <p:nvSpPr>
          <p:cNvPr id="10" name="content 4">
            <a:extLst xmlns:a="http://schemas.openxmlformats.org/drawingml/2006/main">
              <a:ext uri="{FF2B5EF4-FFF2-40B4-BE49-F238E27FC236}">
                <a16:creationId xmlns:a16="http://schemas.microsoft.com/office/drawing/2014/main" id="{7ECDCEF3-CDE9-4533-AECD-E7ED4CD3D3C9}"/>
              </a:ext>
            </a:extLst>
          </p:cNvPr>
          <p:cNvSpPr>
            <a:spLocks xmlns:a="http://schemas.openxmlformats.org/drawingml/2006/main" noGrp="1"/>
          </p:cNvSpPr>
          <p:nvPr/>
        </p:nvSpPr>
        <p:spPr>
          <a:xfrm xmlns:a="http://schemas.openxmlformats.org/drawingml/2006/main">
            <a:off x="800100" y="46672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3 · Limit</a:t>
            </a:r>
          </a:p>
        </p:txBody>
      </p:sp>
      <p:sp>
        <p:nvSpPr>
          <p:cNvPr id="11" name="time">
            <a:extLst xmlns:a="http://schemas.openxmlformats.org/drawingml/2006/main">
              <a:ext uri="{FF2B5EF4-FFF2-40B4-BE49-F238E27FC236}">
                <a16:creationId xmlns:a16="http://schemas.microsoft.com/office/drawing/2014/main" id="{67DAEECF-309B-4670-9A2B-AB4342FFDFE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08FCAC05-9C8E-40EA-9304-8B5B983E99A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23</a:t>
            </a:r>
          </a:p>
        </p:txBody>
      </p:sp>
    </p:spTree>
    <p:extLst>
      <p:ext uri="{BB962C8B-B14F-4D97-AF65-F5344CB8AC3E}">
        <p14:creationId xmlns:p14="http://schemas.microsoft.com/office/powerpoint/2010/main" val="1334596536"/>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4A18BF02-0488-4F45-AE73-76A1B7044A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F908907-C363-4A2D-BB30-FD286EB668C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F366581-59C9-4738-8448-A80FE2D529F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31176C22-32D1-42D6-B555-EEDCFDECBD9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F35B082E-CDE4-4468-9E7D-01C831E4967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AD429E3-2D96-4341-9DAD-E719161B1FE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Write one statement the sources must not be used to make about an individual person.</a:t>
            </a:r>
          </a:p>
        </p:txBody>
      </p:sp>
      <p:sp>
        <p:nvSpPr>
          <p:cNvPr id="7" name="content 1">
            <a:extLst xmlns:a="http://schemas.openxmlformats.org/drawingml/2006/main">
              <a:ext uri="{FF2B5EF4-FFF2-40B4-BE49-F238E27FC236}">
                <a16:creationId xmlns:a16="http://schemas.microsoft.com/office/drawing/2014/main" id="{855013E2-6FD7-4CA1-ACC9-84E14AE6523A}"/>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Keywords Use the approved condition name plus inheritance, gene or allele, evidence, probability and variation. Avoid a real person's name or family detail.</a:t>
            </a:r>
          </a:p>
        </p:txBody>
      </p:sp>
      <p:sp>
        <p:nvSpPr>
          <p:cNvPr id="8" name="content 2">
            <a:extLst xmlns:a="http://schemas.openxmlformats.org/drawingml/2006/main">
              <a:ext uri="{FF2B5EF4-FFF2-40B4-BE49-F238E27FC236}">
                <a16:creationId xmlns:a16="http://schemas.microsoft.com/office/drawing/2014/main" id="{B5119F15-1230-4BC6-9E73-2EAC75546B26}"/>
              </a:ext>
            </a:extLst>
          </p:cNvPr>
          <p:cNvSpPr>
            <a:spLocks xmlns:a="http://schemas.openxmlformats.org/drawingml/2006/main" noGrp="1"/>
          </p:cNvSpPr>
          <p:nvPr/>
        </p:nvSpPr>
        <p:spPr>
          <a:xfrm xmlns:a="http://schemas.openxmlformats.org/drawingml/2006/main">
            <a:off x="800100" y="40862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Source record Prepare fields for publisher, title, date or review date, purpose, local locator and the exact idea used.</a:t>
            </a:r>
          </a:p>
        </p:txBody>
      </p:sp>
      <p:sp>
        <p:nvSpPr>
          <p:cNvPr id="9" name="content 3">
            <a:extLst xmlns:a="http://schemas.openxmlformats.org/drawingml/2006/main">
              <a:ext uri="{FF2B5EF4-FFF2-40B4-BE49-F238E27FC236}">
                <a16:creationId xmlns:a16="http://schemas.microsoft.com/office/drawing/2014/main" id="{05370696-E02D-4B7B-80DD-1EB8E5A286F2}"/>
              </a:ext>
            </a:extLst>
          </p:cNvPr>
          <p:cNvSpPr>
            <a:spLocks xmlns:a="http://schemas.openxmlformats.org/drawingml/2006/main" noGrp="1"/>
          </p:cNvSpPr>
          <p:nvPr/>
        </p:nvSpPr>
        <p:spPr>
          <a:xfrm xmlns:a="http://schemas.openxmlformats.org/drawingml/2006/main">
            <a:off x="800100" y="48768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Two-source reason One source can be incomplete. A second source allows agreement, emphasis and uncertainty to be compared rather than copied.</a:t>
            </a:r>
          </a:p>
        </p:txBody>
      </p:sp>
      <p:sp>
        <p:nvSpPr>
          <p:cNvPr id="10" name="time">
            <a:extLst xmlns:a="http://schemas.openxmlformats.org/drawingml/2006/main">
              <a:ext uri="{FF2B5EF4-FFF2-40B4-BE49-F238E27FC236}">
                <a16:creationId xmlns:a16="http://schemas.microsoft.com/office/drawing/2014/main" id="{6405D509-18A2-4175-BC54-92031C5DF59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986C644E-A65D-4462-AB90-AA3DC6202F5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23</a:t>
            </a:r>
          </a:p>
        </p:txBody>
      </p:sp>
    </p:spTree>
    <p:extLst>
      <p:ext uri="{BB962C8B-B14F-4D97-AF65-F5344CB8AC3E}">
        <p14:creationId xmlns:p14="http://schemas.microsoft.com/office/powerpoint/2010/main" val="1071490155"/>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0F06E796-2F32-4357-A1B2-35BBF84B0E6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F6F6004-2595-4E4C-AFE2-E2C519E3B7A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74429464-7BE5-4C35-9412-872D040541D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9F89BF50-2931-4A92-9844-AD1A08DEE7E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BBA9F2DE-3A27-471E-B524-E0BDE76546E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80709DD-03A8-4C2F-B8F2-F187692C7EE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Presentation route Decide whether the final explanation will be a private talk, four-panel card, narrated local slide or another agreed accessible form.</a:t>
            </a:r>
          </a:p>
        </p:txBody>
      </p:sp>
      <p:sp>
        <p:nvSpPr>
          <p:cNvPr id="7" name="content 1">
            <a:extLst xmlns:a="http://schemas.openxmlformats.org/drawingml/2006/main">
              <a:ext uri="{FF2B5EF4-FFF2-40B4-BE49-F238E27FC236}">
                <a16:creationId xmlns:a16="http://schemas.microsoft.com/office/drawing/2014/main" id="{FAB6728F-AC7E-4F0C-AF9B-01FFE0E25A1A}"/>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Current-main LAUNCH Science W12 DNA and W13 inheritance lessons, pack curriculum alignment, and teacher-approved local source cards; the HTML opens no live URL.</a:t>
            </a:r>
          </a:p>
        </p:txBody>
      </p:sp>
      <p:sp>
        <p:nvSpPr>
          <p:cNvPr id="8" name="content 2">
            <a:extLst xmlns:a="http://schemas.openxmlformats.org/drawingml/2006/main">
              <a:ext uri="{FF2B5EF4-FFF2-40B4-BE49-F238E27FC236}">
                <a16:creationId xmlns:a16="http://schemas.microsoft.com/office/drawing/2014/main" id="{C4CDD2EA-132B-4CB5-A57E-B75E5ED691F8}"/>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Rehearse the plan aloud or by pointing. The audience checks whether every field serves C44 and whether privacy, respect and evidence limits are explicit before the independent brief begins.</a:t>
            </a:r>
          </a:p>
        </p:txBody>
      </p:sp>
      <p:sp>
        <p:nvSpPr>
          <p:cNvPr id="9" name="time">
            <a:extLst xmlns:a="http://schemas.openxmlformats.org/drawingml/2006/main">
              <a:ext uri="{FF2B5EF4-FFF2-40B4-BE49-F238E27FC236}">
                <a16:creationId xmlns:a16="http://schemas.microsoft.com/office/drawing/2014/main" id="{7DFFB3BA-F4C1-4683-B79C-28A75F06076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0" name="number">
            <a:extLst xmlns:a="http://schemas.openxmlformats.org/drawingml/2006/main">
              <a:ext uri="{FF2B5EF4-FFF2-40B4-BE49-F238E27FC236}">
                <a16:creationId xmlns:a16="http://schemas.microsoft.com/office/drawing/2014/main" id="{A466ED71-9FD1-485E-917F-C9EE8B54142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23</a:t>
            </a:r>
          </a:p>
        </p:txBody>
      </p:sp>
    </p:spTree>
    <p:extLst>
      <p:ext uri="{BB962C8B-B14F-4D97-AF65-F5344CB8AC3E}">
        <p14:creationId xmlns:p14="http://schemas.microsoft.com/office/powerpoint/2010/main" val="1662210597"/>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F9DFE32-37E2-4E50-BD1C-A63BADBB7E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5B6763-2C65-4A09-BB78-0D5EE50CEFF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9216C63-E234-4108-A670-F97063BED00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FABCA66C-EDD7-4DC1-9831-C5AD638FB4C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1E88126C-0158-4F0B-A672-CD4FAF5A46E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BA146C7-BBC4-472D-8B35-4C9F9F66A61A}"/>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Create a research brief for one teacher-approved genetic condition using no personal or family data. Record the question, keywords, two approved source types, the evidence categories required, a respectful-language check and one uncertainty that must remain visible.</a:t>
            </a:r>
          </a:p>
        </p:txBody>
      </p:sp>
      <p:sp>
        <p:nvSpPr>
          <p:cNvPr id="7" name="content 1">
            <a:extLst xmlns:a="http://schemas.openxmlformats.org/drawingml/2006/main">
              <a:ext uri="{FF2B5EF4-FFF2-40B4-BE49-F238E27FC236}">
                <a16:creationId xmlns:a16="http://schemas.microsoft.com/office/drawing/2014/main" id="{61409911-9547-4C28-A1F6-C4374334AA8B}"/>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 Question Write one neutral, source-answerable question. Underline the science concept and circle the word that keeps the claim bounded.</a:t>
            </a:r>
          </a:p>
        </p:txBody>
      </p:sp>
      <p:sp>
        <p:nvSpPr>
          <p:cNvPr id="8" name="content 2">
            <a:extLst xmlns:a="http://schemas.openxmlformats.org/drawingml/2006/main">
              <a:ext uri="{FF2B5EF4-FFF2-40B4-BE49-F238E27FC236}">
                <a16:creationId xmlns:a16="http://schemas.microsoft.com/office/drawing/2014/main" id="{BFCF2A26-E3E7-4A54-8E00-9C24AFB32BDE}"/>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 Search map List two approved source types and the field each must answer. Add publisher, date, purpose and local locator boxes.</a:t>
            </a:r>
          </a:p>
        </p:txBody>
      </p:sp>
      <p:sp>
        <p:nvSpPr>
          <p:cNvPr id="9" name="time">
            <a:extLst xmlns:a="http://schemas.openxmlformats.org/drawingml/2006/main">
              <a:ext uri="{FF2B5EF4-FFF2-40B4-BE49-F238E27FC236}">
                <a16:creationId xmlns:a16="http://schemas.microsoft.com/office/drawing/2014/main" id="{0ED64C7E-6CFA-4309-A295-34242264031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31A1F398-B464-41C1-9819-08F6E8B69FE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23</a:t>
            </a:r>
          </a:p>
        </p:txBody>
      </p:sp>
    </p:spTree>
    <p:extLst>
      <p:ext uri="{BB962C8B-B14F-4D97-AF65-F5344CB8AC3E}">
        <p14:creationId xmlns:p14="http://schemas.microsoft.com/office/powerpoint/2010/main" val="818750679"/>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9AEB1805-3319-4DFB-9068-66E10DC832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6BB5107-2A72-4FDD-B730-6672C25B66A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2B988A0-7B11-4A9B-A49D-B820E652CA8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822C74B6-AC5C-43F6-AB14-2514AA59BCA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AB245444-1FDE-478D-9DB0-134D96E3E33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C19AC4C-3766-425F-89C8-326472A80C4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 Evidence categories Prepare headings for inherited biology, source evidence, probability, variation, lived-experience variation and uncertainty.</a:t>
            </a:r>
          </a:p>
        </p:txBody>
      </p:sp>
      <p:sp>
        <p:nvSpPr>
          <p:cNvPr id="7" name="content 1">
            <a:extLst xmlns:a="http://schemas.openxmlformats.org/drawingml/2006/main">
              <a:ext uri="{FF2B5EF4-FFF2-40B4-BE49-F238E27FC236}">
                <a16:creationId xmlns:a16="http://schemas.microsoft.com/office/drawing/2014/main" id="{6CA5EC6C-7E1D-4755-A068-40BC4834543C}"/>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 Privacy test Check that the plan requests no pupil or family history, diagnosis, symptoms, test results, treatment choice or medical advice.</a:t>
            </a:r>
          </a:p>
        </p:txBody>
      </p:sp>
      <p:sp>
        <p:nvSpPr>
          <p:cNvPr id="8" name="content 2">
            <a:extLst xmlns:a="http://schemas.openxmlformats.org/drawingml/2006/main">
              <a:ext uri="{FF2B5EF4-FFF2-40B4-BE49-F238E27FC236}">
                <a16:creationId xmlns:a16="http://schemas.microsoft.com/office/drawing/2014/main" id="{1EA902FB-F706-4BF5-B4D5-BC7254A55DE9}"/>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1994A4D4-4C8F-4763-96BA-A29F2E36117E}"/>
              </a:ext>
            </a:extLst>
          </p:cNvPr>
          <p:cNvSpPr>
            <a:spLocks xmlns:a="http://schemas.openxmlformats.org/drawingml/2006/main" noGrp="1"/>
          </p:cNvSpPr>
          <p:nvPr/>
        </p:nvSpPr>
        <p:spPr>
          <a:xfrm xmlns:a="http://schemas.openxmlformats.org/drawingml/2006/main">
            <a:off x="800100" y="4229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teacher-approved question frame and two prepared source cards; identify what each source can answer.</a:t>
            </a:r>
          </a:p>
        </p:txBody>
      </p:sp>
      <p:sp>
        <p:nvSpPr>
          <p:cNvPr id="10" name="content 4">
            <a:extLst xmlns:a="http://schemas.openxmlformats.org/drawingml/2006/main">
              <a:ext uri="{FF2B5EF4-FFF2-40B4-BE49-F238E27FC236}">
                <a16:creationId xmlns:a16="http://schemas.microsoft.com/office/drawing/2014/main" id="{B0A882DF-DA82-447E-BD27-269349958FEA}"/>
              </a:ext>
            </a:extLst>
          </p:cNvPr>
          <p:cNvSpPr>
            <a:spLocks xmlns:a="http://schemas.openxmlformats.org/drawingml/2006/main" noGrp="1"/>
          </p:cNvSpPr>
          <p:nvPr/>
        </p:nvSpPr>
        <p:spPr>
          <a:xfrm xmlns:a="http://schemas.openxmlformats.org/drawingml/2006/main">
            <a:off x="800100" y="50196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1" name="time">
            <a:extLst xmlns:a="http://schemas.openxmlformats.org/drawingml/2006/main">
              <a:ext uri="{FF2B5EF4-FFF2-40B4-BE49-F238E27FC236}">
                <a16:creationId xmlns:a16="http://schemas.microsoft.com/office/drawing/2014/main" id="{9C366C05-D731-4381-B57A-9606FF4B600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77D63208-AA5A-4B0B-B300-00BF7D9463C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23</a:t>
            </a:r>
          </a:p>
        </p:txBody>
      </p:sp>
    </p:spTree>
    <p:extLst>
      <p:ext uri="{BB962C8B-B14F-4D97-AF65-F5344CB8AC3E}">
        <p14:creationId xmlns:p14="http://schemas.microsoft.com/office/powerpoint/2010/main" val="1064934872"/>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F27A3A4-3C27-4E09-BE50-F77D53719C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E3194FA-15E0-4351-ABDD-2324089C7B8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EDA51C7-CB3D-4A22-9A56-4AFE811750F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7874F511-5024-4C5E-8E6B-B0592B6DA92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D6F74696-0C55-4C89-B370-1021F6BAE6C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A387794-2168-4D7C-A1E2-96CB87A1482C}"/>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Refine a bounded question, plan two-source triangulation and identify one privacy or interpretation risk.</a:t>
            </a:r>
          </a:p>
        </p:txBody>
      </p:sp>
      <p:sp>
        <p:nvSpPr>
          <p:cNvPr id="7" name="content 1">
            <a:extLst xmlns:a="http://schemas.openxmlformats.org/drawingml/2006/main">
              <a:ext uri="{FF2B5EF4-FFF2-40B4-BE49-F238E27FC236}">
                <a16:creationId xmlns:a16="http://schemas.microsoft.com/office/drawing/2014/main" id="{CCC2731D-B0A3-4657-933A-F1A362888885}"/>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9D129093-0BA8-41CF-AF03-F5EFCA5C4747}"/>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how question wording could bias the search, then design a neutral alternative and an uncertainty check.</a:t>
            </a:r>
          </a:p>
        </p:txBody>
      </p:sp>
      <p:sp>
        <p:nvSpPr>
          <p:cNvPr id="9" name="time">
            <a:extLst xmlns:a="http://schemas.openxmlformats.org/drawingml/2006/main">
              <a:ext uri="{FF2B5EF4-FFF2-40B4-BE49-F238E27FC236}">
                <a16:creationId xmlns:a16="http://schemas.microsoft.com/office/drawing/2014/main" id="{A0A349D4-D3D1-4D38-9DCD-5AA847B3B40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3B28613F-DB8C-46D7-B8BC-91FFBE5A8BF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23</a:t>
            </a:r>
          </a:p>
        </p:txBody>
      </p:sp>
    </p:spTree>
    <p:extLst>
      <p:ext uri="{BB962C8B-B14F-4D97-AF65-F5344CB8AC3E}">
        <p14:creationId xmlns:p14="http://schemas.microsoft.com/office/powerpoint/2010/main" val="911328883"/>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AA2323D4-C25E-4F1B-92B4-33CEC63FBF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C8A22FE-D9A7-4DE5-AFC1-52CF7999346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A113E89-58C6-491C-92BC-269CA210E34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479BEF3C-3589-4FD9-B558-1A97FAC4A76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9CE8BF61-A686-420D-BB77-C04E50FD14C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F9CEBEF-32F2-41F8-A69D-B1AD7F26B4C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Submit the question and source plan privately. State one claim the research may support and one claim it must not make.</a:t>
            </a:r>
          </a:p>
        </p:txBody>
      </p:sp>
      <p:sp>
        <p:nvSpPr>
          <p:cNvPr id="7" name="content 1">
            <a:extLst xmlns:a="http://schemas.openxmlformats.org/drawingml/2006/main">
              <a:ext uri="{FF2B5EF4-FFF2-40B4-BE49-F238E27FC236}">
                <a16:creationId xmlns:a16="http://schemas.microsoft.com/office/drawing/2014/main" id="{2B9C7248-B8B8-4617-B313-A7AF558DCB9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link Complete: “My question asks … The first approved source should help because …”</a:t>
            </a:r>
          </a:p>
        </p:txBody>
      </p:sp>
      <p:sp>
        <p:nvSpPr>
          <p:cNvPr id="8" name="content 2">
            <a:extLst xmlns:a="http://schemas.openxmlformats.org/drawingml/2006/main">
              <a:ext uri="{FF2B5EF4-FFF2-40B4-BE49-F238E27FC236}">
                <a16:creationId xmlns:a16="http://schemas.microsoft.com/office/drawing/2014/main" id="{0A2E4AB9-BCF6-4B48-B809-7F4ADCA6F83F}"/>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Honest limit Complete: “The research cannot decide … about one individual person.”</a:t>
            </a:r>
          </a:p>
        </p:txBody>
      </p:sp>
      <p:sp>
        <p:nvSpPr>
          <p:cNvPr id="9" name="content 3">
            <a:extLst xmlns:a="http://schemas.openxmlformats.org/drawingml/2006/main">
              <a:ext uri="{FF2B5EF4-FFF2-40B4-BE49-F238E27FC236}">
                <a16:creationId xmlns:a16="http://schemas.microsoft.com/office/drawing/2014/main" id="{4CCC7C2E-4791-4572-B024-3998D159DD96}"/>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Next action Name the first source field to complete in W14L2 and the locator that will keep it checkable.</a:t>
            </a:r>
          </a:p>
        </p:txBody>
      </p:sp>
      <p:sp>
        <p:nvSpPr>
          <p:cNvPr id="10" name="time">
            <a:extLst xmlns:a="http://schemas.openxmlformats.org/drawingml/2006/main">
              <a:ext uri="{FF2B5EF4-FFF2-40B4-BE49-F238E27FC236}">
                <a16:creationId xmlns:a16="http://schemas.microsoft.com/office/drawing/2014/main" id="{075B9493-69D8-46AD-8017-C65B87A484B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2F69F1EF-6650-44D7-A79C-472A4FB5DAF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23</a:t>
            </a:r>
          </a:p>
        </p:txBody>
      </p:sp>
    </p:spTree>
    <p:extLst>
      <p:ext uri="{BB962C8B-B14F-4D97-AF65-F5344CB8AC3E}">
        <p14:creationId xmlns:p14="http://schemas.microsoft.com/office/powerpoint/2010/main" val="565260624"/>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F077C35-1BF4-45C1-8297-21BAA663D6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C9D2B6E-5349-466C-A0ED-2EFACE8C372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545DB17-7728-4D82-BC5A-C9E6011859D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01EB94A4-8E91-4D41-A086-797505C1E18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1D7739E6-567A-439A-BD4F-13B7966A4DA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6852C19-D6EF-4518-9D4D-02C9329B320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Audience response The adult names back the question and privacy boundary, then gives a realistic report-back point.</a:t>
            </a:r>
          </a:p>
        </p:txBody>
      </p:sp>
      <p:sp>
        <p:nvSpPr>
          <p:cNvPr id="7" name="time">
            <a:extLst xmlns:a="http://schemas.openxmlformats.org/drawingml/2006/main">
              <a:ext uri="{FF2B5EF4-FFF2-40B4-BE49-F238E27FC236}">
                <a16:creationId xmlns:a16="http://schemas.microsoft.com/office/drawing/2014/main" id="{EEA5623F-1AD3-4327-9E6D-4604C7EA115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8" name="number">
            <a:extLst xmlns:a="http://schemas.openxmlformats.org/drawingml/2006/main">
              <a:ext uri="{FF2B5EF4-FFF2-40B4-BE49-F238E27FC236}">
                <a16:creationId xmlns:a16="http://schemas.microsoft.com/office/drawing/2014/main" id="{EB84287D-0F23-4F12-8966-FF3C825682F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23 / 23</a:t>
            </a:r>
          </a:p>
        </p:txBody>
      </p:sp>
    </p:spTree>
    <p:extLst>
      <p:ext uri="{BB962C8B-B14F-4D97-AF65-F5344CB8AC3E}">
        <p14:creationId xmlns:p14="http://schemas.microsoft.com/office/powerpoint/2010/main" val="13464193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2026-09-08T09:10:18.7420000Z</dcterms:created>
  <dcterms:modified xsi:type="dcterms:W3CDTF">2026-09-08T09:10:18.7420000Z</dcterms:modified>
</coreProperties>
</file>