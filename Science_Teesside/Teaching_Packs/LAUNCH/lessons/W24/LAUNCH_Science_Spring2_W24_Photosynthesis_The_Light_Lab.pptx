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bb14455ddc432a" /><Relationship Type="http://schemas.openxmlformats.org/officeDocument/2006/relationships/extended-properties" Target="/docProps/app.xml" Id="Rf315127bf21b4c8d" /><Relationship Type="http://schemas.openxmlformats.org/officeDocument/2006/relationships/officeDocument" Target="/ppt/presentation.xml" Id="Rfd9dbee8c91b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1873bd95141bf"/>
  </p:sldMasterIdLst>
  <p:notesMasterIdLst>
    <p:notesMasterId xmlns:r="http://schemas.openxmlformats.org/officeDocument/2006/relationships" r:id="R50e062ae5d394b35"/>
  </p:notesMasterIdLst>
  <p:sldIdLst>
    <p:sldId xmlns:r="http://schemas.openxmlformats.org/officeDocument/2006/relationships" id="256" r:id="R6517471f0d5f4968"/>
    <p:sldId xmlns:r="http://schemas.openxmlformats.org/officeDocument/2006/relationships" id="257" r:id="R95d39af31cc74faa"/>
    <p:sldId xmlns:r="http://schemas.openxmlformats.org/officeDocument/2006/relationships" id="258" r:id="Re98dcd1c490347ef"/>
    <p:sldId xmlns:r="http://schemas.openxmlformats.org/officeDocument/2006/relationships" id="259" r:id="R08c135fe74544a09"/>
    <p:sldId xmlns:r="http://schemas.openxmlformats.org/officeDocument/2006/relationships" id="260" r:id="R300fa9474cde4621"/>
    <p:sldId xmlns:r="http://schemas.openxmlformats.org/officeDocument/2006/relationships" id="261" r:id="Ra790f35c056f45cc"/>
    <p:sldId xmlns:r="http://schemas.openxmlformats.org/officeDocument/2006/relationships" id="262" r:id="R43869fa5b7874fff"/>
    <p:sldId xmlns:r="http://schemas.openxmlformats.org/officeDocument/2006/relationships" id="263" r:id="R360b1b48a77847ac"/>
    <p:sldId xmlns:r="http://schemas.openxmlformats.org/officeDocument/2006/relationships" id="264" r:id="R585e859140654c97"/>
    <p:sldId xmlns:r="http://schemas.openxmlformats.org/officeDocument/2006/relationships" id="265" r:id="R53fe5771966f40d9"/>
    <p:sldId xmlns:r="http://schemas.openxmlformats.org/officeDocument/2006/relationships" id="266" r:id="Red282fc906aa4bf8"/>
    <p:sldId xmlns:r="http://schemas.openxmlformats.org/officeDocument/2006/relationships" id="267" r:id="Rd9e9d0c25e464e92"/>
    <p:sldId xmlns:r="http://schemas.openxmlformats.org/officeDocument/2006/relationships" id="268" r:id="R0c7d2e6daf8c42c3"/>
    <p:sldId xmlns:r="http://schemas.openxmlformats.org/officeDocument/2006/relationships" id="269" r:id="Rf727d555184447ae"/>
    <p:sldId xmlns:r="http://schemas.openxmlformats.org/officeDocument/2006/relationships" id="270" r:id="R558c23cdf7b246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4e9eaaefa0417d" /><Relationship Type="http://schemas.openxmlformats.org/officeDocument/2006/relationships/slideMaster" Target="/ppt/slideMasters/slideMaster1.xml" Id="Rb7f1873bd95141bf" /><Relationship Type="http://schemas.openxmlformats.org/officeDocument/2006/relationships/notesMaster" Target="/ppt/notesMasters/notesMaster1.xml" Id="R50e062ae5d394b35" /><Relationship Type="http://schemas.openxmlformats.org/officeDocument/2006/relationships/presProps" Target="/ppt/presProps.xml" Id="R897b40879c824284" /><Relationship Type="http://schemas.openxmlformats.org/officeDocument/2006/relationships/tableStyles" Target="/ppt/tableStyles.xml" Id="R7785f952182946cf" /><Relationship Type="http://schemas.openxmlformats.org/officeDocument/2006/relationships/slide" Target="/ppt/slides/slide1.xml" Id="R6517471f0d5f4968" /><Relationship Type="http://schemas.openxmlformats.org/officeDocument/2006/relationships/slide" Target="/ppt/slides/slide2.xml" Id="R95d39af31cc74faa" /><Relationship Type="http://schemas.openxmlformats.org/officeDocument/2006/relationships/slide" Target="/ppt/slides/slide3.xml" Id="Re98dcd1c490347ef" /><Relationship Type="http://schemas.openxmlformats.org/officeDocument/2006/relationships/slide" Target="/ppt/slides/slide4.xml" Id="R08c135fe74544a09" /><Relationship Type="http://schemas.openxmlformats.org/officeDocument/2006/relationships/slide" Target="/ppt/slides/slide5.xml" Id="R300fa9474cde4621" /><Relationship Type="http://schemas.openxmlformats.org/officeDocument/2006/relationships/slide" Target="/ppt/slides/slide6.xml" Id="Ra790f35c056f45cc" /><Relationship Type="http://schemas.openxmlformats.org/officeDocument/2006/relationships/slide" Target="/ppt/slides/slide7.xml" Id="R43869fa5b7874fff" /><Relationship Type="http://schemas.openxmlformats.org/officeDocument/2006/relationships/slide" Target="/ppt/slides/slide8.xml" Id="R360b1b48a77847ac" /><Relationship Type="http://schemas.openxmlformats.org/officeDocument/2006/relationships/slide" Target="/ppt/slides/slide9.xml" Id="R585e859140654c97" /><Relationship Type="http://schemas.openxmlformats.org/officeDocument/2006/relationships/slide" Target="/ppt/slides/slide10.xml" Id="R53fe5771966f40d9" /><Relationship Type="http://schemas.openxmlformats.org/officeDocument/2006/relationships/slide" Target="/ppt/slides/slide11.xml" Id="Red282fc906aa4bf8" /><Relationship Type="http://schemas.openxmlformats.org/officeDocument/2006/relationships/slide" Target="/ppt/slides/slide12.xml" Id="Rd9e9d0c25e464e92" /><Relationship Type="http://schemas.openxmlformats.org/officeDocument/2006/relationships/slide" Target="/ppt/slides/slide13.xml" Id="R0c7d2e6daf8c42c3" /><Relationship Type="http://schemas.openxmlformats.org/officeDocument/2006/relationships/slide" Target="/ppt/slides/slide14.xml" Id="Rf727d555184447ae" /><Relationship Type="http://schemas.openxmlformats.org/officeDocument/2006/relationships/slide" Target="/ppt/slides/slide15.xml" Id="R558c23cdf7b246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78574eb9f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2cfeab2d1421c" /><Relationship Type="http://schemas.openxmlformats.org/officeDocument/2006/relationships/notesMaster" Target="/ppt/notesMasters/notesMaster1.xml" Id="R004c59282f2948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7230a51034c9a" /><Relationship Type="http://schemas.openxmlformats.org/officeDocument/2006/relationships/notesMaster" Target="/ppt/notesMasters/notesMaster1.xml" Id="R40b52cb29573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faf89f24e44fb" /><Relationship Type="http://schemas.openxmlformats.org/officeDocument/2006/relationships/notesMaster" Target="/ppt/notesMasters/notesMaster1.xml" Id="R2e51bcce164442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49d15267a14fe2" /><Relationship Type="http://schemas.openxmlformats.org/officeDocument/2006/relationships/notesMaster" Target="/ppt/notesMasters/notesMaster1.xml" Id="R04bfc1a15499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cafe85c6e4371" /><Relationship Type="http://schemas.openxmlformats.org/officeDocument/2006/relationships/notesMaster" Target="/ppt/notesMasters/notesMaster1.xml" Id="R949c2a2eca7344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d2b9147851457d" /><Relationship Type="http://schemas.openxmlformats.org/officeDocument/2006/relationships/notesMaster" Target="/ppt/notesMasters/notesMaster1.xml" Id="R968eb30c432c48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988fb67a54978" /><Relationship Type="http://schemas.openxmlformats.org/officeDocument/2006/relationships/notesMaster" Target="/ppt/notesMasters/notesMaster1.xml" Id="R8e2034ef2ec340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7673eea884a31" /><Relationship Type="http://schemas.openxmlformats.org/officeDocument/2006/relationships/notesMaster" Target="/ppt/notesMasters/notesMaster1.xml" Id="Re5593a87367a41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8147194634e6f" /><Relationship Type="http://schemas.openxmlformats.org/officeDocument/2006/relationships/notesMaster" Target="/ppt/notesMasters/notesMaster1.xml" Id="R50858cbdca5841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e71062724648d8" /><Relationship Type="http://schemas.openxmlformats.org/officeDocument/2006/relationships/notesMaster" Target="/ppt/notesMasters/notesMaster1.xml" Id="R75bd9f87ef25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b89087ccb54deb" /><Relationship Type="http://schemas.openxmlformats.org/officeDocument/2006/relationships/notesMaster" Target="/ppt/notesMasters/notesMaster1.xml" Id="R38ed57d7c53a4b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a30d20bef04de3" /><Relationship Type="http://schemas.openxmlformats.org/officeDocument/2006/relationships/notesMaster" Target="/ppt/notesMasters/notesMaster1.xml" Id="R695872c6639445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5e388a42ba46e1" /><Relationship Type="http://schemas.openxmlformats.org/officeDocument/2006/relationships/notesMaster" Target="/ppt/notesMasters/notesMaster1.xml" Id="R3c9e3670bfd241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368da050b74733" /><Relationship Type="http://schemas.openxmlformats.org/officeDocument/2006/relationships/notesMaster" Target="/ppt/notesMasters/notesMaster1.xml" Id="Re57920c068ac4a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440dcde6c64f79" /><Relationship Type="http://schemas.openxmlformats.org/officeDocument/2006/relationships/notesMaster" Target="/ppt/notesMasters/notesMaster1.xml" Id="R93752b794d06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pupils to predict the effect of moving the lamp closer. State that this is a planned or supervised comparison, not a race to produce the most bubbles.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chloroplasts. R2 kept the same to improve fairness. R3 a 60-second interval. If pupils say plant food comes from soil, revisit glucose production in the next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list matter on the two sides and put energy above the arrow. Glucose is a product, not a soil nutrient. Plants also respire; this reaction is not their only process.” Teach endothermic as takes in energy without requiring a balanced symbol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Photosynthesis word equation. Carbon dioxide and water are converted into glucose and oxygen using light energy absorbed by chlorophyll. The process takes in energy; light is not a material reactant.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check: same shoot and solution; at least 2 minutes adjustment; one-minute counts repeated three times; temperature monitored and kept comparable. Use sensor consistently. A cooler lamp reduces a heating confound, but does not remove the need to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supervised pondweed setup with LED lamp, distance ruler, vessel of solution, shoot, bubbles, light sensor and thermometer. It models apparatus positions, not a scale drawing or an exact gas-volume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12÷2=6 bubbles/min. Then(4+5+6)÷3=5. These are constructed examples. Explain differing bubble sizes and dissolved gas. A gas-volume measurement over time can improve the proxy, but it still needs controlled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sample means: at 300 lux 5 bubbles/min,600 lux 10 bubbles/min,1200 lux 17 bubbles/min. The categorical axis represents measured light levels. Bubble count is a proxy, not exact oxygen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supplied data or own demonstration data with labels kept distinct. Constructed means 5,10,17. Ask pupils whether the measured lux values support the closer-lamp prediction; do not introduce a proportional-distance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No: differences in shoot length/leaf area/activity may change bubbling. Keep same shoot or matched replicates and change intended light level only, while monitoring temperature and other controls. Ask a pupil to justify what the repair isolates.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supervised pondweed setup with LED lamp, distance ruler, vessel of solution, shoot, bubbles, light sensor and thermometer. It models apparatus positions, not a scale drawing or an exact gas-volume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supports the observed count pattern in these conditions. It does not establish unlimited response, exact oxygen volume or plant growth. Ask for the missing measurement needed to claim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Mean count rises 5→10→17 bubbles/min in this constructed range. Other limiting factors and proxy limits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correct. Return to reaction if A, bubble limitation if C, controls if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Oxygen is made from light as a material.</a:t>
            </a:r>
          </a:p>
          <a:p xmlns:a="http://schemas.openxmlformats.org/drawingml/2006/main">
            <a:r>
              <a:t>Light supplies energy; carbon dioxide and water are the material reactants.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Bubble count can indicate a pattern, but bubble size limits precision.</a:t>
            </a:r>
          </a:p>
          <a:p xmlns:a="http://schemas.openxmlformats.org/drawingml/2006/main">
            <a:r>
              <a:t>Correct. Yes. Count is a proxy; equal counts need not mean equal oxygen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Twice the bubbles always means exactly twice the oxygen volume.</a:t>
            </a:r>
          </a:p>
          <a:p xmlns:a="http://schemas.openxmlformats.org/drawingml/2006/main">
            <a:r>
              <a:t>Bubble sizes can differ and some oxygen dissolves.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Changing the shoot and light together isolates light.</a:t>
            </a:r>
          </a:p>
          <a:p xmlns:a="http://schemas.openxmlformats.org/drawingml/2006/main">
            <a:r>
              <a:t>The shoot change is another possible cause of a count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 shared data, selected route and calculator. A labelled diagram or oral explanation can show the same core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Check rate units and control reasoning. Do not award an unsupported claim that light always remains limiting.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names the measured bubble count and explains its use as proxy; revise overclaim. Teacher/TA can be a quiet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“More measured light was associated with higher mean bubble counts under matched conditions. Bubble size and dissolved gas limit how exactly counts show oxygen production.”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carbon dioxide/water. E2=5 bubbles/min. E3 same shoot/solution/temp/timing; bubble size or gas dissolving. Use errors to identify next practical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minute; accept labelled arrows instead of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Demonstrating oxygen evolution using pondweed</a:t>
            </a:r>
          </a:p>
          <a:p xmlns:a="http://schemas.openxmlformats.org/drawingml/2006/main">
            <a:r>
              <a:t>https://www.saps.org.uk/teaching-resources/resources/190/demonstrating-oxygen-evolution-during-photosynthesis-using-pondweed/</a:t>
            </a:r>
          </a:p>
          <a:p xmlns:a="http://schemas.openxmlformats.org/drawingml/2006/main">
            <a:r>
              <a:t>Checked pondweed bubble investigation and the light comparison. All distances, sensor readings and counts below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Measuring the rate of photosynthesis</a:t>
            </a:r>
          </a:p>
          <a:p xmlns:a="http://schemas.openxmlformats.org/drawingml/2006/main">
            <a:r>
              <a:t>https://www.saps.org.uk/teaching-resources/resources/157/measuring-the-rate-of-photosynthesis/</a:t>
            </a:r>
          </a:p>
          <a:p xmlns:a="http://schemas.openxmlformats.org/drawingml/2006/main">
            <a:r>
              <a:t>Checked oxygen-volume and bubble-count methods and their interpretation.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1620bfa9640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7b89bce4394c58" /><Relationship Type="http://schemas.openxmlformats.org/officeDocument/2006/relationships/slideLayout" Target="/ppt/slideLayouts/slideLayout1.xml" Id="R6ca3bbebf4e2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3bbebf4e2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15f0c0aa94e97" /><Relationship Type="http://schemas.openxmlformats.org/officeDocument/2006/relationships/notesSlide" Target="/ppt/notesSlides/notesSlide1.xml" Id="Rd766c997546f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9eb329e145f7" /><Relationship Type="http://schemas.openxmlformats.org/officeDocument/2006/relationships/notesSlide" Target="/ppt/notesSlides/notesSlide2.xml" Id="R4504c8afa74f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e05343a141e3" /><Relationship Type="http://schemas.openxmlformats.org/officeDocument/2006/relationships/notesSlide" Target="/ppt/notesSlides/notesSlide3.xml" Id="R0da401ec64dc4c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0004417141d4" /><Relationship Type="http://schemas.openxmlformats.org/officeDocument/2006/relationships/notesSlide" Target="/ppt/notesSlides/notesSlide4.xml" Id="R9f3d74879cc1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e2fe813e147a3" /><Relationship Type="http://schemas.openxmlformats.org/officeDocument/2006/relationships/notesSlide" Target="/ppt/notesSlides/notesSlide5.xml" Id="R224a623b66ea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139acf1104f46" /><Relationship Type="http://schemas.openxmlformats.org/officeDocument/2006/relationships/notesSlide" Target="/ppt/notesSlides/notesSlide6.xml" Id="R10b6401bbef8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661626ed64b63" /><Relationship Type="http://schemas.openxmlformats.org/officeDocument/2006/relationships/notesSlide" Target="/ppt/notesSlides/notesSlide7.xml" Id="Rc653a3c4bdc240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8009604aa4077" /><Relationship Type="http://schemas.openxmlformats.org/officeDocument/2006/relationships/notesSlide" Target="/ppt/notesSlides/notesSlide8.xml" Id="Rb28ac25ba2b449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ca79bf0d64913" /><Relationship Type="http://schemas.openxmlformats.org/officeDocument/2006/relationships/notesSlide" Target="/ppt/notesSlides/notesSlide9.xml" Id="R193a8277a1e4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207d9a31249de" /><Relationship Type="http://schemas.openxmlformats.org/officeDocument/2006/relationships/notesSlide" Target="/ppt/notesSlides/notesSlide10.xml" Id="R4de5173ae0cc42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73647f7c84e2b" /><Relationship Type="http://schemas.openxmlformats.org/officeDocument/2006/relationships/notesSlide" Target="/ppt/notesSlides/notesSlide11.xml" Id="R7876d2b04620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d011cb6648b5" /><Relationship Type="http://schemas.openxmlformats.org/officeDocument/2006/relationships/notesSlide" Target="/ppt/notesSlides/notesSlide12.xml" Id="R6f66f39193164d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fbd445eff41bc" /><Relationship Type="http://schemas.openxmlformats.org/officeDocument/2006/relationships/notesSlide" Target="/ppt/notesSlides/notesSlide13.xml" Id="R0ce041877ae14d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3903630b948a5" /><Relationship Type="http://schemas.openxmlformats.org/officeDocument/2006/relationships/notesSlide" Target="/ppt/notesSlides/notesSlide14.xml" Id="R1edc3dd17dcc48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54cb062944be2" /><Relationship Type="http://schemas.openxmlformats.org/officeDocument/2006/relationships/notesSlide" Target="/ppt/notesSlides/notesSlide15.xml" Id="R0dfc3de50d9745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97DC519-B835-42F3-B6C4-A74C60B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C5DADA8-4E5B-4753-9AB0-7ED5D067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C821E90-9330-43C2-868F-EE98D10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399BA91-4E7A-44DA-A98A-D7A1368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3EF2FEDE-7CC1-4FC0-AC2E-908C4D9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4DA2AD3-2753-45F1-8670-E3BBC873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n light change what a plant makes?">
            <a:extLst xmlns:a="http://schemas.openxmlformats.org/drawingml/2006/main">
              <a:ext uri="{FF2B5EF4-FFF2-40B4-BE49-F238E27FC236}">
                <a16:creationId xmlns:a16="http://schemas.microsoft.com/office/drawing/2014/main" id="{3A856077-A961-4F0B-8F94-F364C74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light change what a plant makes?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D289A14-C25A-4529-98E0-84D58FD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AC1F2ABF-C9E7-4F41-9E68-9934A2BF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0F76712B-7BD8-47A6-ADFF-519D0A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1CD9635-1968-4E06-9B89-F601F47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7C2CD82-93E5-43ED-9314-618BAC9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3BC81EFC-4141-4137-A70C-302FD88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photosynthesis and investigate how light intensity affe">
            <a:extLst xmlns:a="http://schemas.openxmlformats.org/drawingml/2006/main">
              <a:ext uri="{FF2B5EF4-FFF2-40B4-BE49-F238E27FC236}">
                <a16:creationId xmlns:a16="http://schemas.microsoft.com/office/drawing/2014/main" id="{2A25A2E3-EEBA-4D3C-99DB-98D59882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photosynthesis and investigate how light intensity affects a measured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proxy for its rate.</a:t>
            </a:r>
          </a:p>
        </p:txBody>
      </p:sp>
      <p:sp>
        <p:nvSpPr>
          <p:cNvPr id="15" name="Mission: make a prediction, test the method and defend a conclus">
            <a:extLst xmlns:a="http://schemas.openxmlformats.org/drawingml/2006/main">
              <a:ext uri="{FF2B5EF4-FFF2-40B4-BE49-F238E27FC236}">
                <a16:creationId xmlns:a16="http://schemas.microsoft.com/office/drawing/2014/main" id="{A6CB3626-D4F4-4D51-83FE-4FE62D50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make a prediction, test the method and defend a conclusion.</a:t>
            </a:r>
          </a:p>
        </p:txBody>
      </p:sp>
      <p:sp>
        <p:nvSpPr>
          <p:cNvPr id="16" name="A good investigation records a limit as well as a pattern.">
            <a:extLst xmlns:a="http://schemas.openxmlformats.org/drawingml/2006/main">
              <a:ext uri="{FF2B5EF4-FFF2-40B4-BE49-F238E27FC236}">
                <a16:creationId xmlns:a16="http://schemas.microsoft.com/office/drawing/2014/main" id="{6CFA4D55-8029-44AA-93E4-A58581F1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good investigation records a limit as well as a pattern.</a:t>
            </a:r>
          </a:p>
        </p:txBody>
      </p:sp>
    </p:spTree>
    <p:extLst>
      <p:ext uri="{BB962C8B-B14F-4D97-AF65-F5344CB8AC3E}">
        <p14:creationId xmlns:p14="http://schemas.microsoft.com/office/powerpoint/2010/main" val="861293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1E92A2A-028D-4B04-B9C7-6B20B3B6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DEA0DB1-CBD5-47C5-92B2-5032053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B2C59AB-B1E5-4232-86CD-FA497B9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E391E58-72E2-4AB7-A676-30BCEEC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DF3D6062-B0B6-4A29-8EC5-8CB4317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535E424-EF46-444F-9E80-5180949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Materials, energy and measurement">
            <a:extLst xmlns:a="http://schemas.openxmlformats.org/drawingml/2006/main">
              <a:ext uri="{FF2B5EF4-FFF2-40B4-BE49-F238E27FC236}">
                <a16:creationId xmlns:a16="http://schemas.microsoft.com/office/drawing/2014/main" id="{4E9AB09B-2C43-4CB4-B96D-4A696DE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Materials, energy and measurement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5305FDC-0C13-4955-8346-8925112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0300F948-0AC6-4AD9-BEAC-8DD07FC9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E18B2942-6933-4DE1-B02F-7A33E99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ere is chlorophyll found in plant cells?">
            <a:extLst xmlns:a="http://schemas.openxmlformats.org/drawingml/2006/main">
              <a:ext uri="{FF2B5EF4-FFF2-40B4-BE49-F238E27FC236}">
                <a16:creationId xmlns:a16="http://schemas.microsoft.com/office/drawing/2014/main" id="{2464A2CE-C1F7-4B73-A189-DF7B3953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Where is chlorophyll found in plant cells?</a:t>
            </a:r>
          </a:p>
        </p:txBody>
      </p:sp>
      <p:sp>
        <p:nvSpPr>
          <p:cNvPr id="12" name="R2. What does a control variable do?">
            <a:extLst xmlns:a="http://schemas.openxmlformats.org/drawingml/2006/main">
              <a:ext uri="{FF2B5EF4-FFF2-40B4-BE49-F238E27FC236}">
                <a16:creationId xmlns:a16="http://schemas.microsoft.com/office/drawing/2014/main" id="{EC663D32-E45A-4D46-8A54-D3F5943B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a control variable do?</a:t>
            </a:r>
          </a:p>
        </p:txBody>
      </p:sp>
      <p:sp>
        <p:nvSpPr>
          <p:cNvPr id="13" name="R3. What does “per minute” tell us?">
            <a:extLst xmlns:a="http://schemas.openxmlformats.org/drawingml/2006/main">
              <a:ext uri="{FF2B5EF4-FFF2-40B4-BE49-F238E27FC236}">
                <a16:creationId xmlns:a16="http://schemas.microsoft.com/office/drawing/2014/main" id="{CAB80639-AD42-48E2-9D8B-5EA23EF7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What does “per minute” tell us?</a:t>
            </a:r>
          </a:p>
        </p:txBody>
      </p:sp>
    </p:spTree>
    <p:extLst>
      <p:ext uri="{BB962C8B-B14F-4D97-AF65-F5344CB8AC3E}">
        <p14:creationId xmlns:p14="http://schemas.microsoft.com/office/powerpoint/2010/main" val="400148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4CC2174D-4E8E-4DAD-A0C0-F1D28739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817A0D3-C205-426B-AF6E-7D011D7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707D642-803F-450E-A00F-8518427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05B655C-20A1-41D8-ADE6-40BE962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B56DFD1-7471-4C7B-B8B0-F78FBEBE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332F6D37-13D4-4048-A331-023873B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ad the reaction accurately">
            <a:extLst xmlns:a="http://schemas.openxmlformats.org/drawingml/2006/main">
              <a:ext uri="{FF2B5EF4-FFF2-40B4-BE49-F238E27FC236}">
                <a16:creationId xmlns:a16="http://schemas.microsoft.com/office/drawing/2014/main" id="{111279AB-1378-48FE-882C-1A79587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reaction accurately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617C460-AD73-4EE4-9BFC-F6C0360E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C0ECF2D9-69B6-4901-A9AE-F4644F1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59C9E792-ECBC-4FE4-9358-EF6185C9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Matter changes; light supplies the energy">
            <a:extLst xmlns:a="http://schemas.openxmlformats.org/drawingml/2006/main">
              <a:ext uri="{FF2B5EF4-FFF2-40B4-BE49-F238E27FC236}">
                <a16:creationId xmlns:a16="http://schemas.microsoft.com/office/drawing/2014/main" id="{4635BEFF-731F-465F-87DA-6A3DF44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Matter changes; light supplies the energy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FAFB032-2CD6-4C48-989B-DDD47AB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3284424"/>
            <a:ext cx="2137342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Carbon dioxide&#10;+ water">
            <a:extLst xmlns:a="http://schemas.openxmlformats.org/drawingml/2006/main">
              <a:ext uri="{FF2B5EF4-FFF2-40B4-BE49-F238E27FC236}">
                <a16:creationId xmlns:a16="http://schemas.microsoft.com/office/drawing/2014/main" id="{FAF186AC-449A-4824-9664-F955B030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3424578"/>
            <a:ext cx="1857035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+ water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9F0FEB6-5E1F-4C48-83EE-7107F0AB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9963" y="3739923"/>
            <a:ext cx="174841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5596089-F714-4C62-83E2-E8B0899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73852" y="369086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Diagram label: Light energy&#10;chlorophyll">
            <a:extLst xmlns:a="http://schemas.openxmlformats.org/drawingml/2006/main">
              <a:ext uri="{FF2B5EF4-FFF2-40B4-BE49-F238E27FC236}">
                <a16:creationId xmlns:a16="http://schemas.microsoft.com/office/drawing/2014/main" id="{1899E7C9-EAD9-4E7F-903F-04CE29DC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887" y="2863963"/>
            <a:ext cx="1962150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Light energy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chlorophyll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CA7FB20-4CEC-4DE5-AD00-FF0672F4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152" y="3284424"/>
            <a:ext cx="2137342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8" name="Diagram label: Glucose&#10;+ oxygen">
            <a:extLst xmlns:a="http://schemas.openxmlformats.org/drawingml/2006/main">
              <a:ext uri="{FF2B5EF4-FFF2-40B4-BE49-F238E27FC236}">
                <a16:creationId xmlns:a16="http://schemas.microsoft.com/office/drawing/2014/main" id="{908504FA-0172-4CCD-A724-FBA0FE7D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305" y="3424578"/>
            <a:ext cx="1857035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+ oxygen</a:t>
            </a:r>
          </a:p>
        </p:txBody>
      </p:sp>
      <p:sp>
        <p:nvSpPr>
          <p:cNvPr id="19" name="Diagram label: Glucose can build biomass or be used in respiration.&#10;Photosynthesis takes in energy.">
            <a:extLst xmlns:a="http://schemas.openxmlformats.org/drawingml/2006/main">
              <a:ext uri="{FF2B5EF4-FFF2-40B4-BE49-F238E27FC236}">
                <a16:creationId xmlns:a16="http://schemas.microsoft.com/office/drawing/2014/main" id="{BE8909F2-40B4-4613-945E-845C5B9E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4720998"/>
            <a:ext cx="6236834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 can build biomass or be used in respiration.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Photosynthesis takes in energy.</a:t>
            </a:r>
          </a:p>
        </p:txBody>
      </p:sp>
      <p:sp>
        <p:nvSpPr>
          <p:cNvPr id="20" name="Carbon dioxide + water → glucose + oxygen.  Light energy is abso">
            <a:extLst xmlns:a="http://schemas.openxmlformats.org/drawingml/2006/main">
              <a:ext uri="{FF2B5EF4-FFF2-40B4-BE49-F238E27FC236}">
                <a16:creationId xmlns:a16="http://schemas.microsoft.com/office/drawing/2014/main" id="{BB5F99D0-77B5-47C3-BB99-265127C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 + water → glucose + oxygen. Light energy is absorbed by chlorophyll. Photosynthesis takes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energy.</a:t>
            </a:r>
          </a:p>
        </p:txBody>
      </p:sp>
    </p:spTree>
    <p:extLst>
      <p:ext uri="{BB962C8B-B14F-4D97-AF65-F5344CB8AC3E}">
        <p14:creationId xmlns:p14="http://schemas.microsoft.com/office/powerpoint/2010/main" val="216185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93D67735-F359-48B3-B423-1884964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4EAC216-580C-4657-AAF3-42E4848E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9E63C21-AB05-4400-8AAF-F6E1DE1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D94C77C-740E-400F-A83E-D650B2C4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47731636-5027-498A-ADDA-D96BFC3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6B1F03F-598A-4D43-B13C-36A6FB74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plan the measurement before moving the lamp">
            <a:extLst xmlns:a="http://schemas.openxmlformats.org/drawingml/2006/main">
              <a:ext uri="{FF2B5EF4-FFF2-40B4-BE49-F238E27FC236}">
                <a16:creationId xmlns:a16="http://schemas.microsoft.com/office/drawing/2014/main" id="{5C8C0F92-9973-43BD-AFEB-3CD5C98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plan the measurement before moving the lamp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422BDDB-1D47-4966-9410-6F5CF4DD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CC94B4F4-29FA-4E2B-9743-7DAF3EB3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C53B81FF-0575-4813-98C2-9AACD29A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Change light; monitor temperature">
            <a:extLst xmlns:a="http://schemas.openxmlformats.org/drawingml/2006/main">
              <a:ext uri="{FF2B5EF4-FFF2-40B4-BE49-F238E27FC236}">
                <a16:creationId xmlns:a16="http://schemas.microsoft.com/office/drawing/2014/main" id="{40C833FD-B4C1-4AB9-80C2-120201C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light; monitor temperature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9509AB9-1DE2-407B-A7C3-B9DB069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3074194"/>
            <a:ext cx="910998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C9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3" name="Diagram label: Cool LED&#10;lamp">
            <a:extLst xmlns:a="http://schemas.openxmlformats.org/drawingml/2006/main">
              <a:ext uri="{FF2B5EF4-FFF2-40B4-BE49-F238E27FC236}">
                <a16:creationId xmlns:a16="http://schemas.microsoft.com/office/drawing/2014/main" id="{AEAFA235-FB23-4BC8-8D78-C719422B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3179309"/>
            <a:ext cx="840921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Cool LED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lamp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454E625-E9DF-44E3-A361-BE488B9C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3620" y="3319463"/>
            <a:ext cx="185353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FC7E6E7-ABAD-4FCA-BBBC-978C7756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2624" y="327040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04CCA65-B4C3-4EFF-98F5-6EE4DD5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23" y="2688771"/>
            <a:ext cx="2102304" cy="2137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9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EB8A310-BC1A-4E89-9F22-6345FB0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31038" y="3039155"/>
            <a:ext cx="18920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366D4AE-E3AD-4C77-97B6-5451C795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2037" y="3389539"/>
            <a:ext cx="953" cy="1016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069">
            <a:solidFill>
              <a:srgbClr val="3F7D6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71C6513-9A94-468D-9618-AFF931C8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656614" y="3915115"/>
            <a:ext cx="385422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3F7D6E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D4A80CB-011B-4EDE-82F1-92557556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2037" y="3634808"/>
            <a:ext cx="420461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3F7D6E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F97AEFC-00B3-4C3D-BBEC-2F9813A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975" y="3214347"/>
            <a:ext cx="105115" cy="105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E37E4C-67FB-4AA8-BF9E-29BF51D5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3025140"/>
            <a:ext cx="77084" cy="77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3" name="Diagram label: Pondweed + solution">
            <a:extLst xmlns:a="http://schemas.openxmlformats.org/drawingml/2006/main">
              <a:ext uri="{FF2B5EF4-FFF2-40B4-BE49-F238E27FC236}">
                <a16:creationId xmlns:a16="http://schemas.microsoft.com/office/drawing/2014/main" id="{1365F7A4-34A0-4C61-BECB-26089895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115" y="4931229"/>
            <a:ext cx="1786958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Pondweed + solution</a:t>
            </a:r>
          </a:p>
        </p:txBody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3CD2DEF-3CB3-4F02-A9C8-96F2470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96" y="2758848"/>
            <a:ext cx="700768" cy="1576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5" name="Diagram label: Monitor&#10;water&#10;temperature">
            <a:extLst xmlns:a="http://schemas.openxmlformats.org/drawingml/2006/main">
              <a:ext uri="{FF2B5EF4-FFF2-40B4-BE49-F238E27FC236}">
                <a16:creationId xmlns:a16="http://schemas.microsoft.com/office/drawing/2014/main" id="{B17D3D88-C501-4C7E-B6CC-9113E48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457" y="4440691"/>
            <a:ext cx="946037" cy="7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Monitor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temperature</a:t>
            </a:r>
          </a:p>
        </p:txBody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3E08483-153E-4E3A-B8A0-538A0ABB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887" y="4265499"/>
            <a:ext cx="77084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7" name="Diagram label: Light sensor&#10;fixed orientation">
            <a:extLst xmlns:a="http://schemas.openxmlformats.org/drawingml/2006/main">
              <a:ext uri="{FF2B5EF4-FFF2-40B4-BE49-F238E27FC236}">
                <a16:creationId xmlns:a16="http://schemas.microsoft.com/office/drawing/2014/main" id="{55C24412-7D06-47B9-BD83-CF8E340F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464" y="4931229"/>
            <a:ext cx="133145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sensor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fixed orientation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1B15FD5-84B3-44F4-80B2-862B0BB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12621" y="4055269"/>
            <a:ext cx="2943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29" name="Diagram label: Measure distance">
            <a:extLst xmlns:a="http://schemas.openxmlformats.org/drawingml/2006/main">
              <a:ext uri="{FF2B5EF4-FFF2-40B4-BE49-F238E27FC236}">
                <a16:creationId xmlns:a16="http://schemas.microsoft.com/office/drawing/2014/main" id="{DE33234B-F634-4652-B89D-CB93568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4195422"/>
            <a:ext cx="164680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distance</a:t>
            </a:r>
          </a:p>
        </p:txBody>
      </p:sp>
      <p:sp>
        <p:nvSpPr>
          <p:cNvPr id="30" name="Diagram label: Same shoot, solution, timing and background light.">
            <a:extLst xmlns:a="http://schemas.openxmlformats.org/drawingml/2006/main">
              <a:ext uri="{FF2B5EF4-FFF2-40B4-BE49-F238E27FC236}">
                <a16:creationId xmlns:a16="http://schemas.microsoft.com/office/drawing/2014/main" id="{DD193918-B2D9-4B89-83A0-2DF45743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5421766"/>
            <a:ext cx="6096680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shoot, solution, timing and background light.</a:t>
            </a:r>
          </a:p>
        </p:txBody>
      </p:sp>
      <p:sp>
        <p:nvSpPr>
          <p:cNvPr id="31" name="Change the light level and record it.  Count bubbles over equal ">
            <a:extLst xmlns:a="http://schemas.openxmlformats.org/drawingml/2006/main">
              <a:ext uri="{FF2B5EF4-FFF2-40B4-BE49-F238E27FC236}">
                <a16:creationId xmlns:a16="http://schemas.microsoft.com/office/drawing/2014/main" id="{9B7171F3-6519-48E9-90E6-465800D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the light level and record it. Count bubbles over equal one-minute intervals. Keep the shoot and other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conditions comparable.</a:t>
            </a:r>
          </a:p>
        </p:txBody>
      </p:sp>
    </p:spTree>
    <p:extLst>
      <p:ext uri="{BB962C8B-B14F-4D97-AF65-F5344CB8AC3E}">
        <p14:creationId xmlns:p14="http://schemas.microsoft.com/office/powerpoint/2010/main" val="660672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066F21D2-27B7-47B1-A200-2BB3AAE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CA42321-CAC9-4D17-912B-44477833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AD61E6F-31DE-477C-8DAF-CEEF737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73EC1A9-344E-4852-A5FB-9562206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DEB2748-C213-48B4-947A-D140C9C1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D590279-02EA-413B-842F-EDF246E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ork a rate and a mean">
            <a:extLst xmlns:a="http://schemas.openxmlformats.org/drawingml/2006/main">
              <a:ext uri="{FF2B5EF4-FFF2-40B4-BE49-F238E27FC236}">
                <a16:creationId xmlns:a16="http://schemas.microsoft.com/office/drawing/2014/main" id="{9058D07A-CC00-4B82-AC63-BAF9DC6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 a rate and a mean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B78F98D-9FE3-4B03-924B-ACCB628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A949C8E9-2061-470A-A5DA-AEAAC53C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579126B8-FD67-4EDD-9F7A-49144F1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Constructed results: compare mean bubble rates">
            <a:extLst xmlns:a="http://schemas.openxmlformats.org/drawingml/2006/main">
              <a:ext uri="{FF2B5EF4-FFF2-40B4-BE49-F238E27FC236}">
                <a16:creationId xmlns:a16="http://schemas.microsoft.com/office/drawing/2014/main" id="{B3806F07-B068-4AA8-A6AD-38530B3E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results: compare mean bubble rates</a:t>
            </a:r>
          </a:p>
        </p:txBody>
      </p:sp>
      <p:sp>
        <p:nvSpPr>
          <p:cNvPr id="12" name="Diagram label: Mean bubbles per minute; light sensor level below">
            <a:extLst xmlns:a="http://schemas.openxmlformats.org/drawingml/2006/main">
              <a:ext uri="{FF2B5EF4-FFF2-40B4-BE49-F238E27FC236}">
                <a16:creationId xmlns:a16="http://schemas.microsoft.com/office/drawing/2014/main" id="{40378B24-FCD4-4F1F-8761-658B1DF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373426"/>
            <a:ext cx="630691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bubbles per minute; light sensor level below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6411BD9-3790-4CA7-82FB-032E0E20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EF9E27F-5FBD-4951-81E9-19F4AA1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793887"/>
            <a:ext cx="953" cy="2207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2C021B2-FDAE-4FCB-B1EB-978121C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A78C663F-906F-4BA0-BDDE-C4ED6A8C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875167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1A8F9E1-AA26-42F5-A5CA-2FEC4F5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4475729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8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CA446644-363A-4043-88C6-C439425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349591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FF59C7-3A0A-438B-9F57-00E53AB7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950154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0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BF0233F6-14F0-4CEA-9962-E5C86525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824015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84149A2-D589-4577-8169-C993B6B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424578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2" name="Diagram label: 15">
            <a:extLst xmlns:a="http://schemas.openxmlformats.org/drawingml/2006/main">
              <a:ext uri="{FF2B5EF4-FFF2-40B4-BE49-F238E27FC236}">
                <a16:creationId xmlns:a16="http://schemas.microsoft.com/office/drawing/2014/main" id="{4673F3B5-6B18-46AA-B162-411D189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298439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8A76FF2-D14B-4A23-AB58-9D02D63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899002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4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42146D62-ECB8-47C7-91FB-B4E2080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277286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EA9C599-FE57-46D8-986B-3928067D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4475729"/>
            <a:ext cx="1483292" cy="525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6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1B05C645-8956-46D6-878B-F929FF0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4195422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7" name="Diagram label: 300 lux">
            <a:extLst xmlns:a="http://schemas.openxmlformats.org/drawingml/2006/main">
              <a:ext uri="{FF2B5EF4-FFF2-40B4-BE49-F238E27FC236}">
                <a16:creationId xmlns:a16="http://schemas.microsoft.com/office/drawing/2014/main" id="{DC16FE06-C962-4872-9668-758197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300 lux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A421946-B0FA-4C25-BB4B-DCD670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912" y="3950154"/>
            <a:ext cx="1483292" cy="1051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9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1CE81F96-463B-4027-8E63-CBB90F8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912" y="3669846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0" name="Diagram label: 600 lux">
            <a:extLst xmlns:a="http://schemas.openxmlformats.org/drawingml/2006/main">
              <a:ext uri="{FF2B5EF4-FFF2-40B4-BE49-F238E27FC236}">
                <a16:creationId xmlns:a16="http://schemas.microsoft.com/office/drawing/2014/main" id="{DBB53D5C-7C27-4E40-831B-338192C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873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600 lux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50E42FA-92D8-4B10-B3B9-3E41D3D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472" y="3214347"/>
            <a:ext cx="1483292" cy="178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32" name="Diagram label: 17">
            <a:extLst xmlns:a="http://schemas.openxmlformats.org/drawingml/2006/main">
              <a:ext uri="{FF2B5EF4-FFF2-40B4-BE49-F238E27FC236}">
                <a16:creationId xmlns:a16="http://schemas.microsoft.com/office/drawing/2014/main" id="{417AB097-3374-4140-B5FC-2370BF0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472" y="2934040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17</a:t>
            </a:r>
          </a:p>
        </p:txBody>
      </p:sp>
      <p:sp>
        <p:nvSpPr>
          <p:cNvPr id="33" name="Diagram label: 1200 lux">
            <a:extLst xmlns:a="http://schemas.openxmlformats.org/drawingml/2006/main">
              <a:ext uri="{FF2B5EF4-FFF2-40B4-BE49-F238E27FC236}">
                <a16:creationId xmlns:a16="http://schemas.microsoft.com/office/drawing/2014/main" id="{C5066656-8B95-417F-B84A-6755029C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434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1200 lux</a:t>
            </a:r>
          </a:p>
        </p:txBody>
      </p:sp>
      <p:sp>
        <p:nvSpPr>
          <p:cNvPr id="34" name="Worked example:12 bubbles in 2 minutes =6 per minute.  Three one">
            <a:extLst xmlns:a="http://schemas.openxmlformats.org/drawingml/2006/main">
              <a:ext uri="{FF2B5EF4-FFF2-40B4-BE49-F238E27FC236}">
                <a16:creationId xmlns:a16="http://schemas.microsoft.com/office/drawing/2014/main" id="{A7539C17-FE96-4334-8F7A-34FFB03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Worked example:12 bubbles in 2 minutes =6 per minute. Three one-minute counts 4,5,6 have mean 5.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is a proxy, not an exact oxygen volume.</a:t>
            </a:r>
          </a:p>
        </p:txBody>
      </p:sp>
    </p:spTree>
    <p:extLst>
      <p:ext uri="{BB962C8B-B14F-4D97-AF65-F5344CB8AC3E}">
        <p14:creationId xmlns:p14="http://schemas.microsoft.com/office/powerpoint/2010/main" val="1116669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3C9BEC3-8749-4A7E-937B-E1BC345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A3D5ED6-39E6-4E51-9897-4F22C160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E0A6D48-E80F-40F9-9740-BAE3F3DD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754CBBC-8795-41F4-BE22-7C5AA04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BDC368A5-1837-436D-ADEB-A69DC96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2B5E9FA-E5DE-43C9-B00A-99FCAF0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nvestigation team: predict, then calculate">
            <a:extLst xmlns:a="http://schemas.openxmlformats.org/drawingml/2006/main">
              <a:ext uri="{FF2B5EF4-FFF2-40B4-BE49-F238E27FC236}">
                <a16:creationId xmlns:a16="http://schemas.microsoft.com/office/drawing/2014/main" id="{F4295D4B-0479-45C4-8581-D06921A0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Investigation team: predict, then calculate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6E9CE12-1DA4-47C5-B43B-33B9DC6D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E14D0DBC-E951-42EA-8553-F8AB421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F65B6329-D31C-4002-98DC-F9D9CBC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Predict the largest mean rate. Calculate the mean for each l">
            <a:extLst xmlns:a="http://schemas.openxmlformats.org/drawingml/2006/main">
              <a:ext uri="{FF2B5EF4-FFF2-40B4-BE49-F238E27FC236}">
                <a16:creationId xmlns:a16="http://schemas.microsoft.com/office/drawing/2014/main" id="{403D2FFA-EBCC-4443-8E39-9D534B9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Predict the largest mean rate. Calculate the mean for each light level.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09471"/>
                <a:gridCol w="3598715"/>
                <a:gridCol w="3817014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Lamp distance(cm)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Mean sensor(lux)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Three 1-min counts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4,5,6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600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9,10,11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1200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16,17,18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sample data; same shoot/solution and 20°C; counts ar">
            <a:extLst xmlns:a="http://schemas.openxmlformats.org/drawingml/2006/main">
              <a:ext uri="{FF2B5EF4-FFF2-40B4-BE49-F238E27FC236}">
                <a16:creationId xmlns:a16="http://schemas.microsoft.com/office/drawing/2014/main" id="{EBC5EE2B-EC7C-454F-B282-9E560F4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sample data; same shoot/solution and 20°C; counts are bubbles.</a:t>
            </a:r>
          </a:p>
        </p:txBody>
      </p:sp>
    </p:spTree>
    <p:extLst>
      <p:ext uri="{BB962C8B-B14F-4D97-AF65-F5344CB8AC3E}">
        <p14:creationId xmlns:p14="http://schemas.microsoft.com/office/powerpoint/2010/main" val="1333469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58167F32-8905-4EB2-A187-C0CFBAC1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65E9C34-72C0-4A92-BF1D-96253165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58DDAE6-08CE-4475-9613-4DBDFF53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F65F9A2-A3F2-4AA7-A52D-B7FED3EC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EF5299B1-3750-4B7E-9CE4-BA841233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356127A-8736-445A-BB39-A8BCFEA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Method repair challenge">
            <a:extLst xmlns:a="http://schemas.openxmlformats.org/drawingml/2006/main">
              <a:ext uri="{FF2B5EF4-FFF2-40B4-BE49-F238E27FC236}">
                <a16:creationId xmlns:a16="http://schemas.microsoft.com/office/drawing/2014/main" id="{DDBF5C05-61D8-4EF2-AF27-BEFC5119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Method repair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1525D2D-ED77-4448-B0AC-9F436A8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5C97ADD7-061D-41A4-BEB2-69A3C01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62F7D087-F6C9-4B5C-9ECD-89F8069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Change light; monitor temperature">
            <a:extLst xmlns:a="http://schemas.openxmlformats.org/drawingml/2006/main">
              <a:ext uri="{FF2B5EF4-FFF2-40B4-BE49-F238E27FC236}">
                <a16:creationId xmlns:a16="http://schemas.microsoft.com/office/drawing/2014/main" id="{233E50BC-8D56-4F84-A562-1D401EA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light; monitor temperature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047BAF4-31B1-4F67-B296-5366BBD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3074194"/>
            <a:ext cx="910998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C9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3" name="Diagram label: Cool LED&#10;lamp">
            <a:extLst xmlns:a="http://schemas.openxmlformats.org/drawingml/2006/main">
              <a:ext uri="{FF2B5EF4-FFF2-40B4-BE49-F238E27FC236}">
                <a16:creationId xmlns:a16="http://schemas.microsoft.com/office/drawing/2014/main" id="{6A9225E4-12CE-46E9-B2E2-F754AED1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3179309"/>
            <a:ext cx="840921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Cool LED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lamp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E9AB0F8-D024-4DCF-9F2A-4F131E8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3620" y="3319463"/>
            <a:ext cx="185353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4C54FD4-8D6A-4B51-887B-40C3EC9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2624" y="327040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20825D3-F17E-4293-8BBF-B3134A3C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23" y="2688771"/>
            <a:ext cx="2102304" cy="2137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9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88218B3-50BA-4754-83FE-FED4FAD9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31038" y="3039155"/>
            <a:ext cx="18920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966F26F-29D8-4E22-92E3-DDF203C3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2037" y="3389539"/>
            <a:ext cx="953" cy="1016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069">
            <a:solidFill>
              <a:srgbClr val="3F7D6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9F9B9DC-F794-4E43-A075-86B4C91E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656614" y="3915115"/>
            <a:ext cx="385422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3F7D6E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A3D80A7-7244-4E76-A978-43C2611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2037" y="3634808"/>
            <a:ext cx="420461" cy="245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3F7D6E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418D769-FD2C-4407-8B85-9E0BC91E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975" y="3214347"/>
            <a:ext cx="105115" cy="105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A8331A2-A3F9-4346-9DCF-5595647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3025140"/>
            <a:ext cx="77084" cy="77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23" name="Diagram label: Pondweed + solution">
            <a:extLst xmlns:a="http://schemas.openxmlformats.org/drawingml/2006/main">
              <a:ext uri="{FF2B5EF4-FFF2-40B4-BE49-F238E27FC236}">
                <a16:creationId xmlns:a16="http://schemas.microsoft.com/office/drawing/2014/main" id="{B3409019-8A74-4C11-89BC-9931C5B8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115" y="4931229"/>
            <a:ext cx="1786958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Pondweed + solution</a:t>
            </a:r>
          </a:p>
        </p:txBody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C14C5D7-4121-4B3F-861D-3654167A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96" y="2758848"/>
            <a:ext cx="700768" cy="1576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5" name="Diagram label: Monitor&#10;water&#10;temperature">
            <a:extLst xmlns:a="http://schemas.openxmlformats.org/drawingml/2006/main">
              <a:ext uri="{FF2B5EF4-FFF2-40B4-BE49-F238E27FC236}">
                <a16:creationId xmlns:a16="http://schemas.microsoft.com/office/drawing/2014/main" id="{2A103978-8D91-4BC8-B029-71D4B8B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457" y="4440691"/>
            <a:ext cx="946037" cy="7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Monitor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temperature</a:t>
            </a:r>
          </a:p>
        </p:txBody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9D5842A-D34D-4FDB-BA8C-9C849473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887" y="4265499"/>
            <a:ext cx="77084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7" name="Diagram label: Light sensor&#10;fixed orientation">
            <a:extLst xmlns:a="http://schemas.openxmlformats.org/drawingml/2006/main">
              <a:ext uri="{FF2B5EF4-FFF2-40B4-BE49-F238E27FC236}">
                <a16:creationId xmlns:a16="http://schemas.microsoft.com/office/drawing/2014/main" id="{CCF925CB-A6A2-4491-A381-9DD1B2F1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464" y="4931229"/>
            <a:ext cx="133145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sensor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fixed orientation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5074D76-093D-40CA-9D40-05EFDE63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12621" y="4055269"/>
            <a:ext cx="2943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29" name="Diagram label: Measure distance">
            <a:extLst xmlns:a="http://schemas.openxmlformats.org/drawingml/2006/main">
              <a:ext uri="{FF2B5EF4-FFF2-40B4-BE49-F238E27FC236}">
                <a16:creationId xmlns:a16="http://schemas.microsoft.com/office/drawing/2014/main" id="{89E6BDF8-06BD-4DCF-B0AC-B703F9F2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4195422"/>
            <a:ext cx="164680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distance</a:t>
            </a:r>
          </a:p>
        </p:txBody>
      </p:sp>
      <p:sp>
        <p:nvSpPr>
          <p:cNvPr id="30" name="Diagram label: Same shoot, solution, timing and background light.">
            <a:extLst xmlns:a="http://schemas.openxmlformats.org/drawingml/2006/main">
              <a:ext uri="{FF2B5EF4-FFF2-40B4-BE49-F238E27FC236}">
                <a16:creationId xmlns:a16="http://schemas.microsoft.com/office/drawing/2014/main" id="{1B402E6E-9C7F-411D-A2DB-49C47606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5421766"/>
            <a:ext cx="6096680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shoot, solution, timing and background light.</a:t>
            </a:r>
          </a:p>
        </p:txBody>
      </p:sp>
      <p:sp>
        <p:nvSpPr>
          <p:cNvPr id="31" name="W2. A group changes the shoot and the lamp position together.  C">
            <a:extLst xmlns:a="http://schemas.openxmlformats.org/drawingml/2006/main">
              <a:ext uri="{FF2B5EF4-FFF2-40B4-BE49-F238E27FC236}">
                <a16:creationId xmlns:a16="http://schemas.microsoft.com/office/drawing/2014/main" id="{AC07AB94-D6E4-42F9-8FA9-4EB6A6F1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A group changes the shoot and the lamp position together. Can it isolate the light effect? Repair one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step.</a:t>
            </a:r>
          </a:p>
        </p:txBody>
      </p:sp>
    </p:spTree>
    <p:extLst>
      <p:ext uri="{BB962C8B-B14F-4D97-AF65-F5344CB8AC3E}">
        <p14:creationId xmlns:p14="http://schemas.microsoft.com/office/powerpoint/2010/main" val="1968956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93741FF-70C6-4B1C-83D5-C58CC9DA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3407163-87A5-4BFB-B73A-725F2351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BB38FA8-7D86-4CFE-9082-628DCDE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72EC49B-54F3-41C4-A9D2-5B31B123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0B0CDBC-6E6F-4DDA-8022-622E9BEE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8FD3ED7-1A9C-4591-9EA3-FCB247D5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Which conclusion earns its claim?">
            <a:extLst xmlns:a="http://schemas.openxmlformats.org/drawingml/2006/main">
              <a:ext uri="{FF2B5EF4-FFF2-40B4-BE49-F238E27FC236}">
                <a16:creationId xmlns:a16="http://schemas.microsoft.com/office/drawing/2014/main" id="{F3A6C100-2B2D-430A-85FE-4476D74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conclusion earns its claim?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96CF365-A241-4491-A9D0-BE1BFEF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F96E8F1F-F61C-45E1-AD69-9606912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77001FDB-8AB7-44A9-BB1A-D09DC85B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Within this range, higher measured light gave a higher mean">
            <a:extLst xmlns:a="http://schemas.openxmlformats.org/drawingml/2006/main">
              <a:ext uri="{FF2B5EF4-FFF2-40B4-BE49-F238E27FC236}">
                <a16:creationId xmlns:a16="http://schemas.microsoft.com/office/drawing/2014/main" id="{2114105E-AD49-4877-9E9C-35AF6E6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“Within this range, higher measured light gave a higher mean count.”</a:t>
            </a:r>
          </a:p>
        </p:txBody>
      </p:sp>
      <p:sp>
        <p:nvSpPr>
          <p:cNvPr id="12" name="Does that prove unlimited growth or exact oxygen volume?">
            <a:extLst xmlns:a="http://schemas.openxmlformats.org/drawingml/2006/main">
              <a:ext uri="{FF2B5EF4-FFF2-40B4-BE49-F238E27FC236}">
                <a16:creationId xmlns:a16="http://schemas.microsoft.com/office/drawing/2014/main" id="{847F22AF-B96E-48BF-9AFD-7F89E96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that prove unlimited growth or exact oxygen volume?</a:t>
            </a:r>
          </a:p>
        </p:txBody>
      </p:sp>
    </p:spTree>
    <p:extLst>
      <p:ext uri="{BB962C8B-B14F-4D97-AF65-F5344CB8AC3E}">
        <p14:creationId xmlns:p14="http://schemas.microsoft.com/office/powerpoint/2010/main" val="7348836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E05AE779-9C02-4A29-B3EE-376628E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ED10CE5-4804-42F5-B5D0-228DC1A6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C8E1F9-0F23-4D1B-9FFC-A0B566D2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D9D6C69-BE6B-4E21-94D7-C2419BC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F4F22B0F-9015-4F2F-B706-20BA7E0F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67AFD6A-6F01-47AD-81C5-BCC6B218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valid scientific conclusion">
            <a:extLst xmlns:a="http://schemas.openxmlformats.org/drawingml/2006/main">
              <a:ext uri="{FF2B5EF4-FFF2-40B4-BE49-F238E27FC236}">
                <a16:creationId xmlns:a16="http://schemas.microsoft.com/office/drawing/2014/main" id="{DA897A67-C1BA-4D99-B7C0-2DC42FC2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valid scientific conclusion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90D1AA0-815A-4566-9BD4-EC28C18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8237F02A-50F8-440A-81E6-49D3F97C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D60B8AE7-6D5C-4620-84DF-658D516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statement supported by the method.">
            <a:extLst xmlns:a="http://schemas.openxmlformats.org/drawingml/2006/main">
              <a:ext uri="{FF2B5EF4-FFF2-40B4-BE49-F238E27FC236}">
                <a16:creationId xmlns:a16="http://schemas.microsoft.com/office/drawing/2014/main" id="{FE65E59D-F52F-43A2-914B-8498C489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statement supported by the method.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7708339-D01A-44A2-87D7-DF1DF00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6F75279-6BB2-4218-8FCF-6B0DBAA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2CC452D5-20B5-4D69-B347-9032EC40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Oxygen is made from light as a material.">
            <a:extLst xmlns:a="http://schemas.openxmlformats.org/drawingml/2006/main">
              <a:ext uri="{FF2B5EF4-FFF2-40B4-BE49-F238E27FC236}">
                <a16:creationId xmlns:a16="http://schemas.microsoft.com/office/drawing/2014/main" id="{C4B0BC82-E446-496C-949B-1BC45410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 is made from light as a material.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768916E-0B7A-4B80-A356-DD761A03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3012AD31-12B6-4F77-A016-FD98D498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053B5FD2-241E-419A-B83C-678CCCF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Bubble count can indicate a pattern, but bubble size limits prec">
            <a:extLst xmlns:a="http://schemas.openxmlformats.org/drawingml/2006/main">
              <a:ext uri="{FF2B5EF4-FFF2-40B4-BE49-F238E27FC236}">
                <a16:creationId xmlns:a16="http://schemas.microsoft.com/office/drawing/2014/main" id="{4A656D00-483F-4499-A894-E5B2BCE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Bubble count can indicate a pattern, but bubble size limits precision.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10B39BC-F916-456D-B545-FB73557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8326BF91-4A4C-4332-976C-2FDA1E50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0E2866A3-B8C0-4497-A840-8A5EA63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wice the bubbles always means exactly twice the oxygen volume.">
            <a:extLst xmlns:a="http://schemas.openxmlformats.org/drawingml/2006/main">
              <a:ext uri="{FF2B5EF4-FFF2-40B4-BE49-F238E27FC236}">
                <a16:creationId xmlns:a16="http://schemas.microsoft.com/office/drawing/2014/main" id="{3403BA3D-6FB3-4585-88F1-39DF856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Twice the bubbles always means exactly twice the oxygen volume.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3874E17E-6E89-4366-92E2-BAB2BB3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ECEA2299-7C27-4CFC-A03D-4F2E36FC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F6887CAC-B34E-4508-B167-FA926271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Changing the shoot and light together isolates light.">
            <a:extLst xmlns:a="http://schemas.openxmlformats.org/drawingml/2006/main">
              <a:ext uri="{FF2B5EF4-FFF2-40B4-BE49-F238E27FC236}">
                <a16:creationId xmlns:a16="http://schemas.microsoft.com/office/drawing/2014/main" id="{A866BFFD-E253-4445-8D1C-09B29DD1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Changing the shoot and light together isolates light.</a:t>
            </a:r>
          </a:p>
        </p:txBody>
      </p:sp>
    </p:spTree>
    <p:extLst>
      <p:ext uri="{BB962C8B-B14F-4D97-AF65-F5344CB8AC3E}">
        <p14:creationId xmlns:p14="http://schemas.microsoft.com/office/powerpoint/2010/main" val="192698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A93AF99-0D17-4AA7-8963-C27F308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4563D1A-2950-4110-A462-73BB8C13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5E8B704-FFDF-4729-AA18-69C674FE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84C329E-C236-4AE4-8A82-0BBAEE4A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7BCB829-3680-4C7E-B4A7-3AF3908F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DBE86C20-97BA-4D2E-93CD-D519E44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Prepare your investigation brief">
            <a:extLst xmlns:a="http://schemas.openxmlformats.org/drawingml/2006/main">
              <a:ext uri="{FF2B5EF4-FFF2-40B4-BE49-F238E27FC236}">
                <a16:creationId xmlns:a16="http://schemas.microsoft.com/office/drawing/2014/main" id="{0F8387FC-6242-4BA3-9F46-B5FAD21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Prepare your investigation brief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6BD83FA-16BC-4295-AB79-E6B69A30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768EE357-099E-4652-84D2-642FD54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010A0CB6-D420-4F59-98F1-C3FA71E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esponse route.">
            <a:extLst xmlns:a="http://schemas.openxmlformats.org/drawingml/2006/main">
              <a:ext uri="{FF2B5EF4-FFF2-40B4-BE49-F238E27FC236}">
                <a16:creationId xmlns:a16="http://schemas.microsoft.com/office/drawing/2014/main" id="{5AB959B1-9F88-49D4-BFEA-461F139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response route.</a:t>
            </a:r>
          </a:p>
        </p:txBody>
      </p:sp>
      <p:sp>
        <p:nvSpPr>
          <p:cNvPr id="12" name="Include a reaction, method and evidence-based conclusion.">
            <a:extLst xmlns:a="http://schemas.openxmlformats.org/drawingml/2006/main">
              <a:ext uri="{FF2B5EF4-FFF2-40B4-BE49-F238E27FC236}">
                <a16:creationId xmlns:a16="http://schemas.microsoft.com/office/drawing/2014/main" id="{00AFC957-DEC7-42D5-B730-D67EAA2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Include a reaction, method and evidence-based conclusion.</a:t>
            </a:r>
          </a:p>
        </p:txBody>
      </p:sp>
    </p:spTree>
    <p:extLst>
      <p:ext uri="{BB962C8B-B14F-4D97-AF65-F5344CB8AC3E}">
        <p14:creationId xmlns:p14="http://schemas.microsoft.com/office/powerpoint/2010/main" val="1381135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C78923F-3054-4427-AE6B-A92AD21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C4EC5F2-ECE3-492B-8A5C-3597D5D8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EEDF04C-26A5-4BAE-B1D0-87E3318D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238538B-2379-4D28-A5D2-78FB8A3B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619F406-5B43-456D-A55B-267A47B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E917801A-72B7-4136-B3E6-561B10B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Use the evidence independently">
            <a:extLst xmlns:a="http://schemas.openxmlformats.org/drawingml/2006/main">
              <a:ext uri="{FF2B5EF4-FFF2-40B4-BE49-F238E27FC236}">
                <a16:creationId xmlns:a16="http://schemas.microsoft.com/office/drawing/2014/main" id="{1AA62ECA-0461-41E6-AA8E-8DC2976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 independently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7059B6A-7DA7-4AEB-B349-020609E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7537EFBD-E9C5-499D-B613-23AC232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BD443916-90F8-49A8-849B-F7DFEF6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Predict → calculate → explain → improve the method.">
            <a:extLst xmlns:a="http://schemas.openxmlformats.org/drawingml/2006/main">
              <a:ext uri="{FF2B5EF4-FFF2-40B4-BE49-F238E27FC236}">
                <a16:creationId xmlns:a16="http://schemas.microsoft.com/office/drawing/2014/main" id="{EAF5D322-EF79-444F-AA2E-20652C88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 → calculate → explain → improve the method.</a:t>
            </a:r>
          </a:p>
        </p:txBody>
      </p:sp>
      <p:sp>
        <p:nvSpPr>
          <p:cNvPr id="12" name="Keep constructed results separate from any actual observations.">
            <a:extLst xmlns:a="http://schemas.openxmlformats.org/drawingml/2006/main">
              <a:ext uri="{FF2B5EF4-FFF2-40B4-BE49-F238E27FC236}">
                <a16:creationId xmlns:a16="http://schemas.microsoft.com/office/drawing/2014/main" id="{84BAAEE6-44E6-41C5-94D6-111E5E3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constructed results separate from any actual observations.</a:t>
            </a:r>
          </a:p>
        </p:txBody>
      </p:sp>
    </p:spTree>
    <p:extLst>
      <p:ext uri="{BB962C8B-B14F-4D97-AF65-F5344CB8AC3E}">
        <p14:creationId xmlns:p14="http://schemas.microsoft.com/office/powerpoint/2010/main" val="6479761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FD3407B-FF91-4530-9698-A6F025E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FDBAE04-E5F8-4FB8-8909-F340D69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F615829-0888-4BAA-94B2-6FD4B984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02F493A-D9F6-45B5-8520-98E406B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B35EA049-D9C5-42D9-BDC8-81BDA37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05224B7-12D5-4113-BFDB-05C3B776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question: what did you measure?">
            <a:extLst xmlns:a="http://schemas.openxmlformats.org/drawingml/2006/main">
              <a:ext uri="{FF2B5EF4-FFF2-40B4-BE49-F238E27FC236}">
                <a16:creationId xmlns:a16="http://schemas.microsoft.com/office/drawing/2014/main" id="{6879730C-1EA7-4350-927C-D1B608C2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question: what did you measure?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755D107-4F8B-48EE-B83F-1B3997AE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B2DB9184-45F3-40CC-8C48-F7D2CD4E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E4776457-CB1D-4A5E-A025-D89E7065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ow your conclusion.">
            <a:extLst xmlns:a="http://schemas.openxmlformats.org/drawingml/2006/main">
              <a:ext uri="{FF2B5EF4-FFF2-40B4-BE49-F238E27FC236}">
                <a16:creationId xmlns:a16="http://schemas.microsoft.com/office/drawing/2014/main" id="{3264BB80-E3CE-4B53-A65E-833BF6B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Show your conclusion.</a:t>
            </a:r>
          </a:p>
        </p:txBody>
      </p:sp>
      <p:sp>
        <p:nvSpPr>
          <p:cNvPr id="12" name="Audience asks: “Count, volume, growth or photosynthesis itself?”">
            <a:extLst xmlns:a="http://schemas.openxmlformats.org/drawingml/2006/main">
              <a:ext uri="{FF2B5EF4-FFF2-40B4-BE49-F238E27FC236}">
                <a16:creationId xmlns:a16="http://schemas.microsoft.com/office/drawing/2014/main" id="{2EC3E613-EB10-42C2-843B-697BF2D9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“Count, volume, growth or photosynthesis itself?”</a:t>
            </a:r>
          </a:p>
        </p:txBody>
      </p:sp>
    </p:spTree>
    <p:extLst>
      <p:ext uri="{BB962C8B-B14F-4D97-AF65-F5344CB8AC3E}">
        <p14:creationId xmlns:p14="http://schemas.microsoft.com/office/powerpoint/2010/main" val="854625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901EC09-9D92-4994-82CF-E7BD1DB4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AF367E1-BD4D-4549-9026-3E2B03D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86EB0BE-515B-4028-8489-7F3151A1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32B20DB-8963-4171-8322-7AFBC79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AC966867-29A8-43C3-A748-544C8DD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79A9E436-6F22-4FFC-9067-AC68C06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strong brief names its limitation">
            <a:extLst xmlns:a="http://schemas.openxmlformats.org/drawingml/2006/main">
              <a:ext uri="{FF2B5EF4-FFF2-40B4-BE49-F238E27FC236}">
                <a16:creationId xmlns:a16="http://schemas.microsoft.com/office/drawing/2014/main" id="{4EF257A9-D7F6-48EE-AA91-3502F7D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strong brief names its limitation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2079AA7-32D6-4844-A102-3C568D0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572B6303-8021-49FF-AC2F-504D88F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4270F2AD-096A-43A6-B0F0-F3E70FE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The reaction explains the process.">
            <a:extLst xmlns:a="http://schemas.openxmlformats.org/drawingml/2006/main">
              <a:ext uri="{FF2B5EF4-FFF2-40B4-BE49-F238E27FC236}">
                <a16:creationId xmlns:a16="http://schemas.microsoft.com/office/drawing/2014/main" id="{755EFAAC-9DE0-4F3A-9E9F-2E9F1996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reaction explains the process.</a:t>
            </a:r>
          </a:p>
        </p:txBody>
      </p:sp>
      <p:sp>
        <p:nvSpPr>
          <p:cNvPr id="12" name="The method determines what the evidence can show.">
            <a:extLst xmlns:a="http://schemas.openxmlformats.org/drawingml/2006/main">
              <a:ext uri="{FF2B5EF4-FFF2-40B4-BE49-F238E27FC236}">
                <a16:creationId xmlns:a16="http://schemas.microsoft.com/office/drawing/2014/main" id="{9C02C811-93D8-4216-A46D-A8340C8E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method determines what the evidence can show.</a:t>
            </a:r>
          </a:p>
        </p:txBody>
      </p:sp>
    </p:spTree>
    <p:extLst>
      <p:ext uri="{BB962C8B-B14F-4D97-AF65-F5344CB8AC3E}">
        <p14:creationId xmlns:p14="http://schemas.microsoft.com/office/powerpoint/2010/main" val="345379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5D382F1-D7EC-4833-AC50-5E2EBFAD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9D6AC5-DAD0-45CE-9429-FE3F847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7EDE45B-2292-417A-9ED5-C3D10E8C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890DB6C-6D9C-42AC-964E-FB0B481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27BE8A69-D32F-4455-B1FE-7EDA1531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9C80D911-7A08-4D55-96AE-E3634EC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Keep matter, energy and evidence distinct">
            <a:extLst xmlns:a="http://schemas.openxmlformats.org/drawingml/2006/main">
              <a:ext uri="{FF2B5EF4-FFF2-40B4-BE49-F238E27FC236}">
                <a16:creationId xmlns:a16="http://schemas.microsoft.com/office/drawing/2014/main" id="{E328A552-8C6F-4971-AFB4-6961777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matter, energy and evidence distinct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C4B5834-D97D-47FF-AAA8-45490DF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8E081080-202E-4AEC-A17B-8DF34A9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32EB513E-4CB9-4607-9875-C368B1D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Name the two material reactants.">
            <a:extLst xmlns:a="http://schemas.openxmlformats.org/drawingml/2006/main">
              <a:ext uri="{FF2B5EF4-FFF2-40B4-BE49-F238E27FC236}">
                <a16:creationId xmlns:a16="http://schemas.microsoft.com/office/drawing/2014/main" id="{1AFF8D31-746F-402A-B514-0F9FF7A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the two material reactants.</a:t>
            </a:r>
          </a:p>
        </p:txBody>
      </p:sp>
      <p:sp>
        <p:nvSpPr>
          <p:cNvPr id="12" name="E2. Calculate 15 bubbles in 3 minutes.">
            <a:extLst xmlns:a="http://schemas.openxmlformats.org/drawingml/2006/main">
              <a:ext uri="{FF2B5EF4-FFF2-40B4-BE49-F238E27FC236}">
                <a16:creationId xmlns:a16="http://schemas.microsoft.com/office/drawing/2014/main" id="{53A61411-4D25-4C38-89F3-D3223264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Calculate 15 bubbles in 3 minutes.</a:t>
            </a:r>
          </a:p>
        </p:txBody>
      </p:sp>
      <p:sp>
        <p:nvSpPr>
          <p:cNvPr id="13" name="E3. Name one control and one proxy limit.">
            <a:extLst xmlns:a="http://schemas.openxmlformats.org/drawingml/2006/main">
              <a:ext uri="{FF2B5EF4-FFF2-40B4-BE49-F238E27FC236}">
                <a16:creationId xmlns:a16="http://schemas.microsoft.com/office/drawing/2014/main" id="{38C6CC45-666C-43B6-B3EE-D5F4ACCE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Name one control and one proxy limit.</a:t>
            </a:r>
          </a:p>
        </p:txBody>
      </p:sp>
    </p:spTree>
    <p:extLst>
      <p:ext uri="{BB962C8B-B14F-4D97-AF65-F5344CB8AC3E}">
        <p14:creationId xmlns:p14="http://schemas.microsoft.com/office/powerpoint/2010/main" val="18585808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005B1BA9-E812-4895-8973-43CA7FE9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9682199-2A2D-40DC-82D3-1BB82417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E03EBC0-D1D8-4DEC-B1EB-439D5A3D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3150AFF-9F4E-4206-810A-E4E9F792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67DC8CEA-8C7B-4EAB-ABDB-EDFFE634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6F5E38F7-D38F-4E92-9925-4537B413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EAB1C02-56A2-45D4-BF36-A72441E9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Photosynthesis: the light lab">
            <a:extLst xmlns:a="http://schemas.openxmlformats.org/drawingml/2006/main">
              <a:ext uri="{FF2B5EF4-FFF2-40B4-BE49-F238E27FC236}">
                <a16:creationId xmlns:a16="http://schemas.microsoft.com/office/drawing/2014/main" id="{8882682B-BE4F-4E6E-8517-BC4F17D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Photosynthesis: the light lab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58A5654F-3C68-40BA-BF17-B8C5027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Reaction • rate • fair method • cautious conclusion.">
            <a:extLst xmlns:a="http://schemas.openxmlformats.org/drawingml/2006/main">
              <a:ext uri="{FF2B5EF4-FFF2-40B4-BE49-F238E27FC236}">
                <a16:creationId xmlns:a16="http://schemas.microsoft.com/office/drawing/2014/main" id="{7CCE5E02-50AA-44D4-9805-C5B570E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Reaction • rate • fair method • cautious conclusion.</a:t>
            </a:r>
          </a:p>
        </p:txBody>
      </p:sp>
    </p:spTree>
    <p:extLst>
      <p:ext uri="{BB962C8B-B14F-4D97-AF65-F5344CB8AC3E}">
        <p14:creationId xmlns:p14="http://schemas.microsoft.com/office/powerpoint/2010/main" val="2060582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2026-09-08T23:20:41.6730000Z</dcterms:created>
  <dcterms:modified xsi:type="dcterms:W3CDTF">2026-09-08T23:20:41.6730000Z</dcterms:modified>
</coreProperties>
</file>