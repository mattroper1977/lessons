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760f2a4904048" /><Relationship Type="http://schemas.openxmlformats.org/officeDocument/2006/relationships/extended-properties" Target="/docProps/app.xml" Id="Rb51c729b5ada4969" /><Relationship Type="http://schemas.openxmlformats.org/officeDocument/2006/relationships/officeDocument" Target="/ppt/presentation.xml" Id="R0b5ae3b46c8d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5abc3a87bb46d7"/>
  </p:sldMasterIdLst>
  <p:notesMasterIdLst>
    <p:notesMasterId xmlns:r="http://schemas.openxmlformats.org/officeDocument/2006/relationships" r:id="R65949825042f4133"/>
  </p:notesMasterIdLst>
  <p:sldIdLst>
    <p:sldId xmlns:r="http://schemas.openxmlformats.org/officeDocument/2006/relationships" id="256" r:id="Re902efc2065e4dce"/>
    <p:sldId xmlns:r="http://schemas.openxmlformats.org/officeDocument/2006/relationships" id="257" r:id="R2782f47edddb47f5"/>
    <p:sldId xmlns:r="http://schemas.openxmlformats.org/officeDocument/2006/relationships" id="258" r:id="R978348bf64c24084"/>
    <p:sldId xmlns:r="http://schemas.openxmlformats.org/officeDocument/2006/relationships" id="259" r:id="R9639d14821d8453e"/>
    <p:sldId xmlns:r="http://schemas.openxmlformats.org/officeDocument/2006/relationships" id="260" r:id="R862ea3cde67c49fd"/>
    <p:sldId xmlns:r="http://schemas.openxmlformats.org/officeDocument/2006/relationships" id="261" r:id="R58b8dbea1b494078"/>
    <p:sldId xmlns:r="http://schemas.openxmlformats.org/officeDocument/2006/relationships" id="262" r:id="Rc52f22367c3c45cc"/>
    <p:sldId xmlns:r="http://schemas.openxmlformats.org/officeDocument/2006/relationships" id="263" r:id="Rc244326280194562"/>
    <p:sldId xmlns:r="http://schemas.openxmlformats.org/officeDocument/2006/relationships" id="264" r:id="Reacf45a2a26e4d69"/>
    <p:sldId xmlns:r="http://schemas.openxmlformats.org/officeDocument/2006/relationships" id="265" r:id="R47a3ce1d43414e94"/>
    <p:sldId xmlns:r="http://schemas.openxmlformats.org/officeDocument/2006/relationships" id="266" r:id="Ra5d8c7f9ecc149fa"/>
    <p:sldId xmlns:r="http://schemas.openxmlformats.org/officeDocument/2006/relationships" id="267" r:id="R13738a80df2d4484"/>
    <p:sldId xmlns:r="http://schemas.openxmlformats.org/officeDocument/2006/relationships" id="268" r:id="Re3604e5d1ce24ce2"/>
    <p:sldId xmlns:r="http://schemas.openxmlformats.org/officeDocument/2006/relationships" id="269" r:id="Rd67d7fbd550c444e"/>
    <p:sldId xmlns:r="http://schemas.openxmlformats.org/officeDocument/2006/relationships" id="270" r:id="R48f09dc0ab954a18"/>
    <p:sldId xmlns:r="http://schemas.openxmlformats.org/officeDocument/2006/relationships" id="271" r:id="R28666ad0f9c944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b31718c47b4c3e" /><Relationship Type="http://schemas.openxmlformats.org/officeDocument/2006/relationships/slideMaster" Target="/ppt/slideMasters/slideMaster1.xml" Id="R155abc3a87bb46d7" /><Relationship Type="http://schemas.openxmlformats.org/officeDocument/2006/relationships/notesMaster" Target="/ppt/notesMasters/notesMaster1.xml" Id="R65949825042f4133" /><Relationship Type="http://schemas.openxmlformats.org/officeDocument/2006/relationships/presProps" Target="/ppt/presProps.xml" Id="R721137b45ac84a98" /><Relationship Type="http://schemas.openxmlformats.org/officeDocument/2006/relationships/tableStyles" Target="/ppt/tableStyles.xml" Id="R45b1abb365934c17" /><Relationship Type="http://schemas.openxmlformats.org/officeDocument/2006/relationships/slide" Target="/ppt/slides/slide1.xml" Id="Re902efc2065e4dce" /><Relationship Type="http://schemas.openxmlformats.org/officeDocument/2006/relationships/slide" Target="/ppt/slides/slide2.xml" Id="R2782f47edddb47f5" /><Relationship Type="http://schemas.openxmlformats.org/officeDocument/2006/relationships/slide" Target="/ppt/slides/slide3.xml" Id="R978348bf64c24084" /><Relationship Type="http://schemas.openxmlformats.org/officeDocument/2006/relationships/slide" Target="/ppt/slides/slide4.xml" Id="R9639d14821d8453e" /><Relationship Type="http://schemas.openxmlformats.org/officeDocument/2006/relationships/slide" Target="/ppt/slides/slide5.xml" Id="R862ea3cde67c49fd" /><Relationship Type="http://schemas.openxmlformats.org/officeDocument/2006/relationships/slide" Target="/ppt/slides/slide6.xml" Id="R58b8dbea1b494078" /><Relationship Type="http://schemas.openxmlformats.org/officeDocument/2006/relationships/slide" Target="/ppt/slides/slide7.xml" Id="Rc52f22367c3c45cc" /><Relationship Type="http://schemas.openxmlformats.org/officeDocument/2006/relationships/slide" Target="/ppt/slides/slide8.xml" Id="Rc244326280194562" /><Relationship Type="http://schemas.openxmlformats.org/officeDocument/2006/relationships/slide" Target="/ppt/slides/slide9.xml" Id="Reacf45a2a26e4d69" /><Relationship Type="http://schemas.openxmlformats.org/officeDocument/2006/relationships/slide" Target="/ppt/slides/slide10.xml" Id="R47a3ce1d43414e94" /><Relationship Type="http://schemas.openxmlformats.org/officeDocument/2006/relationships/slide" Target="/ppt/slides/slide11.xml" Id="Ra5d8c7f9ecc149fa" /><Relationship Type="http://schemas.openxmlformats.org/officeDocument/2006/relationships/slide" Target="/ppt/slides/slide12.xml" Id="R13738a80df2d4484" /><Relationship Type="http://schemas.openxmlformats.org/officeDocument/2006/relationships/slide" Target="/ppt/slides/slide13.xml" Id="Re3604e5d1ce24ce2" /><Relationship Type="http://schemas.openxmlformats.org/officeDocument/2006/relationships/slide" Target="/ppt/slides/slide14.xml" Id="Rd67d7fbd550c444e" /><Relationship Type="http://schemas.openxmlformats.org/officeDocument/2006/relationships/slide" Target="/ppt/slides/slide15.xml" Id="R48f09dc0ab954a18" /><Relationship Type="http://schemas.openxmlformats.org/officeDocument/2006/relationships/slide" Target="/ppt/slides/slide16.xml" Id="R28666ad0f9c944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c1f640b8884d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c6def3a5624d1d" /><Relationship Type="http://schemas.openxmlformats.org/officeDocument/2006/relationships/notesMaster" Target="/ppt/notesMasters/notesMaster1.xml" Id="Re74a6d7a82224a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a77460aaa441d5" /><Relationship Type="http://schemas.openxmlformats.org/officeDocument/2006/relationships/notesMaster" Target="/ppt/notesMasters/notesMaster1.xml" Id="Rf7bbda40be8c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857bb3be44e1b" /><Relationship Type="http://schemas.openxmlformats.org/officeDocument/2006/relationships/notesMaster" Target="/ppt/notesMasters/notesMaster1.xml" Id="Rd50fbd9d033643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04bfee8ade4ffa" /><Relationship Type="http://schemas.openxmlformats.org/officeDocument/2006/relationships/notesMaster" Target="/ppt/notesMasters/notesMaster1.xml" Id="Rdbf62b719abe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a04c6eb9b448e" /><Relationship Type="http://schemas.openxmlformats.org/officeDocument/2006/relationships/notesMaster" Target="/ppt/notesMasters/notesMaster1.xml" Id="Rca0ecc6b4dc0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5fa3e81c044c9b" /><Relationship Type="http://schemas.openxmlformats.org/officeDocument/2006/relationships/notesMaster" Target="/ppt/notesMasters/notesMaster1.xml" Id="Rfd4f3b7d34bb40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66030e25644e6" /><Relationship Type="http://schemas.openxmlformats.org/officeDocument/2006/relationships/notesMaster" Target="/ppt/notesMasters/notesMaster1.xml" Id="R65089d4ea7b444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f61b6fe8e241ae" /><Relationship Type="http://schemas.openxmlformats.org/officeDocument/2006/relationships/notesMaster" Target="/ppt/notesMasters/notesMaster1.xml" Id="Re859bc534b8d44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7054aa9044836" /><Relationship Type="http://schemas.openxmlformats.org/officeDocument/2006/relationships/notesMaster" Target="/ppt/notesMasters/notesMaster1.xml" Id="R837a0be8dd1b43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0462194e0e46ab" /><Relationship Type="http://schemas.openxmlformats.org/officeDocument/2006/relationships/notesMaster" Target="/ppt/notesMasters/notesMaster1.xml" Id="Rebafd7b85f6146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c18fbedec74419" /><Relationship Type="http://schemas.openxmlformats.org/officeDocument/2006/relationships/notesMaster" Target="/ppt/notesMasters/notesMaster1.xml" Id="R37000892be1f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9a857f22544fc2" /><Relationship Type="http://schemas.openxmlformats.org/officeDocument/2006/relationships/notesMaster" Target="/ppt/notesMasters/notesMaster1.xml" Id="R9f390a30af8e4b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324adc4cb64313" /><Relationship Type="http://schemas.openxmlformats.org/officeDocument/2006/relationships/notesMaster" Target="/ppt/notesMasters/notesMaster1.xml" Id="R4a6e2d22425140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f255da69994757" /><Relationship Type="http://schemas.openxmlformats.org/officeDocument/2006/relationships/notesMaster" Target="/ppt/notesMasters/notesMaster1.xml" Id="Re0e76afec4c84a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fc0b0f376f41e6" /><Relationship Type="http://schemas.openxmlformats.org/officeDocument/2006/relationships/notesMaster" Target="/ppt/notesMasters/notesMaster1.xml" Id="R265c3e40a49548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3a60471be54c26" /><Relationship Type="http://schemas.openxmlformats.org/officeDocument/2006/relationships/notesMaster" Target="/ppt/notesMasters/notesMaster1.xml" Id="R4e411fc90211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11B · Do</a:t>
            </a:r>
          </a:p>
          <a:p xmlns:a="http://schemas.openxmlformats.org/drawingml/2006/main">
            <a:r>
              <a:t>Learning objective: I can explain how an action reduces climate impact, distinguish reducing causes from coping with effects, and plan evidence to check whether it worked.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mitigation from adaptation.</a:t>
            </a:r>
          </a:p>
          <a:p xmlns:a="http://schemas.openxmlformats.org/drawingml/2006/main">
            <a:r>
              <a:t>I can connect an action to a scientific mechanism.</a:t>
            </a:r>
          </a:p>
          <a:p xmlns:a="http://schemas.openxmlformats.org/drawingml/2006/main">
            <a:r>
              <a:t>I can choose a baseline and repeated measure before making a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11B · Do</a:t>
            </a:r>
          </a:p>
          <a:p xmlns:a="http://schemas.openxmlformats.org/drawingml/2006/main">
            <a:r>
              <a:t>Learning objective: I can explain how an action reduces climate impact, distinguish reducing causes from coping with effects, and plan evidence to check whether it worked.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mitigation from adaptation.</a:t>
            </a:r>
          </a:p>
          <a:p xmlns:a="http://schemas.openxmlformats.org/drawingml/2006/main">
            <a:r>
              <a:t>I can connect an action to a scientific mechanism.</a:t>
            </a:r>
          </a:p>
          <a:p xmlns:a="http://schemas.openxmlformats.org/drawingml/2006/main">
            <a:r>
              <a:t>I can choose a baseline and repeated measure before making a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W11A: extra greenhouse gases strengthen the greenhouse effect.</a:t>
            </a:r>
          </a:p>
          <a:p xmlns:a="http://schemas.openxmlformats.org/drawingml/2006/main">
            <a:r>
              <a:t>W10: a finding needs relevant, traceable evidence.</a:t>
            </a:r>
          </a:p>
          <a:p xmlns:a="http://schemas.openxmlformats.org/drawingml/2006/main">
            <a:r>
              <a:t>W5: compare fairly and repeat measurements.</a:t>
            </a:r>
          </a:p>
          <a:p xmlns:a="http://schemas.openxmlformats.org/drawingml/2006/main">
            <a:r>
              <a:t>Lead-in: what should we measure before saying an action worked?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how switching off an unused light could reduce emissions.</a:t>
            </a:r>
          </a:p>
          <a:p xmlns:a="http://schemas.openxmlformats.org/drawingml/2006/main">
            <a:r>
              <a:t>Explain one difference between mitigation and adaptation.</a:t>
            </a:r>
          </a:p>
          <a:p xmlns:a="http://schemas.openxmlformats.org/drawingml/2006/main">
            <a:r>
              <a:t>Name one measure needed before an action starts.</a:t>
            </a:r>
          </a:p>
          <a:p xmlns:a="http://schemas.openxmlformats.org/drawingml/2006/main">
            <a:r>
              <a:t>Explain why a poster alone is not evidence of impact.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PROBLEM · name it</a:t>
            </a:r>
          </a:p>
          <a:p xmlns:a="http://schemas.openxmlformats.org/drawingml/2006/main">
            <a:r>
              <a:t>Name the cause and the effect separately.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ACTION · explain the mechanism</a:t>
            </a:r>
          </a:p>
          <a:p xmlns:a="http://schemas.openxmlformats.org/drawingml/2006/main">
            <a:r>
              <a:t>Reducing a cause and coping with an effect are both useful — and different.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MEASURE · compare and review</a:t>
            </a:r>
          </a:p>
          <a:p xmlns:a="http://schemas.openxmlformats.org/drawingml/2006/main">
            <a:r>
              <a:t>An action without a before-and-after measure is a hope, not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Switch off lights in empty rooms</a:t>
            </a:r>
          </a:p>
          <a:p xmlns:a="http://schemas.openxmlformats.org/drawingml/2006/main">
            <a:r>
              <a:t>Provide safe shade during high heat</a:t>
            </a:r>
          </a:p>
          <a:p xmlns:a="http://schemas.openxmlformats.org/drawingml/2006/main">
            <a:r>
              <a:t>Put up a poster and take no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PROBLEM · name it</a:t>
            </a:r>
          </a:p>
          <a:p xmlns:a="http://schemas.openxmlformats.org/drawingml/2006/main">
            <a:r>
              <a:t>Name the cause and the effect separately.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ACTION · explain the mechanism</a:t>
            </a:r>
          </a:p>
          <a:p xmlns:a="http://schemas.openxmlformats.org/drawingml/2006/main">
            <a:r>
              <a:t>Reducing a cause and coping with an effect are both useful — and different.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MEASURE · compare and review</a:t>
            </a:r>
          </a:p>
          <a:p xmlns:a="http://schemas.openxmlformats.org/drawingml/2006/main">
            <a:r>
              <a:t>An action without a before-and-after measure is a hope, not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Switch off lights in empty rooms</a:t>
            </a:r>
          </a:p>
          <a:p xmlns:a="http://schemas.openxmlformats.org/drawingml/2006/main">
            <a:r>
              <a:t>Provide safe shade during high heat</a:t>
            </a:r>
          </a:p>
          <a:p xmlns:a="http://schemas.openxmlformats.org/drawingml/2006/main">
            <a:r>
              <a:t>Put up a poster and take no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PROBLEM · name it</a:t>
            </a:r>
          </a:p>
          <a:p xmlns:a="http://schemas.openxmlformats.org/drawingml/2006/main">
            <a:r>
              <a:t>Name the cause and the effect separately.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ACTION · explain the mechanism</a:t>
            </a:r>
          </a:p>
          <a:p xmlns:a="http://schemas.openxmlformats.org/drawingml/2006/main">
            <a:r>
              <a:t>Reducing a cause and coping with an effect are both useful — and different.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MEASURE · compare and review</a:t>
            </a:r>
          </a:p>
          <a:p xmlns:a="http://schemas.openxmlformats.org/drawingml/2006/main">
            <a:r>
              <a:t>An action without a before-and-after measure is a hope, not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Switch off lights in empty rooms</a:t>
            </a:r>
          </a:p>
          <a:p xmlns:a="http://schemas.openxmlformats.org/drawingml/2006/main">
            <a:r>
              <a:t>Provide safe shade during high heat</a:t>
            </a:r>
          </a:p>
          <a:p xmlns:a="http://schemas.openxmlformats.org/drawingml/2006/main">
            <a:r>
              <a:t>Put up a poster and take no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MITIGATION reduce a cause an action that reduces a cause of climate change</a:t>
            </a:r>
          </a:p>
          <a:p xmlns:a="http://schemas.openxmlformats.org/drawingml/2006/main">
            <a:r>
              <a:t>ADAPTATION cope with an effect an action that reduces harm from a climate effect</a:t>
            </a:r>
          </a:p>
          <a:p xmlns:a="http://schemas.openxmlformats.org/drawingml/2006/main">
            <a:r>
              <a:t>BASELINE what happens before a measurement taken before a change is made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before-and-after route keeps the claim connected to something observable rather than a promise or poster.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Problem: lights are sometimes left on in empty rooms, using electricity unnecessarily.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Action and mechanism: switch them off safely; where fossil fuels supply energy, lower demand can mean fewer emissions.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Contrast: safe shade lowers heat exposure. It is useful adaptation, but it does not directly reduce the cause.</a:t>
            </a:r>
          </a:p>
          <a:p xmlns:a="http://schemas.openxmlformats.org/drawingml/2006/main">
            <a:r>
              <a:t>Action sorter · reduce the cause, or cope with the effect?</a:t>
            </a:r>
          </a:p>
          <a:p xmlns:a="http://schemas.openxmlformats.org/drawingml/2006/main">
            <a:r>
              <a:t>Plant trees for shade on the yard</a:t>
            </a:r>
          </a:p>
          <a:p xmlns:a="http://schemas.openxmlformats.org/drawingml/2006/main">
            <a:r>
              <a:t>Walk or cycle instead of a short car trip</a:t>
            </a:r>
          </a:p>
          <a:p xmlns:a="http://schemas.openxmlformats.org/drawingml/2006/main">
            <a:r>
              <a:t>Install a water butt to cope with dry spells</a:t>
            </a:r>
          </a:p>
          <a:p xmlns:a="http://schemas.openxmlformats.org/drawingml/2006/main">
            <a:r>
              <a:t>Insulate the building so less gas is burned</a:t>
            </a:r>
          </a:p>
          <a:p xmlns:a="http://schemas.openxmlformats.org/drawingml/2006/main">
            <a:r>
              <a:t>Move sports day earlier in the day to avoid heat</a:t>
            </a:r>
          </a:p>
          <a:p xmlns:a="http://schemas.openxmlformats.org/drawingml/2006/main">
            <a:r>
              <a:t>⬇ reduces a CAUSE</a:t>
            </a:r>
          </a:p>
          <a:p xmlns:a="http://schemas.openxmlformats.org/drawingml/2006/main">
            <a:r>
              <a:t>copes with an EFFECT</a:t>
            </a:r>
          </a:p>
          <a:p xmlns:a="http://schemas.openxmlformats.org/drawingml/2006/main">
            <a:r>
              <a:t>Press an action.</a:t>
            </a:r>
          </a:p>
          <a:p xmlns:a="http://schemas.openxmlformats.org/drawingml/2006/main">
            <a:r>
              <a:t>How would we measure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MITIGATION reduce a cause an action that reduces a cause of climate change</a:t>
            </a:r>
          </a:p>
          <a:p xmlns:a="http://schemas.openxmlformats.org/drawingml/2006/main">
            <a:r>
              <a:t>ADAPTATION cope with an effect an action that reduces harm from a climate effect</a:t>
            </a:r>
          </a:p>
          <a:p xmlns:a="http://schemas.openxmlformats.org/drawingml/2006/main">
            <a:r>
              <a:t>BASELINE what happens before a measurement taken before a change is made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before-and-after route keeps the claim connected to something observable rather than a promise or poster.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Problem: lights are sometimes left on in empty rooms, using electricity unnecessarily.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Action and mechanism: switch them off safely; where fossil fuels supply energy, lower demand can mean fewer emissions.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Contrast: safe shade lowers heat exposure. It is useful adaptation, but it does not directly reduce the cause.</a:t>
            </a:r>
          </a:p>
          <a:p xmlns:a="http://schemas.openxmlformats.org/drawingml/2006/main">
            <a:r>
              <a:t>Action sorter · reduce the cause, or cope with the effect?</a:t>
            </a:r>
          </a:p>
          <a:p xmlns:a="http://schemas.openxmlformats.org/drawingml/2006/main">
            <a:r>
              <a:t>Plant trees for shade on the yard</a:t>
            </a:r>
          </a:p>
          <a:p xmlns:a="http://schemas.openxmlformats.org/drawingml/2006/main">
            <a:r>
              <a:t>Walk or cycle instead of a short car trip</a:t>
            </a:r>
          </a:p>
          <a:p xmlns:a="http://schemas.openxmlformats.org/drawingml/2006/main">
            <a:r>
              <a:t>Install a water butt to cope with dry spells</a:t>
            </a:r>
          </a:p>
          <a:p xmlns:a="http://schemas.openxmlformats.org/drawingml/2006/main">
            <a:r>
              <a:t>Insulate the building so less gas is burned</a:t>
            </a:r>
          </a:p>
          <a:p xmlns:a="http://schemas.openxmlformats.org/drawingml/2006/main">
            <a:r>
              <a:t>Move sports day earlier in the day to avoid heat</a:t>
            </a:r>
          </a:p>
          <a:p xmlns:a="http://schemas.openxmlformats.org/drawingml/2006/main">
            <a:r>
              <a:t>⬇ reduces a CAUSE</a:t>
            </a:r>
          </a:p>
          <a:p xmlns:a="http://schemas.openxmlformats.org/drawingml/2006/main">
            <a:r>
              <a:t>copes with an EFFECT</a:t>
            </a:r>
          </a:p>
          <a:p xmlns:a="http://schemas.openxmlformats.org/drawingml/2006/main">
            <a:r>
              <a:t>Press an action.</a:t>
            </a:r>
          </a:p>
          <a:p xmlns:a="http://schemas.openxmlformats.org/drawingml/2006/main">
            <a:r>
              <a:t>How would we measure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Record unused light-on minutes for five days before and five days after, in the same way.</a:t>
            </a:r>
          </a:p>
          <a:p xmlns:a="http://schemas.openxmlformats.org/drawingml/2006/main">
            <a:r>
              <a:t>Put up a poster, then state that the problem is solved.</a:t>
            </a:r>
          </a:p>
          <a:p xmlns:a="http://schemas.openxmlformats.org/drawingml/2006/main">
            <a:r>
              <a:t>Ask one person whether the climate feels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Baseline: record what happens before the change. Prediction: state what should change and why.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Action: make only a teacher-approved safe change. Measure repeatedly using the same rule.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Review: compare the evidence and keep 'not yet known' if the evidence is too weak.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before-and-after route keeps the claim connected to something observable rather than a promise or poster.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Baseline: record what happens before the change. Prediction: state what should change and why.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Action: make only a teacher-approved safe change. Measure repeatedly using the same rule.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Review: compare the evidence and keep 'not yet known' if the evidence is too weak.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before-and-after route keeps the claim connected to something observable rather than a promise or poster.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Sort each card as Mitigation, Adaptation or Evidence check. Use the fictional data only to practise reasoning.</a:t>
            </a:r>
          </a:p>
          <a:p xmlns:a="http://schemas.openxmlformats.org/drawingml/2006/main">
            <a:r>
              <a:t>Name the problem Classify the action Compare the baseline State a limited conclusion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Unused lights off A staff-approved routine reduces unnecessary electricity demand.</a:t>
            </a:r>
          </a:p>
          <a:p xmlns:a="http://schemas.openxmlformats.org/drawingml/2006/main">
            <a:r>
              <a:t>Safe shade in high heat A shaded area lowers people's exposure to heat.</a:t>
            </a:r>
          </a:p>
          <a:p xmlns:a="http://schemas.openxmlformats.org/drawingml/2006/main">
            <a:r>
              <a:t>Before: 300 minutes Five fictional daily records total 300 empty-room light-on minutes.</a:t>
            </a:r>
          </a:p>
          <a:p xmlns:a="http://schemas.openxmlformats.org/drawingml/2006/main">
            <a:r>
              <a:t>After: 90 minutes Five fictional daily records total 90 empty-room light-on minutes.</a:t>
            </a:r>
          </a:p>
          <a:p xmlns:a="http://schemas.openxmlformats.org/drawingml/2006/main">
            <a:r>
              <a:t>A poster proves success The poster was displayed, but no behaviour or energy measure was collected.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MITIGATION</a:t>
            </a:r>
          </a:p>
          <a:p xmlns:a="http://schemas.openxmlformats.org/drawingml/2006/main">
            <a:r>
              <a:t>ADAPTATION</a:t>
            </a:r>
          </a:p>
          <a:p xmlns:a="http://schemas.openxmlformats.org/drawingml/2006/main">
            <a:r>
              <a:t>EVIDENCE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Wasted-light time fell, so this one action fixed climate change.</a:t>
            </a:r>
          </a:p>
          <a:p xmlns:a="http://schemas.openxmlformats.org/drawingml/2006/main">
            <a:r>
              <a:t>Keep it: one local result proves the global outcome.</a:t>
            </a:r>
          </a:p>
          <a:p xmlns:a="http://schemas.openxmlformats.org/drawingml/2006/main">
            <a:r>
              <a:t>Repair it: the sample supports less wasted-light time here, not a global climate claim.</a:t>
            </a:r>
          </a:p>
          <a:p xmlns:a="http://schemas.openxmlformats.org/drawingml/2006/main">
            <a:r>
              <a:t>Erase the result because local evidence is never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Sort each card as Mitigation, Adaptation or Evidence check. Use the fictional data only to practise reasoning.</a:t>
            </a:r>
          </a:p>
          <a:p xmlns:a="http://schemas.openxmlformats.org/drawingml/2006/main">
            <a:r>
              <a:t>Name the problem Classify the action Compare the baseline State a limited conclusion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Unused lights off A staff-approved routine reduces unnecessary electricity demand.</a:t>
            </a:r>
          </a:p>
          <a:p xmlns:a="http://schemas.openxmlformats.org/drawingml/2006/main">
            <a:r>
              <a:t>Safe shade in high heat A shaded area lowers people's exposure to heat.</a:t>
            </a:r>
          </a:p>
          <a:p xmlns:a="http://schemas.openxmlformats.org/drawingml/2006/main">
            <a:r>
              <a:t>Before: 300 minutes Five fictional daily records total 300 empty-room light-on minutes.</a:t>
            </a:r>
          </a:p>
          <a:p xmlns:a="http://schemas.openxmlformats.org/drawingml/2006/main">
            <a:r>
              <a:t>After: 90 minutes Five fictional daily records total 90 empty-room light-on minutes.</a:t>
            </a:r>
          </a:p>
          <a:p xmlns:a="http://schemas.openxmlformats.org/drawingml/2006/main">
            <a:r>
              <a:t>A poster proves success The poster was displayed, but no behaviour or energy measure was collected.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MITIGATION</a:t>
            </a:r>
          </a:p>
          <a:p xmlns:a="http://schemas.openxmlformats.org/drawingml/2006/main">
            <a:r>
              <a:t>ADAPTATION</a:t>
            </a:r>
          </a:p>
          <a:p xmlns:a="http://schemas.openxmlformats.org/drawingml/2006/main">
            <a:r>
              <a:t>EVIDENCE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Wasted-light time fell, so this one action fixed climate change.</a:t>
            </a:r>
          </a:p>
          <a:p xmlns:a="http://schemas.openxmlformats.org/drawingml/2006/main">
            <a:r>
              <a:t>Keep it: one local result proves the global outcome.</a:t>
            </a:r>
          </a:p>
          <a:p xmlns:a="http://schemas.openxmlformats.org/drawingml/2006/main">
            <a:r>
              <a:t>Repair it: the sample supports less wasted-light time here, not a global climate claim.</a:t>
            </a:r>
          </a:p>
          <a:p xmlns:a="http://schemas.openxmlformats.org/drawingml/2006/main">
            <a:r>
              <a:t>Erase the result because local evidence is never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Scenario cards; before/after planning mat; pencil; optional local data-strip route.</a:t>
            </a:r>
          </a:p>
          <a:p xmlns:a="http://schemas.openxmlformats.org/drawingml/2006/main">
            <a:r>
              <a:t>Same outcome: I can explain how an action reduces climate impact, distinguish reducing causes from coping with effects, and plan evidence to check whether it worked.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on-screen scenario and fictional before/after cards, then give the action, mechanism and measure by pointing, speaking, typing in a pupil document or exact adult scribing.</a:t>
            </a:r>
          </a:p>
          <a:p xmlns:a="http://schemas.openxmlformats.org/drawingml/2006/main">
            <a:r>
              <a:t>Same evidence: A safe action-to-mechanism chain, baseline, repeated measure, comparable condition and one limitation.</a:t>
            </a:r>
          </a:p>
          <a:p xmlns:a="http://schemas.openxmlformats.org/drawingml/2006/main">
            <a:r>
              <a:t>Equipment / setup Scenario cards; before/after planning mat; pencil; optional local data-strip route.</a:t>
            </a:r>
          </a:p>
          <a:p xmlns:a="http://schemas.openxmlformats.org/drawingml/2006/main">
            <a:r>
              <a:t>Safety / sensory Pupils do not touch sockets, plugs, boilers, thermostats or site controls. Staff approval comes before any action.</a:t>
            </a:r>
          </a:p>
          <a:p xmlns:a="http://schemas.openxmlformats.org/drawingml/2006/main">
            <a:r>
              <a:t>Offline parity Use the on-screen scenario and fictional before/after cards, then give the action, mechanism and measure by pointing, speaking, typing in a pupil document or exact adult scribing.</a:t>
            </a:r>
          </a:p>
          <a:p xmlns:a="http://schemas.openxmlformats.org/drawingml/2006/main">
            <a:r>
              <a:t>No-equipment/access route: Use the paper mat, point to cards or dictate exact words. No equipment or live site action is needed.</a:t>
            </a:r>
          </a:p>
          <a:p xmlns:a="http://schemas.openxmlformats.org/drawingml/2006/main">
            <a:r>
              <a:t>First question card for W12</a:t>
            </a:r>
          </a:p>
          <a:p xmlns:a="http://schemas.openxmlformats.org/drawingml/2006/main">
            <a:r>
              <a:t>The safe question I choose for W12 is ______.</a:t>
            </a:r>
          </a:p>
          <a:p xmlns:a="http://schemas.openxmlformats.org/drawingml/2006/main">
            <a:r>
              <a:t>We will measure ______.</a:t>
            </a:r>
          </a:p>
          <a:p xmlns:a="http://schemas.openxmlformats.org/drawingml/2006/main">
            <a:r>
              <a:t>Keep this pupil-owned card with the lesson evidence so W12 starts from the chosen question.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the full plan with a baseline, prediction, repeated measure and one controlled condition.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prompt: If we ___, then ___ because ___. We will measure ___.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Scenario cards; before/after planning mat; pencil; optional local data-strip route.</a:t>
            </a:r>
          </a:p>
          <a:p xmlns:a="http://schemas.openxmlformats.org/drawingml/2006/main">
            <a:r>
              <a:t>Same outcome: I can explain how an action reduces climate impact, distinguish reducing causes from coping with effects, and plan evidence to check whether it worked.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on-screen scenario and fictional before/after cards, then give the action, mechanism and measure by pointing, speaking, typing in a pupil document or exact adult scribing.</a:t>
            </a:r>
          </a:p>
          <a:p xmlns:a="http://schemas.openxmlformats.org/drawingml/2006/main">
            <a:r>
              <a:t>Same evidence: A safe action-to-mechanism chain, baseline, repeated measure, comparable condition and one limitation.</a:t>
            </a:r>
          </a:p>
          <a:p xmlns:a="http://schemas.openxmlformats.org/drawingml/2006/main">
            <a:r>
              <a:t>Equipment / setup Scenario cards; before/after planning mat; pencil; optional local data-strip route.</a:t>
            </a:r>
          </a:p>
          <a:p xmlns:a="http://schemas.openxmlformats.org/drawingml/2006/main">
            <a:r>
              <a:t>Safety / sensory Pupils do not touch sockets, plugs, boilers, thermostats or site controls. Staff approval comes before any action.</a:t>
            </a:r>
          </a:p>
          <a:p xmlns:a="http://schemas.openxmlformats.org/drawingml/2006/main">
            <a:r>
              <a:t>Offline parity Use the on-screen scenario and fictional before/after cards, then give the action, mechanism and measure by pointing, speaking, typing in a pupil document or exact adult scribing.</a:t>
            </a:r>
          </a:p>
          <a:p xmlns:a="http://schemas.openxmlformats.org/drawingml/2006/main">
            <a:r>
              <a:t>No-equipment/access route: Use the paper mat, point to cards or dictate exact words. No equipment or live site action is needed.</a:t>
            </a:r>
          </a:p>
          <a:p xmlns:a="http://schemas.openxmlformats.org/drawingml/2006/main">
            <a:r>
              <a:t>First question card for W12</a:t>
            </a:r>
          </a:p>
          <a:p xmlns:a="http://schemas.openxmlformats.org/drawingml/2006/main">
            <a:r>
              <a:t>The safe question I choose for W12 is ______.</a:t>
            </a:r>
          </a:p>
          <a:p xmlns:a="http://schemas.openxmlformats.org/drawingml/2006/main">
            <a:r>
              <a:t>We will measure ______.</a:t>
            </a:r>
          </a:p>
          <a:p xmlns:a="http://schemas.openxmlformats.org/drawingml/2006/main">
            <a:r>
              <a:t>Keep this pupil-owned card with the lesson evidence so W12 starts from the chosen question.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the full plan with a baseline, prediction, repeated measure and one controlled condition.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prompt: If we ___, then ___ because ___. We will measure ___.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SCI_G_W11B_Climate_Action_Do.html.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Light-on minutes suggest possible electricity savings only when the same lamps and conditions are compared; they do not measure a global climate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one action-to-mechanism chain.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SCI_G_W11B_Climate_Action_Do.html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51d6254944c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aab85ef3d54830" /><Relationship Type="http://schemas.openxmlformats.org/officeDocument/2006/relationships/slideLayout" Target="/ppt/slideLayouts/slideLayout1.xml" Id="R9ce8ec1cf6a9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e8ec1cf6a9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e01f31113417d" /><Relationship Type="http://schemas.openxmlformats.org/officeDocument/2006/relationships/hyperlink" Target="SCI_G_W11B_Climate_Action_Do.html" TargetMode="External" Id="R0200f3b1ccd448e0" /><Relationship Type="http://schemas.openxmlformats.org/officeDocument/2006/relationships/notesSlide" Target="/ppt/notesSlides/notesSlide1.xml" Id="R26fa5707fd40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93f8bdb9342b3" /><Relationship Type="http://schemas.openxmlformats.org/officeDocument/2006/relationships/notesSlide" Target="/ppt/notesSlides/notesSlide2.xml" Id="R6b11dc1e544a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ab253871b43d7" /><Relationship Type="http://schemas.openxmlformats.org/officeDocument/2006/relationships/notesSlide" Target="/ppt/notesSlides/notesSlide3.xml" Id="Re54fbf70d06f49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510ccaae54ca3" /><Relationship Type="http://schemas.openxmlformats.org/officeDocument/2006/relationships/notesSlide" Target="/ppt/notesSlides/notesSlide4.xml" Id="R94074ec8cbcc4f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c039cebd34b8e" /><Relationship Type="http://schemas.openxmlformats.org/officeDocument/2006/relationships/notesSlide" Target="/ppt/notesSlides/notesSlide5.xml" Id="R86c2dc0262544b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ca90e60c24fd6" /><Relationship Type="http://schemas.openxmlformats.org/officeDocument/2006/relationships/image" Target="/ppt/media/image.png" Id="R034a8f8fcc65423a" /><Relationship Type="http://schemas.openxmlformats.org/officeDocument/2006/relationships/image" Target="/ppt/media/image2.png" Id="R39449888956c459f" /><Relationship Type="http://schemas.openxmlformats.org/officeDocument/2006/relationships/image" Target="/ppt/media/image3.png" Id="R63c0c676f07a4914" /><Relationship Type="http://schemas.openxmlformats.org/officeDocument/2006/relationships/notesSlide" Target="/ppt/notesSlides/notesSlide6.xml" Id="Ra204f1fba530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8c13e7ae34596" /><Relationship Type="http://schemas.openxmlformats.org/officeDocument/2006/relationships/notesSlide" Target="/ppt/notesSlides/notesSlide7.xml" Id="Re3d2207f8a744a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21ca2b5744f09" /><Relationship Type="http://schemas.openxmlformats.org/officeDocument/2006/relationships/notesSlide" Target="/ppt/notesSlides/notesSlide8.xml" Id="R77e6b57d278e40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dbbee40540a3" /><Relationship Type="http://schemas.openxmlformats.org/officeDocument/2006/relationships/notesSlide" Target="/ppt/notesSlides/notesSlide9.xml" Id="Raabcf0175a244f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ca530a7564449" /><Relationship Type="http://schemas.openxmlformats.org/officeDocument/2006/relationships/notesSlide" Target="/ppt/notesSlides/notesSlide10.xml" Id="R4f7af96585f6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9528232254f95" /><Relationship Type="http://schemas.openxmlformats.org/officeDocument/2006/relationships/notesSlide" Target="/ppt/notesSlides/notesSlide11.xml" Id="R984e4d0b23f045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423738a054a2e" /><Relationship Type="http://schemas.openxmlformats.org/officeDocument/2006/relationships/notesSlide" Target="/ppt/notesSlides/notesSlide12.xml" Id="R62c142182a4a48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b65c35f2040b1" /><Relationship Type="http://schemas.openxmlformats.org/officeDocument/2006/relationships/notesSlide" Target="/ppt/notesSlides/notesSlide13.xml" Id="Ra105bc52323540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baeac6e8d4371" /><Relationship Type="http://schemas.openxmlformats.org/officeDocument/2006/relationships/notesSlide" Target="/ppt/notesSlides/notesSlide14.xml" Id="R6766b755504a46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f8f4751894ad6" /><Relationship Type="http://schemas.openxmlformats.org/officeDocument/2006/relationships/notesSlide" Target="/ppt/notesSlides/notesSlide15.xml" Id="R85c47c20a6024f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b81124eb24db0" /><Relationship Type="http://schemas.openxmlformats.org/officeDocument/2006/relationships/notesSlide" Target="/ppt/notesSlides/notesSlide16.xml" Id="R5732236664df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9500CE7-BFA3-4F6A-819E-62F5B40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F416CA-0D3C-43BC-ABFA-708F7110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9D2991-EB8C-44D4-926B-14D0E4E5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4CCC00-ECCD-47FC-AEE9-A3F8DDDB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Climate Action: Plan, Measure, Improve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C538CFE-D596-40A3-BC2E-40890A3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CC287E4E-E894-4607-804D-4821A0D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462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how an action reduces climate impact, distinguish reducing causes from coping with effects, and plan evidence to check whether it worked.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A2116416-79D9-4EA9-8B47-006C87D5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A67A4F23-DA6D-4565-8CF7-C572097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Mitigation reduces a cause adaptation reduces harm from an effect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77FBA7A5-64C4-4408-84CB-B857F0D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04C82FC2-07AF-4255-AC7E-BF8925C4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CFF8719C-D0D1-4492-A075-F1CCA4B9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sensible action still needs a mechanism and evidence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387BEB1B-4F54-4CA0-871E-9024CDEC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761B6997-1D7F-4486-A651-66A9586A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79E00B47-6AA1-447B-9BE0-6FE79BB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Measure before and after in the same way before claiming success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DC4F5825-2C72-4F6C-8D24-8401A6F2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EFF63740-88BC-4084-8906-6AA80D3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0200f3b1ccd448e0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E3A65FE5-42EA-4222-BAFF-71B342CF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4AFA0046-6922-4F4E-B75B-B397DA5B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060166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7FBA44-9C16-49C4-877F-ADB8A02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46A9D41-619D-4C7E-8159-34A28A6A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47EE282-22BC-44CF-8896-9BA8BEC5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D8B03F-808D-4E73-AAC9-B3C66A15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8E20756-4B65-4356-AD10-38A898B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BC9EDE-FEE8-4DF3-A753-2EA1DFDB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mitigation from adaptation.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B0D70CF-7069-4D5D-B05B-1C3F681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connect an action to a scientific mechanism.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39472B0-F17B-4E69-B45B-3F7064CB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choose a baseline and repeated measure before making a claim.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DAED596-599E-4294-8D76-3FAC0C83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C342326-BAD5-4CDF-827B-F0C68F8A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990720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7AD8F4F-2A47-495E-A651-D5261BB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E770EE5-D899-47B9-A9C5-3CAF692F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2583816-06ED-44D5-A43B-1A114746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317909-09D4-4D06-849A-E4CE7A4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0F1D61-2F25-4307-9F90-47B856F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E3C03A0-FB5F-4797-9E72-C6543AF1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how switching off an unused light could reduce emissions.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7C25EC9-513B-4BA0-80F7-7A2D29B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one difference between mitigation and adaptation.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EC2CFA5-CF01-4DB7-90BB-7B7F0DF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one measure needed before an action starts.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E61BB1D-7B0D-4C46-A52F-98786A3F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a poster alone is not evidence of impact.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9622F81-ACD2-48FC-BC44-3309D2AA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9E07AB7-7CB7-4CE3-8289-F6A7368D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266690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E7C18FD-DDF2-4827-B683-2BFCA37B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2018807-4032-4FC9-9F98-F3A12580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56AADA-5FE6-4EB1-A19D-D87AE045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B47226-2E9E-4ED3-90B4-305E26C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plan reduces a cause, and which plan helps people cope with an effect?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B6357CE-2A22-4F16-A4C7-F2AFA9F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CA138AF-08BA-4F15-9C29-B0B2439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A07349-DA5F-4F6C-A38A-ED7CD406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Switch off lights in empty rooms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18CE3E9-E470-4B22-B2F2-C5CD101E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Provide safe shade during high heat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9500F9C-6F90-4214-9BEB-4B041DD6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Put up a poster and take no measurements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2CEBD03-D831-459A-A564-670C84B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BDCC99A-B68F-4655-89F8-C45FBE8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157204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97E8E75-6E30-4888-A9A3-B52FE62B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B3F6DD7-F96E-44B7-92A0-DB0CB1E7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F6F4A9-8C0D-4EDD-B927-7DC146B8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72E4EF-4FC1-4298-B54B-C8F80AE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78D813F-3CFC-44A8-93EF-974081D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BD5A695-18F4-4EFE-8C21-A25B524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PROBLEM · name it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5D31B3A-EC95-499A-BB66-7F0F831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ACTION · explain the mechanism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F595673-7613-44FD-A3DA-DEB99C9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MEASURE · compare and review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C5EBD25-08F0-48D2-90D6-A9701B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9EA3574-08AF-4119-961A-8A3B5A78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814280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3A7155-7A96-4962-87CB-A5C43F9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02E808F-9DAF-4695-911D-4871732E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E726742-68F9-4E63-AFBA-51B2EFCA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02AE2F-7E68-4E7F-B9DE-8CB66BF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9182AD-7BED-4348-87CD-8B856C4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a8f8fcc65423a"/>
          <a:stretch xmlns:a="http://schemas.openxmlformats.org/drawingml/2006/main"/>
        </p:blipFill>
        <p:spPr>
          <a:xfrm xmlns:a="http://schemas.openxmlformats.org/drawingml/2006/main">
            <a:off x="8001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AF4EDE32-880C-4697-816D-61F33F5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Problem card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49888956c459f"/>
          <a:stretch xmlns:a="http://schemas.openxmlformats.org/drawingml/2006/main"/>
        </p:blipFill>
        <p:spPr>
          <a:xfrm xmlns:a="http://schemas.openxmlformats.org/drawingml/2006/main">
            <a:off x="44069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A5DBCB82-8237-4C74-A08C-ADCB41AC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kinds of action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0c676f07a4914"/>
          <a:stretch xmlns:a="http://schemas.openxmlformats.org/drawingml/2006/main"/>
        </p:blipFill>
        <p:spPr>
          <a:xfrm xmlns:a="http://schemas.openxmlformats.org/drawingml/2006/main">
            <a:off x="80137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8D9192CF-41D9-49A8-8F00-BEF3BF84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Measure card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F8CD54C8-6210-41C5-9846-EBF4657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67F499F8-B0BD-4AA8-8B60-A21F9A6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742566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EFDE059-BF1A-4D92-8C87-FEEB1D7D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3876953-D9BF-49AA-8C51-BC91833A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D7A1346-4C1C-491D-904B-DB8AD197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E20FDA-723C-4F1F-B731-FB5FE9E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9881398-3475-4CF0-9888-B04304C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99A10EF-ED8C-4B13-8CB9-F23142B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mitigation — reduce a cause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0004739-702C-4D04-94CA-22DDA48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adaptation — cope with an effect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EDEF76F-EEA1-4C2B-9001-1728FB2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baseline — what happens before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59E5BA7-CFF0-4117-B89E-22D8619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5CF5F65-5994-4E21-927B-1D13E346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417831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D6BB3FA-006B-4C23-8775-45BA2A8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629F9C5-849B-499A-A831-2BCEBEE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F2D0BA9-FDB9-4E5F-850B-318E1A2F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2D7C54-D9C4-453B-95FF-03ABAF7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87BFD5-A41A-490E-AA1C-BB59BF21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EC3DA3F-D768-45C4-AF87-BC506A2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Problem: lights are sometimes left on in empty rooms, using electricity unnecessarily.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EAF40ED-CBFF-42D8-AEC6-AB5D299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Action and mechanism: switch them off safely; where fossil fuels supply energy, lower demand can mean fewer emissions.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FFF28CA-41D0-4F37-905E-805BB4B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Contrast: safe shade lowers heat exposure. It is useful adaptation, but it does not directly reduce the cause.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71D225C-F4A2-4C65-AD28-448DBB57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34AF422-0393-4BB9-B0BE-0B01B94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06776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C8244C-88C2-4600-A74D-DBE10D0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3F98270-C5BB-42FB-8676-31A6ED1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80D2C7F-1898-48A6-A7DA-BED06CE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B4F4AC-16A6-44AB-8252-4D5E87D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plan can check whether the lighting action worked?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C9F704B-3ED8-4270-8687-10F4736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86E3053-C45F-4D2F-91B9-D0224DF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Record unused light-on minutes for five days before and five days after, in the same way.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3D4AAD5-D80F-4E22-BE62-E1A143D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Put up a poster, then state that the problem is solved.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C58E551-8685-477B-AF25-E60976F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Ask one person whether the climate feels better.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9213CC9-CAE6-4EF4-BBB4-A905F2EC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6EDA2E7-32C2-4EDA-AA78-21FD958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EC49017-1073-4DF4-9895-114E3B6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35473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56CE178-ED7E-4D5B-A8C0-AF4AF14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C463BBC-4259-4A63-8C3F-07C6368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478EAD3-CE9C-48D5-9E7A-1D03655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1A23A2-FD7A-40A1-A303-DB83AB3B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51DDC4-81EC-4B22-990F-66FC901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A3795E8-145E-4EA5-9757-65EAF61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Baseline: record what happens before the change. Prediction: state what should change and why.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D0A8F1F-2215-445C-967B-B24FA6AC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Action: make only a teacher-approved safe change. Measure repeatedly using the same rule.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78C7DD4-6E23-4161-9025-1F7D40A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Review: compare the evidence and keep 'not yet known' if the evidence is too weak.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C21A5EF-C1AB-407F-9A3F-6EA80EF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03C3285-B9D5-42F0-BED7-0025BD3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897486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C59E911-8461-47BC-BDEA-D13249DB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FF7F5D6-7612-4BB0-A5C7-2D777804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F678717-6025-4F98-AC9A-E1982B0D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403005-14DC-42C5-B5C5-D71B6116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9D66C96-7BE2-4C07-AAA6-E8ED3AF9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F87B455-635F-4C2C-8B1C-06470B40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Wasted-light time fell, so this one action fixed climate change.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F2B74AB-6A2F-4913-B0F8-2C04B24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local result proves the global outcome.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3DC2B86-1C00-46DB-B03E-A03D0E2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the sample supports less wasted-light time here, not a global climate claim.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699E132-3977-4E6D-AA3E-54D6FBF0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Erase the result because local evidence is never useful.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5D78116D-E39A-41AC-8FB4-F58EEA40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647AB4E-C0C8-4B55-95E5-2FF8EF64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204529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EBAF1D-AD58-4CB1-B6C8-3180E89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4A0E189-F7CE-457A-BC54-87085B05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6D94DC9-0D42-401F-B3F1-98CFD91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426787-2D7D-4A91-92E4-80D004F5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Before/After Evidence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08AAA7-ECAF-4DFF-880D-64DD82E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19EB088-542E-4A48-9198-BC9E14C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Sort each card as Mitigation, Adaptation or Evidence check. Use the fictional data only to practise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D822B0D-7F84-47D5-B44E-897F95E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problem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351495C-A204-4311-A324-098A628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Classify the action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C17AD56-9506-4FF3-ADB4-3DF811E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the baseline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21936EC-F5B9-4485-A9E8-093FDE5D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a limited conclusion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A2E6207-5599-4B8D-8252-1DF2600A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3654C93-BD62-4B80-97FC-B71442A2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63E8A4F-9B2A-4C5B-AF96-47DA6AB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8963745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F8F5023-8EDD-4027-A240-673CF94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1DB244D-0956-4741-A68E-1AFBB538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C4A9718-406D-40BD-9095-67A33082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B14031-3908-40EA-9AF1-C83E6E05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F3BD57-3751-45F7-A5FE-176E407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B9EC822-A5D9-4551-B2CC-D8BC32F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MITIGATION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DA163EE-4037-4AB1-B94A-2A8D91AA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ADAPTATION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F0AAF47-25BD-45DB-ADE6-5BB8F1A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EVIDENCE CHECK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9B666D7-FDBC-4F3F-B060-7D08450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State only what the sample supports, then name one thing it cannot show.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A3F0895-6556-4263-BAA3-74DC1D5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166A51AF-C573-434E-8BE7-18AA5CF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249592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DDAFE7D-7967-4A8C-87B2-4438267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591AE5-8949-4568-B34E-43630896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E155AE9-21BB-412B-BB64-79F3AAC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F63BB9-98A8-4164-A779-3CB021C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9B84FB8-7C33-4039-8128-77815CEA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577B1C8-4D59-4ACD-BBFB-BBA634D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one approved school scenario and create an action, mechanism and measurement plan before making any success 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5022524-7BBB-4199-B2D7-00A9054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safe action-to-mechanism chain, baseline, repeated measure, comparable condition and one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4E44FFC-8293-4C45-8A3F-86A9ED84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A6C2248-ECE5-44F1-BC95-436174A1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776446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2D9B183-7999-4C74-AC4D-C95BDDD1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2C2C714-37B5-461D-AC7D-54107217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6BADE7B-A647-4203-A779-E84FD6F4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2691E0-5766-47C3-998E-3DCB8EAE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CD406CA-243C-43E6-81D8-ADFAD372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2C13A97-56B5-46E6-929B-73438488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Select labelled cards for Action, How it helps and What we measure.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80BA9C-B458-42C2-9A59-E19F66C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Complete the full plan with a baseline, prediction, repeated measure and one controlled condition.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39CF4A1-5EB0-440C-800A-FCCE10F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Compare mitigation with adaptation and identify one confounding factor or evidence limit.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EFF409E-69A7-4EDC-8F03-F8E21559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EF356F6-1625-400F-A8E1-66F7E569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0220292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D7CEEF5-C878-42F4-8452-593FCCF2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7FC2774-1230-48B9-B3A6-2695937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69530CC-C4AE-4E67-AFA1-0A3E5D3A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01768F-1D3B-46EE-807D-2BE3FD2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6056D03-864D-4B25-A6ED-FFAE48E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5A24CE3-3158-4DB8-A4A5-E0A64A0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one action-to-mechanism chain.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8D6619-A00E-4B0F-9C24-214B17C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7E0705E-C26A-4F3A-83E4-2CB9565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B4A7ACF-50F6-4F18-8B87-47C34BF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925182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2026-09-08T08:54:15.1120000Z</dcterms:created>
  <dcterms:modified xsi:type="dcterms:W3CDTF">2026-09-08T08:54:15.1120000Z</dcterms:modified>
</coreProperties>
</file>