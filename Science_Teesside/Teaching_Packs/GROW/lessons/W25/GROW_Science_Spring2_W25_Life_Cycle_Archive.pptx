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3d17c7325d471f" /><Relationship Type="http://schemas.openxmlformats.org/officeDocument/2006/relationships/extended-properties" Target="/docProps/app.xml" Id="R7ac7dbcc65df4d6f" /><Relationship Type="http://schemas.openxmlformats.org/officeDocument/2006/relationships/officeDocument" Target="/ppt/presentation.xml" Id="Rfee6b72fe03c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3e8007c38e40c9"/>
  </p:sldMasterIdLst>
  <p:notesMasterIdLst>
    <p:notesMasterId xmlns:r="http://schemas.openxmlformats.org/officeDocument/2006/relationships" r:id="Rf243c22ce2c341dc"/>
  </p:notesMasterIdLst>
  <p:sldIdLst>
    <p:sldId xmlns:r="http://schemas.openxmlformats.org/officeDocument/2006/relationships" id="256" r:id="Ra2a87839102c4bd5"/>
    <p:sldId xmlns:r="http://schemas.openxmlformats.org/officeDocument/2006/relationships" id="257" r:id="R0c3fb82a76004554"/>
    <p:sldId xmlns:r="http://schemas.openxmlformats.org/officeDocument/2006/relationships" id="258" r:id="R592fd5df9fdb4f5b"/>
    <p:sldId xmlns:r="http://schemas.openxmlformats.org/officeDocument/2006/relationships" id="259" r:id="R1e89d6c9d1bc475f"/>
    <p:sldId xmlns:r="http://schemas.openxmlformats.org/officeDocument/2006/relationships" id="260" r:id="R7025d4f4f7f44c83"/>
    <p:sldId xmlns:r="http://schemas.openxmlformats.org/officeDocument/2006/relationships" id="261" r:id="Rb13e67a1c153417d"/>
    <p:sldId xmlns:r="http://schemas.openxmlformats.org/officeDocument/2006/relationships" id="262" r:id="R9e9c68f1388d46ce"/>
    <p:sldId xmlns:r="http://schemas.openxmlformats.org/officeDocument/2006/relationships" id="263" r:id="Rffdf906f66c14926"/>
    <p:sldId xmlns:r="http://schemas.openxmlformats.org/officeDocument/2006/relationships" id="264" r:id="R2a56303d464e4378"/>
    <p:sldId xmlns:r="http://schemas.openxmlformats.org/officeDocument/2006/relationships" id="265" r:id="R484f32a0589e4233"/>
    <p:sldId xmlns:r="http://schemas.openxmlformats.org/officeDocument/2006/relationships" id="266" r:id="Ra78d3b5d554d45cb"/>
    <p:sldId xmlns:r="http://schemas.openxmlformats.org/officeDocument/2006/relationships" id="267" r:id="R564903a7300b46bf"/>
    <p:sldId xmlns:r="http://schemas.openxmlformats.org/officeDocument/2006/relationships" id="268" r:id="R3e17f7f3d91345d3"/>
    <p:sldId xmlns:r="http://schemas.openxmlformats.org/officeDocument/2006/relationships" id="269" r:id="R932984c84e2e40f8"/>
    <p:sldId xmlns:r="http://schemas.openxmlformats.org/officeDocument/2006/relationships" id="270" r:id="Rc4b157fd20aa4f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4cc163d8d8476b" /><Relationship Type="http://schemas.openxmlformats.org/officeDocument/2006/relationships/slideMaster" Target="/ppt/slideMasters/slideMaster1.xml" Id="Rf73e8007c38e40c9" /><Relationship Type="http://schemas.openxmlformats.org/officeDocument/2006/relationships/notesMaster" Target="/ppt/notesMasters/notesMaster1.xml" Id="Rf243c22ce2c341dc" /><Relationship Type="http://schemas.openxmlformats.org/officeDocument/2006/relationships/presProps" Target="/ppt/presProps.xml" Id="R2e501381addf4224" /><Relationship Type="http://schemas.openxmlformats.org/officeDocument/2006/relationships/tableStyles" Target="/ppt/tableStyles.xml" Id="R40474593a9aa444f" /><Relationship Type="http://schemas.openxmlformats.org/officeDocument/2006/relationships/slide" Target="/ppt/slides/slide1.xml" Id="Ra2a87839102c4bd5" /><Relationship Type="http://schemas.openxmlformats.org/officeDocument/2006/relationships/slide" Target="/ppt/slides/slide2.xml" Id="R0c3fb82a76004554" /><Relationship Type="http://schemas.openxmlformats.org/officeDocument/2006/relationships/slide" Target="/ppt/slides/slide3.xml" Id="R592fd5df9fdb4f5b" /><Relationship Type="http://schemas.openxmlformats.org/officeDocument/2006/relationships/slide" Target="/ppt/slides/slide4.xml" Id="R1e89d6c9d1bc475f" /><Relationship Type="http://schemas.openxmlformats.org/officeDocument/2006/relationships/slide" Target="/ppt/slides/slide5.xml" Id="R7025d4f4f7f44c83" /><Relationship Type="http://schemas.openxmlformats.org/officeDocument/2006/relationships/slide" Target="/ppt/slides/slide6.xml" Id="Rb13e67a1c153417d" /><Relationship Type="http://schemas.openxmlformats.org/officeDocument/2006/relationships/slide" Target="/ppt/slides/slide7.xml" Id="R9e9c68f1388d46ce" /><Relationship Type="http://schemas.openxmlformats.org/officeDocument/2006/relationships/slide" Target="/ppt/slides/slide8.xml" Id="Rffdf906f66c14926" /><Relationship Type="http://schemas.openxmlformats.org/officeDocument/2006/relationships/slide" Target="/ppt/slides/slide9.xml" Id="R2a56303d464e4378" /><Relationship Type="http://schemas.openxmlformats.org/officeDocument/2006/relationships/slide" Target="/ppt/slides/slide10.xml" Id="R484f32a0589e4233" /><Relationship Type="http://schemas.openxmlformats.org/officeDocument/2006/relationships/slide" Target="/ppt/slides/slide11.xml" Id="Ra78d3b5d554d45cb" /><Relationship Type="http://schemas.openxmlformats.org/officeDocument/2006/relationships/slide" Target="/ppt/slides/slide12.xml" Id="R564903a7300b46bf" /><Relationship Type="http://schemas.openxmlformats.org/officeDocument/2006/relationships/slide" Target="/ppt/slides/slide13.xml" Id="R3e17f7f3d91345d3" /><Relationship Type="http://schemas.openxmlformats.org/officeDocument/2006/relationships/slide" Target="/ppt/slides/slide14.xml" Id="R932984c84e2e40f8" /><Relationship Type="http://schemas.openxmlformats.org/officeDocument/2006/relationships/slide" Target="/ppt/slides/slide15.xml" Id="Rc4b157fd20aa4f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fdde5b5f94c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5c365490f49e2" /><Relationship Type="http://schemas.openxmlformats.org/officeDocument/2006/relationships/notesMaster" Target="/ppt/notesMasters/notesMaster1.xml" Id="R05f391abfaec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1669c147c44725" /><Relationship Type="http://schemas.openxmlformats.org/officeDocument/2006/relationships/notesMaster" Target="/ppt/notesMasters/notesMaster1.xml" Id="R4d4e1f6d63b0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13a0cee1354647" /><Relationship Type="http://schemas.openxmlformats.org/officeDocument/2006/relationships/notesMaster" Target="/ppt/notesMasters/notesMaster1.xml" Id="R3144aa274030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6ca73891f3463b" /><Relationship Type="http://schemas.openxmlformats.org/officeDocument/2006/relationships/notesMaster" Target="/ppt/notesMasters/notesMaster1.xml" Id="R3b3a7c0d5b994f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59e326a7ab4e88" /><Relationship Type="http://schemas.openxmlformats.org/officeDocument/2006/relationships/notesMaster" Target="/ppt/notesMasters/notesMaster1.xml" Id="R8538b45337e74e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3b9cce52f4162" /><Relationship Type="http://schemas.openxmlformats.org/officeDocument/2006/relationships/notesMaster" Target="/ppt/notesMasters/notesMaster1.xml" Id="R501b05fd42634b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2ac0dcf09246f3" /><Relationship Type="http://schemas.openxmlformats.org/officeDocument/2006/relationships/notesMaster" Target="/ppt/notesMasters/notesMaster1.xml" Id="Rd92967f8a9ad4e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c6a09aa3844aa5" /><Relationship Type="http://schemas.openxmlformats.org/officeDocument/2006/relationships/notesMaster" Target="/ppt/notesMasters/notesMaster1.xml" Id="R65ef5c0ffc3b4e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047629fb3d4988" /><Relationship Type="http://schemas.openxmlformats.org/officeDocument/2006/relationships/notesMaster" Target="/ppt/notesMasters/notesMaster1.xml" Id="Reb9216ab169141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1fc1cf2c204e69" /><Relationship Type="http://schemas.openxmlformats.org/officeDocument/2006/relationships/notesMaster" Target="/ppt/notesMasters/notesMaster1.xml" Id="Reff5409ff5ec43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ee8e4e74c54feb" /><Relationship Type="http://schemas.openxmlformats.org/officeDocument/2006/relationships/notesMaster" Target="/ppt/notesMasters/notesMaster1.xml" Id="R0f053e3f1c164f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7592b728a944d7" /><Relationship Type="http://schemas.openxmlformats.org/officeDocument/2006/relationships/notesMaster" Target="/ppt/notesMasters/notesMaster1.xml" Id="R726aa4a857d541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27c9cac8144db5" /><Relationship Type="http://schemas.openxmlformats.org/officeDocument/2006/relationships/notesMaster" Target="/ppt/notesMasters/notesMaster1.xml" Id="Rb0fb7ed5b1cf4b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c1a3b01d464e27" /><Relationship Type="http://schemas.openxmlformats.org/officeDocument/2006/relationships/notesMaster" Target="/ppt/notesMasters/notesMaster1.xml" Id="Rada406ab237243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dd291851a74910" /><Relationship Type="http://schemas.openxmlformats.org/officeDocument/2006/relationships/notesMaster" Target="/ppt/notesMasters/notesMaster1.xml" Id="Rc18bffc3d1ab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a paper museum challenge. Pupils may work alone or with a partner. The goal is describing life cycles, not recalling precise ages or drawing realistic animals.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young produced by parents. R2 no; it still develops and matures. R3 no. Accept everyday words, then supply offspring and 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follow the same individual from egg through tadpole and froglet to adult. At reproduction the arrow now links parents to offspring. I do not say the adult changes back into an egg. The timing and shapes are simplified.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Clockwise sequence: Eggs in water; Tadpole</a:t>
            </a:r>
          </a:p>
          <a:p xmlns:a="http://schemas.openxmlformats.org/drawingml/2006/main">
            <a:r>
              <a:t>grows and develops; Froglet</a:t>
            </a:r>
          </a:p>
          <a:p xmlns:a="http://schemas.openxmlformats.org/drawingml/2006/main">
            <a:r>
              <a:t>young frog; Adult frog</a:t>
            </a:r>
          </a:p>
          <a:p xmlns:a="http://schemas.openxmlformats.org/drawingml/2006/main">
            <a:r>
              <a:t>can reproduce. Adult → eggs means offspring,</a:t>
            </a:r>
          </a:p>
          <a:p xmlns:a="http://schemas.openxmlformats.org/drawingml/2006/main">
            <a:r>
              <a:t>not the adult becoming an egg.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egg to larva to pupa to adult. Model the explanation: the caterpillar does not become a different species; its body develops. Use chrysalis for butterfly pupa. A cocoon is a covering made by some insects, not a synonym for every pupa.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Clockwise sequence: Egg; Larva</a:t>
            </a:r>
          </a:p>
          <a:p xmlns:a="http://schemas.openxmlformats.org/drawingml/2006/main">
            <a:r>
              <a:t>caterpillar; Pupa</a:t>
            </a:r>
          </a:p>
          <a:p xmlns:a="http://schemas.openxmlformats.org/drawingml/2006/main">
            <a:r>
              <a:t>chrysalis; Adult butterfly. The pupa is a living development stage.</a:t>
            </a:r>
          </a:p>
          <a:p xmlns:a="http://schemas.openxmlformats.org/drawingml/2006/main">
            <a:r>
              <a:t>Reproduction produces the next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Say: This describes a European rabbit and a robin. I retain their names because one species cannot establish a universal rule. A fledgling has left the nest but is not necessarily independent or reproductively 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horizontal sequences compare development in European rabbits and robins. Rabbit young develop inside the mother and are born alive; young feed on milk. Robin young hatch from eggs, grow in the nest, then fledge and mature. Reproduction makes new offspring; these rows omit the connecting reproductive arrows.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movable labels or the HTML prediction/test panel. Correct order egg→tadpole→froglet→adult; reproduction then produces eggs of the next generation. Ask where the identity changes from parent to offspring.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Place pupa between larva and adult. Development occurs in this living stage. Choose evidence, test, then explain using card B; paper route gives the same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Egg → larva → pupa → adult. The pupa is alive and developing.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We do time. Grasshopper challenges all insects have a pupa. Platypus challenges all mammals give live birth. Better claims: monarch butterflies have a pupal stage; rabbits give live birth, but some mammals lay eggs. Do not change mammal classification because a species lays eggs.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incorrect: one adult does not become its own egg. B correct: reproduction produces a new generation. C incorrect: stage positions do not set calendar duration. Re-teach with two different coloured tokens for parent and offspring.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same adult turns into an egg.</a:t>
            </a:r>
          </a:p>
          <a:p xmlns:a="http://schemas.openxmlformats.org/drawingml/2006/main">
            <a:r>
              <a:t>The egg is a new individual, not the adult changing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Reproduction produces the next generation.</a:t>
            </a:r>
          </a:p>
          <a:p xmlns:a="http://schemas.openxmlformats.org/drawingml/2006/main">
            <a:r>
              <a:t>Correct. The arrow links parents to new offspring.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Every stage takes exactly the same time.</a:t>
            </a:r>
          </a:p>
          <a:p xmlns:a="http://schemas.openxmlformats.org/drawingml/2006/main">
            <a:r>
              <a:t>A life-cycle diagram shows order; equal spacing does not mean equal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 one route. Supported pupils complete key stage words and matching; standard pupils make four sequences; stretch pupils combine the four core sequences with counterexamples. Dictated stage explanations can count as independent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Point to a single arrow and ask what changes. Prompt with the evidence card rather than giving the next stage. No requirement to copy scientific species names.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paired check, teacher conference or private self-check. Look for order, named species and meaning of the reproductive arrow. Pupils need not perform publicly.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review time. Ask pupils to explain why leaving a nest or changing shape is not automatically the same as reproductive maturity. Do not add age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pupa/chrysalis. E2 tadpole, froglet, nestling or fledgling, matched to the named species. E3 reproduction produces new individuals. Take a spoken, written or pointed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time. Use the response to plan the scheme’s following comparison lesson. A confidence choice is not scored as scientific attainment.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Egg, tadpole, froglet and reproductive adult sequence; local timing varies.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Monarch egg, caterpillar, pupa and adult stages. A butterfly pupa is not a silken cocoon.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Animal Diversity Web European rabbit</a:t>
            </a:r>
          </a:p>
          <a:p xmlns:a="http://schemas.openxmlformats.org/drawingml/2006/main">
            <a:r>
              <a:t>https://animaldiversity.org/accounts/Oryctolagus_cuniculus/</a:t>
            </a:r>
          </a:p>
          <a:p xmlns:a="http://schemas.openxmlformats.org/drawingml/2006/main">
            <a:r>
              <a:t>Checked September 2026. Development before birth and young fed with milk. Exact ages are not required in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 Brilliant Broods</a:t>
            </a:r>
          </a:p>
          <a:p xmlns:a="http://schemas.openxmlformats.org/drawingml/2006/main">
            <a:r>
              <a:t>https://www.rspb.org.uk/whats-happening/news/brilliant-broods-a-guide-to-eggs-and-nests</a:t>
            </a:r>
          </a:p>
          <a:p xmlns:a="http://schemas.openxmlformats.org/drawingml/2006/main">
            <a:r>
              <a:t>Checked September 2026. Robin eggs and nests; fledglings remain young and may still receive parental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Arizona State University Incomplete Metamorphosis</a:t>
            </a:r>
          </a:p>
          <a:p xmlns:a="http://schemas.openxmlformats.org/drawingml/2006/main">
            <a:r>
              <a:t>https://askabiologist.asu.edu/incomplete-metamorphosis</a:t>
            </a:r>
          </a:p>
          <a:p xmlns:a="http://schemas.openxmlformats.org/drawingml/2006/main">
            <a:r>
              <a:t>Checked September 2026. Egg, nymph and adult sequence without a pupa; grasshopper counterexample.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 with young fed on milk; exception to the all-live-birth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fde40142d4a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2e38f74e3d4f56" /><Relationship Type="http://schemas.openxmlformats.org/officeDocument/2006/relationships/slideLayout" Target="/ppt/slideLayouts/slideLayout1.xml" Id="Ra0c087c2568348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c087c2568348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9ffeff8414320" /><Relationship Type="http://schemas.openxmlformats.org/officeDocument/2006/relationships/notesSlide" Target="/ppt/notesSlides/notesSlide1.xml" Id="R1db8cae72ca24e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206711db44643" /><Relationship Type="http://schemas.openxmlformats.org/officeDocument/2006/relationships/notesSlide" Target="/ppt/notesSlides/notesSlide2.xml" Id="R582b4f7a93c643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72cb5784b44a6" /><Relationship Type="http://schemas.openxmlformats.org/officeDocument/2006/relationships/notesSlide" Target="/ppt/notesSlides/notesSlide3.xml" Id="Rb5c7998ffba94a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34849482f4062" /><Relationship Type="http://schemas.openxmlformats.org/officeDocument/2006/relationships/notesSlide" Target="/ppt/notesSlides/notesSlide4.xml" Id="Ra24dc656ca1246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c17ecd0f4f3b" /><Relationship Type="http://schemas.openxmlformats.org/officeDocument/2006/relationships/notesSlide" Target="/ppt/notesSlides/notesSlide5.xml" Id="R9349a6f6487a49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0f87f36894c3a" /><Relationship Type="http://schemas.openxmlformats.org/officeDocument/2006/relationships/notesSlide" Target="/ppt/notesSlides/notesSlide6.xml" Id="R20b5d06ae49b4f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b4e36ad2b4f5f" /><Relationship Type="http://schemas.openxmlformats.org/officeDocument/2006/relationships/notesSlide" Target="/ppt/notesSlides/notesSlide7.xml" Id="R541605aa25ae4a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5f6c1c4b24790" /><Relationship Type="http://schemas.openxmlformats.org/officeDocument/2006/relationships/notesSlide" Target="/ppt/notesSlides/notesSlide8.xml" Id="R872a5182cb7f45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d1b27e8c54c31" /><Relationship Type="http://schemas.openxmlformats.org/officeDocument/2006/relationships/notesSlide" Target="/ppt/notesSlides/notesSlide9.xml" Id="Ra8728e74afe44d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5ea6065ab4cf8" /><Relationship Type="http://schemas.openxmlformats.org/officeDocument/2006/relationships/notesSlide" Target="/ppt/notesSlides/notesSlide10.xml" Id="R5d598b9f2c174b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8f4afad764bf0" /><Relationship Type="http://schemas.openxmlformats.org/officeDocument/2006/relationships/notesSlide" Target="/ppt/notesSlides/notesSlide11.xml" Id="R398c07340b5944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f443e6f1e4a2f" /><Relationship Type="http://schemas.openxmlformats.org/officeDocument/2006/relationships/notesSlide" Target="/ppt/notesSlides/notesSlide12.xml" Id="Rfbe06c25999e4a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2aad3b366473d" /><Relationship Type="http://schemas.openxmlformats.org/officeDocument/2006/relationships/notesSlide" Target="/ppt/notesSlides/notesSlide13.xml" Id="R8d4535169ba249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51b7effa5481f" /><Relationship Type="http://schemas.openxmlformats.org/officeDocument/2006/relationships/notesSlide" Target="/ppt/notesSlides/notesSlide14.xml" Id="R9e00efa1f06e43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b02d2bcc74c42" /><Relationship Type="http://schemas.openxmlformats.org/officeDocument/2006/relationships/notesSlide" Target="/ppt/notesSlides/notesSlide15.xml" Id="Rb3aae6f6176b4e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747D35B-A866-4EEC-AAC1-B0039189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3C6714A-8AC4-419D-9234-C7167016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BAF794F-7B65-4D1F-99C9-6D5D24E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A3D2EFB-D99E-4D50-B68E-7967B5F0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612BCD67-2F00-4B56-B2A2-8196D5C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97D67BC3-ED47-4A81-99B1-425C7086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e wildlife archive is mixed up">
            <a:extLst xmlns:a="http://schemas.openxmlformats.org/drawingml/2006/main">
              <a:ext uri="{FF2B5EF4-FFF2-40B4-BE49-F238E27FC236}">
                <a16:creationId xmlns:a16="http://schemas.microsoft.com/office/drawing/2014/main" id="{CDB173EC-B825-4DB5-90E9-70EA8B74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wildlife archive is mixed up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1A9FF8B-3ED3-46AF-9017-54E30E1A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D1FD1F20-D01B-4F0A-884A-B34F48F0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3C388492-9517-4EF3-B5AF-A9C7A12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8E3C7783-607F-4F44-81E4-A74B8041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65471CD-8BE0-4A32-9B9D-CCA5EFF8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0455CE55-7E92-48A1-89F5-891E035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the life cycles of a mammal, an amphibian, an insect an">
            <a:extLst xmlns:a="http://schemas.openxmlformats.org/drawingml/2006/main">
              <a:ext uri="{FF2B5EF4-FFF2-40B4-BE49-F238E27FC236}">
                <a16:creationId xmlns:a16="http://schemas.microsoft.com/office/drawing/2014/main" id="{3B54C193-9CAB-4959-9D8E-CB727FC7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the life cycles of a mammal, an amphibian, an insect and a bird using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named examples.</a:t>
            </a:r>
          </a:p>
        </p:txBody>
      </p:sp>
      <p:sp>
        <p:nvSpPr>
          <p:cNvPr id="15" name="Four displays have lost their stage labels.">
            <a:extLst xmlns:a="http://schemas.openxmlformats.org/drawingml/2006/main">
              <a:ext uri="{FF2B5EF4-FFF2-40B4-BE49-F238E27FC236}">
                <a16:creationId xmlns:a16="http://schemas.microsoft.com/office/drawing/2014/main" id="{B8DA5DED-6106-4133-A7AF-B2664DFD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Four displays have lost their stage labels.</a:t>
            </a:r>
          </a:p>
        </p:txBody>
      </p:sp>
      <p:sp>
        <p:nvSpPr>
          <p:cNvPr id="16" name="Your job: repair the science, then explain the arrows.">
            <a:extLst xmlns:a="http://schemas.openxmlformats.org/drawingml/2006/main">
              <a:ext uri="{FF2B5EF4-FFF2-40B4-BE49-F238E27FC236}">
                <a16:creationId xmlns:a16="http://schemas.microsoft.com/office/drawing/2014/main" id="{5C8BC2A5-DBDE-48BC-8358-E8F21CE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job: repair the science, then explain the arrows.</a:t>
            </a:r>
          </a:p>
        </p:txBody>
      </p:sp>
    </p:spTree>
    <p:extLst>
      <p:ext uri="{BB962C8B-B14F-4D97-AF65-F5344CB8AC3E}">
        <p14:creationId xmlns:p14="http://schemas.microsoft.com/office/powerpoint/2010/main" val="594103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57939D0-D3C0-4680-A2FD-2D5B02C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8B23113-BA78-4D1D-8E00-439A3E0D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380CD0C-B82F-468A-9739-06C3312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B1CF2FF-DADC-49DC-A762-39A51737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70F8F7EB-6938-45A7-BF27-85F26F7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163AE5F-A2E0-4B10-931F-82576747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at changes as animals grow?">
            <a:extLst xmlns:a="http://schemas.openxmlformats.org/drawingml/2006/main">
              <a:ext uri="{FF2B5EF4-FFF2-40B4-BE49-F238E27FC236}">
                <a16:creationId xmlns:a16="http://schemas.microsoft.com/office/drawing/2014/main" id="{273C5831-5607-4D8F-A6C1-15F2FCC8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changes as animals grow?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157DB58-9101-4C08-B817-48B885AC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E2D428C8-F4B2-4529-B92C-3A3D128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7E1A293D-E93E-4898-8915-4CDAB96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are offspring?">
            <a:extLst xmlns:a="http://schemas.openxmlformats.org/drawingml/2006/main">
              <a:ext uri="{FF2B5EF4-FFF2-40B4-BE49-F238E27FC236}">
                <a16:creationId xmlns:a16="http://schemas.microsoft.com/office/drawing/2014/main" id="{14F7F050-F33C-4449-A6CE-ABE18BFA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are offspring?</a:t>
            </a:r>
          </a:p>
        </p:txBody>
      </p:sp>
      <p:sp>
        <p:nvSpPr>
          <p:cNvPr id="12" name="R2. Is a young bird already a mature adult?">
            <a:extLst xmlns:a="http://schemas.openxmlformats.org/drawingml/2006/main">
              <a:ext uri="{FF2B5EF4-FFF2-40B4-BE49-F238E27FC236}">
                <a16:creationId xmlns:a16="http://schemas.microsoft.com/office/drawing/2014/main" id="{297265DB-E466-4BA7-92C0-1560CD94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Is a young bird already a mature adult?</a:t>
            </a:r>
          </a:p>
        </p:txBody>
      </p:sp>
      <p:sp>
        <p:nvSpPr>
          <p:cNvPr id="13" name="R3. Does one named example prove a rule for every animal?">
            <a:extLst xmlns:a="http://schemas.openxmlformats.org/drawingml/2006/main">
              <a:ext uri="{FF2B5EF4-FFF2-40B4-BE49-F238E27FC236}">
                <a16:creationId xmlns:a16="http://schemas.microsoft.com/office/drawing/2014/main" id="{5875BAD8-219B-4B74-A6AE-3582BFA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one named example prove a rule for every animal?</a:t>
            </a:r>
          </a:p>
        </p:txBody>
      </p:sp>
    </p:spTree>
    <p:extLst>
      <p:ext uri="{BB962C8B-B14F-4D97-AF65-F5344CB8AC3E}">
        <p14:creationId xmlns:p14="http://schemas.microsoft.com/office/powerpoint/2010/main" val="848914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899A6F8A-9432-4A09-9B00-BB03FA7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67A14B8-4442-47BE-B90A-A556F10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1441090-C90F-49EB-94DB-0E4E9AA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73D57B9-2EDF-415B-9939-99284E77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0DD1399-D81B-47D0-A292-B53A6125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8A1E7B30-6912-4D8B-813C-392935E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explain each frog arrow">
            <a:extLst xmlns:a="http://schemas.openxmlformats.org/drawingml/2006/main">
              <a:ext uri="{FF2B5EF4-FFF2-40B4-BE49-F238E27FC236}">
                <a16:creationId xmlns:a16="http://schemas.microsoft.com/office/drawing/2014/main" id="{39E16969-6673-4F9A-B237-FB976002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explain each frog arrow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B76A0EF-0A4C-48B5-A9F2-4990AA9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44C9685D-7443-4A8D-AEF7-77B445EC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0FF1A0FD-ACAF-41DB-8D1A-21E6B1A9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Common frog: changes across generations">
            <a:extLst xmlns:a="http://schemas.openxmlformats.org/drawingml/2006/main">
              <a:ext uri="{FF2B5EF4-FFF2-40B4-BE49-F238E27FC236}">
                <a16:creationId xmlns:a16="http://schemas.microsoft.com/office/drawing/2014/main" id="{2955385E-2801-4290-8E47-28F926BD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12122"/>
            <a:ext cx="686956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Common frog: changes across generations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BEFF692-8A33-4109-9B5B-461E1E31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2669211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Diagram label: Eggs in water">
            <a:extLst xmlns:a="http://schemas.openxmlformats.org/drawingml/2006/main">
              <a:ext uri="{FF2B5EF4-FFF2-40B4-BE49-F238E27FC236}">
                <a16:creationId xmlns:a16="http://schemas.microsoft.com/office/drawing/2014/main" id="{58DBC3E7-FC68-4809-947D-1AC756F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2788682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Eggs in water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075C771-B3CD-4916-8554-20896CB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2669211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abel: Tadpole&#10;grows and develops">
            <a:extLst xmlns:a="http://schemas.openxmlformats.org/drawingml/2006/main">
              <a:ext uri="{FF2B5EF4-FFF2-40B4-BE49-F238E27FC236}">
                <a16:creationId xmlns:a16="http://schemas.microsoft.com/office/drawing/2014/main" id="{C3DB50B5-D40C-4390-9FFF-33DFA71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30" y="2788682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Tadpole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grows and develops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5D49052-E587-45BF-BCAD-06A8D334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4386603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abel: Froglet&#10;young frog">
            <a:extLst xmlns:a="http://schemas.openxmlformats.org/drawingml/2006/main">
              <a:ext uri="{FF2B5EF4-FFF2-40B4-BE49-F238E27FC236}">
                <a16:creationId xmlns:a16="http://schemas.microsoft.com/office/drawing/2014/main" id="{9B0DA106-D7B6-42D2-80C2-DCF442D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30" y="4506073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Froglet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young frog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4D7EE72-86BE-4663-85D3-8B21136F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4386603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9" name="Diagram label: Adult frog&#10;can reproduce">
            <a:extLst xmlns:a="http://schemas.openxmlformats.org/drawingml/2006/main">
              <a:ext uri="{FF2B5EF4-FFF2-40B4-BE49-F238E27FC236}">
                <a16:creationId xmlns:a16="http://schemas.microsoft.com/office/drawing/2014/main" id="{EF733612-D912-402F-966D-4A02ABA6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4506073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 frog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reproduce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B086449-88EE-403D-A2E6-5A9D2B41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74639" y="3079892"/>
            <a:ext cx="15643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67EA9CA-91AA-4463-B29B-4BA16FBE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12824" y="302762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ACD831A-8ED3-4484-9101-56076BF3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74734" y="3490572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7147015-70E9-417E-9517-8345BAE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022465" y="428206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B5A950B-E791-4C9D-B10B-51F8901F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53041" y="4797283"/>
            <a:ext cx="15643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0A3CBC4-2385-42A7-882D-EA20A40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74639" y="474501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4201102-2AE6-4BB4-A5A3-7A5BA891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17266" y="3568975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EF1BB81-FBAC-4906-AF4F-BB5611FF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4998" y="349057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8" name="Diagram label: Adult → eggs means offspring,&#10;not the adult becoming an egg.">
            <a:extLst xmlns:a="http://schemas.openxmlformats.org/drawingml/2006/main">
              <a:ext uri="{FF2B5EF4-FFF2-40B4-BE49-F238E27FC236}">
                <a16:creationId xmlns:a16="http://schemas.microsoft.com/office/drawing/2014/main" id="{44914A78-04B4-40C2-82A1-B77F986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417038"/>
            <a:ext cx="6645558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 → eggs means offspring,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the adult becoming an egg.</a:t>
            </a:r>
          </a:p>
        </p:txBody>
      </p:sp>
      <p:sp>
        <p:nvSpPr>
          <p:cNvPr id="29" name="Eggs hatch into tadpoles.  Tadpoles develop into froglets.  The ">
            <a:extLst xmlns:a="http://schemas.openxmlformats.org/drawingml/2006/main">
              <a:ext uri="{FF2B5EF4-FFF2-40B4-BE49-F238E27FC236}">
                <a16:creationId xmlns:a16="http://schemas.microsoft.com/office/drawing/2014/main" id="{31DB0269-2B98-4E94-BA3B-5F0F585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Eggs hatch into tadpoles. Tadpoles develop into froglets. The adult-to-egg arrow means reproduction.</a:t>
            </a:r>
          </a:p>
        </p:txBody>
      </p:sp>
    </p:spTree>
    <p:extLst>
      <p:ext uri="{BB962C8B-B14F-4D97-AF65-F5344CB8AC3E}">
        <p14:creationId xmlns:p14="http://schemas.microsoft.com/office/powerpoint/2010/main" val="2116373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95FE6545-F922-4687-A321-63D74C37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DDDDE62-097A-4897-B96E-7934D4A4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B7E538C-7CD6-4F47-BE10-82C9B51A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A97ABB4-1D95-4EE8-89FA-D364BE9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85F870E-6ABC-42F4-B3BB-A408F9E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check for a pupal stage">
            <a:extLst xmlns:a="http://schemas.openxmlformats.org/drawingml/2006/main">
              <a:ext uri="{FF2B5EF4-FFF2-40B4-BE49-F238E27FC236}">
                <a16:creationId xmlns:a16="http://schemas.microsoft.com/office/drawing/2014/main" id="{1D636EDE-7106-432E-8383-0C96CB1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check for a pupal stage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19B55D8-0A90-4790-8262-408C2CBB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FC99D114-A83A-438B-866F-86BA04AD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105B5C36-43B1-4AE2-BFC6-B79BE8DC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Monarch: complete metamorphosis">
            <a:extLst xmlns:a="http://schemas.openxmlformats.org/drawingml/2006/main">
              <a:ext uri="{FF2B5EF4-FFF2-40B4-BE49-F238E27FC236}">
                <a16:creationId xmlns:a16="http://schemas.microsoft.com/office/drawing/2014/main" id="{662915BB-F09A-453F-91E4-CD7B09CB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12122"/>
            <a:ext cx="686956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Monarch: complete metamorphosis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E03C7FE-056A-4BE4-93DB-A527F572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2669211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2" name="Diagram label: Egg">
            <a:extLst xmlns:a="http://schemas.openxmlformats.org/drawingml/2006/main">
              <a:ext uri="{FF2B5EF4-FFF2-40B4-BE49-F238E27FC236}">
                <a16:creationId xmlns:a16="http://schemas.microsoft.com/office/drawing/2014/main" id="{B3A4C5B7-4B8A-4F31-8B67-03D545F6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2788682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B589CA-3635-467E-9AEC-60BE576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2669211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Diagram label: Larva&#10;caterpillar">
            <a:extLst xmlns:a="http://schemas.openxmlformats.org/drawingml/2006/main">
              <a:ext uri="{FF2B5EF4-FFF2-40B4-BE49-F238E27FC236}">
                <a16:creationId xmlns:a16="http://schemas.microsoft.com/office/drawing/2014/main" id="{A655705E-896D-4F7F-8DC5-265EF39F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30" y="2788682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Larva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caterpillar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F202472-6C51-4F84-9064-8B7DC14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4386603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6" name="Diagram label: Pupa&#10;chrysalis">
            <a:extLst xmlns:a="http://schemas.openxmlformats.org/drawingml/2006/main">
              <a:ext uri="{FF2B5EF4-FFF2-40B4-BE49-F238E27FC236}">
                <a16:creationId xmlns:a16="http://schemas.microsoft.com/office/drawing/2014/main" id="{337FC229-29CA-4181-A8EB-06030C1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30" y="4506073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Pupa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chrysalis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8A520E8-5A08-48EC-A156-BA6376A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4386603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8" name="Diagram label: Adult butterfly">
            <a:extLst xmlns:a="http://schemas.openxmlformats.org/drawingml/2006/main">
              <a:ext uri="{FF2B5EF4-FFF2-40B4-BE49-F238E27FC236}">
                <a16:creationId xmlns:a16="http://schemas.microsoft.com/office/drawing/2014/main" id="{9FDD841E-424B-4D75-88F7-36400B01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4506073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 butterfly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773B8DA-F451-4F5F-A7B1-0AFA3A6F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74639" y="3079892"/>
            <a:ext cx="15643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7E3DA911-88D6-41A2-9090-1DF6432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12824" y="302762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16DC7A0-3B83-456D-944D-18922B6B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74734" y="3490572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2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C607B58-6F05-4144-8C25-151B2EE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022465" y="428206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29D24C5-0F6B-4AA4-8DB4-72E05A8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53041" y="4797283"/>
            <a:ext cx="15643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E71444E-8EBA-425A-A20F-4A683AC8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74639" y="474501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132163D-480C-4703-BD89-4ACC65E0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17266" y="3568975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C915328-938E-42C9-9244-84812ABC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4998" y="349057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7" name="Diagram label: The pupa is a living development stage.&#10;Reproduction produces the next generation.">
            <a:extLst xmlns:a="http://schemas.openxmlformats.org/drawingml/2006/main">
              <a:ext uri="{FF2B5EF4-FFF2-40B4-BE49-F238E27FC236}">
                <a16:creationId xmlns:a16="http://schemas.microsoft.com/office/drawing/2014/main" id="{2BBE347E-AB4E-4F8C-993C-801DCEE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417038"/>
            <a:ext cx="6645558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pupa is a living development stage.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Reproduction produces the next generation.</a:t>
            </a:r>
          </a:p>
        </p:txBody>
      </p:sp>
      <p:sp>
        <p:nvSpPr>
          <p:cNvPr id="28" name="The monarch has four named stages.  A caterpillar is a larva.  T">
            <a:extLst xmlns:a="http://schemas.openxmlformats.org/drawingml/2006/main">
              <a:ext uri="{FF2B5EF4-FFF2-40B4-BE49-F238E27FC236}">
                <a16:creationId xmlns:a16="http://schemas.microsoft.com/office/drawing/2014/main" id="{BB6BCD30-5EC6-468E-9B88-B0B8EE59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monarch has four named stages. A caterpillar is a larva. The pupa is alive and developing.</a:t>
            </a:r>
          </a:p>
        </p:txBody>
      </p:sp>
    </p:spTree>
    <p:extLst>
      <p:ext uri="{BB962C8B-B14F-4D97-AF65-F5344CB8AC3E}">
        <p14:creationId xmlns:p14="http://schemas.microsoft.com/office/powerpoint/2010/main" val="1169977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D5A9EC26-A6CD-40CB-8D35-DAF87CB2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0400E11-A97D-4368-B154-7ACAF0FC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02DB6C4-3DAE-40D2-93A6-9F682F2F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29BC5B5-5807-4B69-87BB-9DBC36CE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E1305123-71BD-4802-9CE1-0BCF7D1C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keep the animal name in the claim">
            <a:extLst xmlns:a="http://schemas.openxmlformats.org/drawingml/2006/main">
              <a:ext uri="{FF2B5EF4-FFF2-40B4-BE49-F238E27FC236}">
                <a16:creationId xmlns:a16="http://schemas.microsoft.com/office/drawing/2014/main" id="{23C7FDB8-03B7-43EB-9173-C0EB2D16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keep the animal name in the claim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E172D84-C1EE-4A00-937C-E917DF8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C3F7BFDF-AF12-4688-B137-74265A92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7A3F6DDF-4983-40AF-B347-9E9F1B4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Rabbit and robin: two named life cycles">
            <a:extLst xmlns:a="http://schemas.openxmlformats.org/drawingml/2006/main">
              <a:ext uri="{FF2B5EF4-FFF2-40B4-BE49-F238E27FC236}">
                <a16:creationId xmlns:a16="http://schemas.microsoft.com/office/drawing/2014/main" id="{F3185DD6-3037-4E2F-A285-3762B50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1988004"/>
            <a:ext cx="6517141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Rabbit and robin: two named life cycles</a:t>
            </a:r>
          </a:p>
        </p:txBody>
      </p:sp>
      <p:sp>
        <p:nvSpPr>
          <p:cNvPr id="11" name="Diagram label: European rabbit">
            <a:extLst xmlns:a="http://schemas.openxmlformats.org/drawingml/2006/main">
              <a:ext uri="{FF2B5EF4-FFF2-40B4-BE49-F238E27FC236}">
                <a16:creationId xmlns:a16="http://schemas.microsoft.com/office/drawing/2014/main" id="{9FDF2146-9D5D-4325-A40A-FEBEF3D6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2492556"/>
            <a:ext cx="6587218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European rabbit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0C0959E-8E6C-481F-91D2-198E5FBE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899002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Develops inside&#10;mother">
            <a:extLst xmlns:a="http://schemas.openxmlformats.org/drawingml/2006/main">
              <a:ext uri="{FF2B5EF4-FFF2-40B4-BE49-F238E27FC236}">
                <a16:creationId xmlns:a16="http://schemas.microsoft.com/office/drawing/2014/main" id="{578BEF3A-71C2-47FA-A475-0E215ED2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529" y="3004117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Develops inside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mother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FD5524F-B163-4CE9-9D81-950240EE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74004" y="3249386"/>
            <a:ext cx="2067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2515139-4E61-480D-8FC7-911678DF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56203" y="3200332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CDA60C2-B3C3-4C8C-BCB1-6978E4E8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311" y="2899002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Diagram label: Newborn kit&#10;feeds on milk">
            <a:extLst xmlns:a="http://schemas.openxmlformats.org/drawingml/2006/main">
              <a:ext uri="{FF2B5EF4-FFF2-40B4-BE49-F238E27FC236}">
                <a16:creationId xmlns:a16="http://schemas.microsoft.com/office/drawing/2014/main" id="{287B39BF-E0B5-4A73-8C87-12AB2A60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72" y="3004117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Newborn kit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feeds on milk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10144D1-333E-4FC3-B514-3C725F87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5846" y="3249386"/>
            <a:ext cx="2067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1507EC6-65C1-4E21-AF36-82BAB39C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38046" y="3200332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F7A92C1-A522-4F73-BBFE-099FE9D0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154" y="2899002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1" name="Diagram label: Growing&#10;young rabbit">
            <a:extLst xmlns:a="http://schemas.openxmlformats.org/drawingml/2006/main">
              <a:ext uri="{FF2B5EF4-FFF2-40B4-BE49-F238E27FC236}">
                <a16:creationId xmlns:a16="http://schemas.microsoft.com/office/drawing/2014/main" id="{74547DE8-2E80-4633-814F-4CB3D47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15" y="3004117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Growing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young rabbit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BF6C311-BFD3-4C35-A034-CA5146FA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37689" y="3249386"/>
            <a:ext cx="2067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06CBC6F-69CF-4506-9E6E-BD82B92D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19889" y="3200332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1DCF97A-60F8-4B65-9A7A-C0E972A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996" y="2899002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5" name="Diagram label: Mature&#10;adult">
            <a:extLst xmlns:a="http://schemas.openxmlformats.org/drawingml/2006/main">
              <a:ext uri="{FF2B5EF4-FFF2-40B4-BE49-F238E27FC236}">
                <a16:creationId xmlns:a16="http://schemas.microsoft.com/office/drawing/2014/main" id="{9A3C024A-E293-4CB5-997E-A854F2C3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058" y="3004117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Mature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</a:t>
            </a:r>
          </a:p>
        </p:txBody>
      </p:sp>
      <p:sp>
        <p:nvSpPr>
          <p:cNvPr id="26" name="Diagram label: Robin">
            <a:extLst xmlns:a="http://schemas.openxmlformats.org/drawingml/2006/main">
              <a:ext uri="{FF2B5EF4-FFF2-40B4-BE49-F238E27FC236}">
                <a16:creationId xmlns:a16="http://schemas.microsoft.com/office/drawing/2014/main" id="{DCE196B9-E102-4FA0-9420-276C27F9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3999207"/>
            <a:ext cx="6587218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Robin</a:t>
            </a:r>
          </a:p>
        </p:txBody>
      </p:sp>
      <p:sp>
        <p:nvSpPr>
          <p:cNvPr id="2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C4CD6B4-0350-4FC9-BBF7-BB6C6E3B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4405653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8" name="Diagram label: Egg in&#10;a nest">
            <a:extLst xmlns:a="http://schemas.openxmlformats.org/drawingml/2006/main">
              <a:ext uri="{FF2B5EF4-FFF2-40B4-BE49-F238E27FC236}">
                <a16:creationId xmlns:a16="http://schemas.microsoft.com/office/drawing/2014/main" id="{B4F88AC2-5EED-4047-B08D-9D58182E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529" y="4510768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 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nest</a:t>
            </a:r>
          </a:p>
        </p:txBody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8447EAA-3EDC-41A7-AEFF-2120B3A0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74004" y="4756037"/>
            <a:ext cx="2067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3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6E811CF-A36B-4248-84DE-15ED958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56203" y="470698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27A9C2E-2E7B-43C3-88B1-BE1DBF9E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311" y="4405653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32" name="Diagram label: Nestling&#10;chick">
            <a:extLst xmlns:a="http://schemas.openxmlformats.org/drawingml/2006/main">
              <a:ext uri="{FF2B5EF4-FFF2-40B4-BE49-F238E27FC236}">
                <a16:creationId xmlns:a16="http://schemas.microsoft.com/office/drawing/2014/main" id="{46E7A7D9-D91D-44E7-8A20-FCA6A98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72" y="4510768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Nestling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chick</a:t>
            </a:r>
          </a:p>
        </p:txBody>
      </p:sp>
      <p:sp>
        <p:nvSpPr>
          <p:cNvPr id="3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DCC1814-650D-43DF-90D4-E8117A4F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5846" y="4756037"/>
            <a:ext cx="2067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3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0A5C6E6-1348-4112-8215-12255D93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38046" y="470698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3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C625E58-0C7D-423B-AA10-8F97E553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154" y="4405653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36" name="Diagram label: Fledgling&#10;young bird">
            <a:extLst xmlns:a="http://schemas.openxmlformats.org/drawingml/2006/main">
              <a:ext uri="{FF2B5EF4-FFF2-40B4-BE49-F238E27FC236}">
                <a16:creationId xmlns:a16="http://schemas.microsoft.com/office/drawing/2014/main" id="{FFB6DA69-6DA5-4C98-AE68-E7165581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15" y="4510768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Fledgling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young bird</a:t>
            </a:r>
          </a:p>
        </p:txBody>
      </p:sp>
      <p:sp>
        <p:nvSpPr>
          <p:cNvPr id="3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9A9B291-1AFB-420D-97E4-3078003C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37689" y="4756037"/>
            <a:ext cx="2067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3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C2FC1C3-0334-41EA-A734-5B79D0AE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19889" y="470698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3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7C0E438-B20E-40AC-8AC8-02A4D30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996" y="4405653"/>
            <a:ext cx="1401536" cy="700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40" name="Diagram label: Mature&#10;adult">
            <a:extLst xmlns:a="http://schemas.openxmlformats.org/drawingml/2006/main">
              <a:ext uri="{FF2B5EF4-FFF2-40B4-BE49-F238E27FC236}">
                <a16:creationId xmlns:a16="http://schemas.microsoft.com/office/drawing/2014/main" id="{018D0624-CC53-4384-858A-B2DBC59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058" y="4510768"/>
            <a:ext cx="1289413" cy="504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Mature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</a:t>
            </a:r>
          </a:p>
        </p:txBody>
      </p:sp>
      <p:sp>
        <p:nvSpPr>
          <p:cNvPr id="41" name="Diagram label: Mature adults can reproduce to produce new offspring.">
            <a:extLst xmlns:a="http://schemas.openxmlformats.org/drawingml/2006/main">
              <a:ext uri="{FF2B5EF4-FFF2-40B4-BE49-F238E27FC236}">
                <a16:creationId xmlns:a16="http://schemas.microsoft.com/office/drawing/2014/main" id="{9800D1EA-E25D-4916-A559-0033EDCB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5281613"/>
            <a:ext cx="6517141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Mature adults can reproduce to produce new offspring.</a:t>
            </a:r>
          </a:p>
        </p:txBody>
      </p:sp>
      <p:sp>
        <p:nvSpPr>
          <p:cNvPr id="42" name="Rabbit young are born alive and feed on milk.  Robin young hatch">
            <a:extLst xmlns:a="http://schemas.openxmlformats.org/drawingml/2006/main">
              <a:ext uri="{FF2B5EF4-FFF2-40B4-BE49-F238E27FC236}">
                <a16:creationId xmlns:a16="http://schemas.microsoft.com/office/drawing/2014/main" id="{FCB458C5-3E9D-4B7A-9B89-3E7C29CE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Rabbit young are born alive and feed on milk. Robin young hatch from eggs. Both young animals grow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mature.</a:t>
            </a:r>
          </a:p>
        </p:txBody>
      </p:sp>
    </p:spTree>
    <p:extLst>
      <p:ext uri="{BB962C8B-B14F-4D97-AF65-F5344CB8AC3E}">
        <p14:creationId xmlns:p14="http://schemas.microsoft.com/office/powerpoint/2010/main" val="1211611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8DE7175-D255-4BD8-83A4-CF7CC93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05EAA40-28B8-4B50-BFA4-4A4180FC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DAF3068-071C-48D9-A2AB-9DAF2A6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76AFCEE-A347-41CA-8171-3D4235C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4C463453-B5F9-46EE-B52B-54CE52F8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E13D1633-6A01-4D9B-B9F0-2D5D6881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Repair three archive labels">
            <a:extLst xmlns:a="http://schemas.openxmlformats.org/drawingml/2006/main">
              <a:ext uri="{FF2B5EF4-FFF2-40B4-BE49-F238E27FC236}">
                <a16:creationId xmlns:a16="http://schemas.microsoft.com/office/drawing/2014/main" id="{39DBEF4B-8BE0-4D38-8C8E-68B18A52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three archive labels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DEAD78A-8A8B-41A8-B3E6-6508943C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C6475427-A888-4379-9DB8-1BE3885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B3BD44AB-79CB-4F04-96B5-DBB12F77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page 1 cards A–F. W1. The frog display says “egg → adult → t">
            <a:extLst xmlns:a="http://schemas.openxmlformats.org/drawingml/2006/main">
              <a:ext uri="{FF2B5EF4-FFF2-40B4-BE49-F238E27FC236}">
                <a16:creationId xmlns:a16="http://schemas.microsoft.com/office/drawing/2014/main" id="{41EBFA22-38B3-48BE-8649-6F598357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page 1 cards A–F. W1. The frog display says “egg → adult → tadpole → froglet”. Repair it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two arrows.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3884"/>
                <a:gridCol w="751131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Display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Suspect label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Frog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Egg → adult → tadpole → froglet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Monarch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Egg → larva → adult; pupa deleted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Animal guide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All mammals give live birth; all insects have a pupa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Authored archive errors for pupils to repair.">
            <a:extLst xmlns:a="http://schemas.openxmlformats.org/drawingml/2006/main">
              <a:ext uri="{FF2B5EF4-FFF2-40B4-BE49-F238E27FC236}">
                <a16:creationId xmlns:a16="http://schemas.microsoft.com/office/drawing/2014/main" id="{E2FE8A39-A041-4C18-8086-260B74DE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678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Authored archive errors for pupils to repair.</a:t>
            </a:r>
          </a:p>
        </p:txBody>
      </p:sp>
    </p:spTree>
    <p:extLst>
      <p:ext uri="{BB962C8B-B14F-4D97-AF65-F5344CB8AC3E}">
        <p14:creationId xmlns:p14="http://schemas.microsoft.com/office/powerpoint/2010/main" val="1183925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49EE01A-97BF-49B9-86AE-4319A6C1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156EF8F-1B5C-47EA-83B1-6C7C163F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F4FFC3D-CF68-4B07-BEAC-1621522B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E9C5CEF-FD7C-44B6-BCA6-707F2AA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215DF9A1-202B-46A7-818E-4EEA616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Recover the missing stage">
            <a:extLst xmlns:a="http://schemas.openxmlformats.org/drawingml/2006/main">
              <a:ext uri="{FF2B5EF4-FFF2-40B4-BE49-F238E27FC236}">
                <a16:creationId xmlns:a16="http://schemas.microsoft.com/office/drawing/2014/main" id="{E92DE179-D7A0-4BF2-9B38-CFE40C9A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Recover the missing stage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16FF580-EC93-46AB-BF87-2B2DD6A8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CEC5D0CF-2C81-4766-8199-E4D7599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51733CA2-3CF7-4F5A-AB16-C83E7F4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W2. The monarch display has lost its pupa.">
            <a:extLst xmlns:a="http://schemas.openxmlformats.org/drawingml/2006/main">
              <a:ext uri="{FF2B5EF4-FFF2-40B4-BE49-F238E27FC236}">
                <a16:creationId xmlns:a16="http://schemas.microsoft.com/office/drawing/2014/main" id="{2F5A5A88-23EB-4086-BEEA-A3D4A8BA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The monarch display has lost its pupa.</a:t>
            </a:r>
          </a:p>
        </p:txBody>
      </p:sp>
      <p:sp>
        <p:nvSpPr>
          <p:cNvPr id="11" name="Where should it go?">
            <a:extLst xmlns:a="http://schemas.openxmlformats.org/drawingml/2006/main">
              <a:ext uri="{FF2B5EF4-FFF2-40B4-BE49-F238E27FC236}">
                <a16:creationId xmlns:a16="http://schemas.microsoft.com/office/drawing/2014/main" id="{A3773160-6EFD-4269-BEA7-F84D7ED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Where should it go?</a:t>
            </a:r>
          </a:p>
        </p:txBody>
      </p:sp>
      <p:sp>
        <p:nvSpPr>
          <p:cNvPr id="12" name="Explain why “it does nothing” is misleading.">
            <a:extLst xmlns:a="http://schemas.openxmlformats.org/drawingml/2006/main">
              <a:ext uri="{FF2B5EF4-FFF2-40B4-BE49-F238E27FC236}">
                <a16:creationId xmlns:a16="http://schemas.microsoft.com/office/drawing/2014/main" id="{0BD31D56-C1AA-4A8A-89AF-00A85C8A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why “it does nothing” is misleading.</a:t>
            </a:r>
          </a:p>
        </p:txBody>
      </p:sp>
    </p:spTree>
    <p:extLst>
      <p:ext uri="{BB962C8B-B14F-4D97-AF65-F5344CB8AC3E}">
        <p14:creationId xmlns:p14="http://schemas.microsoft.com/office/powerpoint/2010/main" val="433442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AC0784D-1E5D-474F-AA57-BBCB62D9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F4A5287-41D1-4E2C-93F1-E9253FE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8DE919A-D050-4D27-97FB-F38EB9BF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E0176BE-F920-4970-A857-0517473E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FFA5227-6ACA-4B40-B359-2AAAB4BF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allenge the word all">
            <a:extLst xmlns:a="http://schemas.openxmlformats.org/drawingml/2006/main">
              <a:ext uri="{FF2B5EF4-FFF2-40B4-BE49-F238E27FC236}">
                <a16:creationId xmlns:a16="http://schemas.microsoft.com/office/drawing/2014/main" id="{874977FD-621D-45C3-A88D-2776A6F4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Challenge the word all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5723CB3-3D7D-4C18-8E60-B66287F3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4BBDB000-F635-431A-9E09-52AE690E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11B356E7-97CB-4DEB-A4D2-268FC858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Test both guide claims using cards E and F.">
            <a:extLst xmlns:a="http://schemas.openxmlformats.org/drawingml/2006/main">
              <a:ext uri="{FF2B5EF4-FFF2-40B4-BE49-F238E27FC236}">
                <a16:creationId xmlns:a16="http://schemas.microsoft.com/office/drawing/2014/main" id="{56A27D64-B915-4EDB-B628-E0A0EEF7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Test both guide claims using cards E and F.</a:t>
            </a:r>
          </a:p>
        </p:txBody>
      </p:sp>
      <p:sp>
        <p:nvSpPr>
          <p:cNvPr id="11" name="Name a counterexample for each.">
            <a:extLst xmlns:a="http://schemas.openxmlformats.org/drawingml/2006/main">
              <a:ext uri="{FF2B5EF4-FFF2-40B4-BE49-F238E27FC236}">
                <a16:creationId xmlns:a16="http://schemas.microsoft.com/office/drawing/2014/main" id="{CE91FBCB-6D21-48DD-818B-06D4B9C6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a counterexample for each.</a:t>
            </a:r>
          </a:p>
        </p:txBody>
      </p:sp>
      <p:sp>
        <p:nvSpPr>
          <p:cNvPr id="12" name="Write a more careful statement.">
            <a:extLst xmlns:a="http://schemas.openxmlformats.org/drawingml/2006/main">
              <a:ext uri="{FF2B5EF4-FFF2-40B4-BE49-F238E27FC236}">
                <a16:creationId xmlns:a16="http://schemas.microsoft.com/office/drawing/2014/main" id="{BAF8AED7-CEA3-451C-826D-1771BDD6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more careful statement.</a:t>
            </a:r>
          </a:p>
        </p:txBody>
      </p:sp>
    </p:spTree>
    <p:extLst>
      <p:ext uri="{BB962C8B-B14F-4D97-AF65-F5344CB8AC3E}">
        <p14:creationId xmlns:p14="http://schemas.microsoft.com/office/powerpoint/2010/main" val="2042239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86AA38B2-6D44-41E9-81C6-2F43AB0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D1EF71D-10E3-4C65-AF6D-550B905C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3BB0AA8-EF27-4DEF-BC90-B8EEFBBA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22D410F-5E2F-4221-ABAD-8E911FD9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6D40E149-6E31-4AF6-A19E-4B4292D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1A4797C-973E-47DC-82A0-4C6E3EC3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at does the returning arrow mean?">
            <a:extLst xmlns:a="http://schemas.openxmlformats.org/drawingml/2006/main">
              <a:ext uri="{FF2B5EF4-FFF2-40B4-BE49-F238E27FC236}">
                <a16:creationId xmlns:a16="http://schemas.microsoft.com/office/drawing/2014/main" id="{1ECCD601-0AA5-4647-8B27-0636645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does the returning arrow mean?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38DDA98-8354-4D74-BC41-C07860F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0CC790B3-23EC-4773-8ABA-D8F5F18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75DC45C7-7B93-4209-96B2-6B15DDE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In a cycle, an arrow goes from an adult to eggs.">
            <a:extLst xmlns:a="http://schemas.openxmlformats.org/drawingml/2006/main">
              <a:ext uri="{FF2B5EF4-FFF2-40B4-BE49-F238E27FC236}">
                <a16:creationId xmlns:a16="http://schemas.microsoft.com/office/drawing/2014/main" id="{A7CA9D4A-B370-499A-9A3E-5667587B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a cycle, an arrow goes from an adult to eggs.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9AF5EA2-AAC8-437B-9FFF-3BCBB30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F4F24D1-5A29-410F-B123-94C2A52F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E4B83B68-BAD8-4591-9030-18BA5A97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same adult turns into an egg.">
            <a:extLst xmlns:a="http://schemas.openxmlformats.org/drawingml/2006/main">
              <a:ext uri="{FF2B5EF4-FFF2-40B4-BE49-F238E27FC236}">
                <a16:creationId xmlns:a16="http://schemas.microsoft.com/office/drawing/2014/main" id="{9356CF9F-C06A-4B8D-9447-596418C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same adult turns into an egg.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83289E36-1F5C-4471-BC7A-13025645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0CEC464-CCE7-41A4-B87B-626CF65E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64DC70DE-E8A0-4768-A60D-C54864E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Reproduction produces the next generation.">
            <a:extLst xmlns:a="http://schemas.openxmlformats.org/drawingml/2006/main">
              <a:ext uri="{FF2B5EF4-FFF2-40B4-BE49-F238E27FC236}">
                <a16:creationId xmlns:a16="http://schemas.microsoft.com/office/drawing/2014/main" id="{1AED4F9C-E436-4A57-9857-8355E55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Reproduction produces the next generation.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D71E9F48-CEB4-4C9D-B309-AAB6DF5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0F0F0381-60E4-4FD0-BDD6-27B28C3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36D3353F-B1B8-4493-8B28-94B43F3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Every stage takes exactly the same time.">
            <a:extLst xmlns:a="http://schemas.openxmlformats.org/drawingml/2006/main">
              <a:ext uri="{FF2B5EF4-FFF2-40B4-BE49-F238E27FC236}">
                <a16:creationId xmlns:a16="http://schemas.microsoft.com/office/drawing/2014/main" id="{4E258371-CF8A-466C-8ED5-0FE5712A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Every stage takes exactly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388644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8B3F639-6FD6-4597-890B-C9DBBB0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B0A1DA5-3B6F-4F51-AA80-4658A0E5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B3D3861-F42C-4D2B-AD35-4234E2DA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1802A4E-8639-400D-B253-5524F291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46DC062E-2EDA-4918-A881-7EECFBF8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D56637DC-6C9A-49C1-B218-0715FD27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Build a reliable display">
            <a:extLst xmlns:a="http://schemas.openxmlformats.org/drawingml/2006/main">
              <a:ext uri="{FF2B5EF4-FFF2-40B4-BE49-F238E27FC236}">
                <a16:creationId xmlns:a16="http://schemas.microsoft.com/office/drawing/2014/main" id="{7CC1ED98-3B86-46A7-A230-F842237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 reliable display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DB30663-E944-4D56-8AD5-02F9E72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F0F3466C-297C-4130-9688-F6F5E216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18EF738C-0F7F-4B94-99E5-5764EDEE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supported, standard or stretch.">
            <a:extLst xmlns:a="http://schemas.openxmlformats.org/drawingml/2006/main">
              <a:ext uri="{FF2B5EF4-FFF2-40B4-BE49-F238E27FC236}">
                <a16:creationId xmlns:a16="http://schemas.microsoft.com/office/drawing/2014/main" id="{91697F0E-F255-4BE2-AC55-F2E1EC78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supported, standard or stretch.</a:t>
            </a:r>
          </a:p>
        </p:txBody>
      </p:sp>
      <p:sp>
        <p:nvSpPr>
          <p:cNvPr id="12" name="Use page 1 as your evidence archive.">
            <a:extLst xmlns:a="http://schemas.openxmlformats.org/drawingml/2006/main">
              <a:ext uri="{FF2B5EF4-FFF2-40B4-BE49-F238E27FC236}">
                <a16:creationId xmlns:a16="http://schemas.microsoft.com/office/drawing/2014/main" id="{7EBB4C19-CCDB-4C10-8DEF-6FD4215C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page 1 as your evidence archive.</a:t>
            </a:r>
          </a:p>
        </p:txBody>
      </p:sp>
      <p:sp>
        <p:nvSpPr>
          <p:cNvPr id="13" name="Include all four core animal examples.">
            <a:extLst xmlns:a="http://schemas.openxmlformats.org/drawingml/2006/main">
              <a:ext uri="{FF2B5EF4-FFF2-40B4-BE49-F238E27FC236}">
                <a16:creationId xmlns:a16="http://schemas.microsoft.com/office/drawing/2014/main" id="{E1E210C4-E287-4066-A454-5E9E11A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Include all four core animal examples.</a:t>
            </a:r>
          </a:p>
        </p:txBody>
      </p:sp>
    </p:spTree>
    <p:extLst>
      <p:ext uri="{BB962C8B-B14F-4D97-AF65-F5344CB8AC3E}">
        <p14:creationId xmlns:p14="http://schemas.microsoft.com/office/powerpoint/2010/main" val="1797712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9745031-9E2E-4CD4-B7F8-3426BB8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5EBAFA4-1B29-43B4-9DF0-6037F7D6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9602574-53EC-428B-A89D-FDE5D558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6D42FCF-2C73-4BBC-9EFA-5763320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E728AAC-F0D0-4629-A6CC-310E72E8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your arrows say">
            <a:extLst xmlns:a="http://schemas.openxmlformats.org/drawingml/2006/main">
              <a:ext uri="{FF2B5EF4-FFF2-40B4-BE49-F238E27FC236}">
                <a16:creationId xmlns:a16="http://schemas.microsoft.com/office/drawing/2014/main" id="{D0797C66-2CEE-4358-ADD9-FA729BB3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your arrows say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F47C81B-742A-429F-8500-0819FDCD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EC3C8CB0-DD38-41F2-8B30-62537D43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DC72F4C3-5E9C-4D43-80B0-12CA0036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Hatching, growth and development are not the same as reproductio">
            <a:extLst xmlns:a="http://schemas.openxmlformats.org/drawingml/2006/main">
              <a:ext uri="{FF2B5EF4-FFF2-40B4-BE49-F238E27FC236}">
                <a16:creationId xmlns:a16="http://schemas.microsoft.com/office/drawing/2014/main" id="{74FB61FE-BD85-4F9C-8779-68CDE7D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Hatching, growth and development are not the same as reproduction.</a:t>
            </a:r>
          </a:p>
        </p:txBody>
      </p:sp>
      <p:sp>
        <p:nvSpPr>
          <p:cNvPr id="11" name="Name the species.">
            <a:extLst xmlns:a="http://schemas.openxmlformats.org/drawingml/2006/main">
              <a:ext uri="{FF2B5EF4-FFF2-40B4-BE49-F238E27FC236}">
                <a16:creationId xmlns:a16="http://schemas.microsoft.com/office/drawing/2014/main" id="{3A432272-B186-4ED6-8893-256B1F36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species.</a:t>
            </a:r>
          </a:p>
        </p:txBody>
      </p:sp>
      <p:sp>
        <p:nvSpPr>
          <p:cNvPr id="12" name="Mark which arrow leads to offspring.">
            <a:extLst xmlns:a="http://schemas.openxmlformats.org/drawingml/2006/main">
              <a:ext uri="{FF2B5EF4-FFF2-40B4-BE49-F238E27FC236}">
                <a16:creationId xmlns:a16="http://schemas.microsoft.com/office/drawing/2014/main" id="{89093415-19FC-43A9-BDBE-9FA1C6F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Mark which arrow leads to offspring.</a:t>
            </a:r>
          </a:p>
        </p:txBody>
      </p:sp>
    </p:spTree>
    <p:extLst>
      <p:ext uri="{BB962C8B-B14F-4D97-AF65-F5344CB8AC3E}">
        <p14:creationId xmlns:p14="http://schemas.microsoft.com/office/powerpoint/2010/main" val="9991151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ACF02FE-AD8A-4430-BB0E-F337C89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4FAD5E5-EF87-43A8-9328-410AF28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6118CD2-9551-4272-A3F7-B2B33A6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4B37288-D561-4BBF-A7DD-10C3EF5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D1A9D9F7-217E-4E7E-B41B-9B553BD1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88139CF3-8673-4A05-86C3-B351A90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An audience checks the display">
            <a:extLst xmlns:a="http://schemas.openxmlformats.org/drawingml/2006/main">
              <a:ext uri="{FF2B5EF4-FFF2-40B4-BE49-F238E27FC236}">
                <a16:creationId xmlns:a16="http://schemas.microsoft.com/office/drawing/2014/main" id="{FAC24B61-AF97-4B40-95C4-A6F16EB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audience checks the display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F9B392-8451-4783-ADAE-A2A5534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6B1E21B9-5ACD-4729-A8FD-9D1BD05F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1FC1BBB3-5896-45D4-A1EF-C0D6DE0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ow or describe one sequence.">
            <a:extLst xmlns:a="http://schemas.openxmlformats.org/drawingml/2006/main">
              <a:ext uri="{FF2B5EF4-FFF2-40B4-BE49-F238E27FC236}">
                <a16:creationId xmlns:a16="http://schemas.microsoft.com/office/drawing/2014/main" id="{77B2A03C-99E8-46B9-BB9B-24B6EE1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Show or describe one sequence.</a:t>
            </a:r>
          </a:p>
        </p:txBody>
      </p:sp>
      <p:sp>
        <p:nvSpPr>
          <p:cNvPr id="12" name="Audience: “Which arrow starts the next generation?”">
            <a:extLst xmlns:a="http://schemas.openxmlformats.org/drawingml/2006/main">
              <a:ext uri="{FF2B5EF4-FFF2-40B4-BE49-F238E27FC236}">
                <a16:creationId xmlns:a16="http://schemas.microsoft.com/office/drawing/2014/main" id="{DFAD77AB-BAD3-45CE-9013-CAB8906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Audience: “Which arrow starts the next generation?”</a:t>
            </a:r>
          </a:p>
        </p:txBody>
      </p:sp>
      <p:sp>
        <p:nvSpPr>
          <p:cNvPr id="13" name="Revise one unclear label.">
            <a:extLst xmlns:a="http://schemas.openxmlformats.org/drawingml/2006/main">
              <a:ext uri="{FF2B5EF4-FFF2-40B4-BE49-F238E27FC236}">
                <a16:creationId xmlns:a16="http://schemas.microsoft.com/office/drawing/2014/main" id="{C035F62C-4284-4713-B7B4-BB0DABBE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Revise one unclear label.</a:t>
            </a:r>
          </a:p>
        </p:txBody>
      </p:sp>
    </p:spTree>
    <p:extLst>
      <p:ext uri="{BB962C8B-B14F-4D97-AF65-F5344CB8AC3E}">
        <p14:creationId xmlns:p14="http://schemas.microsoft.com/office/powerpoint/2010/main" val="1204835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FDDF289-006F-4CCB-ABE2-579F0E44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1059C25-5D87-4559-A7E6-22DE50AC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4A88D47-C187-4208-835F-CD44583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2C1CE90-6914-4D57-8B7B-090F399A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83B53890-90AD-44FD-B63E-DCE7507D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A smaller animal is not always an adult">
            <a:extLst xmlns:a="http://schemas.openxmlformats.org/drawingml/2006/main">
              <a:ext uri="{FF2B5EF4-FFF2-40B4-BE49-F238E27FC236}">
                <a16:creationId xmlns:a16="http://schemas.microsoft.com/office/drawing/2014/main" id="{C136AC7E-1456-4AA3-8EA5-1DD8B74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smaller animal is not always an adult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E8A31D7-4E5B-4AD3-AC1F-D98E4FD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D297DD53-28C5-4F88-9FE2-A68A78FB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13 / 15">
            <a:extLst xmlns:a="http://schemas.openxmlformats.org/drawingml/2006/main">
              <a:ext uri="{FF2B5EF4-FFF2-40B4-BE49-F238E27FC236}">
                <a16:creationId xmlns:a16="http://schemas.microsoft.com/office/drawing/2014/main" id="{C9F5942B-19B5-4BAE-84D5-0C7142F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0" name="A fledgling robin has left the nest.">
            <a:extLst xmlns:a="http://schemas.openxmlformats.org/drawingml/2006/main">
              <a:ext uri="{FF2B5EF4-FFF2-40B4-BE49-F238E27FC236}">
                <a16:creationId xmlns:a16="http://schemas.microsoft.com/office/drawing/2014/main" id="{69BA2647-584E-4D81-8B35-DF71524D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fledgling robin has left the nest.</a:t>
            </a:r>
          </a:p>
        </p:txBody>
      </p:sp>
      <p:sp>
        <p:nvSpPr>
          <p:cNvPr id="11" name="A froglet looks like a small frog.">
            <a:extLst xmlns:a="http://schemas.openxmlformats.org/drawingml/2006/main">
              <a:ext uri="{FF2B5EF4-FFF2-40B4-BE49-F238E27FC236}">
                <a16:creationId xmlns:a16="http://schemas.microsoft.com/office/drawing/2014/main" id="{D8F483E2-2C21-4E2A-9D3D-BA8BB656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froglet looks like a small frog.</a:t>
            </a:r>
          </a:p>
        </p:txBody>
      </p:sp>
      <p:sp>
        <p:nvSpPr>
          <p:cNvPr id="12" name="Both still develop and mature.">
            <a:extLst xmlns:a="http://schemas.openxmlformats.org/drawingml/2006/main">
              <a:ext uri="{FF2B5EF4-FFF2-40B4-BE49-F238E27FC236}">
                <a16:creationId xmlns:a16="http://schemas.microsoft.com/office/drawing/2014/main" id="{1D8E16B1-588F-4ED2-A28A-7D0762A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Both still develop and mature.</a:t>
            </a:r>
          </a:p>
        </p:txBody>
      </p:sp>
    </p:spTree>
    <p:extLst>
      <p:ext uri="{BB962C8B-B14F-4D97-AF65-F5344CB8AC3E}">
        <p14:creationId xmlns:p14="http://schemas.microsoft.com/office/powerpoint/2010/main" val="17199712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137BA5B-9185-4316-B74A-EF2F36D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D7DA22F-E220-4850-9603-934739D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3C61C3A-1D25-494A-8161-11182243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1683D03-D807-4DA4-AC7A-107D5E75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1A97FB25-7CAB-4B0F-AFD6-4530D12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2574A5DF-025F-430C-AD35-F6A12C6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archive checks">
            <a:extLst xmlns:a="http://schemas.openxmlformats.org/drawingml/2006/main">
              <a:ext uri="{FF2B5EF4-FFF2-40B4-BE49-F238E27FC236}">
                <a16:creationId xmlns:a16="http://schemas.microsoft.com/office/drawing/2014/main" id="{868A3E1B-DEDE-4E8F-9496-78684384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archive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F61E2A3-FA0A-41F6-8EA3-2C01DC5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EF55504E-217B-4B59-BBBC-ED918249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F4827465-2755-45DF-AE47-3B1ABE91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Name the monarch stage after larva.">
            <a:extLst xmlns:a="http://schemas.openxmlformats.org/drawingml/2006/main">
              <a:ext uri="{FF2B5EF4-FFF2-40B4-BE49-F238E27FC236}">
                <a16:creationId xmlns:a16="http://schemas.microsoft.com/office/drawing/2014/main" id="{3AE32C48-55E6-4853-80F6-8D2365FF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the monarch stage after larva.</a:t>
            </a:r>
          </a:p>
        </p:txBody>
      </p:sp>
      <p:sp>
        <p:nvSpPr>
          <p:cNvPr id="12" name="E2. Name a young stage in the frog or robin cycle.">
            <a:extLst xmlns:a="http://schemas.openxmlformats.org/drawingml/2006/main">
              <a:ext uri="{FF2B5EF4-FFF2-40B4-BE49-F238E27FC236}">
                <a16:creationId xmlns:a16="http://schemas.microsoft.com/office/drawing/2014/main" id="{1A351CEB-A5E7-48C4-B39C-9454B901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a young stage in the frog or robin cycle.</a:t>
            </a:r>
          </a:p>
        </p:txBody>
      </p:sp>
      <p:sp>
        <p:nvSpPr>
          <p:cNvPr id="13" name="E3. Explain the adult-to-offspring link.">
            <a:extLst xmlns:a="http://schemas.openxmlformats.org/drawingml/2006/main">
              <a:ext uri="{FF2B5EF4-FFF2-40B4-BE49-F238E27FC236}">
                <a16:creationId xmlns:a16="http://schemas.microsoft.com/office/drawing/2014/main" id="{9EEE7E12-1749-4196-A5B7-EC002CC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Explain the adult-to-offspring link.</a:t>
            </a:r>
          </a:p>
        </p:txBody>
      </p:sp>
    </p:spTree>
    <p:extLst>
      <p:ext uri="{BB962C8B-B14F-4D97-AF65-F5344CB8AC3E}">
        <p14:creationId xmlns:p14="http://schemas.microsoft.com/office/powerpoint/2010/main" val="20225564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78EE4CF-CDD6-4443-8ED3-A05E98BF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B6535AC-D66E-441F-9EA3-4DF4F31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FBDC9F4-CD15-4289-BC2B-E0D682C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4DB6758-0C85-4B22-81C0-6746EA4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14E4B9DC-5A78-454D-92DC-834F4E9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Choose a useful next step">
            <a:extLst xmlns:a="http://schemas.openxmlformats.org/drawingml/2006/main">
              <a:ext uri="{FF2B5EF4-FFF2-40B4-BE49-F238E27FC236}">
                <a16:creationId xmlns:a16="http://schemas.microsoft.com/office/drawing/2014/main" id="{62D6EE85-31CB-44B5-9871-67FC3046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useful next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FB1FEF8-35DC-4E9D-8B94-B3690E11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Life cycle archive">
            <a:extLst xmlns:a="http://schemas.openxmlformats.org/drawingml/2006/main">
              <a:ext uri="{FF2B5EF4-FFF2-40B4-BE49-F238E27FC236}">
                <a16:creationId xmlns:a16="http://schemas.microsoft.com/office/drawing/2014/main" id="{DE6248EF-4E9C-4FC9-AFE9-B314626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Life cycle archive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C807D8C4-5523-4537-8EA5-ADD6D3D6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Stage order • explanation of an arrow • a careful claim.">
            <a:extLst xmlns:a="http://schemas.openxmlformats.org/drawingml/2006/main">
              <a:ext uri="{FF2B5EF4-FFF2-40B4-BE49-F238E27FC236}">
                <a16:creationId xmlns:a16="http://schemas.microsoft.com/office/drawing/2014/main" id="{94CA7899-C826-45F4-880B-058E7641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Stage order • explanation of an arrow • a careful claim.</a:t>
            </a:r>
          </a:p>
        </p:txBody>
      </p:sp>
    </p:spTree>
    <p:extLst>
      <p:ext uri="{BB962C8B-B14F-4D97-AF65-F5344CB8AC3E}">
        <p14:creationId xmlns:p14="http://schemas.microsoft.com/office/powerpoint/2010/main" val="1641765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2026-09-08T23:15:06.6640000Z</dcterms:created>
  <dcterms:modified xsi:type="dcterms:W3CDTF">2026-09-08T23:15:06.6640000Z</dcterms:modified>
</coreProperties>
</file>