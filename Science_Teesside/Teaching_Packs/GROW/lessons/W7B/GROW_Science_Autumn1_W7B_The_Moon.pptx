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84647029d64d01" /><Relationship Type="http://schemas.openxmlformats.org/officeDocument/2006/relationships/extended-properties" Target="/docProps/app.xml" Id="R68e88f47218c45cd" /><Relationship Type="http://schemas.openxmlformats.org/officeDocument/2006/relationships/officeDocument" Target="/ppt/presentation.xml" Id="R8c519235b2d74f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b0e34234124d24"/>
  </p:sldMasterIdLst>
  <p:notesMasterIdLst>
    <p:notesMasterId xmlns:r="http://schemas.openxmlformats.org/officeDocument/2006/relationships" r:id="Redf886ec9b8f406a"/>
  </p:notesMasterIdLst>
  <p:sldIdLst>
    <p:sldId xmlns:r="http://schemas.openxmlformats.org/officeDocument/2006/relationships" id="256" r:id="Rb2a8b9aefce14f75"/>
    <p:sldId xmlns:r="http://schemas.openxmlformats.org/officeDocument/2006/relationships" id="257" r:id="R17c49c57ed97480e"/>
    <p:sldId xmlns:r="http://schemas.openxmlformats.org/officeDocument/2006/relationships" id="258" r:id="Re52dac6cb6f747c7"/>
    <p:sldId xmlns:r="http://schemas.openxmlformats.org/officeDocument/2006/relationships" id="259" r:id="R2554597ac1404418"/>
    <p:sldId xmlns:r="http://schemas.openxmlformats.org/officeDocument/2006/relationships" id="260" r:id="Rec14577d0f06441c"/>
    <p:sldId xmlns:r="http://schemas.openxmlformats.org/officeDocument/2006/relationships" id="261" r:id="R73f465371f4c4b75"/>
    <p:sldId xmlns:r="http://schemas.openxmlformats.org/officeDocument/2006/relationships" id="262" r:id="Rcee7ed8f984e47ba"/>
    <p:sldId xmlns:r="http://schemas.openxmlformats.org/officeDocument/2006/relationships" id="263" r:id="Rc6f491db21bc4a4a"/>
    <p:sldId xmlns:r="http://schemas.openxmlformats.org/officeDocument/2006/relationships" id="264" r:id="R69b282193e544d2b"/>
    <p:sldId xmlns:r="http://schemas.openxmlformats.org/officeDocument/2006/relationships" id="265" r:id="R1eaf924b11754d0a"/>
    <p:sldId xmlns:r="http://schemas.openxmlformats.org/officeDocument/2006/relationships" id="266" r:id="Rc74cfec90c3442e2"/>
    <p:sldId xmlns:r="http://schemas.openxmlformats.org/officeDocument/2006/relationships" id="267" r:id="R5d226a1e7d4f4d04"/>
    <p:sldId xmlns:r="http://schemas.openxmlformats.org/officeDocument/2006/relationships" id="268" r:id="R18927ac2a26c41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5e2dfe18db4cc9" /><Relationship Type="http://schemas.openxmlformats.org/officeDocument/2006/relationships/slideMaster" Target="/ppt/slideMasters/slideMaster1.xml" Id="R9fb0e34234124d24" /><Relationship Type="http://schemas.openxmlformats.org/officeDocument/2006/relationships/notesMaster" Target="/ppt/notesMasters/notesMaster1.xml" Id="Redf886ec9b8f406a" /><Relationship Type="http://schemas.openxmlformats.org/officeDocument/2006/relationships/presProps" Target="/ppt/presProps.xml" Id="R3efeb557c6eb4713" /><Relationship Type="http://schemas.openxmlformats.org/officeDocument/2006/relationships/tableStyles" Target="/ppt/tableStyles.xml" Id="R49e36b0354304abf" /><Relationship Type="http://schemas.openxmlformats.org/officeDocument/2006/relationships/slide" Target="/ppt/slides/slide1.xml" Id="Rb2a8b9aefce14f75" /><Relationship Type="http://schemas.openxmlformats.org/officeDocument/2006/relationships/slide" Target="/ppt/slides/slide2.xml" Id="R17c49c57ed97480e" /><Relationship Type="http://schemas.openxmlformats.org/officeDocument/2006/relationships/slide" Target="/ppt/slides/slide3.xml" Id="Re52dac6cb6f747c7" /><Relationship Type="http://schemas.openxmlformats.org/officeDocument/2006/relationships/slide" Target="/ppt/slides/slide4.xml" Id="R2554597ac1404418" /><Relationship Type="http://schemas.openxmlformats.org/officeDocument/2006/relationships/slide" Target="/ppt/slides/slide5.xml" Id="Rec14577d0f06441c" /><Relationship Type="http://schemas.openxmlformats.org/officeDocument/2006/relationships/slide" Target="/ppt/slides/slide6.xml" Id="R73f465371f4c4b75" /><Relationship Type="http://schemas.openxmlformats.org/officeDocument/2006/relationships/slide" Target="/ppt/slides/slide7.xml" Id="Rcee7ed8f984e47ba" /><Relationship Type="http://schemas.openxmlformats.org/officeDocument/2006/relationships/slide" Target="/ppt/slides/slide8.xml" Id="Rc6f491db21bc4a4a" /><Relationship Type="http://schemas.openxmlformats.org/officeDocument/2006/relationships/slide" Target="/ppt/slides/slide9.xml" Id="R69b282193e544d2b" /><Relationship Type="http://schemas.openxmlformats.org/officeDocument/2006/relationships/slide" Target="/ppt/slides/slide10.xml" Id="R1eaf924b11754d0a" /><Relationship Type="http://schemas.openxmlformats.org/officeDocument/2006/relationships/slide" Target="/ppt/slides/slide11.xml" Id="Rc74cfec90c3442e2" /><Relationship Type="http://schemas.openxmlformats.org/officeDocument/2006/relationships/slide" Target="/ppt/slides/slide12.xml" Id="R5d226a1e7d4f4d04" /><Relationship Type="http://schemas.openxmlformats.org/officeDocument/2006/relationships/slide" Target="/ppt/slides/slide13.xml" Id="R18927ac2a26c41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3494daa9fb47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3a800bf58f4460" /><Relationship Type="http://schemas.openxmlformats.org/officeDocument/2006/relationships/notesMaster" Target="/ppt/notesMasters/notesMaster1.xml" Id="Re027e32748a94f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6eb2f96158497a" /><Relationship Type="http://schemas.openxmlformats.org/officeDocument/2006/relationships/notesMaster" Target="/ppt/notesMasters/notesMaster1.xml" Id="R4032bfd2455641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75d85f921f4eec" /><Relationship Type="http://schemas.openxmlformats.org/officeDocument/2006/relationships/notesMaster" Target="/ppt/notesMasters/notesMaster1.xml" Id="Rbe93fb7960ec44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21826255b04edb" /><Relationship Type="http://schemas.openxmlformats.org/officeDocument/2006/relationships/notesMaster" Target="/ppt/notesMasters/notesMaster1.xml" Id="Re62e9e487e8246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b481001f894268" /><Relationship Type="http://schemas.openxmlformats.org/officeDocument/2006/relationships/notesMaster" Target="/ppt/notesMasters/notesMaster1.xml" Id="R5a029a9fc95a48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d26bb44def453e" /><Relationship Type="http://schemas.openxmlformats.org/officeDocument/2006/relationships/notesMaster" Target="/ppt/notesMasters/notesMaster1.xml" Id="R914fa8046d264c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f5ececbf2b4a80" /><Relationship Type="http://schemas.openxmlformats.org/officeDocument/2006/relationships/notesMaster" Target="/ppt/notesMasters/notesMaster1.xml" Id="R44619be7b99446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750eb49bc04cc1" /><Relationship Type="http://schemas.openxmlformats.org/officeDocument/2006/relationships/notesMaster" Target="/ppt/notesMasters/notesMaster1.xml" Id="R27bd369f39e946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122664a8b34afc" /><Relationship Type="http://schemas.openxmlformats.org/officeDocument/2006/relationships/notesMaster" Target="/ppt/notesMasters/notesMaster1.xml" Id="R78b1863f6c2744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292e7cec774127" /><Relationship Type="http://schemas.openxmlformats.org/officeDocument/2006/relationships/notesMaster" Target="/ppt/notesMasters/notesMaster1.xml" Id="R98a6be28f26643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18d33d53f644f7" /><Relationship Type="http://schemas.openxmlformats.org/officeDocument/2006/relationships/notesMaster" Target="/ppt/notesMasters/notesMaster1.xml" Id="R7a323ac8f5ab4b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041e5b0c7b44d8" /><Relationship Type="http://schemas.openxmlformats.org/officeDocument/2006/relationships/notesMaster" Target="/ppt/notesMasters/notesMaster1.xml" Id="R838bc6a1403447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0cf758230048d2" /><Relationship Type="http://schemas.openxmlformats.org/officeDocument/2006/relationships/notesMaster" Target="/ppt/notesMasters/notesMaster1.xml" Id="R4da2f6da591e44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retrieve — 1 minutes within the source's 40-minute lesson.</a:t>
            </a:r>
          </a:p>
          <a:p xmlns:a="http://schemas.openxmlformats.org/drawingml/2006/main">
            <a:r>
              <a:t>First minute inside source 4-minute retrieval. Return Monday's sheet. Success is explaining motion, reflected light and phases; do not present this as a whole-term test or replace accepted private materials.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retrieve — 3 minutes within the source's 40-minute lesson.</a:t>
            </a:r>
          </a:p>
          <a:p xmlns:a="http://schemas.openxmlformats.org/drawingml/2006/main">
            <a:r>
              <a:t>Completes 4-minute retrieval. Moonlight is reflected sunlight. The Moon/ball stays round while visible illuminated fraction changes. About half is sunlit outside eclipses. Agree before changing room light; no blackout. Adult can do all equipment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build and compare — 4 minutes within the source's 40-minute lesson.</a:t>
            </a:r>
          </a:p>
          <a:p xmlns:a="http://schemas.openxmlformats.org/drawingml/2006/main">
            <a:r>
              <a:t>First 4 of source 20-minute build/check-views phase. Adult holds light and guides movement; keep ball above observer's head shadow. No lasers, Sun observation or pupil cutting required. Standard creates labelled phase wheel or three-view strip; supported arranges examples; stretch adds eclipse/model limit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build and compare — 6 minutes within the source's 40-minute lesson.</a:t>
            </a:r>
          </a:p>
          <a:p xmlns:a="http://schemas.openxmlformats.org/drawingml/2006/main">
            <a:r>
              <a:t>Observer remains at same location; ball moves around them slightly above shadow height. New near light direction, near-side mostly dark; side about half visible disc lit; opposite light mostly/all visible disc lit. Do not block beam with observer for full position. Still alternative adult draws the same geometry and pupil explains each expected view; call it predicted/modelled, not observed practical.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build and compare — 6 minutes within the source's 40-minute lesson.</a:t>
            </a:r>
          </a:p>
          <a:p xmlns:a="http://schemas.openxmlformats.org/drawingml/2006/main">
            <a:r>
              <a:t>Within 20-minute phase. Expected new: visible disc mostly unlit; half: one visible half lit, either orientation accepted if model corresponds; full: whole visible disc lit. Circle is view from Earth, not top-down orbit map. A coloured crescent is not the Moon physically changing shape. Adult may scribe/draw as pupil directs.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build and compare — 4 minutes within the source's 40-minute lesson.</a:t>
            </a:r>
          </a:p>
          <a:p xmlns:a="http://schemas.openxmlformats.org/drawingml/2006/main">
            <a:r>
              <a:t>Completes 20-minute build/compare phase. Supported points to lit portion and one matching label. Standard gives cause linked to orbit and checks three views. Stretch distinguishes Earth-shadow eclipse and one model limit. No requirement to reproduce all eight named phases; current source asks new/half/full.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check — 2 minutes within the source's 40-minute lesson.</a:t>
            </a:r>
          </a:p>
          <a:p xmlns:a="http://schemas.openxmlformats.org/drawingml/2006/main">
            <a:r>
              <a:t>Exact 2-minute check inside 32. Correct answer visible lit part. Same observer position matters: another angle sees a different illuminated fraction. Record actual observed explanation/independence. A pupil can pass on partner work and ask adult privately.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correct and tidy — 3 minutes within the source's 40-minute lesson.</a:t>
            </a:r>
          </a:p>
          <a:p xmlns:a="http://schemas.openxmlformats.org/drawingml/2006/main">
            <a:r>
              <a:t>First 3 of source 6-minute correction/tidy. Model shows viewing geometry, reflected illumination and round shape. It does not show true size/distance scales, orbital tilt well or real phase-cycle times; torch is near and can introduce shadows not representing normal phases. Use wrong label as specific correction opportunity.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correct and tidy — 3 minutes within the source's 40-minute lesson.</a:t>
            </a:r>
          </a:p>
          <a:p xmlns:a="http://schemas.openxmlformats.org/drawingml/2006/main">
            <a:r>
              <a:t>Completes 32-minute workshop; do not start a second 20-minute activity. Adult switches/collects torch. No photo or public display assumed; keep pupil product or witness record. Source numerical distinction remains 27.3 versus 29.5 days if relevant to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Pupil feedback — 2 minutes within the source's 40-minute lesson.</a:t>
            </a:r>
          </a:p>
          <a:p xmlns:a="http://schemas.openxmlformats.org/drawingml/2006/main">
            <a:r>
              <a:t>First 2 of source 4-minute feedback. Invite science/access voice without requiring public performance or personal disclosure. A chosen partner may relay. Light sensitivity is accommodated without requiring an explanation from pupil.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Pupil feedback — 2 minutes within the source's 40-minute lesson.</a:t>
            </a:r>
          </a:p>
          <a:p xmlns:a="http://schemas.openxmlformats.org/drawingml/2006/main">
            <a:r>
              <a:t>Adult offers one possible change such as labels, static diagram or normal lighting, explains any limit, and checks whether it helped. Pupil can pass. Feedback is meaningful influence, not a mandatory extra written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 — 2 minutes within the source's 40-minute lesson.</a:t>
            </a:r>
          </a:p>
          <a:p xmlns:a="http://schemas.openxmlformats.org/drawingml/2006/main">
            <a:r>
              <a:t>Attempt the selected source tier before next slide or answers. Standard about 27.3 days/roughly month, with distinction from 29.5-day cycle. Supported no, reflects sunlight. Stretch geometry versus lunar eclipse. Accept oral/pointed/drawn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 — 2 minutes within the source's 40-minute lesson.</a:t>
            </a:r>
          </a:p>
          <a:p xmlns:a="http://schemas.openxmlformats.org/drawingml/2006/main">
            <a:r>
              <a:t>Completes 40 minutes. Source key outcomes: Moon orbits Earth, reflected light, changing visible sunlit portion. Earth's shadow is relevant to lunar eclipses. Correct one response without claiming all Autumn 1 science assessed. Keep honest record of what was demonstrated and assistance provided.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https://github.com/MattRoper1977/Lessons/blob/main/Science_Teesside/Grow/SCI_G_W7_The_Moon.html</a:t>
            </a:r>
          </a:p>
          <a:p xmlns:a="http://schemas.openxmlformats.org/drawingml/2006/main">
            <a:r>
              <a:t>Git blob: cad3ed6bbbb2f2b3a8cd2ee83b6e504388f82386.</a:t>
            </a:r>
          </a:p>
          <a:p xmlns:a="http://schemas.openxmlformats.org/drawingml/2006/main">
            <a:r>
              <a:t>SHA256: abaf614900cf67b2d64af68600213794886961a5822ae1d98145ca4bfbdeb7f9.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595e0ae774e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c5fc9add5f49fd" /><Relationship Type="http://schemas.openxmlformats.org/officeDocument/2006/relationships/slideLayout" Target="/ppt/slideLayouts/slideLayout1.xml" Id="R971b5726a80740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b5726a80740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5c161e1594df4" /><Relationship Type="http://schemas.openxmlformats.org/officeDocument/2006/relationships/notesSlide" Target="/ppt/notesSlides/notesSlide1.xml" Id="R15a1d2838b7645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2c40e5d134dfc" /><Relationship Type="http://schemas.openxmlformats.org/officeDocument/2006/relationships/notesSlide" Target="/ppt/notesSlides/notesSlide2.xml" Id="R85828993c00e41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9df1b97de484b" /><Relationship Type="http://schemas.openxmlformats.org/officeDocument/2006/relationships/notesSlide" Target="/ppt/notesSlides/notesSlide3.xml" Id="Rd48e33d7a70d4d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372d9416c4381" /><Relationship Type="http://schemas.openxmlformats.org/officeDocument/2006/relationships/notesSlide" Target="/ppt/notesSlides/notesSlide4.xml" Id="R5c77fd88719d4f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59b24e05542b8" /><Relationship Type="http://schemas.openxmlformats.org/officeDocument/2006/relationships/notesSlide" Target="/ppt/notesSlides/notesSlide5.xml" Id="R828c27cea83141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7faa473f44e93" /><Relationship Type="http://schemas.openxmlformats.org/officeDocument/2006/relationships/notesSlide" Target="/ppt/notesSlides/notesSlide6.xml" Id="Rb08239f2cfc041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aa3bee6b94f65" /><Relationship Type="http://schemas.openxmlformats.org/officeDocument/2006/relationships/notesSlide" Target="/ppt/notesSlides/notesSlide7.xml" Id="Reed4c5cfc9f949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d1b4f55114fae" /><Relationship Type="http://schemas.openxmlformats.org/officeDocument/2006/relationships/notesSlide" Target="/ppt/notesSlides/notesSlide8.xml" Id="R1fec19617d074e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2fb6b90b94983" /><Relationship Type="http://schemas.openxmlformats.org/officeDocument/2006/relationships/notesSlide" Target="/ppt/notesSlides/notesSlide9.xml" Id="R2e90e25413aa45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54f4ebfac4da4" /><Relationship Type="http://schemas.openxmlformats.org/officeDocument/2006/relationships/notesSlide" Target="/ppt/notesSlides/notesSlide10.xml" Id="R8616451530994f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193dab10d41b4" /><Relationship Type="http://schemas.openxmlformats.org/officeDocument/2006/relationships/notesSlide" Target="/ppt/notesSlides/notesSlide11.xml" Id="Re05e2e320b2546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03702088a43b8" /><Relationship Type="http://schemas.openxmlformats.org/officeDocument/2006/relationships/notesSlide" Target="/ppt/notesSlides/notesSlide12.xml" Id="R5a1b9a4fb59241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6ff42a73a43dc" /><Relationship Type="http://schemas.openxmlformats.org/officeDocument/2006/relationships/notesSlide" Target="/ppt/notesSlides/notesSlide13.xml" Id="Rd9f6df2c6f0340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6981AE90-81AE-4623-B20B-BF090326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9FD0455-092F-46F0-88FB-54EABE24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BEEE37-70C3-4784-8A45-C9B543D0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Test a phase-wheel model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E2E3EAE-4613-434C-95D1-5ACE6A34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E5E02FA-97A0-46CB-BF36-E574291A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B3E401A-DF1A-4088-998D-2A574128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01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DEA88AF3-0E8B-4F94-A8E6-8B520F07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685E"/>
                </a:solidFill>
              </a:defRPr>
            </a:pPr>
            <a:r>
              <a:rPr sz="3900" b="1">
                <a:solidFill>
                  <a:srgbClr val="28685E"/>
                </a:solidFill>
              </a:rPr>
              <a:t>Same Moon. Three checked views.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6A06632-19E5-4584-92BC-EFCC16B0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Use evidence to explain new, half and full Moon.</a:t>
            </a:r>
          </a:p>
        </p:txBody>
      </p:sp>
    </p:spTree>
    <p:extLst>
      <p:ext uri="{BB962C8B-B14F-4D97-AF65-F5344CB8AC3E}">
        <p14:creationId xmlns:p14="http://schemas.microsoft.com/office/powerpoint/2010/main" val="163161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033203E5-3D46-4CC2-BAA2-BC0FB082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0F4E413-032E-41B3-84A8-9442C7F9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468105-DE3E-42A0-923F-23502033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Retrieve the lit-side rule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4CB6E96-C6DF-4577-80FF-53411FCA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E1CB639-AE53-4525-BCD2-F20EBA4A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551B280-B1E3-4C4E-BB43-50A679B6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02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038B2D7C-D7B9-44CB-B69B-DC464365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Where does moonlight come from?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55CFFF4E-3DCF-46C3-960F-3C072666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What stays round while the Moon looks different?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CCC43B74-D96B-4876-BCE8-B5EF5FC2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Choose drawings, pre-cut circles or adult-operated kit.</a:t>
            </a:r>
          </a:p>
        </p:txBody>
      </p:sp>
    </p:spTree>
    <p:extLst>
      <p:ext uri="{BB962C8B-B14F-4D97-AF65-F5344CB8AC3E}">
        <p14:creationId xmlns:p14="http://schemas.microsoft.com/office/powerpoint/2010/main" val="1150500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BA43F6A9-6DB8-4884-A831-A7900D19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02B8FC2-1C9F-456E-94EB-1FEDAD4C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043C3D-9CAF-4809-9E11-17068A7E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Prepare your model safely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E396144-2FE6-4813-B8E1-C90B1A7E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4F6E6EF-FF9F-4B79-A8A7-06F51094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5261E53-ECB1-4DB4-9EBC-D5C99685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03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30AF36FC-1CDC-4756-90BF-926E920C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Use a ball, low-power torch and three drawn/card circles.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ECE66527-22D5-45F2-824C-66122AA3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the torch direction fixed; never shine it at eyes.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10A57344-62A1-4B3E-BF61-09FC7F5F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room light, or choose the still-diagram route.</a:t>
            </a:r>
          </a:p>
        </p:txBody>
      </p:sp>
    </p:spTree>
    <p:extLst>
      <p:ext uri="{BB962C8B-B14F-4D97-AF65-F5344CB8AC3E}">
        <p14:creationId xmlns:p14="http://schemas.microsoft.com/office/powerpoint/2010/main" val="378474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B30EA741-7AC1-4074-9A72-6BA41CD3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9FB07A7-7E41-4E3C-8020-82723E5E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C36975-E449-4879-8895-5F298FBC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Check three positions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FB37AD2-CC48-4027-BCAD-68BA88A8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5C00368-014D-40A1-9D44-F8F13891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6D5DD8B-5A6C-46C9-9CBA-BF04ABCA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04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6BE15DE8-669B-4EB0-8A43-3C8C0AC8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Near the light direction: check the new-Moon view.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48012D0A-8281-4D21-8A6E-5C2ACF5D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To the side: check a half-Moon view.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95DA288D-8C9C-4AF0-A34A-6F0E7DBA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Opposite the light: check the full-Moon view.</a:t>
            </a:r>
          </a:p>
        </p:txBody>
      </p:sp>
    </p:spTree>
    <p:extLst>
      <p:ext uri="{BB962C8B-B14F-4D97-AF65-F5344CB8AC3E}">
        <p14:creationId xmlns:p14="http://schemas.microsoft.com/office/powerpoint/2010/main" val="188485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B6363046-A236-4D53-B704-2AE79F17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8EB3372-8A51-4E4D-B826-B7709BCB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BE9F2E-0B0B-48B8-BDD0-384DA4B2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Make your three-view strip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B27A584-C095-41B0-8A4E-BC5A6856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A5E40B2-3F06-4855-9425-50018C06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2A68DF8-1CD2-4F5F-82B9-D1AEE0CB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05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6A2EB70E-2694-49C6-8C87-26C6EFA4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Draw three equal circles or arrange pre-cut examples.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6D826065-2D29-44AD-90D0-47932445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Shade the part not seen lit; label new, half and full.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15AF63EA-E1DA-4A3C-8DC7-36432D6E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every circle the same round shape.</a:t>
            </a:r>
          </a:p>
        </p:txBody>
      </p:sp>
    </p:spTree>
    <p:extLst>
      <p:ext uri="{BB962C8B-B14F-4D97-AF65-F5344CB8AC3E}">
        <p14:creationId xmlns:p14="http://schemas.microsoft.com/office/powerpoint/2010/main" val="790839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645F1E31-52B8-48C1-B4C7-D628A2E9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FF057C9-7DE4-4FA9-AC3A-DAE89AFF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927E88-B6CD-43F3-8060-99AC9046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Explain what changed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601426D-C26A-486F-94BD-BA2786A0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AFCCDA4-7416-4794-8C29-C00E483C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4066391-D2CE-4130-9AA3-B7FE082C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06</a:t>
            </a:r>
          </a:p>
        </p:txBody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255866BF-E1D6-4715-912A-004FB1BA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The visible lit part changed because our view of the Moon's sunlit half changed.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06BCD847-16AC-463C-9F91-4F4C35B3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The ball did not change shape.</a:t>
            </a:r>
          </a:p>
        </p:txBody>
      </p:sp>
    </p:spTree>
    <p:extLst>
      <p:ext uri="{BB962C8B-B14F-4D97-AF65-F5344CB8AC3E}">
        <p14:creationId xmlns:p14="http://schemas.microsoft.com/office/powerpoint/2010/main" val="26739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36669316-A549-4A3A-BF08-A3A8000E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3F44F33-9A6C-4E30-BAB6-91F242BB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065DCE-4501-471F-B3F8-7AD1592C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Pause for a shared check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835E1AC-9436-44D5-AF6D-55D65C98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FE7BA9C-3CE5-4E9D-90A2-B8B9FFE4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385C7EC-70BD-40CA-A71C-6E47B610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07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2B1313B5-7CF3-4329-86AA-8493DBA4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Ask an adult or chosen partner to use the same viewpoint.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B1594F72-E79D-4155-9A92-8579C48A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Check one view against its label.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B8F696CE-0FAC-445B-AA6C-99FDADBA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Did the ball change shape, or the visible lit part?</a:t>
            </a:r>
          </a:p>
        </p:txBody>
      </p:sp>
    </p:spTree>
    <p:extLst>
      <p:ext uri="{BB962C8B-B14F-4D97-AF65-F5344CB8AC3E}">
        <p14:creationId xmlns:p14="http://schemas.microsoft.com/office/powerpoint/2010/main" val="1047291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4592AF50-F1A3-4961-A3EF-9C99C692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BC24C11-5F39-4E06-9FB6-6F1E2B4D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5A16CA-16B3-41CF-B373-0B5CEB1A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Correct one label or view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BBE17B5-F131-4428-B0BF-372D90A2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A7964AD-722B-444B-BF19-0EA38102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3FF17B6-8A86-4BE3-ADDE-5FB11705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08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16CB1795-2087-481F-B0E8-6F377AFB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Correct one phase label or shaded circle.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62FEF727-633C-4BBF-BCBB-5E9A0306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Explain what your model showed.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22E3A596-5D54-4C2A-BCB7-80563DE6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Add a model limit if this is your stretch route.</a:t>
            </a:r>
          </a:p>
        </p:txBody>
      </p:sp>
    </p:spTree>
    <p:extLst>
      <p:ext uri="{BB962C8B-B14F-4D97-AF65-F5344CB8AC3E}">
        <p14:creationId xmlns:p14="http://schemas.microsoft.com/office/powerpoint/2010/main" val="1340880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6AA599A8-F002-42A5-8577-703A20D2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9F4FD06-8BE3-4CC3-B49B-9AAE5834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484F68-9B22-43BC-9478-C9CB846E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Reset the room and kit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94487C3-D293-4B67-AF79-AA97E119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EAD0068-32AD-4CD1-B7F4-CF355800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844232B-BC5E-49F3-BD52-27694BD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09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71FA2805-5034-4491-B4D1-18E618C1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Restore agreed room lighting.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A62A1314-212D-429A-8D73-7C3525D9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Return ball, torch, cards and pencils.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7EB4749C-636C-4130-BF65-1EC67FB8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your labelled strip and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058508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02C59288-3017-49ED-899D-A89AB12F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7F8F3DF-3EAD-4F60-9BED-AB08DF8B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67DE2E-483C-42E0-B0F4-F1BD048A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Say what helped or hindered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A996616-124B-42B4-8800-30697549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3924D86-E948-4001-92CD-11ADDC16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2AAB56D-4FEE-4CB6-8971-239A5A27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10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324D20E7-E31E-43F4-86C7-837BD613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Did the model or still drawing help you understand?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F0BE151F-D1BD-4E4F-8C45-F73413C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Would a different light level, label or explanation help?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9E6889B2-8FDE-4644-9BBD-AF4CF9C7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Point, sign, speak privately, or pass.</a:t>
            </a:r>
          </a:p>
        </p:txBody>
      </p:sp>
    </p:spTree>
    <p:extLst>
      <p:ext uri="{BB962C8B-B14F-4D97-AF65-F5344CB8AC3E}">
        <p14:creationId xmlns:p14="http://schemas.microsoft.com/office/powerpoint/2010/main" val="12805775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F1C8E5AF-1F72-4CFA-875B-8A138D9E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1DF28AF-F185-4964-AC94-B301252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724C59-00E9-48A3-8931-944A134E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Check the agreed change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E0980F1-74FE-45E3-9455-BD8C9416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1F3BCD4-F14C-4F47-99D5-081FA8FD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1DFB15B-EAAC-4C48-99BC-C78ECFC0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11</a:t>
            </a:r>
          </a:p>
        </p:txBody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18840167-17CE-49C9-BE78-76FC0A39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You asked for_____. We changed_____.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F255BEE4-BCAA-40D5-81CE-75DCB5E8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Did it help? What else needs explaining?</a:t>
            </a:r>
          </a:p>
        </p:txBody>
      </p:sp>
    </p:spTree>
    <p:extLst>
      <p:ext uri="{BB962C8B-B14F-4D97-AF65-F5344CB8AC3E}">
        <p14:creationId xmlns:p14="http://schemas.microsoft.com/office/powerpoint/2010/main" val="2130814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45300A64-30C3-4672-86D9-880B9412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E46395A-BD0B-4EE4-AFF4-4DC266EF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003120-AD81-473C-A586-F171672B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Exit: choose your explanation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0359217-E20F-464A-9340-CBD3AFEC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6873E53-954B-423E-A979-4F3B3968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1D2E2B4-0F9D-46D9-9A17-7B45513A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12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698F50EB-FD95-4BBB-A85C-FD468A9D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Supported: does the Moon make its own visible light?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54DD89AD-52F7-4FED-A3C6-24D224EB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Standard: how long is one orbit around Earth?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F9138AB6-10B5-40EC-B17F-8C12CD77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Stretch: why are ordinary phases not Earth's shadow?</a:t>
            </a:r>
          </a:p>
        </p:txBody>
      </p:sp>
    </p:spTree>
    <p:extLst>
      <p:ext uri="{BB962C8B-B14F-4D97-AF65-F5344CB8AC3E}">
        <p14:creationId xmlns:p14="http://schemas.microsoft.com/office/powerpoint/2010/main" val="13716307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C12532EF-D8A4-49E9-94CF-991003D9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926E59B-FA79-4850-A057-94233FB5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5762CB-575C-452E-ACD5-CB2599F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Check and keep one improvement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BEE74F2-21B9-4B8B-9EA2-8D52FE37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E3D2EF8-F9D8-4106-BF6A-135E131B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82CF169-FFC1-47B7-9910-66FE13CB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13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B0B045FA-E6B0-464D-BF61-AD6577A0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Moonlight is reflected sunlight.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CC48DFE4-D7E6-4060-904D-FAAC9371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One orbit is about 27.3 days; phase cycle about 29.5 days.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7284AC72-84AB-47FB-A480-F3538AEA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Ordinary phases come from our view of the sunlit half.</a:t>
            </a:r>
          </a:p>
        </p:txBody>
      </p:sp>
    </p:spTree>
    <p:extLst>
      <p:ext uri="{BB962C8B-B14F-4D97-AF65-F5344CB8AC3E}">
        <p14:creationId xmlns:p14="http://schemas.microsoft.com/office/powerpoint/2010/main" val="1742643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2026-09-06T12:09:52.4120000Z</dcterms:created>
  <dcterms:modified xsi:type="dcterms:W3CDTF">2026-09-06T12:09:52.4120000Z</dcterms:modified>
</coreProperties>
</file>