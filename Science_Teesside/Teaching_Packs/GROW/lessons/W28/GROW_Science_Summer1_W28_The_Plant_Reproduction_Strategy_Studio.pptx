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e5f41cd4dea4e11" /><Relationship Type="http://schemas.openxmlformats.org/officeDocument/2006/relationships/extended-properties" Target="/docProps/app.xml" Id="R97b5a39265cf4443" /><Relationship Type="http://schemas.openxmlformats.org/officeDocument/2006/relationships/officeDocument" Target="/ppt/presentation.xml" Id="Rb12a7932b10a4ed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68c408d810b4162"/>
  </p:sldMasterIdLst>
  <p:notesMasterIdLst>
    <p:notesMasterId xmlns:r="http://schemas.openxmlformats.org/officeDocument/2006/relationships" r:id="Re9d05c11726c485b"/>
  </p:notesMasterIdLst>
  <p:sldIdLst>
    <p:sldId xmlns:r="http://schemas.openxmlformats.org/officeDocument/2006/relationships" id="256" r:id="Re2de3801e83e403b"/>
    <p:sldId xmlns:r="http://schemas.openxmlformats.org/officeDocument/2006/relationships" id="257" r:id="R5c7c7a59f79948d6"/>
    <p:sldId xmlns:r="http://schemas.openxmlformats.org/officeDocument/2006/relationships" id="258" r:id="Raee46363a53e44b2"/>
    <p:sldId xmlns:r="http://schemas.openxmlformats.org/officeDocument/2006/relationships" id="259" r:id="Rf9d973de1b38402e"/>
    <p:sldId xmlns:r="http://schemas.openxmlformats.org/officeDocument/2006/relationships" id="260" r:id="R058dce64487a49a2"/>
    <p:sldId xmlns:r="http://schemas.openxmlformats.org/officeDocument/2006/relationships" id="261" r:id="Reb3c9e25e93d4547"/>
    <p:sldId xmlns:r="http://schemas.openxmlformats.org/officeDocument/2006/relationships" id="262" r:id="Rf6808673714c497b"/>
    <p:sldId xmlns:r="http://schemas.openxmlformats.org/officeDocument/2006/relationships" id="263" r:id="R8bac7b8e750943f6"/>
    <p:sldId xmlns:r="http://schemas.openxmlformats.org/officeDocument/2006/relationships" id="264" r:id="Rb61ff4fc976941a6"/>
    <p:sldId xmlns:r="http://schemas.openxmlformats.org/officeDocument/2006/relationships" id="265" r:id="R5c063756f298427a"/>
    <p:sldId xmlns:r="http://schemas.openxmlformats.org/officeDocument/2006/relationships" id="266" r:id="R14d3b7d75b284dd8"/>
    <p:sldId xmlns:r="http://schemas.openxmlformats.org/officeDocument/2006/relationships" id="267" r:id="R62d1375de9164cc6"/>
    <p:sldId xmlns:r="http://schemas.openxmlformats.org/officeDocument/2006/relationships" id="268" r:id="R43a8e67b4f334b77"/>
    <p:sldId xmlns:r="http://schemas.openxmlformats.org/officeDocument/2006/relationships" id="269" r:id="R2a400f6911de4cf2"/>
    <p:sldId xmlns:r="http://schemas.openxmlformats.org/officeDocument/2006/relationships" id="270" r:id="R62d0a44826f042dc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6a97b2cd8949b4" /><Relationship Type="http://schemas.openxmlformats.org/officeDocument/2006/relationships/slideMaster" Target="/ppt/slideMasters/slideMaster1.xml" Id="R668c408d810b4162" /><Relationship Type="http://schemas.openxmlformats.org/officeDocument/2006/relationships/notesMaster" Target="/ppt/notesMasters/notesMaster1.xml" Id="Re9d05c11726c485b" /><Relationship Type="http://schemas.openxmlformats.org/officeDocument/2006/relationships/presProps" Target="/ppt/presProps.xml" Id="R7c7e8f2e1df14345" /><Relationship Type="http://schemas.openxmlformats.org/officeDocument/2006/relationships/tableStyles" Target="/ppt/tableStyles.xml" Id="Ra197be1402f54f64" /><Relationship Type="http://schemas.openxmlformats.org/officeDocument/2006/relationships/slide" Target="/ppt/slides/slide1.xml" Id="Re2de3801e83e403b" /><Relationship Type="http://schemas.openxmlformats.org/officeDocument/2006/relationships/slide" Target="/ppt/slides/slide2.xml" Id="R5c7c7a59f79948d6" /><Relationship Type="http://schemas.openxmlformats.org/officeDocument/2006/relationships/slide" Target="/ppt/slides/slide3.xml" Id="Raee46363a53e44b2" /><Relationship Type="http://schemas.openxmlformats.org/officeDocument/2006/relationships/slide" Target="/ppt/slides/slide4.xml" Id="Rf9d973de1b38402e" /><Relationship Type="http://schemas.openxmlformats.org/officeDocument/2006/relationships/slide" Target="/ppt/slides/slide5.xml" Id="R058dce64487a49a2" /><Relationship Type="http://schemas.openxmlformats.org/officeDocument/2006/relationships/slide" Target="/ppt/slides/slide6.xml" Id="Reb3c9e25e93d4547" /><Relationship Type="http://schemas.openxmlformats.org/officeDocument/2006/relationships/slide" Target="/ppt/slides/slide7.xml" Id="Rf6808673714c497b" /><Relationship Type="http://schemas.openxmlformats.org/officeDocument/2006/relationships/slide" Target="/ppt/slides/slide8.xml" Id="R8bac7b8e750943f6" /><Relationship Type="http://schemas.openxmlformats.org/officeDocument/2006/relationships/slide" Target="/ppt/slides/slide9.xml" Id="Rb61ff4fc976941a6" /><Relationship Type="http://schemas.openxmlformats.org/officeDocument/2006/relationships/slide" Target="/ppt/slides/slide10.xml" Id="R5c063756f298427a" /><Relationship Type="http://schemas.openxmlformats.org/officeDocument/2006/relationships/slide" Target="/ppt/slides/slide11.xml" Id="R14d3b7d75b284dd8" /><Relationship Type="http://schemas.openxmlformats.org/officeDocument/2006/relationships/slide" Target="/ppt/slides/slide12.xml" Id="R62d1375de9164cc6" /><Relationship Type="http://schemas.openxmlformats.org/officeDocument/2006/relationships/slide" Target="/ppt/slides/slide13.xml" Id="R43a8e67b4f334b77" /><Relationship Type="http://schemas.openxmlformats.org/officeDocument/2006/relationships/slide" Target="/ppt/slides/slide14.xml" Id="R2a400f6911de4cf2" /><Relationship Type="http://schemas.openxmlformats.org/officeDocument/2006/relationships/slide" Target="/ppt/slides/slide15.xml" Id="R62d0a44826f042d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2555761dea94fe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8cda3fa9f3ca4d28" /><Relationship Type="http://schemas.openxmlformats.org/officeDocument/2006/relationships/notesMaster" Target="/ppt/notesMasters/notesMaster1.xml" Id="R5be0e90a779744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df77bbb51b8340e8" /><Relationship Type="http://schemas.openxmlformats.org/officeDocument/2006/relationships/notesMaster" Target="/ppt/notesMasters/notesMaster1.xml" Id="R587d492dc0614a51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02d327289443c1" /><Relationship Type="http://schemas.openxmlformats.org/officeDocument/2006/relationships/notesMaster" Target="/ppt/notesMasters/notesMaster1.xml" Id="R8137791c7f4340f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abd20ef9d2240ad" /><Relationship Type="http://schemas.openxmlformats.org/officeDocument/2006/relationships/notesMaster" Target="/ppt/notesMasters/notesMaster1.xml" Id="R012f3739f6304e9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b676b6613214fd7" /><Relationship Type="http://schemas.openxmlformats.org/officeDocument/2006/relationships/notesMaster" Target="/ppt/notesMasters/notesMaster1.xml" Id="R2a571cdf572444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aed1a12d697489a" /><Relationship Type="http://schemas.openxmlformats.org/officeDocument/2006/relationships/notesMaster" Target="/ppt/notesMasters/notesMaster1.xml" Id="Ra682dd672f354b7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11fd0324b8cd4df9" /><Relationship Type="http://schemas.openxmlformats.org/officeDocument/2006/relationships/notesMaster" Target="/ppt/notesMasters/notesMaster1.xml" Id="Rf1e18ba888f44791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944f6bb832b409c" /><Relationship Type="http://schemas.openxmlformats.org/officeDocument/2006/relationships/notesMaster" Target="/ppt/notesMasters/notesMaster1.xml" Id="R56c35ab4dce748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fb876f6de2c84b11" /><Relationship Type="http://schemas.openxmlformats.org/officeDocument/2006/relationships/notesMaster" Target="/ppt/notesMasters/notesMaster1.xml" Id="Rb0e87354c51c4ecd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1baac241df4c5d" /><Relationship Type="http://schemas.openxmlformats.org/officeDocument/2006/relationships/notesMaster" Target="/ppt/notesMasters/notesMaster1.xml" Id="R4c0bfe893ccc4a71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07a4d5a91b4f4e41" /><Relationship Type="http://schemas.openxmlformats.org/officeDocument/2006/relationships/notesMaster" Target="/ppt/notesMasters/notesMaster1.xml" Id="R5908e99443534d5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9c44ee8ef8984062" /><Relationship Type="http://schemas.openxmlformats.org/officeDocument/2006/relationships/notesMaster" Target="/ppt/notesMasters/notesMaster1.xml" Id="Rc9f37670f3a84e0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74d9693b2284783" /><Relationship Type="http://schemas.openxmlformats.org/officeDocument/2006/relationships/notesMaster" Target="/ppt/notesMasters/notesMaster1.xml" Id="Rd140b6d66f9241bd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e5850c70bfb34f1f" /><Relationship Type="http://schemas.openxmlformats.org/officeDocument/2006/relationships/notesMaster" Target="/ppt/notesMasters/notesMaster1.xml" Id="R3b310ebf774343fb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213419772f5a42bb" /><Relationship Type="http://schemas.openxmlformats.org/officeDocument/2006/relationships/notesMaster" Target="/ppt/notesMasters/notesMaster1.xml" Id="R56f858382e644cf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No: need process evidence. The lesson’s central question is whether gametes fuse, not merely counting visible plants.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Gamete fusion; fertilised ovule; no. Do not treat every natural seed as necessarily sexual.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Think aloud with case B: I see only one parent plant, but the record says gametes fuse. Therefore it is sexual reproduction. A self-fertile plant can supply both gametes.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 simplified scientific sequence: Male gamete; Fusion with</a:t>
            </a:r>
          </a:p>
          <a:p xmlns:a="http://schemas.openxmlformats.org/drawingml/2006/main">
            <a:r>
              <a:t>female gamete; Offspring</a:t>
            </a:r>
          </a:p>
          <a:p xmlns:a="http://schemas.openxmlformats.org/drawingml/2006/main">
            <a:r>
              <a:t>with inherited</a:t>
            </a:r>
          </a:p>
          <a:p xmlns:a="http://schemas.openxmlformats.org/drawingml/2006/main">
            <a:r>
              <a:t>genes. Gametes may come from different plants</a:t>
            </a:r>
          </a:p>
          <a:p xmlns:a="http://schemas.openxmlformats.org/drawingml/2006/main">
            <a:r>
              <a:t>or from one self-fertile plant.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Trace runner from parent to rooted node. The runner is a stem, not a root stretching between unrelated plants. It can remain attached during early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An original strawberry plant is connected by a horizontal runner to a rooted daughter plant. Both are shown above the same ground line; no gamete fusion is required in this vegetative route.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I do time. Use illustrative growth model, not measured trial data. Explain that mutation is a possible genetic change; supported pupils need only avoid the never-varies claim.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DIAGRAM DESCRIPTION</a:t>
            </a:r>
          </a:p>
          <a:p xmlns:a="http://schemas.openxmlformats.org/drawingml/2006/main">
            <a:r>
              <a:t>Two rooted cuttings from the same parent are drawn with different heights under different growth conditions. The comparison illustrates that clonal genetic similarity does not guarantee identical appearance.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8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A/B sexual; C/D asexual. Pupils move labels or vote privately, then justify using the case wording.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Cuttings preserve the source’s inherited features more directly; seed crosses can introduce genetic variation. Keep suitable light/water/temperature consistent; clones do not guarantee identical growth or immunity.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Case B contradicts the first; environment/mutation limits second. Accept concise bounded explanations.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REVEAL / MODEL ANSWER</a:t>
            </a:r>
          </a:p>
          <a:p xmlns:a="http://schemas.openxmlformats.org/drawingml/2006/main">
            <a:r>
              <a:t>Use the fusion evidence. A self-fertile plant can reproduce sexually; clone appearance can vary.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3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Sexual reproduction occurs because gametes fuse; it is not defined by the number of separate plants and is more than ordinary growth.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A. Sexual reproduction.</a:t>
            </a:r>
          </a:p>
          <a:p xmlns:a="http://schemas.openxmlformats.org/drawingml/2006/main">
            <a:r>
              <a:t>Correct. Gamete fusion is the defining event, even with one parent plant.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B. Asexual because only one parent plant is visible.</a:t>
            </a:r>
          </a:p>
          <a:p xmlns:a="http://schemas.openxmlformats.org/drawingml/2006/main">
            <a:r>
              <a:t>Counting plants misses the fusion event.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C. No reproduction, only taller growth.</a:t>
            </a:r>
          </a:p>
          <a:p xmlns:a="http://schemas.openxmlformats.org/drawingml/2006/main">
            <a:r>
              <a:t>A new offspring develops after fertilisation.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10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10 minutes across the three You do slides. Supply shared page 1 and one selected route page. All routes target the stated science objective; a labelled drawing or independent dictated explanation is valid.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Ask pupils which evidence supports their explanation. Read prompts or scribe without supplying the scientific conclusion.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Shared You do time. Use the route-specific worked answers to identify one precise next step.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4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4 minutes across Review. Offer partner or private teacher feedback. Ask for one specific revision linked to evidence; no public ranking.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Continue within the time allocated to this stage.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Lundy cycle: invite written, spoken or pointed suggestions. Select one feasible question and explain how the pupil contribution changes the next example or investigation.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Stage allocation: 2 minutes.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Fusion; runner/cutting; yes, gametes fuse. E4 asks why clones may look different.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LESSON REFERENCES</a:t>
            </a:r>
          </a:p>
          <a:p xmlns:a="http://schemas.openxmlformats.org/drawingml/2006/main">
            <a:r>
              <a:t>OpenStax Biology 2e: Pollination and fertilization</a:t>
            </a:r>
          </a:p>
          <a:p xmlns:a="http://schemas.openxmlformats.org/drawingml/2006/main">
            <a:r>
              <a:t>https://openstax.org/books/biology-2e/pages/32-2-pollination-and-fertilization</a:t>
            </a:r>
          </a:p>
          <a:p xmlns:a="http://schemas.openxmlformats.org/drawingml/2006/main">
            <a:r>
              <a:t>Checked September 2026. Pollination differs from gamete fusion; fertilised ovule develops into seed and ovary into fruit. College detail is selectively simplified for GROW.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OpenStax Biology 2e: Asexual reproduction</a:t>
            </a:r>
          </a:p>
          <a:p xmlns:a="http://schemas.openxmlformats.org/drawingml/2006/main">
            <a:r>
              <a:t>https://openstax.org/books/biology-2e/pages/32-3-asexual-reproduction</a:t>
            </a:r>
          </a:p>
          <a:p xmlns:a="http://schemas.openxmlformats.org/drawingml/2006/main">
            <a:r>
              <a:t>Checked September 2026. Runners, cuttings and clonal reproduction. Some plants can produce asexual seeds; core examples identify the actual process.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RHS: How plants reproduce</a:t>
            </a:r>
          </a:p>
          <a:p xmlns:a="http://schemas.openxmlformats.org/drawingml/2006/main">
            <a:r>
              <a:t>https://www.rhs.org.uk/advice/understanding-plants/how-plants-reproduce</a:t>
            </a:r>
          </a:p>
          <a:p xmlns:a="http://schemas.openxmlformats.org/drawingml/2006/main">
            <a:r>
              <a:t>Checked September 2026. Sexual and clonal propagation overview; plants may use more than one reproductive strategy.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6e0e26f6e0c4e7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37cc20eb42d49f5" /><Relationship Type="http://schemas.openxmlformats.org/officeDocument/2006/relationships/slideLayout" Target="/ppt/slideLayouts/slideLayout1.xml" Id="R1f96ceec62234c8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1f96ceec62234c8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e84d6c50b34905" /><Relationship Type="http://schemas.openxmlformats.org/officeDocument/2006/relationships/notesSlide" Target="/ppt/notesSlides/notesSlide1.xml" Id="R6866fd57372b4f7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7331495dc04cda" /><Relationship Type="http://schemas.openxmlformats.org/officeDocument/2006/relationships/notesSlide" Target="/ppt/notesSlides/notesSlide2.xml" Id="Rebcd92efc3f348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8d805bfc44ada" /><Relationship Type="http://schemas.openxmlformats.org/officeDocument/2006/relationships/notesSlide" Target="/ppt/notesSlides/notesSlide3.xml" Id="Rfd2c22e3dd3646d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7761f3abe04873" /><Relationship Type="http://schemas.openxmlformats.org/officeDocument/2006/relationships/notesSlide" Target="/ppt/notesSlides/notesSlide4.xml" Id="Rdca31f1e587d4c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98107a2d5470a" /><Relationship Type="http://schemas.openxmlformats.org/officeDocument/2006/relationships/notesSlide" Target="/ppt/notesSlides/notesSlide5.xml" Id="R34e9e5a5b444485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f5728b13ca461a" /><Relationship Type="http://schemas.openxmlformats.org/officeDocument/2006/relationships/notesSlide" Target="/ppt/notesSlides/notesSlide6.xml" Id="R24cbff1c29d7407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367bc87c27f4441" /><Relationship Type="http://schemas.openxmlformats.org/officeDocument/2006/relationships/notesSlide" Target="/ppt/notesSlides/notesSlide7.xml" Id="R8d58a65090674ee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283112a42f34ff4" /><Relationship Type="http://schemas.openxmlformats.org/officeDocument/2006/relationships/notesSlide" Target="/ppt/notesSlides/notesSlide8.xml" Id="R0312c25793574093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f1a992fd5540e6" /><Relationship Type="http://schemas.openxmlformats.org/officeDocument/2006/relationships/notesSlide" Target="/ppt/notesSlides/notesSlide9.xml" Id="R9a87a803bb5e4f78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451467260784ef5" /><Relationship Type="http://schemas.openxmlformats.org/officeDocument/2006/relationships/notesSlide" Target="/ppt/notesSlides/notesSlide10.xml" Id="R00d5b8add13a49d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d421fa65964044" /><Relationship Type="http://schemas.openxmlformats.org/officeDocument/2006/relationships/notesSlide" Target="/ppt/notesSlides/notesSlide11.xml" Id="R389d253f897f4f9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5447d96c054fc6" /><Relationship Type="http://schemas.openxmlformats.org/officeDocument/2006/relationships/notesSlide" Target="/ppt/notesSlides/notesSlide12.xml" Id="R26175ed4894d4f47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c5119d83304d41" /><Relationship Type="http://schemas.openxmlformats.org/officeDocument/2006/relationships/notesSlide" Target="/ppt/notesSlides/notesSlide13.xml" Id="Rb5f415bf115b4260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a18916c3624908" /><Relationship Type="http://schemas.openxmlformats.org/officeDocument/2006/relationships/notesSlide" Target="/ppt/notesSlides/notesSlide14.xml" Id="Rd7f90c02306b4bad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7448283a7647b1" /><Relationship Type="http://schemas.openxmlformats.org/officeDocument/2006/relationships/notesSlide" Target="/ppt/notesSlides/notesSlide15.xml" Id="Ra0a74daf11e548d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EEBFC1A5-03E4-4B72-BBE8-38F6AF9E5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969E196-6657-43DE-9A64-EC8D312AD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E03B09D5-3123-4C73-A468-7B9803DE6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BBFF2B7-64FE-4EEE-8F75-D8AF911DD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Opening">
            <a:extLst xmlns:a="http://schemas.openxmlformats.org/drawingml/2006/main">
              <a:ext uri="{FF2B5EF4-FFF2-40B4-BE49-F238E27FC236}">
                <a16:creationId xmlns:a16="http://schemas.microsoft.com/office/drawing/2014/main" id="{A2A3B036-ACE6-4097-8DAF-07398081A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Opening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B95C2C2C-03B6-4F51-B74D-44493E2092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One visible parent: one answer?">
            <a:extLst xmlns:a="http://schemas.openxmlformats.org/drawingml/2006/main">
              <a:ext uri="{FF2B5EF4-FFF2-40B4-BE49-F238E27FC236}">
                <a16:creationId xmlns:a16="http://schemas.microsoft.com/office/drawing/2014/main" id="{BFBD83CA-6A8E-41B4-A8F1-4C61FFFA2A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One visible parent: one answer?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65B9DAEC-4E83-4CB5-BE57-5B014963C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D3E397B5-9448-4D27-8B10-7BA43C1704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1 / 15">
            <a:extLst xmlns:a="http://schemas.openxmlformats.org/drawingml/2006/main">
              <a:ext uri="{FF2B5EF4-FFF2-40B4-BE49-F238E27FC236}">
                <a16:creationId xmlns:a16="http://schemas.microsoft.com/office/drawing/2014/main" id="{CF9B9FDA-0D8D-48F1-BCB3-4D4572C44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 / 15</a:t>
            </a:r>
          </a:p>
        </p:txBody>
      </p:sp>
      <p:sp>
        <p:nvSpPr>
          <p:cNvPr id="11" name="surface">
            <a:extLst xmlns:a="http://schemas.openxmlformats.org/drawingml/2006/main">
              <a:ext uri="{FF2B5EF4-FFF2-40B4-BE49-F238E27FC236}">
                <a16:creationId xmlns:a16="http://schemas.microsoft.com/office/drawing/2014/main" id="{6E373062-7ABF-409F-8468-232B65259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11125200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1FC3952-7804-40C2-AEF8-C5E62FD55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85950"/>
            <a:ext cx="66675" cy="1247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13" name="Learning intention">
            <a:extLst xmlns:a="http://schemas.openxmlformats.org/drawingml/2006/main">
              <a:ext uri="{FF2B5EF4-FFF2-40B4-BE49-F238E27FC236}">
                <a16:creationId xmlns:a16="http://schemas.microsoft.com/office/drawing/2014/main" id="{30C1F51C-8B00-4437-A1D1-960529F4A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19300"/>
            <a:ext cx="10572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65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Learning intention</a:t>
            </a:r>
          </a:p>
        </p:txBody>
      </p:sp>
      <p:sp>
        <p:nvSpPr>
          <p:cNvPr id="14" name="Distinguish sexual and asexual plant reproduction using process ">
            <a:extLst xmlns:a="http://schemas.openxmlformats.org/drawingml/2006/main">
              <a:ext uri="{FF2B5EF4-FFF2-40B4-BE49-F238E27FC236}">
                <a16:creationId xmlns:a16="http://schemas.microsoft.com/office/drawing/2014/main" id="{920DCF7B-CD1F-483A-AD73-823C2AA828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62200"/>
            <a:ext cx="10572750" cy="7905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Distinguish sexual and asexual plant reproduction using process evidence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rather than the number of visible parent plants.</a:t>
            </a:r>
          </a:p>
        </p:txBody>
      </p:sp>
      <p:sp>
        <p:nvSpPr>
          <p:cNvPr id="15" name="A new plant grows near one parent.">
            <a:extLst xmlns:a="http://schemas.openxmlformats.org/drawingml/2006/main">
              <a:ext uri="{FF2B5EF4-FFF2-40B4-BE49-F238E27FC236}">
                <a16:creationId xmlns:a16="http://schemas.microsoft.com/office/drawing/2014/main" id="{044DCC9F-E4B2-4FFD-A334-EE8E00165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623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new plant grows near one parent.</a:t>
            </a:r>
          </a:p>
        </p:txBody>
      </p:sp>
      <p:sp>
        <p:nvSpPr>
          <p:cNvPr id="16" name="Can you identify the reproduction type from that alone?">
            <a:extLst xmlns:a="http://schemas.openxmlformats.org/drawingml/2006/main">
              <a:ext uri="{FF2B5EF4-FFF2-40B4-BE49-F238E27FC236}">
                <a16:creationId xmlns:a16="http://schemas.microsoft.com/office/drawing/2014/main" id="{73EBF496-0FB0-4248-8F64-C8E54DC7D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9157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Can you identify the reproduction type from that alone?</a:t>
            </a:r>
          </a:p>
        </p:txBody>
      </p:sp>
    </p:spTree>
    <p:extLst>
      <p:ext uri="{BB962C8B-B14F-4D97-AF65-F5344CB8AC3E}">
        <p14:creationId xmlns:p14="http://schemas.microsoft.com/office/powerpoint/2010/main" val="104247932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53FA59EB-1EF1-43F3-A242-09AC95C809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1364779E-15D3-4666-AB41-9932D4016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46BD4CFE-96E6-4178-AE2A-8B976F377D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ED18C08-C2C3-4BC9-ACAA-18D3264B4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trieval">
            <a:extLst xmlns:a="http://schemas.openxmlformats.org/drawingml/2006/main">
              <a:ext uri="{FF2B5EF4-FFF2-40B4-BE49-F238E27FC236}">
                <a16:creationId xmlns:a16="http://schemas.microsoft.com/office/drawing/2014/main" id="{2403A1C7-85C3-4A64-B184-E44A7B75C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Retrieval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011F036-4825-42C1-A2C8-D6464B1CB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Recover the fusion event">
            <a:extLst xmlns:a="http://schemas.openxmlformats.org/drawingml/2006/main">
              <a:ext uri="{FF2B5EF4-FFF2-40B4-BE49-F238E27FC236}">
                <a16:creationId xmlns:a16="http://schemas.microsoft.com/office/drawing/2014/main" id="{4A04A368-62A9-4799-9592-E72CCD5C8A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Recover the fusion event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57F09981-D85B-4EA5-9E98-F088879520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9E428EEA-39F9-4AF3-BD91-B39EDCE0E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2 / 15">
            <a:extLst xmlns:a="http://schemas.openxmlformats.org/drawingml/2006/main">
              <a:ext uri="{FF2B5EF4-FFF2-40B4-BE49-F238E27FC236}">
                <a16:creationId xmlns:a16="http://schemas.microsoft.com/office/drawing/2014/main" id="{77915AEE-9D87-40C7-9280-1B885DAF7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2 / 15</a:t>
            </a:r>
          </a:p>
        </p:txBody>
      </p:sp>
      <p:sp>
        <p:nvSpPr>
          <p:cNvPr id="11" name="R1. What is fertilisation?">
            <a:extLst xmlns:a="http://schemas.openxmlformats.org/drawingml/2006/main">
              <a:ext uri="{FF2B5EF4-FFF2-40B4-BE49-F238E27FC236}">
                <a16:creationId xmlns:a16="http://schemas.microsoft.com/office/drawing/2014/main" id="{71794C0A-D7AE-442A-8256-3FD962814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R1. What is fertilisation?</a:t>
            </a:r>
          </a:p>
        </p:txBody>
      </p:sp>
      <p:sp>
        <p:nvSpPr>
          <p:cNvPr id="12" name="R2. What develops into a seed after fertilisation?">
            <a:extLst xmlns:a="http://schemas.openxmlformats.org/drawingml/2006/main">
              <a:ext uri="{FF2B5EF4-FFF2-40B4-BE49-F238E27FC236}">
                <a16:creationId xmlns:a16="http://schemas.microsoft.com/office/drawing/2014/main" id="{F642F60F-8C85-4405-9BE0-04284A169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R2. What develops into a seed after fertilisation?</a:t>
            </a:r>
          </a:p>
        </p:txBody>
      </p:sp>
      <p:sp>
        <p:nvSpPr>
          <p:cNvPr id="13" name="R3. Is growth of one plant the same as producing offspring?">
            <a:extLst xmlns:a="http://schemas.openxmlformats.org/drawingml/2006/main">
              <a:ext uri="{FF2B5EF4-FFF2-40B4-BE49-F238E27FC236}">
                <a16:creationId xmlns:a16="http://schemas.microsoft.com/office/drawing/2014/main" id="{53F35732-11C6-44E4-A116-3709B8E4A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R3. Is growth of one plant the same as producing offspring?</a:t>
            </a:r>
          </a:p>
        </p:txBody>
      </p:sp>
    </p:spTree>
    <p:extLst>
      <p:ext uri="{BB962C8B-B14F-4D97-AF65-F5344CB8AC3E}">
        <p14:creationId xmlns:p14="http://schemas.microsoft.com/office/powerpoint/2010/main" val="80373803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C1A83A0D-4222-441C-B498-1B411D815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551BED8-255C-473E-8575-4969B5B57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FE2B2B5-A600-4D7D-A329-1AF9CC628C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7D2D942C-ADF9-4AA0-9EA0-FC46996103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CC938232-6C7F-441B-9195-80EFF528A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2976D127-2388-4D42-82A1-0A16BE3F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I look for gamete fusion">
            <a:extLst xmlns:a="http://schemas.openxmlformats.org/drawingml/2006/main">
              <a:ext uri="{FF2B5EF4-FFF2-40B4-BE49-F238E27FC236}">
                <a16:creationId xmlns:a16="http://schemas.microsoft.com/office/drawing/2014/main" id="{D60BE1EA-1616-4C29-9012-B2E6D611A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look for gamete fusion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F5848E0-5B32-4AE7-8420-CF64FC69DC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D2165E5A-1F9C-4D68-B501-5274CB5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3 / 15">
            <a:extLst xmlns:a="http://schemas.openxmlformats.org/drawingml/2006/main">
              <a:ext uri="{FF2B5EF4-FFF2-40B4-BE49-F238E27FC236}">
                <a16:creationId xmlns:a16="http://schemas.microsoft.com/office/drawing/2014/main" id="{5517A9A5-DB2A-47DF-83C0-91F83FDAD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3 / 15</a:t>
            </a:r>
          </a:p>
        </p:txBody>
      </p:sp>
      <p:sp>
        <p:nvSpPr>
          <p:cNvPr id="11" name="Diagram label: Sexual reproduction: the defining event">
            <a:extLst xmlns:a="http://schemas.openxmlformats.org/drawingml/2006/main">
              <a:ext uri="{FF2B5EF4-FFF2-40B4-BE49-F238E27FC236}">
                <a16:creationId xmlns:a16="http://schemas.microsoft.com/office/drawing/2014/main" id="{683B90BB-E18D-44BA-826C-1A91B39FB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2023042"/>
            <a:ext cx="6447064" cy="350384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Sexual reproduction: the defining event</a:t>
            </a:r>
          </a:p>
        </p:txBody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9DD0AED-886C-4685-A5F6-81C8386644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12621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Male gamete">
            <a:extLst xmlns:a="http://schemas.openxmlformats.org/drawingml/2006/main">
              <a:ext uri="{FF2B5EF4-FFF2-40B4-BE49-F238E27FC236}">
                <a16:creationId xmlns:a16="http://schemas.microsoft.com/office/drawing/2014/main" id="{C3B405E0-4091-4E6D-9829-C3ED4E8FF3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8683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Male gamete</a:t>
            </a:r>
          </a:p>
        </p:txBody>
      </p:sp>
      <p:sp>
        <p:nvSpPr>
          <p:cNvPr id="14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6073C440-5A70-4203-BCF5-B076294D1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928054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5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F4DED38D-F0B8-4859-B220-10CFFEE11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040176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16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4E184558-882D-46B6-854C-87DD32EAB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38284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7" name="Diagram label: Fusion with&#10;female gamete">
            <a:extLst xmlns:a="http://schemas.openxmlformats.org/drawingml/2006/main">
              <a:ext uri="{FF2B5EF4-FFF2-40B4-BE49-F238E27FC236}">
                <a16:creationId xmlns:a16="http://schemas.microsoft.com/office/drawing/2014/main" id="{CCFEFCA1-FF4A-4D52-BB68-6FDECCB9BD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4345" y="3319463"/>
            <a:ext cx="1803309" cy="63069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Fusion with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female gamete</a:t>
            </a:r>
          </a:p>
        </p:txBody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D36FB31-D735-421C-8287-C5638820D6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053716" y="3634808"/>
            <a:ext cx="136650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9" name="Diagram arrowhead">
            <a:extLst xmlns:a="http://schemas.openxmlformats.org/drawingml/2006/main">
              <a:ext uri="{FF2B5EF4-FFF2-40B4-BE49-F238E27FC236}">
                <a16:creationId xmlns:a16="http://schemas.microsoft.com/office/drawing/2014/main" id="{67568CDD-E7B0-4034-B4E5-6AC21AC4B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7165839" y="3585754"/>
            <a:ext cx="98108" cy="98108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F2937"/>
          </a:solidFill>
          <a:ln xmlns:a="http://schemas.openxmlformats.org/drawingml/2006/main" w="0">
            <a:noFill/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433FE8B-5074-44DA-A26B-CBF8FE08B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63946" y="3179309"/>
            <a:ext cx="1915432" cy="91099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1" name="Diagram label: Offspring&#10;with inherited&#10;genes">
            <a:extLst xmlns:a="http://schemas.openxmlformats.org/drawingml/2006/main">
              <a:ext uri="{FF2B5EF4-FFF2-40B4-BE49-F238E27FC236}">
                <a16:creationId xmlns:a16="http://schemas.microsoft.com/office/drawing/2014/main" id="{11CDA9B5-7F13-4296-95A2-A06F1E40B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0008" y="3242378"/>
            <a:ext cx="1803309" cy="7848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Offspring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with inherited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genes</a:t>
            </a:r>
          </a:p>
        </p:txBody>
      </p:sp>
      <p:sp>
        <p:nvSpPr>
          <p:cNvPr id="22" name="Diagram label: Gametes may come from different plants&#10;or from one self-fertile plant.">
            <a:extLst xmlns:a="http://schemas.openxmlformats.org/drawingml/2006/main">
              <a:ext uri="{FF2B5EF4-FFF2-40B4-BE49-F238E27FC236}">
                <a16:creationId xmlns:a16="http://schemas.microsoft.com/office/drawing/2014/main" id="{FD4DF3D8-6AAE-4603-AC23-888D4C86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2545" y="4475729"/>
            <a:ext cx="6306911" cy="91099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Gametes may come from different plants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9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or from one self-fertile plant.</a:t>
            </a:r>
          </a:p>
        </p:txBody>
      </p:sp>
      <p:sp>
        <p:nvSpPr>
          <p:cNvPr id="23" name="Fusion identifies sexual reproduction.  Gametes can come from on">
            <a:extLst xmlns:a="http://schemas.openxmlformats.org/drawingml/2006/main">
              <a:ext uri="{FF2B5EF4-FFF2-40B4-BE49-F238E27FC236}">
                <a16:creationId xmlns:a16="http://schemas.microsoft.com/office/drawing/2014/main" id="{C5653593-D167-4673-8BC9-642E78824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Fusion identifies sexual reproduction. Gametes can come from one self-fertile plant. Two separate plants are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not the defining rule.</a:t>
            </a:r>
          </a:p>
        </p:txBody>
      </p:sp>
    </p:spTree>
    <p:extLst>
      <p:ext uri="{BB962C8B-B14F-4D97-AF65-F5344CB8AC3E}">
        <p14:creationId xmlns:p14="http://schemas.microsoft.com/office/powerpoint/2010/main" val="116836624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surface">
            <a:extLst xmlns:a="http://schemas.openxmlformats.org/drawingml/2006/main">
              <a:ext uri="{FF2B5EF4-FFF2-40B4-BE49-F238E27FC236}">
                <a16:creationId xmlns:a16="http://schemas.microsoft.com/office/drawing/2014/main" id="{55C42289-5E8D-4C09-A0DB-74FA0B9D8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3CE2FB8-3996-42EE-B95C-57C2A3477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9C5A797D-CEEC-474C-BA27-60144F56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FC894D36-084F-4DDE-9956-3763ED4E8F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63F41AFA-6BC1-4043-A60F-7E74C4BD2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trace the runner route">
            <a:extLst xmlns:a="http://schemas.openxmlformats.org/drawingml/2006/main">
              <a:ext uri="{FF2B5EF4-FFF2-40B4-BE49-F238E27FC236}">
                <a16:creationId xmlns:a16="http://schemas.microsoft.com/office/drawing/2014/main" id="{E4841A9B-A4F3-428A-A5B8-29976BCCC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trace the runner route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0DDEAA8-BE1B-47C9-94AC-D8325157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4B7AA95C-9EFD-4DFA-B6D1-6F1B5BA3C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9" name="4 / 15">
            <a:extLst xmlns:a="http://schemas.openxmlformats.org/drawingml/2006/main">
              <a:ext uri="{FF2B5EF4-FFF2-40B4-BE49-F238E27FC236}">
                <a16:creationId xmlns:a16="http://schemas.microsoft.com/office/drawing/2014/main" id="{E929148E-8C04-49FC-9934-CB7F9B247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4 / 15</a:t>
            </a:r>
          </a:p>
        </p:txBody>
      </p:sp>
      <p:sp>
        <p:nvSpPr>
          <p:cNvPr id="10" name="Diagram label: A runner can produce a daughter plant">
            <a:extLst xmlns:a="http://schemas.openxmlformats.org/drawingml/2006/main">
              <a:ext uri="{FF2B5EF4-FFF2-40B4-BE49-F238E27FC236}">
                <a16:creationId xmlns:a16="http://schemas.microsoft.com/office/drawing/2014/main" id="{F6DD12FC-13F4-4546-A5D5-A3EFB1E927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1217" y="1997188"/>
            <a:ext cx="6869566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23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runner can produce a daughter plant</a:t>
            </a:r>
          </a:p>
        </p:txBody>
      </p:sp>
      <p:sp>
        <p:nvSpPr>
          <p:cNvPr id="1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F1708CB3-D807-43F9-AB60-D1D1792B94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2735886" y="4722614"/>
            <a:ext cx="6720228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1F2937"/>
            </a:solidFill>
          </a:ln>
        </p:spPr>
      </p:sp>
      <p:sp>
        <p:nvSpPr>
          <p:cNvPr id="1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D3C9164-E087-475A-89F5-475E75AD2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154601" y="3677245"/>
            <a:ext cx="953" cy="1045369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13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C3641B50-207E-483D-8998-C43A1343CB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9913" y="3565242"/>
            <a:ext cx="709357" cy="336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0D5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4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6FD0B073-E64E-4AFE-8E99-C91174075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935" y="3789249"/>
            <a:ext cx="746692" cy="3360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0D5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4611F768-C25C-48B2-BB01-0EA759339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54601" y="4535941"/>
            <a:ext cx="358412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E7F1A29-D299-4533-8E87-70292156C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738722" y="3863918"/>
            <a:ext cx="953" cy="85869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17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39C5A919-C746-412D-9177-D0939DBC7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369" y="3863918"/>
            <a:ext cx="672023" cy="313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0D5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8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07C0071F-8509-4034-91AF-42CAAC76B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6057" y="4013257"/>
            <a:ext cx="672023" cy="31361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0D5"/>
          </a:solidFill>
          <a:ln xmlns:a="http://schemas.openxmlformats.org/drawingml/2006/main" w="22401">
            <a:solidFill>
              <a:srgbClr val="3F7D6E"/>
            </a:solidFill>
          </a:ln>
        </p:spPr>
      </p:sp>
      <p:sp>
        <p:nvSpPr>
          <p:cNvPr id="19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2C5A87CF-F2CE-4052-A537-4F6DB48DD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3893259" y="4722614"/>
            <a:ext cx="261342" cy="59735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20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FBCCDA6-7E6C-4448-BCCB-20B1FAEBF8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4154601" y="4722614"/>
            <a:ext cx="298677" cy="52268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21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DB324FDA-22D3-4380-8D14-01A62A334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 flipV="0">
            <a:off x="7499781" y="4722614"/>
            <a:ext cx="238941" cy="4853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22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CD265E7-A775-4646-8709-34BC298019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7738722" y="4722614"/>
            <a:ext cx="253875" cy="507751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7335">
            <a:solidFill>
              <a:srgbClr val="3F7D6E"/>
            </a:solidFill>
          </a:ln>
        </p:spPr>
      </p:sp>
      <p:sp>
        <p:nvSpPr>
          <p:cNvPr id="23" name="Diagram label: Parent plant">
            <a:extLst xmlns:a="http://schemas.openxmlformats.org/drawingml/2006/main">
              <a:ext uri="{FF2B5EF4-FFF2-40B4-BE49-F238E27FC236}">
                <a16:creationId xmlns:a16="http://schemas.microsoft.com/office/drawing/2014/main" id="{BDC004CC-BE7F-4117-A48F-956A21849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9232" y="2893219"/>
            <a:ext cx="2090738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Parent plant</a:t>
            </a:r>
          </a:p>
        </p:txBody>
      </p:sp>
      <p:sp>
        <p:nvSpPr>
          <p:cNvPr id="24" name="Diagram label: Daughter plant">
            <a:extLst xmlns:a="http://schemas.openxmlformats.org/drawingml/2006/main">
              <a:ext uri="{FF2B5EF4-FFF2-40B4-BE49-F238E27FC236}">
                <a16:creationId xmlns:a16="http://schemas.microsoft.com/office/drawing/2014/main" id="{16B8AEB5-5AC6-481C-8EA0-23EF2689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93354" y="3117226"/>
            <a:ext cx="2090738" cy="41068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4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4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Daughter plant</a:t>
            </a:r>
          </a:p>
        </p:txBody>
      </p:sp>
      <p:sp>
        <p:nvSpPr>
          <p:cNvPr id="25" name="Diagram label: Runner: a stem">
            <a:extLst xmlns:a="http://schemas.openxmlformats.org/drawingml/2006/main">
              <a:ext uri="{FF2B5EF4-FFF2-40B4-BE49-F238E27FC236}">
                <a16:creationId xmlns:a16="http://schemas.microsoft.com/office/drawing/2014/main" id="{115F1F74-3639-4488-A849-B598CB59B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3297" y="4013257"/>
            <a:ext cx="1941399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87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Runner: a stem</a:t>
            </a:r>
          </a:p>
        </p:txBody>
      </p:sp>
      <p:sp>
        <p:nvSpPr>
          <p:cNvPr id="26" name="Diagram label: Vegetative growth from the parent; no gamete fusion here.">
            <a:extLst xmlns:a="http://schemas.openxmlformats.org/drawingml/2006/main">
              <a:ext uri="{FF2B5EF4-FFF2-40B4-BE49-F238E27FC236}">
                <a16:creationId xmlns:a16="http://schemas.microsoft.com/office/drawing/2014/main" id="{2E3F0C9B-3205-4975-AD0A-C1C1AA430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85225" y="5521574"/>
            <a:ext cx="6421551" cy="336011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47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Vegetative growth from the parent; no gamete fusion here.</a:t>
            </a:r>
          </a:p>
        </p:txBody>
      </p:sp>
      <p:sp>
        <p:nvSpPr>
          <p:cNvPr id="27" name="The new plant grows from a parent stem.  No gametes fuse in this">
            <a:extLst xmlns:a="http://schemas.openxmlformats.org/drawingml/2006/main">
              <a:ext uri="{FF2B5EF4-FFF2-40B4-BE49-F238E27FC236}">
                <a16:creationId xmlns:a16="http://schemas.microsoft.com/office/drawing/2014/main" id="{3221CAC5-D80A-4750-88E0-82B21F6A8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086475"/>
            <a:ext cx="111252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 new plant grows from a parent stem. No gametes fuse in this runner route. This is asexual reproduction.</a:t>
            </a:r>
          </a:p>
        </p:txBody>
      </p:sp>
    </p:spTree>
    <p:extLst>
      <p:ext uri="{BB962C8B-B14F-4D97-AF65-F5344CB8AC3E}">
        <p14:creationId xmlns:p14="http://schemas.microsoft.com/office/powerpoint/2010/main" val="87707129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10191E33-4574-422B-859E-676002E87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53A0F277-5EC2-432C-8E15-B95970AAD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3E6DA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B225861-5752-4B48-B22D-B77AFF42A3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80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931C277C-2A76-42D4-8A24-8403129B5F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I do">
            <a:extLst xmlns:a="http://schemas.openxmlformats.org/drawingml/2006/main">
              <a:ext uri="{FF2B5EF4-FFF2-40B4-BE49-F238E27FC236}">
                <a16:creationId xmlns:a16="http://schemas.microsoft.com/office/drawing/2014/main" id="{B77EBCC0-3A52-4F14-9003-C8C7ACF06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C9803B"/>
                </a:solidFill>
                <a:latin typeface="Nimbus Sans"/>
                <a:ea typeface="Nimbus Sans"/>
                <a:cs typeface="Nimbus Sans"/>
              </a:rPr>
              <a:t>I do</a:t>
            </a:r>
          </a:p>
        </p:txBody>
      </p:sp>
      <p:sp>
        <p:nvSpPr>
          <p:cNvPr id="6" name="I separate genetic similarity from appearance">
            <a:extLst xmlns:a="http://schemas.openxmlformats.org/drawingml/2006/main">
              <a:ext uri="{FF2B5EF4-FFF2-40B4-BE49-F238E27FC236}">
                <a16:creationId xmlns:a16="http://schemas.microsoft.com/office/drawing/2014/main" id="{C727DA41-93A7-4046-A403-02275D954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 separate genetic similarity from appearance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1F8E9668-C83F-4814-B067-8E225262A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C54F02C2-6143-403C-AA23-E0CC315C5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9" name="5 / 15">
            <a:extLst xmlns:a="http://schemas.openxmlformats.org/drawingml/2006/main">
              <a:ext uri="{FF2B5EF4-FFF2-40B4-BE49-F238E27FC236}">
                <a16:creationId xmlns:a16="http://schemas.microsoft.com/office/drawing/2014/main" id="{8BEAC90B-6D3C-45DD-8E7F-36832602AF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5 / 15</a:t>
            </a:r>
          </a:p>
        </p:txBody>
      </p:sp>
      <p:sp>
        <p:nvSpPr>
          <p:cNvPr id="10" name="Diagram label: Clones need not look identical">
            <a:extLst xmlns:a="http://schemas.openxmlformats.org/drawingml/2006/main">
              <a:ext uri="{FF2B5EF4-FFF2-40B4-BE49-F238E27FC236}">
                <a16:creationId xmlns:a16="http://schemas.microsoft.com/office/drawing/2014/main" id="{B8C2B0DA-C7AB-4F34-9EE1-152F64AB0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2468" y="1988004"/>
            <a:ext cx="644706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766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Clones need not look identical</a:t>
            </a:r>
          </a:p>
        </p:txBody>
      </p:sp>
      <p:sp>
        <p:nvSpPr>
          <p:cNvPr id="1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941A1AA2-D866-4BAA-8403-BEF8C96699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7737" y="2828925"/>
            <a:ext cx="2732995" cy="2137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2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A0E25CFF-657B-4E63-856E-7861F9A7D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1269" y="2828925"/>
            <a:ext cx="2732995" cy="213734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F7F3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13" name="Diagram label: Same parent cutting&#10;condition A">
            <a:extLst xmlns:a="http://schemas.openxmlformats.org/drawingml/2006/main">
              <a:ext uri="{FF2B5EF4-FFF2-40B4-BE49-F238E27FC236}">
                <a16:creationId xmlns:a16="http://schemas.microsoft.com/office/drawing/2014/main" id="{8CA37486-6BF1-4FB6-9EB9-CFAF3C5D8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22852" y="2934040"/>
            <a:ext cx="2522764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parent cutting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condition A</a:t>
            </a:r>
          </a:p>
        </p:txBody>
      </p:sp>
      <p:sp>
        <p:nvSpPr>
          <p:cNvPr id="14" name="Diagram label: Same parent cutting&#10;condition B">
            <a:extLst xmlns:a="http://schemas.openxmlformats.org/drawingml/2006/main">
              <a:ext uri="{FF2B5EF4-FFF2-40B4-BE49-F238E27FC236}">
                <a16:creationId xmlns:a16="http://schemas.microsoft.com/office/drawing/2014/main" id="{88863CA6-4801-45F2-B796-07B9858E64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46384" y="2934040"/>
            <a:ext cx="2522764" cy="49053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Same parent cutting</a:t>
            </a:r>
          </a:p>
          <a:p xmlns:a="http://schemas.openxmlformats.org/drawingml/2006/main">
            <a:pPr algn="ctr">
              <a:lnSpc>
                <a:spcPct val="108000"/>
              </a:lnSpc>
              <a:buNone/>
              <a:def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54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condition B</a:t>
            </a:r>
          </a:p>
        </p:txBody>
      </p:sp>
      <p:sp>
        <p:nvSpPr>
          <p:cNvPr id="15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94213C18-42B0-435A-8A42-64BE49D0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3292929" y="4685960"/>
            <a:ext cx="238261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6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A5F62594-0CCF-4E0B-B341-0172D7169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0">
            <a:off x="6516461" y="4685960"/>
            <a:ext cx="2382611" cy="953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1F2937"/>
            </a:solidFill>
          </a:ln>
        </p:spPr>
      </p:sp>
      <p:sp>
        <p:nvSpPr>
          <p:cNvPr id="17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3C7090B5-2B2D-4232-B795-4E19D937A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4484234" y="3739923"/>
            <a:ext cx="953" cy="946037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18" name="Diagram line">
            <a:extLst xmlns:a="http://schemas.openxmlformats.org/drawingml/2006/main">
              <a:ext uri="{FF2B5EF4-FFF2-40B4-BE49-F238E27FC236}">
                <a16:creationId xmlns:a16="http://schemas.microsoft.com/office/drawing/2014/main" id="{71D5AAA9-E15F-404B-96DA-5BC55FBFB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0" flipV="1">
            <a:off x="7707766" y="4160384"/>
            <a:ext cx="953" cy="525576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5038">
            <a:solidFill>
              <a:srgbClr val="3F7D6E"/>
            </a:solidFill>
          </a:ln>
        </p:spPr>
      </p:sp>
      <p:sp>
        <p:nvSpPr>
          <p:cNvPr id="19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D458FE61-0149-48A0-81C1-7543236DC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33850" y="3845038"/>
            <a:ext cx="420461" cy="21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0D5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0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5A1FFD30-BDF5-495F-B445-3EAD4C976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4234" y="4090307"/>
            <a:ext cx="455499" cy="21023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0D5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1" name="Editable scientific diagram">
            <a:extLst xmlns:a="http://schemas.openxmlformats.org/drawingml/2006/main">
              <a:ext uri="{FF2B5EF4-FFF2-40B4-BE49-F238E27FC236}">
                <a16:creationId xmlns:a16="http://schemas.microsoft.com/office/drawing/2014/main" id="{76B9A231-4F22-4245-9338-D55D3F2FF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3444" y="4251484"/>
            <a:ext cx="385422" cy="19621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CBE0D5"/>
          </a:solidFill>
          <a:ln xmlns:a="http://schemas.openxmlformats.org/drawingml/2006/main" w="21023">
            <a:solidFill>
              <a:srgbClr val="3F7D6E"/>
            </a:solidFill>
          </a:ln>
        </p:spPr>
      </p:sp>
      <p:sp>
        <p:nvSpPr>
          <p:cNvPr id="22" name="Diagram label: Illustrative model: genes and growth conditions both affect traits.">
            <a:extLst xmlns:a="http://schemas.openxmlformats.org/drawingml/2006/main">
              <a:ext uri="{FF2B5EF4-FFF2-40B4-BE49-F238E27FC236}">
                <a16:creationId xmlns:a16="http://schemas.microsoft.com/office/drawing/2014/main" id="{5D476311-5AD7-4364-97FA-01813CE96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2698" y="5246574"/>
            <a:ext cx="6026604" cy="38542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8000"/>
              </a:lnSpc>
              <a:buNone/>
              <a:def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379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Illustrative model: genes and growth conditions both affect traits.</a:t>
            </a:r>
          </a:p>
        </p:txBody>
      </p:sp>
      <p:sp>
        <p:nvSpPr>
          <p:cNvPr id="23" name="A cutting can produce a clone of its source.  Conditions can aff">
            <a:extLst xmlns:a="http://schemas.openxmlformats.org/drawingml/2006/main">
              <a:ext uri="{FF2B5EF4-FFF2-40B4-BE49-F238E27FC236}">
                <a16:creationId xmlns:a16="http://schemas.microsoft.com/office/drawing/2014/main" id="{3A717796-AFEE-4E72-8A9D-30031F7C2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829300"/>
            <a:ext cx="111252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cutting can produce a clone of its source. Conditions can affect size and appearance. “Clone” does not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8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mean every visible feature is fixed.</a:t>
            </a:r>
          </a:p>
        </p:txBody>
      </p:sp>
    </p:spTree>
    <p:extLst>
      <p:ext uri="{BB962C8B-B14F-4D97-AF65-F5344CB8AC3E}">
        <p14:creationId xmlns:p14="http://schemas.microsoft.com/office/powerpoint/2010/main" val="35783392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23C22F03-51D7-4B61-9F74-E3B20B26B3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E7709292-CEAD-4536-97A5-6D1748783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45B560E-D804-4EDA-9522-E772F5DE0B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0EB2136-A4E7-4AA9-BB72-CFFD79963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D4874F48-2AE2-44A9-9EB6-6E71B56652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8 min">
            <a:extLst xmlns:a="http://schemas.openxmlformats.org/drawingml/2006/main">
              <a:ext uri="{FF2B5EF4-FFF2-40B4-BE49-F238E27FC236}">
                <a16:creationId xmlns:a16="http://schemas.microsoft.com/office/drawing/2014/main" id="{24D78F94-28BF-4E00-BE04-70294512A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8 min</a:t>
            </a:r>
          </a:p>
        </p:txBody>
      </p:sp>
      <p:sp>
        <p:nvSpPr>
          <p:cNvPr id="7" name="Nursery case conference">
            <a:extLst xmlns:a="http://schemas.openxmlformats.org/drawingml/2006/main">
              <a:ext uri="{FF2B5EF4-FFF2-40B4-BE49-F238E27FC236}">
                <a16:creationId xmlns:a16="http://schemas.microsoft.com/office/drawing/2014/main" id="{FDE62C6D-BE2F-4B21-8341-EB3C81C948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Nursery case conference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E03725C-AF50-4760-81CB-83D284E4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6A4F633F-2256-4C08-8CBE-7FFD34E64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6 / 15">
            <a:extLst xmlns:a="http://schemas.openxmlformats.org/drawingml/2006/main">
              <a:ext uri="{FF2B5EF4-FFF2-40B4-BE49-F238E27FC236}">
                <a16:creationId xmlns:a16="http://schemas.microsoft.com/office/drawing/2014/main" id="{AC4D3FAB-96B4-424D-808E-5660200FC3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6 / 15</a:t>
            </a:r>
          </a:p>
        </p:txBody>
      </p:sp>
      <p:sp>
        <p:nvSpPr>
          <p:cNvPr id="11" name="W1. Sort A–D using gamete fusion. Give the evidence phrase that ">
            <a:extLst xmlns:a="http://schemas.openxmlformats.org/drawingml/2006/main">
              <a:ext uri="{FF2B5EF4-FFF2-40B4-BE49-F238E27FC236}">
                <a16:creationId xmlns:a16="http://schemas.microsoft.com/office/drawing/2014/main" id="{64AFE44A-C95C-45C2-94D8-0BBED62B8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95475"/>
            <a:ext cx="111252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W1. Sort A–D using gamete fusion. Give the evidence phrase that decides each case. Do not count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195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parent plants alone.</a:t>
            </a:r>
          </a:p>
        </p:txBody>
      </p:sp>
      <p:graphicFrame>
        <p:nvGraphicFramePr>
          <p:cNvPr id="24" name=""/>
          <p:cNvGraphicFramePr/>
          <p:nvPr/>
        </p:nvGraphicFramePr>
        <p:xfrm>
          <a:off xmlns:a="http://schemas.openxmlformats.org/drawingml/2006/main" x="533400" y="2581275"/>
          <a:ext xmlns:a="http://schemas.openxmlformats.org/drawingml/2006/main" cx="11125200" cy="2526506"/>
        </p:xfrm>
        <a:graphic xmlns:a="http://schemas.openxmlformats.org/drawingml/2006/main">
          <a:graphicData uri="http://schemas.openxmlformats.org/drawingml/2006/table">
            <a:tbl>
              <a:tblPr firstRow="1" bandRow="0"/>
              <a:tblGrid>
                <a:gridCol w="6004524"/>
                <a:gridCol w="5120676"/>
              </a:tblGrid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Case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1">
                          <a:solidFill>
                            <a:srgbClr val="FFFFFF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Key evidence</a:t>
                      </a:r>
                    </a:p>
                  </a:txBody>
                  <a:tcPr marL="95250" marR="95250" marT="95250" marB="95250" anchor="ctr">
                    <a:solidFill>
                      <a:srgbClr val="4D82A0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A: crossed flowers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Gametes fuse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B: self-fertile flower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Gametes fuse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C: runner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gamete fusion</a:t>
                      </a:r>
                    </a:p>
                  </a:txBody>
                  <a:tcPr marL="95250" marR="95250" marT="95250" marB="95250" anchor="ctr">
                    <a:solidFill>
                      <a:srgbClr val="F4F7F9"/>
                    </a:solidFill>
                  </a:tcPr>
                </a:tc>
              </a:tr>
              <a:tr h="505301"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D: cutting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  <a:tc>
                  <a:txBody>
                    <a:bodyPr lIns="95250" tIns="95250" rIns="95250" bIns="95250"/>
                    <a:lstStyle/>
                    <a:p>
                      <a:pPr algn="l"/>
                      <a:r>
                        <a:rPr sz="2025" b="0">
                          <a:solidFill>
                            <a:srgbClr val="1F2937"/>
                          </a:solidFill>
                          <a:latin typeface="Nimbus Sans"/>
                          <a:ea typeface="Nimbus Sans"/>
                          <a:cs typeface="Nimbus Sans"/>
                        </a:rPr>
                        <a:t>No gamete fusion</a:t>
                      </a:r>
                    </a:p>
                  </a:txBody>
                  <a:tcPr marL="95250" marR="95250" marT="95250" marB="9525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9941163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A7BFDD0-CB80-4B15-8D18-B763CDC9DF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3B3623F-D20E-4521-8CF7-BCC405CC7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1AF2D104-A8E2-4C2F-814A-A4CF535A3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EF45C55-FF6A-4AA5-9FB8-04B146F1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584BEA7C-DAA2-447E-BAE5-47901AE26B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Choose a plan for the nursery">
            <a:extLst xmlns:a="http://schemas.openxmlformats.org/drawingml/2006/main">
              <a:ext uri="{FF2B5EF4-FFF2-40B4-BE49-F238E27FC236}">
                <a16:creationId xmlns:a16="http://schemas.microsoft.com/office/drawing/2014/main" id="{DF6C8319-5D25-4990-95D3-AD3205297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plan for the nursery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EE8A1E6-2FD4-4DE0-967E-848615CE8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8BEF6854-6881-41FF-8768-4344E72F0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9" name="7 / 15">
            <a:extLst xmlns:a="http://schemas.openxmlformats.org/drawingml/2006/main">
              <a:ext uri="{FF2B5EF4-FFF2-40B4-BE49-F238E27FC236}">
                <a16:creationId xmlns:a16="http://schemas.microsoft.com/office/drawing/2014/main" id="{4ADC75B5-9C03-4E25-A6ED-6E59FA6154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7 / 15</a:t>
            </a:r>
          </a:p>
        </p:txBody>
      </p:sp>
      <p:sp>
        <p:nvSpPr>
          <p:cNvPr id="10" name="W2. The nursery wants inherited mint features retained.">
            <a:extLst xmlns:a="http://schemas.openxmlformats.org/drawingml/2006/main">
              <a:ext uri="{FF2B5EF4-FFF2-40B4-BE49-F238E27FC236}">
                <a16:creationId xmlns:a16="http://schemas.microsoft.com/office/drawing/2014/main" id="{40C9410B-CE09-4EEA-AF63-81AADDDCE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W2. The nursery wants inherited mint features retained.</a:t>
            </a:r>
          </a:p>
        </p:txBody>
      </p:sp>
      <p:sp>
        <p:nvSpPr>
          <p:cNvPr id="11" name="Recommend the stated cutting route or a new cross.">
            <a:extLst xmlns:a="http://schemas.openxmlformats.org/drawingml/2006/main">
              <a:ext uri="{FF2B5EF4-FFF2-40B4-BE49-F238E27FC236}">
                <a16:creationId xmlns:a16="http://schemas.microsoft.com/office/drawing/2014/main" id="{EAEFDC19-935D-47DA-BF0A-6702E5EB7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Recommend the stated cutting route or a new cross.</a:t>
            </a:r>
          </a:p>
        </p:txBody>
      </p:sp>
      <p:sp>
        <p:nvSpPr>
          <p:cNvPr id="12" name="Give one reason and one condition to control.">
            <a:extLst xmlns:a="http://schemas.openxmlformats.org/drawingml/2006/main">
              <a:ext uri="{FF2B5EF4-FFF2-40B4-BE49-F238E27FC236}">
                <a16:creationId xmlns:a16="http://schemas.microsoft.com/office/drawing/2014/main" id="{D236571B-0E18-471E-A825-CA60719AE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Give one reason and one condition to control.</a:t>
            </a:r>
          </a:p>
        </p:txBody>
      </p:sp>
    </p:spTree>
    <p:extLst>
      <p:ext uri="{BB962C8B-B14F-4D97-AF65-F5344CB8AC3E}">
        <p14:creationId xmlns:p14="http://schemas.microsoft.com/office/powerpoint/2010/main" val="19558564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8D6ED7D5-970C-4BD9-9ED2-B95A73CE0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D1C8BC29-E3BB-4791-8695-F6614CF7D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B25F7AEE-DB8E-44A9-BAC3-A95482FD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1145583-5C6D-4315-B3F8-F052FC0D1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We do">
            <a:extLst xmlns:a="http://schemas.openxmlformats.org/drawingml/2006/main">
              <a:ext uri="{FF2B5EF4-FFF2-40B4-BE49-F238E27FC236}">
                <a16:creationId xmlns:a16="http://schemas.microsoft.com/office/drawing/2014/main" id="{F11C1F87-F460-49DF-8B64-4E4C9E18A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We do</a:t>
            </a:r>
          </a:p>
        </p:txBody>
      </p:sp>
      <p:sp>
        <p:nvSpPr>
          <p:cNvPr id="6" name="Challenge the shortcut rules">
            <a:extLst xmlns:a="http://schemas.openxmlformats.org/drawingml/2006/main">
              <a:ext uri="{FF2B5EF4-FFF2-40B4-BE49-F238E27FC236}">
                <a16:creationId xmlns:a16="http://schemas.microsoft.com/office/drawing/2014/main" id="{1CAC0F50-4EE1-41CF-80B2-DAEE6663A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Challenge the shortcut rules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3F703E9C-6B09-4601-96FE-12EB8A93B8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4B6624B4-6BCB-46FC-A876-42DD5BD72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9" name="8 / 15">
            <a:extLst xmlns:a="http://schemas.openxmlformats.org/drawingml/2006/main">
              <a:ext uri="{FF2B5EF4-FFF2-40B4-BE49-F238E27FC236}">
                <a16:creationId xmlns:a16="http://schemas.microsoft.com/office/drawing/2014/main" id="{A8DE14CB-7E27-4885-A00B-231EDC580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8 / 15</a:t>
            </a:r>
          </a:p>
        </p:txBody>
      </p:sp>
      <p:sp>
        <p:nvSpPr>
          <p:cNvPr id="10" name="W3. Repair “one parent always means asexual”.">
            <a:extLst xmlns:a="http://schemas.openxmlformats.org/drawingml/2006/main">
              <a:ext uri="{FF2B5EF4-FFF2-40B4-BE49-F238E27FC236}">
                <a16:creationId xmlns:a16="http://schemas.microsoft.com/office/drawing/2014/main" id="{BA54E9F0-48F0-4B2F-AA64-DAB4ECD76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W3. Repair “one parent always means asexual”.</a:t>
            </a:r>
          </a:p>
        </p:txBody>
      </p:sp>
      <p:sp>
        <p:nvSpPr>
          <p:cNvPr id="11" name="Then repair “all clones always look identical”.">
            <a:extLst xmlns:a="http://schemas.openxmlformats.org/drawingml/2006/main">
              <a:ext uri="{FF2B5EF4-FFF2-40B4-BE49-F238E27FC236}">
                <a16:creationId xmlns:a16="http://schemas.microsoft.com/office/drawing/2014/main" id="{14FFE2FE-169C-4930-9E99-3D43708C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Then repair “all clones always look identical”.</a:t>
            </a:r>
          </a:p>
        </p:txBody>
      </p:sp>
    </p:spTree>
    <p:extLst>
      <p:ext uri="{BB962C8B-B14F-4D97-AF65-F5344CB8AC3E}">
        <p14:creationId xmlns:p14="http://schemas.microsoft.com/office/powerpoint/2010/main" val="122150105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surface">
            <a:extLst xmlns:a="http://schemas.openxmlformats.org/drawingml/2006/main">
              <a:ext uri="{FF2B5EF4-FFF2-40B4-BE49-F238E27FC236}">
                <a16:creationId xmlns:a16="http://schemas.microsoft.com/office/drawing/2014/main" id="{CE166704-834B-43EA-AA22-D4AD00DB2F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0D29F8A3-82FC-4948-A5E0-3B4ABA91B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8C9AF560-DECB-46B4-9EC4-1D0510111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281E7913-DDCA-4283-936E-803D34E41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Hinge">
            <a:extLst xmlns:a="http://schemas.openxmlformats.org/drawingml/2006/main">
              <a:ext uri="{FF2B5EF4-FFF2-40B4-BE49-F238E27FC236}">
                <a16:creationId xmlns:a16="http://schemas.microsoft.com/office/drawing/2014/main" id="{693389D5-2325-42DA-8E59-61EB317ED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Hinge</a:t>
            </a:r>
          </a:p>
        </p:txBody>
      </p:sp>
      <p:sp>
        <p:nvSpPr>
          <p:cNvPr id="6" name="3 min">
            <a:extLst xmlns:a="http://schemas.openxmlformats.org/drawingml/2006/main">
              <a:ext uri="{FF2B5EF4-FFF2-40B4-BE49-F238E27FC236}">
                <a16:creationId xmlns:a16="http://schemas.microsoft.com/office/drawing/2014/main" id="{B568F271-DE6D-4605-951B-A3676E095C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3 min</a:t>
            </a:r>
          </a:p>
        </p:txBody>
      </p:sp>
      <p:sp>
        <p:nvSpPr>
          <p:cNvPr id="7" name="A flower self-fertilises">
            <a:extLst xmlns:a="http://schemas.openxmlformats.org/drawingml/2006/main">
              <a:ext uri="{FF2B5EF4-FFF2-40B4-BE49-F238E27FC236}">
                <a16:creationId xmlns:a16="http://schemas.microsoft.com/office/drawing/2014/main" id="{248BFD18-28D0-4691-9A28-18874BA6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flower self-fertilises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4D3249B9-6EAE-4A91-AA15-A855F2E556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C2C18CE6-4F8C-4105-A999-89198DF13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9 / 15">
            <a:extLst xmlns:a="http://schemas.openxmlformats.org/drawingml/2006/main">
              <a:ext uri="{FF2B5EF4-FFF2-40B4-BE49-F238E27FC236}">
                <a16:creationId xmlns:a16="http://schemas.microsoft.com/office/drawing/2014/main" id="{4660A2CC-DD1F-4D76-B14B-5FC2879E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9 / 15</a:t>
            </a:r>
          </a:p>
        </p:txBody>
      </p:sp>
      <p:sp>
        <p:nvSpPr>
          <p:cNvPr id="11" name="Its male and female gametes fuse. Which route is this?">
            <a:extLst xmlns:a="http://schemas.openxmlformats.org/drawingml/2006/main">
              <a:ext uri="{FF2B5EF4-FFF2-40B4-BE49-F238E27FC236}">
                <a16:creationId xmlns:a16="http://schemas.microsoft.com/office/drawing/2014/main" id="{4269B247-44FF-481E-A0CE-88F94391F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866900"/>
            <a:ext cx="11125200" cy="4857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7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Its male and female gametes fuse. Which route is this?</a:t>
            </a:r>
          </a:p>
        </p:txBody>
      </p:sp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54925A06-B6AE-417D-B176-38AF168E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3C154B8C-9112-471C-9FD4-CA2F47506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3526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4" name="A">
            <a:extLst xmlns:a="http://schemas.openxmlformats.org/drawingml/2006/main">
              <a:ext uri="{FF2B5EF4-FFF2-40B4-BE49-F238E27FC236}">
                <a16:creationId xmlns:a16="http://schemas.microsoft.com/office/drawing/2014/main" id="{C6D67A86-F3D7-4589-A18E-57BA7DE10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4955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A</a:t>
            </a:r>
          </a:p>
        </p:txBody>
      </p:sp>
      <p:sp>
        <p:nvSpPr>
          <p:cNvPr id="15" name="Sexual reproduction.">
            <a:extLst xmlns:a="http://schemas.openxmlformats.org/drawingml/2006/main">
              <a:ext uri="{FF2B5EF4-FFF2-40B4-BE49-F238E27FC236}">
                <a16:creationId xmlns:a16="http://schemas.microsoft.com/office/drawing/2014/main" id="{848CD327-5B10-4D27-BE27-DD313FF5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24955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Sexual reproduction.</a:t>
            </a:r>
          </a:p>
        </p:txBody>
      </p:sp>
      <p:sp>
        <p:nvSpPr>
          <p:cNvPr id="16" name="surface">
            <a:extLst xmlns:a="http://schemas.openxmlformats.org/drawingml/2006/main">
              <a:ext uri="{FF2B5EF4-FFF2-40B4-BE49-F238E27FC236}">
                <a16:creationId xmlns:a16="http://schemas.microsoft.com/office/drawing/2014/main" id="{7C35DDA8-0E2C-41C3-BBF6-13CADA623C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17" name="surface">
            <a:extLst xmlns:a="http://schemas.openxmlformats.org/drawingml/2006/main">
              <a:ext uri="{FF2B5EF4-FFF2-40B4-BE49-F238E27FC236}">
                <a16:creationId xmlns:a16="http://schemas.microsoft.com/office/drawing/2014/main" id="{4297EFA7-FB52-48C0-BC1A-96CEC0CB3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5337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18" name="B">
            <a:extLst xmlns:a="http://schemas.openxmlformats.org/drawingml/2006/main">
              <a:ext uri="{FF2B5EF4-FFF2-40B4-BE49-F238E27FC236}">
                <a16:creationId xmlns:a16="http://schemas.microsoft.com/office/drawing/2014/main" id="{58223BEB-FAAB-44E9-9BDE-C42D934EE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36766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B</a:t>
            </a:r>
          </a:p>
        </p:txBody>
      </p:sp>
      <p:sp>
        <p:nvSpPr>
          <p:cNvPr id="19" name="Asexual because only one parent plant is visible.">
            <a:extLst xmlns:a="http://schemas.openxmlformats.org/drawingml/2006/main">
              <a:ext uri="{FF2B5EF4-FFF2-40B4-BE49-F238E27FC236}">
                <a16:creationId xmlns:a16="http://schemas.microsoft.com/office/drawing/2014/main" id="{E276C1AE-6B2C-4E41-AF17-5C4C435448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36766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Asexual because only one parent plant is visible.</a:t>
            </a:r>
          </a:p>
        </p:txBody>
      </p:sp>
      <p:sp>
        <p:nvSpPr>
          <p:cNvPr id="20" name="surface">
            <a:extLst xmlns:a="http://schemas.openxmlformats.org/drawingml/2006/main">
              <a:ext uri="{FF2B5EF4-FFF2-40B4-BE49-F238E27FC236}">
                <a16:creationId xmlns:a16="http://schemas.microsoft.com/office/drawing/2014/main" id="{186794C1-E2C7-4E80-A28F-1F376F214D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1112520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4EDF2"/>
          </a:solidFill>
          <a:ln xmlns:a="http://schemas.openxmlformats.org/drawingml/2006/main" w="0">
            <a:noFill/>
          </a:ln>
        </p:spPr>
      </p:sp>
      <p:sp>
        <p:nvSpPr>
          <p:cNvPr id="21" name="surface">
            <a:extLst xmlns:a="http://schemas.openxmlformats.org/drawingml/2006/main">
              <a:ext uri="{FF2B5EF4-FFF2-40B4-BE49-F238E27FC236}">
                <a16:creationId xmlns:a16="http://schemas.microsoft.com/office/drawing/2014/main" id="{AFE71376-1D62-4CA7-BBE3-97D668338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714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D82A0"/>
          </a:solidFill>
          <a:ln xmlns:a="http://schemas.openxmlformats.org/drawingml/2006/main" w="0">
            <a:noFill/>
          </a:ln>
        </p:spPr>
      </p:sp>
      <p:sp>
        <p:nvSpPr>
          <p:cNvPr id="22" name="C">
            <a:extLst xmlns:a="http://schemas.openxmlformats.org/drawingml/2006/main">
              <a:ext uri="{FF2B5EF4-FFF2-40B4-BE49-F238E27FC236}">
                <a16:creationId xmlns:a16="http://schemas.microsoft.com/office/drawing/2014/main" id="{8A4EEC6D-9F8D-4E64-9B54-4EA4C7EA52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47625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defRPr>
            </a:pPr>
            <a:r>
              <a:rPr sz="2250" b="1">
                <a:solidFill>
                  <a:srgbClr val="4D82A0"/>
                </a:solidFill>
                <a:latin typeface="Nimbus Sans"/>
                <a:ea typeface="Nimbus Sans"/>
                <a:cs typeface="Nimbus Sans"/>
              </a:rPr>
              <a:t>C</a:t>
            </a:r>
          </a:p>
        </p:txBody>
      </p:sp>
      <p:sp>
        <p:nvSpPr>
          <p:cNvPr id="23" name="No reproduction, only taller growth.">
            <a:extLst xmlns:a="http://schemas.openxmlformats.org/drawingml/2006/main">
              <a:ext uri="{FF2B5EF4-FFF2-40B4-BE49-F238E27FC236}">
                <a16:creationId xmlns:a16="http://schemas.microsoft.com/office/drawing/2014/main" id="{32900553-2D84-4E98-AD7A-1AFBE1149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857750"/>
            <a:ext cx="10144125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100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No reproduction, only taller growth.</a:t>
            </a:r>
          </a:p>
        </p:txBody>
      </p:sp>
    </p:spTree>
    <p:extLst>
      <p:ext uri="{BB962C8B-B14F-4D97-AF65-F5344CB8AC3E}">
        <p14:creationId xmlns:p14="http://schemas.microsoft.com/office/powerpoint/2010/main" val="697485099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3A99B0E6-77DD-40F2-B225-173A2261D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3630A306-24EB-4AB7-8729-AACC602CA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83949F7-3493-4172-B574-281F6DE6D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A63D848A-3DAB-40CF-99C7-060D34041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0D47FB8B-DC6F-4473-9D70-AE2B50446B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10 min">
            <a:extLst xmlns:a="http://schemas.openxmlformats.org/drawingml/2006/main">
              <a:ext uri="{FF2B5EF4-FFF2-40B4-BE49-F238E27FC236}">
                <a16:creationId xmlns:a16="http://schemas.microsoft.com/office/drawing/2014/main" id="{848B8B00-1CC0-42A3-94BD-5565B1BDF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10 min</a:t>
            </a:r>
          </a:p>
        </p:txBody>
      </p:sp>
      <p:sp>
        <p:nvSpPr>
          <p:cNvPr id="7" name="Your independent investigation">
            <a:extLst xmlns:a="http://schemas.openxmlformats.org/drawingml/2006/main">
              <a:ext uri="{FF2B5EF4-FFF2-40B4-BE49-F238E27FC236}">
                <a16:creationId xmlns:a16="http://schemas.microsoft.com/office/drawing/2014/main" id="{61F6B96F-3DE6-46B8-9D78-D867409A38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Your independent investigation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3666568-4505-4AB9-A2EB-D55CD08CC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C889140E-D154-4736-A642-3E2F96CAD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10 / 15">
            <a:extLst xmlns:a="http://schemas.openxmlformats.org/drawingml/2006/main">
              <a:ext uri="{FF2B5EF4-FFF2-40B4-BE49-F238E27FC236}">
                <a16:creationId xmlns:a16="http://schemas.microsoft.com/office/drawing/2014/main" id="{3DB403F7-A6DF-47DB-9CF8-8794A374F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10 / 15</a:t>
            </a:r>
          </a:p>
        </p:txBody>
      </p:sp>
      <p:sp>
        <p:nvSpPr>
          <p:cNvPr id="11" name="Choose one route.">
            <a:extLst xmlns:a="http://schemas.openxmlformats.org/drawingml/2006/main">
              <a:ext uri="{FF2B5EF4-FFF2-40B4-BE49-F238E27FC236}">
                <a16:creationId xmlns:a16="http://schemas.microsoft.com/office/drawing/2014/main" id="{EC3B4403-F051-4F2A-83F0-14751F4BD1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one route.</a:t>
            </a:r>
          </a:p>
        </p:txBody>
      </p:sp>
      <p:sp>
        <p:nvSpPr>
          <p:cNvPr id="12" name="Use the stated process to classify each case.">
            <a:extLst xmlns:a="http://schemas.openxmlformats.org/drawingml/2006/main">
              <a:ext uri="{FF2B5EF4-FFF2-40B4-BE49-F238E27FC236}">
                <a16:creationId xmlns:a16="http://schemas.microsoft.com/office/drawing/2014/main" id="{5EA5BE06-91D2-49FB-BE3E-076D3702A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stated process to classify each case.</a:t>
            </a:r>
          </a:p>
        </p:txBody>
      </p:sp>
      <p:sp>
        <p:nvSpPr>
          <p:cNvPr id="13" name="Explain a nursery decision and its limits.">
            <a:extLst xmlns:a="http://schemas.openxmlformats.org/drawingml/2006/main">
              <a:ext uri="{FF2B5EF4-FFF2-40B4-BE49-F238E27FC236}">
                <a16:creationId xmlns:a16="http://schemas.microsoft.com/office/drawing/2014/main" id="{1DF6FBC4-FE3E-412A-882A-7576D2CA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Explain a nursery decision and its limits.</a:t>
            </a:r>
          </a:p>
        </p:txBody>
      </p:sp>
    </p:spTree>
    <p:extLst>
      <p:ext uri="{BB962C8B-B14F-4D97-AF65-F5344CB8AC3E}">
        <p14:creationId xmlns:p14="http://schemas.microsoft.com/office/powerpoint/2010/main" val="10060896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AB6E994B-437E-4D19-86E6-539689F37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854D4A56-44C0-4C83-B281-EBC78A1118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CFF4D46A-DBC0-4709-A11C-BCB90CD05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D7C236EE-3C53-41B0-9B0F-5DD0797D4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06821AEA-AE6C-4D60-8B27-79BC61E21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Use the evidence">
            <a:extLst xmlns:a="http://schemas.openxmlformats.org/drawingml/2006/main">
              <a:ext uri="{FF2B5EF4-FFF2-40B4-BE49-F238E27FC236}">
                <a16:creationId xmlns:a16="http://schemas.microsoft.com/office/drawing/2014/main" id="{2E30B639-C02E-465B-8EAD-682F39675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Use the evidence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CD3CFEC9-E110-4158-86B6-01870B562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021E11A6-5E4A-4AEB-821C-225202C6A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9" name="11 / 15">
            <a:extLst xmlns:a="http://schemas.openxmlformats.org/drawingml/2006/main">
              <a:ext uri="{FF2B5EF4-FFF2-40B4-BE49-F238E27FC236}">
                <a16:creationId xmlns:a16="http://schemas.microsoft.com/office/drawing/2014/main" id="{DF25CCEA-6D45-4C1C-A2C9-33976D564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11 / 15</a:t>
            </a:r>
          </a:p>
        </p:txBody>
      </p:sp>
      <p:sp>
        <p:nvSpPr>
          <p:cNvPr id="10" name="Underline “gametes fuse” or “no fusion”.">
            <a:extLst xmlns:a="http://schemas.openxmlformats.org/drawingml/2006/main">
              <a:ext uri="{FF2B5EF4-FFF2-40B4-BE49-F238E27FC236}">
                <a16:creationId xmlns:a16="http://schemas.microsoft.com/office/drawing/2014/main" id="{F926AB19-94A6-4BD0-8F6F-E87749120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Underline “gametes fuse” or “no fusion”.</a:t>
            </a:r>
          </a:p>
        </p:txBody>
      </p:sp>
      <p:sp>
        <p:nvSpPr>
          <p:cNvPr id="11" name="Name runner or cutting when relevant.">
            <a:extLst xmlns:a="http://schemas.openxmlformats.org/drawingml/2006/main">
              <a:ext uri="{FF2B5EF4-FFF2-40B4-BE49-F238E27FC236}">
                <a16:creationId xmlns:a16="http://schemas.microsoft.com/office/drawing/2014/main" id="{8ED3F7F3-F823-43A8-85D9-111349326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Name runner or cutting when relevant.</a:t>
            </a:r>
          </a:p>
        </p:txBody>
      </p:sp>
      <p:sp>
        <p:nvSpPr>
          <p:cNvPr id="12" name="Separate genes from growth conditions.">
            <a:extLst xmlns:a="http://schemas.openxmlformats.org/drawingml/2006/main">
              <a:ext uri="{FF2B5EF4-FFF2-40B4-BE49-F238E27FC236}">
                <a16:creationId xmlns:a16="http://schemas.microsoft.com/office/drawing/2014/main" id="{7A6316C7-2D10-4AA9-B6AC-90A1B7789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Separate genes from growth conditions.</a:t>
            </a:r>
          </a:p>
        </p:txBody>
      </p:sp>
    </p:spTree>
    <p:extLst>
      <p:ext uri="{BB962C8B-B14F-4D97-AF65-F5344CB8AC3E}">
        <p14:creationId xmlns:p14="http://schemas.microsoft.com/office/powerpoint/2010/main" val="169596097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surface">
            <a:extLst xmlns:a="http://schemas.openxmlformats.org/drawingml/2006/main">
              <a:ext uri="{FF2B5EF4-FFF2-40B4-BE49-F238E27FC236}">
                <a16:creationId xmlns:a16="http://schemas.microsoft.com/office/drawing/2014/main" id="{1467B4B7-77C8-45ED-8C9E-561E9C7F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6CA391C-C95F-459D-976B-7E668B64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1D9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ABC84660-F601-49D9-B874-2A51304DF9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A63B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0E1B8348-8DCA-4735-BE07-5F6418FC2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You do">
            <a:extLst xmlns:a="http://schemas.openxmlformats.org/drawingml/2006/main">
              <a:ext uri="{FF2B5EF4-FFF2-40B4-BE49-F238E27FC236}">
                <a16:creationId xmlns:a16="http://schemas.microsoft.com/office/drawing/2014/main" id="{2F98FA60-BBCA-40B7-AA10-88D00A77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D8A63B"/>
                </a:solidFill>
                <a:latin typeface="Nimbus Sans"/>
                <a:ea typeface="Nimbus Sans"/>
                <a:cs typeface="Nimbus Sans"/>
              </a:rPr>
              <a:t>You do</a:t>
            </a:r>
          </a:p>
        </p:txBody>
      </p:sp>
      <p:sp>
        <p:nvSpPr>
          <p:cNvPr id="6" name="Check before sharing">
            <a:extLst xmlns:a="http://schemas.openxmlformats.org/drawingml/2006/main">
              <a:ext uri="{FF2B5EF4-FFF2-40B4-BE49-F238E27FC236}">
                <a16:creationId xmlns:a16="http://schemas.microsoft.com/office/drawing/2014/main" id="{1EEE2AA4-0BE2-40AD-9268-20C8F8F8F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before sharing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764B3E4E-6CD4-4B65-B372-5C57B9008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11D678D7-04B7-4562-ABA5-EAA635CDC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9" name="12 / 15">
            <a:extLst xmlns:a="http://schemas.openxmlformats.org/drawingml/2006/main">
              <a:ext uri="{FF2B5EF4-FFF2-40B4-BE49-F238E27FC236}">
                <a16:creationId xmlns:a16="http://schemas.microsoft.com/office/drawing/2014/main" id="{D3C8976B-C87A-46B3-A2A3-E7A0D3703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12 / 15</a:t>
            </a:r>
          </a:p>
        </p:txBody>
      </p:sp>
      <p:sp>
        <p:nvSpPr>
          <p:cNvPr id="10" name="Does my explanation answer the question?">
            <a:extLst xmlns:a="http://schemas.openxmlformats.org/drawingml/2006/main">
              <a:ext uri="{FF2B5EF4-FFF2-40B4-BE49-F238E27FC236}">
                <a16:creationId xmlns:a16="http://schemas.microsoft.com/office/drawing/2014/main" id="{18D4C457-A5C3-4557-BF39-3B1EBFC0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Does my explanation answer the question?</a:t>
            </a:r>
          </a:p>
        </p:txBody>
      </p:sp>
      <p:sp>
        <p:nvSpPr>
          <p:cNvPr id="11" name="Have I named the evidence or process?">
            <a:extLst xmlns:a="http://schemas.openxmlformats.org/drawingml/2006/main">
              <a:ext uri="{FF2B5EF4-FFF2-40B4-BE49-F238E27FC236}">
                <a16:creationId xmlns:a16="http://schemas.microsoft.com/office/drawing/2014/main" id="{EE5E01BC-7C66-479B-AC9E-347ADF287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named the evidence or process?</a:t>
            </a:r>
          </a:p>
        </p:txBody>
      </p:sp>
      <p:sp>
        <p:nvSpPr>
          <p:cNvPr id="12" name="Have I kept the conclusion within its limits?">
            <a:extLst xmlns:a="http://schemas.openxmlformats.org/drawingml/2006/main">
              <a:ext uri="{FF2B5EF4-FFF2-40B4-BE49-F238E27FC236}">
                <a16:creationId xmlns:a16="http://schemas.microsoft.com/office/drawing/2014/main" id="{7BCDDF87-333E-49B6-8929-58AE8A30D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Have I kept the conclusion within its limits?</a:t>
            </a:r>
          </a:p>
        </p:txBody>
      </p:sp>
    </p:spTree>
    <p:extLst>
      <p:ext uri="{BB962C8B-B14F-4D97-AF65-F5344CB8AC3E}">
        <p14:creationId xmlns:p14="http://schemas.microsoft.com/office/powerpoint/2010/main" val="147847632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D9E0620A-B7E6-4A95-98BA-146513B2A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CC863833-C074-45E0-8B7C-F528963792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0381D0A0-BBF0-4387-96A3-52DC70746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C92AE4A4-5BE7-4F8E-8DEA-C1E03CB22F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B8766E95-6121-4E7C-AA99-08B291AEF8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4 min">
            <a:extLst xmlns:a="http://schemas.openxmlformats.org/drawingml/2006/main">
              <a:ext uri="{FF2B5EF4-FFF2-40B4-BE49-F238E27FC236}">
                <a16:creationId xmlns:a16="http://schemas.microsoft.com/office/drawing/2014/main" id="{450EF92A-8805-497F-8193-E71CCF1E3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4 min</a:t>
            </a:r>
          </a:p>
        </p:txBody>
      </p:sp>
      <p:sp>
        <p:nvSpPr>
          <p:cNvPr id="7" name="Compare and improve">
            <a:extLst xmlns:a="http://schemas.openxmlformats.org/drawingml/2006/main">
              <a:ext uri="{FF2B5EF4-FFF2-40B4-BE49-F238E27FC236}">
                <a16:creationId xmlns:a16="http://schemas.microsoft.com/office/drawing/2014/main" id="{D2BFEDA0-8826-435F-BFE9-B257EA7A3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Compare and improve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7E864C4C-A33D-4DE6-8CA0-0EA7E9CBB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818B6A3F-435D-4C2A-A02E-B7CC0FE23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13 / 15">
            <a:extLst xmlns:a="http://schemas.openxmlformats.org/drawingml/2006/main">
              <a:ext uri="{FF2B5EF4-FFF2-40B4-BE49-F238E27FC236}">
                <a16:creationId xmlns:a16="http://schemas.microsoft.com/office/drawing/2014/main" id="{15635800-EAAC-44D9-8D8A-B1F687612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13 / 15</a:t>
            </a:r>
          </a:p>
        </p:txBody>
      </p:sp>
      <p:sp>
        <p:nvSpPr>
          <p:cNvPr id="11" name="Share one classification and reason.">
            <a:extLst xmlns:a="http://schemas.openxmlformats.org/drawingml/2006/main">
              <a:ext uri="{FF2B5EF4-FFF2-40B4-BE49-F238E27FC236}">
                <a16:creationId xmlns:a16="http://schemas.microsoft.com/office/drawing/2014/main" id="{3129A6F6-9839-4757-8BDC-E761FD5E98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Share one classification and reason.</a:t>
            </a:r>
          </a:p>
        </p:txBody>
      </p:sp>
      <p:sp>
        <p:nvSpPr>
          <p:cNvPr id="12" name="Check a broad rule against the case cards.">
            <a:extLst xmlns:a="http://schemas.openxmlformats.org/drawingml/2006/main">
              <a:ext uri="{FF2B5EF4-FFF2-40B4-BE49-F238E27FC236}">
                <a16:creationId xmlns:a16="http://schemas.microsoft.com/office/drawing/2014/main" id="{7F011DC6-C5A3-4A9F-93E1-F298E5C33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Check a broad rule against the case cards.</a:t>
            </a:r>
          </a:p>
        </p:txBody>
      </p:sp>
      <p:sp>
        <p:nvSpPr>
          <p:cNvPr id="13" name="Improve an absolute clone claim.">
            <a:extLst xmlns:a="http://schemas.openxmlformats.org/drawingml/2006/main">
              <a:ext uri="{FF2B5EF4-FFF2-40B4-BE49-F238E27FC236}">
                <a16:creationId xmlns:a16="http://schemas.microsoft.com/office/drawing/2014/main" id="{F5C1680A-F2D8-4277-B216-C270D5086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Improve an absolute clone claim.</a:t>
            </a:r>
          </a:p>
        </p:txBody>
      </p:sp>
    </p:spTree>
    <p:extLst>
      <p:ext uri="{BB962C8B-B14F-4D97-AF65-F5344CB8AC3E}">
        <p14:creationId xmlns:p14="http://schemas.microsoft.com/office/powerpoint/2010/main" val="213194653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surface">
            <a:extLst xmlns:a="http://schemas.openxmlformats.org/drawingml/2006/main">
              <a:ext uri="{FF2B5EF4-FFF2-40B4-BE49-F238E27FC236}">
                <a16:creationId xmlns:a16="http://schemas.microsoft.com/office/drawing/2014/main" id="{C7165ECB-DF9F-4B45-87D0-0FE5FF110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7765E079-0A91-4F40-954A-EDC3A9F52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DEDE3EE4-C2C1-4DB3-9DEF-B39FD773F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6FDF16CE-6C31-4146-AE98-4BE44A286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Review">
            <a:extLst xmlns:a="http://schemas.openxmlformats.org/drawingml/2006/main">
              <a:ext uri="{FF2B5EF4-FFF2-40B4-BE49-F238E27FC236}">
                <a16:creationId xmlns:a16="http://schemas.microsoft.com/office/drawing/2014/main" id="{4731FB56-C8AC-4F7B-B94E-86F5DD441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Review</a:t>
            </a:r>
          </a:p>
        </p:txBody>
      </p:sp>
      <p:sp>
        <p:nvSpPr>
          <p:cNvPr id="6" name="A question worth investigating">
            <a:extLst xmlns:a="http://schemas.openxmlformats.org/drawingml/2006/main">
              <a:ext uri="{FF2B5EF4-FFF2-40B4-BE49-F238E27FC236}">
                <a16:creationId xmlns:a16="http://schemas.microsoft.com/office/drawing/2014/main" id="{8FBEB9F7-E050-4436-9C0D-C85DB8D10F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A question worth investigating</a:t>
            </a:r>
          </a:p>
        </p:txBody>
      </p:sp>
      <p:sp>
        <p:nvSpPr>
          <p:cNvPr id="7" name="surface">
            <a:extLst xmlns:a="http://schemas.openxmlformats.org/drawingml/2006/main">
              <a:ext uri="{FF2B5EF4-FFF2-40B4-BE49-F238E27FC236}">
                <a16:creationId xmlns:a16="http://schemas.microsoft.com/office/drawing/2014/main" id="{6E67CE21-B876-4EDE-9111-3775215CA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8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58CD48D7-DE1F-4FC5-8245-80264DB2E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9" name="14 / 15">
            <a:extLst xmlns:a="http://schemas.openxmlformats.org/drawingml/2006/main">
              <a:ext uri="{FF2B5EF4-FFF2-40B4-BE49-F238E27FC236}">
                <a16:creationId xmlns:a16="http://schemas.microsoft.com/office/drawing/2014/main" id="{3E90E8A0-F04C-4788-A6EB-82D4E1EE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14 / 15</a:t>
            </a:r>
          </a:p>
        </p:txBody>
      </p:sp>
      <p:sp>
        <p:nvSpPr>
          <p:cNvPr id="10" name="Suggest one next question about this lesson’s evidence.">
            <a:extLst xmlns:a="http://schemas.openxmlformats.org/drawingml/2006/main">
              <a:ext uri="{FF2B5EF4-FFF2-40B4-BE49-F238E27FC236}">
                <a16:creationId xmlns:a16="http://schemas.microsoft.com/office/drawing/2014/main" id="{EC324C92-7777-4BF2-B14D-39E221F1A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Suggest one next question about this lesson’s evidence.</a:t>
            </a:r>
          </a:p>
        </p:txBody>
      </p:sp>
      <p:sp>
        <p:nvSpPr>
          <p:cNvPr id="11" name="Choose a question whose answer would improve our model.">
            <a:extLst xmlns:a="http://schemas.openxmlformats.org/drawingml/2006/main">
              <a:ext uri="{FF2B5EF4-FFF2-40B4-BE49-F238E27FC236}">
                <a16:creationId xmlns:a16="http://schemas.microsoft.com/office/drawing/2014/main" id="{52179A95-FBA4-4F97-882C-31BFFBB10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Choose a question whose answer would improve our model.</a:t>
            </a:r>
          </a:p>
        </p:txBody>
      </p:sp>
    </p:spTree>
    <p:extLst>
      <p:ext uri="{BB962C8B-B14F-4D97-AF65-F5344CB8AC3E}">
        <p14:creationId xmlns:p14="http://schemas.microsoft.com/office/powerpoint/2010/main" val="287388621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surface">
            <a:extLst xmlns:a="http://schemas.openxmlformats.org/drawingml/2006/main">
              <a:ext uri="{FF2B5EF4-FFF2-40B4-BE49-F238E27FC236}">
                <a16:creationId xmlns:a16="http://schemas.microsoft.com/office/drawing/2014/main" id="{6C815AC7-A160-4FD0-BCEB-3047A5103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2" name="surface">
            <a:extLst xmlns:a="http://schemas.openxmlformats.org/drawingml/2006/main">
              <a:ext uri="{FF2B5EF4-FFF2-40B4-BE49-F238E27FC236}">
                <a16:creationId xmlns:a16="http://schemas.microsoft.com/office/drawing/2014/main" id="{605C2D82-D726-47CF-B263-D40A80243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11277600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0E6"/>
          </a:solidFill>
          <a:ln xmlns:a="http://schemas.openxmlformats.org/drawingml/2006/main" w="0">
            <a:noFill/>
          </a:ln>
        </p:spPr>
      </p:sp>
      <p:sp>
        <p:nvSpPr>
          <p:cNvPr id="3" name="surface">
            <a:extLst xmlns:a="http://schemas.openxmlformats.org/drawingml/2006/main">
              <a:ext uri="{FF2B5EF4-FFF2-40B4-BE49-F238E27FC236}">
                <a16:creationId xmlns:a16="http://schemas.microsoft.com/office/drawing/2014/main" id="{26CC25E7-2752-4702-A33A-22F4AACBA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00050"/>
            <a:ext cx="66675" cy="4857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F7D6E"/>
          </a:solidFill>
          <a:ln xmlns:a="http://schemas.openxmlformats.org/drawingml/2006/main" w="0">
            <a:noFill/>
          </a:ln>
        </p:spPr>
      </p:sp>
      <p:sp>
        <p:nvSpPr>
          <p:cNvPr id="4" name="GROW SCIENCE">
            <a:extLst xmlns:a="http://schemas.openxmlformats.org/drawingml/2006/main">
              <a:ext uri="{FF2B5EF4-FFF2-40B4-BE49-F238E27FC236}">
                <a16:creationId xmlns:a16="http://schemas.microsoft.com/office/drawing/2014/main" id="{E194678C-AA73-4A31-AFDE-512EAC59B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GROW SCIENCE</a:t>
            </a:r>
          </a:p>
        </p:txBody>
      </p:sp>
      <p:sp>
        <p:nvSpPr>
          <p:cNvPr id="5" name="Exit">
            <a:extLst xmlns:a="http://schemas.openxmlformats.org/drawingml/2006/main">
              <a:ext uri="{FF2B5EF4-FFF2-40B4-BE49-F238E27FC236}">
                <a16:creationId xmlns:a16="http://schemas.microsoft.com/office/drawing/2014/main" id="{5A057191-27F6-45E5-B47E-15C219723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4825"/>
            <a:ext cx="37528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defRPr>
            </a:pPr>
            <a:r>
              <a:rPr sz="1800" b="1">
                <a:solidFill>
                  <a:srgbClr val="3F7D6E"/>
                </a:solidFill>
                <a:latin typeface="Nimbus Sans"/>
                <a:ea typeface="Nimbus Sans"/>
                <a:cs typeface="Nimbus Sans"/>
              </a:rPr>
              <a:t>Exit</a:t>
            </a:r>
          </a:p>
        </p:txBody>
      </p:sp>
      <p:sp>
        <p:nvSpPr>
          <p:cNvPr id="6" name="2 min">
            <a:extLst xmlns:a="http://schemas.openxmlformats.org/drawingml/2006/main">
              <a:ext uri="{FF2B5EF4-FFF2-40B4-BE49-F238E27FC236}">
                <a16:creationId xmlns:a16="http://schemas.microsoft.com/office/drawing/2014/main" id="{48908366-A60E-4351-862D-28FAE1AB2D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9825" y="504825"/>
            <a:ext cx="14573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defRPr>
            </a:pPr>
            <a:r>
              <a:rPr sz="1725" b="0">
                <a:solidFill>
                  <a:srgbClr val="465465"/>
                </a:solidFill>
                <a:latin typeface="Nimbus Sans"/>
                <a:ea typeface="Nimbus Sans"/>
                <a:cs typeface="Nimbus Sans"/>
              </a:rPr>
              <a:t>2 min</a:t>
            </a:r>
          </a:p>
        </p:txBody>
      </p:sp>
      <p:sp>
        <p:nvSpPr>
          <p:cNvPr id="7" name="Show the science you can explain">
            <a:extLst xmlns:a="http://schemas.openxmlformats.org/drawingml/2006/main">
              <a:ext uri="{FF2B5EF4-FFF2-40B4-BE49-F238E27FC236}">
                <a16:creationId xmlns:a16="http://schemas.microsoft.com/office/drawing/2014/main" id="{4DAA6A32-AB00-466E-A6BD-2F3D2A350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066800"/>
            <a:ext cx="111252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3000" b="1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Show the science you can explain</a:t>
            </a:r>
          </a:p>
        </p:txBody>
      </p:sp>
      <p:sp>
        <p:nvSpPr>
          <p:cNvPr id="8" name="surface">
            <a:extLst xmlns:a="http://schemas.openxmlformats.org/drawingml/2006/main">
              <a:ext uri="{FF2B5EF4-FFF2-40B4-BE49-F238E27FC236}">
                <a16:creationId xmlns:a16="http://schemas.microsoft.com/office/drawing/2014/main" id="{E2661D2F-BB50-49B1-951C-50180B383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496050"/>
            <a:ext cx="112776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DE2"/>
          </a:solidFill>
          <a:ln xmlns:a="http://schemas.openxmlformats.org/drawingml/2006/main" w="0">
            <a:noFill/>
          </a:ln>
        </p:spPr>
      </p:sp>
      <p:sp>
        <p:nvSpPr>
          <p:cNvPr id="9" name="The plant reproduction strategy studio">
            <a:extLst xmlns:a="http://schemas.openxmlformats.org/drawingml/2006/main">
              <a:ext uri="{FF2B5EF4-FFF2-40B4-BE49-F238E27FC236}">
                <a16:creationId xmlns:a16="http://schemas.microsoft.com/office/drawing/2014/main" id="{1C26C8D0-AE03-46BF-B1D9-72D0B3C6D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00825"/>
            <a:ext cx="105727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The plant reproduction strategy studio</a:t>
            </a:r>
          </a:p>
        </p:txBody>
      </p:sp>
      <p:sp>
        <p:nvSpPr>
          <p:cNvPr id="10" name="15 / 15">
            <a:extLst xmlns:a="http://schemas.openxmlformats.org/drawingml/2006/main">
              <a:ext uri="{FF2B5EF4-FFF2-40B4-BE49-F238E27FC236}">
                <a16:creationId xmlns:a16="http://schemas.microsoft.com/office/drawing/2014/main" id="{6B9C3A48-DA0D-47B7-B900-609F9CBB0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53750" y="6600825"/>
            <a:ext cx="685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lnSpc>
                <a:spcPct val="108000"/>
              </a:lnSpc>
              <a:buNone/>
              <a:def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defRPr>
            </a:pPr>
            <a:r>
              <a:rPr sz="1125" b="0">
                <a:solidFill>
                  <a:srgbClr val="64748B"/>
                </a:solidFill>
                <a:latin typeface="Nimbus Sans"/>
                <a:ea typeface="Nimbus Sans"/>
                <a:cs typeface="Nimbus Sans"/>
              </a:rPr>
              <a:t>15 / 15</a:t>
            </a:r>
          </a:p>
        </p:txBody>
      </p:sp>
      <p:sp>
        <p:nvSpPr>
          <p:cNvPr id="11" name="E1. What distinguishes sexual reproduction?">
            <a:extLst xmlns:a="http://schemas.openxmlformats.org/drawingml/2006/main">
              <a:ext uri="{FF2B5EF4-FFF2-40B4-BE49-F238E27FC236}">
                <a16:creationId xmlns:a16="http://schemas.microsoft.com/office/drawing/2014/main" id="{5505997F-6EB9-408C-8F8C-83931896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28825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E1. What distinguishes sexual reproduction?</a:t>
            </a:r>
          </a:p>
        </p:txBody>
      </p:sp>
      <p:sp>
        <p:nvSpPr>
          <p:cNvPr id="12" name="E2. Give one asexual plant method.">
            <a:extLst xmlns:a="http://schemas.openxmlformats.org/drawingml/2006/main">
              <a:ext uri="{FF2B5EF4-FFF2-40B4-BE49-F238E27FC236}">
                <a16:creationId xmlns:a16="http://schemas.microsoft.com/office/drawing/2014/main" id="{C6A67A99-5B22-4EA1-85D7-851C5945CB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82228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E2. Give one asexual plant method.</a:t>
            </a:r>
          </a:p>
        </p:txBody>
      </p:sp>
      <p:sp>
        <p:nvSpPr>
          <p:cNvPr id="13" name="E3. Can self-fertilisation be sexual? Explain.">
            <a:extLst xmlns:a="http://schemas.openxmlformats.org/drawingml/2006/main">
              <a:ext uri="{FF2B5EF4-FFF2-40B4-BE49-F238E27FC236}">
                <a16:creationId xmlns:a16="http://schemas.microsoft.com/office/drawing/2014/main" id="{9FE2B0B5-4C2C-43FF-A555-49E79E30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35630"/>
            <a:ext cx="10668000" cy="36290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wrap="non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defRPr>
            </a:pPr>
            <a:r>
              <a:rPr sz="2325" b="0">
                <a:solidFill>
                  <a:srgbClr val="1F2937"/>
                </a:solidFill>
                <a:latin typeface="Nimbus Sans"/>
                <a:ea typeface="Nimbus Sans"/>
                <a:cs typeface="Nimbus Sans"/>
              </a:rPr>
              <a:t>E3. Can self-fertilisation be sexual? Explain.</a:t>
            </a:r>
          </a:p>
        </p:txBody>
      </p:sp>
    </p:spTree>
    <p:extLst>
      <p:ext uri="{BB962C8B-B14F-4D97-AF65-F5344CB8AC3E}">
        <p14:creationId xmlns:p14="http://schemas.microsoft.com/office/powerpoint/2010/main" val="83939397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2026-09-08T23:59:37.5210000Z</dcterms:created>
  <dcterms:modified xsi:type="dcterms:W3CDTF">2026-09-08T23:59:37.5210000Z</dcterms:modified>
</coreProperties>
</file>