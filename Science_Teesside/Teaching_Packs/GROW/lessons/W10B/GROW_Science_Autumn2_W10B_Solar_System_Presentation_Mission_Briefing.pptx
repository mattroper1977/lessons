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79fcb2f49f4be7" /><Relationship Type="http://schemas.openxmlformats.org/officeDocument/2006/relationships/extended-properties" Target="/docProps/app.xml" Id="Rafab3a4369ce49ce" /><Relationship Type="http://schemas.openxmlformats.org/officeDocument/2006/relationships/officeDocument" Target="/ppt/presentation.xml" Id="R350d2bb6bbe546b0" /></Relationships>
</file>

<file path=ppt/presentation.xml><?xml version="1.0" encoding="utf-8"?>
<p:presentation xmlns:p="http://schemas.openxmlformats.org/presentationml/2006/main">
  <p:sldMasterIdLst>
    <p:sldMasterId xmlns:r="http://schemas.openxmlformats.org/officeDocument/2006/relationships" id="2147483648" r:id="Ra3b2a76c555147fe"/>
  </p:sldMasterIdLst>
  <p:notesMasterIdLst>
    <p:notesMasterId xmlns:r="http://schemas.openxmlformats.org/officeDocument/2006/relationships" r:id="R4c22604110474dea"/>
  </p:notesMasterIdLst>
  <p:sldIdLst>
    <p:sldId xmlns:r="http://schemas.openxmlformats.org/officeDocument/2006/relationships" id="256" r:id="Rbef9f5079d7b40da"/>
    <p:sldId xmlns:r="http://schemas.openxmlformats.org/officeDocument/2006/relationships" id="257" r:id="R78b80bfab3e64709"/>
    <p:sldId xmlns:r="http://schemas.openxmlformats.org/officeDocument/2006/relationships" id="258" r:id="Re8c4b47823e540ac"/>
    <p:sldId xmlns:r="http://schemas.openxmlformats.org/officeDocument/2006/relationships" id="259" r:id="Ra49217e3a38440bb"/>
    <p:sldId xmlns:r="http://schemas.openxmlformats.org/officeDocument/2006/relationships" id="260" r:id="R41df5d6f5f294520"/>
    <p:sldId xmlns:r="http://schemas.openxmlformats.org/officeDocument/2006/relationships" id="261" r:id="Rab4cf1893086467b"/>
    <p:sldId xmlns:r="http://schemas.openxmlformats.org/officeDocument/2006/relationships" id="262" r:id="R236bfbafae0a4da8"/>
    <p:sldId xmlns:r="http://schemas.openxmlformats.org/officeDocument/2006/relationships" id="263" r:id="Rebef896c0c2e4489"/>
    <p:sldId xmlns:r="http://schemas.openxmlformats.org/officeDocument/2006/relationships" id="264" r:id="R17221dd8f1b74d7d"/>
    <p:sldId xmlns:r="http://schemas.openxmlformats.org/officeDocument/2006/relationships" id="265" r:id="Rf9eefea29cb44fe6"/>
    <p:sldId xmlns:r="http://schemas.openxmlformats.org/officeDocument/2006/relationships" id="266" r:id="R4062bf0212684a31"/>
    <p:sldId xmlns:r="http://schemas.openxmlformats.org/officeDocument/2006/relationships" id="267" r:id="R89879cd455874c98"/>
    <p:sldId xmlns:r="http://schemas.openxmlformats.org/officeDocument/2006/relationships" id="268" r:id="R91af279f95134350"/>
    <p:sldId xmlns:r="http://schemas.openxmlformats.org/officeDocument/2006/relationships" id="269" r:id="R840d6deff17d4cce"/>
    <p:sldId xmlns:r="http://schemas.openxmlformats.org/officeDocument/2006/relationships" id="270" r:id="R77af5dfb5fdf4943"/>
    <p:sldId xmlns:r="http://schemas.openxmlformats.org/officeDocument/2006/relationships" id="271" r:id="Re3f4cb96ab814b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1b7abd06704cd7" /><Relationship Type="http://schemas.openxmlformats.org/officeDocument/2006/relationships/slideMaster" Target="/ppt/slideMasters/slideMaster1.xml" Id="Ra3b2a76c555147fe" /><Relationship Type="http://schemas.openxmlformats.org/officeDocument/2006/relationships/notesMaster" Target="/ppt/notesMasters/notesMaster1.xml" Id="R4c22604110474dea" /><Relationship Type="http://schemas.openxmlformats.org/officeDocument/2006/relationships/presProps" Target="/ppt/presProps.xml" Id="R86cabf2f2d7041fe" /><Relationship Type="http://schemas.openxmlformats.org/officeDocument/2006/relationships/tableStyles" Target="/ppt/tableStyles.xml" Id="R1ccd8c66a27c4fa6" /><Relationship Type="http://schemas.openxmlformats.org/officeDocument/2006/relationships/slide" Target="/ppt/slides/slide1.xml" Id="Rbef9f5079d7b40da" /><Relationship Type="http://schemas.openxmlformats.org/officeDocument/2006/relationships/slide" Target="/ppt/slides/slide2.xml" Id="R78b80bfab3e64709" /><Relationship Type="http://schemas.openxmlformats.org/officeDocument/2006/relationships/slide" Target="/ppt/slides/slide3.xml" Id="Re8c4b47823e540ac" /><Relationship Type="http://schemas.openxmlformats.org/officeDocument/2006/relationships/slide" Target="/ppt/slides/slide4.xml" Id="Ra49217e3a38440bb" /><Relationship Type="http://schemas.openxmlformats.org/officeDocument/2006/relationships/slide" Target="/ppt/slides/slide5.xml" Id="R41df5d6f5f294520" /><Relationship Type="http://schemas.openxmlformats.org/officeDocument/2006/relationships/slide" Target="/ppt/slides/slide6.xml" Id="Rab4cf1893086467b" /><Relationship Type="http://schemas.openxmlformats.org/officeDocument/2006/relationships/slide" Target="/ppt/slides/slide7.xml" Id="R236bfbafae0a4da8" /><Relationship Type="http://schemas.openxmlformats.org/officeDocument/2006/relationships/slide" Target="/ppt/slides/slide8.xml" Id="Rebef896c0c2e4489" /><Relationship Type="http://schemas.openxmlformats.org/officeDocument/2006/relationships/slide" Target="/ppt/slides/slide9.xml" Id="R17221dd8f1b74d7d" /><Relationship Type="http://schemas.openxmlformats.org/officeDocument/2006/relationships/slide" Target="/ppt/slides/slide10.xml" Id="Rf9eefea29cb44fe6" /><Relationship Type="http://schemas.openxmlformats.org/officeDocument/2006/relationships/slide" Target="/ppt/slides/slide11.xml" Id="R4062bf0212684a31" /><Relationship Type="http://schemas.openxmlformats.org/officeDocument/2006/relationships/slide" Target="/ppt/slides/slide12.xml" Id="R89879cd455874c98" /><Relationship Type="http://schemas.openxmlformats.org/officeDocument/2006/relationships/slide" Target="/ppt/slides/slide13.xml" Id="R91af279f95134350" /><Relationship Type="http://schemas.openxmlformats.org/officeDocument/2006/relationships/slide" Target="/ppt/slides/slide14.xml" Id="R840d6deff17d4cce" /><Relationship Type="http://schemas.openxmlformats.org/officeDocument/2006/relationships/slide" Target="/ppt/slides/slide15.xml" Id="R77af5dfb5fdf4943" /><Relationship Type="http://schemas.openxmlformats.org/officeDocument/2006/relationships/slide" Target="/ppt/slides/slide16.xml" Id="Re3f4cb96ab814b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77600350eb43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5109990e19437e" /><Relationship Type="http://schemas.openxmlformats.org/officeDocument/2006/relationships/notesMaster" Target="/ppt/notesMasters/notesMaster1.xml" Id="R30171e254cd14b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8d5b94f1f04034" /><Relationship Type="http://schemas.openxmlformats.org/officeDocument/2006/relationships/notesMaster" Target="/ppt/notesMasters/notesMaster1.xml" Id="Rb875e55e3b2b49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158cc6519f4709" /><Relationship Type="http://schemas.openxmlformats.org/officeDocument/2006/relationships/notesMaster" Target="/ppt/notesMasters/notesMaster1.xml" Id="Rda65bd71bce443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4d4b6c3e834b9c" /><Relationship Type="http://schemas.openxmlformats.org/officeDocument/2006/relationships/notesMaster" Target="/ppt/notesMasters/notesMaster1.xml" Id="R6ba29cc1cb1441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9ae21cf87d4bfc" /><Relationship Type="http://schemas.openxmlformats.org/officeDocument/2006/relationships/notesMaster" Target="/ppt/notesMasters/notesMaster1.xml" Id="R6c021b9ef23b4e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0cbaca3280428a" /><Relationship Type="http://schemas.openxmlformats.org/officeDocument/2006/relationships/notesMaster" Target="/ppt/notesMasters/notesMaster1.xml" Id="R2e6976e1fbe548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d48beac30e4021" /><Relationship Type="http://schemas.openxmlformats.org/officeDocument/2006/relationships/notesMaster" Target="/ppt/notesMasters/notesMaster1.xml" Id="R814b35d6e2084e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12611afcc74e72" /><Relationship Type="http://schemas.openxmlformats.org/officeDocument/2006/relationships/notesMaster" Target="/ppt/notesMasters/notesMaster1.xml" Id="R940098d7bd4444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cd2364fb144656" /><Relationship Type="http://schemas.openxmlformats.org/officeDocument/2006/relationships/notesMaster" Target="/ppt/notesMasters/notesMaster1.xml" Id="R297dbaebdb5342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a5debe6ccc48cb" /><Relationship Type="http://schemas.openxmlformats.org/officeDocument/2006/relationships/notesMaster" Target="/ppt/notesMasters/notesMaster1.xml" Id="Rebd98816bf464d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d9faebcee149e9" /><Relationship Type="http://schemas.openxmlformats.org/officeDocument/2006/relationships/notesMaster" Target="/ppt/notesMasters/notesMaster1.xml" Id="R5107b7a8e14843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43668978d64a4b" /><Relationship Type="http://schemas.openxmlformats.org/officeDocument/2006/relationships/notesMaster" Target="/ppt/notesMasters/notesMaster1.xml" Id="R86e6534e287e48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0525075a7c43a0" /><Relationship Type="http://schemas.openxmlformats.org/officeDocument/2006/relationships/notesMaster" Target="/ppt/notesMasters/notesMaster1.xml" Id="Rf758b2c7eeb440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880bcecf4644b3" /><Relationship Type="http://schemas.openxmlformats.org/officeDocument/2006/relationships/notesMaster" Target="/ppt/notesMasters/notesMaster1.xml" Id="Re78c68f88d5249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ff9a0a94cf047a8" /><Relationship Type="http://schemas.openxmlformats.org/officeDocument/2006/relationships/notesMaster" Target="/ppt/notesMasters/notesMaster1.xml" Id="R0f4ba789cf8c40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ee7461539543eb" /><Relationship Type="http://schemas.openxmlformats.org/officeDocument/2006/relationships/notesMaster" Target="/ppt/notesMasters/notesMaster1.xml" Id="R15d8073ae57f48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Overview: 0 minutes TOTAL across all slides in this stage.</a:t>
            </a:r>
          </a:p>
          <a:p xmlns:a="http://schemas.openxmlformats.org/drawingml/2006/main">
            <a:r>
              <a:t/>
            </a:r>
          </a:p>
          <a:p xmlns:a="http://schemas.openxmlformats.org/drawingml/2006/main">
            <a:r>
              <a:t>Read setup, safety and sensory notes before pupils enter.</a:t>
            </a:r>
          </a:p>
          <a:p xmlns:a="http://schemas.openxmlformats.org/drawingml/2006/main">
            <a:r>
              <a:t/>
            </a:r>
          </a:p>
          <a:p xmlns:a="http://schemas.openxmlformats.org/drawingml/2006/main">
            <a:r>
              <a:t>Set predictable Space and keep the learning goal visible.</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GROW · Science · Week 10B · Do</a:t>
            </a:r>
          </a:p>
          <a:p xmlns:a="http://schemas.openxmlformats.org/drawingml/2006/main">
            <a:r>
              <a:t>Learning objective: I can present researched solar system findings clearly, credit sources and respond to an audience question with a change or a clear reason plus one transfer step.</a:t>
            </a:r>
          </a:p>
          <a:p xmlns:a="http://schemas.openxmlformats.org/drawingml/2006/main">
            <a:r>
              <a:t>Success criteria</a:t>
            </a:r>
          </a:p>
          <a:p xmlns:a="http://schemas.openxmlformats.org/drawingml/2006/main">
            <a:r>
              <a:t>Present a focused claim supported by accurate facts.</a:t>
            </a:r>
          </a:p>
          <a:p xmlns:a="http://schemas.openxmlformats.org/drawingml/2006/main">
            <a:r>
              <a:t>Make source labels visible or say them aloud.</a:t>
            </a:r>
          </a:p>
          <a:p xmlns:a="http://schemas.openxmlformats.org/drawingml/2006/main">
            <a:r>
              <a:t>Receive an audience question and record a useful change, or explain why the content stays and set a transfer step.</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Overview: 0 minutes TOTAL across all slides in this stage.</a:t>
            </a:r>
          </a:p>
          <a:p xmlns:a="http://schemas.openxmlformats.org/drawingml/2006/main">
            <a:r>
              <a:t/>
            </a:r>
          </a:p>
          <a:p xmlns:a="http://schemas.openxmlformats.org/drawingml/2006/main">
            <a:r>
              <a:t>Read setup, safety and sensory notes before pupils enter.</a:t>
            </a:r>
          </a:p>
          <a:p xmlns:a="http://schemas.openxmlformats.org/drawingml/2006/main">
            <a:r>
              <a:t/>
            </a:r>
          </a:p>
          <a:p xmlns:a="http://schemas.openxmlformats.org/drawingml/2006/main">
            <a:r>
              <a:t>Set predictable Space and keep the learning goal visible.</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GROW · Science · Week 10B · Do</a:t>
            </a:r>
          </a:p>
          <a:p xmlns:a="http://schemas.openxmlformats.org/drawingml/2006/main">
            <a:r>
              <a:t>Learning objective: I can present researched solar system findings clearly, credit sources and respond to an audience question with a change or a clear reason plus one transfer step.</a:t>
            </a:r>
          </a:p>
          <a:p xmlns:a="http://schemas.openxmlformats.org/drawingml/2006/main">
            <a:r>
              <a:t>Success criteria</a:t>
            </a:r>
          </a:p>
          <a:p xmlns:a="http://schemas.openxmlformats.org/drawingml/2006/main">
            <a:r>
              <a:t>Present a focused claim supported by accurate facts.</a:t>
            </a:r>
          </a:p>
          <a:p xmlns:a="http://schemas.openxmlformats.org/drawingml/2006/main">
            <a:r>
              <a:t>Make source labels visible or say them aloud.</a:t>
            </a:r>
          </a:p>
          <a:p xmlns:a="http://schemas.openxmlformats.org/drawingml/2006/main">
            <a:r>
              <a:t>Receive an audience question and record a useful change, or explain why the content stays and set a transfer step.</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Arrival: 3 minutes TOTAL across all slides in this stage.</a:t>
            </a:r>
          </a:p>
          <a:p xmlns:a="http://schemas.openxmlformats.org/drawingml/2006/main">
            <a:r>
              <a:t/>
            </a:r>
          </a:p>
          <a:p xmlns:a="http://schemas.openxmlformats.org/drawingml/2006/main">
            <a:r>
              <a:t>Wait, regulate and retrieve through the lightest workable route.</a:t>
            </a:r>
          </a:p>
          <a:p xmlns:a="http://schemas.openxmlformats.org/drawingml/2006/main">
            <a:r>
              <a:t/>
            </a:r>
          </a:p>
          <a:p xmlns:a="http://schemas.openxmlformats.org/drawingml/2006/main">
            <a:r>
              <a:t>If recall is inaccessible, point to one retrieval sentence; do not teach today’s answer.</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Retrieve only what has already been taught</a:t>
            </a:r>
          </a:p>
          <a:p xmlns:a="http://schemas.openxmlformats.org/drawingml/2006/main">
            <a:r>
              <a:t>In Explore, research notes answered a focused question, kept the meaning and recorded source codes.</a:t>
            </a:r>
          </a:p>
          <a:p xmlns:a="http://schemas.openxmlformats.org/drawingml/2006/main">
            <a:r>
              <a:t>Prior week: point to or describe one useful model.</a:t>
            </a:r>
          </a:p>
          <a:p xmlns:a="http://schemas.openxmlformats.org/drawingml/2006/main">
            <a:r>
              <a:t>Older learning: what makes an observation useful as evidence?</a:t>
            </a:r>
          </a:p>
          <a:p xmlns:a="http://schemas.openxmlformats.org/drawingml/2006/main">
            <a:r>
              <a:t>Lead-in: what do you notice in today’s first picture?</a:t>
            </a:r>
          </a:p>
          <a:p xmlns:a="http://schemas.openxmlformats.org/drawingml/2006/main">
            <a:r>
              <a:t>New to this class, absent, or not sure? Everything needed is in the retrieval box above. Read it, point to it or ask a familiar adult to read it exactly.</a:t>
            </a:r>
          </a:p>
          <a:p xmlns:a="http://schemas.openxmlformats.org/drawingml/2006/main">
            <a:r>
              <a:t>▲ Standard</a:t>
            </a:r>
          </a:p>
          <a:p xmlns:a="http://schemas.openxmlformats.org/drawingml/2006/main">
            <a:r>
              <a:t>Last lesson: how can another person find the source card for your note?</a:t>
            </a:r>
          </a:p>
          <a:p xmlns:a="http://schemas.openxmlformats.org/drawingml/2006/main">
            <a:r>
              <a:t>Last lesson: explain paraphrase without using the word copy.</a:t>
            </a:r>
          </a:p>
          <a:p xmlns:a="http://schemas.openxmlformats.org/drawingml/2006/main">
            <a:r>
              <a:t>Last week: state one approximately spherical finding accurately.</a:t>
            </a:r>
          </a:p>
          <a:p xmlns:a="http://schemas.openxmlformats.org/drawingml/2006/main">
            <a:r>
              <a:t>Lead-in: what does an audience need in the first 20 seconds?</a:t>
            </a:r>
          </a:p>
          <a:p xmlns:a="http://schemas.openxmlformats.org/drawingml/2006/main">
            <a:r>
              <a:t>Read-aloud route: a familiar adult may read the task exactly while the text remains visible. No device voice or media permission is required.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Starter: 3 minutes TOTAL across all slides in this stage.</a:t>
            </a:r>
          </a:p>
          <a:p xmlns:a="http://schemas.openxmlformats.org/drawingml/2006/main">
            <a:r>
              <a:t/>
            </a:r>
          </a:p>
          <a:p xmlns:a="http://schemas.openxmlformats.org/drawingml/2006/main">
            <a:r>
              <a:t>Protect curiosity: receive every first idea without judgement.</a:t>
            </a:r>
          </a:p>
          <a:p xmlns:a="http://schemas.openxmlformats.org/drawingml/2006/main">
            <a:r>
              <a:t/>
            </a:r>
          </a:p>
          <a:p xmlns:a="http://schemas.openxmlformats.org/drawingml/2006/main">
            <a:r>
              <a:t>Ask ‘What makes you think that?’ and preserve the prediction for later evidence.</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LOCAL VISUAL HOOK · FRAME 1</a:t>
            </a:r>
          </a:p>
          <a:p xmlns:a="http://schemas.openxmlformats.org/drawingml/2006/main">
            <a:r>
              <a:t>Open with the question and the answer claim</a:t>
            </a:r>
          </a:p>
          <a:p xmlns:a="http://schemas.openxmlformats.org/drawingml/2006/main">
            <a:r>
              <a:t>The audience needs the question before any fact.</a:t>
            </a:r>
          </a:p>
          <a:p xmlns:a="http://schemas.openxmlformats.org/drawingml/2006/main">
            <a:r>
              <a:t>LOCAL VISUAL HOOK · FRAME 2</a:t>
            </a:r>
          </a:p>
          <a:p xmlns:a="http://schemas.openxmlformats.org/drawingml/2006/main">
            <a:r>
              <a:t>Evidence, and show or say the source</a:t>
            </a:r>
          </a:p>
          <a:p xmlns:a="http://schemas.openxmlformats.org/drawingml/2006/main">
            <a:r>
              <a:t>Two or three facts, each with its source label beside it.</a:t>
            </a:r>
          </a:p>
          <a:p xmlns:a="http://schemas.openxmlformats.org/drawingml/2006/main">
            <a:r>
              <a:t>LOCAL VISUAL HOOK · FRAME 3</a:t>
            </a:r>
          </a:p>
          <a:p xmlns:a="http://schemas.openxmlformats.org/drawingml/2006/main">
            <a:r>
              <a:t>Pause for the audience question</a:t>
            </a:r>
          </a:p>
          <a:p xmlns:a="http://schemas.openxmlformats.org/drawingml/2006/main">
            <a:r>
              <a:t>Then record what changes — or why nothing does.</a:t>
            </a:r>
          </a:p>
          <a:p xmlns:a="http://schemas.openxmlformats.org/drawingml/2006/main">
            <a:r>
              <a:t>Commit one first idea. Predictions are held, not marked. Pointing, selecting, saying or signing all count.</a:t>
            </a:r>
          </a:p>
          <a:p xmlns:a="http://schemas.openxmlformats.org/drawingml/2006/main">
            <a:r>
              <a:t>‘I found lots of things. Here is every note.’</a:t>
            </a:r>
          </a:p>
          <a:p xmlns:a="http://schemas.openxmlformats.org/drawingml/2006/main">
            <a:r>
              <a:t>‘Our question was __. The evidence shows __.’</a:t>
            </a:r>
          </a:p>
          <a:p xmlns:a="http://schemas.openxmlformats.org/drawingml/2006/main">
            <a:r>
              <a:t>‘Watch this animation first; I will explain the topic later.’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Starter: 3 minutes TOTAL across all slides in this stage.</a:t>
            </a:r>
          </a:p>
          <a:p xmlns:a="http://schemas.openxmlformats.org/drawingml/2006/main">
            <a:r>
              <a:t/>
            </a:r>
          </a:p>
          <a:p xmlns:a="http://schemas.openxmlformats.org/drawingml/2006/main">
            <a:r>
              <a:t>Protect curiosity: receive every first idea without judgement.</a:t>
            </a:r>
          </a:p>
          <a:p xmlns:a="http://schemas.openxmlformats.org/drawingml/2006/main">
            <a:r>
              <a:t/>
            </a:r>
          </a:p>
          <a:p xmlns:a="http://schemas.openxmlformats.org/drawingml/2006/main">
            <a:r>
              <a:t>Ask ‘What makes you think that?’ and preserve the prediction for later evidence.</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LOCAL VISUAL HOOK · FRAME 1</a:t>
            </a:r>
          </a:p>
          <a:p xmlns:a="http://schemas.openxmlformats.org/drawingml/2006/main">
            <a:r>
              <a:t>Open with the question and the answer claim</a:t>
            </a:r>
          </a:p>
          <a:p xmlns:a="http://schemas.openxmlformats.org/drawingml/2006/main">
            <a:r>
              <a:t>The audience needs the question before any fact.</a:t>
            </a:r>
          </a:p>
          <a:p xmlns:a="http://schemas.openxmlformats.org/drawingml/2006/main">
            <a:r>
              <a:t>LOCAL VISUAL HOOK · FRAME 2</a:t>
            </a:r>
          </a:p>
          <a:p xmlns:a="http://schemas.openxmlformats.org/drawingml/2006/main">
            <a:r>
              <a:t>Evidence, and show or say the source</a:t>
            </a:r>
          </a:p>
          <a:p xmlns:a="http://schemas.openxmlformats.org/drawingml/2006/main">
            <a:r>
              <a:t>Two or three facts, each with its source label beside it.</a:t>
            </a:r>
          </a:p>
          <a:p xmlns:a="http://schemas.openxmlformats.org/drawingml/2006/main">
            <a:r>
              <a:t>LOCAL VISUAL HOOK · FRAME 3</a:t>
            </a:r>
          </a:p>
          <a:p xmlns:a="http://schemas.openxmlformats.org/drawingml/2006/main">
            <a:r>
              <a:t>Pause for the audience question</a:t>
            </a:r>
          </a:p>
          <a:p xmlns:a="http://schemas.openxmlformats.org/drawingml/2006/main">
            <a:r>
              <a:t>Then record what changes — or why nothing does.</a:t>
            </a:r>
          </a:p>
          <a:p xmlns:a="http://schemas.openxmlformats.org/drawingml/2006/main">
            <a:r>
              <a:t>Commit one first idea. Predictions are held, not marked. Pointing, selecting, saying or signing all count.</a:t>
            </a:r>
          </a:p>
          <a:p xmlns:a="http://schemas.openxmlformats.org/drawingml/2006/main">
            <a:r>
              <a:t>‘I found lots of things. Here is every note.’</a:t>
            </a:r>
          </a:p>
          <a:p xmlns:a="http://schemas.openxmlformats.org/drawingml/2006/main">
            <a:r>
              <a:t>‘Our question was __. The evidence shows __.’</a:t>
            </a:r>
          </a:p>
          <a:p xmlns:a="http://schemas.openxmlformats.org/drawingml/2006/main">
            <a:r>
              <a:t>‘Watch this animation first; I will explain the topic later.’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Starter: 3 minutes TOTAL across all slides in this stage.</a:t>
            </a:r>
          </a:p>
          <a:p xmlns:a="http://schemas.openxmlformats.org/drawingml/2006/main">
            <a:r>
              <a:t/>
            </a:r>
          </a:p>
          <a:p xmlns:a="http://schemas.openxmlformats.org/drawingml/2006/main">
            <a:r>
              <a:t>Protect curiosity: receive every first idea without judgement.</a:t>
            </a:r>
          </a:p>
          <a:p xmlns:a="http://schemas.openxmlformats.org/drawingml/2006/main">
            <a:r>
              <a:t/>
            </a:r>
          </a:p>
          <a:p xmlns:a="http://schemas.openxmlformats.org/drawingml/2006/main">
            <a:r>
              <a:t>Ask ‘What makes you think that?’ and preserve the prediction for later evidence.</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LOCAL VISUAL HOOK · FRAME 1</a:t>
            </a:r>
          </a:p>
          <a:p xmlns:a="http://schemas.openxmlformats.org/drawingml/2006/main">
            <a:r>
              <a:t>Open with the question and the answer claim</a:t>
            </a:r>
          </a:p>
          <a:p xmlns:a="http://schemas.openxmlformats.org/drawingml/2006/main">
            <a:r>
              <a:t>The audience needs the question before any fact.</a:t>
            </a:r>
          </a:p>
          <a:p xmlns:a="http://schemas.openxmlformats.org/drawingml/2006/main">
            <a:r>
              <a:t>LOCAL VISUAL HOOK · FRAME 2</a:t>
            </a:r>
          </a:p>
          <a:p xmlns:a="http://schemas.openxmlformats.org/drawingml/2006/main">
            <a:r>
              <a:t>Evidence, and show or say the source</a:t>
            </a:r>
          </a:p>
          <a:p xmlns:a="http://schemas.openxmlformats.org/drawingml/2006/main">
            <a:r>
              <a:t>Two or three facts, each with its source label beside it.</a:t>
            </a:r>
          </a:p>
          <a:p xmlns:a="http://schemas.openxmlformats.org/drawingml/2006/main">
            <a:r>
              <a:t>LOCAL VISUAL HOOK · FRAME 3</a:t>
            </a:r>
          </a:p>
          <a:p xmlns:a="http://schemas.openxmlformats.org/drawingml/2006/main">
            <a:r>
              <a:t>Pause for the audience question</a:t>
            </a:r>
          </a:p>
          <a:p xmlns:a="http://schemas.openxmlformats.org/drawingml/2006/main">
            <a:r>
              <a:t>Then record what changes — or why nothing does.</a:t>
            </a:r>
          </a:p>
          <a:p xmlns:a="http://schemas.openxmlformats.org/drawingml/2006/main">
            <a:r>
              <a:t>Commit one first idea. Predictions are held, not marked. Pointing, selecting, saying or signing all count.</a:t>
            </a:r>
          </a:p>
          <a:p xmlns:a="http://schemas.openxmlformats.org/drawingml/2006/main">
            <a:r>
              <a:t>‘I found lots of things. Here is every note.’</a:t>
            </a:r>
          </a:p>
          <a:p xmlns:a="http://schemas.openxmlformats.org/drawingml/2006/main">
            <a:r>
              <a:t>‘Our question was __. The evidence shows __.’</a:t>
            </a:r>
          </a:p>
          <a:p xmlns:a="http://schemas.openxmlformats.org/drawingml/2006/main">
            <a:r>
              <a:t>‘Watch this animation first; I will explain the topic later.’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I do: 4 minutes TOTAL across all slides in this stage.</a:t>
            </a:r>
          </a:p>
          <a:p xmlns:a="http://schemas.openxmlformats.org/drawingml/2006/main">
            <a:r>
              <a:t/>
            </a:r>
          </a:p>
          <a:p xmlns:a="http://schemas.openxmlformats.org/drawingml/2006/main">
            <a:r>
              <a:t>Let the teacher/model carry the explanation; pupils watch, point or track.</a:t>
            </a:r>
          </a:p>
          <a:p xmlns:a="http://schemas.openxmlformats.org/drawingml/2006/main">
            <a:r>
              <a:t/>
            </a:r>
          </a:p>
          <a:p xmlns:a="http://schemas.openxmlformats.org/drawingml/2006/main">
            <a:r>
              <a:t>Use a visual cue only if access is the barrier, then fade it.</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CLAIM answer statement a statement that evidence is used to support</a:t>
            </a:r>
          </a:p>
          <a:p xmlns:a="http://schemas.openxmlformats.org/drawingml/2006/main">
            <a:r>
              <a:t>EVIDENCE facts that support information used to justify or challenge a claim</a:t>
            </a:r>
          </a:p>
          <a:p xmlns:a="http://schemas.openxmlformats.org/drawingml/2006/main">
            <a:r>
              <a:t>AUDIENCE real receiver the person or people who receive and respond to the presentation</a:t>
            </a:r>
          </a:p>
          <a:p xmlns:a="http://schemas.openxmlformats.org/drawingml/2006/main">
            <a:r>
              <a:t>WHAT THIS MODEL HELPS US SEE</a:t>
            </a:r>
          </a:p>
          <a:p xmlns:a="http://schemas.openxmlformats.org/drawingml/2006/main">
            <a:r>
              <a:t>Use: Our question was __. Our claim is __. Evidence from __ shows __. Your question made me change __ / confirmed __, so next I will __.</a:t>
            </a:r>
          </a:p>
          <a:p xmlns:a="http://schemas.openxmlformats.org/drawingml/2006/main">
            <a:r>
              <a:t>WHAT THIS MODEL DOES NOT SHOW</a:t>
            </a:r>
          </a:p>
          <a:p xmlns:a="http://schemas.openxmlformats.org/drawingml/2006/main">
            <a:r>
              <a:t>A short briefing cannot contain every fact. Attractive slides do not prove accuracy, and an audience question does not replace source checking.</a:t>
            </a:r>
          </a:p>
          <a:p xmlns:a="http://schemas.openxmlformats.org/drawingml/2006/main">
            <a:r>
              <a:t>Step 1</a:t>
            </a:r>
          </a:p>
          <a:p xmlns:a="http://schemas.openxmlformats.org/drawingml/2006/main">
            <a:r>
              <a:t>State the focused question, then give one answer claim in a complete sentence.</a:t>
            </a:r>
          </a:p>
          <a:p xmlns:a="http://schemas.openxmlformats.org/drawingml/2006/main">
            <a:r>
              <a:t>Step 2</a:t>
            </a:r>
          </a:p>
          <a:p xmlns:a="http://schemas.openxmlformats.org/drawingml/2006/main">
            <a:r>
              <a:t>Select two or three facts that directly support the claim. Show a source label beside each or say the source aloud.</a:t>
            </a:r>
          </a:p>
          <a:p xmlns:a="http://schemas.openxmlformats.org/drawingml/2006/main">
            <a:r>
              <a:t>Step 3</a:t>
            </a:r>
          </a:p>
          <a:p xmlns:a="http://schemas.openxmlformats.org/drawingml/2006/main">
            <a:r>
              <a:t>Use a diagram, paper panel, slide or object only when it helps the audience follow the Science.</a:t>
            </a:r>
          </a:p>
          <a:p xmlns:a="http://schemas.openxmlformats.org/drawingml/2006/main">
            <a:r>
              <a:t>Briefing builder · press the steps in order</a:t>
            </a:r>
          </a:p>
          <a:p xmlns:a="http://schemas.openxmlformats.org/drawingml/2006/main">
            <a:r>
              <a:t>Give 2–3 facts, each with a source label</a:t>
            </a:r>
          </a:p>
          <a:p xmlns:a="http://schemas.openxmlformats.org/drawingml/2006/main">
            <a:r>
              <a:t>State the answer claim</a:t>
            </a:r>
          </a:p>
          <a:p xmlns:a="http://schemas.openxmlformats.org/drawingml/2006/main">
            <a:r>
              <a:t>Record what changes, or what transfers next</a:t>
            </a:r>
          </a:p>
          <a:p xmlns:a="http://schemas.openxmlformats.org/drawingml/2006/main">
            <a:r>
              <a:t>Order: —</a:t>
            </a:r>
          </a:p>
          <a:p xmlns:a="http://schemas.openxmlformats.org/drawingml/2006/main">
            <a:r>
              <a:t>Audience: “How do you know the day is 10 hours?”</a:t>
            </a:r>
          </a:p>
          <a:p xmlns:a="http://schemas.openxmlformats.org/drawingml/2006/main">
            <a:r>
              <a:t>Audience: “Could you stand on Jupiter?”</a:t>
            </a:r>
          </a:p>
          <a:p xmlns:a="http://schemas.openxmlformats.org/drawingml/2006/main">
            <a:r>
              <a:t>A question needs a real answer: point to the evidence, or say what changes.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I do: 4 minutes TOTAL across all slides in this stage.</a:t>
            </a:r>
          </a:p>
          <a:p xmlns:a="http://schemas.openxmlformats.org/drawingml/2006/main">
            <a:r>
              <a:t/>
            </a:r>
          </a:p>
          <a:p xmlns:a="http://schemas.openxmlformats.org/drawingml/2006/main">
            <a:r>
              <a:t>Let the teacher/model carry the explanation; pupils watch, point or track.</a:t>
            </a:r>
          </a:p>
          <a:p xmlns:a="http://schemas.openxmlformats.org/drawingml/2006/main">
            <a:r>
              <a:t/>
            </a:r>
          </a:p>
          <a:p xmlns:a="http://schemas.openxmlformats.org/drawingml/2006/main">
            <a:r>
              <a:t>Use a visual cue only if access is the barrier, then fade it.</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CLAIM answer statement a statement that evidence is used to support</a:t>
            </a:r>
          </a:p>
          <a:p xmlns:a="http://schemas.openxmlformats.org/drawingml/2006/main">
            <a:r>
              <a:t>EVIDENCE facts that support information used to justify or challenge a claim</a:t>
            </a:r>
          </a:p>
          <a:p xmlns:a="http://schemas.openxmlformats.org/drawingml/2006/main">
            <a:r>
              <a:t>AUDIENCE real receiver the person or people who receive and respond to the presentation</a:t>
            </a:r>
          </a:p>
          <a:p xmlns:a="http://schemas.openxmlformats.org/drawingml/2006/main">
            <a:r>
              <a:t>WHAT THIS MODEL HELPS US SEE</a:t>
            </a:r>
          </a:p>
          <a:p xmlns:a="http://schemas.openxmlformats.org/drawingml/2006/main">
            <a:r>
              <a:t>Use: Our question was __. Our claim is __. Evidence from __ shows __. Your question made me change __ / confirmed __, so next I will __.</a:t>
            </a:r>
          </a:p>
          <a:p xmlns:a="http://schemas.openxmlformats.org/drawingml/2006/main">
            <a:r>
              <a:t>WHAT THIS MODEL DOES NOT SHOW</a:t>
            </a:r>
          </a:p>
          <a:p xmlns:a="http://schemas.openxmlformats.org/drawingml/2006/main">
            <a:r>
              <a:t>A short briefing cannot contain every fact. Attractive slides do not prove accuracy, and an audience question does not replace source checking.</a:t>
            </a:r>
          </a:p>
          <a:p xmlns:a="http://schemas.openxmlformats.org/drawingml/2006/main">
            <a:r>
              <a:t>Step 1</a:t>
            </a:r>
          </a:p>
          <a:p xmlns:a="http://schemas.openxmlformats.org/drawingml/2006/main">
            <a:r>
              <a:t>State the focused question, then give one answer claim in a complete sentence.</a:t>
            </a:r>
          </a:p>
          <a:p xmlns:a="http://schemas.openxmlformats.org/drawingml/2006/main">
            <a:r>
              <a:t>Step 2</a:t>
            </a:r>
          </a:p>
          <a:p xmlns:a="http://schemas.openxmlformats.org/drawingml/2006/main">
            <a:r>
              <a:t>Select two or three facts that directly support the claim. Show a source label beside each or say the source aloud.</a:t>
            </a:r>
          </a:p>
          <a:p xmlns:a="http://schemas.openxmlformats.org/drawingml/2006/main">
            <a:r>
              <a:t>Step 3</a:t>
            </a:r>
          </a:p>
          <a:p xmlns:a="http://schemas.openxmlformats.org/drawingml/2006/main">
            <a:r>
              <a:t>Use a diagram, paper panel, slide or object only when it helps the audience follow the Science.</a:t>
            </a:r>
          </a:p>
          <a:p xmlns:a="http://schemas.openxmlformats.org/drawingml/2006/main">
            <a:r>
              <a:t>Briefing builder · press the steps in order</a:t>
            </a:r>
          </a:p>
          <a:p xmlns:a="http://schemas.openxmlformats.org/drawingml/2006/main">
            <a:r>
              <a:t>Give 2–3 facts, each with a source label</a:t>
            </a:r>
          </a:p>
          <a:p xmlns:a="http://schemas.openxmlformats.org/drawingml/2006/main">
            <a:r>
              <a:t>State the answer claim</a:t>
            </a:r>
          </a:p>
          <a:p xmlns:a="http://schemas.openxmlformats.org/drawingml/2006/main">
            <a:r>
              <a:t>Record what changes, or what transfers next</a:t>
            </a:r>
          </a:p>
          <a:p xmlns:a="http://schemas.openxmlformats.org/drawingml/2006/main">
            <a:r>
              <a:t>Order: —</a:t>
            </a:r>
          </a:p>
          <a:p xmlns:a="http://schemas.openxmlformats.org/drawingml/2006/main">
            <a:r>
              <a:t>Audience: “How do you know the day is 10 hours?”</a:t>
            </a:r>
          </a:p>
          <a:p xmlns:a="http://schemas.openxmlformats.org/drawingml/2006/main">
            <a:r>
              <a:t>Audience: “Could you stand on Jupiter?”</a:t>
            </a:r>
          </a:p>
          <a:p xmlns:a="http://schemas.openxmlformats.org/drawingml/2006/main">
            <a:r>
              <a:t>A question needs a real answer: point to the evidence, or say what changes.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We do: 4 minutes TOTAL across all slides in this stage.</a:t>
            </a:r>
          </a:p>
          <a:p xmlns:a="http://schemas.openxmlformats.org/drawingml/2006/main">
            <a:r>
              <a:t/>
            </a:r>
          </a:p>
          <a:p xmlns:a="http://schemas.openxmlformats.org/drawingml/2006/main">
            <a:r>
              <a:t>Scan every response mode. Do not infer understanding from handwriting or confidence.</a:t>
            </a:r>
          </a:p>
          <a:p xmlns:a="http://schemas.openxmlformats.org/drawingml/2006/main">
            <a:r>
              <a:t/>
            </a:r>
          </a:p>
          <a:p xmlns:a="http://schemas.openxmlformats.org/drawingml/2006/main">
            <a:r>
              <a:t>Secure: transfer. Mixed: contrast. Misconception: counterexample then a fresh question.</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Everyone commits before explanation.</a:t>
            </a:r>
          </a:p>
          <a:p xmlns:a="http://schemas.openxmlformats.org/drawingml/2006/main">
            <a:r>
              <a:t>Use a button, point, say/sign or let an adult operate the chosen button. A retry is information, not a penalty.</a:t>
            </a:r>
          </a:p>
          <a:p xmlns:a="http://schemas.openxmlformats.org/drawingml/2006/main">
            <a:r>
              <a:t>Audience move:</a:t>
            </a:r>
          </a:p>
          <a:p xmlns:a="http://schemas.openxmlformats.org/drawingml/2006/main">
            <a:r>
              <a:t>A large title, five animations and no source labels.</a:t>
            </a:r>
          </a:p>
          <a:p xmlns:a="http://schemas.openxmlformats.org/drawingml/2006/main">
            <a:r>
              <a:t>A focused claim, two facts that answer the question, a labelled diagram and source codes.</a:t>
            </a:r>
          </a:p>
          <a:p xmlns:a="http://schemas.openxmlformats.org/drawingml/2006/main">
            <a:r>
              <a:t>A copied paragraph read quickly without explaining the question.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I do 2: 3 minutes TOTAL across all slides in this stage.</a:t>
            </a:r>
          </a:p>
          <a:p xmlns:a="http://schemas.openxmlformats.org/drawingml/2006/main">
            <a:r>
              <a:t/>
            </a:r>
          </a:p>
          <a:p xmlns:a="http://schemas.openxmlformats.org/drawingml/2006/main">
            <a:r>
              <a:t>Model one complete evidence-to-explanation sentence, then pause.</a:t>
            </a:r>
          </a:p>
          <a:p xmlns:a="http://schemas.openxmlformats.org/drawingml/2006/main">
            <a:r>
              <a:t/>
            </a:r>
          </a:p>
          <a:p xmlns:a="http://schemas.openxmlformats.org/drawingml/2006/main">
            <a:r>
              <a:t>Keep the science words; change density, modality or adult role before changing the goal.</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Connection: the model is useful when its visible pattern is translated into a scientific explanation.</a:t>
            </a:r>
          </a:p>
          <a:p xmlns:a="http://schemas.openxmlformats.org/drawingml/2006/main">
            <a:r>
              <a:t>Connection 1</a:t>
            </a:r>
          </a:p>
          <a:p xmlns:a="http://schemas.openxmlformats.org/drawingml/2006/main">
            <a:r>
              <a:t>Invite one question about meaning, evidence or a limit; silence is not an audience response.</a:t>
            </a:r>
          </a:p>
          <a:p xmlns:a="http://schemas.openxmlformats.org/drawingml/2006/main">
            <a:r>
              <a:t>Connection 2</a:t>
            </a:r>
          </a:p>
          <a:p xmlns:a="http://schemas.openxmlformats.org/drawingml/2006/main">
            <a:r>
              <a:t>Repeat the question in your own words, then point to the part of the briefing it checks.</a:t>
            </a:r>
          </a:p>
          <a:p xmlns:a="http://schemas.openxmlformats.org/drawingml/2006/main">
            <a:r>
              <a:t>Connection 3</a:t>
            </a:r>
          </a:p>
          <a:p xmlns:a="http://schemas.openxmlformats.org/drawingml/2006/main">
            <a:r>
              <a:t>Make one visible improvement. If the feedback confirms the content is accurate and clear, record why no content change is needed and set one transfer step, such as using the claim with a new audience or less support.</a:t>
            </a:r>
          </a:p>
          <a:p xmlns:a="http://schemas.openxmlformats.org/drawingml/2006/main">
            <a:r>
              <a:t>MODEL STRENGTH</a:t>
            </a:r>
          </a:p>
          <a:p xmlns:a="http://schemas.openxmlformats.org/drawingml/2006/main">
            <a:r>
              <a:t>Use: Our question was __. Our claim is __. Evidence from __ shows __. Your question made me change __ / confirmed __, so next I will __.</a:t>
            </a:r>
          </a:p>
          <a:p xmlns:a="http://schemas.openxmlformats.org/drawingml/2006/main">
            <a:r>
              <a:t>MODEL LIMIT</a:t>
            </a:r>
          </a:p>
          <a:p xmlns:a="http://schemas.openxmlformats.org/drawingml/2006/main">
            <a:r>
              <a:t>A short briefing cannot contain every fact. Attractive slides do not prove accuracy, and an audience question does not replace source checking.</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I do 2: 3 minutes TOTAL across all slides in this stage.</a:t>
            </a:r>
          </a:p>
          <a:p xmlns:a="http://schemas.openxmlformats.org/drawingml/2006/main">
            <a:r>
              <a:t/>
            </a:r>
          </a:p>
          <a:p xmlns:a="http://schemas.openxmlformats.org/drawingml/2006/main">
            <a:r>
              <a:t>Model one complete evidence-to-explanation sentence, then pause.</a:t>
            </a:r>
          </a:p>
          <a:p xmlns:a="http://schemas.openxmlformats.org/drawingml/2006/main">
            <a:r>
              <a:t/>
            </a:r>
          </a:p>
          <a:p xmlns:a="http://schemas.openxmlformats.org/drawingml/2006/main">
            <a:r>
              <a:t>Keep the science words; change density, modality or adult role before changing the goal.</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Connection: the model is useful when its visible pattern is translated into a scientific explanation.</a:t>
            </a:r>
          </a:p>
          <a:p xmlns:a="http://schemas.openxmlformats.org/drawingml/2006/main">
            <a:r>
              <a:t>Connection 1</a:t>
            </a:r>
          </a:p>
          <a:p xmlns:a="http://schemas.openxmlformats.org/drawingml/2006/main">
            <a:r>
              <a:t>Invite one question about meaning, evidence or a limit; silence is not an audience response.</a:t>
            </a:r>
          </a:p>
          <a:p xmlns:a="http://schemas.openxmlformats.org/drawingml/2006/main">
            <a:r>
              <a:t>Connection 2</a:t>
            </a:r>
          </a:p>
          <a:p xmlns:a="http://schemas.openxmlformats.org/drawingml/2006/main">
            <a:r>
              <a:t>Repeat the question in your own words, then point to the part of the briefing it checks.</a:t>
            </a:r>
          </a:p>
          <a:p xmlns:a="http://schemas.openxmlformats.org/drawingml/2006/main">
            <a:r>
              <a:t>Connection 3</a:t>
            </a:r>
          </a:p>
          <a:p xmlns:a="http://schemas.openxmlformats.org/drawingml/2006/main">
            <a:r>
              <a:t>Make one visible improvement. If the feedback confirms the content is accurate and clear, record why no content change is needed and set one transfer step, such as using the claim with a new audience or less support.</a:t>
            </a:r>
          </a:p>
          <a:p xmlns:a="http://schemas.openxmlformats.org/drawingml/2006/main">
            <a:r>
              <a:t>MODEL STRENGTH</a:t>
            </a:r>
          </a:p>
          <a:p xmlns:a="http://schemas.openxmlformats.org/drawingml/2006/main">
            <a:r>
              <a:t>Use: Our question was __. Our claim is __. Evidence from __ shows __. Your question made me change __ / confirmed __, so next I will __.</a:t>
            </a:r>
          </a:p>
          <a:p xmlns:a="http://schemas.openxmlformats.org/drawingml/2006/main">
            <a:r>
              <a:t>MODEL LIMIT</a:t>
            </a:r>
          </a:p>
          <a:p xmlns:a="http://schemas.openxmlformats.org/drawingml/2006/main">
            <a:r>
              <a:t>A short briefing cannot contain every fact. Attractive slides do not prove accuracy, and an audience question does not replace source checking.</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We do 2: 4 minutes TOTAL across all slides in this stage.</a:t>
            </a:r>
          </a:p>
          <a:p xmlns:a="http://schemas.openxmlformats.org/drawingml/2006/main">
            <a:r>
              <a:t/>
            </a:r>
          </a:p>
          <a:p xmlns:a="http://schemas.openxmlformats.org/drawingml/2006/main">
            <a:r>
              <a:t>Protect pupil operation and thinking; support handling only where needed.</a:t>
            </a:r>
          </a:p>
          <a:p xmlns:a="http://schemas.openxmlformats.org/drawingml/2006/main">
            <a:r>
              <a:t/>
            </a:r>
          </a:p>
          <a:p xmlns:a="http://schemas.openxmlformats.org/drawingml/2006/main">
            <a:r>
              <a:t>Ask what changed and what stayed the same before supplying a scientific word.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Route each presentation component to its scientific job before the live briefing.</a:t>
            </a:r>
          </a:p>
          <a:p xmlns:a="http://schemas.openxmlformats.org/drawingml/2006/main">
            <a:r>
              <a:t>Choose one presentation component. Commit it to claim, evidence or audience response. Repair any mismatch by asking what job it performs. Freeze a complete chain and rehearse it aloud or through an alternative mode.</a:t>
            </a:r>
          </a:p>
          <a:p xmlns:a="http://schemas.openxmlformats.org/drawingml/2006/main">
            <a:r>
              <a:t>Cards to place</a:t>
            </a:r>
          </a:p>
          <a:p xmlns:a="http://schemas.openxmlformats.org/drawingml/2006/main">
            <a:r>
              <a:t>Opening line ‘Our question was why Mars looks red. Our claim is that iron minerals at the surface have reacted with oxygen.’</a:t>
            </a:r>
          </a:p>
          <a:p xmlns:a="http://schemas.openxmlformats.org/drawingml/2006/main">
            <a:r>
              <a:t>Supporting fact A useful fact in the pupil's own words is shown beside the science organisation and source code.</a:t>
            </a:r>
          </a:p>
          <a:p xmlns:a="http://schemas.openxmlformats.org/drawingml/2006/main">
            <a:r>
              <a:t>Labelled diagram A simple diagram points to the surface feature discussed and includes its source label.</a:t>
            </a:r>
          </a:p>
          <a:p xmlns:a="http://schemas.openxmlformats.org/drawingml/2006/main">
            <a:r>
              <a:t>Received question The presenter repeats the audience question to check that it was understood accurately.</a:t>
            </a:r>
          </a:p>
          <a:p xmlns:a="http://schemas.openxmlformats.org/drawingml/2006/main">
            <a:r>
              <a:t>Visible revision After a question about scale, the presenter adds ‘not to scale’ to the solar system diagram.</a:t>
            </a:r>
          </a:p>
          <a:p xmlns:a="http://schemas.openxmlformats.org/drawingml/2006/main">
            <a:r>
              <a:t>Confirmed, then transfer The audience checks the source and meaning, confirms both are accurate and clear, and the presenter records: ‘No content change; next I will explain it to a new audience without the sentence frame.’</a:t>
            </a:r>
          </a:p>
          <a:p xmlns:a="http://schemas.openxmlformats.org/drawingml/2006/main">
            <a:r>
              <a:t>One-sentence answer The presenter gives the main answer before adding selected detail.</a:t>
            </a:r>
          </a:p>
          <a:p xmlns:a="http://schemas.openxmlformats.org/drawingml/2006/main">
            <a:r>
              <a:t>Matching groups</a:t>
            </a:r>
          </a:p>
          <a:p xmlns:a="http://schemas.openxmlformats.org/drawingml/2006/main">
            <a:r>
              <a:t>Focused claim</a:t>
            </a:r>
          </a:p>
          <a:p xmlns:a="http://schemas.openxmlformats.org/drawingml/2006/main">
            <a:r>
              <a:t>Evidence and source</a:t>
            </a:r>
          </a:p>
          <a:p xmlns:a="http://schemas.openxmlformats.org/drawingml/2006/main">
            <a:r>
              <a:t>Audience response and next step</a:t>
            </a:r>
          </a:p>
          <a:p xmlns:a="http://schemas.openxmlformats.org/drawingml/2006/main">
            <a:r>
              <a:t>Freeze evidence</a:t>
            </a:r>
          </a:p>
          <a:p xmlns:a="http://schemas.openxmlformats.org/drawingml/2006/main">
            <a:r>
              <a:t>↺ Reset and retry</a:t>
            </a:r>
          </a:p>
          <a:p xmlns:a="http://schemas.openxmlformats.org/drawingml/2006/main">
            <a:r>
              <a:t>Science glitch · find and repair it</a:t>
            </a:r>
          </a:p>
          <a:p xmlns:a="http://schemas.openxmlformats.org/drawingml/2006/main">
            <a:r>
              <a:t>Claim: Presentation glitch: more animation always makes the Science stronger.</a:t>
            </a:r>
          </a:p>
          <a:p xmlns:a="http://schemas.openxmlformats.org/drawingml/2006/main">
            <a:r>
              <a:t>Keep it: movement proves the facts are accurate.</a:t>
            </a:r>
          </a:p>
          <a:p xmlns:a="http://schemas.openxmlformats.org/drawingml/2006/main">
            <a:r>
              <a:t>Repair it: use a visual only when it clarifies the claim or evidence; accuracy and sources carry the Science.</a:t>
            </a:r>
          </a:p>
          <a:p xmlns:a="http://schemas.openxmlformats.org/drawingml/2006/main">
            <a:r>
              <a:t>Repair it: hide source labels to leave more space for effects.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We do 2: 4 minutes TOTAL across all slides in this stage.</a:t>
            </a:r>
          </a:p>
          <a:p xmlns:a="http://schemas.openxmlformats.org/drawingml/2006/main">
            <a:r>
              <a:t/>
            </a:r>
          </a:p>
          <a:p xmlns:a="http://schemas.openxmlformats.org/drawingml/2006/main">
            <a:r>
              <a:t>Protect pupil operation and thinking; support handling only where needed.</a:t>
            </a:r>
          </a:p>
          <a:p xmlns:a="http://schemas.openxmlformats.org/drawingml/2006/main">
            <a:r>
              <a:t/>
            </a:r>
          </a:p>
          <a:p xmlns:a="http://schemas.openxmlformats.org/drawingml/2006/main">
            <a:r>
              <a:t>Ask what changed and what stayed the same before supplying a scientific word.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Route each presentation component to its scientific job before the live briefing.</a:t>
            </a:r>
          </a:p>
          <a:p xmlns:a="http://schemas.openxmlformats.org/drawingml/2006/main">
            <a:r>
              <a:t>Choose one presentation component. Commit it to claim, evidence or audience response. Repair any mismatch by asking what job it performs. Freeze a complete chain and rehearse it aloud or through an alternative mode.</a:t>
            </a:r>
          </a:p>
          <a:p xmlns:a="http://schemas.openxmlformats.org/drawingml/2006/main">
            <a:r>
              <a:t>Cards to place</a:t>
            </a:r>
          </a:p>
          <a:p xmlns:a="http://schemas.openxmlformats.org/drawingml/2006/main">
            <a:r>
              <a:t>Opening line ‘Our question was why Mars looks red. Our claim is that iron minerals at the surface have reacted with oxygen.’</a:t>
            </a:r>
          </a:p>
          <a:p xmlns:a="http://schemas.openxmlformats.org/drawingml/2006/main">
            <a:r>
              <a:t>Supporting fact A useful fact in the pupil's own words is shown beside the science organisation and source code.</a:t>
            </a:r>
          </a:p>
          <a:p xmlns:a="http://schemas.openxmlformats.org/drawingml/2006/main">
            <a:r>
              <a:t>Labelled diagram A simple diagram points to the surface feature discussed and includes its source label.</a:t>
            </a:r>
          </a:p>
          <a:p xmlns:a="http://schemas.openxmlformats.org/drawingml/2006/main">
            <a:r>
              <a:t>Received question The presenter repeats the audience question to check that it was understood accurately.</a:t>
            </a:r>
          </a:p>
          <a:p xmlns:a="http://schemas.openxmlformats.org/drawingml/2006/main">
            <a:r>
              <a:t>Visible revision After a question about scale, the presenter adds ‘not to scale’ to the solar system diagram.</a:t>
            </a:r>
          </a:p>
          <a:p xmlns:a="http://schemas.openxmlformats.org/drawingml/2006/main">
            <a:r>
              <a:t>Confirmed, then transfer The audience checks the source and meaning, confirms both are accurate and clear, and the presenter records: ‘No content change; next I will explain it to a new audience without the sentence frame.’</a:t>
            </a:r>
          </a:p>
          <a:p xmlns:a="http://schemas.openxmlformats.org/drawingml/2006/main">
            <a:r>
              <a:t>One-sentence answer The presenter gives the main answer before adding selected detail.</a:t>
            </a:r>
          </a:p>
          <a:p xmlns:a="http://schemas.openxmlformats.org/drawingml/2006/main">
            <a:r>
              <a:t>Matching groups</a:t>
            </a:r>
          </a:p>
          <a:p xmlns:a="http://schemas.openxmlformats.org/drawingml/2006/main">
            <a:r>
              <a:t>Focused claim</a:t>
            </a:r>
          </a:p>
          <a:p xmlns:a="http://schemas.openxmlformats.org/drawingml/2006/main">
            <a:r>
              <a:t>Evidence and source</a:t>
            </a:r>
          </a:p>
          <a:p xmlns:a="http://schemas.openxmlformats.org/drawingml/2006/main">
            <a:r>
              <a:t>Audience response and next step</a:t>
            </a:r>
          </a:p>
          <a:p xmlns:a="http://schemas.openxmlformats.org/drawingml/2006/main">
            <a:r>
              <a:t>Freeze evidence</a:t>
            </a:r>
          </a:p>
          <a:p xmlns:a="http://schemas.openxmlformats.org/drawingml/2006/main">
            <a:r>
              <a:t>↺ Reset and retry</a:t>
            </a:r>
          </a:p>
          <a:p xmlns:a="http://schemas.openxmlformats.org/drawingml/2006/main">
            <a:r>
              <a:t>Science glitch · find and repair it</a:t>
            </a:r>
          </a:p>
          <a:p xmlns:a="http://schemas.openxmlformats.org/drawingml/2006/main">
            <a:r>
              <a:t>Claim: Presentation glitch: more animation always makes the Science stronger.</a:t>
            </a:r>
          </a:p>
          <a:p xmlns:a="http://schemas.openxmlformats.org/drawingml/2006/main">
            <a:r>
              <a:t>Keep it: movement proves the facts are accurate.</a:t>
            </a:r>
          </a:p>
          <a:p xmlns:a="http://schemas.openxmlformats.org/drawingml/2006/main">
            <a:r>
              <a:t>Repair it: use a visual only when it clarifies the claim or evidence; accuracy and sources carry the Science.</a:t>
            </a:r>
          </a:p>
          <a:p xmlns:a="http://schemas.openxmlformats.org/drawingml/2006/main">
            <a:r>
              <a:t>Repair it: hide source labels to leave more space for effects.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Independent: 15 minutes TOTAL across all slides in this stage.</a:t>
            </a:r>
          </a:p>
          <a:p xmlns:a="http://schemas.openxmlformats.org/drawingml/2006/main">
            <a:r>
              <a:t/>
            </a:r>
          </a:p>
          <a:p xmlns:a="http://schemas.openxmlformats.org/drawingml/2006/main">
            <a:r>
              <a:t>Protect independence. Accept equivalent evidence routes and scribe exact meaning.</a:t>
            </a:r>
          </a:p>
          <a:p xmlns:a="http://schemas.openxmlformats.org/drawingml/2006/main">
            <a:r>
              <a:t/>
            </a:r>
          </a:p>
          <a:p xmlns:a="http://schemas.openxmlformats.org/drawingml/2006/main">
            <a:r>
              <a:t>Prompt only as much as needed; fade as soon as the pupil continues.</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Physical route</a:t>
            </a:r>
          </a:p>
          <a:p xmlns:a="http://schemas.openxmlformats.org/drawingml/2006/main">
            <a:r>
              <a:t>Research record, paper panel or school device, source labels, audience question slip and revision record.</a:t>
            </a:r>
          </a:p>
          <a:p xmlns:a="http://schemas.openxmlformats.org/drawingml/2006/main">
            <a:r>
              <a:t>Same outcome: I can present researched solar system findings clearly, credit sources and respond to an audience question with a change or a clear reason plus one transfer step.</a:t>
            </a:r>
          </a:p>
          <a:p xmlns:a="http://schemas.openxmlformats.org/drawingml/2006/main">
            <a:r>
              <a:t>Offline digital / director route</a:t>
            </a:r>
          </a:p>
          <a:p xmlns:a="http://schemas.openxmlformats.org/drawingml/2006/main">
            <a:r>
              <a:t>Create one to three simple local slides, present them to a named adult or peer and save the changed version or a confirmed-content transfer note locally.</a:t>
            </a:r>
          </a:p>
          <a:p xmlns:a="http://schemas.openxmlformats.org/drawingml/2006/main">
            <a:r>
              <a:t>Same evidence: A saved slide, paper panel or witness record; source labels; one audience question; and either a before-and-after change or a clear confirmation plus one transfer step.</a:t>
            </a:r>
          </a:p>
          <a:p xmlns:a="http://schemas.openxmlformats.org/drawingml/2006/main">
            <a:r>
              <a:t>Equipment / setup Research record, paper panel or school device, source labels, audience question slip and revision record.</a:t>
            </a:r>
          </a:p>
          <a:p xmlns:a="http://schemas.openxmlformats.org/drawingml/2006/main">
            <a:r>
              <a:t>Safety / sensory Use only school-approved content and devices, share no personal information, avoid flashing effects and follow agreed volume and movement routines.</a:t>
            </a:r>
          </a:p>
          <a:p xmlns:a="http://schemas.openxmlformats.org/drawingml/2006/main">
            <a:r>
              <a:t>Offline parity Create one to three simple local slides, present them to a named adult or peer and save the changed version or a confirmed-content transfer note locally.</a:t>
            </a:r>
          </a:p>
          <a:p xmlns:a="http://schemas.openxmlformats.org/drawingml/2006/main">
            <a:r>
              <a:t>No-equipment/access route: Use a paper poster, object arrangement, signed or spoken briefing, recorded audio without personal details, or an adult-scribed script.</a:t>
            </a:r>
          </a:p>
          <a:p xmlns:a="http://schemas.openxmlformats.org/drawingml/2006/main">
            <a:r>
              <a:t>▲ Standard</a:t>
            </a:r>
          </a:p>
          <a:p xmlns:a="http://schemas.openxmlformats.org/drawingml/2006/main">
            <a:r>
              <a:t>Give a one-to-two-minute briefing with claim, evidence and sources, then respond with a visible change or a clear reason plus one transfer step.</a:t>
            </a:r>
          </a:p>
          <a:p xmlns:a="http://schemas.openxmlformats.org/drawingml/2006/main">
            <a:r>
              <a:t>Scaffold</a:t>
            </a:r>
          </a:p>
          <a:p xmlns:a="http://schemas.openxmlformats.org/drawingml/2006/main">
            <a:r>
              <a:t>Use cue cards: question, claim, evidence 1, evidence 2, source, audience response, next step.</a:t>
            </a:r>
          </a:p>
          <a:p xmlns:a="http://schemas.openxmlformats.org/drawingml/2006/main">
            <a:r>
              <a:t>Evidence gate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Independent: 15 minutes TOTAL across all slides in this stage.</a:t>
            </a:r>
          </a:p>
          <a:p xmlns:a="http://schemas.openxmlformats.org/drawingml/2006/main">
            <a:r>
              <a:t/>
            </a:r>
          </a:p>
          <a:p xmlns:a="http://schemas.openxmlformats.org/drawingml/2006/main">
            <a:r>
              <a:t>Protect independence. Accept equivalent evidence routes and scribe exact meaning.</a:t>
            </a:r>
          </a:p>
          <a:p xmlns:a="http://schemas.openxmlformats.org/drawingml/2006/main">
            <a:r>
              <a:t/>
            </a:r>
          </a:p>
          <a:p xmlns:a="http://schemas.openxmlformats.org/drawingml/2006/main">
            <a:r>
              <a:t>Prompt only as much as needed; fade as soon as the pupil continues.</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Physical route</a:t>
            </a:r>
          </a:p>
          <a:p xmlns:a="http://schemas.openxmlformats.org/drawingml/2006/main">
            <a:r>
              <a:t>Research record, paper panel or school device, source labels, audience question slip and revision record.</a:t>
            </a:r>
          </a:p>
          <a:p xmlns:a="http://schemas.openxmlformats.org/drawingml/2006/main">
            <a:r>
              <a:t>Same outcome: I can present researched solar system findings clearly, credit sources and respond to an audience question with a change or a clear reason plus one transfer step.</a:t>
            </a:r>
          </a:p>
          <a:p xmlns:a="http://schemas.openxmlformats.org/drawingml/2006/main">
            <a:r>
              <a:t>Offline digital / director route</a:t>
            </a:r>
          </a:p>
          <a:p xmlns:a="http://schemas.openxmlformats.org/drawingml/2006/main">
            <a:r>
              <a:t>Create one to three simple local slides, present them to a named adult or peer and save the changed version or a confirmed-content transfer note locally.</a:t>
            </a:r>
          </a:p>
          <a:p xmlns:a="http://schemas.openxmlformats.org/drawingml/2006/main">
            <a:r>
              <a:t>Same evidence: A saved slide, paper panel or witness record; source labels; one audience question; and either a before-and-after change or a clear confirmation plus one transfer step.</a:t>
            </a:r>
          </a:p>
          <a:p xmlns:a="http://schemas.openxmlformats.org/drawingml/2006/main">
            <a:r>
              <a:t>Equipment / setup Research record, paper panel or school device, source labels, audience question slip and revision record.</a:t>
            </a:r>
          </a:p>
          <a:p xmlns:a="http://schemas.openxmlformats.org/drawingml/2006/main">
            <a:r>
              <a:t>Safety / sensory Use only school-approved content and devices, share no personal information, avoid flashing effects and follow agreed volume and movement routines.</a:t>
            </a:r>
          </a:p>
          <a:p xmlns:a="http://schemas.openxmlformats.org/drawingml/2006/main">
            <a:r>
              <a:t>Offline parity Create one to three simple local slides, present them to a named adult or peer and save the changed version or a confirmed-content transfer note locally.</a:t>
            </a:r>
          </a:p>
          <a:p xmlns:a="http://schemas.openxmlformats.org/drawingml/2006/main">
            <a:r>
              <a:t>No-equipment/access route: Use a paper poster, object arrangement, signed or spoken briefing, recorded audio without personal details, or an adult-scribed script.</a:t>
            </a:r>
          </a:p>
          <a:p xmlns:a="http://schemas.openxmlformats.org/drawingml/2006/main">
            <a:r>
              <a:t>▲ Standard</a:t>
            </a:r>
          </a:p>
          <a:p xmlns:a="http://schemas.openxmlformats.org/drawingml/2006/main">
            <a:r>
              <a:t>Give a one-to-two-minute briefing with claim, evidence and sources, then respond with a visible change or a clear reason plus one transfer step.</a:t>
            </a:r>
          </a:p>
          <a:p xmlns:a="http://schemas.openxmlformats.org/drawingml/2006/main">
            <a:r>
              <a:t>Scaffold</a:t>
            </a:r>
          </a:p>
          <a:p xmlns:a="http://schemas.openxmlformats.org/drawingml/2006/main">
            <a:r>
              <a:t>Use cue cards: question, claim, evidence 1, evidence 2, source, audience response, next step.</a:t>
            </a:r>
          </a:p>
          <a:p xmlns:a="http://schemas.openxmlformats.org/drawingml/2006/main">
            <a:r>
              <a:t>Evidence gate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SCI_G_W10B_Solar_System_Presentation_Do.html. Exit: 4 minutes TOTAL across all slides in this stage.</a:t>
            </a:r>
          </a:p>
          <a:p xmlns:a="http://schemas.openxmlformats.org/drawingml/2006/main">
            <a:r>
              <a:t/>
            </a:r>
          </a:p>
          <a:p xmlns:a="http://schemas.openxmlformats.org/drawingml/2006/main">
            <a:r>
              <a:t>Genuinely receive one final response and name back the Science heard or seen.</a:t>
            </a:r>
          </a:p>
          <a:p xmlns:a="http://schemas.openxmlformats.org/drawingml/2006/main">
            <a:r>
              <a:t/>
            </a:r>
          </a:p>
          <a:p xmlns:a="http://schemas.openxmlformats.org/drawingml/2006/main">
            <a:r>
              <a:t>Choose one visible next move. The pupil writes what they said and what changed.</a:t>
            </a:r>
          </a:p>
          <a:p xmlns:a="http://schemas.openxmlformats.org/drawingml/2006/main">
            <a:r>
              <a:t/>
            </a:r>
          </a:p>
          <a:p xmlns:a="http://schemas.openxmlformats.org/drawingml/2006/main">
            <a:r>
              <a:t>Model limit: A short briefing cannot contain every fact. Attractive slides do not prove accuracy, and an audience question does not replace source checking.</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Standard</a:t>
            </a:r>
          </a:p>
          <a:p xmlns:a="http://schemas.openxmlformats.org/drawingml/2006/main">
            <a:r>
              <a:t>What did you say, who received it, and what changed? If no content changed, why was that right and what transfers next?</a:t>
            </a:r>
          </a:p>
          <a:p xmlns:a="http://schemas.openxmlformats.org/drawingml/2006/main">
            <a:r>
              <a:t>Adult Audience</a:t>
            </a:r>
          </a:p>
          <a:p xmlns:a="http://schemas.openxmlformats.org/drawingml/2006/main">
            <a:r>
              <a:t>The familiar adult genuinely receives the pupil response, then says back the Science they heard or saw. The adult does not add a score or rewrite the pupil.</a:t>
            </a:r>
          </a:p>
          <a:p xmlns:a="http://schemas.openxmlformats.org/drawingml/2006/main">
            <a:r>
              <a:t>What I said, and what it changed:</a:t>
            </a:r>
          </a:p>
          <a:p xmlns:a="http://schemas.openxmlformats.org/drawingml/2006/main">
            <a:r>
              <a:t>Next I will ______. One next step chosen after the adult listened.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SCI_G_W10B_Solar_System_Presentation_Do.html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295c8a9e9f42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fe2200c613414d" /><Relationship Type="http://schemas.openxmlformats.org/officeDocument/2006/relationships/slideLayout" Target="/ppt/slideLayouts/slideLayout1.xml" Id="R8c80bcc3ef8940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80bcc3ef8940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0463b0801e4902" /><Relationship Type="http://schemas.openxmlformats.org/officeDocument/2006/relationships/hyperlink" Target="SCI_G_W10B_Solar_System_Presentation_Do.html" TargetMode="External" Id="Rbadb10988659401d" /><Relationship Type="http://schemas.openxmlformats.org/officeDocument/2006/relationships/notesSlide" Target="/ppt/notesSlides/notesSlide1.xml" Id="Rf3eb0ca5972749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b4e338b34f420e" /><Relationship Type="http://schemas.openxmlformats.org/officeDocument/2006/relationships/notesSlide" Target="/ppt/notesSlides/notesSlide2.xml" Id="Rae5034b6793141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7495d80fae4c7e" /><Relationship Type="http://schemas.openxmlformats.org/officeDocument/2006/relationships/notesSlide" Target="/ppt/notesSlides/notesSlide3.xml" Id="Rc20481bc0bbb49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af47f1e6934028" /><Relationship Type="http://schemas.openxmlformats.org/officeDocument/2006/relationships/notesSlide" Target="/ppt/notesSlides/notesSlide4.xml" Id="Rbd21bbcd46e945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2791e2414040e3" /><Relationship Type="http://schemas.openxmlformats.org/officeDocument/2006/relationships/notesSlide" Target="/ppt/notesSlides/notesSlide5.xml" Id="R5f83159e4b1f4e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55d2f1407f4600" /><Relationship Type="http://schemas.openxmlformats.org/officeDocument/2006/relationships/image" Target="/ppt/media/image.png" Id="Rfb9ad3e78d1c4cd7" /><Relationship Type="http://schemas.openxmlformats.org/officeDocument/2006/relationships/image" Target="/ppt/media/image2.png" Id="R38375b19e2264140" /><Relationship Type="http://schemas.openxmlformats.org/officeDocument/2006/relationships/image" Target="/ppt/media/image3.png" Id="R42e97d5fd77f4edb" /><Relationship Type="http://schemas.openxmlformats.org/officeDocument/2006/relationships/notesSlide" Target="/ppt/notesSlides/notesSlide6.xml" Id="R4ab0c43904ab42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01180de99c4080" /><Relationship Type="http://schemas.openxmlformats.org/officeDocument/2006/relationships/notesSlide" Target="/ppt/notesSlides/notesSlide7.xml" Id="R2e5dd4a0918246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313080794f4cdb" /><Relationship Type="http://schemas.openxmlformats.org/officeDocument/2006/relationships/notesSlide" Target="/ppt/notesSlides/notesSlide8.xml" Id="Rc9a76692ab3942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7d616c17d74ea3" /><Relationship Type="http://schemas.openxmlformats.org/officeDocument/2006/relationships/notesSlide" Target="/ppt/notesSlides/notesSlide9.xml" Id="Rf9d856590f3847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2c3369841641b9" /><Relationship Type="http://schemas.openxmlformats.org/officeDocument/2006/relationships/notesSlide" Target="/ppt/notesSlides/notesSlide10.xml" Id="R3d0f79d2ecd54c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cb9cae0bc24735" /><Relationship Type="http://schemas.openxmlformats.org/officeDocument/2006/relationships/notesSlide" Target="/ppt/notesSlides/notesSlide11.xml" Id="Rb9624993d01f4d4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64ec882a34d4663" /><Relationship Type="http://schemas.openxmlformats.org/officeDocument/2006/relationships/notesSlide" Target="/ppt/notesSlides/notesSlide12.xml" Id="Re2b1ce6ba9804b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f5cce3544cb4da9" /><Relationship Type="http://schemas.openxmlformats.org/officeDocument/2006/relationships/notesSlide" Target="/ppt/notesSlides/notesSlide13.xml" Id="Rf76c6e8ca9ca45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a1bb02aa13439f" /><Relationship Type="http://schemas.openxmlformats.org/officeDocument/2006/relationships/notesSlide" Target="/ppt/notesSlides/notesSlide14.xml" Id="R7837bb58dd0140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f0fdd4436764433" /><Relationship Type="http://schemas.openxmlformats.org/officeDocument/2006/relationships/notesSlide" Target="/ppt/notesSlides/notesSlide15.xml" Id="R9b0a059f14814a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ac0752aa7ef4c67" /><Relationship Type="http://schemas.openxmlformats.org/officeDocument/2006/relationships/notesSlide" Target="/ppt/notesSlides/notesSlide16.xml" Id="R44d71ac76cfc4683"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9" name="phase edge">
            <a:extLst xmlns:a="http://schemas.openxmlformats.org/drawingml/2006/main">
              <a:ext uri="{FF2B5EF4-FFF2-40B4-BE49-F238E27FC236}">
                <a16:creationId xmlns:a16="http://schemas.microsoft.com/office/drawing/2014/main" id="{C3156629-6133-44E4-843C-1542729208D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51987AC-D28F-4FF2-A90A-47FF3BCD57D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ED1A267E-8AEC-4C8A-A60E-995C84F59C5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F85C1526-FC69-4F03-8FCC-04800C4D763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Solar System Presentation: Mission Briefing</a:t>
            </a:r>
          </a:p>
        </p:txBody>
      </p:sp>
      <p:sp>
        <p:nvSpPr>
          <p:cNvPr id="5" name="paper panel">
            <a:extLst xmlns:a="http://schemas.openxmlformats.org/drawingml/2006/main">
              <a:ext uri="{FF2B5EF4-FFF2-40B4-BE49-F238E27FC236}">
                <a16:creationId xmlns:a16="http://schemas.microsoft.com/office/drawing/2014/main" id="{35CCCC64-297D-4910-8382-8DE8C519A10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AE0635FE-4D73-4D75-8DA9-2C21234A0C07}"/>
              </a:ext>
            </a:extLst>
          </p:cNvPr>
          <p:cNvSpPr>
            <a:spLocks xmlns:a="http://schemas.openxmlformats.org/drawingml/2006/main" noGrp="1"/>
          </p:cNvSpPr>
          <p:nvPr/>
        </p:nvSpPr>
        <p:spPr>
          <a:xfrm xmlns:a="http://schemas.openxmlformats.org/drawingml/2006/main">
            <a:off x="762000" y="2181225"/>
            <a:ext cx="5924550" cy="1462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I can present researched Solar System findings clearly, credit sources and respond to an audience question with a change or a clear reason plus one transfer step.</a:t>
            </a:r>
          </a:p>
        </p:txBody>
      </p:sp>
      <p:sp>
        <p:nvSpPr>
          <p:cNvPr id="7" name="learning move 0">
            <a:extLst xmlns:a="http://schemas.openxmlformats.org/drawingml/2006/main">
              <a:ext uri="{FF2B5EF4-FFF2-40B4-BE49-F238E27FC236}">
                <a16:creationId xmlns:a16="http://schemas.microsoft.com/office/drawing/2014/main" id="{1CA676CE-AE92-4C51-B4C2-585D70520CF8}"/>
              </a:ext>
            </a:extLst>
          </p:cNvPr>
          <p:cNvSpPr>
            <a:spLocks xmlns:a="http://schemas.openxmlformats.org/drawingml/2006/main" noGrp="1"/>
          </p:cNvSpPr>
          <p:nvPr/>
        </p:nvSpPr>
        <p:spPr>
          <a:xfrm xmlns:a="http://schemas.openxmlformats.org/drawingml/2006/main">
            <a:off x="7029450" y="2305050"/>
            <a:ext cx="4238625" cy="800100"/>
          </a:xfrm>
          <a:prstGeom xmlns:a="http://schemas.openxmlformats.org/drawingml/2006/main" prst="rect">
            <a:avLst/>
          </a:prstGeom>
          <a:solidFill xmlns:a="http://schemas.openxmlformats.org/drawingml/2006/main">
            <a:srgbClr val="EAF0F3"/>
          </a:solidFill>
          <a:ln xmlns:a="http://schemas.openxmlformats.org/drawingml/2006/main" w="0">
            <a:noFill/>
          </a:ln>
        </p:spPr>
      </p:sp>
      <p:sp>
        <p:nvSpPr>
          <p:cNvPr id="8" name="move 0">
            <a:extLst xmlns:a="http://schemas.openxmlformats.org/drawingml/2006/main">
              <a:ext uri="{FF2B5EF4-FFF2-40B4-BE49-F238E27FC236}">
                <a16:creationId xmlns:a16="http://schemas.microsoft.com/office/drawing/2014/main" id="{1E4EAB48-23D0-4853-8D95-A39333926CD2}"/>
              </a:ext>
            </a:extLst>
          </p:cNvPr>
          <p:cNvSpPr>
            <a:spLocks xmlns:a="http://schemas.openxmlformats.org/drawingml/2006/main" noGrp="1"/>
          </p:cNvSpPr>
          <p:nvPr/>
        </p:nvSpPr>
        <p:spPr>
          <a:xfrm xmlns:a="http://schemas.openxmlformats.org/drawingml/2006/main">
            <a:off x="7200900" y="2428875"/>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233F"/>
                </a:solidFill>
                <a:latin typeface="Arial"/>
                <a:ea typeface="Arial"/>
                <a:cs typeface="Arial"/>
              </a:defRPr>
            </a:pPr>
            <a:r>
              <a:rPr sz="1875" b="1">
                <a:solidFill>
                  <a:srgbClr val="10233F"/>
                </a:solidFill>
                <a:latin typeface="Arial"/>
                <a:ea typeface="Arial"/>
                <a:cs typeface="Arial"/>
              </a:rPr>
              <a:t>Claim and evidence</a:t>
            </a:r>
          </a:p>
        </p:txBody>
      </p:sp>
      <p:sp>
        <p:nvSpPr>
          <p:cNvPr id="9" name="move detail 0">
            <a:extLst xmlns:a="http://schemas.openxmlformats.org/drawingml/2006/main">
              <a:ext uri="{FF2B5EF4-FFF2-40B4-BE49-F238E27FC236}">
                <a16:creationId xmlns:a16="http://schemas.microsoft.com/office/drawing/2014/main" id="{AF2D0D88-ADA4-48D7-BA2A-154621217912}"/>
              </a:ext>
            </a:extLst>
          </p:cNvPr>
          <p:cNvSpPr>
            <a:spLocks xmlns:a="http://schemas.openxmlformats.org/drawingml/2006/main" noGrp="1"/>
          </p:cNvSpPr>
          <p:nvPr/>
        </p:nvSpPr>
        <p:spPr>
          <a:xfrm xmlns:a="http://schemas.openxmlformats.org/drawingml/2006/main">
            <a:off x="7200900" y="277177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0233F"/>
                </a:solidFill>
                <a:latin typeface="Arial"/>
                <a:ea typeface="Arial"/>
                <a:cs typeface="Arial"/>
              </a:defRPr>
            </a:pPr>
            <a:r>
              <a:rPr sz="1425" b="0">
                <a:solidFill>
                  <a:srgbClr val="10233F"/>
                </a:solidFill>
                <a:latin typeface="Arial"/>
                <a:ea typeface="Arial"/>
                <a:cs typeface="Arial"/>
              </a:rPr>
              <a:t>use evidence</a:t>
            </a:r>
          </a:p>
        </p:txBody>
      </p:sp>
      <p:sp>
        <p:nvSpPr>
          <p:cNvPr id="10" name="learning move 1">
            <a:extLst xmlns:a="http://schemas.openxmlformats.org/drawingml/2006/main">
              <a:ext uri="{FF2B5EF4-FFF2-40B4-BE49-F238E27FC236}">
                <a16:creationId xmlns:a16="http://schemas.microsoft.com/office/drawing/2014/main" id="{72BD9E11-B8D5-4799-B21D-CD8926172D4F}"/>
              </a:ext>
            </a:extLst>
          </p:cNvPr>
          <p:cNvSpPr>
            <a:spLocks xmlns:a="http://schemas.openxmlformats.org/drawingml/2006/main" noGrp="1"/>
          </p:cNvSpPr>
          <p:nvPr/>
        </p:nvSpPr>
        <p:spPr>
          <a:xfrm xmlns:a="http://schemas.openxmlformats.org/drawingml/2006/main">
            <a:off x="7029450" y="3248025"/>
            <a:ext cx="4238625" cy="800100"/>
          </a:xfrm>
          <a:prstGeom xmlns:a="http://schemas.openxmlformats.org/drawingml/2006/main" prst="rect">
            <a:avLst/>
          </a:prstGeom>
          <a:solidFill xmlns:a="http://schemas.openxmlformats.org/drawingml/2006/main">
            <a:srgbClr val="EAF0F3"/>
          </a:solidFill>
          <a:ln xmlns:a="http://schemas.openxmlformats.org/drawingml/2006/main" w="0">
            <a:noFill/>
          </a:ln>
        </p:spPr>
      </p:sp>
      <p:sp>
        <p:nvSpPr>
          <p:cNvPr id="11" name="move 1">
            <a:extLst xmlns:a="http://schemas.openxmlformats.org/drawingml/2006/main">
              <a:ext uri="{FF2B5EF4-FFF2-40B4-BE49-F238E27FC236}">
                <a16:creationId xmlns:a16="http://schemas.microsoft.com/office/drawing/2014/main" id="{D49AED6B-58CA-4E15-889F-7A2ABDEC4E6A}"/>
              </a:ext>
            </a:extLst>
          </p:cNvPr>
          <p:cNvSpPr>
            <a:spLocks xmlns:a="http://schemas.openxmlformats.org/drawingml/2006/main" noGrp="1"/>
          </p:cNvSpPr>
          <p:nvPr/>
        </p:nvSpPr>
        <p:spPr>
          <a:xfrm xmlns:a="http://schemas.openxmlformats.org/drawingml/2006/main">
            <a:off x="7200900" y="33718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233F"/>
                </a:solidFill>
                <a:latin typeface="Arial"/>
                <a:ea typeface="Arial"/>
                <a:cs typeface="Arial"/>
              </a:defRPr>
            </a:pPr>
            <a:r>
              <a:rPr sz="1875" b="1">
                <a:solidFill>
                  <a:srgbClr val="10233F"/>
                </a:solidFill>
                <a:latin typeface="Arial"/>
                <a:ea typeface="Arial"/>
                <a:cs typeface="Arial"/>
              </a:rPr>
              <a:t>A real audience question</a:t>
            </a:r>
          </a:p>
        </p:txBody>
      </p:sp>
      <p:sp>
        <p:nvSpPr>
          <p:cNvPr id="12" name="move detail 1">
            <a:extLst xmlns:a="http://schemas.openxmlformats.org/drawingml/2006/main">
              <a:ext uri="{FF2B5EF4-FFF2-40B4-BE49-F238E27FC236}">
                <a16:creationId xmlns:a16="http://schemas.microsoft.com/office/drawing/2014/main" id="{2882AC1A-50C5-42B2-8914-B381BCCD1C79}"/>
              </a:ext>
            </a:extLst>
          </p:cNvPr>
          <p:cNvSpPr>
            <a:spLocks xmlns:a="http://schemas.openxmlformats.org/drawingml/2006/main" noGrp="1"/>
          </p:cNvSpPr>
          <p:nvPr/>
        </p:nvSpPr>
        <p:spPr>
          <a:xfrm xmlns:a="http://schemas.openxmlformats.org/drawingml/2006/main">
            <a:off x="7200900" y="3714750"/>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0233F"/>
                </a:solidFill>
                <a:latin typeface="Arial"/>
                <a:ea typeface="Arial"/>
                <a:cs typeface="Arial"/>
              </a:defRPr>
            </a:pPr>
            <a:r>
              <a:rPr sz="1425" b="0">
                <a:solidFill>
                  <a:srgbClr val="10233F"/>
                </a:solidFill>
                <a:latin typeface="Arial"/>
                <a:ea typeface="Arial"/>
                <a:cs typeface="Arial"/>
              </a:rPr>
              <a:t>use evidence</a:t>
            </a:r>
          </a:p>
        </p:txBody>
      </p:sp>
      <p:sp>
        <p:nvSpPr>
          <p:cNvPr id="13" name="learning move 2">
            <a:extLst xmlns:a="http://schemas.openxmlformats.org/drawingml/2006/main">
              <a:ext uri="{FF2B5EF4-FFF2-40B4-BE49-F238E27FC236}">
                <a16:creationId xmlns:a16="http://schemas.microsoft.com/office/drawing/2014/main" id="{1A892DE8-D922-44FB-BD20-FF0820FD6453}"/>
              </a:ext>
            </a:extLst>
          </p:cNvPr>
          <p:cNvSpPr>
            <a:spLocks xmlns:a="http://schemas.openxmlformats.org/drawingml/2006/main" noGrp="1"/>
          </p:cNvSpPr>
          <p:nvPr/>
        </p:nvSpPr>
        <p:spPr>
          <a:xfrm xmlns:a="http://schemas.openxmlformats.org/drawingml/2006/main">
            <a:off x="7029450" y="4191000"/>
            <a:ext cx="4238625" cy="800100"/>
          </a:xfrm>
          <a:prstGeom xmlns:a="http://schemas.openxmlformats.org/drawingml/2006/main" prst="rect">
            <a:avLst/>
          </a:prstGeom>
          <a:solidFill xmlns:a="http://schemas.openxmlformats.org/drawingml/2006/main">
            <a:srgbClr val="EAF0F3"/>
          </a:solidFill>
          <a:ln xmlns:a="http://schemas.openxmlformats.org/drawingml/2006/main" w="0">
            <a:noFill/>
          </a:ln>
        </p:spPr>
      </p:sp>
      <p:sp>
        <p:nvSpPr>
          <p:cNvPr id="14" name="move 2">
            <a:extLst xmlns:a="http://schemas.openxmlformats.org/drawingml/2006/main">
              <a:ext uri="{FF2B5EF4-FFF2-40B4-BE49-F238E27FC236}">
                <a16:creationId xmlns:a16="http://schemas.microsoft.com/office/drawing/2014/main" id="{AC0B99A8-E61C-4C8C-AE6C-C381CD640AA5}"/>
              </a:ext>
            </a:extLst>
          </p:cNvPr>
          <p:cNvSpPr>
            <a:spLocks xmlns:a="http://schemas.openxmlformats.org/drawingml/2006/main" noGrp="1"/>
          </p:cNvSpPr>
          <p:nvPr/>
        </p:nvSpPr>
        <p:spPr>
          <a:xfrm xmlns:a="http://schemas.openxmlformats.org/drawingml/2006/main">
            <a:off x="7200900" y="4314825"/>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233F"/>
                </a:solidFill>
                <a:latin typeface="Arial"/>
                <a:ea typeface="Arial"/>
                <a:cs typeface="Arial"/>
              </a:defRPr>
            </a:pPr>
            <a:r>
              <a:rPr sz="1875" b="1">
                <a:solidFill>
                  <a:srgbClr val="10233F"/>
                </a:solidFill>
                <a:latin typeface="Arial"/>
                <a:ea typeface="Arial"/>
                <a:cs typeface="Arial"/>
              </a:rPr>
              <a:t>One visible response and next step</a:t>
            </a:r>
          </a:p>
        </p:txBody>
      </p:sp>
      <p:sp>
        <p:nvSpPr>
          <p:cNvPr id="15" name="move detail 2">
            <a:extLst xmlns:a="http://schemas.openxmlformats.org/drawingml/2006/main">
              <a:ext uri="{FF2B5EF4-FFF2-40B4-BE49-F238E27FC236}">
                <a16:creationId xmlns:a16="http://schemas.microsoft.com/office/drawing/2014/main" id="{5B4E5E74-17C6-491D-8B86-EB1D66284017}"/>
              </a:ext>
            </a:extLst>
          </p:cNvPr>
          <p:cNvSpPr>
            <a:spLocks xmlns:a="http://schemas.openxmlformats.org/drawingml/2006/main" noGrp="1"/>
          </p:cNvSpPr>
          <p:nvPr/>
        </p:nvSpPr>
        <p:spPr>
          <a:xfrm xmlns:a="http://schemas.openxmlformats.org/drawingml/2006/main">
            <a:off x="7200900" y="465772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0233F"/>
                </a:solidFill>
                <a:latin typeface="Arial"/>
                <a:ea typeface="Arial"/>
                <a:cs typeface="Arial"/>
              </a:defRPr>
            </a:pPr>
            <a:r>
              <a:rPr sz="1425" b="0">
                <a:solidFill>
                  <a:srgbClr val="10233F"/>
                </a:solidFill>
                <a:latin typeface="Arial"/>
                <a:ea typeface="Arial"/>
                <a:cs typeface="Arial"/>
              </a:rPr>
              <a:t>use evidence</a:t>
            </a:r>
          </a:p>
        </p:txBody>
      </p:sp>
      <p:sp>
        <p:nvSpPr>
          <p:cNvPr id="16" name="HTML link">
            <a:extLst xmlns:a="http://schemas.openxmlformats.org/drawingml/2006/main">
              <a:ext uri="{FF2B5EF4-FFF2-40B4-BE49-F238E27FC236}">
                <a16:creationId xmlns:a16="http://schemas.microsoft.com/office/drawing/2014/main" id="{04E78D9E-88F8-4849-BA53-720E9D03D590}"/>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3F7D6E"/>
                </a:solidFill>
                <a:latin typeface="Arial"/>
                <a:ea typeface="Arial"/>
                <a:cs typeface="Arial"/>
              </a:defRPr>
            </a:pPr>
            <a:r>
              <a:rPr sz="1575" b="1">
                <a:solidFill>
                  <a:srgbClr val="3F7D6E"/>
                </a:solidFill>
                <a:latin typeface="Arial"/>
                <a:ea typeface="Arial"/>
                <a:cs typeface="Arial"/>
                <a:hlinkClick xmlns:r="http://schemas.openxmlformats.org/officeDocument/2006/relationships" r:id="Rbadb10988659401d"/>
              </a:rPr>
              <a:t>Open the original interactive lesson</a:t>
            </a:r>
          </a:p>
        </p:txBody>
      </p:sp>
      <p:sp>
        <p:nvSpPr>
          <p:cNvPr id="17" name="time">
            <a:extLst xmlns:a="http://schemas.openxmlformats.org/drawingml/2006/main">
              <a:ext uri="{FF2B5EF4-FFF2-40B4-BE49-F238E27FC236}">
                <a16:creationId xmlns:a16="http://schemas.microsoft.com/office/drawing/2014/main" id="{4F37C2D3-02FA-438B-8453-CD4A48B8CF6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18" name="number">
            <a:extLst xmlns:a="http://schemas.openxmlformats.org/drawingml/2006/main">
              <a:ext uri="{FF2B5EF4-FFF2-40B4-BE49-F238E27FC236}">
                <a16:creationId xmlns:a16="http://schemas.microsoft.com/office/drawing/2014/main" id="{860A9527-0C74-4EE5-B642-BD36051CC77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16</a:t>
            </a:r>
          </a:p>
        </p:txBody>
      </p:sp>
    </p:spTree>
    <p:extLst>
      <p:ext uri="{BB962C8B-B14F-4D97-AF65-F5344CB8AC3E}">
        <p14:creationId xmlns:p14="http://schemas.microsoft.com/office/powerpoint/2010/main" val="1412847985"/>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4C5E40BF-67FD-4EA2-8D62-96A6668D0A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88E249D-062D-4BFE-8C0C-BD81403BD01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5361C39F-5EE8-4AE8-B2D5-8DB9E1CF893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5F64CEEE-082A-4F83-A2F7-DC30B65147A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What success looks like</a:t>
            </a:r>
          </a:p>
        </p:txBody>
      </p:sp>
      <p:sp>
        <p:nvSpPr>
          <p:cNvPr id="5" name="paper panel">
            <a:extLst xmlns:a="http://schemas.openxmlformats.org/drawingml/2006/main">
              <a:ext uri="{FF2B5EF4-FFF2-40B4-BE49-F238E27FC236}">
                <a16:creationId xmlns:a16="http://schemas.microsoft.com/office/drawing/2014/main" id="{3D78334D-E455-4F47-99B1-AE61043D5A6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3D4B1EA-721B-4F65-BEA6-8B0D1457A2CA}"/>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Present a focused claim supported by accurate facts.</a:t>
            </a:r>
          </a:p>
        </p:txBody>
      </p:sp>
      <p:sp>
        <p:nvSpPr>
          <p:cNvPr id="7" name="content 1">
            <a:extLst xmlns:a="http://schemas.openxmlformats.org/drawingml/2006/main">
              <a:ext uri="{FF2B5EF4-FFF2-40B4-BE49-F238E27FC236}">
                <a16:creationId xmlns:a16="http://schemas.microsoft.com/office/drawing/2014/main" id="{B2225B65-B5EC-49B4-8E1D-919A64B48B7F}"/>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Make source labels visible or say them aloud.</a:t>
            </a:r>
          </a:p>
        </p:txBody>
      </p:sp>
      <p:sp>
        <p:nvSpPr>
          <p:cNvPr id="8" name="content 2">
            <a:extLst xmlns:a="http://schemas.openxmlformats.org/drawingml/2006/main">
              <a:ext uri="{FF2B5EF4-FFF2-40B4-BE49-F238E27FC236}">
                <a16:creationId xmlns:a16="http://schemas.microsoft.com/office/drawing/2014/main" id="{C19D5E0F-C5BF-418A-95A6-EAD89ABF0121}"/>
              </a:ext>
            </a:extLst>
          </p:cNvPr>
          <p:cNvSpPr>
            <a:spLocks xmlns:a="http://schemas.openxmlformats.org/drawingml/2006/main" noGrp="1"/>
          </p:cNvSpPr>
          <p:nvPr/>
        </p:nvSpPr>
        <p:spPr>
          <a:xfrm xmlns:a="http://schemas.openxmlformats.org/drawingml/2006/main">
            <a:off x="800100" y="30861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Receive an audience question and record a useful change, or explain why the content stays and set a transfer step.</a:t>
            </a:r>
          </a:p>
        </p:txBody>
      </p:sp>
      <p:sp>
        <p:nvSpPr>
          <p:cNvPr id="9" name="time">
            <a:extLst xmlns:a="http://schemas.openxmlformats.org/drawingml/2006/main">
              <a:ext uri="{FF2B5EF4-FFF2-40B4-BE49-F238E27FC236}">
                <a16:creationId xmlns:a16="http://schemas.microsoft.com/office/drawing/2014/main" id="{8FCBB89E-DDCB-496B-BEBE-0DC0BB6738B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10" name="number">
            <a:extLst xmlns:a="http://schemas.openxmlformats.org/drawingml/2006/main">
              <a:ext uri="{FF2B5EF4-FFF2-40B4-BE49-F238E27FC236}">
                <a16:creationId xmlns:a16="http://schemas.microsoft.com/office/drawing/2014/main" id="{03A8FFF3-6CF7-482D-9759-D9996EA7687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16</a:t>
            </a:r>
          </a:p>
        </p:txBody>
      </p:sp>
    </p:spTree>
    <p:extLst>
      <p:ext uri="{BB962C8B-B14F-4D97-AF65-F5344CB8AC3E}">
        <p14:creationId xmlns:p14="http://schemas.microsoft.com/office/powerpoint/2010/main" val="460500412"/>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9709090B-4133-4528-8FD6-E0E0A257591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947C41F-D44D-4C81-A0EB-47F8BAB9299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F8EBF515-B795-4EE0-8469-1832F108F18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52AE25AE-6196-4AB9-9171-9BF14E70E73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and reconnect</a:t>
            </a:r>
          </a:p>
        </p:txBody>
      </p:sp>
      <p:sp>
        <p:nvSpPr>
          <p:cNvPr id="5" name="paper panel">
            <a:extLst xmlns:a="http://schemas.openxmlformats.org/drawingml/2006/main">
              <a:ext uri="{FF2B5EF4-FFF2-40B4-BE49-F238E27FC236}">
                <a16:creationId xmlns:a16="http://schemas.microsoft.com/office/drawing/2014/main" id="{2D1DC36D-62D1-43FA-8431-7A23DADA097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A451E52-3C04-4B18-BBC5-7DCCB130B083}"/>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Last lesson: how can another person find the source card for your note?</a:t>
            </a:r>
          </a:p>
        </p:txBody>
      </p:sp>
      <p:sp>
        <p:nvSpPr>
          <p:cNvPr id="7" name="content 1">
            <a:extLst xmlns:a="http://schemas.openxmlformats.org/drawingml/2006/main">
              <a:ext uri="{FF2B5EF4-FFF2-40B4-BE49-F238E27FC236}">
                <a16:creationId xmlns:a16="http://schemas.microsoft.com/office/drawing/2014/main" id="{B71C2696-0A62-4A99-924D-778CFF6D9945}"/>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Last lesson: explain paraphrase without using the word copy.</a:t>
            </a:r>
          </a:p>
        </p:txBody>
      </p:sp>
      <p:sp>
        <p:nvSpPr>
          <p:cNvPr id="8" name="content 2">
            <a:extLst xmlns:a="http://schemas.openxmlformats.org/drawingml/2006/main">
              <a:ext uri="{FF2B5EF4-FFF2-40B4-BE49-F238E27FC236}">
                <a16:creationId xmlns:a16="http://schemas.microsoft.com/office/drawing/2014/main" id="{3AFF2C42-E231-42AA-94F0-789A5C9ADFA7}"/>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Last week: state one approximately spherical finding accurately.</a:t>
            </a:r>
          </a:p>
        </p:txBody>
      </p:sp>
      <p:sp>
        <p:nvSpPr>
          <p:cNvPr id="9" name="content 3">
            <a:extLst xmlns:a="http://schemas.openxmlformats.org/drawingml/2006/main">
              <a:ext uri="{FF2B5EF4-FFF2-40B4-BE49-F238E27FC236}">
                <a16:creationId xmlns:a16="http://schemas.microsoft.com/office/drawing/2014/main" id="{1DFBA51B-2B50-4630-912F-176511775CA7}"/>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Lead-in: what does an audience need in the first 20 seconds?</a:t>
            </a:r>
          </a:p>
        </p:txBody>
      </p:sp>
      <p:sp>
        <p:nvSpPr>
          <p:cNvPr id="10" name="time">
            <a:extLst xmlns:a="http://schemas.openxmlformats.org/drawingml/2006/main">
              <a:ext uri="{FF2B5EF4-FFF2-40B4-BE49-F238E27FC236}">
                <a16:creationId xmlns:a16="http://schemas.microsoft.com/office/drawing/2014/main" id="{64E16544-E536-46F6-9CD8-0054657B9E5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B9BB850B-DB88-4625-9BB7-04D65EA6BC8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16</a:t>
            </a:r>
          </a:p>
        </p:txBody>
      </p:sp>
    </p:spTree>
    <p:extLst>
      <p:ext uri="{BB962C8B-B14F-4D97-AF65-F5344CB8AC3E}">
        <p14:creationId xmlns:p14="http://schemas.microsoft.com/office/powerpoint/2010/main" val="975046634"/>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7B0AE8BE-59DC-4683-B7D3-95BA255120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8D5E14D-110A-477B-A354-68B703B1210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8AFAB58C-737A-499A-8113-C4A570DCD79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9FA529F6-81FD-4541-A96E-00AF97BCA1F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Which opening would help an audience understand a Solar System briefing? Commit before the model.</a:t>
            </a:r>
          </a:p>
        </p:txBody>
      </p:sp>
      <p:sp>
        <p:nvSpPr>
          <p:cNvPr id="5" name="paper panel">
            <a:extLst xmlns:a="http://schemas.openxmlformats.org/drawingml/2006/main">
              <a:ext uri="{FF2B5EF4-FFF2-40B4-BE49-F238E27FC236}">
                <a16:creationId xmlns:a16="http://schemas.microsoft.com/office/drawing/2014/main" id="{7A44F33F-681B-4A7A-806B-0437D86660A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B2E2387-CDE7-4FF1-A238-EE7F220DDA91}"/>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Think first. Point, say, sign or write your choice. Give one reason.</a:t>
            </a:r>
          </a:p>
        </p:txBody>
      </p:sp>
      <p:sp>
        <p:nvSpPr>
          <p:cNvPr id="7" name="content 1">
            <a:extLst xmlns:a="http://schemas.openxmlformats.org/drawingml/2006/main">
              <a:ext uri="{FF2B5EF4-FFF2-40B4-BE49-F238E27FC236}">
                <a16:creationId xmlns:a16="http://schemas.microsoft.com/office/drawing/2014/main" id="{AE4275C4-8EDD-46A1-B002-3807F50A8CF0}"/>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‘I found lots of things. Here is every note.’</a:t>
            </a:r>
          </a:p>
        </p:txBody>
      </p:sp>
      <p:sp>
        <p:nvSpPr>
          <p:cNvPr id="8" name="content 2">
            <a:extLst xmlns:a="http://schemas.openxmlformats.org/drawingml/2006/main">
              <a:ext uri="{FF2B5EF4-FFF2-40B4-BE49-F238E27FC236}">
                <a16:creationId xmlns:a16="http://schemas.microsoft.com/office/drawing/2014/main" id="{FC5ED9A1-6048-4C17-A62C-837710065C96}"/>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‘Our question was __. The evidence shows __.’</a:t>
            </a:r>
          </a:p>
        </p:txBody>
      </p:sp>
      <p:sp>
        <p:nvSpPr>
          <p:cNvPr id="9" name="content 3">
            <a:extLst xmlns:a="http://schemas.openxmlformats.org/drawingml/2006/main">
              <a:ext uri="{FF2B5EF4-FFF2-40B4-BE49-F238E27FC236}">
                <a16:creationId xmlns:a16="http://schemas.microsoft.com/office/drawing/2014/main" id="{26F5BF9E-547D-45A6-AA54-59C922E795E2}"/>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‘Watch this animation first; I will explain the topic later.’</a:t>
            </a:r>
          </a:p>
        </p:txBody>
      </p:sp>
      <p:sp>
        <p:nvSpPr>
          <p:cNvPr id="10" name="time">
            <a:extLst xmlns:a="http://schemas.openxmlformats.org/drawingml/2006/main">
              <a:ext uri="{FF2B5EF4-FFF2-40B4-BE49-F238E27FC236}">
                <a16:creationId xmlns:a16="http://schemas.microsoft.com/office/drawing/2014/main" id="{85FB0391-A74E-4944-AD81-D1ABEBB0241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1" name="number">
            <a:extLst xmlns:a="http://schemas.openxmlformats.org/drawingml/2006/main">
              <a:ext uri="{FF2B5EF4-FFF2-40B4-BE49-F238E27FC236}">
                <a16:creationId xmlns:a16="http://schemas.microsoft.com/office/drawing/2014/main" id="{F7D987E5-7C8C-49D9-B481-509D06E103C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16</a:t>
            </a:r>
          </a:p>
        </p:txBody>
      </p:sp>
    </p:spTree>
    <p:extLst>
      <p:ext uri="{BB962C8B-B14F-4D97-AF65-F5344CB8AC3E}">
        <p14:creationId xmlns:p14="http://schemas.microsoft.com/office/powerpoint/2010/main" val="67854922"/>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17EB005B-FA46-4494-841A-573CC185FA2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7026B3F-766D-4FB7-B5B9-FCE71EE2098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86F6420C-AA90-44BA-BDA7-804829CFC91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8923B8B6-A83D-4AAA-B8BE-A52F9DBE756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Look closely · what is the evidence?</a:t>
            </a:r>
          </a:p>
        </p:txBody>
      </p:sp>
      <p:sp>
        <p:nvSpPr>
          <p:cNvPr id="5" name="paper panel">
            <a:extLst xmlns:a="http://schemas.openxmlformats.org/drawingml/2006/main">
              <a:ext uri="{FF2B5EF4-FFF2-40B4-BE49-F238E27FC236}">
                <a16:creationId xmlns:a16="http://schemas.microsoft.com/office/drawing/2014/main" id="{B3C854D8-4488-4D22-B604-F4C8F218CBA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C05E7D8-A4D3-414D-9068-031AC6D43D14}"/>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Open with the question and answer claim.</a:t>
            </a:r>
          </a:p>
        </p:txBody>
      </p:sp>
      <p:sp>
        <p:nvSpPr>
          <p:cNvPr id="7" name="content 1">
            <a:extLst xmlns:a="http://schemas.openxmlformats.org/drawingml/2006/main">
              <a:ext uri="{FF2B5EF4-FFF2-40B4-BE49-F238E27FC236}">
                <a16:creationId xmlns:a16="http://schemas.microsoft.com/office/drawing/2014/main" id="{47D7C8D0-652D-4787-AA0F-483BDF03B56C}"/>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selected evidence and show or say the source.</a:t>
            </a:r>
          </a:p>
        </p:txBody>
      </p:sp>
      <p:sp>
        <p:nvSpPr>
          <p:cNvPr id="8" name="content 2">
            <a:extLst xmlns:a="http://schemas.openxmlformats.org/drawingml/2006/main">
              <a:ext uri="{FF2B5EF4-FFF2-40B4-BE49-F238E27FC236}">
                <a16:creationId xmlns:a16="http://schemas.microsoft.com/office/drawing/2014/main" id="{D9314254-246F-4D78-9D4E-82C933B72E90}"/>
              </a:ext>
            </a:extLst>
          </p:cNvPr>
          <p:cNvSpPr>
            <a:spLocks xmlns:a="http://schemas.openxmlformats.org/drawingml/2006/main" noGrp="1"/>
          </p:cNvSpPr>
          <p:nvPr/>
        </p:nvSpPr>
        <p:spPr>
          <a:xfrm xmlns:a="http://schemas.openxmlformats.org/drawingml/2006/main">
            <a:off x="800100" y="30861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Pause for the audience question, then record what changes or what transfers next.</a:t>
            </a:r>
          </a:p>
        </p:txBody>
      </p:sp>
      <p:sp>
        <p:nvSpPr>
          <p:cNvPr id="9" name="time">
            <a:extLst xmlns:a="http://schemas.openxmlformats.org/drawingml/2006/main">
              <a:ext uri="{FF2B5EF4-FFF2-40B4-BE49-F238E27FC236}">
                <a16:creationId xmlns:a16="http://schemas.microsoft.com/office/drawing/2014/main" id="{CCAB4055-7026-49C2-87D4-5528FBB2724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0" name="number">
            <a:extLst xmlns:a="http://schemas.openxmlformats.org/drawingml/2006/main">
              <a:ext uri="{FF2B5EF4-FFF2-40B4-BE49-F238E27FC236}">
                <a16:creationId xmlns:a16="http://schemas.microsoft.com/office/drawing/2014/main" id="{B1708DDC-7044-4BDE-BD44-A9073BD77F25}"/>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16</a:t>
            </a:r>
          </a:p>
        </p:txBody>
      </p:sp>
    </p:spTree>
    <p:extLst>
      <p:ext uri="{BB962C8B-B14F-4D97-AF65-F5344CB8AC3E}">
        <p14:creationId xmlns:p14="http://schemas.microsoft.com/office/powerpoint/2010/main" val="608604212"/>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1FDE7D81-788C-414E-89AB-FF0A82C00A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94C4650-D4A6-4023-A2A5-2461173AC02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A3BE2652-8DD0-41DD-B353-E8AE0B9DE51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499EB949-1803-46B5-917D-584EB12846A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Look closely · what is the evidence?</a:t>
            </a:r>
          </a:p>
        </p:txBody>
      </p:sp>
      <p:sp>
        <p:nvSpPr>
          <p:cNvPr id="5" name="paper panel">
            <a:extLst xmlns:a="http://schemas.openxmlformats.org/drawingml/2006/main">
              <a:ext uri="{FF2B5EF4-FFF2-40B4-BE49-F238E27FC236}">
                <a16:creationId xmlns:a16="http://schemas.microsoft.com/office/drawing/2014/main" id="{65E354C8-F9BD-4AFC-B042-FD6A0E1DFB8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b9ad3e78d1c4cd7"/>
          <a:stretch xmlns:a="http://schemas.openxmlformats.org/drawingml/2006/main"/>
        </p:blipFill>
        <p:spPr>
          <a:xfrm xmlns:a="http://schemas.openxmlformats.org/drawingml/2006/main">
            <a:off x="800100" y="3161689"/>
            <a:ext cx="3378200" cy="1039446"/>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D44815D3-8CE2-494F-B38D-181EC61FA7E0}"/>
              </a:ext>
            </a:extLst>
          </p:cNvPr>
          <p:cNvSpPr>
            <a:spLocks xmlns:a="http://schemas.openxmlformats.org/drawingml/2006/main" noGrp="1"/>
          </p:cNvSpPr>
          <p:nvPr/>
        </p:nvSpPr>
        <p:spPr>
          <a:xfrm xmlns:a="http://schemas.openxmlformats.org/drawingml/2006/main">
            <a:off x="800100" y="5314950"/>
            <a:ext cx="337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0233F"/>
                </a:solidFill>
                <a:latin typeface="Arial"/>
                <a:ea typeface="Arial"/>
                <a:cs typeface="Arial"/>
              </a:defRPr>
            </a:pPr>
            <a:r>
              <a:rPr sz="1500" b="0">
                <a:solidFill>
                  <a:srgbClr val="10233F"/>
                </a:solidFill>
                <a:latin typeface="Arial"/>
                <a:ea typeface="Arial"/>
                <a:cs typeface="Arial"/>
              </a:rPr>
              <a:t>Briefing steps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8375b19e2264140"/>
          <a:stretch xmlns:a="http://schemas.openxmlformats.org/drawingml/2006/main"/>
        </p:blipFill>
        <p:spPr>
          <a:xfrm xmlns:a="http://schemas.openxmlformats.org/drawingml/2006/main">
            <a:off x="4406900" y="3161689"/>
            <a:ext cx="3378200" cy="1039446"/>
          </a:xfrm>
          <a:prstGeom xmlns:a="http://schemas.openxmlformats.org/drawingml/2006/main" prst="rect">
            <a:avLst/>
          </a:prstGeom>
        </p:spPr>
      </p:pic>
      <p:sp>
        <p:nvSpPr>
          <p:cNvPr id="9" name="visual caption 1">
            <a:extLst xmlns:a="http://schemas.openxmlformats.org/drawingml/2006/main">
              <a:ext uri="{FF2B5EF4-FFF2-40B4-BE49-F238E27FC236}">
                <a16:creationId xmlns:a16="http://schemas.microsoft.com/office/drawing/2014/main" id="{4FEB1B1F-B0CE-411D-AA50-B94F1A85952B}"/>
              </a:ext>
            </a:extLst>
          </p:cNvPr>
          <p:cNvSpPr>
            <a:spLocks xmlns:a="http://schemas.openxmlformats.org/drawingml/2006/main" noGrp="1"/>
          </p:cNvSpPr>
          <p:nvPr/>
        </p:nvSpPr>
        <p:spPr>
          <a:xfrm xmlns:a="http://schemas.openxmlformats.org/drawingml/2006/main">
            <a:off x="4406900" y="5314950"/>
            <a:ext cx="337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0233F"/>
                </a:solidFill>
                <a:latin typeface="Arial"/>
                <a:ea typeface="Arial"/>
                <a:cs typeface="Arial"/>
              </a:defRPr>
            </a:pPr>
            <a:r>
              <a:rPr sz="1500" b="0">
                <a:solidFill>
                  <a:srgbClr val="10233F"/>
                </a:solidFill>
                <a:latin typeface="Arial"/>
                <a:ea typeface="Arial"/>
                <a:cs typeface="Arial"/>
              </a:rPr>
              <a:t>Briefing steps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2e97d5fd77f4edb"/>
          <a:stretch xmlns:a="http://schemas.openxmlformats.org/drawingml/2006/main"/>
        </p:blipFill>
        <p:spPr>
          <a:xfrm xmlns:a="http://schemas.openxmlformats.org/drawingml/2006/main">
            <a:off x="8013700" y="3161689"/>
            <a:ext cx="3378200" cy="1039446"/>
          </a:xfrm>
          <a:prstGeom xmlns:a="http://schemas.openxmlformats.org/drawingml/2006/main" prst="rect">
            <a:avLst/>
          </a:prstGeom>
        </p:spPr>
      </p:pic>
      <p:sp>
        <p:nvSpPr>
          <p:cNvPr id="11" name="visual caption 2">
            <a:extLst xmlns:a="http://schemas.openxmlformats.org/drawingml/2006/main">
              <a:ext uri="{FF2B5EF4-FFF2-40B4-BE49-F238E27FC236}">
                <a16:creationId xmlns:a16="http://schemas.microsoft.com/office/drawing/2014/main" id="{BED44EC6-7CEC-41A1-A77B-5F09A80D9A1E}"/>
              </a:ext>
            </a:extLst>
          </p:cNvPr>
          <p:cNvSpPr>
            <a:spLocks xmlns:a="http://schemas.openxmlformats.org/drawingml/2006/main" noGrp="1"/>
          </p:cNvSpPr>
          <p:nvPr/>
        </p:nvSpPr>
        <p:spPr>
          <a:xfrm xmlns:a="http://schemas.openxmlformats.org/drawingml/2006/main">
            <a:off x="8013700" y="5314950"/>
            <a:ext cx="337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0233F"/>
                </a:solidFill>
                <a:latin typeface="Arial"/>
                <a:ea typeface="Arial"/>
                <a:cs typeface="Arial"/>
              </a:defRPr>
            </a:pPr>
            <a:r>
              <a:rPr sz="1500" b="0">
                <a:solidFill>
                  <a:srgbClr val="10233F"/>
                </a:solidFill>
                <a:latin typeface="Arial"/>
                <a:ea typeface="Arial"/>
                <a:cs typeface="Arial"/>
              </a:rPr>
              <a:t>Briefing steps</a:t>
            </a:r>
          </a:p>
        </p:txBody>
      </p:sp>
      <p:sp>
        <p:nvSpPr>
          <p:cNvPr id="12" name="time">
            <a:extLst xmlns:a="http://schemas.openxmlformats.org/drawingml/2006/main">
              <a:ext uri="{FF2B5EF4-FFF2-40B4-BE49-F238E27FC236}">
                <a16:creationId xmlns:a16="http://schemas.microsoft.com/office/drawing/2014/main" id="{33BEDB52-5769-4309-8ACC-AE632114D5B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3" name="number">
            <a:extLst xmlns:a="http://schemas.openxmlformats.org/drawingml/2006/main">
              <a:ext uri="{FF2B5EF4-FFF2-40B4-BE49-F238E27FC236}">
                <a16:creationId xmlns:a16="http://schemas.microsoft.com/office/drawing/2014/main" id="{4A5DA727-18A2-4AD4-B216-4B4EABFD225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16</a:t>
            </a:r>
          </a:p>
        </p:txBody>
      </p:sp>
    </p:spTree>
    <p:extLst>
      <p:ext uri="{BB962C8B-B14F-4D97-AF65-F5344CB8AC3E}">
        <p14:creationId xmlns:p14="http://schemas.microsoft.com/office/powerpoint/2010/main" val="662271502"/>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EE7DC18E-D608-48D5-9B14-6A509ABF0ED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074AE59-04F9-4DD9-9DFB-332D21828D4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B2F48975-4D8C-47CE-828B-F5B1A1082A0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EED99CF9-0A77-4ACE-9FA2-69338B2FC49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Words we will use</a:t>
            </a:r>
          </a:p>
        </p:txBody>
      </p:sp>
      <p:sp>
        <p:nvSpPr>
          <p:cNvPr id="5" name="paper panel">
            <a:extLst xmlns:a="http://schemas.openxmlformats.org/drawingml/2006/main">
              <a:ext uri="{FF2B5EF4-FFF2-40B4-BE49-F238E27FC236}">
                <a16:creationId xmlns:a16="http://schemas.microsoft.com/office/drawing/2014/main" id="{301A2C85-8421-4711-AE65-B68EF408131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3CD4F49-37E4-48B8-B746-46493FBB069D}"/>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claim — answer statement</a:t>
            </a:r>
          </a:p>
        </p:txBody>
      </p:sp>
      <p:sp>
        <p:nvSpPr>
          <p:cNvPr id="7" name="content 1">
            <a:extLst xmlns:a="http://schemas.openxmlformats.org/drawingml/2006/main">
              <a:ext uri="{FF2B5EF4-FFF2-40B4-BE49-F238E27FC236}">
                <a16:creationId xmlns:a16="http://schemas.microsoft.com/office/drawing/2014/main" id="{05088C14-D7C1-4EC6-941D-C5CFC5B5A430}"/>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evidence — facts that support</a:t>
            </a:r>
          </a:p>
        </p:txBody>
      </p:sp>
      <p:sp>
        <p:nvSpPr>
          <p:cNvPr id="8" name="content 2">
            <a:extLst xmlns:a="http://schemas.openxmlformats.org/drawingml/2006/main">
              <a:ext uri="{FF2B5EF4-FFF2-40B4-BE49-F238E27FC236}">
                <a16:creationId xmlns:a16="http://schemas.microsoft.com/office/drawing/2014/main" id="{DCE4EBAA-CEA9-4E04-BAF2-664F948B731E}"/>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audience — real receiver</a:t>
            </a:r>
          </a:p>
        </p:txBody>
      </p:sp>
      <p:sp>
        <p:nvSpPr>
          <p:cNvPr id="9" name="time">
            <a:extLst xmlns:a="http://schemas.openxmlformats.org/drawingml/2006/main">
              <a:ext uri="{FF2B5EF4-FFF2-40B4-BE49-F238E27FC236}">
                <a16:creationId xmlns:a16="http://schemas.microsoft.com/office/drawing/2014/main" id="{6E9C5AB0-5C52-4918-8AF1-64D018FC9DD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0" name="number">
            <a:extLst xmlns:a="http://schemas.openxmlformats.org/drawingml/2006/main">
              <a:ext uri="{FF2B5EF4-FFF2-40B4-BE49-F238E27FC236}">
                <a16:creationId xmlns:a16="http://schemas.microsoft.com/office/drawing/2014/main" id="{EB771C84-1189-42BB-99C8-32643505504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16</a:t>
            </a:r>
          </a:p>
        </p:txBody>
      </p:sp>
    </p:spTree>
    <p:extLst>
      <p:ext uri="{BB962C8B-B14F-4D97-AF65-F5344CB8AC3E}">
        <p14:creationId xmlns:p14="http://schemas.microsoft.com/office/powerpoint/2010/main" val="1233640596"/>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D921BCDD-798D-410F-83C5-BC96FA6E2F6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E383150-8F0B-4755-82BF-B299B50019E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DDD01BCB-131C-4471-BA1F-225F6CAD925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38010127-692D-4AB1-A583-93C7C126E75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model</a:t>
            </a:r>
          </a:p>
        </p:txBody>
      </p:sp>
      <p:sp>
        <p:nvSpPr>
          <p:cNvPr id="5" name="paper panel">
            <a:extLst xmlns:a="http://schemas.openxmlformats.org/drawingml/2006/main">
              <a:ext uri="{FF2B5EF4-FFF2-40B4-BE49-F238E27FC236}">
                <a16:creationId xmlns:a16="http://schemas.microsoft.com/office/drawing/2014/main" id="{22ECDE1C-A644-4A66-8EDA-079767598F3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CF08768-4785-409D-933E-B7872631E314}"/>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State the focused question, then give one answer claim in a complete sentence.</a:t>
            </a:r>
          </a:p>
        </p:txBody>
      </p:sp>
      <p:sp>
        <p:nvSpPr>
          <p:cNvPr id="7" name="content 1">
            <a:extLst xmlns:a="http://schemas.openxmlformats.org/drawingml/2006/main">
              <a:ext uri="{FF2B5EF4-FFF2-40B4-BE49-F238E27FC236}">
                <a16:creationId xmlns:a16="http://schemas.microsoft.com/office/drawing/2014/main" id="{5746D501-5C24-4999-83E0-412655307BC8}"/>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Select two or three facts that directly support the claim. Show a source label beside each or say the source aloud.</a:t>
            </a:r>
          </a:p>
        </p:txBody>
      </p:sp>
      <p:sp>
        <p:nvSpPr>
          <p:cNvPr id="8" name="content 2">
            <a:extLst xmlns:a="http://schemas.openxmlformats.org/drawingml/2006/main">
              <a:ext uri="{FF2B5EF4-FFF2-40B4-BE49-F238E27FC236}">
                <a16:creationId xmlns:a16="http://schemas.microsoft.com/office/drawing/2014/main" id="{7E3035E4-B4A5-4E67-9F3C-5FD8EBBCC2D5}"/>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Use a diagram, paper panel, slide or object only when it helps the audience follow the Science.</a:t>
            </a:r>
          </a:p>
        </p:txBody>
      </p:sp>
      <p:sp>
        <p:nvSpPr>
          <p:cNvPr id="9" name="time">
            <a:extLst xmlns:a="http://schemas.openxmlformats.org/drawingml/2006/main">
              <a:ext uri="{FF2B5EF4-FFF2-40B4-BE49-F238E27FC236}">
                <a16:creationId xmlns:a16="http://schemas.microsoft.com/office/drawing/2014/main" id="{A9DDA72C-DB11-4938-90F6-84C556DEF68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0" name="number">
            <a:extLst xmlns:a="http://schemas.openxmlformats.org/drawingml/2006/main">
              <a:ext uri="{FF2B5EF4-FFF2-40B4-BE49-F238E27FC236}">
                <a16:creationId xmlns:a16="http://schemas.microsoft.com/office/drawing/2014/main" id="{8EB9ACB6-490D-4C5E-A22E-F6FF8B346CA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16</a:t>
            </a:r>
          </a:p>
        </p:txBody>
      </p:sp>
    </p:spTree>
    <p:extLst>
      <p:ext uri="{BB962C8B-B14F-4D97-AF65-F5344CB8AC3E}">
        <p14:creationId xmlns:p14="http://schemas.microsoft.com/office/powerpoint/2010/main" val="692163727"/>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7CE2032C-987C-4B71-BF11-AA6CBA4B524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E1DD3E1-D663-461A-B998-B7104AAD407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9B45C298-2248-4D6C-8CA6-C55930B4E66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D519DB69-480F-4CED-9CB2-41CE18C20B7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Which presentation panel gives the audience the strongest scientific case?</a:t>
            </a:r>
          </a:p>
        </p:txBody>
      </p:sp>
      <p:sp>
        <p:nvSpPr>
          <p:cNvPr id="5" name="paper panel">
            <a:extLst xmlns:a="http://schemas.openxmlformats.org/drawingml/2006/main">
              <a:ext uri="{FF2B5EF4-FFF2-40B4-BE49-F238E27FC236}">
                <a16:creationId xmlns:a16="http://schemas.microsoft.com/office/drawing/2014/main" id="{7888B11D-D490-4F79-91A2-F10F463DC66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BE8E993-FC84-4C54-BE1B-271F8FE6D411}"/>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A large title, five animations and no source labels.</a:t>
            </a:r>
          </a:p>
        </p:txBody>
      </p:sp>
      <p:sp>
        <p:nvSpPr>
          <p:cNvPr id="7" name="content 1">
            <a:extLst xmlns:a="http://schemas.openxmlformats.org/drawingml/2006/main">
              <a:ext uri="{FF2B5EF4-FFF2-40B4-BE49-F238E27FC236}">
                <a16:creationId xmlns:a16="http://schemas.microsoft.com/office/drawing/2014/main" id="{10D1F0E4-9BD3-44C5-983B-FE8E60369103}"/>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A focused claim, two facts that answer the question, a labelled diagram and source codes.</a:t>
            </a:r>
          </a:p>
        </p:txBody>
      </p:sp>
      <p:sp>
        <p:nvSpPr>
          <p:cNvPr id="8" name="content 2">
            <a:extLst xmlns:a="http://schemas.openxmlformats.org/drawingml/2006/main">
              <a:ext uri="{FF2B5EF4-FFF2-40B4-BE49-F238E27FC236}">
                <a16:creationId xmlns:a16="http://schemas.microsoft.com/office/drawing/2014/main" id="{47CA5AE8-0AEB-436A-977A-42FDB522C17C}"/>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A copied paragraph read quickly without explaining the question.</a:t>
            </a:r>
          </a:p>
        </p:txBody>
      </p:sp>
      <p:sp>
        <p:nvSpPr>
          <p:cNvPr id="9" name="content 3">
            <a:extLst xmlns:a="http://schemas.openxmlformats.org/drawingml/2006/main">
              <a:ext uri="{FF2B5EF4-FFF2-40B4-BE49-F238E27FC236}">
                <a16:creationId xmlns:a16="http://schemas.microsoft.com/office/drawing/2014/main" id="{6ECAAC21-6A20-4BB1-B994-37F5BBF59F93}"/>
              </a:ext>
            </a:extLst>
          </p:cNvPr>
          <p:cNvSpPr>
            <a:spLocks xmlns:a="http://schemas.openxmlformats.org/drawingml/2006/main" noGrp="1"/>
          </p:cNvSpPr>
          <p:nvPr/>
        </p:nvSpPr>
        <p:spPr>
          <a:xfrm xmlns:a="http://schemas.openxmlformats.org/drawingml/2006/main">
            <a:off x="800100" y="38766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Commit to an answer. Show the evidence you used. Listen, then revise if needed.</a:t>
            </a:r>
          </a:p>
        </p:txBody>
      </p:sp>
      <p:sp>
        <p:nvSpPr>
          <p:cNvPr id="10" name="time">
            <a:extLst xmlns:a="http://schemas.openxmlformats.org/drawingml/2006/main">
              <a:ext uri="{FF2B5EF4-FFF2-40B4-BE49-F238E27FC236}">
                <a16:creationId xmlns:a16="http://schemas.microsoft.com/office/drawing/2014/main" id="{7A427F79-39D4-44BB-ADD0-A4537D3C912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4 min across this stage</a:t>
            </a:r>
          </a:p>
        </p:txBody>
      </p:sp>
      <p:sp>
        <p:nvSpPr>
          <p:cNvPr id="11" name="number">
            <a:extLst xmlns:a="http://schemas.openxmlformats.org/drawingml/2006/main">
              <a:ext uri="{FF2B5EF4-FFF2-40B4-BE49-F238E27FC236}">
                <a16:creationId xmlns:a16="http://schemas.microsoft.com/office/drawing/2014/main" id="{C714B813-D7E8-4D36-8BC0-00FEAC0E3E9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16</a:t>
            </a:r>
          </a:p>
        </p:txBody>
      </p:sp>
    </p:spTree>
    <p:extLst>
      <p:ext uri="{BB962C8B-B14F-4D97-AF65-F5344CB8AC3E}">
        <p14:creationId xmlns:p14="http://schemas.microsoft.com/office/powerpoint/2010/main" val="1571431546"/>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3F025F37-5405-4F38-A63E-E6A3E5A57E6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5A900B3-8BEA-4A2B-9C45-ED0A79B4C7F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70DE3F5A-FE74-4D76-9B87-7965712BF20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EB2D935F-FF1E-49E5-ACE1-54F3FC364B8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explanation</a:t>
            </a:r>
          </a:p>
        </p:txBody>
      </p:sp>
      <p:sp>
        <p:nvSpPr>
          <p:cNvPr id="5" name="paper panel">
            <a:extLst xmlns:a="http://schemas.openxmlformats.org/drawingml/2006/main">
              <a:ext uri="{FF2B5EF4-FFF2-40B4-BE49-F238E27FC236}">
                <a16:creationId xmlns:a16="http://schemas.microsoft.com/office/drawing/2014/main" id="{13A20CD6-A0D2-42EB-B23F-D3695D656A4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7AA4D87-4BF9-4A6B-9E20-7E2492DBAB11}"/>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Invite one question about meaning, evidence or a limit; silence is not an audience response.</a:t>
            </a:r>
          </a:p>
        </p:txBody>
      </p:sp>
      <p:sp>
        <p:nvSpPr>
          <p:cNvPr id="7" name="content 1">
            <a:extLst xmlns:a="http://schemas.openxmlformats.org/drawingml/2006/main">
              <a:ext uri="{FF2B5EF4-FFF2-40B4-BE49-F238E27FC236}">
                <a16:creationId xmlns:a16="http://schemas.microsoft.com/office/drawing/2014/main" id="{8925C744-2869-4670-8224-205065FA72BB}"/>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Repeat the question in your own words, then point to the part of the briefing it checks.</a:t>
            </a:r>
          </a:p>
        </p:txBody>
      </p:sp>
      <p:sp>
        <p:nvSpPr>
          <p:cNvPr id="8" name="content 2">
            <a:extLst xmlns:a="http://schemas.openxmlformats.org/drawingml/2006/main">
              <a:ext uri="{FF2B5EF4-FFF2-40B4-BE49-F238E27FC236}">
                <a16:creationId xmlns:a16="http://schemas.microsoft.com/office/drawing/2014/main" id="{56C3AFDC-0497-41FB-80A8-0387BA2923A8}"/>
              </a:ext>
            </a:extLst>
          </p:cNvPr>
          <p:cNvSpPr>
            <a:spLocks xmlns:a="http://schemas.openxmlformats.org/drawingml/2006/main" noGrp="1"/>
          </p:cNvSpPr>
          <p:nvPr/>
        </p:nvSpPr>
        <p:spPr>
          <a:xfrm xmlns:a="http://schemas.openxmlformats.org/drawingml/2006/main">
            <a:off x="800100" y="37528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Make one visible improvement. If the feedback confirms the content is accurate and clear, record why no content change is needed and set one transfer step, such as using the claim with a new audience or less support.</a:t>
            </a:r>
          </a:p>
        </p:txBody>
      </p:sp>
      <p:sp>
        <p:nvSpPr>
          <p:cNvPr id="9" name="time">
            <a:extLst xmlns:a="http://schemas.openxmlformats.org/drawingml/2006/main">
              <a:ext uri="{FF2B5EF4-FFF2-40B4-BE49-F238E27FC236}">
                <a16:creationId xmlns:a16="http://schemas.microsoft.com/office/drawing/2014/main" id="{D8EE49D0-8C1E-404A-A561-49B139F081E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0" name="number">
            <a:extLst xmlns:a="http://schemas.openxmlformats.org/drawingml/2006/main">
              <a:ext uri="{FF2B5EF4-FFF2-40B4-BE49-F238E27FC236}">
                <a16:creationId xmlns:a16="http://schemas.microsoft.com/office/drawing/2014/main" id="{50413A7C-9B3A-4F1E-A82E-240423958B95}"/>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16</a:t>
            </a:r>
          </a:p>
        </p:txBody>
      </p:sp>
    </p:spTree>
    <p:extLst>
      <p:ext uri="{BB962C8B-B14F-4D97-AF65-F5344CB8AC3E}">
        <p14:creationId xmlns:p14="http://schemas.microsoft.com/office/powerpoint/2010/main" val="563535530"/>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84E6E16E-0702-4D46-9F64-490825413FF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AE7A0AF-D5B1-493E-BAEB-3CC05F4675E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876A08D6-5308-4808-B92B-7E0BEE5CD1F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2E2C2820-F47F-4476-8E64-6123FE02609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Find and repair the misconception</a:t>
            </a:r>
          </a:p>
        </p:txBody>
      </p:sp>
      <p:sp>
        <p:nvSpPr>
          <p:cNvPr id="5" name="paper panel">
            <a:extLst xmlns:a="http://schemas.openxmlformats.org/drawingml/2006/main">
              <a:ext uri="{FF2B5EF4-FFF2-40B4-BE49-F238E27FC236}">
                <a16:creationId xmlns:a16="http://schemas.microsoft.com/office/drawing/2014/main" id="{4C9699F4-A215-438E-8C0C-BCE98B58F81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268DD6F-498E-4CB1-8E7C-CC013E66ABD3}"/>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Presentation glitch: more animation always makes the Science stronger.</a:t>
            </a:r>
          </a:p>
        </p:txBody>
      </p:sp>
      <p:sp>
        <p:nvSpPr>
          <p:cNvPr id="7" name="content 1">
            <a:extLst xmlns:a="http://schemas.openxmlformats.org/drawingml/2006/main">
              <a:ext uri="{FF2B5EF4-FFF2-40B4-BE49-F238E27FC236}">
                <a16:creationId xmlns:a16="http://schemas.microsoft.com/office/drawing/2014/main" id="{40064EC1-953D-4FF9-B5FD-AC6F6FA1F25C}"/>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Keep it: movement proves the facts are accurate.</a:t>
            </a:r>
          </a:p>
        </p:txBody>
      </p:sp>
      <p:sp>
        <p:nvSpPr>
          <p:cNvPr id="8" name="content 2">
            <a:extLst xmlns:a="http://schemas.openxmlformats.org/drawingml/2006/main">
              <a:ext uri="{FF2B5EF4-FFF2-40B4-BE49-F238E27FC236}">
                <a16:creationId xmlns:a16="http://schemas.microsoft.com/office/drawing/2014/main" id="{4ED8AF5C-913A-4890-BD9F-E05C94B73892}"/>
              </a:ext>
            </a:extLst>
          </p:cNvPr>
          <p:cNvSpPr>
            <a:spLocks xmlns:a="http://schemas.openxmlformats.org/drawingml/2006/main" noGrp="1"/>
          </p:cNvSpPr>
          <p:nvPr/>
        </p:nvSpPr>
        <p:spPr>
          <a:xfrm xmlns:a="http://schemas.openxmlformats.org/drawingml/2006/main">
            <a:off x="800100" y="30861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Repair it: use a visual only when it clarifies the claim or evidence; accuracy and sources carry the Science.</a:t>
            </a:r>
          </a:p>
        </p:txBody>
      </p:sp>
      <p:sp>
        <p:nvSpPr>
          <p:cNvPr id="9" name="content 3">
            <a:extLst xmlns:a="http://schemas.openxmlformats.org/drawingml/2006/main">
              <a:ext uri="{FF2B5EF4-FFF2-40B4-BE49-F238E27FC236}">
                <a16:creationId xmlns:a16="http://schemas.microsoft.com/office/drawing/2014/main" id="{A9C360AA-D921-4296-AC51-0F0FD2CCA2C2}"/>
              </a:ext>
            </a:extLst>
          </p:cNvPr>
          <p:cNvSpPr>
            <a:spLocks xmlns:a="http://schemas.openxmlformats.org/drawingml/2006/main" noGrp="1"/>
          </p:cNvSpPr>
          <p:nvPr/>
        </p:nvSpPr>
        <p:spPr>
          <a:xfrm xmlns:a="http://schemas.openxmlformats.org/drawingml/2006/main">
            <a:off x="800100" y="38766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Repair it: hide source labels to leave more space for effects.</a:t>
            </a:r>
          </a:p>
        </p:txBody>
      </p:sp>
      <p:sp>
        <p:nvSpPr>
          <p:cNvPr id="10" name="time">
            <a:extLst xmlns:a="http://schemas.openxmlformats.org/drawingml/2006/main">
              <a:ext uri="{FF2B5EF4-FFF2-40B4-BE49-F238E27FC236}">
                <a16:creationId xmlns:a16="http://schemas.microsoft.com/office/drawing/2014/main" id="{713F06A2-8770-43DC-88FB-8B93B86956C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1" name="number">
            <a:extLst xmlns:a="http://schemas.openxmlformats.org/drawingml/2006/main">
              <a:ext uri="{FF2B5EF4-FFF2-40B4-BE49-F238E27FC236}">
                <a16:creationId xmlns:a16="http://schemas.microsoft.com/office/drawing/2014/main" id="{2AC88850-A1B4-4734-B5D7-675DEC91683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16</a:t>
            </a:r>
          </a:p>
        </p:txBody>
      </p:sp>
    </p:spTree>
    <p:extLst>
      <p:ext uri="{BB962C8B-B14F-4D97-AF65-F5344CB8AC3E}">
        <p14:creationId xmlns:p14="http://schemas.microsoft.com/office/powerpoint/2010/main" val="723363501"/>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F0D541D1-42CE-4A37-BA92-0129350669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77A3690-7D9A-41B1-823E-43EA5E3DD22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87E2199F-FA39-4626-A9E6-0B4B258783F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6C937F50-B869-4E99-B204-F4DAAA9CAE9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Mission briefing studio</a:t>
            </a:r>
          </a:p>
        </p:txBody>
      </p:sp>
      <p:sp>
        <p:nvSpPr>
          <p:cNvPr id="5" name="paper panel">
            <a:extLst xmlns:a="http://schemas.openxmlformats.org/drawingml/2006/main">
              <a:ext uri="{FF2B5EF4-FFF2-40B4-BE49-F238E27FC236}">
                <a16:creationId xmlns:a16="http://schemas.microsoft.com/office/drawing/2014/main" id="{860FDDB1-093B-46C7-B316-D4A9B6150F5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1AFF4A9-8B02-41CE-899B-EA380A6105A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Route each presentation component to its scientific job before the live briefing.</a:t>
            </a:r>
          </a:p>
        </p:txBody>
      </p:sp>
      <p:sp>
        <p:nvSpPr>
          <p:cNvPr id="7" name="content 1">
            <a:extLst xmlns:a="http://schemas.openxmlformats.org/drawingml/2006/main">
              <a:ext uri="{FF2B5EF4-FFF2-40B4-BE49-F238E27FC236}">
                <a16:creationId xmlns:a16="http://schemas.microsoft.com/office/drawing/2014/main" id="{59F8FF4E-D4FE-43BB-9CAF-CD122F21E1C5}"/>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Choose one presentation component.</a:t>
            </a:r>
          </a:p>
        </p:txBody>
      </p:sp>
      <p:sp>
        <p:nvSpPr>
          <p:cNvPr id="8" name="content 2">
            <a:extLst xmlns:a="http://schemas.openxmlformats.org/drawingml/2006/main">
              <a:ext uri="{FF2B5EF4-FFF2-40B4-BE49-F238E27FC236}">
                <a16:creationId xmlns:a16="http://schemas.microsoft.com/office/drawing/2014/main" id="{4CF6731D-064C-4965-8D40-94D43D40D6F2}"/>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Commit it to claim, evidence or audience response.</a:t>
            </a:r>
          </a:p>
        </p:txBody>
      </p:sp>
      <p:sp>
        <p:nvSpPr>
          <p:cNvPr id="9" name="content 3">
            <a:extLst xmlns:a="http://schemas.openxmlformats.org/drawingml/2006/main">
              <a:ext uri="{FF2B5EF4-FFF2-40B4-BE49-F238E27FC236}">
                <a16:creationId xmlns:a16="http://schemas.microsoft.com/office/drawing/2014/main" id="{75C4973F-7CD0-4F47-BB32-433ACC8C3E99}"/>
              </a:ext>
            </a:extLst>
          </p:cNvPr>
          <p:cNvSpPr>
            <a:spLocks xmlns:a="http://schemas.openxmlformats.org/drawingml/2006/main" noGrp="1"/>
          </p:cNvSpPr>
          <p:nvPr/>
        </p:nvSpPr>
        <p:spPr>
          <a:xfrm xmlns:a="http://schemas.openxmlformats.org/drawingml/2006/main">
            <a:off x="800100" y="38766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Repair any mismatch by asking what job it performs.</a:t>
            </a:r>
          </a:p>
        </p:txBody>
      </p:sp>
      <p:sp>
        <p:nvSpPr>
          <p:cNvPr id="10" name="content 4">
            <a:extLst xmlns:a="http://schemas.openxmlformats.org/drawingml/2006/main">
              <a:ext uri="{FF2B5EF4-FFF2-40B4-BE49-F238E27FC236}">
                <a16:creationId xmlns:a16="http://schemas.microsoft.com/office/drawing/2014/main" id="{8C78A8F2-14C3-43D1-8524-E8744C598F7F}"/>
              </a:ext>
            </a:extLst>
          </p:cNvPr>
          <p:cNvSpPr>
            <a:spLocks xmlns:a="http://schemas.openxmlformats.org/drawingml/2006/main" noGrp="1"/>
          </p:cNvSpPr>
          <p:nvPr/>
        </p:nvSpPr>
        <p:spPr>
          <a:xfrm xmlns:a="http://schemas.openxmlformats.org/drawingml/2006/main">
            <a:off x="800100" y="43338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Freeze a complete chain and rehearse it aloud or through an alternative mode.</a:t>
            </a:r>
          </a:p>
        </p:txBody>
      </p:sp>
      <p:sp>
        <p:nvSpPr>
          <p:cNvPr id="11" name="content 5">
            <a:extLst xmlns:a="http://schemas.openxmlformats.org/drawingml/2006/main">
              <a:ext uri="{FF2B5EF4-FFF2-40B4-BE49-F238E27FC236}">
                <a16:creationId xmlns:a16="http://schemas.microsoft.com/office/drawing/2014/main" id="{0E782B66-2E5E-43CB-A0A0-32B6AE02F16E}"/>
              </a:ext>
            </a:extLst>
          </p:cNvPr>
          <p:cNvSpPr>
            <a:spLocks xmlns:a="http://schemas.openxmlformats.org/drawingml/2006/main" noGrp="1"/>
          </p:cNvSpPr>
          <p:nvPr/>
        </p:nvSpPr>
        <p:spPr>
          <a:xfrm xmlns:a="http://schemas.openxmlformats.org/drawingml/2006/main">
            <a:off x="800100" y="51244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the numbered cards in your pupil pack. Take turns to choose, justify and check. You may direct a partner to move a card.</a:t>
            </a:r>
          </a:p>
        </p:txBody>
      </p:sp>
      <p:sp>
        <p:nvSpPr>
          <p:cNvPr id="12" name="time">
            <a:extLst xmlns:a="http://schemas.openxmlformats.org/drawingml/2006/main">
              <a:ext uri="{FF2B5EF4-FFF2-40B4-BE49-F238E27FC236}">
                <a16:creationId xmlns:a16="http://schemas.microsoft.com/office/drawing/2014/main" id="{9AD992CE-F6DE-4065-AC33-575A4328047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3" name="number">
            <a:extLst xmlns:a="http://schemas.openxmlformats.org/drawingml/2006/main">
              <a:ext uri="{FF2B5EF4-FFF2-40B4-BE49-F238E27FC236}">
                <a16:creationId xmlns:a16="http://schemas.microsoft.com/office/drawing/2014/main" id="{4BB07FC0-9228-4791-8242-D903D486D55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16</a:t>
            </a:r>
          </a:p>
        </p:txBody>
      </p:sp>
    </p:spTree>
    <p:extLst>
      <p:ext uri="{BB962C8B-B14F-4D97-AF65-F5344CB8AC3E}">
        <p14:creationId xmlns:p14="http://schemas.microsoft.com/office/powerpoint/2010/main" val="393342267"/>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A80C5BBE-3698-4EB9-8942-3007D368D74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6EB8EEC-1E9C-49D5-AC49-F868F2A3630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C2BA9CFE-D927-4066-B0BD-6CEC63BE7A3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D9B61877-B786-4726-A067-2E3242C0C55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a group · defend your placement</a:t>
            </a:r>
          </a:p>
        </p:txBody>
      </p:sp>
      <p:sp>
        <p:nvSpPr>
          <p:cNvPr id="5" name="paper panel">
            <a:extLst xmlns:a="http://schemas.openxmlformats.org/drawingml/2006/main">
              <a:ext uri="{FF2B5EF4-FFF2-40B4-BE49-F238E27FC236}">
                <a16:creationId xmlns:a16="http://schemas.microsoft.com/office/drawing/2014/main" id="{4F49DCF6-5EC3-4811-9EC7-E45B527750B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A9AF08A-16CD-44B9-B67C-8D5D383617D7}"/>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Focused claim</a:t>
            </a:r>
          </a:p>
        </p:txBody>
      </p:sp>
      <p:sp>
        <p:nvSpPr>
          <p:cNvPr id="7" name="content 1">
            <a:extLst xmlns:a="http://schemas.openxmlformats.org/drawingml/2006/main">
              <a:ext uri="{FF2B5EF4-FFF2-40B4-BE49-F238E27FC236}">
                <a16:creationId xmlns:a16="http://schemas.microsoft.com/office/drawing/2014/main" id="{DEB24DBA-37B8-4E4F-B92D-8887B74B2B8C}"/>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Evidence and source</a:t>
            </a:r>
          </a:p>
        </p:txBody>
      </p:sp>
      <p:sp>
        <p:nvSpPr>
          <p:cNvPr id="8" name="content 2">
            <a:extLst xmlns:a="http://schemas.openxmlformats.org/drawingml/2006/main">
              <a:ext uri="{FF2B5EF4-FFF2-40B4-BE49-F238E27FC236}">
                <a16:creationId xmlns:a16="http://schemas.microsoft.com/office/drawing/2014/main" id="{6160D79E-412E-4900-8196-9DA205B1B1C4}"/>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Audience response and next step</a:t>
            </a:r>
          </a:p>
        </p:txBody>
      </p:sp>
      <p:sp>
        <p:nvSpPr>
          <p:cNvPr id="9" name="content 3">
            <a:extLst xmlns:a="http://schemas.openxmlformats.org/drawingml/2006/main">
              <a:ext uri="{FF2B5EF4-FFF2-40B4-BE49-F238E27FC236}">
                <a16:creationId xmlns:a16="http://schemas.microsoft.com/office/drawing/2014/main" id="{42F24482-2337-43CD-871B-5966EB0D3602}"/>
              </a:ext>
            </a:extLst>
          </p:cNvPr>
          <p:cNvSpPr>
            <a:spLocks xmlns:a="http://schemas.openxmlformats.org/drawingml/2006/main" noGrp="1"/>
          </p:cNvSpPr>
          <p:nvPr/>
        </p:nvSpPr>
        <p:spPr>
          <a:xfrm xmlns:a="http://schemas.openxmlformats.org/drawingml/2006/main">
            <a:off x="800100" y="3543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Rehearse the claim-evidence-audience chain. State the change, or justify no content change and name one transfer step.</a:t>
            </a:r>
          </a:p>
        </p:txBody>
      </p:sp>
      <p:sp>
        <p:nvSpPr>
          <p:cNvPr id="10" name="time">
            <a:extLst xmlns:a="http://schemas.openxmlformats.org/drawingml/2006/main">
              <a:ext uri="{FF2B5EF4-FFF2-40B4-BE49-F238E27FC236}">
                <a16:creationId xmlns:a16="http://schemas.microsoft.com/office/drawing/2014/main" id="{E6E7B69B-1ED7-4A29-8DA6-0B3DB4F3395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1" name="number">
            <a:extLst xmlns:a="http://schemas.openxmlformats.org/drawingml/2006/main">
              <a:ext uri="{FF2B5EF4-FFF2-40B4-BE49-F238E27FC236}">
                <a16:creationId xmlns:a16="http://schemas.microsoft.com/office/drawing/2014/main" id="{F3232914-E6DE-4FFB-AA59-2789D24338E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16</a:t>
            </a:r>
          </a:p>
        </p:txBody>
      </p:sp>
    </p:spTree>
    <p:extLst>
      <p:ext uri="{BB962C8B-B14F-4D97-AF65-F5344CB8AC3E}">
        <p14:creationId xmlns:p14="http://schemas.microsoft.com/office/powerpoint/2010/main" val="2029253512"/>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DF3787A0-3D45-4458-AB13-3382B62D2DE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B4D7105-D2CE-48E4-B8F8-85ADA317765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9B297D1B-39D6-494A-8640-BD0979FAE56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11F1BE03-1464-4987-9938-40FD2D03DB6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Your independent mission</a:t>
            </a:r>
          </a:p>
        </p:txBody>
      </p:sp>
      <p:sp>
        <p:nvSpPr>
          <p:cNvPr id="5" name="paper panel">
            <a:extLst xmlns:a="http://schemas.openxmlformats.org/drawingml/2006/main">
              <a:ext uri="{FF2B5EF4-FFF2-40B4-BE49-F238E27FC236}">
                <a16:creationId xmlns:a16="http://schemas.microsoft.com/office/drawing/2014/main" id="{BF4DB712-C365-486E-94A9-F7AF2EE19F7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FA0A350-C435-4391-B0BD-72133CCB6FC2}"/>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Deliver a short Solar System briefing to a real audience, receive one question and record either a useful change or a clear no-content-change reason plus one transfer step.</a:t>
            </a:r>
          </a:p>
        </p:txBody>
      </p:sp>
      <p:sp>
        <p:nvSpPr>
          <p:cNvPr id="7" name="content 1">
            <a:extLst xmlns:a="http://schemas.openxmlformats.org/drawingml/2006/main">
              <a:ext uri="{FF2B5EF4-FFF2-40B4-BE49-F238E27FC236}">
                <a16:creationId xmlns:a16="http://schemas.microsoft.com/office/drawing/2014/main" id="{64E59EAC-0914-469F-8A1C-ED53CE1B5798}"/>
              </a:ext>
            </a:extLst>
          </p:cNvPr>
          <p:cNvSpPr>
            <a:spLocks xmlns:a="http://schemas.openxmlformats.org/drawingml/2006/main" noGrp="1"/>
          </p:cNvSpPr>
          <p:nvPr/>
        </p:nvSpPr>
        <p:spPr>
          <a:xfrm xmlns:a="http://schemas.openxmlformats.org/drawingml/2006/main">
            <a:off x="800100" y="32956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Record: A saved slide, paper panel or witness record; source labels; one audience question; and either a before-and-after change or a clear confirmation plus one transfer step.</a:t>
            </a:r>
          </a:p>
        </p:txBody>
      </p:sp>
      <p:sp>
        <p:nvSpPr>
          <p:cNvPr id="8" name="time">
            <a:extLst xmlns:a="http://schemas.openxmlformats.org/drawingml/2006/main">
              <a:ext uri="{FF2B5EF4-FFF2-40B4-BE49-F238E27FC236}">
                <a16:creationId xmlns:a16="http://schemas.microsoft.com/office/drawing/2014/main" id="{7BE8D496-BEA3-455F-A476-C81D67D5625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15 min across this stage</a:t>
            </a:r>
          </a:p>
        </p:txBody>
      </p:sp>
      <p:sp>
        <p:nvSpPr>
          <p:cNvPr id="9" name="number">
            <a:extLst xmlns:a="http://schemas.openxmlformats.org/drawingml/2006/main">
              <a:ext uri="{FF2B5EF4-FFF2-40B4-BE49-F238E27FC236}">
                <a16:creationId xmlns:a16="http://schemas.microsoft.com/office/drawing/2014/main" id="{E3EBB57D-0633-4C31-AF3C-ED54C47DA5B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16</a:t>
            </a:r>
          </a:p>
        </p:txBody>
      </p:sp>
    </p:spTree>
    <p:extLst>
      <p:ext uri="{BB962C8B-B14F-4D97-AF65-F5344CB8AC3E}">
        <p14:creationId xmlns:p14="http://schemas.microsoft.com/office/powerpoint/2010/main" val="1912691258"/>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F96C6456-E518-44DB-975F-BDEDCFE0A2B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9E3CA13-8CB9-475D-8A26-5C49779D78C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23D410B5-C3D6-43E0-9FAB-50071B0B163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6312AAB3-5147-43B7-9BFE-4BDD10CFFC0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your support and challenge</a:t>
            </a:r>
          </a:p>
        </p:txBody>
      </p:sp>
      <p:sp>
        <p:nvSpPr>
          <p:cNvPr id="5" name="paper panel">
            <a:extLst xmlns:a="http://schemas.openxmlformats.org/drawingml/2006/main">
              <a:ext uri="{FF2B5EF4-FFF2-40B4-BE49-F238E27FC236}">
                <a16:creationId xmlns:a16="http://schemas.microsoft.com/office/drawing/2014/main" id="{A8C656B6-A81F-4DC9-8C93-5C9A9675224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452B29E-E6C4-4799-B9E2-14001A80C937}"/>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Supported: Present one claim and two facts with a three-panel frame; receive one choice-based question and change one panel, or mark it confirmed and choose one next audience.</a:t>
            </a:r>
          </a:p>
        </p:txBody>
      </p:sp>
      <p:sp>
        <p:nvSpPr>
          <p:cNvPr id="7" name="content 1">
            <a:extLst xmlns:a="http://schemas.openxmlformats.org/drawingml/2006/main">
              <a:ext uri="{FF2B5EF4-FFF2-40B4-BE49-F238E27FC236}">
                <a16:creationId xmlns:a16="http://schemas.microsoft.com/office/drawing/2014/main" id="{4F0144D2-947C-4755-82A7-D0643BD86027}"/>
              </a:ext>
            </a:extLst>
          </p:cNvPr>
          <p:cNvSpPr>
            <a:spLocks xmlns:a="http://schemas.openxmlformats.org/drawingml/2006/main" noGrp="1"/>
          </p:cNvSpPr>
          <p:nvPr/>
        </p:nvSpPr>
        <p:spPr>
          <a:xfrm xmlns:a="http://schemas.openxmlformats.org/drawingml/2006/main">
            <a:off x="800100" y="32956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Standard: Give a one-to-two-minute briefing with claim, evidence and sources, then respond with a visible change or a clear reason plus one transfer step.</a:t>
            </a:r>
          </a:p>
        </p:txBody>
      </p:sp>
      <p:sp>
        <p:nvSpPr>
          <p:cNvPr id="8" name="content 2">
            <a:extLst xmlns:a="http://schemas.openxmlformats.org/drawingml/2006/main">
              <a:ext uri="{FF2B5EF4-FFF2-40B4-BE49-F238E27FC236}">
                <a16:creationId xmlns:a16="http://schemas.microsoft.com/office/drawing/2014/main" id="{68DF12DB-9544-4FDF-8587-0D367C9A82D2}"/>
              </a:ext>
            </a:extLst>
          </p:cNvPr>
          <p:cNvSpPr>
            <a:spLocks xmlns:a="http://schemas.openxmlformats.org/drawingml/2006/main" noGrp="1"/>
          </p:cNvSpPr>
          <p:nvPr/>
        </p:nvSpPr>
        <p:spPr>
          <a:xfrm xmlns:a="http://schemas.openxmlformats.org/drawingml/2006/main">
            <a:off x="800100" y="44196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Stretch: Present a justified finding, acknowledge one uncertainty or limit and respond to a probing question with a revision or a defended no-change decision plus transfer.</a:t>
            </a:r>
          </a:p>
        </p:txBody>
      </p:sp>
      <p:sp>
        <p:nvSpPr>
          <p:cNvPr id="9" name="time">
            <a:extLst xmlns:a="http://schemas.openxmlformats.org/drawingml/2006/main">
              <a:ext uri="{FF2B5EF4-FFF2-40B4-BE49-F238E27FC236}">
                <a16:creationId xmlns:a16="http://schemas.microsoft.com/office/drawing/2014/main" id="{F0A6AB88-72C5-4563-A138-54181BE32CB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15 min across this stage</a:t>
            </a:r>
          </a:p>
        </p:txBody>
      </p:sp>
      <p:sp>
        <p:nvSpPr>
          <p:cNvPr id="10" name="number">
            <a:extLst xmlns:a="http://schemas.openxmlformats.org/drawingml/2006/main">
              <a:ext uri="{FF2B5EF4-FFF2-40B4-BE49-F238E27FC236}">
                <a16:creationId xmlns:a16="http://schemas.microsoft.com/office/drawing/2014/main" id="{F9616953-BB69-4FCB-86B8-18A465CA065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16</a:t>
            </a:r>
          </a:p>
        </p:txBody>
      </p:sp>
    </p:spTree>
    <p:extLst>
      <p:ext uri="{BB962C8B-B14F-4D97-AF65-F5344CB8AC3E}">
        <p14:creationId xmlns:p14="http://schemas.microsoft.com/office/powerpoint/2010/main" val="59410194"/>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02D552C0-C0C9-4FB9-859C-9027178A704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5FFA459-3E9C-4919-9C80-89FBAE7FDC7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AED94839-D260-43EE-AFEE-D9DCA852D74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C4C41DDD-51A6-4B50-97A0-28E5BB5ACA0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Show what you know</a:t>
            </a:r>
          </a:p>
        </p:txBody>
      </p:sp>
      <p:sp>
        <p:nvSpPr>
          <p:cNvPr id="5" name="paper panel">
            <a:extLst xmlns:a="http://schemas.openxmlformats.org/drawingml/2006/main">
              <a:ext uri="{FF2B5EF4-FFF2-40B4-BE49-F238E27FC236}">
                <a16:creationId xmlns:a16="http://schemas.microsoft.com/office/drawing/2014/main" id="{3F5C7B52-01A2-42B0-BBD7-F038AAB2E07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B4C51BC-F72F-4262-99A1-885804EFDE89}"/>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What did you say, who received it, and what changed? If no content changed, why was that right and what transfers next?</a:t>
            </a:r>
          </a:p>
        </p:txBody>
      </p:sp>
      <p:sp>
        <p:nvSpPr>
          <p:cNvPr id="7" name="content 1">
            <a:extLst xmlns:a="http://schemas.openxmlformats.org/drawingml/2006/main">
              <a:ext uri="{FF2B5EF4-FFF2-40B4-BE49-F238E27FC236}">
                <a16:creationId xmlns:a16="http://schemas.microsoft.com/office/drawing/2014/main" id="{005030A8-7098-498D-BA10-2E73A33B3BFE}"/>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Point to, read or explain the evidence you made. Choose one next step after the adult has listened.</a:t>
            </a:r>
          </a:p>
        </p:txBody>
      </p:sp>
      <p:sp>
        <p:nvSpPr>
          <p:cNvPr id="8" name="time">
            <a:extLst xmlns:a="http://schemas.openxmlformats.org/drawingml/2006/main">
              <a:ext uri="{FF2B5EF4-FFF2-40B4-BE49-F238E27FC236}">
                <a16:creationId xmlns:a16="http://schemas.microsoft.com/office/drawing/2014/main" id="{3423C249-6C78-4F2E-B033-8307AC97D34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9" name="number">
            <a:extLst xmlns:a="http://schemas.openxmlformats.org/drawingml/2006/main">
              <a:ext uri="{FF2B5EF4-FFF2-40B4-BE49-F238E27FC236}">
                <a16:creationId xmlns:a16="http://schemas.microsoft.com/office/drawing/2014/main" id="{3EDC0C7F-2808-4DE3-BA67-7FB93EBA1B2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16</a:t>
            </a:r>
          </a:p>
        </p:txBody>
      </p:sp>
    </p:spTree>
    <p:extLst>
      <p:ext uri="{BB962C8B-B14F-4D97-AF65-F5344CB8AC3E}">
        <p14:creationId xmlns:p14="http://schemas.microsoft.com/office/powerpoint/2010/main" val="603379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2026-09-08T08:54:12.4980000Z</dcterms:created>
  <dcterms:modified xsi:type="dcterms:W3CDTF">2026-09-08T08:54:12.4980000Z</dcterms:modified>
</coreProperties>
</file>