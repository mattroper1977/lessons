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99e6fc07e4af7" /><Relationship Type="http://schemas.openxmlformats.org/officeDocument/2006/relationships/extended-properties" Target="/docProps/app.xml" Id="R79eb5bf7dbc543fd" /><Relationship Type="http://schemas.openxmlformats.org/officeDocument/2006/relationships/officeDocument" Target="/ppt/presentation.xml" Id="R90e331642c5a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9b2c07e2754fdb"/>
  </p:sldMasterIdLst>
  <p:notesMasterIdLst>
    <p:notesMasterId xmlns:r="http://schemas.openxmlformats.org/officeDocument/2006/relationships" r:id="R5f523655299f4902"/>
  </p:notesMasterIdLst>
  <p:sldIdLst>
    <p:sldId xmlns:r="http://schemas.openxmlformats.org/officeDocument/2006/relationships" id="256" r:id="Rc218607b122c44d1"/>
    <p:sldId xmlns:r="http://schemas.openxmlformats.org/officeDocument/2006/relationships" id="257" r:id="R996ba372d9c94c6a"/>
    <p:sldId xmlns:r="http://schemas.openxmlformats.org/officeDocument/2006/relationships" id="258" r:id="Rd8c0185a4cbe44b4"/>
    <p:sldId xmlns:r="http://schemas.openxmlformats.org/officeDocument/2006/relationships" id="259" r:id="Rc429b9b1c1244d3c"/>
    <p:sldId xmlns:r="http://schemas.openxmlformats.org/officeDocument/2006/relationships" id="260" r:id="R39dd69b910554bab"/>
    <p:sldId xmlns:r="http://schemas.openxmlformats.org/officeDocument/2006/relationships" id="261" r:id="Rbb6039aba8bf4485"/>
    <p:sldId xmlns:r="http://schemas.openxmlformats.org/officeDocument/2006/relationships" id="262" r:id="Rccfdea9b98594833"/>
    <p:sldId xmlns:r="http://schemas.openxmlformats.org/officeDocument/2006/relationships" id="263" r:id="Rc46dadd3f3964fb8"/>
    <p:sldId xmlns:r="http://schemas.openxmlformats.org/officeDocument/2006/relationships" id="264" r:id="R6a263110507142b4"/>
    <p:sldId xmlns:r="http://schemas.openxmlformats.org/officeDocument/2006/relationships" id="265" r:id="Red565cef02054b01"/>
    <p:sldId xmlns:r="http://schemas.openxmlformats.org/officeDocument/2006/relationships" id="266" r:id="R361293328564430e"/>
    <p:sldId xmlns:r="http://schemas.openxmlformats.org/officeDocument/2006/relationships" id="267" r:id="Rac0d723e08a44d3c"/>
    <p:sldId xmlns:r="http://schemas.openxmlformats.org/officeDocument/2006/relationships" id="268" r:id="Rf090b2f3592a41bd"/>
    <p:sldId xmlns:r="http://schemas.openxmlformats.org/officeDocument/2006/relationships" id="269" r:id="R70277a15c79d47ff"/>
    <p:sldId xmlns:r="http://schemas.openxmlformats.org/officeDocument/2006/relationships" id="270" r:id="R40a8538e55fc46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8e82e68ab42d5" /><Relationship Type="http://schemas.openxmlformats.org/officeDocument/2006/relationships/slideMaster" Target="/ppt/slideMasters/slideMaster1.xml" Id="R6a9b2c07e2754fdb" /><Relationship Type="http://schemas.openxmlformats.org/officeDocument/2006/relationships/notesMaster" Target="/ppt/notesMasters/notesMaster1.xml" Id="R5f523655299f4902" /><Relationship Type="http://schemas.openxmlformats.org/officeDocument/2006/relationships/presProps" Target="/ppt/presProps.xml" Id="Rde5f60b5e94f452b" /><Relationship Type="http://schemas.openxmlformats.org/officeDocument/2006/relationships/tableStyles" Target="/ppt/tableStyles.xml" Id="R10308ac3b64444ad" /><Relationship Type="http://schemas.openxmlformats.org/officeDocument/2006/relationships/slide" Target="/ppt/slides/slide1.xml" Id="Rc218607b122c44d1" /><Relationship Type="http://schemas.openxmlformats.org/officeDocument/2006/relationships/slide" Target="/ppt/slides/slide2.xml" Id="R996ba372d9c94c6a" /><Relationship Type="http://schemas.openxmlformats.org/officeDocument/2006/relationships/slide" Target="/ppt/slides/slide3.xml" Id="Rd8c0185a4cbe44b4" /><Relationship Type="http://schemas.openxmlformats.org/officeDocument/2006/relationships/slide" Target="/ppt/slides/slide4.xml" Id="Rc429b9b1c1244d3c" /><Relationship Type="http://schemas.openxmlformats.org/officeDocument/2006/relationships/slide" Target="/ppt/slides/slide5.xml" Id="R39dd69b910554bab" /><Relationship Type="http://schemas.openxmlformats.org/officeDocument/2006/relationships/slide" Target="/ppt/slides/slide6.xml" Id="Rbb6039aba8bf4485" /><Relationship Type="http://schemas.openxmlformats.org/officeDocument/2006/relationships/slide" Target="/ppt/slides/slide7.xml" Id="Rccfdea9b98594833" /><Relationship Type="http://schemas.openxmlformats.org/officeDocument/2006/relationships/slide" Target="/ppt/slides/slide8.xml" Id="Rc46dadd3f3964fb8" /><Relationship Type="http://schemas.openxmlformats.org/officeDocument/2006/relationships/slide" Target="/ppt/slides/slide9.xml" Id="R6a263110507142b4" /><Relationship Type="http://schemas.openxmlformats.org/officeDocument/2006/relationships/slide" Target="/ppt/slides/slide10.xml" Id="Red565cef02054b01" /><Relationship Type="http://schemas.openxmlformats.org/officeDocument/2006/relationships/slide" Target="/ppt/slides/slide11.xml" Id="R361293328564430e" /><Relationship Type="http://schemas.openxmlformats.org/officeDocument/2006/relationships/slide" Target="/ppt/slides/slide12.xml" Id="Rac0d723e08a44d3c" /><Relationship Type="http://schemas.openxmlformats.org/officeDocument/2006/relationships/slide" Target="/ppt/slides/slide13.xml" Id="Rf090b2f3592a41bd" /><Relationship Type="http://schemas.openxmlformats.org/officeDocument/2006/relationships/slide" Target="/ppt/slides/slide14.xml" Id="R70277a15c79d47ff" /><Relationship Type="http://schemas.openxmlformats.org/officeDocument/2006/relationships/slide" Target="/ppt/slides/slide15.xml" Id="R40a8538e55fc46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d3eecdfa6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22d937198427c" /><Relationship Type="http://schemas.openxmlformats.org/officeDocument/2006/relationships/notesMaster" Target="/ppt/notesMasters/notesMaster1.xml" Id="R913f2916fccc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19efa7ce324e55" /><Relationship Type="http://schemas.openxmlformats.org/officeDocument/2006/relationships/notesMaster" Target="/ppt/notesMasters/notesMaster1.xml" Id="Rbe23bfc4ca4944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8aa2bb6d44c99" /><Relationship Type="http://schemas.openxmlformats.org/officeDocument/2006/relationships/notesMaster" Target="/ppt/notesMasters/notesMaster1.xml" Id="R06260d80c361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1231ce4f34045" /><Relationship Type="http://schemas.openxmlformats.org/officeDocument/2006/relationships/notesMaster" Target="/ppt/notesMasters/notesMaster1.xml" Id="R027ad4710c40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a045e41f54dad" /><Relationship Type="http://schemas.openxmlformats.org/officeDocument/2006/relationships/notesMaster" Target="/ppt/notesMasters/notesMaster1.xml" Id="Rf659d0c546a3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1b285cb4f48d2" /><Relationship Type="http://schemas.openxmlformats.org/officeDocument/2006/relationships/notesMaster" Target="/ppt/notesMasters/notesMaster1.xml" Id="R34ebd76ec1e44c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452cc95ce34ff4" /><Relationship Type="http://schemas.openxmlformats.org/officeDocument/2006/relationships/notesMaster" Target="/ppt/notesMasters/notesMaster1.xml" Id="Rc2c72d93827c48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477b3b43742cf" /><Relationship Type="http://schemas.openxmlformats.org/officeDocument/2006/relationships/notesMaster" Target="/ppt/notesMasters/notesMaster1.xml" Id="R006b36302e504b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0733ea21f4820" /><Relationship Type="http://schemas.openxmlformats.org/officeDocument/2006/relationships/notesMaster" Target="/ppt/notesMasters/notesMaster1.xml" Id="R8dba47a3c17944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7a9e7f12b34556" /><Relationship Type="http://schemas.openxmlformats.org/officeDocument/2006/relationships/notesMaster" Target="/ppt/notesMasters/notesMaster1.xml" Id="R63888a26e3a14f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1e8d1300e947ca" /><Relationship Type="http://schemas.openxmlformats.org/officeDocument/2006/relationships/notesMaster" Target="/ppt/notesMasters/notesMaster1.xml" Id="R3b9473c8b9e54a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0ebcf7656644e4" /><Relationship Type="http://schemas.openxmlformats.org/officeDocument/2006/relationships/notesMaster" Target="/ppt/notesMasters/notesMaster1.xml" Id="R63318a903f254a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1a658bae29443c" /><Relationship Type="http://schemas.openxmlformats.org/officeDocument/2006/relationships/notesMaster" Target="/ppt/notesMasters/notesMaster1.xml" Id="R97ecdaf00dff4e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b894c0386c46e3" /><Relationship Type="http://schemas.openxmlformats.org/officeDocument/2006/relationships/notesMaster" Target="/ppt/notesMasters/notesMaster1.xml" Id="Rea55c352818d43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c341f9798f4828" /><Relationship Type="http://schemas.openxmlformats.org/officeDocument/2006/relationships/notesMaster" Target="/ppt/notesMasters/notesMaster1.xml" Id="R348e086b5fd144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molecule models, not food crumbs. Invite a predicted route; do not mark guesses publicly.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breakdown into smaller absorbable substances; R2 blood; R3 lungs. Explain that today focuses on crossing the gut wall, not repeating the full heart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A crumb is not the transported token. I choose glucose, a small dissolved molecule. It crosses the intestinal lining into blood. The arrow shows net entry, not an empty hole. Actual absorption involves cells and transport processes; mechanism names are not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Small glucose symbols cross the intestinal wall into a capillary. Labels distinguish intestine contents, wall and blood. The model is not to scale or a literal sieve.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Think aloud: Water is already a small substance; I do not need to cut it into smaller food units. Water is absorbed in small and large intestine. Most glucose from gut travels first through liver before wider circulation; detailed organ route omitted in this job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Intestine:</a:t>
            </a:r>
          </a:p>
          <a:p xmlns:a="http://schemas.openxmlformats.org/drawingml/2006/main">
            <a:r>
              <a:t>absorption; Blood plasma:</a:t>
            </a:r>
          </a:p>
          <a:p xmlns:a="http://schemas.openxmlformats.org/drawingml/2006/main">
            <a:r>
              <a:t>transport; Body tissues:</a:t>
            </a:r>
          </a:p>
          <a:p xmlns:a="http://schemas.openxmlformats.org/drawingml/2006/main">
            <a:r>
              <a:t>substances used. Circulation carries substances onwards. This job map</a:t>
            </a:r>
          </a:p>
          <a:p xmlns:a="http://schemas.openxmlformats.org/drawingml/2006/main">
            <a:r>
              <a:t>omits the detailed liver, heart and lung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each row separately. The urine row is simplified: ureters carry urine from kidneys to bladder and urethra carries it out. No pupil experiences are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branching model distinguishes unabsorbed material continuing through large intestine to faeces, from blood being filtered by kidneys to produce urine.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Tokens: large starch molecule needing digestion→break down; glucose at gut wall→absorption; dissolved glucose in blood→transport; water in the gut→absorption. No physical substances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Correct core chain: intestine absorption→blood→kidneys make urine→bladder. Do not imply all ingested water immediately becomes urine or use a fixed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Unabsorbed material continues through the gut towards faeces; kidneys produce urine by filtering blood. Some gut residues are changed by bacteria, so the model does not claim that all food remains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Unabsorbed material continues through the gut. Kidneys make urine by filtering blood.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is incorrect: water does not need digestion into smaller food molecules. B is correct: water can be absorbed across the gut wall. C is incorrect: there is no direct intestine-to-bladder tube. Revisit the absorption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It must be digested before absorption.</a:t>
            </a:r>
          </a:p>
          <a:p xmlns:a="http://schemas.openxmlformats.org/drawingml/2006/main">
            <a:r>
              <a:t>Water does not need digestion into smaller food molecules.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It can be absorbed across the gut wall.</a:t>
            </a:r>
          </a:p>
          <a:p xmlns:a="http://schemas.openxmlformats.org/drawingml/2006/main">
            <a:r>
              <a:t>Correct. Water is absorbed in the small and large intestine.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It goes through a direct pipe to the bladder.</a:t>
            </a:r>
          </a:p>
          <a:p xmlns:a="http://schemas.openxmlformats.org/drawingml/2006/main">
            <a:r>
              <a:t>Kidneys make urine from blood; there is no direct stomach-to-bladder pipe.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You do. Support route provides words; standard explains order; stretch repairs ambiguity and includes model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time. A pupil may point to a verb card and dictate an explanation. These verbs distinguish processes rather than competing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time. Never accept “food goes into blood” without clarifying a small absorbed substance. Water need not be digested.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private check. A diagram with appropriate verbs can demonstrate equivalent understanding to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Lundy: teacher records pupil questions, selects one magnified view and explains how pupil reasoning determined the next illustration.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absorption means crossing a surface into the body’s transport systems. E2: blood or plasma. E3: kidneys. E4 on the pupil page: water does not need digestion before absorption.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NIDDK: Your digestive system and how it works</a:t>
            </a:r>
          </a:p>
          <a:p xmlns:a="http://schemas.openxmlformats.org/drawingml/2006/main">
            <a:r>
              <a:t>https://www.niddk.nih.gov/health-information/digestive-diseases/digestive-system-how-it-works</a:t>
            </a:r>
          </a:p>
          <a:p xmlns:a="http://schemas.openxmlformats.org/drawingml/2006/main">
            <a:r>
              <a:t>Checked September 2026. Digestion, absorption, transport and water absorption. Paraphrased factual reference; diagrams and activities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Your kidneys and how they work</a:t>
            </a:r>
          </a:p>
          <a:p xmlns:a="http://schemas.openxmlformats.org/drawingml/2006/main">
            <a:r>
              <a:t>https://www.niddk.nih.gov/health-information/kidney-disease/kidneys-how-they-work</a:t>
            </a:r>
          </a:p>
          <a:p xmlns:a="http://schemas.openxmlformats.org/drawingml/2006/main">
            <a:r>
              <a:t>Checked September 2026. Kidneys filter blood and regulate water; urine does not come directly from a stomach-to-bladder tube.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NHLBI: How blood flows through the heart</a:t>
            </a:r>
          </a:p>
          <a:p xmlns:a="http://schemas.openxmlformats.org/drawingml/2006/main">
            <a:r>
              <a:t>https://www.nhlbi.nih.gov/health/heart/blood-flow</a:t>
            </a:r>
          </a:p>
          <a:p xmlns:a="http://schemas.openxmlformats.org/drawingml/2006/main">
            <a:r>
              <a:t>Checked September 2026. Right-heart/lung/left-heart/body sequence and oxygenation. No adult pulse thresholds are used for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d15fd9935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85b229d1364ad9" /><Relationship Type="http://schemas.openxmlformats.org/officeDocument/2006/relationships/slideLayout" Target="/ppt/slideLayouts/slideLayout1.xml" Id="R3bc8f2b25394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8f2b25394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6a65be0324cf4" /><Relationship Type="http://schemas.openxmlformats.org/officeDocument/2006/relationships/notesSlide" Target="/ppt/notesSlides/notesSlide1.xml" Id="R277989397d3144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b2fb0232c471a" /><Relationship Type="http://schemas.openxmlformats.org/officeDocument/2006/relationships/notesSlide" Target="/ppt/notesSlides/notesSlide2.xml" Id="R7651dd1c70424c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e2240c9e44510" /><Relationship Type="http://schemas.openxmlformats.org/officeDocument/2006/relationships/notesSlide" Target="/ppt/notesSlides/notesSlide3.xml" Id="Rfc72d98bcbce4e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f6f59184d4caf" /><Relationship Type="http://schemas.openxmlformats.org/officeDocument/2006/relationships/notesSlide" Target="/ppt/notesSlides/notesSlide4.xml" Id="R665deda7d1c9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44895bfab4720" /><Relationship Type="http://schemas.openxmlformats.org/officeDocument/2006/relationships/notesSlide" Target="/ppt/notesSlides/notesSlide5.xml" Id="R38f4c5cc69af4f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ec502ce6476d" /><Relationship Type="http://schemas.openxmlformats.org/officeDocument/2006/relationships/notesSlide" Target="/ppt/notesSlides/notesSlide6.xml" Id="R7d545a66fafb48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caa1b1b04ce5" /><Relationship Type="http://schemas.openxmlformats.org/officeDocument/2006/relationships/notesSlide" Target="/ppt/notesSlides/notesSlide7.xml" Id="Rc7fe6434dc69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376d55ecc4634" /><Relationship Type="http://schemas.openxmlformats.org/officeDocument/2006/relationships/notesSlide" Target="/ppt/notesSlides/notesSlide8.xml" Id="R438b422cd8e84e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a4c364b804468" /><Relationship Type="http://schemas.openxmlformats.org/officeDocument/2006/relationships/notesSlide" Target="/ppt/notesSlides/notesSlide9.xml" Id="R716cee785903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7e7c2038a421c" /><Relationship Type="http://schemas.openxmlformats.org/officeDocument/2006/relationships/notesSlide" Target="/ppt/notesSlides/notesSlide10.xml" Id="Rb7c5d21c8bc940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3c5bc4fb54ffa" /><Relationship Type="http://schemas.openxmlformats.org/officeDocument/2006/relationships/notesSlide" Target="/ppt/notesSlides/notesSlide11.xml" Id="R7eca2670706244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a51481d014b72" /><Relationship Type="http://schemas.openxmlformats.org/officeDocument/2006/relationships/notesSlide" Target="/ppt/notesSlides/notesSlide12.xml" Id="R1cf79fa947c44f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dfdfb1464404" /><Relationship Type="http://schemas.openxmlformats.org/officeDocument/2006/relationships/notesSlide" Target="/ppt/notesSlides/notesSlide13.xml" Id="R9b43a081783f45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3895f9e2d49de" /><Relationship Type="http://schemas.openxmlformats.org/officeDocument/2006/relationships/notesSlide" Target="/ppt/notesSlides/notesSlide14.xml" Id="R7ca9b1485a934b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8f269cba54ffd" /><Relationship Type="http://schemas.openxmlformats.org/officeDocument/2006/relationships/notesSlide" Target="/ppt/notesSlides/notesSlide15.xml" Id="R5d9cd0d3cd9e49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B16689A-F41E-44AC-A34B-66FF96B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FD58046-9E3F-4C63-8E98-9D1CC7B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8EC379B-347E-4FF4-A304-623C711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605895E-546C-4983-B541-92B7E671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F9C5B883-0CAE-4990-A7DF-D05D2D4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9529C6E-4191-4A3D-B698-0E929C95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wo tokens need a route">
            <a:extLst xmlns:a="http://schemas.openxmlformats.org/drawingml/2006/main">
              <a:ext uri="{FF2B5EF4-FFF2-40B4-BE49-F238E27FC236}">
                <a16:creationId xmlns:a16="http://schemas.microsoft.com/office/drawing/2014/main" id="{0380AB2C-56E8-432A-99BC-375E2864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tokens need a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0EF6AB3-67A5-451E-B682-68672A3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3BA9B8D7-0BF2-48ED-ACAA-C22CD87A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EC84E27C-D685-4411-9295-02ADA77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D80DDDC9-3EE2-4CA4-B038-715D110B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D3211E3-9B2E-484A-BEC7-3F7E00E3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7F73D83-BA50-43C2-BA0B-D183EEAD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how absorbed nutrients and water reach body tissues and">
            <a:extLst xmlns:a="http://schemas.openxmlformats.org/drawingml/2006/main">
              <a:ext uri="{FF2B5EF4-FFF2-40B4-BE49-F238E27FC236}">
                <a16:creationId xmlns:a16="http://schemas.microsoft.com/office/drawing/2014/main" id="{E82B4078-D986-4844-8E66-B3AB99D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how absorbed nutrients and water reach body tissues and distinguish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from the waste route.</a:t>
            </a:r>
          </a:p>
        </p:txBody>
      </p:sp>
      <p:sp>
        <p:nvSpPr>
          <p:cNvPr id="15" name="One token is glucose. One is water.">
            <a:extLst xmlns:a="http://schemas.openxmlformats.org/drawingml/2006/main">
              <a:ext uri="{FF2B5EF4-FFF2-40B4-BE49-F238E27FC236}">
                <a16:creationId xmlns:a16="http://schemas.microsoft.com/office/drawing/2014/main" id="{10CD0FB7-2C2D-47C3-8021-CAC1AA10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token is glucose. One is water.</a:t>
            </a:r>
          </a:p>
        </p:txBody>
      </p:sp>
      <p:sp>
        <p:nvSpPr>
          <p:cNvPr id="16" name="How can both reach a muscle tissue?">
            <a:extLst xmlns:a="http://schemas.openxmlformats.org/drawingml/2006/main">
              <a:ext uri="{FF2B5EF4-FFF2-40B4-BE49-F238E27FC236}">
                <a16:creationId xmlns:a16="http://schemas.microsoft.com/office/drawing/2014/main" id="{F35485FA-01C0-41AF-A47A-D66CBE5F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How can both reach a muscle tissue?</a:t>
            </a:r>
          </a:p>
        </p:txBody>
      </p:sp>
    </p:spTree>
    <p:extLst>
      <p:ext uri="{BB962C8B-B14F-4D97-AF65-F5344CB8AC3E}">
        <p14:creationId xmlns:p14="http://schemas.microsoft.com/office/powerpoint/2010/main" val="438445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2C288CD-E282-4259-BB95-CBD0E8DB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0D9220B-F176-4339-80F2-72E3D097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0BE8E9E-1FC8-40E7-A604-CFEC2F7C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E95A8A8-FD20-410D-AA95-00EA94C4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5B71030F-C5DC-4D1E-993C-E66C952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C276E8F-C58D-4BAF-A98C-8FA94D2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over the two system jobs">
            <a:extLst xmlns:a="http://schemas.openxmlformats.org/drawingml/2006/main">
              <a:ext uri="{FF2B5EF4-FFF2-40B4-BE49-F238E27FC236}">
                <a16:creationId xmlns:a16="http://schemas.microsoft.com/office/drawing/2014/main" id="{024F61D6-A2F1-45CA-906D-584ED31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Recover the two system jobs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3E60426-FE88-496C-B632-A2A9BC7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F4405EB7-71B8-4EA8-9F51-F4DC915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7E023699-0B57-4D7D-97F7-CC30408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is digestion?">
            <a:extLst xmlns:a="http://schemas.openxmlformats.org/drawingml/2006/main">
              <a:ext uri="{FF2B5EF4-FFF2-40B4-BE49-F238E27FC236}">
                <a16:creationId xmlns:a16="http://schemas.microsoft.com/office/drawing/2014/main" id="{E2870FD4-4AF8-4924-904B-6D64A38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is digestion?</a:t>
            </a:r>
          </a:p>
        </p:txBody>
      </p:sp>
      <p:sp>
        <p:nvSpPr>
          <p:cNvPr id="12" name="R2. What does the heart pump?">
            <a:extLst xmlns:a="http://schemas.openxmlformats.org/drawingml/2006/main">
              <a:ext uri="{FF2B5EF4-FFF2-40B4-BE49-F238E27FC236}">
                <a16:creationId xmlns:a16="http://schemas.microsoft.com/office/drawing/2014/main" id="{91AD67EC-7CA3-4718-9823-2C8E5676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does the heart pump?</a:t>
            </a:r>
          </a:p>
        </p:txBody>
      </p:sp>
      <p:sp>
        <p:nvSpPr>
          <p:cNvPr id="13" name="R3. Where does blood gain oxygen?">
            <a:extLst xmlns:a="http://schemas.openxmlformats.org/drawingml/2006/main">
              <a:ext uri="{FF2B5EF4-FFF2-40B4-BE49-F238E27FC236}">
                <a16:creationId xmlns:a16="http://schemas.microsoft.com/office/drawing/2014/main" id="{F6E376DC-4EC7-4B5F-A892-D6AAEA3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Where does blood gain oxygen?</a:t>
            </a:r>
          </a:p>
        </p:txBody>
      </p:sp>
    </p:spTree>
    <p:extLst>
      <p:ext uri="{BB962C8B-B14F-4D97-AF65-F5344CB8AC3E}">
        <p14:creationId xmlns:p14="http://schemas.microsoft.com/office/powerpoint/2010/main" val="340471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A8BF17D4-1E41-4BE5-BBC9-6A9DDDA0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0B2A468-B996-434E-939A-9D8E485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A731740-389A-4286-B697-6A951D6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C606F06-91BA-43AF-B644-B2FC66C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5E23B35-0B2B-4035-AC40-A96B50A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B3D567D2-4031-4C76-8D05-B9D80A41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separate breaking down from crossing">
            <a:extLst xmlns:a="http://schemas.openxmlformats.org/drawingml/2006/main">
              <a:ext uri="{FF2B5EF4-FFF2-40B4-BE49-F238E27FC236}">
                <a16:creationId xmlns:a16="http://schemas.microsoft.com/office/drawing/2014/main" id="{FDC6CF5D-9CDB-4912-A7DB-B5D2650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breaking down from crossing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AF28D4D-BB77-4509-992D-D66E01C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1D47A5C6-1593-47F1-ADDE-CC55120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44DFAD96-65F5-444F-8F1D-167B37D0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A soluble nutrient crosses the gut wall">
            <a:extLst xmlns:a="http://schemas.openxmlformats.org/drawingml/2006/main">
              <a:ext uri="{FF2B5EF4-FFF2-40B4-BE49-F238E27FC236}">
                <a16:creationId xmlns:a16="http://schemas.microsoft.com/office/drawing/2014/main" id="{8483EEF8-A483-448D-8C0B-4D677BE2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1988004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soluble nutrient crosses the gut wall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067DAE6-363F-4281-957E-CC2415BA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2653733"/>
            <a:ext cx="2312534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CCD3C4A-04A8-473A-945B-C65A8B2C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079" y="2653733"/>
            <a:ext cx="119130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1BE5266-FE9B-4816-A1F6-45CDED8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84" y="2653733"/>
            <a:ext cx="2803071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B"/>
          </a:solidFill>
          <a:ln xmlns:a="http://schemas.openxmlformats.org/drawingml/2006/main" w="21023">
            <a:solidFill>
              <a:srgbClr val="B64745"/>
            </a:solidFill>
          </a:ln>
        </p:spPr>
      </p:sp>
      <p:sp>
        <p:nvSpPr>
          <p:cNvPr id="15" name="Diagram label: Inside the intestine">
            <a:extLst xmlns:a="http://schemas.openxmlformats.org/drawingml/2006/main">
              <a:ext uri="{FF2B5EF4-FFF2-40B4-BE49-F238E27FC236}">
                <a16:creationId xmlns:a16="http://schemas.microsoft.com/office/drawing/2014/main" id="{BAB41E07-9270-48BA-92B4-A9320613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2793887"/>
            <a:ext cx="2172380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Inside the intestine</a:t>
            </a:r>
          </a:p>
        </p:txBody>
      </p:sp>
      <p:sp>
        <p:nvSpPr>
          <p:cNvPr id="16" name="Diagram label: Gut&#10;wall">
            <a:extLst xmlns:a="http://schemas.openxmlformats.org/drawingml/2006/main">
              <a:ext uri="{FF2B5EF4-FFF2-40B4-BE49-F238E27FC236}">
                <a16:creationId xmlns:a16="http://schemas.microsoft.com/office/drawing/2014/main" id="{1D187A30-CA5D-45A6-B901-A2D8387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55" y="2758848"/>
            <a:ext cx="1051152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Gut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wall</a:t>
            </a:r>
          </a:p>
        </p:txBody>
      </p:sp>
      <p:sp>
        <p:nvSpPr>
          <p:cNvPr id="17" name="Diagram label: Small blood vessel">
            <a:extLst xmlns:a="http://schemas.openxmlformats.org/drawingml/2006/main">
              <a:ext uri="{FF2B5EF4-FFF2-40B4-BE49-F238E27FC236}">
                <a16:creationId xmlns:a16="http://schemas.microsoft.com/office/drawing/2014/main" id="{85D7CC56-2B40-496D-ADE3-1A734DA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499" y="2793887"/>
            <a:ext cx="2592841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blood vessel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2EE5F54-6D90-4D0C-9B4C-6FFF4A24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929" y="3494654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95E27CA-4AF4-4207-9D28-3F0A9AF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696" y="3880077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97648E9-9D8D-4252-8548-E759790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426" y="3529693"/>
            <a:ext cx="168184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58377AE-6741-495B-AFFF-ACE4A3FE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84234" y="3950154"/>
            <a:ext cx="29397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E55BE7E-4BD6-4A46-8773-CE96F94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99428" y="390110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3" name="Diagram label: Glucose dissolved in plasma">
            <a:extLst xmlns:a="http://schemas.openxmlformats.org/drawingml/2006/main">
              <a:ext uri="{FF2B5EF4-FFF2-40B4-BE49-F238E27FC236}">
                <a16:creationId xmlns:a16="http://schemas.microsoft.com/office/drawing/2014/main" id="{D89B73D7-85F8-4A40-B459-336DD248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4195422"/>
            <a:ext cx="2557803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 dissolved in plasma</a:t>
            </a:r>
          </a:p>
        </p:txBody>
      </p:sp>
      <p:sp>
        <p:nvSpPr>
          <p:cNvPr id="24" name="Diagram label: Particles and wall are not to scale. This shows absorption,&#10;not a literal hole or a whole-food filter.">
            <a:extLst xmlns:a="http://schemas.openxmlformats.org/drawingml/2006/main">
              <a:ext uri="{FF2B5EF4-FFF2-40B4-BE49-F238E27FC236}">
                <a16:creationId xmlns:a16="http://schemas.microsoft.com/office/drawing/2014/main" id="{59206ECA-7BA1-405A-9E84-AE8DC18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4861152"/>
            <a:ext cx="6236834" cy="7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Particles and wall are not to scale. This shows absorption,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a literal hole or a whole-food filter.</a:t>
            </a:r>
          </a:p>
        </p:txBody>
      </p:sp>
      <p:sp>
        <p:nvSpPr>
          <p:cNvPr id="25" name="Digestion changes some food substances.  Absorption moves substa">
            <a:extLst xmlns:a="http://schemas.openxmlformats.org/drawingml/2006/main">
              <a:ext uri="{FF2B5EF4-FFF2-40B4-BE49-F238E27FC236}">
                <a16:creationId xmlns:a16="http://schemas.microsoft.com/office/drawing/2014/main" id="{A83FEC35-0568-45FE-9F4F-67CDE4C0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Digestion changes some food substances. Absorption moves substances across the gut wall. I follow a small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 molecule.</a:t>
            </a:r>
          </a:p>
        </p:txBody>
      </p:sp>
    </p:spTree>
    <p:extLst>
      <p:ext uri="{BB962C8B-B14F-4D97-AF65-F5344CB8AC3E}">
        <p14:creationId xmlns:p14="http://schemas.microsoft.com/office/powerpoint/2010/main" val="1338211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0D75B2F5-25A0-4CCA-AE47-CF8A381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B1B44D1-EC66-4812-969B-C65B8A20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3ECF8EA-3586-46E3-9DDB-9AF70FD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A7CB2F4-E2B5-4BEA-9255-55465002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0A1B3CB-586D-49E4-A08E-E0FDC36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follow the transport job">
            <a:extLst xmlns:a="http://schemas.openxmlformats.org/drawingml/2006/main">
              <a:ext uri="{FF2B5EF4-FFF2-40B4-BE49-F238E27FC236}">
                <a16:creationId xmlns:a16="http://schemas.microsoft.com/office/drawing/2014/main" id="{A56D59ED-1ED7-4101-A831-444E1839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transport job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291B92C-EBF5-4C5A-B743-F033ED9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3E54A12B-15B3-409D-B4F0-320CC40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CD2A6A04-B7ED-4580-849B-644B700C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Water and a soluble nutrient travel">
            <a:extLst xmlns:a="http://schemas.openxmlformats.org/drawingml/2006/main">
              <a:ext uri="{FF2B5EF4-FFF2-40B4-BE49-F238E27FC236}">
                <a16:creationId xmlns:a16="http://schemas.microsoft.com/office/drawing/2014/main" id="{95CCA0B4-60FA-45C7-B2C8-4E8528E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and a soluble nutrient travel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6F096FC-5211-400C-A42F-86264DE2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Intestine:&#10;absorption">
            <a:extLst xmlns:a="http://schemas.openxmlformats.org/drawingml/2006/main">
              <a:ext uri="{FF2B5EF4-FFF2-40B4-BE49-F238E27FC236}">
                <a16:creationId xmlns:a16="http://schemas.microsoft.com/office/drawing/2014/main" id="{22F7757C-B3A6-4191-8A5D-A54AD8E9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Intestine: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absorption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368FB79-D615-4810-ACFF-4C154D0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6CE274B-C6E5-448C-AE4F-7725578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0BA4E00-7A20-4D18-A479-B638D27B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Blood plasma:&#10;transport">
            <a:extLst xmlns:a="http://schemas.openxmlformats.org/drawingml/2006/main">
              <a:ext uri="{FF2B5EF4-FFF2-40B4-BE49-F238E27FC236}">
                <a16:creationId xmlns:a16="http://schemas.microsoft.com/office/drawing/2014/main" id="{40162535-8D77-4BF5-8BA1-CC8FA631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plasma: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transport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7266B2E-B903-4462-A5C1-FE40FC03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C16630D-A80F-413E-941E-13A2433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637031D-43A6-47B8-8D30-8EDA7FF1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Body tissues:&#10;substances used">
            <a:extLst xmlns:a="http://schemas.openxmlformats.org/drawingml/2006/main">
              <a:ext uri="{FF2B5EF4-FFF2-40B4-BE49-F238E27FC236}">
                <a16:creationId xmlns:a16="http://schemas.microsoft.com/office/drawing/2014/main" id="{C4FC1B80-BFA7-4F36-8367-3FAF0CEF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Body tissues: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substances used</a:t>
            </a:r>
          </a:p>
        </p:txBody>
      </p:sp>
      <p:sp>
        <p:nvSpPr>
          <p:cNvPr id="21" name="Diagram label: Circulation carries substances onwards. This job map&#10;omits the detailed liver, heart and lung route.">
            <a:extLst xmlns:a="http://schemas.openxmlformats.org/drawingml/2006/main">
              <a:ext uri="{FF2B5EF4-FFF2-40B4-BE49-F238E27FC236}">
                <a16:creationId xmlns:a16="http://schemas.microsoft.com/office/drawing/2014/main" id="{143A9DDE-07BE-4858-B9F0-54BBE95F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Circulation carries substances onwards. This job map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omits the detailed liver, heart and lung route.</a:t>
            </a:r>
          </a:p>
        </p:txBody>
      </p:sp>
      <p:sp>
        <p:nvSpPr>
          <p:cNvPr id="22" name="Water and many nutrients travel in blood plasma.  Blood moves to">
            <a:extLst xmlns:a="http://schemas.openxmlformats.org/drawingml/2006/main">
              <a:ext uri="{FF2B5EF4-FFF2-40B4-BE49-F238E27FC236}">
                <a16:creationId xmlns:a16="http://schemas.microsoft.com/office/drawing/2014/main" id="{501190D7-9D42-4C58-867E-8FEA1EE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and many nutrients travel in blood plasma. Blood moves towards body tissues. Water can be absorbed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without digestion.</a:t>
            </a:r>
          </a:p>
        </p:txBody>
      </p:sp>
    </p:spTree>
    <p:extLst>
      <p:ext uri="{BB962C8B-B14F-4D97-AF65-F5344CB8AC3E}">
        <p14:creationId xmlns:p14="http://schemas.microsoft.com/office/powerpoint/2010/main" val="1728483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6355A6BA-5E59-4A7C-A715-5258A7D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6BABC6F-15CB-41F5-A4EF-3B4F48C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4552A75-DBA1-4E94-87CE-F0E4C9B2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B815A50-7EDC-4083-9172-0D8C81BC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3B94EF6-7316-443F-B36B-B0009D4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separate two waste routes">
            <a:extLst xmlns:a="http://schemas.openxmlformats.org/drawingml/2006/main">
              <a:ext uri="{FF2B5EF4-FFF2-40B4-BE49-F238E27FC236}">
                <a16:creationId xmlns:a16="http://schemas.microsoft.com/office/drawing/2014/main" id="{4B7EF548-1C1E-41BB-A4C5-0DB3FCF0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two waste routes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7A81506-D955-4357-8F07-EECAB33E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855966C9-84B3-4E71-AE4C-62D732F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06C66A23-9F5C-4776-AA94-8E5F377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Faeces and urine take different routes">
            <a:extLst xmlns:a="http://schemas.openxmlformats.org/drawingml/2006/main">
              <a:ext uri="{FF2B5EF4-FFF2-40B4-BE49-F238E27FC236}">
                <a16:creationId xmlns:a16="http://schemas.microsoft.com/office/drawing/2014/main" id="{F51F52C7-C2DC-40EC-9A4D-C51CC28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1988004"/>
            <a:ext cx="644706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Faeces and urine take different routes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4F1C8AB-64D0-4233-A880-45E5239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2723810"/>
            <a:ext cx="192711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Unabsorbed&#10;gut material">
            <a:extLst xmlns:a="http://schemas.openxmlformats.org/drawingml/2006/main">
              <a:ext uri="{FF2B5EF4-FFF2-40B4-BE49-F238E27FC236}">
                <a16:creationId xmlns:a16="http://schemas.microsoft.com/office/drawing/2014/main" id="{E45AB1CD-4560-47D3-9FB5-98877A27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899002"/>
            <a:ext cx="1786958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Unabsorbed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gut material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2C784A2-547C-42B1-B853-C330E0F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079" y="2723810"/>
            <a:ext cx="1821996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Large intestine&#10;then rectum">
            <a:extLst xmlns:a="http://schemas.openxmlformats.org/drawingml/2006/main">
              <a:ext uri="{FF2B5EF4-FFF2-40B4-BE49-F238E27FC236}">
                <a16:creationId xmlns:a16="http://schemas.microsoft.com/office/drawing/2014/main" id="{C54ABCA0-44B0-4C07-B851-D8EB803D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55" y="2899002"/>
            <a:ext cx="1681843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Large intestine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rectum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062498C-8122-4FB4-A906-042D299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459" y="2723810"/>
            <a:ext cx="1786958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Faeces&#10;leave through anus">
            <a:extLst xmlns:a="http://schemas.openxmlformats.org/drawingml/2006/main">
              <a:ext uri="{FF2B5EF4-FFF2-40B4-BE49-F238E27FC236}">
                <a16:creationId xmlns:a16="http://schemas.microsoft.com/office/drawing/2014/main" id="{3BD73DD4-16BC-44AB-90C7-0EF8C74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2899002"/>
            <a:ext cx="1646804" cy="5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Faeces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 through anus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B20CEF7-24D4-4ACB-911D-2C944E5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4695" y="3179309"/>
            <a:ext cx="27680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D7040D2-BADA-4021-9669-15A543F7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56971" y="3130255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4B50ECF-5492-4989-AF50-43647E4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3179309"/>
            <a:ext cx="27680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8A596ED-A41E-4BB7-9002-FC6A7DA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29351" y="3130255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7E6E080-0647-4278-B3E9-4459B38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4265499"/>
            <a:ext cx="192711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B"/>
          </a:solidFill>
          <a:ln xmlns:a="http://schemas.openxmlformats.org/drawingml/2006/main" w="21023">
            <a:solidFill>
              <a:srgbClr val="B64745"/>
            </a:solidFill>
          </a:ln>
        </p:spPr>
      </p:sp>
      <p:sp>
        <p:nvSpPr>
          <p:cNvPr id="22" name="Diagram label: Blood carries&#10;water and wastes">
            <a:extLst xmlns:a="http://schemas.openxmlformats.org/drawingml/2006/main">
              <a:ext uri="{FF2B5EF4-FFF2-40B4-BE49-F238E27FC236}">
                <a16:creationId xmlns:a16="http://schemas.microsoft.com/office/drawing/2014/main" id="{4C0C2FC1-9C04-4321-B37C-ADBBC97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405653"/>
            <a:ext cx="1786958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carries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and wastes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E1C3035-DD61-44BE-9ABA-414E1ED2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079" y="4265499"/>
            <a:ext cx="1821996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4" name="Diagram label: Kidneys&#10;filter blood">
            <a:extLst xmlns:a="http://schemas.openxmlformats.org/drawingml/2006/main">
              <a:ext uri="{FF2B5EF4-FFF2-40B4-BE49-F238E27FC236}">
                <a16:creationId xmlns:a16="http://schemas.microsoft.com/office/drawing/2014/main" id="{3F03D176-98D9-47E2-8700-32D8D2F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55" y="4405653"/>
            <a:ext cx="1681843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Kidneys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filter blood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07FACF5-CF2F-4894-978F-06FA1790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459" y="4265499"/>
            <a:ext cx="1786958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6" name="Diagram label: Urine&#10;then bladder">
            <a:extLst xmlns:a="http://schemas.openxmlformats.org/drawingml/2006/main">
              <a:ext uri="{FF2B5EF4-FFF2-40B4-BE49-F238E27FC236}">
                <a16:creationId xmlns:a16="http://schemas.microsoft.com/office/drawing/2014/main" id="{1D35A32A-EEAE-4DE5-AD39-84FC446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4405653"/>
            <a:ext cx="1646804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Urine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bladder</a:t>
            </a:r>
          </a:p>
        </p:txBody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81AE57F-B54F-440E-9504-86A74763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4695" y="4720998"/>
            <a:ext cx="27680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5C5D86D-72EC-4538-A7C2-D050048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56971" y="467194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A938CE8-E74E-4B55-BF2C-7B533FA3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4720998"/>
            <a:ext cx="27680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3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1C429E9-B7FE-4F74-A264-96306EBB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29351" y="467194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31" name="Diagram label: No direct intestine-to-bladder tube is shown or implied.">
            <a:extLst xmlns:a="http://schemas.openxmlformats.org/drawingml/2006/main">
              <a:ext uri="{FF2B5EF4-FFF2-40B4-BE49-F238E27FC236}">
                <a16:creationId xmlns:a16="http://schemas.microsoft.com/office/drawing/2014/main" id="{EF25FBCF-54B0-48E9-BEE1-46B69DE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5316651"/>
            <a:ext cx="6166757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direct intestine-to-bladder tube is shown or implied.</a:t>
            </a:r>
          </a:p>
        </p:txBody>
      </p:sp>
      <p:sp>
        <p:nvSpPr>
          <p:cNvPr id="32" name="Unabsorbed gut material can leave as faeces.  Kidneys filter blo">
            <a:extLst xmlns:a="http://schemas.openxmlformats.org/drawingml/2006/main">
              <a:ext uri="{FF2B5EF4-FFF2-40B4-BE49-F238E27FC236}">
                <a16:creationId xmlns:a16="http://schemas.microsoft.com/office/drawing/2014/main" id="{28E20752-32DA-4364-AAE6-61ACE9E2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Unabsorbed gut material can leave as faeces. Kidneys filter blood and make urine. There is no direct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gut-to-bladder tube.</a:t>
            </a:r>
          </a:p>
        </p:txBody>
      </p:sp>
    </p:spTree>
    <p:extLst>
      <p:ext uri="{BB962C8B-B14F-4D97-AF65-F5344CB8AC3E}">
        <p14:creationId xmlns:p14="http://schemas.microsoft.com/office/powerpoint/2010/main" val="1797116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2EA28B9-0245-4613-BF04-CA27A4B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4C07B5E-860A-40A1-A167-9FF8484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FE5F1B4-EBD0-4F35-8D89-F2B4972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2377B3E-C48B-41A9-A446-0D84E20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230BDEF1-3723-4F3F-BD85-C5029F3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B2AECB96-21EE-4D4D-920F-EF39D7D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Delivery desk: assign the tokens">
            <a:extLst xmlns:a="http://schemas.openxmlformats.org/drawingml/2006/main">
              <a:ext uri="{FF2B5EF4-FFF2-40B4-BE49-F238E27FC236}">
                <a16:creationId xmlns:a16="http://schemas.microsoft.com/office/drawing/2014/main" id="{BB71D0D1-DA32-4A3D-9435-65D7078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Delivery desk: assign the tokens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BD95014-0E67-452B-8CF5-F08F96F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F3BAE1B3-A696-4C88-945C-6B5C43F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314EFF27-C0D0-4142-B512-2BF9AAD0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Match each token to its next process. Use cards A–F on page ">
            <a:extLst xmlns:a="http://schemas.openxmlformats.org/drawingml/2006/main">
              <a:ext uri="{FF2B5EF4-FFF2-40B4-BE49-F238E27FC236}">
                <a16:creationId xmlns:a16="http://schemas.microsoft.com/office/drawing/2014/main" id="{97D42D5A-E96D-4342-84A8-F86599B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Match each token to its next process. Use cards A–F on page 1. Explain using “break down”,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“cross” or “carry”.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835935"/>
                <a:gridCol w="5289265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Token position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next process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Large starch molecule in gut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Digestion / circulation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Glucose at gut wall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Absorption / chewing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Dissolved glucose in blood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Transport / swallowing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Water in intestine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Absorption / digestion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3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0312DCD-9787-49B4-9350-45224F5A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A3484C2-675D-4281-A65D-484A726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76AC49E-C5A0-416C-8FE4-39AC9C59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7F3FD47-EE14-46D7-B77E-C643D57E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B48690D-696C-4B75-A8A9-D845660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The incorrect shortcut">
            <a:extLst xmlns:a="http://schemas.openxmlformats.org/drawingml/2006/main">
              <a:ext uri="{FF2B5EF4-FFF2-40B4-BE49-F238E27FC236}">
                <a16:creationId xmlns:a16="http://schemas.microsoft.com/office/drawing/2014/main" id="{ED3A5348-0246-4D83-9A07-124FB24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incorrect shortcut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D140826-DF38-4BAD-86D5-30990AE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A638C0F3-1DC3-4EA2-A2B3-77EB9879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63D21B07-CC48-484D-8200-B819C28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Diagram claim: “Drink → stomach → bladder.”">
            <a:extLst xmlns:a="http://schemas.openxmlformats.org/drawingml/2006/main">
              <a:ext uri="{FF2B5EF4-FFF2-40B4-BE49-F238E27FC236}">
                <a16:creationId xmlns:a16="http://schemas.microsoft.com/office/drawing/2014/main" id="{7BF75421-F538-443C-A57C-BFCE06F4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Diagram claim: “Drink → stomach → bladder.”</a:t>
            </a:r>
          </a:p>
        </p:txBody>
      </p:sp>
      <p:sp>
        <p:nvSpPr>
          <p:cNvPr id="11" name="W2. Replace the middle route.">
            <a:extLst xmlns:a="http://schemas.openxmlformats.org/drawingml/2006/main">
              <a:ext uri="{FF2B5EF4-FFF2-40B4-BE49-F238E27FC236}">
                <a16:creationId xmlns:a16="http://schemas.microsoft.com/office/drawing/2014/main" id="{AD55567E-96BE-4DBC-9A90-4721D66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Replace the middle route.</a:t>
            </a:r>
          </a:p>
        </p:txBody>
      </p:sp>
      <p:sp>
        <p:nvSpPr>
          <p:cNvPr id="12" name="Which organ makes urine from blood?">
            <a:extLst xmlns:a="http://schemas.openxmlformats.org/drawingml/2006/main">
              <a:ext uri="{FF2B5EF4-FFF2-40B4-BE49-F238E27FC236}">
                <a16:creationId xmlns:a16="http://schemas.microsoft.com/office/drawing/2014/main" id="{64A2EB2A-72EB-4F21-B067-FD23855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organ makes urine from blood?</a:t>
            </a:r>
          </a:p>
        </p:txBody>
      </p:sp>
    </p:spTree>
    <p:extLst>
      <p:ext uri="{BB962C8B-B14F-4D97-AF65-F5344CB8AC3E}">
        <p14:creationId xmlns:p14="http://schemas.microsoft.com/office/powerpoint/2010/main" val="1814129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6445DD5-4256-4435-B3B3-7FE5C6BC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268E716-DB95-41A2-BCA0-58DB17DC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5AE59B6-68C1-4FAD-BAC5-B190B9AF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7E9A4FE-04FD-4082-834A-01D696E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AB0D284-A6A7-4E67-BB80-422853F2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oose the right exit route">
            <a:extLst xmlns:a="http://schemas.openxmlformats.org/drawingml/2006/main">
              <a:ext uri="{FF2B5EF4-FFF2-40B4-BE49-F238E27FC236}">
                <a16:creationId xmlns:a16="http://schemas.microsoft.com/office/drawing/2014/main" id="{D609797E-308E-47C0-AC1D-63B4DF3D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right exit route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48AEEFB-81C0-4B75-99A8-A095F2DE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EC02CDCB-AD17-43D6-8BA1-3C1BBEEA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12AFA83C-A542-496F-B10B-54C9A07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A food particle remains unabsorbed.">
            <a:extLst xmlns:a="http://schemas.openxmlformats.org/drawingml/2006/main">
              <a:ext uri="{FF2B5EF4-FFF2-40B4-BE49-F238E27FC236}">
                <a16:creationId xmlns:a16="http://schemas.microsoft.com/office/drawing/2014/main" id="{601C9B5D-48B8-458F-9E5D-DF0D1CC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food particle remains unabsorbed.</a:t>
            </a:r>
          </a:p>
        </p:txBody>
      </p:sp>
      <p:sp>
        <p:nvSpPr>
          <p:cNvPr id="11" name="W3. Does it enter blood or continue through the gut?">
            <a:extLst xmlns:a="http://schemas.openxmlformats.org/drawingml/2006/main">
              <a:ext uri="{FF2B5EF4-FFF2-40B4-BE49-F238E27FC236}">
                <a16:creationId xmlns:a16="http://schemas.microsoft.com/office/drawing/2014/main" id="{318AB95D-00B4-4418-92F3-60F92FF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Does it enter blood or continue through the gut?</a:t>
            </a:r>
          </a:p>
        </p:txBody>
      </p:sp>
      <p:sp>
        <p:nvSpPr>
          <p:cNvPr id="12" name="Explain how this differs from urine.">
            <a:extLst xmlns:a="http://schemas.openxmlformats.org/drawingml/2006/main">
              <a:ext uri="{FF2B5EF4-FFF2-40B4-BE49-F238E27FC236}">
                <a16:creationId xmlns:a16="http://schemas.microsoft.com/office/drawing/2014/main" id="{D8B438A6-2547-4FE2-86AD-C044745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how this differs from urine.</a:t>
            </a:r>
          </a:p>
        </p:txBody>
      </p:sp>
    </p:spTree>
    <p:extLst>
      <p:ext uri="{BB962C8B-B14F-4D97-AF65-F5344CB8AC3E}">
        <p14:creationId xmlns:p14="http://schemas.microsoft.com/office/powerpoint/2010/main" val="562164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74781630-7ABE-447B-BD42-CDC7ACA0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6E67782-0176-4775-8A35-A45F9D1B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AB7DA67-54CC-4F07-8B95-556B6CF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70F4DF1-D26D-40ED-8634-58EAA53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E3DC5809-1432-44AD-81E2-EA78D29C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CA4C56B-146A-405A-A6DC-67D46CA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water molecule is in the small intestine">
            <a:extLst xmlns:a="http://schemas.openxmlformats.org/drawingml/2006/main">
              <a:ext uri="{FF2B5EF4-FFF2-40B4-BE49-F238E27FC236}">
                <a16:creationId xmlns:a16="http://schemas.microsoft.com/office/drawing/2014/main" id="{9893A8C9-4FC8-4F51-87BC-F013D6EE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water molecule is in the small intestine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561EE78-48F2-42D7-AE22-9FFEA98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FD5379B9-468E-4AC0-86FB-6B2B520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C9C9F06E-B9CE-4725-B2A9-013364F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Which next step can happen?">
            <a:extLst xmlns:a="http://schemas.openxmlformats.org/drawingml/2006/main">
              <a:ext uri="{FF2B5EF4-FFF2-40B4-BE49-F238E27FC236}">
                <a16:creationId xmlns:a16="http://schemas.microsoft.com/office/drawing/2014/main" id="{5362623A-803E-424F-A46C-CD33C311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next step can happen?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C2ABC2F-24E2-4E75-A131-44A2B970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3DFD41C-1EBE-4442-82E0-A0EA110D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20B65787-D108-44A2-88F9-B6FD0BF9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It must be digested before absorption.">
            <a:extLst xmlns:a="http://schemas.openxmlformats.org/drawingml/2006/main">
              <a:ext uri="{FF2B5EF4-FFF2-40B4-BE49-F238E27FC236}">
                <a16:creationId xmlns:a16="http://schemas.microsoft.com/office/drawing/2014/main" id="{D567E175-6C10-4EF9-A7B0-26F8F73C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must be digested before absorption.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4600CD6-CBFB-415B-A5CF-97EE5E5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7581CCB-CE2F-4E77-B062-C677B1B4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F3FD6252-782D-4602-8F4A-E4FB22D1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It can be absorbed across the gut wall.">
            <a:extLst xmlns:a="http://schemas.openxmlformats.org/drawingml/2006/main">
              <a:ext uri="{FF2B5EF4-FFF2-40B4-BE49-F238E27FC236}">
                <a16:creationId xmlns:a16="http://schemas.microsoft.com/office/drawing/2014/main" id="{ECD40E21-8180-4B72-A08D-60BCF67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can be absorbed across the gut wall.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F60E38B-9CA6-4D52-89D1-41B4B7CA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42F4A9BB-8D96-4779-934A-B6326F48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FC5F7BC1-6893-4374-93A4-649B7356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It goes through a direct pipe to the bladder.">
            <a:extLst xmlns:a="http://schemas.openxmlformats.org/drawingml/2006/main">
              <a:ext uri="{FF2B5EF4-FFF2-40B4-BE49-F238E27FC236}">
                <a16:creationId xmlns:a16="http://schemas.microsoft.com/office/drawing/2014/main" id="{2E89ADD4-40B9-4508-9DA1-3AAC2D2D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goes through a direct pipe to the bladder.</a:t>
            </a:r>
          </a:p>
        </p:txBody>
      </p:sp>
    </p:spTree>
    <p:extLst>
      <p:ext uri="{BB962C8B-B14F-4D97-AF65-F5344CB8AC3E}">
        <p14:creationId xmlns:p14="http://schemas.microsoft.com/office/powerpoint/2010/main" val="1918186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A4C7F30-A7D9-4F77-893A-E04A315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E1E70BA-979A-4090-9F3F-6AD648B3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E3C56C2-DFE3-42EF-888B-311BA94C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FBD1517-D2CE-4628-ADF2-48188C3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6B13614-387E-4B69-8DCC-DB1718F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C468B65B-95AA-49C2-901C-F06BDCC4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Create the delivery explanation">
            <a:extLst xmlns:a="http://schemas.openxmlformats.org/drawingml/2006/main">
              <a:ext uri="{FF2B5EF4-FFF2-40B4-BE49-F238E27FC236}">
                <a16:creationId xmlns:a16="http://schemas.microsoft.com/office/drawing/2014/main" id="{9EF5FB4B-CF0C-4C52-B697-7437E46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Create the delivery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DC3C8AB-D749-4285-A995-B50705A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FA2ADD1C-136C-48E8-86B6-DE25AEF7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22B1BB65-3AE5-4718-A203-23A851C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9EB68398-B9C0-4C07-B31C-771DED28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Explain a glucose journey and a water journey.">
            <a:extLst xmlns:a="http://schemas.openxmlformats.org/drawingml/2006/main">
              <a:ext uri="{FF2B5EF4-FFF2-40B4-BE49-F238E27FC236}">
                <a16:creationId xmlns:a16="http://schemas.microsoft.com/office/drawing/2014/main" id="{01324A8D-9B98-4785-97AE-4FF91363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a glucose journey and a water journey.</a:t>
            </a:r>
          </a:p>
        </p:txBody>
      </p:sp>
      <p:sp>
        <p:nvSpPr>
          <p:cNvPr id="13" name="Keep the two waste routes separate.">
            <a:extLst xmlns:a="http://schemas.openxmlformats.org/drawingml/2006/main">
              <a:ext uri="{FF2B5EF4-FFF2-40B4-BE49-F238E27FC236}">
                <a16:creationId xmlns:a16="http://schemas.microsoft.com/office/drawing/2014/main" id="{52728D04-8C7A-4C1D-BF0E-2E2B045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two waste routes separate.</a:t>
            </a:r>
          </a:p>
        </p:txBody>
      </p:sp>
    </p:spTree>
    <p:extLst>
      <p:ext uri="{BB962C8B-B14F-4D97-AF65-F5344CB8AC3E}">
        <p14:creationId xmlns:p14="http://schemas.microsoft.com/office/powerpoint/2010/main" val="1405963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A783EFA-1250-44B2-AC9C-41ADAB3C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405ED30-88E2-4D51-B711-0B1C8E71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1112842-A5FD-4F52-8B0B-9835806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E98B44A-95C2-48F9-8B44-4149EE9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1DB2B14-FEBB-4BA3-8745-87E91F6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ree different verbs">
            <a:extLst xmlns:a="http://schemas.openxmlformats.org/drawingml/2006/main">
              <a:ext uri="{FF2B5EF4-FFF2-40B4-BE49-F238E27FC236}">
                <a16:creationId xmlns:a16="http://schemas.microsoft.com/office/drawing/2014/main" id="{F8BBBB09-287F-4EDA-9BC1-21A35E4C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three different verbs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3D7B814-4E65-493A-A729-7D9035C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912E741D-A545-476E-A95C-3315DD5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9A67AA63-34B9-44EE-832A-4DA4CAC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Digestion: break down.">
            <a:extLst xmlns:a="http://schemas.openxmlformats.org/drawingml/2006/main">
              <a:ext uri="{FF2B5EF4-FFF2-40B4-BE49-F238E27FC236}">
                <a16:creationId xmlns:a16="http://schemas.microsoft.com/office/drawing/2014/main" id="{E6D0470D-FAA8-487B-8AEC-82794337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Digestion: break down.</a:t>
            </a:r>
          </a:p>
        </p:txBody>
      </p:sp>
      <p:sp>
        <p:nvSpPr>
          <p:cNvPr id="11" name="Absorption: cross a surface.">
            <a:extLst xmlns:a="http://schemas.openxmlformats.org/drawingml/2006/main">
              <a:ext uri="{FF2B5EF4-FFF2-40B4-BE49-F238E27FC236}">
                <a16:creationId xmlns:a16="http://schemas.microsoft.com/office/drawing/2014/main" id="{01673E4C-D2DA-4424-92B6-E7C5CA30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Absorption: cross a surface.</a:t>
            </a:r>
          </a:p>
        </p:txBody>
      </p:sp>
      <p:sp>
        <p:nvSpPr>
          <p:cNvPr id="12" name="Transport: carry onwards.">
            <a:extLst xmlns:a="http://schemas.openxmlformats.org/drawingml/2006/main">
              <a:ext uri="{FF2B5EF4-FFF2-40B4-BE49-F238E27FC236}">
                <a16:creationId xmlns:a16="http://schemas.microsoft.com/office/drawing/2014/main" id="{A15B6AB9-29C3-46CF-82F0-E22EE9E6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Transport: carry onwards.</a:t>
            </a:r>
          </a:p>
        </p:txBody>
      </p:sp>
    </p:spTree>
    <p:extLst>
      <p:ext uri="{BB962C8B-B14F-4D97-AF65-F5344CB8AC3E}">
        <p14:creationId xmlns:p14="http://schemas.microsoft.com/office/powerpoint/2010/main" val="1351026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8782349B-91CF-444A-9597-A9B42C6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6FE2A01-8939-466D-8744-0002D86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F8FE342-D666-42BE-99E1-F5818B16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F25A00E-BCD7-4C06-8ABA-E9C4AF9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81F9258-761C-4E23-AAF6-9D3AF255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the substance at each arrow">
            <a:extLst xmlns:a="http://schemas.openxmlformats.org/drawingml/2006/main">
              <a:ext uri="{FF2B5EF4-FFF2-40B4-BE49-F238E27FC236}">
                <a16:creationId xmlns:a16="http://schemas.microsoft.com/office/drawing/2014/main" id="{BB4EA42D-6022-4F8E-BAEA-E3A72BF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substance at each arrow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3022B88-8C7E-4AB5-ACDB-0BE9E31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DE100FE5-2F31-463B-AE3D-AFBCC27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79EFF987-B74E-4D1F-BC08-268F7DD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Is it whole food or a small molecule?">
            <a:extLst xmlns:a="http://schemas.openxmlformats.org/drawingml/2006/main">
              <a:ext uri="{FF2B5EF4-FFF2-40B4-BE49-F238E27FC236}">
                <a16:creationId xmlns:a16="http://schemas.microsoft.com/office/drawing/2014/main" id="{2712763D-6D84-434E-8762-751ECA0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Is it whole food or a small molecule?</a:t>
            </a:r>
          </a:p>
        </p:txBody>
      </p:sp>
      <p:sp>
        <p:nvSpPr>
          <p:cNvPr id="11" name="Is it inside the gut, blood or a tissue?">
            <a:extLst xmlns:a="http://schemas.openxmlformats.org/drawingml/2006/main">
              <a:ext uri="{FF2B5EF4-FFF2-40B4-BE49-F238E27FC236}">
                <a16:creationId xmlns:a16="http://schemas.microsoft.com/office/drawing/2014/main" id="{29F3D48E-8238-41AA-95ED-08F00F1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Is it inside the gut, blood or a tissue?</a:t>
            </a:r>
          </a:p>
        </p:txBody>
      </p:sp>
      <p:sp>
        <p:nvSpPr>
          <p:cNvPr id="12" name="Have you named the process?">
            <a:extLst xmlns:a="http://schemas.openxmlformats.org/drawingml/2006/main">
              <a:ext uri="{FF2B5EF4-FFF2-40B4-BE49-F238E27FC236}">
                <a16:creationId xmlns:a16="http://schemas.microsoft.com/office/drawing/2014/main" id="{229E8D40-366A-41E6-9CA5-E34B6F7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you named the process?</a:t>
            </a:r>
          </a:p>
        </p:txBody>
      </p:sp>
    </p:spTree>
    <p:extLst>
      <p:ext uri="{BB962C8B-B14F-4D97-AF65-F5344CB8AC3E}">
        <p14:creationId xmlns:p14="http://schemas.microsoft.com/office/powerpoint/2010/main" val="256667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F0A7C73-0FCC-41D8-8821-9A8BE26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D01D67A-E8A7-497F-96C5-9D611CD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6742C0A-ABBB-418A-87D8-02CC7BC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D50F1EA-AC5D-4DB0-8F01-017AF5AC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9994B41A-F380-4419-9061-0C2BBF41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D5C23BE5-5DFC-4D8A-9463-A2810436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race and challenge">
            <a:extLst xmlns:a="http://schemas.openxmlformats.org/drawingml/2006/main">
              <a:ext uri="{FF2B5EF4-FFF2-40B4-BE49-F238E27FC236}">
                <a16:creationId xmlns:a16="http://schemas.microsoft.com/office/drawing/2014/main" id="{5DD01CC5-38FA-4932-8A3D-E3E1FBDD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and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C0B6620-86EE-4F52-B7EB-ED06DF2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B0F69794-633D-4DDC-B624-7EA68012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CBE7ED7B-C50B-43AC-AF79-961C1E97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Trace one partner or teacher model.">
            <a:extLst xmlns:a="http://schemas.openxmlformats.org/drawingml/2006/main">
              <a:ext uri="{FF2B5EF4-FFF2-40B4-BE49-F238E27FC236}">
                <a16:creationId xmlns:a16="http://schemas.microsoft.com/office/drawing/2014/main" id="{B82CC4C6-4397-4763-BE0A-A58A549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one partner or teacher model.</a:t>
            </a:r>
          </a:p>
        </p:txBody>
      </p:sp>
      <p:sp>
        <p:nvSpPr>
          <p:cNvPr id="12" name="Find a clear process label.">
            <a:extLst xmlns:a="http://schemas.openxmlformats.org/drawingml/2006/main">
              <a:ext uri="{FF2B5EF4-FFF2-40B4-BE49-F238E27FC236}">
                <a16:creationId xmlns:a16="http://schemas.microsoft.com/office/drawing/2014/main" id="{04B83669-D445-4763-907A-5449BA0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a clear process label.</a:t>
            </a:r>
          </a:p>
        </p:txBody>
      </p:sp>
      <p:sp>
        <p:nvSpPr>
          <p:cNvPr id="13" name="Ask for a missing step or clarification.">
            <a:extLst xmlns:a="http://schemas.openxmlformats.org/drawingml/2006/main">
              <a:ext uri="{FF2B5EF4-FFF2-40B4-BE49-F238E27FC236}">
                <a16:creationId xmlns:a16="http://schemas.microsoft.com/office/drawing/2014/main" id="{82772E4F-16F9-4913-BBC5-26B14E1E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Ask for a missing step or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1591215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2319D6A-90DB-4F3B-9448-1158868C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FAE0FFD-2D6A-4A30-BED5-2AB5682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44C00F6-77D0-4EFE-8066-26B27F1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91CA7EC-4BD2-4E0D-81DC-252D89C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559B53D-51A8-428E-9A0E-E02EB99B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Choose a closer look">
            <a:extLst xmlns:a="http://schemas.openxmlformats.org/drawingml/2006/main">
              <a:ext uri="{FF2B5EF4-FFF2-40B4-BE49-F238E27FC236}">
                <a16:creationId xmlns:a16="http://schemas.microsoft.com/office/drawing/2014/main" id="{631EB74A-D8EF-4965-A443-A81806C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closer look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70507A1-F20C-4103-9F17-49BC394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71C4AB69-5CBC-49A4-AFDD-6F388B9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B0B57683-3C4A-4539-889A-FFD30E3B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Would magnifying gut wall or kidney help next?">
            <a:extLst xmlns:a="http://schemas.openxmlformats.org/drawingml/2006/main">
              <a:ext uri="{FF2B5EF4-FFF2-40B4-BE49-F238E27FC236}">
                <a16:creationId xmlns:a16="http://schemas.microsoft.com/office/drawing/2014/main" id="{5734606D-D298-4124-8D8A-3B230E3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Would magnifying gut wall or kidney help next?</a:t>
            </a:r>
          </a:p>
        </p:txBody>
      </p:sp>
      <p:sp>
        <p:nvSpPr>
          <p:cNvPr id="11" name="Explain which unanswered question it would address.">
            <a:extLst xmlns:a="http://schemas.openxmlformats.org/drawingml/2006/main">
              <a:ext uri="{FF2B5EF4-FFF2-40B4-BE49-F238E27FC236}">
                <a16:creationId xmlns:a16="http://schemas.microsoft.com/office/drawing/2014/main" id="{FA62AA3C-1930-46E1-A547-CC03A02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which unanswered question it would address.</a:t>
            </a:r>
          </a:p>
        </p:txBody>
      </p:sp>
    </p:spTree>
    <p:extLst>
      <p:ext uri="{BB962C8B-B14F-4D97-AF65-F5344CB8AC3E}">
        <p14:creationId xmlns:p14="http://schemas.microsoft.com/office/powerpoint/2010/main" val="10505202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676AAA1-176C-42CE-B4DC-B1FE449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F0A3A9E-5568-4946-849B-C7D6EAF3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52329D-86CC-47B3-A8F3-5A62258C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249FD2F-26FE-4DF1-9A95-F79B4CEE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F302C4D-43C2-4E83-98E6-7173DB1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F475472-436D-40D4-9D5B-6D8C02F0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steps, three meanings">
            <a:extLst xmlns:a="http://schemas.openxmlformats.org/drawingml/2006/main">
              <a:ext uri="{FF2B5EF4-FFF2-40B4-BE49-F238E27FC236}">
                <a16:creationId xmlns:a16="http://schemas.microsoft.com/office/drawing/2014/main" id="{0634A6C8-0F67-46DB-BF3F-8062334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steps, three meanings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15210E4-6A82-4865-9DB5-18CE2148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nutrient delivery investigation">
            <a:extLst xmlns:a="http://schemas.openxmlformats.org/drawingml/2006/main">
              <a:ext uri="{FF2B5EF4-FFF2-40B4-BE49-F238E27FC236}">
                <a16:creationId xmlns:a16="http://schemas.microsoft.com/office/drawing/2014/main" id="{CDBE2B20-AC89-4383-B40E-2F2143CF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nutrient delivery investigation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E3676B77-E0AA-47CC-812E-2D76BBD9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at does absorption mean?">
            <a:extLst xmlns:a="http://schemas.openxmlformats.org/drawingml/2006/main">
              <a:ext uri="{FF2B5EF4-FFF2-40B4-BE49-F238E27FC236}">
                <a16:creationId xmlns:a16="http://schemas.microsoft.com/office/drawing/2014/main" id="{D4CD3C4C-1612-49DA-B186-ADE86C6B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does absorption mean?</a:t>
            </a:r>
          </a:p>
        </p:txBody>
      </p:sp>
      <p:sp>
        <p:nvSpPr>
          <p:cNvPr id="12" name="E2. What carries many dissolved nutrients?">
            <a:extLst xmlns:a="http://schemas.openxmlformats.org/drawingml/2006/main">
              <a:ext uri="{FF2B5EF4-FFF2-40B4-BE49-F238E27FC236}">
                <a16:creationId xmlns:a16="http://schemas.microsoft.com/office/drawing/2014/main" id="{846D305F-2168-4B25-84BB-8E27B1F6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What carries many dissolved nutrients?</a:t>
            </a:r>
          </a:p>
        </p:txBody>
      </p:sp>
      <p:sp>
        <p:nvSpPr>
          <p:cNvPr id="13" name="E3. Which organs make urine from blood?">
            <a:extLst xmlns:a="http://schemas.openxmlformats.org/drawingml/2006/main">
              <a:ext uri="{FF2B5EF4-FFF2-40B4-BE49-F238E27FC236}">
                <a16:creationId xmlns:a16="http://schemas.microsoft.com/office/drawing/2014/main" id="{04CCCD7E-05F6-4061-B9E4-E60DA6D2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Which organs make urine from blood?</a:t>
            </a:r>
          </a:p>
        </p:txBody>
      </p:sp>
    </p:spTree>
    <p:extLst>
      <p:ext uri="{BB962C8B-B14F-4D97-AF65-F5344CB8AC3E}">
        <p14:creationId xmlns:p14="http://schemas.microsoft.com/office/powerpoint/2010/main" val="492305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2026-09-08T23:11:20.1570000Z</dcterms:created>
  <dcterms:modified xsi:type="dcterms:W3CDTF">2026-09-08T23:11:20.1570000Z</dcterms:modified>
</coreProperties>
</file>