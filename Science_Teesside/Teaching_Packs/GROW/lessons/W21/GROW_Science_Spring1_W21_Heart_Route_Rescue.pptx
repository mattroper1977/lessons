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2cfabdcf049cf" /><Relationship Type="http://schemas.openxmlformats.org/officeDocument/2006/relationships/extended-properties" Target="/docProps/app.xml" Id="Rc39e572173614840" /><Relationship Type="http://schemas.openxmlformats.org/officeDocument/2006/relationships/officeDocument" Target="/ppt/presentation.xml" Id="R37aba8fa5a1d4f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7a294a0aa4ac8"/>
  </p:sldMasterIdLst>
  <p:notesMasterIdLst>
    <p:notesMasterId xmlns:r="http://schemas.openxmlformats.org/officeDocument/2006/relationships" r:id="R0907d3bc384c4d32"/>
  </p:notesMasterIdLst>
  <p:sldIdLst>
    <p:sldId xmlns:r="http://schemas.openxmlformats.org/officeDocument/2006/relationships" id="256" r:id="Rced2ad6806364c49"/>
    <p:sldId xmlns:r="http://schemas.openxmlformats.org/officeDocument/2006/relationships" id="257" r:id="Ra40b84f507ff4843"/>
    <p:sldId xmlns:r="http://schemas.openxmlformats.org/officeDocument/2006/relationships" id="258" r:id="R9bc05172e6644e98"/>
    <p:sldId xmlns:r="http://schemas.openxmlformats.org/officeDocument/2006/relationships" id="259" r:id="R792d84b8a48a4867"/>
    <p:sldId xmlns:r="http://schemas.openxmlformats.org/officeDocument/2006/relationships" id="260" r:id="Ra1e50fc8e5a148ae"/>
    <p:sldId xmlns:r="http://schemas.openxmlformats.org/officeDocument/2006/relationships" id="261" r:id="Rae72142d67a943ad"/>
    <p:sldId xmlns:r="http://schemas.openxmlformats.org/officeDocument/2006/relationships" id="262" r:id="Rbb31a03357c148ec"/>
    <p:sldId xmlns:r="http://schemas.openxmlformats.org/officeDocument/2006/relationships" id="263" r:id="R42bda271f0ed4af0"/>
    <p:sldId xmlns:r="http://schemas.openxmlformats.org/officeDocument/2006/relationships" id="264" r:id="Ra7d7431f55224cb3"/>
    <p:sldId xmlns:r="http://schemas.openxmlformats.org/officeDocument/2006/relationships" id="265" r:id="Rf30ab8b2f501499f"/>
    <p:sldId xmlns:r="http://schemas.openxmlformats.org/officeDocument/2006/relationships" id="266" r:id="R657d2d2597e7484b"/>
    <p:sldId xmlns:r="http://schemas.openxmlformats.org/officeDocument/2006/relationships" id="267" r:id="R53f35212b74f4d52"/>
    <p:sldId xmlns:r="http://schemas.openxmlformats.org/officeDocument/2006/relationships" id="268" r:id="Rffe3dab08fd54998"/>
    <p:sldId xmlns:r="http://schemas.openxmlformats.org/officeDocument/2006/relationships" id="269" r:id="R439317b15fd44846"/>
    <p:sldId xmlns:r="http://schemas.openxmlformats.org/officeDocument/2006/relationships" id="270" r:id="R701119cc354e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43ca75ab349f8" /><Relationship Type="http://schemas.openxmlformats.org/officeDocument/2006/relationships/slideMaster" Target="/ppt/slideMasters/slideMaster1.xml" Id="R7947a294a0aa4ac8" /><Relationship Type="http://schemas.openxmlformats.org/officeDocument/2006/relationships/notesMaster" Target="/ppt/notesMasters/notesMaster1.xml" Id="R0907d3bc384c4d32" /><Relationship Type="http://schemas.openxmlformats.org/officeDocument/2006/relationships/presProps" Target="/ppt/presProps.xml" Id="R2864736de496412e" /><Relationship Type="http://schemas.openxmlformats.org/officeDocument/2006/relationships/tableStyles" Target="/ppt/tableStyles.xml" Id="R7da382e5f97e4500" /><Relationship Type="http://schemas.openxmlformats.org/officeDocument/2006/relationships/slide" Target="/ppt/slides/slide1.xml" Id="Rced2ad6806364c49" /><Relationship Type="http://schemas.openxmlformats.org/officeDocument/2006/relationships/slide" Target="/ppt/slides/slide2.xml" Id="Ra40b84f507ff4843" /><Relationship Type="http://schemas.openxmlformats.org/officeDocument/2006/relationships/slide" Target="/ppt/slides/slide3.xml" Id="R9bc05172e6644e98" /><Relationship Type="http://schemas.openxmlformats.org/officeDocument/2006/relationships/slide" Target="/ppt/slides/slide4.xml" Id="R792d84b8a48a4867" /><Relationship Type="http://schemas.openxmlformats.org/officeDocument/2006/relationships/slide" Target="/ppt/slides/slide5.xml" Id="Ra1e50fc8e5a148ae" /><Relationship Type="http://schemas.openxmlformats.org/officeDocument/2006/relationships/slide" Target="/ppt/slides/slide6.xml" Id="Rae72142d67a943ad" /><Relationship Type="http://schemas.openxmlformats.org/officeDocument/2006/relationships/slide" Target="/ppt/slides/slide7.xml" Id="Rbb31a03357c148ec" /><Relationship Type="http://schemas.openxmlformats.org/officeDocument/2006/relationships/slide" Target="/ppt/slides/slide8.xml" Id="R42bda271f0ed4af0" /><Relationship Type="http://schemas.openxmlformats.org/officeDocument/2006/relationships/slide" Target="/ppt/slides/slide9.xml" Id="Ra7d7431f55224cb3" /><Relationship Type="http://schemas.openxmlformats.org/officeDocument/2006/relationships/slide" Target="/ppt/slides/slide10.xml" Id="Rf30ab8b2f501499f" /><Relationship Type="http://schemas.openxmlformats.org/officeDocument/2006/relationships/slide" Target="/ppt/slides/slide11.xml" Id="R657d2d2597e7484b" /><Relationship Type="http://schemas.openxmlformats.org/officeDocument/2006/relationships/slide" Target="/ppt/slides/slide12.xml" Id="R53f35212b74f4d52" /><Relationship Type="http://schemas.openxmlformats.org/officeDocument/2006/relationships/slide" Target="/ppt/slides/slide13.xml" Id="Rffe3dab08fd54998" /><Relationship Type="http://schemas.openxmlformats.org/officeDocument/2006/relationships/slide" Target="/ppt/slides/slide14.xml" Id="R439317b15fd44846" /><Relationship Type="http://schemas.openxmlformats.org/officeDocument/2006/relationships/slide" Target="/ppt/slides/slide15.xml" Id="R701119cc354e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acb5e30fb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417e188d14ac2" /><Relationship Type="http://schemas.openxmlformats.org/officeDocument/2006/relationships/notesMaster" Target="/ppt/notesMasters/notesMaster1.xml" Id="Rb928ea08214745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5aeb0fc5441ac" /><Relationship Type="http://schemas.openxmlformats.org/officeDocument/2006/relationships/notesMaster" Target="/ppt/notesMasters/notesMaster1.xml" Id="R8302e4ba84fa4b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dd5fdfd4784cda" /><Relationship Type="http://schemas.openxmlformats.org/officeDocument/2006/relationships/notesMaster" Target="/ppt/notesMasters/notesMaster1.xml" Id="Reb8dcc3ec652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510fd7f264b2c" /><Relationship Type="http://schemas.openxmlformats.org/officeDocument/2006/relationships/notesMaster" Target="/ppt/notesMasters/notesMaster1.xml" Id="R257e557f2c08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a316bf3b24aa7" /><Relationship Type="http://schemas.openxmlformats.org/officeDocument/2006/relationships/notesMaster" Target="/ppt/notesMasters/notesMaster1.xml" Id="Rf1187343e2cc4d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35331d20374ab3" /><Relationship Type="http://schemas.openxmlformats.org/officeDocument/2006/relationships/notesMaster" Target="/ppt/notesMasters/notesMaster1.xml" Id="R8f8890b988a9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9d652f2124821" /><Relationship Type="http://schemas.openxmlformats.org/officeDocument/2006/relationships/notesMaster" Target="/ppt/notesMasters/notesMaster1.xml" Id="Rf95d382461e446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b78305014e4472" /><Relationship Type="http://schemas.openxmlformats.org/officeDocument/2006/relationships/notesMaster" Target="/ppt/notesMasters/notesMaster1.xml" Id="Rcaeeb6ba046a40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3e4aefb12b4475" /><Relationship Type="http://schemas.openxmlformats.org/officeDocument/2006/relationships/notesMaster" Target="/ppt/notesMasters/notesMaster1.xml" Id="Rfb42eb92169c4e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2f8885135e4e8f" /><Relationship Type="http://schemas.openxmlformats.org/officeDocument/2006/relationships/notesMaster" Target="/ppt/notesMasters/notesMaster1.xml" Id="Rd1ee401427b647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77c13e2aa4ed4" /><Relationship Type="http://schemas.openxmlformats.org/officeDocument/2006/relationships/notesMaster" Target="/ppt/notesMasters/notesMaster1.xml" Id="R411f5188bfb246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b92ee5452d4d46" /><Relationship Type="http://schemas.openxmlformats.org/officeDocument/2006/relationships/notesMaster" Target="/ppt/notesMasters/notesMaster1.xml" Id="R83b83538668648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2ff9fd491a4c72" /><Relationship Type="http://schemas.openxmlformats.org/officeDocument/2006/relationships/notesMaster" Target="/ppt/notesMasters/notesMaster1.xml" Id="Rdb76928aca474e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12fd21867a42f9" /><Relationship Type="http://schemas.openxmlformats.org/officeDocument/2006/relationships/notesMaster" Target="/ppt/notesMasters/notesMaster1.xml" Id="R1d94af870a4346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c60f234e4f49fc" /><Relationship Type="http://schemas.openxmlformats.org/officeDocument/2006/relationships/notesMaster" Target="/ppt/notesMasters/notesMaster1.xml" Id="R05c834b356eb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trace an imagined token at a desk. The model represents blood flow, not a blood cell choosing where to 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R1/R2 blood. R3 oxygen, nutrients or water. Establish that lungs supply oxygen to blood, not the heart.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follow arrows, not colour alone. Right heart sends blood to lungs. Blood gains oxygen there; returns to left heart; is pumped to body. From tissues it returns to right heart. This is a route map, not anatomical position. Oxygen-poor still contains some oxygen.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Right heart</a:t>
            </a:r>
          </a:p>
          <a:p xmlns:a="http://schemas.openxmlformats.org/drawingml/2006/main">
            <a:r>
              <a:t>pumps to lungs; Lungs</a:t>
            </a:r>
          </a:p>
          <a:p xmlns:a="http://schemas.openxmlformats.org/drawingml/2006/main">
            <a:r>
              <a:t>oxygen enters blood; Left heart</a:t>
            </a:r>
          </a:p>
          <a:p xmlns:a="http://schemas.openxmlformats.org/drawingml/2006/main">
            <a:r>
              <a:t>pumps to body; Body tissues</a:t>
            </a:r>
          </a:p>
          <a:p xmlns:a="http://schemas.openxmlformats.org/drawingml/2006/main">
            <a:r>
              <a:t>use oxygen. Clockwise. Colour marks oxygen content,</a:t>
            </a:r>
          </a:p>
          <a:p xmlns:a="http://schemas.openxmlformats.org/drawingml/2006/main">
            <a:r>
              <a:t>not the actual colour of blood.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Think aloud: Heart-to-lungs is away, so it is an artery even though oxygen-poor. Lungs-to-heart is towards, so a vein even though oxygen-rich. The visual shows one outward route and names the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Heart; Artery:</a:t>
            </a:r>
          </a:p>
          <a:p xmlns:a="http://schemas.openxmlformats.org/drawingml/2006/main">
            <a:r>
              <a:t>away from heart; Body tissues. The return route uses veins towards the heart.</a:t>
            </a:r>
          </a:p>
          <a:p xmlns:a="http://schemas.openxmlformats.org/drawingml/2006/main">
            <a:r>
              <a:t>The heart-to-lungs artery also goes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forward flow through open valve. On the second panel show attempted reverse direction meeting closed leaflets. This is a schematic teaching model, not a surgical drawing.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cross-section: muscular wall squeezes the chamber, forcing blood through an open outlet valve. A second panel shows a closed valve resisting reverse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right heart→lungs; B lungs→left heart; C left heart→body; D body→right heart. Desk cards or spoken sequence. Ask pupils to identify where oxygen enters and where it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Fault1 requires lungs→left heart→body. Fault2 blood is red; veins lead towards heart and can carry oxygen-rich blood, e.g. pulmonary veins. Use two separate reasons.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It is the pulmonary artery, carrying oxygen-poor blood away. Blue is only a key. Do not require pulmonary for supported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Artery: it goes away from the heart. Blue means oxygen-poor in this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is incorrect: blood passes through the left heart before the body. B is correct. C is incorrect: the right heart sends blood to the lungs. Re-trace the lung route if responses are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Straight to the body, bypassing the heart.</a:t>
            </a:r>
          </a:p>
          <a:p xmlns:a="http://schemas.openxmlformats.org/drawingml/2006/main">
            <a:r>
              <a:t>Blood returns to the left heart before being pumped to the body.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To the left side of the heart.</a:t>
            </a:r>
          </a:p>
          <a:p xmlns:a="http://schemas.openxmlformats.org/drawingml/2006/main">
            <a:r>
              <a:t>Correct. The left side receives oxygen-rich blood from the lungs.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To the right side of the heart.</a:t>
            </a:r>
          </a:p>
          <a:p xmlns:a="http://schemas.openxmlformats.org/drawingml/2006/main">
            <a:r>
              <a:t>The right side receives blood returning from the body.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You do. All routes assess circulation, direction and pumping. Differentiate recording, not the core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Adult may point to a gap without providing the destination. Tokens need not physically move around the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Labels remain useful in monochrome printing. Avoid colour alone as the indicator.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Teacher offers anonymous or private review. Accept a pupil choosing teacher review over peer exchange.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Lundy: collect choices, pick one detail to draw next on the board and explain which pupil reasoning influenced it. Capillaries clarify exchange; chambers clarify receiving and pumping.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left side of the heart. E2: carries blood away from the heart. E3: contracting heart muscle. E4 on the pupil page explains the blue convention. Collect answers before a public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heart beats</a:t>
            </a:r>
          </a:p>
          <a:p xmlns:a="http://schemas.openxmlformats.org/drawingml/2006/main">
            <a:r>
              <a:t>https://www.nhlbi.nih.gov/health/heart/heart-beats</a:t>
            </a:r>
          </a:p>
          <a:p xmlns:a="http://schemas.openxmlformats.org/drawingml/2006/main">
            <a:r>
              <a:t>Checked September 2026. Heart muscle contraction and valves; pupil health is not assessed from pulse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2399a82e7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578f11fde457e" /><Relationship Type="http://schemas.openxmlformats.org/officeDocument/2006/relationships/slideLayout" Target="/ppt/slideLayouts/slideLayout1.xml" Id="Re4a9711b731e40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9711b731e40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52f9f52e64fc5" /><Relationship Type="http://schemas.openxmlformats.org/officeDocument/2006/relationships/notesSlide" Target="/ppt/notesSlides/notesSlide1.xml" Id="R3370fcec0efb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7defeed824bbd" /><Relationship Type="http://schemas.openxmlformats.org/officeDocument/2006/relationships/notesSlide" Target="/ppt/notesSlides/notesSlide2.xml" Id="Rc86bd368563044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3283c4b145d9" /><Relationship Type="http://schemas.openxmlformats.org/officeDocument/2006/relationships/notesSlide" Target="/ppt/notesSlides/notesSlide3.xml" Id="Rec4d6f5a5a3e4f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217daea6745c5" /><Relationship Type="http://schemas.openxmlformats.org/officeDocument/2006/relationships/notesSlide" Target="/ppt/notesSlides/notesSlide4.xml" Id="Rcd14a9282fed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83bd2c16848f7" /><Relationship Type="http://schemas.openxmlformats.org/officeDocument/2006/relationships/notesSlide" Target="/ppt/notesSlides/notesSlide5.xml" Id="R85f6e48205114e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6bca93c1e4e63" /><Relationship Type="http://schemas.openxmlformats.org/officeDocument/2006/relationships/notesSlide" Target="/ppt/notesSlides/notesSlide6.xml" Id="Rf4b52368d79d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a6c0b1b414736" /><Relationship Type="http://schemas.openxmlformats.org/officeDocument/2006/relationships/notesSlide" Target="/ppt/notesSlides/notesSlide7.xml" Id="R2cdac5382056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4e5e72a934030" /><Relationship Type="http://schemas.openxmlformats.org/officeDocument/2006/relationships/notesSlide" Target="/ppt/notesSlides/notesSlide8.xml" Id="R02e13158223840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d673afde64fe1" /><Relationship Type="http://schemas.openxmlformats.org/officeDocument/2006/relationships/notesSlide" Target="/ppt/notesSlides/notesSlide9.xml" Id="Rbf9ca1770739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cf1b7ae0247e2" /><Relationship Type="http://schemas.openxmlformats.org/officeDocument/2006/relationships/notesSlide" Target="/ppt/notesSlides/notesSlide10.xml" Id="R536bb1753dd644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f28a624e940c4" /><Relationship Type="http://schemas.openxmlformats.org/officeDocument/2006/relationships/notesSlide" Target="/ppt/notesSlides/notesSlide11.xml" Id="Ra222840e085d4b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096d5465541b0" /><Relationship Type="http://schemas.openxmlformats.org/officeDocument/2006/relationships/notesSlide" Target="/ppt/notesSlides/notesSlide12.xml" Id="Ra212115f31d349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cf3b6d7fd4fba" /><Relationship Type="http://schemas.openxmlformats.org/officeDocument/2006/relationships/notesSlide" Target="/ppt/notesSlides/notesSlide13.xml" Id="R3ddfa2e577bd47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71fe547d474f" /><Relationship Type="http://schemas.openxmlformats.org/officeDocument/2006/relationships/notesSlide" Target="/ppt/notesSlides/notesSlide14.xml" Id="Rea018745010446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b66f7e2304cb2" /><Relationship Type="http://schemas.openxmlformats.org/officeDocument/2006/relationships/notesSlide" Target="/ppt/notesSlides/notesSlide15.xml" Id="R893d7a9570e242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85B967D-0372-4611-A17A-9C364EB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957B91D-EA50-4AC7-87B0-1A9FD057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85790C2-741D-45E7-A71D-4B9F584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1761772-22D9-4954-941B-F04117EF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7F29E272-9AF3-4984-97F7-2E2EE4E2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A3483A7-66C9-482C-AEC8-4E9810E7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courier has lost the route">
            <a:extLst xmlns:a="http://schemas.openxmlformats.org/drawingml/2006/main">
              <a:ext uri="{FF2B5EF4-FFF2-40B4-BE49-F238E27FC236}">
                <a16:creationId xmlns:a16="http://schemas.microsoft.com/office/drawing/2014/main" id="{57C744E6-0412-4587-BA56-A54F9C0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courier has lost the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E72DBC6-9EB5-4D61-B124-0AE8F50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5C916D73-77FB-480E-A530-52027D7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D477051A-AECC-4A24-91E8-720D0EF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C8029FA2-D3F5-408A-BA8F-A3B30344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D4E0BD4-F411-4067-9339-49E2E4F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DBB54F3D-4D97-4739-8498-A8D154DC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Trace blood through the heart, lungs and body and explain the he">
            <a:extLst xmlns:a="http://schemas.openxmlformats.org/drawingml/2006/main">
              <a:ext uri="{FF2B5EF4-FFF2-40B4-BE49-F238E27FC236}">
                <a16:creationId xmlns:a16="http://schemas.microsoft.com/office/drawing/2014/main" id="{53E55696-B68A-43C9-B20A-F8116B41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blood through the heart, lungs and body and explain the heart’s pumping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job.</a:t>
            </a:r>
          </a:p>
        </p:txBody>
      </p:sp>
      <p:sp>
        <p:nvSpPr>
          <p:cNvPr id="15" name="A blood token must visit lungs and body.">
            <a:extLst xmlns:a="http://schemas.openxmlformats.org/drawingml/2006/main">
              <a:ext uri="{FF2B5EF4-FFF2-40B4-BE49-F238E27FC236}">
                <a16:creationId xmlns:a16="http://schemas.microsoft.com/office/drawing/2014/main" id="{6912E54C-15AD-407A-A05F-AA3DB03A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blood token must visit lungs and body.</a:t>
            </a:r>
          </a:p>
        </p:txBody>
      </p:sp>
      <p:sp>
        <p:nvSpPr>
          <p:cNvPr id="16" name="Can you rescue its route without skipping the heart?">
            <a:extLst xmlns:a="http://schemas.openxmlformats.org/drawingml/2006/main">
              <a:ext uri="{FF2B5EF4-FFF2-40B4-BE49-F238E27FC236}">
                <a16:creationId xmlns:a16="http://schemas.microsoft.com/office/drawing/2014/main" id="{CF746BB2-5035-48EB-8A14-5DF0FE6D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you rescue its route without skipping the heart?</a:t>
            </a:r>
          </a:p>
        </p:txBody>
      </p:sp>
    </p:spTree>
    <p:extLst>
      <p:ext uri="{BB962C8B-B14F-4D97-AF65-F5344CB8AC3E}">
        <p14:creationId xmlns:p14="http://schemas.microsoft.com/office/powerpoint/2010/main" val="1355667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068E36D-68CC-4C6F-89AC-1BD9DB3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E7D8A05-6A23-4DF3-A293-3D75C60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0876836-F00D-4A74-81C2-0AB594D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A91BA21-5C2F-46E6-9A4F-F4FDD22D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EB080936-5699-4C05-B39C-4E3CBBF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EECBD45-A3F9-47E6-BD3D-FFEEF5FE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system does the delivery?">
            <a:extLst xmlns:a="http://schemas.openxmlformats.org/drawingml/2006/main">
              <a:ext uri="{FF2B5EF4-FFF2-40B4-BE49-F238E27FC236}">
                <a16:creationId xmlns:a16="http://schemas.microsoft.com/office/drawing/2014/main" id="{FE5BB12C-1575-456A-924D-F5B5441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system does the delivery?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A19E370-6C6C-45A4-9F08-2548C7F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0002C658-6D73-4D39-AC54-30C677A9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387B3117-A8CE-4AFB-8E0E-0D0C0DB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does the heart pump?">
            <a:extLst xmlns:a="http://schemas.openxmlformats.org/drawingml/2006/main">
              <a:ext uri="{FF2B5EF4-FFF2-40B4-BE49-F238E27FC236}">
                <a16:creationId xmlns:a16="http://schemas.microsoft.com/office/drawing/2014/main" id="{EFE80921-E0F3-402C-9B56-9A44471B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does the heart pump?</a:t>
            </a:r>
          </a:p>
        </p:txBody>
      </p:sp>
      <p:sp>
        <p:nvSpPr>
          <p:cNvPr id="12" name="R2. What do blood vessels carry?">
            <a:extLst xmlns:a="http://schemas.openxmlformats.org/drawingml/2006/main">
              <a:ext uri="{FF2B5EF4-FFF2-40B4-BE49-F238E27FC236}">
                <a16:creationId xmlns:a16="http://schemas.microsoft.com/office/drawing/2014/main" id="{4B318D1F-6937-4435-9476-89FB788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 blood vessels carry?</a:t>
            </a:r>
          </a:p>
        </p:txBody>
      </p:sp>
      <p:sp>
        <p:nvSpPr>
          <p:cNvPr id="13" name="R3. Name a substance tissues need.">
            <a:extLst xmlns:a="http://schemas.openxmlformats.org/drawingml/2006/main">
              <a:ext uri="{FF2B5EF4-FFF2-40B4-BE49-F238E27FC236}">
                <a16:creationId xmlns:a16="http://schemas.microsoft.com/office/drawing/2014/main" id="{FACA20F4-04F1-48AC-A86D-B199C3E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Name a substance tissues need.</a:t>
            </a:r>
          </a:p>
        </p:txBody>
      </p:sp>
    </p:spTree>
    <p:extLst>
      <p:ext uri="{BB962C8B-B14F-4D97-AF65-F5344CB8AC3E}">
        <p14:creationId xmlns:p14="http://schemas.microsoft.com/office/powerpoint/2010/main" val="2085078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DE52EFB3-297F-4543-B8F2-F9B4E57C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7A75173-2A38-49FB-889B-EECA659F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E45CEE4-A50A-4895-A966-45CEB34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EE835E2-A1EF-4BFD-A415-7C558C9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79F7A387-F789-4702-BBFC-0AE8801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22E82E5B-99A6-4BEA-809C-8BED24D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trace one complete journey">
            <a:extLst xmlns:a="http://schemas.openxmlformats.org/drawingml/2006/main">
              <a:ext uri="{FF2B5EF4-FFF2-40B4-BE49-F238E27FC236}">
                <a16:creationId xmlns:a16="http://schemas.microsoft.com/office/drawing/2014/main" id="{C2B992FA-46A8-48E6-8188-52CD56D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trace one complete journey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D854032-A198-4CFD-A6BB-9C25CDD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FA67D06D-520D-48EF-91AF-5136D5CB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72155B10-7561-4484-A046-1E187FA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One complete route: two heart sides">
            <a:extLst xmlns:a="http://schemas.openxmlformats.org/drawingml/2006/main">
              <a:ext uri="{FF2B5EF4-FFF2-40B4-BE49-F238E27FC236}">
                <a16:creationId xmlns:a16="http://schemas.microsoft.com/office/drawing/2014/main" id="{BB9C402A-350D-47BB-8673-2A0CB7F3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02019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complete route: two heart sides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B9C8CD7-FE44-46C3-B0DF-82A9880C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3" name="Diagram label: Right heart&#10;pumps to lungs">
            <a:extLst xmlns:a="http://schemas.openxmlformats.org/drawingml/2006/main">
              <a:ext uri="{FF2B5EF4-FFF2-40B4-BE49-F238E27FC236}">
                <a16:creationId xmlns:a16="http://schemas.microsoft.com/office/drawing/2014/main" id="{55C27F1B-81FB-4DD0-B169-C7ED99B6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pumps to lungs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E8CF1F8-33EF-4CC4-B1B0-AAC8BE2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B64745"/>
            </a:solidFill>
          </a:ln>
        </p:spPr>
      </p:sp>
      <p:sp>
        <p:nvSpPr>
          <p:cNvPr id="15" name="Diagram label: Lungs&#10;oxygen enters blood">
            <a:extLst xmlns:a="http://schemas.openxmlformats.org/drawingml/2006/main">
              <a:ext uri="{FF2B5EF4-FFF2-40B4-BE49-F238E27FC236}">
                <a16:creationId xmlns:a16="http://schemas.microsoft.com/office/drawing/2014/main" id="{9964F0E1-E443-42C3-BD63-99B8A24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Lungs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 enters blood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A57684C-DBE4-4EDD-93A3-A72B08BB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B64745"/>
            </a:solidFill>
          </a:ln>
        </p:spPr>
      </p:sp>
      <p:sp>
        <p:nvSpPr>
          <p:cNvPr id="17" name="Diagram label: Left heart&#10;pumps to body">
            <a:extLst xmlns:a="http://schemas.openxmlformats.org/drawingml/2006/main">
              <a:ext uri="{FF2B5EF4-FFF2-40B4-BE49-F238E27FC236}">
                <a16:creationId xmlns:a16="http://schemas.microsoft.com/office/drawing/2014/main" id="{196068EE-D966-49E7-8E53-3576E051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Left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pumps to body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52BAF75-26D3-444F-964C-A71C86C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9" name="Diagram label: Body tissues&#10;use oxygen">
            <a:extLst xmlns:a="http://schemas.openxmlformats.org/drawingml/2006/main">
              <a:ext uri="{FF2B5EF4-FFF2-40B4-BE49-F238E27FC236}">
                <a16:creationId xmlns:a16="http://schemas.microsoft.com/office/drawing/2014/main" id="{17B6361F-7809-48E3-8226-707F8432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oxygen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310D541-77B2-4BC5-929C-E046988A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5155" y="3004117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7C9A048-158B-4FF6-AEB2-894A6800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8737" y="295506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EEC5792-0D02-4D21-9BCF-6DA339C5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035" y="3389539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B3A36A7-646B-45F3-AB26-4F126341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03981" y="413235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8C21B97-7915-40D0-9823-D86A707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98736" y="4615883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B6098D7-82A1-4B91-927A-B5A50E95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25155" y="456682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3A577B3-ACCF-4D77-B319-5C488698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38965" y="3463120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B2EF5F1-DC5F-468D-95E3-BE54D11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911" y="338953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8" name="Diagram label: Clockwise. Colour marks oxygen content,&#10;not the actual colour of blood.">
            <a:extLst xmlns:a="http://schemas.openxmlformats.org/drawingml/2006/main">
              <a:ext uri="{FF2B5EF4-FFF2-40B4-BE49-F238E27FC236}">
                <a16:creationId xmlns:a16="http://schemas.microsoft.com/office/drawing/2014/main" id="{75659DFD-9154-42CB-AB13-A4104BD3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197520"/>
            <a:ext cx="623683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Clockwise. Colour marks oxygen content,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the actual colour of blood.</a:t>
            </a:r>
          </a:p>
        </p:txBody>
      </p:sp>
      <p:sp>
        <p:nvSpPr>
          <p:cNvPr id="29" name="Start at the right side of the heart.  Visit lungs, then the lef">
            <a:extLst xmlns:a="http://schemas.openxmlformats.org/drawingml/2006/main">
              <a:ext uri="{FF2B5EF4-FFF2-40B4-BE49-F238E27FC236}">
                <a16:creationId xmlns:a16="http://schemas.microsoft.com/office/drawing/2014/main" id="{C0192EA3-753E-46A2-81D0-1DE15741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Start at the right side of the heart. Visit lungs, then the left heart, then body. The heart is passed twice per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circuit.</a:t>
            </a:r>
          </a:p>
        </p:txBody>
      </p:sp>
    </p:spTree>
    <p:extLst>
      <p:ext uri="{BB962C8B-B14F-4D97-AF65-F5344CB8AC3E}">
        <p14:creationId xmlns:p14="http://schemas.microsoft.com/office/powerpoint/2010/main" val="1334755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50583CD7-A940-4C48-88A3-099EB9F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FD37958-D0E4-42AB-8C24-D4866367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DF4A792-67BB-452C-BF04-3E4FBF9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0F93218-C25B-4DFD-B186-E46C49D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E5AD33A-5A1B-4DBD-B33F-05361EA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name the vessel by direction">
            <a:extLst xmlns:a="http://schemas.openxmlformats.org/drawingml/2006/main">
              <a:ext uri="{FF2B5EF4-FFF2-40B4-BE49-F238E27FC236}">
                <a16:creationId xmlns:a16="http://schemas.microsoft.com/office/drawing/2014/main" id="{7229A368-5A69-416C-AC8F-F25E619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name the vessel by direction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521CDC3-23A8-4F2F-9A37-031767B1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BEE8CADC-1E41-4BCB-8395-18BC818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34C1046C-3BBB-4DC9-8B46-2C412577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Name vessels by their direction">
            <a:extLst xmlns:a="http://schemas.openxmlformats.org/drawingml/2006/main">
              <a:ext uri="{FF2B5EF4-FFF2-40B4-BE49-F238E27FC236}">
                <a16:creationId xmlns:a16="http://schemas.microsoft.com/office/drawing/2014/main" id="{2CA84230-8B4D-4F9B-ADD2-3FF1CE64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vessels by their direction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5236FCD-DA5E-4EF9-A842-B7C156D5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Heart">
            <a:extLst xmlns:a="http://schemas.openxmlformats.org/drawingml/2006/main">
              <a:ext uri="{FF2B5EF4-FFF2-40B4-BE49-F238E27FC236}">
                <a16:creationId xmlns:a16="http://schemas.microsoft.com/office/drawing/2014/main" id="{56C767FB-4DC4-4FCF-B3B2-0AED7DC7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Heart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5D85833-7873-41F3-950F-1C63E056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14418E1-A6A0-4819-8174-4CE4F470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82FB96A-36B4-4EEA-9278-BE04CF01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Artery:&#10;away from heart">
            <a:extLst xmlns:a="http://schemas.openxmlformats.org/drawingml/2006/main">
              <a:ext uri="{FF2B5EF4-FFF2-40B4-BE49-F238E27FC236}">
                <a16:creationId xmlns:a16="http://schemas.microsoft.com/office/drawing/2014/main" id="{34046261-EE26-4D57-88E9-0812AD4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Artery: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away from heart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53100C3-244C-4141-A097-F1E0B65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66F02FB-0B85-4E8B-B89D-C279496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3A89B57-0C5B-4B51-829F-3657E2DD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Body tissues">
            <a:extLst xmlns:a="http://schemas.openxmlformats.org/drawingml/2006/main">
              <a:ext uri="{FF2B5EF4-FFF2-40B4-BE49-F238E27FC236}">
                <a16:creationId xmlns:a16="http://schemas.microsoft.com/office/drawing/2014/main" id="{E0C229A3-B684-4B6B-A7A9-C9BB9EA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</a:t>
            </a:r>
          </a:p>
        </p:txBody>
      </p:sp>
      <p:sp>
        <p:nvSpPr>
          <p:cNvPr id="21" name="Diagram label: The return route uses veins towards the heart.&#10;The heart-to-lungs artery also goes away.">
            <a:extLst xmlns:a="http://schemas.openxmlformats.org/drawingml/2006/main">
              <a:ext uri="{FF2B5EF4-FFF2-40B4-BE49-F238E27FC236}">
                <a16:creationId xmlns:a16="http://schemas.microsoft.com/office/drawing/2014/main" id="{B96B6BD3-94FA-43CE-A8DB-9694755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return route uses veins towards the heart.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heart-to-lungs artery also goes away.</a:t>
            </a:r>
          </a:p>
        </p:txBody>
      </p:sp>
      <p:sp>
        <p:nvSpPr>
          <p:cNvPr id="22" name="An artery carries blood away from the heart.  A vein carries blo">
            <a:extLst xmlns:a="http://schemas.openxmlformats.org/drawingml/2006/main">
              <a:ext uri="{FF2B5EF4-FFF2-40B4-BE49-F238E27FC236}">
                <a16:creationId xmlns:a16="http://schemas.microsoft.com/office/drawing/2014/main" id="{B8317A14-B693-4B3A-9D14-2EA57C2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artery carries blood away from the heart. A vein carries blood towards the heart. Oxygen content does not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define the name.</a:t>
            </a:r>
          </a:p>
        </p:txBody>
      </p:sp>
    </p:spTree>
    <p:extLst>
      <p:ext uri="{BB962C8B-B14F-4D97-AF65-F5344CB8AC3E}">
        <p14:creationId xmlns:p14="http://schemas.microsoft.com/office/powerpoint/2010/main" val="423567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767665DD-8DDD-41AE-ABA3-56A84EEB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EF8D348-A49C-49F3-BBB8-0FD5820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D362281-6EC2-4746-A02D-99B1FAF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DD47B6E-1855-4523-815E-9647030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F0FCAEB-60C8-4475-8352-DB756B4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explain the pump">
            <a:extLst xmlns:a="http://schemas.openxmlformats.org/drawingml/2006/main">
              <a:ext uri="{FF2B5EF4-FFF2-40B4-BE49-F238E27FC236}">
                <a16:creationId xmlns:a16="http://schemas.microsoft.com/office/drawing/2014/main" id="{C8255D39-6DC8-48DC-BBEF-7D45779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explain the pump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355164E-6FC3-48CB-83DE-B5444888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3159334A-B3AE-47DB-A3F3-B3D4CD7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A7C4CFE3-FD7A-4D86-A98E-CCBFCFD4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Muscle pumps; valves guide the flow">
            <a:extLst xmlns:a="http://schemas.openxmlformats.org/drawingml/2006/main">
              <a:ext uri="{FF2B5EF4-FFF2-40B4-BE49-F238E27FC236}">
                <a16:creationId xmlns:a16="http://schemas.microsoft.com/office/drawing/2014/main" id="{95444970-1A80-478B-9404-FD9AB9D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Muscle pumps; valves guide the flow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71E0757-4DBA-4927-92D8-20B438AA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2688771"/>
            <a:ext cx="2803071" cy="2102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274DA54-5173-473F-A3DC-4268CD3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2688771"/>
            <a:ext cx="2803071" cy="2102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Forward pumping">
            <a:extLst xmlns:a="http://schemas.openxmlformats.org/drawingml/2006/main">
              <a:ext uri="{FF2B5EF4-FFF2-40B4-BE49-F238E27FC236}">
                <a16:creationId xmlns:a16="http://schemas.microsoft.com/office/drawing/2014/main" id="{6F6D4B4F-9FEC-4F71-A9B2-019B9F2A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28925"/>
            <a:ext cx="252276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Forward pumping</a:t>
            </a:r>
          </a:p>
        </p:txBody>
      </p:sp>
      <p:sp>
        <p:nvSpPr>
          <p:cNvPr id="14" name="Diagram label: Reverse flow resisted">
            <a:extLst xmlns:a="http://schemas.openxmlformats.org/drawingml/2006/main">
              <a:ext uri="{FF2B5EF4-FFF2-40B4-BE49-F238E27FC236}">
                <a16:creationId xmlns:a16="http://schemas.microsoft.com/office/drawing/2014/main" id="{84B87883-D31C-405E-980B-3C097CAA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2828925"/>
            <a:ext cx="252276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Reverse flow resisted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51D4BD2-11B0-4E0E-BF8E-48ABD65C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967" y="3564731"/>
            <a:ext cx="1051152" cy="7708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E7"/>
          </a:solidFill>
          <a:ln xmlns:a="http://schemas.openxmlformats.org/drawingml/2006/main" w="21023">
            <a:solidFill>
              <a:srgbClr val="B64745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ADFE6F-277F-4F4C-BF51-34F3D526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17737" y="3950154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B64745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1F38372-1BDB-4F33-9893-EDD5937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29859" y="390110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64745"/>
          </a:solidFill>
          <a:ln xmlns:a="http://schemas.openxmlformats.org/drawingml/2006/main" w="0">
            <a:noFill/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D777BAD-6472-4AAF-9DC6-53F69C75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79119" y="3950154"/>
            <a:ext cx="97757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B64745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963C20F-6817-4161-9ECE-FADF6A5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2163" y="390110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64745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EB7B78A-2BD9-4DEF-97D2-ED667C7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4541" y="3634808"/>
            <a:ext cx="245269" cy="1751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3758284-C983-4DAF-B84D-7E5B247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64541" y="4090307"/>
            <a:ext cx="245269" cy="1751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22" name="Diagram label: Muscle wall squeezes">
            <a:extLst xmlns:a="http://schemas.openxmlformats.org/drawingml/2006/main">
              <a:ext uri="{FF2B5EF4-FFF2-40B4-BE49-F238E27FC236}">
                <a16:creationId xmlns:a16="http://schemas.microsoft.com/office/drawing/2014/main" id="{E78D6B97-ECD6-4BE3-AADF-9AEED59A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4405653"/>
            <a:ext cx="231253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Muscle wall squeezes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47E36A6-5B11-463D-B0AD-13DF3959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86462" y="3950154"/>
            <a:ext cx="7673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4D82A0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8287545-5A1E-49CA-99EE-97DB6AA4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12881" y="390110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1D1E8C-1CF7-4996-9F19-9E1F33F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7536" y="3564731"/>
            <a:ext cx="245269" cy="3854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7DBF238-D819-4B9B-82DB-106D13D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97536" y="3950154"/>
            <a:ext cx="245269" cy="3854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27" name="Diagram label: Closed valve limits backflow">
            <a:extLst xmlns:a="http://schemas.openxmlformats.org/drawingml/2006/main">
              <a:ext uri="{FF2B5EF4-FFF2-40B4-BE49-F238E27FC236}">
                <a16:creationId xmlns:a16="http://schemas.microsoft.com/office/drawing/2014/main" id="{9D7F406A-18D0-4847-BB6C-F3B78FD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4405653"/>
            <a:ext cx="252276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Closed valve limits backflow</a:t>
            </a:r>
          </a:p>
        </p:txBody>
      </p:sp>
      <p:sp>
        <p:nvSpPr>
          <p:cNvPr id="28" name="Diagram label: Selective model: chamber shape and scale simplified.">
            <a:extLst xmlns:a="http://schemas.openxmlformats.org/drawingml/2006/main">
              <a:ext uri="{FF2B5EF4-FFF2-40B4-BE49-F238E27FC236}">
                <a16:creationId xmlns:a16="http://schemas.microsoft.com/office/drawing/2014/main" id="{2F2FB6CE-59C6-4273-B7A4-664FC34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5106421"/>
            <a:ext cx="6166757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Selective model: chamber shape and scale simplified.</a:t>
            </a:r>
          </a:p>
        </p:txBody>
      </p:sp>
      <p:sp>
        <p:nvSpPr>
          <p:cNvPr id="29" name="Heart muscle contracts to move blood.  Valves help stop backward">
            <a:extLst xmlns:a="http://schemas.openxmlformats.org/drawingml/2006/main">
              <a:ext uri="{FF2B5EF4-FFF2-40B4-BE49-F238E27FC236}">
                <a16:creationId xmlns:a16="http://schemas.microsoft.com/office/drawing/2014/main" id="{71FA551E-8432-430E-9810-38C417DF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Heart muscle contracts to move blood. Valves help stop backward flow. A valve guides flow; it does not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power the pump.</a:t>
            </a:r>
          </a:p>
        </p:txBody>
      </p:sp>
    </p:spTree>
    <p:extLst>
      <p:ext uri="{BB962C8B-B14F-4D97-AF65-F5344CB8AC3E}">
        <p14:creationId xmlns:p14="http://schemas.microsoft.com/office/powerpoint/2010/main" val="1561361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3B38DCC-BFC3-4304-A593-BBA18D0D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DA1410-7CB2-4422-9A96-E5D7361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E94FEC1-DCB4-4465-9D3A-08E35A3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AAF19DB-E8F3-4F57-B64F-FA79808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B190290-D7E7-4CAC-88A0-CAB991F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49B9E58A-20E8-4C79-871C-361504D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Route rescue: four delivery links">
            <a:extLst xmlns:a="http://schemas.openxmlformats.org/drawingml/2006/main">
              <a:ext uri="{FF2B5EF4-FFF2-40B4-BE49-F238E27FC236}">
                <a16:creationId xmlns:a16="http://schemas.microsoft.com/office/drawing/2014/main" id="{3D4928B3-5E4B-47E5-9771-77B2154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Route rescue: four delivery links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5616582-2080-409B-9AD2-CEA32ED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B39E1555-E913-43F4-B7FF-9BAF618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EAB8B79F-8E4A-44AD-9CCC-8710143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the route clues on page 1. W1. Put A–D into a complete cycle">
            <a:extLst xmlns:a="http://schemas.openxmlformats.org/drawingml/2006/main">
              <a:ext uri="{FF2B5EF4-FFF2-40B4-BE49-F238E27FC236}">
                <a16:creationId xmlns:a16="http://schemas.microsoft.com/office/drawing/2014/main" id="{451B8894-E30A-4C20-AB30-647B373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route clues on page 1. W1. Put A–D into a complete cycle. Start with A. Explain the 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step.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35407"/>
                <a:gridCol w="6589793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Delivery link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Right heart → lungs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Lungs → left heart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Left heart → body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Body → right heart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25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FDB1A0E-0AE0-456C-BA26-C3DA28EC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3EC3987-6D47-4996-B12A-4374D7A9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BE851F8-04D3-4437-9A72-FA670899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BB3CB22-DE6B-4BE1-9ECB-3D4B049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BF71973-3690-489E-91E5-1157DAF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Find the two broken labels">
            <a:extLst xmlns:a="http://schemas.openxmlformats.org/drawingml/2006/main">
              <a:ext uri="{FF2B5EF4-FFF2-40B4-BE49-F238E27FC236}">
                <a16:creationId xmlns:a16="http://schemas.microsoft.com/office/drawing/2014/main" id="{0F463991-B47B-4F25-AFB0-EAD4A603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two broken labels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04925F9-834D-406C-BFB0-D87F6FA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F4122CC1-7EB6-43B1-8BC8-75A66E6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1D27BF7B-41A4-43AD-BA86-03CCF86E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Fault 1: “Lungs → body, skipping the heart.”">
            <a:extLst xmlns:a="http://schemas.openxmlformats.org/drawingml/2006/main">
              <a:ext uri="{FF2B5EF4-FFF2-40B4-BE49-F238E27FC236}">
                <a16:creationId xmlns:a16="http://schemas.microsoft.com/office/drawing/2014/main" id="{58E1EF81-1FA6-49BC-9C31-552EC87A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Fault 1: “Lungs → body, skipping the heart.”</a:t>
            </a:r>
          </a:p>
        </p:txBody>
      </p:sp>
      <p:sp>
        <p:nvSpPr>
          <p:cNvPr id="11" name="Fault 2: “All veins contain blue blood.”">
            <a:extLst xmlns:a="http://schemas.openxmlformats.org/drawingml/2006/main">
              <a:ext uri="{FF2B5EF4-FFF2-40B4-BE49-F238E27FC236}">
                <a16:creationId xmlns:a16="http://schemas.microsoft.com/office/drawing/2014/main" id="{EEF31CC5-BBC5-489B-B73E-5615C12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Fault 2: “All veins contain blue blood.”</a:t>
            </a:r>
          </a:p>
        </p:txBody>
      </p:sp>
      <p:sp>
        <p:nvSpPr>
          <p:cNvPr id="12" name="W2. Repair each with a scientific reason.">
            <a:extLst xmlns:a="http://schemas.openxmlformats.org/drawingml/2006/main">
              <a:ext uri="{FF2B5EF4-FFF2-40B4-BE49-F238E27FC236}">
                <a16:creationId xmlns:a16="http://schemas.microsoft.com/office/drawing/2014/main" id="{89347B5B-3B36-4A29-9CFB-F8A116F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Repair each with a scientific reason.</a:t>
            </a:r>
          </a:p>
        </p:txBody>
      </p:sp>
    </p:spTree>
    <p:extLst>
      <p:ext uri="{BB962C8B-B14F-4D97-AF65-F5344CB8AC3E}">
        <p14:creationId xmlns:p14="http://schemas.microsoft.com/office/powerpoint/2010/main" val="997487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143A227-F0C8-498D-B653-D28486F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6FB9781-DE35-4516-8561-1CAB852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EB9AA49-4702-4490-BB2C-599E358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AF2D34D-5917-4BBA-9100-2B4D7354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B6F71FC-F401-4EE1-B854-511B96F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An oxygen-poor artery?">
            <a:extLst xmlns:a="http://schemas.openxmlformats.org/drawingml/2006/main">
              <a:ext uri="{FF2B5EF4-FFF2-40B4-BE49-F238E27FC236}">
                <a16:creationId xmlns:a16="http://schemas.microsoft.com/office/drawing/2014/main" id="{108D518B-C19B-4F41-AB4B-AE26B052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oxygen-poor artery?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183D674-406A-439D-9C77-D67B5E87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FFDEAA8E-1CEC-4EAE-AF37-B820F88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23656D5E-1072-4B15-A990-D02BC7A3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The vessel goes from heart to lungs.">
            <a:extLst xmlns:a="http://schemas.openxmlformats.org/drawingml/2006/main">
              <a:ext uri="{FF2B5EF4-FFF2-40B4-BE49-F238E27FC236}">
                <a16:creationId xmlns:a16="http://schemas.microsoft.com/office/drawing/2014/main" id="{B49F6EE6-CA74-47DF-B0C5-A38BEE6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The vessel goes from heart to lungs.</a:t>
            </a:r>
          </a:p>
        </p:txBody>
      </p:sp>
      <p:sp>
        <p:nvSpPr>
          <p:cNvPr id="11" name="Is it an artery or vein?">
            <a:extLst xmlns:a="http://schemas.openxmlformats.org/drawingml/2006/main">
              <a:ext uri="{FF2B5EF4-FFF2-40B4-BE49-F238E27FC236}">
                <a16:creationId xmlns:a16="http://schemas.microsoft.com/office/drawing/2014/main" id="{2BB0AFA9-6282-49EA-AC8A-4CCC65E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Is it an artery or vein?</a:t>
            </a:r>
          </a:p>
        </p:txBody>
      </p:sp>
      <p:sp>
        <p:nvSpPr>
          <p:cNvPr id="12" name="Decide using direction, then explain colour.">
            <a:extLst xmlns:a="http://schemas.openxmlformats.org/drawingml/2006/main">
              <a:ext uri="{FF2B5EF4-FFF2-40B4-BE49-F238E27FC236}">
                <a16:creationId xmlns:a16="http://schemas.microsoft.com/office/drawing/2014/main" id="{A8C3BCE2-F3C2-4938-9BC8-8EC6051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Decide using direction, then explain colour.</a:t>
            </a:r>
          </a:p>
        </p:txBody>
      </p:sp>
    </p:spTree>
    <p:extLst>
      <p:ext uri="{BB962C8B-B14F-4D97-AF65-F5344CB8AC3E}">
        <p14:creationId xmlns:p14="http://schemas.microsoft.com/office/powerpoint/2010/main" val="529119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A2473B1-6764-47AD-99BB-1CD2775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E496365-B50E-4BEA-B751-61769FB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DE7E94F-3A3C-4A14-9B6A-BE57CAA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5E6A81A-B10E-495E-88AA-C5FD0527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E7952625-5CAF-4554-AAA5-F0D6382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A202E25-B1D6-4004-9779-7DC986D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Blood leaves the lungs. Where next?">
            <a:extLst xmlns:a="http://schemas.openxmlformats.org/drawingml/2006/main">
              <a:ext uri="{FF2B5EF4-FFF2-40B4-BE49-F238E27FC236}">
                <a16:creationId xmlns:a16="http://schemas.microsoft.com/office/drawing/2014/main" id="{40437536-0101-4921-9C36-986F6D1A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leaves the lungs. Where next?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83AD5E9-CCC5-4A22-9215-9085E9AC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C7F6ACE5-8EBA-4FE8-92CD-CA8B7766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FCD4D589-721C-4BF7-9766-5085CBA4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next main destination in this route.">
            <a:extLst xmlns:a="http://schemas.openxmlformats.org/drawingml/2006/main">
              <a:ext uri="{FF2B5EF4-FFF2-40B4-BE49-F238E27FC236}">
                <a16:creationId xmlns:a16="http://schemas.microsoft.com/office/drawing/2014/main" id="{A82561A4-4E37-4E4B-A929-59CE6D2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main destination in this route.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71AC4D3-2A99-45AF-808F-034D160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E8C0180-BC19-408F-923D-B6030DC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45026503-EB24-4D10-B2A3-8D2433DC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Straight to the body, bypassing the heart.">
            <a:extLst xmlns:a="http://schemas.openxmlformats.org/drawingml/2006/main">
              <a:ext uri="{FF2B5EF4-FFF2-40B4-BE49-F238E27FC236}">
                <a16:creationId xmlns:a16="http://schemas.microsoft.com/office/drawing/2014/main" id="{4F51EC31-AB27-43FD-A327-BC84791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Straight to the body, bypassing the heart.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BF57978-207D-43E4-9C3C-687F0EE1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FE82287-1813-4AF2-BC2F-87AB2D1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C3858B5-9F98-42A3-9010-70364CE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o the left side of the heart.">
            <a:extLst xmlns:a="http://schemas.openxmlformats.org/drawingml/2006/main">
              <a:ext uri="{FF2B5EF4-FFF2-40B4-BE49-F238E27FC236}">
                <a16:creationId xmlns:a16="http://schemas.microsoft.com/office/drawing/2014/main" id="{69E8F66D-5EB2-43AF-B9FD-149FBA6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left side of the heart.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C4E65E0-E5D3-4091-8E11-4497BDDF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EA80E9D-1BBE-406C-879E-7C5F51FC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27481154-091E-4DAC-84C1-FD53614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o the right side of the heart.">
            <a:extLst xmlns:a="http://schemas.openxmlformats.org/drawingml/2006/main">
              <a:ext uri="{FF2B5EF4-FFF2-40B4-BE49-F238E27FC236}">
                <a16:creationId xmlns:a16="http://schemas.microsoft.com/office/drawing/2014/main" id="{6F76344D-22FC-4187-A0BD-6F4FB76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right side of the heart.</a:t>
            </a:r>
          </a:p>
        </p:txBody>
      </p:sp>
    </p:spTree>
    <p:extLst>
      <p:ext uri="{BB962C8B-B14F-4D97-AF65-F5344CB8AC3E}">
        <p14:creationId xmlns:p14="http://schemas.microsoft.com/office/powerpoint/2010/main" val="467764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5471262-323B-4980-A416-7A2D5BA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689A6BC-3D38-4676-93E7-7D5AEBE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883A930-0785-47EB-8F2D-32507826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11BEC43-E3FE-4736-A03E-44C8B5A3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704C0E8-0B7B-4B93-B8CE-51B16341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07A4A4A5-7318-41EE-83A8-6EBDB0D6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Build a reliable route map">
            <a:extLst xmlns:a="http://schemas.openxmlformats.org/drawingml/2006/main">
              <a:ext uri="{FF2B5EF4-FFF2-40B4-BE49-F238E27FC236}">
                <a16:creationId xmlns:a16="http://schemas.microsoft.com/office/drawing/2014/main" id="{0D12057F-5DE6-48BD-8C01-E73AF6B1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 reliable route map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B91A94D-AC3A-4330-A6AF-93287A8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38E7D082-C5F2-44D5-85D7-D92CEF0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0592161D-502D-400D-A990-34380AC0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44CA4063-19CD-49D8-9BC0-F251D84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Show the arrows and explain the pump.">
            <a:extLst xmlns:a="http://schemas.openxmlformats.org/drawingml/2006/main">
              <a:ext uri="{FF2B5EF4-FFF2-40B4-BE49-F238E27FC236}">
                <a16:creationId xmlns:a16="http://schemas.microsoft.com/office/drawing/2014/main" id="{FAB7EE17-86BC-41BD-8CF9-07609711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arrows and explain the pump.</a:t>
            </a:r>
          </a:p>
        </p:txBody>
      </p:sp>
      <p:sp>
        <p:nvSpPr>
          <p:cNvPr id="13" name="Use the evidence sheet if needed.">
            <a:extLst xmlns:a="http://schemas.openxmlformats.org/drawingml/2006/main">
              <a:ext uri="{FF2B5EF4-FFF2-40B4-BE49-F238E27FC236}">
                <a16:creationId xmlns:a16="http://schemas.microsoft.com/office/drawing/2014/main" id="{296B5962-D89A-4B91-9910-6636B6BE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 sheet if needed.</a:t>
            </a:r>
          </a:p>
        </p:txBody>
      </p:sp>
    </p:spTree>
    <p:extLst>
      <p:ext uri="{BB962C8B-B14F-4D97-AF65-F5344CB8AC3E}">
        <p14:creationId xmlns:p14="http://schemas.microsoft.com/office/powerpoint/2010/main" val="1485192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63C8457-3FA3-4FA9-82D6-492FD83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A09DA85-D0B8-4704-A785-2AC3326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790AEAB-ADD4-4C6F-ACE8-08325CD7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4DB5C24-94EE-4B91-AD42-7212A0E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900F5C0-3615-49DD-9E36-FE691336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Read your route aloud or silently">
            <a:extLst xmlns:a="http://schemas.openxmlformats.org/drawingml/2006/main">
              <a:ext uri="{FF2B5EF4-FFF2-40B4-BE49-F238E27FC236}">
                <a16:creationId xmlns:a16="http://schemas.microsoft.com/office/drawing/2014/main" id="{62CB1AE7-20B3-4454-827D-BED9059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your route aloud or silently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6766224-7502-41DC-B0E7-CB6346F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C3D4CC14-F25F-45C0-9E40-1272ABC9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1498ED38-90D8-42AB-8903-B1D1EC2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Can a token follow every arrow?">
            <a:extLst xmlns:a="http://schemas.openxmlformats.org/drawingml/2006/main">
              <a:ext uri="{FF2B5EF4-FFF2-40B4-BE49-F238E27FC236}">
                <a16:creationId xmlns:a16="http://schemas.microsoft.com/office/drawing/2014/main" id="{CBE0792E-7FD0-4CC0-B399-862F96A6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a token follow every arrow?</a:t>
            </a:r>
          </a:p>
        </p:txBody>
      </p:sp>
      <p:sp>
        <p:nvSpPr>
          <p:cNvPr id="11" name="Does it return to where it started?">
            <a:extLst xmlns:a="http://schemas.openxmlformats.org/drawingml/2006/main">
              <a:ext uri="{FF2B5EF4-FFF2-40B4-BE49-F238E27FC236}">
                <a16:creationId xmlns:a16="http://schemas.microsoft.com/office/drawing/2014/main" id="{44596BBE-971F-47BC-9902-8950B38A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it return to where it started?</a:t>
            </a:r>
          </a:p>
        </p:txBody>
      </p:sp>
      <p:sp>
        <p:nvSpPr>
          <p:cNvPr id="12" name="Have you passed through both heart sides?">
            <a:extLst xmlns:a="http://schemas.openxmlformats.org/drawingml/2006/main">
              <a:ext uri="{FF2B5EF4-FFF2-40B4-BE49-F238E27FC236}">
                <a16:creationId xmlns:a16="http://schemas.microsoft.com/office/drawing/2014/main" id="{D2B810F8-DE56-4949-A542-0848FB93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you passed through both heart sides?</a:t>
            </a:r>
          </a:p>
        </p:txBody>
      </p:sp>
    </p:spTree>
    <p:extLst>
      <p:ext uri="{BB962C8B-B14F-4D97-AF65-F5344CB8AC3E}">
        <p14:creationId xmlns:p14="http://schemas.microsoft.com/office/powerpoint/2010/main" val="19534465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36E995F-DE9D-4465-B350-744034DC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D6EB947-251E-44A2-AECD-E049E82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F478249-6A6A-4E7F-A71D-2371CBB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C81D1BB-24C3-4A60-8F09-EA1A755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4B52C8D-0DD7-4781-BF98-5B26FCB9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the key">
            <a:extLst xmlns:a="http://schemas.openxmlformats.org/drawingml/2006/main">
              <a:ext uri="{FF2B5EF4-FFF2-40B4-BE49-F238E27FC236}">
                <a16:creationId xmlns:a16="http://schemas.microsoft.com/office/drawing/2014/main" id="{DC1B5E44-4F9D-4120-A651-6B1AF2A5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key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20D907B-B4DD-4E18-B1C2-F7E8DB3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60CDE79A-3DF6-436F-836A-4D422B2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6F347F84-951D-4FD0-AE66-5AC9087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Write “oxygen-rich” and “oxygen-poor”.">
            <a:extLst xmlns:a="http://schemas.openxmlformats.org/drawingml/2006/main">
              <a:ext uri="{FF2B5EF4-FFF2-40B4-BE49-F238E27FC236}">
                <a16:creationId xmlns:a16="http://schemas.microsoft.com/office/drawing/2014/main" id="{D105FBAB-5DBB-43FD-9EAF-A6EA3ACF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“oxygen-rich” and “oxygen-poor”.</a:t>
            </a:r>
          </a:p>
        </p:txBody>
      </p:sp>
      <p:sp>
        <p:nvSpPr>
          <p:cNvPr id="11" name="Explain that blood itself is red.">
            <a:extLst xmlns:a="http://schemas.openxmlformats.org/drawingml/2006/main">
              <a:ext uri="{FF2B5EF4-FFF2-40B4-BE49-F238E27FC236}">
                <a16:creationId xmlns:a16="http://schemas.microsoft.com/office/drawing/2014/main" id="{D0A066B0-5152-453C-8979-B3A44971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that blood itself is red.</a:t>
            </a:r>
          </a:p>
        </p:txBody>
      </p:sp>
      <p:sp>
        <p:nvSpPr>
          <p:cNvPr id="12" name="Name an artery by direction.">
            <a:extLst xmlns:a="http://schemas.openxmlformats.org/drawingml/2006/main">
              <a:ext uri="{FF2B5EF4-FFF2-40B4-BE49-F238E27FC236}">
                <a16:creationId xmlns:a16="http://schemas.microsoft.com/office/drawing/2014/main" id="{BD450230-0AD3-488E-9D3B-AC9B157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an artery by direction.</a:t>
            </a:r>
          </a:p>
        </p:txBody>
      </p:sp>
    </p:spTree>
    <p:extLst>
      <p:ext uri="{BB962C8B-B14F-4D97-AF65-F5344CB8AC3E}">
        <p14:creationId xmlns:p14="http://schemas.microsoft.com/office/powerpoint/2010/main" val="1165105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0A4CF5F-ADDB-489B-BC65-65FC33E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9BD6FB3-CC45-4727-9312-1FA0101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5903C11-353B-407A-80FD-1396926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408E702-9382-417F-9DDA-20838941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86F6586-6B72-49A4-93B5-2ABA8E5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6D817251-080E-4DE2-8257-1344AAF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est another map">
            <a:extLst xmlns:a="http://schemas.openxmlformats.org/drawingml/2006/main">
              <a:ext uri="{FF2B5EF4-FFF2-40B4-BE49-F238E27FC236}">
                <a16:creationId xmlns:a16="http://schemas.microsoft.com/office/drawing/2014/main" id="{0B277870-6340-47F0-9010-5FF8983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another map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DCFD559-7283-4EB2-85B1-4C56681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7AF65738-C687-4BC9-ABA5-2BE97D59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DA206A84-95A3-4268-AED3-C403FB8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Trace one complete journey.">
            <a:extLst xmlns:a="http://schemas.openxmlformats.org/drawingml/2006/main">
              <a:ext uri="{FF2B5EF4-FFF2-40B4-BE49-F238E27FC236}">
                <a16:creationId xmlns:a16="http://schemas.microsoft.com/office/drawing/2014/main" id="{A1CC0C41-58F8-40F5-B8E2-DBA4E03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one complete journey.</a:t>
            </a:r>
          </a:p>
        </p:txBody>
      </p:sp>
      <p:sp>
        <p:nvSpPr>
          <p:cNvPr id="12" name="Identify one strong label.">
            <a:extLst xmlns:a="http://schemas.openxmlformats.org/drawingml/2006/main">
              <a:ext uri="{FF2B5EF4-FFF2-40B4-BE49-F238E27FC236}">
                <a16:creationId xmlns:a16="http://schemas.microsoft.com/office/drawing/2014/main" id="{6D745D9F-E9D6-4BEC-927C-74E49A5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Identify one strong label.</a:t>
            </a:r>
          </a:p>
        </p:txBody>
      </p:sp>
      <p:sp>
        <p:nvSpPr>
          <p:cNvPr id="13" name="Suggest one specific correction.">
            <a:extLst xmlns:a="http://schemas.openxmlformats.org/drawingml/2006/main">
              <a:ext uri="{FF2B5EF4-FFF2-40B4-BE49-F238E27FC236}">
                <a16:creationId xmlns:a16="http://schemas.microsoft.com/office/drawing/2014/main" id="{056FD350-B273-487D-8853-92F2E48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specific correction.</a:t>
            </a:r>
          </a:p>
        </p:txBody>
      </p:sp>
    </p:spTree>
    <p:extLst>
      <p:ext uri="{BB962C8B-B14F-4D97-AF65-F5344CB8AC3E}">
        <p14:creationId xmlns:p14="http://schemas.microsoft.com/office/powerpoint/2010/main" val="835549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06A6D343-E08B-4E68-816C-B3AC100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86FA400-C46C-40CF-BF62-CAD586F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FBA0052-9A0D-4720-BFBE-4F92242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BB03D29-CCAF-4FF2-9517-A9DC894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C54C80F-12E2-44AC-B51E-0F554500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Choose a model improvement">
            <a:extLst xmlns:a="http://schemas.openxmlformats.org/drawingml/2006/main">
              <a:ext uri="{FF2B5EF4-FFF2-40B4-BE49-F238E27FC236}">
                <a16:creationId xmlns:a16="http://schemas.microsoft.com/office/drawing/2014/main" id="{2F620153-1F18-455B-838C-0BF1EE9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model improvement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78B168C-FD8B-4643-B0A8-EEEEFFDC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DE4CA235-6876-43B8-89FA-7F173FF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C515E3C5-7C9E-428D-A572-818C573D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hould the next version add capillaries or chambers?">
            <a:extLst xmlns:a="http://schemas.openxmlformats.org/drawingml/2006/main">
              <a:ext uri="{FF2B5EF4-FFF2-40B4-BE49-F238E27FC236}">
                <a16:creationId xmlns:a16="http://schemas.microsoft.com/office/drawing/2014/main" id="{9C7F9EB8-9B1C-4264-8471-0FA0B36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Should the next version add capillaries or chambers?</a:t>
            </a:r>
          </a:p>
        </p:txBody>
      </p:sp>
      <p:sp>
        <p:nvSpPr>
          <p:cNvPr id="11" name="Explain what that extra detail would help show.">
            <a:extLst xmlns:a="http://schemas.openxmlformats.org/drawingml/2006/main">
              <a:ext uri="{FF2B5EF4-FFF2-40B4-BE49-F238E27FC236}">
                <a16:creationId xmlns:a16="http://schemas.microsoft.com/office/drawing/2014/main" id="{00314C95-2EDE-455F-A70E-292DFFFB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what that extra detail would help show.</a:t>
            </a:r>
          </a:p>
        </p:txBody>
      </p:sp>
    </p:spTree>
    <p:extLst>
      <p:ext uri="{BB962C8B-B14F-4D97-AF65-F5344CB8AC3E}">
        <p14:creationId xmlns:p14="http://schemas.microsoft.com/office/powerpoint/2010/main" val="719786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872B41D-CBDF-4E71-999D-DBEAD69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DEE95B2-4FA5-4FA8-BD99-C740643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51E27C5-6205-4836-A6DE-B04B37D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BDA4687-8C08-4DBA-B3D9-4A8CAEF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7C38281-B08F-48B6-A238-4E0B59C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E2746D7-90E7-4244-8C66-588D882B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route in three answers">
            <a:extLst xmlns:a="http://schemas.openxmlformats.org/drawingml/2006/main">
              <a:ext uri="{FF2B5EF4-FFF2-40B4-BE49-F238E27FC236}">
                <a16:creationId xmlns:a16="http://schemas.microsoft.com/office/drawing/2014/main" id="{E6E5AF9B-AACD-4958-B56B-625E5031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route in three answers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9C69A5B-AEEF-4B1E-9F79-B2E706A7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eart route rescue">
            <a:extLst xmlns:a="http://schemas.openxmlformats.org/drawingml/2006/main">
              <a:ext uri="{FF2B5EF4-FFF2-40B4-BE49-F238E27FC236}">
                <a16:creationId xmlns:a16="http://schemas.microsoft.com/office/drawing/2014/main" id="{926E9B41-B46C-4833-99E6-B61CE41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Heart route rescue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147B9A35-A3BF-48F2-8186-0B7D317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After the lungs, where does blood go?">
            <a:extLst xmlns:a="http://schemas.openxmlformats.org/drawingml/2006/main">
              <a:ext uri="{FF2B5EF4-FFF2-40B4-BE49-F238E27FC236}">
                <a16:creationId xmlns:a16="http://schemas.microsoft.com/office/drawing/2014/main" id="{1152F9B1-9822-40F6-89C8-BC6B598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After the lungs, where does blood go?</a:t>
            </a:r>
          </a:p>
        </p:txBody>
      </p:sp>
      <p:sp>
        <p:nvSpPr>
          <p:cNvPr id="12" name="E2. What makes a vessel an artery?">
            <a:extLst xmlns:a="http://schemas.openxmlformats.org/drawingml/2006/main">
              <a:ext uri="{FF2B5EF4-FFF2-40B4-BE49-F238E27FC236}">
                <a16:creationId xmlns:a16="http://schemas.microsoft.com/office/drawing/2014/main" id="{D427589F-C8D5-43EE-93DF-A4611223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What makes a vessel an artery?</a:t>
            </a:r>
          </a:p>
        </p:txBody>
      </p:sp>
      <p:sp>
        <p:nvSpPr>
          <p:cNvPr id="13" name="E3. What powers the movement of blood?">
            <a:extLst xmlns:a="http://schemas.openxmlformats.org/drawingml/2006/main">
              <a:ext uri="{FF2B5EF4-FFF2-40B4-BE49-F238E27FC236}">
                <a16:creationId xmlns:a16="http://schemas.microsoft.com/office/drawing/2014/main" id="{5D5476C4-B50C-4F86-8F61-1D27AC57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powers the movement of blood?</a:t>
            </a:r>
          </a:p>
        </p:txBody>
      </p:sp>
    </p:spTree>
    <p:extLst>
      <p:ext uri="{BB962C8B-B14F-4D97-AF65-F5344CB8AC3E}">
        <p14:creationId xmlns:p14="http://schemas.microsoft.com/office/powerpoint/2010/main" val="1302021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2026-09-08T23:11:11.0090000Z</dcterms:created>
  <dcterms:modified xsi:type="dcterms:W3CDTF">2026-09-08T23:11:11.0090000Z</dcterms:modified>
</coreProperties>
</file>