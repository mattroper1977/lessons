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d0165b60774e12" /><Relationship Type="http://schemas.openxmlformats.org/officeDocument/2006/relationships/extended-properties" Target="/docProps/app.xml" Id="Rf7fc79e8be5a4b9a" /><Relationship Type="http://schemas.openxmlformats.org/officeDocument/2006/relationships/officeDocument" Target="/ppt/presentation.xml" Id="Rb02f8287c8894e3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48b1645fe94349"/>
  </p:sldMasterIdLst>
  <p:notesMasterIdLst>
    <p:notesMasterId xmlns:r="http://schemas.openxmlformats.org/officeDocument/2006/relationships" r:id="R5a0f45695ee94105"/>
  </p:notesMasterIdLst>
  <p:sldIdLst>
    <p:sldId xmlns:r="http://schemas.openxmlformats.org/officeDocument/2006/relationships" id="256" r:id="Rc9d553f9411a42ee"/>
    <p:sldId xmlns:r="http://schemas.openxmlformats.org/officeDocument/2006/relationships" id="257" r:id="R17c631d7f0b44277"/>
    <p:sldId xmlns:r="http://schemas.openxmlformats.org/officeDocument/2006/relationships" id="258" r:id="R5df3278047214148"/>
    <p:sldId xmlns:r="http://schemas.openxmlformats.org/officeDocument/2006/relationships" id="259" r:id="Rbd732269596c4686"/>
    <p:sldId xmlns:r="http://schemas.openxmlformats.org/officeDocument/2006/relationships" id="260" r:id="R430fead4649a41b8"/>
    <p:sldId xmlns:r="http://schemas.openxmlformats.org/officeDocument/2006/relationships" id="261" r:id="R28da2b5a85cb4228"/>
    <p:sldId xmlns:r="http://schemas.openxmlformats.org/officeDocument/2006/relationships" id="262" r:id="R818b689cf6db4d2e"/>
    <p:sldId xmlns:r="http://schemas.openxmlformats.org/officeDocument/2006/relationships" id="263" r:id="Re0a4502cf029401e"/>
    <p:sldId xmlns:r="http://schemas.openxmlformats.org/officeDocument/2006/relationships" id="264" r:id="Rd061672712e744a6"/>
    <p:sldId xmlns:r="http://schemas.openxmlformats.org/officeDocument/2006/relationships" id="265" r:id="R1c093d78ef1c4a49"/>
    <p:sldId xmlns:r="http://schemas.openxmlformats.org/officeDocument/2006/relationships" id="266" r:id="R37c879c2044644f3"/>
    <p:sldId xmlns:r="http://schemas.openxmlformats.org/officeDocument/2006/relationships" id="267" r:id="R7f93e00b77094213"/>
    <p:sldId xmlns:r="http://schemas.openxmlformats.org/officeDocument/2006/relationships" id="268" r:id="R3923b157f0ff4cac"/>
    <p:sldId xmlns:r="http://schemas.openxmlformats.org/officeDocument/2006/relationships" id="269" r:id="R74c3823c6161418e"/>
    <p:sldId xmlns:r="http://schemas.openxmlformats.org/officeDocument/2006/relationships" id="270" r:id="Raaf1b12fa0634b80"/>
    <p:sldId xmlns:r="http://schemas.openxmlformats.org/officeDocument/2006/relationships" id="271" r:id="R084b44cd00f04ef0"/>
    <p:sldId xmlns:r="http://schemas.openxmlformats.org/officeDocument/2006/relationships" id="272" r:id="R17323f5edf204dd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3c1bd840c09419c" /><Relationship Type="http://schemas.openxmlformats.org/officeDocument/2006/relationships/slideMaster" Target="/ppt/slideMasters/slideMaster1.xml" Id="R7d48b1645fe94349" /><Relationship Type="http://schemas.openxmlformats.org/officeDocument/2006/relationships/notesMaster" Target="/ppt/notesMasters/notesMaster1.xml" Id="R5a0f45695ee94105" /><Relationship Type="http://schemas.openxmlformats.org/officeDocument/2006/relationships/presProps" Target="/ppt/presProps.xml" Id="R360e59e05bf4460c" /><Relationship Type="http://schemas.openxmlformats.org/officeDocument/2006/relationships/tableStyles" Target="/ppt/tableStyles.xml" Id="Rd30964abe74e46d4" /><Relationship Type="http://schemas.openxmlformats.org/officeDocument/2006/relationships/slide" Target="/ppt/slides/slide1.xml" Id="Rc9d553f9411a42ee" /><Relationship Type="http://schemas.openxmlformats.org/officeDocument/2006/relationships/slide" Target="/ppt/slides/slide2.xml" Id="R17c631d7f0b44277" /><Relationship Type="http://schemas.openxmlformats.org/officeDocument/2006/relationships/slide" Target="/ppt/slides/slide3.xml" Id="R5df3278047214148" /><Relationship Type="http://schemas.openxmlformats.org/officeDocument/2006/relationships/slide" Target="/ppt/slides/slide4.xml" Id="Rbd732269596c4686" /><Relationship Type="http://schemas.openxmlformats.org/officeDocument/2006/relationships/slide" Target="/ppt/slides/slide5.xml" Id="R430fead4649a41b8" /><Relationship Type="http://schemas.openxmlformats.org/officeDocument/2006/relationships/slide" Target="/ppt/slides/slide6.xml" Id="R28da2b5a85cb4228" /><Relationship Type="http://schemas.openxmlformats.org/officeDocument/2006/relationships/slide" Target="/ppt/slides/slide7.xml" Id="R818b689cf6db4d2e" /><Relationship Type="http://schemas.openxmlformats.org/officeDocument/2006/relationships/slide" Target="/ppt/slides/slide8.xml" Id="Re0a4502cf029401e" /><Relationship Type="http://schemas.openxmlformats.org/officeDocument/2006/relationships/slide" Target="/ppt/slides/slide9.xml" Id="Rd061672712e744a6" /><Relationship Type="http://schemas.openxmlformats.org/officeDocument/2006/relationships/slide" Target="/ppt/slides/slide10.xml" Id="R1c093d78ef1c4a49" /><Relationship Type="http://schemas.openxmlformats.org/officeDocument/2006/relationships/slide" Target="/ppt/slides/slide11.xml" Id="R37c879c2044644f3" /><Relationship Type="http://schemas.openxmlformats.org/officeDocument/2006/relationships/slide" Target="/ppt/slides/slide12.xml" Id="R7f93e00b77094213" /><Relationship Type="http://schemas.openxmlformats.org/officeDocument/2006/relationships/slide" Target="/ppt/slides/slide13.xml" Id="R3923b157f0ff4cac" /><Relationship Type="http://schemas.openxmlformats.org/officeDocument/2006/relationships/slide" Target="/ppt/slides/slide14.xml" Id="R74c3823c6161418e" /><Relationship Type="http://schemas.openxmlformats.org/officeDocument/2006/relationships/slide" Target="/ppt/slides/slide15.xml" Id="Raaf1b12fa0634b80" /><Relationship Type="http://schemas.openxmlformats.org/officeDocument/2006/relationships/slide" Target="/ppt/slides/slide16.xml" Id="R084b44cd00f04ef0" /><Relationship Type="http://schemas.openxmlformats.org/officeDocument/2006/relationships/slide" Target="/ppt/slides/slide17.xml" Id="R17323f5edf204dd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ba57ad6d1b43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c0ba4b8c2b4e9a" /><Relationship Type="http://schemas.openxmlformats.org/officeDocument/2006/relationships/notesMaster" Target="/ppt/notesMasters/notesMaster1.xml" Id="Ra850917e472d428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a0a0ae05bc74da3" /><Relationship Type="http://schemas.openxmlformats.org/officeDocument/2006/relationships/notesMaster" Target="/ppt/notesMasters/notesMaster1.xml" Id="R9628694edc5142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90a4b5c1b846f5" /><Relationship Type="http://schemas.openxmlformats.org/officeDocument/2006/relationships/notesMaster" Target="/ppt/notesMasters/notesMaster1.xml" Id="Rbf80cf54bb2e48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553837cba74cd9" /><Relationship Type="http://schemas.openxmlformats.org/officeDocument/2006/relationships/notesMaster" Target="/ppt/notesMasters/notesMaster1.xml" Id="R9e595f3cb6e945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bd15fceeaa4c09" /><Relationship Type="http://schemas.openxmlformats.org/officeDocument/2006/relationships/notesMaster" Target="/ppt/notesMasters/notesMaster1.xml" Id="Rf8702bf9bb4e48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5e3924c4c342bd" /><Relationship Type="http://schemas.openxmlformats.org/officeDocument/2006/relationships/notesMaster" Target="/ppt/notesMasters/notesMaster1.xml" Id="R6565234a3f0e4d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7b5166c3b784f4b" /><Relationship Type="http://schemas.openxmlformats.org/officeDocument/2006/relationships/notesMaster" Target="/ppt/notesMasters/notesMaster1.xml" Id="R34020174aaf24f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109000982f43a6" /><Relationship Type="http://schemas.openxmlformats.org/officeDocument/2006/relationships/notesMaster" Target="/ppt/notesMasters/notesMaster1.xml" Id="Rbc6df02476d24c8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c4fc4e79614791" /><Relationship Type="http://schemas.openxmlformats.org/officeDocument/2006/relationships/notesMaster" Target="/ppt/notesMasters/notesMaster1.xml" Id="Rf806a340d8d842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67fd6f4ec3a4aca" /><Relationship Type="http://schemas.openxmlformats.org/officeDocument/2006/relationships/notesMaster" Target="/ppt/notesMasters/notesMaster1.xml" Id="R0e4f761ae21a43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8a8255ebff4449" /><Relationship Type="http://schemas.openxmlformats.org/officeDocument/2006/relationships/notesMaster" Target="/ppt/notesMasters/notesMaster1.xml" Id="R33cbab04b45e4ed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7906dd7bc244fdf" /><Relationship Type="http://schemas.openxmlformats.org/officeDocument/2006/relationships/notesMaster" Target="/ppt/notesMasters/notesMaster1.xml" Id="Rd5d9be9a0ef94ae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7a125a308034400" /><Relationship Type="http://schemas.openxmlformats.org/officeDocument/2006/relationships/notesMaster" Target="/ppt/notesMasters/notesMaster1.xml" Id="R3d889cfcac0946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dc2a228e3c4d20" /><Relationship Type="http://schemas.openxmlformats.org/officeDocument/2006/relationships/notesMaster" Target="/ppt/notesMasters/notesMaster1.xml" Id="R510cd4dde43140c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77a068a6fed40ac" /><Relationship Type="http://schemas.openxmlformats.org/officeDocument/2006/relationships/notesMaster" Target="/ppt/notesMasters/notesMaster1.xml" Id="R492358f7fc5a4a8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a26552fb91449a5" /><Relationship Type="http://schemas.openxmlformats.org/officeDocument/2006/relationships/notesMaster" Target="/ppt/notesMasters/notesMaster1.xml" Id="Rb295ba92f4eb4fe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fb74095d40f44bc" /><Relationship Type="http://schemas.openxmlformats.org/officeDocument/2006/relationships/notesMaster" Target="/ppt/notesMasters/notesMaster1.xml" Id="R444929245ae8417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8B · Do</a:t>
            </a:r>
          </a:p>
          <a:p xmlns:a="http://schemas.openxmlformats.org/drawingml/2006/main">
            <a:r>
              <a:t>Learning objective: I can use a rotating-Earth model to collect and explain evidence across one complete day-night cycle.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Record four clear positions for one place on Earth.</a:t>
            </a:r>
          </a:p>
          <a:p xmlns:a="http://schemas.openxmlformats.org/drawingml/2006/main">
            <a:r>
              <a:t>Link each position to light, darkness and the observer's view.</a:t>
            </a:r>
          </a:p>
          <a:p xmlns:a="http://schemas.openxmlformats.org/drawingml/2006/main">
            <a:r>
              <a:t>Use the evidence to show how rotation explains the observed day-night pattern without changing the lamp.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Overview: 0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Read setup, safety and sensory notes before pupils enter.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Set predictable Space and keep the learning goal visible.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GROW · Science · Week 8B · Do</a:t>
            </a:r>
          </a:p>
          <a:p xmlns:a="http://schemas.openxmlformats.org/drawingml/2006/main">
            <a:r>
              <a:t>Learning objective: I can use a rotating-Earth model to collect and explain evidence across one complete day-night cycle.</a:t>
            </a:r>
          </a:p>
          <a:p xmlns:a="http://schemas.openxmlformats.org/drawingml/2006/main">
            <a:r>
              <a:t>Success criteria</a:t>
            </a:r>
          </a:p>
          <a:p xmlns:a="http://schemas.openxmlformats.org/drawingml/2006/main">
            <a:r>
              <a:t>Record four clear positions for one place on Earth.</a:t>
            </a:r>
          </a:p>
          <a:p xmlns:a="http://schemas.openxmlformats.org/drawingml/2006/main">
            <a:r>
              <a:t>Link each position to light, darkness and the observer's view.</a:t>
            </a:r>
          </a:p>
          <a:p xmlns:a="http://schemas.openxmlformats.org/drawingml/2006/main">
            <a:r>
              <a:t>Use the evidence to show how rotation explains the observed day-night pattern without changing the lamp.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Arrival: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Wait, regulate and retrieve through the lightest workable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If recall is inaccessible, point to one retrieval sentence; do not teach today’s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Retrieve only what has already been taught</a:t>
            </a:r>
          </a:p>
          <a:p xmlns:a="http://schemas.openxmlformats.org/drawingml/2006/main">
            <a:r>
              <a:t>In Explore, Earth rotated while the model Sun stayed fixed, creating day, night and apparent solar movement.</a:t>
            </a:r>
          </a:p>
          <a:p xmlns:a="http://schemas.openxmlformats.org/drawingml/2006/main">
            <a:r>
              <a:t>Prior week: point to or describe one useful model.</a:t>
            </a:r>
          </a:p>
          <a:p xmlns:a="http://schemas.openxmlformats.org/drawingml/2006/main">
            <a:r>
              <a:t>Older learning: what makes an observation useful as evidence?</a:t>
            </a:r>
          </a:p>
          <a:p xmlns:a="http://schemas.openxmlformats.org/drawingml/2006/main">
            <a:r>
              <a:t>Lead-in: what do you notice in today’s first picture?</a:t>
            </a:r>
          </a:p>
          <a:p xmlns:a="http://schemas.openxmlformats.org/drawingml/2006/main">
            <a:r>
              <a:t>New to this class, absent, or not sure? Everything needed is in the retrieval box above. Read it, point to it or ask a familiar adult to read it exactly.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Last lesson: what moved in our model and what stayed fixed?</a:t>
            </a:r>
          </a:p>
          <a:p xmlns:a="http://schemas.openxmlformats.org/drawingml/2006/main">
            <a:r>
              <a:t>Last lesson: why does the Sun appear to cross the sky?</a:t>
            </a:r>
          </a:p>
          <a:p xmlns:a="http://schemas.openxmlformats.org/drawingml/2006/main">
            <a:r>
              <a:t>Last week: how did observer position matter in the Moon model?</a:t>
            </a:r>
          </a:p>
          <a:p xmlns:a="http://schemas.openxmlformats.org/drawingml/2006/main">
            <a:r>
              <a:t>Lead-in: what evidence would prove that a whole cycle was observed?</a:t>
            </a:r>
          </a:p>
          <a:p xmlns:a="http://schemas.openxmlformats.org/drawingml/2006/main">
            <a:r>
              <a:t>Read-aloud route: a familiar adult may read the task exactly while the text remains visible. No device voice or media permission is required.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Observation 1: lamp on, marker at the light–dark boundary.</a:t>
            </a:r>
          </a:p>
          <a:p xmlns:a="http://schemas.openxmlformats.org/drawingml/2006/main">
            <a:r>
              <a:t>Record: boundary . Lamp on.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Observation 2: lamp still on, marker fully lit.</a:t>
            </a:r>
          </a:p>
          <a:p xmlns:a="http://schemas.openxmlformats.org/drawingml/2006/main">
            <a:r>
              <a:t>Record: lit . Lamp on.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Observation 3: lamp remains on, marker unlit.</a:t>
            </a:r>
          </a:p>
          <a:p xmlns:a="http://schemas.openxmlformats.org/drawingml/2006/main">
            <a:r>
              <a:t>Record: unlit . Lamp still on. So what made it dark?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Agree: thick clouds create night.</a:t>
            </a:r>
          </a:p>
          <a:p xmlns:a="http://schemas.openxmlformats.org/drawingml/2006/main">
            <a:r>
              <a:t>Track a marked place as Earth turns, with the lamp kept on.</a:t>
            </a:r>
          </a:p>
          <a:p xmlns:a="http://schemas.openxmlformats.org/drawingml/2006/main">
            <a:r>
              <a:t>Use a brighter lamp so night disappears.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Observation 1: lamp on, marker at the light–dark boundary.</a:t>
            </a:r>
          </a:p>
          <a:p xmlns:a="http://schemas.openxmlformats.org/drawingml/2006/main">
            <a:r>
              <a:t>Record: boundary . Lamp on.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Observation 2: lamp still on, marker fully lit.</a:t>
            </a:r>
          </a:p>
          <a:p xmlns:a="http://schemas.openxmlformats.org/drawingml/2006/main">
            <a:r>
              <a:t>Record: lit . Lamp on.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Observation 3: lamp remains on, marker unlit.</a:t>
            </a:r>
          </a:p>
          <a:p xmlns:a="http://schemas.openxmlformats.org/drawingml/2006/main">
            <a:r>
              <a:t>Record: unlit . Lamp still on. So what made it dark?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Agree: thick clouds create night.</a:t>
            </a:r>
          </a:p>
          <a:p xmlns:a="http://schemas.openxmlformats.org/drawingml/2006/main">
            <a:r>
              <a:t>Track a marked place as Earth turns, with the lamp kept on.</a:t>
            </a:r>
          </a:p>
          <a:p xmlns:a="http://schemas.openxmlformats.org/drawingml/2006/main">
            <a:r>
              <a:t>Use a brighter lamp so night disappears.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Starter: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curiosity: receive every first idea without judgement.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‘What makes you think that?’ and preserve the prediction for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LOCAL VISUAL HOOK · FRAME 1</a:t>
            </a:r>
          </a:p>
          <a:p xmlns:a="http://schemas.openxmlformats.org/drawingml/2006/main">
            <a:r>
              <a:t>Observation 1: lamp on, marker at the light–dark boundary.</a:t>
            </a:r>
          </a:p>
          <a:p xmlns:a="http://schemas.openxmlformats.org/drawingml/2006/main">
            <a:r>
              <a:t>Record: boundary . Lamp on.</a:t>
            </a:r>
          </a:p>
          <a:p xmlns:a="http://schemas.openxmlformats.org/drawingml/2006/main">
            <a:r>
              <a:t>LOCAL VISUAL HOOK · FRAME 2</a:t>
            </a:r>
          </a:p>
          <a:p xmlns:a="http://schemas.openxmlformats.org/drawingml/2006/main">
            <a:r>
              <a:t>Observation 2: lamp still on, marker fully lit.</a:t>
            </a:r>
          </a:p>
          <a:p xmlns:a="http://schemas.openxmlformats.org/drawingml/2006/main">
            <a:r>
              <a:t>Record: lit . Lamp on.</a:t>
            </a:r>
          </a:p>
          <a:p xmlns:a="http://schemas.openxmlformats.org/drawingml/2006/main">
            <a:r>
              <a:t>LOCAL VISUAL HOOK · FRAME 3</a:t>
            </a:r>
          </a:p>
          <a:p xmlns:a="http://schemas.openxmlformats.org/drawingml/2006/main">
            <a:r>
              <a:t>Observation 3: lamp remains on, marker unlit.</a:t>
            </a:r>
          </a:p>
          <a:p xmlns:a="http://schemas.openxmlformats.org/drawingml/2006/main">
            <a:r>
              <a:t>Record: unlit . Lamp still on. So what made it dark?</a:t>
            </a:r>
          </a:p>
          <a:p xmlns:a="http://schemas.openxmlformats.org/drawingml/2006/main">
            <a:r>
              <a:t>Commit one first idea. Predictions are held, not marked. Pointing, selecting, saying or signing all count.</a:t>
            </a:r>
          </a:p>
          <a:p xmlns:a="http://schemas.openxmlformats.org/drawingml/2006/main">
            <a:r>
              <a:t>Agree: thick clouds create night.</a:t>
            </a:r>
          </a:p>
          <a:p xmlns:a="http://schemas.openxmlformats.org/drawingml/2006/main">
            <a:r>
              <a:t>Track a marked place as Earth turns, with the lamp kept on.</a:t>
            </a:r>
          </a:p>
          <a:p xmlns:a="http://schemas.openxmlformats.org/drawingml/2006/main">
            <a:r>
              <a:t>Use a brighter lamp so night disappears.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CYCLE repeating sequence a sequence that returns to its starting point</a:t>
            </a:r>
          </a:p>
          <a:p xmlns:a="http://schemas.openxmlformats.org/drawingml/2006/main">
            <a:r>
              <a:t>ROTATION one full turn the movement of a body turning on its axis</a:t>
            </a:r>
          </a:p>
          <a:p xmlns:a="http://schemas.openxmlformats.org/drawingml/2006/main">
            <a:r>
              <a:t>EVIDENCE what we observed information used to support or challenge an explanation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Keep one finger on the marker. At each pause say lit or unlit first, then name the time position.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Quarter turns compress continuous rotation and do not show exact local times, seasons, weather or Earth's scale.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Place one marker on the globe and start it at sunrise, where it crosses into the lit half.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Turn the globe west to east in equal quarter turns. Pause and record whether the marker is lit and which way it faces.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Return the marker to the start. Four ordered observations now represent one simplified 24-hour cycle.</a:t>
            </a:r>
          </a:p>
          <a:p xmlns:a="http://schemas.openxmlformats.org/drawingml/2006/main">
            <a:r>
              <a:t>24-hour control room · turn, record, test</a:t>
            </a:r>
          </a:p>
          <a:p xmlns:a="http://schemas.openxmlformats.org/drawingml/2006/main">
            <a:r>
              <a:t>Turn a quarter at a time. Each stop writes one row of evidence. Then run the two tests.</a:t>
            </a:r>
          </a:p>
          <a:p xmlns:a="http://schemas.openxmlformats.org/drawingml/2006/main">
            <a:r>
              <a:t>Cloud test: OFF</a:t>
            </a:r>
          </a:p>
          <a:p xmlns:a="http://schemas.openxmlformats.org/drawingml/2006/main">
            <a:r>
              <a:t>Lamp: ON</a:t>
            </a:r>
          </a:p>
          <a:p xmlns:a="http://schemas.openxmlformats.org/drawingml/2006/main">
            <a:r>
              <a:t>↺ Reset</a:t>
            </a:r>
          </a:p>
          <a:p xmlns:a="http://schemas.openxmlformats.org/drawingml/2006/main">
            <a:r>
              <a:t>Stop 1 logged: boundary · entering light · sunrise.</a:t>
            </a:r>
          </a:p>
          <a:p xmlns:a="http://schemas.openxmlformats.org/drawingml/2006/main">
            <a:r>
              <a:t>Cloud test: a cloud over our place at noon does NOT make night — it is still on the lit half. Lamp test: turn the lamp off and the whole Earth is dark — that is not what night 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CYCLE repeating sequence a sequence that returns to its starting point</a:t>
            </a:r>
          </a:p>
          <a:p xmlns:a="http://schemas.openxmlformats.org/drawingml/2006/main">
            <a:r>
              <a:t>ROTATION one full turn the movement of a body turning on its axis</a:t>
            </a:r>
          </a:p>
          <a:p xmlns:a="http://schemas.openxmlformats.org/drawingml/2006/main">
            <a:r>
              <a:t>EVIDENCE what we observed information used to support or challenge an explanation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Keep one finger on the marker. At each pause say lit or unlit first, then name the time position.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Quarter turns compress continuous rotation and do not show exact local times, seasons, weather or Earth's scale.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Place one marker on the globe and start it at sunrise, where it crosses into the lit half.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Turn the globe west to east in equal quarter turns. Pause and record whether the marker is lit and which way it faces.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Return the marker to the start. Four ordered observations now represent one simplified 24-hour cycle.</a:t>
            </a:r>
          </a:p>
          <a:p xmlns:a="http://schemas.openxmlformats.org/drawingml/2006/main">
            <a:r>
              <a:t>24-hour control room · turn, record, test</a:t>
            </a:r>
          </a:p>
          <a:p xmlns:a="http://schemas.openxmlformats.org/drawingml/2006/main">
            <a:r>
              <a:t>Turn a quarter at a time. Each stop writes one row of evidence. Then run the two tests.</a:t>
            </a:r>
          </a:p>
          <a:p xmlns:a="http://schemas.openxmlformats.org/drawingml/2006/main">
            <a:r>
              <a:t>Cloud test: OFF</a:t>
            </a:r>
          </a:p>
          <a:p xmlns:a="http://schemas.openxmlformats.org/drawingml/2006/main">
            <a:r>
              <a:t>Lamp: ON</a:t>
            </a:r>
          </a:p>
          <a:p xmlns:a="http://schemas.openxmlformats.org/drawingml/2006/main">
            <a:r>
              <a:t>↺ Reset</a:t>
            </a:r>
          </a:p>
          <a:p xmlns:a="http://schemas.openxmlformats.org/drawingml/2006/main">
            <a:r>
              <a:t>Stop 1 logged: boundary · entering light · sunrise.</a:t>
            </a:r>
          </a:p>
          <a:p xmlns:a="http://schemas.openxmlformats.org/drawingml/2006/main">
            <a:r>
              <a:t>Cloud test: a cloud over our place at noon does NOT make night — it is still on the lit half. Lamp test: turn the lamp off and the whole Earth is dark — that is not what night 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I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Let the teacher/model carry the explanation; pupils watch, point or track.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Use a visual cue only if access is the barrier, then fade 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CYCLE repeating sequence a sequence that returns to its starting point</a:t>
            </a:r>
          </a:p>
          <a:p xmlns:a="http://schemas.openxmlformats.org/drawingml/2006/main">
            <a:r>
              <a:t>ROTATION one full turn the movement of a body turning on its axis</a:t>
            </a:r>
          </a:p>
          <a:p xmlns:a="http://schemas.openxmlformats.org/drawingml/2006/main">
            <a:r>
              <a:t>EVIDENCE what we observed information used to support or challenge an explanation</a:t>
            </a:r>
          </a:p>
          <a:p xmlns:a="http://schemas.openxmlformats.org/drawingml/2006/main">
            <a:r>
              <a:t>WHAT THIS MODEL HELPS US SEE</a:t>
            </a:r>
          </a:p>
          <a:p xmlns:a="http://schemas.openxmlformats.org/drawingml/2006/main">
            <a:r>
              <a:t>Keep one finger on the marker. At each pause say lit or unlit first, then name the time position.</a:t>
            </a:r>
          </a:p>
          <a:p xmlns:a="http://schemas.openxmlformats.org/drawingml/2006/main">
            <a:r>
              <a:t>WHAT THIS MODEL DOES NOT SHOW</a:t>
            </a:r>
          </a:p>
          <a:p xmlns:a="http://schemas.openxmlformats.org/drawingml/2006/main">
            <a:r>
              <a:t>Quarter turns compress continuous rotation and do not show exact local times, seasons, weather or Earth's scale.</a:t>
            </a:r>
          </a:p>
          <a:p xmlns:a="http://schemas.openxmlformats.org/drawingml/2006/main">
            <a:r>
              <a:t>Step 1</a:t>
            </a:r>
          </a:p>
          <a:p xmlns:a="http://schemas.openxmlformats.org/drawingml/2006/main">
            <a:r>
              <a:t>Place one marker on the globe and start it at sunrise, where it crosses into the lit half.</a:t>
            </a:r>
          </a:p>
          <a:p xmlns:a="http://schemas.openxmlformats.org/drawingml/2006/main">
            <a:r>
              <a:t>Step 2</a:t>
            </a:r>
          </a:p>
          <a:p xmlns:a="http://schemas.openxmlformats.org/drawingml/2006/main">
            <a:r>
              <a:t>Turn the globe west to east in equal quarter turns. Pause and record whether the marker is lit and which way it faces.</a:t>
            </a:r>
          </a:p>
          <a:p xmlns:a="http://schemas.openxmlformats.org/drawingml/2006/main">
            <a:r>
              <a:t>Step 3</a:t>
            </a:r>
          </a:p>
          <a:p xmlns:a="http://schemas.openxmlformats.org/drawingml/2006/main">
            <a:r>
              <a:t>Return the marker to the start. Four ordered observations now represent one simplified 24-hour cycle.</a:t>
            </a:r>
          </a:p>
          <a:p xmlns:a="http://schemas.openxmlformats.org/drawingml/2006/main">
            <a:r>
              <a:t>24-hour control room · turn, record, test</a:t>
            </a:r>
          </a:p>
          <a:p xmlns:a="http://schemas.openxmlformats.org/drawingml/2006/main">
            <a:r>
              <a:t>Turn a quarter at a time. Each stop writes one row of evidence. Then run the two tests.</a:t>
            </a:r>
          </a:p>
          <a:p xmlns:a="http://schemas.openxmlformats.org/drawingml/2006/main">
            <a:r>
              <a:t>Cloud test: OFF</a:t>
            </a:r>
          </a:p>
          <a:p xmlns:a="http://schemas.openxmlformats.org/drawingml/2006/main">
            <a:r>
              <a:t>Lamp: ON</a:t>
            </a:r>
          </a:p>
          <a:p xmlns:a="http://schemas.openxmlformats.org/drawingml/2006/main">
            <a:r>
              <a:t>↺ Reset</a:t>
            </a:r>
          </a:p>
          <a:p xmlns:a="http://schemas.openxmlformats.org/drawingml/2006/main">
            <a:r>
              <a:t>Stop 1 logged: boundary · entering light · sunrise.</a:t>
            </a:r>
          </a:p>
          <a:p xmlns:a="http://schemas.openxmlformats.org/drawingml/2006/main">
            <a:r>
              <a:t>Cloud test: a cloud over our place at noon does NOT make night — it is still on the lit half. Lamp test: turn the lamp off and the whole Earth is dark — that is not what night 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We do: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Scan every response mode. Do not infer understanding from handwriting or confidence.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Secure: transfer. Mixed: contrast. Misconception: counterexample then a fresh question.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Everyone commits before explanation.</a:t>
            </a:r>
          </a:p>
          <a:p xmlns:a="http://schemas.openxmlformats.org/drawingml/2006/main">
            <a:r>
              <a:t>Use a button, point, say/sign or let an adult operate the chosen button. A retry is information, not a penalty.</a:t>
            </a:r>
          </a:p>
          <a:p xmlns:a="http://schemas.openxmlformats.org/drawingml/2006/main">
            <a:r>
              <a:t>Audience move:</a:t>
            </a:r>
          </a:p>
          <a:p xmlns:a="http://schemas.openxmlformats.org/drawingml/2006/main">
            <a:r>
              <a:t>The marker rotated onto the side facing away from the lamp.</a:t>
            </a:r>
          </a:p>
          <a:p xmlns:a="http://schemas.openxmlformats.org/drawingml/2006/main">
            <a:r>
              <a:t>The lamp stopped producing light for half the turn.</a:t>
            </a:r>
          </a:p>
          <a:p xmlns:a="http://schemas.openxmlformats.org/drawingml/2006/main">
            <a:r>
              <a:t>Clouds formed on the globe during the turn.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Add an observer arrow at each marker position to show which way the local person faces.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Describe the Sun's apparent east-to-west position without claiming that the lamp moved; west-to-east Earth rotation creates that observed direction.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Link all four rows: because Earth rotated, the observer experienced sunrise, day, sunset and night.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Keep one finger on the marker. At each pause say lit or unlit first, then name the time position.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I do 2: 3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one complete evidence-to-explanation sentence, then pause.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Keep the science words; change density, modality or adult role before changing the goal.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Connection: the model is useful when its visible pattern is translated into a scientific explanation.</a:t>
            </a:r>
          </a:p>
          <a:p xmlns:a="http://schemas.openxmlformats.org/drawingml/2006/main">
            <a:r>
              <a:t>Connection 1</a:t>
            </a:r>
          </a:p>
          <a:p xmlns:a="http://schemas.openxmlformats.org/drawingml/2006/main">
            <a:r>
              <a:t>Add an observer arrow at each marker position to show which way the local person faces.</a:t>
            </a:r>
          </a:p>
          <a:p xmlns:a="http://schemas.openxmlformats.org/drawingml/2006/main">
            <a:r>
              <a:t>Connection 2</a:t>
            </a:r>
          </a:p>
          <a:p xmlns:a="http://schemas.openxmlformats.org/drawingml/2006/main">
            <a:r>
              <a:t>Describe the Sun's apparent east-to-west position without claiming that the lamp moved; west-to-east Earth rotation creates that observed direction.</a:t>
            </a:r>
          </a:p>
          <a:p xmlns:a="http://schemas.openxmlformats.org/drawingml/2006/main">
            <a:r>
              <a:t>Connection 3</a:t>
            </a:r>
          </a:p>
          <a:p xmlns:a="http://schemas.openxmlformats.org/drawingml/2006/main">
            <a:r>
              <a:t>Link all four rows: because Earth rotated, the observer experienced sunrise, day, sunset and night.</a:t>
            </a:r>
          </a:p>
          <a:p xmlns:a="http://schemas.openxmlformats.org/drawingml/2006/main">
            <a:r>
              <a:t>MODEL STRENGTH</a:t>
            </a:r>
          </a:p>
          <a:p xmlns:a="http://schemas.openxmlformats.org/drawingml/2006/main">
            <a:r>
              <a:t>Keep one finger on the marker. At each pause say lit or unlit first, then name the time position.</a:t>
            </a:r>
          </a:p>
          <a:p xmlns:a="http://schemas.openxmlformats.org/drawingml/2006/main">
            <a:r>
              <a:t>MODEL LIMIT</a:t>
            </a:r>
          </a:p>
          <a:p xmlns:a="http://schemas.openxmlformats.org/drawingml/2006/main">
            <a:r>
              <a:t>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each control-room observation to the correct point in the cycle.</a:t>
            </a:r>
          </a:p>
          <a:p xmlns:a="http://schemas.openxmlformats.org/drawingml/2006/main">
            <a:r>
              <a:t>Select one observation. Place it at the matching cycle point. Repair any mismatch using lit or unlit evidence. Freeze the record and state the repeating pattern.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Control row 1 Marker crosses the boundary from unlit to lit; the model Sun seems low in the east.</a:t>
            </a:r>
          </a:p>
          <a:p xmlns:a="http://schemas.openxmlformats.org/drawingml/2006/main">
            <a:r>
              <a:t>Control row 2 Marker faces the lamp and is well inside the lit half; the model Sun seems high.</a:t>
            </a:r>
          </a:p>
          <a:p xmlns:a="http://schemas.openxmlformats.org/drawingml/2006/main">
            <a:r>
              <a:t>Control row 3 Marker crosses from lit to unlit; the model Sun seems low in the west.</a:t>
            </a:r>
          </a:p>
          <a:p xmlns:a="http://schemas.openxmlformats.org/drawingml/2006/main">
            <a:r>
              <a:t>Control row 4 Marker faces directly away from the lamp and is well inside the unlit half.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Sunrise</a:t>
            </a:r>
          </a:p>
          <a:p xmlns:a="http://schemas.openxmlformats.org/drawingml/2006/main">
            <a:r>
              <a:t>Middle of the day</a:t>
            </a:r>
          </a:p>
          <a:p xmlns:a="http://schemas.openxmlformats.org/drawingml/2006/main">
            <a:r>
              <a:t>Sunset</a:t>
            </a:r>
          </a:p>
          <a:p xmlns:a="http://schemas.openxmlformats.org/drawingml/2006/main">
            <a:r>
              <a:t>Middle of the night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Model glitch: clouds make night by covering the Sun.</a:t>
            </a:r>
          </a:p>
          <a:p xmlns:a="http://schemas.openxmlformats.org/drawingml/2006/main">
            <a:r>
              <a:t>Keep it: darkness always means cloud cover.</a:t>
            </a:r>
          </a:p>
          <a:p xmlns:a="http://schemas.openxmlformats.org/drawingml/2006/main">
            <a:r>
              <a:t>Repair it: rotation moves a place onto Earth's unlit side.</a:t>
            </a:r>
          </a:p>
          <a:p xmlns:a="http://schemas.openxmlformats.org/drawingml/2006/main">
            <a:r>
              <a:t>Repair it: the Sun switches off each night.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We do 2: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pupil operation and thinking; support handling only where needed.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what changed and what stayed the same before supplying a scientific word.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Ask every learner to commit privately before feedback. Use the pupil cards, table or evidence sheet; pointing, saying, signing and directing a partner are valid routes.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Commit each control-room observation to the correct point in the cycle.</a:t>
            </a:r>
          </a:p>
          <a:p xmlns:a="http://schemas.openxmlformats.org/drawingml/2006/main">
            <a:r>
              <a:t>Select one observation. Place it at the matching cycle point. Repair any mismatch using lit or unlit evidence. Freeze the record and state the repeating pattern.</a:t>
            </a:r>
          </a:p>
          <a:p xmlns:a="http://schemas.openxmlformats.org/drawingml/2006/main">
            <a:r>
              <a:t>Cards to place</a:t>
            </a:r>
          </a:p>
          <a:p xmlns:a="http://schemas.openxmlformats.org/drawingml/2006/main">
            <a:r>
              <a:t>Control row 1 Marker crosses the boundary from unlit to lit; the model Sun seems low in the east.</a:t>
            </a:r>
          </a:p>
          <a:p xmlns:a="http://schemas.openxmlformats.org/drawingml/2006/main">
            <a:r>
              <a:t>Control row 2 Marker faces the lamp and is well inside the lit half; the model Sun seems high.</a:t>
            </a:r>
          </a:p>
          <a:p xmlns:a="http://schemas.openxmlformats.org/drawingml/2006/main">
            <a:r>
              <a:t>Control row 3 Marker crosses from lit to unlit; the model Sun seems low in the west.</a:t>
            </a:r>
          </a:p>
          <a:p xmlns:a="http://schemas.openxmlformats.org/drawingml/2006/main">
            <a:r>
              <a:t>Control row 4 Marker faces directly away from the lamp and is well inside the unlit half.</a:t>
            </a:r>
          </a:p>
          <a:p xmlns:a="http://schemas.openxmlformats.org/drawingml/2006/main">
            <a:r>
              <a:t>Matching groups</a:t>
            </a:r>
          </a:p>
          <a:p xmlns:a="http://schemas.openxmlformats.org/drawingml/2006/main">
            <a:r>
              <a:t>Sunrise</a:t>
            </a:r>
          </a:p>
          <a:p xmlns:a="http://schemas.openxmlformats.org/drawingml/2006/main">
            <a:r>
              <a:t>Middle of the day</a:t>
            </a:r>
          </a:p>
          <a:p xmlns:a="http://schemas.openxmlformats.org/drawingml/2006/main">
            <a:r>
              <a:t>Sunset</a:t>
            </a:r>
          </a:p>
          <a:p xmlns:a="http://schemas.openxmlformats.org/drawingml/2006/main">
            <a:r>
              <a:t>Middle of the night</a:t>
            </a:r>
          </a:p>
          <a:p xmlns:a="http://schemas.openxmlformats.org/drawingml/2006/main">
            <a:r>
              <a:t>Freeze evidence</a:t>
            </a:r>
          </a:p>
          <a:p xmlns:a="http://schemas.openxmlformats.org/drawingml/2006/main">
            <a:r>
              <a:t>↺ Reset and retry</a:t>
            </a:r>
          </a:p>
          <a:p xmlns:a="http://schemas.openxmlformats.org/drawingml/2006/main">
            <a:r>
              <a:t>Science glitch · find and repair it</a:t>
            </a:r>
          </a:p>
          <a:p xmlns:a="http://schemas.openxmlformats.org/drawingml/2006/main">
            <a:r>
              <a:t>Claim: Model glitch: clouds make night by covering the Sun.</a:t>
            </a:r>
          </a:p>
          <a:p xmlns:a="http://schemas.openxmlformats.org/drawingml/2006/main">
            <a:r>
              <a:t>Keep it: darkness always means cloud cover.</a:t>
            </a:r>
          </a:p>
          <a:p xmlns:a="http://schemas.openxmlformats.org/drawingml/2006/main">
            <a:r>
              <a:t>Repair it: rotation moves a place onto Earth's unlit side.</a:t>
            </a:r>
          </a:p>
          <a:p xmlns:a="http://schemas.openxmlformats.org/drawingml/2006/main">
            <a:r>
              <a:t>Repair it: the Sun switches off each night.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Cool LED lamp, marked globe or ball, four-row evidence sheet, arrows and pencil.</a:t>
            </a:r>
          </a:p>
          <a:p xmlns:a="http://schemas.openxmlformats.org/drawingml/2006/main">
            <a:r>
              <a:t>Same outcome: I can use a rotating-Earth model to collect and explain evidence across one complete day-night cycle.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Advance the included sequence one frame at a time and capture four labelled observations before writing the conclusion.</a:t>
            </a:r>
          </a:p>
          <a:p xmlns:a="http://schemas.openxmlformats.org/drawingml/2006/main">
            <a:r>
              <a:t>Same evidence: Four ordered rows recording marker position, light state, apparent Sun position and one final because conclusion.</a:t>
            </a:r>
          </a:p>
          <a:p xmlns:a="http://schemas.openxmlformats.org/drawingml/2006/main">
            <a:r>
              <a:t>Equipment / setup Cool LED lamp, marked globe or ball, four-row evidence sheet, arrows and pencil.</a:t>
            </a:r>
          </a:p>
          <a:p xmlns:a="http://schemas.openxmlformats.org/drawingml/2006/main">
            <a:r>
              <a:t>Safety / sensory Do not stare into the lamp. Use a cool LED only, keep hands off plugs and keep movement clear of cables.</a:t>
            </a:r>
          </a:p>
          <a:p xmlns:a="http://schemas.openxmlformats.org/drawingml/2006/main">
            <a:r>
              <a:t>Offline parity Advance the included sequence one frame at a time and capture four labelled observations before writing the conclusion.</a:t>
            </a:r>
          </a:p>
          <a:p xmlns:a="http://schemas.openxmlformats.org/drawingml/2006/main">
            <a:r>
              <a:t>No-equipment/access route: Turn a marked paper Earth beside a fixed Sun card, or use four prepared diagrams and order them.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Record four quarter turns and explain the complete cycle using rotation and apparent movement.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Include what stayed fixed, what moved and two linked observations.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Independent: 15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Protect independence. Accept equivalent evidence routes and scribe exact meaning.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Prompt only as much as needed; fade as soon as the pupil continues.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Physical route</a:t>
            </a:r>
          </a:p>
          <a:p xmlns:a="http://schemas.openxmlformats.org/drawingml/2006/main">
            <a:r>
              <a:t>Cool LED lamp, marked globe or ball, four-row evidence sheet, arrows and pencil.</a:t>
            </a:r>
          </a:p>
          <a:p xmlns:a="http://schemas.openxmlformats.org/drawingml/2006/main">
            <a:r>
              <a:t>Same outcome: I can use a rotating-Earth model to collect and explain evidence across one complete day-night cycle.</a:t>
            </a:r>
          </a:p>
          <a:p xmlns:a="http://schemas.openxmlformats.org/drawingml/2006/main">
            <a:r>
              <a:t>Offline digital / director route</a:t>
            </a:r>
          </a:p>
          <a:p xmlns:a="http://schemas.openxmlformats.org/drawingml/2006/main">
            <a:r>
              <a:t>Advance the included sequence one frame at a time and capture four labelled observations before writing the conclusion.</a:t>
            </a:r>
          </a:p>
          <a:p xmlns:a="http://schemas.openxmlformats.org/drawingml/2006/main">
            <a:r>
              <a:t>Same evidence: Four ordered rows recording marker position, light state, apparent Sun position and one final because conclusion.</a:t>
            </a:r>
          </a:p>
          <a:p xmlns:a="http://schemas.openxmlformats.org/drawingml/2006/main">
            <a:r>
              <a:t>Equipment / setup Cool LED lamp, marked globe or ball, four-row evidence sheet, arrows and pencil.</a:t>
            </a:r>
          </a:p>
          <a:p xmlns:a="http://schemas.openxmlformats.org/drawingml/2006/main">
            <a:r>
              <a:t>Safety / sensory Do not stare into the lamp. Use a cool LED only, keep hands off plugs and keep movement clear of cables.</a:t>
            </a:r>
          </a:p>
          <a:p xmlns:a="http://schemas.openxmlformats.org/drawingml/2006/main">
            <a:r>
              <a:t>Offline parity Advance the included sequence one frame at a time and capture four labelled observations before writing the conclusion.</a:t>
            </a:r>
          </a:p>
          <a:p xmlns:a="http://schemas.openxmlformats.org/drawingml/2006/main">
            <a:r>
              <a:t>No-equipment/access route: Turn a marked paper Earth beside a fixed Sun card, or use four prepared diagrams and order them.</a:t>
            </a:r>
          </a:p>
          <a:p xmlns:a="http://schemas.openxmlformats.org/drawingml/2006/main">
            <a:r>
              <a:t>▲ Standard</a:t>
            </a:r>
          </a:p>
          <a:p xmlns:a="http://schemas.openxmlformats.org/drawingml/2006/main">
            <a:r>
              <a:t>Record four quarter turns and explain the complete cycle using rotation and apparent movement.</a:t>
            </a:r>
          </a:p>
          <a:p xmlns:a="http://schemas.openxmlformats.org/drawingml/2006/main">
            <a:r>
              <a:t>Scaffold</a:t>
            </a:r>
          </a:p>
          <a:p xmlns:a="http://schemas.openxmlformats.org/drawingml/2006/main">
            <a:r>
              <a:t>Include what stayed fixed, what moved and two linked observations.</a:t>
            </a:r>
          </a:p>
          <a:p xmlns:a="http://schemas.openxmlformats.org/drawingml/2006/main">
            <a:r>
              <a:t>Evidence gate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Companion for SCI_G_W8B_Day_And_Night_Do.html. Exit: 4 minutes TOTAL across all slides in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Genuinely receive one final response and name back the Science heard or seen.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Choose one visible next move. The pupil writes what they said and what 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Model limit: Quarter turns compress continuous rotation and do not show exact local times, seasons, weather or Earth's scale.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Full source-stage teaching text: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Standard</a:t>
            </a:r>
          </a:p>
          <a:p xmlns:a="http://schemas.openxmlformats.org/drawingml/2006/main">
            <a:r>
              <a:t>Use two evidence rows to explain one full day-night cycle.</a:t>
            </a:r>
          </a:p>
          <a:p xmlns:a="http://schemas.openxmlformats.org/drawingml/2006/main">
            <a:r>
              <a:t>Adult Audience</a:t>
            </a:r>
          </a:p>
          <a:p xmlns:a="http://schemas.openxmlformats.org/drawingml/2006/main">
            <a:r>
              <a:t>The familiar adult genuinely receives the pupil response, then says back the Science they heard or saw. The adult does not add a score or rewrite the pupil.</a:t>
            </a:r>
          </a:p>
          <a:p xmlns:a="http://schemas.openxmlformats.org/drawingml/2006/main">
            <a:r>
              <a:t>What I said, and what it changed:</a:t>
            </a:r>
          </a:p>
          <a:p xmlns:a="http://schemas.openxmlformats.org/drawingml/2006/main">
            <a:r>
              <a:t>Next I will ______. One next step chosen after the adult listened.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HTML controls remain in the original HTML file. PowerPoint contains editable teaching text and static source visuals; use the paper response route for sorting and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Uploaded lesson: SCI_G_W8B_Day_And_Night_Do.html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7e7995444644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e75563bc344023" /><Relationship Type="http://schemas.openxmlformats.org/officeDocument/2006/relationships/slideLayout" Target="/ppt/slideLayouts/slideLayout1.xml" Id="Re99dce08cf1246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9dce08cf1246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7c837131ba4e55" /><Relationship Type="http://schemas.openxmlformats.org/officeDocument/2006/relationships/hyperlink" Target="SCI_G_W8B_Day_And_Night_Do.html" TargetMode="External" Id="R748adfb4a82c4b02" /><Relationship Type="http://schemas.openxmlformats.org/officeDocument/2006/relationships/notesSlide" Target="/ppt/notesSlides/notesSlide1.xml" Id="R81e520791c4646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a2b09724a494e" /><Relationship Type="http://schemas.openxmlformats.org/officeDocument/2006/relationships/notesSlide" Target="/ppt/notesSlides/notesSlide2.xml" Id="R1fc7e7aac4e243d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80ce6eb1d4a79" /><Relationship Type="http://schemas.openxmlformats.org/officeDocument/2006/relationships/notesSlide" Target="/ppt/notesSlides/notesSlide3.xml" Id="Re05d5878d6fe43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3ae7d5fee42d2" /><Relationship Type="http://schemas.openxmlformats.org/officeDocument/2006/relationships/notesSlide" Target="/ppt/notesSlides/notesSlide4.xml" Id="R83efacc461524f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3b5084c34497a" /><Relationship Type="http://schemas.openxmlformats.org/officeDocument/2006/relationships/notesSlide" Target="/ppt/notesSlides/notesSlide5.xml" Id="R02deb08d404741c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b6f40fa4ee4a00" /><Relationship Type="http://schemas.openxmlformats.org/officeDocument/2006/relationships/image" Target="/ppt/media/image.png" Id="Rf06c89d2361b4b92" /><Relationship Type="http://schemas.openxmlformats.org/officeDocument/2006/relationships/image" Target="/ppt/media/image2.png" Id="R332583b755c84747" /><Relationship Type="http://schemas.openxmlformats.org/officeDocument/2006/relationships/image" Target="/ppt/media/image3.png" Id="Rcbaafd09f5ee49fb" /><Relationship Type="http://schemas.openxmlformats.org/officeDocument/2006/relationships/notesSlide" Target="/ppt/notesSlides/notesSlide6.xml" Id="R7a43f6e53eb74b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e08d4c928b409c" /><Relationship Type="http://schemas.openxmlformats.org/officeDocument/2006/relationships/notesSlide" Target="/ppt/notesSlides/notesSlide7.xml" Id="R5d9bbe109ad14c1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25b277cb314c59" /><Relationship Type="http://schemas.openxmlformats.org/officeDocument/2006/relationships/notesSlide" Target="/ppt/notesSlides/notesSlide8.xml" Id="Red65157e7afb46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f765b802b43a5" /><Relationship Type="http://schemas.openxmlformats.org/officeDocument/2006/relationships/image" Target="/ppt/media/image4.png" Id="Rddad8f8df9324cb1" /><Relationship Type="http://schemas.openxmlformats.org/officeDocument/2006/relationships/notesSlide" Target="/ppt/notesSlides/notesSlide9.xml" Id="R98a098d80880473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a7afbe6384c2a" /><Relationship Type="http://schemas.openxmlformats.org/officeDocument/2006/relationships/notesSlide" Target="/ppt/notesSlides/notesSlide10.xml" Id="Rf0ced2295c354a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41fb907f94c3c" /><Relationship Type="http://schemas.openxmlformats.org/officeDocument/2006/relationships/notesSlide" Target="/ppt/notesSlides/notesSlide11.xml" Id="R993ee8d26e434c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15ec51dd274b52" /><Relationship Type="http://schemas.openxmlformats.org/officeDocument/2006/relationships/notesSlide" Target="/ppt/notesSlides/notesSlide12.xml" Id="R6e27e22e87854b1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f7bc2958c34bd0" /><Relationship Type="http://schemas.openxmlformats.org/officeDocument/2006/relationships/notesSlide" Target="/ppt/notesSlides/notesSlide13.xml" Id="R998565d0cb3a4ea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5f9cf7585428b" /><Relationship Type="http://schemas.openxmlformats.org/officeDocument/2006/relationships/notesSlide" Target="/ppt/notesSlides/notesSlide14.xml" Id="Rb923a804cd234fd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1e5a1d4d742b7" /><Relationship Type="http://schemas.openxmlformats.org/officeDocument/2006/relationships/notesSlide" Target="/ppt/notesSlides/notesSlide15.xml" Id="Rc3bfef682a8e4c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de685470e41cb" /><Relationship Type="http://schemas.openxmlformats.org/officeDocument/2006/relationships/notesSlide" Target="/ppt/notesSlides/notesSlide16.xml" Id="R6c9201c2b482420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24a92208c4dda" /><Relationship Type="http://schemas.openxmlformats.org/officeDocument/2006/relationships/notesSlide" Target="/ppt/notesSlides/notesSlide17.xml" Id="R9171c8411e6a4c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phase edge">
            <a:extLst xmlns:a="http://schemas.openxmlformats.org/drawingml/2006/main">
              <a:ext uri="{FF2B5EF4-FFF2-40B4-BE49-F238E27FC236}">
                <a16:creationId xmlns:a16="http://schemas.microsoft.com/office/drawing/2014/main" id="{E82B6BE9-B8BD-4E57-BFDD-E77B1673E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61AA648-38E3-4495-A632-C655239F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BB9C9D87-0F85-4428-9338-9B56C8D5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2C68607-554E-4350-AD83-D9F3F057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Day and Night: 24-Hour Control Room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71395F4C-0BFA-4EF3-988E-E175E51AA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 0">
            <a:extLst xmlns:a="http://schemas.openxmlformats.org/drawingml/2006/main">
              <a:ext uri="{FF2B5EF4-FFF2-40B4-BE49-F238E27FC236}">
                <a16:creationId xmlns:a16="http://schemas.microsoft.com/office/drawing/2014/main" id="{63518AC8-3DF6-4609-83E0-85349918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5924550" cy="1125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I can use a rotating-Earth model to collect and explain evidence across one complete day-night cycle.</a:t>
            </a:r>
          </a:p>
        </p:txBody>
      </p:sp>
      <p:sp>
        <p:nvSpPr>
          <p:cNvPr id="7" name="learning move 0">
            <a:extLst xmlns:a="http://schemas.openxmlformats.org/drawingml/2006/main">
              <a:ext uri="{FF2B5EF4-FFF2-40B4-BE49-F238E27FC236}">
                <a16:creationId xmlns:a16="http://schemas.microsoft.com/office/drawing/2014/main" id="{3F112A04-6379-41F8-830F-C72F20858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8" name="move 0">
            <a:extLst xmlns:a="http://schemas.openxmlformats.org/drawingml/2006/main">
              <a:ext uri="{FF2B5EF4-FFF2-40B4-BE49-F238E27FC236}">
                <a16:creationId xmlns:a16="http://schemas.microsoft.com/office/drawing/2014/main" id="{CA3D2782-BA61-464B-8173-DC0BE8AD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4288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Four quarter turns</a:t>
            </a:r>
          </a:p>
        </p:txBody>
      </p:sp>
      <p:sp>
        <p:nvSpPr>
          <p:cNvPr id="9" name="move detail 0">
            <a:extLst xmlns:a="http://schemas.openxmlformats.org/drawingml/2006/main">
              <a:ext uri="{FF2B5EF4-FFF2-40B4-BE49-F238E27FC236}">
                <a16:creationId xmlns:a16="http://schemas.microsoft.com/office/drawing/2014/main" id="{DB198A04-12FB-4145-87CE-72D3CB8F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7177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0" name="learning move 1">
            <a:extLst xmlns:a="http://schemas.openxmlformats.org/drawingml/2006/main">
              <a:ext uri="{FF2B5EF4-FFF2-40B4-BE49-F238E27FC236}">
                <a16:creationId xmlns:a16="http://schemas.microsoft.com/office/drawing/2014/main" id="{764C0509-5F63-4AF1-BB5F-0958A30D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248025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1" name="move 1">
            <a:extLst xmlns:a="http://schemas.openxmlformats.org/drawingml/2006/main">
              <a:ext uri="{FF2B5EF4-FFF2-40B4-BE49-F238E27FC236}">
                <a16:creationId xmlns:a16="http://schemas.microsoft.com/office/drawing/2014/main" id="{AB08BDA3-2FD2-41AF-9376-4104476B2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3718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complete evidence record</a:t>
            </a:r>
          </a:p>
        </p:txBody>
      </p:sp>
      <p:sp>
        <p:nvSpPr>
          <p:cNvPr id="12" name="move detail 1">
            <a:extLst xmlns:a="http://schemas.openxmlformats.org/drawingml/2006/main">
              <a:ext uri="{FF2B5EF4-FFF2-40B4-BE49-F238E27FC236}">
                <a16:creationId xmlns:a16="http://schemas.microsoft.com/office/drawing/2014/main" id="{751DB7B5-872C-4398-900E-4B647AEF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714750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3" name="learning move 2">
            <a:extLst xmlns:a="http://schemas.openxmlformats.org/drawingml/2006/main">
              <a:ext uri="{FF2B5EF4-FFF2-40B4-BE49-F238E27FC236}">
                <a16:creationId xmlns:a16="http://schemas.microsoft.com/office/drawing/2014/main" id="{1936470B-CB99-497D-A2A8-9F15F418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91000"/>
            <a:ext cx="4238625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0F3"/>
          </a:solidFill>
          <a:ln xmlns:a="http://schemas.openxmlformats.org/drawingml/2006/main" w="0">
            <a:noFill/>
          </a:ln>
        </p:spPr>
      </p:sp>
      <p:sp>
        <p:nvSpPr>
          <p:cNvPr id="14" name="move 2">
            <a:extLst xmlns:a="http://schemas.openxmlformats.org/drawingml/2006/main">
              <a:ext uri="{FF2B5EF4-FFF2-40B4-BE49-F238E27FC236}">
                <a16:creationId xmlns:a16="http://schemas.microsoft.com/office/drawing/2014/main" id="{694E0CA3-B672-4578-BACA-01B61BCB5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3148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An explanation tested against a misconception</a:t>
            </a:r>
          </a:p>
        </p:txBody>
      </p:sp>
      <p:sp>
        <p:nvSpPr>
          <p:cNvPr id="15" name="move detail 2">
            <a:extLst xmlns:a="http://schemas.openxmlformats.org/drawingml/2006/main">
              <a:ext uri="{FF2B5EF4-FFF2-40B4-BE49-F238E27FC236}">
                <a16:creationId xmlns:a16="http://schemas.microsoft.com/office/drawing/2014/main" id="{46E6A5A7-C24F-4B4B-8F85-0BF20186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657725"/>
            <a:ext cx="390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evidence</a:t>
            </a:r>
          </a:p>
        </p:txBody>
      </p:sp>
      <p:sp>
        <p:nvSpPr>
          <p:cNvPr id="16" name="HTML link">
            <a:extLst xmlns:a="http://schemas.openxmlformats.org/drawingml/2006/main">
              <a:ext uri="{FF2B5EF4-FFF2-40B4-BE49-F238E27FC236}">
                <a16:creationId xmlns:a16="http://schemas.microsoft.com/office/drawing/2014/main" id="{0B1C9157-CE81-4438-9CCD-C8E6ECB9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959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3F7D6E"/>
                </a:solidFill>
                <a:latin typeface="Arial"/>
                <a:ea typeface="Arial"/>
                <a:cs typeface="Arial"/>
                <a:hlinkClick xmlns:r="http://schemas.openxmlformats.org/officeDocument/2006/relationships" r:id="R748adfb4a82c4b02"/>
              </a:rPr>
              <a:t>Open the original interactive lesson</a:t>
            </a:r>
          </a:p>
        </p:txBody>
      </p:sp>
      <p:sp>
        <p:nvSpPr>
          <p:cNvPr id="17" name="time">
            <a:extLst xmlns:a="http://schemas.openxmlformats.org/drawingml/2006/main">
              <a:ext uri="{FF2B5EF4-FFF2-40B4-BE49-F238E27FC236}">
                <a16:creationId xmlns:a16="http://schemas.microsoft.com/office/drawing/2014/main" id="{DC754B4E-95F5-4DDD-BB0F-8996235A2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8" name="number">
            <a:extLst xmlns:a="http://schemas.openxmlformats.org/drawingml/2006/main">
              <a:ext uri="{FF2B5EF4-FFF2-40B4-BE49-F238E27FC236}">
                <a16:creationId xmlns:a16="http://schemas.microsoft.com/office/drawing/2014/main" id="{166E0D47-8046-43C9-8EA6-9ABE6FE8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 / 17</a:t>
            </a:r>
          </a:p>
        </p:txBody>
      </p:sp>
    </p:spTree>
    <p:extLst>
      <p:ext uri="{BB962C8B-B14F-4D97-AF65-F5344CB8AC3E}">
        <p14:creationId xmlns:p14="http://schemas.microsoft.com/office/powerpoint/2010/main" val="5708384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87CFFFD-6C8A-45FB-8D9D-959B6B95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00B393C-A559-44C4-ACD9-3B196326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0904D51-359D-4B00-9F46-7E484B2C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OVERVIEW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AA54BD5-818F-4FA5-A0C2-A214415C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What success looks like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B9E93F1-3E24-48C7-A979-F91C9E97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74DC7ABB-E672-4B73-AFB0-B017EF15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Record four clear positions for one place on Earth.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CFFD8464-B035-4A9D-8F3A-109F6F190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Link each position to light, darkness and the observer's view.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F517DAF5-EAA3-4687-8390-3E287546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Use the evidence to show how rotation explains the observed day-night pattern without changing the lamp.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30BA103E-0FB0-4CD9-9F8C-DE8243063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40 MINUTES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3A01C102-BB05-42DC-A16C-A3661CF81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2 / 17</a:t>
            </a:r>
          </a:p>
        </p:txBody>
      </p:sp>
    </p:spTree>
    <p:extLst>
      <p:ext uri="{BB962C8B-B14F-4D97-AF65-F5344CB8AC3E}">
        <p14:creationId xmlns:p14="http://schemas.microsoft.com/office/powerpoint/2010/main" val="16019162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BC65EF5-BDD4-4E7A-AEFD-4D144A05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2FAE7F22-475C-4984-9DD6-EB00796F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379E8CC2-62D7-49D8-BB3A-1941963B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ARRIVAL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2D439C9-4F00-4C88-AB82-B922C2655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Retrieve and reconnect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34EF742-4893-48ED-AD49-E0A54EA8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B688F841-8469-4726-9A37-453DE168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what moved in our model and what stayed fixed?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42B3DFDA-4CB6-4FD6-97C9-3AB2224E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lesson: why does the Sun appear to cross the sky?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A7CF1DA2-DE71-4FA4-8D76-A5D232ED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Last week: how did observer position matter in the Moon model?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9B6A52C9-501F-4FE0-BCFF-DCB7F2AAC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Lead-in: what evidence would prove that a whole cycle was observed?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8C96C829-80F4-41B2-A78D-6A69062E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ARRIVAL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8766F209-51B9-4EEC-9B9E-8A15BA3F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3 / 17</a:t>
            </a:r>
          </a:p>
        </p:txBody>
      </p:sp>
    </p:spTree>
    <p:extLst>
      <p:ext uri="{BB962C8B-B14F-4D97-AF65-F5344CB8AC3E}">
        <p14:creationId xmlns:p14="http://schemas.microsoft.com/office/powerpoint/2010/main" val="14877023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CC4326AA-8FCB-4AF2-B66A-6262D040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627BC11-5371-4981-A64B-88C3B624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52CD27E-EA7A-4061-ABE2-8755F8F14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9E703AE-4407-405A-AAB0-39195082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A pupil says, ‘Clouds make night because they hide the Sun.’ Which first response would you test?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67C93B04-5FBB-4A8B-9C8F-48972875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05F7BA0-4049-4563-BEF0-3C96EAB4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Think first. Point, say, sign or write your choice. Give one reason.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449BA85-6020-4FA1-97C9-08AF1ED8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Agree: thick clouds create night.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039896BB-7091-45C4-91B2-F2C430478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Track a marked place as Earth turns, with the lamp kept on.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FFAD8D7-C58A-4405-AE2B-8300DA49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Use a brighter lamp so night disappears.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CF7B8DF4-3B26-4FA4-9DA4-C013EEFB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67316940-86C0-498C-9C7E-77956E07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4 / 17</a:t>
            </a:r>
          </a:p>
        </p:txBody>
      </p:sp>
    </p:spTree>
    <p:extLst>
      <p:ext uri="{BB962C8B-B14F-4D97-AF65-F5344CB8AC3E}">
        <p14:creationId xmlns:p14="http://schemas.microsoft.com/office/powerpoint/2010/main" val="126032706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23DBBADF-B5C6-4A21-8A6C-CB939180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F4A2DE0-A1BE-4056-9C20-32A09E4E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EC86545-0A12-4738-B8B2-419EF39C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2B9367-5B4F-4175-82C2-360929432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4470B229-2427-4468-84C2-A230090B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566EDD9E-3B1D-4188-8EA1-CF5B87465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1: the lamp is on and the marker is at the light-dark boundary.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3391538A-97E8-40EC-B25B-4A6A6DE2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2: the lamp is still on and the marker is fully lit.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A1A1654-D231-42BF-96F3-660101DB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Observation 3: the lamp remains on and the marker is unlit.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28C3CA29-432F-4F75-A5B2-061346CE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CB3F5D4F-AB02-4932-8759-650B3753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5 / 17</a:t>
            </a:r>
          </a:p>
        </p:txBody>
      </p:sp>
    </p:spTree>
    <p:extLst>
      <p:ext uri="{BB962C8B-B14F-4D97-AF65-F5344CB8AC3E}">
        <p14:creationId xmlns:p14="http://schemas.microsoft.com/office/powerpoint/2010/main" val="776817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9BAB93A6-45D0-46E6-98D2-94921E00F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EFE6B21D-BDA8-48D3-A67A-537A7198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326995C-A1CC-455C-8AED-9FEF3D62F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798942E4-32B6-4D63-8E76-7DC942F9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Look closely · what is the evidence?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FD356C6-38D7-482B-B60B-24D0ABC31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6c89d2361b4b92"/>
          <a:stretch xmlns:a="http://schemas.openxmlformats.org/drawingml/2006/main"/>
        </p:blipFill>
        <p:spPr>
          <a:xfrm xmlns:a="http://schemas.openxmlformats.org/drawingml/2006/main">
            <a:off x="800100" y="2966793"/>
            <a:ext cx="3378200" cy="1429238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09E7FD5D-5972-4136-A6FA-8B60F532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Marker at the boundary, lamp on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2583b755c84747"/>
          <a:stretch xmlns:a="http://schemas.openxmlformats.org/drawingml/2006/main"/>
        </p:blipFill>
        <p:spPr>
          <a:xfrm xmlns:a="http://schemas.openxmlformats.org/drawingml/2006/main">
            <a:off x="4406900" y="2966793"/>
            <a:ext cx="3378200" cy="1429238"/>
          </a:xfrm>
          <a:prstGeom xmlns:a="http://schemas.openxmlformats.org/drawingml/2006/main" prst="rect">
            <a:avLst/>
          </a:prstGeom>
        </p:spPr>
      </p:pic>
      <p:sp>
        <p:nvSpPr>
          <p:cNvPr id="9" name="visual caption 1">
            <a:extLst xmlns:a="http://schemas.openxmlformats.org/drawingml/2006/main">
              <a:ext uri="{FF2B5EF4-FFF2-40B4-BE49-F238E27FC236}">
                <a16:creationId xmlns:a16="http://schemas.microsoft.com/office/drawing/2014/main" id="{539662DC-AD7E-45F7-B7E4-C0A07AF25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Marker fully lit, lamp on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afd09f5ee49fb"/>
          <a:stretch xmlns:a="http://schemas.openxmlformats.org/drawingml/2006/main"/>
        </p:blipFill>
        <p:spPr>
          <a:xfrm xmlns:a="http://schemas.openxmlformats.org/drawingml/2006/main">
            <a:off x="8013700" y="2966793"/>
            <a:ext cx="3378200" cy="1429238"/>
          </a:xfrm>
          <a:prstGeom xmlns:a="http://schemas.openxmlformats.org/drawingml/2006/main" prst="rect">
            <a:avLst/>
          </a:prstGeom>
        </p:spPr>
      </p:pic>
      <p:sp>
        <p:nvSpPr>
          <p:cNvPr id="11" name="visual caption 2">
            <a:extLst xmlns:a="http://schemas.openxmlformats.org/drawingml/2006/main">
              <a:ext uri="{FF2B5EF4-FFF2-40B4-BE49-F238E27FC236}">
                <a16:creationId xmlns:a16="http://schemas.microsoft.com/office/drawing/2014/main" id="{3223FD53-4572-4809-A7CC-62BC7CE2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314950"/>
            <a:ext cx="3378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Marker unlit, lamp still on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6C11130F-3513-4FB2-BCC1-17E8DF8F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STARTER · 3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E4025882-E531-480C-81FB-4D98E34EF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6 / 17</a:t>
            </a:r>
          </a:p>
        </p:txBody>
      </p:sp>
    </p:spTree>
    <p:extLst>
      <p:ext uri="{BB962C8B-B14F-4D97-AF65-F5344CB8AC3E}">
        <p14:creationId xmlns:p14="http://schemas.microsoft.com/office/powerpoint/2010/main" val="7344130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10CD14E3-E4A1-4A33-A785-0FF1F1D14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77853534-3275-4C20-9E7F-E4F34BEB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F887CD94-09A3-47A9-B981-EAD69E11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99219FA-C605-4748-A22C-1B7AD03A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Words we will use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37C5DB52-981A-498E-98D5-E4B8E2DE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B9E3343-A4C7-4D01-96B7-F429365E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cycle — repeating sequence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B105CAB-22C7-487E-BF15-BF2D3A491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rotation — one full turn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918BA699-81A9-4A5D-BAAB-F1E47D62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evidence — what we observed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E4E04CCE-DACD-492C-B801-4349D084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5B75CCF0-9495-4503-8075-125F79FF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7 / 17</a:t>
            </a:r>
          </a:p>
        </p:txBody>
      </p:sp>
    </p:spTree>
    <p:extLst>
      <p:ext uri="{BB962C8B-B14F-4D97-AF65-F5344CB8AC3E}">
        <p14:creationId xmlns:p14="http://schemas.microsoft.com/office/powerpoint/2010/main" val="86654853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C33C0D06-5838-4410-8790-0315B8DC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AE9A3D08-129A-4DCA-BAA3-BC7F810C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AD14549-E388-428E-A2BE-830B9A04C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C232110-73F3-4414-BC14-E8BD81F7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CA90204-E37B-4BE2-BB14-F93B87C4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0CF3B26-1C29-41B1-878F-E9C7229E7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one marker on the globe and start it at sunrise, where it crosses into the lit half.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5F3863A5-C662-403C-895D-C279B35A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Turn the globe west to east in equal quarter turns. Pause and record whether the marker is lit and which way it faces.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D7645476-920A-47BC-8E8D-7D37CF482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Return the marker to the start. Four ordered observations now represent one simplified 24-hour cycle.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7CD5E399-07AD-4461-A7B6-DF32A0A8E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481F3D6-3721-4880-8947-7F56B607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8 / 17</a:t>
            </a:r>
          </a:p>
        </p:txBody>
      </p:sp>
    </p:spTree>
    <p:extLst>
      <p:ext uri="{BB962C8B-B14F-4D97-AF65-F5344CB8AC3E}">
        <p14:creationId xmlns:p14="http://schemas.microsoft.com/office/powerpoint/2010/main" val="5135933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735EF523-299E-4B25-8674-03E39817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FD79F95-6A8C-47A6-8DDB-E2063896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F2A26B9-4A04-4415-BD93-AB62AD29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29A2746-F37F-4D06-97FE-5B92116C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Watch the model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1768B3F-7AE8-47BA-A83E-99814903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ad8f8df9324cb1"/>
          <a:stretch xmlns:a="http://schemas.openxmlformats.org/drawingml/2006/main"/>
        </p:blipFill>
        <p:spPr>
          <a:xfrm xmlns:a="http://schemas.openxmlformats.org/drawingml/2006/main">
            <a:off x="2550102" y="2181225"/>
            <a:ext cx="7091795" cy="3000375"/>
          </a:xfrm>
          <a:prstGeom xmlns:a="http://schemas.openxmlformats.org/drawingml/2006/main" prst="rect">
            <a:avLst/>
          </a:prstGeom>
        </p:spPr>
      </p:pic>
      <p:sp>
        <p:nvSpPr>
          <p:cNvPr id="7" name="visual caption 0">
            <a:extLst xmlns:a="http://schemas.openxmlformats.org/drawingml/2006/main">
              <a:ext uri="{FF2B5EF4-FFF2-40B4-BE49-F238E27FC236}">
                <a16:creationId xmlns:a16="http://schemas.microsoft.com/office/drawing/2014/main" id="{4306F085-2BA8-4627-A8B1-51A3AE81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10591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Rotating Earth model with lamp, cloud test and lamp test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D831E4A0-7B3B-488E-8AF1-9E0069BF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2353922-A367-42FB-B8A8-35D29EE4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204372880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11167B60-54F7-49F3-86BE-C7BBB63D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CC0AB888-1AB8-4754-B17C-EC29D24C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1535CB6B-4280-4159-A4F6-0FD4C009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7F2F445-0BE4-4932-B933-9231A78F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The lamp stayed on throughout, but the marker became dark. Which evidence explains this?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B6C74FE-F1D6-4682-A439-674F777C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FE1AC15-6DAE-4ED6-90F6-59976395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The marker rotated onto the side facing away from the lamp.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F763B808-C5D4-4C30-A680-1387B4B40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The lamp stopped producing light for half the turn.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41F92AC-A88E-4B6D-A176-16385EBF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Clouds formed on the globe during the turn.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A5B80BC-A262-4C1F-B446-BCFEBB619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to an answer. Show the evidence you used. Listen, then revise if needed.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059B1E9C-DFCC-405E-8AD8-85AF4CCA7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· 4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28BDAF44-37FD-4869-B6C1-3A01EAFAF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10 / 17</a:t>
            </a:r>
          </a:p>
        </p:txBody>
      </p:sp>
    </p:spTree>
    <p:extLst>
      <p:ext uri="{BB962C8B-B14F-4D97-AF65-F5344CB8AC3E}">
        <p14:creationId xmlns:p14="http://schemas.microsoft.com/office/powerpoint/2010/main" val="9439326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E60D5B13-1ABA-486F-8DD9-01EF30B92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BCCB72D3-6E5E-4EBB-8B17-01EC551D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DCF5991E-1D70-48E2-ADF7-5AD9EAFE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854DA2-103C-4AFE-8843-BF961F27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Build the explanation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9E68D0D-D232-4D36-9942-4AE4C5F0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22555224-A9A4-4C74-92EC-C76C0A70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Add an observer arrow at each marker position to show which way the local person faces.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6791BB69-A5EB-41A8-87EB-1475F3D1E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Describe the Sun's apparent east-to-west position without claiming that the lamp moved; west-to-east Earth rotation creates that observed direction.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4DD86CF9-8C01-4EE5-B01D-E20CE35DD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Link all four rows: because Earth rotated, the observer experienced sunrise, day, sunset and night.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D148AC54-1478-4C30-87ED-604440D1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91A865A2-2747-4DC1-8317-E5B8AA4C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11 / 17</a:t>
            </a:r>
          </a:p>
        </p:txBody>
      </p:sp>
    </p:spTree>
    <p:extLst>
      <p:ext uri="{BB962C8B-B14F-4D97-AF65-F5344CB8AC3E}">
        <p14:creationId xmlns:p14="http://schemas.microsoft.com/office/powerpoint/2010/main" val="81944214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hase edge">
            <a:extLst xmlns:a="http://schemas.openxmlformats.org/drawingml/2006/main">
              <a:ext uri="{FF2B5EF4-FFF2-40B4-BE49-F238E27FC236}">
                <a16:creationId xmlns:a16="http://schemas.microsoft.com/office/drawing/2014/main" id="{E01EECCA-DBCA-4E96-AAC0-184D4180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9A3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DB990C27-5CFA-486E-BDB9-63AFFEEDF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9580DE9F-C4D7-4D20-8B0C-79FE82C3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6F57298-F39A-4E7E-9CC8-AB392177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Find and repair the misconception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727818A-B64C-48C8-83A5-4BA7260D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E9F323F5-7CB2-48DD-B675-12B12F84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Model glitch: clouds make night by covering the Sun.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1C76FCE-F515-488B-B2A3-930239921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A. Keep it: darkness always means cloud cover.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E78E853-CC9A-4445-8659-4EE4E1CC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B. Repair it: rotation moves a place onto Earth's unlit side.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4516CBEF-2C77-4852-8F80-1B9F8271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C. Repair it: the Sun switches off each night.</a:t>
            </a:r>
          </a:p>
        </p:txBody>
      </p:sp>
      <p:sp>
        <p:nvSpPr>
          <p:cNvPr id="10" name="time">
            <a:extLst xmlns:a="http://schemas.openxmlformats.org/drawingml/2006/main">
              <a:ext uri="{FF2B5EF4-FFF2-40B4-BE49-F238E27FC236}">
                <a16:creationId xmlns:a16="http://schemas.microsoft.com/office/drawing/2014/main" id="{ABB9F89B-D60E-4197-B526-5132D6C82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 DO 2 · 3 min across this stage</a:t>
            </a:r>
          </a:p>
        </p:txBody>
      </p:sp>
      <p:sp>
        <p:nvSpPr>
          <p:cNvPr id="11" name="number">
            <a:extLst xmlns:a="http://schemas.openxmlformats.org/drawingml/2006/main">
              <a:ext uri="{FF2B5EF4-FFF2-40B4-BE49-F238E27FC236}">
                <a16:creationId xmlns:a16="http://schemas.microsoft.com/office/drawing/2014/main" id="{7D1AE2D3-CD61-4826-B5FB-59898F46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12 / 17</a:t>
            </a:r>
          </a:p>
        </p:txBody>
      </p:sp>
    </p:spTree>
    <p:extLst>
      <p:ext uri="{BB962C8B-B14F-4D97-AF65-F5344CB8AC3E}">
        <p14:creationId xmlns:p14="http://schemas.microsoft.com/office/powerpoint/2010/main" val="14747724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hase edge">
            <a:extLst xmlns:a="http://schemas.openxmlformats.org/drawingml/2006/main">
              <a:ext uri="{FF2B5EF4-FFF2-40B4-BE49-F238E27FC236}">
                <a16:creationId xmlns:a16="http://schemas.microsoft.com/office/drawing/2014/main" id="{5877FEAD-EB3A-4FCE-9115-0EA8DC67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B4695C7-B7F6-4FD4-939D-73A3511F2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BD2E317-7C13-42A4-9A2B-31C7C52E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492E157-728F-43BA-8715-5E0BA2E7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24-hour evidence console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806C0EE3-4C5A-42C8-85EE-811A9359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F132C9E-DB43-440A-BA01-E54535B04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Commit each control-room observation to the correct point in the cycle.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5A30E8A-CF2E-42BE-A281-0EAD17D36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Select one observation.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E8AC2AE1-01AB-47FC-830C-EA1BEFD2E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Place it at the matching cycle point.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7B96BF2C-A72F-4371-A075-A6662A2E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Repair any mismatch using lit or unlit evidence.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8974D56C-EAFB-4212-B3C2-2C3679DD1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Freeze the record and state the repeating pattern.</a:t>
            </a:r>
          </a:p>
        </p:txBody>
      </p:sp>
      <p:sp>
        <p:nvSpPr>
          <p:cNvPr id="11" name="content 5">
            <a:extLst xmlns:a="http://schemas.openxmlformats.org/drawingml/2006/main">
              <a:ext uri="{FF2B5EF4-FFF2-40B4-BE49-F238E27FC236}">
                <a16:creationId xmlns:a16="http://schemas.microsoft.com/office/drawing/2014/main" id="{FC19688F-5415-4EAE-BA6A-FFE72E5F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57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the numbered cards in your pupil pack. Take turns to choose, justify and check. You may direct a partner to move a card.</a:t>
            </a:r>
          </a:p>
        </p:txBody>
      </p:sp>
      <p:sp>
        <p:nvSpPr>
          <p:cNvPr id="12" name="time">
            <a:extLst xmlns:a="http://schemas.openxmlformats.org/drawingml/2006/main">
              <a:ext uri="{FF2B5EF4-FFF2-40B4-BE49-F238E27FC236}">
                <a16:creationId xmlns:a16="http://schemas.microsoft.com/office/drawing/2014/main" id="{C5BEC4C5-2BA3-427F-A8AC-AACCA0C9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3" name="number">
            <a:extLst xmlns:a="http://schemas.openxmlformats.org/drawingml/2006/main">
              <a:ext uri="{FF2B5EF4-FFF2-40B4-BE49-F238E27FC236}">
                <a16:creationId xmlns:a16="http://schemas.microsoft.com/office/drawing/2014/main" id="{7C7E5605-CCAB-4170-92DB-3DBD5B307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13 / 17</a:t>
            </a:r>
          </a:p>
        </p:txBody>
      </p:sp>
    </p:spTree>
    <p:extLst>
      <p:ext uri="{BB962C8B-B14F-4D97-AF65-F5344CB8AC3E}">
        <p14:creationId xmlns:p14="http://schemas.microsoft.com/office/powerpoint/2010/main" val="8729997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phase edge">
            <a:extLst xmlns:a="http://schemas.openxmlformats.org/drawingml/2006/main">
              <a:ext uri="{FF2B5EF4-FFF2-40B4-BE49-F238E27FC236}">
                <a16:creationId xmlns:a16="http://schemas.microsoft.com/office/drawing/2014/main" id="{2563B723-65BF-465E-B098-EB0CA950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82F6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B463FE7-D6E5-4CFF-9550-EA8ACCB6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C5E8BAAB-2B19-49EC-82AA-3B212115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WE DO 2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32EA7D6-A6CD-497B-B77F-B928F831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a group · defend your placement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D5C4D87-F353-47EA-A7B5-B84ACF49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F18CB9D2-B5E9-47CE-B078-4B0AC5CD4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Sunrise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2B1B398F-E534-4ADA-A1C4-81ABCCC4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Middle of the day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8E0C4E12-B0F6-49D0-B75A-D2CEC045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Sunset</a:t>
            </a:r>
          </a:p>
        </p:txBody>
      </p:sp>
      <p:sp>
        <p:nvSpPr>
          <p:cNvPr id="9" name="content 3">
            <a:extLst xmlns:a="http://schemas.openxmlformats.org/drawingml/2006/main">
              <a:ext uri="{FF2B5EF4-FFF2-40B4-BE49-F238E27FC236}">
                <a16:creationId xmlns:a16="http://schemas.microsoft.com/office/drawing/2014/main" id="{B0F33378-5355-4B78-B3B4-A86D294B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Middle of the night</a:t>
            </a:r>
          </a:p>
        </p:txBody>
      </p:sp>
      <p:sp>
        <p:nvSpPr>
          <p:cNvPr id="10" name="content 4">
            <a:extLst xmlns:a="http://schemas.openxmlformats.org/drawingml/2006/main">
              <a:ext uri="{FF2B5EF4-FFF2-40B4-BE49-F238E27FC236}">
                <a16:creationId xmlns:a16="http://schemas.microsoft.com/office/drawing/2014/main" id="{CDEB0BFA-8ACB-43D4-A856-A3201F352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two frozen rows to show how rotation explains night while the lamp remains on and no cloud is present.</a:t>
            </a:r>
          </a:p>
        </p:txBody>
      </p:sp>
      <p:sp>
        <p:nvSpPr>
          <p:cNvPr id="11" name="time">
            <a:extLst xmlns:a="http://schemas.openxmlformats.org/drawingml/2006/main">
              <a:ext uri="{FF2B5EF4-FFF2-40B4-BE49-F238E27FC236}">
                <a16:creationId xmlns:a16="http://schemas.microsoft.com/office/drawing/2014/main" id="{2F418CF8-E4D0-4A4E-9CA7-0359CB8C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WE DO 2 · 4 min across this stage</a:t>
            </a:r>
          </a:p>
        </p:txBody>
      </p:sp>
      <p:sp>
        <p:nvSpPr>
          <p:cNvPr id="12" name="number">
            <a:extLst xmlns:a="http://schemas.openxmlformats.org/drawingml/2006/main">
              <a:ext uri="{FF2B5EF4-FFF2-40B4-BE49-F238E27FC236}">
                <a16:creationId xmlns:a16="http://schemas.microsoft.com/office/drawing/2014/main" id="{DF4CF94B-3784-47AD-B673-9187D7BC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14 / 17</a:t>
            </a:r>
          </a:p>
        </p:txBody>
      </p:sp>
    </p:spTree>
    <p:extLst>
      <p:ext uri="{BB962C8B-B14F-4D97-AF65-F5344CB8AC3E}">
        <p14:creationId xmlns:p14="http://schemas.microsoft.com/office/powerpoint/2010/main" val="15050306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B39C12E7-96FF-48C4-BAF1-26C5EDB9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48C423E4-0D60-4CCC-969C-040AEAD4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42BB3F82-CBD0-402F-B3FE-A35D301C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065307-721B-45DD-A464-D24A6A6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Your independent mission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C1AA8928-597E-42EB-A137-702EFBB5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92432E27-EF81-4FC8-BD80-92E2F409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Run or represent one complete four-position rotation and produce a control-room evidence record.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C0CA6A0-D712-4720-933C-2FBD00D37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Record: Four ordered rows recording marker position, light state, apparent Sun position and one final because conclusion.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C096FAAC-8AAE-4AAF-B5D9-086955D0A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D5CCB517-FA48-43C7-B3A7-99888219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15 / 17</a:t>
            </a:r>
          </a:p>
        </p:txBody>
      </p:sp>
    </p:spTree>
    <p:extLst>
      <p:ext uri="{BB962C8B-B14F-4D97-AF65-F5344CB8AC3E}">
        <p14:creationId xmlns:p14="http://schemas.microsoft.com/office/powerpoint/2010/main" val="2604868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hase edge">
            <a:extLst xmlns:a="http://schemas.openxmlformats.org/drawingml/2006/main">
              <a:ext uri="{FF2B5EF4-FFF2-40B4-BE49-F238E27FC236}">
                <a16:creationId xmlns:a16="http://schemas.microsoft.com/office/drawing/2014/main" id="{7D8E1786-4921-4C82-A0EE-5B34E52D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106BE197-B9F1-4CE0-A887-C9DA9B6C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56D147F9-5CC6-414E-A52B-8F1F7401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INDEPENDENT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EDDC42D-7571-4D3E-BAEA-C0975D3D9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Choose your support and challenge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F2895E8A-9A23-4CEA-A932-67EBDFA6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C154ED73-375E-49DC-87E3-3FE34DF3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Supported: Complete four rows using picture choices for sunrise, day, sunset and night.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A35ADFC5-F4E3-445D-9723-3AECDAA71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62275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Standard: Record four quarter turns and explain the complete cycle using rotation and apparent movement.</a:t>
            </a:r>
          </a:p>
        </p:txBody>
      </p:sp>
      <p:sp>
        <p:nvSpPr>
          <p:cNvPr id="8" name="content 2">
            <a:extLst xmlns:a="http://schemas.openxmlformats.org/drawingml/2006/main">
              <a:ext uri="{FF2B5EF4-FFF2-40B4-BE49-F238E27FC236}">
                <a16:creationId xmlns:a16="http://schemas.microsoft.com/office/drawing/2014/main" id="{1BB51CC2-AC17-46F3-BCB7-003F3ECA3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105918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• Stretch: Use the four rows to show how west-to-east rotation explains the pattern. Compare this explanation with the cloud and daily-Sun-orbit ideas without claiming the model alone decides between every possible sky model.</a:t>
            </a:r>
          </a:p>
        </p:txBody>
      </p:sp>
      <p:sp>
        <p:nvSpPr>
          <p:cNvPr id="9" name="time">
            <a:extLst xmlns:a="http://schemas.openxmlformats.org/drawingml/2006/main">
              <a:ext uri="{FF2B5EF4-FFF2-40B4-BE49-F238E27FC236}">
                <a16:creationId xmlns:a16="http://schemas.microsoft.com/office/drawing/2014/main" id="{131A04EE-94F1-4B2B-9691-C2557BC5B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INDEPENDENT · 15 min across this stage</a:t>
            </a:r>
          </a:p>
        </p:txBody>
      </p:sp>
      <p:sp>
        <p:nvSpPr>
          <p:cNvPr id="10" name="number">
            <a:extLst xmlns:a="http://schemas.openxmlformats.org/drawingml/2006/main">
              <a:ext uri="{FF2B5EF4-FFF2-40B4-BE49-F238E27FC236}">
                <a16:creationId xmlns:a16="http://schemas.microsoft.com/office/drawing/2014/main" id="{4B51198C-AE44-4C5A-BC54-148A3B21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</p:spTree>
    <p:extLst>
      <p:ext uri="{BB962C8B-B14F-4D97-AF65-F5344CB8AC3E}">
        <p14:creationId xmlns:p14="http://schemas.microsoft.com/office/powerpoint/2010/main" val="1659829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hase edge">
            <a:extLst xmlns:a="http://schemas.openxmlformats.org/drawingml/2006/main">
              <a:ext uri="{FF2B5EF4-FFF2-40B4-BE49-F238E27FC236}">
                <a16:creationId xmlns:a16="http://schemas.microsoft.com/office/drawing/2014/main" id="{E7F67C0F-29A9-4A47-9D49-94781B0A8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A"/>
          </a:solidFill>
          <a:ln xmlns:a="http://schemas.openxmlformats.org/drawingml/2006/main" w="0">
            <a:noFill/>
          </a:ln>
        </p:spPr>
      </p:sp>
      <p:sp>
        <p:nvSpPr>
          <p:cNvPr id="2" name="pathway">
            <a:extLst xmlns:a="http://schemas.openxmlformats.org/drawingml/2006/main">
              <a:ext uri="{FF2B5EF4-FFF2-40B4-BE49-F238E27FC236}">
                <a16:creationId xmlns:a16="http://schemas.microsoft.com/office/drawing/2014/main" id="{3D3AA5FB-447C-462D-A416-F8F7A69A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4325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GROW  /  SCIENCE</a:t>
            </a:r>
          </a:p>
        </p:txBody>
      </p:sp>
      <p:sp>
        <p:nvSpPr>
          <p:cNvPr id="3" name="phase">
            <a:extLst xmlns:a="http://schemas.openxmlformats.org/drawingml/2006/main">
              <a:ext uri="{FF2B5EF4-FFF2-40B4-BE49-F238E27FC236}">
                <a16:creationId xmlns:a16="http://schemas.microsoft.com/office/drawing/2014/main" id="{77BFA73F-12EF-4DC9-98C0-45DEF8A4F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14325"/>
            <a:ext cx="2143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F7D6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3F7D6E"/>
                </a:solidFill>
                <a:latin typeface="Arial"/>
                <a:ea typeface="Arial"/>
                <a:cs typeface="Arial"/>
              </a:rPr>
              <a:t>EXIT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B3A125-38AF-45E5-B304-01A36875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90575"/>
            <a:ext cx="111252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0233F"/>
                </a:solidFill>
                <a:latin typeface="Arial"/>
                <a:ea typeface="Arial"/>
                <a:cs typeface="Arial"/>
              </a:rPr>
              <a:t>Show what you know</a:t>
            </a:r>
          </a:p>
        </p:txBody>
      </p:sp>
      <p:sp>
        <p:nvSpPr>
          <p:cNvPr id="5" name="paper panel">
            <a:extLst xmlns:a="http://schemas.openxmlformats.org/drawingml/2006/main">
              <a:ext uri="{FF2B5EF4-FFF2-40B4-BE49-F238E27FC236}">
                <a16:creationId xmlns:a16="http://schemas.microsoft.com/office/drawing/2014/main" id="{E9D0B4D4-6525-4AB3-A583-7F094A89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71675"/>
            <a:ext cx="111252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content 0">
            <a:extLst xmlns:a="http://schemas.openxmlformats.org/drawingml/2006/main">
              <a:ext uri="{FF2B5EF4-FFF2-40B4-BE49-F238E27FC236}">
                <a16:creationId xmlns:a16="http://schemas.microsoft.com/office/drawing/2014/main" id="{613FC08E-2333-4626-B9AD-43C5D8BCF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1700"/>
            <a:ext cx="1059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Use two evidence rows to explain one full day-night cycle.</a:t>
            </a:r>
          </a:p>
        </p:txBody>
      </p:sp>
      <p:sp>
        <p:nvSpPr>
          <p:cNvPr id="7" name="content 1">
            <a:extLst xmlns:a="http://schemas.openxmlformats.org/drawingml/2006/main">
              <a:ext uri="{FF2B5EF4-FFF2-40B4-BE49-F238E27FC236}">
                <a16:creationId xmlns:a16="http://schemas.microsoft.com/office/drawing/2014/main" id="{BD9D9171-C083-4454-AF8B-8EAC76C1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105918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0233F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0233F"/>
                </a:solidFill>
                <a:latin typeface="Arial"/>
                <a:ea typeface="Arial"/>
                <a:cs typeface="Arial"/>
              </a:rPr>
              <a:t>Point to, read or explain the evidence you made. Choose one next step after the adult has listened.</a:t>
            </a:r>
          </a:p>
        </p:txBody>
      </p:sp>
      <p:sp>
        <p:nvSpPr>
          <p:cNvPr id="8" name="time">
            <a:extLst xmlns:a="http://schemas.openxmlformats.org/drawingml/2006/main">
              <a:ext uri="{FF2B5EF4-FFF2-40B4-BE49-F238E27FC236}">
                <a16:creationId xmlns:a16="http://schemas.microsoft.com/office/drawing/2014/main" id="{95AAB67F-558D-48A9-B4CA-C67F1D37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05550"/>
            <a:ext cx="895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EXIT · 4 min across this stage</a:t>
            </a:r>
          </a:p>
        </p:txBody>
      </p:sp>
      <p:sp>
        <p:nvSpPr>
          <p:cNvPr id="9" name="number">
            <a:extLst xmlns:a="http://schemas.openxmlformats.org/drawingml/2006/main">
              <a:ext uri="{FF2B5EF4-FFF2-40B4-BE49-F238E27FC236}">
                <a16:creationId xmlns:a16="http://schemas.microsoft.com/office/drawing/2014/main" id="{CC1B2FC9-0D39-4533-8E16-F801C291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305550"/>
            <a:ext cx="1047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2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70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</p:spTree>
    <p:extLst>
      <p:ext uri="{BB962C8B-B14F-4D97-AF65-F5344CB8AC3E}">
        <p14:creationId xmlns:p14="http://schemas.microsoft.com/office/powerpoint/2010/main" val="6561646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2026-09-08T08:54:22.0280000Z</dcterms:created>
  <dcterms:modified xsi:type="dcterms:W3CDTF">2026-09-08T08:54:22.0280000Z</dcterms:modified>
</coreProperties>
</file>