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26e543bdc498e" /><Relationship Type="http://schemas.openxmlformats.org/officeDocument/2006/relationships/extended-properties" Target="/docProps/app.xml" Id="R36dd730324794df7" /><Relationship Type="http://schemas.openxmlformats.org/officeDocument/2006/relationships/officeDocument" Target="/ppt/presentation.xml" Id="R024844a1ec0f4e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0d9ad18a5f4c80"/>
  </p:sldMasterIdLst>
  <p:notesMasterIdLst>
    <p:notesMasterId xmlns:r="http://schemas.openxmlformats.org/officeDocument/2006/relationships" r:id="R0c09586a0aa54c42"/>
  </p:notesMasterIdLst>
  <p:sldIdLst>
    <p:sldId xmlns:r="http://schemas.openxmlformats.org/officeDocument/2006/relationships" id="256" r:id="R906ef4c0cc1f4f4b"/>
    <p:sldId xmlns:r="http://schemas.openxmlformats.org/officeDocument/2006/relationships" id="257" r:id="R795182843a9f4fe8"/>
    <p:sldId xmlns:r="http://schemas.openxmlformats.org/officeDocument/2006/relationships" id="258" r:id="Rdfc5f059fc524289"/>
    <p:sldId xmlns:r="http://schemas.openxmlformats.org/officeDocument/2006/relationships" id="259" r:id="Rc8252353b6264173"/>
    <p:sldId xmlns:r="http://schemas.openxmlformats.org/officeDocument/2006/relationships" id="260" r:id="R0f217f9a55e5490d"/>
    <p:sldId xmlns:r="http://schemas.openxmlformats.org/officeDocument/2006/relationships" id="261" r:id="Rff105efb32d94a73"/>
    <p:sldId xmlns:r="http://schemas.openxmlformats.org/officeDocument/2006/relationships" id="262" r:id="R04504339f3d645be"/>
    <p:sldId xmlns:r="http://schemas.openxmlformats.org/officeDocument/2006/relationships" id="263" r:id="R3c395b9b38f0443f"/>
    <p:sldId xmlns:r="http://schemas.openxmlformats.org/officeDocument/2006/relationships" id="264" r:id="R144f65558f614768"/>
    <p:sldId xmlns:r="http://schemas.openxmlformats.org/officeDocument/2006/relationships" id="265" r:id="R56b5243aad224937"/>
    <p:sldId xmlns:r="http://schemas.openxmlformats.org/officeDocument/2006/relationships" id="266" r:id="R98323d34e55a4676"/>
    <p:sldId xmlns:r="http://schemas.openxmlformats.org/officeDocument/2006/relationships" id="267" r:id="R3c1aae5f30b34f46"/>
    <p:sldId xmlns:r="http://schemas.openxmlformats.org/officeDocument/2006/relationships" id="268" r:id="R89d2736e7a3245ef"/>
    <p:sldId xmlns:r="http://schemas.openxmlformats.org/officeDocument/2006/relationships" id="269" r:id="Ree7073f3acb64494"/>
    <p:sldId xmlns:r="http://schemas.openxmlformats.org/officeDocument/2006/relationships" id="270" r:id="R2ef0b990113c4b6b"/>
    <p:sldId xmlns:r="http://schemas.openxmlformats.org/officeDocument/2006/relationships" id="271" r:id="R1ed4f7d5f98846d6"/>
    <p:sldId xmlns:r="http://schemas.openxmlformats.org/officeDocument/2006/relationships" id="272" r:id="Rd3d5d33cd79b45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9c88c927d84d3b" /><Relationship Type="http://schemas.openxmlformats.org/officeDocument/2006/relationships/slideMaster" Target="/ppt/slideMasters/slideMaster1.xml" Id="R3a0d9ad18a5f4c80" /><Relationship Type="http://schemas.openxmlformats.org/officeDocument/2006/relationships/notesMaster" Target="/ppt/notesMasters/notesMaster1.xml" Id="R0c09586a0aa54c42" /><Relationship Type="http://schemas.openxmlformats.org/officeDocument/2006/relationships/presProps" Target="/ppt/presProps.xml" Id="Rbe6a8bc08f494b9b" /><Relationship Type="http://schemas.openxmlformats.org/officeDocument/2006/relationships/tableStyles" Target="/ppt/tableStyles.xml" Id="Rd37131ba3f044fa3" /><Relationship Type="http://schemas.openxmlformats.org/officeDocument/2006/relationships/slide" Target="/ppt/slides/slide1.xml" Id="R906ef4c0cc1f4f4b" /><Relationship Type="http://schemas.openxmlformats.org/officeDocument/2006/relationships/slide" Target="/ppt/slides/slide2.xml" Id="R795182843a9f4fe8" /><Relationship Type="http://schemas.openxmlformats.org/officeDocument/2006/relationships/slide" Target="/ppt/slides/slide3.xml" Id="Rdfc5f059fc524289" /><Relationship Type="http://schemas.openxmlformats.org/officeDocument/2006/relationships/slide" Target="/ppt/slides/slide4.xml" Id="Rc8252353b6264173" /><Relationship Type="http://schemas.openxmlformats.org/officeDocument/2006/relationships/slide" Target="/ppt/slides/slide5.xml" Id="R0f217f9a55e5490d" /><Relationship Type="http://schemas.openxmlformats.org/officeDocument/2006/relationships/slide" Target="/ppt/slides/slide6.xml" Id="Rff105efb32d94a73" /><Relationship Type="http://schemas.openxmlformats.org/officeDocument/2006/relationships/slide" Target="/ppt/slides/slide7.xml" Id="R04504339f3d645be" /><Relationship Type="http://schemas.openxmlformats.org/officeDocument/2006/relationships/slide" Target="/ppt/slides/slide8.xml" Id="R3c395b9b38f0443f" /><Relationship Type="http://schemas.openxmlformats.org/officeDocument/2006/relationships/slide" Target="/ppt/slides/slide9.xml" Id="R144f65558f614768" /><Relationship Type="http://schemas.openxmlformats.org/officeDocument/2006/relationships/slide" Target="/ppt/slides/slide10.xml" Id="R56b5243aad224937" /><Relationship Type="http://schemas.openxmlformats.org/officeDocument/2006/relationships/slide" Target="/ppt/slides/slide11.xml" Id="R98323d34e55a4676" /><Relationship Type="http://schemas.openxmlformats.org/officeDocument/2006/relationships/slide" Target="/ppt/slides/slide12.xml" Id="R3c1aae5f30b34f46" /><Relationship Type="http://schemas.openxmlformats.org/officeDocument/2006/relationships/slide" Target="/ppt/slides/slide13.xml" Id="R89d2736e7a3245ef" /><Relationship Type="http://schemas.openxmlformats.org/officeDocument/2006/relationships/slide" Target="/ppt/slides/slide14.xml" Id="Ree7073f3acb64494" /><Relationship Type="http://schemas.openxmlformats.org/officeDocument/2006/relationships/slide" Target="/ppt/slides/slide15.xml" Id="R2ef0b990113c4b6b" /><Relationship Type="http://schemas.openxmlformats.org/officeDocument/2006/relationships/slide" Target="/ppt/slides/slide16.xml" Id="R1ed4f7d5f98846d6" /><Relationship Type="http://schemas.openxmlformats.org/officeDocument/2006/relationships/slide" Target="/ppt/slides/slide17.xml" Id="Rd3d5d33cd79b45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e3ad0dfda646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f625558a67402e" /><Relationship Type="http://schemas.openxmlformats.org/officeDocument/2006/relationships/notesMaster" Target="/ppt/notesMasters/notesMaster1.xml" Id="R54023e5106264b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1ba1a024014f36" /><Relationship Type="http://schemas.openxmlformats.org/officeDocument/2006/relationships/notesMaster" Target="/ppt/notesMasters/notesMaster1.xml" Id="R9ddaa03288d0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f0e5bd471e4c79" /><Relationship Type="http://schemas.openxmlformats.org/officeDocument/2006/relationships/notesMaster" Target="/ppt/notesMasters/notesMaster1.xml" Id="Ra88c83f064a447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49abef409348c9" /><Relationship Type="http://schemas.openxmlformats.org/officeDocument/2006/relationships/notesMaster" Target="/ppt/notesMasters/notesMaster1.xml" Id="Ra03bbb00613b48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6daf36248b4fdf" /><Relationship Type="http://schemas.openxmlformats.org/officeDocument/2006/relationships/notesMaster" Target="/ppt/notesMasters/notesMaster1.xml" Id="R2101704c1a6f4f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4bf47dc4404321" /><Relationship Type="http://schemas.openxmlformats.org/officeDocument/2006/relationships/notesMaster" Target="/ppt/notesMasters/notesMaster1.xml" Id="R87f4b4123e2e45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c4e84d36c440e" /><Relationship Type="http://schemas.openxmlformats.org/officeDocument/2006/relationships/notesMaster" Target="/ppt/notesMasters/notesMaster1.xml" Id="R9eb34a1d55d342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50072ad6014fa5" /><Relationship Type="http://schemas.openxmlformats.org/officeDocument/2006/relationships/notesMaster" Target="/ppt/notesMasters/notesMaster1.xml" Id="Rab9dc1854ece4c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0c573251424b31" /><Relationship Type="http://schemas.openxmlformats.org/officeDocument/2006/relationships/notesMaster" Target="/ppt/notesMasters/notesMaster1.xml" Id="R713293e56c7f4d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cc9ccfdc704d47" /><Relationship Type="http://schemas.openxmlformats.org/officeDocument/2006/relationships/notesMaster" Target="/ppt/notesMasters/notesMaster1.xml" Id="R82be4c675d5445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a81625e258449b" /><Relationship Type="http://schemas.openxmlformats.org/officeDocument/2006/relationships/notesMaster" Target="/ppt/notesMasters/notesMaster1.xml" Id="Ra8122c999eca44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9c367e175445ab" /><Relationship Type="http://schemas.openxmlformats.org/officeDocument/2006/relationships/notesMaster" Target="/ppt/notesMasters/notesMaster1.xml" Id="Rdb29d4196fd746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c5b63ba6e414b9f" /><Relationship Type="http://schemas.openxmlformats.org/officeDocument/2006/relationships/notesMaster" Target="/ppt/notesMasters/notesMaster1.xml" Id="Re448d66cf61242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ccda7247154680" /><Relationship Type="http://schemas.openxmlformats.org/officeDocument/2006/relationships/notesMaster" Target="/ppt/notesMasters/notesMaster1.xml" Id="Ra3fb46598c0c43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67de1847784413a" /><Relationship Type="http://schemas.openxmlformats.org/officeDocument/2006/relationships/notesMaster" Target="/ppt/notesMasters/notesMaster1.xml" Id="R72d31d06830144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53a66229c14676" /><Relationship Type="http://schemas.openxmlformats.org/officeDocument/2006/relationships/notesMaster" Target="/ppt/notesMasters/notesMaster1.xml" Id="R799bfbab423c4a1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c2a4bafd414741" /><Relationship Type="http://schemas.openxmlformats.org/officeDocument/2006/relationships/notesMaster" Target="/ppt/notesMasters/notesMaster1.xml" Id="R0b3d1c0353ef4a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12B · Do</a:t>
            </a:r>
          </a:p>
          <a:p xmlns:a="http://schemas.openxmlformats.org/drawingml/2006/main">
            <a:r>
              <a:t>Learning objective: I can give a scientific answer with evidence and reasoning, then improve it after audience response.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make a claim that answers the question.</a:t>
            </a:r>
          </a:p>
          <a:p xmlns:a="http://schemas.openxmlformats.org/drawingml/2006/main">
            <a:r>
              <a:t>I can add relevant evidence and a scientific reason.</a:t>
            </a:r>
          </a:p>
          <a:p xmlns:a="http://schemas.openxmlformats.org/drawingml/2006/main">
            <a:r>
              <a:t>I can keep my first answer and make one pupil-owned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12B · Do</a:t>
            </a:r>
          </a:p>
          <a:p xmlns:a="http://schemas.openxmlformats.org/drawingml/2006/main">
            <a:r>
              <a:t>Learning objective: I can give a scientific answer with evidence and reasoning, then improve it after audience response.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make a claim that answers the question.</a:t>
            </a:r>
          </a:p>
          <a:p xmlns:a="http://schemas.openxmlformats.org/drawingml/2006/main">
            <a:r>
              <a:t>I can add relevant evidence and a scientific reason.</a:t>
            </a:r>
          </a:p>
          <a:p xmlns:a="http://schemas.openxmlformats.org/drawingml/2006/main">
            <a:r>
              <a:t>I can keep my first answer and make one pupil-owned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W12A: question, evidence and reason must connect.</a:t>
            </a:r>
          </a:p>
          <a:p xmlns:a="http://schemas.openxmlformats.org/drawingml/2006/main">
            <a:r>
              <a:t>W11: a claim must stay within what was measured.</a:t>
            </a:r>
          </a:p>
          <a:p xmlns:a="http://schemas.openxmlformats.org/drawingml/2006/main">
            <a:r>
              <a:t>W9: a model can be useful and still have a limitation.</a:t>
            </a:r>
          </a:p>
          <a:p xmlns:a="http://schemas.openxmlformats.org/drawingml/2006/main">
            <a:r>
              <a:t>Lead-in: an improvement keeps the pupil's meaning and makes the Science clearer.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Name the three parts of a strong short answer.</a:t>
            </a:r>
          </a:p>
          <a:p xmlns:a="http://schemas.openxmlformats.org/drawingml/2006/main">
            <a:r>
              <a:t>Explain why the first answer must be kept.</a:t>
            </a:r>
          </a:p>
          <a:p xmlns:a="http://schemas.openxmlformats.org/drawingml/2006/main">
            <a:r>
              <a:t>State one useful audience question.</a:t>
            </a:r>
          </a:p>
          <a:p xmlns:a="http://schemas.openxmlformats.org/drawingml/2006/main">
            <a:r>
              <a:t>Improve: 'Fabric slowed it' by adding evidence.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CLAIM · answer the question</a:t>
            </a:r>
          </a:p>
          <a:p xmlns:a="http://schemas.openxmlformats.org/drawingml/2006/main">
            <a:r>
              <a:t>A claim on its own is a guess with confidence.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EVIDENCE · use a relevant result</a:t>
            </a:r>
          </a:p>
          <a:p xmlns:a="http://schemas.openxmlformats.org/drawingml/2006/main">
            <a:r>
              <a:t>Numbers with units, from repeats.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REASON · explain the science</a:t>
            </a:r>
          </a:p>
          <a:p xmlns:a="http://schemas.openxmlformats.org/drawingml/2006/main">
            <a:r>
              <a:t>The reason is the science idea joined to the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Add the repeated distances and explain friction</a:t>
            </a:r>
          </a:p>
          <a:p xmlns:a="http://schemas.openxmlformats.org/drawingml/2006/main">
            <a:r>
              <a:t>Add three unrelated space facts</a:t>
            </a:r>
          </a:p>
          <a:p xmlns:a="http://schemas.openxmlformats.org/drawingml/2006/main">
            <a:r>
              <a:t>Use bigger lettering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CLAIM · answer the question</a:t>
            </a:r>
          </a:p>
          <a:p xmlns:a="http://schemas.openxmlformats.org/drawingml/2006/main">
            <a:r>
              <a:t>A claim on its own is a guess with confidence.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EVIDENCE · use a relevant result</a:t>
            </a:r>
          </a:p>
          <a:p xmlns:a="http://schemas.openxmlformats.org/drawingml/2006/main">
            <a:r>
              <a:t>Numbers with units, from repeats.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REASON · explain the science</a:t>
            </a:r>
          </a:p>
          <a:p xmlns:a="http://schemas.openxmlformats.org/drawingml/2006/main">
            <a:r>
              <a:t>The reason is the science idea joined to the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Add the repeated distances and explain friction</a:t>
            </a:r>
          </a:p>
          <a:p xmlns:a="http://schemas.openxmlformats.org/drawingml/2006/main">
            <a:r>
              <a:t>Add three unrelated space facts</a:t>
            </a:r>
          </a:p>
          <a:p xmlns:a="http://schemas.openxmlformats.org/drawingml/2006/main">
            <a:r>
              <a:t>Use bigger lettering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CLAIM · answer the question</a:t>
            </a:r>
          </a:p>
          <a:p xmlns:a="http://schemas.openxmlformats.org/drawingml/2006/main">
            <a:r>
              <a:t>A claim on its own is a guess with confidence.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EVIDENCE · use a relevant result</a:t>
            </a:r>
          </a:p>
          <a:p xmlns:a="http://schemas.openxmlformats.org/drawingml/2006/main">
            <a:r>
              <a:t>Numbers with units, from repeats.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REASON · explain the science</a:t>
            </a:r>
          </a:p>
          <a:p xmlns:a="http://schemas.openxmlformats.org/drawingml/2006/main">
            <a:r>
              <a:t>The reason is the science idea joined to the evidence.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Add the repeated distances and explain friction</a:t>
            </a:r>
          </a:p>
          <a:p xmlns:a="http://schemas.openxmlformats.org/drawingml/2006/main">
            <a:r>
              <a:t>Add three unrelated space facts</a:t>
            </a:r>
          </a:p>
          <a:p xmlns:a="http://schemas.openxmlformats.org/drawingml/2006/main">
            <a:r>
              <a:t>Use bigger lettering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my answer a statement that answers the scientific question</a:t>
            </a:r>
          </a:p>
          <a:p xmlns:a="http://schemas.openxmlformats.org/drawingml/2006/main">
            <a:r>
              <a:t>REASONING why the evidence matters the scientific idea that connects evidence to a claim</a:t>
            </a:r>
          </a:p>
          <a:p xmlns:a="http://schemas.openxmlformats.org/drawingml/2006/main">
            <a:r>
              <a:t>REVISE make meaning clearer change an answer after checking it while keeping its ownership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visible first-and-next answer makes Voice, Audience and Influence real without turning the task into a score.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Worked practice answer: 'The rover went farther on the smooth surface.' Keep it visible as the pupil's starting Voice; these practice data are not next week's test.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Add worked evidence: smooth 46, 44, 45 cm; fabric 18, 20, 19 cm. Select only the values that answer the question.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Add reasoning: the fabric produced more friction, opposing motion, so the rover travelled less far.</a:t>
            </a:r>
          </a:p>
          <a:p xmlns:a="http://schemas.openxmlformats.org/drawingml/2006/main">
            <a:r>
              <a:t>Claim · Evidence · Reason builder</a:t>
            </a:r>
          </a:p>
          <a:p xmlns:a="http://schemas.openxmlformats.org/drawingml/2006/main">
            <a:r>
              <a:t>Press a sentence, then the slot it belongs in. Two of them are weak — say why.</a:t>
            </a:r>
          </a:p>
          <a:p xmlns:a="http://schemas.openxmlformats.org/drawingml/2006/main">
            <a:r>
              <a:t>The rover travels farther on the smooth surface.</a:t>
            </a:r>
          </a:p>
          <a:p xmlns:a="http://schemas.openxmlformats.org/drawingml/2006/main">
            <a:r>
              <a:t>Smooth 46, 44, 45 cm; fabric 18, 20, 19 cm.</a:t>
            </a:r>
          </a:p>
          <a:p xmlns:a="http://schemas.openxmlformats.org/drawingml/2006/main">
            <a:r>
              <a:t>Fabric creates more friction, which opposes motion, so the rover stops sooner.</a:t>
            </a:r>
          </a:p>
          <a:p xmlns:a="http://schemas.openxmlformats.org/drawingml/2006/main">
            <a:r>
              <a:t>The rover went farther because smooth is better.</a:t>
            </a:r>
          </a:p>
          <a:p xmlns:a="http://schemas.openxmlformats.org/drawingml/2006/main">
            <a:r>
              <a:t>It went 46 cm once on smooth.</a:t>
            </a:r>
          </a:p>
          <a:p xmlns:a="http://schemas.openxmlformats.org/drawingml/2006/main">
            <a:r>
              <a:t>CLAIM</a:t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REASON</a:t>
            </a:r>
          </a:p>
          <a:p xmlns:a="http://schemas.openxmlformats.org/drawingml/2006/main">
            <a:r>
              <a:t>weak</a:t>
            </a:r>
          </a:p>
          <a:p xmlns:a="http://schemas.openxmlformats.org/drawingml/2006/main">
            <a:r>
              <a:t>Press a sentence.</a:t>
            </a:r>
          </a:p>
          <a:p xmlns:a="http://schemas.openxmlformats.org/drawingml/2006/main">
            <a:r>
              <a:t>Audience: “How does friction explain the difference?”</a:t>
            </a:r>
          </a:p>
          <a:p xmlns:a="http://schemas.openxmlformats.org/drawingml/2006/main">
            <a:r>
              <a:t>Improve after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CLAIM my answer a statement that answers the scientific question</a:t>
            </a:r>
          </a:p>
          <a:p xmlns:a="http://schemas.openxmlformats.org/drawingml/2006/main">
            <a:r>
              <a:t>REASONING why the evidence matters the scientific idea that connects evidence to a claim</a:t>
            </a:r>
          </a:p>
          <a:p xmlns:a="http://schemas.openxmlformats.org/drawingml/2006/main">
            <a:r>
              <a:t>REVISE make meaning clearer change an answer after checking it while keeping its ownership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visible first-and-next answer makes Voice, Audience and Influence real without turning the task into a score.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Worked practice answer: 'The rover went farther on the smooth surface.' Keep it visible as the pupil's starting Voice; these practice data are not next week's test.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Add worked evidence: smooth 46, 44, 45 cm; fabric 18, 20, 19 cm. Select only the values that answer the question.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Add reasoning: the fabric produced more friction, opposing motion, so the rover travelled less far.</a:t>
            </a:r>
          </a:p>
          <a:p xmlns:a="http://schemas.openxmlformats.org/drawingml/2006/main">
            <a:r>
              <a:t>Claim · Evidence · Reason builder</a:t>
            </a:r>
          </a:p>
          <a:p xmlns:a="http://schemas.openxmlformats.org/drawingml/2006/main">
            <a:r>
              <a:t>Press a sentence, then the slot it belongs in. Two of them are weak — say why.</a:t>
            </a:r>
          </a:p>
          <a:p xmlns:a="http://schemas.openxmlformats.org/drawingml/2006/main">
            <a:r>
              <a:t>The rover travels farther on the smooth surface.</a:t>
            </a:r>
          </a:p>
          <a:p xmlns:a="http://schemas.openxmlformats.org/drawingml/2006/main">
            <a:r>
              <a:t>Smooth 46, 44, 45 cm; fabric 18, 20, 19 cm.</a:t>
            </a:r>
          </a:p>
          <a:p xmlns:a="http://schemas.openxmlformats.org/drawingml/2006/main">
            <a:r>
              <a:t>Fabric creates more friction, which opposes motion, so the rover stops sooner.</a:t>
            </a:r>
          </a:p>
          <a:p xmlns:a="http://schemas.openxmlformats.org/drawingml/2006/main">
            <a:r>
              <a:t>The rover went farther because smooth is better.</a:t>
            </a:r>
          </a:p>
          <a:p xmlns:a="http://schemas.openxmlformats.org/drawingml/2006/main">
            <a:r>
              <a:t>It went 46 cm once on smooth.</a:t>
            </a:r>
          </a:p>
          <a:p xmlns:a="http://schemas.openxmlformats.org/drawingml/2006/main">
            <a:r>
              <a:t>CLAIM</a:t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REASON</a:t>
            </a:r>
          </a:p>
          <a:p xmlns:a="http://schemas.openxmlformats.org/drawingml/2006/main">
            <a:r>
              <a:t>weak</a:t>
            </a:r>
          </a:p>
          <a:p xmlns:a="http://schemas.openxmlformats.org/drawingml/2006/main">
            <a:r>
              <a:t>Press a sentence.</a:t>
            </a:r>
          </a:p>
          <a:p xmlns:a="http://schemas.openxmlformats.org/drawingml/2006/main">
            <a:r>
              <a:t>Audience: “How does friction explain the difference?”</a:t>
            </a:r>
          </a:p>
          <a:p xmlns:a="http://schemas.openxmlformats.org/drawingml/2006/main">
            <a:r>
              <a:t>Improve after the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The rover went farther on smooth surface: 44–46 cm versus 18–20 cm, because fabric produced more friction.</a:t>
            </a:r>
          </a:p>
          <a:p xmlns:a="http://schemas.openxmlformats.org/drawingml/2006/main">
            <a:r>
              <a:t>The rover was excellent, amazing, fast and very interesting on the table.</a:t>
            </a:r>
          </a:p>
          <a:p xmlns:a="http://schemas.openxmlformats.org/drawingml/2006/main">
            <a:r>
              <a:t>The Earth rotates once in about 24 hours, and the Moon reflects sunlight.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Adult Audience says what was heard: 'I heard your claim and the smooth-surface evidence.'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The adult asks one check, such as: 'How does friction explain the difference?' The pupil chooses the next move.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Keep the first answer, add the pupil's revision beside it, then name exactly what became clearer.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visible first-and-next answer makes Voice, Audience and Influence real without turning the task into a score.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Adult Audience says what was heard: 'I heard your claim and the smooth-surface evidence.'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The adult asks one check, such as: 'How does friction explain the difference?' The pupil chooses the next move.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Keep the first answer, add the pupil's revision beside it, then name exactly what became clearer.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visible first-and-next answer makes Voice, Audience and Influence real without turning the task into a score.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Match each complete question–evidence–reason answer or honest limitation to Forces, Space or Climate. Freeze one answer and its limit, then improve it after an audience check.</a:t>
            </a:r>
          </a:p>
          <a:p xmlns:a="http://schemas.openxmlformats.org/drawingml/2006/main">
            <a:r>
              <a:t>Choose a topic question Read its evidence Explain the scientific reason Add a fair limit and revise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FORCES ANSWER · Why less far on fabric? Practice evidence: smooth 46, 44, 45 cm; fabric 18, 20, 19 cm. Greater fabric friction opposed motion more.</a:t>
            </a:r>
          </a:p>
          <a:p xmlns:a="http://schemas.openxmlformats.org/drawingml/2006/main">
            <a:r>
              <a:t>FORCES LIMIT · one small rover One rover and two classroom surfaces cannot represent every vehicle or terrain.</a:t>
            </a:r>
          </a:p>
          <a:p xmlns:a="http://schemas.openxmlformats.org/drawingml/2006/main">
            <a:r>
              <a:t>SPACE ANSWER · Why day and night? Model evidence: a marked place turns into and out of the lamp's light. Earth rotates, so day and night repeat.</a:t>
            </a:r>
          </a:p>
          <a:p xmlns:a="http://schemas.openxmlformats.org/drawingml/2006/main">
            <a:r>
              <a:t>SPACE LIMIT · simplified lamp and globe The model is not to scale and fixing the lamp is an assumption; it shows how rotation explains the pattern.</a:t>
            </a:r>
          </a:p>
          <a:p xmlns:a="http://schemas.openxmlformats.org/drawingml/2006/main">
            <a:r>
              <a:t>CLIMATE ANSWER · Why can extra gas warm Earth? Energy-route evidence: more outgoing infrared is absorbed and some returns towards the surface, slowing net energy loss and raising the global average.</a:t>
            </a:r>
          </a:p>
          <a:p xmlns:a="http://schemas.openxmlformats.org/drawingml/2006/main">
            <a:r>
              <a:t>CLIMATE LIMIT · arrows simplify a complex system The energy route shows direction, not real amounts, times or every climate feedback.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FORCES</a:t>
            </a:r>
          </a:p>
          <a:p xmlns:a="http://schemas.openxmlformats.org/drawingml/2006/main">
            <a:r>
              <a:t>SPACE</a:t>
            </a:r>
          </a:p>
          <a:p xmlns:a="http://schemas.openxmlformats.org/drawingml/2006/main">
            <a:r>
              <a:t>CLIMATE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longer answer is always a stronger scientific answer.</a:t>
            </a:r>
          </a:p>
          <a:p xmlns:a="http://schemas.openxmlformats.org/drawingml/2006/main">
            <a:r>
              <a:t>Keep it: the number of words decides quality.</a:t>
            </a:r>
          </a:p>
          <a:p xmlns:a="http://schemas.openxmlformats.org/drawingml/2006/main">
            <a:r>
              <a:t>Repair it: strength comes from a relevant claim, evidence and reason.</a:t>
            </a:r>
          </a:p>
          <a:p xmlns:a="http://schemas.openxmlformats.org/drawingml/2006/main">
            <a:r>
              <a:t>Change it: every answer must be one sentence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Match each complete question–evidence–reason answer or honest limitation to Forces, Space or Climate. Freeze one answer and its limit, then improve it after an audience check.</a:t>
            </a:r>
          </a:p>
          <a:p xmlns:a="http://schemas.openxmlformats.org/drawingml/2006/main">
            <a:r>
              <a:t>Choose a topic question Read its evidence Explain the scientific reason Add a fair limit and revise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FORCES ANSWER · Why less far on fabric? Practice evidence: smooth 46, 44, 45 cm; fabric 18, 20, 19 cm. Greater fabric friction opposed motion more.</a:t>
            </a:r>
          </a:p>
          <a:p xmlns:a="http://schemas.openxmlformats.org/drawingml/2006/main">
            <a:r>
              <a:t>FORCES LIMIT · one small rover One rover and two classroom surfaces cannot represent every vehicle or terrain.</a:t>
            </a:r>
          </a:p>
          <a:p xmlns:a="http://schemas.openxmlformats.org/drawingml/2006/main">
            <a:r>
              <a:t>SPACE ANSWER · Why day and night? Model evidence: a marked place turns into and out of the lamp's light. Earth rotates, so day and night repeat.</a:t>
            </a:r>
          </a:p>
          <a:p xmlns:a="http://schemas.openxmlformats.org/drawingml/2006/main">
            <a:r>
              <a:t>SPACE LIMIT · simplified lamp and globe The model is not to scale and fixing the lamp is an assumption; it shows how rotation explains the pattern.</a:t>
            </a:r>
          </a:p>
          <a:p xmlns:a="http://schemas.openxmlformats.org/drawingml/2006/main">
            <a:r>
              <a:t>CLIMATE ANSWER · Why can extra gas warm Earth? Energy-route evidence: more outgoing infrared is absorbed and some returns towards the surface, slowing net energy loss and raising the global average.</a:t>
            </a:r>
          </a:p>
          <a:p xmlns:a="http://schemas.openxmlformats.org/drawingml/2006/main">
            <a:r>
              <a:t>CLIMATE LIMIT · arrows simplify a complex system The energy route shows direction, not real amounts, times or every climate feedback.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FORCES</a:t>
            </a:r>
          </a:p>
          <a:p xmlns:a="http://schemas.openxmlformats.org/drawingml/2006/main">
            <a:r>
              <a:t>SPACE</a:t>
            </a:r>
          </a:p>
          <a:p xmlns:a="http://schemas.openxmlformats.org/drawingml/2006/main">
            <a:r>
              <a:t>CLIMATE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longer answer is always a stronger scientific answer.</a:t>
            </a:r>
          </a:p>
          <a:p xmlns:a="http://schemas.openxmlformats.org/drawingml/2006/main">
            <a:r>
              <a:t>Keep it: the number of words decides quality.</a:t>
            </a:r>
          </a:p>
          <a:p xmlns:a="http://schemas.openxmlformats.org/drawingml/2006/main">
            <a:r>
              <a:t>Repair it: strength comes from a relevant claim, evidence and reason.</a:t>
            </a:r>
          </a:p>
          <a:p xmlns:a="http://schemas.openxmlformats.org/drawingml/2006/main">
            <a:r>
              <a:t>Change it: every answer must be one sentence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Match each complete question–evidence–reason answer or honest limitation to Forces, Space or Climate. Freeze one answer and its limit, then improve it after an audience check.</a:t>
            </a:r>
          </a:p>
          <a:p xmlns:a="http://schemas.openxmlformats.org/drawingml/2006/main">
            <a:r>
              <a:t>Choose a topic question Read its evidence Explain the scientific reason Add a fair limit and revise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FORCES ANSWER · Why less far on fabric? Practice evidence: smooth 46, 44, 45 cm; fabric 18, 20, 19 cm. Greater fabric friction opposed motion more.</a:t>
            </a:r>
          </a:p>
          <a:p xmlns:a="http://schemas.openxmlformats.org/drawingml/2006/main">
            <a:r>
              <a:t>FORCES LIMIT · one small rover One rover and two classroom surfaces cannot represent every vehicle or terrain.</a:t>
            </a:r>
          </a:p>
          <a:p xmlns:a="http://schemas.openxmlformats.org/drawingml/2006/main">
            <a:r>
              <a:t>SPACE ANSWER · Why day and night? Model evidence: a marked place turns into and out of the lamp's light. Earth rotates, so day and night repeat.</a:t>
            </a:r>
          </a:p>
          <a:p xmlns:a="http://schemas.openxmlformats.org/drawingml/2006/main">
            <a:r>
              <a:t>SPACE LIMIT · simplified lamp and globe The model is not to scale and fixing the lamp is an assumption; it shows how rotation explains the pattern.</a:t>
            </a:r>
          </a:p>
          <a:p xmlns:a="http://schemas.openxmlformats.org/drawingml/2006/main">
            <a:r>
              <a:t>CLIMATE ANSWER · Why can extra gas warm Earth? Energy-route evidence: more outgoing infrared is absorbed and some returns towards the surface, slowing net energy loss and raising the global average.</a:t>
            </a:r>
          </a:p>
          <a:p xmlns:a="http://schemas.openxmlformats.org/drawingml/2006/main">
            <a:r>
              <a:t>CLIMATE LIMIT · arrows simplify a complex system The energy route shows direction, not real amounts, times or every climate feedback.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FORCES</a:t>
            </a:r>
          </a:p>
          <a:p xmlns:a="http://schemas.openxmlformats.org/drawingml/2006/main">
            <a:r>
              <a:t>SPACE</a:t>
            </a:r>
          </a:p>
          <a:p xmlns:a="http://schemas.openxmlformats.org/drawingml/2006/main">
            <a:r>
              <a:t>CLIMATE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A longer answer is always a stronger scientific answer.</a:t>
            </a:r>
          </a:p>
          <a:p xmlns:a="http://schemas.openxmlformats.org/drawingml/2006/main">
            <a:r>
              <a:t>Keep it: the number of words decides quality.</a:t>
            </a:r>
          </a:p>
          <a:p xmlns:a="http://schemas.openxmlformats.org/drawingml/2006/main">
            <a:r>
              <a:t>Repair it: strength comes from a relevant claim, evidence and reason.</a:t>
            </a:r>
          </a:p>
          <a:p xmlns:a="http://schemas.openxmlformats.org/drawingml/2006/main">
            <a:r>
              <a:t>Change it: every answer must be one sentence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Question cards from forces, space and climate; first/next answer sheet; evidence cards; pencil.</a:t>
            </a:r>
          </a:p>
          <a:p xmlns:a="http://schemas.openxmlformats.org/drawingml/2006/main">
            <a:r>
              <a:t>Same outcome: I can give a scientific answer with evidence and reasoning, then improve it after audience response.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three on-screen answer sets and limitations. Respond by pointing, speaking, typing in a pupil document or exact adult scribing; nothing is uploaded.</a:t>
            </a:r>
          </a:p>
          <a:p xmlns:a="http://schemas.openxmlformats.org/drawingml/2006/main">
            <a:r>
              <a:t>Same evidence: First answer, adult read-back, pupil-selected next move and improved answer or justified decision to keep it.</a:t>
            </a:r>
          </a:p>
          <a:p xmlns:a="http://schemas.openxmlformats.org/drawingml/2006/main">
            <a:r>
              <a:t>Equipment / setup Question cards from forces, space and climate; first/next answer sheet; evidence cards; pencil.</a:t>
            </a:r>
          </a:p>
          <a:p xmlns:a="http://schemas.openxmlformats.org/drawingml/2006/main">
            <a:r>
              <a:t>Safety / sensory No forced public speaking or recording. Use an audience of one, pointing, quiet handover or exact adult scribing.</a:t>
            </a:r>
          </a:p>
          <a:p xmlns:a="http://schemas.openxmlformats.org/drawingml/2006/main">
            <a:r>
              <a:t>Offline parity Use the three on-screen answer sets and limitations. Respond by pointing, speaking, typing in a pupil document or exact adult scribing; nothing is uploaded.</a:t>
            </a:r>
          </a:p>
          <a:p xmlns:a="http://schemas.openxmlformats.org/drawingml/2006/main">
            <a:r>
              <a:t>No-equipment/access route: Use paper cards, drawing, pointing or spoken response. Preserve the first response beside the next response.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Answer one of the three embedded questions independently, receive one audience check and revise one part.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Claim, Evidence and Reason headings only if needed; fade them after the first success.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Question cards from forces, space and climate; first/next answer sheet; evidence cards; pencil.</a:t>
            </a:r>
          </a:p>
          <a:p xmlns:a="http://schemas.openxmlformats.org/drawingml/2006/main">
            <a:r>
              <a:t>Same outcome: I can give a scientific answer with evidence and reasoning, then improve it after audience response.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three on-screen answer sets and limitations. Respond by pointing, speaking, typing in a pupil document or exact adult scribing; nothing is uploaded.</a:t>
            </a:r>
          </a:p>
          <a:p xmlns:a="http://schemas.openxmlformats.org/drawingml/2006/main">
            <a:r>
              <a:t>Same evidence: First answer, adult read-back, pupil-selected next move and improved answer or justified decision to keep it.</a:t>
            </a:r>
          </a:p>
          <a:p xmlns:a="http://schemas.openxmlformats.org/drawingml/2006/main">
            <a:r>
              <a:t>Equipment / setup Question cards from forces, space and climate; first/next answer sheet; evidence cards; pencil.</a:t>
            </a:r>
          </a:p>
          <a:p xmlns:a="http://schemas.openxmlformats.org/drawingml/2006/main">
            <a:r>
              <a:t>Safety / sensory No forced public speaking or recording. Use an audience of one, pointing, quiet handover or exact adult scribing.</a:t>
            </a:r>
          </a:p>
          <a:p xmlns:a="http://schemas.openxmlformats.org/drawingml/2006/main">
            <a:r>
              <a:t>Offline parity Use the three on-screen answer sets and limitations. Respond by pointing, speaking, typing in a pupil document or exact adult scribing; nothing is uploaded.</a:t>
            </a:r>
          </a:p>
          <a:p xmlns:a="http://schemas.openxmlformats.org/drawingml/2006/main">
            <a:r>
              <a:t>No-equipment/access route: Use paper cards, drawing, pointing or spoken response. Preserve the first response beside the next response.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Answer one of the three embedded questions independently, receive one audience check and revise one part.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 Claim, Evidence and Reason headings only if needed; fade them after the first success.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SCI_G_W12B_Science_Answer_Lab_Do.html.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move. The pupil writes what they said and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One revised answer shows today's reasoning, not everything the pupil knows. Spoken, pointed, drawn and exactly scribed routes are equivalent.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Explain how audience response made your Science clearer.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What I said, and what it changed:</a:t>
            </a:r>
          </a:p>
          <a:p xmlns:a="http://schemas.openxmlformats.org/drawingml/2006/main">
            <a:r>
              <a:t>Next I will ______. One next step chosen after the adult listened.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SCI_G_W12B_Science_Answer_Lab_Do.html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a6b8bf739a47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53d8c9d72a462e" /><Relationship Type="http://schemas.openxmlformats.org/officeDocument/2006/relationships/slideLayout" Target="/ppt/slideLayouts/slideLayout1.xml" Id="R6008060d5a4d49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08060d5a4d49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fe9feae2747fb" /><Relationship Type="http://schemas.openxmlformats.org/officeDocument/2006/relationships/hyperlink" Target="SCI_G_W12B_Science_Answer_Lab_Do.html" TargetMode="External" Id="R038330642bf64b20" /><Relationship Type="http://schemas.openxmlformats.org/officeDocument/2006/relationships/notesSlide" Target="/ppt/notesSlides/notesSlide1.xml" Id="R776f5b17167544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b4cc0e3004695" /><Relationship Type="http://schemas.openxmlformats.org/officeDocument/2006/relationships/notesSlide" Target="/ppt/notesSlides/notesSlide2.xml" Id="Rfd96b948662b43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d101df3be48bc" /><Relationship Type="http://schemas.openxmlformats.org/officeDocument/2006/relationships/notesSlide" Target="/ppt/notesSlides/notesSlide3.xml" Id="R275547df1c5147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0fe8a146a4dc3" /><Relationship Type="http://schemas.openxmlformats.org/officeDocument/2006/relationships/notesSlide" Target="/ppt/notesSlides/notesSlide4.xml" Id="R3fe4e8056a4b4d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47c30f97347dd" /><Relationship Type="http://schemas.openxmlformats.org/officeDocument/2006/relationships/notesSlide" Target="/ppt/notesSlides/notesSlide5.xml" Id="R4a0a48276c634c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5830d7047451a" /><Relationship Type="http://schemas.openxmlformats.org/officeDocument/2006/relationships/image" Target="/ppt/media/image.png" Id="R0e73cae9d7fa4b7c" /><Relationship Type="http://schemas.openxmlformats.org/officeDocument/2006/relationships/image" Target="/ppt/media/image2.png" Id="R43a901c0d4034a50" /><Relationship Type="http://schemas.openxmlformats.org/officeDocument/2006/relationships/image" Target="/ppt/media/image3.png" Id="R320c77a847324968" /><Relationship Type="http://schemas.openxmlformats.org/officeDocument/2006/relationships/notesSlide" Target="/ppt/notesSlides/notesSlide6.xml" Id="Rca45f8d8d83f48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c62c49bdc43a8" /><Relationship Type="http://schemas.openxmlformats.org/officeDocument/2006/relationships/notesSlide" Target="/ppt/notesSlides/notesSlide7.xml" Id="R715312936ecb47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90620e37b4616" /><Relationship Type="http://schemas.openxmlformats.org/officeDocument/2006/relationships/notesSlide" Target="/ppt/notesSlides/notesSlide8.xml" Id="Rbcf9e4e5846548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22c27bb044ac8" /><Relationship Type="http://schemas.openxmlformats.org/officeDocument/2006/relationships/notesSlide" Target="/ppt/notesSlides/notesSlide9.xml" Id="Rcf951bc0860a42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b39b8fd5849d7" /><Relationship Type="http://schemas.openxmlformats.org/officeDocument/2006/relationships/notesSlide" Target="/ppt/notesSlides/notesSlide10.xml" Id="Rfa370f7eda754da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9167bdaee4756" /><Relationship Type="http://schemas.openxmlformats.org/officeDocument/2006/relationships/notesSlide" Target="/ppt/notesSlides/notesSlide11.xml" Id="R04fafe5ba03644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f40b589684c45" /><Relationship Type="http://schemas.openxmlformats.org/officeDocument/2006/relationships/notesSlide" Target="/ppt/notesSlides/notesSlide12.xml" Id="R7d8b5b1d313a4e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9476e39b4e4782" /><Relationship Type="http://schemas.openxmlformats.org/officeDocument/2006/relationships/notesSlide" Target="/ppt/notesSlides/notesSlide13.xml" Id="R21687c3537db47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4f322aebb4359" /><Relationship Type="http://schemas.openxmlformats.org/officeDocument/2006/relationships/notesSlide" Target="/ppt/notesSlides/notesSlide14.xml" Id="R1c6c96518aa240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8f899b187462e" /><Relationship Type="http://schemas.openxmlformats.org/officeDocument/2006/relationships/notesSlide" Target="/ppt/notesSlides/notesSlide15.xml" Id="Rc5b45404c9434e2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1fb6cf7314bad" /><Relationship Type="http://schemas.openxmlformats.org/officeDocument/2006/relationships/notesSlide" Target="/ppt/notesSlides/notesSlide16.xml" Id="R16e5eb2a70ac47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188dfef3a4728" /><Relationship Type="http://schemas.openxmlformats.org/officeDocument/2006/relationships/notesSlide" Target="/ppt/notesSlides/notesSlide17.xml" Id="Rf94717013c4b42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E1F1E86E-1D27-4A4D-A694-461F2671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1FB5E92-FAC4-400F-8C42-C2D2BF74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98D523B-404C-48CC-BD00-C21CF16C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17E804-FD4D-409F-9028-9581D453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Answer Lab: Say It, Support It, Improve It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F732475-72A5-443A-B788-E3438F33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3E3C2351-C33A-4D45-A253-2BBDB9A9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give a scientific answer with evidence and reasoning, then improve it after audience response.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FDE6D3B7-23F6-4269-A2DF-F8EF3AB2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46EB01BF-4615-49B3-82A5-4DF8BFD6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SAY IT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C79D9BA5-C6F3-4190-B052-BD30DAFE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FD92A84C-5198-4627-8997-B1616BC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E43BF8CD-E120-4D51-A976-401914D1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SUPPORT IT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82BF69DC-0A40-40CB-9FA1-80D1A0BF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1C2F3C70-0CE7-4365-B0C3-022338A4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55A8A1C0-4B0E-4B72-B2C1-D075EB35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IMPROVE IT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AFB6C3A2-B7F9-4AB1-BB57-21156492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BF1DA063-3518-4A2D-9BEC-625DC5CF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F7D6E"/>
                </a:solidFill>
                <a:latin typeface="Arial"/>
                <a:ea typeface="Arial"/>
                <a:cs typeface="Arial"/>
                <a:hlinkClick xmlns:r="http://schemas.openxmlformats.org/officeDocument/2006/relationships" r:id="R038330642bf64b20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4D9DD6C9-6E2E-427F-8EEB-34EF7E18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4EA8BD32-0AAE-4632-A741-C1F8C810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757307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32E8A37E-037E-462A-867A-A0717F14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22B78B0-9FA7-4397-BB5B-7923A4DD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D0E9EC0-9FE5-4D20-A348-E82C7282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8BC21D-FCCB-4081-888D-338F5958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1CC7BFD-C023-4405-9290-8E5A8726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7558BE8-563E-4A77-8D94-3AD31E87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make a claim that answers the question.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4B0CF37-4AF4-4F01-ABCC-2E8CE41C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add relevant evidence and a scientific reason.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3D1ABCB-13D5-4BB0-9D16-5EE66DE3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keep my first answer and make one pupil-owned improvement.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7E29C72C-8DBC-4971-AC38-EA5E5F28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6B98AE1-97CB-41B6-8FFA-A0C3664F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929392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4E7CA42-8DE3-4B21-B474-7217EDC6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5108FA8-A36B-4AB4-A856-DD6D8214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3D12F1D-57C2-4486-8E43-533BBFD6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43B9D0-7DEC-43C8-ADCD-3898C763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E2E6032-F98C-4E57-BD10-8A2BB501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EE4A713-7FF6-46C7-B0FE-ACD7C6FF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the three parts of a strong short answer.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49F9A05-B4FE-44AA-8047-C955F979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the first answer must be kept.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F3CBB45-2E65-4FF7-9A47-8D3432F9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one useful audience question.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0D5D29B-858E-464F-9322-BC44C6C2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Improve: 'Fabric slowed it' by adding evidence.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E637CB6-1B52-483A-8136-6463092C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9527570F-C6E6-4D64-9DC1-1A2F0753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598777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C9D8D00-F04E-43E5-90FF-F80BE5A4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35CF2C8-55AF-4798-8E09-38AEB01B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7E052FD-A9CA-4F2B-B45F-D95AAA3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BBC007-DA7C-46E1-AFC5-66C3C95A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addition would most improve: 'The rover went farther on smooth surface'?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3C68E7D-19F1-4383-8832-871839C5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ADF091A-0BA1-41AF-80C7-4667B2F2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FDBB8D7-EBA6-4EF6-BA38-017A9D3C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Add the repeated distances and explain friction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DE87676-56C6-4681-8AFD-7AB1AF6D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Add three unrelated space facts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80D467B-CEFB-4DEC-8D0E-2C11A330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Use bigger lettering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0223C21-F772-46D9-AAEA-1D409089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5C8D14A5-CEA5-458A-99FF-587981DE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425937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C637899F-E9C7-4FBD-BAD1-06264C5C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9E55329-F478-4829-8532-9A4D2BA8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91BDB46-D8BE-4349-BB3E-89DDC961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B7B1A9-DFE1-4B66-A1D6-94D5FDDD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EE401CB-993A-450C-BE35-80313A83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24566EF-873C-4D62-B243-63AED599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CLAIM · answer the question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1B7D43B-6A24-4D63-87F1-0495B45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 · use a relevant result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B70DC16-9184-4879-9358-C88B6D71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REASON · explain the science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64B9A32-0E13-4DFB-95AF-1610FC24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6DB0432-7274-42ED-A878-EEF660A1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242819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D3891AE3-8F36-4020-A940-6C416BFE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E30F6D5-5B21-4C10-B23D-8C683BFA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1C84B25-642C-4122-826A-9049D26B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2F1D5B5-DAF0-4064-B970-D1C1F543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FD5FD63-F0E7-4FDE-9025-E38B335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3cae9d7fa4b7c"/>
          <a:stretch xmlns:a="http://schemas.openxmlformats.org/drawingml/2006/main"/>
        </p:blipFill>
        <p:spPr>
          <a:xfrm xmlns:a="http://schemas.openxmlformats.org/drawingml/2006/main">
            <a:off x="800100" y="3291620"/>
            <a:ext cx="3378200" cy="77958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456DD20A-16F1-4725-9D9C-8BAB9BA9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901c0d4034a50"/>
          <a:stretch xmlns:a="http://schemas.openxmlformats.org/drawingml/2006/main"/>
        </p:blipFill>
        <p:spPr>
          <a:xfrm xmlns:a="http://schemas.openxmlformats.org/drawingml/2006/main">
            <a:off x="4406900" y="3291620"/>
            <a:ext cx="3378200" cy="779585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D4F4A53D-B964-4697-BABE-6FB21C15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c77a847324968"/>
          <a:stretch xmlns:a="http://schemas.openxmlformats.org/drawingml/2006/main"/>
        </p:blipFill>
        <p:spPr>
          <a:xfrm xmlns:a="http://schemas.openxmlformats.org/drawingml/2006/main">
            <a:off x="8013700" y="3291620"/>
            <a:ext cx="3378200" cy="779585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E2127352-EC6E-4111-AC7D-DE3F1A08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Reason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9FC80C5B-BDD8-4E0A-888A-F766E51E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DDCCF0E4-D93D-4E1A-A558-EC7E54D7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7853731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ED28A20-D8F0-4ECC-A358-56FFEB56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6BB35E2-C26D-455E-8289-9763081E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5A773BA-7D79-4E47-95E6-5D32AC4E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0854965-61F3-4215-A6D8-14AFA43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D5F5912-C869-4524-B8EE-FCAFBE6E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3C665FC-6E13-4F9E-8146-DF94F779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claim — my answer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34C51AF-C189-40DE-A0B6-7CB7A379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reasoning — why the evidence matters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A5E0AAB-5669-4AA5-9CAA-0DE5005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revise — make meaning clearer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5B033C3-0B3C-4E93-9D17-D827072E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0604D8E-2540-4B45-B9CE-B86DC599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12763647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F8B9D217-3E34-4C24-BA69-F950B77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EC8228B-55FE-40EA-BA7D-FEFD556F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5F2CE63-5C99-4381-B888-E2675CE7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EADFC30-A0EA-42F4-B792-214373E0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324AB75-8937-446F-A936-AD25C0E8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AA9E5B6-0B26-4487-A532-9A8C9997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Worked practice answer: 'The rover went farther on the smooth surface.' Keep it visible as the pupil's starting Voice; these practice data are not next week's test.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C71F277-FCA7-4B8F-9DC3-C93A89F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worked evidence: smooth 46, 44, 45 cm; fabric 18, 20, 19 cm. Select only the values that answer the question.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B4D8869-D829-4026-A5EB-22B82B47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62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reasoning: the fabric produced more friction, opposing motion, so the rover travelled less far.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4A72C26-2613-4F22-86F1-139B9E43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F98C531-32F8-4FF3-AF57-D029EFC0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10175784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F696C1A-AC4B-42F9-A3A8-F08E7F15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359B170-9AD6-4057-93F6-15756231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C7A661C-91CD-4A26-AE2B-01FB56FD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4C057F3-656F-4580-946B-18E8EE41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revision is scientifically strongest?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78B7B31-E066-46C9-B3D5-FE5C2B6D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3C9F49B-ED3C-4B8F-B815-29C1A94F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rover went farther on smooth surface: 44–46 cm versus 18–20 cm, because fabric produced more friction.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A725936-2BC1-4F65-A914-AC669DC1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The rover was excellent, amazing, fast and very interesting on the table.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C6CDD7E-1314-490A-91BA-27342B65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Earth rotates once in about 24 hours, and the Moon reflects sunlight.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D05F769-A5A7-4CCA-85B5-657ACFF4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EF51BC2-4DE5-4204-BEF5-020A368E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BD3D20A-2914-45A3-93D8-96942D51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52990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A787EE91-138A-4A61-BCDB-579B7AE4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A2C5FD4-25B0-4522-A0CA-BAD79B08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27510D4-B155-490D-8057-63086DCF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71C6362-8871-44D7-8591-21134729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EEE6FE9-427C-4BB8-809B-BBABB234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DF30941-9BCE-43BB-9E68-A141BEF0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Adult Audience says what was heard: 'I heard your claim and the smooth-surface evidence.'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BC97024-FAED-4554-A542-2960C2DE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The adult asks one check, such as: 'How does friction explain the difference?' The pupil chooses the next move.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D0496D3-FA0B-4B16-B6E7-44B63F79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the first answer, add the pupil's revision beside it, then name exactly what became clearer.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3F4816F-ED0A-4636-84F1-1FE76BA6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5FE06CC-5775-4CD8-995B-ACAA8DF6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14107831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63EB0BFD-7BF1-4BC1-8A22-B8710199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FF49F19-7D53-4142-8522-3407B9F4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25B8A5E-CD81-414F-97D4-5C4CAE33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52492F4-7B15-4B0A-AF2D-B7637051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6F3E172-405A-435E-8554-0E54F4F9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B797D3F-3427-42DE-A93C-4A438F0B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longer answer is always a stronger scientific answer.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D0A4193-4969-481D-BF39-557C67E5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the number of words decides quality.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15D22D1-B9D1-4F01-81E4-1F6FB15C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strength comes from a relevant claim, evidence and reason.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D1B53AF-E459-43EC-A1C7-6947384E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Change it: every answer must be one sentence only.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2AB6E152-39F9-4780-A899-8A8D1952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604926F-7AB8-4FF7-AFF6-1F038D5D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21192246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418429CF-8CF0-4B41-8AA4-B60204ED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DD50689-496F-4045-A5FD-21B266C3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A5DD5EA-D422-4874-9D5C-DE7E1CE4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AE1C6F-2EF4-49FB-A6D4-F591D34E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Three-Topic Answer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E8D9A55-65C3-497C-93C0-04B5F3AA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F94F119-7BF6-4A82-AEFF-733063EA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Match each complete question–evidence–reason answer or honest limitation to Forces, Space or Climate. Freeze one answer and its limit, then improve it after an audience check.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A3569EB-725A-4EB8-B182-54393B1C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Choose a topic question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85FB057-FC27-475F-8859-8D7B69C2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its evidence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E8460EF-09FE-42FF-B79C-4314341F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the scientific reason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495C14B-E84B-4739-A731-1AC23CF8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a fair limit and revise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F0D2BAB3-15D7-43D3-9496-47356E17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6457F48A-9B49-46AC-AB0C-2E218021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5747489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B85DD252-2941-44D0-BBE7-9CDAC584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CEE5EBB-E6AD-4EE7-A873-0DE0D991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C038C8C-3D32-4CFE-8AE1-CE292B55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866240-14A8-40C7-9371-7846B4CE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Three-Topic Answer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4367814-1298-467E-B2F3-A3611EFA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2216BEA-50FC-40F3-8E57-CFDA5C78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FCA92345-EDEE-4D5A-B668-8DB40D9A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B79EE84-E33F-46DB-B292-E3498876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19877364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559B545-87D0-4E1A-AB0C-3CB77AC2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E1EE7E3-7D6B-4021-AE9A-2D0F31E1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1206FC8-A767-4CA5-8FE6-70F2A29E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C2F88D-52ED-4731-97A6-FE53E423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6D17A08-2891-44A8-AC7A-1076B9A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D81F4E24-598F-4E1E-ABAA-30C1CA9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FORCES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DC2A884-A2A4-41D8-A368-441A4F4C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SPACE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C79CC45-57D2-40F5-872E-565EA178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CLIMATE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CEDA7C4B-AF0A-441B-BCF0-BB77A94C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Read the complete answer and limit. What did the audience hear, and what will the pupil clarify, add or keep?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7A66AE81-5551-4D43-9BC5-C2C83A60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AACD07BD-BDF4-47A1-8A40-32921909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5809517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E2F10F3-2B14-40B7-A0F9-0F3BFA7B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F721DE8-151F-4FF6-BEA0-B3A97EAB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1F45B31-638D-4B20-BC9B-58931B68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B3CCB8-69F9-44FC-BB88-9685A0E4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1995A76-1864-4BDF-B3EC-0935DDC9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0FC8563-962C-41E8-A1AF-A6ED9EDB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one embedded question—rover friction, day and night, or extra greenhouse gas and warming—give a first answer, have it received by an adult, then revise or justify keeping it.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3F4AC6B-BBFD-45D5-B86F-35D9C6E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First answer, adult read-back, pupil-selected next move and improved answer or justified decision to keep it.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FAA90BF-5F81-414D-93A0-45FF70F6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15D4966-4A62-4358-9E15-47DAD063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9049861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129860F-5D87-4491-8C51-A51B2381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2744183-CD43-4D1A-9BDB-8AFD6E73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9DA96F0-CCF9-45A4-8C38-2A4A4F3D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86CC9E-890E-48DF-BAAC-0660BDF4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9B00032-56DA-4D59-BD0F-196F37B0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CE060B2-C743-43D0-A501-A0C98DC9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Choose one embedded topic answer, identify its claim, evidence and reason, then communicate it in a preferred mode.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8D293BC-D6E0-4319-A143-8CEA2546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Answer one of the three embedded questions independently, receive one audience check and revise one part.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388FE3A-3D25-412A-9993-3E7F6BF3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Answer a second embedded topic question, compare evidence strength and justify the revision or no-change decision.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E9F329A-AAF7-4766-B5E7-14833644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82DE1B3D-99C9-4345-9967-AB9456E7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4774747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BE1B366-AD24-44D8-A04B-482D3C51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84CCBC73-B58E-4F55-90F5-C284E0F8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013756D-056C-4F1F-A3A1-F31B1E4E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5BCB487-C47D-4C71-9ED7-E1457C44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10EBED7-633C-4359-BC49-B41E6F99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9282516-46C8-48AF-9FD5-2E5CCDC5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Explain how audience response made your Science clearer.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BDB1BED-B62D-48B0-97B5-FD5DC41D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B1662107-69A6-40D0-97AA-F4AF97B9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E75369F7-3C6C-4614-884B-F77BEC88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641435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2026-09-08T08:54:17.6570000Z</dcterms:created>
  <dcterms:modified xsi:type="dcterms:W3CDTF">2026-09-08T08:54:17.6570000Z</dcterms:modified>
</coreProperties>
</file>