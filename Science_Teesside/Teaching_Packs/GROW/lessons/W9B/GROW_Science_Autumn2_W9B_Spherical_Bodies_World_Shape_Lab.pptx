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03f63fd04c49e0" /><Relationship Type="http://schemas.openxmlformats.org/officeDocument/2006/relationships/extended-properties" Target="/docProps/app.xml" Id="Rd79658f3b4464be2" /><Relationship Type="http://schemas.openxmlformats.org/officeDocument/2006/relationships/officeDocument" Target="/ppt/presentation.xml" Id="R5807ed41864447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463a016f824f0c"/>
  </p:sldMasterIdLst>
  <p:notesMasterIdLst>
    <p:notesMasterId xmlns:r="http://schemas.openxmlformats.org/officeDocument/2006/relationships" r:id="R146864fff1e94df7"/>
  </p:notesMasterIdLst>
  <p:sldIdLst>
    <p:sldId xmlns:r="http://schemas.openxmlformats.org/officeDocument/2006/relationships" id="256" r:id="R78fdd3b8e08540c7"/>
    <p:sldId xmlns:r="http://schemas.openxmlformats.org/officeDocument/2006/relationships" id="257" r:id="Ra643f8216a88462c"/>
    <p:sldId xmlns:r="http://schemas.openxmlformats.org/officeDocument/2006/relationships" id="258" r:id="R063ce84b00d74acb"/>
    <p:sldId xmlns:r="http://schemas.openxmlformats.org/officeDocument/2006/relationships" id="259" r:id="Rbfa1311538b04420"/>
    <p:sldId xmlns:r="http://schemas.openxmlformats.org/officeDocument/2006/relationships" id="260" r:id="R206b36eb5e864f08"/>
    <p:sldId xmlns:r="http://schemas.openxmlformats.org/officeDocument/2006/relationships" id="261" r:id="R951dc3d156b24e0b"/>
    <p:sldId xmlns:r="http://schemas.openxmlformats.org/officeDocument/2006/relationships" id="262" r:id="R2f2103acf6554552"/>
    <p:sldId xmlns:r="http://schemas.openxmlformats.org/officeDocument/2006/relationships" id="263" r:id="Rc5681c5d357c4e0c"/>
    <p:sldId xmlns:r="http://schemas.openxmlformats.org/officeDocument/2006/relationships" id="264" r:id="R4d2d8c2ce1cf4084"/>
    <p:sldId xmlns:r="http://schemas.openxmlformats.org/officeDocument/2006/relationships" id="265" r:id="R44aa3493d2874e67"/>
    <p:sldId xmlns:r="http://schemas.openxmlformats.org/officeDocument/2006/relationships" id="266" r:id="R64f6201725504be2"/>
    <p:sldId xmlns:r="http://schemas.openxmlformats.org/officeDocument/2006/relationships" id="267" r:id="Rfc9b2943bad74cad"/>
    <p:sldId xmlns:r="http://schemas.openxmlformats.org/officeDocument/2006/relationships" id="268" r:id="R31ce77fa8bbf47d7"/>
    <p:sldId xmlns:r="http://schemas.openxmlformats.org/officeDocument/2006/relationships" id="269" r:id="R9a37a4d9bd9d403c"/>
    <p:sldId xmlns:r="http://schemas.openxmlformats.org/officeDocument/2006/relationships" id="270" r:id="R49cee4670f9f4f85"/>
    <p:sldId xmlns:r="http://schemas.openxmlformats.org/officeDocument/2006/relationships" id="271" r:id="Rb8a77d5caa144073"/>
    <p:sldId xmlns:r="http://schemas.openxmlformats.org/officeDocument/2006/relationships" id="272" r:id="Rff27c6d6acd842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4c820524674a97" /><Relationship Type="http://schemas.openxmlformats.org/officeDocument/2006/relationships/slideMaster" Target="/ppt/slideMasters/slideMaster1.xml" Id="R20463a016f824f0c" /><Relationship Type="http://schemas.openxmlformats.org/officeDocument/2006/relationships/notesMaster" Target="/ppt/notesMasters/notesMaster1.xml" Id="R146864fff1e94df7" /><Relationship Type="http://schemas.openxmlformats.org/officeDocument/2006/relationships/presProps" Target="/ppt/presProps.xml" Id="R00d51b149f4a4021" /><Relationship Type="http://schemas.openxmlformats.org/officeDocument/2006/relationships/tableStyles" Target="/ppt/tableStyles.xml" Id="R27d0db6cb7874f9b" /><Relationship Type="http://schemas.openxmlformats.org/officeDocument/2006/relationships/slide" Target="/ppt/slides/slide1.xml" Id="R78fdd3b8e08540c7" /><Relationship Type="http://schemas.openxmlformats.org/officeDocument/2006/relationships/slide" Target="/ppt/slides/slide2.xml" Id="Ra643f8216a88462c" /><Relationship Type="http://schemas.openxmlformats.org/officeDocument/2006/relationships/slide" Target="/ppt/slides/slide3.xml" Id="R063ce84b00d74acb" /><Relationship Type="http://schemas.openxmlformats.org/officeDocument/2006/relationships/slide" Target="/ppt/slides/slide4.xml" Id="Rbfa1311538b04420" /><Relationship Type="http://schemas.openxmlformats.org/officeDocument/2006/relationships/slide" Target="/ppt/slides/slide5.xml" Id="R206b36eb5e864f08" /><Relationship Type="http://schemas.openxmlformats.org/officeDocument/2006/relationships/slide" Target="/ppt/slides/slide6.xml" Id="R951dc3d156b24e0b" /><Relationship Type="http://schemas.openxmlformats.org/officeDocument/2006/relationships/slide" Target="/ppt/slides/slide7.xml" Id="R2f2103acf6554552" /><Relationship Type="http://schemas.openxmlformats.org/officeDocument/2006/relationships/slide" Target="/ppt/slides/slide8.xml" Id="Rc5681c5d357c4e0c" /><Relationship Type="http://schemas.openxmlformats.org/officeDocument/2006/relationships/slide" Target="/ppt/slides/slide9.xml" Id="R4d2d8c2ce1cf4084" /><Relationship Type="http://schemas.openxmlformats.org/officeDocument/2006/relationships/slide" Target="/ppt/slides/slide10.xml" Id="R44aa3493d2874e67" /><Relationship Type="http://schemas.openxmlformats.org/officeDocument/2006/relationships/slide" Target="/ppt/slides/slide11.xml" Id="R64f6201725504be2" /><Relationship Type="http://schemas.openxmlformats.org/officeDocument/2006/relationships/slide" Target="/ppt/slides/slide12.xml" Id="Rfc9b2943bad74cad" /><Relationship Type="http://schemas.openxmlformats.org/officeDocument/2006/relationships/slide" Target="/ppt/slides/slide13.xml" Id="R31ce77fa8bbf47d7" /><Relationship Type="http://schemas.openxmlformats.org/officeDocument/2006/relationships/slide" Target="/ppt/slides/slide14.xml" Id="R9a37a4d9bd9d403c" /><Relationship Type="http://schemas.openxmlformats.org/officeDocument/2006/relationships/slide" Target="/ppt/slides/slide15.xml" Id="R49cee4670f9f4f85" /><Relationship Type="http://schemas.openxmlformats.org/officeDocument/2006/relationships/slide" Target="/ppt/slides/slide16.xml" Id="Rb8a77d5caa144073" /><Relationship Type="http://schemas.openxmlformats.org/officeDocument/2006/relationships/slide" Target="/ppt/slides/slide17.xml" Id="Rff27c6d6acd842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4e10f67b1842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8e61ea4e0f42da" /><Relationship Type="http://schemas.openxmlformats.org/officeDocument/2006/relationships/notesMaster" Target="/ppt/notesMasters/notesMaster1.xml" Id="R9a9b841778524d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cfe37655d145e5" /><Relationship Type="http://schemas.openxmlformats.org/officeDocument/2006/relationships/notesMaster" Target="/ppt/notesMasters/notesMaster1.xml" Id="R75333112da8849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0af4545e6947b6" /><Relationship Type="http://schemas.openxmlformats.org/officeDocument/2006/relationships/notesMaster" Target="/ppt/notesMasters/notesMaster1.xml" Id="Rb261abf7488f4d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75a7ad4c8348e7" /><Relationship Type="http://schemas.openxmlformats.org/officeDocument/2006/relationships/notesMaster" Target="/ppt/notesMasters/notesMaster1.xml" Id="Rdc95db95614f4a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c3c3716bb2453d" /><Relationship Type="http://schemas.openxmlformats.org/officeDocument/2006/relationships/notesMaster" Target="/ppt/notesMasters/notesMaster1.xml" Id="R0a5b06c074904c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fac7a4c72e495b" /><Relationship Type="http://schemas.openxmlformats.org/officeDocument/2006/relationships/notesMaster" Target="/ppt/notesMasters/notesMaster1.xml" Id="R3513aedaa3ca4a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67a15becda4e6d" /><Relationship Type="http://schemas.openxmlformats.org/officeDocument/2006/relationships/notesMaster" Target="/ppt/notesMasters/notesMaster1.xml" Id="R285de8f343f740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1db8d7c93343b1" /><Relationship Type="http://schemas.openxmlformats.org/officeDocument/2006/relationships/notesMaster" Target="/ppt/notesMasters/notesMaster1.xml" Id="R24c9ef515ab940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5eccc1a97e4538" /><Relationship Type="http://schemas.openxmlformats.org/officeDocument/2006/relationships/notesMaster" Target="/ppt/notesMasters/notesMaster1.xml" Id="R2d3e6465eb174b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f2a6241d2847b3" /><Relationship Type="http://schemas.openxmlformats.org/officeDocument/2006/relationships/notesMaster" Target="/ppt/notesMasters/notesMaster1.xml" Id="R6582e230f81544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6b58c69bb44b47" /><Relationship Type="http://schemas.openxmlformats.org/officeDocument/2006/relationships/notesMaster" Target="/ppt/notesMasters/notesMaster1.xml" Id="R58996091513b43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b7c519f3a840c4" /><Relationship Type="http://schemas.openxmlformats.org/officeDocument/2006/relationships/notesMaster" Target="/ppt/notesMasters/notesMaster1.xml" Id="R4e1e51944b314d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34e2cc07ad41cf" /><Relationship Type="http://schemas.openxmlformats.org/officeDocument/2006/relationships/notesMaster" Target="/ppt/notesMasters/notesMaster1.xml" Id="R43f21060172f42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658c8e3e7849e9" /><Relationship Type="http://schemas.openxmlformats.org/officeDocument/2006/relationships/notesMaster" Target="/ppt/notesMasters/notesMaster1.xml" Id="Rbb9b3fd5046042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f29ca8c9a34efa" /><Relationship Type="http://schemas.openxmlformats.org/officeDocument/2006/relationships/notesMaster" Target="/ppt/notesMasters/notesMaster1.xml" Id="Ree7d0ab3053c4c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46d983623b4a59" /><Relationship Type="http://schemas.openxmlformats.org/officeDocument/2006/relationships/notesMaster" Target="/ppt/notesMasters/notesMaster1.xml" Id="Ra98c28381cc048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9e0657d3eb4332" /><Relationship Type="http://schemas.openxmlformats.org/officeDocument/2006/relationships/notesMaster" Target="/ppt/notesMasters/notesMaster1.xml" Id="R543b144f601944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9B · Do</a:t>
            </a:r>
          </a:p>
          <a:p xmlns:a="http://schemas.openxmlformats.org/drawingml/2006/main">
            <a:r>
              <a:t>Learning objective: I can collect fair comparison observations and combine them with real space evidence to describe the Sun, Earth and Moon as approximately spherical.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Observe a disc and sphere from the same three viewpoints.</a:t>
            </a:r>
          </a:p>
          <a:p xmlns:a="http://schemas.openxmlformats.org/drawingml/2006/main">
            <a:r>
              <a:t>Record similarities and differences without changing the claim to fit a guess.</a:t>
            </a:r>
          </a:p>
          <a:p xmlns:a="http://schemas.openxmlformats.org/drawingml/2006/main">
            <a:r>
              <a:t>Combine model and real space evidence in a conclusion with one honest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9B · Do</a:t>
            </a:r>
          </a:p>
          <a:p xmlns:a="http://schemas.openxmlformats.org/drawingml/2006/main">
            <a:r>
              <a:t>Learning objective: I can collect fair comparison observations and combine them with real space evidence to describe the Sun, Earth and Moon as approximately spherical.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Observe a disc and sphere from the same three viewpoints.</a:t>
            </a:r>
          </a:p>
          <a:p xmlns:a="http://schemas.openxmlformats.org/drawingml/2006/main">
            <a:r>
              <a:t>Record similarities and differences without changing the claim to fit a guess.</a:t>
            </a:r>
          </a:p>
          <a:p xmlns:a="http://schemas.openxmlformats.org/drawingml/2006/main">
            <a:r>
              <a:t>Combine model and real space evidence in a conclusion with one honest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In Explore, several viewpoints separated a flat disc from a sphere; one circular view was insufficient.</a:t>
            </a:r>
          </a:p>
          <a:p xmlns:a="http://schemas.openxmlformats.org/drawingml/2006/main">
            <a:r>
              <a:t>Prior week: point to or describe one useful model.</a:t>
            </a:r>
          </a:p>
          <a:p xmlns:a="http://schemas.openxmlformats.org/drawingml/2006/main">
            <a:r>
              <a:t>Older learning: what makes an observation useful as evidence?</a:t>
            </a:r>
          </a:p>
          <a:p xmlns:a="http://schemas.openxmlformats.org/drawingml/2006/main">
            <a:r>
              <a:t>Lead-in: what do you notice in today’s first picture?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Last lesson: why was one circular view insufficient?</a:t>
            </a:r>
          </a:p>
          <a:p xmlns:a="http://schemas.openxmlformats.org/drawingml/2006/main">
            <a:r>
              <a:t>Last lesson: what happened to the disc outline as it turned?</a:t>
            </a:r>
          </a:p>
          <a:p xmlns:a="http://schemas.openxmlformats.org/drawingml/2006/main">
            <a:r>
              <a:t>Last week: how did Earth's curved surface affect light and darkness?</a:t>
            </a:r>
          </a:p>
          <a:p xmlns:a="http://schemas.openxmlformats.org/drawingml/2006/main">
            <a:r>
              <a:t>Lead-in: what must stay the same for a fair shape comparison?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Observation 1: both look round from the front.</a:t>
            </a:r>
          </a:p>
          <a:p xmlns:a="http://schemas.openxmlformats.org/drawingml/2006/main">
            <a:r>
              <a:t>Same distance, same view, same result.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Observation 2: after the same quarter turn, one looks oval and one stays round.</a:t>
            </a:r>
          </a:p>
          <a:p xmlns:a="http://schemas.openxmlformats.org/drawingml/2006/main">
            <a:r>
              <a:t>A fair comparison: the same turn for both.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Observation 3: from the edge, one is a thin line and one stays round.</a:t>
            </a:r>
          </a:p>
          <a:p xmlns:a="http://schemas.openxmlformats.org/drawingml/2006/main">
            <a:r>
              <a:t>Record it. Then add real space evidence.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The body looks circular from the front.</a:t>
            </a:r>
          </a:p>
          <a:p xmlns:a="http://schemas.openxmlformats.org/drawingml/2006/main">
            <a:r>
              <a:t>The outline stays round from front, quarter and edge directions.</a:t>
            </a:r>
          </a:p>
          <a:p xmlns:a="http://schemas.openxmlformats.org/drawingml/2006/main">
            <a:r>
              <a:t>The object can move across a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Observation 1: both look round from the front.</a:t>
            </a:r>
          </a:p>
          <a:p xmlns:a="http://schemas.openxmlformats.org/drawingml/2006/main">
            <a:r>
              <a:t>Same distance, same view, same result.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Observation 2: after the same quarter turn, one looks oval and one stays round.</a:t>
            </a:r>
          </a:p>
          <a:p xmlns:a="http://schemas.openxmlformats.org/drawingml/2006/main">
            <a:r>
              <a:t>A fair comparison: the same turn for both.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Observation 3: from the edge, one is a thin line and one stays round.</a:t>
            </a:r>
          </a:p>
          <a:p xmlns:a="http://schemas.openxmlformats.org/drawingml/2006/main">
            <a:r>
              <a:t>Record it. Then add real space evidence.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The body looks circular from the front.</a:t>
            </a:r>
          </a:p>
          <a:p xmlns:a="http://schemas.openxmlformats.org/drawingml/2006/main">
            <a:r>
              <a:t>The outline stays round from front, quarter and edge directions.</a:t>
            </a:r>
          </a:p>
          <a:p xmlns:a="http://schemas.openxmlformats.org/drawingml/2006/main">
            <a:r>
              <a:t>The object can move across a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Observation 1: both look round from the front.</a:t>
            </a:r>
          </a:p>
          <a:p xmlns:a="http://schemas.openxmlformats.org/drawingml/2006/main">
            <a:r>
              <a:t>Same distance, same view, same result.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Observation 2: after the same quarter turn, one looks oval and one stays round.</a:t>
            </a:r>
          </a:p>
          <a:p xmlns:a="http://schemas.openxmlformats.org/drawingml/2006/main">
            <a:r>
              <a:t>A fair comparison: the same turn for both.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Observation 3: from the edge, one is a thin line and one stays round.</a:t>
            </a:r>
          </a:p>
          <a:p xmlns:a="http://schemas.openxmlformats.org/drawingml/2006/main">
            <a:r>
              <a:t>Record it. Then add real space evidence.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The body looks circular from the front.</a:t>
            </a:r>
          </a:p>
          <a:p xmlns:a="http://schemas.openxmlformats.org/drawingml/2006/main">
            <a:r>
              <a:t>The outline stays round from front, quarter and edge directions.</a:t>
            </a:r>
          </a:p>
          <a:p xmlns:a="http://schemas.openxmlformats.org/drawingml/2006/main">
            <a:r>
              <a:t>The object can move across a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OBSERVATION what is noticed information directly seen, heard or measured</a:t>
            </a:r>
          </a:p>
          <a:p xmlns:a="http://schemas.openxmlformats.org/drawingml/2006/main">
            <a:r>
              <a:t>COMPARISON same test for both looking for what is the same and different using the same method</a:t>
            </a:r>
          </a:p>
          <a:p xmlns:a="http://schemas.openxmlformats.org/drawingml/2006/main">
            <a:r>
              <a:t>CONCLUSION what the evidence means a statement supported by results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Record with the frame: From the __ view, the disc looked __ while the sphere looked __.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Place the disc and sphere at the same marked distance. Observe both from the front without naming the expected answer.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Turn both through the same quarter turn, then to the edge direction. Record only the outline seen each time.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Check the six observations before concluding. A fair comparison uses the same viewpoints for both objects.</a:t>
            </a:r>
          </a:p>
          <a:p xmlns:a="http://schemas.openxmlformats.org/drawingml/2006/main">
            <a:r>
              <a:t>World Shape Lab · fair test, then real evidence</a:t>
            </a:r>
          </a:p>
          <a:p xmlns:a="http://schemas.openxmlformats.org/drawingml/2006/main">
            <a:r>
              <a:t>Same turn for both. Say what you SEE before you say what it IS.</a:t>
            </a:r>
          </a:p>
          <a:p xmlns:a="http://schemas.openxmlformats.org/drawingml/2006/main">
            <a:r>
              <a:t>Front</a:t>
            </a:r>
          </a:p>
          <a:p xmlns:a="http://schemas.openxmlformats.org/drawingml/2006/main">
            <a:r>
              <a:t>↻ Quarter turn</a:t>
            </a:r>
          </a:p>
          <a:p xmlns:a="http://schemas.openxmlformats.org/drawingml/2006/main">
            <a:r>
              <a:t>↻ Edge on</a:t>
            </a:r>
          </a:p>
          <a:p xmlns:a="http://schemas.openxmlformats.org/drawingml/2006/main">
            <a:r>
              <a:t>Front: A looks round. B looks round. Not enough evidence yet.</a:t>
            </a:r>
          </a:p>
          <a:p xmlns:a="http://schemas.openxmlformats.org/drawingml/2006/main">
            <a:r>
              <a:t>A is a flat disc</a:t>
            </a:r>
          </a:p>
          <a:p xmlns:a="http://schemas.openxmlformats.org/drawingml/2006/main">
            <a:r>
              <a:t>B is a sphere</a:t>
            </a:r>
          </a:p>
          <a:p xmlns:a="http://schemas.openxmlformats.org/drawingml/2006/main">
            <a:r>
              <a:t>One photo proves a sphere</a:t>
            </a:r>
          </a:p>
          <a:p xmlns:a="http://schemas.openxmlformats.org/drawingml/2006/main">
            <a:r>
              <a:t>Real space evidence uses the same idea: photographs of Earth from many directions all show a round outline, and the Moon's lit edge is always curved. Approximately spherical — not perfect: Earth bulges slightly at the equator.</a:t>
            </a:r>
          </a:p>
          <a:p xmlns:a="http://schemas.openxmlformats.org/drawingml/2006/main">
            <a:r>
              <a:t>Real space evidence · does it fit a sphere?</a:t>
            </a:r>
          </a:p>
          <a:p xmlns:a="http://schemas.openxmlformats.org/drawingml/2006/main">
            <a:r>
              <a:t>Press each piece of evidence. Decide: does it SUPPORT approximately spherical, or is it a LIMIT?</a:t>
            </a:r>
          </a:p>
          <a:p xmlns:a="http://schemas.openxmlformats.org/drawingml/2006/main">
            <a:r>
              <a:t>Photos of Earth from different directions all show a round outline</a:t>
            </a:r>
          </a:p>
          <a:p xmlns:a="http://schemas.openxmlformats.org/drawingml/2006/main">
            <a:r>
              <a:t>The Moon’s lit edge is always a curve, never a straight line</a:t>
            </a:r>
          </a:p>
          <a:p xmlns:a="http://schemas.openxmlformats.org/drawingml/2006/main">
            <a:r>
              <a:t>Earth’s shadow on the Moon in a lunar eclipse is round</a:t>
            </a:r>
          </a:p>
          <a:p xmlns:a="http://schemas.openxmlformats.org/drawingml/2006/main">
            <a:r>
              <a:t>Standing on a beach, the ground looks flat</a:t>
            </a:r>
          </a:p>
          <a:p xmlns:a="http://schemas.openxmlformats.org/drawingml/2006/main">
            <a:r>
              <a:t>Careful measurements show Earth is slightly wider at the equator</a:t>
            </a:r>
          </a:p>
          <a:p xmlns:a="http://schemas.openxmlformats.org/drawingml/2006/main">
            <a:r>
              <a:t>SUPPORTS sphere</a:t>
            </a:r>
          </a:p>
          <a:p xmlns:a="http://schemas.openxmlformats.org/drawingml/2006/main">
            <a:r>
              <a:t>LIMIT / needs care</a:t>
            </a:r>
          </a:p>
          <a:p xmlns:a="http://schemas.openxmlformats.org/drawingml/2006/main">
            <a:r>
              <a:t>Press one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OBSERVATION what is noticed information directly seen, heard or measured</a:t>
            </a:r>
          </a:p>
          <a:p xmlns:a="http://schemas.openxmlformats.org/drawingml/2006/main">
            <a:r>
              <a:t>COMPARISON same test for both looking for what is the same and different using the same method</a:t>
            </a:r>
          </a:p>
          <a:p xmlns:a="http://schemas.openxmlformats.org/drawingml/2006/main">
            <a:r>
              <a:t>CONCLUSION what the evidence means a statement supported by results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Record with the frame: From the __ view, the disc looked __ while the sphere looked __.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Place the disc and sphere at the same marked distance. Observe both from the front without naming the expected answer.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Turn both through the same quarter turn, then to the edge direction. Record only the outline seen each time.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Check the six observations before concluding. A fair comparison uses the same viewpoints for both objects.</a:t>
            </a:r>
          </a:p>
          <a:p xmlns:a="http://schemas.openxmlformats.org/drawingml/2006/main">
            <a:r>
              <a:t>World Shape Lab · fair test, then real evidence</a:t>
            </a:r>
          </a:p>
          <a:p xmlns:a="http://schemas.openxmlformats.org/drawingml/2006/main">
            <a:r>
              <a:t>Same turn for both. Say what you SEE before you say what it IS.</a:t>
            </a:r>
          </a:p>
          <a:p xmlns:a="http://schemas.openxmlformats.org/drawingml/2006/main">
            <a:r>
              <a:t>Front</a:t>
            </a:r>
          </a:p>
          <a:p xmlns:a="http://schemas.openxmlformats.org/drawingml/2006/main">
            <a:r>
              <a:t>↻ Quarter turn</a:t>
            </a:r>
          </a:p>
          <a:p xmlns:a="http://schemas.openxmlformats.org/drawingml/2006/main">
            <a:r>
              <a:t>↻ Edge on</a:t>
            </a:r>
          </a:p>
          <a:p xmlns:a="http://schemas.openxmlformats.org/drawingml/2006/main">
            <a:r>
              <a:t>Front: A looks round. B looks round. Not enough evidence yet.</a:t>
            </a:r>
          </a:p>
          <a:p xmlns:a="http://schemas.openxmlformats.org/drawingml/2006/main">
            <a:r>
              <a:t>A is a flat disc</a:t>
            </a:r>
          </a:p>
          <a:p xmlns:a="http://schemas.openxmlformats.org/drawingml/2006/main">
            <a:r>
              <a:t>B is a sphere</a:t>
            </a:r>
          </a:p>
          <a:p xmlns:a="http://schemas.openxmlformats.org/drawingml/2006/main">
            <a:r>
              <a:t>One photo proves a sphere</a:t>
            </a:r>
          </a:p>
          <a:p xmlns:a="http://schemas.openxmlformats.org/drawingml/2006/main">
            <a:r>
              <a:t>Real space evidence uses the same idea: photographs of Earth from many directions all show a round outline, and the Moon's lit edge is always curved. Approximately spherical — not perfect: Earth bulges slightly at the equator.</a:t>
            </a:r>
          </a:p>
          <a:p xmlns:a="http://schemas.openxmlformats.org/drawingml/2006/main">
            <a:r>
              <a:t>Real space evidence · does it fit a sphere?</a:t>
            </a:r>
          </a:p>
          <a:p xmlns:a="http://schemas.openxmlformats.org/drawingml/2006/main">
            <a:r>
              <a:t>Press each piece of evidence. Decide: does it SUPPORT approximately spherical, or is it a LIMIT?</a:t>
            </a:r>
          </a:p>
          <a:p xmlns:a="http://schemas.openxmlformats.org/drawingml/2006/main">
            <a:r>
              <a:t>Photos of Earth from different directions all show a round outline</a:t>
            </a:r>
          </a:p>
          <a:p xmlns:a="http://schemas.openxmlformats.org/drawingml/2006/main">
            <a:r>
              <a:t>The Moon’s lit edge is always a curve, never a straight line</a:t>
            </a:r>
          </a:p>
          <a:p xmlns:a="http://schemas.openxmlformats.org/drawingml/2006/main">
            <a:r>
              <a:t>Earth’s shadow on the Moon in a lunar eclipse is round</a:t>
            </a:r>
          </a:p>
          <a:p xmlns:a="http://schemas.openxmlformats.org/drawingml/2006/main">
            <a:r>
              <a:t>Standing on a beach, the ground looks flat</a:t>
            </a:r>
          </a:p>
          <a:p xmlns:a="http://schemas.openxmlformats.org/drawingml/2006/main">
            <a:r>
              <a:t>Careful measurements show Earth is slightly wider at the equator</a:t>
            </a:r>
          </a:p>
          <a:p xmlns:a="http://schemas.openxmlformats.org/drawingml/2006/main">
            <a:r>
              <a:t>SUPPORTS sphere</a:t>
            </a:r>
          </a:p>
          <a:p xmlns:a="http://schemas.openxmlformats.org/drawingml/2006/main">
            <a:r>
              <a:t>LIMIT / needs care</a:t>
            </a:r>
          </a:p>
          <a:p xmlns:a="http://schemas.openxmlformats.org/drawingml/2006/main">
            <a:r>
              <a:t>Press one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OBSERVATION what is noticed information directly seen, heard or measured</a:t>
            </a:r>
          </a:p>
          <a:p xmlns:a="http://schemas.openxmlformats.org/drawingml/2006/main">
            <a:r>
              <a:t>COMPARISON same test for both looking for what is the same and different using the same method</a:t>
            </a:r>
          </a:p>
          <a:p xmlns:a="http://schemas.openxmlformats.org/drawingml/2006/main">
            <a:r>
              <a:t>CONCLUSION what the evidence means a statement supported by results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Record with the frame: From the __ view, the disc looked __ while the sphere looked __.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Place the disc and sphere at the same marked distance. Observe both from the front without naming the expected answer.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Turn both through the same quarter turn, then to the edge direction. Record only the outline seen each time.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Check the six observations before concluding. A fair comparison uses the same viewpoints for both objects.</a:t>
            </a:r>
          </a:p>
          <a:p xmlns:a="http://schemas.openxmlformats.org/drawingml/2006/main">
            <a:r>
              <a:t>World Shape Lab · fair test, then real evidence</a:t>
            </a:r>
          </a:p>
          <a:p xmlns:a="http://schemas.openxmlformats.org/drawingml/2006/main">
            <a:r>
              <a:t>Same turn for both. Say what you SEE before you say what it IS.</a:t>
            </a:r>
          </a:p>
          <a:p xmlns:a="http://schemas.openxmlformats.org/drawingml/2006/main">
            <a:r>
              <a:t>Front</a:t>
            </a:r>
          </a:p>
          <a:p xmlns:a="http://schemas.openxmlformats.org/drawingml/2006/main">
            <a:r>
              <a:t>↻ Quarter turn</a:t>
            </a:r>
          </a:p>
          <a:p xmlns:a="http://schemas.openxmlformats.org/drawingml/2006/main">
            <a:r>
              <a:t>↻ Edge on</a:t>
            </a:r>
          </a:p>
          <a:p xmlns:a="http://schemas.openxmlformats.org/drawingml/2006/main">
            <a:r>
              <a:t>Front: A looks round. B looks round. Not enough evidence yet.</a:t>
            </a:r>
          </a:p>
          <a:p xmlns:a="http://schemas.openxmlformats.org/drawingml/2006/main">
            <a:r>
              <a:t>A is a flat disc</a:t>
            </a:r>
          </a:p>
          <a:p xmlns:a="http://schemas.openxmlformats.org/drawingml/2006/main">
            <a:r>
              <a:t>B is a sphere</a:t>
            </a:r>
          </a:p>
          <a:p xmlns:a="http://schemas.openxmlformats.org/drawingml/2006/main">
            <a:r>
              <a:t>One photo proves a sphere</a:t>
            </a:r>
          </a:p>
          <a:p xmlns:a="http://schemas.openxmlformats.org/drawingml/2006/main">
            <a:r>
              <a:t>Real space evidence uses the same idea: photographs of Earth from many directions all show a round outline, and the Moon's lit edge is always curved. Approximately spherical — not perfect: Earth bulges slightly at the equator.</a:t>
            </a:r>
          </a:p>
          <a:p xmlns:a="http://schemas.openxmlformats.org/drawingml/2006/main">
            <a:r>
              <a:t>Real space evidence · does it fit a sphere?</a:t>
            </a:r>
          </a:p>
          <a:p xmlns:a="http://schemas.openxmlformats.org/drawingml/2006/main">
            <a:r>
              <a:t>Press each piece of evidence. Decide: does it SUPPORT approximately spherical, or is it a LIMIT?</a:t>
            </a:r>
          </a:p>
          <a:p xmlns:a="http://schemas.openxmlformats.org/drawingml/2006/main">
            <a:r>
              <a:t>Photos of Earth from different directions all show a round outline</a:t>
            </a:r>
          </a:p>
          <a:p xmlns:a="http://schemas.openxmlformats.org/drawingml/2006/main">
            <a:r>
              <a:t>The Moon’s lit edge is always a curve, never a straight line</a:t>
            </a:r>
          </a:p>
          <a:p xmlns:a="http://schemas.openxmlformats.org/drawingml/2006/main">
            <a:r>
              <a:t>Earth’s shadow on the Moon in a lunar eclipse is round</a:t>
            </a:r>
          </a:p>
          <a:p xmlns:a="http://schemas.openxmlformats.org/drawingml/2006/main">
            <a:r>
              <a:t>Standing on a beach, the ground looks flat</a:t>
            </a:r>
          </a:p>
          <a:p xmlns:a="http://schemas.openxmlformats.org/drawingml/2006/main">
            <a:r>
              <a:t>Careful measurements show Earth is slightly wider at the equator</a:t>
            </a:r>
          </a:p>
          <a:p xmlns:a="http://schemas.openxmlformats.org/drawingml/2006/main">
            <a:r>
              <a:t>SUPPORTS sphere</a:t>
            </a:r>
          </a:p>
          <a:p xmlns:a="http://schemas.openxmlformats.org/drawingml/2006/main">
            <a:r>
              <a:t>LIMIT / needs care</a:t>
            </a:r>
          </a:p>
          <a:p xmlns:a="http://schemas.openxmlformats.org/drawingml/2006/main">
            <a:r>
              <a:t>Press one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View the disc close-up and the sphere from across the room.</a:t>
            </a:r>
          </a:p>
          <a:p xmlns:a="http://schemas.openxmlformats.org/drawingml/2006/main">
            <a:r>
              <a:t>Use the same distance and the same three viewpoints for both.</a:t>
            </a:r>
          </a:p>
          <a:p xmlns:a="http://schemas.openxmlformats.org/drawingml/2006/main">
            <a:r>
              <a:t>View only the front of whichever object looks roundest.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Turn the six model observations into a comparison: the disc outline changes; the sphere's outline stays round.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Add real observations: spacecraft views keep showing round whole-body outlines, Earth's eclipse shadow is curved, and the curved day-night edge moves across Earth and the Moon.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Make the careful claim: gravity makes large bodies nearly round; rotation can flatten them slightly, and surface features add small bumps. The Sun, Earth and Moon are approximately spherical.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Record with the frame: From the __ view, the disc looked __ while the sphere looked __.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Turn the six model observations into a comparison: the disc outline changes; the sphere's outline stays round.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Add real observations: spacecraft views keep showing round whole-body outlines, Earth's eclipse shadow is curved, and the curved day-night edge moves across Earth and the Moon.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Make the careful claim: gravity makes large bodies nearly round; rotation can flatten them slightly, and surface features add small bumps. The Sun, Earth and Moon are approximately spherical.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Record with the frame: From the __ view, the disc looked __ while the sphere looked __.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Sort the model results and real space observations, then freeze enough evidence for a careful conclusion.</a:t>
            </a:r>
          </a:p>
          <a:p xmlns:a="http://schemas.openxmlformats.org/drawingml/2006/main">
            <a:r>
              <a:t>Choose one recorded observation. Commit it to disc, sphere or real space evidence. Repair using the named view or sky observation. Freeze model and real evidence, then conclude.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Front result Round from the front, then oval after the object turns.</a:t>
            </a:r>
          </a:p>
          <a:p xmlns:a="http://schemas.openxmlformats.org/drawingml/2006/main">
            <a:r>
              <a:t>Quarter-turn result An oval outline reveals that the circular face is tilted away.</a:t>
            </a:r>
          </a:p>
          <a:p xmlns:a="http://schemas.openxmlformats.org/drawingml/2006/main">
            <a:r>
              <a:t>Edge result A thin line is seen from the edge direction.</a:t>
            </a:r>
          </a:p>
          <a:p xmlns:a="http://schemas.openxmlformats.org/drawingml/2006/main">
            <a:r>
              <a:t>Front result A round outline is seen from the first direction.</a:t>
            </a:r>
          </a:p>
          <a:p xmlns:a="http://schemas.openxmlformats.org/drawingml/2006/main">
            <a:r>
              <a:t>Quarter-turn result The outline remains round after the same quarter turn.</a:t>
            </a:r>
          </a:p>
          <a:p xmlns:a="http://schemas.openxmlformats.org/drawingml/2006/main">
            <a:r>
              <a:t>Edge-direction result The outline is still round from the direction that made the disc a line.</a:t>
            </a:r>
          </a:p>
          <a:p xmlns:a="http://schemas.openxmlformats.org/drawingml/2006/main">
            <a:r>
              <a:t>Changing spacecraft views Images from changing positions and times show Earth and the Moon with round whole-body outlines.</a:t>
            </a:r>
          </a:p>
          <a:p xmlns:a="http://schemas.openxmlformats.org/drawingml/2006/main">
            <a:r>
              <a:t>Earth's eclipse shadow During a lunar eclipse, the edge of Earth's shadow moving across the Moon is curved.</a:t>
            </a:r>
          </a:p>
          <a:p xmlns:a="http://schemas.openxmlformats.org/drawingml/2006/main">
            <a:r>
              <a:t>Moving day-night edge Space images show a curved day-night line moving across Earth and the Moon as the view and lighting change.</a:t>
            </a:r>
          </a:p>
          <a:p xmlns:a="http://schemas.openxmlformats.org/drawingml/2006/main">
            <a:r>
              <a:t>Sun's curved edge Space instruments show a curved Sun edge and features moving across its face as the Sun rotates.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Disc record</a:t>
            </a:r>
          </a:p>
          <a:p xmlns:a="http://schemas.openxmlformats.org/drawingml/2006/main">
            <a:r>
              <a:t>Sphere model record</a:t>
            </a:r>
          </a:p>
          <a:p xmlns:a="http://schemas.openxmlformats.org/drawingml/2006/main">
            <a:r>
              <a:t>Real space record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Conclusion glitch: the Sun, Earth and Moon are perfectly smooth, perfect spheres.</a:t>
            </a:r>
          </a:p>
          <a:p xmlns:a="http://schemas.openxmlformats.org/drawingml/2006/main">
            <a:r>
              <a:t>Keep it: every spherical body must be perfectly smooth.</a:t>
            </a:r>
          </a:p>
          <a:p xmlns:a="http://schemas.openxmlformats.org/drawingml/2006/main">
            <a:r>
              <a:t>Repair it: they are approximately spherical, with real surface features and small departures from perfection.</a:t>
            </a:r>
          </a:p>
          <a:p xmlns:a="http://schemas.openxmlformats.org/drawingml/2006/main">
            <a:r>
              <a:t>Repair it: surface features make all three bodies flat.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Sort the model results and real space observations, then freeze enough evidence for a careful conclusion.</a:t>
            </a:r>
          </a:p>
          <a:p xmlns:a="http://schemas.openxmlformats.org/drawingml/2006/main">
            <a:r>
              <a:t>Choose one recorded observation. Commit it to disc, sphere or real space evidence. Repair using the named view or sky observation. Freeze model and real evidence, then conclude.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Front result Round from the front, then oval after the object turns.</a:t>
            </a:r>
          </a:p>
          <a:p xmlns:a="http://schemas.openxmlformats.org/drawingml/2006/main">
            <a:r>
              <a:t>Quarter-turn result An oval outline reveals that the circular face is tilted away.</a:t>
            </a:r>
          </a:p>
          <a:p xmlns:a="http://schemas.openxmlformats.org/drawingml/2006/main">
            <a:r>
              <a:t>Edge result A thin line is seen from the edge direction.</a:t>
            </a:r>
          </a:p>
          <a:p xmlns:a="http://schemas.openxmlformats.org/drawingml/2006/main">
            <a:r>
              <a:t>Front result A round outline is seen from the first direction.</a:t>
            </a:r>
          </a:p>
          <a:p xmlns:a="http://schemas.openxmlformats.org/drawingml/2006/main">
            <a:r>
              <a:t>Quarter-turn result The outline remains round after the same quarter turn.</a:t>
            </a:r>
          </a:p>
          <a:p xmlns:a="http://schemas.openxmlformats.org/drawingml/2006/main">
            <a:r>
              <a:t>Edge-direction result The outline is still round from the direction that made the disc a line.</a:t>
            </a:r>
          </a:p>
          <a:p xmlns:a="http://schemas.openxmlformats.org/drawingml/2006/main">
            <a:r>
              <a:t>Changing spacecraft views Images from changing positions and times show Earth and the Moon with round whole-body outlines.</a:t>
            </a:r>
          </a:p>
          <a:p xmlns:a="http://schemas.openxmlformats.org/drawingml/2006/main">
            <a:r>
              <a:t>Earth's eclipse shadow During a lunar eclipse, the edge of Earth's shadow moving across the Moon is curved.</a:t>
            </a:r>
          </a:p>
          <a:p xmlns:a="http://schemas.openxmlformats.org/drawingml/2006/main">
            <a:r>
              <a:t>Moving day-night edge Space images show a curved day-night line moving across Earth and the Moon as the view and lighting change.</a:t>
            </a:r>
          </a:p>
          <a:p xmlns:a="http://schemas.openxmlformats.org/drawingml/2006/main">
            <a:r>
              <a:t>Sun's curved edge Space instruments show a curved Sun edge and features moving across its face as the Sun rotates.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Disc record</a:t>
            </a:r>
          </a:p>
          <a:p xmlns:a="http://schemas.openxmlformats.org/drawingml/2006/main">
            <a:r>
              <a:t>Sphere model record</a:t>
            </a:r>
          </a:p>
          <a:p xmlns:a="http://schemas.openxmlformats.org/drawingml/2006/main">
            <a:r>
              <a:t>Real space record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Conclusion glitch: the Sun, Earth and Moon are perfectly smooth, perfect spheres.</a:t>
            </a:r>
          </a:p>
          <a:p xmlns:a="http://schemas.openxmlformats.org/drawingml/2006/main">
            <a:r>
              <a:t>Keep it: every spherical body must be perfectly smooth.</a:t>
            </a:r>
          </a:p>
          <a:p xmlns:a="http://schemas.openxmlformats.org/drawingml/2006/main">
            <a:r>
              <a:t>Repair it: they are approximately spherical, with real surface features and small departures from perfection.</a:t>
            </a:r>
          </a:p>
          <a:p xmlns:a="http://schemas.openxmlformats.org/drawingml/2006/main">
            <a:r>
              <a:t>Repair it: surface features make all three bodies flat.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Large ball, rigid card disc, three-position viewing mat, six-row record and pencil or camera on a school device.</a:t>
            </a:r>
          </a:p>
          <a:p xmlns:a="http://schemas.openxmlformats.org/drawingml/2006/main">
            <a:r>
              <a:t>Same outcome: I can collect fair comparison observations and combine them with real space evidence to describe the Sun, Earth and Moon as approximately spherical.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Annotate the six local model frames and at least one local spacecraft, eclipse or curved day-night-edge card. No web access is needed.</a:t>
            </a:r>
          </a:p>
          <a:p xmlns:a="http://schemas.openxmlformats.org/drawingml/2006/main">
            <a:r>
              <a:t>Same evidence: Six model observations, one named real space observation, an approximately spherical conclusion and one model limitation.</a:t>
            </a:r>
          </a:p>
          <a:p xmlns:a="http://schemas.openxmlformats.org/drawingml/2006/main">
            <a:r>
              <a:t>Equipment / setup Large ball, rigid card disc, three-position viewing mat, six-row record and pencil or camera on a school device.</a:t>
            </a:r>
          </a:p>
          <a:p xmlns:a="http://schemas.openxmlformats.org/drawingml/2006/main">
            <a:r>
              <a:t>Safety / sensory Use large clean models, keep them on the table, maintain clear walkways and use a camera only under school routines.</a:t>
            </a:r>
          </a:p>
          <a:p xmlns:a="http://schemas.openxmlformats.org/drawingml/2006/main">
            <a:r>
              <a:t>Offline parity Annotate the six local model frames and at least one local spacecraft, eclipse or curved day-night-edge card. No web access is needed.</a:t>
            </a:r>
          </a:p>
          <a:p xmlns:a="http://schemas.openxmlformats.org/drawingml/2006/main">
            <a:r>
              <a:t>No-equipment/access route: Use the prepared model and real-space card set; record similarities, differences and the conclusion on paper.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Record all six model observations, add one real space observation and justify the approximately spherical description.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Cite a matched model view and a real observation; keep observations separate from the conclusion.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Large ball, rigid card disc, three-position viewing mat, six-row record and pencil or camera on a school device.</a:t>
            </a:r>
          </a:p>
          <a:p xmlns:a="http://schemas.openxmlformats.org/drawingml/2006/main">
            <a:r>
              <a:t>Same outcome: I can collect fair comparison observations and combine them with real space evidence to describe the Sun, Earth and Moon as approximately spherical.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Annotate the six local model frames and at least one local spacecraft, eclipse or curved day-night-edge card. No web access is needed.</a:t>
            </a:r>
          </a:p>
          <a:p xmlns:a="http://schemas.openxmlformats.org/drawingml/2006/main">
            <a:r>
              <a:t>Same evidence: Six model observations, one named real space observation, an approximately spherical conclusion and one model limitation.</a:t>
            </a:r>
          </a:p>
          <a:p xmlns:a="http://schemas.openxmlformats.org/drawingml/2006/main">
            <a:r>
              <a:t>Equipment / setup Large ball, rigid card disc, three-position viewing mat, six-row record and pencil or camera on a school device.</a:t>
            </a:r>
          </a:p>
          <a:p xmlns:a="http://schemas.openxmlformats.org/drawingml/2006/main">
            <a:r>
              <a:t>Safety / sensory Use large clean models, keep them on the table, maintain clear walkways and use a camera only under school routines.</a:t>
            </a:r>
          </a:p>
          <a:p xmlns:a="http://schemas.openxmlformats.org/drawingml/2006/main">
            <a:r>
              <a:t>Offline parity Annotate the six local model frames and at least one local spacecraft, eclipse or curved day-night-edge card. No web access is needed.</a:t>
            </a:r>
          </a:p>
          <a:p xmlns:a="http://schemas.openxmlformats.org/drawingml/2006/main">
            <a:r>
              <a:t>No-equipment/access route: Use the prepared model and real-space card set; record similarities, differences and the conclusion on paper.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Record all six model observations, add one real space observation and justify the approximately spherical description.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Cite a matched model view and a real observation; keep observations separate from the conclusion.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SCI_G_W9B_Spherical_Bodies_Do.html.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move. The pupil writes what they said and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models show overall shape but not real size, surface detail, gravity, distance or the slight flattening of rotating bodies.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Cite one paired model view and one real space observation to justify approximately spherical.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What I said, and what it changed:</a:t>
            </a:r>
          </a:p>
          <a:p xmlns:a="http://schemas.openxmlformats.org/drawingml/2006/main">
            <a:r>
              <a:t>Next I will ______. One next step chosen after the adult listened.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SCI_G_W9B_Spherical_Bodies_Do.html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795afb9ed4b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afc96d5a784ba6" /><Relationship Type="http://schemas.openxmlformats.org/officeDocument/2006/relationships/slideLayout" Target="/ppt/slideLayouts/slideLayout1.xml" Id="R4320d2d0d66f4e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20d2d0d66f4e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75070b69445d0" /><Relationship Type="http://schemas.openxmlformats.org/officeDocument/2006/relationships/hyperlink" Target="SCI_G_W9B_Spherical_Bodies_Do.html" TargetMode="External" Id="Rb5d48e831dd5437c" /><Relationship Type="http://schemas.openxmlformats.org/officeDocument/2006/relationships/notesSlide" Target="/ppt/notesSlides/notesSlide1.xml" Id="R196ab743ce6e4e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0bef6b6ab4489" /><Relationship Type="http://schemas.openxmlformats.org/officeDocument/2006/relationships/notesSlide" Target="/ppt/notesSlides/notesSlide2.xml" Id="Rffc52d24dae842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fa0a5d7c44bd1" /><Relationship Type="http://schemas.openxmlformats.org/officeDocument/2006/relationships/notesSlide" Target="/ppt/notesSlides/notesSlide3.xml" Id="R760aae1255f540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28473c8d14e04" /><Relationship Type="http://schemas.openxmlformats.org/officeDocument/2006/relationships/notesSlide" Target="/ppt/notesSlides/notesSlide4.xml" Id="R2669bb03406349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10285eb564211" /><Relationship Type="http://schemas.openxmlformats.org/officeDocument/2006/relationships/notesSlide" Target="/ppt/notesSlides/notesSlide5.xml" Id="Rd57cee06060141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35410fc3a4bb7" /><Relationship Type="http://schemas.openxmlformats.org/officeDocument/2006/relationships/image" Target="/ppt/media/image.png" Id="R4d66b5dea165405e" /><Relationship Type="http://schemas.openxmlformats.org/officeDocument/2006/relationships/image" Target="/ppt/media/image2.png" Id="R43f83ce972604a6f" /><Relationship Type="http://schemas.openxmlformats.org/officeDocument/2006/relationships/image" Target="/ppt/media/image3.png" Id="R17160aac6c0149a4" /><Relationship Type="http://schemas.openxmlformats.org/officeDocument/2006/relationships/notesSlide" Target="/ppt/notesSlides/notesSlide6.xml" Id="R6403c5be7f2249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3f4b02f574994" /><Relationship Type="http://schemas.openxmlformats.org/officeDocument/2006/relationships/notesSlide" Target="/ppt/notesSlides/notesSlide7.xml" Id="R4c327b66febc42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8bb9b51544bdc" /><Relationship Type="http://schemas.openxmlformats.org/officeDocument/2006/relationships/notesSlide" Target="/ppt/notesSlides/notesSlide8.xml" Id="R5ab4999b982c43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57516d68d4d7e" /><Relationship Type="http://schemas.openxmlformats.org/officeDocument/2006/relationships/image" Target="/ppt/media/image4.png" Id="Ra10f578d696745de" /><Relationship Type="http://schemas.openxmlformats.org/officeDocument/2006/relationships/notesSlide" Target="/ppt/notesSlides/notesSlide9.xml" Id="R4451cdbda4124e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5128841df4252" /><Relationship Type="http://schemas.openxmlformats.org/officeDocument/2006/relationships/notesSlide" Target="/ppt/notesSlides/notesSlide10.xml" Id="Rddabdc91eb494a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2ccbb64164c7f" /><Relationship Type="http://schemas.openxmlformats.org/officeDocument/2006/relationships/notesSlide" Target="/ppt/notesSlides/notesSlide11.xml" Id="R2857d3c4a8c242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06c56f8c842e2" /><Relationship Type="http://schemas.openxmlformats.org/officeDocument/2006/relationships/notesSlide" Target="/ppt/notesSlides/notesSlide12.xml" Id="R8fd9854f0c1248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94bb183734d72" /><Relationship Type="http://schemas.openxmlformats.org/officeDocument/2006/relationships/notesSlide" Target="/ppt/notesSlides/notesSlide13.xml" Id="Rca1c3c843b3540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0405e1c54442b" /><Relationship Type="http://schemas.openxmlformats.org/officeDocument/2006/relationships/notesSlide" Target="/ppt/notesSlides/notesSlide14.xml" Id="Rad89f908bc0a47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fd9718f264f27" /><Relationship Type="http://schemas.openxmlformats.org/officeDocument/2006/relationships/notesSlide" Target="/ppt/notesSlides/notesSlide15.xml" Id="R944774eaacd845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89098de5443bf" /><Relationship Type="http://schemas.openxmlformats.org/officeDocument/2006/relationships/notesSlide" Target="/ppt/notesSlides/notesSlide16.xml" Id="R4af5d86996e849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9def8b7fb41a1" /><Relationship Type="http://schemas.openxmlformats.org/officeDocument/2006/relationships/notesSlide" Target="/ppt/notesSlides/notesSlide17.xml" Id="R5b264fc87cf14b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C9E6A0F5-0CC7-4B9B-9BDA-286820E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80DC06A-E379-422B-BCE8-6FE3BDE5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032431B-E632-4647-B00B-EF014DF7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DC69C4-9527-482C-93B3-AD0FED4B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Spherical Bodies: World Shape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0A30D5B-9AEC-4123-85C1-E21030D3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8245C66B-779F-4299-BE00-8630C68E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462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collect fair comparison observations and combine them with real space evidence to describe the Sun, Earth and Moon as approximately spherical.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1A07F59E-6C7C-4116-9CA3-93A77264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E71EF6C8-B257-4BE2-8D56-7CA2C5DC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Same viewpoints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B16679B8-F7A1-484B-BFA7-E99DB3B5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8391983C-1819-4E72-B2CE-6F42C6CE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4C7DD3B5-427F-4F17-A22F-A37243F9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Six observations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711CDF29-7257-477C-B1D2-02EAFD20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40A1FD65-4A0E-4A6C-940F-509E9816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5F466708-23C3-4BFA-BC8A-FCEE64DF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Evidenceled conclusion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010247FB-37DF-4368-8F4F-773E5663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799B353F-D4A4-4B61-AA80-7EC4AEAE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F7D6E"/>
                </a:solidFill>
                <a:latin typeface="Arial"/>
                <a:ea typeface="Arial"/>
                <a:cs typeface="Arial"/>
                <a:hlinkClick xmlns:r="http://schemas.openxmlformats.org/officeDocument/2006/relationships" r:id="Rb5d48e831dd5437c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2C80CFCF-D087-4660-85D9-2291C26B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5B1B1062-A1AC-4AC3-85D3-2B4E9431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1232702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8877E65-7FAA-457E-BC55-BF077BBA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C3A1FF9-27F5-4677-BC1C-DAF0930C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FBEEE06-DDD3-4572-915E-B6BF1B12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062897-25CA-4B9A-929B-75C1C0D0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079D1F7-C200-4C77-9DA2-7FE2A830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5C89113-AE8E-48FB-823E-32AD54B3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Observe a disc and sphere from the same three viewpoints.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8281419-3752-401F-B24A-EC47B4AC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Record similarities and differences without changing the claim to fit a guess.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742053D-6124-4091-B7F0-965FC27C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Combine model and real space evidence in a conclusion with one honest limitation.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4F486328-BFD6-4940-A28F-1DA7914F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434D94E0-DA52-43EE-A9B0-A59729F5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156159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A76E4CA6-EB04-4CA9-8701-4B31E0F9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366745A-1AD2-4977-A24D-0DE4E7AA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0036B07-5BF0-4061-9F21-CAB2537B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854241-916C-466F-B08C-F490FABE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C84F676-D315-4032-B55E-24AE4FA0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1B5FCCF-1C82-4980-8E9C-7B3E7857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lesson: why was one circular view insufficient?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64BD269-0B79-4F1B-901C-D39FF70C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lesson: what happened to the disc outline as it turned?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7615F1F-6AF6-4D8C-B4A0-7509A7DD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week: how did Earth's curved surface affect light and darkness?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963C204-8FCE-4D2D-BB40-0CE8FB0F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what must stay the same for a fair shape comparison?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FDA37AC4-F5CB-41FA-9021-C31DED1C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05C7D9B-76BB-4515-A360-7A34DF9E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822777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47B4FAC2-1C75-4781-85DE-C4E3CA9C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113FABF-4131-4495-8CC8-5854D484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A4605DC-60A1-4448-8CF3-CE3BBC5F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AAB75F-E19F-4AAF-A64A-F259BB6C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result would most strongly challenge a flat-disc model? Commit before seeing the method.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25E2B8A-1EF5-4773-8EF7-C0FC616C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F459766-3774-4F02-AFFD-54EB17E0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E51162F-9E65-435D-817C-7202630E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The body looks circular from the front.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0C3F531-93FB-44DF-9A24-E5E6324F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The outline stays round from front, quarter and edge directions.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98A0BFC-58B3-4554-B105-BEAEAA53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The object can move across a table.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28F20242-DFB7-498F-B332-337861AF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30F8FC3C-737D-45FB-9334-9AF77DE5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6210808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BA7CAE8-72F1-422A-A1E3-7FF780FA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AA6398D-86F1-40EE-8B1A-8BD16EAF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5A6418A-DD62-4FD5-8EB2-04C3F135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08A9ED-1564-4FCF-BFC6-6D0DA0C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3390DD8-25E7-44FC-BF0A-9DFD083B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D963153-F3BA-454B-A9BB-DB5FE03B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Observation 1: both objects look round from the front.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105A0F7-2BF0-4616-997C-28E127ED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Observation 2: after the same quarter turn, one looks oval and one stays round.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93FF43F-960F-45A7-B5A2-0FACEA79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Observation 3: from the edge direction, one is a thin line and one stays round.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FEC53179-E561-4FC2-9C17-7950CEAB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A903C08B-68A7-4E81-9ACF-9EF0F061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8335920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678DBAC1-B9BC-418D-A90D-DB7368D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A7D940E-F6AC-45E2-802F-A862DE60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B7A5FFB-BB00-482F-A55C-9E33E95C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609936-AE0B-4DA5-8C97-676915F0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89CD1C7-260D-465A-89A0-D1D7448B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6b5dea165405e"/>
          <a:stretch xmlns:a="http://schemas.openxmlformats.org/drawingml/2006/main"/>
        </p:blipFill>
        <p:spPr>
          <a:xfrm xmlns:a="http://schemas.openxmlformats.org/drawingml/2006/main">
            <a:off x="8001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54186757-7291-48CC-AA91-0919E36F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Both objects round from the front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83ce972604a6f"/>
          <a:stretch xmlns:a="http://schemas.openxmlformats.org/drawingml/2006/main"/>
        </p:blipFill>
        <p:spPr>
          <a:xfrm xmlns:a="http://schemas.openxmlformats.org/drawingml/2006/main">
            <a:off x="44069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58C7C42D-355B-4E96-87BA-3D32DFD7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One oval, one round after the same turn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60aac6c0149a4"/>
          <a:stretch xmlns:a="http://schemas.openxmlformats.org/drawingml/2006/main"/>
        </p:blipFill>
        <p:spPr>
          <a:xfrm xmlns:a="http://schemas.openxmlformats.org/drawingml/2006/main">
            <a:off x="80137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F4364D91-2AB2-4665-B17D-7E107150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One a line, one round from the edge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8FFE5B3C-EE4F-48FC-8C31-718C96BE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399CDF7F-73FB-4CF0-9F54-E5891A63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348498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0EA0CC0D-D6F4-49EF-B8C0-62848468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FD09744-EE73-4DA8-A526-36FC0022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B5F8958-5C7C-4B53-A0AA-2EBBAE1B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87BB6F-2799-486A-9185-F26B9016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980E775-629E-4E3C-A3FD-DF2519AE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CE01706-BD23-4D5A-98FF-7FA94179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observation — what is noticed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0FD6A1F-62AE-46FE-A8BA-CECE915F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comparison — same test for both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20DB99A-D722-479E-B9C1-A27F2309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conclusion — what the evidence means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3723C891-089F-40DE-926E-AE99A64D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D691D610-9714-4B83-B515-B7D529E1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2017246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2098541-D3AB-4A62-B898-6BC98909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203C143-4309-408D-8888-63EE212C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67FB4CD-EC87-4771-8687-FE87A30C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9BC789-E363-41E7-B174-88CB41B3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6CE6882-E714-40B7-9908-EF6D9745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2124284-DD48-4F33-803C-7FEE541A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Place the disc and sphere at the same marked distance. Observe both from the front without naming the expected answer.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C76FB21-418D-4AF7-B782-539D3541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Turn both through the same quarter turn, then to the edge direction. Record only the outline seen each time.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6E4E7D3-643D-43CD-AA00-02FE0B3F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Check the six observations before concluding. A fair comparison uses the same viewpoints for both objects.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AD1E6499-D3A8-4040-9782-EDF3E35F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39C41212-75DD-4667-B3CE-14DDF61A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19185137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77912E9D-A0D7-4E8F-8EA4-4BE8FC56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10421B3-9845-4EC4-B001-9D12AD6B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65B5802-36D2-46B7-97C6-1F237A48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5E0340-D959-4DE1-B04D-9308EFDB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421AE62-37A5-412C-980F-24A7454B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f578d696745de"/>
          <a:stretch xmlns:a="http://schemas.openxmlformats.org/drawingml/2006/main"/>
        </p:blipFill>
        <p:spPr>
          <a:xfrm xmlns:a="http://schemas.openxmlformats.org/drawingml/2006/main">
            <a:off x="2195513" y="2181225"/>
            <a:ext cx="7800975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21A800FA-F16F-4F37-AE10-D76E669C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disc and a sphere seen from the chosen viewpoint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4AFAF2C-46E3-466B-A389-230E4206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D09AFB8A-0A2D-421E-BC86-0957E9A7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19684587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2441CBE7-F8D1-47C4-AA23-8A2CA80C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AA83E96-ED3A-4FCA-90F2-04737E55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0A4A87D-B403-424C-858A-68F343D3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06E1C5-0D52-4DB5-AC78-377C9816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method gives the fairest shape comparison?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7E73FB0-7DB7-40AE-AFA0-663486C0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F5565A7-4375-4FA3-951E-5A125064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View the disc close-up and the sphere from across the room.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BB63070-F67E-4A7A-9A0A-E46A594D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Use the same distance and the same three viewpoints for both.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26E2428-A6CC-4D8D-8AC5-CBD52CC9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View only the front of whichever object looks roundest.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735DAE3-F79D-4517-AB1E-27F82EEC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5808FB45-6B9E-4820-8381-42526FA4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E05AE0B0-3073-4524-B8CC-CD638B2C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6906039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4E6BF35-80B0-42B6-A0E7-5030E805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16C82FB-4A8B-4B41-B3DF-46DCEAFF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269A423-4751-4708-9833-A311073F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3CC379-B9D7-40A0-913E-7D140B30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D54E309-36F6-436E-BB52-84C34C03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7DFECEF-0753-43C6-A002-47198DDF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Turn the six model observations into a comparison: the disc outline changes; the sphere's outline stays round.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431B2F2-82B8-4880-B653-A8789F61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Add real observations: spacecraft views keep showing round whole-body outlines, Earth's eclipse shadow is curved, and the curved day-night edge moves across Earth and the Moon.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B94331B-8A3A-4A5F-A94F-802039CB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Make the careful claim: gravity makes large bodies nearly round; rotation can flatten them slightly, and surface features add small bumps. The Sun, Earth and Moon are approximately spherical.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E5CD9D28-EE78-4CC1-A5EB-1B6688DD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27485ABE-B9AB-4F54-89A5-92CE44F7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1507781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EC599D0-F8F3-4A4D-9254-4A80CAE9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C1A7B26-CEBF-4921-BDD0-30EE90DF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A25E7D0-BD8D-4219-B8DA-D8D99217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882068-A015-49AA-9E9D-35AC1DF3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82AEFF4-F1F8-4D6E-BB64-736CC969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54484E8-1A3B-4A92-8BBF-81C0C6DF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Conclusion glitch: the Sun, Earth and Moon are perfectly smooth, perfect spheres.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5470442-F2C2-404B-998E-CE1D082F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every spherical body must be perfectly smooth.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B54021B-F430-49B1-A4EC-1BCAC4B7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they are approximately spherical, with real surface features and small departures from perfection.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0E378D9-D38B-46DF-80B9-09D08855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surface features make all three bodies flat.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98B5E4CA-F2F7-44DC-A3BF-D564E27E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4D2EA54-AB30-409D-80B0-7249C291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2052936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FCEA8777-955B-47FF-86E4-5BF8CF6C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A387392-CF4E-4673-8B62-D99D779E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5AA9A5F-315C-43A2-A30E-8CE26B77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761C6F-DF85-47BA-AB6C-8F40EC73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Six-observation world shape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E8EE486-75EA-41E8-B575-B1C178EB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51AE408-2BE9-4E21-9B39-AD035A64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Sort the model results and real space observations, then freeze enough evidence for a careful conclusion.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A364457-5614-4675-A23E-C5A6422D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one recorded observation.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55AAAC5-FE19-4C15-A204-55612BA8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Commit it to disc, sphere or real space evidence.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74864A1-E708-4544-9DD2-2B4B5A9C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Repair using the named view or sky observation.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46E96DA8-24EE-4767-BD5F-D50FC22F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Freeze model and real evidence, then conclude.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174D662E-DBBB-4D45-99CF-654B002A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478F3147-917F-4756-9A9D-CE2C334B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59765830-D961-45CF-99C8-AD3E8D10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934667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1FAB49B7-6284-400F-9561-718A8AF2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AA1AF31-F07B-4F49-A3D9-0D4133DB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0DB3C3C-218A-4ABB-9106-8E1DEB1D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1BE014-DA46-4D48-81C5-AE551097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E657178-1848-4617-91D8-A236B072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08652F1-D95A-4C3E-9603-EEDE5EB7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Disc record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1983599-4065-4B25-B680-26C61C37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Sphere model record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59F6778-0887-46E6-85F6-D982596C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Real space record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4106BF8-76B6-4608-9D46-C7AF5FB1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one paired model view and one real space observation in your conclusion.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61CFC92C-EDF3-4317-B9D0-A3266B01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046DFAD-C3C2-4B3D-B5D4-35D62886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0473254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841E3BA9-47B4-4E01-865A-8C1BA9B0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161A8CE-E11F-4AD9-B2F6-E84EA781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7F0F465-A5EA-4A92-96EA-450E1A3A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E9721F-3F3B-41D2-A4A1-6C26F913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4FD0EEC-9918-4197-A8A3-70E3B3E3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0BB9313-96B7-495B-88EE-183F3FC5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Complete the fair three-view comparison and present an evidence-led conclusion about Solar System body shape.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D048DAE-D885-47A5-A86E-7D2B62B6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Six model observations, one named real space observation, an approximately spherical conclusion and one model limitation.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029D7D84-C802-45FF-8886-C6BADF62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D1DB5156-7A71-4316-9A5D-DE7D1BE9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9684153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FB197845-9005-4398-A638-7EB1CCEC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F2603F2-AFA4-413C-AC17-71F094A4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F4A68F2-E8D8-44B1-88E7-3D00A12F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5F1F2B-723E-40D0-9AC4-6079EB62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D4F46F4-CB08-46DB-9558-CCD8F152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0F066C0-9205-4E0E-9620-0C50A96F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Complete a six-row picture table and choose the conclusion supported.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A05DDE4-C840-4F77-B395-7FB0A229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Record all six model observations, add one real space observation and justify the approximately spherical description.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2E4D23C-523D-43C4-82BF-A72DB45C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Evaluate the evidence, identify an alternative explanation from one view and state why combined views are stronger.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CA9CAE9-A3B8-47B7-A36F-AEB634A4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56B22203-AD01-42CC-969D-D4F1CE73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8566134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E6BEDA09-E7A4-43A2-A6B4-B74AA637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CDB3F7D-61D9-4F61-9A40-BA66DC0E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50123F3-6F26-4404-8343-A62B5975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7239DE-7286-4A12-9935-4AA9F03C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AEDF2AF-FADA-4742-A2D1-2915B4D3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F0ECD3C-C586-4830-83A1-4C8106DA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Cite one paired model view and one real space observation to justify approximately spherical.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05BBB55-3BAE-4715-8E33-3E2B1729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59829DD7-040C-4E1F-8311-76C4BB00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0C660060-53DB-49DB-8FDD-BB414945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77364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2026-09-08T08:54:24.1810000Z</dcterms:created>
  <dcterms:modified xsi:type="dcterms:W3CDTF">2026-09-08T08:54:24.1810000Z</dcterms:modified>
</coreProperties>
</file>