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453864f473d49f5" /><Relationship Type="http://schemas.openxmlformats.org/officeDocument/2006/relationships/extended-properties" Target="/docProps/app.xml" Id="Re690a2d385fe4668" /><Relationship Type="http://schemas.openxmlformats.org/officeDocument/2006/relationships/officeDocument" Target="/ppt/presentation.xml" Id="R9625ea1fb637419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34407430d184b9d"/>
  </p:sldMasterIdLst>
  <p:notesMasterIdLst>
    <p:notesMasterId xmlns:r="http://schemas.openxmlformats.org/officeDocument/2006/relationships" r:id="R223dc164cb2449a1"/>
  </p:notesMasterIdLst>
  <p:sldIdLst>
    <p:sldId xmlns:r="http://schemas.openxmlformats.org/officeDocument/2006/relationships" id="256" r:id="R4e90bff0b404408c"/>
    <p:sldId xmlns:r="http://schemas.openxmlformats.org/officeDocument/2006/relationships" id="257" r:id="R23a141353d904fa8"/>
    <p:sldId xmlns:r="http://schemas.openxmlformats.org/officeDocument/2006/relationships" id="258" r:id="Ra2d55a0cfb26455d"/>
    <p:sldId xmlns:r="http://schemas.openxmlformats.org/officeDocument/2006/relationships" id="259" r:id="Re4ea4e493bd64bce"/>
    <p:sldId xmlns:r="http://schemas.openxmlformats.org/officeDocument/2006/relationships" id="260" r:id="R78caeebcc5e1420f"/>
    <p:sldId xmlns:r="http://schemas.openxmlformats.org/officeDocument/2006/relationships" id="261" r:id="R2ca7fbd288c0439b"/>
    <p:sldId xmlns:r="http://schemas.openxmlformats.org/officeDocument/2006/relationships" id="262" r:id="Rbe69a1cd03ca4641"/>
    <p:sldId xmlns:r="http://schemas.openxmlformats.org/officeDocument/2006/relationships" id="263" r:id="R0e1a1416a45a4e8c"/>
    <p:sldId xmlns:r="http://schemas.openxmlformats.org/officeDocument/2006/relationships" id="264" r:id="R8e814dd8c88f4268"/>
    <p:sldId xmlns:r="http://schemas.openxmlformats.org/officeDocument/2006/relationships" id="265" r:id="R1214f76f65d94197"/>
    <p:sldId xmlns:r="http://schemas.openxmlformats.org/officeDocument/2006/relationships" id="266" r:id="R65636831c8334d28"/>
    <p:sldId xmlns:r="http://schemas.openxmlformats.org/officeDocument/2006/relationships" id="267" r:id="Rcae2158c74f14da1"/>
    <p:sldId xmlns:r="http://schemas.openxmlformats.org/officeDocument/2006/relationships" id="268" r:id="R7ab07e4ba0b64c0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8c932c224f5436f" /><Relationship Type="http://schemas.openxmlformats.org/officeDocument/2006/relationships/slideMaster" Target="/ppt/slideMasters/slideMaster1.xml" Id="Re34407430d184b9d" /><Relationship Type="http://schemas.openxmlformats.org/officeDocument/2006/relationships/notesMaster" Target="/ppt/notesMasters/notesMaster1.xml" Id="R223dc164cb2449a1" /><Relationship Type="http://schemas.openxmlformats.org/officeDocument/2006/relationships/presProps" Target="/ppt/presProps.xml" Id="R1c347a9f049b4501" /><Relationship Type="http://schemas.openxmlformats.org/officeDocument/2006/relationships/tableStyles" Target="/ppt/tableStyles.xml" Id="Rbad627c1dd394702" /><Relationship Type="http://schemas.openxmlformats.org/officeDocument/2006/relationships/slide" Target="/ppt/slides/slide1.xml" Id="R4e90bff0b404408c" /><Relationship Type="http://schemas.openxmlformats.org/officeDocument/2006/relationships/slide" Target="/ppt/slides/slide2.xml" Id="R23a141353d904fa8" /><Relationship Type="http://schemas.openxmlformats.org/officeDocument/2006/relationships/slide" Target="/ppt/slides/slide3.xml" Id="Ra2d55a0cfb26455d" /><Relationship Type="http://schemas.openxmlformats.org/officeDocument/2006/relationships/slide" Target="/ppt/slides/slide4.xml" Id="Re4ea4e493bd64bce" /><Relationship Type="http://schemas.openxmlformats.org/officeDocument/2006/relationships/slide" Target="/ppt/slides/slide5.xml" Id="R78caeebcc5e1420f" /><Relationship Type="http://schemas.openxmlformats.org/officeDocument/2006/relationships/slide" Target="/ppt/slides/slide6.xml" Id="R2ca7fbd288c0439b" /><Relationship Type="http://schemas.openxmlformats.org/officeDocument/2006/relationships/slide" Target="/ppt/slides/slide7.xml" Id="Rbe69a1cd03ca4641" /><Relationship Type="http://schemas.openxmlformats.org/officeDocument/2006/relationships/slide" Target="/ppt/slides/slide8.xml" Id="R0e1a1416a45a4e8c" /><Relationship Type="http://schemas.openxmlformats.org/officeDocument/2006/relationships/slide" Target="/ppt/slides/slide9.xml" Id="R8e814dd8c88f4268" /><Relationship Type="http://schemas.openxmlformats.org/officeDocument/2006/relationships/slide" Target="/ppt/slides/slide10.xml" Id="R1214f76f65d94197" /><Relationship Type="http://schemas.openxmlformats.org/officeDocument/2006/relationships/slide" Target="/ppt/slides/slide11.xml" Id="R65636831c8334d28" /><Relationship Type="http://schemas.openxmlformats.org/officeDocument/2006/relationships/slide" Target="/ppt/slides/slide12.xml" Id="Rcae2158c74f14da1" /><Relationship Type="http://schemas.openxmlformats.org/officeDocument/2006/relationships/slide" Target="/ppt/slides/slide13.xml" Id="R7ab07e4ba0b64c0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310112e75a04b3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4edda5c6c374eff" /><Relationship Type="http://schemas.openxmlformats.org/officeDocument/2006/relationships/notesMaster" Target="/ppt/notesMasters/notesMaster1.xml" Id="Rc0a53915265c482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a38d72dad234f34" /><Relationship Type="http://schemas.openxmlformats.org/officeDocument/2006/relationships/notesMaster" Target="/ppt/notesMasters/notesMaster1.xml" Id="R6bc49e1fdf94425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21cf6fb2e044451" /><Relationship Type="http://schemas.openxmlformats.org/officeDocument/2006/relationships/notesMaster" Target="/ppt/notesMasters/notesMaster1.xml" Id="R2571b4df95ac4ca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a7e05f6e969491c" /><Relationship Type="http://schemas.openxmlformats.org/officeDocument/2006/relationships/notesMaster" Target="/ppt/notesMasters/notesMaster1.xml" Id="R87f2228c19d6431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43a7f9f68d44536" /><Relationship Type="http://schemas.openxmlformats.org/officeDocument/2006/relationships/notesMaster" Target="/ppt/notesMasters/notesMaster1.xml" Id="Rcdb80d7cdb5b477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8525858a6194355" /><Relationship Type="http://schemas.openxmlformats.org/officeDocument/2006/relationships/notesMaster" Target="/ppt/notesMasters/notesMaster1.xml" Id="R7f011a1353c24b2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3658efde39b4b2a" /><Relationship Type="http://schemas.openxmlformats.org/officeDocument/2006/relationships/notesMaster" Target="/ppt/notesMasters/notesMaster1.xml" Id="Re17af6a4d8ab405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80ef56c05bc4f9b" /><Relationship Type="http://schemas.openxmlformats.org/officeDocument/2006/relationships/notesMaster" Target="/ppt/notesMasters/notesMaster1.xml" Id="Rff8acfa4ba4841e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b85a045a147438a" /><Relationship Type="http://schemas.openxmlformats.org/officeDocument/2006/relationships/notesMaster" Target="/ppt/notesMasters/notesMaster1.xml" Id="R749c159d22eb4a1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c92dd641cb34469" /><Relationship Type="http://schemas.openxmlformats.org/officeDocument/2006/relationships/notesMaster" Target="/ppt/notesMasters/notesMaster1.xml" Id="R5548de3852ce433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e9a998d9f784f32" /><Relationship Type="http://schemas.openxmlformats.org/officeDocument/2006/relationships/notesMaster" Target="/ppt/notesMasters/notesMaster1.xml" Id="Rc5e4df8564934de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eec60dbc6be4465" /><Relationship Type="http://schemas.openxmlformats.org/officeDocument/2006/relationships/notesMaster" Target="/ppt/notesMasters/notesMaster1.xml" Id="Refa0dd970120497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b598f21e6b9493c" /><Relationship Type="http://schemas.openxmlformats.org/officeDocument/2006/relationships/notesMaster" Target="/ppt/notesMasters/notesMaster1.xml" Id="R5723d7bb03aa41e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Title — 1 minutes within the source's 40-minute lesson.</a:t>
            </a:r>
          </a:p>
          <a:p xmlns:a="http://schemas.openxmlformats.org/drawingml/2006/main">
            <a:r>
              <a:t>Introduce current weekly intention; Monday plans and models, Tuesday runs the investigation. Here 'fair' means controlling a comparison, not merely sharing turns. No claim to have completed Tuesday's practical.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https://github.com/MattRoper1977/Lessons/blob/main/Science_Teesside/Grow/SCI_G_W5_Fair_Test.html</a:t>
            </a:r>
          </a:p>
          <a:p xmlns:a="http://schemas.openxmlformats.org/drawingml/2006/main">
            <a:r>
              <a:t>Git blob: efdaeab196acc3a8a07e04b088c646ea3a8c724c.</a:t>
            </a:r>
          </a:p>
          <a:p xmlns:a="http://schemas.openxmlformats.org/drawingml/2006/main">
            <a:r>
              <a:t>SHA256: bb73bf1bb84d91f21cb25a128b08842daa4e54e9810262258a122fb69f91c779.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Arrival Task — 4 minutes within the source's 40-minute lesson.</a:t>
            </a:r>
          </a:p>
          <a:p xmlns:a="http://schemas.openxmlformats.org/drawingml/2006/main">
            <a:r>
              <a:t>Source arrival tier choices: supported circle/point to the one change, standard write/dictate it, stretch also two controls. Answer: run-out surface; controls include same trolley, ramp height, release point and no push. Same fixed measuring zero. Board question explicitly supplied so pupil can answer without internet.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https://github.com/MattRoper1977/Lessons/blob/main/Science_Teesside/Grow/SCI_G_W5_Fair_Test.html</a:t>
            </a:r>
          </a:p>
          <a:p xmlns:a="http://schemas.openxmlformats.org/drawingml/2006/main">
            <a:r>
              <a:t>Git blob: efdaeab196acc3a8a07e04b088c646ea3a8c724c.</a:t>
            </a:r>
          </a:p>
          <a:p xmlns:a="http://schemas.openxmlformats.org/drawingml/2006/main">
            <a:r>
              <a:t>SHA256: bb73bf1bb84d91f21cb25a128b08842daa4e54e9810262258a122fb69f91c779.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Today at a Glance — 2 minutes within the source's 40-minute lesson.</a:t>
            </a:r>
          </a:p>
          <a:p xmlns:a="http://schemas.openxmlformats.org/drawingml/2006/main">
            <a:r>
              <a:t>Source sequence: name variables, run three trials, judge data. Explain actual pupil/director trials are in Tuesday period. Agree accessible record mode before apparatus. No compulsory writing if pointing/dictation demonstrates same science.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https://github.com/MattRoper1977/Lessons/blob/main/Science_Teesside/Grow/SCI_G_W5_Fair_Test.html</a:t>
            </a:r>
          </a:p>
          <a:p xmlns:a="http://schemas.openxmlformats.org/drawingml/2006/main">
            <a:r>
              <a:t>Git blob: efdaeab196acc3a8a07e04b088c646ea3a8c724c.</a:t>
            </a:r>
          </a:p>
          <a:p xmlns:a="http://schemas.openxmlformats.org/drawingml/2006/main">
            <a:r>
              <a:t>SHA256: bb73bf1bb84d91f21cb25a128b08842daa4e54e9810262258a122fb69f91c779.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 1 — 4 minutes within the source's 40-minute lesson.</a:t>
            </a:r>
          </a:p>
          <a:p xmlns:a="http://schemas.openxmlformats.org/drawingml/2006/main">
            <a:r>
              <a:t>First four minutes source nine-minute I Do 1. Adult demonstrates carefully on low secured ramp with padded stop, clear run and light trolley; no dangerous hard push. If no apparatus, describe hypothetical case clearly. Cannot identify cause because both surface and push changed. Avoid saying all data are worthless; comparison cannot isolate surface effect.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https://github.com/MattRoper1977/Lessons/blob/main/Science_Teesside/Grow/SCI_G_W5_Fair_Test.html</a:t>
            </a:r>
          </a:p>
          <a:p xmlns:a="http://schemas.openxmlformats.org/drawingml/2006/main">
            <a:r>
              <a:t>Git blob: efdaeab196acc3a8a07e04b088c646ea3a8c724c.</a:t>
            </a:r>
          </a:p>
          <a:p xmlns:a="http://schemas.openxmlformats.org/drawingml/2006/main">
            <a:r>
              <a:t>SHA256: bb73bf1bb84d91f21cb25a128b08842daa4e54e9810262258a122fb69f91c779.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 1 — 5 minutes within the source's 40-minute lesson.</a:t>
            </a:r>
          </a:p>
          <a:p xmlns:a="http://schemas.openxmlformats.org/drawingml/2006/main">
            <a:r>
              <a:t>Last five minutes source nine-minute I Do 1. Independent variable=deliberate change; dependent variable=measurement; control variables=things deliberately kept same. Re-run adult model with no-push release from fixed mark. Same ramp height, trolley, join, level samples and measurement zero. Diagram is editable plan, not experiment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https://github.com/MattRoper1977/Lessons/blob/main/Science_Teesside/Grow/SCI_G_W5_Fair_Test.html</a:t>
            </a:r>
          </a:p>
          <a:p xmlns:a="http://schemas.openxmlformats.org/drawingml/2006/main">
            <a:r>
              <a:t>Git blob: efdaeab196acc3a8a07e04b088c646ea3a8c724c.</a:t>
            </a:r>
          </a:p>
          <a:p xmlns:a="http://schemas.openxmlformats.org/drawingml/2006/main">
            <a:r>
              <a:t>SHA256: bb73bf1bb84d91f21cb25a128b08842daa4e54e9810262258a122fb69f91c779.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 1 — 5 minutes within the source's 40-minute lesson.</a:t>
            </a:r>
          </a:p>
          <a:p xmlns:a="http://schemas.openxmlformats.org/drawingml/2006/main">
            <a:r>
              <a:t>First five of source ten-minute We Do 1. Decide CHANGE, MEASURE or KEEP for each before checking. Source 'how hard we push' is clarified to no-push release: keep release procedure constant, don't attempt to match a subjective push. Speaking/pointing/card sort substitutes tapping.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https://github.com/MattRoper1977/Lessons/blob/main/Science_Teesside/Grow/SCI_G_W5_Fair_Test.html</a:t>
            </a:r>
          </a:p>
          <a:p xmlns:a="http://schemas.openxmlformats.org/drawingml/2006/main">
            <a:r>
              <a:t>Git blob: efdaeab196acc3a8a07e04b088c646ea3a8c724c.</a:t>
            </a:r>
          </a:p>
          <a:p xmlns:a="http://schemas.openxmlformats.org/drawingml/2006/main">
            <a:r>
              <a:t>SHA256: bb73bf1bb84d91f21cb25a128b08842daa4e54e9810262258a122fb69f91c779.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 1 — 3 minutes within the source's 40-minute lesson.</a:t>
            </a:r>
          </a:p>
          <a:p xmlns:a="http://schemas.openxmlformats.org/drawingml/2006/main">
            <a:r>
              <a:t>Next three minutes source We Do 1. Reveal after attempt. Add same level run-out, ramp join and fixed zero. Control list need not imply every environmental factor perfectly controlled; choose relevant practical controls. A dependent variable is what is measured, not what is deliberately changed.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https://github.com/MattRoper1977/Lessons/blob/main/Science_Teesside/Grow/SCI_G_W5_Fair_Test.html</a:t>
            </a:r>
          </a:p>
          <a:p xmlns:a="http://schemas.openxmlformats.org/drawingml/2006/main">
            <a:r>
              <a:t>Git blob: efdaeab196acc3a8a07e04b088c646ea3a8c724c.</a:t>
            </a:r>
          </a:p>
          <a:p xmlns:a="http://schemas.openxmlformats.org/drawingml/2006/main">
            <a:r>
              <a:t>SHA256: bb73bf1bb84d91f21cb25a128b08842daa4e54e9810262258a122fb69f91c779.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 1 — 2 minutes within the source's 40-minute lesson.</a:t>
            </a:r>
          </a:p>
          <a:p xmlns:a="http://schemas.openxmlformats.org/drawingml/2006/main">
            <a:r>
              <a:t>Final two minutes source We Do 1. Use source's deliberately misplaced ruler-zero example. Real ruler edge may precede zero. Check distance from same ramp-foot mark to same trolley edge at rest. Safe adult handles apparatus. For paper alternative, point to agreed start and explain correction without fabricated readings.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https://github.com/MattRoper1977/Lessons/blob/main/Science_Teesside/Grow/SCI_G_W5_Fair_Test.html</a:t>
            </a:r>
          </a:p>
          <a:p xmlns:a="http://schemas.openxmlformats.org/drawingml/2006/main">
            <a:r>
              <a:t>Git blob: efdaeab196acc3a8a07e04b088c646ea3a8c724c.</a:t>
            </a:r>
          </a:p>
          <a:p xmlns:a="http://schemas.openxmlformats.org/drawingml/2006/main">
            <a:r>
              <a:t>SHA256: bb73bf1bb84d91f21cb25a128b08842daa4e54e9810262258a122fb69f91c779.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 2 — 4 minutes within the source's 40-minute lesson.</a:t>
            </a:r>
          </a:p>
          <a:p xmlns:a="http://schemas.openxmlformats.org/drawingml/2006/main">
            <a:r>
              <a:t>Exact source four-minute evidence loop. Model: change run-out surface; keep same trolley and ramp/release mark, release without push; measure stopping distance in centimetres from fixed zero. Planning and results together will later support evidence; no compulsory photographs. Witness variable naming, correct-unit record and evaluation at actual independence level.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https://github.com/MattRoper1977/Lessons/blob/main/Science_Teesside/Grow/SCI_G_W5_Fair_Test.html</a:t>
            </a:r>
          </a:p>
          <a:p xmlns:a="http://schemas.openxmlformats.org/drawingml/2006/main">
            <a:r>
              <a:t>Git blob: efdaeab196acc3a8a07e04b088c646ea3a8c724c.</a:t>
            </a:r>
          </a:p>
          <a:p xmlns:a="http://schemas.openxmlformats.org/drawingml/2006/main">
            <a:r>
              <a:t>SHA256: bb73bf1bb84d91f21cb25a128b08842daa4e54e9810262258a122fb69f91c779.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 2 — 4 minutes within the source's 40-minute lesson.</a:t>
            </a:r>
          </a:p>
          <a:p xmlns:a="http://schemas.openxmlformats.org/drawingml/2006/main">
            <a:r>
              <a:t>First four minutes of source ten-minute We Do 2. Sort source bins FAIR/NOT FAIR/NOT SCIENCE/NOT A UNIT. Qualify same-height/different-surface as consistent with fair method only if other relevant controls held. Three repeats support consistency but alone do not make an unfair method fair. Decide before answer reveal.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https://github.com/MattRoper1977/Lessons/blob/main/Science_Teesside/Grow/SCI_G_W5_Fair_Test.html</a:t>
            </a:r>
          </a:p>
          <a:p xmlns:a="http://schemas.openxmlformats.org/drawingml/2006/main">
            <a:r>
              <a:t>Git blob: efdaeab196acc3a8a07e04b088c646ea3a8c724c.</a:t>
            </a:r>
          </a:p>
          <a:p xmlns:a="http://schemas.openxmlformats.org/drawingml/2006/main">
            <a:r>
              <a:t>SHA256: bb73bf1bb84d91f21cb25a128b08842daa4e54e9810262258a122fb69f91c779.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 2 — 2 minutes within the source's 40-minute lesson.</a:t>
            </a:r>
          </a:p>
          <a:p xmlns:a="http://schemas.openxmlformats.org/drawingml/2006/main">
            <a:r>
              <a:t>Next two source We Do 2 minutes. Source classification: fair, not fair, fair, not science, not a unit. Explain 'not science' refers to rejecting data just because disliked, not a surprising result itself. Prefer precise diagnosis to labels alone. Units should be cm in this planned investigation.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https://github.com/MattRoper1977/Lessons/blob/main/Science_Teesside/Grow/SCI_G_W5_Fair_Test.html</a:t>
            </a:r>
          </a:p>
          <a:p xmlns:a="http://schemas.openxmlformats.org/drawingml/2006/main">
            <a:r>
              <a:t>Git blob: efdaeab196acc3a8a07e04b088c646ea3a8c724c.</a:t>
            </a:r>
          </a:p>
          <a:p xmlns:a="http://schemas.openxmlformats.org/drawingml/2006/main">
            <a:r>
              <a:t>SHA256: bb73bf1bb84d91f21cb25a128b08842daa4e54e9810262258a122fb69f91c779.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 2 — 2 minutes within the source's 40-minute lesson.</a:t>
            </a:r>
          </a:p>
          <a:p xmlns:a="http://schemas.openxmlformats.org/drawingml/2006/main">
            <a:r>
              <a:t>Next two minutes source We Do 2 extension. A surprising observation isn't automatically a mistake. If adult observed a push, note that known method issue separately. If no known cause, keep uncertainty. Never remove or replace a value only to make a mean or pattern look better. No extra invented numerical data needed.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https://github.com/MattRoper1977/Lessons/blob/main/Science_Teesside/Grow/SCI_G_W5_Fair_Test.html</a:t>
            </a:r>
          </a:p>
          <a:p xmlns:a="http://schemas.openxmlformats.org/drawingml/2006/main">
            <a:r>
              <a:t>Git blob: efdaeab196acc3a8a07e04b088c646ea3a8c724c.</a:t>
            </a:r>
          </a:p>
          <a:p xmlns:a="http://schemas.openxmlformats.org/drawingml/2006/main">
            <a:r>
              <a:t>SHA256: bb73bf1bb84d91f21cb25a128b08842daa4e54e9810262258a122fb69f91c779.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 2 — 2 minutes within the source's 40-minute lesson.</a:t>
            </a:r>
          </a:p>
          <a:p xmlns:a="http://schemas.openxmlformats.org/drawingml/2006/main">
            <a:r>
              <a:t>Final two minutes source We Do 2. Label and keep planning frame. Stop Monday here; Tuesday is 32-minute workshop plus 4-minute feedback and 4-minute exit. Source sample carpet conclusion is not copied as pupil evidence because current test has not occurred. Next lesson uses actual results or explicitly labelled model data.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https://github.com/MattRoper1977/Lessons/blob/main/Science_Teesside/Grow/SCI_G_W5_Fair_Test.html</a:t>
            </a:r>
          </a:p>
          <a:p xmlns:a="http://schemas.openxmlformats.org/drawingml/2006/main">
            <a:r>
              <a:t>Git blob: efdaeab196acc3a8a07e04b088c646ea3a8c724c.</a:t>
            </a:r>
          </a:p>
          <a:p xmlns:a="http://schemas.openxmlformats.org/drawingml/2006/main">
            <a:r>
              <a:t>SHA256: bb73bf1bb84d91f21cb25a128b08842daa4e54e9810262258a122fb69f91c779.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6224fb45d4450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13400886edd457c" /><Relationship Type="http://schemas.openxmlformats.org/officeDocument/2006/relationships/slideLayout" Target="/ppt/slideLayouts/slideLayout1.xml" Id="R6150b7be08594b6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150b7be08594b6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870095a09e4f8c" /><Relationship Type="http://schemas.openxmlformats.org/officeDocument/2006/relationships/notesSlide" Target="/ppt/notesSlides/notesSlide1.xml" Id="Ra88a9996e39648d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7928671bfe4e87" /><Relationship Type="http://schemas.openxmlformats.org/officeDocument/2006/relationships/notesSlide" Target="/ppt/notesSlides/notesSlide2.xml" Id="R9719fbd1744d4c2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32f34969e5448e" /><Relationship Type="http://schemas.openxmlformats.org/officeDocument/2006/relationships/notesSlide" Target="/ppt/notesSlides/notesSlide3.xml" Id="R9c880e26abef413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97ebee727d4a86" /><Relationship Type="http://schemas.openxmlformats.org/officeDocument/2006/relationships/notesSlide" Target="/ppt/notesSlides/notesSlide4.xml" Id="R631fa0f60ea1465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9134c29e0942fd" /><Relationship Type="http://schemas.openxmlformats.org/officeDocument/2006/relationships/notesSlide" Target="/ppt/notesSlides/notesSlide5.xml" Id="R61fcfd37bf6c4c8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e5306aade24f53" /><Relationship Type="http://schemas.openxmlformats.org/officeDocument/2006/relationships/notesSlide" Target="/ppt/notesSlides/notesSlide6.xml" Id="R69df21fbc29849d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68a979b6ad416e" /><Relationship Type="http://schemas.openxmlformats.org/officeDocument/2006/relationships/notesSlide" Target="/ppt/notesSlides/notesSlide7.xml" Id="Rd081e7f350274e3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e2e1eadff14706" /><Relationship Type="http://schemas.openxmlformats.org/officeDocument/2006/relationships/notesSlide" Target="/ppt/notesSlides/notesSlide8.xml" Id="Rf261efd9072342b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3781663b254e8f" /><Relationship Type="http://schemas.openxmlformats.org/officeDocument/2006/relationships/notesSlide" Target="/ppt/notesSlides/notesSlide9.xml" Id="R7f34f40056334c5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fc96a3a2fa4d78" /><Relationship Type="http://schemas.openxmlformats.org/officeDocument/2006/relationships/notesSlide" Target="/ppt/notesSlides/notesSlide10.xml" Id="R391b4e05842043b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0318a060884342" /><Relationship Type="http://schemas.openxmlformats.org/officeDocument/2006/relationships/notesSlide" Target="/ppt/notesSlides/notesSlide11.xml" Id="R278aa3f578624f7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5face77900491c" /><Relationship Type="http://schemas.openxmlformats.org/officeDocument/2006/relationships/notesSlide" Target="/ppt/notesSlides/notesSlide12.xml" Id="R68487cc2ff714f3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3713ad01bd4a20" /><Relationship Type="http://schemas.openxmlformats.org/officeDocument/2006/relationships/notesSlide" Target="/ppt/notesSlides/notesSlide13.xml" Id="R844a38c39431482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op-rule">
            <a:extLst xmlns:a="http://schemas.openxmlformats.org/drawingml/2006/main">
              <a:ext uri="{FF2B5EF4-FFF2-40B4-BE49-F238E27FC236}">
                <a16:creationId xmlns:a16="http://schemas.microsoft.com/office/drawing/2014/main" id="{11D7E4AC-320F-4922-967E-D5E64E476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E7D44671-11CC-4308-B443-03B9DB1D2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GROW SCIENCE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E4F470B-8F40-416E-9673-CE981C695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Planning a fair test</a:t>
            </a:r>
          </a:p>
        </p:txBody>
      </p:sp>
      <p:sp>
        <p:nvSpPr>
          <p:cNvPr id="4" name="footer-line">
            <a:extLst xmlns:a="http://schemas.openxmlformats.org/drawingml/2006/main">
              <a:ext uri="{FF2B5EF4-FFF2-40B4-BE49-F238E27FC236}">
                <a16:creationId xmlns:a16="http://schemas.microsoft.com/office/drawing/2014/main" id="{82B461E0-439B-4029-A406-B7A573958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19549769-CCC2-4615-87D0-A7D6464CE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5  ·  LESSON A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0BD692E0-8413-4800-BD3B-30322038F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01</a:t>
            </a:r>
          </a:p>
        </p:txBody>
      </p:sp>
      <p:sp>
        <p:nvSpPr>
          <p:cNvPr id="7" name="subtitle">
            <a:extLst xmlns:a="http://schemas.openxmlformats.org/drawingml/2006/main">
              <a:ext uri="{FF2B5EF4-FFF2-40B4-BE49-F238E27FC236}">
                <a16:creationId xmlns:a16="http://schemas.microsoft.com/office/drawing/2014/main" id="{07DEE948-892E-49EC-9A3D-A5D4FCC05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28685E"/>
                </a:solidFill>
              </a:defRPr>
            </a:pPr>
            <a:r>
              <a:rPr sz="3900" b="1">
                <a:solidFill>
                  <a:srgbClr val="28685E"/>
                </a:solidFill>
              </a:rPr>
              <a:t>Change one thing. Trust the comparison.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C99434FC-AB5D-4C92-80FE-8300BFAD4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1066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Plan variables, record with units and judge what the evidence can support.</a:t>
            </a:r>
          </a:p>
        </p:txBody>
      </p:sp>
    </p:spTree>
    <p:extLst>
      <p:ext uri="{BB962C8B-B14F-4D97-AF65-F5344CB8AC3E}">
        <p14:creationId xmlns:p14="http://schemas.microsoft.com/office/powerpoint/2010/main" val="17330872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op-rule">
            <a:extLst xmlns:a="http://schemas.openxmlformats.org/drawingml/2006/main">
              <a:ext uri="{FF2B5EF4-FFF2-40B4-BE49-F238E27FC236}">
                <a16:creationId xmlns:a16="http://schemas.microsoft.com/office/drawing/2014/main" id="{B32D24D3-8260-4BFA-8BDF-11561C22C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400AFDF8-9ABF-4E47-807C-F17627B4B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GROW SCIENCE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51F82A7-7861-4097-AB34-6EBF0BB8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What will we change?</a:t>
            </a:r>
          </a:p>
        </p:txBody>
      </p:sp>
      <p:sp>
        <p:nvSpPr>
          <p:cNvPr id="4" name="footer-line">
            <a:extLst xmlns:a="http://schemas.openxmlformats.org/drawingml/2006/main">
              <a:ext uri="{FF2B5EF4-FFF2-40B4-BE49-F238E27FC236}">
                <a16:creationId xmlns:a16="http://schemas.microsoft.com/office/drawing/2014/main" id="{F0BF883E-ED0F-48B2-B706-347E09ACC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1CF24E5B-0CC8-43ED-AFF5-FCF8CC202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5  ·  LESSON A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CE77CBB6-2DE1-463A-B31F-02C9CFB9B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02</a:t>
            </a:r>
          </a:p>
        </p:txBody>
      </p:sp>
      <p:sp>
        <p:nvSpPr>
          <p:cNvPr id="7" name="statement">
            <a:extLst xmlns:a="http://schemas.openxmlformats.org/drawingml/2006/main">
              <a:ext uri="{FF2B5EF4-FFF2-40B4-BE49-F238E27FC236}">
                <a16:creationId xmlns:a16="http://schemas.microsoft.com/office/drawing/2014/main" id="{D724E8E1-5329-47EF-8148-4ECF090A0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0858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28685E"/>
                </a:solidFill>
              </a:defRPr>
            </a:pPr>
            <a:r>
              <a:rPr sz="2925" b="1">
                <a:solidFill>
                  <a:srgbClr val="28685E"/>
                </a:solidFill>
              </a:rPr>
              <a:t>Does the run-out surface affect how far a trolley travels before stopping?</a:t>
            </a:r>
          </a:p>
        </p:txBody>
      </p:sp>
      <p:sp>
        <p:nvSpPr>
          <p:cNvPr id="8" name="callout">
            <a:extLst xmlns:a="http://schemas.openxmlformats.org/drawingml/2006/main">
              <a:ext uri="{FF2B5EF4-FFF2-40B4-BE49-F238E27FC236}">
                <a16:creationId xmlns:a16="http://schemas.microsoft.com/office/drawing/2014/main" id="{05288B60-3BE5-4723-8D22-DF5F73EB6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10858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152B3A"/>
                </a:solidFill>
              </a:defRPr>
            </a:pPr>
            <a:r>
              <a:rPr sz="2700" b="0">
                <a:solidFill>
                  <a:srgbClr val="152B3A"/>
                </a:solidFill>
              </a:rPr>
              <a:t>Name one thing to CHANGE. If ready, name two things to KEEP THE SAME.</a:t>
            </a:r>
          </a:p>
        </p:txBody>
      </p:sp>
    </p:spTree>
    <p:extLst>
      <p:ext uri="{BB962C8B-B14F-4D97-AF65-F5344CB8AC3E}">
        <p14:creationId xmlns:p14="http://schemas.microsoft.com/office/powerpoint/2010/main" val="25536333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-rule">
            <a:extLst xmlns:a="http://schemas.openxmlformats.org/drawingml/2006/main">
              <a:ext uri="{FF2B5EF4-FFF2-40B4-BE49-F238E27FC236}">
                <a16:creationId xmlns:a16="http://schemas.microsoft.com/office/drawing/2014/main" id="{9826EC4F-D83E-4F16-A281-6EF9DB59D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A51CC2F4-DD55-4605-9D2B-BCE04EA80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GROW SCIENCE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F63FE7C-6483-4B61-BDD6-D4D2CB21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Three steps in the investigation</a:t>
            </a:r>
          </a:p>
        </p:txBody>
      </p:sp>
      <p:sp>
        <p:nvSpPr>
          <p:cNvPr id="4" name="footer-line">
            <a:extLst xmlns:a="http://schemas.openxmlformats.org/drawingml/2006/main">
              <a:ext uri="{FF2B5EF4-FFF2-40B4-BE49-F238E27FC236}">
                <a16:creationId xmlns:a16="http://schemas.microsoft.com/office/drawing/2014/main" id="{B47513BC-3D7A-4856-A8D7-8F343BF55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B171641E-83B5-4ACC-9A69-756D2E5DE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5  ·  LESSON A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1E0EB814-5495-482F-BF1F-04CDF1D05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03</a:t>
            </a:r>
          </a:p>
        </p:txBody>
      </p:sp>
      <p:sp>
        <p:nvSpPr>
          <p:cNvPr id="7" name="line-0">
            <a:extLst xmlns:a="http://schemas.openxmlformats.org/drawingml/2006/main">
              <a:ext uri="{FF2B5EF4-FFF2-40B4-BE49-F238E27FC236}">
                <a16:creationId xmlns:a16="http://schemas.microsoft.com/office/drawing/2014/main" id="{B565C6DF-1209-43C1-B4E9-EE340FCE7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1   Name the variables.</a:t>
            </a:r>
          </a:p>
        </p:txBody>
      </p:sp>
      <p:sp>
        <p:nvSpPr>
          <p:cNvPr id="8" name="line-1">
            <a:extLst xmlns:a="http://schemas.openxmlformats.org/drawingml/2006/main">
              <a:ext uri="{FF2B5EF4-FFF2-40B4-BE49-F238E27FC236}">
                <a16:creationId xmlns:a16="http://schemas.microsoft.com/office/drawing/2014/main" id="{9BE50223-173B-493A-BBBE-71A2C8382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2   Plan three trials for each surface.</a:t>
            </a:r>
          </a:p>
        </p:txBody>
      </p:sp>
      <p:sp>
        <p:nvSpPr>
          <p:cNvPr id="9" name="line-2">
            <a:extLst xmlns:a="http://schemas.openxmlformats.org/drawingml/2006/main">
              <a:ext uri="{FF2B5EF4-FFF2-40B4-BE49-F238E27FC236}">
                <a16:creationId xmlns:a16="http://schemas.microsoft.com/office/drawing/2014/main" id="{834E1FCE-7419-4AA7-9875-62C56384A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3   Judge what the results can tell us.</a:t>
            </a:r>
          </a:p>
        </p:txBody>
      </p:sp>
    </p:spTree>
    <p:extLst>
      <p:ext uri="{BB962C8B-B14F-4D97-AF65-F5344CB8AC3E}">
        <p14:creationId xmlns:p14="http://schemas.microsoft.com/office/powerpoint/2010/main" val="7467119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rule">
            <a:extLst xmlns:a="http://schemas.openxmlformats.org/drawingml/2006/main">
              <a:ext uri="{FF2B5EF4-FFF2-40B4-BE49-F238E27FC236}">
                <a16:creationId xmlns:a16="http://schemas.microsoft.com/office/drawing/2014/main" id="{4343B88E-DC13-4C82-A9FC-86F452816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64A30048-2E63-420B-BB18-4C9AF45EE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GROW SCIENCE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3CC7472-B971-465F-8715-36A1369C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Watch an unfair comparison</a:t>
            </a:r>
          </a:p>
        </p:txBody>
      </p:sp>
      <p:sp>
        <p:nvSpPr>
          <p:cNvPr id="4" name="footer-line">
            <a:extLst xmlns:a="http://schemas.openxmlformats.org/drawingml/2006/main">
              <a:ext uri="{FF2B5EF4-FFF2-40B4-BE49-F238E27FC236}">
                <a16:creationId xmlns:a16="http://schemas.microsoft.com/office/drawing/2014/main" id="{A9FF0894-709A-4418-A802-51DB1856F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9220132E-E91C-4B82-8CD5-68BF5EBED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5  ·  LESSON A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98C32979-3509-4ADC-B939-2D5994D6B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04</a:t>
            </a:r>
          </a:p>
        </p:txBody>
      </p:sp>
      <p:sp>
        <p:nvSpPr>
          <p:cNvPr id="7" name="line-0">
            <a:extLst xmlns:a="http://schemas.openxmlformats.org/drawingml/2006/main">
              <a:ext uri="{FF2B5EF4-FFF2-40B4-BE49-F238E27FC236}">
                <a16:creationId xmlns:a16="http://schemas.microsoft.com/office/drawing/2014/main" id="{EB07C15C-8FBF-42B6-9FE0-562102972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The adult changes the surface AND adds a push.</a:t>
            </a:r>
          </a:p>
        </p:txBody>
      </p:sp>
      <p:sp>
        <p:nvSpPr>
          <p:cNvPr id="8" name="line-1">
            <a:extLst xmlns:a="http://schemas.openxmlformats.org/drawingml/2006/main">
              <a:ext uri="{FF2B5EF4-FFF2-40B4-BE49-F238E27FC236}">
                <a16:creationId xmlns:a16="http://schemas.microsoft.com/office/drawing/2014/main" id="{68E79C93-8B6C-404B-81D1-1A9EA91E7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The trolley stops farther away.</a:t>
            </a:r>
          </a:p>
        </p:txBody>
      </p:sp>
      <p:sp>
        <p:nvSpPr>
          <p:cNvPr id="9" name="line-2">
            <a:extLst xmlns:a="http://schemas.openxmlformats.org/drawingml/2006/main">
              <a:ext uri="{FF2B5EF4-FFF2-40B4-BE49-F238E27FC236}">
                <a16:creationId xmlns:a16="http://schemas.microsoft.com/office/drawing/2014/main" id="{F47CD8CD-1198-41D0-9B43-F34FDD5CC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52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Which change caused that difference?</a:t>
            </a:r>
          </a:p>
        </p:txBody>
      </p:sp>
      <p:sp>
        <p:nvSpPr>
          <p:cNvPr id="10" name="line-3">
            <a:extLst xmlns:a="http://schemas.openxmlformats.org/drawingml/2006/main">
              <a:ext uri="{FF2B5EF4-FFF2-40B4-BE49-F238E27FC236}">
                <a16:creationId xmlns:a16="http://schemas.microsoft.com/office/drawing/2014/main" id="{F0D460FB-80B5-4EE5-AFC8-B92E563AE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11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What would you change about the method?</a:t>
            </a:r>
          </a:p>
        </p:txBody>
      </p:sp>
    </p:spTree>
    <p:extLst>
      <p:ext uri="{BB962C8B-B14F-4D97-AF65-F5344CB8AC3E}">
        <p14:creationId xmlns:p14="http://schemas.microsoft.com/office/powerpoint/2010/main" val="55384038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B599BDF2-D0C1-4ADB-893B-8DDE16984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8B545814-9F1C-4E2C-A99F-30F35AC8F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GROW SCIENCE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F45E953-3E42-423C-A2AB-ADEE9AC20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Repair the method</a:t>
            </a:r>
          </a:p>
        </p:txBody>
      </p:sp>
      <p:sp>
        <p:nvSpPr>
          <p:cNvPr id="4" name="footer-line">
            <a:extLst xmlns:a="http://schemas.openxmlformats.org/drawingml/2006/main">
              <a:ext uri="{FF2B5EF4-FFF2-40B4-BE49-F238E27FC236}">
                <a16:creationId xmlns:a16="http://schemas.microsoft.com/office/drawing/2014/main" id="{E96FD39E-B145-412D-B315-FF593A1FF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E0AC9A88-BDD4-455B-A5FC-7E369716A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5  ·  LESSON A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2340FC3B-CA4E-48B1-B9F3-B6F473259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05</a:t>
            </a:r>
          </a:p>
        </p:txBody>
      </p:sp>
      <p:sp>
        <p:nvSpPr>
          <p:cNvPr id="7" name="diagram-shape-0">
            <a:extLst xmlns:a="http://schemas.openxmlformats.org/drawingml/2006/main">
              <a:ext uri="{FF2B5EF4-FFF2-40B4-BE49-F238E27FC236}">
                <a16:creationId xmlns:a16="http://schemas.microsoft.com/office/drawing/2014/main" id="{4ABBB5E3-5679-4FEA-97DB-D38B5C1B3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09850"/>
            <a:ext cx="4953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diagram-shape-1">
            <a:extLst xmlns:a="http://schemas.openxmlformats.org/drawingml/2006/main">
              <a:ext uri="{FF2B5EF4-FFF2-40B4-BE49-F238E27FC236}">
                <a16:creationId xmlns:a16="http://schemas.microsoft.com/office/drawing/2014/main" id="{AE926A62-6208-4748-ACD2-72D3BBBF1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09975"/>
            <a:ext cx="4953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diagram-shape-2">
            <a:extLst xmlns:a="http://schemas.openxmlformats.org/drawingml/2006/main">
              <a:ext uri="{FF2B5EF4-FFF2-40B4-BE49-F238E27FC236}">
                <a16:creationId xmlns:a16="http://schemas.microsoft.com/office/drawing/2014/main" id="{5C402ABB-1559-4F49-B710-11ADFB062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10100"/>
            <a:ext cx="4953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diagram-label-3">
            <a:extLst xmlns:a="http://schemas.openxmlformats.org/drawingml/2006/main">
              <a:ext uri="{FF2B5EF4-FFF2-40B4-BE49-F238E27FC236}">
                <a16:creationId xmlns:a16="http://schemas.microsoft.com/office/drawing/2014/main" id="{FF3A18A3-E1AC-432B-8B5C-1E048086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743200"/>
            <a:ext cx="4572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52B3A"/>
                </a:solidFill>
              </a:defRPr>
            </a:pPr>
            <a:r>
              <a:rPr sz="2025" b="1">
                <a:solidFill>
                  <a:srgbClr val="152B3A"/>
                </a:solidFill>
              </a:rPr>
              <a:t>CHANGE: run-out surface</a:t>
            </a:r>
          </a:p>
        </p:txBody>
      </p:sp>
      <p:sp>
        <p:nvSpPr>
          <p:cNvPr id="11" name="diagram-label-4">
            <a:extLst xmlns:a="http://schemas.openxmlformats.org/drawingml/2006/main">
              <a:ext uri="{FF2B5EF4-FFF2-40B4-BE49-F238E27FC236}">
                <a16:creationId xmlns:a16="http://schemas.microsoft.com/office/drawing/2014/main" id="{B6D1C55F-5001-4A9A-8515-538F7718A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14750"/>
            <a:ext cx="45720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52B3A"/>
                </a:solidFill>
              </a:defRPr>
            </a:pPr>
            <a:r>
              <a:rPr sz="1950" b="1">
                <a:solidFill>
                  <a:srgbClr val="152B3A"/>
                </a:solidFill>
              </a:rPr>
              <a:t>KEEP: trolley, slope, release</a:t>
            </a:r>
          </a:p>
        </p:txBody>
      </p:sp>
      <p:sp>
        <p:nvSpPr>
          <p:cNvPr id="12" name="diagram-label-5">
            <a:extLst xmlns:a="http://schemas.openxmlformats.org/drawingml/2006/main">
              <a:ext uri="{FF2B5EF4-FFF2-40B4-BE49-F238E27FC236}">
                <a16:creationId xmlns:a16="http://schemas.microsoft.com/office/drawing/2014/main" id="{471B5048-1850-445B-8B4E-80C32C1D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24400"/>
            <a:ext cx="4572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52B3A"/>
                </a:solidFill>
              </a:defRPr>
            </a:pPr>
            <a:r>
              <a:rPr sz="1875" b="1">
                <a:solidFill>
                  <a:srgbClr val="152B3A"/>
                </a:solidFill>
              </a:rPr>
              <a:t>MEASURE: stopping distance / cm</a:t>
            </a:r>
          </a:p>
        </p:txBody>
      </p:sp>
      <p:sp>
        <p:nvSpPr>
          <p:cNvPr id="13" name="diagram-body">
            <a:extLst xmlns:a="http://schemas.openxmlformats.org/drawingml/2006/main">
              <a:ext uri="{FF2B5EF4-FFF2-40B4-BE49-F238E27FC236}">
                <a16:creationId xmlns:a16="http://schemas.microsoft.com/office/drawing/2014/main" id="{0459B59D-A0FA-466F-AEAD-72BDB0A07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14625"/>
            <a:ext cx="4857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52B3A"/>
                </a:solidFill>
              </a:defRPr>
            </a:pPr>
            <a:r>
              <a:rPr sz="2550" b="1">
                <a:solidFill>
                  <a:srgbClr val="152B3A"/>
                </a:solidFill>
              </a:rPr>
              <a:t>A variable is something that could change in the investigation.</a:t>
            </a:r>
          </a:p>
        </p:txBody>
      </p:sp>
      <p:sp>
        <p:nvSpPr>
          <p:cNvPr id="14" name="diagram-callout">
            <a:extLst xmlns:a="http://schemas.openxmlformats.org/drawingml/2006/main">
              <a:ext uri="{FF2B5EF4-FFF2-40B4-BE49-F238E27FC236}">
                <a16:creationId xmlns:a16="http://schemas.microsoft.com/office/drawing/2014/main" id="{9CD7F9CA-AE76-45A4-B63B-7FE01EDAB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14875"/>
            <a:ext cx="4857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8685E"/>
                </a:solidFill>
              </a:defRPr>
            </a:pPr>
            <a:r>
              <a:rPr sz="2175" b="0">
                <a:solidFill>
                  <a:srgbClr val="28685E"/>
                </a:solidFill>
              </a:rPr>
              <a:t>Plan each box before testing.</a:t>
            </a:r>
          </a:p>
        </p:txBody>
      </p:sp>
    </p:spTree>
    <p:extLst>
      <p:ext uri="{BB962C8B-B14F-4D97-AF65-F5344CB8AC3E}">
        <p14:creationId xmlns:p14="http://schemas.microsoft.com/office/powerpoint/2010/main" val="3260058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rule">
            <a:extLst xmlns:a="http://schemas.openxmlformats.org/drawingml/2006/main">
              <a:ext uri="{FF2B5EF4-FFF2-40B4-BE49-F238E27FC236}">
                <a16:creationId xmlns:a16="http://schemas.microsoft.com/office/drawing/2014/main" id="{E485A43F-7C57-470F-BD84-B9A52149D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97808380-47DB-43AE-9030-EB9590933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GROW SCIENCE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191E965-D264-4D47-B7A5-4B3103DD6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Classify the five variables</a:t>
            </a:r>
          </a:p>
        </p:txBody>
      </p:sp>
      <p:sp>
        <p:nvSpPr>
          <p:cNvPr id="4" name="footer-line">
            <a:extLst xmlns:a="http://schemas.openxmlformats.org/drawingml/2006/main">
              <a:ext uri="{FF2B5EF4-FFF2-40B4-BE49-F238E27FC236}">
                <a16:creationId xmlns:a16="http://schemas.microsoft.com/office/drawing/2014/main" id="{38213211-AD02-42E0-8234-5A479E5BE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4777191C-1FBC-4391-87FE-3BDBF1E16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5  ·  LESSON A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75372BAC-6345-47A0-946B-B1C4E33C8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06</a:t>
            </a:r>
          </a:p>
        </p:txBody>
      </p:sp>
      <p:sp>
        <p:nvSpPr>
          <p:cNvPr id="7" name="line-0">
            <a:extLst xmlns:a="http://schemas.openxmlformats.org/drawingml/2006/main">
              <a:ext uri="{FF2B5EF4-FFF2-40B4-BE49-F238E27FC236}">
                <a16:creationId xmlns:a16="http://schemas.microsoft.com/office/drawing/2014/main" id="{3ED02277-065D-4C00-B57B-20F74EC4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52B3A"/>
                </a:solidFill>
              </a:defRPr>
            </a:pPr>
            <a:r>
              <a:rPr sz="2175" b="0">
                <a:solidFill>
                  <a:srgbClr val="152B3A"/>
                </a:solidFill>
              </a:rPr>
              <a:t>The surface the trolley rolls on</a:t>
            </a:r>
          </a:p>
        </p:txBody>
      </p:sp>
      <p:sp>
        <p:nvSpPr>
          <p:cNvPr id="8" name="line-1">
            <a:extLst xmlns:a="http://schemas.openxmlformats.org/drawingml/2006/main">
              <a:ext uri="{FF2B5EF4-FFF2-40B4-BE49-F238E27FC236}">
                <a16:creationId xmlns:a16="http://schemas.microsoft.com/office/drawing/2014/main" id="{3AE7EB4A-1A5B-45AF-8300-EBC8D7E7D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28975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52B3A"/>
                </a:solidFill>
              </a:defRPr>
            </a:pPr>
            <a:r>
              <a:rPr sz="2175" b="0">
                <a:solidFill>
                  <a:srgbClr val="152B3A"/>
                </a:solidFill>
              </a:rPr>
              <a:t>Distance the trolley travels</a:t>
            </a:r>
          </a:p>
        </p:txBody>
      </p:sp>
      <p:sp>
        <p:nvSpPr>
          <p:cNvPr id="9" name="line-2">
            <a:extLst xmlns:a="http://schemas.openxmlformats.org/drawingml/2006/main">
              <a:ext uri="{FF2B5EF4-FFF2-40B4-BE49-F238E27FC236}">
                <a16:creationId xmlns:a16="http://schemas.microsoft.com/office/drawing/2014/main" id="{9E641BF0-E619-4DF0-9AB8-595E2630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38575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52B3A"/>
                </a:solidFill>
              </a:defRPr>
            </a:pPr>
            <a:r>
              <a:rPr sz="2175" b="0">
                <a:solidFill>
                  <a:srgbClr val="152B3A"/>
                </a:solidFill>
              </a:rPr>
              <a:t>Height of the ramp</a:t>
            </a:r>
          </a:p>
        </p:txBody>
      </p:sp>
      <p:sp>
        <p:nvSpPr>
          <p:cNvPr id="10" name="line-3">
            <a:extLst xmlns:a="http://schemas.openxmlformats.org/drawingml/2006/main">
              <a:ext uri="{FF2B5EF4-FFF2-40B4-BE49-F238E27FC236}">
                <a16:creationId xmlns:a16="http://schemas.microsoft.com/office/drawing/2014/main" id="{DE8EE7BF-4923-4DBF-85F1-45AA1C7E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48175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52B3A"/>
                </a:solidFill>
              </a:defRPr>
            </a:pPr>
            <a:r>
              <a:rPr sz="2175" b="0">
                <a:solidFill>
                  <a:srgbClr val="152B3A"/>
                </a:solidFill>
              </a:rPr>
              <a:t>Which trolley we use</a:t>
            </a:r>
          </a:p>
        </p:txBody>
      </p:sp>
      <p:sp>
        <p:nvSpPr>
          <p:cNvPr id="11" name="line-4">
            <a:extLst xmlns:a="http://schemas.openxmlformats.org/drawingml/2006/main">
              <a:ext uri="{FF2B5EF4-FFF2-40B4-BE49-F238E27FC236}">
                <a16:creationId xmlns:a16="http://schemas.microsoft.com/office/drawing/2014/main" id="{9A03E417-6E7D-4073-AD25-4DC0D5B2A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57775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52B3A"/>
                </a:solidFill>
              </a:defRPr>
            </a:pPr>
            <a:r>
              <a:rPr sz="2175" b="0">
                <a:solidFill>
                  <a:srgbClr val="152B3A"/>
                </a:solidFill>
              </a:rPr>
              <a:t>How the trolley is released</a:t>
            </a:r>
          </a:p>
        </p:txBody>
      </p:sp>
    </p:spTree>
    <p:extLst>
      <p:ext uri="{BB962C8B-B14F-4D97-AF65-F5344CB8AC3E}">
        <p14:creationId xmlns:p14="http://schemas.microsoft.com/office/powerpoint/2010/main" val="57004957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rule">
            <a:extLst xmlns:a="http://schemas.openxmlformats.org/drawingml/2006/main">
              <a:ext uri="{FF2B5EF4-FFF2-40B4-BE49-F238E27FC236}">
                <a16:creationId xmlns:a16="http://schemas.microsoft.com/office/drawing/2014/main" id="{8EBC88E6-5B09-4D9B-A516-657F477A6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346C3EF8-C6F1-4E47-B1C6-916A96EEC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GROW SCIENCE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B9E55EB-C01C-44B9-B997-709C8511A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Check the variable roles</a:t>
            </a:r>
          </a:p>
        </p:txBody>
      </p:sp>
      <p:sp>
        <p:nvSpPr>
          <p:cNvPr id="4" name="footer-line">
            <a:extLst xmlns:a="http://schemas.openxmlformats.org/drawingml/2006/main">
              <a:ext uri="{FF2B5EF4-FFF2-40B4-BE49-F238E27FC236}">
                <a16:creationId xmlns:a16="http://schemas.microsoft.com/office/drawing/2014/main" id="{DE74B47F-CC73-4CEE-8899-C1BEF6016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5AD6C666-7B20-4CC2-89C9-461FC401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5  ·  LESSON A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DD70F813-E9A6-4288-ABBE-AAC72FBB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07</a:t>
            </a:r>
          </a:p>
        </p:txBody>
      </p:sp>
      <p:sp>
        <p:nvSpPr>
          <p:cNvPr id="7" name="left-heading">
            <a:extLst xmlns:a="http://schemas.openxmlformats.org/drawingml/2006/main">
              <a:ext uri="{FF2B5EF4-FFF2-40B4-BE49-F238E27FC236}">
                <a16:creationId xmlns:a16="http://schemas.microsoft.com/office/drawing/2014/main" id="{018BB337-C9E3-4AB9-B4F2-6953CFA68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8685E"/>
                </a:solidFill>
              </a:defRPr>
            </a:pPr>
            <a:r>
              <a:rPr sz="2025" b="1">
                <a:solidFill>
                  <a:srgbClr val="28685E"/>
                </a:solidFill>
              </a:rPr>
              <a:t>CHANGE AND MEASURE</a:t>
            </a:r>
          </a:p>
        </p:txBody>
      </p:sp>
      <p:sp>
        <p:nvSpPr>
          <p:cNvPr id="8" name="right-heading">
            <a:extLst xmlns:a="http://schemas.openxmlformats.org/drawingml/2006/main">
              <a:ext uri="{FF2B5EF4-FFF2-40B4-BE49-F238E27FC236}">
                <a16:creationId xmlns:a16="http://schemas.microsoft.com/office/drawing/2014/main" id="{E98DDC08-2562-42C5-9CF6-5E80E099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19375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A65D25"/>
                </a:solidFill>
              </a:defRPr>
            </a:pPr>
            <a:r>
              <a:rPr sz="2025" b="1">
                <a:solidFill>
                  <a:srgbClr val="A65D25"/>
                </a:solidFill>
              </a:rPr>
              <a:t>KEEP THE SAME</a:t>
            </a:r>
          </a:p>
        </p:txBody>
      </p:sp>
      <p:sp>
        <p:nvSpPr>
          <p:cNvPr id="9" name="left">
            <a:extLst xmlns:a="http://schemas.openxmlformats.org/drawingml/2006/main">
              <a:ext uri="{FF2B5EF4-FFF2-40B4-BE49-F238E27FC236}">
                <a16:creationId xmlns:a16="http://schemas.microsoft.com/office/drawing/2014/main" id="{3451ABC7-BC67-4B81-A2B8-27E1E5F89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CHANGE: run-out surface</a:t>
            </a:r>
          </a:p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MEASURE: stopping distance / cm</a:t>
            </a:r>
          </a:p>
        </p:txBody>
      </p:sp>
      <p:sp>
        <p:nvSpPr>
          <p:cNvPr id="10" name="right">
            <a:extLst xmlns:a="http://schemas.openxmlformats.org/drawingml/2006/main">
              <a:ext uri="{FF2B5EF4-FFF2-40B4-BE49-F238E27FC236}">
                <a16:creationId xmlns:a16="http://schemas.microsoft.com/office/drawing/2014/main" id="{A16596C7-17C8-4525-A325-65E96A8B7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33750"/>
            <a:ext cx="485775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Ramp height</a:t>
            </a:r>
          </a:p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Same trolley</a:t>
            </a:r>
          </a:p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Release mark; no push</a:t>
            </a:r>
          </a:p>
        </p:txBody>
      </p:sp>
    </p:spTree>
    <p:extLst>
      <p:ext uri="{BB962C8B-B14F-4D97-AF65-F5344CB8AC3E}">
        <p14:creationId xmlns:p14="http://schemas.microsoft.com/office/powerpoint/2010/main" val="17079438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-rule">
            <a:extLst xmlns:a="http://schemas.openxmlformats.org/drawingml/2006/main">
              <a:ext uri="{FF2B5EF4-FFF2-40B4-BE49-F238E27FC236}">
                <a16:creationId xmlns:a16="http://schemas.microsoft.com/office/drawing/2014/main" id="{A7A2788F-F4E5-45AD-A53A-45390EBD7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C4DA1C4C-CA2E-4386-9AD9-50AE087CE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GROW SCIENCE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7EB59E6-3E6E-4FF3-91A6-4D4F5EC7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Direct one useful correction</a:t>
            </a:r>
          </a:p>
        </p:txBody>
      </p:sp>
      <p:sp>
        <p:nvSpPr>
          <p:cNvPr id="4" name="footer-line">
            <a:extLst xmlns:a="http://schemas.openxmlformats.org/drawingml/2006/main">
              <a:ext uri="{FF2B5EF4-FFF2-40B4-BE49-F238E27FC236}">
                <a16:creationId xmlns:a16="http://schemas.microsoft.com/office/drawing/2014/main" id="{FC3F4D30-C60F-46D7-9095-C16E6FABA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A8C12227-9BD2-40F1-85B4-7A1F78A39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5  ·  LESSON A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BDA54A6B-9EA7-4EFD-A23B-8E961B506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08</a:t>
            </a:r>
          </a:p>
        </p:txBody>
      </p:sp>
      <p:sp>
        <p:nvSpPr>
          <p:cNvPr id="7" name="line-0">
            <a:extLst xmlns:a="http://schemas.openxmlformats.org/drawingml/2006/main">
              <a:ext uri="{FF2B5EF4-FFF2-40B4-BE49-F238E27FC236}">
                <a16:creationId xmlns:a16="http://schemas.microsoft.com/office/drawing/2014/main" id="{9E8309CE-D31E-4B23-BE7C-9EEA4BE6F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Check the ruler’s zero against the agreed start.</a:t>
            </a:r>
          </a:p>
        </p:txBody>
      </p:sp>
      <p:sp>
        <p:nvSpPr>
          <p:cNvPr id="8" name="line-1">
            <a:extLst xmlns:a="http://schemas.openxmlformats.org/drawingml/2006/main">
              <a:ext uri="{FF2B5EF4-FFF2-40B4-BE49-F238E27FC236}">
                <a16:creationId xmlns:a16="http://schemas.microsoft.com/office/drawing/2014/main" id="{7E23B417-6950-428D-A565-E223636A3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Is the ruler end the same as its zero mark?</a:t>
            </a:r>
          </a:p>
        </p:txBody>
      </p:sp>
      <p:sp>
        <p:nvSpPr>
          <p:cNvPr id="9" name="line-2">
            <a:extLst xmlns:a="http://schemas.openxmlformats.org/drawingml/2006/main">
              <a:ext uri="{FF2B5EF4-FFF2-40B4-BE49-F238E27FC236}">
                <a16:creationId xmlns:a16="http://schemas.microsoft.com/office/drawing/2014/main" id="{F5358876-B3BB-484F-A31E-A8F835D91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Direct the adult to correct one control.</a:t>
            </a:r>
          </a:p>
        </p:txBody>
      </p:sp>
    </p:spTree>
    <p:extLst>
      <p:ext uri="{BB962C8B-B14F-4D97-AF65-F5344CB8AC3E}">
        <p14:creationId xmlns:p14="http://schemas.microsoft.com/office/powerpoint/2010/main" val="213719845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op-rule">
            <a:extLst xmlns:a="http://schemas.openxmlformats.org/drawingml/2006/main">
              <a:ext uri="{FF2B5EF4-FFF2-40B4-BE49-F238E27FC236}">
                <a16:creationId xmlns:a16="http://schemas.microsoft.com/office/drawing/2014/main" id="{2CFD70DD-C3B5-4EA0-92B3-4C5824C9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BAF31CFF-312E-41FB-A194-ED211949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GROW SCIENCE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68965DE-255A-4DC1-9B2F-C294AA1D2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Say the plan before touching kit</a:t>
            </a:r>
          </a:p>
        </p:txBody>
      </p:sp>
      <p:sp>
        <p:nvSpPr>
          <p:cNvPr id="4" name="footer-line">
            <a:extLst xmlns:a="http://schemas.openxmlformats.org/drawingml/2006/main">
              <a:ext uri="{FF2B5EF4-FFF2-40B4-BE49-F238E27FC236}">
                <a16:creationId xmlns:a16="http://schemas.microsoft.com/office/drawing/2014/main" id="{525FDC9D-5F23-44BA-BDC8-787F0BB52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21BA7A1F-FF8C-4CD7-A023-97B9D9756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5  ·  LESSON A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7137C50F-D22C-4BE7-A8A2-E05F0F7E7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09</a:t>
            </a:r>
          </a:p>
        </p:txBody>
      </p:sp>
      <p:sp>
        <p:nvSpPr>
          <p:cNvPr id="7" name="statement">
            <a:extLst xmlns:a="http://schemas.openxmlformats.org/drawingml/2006/main">
              <a:ext uri="{FF2B5EF4-FFF2-40B4-BE49-F238E27FC236}">
                <a16:creationId xmlns:a16="http://schemas.microsoft.com/office/drawing/2014/main" id="{9D2B6F10-7EC2-4C2A-BF18-7FBB86AF8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0858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28685E"/>
                </a:solidFill>
              </a:defRPr>
            </a:pPr>
            <a:r>
              <a:rPr sz="2925" b="1">
                <a:solidFill>
                  <a:srgbClr val="28685E"/>
                </a:solidFill>
              </a:rPr>
              <a:t>I will change ___. I will keep ___ and ___ the same. I will measure ___ in ___.</a:t>
            </a:r>
          </a:p>
        </p:txBody>
      </p:sp>
      <p:sp>
        <p:nvSpPr>
          <p:cNvPr id="8" name="callout">
            <a:extLst xmlns:a="http://schemas.openxmlformats.org/drawingml/2006/main">
              <a:ext uri="{FF2B5EF4-FFF2-40B4-BE49-F238E27FC236}">
                <a16:creationId xmlns:a16="http://schemas.microsoft.com/office/drawing/2014/main" id="{72DB5274-B2DF-47DC-ABB4-982BC0672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10858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152B3A"/>
                </a:solidFill>
              </a:defRPr>
            </a:pPr>
            <a:r>
              <a:rPr sz="2700" b="0">
                <a:solidFill>
                  <a:srgbClr val="152B3A"/>
                </a:solidFill>
              </a:rPr>
              <a:t>Your plan should make the comparison clear.</a:t>
            </a:r>
          </a:p>
        </p:txBody>
      </p:sp>
    </p:spTree>
    <p:extLst>
      <p:ext uri="{BB962C8B-B14F-4D97-AF65-F5344CB8AC3E}">
        <p14:creationId xmlns:p14="http://schemas.microsoft.com/office/powerpoint/2010/main" val="97887033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rule">
            <a:extLst xmlns:a="http://schemas.openxmlformats.org/drawingml/2006/main">
              <a:ext uri="{FF2B5EF4-FFF2-40B4-BE49-F238E27FC236}">
                <a16:creationId xmlns:a16="http://schemas.microsoft.com/office/drawing/2014/main" id="{D431B271-CB51-4587-9C16-FA3EA95F7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447AF467-B563-4309-984B-65CFF5682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GROW SCIENCE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F2BED8E-21A2-4D5A-A708-FA2C5B30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Fair method or a problem?</a:t>
            </a:r>
          </a:p>
        </p:txBody>
      </p:sp>
      <p:sp>
        <p:nvSpPr>
          <p:cNvPr id="4" name="footer-line">
            <a:extLst xmlns:a="http://schemas.openxmlformats.org/drawingml/2006/main">
              <a:ext uri="{FF2B5EF4-FFF2-40B4-BE49-F238E27FC236}">
                <a16:creationId xmlns:a16="http://schemas.microsoft.com/office/drawing/2014/main" id="{6EBD345F-9CE7-40D4-AAD9-6B89F73FF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AE32796D-4271-42A1-ADB1-729B635F5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5  ·  LESSON A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9C6411BA-48B5-4748-8AEF-366D0B507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10</a:t>
            </a:r>
          </a:p>
        </p:txBody>
      </p:sp>
      <p:sp>
        <p:nvSpPr>
          <p:cNvPr id="7" name="line-0">
            <a:extLst xmlns:a="http://schemas.openxmlformats.org/drawingml/2006/main">
              <a:ext uri="{FF2B5EF4-FFF2-40B4-BE49-F238E27FC236}">
                <a16:creationId xmlns:a16="http://schemas.microsoft.com/office/drawing/2014/main" id="{F0DCB308-A2CD-432C-9D32-A381EBD6B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52B3A"/>
                </a:solidFill>
              </a:defRPr>
            </a:pPr>
            <a:r>
              <a:rPr sz="2175" b="0">
                <a:solidFill>
                  <a:srgbClr val="152B3A"/>
                </a:solidFill>
              </a:rPr>
              <a:t>Same ramp height; different surfaces</a:t>
            </a:r>
          </a:p>
        </p:txBody>
      </p:sp>
      <p:sp>
        <p:nvSpPr>
          <p:cNvPr id="8" name="line-1">
            <a:extLst xmlns:a="http://schemas.openxmlformats.org/drawingml/2006/main">
              <a:ext uri="{FF2B5EF4-FFF2-40B4-BE49-F238E27FC236}">
                <a16:creationId xmlns:a16="http://schemas.microsoft.com/office/drawing/2014/main" id="{1C66692B-42B8-4DA1-ABCD-BFA143AE0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28975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52B3A"/>
                </a:solidFill>
              </a:defRPr>
            </a:pPr>
            <a:r>
              <a:rPr sz="2175" b="0">
                <a:solidFill>
                  <a:srgbClr val="152B3A"/>
                </a:solidFill>
              </a:rPr>
              <a:t>Different ramp heights AND different surfaces</a:t>
            </a:r>
          </a:p>
        </p:txBody>
      </p:sp>
      <p:sp>
        <p:nvSpPr>
          <p:cNvPr id="9" name="line-2">
            <a:extLst xmlns:a="http://schemas.openxmlformats.org/drawingml/2006/main">
              <a:ext uri="{FF2B5EF4-FFF2-40B4-BE49-F238E27FC236}">
                <a16:creationId xmlns:a16="http://schemas.microsoft.com/office/drawing/2014/main" id="{EBD5C83F-D662-49CC-8D8A-01245986A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38575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52B3A"/>
                </a:solidFill>
              </a:defRPr>
            </a:pPr>
            <a:r>
              <a:rPr sz="2175" b="0">
                <a:solidFill>
                  <a:srgbClr val="152B3A"/>
                </a:solidFill>
              </a:rPr>
              <a:t>Three repeats for each surface</a:t>
            </a:r>
          </a:p>
        </p:txBody>
      </p:sp>
      <p:sp>
        <p:nvSpPr>
          <p:cNvPr id="10" name="line-3">
            <a:extLst xmlns:a="http://schemas.openxmlformats.org/drawingml/2006/main">
              <a:ext uri="{FF2B5EF4-FFF2-40B4-BE49-F238E27FC236}">
                <a16:creationId xmlns:a16="http://schemas.microsoft.com/office/drawing/2014/main" id="{3C4730D3-BFCF-4BFD-9D28-D527C92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48175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52B3A"/>
                </a:solidFill>
              </a:defRPr>
            </a:pPr>
            <a:r>
              <a:rPr sz="2175" b="0">
                <a:solidFill>
                  <a:srgbClr val="152B3A"/>
                </a:solidFill>
              </a:rPr>
              <a:t>Ignoring a result you did not like</a:t>
            </a:r>
          </a:p>
        </p:txBody>
      </p:sp>
      <p:sp>
        <p:nvSpPr>
          <p:cNvPr id="11" name="line-4">
            <a:extLst xmlns:a="http://schemas.openxmlformats.org/drawingml/2006/main">
              <a:ext uri="{FF2B5EF4-FFF2-40B4-BE49-F238E27FC236}">
                <a16:creationId xmlns:a16="http://schemas.microsoft.com/office/drawing/2014/main" id="{ED58BAA2-53D4-4929-967D-9CE55E148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57775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52B3A"/>
                </a:solidFill>
              </a:defRPr>
            </a:pPr>
            <a:r>
              <a:rPr sz="2175" b="0">
                <a:solidFill>
                  <a:srgbClr val="152B3A"/>
                </a:solidFill>
              </a:rPr>
              <a:t>Measuring in ‘about a ruler’</a:t>
            </a:r>
          </a:p>
        </p:txBody>
      </p:sp>
    </p:spTree>
    <p:extLst>
      <p:ext uri="{BB962C8B-B14F-4D97-AF65-F5344CB8AC3E}">
        <p14:creationId xmlns:p14="http://schemas.microsoft.com/office/powerpoint/2010/main" val="19976284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rule">
            <a:extLst xmlns:a="http://schemas.openxmlformats.org/drawingml/2006/main">
              <a:ext uri="{FF2B5EF4-FFF2-40B4-BE49-F238E27FC236}">
                <a16:creationId xmlns:a16="http://schemas.microsoft.com/office/drawing/2014/main" id="{BC01E05F-F0AE-4D4D-AF51-EF7312C3D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DE9D75DC-E535-4A4C-91B9-AA399DC0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GROW SCIENCE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1DDF3B6-367B-4866-8EE4-24F0B684C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Check what each problem means</a:t>
            </a:r>
          </a:p>
        </p:txBody>
      </p:sp>
      <p:sp>
        <p:nvSpPr>
          <p:cNvPr id="4" name="footer-line">
            <a:extLst xmlns:a="http://schemas.openxmlformats.org/drawingml/2006/main">
              <a:ext uri="{FF2B5EF4-FFF2-40B4-BE49-F238E27FC236}">
                <a16:creationId xmlns:a16="http://schemas.microsoft.com/office/drawing/2014/main" id="{433955B2-3283-4106-8E8F-897F39930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E25F529B-4EBB-4E0E-9DB9-5CEA1FFA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5  ·  LESSON A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B841F2A2-3614-496D-8C84-3F49AB0B1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11</a:t>
            </a:r>
          </a:p>
        </p:txBody>
      </p:sp>
      <p:sp>
        <p:nvSpPr>
          <p:cNvPr id="7" name="left-heading">
            <a:extLst xmlns:a="http://schemas.openxmlformats.org/drawingml/2006/main">
              <a:ext uri="{FF2B5EF4-FFF2-40B4-BE49-F238E27FC236}">
                <a16:creationId xmlns:a16="http://schemas.microsoft.com/office/drawing/2014/main" id="{E15DBA1C-91E9-4483-AA01-908507DD5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8685E"/>
                </a:solidFill>
              </a:defRPr>
            </a:pPr>
            <a:r>
              <a:rPr sz="2025" b="1">
                <a:solidFill>
                  <a:srgbClr val="28685E"/>
                </a:solidFill>
              </a:rPr>
              <a:t>SUPPORTS THE COMPARISON</a:t>
            </a:r>
          </a:p>
        </p:txBody>
      </p:sp>
      <p:sp>
        <p:nvSpPr>
          <p:cNvPr id="8" name="right-heading">
            <a:extLst xmlns:a="http://schemas.openxmlformats.org/drawingml/2006/main">
              <a:ext uri="{FF2B5EF4-FFF2-40B4-BE49-F238E27FC236}">
                <a16:creationId xmlns:a16="http://schemas.microsoft.com/office/drawing/2014/main" id="{752B5836-93D4-4B28-A579-D3649FCA9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19375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A65D25"/>
                </a:solidFill>
              </a:defRPr>
            </a:pPr>
            <a:r>
              <a:rPr sz="2025" b="1">
                <a:solidFill>
                  <a:srgbClr val="A65D25"/>
                </a:solidFill>
              </a:rPr>
              <a:t>NEEDS CORRECTION</a:t>
            </a:r>
          </a:p>
        </p:txBody>
      </p:sp>
      <p:sp>
        <p:nvSpPr>
          <p:cNvPr id="9" name="left">
            <a:extLst xmlns:a="http://schemas.openxmlformats.org/drawingml/2006/main">
              <a:ext uri="{FF2B5EF4-FFF2-40B4-BE49-F238E27FC236}">
                <a16:creationId xmlns:a16="http://schemas.microsoft.com/office/drawing/2014/main" id="{62A79F3C-6938-4D40-A08E-8851333AB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Same height; one planned change</a:t>
            </a:r>
          </a:p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Repeats with method unchanged</a:t>
            </a:r>
          </a:p>
        </p:txBody>
      </p:sp>
      <p:sp>
        <p:nvSpPr>
          <p:cNvPr id="10" name="right">
            <a:extLst xmlns:a="http://schemas.openxmlformats.org/drawingml/2006/main">
              <a:ext uri="{FF2B5EF4-FFF2-40B4-BE49-F238E27FC236}">
                <a16:creationId xmlns:a16="http://schemas.microsoft.com/office/drawing/2014/main" id="{B9197B1C-D402-4BC4-AC33-74E7A239A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33750"/>
            <a:ext cx="485775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Two changed causes: unclear</a:t>
            </a:r>
          </a:p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Discarding disliked data: biased</a:t>
            </a:r>
          </a:p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‘About a ruler’: no clear unit</a:t>
            </a:r>
          </a:p>
        </p:txBody>
      </p:sp>
    </p:spTree>
    <p:extLst>
      <p:ext uri="{BB962C8B-B14F-4D97-AF65-F5344CB8AC3E}">
        <p14:creationId xmlns:p14="http://schemas.microsoft.com/office/powerpoint/2010/main" val="75342367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op-rule">
            <a:extLst xmlns:a="http://schemas.openxmlformats.org/drawingml/2006/main">
              <a:ext uri="{FF2B5EF4-FFF2-40B4-BE49-F238E27FC236}">
                <a16:creationId xmlns:a16="http://schemas.microsoft.com/office/drawing/2014/main" id="{C53B3BA2-E2E3-4179-BE1F-7C714CCF2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5975996C-F77A-4DBF-9129-1FB3905B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GROW SCIENCE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5E02878-48E5-4F4E-85B2-6553238F7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Keep an unexpected result</a:t>
            </a:r>
          </a:p>
        </p:txBody>
      </p:sp>
      <p:sp>
        <p:nvSpPr>
          <p:cNvPr id="4" name="footer-line">
            <a:extLst xmlns:a="http://schemas.openxmlformats.org/drawingml/2006/main">
              <a:ext uri="{FF2B5EF4-FFF2-40B4-BE49-F238E27FC236}">
                <a16:creationId xmlns:a16="http://schemas.microsoft.com/office/drawing/2014/main" id="{099577C1-C6C9-417D-8D09-B4F95EC06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E3DE32B0-900E-4CF4-9D77-E79B8BF1E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5  ·  LESSON A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727F711E-1B09-47AA-AA72-31D191A5C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12</a:t>
            </a:r>
          </a:p>
        </p:txBody>
      </p:sp>
      <p:sp>
        <p:nvSpPr>
          <p:cNvPr id="7" name="statement">
            <a:extLst xmlns:a="http://schemas.openxmlformats.org/drawingml/2006/main">
              <a:ext uri="{FF2B5EF4-FFF2-40B4-BE49-F238E27FC236}">
                <a16:creationId xmlns:a16="http://schemas.microsoft.com/office/drawing/2014/main" id="{9C81643F-2149-490C-BBFC-439C1F536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0858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28685E"/>
                </a:solidFill>
              </a:defRPr>
            </a:pPr>
            <a:r>
              <a:rPr sz="2925" b="1">
                <a:solidFill>
                  <a:srgbClr val="28685E"/>
                </a:solidFill>
              </a:rPr>
              <a:t>A trolley stopped much farther away on Trial 3. That is something to investigate.</a:t>
            </a:r>
          </a:p>
        </p:txBody>
      </p:sp>
      <p:sp>
        <p:nvSpPr>
          <p:cNvPr id="8" name="callout">
            <a:extLst xmlns:a="http://schemas.openxmlformats.org/drawingml/2006/main">
              <a:ext uri="{FF2B5EF4-FFF2-40B4-BE49-F238E27FC236}">
                <a16:creationId xmlns:a16="http://schemas.microsoft.com/office/drawing/2014/main" id="{485C7636-AD05-487F-9B6F-E5DB4755E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10858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152B3A"/>
                </a:solidFill>
              </a:defRPr>
            </a:pPr>
            <a:r>
              <a:rPr sz="2700" b="0">
                <a:solidFill>
                  <a:srgbClr val="152B3A"/>
                </a:solidFill>
              </a:rPr>
              <a:t>Keep the value. Note any method issue. Plan a repeat.</a:t>
            </a:r>
          </a:p>
        </p:txBody>
      </p:sp>
    </p:spTree>
    <p:extLst>
      <p:ext uri="{BB962C8B-B14F-4D97-AF65-F5344CB8AC3E}">
        <p14:creationId xmlns:p14="http://schemas.microsoft.com/office/powerpoint/2010/main" val="167062848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op-rule">
            <a:extLst xmlns:a="http://schemas.openxmlformats.org/drawingml/2006/main">
              <a:ext uri="{FF2B5EF4-FFF2-40B4-BE49-F238E27FC236}">
                <a16:creationId xmlns:a16="http://schemas.microsoft.com/office/drawing/2014/main" id="{04B53A45-6911-4CEA-A396-117D7FCF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BFAC1ECB-085B-4205-B7E7-4EFA26929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GROW SCIENCE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D31C2F5-49A0-4C21-A591-CDFE066E9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Keep your plan for Tuesday</a:t>
            </a:r>
          </a:p>
        </p:txBody>
      </p:sp>
      <p:sp>
        <p:nvSpPr>
          <p:cNvPr id="4" name="footer-line">
            <a:extLst xmlns:a="http://schemas.openxmlformats.org/drawingml/2006/main">
              <a:ext uri="{FF2B5EF4-FFF2-40B4-BE49-F238E27FC236}">
                <a16:creationId xmlns:a16="http://schemas.microsoft.com/office/drawing/2014/main" id="{E1186E63-AF49-4345-8C8F-BDA30BBDF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3E0B95A4-002D-4142-9BCB-85600004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5  ·  LESSON A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058779B0-5ED7-48C9-A1D7-F33D01EB6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13</a:t>
            </a:r>
          </a:p>
        </p:txBody>
      </p:sp>
      <p:sp>
        <p:nvSpPr>
          <p:cNvPr id="7" name="statement">
            <a:extLst xmlns:a="http://schemas.openxmlformats.org/drawingml/2006/main">
              <a:ext uri="{FF2B5EF4-FFF2-40B4-BE49-F238E27FC236}">
                <a16:creationId xmlns:a16="http://schemas.microsoft.com/office/drawing/2014/main" id="{67BC09D3-F4BA-419B-B801-660601751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0858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28685E"/>
                </a:solidFill>
              </a:defRPr>
            </a:pPr>
            <a:r>
              <a:rPr sz="2925" b="1">
                <a:solidFill>
                  <a:srgbClr val="28685E"/>
                </a:solidFill>
              </a:rPr>
              <a:t>I will change the surface, control the release and measure stopping distance in cm.</a:t>
            </a:r>
          </a:p>
        </p:txBody>
      </p:sp>
      <p:sp>
        <p:nvSpPr>
          <p:cNvPr id="8" name="callout">
            <a:extLst xmlns:a="http://schemas.openxmlformats.org/drawingml/2006/main">
              <a:ext uri="{FF2B5EF4-FFF2-40B4-BE49-F238E27FC236}">
                <a16:creationId xmlns:a16="http://schemas.microsoft.com/office/drawing/2014/main" id="{932E395A-F15C-4E2D-9CB2-C114AA19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10858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152B3A"/>
                </a:solidFill>
              </a:defRPr>
            </a:pPr>
            <a:r>
              <a:rPr sz="2700" b="0">
                <a:solidFill>
                  <a:srgbClr val="152B3A"/>
                </a:solidFill>
              </a:rPr>
              <a:t>Three repeats can show consistency. They cannot repair an unfair method.</a:t>
            </a:r>
          </a:p>
        </p:txBody>
      </p:sp>
    </p:spTree>
    <p:extLst>
      <p:ext uri="{BB962C8B-B14F-4D97-AF65-F5344CB8AC3E}">
        <p14:creationId xmlns:p14="http://schemas.microsoft.com/office/powerpoint/2010/main" val="3546328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2026-09-06T12:53:59.1820000Z</dcterms:created>
  <dcterms:modified xsi:type="dcterms:W3CDTF">2026-09-06T12:53:59.1830000Z</dcterms:modified>
</coreProperties>
</file>