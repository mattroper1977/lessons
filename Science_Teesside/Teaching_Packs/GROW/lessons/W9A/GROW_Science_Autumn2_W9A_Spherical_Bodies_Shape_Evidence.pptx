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dc1547c34c445f" /><Relationship Type="http://schemas.openxmlformats.org/officeDocument/2006/relationships/extended-properties" Target="/docProps/app.xml" Id="R13eae37c514a4cfc" /><Relationship Type="http://schemas.openxmlformats.org/officeDocument/2006/relationships/officeDocument" Target="/ppt/presentation.xml" Id="R720652f1790a4fba" /></Relationships>
</file>

<file path=ppt/presentation.xml><?xml version="1.0" encoding="utf-8"?>
<p:presentation xmlns:p="http://schemas.openxmlformats.org/presentationml/2006/main">
  <p:sldMasterIdLst>
    <p:sldMasterId xmlns:r="http://schemas.openxmlformats.org/officeDocument/2006/relationships" id="2147483648" r:id="Re2cf467afde0499d"/>
  </p:sldMasterIdLst>
  <p:notesMasterIdLst>
    <p:notesMasterId xmlns:r="http://schemas.openxmlformats.org/officeDocument/2006/relationships" r:id="R87f2b0d226184229"/>
  </p:notesMasterIdLst>
  <p:sldIdLst>
    <p:sldId xmlns:r="http://schemas.openxmlformats.org/officeDocument/2006/relationships" id="256" r:id="R44b60e6ac4d24ddc"/>
    <p:sldId xmlns:r="http://schemas.openxmlformats.org/officeDocument/2006/relationships" id="257" r:id="R5e0860c7c71849fe"/>
    <p:sldId xmlns:r="http://schemas.openxmlformats.org/officeDocument/2006/relationships" id="258" r:id="Rdfcc075340ce4f5f"/>
    <p:sldId xmlns:r="http://schemas.openxmlformats.org/officeDocument/2006/relationships" id="259" r:id="Rfac8c532fadb426b"/>
    <p:sldId xmlns:r="http://schemas.openxmlformats.org/officeDocument/2006/relationships" id="260" r:id="R06d07d1d662c494b"/>
    <p:sldId xmlns:r="http://schemas.openxmlformats.org/officeDocument/2006/relationships" id="261" r:id="Rde85bf99aca14eba"/>
    <p:sldId xmlns:r="http://schemas.openxmlformats.org/officeDocument/2006/relationships" id="262" r:id="R3ad20fda225f4b0b"/>
    <p:sldId xmlns:r="http://schemas.openxmlformats.org/officeDocument/2006/relationships" id="263" r:id="R4c797ff6a0b14c58"/>
    <p:sldId xmlns:r="http://schemas.openxmlformats.org/officeDocument/2006/relationships" id="264" r:id="R67a381d482d248fd"/>
    <p:sldId xmlns:r="http://schemas.openxmlformats.org/officeDocument/2006/relationships" id="265" r:id="R8d0574e260714b5d"/>
    <p:sldId xmlns:r="http://schemas.openxmlformats.org/officeDocument/2006/relationships" id="266" r:id="R7fa5a4066f92420f"/>
    <p:sldId xmlns:r="http://schemas.openxmlformats.org/officeDocument/2006/relationships" id="267" r:id="Rc4d8cc4bf39f407e"/>
    <p:sldId xmlns:r="http://schemas.openxmlformats.org/officeDocument/2006/relationships" id="268" r:id="R8649408fb71945bf"/>
    <p:sldId xmlns:r="http://schemas.openxmlformats.org/officeDocument/2006/relationships" id="269" r:id="Rb947d8f3e2fa499d"/>
    <p:sldId xmlns:r="http://schemas.openxmlformats.org/officeDocument/2006/relationships" id="270" r:id="R04af88784cd3464f"/>
    <p:sldId xmlns:r="http://schemas.openxmlformats.org/officeDocument/2006/relationships" id="271" r:id="Rac1156c352054350"/>
    <p:sldId xmlns:r="http://schemas.openxmlformats.org/officeDocument/2006/relationships" id="272" r:id="Rddebb192b2084f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77b22419e94070" /><Relationship Type="http://schemas.openxmlformats.org/officeDocument/2006/relationships/slideMaster" Target="/ppt/slideMasters/slideMaster1.xml" Id="Re2cf467afde0499d" /><Relationship Type="http://schemas.openxmlformats.org/officeDocument/2006/relationships/notesMaster" Target="/ppt/notesMasters/notesMaster1.xml" Id="R87f2b0d226184229" /><Relationship Type="http://schemas.openxmlformats.org/officeDocument/2006/relationships/presProps" Target="/ppt/presProps.xml" Id="Rdd72ba1de6804fc5" /><Relationship Type="http://schemas.openxmlformats.org/officeDocument/2006/relationships/tableStyles" Target="/ppt/tableStyles.xml" Id="R5b9b709e997f4067" /><Relationship Type="http://schemas.openxmlformats.org/officeDocument/2006/relationships/slide" Target="/ppt/slides/slide1.xml" Id="R44b60e6ac4d24ddc" /><Relationship Type="http://schemas.openxmlformats.org/officeDocument/2006/relationships/slide" Target="/ppt/slides/slide2.xml" Id="R5e0860c7c71849fe" /><Relationship Type="http://schemas.openxmlformats.org/officeDocument/2006/relationships/slide" Target="/ppt/slides/slide3.xml" Id="Rdfcc075340ce4f5f" /><Relationship Type="http://schemas.openxmlformats.org/officeDocument/2006/relationships/slide" Target="/ppt/slides/slide4.xml" Id="Rfac8c532fadb426b" /><Relationship Type="http://schemas.openxmlformats.org/officeDocument/2006/relationships/slide" Target="/ppt/slides/slide5.xml" Id="R06d07d1d662c494b" /><Relationship Type="http://schemas.openxmlformats.org/officeDocument/2006/relationships/slide" Target="/ppt/slides/slide6.xml" Id="Rde85bf99aca14eba" /><Relationship Type="http://schemas.openxmlformats.org/officeDocument/2006/relationships/slide" Target="/ppt/slides/slide7.xml" Id="R3ad20fda225f4b0b" /><Relationship Type="http://schemas.openxmlformats.org/officeDocument/2006/relationships/slide" Target="/ppt/slides/slide8.xml" Id="R4c797ff6a0b14c58" /><Relationship Type="http://schemas.openxmlformats.org/officeDocument/2006/relationships/slide" Target="/ppt/slides/slide9.xml" Id="R67a381d482d248fd" /><Relationship Type="http://schemas.openxmlformats.org/officeDocument/2006/relationships/slide" Target="/ppt/slides/slide10.xml" Id="R8d0574e260714b5d" /><Relationship Type="http://schemas.openxmlformats.org/officeDocument/2006/relationships/slide" Target="/ppt/slides/slide11.xml" Id="R7fa5a4066f92420f" /><Relationship Type="http://schemas.openxmlformats.org/officeDocument/2006/relationships/slide" Target="/ppt/slides/slide12.xml" Id="Rc4d8cc4bf39f407e" /><Relationship Type="http://schemas.openxmlformats.org/officeDocument/2006/relationships/slide" Target="/ppt/slides/slide13.xml" Id="R8649408fb71945bf" /><Relationship Type="http://schemas.openxmlformats.org/officeDocument/2006/relationships/slide" Target="/ppt/slides/slide14.xml" Id="Rb947d8f3e2fa499d" /><Relationship Type="http://schemas.openxmlformats.org/officeDocument/2006/relationships/slide" Target="/ppt/slides/slide15.xml" Id="R04af88784cd3464f" /><Relationship Type="http://schemas.openxmlformats.org/officeDocument/2006/relationships/slide" Target="/ppt/slides/slide16.xml" Id="Rac1156c352054350" /><Relationship Type="http://schemas.openxmlformats.org/officeDocument/2006/relationships/slide" Target="/ppt/slides/slide17.xml" Id="Rddebb192b2084f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29567938a342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9326d171c44662" /><Relationship Type="http://schemas.openxmlformats.org/officeDocument/2006/relationships/notesMaster" Target="/ppt/notesMasters/notesMaster1.xml" Id="R9d03ecbe08c942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beae2d9880402a" /><Relationship Type="http://schemas.openxmlformats.org/officeDocument/2006/relationships/notesMaster" Target="/ppt/notesMasters/notesMaster1.xml" Id="Re2a00755514545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4338a39c244c90" /><Relationship Type="http://schemas.openxmlformats.org/officeDocument/2006/relationships/notesMaster" Target="/ppt/notesMasters/notesMaster1.xml" Id="R44d1b9384cbd4f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37909353784fca" /><Relationship Type="http://schemas.openxmlformats.org/officeDocument/2006/relationships/notesMaster" Target="/ppt/notesMasters/notesMaster1.xml" Id="R9abb5d2552284d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16be0d18e549b8" /><Relationship Type="http://schemas.openxmlformats.org/officeDocument/2006/relationships/notesMaster" Target="/ppt/notesMasters/notesMaster1.xml" Id="R85d89173645744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550ede60cc419b" /><Relationship Type="http://schemas.openxmlformats.org/officeDocument/2006/relationships/notesMaster" Target="/ppt/notesMasters/notesMaster1.xml" Id="R8f4972abe03a44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a87b6c6ec24d38" /><Relationship Type="http://schemas.openxmlformats.org/officeDocument/2006/relationships/notesMaster" Target="/ppt/notesMasters/notesMaster1.xml" Id="Rc9345cbcb0e34a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b8d55586c249f4" /><Relationship Type="http://schemas.openxmlformats.org/officeDocument/2006/relationships/notesMaster" Target="/ppt/notesMasters/notesMaster1.xml" Id="R7c64bab3e7ed4f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df837ef6ff44ff" /><Relationship Type="http://schemas.openxmlformats.org/officeDocument/2006/relationships/notesMaster" Target="/ppt/notesMasters/notesMaster1.xml" Id="R7db4402a324c48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678d811a5744cb" /><Relationship Type="http://schemas.openxmlformats.org/officeDocument/2006/relationships/notesMaster" Target="/ppt/notesMasters/notesMaster1.xml" Id="Re59ff17264e9487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f2afb86a93c49c0" /><Relationship Type="http://schemas.openxmlformats.org/officeDocument/2006/relationships/notesMaster" Target="/ppt/notesMasters/notesMaster1.xml" Id="Re651a1bdec8f4e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b586438fb34eed" /><Relationship Type="http://schemas.openxmlformats.org/officeDocument/2006/relationships/notesMaster" Target="/ppt/notesMasters/notesMaster1.xml" Id="Rd19085b92d7f45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55b0272bc54d1a" /><Relationship Type="http://schemas.openxmlformats.org/officeDocument/2006/relationships/notesMaster" Target="/ppt/notesMasters/notesMaster1.xml" Id="R49a392b0be234e2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69f5d1ec0c1459b" /><Relationship Type="http://schemas.openxmlformats.org/officeDocument/2006/relationships/notesMaster" Target="/ppt/notesMasters/notesMaster1.xml" Id="R39e0e3d632f14f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9fc34599c0a47e9" /><Relationship Type="http://schemas.openxmlformats.org/officeDocument/2006/relationships/notesMaster" Target="/ppt/notesMasters/notesMaster1.xml" Id="R771d29853b5a440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b8f1ca56daa4c8f" /><Relationship Type="http://schemas.openxmlformats.org/officeDocument/2006/relationships/notesMaster" Target="/ppt/notesMasters/notesMaster1.xml" Id="Rb255dd6e75d9429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a49b6e804d464e" /><Relationship Type="http://schemas.openxmlformats.org/officeDocument/2006/relationships/notesMaster" Target="/ppt/notesMasters/notesMaster1.xml" Id="R17e9b6d2952f43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SCI_G_W9A_Spherical_Bodies_Explore.html. Overview: 0 minutes TOTAL across all slides in this stage.</a:t>
            </a:r>
          </a:p>
          <a:p xmlns:a="http://schemas.openxmlformats.org/drawingml/2006/main">
            <a:r>
              <a:t/>
            </a:r>
          </a:p>
          <a:p xmlns:a="http://schemas.openxmlformats.org/drawingml/2006/main">
            <a:r>
              <a:t>Read setup, safety and sensory notes before pupils enter.</a:t>
            </a:r>
          </a:p>
          <a:p xmlns:a="http://schemas.openxmlformats.org/drawingml/2006/main">
            <a:r>
              <a:t/>
            </a:r>
          </a:p>
          <a:p xmlns:a="http://schemas.openxmlformats.org/drawingml/2006/main">
            <a:r>
              <a:t>Set predictable Space and keep the learning goal visible.</a:t>
            </a:r>
          </a:p>
          <a:p xmlns:a="http://schemas.openxmlformats.org/drawingml/2006/main">
            <a:r>
              <a:t/>
            </a:r>
          </a:p>
          <a:p xmlns:a="http://schemas.openxmlformats.org/drawingml/2006/main">
            <a:r>
              <a:t>Model limit: A smooth classroom ball hides mountains, valleys, craters and slight flattening. It models overall shape only.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GROW · Science · Week 9A · Explore</a:t>
            </a:r>
          </a:p>
          <a:p xmlns:a="http://schemas.openxmlformats.org/drawingml/2006/main">
            <a:r>
              <a:t>Learning objective: I can use observations from different viewpoints to describe the Sun, Earth and Moon as approximately spherical bodies.</a:t>
            </a:r>
          </a:p>
          <a:p xmlns:a="http://schemas.openxmlformats.org/drawingml/2006/main">
            <a:r>
              <a:t>Success criteria</a:t>
            </a:r>
          </a:p>
          <a:p xmlns:a="http://schemas.openxmlformats.org/drawingml/2006/main">
            <a:r>
              <a:t>Distinguish a flat disc from a three-dimensional sphere.</a:t>
            </a:r>
          </a:p>
          <a:p xmlns:a="http://schemas.openxmlformats.org/drawingml/2006/main">
            <a:r>
              <a:t>Use more than one viewpoint as shape evidence.</a:t>
            </a:r>
          </a:p>
          <a:p xmlns:a="http://schemas.openxmlformats.org/drawingml/2006/main">
            <a:r>
              <a:t>Explain why approximately spherical is more accurate than perfect sphere.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SCI_G_W9A_Spherical_Bodies_Explore.html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SCI_G_W9A_Spherical_Bodies_Explore.html. Overview: 0 minutes TOTAL across all slides in this stage.</a:t>
            </a:r>
          </a:p>
          <a:p xmlns:a="http://schemas.openxmlformats.org/drawingml/2006/main">
            <a:r>
              <a:t/>
            </a:r>
          </a:p>
          <a:p xmlns:a="http://schemas.openxmlformats.org/drawingml/2006/main">
            <a:r>
              <a:t>Read setup, safety and sensory notes before pupils enter.</a:t>
            </a:r>
          </a:p>
          <a:p xmlns:a="http://schemas.openxmlformats.org/drawingml/2006/main">
            <a:r>
              <a:t/>
            </a:r>
          </a:p>
          <a:p xmlns:a="http://schemas.openxmlformats.org/drawingml/2006/main">
            <a:r>
              <a:t>Set predictable Space and keep the learning goal visible.</a:t>
            </a:r>
          </a:p>
          <a:p xmlns:a="http://schemas.openxmlformats.org/drawingml/2006/main">
            <a:r>
              <a:t/>
            </a:r>
          </a:p>
          <a:p xmlns:a="http://schemas.openxmlformats.org/drawingml/2006/main">
            <a:r>
              <a:t>Model limit: A smooth classroom ball hides mountains, valleys, craters and slight flattening. It models overall shape only.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GROW · Science · Week 9A · Explore</a:t>
            </a:r>
          </a:p>
          <a:p xmlns:a="http://schemas.openxmlformats.org/drawingml/2006/main">
            <a:r>
              <a:t>Learning objective: I can use observations from different viewpoints to describe the Sun, Earth and Moon as approximately spherical bodies.</a:t>
            </a:r>
          </a:p>
          <a:p xmlns:a="http://schemas.openxmlformats.org/drawingml/2006/main">
            <a:r>
              <a:t>Success criteria</a:t>
            </a:r>
          </a:p>
          <a:p xmlns:a="http://schemas.openxmlformats.org/drawingml/2006/main">
            <a:r>
              <a:t>Distinguish a flat disc from a three-dimensional sphere.</a:t>
            </a:r>
          </a:p>
          <a:p xmlns:a="http://schemas.openxmlformats.org/drawingml/2006/main">
            <a:r>
              <a:t>Use more than one viewpoint as shape evidence.</a:t>
            </a:r>
          </a:p>
          <a:p xmlns:a="http://schemas.openxmlformats.org/drawingml/2006/main">
            <a:r>
              <a:t>Explain why approximately spherical is more accurate than perfect sphere.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SCI_G_W9A_Spherical_Bodies_Explore.html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SCI_G_W9A_Spherical_Bodies_Explore.html. Arrival: 4 minutes TOTAL across all slides in this stage.</a:t>
            </a:r>
          </a:p>
          <a:p xmlns:a="http://schemas.openxmlformats.org/drawingml/2006/main">
            <a:r>
              <a:t/>
            </a:r>
          </a:p>
          <a:p xmlns:a="http://schemas.openxmlformats.org/drawingml/2006/main">
            <a:r>
              <a:t>Wait, regulate and retrieve through the lightest workable route.</a:t>
            </a:r>
          </a:p>
          <a:p xmlns:a="http://schemas.openxmlformats.org/drawingml/2006/main">
            <a:r>
              <a:t/>
            </a:r>
          </a:p>
          <a:p xmlns:a="http://schemas.openxmlformats.org/drawingml/2006/main">
            <a:r>
              <a:t>If recall is inaccessible, point to one retrieval sentence; do not teach today’s answer.</a:t>
            </a:r>
          </a:p>
          <a:p xmlns:a="http://schemas.openxmlformats.org/drawingml/2006/main">
            <a:r>
              <a:t/>
            </a:r>
          </a:p>
          <a:p xmlns:a="http://schemas.openxmlformats.org/drawingml/2006/main">
            <a:r>
              <a:t>Model limit: A smooth classroom ball hides mountains, valleys, craters and slight flattening. It models overall shape only.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Retrieve only what has already been taught</a:t>
            </a:r>
          </a:p>
          <a:p xmlns:a="http://schemas.openxmlformats.org/drawingml/2006/main">
            <a:r>
              <a:t>Last week, the rotating globe model used Earth's curved body to separate a lit half from an unlit half.</a:t>
            </a:r>
          </a:p>
          <a:p xmlns:a="http://schemas.openxmlformats.org/drawingml/2006/main">
            <a:r>
              <a:t>Prior week: point to or describe one useful model.</a:t>
            </a:r>
          </a:p>
          <a:p xmlns:a="http://schemas.openxmlformats.org/drawingml/2006/main">
            <a:r>
              <a:t>Older learning: what makes an observation useful as evidence?</a:t>
            </a:r>
          </a:p>
          <a:p xmlns:a="http://schemas.openxmlformats.org/drawingml/2006/main">
            <a:r>
              <a:t>Lead-in: what do you notice in today’s first picture?</a:t>
            </a:r>
          </a:p>
          <a:p xmlns:a="http://schemas.openxmlformats.org/drawingml/2006/main">
            <a:r>
              <a:t>New to this class, absent, or not sure? Everything needed is in the retrieval box above. Read it, point to it or ask a familiar adult to read it exactly.</a:t>
            </a:r>
          </a:p>
          <a:p xmlns:a="http://schemas.openxmlformats.org/drawingml/2006/main">
            <a:r>
              <a:t>▲ Standard</a:t>
            </a:r>
          </a:p>
          <a:p xmlns:a="http://schemas.openxmlformats.org/drawingml/2006/main">
            <a:r>
              <a:t>Last lesson: why did the globe model have a day side and a night side?</a:t>
            </a:r>
          </a:p>
          <a:p xmlns:a="http://schemas.openxmlformats.org/drawingml/2006/main">
            <a:r>
              <a:t>Last week: what stayed fixed while Earth rotated?</a:t>
            </a:r>
          </a:p>
          <a:p xmlns:a="http://schemas.openxmlformats.org/drawingml/2006/main">
            <a:r>
              <a:t>Earlier space learning: name the three bodies in the Sun-Earth-Moon system.</a:t>
            </a:r>
          </a:p>
          <a:p xmlns:a="http://schemas.openxmlformats.org/drawingml/2006/main">
            <a:r>
              <a:t>Lead-in: how could a disc and sphere both look circular from one viewpoint?</a:t>
            </a:r>
          </a:p>
          <a:p xmlns:a="http://schemas.openxmlformats.org/drawingml/2006/main">
            <a:r>
              <a:t>Read-aloud route: a familiar adult may read the task exactly while the text remains visible. No device voice or media permission is required.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SCI_G_W9A_Spherical_Bodies_Explore.html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SCI_G_W9A_Spherical_Bodies_Explore.html. Starter: 4 minutes TOTAL across all slides in this stage.</a:t>
            </a:r>
          </a:p>
          <a:p xmlns:a="http://schemas.openxmlformats.org/drawingml/2006/main">
            <a:r>
              <a:t/>
            </a:r>
          </a:p>
          <a:p xmlns:a="http://schemas.openxmlformats.org/drawingml/2006/main">
            <a:r>
              <a:t>Protect curiosity: receive every first idea without judgement.</a:t>
            </a:r>
          </a:p>
          <a:p xmlns:a="http://schemas.openxmlformats.org/drawingml/2006/main">
            <a:r>
              <a:t/>
            </a:r>
          </a:p>
          <a:p xmlns:a="http://schemas.openxmlformats.org/drawingml/2006/main">
            <a:r>
              <a:t>Ask ‘What makes you think that?’ and preserve the prediction for later evidence.</a:t>
            </a:r>
          </a:p>
          <a:p xmlns:a="http://schemas.openxmlformats.org/drawingml/2006/main">
            <a:r>
              <a:t/>
            </a:r>
          </a:p>
          <a:p xmlns:a="http://schemas.openxmlformats.org/drawingml/2006/main">
            <a:r>
              <a:t>Model limit: A smooth classroom ball hides mountains, valleys, craters and slight flattening. It models overall shape only.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LOCAL VISUAL HOOK · FRAME 1</a:t>
            </a:r>
          </a:p>
          <a:p xmlns:a="http://schemas.openxmlformats.org/drawingml/2006/main">
            <a:r>
              <a:t>Observation 1: both have a round front outline.</a:t>
            </a:r>
          </a:p>
          <a:p xmlns:a="http://schemas.openxmlformats.org/drawingml/2006/main">
            <a:r>
              <a:t>From the front, A and B look the same: a circle.</a:t>
            </a:r>
          </a:p>
          <a:p xmlns:a="http://schemas.openxmlformats.org/drawingml/2006/main">
            <a:r>
              <a:t>LOCAL VISUAL HOOK · FRAME 2</a:t>
            </a:r>
          </a:p>
          <a:p xmlns:a="http://schemas.openxmlformats.org/drawingml/2006/main">
            <a:r>
              <a:t>Observation 2: after a quarter turn, A looks oval; B still looks round.</a:t>
            </a:r>
          </a:p>
          <a:p xmlns:a="http://schemas.openxmlformats.org/drawingml/2006/main">
            <a:r>
              <a:t>One turn, two different results. Evidence.</a:t>
            </a:r>
          </a:p>
          <a:p xmlns:a="http://schemas.openxmlformats.org/drawingml/2006/main">
            <a:r>
              <a:t>LOCAL VISUAL HOOK · FRAME 3</a:t>
            </a:r>
          </a:p>
          <a:p xmlns:a="http://schemas.openxmlformats.org/drawingml/2006/main">
            <a:r>
              <a:t>Observation 3: from the edge, A is a thin line; B still looks round.</a:t>
            </a:r>
          </a:p>
          <a:p xmlns:a="http://schemas.openxmlformats.org/drawingml/2006/main">
            <a:r>
              <a:t>A flat disc hides. A sphere looks round from every side.</a:t>
            </a:r>
          </a:p>
          <a:p xmlns:a="http://schemas.openxmlformats.org/drawingml/2006/main">
            <a:r>
              <a:t>Commit one first idea. Predictions are held, not marked. Pointing, selecting, saying or signing all count.</a:t>
            </a:r>
          </a:p>
          <a:p xmlns:a="http://schemas.openxmlformats.org/drawingml/2006/main">
            <a:r>
              <a:t>It must be a flat disc.</a:t>
            </a:r>
          </a:p>
          <a:p xmlns:a="http://schemas.openxmlformats.org/drawingml/2006/main">
            <a:r>
              <a:t>It must be a sphere.</a:t>
            </a:r>
          </a:p>
          <a:p xmlns:a="http://schemas.openxmlformats.org/drawingml/2006/main">
            <a:r>
              <a:t>One view is not enough; collect shape evidence from other views.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SCI_G_W9A_Spherical_Bodies_Explore.html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SCI_G_W9A_Spherical_Bodies_Explore.html. Starter: 4 minutes TOTAL across all slides in this stage.</a:t>
            </a:r>
          </a:p>
          <a:p xmlns:a="http://schemas.openxmlformats.org/drawingml/2006/main">
            <a:r>
              <a:t/>
            </a:r>
          </a:p>
          <a:p xmlns:a="http://schemas.openxmlformats.org/drawingml/2006/main">
            <a:r>
              <a:t>Protect curiosity: receive every first idea without judgement.</a:t>
            </a:r>
          </a:p>
          <a:p xmlns:a="http://schemas.openxmlformats.org/drawingml/2006/main">
            <a:r>
              <a:t/>
            </a:r>
          </a:p>
          <a:p xmlns:a="http://schemas.openxmlformats.org/drawingml/2006/main">
            <a:r>
              <a:t>Ask ‘What makes you think that?’ and preserve the prediction for later evidence.</a:t>
            </a:r>
          </a:p>
          <a:p xmlns:a="http://schemas.openxmlformats.org/drawingml/2006/main">
            <a:r>
              <a:t/>
            </a:r>
          </a:p>
          <a:p xmlns:a="http://schemas.openxmlformats.org/drawingml/2006/main">
            <a:r>
              <a:t>Model limit: A smooth classroom ball hides mountains, valleys, craters and slight flattening. It models overall shape only.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LOCAL VISUAL HOOK · FRAME 1</a:t>
            </a:r>
          </a:p>
          <a:p xmlns:a="http://schemas.openxmlformats.org/drawingml/2006/main">
            <a:r>
              <a:t>Observation 1: both have a round front outline.</a:t>
            </a:r>
          </a:p>
          <a:p xmlns:a="http://schemas.openxmlformats.org/drawingml/2006/main">
            <a:r>
              <a:t>From the front, A and B look the same: a circle.</a:t>
            </a:r>
          </a:p>
          <a:p xmlns:a="http://schemas.openxmlformats.org/drawingml/2006/main">
            <a:r>
              <a:t>LOCAL VISUAL HOOK · FRAME 2</a:t>
            </a:r>
          </a:p>
          <a:p xmlns:a="http://schemas.openxmlformats.org/drawingml/2006/main">
            <a:r>
              <a:t>Observation 2: after a quarter turn, A looks oval; B still looks round.</a:t>
            </a:r>
          </a:p>
          <a:p xmlns:a="http://schemas.openxmlformats.org/drawingml/2006/main">
            <a:r>
              <a:t>One turn, two different results. Evidence.</a:t>
            </a:r>
          </a:p>
          <a:p xmlns:a="http://schemas.openxmlformats.org/drawingml/2006/main">
            <a:r>
              <a:t>LOCAL VISUAL HOOK · FRAME 3</a:t>
            </a:r>
          </a:p>
          <a:p xmlns:a="http://schemas.openxmlformats.org/drawingml/2006/main">
            <a:r>
              <a:t>Observation 3: from the edge, A is a thin line; B still looks round.</a:t>
            </a:r>
          </a:p>
          <a:p xmlns:a="http://schemas.openxmlformats.org/drawingml/2006/main">
            <a:r>
              <a:t>A flat disc hides. A sphere looks round from every side.</a:t>
            </a:r>
          </a:p>
          <a:p xmlns:a="http://schemas.openxmlformats.org/drawingml/2006/main">
            <a:r>
              <a:t>Commit one first idea. Predictions are held, not marked. Pointing, selecting, saying or signing all count.</a:t>
            </a:r>
          </a:p>
          <a:p xmlns:a="http://schemas.openxmlformats.org/drawingml/2006/main">
            <a:r>
              <a:t>It must be a flat disc.</a:t>
            </a:r>
          </a:p>
          <a:p xmlns:a="http://schemas.openxmlformats.org/drawingml/2006/main">
            <a:r>
              <a:t>It must be a sphere.</a:t>
            </a:r>
          </a:p>
          <a:p xmlns:a="http://schemas.openxmlformats.org/drawingml/2006/main">
            <a:r>
              <a:t>One view is not enough; collect shape evidence from other views.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SCI_G_W9A_Spherical_Bodies_Explore.html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SCI_G_W9A_Spherical_Bodies_Explore.html. Starter: 4 minutes TOTAL across all slides in this stage.</a:t>
            </a:r>
          </a:p>
          <a:p xmlns:a="http://schemas.openxmlformats.org/drawingml/2006/main">
            <a:r>
              <a:t/>
            </a:r>
          </a:p>
          <a:p xmlns:a="http://schemas.openxmlformats.org/drawingml/2006/main">
            <a:r>
              <a:t>Protect curiosity: receive every first idea without judgement.</a:t>
            </a:r>
          </a:p>
          <a:p xmlns:a="http://schemas.openxmlformats.org/drawingml/2006/main">
            <a:r>
              <a:t/>
            </a:r>
          </a:p>
          <a:p xmlns:a="http://schemas.openxmlformats.org/drawingml/2006/main">
            <a:r>
              <a:t>Ask ‘What makes you think that?’ and preserve the prediction for later evidence.</a:t>
            </a:r>
          </a:p>
          <a:p xmlns:a="http://schemas.openxmlformats.org/drawingml/2006/main">
            <a:r>
              <a:t/>
            </a:r>
          </a:p>
          <a:p xmlns:a="http://schemas.openxmlformats.org/drawingml/2006/main">
            <a:r>
              <a:t>Model limit: A smooth classroom ball hides mountains, valleys, craters and slight flattening. It models overall shape only.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LOCAL VISUAL HOOK · FRAME 1</a:t>
            </a:r>
          </a:p>
          <a:p xmlns:a="http://schemas.openxmlformats.org/drawingml/2006/main">
            <a:r>
              <a:t>Observation 1: both have a round front outline.</a:t>
            </a:r>
          </a:p>
          <a:p xmlns:a="http://schemas.openxmlformats.org/drawingml/2006/main">
            <a:r>
              <a:t>From the front, A and B look the same: a circle.</a:t>
            </a:r>
          </a:p>
          <a:p xmlns:a="http://schemas.openxmlformats.org/drawingml/2006/main">
            <a:r>
              <a:t>LOCAL VISUAL HOOK · FRAME 2</a:t>
            </a:r>
          </a:p>
          <a:p xmlns:a="http://schemas.openxmlformats.org/drawingml/2006/main">
            <a:r>
              <a:t>Observation 2: after a quarter turn, A looks oval; B still looks round.</a:t>
            </a:r>
          </a:p>
          <a:p xmlns:a="http://schemas.openxmlformats.org/drawingml/2006/main">
            <a:r>
              <a:t>One turn, two different results. Evidence.</a:t>
            </a:r>
          </a:p>
          <a:p xmlns:a="http://schemas.openxmlformats.org/drawingml/2006/main">
            <a:r>
              <a:t>LOCAL VISUAL HOOK · FRAME 3</a:t>
            </a:r>
          </a:p>
          <a:p xmlns:a="http://schemas.openxmlformats.org/drawingml/2006/main">
            <a:r>
              <a:t>Observation 3: from the edge, A is a thin line; B still looks round.</a:t>
            </a:r>
          </a:p>
          <a:p xmlns:a="http://schemas.openxmlformats.org/drawingml/2006/main">
            <a:r>
              <a:t>A flat disc hides. A sphere looks round from every side.</a:t>
            </a:r>
          </a:p>
          <a:p xmlns:a="http://schemas.openxmlformats.org/drawingml/2006/main">
            <a:r>
              <a:t>Commit one first idea. Predictions are held, not marked. Pointing, selecting, saying or signing all count.</a:t>
            </a:r>
          </a:p>
          <a:p xmlns:a="http://schemas.openxmlformats.org/drawingml/2006/main">
            <a:r>
              <a:t>It must be a flat disc.</a:t>
            </a:r>
          </a:p>
          <a:p xmlns:a="http://schemas.openxmlformats.org/drawingml/2006/main">
            <a:r>
              <a:t>It must be a sphere.</a:t>
            </a:r>
          </a:p>
          <a:p xmlns:a="http://schemas.openxmlformats.org/drawingml/2006/main">
            <a:r>
              <a:t>One view is not enough; collect shape evidence from other views.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SCI_G_W9A_Spherical_Bodies_Explore.html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SCI_G_W9A_Spherical_Bodies_Explore.html. I do: 5 minutes TOTAL across all slides in this stage.</a:t>
            </a:r>
          </a:p>
          <a:p xmlns:a="http://schemas.openxmlformats.org/drawingml/2006/main">
            <a:r>
              <a:t/>
            </a:r>
          </a:p>
          <a:p xmlns:a="http://schemas.openxmlformats.org/drawingml/2006/main">
            <a:r>
              <a:t>Let the teacher/model carry the explanation; pupils watch, point or track.</a:t>
            </a:r>
          </a:p>
          <a:p xmlns:a="http://schemas.openxmlformats.org/drawingml/2006/main">
            <a:r>
              <a:t/>
            </a:r>
          </a:p>
          <a:p xmlns:a="http://schemas.openxmlformats.org/drawingml/2006/main">
            <a:r>
              <a:t>Use a visual cue only if access is the barrier, then fade it.</a:t>
            </a:r>
          </a:p>
          <a:p xmlns:a="http://schemas.openxmlformats.org/drawingml/2006/main">
            <a:r>
              <a:t/>
            </a:r>
          </a:p>
          <a:p xmlns:a="http://schemas.openxmlformats.org/drawingml/2006/main">
            <a:r>
              <a:t>Model limit: A smooth classroom ball hides mountains, valleys, craters and slight flattening. It models overall shape only.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SPHERE ball shape a three-dimensional shape with a curved surface around a centre</a:t>
            </a:r>
          </a:p>
          <a:p xmlns:a="http://schemas.openxmlformats.org/drawingml/2006/main">
            <a:r>
              <a:t>DISC flat circle a thin, flat circular shape</a:t>
            </a:r>
          </a:p>
          <a:p xmlns:a="http://schemas.openxmlformats.org/drawingml/2006/main">
            <a:r>
              <a:t>APPROXIMATELY close to nearly, but not exactly</a:t>
            </a:r>
          </a:p>
          <a:p xmlns:a="http://schemas.openxmlformats.org/drawingml/2006/main">
            <a:r>
              <a:t>WHAT THIS MODEL HELPS US SEE</a:t>
            </a:r>
          </a:p>
          <a:p xmlns:a="http://schemas.openxmlformats.org/drawingml/2006/main">
            <a:r>
              <a:t>Use the comparison frame: When turned, the disc __, but the sphere __. Therefore…</a:t>
            </a:r>
          </a:p>
          <a:p xmlns:a="http://schemas.openxmlformats.org/drawingml/2006/main">
            <a:r>
              <a:t>WHAT THIS MODEL DOES NOT SHOW</a:t>
            </a:r>
          </a:p>
          <a:p xmlns:a="http://schemas.openxmlformats.org/drawingml/2006/main">
            <a:r>
              <a:t>A smooth classroom ball hides mountains, valleys, craters and slight flattening. It models overall shape only.</a:t>
            </a:r>
          </a:p>
          <a:p xmlns:a="http://schemas.openxmlformats.org/drawingml/2006/main">
            <a:r>
              <a:t>Step 1</a:t>
            </a:r>
          </a:p>
          <a:p xmlns:a="http://schemas.openxmlformats.org/drawingml/2006/main">
            <a:r>
              <a:t>Hold a flat disc and a ball front-on. Record honestly that both outlines can look circular.</a:t>
            </a:r>
          </a:p>
          <a:p xmlns:a="http://schemas.openxmlformats.org/drawingml/2006/main">
            <a:r>
              <a:t>Step 2</a:t>
            </a:r>
          </a:p>
          <a:p xmlns:a="http://schemas.openxmlformats.org/drawingml/2006/main">
            <a:r>
              <a:t>Turn each object by a quarter turn and then edge-on. Record how the disc outline changes but the ball's outline stays round.</a:t>
            </a:r>
          </a:p>
          <a:p xmlns:a="http://schemas.openxmlformats.org/drawingml/2006/main">
            <a:r>
              <a:t>Step 3</a:t>
            </a:r>
          </a:p>
          <a:p xmlns:a="http://schemas.openxmlformats.org/drawingml/2006/main">
            <a:r>
              <a:t>Conclude from several views: repeated round outlines support a sphere; a single circle does not prove it.</a:t>
            </a:r>
          </a:p>
          <a:p xmlns:a="http://schemas.openxmlformats.org/drawingml/2006/main">
            <a:r>
              <a:t>Viewpoint viewer · turn both objects together</a:t>
            </a:r>
          </a:p>
          <a:p xmlns:a="http://schemas.openxmlformats.org/drawingml/2006/main">
            <a:r>
              <a:t>Same turn for both. Say what you SEE before you say what it IS.</a:t>
            </a:r>
          </a:p>
          <a:p xmlns:a="http://schemas.openxmlformats.org/drawingml/2006/main">
            <a:r>
              <a:t>Front</a:t>
            </a:r>
          </a:p>
          <a:p xmlns:a="http://schemas.openxmlformats.org/drawingml/2006/main">
            <a:r>
              <a:t>↻ Quarter turn</a:t>
            </a:r>
          </a:p>
          <a:p xmlns:a="http://schemas.openxmlformats.org/drawingml/2006/main">
            <a:r>
              <a:t>↻ Edge on</a:t>
            </a:r>
          </a:p>
          <a:p xmlns:a="http://schemas.openxmlformats.org/drawingml/2006/main">
            <a:r>
              <a:t>Front: A looks round. B looks round. Not enough evidence yet.</a:t>
            </a:r>
          </a:p>
          <a:p xmlns:a="http://schemas.openxmlformats.org/drawingml/2006/main">
            <a:r>
              <a:t>A is a flat disc</a:t>
            </a:r>
          </a:p>
          <a:p xmlns:a="http://schemas.openxmlformats.org/drawingml/2006/main">
            <a:r>
              <a:t>B is a sphere</a:t>
            </a:r>
          </a:p>
          <a:p xmlns:a="http://schemas.openxmlformats.org/drawingml/2006/main">
            <a:r>
              <a:t>One photo proves a sphere</a:t>
            </a:r>
          </a:p>
          <a:p xmlns:a="http://schemas.openxmlformats.org/drawingml/2006/main">
            <a:r>
              <a:t>Real space evidence uses the same idea: photographs of Earth from many directions all show a round outline, and the Moon's lit edge is always curved. Approximately spherical — not perfect: Earth bulges slightly at the equator.</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SCI_G_W9A_Spherical_Bodies_Explore.html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SCI_G_W9A_Spherical_Bodies_Explore.html. I do: 5 minutes TOTAL across all slides in this stage.</a:t>
            </a:r>
          </a:p>
          <a:p xmlns:a="http://schemas.openxmlformats.org/drawingml/2006/main">
            <a:r>
              <a:t/>
            </a:r>
          </a:p>
          <a:p xmlns:a="http://schemas.openxmlformats.org/drawingml/2006/main">
            <a:r>
              <a:t>Let the teacher/model carry the explanation; pupils watch, point or track.</a:t>
            </a:r>
          </a:p>
          <a:p xmlns:a="http://schemas.openxmlformats.org/drawingml/2006/main">
            <a:r>
              <a:t/>
            </a:r>
          </a:p>
          <a:p xmlns:a="http://schemas.openxmlformats.org/drawingml/2006/main">
            <a:r>
              <a:t>Use a visual cue only if access is the barrier, then fade it.</a:t>
            </a:r>
          </a:p>
          <a:p xmlns:a="http://schemas.openxmlformats.org/drawingml/2006/main">
            <a:r>
              <a:t/>
            </a:r>
          </a:p>
          <a:p xmlns:a="http://schemas.openxmlformats.org/drawingml/2006/main">
            <a:r>
              <a:t>Model limit: A smooth classroom ball hides mountains, valleys, craters and slight flattening. It models overall shape only.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SPHERE ball shape a three-dimensional shape with a curved surface around a centre</a:t>
            </a:r>
          </a:p>
          <a:p xmlns:a="http://schemas.openxmlformats.org/drawingml/2006/main">
            <a:r>
              <a:t>DISC flat circle a thin, flat circular shape</a:t>
            </a:r>
          </a:p>
          <a:p xmlns:a="http://schemas.openxmlformats.org/drawingml/2006/main">
            <a:r>
              <a:t>APPROXIMATELY close to nearly, but not exactly</a:t>
            </a:r>
          </a:p>
          <a:p xmlns:a="http://schemas.openxmlformats.org/drawingml/2006/main">
            <a:r>
              <a:t>WHAT THIS MODEL HELPS US SEE</a:t>
            </a:r>
          </a:p>
          <a:p xmlns:a="http://schemas.openxmlformats.org/drawingml/2006/main">
            <a:r>
              <a:t>Use the comparison frame: When turned, the disc __, but the sphere __. Therefore…</a:t>
            </a:r>
          </a:p>
          <a:p xmlns:a="http://schemas.openxmlformats.org/drawingml/2006/main">
            <a:r>
              <a:t>WHAT THIS MODEL DOES NOT SHOW</a:t>
            </a:r>
          </a:p>
          <a:p xmlns:a="http://schemas.openxmlformats.org/drawingml/2006/main">
            <a:r>
              <a:t>A smooth classroom ball hides mountains, valleys, craters and slight flattening. It models overall shape only.</a:t>
            </a:r>
          </a:p>
          <a:p xmlns:a="http://schemas.openxmlformats.org/drawingml/2006/main">
            <a:r>
              <a:t>Step 1</a:t>
            </a:r>
          </a:p>
          <a:p xmlns:a="http://schemas.openxmlformats.org/drawingml/2006/main">
            <a:r>
              <a:t>Hold a flat disc and a ball front-on. Record honestly that both outlines can look circular.</a:t>
            </a:r>
          </a:p>
          <a:p xmlns:a="http://schemas.openxmlformats.org/drawingml/2006/main">
            <a:r>
              <a:t>Step 2</a:t>
            </a:r>
          </a:p>
          <a:p xmlns:a="http://schemas.openxmlformats.org/drawingml/2006/main">
            <a:r>
              <a:t>Turn each object by a quarter turn and then edge-on. Record how the disc outline changes but the ball's outline stays round.</a:t>
            </a:r>
          </a:p>
          <a:p xmlns:a="http://schemas.openxmlformats.org/drawingml/2006/main">
            <a:r>
              <a:t>Step 3</a:t>
            </a:r>
          </a:p>
          <a:p xmlns:a="http://schemas.openxmlformats.org/drawingml/2006/main">
            <a:r>
              <a:t>Conclude from several views: repeated round outlines support a sphere; a single circle does not prove it.</a:t>
            </a:r>
          </a:p>
          <a:p xmlns:a="http://schemas.openxmlformats.org/drawingml/2006/main">
            <a:r>
              <a:t>Viewpoint viewer · turn both objects together</a:t>
            </a:r>
          </a:p>
          <a:p xmlns:a="http://schemas.openxmlformats.org/drawingml/2006/main">
            <a:r>
              <a:t>Same turn for both. Say what you SEE before you say what it IS.</a:t>
            </a:r>
          </a:p>
          <a:p xmlns:a="http://schemas.openxmlformats.org/drawingml/2006/main">
            <a:r>
              <a:t>Front</a:t>
            </a:r>
          </a:p>
          <a:p xmlns:a="http://schemas.openxmlformats.org/drawingml/2006/main">
            <a:r>
              <a:t>↻ Quarter turn</a:t>
            </a:r>
          </a:p>
          <a:p xmlns:a="http://schemas.openxmlformats.org/drawingml/2006/main">
            <a:r>
              <a:t>↻ Edge on</a:t>
            </a:r>
          </a:p>
          <a:p xmlns:a="http://schemas.openxmlformats.org/drawingml/2006/main">
            <a:r>
              <a:t>Front: A looks round. B looks round. Not enough evidence yet.</a:t>
            </a:r>
          </a:p>
          <a:p xmlns:a="http://schemas.openxmlformats.org/drawingml/2006/main">
            <a:r>
              <a:t>A is a flat disc</a:t>
            </a:r>
          </a:p>
          <a:p xmlns:a="http://schemas.openxmlformats.org/drawingml/2006/main">
            <a:r>
              <a:t>B is a sphere</a:t>
            </a:r>
          </a:p>
          <a:p xmlns:a="http://schemas.openxmlformats.org/drawingml/2006/main">
            <a:r>
              <a:t>One photo proves a sphere</a:t>
            </a:r>
          </a:p>
          <a:p xmlns:a="http://schemas.openxmlformats.org/drawingml/2006/main">
            <a:r>
              <a:t>Real space evidence uses the same idea: photographs of Earth from many directions all show a round outline, and the Moon's lit edge is always curved. Approximately spherical — not perfect: Earth bulges slightly at the equator.</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SCI_G_W9A_Spherical_Bodies_Explore.html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SCI_G_W9A_Spherical_Bodies_Explore.html. I do: 5 minutes TOTAL across all slides in this stage.</a:t>
            </a:r>
          </a:p>
          <a:p xmlns:a="http://schemas.openxmlformats.org/drawingml/2006/main">
            <a:r>
              <a:t/>
            </a:r>
          </a:p>
          <a:p xmlns:a="http://schemas.openxmlformats.org/drawingml/2006/main">
            <a:r>
              <a:t>Let the teacher/model carry the explanation; pupils watch, point or track.</a:t>
            </a:r>
          </a:p>
          <a:p xmlns:a="http://schemas.openxmlformats.org/drawingml/2006/main">
            <a:r>
              <a:t/>
            </a:r>
          </a:p>
          <a:p xmlns:a="http://schemas.openxmlformats.org/drawingml/2006/main">
            <a:r>
              <a:t>Use a visual cue only if access is the barrier, then fade it.</a:t>
            </a:r>
          </a:p>
          <a:p xmlns:a="http://schemas.openxmlformats.org/drawingml/2006/main">
            <a:r>
              <a:t/>
            </a:r>
          </a:p>
          <a:p xmlns:a="http://schemas.openxmlformats.org/drawingml/2006/main">
            <a:r>
              <a:t>Model limit: A smooth classroom ball hides mountains, valleys, craters and slight flattening. It models overall shape only.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SPHERE ball shape a three-dimensional shape with a curved surface around a centre</a:t>
            </a:r>
          </a:p>
          <a:p xmlns:a="http://schemas.openxmlformats.org/drawingml/2006/main">
            <a:r>
              <a:t>DISC flat circle a thin, flat circular shape</a:t>
            </a:r>
          </a:p>
          <a:p xmlns:a="http://schemas.openxmlformats.org/drawingml/2006/main">
            <a:r>
              <a:t>APPROXIMATELY close to nearly, but not exactly</a:t>
            </a:r>
          </a:p>
          <a:p xmlns:a="http://schemas.openxmlformats.org/drawingml/2006/main">
            <a:r>
              <a:t>WHAT THIS MODEL HELPS US SEE</a:t>
            </a:r>
          </a:p>
          <a:p xmlns:a="http://schemas.openxmlformats.org/drawingml/2006/main">
            <a:r>
              <a:t>Use the comparison frame: When turned, the disc __, but the sphere __. Therefore…</a:t>
            </a:r>
          </a:p>
          <a:p xmlns:a="http://schemas.openxmlformats.org/drawingml/2006/main">
            <a:r>
              <a:t>WHAT THIS MODEL DOES NOT SHOW</a:t>
            </a:r>
          </a:p>
          <a:p xmlns:a="http://schemas.openxmlformats.org/drawingml/2006/main">
            <a:r>
              <a:t>A smooth classroom ball hides mountains, valleys, craters and slight flattening. It models overall shape only.</a:t>
            </a:r>
          </a:p>
          <a:p xmlns:a="http://schemas.openxmlformats.org/drawingml/2006/main">
            <a:r>
              <a:t>Step 1</a:t>
            </a:r>
          </a:p>
          <a:p xmlns:a="http://schemas.openxmlformats.org/drawingml/2006/main">
            <a:r>
              <a:t>Hold a flat disc and a ball front-on. Record honestly that both outlines can look circular.</a:t>
            </a:r>
          </a:p>
          <a:p xmlns:a="http://schemas.openxmlformats.org/drawingml/2006/main">
            <a:r>
              <a:t>Step 2</a:t>
            </a:r>
          </a:p>
          <a:p xmlns:a="http://schemas.openxmlformats.org/drawingml/2006/main">
            <a:r>
              <a:t>Turn each object by a quarter turn and then edge-on. Record how the disc outline changes but the ball's outline stays round.</a:t>
            </a:r>
          </a:p>
          <a:p xmlns:a="http://schemas.openxmlformats.org/drawingml/2006/main">
            <a:r>
              <a:t>Step 3</a:t>
            </a:r>
          </a:p>
          <a:p xmlns:a="http://schemas.openxmlformats.org/drawingml/2006/main">
            <a:r>
              <a:t>Conclude from several views: repeated round outlines support a sphere; a single circle does not prove it.</a:t>
            </a:r>
          </a:p>
          <a:p xmlns:a="http://schemas.openxmlformats.org/drawingml/2006/main">
            <a:r>
              <a:t>Viewpoint viewer · turn both objects together</a:t>
            </a:r>
          </a:p>
          <a:p xmlns:a="http://schemas.openxmlformats.org/drawingml/2006/main">
            <a:r>
              <a:t>Same turn for both. Say what you SEE before you say what it IS.</a:t>
            </a:r>
          </a:p>
          <a:p xmlns:a="http://schemas.openxmlformats.org/drawingml/2006/main">
            <a:r>
              <a:t>Front</a:t>
            </a:r>
          </a:p>
          <a:p xmlns:a="http://schemas.openxmlformats.org/drawingml/2006/main">
            <a:r>
              <a:t>↻ Quarter turn</a:t>
            </a:r>
          </a:p>
          <a:p xmlns:a="http://schemas.openxmlformats.org/drawingml/2006/main">
            <a:r>
              <a:t>↻ Edge on</a:t>
            </a:r>
          </a:p>
          <a:p xmlns:a="http://schemas.openxmlformats.org/drawingml/2006/main">
            <a:r>
              <a:t>Front: A looks round. B looks round. Not enough evidence yet.</a:t>
            </a:r>
          </a:p>
          <a:p xmlns:a="http://schemas.openxmlformats.org/drawingml/2006/main">
            <a:r>
              <a:t>A is a flat disc</a:t>
            </a:r>
          </a:p>
          <a:p xmlns:a="http://schemas.openxmlformats.org/drawingml/2006/main">
            <a:r>
              <a:t>B is a sphere</a:t>
            </a:r>
          </a:p>
          <a:p xmlns:a="http://schemas.openxmlformats.org/drawingml/2006/main">
            <a:r>
              <a:t>One photo proves a sphere</a:t>
            </a:r>
          </a:p>
          <a:p xmlns:a="http://schemas.openxmlformats.org/drawingml/2006/main">
            <a:r>
              <a:t>Real space evidence uses the same idea: photographs of Earth from many directions all show a round outline, and the Moon's lit edge is always curved. Approximately spherical — not perfect: Earth bulges slightly at the equator.</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SCI_G_W9A_Spherical_Bodies_Explore.html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SCI_G_W9A_Spherical_Bodies_Explore.html. We do: 5 minutes TOTAL across all slides in this stage.</a:t>
            </a:r>
          </a:p>
          <a:p xmlns:a="http://schemas.openxmlformats.org/drawingml/2006/main">
            <a:r>
              <a:t/>
            </a:r>
          </a:p>
          <a:p xmlns:a="http://schemas.openxmlformats.org/drawingml/2006/main">
            <a:r>
              <a:t>Scan every response mode. Do not infer understanding from handwriting or confidence.</a:t>
            </a:r>
          </a:p>
          <a:p xmlns:a="http://schemas.openxmlformats.org/drawingml/2006/main">
            <a:r>
              <a:t/>
            </a:r>
          </a:p>
          <a:p xmlns:a="http://schemas.openxmlformats.org/drawingml/2006/main">
            <a:r>
              <a:t>Secure: transfer. Mixed: contrast. Misconception: counterexample then a fresh question.</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Model limit: A smooth classroom ball hides mountains, valleys, craters and slight flattening. It models overall shape only.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Everyone commits before explanation.</a:t>
            </a:r>
          </a:p>
          <a:p xmlns:a="http://schemas.openxmlformats.org/drawingml/2006/main">
            <a:r>
              <a:t>Use a button, point, say/sign or let an adult operate the chosen button. A retry is information, not a penalty.</a:t>
            </a:r>
          </a:p>
          <a:p xmlns:a="http://schemas.openxmlformats.org/drawingml/2006/main">
            <a:r>
              <a:t>Audience move:</a:t>
            </a:r>
          </a:p>
          <a:p xmlns:a="http://schemas.openxmlformats.org/drawingml/2006/main">
            <a:r>
              <a:t>Both look circular from directly in front.</a:t>
            </a:r>
          </a:p>
          <a:p xmlns:a="http://schemas.openxmlformats.org/drawingml/2006/main">
            <a:r>
              <a:t>The sphere keeps a round outline when turned; the disc narrows.</a:t>
            </a:r>
          </a:p>
          <a:p xmlns:a="http://schemas.openxmlformats.org/drawingml/2006/main">
            <a:r>
              <a:t>Both can roll in some way.</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SCI_G_W9A_Spherical_Bodies_Explore.html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SCI_G_W9A_Spherical_Bodies_Explore.html. I do 2: 4 minutes TOTAL across all slides in this stage.</a:t>
            </a:r>
          </a:p>
          <a:p xmlns:a="http://schemas.openxmlformats.org/drawingml/2006/main">
            <a:r>
              <a:t/>
            </a:r>
          </a:p>
          <a:p xmlns:a="http://schemas.openxmlformats.org/drawingml/2006/main">
            <a:r>
              <a:t>Model one complete evidence-to-explanation sentence, then pause.</a:t>
            </a:r>
          </a:p>
          <a:p xmlns:a="http://schemas.openxmlformats.org/drawingml/2006/main">
            <a:r>
              <a:t/>
            </a:r>
          </a:p>
          <a:p xmlns:a="http://schemas.openxmlformats.org/drawingml/2006/main">
            <a:r>
              <a:t>Keep the science words; change density, modality or adult role before changing the goal.</a:t>
            </a:r>
          </a:p>
          <a:p xmlns:a="http://schemas.openxmlformats.org/drawingml/2006/main">
            <a:r>
              <a:t/>
            </a:r>
          </a:p>
          <a:p xmlns:a="http://schemas.openxmlformats.org/drawingml/2006/main">
            <a:r>
              <a:t>Model limit: A smooth classroom ball hides mountains, valleys, craters and slight flattening. It models overall shape only.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Connection: the model is useful when its visible pattern is translated into a scientific explanation.</a:t>
            </a:r>
          </a:p>
          <a:p xmlns:a="http://schemas.openxmlformats.org/drawingml/2006/main">
            <a:r>
              <a:t>Connection 1</a:t>
            </a:r>
          </a:p>
          <a:p xmlns:a="http://schemas.openxmlformats.org/drawingml/2006/main">
            <a:r>
              <a:t>The ball-and-disc test shows what two shapes can look like, but it is only a model. Check it against real observations.</a:t>
            </a:r>
          </a:p>
          <a:p xmlns:a="http://schemas.openxmlformats.org/drawingml/2006/main">
            <a:r>
              <a:t>Connection 2</a:t>
            </a:r>
          </a:p>
          <a:p xmlns:a="http://schemas.openxmlformats.org/drawingml/2006/main">
            <a:r>
              <a:t>Real Earth and Moon evidence: changing spacecraft views keep showing round whole-body outlines. During a lunar eclipse, Earth's shadow on the Moon is curved.</a:t>
            </a:r>
          </a:p>
          <a:p xmlns:a="http://schemas.openxmlformats.org/drawingml/2006/main">
            <a:r>
              <a:t>Connection 3</a:t>
            </a:r>
          </a:p>
          <a:p xmlns:a="http://schemas.openxmlformats.org/drawingml/2006/main">
            <a:r>
              <a:t>Real Sun evidence: its edge is curved and features move across its face as it rotates. Together the observations support approximately spherical bodies; gravity makes large bodies nearly round, rotation slightly flattens them and surface features add small bumps.</a:t>
            </a:r>
          </a:p>
          <a:p xmlns:a="http://schemas.openxmlformats.org/drawingml/2006/main">
            <a:r>
              <a:t>MODEL STRENGTH</a:t>
            </a:r>
          </a:p>
          <a:p xmlns:a="http://schemas.openxmlformats.org/drawingml/2006/main">
            <a:r>
              <a:t>Use the comparison frame: When turned, the disc __, but the sphere __. Therefore…</a:t>
            </a:r>
          </a:p>
          <a:p xmlns:a="http://schemas.openxmlformats.org/drawingml/2006/main">
            <a:r>
              <a:t>MODEL LIMIT</a:t>
            </a:r>
          </a:p>
          <a:p xmlns:a="http://schemas.openxmlformats.org/drawingml/2006/main">
            <a:r>
              <a:t>A smooth classroom ball hides mountains, valleys, craters and slight flattening. It models overall shape only.</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SCI_G_W9A_Spherical_Bodies_Explore.html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SCI_G_W9A_Spherical_Bodies_Explore.html. I do 2: 4 minutes TOTAL across all slides in this stage.</a:t>
            </a:r>
          </a:p>
          <a:p xmlns:a="http://schemas.openxmlformats.org/drawingml/2006/main">
            <a:r>
              <a:t/>
            </a:r>
          </a:p>
          <a:p xmlns:a="http://schemas.openxmlformats.org/drawingml/2006/main">
            <a:r>
              <a:t>Model one complete evidence-to-explanation sentence, then pause.</a:t>
            </a:r>
          </a:p>
          <a:p xmlns:a="http://schemas.openxmlformats.org/drawingml/2006/main">
            <a:r>
              <a:t/>
            </a:r>
          </a:p>
          <a:p xmlns:a="http://schemas.openxmlformats.org/drawingml/2006/main">
            <a:r>
              <a:t>Keep the science words; change density, modality or adult role before changing the goal.</a:t>
            </a:r>
          </a:p>
          <a:p xmlns:a="http://schemas.openxmlformats.org/drawingml/2006/main">
            <a:r>
              <a:t/>
            </a:r>
          </a:p>
          <a:p xmlns:a="http://schemas.openxmlformats.org/drawingml/2006/main">
            <a:r>
              <a:t>Model limit: A smooth classroom ball hides mountains, valleys, craters and slight flattening. It models overall shape only.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Connection: the model is useful when its visible pattern is translated into a scientific explanation.</a:t>
            </a:r>
          </a:p>
          <a:p xmlns:a="http://schemas.openxmlformats.org/drawingml/2006/main">
            <a:r>
              <a:t>Connection 1</a:t>
            </a:r>
          </a:p>
          <a:p xmlns:a="http://schemas.openxmlformats.org/drawingml/2006/main">
            <a:r>
              <a:t>The ball-and-disc test shows what two shapes can look like, but it is only a model. Check it against real observations.</a:t>
            </a:r>
          </a:p>
          <a:p xmlns:a="http://schemas.openxmlformats.org/drawingml/2006/main">
            <a:r>
              <a:t>Connection 2</a:t>
            </a:r>
          </a:p>
          <a:p xmlns:a="http://schemas.openxmlformats.org/drawingml/2006/main">
            <a:r>
              <a:t>Real Earth and Moon evidence: changing spacecraft views keep showing round whole-body outlines. During a lunar eclipse, Earth's shadow on the Moon is curved.</a:t>
            </a:r>
          </a:p>
          <a:p xmlns:a="http://schemas.openxmlformats.org/drawingml/2006/main">
            <a:r>
              <a:t>Connection 3</a:t>
            </a:r>
          </a:p>
          <a:p xmlns:a="http://schemas.openxmlformats.org/drawingml/2006/main">
            <a:r>
              <a:t>Real Sun evidence: its edge is curved and features move across its face as it rotates. Together the observations support approximately spherical bodies; gravity makes large bodies nearly round, rotation slightly flattens them and surface features add small bumps.</a:t>
            </a:r>
          </a:p>
          <a:p xmlns:a="http://schemas.openxmlformats.org/drawingml/2006/main">
            <a:r>
              <a:t>MODEL STRENGTH</a:t>
            </a:r>
          </a:p>
          <a:p xmlns:a="http://schemas.openxmlformats.org/drawingml/2006/main">
            <a:r>
              <a:t>Use the comparison frame: When turned, the disc __, but the sphere __. Therefore…</a:t>
            </a:r>
          </a:p>
          <a:p xmlns:a="http://schemas.openxmlformats.org/drawingml/2006/main">
            <a:r>
              <a:t>MODEL LIMIT</a:t>
            </a:r>
          </a:p>
          <a:p xmlns:a="http://schemas.openxmlformats.org/drawingml/2006/main">
            <a:r>
              <a:t>A smooth classroom ball hides mountains, valleys, craters and slight flattening. It models overall shape only.</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SCI_G_W9A_Spherical_Bodies_Explore.html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SCI_G_W9A_Spherical_Bodies_Explore.html. We do 2: 4 minutes TOTAL across all slides in this stage.</a:t>
            </a:r>
          </a:p>
          <a:p xmlns:a="http://schemas.openxmlformats.org/drawingml/2006/main">
            <a:r>
              <a:t/>
            </a:r>
          </a:p>
          <a:p xmlns:a="http://schemas.openxmlformats.org/drawingml/2006/main">
            <a:r>
              <a:t>Protect pupil operation and thinking; support handling only where needed.</a:t>
            </a:r>
          </a:p>
          <a:p xmlns:a="http://schemas.openxmlformats.org/drawingml/2006/main">
            <a:r>
              <a:t/>
            </a:r>
          </a:p>
          <a:p xmlns:a="http://schemas.openxmlformats.org/drawingml/2006/main">
            <a:r>
              <a:t>Ask what changed and what stayed the same before supplying a scientific word.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Model limit: A smooth classroom ball hides mountains, valleys, craters and slight flattening. It models overall shape only.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Sort model observations and real space evidence. Use both kinds before making the shape claim.</a:t>
            </a:r>
          </a:p>
          <a:p xmlns:a="http://schemas.openxmlformats.org/drawingml/2006/main">
            <a:r>
              <a:t>Select an observation card. Commit it to disc, sphere or real space evidence. Use the feedback to compare what was seen. Freeze model and real evidence, then state the shape claim.</a:t>
            </a:r>
          </a:p>
          <a:p xmlns:a="http://schemas.openxmlformats.org/drawingml/2006/main">
            <a:r>
              <a:t>Cards to place</a:t>
            </a:r>
          </a:p>
          <a:p xmlns:a="http://schemas.openxmlformats.org/drawingml/2006/main">
            <a:r>
              <a:t>Object A · front It looks circular from the front but becomes oval as it turns.</a:t>
            </a:r>
          </a:p>
          <a:p xmlns:a="http://schemas.openxmlformats.org/drawingml/2006/main">
            <a:r>
              <a:t>Object A · edge It becomes a very thin line when viewed edge-on.</a:t>
            </a:r>
          </a:p>
          <a:p xmlns:a="http://schemas.openxmlformats.org/drawingml/2006/main">
            <a:r>
              <a:t>Object A · full turn Its outline repeats circle, oval, line, oval, circle.</a:t>
            </a:r>
          </a:p>
          <a:p xmlns:a="http://schemas.openxmlformats.org/drawingml/2006/main">
            <a:r>
              <a:t>Object B · front It has a round outline from the first viewpoint.</a:t>
            </a:r>
          </a:p>
          <a:p xmlns:a="http://schemas.openxmlformats.org/drawingml/2006/main">
            <a:r>
              <a:t>Object B · quarter turn After a quarter turn, its outline remains round rather than becoming oval.</a:t>
            </a:r>
          </a:p>
          <a:p xmlns:a="http://schemas.openxmlformats.org/drawingml/2006/main">
            <a:r>
              <a:t>Object B · edge direction From the direction that made the disc a line, this object still looks round.</a:t>
            </a:r>
          </a:p>
          <a:p xmlns:a="http://schemas.openxmlformats.org/drawingml/2006/main">
            <a:r>
              <a:t>Spacecraft views Pictures taken from changing positions and times show Earth and the Moon with round whole-body outlines.</a:t>
            </a:r>
          </a:p>
          <a:p xmlns:a="http://schemas.openxmlformats.org/drawingml/2006/main">
            <a:r>
              <a:t>Lunar eclipse When Earth passes between the Sun and Moon, Earth's shadow moving across the Moon has a curved edge.</a:t>
            </a:r>
          </a:p>
          <a:p xmlns:a="http://schemas.openxmlformats.org/drawingml/2006/main">
            <a:r>
              <a:t>Curved day-night edge Space images show a curved line between day and night moving across Earth and the Moon as lighting and viewpoint change.</a:t>
            </a:r>
          </a:p>
          <a:p xmlns:a="http://schemas.openxmlformats.org/drawingml/2006/main">
            <a:r>
              <a:t>Sun observations Space instruments show the Sun's curved edge, while visible features move across its face as the Sun rotates.</a:t>
            </a:r>
          </a:p>
          <a:p xmlns:a="http://schemas.openxmlformats.org/drawingml/2006/main">
            <a:r>
              <a:t>Matching groups</a:t>
            </a:r>
          </a:p>
          <a:p xmlns:a="http://schemas.openxmlformats.org/drawingml/2006/main">
            <a:r>
              <a:t>Flat disc evidence</a:t>
            </a:r>
          </a:p>
          <a:p xmlns:a="http://schemas.openxmlformats.org/drawingml/2006/main">
            <a:r>
              <a:t>Sphere model evidence</a:t>
            </a:r>
          </a:p>
          <a:p xmlns:a="http://schemas.openxmlformats.org/drawingml/2006/main">
            <a:r>
              <a:t>Real space evidence</a:t>
            </a:r>
          </a:p>
          <a:p xmlns:a="http://schemas.openxmlformats.org/drawingml/2006/main">
            <a:r>
              <a:t>Freeze evidence</a:t>
            </a:r>
          </a:p>
          <a:p xmlns:a="http://schemas.openxmlformats.org/drawingml/2006/main">
            <a:r>
              <a:t>↺ Reset and retry</a:t>
            </a:r>
          </a:p>
          <a:p xmlns:a="http://schemas.openxmlformats.org/drawingml/2006/main">
            <a:r>
              <a:t>Science glitch · find and repair it</a:t>
            </a:r>
          </a:p>
          <a:p xmlns:a="http://schemas.openxmlformats.org/drawingml/2006/main">
            <a:r>
              <a:t>Claim: Evidence glitch: Earth looks circular in one photograph, so that photograph proves it is a sphere.</a:t>
            </a:r>
          </a:p>
          <a:p xmlns:a="http://schemas.openxmlformats.org/drawingml/2006/main">
            <a:r>
              <a:t>Keep it: every circle must be a sphere.</a:t>
            </a:r>
          </a:p>
          <a:p xmlns:a="http://schemas.openxmlformats.org/drawingml/2006/main">
            <a:r>
              <a:t>Repair it: one view fits a disc too; combine evidence from different viewpoints.</a:t>
            </a:r>
          </a:p>
          <a:p xmlns:a="http://schemas.openxmlformats.org/drawingml/2006/main">
            <a:r>
              <a:t>Repair it: every distant object is flat.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SCI_G_W9A_Spherical_Bodies_Explore.html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SCI_G_W9A_Spherical_Bodies_Explore.html. We do 2: 4 minutes TOTAL across all slides in this stage.</a:t>
            </a:r>
          </a:p>
          <a:p xmlns:a="http://schemas.openxmlformats.org/drawingml/2006/main">
            <a:r>
              <a:t/>
            </a:r>
          </a:p>
          <a:p xmlns:a="http://schemas.openxmlformats.org/drawingml/2006/main">
            <a:r>
              <a:t>Protect pupil operation and thinking; support handling only where needed.</a:t>
            </a:r>
          </a:p>
          <a:p xmlns:a="http://schemas.openxmlformats.org/drawingml/2006/main">
            <a:r>
              <a:t/>
            </a:r>
          </a:p>
          <a:p xmlns:a="http://schemas.openxmlformats.org/drawingml/2006/main">
            <a:r>
              <a:t>Ask what changed and what stayed the same before supplying a scientific word.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Model limit: A smooth classroom ball hides mountains, valleys, craters and slight flattening. It models overall shape only.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Sort model observations and real space evidence. Use both kinds before making the shape claim.</a:t>
            </a:r>
          </a:p>
          <a:p xmlns:a="http://schemas.openxmlformats.org/drawingml/2006/main">
            <a:r>
              <a:t>Select an observation card. Commit it to disc, sphere or real space evidence. Use the feedback to compare what was seen. Freeze model and real evidence, then state the shape claim.</a:t>
            </a:r>
          </a:p>
          <a:p xmlns:a="http://schemas.openxmlformats.org/drawingml/2006/main">
            <a:r>
              <a:t>Cards to place</a:t>
            </a:r>
          </a:p>
          <a:p xmlns:a="http://schemas.openxmlformats.org/drawingml/2006/main">
            <a:r>
              <a:t>Object A · front It looks circular from the front but becomes oval as it turns.</a:t>
            </a:r>
          </a:p>
          <a:p xmlns:a="http://schemas.openxmlformats.org/drawingml/2006/main">
            <a:r>
              <a:t>Object A · edge It becomes a very thin line when viewed edge-on.</a:t>
            </a:r>
          </a:p>
          <a:p xmlns:a="http://schemas.openxmlformats.org/drawingml/2006/main">
            <a:r>
              <a:t>Object A · full turn Its outline repeats circle, oval, line, oval, circle.</a:t>
            </a:r>
          </a:p>
          <a:p xmlns:a="http://schemas.openxmlformats.org/drawingml/2006/main">
            <a:r>
              <a:t>Object B · front It has a round outline from the first viewpoint.</a:t>
            </a:r>
          </a:p>
          <a:p xmlns:a="http://schemas.openxmlformats.org/drawingml/2006/main">
            <a:r>
              <a:t>Object B · quarter turn After a quarter turn, its outline remains round rather than becoming oval.</a:t>
            </a:r>
          </a:p>
          <a:p xmlns:a="http://schemas.openxmlformats.org/drawingml/2006/main">
            <a:r>
              <a:t>Object B · edge direction From the direction that made the disc a line, this object still looks round.</a:t>
            </a:r>
          </a:p>
          <a:p xmlns:a="http://schemas.openxmlformats.org/drawingml/2006/main">
            <a:r>
              <a:t>Spacecraft views Pictures taken from changing positions and times show Earth and the Moon with round whole-body outlines.</a:t>
            </a:r>
          </a:p>
          <a:p xmlns:a="http://schemas.openxmlformats.org/drawingml/2006/main">
            <a:r>
              <a:t>Lunar eclipse When Earth passes between the Sun and Moon, Earth's shadow moving across the Moon has a curved edge.</a:t>
            </a:r>
          </a:p>
          <a:p xmlns:a="http://schemas.openxmlformats.org/drawingml/2006/main">
            <a:r>
              <a:t>Curved day-night edge Space images show a curved line between day and night moving across Earth and the Moon as lighting and viewpoint change.</a:t>
            </a:r>
          </a:p>
          <a:p xmlns:a="http://schemas.openxmlformats.org/drawingml/2006/main">
            <a:r>
              <a:t>Sun observations Space instruments show the Sun's curved edge, while visible features move across its face as the Sun rotates.</a:t>
            </a:r>
          </a:p>
          <a:p xmlns:a="http://schemas.openxmlformats.org/drawingml/2006/main">
            <a:r>
              <a:t>Matching groups</a:t>
            </a:r>
          </a:p>
          <a:p xmlns:a="http://schemas.openxmlformats.org/drawingml/2006/main">
            <a:r>
              <a:t>Flat disc evidence</a:t>
            </a:r>
          </a:p>
          <a:p xmlns:a="http://schemas.openxmlformats.org/drawingml/2006/main">
            <a:r>
              <a:t>Sphere model evidence</a:t>
            </a:r>
          </a:p>
          <a:p xmlns:a="http://schemas.openxmlformats.org/drawingml/2006/main">
            <a:r>
              <a:t>Real space evidence</a:t>
            </a:r>
          </a:p>
          <a:p xmlns:a="http://schemas.openxmlformats.org/drawingml/2006/main">
            <a:r>
              <a:t>Freeze evidence</a:t>
            </a:r>
          </a:p>
          <a:p xmlns:a="http://schemas.openxmlformats.org/drawingml/2006/main">
            <a:r>
              <a:t>↺ Reset and retry</a:t>
            </a:r>
          </a:p>
          <a:p xmlns:a="http://schemas.openxmlformats.org/drawingml/2006/main">
            <a:r>
              <a:t>Science glitch · find and repair it</a:t>
            </a:r>
          </a:p>
          <a:p xmlns:a="http://schemas.openxmlformats.org/drawingml/2006/main">
            <a:r>
              <a:t>Claim: Evidence glitch: Earth looks circular in one photograph, so that photograph proves it is a sphere.</a:t>
            </a:r>
          </a:p>
          <a:p xmlns:a="http://schemas.openxmlformats.org/drawingml/2006/main">
            <a:r>
              <a:t>Keep it: every circle must be a sphere.</a:t>
            </a:r>
          </a:p>
          <a:p xmlns:a="http://schemas.openxmlformats.org/drawingml/2006/main">
            <a:r>
              <a:t>Repair it: one view fits a disc too; combine evidence from different viewpoints.</a:t>
            </a:r>
          </a:p>
          <a:p xmlns:a="http://schemas.openxmlformats.org/drawingml/2006/main">
            <a:r>
              <a:t>Repair it: every distant object is flat.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SCI_G_W9A_Spherical_Bodies_Explore.html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SCI_G_W9A_Spherical_Bodies_Explore.html. Independent: 10 minutes TOTAL across all slides in this stage.</a:t>
            </a:r>
          </a:p>
          <a:p xmlns:a="http://schemas.openxmlformats.org/drawingml/2006/main">
            <a:r>
              <a:t/>
            </a:r>
          </a:p>
          <a:p xmlns:a="http://schemas.openxmlformats.org/drawingml/2006/main">
            <a:r>
              <a:t>Protect independence. Accept equivalent evidence routes and scribe exact meaning.</a:t>
            </a:r>
          </a:p>
          <a:p xmlns:a="http://schemas.openxmlformats.org/drawingml/2006/main">
            <a:r>
              <a:t/>
            </a:r>
          </a:p>
          <a:p xmlns:a="http://schemas.openxmlformats.org/drawingml/2006/main">
            <a:r>
              <a:t>Prompt only as much as needed; fade as soon as the pupil continues.</a:t>
            </a:r>
          </a:p>
          <a:p xmlns:a="http://schemas.openxmlformats.org/drawingml/2006/main">
            <a:r>
              <a:t/>
            </a:r>
          </a:p>
          <a:p xmlns:a="http://schemas.openxmlformats.org/drawingml/2006/main">
            <a:r>
              <a:t>Model limit: A smooth classroom ball hides mountains, valleys, craters and slight flattening. It models overall shape only.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Physical route</a:t>
            </a:r>
          </a:p>
          <a:p xmlns:a="http://schemas.openxmlformats.org/drawingml/2006/main">
            <a:r>
              <a:t>Ball, safe card disc or large counter, viewing mat, three-view recording strip and pencil.</a:t>
            </a:r>
          </a:p>
          <a:p xmlns:a="http://schemas.openxmlformats.org/drawingml/2006/main">
            <a:r>
              <a:t>Same outcome: I can use observations from different viewpoints to describe the Sun, Earth and Moon as approximately spherical bodies.</a:t>
            </a:r>
          </a:p>
          <a:p xmlns:a="http://schemas.openxmlformats.org/drawingml/2006/main">
            <a:r>
              <a:t>Offline digital / director route</a:t>
            </a:r>
          </a:p>
          <a:p xmlns:a="http://schemas.openxmlformats.org/drawingml/2006/main">
            <a:r>
              <a:t>Use the included front, quarter and edge frames plus the local spacecraft, eclipse and curved day-night-edge cards. Mark which evidence shows the clearest difference.</a:t>
            </a:r>
          </a:p>
          <a:p xmlns:a="http://schemas.openxmlformats.org/drawingml/2006/main">
            <a:r>
              <a:t>Same evidence: A three-view model comparison, one cited real space observation and a conclusion naming the Sun, Earth and Moon as approximately spherical.</a:t>
            </a:r>
          </a:p>
          <a:p xmlns:a="http://schemas.openxmlformats.org/drawingml/2006/main">
            <a:r>
              <a:t>Equipment / setup Ball, safe card disc or large counter, viewing mat, three-view recording strip and pencil.</a:t>
            </a:r>
          </a:p>
          <a:p xmlns:a="http://schemas.openxmlformats.org/drawingml/2006/main">
            <a:r>
              <a:t>Safety / sensory Use large objects that cannot be swallowed. Keep objects on the table and do not throw or shine lights at anyone.</a:t>
            </a:r>
          </a:p>
          <a:p xmlns:a="http://schemas.openxmlformats.org/drawingml/2006/main">
            <a:r>
              <a:t>Offline parity Use the included front, quarter and edge frames plus the local spacecraft, eclipse and curved day-night-edge cards. Mark which evidence shows the clearest difference.</a:t>
            </a:r>
          </a:p>
          <a:p xmlns:a="http://schemas.openxmlformats.org/drawingml/2006/main">
            <a:r>
              <a:t>No-equipment/access route: Use printed silhouettes for front, quarter and edge views, or trace around a cup lid and a ball shown by an adult.</a:t>
            </a:r>
          </a:p>
          <a:p xmlns:a="http://schemas.openxmlformats.org/drawingml/2006/main">
            <a:r>
              <a:t>▲ Standard</a:t>
            </a:r>
          </a:p>
          <a:p xmlns:a="http://schemas.openxmlformats.org/drawingml/2006/main">
            <a:r>
              <a:t>Record three views of each model, then add one real space observation before making the shape claim.</a:t>
            </a:r>
          </a:p>
          <a:p xmlns:a="http://schemas.openxmlformats.org/drawingml/2006/main">
            <a:r>
              <a:t>Scaffold</a:t>
            </a:r>
          </a:p>
          <a:p xmlns:a="http://schemas.openxmlformats.org/drawingml/2006/main">
            <a:r>
              <a:t>Use one model difference, one real observation and the phrase approximately spherical.</a:t>
            </a:r>
          </a:p>
          <a:p xmlns:a="http://schemas.openxmlformats.org/drawingml/2006/main">
            <a:r>
              <a:t>Evidence gate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SCI_G_W9A_Spherical_Bodies_Explore.html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SCI_G_W9A_Spherical_Bodies_Explore.html. Independent: 10 minutes TOTAL across all slides in this stage.</a:t>
            </a:r>
          </a:p>
          <a:p xmlns:a="http://schemas.openxmlformats.org/drawingml/2006/main">
            <a:r>
              <a:t/>
            </a:r>
          </a:p>
          <a:p xmlns:a="http://schemas.openxmlformats.org/drawingml/2006/main">
            <a:r>
              <a:t>Protect independence. Accept equivalent evidence routes and scribe exact meaning.</a:t>
            </a:r>
          </a:p>
          <a:p xmlns:a="http://schemas.openxmlformats.org/drawingml/2006/main">
            <a:r>
              <a:t/>
            </a:r>
          </a:p>
          <a:p xmlns:a="http://schemas.openxmlformats.org/drawingml/2006/main">
            <a:r>
              <a:t>Prompt only as much as needed; fade as soon as the pupil continues.</a:t>
            </a:r>
          </a:p>
          <a:p xmlns:a="http://schemas.openxmlformats.org/drawingml/2006/main">
            <a:r>
              <a:t/>
            </a:r>
          </a:p>
          <a:p xmlns:a="http://schemas.openxmlformats.org/drawingml/2006/main">
            <a:r>
              <a:t>Model limit: A smooth classroom ball hides mountains, valleys, craters and slight flattening. It models overall shape only.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Physical route</a:t>
            </a:r>
          </a:p>
          <a:p xmlns:a="http://schemas.openxmlformats.org/drawingml/2006/main">
            <a:r>
              <a:t>Ball, safe card disc or large counter, viewing mat, three-view recording strip and pencil.</a:t>
            </a:r>
          </a:p>
          <a:p xmlns:a="http://schemas.openxmlformats.org/drawingml/2006/main">
            <a:r>
              <a:t>Same outcome: I can use observations from different viewpoints to describe the Sun, Earth and Moon as approximately spherical bodies.</a:t>
            </a:r>
          </a:p>
          <a:p xmlns:a="http://schemas.openxmlformats.org/drawingml/2006/main">
            <a:r>
              <a:t>Offline digital / director route</a:t>
            </a:r>
          </a:p>
          <a:p xmlns:a="http://schemas.openxmlformats.org/drawingml/2006/main">
            <a:r>
              <a:t>Use the included front, quarter and edge frames plus the local spacecraft, eclipse and curved day-night-edge cards. Mark which evidence shows the clearest difference.</a:t>
            </a:r>
          </a:p>
          <a:p xmlns:a="http://schemas.openxmlformats.org/drawingml/2006/main">
            <a:r>
              <a:t>Same evidence: A three-view model comparison, one cited real space observation and a conclusion naming the Sun, Earth and Moon as approximately spherical.</a:t>
            </a:r>
          </a:p>
          <a:p xmlns:a="http://schemas.openxmlformats.org/drawingml/2006/main">
            <a:r>
              <a:t>Equipment / setup Ball, safe card disc or large counter, viewing mat, three-view recording strip and pencil.</a:t>
            </a:r>
          </a:p>
          <a:p xmlns:a="http://schemas.openxmlformats.org/drawingml/2006/main">
            <a:r>
              <a:t>Safety / sensory Use large objects that cannot be swallowed. Keep objects on the table and do not throw or shine lights at anyone.</a:t>
            </a:r>
          </a:p>
          <a:p xmlns:a="http://schemas.openxmlformats.org/drawingml/2006/main">
            <a:r>
              <a:t>Offline parity Use the included front, quarter and edge frames plus the local spacecraft, eclipse and curved day-night-edge cards. Mark which evidence shows the clearest difference.</a:t>
            </a:r>
          </a:p>
          <a:p xmlns:a="http://schemas.openxmlformats.org/drawingml/2006/main">
            <a:r>
              <a:t>No-equipment/access route: Use printed silhouettes for front, quarter and edge views, or trace around a cup lid and a ball shown by an adult.</a:t>
            </a:r>
          </a:p>
          <a:p xmlns:a="http://schemas.openxmlformats.org/drawingml/2006/main">
            <a:r>
              <a:t>▲ Standard</a:t>
            </a:r>
          </a:p>
          <a:p xmlns:a="http://schemas.openxmlformats.org/drawingml/2006/main">
            <a:r>
              <a:t>Record three views of each model, then add one real space observation before making the shape claim.</a:t>
            </a:r>
          </a:p>
          <a:p xmlns:a="http://schemas.openxmlformats.org/drawingml/2006/main">
            <a:r>
              <a:t>Scaffold</a:t>
            </a:r>
          </a:p>
          <a:p xmlns:a="http://schemas.openxmlformats.org/drawingml/2006/main">
            <a:r>
              <a:t>Use one model difference, one real observation and the phrase approximately spherical.</a:t>
            </a:r>
          </a:p>
          <a:p xmlns:a="http://schemas.openxmlformats.org/drawingml/2006/main">
            <a:r>
              <a:t>Evidence gate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SCI_G_W9A_Spherical_Bodies_Explore.html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SCI_G_W9A_Spherical_Bodies_Explore.html. Exit: 4 minutes TOTAL across all slides in this stage.</a:t>
            </a:r>
          </a:p>
          <a:p xmlns:a="http://schemas.openxmlformats.org/drawingml/2006/main">
            <a:r>
              <a:t/>
            </a:r>
          </a:p>
          <a:p xmlns:a="http://schemas.openxmlformats.org/drawingml/2006/main">
            <a:r>
              <a:t>Genuinely receive one final response and name back the Science heard or seen.</a:t>
            </a:r>
          </a:p>
          <a:p xmlns:a="http://schemas.openxmlformats.org/drawingml/2006/main">
            <a:r>
              <a:t/>
            </a:r>
          </a:p>
          <a:p xmlns:a="http://schemas.openxmlformats.org/drawingml/2006/main">
            <a:r>
              <a:t>Choose one visible next move. The pupil writes what they said and what changed.</a:t>
            </a:r>
          </a:p>
          <a:p xmlns:a="http://schemas.openxmlformats.org/drawingml/2006/main">
            <a:r>
              <a:t/>
            </a:r>
          </a:p>
          <a:p xmlns:a="http://schemas.openxmlformats.org/drawingml/2006/main">
            <a:r>
              <a:t>Model limit: A smooth classroom ball hides mountains, valleys, craters and slight flattening. It models overall shape only.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Standard</a:t>
            </a:r>
          </a:p>
          <a:p xmlns:a="http://schemas.openxmlformats.org/drawingml/2006/main">
            <a:r>
              <a:t>Use one model observation and one real space observation to explain why Earth is described as approximately spherical.</a:t>
            </a:r>
          </a:p>
          <a:p xmlns:a="http://schemas.openxmlformats.org/drawingml/2006/main">
            <a:r>
              <a:t>Adult Audience</a:t>
            </a:r>
          </a:p>
          <a:p xmlns:a="http://schemas.openxmlformats.org/drawingml/2006/main">
            <a:r>
              <a:t>The familiar adult genuinely receives the pupil response, then says back the Science they heard or saw. The adult does not add a score or rewrite the pupil.</a:t>
            </a:r>
          </a:p>
          <a:p xmlns:a="http://schemas.openxmlformats.org/drawingml/2006/main">
            <a:r>
              <a:t>What I said, and what it changed:</a:t>
            </a:r>
          </a:p>
          <a:p xmlns:a="http://schemas.openxmlformats.org/drawingml/2006/main">
            <a:r>
              <a:t>Next I will ______. One next step chosen after the adult listened.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SCI_G_W9A_Spherical_Bodies_Explore.html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72e69cdd894b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939f9079b5456f" /><Relationship Type="http://schemas.openxmlformats.org/officeDocument/2006/relationships/slideLayout" Target="/ppt/slideLayouts/slideLayout1.xml" Id="Re00632c357594d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0632c357594d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aa31b5cf754025" /><Relationship Type="http://schemas.openxmlformats.org/officeDocument/2006/relationships/hyperlink" Target="SCI_G_W9A_Spherical_Bodies_Explore.html" TargetMode="External" Id="Rd63b81b5e65a4b74" /><Relationship Type="http://schemas.openxmlformats.org/officeDocument/2006/relationships/notesSlide" Target="/ppt/notesSlides/notesSlide1.xml" Id="R529eac81ba9049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7934d929b4494f" /><Relationship Type="http://schemas.openxmlformats.org/officeDocument/2006/relationships/notesSlide" Target="/ppt/notesSlides/notesSlide2.xml" Id="R541791e5f5e941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178b6db1c74d4d" /><Relationship Type="http://schemas.openxmlformats.org/officeDocument/2006/relationships/notesSlide" Target="/ppt/notesSlides/notesSlide3.xml" Id="Re4d379131e2447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71030bc4634098" /><Relationship Type="http://schemas.openxmlformats.org/officeDocument/2006/relationships/notesSlide" Target="/ppt/notesSlides/notesSlide4.xml" Id="R0ebb121ec1604f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3609a1834cf49f4" /><Relationship Type="http://schemas.openxmlformats.org/officeDocument/2006/relationships/notesSlide" Target="/ppt/notesSlides/notesSlide5.xml" Id="R129bebc4dcba42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6fe1611da174649" /><Relationship Type="http://schemas.openxmlformats.org/officeDocument/2006/relationships/image" Target="/ppt/media/image.png" Id="R614aa732f27a4c56" /><Relationship Type="http://schemas.openxmlformats.org/officeDocument/2006/relationships/image" Target="/ppt/media/image2.png" Id="R8ea3f8ac98924de9" /><Relationship Type="http://schemas.openxmlformats.org/officeDocument/2006/relationships/image" Target="/ppt/media/image3.png" Id="R88919743f15548ce" /><Relationship Type="http://schemas.openxmlformats.org/officeDocument/2006/relationships/notesSlide" Target="/ppt/notesSlides/notesSlide6.xml" Id="Rf6b5d50be79d4f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b62725336824894" /><Relationship Type="http://schemas.openxmlformats.org/officeDocument/2006/relationships/notesSlide" Target="/ppt/notesSlides/notesSlide7.xml" Id="Re60b46e8c4f748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e52980dbce8468f" /><Relationship Type="http://schemas.openxmlformats.org/officeDocument/2006/relationships/notesSlide" Target="/ppt/notesSlides/notesSlide8.xml" Id="R39e80acf0e2d4e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f021a94b3d04442" /><Relationship Type="http://schemas.openxmlformats.org/officeDocument/2006/relationships/image" Target="/ppt/media/image4.png" Id="R3b7f792b2de54ea6" /><Relationship Type="http://schemas.openxmlformats.org/officeDocument/2006/relationships/notesSlide" Target="/ppt/notesSlides/notesSlide9.xml" Id="R23af34f7012544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26da0ac0e62453d" /><Relationship Type="http://schemas.openxmlformats.org/officeDocument/2006/relationships/notesSlide" Target="/ppt/notesSlides/notesSlide10.xml" Id="R94f77d23df7c49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38748d8bfb2414c" /><Relationship Type="http://schemas.openxmlformats.org/officeDocument/2006/relationships/notesSlide" Target="/ppt/notesSlides/notesSlide11.xml" Id="R44824660cf6d4c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2dba620747a468e" /><Relationship Type="http://schemas.openxmlformats.org/officeDocument/2006/relationships/notesSlide" Target="/ppt/notesSlides/notesSlide12.xml" Id="Rb1e85f98abc645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c7c8cd308f844ad" /><Relationship Type="http://schemas.openxmlformats.org/officeDocument/2006/relationships/notesSlide" Target="/ppt/notesSlides/notesSlide13.xml" Id="R877a31ac3ce14f4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ed795e36e674e3d" /><Relationship Type="http://schemas.openxmlformats.org/officeDocument/2006/relationships/notesSlide" Target="/ppt/notesSlides/notesSlide14.xml" Id="R64edae45c174442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5f18ea7337d4dd0" /><Relationship Type="http://schemas.openxmlformats.org/officeDocument/2006/relationships/notesSlide" Target="/ppt/notesSlides/notesSlide15.xml" Id="R6244f0993bc849f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5d33a50260f418d" /><Relationship Type="http://schemas.openxmlformats.org/officeDocument/2006/relationships/notesSlide" Target="/ppt/notesSlides/notesSlide16.xml" Id="Rd92bd23da12a49a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8ce5feec5fe440a" /><Relationship Type="http://schemas.openxmlformats.org/officeDocument/2006/relationships/notesSlide" Target="/ppt/notesSlides/notesSlide17.xml" Id="R9e0f26e3c7944049" /></Relationships>
</file>

<file path=ppt/slides/slide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9" name="phase edge">
            <a:extLst xmlns:a="http://schemas.openxmlformats.org/drawingml/2006/main">
              <a:ext uri="{FF2B5EF4-FFF2-40B4-BE49-F238E27FC236}">
                <a16:creationId xmlns:a16="http://schemas.microsoft.com/office/drawing/2014/main" id="{69E6F6FD-9185-4A3B-90F0-241DD3384BB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E0389C8-7535-4FC5-93F8-AC959BA82B2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6074B02D-B4AA-49C4-B297-366038FD71C3}"/>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OVERVIEW</a:t>
            </a:r>
          </a:p>
        </p:txBody>
      </p:sp>
      <p:sp>
        <p:nvSpPr>
          <p:cNvPr id="4" name="title">
            <a:extLst xmlns:a="http://schemas.openxmlformats.org/drawingml/2006/main">
              <a:ext uri="{FF2B5EF4-FFF2-40B4-BE49-F238E27FC236}">
                <a16:creationId xmlns:a16="http://schemas.microsoft.com/office/drawing/2014/main" id="{791E70E3-774E-4B25-884E-9FCE18EE636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33F"/>
                </a:solidFill>
                <a:latin typeface="Arial"/>
                <a:ea typeface="Arial"/>
                <a:cs typeface="Arial"/>
              </a:defRPr>
            </a:pPr>
            <a:r>
              <a:rPr sz="3600" b="1">
                <a:solidFill>
                  <a:srgbClr val="10233F"/>
                </a:solidFill>
                <a:latin typeface="Arial"/>
                <a:ea typeface="Arial"/>
                <a:cs typeface="Arial"/>
              </a:rPr>
              <a:t>Spherical Bodies: Shape Evidence</a:t>
            </a:r>
          </a:p>
        </p:txBody>
      </p:sp>
      <p:sp>
        <p:nvSpPr>
          <p:cNvPr id="5" name="paper panel">
            <a:extLst xmlns:a="http://schemas.openxmlformats.org/drawingml/2006/main">
              <a:ext uri="{FF2B5EF4-FFF2-40B4-BE49-F238E27FC236}">
                <a16:creationId xmlns:a16="http://schemas.microsoft.com/office/drawing/2014/main" id="{F48F6113-E7A6-4FF0-8493-7EAEBF965D8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objective 0">
            <a:extLst xmlns:a="http://schemas.openxmlformats.org/drawingml/2006/main">
              <a:ext uri="{FF2B5EF4-FFF2-40B4-BE49-F238E27FC236}">
                <a16:creationId xmlns:a16="http://schemas.microsoft.com/office/drawing/2014/main" id="{B5EB6D75-E550-4544-904A-F00848558863}"/>
              </a:ext>
            </a:extLst>
          </p:cNvPr>
          <p:cNvSpPr>
            <a:spLocks xmlns:a="http://schemas.openxmlformats.org/drawingml/2006/main" noGrp="1"/>
          </p:cNvSpPr>
          <p:nvPr/>
        </p:nvSpPr>
        <p:spPr>
          <a:xfrm xmlns:a="http://schemas.openxmlformats.org/drawingml/2006/main">
            <a:off x="762000" y="2181225"/>
            <a:ext cx="5924550" cy="11252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33F"/>
                </a:solidFill>
                <a:latin typeface="Arial"/>
                <a:ea typeface="Arial"/>
                <a:cs typeface="Arial"/>
              </a:defRPr>
            </a:pPr>
            <a:r>
              <a:rPr sz="2175" b="1">
                <a:solidFill>
                  <a:srgbClr val="10233F"/>
                </a:solidFill>
                <a:latin typeface="Arial"/>
                <a:ea typeface="Arial"/>
                <a:cs typeface="Arial"/>
              </a:rPr>
              <a:t>I can use observations from different viewpoints to describe the Sun, Earth and Moon as approximately spherical bodies.</a:t>
            </a:r>
          </a:p>
        </p:txBody>
      </p:sp>
      <p:sp>
        <p:nvSpPr>
          <p:cNvPr id="7" name="learning move 0">
            <a:extLst xmlns:a="http://schemas.openxmlformats.org/drawingml/2006/main">
              <a:ext uri="{FF2B5EF4-FFF2-40B4-BE49-F238E27FC236}">
                <a16:creationId xmlns:a16="http://schemas.microsoft.com/office/drawing/2014/main" id="{262D927B-457F-4CAF-B3F6-CD7A6827CB58}"/>
              </a:ext>
            </a:extLst>
          </p:cNvPr>
          <p:cNvSpPr>
            <a:spLocks xmlns:a="http://schemas.openxmlformats.org/drawingml/2006/main" noGrp="1"/>
          </p:cNvSpPr>
          <p:nvPr/>
        </p:nvSpPr>
        <p:spPr>
          <a:xfrm xmlns:a="http://schemas.openxmlformats.org/drawingml/2006/main">
            <a:off x="7029450" y="2305050"/>
            <a:ext cx="4238625" cy="800100"/>
          </a:xfrm>
          <a:prstGeom xmlns:a="http://schemas.openxmlformats.org/drawingml/2006/main" prst="rect">
            <a:avLst/>
          </a:prstGeom>
          <a:solidFill xmlns:a="http://schemas.openxmlformats.org/drawingml/2006/main">
            <a:srgbClr val="EAF0F3"/>
          </a:solidFill>
          <a:ln xmlns:a="http://schemas.openxmlformats.org/drawingml/2006/main" w="0">
            <a:noFill/>
          </a:ln>
        </p:spPr>
      </p:sp>
      <p:sp>
        <p:nvSpPr>
          <p:cNvPr id="8" name="move 0">
            <a:extLst xmlns:a="http://schemas.openxmlformats.org/drawingml/2006/main">
              <a:ext uri="{FF2B5EF4-FFF2-40B4-BE49-F238E27FC236}">
                <a16:creationId xmlns:a16="http://schemas.microsoft.com/office/drawing/2014/main" id="{C156BEC0-AA0F-4DD7-925B-98EC9E526BFE}"/>
              </a:ext>
            </a:extLst>
          </p:cNvPr>
          <p:cNvSpPr>
            <a:spLocks xmlns:a="http://schemas.openxmlformats.org/drawingml/2006/main" noGrp="1"/>
          </p:cNvSpPr>
          <p:nvPr/>
        </p:nvSpPr>
        <p:spPr>
          <a:xfrm xmlns:a="http://schemas.openxmlformats.org/drawingml/2006/main">
            <a:off x="7200900" y="2428875"/>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0233F"/>
                </a:solidFill>
                <a:latin typeface="Arial"/>
                <a:ea typeface="Arial"/>
                <a:cs typeface="Arial"/>
              </a:defRPr>
            </a:pPr>
            <a:r>
              <a:rPr sz="1875" b="1">
                <a:solidFill>
                  <a:srgbClr val="10233F"/>
                </a:solidFill>
                <a:latin typeface="Arial"/>
                <a:ea typeface="Arial"/>
                <a:cs typeface="Arial"/>
              </a:rPr>
              <a:t>Disc versus sphere</a:t>
            </a:r>
          </a:p>
        </p:txBody>
      </p:sp>
      <p:sp>
        <p:nvSpPr>
          <p:cNvPr id="9" name="move detail 0">
            <a:extLst xmlns:a="http://schemas.openxmlformats.org/drawingml/2006/main">
              <a:ext uri="{FF2B5EF4-FFF2-40B4-BE49-F238E27FC236}">
                <a16:creationId xmlns:a16="http://schemas.microsoft.com/office/drawing/2014/main" id="{72E5E769-3BC2-414B-96EA-047A4CF30FAC}"/>
              </a:ext>
            </a:extLst>
          </p:cNvPr>
          <p:cNvSpPr>
            <a:spLocks xmlns:a="http://schemas.openxmlformats.org/drawingml/2006/main" noGrp="1"/>
          </p:cNvSpPr>
          <p:nvPr/>
        </p:nvSpPr>
        <p:spPr>
          <a:xfrm xmlns:a="http://schemas.openxmlformats.org/drawingml/2006/main">
            <a:off x="7200900" y="2771775"/>
            <a:ext cx="390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10233F"/>
                </a:solidFill>
                <a:latin typeface="Arial"/>
                <a:ea typeface="Arial"/>
                <a:cs typeface="Arial"/>
              </a:defRPr>
            </a:pPr>
            <a:r>
              <a:rPr sz="1425" b="0">
                <a:solidFill>
                  <a:srgbClr val="10233F"/>
                </a:solidFill>
                <a:latin typeface="Arial"/>
                <a:ea typeface="Arial"/>
                <a:cs typeface="Arial"/>
              </a:rPr>
              <a:t>use evidence</a:t>
            </a:r>
          </a:p>
        </p:txBody>
      </p:sp>
      <p:sp>
        <p:nvSpPr>
          <p:cNvPr id="10" name="learning move 1">
            <a:extLst xmlns:a="http://schemas.openxmlformats.org/drawingml/2006/main">
              <a:ext uri="{FF2B5EF4-FFF2-40B4-BE49-F238E27FC236}">
                <a16:creationId xmlns:a16="http://schemas.microsoft.com/office/drawing/2014/main" id="{8905EB8E-9CD5-49E5-918E-3362381A2BD1}"/>
              </a:ext>
            </a:extLst>
          </p:cNvPr>
          <p:cNvSpPr>
            <a:spLocks xmlns:a="http://schemas.openxmlformats.org/drawingml/2006/main" noGrp="1"/>
          </p:cNvSpPr>
          <p:nvPr/>
        </p:nvSpPr>
        <p:spPr>
          <a:xfrm xmlns:a="http://schemas.openxmlformats.org/drawingml/2006/main">
            <a:off x="7029450" y="3248025"/>
            <a:ext cx="4238625" cy="800100"/>
          </a:xfrm>
          <a:prstGeom xmlns:a="http://schemas.openxmlformats.org/drawingml/2006/main" prst="rect">
            <a:avLst/>
          </a:prstGeom>
          <a:solidFill xmlns:a="http://schemas.openxmlformats.org/drawingml/2006/main">
            <a:srgbClr val="EAF0F3"/>
          </a:solidFill>
          <a:ln xmlns:a="http://schemas.openxmlformats.org/drawingml/2006/main" w="0">
            <a:noFill/>
          </a:ln>
        </p:spPr>
      </p:sp>
      <p:sp>
        <p:nvSpPr>
          <p:cNvPr id="11" name="move 1">
            <a:extLst xmlns:a="http://schemas.openxmlformats.org/drawingml/2006/main">
              <a:ext uri="{FF2B5EF4-FFF2-40B4-BE49-F238E27FC236}">
                <a16:creationId xmlns:a16="http://schemas.microsoft.com/office/drawing/2014/main" id="{E378FD8C-030D-4910-A8C2-CE085C712626}"/>
              </a:ext>
            </a:extLst>
          </p:cNvPr>
          <p:cNvSpPr>
            <a:spLocks xmlns:a="http://schemas.openxmlformats.org/drawingml/2006/main" noGrp="1"/>
          </p:cNvSpPr>
          <p:nvPr/>
        </p:nvSpPr>
        <p:spPr>
          <a:xfrm xmlns:a="http://schemas.openxmlformats.org/drawingml/2006/main">
            <a:off x="7200900" y="337185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0233F"/>
                </a:solidFill>
                <a:latin typeface="Arial"/>
                <a:ea typeface="Arial"/>
                <a:cs typeface="Arial"/>
              </a:defRPr>
            </a:pPr>
            <a:r>
              <a:rPr sz="1875" b="1">
                <a:solidFill>
                  <a:srgbClr val="10233F"/>
                </a:solidFill>
                <a:latin typeface="Arial"/>
                <a:ea typeface="Arial"/>
                <a:cs typeface="Arial"/>
              </a:rPr>
              <a:t>More than one viewpoint</a:t>
            </a:r>
          </a:p>
        </p:txBody>
      </p:sp>
      <p:sp>
        <p:nvSpPr>
          <p:cNvPr id="12" name="move detail 1">
            <a:extLst xmlns:a="http://schemas.openxmlformats.org/drawingml/2006/main">
              <a:ext uri="{FF2B5EF4-FFF2-40B4-BE49-F238E27FC236}">
                <a16:creationId xmlns:a16="http://schemas.microsoft.com/office/drawing/2014/main" id="{C072E508-AF99-4A89-A8DF-1C9C65B36DB7}"/>
              </a:ext>
            </a:extLst>
          </p:cNvPr>
          <p:cNvSpPr>
            <a:spLocks xmlns:a="http://schemas.openxmlformats.org/drawingml/2006/main" noGrp="1"/>
          </p:cNvSpPr>
          <p:nvPr/>
        </p:nvSpPr>
        <p:spPr>
          <a:xfrm xmlns:a="http://schemas.openxmlformats.org/drawingml/2006/main">
            <a:off x="7200900" y="3714750"/>
            <a:ext cx="390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10233F"/>
                </a:solidFill>
                <a:latin typeface="Arial"/>
                <a:ea typeface="Arial"/>
                <a:cs typeface="Arial"/>
              </a:defRPr>
            </a:pPr>
            <a:r>
              <a:rPr sz="1425" b="0">
                <a:solidFill>
                  <a:srgbClr val="10233F"/>
                </a:solidFill>
                <a:latin typeface="Arial"/>
                <a:ea typeface="Arial"/>
                <a:cs typeface="Arial"/>
              </a:rPr>
              <a:t>use evidence</a:t>
            </a:r>
          </a:p>
        </p:txBody>
      </p:sp>
      <p:sp>
        <p:nvSpPr>
          <p:cNvPr id="13" name="learning move 2">
            <a:extLst xmlns:a="http://schemas.openxmlformats.org/drawingml/2006/main">
              <a:ext uri="{FF2B5EF4-FFF2-40B4-BE49-F238E27FC236}">
                <a16:creationId xmlns:a16="http://schemas.microsoft.com/office/drawing/2014/main" id="{6546E020-2F1F-4866-AD50-ED39BCABF756}"/>
              </a:ext>
            </a:extLst>
          </p:cNvPr>
          <p:cNvSpPr>
            <a:spLocks xmlns:a="http://schemas.openxmlformats.org/drawingml/2006/main" noGrp="1"/>
          </p:cNvSpPr>
          <p:nvPr/>
        </p:nvSpPr>
        <p:spPr>
          <a:xfrm xmlns:a="http://schemas.openxmlformats.org/drawingml/2006/main">
            <a:off x="7029450" y="4191000"/>
            <a:ext cx="4238625" cy="800100"/>
          </a:xfrm>
          <a:prstGeom xmlns:a="http://schemas.openxmlformats.org/drawingml/2006/main" prst="rect">
            <a:avLst/>
          </a:prstGeom>
          <a:solidFill xmlns:a="http://schemas.openxmlformats.org/drawingml/2006/main">
            <a:srgbClr val="EAF0F3"/>
          </a:solidFill>
          <a:ln xmlns:a="http://schemas.openxmlformats.org/drawingml/2006/main" w="0">
            <a:noFill/>
          </a:ln>
        </p:spPr>
      </p:sp>
      <p:sp>
        <p:nvSpPr>
          <p:cNvPr id="14" name="move 2">
            <a:extLst xmlns:a="http://schemas.openxmlformats.org/drawingml/2006/main">
              <a:ext uri="{FF2B5EF4-FFF2-40B4-BE49-F238E27FC236}">
                <a16:creationId xmlns:a16="http://schemas.microsoft.com/office/drawing/2014/main" id="{1746CE43-3AA8-45AE-B019-B870F4D7EE72}"/>
              </a:ext>
            </a:extLst>
          </p:cNvPr>
          <p:cNvSpPr>
            <a:spLocks xmlns:a="http://schemas.openxmlformats.org/drawingml/2006/main" noGrp="1"/>
          </p:cNvSpPr>
          <p:nvPr/>
        </p:nvSpPr>
        <p:spPr>
          <a:xfrm xmlns:a="http://schemas.openxmlformats.org/drawingml/2006/main">
            <a:off x="7200900" y="4314825"/>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0233F"/>
                </a:solidFill>
                <a:latin typeface="Arial"/>
                <a:ea typeface="Arial"/>
                <a:cs typeface="Arial"/>
              </a:defRPr>
            </a:pPr>
            <a:r>
              <a:rPr sz="1875" b="1">
                <a:solidFill>
                  <a:srgbClr val="10233F"/>
                </a:solidFill>
                <a:latin typeface="Arial"/>
                <a:ea typeface="Arial"/>
                <a:cs typeface="Arial"/>
              </a:rPr>
              <a:t>Approximately spherical</a:t>
            </a:r>
          </a:p>
        </p:txBody>
      </p:sp>
      <p:sp>
        <p:nvSpPr>
          <p:cNvPr id="15" name="move detail 2">
            <a:extLst xmlns:a="http://schemas.openxmlformats.org/drawingml/2006/main">
              <a:ext uri="{FF2B5EF4-FFF2-40B4-BE49-F238E27FC236}">
                <a16:creationId xmlns:a16="http://schemas.microsoft.com/office/drawing/2014/main" id="{705AA90E-7111-4AFA-AF4B-673838D5FD9F}"/>
              </a:ext>
            </a:extLst>
          </p:cNvPr>
          <p:cNvSpPr>
            <a:spLocks xmlns:a="http://schemas.openxmlformats.org/drawingml/2006/main" noGrp="1"/>
          </p:cNvSpPr>
          <p:nvPr/>
        </p:nvSpPr>
        <p:spPr>
          <a:xfrm xmlns:a="http://schemas.openxmlformats.org/drawingml/2006/main">
            <a:off x="7200900" y="4657725"/>
            <a:ext cx="390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10233F"/>
                </a:solidFill>
                <a:latin typeface="Arial"/>
                <a:ea typeface="Arial"/>
                <a:cs typeface="Arial"/>
              </a:defRPr>
            </a:pPr>
            <a:r>
              <a:rPr sz="1425" b="0">
                <a:solidFill>
                  <a:srgbClr val="10233F"/>
                </a:solidFill>
                <a:latin typeface="Arial"/>
                <a:ea typeface="Arial"/>
                <a:cs typeface="Arial"/>
              </a:rPr>
              <a:t>use evidence</a:t>
            </a:r>
          </a:p>
        </p:txBody>
      </p:sp>
      <p:sp>
        <p:nvSpPr>
          <p:cNvPr id="16" name="HTML link">
            <a:extLst xmlns:a="http://schemas.openxmlformats.org/drawingml/2006/main">
              <a:ext uri="{FF2B5EF4-FFF2-40B4-BE49-F238E27FC236}">
                <a16:creationId xmlns:a16="http://schemas.microsoft.com/office/drawing/2014/main" id="{19D3A52C-4913-405D-B1DA-480A8329C626}"/>
              </a:ext>
            </a:extLst>
          </p:cNvPr>
          <p:cNvSpPr>
            <a:spLocks xmlns:a="http://schemas.openxmlformats.org/drawingml/2006/main" noGrp="1"/>
          </p:cNvSpPr>
          <p:nvPr/>
        </p:nvSpPr>
        <p:spPr>
          <a:xfrm xmlns:a="http://schemas.openxmlformats.org/drawingml/2006/main">
            <a:off x="762000" y="5495925"/>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3F7D6E"/>
                </a:solidFill>
                <a:latin typeface="Arial"/>
                <a:ea typeface="Arial"/>
                <a:cs typeface="Arial"/>
              </a:defRPr>
            </a:pPr>
            <a:r>
              <a:rPr sz="1575" b="1">
                <a:solidFill>
                  <a:srgbClr val="3F7D6E"/>
                </a:solidFill>
                <a:latin typeface="Arial"/>
                <a:ea typeface="Arial"/>
                <a:cs typeface="Arial"/>
                <a:hlinkClick xmlns:r="http://schemas.openxmlformats.org/officeDocument/2006/relationships" r:id="Rd63b81b5e65a4b74"/>
              </a:rPr>
              <a:t>Open the original interactive lesson</a:t>
            </a:r>
          </a:p>
        </p:txBody>
      </p:sp>
      <p:sp>
        <p:nvSpPr>
          <p:cNvPr id="17" name="time">
            <a:extLst xmlns:a="http://schemas.openxmlformats.org/drawingml/2006/main">
              <a:ext uri="{FF2B5EF4-FFF2-40B4-BE49-F238E27FC236}">
                <a16:creationId xmlns:a16="http://schemas.microsoft.com/office/drawing/2014/main" id="{4BE8D76D-D4F1-4479-9614-98E90F7AA8EC}"/>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40 MINUTES</a:t>
            </a:r>
          </a:p>
        </p:txBody>
      </p:sp>
      <p:sp>
        <p:nvSpPr>
          <p:cNvPr id="18" name="number">
            <a:extLst xmlns:a="http://schemas.openxmlformats.org/drawingml/2006/main">
              <a:ext uri="{FF2B5EF4-FFF2-40B4-BE49-F238E27FC236}">
                <a16:creationId xmlns:a16="http://schemas.microsoft.com/office/drawing/2014/main" id="{B247A6B8-63A1-4635-8C73-E6EA4F3FE7E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 / 17</a:t>
            </a:r>
          </a:p>
        </p:txBody>
      </p:sp>
    </p:spTree>
    <p:extLst>
      <p:ext uri="{BB962C8B-B14F-4D97-AF65-F5344CB8AC3E}">
        <p14:creationId xmlns:p14="http://schemas.microsoft.com/office/powerpoint/2010/main" val="1385633528"/>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B954E382-2FC5-456F-8757-35BBFB46DE5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1213C93-61FF-407C-ABC5-5B20234F070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004BDD9C-004F-4E5B-8AD3-2E71964AB77F}"/>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OVERVIEW</a:t>
            </a:r>
          </a:p>
        </p:txBody>
      </p:sp>
      <p:sp>
        <p:nvSpPr>
          <p:cNvPr id="4" name="title">
            <a:extLst xmlns:a="http://schemas.openxmlformats.org/drawingml/2006/main">
              <a:ext uri="{FF2B5EF4-FFF2-40B4-BE49-F238E27FC236}">
                <a16:creationId xmlns:a16="http://schemas.microsoft.com/office/drawing/2014/main" id="{2E5B5181-D1E1-4E3D-830B-02739B98D668}"/>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What success looks like</a:t>
            </a:r>
          </a:p>
        </p:txBody>
      </p:sp>
      <p:sp>
        <p:nvSpPr>
          <p:cNvPr id="5" name="paper panel">
            <a:extLst xmlns:a="http://schemas.openxmlformats.org/drawingml/2006/main">
              <a:ext uri="{FF2B5EF4-FFF2-40B4-BE49-F238E27FC236}">
                <a16:creationId xmlns:a16="http://schemas.microsoft.com/office/drawing/2014/main" id="{AA9250E3-E000-4CBC-A99F-CC9997D3FC5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1AD09BF-F3F4-4D44-9296-3276742A1B7F}"/>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Distinguish a flat disc from a three-dimensional sphere.</a:t>
            </a:r>
          </a:p>
        </p:txBody>
      </p:sp>
      <p:sp>
        <p:nvSpPr>
          <p:cNvPr id="7" name="content 1">
            <a:extLst xmlns:a="http://schemas.openxmlformats.org/drawingml/2006/main">
              <a:ext uri="{FF2B5EF4-FFF2-40B4-BE49-F238E27FC236}">
                <a16:creationId xmlns:a16="http://schemas.microsoft.com/office/drawing/2014/main" id="{C70700D2-C9F6-449C-ADA0-F649E4BE2517}"/>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Use more than one viewpoint as shape evidence.</a:t>
            </a:r>
          </a:p>
        </p:txBody>
      </p:sp>
      <p:sp>
        <p:nvSpPr>
          <p:cNvPr id="8" name="content 2">
            <a:extLst xmlns:a="http://schemas.openxmlformats.org/drawingml/2006/main">
              <a:ext uri="{FF2B5EF4-FFF2-40B4-BE49-F238E27FC236}">
                <a16:creationId xmlns:a16="http://schemas.microsoft.com/office/drawing/2014/main" id="{EF921418-FC8C-495B-8885-E2EC15E802EB}"/>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Explain why approximately spherical is more accurate than perfect sphere.</a:t>
            </a:r>
          </a:p>
        </p:txBody>
      </p:sp>
      <p:sp>
        <p:nvSpPr>
          <p:cNvPr id="9" name="time">
            <a:extLst xmlns:a="http://schemas.openxmlformats.org/drawingml/2006/main">
              <a:ext uri="{FF2B5EF4-FFF2-40B4-BE49-F238E27FC236}">
                <a16:creationId xmlns:a16="http://schemas.microsoft.com/office/drawing/2014/main" id="{C14F912E-DB3B-4442-BA1F-B36C5695FAE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40 MINUTES</a:t>
            </a:r>
          </a:p>
        </p:txBody>
      </p:sp>
      <p:sp>
        <p:nvSpPr>
          <p:cNvPr id="10" name="number">
            <a:extLst xmlns:a="http://schemas.openxmlformats.org/drawingml/2006/main">
              <a:ext uri="{FF2B5EF4-FFF2-40B4-BE49-F238E27FC236}">
                <a16:creationId xmlns:a16="http://schemas.microsoft.com/office/drawing/2014/main" id="{A883C8A6-7342-4761-B25A-6F5391E73CC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 / 17</a:t>
            </a:r>
          </a:p>
        </p:txBody>
      </p:sp>
    </p:spTree>
    <p:extLst>
      <p:ext uri="{BB962C8B-B14F-4D97-AF65-F5344CB8AC3E}">
        <p14:creationId xmlns:p14="http://schemas.microsoft.com/office/powerpoint/2010/main" val="1959724801"/>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C0BCC1CE-928A-46DF-AB22-CE31F93A292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6DABC7A-3CFB-4D5B-B20A-F45495AB4354}"/>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7001ADDF-FC3A-4B6C-A656-2EEA76A933C6}"/>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C43C2587-2229-45E4-97B7-C01A8CD226B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Retrieve and reconnect</a:t>
            </a:r>
          </a:p>
        </p:txBody>
      </p:sp>
      <p:sp>
        <p:nvSpPr>
          <p:cNvPr id="5" name="paper panel">
            <a:extLst xmlns:a="http://schemas.openxmlformats.org/drawingml/2006/main">
              <a:ext uri="{FF2B5EF4-FFF2-40B4-BE49-F238E27FC236}">
                <a16:creationId xmlns:a16="http://schemas.microsoft.com/office/drawing/2014/main" id="{D1131D48-35F0-497B-8C16-1500B746804C}"/>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34EA5076-51A5-42E3-B292-07677453BA4B}"/>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Last lesson: why did the globe model have a day side and a night side?</a:t>
            </a:r>
          </a:p>
        </p:txBody>
      </p:sp>
      <p:sp>
        <p:nvSpPr>
          <p:cNvPr id="7" name="content 1">
            <a:extLst xmlns:a="http://schemas.openxmlformats.org/drawingml/2006/main">
              <a:ext uri="{FF2B5EF4-FFF2-40B4-BE49-F238E27FC236}">
                <a16:creationId xmlns:a16="http://schemas.microsoft.com/office/drawing/2014/main" id="{3BAA8133-F4A3-47E4-93A8-705D268B5F3E}"/>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Last week: what stayed fixed while Earth rotated?</a:t>
            </a:r>
          </a:p>
        </p:txBody>
      </p:sp>
      <p:sp>
        <p:nvSpPr>
          <p:cNvPr id="8" name="content 2">
            <a:extLst xmlns:a="http://schemas.openxmlformats.org/drawingml/2006/main">
              <a:ext uri="{FF2B5EF4-FFF2-40B4-BE49-F238E27FC236}">
                <a16:creationId xmlns:a16="http://schemas.microsoft.com/office/drawing/2014/main" id="{F999A355-1206-4B9B-B21C-B91C80CC7635}"/>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Earlier space learning: name the three bodies in the Sun-Earth-Moon system.</a:t>
            </a:r>
          </a:p>
        </p:txBody>
      </p:sp>
      <p:sp>
        <p:nvSpPr>
          <p:cNvPr id="9" name="content 3">
            <a:extLst xmlns:a="http://schemas.openxmlformats.org/drawingml/2006/main">
              <a:ext uri="{FF2B5EF4-FFF2-40B4-BE49-F238E27FC236}">
                <a16:creationId xmlns:a16="http://schemas.microsoft.com/office/drawing/2014/main" id="{F8E0E8BC-27DB-41C6-9390-9D6824D48F8B}"/>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Lead-in: how could a disc and sphere both look circular from one viewpoint?</a:t>
            </a:r>
          </a:p>
        </p:txBody>
      </p:sp>
      <p:sp>
        <p:nvSpPr>
          <p:cNvPr id="10" name="time">
            <a:extLst xmlns:a="http://schemas.openxmlformats.org/drawingml/2006/main">
              <a:ext uri="{FF2B5EF4-FFF2-40B4-BE49-F238E27FC236}">
                <a16:creationId xmlns:a16="http://schemas.microsoft.com/office/drawing/2014/main" id="{0D70F4ED-0C42-4764-8736-2BAAE65638C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4 min across this stage</a:t>
            </a:r>
          </a:p>
        </p:txBody>
      </p:sp>
      <p:sp>
        <p:nvSpPr>
          <p:cNvPr id="11" name="number">
            <a:extLst xmlns:a="http://schemas.openxmlformats.org/drawingml/2006/main">
              <a:ext uri="{FF2B5EF4-FFF2-40B4-BE49-F238E27FC236}">
                <a16:creationId xmlns:a16="http://schemas.microsoft.com/office/drawing/2014/main" id="{911CEB0F-162C-4C6D-8A80-97E5D82B7EE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3 / 17</a:t>
            </a:r>
          </a:p>
        </p:txBody>
      </p:sp>
    </p:spTree>
    <p:extLst>
      <p:ext uri="{BB962C8B-B14F-4D97-AF65-F5344CB8AC3E}">
        <p14:creationId xmlns:p14="http://schemas.microsoft.com/office/powerpoint/2010/main" val="1404135659"/>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C5312525-04C8-4170-BA09-5EBDDB42278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9EB4156-8920-4F53-A2B7-CA380BBE973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B3C64C55-6619-4B44-94AA-4C5CA1CF413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2A4FC02E-43E9-4EA0-8C03-93FDCA7328A3}"/>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A distant body looks like a circle in one photograph. What shape do you predict it is? First ideas are held, not marked.</a:t>
            </a:r>
          </a:p>
        </p:txBody>
      </p:sp>
      <p:sp>
        <p:nvSpPr>
          <p:cNvPr id="5" name="paper panel">
            <a:extLst xmlns:a="http://schemas.openxmlformats.org/drawingml/2006/main">
              <a:ext uri="{FF2B5EF4-FFF2-40B4-BE49-F238E27FC236}">
                <a16:creationId xmlns:a16="http://schemas.microsoft.com/office/drawing/2014/main" id="{7B19B3F6-CE0E-43C6-8B20-8C4821BABC0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DFE24AF-CCA7-4ADE-A484-673DDA8585A0}"/>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Think first. Point, say, sign or write your choice. Give one reason.</a:t>
            </a:r>
          </a:p>
        </p:txBody>
      </p:sp>
      <p:sp>
        <p:nvSpPr>
          <p:cNvPr id="7" name="content 1">
            <a:extLst xmlns:a="http://schemas.openxmlformats.org/drawingml/2006/main">
              <a:ext uri="{FF2B5EF4-FFF2-40B4-BE49-F238E27FC236}">
                <a16:creationId xmlns:a16="http://schemas.microsoft.com/office/drawing/2014/main" id="{A8C67C33-7EB4-4A26-A572-52E3134CF114}"/>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It must be a flat disc.</a:t>
            </a:r>
          </a:p>
        </p:txBody>
      </p:sp>
      <p:sp>
        <p:nvSpPr>
          <p:cNvPr id="8" name="content 2">
            <a:extLst xmlns:a="http://schemas.openxmlformats.org/drawingml/2006/main">
              <a:ext uri="{FF2B5EF4-FFF2-40B4-BE49-F238E27FC236}">
                <a16:creationId xmlns:a16="http://schemas.microsoft.com/office/drawing/2014/main" id="{9C3A56F8-4835-485D-BA8A-04C70FC2894F}"/>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It must be a sphere.</a:t>
            </a:r>
          </a:p>
        </p:txBody>
      </p:sp>
      <p:sp>
        <p:nvSpPr>
          <p:cNvPr id="9" name="content 3">
            <a:extLst xmlns:a="http://schemas.openxmlformats.org/drawingml/2006/main">
              <a:ext uri="{FF2B5EF4-FFF2-40B4-BE49-F238E27FC236}">
                <a16:creationId xmlns:a16="http://schemas.microsoft.com/office/drawing/2014/main" id="{B7FB376F-3BDF-409E-ABED-444E6C318801}"/>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One view is not enough; collect shape evidence from other views.</a:t>
            </a:r>
          </a:p>
        </p:txBody>
      </p:sp>
      <p:sp>
        <p:nvSpPr>
          <p:cNvPr id="10" name="time">
            <a:extLst xmlns:a="http://schemas.openxmlformats.org/drawingml/2006/main">
              <a:ext uri="{FF2B5EF4-FFF2-40B4-BE49-F238E27FC236}">
                <a16:creationId xmlns:a16="http://schemas.microsoft.com/office/drawing/2014/main" id="{88694E83-DB3F-4D0C-A19E-54C8B5E2E86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4 min across this stage</a:t>
            </a:r>
          </a:p>
        </p:txBody>
      </p:sp>
      <p:sp>
        <p:nvSpPr>
          <p:cNvPr id="11" name="number">
            <a:extLst xmlns:a="http://schemas.openxmlformats.org/drawingml/2006/main">
              <a:ext uri="{FF2B5EF4-FFF2-40B4-BE49-F238E27FC236}">
                <a16:creationId xmlns:a16="http://schemas.microsoft.com/office/drawing/2014/main" id="{3955EBAE-82D5-47FD-AF51-128D575C4C28}"/>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 / 17</a:t>
            </a:r>
          </a:p>
        </p:txBody>
      </p:sp>
    </p:spTree>
    <p:extLst>
      <p:ext uri="{BB962C8B-B14F-4D97-AF65-F5344CB8AC3E}">
        <p14:creationId xmlns:p14="http://schemas.microsoft.com/office/powerpoint/2010/main" val="2098186163"/>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EE37E2FB-362C-491A-8498-3F57D3B6310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9B026DA-8EDA-4896-8636-16AFFDF58AAF}"/>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94E5CC25-16E7-4F05-B7D3-51A6D9CDA34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44491FA7-70F1-4CA2-8013-BB17790583D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Look closely · what is the evidence?</a:t>
            </a:r>
          </a:p>
        </p:txBody>
      </p:sp>
      <p:sp>
        <p:nvSpPr>
          <p:cNvPr id="5" name="paper panel">
            <a:extLst xmlns:a="http://schemas.openxmlformats.org/drawingml/2006/main">
              <a:ext uri="{FF2B5EF4-FFF2-40B4-BE49-F238E27FC236}">
                <a16:creationId xmlns:a16="http://schemas.microsoft.com/office/drawing/2014/main" id="{5029D1E7-5627-4122-9D6A-3C4A4EFA00A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417C6C34-0E34-4AEA-B224-5BEC83EFE0C6}"/>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Observation 1: Object A and Object B both have a round front outline.</a:t>
            </a:r>
          </a:p>
        </p:txBody>
      </p:sp>
      <p:sp>
        <p:nvSpPr>
          <p:cNvPr id="7" name="content 1">
            <a:extLst xmlns:a="http://schemas.openxmlformats.org/drawingml/2006/main">
              <a:ext uri="{FF2B5EF4-FFF2-40B4-BE49-F238E27FC236}">
                <a16:creationId xmlns:a16="http://schemas.microsoft.com/office/drawing/2014/main" id="{20342950-20C5-4325-878C-FAE87BF9FBE6}"/>
              </a:ext>
            </a:extLst>
          </p:cNvPr>
          <p:cNvSpPr>
            <a:spLocks xmlns:a="http://schemas.openxmlformats.org/drawingml/2006/main" noGrp="1"/>
          </p:cNvSpPr>
          <p:nvPr/>
        </p:nvSpPr>
        <p:spPr>
          <a:xfrm xmlns:a="http://schemas.openxmlformats.org/drawingml/2006/main">
            <a:off x="800100" y="26289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Observation 2: after a quarter turn, Object A looks oval and Object B still looks round.</a:t>
            </a:r>
          </a:p>
        </p:txBody>
      </p:sp>
      <p:sp>
        <p:nvSpPr>
          <p:cNvPr id="8" name="content 2">
            <a:extLst xmlns:a="http://schemas.openxmlformats.org/drawingml/2006/main">
              <a:ext uri="{FF2B5EF4-FFF2-40B4-BE49-F238E27FC236}">
                <a16:creationId xmlns:a16="http://schemas.microsoft.com/office/drawing/2014/main" id="{12A93397-A7A1-4965-81B4-D0662A22EA21}"/>
              </a:ext>
            </a:extLst>
          </p:cNvPr>
          <p:cNvSpPr>
            <a:spLocks xmlns:a="http://schemas.openxmlformats.org/drawingml/2006/main" noGrp="1"/>
          </p:cNvSpPr>
          <p:nvPr/>
        </p:nvSpPr>
        <p:spPr>
          <a:xfrm xmlns:a="http://schemas.openxmlformats.org/drawingml/2006/main">
            <a:off x="800100" y="34194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Observation 3: from the edge direction, Object A is a thin line and Object B still looks round.</a:t>
            </a:r>
          </a:p>
        </p:txBody>
      </p:sp>
      <p:sp>
        <p:nvSpPr>
          <p:cNvPr id="9" name="time">
            <a:extLst xmlns:a="http://schemas.openxmlformats.org/drawingml/2006/main">
              <a:ext uri="{FF2B5EF4-FFF2-40B4-BE49-F238E27FC236}">
                <a16:creationId xmlns:a16="http://schemas.microsoft.com/office/drawing/2014/main" id="{8C6F051B-5B8B-4099-A0F1-968714B774FC}"/>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4 min across this stage</a:t>
            </a:r>
          </a:p>
        </p:txBody>
      </p:sp>
      <p:sp>
        <p:nvSpPr>
          <p:cNvPr id="10" name="number">
            <a:extLst xmlns:a="http://schemas.openxmlformats.org/drawingml/2006/main">
              <a:ext uri="{FF2B5EF4-FFF2-40B4-BE49-F238E27FC236}">
                <a16:creationId xmlns:a16="http://schemas.microsoft.com/office/drawing/2014/main" id="{0C8CB625-723D-4CB5-A5E6-5A79E4180E0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5 / 17</a:t>
            </a:r>
          </a:p>
        </p:txBody>
      </p:sp>
    </p:spTree>
    <p:extLst>
      <p:ext uri="{BB962C8B-B14F-4D97-AF65-F5344CB8AC3E}">
        <p14:creationId xmlns:p14="http://schemas.microsoft.com/office/powerpoint/2010/main" val="1422014196"/>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FD29314C-3B96-4EB4-9349-3D9045D8DA3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C5349D6-4D55-4B3E-A407-58A89C42492D}"/>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C5B41C94-CA92-449F-9F0B-3AB20CD1508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35D8F86A-77C9-484C-9E4D-8EE27200EE1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Look closely · what is the evidence?</a:t>
            </a:r>
          </a:p>
        </p:txBody>
      </p:sp>
      <p:sp>
        <p:nvSpPr>
          <p:cNvPr id="5" name="paper panel">
            <a:extLst xmlns:a="http://schemas.openxmlformats.org/drawingml/2006/main">
              <a:ext uri="{FF2B5EF4-FFF2-40B4-BE49-F238E27FC236}">
                <a16:creationId xmlns:a16="http://schemas.microsoft.com/office/drawing/2014/main" id="{60C1C5F7-BDA0-42B7-9FC4-439920BB1FA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14aa732f27a4c56"/>
          <a:stretch xmlns:a="http://schemas.openxmlformats.org/drawingml/2006/main"/>
        </p:blipFill>
        <p:spPr>
          <a:xfrm xmlns:a="http://schemas.openxmlformats.org/drawingml/2006/main">
            <a:off x="800100" y="3031759"/>
            <a:ext cx="3378200" cy="1299308"/>
          </a:xfrm>
          <a:prstGeom xmlns:a="http://schemas.openxmlformats.org/drawingml/2006/main" prst="rect">
            <a:avLst/>
          </a:prstGeom>
        </p:spPr>
      </p:pic>
      <p:sp>
        <p:nvSpPr>
          <p:cNvPr id="7" name="visual caption 0">
            <a:extLst xmlns:a="http://schemas.openxmlformats.org/drawingml/2006/main">
              <a:ext uri="{FF2B5EF4-FFF2-40B4-BE49-F238E27FC236}">
                <a16:creationId xmlns:a16="http://schemas.microsoft.com/office/drawing/2014/main" id="{A86FAACE-C526-4183-AB51-B37D4AC00601}"/>
              </a:ext>
            </a:extLst>
          </p:cNvPr>
          <p:cNvSpPr>
            <a:spLocks xmlns:a="http://schemas.openxmlformats.org/drawingml/2006/main" noGrp="1"/>
          </p:cNvSpPr>
          <p:nvPr/>
        </p:nvSpPr>
        <p:spPr>
          <a:xfrm xmlns:a="http://schemas.openxmlformats.org/drawingml/2006/main">
            <a:off x="800100" y="5314950"/>
            <a:ext cx="3378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0233F"/>
                </a:solidFill>
                <a:latin typeface="Arial"/>
                <a:ea typeface="Arial"/>
                <a:cs typeface="Arial"/>
              </a:defRPr>
            </a:pPr>
            <a:r>
              <a:rPr sz="1500" b="0">
                <a:solidFill>
                  <a:srgbClr val="10233F"/>
                </a:solidFill>
                <a:latin typeface="Arial"/>
                <a:ea typeface="Arial"/>
                <a:cs typeface="Arial"/>
              </a:rPr>
              <a:t>A disc and a sphere both look round from the front</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ea3f8ac98924de9"/>
          <a:stretch xmlns:a="http://schemas.openxmlformats.org/drawingml/2006/main"/>
        </p:blipFill>
        <p:spPr>
          <a:xfrm xmlns:a="http://schemas.openxmlformats.org/drawingml/2006/main">
            <a:off x="4406900" y="3031759"/>
            <a:ext cx="3378200" cy="1299308"/>
          </a:xfrm>
          <a:prstGeom xmlns:a="http://schemas.openxmlformats.org/drawingml/2006/main" prst="rect">
            <a:avLst/>
          </a:prstGeom>
        </p:spPr>
      </p:pic>
      <p:sp>
        <p:nvSpPr>
          <p:cNvPr id="9" name="visual caption 1">
            <a:extLst xmlns:a="http://schemas.openxmlformats.org/drawingml/2006/main">
              <a:ext uri="{FF2B5EF4-FFF2-40B4-BE49-F238E27FC236}">
                <a16:creationId xmlns:a16="http://schemas.microsoft.com/office/drawing/2014/main" id="{955A7F15-198E-4697-9773-40E40F7AB75A}"/>
              </a:ext>
            </a:extLst>
          </p:cNvPr>
          <p:cNvSpPr>
            <a:spLocks xmlns:a="http://schemas.openxmlformats.org/drawingml/2006/main" noGrp="1"/>
          </p:cNvSpPr>
          <p:nvPr/>
        </p:nvSpPr>
        <p:spPr>
          <a:xfrm xmlns:a="http://schemas.openxmlformats.org/drawingml/2006/main">
            <a:off x="4406900" y="5314950"/>
            <a:ext cx="3378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0233F"/>
                </a:solidFill>
                <a:latin typeface="Arial"/>
                <a:ea typeface="Arial"/>
                <a:cs typeface="Arial"/>
              </a:defRPr>
            </a:pPr>
            <a:r>
              <a:rPr sz="1500" b="0">
                <a:solidFill>
                  <a:srgbClr val="10233F"/>
                </a:solidFill>
                <a:latin typeface="Arial"/>
                <a:ea typeface="Arial"/>
                <a:cs typeface="Arial"/>
              </a:rPr>
              <a:t>After a quarter turn the disc looks oval, the sphere still round</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8919743f15548ce"/>
          <a:stretch xmlns:a="http://schemas.openxmlformats.org/drawingml/2006/main"/>
        </p:blipFill>
        <p:spPr>
          <a:xfrm xmlns:a="http://schemas.openxmlformats.org/drawingml/2006/main">
            <a:off x="8013700" y="3031759"/>
            <a:ext cx="3378200" cy="1299308"/>
          </a:xfrm>
          <a:prstGeom xmlns:a="http://schemas.openxmlformats.org/drawingml/2006/main" prst="rect">
            <a:avLst/>
          </a:prstGeom>
        </p:spPr>
      </p:pic>
      <p:sp>
        <p:nvSpPr>
          <p:cNvPr id="11" name="visual caption 2">
            <a:extLst xmlns:a="http://schemas.openxmlformats.org/drawingml/2006/main">
              <a:ext uri="{FF2B5EF4-FFF2-40B4-BE49-F238E27FC236}">
                <a16:creationId xmlns:a16="http://schemas.microsoft.com/office/drawing/2014/main" id="{A4E48C48-41F0-4FA7-83E0-62CAD958A3DD}"/>
              </a:ext>
            </a:extLst>
          </p:cNvPr>
          <p:cNvSpPr>
            <a:spLocks xmlns:a="http://schemas.openxmlformats.org/drawingml/2006/main" noGrp="1"/>
          </p:cNvSpPr>
          <p:nvPr/>
        </p:nvSpPr>
        <p:spPr>
          <a:xfrm xmlns:a="http://schemas.openxmlformats.org/drawingml/2006/main">
            <a:off x="8013700" y="5314950"/>
            <a:ext cx="3378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0233F"/>
                </a:solidFill>
                <a:latin typeface="Arial"/>
                <a:ea typeface="Arial"/>
                <a:cs typeface="Arial"/>
              </a:defRPr>
            </a:pPr>
            <a:r>
              <a:rPr sz="1500" b="0">
                <a:solidFill>
                  <a:srgbClr val="10233F"/>
                </a:solidFill>
                <a:latin typeface="Arial"/>
                <a:ea typeface="Arial"/>
                <a:cs typeface="Arial"/>
              </a:rPr>
              <a:t>From the edge the disc is a line, the sphere still round</a:t>
            </a:r>
          </a:p>
        </p:txBody>
      </p:sp>
      <p:sp>
        <p:nvSpPr>
          <p:cNvPr id="12" name="time">
            <a:extLst xmlns:a="http://schemas.openxmlformats.org/drawingml/2006/main">
              <a:ext uri="{FF2B5EF4-FFF2-40B4-BE49-F238E27FC236}">
                <a16:creationId xmlns:a16="http://schemas.microsoft.com/office/drawing/2014/main" id="{56E47745-C438-45F4-A74B-DA8A39C7C671}"/>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4 min across this stage</a:t>
            </a:r>
          </a:p>
        </p:txBody>
      </p:sp>
      <p:sp>
        <p:nvSpPr>
          <p:cNvPr id="13" name="number">
            <a:extLst xmlns:a="http://schemas.openxmlformats.org/drawingml/2006/main">
              <a:ext uri="{FF2B5EF4-FFF2-40B4-BE49-F238E27FC236}">
                <a16:creationId xmlns:a16="http://schemas.microsoft.com/office/drawing/2014/main" id="{29A5C5EA-81B8-48DC-96BD-077761EAE5C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6 / 17</a:t>
            </a:r>
          </a:p>
        </p:txBody>
      </p:sp>
    </p:spTree>
    <p:extLst>
      <p:ext uri="{BB962C8B-B14F-4D97-AF65-F5344CB8AC3E}">
        <p14:creationId xmlns:p14="http://schemas.microsoft.com/office/powerpoint/2010/main" val="1790417542"/>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2BFCB19E-3043-4699-856D-252CD7BECD6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CB8CA39-6477-4AE0-8158-FCFF9AF6083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CF2345DE-83DE-4DA4-B3FB-EF32E7CB780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83BB67F5-836A-4F81-B834-C8D1E8817DEB}"/>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Words we will use</a:t>
            </a:r>
          </a:p>
        </p:txBody>
      </p:sp>
      <p:sp>
        <p:nvSpPr>
          <p:cNvPr id="5" name="paper panel">
            <a:extLst xmlns:a="http://schemas.openxmlformats.org/drawingml/2006/main">
              <a:ext uri="{FF2B5EF4-FFF2-40B4-BE49-F238E27FC236}">
                <a16:creationId xmlns:a16="http://schemas.microsoft.com/office/drawing/2014/main" id="{F236D91A-D68B-46A3-89C1-C4E5C8FC579D}"/>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3325A257-809E-482E-A870-F0D94F6BF4C1}"/>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sphere — ball shape</a:t>
            </a:r>
          </a:p>
        </p:txBody>
      </p:sp>
      <p:sp>
        <p:nvSpPr>
          <p:cNvPr id="7" name="content 1">
            <a:extLst xmlns:a="http://schemas.openxmlformats.org/drawingml/2006/main">
              <a:ext uri="{FF2B5EF4-FFF2-40B4-BE49-F238E27FC236}">
                <a16:creationId xmlns:a16="http://schemas.microsoft.com/office/drawing/2014/main" id="{F2560C24-E792-40BF-8A98-7F69A3F5E89F}"/>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disc — flat circle</a:t>
            </a:r>
          </a:p>
        </p:txBody>
      </p:sp>
      <p:sp>
        <p:nvSpPr>
          <p:cNvPr id="8" name="content 2">
            <a:extLst xmlns:a="http://schemas.openxmlformats.org/drawingml/2006/main">
              <a:ext uri="{FF2B5EF4-FFF2-40B4-BE49-F238E27FC236}">
                <a16:creationId xmlns:a16="http://schemas.microsoft.com/office/drawing/2014/main" id="{68B45845-6462-4D5B-8441-C1F85B992209}"/>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approximately — close to</a:t>
            </a:r>
          </a:p>
        </p:txBody>
      </p:sp>
      <p:sp>
        <p:nvSpPr>
          <p:cNvPr id="9" name="time">
            <a:extLst xmlns:a="http://schemas.openxmlformats.org/drawingml/2006/main">
              <a:ext uri="{FF2B5EF4-FFF2-40B4-BE49-F238E27FC236}">
                <a16:creationId xmlns:a16="http://schemas.microsoft.com/office/drawing/2014/main" id="{39F57B2A-AF6C-4CA7-B8E8-865F0C6D965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5 min across this stage</a:t>
            </a:r>
          </a:p>
        </p:txBody>
      </p:sp>
      <p:sp>
        <p:nvSpPr>
          <p:cNvPr id="10" name="number">
            <a:extLst xmlns:a="http://schemas.openxmlformats.org/drawingml/2006/main">
              <a:ext uri="{FF2B5EF4-FFF2-40B4-BE49-F238E27FC236}">
                <a16:creationId xmlns:a16="http://schemas.microsoft.com/office/drawing/2014/main" id="{B4D737C0-8A2A-4A40-BBEB-13B9B08CC88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7 / 17</a:t>
            </a:r>
          </a:p>
        </p:txBody>
      </p:sp>
    </p:spTree>
    <p:extLst>
      <p:ext uri="{BB962C8B-B14F-4D97-AF65-F5344CB8AC3E}">
        <p14:creationId xmlns:p14="http://schemas.microsoft.com/office/powerpoint/2010/main" val="527328577"/>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B018D1A9-AE02-48C2-BC4D-E5631FAAB6B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AB9BC64-E1F7-4543-8F6F-6EFBC6A4638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2629BB04-7D37-4C99-B47A-68745E5DA2DF}"/>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75A876CD-4F17-47EC-AFE0-C70A6C7340B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model</a:t>
            </a:r>
          </a:p>
        </p:txBody>
      </p:sp>
      <p:sp>
        <p:nvSpPr>
          <p:cNvPr id="5" name="paper panel">
            <a:extLst xmlns:a="http://schemas.openxmlformats.org/drawingml/2006/main">
              <a:ext uri="{FF2B5EF4-FFF2-40B4-BE49-F238E27FC236}">
                <a16:creationId xmlns:a16="http://schemas.microsoft.com/office/drawing/2014/main" id="{A741D50B-B553-49EB-B7E5-A0F429FAFB0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1076E62-A634-4FF0-907D-FE11573D236F}"/>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Hold a flat disc and a ball front-on. Record honestly that both outlines can look circular.</a:t>
            </a:r>
          </a:p>
        </p:txBody>
      </p:sp>
      <p:sp>
        <p:nvSpPr>
          <p:cNvPr id="7" name="content 1">
            <a:extLst xmlns:a="http://schemas.openxmlformats.org/drawingml/2006/main">
              <a:ext uri="{FF2B5EF4-FFF2-40B4-BE49-F238E27FC236}">
                <a16:creationId xmlns:a16="http://schemas.microsoft.com/office/drawing/2014/main" id="{869D7984-126F-4E85-81CF-3CC047B45C7B}"/>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Turn each object by a quarter turn and then edge-on. Record how the disc outline changes but the ball's outline stays round.</a:t>
            </a:r>
          </a:p>
        </p:txBody>
      </p:sp>
      <p:sp>
        <p:nvSpPr>
          <p:cNvPr id="8" name="content 2">
            <a:extLst xmlns:a="http://schemas.openxmlformats.org/drawingml/2006/main">
              <a:ext uri="{FF2B5EF4-FFF2-40B4-BE49-F238E27FC236}">
                <a16:creationId xmlns:a16="http://schemas.microsoft.com/office/drawing/2014/main" id="{3BC076D3-6114-4A47-935B-DE5A779A4867}"/>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Conclude from several views: repeated round outlines support a sphere; a single circle does not prove it.</a:t>
            </a:r>
          </a:p>
        </p:txBody>
      </p:sp>
      <p:sp>
        <p:nvSpPr>
          <p:cNvPr id="9" name="time">
            <a:extLst xmlns:a="http://schemas.openxmlformats.org/drawingml/2006/main">
              <a:ext uri="{FF2B5EF4-FFF2-40B4-BE49-F238E27FC236}">
                <a16:creationId xmlns:a16="http://schemas.microsoft.com/office/drawing/2014/main" id="{D65A1115-718E-4AF0-A82F-EE689E28B047}"/>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5 min across this stage</a:t>
            </a:r>
          </a:p>
        </p:txBody>
      </p:sp>
      <p:sp>
        <p:nvSpPr>
          <p:cNvPr id="10" name="number">
            <a:extLst xmlns:a="http://schemas.openxmlformats.org/drawingml/2006/main">
              <a:ext uri="{FF2B5EF4-FFF2-40B4-BE49-F238E27FC236}">
                <a16:creationId xmlns:a16="http://schemas.microsoft.com/office/drawing/2014/main" id="{5F4F8B0C-3ADA-4CB4-9E3F-1E6DBEE41890}"/>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8 / 17</a:t>
            </a:r>
          </a:p>
        </p:txBody>
      </p:sp>
    </p:spTree>
    <p:extLst>
      <p:ext uri="{BB962C8B-B14F-4D97-AF65-F5344CB8AC3E}">
        <p14:creationId xmlns:p14="http://schemas.microsoft.com/office/powerpoint/2010/main" val="1543334747"/>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80CCB856-28F9-4FBB-A524-19CDE77375F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42E9406-E808-471B-91CF-262F15FFF42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442D94BB-32BE-47B0-B086-92963613335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6D67076F-960C-4383-B54B-F01ACC3BBAA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model</a:t>
            </a:r>
          </a:p>
        </p:txBody>
      </p:sp>
      <p:sp>
        <p:nvSpPr>
          <p:cNvPr id="5" name="paper panel">
            <a:extLst xmlns:a="http://schemas.openxmlformats.org/drawingml/2006/main">
              <a:ext uri="{FF2B5EF4-FFF2-40B4-BE49-F238E27FC236}">
                <a16:creationId xmlns:a16="http://schemas.microsoft.com/office/drawing/2014/main" id="{D1523B53-2E32-443C-999C-1C5C1FF303C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b7f792b2de54ea6"/>
          <a:stretch xmlns:a="http://schemas.openxmlformats.org/drawingml/2006/main"/>
        </p:blipFill>
        <p:spPr>
          <a:xfrm xmlns:a="http://schemas.openxmlformats.org/drawingml/2006/main">
            <a:off x="2195513" y="2181225"/>
            <a:ext cx="7800975" cy="3000375"/>
          </a:xfrm>
          <a:prstGeom xmlns:a="http://schemas.openxmlformats.org/drawingml/2006/main" prst="rect">
            <a:avLst/>
          </a:prstGeom>
        </p:spPr>
      </p:pic>
      <p:sp>
        <p:nvSpPr>
          <p:cNvPr id="7" name="visual caption 0">
            <a:extLst xmlns:a="http://schemas.openxmlformats.org/drawingml/2006/main">
              <a:ext uri="{FF2B5EF4-FFF2-40B4-BE49-F238E27FC236}">
                <a16:creationId xmlns:a16="http://schemas.microsoft.com/office/drawing/2014/main" id="{6543BB42-79B3-43A3-B681-6BA9842DEA5F}"/>
              </a:ext>
            </a:extLst>
          </p:cNvPr>
          <p:cNvSpPr>
            <a:spLocks xmlns:a="http://schemas.openxmlformats.org/drawingml/2006/main" noGrp="1"/>
          </p:cNvSpPr>
          <p:nvPr/>
        </p:nvSpPr>
        <p:spPr>
          <a:xfrm xmlns:a="http://schemas.openxmlformats.org/drawingml/2006/main">
            <a:off x="800100" y="5314950"/>
            <a:ext cx="10591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33F"/>
                </a:solidFill>
                <a:latin typeface="Arial"/>
                <a:ea typeface="Arial"/>
                <a:cs typeface="Arial"/>
              </a:defRPr>
            </a:pPr>
            <a:r>
              <a:rPr sz="1725" b="0">
                <a:solidFill>
                  <a:srgbClr val="10233F"/>
                </a:solidFill>
                <a:latin typeface="Arial"/>
                <a:ea typeface="Arial"/>
                <a:cs typeface="Arial"/>
              </a:rPr>
              <a:t>A disc and a sphere seen from the chosen viewpoint</a:t>
            </a:r>
          </a:p>
        </p:txBody>
      </p:sp>
      <p:sp>
        <p:nvSpPr>
          <p:cNvPr id="8" name="time">
            <a:extLst xmlns:a="http://schemas.openxmlformats.org/drawingml/2006/main">
              <a:ext uri="{FF2B5EF4-FFF2-40B4-BE49-F238E27FC236}">
                <a16:creationId xmlns:a16="http://schemas.microsoft.com/office/drawing/2014/main" id="{74B4E4F8-AD7A-489D-A0D8-A799A7F6787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5 min across this stage</a:t>
            </a:r>
          </a:p>
        </p:txBody>
      </p:sp>
      <p:sp>
        <p:nvSpPr>
          <p:cNvPr id="9" name="number">
            <a:extLst xmlns:a="http://schemas.openxmlformats.org/drawingml/2006/main">
              <a:ext uri="{FF2B5EF4-FFF2-40B4-BE49-F238E27FC236}">
                <a16:creationId xmlns:a16="http://schemas.microsoft.com/office/drawing/2014/main" id="{BB0AAADF-798B-4927-8359-D4926090C21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9 / 17</a:t>
            </a:r>
          </a:p>
        </p:txBody>
      </p:sp>
    </p:spTree>
    <p:extLst>
      <p:ext uri="{BB962C8B-B14F-4D97-AF65-F5344CB8AC3E}">
        <p14:creationId xmlns:p14="http://schemas.microsoft.com/office/powerpoint/2010/main" val="1121167627"/>
      </p:ext>
    </p:extLst>
  </p:cSld>
</p:sld>
</file>

<file path=ppt/slides/slide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5064030F-3114-4627-B4E2-574D95121B1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696904B-5782-422C-8071-6E83231D868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3FD78C12-ACDF-4F91-B923-5191654CCC45}"/>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WE DO</a:t>
            </a:r>
          </a:p>
        </p:txBody>
      </p:sp>
      <p:sp>
        <p:nvSpPr>
          <p:cNvPr id="4" name="title">
            <a:extLst xmlns:a="http://schemas.openxmlformats.org/drawingml/2006/main">
              <a:ext uri="{FF2B5EF4-FFF2-40B4-BE49-F238E27FC236}">
                <a16:creationId xmlns:a16="http://schemas.microsoft.com/office/drawing/2014/main" id="{37236F16-FDBC-4106-8761-60F81BB410F8}"/>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Which observation best separates a sphere from a flat disc?</a:t>
            </a:r>
          </a:p>
        </p:txBody>
      </p:sp>
      <p:sp>
        <p:nvSpPr>
          <p:cNvPr id="5" name="paper panel">
            <a:extLst xmlns:a="http://schemas.openxmlformats.org/drawingml/2006/main">
              <a:ext uri="{FF2B5EF4-FFF2-40B4-BE49-F238E27FC236}">
                <a16:creationId xmlns:a16="http://schemas.microsoft.com/office/drawing/2014/main" id="{71EB7838-A0FB-4ED4-ACB4-A1D47905303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B070BB7B-7B95-4DF1-8E27-507852A4D6CA}"/>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Both look circular from directly in front.</a:t>
            </a:r>
          </a:p>
        </p:txBody>
      </p:sp>
      <p:sp>
        <p:nvSpPr>
          <p:cNvPr id="7" name="content 1">
            <a:extLst xmlns:a="http://schemas.openxmlformats.org/drawingml/2006/main">
              <a:ext uri="{FF2B5EF4-FFF2-40B4-BE49-F238E27FC236}">
                <a16:creationId xmlns:a16="http://schemas.microsoft.com/office/drawing/2014/main" id="{D2C2DF8F-4C1F-4F19-8857-C549F37A12DE}"/>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The sphere keeps a round outline when turned; the disc narrows.</a:t>
            </a:r>
          </a:p>
        </p:txBody>
      </p:sp>
      <p:sp>
        <p:nvSpPr>
          <p:cNvPr id="8" name="content 2">
            <a:extLst xmlns:a="http://schemas.openxmlformats.org/drawingml/2006/main">
              <a:ext uri="{FF2B5EF4-FFF2-40B4-BE49-F238E27FC236}">
                <a16:creationId xmlns:a16="http://schemas.microsoft.com/office/drawing/2014/main" id="{30B2DC41-FE45-47A2-9D65-DC807D70F809}"/>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Both can roll in some way.</a:t>
            </a:r>
          </a:p>
        </p:txBody>
      </p:sp>
      <p:sp>
        <p:nvSpPr>
          <p:cNvPr id="9" name="content 3">
            <a:extLst xmlns:a="http://schemas.openxmlformats.org/drawingml/2006/main">
              <a:ext uri="{FF2B5EF4-FFF2-40B4-BE49-F238E27FC236}">
                <a16:creationId xmlns:a16="http://schemas.microsoft.com/office/drawing/2014/main" id="{931D446C-91F1-4858-BAEA-6196CC30783C}"/>
              </a:ext>
            </a:extLst>
          </p:cNvPr>
          <p:cNvSpPr>
            <a:spLocks xmlns:a="http://schemas.openxmlformats.org/drawingml/2006/main" noGrp="1"/>
          </p:cNvSpPr>
          <p:nvPr/>
        </p:nvSpPr>
        <p:spPr>
          <a:xfrm xmlns:a="http://schemas.openxmlformats.org/drawingml/2006/main">
            <a:off x="800100" y="35433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Commit to an answer. Show the evidence you used. Listen, then revise if needed.</a:t>
            </a:r>
          </a:p>
        </p:txBody>
      </p:sp>
      <p:sp>
        <p:nvSpPr>
          <p:cNvPr id="10" name="time">
            <a:extLst xmlns:a="http://schemas.openxmlformats.org/drawingml/2006/main">
              <a:ext uri="{FF2B5EF4-FFF2-40B4-BE49-F238E27FC236}">
                <a16:creationId xmlns:a16="http://schemas.microsoft.com/office/drawing/2014/main" id="{D188BBB3-5EB6-4DE9-9735-50821AB2DD23}"/>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 5 min across this stage</a:t>
            </a:r>
          </a:p>
        </p:txBody>
      </p:sp>
      <p:sp>
        <p:nvSpPr>
          <p:cNvPr id="11" name="number">
            <a:extLst xmlns:a="http://schemas.openxmlformats.org/drawingml/2006/main">
              <a:ext uri="{FF2B5EF4-FFF2-40B4-BE49-F238E27FC236}">
                <a16:creationId xmlns:a16="http://schemas.microsoft.com/office/drawing/2014/main" id="{BA747A4C-AAEE-4092-B82D-2B71BE95D71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10 / 17</a:t>
            </a:r>
          </a:p>
        </p:txBody>
      </p:sp>
    </p:spTree>
    <p:extLst>
      <p:ext uri="{BB962C8B-B14F-4D97-AF65-F5344CB8AC3E}">
        <p14:creationId xmlns:p14="http://schemas.microsoft.com/office/powerpoint/2010/main" val="503514382"/>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A1CF9EBC-14A7-4D3A-8E47-5FAC8531E65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61015626-BB07-40B4-B8A4-4DAB9D0722B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E52C50F6-61C9-4B8F-8147-A12F8F654B8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6F5C9BE1-A871-4BCB-B1E1-1A394931BF8B}"/>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Build the explanation</a:t>
            </a:r>
          </a:p>
        </p:txBody>
      </p:sp>
      <p:sp>
        <p:nvSpPr>
          <p:cNvPr id="5" name="paper panel">
            <a:extLst xmlns:a="http://schemas.openxmlformats.org/drawingml/2006/main">
              <a:ext uri="{FF2B5EF4-FFF2-40B4-BE49-F238E27FC236}">
                <a16:creationId xmlns:a16="http://schemas.microsoft.com/office/drawing/2014/main" id="{84FE85EE-6E82-4BE1-9DFD-053F97D0DF2D}"/>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1DF70CF-12B0-466A-BCC1-BA37E76D1985}"/>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The ball-and-disc test shows what two shapes can look like, but it is only a model. Check it against real observations.</a:t>
            </a:r>
          </a:p>
        </p:txBody>
      </p:sp>
      <p:sp>
        <p:nvSpPr>
          <p:cNvPr id="7" name="content 1">
            <a:extLst xmlns:a="http://schemas.openxmlformats.org/drawingml/2006/main">
              <a:ext uri="{FF2B5EF4-FFF2-40B4-BE49-F238E27FC236}">
                <a16:creationId xmlns:a16="http://schemas.microsoft.com/office/drawing/2014/main" id="{F7C5849C-C186-4D4F-B8AF-B82A8C8687DA}"/>
              </a:ext>
            </a:extLst>
          </p:cNvPr>
          <p:cNvSpPr>
            <a:spLocks xmlns:a="http://schemas.openxmlformats.org/drawingml/2006/main" noGrp="1"/>
          </p:cNvSpPr>
          <p:nvPr/>
        </p:nvSpPr>
        <p:spPr>
          <a:xfrm xmlns:a="http://schemas.openxmlformats.org/drawingml/2006/main">
            <a:off x="800100" y="296227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Real Earth and Moon evidence: changing spacecraft views keep showing round whole-body outlines. During a lunar eclipse, Earth's shadow on the Moon is curved.</a:t>
            </a:r>
          </a:p>
        </p:txBody>
      </p:sp>
      <p:sp>
        <p:nvSpPr>
          <p:cNvPr id="8" name="content 2">
            <a:extLst xmlns:a="http://schemas.openxmlformats.org/drawingml/2006/main">
              <a:ext uri="{FF2B5EF4-FFF2-40B4-BE49-F238E27FC236}">
                <a16:creationId xmlns:a16="http://schemas.microsoft.com/office/drawing/2014/main" id="{048E5657-7BAD-4046-9190-7B6A16CBAEE7}"/>
              </a:ext>
            </a:extLst>
          </p:cNvPr>
          <p:cNvSpPr>
            <a:spLocks xmlns:a="http://schemas.openxmlformats.org/drawingml/2006/main" noGrp="1"/>
          </p:cNvSpPr>
          <p:nvPr/>
        </p:nvSpPr>
        <p:spPr>
          <a:xfrm xmlns:a="http://schemas.openxmlformats.org/drawingml/2006/main">
            <a:off x="800100" y="4086225"/>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Real Sun evidence: its edge is curved and features move across its face as it rotates. Together the observations support approximately spherical bodies; gravity makes large bodies nearly round, rotation slightly flattens them and surface features add small bumps.</a:t>
            </a:r>
          </a:p>
        </p:txBody>
      </p:sp>
      <p:sp>
        <p:nvSpPr>
          <p:cNvPr id="9" name="time">
            <a:extLst xmlns:a="http://schemas.openxmlformats.org/drawingml/2006/main">
              <a:ext uri="{FF2B5EF4-FFF2-40B4-BE49-F238E27FC236}">
                <a16:creationId xmlns:a16="http://schemas.microsoft.com/office/drawing/2014/main" id="{60D82823-3FDD-497D-95D8-B890A683C7BC}"/>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4 min across this stage</a:t>
            </a:r>
          </a:p>
        </p:txBody>
      </p:sp>
      <p:sp>
        <p:nvSpPr>
          <p:cNvPr id="10" name="number">
            <a:extLst xmlns:a="http://schemas.openxmlformats.org/drawingml/2006/main">
              <a:ext uri="{FF2B5EF4-FFF2-40B4-BE49-F238E27FC236}">
                <a16:creationId xmlns:a16="http://schemas.microsoft.com/office/drawing/2014/main" id="{59D1C2EE-FE63-4B00-8FC2-0C0DA5755F9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11 / 17</a:t>
            </a:r>
          </a:p>
        </p:txBody>
      </p:sp>
    </p:spTree>
    <p:extLst>
      <p:ext uri="{BB962C8B-B14F-4D97-AF65-F5344CB8AC3E}">
        <p14:creationId xmlns:p14="http://schemas.microsoft.com/office/powerpoint/2010/main" val="1405007646"/>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0524A4CE-2A8B-46A7-B831-6210721B839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913D719-7D57-4B4E-BBC2-DD93B86810C8}"/>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ECC3F917-8827-406E-8563-E8469DDBE431}"/>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3F24A1D1-FE2D-41BB-830E-FE9E40D3DEA6}"/>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Find and repair the misconception</a:t>
            </a:r>
          </a:p>
        </p:txBody>
      </p:sp>
      <p:sp>
        <p:nvSpPr>
          <p:cNvPr id="5" name="paper panel">
            <a:extLst xmlns:a="http://schemas.openxmlformats.org/drawingml/2006/main">
              <a:ext uri="{FF2B5EF4-FFF2-40B4-BE49-F238E27FC236}">
                <a16:creationId xmlns:a16="http://schemas.microsoft.com/office/drawing/2014/main" id="{5519A5FA-5468-4E50-8C7D-33BDC8242A3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6686A772-0ED3-447F-A5F5-C576AA93E363}"/>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Evidence glitch: Earth looks circular in one photograph, so that photograph proves it is a sphere.</a:t>
            </a:r>
          </a:p>
        </p:txBody>
      </p:sp>
      <p:sp>
        <p:nvSpPr>
          <p:cNvPr id="7" name="content 1">
            <a:extLst xmlns:a="http://schemas.openxmlformats.org/drawingml/2006/main">
              <a:ext uri="{FF2B5EF4-FFF2-40B4-BE49-F238E27FC236}">
                <a16:creationId xmlns:a16="http://schemas.microsoft.com/office/drawing/2014/main" id="{79D99AD6-9163-43E6-91B5-72D5A72E6DC9}"/>
              </a:ext>
            </a:extLst>
          </p:cNvPr>
          <p:cNvSpPr>
            <a:spLocks xmlns:a="http://schemas.openxmlformats.org/drawingml/2006/main" noGrp="1"/>
          </p:cNvSpPr>
          <p:nvPr/>
        </p:nvSpPr>
        <p:spPr>
          <a:xfrm xmlns:a="http://schemas.openxmlformats.org/drawingml/2006/main">
            <a:off x="800100" y="29622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Keep it: every circle must be a sphere.</a:t>
            </a:r>
          </a:p>
        </p:txBody>
      </p:sp>
      <p:sp>
        <p:nvSpPr>
          <p:cNvPr id="8" name="content 2">
            <a:extLst xmlns:a="http://schemas.openxmlformats.org/drawingml/2006/main">
              <a:ext uri="{FF2B5EF4-FFF2-40B4-BE49-F238E27FC236}">
                <a16:creationId xmlns:a16="http://schemas.microsoft.com/office/drawing/2014/main" id="{3C8D020C-5A3A-4D3C-A5B2-EA9F25BE1F72}"/>
              </a:ext>
            </a:extLst>
          </p:cNvPr>
          <p:cNvSpPr>
            <a:spLocks xmlns:a="http://schemas.openxmlformats.org/drawingml/2006/main" noGrp="1"/>
          </p:cNvSpPr>
          <p:nvPr/>
        </p:nvSpPr>
        <p:spPr>
          <a:xfrm xmlns:a="http://schemas.openxmlformats.org/drawingml/2006/main">
            <a:off x="800100" y="34194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Repair it: one view fits a disc too; combine evidence from different viewpoints.</a:t>
            </a:r>
          </a:p>
        </p:txBody>
      </p:sp>
      <p:sp>
        <p:nvSpPr>
          <p:cNvPr id="9" name="content 3">
            <a:extLst xmlns:a="http://schemas.openxmlformats.org/drawingml/2006/main">
              <a:ext uri="{FF2B5EF4-FFF2-40B4-BE49-F238E27FC236}">
                <a16:creationId xmlns:a16="http://schemas.microsoft.com/office/drawing/2014/main" id="{2FCA910C-E28C-46C5-9BA6-AE9C70D9769A}"/>
              </a:ext>
            </a:extLst>
          </p:cNvPr>
          <p:cNvSpPr>
            <a:spLocks xmlns:a="http://schemas.openxmlformats.org/drawingml/2006/main" noGrp="1"/>
          </p:cNvSpPr>
          <p:nvPr/>
        </p:nvSpPr>
        <p:spPr>
          <a:xfrm xmlns:a="http://schemas.openxmlformats.org/drawingml/2006/main">
            <a:off x="800100" y="42100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Repair it: every distant object is flat.</a:t>
            </a:r>
          </a:p>
        </p:txBody>
      </p:sp>
      <p:sp>
        <p:nvSpPr>
          <p:cNvPr id="10" name="time">
            <a:extLst xmlns:a="http://schemas.openxmlformats.org/drawingml/2006/main">
              <a:ext uri="{FF2B5EF4-FFF2-40B4-BE49-F238E27FC236}">
                <a16:creationId xmlns:a16="http://schemas.microsoft.com/office/drawing/2014/main" id="{2BD7886B-CC6C-4C61-AA3A-C668B00B4975}"/>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4 min across this stage</a:t>
            </a:r>
          </a:p>
        </p:txBody>
      </p:sp>
      <p:sp>
        <p:nvSpPr>
          <p:cNvPr id="11" name="number">
            <a:extLst xmlns:a="http://schemas.openxmlformats.org/drawingml/2006/main">
              <a:ext uri="{FF2B5EF4-FFF2-40B4-BE49-F238E27FC236}">
                <a16:creationId xmlns:a16="http://schemas.microsoft.com/office/drawing/2014/main" id="{54FEF41D-AF41-4A67-B912-A5A0312BE94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12 / 17</a:t>
            </a:r>
          </a:p>
        </p:txBody>
      </p:sp>
    </p:spTree>
    <p:extLst>
      <p:ext uri="{BB962C8B-B14F-4D97-AF65-F5344CB8AC3E}">
        <p14:creationId xmlns:p14="http://schemas.microsoft.com/office/powerpoint/2010/main" val="1342523962"/>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A07FACEF-DF8E-4589-9B7D-93ACF00962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F00445B-9DF4-43AB-B2DF-C80DA0D924D8}"/>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C9BED90A-DAF3-4CC0-8A85-8C320056D06E}"/>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4DC8D1F7-E2D6-48DB-A109-80CEFF42E368}"/>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Shape evidence sorter</a:t>
            </a:r>
          </a:p>
        </p:txBody>
      </p:sp>
      <p:sp>
        <p:nvSpPr>
          <p:cNvPr id="5" name="paper panel">
            <a:extLst xmlns:a="http://schemas.openxmlformats.org/drawingml/2006/main">
              <a:ext uri="{FF2B5EF4-FFF2-40B4-BE49-F238E27FC236}">
                <a16:creationId xmlns:a16="http://schemas.microsoft.com/office/drawing/2014/main" id="{0C223E64-7FF0-4544-8804-1DDF5984228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AF6B720-D991-4CE8-9828-A717B2BF9DA6}"/>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Sort model observations and real space evidence. Use both kinds before making the shape claim.</a:t>
            </a:r>
          </a:p>
        </p:txBody>
      </p:sp>
      <p:sp>
        <p:nvSpPr>
          <p:cNvPr id="7" name="content 1">
            <a:extLst xmlns:a="http://schemas.openxmlformats.org/drawingml/2006/main">
              <a:ext uri="{FF2B5EF4-FFF2-40B4-BE49-F238E27FC236}">
                <a16:creationId xmlns:a16="http://schemas.microsoft.com/office/drawing/2014/main" id="{A7D25769-8FF2-4C3C-B4EF-32036F4BEE9C}"/>
              </a:ext>
            </a:extLst>
          </p:cNvPr>
          <p:cNvSpPr>
            <a:spLocks xmlns:a="http://schemas.openxmlformats.org/drawingml/2006/main" noGrp="1"/>
          </p:cNvSpPr>
          <p:nvPr/>
        </p:nvSpPr>
        <p:spPr>
          <a:xfrm xmlns:a="http://schemas.openxmlformats.org/drawingml/2006/main">
            <a:off x="800100" y="29622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Select an observation card.</a:t>
            </a:r>
          </a:p>
        </p:txBody>
      </p:sp>
      <p:sp>
        <p:nvSpPr>
          <p:cNvPr id="8" name="content 2">
            <a:extLst xmlns:a="http://schemas.openxmlformats.org/drawingml/2006/main">
              <a:ext uri="{FF2B5EF4-FFF2-40B4-BE49-F238E27FC236}">
                <a16:creationId xmlns:a16="http://schemas.microsoft.com/office/drawing/2014/main" id="{B1C84606-E074-4E1A-BD83-925F3F837A51}"/>
              </a:ext>
            </a:extLst>
          </p:cNvPr>
          <p:cNvSpPr>
            <a:spLocks xmlns:a="http://schemas.openxmlformats.org/drawingml/2006/main" noGrp="1"/>
          </p:cNvSpPr>
          <p:nvPr/>
        </p:nvSpPr>
        <p:spPr>
          <a:xfrm xmlns:a="http://schemas.openxmlformats.org/drawingml/2006/main">
            <a:off x="800100" y="34194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Commit it to disc, sphere or real space evidence.</a:t>
            </a:r>
          </a:p>
        </p:txBody>
      </p:sp>
      <p:sp>
        <p:nvSpPr>
          <p:cNvPr id="9" name="content 3">
            <a:extLst xmlns:a="http://schemas.openxmlformats.org/drawingml/2006/main">
              <a:ext uri="{FF2B5EF4-FFF2-40B4-BE49-F238E27FC236}">
                <a16:creationId xmlns:a16="http://schemas.microsoft.com/office/drawing/2014/main" id="{7F2F0FBF-E88E-4BBD-87FF-D9743EA9BCE4}"/>
              </a:ext>
            </a:extLst>
          </p:cNvPr>
          <p:cNvSpPr>
            <a:spLocks xmlns:a="http://schemas.openxmlformats.org/drawingml/2006/main" noGrp="1"/>
          </p:cNvSpPr>
          <p:nvPr/>
        </p:nvSpPr>
        <p:spPr>
          <a:xfrm xmlns:a="http://schemas.openxmlformats.org/drawingml/2006/main">
            <a:off x="800100" y="38766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Use the feedback to compare what was seen.</a:t>
            </a:r>
          </a:p>
        </p:txBody>
      </p:sp>
      <p:sp>
        <p:nvSpPr>
          <p:cNvPr id="10" name="content 4">
            <a:extLst xmlns:a="http://schemas.openxmlformats.org/drawingml/2006/main">
              <a:ext uri="{FF2B5EF4-FFF2-40B4-BE49-F238E27FC236}">
                <a16:creationId xmlns:a16="http://schemas.microsoft.com/office/drawing/2014/main" id="{B3BB7995-F9D0-44A9-9104-2F4D3E50912C}"/>
              </a:ext>
            </a:extLst>
          </p:cNvPr>
          <p:cNvSpPr>
            <a:spLocks xmlns:a="http://schemas.openxmlformats.org/drawingml/2006/main" noGrp="1"/>
          </p:cNvSpPr>
          <p:nvPr/>
        </p:nvSpPr>
        <p:spPr>
          <a:xfrm xmlns:a="http://schemas.openxmlformats.org/drawingml/2006/main">
            <a:off x="800100" y="43338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Freeze model and real evidence, then state the shape claim.</a:t>
            </a:r>
          </a:p>
        </p:txBody>
      </p:sp>
      <p:sp>
        <p:nvSpPr>
          <p:cNvPr id="11" name="content 5">
            <a:extLst xmlns:a="http://schemas.openxmlformats.org/drawingml/2006/main">
              <a:ext uri="{FF2B5EF4-FFF2-40B4-BE49-F238E27FC236}">
                <a16:creationId xmlns:a16="http://schemas.microsoft.com/office/drawing/2014/main" id="{D47AB7BF-1B5D-48E6-8126-6A8406788E5B}"/>
              </a:ext>
            </a:extLst>
          </p:cNvPr>
          <p:cNvSpPr>
            <a:spLocks xmlns:a="http://schemas.openxmlformats.org/drawingml/2006/main" noGrp="1"/>
          </p:cNvSpPr>
          <p:nvPr/>
        </p:nvSpPr>
        <p:spPr>
          <a:xfrm xmlns:a="http://schemas.openxmlformats.org/drawingml/2006/main">
            <a:off x="800100" y="47910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the numbered cards in your pupil pack. Take turns to choose, justify and check. You may direct a partner to move a card.</a:t>
            </a:r>
          </a:p>
        </p:txBody>
      </p:sp>
      <p:sp>
        <p:nvSpPr>
          <p:cNvPr id="12" name="time">
            <a:extLst xmlns:a="http://schemas.openxmlformats.org/drawingml/2006/main">
              <a:ext uri="{FF2B5EF4-FFF2-40B4-BE49-F238E27FC236}">
                <a16:creationId xmlns:a16="http://schemas.microsoft.com/office/drawing/2014/main" id="{FAC182DA-24A9-4199-88E0-021EAFB2A960}"/>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3" name="number">
            <a:extLst xmlns:a="http://schemas.openxmlformats.org/drawingml/2006/main">
              <a:ext uri="{FF2B5EF4-FFF2-40B4-BE49-F238E27FC236}">
                <a16:creationId xmlns:a16="http://schemas.microsoft.com/office/drawing/2014/main" id="{F60666C7-2DB0-4A52-A60E-7F29C5BD8EB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13 / 17</a:t>
            </a:r>
          </a:p>
        </p:txBody>
      </p:sp>
    </p:spTree>
    <p:extLst>
      <p:ext uri="{BB962C8B-B14F-4D97-AF65-F5344CB8AC3E}">
        <p14:creationId xmlns:p14="http://schemas.microsoft.com/office/powerpoint/2010/main" val="359769389"/>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2661B83F-21A1-430E-8C8C-D948569246D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987149D-AF6A-4C2B-B435-1EC604D2049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A0C6396D-2201-487D-863F-4829920E2CB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42B6599E-72E4-4E82-86CD-66CE24D4344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Choose a group · defend your placement</a:t>
            </a:r>
          </a:p>
        </p:txBody>
      </p:sp>
      <p:sp>
        <p:nvSpPr>
          <p:cNvPr id="5" name="paper panel">
            <a:extLst xmlns:a="http://schemas.openxmlformats.org/drawingml/2006/main">
              <a:ext uri="{FF2B5EF4-FFF2-40B4-BE49-F238E27FC236}">
                <a16:creationId xmlns:a16="http://schemas.microsoft.com/office/drawing/2014/main" id="{4D9C7312-9CED-46D8-B441-9F713570E1A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DF9B1EA6-9A40-4FAD-997B-0C2D7049325B}"/>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Flat disc evidence</a:t>
            </a:r>
          </a:p>
        </p:txBody>
      </p:sp>
      <p:sp>
        <p:nvSpPr>
          <p:cNvPr id="7" name="content 1">
            <a:extLst xmlns:a="http://schemas.openxmlformats.org/drawingml/2006/main">
              <a:ext uri="{FF2B5EF4-FFF2-40B4-BE49-F238E27FC236}">
                <a16:creationId xmlns:a16="http://schemas.microsoft.com/office/drawing/2014/main" id="{5DFE8DC3-C607-4A11-8D60-39DBEBA1ACB6}"/>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Sphere model evidence</a:t>
            </a:r>
          </a:p>
        </p:txBody>
      </p:sp>
      <p:sp>
        <p:nvSpPr>
          <p:cNvPr id="8" name="content 2">
            <a:extLst xmlns:a="http://schemas.openxmlformats.org/drawingml/2006/main">
              <a:ext uri="{FF2B5EF4-FFF2-40B4-BE49-F238E27FC236}">
                <a16:creationId xmlns:a16="http://schemas.microsoft.com/office/drawing/2014/main" id="{847314CD-79F8-4F8A-8978-CA7CE3F1C369}"/>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Real space evidence</a:t>
            </a:r>
          </a:p>
        </p:txBody>
      </p:sp>
      <p:sp>
        <p:nvSpPr>
          <p:cNvPr id="9" name="content 3">
            <a:extLst xmlns:a="http://schemas.openxmlformats.org/drawingml/2006/main">
              <a:ext uri="{FF2B5EF4-FFF2-40B4-BE49-F238E27FC236}">
                <a16:creationId xmlns:a16="http://schemas.microsoft.com/office/drawing/2014/main" id="{E31AC81F-9973-4797-A6CA-E30C70021BF6}"/>
              </a:ext>
            </a:extLst>
          </p:cNvPr>
          <p:cNvSpPr>
            <a:spLocks xmlns:a="http://schemas.openxmlformats.org/drawingml/2006/main" noGrp="1"/>
          </p:cNvSpPr>
          <p:nvPr/>
        </p:nvSpPr>
        <p:spPr>
          <a:xfrm xmlns:a="http://schemas.openxmlformats.org/drawingml/2006/main">
            <a:off x="800100" y="35433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one model comparison and one real space observation to justify your conclusion.</a:t>
            </a:r>
          </a:p>
        </p:txBody>
      </p:sp>
      <p:sp>
        <p:nvSpPr>
          <p:cNvPr id="10" name="time">
            <a:extLst xmlns:a="http://schemas.openxmlformats.org/drawingml/2006/main">
              <a:ext uri="{FF2B5EF4-FFF2-40B4-BE49-F238E27FC236}">
                <a16:creationId xmlns:a16="http://schemas.microsoft.com/office/drawing/2014/main" id="{FE37C38B-17D6-4410-8C79-14F11E60638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1" name="number">
            <a:extLst xmlns:a="http://schemas.openxmlformats.org/drawingml/2006/main">
              <a:ext uri="{FF2B5EF4-FFF2-40B4-BE49-F238E27FC236}">
                <a16:creationId xmlns:a16="http://schemas.microsoft.com/office/drawing/2014/main" id="{094ECDA2-AC2E-4AF3-B185-607C2EE07037}"/>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14 / 17</a:t>
            </a:r>
          </a:p>
        </p:txBody>
      </p:sp>
    </p:spTree>
    <p:extLst>
      <p:ext uri="{BB962C8B-B14F-4D97-AF65-F5344CB8AC3E}">
        <p14:creationId xmlns:p14="http://schemas.microsoft.com/office/powerpoint/2010/main" val="1757336666"/>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25132133-7075-4A41-BA91-76B1A6EE01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AB0BC31-72A6-4886-BECC-34B658BC90D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D9B5A0A9-C3B5-489C-ABD0-471D9565CE1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5DEF15A8-586F-4142-B2EF-1B640D5A614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Your independent mission</a:t>
            </a:r>
          </a:p>
        </p:txBody>
      </p:sp>
      <p:sp>
        <p:nvSpPr>
          <p:cNvPr id="5" name="paper panel">
            <a:extLst xmlns:a="http://schemas.openxmlformats.org/drawingml/2006/main">
              <a:ext uri="{FF2B5EF4-FFF2-40B4-BE49-F238E27FC236}">
                <a16:creationId xmlns:a16="http://schemas.microsoft.com/office/drawing/2014/main" id="{545D74C7-7A35-4524-A2E6-A14BCCD1728D}"/>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3CCFF5C8-5EC9-4CE7-82C8-5A590CA42A87}"/>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Create a multi-view evidence case that distinguishes a disc from a sphere and applies the conclusion to the Sun, Earth and Moon.</a:t>
            </a:r>
          </a:p>
        </p:txBody>
      </p:sp>
      <p:sp>
        <p:nvSpPr>
          <p:cNvPr id="7" name="content 1">
            <a:extLst xmlns:a="http://schemas.openxmlformats.org/drawingml/2006/main">
              <a:ext uri="{FF2B5EF4-FFF2-40B4-BE49-F238E27FC236}">
                <a16:creationId xmlns:a16="http://schemas.microsoft.com/office/drawing/2014/main" id="{C315842B-A975-4CAB-8E8F-404D63A2793B}"/>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Record: A three-view model comparison, one cited real space observation and a conclusion naming the Sun, Earth and Moon as approximately spherical.</a:t>
            </a:r>
          </a:p>
        </p:txBody>
      </p:sp>
      <p:sp>
        <p:nvSpPr>
          <p:cNvPr id="8" name="time">
            <a:extLst xmlns:a="http://schemas.openxmlformats.org/drawingml/2006/main">
              <a:ext uri="{FF2B5EF4-FFF2-40B4-BE49-F238E27FC236}">
                <a16:creationId xmlns:a16="http://schemas.microsoft.com/office/drawing/2014/main" id="{2C9FC426-7432-4A53-B26C-A6F2F91ED715}"/>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10 min across this stage</a:t>
            </a:r>
          </a:p>
        </p:txBody>
      </p:sp>
      <p:sp>
        <p:nvSpPr>
          <p:cNvPr id="9" name="number">
            <a:extLst xmlns:a="http://schemas.openxmlformats.org/drawingml/2006/main">
              <a:ext uri="{FF2B5EF4-FFF2-40B4-BE49-F238E27FC236}">
                <a16:creationId xmlns:a16="http://schemas.microsoft.com/office/drawing/2014/main" id="{9FA0B476-662C-41D2-AA77-DB1626121AA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15 / 17</a:t>
            </a:r>
          </a:p>
        </p:txBody>
      </p:sp>
    </p:spTree>
    <p:extLst>
      <p:ext uri="{BB962C8B-B14F-4D97-AF65-F5344CB8AC3E}">
        <p14:creationId xmlns:p14="http://schemas.microsoft.com/office/powerpoint/2010/main" val="359307217"/>
      </p:ext>
    </p:extLst>
  </p:cSld>
</p:sld>
</file>

<file path=ppt/slides/slide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415E6C18-5A0C-4DC9-9BC9-91E52B5B237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AD173570-1205-4B34-AB89-4E91381053A3}"/>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4F81D53F-5B15-40C1-947C-2E1554C0A16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5B014360-A940-4F27-AF22-15BEEF7EAD9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Choose your support and challenge</a:t>
            </a:r>
          </a:p>
        </p:txBody>
      </p:sp>
      <p:sp>
        <p:nvSpPr>
          <p:cNvPr id="5" name="paper panel">
            <a:extLst xmlns:a="http://schemas.openxmlformats.org/drawingml/2006/main">
              <a:ext uri="{FF2B5EF4-FFF2-40B4-BE49-F238E27FC236}">
                <a16:creationId xmlns:a16="http://schemas.microsoft.com/office/drawing/2014/main" id="{DC9F80BC-923C-4CCB-91EC-DA5B1F35056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2DCFF7DD-7338-410D-920E-EC073AE5F96D}"/>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Supported: Sort six view cards, then complete: A disc changes from __ to __. A sphere stays __.</a:t>
            </a:r>
          </a:p>
        </p:txBody>
      </p:sp>
      <p:sp>
        <p:nvSpPr>
          <p:cNvPr id="7" name="content 1">
            <a:extLst xmlns:a="http://schemas.openxmlformats.org/drawingml/2006/main">
              <a:ext uri="{FF2B5EF4-FFF2-40B4-BE49-F238E27FC236}">
                <a16:creationId xmlns:a16="http://schemas.microsoft.com/office/drawing/2014/main" id="{609A93ED-238C-4304-A0BB-E69D4310D055}"/>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Standard: Record three views of each model, then add one real space observation before making the shape claim.</a:t>
            </a:r>
          </a:p>
        </p:txBody>
      </p:sp>
      <p:sp>
        <p:nvSpPr>
          <p:cNvPr id="8" name="content 2">
            <a:extLst xmlns:a="http://schemas.openxmlformats.org/drawingml/2006/main">
              <a:ext uri="{FF2B5EF4-FFF2-40B4-BE49-F238E27FC236}">
                <a16:creationId xmlns:a16="http://schemas.microsoft.com/office/drawing/2014/main" id="{9E5789E4-99C0-487B-9B3C-ED7AEEE4CDC1}"/>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Stretch: Explain why one circular picture is insufficient and why perfect sphere is also too strong.</a:t>
            </a:r>
          </a:p>
        </p:txBody>
      </p:sp>
      <p:sp>
        <p:nvSpPr>
          <p:cNvPr id="9" name="time">
            <a:extLst xmlns:a="http://schemas.openxmlformats.org/drawingml/2006/main">
              <a:ext uri="{FF2B5EF4-FFF2-40B4-BE49-F238E27FC236}">
                <a16:creationId xmlns:a16="http://schemas.microsoft.com/office/drawing/2014/main" id="{E2C79900-37CC-4F0C-901E-162DF62E03D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10 min across this stage</a:t>
            </a:r>
          </a:p>
        </p:txBody>
      </p:sp>
      <p:sp>
        <p:nvSpPr>
          <p:cNvPr id="10" name="number">
            <a:extLst xmlns:a="http://schemas.openxmlformats.org/drawingml/2006/main">
              <a:ext uri="{FF2B5EF4-FFF2-40B4-BE49-F238E27FC236}">
                <a16:creationId xmlns:a16="http://schemas.microsoft.com/office/drawing/2014/main" id="{1B969ECA-C47B-4847-8F5B-DA8D765C5E7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16 / 17</a:t>
            </a:r>
          </a:p>
        </p:txBody>
      </p:sp>
    </p:spTree>
    <p:extLst>
      <p:ext uri="{BB962C8B-B14F-4D97-AF65-F5344CB8AC3E}">
        <p14:creationId xmlns:p14="http://schemas.microsoft.com/office/powerpoint/2010/main" val="1361835865"/>
      </p:ext>
    </p:extLst>
  </p:cSld>
</p:sld>
</file>

<file path=ppt/slides/slide1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6BB9801A-8CE3-4991-9CA1-14F70ADF7DD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4836F4D-6AF9-47C9-A52E-2564AB549803}"/>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164372E5-B325-4197-9567-E40BA92E2AD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1CD79CE4-FF01-4438-8C18-A093FD9EADDB}"/>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Show what you know</a:t>
            </a:r>
          </a:p>
        </p:txBody>
      </p:sp>
      <p:sp>
        <p:nvSpPr>
          <p:cNvPr id="5" name="paper panel">
            <a:extLst xmlns:a="http://schemas.openxmlformats.org/drawingml/2006/main">
              <a:ext uri="{FF2B5EF4-FFF2-40B4-BE49-F238E27FC236}">
                <a16:creationId xmlns:a16="http://schemas.microsoft.com/office/drawing/2014/main" id="{BAC2D136-0C86-4221-9BE7-E887AB1BB4E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810BE266-CE4A-44B3-8CDA-1A3D51A2A236}"/>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one model observation and one real space observation to explain why Earth is described as approximately spherical.</a:t>
            </a:r>
          </a:p>
        </p:txBody>
      </p:sp>
      <p:sp>
        <p:nvSpPr>
          <p:cNvPr id="7" name="content 1">
            <a:extLst xmlns:a="http://schemas.openxmlformats.org/drawingml/2006/main">
              <a:ext uri="{FF2B5EF4-FFF2-40B4-BE49-F238E27FC236}">
                <a16:creationId xmlns:a16="http://schemas.microsoft.com/office/drawing/2014/main" id="{6D9C47A7-4FE9-4836-BFBB-86D6B401A7B8}"/>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Point to, read or explain the evidence you made. Choose one next step after the adult has listened.</a:t>
            </a:r>
          </a:p>
        </p:txBody>
      </p:sp>
      <p:sp>
        <p:nvSpPr>
          <p:cNvPr id="8" name="time">
            <a:extLst xmlns:a="http://schemas.openxmlformats.org/drawingml/2006/main">
              <a:ext uri="{FF2B5EF4-FFF2-40B4-BE49-F238E27FC236}">
                <a16:creationId xmlns:a16="http://schemas.microsoft.com/office/drawing/2014/main" id="{4B0F4E79-2F4F-4FFD-9620-069520B4909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9" name="number">
            <a:extLst xmlns:a="http://schemas.openxmlformats.org/drawingml/2006/main">
              <a:ext uri="{FF2B5EF4-FFF2-40B4-BE49-F238E27FC236}">
                <a16:creationId xmlns:a16="http://schemas.microsoft.com/office/drawing/2014/main" id="{AE83B384-DFAD-4159-B94D-D6DD223DA21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17 / 17</a:t>
            </a:r>
          </a:p>
        </p:txBody>
      </p:sp>
    </p:spTree>
    <p:extLst>
      <p:ext uri="{BB962C8B-B14F-4D97-AF65-F5344CB8AC3E}">
        <p14:creationId xmlns:p14="http://schemas.microsoft.com/office/powerpoint/2010/main" val="14650002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2026-09-08T08:54:23.0960000Z</dcterms:created>
  <dcterms:modified xsi:type="dcterms:W3CDTF">2026-09-08T08:54:23.0960000Z</dcterms:modified>
</coreProperties>
</file>