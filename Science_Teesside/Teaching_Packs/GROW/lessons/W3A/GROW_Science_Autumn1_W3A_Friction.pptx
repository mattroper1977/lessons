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a225a7a11984b31" /><Relationship Type="http://schemas.openxmlformats.org/officeDocument/2006/relationships/extended-properties" Target="/docProps/app.xml" Id="Rc4448ea0a9b840ff" /><Relationship Type="http://schemas.openxmlformats.org/officeDocument/2006/relationships/officeDocument" Target="/ppt/presentation.xml" Id="R3a0c32bb5e044c49" /></Relationships>
</file>

<file path=ppt/presentation.xml><?xml version="1.0" encoding="utf-8"?>
<p:presentation xmlns:p="http://schemas.openxmlformats.org/presentationml/2006/main">
  <p:sldMasterIdLst>
    <p:sldMasterId xmlns:r="http://schemas.openxmlformats.org/officeDocument/2006/relationships" id="2147483648" r:id="Rbb6ae005a00e4dff"/>
  </p:sldMasterIdLst>
  <p:notesMasterIdLst>
    <p:notesMasterId xmlns:r="http://schemas.openxmlformats.org/officeDocument/2006/relationships" r:id="R14019863f0834fd2"/>
  </p:notesMasterIdLst>
  <p:sldIdLst>
    <p:sldId xmlns:r="http://schemas.openxmlformats.org/officeDocument/2006/relationships" id="256" r:id="Rcb9a856ae2b94acb"/>
    <p:sldId xmlns:r="http://schemas.openxmlformats.org/officeDocument/2006/relationships" id="257" r:id="R7feb95698093482a"/>
    <p:sldId xmlns:r="http://schemas.openxmlformats.org/officeDocument/2006/relationships" id="258" r:id="Rd858281edfb44f08"/>
    <p:sldId xmlns:r="http://schemas.openxmlformats.org/officeDocument/2006/relationships" id="259" r:id="R3afe56a75b1243c9"/>
    <p:sldId xmlns:r="http://schemas.openxmlformats.org/officeDocument/2006/relationships" id="260" r:id="R4c36d760a9074577"/>
    <p:sldId xmlns:r="http://schemas.openxmlformats.org/officeDocument/2006/relationships" id="261" r:id="Rc166193890fe4c0d"/>
    <p:sldId xmlns:r="http://schemas.openxmlformats.org/officeDocument/2006/relationships" id="262" r:id="Rb4fd0202c4584d71"/>
    <p:sldId xmlns:r="http://schemas.openxmlformats.org/officeDocument/2006/relationships" id="263" r:id="Ra2842e7fdf0949aa"/>
    <p:sldId xmlns:r="http://schemas.openxmlformats.org/officeDocument/2006/relationships" id="264" r:id="R0aaf843d6f5840fa"/>
    <p:sldId xmlns:r="http://schemas.openxmlformats.org/officeDocument/2006/relationships" id="265" r:id="Rc63829073af14955"/>
    <p:sldId xmlns:r="http://schemas.openxmlformats.org/officeDocument/2006/relationships" id="266" r:id="R6d13b58fddd74395"/>
    <p:sldId xmlns:r="http://schemas.openxmlformats.org/officeDocument/2006/relationships" id="267" r:id="Re82a15849864436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c66416696e746e4" /><Relationship Type="http://schemas.openxmlformats.org/officeDocument/2006/relationships/slideMaster" Target="/ppt/slideMasters/slideMaster1.xml" Id="Rbb6ae005a00e4dff" /><Relationship Type="http://schemas.openxmlformats.org/officeDocument/2006/relationships/notesMaster" Target="/ppt/notesMasters/notesMaster1.xml" Id="R14019863f0834fd2" /><Relationship Type="http://schemas.openxmlformats.org/officeDocument/2006/relationships/presProps" Target="/ppt/presProps.xml" Id="R4fd801b105ea4bb3" /><Relationship Type="http://schemas.openxmlformats.org/officeDocument/2006/relationships/tableStyles" Target="/ppt/tableStyles.xml" Id="R7fa19a8d5fef41c7" /><Relationship Type="http://schemas.openxmlformats.org/officeDocument/2006/relationships/slide" Target="/ppt/slides/slide1.xml" Id="Rcb9a856ae2b94acb" /><Relationship Type="http://schemas.openxmlformats.org/officeDocument/2006/relationships/slide" Target="/ppt/slides/slide2.xml" Id="R7feb95698093482a" /><Relationship Type="http://schemas.openxmlformats.org/officeDocument/2006/relationships/slide" Target="/ppt/slides/slide3.xml" Id="Rd858281edfb44f08" /><Relationship Type="http://schemas.openxmlformats.org/officeDocument/2006/relationships/slide" Target="/ppt/slides/slide4.xml" Id="R3afe56a75b1243c9" /><Relationship Type="http://schemas.openxmlformats.org/officeDocument/2006/relationships/slide" Target="/ppt/slides/slide5.xml" Id="R4c36d760a9074577" /><Relationship Type="http://schemas.openxmlformats.org/officeDocument/2006/relationships/slide" Target="/ppt/slides/slide6.xml" Id="Rc166193890fe4c0d" /><Relationship Type="http://schemas.openxmlformats.org/officeDocument/2006/relationships/slide" Target="/ppt/slides/slide7.xml" Id="Rb4fd0202c4584d71" /><Relationship Type="http://schemas.openxmlformats.org/officeDocument/2006/relationships/slide" Target="/ppt/slides/slide8.xml" Id="Ra2842e7fdf0949aa" /><Relationship Type="http://schemas.openxmlformats.org/officeDocument/2006/relationships/slide" Target="/ppt/slides/slide9.xml" Id="R0aaf843d6f5840fa" /><Relationship Type="http://schemas.openxmlformats.org/officeDocument/2006/relationships/slide" Target="/ppt/slides/slide10.xml" Id="Rc63829073af14955" /><Relationship Type="http://schemas.openxmlformats.org/officeDocument/2006/relationships/slide" Target="/ppt/slides/slide11.xml" Id="R6d13b58fddd74395" /><Relationship Type="http://schemas.openxmlformats.org/officeDocument/2006/relationships/slide" Target="/ppt/slides/slide12.xml" Id="Re82a15849864436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d1fd17e11d041d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de43dcbab2c41cd" /><Relationship Type="http://schemas.openxmlformats.org/officeDocument/2006/relationships/notesMaster" Target="/ppt/notesMasters/notesMaster1.xml" Id="R7899022db8eb4d65" /></Relationships>
</file>

<file path=ppt/notesSlides/_rels/notesSlide2.xml.rels>&#65279;<?xml version="1.0" encoding="utf-8"?><Relationships xmlns="http://schemas.openxmlformats.org/package/2006/relationships"><Relationship Type="http://schemas.openxmlformats.org/officeDocument/2006/relationships/slide" Target="/ppt/slides/slide2.xml" Id="R20f4a9feb2f44a60" /><Relationship Type="http://schemas.openxmlformats.org/officeDocument/2006/relationships/notesMaster" Target="/ppt/notesMasters/notesMaster1.xml" Id="Re734f8aadb924d4a" /></Relationships>
</file>

<file path=ppt/notesSlides/_rels/notesSlide3.xml.rels>&#65279;<?xml version="1.0" encoding="utf-8"?><Relationships xmlns="http://schemas.openxmlformats.org/package/2006/relationships"><Relationship Type="http://schemas.openxmlformats.org/officeDocument/2006/relationships/slide" Target="/ppt/slides/slide3.xml" Id="R355342af43a3493b" /><Relationship Type="http://schemas.openxmlformats.org/officeDocument/2006/relationships/notesMaster" Target="/ppt/notesMasters/notesMaster1.xml" Id="R8a8055ca9963420a" /></Relationships>
</file>

<file path=ppt/notesSlides/_rels/notesSlide4.xml.rels>&#65279;<?xml version="1.0" encoding="utf-8"?><Relationships xmlns="http://schemas.openxmlformats.org/package/2006/relationships"><Relationship Type="http://schemas.openxmlformats.org/officeDocument/2006/relationships/slide" Target="/ppt/slides/slide4.xml" Id="R4758258cba85428a" /><Relationship Type="http://schemas.openxmlformats.org/officeDocument/2006/relationships/notesMaster" Target="/ppt/notesMasters/notesMaster1.xml" Id="R2ab02e1d8bc44794" /></Relationships>
</file>

<file path=ppt/notesSlides/_rels/notesSlide5.xml.rels>&#65279;<?xml version="1.0" encoding="utf-8"?><Relationships xmlns="http://schemas.openxmlformats.org/package/2006/relationships"><Relationship Type="http://schemas.openxmlformats.org/officeDocument/2006/relationships/slide" Target="/ppt/slides/slide5.xml" Id="R70218c349c7e420d" /><Relationship Type="http://schemas.openxmlformats.org/officeDocument/2006/relationships/notesMaster" Target="/ppt/notesMasters/notesMaster1.xml" Id="Rcc2e23e102bd4235" /></Relationships>
</file>

<file path=ppt/notesSlides/_rels/notesSlide6.xml.rels>&#65279;<?xml version="1.0" encoding="utf-8"?><Relationships xmlns="http://schemas.openxmlformats.org/package/2006/relationships"><Relationship Type="http://schemas.openxmlformats.org/officeDocument/2006/relationships/slide" Target="/ppt/slides/slide6.xml" Id="R1c923f6235fa4f34" /><Relationship Type="http://schemas.openxmlformats.org/officeDocument/2006/relationships/notesMaster" Target="/ppt/notesMasters/notesMaster1.xml" Id="R567c2541bdf24248" /></Relationships>
</file>

<file path=ppt/notesSlides/_rels/notesSlide7.xml.rels>&#65279;<?xml version="1.0" encoding="utf-8"?><Relationships xmlns="http://schemas.openxmlformats.org/package/2006/relationships"><Relationship Type="http://schemas.openxmlformats.org/officeDocument/2006/relationships/slide" Target="/ppt/slides/slide7.xml" Id="Rf7177b577671410c" /><Relationship Type="http://schemas.openxmlformats.org/officeDocument/2006/relationships/notesMaster" Target="/ppt/notesMasters/notesMaster1.xml" Id="R2f11fa2c4dc24716" /></Relationships>
</file>

<file path=ppt/notesSlides/_rels/notesSlide8.xml.rels>&#65279;<?xml version="1.0" encoding="utf-8"?><Relationships xmlns="http://schemas.openxmlformats.org/package/2006/relationships"><Relationship Type="http://schemas.openxmlformats.org/officeDocument/2006/relationships/slide" Target="/ppt/slides/slide8.xml" Id="Rd93b5a8134734b5a" /><Relationship Type="http://schemas.openxmlformats.org/officeDocument/2006/relationships/notesMaster" Target="/ppt/notesMasters/notesMaster1.xml" Id="R93221d1d72ef4a45" /></Relationships>
</file>

<file path=ppt/notesSlides/_rels/notesSlide9.xml.rels>&#65279;<?xml version="1.0" encoding="utf-8"?><Relationships xmlns="http://schemas.openxmlformats.org/package/2006/relationships"><Relationship Type="http://schemas.openxmlformats.org/officeDocument/2006/relationships/slide" Target="/ppt/slides/slide9.xml" Id="R21570b51377c423c" /><Relationship Type="http://schemas.openxmlformats.org/officeDocument/2006/relationships/notesMaster" Target="/ppt/notesMasters/notesMaster1.xml" Id="R063b12830e86424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a6481f9e10041f4" /><Relationship Type="http://schemas.openxmlformats.org/officeDocument/2006/relationships/notesMaster" Target="/ppt/notesMasters/notesMaster1.xml" Id="R727ec9d5293542d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1b60146fed024b84" /><Relationship Type="http://schemas.openxmlformats.org/officeDocument/2006/relationships/notesMaster" Target="/ppt/notesMasters/notesMaster1.xml" Id="R954f7b54313343f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a571e7ab8874296" /><Relationship Type="http://schemas.openxmlformats.org/officeDocument/2006/relationships/notesMaster" Target="/ppt/notesMasters/notesMaster1.xml" Id="Rd79ad16922594de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Title — 1 minute. This slide is within Monday's existing 40-minute sequence, not extra teaching time.</a:t>
            </a:r>
          </a:p>
          <a:p xmlns:a="http://schemas.openxmlformats.org/drawingml/2006/main">
            <a:r>
              <a:t>Introduce the objective from the current weekly lesson: explain what friction does and when it helps or hinders. Read the success criteria aloud: identify the contact force, give a helpful and an unhelpful example, and predict a surface comparison. The actual comparison investigation takes place in Lesson B.</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https://github.com/MattRoper1977/Lessons/blob/main/Science_Teesside/Grow/SCI_G_W3_Friction.html</a:t>
            </a:r>
          </a:p>
          <a:p xmlns:a="http://schemas.openxmlformats.org/drawingml/2006/main">
            <a:r>
              <a:t>Source Git blob: 170d772a5e9d23909e95a534c5c1e16ee7df67c8. Source read 6 September 2026. Native editable diagrams are original explanatory models; no source publisher media copied.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Arrival Task — 4 minutes. This slide is within Monday's existing 40-minute sequence, not extra teaching time.</a:t>
            </a:r>
          </a:p>
          <a:p xmlns:a="http://schemas.openxmlformats.org/drawingml/2006/main">
            <a:r>
              <a:t>Hand rubbing is optional. Offer observation, remembered experience or a spoken description as an equal route. Supported: notice warmth. Standard: name friction. Stretch: explain movement energy transferring to heat. Do not rub hard enough to hurt or make a pupil perform a sensory task. Use the selected response route on pupil page1.</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https://github.com/MattRoper1977/Lessons/blob/main/Science_Teesside/Grow/SCI_G_W3_Friction.html</a:t>
            </a:r>
          </a:p>
          <a:p xmlns:a="http://schemas.openxmlformats.org/drawingml/2006/main">
            <a:r>
              <a:t>Source Git blob: 170d772a5e9d23909e95a534c5c1e16ee7df67c8. Source read 6 September 2026. Native editable diagrams are original explanatory models; no source publisher media copied.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Today at a Glance — 2 minutes. This slide is within Monday's existing 40-minute sequence, not extra teaching time.</a:t>
            </a:r>
          </a:p>
          <a:p xmlns:a="http://schemas.openxmlformats.org/drawingml/2006/main">
            <a:r>
              <a:t>Maintain the source lesson sequence. The demonstration supports a prediction; do not claim pupil practical completion today. Establish before the demonstration which mode of response/access support each learner prefers.</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https://github.com/MattRoper1977/Lessons/blob/main/Science_Teesside/Grow/SCI_G_W3_Friction.html</a:t>
            </a:r>
          </a:p>
          <a:p xmlns:a="http://schemas.openxmlformats.org/drawingml/2006/main">
            <a:r>
              <a:t>Source Git blob: 170d772a5e9d23909e95a534c5c1e16ee7df67c8. Source read 6 September 2026. Native editable diagrams are original explanatory models; no source publisher media copied.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Do 1 — definition and model — 3 minutes. This slide is within Monday's existing 40-minute sequence, not extra teaching time.</a:t>
            </a:r>
          </a:p>
          <a:p xmlns:a="http://schemas.openxmlformats.org/drawingml/2006/main">
            <a:r>
              <a:t>Use the native block-and-surface diagram as a simplified model. The block slides right relative to the surface; sliding friction on the block acts left. Explain surface, grip and wear. Qualify the source shorthand “friction always acts against movement”: friction opposes relative sliding or attempted sliding at a contact; static friction can help a person walk forward. The arrow length is not a measured force.</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https://github.com/MattRoper1977/Lessons/blob/main/Science_Teesside/Grow/SCI_G_W3_Friction.html</a:t>
            </a:r>
          </a:p>
          <a:p xmlns:a="http://schemas.openxmlformats.org/drawingml/2006/main">
            <a:r>
              <a:t>Source Git blob: 170d772a5e9d23909e95a534c5c1e16ee7df67c8. Source read 6 September 2026. Native editable diagrams are original explanatory models; no source publisher media copied.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Do 1 — demonstration — 6 minutes. This slide is within Monday's existing 40-minute sequence, not extra teaching time.</a:t>
            </a:r>
          </a:p>
          <a:p xmlns:a="http://schemas.openxmlformats.org/drawingml/2006/main">
            <a:r>
              <a:t>Same block, same adult-secured low ramp, same release mark and fixed angle; no push. Change the level run-out surface only. Repeat a release before changing surfaces. Measure from the same ramp-foot zero to the same edge of the stopped block. Record no slide honestly. Keep the ramp-to-surface join fixed and hands clear. Use a padded stop; no oil, loose powders or pupils sliding on floors. If equipment is unavailable, use the schematic below and ask for a prediction, not an invented observation. The diagram is not a measured result. Identify model limits and avoid a universal rough-versus-smooth ranking.</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https://github.com/MattRoper1977/Lessons/blob/main/Science_Teesside/Grow/SCI_G_W3_Friction.html</a:t>
            </a:r>
          </a:p>
          <a:p xmlns:a="http://schemas.openxmlformats.org/drawingml/2006/main">
            <a:r>
              <a:t>Source Git blob: 170d772a5e9d23909e95a534c5c1e16ee7df67c8. Source read 6 September 2026. Native editable diagrams are original explanatory models; no source publisher media copied.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Do 1 — first decisions — 6 minutes. This slide is within Monday's existing 40-minute sequence, not extra teaching time.</a:t>
            </a:r>
          </a:p>
          <a:p xmlns:a="http://schemas.openxmlformats.org/drawingml/2006/main">
            <a:r>
              <a:t>Ask for a decision before revealing the next slide. Begin with bike brakes and moving engine parts, as in the weekly source extension. Identify the surface pair, the relative movement and the intended job for each. Trainers on a wet floor means friction helps grip; this is discussion, not a wet-floor practical. Engine friction can cause unwanted heat and wear. A heavy box is harder to slide across carpet. Grip on a handle is helpful. Remaining examples are optional practice within the ten-minute source stage.</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https://github.com/MattRoper1977/Lessons/blob/main/Science_Teesside/Grow/SCI_G_W3_Friction.html</a:t>
            </a:r>
          </a:p>
          <a:p xmlns:a="http://schemas.openxmlformats.org/drawingml/2006/main">
            <a:r>
              <a:t>Source Git blob: 170d772a5e9d23909e95a534c5c1e16ee7df67c8. Source read 6 September 2026. Native editable diagrams are original explanatory models; no source publisher media copied.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Do 1 — check and explain — 4 minutes. This slide is within Monday's existing 40-minute sequence, not extra teaching time.</a:t>
            </a:r>
          </a:p>
          <a:p xmlns:a="http://schemas.openxmlformats.org/drawingml/2006/main">
            <a:r>
              <a:t>Reveal after an attempt. Use this as teacher-led feedback, not a self-scoring activity. Useful friction: brake pad and wheel/disc; shoe and floor; hand and handle. Unwanted resistance: moving engine parts; box and carpet when sliding it is the goal. Discuss that a real situation can have more than one effect. Pupil correction is part of the existing stage.</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https://github.com/MattRoper1977/Lessons/blob/main/Science_Teesside/Grow/SCI_G_W3_Friction.html</a:t>
            </a:r>
          </a:p>
          <a:p xmlns:a="http://schemas.openxmlformats.org/drawingml/2006/main">
            <a:r>
              <a:t>Source Git blob: 170d772a5e9d23909e95a534c5c1e16ee7df67c8. Source read 6 September 2026. Native editable diagrams are original explanatory models; no source publisher media copied.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Do 2 — 4 minutes. This slide is within Monday's existing 40-minute sequence, not extra teaching time.</a:t>
            </a:r>
          </a:p>
          <a:p xmlns:a="http://schemas.openxmlformats.org/drawingml/2006/main">
            <a:r>
              <a:t>Model the source sentence shape aloud. Focus on naming contact surfaces and linking friction to the intended job. Learners may point, dictate or write. The weekly source witness triad includes predicting/testing/recording: mark the demonstration/prediction today and retain the actual investigation evidence for Lesson B. Do not assume photography or public sharing; follow existing consent and evidence safeguards.</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https://github.com/MattRoper1977/Lessons/blob/main/Science_Teesside/Grow/SCI_G_W3_Friction.html</a:t>
            </a:r>
          </a:p>
          <a:p xmlns:a="http://schemas.openxmlformats.org/drawingml/2006/main">
            <a:r>
              <a:t>Source Git blob: 170d772a5e9d23909e95a534c5c1e16ee7df67c8. Source read 6 September 2026. Native editable diagrams are original explanatory models; no source publisher media copied.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Do 2 — sort — 4 minutes. This slide is within Monday's existing 40-minute sequence, not extra teaching time.</a:t>
            </a:r>
          </a:p>
          <a:p xmlns:a="http://schemas.openxmlformats.org/drawingml/2006/main">
            <a:r>
              <a:t>Use pupil sheet2 or cut-out cards; sort by pointing, speaking or moving paper. This replaces HTML drag/tap sorting. Three categories: true, false, not a scientific claim. Scientific qualifications are intentional: replace the over-broad source “Friction acts against movement” with “Sliding friction opposes sliding at the contact”; qualify “Oil reduces friction” to suitable lubricated contacts. Do not use oil in the practical. Make decisions before going to the answer slide.</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https://github.com/MattRoper1977/Lessons/blob/main/Science_Teesside/Grow/SCI_G_W3_Friction.html</a:t>
            </a:r>
          </a:p>
          <a:p xmlns:a="http://schemas.openxmlformats.org/drawingml/2006/main">
            <a:r>
              <a:t>Source Git blob: 170d772a5e9d23909e95a534c5c1e16ee7df67c8. Source read 6 September 2026. Native editable diagrams are original explanatory models; no source publisher media copied.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Do 2 — check — 3 minutes. This slide is within Monday's existing 40-minute sequence, not extra teaching time.</a:t>
            </a:r>
          </a:p>
          <a:p xmlns:a="http://schemas.openxmlformats.org/drawingml/2006/main">
            <a:r>
              <a:t>Answers match the qualified claims. Sliding friction opposes sliding at contact: true. Only rough surfaces: false; smooth surfaces also have friction. Oil can reduce friction in suitable contacts: true, not a universal guarantee. Walking normally needs static grip: true. Bad force: value judgement; ask the job/context. Test a changed case in discussion: smooth rubber and smooth glass can still grip. A material nickname alone does not establish a universal ranking.</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https://github.com/MattRoper1977/Lessons/blob/main/Science_Teesside/Grow/SCI_G_W3_Friction.html</a:t>
            </a:r>
          </a:p>
          <a:p xmlns:a="http://schemas.openxmlformats.org/drawingml/2006/main">
            <a:r>
              <a:t>Source Git blob: 170d772a5e9d23909e95a534c5c1e16ee7df67c8. Source read 6 September 2026. Native editable diagrams are original explanatory models; no source publisher media copied.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Do 2 — model explanation — 2 minutes. This slide is within Monday's existing 40-minute sequence, not extra teaching time.</a:t>
            </a:r>
          </a:p>
          <a:p xmlns:a="http://schemas.openxmlformats.org/drawingml/2006/main">
            <a:r>
              <a:t>Offer the model only after a first attempt. This is the source WAGOLL with a precision edit: “transfers movement energy to heat and slows the wheel” rather than “converts the movement into heat and stops the wheel”. Learners correct one detail using the model or explain the same contrast in their own mode. Do not require copying the whole model.</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https://github.com/MattRoper1977/Lessons/blob/main/Science_Teesside/Grow/SCI_G_W3_Friction.html</a:t>
            </a:r>
          </a:p>
          <a:p xmlns:a="http://schemas.openxmlformats.org/drawingml/2006/main">
            <a:r>
              <a:t>Source Git blob: 170d772a5e9d23909e95a534c5c1e16ee7df67c8. Source read 6 September 2026. Native editable diagrams are original explanatory models; no source publisher media copied.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Do 2 — stop and retain work — 1 minute. This slide is within Monday's existing 40-minute sequence, not extra teaching time.</a:t>
            </a:r>
          </a:p>
          <a:p xmlns:a="http://schemas.openxmlformats.org/drawingml/2006/main">
            <a:r>
              <a:t>End Monday here, exactly as the source period break requires. Label and keep the work. Learners identify one helpful/unhelpful example or improvement already discussed. Do not add Tuesday’s workshop, feedback or exit ticket to today. Tuesday source: 32-minute investigation/workshop, 4-minute pupil feedback, 4-minute exit ticket. A separate Lesson B deck will retain that pacing and the source three-surface repeated-trial task.</a:t>
            </a:r>
          </a:p>
          <a:p xmlns:a="http://schemas.openxmlformats.org/drawingml/2006/main">
            <a:r>
              <a:t/>
            </a:r>
          </a:p>
          <a:p xmlns:a="http://schemas.openxmlformats.org/drawingml/2006/main">
            <a:r>
              <a:t>[Sources]</a:t>
            </a:r>
          </a:p>
          <a:p xmlns:a="http://schemas.openxmlformats.org/drawingml/2006/main">
            <a:r>
              <a:t>https://github.com/MattRoper1977/Lessons/blob/main/Science_Teesside/Grow/SCI_G_W3_Friction.html</a:t>
            </a:r>
          </a:p>
          <a:p xmlns:a="http://schemas.openxmlformats.org/drawingml/2006/main">
            <a:r>
              <a:t>Source Git blob: 170d772a5e9d23909e95a534c5c1e16ee7df67c8. Source read 6 September 2026. Native editable diagrams are original explanatory models; no source publisher media copied.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3d44f8544a9499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119a9b8e2294cca" /><Relationship Type="http://schemas.openxmlformats.org/officeDocument/2006/relationships/slideLayout" Target="/ppt/slideLayouts/slideLayout1.xml" Id="Rbf8c814ae5b443c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f8c814ae5b443c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44b092217604c3d" /><Relationship Type="http://schemas.openxmlformats.org/officeDocument/2006/relationships/notesSlide" Target="/ppt/notesSlides/notesSlide1.xml" Id="R4b1695d695cf454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ae328e3b6e9471f" /><Relationship Type="http://schemas.openxmlformats.org/officeDocument/2006/relationships/notesSlide" Target="/ppt/notesSlides/notesSlide2.xml" Id="Rfb92dc35711b435d"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fdf1a38698f349eb" /><Relationship Type="http://schemas.openxmlformats.org/officeDocument/2006/relationships/notesSlide" Target="/ppt/notesSlides/notesSlide3.xml" Id="R29e3576a6c614ef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8b11bdbd5544c6f" /><Relationship Type="http://schemas.openxmlformats.org/officeDocument/2006/relationships/notesSlide" Target="/ppt/notesSlides/notesSlide4.xml" Id="Rec7abb8dc4f6419d"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7ffa2b6dc08468e" /><Relationship Type="http://schemas.openxmlformats.org/officeDocument/2006/relationships/notesSlide" Target="/ppt/notesSlides/notesSlide5.xml" Id="Raaf8ecd961974f46"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3890a03a33a4632" /><Relationship Type="http://schemas.openxmlformats.org/officeDocument/2006/relationships/notesSlide" Target="/ppt/notesSlides/notesSlide6.xml" Id="Rf816ee233f514fb6"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f85e4e83ce74781" /><Relationship Type="http://schemas.openxmlformats.org/officeDocument/2006/relationships/notesSlide" Target="/ppt/notesSlides/notesSlide7.xml" Id="R448a37d78bc74cb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39821c8905d4fab" /><Relationship Type="http://schemas.openxmlformats.org/officeDocument/2006/relationships/notesSlide" Target="/ppt/notesSlides/notesSlide8.xml" Id="R475e6731d20b45a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d4d5e62c76c4b2b" /><Relationship Type="http://schemas.openxmlformats.org/officeDocument/2006/relationships/notesSlide" Target="/ppt/notesSlides/notesSlide9.xml" Id="R430d7e600a1044f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4997cad00ecf4c5d" /><Relationship Type="http://schemas.openxmlformats.org/officeDocument/2006/relationships/notesSlide" Target="/ppt/notesSlides/notesSlide10.xml" Id="Re3a59e0863b243a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c778392ebb64c6d" /><Relationship Type="http://schemas.openxmlformats.org/officeDocument/2006/relationships/notesSlide" Target="/ppt/notesSlides/notesSlide11.xml" Id="Ra36e9efea1fc4bd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cccaa1eec8d4925" /><Relationship Type="http://schemas.openxmlformats.org/officeDocument/2006/relationships/notesSlide" Target="/ppt/notesSlides/notesSlide12.xml" Id="R6da58c1212584bc6" /></Relationships>
</file>

<file path=ppt/slides/slide1.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0" name="top-rule">
            <a:extLst xmlns:a="http://schemas.openxmlformats.org/drawingml/2006/main">
              <a:ext uri="{FF2B5EF4-FFF2-40B4-BE49-F238E27FC236}">
                <a16:creationId xmlns:a16="http://schemas.microsoft.com/office/drawing/2014/main" id="{9CE3D935-BD79-45CE-880A-F67B86EA41CC}"/>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BFBB425B-8FA2-4AED-87E6-478A4EF213F9}"/>
              </a:ext>
            </a:extLst>
          </p:cNvPr>
          <p:cNvSpPr>
            <a:spLocks xmlns:a="http://schemas.openxmlformats.org/drawingml/2006/main" noGrp="1"/>
          </p:cNvSpPr>
          <p:nvPr/>
        </p:nvSpPr>
        <p:spPr>
          <a:xfrm xmlns:a="http://schemas.openxmlformats.org/drawingml/2006/main">
            <a:off x="609600" y="762000"/>
            <a:ext cx="714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6ED2A6C4-AD23-4525-AB8D-ABAFE4B8CC2A}"/>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Friction: friend and enemy</a:t>
            </a:r>
          </a:p>
        </p:txBody>
      </p:sp>
      <p:sp>
        <p:nvSpPr>
          <p:cNvPr id="4" name="footer-line">
            <a:extLst xmlns:a="http://schemas.openxmlformats.org/drawingml/2006/main">
              <a:ext uri="{FF2B5EF4-FFF2-40B4-BE49-F238E27FC236}">
                <a16:creationId xmlns:a16="http://schemas.microsoft.com/office/drawing/2014/main" id="{78267B8A-646B-43F0-AACA-F54005C2B0B2}"/>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F5221EB5-F52C-4322-B906-4B2F9AF8D444}"/>
              </a:ext>
            </a:extLst>
          </p:cNvPr>
          <p:cNvSpPr>
            <a:spLocks xmlns:a="http://schemas.openxmlformats.org/drawingml/2006/main" noGrp="1"/>
          </p:cNvSpPr>
          <p:nvPr/>
        </p:nvSpPr>
        <p:spPr>
          <a:xfrm xmlns:a="http://schemas.openxmlformats.org/drawingml/2006/main">
            <a:off x="609600" y="6381750"/>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3  ·  LESSON A</a:t>
            </a:r>
          </a:p>
        </p:txBody>
      </p:sp>
      <p:sp>
        <p:nvSpPr>
          <p:cNvPr id="6" name="page">
            <a:extLst xmlns:a="http://schemas.openxmlformats.org/drawingml/2006/main">
              <a:ext uri="{FF2B5EF4-FFF2-40B4-BE49-F238E27FC236}">
                <a16:creationId xmlns:a16="http://schemas.microsoft.com/office/drawing/2014/main" id="{558CFBC5-163D-424D-B65D-909211C0F669}"/>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01</a:t>
            </a:r>
          </a:p>
        </p:txBody>
      </p:sp>
      <p:sp>
        <p:nvSpPr>
          <p:cNvPr id="7" name="opening">
            <a:extLst xmlns:a="http://schemas.openxmlformats.org/drawingml/2006/main">
              <a:ext uri="{FF2B5EF4-FFF2-40B4-BE49-F238E27FC236}">
                <a16:creationId xmlns:a16="http://schemas.microsoft.com/office/drawing/2014/main" id="{6C5E46FC-8A38-4047-9884-219480C6DF48}"/>
              </a:ext>
            </a:extLst>
          </p:cNvPr>
          <p:cNvSpPr>
            <a:spLocks xmlns:a="http://schemas.openxmlformats.org/drawingml/2006/main" noGrp="1"/>
          </p:cNvSpPr>
          <p:nvPr/>
        </p:nvSpPr>
        <p:spPr>
          <a:xfrm xmlns:a="http://schemas.openxmlformats.org/drawingml/2006/main">
            <a:off x="609600" y="2809875"/>
            <a:ext cx="1028700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4125" b="1">
                <a:solidFill>
                  <a:srgbClr val="28685E"/>
                </a:solidFill>
              </a:defRPr>
            </a:pPr>
            <a:r>
              <a:rPr sz="4125" b="1">
                <a:solidFill>
                  <a:srgbClr val="28685E"/>
                </a:solidFill>
              </a:rPr>
              <a:t>One force. Different jobs.</a:t>
            </a:r>
          </a:p>
        </p:txBody>
      </p:sp>
      <p:sp>
        <p:nvSpPr>
          <p:cNvPr id="8" name="objective">
            <a:extLst xmlns:a="http://schemas.openxmlformats.org/drawingml/2006/main">
              <a:ext uri="{FF2B5EF4-FFF2-40B4-BE49-F238E27FC236}">
                <a16:creationId xmlns:a16="http://schemas.microsoft.com/office/drawing/2014/main" id="{78C33AF0-4140-418D-BECB-4C9ED1DB3C42}"/>
              </a:ext>
            </a:extLst>
          </p:cNvPr>
          <p:cNvSpPr>
            <a:spLocks xmlns:a="http://schemas.openxmlformats.org/drawingml/2006/main" noGrp="1"/>
          </p:cNvSpPr>
          <p:nvPr/>
        </p:nvSpPr>
        <p:spPr>
          <a:xfrm xmlns:a="http://schemas.openxmlformats.org/drawingml/2006/main">
            <a:off x="609600" y="3952875"/>
            <a:ext cx="9239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Explain what friction does, and when it helps or hinders.</a:t>
            </a:r>
          </a:p>
        </p:txBody>
      </p:sp>
      <p:sp>
        <p:nvSpPr>
          <p:cNvPr id="9" name="topic">
            <a:extLst xmlns:a="http://schemas.openxmlformats.org/drawingml/2006/main">
              <a:ext uri="{FF2B5EF4-FFF2-40B4-BE49-F238E27FC236}">
                <a16:creationId xmlns:a16="http://schemas.microsoft.com/office/drawing/2014/main" id="{2BB752A2-66C0-4CAC-A908-5B6EA1ABED10}"/>
              </a:ext>
            </a:extLst>
          </p:cNvPr>
          <p:cNvSpPr>
            <a:spLocks xmlns:a="http://schemas.openxmlformats.org/drawingml/2006/main" noGrp="1"/>
          </p:cNvSpPr>
          <p:nvPr/>
        </p:nvSpPr>
        <p:spPr>
          <a:xfrm xmlns:a="http://schemas.openxmlformats.org/drawingml/2006/main">
            <a:off x="609600" y="5476875"/>
            <a:ext cx="10191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75" b="1">
                <a:solidFill>
                  <a:srgbClr val="50616B"/>
                </a:solidFill>
              </a:defRPr>
            </a:pPr>
            <a:r>
              <a:rPr sz="1575" b="1">
                <a:solidFill>
                  <a:srgbClr val="50616B"/>
                </a:solidFill>
              </a:rPr>
              <a:t>FORCES  /  CONTACT  /  EVIDENCE</a:t>
            </a:r>
          </a:p>
        </p:txBody>
      </p:sp>
    </p:spTree>
    <p:extLst>
      <p:ext uri="{BB962C8B-B14F-4D97-AF65-F5344CB8AC3E}">
        <p14:creationId xmlns:p14="http://schemas.microsoft.com/office/powerpoint/2010/main" val="875967133"/>
      </p:ext>
    </p:extLst>
  </p:cSld>
</p:sld>
</file>

<file path=ppt/slides/slide2.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1" name="top-rule">
            <a:extLst xmlns:a="http://schemas.openxmlformats.org/drawingml/2006/main">
              <a:ext uri="{FF2B5EF4-FFF2-40B4-BE49-F238E27FC236}">
                <a16:creationId xmlns:a16="http://schemas.microsoft.com/office/drawing/2014/main" id="{8A431852-DB73-4061-B0A0-607045F0BBF5}"/>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8845BB7F-3922-4A5A-97EA-BF5B338AB6C6}"/>
              </a:ext>
            </a:extLst>
          </p:cNvPr>
          <p:cNvSpPr>
            <a:spLocks xmlns:a="http://schemas.openxmlformats.org/drawingml/2006/main" noGrp="1"/>
          </p:cNvSpPr>
          <p:nvPr/>
        </p:nvSpPr>
        <p:spPr>
          <a:xfrm xmlns:a="http://schemas.openxmlformats.org/drawingml/2006/main">
            <a:off x="609600" y="762000"/>
            <a:ext cx="714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656EA50C-6969-49CB-8141-BD48E1A09CD1}"/>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What do you notice?</a:t>
            </a:r>
          </a:p>
        </p:txBody>
      </p:sp>
      <p:sp>
        <p:nvSpPr>
          <p:cNvPr id="4" name="footer-line">
            <a:extLst xmlns:a="http://schemas.openxmlformats.org/drawingml/2006/main">
              <a:ext uri="{FF2B5EF4-FFF2-40B4-BE49-F238E27FC236}">
                <a16:creationId xmlns:a16="http://schemas.microsoft.com/office/drawing/2014/main" id="{58FA8359-F686-45F8-989C-0EE7D929B284}"/>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511550B8-C139-4A59-AAF7-F24BD63666EB}"/>
              </a:ext>
            </a:extLst>
          </p:cNvPr>
          <p:cNvSpPr>
            <a:spLocks xmlns:a="http://schemas.openxmlformats.org/drawingml/2006/main" noGrp="1"/>
          </p:cNvSpPr>
          <p:nvPr/>
        </p:nvSpPr>
        <p:spPr>
          <a:xfrm xmlns:a="http://schemas.openxmlformats.org/drawingml/2006/main">
            <a:off x="609600" y="6381750"/>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3  ·  LESSON A</a:t>
            </a:r>
          </a:p>
        </p:txBody>
      </p:sp>
      <p:sp>
        <p:nvSpPr>
          <p:cNvPr id="6" name="page">
            <a:extLst xmlns:a="http://schemas.openxmlformats.org/drawingml/2006/main">
              <a:ext uri="{FF2B5EF4-FFF2-40B4-BE49-F238E27FC236}">
                <a16:creationId xmlns:a16="http://schemas.microsoft.com/office/drawing/2014/main" id="{3065CB5B-D3B9-4648-9355-47E0F170DE91}"/>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02</a:t>
            </a:r>
          </a:p>
        </p:txBody>
      </p:sp>
      <p:sp>
        <p:nvSpPr>
          <p:cNvPr id="7" name="line-0">
            <a:extLst xmlns:a="http://schemas.openxmlformats.org/drawingml/2006/main">
              <a:ext uri="{FF2B5EF4-FFF2-40B4-BE49-F238E27FC236}">
                <a16:creationId xmlns:a16="http://schemas.microsoft.com/office/drawing/2014/main" id="{67598451-CC92-4163-ABB7-4CC6A1F5841E}"/>
              </a:ext>
            </a:extLst>
          </p:cNvPr>
          <p:cNvSpPr>
            <a:spLocks xmlns:a="http://schemas.openxmlformats.org/drawingml/2006/main" noGrp="1"/>
          </p:cNvSpPr>
          <p:nvPr/>
        </p:nvSpPr>
        <p:spPr>
          <a:xfrm xmlns:a="http://schemas.openxmlformats.org/drawingml/2006/main">
            <a:off x="609600" y="2667000"/>
            <a:ext cx="10668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400" b="0">
                <a:solidFill>
                  <a:srgbClr val="152B3A"/>
                </a:solidFill>
              </a:defRPr>
            </a:pPr>
            <a:r>
              <a:rPr sz="2400" b="0">
                <a:solidFill>
                  <a:srgbClr val="152B3A"/>
                </a:solidFill>
              </a:rPr>
              <a:t>Supported: gently rub your hands for five seconds.</a:t>
            </a:r>
          </a:p>
        </p:txBody>
      </p:sp>
      <p:sp>
        <p:nvSpPr>
          <p:cNvPr id="8" name="line-1">
            <a:extLst xmlns:a="http://schemas.openxmlformats.org/drawingml/2006/main">
              <a:ext uri="{FF2B5EF4-FFF2-40B4-BE49-F238E27FC236}">
                <a16:creationId xmlns:a16="http://schemas.microsoft.com/office/drawing/2014/main" id="{D98B4E52-A3F8-43BB-8237-11BC032557D9}"/>
              </a:ext>
            </a:extLst>
          </p:cNvPr>
          <p:cNvSpPr>
            <a:spLocks xmlns:a="http://schemas.openxmlformats.org/drawingml/2006/main" noGrp="1"/>
          </p:cNvSpPr>
          <p:nvPr/>
        </p:nvSpPr>
        <p:spPr>
          <a:xfrm xmlns:a="http://schemas.openxmlformats.org/drawingml/2006/main">
            <a:off x="609600" y="3524250"/>
            <a:ext cx="10668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400" b="0">
                <a:solidFill>
                  <a:srgbClr val="152B3A"/>
                </a:solidFill>
              </a:defRPr>
            </a:pPr>
            <a:r>
              <a:rPr sz="2400" b="0">
                <a:solidFill>
                  <a:srgbClr val="152B3A"/>
                </a:solidFill>
              </a:rPr>
              <a:t>Standard: describe what you feel and name the force.</a:t>
            </a:r>
          </a:p>
        </p:txBody>
      </p:sp>
      <p:sp>
        <p:nvSpPr>
          <p:cNvPr id="9" name="line-2">
            <a:extLst xmlns:a="http://schemas.openxmlformats.org/drawingml/2006/main">
              <a:ext uri="{FF2B5EF4-FFF2-40B4-BE49-F238E27FC236}">
                <a16:creationId xmlns:a16="http://schemas.microsoft.com/office/drawing/2014/main" id="{2E98D065-9DE1-4154-8354-6608C1C09C5F}"/>
              </a:ext>
            </a:extLst>
          </p:cNvPr>
          <p:cNvSpPr>
            <a:spLocks xmlns:a="http://schemas.openxmlformats.org/drawingml/2006/main" noGrp="1"/>
          </p:cNvSpPr>
          <p:nvPr/>
        </p:nvSpPr>
        <p:spPr>
          <a:xfrm xmlns:a="http://schemas.openxmlformats.org/drawingml/2006/main">
            <a:off x="609600" y="4381500"/>
            <a:ext cx="10668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400" b="0">
                <a:solidFill>
                  <a:srgbClr val="152B3A"/>
                </a:solidFill>
              </a:defRPr>
            </a:pPr>
            <a:r>
              <a:rPr sz="2400" b="0">
                <a:solidFill>
                  <a:srgbClr val="152B3A"/>
                </a:solidFill>
              </a:rPr>
              <a:t>Stretch: explain where the warmth came from.</a:t>
            </a:r>
          </a:p>
        </p:txBody>
      </p:sp>
      <p:sp>
        <p:nvSpPr>
          <p:cNvPr id="10" name="access">
            <a:extLst xmlns:a="http://schemas.openxmlformats.org/drawingml/2006/main">
              <a:ext uri="{FF2B5EF4-FFF2-40B4-BE49-F238E27FC236}">
                <a16:creationId xmlns:a16="http://schemas.microsoft.com/office/drawing/2014/main" id="{5117258C-BCD0-4A69-86F3-9AA10EF3B6A9}"/>
              </a:ext>
            </a:extLst>
          </p:cNvPr>
          <p:cNvSpPr>
            <a:spLocks xmlns:a="http://schemas.openxmlformats.org/drawingml/2006/main" noGrp="1"/>
          </p:cNvSpPr>
          <p:nvPr/>
        </p:nvSpPr>
        <p:spPr>
          <a:xfrm xmlns:a="http://schemas.openxmlformats.org/drawingml/2006/main">
            <a:off x="609600" y="5476875"/>
            <a:ext cx="10668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100" b="1">
                <a:solidFill>
                  <a:srgbClr val="28685E"/>
                </a:solidFill>
              </a:defRPr>
            </a:pPr>
            <a:r>
              <a:rPr sz="2100" b="1">
                <a:solidFill>
                  <a:srgbClr val="28685E"/>
                </a:solidFill>
              </a:rPr>
              <a:t>You can watch, point, speak, draw or write.</a:t>
            </a:r>
          </a:p>
        </p:txBody>
      </p:sp>
    </p:spTree>
    <p:extLst>
      <p:ext uri="{BB962C8B-B14F-4D97-AF65-F5344CB8AC3E}">
        <p14:creationId xmlns:p14="http://schemas.microsoft.com/office/powerpoint/2010/main" val="1982810831"/>
      </p:ext>
    </p:extLst>
  </p:cSld>
</p:sld>
</file>

<file path=ppt/slides/slide3.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0" name="top-rule">
            <a:extLst xmlns:a="http://schemas.openxmlformats.org/drawingml/2006/main">
              <a:ext uri="{FF2B5EF4-FFF2-40B4-BE49-F238E27FC236}">
                <a16:creationId xmlns:a16="http://schemas.microsoft.com/office/drawing/2014/main" id="{264BAEB6-AC84-476E-B3B6-32A3E2BEBD57}"/>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A861D0F0-AA9B-40B7-8265-42225F4FCBDA}"/>
              </a:ext>
            </a:extLst>
          </p:cNvPr>
          <p:cNvSpPr>
            <a:spLocks xmlns:a="http://schemas.openxmlformats.org/drawingml/2006/main" noGrp="1"/>
          </p:cNvSpPr>
          <p:nvPr/>
        </p:nvSpPr>
        <p:spPr>
          <a:xfrm xmlns:a="http://schemas.openxmlformats.org/drawingml/2006/main">
            <a:off x="609600" y="762000"/>
            <a:ext cx="714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1CEA3F8E-E0AA-40A1-BCE0-781D19D0F258}"/>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Three things to work out</a:t>
            </a:r>
          </a:p>
        </p:txBody>
      </p:sp>
      <p:sp>
        <p:nvSpPr>
          <p:cNvPr id="4" name="footer-line">
            <a:extLst xmlns:a="http://schemas.openxmlformats.org/drawingml/2006/main">
              <a:ext uri="{FF2B5EF4-FFF2-40B4-BE49-F238E27FC236}">
                <a16:creationId xmlns:a16="http://schemas.microsoft.com/office/drawing/2014/main" id="{ABE75D2C-768E-4D00-AE81-8FAB3CFCA655}"/>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E60EEF79-0A1C-4146-8208-D42C5A161581}"/>
              </a:ext>
            </a:extLst>
          </p:cNvPr>
          <p:cNvSpPr>
            <a:spLocks xmlns:a="http://schemas.openxmlformats.org/drawingml/2006/main" noGrp="1"/>
          </p:cNvSpPr>
          <p:nvPr/>
        </p:nvSpPr>
        <p:spPr>
          <a:xfrm xmlns:a="http://schemas.openxmlformats.org/drawingml/2006/main">
            <a:off x="609600" y="6381750"/>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3  ·  LESSON A</a:t>
            </a:r>
          </a:p>
        </p:txBody>
      </p:sp>
      <p:sp>
        <p:nvSpPr>
          <p:cNvPr id="6" name="page">
            <a:extLst xmlns:a="http://schemas.openxmlformats.org/drawingml/2006/main">
              <a:ext uri="{FF2B5EF4-FFF2-40B4-BE49-F238E27FC236}">
                <a16:creationId xmlns:a16="http://schemas.microsoft.com/office/drawing/2014/main" id="{0D8E69DC-C15B-4B5B-B099-1C514864358C}"/>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03</a:t>
            </a:r>
          </a:p>
        </p:txBody>
      </p:sp>
      <p:sp>
        <p:nvSpPr>
          <p:cNvPr id="7" name="line-0">
            <a:extLst xmlns:a="http://schemas.openxmlformats.org/drawingml/2006/main">
              <a:ext uri="{FF2B5EF4-FFF2-40B4-BE49-F238E27FC236}">
                <a16:creationId xmlns:a16="http://schemas.microsoft.com/office/drawing/2014/main" id="{48FA046A-B442-41C2-8620-15860FE0831F}"/>
              </a:ext>
            </a:extLst>
          </p:cNvPr>
          <p:cNvSpPr>
            <a:spLocks xmlns:a="http://schemas.openxmlformats.org/drawingml/2006/main" noGrp="1"/>
          </p:cNvSpPr>
          <p:nvPr/>
        </p:nvSpPr>
        <p:spPr>
          <a:xfrm xmlns:a="http://schemas.openxmlformats.org/drawingml/2006/main">
            <a:off x="609600" y="2667000"/>
            <a:ext cx="106680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850" b="0">
                <a:solidFill>
                  <a:srgbClr val="152B3A"/>
                </a:solidFill>
              </a:defRPr>
            </a:pPr>
            <a:r>
              <a:rPr sz="2850" b="0">
                <a:solidFill>
                  <a:srgbClr val="152B3A"/>
                </a:solidFill>
              </a:rPr>
              <a:t>1   What is friction?</a:t>
            </a:r>
          </a:p>
        </p:txBody>
      </p:sp>
      <p:sp>
        <p:nvSpPr>
          <p:cNvPr id="8" name="line-1">
            <a:extLst xmlns:a="http://schemas.openxmlformats.org/drawingml/2006/main">
              <a:ext uri="{FF2B5EF4-FFF2-40B4-BE49-F238E27FC236}">
                <a16:creationId xmlns:a16="http://schemas.microsoft.com/office/drawing/2014/main" id="{8ED121BF-6D19-41BE-8AB2-677B3DAC7AA7}"/>
              </a:ext>
            </a:extLst>
          </p:cNvPr>
          <p:cNvSpPr>
            <a:spLocks xmlns:a="http://schemas.openxmlformats.org/drawingml/2006/main" noGrp="1"/>
          </p:cNvSpPr>
          <p:nvPr/>
        </p:nvSpPr>
        <p:spPr>
          <a:xfrm xmlns:a="http://schemas.openxmlformats.org/drawingml/2006/main">
            <a:off x="609600" y="3571875"/>
            <a:ext cx="106680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850" b="0">
                <a:solidFill>
                  <a:srgbClr val="152B3A"/>
                </a:solidFill>
              </a:defRPr>
            </a:pPr>
            <a:r>
              <a:rPr sz="2850" b="0">
                <a:solidFill>
                  <a:srgbClr val="152B3A"/>
                </a:solidFill>
              </a:rPr>
              <a:t>2   When does friction help or hinder?</a:t>
            </a:r>
          </a:p>
        </p:txBody>
      </p:sp>
      <p:sp>
        <p:nvSpPr>
          <p:cNvPr id="9" name="line-2">
            <a:extLst xmlns:a="http://schemas.openxmlformats.org/drawingml/2006/main">
              <a:ext uri="{FF2B5EF4-FFF2-40B4-BE49-F238E27FC236}">
                <a16:creationId xmlns:a16="http://schemas.microsoft.com/office/drawing/2014/main" id="{24B07689-0355-410C-9AD7-F3B6AE24B0FA}"/>
              </a:ext>
            </a:extLst>
          </p:cNvPr>
          <p:cNvSpPr>
            <a:spLocks xmlns:a="http://schemas.openxmlformats.org/drawingml/2006/main" noGrp="1"/>
          </p:cNvSpPr>
          <p:nvPr/>
        </p:nvSpPr>
        <p:spPr>
          <a:xfrm xmlns:a="http://schemas.openxmlformats.org/drawingml/2006/main">
            <a:off x="609600" y="4476750"/>
            <a:ext cx="106680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850" b="0">
                <a:solidFill>
                  <a:srgbClr val="152B3A"/>
                </a:solidFill>
              </a:defRPr>
            </a:pPr>
            <a:r>
              <a:rPr sz="2850" b="0">
                <a:solidFill>
                  <a:srgbClr val="152B3A"/>
                </a:solidFill>
              </a:rPr>
              <a:t>3   What will happen on two different surfaces?</a:t>
            </a:r>
          </a:p>
        </p:txBody>
      </p:sp>
    </p:spTree>
    <p:extLst>
      <p:ext uri="{BB962C8B-B14F-4D97-AF65-F5344CB8AC3E}">
        <p14:creationId xmlns:p14="http://schemas.microsoft.com/office/powerpoint/2010/main" val="505171895"/>
      </p:ext>
    </p:extLst>
  </p:cSld>
</p:sld>
</file>

<file path=ppt/slides/slide4.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6" name="top-rule">
            <a:extLst xmlns:a="http://schemas.openxmlformats.org/drawingml/2006/main">
              <a:ext uri="{FF2B5EF4-FFF2-40B4-BE49-F238E27FC236}">
                <a16:creationId xmlns:a16="http://schemas.microsoft.com/office/drawing/2014/main" id="{A23E7316-33C0-4A6D-8D39-073011101616}"/>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5C6D2661-64E6-4FE6-986D-B53AB44855EB}"/>
              </a:ext>
            </a:extLst>
          </p:cNvPr>
          <p:cNvSpPr>
            <a:spLocks xmlns:a="http://schemas.openxmlformats.org/drawingml/2006/main" noGrp="1"/>
          </p:cNvSpPr>
          <p:nvPr/>
        </p:nvSpPr>
        <p:spPr>
          <a:xfrm xmlns:a="http://schemas.openxmlformats.org/drawingml/2006/main">
            <a:off x="609600" y="762000"/>
            <a:ext cx="714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F151BD36-4226-4D84-B7D7-3E83D5D25361}"/>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Friction acts at a contact</a:t>
            </a:r>
          </a:p>
        </p:txBody>
      </p:sp>
      <p:sp>
        <p:nvSpPr>
          <p:cNvPr id="4" name="footer-line">
            <a:extLst xmlns:a="http://schemas.openxmlformats.org/drawingml/2006/main">
              <a:ext uri="{FF2B5EF4-FFF2-40B4-BE49-F238E27FC236}">
                <a16:creationId xmlns:a16="http://schemas.microsoft.com/office/drawing/2014/main" id="{DD235144-96AF-47AB-9861-33F9BFA48CC1}"/>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E6F4C476-3B65-43EE-B658-07D0A9F1A94B}"/>
              </a:ext>
            </a:extLst>
          </p:cNvPr>
          <p:cNvSpPr>
            <a:spLocks xmlns:a="http://schemas.openxmlformats.org/drawingml/2006/main" noGrp="1"/>
          </p:cNvSpPr>
          <p:nvPr/>
        </p:nvSpPr>
        <p:spPr>
          <a:xfrm xmlns:a="http://schemas.openxmlformats.org/drawingml/2006/main">
            <a:off x="609600" y="6381750"/>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3  ·  LESSON A</a:t>
            </a:r>
          </a:p>
        </p:txBody>
      </p:sp>
      <p:sp>
        <p:nvSpPr>
          <p:cNvPr id="6" name="page">
            <a:extLst xmlns:a="http://schemas.openxmlformats.org/drawingml/2006/main">
              <a:ext uri="{FF2B5EF4-FFF2-40B4-BE49-F238E27FC236}">
                <a16:creationId xmlns:a16="http://schemas.microsoft.com/office/drawing/2014/main" id="{C9645347-B6B9-421C-8A62-EA023E5287CD}"/>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04</a:t>
            </a:r>
          </a:p>
        </p:txBody>
      </p:sp>
      <p:sp>
        <p:nvSpPr>
          <p:cNvPr id="7" name="motion-arrow">
            <a:extLst xmlns:a="http://schemas.openxmlformats.org/drawingml/2006/main">
              <a:ext uri="{FF2B5EF4-FFF2-40B4-BE49-F238E27FC236}">
                <a16:creationId xmlns:a16="http://schemas.microsoft.com/office/drawing/2014/main" id="{C286DCE9-4ED2-411D-84B8-07C352DC4B14}"/>
              </a:ext>
            </a:extLst>
          </p:cNvPr>
          <p:cNvSpPr>
            <a:spLocks xmlns:a="http://schemas.openxmlformats.org/drawingml/2006/main" noGrp="1"/>
          </p:cNvSpPr>
          <p:nvPr/>
        </p:nvSpPr>
        <p:spPr>
          <a:xfrm xmlns:a="http://schemas.openxmlformats.org/drawingml/2006/main">
            <a:off x="2762250" y="2876550"/>
            <a:ext cx="1952625" cy="323850"/>
          </a:xfrm>
          <a:prstGeom xmlns:a="http://schemas.openxmlformats.org/drawingml/2006/main" prst="rightArrow">
            <a:avLst/>
          </a:prstGeom>
          <a:solidFill xmlns:a="http://schemas.openxmlformats.org/drawingml/2006/main">
            <a:srgbClr val="28685E"/>
          </a:solidFill>
          <a:ln xmlns:a="http://schemas.openxmlformats.org/drawingml/2006/main" w="0">
            <a:noFill/>
            <a:prstDash val="solid"/>
          </a:ln>
        </p:spPr>
      </p:sp>
      <p:sp>
        <p:nvSpPr>
          <p:cNvPr id="8" name="friction-arrow">
            <a:extLst xmlns:a="http://schemas.openxmlformats.org/drawingml/2006/main">
              <a:ext uri="{FF2B5EF4-FFF2-40B4-BE49-F238E27FC236}">
                <a16:creationId xmlns:a16="http://schemas.microsoft.com/office/drawing/2014/main" id="{F00C1050-A508-4FD2-A90D-95D93B0BF0E7}"/>
              </a:ext>
            </a:extLst>
          </p:cNvPr>
          <p:cNvSpPr>
            <a:spLocks xmlns:a="http://schemas.openxmlformats.org/drawingml/2006/main" noGrp="1"/>
          </p:cNvSpPr>
          <p:nvPr/>
        </p:nvSpPr>
        <p:spPr>
          <a:xfrm xmlns:a="http://schemas.openxmlformats.org/drawingml/2006/main">
            <a:off x="1476375" y="4619625"/>
            <a:ext cx="1952625" cy="323850"/>
          </a:xfrm>
          <a:prstGeom xmlns:a="http://schemas.openxmlformats.org/drawingml/2006/main" prst="leftArrow">
            <a:avLst/>
          </a:prstGeom>
          <a:solidFill xmlns:a="http://schemas.openxmlformats.org/drawingml/2006/main">
            <a:srgbClr val="A65D25"/>
          </a:solidFill>
          <a:ln xmlns:a="http://schemas.openxmlformats.org/drawingml/2006/main" w="0">
            <a:noFill/>
            <a:prstDash val="solid"/>
          </a:ln>
        </p:spPr>
      </p:sp>
      <p:sp>
        <p:nvSpPr>
          <p:cNvPr id="9" name="surface">
            <a:extLst xmlns:a="http://schemas.openxmlformats.org/drawingml/2006/main">
              <a:ext uri="{FF2B5EF4-FFF2-40B4-BE49-F238E27FC236}">
                <a16:creationId xmlns:a16="http://schemas.microsoft.com/office/drawing/2014/main" id="{DD0C535E-3298-42C6-9D69-E5DBF594300E}"/>
              </a:ext>
            </a:extLst>
          </p:cNvPr>
          <p:cNvSpPr>
            <a:spLocks xmlns:a="http://schemas.openxmlformats.org/drawingml/2006/main" noGrp="1"/>
          </p:cNvSpPr>
          <p:nvPr/>
        </p:nvSpPr>
        <p:spPr>
          <a:xfrm xmlns:a="http://schemas.openxmlformats.org/drawingml/2006/main">
            <a:off x="1095375" y="4362450"/>
            <a:ext cx="4714875" cy="190500"/>
          </a:xfrm>
          <a:prstGeom xmlns:a="http://schemas.openxmlformats.org/drawingml/2006/main" prst="rect">
            <a:avLst/>
          </a:prstGeom>
          <a:solidFill xmlns:a="http://schemas.openxmlformats.org/drawingml/2006/main">
            <a:srgbClr val="50616B"/>
          </a:solidFill>
          <a:ln xmlns:a="http://schemas.openxmlformats.org/drawingml/2006/main" w="0">
            <a:noFill/>
            <a:prstDash val="solid"/>
          </a:ln>
        </p:spPr>
      </p:sp>
      <p:sp>
        <p:nvSpPr>
          <p:cNvPr id="10" name="block">
            <a:extLst xmlns:a="http://schemas.openxmlformats.org/drawingml/2006/main">
              <a:ext uri="{FF2B5EF4-FFF2-40B4-BE49-F238E27FC236}">
                <a16:creationId xmlns:a16="http://schemas.microsoft.com/office/drawing/2014/main" id="{284984E4-F78F-441F-9D68-432809FF6927}"/>
              </a:ext>
            </a:extLst>
          </p:cNvPr>
          <p:cNvSpPr>
            <a:spLocks xmlns:a="http://schemas.openxmlformats.org/drawingml/2006/main" noGrp="1"/>
          </p:cNvSpPr>
          <p:nvPr/>
        </p:nvSpPr>
        <p:spPr>
          <a:xfrm xmlns:a="http://schemas.openxmlformats.org/drawingml/2006/main">
            <a:off x="2524125" y="3429000"/>
            <a:ext cx="1619250" cy="933450"/>
          </a:xfrm>
          <a:prstGeom xmlns:a="http://schemas.openxmlformats.org/drawingml/2006/main" prst="rect">
            <a:avLst/>
          </a:prstGeom>
          <a:solidFill xmlns:a="http://schemas.openxmlformats.org/drawingml/2006/main">
            <a:srgbClr val="DCE7DD"/>
          </a:solidFill>
          <a:ln xmlns:a="http://schemas.openxmlformats.org/drawingml/2006/main" w="19050">
            <a:solidFill>
              <a:srgbClr val="152B3A"/>
            </a:solidFill>
            <a:prstDash val="solid"/>
          </a:ln>
        </p:spPr>
      </p:sp>
      <p:sp>
        <p:nvSpPr>
          <p:cNvPr id="11" name="block-name">
            <a:extLst xmlns:a="http://schemas.openxmlformats.org/drawingml/2006/main">
              <a:ext uri="{FF2B5EF4-FFF2-40B4-BE49-F238E27FC236}">
                <a16:creationId xmlns:a16="http://schemas.microsoft.com/office/drawing/2014/main" id="{A0994471-F13C-4662-B4ED-895E97753207}"/>
              </a:ext>
            </a:extLst>
          </p:cNvPr>
          <p:cNvSpPr>
            <a:spLocks xmlns:a="http://schemas.openxmlformats.org/drawingml/2006/main" noGrp="1"/>
          </p:cNvSpPr>
          <p:nvPr/>
        </p:nvSpPr>
        <p:spPr>
          <a:xfrm xmlns:a="http://schemas.openxmlformats.org/drawingml/2006/main">
            <a:off x="2676525" y="3714750"/>
            <a:ext cx="13144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025" b="1">
                <a:solidFill>
                  <a:srgbClr val="152B3A"/>
                </a:solidFill>
              </a:defRPr>
            </a:pPr>
            <a:r>
              <a:rPr sz="2025" b="1">
                <a:solidFill>
                  <a:srgbClr val="152B3A"/>
                </a:solidFill>
              </a:rPr>
              <a:t>BLOCK</a:t>
            </a:r>
          </a:p>
        </p:txBody>
      </p:sp>
      <p:sp>
        <p:nvSpPr>
          <p:cNvPr id="12" name="motion-label">
            <a:extLst xmlns:a="http://schemas.openxmlformats.org/drawingml/2006/main">
              <a:ext uri="{FF2B5EF4-FFF2-40B4-BE49-F238E27FC236}">
                <a16:creationId xmlns:a16="http://schemas.microsoft.com/office/drawing/2014/main" id="{F4FAD714-D56F-49F1-8B56-8C810B21749F}"/>
              </a:ext>
            </a:extLst>
          </p:cNvPr>
          <p:cNvSpPr>
            <a:spLocks xmlns:a="http://schemas.openxmlformats.org/drawingml/2006/main" noGrp="1"/>
          </p:cNvSpPr>
          <p:nvPr/>
        </p:nvSpPr>
        <p:spPr>
          <a:xfrm xmlns:a="http://schemas.openxmlformats.org/drawingml/2006/main">
            <a:off x="2524125" y="2476500"/>
            <a:ext cx="2762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950" b="1">
                <a:solidFill>
                  <a:srgbClr val="28685E"/>
                </a:solidFill>
              </a:defRPr>
            </a:pPr>
            <a:r>
              <a:rPr sz="1950" b="1">
                <a:solidFill>
                  <a:srgbClr val="28685E"/>
                </a:solidFill>
              </a:rPr>
              <a:t>sliding right</a:t>
            </a:r>
          </a:p>
        </p:txBody>
      </p:sp>
      <p:sp>
        <p:nvSpPr>
          <p:cNvPr id="13" name="friction-label">
            <a:extLst xmlns:a="http://schemas.openxmlformats.org/drawingml/2006/main">
              <a:ext uri="{FF2B5EF4-FFF2-40B4-BE49-F238E27FC236}">
                <a16:creationId xmlns:a16="http://schemas.microsoft.com/office/drawing/2014/main" id="{9E74F9BE-DC51-4B6B-91D9-7D3516EFCA0F}"/>
              </a:ext>
            </a:extLst>
          </p:cNvPr>
          <p:cNvSpPr>
            <a:spLocks xmlns:a="http://schemas.openxmlformats.org/drawingml/2006/main" noGrp="1"/>
          </p:cNvSpPr>
          <p:nvPr/>
        </p:nvSpPr>
        <p:spPr>
          <a:xfrm xmlns:a="http://schemas.openxmlformats.org/drawingml/2006/main">
            <a:off x="1143000" y="5105400"/>
            <a:ext cx="4667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950" b="1">
                <a:solidFill>
                  <a:srgbClr val="A65D25"/>
                </a:solidFill>
              </a:defRPr>
            </a:pPr>
            <a:r>
              <a:rPr sz="1950" b="1">
                <a:solidFill>
                  <a:srgbClr val="A65D25"/>
                </a:solidFill>
              </a:rPr>
              <a:t>friction on the block</a:t>
            </a:r>
          </a:p>
        </p:txBody>
      </p:sp>
      <p:sp>
        <p:nvSpPr>
          <p:cNvPr id="14" name="definition">
            <a:extLst xmlns:a="http://schemas.openxmlformats.org/drawingml/2006/main">
              <a:ext uri="{FF2B5EF4-FFF2-40B4-BE49-F238E27FC236}">
                <a16:creationId xmlns:a16="http://schemas.microsoft.com/office/drawing/2014/main" id="{8ABF41B4-EC9C-4DB8-B743-B7024BAE2ADF}"/>
              </a:ext>
            </a:extLst>
          </p:cNvPr>
          <p:cNvSpPr>
            <a:spLocks xmlns:a="http://schemas.openxmlformats.org/drawingml/2006/main" noGrp="1"/>
          </p:cNvSpPr>
          <p:nvPr/>
        </p:nvSpPr>
        <p:spPr>
          <a:xfrm xmlns:a="http://schemas.openxmlformats.org/drawingml/2006/main">
            <a:off x="6667500" y="2838450"/>
            <a:ext cx="4762500" cy="1571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1">
                <a:solidFill>
                  <a:srgbClr val="152B3A"/>
                </a:solidFill>
              </a:defRPr>
            </a:pPr>
            <a:r>
              <a:rPr sz="2550" b="1">
                <a:solidFill>
                  <a:srgbClr val="152B3A"/>
                </a:solidFill>
              </a:rPr>
              <a:t>A force between surfaces that slide, or try to slide, past each other.</a:t>
            </a:r>
          </a:p>
        </p:txBody>
      </p:sp>
      <p:sp>
        <p:nvSpPr>
          <p:cNvPr id="15" name="contact">
            <a:extLst xmlns:a="http://schemas.openxmlformats.org/drawingml/2006/main">
              <a:ext uri="{FF2B5EF4-FFF2-40B4-BE49-F238E27FC236}">
                <a16:creationId xmlns:a16="http://schemas.microsoft.com/office/drawing/2014/main" id="{0209D406-EDCB-4EE8-8431-140A7591B595}"/>
              </a:ext>
            </a:extLst>
          </p:cNvPr>
          <p:cNvSpPr>
            <a:spLocks xmlns:a="http://schemas.openxmlformats.org/drawingml/2006/main" noGrp="1"/>
          </p:cNvSpPr>
          <p:nvPr/>
        </p:nvSpPr>
        <p:spPr>
          <a:xfrm xmlns:a="http://schemas.openxmlformats.org/drawingml/2006/main">
            <a:off x="6667500" y="4705350"/>
            <a:ext cx="4762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250" b="0">
                <a:solidFill>
                  <a:srgbClr val="152B3A"/>
                </a:solidFill>
              </a:defRPr>
            </a:pPr>
            <a:r>
              <a:rPr sz="2250" b="0">
                <a:solidFill>
                  <a:srgbClr val="152B3A"/>
                </a:solidFill>
              </a:rPr>
              <a:t>Name the two touching surfaces.</a:t>
            </a:r>
          </a:p>
        </p:txBody>
      </p:sp>
    </p:spTree>
    <p:extLst>
      <p:ext uri="{BB962C8B-B14F-4D97-AF65-F5344CB8AC3E}">
        <p14:creationId xmlns:p14="http://schemas.microsoft.com/office/powerpoint/2010/main" val="1167052122"/>
      </p:ext>
    </p:extLst>
  </p:cSld>
</p:sld>
</file>

<file path=ppt/slides/slide5.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2" name="top-rule">
            <a:extLst xmlns:a="http://schemas.openxmlformats.org/drawingml/2006/main">
              <a:ext uri="{FF2B5EF4-FFF2-40B4-BE49-F238E27FC236}">
                <a16:creationId xmlns:a16="http://schemas.microsoft.com/office/drawing/2014/main" id="{0F50466D-6A2C-4B1E-9583-8739091C4B97}"/>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C8269068-3B25-4171-9AEB-CF7856E0E152}"/>
              </a:ext>
            </a:extLst>
          </p:cNvPr>
          <p:cNvSpPr>
            <a:spLocks xmlns:a="http://schemas.openxmlformats.org/drawingml/2006/main" noGrp="1"/>
          </p:cNvSpPr>
          <p:nvPr/>
        </p:nvSpPr>
        <p:spPr>
          <a:xfrm xmlns:a="http://schemas.openxmlformats.org/drawingml/2006/main">
            <a:off x="609600" y="762000"/>
            <a:ext cx="714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B1F8F32E-1B20-4651-9C54-78EF7B402B8E}"/>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Change one thing: the surface</a:t>
            </a:r>
          </a:p>
        </p:txBody>
      </p:sp>
      <p:sp>
        <p:nvSpPr>
          <p:cNvPr id="4" name="footer-line">
            <a:extLst xmlns:a="http://schemas.openxmlformats.org/drawingml/2006/main">
              <a:ext uri="{FF2B5EF4-FFF2-40B4-BE49-F238E27FC236}">
                <a16:creationId xmlns:a16="http://schemas.microsoft.com/office/drawing/2014/main" id="{CE047752-2682-4C52-890F-E35DA0B4CB3D}"/>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18241C7F-F485-4A49-AF02-1B58BA923536}"/>
              </a:ext>
            </a:extLst>
          </p:cNvPr>
          <p:cNvSpPr>
            <a:spLocks xmlns:a="http://schemas.openxmlformats.org/drawingml/2006/main" noGrp="1"/>
          </p:cNvSpPr>
          <p:nvPr/>
        </p:nvSpPr>
        <p:spPr>
          <a:xfrm xmlns:a="http://schemas.openxmlformats.org/drawingml/2006/main">
            <a:off x="609600" y="6381750"/>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3  ·  LESSON A</a:t>
            </a:r>
          </a:p>
        </p:txBody>
      </p:sp>
      <p:sp>
        <p:nvSpPr>
          <p:cNvPr id="6" name="page">
            <a:extLst xmlns:a="http://schemas.openxmlformats.org/drawingml/2006/main">
              <a:ext uri="{FF2B5EF4-FFF2-40B4-BE49-F238E27FC236}">
                <a16:creationId xmlns:a16="http://schemas.microsoft.com/office/drawing/2014/main" id="{AC9ADB6A-A8A9-45B9-8390-1F301160ECE3}"/>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05</a:t>
            </a:r>
          </a:p>
        </p:txBody>
      </p:sp>
      <p:sp>
        <p:nvSpPr>
          <p:cNvPr id="7" name="line-0">
            <a:extLst xmlns:a="http://schemas.openxmlformats.org/drawingml/2006/main">
              <a:ext uri="{FF2B5EF4-FFF2-40B4-BE49-F238E27FC236}">
                <a16:creationId xmlns:a16="http://schemas.microsoft.com/office/drawing/2014/main" id="{4B521DCD-B088-46AB-AE1E-86BFAE10BB24}"/>
              </a:ext>
            </a:extLst>
          </p:cNvPr>
          <p:cNvSpPr>
            <a:spLocks xmlns:a="http://schemas.openxmlformats.org/drawingml/2006/main" noGrp="1"/>
          </p:cNvSpPr>
          <p:nvPr/>
        </p:nvSpPr>
        <p:spPr>
          <a:xfrm xmlns:a="http://schemas.openxmlformats.org/drawingml/2006/main">
            <a:off x="609600" y="2619375"/>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400" b="0">
                <a:solidFill>
                  <a:srgbClr val="152B3A"/>
                </a:solidFill>
              </a:defRPr>
            </a:pPr>
            <a:r>
              <a:rPr sz="2400" b="0">
                <a:solidFill>
                  <a:srgbClr val="152B3A"/>
                </a:solidFill>
              </a:rPr>
              <a:t>Keep the block, ramp and release the same.</a:t>
            </a:r>
          </a:p>
        </p:txBody>
      </p:sp>
      <p:sp>
        <p:nvSpPr>
          <p:cNvPr id="8" name="line-1">
            <a:extLst xmlns:a="http://schemas.openxmlformats.org/drawingml/2006/main">
              <a:ext uri="{FF2B5EF4-FFF2-40B4-BE49-F238E27FC236}">
                <a16:creationId xmlns:a16="http://schemas.microsoft.com/office/drawing/2014/main" id="{4F7EF35E-738E-4A8C-B1B0-175438FD9D08}"/>
              </a:ext>
            </a:extLst>
          </p:cNvPr>
          <p:cNvSpPr>
            <a:spLocks xmlns:a="http://schemas.openxmlformats.org/drawingml/2006/main" noGrp="1"/>
          </p:cNvSpPr>
          <p:nvPr/>
        </p:nvSpPr>
        <p:spPr>
          <a:xfrm xmlns:a="http://schemas.openxmlformats.org/drawingml/2006/main">
            <a:off x="609600" y="3343275"/>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400" b="0">
                <a:solidFill>
                  <a:srgbClr val="152B3A"/>
                </a:solidFill>
              </a:defRPr>
            </a:pPr>
            <a:r>
              <a:rPr sz="2400" b="0">
                <a:solidFill>
                  <a:srgbClr val="152B3A"/>
                </a:solidFill>
              </a:rPr>
              <a:t>Change only the run-out surface.</a:t>
            </a:r>
          </a:p>
        </p:txBody>
      </p:sp>
      <p:sp>
        <p:nvSpPr>
          <p:cNvPr id="9" name="line-2">
            <a:extLst xmlns:a="http://schemas.openxmlformats.org/drawingml/2006/main">
              <a:ext uri="{FF2B5EF4-FFF2-40B4-BE49-F238E27FC236}">
                <a16:creationId xmlns:a16="http://schemas.microsoft.com/office/drawing/2014/main" id="{D22C6481-C8BB-4E7B-BC67-9CC801921D6C}"/>
              </a:ext>
            </a:extLst>
          </p:cNvPr>
          <p:cNvSpPr>
            <a:spLocks xmlns:a="http://schemas.openxmlformats.org/drawingml/2006/main" noGrp="1"/>
          </p:cNvSpPr>
          <p:nvPr/>
        </p:nvSpPr>
        <p:spPr>
          <a:xfrm xmlns:a="http://schemas.openxmlformats.org/drawingml/2006/main">
            <a:off x="609600" y="4067175"/>
            <a:ext cx="10668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400" b="0">
                <a:solidFill>
                  <a:srgbClr val="152B3A"/>
                </a:solidFill>
              </a:defRPr>
            </a:pPr>
            <a:r>
              <a:rPr sz="2400" b="0">
                <a:solidFill>
                  <a:srgbClr val="152B3A"/>
                </a:solidFill>
              </a:rPr>
              <a:t>Predict where the block will stop. Then observe.</a:t>
            </a:r>
          </a:p>
        </p:txBody>
      </p:sp>
      <p:sp>
        <p:nvSpPr>
          <p:cNvPr id="10" name="comparison-rule">
            <a:extLst xmlns:a="http://schemas.openxmlformats.org/drawingml/2006/main">
              <a:ext uri="{FF2B5EF4-FFF2-40B4-BE49-F238E27FC236}">
                <a16:creationId xmlns:a16="http://schemas.microsoft.com/office/drawing/2014/main" id="{C4CDA1BD-5786-4D1D-80AB-AEA27D70D90A}"/>
              </a:ext>
            </a:extLst>
          </p:cNvPr>
          <p:cNvSpPr>
            <a:spLocks xmlns:a="http://schemas.openxmlformats.org/drawingml/2006/main" noGrp="1"/>
          </p:cNvSpPr>
          <p:nvPr/>
        </p:nvSpPr>
        <p:spPr>
          <a:xfrm xmlns:a="http://schemas.openxmlformats.org/drawingml/2006/main">
            <a:off x="609600" y="5105400"/>
            <a:ext cx="10972800" cy="3810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11" name="comparison-prompt">
            <a:extLst xmlns:a="http://schemas.openxmlformats.org/drawingml/2006/main">
              <a:ext uri="{FF2B5EF4-FFF2-40B4-BE49-F238E27FC236}">
                <a16:creationId xmlns:a16="http://schemas.microsoft.com/office/drawing/2014/main" id="{2813A675-B4BD-4ADF-8560-8121C1199D10}"/>
              </a:ext>
            </a:extLst>
          </p:cNvPr>
          <p:cNvSpPr>
            <a:spLocks xmlns:a="http://schemas.openxmlformats.org/drawingml/2006/main" noGrp="1"/>
          </p:cNvSpPr>
          <p:nvPr/>
        </p:nvSpPr>
        <p:spPr>
          <a:xfrm xmlns:a="http://schemas.openxmlformats.org/drawingml/2006/main">
            <a:off x="609600" y="5353050"/>
            <a:ext cx="10477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775" b="1">
                <a:solidFill>
                  <a:srgbClr val="28685E"/>
                </a:solidFill>
              </a:defRPr>
            </a:pPr>
            <a:r>
              <a:rPr sz="2775" b="1">
                <a:solidFill>
                  <a:srgbClr val="28685E"/>
                </a:solidFill>
              </a:rPr>
              <a:t>What stayed the same? What changed?</a:t>
            </a:r>
          </a:p>
        </p:txBody>
      </p:sp>
    </p:spTree>
    <p:extLst>
      <p:ext uri="{BB962C8B-B14F-4D97-AF65-F5344CB8AC3E}">
        <p14:creationId xmlns:p14="http://schemas.microsoft.com/office/powerpoint/2010/main" val="238146219"/>
      </p:ext>
    </p:extLst>
  </p:cSld>
</p:sld>
</file>

<file path=ppt/slides/slide6.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3" name="top-rule">
            <a:extLst xmlns:a="http://schemas.openxmlformats.org/drawingml/2006/main">
              <a:ext uri="{FF2B5EF4-FFF2-40B4-BE49-F238E27FC236}">
                <a16:creationId xmlns:a16="http://schemas.microsoft.com/office/drawing/2014/main" id="{3D51A761-8427-46CB-A4B1-20EC1DFF494B}"/>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DC876279-A8A2-47C0-9B21-0709B9FADDD9}"/>
              </a:ext>
            </a:extLst>
          </p:cNvPr>
          <p:cNvSpPr>
            <a:spLocks xmlns:a="http://schemas.openxmlformats.org/drawingml/2006/main" noGrp="1"/>
          </p:cNvSpPr>
          <p:nvPr/>
        </p:nvSpPr>
        <p:spPr>
          <a:xfrm xmlns:a="http://schemas.openxmlformats.org/drawingml/2006/main">
            <a:off x="609600" y="762000"/>
            <a:ext cx="714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F39A13E5-4113-45F4-A4E8-718909BACAF0}"/>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Helpful or unhelpful?</a:t>
            </a:r>
          </a:p>
        </p:txBody>
      </p:sp>
      <p:sp>
        <p:nvSpPr>
          <p:cNvPr id="4" name="footer-line">
            <a:extLst xmlns:a="http://schemas.openxmlformats.org/drawingml/2006/main">
              <a:ext uri="{FF2B5EF4-FFF2-40B4-BE49-F238E27FC236}">
                <a16:creationId xmlns:a16="http://schemas.microsoft.com/office/drawing/2014/main" id="{5E20AC66-B9E1-4836-A198-265C229AA977}"/>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A771E70B-CD68-4923-BFBC-9F3D09BE2B09}"/>
              </a:ext>
            </a:extLst>
          </p:cNvPr>
          <p:cNvSpPr>
            <a:spLocks xmlns:a="http://schemas.openxmlformats.org/drawingml/2006/main" noGrp="1"/>
          </p:cNvSpPr>
          <p:nvPr/>
        </p:nvSpPr>
        <p:spPr>
          <a:xfrm xmlns:a="http://schemas.openxmlformats.org/drawingml/2006/main">
            <a:off x="609600" y="6381750"/>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3  ·  LESSON A</a:t>
            </a:r>
          </a:p>
        </p:txBody>
      </p:sp>
      <p:sp>
        <p:nvSpPr>
          <p:cNvPr id="6" name="page">
            <a:extLst xmlns:a="http://schemas.openxmlformats.org/drawingml/2006/main">
              <a:ext uri="{FF2B5EF4-FFF2-40B4-BE49-F238E27FC236}">
                <a16:creationId xmlns:a16="http://schemas.microsoft.com/office/drawing/2014/main" id="{59340C5F-9A2C-4A77-BEED-CBAD2B0E3C76}"/>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06</a:t>
            </a:r>
          </a:p>
        </p:txBody>
      </p:sp>
      <p:sp>
        <p:nvSpPr>
          <p:cNvPr id="7" name="line-0">
            <a:extLst xmlns:a="http://schemas.openxmlformats.org/drawingml/2006/main">
              <a:ext uri="{FF2B5EF4-FFF2-40B4-BE49-F238E27FC236}">
                <a16:creationId xmlns:a16="http://schemas.microsoft.com/office/drawing/2014/main" id="{90E009D7-997D-48E9-9B11-01F5A419459E}"/>
              </a:ext>
            </a:extLst>
          </p:cNvPr>
          <p:cNvSpPr>
            <a:spLocks xmlns:a="http://schemas.openxmlformats.org/drawingml/2006/main" noGrp="1"/>
          </p:cNvSpPr>
          <p:nvPr/>
        </p:nvSpPr>
        <p:spPr>
          <a:xfrm xmlns:a="http://schemas.openxmlformats.org/drawingml/2006/main">
            <a:off x="609600" y="2495550"/>
            <a:ext cx="10668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325" b="0">
                <a:solidFill>
                  <a:srgbClr val="152B3A"/>
                </a:solidFill>
              </a:defRPr>
            </a:pPr>
            <a:r>
              <a:rPr sz="2325" b="0">
                <a:solidFill>
                  <a:srgbClr val="152B3A"/>
                </a:solidFill>
              </a:rPr>
              <a:t>Bike brakes</a:t>
            </a:r>
          </a:p>
        </p:txBody>
      </p:sp>
      <p:sp>
        <p:nvSpPr>
          <p:cNvPr id="8" name="line-1">
            <a:extLst xmlns:a="http://schemas.openxmlformats.org/drawingml/2006/main">
              <a:ext uri="{FF2B5EF4-FFF2-40B4-BE49-F238E27FC236}">
                <a16:creationId xmlns:a16="http://schemas.microsoft.com/office/drawing/2014/main" id="{A9AB55EB-82C2-438B-B2E0-C1CEC6971B97}"/>
              </a:ext>
            </a:extLst>
          </p:cNvPr>
          <p:cNvSpPr>
            <a:spLocks xmlns:a="http://schemas.openxmlformats.org/drawingml/2006/main" noGrp="1"/>
          </p:cNvSpPr>
          <p:nvPr/>
        </p:nvSpPr>
        <p:spPr>
          <a:xfrm xmlns:a="http://schemas.openxmlformats.org/drawingml/2006/main">
            <a:off x="609600" y="3124200"/>
            <a:ext cx="10668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325" b="0">
                <a:solidFill>
                  <a:srgbClr val="152B3A"/>
                </a:solidFill>
              </a:defRPr>
            </a:pPr>
            <a:r>
              <a:rPr sz="2325" b="0">
                <a:solidFill>
                  <a:srgbClr val="152B3A"/>
                </a:solidFill>
              </a:rPr>
              <a:t>Trainers on a wet floor</a:t>
            </a:r>
          </a:p>
        </p:txBody>
      </p:sp>
      <p:sp>
        <p:nvSpPr>
          <p:cNvPr id="9" name="line-2">
            <a:extLst xmlns:a="http://schemas.openxmlformats.org/drawingml/2006/main">
              <a:ext uri="{FF2B5EF4-FFF2-40B4-BE49-F238E27FC236}">
                <a16:creationId xmlns:a16="http://schemas.microsoft.com/office/drawing/2014/main" id="{72FA8A13-C362-4435-A714-9C9AC2DBCEE2}"/>
              </a:ext>
            </a:extLst>
          </p:cNvPr>
          <p:cNvSpPr>
            <a:spLocks xmlns:a="http://schemas.openxmlformats.org/drawingml/2006/main" noGrp="1"/>
          </p:cNvSpPr>
          <p:nvPr/>
        </p:nvSpPr>
        <p:spPr>
          <a:xfrm xmlns:a="http://schemas.openxmlformats.org/drawingml/2006/main">
            <a:off x="609600" y="3752850"/>
            <a:ext cx="10668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325" b="0">
                <a:solidFill>
                  <a:srgbClr val="152B3A"/>
                </a:solidFill>
              </a:defRPr>
            </a:pPr>
            <a:r>
              <a:rPr sz="2325" b="0">
                <a:solidFill>
                  <a:srgbClr val="152B3A"/>
                </a:solidFill>
              </a:rPr>
              <a:t>Moving engine parts rubbing</a:t>
            </a:r>
          </a:p>
        </p:txBody>
      </p:sp>
      <p:sp>
        <p:nvSpPr>
          <p:cNvPr id="10" name="line-3">
            <a:extLst xmlns:a="http://schemas.openxmlformats.org/drawingml/2006/main">
              <a:ext uri="{FF2B5EF4-FFF2-40B4-BE49-F238E27FC236}">
                <a16:creationId xmlns:a16="http://schemas.microsoft.com/office/drawing/2014/main" id="{76154656-1522-46CC-ADE0-B76A94048398}"/>
              </a:ext>
            </a:extLst>
          </p:cNvPr>
          <p:cNvSpPr>
            <a:spLocks xmlns:a="http://schemas.openxmlformats.org/drawingml/2006/main" noGrp="1"/>
          </p:cNvSpPr>
          <p:nvPr/>
        </p:nvSpPr>
        <p:spPr>
          <a:xfrm xmlns:a="http://schemas.openxmlformats.org/drawingml/2006/main">
            <a:off x="609600" y="4381500"/>
            <a:ext cx="10668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325" b="0">
                <a:solidFill>
                  <a:srgbClr val="152B3A"/>
                </a:solidFill>
              </a:defRPr>
            </a:pPr>
            <a:r>
              <a:rPr sz="2325" b="0">
                <a:solidFill>
                  <a:srgbClr val="152B3A"/>
                </a:solidFill>
              </a:rPr>
              <a:t>Pushing a heavy box across carpet</a:t>
            </a:r>
          </a:p>
        </p:txBody>
      </p:sp>
      <p:sp>
        <p:nvSpPr>
          <p:cNvPr id="11" name="line-4">
            <a:extLst xmlns:a="http://schemas.openxmlformats.org/drawingml/2006/main">
              <a:ext uri="{FF2B5EF4-FFF2-40B4-BE49-F238E27FC236}">
                <a16:creationId xmlns:a16="http://schemas.microsoft.com/office/drawing/2014/main" id="{35587D4E-E61D-4122-9448-5E2D748414F9}"/>
              </a:ext>
            </a:extLst>
          </p:cNvPr>
          <p:cNvSpPr>
            <a:spLocks xmlns:a="http://schemas.openxmlformats.org/drawingml/2006/main" noGrp="1"/>
          </p:cNvSpPr>
          <p:nvPr/>
        </p:nvSpPr>
        <p:spPr>
          <a:xfrm xmlns:a="http://schemas.openxmlformats.org/drawingml/2006/main">
            <a:off x="609600" y="5010150"/>
            <a:ext cx="10668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325" b="0">
                <a:solidFill>
                  <a:srgbClr val="152B3A"/>
                </a:solidFill>
              </a:defRPr>
            </a:pPr>
            <a:r>
              <a:rPr sz="2325" b="0">
                <a:solidFill>
                  <a:srgbClr val="152B3A"/>
                </a:solidFill>
              </a:rPr>
              <a:t>A door handle</a:t>
            </a:r>
          </a:p>
        </p:txBody>
      </p:sp>
      <p:sp>
        <p:nvSpPr>
          <p:cNvPr id="12" name="decision">
            <a:extLst xmlns:a="http://schemas.openxmlformats.org/drawingml/2006/main">
              <a:ext uri="{FF2B5EF4-FFF2-40B4-BE49-F238E27FC236}">
                <a16:creationId xmlns:a16="http://schemas.microsoft.com/office/drawing/2014/main" id="{279126FA-98B5-4747-97B0-41FB0D171AFF}"/>
              </a:ext>
            </a:extLst>
          </p:cNvPr>
          <p:cNvSpPr>
            <a:spLocks xmlns:a="http://schemas.openxmlformats.org/drawingml/2006/main" noGrp="1"/>
          </p:cNvSpPr>
          <p:nvPr/>
        </p:nvSpPr>
        <p:spPr>
          <a:xfrm xmlns:a="http://schemas.openxmlformats.org/drawingml/2006/main">
            <a:off x="6286500" y="2905125"/>
            <a:ext cx="4810125"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150" b="1">
                <a:solidFill>
                  <a:srgbClr val="28685E"/>
                </a:solidFill>
              </a:defRPr>
            </a:pPr>
            <a:r>
              <a:rPr sz="3150" b="1">
                <a:solidFill>
                  <a:srgbClr val="28685E"/>
                </a:solidFill>
              </a:rPr>
              <a:t>Name the surfaces. Explain the job.</a:t>
            </a:r>
          </a:p>
        </p:txBody>
      </p:sp>
    </p:spTree>
    <p:extLst>
      <p:ext uri="{BB962C8B-B14F-4D97-AF65-F5344CB8AC3E}">
        <p14:creationId xmlns:p14="http://schemas.microsoft.com/office/powerpoint/2010/main" val="1008790254"/>
      </p:ext>
    </p:extLst>
  </p:cSld>
</p:sld>
</file>

<file path=ppt/slides/slide7.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1" name="top-rule">
            <a:extLst xmlns:a="http://schemas.openxmlformats.org/drawingml/2006/main">
              <a:ext uri="{FF2B5EF4-FFF2-40B4-BE49-F238E27FC236}">
                <a16:creationId xmlns:a16="http://schemas.microsoft.com/office/drawing/2014/main" id="{C1339F03-138A-40A3-9D40-82B3C5BAE971}"/>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550871E2-0FE8-4DC6-B184-46DA09E033A9}"/>
              </a:ext>
            </a:extLst>
          </p:cNvPr>
          <p:cNvSpPr>
            <a:spLocks xmlns:a="http://schemas.openxmlformats.org/drawingml/2006/main" noGrp="1"/>
          </p:cNvSpPr>
          <p:nvPr/>
        </p:nvSpPr>
        <p:spPr>
          <a:xfrm xmlns:a="http://schemas.openxmlformats.org/drawingml/2006/main">
            <a:off x="609600" y="762000"/>
            <a:ext cx="714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666A5340-D18B-4336-A0FF-72F621AC2DF8}"/>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The job changes the answer</a:t>
            </a:r>
          </a:p>
        </p:txBody>
      </p:sp>
      <p:sp>
        <p:nvSpPr>
          <p:cNvPr id="4" name="footer-line">
            <a:extLst xmlns:a="http://schemas.openxmlformats.org/drawingml/2006/main">
              <a:ext uri="{FF2B5EF4-FFF2-40B4-BE49-F238E27FC236}">
                <a16:creationId xmlns:a16="http://schemas.microsoft.com/office/drawing/2014/main" id="{93A93E76-1116-4494-B43C-8E11F93E51EB}"/>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33C85636-412B-4070-84FA-BAE7E895CC64}"/>
              </a:ext>
            </a:extLst>
          </p:cNvPr>
          <p:cNvSpPr>
            <a:spLocks xmlns:a="http://schemas.openxmlformats.org/drawingml/2006/main" noGrp="1"/>
          </p:cNvSpPr>
          <p:nvPr/>
        </p:nvSpPr>
        <p:spPr>
          <a:xfrm xmlns:a="http://schemas.openxmlformats.org/drawingml/2006/main">
            <a:off x="609600" y="6381750"/>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3  ·  LESSON A</a:t>
            </a:r>
          </a:p>
        </p:txBody>
      </p:sp>
      <p:sp>
        <p:nvSpPr>
          <p:cNvPr id="6" name="page">
            <a:extLst xmlns:a="http://schemas.openxmlformats.org/drawingml/2006/main">
              <a:ext uri="{FF2B5EF4-FFF2-40B4-BE49-F238E27FC236}">
                <a16:creationId xmlns:a16="http://schemas.microsoft.com/office/drawing/2014/main" id="{507D7C97-C180-4F5B-9FBE-F003A7303A65}"/>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07</a:t>
            </a:r>
          </a:p>
        </p:txBody>
      </p:sp>
      <p:sp>
        <p:nvSpPr>
          <p:cNvPr id="7" name="help-header">
            <a:extLst xmlns:a="http://schemas.openxmlformats.org/drawingml/2006/main">
              <a:ext uri="{FF2B5EF4-FFF2-40B4-BE49-F238E27FC236}">
                <a16:creationId xmlns:a16="http://schemas.microsoft.com/office/drawing/2014/main" id="{7304AABA-2F40-476E-96F8-6CB84FC34748}"/>
              </a:ext>
            </a:extLst>
          </p:cNvPr>
          <p:cNvSpPr>
            <a:spLocks xmlns:a="http://schemas.openxmlformats.org/drawingml/2006/main" noGrp="1"/>
          </p:cNvSpPr>
          <p:nvPr/>
        </p:nvSpPr>
        <p:spPr>
          <a:xfrm xmlns:a="http://schemas.openxmlformats.org/drawingml/2006/main">
            <a:off x="609600" y="2705100"/>
            <a:ext cx="4953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025" b="1">
                <a:solidFill>
                  <a:srgbClr val="28685E"/>
                </a:solidFill>
              </a:defRPr>
            </a:pPr>
            <a:r>
              <a:rPr sz="2025" b="1">
                <a:solidFill>
                  <a:srgbClr val="28685E"/>
                </a:solidFill>
              </a:rPr>
              <a:t>HELPS THE JOB</a:t>
            </a:r>
          </a:p>
        </p:txBody>
      </p:sp>
      <p:sp>
        <p:nvSpPr>
          <p:cNvPr id="8" name="hinder-header">
            <a:extLst xmlns:a="http://schemas.openxmlformats.org/drawingml/2006/main">
              <a:ext uri="{FF2B5EF4-FFF2-40B4-BE49-F238E27FC236}">
                <a16:creationId xmlns:a16="http://schemas.microsoft.com/office/drawing/2014/main" id="{DE482ECC-CFB0-4DDF-B6CA-8F05B1F22B1B}"/>
              </a:ext>
            </a:extLst>
          </p:cNvPr>
          <p:cNvSpPr>
            <a:spLocks xmlns:a="http://schemas.openxmlformats.org/drawingml/2006/main" noGrp="1"/>
          </p:cNvSpPr>
          <p:nvPr/>
        </p:nvSpPr>
        <p:spPr>
          <a:xfrm xmlns:a="http://schemas.openxmlformats.org/drawingml/2006/main">
            <a:off x="6572250" y="2705100"/>
            <a:ext cx="4953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025" b="1">
                <a:solidFill>
                  <a:srgbClr val="A65D25"/>
                </a:solidFill>
              </a:defRPr>
            </a:pPr>
            <a:r>
              <a:rPr sz="2025" b="1">
                <a:solidFill>
                  <a:srgbClr val="A65D25"/>
                </a:solidFill>
              </a:rPr>
              <a:t>HINDERS THE JOB</a:t>
            </a:r>
          </a:p>
        </p:txBody>
      </p:sp>
      <p:sp>
        <p:nvSpPr>
          <p:cNvPr id="9" name="help">
            <a:extLst xmlns:a="http://schemas.openxmlformats.org/drawingml/2006/main">
              <a:ext uri="{FF2B5EF4-FFF2-40B4-BE49-F238E27FC236}">
                <a16:creationId xmlns:a16="http://schemas.microsoft.com/office/drawing/2014/main" id="{0FF52055-7AA9-46C7-B670-D250FF604099}"/>
              </a:ext>
            </a:extLst>
          </p:cNvPr>
          <p:cNvSpPr>
            <a:spLocks xmlns:a="http://schemas.openxmlformats.org/drawingml/2006/main" noGrp="1"/>
          </p:cNvSpPr>
          <p:nvPr/>
        </p:nvSpPr>
        <p:spPr>
          <a:xfrm xmlns:a="http://schemas.openxmlformats.org/drawingml/2006/main">
            <a:off x="609600" y="3371850"/>
            <a:ext cx="5000625" cy="1952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Braking a wheel</a:t>
            </a:r>
          </a:p>
          <a:p xmlns:a="http://schemas.openxmlformats.org/drawingml/2006/main">
            <a:pPr>
              <a:defRPr sz="2550" b="0">
                <a:solidFill>
                  <a:srgbClr val="152B3A"/>
                </a:solidFill>
              </a:defRPr>
            </a:pPr>
            <a:r>
              <a:rPr sz="2550" b="0">
                <a:solidFill>
                  <a:srgbClr val="152B3A"/>
                </a:solidFill>
              </a:rPr>
              <a:t>Gripping the floor</a:t>
            </a:r>
          </a:p>
          <a:p xmlns:a="http://schemas.openxmlformats.org/drawingml/2006/main">
            <a:pPr>
              <a:defRPr sz="2550" b="0">
                <a:solidFill>
                  <a:srgbClr val="152B3A"/>
                </a:solidFill>
              </a:defRPr>
            </a:pPr>
            <a:r>
              <a:rPr sz="2550" b="0">
                <a:solidFill>
                  <a:srgbClr val="152B3A"/>
                </a:solidFill>
              </a:rPr>
              <a:t>Holding a handle</a:t>
            </a:r>
          </a:p>
        </p:txBody>
      </p:sp>
      <p:sp>
        <p:nvSpPr>
          <p:cNvPr id="10" name="hinder">
            <a:extLst xmlns:a="http://schemas.openxmlformats.org/drawingml/2006/main">
              <a:ext uri="{FF2B5EF4-FFF2-40B4-BE49-F238E27FC236}">
                <a16:creationId xmlns:a16="http://schemas.microsoft.com/office/drawing/2014/main" id="{95F5CE12-0478-476F-905D-D4F7C286D99B}"/>
              </a:ext>
            </a:extLst>
          </p:cNvPr>
          <p:cNvSpPr>
            <a:spLocks xmlns:a="http://schemas.openxmlformats.org/drawingml/2006/main" noGrp="1"/>
          </p:cNvSpPr>
          <p:nvPr/>
        </p:nvSpPr>
        <p:spPr>
          <a:xfrm xmlns:a="http://schemas.openxmlformats.org/drawingml/2006/main">
            <a:off x="6572250" y="3371850"/>
            <a:ext cx="4810125" cy="2190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550" b="0">
                <a:solidFill>
                  <a:srgbClr val="152B3A"/>
                </a:solidFill>
              </a:defRPr>
            </a:pPr>
            <a:r>
              <a:rPr sz="2550" b="0">
                <a:solidFill>
                  <a:srgbClr val="152B3A"/>
                </a:solidFill>
              </a:rPr>
              <a:t>Moving parts heating and wearing</a:t>
            </a:r>
          </a:p>
          <a:p xmlns:a="http://schemas.openxmlformats.org/drawingml/2006/main">
            <a:pPr>
              <a:defRPr sz="2550" b="0">
                <a:solidFill>
                  <a:srgbClr val="152B3A"/>
                </a:solidFill>
              </a:defRPr>
            </a:pPr>
            <a:r>
              <a:rPr sz="2550" b="0">
                <a:solidFill>
                  <a:srgbClr val="152B3A"/>
                </a:solidFill>
              </a:rPr>
              <a:t>Sliding a box across carpet</a:t>
            </a:r>
          </a:p>
        </p:txBody>
      </p:sp>
    </p:spTree>
    <p:extLst>
      <p:ext uri="{BB962C8B-B14F-4D97-AF65-F5344CB8AC3E}">
        <p14:creationId xmlns:p14="http://schemas.microsoft.com/office/powerpoint/2010/main" val="1755537844"/>
      </p:ext>
    </p:extLst>
  </p:cSld>
</p:sld>
</file>

<file path=ppt/slides/slide8.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0" name="top-rule">
            <a:extLst xmlns:a="http://schemas.openxmlformats.org/drawingml/2006/main">
              <a:ext uri="{FF2B5EF4-FFF2-40B4-BE49-F238E27FC236}">
                <a16:creationId xmlns:a16="http://schemas.microsoft.com/office/drawing/2014/main" id="{5C443355-0225-4A3B-BEF1-8C78B6F0612C}"/>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3F5FD79B-F33A-4818-B343-48453F03E468}"/>
              </a:ext>
            </a:extLst>
          </p:cNvPr>
          <p:cNvSpPr>
            <a:spLocks xmlns:a="http://schemas.openxmlformats.org/drawingml/2006/main" noGrp="1"/>
          </p:cNvSpPr>
          <p:nvPr/>
        </p:nvSpPr>
        <p:spPr>
          <a:xfrm xmlns:a="http://schemas.openxmlformats.org/drawingml/2006/main">
            <a:off x="609600" y="762000"/>
            <a:ext cx="714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F291AE60-D288-49DC-AEC5-706CADDE48CC}"/>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Explain both sides</a:t>
            </a:r>
          </a:p>
        </p:txBody>
      </p:sp>
      <p:sp>
        <p:nvSpPr>
          <p:cNvPr id="4" name="footer-line">
            <a:extLst xmlns:a="http://schemas.openxmlformats.org/drawingml/2006/main">
              <a:ext uri="{FF2B5EF4-FFF2-40B4-BE49-F238E27FC236}">
                <a16:creationId xmlns:a16="http://schemas.microsoft.com/office/drawing/2014/main" id="{83025B0B-5750-4895-94D5-F351CFD97BBE}"/>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F42D631D-BDD6-469C-A331-1E5F68632935}"/>
              </a:ext>
            </a:extLst>
          </p:cNvPr>
          <p:cNvSpPr>
            <a:spLocks xmlns:a="http://schemas.openxmlformats.org/drawingml/2006/main" noGrp="1"/>
          </p:cNvSpPr>
          <p:nvPr/>
        </p:nvSpPr>
        <p:spPr>
          <a:xfrm xmlns:a="http://schemas.openxmlformats.org/drawingml/2006/main">
            <a:off x="609600" y="6381750"/>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3  ·  LESSON A</a:t>
            </a:r>
          </a:p>
        </p:txBody>
      </p:sp>
      <p:sp>
        <p:nvSpPr>
          <p:cNvPr id="6" name="page">
            <a:extLst xmlns:a="http://schemas.openxmlformats.org/drawingml/2006/main">
              <a:ext uri="{FF2B5EF4-FFF2-40B4-BE49-F238E27FC236}">
                <a16:creationId xmlns:a16="http://schemas.microsoft.com/office/drawing/2014/main" id="{D0AD1CF8-2CF9-474D-A440-EC4E543B184F}"/>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08</a:t>
            </a:r>
          </a:p>
        </p:txBody>
      </p:sp>
      <p:sp>
        <p:nvSpPr>
          <p:cNvPr id="7" name="stem1">
            <a:extLst xmlns:a="http://schemas.openxmlformats.org/drawingml/2006/main">
              <a:ext uri="{FF2B5EF4-FFF2-40B4-BE49-F238E27FC236}">
                <a16:creationId xmlns:a16="http://schemas.microsoft.com/office/drawing/2014/main" id="{8B43251D-52B0-4054-A2FA-CC41C7BC749B}"/>
              </a:ext>
            </a:extLst>
          </p:cNvPr>
          <p:cNvSpPr>
            <a:spLocks xmlns:a="http://schemas.openxmlformats.org/drawingml/2006/main" noGrp="1"/>
          </p:cNvSpPr>
          <p:nvPr/>
        </p:nvSpPr>
        <p:spPr>
          <a:xfrm xmlns:a="http://schemas.openxmlformats.org/drawingml/2006/main">
            <a:off x="609600" y="2781300"/>
            <a:ext cx="10572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450" b="1">
                <a:solidFill>
                  <a:srgbClr val="28685E"/>
                </a:solidFill>
              </a:defRPr>
            </a:pPr>
            <a:r>
              <a:rPr sz="3450" b="1">
                <a:solidFill>
                  <a:srgbClr val="28685E"/>
                </a:solidFill>
              </a:rPr>
              <a:t>Friction is helpful here because…</a:t>
            </a:r>
          </a:p>
        </p:txBody>
      </p:sp>
      <p:sp>
        <p:nvSpPr>
          <p:cNvPr id="8" name="stem2">
            <a:extLst xmlns:a="http://schemas.openxmlformats.org/drawingml/2006/main">
              <a:ext uri="{FF2B5EF4-FFF2-40B4-BE49-F238E27FC236}">
                <a16:creationId xmlns:a16="http://schemas.microsoft.com/office/drawing/2014/main" id="{375F889F-A490-4EE3-A27D-5ADF2D28EF70}"/>
              </a:ext>
            </a:extLst>
          </p:cNvPr>
          <p:cNvSpPr>
            <a:spLocks xmlns:a="http://schemas.openxmlformats.org/drawingml/2006/main" noGrp="1"/>
          </p:cNvSpPr>
          <p:nvPr/>
        </p:nvSpPr>
        <p:spPr>
          <a:xfrm xmlns:a="http://schemas.openxmlformats.org/drawingml/2006/main">
            <a:off x="609600" y="4057650"/>
            <a:ext cx="105727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450" b="1">
                <a:solidFill>
                  <a:srgbClr val="152B3A"/>
                </a:solidFill>
              </a:defRPr>
            </a:pPr>
            <a:r>
              <a:rPr sz="3450" b="1">
                <a:solidFill>
                  <a:srgbClr val="152B3A"/>
                </a:solidFill>
              </a:rPr>
              <a:t>…but it is unhelpful here because…</a:t>
            </a:r>
          </a:p>
        </p:txBody>
      </p:sp>
      <p:sp>
        <p:nvSpPr>
          <p:cNvPr id="9" name="stem-prompt">
            <a:extLst xmlns:a="http://schemas.openxmlformats.org/drawingml/2006/main">
              <a:ext uri="{FF2B5EF4-FFF2-40B4-BE49-F238E27FC236}">
                <a16:creationId xmlns:a16="http://schemas.microsoft.com/office/drawing/2014/main" id="{77CDD272-37E7-4B0D-A29B-666BDC8357AE}"/>
              </a:ext>
            </a:extLst>
          </p:cNvPr>
          <p:cNvSpPr>
            <a:spLocks xmlns:a="http://schemas.openxmlformats.org/drawingml/2006/main" noGrp="1"/>
          </p:cNvSpPr>
          <p:nvPr/>
        </p:nvSpPr>
        <p:spPr>
          <a:xfrm xmlns:a="http://schemas.openxmlformats.org/drawingml/2006/main">
            <a:off x="609600" y="5343525"/>
            <a:ext cx="1066800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175" b="0">
                <a:solidFill>
                  <a:srgbClr val="152B3A"/>
                </a:solidFill>
              </a:defRPr>
            </a:pPr>
            <a:r>
              <a:rPr sz="2175" b="0">
                <a:solidFill>
                  <a:srgbClr val="152B3A"/>
                </a:solidFill>
              </a:rPr>
              <a:t>Use the touching surfaces and the job in your explanation.</a:t>
            </a:r>
          </a:p>
        </p:txBody>
      </p:sp>
    </p:spTree>
    <p:extLst>
      <p:ext uri="{BB962C8B-B14F-4D97-AF65-F5344CB8AC3E}">
        <p14:creationId xmlns:p14="http://schemas.microsoft.com/office/powerpoint/2010/main" val="1637883241"/>
      </p:ext>
    </p:extLst>
  </p:cSld>
</p:sld>
</file>

<file path=ppt/slides/slide9.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3" name="top-rule">
            <a:extLst xmlns:a="http://schemas.openxmlformats.org/drawingml/2006/main">
              <a:ext uri="{FF2B5EF4-FFF2-40B4-BE49-F238E27FC236}">
                <a16:creationId xmlns:a16="http://schemas.microsoft.com/office/drawing/2014/main" id="{052EFAD7-6FB1-490B-B7C9-23EEDE90AC02}"/>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33689104-9270-423A-9F53-E5D55B9B5563}"/>
              </a:ext>
            </a:extLst>
          </p:cNvPr>
          <p:cNvSpPr>
            <a:spLocks xmlns:a="http://schemas.openxmlformats.org/drawingml/2006/main" noGrp="1"/>
          </p:cNvSpPr>
          <p:nvPr/>
        </p:nvSpPr>
        <p:spPr>
          <a:xfrm xmlns:a="http://schemas.openxmlformats.org/drawingml/2006/main">
            <a:off x="609600" y="762000"/>
            <a:ext cx="714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C510A189-39C9-4B8E-86CF-B438F5E3B840}"/>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Sort the claims</a:t>
            </a:r>
          </a:p>
        </p:txBody>
      </p:sp>
      <p:sp>
        <p:nvSpPr>
          <p:cNvPr id="4" name="footer-line">
            <a:extLst xmlns:a="http://schemas.openxmlformats.org/drawingml/2006/main">
              <a:ext uri="{FF2B5EF4-FFF2-40B4-BE49-F238E27FC236}">
                <a16:creationId xmlns:a16="http://schemas.microsoft.com/office/drawing/2014/main" id="{29CF8A9A-BAFC-42CA-A2D8-9A9BEF3A30B4}"/>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5244D7C1-E660-4EEE-A29B-0895ED0E2030}"/>
              </a:ext>
            </a:extLst>
          </p:cNvPr>
          <p:cNvSpPr>
            <a:spLocks xmlns:a="http://schemas.openxmlformats.org/drawingml/2006/main" noGrp="1"/>
          </p:cNvSpPr>
          <p:nvPr/>
        </p:nvSpPr>
        <p:spPr>
          <a:xfrm xmlns:a="http://schemas.openxmlformats.org/drawingml/2006/main">
            <a:off x="609600" y="6381750"/>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3  ·  LESSON A</a:t>
            </a:r>
          </a:p>
        </p:txBody>
      </p:sp>
      <p:sp>
        <p:nvSpPr>
          <p:cNvPr id="6" name="page">
            <a:extLst xmlns:a="http://schemas.openxmlformats.org/drawingml/2006/main">
              <a:ext uri="{FF2B5EF4-FFF2-40B4-BE49-F238E27FC236}">
                <a16:creationId xmlns:a16="http://schemas.microsoft.com/office/drawing/2014/main" id="{709BE526-FF4E-4C62-A2E4-3271C9D0B0E7}"/>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09</a:t>
            </a:r>
          </a:p>
        </p:txBody>
      </p:sp>
      <p:sp>
        <p:nvSpPr>
          <p:cNvPr id="7" name="bins">
            <a:extLst xmlns:a="http://schemas.openxmlformats.org/drawingml/2006/main">
              <a:ext uri="{FF2B5EF4-FFF2-40B4-BE49-F238E27FC236}">
                <a16:creationId xmlns:a16="http://schemas.microsoft.com/office/drawing/2014/main" id="{536444AA-EA0D-4EA1-A752-A80B8A4ADF40}"/>
              </a:ext>
            </a:extLst>
          </p:cNvPr>
          <p:cNvSpPr>
            <a:spLocks xmlns:a="http://schemas.openxmlformats.org/drawingml/2006/main" noGrp="1"/>
          </p:cNvSpPr>
          <p:nvPr/>
        </p:nvSpPr>
        <p:spPr>
          <a:xfrm xmlns:a="http://schemas.openxmlformats.org/drawingml/2006/main">
            <a:off x="609600" y="2447925"/>
            <a:ext cx="10953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875" b="1">
                <a:solidFill>
                  <a:srgbClr val="28685E"/>
                </a:solidFill>
              </a:defRPr>
            </a:pPr>
            <a:r>
              <a:rPr sz="1875" b="1">
                <a:solidFill>
                  <a:srgbClr val="28685E"/>
                </a:solidFill>
              </a:rPr>
              <a:t>TRUE     /     FALSE     /     NOT A SCIENTIFIC CLAIM</a:t>
            </a:r>
          </a:p>
        </p:txBody>
      </p:sp>
      <p:sp>
        <p:nvSpPr>
          <p:cNvPr id="8" name="line-0">
            <a:extLst xmlns:a="http://schemas.openxmlformats.org/drawingml/2006/main">
              <a:ext uri="{FF2B5EF4-FFF2-40B4-BE49-F238E27FC236}">
                <a16:creationId xmlns:a16="http://schemas.microsoft.com/office/drawing/2014/main" id="{32D85155-C3DD-43BE-9414-9362CB950642}"/>
              </a:ext>
            </a:extLst>
          </p:cNvPr>
          <p:cNvSpPr>
            <a:spLocks xmlns:a="http://schemas.openxmlformats.org/drawingml/2006/main" noGrp="1"/>
          </p:cNvSpPr>
          <p:nvPr/>
        </p:nvSpPr>
        <p:spPr>
          <a:xfrm xmlns:a="http://schemas.openxmlformats.org/drawingml/2006/main">
            <a:off x="609600" y="3095625"/>
            <a:ext cx="106680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100" b="0">
                <a:solidFill>
                  <a:srgbClr val="152B3A"/>
                </a:solidFill>
              </a:defRPr>
            </a:pPr>
            <a:r>
              <a:rPr sz="2100" b="0">
                <a:solidFill>
                  <a:srgbClr val="152B3A"/>
                </a:solidFill>
              </a:rPr>
              <a:t>Sliding friction opposes sliding at the contact.</a:t>
            </a:r>
          </a:p>
        </p:txBody>
      </p:sp>
      <p:sp>
        <p:nvSpPr>
          <p:cNvPr id="9" name="line-1">
            <a:extLst xmlns:a="http://schemas.openxmlformats.org/drawingml/2006/main">
              <a:ext uri="{FF2B5EF4-FFF2-40B4-BE49-F238E27FC236}">
                <a16:creationId xmlns:a16="http://schemas.microsoft.com/office/drawing/2014/main" id="{0373F4F8-F69A-44AD-8A74-E10A310A8E3C}"/>
              </a:ext>
            </a:extLst>
          </p:cNvPr>
          <p:cNvSpPr>
            <a:spLocks xmlns:a="http://schemas.openxmlformats.org/drawingml/2006/main" noGrp="1"/>
          </p:cNvSpPr>
          <p:nvPr/>
        </p:nvSpPr>
        <p:spPr>
          <a:xfrm xmlns:a="http://schemas.openxmlformats.org/drawingml/2006/main">
            <a:off x="609600" y="3638550"/>
            <a:ext cx="106680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100" b="0">
                <a:solidFill>
                  <a:srgbClr val="152B3A"/>
                </a:solidFill>
              </a:defRPr>
            </a:pPr>
            <a:r>
              <a:rPr sz="2100" b="0">
                <a:solidFill>
                  <a:srgbClr val="152B3A"/>
                </a:solidFill>
              </a:rPr>
              <a:t>Friction only happens with rough surfaces.</a:t>
            </a:r>
          </a:p>
        </p:txBody>
      </p:sp>
      <p:sp>
        <p:nvSpPr>
          <p:cNvPr id="10" name="line-2">
            <a:extLst xmlns:a="http://schemas.openxmlformats.org/drawingml/2006/main">
              <a:ext uri="{FF2B5EF4-FFF2-40B4-BE49-F238E27FC236}">
                <a16:creationId xmlns:a16="http://schemas.microsoft.com/office/drawing/2014/main" id="{C7635D44-B843-463C-A02C-C8EA89B3BB80}"/>
              </a:ext>
            </a:extLst>
          </p:cNvPr>
          <p:cNvSpPr>
            <a:spLocks xmlns:a="http://schemas.openxmlformats.org/drawingml/2006/main" noGrp="1"/>
          </p:cNvSpPr>
          <p:nvPr/>
        </p:nvSpPr>
        <p:spPr>
          <a:xfrm xmlns:a="http://schemas.openxmlformats.org/drawingml/2006/main">
            <a:off x="609600" y="4181475"/>
            <a:ext cx="106680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100" b="0">
                <a:solidFill>
                  <a:srgbClr val="152B3A"/>
                </a:solidFill>
              </a:defRPr>
            </a:pPr>
            <a:r>
              <a:rPr sz="2100" b="0">
                <a:solidFill>
                  <a:srgbClr val="152B3A"/>
                </a:solidFill>
              </a:rPr>
              <a:t>Oil can reduce friction in suitable lubricated contacts.</a:t>
            </a:r>
          </a:p>
        </p:txBody>
      </p:sp>
      <p:sp>
        <p:nvSpPr>
          <p:cNvPr id="11" name="line-3">
            <a:extLst xmlns:a="http://schemas.openxmlformats.org/drawingml/2006/main">
              <a:ext uri="{FF2B5EF4-FFF2-40B4-BE49-F238E27FC236}">
                <a16:creationId xmlns:a16="http://schemas.microsoft.com/office/drawing/2014/main" id="{FC8ED6A7-F930-456D-9695-257C2BBC4E90}"/>
              </a:ext>
            </a:extLst>
          </p:cNvPr>
          <p:cNvSpPr>
            <a:spLocks xmlns:a="http://schemas.openxmlformats.org/drawingml/2006/main" noGrp="1"/>
          </p:cNvSpPr>
          <p:nvPr/>
        </p:nvSpPr>
        <p:spPr>
          <a:xfrm xmlns:a="http://schemas.openxmlformats.org/drawingml/2006/main">
            <a:off x="609600" y="4724400"/>
            <a:ext cx="106680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100" b="0">
                <a:solidFill>
                  <a:srgbClr val="152B3A"/>
                </a:solidFill>
              </a:defRPr>
            </a:pPr>
            <a:r>
              <a:rPr sz="2100" b="0">
                <a:solidFill>
                  <a:srgbClr val="152B3A"/>
                </a:solidFill>
              </a:rPr>
              <a:t>Without friction we could not walk normally.</a:t>
            </a:r>
          </a:p>
        </p:txBody>
      </p:sp>
      <p:sp>
        <p:nvSpPr>
          <p:cNvPr id="12" name="line-4">
            <a:extLst xmlns:a="http://schemas.openxmlformats.org/drawingml/2006/main">
              <a:ext uri="{FF2B5EF4-FFF2-40B4-BE49-F238E27FC236}">
                <a16:creationId xmlns:a16="http://schemas.microsoft.com/office/drawing/2014/main" id="{BD92CF51-204F-4613-8435-3DF7FF8EBD50}"/>
              </a:ext>
            </a:extLst>
          </p:cNvPr>
          <p:cNvSpPr>
            <a:spLocks xmlns:a="http://schemas.openxmlformats.org/drawingml/2006/main" noGrp="1"/>
          </p:cNvSpPr>
          <p:nvPr/>
        </p:nvSpPr>
        <p:spPr>
          <a:xfrm xmlns:a="http://schemas.openxmlformats.org/drawingml/2006/main">
            <a:off x="609600" y="5267325"/>
            <a:ext cx="10668000" cy="4476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100" b="0">
                <a:solidFill>
                  <a:srgbClr val="152B3A"/>
                </a:solidFill>
              </a:defRPr>
            </a:pPr>
            <a:r>
              <a:rPr sz="2100" b="0">
                <a:solidFill>
                  <a:srgbClr val="152B3A"/>
                </a:solidFill>
              </a:rPr>
              <a:t>Friction is a bad force.</a:t>
            </a:r>
          </a:p>
        </p:txBody>
      </p:sp>
    </p:spTree>
    <p:extLst>
      <p:ext uri="{BB962C8B-B14F-4D97-AF65-F5344CB8AC3E}">
        <p14:creationId xmlns:p14="http://schemas.microsoft.com/office/powerpoint/2010/main" val="1821832906"/>
      </p:ext>
    </p:extLst>
  </p:cSld>
</p:sld>
</file>

<file path=ppt/slides/slide10.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2" name="top-rule">
            <a:extLst xmlns:a="http://schemas.openxmlformats.org/drawingml/2006/main">
              <a:ext uri="{FF2B5EF4-FFF2-40B4-BE49-F238E27FC236}">
                <a16:creationId xmlns:a16="http://schemas.microsoft.com/office/drawing/2014/main" id="{227BB40B-32BF-4574-97FC-F4CFD9A1BE44}"/>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4939B024-5E3F-468E-8CDE-F7500E70B5FF}"/>
              </a:ext>
            </a:extLst>
          </p:cNvPr>
          <p:cNvSpPr>
            <a:spLocks xmlns:a="http://schemas.openxmlformats.org/drawingml/2006/main" noGrp="1"/>
          </p:cNvSpPr>
          <p:nvPr/>
        </p:nvSpPr>
        <p:spPr>
          <a:xfrm xmlns:a="http://schemas.openxmlformats.org/drawingml/2006/main">
            <a:off x="609600" y="762000"/>
            <a:ext cx="714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21486729-075B-40A7-84D3-709488554C9B}"/>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Check the science</a:t>
            </a:r>
          </a:p>
        </p:txBody>
      </p:sp>
      <p:sp>
        <p:nvSpPr>
          <p:cNvPr id="4" name="footer-line">
            <a:extLst xmlns:a="http://schemas.openxmlformats.org/drawingml/2006/main">
              <a:ext uri="{FF2B5EF4-FFF2-40B4-BE49-F238E27FC236}">
                <a16:creationId xmlns:a16="http://schemas.microsoft.com/office/drawing/2014/main" id="{849B59F5-6CE5-4347-9AEA-6AB4B3FDD617}"/>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B53CAEFC-5B2E-4E82-AAD5-BB7D71221FFE}"/>
              </a:ext>
            </a:extLst>
          </p:cNvPr>
          <p:cNvSpPr>
            <a:spLocks xmlns:a="http://schemas.openxmlformats.org/drawingml/2006/main" noGrp="1"/>
          </p:cNvSpPr>
          <p:nvPr/>
        </p:nvSpPr>
        <p:spPr>
          <a:xfrm xmlns:a="http://schemas.openxmlformats.org/drawingml/2006/main">
            <a:off x="609600" y="6381750"/>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3  ·  LESSON A</a:t>
            </a:r>
          </a:p>
        </p:txBody>
      </p:sp>
      <p:sp>
        <p:nvSpPr>
          <p:cNvPr id="6" name="page">
            <a:extLst xmlns:a="http://schemas.openxmlformats.org/drawingml/2006/main">
              <a:ext uri="{FF2B5EF4-FFF2-40B4-BE49-F238E27FC236}">
                <a16:creationId xmlns:a16="http://schemas.microsoft.com/office/drawing/2014/main" id="{C1606EDE-A581-4D3B-9033-5D299C989E6B}"/>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10</a:t>
            </a:r>
          </a:p>
        </p:txBody>
      </p:sp>
      <p:sp>
        <p:nvSpPr>
          <p:cNvPr id="7" name="line-0">
            <a:extLst xmlns:a="http://schemas.openxmlformats.org/drawingml/2006/main">
              <a:ext uri="{FF2B5EF4-FFF2-40B4-BE49-F238E27FC236}">
                <a16:creationId xmlns:a16="http://schemas.microsoft.com/office/drawing/2014/main" id="{114370FA-9008-4116-AA80-6EBD29C24C08}"/>
              </a:ext>
            </a:extLst>
          </p:cNvPr>
          <p:cNvSpPr>
            <a:spLocks xmlns:a="http://schemas.openxmlformats.org/drawingml/2006/main" noGrp="1"/>
          </p:cNvSpPr>
          <p:nvPr/>
        </p:nvSpPr>
        <p:spPr>
          <a:xfrm xmlns:a="http://schemas.openxmlformats.org/drawingml/2006/main">
            <a:off x="609600" y="2667000"/>
            <a:ext cx="106680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175" b="0">
                <a:solidFill>
                  <a:srgbClr val="152B3A"/>
                </a:solidFill>
              </a:defRPr>
            </a:pPr>
            <a:r>
              <a:rPr sz="2175" b="0">
                <a:solidFill>
                  <a:srgbClr val="152B3A"/>
                </a:solidFill>
              </a:rPr>
              <a:t>TRUE   Sliding friction opposes sliding at the contact.</a:t>
            </a:r>
          </a:p>
        </p:txBody>
      </p:sp>
      <p:sp>
        <p:nvSpPr>
          <p:cNvPr id="8" name="line-1">
            <a:extLst xmlns:a="http://schemas.openxmlformats.org/drawingml/2006/main">
              <a:ext uri="{FF2B5EF4-FFF2-40B4-BE49-F238E27FC236}">
                <a16:creationId xmlns:a16="http://schemas.microsoft.com/office/drawing/2014/main" id="{E9610A87-EEFA-4941-A671-994FFF2C8F27}"/>
              </a:ext>
            </a:extLst>
          </p:cNvPr>
          <p:cNvSpPr>
            <a:spLocks xmlns:a="http://schemas.openxmlformats.org/drawingml/2006/main" noGrp="1"/>
          </p:cNvSpPr>
          <p:nvPr/>
        </p:nvSpPr>
        <p:spPr>
          <a:xfrm xmlns:a="http://schemas.openxmlformats.org/drawingml/2006/main">
            <a:off x="609600" y="3305175"/>
            <a:ext cx="106680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175" b="0">
                <a:solidFill>
                  <a:srgbClr val="152B3A"/>
                </a:solidFill>
              </a:defRPr>
            </a:pPr>
            <a:r>
              <a:rPr sz="2175" b="0">
                <a:solidFill>
                  <a:srgbClr val="152B3A"/>
                </a:solidFill>
              </a:rPr>
              <a:t>FALSE   Smooth surfaces can have friction too.</a:t>
            </a:r>
          </a:p>
        </p:txBody>
      </p:sp>
      <p:sp>
        <p:nvSpPr>
          <p:cNvPr id="9" name="line-2">
            <a:extLst xmlns:a="http://schemas.openxmlformats.org/drawingml/2006/main">
              <a:ext uri="{FF2B5EF4-FFF2-40B4-BE49-F238E27FC236}">
                <a16:creationId xmlns:a16="http://schemas.microsoft.com/office/drawing/2014/main" id="{E59015CF-9324-4ACC-8911-9090FE2CD340}"/>
              </a:ext>
            </a:extLst>
          </p:cNvPr>
          <p:cNvSpPr>
            <a:spLocks xmlns:a="http://schemas.openxmlformats.org/drawingml/2006/main" noGrp="1"/>
          </p:cNvSpPr>
          <p:nvPr/>
        </p:nvSpPr>
        <p:spPr>
          <a:xfrm xmlns:a="http://schemas.openxmlformats.org/drawingml/2006/main">
            <a:off x="609600" y="3943350"/>
            <a:ext cx="106680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175" b="0">
                <a:solidFill>
                  <a:srgbClr val="152B3A"/>
                </a:solidFill>
              </a:defRPr>
            </a:pPr>
            <a:r>
              <a:rPr sz="2175" b="0">
                <a:solidFill>
                  <a:srgbClr val="152B3A"/>
                </a:solidFill>
              </a:rPr>
              <a:t>TRUE   Suitable lubrication can reduce friction.</a:t>
            </a:r>
          </a:p>
        </p:txBody>
      </p:sp>
      <p:sp>
        <p:nvSpPr>
          <p:cNvPr id="10" name="line-3">
            <a:extLst xmlns:a="http://schemas.openxmlformats.org/drawingml/2006/main">
              <a:ext uri="{FF2B5EF4-FFF2-40B4-BE49-F238E27FC236}">
                <a16:creationId xmlns:a16="http://schemas.microsoft.com/office/drawing/2014/main" id="{2B5667A3-F215-4530-BFB2-061A34012370}"/>
              </a:ext>
            </a:extLst>
          </p:cNvPr>
          <p:cNvSpPr>
            <a:spLocks xmlns:a="http://schemas.openxmlformats.org/drawingml/2006/main" noGrp="1"/>
          </p:cNvSpPr>
          <p:nvPr/>
        </p:nvSpPr>
        <p:spPr>
          <a:xfrm xmlns:a="http://schemas.openxmlformats.org/drawingml/2006/main">
            <a:off x="609600" y="4581525"/>
            <a:ext cx="106680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175" b="0">
                <a:solidFill>
                  <a:srgbClr val="152B3A"/>
                </a:solidFill>
              </a:defRPr>
            </a:pPr>
            <a:r>
              <a:rPr sz="2175" b="0">
                <a:solidFill>
                  <a:srgbClr val="152B3A"/>
                </a:solidFill>
              </a:rPr>
              <a:t>TRUE   Walking normally needs grip at the ground.</a:t>
            </a:r>
          </a:p>
        </p:txBody>
      </p:sp>
      <p:sp>
        <p:nvSpPr>
          <p:cNvPr id="11" name="line-4">
            <a:extLst xmlns:a="http://schemas.openxmlformats.org/drawingml/2006/main">
              <a:ext uri="{FF2B5EF4-FFF2-40B4-BE49-F238E27FC236}">
                <a16:creationId xmlns:a16="http://schemas.microsoft.com/office/drawing/2014/main" id="{F800AD64-7DB9-487C-81BF-05200D330C3E}"/>
              </a:ext>
            </a:extLst>
          </p:cNvPr>
          <p:cNvSpPr>
            <a:spLocks xmlns:a="http://schemas.openxmlformats.org/drawingml/2006/main" noGrp="1"/>
          </p:cNvSpPr>
          <p:nvPr/>
        </p:nvSpPr>
        <p:spPr>
          <a:xfrm xmlns:a="http://schemas.openxmlformats.org/drawingml/2006/main">
            <a:off x="609600" y="5219700"/>
            <a:ext cx="106680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175" b="0">
                <a:solidFill>
                  <a:srgbClr val="152B3A"/>
                </a:solidFill>
              </a:defRPr>
            </a:pPr>
            <a:r>
              <a:rPr sz="2175" b="0">
                <a:solidFill>
                  <a:srgbClr val="152B3A"/>
                </a:solidFill>
              </a:rPr>
              <a:t>JUDGEMENT   “Bad” depends on the job.</a:t>
            </a:r>
          </a:p>
        </p:txBody>
      </p:sp>
    </p:spTree>
    <p:extLst>
      <p:ext uri="{BB962C8B-B14F-4D97-AF65-F5344CB8AC3E}">
        <p14:creationId xmlns:p14="http://schemas.microsoft.com/office/powerpoint/2010/main" val="636455249"/>
      </p:ext>
    </p:extLst>
  </p:cSld>
</p:sld>
</file>

<file path=ppt/slides/slide11.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9" name="top-rule">
            <a:extLst xmlns:a="http://schemas.openxmlformats.org/drawingml/2006/main">
              <a:ext uri="{FF2B5EF4-FFF2-40B4-BE49-F238E27FC236}">
                <a16:creationId xmlns:a16="http://schemas.microsoft.com/office/drawing/2014/main" id="{A78DB4D2-45D0-42AC-B91B-B6546820A1A8}"/>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33B76DD7-758C-4D39-8704-42D5B6F194A9}"/>
              </a:ext>
            </a:extLst>
          </p:cNvPr>
          <p:cNvSpPr>
            <a:spLocks xmlns:a="http://schemas.openxmlformats.org/drawingml/2006/main" noGrp="1"/>
          </p:cNvSpPr>
          <p:nvPr/>
        </p:nvSpPr>
        <p:spPr>
          <a:xfrm xmlns:a="http://schemas.openxmlformats.org/drawingml/2006/main">
            <a:off x="609600" y="762000"/>
            <a:ext cx="714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C12D1808-65BA-4423-8A15-AEECC9F1441F}"/>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Build a complete explanation</a:t>
            </a:r>
          </a:p>
        </p:txBody>
      </p:sp>
      <p:sp>
        <p:nvSpPr>
          <p:cNvPr id="4" name="footer-line">
            <a:extLst xmlns:a="http://schemas.openxmlformats.org/drawingml/2006/main">
              <a:ext uri="{FF2B5EF4-FFF2-40B4-BE49-F238E27FC236}">
                <a16:creationId xmlns:a16="http://schemas.microsoft.com/office/drawing/2014/main" id="{D248E0FB-FE6E-425A-AA0A-6431B966A438}"/>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D2D52629-2E97-432F-8E04-09779FEC4415}"/>
              </a:ext>
            </a:extLst>
          </p:cNvPr>
          <p:cNvSpPr>
            <a:spLocks xmlns:a="http://schemas.openxmlformats.org/drawingml/2006/main" noGrp="1"/>
          </p:cNvSpPr>
          <p:nvPr/>
        </p:nvSpPr>
        <p:spPr>
          <a:xfrm xmlns:a="http://schemas.openxmlformats.org/drawingml/2006/main">
            <a:off x="609600" y="6381750"/>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3  ·  LESSON A</a:t>
            </a:r>
          </a:p>
        </p:txBody>
      </p:sp>
      <p:sp>
        <p:nvSpPr>
          <p:cNvPr id="6" name="page">
            <a:extLst xmlns:a="http://schemas.openxmlformats.org/drawingml/2006/main">
              <a:ext uri="{FF2B5EF4-FFF2-40B4-BE49-F238E27FC236}">
                <a16:creationId xmlns:a16="http://schemas.microsoft.com/office/drawing/2014/main" id="{1057F686-5E76-4DEB-B204-60C866E951DE}"/>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11</a:t>
            </a:r>
          </a:p>
        </p:txBody>
      </p:sp>
      <p:sp>
        <p:nvSpPr>
          <p:cNvPr id="7" name="model">
            <a:extLst xmlns:a="http://schemas.openxmlformats.org/drawingml/2006/main">
              <a:ext uri="{FF2B5EF4-FFF2-40B4-BE49-F238E27FC236}">
                <a16:creationId xmlns:a16="http://schemas.microsoft.com/office/drawing/2014/main" id="{F09C1DF9-E788-4883-826A-72AD3BAD9B2B}"/>
              </a:ext>
            </a:extLst>
          </p:cNvPr>
          <p:cNvSpPr>
            <a:spLocks xmlns:a="http://schemas.openxmlformats.org/drawingml/2006/main" noGrp="1"/>
          </p:cNvSpPr>
          <p:nvPr/>
        </p:nvSpPr>
        <p:spPr>
          <a:xfrm xmlns:a="http://schemas.openxmlformats.org/drawingml/2006/main">
            <a:off x="609600" y="2714625"/>
            <a:ext cx="10715625"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850" b="1">
                <a:solidFill>
                  <a:srgbClr val="28685E"/>
                </a:solidFill>
              </a:defRPr>
            </a:pPr>
            <a:r>
              <a:rPr sz="2850" b="1">
                <a:solidFill>
                  <a:srgbClr val="28685E"/>
                </a:solidFill>
              </a:rPr>
              <a:t>Friction is helpful at a bike brake: it transfers movement energy to heat and slows the wheel.</a:t>
            </a:r>
          </a:p>
        </p:txBody>
      </p:sp>
      <p:sp>
        <p:nvSpPr>
          <p:cNvPr id="8" name="model2">
            <a:extLst xmlns:a="http://schemas.openxmlformats.org/drawingml/2006/main">
              <a:ext uri="{FF2B5EF4-FFF2-40B4-BE49-F238E27FC236}">
                <a16:creationId xmlns:a16="http://schemas.microsoft.com/office/drawing/2014/main" id="{8F999945-2D3B-4380-AA8C-AF6308B5F23F}"/>
              </a:ext>
            </a:extLst>
          </p:cNvPr>
          <p:cNvSpPr>
            <a:spLocks xmlns:a="http://schemas.openxmlformats.org/drawingml/2006/main" noGrp="1"/>
          </p:cNvSpPr>
          <p:nvPr/>
        </p:nvSpPr>
        <p:spPr>
          <a:xfrm xmlns:a="http://schemas.openxmlformats.org/drawingml/2006/main">
            <a:off x="609600" y="4362450"/>
            <a:ext cx="10715625"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850" b="0">
                <a:solidFill>
                  <a:srgbClr val="152B3A"/>
                </a:solidFill>
              </a:defRPr>
            </a:pPr>
            <a:r>
              <a:rPr sz="2850" b="0">
                <a:solidFill>
                  <a:srgbClr val="152B3A"/>
                </a:solidFill>
              </a:rPr>
              <a:t>It can be unhelpful between moving engine parts because rubbing heats and wears them.</a:t>
            </a:r>
          </a:p>
        </p:txBody>
      </p:sp>
    </p:spTree>
    <p:extLst>
      <p:ext uri="{BB962C8B-B14F-4D97-AF65-F5344CB8AC3E}">
        <p14:creationId xmlns:p14="http://schemas.microsoft.com/office/powerpoint/2010/main" val="1553533739"/>
      </p:ext>
    </p:extLst>
  </p:cSld>
</p:sld>
</file>

<file path=ppt/slides/slide12.xml><?xml version="1.0" encoding="utf-8"?>
<p:sld xmlns:p="http://schemas.openxmlformats.org/presentationml/2006/main">
  <p:cSld>
    <p:bg>
      <p:bgPr>
        <a:solidFill xmlns:a="http://schemas.openxmlformats.org/drawingml/2006/main">
          <a:srgbClr val="F5F1E8"/>
        </a:solidFill>
      </p:bgPr>
    </p:bg>
    <p:spTree>
      <p:nvGrpSpPr>
        <p:cNvPr id="1" name=""/>
        <p:cNvGrpSpPr/>
        <p:nvPr/>
      </p:nvGrpSpPr>
      <p:grpSpPr>
        <a:xfrm xmlns:a="http://schemas.openxmlformats.org/drawingml/2006/main"/>
      </p:grpSpPr>
      <p:sp>
        <p:nvSpPr>
          <p:cNvPr id="10" name="top-rule">
            <a:extLst xmlns:a="http://schemas.openxmlformats.org/drawingml/2006/main">
              <a:ext uri="{FF2B5EF4-FFF2-40B4-BE49-F238E27FC236}">
                <a16:creationId xmlns:a16="http://schemas.microsoft.com/office/drawing/2014/main" id="{D421363D-C1D3-4FE1-919A-1A2ED96A6C9F}"/>
              </a:ext>
            </a:extLst>
          </p:cNvPr>
          <p:cNvSpPr>
            <a:spLocks xmlns:a="http://schemas.openxmlformats.org/drawingml/2006/main" noGrp="1"/>
          </p:cNvSpPr>
          <p:nvPr/>
        </p:nvSpPr>
        <p:spPr>
          <a:xfrm xmlns:a="http://schemas.openxmlformats.org/drawingml/2006/main">
            <a:off x="609600" y="552450"/>
            <a:ext cx="781050" cy="57150"/>
          </a:xfrm>
          <a:prstGeom xmlns:a="http://schemas.openxmlformats.org/drawingml/2006/main" prst="rect">
            <a:avLst/>
          </a:prstGeom>
          <a:solidFill xmlns:a="http://schemas.openxmlformats.org/drawingml/2006/main">
            <a:srgbClr val="28685E"/>
          </a:solidFill>
          <a:ln xmlns:a="http://schemas.openxmlformats.org/drawingml/2006/main" w="0">
            <a:noFill/>
            <a:prstDash val="solid"/>
          </a:ln>
        </p:spPr>
      </p:sp>
      <p:sp>
        <p:nvSpPr>
          <p:cNvPr id="2" name="brand">
            <a:extLst xmlns:a="http://schemas.openxmlformats.org/drawingml/2006/main">
              <a:ext uri="{FF2B5EF4-FFF2-40B4-BE49-F238E27FC236}">
                <a16:creationId xmlns:a16="http://schemas.microsoft.com/office/drawing/2014/main" id="{E390B12C-7720-4672-AA87-CCF79D68C603}"/>
              </a:ext>
            </a:extLst>
          </p:cNvPr>
          <p:cNvSpPr>
            <a:spLocks xmlns:a="http://schemas.openxmlformats.org/drawingml/2006/main" noGrp="1"/>
          </p:cNvSpPr>
          <p:nvPr/>
        </p:nvSpPr>
        <p:spPr>
          <a:xfrm xmlns:a="http://schemas.openxmlformats.org/drawingml/2006/main">
            <a:off x="609600" y="762000"/>
            <a:ext cx="7143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500" b="1">
                <a:solidFill>
                  <a:srgbClr val="28685E"/>
                </a:solidFill>
              </a:defRPr>
            </a:pPr>
            <a:r>
              <a:rPr sz="1500" b="1">
                <a:solidFill>
                  <a:srgbClr val="28685E"/>
                </a:solidFill>
              </a:rPr>
              <a:t>MADE BY MATT  /  GROW SCIENCE</a:t>
            </a:r>
          </a:p>
        </p:txBody>
      </p:sp>
      <p:sp>
        <p:nvSpPr>
          <p:cNvPr id="3" name="title">
            <a:extLst xmlns:a="http://schemas.openxmlformats.org/drawingml/2006/main">
              <a:ext uri="{FF2B5EF4-FFF2-40B4-BE49-F238E27FC236}">
                <a16:creationId xmlns:a16="http://schemas.microsoft.com/office/drawing/2014/main" id="{42B94148-6F9D-4976-83BD-EF40BD22483F}"/>
              </a:ext>
            </a:extLst>
          </p:cNvPr>
          <p:cNvSpPr>
            <a:spLocks xmlns:a="http://schemas.openxmlformats.org/drawingml/2006/main" noGrp="1"/>
          </p:cNvSpPr>
          <p:nvPr/>
        </p:nvSpPr>
        <p:spPr>
          <a:xfrm xmlns:a="http://schemas.openxmlformats.org/drawingml/2006/main">
            <a:off x="609600" y="1352550"/>
            <a:ext cx="109728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3750" b="1">
                <a:solidFill>
                  <a:srgbClr val="152B3A"/>
                </a:solidFill>
              </a:defRPr>
            </a:pPr>
            <a:r>
              <a:rPr sz="3750" b="1">
                <a:solidFill>
                  <a:srgbClr val="152B3A"/>
                </a:solidFill>
              </a:rPr>
              <a:t>Keep your prediction for next time</a:t>
            </a:r>
          </a:p>
        </p:txBody>
      </p:sp>
      <p:sp>
        <p:nvSpPr>
          <p:cNvPr id="4" name="footer-line">
            <a:extLst xmlns:a="http://schemas.openxmlformats.org/drawingml/2006/main">
              <a:ext uri="{FF2B5EF4-FFF2-40B4-BE49-F238E27FC236}">
                <a16:creationId xmlns:a16="http://schemas.microsoft.com/office/drawing/2014/main" id="{79B4EAA8-6FE9-4C79-A5EA-1B055CBE91C4}"/>
              </a:ext>
            </a:extLst>
          </p:cNvPr>
          <p:cNvSpPr>
            <a:spLocks xmlns:a="http://schemas.openxmlformats.org/drawingml/2006/main" noGrp="1"/>
          </p:cNvSpPr>
          <p:nvPr/>
        </p:nvSpPr>
        <p:spPr>
          <a:xfrm xmlns:a="http://schemas.openxmlformats.org/drawingml/2006/main">
            <a:off x="609600" y="6219825"/>
            <a:ext cx="10972800" cy="9525"/>
          </a:xfrm>
          <a:prstGeom xmlns:a="http://schemas.openxmlformats.org/drawingml/2006/main" prst="rect">
            <a:avLst/>
          </a:prstGeom>
          <a:solidFill xmlns:a="http://schemas.openxmlformats.org/drawingml/2006/main">
            <a:srgbClr val="DCE7DD"/>
          </a:solidFill>
          <a:ln xmlns:a="http://schemas.openxmlformats.org/drawingml/2006/main" w="0">
            <a:noFill/>
            <a:prstDash val="solid"/>
          </a:ln>
        </p:spPr>
      </p:sp>
      <p:sp>
        <p:nvSpPr>
          <p:cNvPr id="5" name="footer">
            <a:extLst xmlns:a="http://schemas.openxmlformats.org/drawingml/2006/main">
              <a:ext uri="{FF2B5EF4-FFF2-40B4-BE49-F238E27FC236}">
                <a16:creationId xmlns:a16="http://schemas.microsoft.com/office/drawing/2014/main" id="{5F311380-4F19-49EC-B534-69A35B0BA4EA}"/>
              </a:ext>
            </a:extLst>
          </p:cNvPr>
          <p:cNvSpPr>
            <a:spLocks xmlns:a="http://schemas.openxmlformats.org/drawingml/2006/main" noGrp="1"/>
          </p:cNvSpPr>
          <p:nvPr/>
        </p:nvSpPr>
        <p:spPr>
          <a:xfrm xmlns:a="http://schemas.openxmlformats.org/drawingml/2006/main">
            <a:off x="609600" y="6381750"/>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275" b="0">
                <a:solidFill>
                  <a:srgbClr val="50616B"/>
                </a:solidFill>
              </a:defRPr>
            </a:pPr>
            <a:r>
              <a:rPr sz="1275" b="0">
                <a:solidFill>
                  <a:srgbClr val="50616B"/>
                </a:solidFill>
              </a:rPr>
              <a:t>AUTUMN 1  ·  WEEK 3  ·  LESSON A</a:t>
            </a:r>
          </a:p>
        </p:txBody>
      </p:sp>
      <p:sp>
        <p:nvSpPr>
          <p:cNvPr id="6" name="page">
            <a:extLst xmlns:a="http://schemas.openxmlformats.org/drawingml/2006/main">
              <a:ext uri="{FF2B5EF4-FFF2-40B4-BE49-F238E27FC236}">
                <a16:creationId xmlns:a16="http://schemas.microsoft.com/office/drawing/2014/main" id="{8F19DE10-E00C-464D-9BE1-5C7E87531E63}"/>
              </a:ext>
            </a:extLst>
          </p:cNvPr>
          <p:cNvSpPr>
            <a:spLocks xmlns:a="http://schemas.openxmlformats.org/drawingml/2006/main" noGrp="1"/>
          </p:cNvSpPr>
          <p:nvPr/>
        </p:nvSpPr>
        <p:spPr>
          <a:xfrm xmlns:a="http://schemas.openxmlformats.org/drawingml/2006/main">
            <a:off x="11106150" y="6362700"/>
            <a:ext cx="4762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1350" b="1">
                <a:solidFill>
                  <a:srgbClr val="28685E"/>
                </a:solidFill>
              </a:defRPr>
            </a:pPr>
            <a:r>
              <a:rPr sz="1350" b="1">
                <a:solidFill>
                  <a:srgbClr val="28685E"/>
                </a:solidFill>
              </a:rPr>
              <a:t>12</a:t>
            </a:r>
          </a:p>
        </p:txBody>
      </p:sp>
      <p:sp>
        <p:nvSpPr>
          <p:cNvPr id="7" name="line-0">
            <a:extLst xmlns:a="http://schemas.openxmlformats.org/drawingml/2006/main">
              <a:ext uri="{FF2B5EF4-FFF2-40B4-BE49-F238E27FC236}">
                <a16:creationId xmlns:a16="http://schemas.microsoft.com/office/drawing/2014/main" id="{BB1ECE04-42C9-4DFF-91B5-9A4F8F3C23B6}"/>
              </a:ext>
            </a:extLst>
          </p:cNvPr>
          <p:cNvSpPr>
            <a:spLocks xmlns:a="http://schemas.openxmlformats.org/drawingml/2006/main" noGrp="1"/>
          </p:cNvSpPr>
          <p:nvPr/>
        </p:nvSpPr>
        <p:spPr>
          <a:xfrm xmlns:a="http://schemas.openxmlformats.org/drawingml/2006/main">
            <a:off x="609600" y="2809875"/>
            <a:ext cx="10668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625" b="0">
                <a:solidFill>
                  <a:srgbClr val="152B3A"/>
                </a:solidFill>
              </a:defRPr>
            </a:pPr>
            <a:r>
              <a:rPr sz="2625" b="0">
                <a:solidFill>
                  <a:srgbClr val="152B3A"/>
                </a:solidFill>
              </a:rPr>
              <a:t>Keep your named worksheet and first prediction.</a:t>
            </a:r>
          </a:p>
        </p:txBody>
      </p:sp>
      <p:sp>
        <p:nvSpPr>
          <p:cNvPr id="8" name="line-1">
            <a:extLst xmlns:a="http://schemas.openxmlformats.org/drawingml/2006/main">
              <a:ext uri="{FF2B5EF4-FFF2-40B4-BE49-F238E27FC236}">
                <a16:creationId xmlns:a16="http://schemas.microsoft.com/office/drawing/2014/main" id="{E77DC251-F86E-4574-8C78-5A8EF6D50759}"/>
              </a:ext>
            </a:extLst>
          </p:cNvPr>
          <p:cNvSpPr>
            <a:spLocks xmlns:a="http://schemas.openxmlformats.org/drawingml/2006/main" noGrp="1"/>
          </p:cNvSpPr>
          <p:nvPr/>
        </p:nvSpPr>
        <p:spPr>
          <a:xfrm xmlns:a="http://schemas.openxmlformats.org/drawingml/2006/main">
            <a:off x="609600" y="3724275"/>
            <a:ext cx="10668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625" b="0">
                <a:solidFill>
                  <a:srgbClr val="152B3A"/>
                </a:solidFill>
              </a:defRPr>
            </a:pPr>
            <a:r>
              <a:rPr sz="2625" b="0">
                <a:solidFill>
                  <a:srgbClr val="152B3A"/>
                </a:solidFill>
              </a:rPr>
              <a:t>Next lesson: compare three surfaces and repeated results.</a:t>
            </a:r>
          </a:p>
        </p:txBody>
      </p:sp>
      <p:sp>
        <p:nvSpPr>
          <p:cNvPr id="9" name="line-2">
            <a:extLst xmlns:a="http://schemas.openxmlformats.org/drawingml/2006/main">
              <a:ext uri="{FF2B5EF4-FFF2-40B4-BE49-F238E27FC236}">
                <a16:creationId xmlns:a16="http://schemas.microsoft.com/office/drawing/2014/main" id="{D5446F1E-2AAD-478E-97F6-8EB2B5D2004C}"/>
              </a:ext>
            </a:extLst>
          </p:cNvPr>
          <p:cNvSpPr>
            <a:spLocks xmlns:a="http://schemas.openxmlformats.org/drawingml/2006/main" noGrp="1"/>
          </p:cNvSpPr>
          <p:nvPr/>
        </p:nvSpPr>
        <p:spPr>
          <a:xfrm xmlns:a="http://schemas.openxmlformats.org/drawingml/2006/main">
            <a:off x="609600" y="4638675"/>
            <a:ext cx="10668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lstStyle xmlns:a="http://schemas.openxmlformats.org/drawingml/2006/main"/>
          <a:p xmlns:a="http://schemas.openxmlformats.org/drawingml/2006/main">
            <a:pPr>
              <a:defRPr sz="2625" b="0">
                <a:solidFill>
                  <a:srgbClr val="152B3A"/>
                </a:solidFill>
              </a:defRPr>
            </a:pPr>
            <a:r>
              <a:rPr sz="2625" b="0">
                <a:solidFill>
                  <a:srgbClr val="152B3A"/>
                </a:solidFill>
              </a:rPr>
              <a:t>Point to one idea you want to check again.</a:t>
            </a:r>
          </a:p>
        </p:txBody>
      </p:sp>
    </p:spTree>
    <p:extLst>
      <p:ext uri="{BB962C8B-B14F-4D97-AF65-F5344CB8AC3E}">
        <p14:creationId xmlns:p14="http://schemas.microsoft.com/office/powerpoint/2010/main" val="153763795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2026-09-06T11:46:41.6970000Z</dcterms:created>
  <dcterms:modified xsi:type="dcterms:W3CDTF">2026-09-06T11:46:41.6970000Z</dcterms:modified>
</coreProperties>
</file>