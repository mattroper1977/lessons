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19efd17e834aa6" /><Relationship Type="http://schemas.openxmlformats.org/officeDocument/2006/relationships/extended-properties" Target="/docProps/app.xml" Id="Rc9b79d14d8bb4cdf" /><Relationship Type="http://schemas.openxmlformats.org/officeDocument/2006/relationships/officeDocument" Target="/ppt/presentation.xml" Id="R56c63397c7c34150" /></Relationships>
</file>

<file path=ppt/presentation.xml><?xml version="1.0" encoding="utf-8"?>
<p:presentation xmlns:p="http://schemas.openxmlformats.org/presentationml/2006/main">
  <p:sldMasterIdLst>
    <p:sldMasterId xmlns:r="http://schemas.openxmlformats.org/officeDocument/2006/relationships" id="2147483648" r:id="R642e735284254e9f"/>
  </p:sldMasterIdLst>
  <p:notesMasterIdLst>
    <p:notesMasterId xmlns:r="http://schemas.openxmlformats.org/officeDocument/2006/relationships" r:id="R7be009e256b94b36"/>
  </p:notesMasterIdLst>
  <p:sldIdLst>
    <p:sldId xmlns:r="http://schemas.openxmlformats.org/officeDocument/2006/relationships" id="256" r:id="Rf576b66353af42a6"/>
    <p:sldId xmlns:r="http://schemas.openxmlformats.org/officeDocument/2006/relationships" id="257" r:id="R86bcbacb05a44044"/>
    <p:sldId xmlns:r="http://schemas.openxmlformats.org/officeDocument/2006/relationships" id="258" r:id="Rbc7a64dd596247b6"/>
    <p:sldId xmlns:r="http://schemas.openxmlformats.org/officeDocument/2006/relationships" id="259" r:id="R046850ed369c4665"/>
    <p:sldId xmlns:r="http://schemas.openxmlformats.org/officeDocument/2006/relationships" id="260" r:id="Rc9ec0d9262074abe"/>
    <p:sldId xmlns:r="http://schemas.openxmlformats.org/officeDocument/2006/relationships" id="261" r:id="R76218c3ab18c4787"/>
    <p:sldId xmlns:r="http://schemas.openxmlformats.org/officeDocument/2006/relationships" id="262" r:id="R9c173753452f42b8"/>
    <p:sldId xmlns:r="http://schemas.openxmlformats.org/officeDocument/2006/relationships" id="263" r:id="R3c4f951c90524f0c"/>
    <p:sldId xmlns:r="http://schemas.openxmlformats.org/officeDocument/2006/relationships" id="264" r:id="R406d92ab80e34ceb"/>
    <p:sldId xmlns:r="http://schemas.openxmlformats.org/officeDocument/2006/relationships" id="265" r:id="Rfb4dd6c2b9204ab0"/>
    <p:sldId xmlns:r="http://schemas.openxmlformats.org/officeDocument/2006/relationships" id="266" r:id="R736c24eba31e45ff"/>
    <p:sldId xmlns:r="http://schemas.openxmlformats.org/officeDocument/2006/relationships" id="267" r:id="R3376894322204c24"/>
    <p:sldId xmlns:r="http://schemas.openxmlformats.org/officeDocument/2006/relationships" id="268" r:id="Rac9316b40f6a46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76904e023546d5" /><Relationship Type="http://schemas.openxmlformats.org/officeDocument/2006/relationships/slideMaster" Target="/ppt/slideMasters/slideMaster1.xml" Id="R642e735284254e9f" /><Relationship Type="http://schemas.openxmlformats.org/officeDocument/2006/relationships/notesMaster" Target="/ppt/notesMasters/notesMaster1.xml" Id="R7be009e256b94b36" /><Relationship Type="http://schemas.openxmlformats.org/officeDocument/2006/relationships/presProps" Target="/ppt/presProps.xml" Id="R49cb2c04544b4aeb" /><Relationship Type="http://schemas.openxmlformats.org/officeDocument/2006/relationships/tableStyles" Target="/ppt/tableStyles.xml" Id="Ra94b6afab9d74eb9" /><Relationship Type="http://schemas.openxmlformats.org/officeDocument/2006/relationships/slide" Target="/ppt/slides/slide1.xml" Id="Rf576b66353af42a6" /><Relationship Type="http://schemas.openxmlformats.org/officeDocument/2006/relationships/slide" Target="/ppt/slides/slide2.xml" Id="R86bcbacb05a44044" /><Relationship Type="http://schemas.openxmlformats.org/officeDocument/2006/relationships/slide" Target="/ppt/slides/slide3.xml" Id="Rbc7a64dd596247b6" /><Relationship Type="http://schemas.openxmlformats.org/officeDocument/2006/relationships/slide" Target="/ppt/slides/slide4.xml" Id="R046850ed369c4665" /><Relationship Type="http://schemas.openxmlformats.org/officeDocument/2006/relationships/slide" Target="/ppt/slides/slide5.xml" Id="Rc9ec0d9262074abe" /><Relationship Type="http://schemas.openxmlformats.org/officeDocument/2006/relationships/slide" Target="/ppt/slides/slide6.xml" Id="R76218c3ab18c4787" /><Relationship Type="http://schemas.openxmlformats.org/officeDocument/2006/relationships/slide" Target="/ppt/slides/slide7.xml" Id="R9c173753452f42b8" /><Relationship Type="http://schemas.openxmlformats.org/officeDocument/2006/relationships/slide" Target="/ppt/slides/slide8.xml" Id="R3c4f951c90524f0c" /><Relationship Type="http://schemas.openxmlformats.org/officeDocument/2006/relationships/slide" Target="/ppt/slides/slide9.xml" Id="R406d92ab80e34ceb" /><Relationship Type="http://schemas.openxmlformats.org/officeDocument/2006/relationships/slide" Target="/ppt/slides/slide10.xml" Id="Rfb4dd6c2b9204ab0" /><Relationship Type="http://schemas.openxmlformats.org/officeDocument/2006/relationships/slide" Target="/ppt/slides/slide11.xml" Id="R736c24eba31e45ff" /><Relationship Type="http://schemas.openxmlformats.org/officeDocument/2006/relationships/slide" Target="/ppt/slides/slide12.xml" Id="R3376894322204c24" /><Relationship Type="http://schemas.openxmlformats.org/officeDocument/2006/relationships/slide" Target="/ppt/slides/slide13.xml" Id="Rac9316b40f6a46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18333c288c40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eb0c60c504473d" /><Relationship Type="http://schemas.openxmlformats.org/officeDocument/2006/relationships/notesMaster" Target="/ppt/notesMasters/notesMaster1.xml" Id="Re8b06792dd1d4f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ca0e67142a47b1" /><Relationship Type="http://schemas.openxmlformats.org/officeDocument/2006/relationships/notesMaster" Target="/ppt/notesMasters/notesMaster1.xml" Id="Re07783587cbe48d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6c6d7c589141c6" /><Relationship Type="http://schemas.openxmlformats.org/officeDocument/2006/relationships/notesMaster" Target="/ppt/notesMasters/notesMaster1.xml" Id="Rd794bc9b302949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c54c54ee204db4" /><Relationship Type="http://schemas.openxmlformats.org/officeDocument/2006/relationships/notesMaster" Target="/ppt/notesMasters/notesMaster1.xml" Id="R2b574a8b58e64c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835b79e4054a94" /><Relationship Type="http://schemas.openxmlformats.org/officeDocument/2006/relationships/notesMaster" Target="/ppt/notesMasters/notesMaster1.xml" Id="R258038ce236941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416504155344d4" /><Relationship Type="http://schemas.openxmlformats.org/officeDocument/2006/relationships/notesMaster" Target="/ppt/notesMasters/notesMaster1.xml" Id="R19a0c2fa73c74a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51feb1970c48f9" /><Relationship Type="http://schemas.openxmlformats.org/officeDocument/2006/relationships/notesMaster" Target="/ppt/notesMasters/notesMaster1.xml" Id="Rcd1fb305c673482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f94a9bfd3946eb" /><Relationship Type="http://schemas.openxmlformats.org/officeDocument/2006/relationships/notesMaster" Target="/ppt/notesMasters/notesMaster1.xml" Id="R112115746cc1437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84f540bf142e5" /><Relationship Type="http://schemas.openxmlformats.org/officeDocument/2006/relationships/notesMaster" Target="/ppt/notesMasters/notesMaster1.xml" Id="Ra3337b89ba7144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05f58baab4419c" /><Relationship Type="http://schemas.openxmlformats.org/officeDocument/2006/relationships/notesMaster" Target="/ppt/notesMasters/notesMaster1.xml" Id="R46808077570443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3f316f9d50b4dbc" /><Relationship Type="http://schemas.openxmlformats.org/officeDocument/2006/relationships/notesMaster" Target="/ppt/notesMasters/notesMaster1.xml" Id="R10cbf889fad64f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d2c5b9eb9b4642" /><Relationship Type="http://schemas.openxmlformats.org/officeDocument/2006/relationships/notesMaster" Target="/ppt/notesMasters/notesMaster1.xml" Id="R34d398b7357c42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d560ea5dcc1438c" /><Relationship Type="http://schemas.openxmlformats.org/officeDocument/2006/relationships/notesMaster" Target="/ppt/notesMasters/notesMaster1.xml" Id="R98bbb61c39c44b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Title — 1 minutes within the source's 40-minute lesson.</a:t>
            </a:r>
          </a:p>
          <a:p xmlns:a="http://schemas.openxmlformats.org/drawingml/2006/main">
            <a:r>
              <a:t>Current W7 learning objective. Success: state Moon orbits Earth roughly monthly; explain it reflects sunlight; describe ordinary phases. This lesson stops at We Do 2; Tuesday contains the phase-wheel workshop. Do not introduce a cumulative term test that is not the current source.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Arrival Task — 4 minutes within the source's 40-minute lesson.</a:t>
            </a:r>
          </a:p>
          <a:p xmlns:a="http://schemas.openxmlformats.org/drawingml/2006/main">
            <a:r>
              <a:t>Provide original three-circle new/half/full strip or a simple adult drawing; pupil can draw/direct rather than write. Full Moon shows the whole illuminated face from Earth. Orbit about 27.3 days, roughly a month; light is reflected sunlight. Keep initial response for correction.</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at a Glance — 2 minutes within the source's 40-minute lesson.</a:t>
            </a:r>
          </a:p>
          <a:p xmlns:a="http://schemas.openxmlformats.org/drawingml/2006/main">
            <a:r>
              <a:t>A satellite is an object orbiting a planet; Moon is Earth's natural satellite. Phase means the apparent shape of the illuminated part visible from Earth. Reflection is light returning from a surface. Crescent means a thin curved visible sunlit portion.</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 — 3 minutes within the source's 40-minute lesson.</a:t>
            </a:r>
          </a:p>
          <a:p xmlns:a="http://schemas.openxmlformats.org/drawingml/2006/main">
            <a:r>
              <a:t>Native diagram traces a possible light path schematically, not a measured ray diagram or phase map. Sun is light source; Moon reflects/scatters sunlight towards observers, rather than glowing like a star. This diagram does not show the illuminated half; use the ball model next.</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 — 3 minutes within the source's 40-minute lesson.</a:t>
            </a:r>
          </a:p>
          <a:p xmlns:a="http://schemas.openxmlformats.org/drawingml/2006/main">
            <a:r>
              <a:t>Adult operates low-power torch, never into eyes. Get agreement before changing light levels; no blackout required. Keep ball above the observer's shadow and compare positions from a fixed observer point. Outside eclipses, about half the Moon is sunlit. Do not say the whole ball becomes physically crescent-shaped.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 — 3 minutes within the source's 40-minute lesson.</a:t>
            </a:r>
          </a:p>
          <a:p xmlns:a="http://schemas.openxmlformats.org/drawingml/2006/main">
            <a:r>
              <a:t>Demonstrate new near the light direction, half at side, full opposite the light direction while preventing observer-shadow eclipse. A 'half Moon' in appearance is commonly a quarter phase in cycle terminology. Phase depends on viewing geometry, not Earth's shadow. Pupil may direct positions or use still diagrams. Repeat the model from one pupil-requested view.</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 — 6 minutes within the source's 40-minute lesson.</a:t>
            </a:r>
          </a:p>
          <a:p xmlns:a="http://schemas.openxmlformats.org/drawingml/2006/main">
            <a:r>
              <a:t>Decide first with cards or speech. First three are ordinary phases from seeing differing illuminated portions; new Moon is near Sun's direction with near side mostly unlit, not Moon ceasing to exist. Lunar eclipse involves Earth blocking direct sunlight; reddish light reaching Moon has passed through Earth's atmosphere. Explain red briefly only if asked; key contrast is shadow versus phase.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 — 4 minutes within the source's 40-minute lesson.</a:t>
            </a:r>
          </a:p>
          <a:p xmlns:a="http://schemas.openxmlformats.org/drawingml/2006/main">
            <a:r>
              <a:t>Ask pupil to repair the claim 'a crescent is Earth's shadow'. Expected: as Moon orbits Earth, we see a different amount of its sunlit half. A lunar eclipse can occur at full Moon but not each full Moon because lunar orbit is tilted; this is optional explanatory note, not extra assessed content.</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2 — 4 minutes within the source's 40-minute lesson.</a:t>
            </a:r>
          </a:p>
          <a:p xmlns:a="http://schemas.openxmlformats.org/drawingml/2006/main">
            <a:r>
              <a:t>Source evidence loop: roughly monthly orbit, reflected sunlight, cause of phases. Model with pupil's own words rather than copying. An adult may keep a pupil-labelled view or record explanation; no compulsory photo, public display or accreditation claim.</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4 minutes within the source's 40-minute lesson.</a:t>
            </a:r>
          </a:p>
          <a:p xmlns:a="http://schemas.openxmlformats.org/drawingml/2006/main">
            <a:r>
              <a:t>Mark T/F before checking. Expected T,F,F,T,F. 'Glows by itself' means own visible light source in this classroom context. Pupil may point to labels or ask adult to read. Correct one false claim with explanation.</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3 minutes within the source's 40-minute lesson.</a:t>
            </a:r>
          </a:p>
          <a:p xmlns:a="http://schemas.openxmlformats.org/drawingml/2006/main">
            <a:r>
              <a:t>Original claim order T,F,F,T,F. Correct false claims: Moon reflects sunlight; ordinary phases depend on viewing illuminated half; Moon can be visible in daytime. Exact time distinction is 27.3-day orbit relative to stars versus 29.5-day new-to-new cycle, not contradictory month lengths.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2 minutes within the source's 40-minute lesson.</a:t>
            </a:r>
          </a:p>
          <a:p xmlns:a="http://schemas.openxmlformats.org/drawingml/2006/main">
            <a:r>
              <a:t>Retains source WAGOLL. Qualify that outside an eclipse about half is illuminated. A pupil can produce a labelled sequence with an oral explanation. Do not use a ball entering head-shadow as evidence of ordinary phases.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1 minutes within the source's 40-minute lesson.</a:t>
            </a:r>
          </a:p>
          <a:p xmlns:a="http://schemas.openxmlformats.org/drawingml/2006/main">
            <a:r>
              <a:t>End Monday after We Do 2 as source instructs. Tuesday follows 32-minute workshop,4-minute feedback and 4-minute exit. No extra test or private-pack replacement. Adult may note the pupil's chosen question.</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https://github.com/MattRoper1977/Lessons/blob/main/Science_Teesside/Grow/SCI_G_W7_The_Moon.html</a:t>
            </a:r>
          </a:p>
          <a:p xmlns:a="http://schemas.openxmlformats.org/drawingml/2006/main">
            <a:r>
              <a:t>Git blob: cad3ed6bbbb2f2b3a8cd2ee83b6e504388f82386.</a:t>
            </a:r>
          </a:p>
          <a:p xmlns:a="http://schemas.openxmlformats.org/drawingml/2006/main">
            <a:r>
              <a:t>SHA256: abaf614900cf67b2d64af68600213794886961a5822ae1d98145ca4bfbdeb7f9.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9412e5e8ed40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f3b56b22ed4525" /><Relationship Type="http://schemas.openxmlformats.org/officeDocument/2006/relationships/slideLayout" Target="/ppt/slideLayouts/slideLayout1.xml" Id="R69559a7fd1354c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559a7fd1354c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c4642700b04e80" /><Relationship Type="http://schemas.openxmlformats.org/officeDocument/2006/relationships/notesSlide" Target="/ppt/notesSlides/notesSlide1.xml" Id="R3faa978291584d9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a5eaf942c234302" /><Relationship Type="http://schemas.openxmlformats.org/officeDocument/2006/relationships/notesSlide" Target="/ppt/notesSlides/notesSlide2.xml" Id="Rd6b5871d9bb041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949d1b545f465b" /><Relationship Type="http://schemas.openxmlformats.org/officeDocument/2006/relationships/notesSlide" Target="/ppt/notesSlides/notesSlide3.xml" Id="R8dde523bfc474fd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7fb99cd5a9848ab" /><Relationship Type="http://schemas.openxmlformats.org/officeDocument/2006/relationships/notesSlide" Target="/ppt/notesSlides/notesSlide4.xml" Id="R25b2fda8532a41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12d63c791ec43e7" /><Relationship Type="http://schemas.openxmlformats.org/officeDocument/2006/relationships/notesSlide" Target="/ppt/notesSlides/notesSlide5.xml" Id="Rd9cf4321f9404f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c968f1cd454862" /><Relationship Type="http://schemas.openxmlformats.org/officeDocument/2006/relationships/notesSlide" Target="/ppt/notesSlides/notesSlide6.xml" Id="R16bf6509a2fa41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3ee1f64b5494f48" /><Relationship Type="http://schemas.openxmlformats.org/officeDocument/2006/relationships/notesSlide" Target="/ppt/notesSlides/notesSlide7.xml" Id="R1ef228cad0d94b5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852bde56e8145a7" /><Relationship Type="http://schemas.openxmlformats.org/officeDocument/2006/relationships/notesSlide" Target="/ppt/notesSlides/notesSlide8.xml" Id="Rcf1146362d48489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968e75176604847" /><Relationship Type="http://schemas.openxmlformats.org/officeDocument/2006/relationships/notesSlide" Target="/ppt/notesSlides/notesSlide9.xml" Id="Rf6902478b80f4f6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831ae5a6b3045d0" /><Relationship Type="http://schemas.openxmlformats.org/officeDocument/2006/relationships/notesSlide" Target="/ppt/notesSlides/notesSlide10.xml" Id="Rf55b8c34593f4c9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6d72ee00fce415a" /><Relationship Type="http://schemas.openxmlformats.org/officeDocument/2006/relationships/notesSlide" Target="/ppt/notesSlides/notesSlide11.xml" Id="Rbcbce8ae28e44c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f58625b74784927" /><Relationship Type="http://schemas.openxmlformats.org/officeDocument/2006/relationships/notesSlide" Target="/ppt/notesSlides/notesSlide12.xml" Id="Reafc09d731f449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d7aa5b4de614b5f" /><Relationship Type="http://schemas.openxmlformats.org/officeDocument/2006/relationships/notesSlide" Target="/ppt/notesSlides/notesSlide13.xml" Id="R306cefade660465d"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236A5186-2888-45A1-AAA8-231FC5EC19AE}"/>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8601987-884A-4E09-BD34-D0978DDF5925}"/>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5FBBC6F4-23A5-4FBF-A549-E55AA622DED3}"/>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The Moon's journey</a:t>
            </a:r>
          </a:p>
        </p:txBody>
      </p:sp>
      <p:sp>
        <p:nvSpPr>
          <p:cNvPr id="4" name="footer-line">
            <a:extLst xmlns:a="http://schemas.openxmlformats.org/drawingml/2006/main">
              <a:ext uri="{FF2B5EF4-FFF2-40B4-BE49-F238E27FC236}">
                <a16:creationId xmlns:a16="http://schemas.microsoft.com/office/drawing/2014/main" id="{3EDE36AE-A3B2-489C-8FCF-5EF16FB8FB4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D9C30987-8A0D-4B88-AC5A-E2EF81C648D9}"/>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C118A9F9-CF2E-41B4-9BAE-96D1EE5630A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01</a:t>
            </a:r>
          </a:p>
        </p:txBody>
      </p:sp>
      <p:sp>
        <p:nvSpPr>
          <p:cNvPr id="7" name="subtitle">
            <a:extLst xmlns:a="http://schemas.openxmlformats.org/drawingml/2006/main">
              <a:ext uri="{FF2B5EF4-FFF2-40B4-BE49-F238E27FC236}">
                <a16:creationId xmlns:a16="http://schemas.microsoft.com/office/drawing/2014/main" id="{0723F0BF-1EF1-44DE-9439-30A8172B9834}"/>
              </a:ext>
            </a:extLst>
          </p:cNvPr>
          <p:cNvSpPr>
            <a:spLocks xmlns:a="http://schemas.openxmlformats.org/drawingml/2006/main" noGrp="1"/>
          </p:cNvSpPr>
          <p:nvPr/>
        </p:nvSpPr>
        <p:spPr>
          <a:xfrm xmlns:a="http://schemas.openxmlformats.org/drawingml/2006/main">
            <a:off x="609600" y="2809875"/>
            <a:ext cx="1066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900" b="1">
                <a:solidFill>
                  <a:srgbClr val="28685E"/>
                </a:solidFill>
              </a:defRPr>
            </a:pPr>
            <a:r>
              <a:rPr sz="3900" b="1">
                <a:solidFill>
                  <a:srgbClr val="28685E"/>
                </a:solidFill>
              </a:rPr>
              <a:t>Same Moon. Changing view.</a:t>
            </a:r>
          </a:p>
        </p:txBody>
      </p:sp>
      <p:sp>
        <p:nvSpPr>
          <p:cNvPr id="8" name="body">
            <a:extLst xmlns:a="http://schemas.openxmlformats.org/drawingml/2006/main">
              <a:ext uri="{FF2B5EF4-FFF2-40B4-BE49-F238E27FC236}">
                <a16:creationId xmlns:a16="http://schemas.microsoft.com/office/drawing/2014/main" id="{A217CD41-263C-4AE6-8811-1E00AF079B95}"/>
              </a:ext>
            </a:extLst>
          </p:cNvPr>
          <p:cNvSpPr>
            <a:spLocks xmlns:a="http://schemas.openxmlformats.org/drawingml/2006/main" noGrp="1"/>
          </p:cNvSpPr>
          <p:nvPr/>
        </p:nvSpPr>
        <p:spPr>
          <a:xfrm xmlns:a="http://schemas.openxmlformats.org/drawingml/2006/main">
            <a:off x="609600" y="4143375"/>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Explain how the Moon moves and why it looks different across a month.</a:t>
            </a:r>
          </a:p>
        </p:txBody>
      </p:sp>
    </p:spTree>
    <p:extLst>
      <p:ext uri="{BB962C8B-B14F-4D97-AF65-F5344CB8AC3E}">
        <p14:creationId xmlns:p14="http://schemas.microsoft.com/office/powerpoint/2010/main" val="173271520"/>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F6A143B3-2CB3-4BCD-8FDD-2FE1168F53B4}"/>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16BAE6E3-29B9-4435-8258-9DB8F82D4718}"/>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117F6AD-8633-4387-84B9-D08106787EB2}"/>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Start with what you think</a:t>
            </a:r>
          </a:p>
        </p:txBody>
      </p:sp>
      <p:sp>
        <p:nvSpPr>
          <p:cNvPr id="4" name="footer-line">
            <a:extLst xmlns:a="http://schemas.openxmlformats.org/drawingml/2006/main">
              <a:ext uri="{FF2B5EF4-FFF2-40B4-BE49-F238E27FC236}">
                <a16:creationId xmlns:a16="http://schemas.microsoft.com/office/drawing/2014/main" id="{D4F225FD-0ED7-4E4E-ABDC-D355361490C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8027F1DD-7088-4DEB-A041-D86605545937}"/>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6E76872D-F851-4740-A413-29AD36C93977}"/>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02</a:t>
            </a:r>
          </a:p>
        </p:txBody>
      </p:sp>
      <p:sp>
        <p:nvSpPr>
          <p:cNvPr id="7" name="line-0">
            <a:extLst xmlns:a="http://schemas.openxmlformats.org/drawingml/2006/main">
              <a:ext uri="{FF2B5EF4-FFF2-40B4-BE49-F238E27FC236}">
                <a16:creationId xmlns:a16="http://schemas.microsoft.com/office/drawing/2014/main" id="{97BE9655-3D89-4029-99DA-AEE014053AA7}"/>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Supported: point to the full Moon on a phase strip.</a:t>
            </a:r>
          </a:p>
        </p:txBody>
      </p:sp>
      <p:sp>
        <p:nvSpPr>
          <p:cNvPr id="8" name="line-1">
            <a:extLst xmlns:a="http://schemas.openxmlformats.org/drawingml/2006/main">
              <a:ext uri="{FF2B5EF4-FFF2-40B4-BE49-F238E27FC236}">
                <a16:creationId xmlns:a16="http://schemas.microsoft.com/office/drawing/2014/main" id="{A92CF177-10A9-45F2-B7DA-E5F18588CA7A}"/>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Standard: estimate the time for one orbit of Earth.</a:t>
            </a:r>
          </a:p>
        </p:txBody>
      </p:sp>
      <p:sp>
        <p:nvSpPr>
          <p:cNvPr id="9" name="line-2">
            <a:extLst xmlns:a="http://schemas.openxmlformats.org/drawingml/2006/main">
              <a:ext uri="{FF2B5EF4-FFF2-40B4-BE49-F238E27FC236}">
                <a16:creationId xmlns:a16="http://schemas.microsoft.com/office/drawing/2014/main" id="{FB3B0D6E-7EE2-4D57-94F4-1C7387B9F619}"/>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Stretch: add where the Moon's light comes from.</a:t>
            </a:r>
          </a:p>
        </p:txBody>
      </p:sp>
    </p:spTree>
    <p:extLst>
      <p:ext uri="{BB962C8B-B14F-4D97-AF65-F5344CB8AC3E}">
        <p14:creationId xmlns:p14="http://schemas.microsoft.com/office/powerpoint/2010/main" val="464631777"/>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84797922-1331-4021-832B-D717FF105B0A}"/>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C89EB51-A42D-4E70-AF5A-D4F5B3DE871F}"/>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547E99AE-EB0F-4972-8823-23F5FB523D19}"/>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Three things to work out</a:t>
            </a:r>
          </a:p>
        </p:txBody>
      </p:sp>
      <p:sp>
        <p:nvSpPr>
          <p:cNvPr id="4" name="footer-line">
            <a:extLst xmlns:a="http://schemas.openxmlformats.org/drawingml/2006/main">
              <a:ext uri="{FF2B5EF4-FFF2-40B4-BE49-F238E27FC236}">
                <a16:creationId xmlns:a16="http://schemas.microsoft.com/office/drawing/2014/main" id="{A4BD4CF6-561D-431D-9E9C-0A70677259E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98A9C162-3599-4422-AF27-080BA23605D4}"/>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444832A2-A3CD-41D0-9761-5E0C8C8BE70C}"/>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03</a:t>
            </a:r>
          </a:p>
        </p:txBody>
      </p:sp>
      <p:sp>
        <p:nvSpPr>
          <p:cNvPr id="7" name="line-0">
            <a:extLst xmlns:a="http://schemas.openxmlformats.org/drawingml/2006/main">
              <a:ext uri="{FF2B5EF4-FFF2-40B4-BE49-F238E27FC236}">
                <a16:creationId xmlns:a16="http://schemas.microsoft.com/office/drawing/2014/main" id="{1761B809-1BF3-481E-B479-51340EB05B7F}"/>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1   Orbit and time.</a:t>
            </a:r>
          </a:p>
        </p:txBody>
      </p:sp>
      <p:sp>
        <p:nvSpPr>
          <p:cNvPr id="8" name="line-1">
            <a:extLst xmlns:a="http://schemas.openxmlformats.org/drawingml/2006/main">
              <a:ext uri="{FF2B5EF4-FFF2-40B4-BE49-F238E27FC236}">
                <a16:creationId xmlns:a16="http://schemas.microsoft.com/office/drawing/2014/main" id="{95B47979-F323-4BDA-BC1B-6B66AC2BB4FE}"/>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2   Where the light comes from.</a:t>
            </a:r>
          </a:p>
        </p:txBody>
      </p:sp>
      <p:sp>
        <p:nvSpPr>
          <p:cNvPr id="9" name="line-2">
            <a:extLst xmlns:a="http://schemas.openxmlformats.org/drawingml/2006/main">
              <a:ext uri="{FF2B5EF4-FFF2-40B4-BE49-F238E27FC236}">
                <a16:creationId xmlns:a16="http://schemas.microsoft.com/office/drawing/2014/main" id="{E3130CB3-CCD1-440F-A326-57F4EA19AD4C}"/>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3   Model the changing view.</a:t>
            </a:r>
          </a:p>
        </p:txBody>
      </p:sp>
    </p:spTree>
    <p:extLst>
      <p:ext uri="{BB962C8B-B14F-4D97-AF65-F5344CB8AC3E}">
        <p14:creationId xmlns:p14="http://schemas.microsoft.com/office/powerpoint/2010/main" val="1584077470"/>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9" name="top-rule">
            <a:extLst xmlns:a="http://schemas.openxmlformats.org/drawingml/2006/main">
              <a:ext uri="{FF2B5EF4-FFF2-40B4-BE49-F238E27FC236}">
                <a16:creationId xmlns:a16="http://schemas.microsoft.com/office/drawing/2014/main" id="{6E5DDB2A-3325-47B7-8E59-EFF2E93CB50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DE6ABE53-6C01-40A9-9B9D-45B7B88ECEC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BB758661-66CE-4B9F-8EC7-EDAECBA870B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Moonlight begins at the Sun</a:t>
            </a:r>
          </a:p>
        </p:txBody>
      </p:sp>
      <p:sp>
        <p:nvSpPr>
          <p:cNvPr id="4" name="footer-line">
            <a:extLst xmlns:a="http://schemas.openxmlformats.org/drawingml/2006/main">
              <a:ext uri="{FF2B5EF4-FFF2-40B4-BE49-F238E27FC236}">
                <a16:creationId xmlns:a16="http://schemas.microsoft.com/office/drawing/2014/main" id="{23222720-C610-4464-AD9C-300E4EB55AB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B6235661-13EC-4983-B7F1-44145C9532E9}"/>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8B2950EF-603F-40D2-B593-564B5538C01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04</a:t>
            </a:r>
          </a:p>
        </p:txBody>
      </p:sp>
      <p:sp>
        <p:nvSpPr>
          <p:cNvPr id="7" name="diagram-shape-0">
            <a:extLst xmlns:a="http://schemas.openxmlformats.org/drawingml/2006/main">
              <a:ext uri="{FF2B5EF4-FFF2-40B4-BE49-F238E27FC236}">
                <a16:creationId xmlns:a16="http://schemas.microsoft.com/office/drawing/2014/main" id="{B3A881D7-0847-4E5F-88F5-9DEFEC6DEDE5}"/>
              </a:ext>
            </a:extLst>
          </p:cNvPr>
          <p:cNvSpPr>
            <a:spLocks xmlns:a="http://schemas.openxmlformats.org/drawingml/2006/main" noGrp="1"/>
          </p:cNvSpPr>
          <p:nvPr/>
        </p:nvSpPr>
        <p:spPr>
          <a:xfrm xmlns:a="http://schemas.openxmlformats.org/drawingml/2006/main">
            <a:off x="1885950" y="3257550"/>
            <a:ext cx="1809750" cy="266700"/>
          </a:xfrm>
          <a:prstGeom xmlns:a="http://schemas.openxmlformats.org/drawingml/2006/main" prst="rightArrow">
            <a:avLst/>
          </a:prstGeom>
          <a:solidFill xmlns:a="http://schemas.openxmlformats.org/drawingml/2006/main">
            <a:srgbClr val="D8A63B"/>
          </a:solidFill>
          <a:ln xmlns:a="http://schemas.openxmlformats.org/drawingml/2006/main" w="0">
            <a:noFill/>
            <a:prstDash val="solid"/>
          </a:ln>
        </p:spPr>
      </p:sp>
      <p:sp>
        <p:nvSpPr>
          <p:cNvPr id="8" name="diagram-shape-1">
            <a:extLst xmlns:a="http://schemas.openxmlformats.org/drawingml/2006/main">
              <a:ext uri="{FF2B5EF4-FFF2-40B4-BE49-F238E27FC236}">
                <a16:creationId xmlns:a16="http://schemas.microsoft.com/office/drawing/2014/main" id="{7658ACA8-F9DB-453C-85FF-9B8C342FF351}"/>
              </a:ext>
            </a:extLst>
          </p:cNvPr>
          <p:cNvSpPr>
            <a:spLocks xmlns:a="http://schemas.openxmlformats.org/drawingml/2006/main" noGrp="1"/>
          </p:cNvSpPr>
          <p:nvPr/>
        </p:nvSpPr>
        <p:spPr>
          <a:xfrm xmlns:a="http://schemas.openxmlformats.org/drawingml/2006/main">
            <a:off x="4095750" y="3962400"/>
            <a:ext cx="276225" cy="781050"/>
          </a:xfrm>
          <a:prstGeom xmlns:a="http://schemas.openxmlformats.org/drawingml/2006/main" prst="downArrow">
            <a:avLst/>
          </a:prstGeom>
          <a:solidFill xmlns:a="http://schemas.openxmlformats.org/drawingml/2006/main">
            <a:srgbClr val="28685E"/>
          </a:solidFill>
          <a:ln xmlns:a="http://schemas.openxmlformats.org/drawingml/2006/main" w="0">
            <a:noFill/>
            <a:prstDash val="solid"/>
          </a:ln>
        </p:spPr>
      </p:sp>
      <p:sp>
        <p:nvSpPr>
          <p:cNvPr id="9" name="diagram-shape-2">
            <a:extLst xmlns:a="http://schemas.openxmlformats.org/drawingml/2006/main">
              <a:ext uri="{FF2B5EF4-FFF2-40B4-BE49-F238E27FC236}">
                <a16:creationId xmlns:a16="http://schemas.microsoft.com/office/drawing/2014/main" id="{8AD636FC-8E45-4162-8589-9BCAA44C5987}"/>
              </a:ext>
            </a:extLst>
          </p:cNvPr>
          <p:cNvSpPr>
            <a:spLocks xmlns:a="http://schemas.openxmlformats.org/drawingml/2006/main" noGrp="1"/>
          </p:cNvSpPr>
          <p:nvPr/>
        </p:nvSpPr>
        <p:spPr>
          <a:xfrm xmlns:a="http://schemas.openxmlformats.org/drawingml/2006/main">
            <a:off x="942975" y="3000375"/>
            <a:ext cx="762000" cy="762000"/>
          </a:xfrm>
          <a:prstGeom xmlns:a="http://schemas.openxmlformats.org/drawingml/2006/main" prst="ellipse">
            <a:avLst/>
          </a:prstGeom>
          <a:solidFill xmlns:a="http://schemas.openxmlformats.org/drawingml/2006/main">
            <a:srgbClr val="D8A63B"/>
          </a:solidFill>
          <a:ln xmlns:a="http://schemas.openxmlformats.org/drawingml/2006/main" w="19050">
            <a:solidFill>
              <a:srgbClr val="152B3A"/>
            </a:solidFill>
            <a:prstDash val="solid"/>
          </a:ln>
        </p:spPr>
      </p:sp>
      <p:sp>
        <p:nvSpPr>
          <p:cNvPr id="10" name="diagram-shape-3">
            <a:extLst xmlns:a="http://schemas.openxmlformats.org/drawingml/2006/main">
              <a:ext uri="{FF2B5EF4-FFF2-40B4-BE49-F238E27FC236}">
                <a16:creationId xmlns:a16="http://schemas.microsoft.com/office/drawing/2014/main" id="{9E88000F-FD9B-42A1-AB84-2E913EE6B823}"/>
              </a:ext>
            </a:extLst>
          </p:cNvPr>
          <p:cNvSpPr>
            <a:spLocks xmlns:a="http://schemas.openxmlformats.org/drawingml/2006/main" noGrp="1"/>
          </p:cNvSpPr>
          <p:nvPr/>
        </p:nvSpPr>
        <p:spPr>
          <a:xfrm xmlns:a="http://schemas.openxmlformats.org/drawingml/2006/main">
            <a:off x="3857625" y="3000375"/>
            <a:ext cx="762000" cy="762000"/>
          </a:xfrm>
          <a:prstGeom xmlns:a="http://schemas.openxmlformats.org/drawingml/2006/main" prst="ellipse">
            <a:avLst/>
          </a:prstGeom>
          <a:solidFill xmlns:a="http://schemas.openxmlformats.org/drawingml/2006/main">
            <a:srgbClr val="DCE7DD"/>
          </a:solidFill>
          <a:ln xmlns:a="http://schemas.openxmlformats.org/drawingml/2006/main" w="19050">
            <a:solidFill>
              <a:srgbClr val="152B3A"/>
            </a:solidFill>
            <a:prstDash val="solid"/>
          </a:ln>
        </p:spPr>
      </p:sp>
      <p:sp>
        <p:nvSpPr>
          <p:cNvPr id="11" name="diagram-shape-4">
            <a:extLst xmlns:a="http://schemas.openxmlformats.org/drawingml/2006/main">
              <a:ext uri="{FF2B5EF4-FFF2-40B4-BE49-F238E27FC236}">
                <a16:creationId xmlns:a16="http://schemas.microsoft.com/office/drawing/2014/main" id="{B79B550E-9733-46AA-9D19-6AA22A3D565A}"/>
              </a:ext>
            </a:extLst>
          </p:cNvPr>
          <p:cNvSpPr>
            <a:spLocks xmlns:a="http://schemas.openxmlformats.org/drawingml/2006/main" noGrp="1"/>
          </p:cNvSpPr>
          <p:nvPr/>
        </p:nvSpPr>
        <p:spPr>
          <a:xfrm xmlns:a="http://schemas.openxmlformats.org/drawingml/2006/main">
            <a:off x="3495675" y="4972050"/>
            <a:ext cx="1590675" cy="428625"/>
          </a:xfrm>
          <a:prstGeom xmlns:a="http://schemas.openxmlformats.org/drawingml/2006/main" prst="rect">
            <a:avLst/>
          </a:prstGeom>
          <a:solidFill xmlns:a="http://schemas.openxmlformats.org/drawingml/2006/main">
            <a:srgbClr val="DCE7DD"/>
          </a:solidFill>
          <a:ln xmlns:a="http://schemas.openxmlformats.org/drawingml/2006/main" w="19050">
            <a:solidFill>
              <a:srgbClr val="152B3A"/>
            </a:solidFill>
            <a:prstDash val="solid"/>
          </a:ln>
        </p:spPr>
      </p:sp>
      <p:sp>
        <p:nvSpPr>
          <p:cNvPr id="12" name="diagram-label-5">
            <a:extLst xmlns:a="http://schemas.openxmlformats.org/drawingml/2006/main">
              <a:ext uri="{FF2B5EF4-FFF2-40B4-BE49-F238E27FC236}">
                <a16:creationId xmlns:a16="http://schemas.microsoft.com/office/drawing/2014/main" id="{70060C74-2FBB-43DF-BA25-ADA28A9958FB}"/>
              </a:ext>
            </a:extLst>
          </p:cNvPr>
          <p:cNvSpPr>
            <a:spLocks xmlns:a="http://schemas.openxmlformats.org/drawingml/2006/main" noGrp="1"/>
          </p:cNvSpPr>
          <p:nvPr/>
        </p:nvSpPr>
        <p:spPr>
          <a:xfrm xmlns:a="http://schemas.openxmlformats.org/drawingml/2006/main">
            <a:off x="942975" y="3867150"/>
            <a:ext cx="95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950" b="1">
                <a:solidFill>
                  <a:srgbClr val="152B3A"/>
                </a:solidFill>
              </a:defRPr>
            </a:pPr>
            <a:r>
              <a:rPr sz="1950" b="1">
                <a:solidFill>
                  <a:srgbClr val="152B3A"/>
                </a:solidFill>
              </a:rPr>
              <a:t>Sun</a:t>
            </a:r>
          </a:p>
        </p:txBody>
      </p:sp>
      <p:sp>
        <p:nvSpPr>
          <p:cNvPr id="13" name="diagram-label-6">
            <a:extLst xmlns:a="http://schemas.openxmlformats.org/drawingml/2006/main">
              <a:ext uri="{FF2B5EF4-FFF2-40B4-BE49-F238E27FC236}">
                <a16:creationId xmlns:a16="http://schemas.microsoft.com/office/drawing/2014/main" id="{AC6ADE2A-245E-4B64-BF27-E83EED43DF4B}"/>
              </a:ext>
            </a:extLst>
          </p:cNvPr>
          <p:cNvSpPr>
            <a:spLocks xmlns:a="http://schemas.openxmlformats.org/drawingml/2006/main" noGrp="1"/>
          </p:cNvSpPr>
          <p:nvPr/>
        </p:nvSpPr>
        <p:spPr>
          <a:xfrm xmlns:a="http://schemas.openxmlformats.org/drawingml/2006/main">
            <a:off x="3781425" y="2505075"/>
            <a:ext cx="1190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950" b="1">
                <a:solidFill>
                  <a:srgbClr val="152B3A"/>
                </a:solidFill>
              </a:defRPr>
            </a:pPr>
            <a:r>
              <a:rPr sz="1950" b="1">
                <a:solidFill>
                  <a:srgbClr val="152B3A"/>
                </a:solidFill>
              </a:rPr>
              <a:t>Moon</a:t>
            </a:r>
          </a:p>
        </p:txBody>
      </p:sp>
      <p:sp>
        <p:nvSpPr>
          <p:cNvPr id="14" name="diagram-label-7">
            <a:extLst xmlns:a="http://schemas.openxmlformats.org/drawingml/2006/main">
              <a:ext uri="{FF2B5EF4-FFF2-40B4-BE49-F238E27FC236}">
                <a16:creationId xmlns:a16="http://schemas.microsoft.com/office/drawing/2014/main" id="{34949261-E9C8-4BA1-BEC7-F64838B8CDED}"/>
              </a:ext>
            </a:extLst>
          </p:cNvPr>
          <p:cNvSpPr>
            <a:spLocks xmlns:a="http://schemas.openxmlformats.org/drawingml/2006/main" noGrp="1"/>
          </p:cNvSpPr>
          <p:nvPr/>
        </p:nvSpPr>
        <p:spPr>
          <a:xfrm xmlns:a="http://schemas.openxmlformats.org/drawingml/2006/main">
            <a:off x="2114550" y="2809875"/>
            <a:ext cx="1600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950" b="1">
                <a:solidFill>
                  <a:srgbClr val="152B3A"/>
                </a:solidFill>
              </a:defRPr>
            </a:pPr>
            <a:r>
              <a:rPr sz="1950" b="1">
                <a:solidFill>
                  <a:srgbClr val="152B3A"/>
                </a:solidFill>
              </a:rPr>
              <a:t>sunlight</a:t>
            </a:r>
          </a:p>
        </p:txBody>
      </p:sp>
      <p:sp>
        <p:nvSpPr>
          <p:cNvPr id="15" name="diagram-label-8">
            <a:extLst xmlns:a="http://schemas.openxmlformats.org/drawingml/2006/main">
              <a:ext uri="{FF2B5EF4-FFF2-40B4-BE49-F238E27FC236}">
                <a16:creationId xmlns:a16="http://schemas.microsoft.com/office/drawing/2014/main" id="{A19A00C2-1B1F-4B8F-9F4A-772C48B487C6}"/>
              </a:ext>
            </a:extLst>
          </p:cNvPr>
          <p:cNvSpPr>
            <a:spLocks xmlns:a="http://schemas.openxmlformats.org/drawingml/2006/main" noGrp="1"/>
          </p:cNvSpPr>
          <p:nvPr/>
        </p:nvSpPr>
        <p:spPr>
          <a:xfrm xmlns:a="http://schemas.openxmlformats.org/drawingml/2006/main">
            <a:off x="4552950" y="4095750"/>
            <a:ext cx="1428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00" b="1">
                <a:solidFill>
                  <a:srgbClr val="28685E"/>
                </a:solidFill>
              </a:defRPr>
            </a:pPr>
            <a:r>
              <a:rPr sz="1800" b="1">
                <a:solidFill>
                  <a:srgbClr val="28685E"/>
                </a:solidFill>
              </a:rPr>
              <a:t>reflected</a:t>
            </a:r>
          </a:p>
          <a:p xmlns:a="http://schemas.openxmlformats.org/drawingml/2006/main">
            <a:pPr>
              <a:defRPr sz="1800" b="1">
                <a:solidFill>
                  <a:srgbClr val="28685E"/>
                </a:solidFill>
              </a:defRPr>
            </a:pPr>
            <a:r>
              <a:rPr sz="1800" b="1">
                <a:solidFill>
                  <a:srgbClr val="28685E"/>
                </a:solidFill>
              </a:rPr>
              <a:t>light</a:t>
            </a:r>
          </a:p>
        </p:txBody>
      </p:sp>
      <p:sp>
        <p:nvSpPr>
          <p:cNvPr id="16" name="diagram-label-9">
            <a:extLst xmlns:a="http://schemas.openxmlformats.org/drawingml/2006/main">
              <a:ext uri="{FF2B5EF4-FFF2-40B4-BE49-F238E27FC236}">
                <a16:creationId xmlns:a16="http://schemas.microsoft.com/office/drawing/2014/main" id="{D704D0CE-7F4F-4B6D-9CAF-F86886713507}"/>
              </a:ext>
            </a:extLst>
          </p:cNvPr>
          <p:cNvSpPr>
            <a:spLocks xmlns:a="http://schemas.openxmlformats.org/drawingml/2006/main" noGrp="1"/>
          </p:cNvSpPr>
          <p:nvPr/>
        </p:nvSpPr>
        <p:spPr>
          <a:xfrm xmlns:a="http://schemas.openxmlformats.org/drawingml/2006/main">
            <a:off x="3638550" y="5019675"/>
            <a:ext cx="13239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00" b="1">
                <a:solidFill>
                  <a:srgbClr val="152B3A"/>
                </a:solidFill>
              </a:defRPr>
            </a:pPr>
            <a:r>
              <a:rPr sz="1800" b="1">
                <a:solidFill>
                  <a:srgbClr val="152B3A"/>
                </a:solidFill>
              </a:rPr>
              <a:t>observer</a:t>
            </a:r>
          </a:p>
        </p:txBody>
      </p:sp>
      <p:sp>
        <p:nvSpPr>
          <p:cNvPr id="17" name="diagram-body">
            <a:extLst xmlns:a="http://schemas.openxmlformats.org/drawingml/2006/main">
              <a:ext uri="{FF2B5EF4-FFF2-40B4-BE49-F238E27FC236}">
                <a16:creationId xmlns:a16="http://schemas.microsoft.com/office/drawing/2014/main" id="{B717A3B6-B553-433F-8EA4-DE70189FD12E}"/>
              </a:ext>
            </a:extLst>
          </p:cNvPr>
          <p:cNvSpPr>
            <a:spLocks xmlns:a="http://schemas.openxmlformats.org/drawingml/2006/main" noGrp="1"/>
          </p:cNvSpPr>
          <p:nvPr/>
        </p:nvSpPr>
        <p:spPr>
          <a:xfrm xmlns:a="http://schemas.openxmlformats.org/drawingml/2006/main">
            <a:off x="6667500" y="2714625"/>
            <a:ext cx="485775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1">
                <a:solidFill>
                  <a:srgbClr val="152B3A"/>
                </a:solidFill>
              </a:defRPr>
            </a:pPr>
            <a:r>
              <a:rPr sz="2550" b="1">
                <a:solidFill>
                  <a:srgbClr val="152B3A"/>
                </a:solidFill>
              </a:rPr>
              <a:t>Sunlight reaches the Moon. Some light is reflected to us.</a:t>
            </a:r>
          </a:p>
        </p:txBody>
      </p:sp>
      <p:sp>
        <p:nvSpPr>
          <p:cNvPr id="18" name="diagram-callout">
            <a:extLst xmlns:a="http://schemas.openxmlformats.org/drawingml/2006/main">
              <a:ext uri="{FF2B5EF4-FFF2-40B4-BE49-F238E27FC236}">
                <a16:creationId xmlns:a16="http://schemas.microsoft.com/office/drawing/2014/main" id="{1142DAC7-DB6E-4E65-9653-CF1F7D2C3F28}"/>
              </a:ext>
            </a:extLst>
          </p:cNvPr>
          <p:cNvSpPr>
            <a:spLocks xmlns:a="http://schemas.openxmlformats.org/drawingml/2006/main" noGrp="1"/>
          </p:cNvSpPr>
          <p:nvPr/>
        </p:nvSpPr>
        <p:spPr>
          <a:xfrm xmlns:a="http://schemas.openxmlformats.org/drawingml/2006/main">
            <a:off x="6667500" y="4714875"/>
            <a:ext cx="4857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28685E"/>
                </a:solidFill>
              </a:defRPr>
            </a:pPr>
            <a:r>
              <a:rPr sz="2175" b="0">
                <a:solidFill>
                  <a:srgbClr val="28685E"/>
                </a:solidFill>
              </a:rPr>
              <a:t>The Moon does not make its own visible light.</a:t>
            </a:r>
          </a:p>
        </p:txBody>
      </p:sp>
    </p:spTree>
    <p:extLst>
      <p:ext uri="{BB962C8B-B14F-4D97-AF65-F5344CB8AC3E}">
        <p14:creationId xmlns:p14="http://schemas.microsoft.com/office/powerpoint/2010/main" val="1286550802"/>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31B19DB3-38DC-49B6-8F64-45CC3BF8DE8B}"/>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523F6AB-D660-4D34-A47A-9B16284DED90}"/>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BC64D1C-2CCC-4CEB-A9FA-0F92B616C3E0}"/>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Keep the light direction fixed</a:t>
            </a:r>
          </a:p>
        </p:txBody>
      </p:sp>
      <p:sp>
        <p:nvSpPr>
          <p:cNvPr id="4" name="footer-line">
            <a:extLst xmlns:a="http://schemas.openxmlformats.org/drawingml/2006/main">
              <a:ext uri="{FF2B5EF4-FFF2-40B4-BE49-F238E27FC236}">
                <a16:creationId xmlns:a16="http://schemas.microsoft.com/office/drawing/2014/main" id="{A5E52D62-E8E2-463A-9355-4F5B88B694A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D0E9C300-C796-40C6-AFC5-0D68042F539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4407AD0B-CC42-4BC1-9965-0AD18DD4FE99}"/>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05</a:t>
            </a:r>
          </a:p>
        </p:txBody>
      </p:sp>
      <p:sp>
        <p:nvSpPr>
          <p:cNvPr id="7" name="line-0">
            <a:extLst xmlns:a="http://schemas.openxmlformats.org/drawingml/2006/main">
              <a:ext uri="{FF2B5EF4-FFF2-40B4-BE49-F238E27FC236}">
                <a16:creationId xmlns:a16="http://schemas.microsoft.com/office/drawing/2014/main" id="{227F9204-84E9-4AA3-A028-403DC037DE35}"/>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Torch = Sun. Ball = Moon. Observer = a view from Earth.</a:t>
            </a:r>
          </a:p>
        </p:txBody>
      </p:sp>
      <p:sp>
        <p:nvSpPr>
          <p:cNvPr id="8" name="line-1">
            <a:extLst xmlns:a="http://schemas.openxmlformats.org/drawingml/2006/main">
              <a:ext uri="{FF2B5EF4-FFF2-40B4-BE49-F238E27FC236}">
                <a16:creationId xmlns:a16="http://schemas.microsoft.com/office/drawing/2014/main" id="{CA62E235-936C-4F39-94FC-66197BDFBBA2}"/>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the light fixed while the ball changes position.</a:t>
            </a:r>
          </a:p>
        </p:txBody>
      </p:sp>
      <p:sp>
        <p:nvSpPr>
          <p:cNvPr id="9" name="line-2">
            <a:extLst xmlns:a="http://schemas.openxmlformats.org/drawingml/2006/main">
              <a:ext uri="{FF2B5EF4-FFF2-40B4-BE49-F238E27FC236}">
                <a16:creationId xmlns:a16="http://schemas.microsoft.com/office/drawing/2014/main" id="{5F368769-4B38-41A3-9EF3-1AFEBF33602B}"/>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Watch the visible lit part. The ball stays round.</a:t>
            </a:r>
          </a:p>
        </p:txBody>
      </p:sp>
    </p:spTree>
    <p:extLst>
      <p:ext uri="{BB962C8B-B14F-4D97-AF65-F5344CB8AC3E}">
        <p14:creationId xmlns:p14="http://schemas.microsoft.com/office/powerpoint/2010/main" val="1510713744"/>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A3787525-6F60-463D-A14A-93F66EBF4CDA}"/>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9E80E7F-D60C-411F-BC4A-D2196BA098CB}"/>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09A6F279-E61F-4902-8460-0157609A392F}"/>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New, half and full: three views</a:t>
            </a:r>
          </a:p>
        </p:txBody>
      </p:sp>
      <p:sp>
        <p:nvSpPr>
          <p:cNvPr id="4" name="footer-line">
            <a:extLst xmlns:a="http://schemas.openxmlformats.org/drawingml/2006/main">
              <a:ext uri="{FF2B5EF4-FFF2-40B4-BE49-F238E27FC236}">
                <a16:creationId xmlns:a16="http://schemas.microsoft.com/office/drawing/2014/main" id="{CF5AE4F3-BBC0-4063-B2AF-BC6858787778}"/>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5BC636B5-CE44-4272-908C-62A0C9DAB09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62938F09-2BD6-4309-9F33-5C9B3B94422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06</a:t>
            </a:r>
          </a:p>
        </p:txBody>
      </p:sp>
      <p:sp>
        <p:nvSpPr>
          <p:cNvPr id="7" name="left-heading">
            <a:extLst xmlns:a="http://schemas.openxmlformats.org/drawingml/2006/main">
              <a:ext uri="{FF2B5EF4-FFF2-40B4-BE49-F238E27FC236}">
                <a16:creationId xmlns:a16="http://schemas.microsoft.com/office/drawing/2014/main" id="{A4D95BD6-DDA1-4143-B0FD-8AE91F07ABBF}"/>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VIEW FROM EARTH</a:t>
            </a:r>
          </a:p>
        </p:txBody>
      </p:sp>
      <p:sp>
        <p:nvSpPr>
          <p:cNvPr id="8" name="right-heading">
            <a:extLst xmlns:a="http://schemas.openxmlformats.org/drawingml/2006/main">
              <a:ext uri="{FF2B5EF4-FFF2-40B4-BE49-F238E27FC236}">
                <a16:creationId xmlns:a16="http://schemas.microsoft.com/office/drawing/2014/main" id="{DE795E6E-B83E-4C8A-B90D-8310DE1963A8}"/>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WHAT WE SEE LIT</a:t>
            </a:r>
          </a:p>
        </p:txBody>
      </p:sp>
      <p:sp>
        <p:nvSpPr>
          <p:cNvPr id="9" name="left">
            <a:extLst xmlns:a="http://schemas.openxmlformats.org/drawingml/2006/main">
              <a:ext uri="{FF2B5EF4-FFF2-40B4-BE49-F238E27FC236}">
                <a16:creationId xmlns:a16="http://schemas.microsoft.com/office/drawing/2014/main" id="{B0854F0C-762F-4B26-9BF9-AA519FBC08E8}"/>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New Moon</a:t>
            </a:r>
          </a:p>
          <a:p xmlns:a="http://schemas.openxmlformats.org/drawingml/2006/main">
            <a:pPr>
              <a:defRPr sz="2400" b="0">
                <a:solidFill>
                  <a:srgbClr val="152B3A"/>
                </a:solidFill>
              </a:defRPr>
            </a:pPr>
            <a:r>
              <a:rPr sz="2400" b="0">
                <a:solidFill>
                  <a:srgbClr val="152B3A"/>
                </a:solidFill>
              </a:rPr>
              <a:t>Half Moon</a:t>
            </a:r>
          </a:p>
          <a:p xmlns:a="http://schemas.openxmlformats.org/drawingml/2006/main">
            <a:pPr>
              <a:defRPr sz="2400" b="0">
                <a:solidFill>
                  <a:srgbClr val="152B3A"/>
                </a:solidFill>
              </a:defRPr>
            </a:pPr>
            <a:r>
              <a:rPr sz="2400" b="0">
                <a:solidFill>
                  <a:srgbClr val="152B3A"/>
                </a:solidFill>
              </a:rPr>
              <a:t>Full Moon</a:t>
            </a:r>
          </a:p>
        </p:txBody>
      </p:sp>
      <p:sp>
        <p:nvSpPr>
          <p:cNvPr id="10" name="right">
            <a:extLst xmlns:a="http://schemas.openxmlformats.org/drawingml/2006/main">
              <a:ext uri="{FF2B5EF4-FFF2-40B4-BE49-F238E27FC236}">
                <a16:creationId xmlns:a16="http://schemas.microsoft.com/office/drawing/2014/main" id="{0B398D58-2488-46B4-9D30-280E9BC68BE1}"/>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Little or none of the lit half</a:t>
            </a:r>
          </a:p>
          <a:p xmlns:a="http://schemas.openxmlformats.org/drawingml/2006/main">
            <a:pPr>
              <a:defRPr sz="2400" b="0">
                <a:solidFill>
                  <a:srgbClr val="152B3A"/>
                </a:solidFill>
              </a:defRPr>
            </a:pPr>
            <a:r>
              <a:rPr sz="2400" b="0">
                <a:solidFill>
                  <a:srgbClr val="152B3A"/>
                </a:solidFill>
              </a:rPr>
              <a:t>About half the visible disc</a:t>
            </a:r>
          </a:p>
          <a:p xmlns:a="http://schemas.openxmlformats.org/drawingml/2006/main">
            <a:pPr>
              <a:defRPr sz="2400" b="0">
                <a:solidFill>
                  <a:srgbClr val="152B3A"/>
                </a:solidFill>
              </a:defRPr>
            </a:pPr>
            <a:r>
              <a:rPr sz="2400" b="0">
                <a:solidFill>
                  <a:srgbClr val="152B3A"/>
                </a:solidFill>
              </a:rPr>
              <a:t>The whole visible disc</a:t>
            </a:r>
          </a:p>
        </p:txBody>
      </p:sp>
    </p:spTree>
    <p:extLst>
      <p:ext uri="{BB962C8B-B14F-4D97-AF65-F5344CB8AC3E}">
        <p14:creationId xmlns:p14="http://schemas.microsoft.com/office/powerpoint/2010/main" val="1715390176"/>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70C8ECA2-0E54-43C6-8754-117399651234}"/>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C9D2F46-7A73-4CF3-BA2C-4D4A833CA181}"/>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803A0989-BEF1-4F9B-945B-3E44385820D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What explains each observation?</a:t>
            </a:r>
          </a:p>
        </p:txBody>
      </p:sp>
      <p:sp>
        <p:nvSpPr>
          <p:cNvPr id="4" name="footer-line">
            <a:extLst xmlns:a="http://schemas.openxmlformats.org/drawingml/2006/main">
              <a:ext uri="{FF2B5EF4-FFF2-40B4-BE49-F238E27FC236}">
                <a16:creationId xmlns:a16="http://schemas.microsoft.com/office/drawing/2014/main" id="{AA7C4502-116B-4D93-9A51-6A07BE642BB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0C400DD1-7126-4A86-9B81-9B0842F34388}"/>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517BB8DC-3D30-4D54-BC31-7704C3C1FD1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07</a:t>
            </a:r>
          </a:p>
        </p:txBody>
      </p:sp>
      <p:sp>
        <p:nvSpPr>
          <p:cNvPr id="7" name="line-0">
            <a:extLst xmlns:a="http://schemas.openxmlformats.org/drawingml/2006/main">
              <a:ext uri="{FF2B5EF4-FFF2-40B4-BE49-F238E27FC236}">
                <a16:creationId xmlns:a16="http://schemas.microsoft.com/office/drawing/2014/main" id="{853DA500-CB46-4568-AA76-687DA4CACA69}"/>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An ordinary crescent Moon.</a:t>
            </a:r>
          </a:p>
        </p:txBody>
      </p:sp>
      <p:sp>
        <p:nvSpPr>
          <p:cNvPr id="8" name="line-1">
            <a:extLst xmlns:a="http://schemas.openxmlformats.org/drawingml/2006/main">
              <a:ext uri="{FF2B5EF4-FFF2-40B4-BE49-F238E27FC236}">
                <a16:creationId xmlns:a16="http://schemas.microsoft.com/office/drawing/2014/main" id="{9DB103FB-8F35-4CE4-AAA2-4164F1ACF47A}"/>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An ordinary full Moon.</a:t>
            </a:r>
          </a:p>
        </p:txBody>
      </p:sp>
      <p:sp>
        <p:nvSpPr>
          <p:cNvPr id="9" name="line-2">
            <a:extLst xmlns:a="http://schemas.openxmlformats.org/drawingml/2006/main">
              <a:ext uri="{FF2B5EF4-FFF2-40B4-BE49-F238E27FC236}">
                <a16:creationId xmlns:a16="http://schemas.microsoft.com/office/drawing/2014/main" id="{B2836CA6-B67C-4EEF-9817-490CDDA99726}"/>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New Moon is hard to see.</a:t>
            </a:r>
          </a:p>
        </p:txBody>
      </p:sp>
      <p:sp>
        <p:nvSpPr>
          <p:cNvPr id="10" name="line-3">
            <a:extLst xmlns:a="http://schemas.openxmlformats.org/drawingml/2006/main">
              <a:ext uri="{FF2B5EF4-FFF2-40B4-BE49-F238E27FC236}">
                <a16:creationId xmlns:a16="http://schemas.microsoft.com/office/drawing/2014/main" id="{97887C15-014A-4902-A039-987427256A20}"/>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The Moon looks dark red during a lunar eclipse.</a:t>
            </a:r>
          </a:p>
        </p:txBody>
      </p:sp>
    </p:spTree>
    <p:extLst>
      <p:ext uri="{BB962C8B-B14F-4D97-AF65-F5344CB8AC3E}">
        <p14:creationId xmlns:p14="http://schemas.microsoft.com/office/powerpoint/2010/main" val="1033186050"/>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C796DB0D-AF9C-49D3-B8DF-528FC097317A}"/>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9FCE8261-3501-4FF9-B8FA-3BF9433A834C}"/>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09B8EADF-DA55-42C6-A5CB-9751CED03FA1}"/>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Phases and eclipses differ</a:t>
            </a:r>
          </a:p>
        </p:txBody>
      </p:sp>
      <p:sp>
        <p:nvSpPr>
          <p:cNvPr id="4" name="footer-line">
            <a:extLst xmlns:a="http://schemas.openxmlformats.org/drawingml/2006/main">
              <a:ext uri="{FF2B5EF4-FFF2-40B4-BE49-F238E27FC236}">
                <a16:creationId xmlns:a16="http://schemas.microsoft.com/office/drawing/2014/main" id="{42CFB58A-7CD4-49BF-A07B-287F4DF54C4B}"/>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CB30E170-EA3E-4B3B-A93C-C0059F2ACCA3}"/>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645154A8-2C4D-46EA-BA49-3BB26C498870}"/>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08</a:t>
            </a:r>
          </a:p>
        </p:txBody>
      </p:sp>
      <p:sp>
        <p:nvSpPr>
          <p:cNvPr id="7" name="left-heading">
            <a:extLst xmlns:a="http://schemas.openxmlformats.org/drawingml/2006/main">
              <a:ext uri="{FF2B5EF4-FFF2-40B4-BE49-F238E27FC236}">
                <a16:creationId xmlns:a16="http://schemas.microsoft.com/office/drawing/2014/main" id="{FA82D84D-8BC9-429D-A9EE-CCBAE662F818}"/>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ORDINARY PHASES</a:t>
            </a:r>
          </a:p>
        </p:txBody>
      </p:sp>
      <p:sp>
        <p:nvSpPr>
          <p:cNvPr id="8" name="right-heading">
            <a:extLst xmlns:a="http://schemas.openxmlformats.org/drawingml/2006/main">
              <a:ext uri="{FF2B5EF4-FFF2-40B4-BE49-F238E27FC236}">
                <a16:creationId xmlns:a16="http://schemas.microsoft.com/office/drawing/2014/main" id="{8705F082-2BA4-408B-A3D1-F8A306CDEE7B}"/>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LUNAR ECLIPSE</a:t>
            </a:r>
          </a:p>
        </p:txBody>
      </p:sp>
      <p:sp>
        <p:nvSpPr>
          <p:cNvPr id="9" name="left">
            <a:extLst xmlns:a="http://schemas.openxmlformats.org/drawingml/2006/main">
              <a:ext uri="{FF2B5EF4-FFF2-40B4-BE49-F238E27FC236}">
                <a16:creationId xmlns:a16="http://schemas.microsoft.com/office/drawing/2014/main" id="{368C18A8-2716-4087-9E42-8857B0BCC010}"/>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The viewing angle changes.</a:t>
            </a:r>
          </a:p>
          <a:p xmlns:a="http://schemas.openxmlformats.org/drawingml/2006/main">
            <a:pPr>
              <a:defRPr sz="2400" b="0">
                <a:solidFill>
                  <a:srgbClr val="152B3A"/>
                </a:solidFill>
              </a:defRPr>
            </a:pPr>
            <a:r>
              <a:rPr sz="2400" b="0">
                <a:solidFill>
                  <a:srgbClr val="152B3A"/>
                </a:solidFill>
              </a:rPr>
              <a:t>The visible lit portion changes.</a:t>
            </a:r>
          </a:p>
          <a:p xmlns:a="http://schemas.openxmlformats.org/drawingml/2006/main">
            <a:pPr>
              <a:defRPr sz="2400" b="0">
                <a:solidFill>
                  <a:srgbClr val="152B3A"/>
                </a:solidFill>
              </a:defRPr>
            </a:pPr>
            <a:r>
              <a:rPr sz="2400" b="0">
                <a:solidFill>
                  <a:srgbClr val="152B3A"/>
                </a:solidFill>
              </a:rPr>
              <a:t>The Moon remains round.</a:t>
            </a:r>
          </a:p>
        </p:txBody>
      </p:sp>
      <p:sp>
        <p:nvSpPr>
          <p:cNvPr id="10" name="right">
            <a:extLst xmlns:a="http://schemas.openxmlformats.org/drawingml/2006/main">
              <a:ext uri="{FF2B5EF4-FFF2-40B4-BE49-F238E27FC236}">
                <a16:creationId xmlns:a16="http://schemas.microsoft.com/office/drawing/2014/main" id="{745279B7-7D54-42CD-B8FC-DA86AD76EB9E}"/>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Earth blocks direct sunlight.</a:t>
            </a:r>
          </a:p>
          <a:p xmlns:a="http://schemas.openxmlformats.org/drawingml/2006/main">
            <a:pPr>
              <a:defRPr sz="2400" b="0">
                <a:solidFill>
                  <a:srgbClr val="152B3A"/>
                </a:solidFill>
              </a:defRPr>
            </a:pPr>
            <a:r>
              <a:rPr sz="2400" b="0">
                <a:solidFill>
                  <a:srgbClr val="152B3A"/>
                </a:solidFill>
              </a:rPr>
              <a:t>Earth's shadow reaches the Moon.</a:t>
            </a:r>
          </a:p>
          <a:p xmlns:a="http://schemas.openxmlformats.org/drawingml/2006/main">
            <a:pPr>
              <a:defRPr sz="2400" b="0">
                <a:solidFill>
                  <a:srgbClr val="152B3A"/>
                </a:solidFill>
              </a:defRPr>
            </a:pPr>
            <a:r>
              <a:rPr sz="2400" b="0">
                <a:solidFill>
                  <a:srgbClr val="152B3A"/>
                </a:solidFill>
              </a:rPr>
              <a:t>This is not the monthly phase cause.</a:t>
            </a:r>
          </a:p>
        </p:txBody>
      </p:sp>
    </p:spTree>
    <p:extLst>
      <p:ext uri="{BB962C8B-B14F-4D97-AF65-F5344CB8AC3E}">
        <p14:creationId xmlns:p14="http://schemas.microsoft.com/office/powerpoint/2010/main" val="1122336818"/>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60712822-BDEA-4FE9-9207-BF9DE5995B48}"/>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89A643B-7F7E-41E0-899E-7AD8FB2F0854}"/>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A61CF898-DFCF-4AF3-8BC1-0E094D34FDF7}"/>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Explain cause, then observation</a:t>
            </a:r>
          </a:p>
        </p:txBody>
      </p:sp>
      <p:sp>
        <p:nvSpPr>
          <p:cNvPr id="4" name="footer-line">
            <a:extLst xmlns:a="http://schemas.openxmlformats.org/drawingml/2006/main">
              <a:ext uri="{FF2B5EF4-FFF2-40B4-BE49-F238E27FC236}">
                <a16:creationId xmlns:a16="http://schemas.microsoft.com/office/drawing/2014/main" id="{34983D11-4D77-4496-A271-05B0190E753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47D21D3-DCA7-4F8E-91D4-9DD6659EFCF9}"/>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778D17BF-FE06-44C2-A6C4-B5657DD48FAC}"/>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09</a:t>
            </a:r>
          </a:p>
        </p:txBody>
      </p:sp>
      <p:sp>
        <p:nvSpPr>
          <p:cNvPr id="7" name="statement">
            <a:extLst xmlns:a="http://schemas.openxmlformats.org/drawingml/2006/main">
              <a:ext uri="{FF2B5EF4-FFF2-40B4-BE49-F238E27FC236}">
                <a16:creationId xmlns:a16="http://schemas.microsoft.com/office/drawing/2014/main" id="{D7AE45F8-7C5A-43F6-B3A7-FCD7DEC3CF0D}"/>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As the Moon orbits Earth, we see different amounts of its sunlit half.</a:t>
            </a:r>
          </a:p>
        </p:txBody>
      </p:sp>
      <p:sp>
        <p:nvSpPr>
          <p:cNvPr id="8" name="callout">
            <a:extLst xmlns:a="http://schemas.openxmlformats.org/drawingml/2006/main">
              <a:ext uri="{FF2B5EF4-FFF2-40B4-BE49-F238E27FC236}">
                <a16:creationId xmlns:a16="http://schemas.microsoft.com/office/drawing/2014/main" id="{8CE2B165-554C-428D-9B92-13D4E7353830}"/>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That is why its phase appears to change.</a:t>
            </a:r>
          </a:p>
        </p:txBody>
      </p:sp>
    </p:spTree>
    <p:extLst>
      <p:ext uri="{BB962C8B-B14F-4D97-AF65-F5344CB8AC3E}">
        <p14:creationId xmlns:p14="http://schemas.microsoft.com/office/powerpoint/2010/main" val="678770861"/>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ACFB99BD-6D63-4AFC-B0A1-A7E631505884}"/>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446190F-1D73-4434-8E14-65C448E8C1C8}"/>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3A623300-BD00-4509-A38C-C37483FA2B4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Sort the five claims</a:t>
            </a:r>
          </a:p>
        </p:txBody>
      </p:sp>
      <p:sp>
        <p:nvSpPr>
          <p:cNvPr id="4" name="footer-line">
            <a:extLst xmlns:a="http://schemas.openxmlformats.org/drawingml/2006/main">
              <a:ext uri="{FF2B5EF4-FFF2-40B4-BE49-F238E27FC236}">
                <a16:creationId xmlns:a16="http://schemas.microsoft.com/office/drawing/2014/main" id="{6B27C5C4-7747-4ACB-8365-0CB9FFDEE1E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77F30829-9776-4359-B5D2-6029E8E21D88}"/>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958F0AB7-0E2F-4DF5-9E0D-183C926FD36F}"/>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10</a:t>
            </a:r>
          </a:p>
        </p:txBody>
      </p:sp>
      <p:sp>
        <p:nvSpPr>
          <p:cNvPr id="7" name="line-0">
            <a:extLst xmlns:a="http://schemas.openxmlformats.org/drawingml/2006/main">
              <a:ext uri="{FF2B5EF4-FFF2-40B4-BE49-F238E27FC236}">
                <a16:creationId xmlns:a16="http://schemas.microsoft.com/office/drawing/2014/main" id="{4C6F8D78-1E7E-4850-BC9B-86A678F19558}"/>
              </a:ext>
            </a:extLst>
          </p:cNvPr>
          <p:cNvSpPr>
            <a:spLocks xmlns:a="http://schemas.openxmlformats.org/drawingml/2006/main" noGrp="1"/>
          </p:cNvSpPr>
          <p:nvPr/>
        </p:nvSpPr>
        <p:spPr>
          <a:xfrm xmlns:a="http://schemas.openxmlformats.org/drawingml/2006/main">
            <a:off x="609600" y="26193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The Moon reflects sunlight.</a:t>
            </a:r>
          </a:p>
        </p:txBody>
      </p:sp>
      <p:sp>
        <p:nvSpPr>
          <p:cNvPr id="8" name="line-1">
            <a:extLst xmlns:a="http://schemas.openxmlformats.org/drawingml/2006/main">
              <a:ext uri="{FF2B5EF4-FFF2-40B4-BE49-F238E27FC236}">
                <a16:creationId xmlns:a16="http://schemas.microsoft.com/office/drawing/2014/main" id="{0CD0EB88-7264-4B26-BA85-C576AFD19ABA}"/>
              </a:ext>
            </a:extLst>
          </p:cNvPr>
          <p:cNvSpPr>
            <a:spLocks xmlns:a="http://schemas.openxmlformats.org/drawingml/2006/main" noGrp="1"/>
          </p:cNvSpPr>
          <p:nvPr/>
        </p:nvSpPr>
        <p:spPr>
          <a:xfrm xmlns:a="http://schemas.openxmlformats.org/drawingml/2006/main">
            <a:off x="609600" y="32289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The Moon glows by itself.</a:t>
            </a:r>
          </a:p>
        </p:txBody>
      </p:sp>
      <p:sp>
        <p:nvSpPr>
          <p:cNvPr id="9" name="line-2">
            <a:extLst xmlns:a="http://schemas.openxmlformats.org/drawingml/2006/main">
              <a:ext uri="{FF2B5EF4-FFF2-40B4-BE49-F238E27FC236}">
                <a16:creationId xmlns:a16="http://schemas.microsoft.com/office/drawing/2014/main" id="{BD5E9FFA-F2B2-4D82-8358-5F9F6681B055}"/>
              </a:ext>
            </a:extLst>
          </p:cNvPr>
          <p:cNvSpPr>
            <a:spLocks xmlns:a="http://schemas.openxmlformats.org/drawingml/2006/main" noGrp="1"/>
          </p:cNvSpPr>
          <p:nvPr/>
        </p:nvSpPr>
        <p:spPr>
          <a:xfrm xmlns:a="http://schemas.openxmlformats.org/drawingml/2006/main">
            <a:off x="609600" y="38385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Ordinary phases are caused by Earth's shadow.</a:t>
            </a:r>
          </a:p>
        </p:txBody>
      </p:sp>
      <p:sp>
        <p:nvSpPr>
          <p:cNvPr id="10" name="line-3">
            <a:extLst xmlns:a="http://schemas.openxmlformats.org/drawingml/2006/main">
              <a:ext uri="{FF2B5EF4-FFF2-40B4-BE49-F238E27FC236}">
                <a16:creationId xmlns:a16="http://schemas.microsoft.com/office/drawing/2014/main" id="{DE71B342-B088-4116-890A-78904D3D2A8E}"/>
              </a:ext>
            </a:extLst>
          </p:cNvPr>
          <p:cNvSpPr>
            <a:spLocks xmlns:a="http://schemas.openxmlformats.org/drawingml/2006/main" noGrp="1"/>
          </p:cNvSpPr>
          <p:nvPr/>
        </p:nvSpPr>
        <p:spPr>
          <a:xfrm xmlns:a="http://schemas.openxmlformats.org/drawingml/2006/main">
            <a:off x="609600" y="44481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The Moon orbits Earth in about a month.</a:t>
            </a:r>
          </a:p>
        </p:txBody>
      </p:sp>
      <p:sp>
        <p:nvSpPr>
          <p:cNvPr id="11" name="line-4">
            <a:extLst xmlns:a="http://schemas.openxmlformats.org/drawingml/2006/main">
              <a:ext uri="{FF2B5EF4-FFF2-40B4-BE49-F238E27FC236}">
                <a16:creationId xmlns:a16="http://schemas.microsoft.com/office/drawing/2014/main" id="{6D708B12-5F86-4A48-BFCB-3E32B55A567B}"/>
              </a:ext>
            </a:extLst>
          </p:cNvPr>
          <p:cNvSpPr>
            <a:spLocks xmlns:a="http://schemas.openxmlformats.org/drawingml/2006/main" noGrp="1"/>
          </p:cNvSpPr>
          <p:nvPr/>
        </p:nvSpPr>
        <p:spPr>
          <a:xfrm xmlns:a="http://schemas.openxmlformats.org/drawingml/2006/main">
            <a:off x="609600" y="50577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The Moon is only visible at night.</a:t>
            </a:r>
          </a:p>
        </p:txBody>
      </p:sp>
    </p:spTree>
    <p:extLst>
      <p:ext uri="{BB962C8B-B14F-4D97-AF65-F5344CB8AC3E}">
        <p14:creationId xmlns:p14="http://schemas.microsoft.com/office/powerpoint/2010/main" val="1212019012"/>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B1FFD45D-B261-4AA9-A584-D2EE12E13EF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79A3DAC-BB81-470D-B838-CA48589A333D}"/>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3F990A7F-8A23-487B-B59A-64A8A3580B07}"/>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Check the original claims</a:t>
            </a:r>
          </a:p>
        </p:txBody>
      </p:sp>
      <p:sp>
        <p:nvSpPr>
          <p:cNvPr id="4" name="footer-line">
            <a:extLst xmlns:a="http://schemas.openxmlformats.org/drawingml/2006/main">
              <a:ext uri="{FF2B5EF4-FFF2-40B4-BE49-F238E27FC236}">
                <a16:creationId xmlns:a16="http://schemas.microsoft.com/office/drawing/2014/main" id="{6B227B53-538A-47C6-9813-0F777E1AF07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D9B703BC-9D12-45B2-B57B-1D23597F0AFD}"/>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620AA219-18B6-41C3-A303-DB5B7824249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11</a:t>
            </a:r>
          </a:p>
        </p:txBody>
      </p:sp>
      <p:sp>
        <p:nvSpPr>
          <p:cNvPr id="7" name="left-heading">
            <a:extLst xmlns:a="http://schemas.openxmlformats.org/drawingml/2006/main">
              <a:ext uri="{FF2B5EF4-FFF2-40B4-BE49-F238E27FC236}">
                <a16:creationId xmlns:a16="http://schemas.microsoft.com/office/drawing/2014/main" id="{57BE61A1-5512-4996-8B3E-F9BDB83BCBEE}"/>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TRUE</a:t>
            </a:r>
          </a:p>
        </p:txBody>
      </p:sp>
      <p:sp>
        <p:nvSpPr>
          <p:cNvPr id="8" name="right-heading">
            <a:extLst xmlns:a="http://schemas.openxmlformats.org/drawingml/2006/main">
              <a:ext uri="{FF2B5EF4-FFF2-40B4-BE49-F238E27FC236}">
                <a16:creationId xmlns:a16="http://schemas.microsoft.com/office/drawing/2014/main" id="{412DEB31-F36E-4A62-9668-6D579E5C32E5}"/>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FALSE</a:t>
            </a:r>
          </a:p>
        </p:txBody>
      </p:sp>
      <p:sp>
        <p:nvSpPr>
          <p:cNvPr id="9" name="left">
            <a:extLst xmlns:a="http://schemas.openxmlformats.org/drawingml/2006/main">
              <a:ext uri="{FF2B5EF4-FFF2-40B4-BE49-F238E27FC236}">
                <a16:creationId xmlns:a16="http://schemas.microsoft.com/office/drawing/2014/main" id="{26E0F653-2EDA-477E-805B-D53510065B81}"/>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The Moon reflects sunlight.</a:t>
            </a:r>
          </a:p>
          <a:p xmlns:a="http://schemas.openxmlformats.org/drawingml/2006/main">
            <a:pPr>
              <a:defRPr sz="2400" b="0">
                <a:solidFill>
                  <a:srgbClr val="152B3A"/>
                </a:solidFill>
              </a:defRPr>
            </a:pPr>
            <a:r>
              <a:rPr sz="2400" b="0">
                <a:solidFill>
                  <a:srgbClr val="152B3A"/>
                </a:solidFill>
              </a:rPr>
              <a:t>One orbit is roughly a month.</a:t>
            </a:r>
          </a:p>
        </p:txBody>
      </p:sp>
      <p:sp>
        <p:nvSpPr>
          <p:cNvPr id="10" name="right">
            <a:extLst xmlns:a="http://schemas.openxmlformats.org/drawingml/2006/main">
              <a:ext uri="{FF2B5EF4-FFF2-40B4-BE49-F238E27FC236}">
                <a16:creationId xmlns:a16="http://schemas.microsoft.com/office/drawing/2014/main" id="{FDBAE0D1-C33B-4B2A-A3BE-3A6888E21A20}"/>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It makes its own visible light.</a:t>
            </a:r>
          </a:p>
          <a:p xmlns:a="http://schemas.openxmlformats.org/drawingml/2006/main">
            <a:pPr>
              <a:defRPr sz="2400" b="0">
                <a:solidFill>
                  <a:srgbClr val="152B3A"/>
                </a:solidFill>
              </a:defRPr>
            </a:pPr>
            <a:r>
              <a:rPr sz="2400" b="0">
                <a:solidFill>
                  <a:srgbClr val="152B3A"/>
                </a:solidFill>
              </a:rPr>
              <a:t>Earth's shadow causes phases.</a:t>
            </a:r>
          </a:p>
          <a:p xmlns:a="http://schemas.openxmlformats.org/drawingml/2006/main">
            <a:pPr>
              <a:defRPr sz="2400" b="0">
                <a:solidFill>
                  <a:srgbClr val="152B3A"/>
                </a:solidFill>
              </a:defRPr>
            </a:pPr>
            <a:r>
              <a:rPr sz="2400" b="0">
                <a:solidFill>
                  <a:srgbClr val="152B3A"/>
                </a:solidFill>
              </a:rPr>
              <a:t>It is only visible at night.</a:t>
            </a:r>
          </a:p>
        </p:txBody>
      </p:sp>
    </p:spTree>
    <p:extLst>
      <p:ext uri="{BB962C8B-B14F-4D97-AF65-F5344CB8AC3E}">
        <p14:creationId xmlns:p14="http://schemas.microsoft.com/office/powerpoint/2010/main" val="1754480656"/>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B301A914-C934-44B1-B96C-E5CB59C7664C}"/>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046FED1F-57D1-4B93-AA8C-C78D7006F629}"/>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0E9EE8B4-6A84-4C27-A035-579B559549C2}"/>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A complete model answer</a:t>
            </a:r>
          </a:p>
        </p:txBody>
      </p:sp>
      <p:sp>
        <p:nvSpPr>
          <p:cNvPr id="4" name="footer-line">
            <a:extLst xmlns:a="http://schemas.openxmlformats.org/drawingml/2006/main">
              <a:ext uri="{FF2B5EF4-FFF2-40B4-BE49-F238E27FC236}">
                <a16:creationId xmlns:a16="http://schemas.microsoft.com/office/drawing/2014/main" id="{E12ACC7B-27EC-4373-B177-6CF30632AE7E}"/>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FA914AD3-3B56-4E94-8D26-A19E58F9996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7C16C582-6E4F-4F1C-9561-D56F5F4B0844}"/>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12</a:t>
            </a:r>
          </a:p>
        </p:txBody>
      </p:sp>
      <p:sp>
        <p:nvSpPr>
          <p:cNvPr id="7" name="statement">
            <a:extLst xmlns:a="http://schemas.openxmlformats.org/drawingml/2006/main">
              <a:ext uri="{FF2B5EF4-FFF2-40B4-BE49-F238E27FC236}">
                <a16:creationId xmlns:a16="http://schemas.microsoft.com/office/drawing/2014/main" id="{61B0303A-0469-4593-A31F-EF30A09A71C8}"/>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The Moon reflects sunlight. As it orbits Earth, our view of the lit half changes.</a:t>
            </a:r>
          </a:p>
        </p:txBody>
      </p:sp>
      <p:sp>
        <p:nvSpPr>
          <p:cNvPr id="8" name="callout">
            <a:extLst xmlns:a="http://schemas.openxmlformats.org/drawingml/2006/main">
              <a:ext uri="{FF2B5EF4-FFF2-40B4-BE49-F238E27FC236}">
                <a16:creationId xmlns:a16="http://schemas.microsoft.com/office/drawing/2014/main" id="{35CD3946-B42F-48F1-8BD5-FB62E2D7E3FA}"/>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Ordinary phases are not Earth's shadow.</a:t>
            </a:r>
          </a:p>
        </p:txBody>
      </p:sp>
    </p:spTree>
    <p:extLst>
      <p:ext uri="{BB962C8B-B14F-4D97-AF65-F5344CB8AC3E}">
        <p14:creationId xmlns:p14="http://schemas.microsoft.com/office/powerpoint/2010/main" val="901909034"/>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324BDE36-E843-4F6A-85E3-95D70A18C552}"/>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2BAE28C8-20CF-4AD3-B66A-F739CE769210}"/>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850E0168-EE55-438E-8675-7762F81DF4D7}"/>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Keep your explanation for Tuesday</a:t>
            </a:r>
          </a:p>
        </p:txBody>
      </p:sp>
      <p:sp>
        <p:nvSpPr>
          <p:cNvPr id="4" name="footer-line">
            <a:extLst xmlns:a="http://schemas.openxmlformats.org/drawingml/2006/main">
              <a:ext uri="{FF2B5EF4-FFF2-40B4-BE49-F238E27FC236}">
                <a16:creationId xmlns:a16="http://schemas.microsoft.com/office/drawing/2014/main" id="{ABB4DA4A-843B-4E85-9E00-90E8DC96264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8753E714-36C0-4DBF-B18A-106AFB05226A}"/>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7  ·  LESSON A</a:t>
            </a:r>
          </a:p>
        </p:txBody>
      </p:sp>
      <p:sp>
        <p:nvSpPr>
          <p:cNvPr id="6" name="page">
            <a:extLst xmlns:a="http://schemas.openxmlformats.org/drawingml/2006/main">
              <a:ext uri="{FF2B5EF4-FFF2-40B4-BE49-F238E27FC236}">
                <a16:creationId xmlns:a16="http://schemas.microsoft.com/office/drawing/2014/main" id="{482DEA0C-5C79-4E60-9074-20CFFB9C02E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13</a:t>
            </a:r>
          </a:p>
        </p:txBody>
      </p:sp>
      <p:sp>
        <p:nvSpPr>
          <p:cNvPr id="7" name="line-0">
            <a:extLst xmlns:a="http://schemas.openxmlformats.org/drawingml/2006/main">
              <a:ext uri="{FF2B5EF4-FFF2-40B4-BE49-F238E27FC236}">
                <a16:creationId xmlns:a16="http://schemas.microsoft.com/office/drawing/2014/main" id="{B59DF0DC-34BA-415C-9602-09F45E52B188}"/>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your claim-sort and corrected explanation.</a:t>
            </a:r>
          </a:p>
        </p:txBody>
      </p:sp>
      <p:sp>
        <p:nvSpPr>
          <p:cNvPr id="8" name="line-1">
            <a:extLst xmlns:a="http://schemas.openxmlformats.org/drawingml/2006/main">
              <a:ext uri="{FF2B5EF4-FFF2-40B4-BE49-F238E27FC236}">
                <a16:creationId xmlns:a16="http://schemas.microsoft.com/office/drawing/2014/main" id="{6D12C464-A53B-4501-B807-EC063876FFF3}"/>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Next lesson: test new, half and full views.</a:t>
            </a:r>
          </a:p>
        </p:txBody>
      </p:sp>
      <p:sp>
        <p:nvSpPr>
          <p:cNvPr id="9" name="line-2">
            <a:extLst xmlns:a="http://schemas.openxmlformats.org/drawingml/2006/main">
              <a:ext uri="{FF2B5EF4-FFF2-40B4-BE49-F238E27FC236}">
                <a16:creationId xmlns:a16="http://schemas.microsoft.com/office/drawing/2014/main" id="{09130512-BEBF-43BA-ACF4-03CCE7E8EFD3}"/>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one view to check again.</a:t>
            </a:r>
          </a:p>
        </p:txBody>
      </p:sp>
    </p:spTree>
    <p:extLst>
      <p:ext uri="{BB962C8B-B14F-4D97-AF65-F5344CB8AC3E}">
        <p14:creationId xmlns:p14="http://schemas.microsoft.com/office/powerpoint/2010/main" val="4507198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2026-09-06T12:09:52.7360000Z</dcterms:created>
  <dcterms:modified xsi:type="dcterms:W3CDTF">2026-09-06T12:09:52.7360000Z</dcterms:modified>
</coreProperties>
</file>