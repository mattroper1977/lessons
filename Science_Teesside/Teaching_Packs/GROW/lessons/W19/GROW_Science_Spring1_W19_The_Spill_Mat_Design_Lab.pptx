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18b6b24a134137" /><Relationship Type="http://schemas.openxmlformats.org/officeDocument/2006/relationships/extended-properties" Target="/docProps/app.xml" Id="R17de07ea55934c76" /><Relationship Type="http://schemas.openxmlformats.org/officeDocument/2006/relationships/officeDocument" Target="/ppt/presentation.xml" Id="R07a3e381a05f462f" /></Relationships>
</file>

<file path=ppt/presentation.xml><?xml version="1.0" encoding="utf-8"?>
<p:presentation xmlns:p="http://schemas.openxmlformats.org/presentationml/2006/main">
  <p:sldMasterIdLst>
    <p:sldMasterId xmlns:r="http://schemas.openxmlformats.org/officeDocument/2006/relationships" id="2147483648" r:id="R5bfc9b89b0ae40c8"/>
  </p:sldMasterIdLst>
  <p:notesMasterIdLst>
    <p:notesMasterId xmlns:r="http://schemas.openxmlformats.org/officeDocument/2006/relationships" r:id="R6490d0e7e66543b5"/>
  </p:notesMasterIdLst>
  <p:sldIdLst>
    <p:sldId xmlns:r="http://schemas.openxmlformats.org/officeDocument/2006/relationships" id="256" r:id="R1c22c9f383c54046"/>
    <p:sldId xmlns:r="http://schemas.openxmlformats.org/officeDocument/2006/relationships" id="257" r:id="R3e694e9f2e0d43f5"/>
    <p:sldId xmlns:r="http://schemas.openxmlformats.org/officeDocument/2006/relationships" id="258" r:id="Rc0a27849d47a440d"/>
    <p:sldId xmlns:r="http://schemas.openxmlformats.org/officeDocument/2006/relationships" id="259" r:id="R21d870bcf4be4f81"/>
    <p:sldId xmlns:r="http://schemas.openxmlformats.org/officeDocument/2006/relationships" id="260" r:id="R14a7964024fa4585"/>
    <p:sldId xmlns:r="http://schemas.openxmlformats.org/officeDocument/2006/relationships" id="261" r:id="Rf708fa20b36a4634"/>
    <p:sldId xmlns:r="http://schemas.openxmlformats.org/officeDocument/2006/relationships" id="262" r:id="Rf874f5e65f364c89"/>
    <p:sldId xmlns:r="http://schemas.openxmlformats.org/officeDocument/2006/relationships" id="263" r:id="Rc818a836ed6a4486"/>
    <p:sldId xmlns:r="http://schemas.openxmlformats.org/officeDocument/2006/relationships" id="264" r:id="Rba4c01d768ae4951"/>
    <p:sldId xmlns:r="http://schemas.openxmlformats.org/officeDocument/2006/relationships" id="265" r:id="Rf48ad25bbe8d48a0"/>
    <p:sldId xmlns:r="http://schemas.openxmlformats.org/officeDocument/2006/relationships" id="266" r:id="R2dc5b8acafa34c60"/>
    <p:sldId xmlns:r="http://schemas.openxmlformats.org/officeDocument/2006/relationships" id="267" r:id="R21d567a4658a4e9e"/>
    <p:sldId xmlns:r="http://schemas.openxmlformats.org/officeDocument/2006/relationships" id="268" r:id="R03326b50b8104e9d"/>
    <p:sldId xmlns:r="http://schemas.openxmlformats.org/officeDocument/2006/relationships" id="269" r:id="R44cc5ad9bd03409c"/>
    <p:sldId xmlns:r="http://schemas.openxmlformats.org/officeDocument/2006/relationships" id="270" r:id="R9d7c129857fc4b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d178fa1c704f13" /><Relationship Type="http://schemas.openxmlformats.org/officeDocument/2006/relationships/slideMaster" Target="/ppt/slideMasters/slideMaster1.xml" Id="R5bfc9b89b0ae40c8" /><Relationship Type="http://schemas.openxmlformats.org/officeDocument/2006/relationships/notesMaster" Target="/ppt/notesMasters/notesMaster1.xml" Id="R6490d0e7e66543b5" /><Relationship Type="http://schemas.openxmlformats.org/officeDocument/2006/relationships/presProps" Target="/ppt/presProps.xml" Id="Rc339213b8e314bec" /><Relationship Type="http://schemas.openxmlformats.org/officeDocument/2006/relationships/tableStyles" Target="/ppt/tableStyles.xml" Id="R8ad523ee5d174905" /><Relationship Type="http://schemas.openxmlformats.org/officeDocument/2006/relationships/slide" Target="/ppt/slides/slide1.xml" Id="R1c22c9f383c54046" /><Relationship Type="http://schemas.openxmlformats.org/officeDocument/2006/relationships/slide" Target="/ppt/slides/slide2.xml" Id="R3e694e9f2e0d43f5" /><Relationship Type="http://schemas.openxmlformats.org/officeDocument/2006/relationships/slide" Target="/ppt/slides/slide3.xml" Id="Rc0a27849d47a440d" /><Relationship Type="http://schemas.openxmlformats.org/officeDocument/2006/relationships/slide" Target="/ppt/slides/slide4.xml" Id="R21d870bcf4be4f81" /><Relationship Type="http://schemas.openxmlformats.org/officeDocument/2006/relationships/slide" Target="/ppt/slides/slide5.xml" Id="R14a7964024fa4585" /><Relationship Type="http://schemas.openxmlformats.org/officeDocument/2006/relationships/slide" Target="/ppt/slides/slide6.xml" Id="Rf708fa20b36a4634" /><Relationship Type="http://schemas.openxmlformats.org/officeDocument/2006/relationships/slide" Target="/ppt/slides/slide7.xml" Id="Rf874f5e65f364c89" /><Relationship Type="http://schemas.openxmlformats.org/officeDocument/2006/relationships/slide" Target="/ppt/slides/slide8.xml" Id="Rc818a836ed6a4486" /><Relationship Type="http://schemas.openxmlformats.org/officeDocument/2006/relationships/slide" Target="/ppt/slides/slide9.xml" Id="Rba4c01d768ae4951" /><Relationship Type="http://schemas.openxmlformats.org/officeDocument/2006/relationships/slide" Target="/ppt/slides/slide10.xml" Id="Rf48ad25bbe8d48a0" /><Relationship Type="http://schemas.openxmlformats.org/officeDocument/2006/relationships/slide" Target="/ppt/slides/slide11.xml" Id="R2dc5b8acafa34c60" /><Relationship Type="http://schemas.openxmlformats.org/officeDocument/2006/relationships/slide" Target="/ppt/slides/slide12.xml" Id="R21d567a4658a4e9e" /><Relationship Type="http://schemas.openxmlformats.org/officeDocument/2006/relationships/slide" Target="/ppt/slides/slide13.xml" Id="R03326b50b8104e9d" /><Relationship Type="http://schemas.openxmlformats.org/officeDocument/2006/relationships/slide" Target="/ppt/slides/slide14.xml" Id="R44cc5ad9bd03409c" /><Relationship Type="http://schemas.openxmlformats.org/officeDocument/2006/relationships/slide" Target="/ppt/slides/slide15.xml" Id="R9d7c129857fc4b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ff677a35984b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72078d1f334b31" /><Relationship Type="http://schemas.openxmlformats.org/officeDocument/2006/relationships/notesMaster" Target="/ppt/notesMasters/notesMaster1.xml" Id="Ra9b74a34f8f146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11048ad7ee4f1a" /><Relationship Type="http://schemas.openxmlformats.org/officeDocument/2006/relationships/notesMaster" Target="/ppt/notesMasters/notesMaster1.xml" Id="R3c2d1083a0a940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07e2ad1ae42e3" /><Relationship Type="http://schemas.openxmlformats.org/officeDocument/2006/relationships/notesMaster" Target="/ppt/notesMasters/notesMaster1.xml" Id="R0b8e0c1e6b0d42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d583a1c689486f" /><Relationship Type="http://schemas.openxmlformats.org/officeDocument/2006/relationships/notesMaster" Target="/ppt/notesMasters/notesMaster1.xml" Id="Re80ce07d49df4d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e04e5260da4f7e" /><Relationship Type="http://schemas.openxmlformats.org/officeDocument/2006/relationships/notesMaster" Target="/ppt/notesMasters/notesMaster1.xml" Id="R20da49656d864d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6a7eab62d84c4b" /><Relationship Type="http://schemas.openxmlformats.org/officeDocument/2006/relationships/notesMaster" Target="/ppt/notesMasters/notesMaster1.xml" Id="R6c17aba1f7c841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31e0551e4744fa" /><Relationship Type="http://schemas.openxmlformats.org/officeDocument/2006/relationships/notesMaster" Target="/ppt/notesMasters/notesMaster1.xml" Id="Ra386fb1bf7a34a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6af7af0d4b40ba" /><Relationship Type="http://schemas.openxmlformats.org/officeDocument/2006/relationships/notesMaster" Target="/ppt/notesMasters/notesMaster1.xml" Id="R6b0ac40b4bf041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1e2b7fc25f4376" /><Relationship Type="http://schemas.openxmlformats.org/officeDocument/2006/relationships/notesMaster" Target="/ppt/notesMasters/notesMaster1.xml" Id="Rcfd48c3dc66a45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e361f9a2574524" /><Relationship Type="http://schemas.openxmlformats.org/officeDocument/2006/relationships/notesMaster" Target="/ppt/notesMasters/notesMaster1.xml" Id="Rc44e11adcb7542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3f355068874900" /><Relationship Type="http://schemas.openxmlformats.org/officeDocument/2006/relationships/notesMaster" Target="/ppt/notesMasters/notesMaster1.xml" Id="Rc9b825af9a5648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5ac7cd7c474d64" /><Relationship Type="http://schemas.openxmlformats.org/officeDocument/2006/relationships/notesMaster" Target="/ppt/notesMasters/notesMaster1.xml" Id="R58262548bd224f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ec03d98f7e4230" /><Relationship Type="http://schemas.openxmlformats.org/officeDocument/2006/relationships/notesMaster" Target="/ppt/notesMasters/notesMaster1.xml" Id="Ra114e5354ecc48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d44db5373d4f1c" /><Relationship Type="http://schemas.openxmlformats.org/officeDocument/2006/relationships/notesMaster" Target="/ppt/notesMasters/notesMaster1.xml" Id="Rb1644217d1c844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70ffbda2714e78" /><Relationship Type="http://schemas.openxmlformats.org/officeDocument/2006/relationships/notesMaster" Target="/ppt/notesMasters/notesMaster1.xml" Id="R9c1ba9358f2543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Introduce a fictional club drinks-station mat insert tested on a tray away from any equipment. It is a material-selection model, not a certified safety product. Read the every-trial requirement deliberately; an average alone does not meet this brief.</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takes liquid into its structure; accept soaks up then refine. R2 soak time stays the same, product type changes. R3 not necessarily: subtract dry mass. Diagnose language versus numerical difficulty separately and provide a calculator if needed.</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8 minutes shared across three I do slides. Point to spaces between fibres. The diagram is a simplified structure model: water enters connected spaces and is retained through interactions at small scales. The blue marks are not oversized single molecules. We measure a practical water-retention outcome, which includes method-dependent remaining water.</a:t>
            </a:r>
          </a:p>
          <a:p xmlns:a="http://schemas.openxmlformats.org/drawingml/2006/main">
            <a:r>
              <a:t/>
            </a:r>
          </a:p>
          <a:p xmlns:a="http://schemas.openxmlformats.org/drawingml/2006/main">
            <a:r>
              <a:t>DIAGRAM DESCRIPTION</a:t>
            </a:r>
          </a:p>
          <a:p xmlns:a="http://schemas.openxmlformats.org/drawingml/2006/main">
            <a:r>
              <a:t>A simplified close-up compares a fibrous absorbent sample, with spaces that hold water, and an intact plastic sheet with a drop remaining on its surface. Dots are enlarged water regions, not single molecules.</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Think aloud: I cannot count the cloth itself as water. I measured its dry mass first, so I subtract that from the wet mass. The answer is a mass of retained water in grams. Use a calculator openly; arithmetic is a tool for answering the science question.</a:t>
            </a:r>
          </a:p>
          <a:p xmlns:a="http://schemas.openxmlformats.org/drawingml/2006/main">
            <a:r>
              <a:t/>
            </a:r>
          </a:p>
          <a:p xmlns:a="http://schemas.openxmlformats.org/drawingml/2006/main">
            <a:r>
              <a:t>DIAGRAM DESCRIPTION</a:t>
            </a:r>
          </a:p>
          <a:p xmlns:a="http://schemas.openxmlformats.org/drawingml/2006/main">
            <a:r>
              <a:t>Original worked example with constructed masses: dry sample 2.0 g and wet sample 9.0 g after a fixed dripping time, so retained water is 7.0 g. No real measurements are claimed.</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Explain that our question compares particular one-layer 10 cm squares of three products. Different thickness and construction are part of these products, so we cannot isolate the intrinsic material alone. Control the water conditions, immersion and handling as well. Before every measurement, dry/reset and tare the weighing tray. Weigh dry, immerse, drip vertically without squeezing, then weigh wet promptly.</a:t>
            </a:r>
          </a:p>
          <a:p xmlns:a="http://schemas.openxmlformats.org/drawingml/2006/main">
            <a:r>
              <a:t/>
            </a:r>
          </a:p>
          <a:p xmlns:a="http://schemas.openxmlformats.org/drawingml/2006/main">
            <a:r>
              <a:t>DIAGRAM DESCRIPTION</a:t>
            </a:r>
          </a:p>
          <a:p xmlns:a="http://schemas.openxmlformats.org/drawingml/2006/main">
            <a:r>
              <a:t>Three connected stages of a controlled sample test: dry mass and sample area, soak for 30 seconds, then drip vertically 10 seconds without squeezing and measure wet mass. These settings define this original comparison.</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8 minutes shared across three We do slides. Pairs act as design reviewers. Expected fixes: equal 10 cm square area, one layer, same 30 s full immersion, 10 s vertical drip, no squeezing, dry mass first and wet mass after. Fresh dry samples for each repeat; same scale and water conditions. All pupils identify at least two specific repairs.</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Paper does not meet threshold; cotton and felt do. Note that repeated values are not identical, which is normal variation. The values support this small test, not a promise of all future performance.</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Cotton is lowest cost among passing products. Felt retains more water in these trials but costs more. Untested properties include wet strength, reusability, drying time, slip and durability; we have not evaluated those. Distinguish design criterion from most absorbent.</a:t>
            </a:r>
          </a:p>
          <a:p xmlns:a="http://schemas.openxmlformats.org/drawingml/2006/main">
            <a:r>
              <a:t/>
            </a:r>
          </a:p>
          <a:p xmlns:a="http://schemas.openxmlformats.org/drawingml/2006/main">
            <a:r>
              <a:t>REVEAL / MODEL ANSWER</a:t>
            </a:r>
          </a:p>
          <a:p xmlns:a="http://schemas.openxmlformats.org/drawingml/2006/main">
            <a:r>
              <a:t>Cotton meets all three trials and costs less than felt.</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Collect choices independently. B is correct. For A or D revisit the method controls; for C explain that fresh dry samples keep the starting condition comparable. All routes then choose a plan, record results and decide.</a:t>
            </a:r>
          </a:p>
          <a:p xmlns:a="http://schemas.openxmlformats.org/drawingml/2006/main">
            <a:r>
              <a:t/>
            </a:r>
          </a:p>
          <a:p xmlns:a="http://schemas.openxmlformats.org/drawingml/2006/main">
            <a:r>
              <a:t>A. Use different sizes because products differ.</a:t>
            </a:r>
          </a:p>
          <a:p xmlns:a="http://schemas.openxmlformats.org/drawingml/2006/main">
            <a:r>
              <a:t>No. More area can change water retained; the product-size question would be different.</a:t>
            </a:r>
          </a:p>
          <a:p xmlns:a="http://schemas.openxmlformats.org/drawingml/2006/main">
            <a:r>
              <a:t/>
            </a:r>
          </a:p>
          <a:p xmlns:a="http://schemas.openxmlformats.org/drawingml/2006/main">
            <a:r>
              <a:t>B. Use equal-area dry samples and one fixed method.</a:t>
            </a:r>
          </a:p>
          <a:p xmlns:a="http://schemas.openxmlformats.org/drawingml/2006/main">
            <a:r>
              <a:t>Correct. Yes. Keep relevant conditions consistent while changing the product.</a:t>
            </a:r>
          </a:p>
          <a:p xmlns:a="http://schemas.openxmlformats.org/drawingml/2006/main">
            <a:r>
              <a:t/>
            </a:r>
          </a:p>
          <a:p xmlns:a="http://schemas.openxmlformats.org/drawingml/2006/main">
            <a:r>
              <a:t>C. Reuse each wet sample for every repeat.</a:t>
            </a:r>
          </a:p>
          <a:p xmlns:a="http://schemas.openxmlformats.org/drawingml/2006/main">
            <a:r>
              <a:t>No. This changes the starting wetness. Use fresh dry pieces for these repeats.</a:t>
            </a:r>
          </a:p>
          <a:p xmlns:a="http://schemas.openxmlformats.org/drawingml/2006/main">
            <a:r>
              <a:t/>
            </a:r>
          </a:p>
          <a:p xmlns:a="http://schemas.openxmlformats.org/drawingml/2006/main">
            <a:r>
              <a:t>D. Squeeze only the cotton before weighing.</a:t>
            </a:r>
          </a:p>
          <a:p xmlns:a="http://schemas.openxmlformats.org/drawingml/2006/main">
            <a:r>
              <a:t>No. Different handling changes how much water remains, so it confounds the comparison.</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shared across three You do slides. All pupils use same question and objective; support varies recording and numerical demands. Optional actual test uses pre-set apparatus: a pair may test one product with fresh dry repeats while other pairs test other products. Collate only if conditions matched. Default paper dataset provides all evidence within time.</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For a torn or dropped sample record the event rather than silently discarding. A retest can be justified but must be identified. Pupil activity pages use constructed data; never claim the class obtained those values. Provide a worked subtraction on a separate example if arithmetic blocks the science.</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Expected cotton decision with 6.8 g minimum and 4 credits, compared with felt at 6 credits. Supported pupils may use any correct qualifying trial plus awareness all passed. Stretch route should distinguish means from every-trial thresholds and rethink testing per gram versus per square.</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4 minutes shared over two Review slides. Both observations may be true; cotton answers this brief. Ask pupils to state a different brief for which felt might be favoured, such as maximum retained mass per same-area square with no cost limit. Avoid declaring a universal winner.</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Light Lundy loop: invite private written, spoken or pointed suggestions; record and explain the next actionable test. Example repeated-use durability measured after equal soak/dry cycles. Do not promise a particular timetable. Pupil voice improves the investigation design.</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E1 product type; retained-water mass after method. E2 any relevant controls such as area and soak time. E3 cotton: every result at least 6 g, cheapest passing product at 4 credits; numerical example minimum 6.8 g. Collect one independent plan/evidence sentence per pupil.</a:t>
            </a:r>
          </a:p>
          <a:p xmlns:a="http://schemas.openxmlformats.org/drawingml/2006/main">
            <a:r>
              <a:t/>
            </a:r>
          </a:p>
          <a:p xmlns:a="http://schemas.openxmlformats.org/drawingml/2006/main">
            <a:r>
              <a:t>LESSON REFERENCES</a:t>
            </a:r>
          </a:p>
          <a:p xmlns:a="http://schemas.openxmlformats.org/drawingml/2006/main">
            <a:r>
              <a:t>American Chemical Society: Designing an Absorbency Test</a:t>
            </a:r>
          </a:p>
          <a:p xmlns:a="http://schemas.openxmlformats.org/drawingml/2006/main">
            <a:r>
              <a:t>https://www.acs.org/education/resources/k-8/inquiryinaction/second-grade/chapter-1/designing-an-absorbency-test.html</a:t>
            </a:r>
          </a:p>
          <a:p xmlns:a="http://schemas.openxmlformats.org/drawingml/2006/main">
            <a:r>
              <a:t>Checked 9 September 2026. Supports comparing absorbency with consistent conditions and a simple structure explanation. Our original mass-retention method, secondary-age product brief, diagrams and data are newly authored.</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9 September 2026. Upper-KS2 materials content supports evidence-based reasons for uses of materials and comparative/fair tests, matching the stated GROW SoW spine. All lesson tasks are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48601922bc49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9a6e92eeb64526" /><Relationship Type="http://schemas.openxmlformats.org/officeDocument/2006/relationships/slideLayout" Target="/ppt/slideLayouts/slideLayout1.xml" Id="R3dd62f66e8ca4a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d62f66e8ca4a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25f510ac144d2f" /><Relationship Type="http://schemas.openxmlformats.org/officeDocument/2006/relationships/notesSlide" Target="/ppt/notesSlides/notesSlide1.xml" Id="R74733be52e3146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497f2587fe4209" /><Relationship Type="http://schemas.openxmlformats.org/officeDocument/2006/relationships/notesSlide" Target="/ppt/notesSlides/notesSlide2.xml" Id="R871882b0e19c40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3909f1476347b3" /><Relationship Type="http://schemas.openxmlformats.org/officeDocument/2006/relationships/notesSlide" Target="/ppt/notesSlides/notesSlide3.xml" Id="R1320dea05ec446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697e076a384b96" /><Relationship Type="http://schemas.openxmlformats.org/officeDocument/2006/relationships/notesSlide" Target="/ppt/notesSlides/notesSlide4.xml" Id="R8866ca12bd3b4e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d2e12cac324d87" /><Relationship Type="http://schemas.openxmlformats.org/officeDocument/2006/relationships/notesSlide" Target="/ppt/notesSlides/notesSlide5.xml" Id="Re17a7f37780c47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823840341845ab" /><Relationship Type="http://schemas.openxmlformats.org/officeDocument/2006/relationships/notesSlide" Target="/ppt/notesSlides/notesSlide6.xml" Id="R750f8233cd624a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2e15b3fb4744ef" /><Relationship Type="http://schemas.openxmlformats.org/officeDocument/2006/relationships/notesSlide" Target="/ppt/notesSlides/notesSlide7.xml" Id="R0ccfcae72f8c49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972923e759435b" /><Relationship Type="http://schemas.openxmlformats.org/officeDocument/2006/relationships/notesSlide" Target="/ppt/notesSlides/notesSlide8.xml" Id="Rc5529151417b45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6ab21e136645c6" /><Relationship Type="http://schemas.openxmlformats.org/officeDocument/2006/relationships/notesSlide" Target="/ppt/notesSlides/notesSlide9.xml" Id="Rda3da94d747c43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3d55d5d1d64790" /><Relationship Type="http://schemas.openxmlformats.org/officeDocument/2006/relationships/notesSlide" Target="/ppt/notesSlides/notesSlide10.xml" Id="Rc593d87fb6df40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d965808d3f46e9" /><Relationship Type="http://schemas.openxmlformats.org/officeDocument/2006/relationships/notesSlide" Target="/ppt/notesSlides/notesSlide11.xml" Id="R5d938a021f5645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3cd6b3ef8a482e" /><Relationship Type="http://schemas.openxmlformats.org/officeDocument/2006/relationships/notesSlide" Target="/ppt/notesSlides/notesSlide12.xml" Id="R090a5042051d49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49800881b44858" /><Relationship Type="http://schemas.openxmlformats.org/officeDocument/2006/relationships/notesSlide" Target="/ppt/notesSlides/notesSlide13.xml" Id="R581f8997e8ac46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e8ef549fde4b57" /><Relationship Type="http://schemas.openxmlformats.org/officeDocument/2006/relationships/notesSlide" Target="/ppt/notesSlides/notesSlide14.xml" Id="Rc3ef273d6f374b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39521799e524ca6" /><Relationship Type="http://schemas.openxmlformats.org/officeDocument/2006/relationships/notesSlide" Target="/ppt/notesSlides/notesSlide15.xml" Id="R99430dd0b6ee4d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56F889B9-F579-49C0-BCCB-EC762E99F38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8B2EF94-FE3B-4774-9209-75E6CFD7901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05ABF8B-0BE7-4371-94D7-351A58E6862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B6C3D331-585C-426F-A168-9171D891C63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Opening">
            <a:extLst xmlns:a="http://schemas.openxmlformats.org/drawingml/2006/main">
              <a:ext uri="{FF2B5EF4-FFF2-40B4-BE49-F238E27FC236}">
                <a16:creationId xmlns:a16="http://schemas.microsoft.com/office/drawing/2014/main" id="{3F17CD2F-F73F-4E05-8E33-6C7FBBEA7A7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5D0FA199-30B2-42C9-9B06-0D8E1671355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Design a removable spill-mat insert">
            <a:extLst xmlns:a="http://schemas.openxmlformats.org/drawingml/2006/main">
              <a:ext uri="{FF2B5EF4-FFF2-40B4-BE49-F238E27FC236}">
                <a16:creationId xmlns:a16="http://schemas.microsoft.com/office/drawing/2014/main" id="{496B92E0-2A13-4956-8405-330239CB517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Design a removable spill-mat insert</a:t>
            </a:r>
          </a:p>
        </p:txBody>
      </p:sp>
      <p:sp>
        <p:nvSpPr>
          <p:cNvPr id="8" name="surface">
            <a:extLst xmlns:a="http://schemas.openxmlformats.org/drawingml/2006/main">
              <a:ext uri="{FF2B5EF4-FFF2-40B4-BE49-F238E27FC236}">
                <a16:creationId xmlns:a16="http://schemas.microsoft.com/office/drawing/2014/main" id="{F012FC4A-285D-4F29-A8CC-2682CCD8378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3449866A-27C1-43A1-835C-00C8C99D1F6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1 / 15">
            <a:extLst xmlns:a="http://schemas.openxmlformats.org/drawingml/2006/main">
              <a:ext uri="{FF2B5EF4-FFF2-40B4-BE49-F238E27FC236}">
                <a16:creationId xmlns:a16="http://schemas.microsoft.com/office/drawing/2014/main" id="{1EAB8365-56D9-44BB-80D2-06D925EA8DC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9AB36209-972A-4A9C-B00A-FE8F858535DC}"/>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A7420037-3417-4D22-A4C8-DA33EE942CBF}"/>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725A3384-1904-43E0-A519-DCCCF6616E96}"/>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3F7D6E"/>
                </a:solidFill>
                <a:latin typeface="Nimbus Sans"/>
                <a:ea typeface="Nimbus Sans"/>
                <a:cs typeface="Nimbus Sans"/>
              </a:defRPr>
            </a:pPr>
            <a:r>
              <a:rPr sz="1650" b="1">
                <a:solidFill>
                  <a:srgbClr val="3F7D6E"/>
                </a:solidFill>
                <a:latin typeface="Nimbus Sans"/>
                <a:ea typeface="Nimbus Sans"/>
                <a:cs typeface="Nimbus Sans"/>
              </a:rPr>
              <a:t>Learning intention</a:t>
            </a:r>
          </a:p>
        </p:txBody>
      </p:sp>
      <p:sp>
        <p:nvSpPr>
          <p:cNvPr id="14" name="Plan a fair material comparison, record water-retention results ">
            <a:extLst xmlns:a="http://schemas.openxmlformats.org/drawingml/2006/main">
              <a:ext uri="{FF2B5EF4-FFF2-40B4-BE49-F238E27FC236}">
                <a16:creationId xmlns:a16="http://schemas.microsoft.com/office/drawing/2014/main" id="{F22A0F19-3F17-412C-A40B-2D7A20ABEA32}"/>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Plan a fair material comparison, record water-retention results and justify a</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product choice.</a:t>
            </a:r>
          </a:p>
        </p:txBody>
      </p:sp>
      <p:sp>
        <p:nvSpPr>
          <p:cNvPr id="15" name="Brief: retain at least 6 g of water in every trial.">
            <a:extLst xmlns:a="http://schemas.openxmlformats.org/drawingml/2006/main">
              <a:ext uri="{FF2B5EF4-FFF2-40B4-BE49-F238E27FC236}">
                <a16:creationId xmlns:a16="http://schemas.microsoft.com/office/drawing/2014/main" id="{4630CBE6-12DD-41CE-BD83-B7328114072E}"/>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Brief: retain at least 6 g of water in every trial.</a:t>
            </a:r>
          </a:p>
        </p:txBody>
      </p:sp>
      <p:sp>
        <p:nvSpPr>
          <p:cNvPr id="16" name="Choose the lowest-cost product that meets the brief.">
            <a:extLst xmlns:a="http://schemas.openxmlformats.org/drawingml/2006/main">
              <a:ext uri="{FF2B5EF4-FFF2-40B4-BE49-F238E27FC236}">
                <a16:creationId xmlns:a16="http://schemas.microsoft.com/office/drawing/2014/main" id="{C2A2D612-CB97-42FD-8D5F-906954580989}"/>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the lowest-cost product that meets the brief.</a:t>
            </a:r>
          </a:p>
        </p:txBody>
      </p:sp>
      <p:sp>
        <p:nvSpPr>
          <p:cNvPr id="17" name="A good decision needs a fair comparison.">
            <a:extLst xmlns:a="http://schemas.openxmlformats.org/drawingml/2006/main">
              <a:ext uri="{FF2B5EF4-FFF2-40B4-BE49-F238E27FC236}">
                <a16:creationId xmlns:a16="http://schemas.microsoft.com/office/drawing/2014/main" id="{A01F52D3-E39C-48E7-A36D-BE619748AEF7}"/>
              </a:ext>
            </a:extLst>
          </p:cNvPr>
          <p:cNvSpPr>
            <a:spLocks xmlns:a="http://schemas.openxmlformats.org/drawingml/2006/main" noGrp="1"/>
          </p:cNvSpPr>
          <p:nvPr/>
        </p:nvSpPr>
        <p:spPr>
          <a:xfrm xmlns:a="http://schemas.openxmlformats.org/drawingml/2006/main">
            <a:off x="762000" y="44691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good decision needs a fair comparison.</a:t>
            </a:r>
          </a:p>
        </p:txBody>
      </p:sp>
    </p:spTree>
    <p:extLst>
      <p:ext uri="{BB962C8B-B14F-4D97-AF65-F5344CB8AC3E}">
        <p14:creationId xmlns:p14="http://schemas.microsoft.com/office/powerpoint/2010/main" val="7586173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2FBEDB7-AB8C-46C9-BC52-866F72E2A10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071C142-E0BC-4620-8552-FF39131E91C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6D0C3F1-3EF1-481F-91DF-979200F4DA4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F3D44EF-C7AD-49B7-B87C-C8A1283318A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trieval">
            <a:extLst xmlns:a="http://schemas.openxmlformats.org/drawingml/2006/main">
              <a:ext uri="{FF2B5EF4-FFF2-40B4-BE49-F238E27FC236}">
                <a16:creationId xmlns:a16="http://schemas.microsoft.com/office/drawing/2014/main" id="{73900740-3CCC-4437-9879-589A36980DF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506A4A9B-E9B4-4A4F-AB6B-0FA6911CA0E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onnect properties to a purpose">
            <a:extLst xmlns:a="http://schemas.openxmlformats.org/drawingml/2006/main">
              <a:ext uri="{FF2B5EF4-FFF2-40B4-BE49-F238E27FC236}">
                <a16:creationId xmlns:a16="http://schemas.microsoft.com/office/drawing/2014/main" id="{6B50D04B-6619-4F48-87DA-9A06D0D5534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Connect properties to a purpose</a:t>
            </a:r>
          </a:p>
        </p:txBody>
      </p:sp>
      <p:sp>
        <p:nvSpPr>
          <p:cNvPr id="8" name="surface">
            <a:extLst xmlns:a="http://schemas.openxmlformats.org/drawingml/2006/main">
              <a:ext uri="{FF2B5EF4-FFF2-40B4-BE49-F238E27FC236}">
                <a16:creationId xmlns:a16="http://schemas.microsoft.com/office/drawing/2014/main" id="{678AB9F6-9282-4B93-84DF-0CD00158955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AF338703-CC98-4FC2-9AB7-888C78FCA5F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2 / 15">
            <a:extLst xmlns:a="http://schemas.openxmlformats.org/drawingml/2006/main">
              <a:ext uri="{FF2B5EF4-FFF2-40B4-BE49-F238E27FC236}">
                <a16:creationId xmlns:a16="http://schemas.microsoft.com/office/drawing/2014/main" id="{E23A212C-908F-49F7-9A2C-EBB446FC833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does absorbent mean?">
            <a:extLst xmlns:a="http://schemas.openxmlformats.org/drawingml/2006/main">
              <a:ext uri="{FF2B5EF4-FFF2-40B4-BE49-F238E27FC236}">
                <a16:creationId xmlns:a16="http://schemas.microsoft.com/office/drawing/2014/main" id="{9E575C95-CF9B-4B4F-BA00-5C8F3CF24516}"/>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does absorbent mean?</a:t>
            </a:r>
          </a:p>
        </p:txBody>
      </p:sp>
      <p:sp>
        <p:nvSpPr>
          <p:cNvPr id="12" name="R2. Which must stay the same: soak time or product type?">
            <a:extLst xmlns:a="http://schemas.openxmlformats.org/drawingml/2006/main">
              <a:ext uri="{FF2B5EF4-FFF2-40B4-BE49-F238E27FC236}">
                <a16:creationId xmlns:a16="http://schemas.microsoft.com/office/drawing/2014/main" id="{5CF6562C-FCFE-485D-B5D9-3C31D750CC56}"/>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Which must stay the same: soak time or product type?</a:t>
            </a:r>
          </a:p>
        </p:txBody>
      </p:sp>
      <p:sp>
        <p:nvSpPr>
          <p:cNvPr id="13" name="R3. Is a heavy wet cloth necessarily holding more water?">
            <a:extLst xmlns:a="http://schemas.openxmlformats.org/drawingml/2006/main">
              <a:ext uri="{FF2B5EF4-FFF2-40B4-BE49-F238E27FC236}">
                <a16:creationId xmlns:a16="http://schemas.microsoft.com/office/drawing/2014/main" id="{F1A0CD2A-65A5-47BE-B6E9-5E969DF45333}"/>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Is a heavy wet cloth necessarily holding more water?</a:t>
            </a:r>
          </a:p>
        </p:txBody>
      </p:sp>
    </p:spTree>
    <p:extLst>
      <p:ext uri="{BB962C8B-B14F-4D97-AF65-F5344CB8AC3E}">
        <p14:creationId xmlns:p14="http://schemas.microsoft.com/office/powerpoint/2010/main" val="13071585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CFA3582D-5DFA-459F-B484-E3B8651CE9B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A034740-77C5-4D77-8CEF-1D5A2B4A686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DC4722D-949E-442A-AAC5-3D3DA5FA768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34E42F7-3F6B-49AB-BF56-6EFB4B15BCA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189EA7C8-AF65-4307-951A-9D5E3AA7D99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DAFC3759-881F-4F39-B0B8-27A732DB2DE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What are we actually testing?">
            <a:extLst xmlns:a="http://schemas.openxmlformats.org/drawingml/2006/main">
              <a:ext uri="{FF2B5EF4-FFF2-40B4-BE49-F238E27FC236}">
                <a16:creationId xmlns:a16="http://schemas.microsoft.com/office/drawing/2014/main" id="{E4506CAF-CF83-4D25-9E48-7ECB742DEEF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are we actually testing?</a:t>
            </a:r>
          </a:p>
        </p:txBody>
      </p:sp>
      <p:sp>
        <p:nvSpPr>
          <p:cNvPr id="8" name="surface">
            <a:extLst xmlns:a="http://schemas.openxmlformats.org/drawingml/2006/main">
              <a:ext uri="{FF2B5EF4-FFF2-40B4-BE49-F238E27FC236}">
                <a16:creationId xmlns:a16="http://schemas.microsoft.com/office/drawing/2014/main" id="{B599A6D8-FBC7-4752-9D93-391D2A7DA9F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423575CB-160C-41AD-8D80-8C585E25CC5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3 / 15">
            <a:extLst xmlns:a="http://schemas.openxmlformats.org/drawingml/2006/main">
              <a:ext uri="{FF2B5EF4-FFF2-40B4-BE49-F238E27FC236}">
                <a16:creationId xmlns:a16="http://schemas.microsoft.com/office/drawing/2014/main" id="{EA93F8F1-3A74-4418-B9A5-EA47F2F6EF9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Absorbing water is a useful material property">
            <a:extLst xmlns:a="http://schemas.openxmlformats.org/drawingml/2006/main">
              <a:ext uri="{FF2B5EF4-FFF2-40B4-BE49-F238E27FC236}">
                <a16:creationId xmlns:a16="http://schemas.microsoft.com/office/drawing/2014/main" id="{45582411-A040-463C-978A-0349DA2890FE}"/>
              </a:ext>
            </a:extLst>
          </p:cNvPr>
          <p:cNvSpPr>
            <a:spLocks xmlns:a="http://schemas.openxmlformats.org/drawingml/2006/main" noGrp="1"/>
          </p:cNvSpPr>
          <p:nvPr/>
        </p:nvSpPr>
        <p:spPr>
          <a:xfrm xmlns:a="http://schemas.openxmlformats.org/drawingml/2006/main">
            <a:off x="2907506" y="2023042"/>
            <a:ext cx="6376988"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Absorbing water is a useful material property</a:t>
            </a:r>
          </a:p>
        </p:txBody>
      </p:sp>
      <p:sp>
        <p:nvSpPr>
          <p:cNvPr id="12" name="Editable scientific diagram">
            <a:extLst xmlns:a="http://schemas.openxmlformats.org/drawingml/2006/main">
              <a:ext uri="{FF2B5EF4-FFF2-40B4-BE49-F238E27FC236}">
                <a16:creationId xmlns:a16="http://schemas.microsoft.com/office/drawing/2014/main" id="{55644422-BDAD-40BE-B6F8-D5AF524144C0}"/>
              </a:ext>
            </a:extLst>
          </p:cNvPr>
          <p:cNvSpPr>
            <a:spLocks xmlns:a="http://schemas.openxmlformats.org/drawingml/2006/main" noGrp="1"/>
          </p:cNvSpPr>
          <p:nvPr/>
        </p:nvSpPr>
        <p:spPr>
          <a:xfrm xmlns:a="http://schemas.openxmlformats.org/drawingml/2006/main">
            <a:off x="3082698" y="2899002"/>
            <a:ext cx="2732995" cy="1506651"/>
          </a:xfrm>
          <a:prstGeom xmlns:a="http://schemas.openxmlformats.org/drawingml/2006/main" prst="rect">
            <a:avLst/>
          </a:prstGeom>
          <a:solidFill xmlns:a="http://schemas.openxmlformats.org/drawingml/2006/main">
            <a:srgbClr val="F6EEDC"/>
          </a:solidFill>
          <a:ln xmlns:a="http://schemas.openxmlformats.org/drawingml/2006/main" w="21023">
            <a:solidFill>
              <a:srgbClr val="8C7454"/>
            </a:solidFill>
          </a:ln>
        </p:spPr>
      </p:sp>
      <p:sp>
        <p:nvSpPr>
          <p:cNvPr id="13" name="Editable scientific diagram">
            <a:extLst xmlns:a="http://schemas.openxmlformats.org/drawingml/2006/main">
              <a:ext uri="{FF2B5EF4-FFF2-40B4-BE49-F238E27FC236}">
                <a16:creationId xmlns:a16="http://schemas.microsoft.com/office/drawing/2014/main" id="{702CAAE0-FAAF-4308-B1B7-3909D4F8A56F}"/>
              </a:ext>
            </a:extLst>
          </p:cNvPr>
          <p:cNvSpPr>
            <a:spLocks xmlns:a="http://schemas.openxmlformats.org/drawingml/2006/main" noGrp="1"/>
          </p:cNvSpPr>
          <p:nvPr/>
        </p:nvSpPr>
        <p:spPr>
          <a:xfrm xmlns:a="http://schemas.openxmlformats.org/drawingml/2006/main">
            <a:off x="6586538" y="3985192"/>
            <a:ext cx="2382611" cy="350384"/>
          </a:xfrm>
          <a:prstGeom xmlns:a="http://schemas.openxmlformats.org/drawingml/2006/main" prst="rect">
            <a:avLst/>
          </a:prstGeom>
          <a:solidFill xmlns:a="http://schemas.openxmlformats.org/drawingml/2006/main">
            <a:srgbClr val="CDE0D6"/>
          </a:solidFill>
          <a:ln xmlns:a="http://schemas.openxmlformats.org/drawingml/2006/main" w="21023">
            <a:solidFill>
              <a:srgbClr val="3F7D6E"/>
            </a:solidFill>
          </a:ln>
        </p:spPr>
      </p:sp>
      <p:sp>
        <p:nvSpPr>
          <p:cNvPr id="14" name="Diagram line">
            <a:extLst xmlns:a="http://schemas.openxmlformats.org/drawingml/2006/main">
              <a:ext uri="{FF2B5EF4-FFF2-40B4-BE49-F238E27FC236}">
                <a16:creationId xmlns:a16="http://schemas.microsoft.com/office/drawing/2014/main" id="{EF411951-54BB-45B4-9DA9-80EDE5811385}"/>
              </a:ext>
            </a:extLst>
          </p:cNvPr>
          <p:cNvSpPr>
            <a:spLocks xmlns:a="http://schemas.openxmlformats.org/drawingml/2006/main" noGrp="1"/>
          </p:cNvSpPr>
          <p:nvPr/>
        </p:nvSpPr>
        <p:spPr>
          <a:xfrm xmlns:a="http://schemas.openxmlformats.org/drawingml/2006/main" flipH="0" flipV="0">
            <a:off x="3257890" y="3214347"/>
            <a:ext cx="2277496" cy="953"/>
          </a:xfrm>
          <a:prstGeom xmlns:a="http://schemas.openxmlformats.org/drawingml/2006/main" prst="line">
            <a:avLst/>
          </a:prstGeom>
          <a:noFill xmlns:a="http://schemas.openxmlformats.org/drawingml/2006/main"/>
          <a:ln xmlns:a="http://schemas.openxmlformats.org/drawingml/2006/main" w="77084">
            <a:solidFill>
              <a:srgbClr val="AD926D"/>
            </a:solidFill>
          </a:ln>
        </p:spPr>
      </p:sp>
      <p:sp>
        <p:nvSpPr>
          <p:cNvPr id="15" name="Diagram line">
            <a:extLst xmlns:a="http://schemas.openxmlformats.org/drawingml/2006/main">
              <a:ext uri="{FF2B5EF4-FFF2-40B4-BE49-F238E27FC236}">
                <a16:creationId xmlns:a16="http://schemas.microsoft.com/office/drawing/2014/main" id="{9230C643-61B7-4445-B9D9-46EC67C06A42}"/>
              </a:ext>
            </a:extLst>
          </p:cNvPr>
          <p:cNvSpPr>
            <a:spLocks xmlns:a="http://schemas.openxmlformats.org/drawingml/2006/main" noGrp="1"/>
          </p:cNvSpPr>
          <p:nvPr/>
        </p:nvSpPr>
        <p:spPr>
          <a:xfrm xmlns:a="http://schemas.openxmlformats.org/drawingml/2006/main" flipH="0" flipV="0">
            <a:off x="3257890" y="3704885"/>
            <a:ext cx="2277496" cy="953"/>
          </a:xfrm>
          <a:prstGeom xmlns:a="http://schemas.openxmlformats.org/drawingml/2006/main" prst="line">
            <a:avLst/>
          </a:prstGeom>
          <a:noFill xmlns:a="http://schemas.openxmlformats.org/drawingml/2006/main"/>
          <a:ln xmlns:a="http://schemas.openxmlformats.org/drawingml/2006/main" w="77084">
            <a:solidFill>
              <a:srgbClr val="AD926D"/>
            </a:solidFill>
          </a:ln>
        </p:spPr>
      </p:sp>
      <p:sp>
        <p:nvSpPr>
          <p:cNvPr id="16" name="Diagram line">
            <a:extLst xmlns:a="http://schemas.openxmlformats.org/drawingml/2006/main">
              <a:ext uri="{FF2B5EF4-FFF2-40B4-BE49-F238E27FC236}">
                <a16:creationId xmlns:a16="http://schemas.microsoft.com/office/drawing/2014/main" id="{472299A1-A786-414A-B0D4-4AA06EA6FABD}"/>
              </a:ext>
            </a:extLst>
          </p:cNvPr>
          <p:cNvSpPr>
            <a:spLocks xmlns:a="http://schemas.openxmlformats.org/drawingml/2006/main" noGrp="1"/>
          </p:cNvSpPr>
          <p:nvPr/>
        </p:nvSpPr>
        <p:spPr>
          <a:xfrm xmlns:a="http://schemas.openxmlformats.org/drawingml/2006/main" flipH="0" flipV="0">
            <a:off x="3853543" y="3039155"/>
            <a:ext cx="953" cy="1191305"/>
          </a:xfrm>
          <a:prstGeom xmlns:a="http://schemas.openxmlformats.org/drawingml/2006/main" prst="line">
            <a:avLst/>
          </a:prstGeom>
          <a:noFill xmlns:a="http://schemas.openxmlformats.org/drawingml/2006/main"/>
          <a:ln xmlns:a="http://schemas.openxmlformats.org/drawingml/2006/main" w="77084">
            <a:solidFill>
              <a:srgbClr val="AD926D"/>
            </a:solidFill>
          </a:ln>
        </p:spPr>
      </p:sp>
      <p:sp>
        <p:nvSpPr>
          <p:cNvPr id="17" name="Diagram line">
            <a:extLst xmlns:a="http://schemas.openxmlformats.org/drawingml/2006/main">
              <a:ext uri="{FF2B5EF4-FFF2-40B4-BE49-F238E27FC236}">
                <a16:creationId xmlns:a16="http://schemas.microsoft.com/office/drawing/2014/main" id="{DC803994-E7E7-4B6B-9388-46739C9DC077}"/>
              </a:ext>
            </a:extLst>
          </p:cNvPr>
          <p:cNvSpPr>
            <a:spLocks xmlns:a="http://schemas.openxmlformats.org/drawingml/2006/main" noGrp="1"/>
          </p:cNvSpPr>
          <p:nvPr/>
        </p:nvSpPr>
        <p:spPr>
          <a:xfrm xmlns:a="http://schemas.openxmlformats.org/drawingml/2006/main" flipH="0" flipV="0">
            <a:off x="5009810" y="3039155"/>
            <a:ext cx="953" cy="1191305"/>
          </a:xfrm>
          <a:prstGeom xmlns:a="http://schemas.openxmlformats.org/drawingml/2006/main" prst="line">
            <a:avLst/>
          </a:prstGeom>
          <a:noFill xmlns:a="http://schemas.openxmlformats.org/drawingml/2006/main"/>
          <a:ln xmlns:a="http://schemas.openxmlformats.org/drawingml/2006/main" w="77084">
            <a:solidFill>
              <a:srgbClr val="AD926D"/>
            </a:solidFill>
          </a:ln>
        </p:spPr>
      </p:sp>
      <p:sp>
        <p:nvSpPr>
          <p:cNvPr id="18" name="Editable scientific diagram">
            <a:extLst xmlns:a="http://schemas.openxmlformats.org/drawingml/2006/main">
              <a:ext uri="{FF2B5EF4-FFF2-40B4-BE49-F238E27FC236}">
                <a16:creationId xmlns:a16="http://schemas.microsoft.com/office/drawing/2014/main" id="{FA6C6BA8-6722-4D7C-83D3-F5A8407092E9}"/>
              </a:ext>
            </a:extLst>
          </p:cNvPr>
          <p:cNvSpPr>
            <a:spLocks xmlns:a="http://schemas.openxmlformats.org/drawingml/2006/main" noGrp="1"/>
          </p:cNvSpPr>
          <p:nvPr/>
        </p:nvSpPr>
        <p:spPr>
          <a:xfrm xmlns:a="http://schemas.openxmlformats.org/drawingml/2006/main">
            <a:off x="4063773" y="3333478"/>
            <a:ext cx="490538" cy="252276"/>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19" name="Editable scientific diagram">
            <a:extLst xmlns:a="http://schemas.openxmlformats.org/drawingml/2006/main">
              <a:ext uri="{FF2B5EF4-FFF2-40B4-BE49-F238E27FC236}">
                <a16:creationId xmlns:a16="http://schemas.microsoft.com/office/drawing/2014/main" id="{87900B8A-9C84-4D6E-A3EE-B765EC7A2EAD}"/>
              </a:ext>
            </a:extLst>
          </p:cNvPr>
          <p:cNvSpPr>
            <a:spLocks xmlns:a="http://schemas.openxmlformats.org/drawingml/2006/main" noGrp="1"/>
          </p:cNvSpPr>
          <p:nvPr/>
        </p:nvSpPr>
        <p:spPr>
          <a:xfrm xmlns:a="http://schemas.openxmlformats.org/drawingml/2006/main">
            <a:off x="4624388" y="3810000"/>
            <a:ext cx="315346" cy="266292"/>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20" name="Editable scientific diagram">
            <a:extLst xmlns:a="http://schemas.openxmlformats.org/drawingml/2006/main">
              <a:ext uri="{FF2B5EF4-FFF2-40B4-BE49-F238E27FC236}">
                <a16:creationId xmlns:a16="http://schemas.microsoft.com/office/drawing/2014/main" id="{958834F8-208A-43DD-800F-32EEB16C2145}"/>
              </a:ext>
            </a:extLst>
          </p:cNvPr>
          <p:cNvSpPr>
            <a:spLocks xmlns:a="http://schemas.openxmlformats.org/drawingml/2006/main" noGrp="1"/>
          </p:cNvSpPr>
          <p:nvPr/>
        </p:nvSpPr>
        <p:spPr>
          <a:xfrm xmlns:a="http://schemas.openxmlformats.org/drawingml/2006/main">
            <a:off x="3327967" y="3866061"/>
            <a:ext cx="385422" cy="245269"/>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21" name="Editable scientific diagram">
            <a:extLst xmlns:a="http://schemas.openxmlformats.org/drawingml/2006/main">
              <a:ext uri="{FF2B5EF4-FFF2-40B4-BE49-F238E27FC236}">
                <a16:creationId xmlns:a16="http://schemas.microsoft.com/office/drawing/2014/main" id="{0229FFAF-9B15-4531-81E7-A719D2571B9F}"/>
              </a:ext>
            </a:extLst>
          </p:cNvPr>
          <p:cNvSpPr>
            <a:spLocks xmlns:a="http://schemas.openxmlformats.org/drawingml/2006/main" noGrp="1"/>
          </p:cNvSpPr>
          <p:nvPr/>
        </p:nvSpPr>
        <p:spPr>
          <a:xfrm xmlns:a="http://schemas.openxmlformats.org/drawingml/2006/main">
            <a:off x="7462497" y="3564731"/>
            <a:ext cx="560614" cy="406445"/>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22" name="Diagram label: Fibres and connected spaces&#10;can take in and retain water.">
            <a:extLst xmlns:a="http://schemas.openxmlformats.org/drawingml/2006/main">
              <a:ext uri="{FF2B5EF4-FFF2-40B4-BE49-F238E27FC236}">
                <a16:creationId xmlns:a16="http://schemas.microsoft.com/office/drawing/2014/main" id="{6F9F6226-85A2-426E-B220-DF9329E9B798}"/>
              </a:ext>
            </a:extLst>
          </p:cNvPr>
          <p:cNvSpPr>
            <a:spLocks xmlns:a="http://schemas.openxmlformats.org/drawingml/2006/main" noGrp="1"/>
          </p:cNvSpPr>
          <p:nvPr/>
        </p:nvSpPr>
        <p:spPr>
          <a:xfrm xmlns:a="http://schemas.openxmlformats.org/drawingml/2006/main">
            <a:off x="3047660" y="4580845"/>
            <a:ext cx="2943225"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Fibres and connected spaces</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can take in and retain water.</a:t>
            </a:r>
          </a:p>
        </p:txBody>
      </p:sp>
      <p:sp>
        <p:nvSpPr>
          <p:cNvPr id="23" name="Diagram label: A drop on an intact plastic&#10;sheet is not absorbed.">
            <a:extLst xmlns:a="http://schemas.openxmlformats.org/drawingml/2006/main">
              <a:ext uri="{FF2B5EF4-FFF2-40B4-BE49-F238E27FC236}">
                <a16:creationId xmlns:a16="http://schemas.microsoft.com/office/drawing/2014/main" id="{65FE3347-1DA8-4FAD-9AE3-2E3B9876A2FE}"/>
              </a:ext>
            </a:extLst>
          </p:cNvPr>
          <p:cNvSpPr>
            <a:spLocks xmlns:a="http://schemas.openxmlformats.org/drawingml/2006/main" noGrp="1"/>
          </p:cNvSpPr>
          <p:nvPr/>
        </p:nvSpPr>
        <p:spPr>
          <a:xfrm xmlns:a="http://schemas.openxmlformats.org/drawingml/2006/main">
            <a:off x="6481422" y="4580845"/>
            <a:ext cx="2732995"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A drop on an intact plastic</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sheet is not absorbed.</a:t>
            </a:r>
          </a:p>
        </p:txBody>
      </p:sp>
      <p:sp>
        <p:nvSpPr>
          <p:cNvPr id="24" name="Diagram label: Close-up model; water marks and spaces are enlarged.">
            <a:extLst xmlns:a="http://schemas.openxmlformats.org/drawingml/2006/main">
              <a:ext uri="{FF2B5EF4-FFF2-40B4-BE49-F238E27FC236}">
                <a16:creationId xmlns:a16="http://schemas.microsoft.com/office/drawing/2014/main" id="{28C426F4-2D48-4E0A-B96E-80A6E8AD4285}"/>
              </a:ext>
            </a:extLst>
          </p:cNvPr>
          <p:cNvSpPr>
            <a:spLocks xmlns:a="http://schemas.openxmlformats.org/drawingml/2006/main" noGrp="1"/>
          </p:cNvSpPr>
          <p:nvPr/>
        </p:nvSpPr>
        <p:spPr>
          <a:xfrm xmlns:a="http://schemas.openxmlformats.org/drawingml/2006/main">
            <a:off x="3082698" y="5351689"/>
            <a:ext cx="6061642"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Close-up model; water marks and spaces are enlarged.</a:t>
            </a:r>
          </a:p>
        </p:txBody>
      </p:sp>
      <p:sp>
        <p:nvSpPr>
          <p:cNvPr id="25" name="Absorbent structures take water in.  Our measure is water held a">
            <a:extLst xmlns:a="http://schemas.openxmlformats.org/drawingml/2006/main">
              <a:ext uri="{FF2B5EF4-FFF2-40B4-BE49-F238E27FC236}">
                <a16:creationId xmlns:a16="http://schemas.microsoft.com/office/drawing/2014/main" id="{C82D797F-1785-4B64-B72B-E40F83CCAADD}"/>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Absorbent structures take water in. Our measure is water held after a fixed drip time. Water sitting on a</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surface is not the same thing.</a:t>
            </a:r>
          </a:p>
        </p:txBody>
      </p:sp>
    </p:spTree>
    <p:extLst>
      <p:ext uri="{BB962C8B-B14F-4D97-AF65-F5344CB8AC3E}">
        <p14:creationId xmlns:p14="http://schemas.microsoft.com/office/powerpoint/2010/main" val="19828764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urface">
            <a:extLst xmlns:a="http://schemas.openxmlformats.org/drawingml/2006/main">
              <a:ext uri="{FF2B5EF4-FFF2-40B4-BE49-F238E27FC236}">
                <a16:creationId xmlns:a16="http://schemas.microsoft.com/office/drawing/2014/main" id="{44632C2D-E590-4ECB-9B9B-9DF6BEEF41D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B0AD1F0-A347-467B-8786-86EEDAE341A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0C3410B-C075-453F-AC27-3D2B99A402A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0D0B975E-30C1-4F83-807C-58652ACB519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37C7656E-417C-4357-8F19-378C0DF2EA1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Subtract the starting mass">
            <a:extLst xmlns:a="http://schemas.openxmlformats.org/drawingml/2006/main">
              <a:ext uri="{FF2B5EF4-FFF2-40B4-BE49-F238E27FC236}">
                <a16:creationId xmlns:a16="http://schemas.microsoft.com/office/drawing/2014/main" id="{3FEA3513-528C-4A5D-BEA6-3E8A61AC23A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Subtract the starting mass</a:t>
            </a:r>
          </a:p>
        </p:txBody>
      </p:sp>
      <p:sp>
        <p:nvSpPr>
          <p:cNvPr id="7" name="surface">
            <a:extLst xmlns:a="http://schemas.openxmlformats.org/drawingml/2006/main">
              <a:ext uri="{FF2B5EF4-FFF2-40B4-BE49-F238E27FC236}">
                <a16:creationId xmlns:a16="http://schemas.microsoft.com/office/drawing/2014/main" id="{582CFCDC-596A-4154-8C1B-8498DE47949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95C9CE95-CFCD-4B16-A3F7-957313727C9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4 / 15">
            <a:extLst xmlns:a="http://schemas.openxmlformats.org/drawingml/2006/main">
              <a:ext uri="{FF2B5EF4-FFF2-40B4-BE49-F238E27FC236}">
                <a16:creationId xmlns:a16="http://schemas.microsoft.com/office/drawing/2014/main" id="{D82ED0CE-013B-4B9D-9E79-006E18250F6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Constructed worked example: subtract dry mass">
            <a:extLst xmlns:a="http://schemas.openxmlformats.org/drawingml/2006/main">
              <a:ext uri="{FF2B5EF4-FFF2-40B4-BE49-F238E27FC236}">
                <a16:creationId xmlns:a16="http://schemas.microsoft.com/office/drawing/2014/main" id="{6F2F6227-CCD9-45B0-B87E-54AE371C6889}"/>
              </a:ext>
            </a:extLst>
          </p:cNvPr>
          <p:cNvSpPr>
            <a:spLocks xmlns:a="http://schemas.openxmlformats.org/drawingml/2006/main" noGrp="1"/>
          </p:cNvSpPr>
          <p:nvPr/>
        </p:nvSpPr>
        <p:spPr>
          <a:xfrm xmlns:a="http://schemas.openxmlformats.org/drawingml/2006/main">
            <a:off x="2698552" y="2034523"/>
            <a:ext cx="6794897"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23" b="1">
                <a:solidFill>
                  <a:srgbClr val="1F2937"/>
                </a:solidFill>
                <a:latin typeface="Nimbus Sans"/>
                <a:ea typeface="Nimbus Sans"/>
                <a:cs typeface="Nimbus Sans"/>
              </a:defRPr>
            </a:pPr>
            <a:r>
              <a:rPr sz="1823" b="1">
                <a:solidFill>
                  <a:srgbClr val="1F2937"/>
                </a:solidFill>
                <a:latin typeface="Nimbus Sans"/>
                <a:ea typeface="Nimbus Sans"/>
                <a:cs typeface="Nimbus Sans"/>
              </a:rPr>
              <a:t>Constructed worked example: subtract dry mass</a:t>
            </a:r>
          </a:p>
        </p:txBody>
      </p:sp>
      <p:sp>
        <p:nvSpPr>
          <p:cNvPr id="11" name="Editable scientific diagram">
            <a:extLst xmlns:a="http://schemas.openxmlformats.org/drawingml/2006/main">
              <a:ext uri="{FF2B5EF4-FFF2-40B4-BE49-F238E27FC236}">
                <a16:creationId xmlns:a16="http://schemas.microsoft.com/office/drawing/2014/main" id="{A4138047-4393-4A42-8C2E-7D91D6C1BB64}"/>
              </a:ext>
            </a:extLst>
          </p:cNvPr>
          <p:cNvSpPr>
            <a:spLocks xmlns:a="http://schemas.openxmlformats.org/drawingml/2006/main" noGrp="1"/>
          </p:cNvSpPr>
          <p:nvPr/>
        </p:nvSpPr>
        <p:spPr>
          <a:xfrm xmlns:a="http://schemas.openxmlformats.org/drawingml/2006/main">
            <a:off x="2997228" y="3714580"/>
            <a:ext cx="2538753" cy="970700"/>
          </a:xfrm>
          <a:prstGeom xmlns:a="http://schemas.openxmlformats.org/drawingml/2006/main" prst="rect">
            <a:avLst/>
          </a:prstGeom>
          <a:solidFill xmlns:a="http://schemas.openxmlformats.org/drawingml/2006/main">
            <a:srgbClr val="E8ECEF"/>
          </a:solidFill>
          <a:ln xmlns:a="http://schemas.openxmlformats.org/drawingml/2006/main" w="22401">
            <a:solidFill>
              <a:srgbClr val="6B7280"/>
            </a:solidFill>
          </a:ln>
        </p:spPr>
      </p:sp>
      <p:sp>
        <p:nvSpPr>
          <p:cNvPr id="12" name="Editable scientific diagram">
            <a:extLst xmlns:a="http://schemas.openxmlformats.org/drawingml/2006/main">
              <a:ext uri="{FF2B5EF4-FFF2-40B4-BE49-F238E27FC236}">
                <a16:creationId xmlns:a16="http://schemas.microsoft.com/office/drawing/2014/main" id="{3DD5D1D4-763B-41BD-B73A-4A978D3C6846}"/>
              </a:ext>
            </a:extLst>
          </p:cNvPr>
          <p:cNvSpPr>
            <a:spLocks xmlns:a="http://schemas.openxmlformats.org/drawingml/2006/main" noGrp="1"/>
          </p:cNvSpPr>
          <p:nvPr/>
        </p:nvSpPr>
        <p:spPr>
          <a:xfrm xmlns:a="http://schemas.openxmlformats.org/drawingml/2006/main">
            <a:off x="6656019" y="3714580"/>
            <a:ext cx="2538753" cy="970700"/>
          </a:xfrm>
          <a:prstGeom xmlns:a="http://schemas.openxmlformats.org/drawingml/2006/main" prst="rect">
            <a:avLst/>
          </a:prstGeom>
          <a:solidFill xmlns:a="http://schemas.openxmlformats.org/drawingml/2006/main">
            <a:srgbClr val="E8ECEF"/>
          </a:solidFill>
          <a:ln xmlns:a="http://schemas.openxmlformats.org/drawingml/2006/main" w="22401">
            <a:solidFill>
              <a:srgbClr val="6B7280"/>
            </a:solidFill>
          </a:ln>
        </p:spPr>
      </p:sp>
      <p:sp>
        <p:nvSpPr>
          <p:cNvPr id="13" name="Editable scientific diagram">
            <a:extLst xmlns:a="http://schemas.openxmlformats.org/drawingml/2006/main">
              <a:ext uri="{FF2B5EF4-FFF2-40B4-BE49-F238E27FC236}">
                <a16:creationId xmlns:a16="http://schemas.microsoft.com/office/drawing/2014/main" id="{EDF1ACD6-512A-45B1-9197-1AA6D6581808}"/>
              </a:ext>
            </a:extLst>
          </p:cNvPr>
          <p:cNvSpPr>
            <a:spLocks xmlns:a="http://schemas.openxmlformats.org/drawingml/2006/main" noGrp="1"/>
          </p:cNvSpPr>
          <p:nvPr/>
        </p:nvSpPr>
        <p:spPr>
          <a:xfrm xmlns:a="http://schemas.openxmlformats.org/drawingml/2006/main">
            <a:off x="3407909" y="3117226"/>
            <a:ext cx="1717392" cy="448015"/>
          </a:xfrm>
          <a:prstGeom xmlns:a="http://schemas.openxmlformats.org/drawingml/2006/main" prst="rect">
            <a:avLst/>
          </a:prstGeom>
          <a:solidFill xmlns:a="http://schemas.openxmlformats.org/drawingml/2006/main">
            <a:srgbClr val="F6EEDC"/>
          </a:solidFill>
          <a:ln xmlns:a="http://schemas.openxmlformats.org/drawingml/2006/main" w="22401">
            <a:solidFill>
              <a:srgbClr val="8C7454"/>
            </a:solidFill>
          </a:ln>
        </p:spPr>
      </p:sp>
      <p:sp>
        <p:nvSpPr>
          <p:cNvPr id="14" name="Editable scientific diagram">
            <a:extLst xmlns:a="http://schemas.openxmlformats.org/drawingml/2006/main">
              <a:ext uri="{FF2B5EF4-FFF2-40B4-BE49-F238E27FC236}">
                <a16:creationId xmlns:a16="http://schemas.microsoft.com/office/drawing/2014/main" id="{0C22BF9D-E954-4132-90AE-4D27D35CF8BD}"/>
              </a:ext>
            </a:extLst>
          </p:cNvPr>
          <p:cNvSpPr>
            <a:spLocks xmlns:a="http://schemas.openxmlformats.org/drawingml/2006/main" noGrp="1"/>
          </p:cNvSpPr>
          <p:nvPr/>
        </p:nvSpPr>
        <p:spPr>
          <a:xfrm xmlns:a="http://schemas.openxmlformats.org/drawingml/2006/main">
            <a:off x="7066700" y="3117226"/>
            <a:ext cx="1717392" cy="448015"/>
          </a:xfrm>
          <a:prstGeom xmlns:a="http://schemas.openxmlformats.org/drawingml/2006/main" prst="rect">
            <a:avLst/>
          </a:prstGeom>
          <a:solidFill xmlns:a="http://schemas.openxmlformats.org/drawingml/2006/main">
            <a:srgbClr val="B6D6D9"/>
          </a:solidFill>
          <a:ln xmlns:a="http://schemas.openxmlformats.org/drawingml/2006/main" w="22401">
            <a:solidFill>
              <a:srgbClr val="4D82A0"/>
            </a:solidFill>
          </a:ln>
        </p:spPr>
      </p:sp>
      <p:sp>
        <p:nvSpPr>
          <p:cNvPr id="15" name="Diagram label: Dry sample">
            <a:extLst xmlns:a="http://schemas.openxmlformats.org/drawingml/2006/main">
              <a:ext uri="{FF2B5EF4-FFF2-40B4-BE49-F238E27FC236}">
                <a16:creationId xmlns:a16="http://schemas.microsoft.com/office/drawing/2014/main" id="{23DAF11D-49E7-4DE5-A21D-78B91957A731}"/>
              </a:ext>
            </a:extLst>
          </p:cNvPr>
          <p:cNvSpPr>
            <a:spLocks xmlns:a="http://schemas.openxmlformats.org/drawingml/2006/main" noGrp="1"/>
          </p:cNvSpPr>
          <p:nvPr/>
        </p:nvSpPr>
        <p:spPr>
          <a:xfrm xmlns:a="http://schemas.openxmlformats.org/drawingml/2006/main">
            <a:off x="3333240" y="2557207"/>
            <a:ext cx="2165407"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Dry sample</a:t>
            </a:r>
          </a:p>
        </p:txBody>
      </p:sp>
      <p:sp>
        <p:nvSpPr>
          <p:cNvPr id="16" name="Diagram label: Wet after dripping">
            <a:extLst xmlns:a="http://schemas.openxmlformats.org/drawingml/2006/main">
              <a:ext uri="{FF2B5EF4-FFF2-40B4-BE49-F238E27FC236}">
                <a16:creationId xmlns:a16="http://schemas.microsoft.com/office/drawing/2014/main" id="{F8FF8B7A-BE89-4024-8A68-04454DA32045}"/>
              </a:ext>
            </a:extLst>
          </p:cNvPr>
          <p:cNvSpPr>
            <a:spLocks xmlns:a="http://schemas.openxmlformats.org/drawingml/2006/main" noGrp="1"/>
          </p:cNvSpPr>
          <p:nvPr/>
        </p:nvSpPr>
        <p:spPr>
          <a:xfrm xmlns:a="http://schemas.openxmlformats.org/drawingml/2006/main">
            <a:off x="6992030" y="2557207"/>
            <a:ext cx="2165407"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Wet after dripping</a:t>
            </a:r>
          </a:p>
        </p:txBody>
      </p:sp>
      <p:sp>
        <p:nvSpPr>
          <p:cNvPr id="17" name="Diagram label: 2.0 g">
            <a:extLst xmlns:a="http://schemas.openxmlformats.org/drawingml/2006/main">
              <a:ext uri="{FF2B5EF4-FFF2-40B4-BE49-F238E27FC236}">
                <a16:creationId xmlns:a16="http://schemas.microsoft.com/office/drawing/2014/main" id="{46FF6145-0D6C-42BB-BE89-E7DF8CB6894D}"/>
              </a:ext>
            </a:extLst>
          </p:cNvPr>
          <p:cNvSpPr>
            <a:spLocks xmlns:a="http://schemas.openxmlformats.org/drawingml/2006/main" noGrp="1"/>
          </p:cNvSpPr>
          <p:nvPr/>
        </p:nvSpPr>
        <p:spPr>
          <a:xfrm xmlns:a="http://schemas.openxmlformats.org/drawingml/2006/main">
            <a:off x="3631917" y="3938588"/>
            <a:ext cx="16427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17" b="1">
                <a:solidFill>
                  <a:srgbClr val="1F2937"/>
                </a:solidFill>
                <a:latin typeface="Nimbus Sans"/>
                <a:ea typeface="Nimbus Sans"/>
                <a:cs typeface="Nimbus Sans"/>
              </a:defRPr>
            </a:pPr>
            <a:r>
              <a:rPr sz="2117" b="1">
                <a:solidFill>
                  <a:srgbClr val="1F2937"/>
                </a:solidFill>
                <a:latin typeface="Nimbus Sans"/>
                <a:ea typeface="Nimbus Sans"/>
                <a:cs typeface="Nimbus Sans"/>
              </a:rPr>
              <a:t>2.0 g</a:t>
            </a:r>
          </a:p>
        </p:txBody>
      </p:sp>
      <p:sp>
        <p:nvSpPr>
          <p:cNvPr id="18" name="Diagram label: 9.0 g">
            <a:extLst xmlns:a="http://schemas.openxmlformats.org/drawingml/2006/main">
              <a:ext uri="{FF2B5EF4-FFF2-40B4-BE49-F238E27FC236}">
                <a16:creationId xmlns:a16="http://schemas.microsoft.com/office/drawing/2014/main" id="{B177CE61-720B-46D2-A39D-A86FA69ADC66}"/>
              </a:ext>
            </a:extLst>
          </p:cNvPr>
          <p:cNvSpPr>
            <a:spLocks xmlns:a="http://schemas.openxmlformats.org/drawingml/2006/main" noGrp="1"/>
          </p:cNvSpPr>
          <p:nvPr/>
        </p:nvSpPr>
        <p:spPr>
          <a:xfrm xmlns:a="http://schemas.openxmlformats.org/drawingml/2006/main">
            <a:off x="7290707" y="3938588"/>
            <a:ext cx="16427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17" b="1">
                <a:solidFill>
                  <a:srgbClr val="1F2937"/>
                </a:solidFill>
                <a:latin typeface="Nimbus Sans"/>
                <a:ea typeface="Nimbus Sans"/>
                <a:cs typeface="Nimbus Sans"/>
              </a:defRPr>
            </a:pPr>
            <a:r>
              <a:rPr sz="2117" b="1">
                <a:solidFill>
                  <a:srgbClr val="1F2937"/>
                </a:solidFill>
                <a:latin typeface="Nimbus Sans"/>
                <a:ea typeface="Nimbus Sans"/>
                <a:cs typeface="Nimbus Sans"/>
              </a:rPr>
              <a:t>9.0 g</a:t>
            </a:r>
          </a:p>
        </p:txBody>
      </p:sp>
      <p:sp>
        <p:nvSpPr>
          <p:cNvPr id="19" name="Diagram label: Water retained = 9.0 − 2.0 = 7.0 g">
            <a:extLst xmlns:a="http://schemas.openxmlformats.org/drawingml/2006/main">
              <a:ext uri="{FF2B5EF4-FFF2-40B4-BE49-F238E27FC236}">
                <a16:creationId xmlns:a16="http://schemas.microsoft.com/office/drawing/2014/main" id="{318DFF80-832C-4649-8F34-B87D485E7527}"/>
              </a:ext>
            </a:extLst>
          </p:cNvPr>
          <p:cNvSpPr>
            <a:spLocks xmlns:a="http://schemas.openxmlformats.org/drawingml/2006/main" noGrp="1"/>
          </p:cNvSpPr>
          <p:nvPr/>
        </p:nvSpPr>
        <p:spPr>
          <a:xfrm xmlns:a="http://schemas.openxmlformats.org/drawingml/2006/main">
            <a:off x="3519913" y="5207964"/>
            <a:ext cx="5376182"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99" b="1">
                <a:solidFill>
                  <a:srgbClr val="1F2937"/>
                </a:solidFill>
                <a:latin typeface="Nimbus Sans"/>
                <a:ea typeface="Nimbus Sans"/>
                <a:cs typeface="Nimbus Sans"/>
              </a:defRPr>
            </a:pPr>
            <a:r>
              <a:rPr sz="1999" b="1">
                <a:solidFill>
                  <a:srgbClr val="1F2937"/>
                </a:solidFill>
                <a:latin typeface="Nimbus Sans"/>
                <a:ea typeface="Nimbus Sans"/>
                <a:cs typeface="Nimbus Sans"/>
              </a:rPr>
              <a:t>Water retained = 9.0 − 2.0 = 7.0 g</a:t>
            </a:r>
          </a:p>
        </p:txBody>
      </p:sp>
      <p:sp>
        <p:nvSpPr>
          <p:cNvPr id="20" name="Constructed example: dry sample 2.0 g.  Wet sample after drippin">
            <a:extLst xmlns:a="http://schemas.openxmlformats.org/drawingml/2006/main">
              <a:ext uri="{FF2B5EF4-FFF2-40B4-BE49-F238E27FC236}">
                <a16:creationId xmlns:a16="http://schemas.microsoft.com/office/drawing/2014/main" id="{6FBEE8A2-7B87-446B-9B5C-8CE64434104C}"/>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Constructed example: dry sample 2.0 g. Wet sample after dripping: 9.0 g. Retained water: 9.0 − 2.0 = 7.0 g.</a:t>
            </a:r>
          </a:p>
        </p:txBody>
      </p:sp>
    </p:spTree>
    <p:extLst>
      <p:ext uri="{BB962C8B-B14F-4D97-AF65-F5344CB8AC3E}">
        <p14:creationId xmlns:p14="http://schemas.microsoft.com/office/powerpoint/2010/main" val="20433509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urface">
            <a:extLst xmlns:a="http://schemas.openxmlformats.org/drawingml/2006/main">
              <a:ext uri="{FF2B5EF4-FFF2-40B4-BE49-F238E27FC236}">
                <a16:creationId xmlns:a16="http://schemas.microsoft.com/office/drawing/2014/main" id="{3A0307D1-12E5-4C2C-9FB4-1BA2AAB87F2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0531B44-374B-4F89-A94B-75376F1332A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E2A425C-4E98-4208-92F9-F8A2A3A3D5C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4B4B153B-5628-4B85-BD70-D66C7F11DF6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F2A0F6E0-63F9-4E32-A54A-006FE5EFB2C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Keep the question and method matched">
            <a:extLst xmlns:a="http://schemas.openxmlformats.org/drawingml/2006/main">
              <a:ext uri="{FF2B5EF4-FFF2-40B4-BE49-F238E27FC236}">
                <a16:creationId xmlns:a16="http://schemas.microsoft.com/office/drawing/2014/main" id="{CECED6AC-96B2-44C6-BCC8-3AEABF8974C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Keep the question and method matched</a:t>
            </a:r>
          </a:p>
        </p:txBody>
      </p:sp>
      <p:sp>
        <p:nvSpPr>
          <p:cNvPr id="7" name="surface">
            <a:extLst xmlns:a="http://schemas.openxmlformats.org/drawingml/2006/main">
              <a:ext uri="{FF2B5EF4-FFF2-40B4-BE49-F238E27FC236}">
                <a16:creationId xmlns:a16="http://schemas.microsoft.com/office/drawing/2014/main" id="{C703E412-9456-4BD2-A21F-0BB3D8ECB89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7DAEA4D7-B70F-4164-BB52-E33AA6CF00F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5 / 15">
            <a:extLst xmlns:a="http://schemas.openxmlformats.org/drawingml/2006/main">
              <a:ext uri="{FF2B5EF4-FFF2-40B4-BE49-F238E27FC236}">
                <a16:creationId xmlns:a16="http://schemas.microsoft.com/office/drawing/2014/main" id="{AE7DEB80-C87E-4541-BEAB-5DC9267C93B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Same method for each product sample">
            <a:extLst xmlns:a="http://schemas.openxmlformats.org/drawingml/2006/main">
              <a:ext uri="{FF2B5EF4-FFF2-40B4-BE49-F238E27FC236}">
                <a16:creationId xmlns:a16="http://schemas.microsoft.com/office/drawing/2014/main" id="{3B975DF8-0164-4B55-8AAB-F23FF277DF7F}"/>
              </a:ext>
            </a:extLst>
          </p:cNvPr>
          <p:cNvSpPr>
            <a:spLocks xmlns:a="http://schemas.openxmlformats.org/drawingml/2006/main" noGrp="1"/>
          </p:cNvSpPr>
          <p:nvPr/>
        </p:nvSpPr>
        <p:spPr>
          <a:xfrm xmlns:a="http://schemas.openxmlformats.org/drawingml/2006/main">
            <a:off x="2907506" y="2023042"/>
            <a:ext cx="630691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6" b="1">
                <a:solidFill>
                  <a:srgbClr val="1F2937"/>
                </a:solidFill>
                <a:latin typeface="Nimbus Sans"/>
                <a:ea typeface="Nimbus Sans"/>
                <a:cs typeface="Nimbus Sans"/>
              </a:defRPr>
            </a:pPr>
            <a:r>
              <a:rPr sz="1876" b="1">
                <a:solidFill>
                  <a:srgbClr val="1F2937"/>
                </a:solidFill>
                <a:latin typeface="Nimbus Sans"/>
                <a:ea typeface="Nimbus Sans"/>
                <a:cs typeface="Nimbus Sans"/>
              </a:rPr>
              <a:t>Same method for each product sample</a:t>
            </a:r>
          </a:p>
        </p:txBody>
      </p:sp>
      <p:sp>
        <p:nvSpPr>
          <p:cNvPr id="11" name="Editable scientific diagram">
            <a:extLst xmlns:a="http://schemas.openxmlformats.org/drawingml/2006/main">
              <a:ext uri="{FF2B5EF4-FFF2-40B4-BE49-F238E27FC236}">
                <a16:creationId xmlns:a16="http://schemas.microsoft.com/office/drawing/2014/main" id="{2D2B8804-F227-4D31-98C8-1B41FC1BD345}"/>
              </a:ext>
            </a:extLst>
          </p:cNvPr>
          <p:cNvSpPr>
            <a:spLocks xmlns:a="http://schemas.openxmlformats.org/drawingml/2006/main" noGrp="1"/>
          </p:cNvSpPr>
          <p:nvPr/>
        </p:nvSpPr>
        <p:spPr>
          <a:xfrm xmlns:a="http://schemas.openxmlformats.org/drawingml/2006/main">
            <a:off x="3047660" y="2899002"/>
            <a:ext cx="1611766" cy="910998"/>
          </a:xfrm>
          <a:prstGeom xmlns:a="http://schemas.openxmlformats.org/drawingml/2006/main" prst="rect">
            <a:avLst/>
          </a:prstGeom>
          <a:solidFill xmlns:a="http://schemas.openxmlformats.org/drawingml/2006/main">
            <a:srgbClr val="F6EEDC"/>
          </a:solidFill>
          <a:ln xmlns:a="http://schemas.openxmlformats.org/drawingml/2006/main" w="21023">
            <a:solidFill>
              <a:srgbClr val="8C7454"/>
            </a:solidFill>
          </a:ln>
        </p:spPr>
      </p:sp>
      <p:sp>
        <p:nvSpPr>
          <p:cNvPr id="12" name="Diagram label: One layer&#10;10 cm × 10 cm">
            <a:extLst xmlns:a="http://schemas.openxmlformats.org/drawingml/2006/main">
              <a:ext uri="{FF2B5EF4-FFF2-40B4-BE49-F238E27FC236}">
                <a16:creationId xmlns:a16="http://schemas.microsoft.com/office/drawing/2014/main" id="{1300B69A-33C3-4446-B7A9-DAC45959C0D0}"/>
              </a:ext>
            </a:extLst>
          </p:cNvPr>
          <p:cNvSpPr>
            <a:spLocks xmlns:a="http://schemas.openxmlformats.org/drawingml/2006/main" noGrp="1"/>
          </p:cNvSpPr>
          <p:nvPr/>
        </p:nvSpPr>
        <p:spPr>
          <a:xfrm xmlns:a="http://schemas.openxmlformats.org/drawingml/2006/main">
            <a:off x="3110729" y="3074194"/>
            <a:ext cx="1527674"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24" b="1">
                <a:solidFill>
                  <a:srgbClr val="1F2937"/>
                </a:solidFill>
                <a:latin typeface="Nimbus Sans"/>
                <a:ea typeface="Nimbus Sans"/>
                <a:cs typeface="Nimbus Sans"/>
              </a:defRPr>
            </a:pPr>
            <a:r>
              <a:rPr sz="1324" b="1">
                <a:solidFill>
                  <a:srgbClr val="1F2937"/>
                </a:solidFill>
                <a:latin typeface="Nimbus Sans"/>
                <a:ea typeface="Nimbus Sans"/>
                <a:cs typeface="Nimbus Sans"/>
              </a:rPr>
              <a:t>One layer</a:t>
            </a:r>
          </a:p>
          <a:p xmlns:a="http://schemas.openxmlformats.org/drawingml/2006/main">
            <a:pPr algn="l">
              <a:lnSpc>
                <a:spcPct val="108000"/>
              </a:lnSpc>
              <a:buNone/>
              <a:defRPr sz="1324" b="1">
                <a:solidFill>
                  <a:srgbClr val="1F2937"/>
                </a:solidFill>
                <a:latin typeface="Nimbus Sans"/>
                <a:ea typeface="Nimbus Sans"/>
                <a:cs typeface="Nimbus Sans"/>
              </a:defRPr>
            </a:pPr>
            <a:r>
              <a:rPr sz="1324" b="1">
                <a:solidFill>
                  <a:srgbClr val="1F2937"/>
                </a:solidFill>
                <a:latin typeface="Nimbus Sans"/>
                <a:ea typeface="Nimbus Sans"/>
                <a:cs typeface="Nimbus Sans"/>
              </a:rPr>
              <a:t>10 cm × 10 cm</a:t>
            </a:r>
          </a:p>
        </p:txBody>
      </p:sp>
      <p:sp>
        <p:nvSpPr>
          <p:cNvPr id="13" name="Diagram line">
            <a:extLst xmlns:a="http://schemas.openxmlformats.org/drawingml/2006/main">
              <a:ext uri="{FF2B5EF4-FFF2-40B4-BE49-F238E27FC236}">
                <a16:creationId xmlns:a16="http://schemas.microsoft.com/office/drawing/2014/main" id="{326E4E0E-502C-4D2F-B6C5-C3977391DC11}"/>
              </a:ext>
            </a:extLst>
          </p:cNvPr>
          <p:cNvSpPr>
            <a:spLocks xmlns:a="http://schemas.openxmlformats.org/drawingml/2006/main" noGrp="1"/>
          </p:cNvSpPr>
          <p:nvPr/>
        </p:nvSpPr>
        <p:spPr>
          <a:xfrm xmlns:a="http://schemas.openxmlformats.org/drawingml/2006/main" flipH="0" flipV="0">
            <a:off x="4799579" y="3389539"/>
            <a:ext cx="332164" cy="953"/>
          </a:xfrm>
          <a:prstGeom xmlns:a="http://schemas.openxmlformats.org/drawingml/2006/main" prst="line">
            <a:avLst/>
          </a:prstGeom>
          <a:noFill xmlns:a="http://schemas.openxmlformats.org/drawingml/2006/main"/>
          <a:ln xmlns:a="http://schemas.openxmlformats.org/drawingml/2006/main" w="42046">
            <a:solidFill>
              <a:srgbClr val="1F2937"/>
            </a:solidFill>
          </a:ln>
        </p:spPr>
      </p:sp>
      <p:sp>
        <p:nvSpPr>
          <p:cNvPr id="14" name="Diagram arrowhead">
            <a:extLst xmlns:a="http://schemas.openxmlformats.org/drawingml/2006/main">
              <a:ext uri="{FF2B5EF4-FFF2-40B4-BE49-F238E27FC236}">
                <a16:creationId xmlns:a16="http://schemas.microsoft.com/office/drawing/2014/main" id="{F8D04F93-D81D-463B-B3AB-CE776C19A785}"/>
              </a:ext>
            </a:extLst>
          </p:cNvPr>
          <p:cNvSpPr>
            <a:spLocks xmlns:a="http://schemas.openxmlformats.org/drawingml/2006/main" noGrp="1"/>
          </p:cNvSpPr>
          <p:nvPr/>
        </p:nvSpPr>
        <p:spPr>
          <a:xfrm xmlns:a="http://schemas.openxmlformats.org/drawingml/2006/main" rot="5400000">
            <a:off x="5102311" y="3330675"/>
            <a:ext cx="117729" cy="117729"/>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5" name="Editable scientific diagram">
            <a:extLst xmlns:a="http://schemas.openxmlformats.org/drawingml/2006/main">
              <a:ext uri="{FF2B5EF4-FFF2-40B4-BE49-F238E27FC236}">
                <a16:creationId xmlns:a16="http://schemas.microsoft.com/office/drawing/2014/main" id="{8630B1FB-64A5-46DB-AC13-071B1224E5A7}"/>
              </a:ext>
            </a:extLst>
          </p:cNvPr>
          <p:cNvSpPr>
            <a:spLocks xmlns:a="http://schemas.openxmlformats.org/drawingml/2006/main" noGrp="1"/>
          </p:cNvSpPr>
          <p:nvPr/>
        </p:nvSpPr>
        <p:spPr>
          <a:xfrm xmlns:a="http://schemas.openxmlformats.org/drawingml/2006/main">
            <a:off x="5395232" y="3039155"/>
            <a:ext cx="1471613" cy="1261382"/>
          </a:xfrm>
          <a:prstGeom xmlns:a="http://schemas.openxmlformats.org/drawingml/2006/main" prst="rect">
            <a:avLst/>
          </a:prstGeom>
          <a:solidFill xmlns:a="http://schemas.openxmlformats.org/drawingml/2006/main">
            <a:srgbClr val="D7EAF4"/>
          </a:solidFill>
          <a:ln xmlns:a="http://schemas.openxmlformats.org/drawingml/2006/main" w="21023">
            <a:solidFill>
              <a:srgbClr val="4D82A0"/>
            </a:solidFill>
          </a:ln>
        </p:spPr>
      </p:sp>
      <p:sp>
        <p:nvSpPr>
          <p:cNvPr id="16" name="Editable scientific diagram">
            <a:extLst xmlns:a="http://schemas.openxmlformats.org/drawingml/2006/main">
              <a:ext uri="{FF2B5EF4-FFF2-40B4-BE49-F238E27FC236}">
                <a16:creationId xmlns:a16="http://schemas.microsoft.com/office/drawing/2014/main" id="{6E908C59-BFF5-4413-8396-D8008712C508}"/>
              </a:ext>
            </a:extLst>
          </p:cNvPr>
          <p:cNvSpPr>
            <a:spLocks xmlns:a="http://schemas.openxmlformats.org/drawingml/2006/main" noGrp="1"/>
          </p:cNvSpPr>
          <p:nvPr/>
        </p:nvSpPr>
        <p:spPr>
          <a:xfrm xmlns:a="http://schemas.openxmlformats.org/drawingml/2006/main">
            <a:off x="5675539" y="3249386"/>
            <a:ext cx="910998" cy="805883"/>
          </a:xfrm>
          <a:prstGeom xmlns:a="http://schemas.openxmlformats.org/drawingml/2006/main" prst="rect">
            <a:avLst/>
          </a:prstGeom>
          <a:solidFill xmlns:a="http://schemas.openxmlformats.org/drawingml/2006/main">
            <a:srgbClr val="B6D6D9"/>
          </a:solidFill>
          <a:ln xmlns:a="http://schemas.openxmlformats.org/drawingml/2006/main" w="21023">
            <a:solidFill>
              <a:srgbClr val="3F7D6E"/>
            </a:solidFill>
          </a:ln>
        </p:spPr>
      </p:sp>
      <p:sp>
        <p:nvSpPr>
          <p:cNvPr id="17" name="Diagram label: Fully immerse&#10;for 30 seconds">
            <a:extLst xmlns:a="http://schemas.openxmlformats.org/drawingml/2006/main">
              <a:ext uri="{FF2B5EF4-FFF2-40B4-BE49-F238E27FC236}">
                <a16:creationId xmlns:a16="http://schemas.microsoft.com/office/drawing/2014/main" id="{088E1441-AD78-4553-9E64-A636E3522E62}"/>
              </a:ext>
            </a:extLst>
          </p:cNvPr>
          <p:cNvSpPr>
            <a:spLocks xmlns:a="http://schemas.openxmlformats.org/drawingml/2006/main" noGrp="1"/>
          </p:cNvSpPr>
          <p:nvPr/>
        </p:nvSpPr>
        <p:spPr>
          <a:xfrm xmlns:a="http://schemas.openxmlformats.org/drawingml/2006/main">
            <a:off x="5416255" y="4405653"/>
            <a:ext cx="1716881"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Fully immerse</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for 30 seconds</a:t>
            </a:r>
          </a:p>
        </p:txBody>
      </p:sp>
      <p:sp>
        <p:nvSpPr>
          <p:cNvPr id="18" name="Diagram line">
            <a:extLst xmlns:a="http://schemas.openxmlformats.org/drawingml/2006/main">
              <a:ext uri="{FF2B5EF4-FFF2-40B4-BE49-F238E27FC236}">
                <a16:creationId xmlns:a16="http://schemas.microsoft.com/office/drawing/2014/main" id="{DD7891D9-3589-4321-861F-825610147B47}"/>
              </a:ext>
            </a:extLst>
          </p:cNvPr>
          <p:cNvSpPr>
            <a:spLocks xmlns:a="http://schemas.openxmlformats.org/drawingml/2006/main" noGrp="1"/>
          </p:cNvSpPr>
          <p:nvPr/>
        </p:nvSpPr>
        <p:spPr>
          <a:xfrm xmlns:a="http://schemas.openxmlformats.org/drawingml/2006/main" flipH="0" flipV="0">
            <a:off x="7042037" y="3389539"/>
            <a:ext cx="297126" cy="953"/>
          </a:xfrm>
          <a:prstGeom xmlns:a="http://schemas.openxmlformats.org/drawingml/2006/main" prst="line">
            <a:avLst/>
          </a:prstGeom>
          <a:noFill xmlns:a="http://schemas.openxmlformats.org/drawingml/2006/main"/>
          <a:ln xmlns:a="http://schemas.openxmlformats.org/drawingml/2006/main" w="42046">
            <a:solidFill>
              <a:srgbClr val="1F2937"/>
            </a:solidFill>
          </a:ln>
        </p:spPr>
      </p:sp>
      <p:sp>
        <p:nvSpPr>
          <p:cNvPr id="19" name="Diagram arrowhead">
            <a:extLst xmlns:a="http://schemas.openxmlformats.org/drawingml/2006/main">
              <a:ext uri="{FF2B5EF4-FFF2-40B4-BE49-F238E27FC236}">
                <a16:creationId xmlns:a16="http://schemas.microsoft.com/office/drawing/2014/main" id="{A917C26F-CC2D-4C4F-AF37-1A5F70A07724}"/>
              </a:ext>
            </a:extLst>
          </p:cNvPr>
          <p:cNvSpPr>
            <a:spLocks xmlns:a="http://schemas.openxmlformats.org/drawingml/2006/main" noGrp="1"/>
          </p:cNvSpPr>
          <p:nvPr/>
        </p:nvSpPr>
        <p:spPr>
          <a:xfrm xmlns:a="http://schemas.openxmlformats.org/drawingml/2006/main" rot="5400000">
            <a:off x="7309730" y="3330675"/>
            <a:ext cx="117729" cy="117729"/>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0" name="Editable scientific diagram">
            <a:extLst xmlns:a="http://schemas.openxmlformats.org/drawingml/2006/main">
              <a:ext uri="{FF2B5EF4-FFF2-40B4-BE49-F238E27FC236}">
                <a16:creationId xmlns:a16="http://schemas.microsoft.com/office/drawing/2014/main" id="{DB9E87F9-5F92-469B-8F11-165CDC539DCC}"/>
              </a:ext>
            </a:extLst>
          </p:cNvPr>
          <p:cNvSpPr>
            <a:spLocks xmlns:a="http://schemas.openxmlformats.org/drawingml/2006/main" noGrp="1"/>
          </p:cNvSpPr>
          <p:nvPr/>
        </p:nvSpPr>
        <p:spPr>
          <a:xfrm xmlns:a="http://schemas.openxmlformats.org/drawingml/2006/main">
            <a:off x="7953035" y="2793887"/>
            <a:ext cx="560614" cy="1226344"/>
          </a:xfrm>
          <a:prstGeom xmlns:a="http://schemas.openxmlformats.org/drawingml/2006/main" prst="rect">
            <a:avLst/>
          </a:prstGeom>
          <a:solidFill xmlns:a="http://schemas.openxmlformats.org/drawingml/2006/main">
            <a:srgbClr val="B6D6D9"/>
          </a:solidFill>
          <a:ln xmlns:a="http://schemas.openxmlformats.org/drawingml/2006/main" w="21023">
            <a:solidFill>
              <a:srgbClr val="3F7D6E"/>
            </a:solidFill>
          </a:ln>
        </p:spPr>
      </p:sp>
      <p:sp>
        <p:nvSpPr>
          <p:cNvPr id="21" name="Editable scientific diagram">
            <a:extLst xmlns:a="http://schemas.openxmlformats.org/drawingml/2006/main">
              <a:ext uri="{FF2B5EF4-FFF2-40B4-BE49-F238E27FC236}">
                <a16:creationId xmlns:a16="http://schemas.microsoft.com/office/drawing/2014/main" id="{69856EA2-28C5-4049-98F0-5132F16B5AD8}"/>
              </a:ext>
            </a:extLst>
          </p:cNvPr>
          <p:cNvSpPr>
            <a:spLocks xmlns:a="http://schemas.openxmlformats.org/drawingml/2006/main" noGrp="1"/>
          </p:cNvSpPr>
          <p:nvPr/>
        </p:nvSpPr>
        <p:spPr>
          <a:xfrm xmlns:a="http://schemas.openxmlformats.org/drawingml/2006/main">
            <a:off x="8163265" y="4125346"/>
            <a:ext cx="126138" cy="175192"/>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22" name="Editable scientific diagram">
            <a:extLst xmlns:a="http://schemas.openxmlformats.org/drawingml/2006/main">
              <a:ext uri="{FF2B5EF4-FFF2-40B4-BE49-F238E27FC236}">
                <a16:creationId xmlns:a16="http://schemas.microsoft.com/office/drawing/2014/main" id="{3826A873-9005-4970-99A6-7A263C5C9DD0}"/>
              </a:ext>
            </a:extLst>
          </p:cNvPr>
          <p:cNvSpPr>
            <a:spLocks xmlns:a="http://schemas.openxmlformats.org/drawingml/2006/main" noGrp="1"/>
          </p:cNvSpPr>
          <p:nvPr/>
        </p:nvSpPr>
        <p:spPr>
          <a:xfrm xmlns:a="http://schemas.openxmlformats.org/drawingml/2006/main">
            <a:off x="8163265" y="4440691"/>
            <a:ext cx="126138" cy="175192"/>
          </a:xfrm>
          <a:prstGeom xmlns:a="http://schemas.openxmlformats.org/drawingml/2006/main" prst="ellipse">
            <a:avLst/>
          </a:prstGeom>
          <a:solidFill xmlns:a="http://schemas.openxmlformats.org/drawingml/2006/main">
            <a:srgbClr val="A7D6EB"/>
          </a:solidFill>
          <a:ln xmlns:a="http://schemas.openxmlformats.org/drawingml/2006/main" w="21023">
            <a:solidFill>
              <a:srgbClr val="4D82A0"/>
            </a:solidFill>
          </a:ln>
        </p:spPr>
      </p:sp>
      <p:sp>
        <p:nvSpPr>
          <p:cNvPr id="23" name="Diagram label: Drip vertically 10 s.&#10;Do not squeeze.">
            <a:extLst xmlns:a="http://schemas.openxmlformats.org/drawingml/2006/main">
              <a:ext uri="{FF2B5EF4-FFF2-40B4-BE49-F238E27FC236}">
                <a16:creationId xmlns:a16="http://schemas.microsoft.com/office/drawing/2014/main" id="{D3769ADF-1AAF-4F68-899F-C0F0ADAE76E1}"/>
              </a:ext>
            </a:extLst>
          </p:cNvPr>
          <p:cNvSpPr>
            <a:spLocks xmlns:a="http://schemas.openxmlformats.org/drawingml/2006/main" noGrp="1"/>
          </p:cNvSpPr>
          <p:nvPr/>
        </p:nvSpPr>
        <p:spPr>
          <a:xfrm xmlns:a="http://schemas.openxmlformats.org/drawingml/2006/main">
            <a:off x="7322344" y="4720998"/>
            <a:ext cx="2032227"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Drip vertically 10 s.</a:t>
            </a:r>
          </a:p>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Do not squeeze.</a:t>
            </a:r>
          </a:p>
        </p:txBody>
      </p:sp>
      <p:sp>
        <p:nvSpPr>
          <p:cNvPr id="24" name="Diagram label: Measure dry mass&#10;before soaking.">
            <a:extLst xmlns:a="http://schemas.openxmlformats.org/drawingml/2006/main">
              <a:ext uri="{FF2B5EF4-FFF2-40B4-BE49-F238E27FC236}">
                <a16:creationId xmlns:a16="http://schemas.microsoft.com/office/drawing/2014/main" id="{6697386B-F273-42DB-8667-01F21848A471}"/>
              </a:ext>
            </a:extLst>
          </p:cNvPr>
          <p:cNvSpPr>
            <a:spLocks xmlns:a="http://schemas.openxmlformats.org/drawingml/2006/main" noGrp="1"/>
          </p:cNvSpPr>
          <p:nvPr/>
        </p:nvSpPr>
        <p:spPr>
          <a:xfrm xmlns:a="http://schemas.openxmlformats.org/drawingml/2006/main">
            <a:off x="3047660" y="4160384"/>
            <a:ext cx="1786958" cy="70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Measure dry mass</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before soaking.</a:t>
            </a:r>
          </a:p>
        </p:txBody>
      </p:sp>
      <p:sp>
        <p:nvSpPr>
          <p:cNvPr id="25" name="Diagram label: Use fresh dry samples for repeats. Then measure wet mass.">
            <a:extLst xmlns:a="http://schemas.openxmlformats.org/drawingml/2006/main">
              <a:ext uri="{FF2B5EF4-FFF2-40B4-BE49-F238E27FC236}">
                <a16:creationId xmlns:a16="http://schemas.microsoft.com/office/drawing/2014/main" id="{334CEC43-7942-46BD-B689-FEE75C826B95}"/>
              </a:ext>
            </a:extLst>
          </p:cNvPr>
          <p:cNvSpPr>
            <a:spLocks xmlns:a="http://schemas.openxmlformats.org/drawingml/2006/main" noGrp="1"/>
          </p:cNvSpPr>
          <p:nvPr/>
        </p:nvSpPr>
        <p:spPr>
          <a:xfrm xmlns:a="http://schemas.openxmlformats.org/drawingml/2006/main">
            <a:off x="3047660" y="5246574"/>
            <a:ext cx="6096680"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1">
                <a:solidFill>
                  <a:srgbClr val="1F2937"/>
                </a:solidFill>
                <a:latin typeface="Nimbus Sans"/>
                <a:ea typeface="Nimbus Sans"/>
                <a:cs typeface="Nimbus Sans"/>
              </a:defRPr>
            </a:pPr>
            <a:r>
              <a:rPr sz="1379" b="1">
                <a:solidFill>
                  <a:srgbClr val="1F2937"/>
                </a:solidFill>
                <a:latin typeface="Nimbus Sans"/>
                <a:ea typeface="Nimbus Sans"/>
                <a:cs typeface="Nimbus Sans"/>
              </a:rPr>
              <a:t>Use fresh dry samples for repeats. Then measure wet mass.</a:t>
            </a:r>
          </a:p>
        </p:txBody>
      </p:sp>
      <p:sp>
        <p:nvSpPr>
          <p:cNvPr id="26" name="Change the product; measure retained water.  Keep area, layers, ">
            <a:extLst xmlns:a="http://schemas.openxmlformats.org/drawingml/2006/main">
              <a:ext uri="{FF2B5EF4-FFF2-40B4-BE49-F238E27FC236}">
                <a16:creationId xmlns:a16="http://schemas.microsoft.com/office/drawing/2014/main" id="{682FBB3F-B832-4316-AC33-35266E586883}"/>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Change the product; measure retained water. Keep area, layers, soak time and drip time the same. Use fresh</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dry samples for three trials.</a:t>
            </a:r>
          </a:p>
        </p:txBody>
      </p:sp>
    </p:spTree>
    <p:extLst>
      <p:ext uri="{BB962C8B-B14F-4D97-AF65-F5344CB8AC3E}">
        <p14:creationId xmlns:p14="http://schemas.microsoft.com/office/powerpoint/2010/main" val="17350263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C7A8150-C735-4761-B3B6-BC10C385F80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20D79E3-5654-48D1-8CAC-53B77A7287A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9F73D4A-5B7E-4C47-BC73-B58BA64087C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470E73D2-BE73-45B3-B965-08115695BAD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58E1708D-8C69-4BA3-A3E8-8B011A84807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CC4FA2A4-8D63-4A2A-88DB-E9F4830BBE7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Rescue this unfair test plan">
            <a:extLst xmlns:a="http://schemas.openxmlformats.org/drawingml/2006/main">
              <a:ext uri="{FF2B5EF4-FFF2-40B4-BE49-F238E27FC236}">
                <a16:creationId xmlns:a16="http://schemas.microsoft.com/office/drawing/2014/main" id="{DFBF4A52-587A-49DB-8757-C92158CC346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Rescue this unfair test plan</a:t>
            </a:r>
          </a:p>
        </p:txBody>
      </p:sp>
      <p:sp>
        <p:nvSpPr>
          <p:cNvPr id="8" name="surface">
            <a:extLst xmlns:a="http://schemas.openxmlformats.org/drawingml/2006/main">
              <a:ext uri="{FF2B5EF4-FFF2-40B4-BE49-F238E27FC236}">
                <a16:creationId xmlns:a16="http://schemas.microsoft.com/office/drawing/2014/main" id="{ABBCF9A8-18C1-47BA-AFB3-5B99593D094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524141C4-4F60-459A-964A-18B359D2F90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6 / 15">
            <a:extLst xmlns:a="http://schemas.openxmlformats.org/drawingml/2006/main">
              <a:ext uri="{FF2B5EF4-FFF2-40B4-BE49-F238E27FC236}">
                <a16:creationId xmlns:a16="http://schemas.microsoft.com/office/drawing/2014/main" id="{D0CEB3DB-5189-43BE-9BB7-0461BEC1454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Large felt: soak 60 s, squeeze hard.”">
            <a:extLst xmlns:a="http://schemas.openxmlformats.org/drawingml/2006/main">
              <a:ext uri="{FF2B5EF4-FFF2-40B4-BE49-F238E27FC236}">
                <a16:creationId xmlns:a16="http://schemas.microsoft.com/office/drawing/2014/main" id="{DA4B8F3D-886B-4432-A0E1-90466C8FD155}"/>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“Large felt: soak 60 s, squeeze hard.”</a:t>
            </a:r>
          </a:p>
        </p:txBody>
      </p:sp>
      <p:sp>
        <p:nvSpPr>
          <p:cNvPr id="12" name="“Small paper: soak 10 s, weigh immediately.”">
            <a:extLst xmlns:a="http://schemas.openxmlformats.org/drawingml/2006/main">
              <a:ext uri="{FF2B5EF4-FFF2-40B4-BE49-F238E27FC236}">
                <a16:creationId xmlns:a16="http://schemas.microsoft.com/office/drawing/2014/main" id="{ED3287CB-355D-462B-9853-E9D09DF6E8A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“Small paper: soak 10 s, weigh immediately.”</a:t>
            </a:r>
          </a:p>
        </p:txBody>
      </p:sp>
      <p:sp>
        <p:nvSpPr>
          <p:cNvPr id="13" name="Use page 1 to find and repair the unfair changes.">
            <a:extLst xmlns:a="http://schemas.openxmlformats.org/drawingml/2006/main">
              <a:ext uri="{FF2B5EF4-FFF2-40B4-BE49-F238E27FC236}">
                <a16:creationId xmlns:a16="http://schemas.microsoft.com/office/drawing/2014/main" id="{A79B568D-69C3-4701-8775-10B1C4AC02F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page 1 to find and repair the unfair changes.</a:t>
            </a:r>
          </a:p>
        </p:txBody>
      </p:sp>
    </p:spTree>
    <p:extLst>
      <p:ext uri="{BB962C8B-B14F-4D97-AF65-F5344CB8AC3E}">
        <p14:creationId xmlns:p14="http://schemas.microsoft.com/office/powerpoint/2010/main" val="3544742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DCAEFDCC-A820-482E-AE34-689AFF66396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03DAEF3-88B8-4983-8BEB-0F1AF94B829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B8572D4-9118-4F06-ABBB-9B213A02A7F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E013AE8-59EF-4107-A20E-1138A8A0418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F55406A2-F3BC-4720-8287-7AB4F364619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Read a repeat, not a promise">
            <a:extLst xmlns:a="http://schemas.openxmlformats.org/drawingml/2006/main">
              <a:ext uri="{FF2B5EF4-FFF2-40B4-BE49-F238E27FC236}">
                <a16:creationId xmlns:a16="http://schemas.microsoft.com/office/drawing/2014/main" id="{46A265C1-A6E0-4A7B-8F95-5C35B4AA3EE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a repeat, not a promise</a:t>
            </a:r>
          </a:p>
        </p:txBody>
      </p:sp>
      <p:sp>
        <p:nvSpPr>
          <p:cNvPr id="7" name="surface">
            <a:extLst xmlns:a="http://schemas.openxmlformats.org/drawingml/2006/main">
              <a:ext uri="{FF2B5EF4-FFF2-40B4-BE49-F238E27FC236}">
                <a16:creationId xmlns:a16="http://schemas.microsoft.com/office/drawing/2014/main" id="{D096A4FF-EBD7-4CB8-8A0C-077F2936391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9F709066-C231-4197-A146-C89560AB6C6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7 / 15">
            <a:extLst xmlns:a="http://schemas.openxmlformats.org/drawingml/2006/main">
              <a:ext uri="{FF2B5EF4-FFF2-40B4-BE49-F238E27FC236}">
                <a16:creationId xmlns:a16="http://schemas.microsoft.com/office/drawing/2014/main" id="{314019D9-F01E-47DB-B1C8-CFA2BCFFD0E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Constructed sample data: retained water after the fixed method. ">
            <a:extLst xmlns:a="http://schemas.openxmlformats.org/drawingml/2006/main">
              <a:ext uri="{FF2B5EF4-FFF2-40B4-BE49-F238E27FC236}">
                <a16:creationId xmlns:a16="http://schemas.microsoft.com/office/drawing/2014/main" id="{A8B5F0D0-5C53-4437-9FF1-5D03A177DBE0}"/>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Constructed sample data: retained water after the fixed method. The requirement is at least 6 g on</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every trial. Which products meet it in these three trials?</a:t>
            </a:r>
          </a:p>
        </p:txBody>
      </p:sp>
      <p:graphicFrame>
        <p:nvGraphicFramePr>
          <p:cNvPr id="23" name=""/>
          <p:cNvGraphicFramePr/>
          <p:nvPr/>
        </p:nvGraphicFramePr>
        <p:xfrm>
          <a:off xmlns:a="http://schemas.openxmlformats.org/drawingml/2006/main" x="533400" y="2581275"/>
          <a:ext xmlns:a="http://schemas.openxmlformats.org/drawingml/2006/main" cx="11125200" cy="2021205"/>
        </p:xfrm>
        <a:graphic xmlns:a="http://schemas.openxmlformats.org/drawingml/2006/main">
          <a:graphicData uri="http://schemas.openxmlformats.org/drawingml/2006/table">
            <a:tbl>
              <a:tblPr firstRow="1" bandRow="0"/>
              <a:tblGrid>
                <a:gridCol w="2959146"/>
                <a:gridCol w="2722018"/>
                <a:gridCol w="2722018"/>
                <a:gridCol w="2722018"/>
              </a:tblGrid>
              <a:tr h="505301">
                <a:tc>
                  <a:txBody>
                    <a:bodyPr lIns="95250" tIns="95250" rIns="95250" bIns="95250"/>
                    <a:lstStyle/>
                    <a:p>
                      <a:pPr algn="l"/>
                      <a:r>
                        <a:rPr sz="2025" b="1">
                          <a:solidFill>
                            <a:srgbClr val="FFFFFF"/>
                          </a:solidFill>
                          <a:latin typeface="Nimbus Sans"/>
                          <a:ea typeface="Nimbus Sans"/>
                          <a:cs typeface="Nimbus Sans"/>
                        </a:rPr>
                        <a:t>Product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1 / g</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2 / g</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3 / g</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Kitchen paper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5.2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5.5</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5.3</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Cotton cloth</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7.0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6.8</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7.2</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Felt sheet</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8.0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7.8</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8.2</a:t>
                      </a:r>
                    </a:p>
                  </a:txBody>
                  <a:tcPr marL="95250" marR="95250" marT="95250" marB="95250" anchor="ctr">
                    <a:solidFill>
                      <a:srgbClr val="F4F7F9"/>
                    </a:solidFill>
                  </a:tcPr>
                </a:tc>
              </a:tr>
            </a:tbl>
          </a:graphicData>
        </a:graphic>
      </p:graphicFrame>
      <p:sp>
        <p:nvSpPr>
          <p:cNvPr id="12" name="Constructed sample results; one-layer 10 cm squares; fresh dry s">
            <a:extLst xmlns:a="http://schemas.openxmlformats.org/drawingml/2006/main">
              <a:ext uri="{FF2B5EF4-FFF2-40B4-BE49-F238E27FC236}">
                <a16:creationId xmlns:a16="http://schemas.microsoft.com/office/drawing/2014/main" id="{6D67F3CC-8751-4D3C-916A-1EE678F47479}"/>
              </a:ext>
            </a:extLst>
          </p:cNvPr>
          <p:cNvSpPr>
            <a:spLocks xmlns:a="http://schemas.openxmlformats.org/drawingml/2006/main" noGrp="1"/>
          </p:cNvSpPr>
          <p:nvPr/>
        </p:nvSpPr>
        <p:spPr>
          <a:xfrm xmlns:a="http://schemas.openxmlformats.org/drawingml/2006/main">
            <a:off x="533400" y="471678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results; one-layer 10 cm squares; fresh dry samples.</a:t>
            </a:r>
          </a:p>
        </p:txBody>
      </p:sp>
    </p:spTree>
    <p:extLst>
      <p:ext uri="{BB962C8B-B14F-4D97-AF65-F5344CB8AC3E}">
        <p14:creationId xmlns:p14="http://schemas.microsoft.com/office/powerpoint/2010/main" val="4919866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1147A602-26FF-4814-ABC2-011255587CF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3C19951-34B6-4AA7-9263-95C97EE12C9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3AE2D02-605B-49FC-A0CE-1C8947F5811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EEF759E6-DF94-4B66-8DF8-0A77036A6B2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E9D84504-025D-45D6-84F8-95F79BA5633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Best for which job?">
            <a:extLst xmlns:a="http://schemas.openxmlformats.org/drawingml/2006/main">
              <a:ext uri="{FF2B5EF4-FFF2-40B4-BE49-F238E27FC236}">
                <a16:creationId xmlns:a16="http://schemas.microsoft.com/office/drawing/2014/main" id="{7018EB3A-58AC-4E16-8A7B-134F65930C4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Best for which job?</a:t>
            </a:r>
          </a:p>
        </p:txBody>
      </p:sp>
      <p:sp>
        <p:nvSpPr>
          <p:cNvPr id="7" name="surface">
            <a:extLst xmlns:a="http://schemas.openxmlformats.org/drawingml/2006/main">
              <a:ext uri="{FF2B5EF4-FFF2-40B4-BE49-F238E27FC236}">
                <a16:creationId xmlns:a16="http://schemas.microsoft.com/office/drawing/2014/main" id="{CE96C1BA-A568-48C4-9574-33BA03E4D09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333946AA-8B40-4BD0-928E-5AD0D777C87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8 / 15">
            <a:extLst xmlns:a="http://schemas.openxmlformats.org/drawingml/2006/main">
              <a:ext uri="{FF2B5EF4-FFF2-40B4-BE49-F238E27FC236}">
                <a16:creationId xmlns:a16="http://schemas.microsoft.com/office/drawing/2014/main" id="{DBC07FCB-803C-4136-BDF2-B706D550F27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Fictional costs per square: paper 2, cotton 4, felt 6 credits.">
            <a:extLst xmlns:a="http://schemas.openxmlformats.org/drawingml/2006/main">
              <a:ext uri="{FF2B5EF4-FFF2-40B4-BE49-F238E27FC236}">
                <a16:creationId xmlns:a16="http://schemas.microsoft.com/office/drawing/2014/main" id="{DEFE629C-486D-46D9-9009-6200E616CFE6}"/>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Fictional costs per square: paper 2, cotton 4, felt 6 credits.</a:t>
            </a:r>
          </a:p>
        </p:txBody>
      </p:sp>
      <p:sp>
        <p:nvSpPr>
          <p:cNvPr id="11" name="The brief asks for the lowest cost that passes every trial.">
            <a:extLst xmlns:a="http://schemas.openxmlformats.org/drawingml/2006/main">
              <a:ext uri="{FF2B5EF4-FFF2-40B4-BE49-F238E27FC236}">
                <a16:creationId xmlns:a16="http://schemas.microsoft.com/office/drawing/2014/main" id="{95CC1DFE-F6A0-4B13-A4AE-C7278326D35E}"/>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The brief asks for the lowest cost that passes every trial.</a:t>
            </a:r>
          </a:p>
        </p:txBody>
      </p:sp>
      <p:sp>
        <p:nvSpPr>
          <p:cNvPr id="12" name="Choose and defend; then name one untested property.">
            <a:extLst xmlns:a="http://schemas.openxmlformats.org/drawingml/2006/main">
              <a:ext uri="{FF2B5EF4-FFF2-40B4-BE49-F238E27FC236}">
                <a16:creationId xmlns:a16="http://schemas.microsoft.com/office/drawing/2014/main" id="{6608050C-7919-49E1-B3F7-58D4B41F89F9}"/>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and defend; then name one untested property.</a:t>
            </a:r>
          </a:p>
        </p:txBody>
      </p:sp>
    </p:spTree>
    <p:extLst>
      <p:ext uri="{BB962C8B-B14F-4D97-AF65-F5344CB8AC3E}">
        <p14:creationId xmlns:p14="http://schemas.microsoft.com/office/powerpoint/2010/main" val="20010831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285385C7-F879-4B74-B30C-67F3BFBA294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AD58207-D5B0-413C-A625-FB711296E9E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EE08FF0-D00A-4A0F-93EF-2EC55DACC6E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C46F601-52CF-43D1-89AA-3294B9E5FC4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Hinge">
            <a:extLst xmlns:a="http://schemas.openxmlformats.org/drawingml/2006/main">
              <a:ext uri="{FF2B5EF4-FFF2-40B4-BE49-F238E27FC236}">
                <a16:creationId xmlns:a16="http://schemas.microsoft.com/office/drawing/2014/main" id="{88B03CDE-743B-43F2-BAAD-AAE4FC18395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5D6FE037-3C1F-4815-840D-7876975525E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at makes the comparison fair?">
            <a:extLst xmlns:a="http://schemas.openxmlformats.org/drawingml/2006/main">
              <a:ext uri="{FF2B5EF4-FFF2-40B4-BE49-F238E27FC236}">
                <a16:creationId xmlns:a16="http://schemas.microsoft.com/office/drawing/2014/main" id="{FFB62201-5388-49F0-8AD0-B08FA680D01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makes the comparison fair?</a:t>
            </a:r>
          </a:p>
        </p:txBody>
      </p:sp>
      <p:sp>
        <p:nvSpPr>
          <p:cNvPr id="8" name="surface">
            <a:extLst xmlns:a="http://schemas.openxmlformats.org/drawingml/2006/main">
              <a:ext uri="{FF2B5EF4-FFF2-40B4-BE49-F238E27FC236}">
                <a16:creationId xmlns:a16="http://schemas.microsoft.com/office/drawing/2014/main" id="{76D8506E-A11A-4D38-A7C4-DAE055C2390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30F91E2C-A68A-4E01-A313-1B734FA8301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9 / 15">
            <a:extLst xmlns:a="http://schemas.openxmlformats.org/drawingml/2006/main">
              <a:ext uri="{FF2B5EF4-FFF2-40B4-BE49-F238E27FC236}">
                <a16:creationId xmlns:a16="http://schemas.microsoft.com/office/drawing/2014/main" id="{7DCC280A-144D-4710-B23F-5A027A13555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Which plan can answer which product retains more water?">
            <a:extLst xmlns:a="http://schemas.openxmlformats.org/drawingml/2006/main">
              <a:ext uri="{FF2B5EF4-FFF2-40B4-BE49-F238E27FC236}">
                <a16:creationId xmlns:a16="http://schemas.microsoft.com/office/drawing/2014/main" id="{59CCD8FB-8AFB-4D0F-B57E-99B8E03E54DF}"/>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Which plan can answer which product retains more water?</a:t>
            </a:r>
          </a:p>
        </p:txBody>
      </p:sp>
      <p:sp>
        <p:nvSpPr>
          <p:cNvPr id="12" name="surface">
            <a:extLst xmlns:a="http://schemas.openxmlformats.org/drawingml/2006/main">
              <a:ext uri="{FF2B5EF4-FFF2-40B4-BE49-F238E27FC236}">
                <a16:creationId xmlns:a16="http://schemas.microsoft.com/office/drawing/2014/main" id="{2FC6D959-0BDF-4102-BFAB-DA9056464067}"/>
              </a:ext>
            </a:extLst>
          </p:cNvPr>
          <p:cNvSpPr>
            <a:spLocks xmlns:a="http://schemas.openxmlformats.org/drawingml/2006/main" noGrp="1"/>
          </p:cNvSpPr>
          <p:nvPr/>
        </p:nvSpPr>
        <p:spPr>
          <a:xfrm xmlns:a="http://schemas.openxmlformats.org/drawingml/2006/main">
            <a:off x="533400" y="2352675"/>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1C11CBCE-0EAA-4253-B501-5C2ACCFC51FA}"/>
              </a:ext>
            </a:extLst>
          </p:cNvPr>
          <p:cNvSpPr>
            <a:spLocks xmlns:a="http://schemas.openxmlformats.org/drawingml/2006/main" noGrp="1"/>
          </p:cNvSpPr>
          <p:nvPr/>
        </p:nvSpPr>
        <p:spPr>
          <a:xfrm xmlns:a="http://schemas.openxmlformats.org/drawingml/2006/main">
            <a:off x="533400" y="2352675"/>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E718B43F-0315-4B4B-8FC1-6558AF2DFBB3}"/>
              </a:ext>
            </a:extLst>
          </p:cNvPr>
          <p:cNvSpPr>
            <a:spLocks xmlns:a="http://schemas.openxmlformats.org/drawingml/2006/main" noGrp="1"/>
          </p:cNvSpPr>
          <p:nvPr/>
        </p:nvSpPr>
        <p:spPr>
          <a:xfrm xmlns:a="http://schemas.openxmlformats.org/drawingml/2006/main">
            <a:off x="733425" y="2495550"/>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Use different sizes because products differ.">
            <a:extLst xmlns:a="http://schemas.openxmlformats.org/drawingml/2006/main">
              <a:ext uri="{FF2B5EF4-FFF2-40B4-BE49-F238E27FC236}">
                <a16:creationId xmlns:a16="http://schemas.microsoft.com/office/drawing/2014/main" id="{41DA9C76-58D2-4CEA-8819-F032394313F8}"/>
              </a:ext>
            </a:extLst>
          </p:cNvPr>
          <p:cNvSpPr>
            <a:spLocks xmlns:a="http://schemas.openxmlformats.org/drawingml/2006/main" noGrp="1"/>
          </p:cNvSpPr>
          <p:nvPr/>
        </p:nvSpPr>
        <p:spPr>
          <a:xfrm xmlns:a="http://schemas.openxmlformats.org/drawingml/2006/main">
            <a:off x="1266825" y="2495550"/>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Use different sizes because products differ.</a:t>
            </a:r>
          </a:p>
        </p:txBody>
      </p:sp>
      <p:sp>
        <p:nvSpPr>
          <p:cNvPr id="16" name="surface">
            <a:extLst xmlns:a="http://schemas.openxmlformats.org/drawingml/2006/main">
              <a:ext uri="{FF2B5EF4-FFF2-40B4-BE49-F238E27FC236}">
                <a16:creationId xmlns:a16="http://schemas.microsoft.com/office/drawing/2014/main" id="{B67FE3D1-E3FA-4515-AF25-FF15880A8C47}"/>
              </a:ext>
            </a:extLst>
          </p:cNvPr>
          <p:cNvSpPr>
            <a:spLocks xmlns:a="http://schemas.openxmlformats.org/drawingml/2006/main" noGrp="1"/>
          </p:cNvSpPr>
          <p:nvPr/>
        </p:nvSpPr>
        <p:spPr>
          <a:xfrm xmlns:a="http://schemas.openxmlformats.org/drawingml/2006/main">
            <a:off x="533400" y="3359944"/>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57B16363-2950-4EF8-9382-339B29B379DA}"/>
              </a:ext>
            </a:extLst>
          </p:cNvPr>
          <p:cNvSpPr>
            <a:spLocks xmlns:a="http://schemas.openxmlformats.org/drawingml/2006/main" noGrp="1"/>
          </p:cNvSpPr>
          <p:nvPr/>
        </p:nvSpPr>
        <p:spPr>
          <a:xfrm xmlns:a="http://schemas.openxmlformats.org/drawingml/2006/main">
            <a:off x="533400" y="3359944"/>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81BC53F5-BB81-4BFC-92DF-6DDC6FA61339}"/>
              </a:ext>
            </a:extLst>
          </p:cNvPr>
          <p:cNvSpPr>
            <a:spLocks xmlns:a="http://schemas.openxmlformats.org/drawingml/2006/main" noGrp="1"/>
          </p:cNvSpPr>
          <p:nvPr/>
        </p:nvSpPr>
        <p:spPr>
          <a:xfrm xmlns:a="http://schemas.openxmlformats.org/drawingml/2006/main">
            <a:off x="733425" y="3502819"/>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Use equal-area dry samples and one fixed method.">
            <a:extLst xmlns:a="http://schemas.openxmlformats.org/drawingml/2006/main">
              <a:ext uri="{FF2B5EF4-FFF2-40B4-BE49-F238E27FC236}">
                <a16:creationId xmlns:a16="http://schemas.microsoft.com/office/drawing/2014/main" id="{F7B6B26D-4A5E-45C9-AF82-C76F185F603C}"/>
              </a:ext>
            </a:extLst>
          </p:cNvPr>
          <p:cNvSpPr>
            <a:spLocks xmlns:a="http://schemas.openxmlformats.org/drawingml/2006/main" noGrp="1"/>
          </p:cNvSpPr>
          <p:nvPr/>
        </p:nvSpPr>
        <p:spPr>
          <a:xfrm xmlns:a="http://schemas.openxmlformats.org/drawingml/2006/main">
            <a:off x="1266825" y="3502819"/>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Use equal-area dry samples and one fixed method.</a:t>
            </a:r>
          </a:p>
        </p:txBody>
      </p:sp>
      <p:sp>
        <p:nvSpPr>
          <p:cNvPr id="20" name="surface">
            <a:extLst xmlns:a="http://schemas.openxmlformats.org/drawingml/2006/main">
              <a:ext uri="{FF2B5EF4-FFF2-40B4-BE49-F238E27FC236}">
                <a16:creationId xmlns:a16="http://schemas.microsoft.com/office/drawing/2014/main" id="{5DFBC019-8FCC-448B-9BB5-8960F9CC91E1}"/>
              </a:ext>
            </a:extLst>
          </p:cNvPr>
          <p:cNvSpPr>
            <a:spLocks xmlns:a="http://schemas.openxmlformats.org/drawingml/2006/main" noGrp="1"/>
          </p:cNvSpPr>
          <p:nvPr/>
        </p:nvSpPr>
        <p:spPr>
          <a:xfrm xmlns:a="http://schemas.openxmlformats.org/drawingml/2006/main">
            <a:off x="533400" y="4367213"/>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3FE62958-648E-4E43-9134-870622EC2091}"/>
              </a:ext>
            </a:extLst>
          </p:cNvPr>
          <p:cNvSpPr>
            <a:spLocks xmlns:a="http://schemas.openxmlformats.org/drawingml/2006/main" noGrp="1"/>
          </p:cNvSpPr>
          <p:nvPr/>
        </p:nvSpPr>
        <p:spPr>
          <a:xfrm xmlns:a="http://schemas.openxmlformats.org/drawingml/2006/main">
            <a:off x="533400" y="4367213"/>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7088DEE5-A6AD-4BCD-9D41-EBE6AFAB0EE9}"/>
              </a:ext>
            </a:extLst>
          </p:cNvPr>
          <p:cNvSpPr>
            <a:spLocks xmlns:a="http://schemas.openxmlformats.org/drawingml/2006/main" noGrp="1"/>
          </p:cNvSpPr>
          <p:nvPr/>
        </p:nvSpPr>
        <p:spPr>
          <a:xfrm xmlns:a="http://schemas.openxmlformats.org/drawingml/2006/main">
            <a:off x="733425" y="4510088"/>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Reuse each wet sample for every repeat.">
            <a:extLst xmlns:a="http://schemas.openxmlformats.org/drawingml/2006/main">
              <a:ext uri="{FF2B5EF4-FFF2-40B4-BE49-F238E27FC236}">
                <a16:creationId xmlns:a16="http://schemas.microsoft.com/office/drawing/2014/main" id="{993067E7-0F5D-4E7E-8977-94E48FB433F2}"/>
              </a:ext>
            </a:extLst>
          </p:cNvPr>
          <p:cNvSpPr>
            <a:spLocks xmlns:a="http://schemas.openxmlformats.org/drawingml/2006/main" noGrp="1"/>
          </p:cNvSpPr>
          <p:nvPr/>
        </p:nvSpPr>
        <p:spPr>
          <a:xfrm xmlns:a="http://schemas.openxmlformats.org/drawingml/2006/main">
            <a:off x="1266825" y="4510088"/>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Reuse each wet sample for every repeat.</a:t>
            </a:r>
          </a:p>
        </p:txBody>
      </p:sp>
      <p:sp>
        <p:nvSpPr>
          <p:cNvPr id="24" name="surface">
            <a:extLst xmlns:a="http://schemas.openxmlformats.org/drawingml/2006/main">
              <a:ext uri="{FF2B5EF4-FFF2-40B4-BE49-F238E27FC236}">
                <a16:creationId xmlns:a16="http://schemas.microsoft.com/office/drawing/2014/main" id="{5EBC1BAA-9483-45B7-8AE8-BCC3FDDFCDFA}"/>
              </a:ext>
            </a:extLst>
          </p:cNvPr>
          <p:cNvSpPr>
            <a:spLocks xmlns:a="http://schemas.openxmlformats.org/drawingml/2006/main" noGrp="1"/>
          </p:cNvSpPr>
          <p:nvPr/>
        </p:nvSpPr>
        <p:spPr>
          <a:xfrm xmlns:a="http://schemas.openxmlformats.org/drawingml/2006/main">
            <a:off x="533400" y="5374481"/>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5" name="surface">
            <a:extLst xmlns:a="http://schemas.openxmlformats.org/drawingml/2006/main">
              <a:ext uri="{FF2B5EF4-FFF2-40B4-BE49-F238E27FC236}">
                <a16:creationId xmlns:a16="http://schemas.microsoft.com/office/drawing/2014/main" id="{B02B9078-41B2-4F02-8C2F-202BC9104B84}"/>
              </a:ext>
            </a:extLst>
          </p:cNvPr>
          <p:cNvSpPr>
            <a:spLocks xmlns:a="http://schemas.openxmlformats.org/drawingml/2006/main" noGrp="1"/>
          </p:cNvSpPr>
          <p:nvPr/>
        </p:nvSpPr>
        <p:spPr>
          <a:xfrm xmlns:a="http://schemas.openxmlformats.org/drawingml/2006/main">
            <a:off x="533400" y="5374481"/>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6" name="D">
            <a:extLst xmlns:a="http://schemas.openxmlformats.org/drawingml/2006/main">
              <a:ext uri="{FF2B5EF4-FFF2-40B4-BE49-F238E27FC236}">
                <a16:creationId xmlns:a16="http://schemas.microsoft.com/office/drawing/2014/main" id="{C692CF64-1A0F-4AE2-84A6-13BEF5C21EE7}"/>
              </a:ext>
            </a:extLst>
          </p:cNvPr>
          <p:cNvSpPr>
            <a:spLocks xmlns:a="http://schemas.openxmlformats.org/drawingml/2006/main" noGrp="1"/>
          </p:cNvSpPr>
          <p:nvPr/>
        </p:nvSpPr>
        <p:spPr>
          <a:xfrm xmlns:a="http://schemas.openxmlformats.org/drawingml/2006/main">
            <a:off x="733425" y="5517356"/>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D</a:t>
            </a:r>
          </a:p>
        </p:txBody>
      </p:sp>
      <p:sp>
        <p:nvSpPr>
          <p:cNvPr id="27" name="Squeeze only the cotton before weighing.">
            <a:extLst xmlns:a="http://schemas.openxmlformats.org/drawingml/2006/main">
              <a:ext uri="{FF2B5EF4-FFF2-40B4-BE49-F238E27FC236}">
                <a16:creationId xmlns:a16="http://schemas.microsoft.com/office/drawing/2014/main" id="{7873DD5F-3EAD-40C4-B089-F32320AB2955}"/>
              </a:ext>
            </a:extLst>
          </p:cNvPr>
          <p:cNvSpPr>
            <a:spLocks xmlns:a="http://schemas.openxmlformats.org/drawingml/2006/main" noGrp="1"/>
          </p:cNvSpPr>
          <p:nvPr/>
        </p:nvSpPr>
        <p:spPr>
          <a:xfrm xmlns:a="http://schemas.openxmlformats.org/drawingml/2006/main">
            <a:off x="1266825" y="5517356"/>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Squeeze only the cotton before weighing.</a:t>
            </a:r>
          </a:p>
        </p:txBody>
      </p:sp>
    </p:spTree>
    <p:extLst>
      <p:ext uri="{BB962C8B-B14F-4D97-AF65-F5344CB8AC3E}">
        <p14:creationId xmlns:p14="http://schemas.microsoft.com/office/powerpoint/2010/main" val="6157431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0D2BD73-B317-48DF-B9B1-467359BD274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0F29A33-CA2F-4FBC-8219-2CE3D45A1AE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E3821C7-6E18-4199-9AA6-6799F7CEDC5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DAB1E69E-8113-4780-83DB-EF677095411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E0432504-8921-4851-89B2-7923E224BD7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387ACB2E-619C-42C3-BC50-BA6DACBABBC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Write the product team’s report">
            <a:extLst xmlns:a="http://schemas.openxmlformats.org/drawingml/2006/main">
              <a:ext uri="{FF2B5EF4-FFF2-40B4-BE49-F238E27FC236}">
                <a16:creationId xmlns:a16="http://schemas.microsoft.com/office/drawing/2014/main" id="{6198ED8F-DC3C-4BB9-9815-A8ADC7F3275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the product team’s report</a:t>
            </a:r>
          </a:p>
        </p:txBody>
      </p:sp>
      <p:sp>
        <p:nvSpPr>
          <p:cNvPr id="8" name="surface">
            <a:extLst xmlns:a="http://schemas.openxmlformats.org/drawingml/2006/main">
              <a:ext uri="{FF2B5EF4-FFF2-40B4-BE49-F238E27FC236}">
                <a16:creationId xmlns:a16="http://schemas.microsoft.com/office/drawing/2014/main" id="{EB8CB2EF-D97E-475E-8A2A-467FEE24C32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ED2C1AEF-3FA3-4951-BB9F-2DDD7E9FC74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10 / 15">
            <a:extLst xmlns:a="http://schemas.openxmlformats.org/drawingml/2006/main">
              <a:ext uri="{FF2B5EF4-FFF2-40B4-BE49-F238E27FC236}">
                <a16:creationId xmlns:a16="http://schemas.microsoft.com/office/drawing/2014/main" id="{BA35F0BA-97F3-42D5-8271-CD5FEED5143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oute, with the common evidence page.">
            <a:extLst xmlns:a="http://schemas.openxmlformats.org/drawingml/2006/main">
              <a:ext uri="{FF2B5EF4-FFF2-40B4-BE49-F238E27FC236}">
                <a16:creationId xmlns:a16="http://schemas.microsoft.com/office/drawing/2014/main" id="{67D876A2-90B9-4929-B6FA-71D06B3A64FC}"/>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route, with the common evidence page.</a:t>
            </a:r>
          </a:p>
        </p:txBody>
      </p:sp>
      <p:sp>
        <p:nvSpPr>
          <p:cNvPr id="12" name="Plan the comparison and record retained water.">
            <a:extLst xmlns:a="http://schemas.openxmlformats.org/drawingml/2006/main">
              <a:ext uri="{FF2B5EF4-FFF2-40B4-BE49-F238E27FC236}">
                <a16:creationId xmlns:a16="http://schemas.microsoft.com/office/drawing/2014/main" id="{97351D18-6EB5-49BE-93D8-B128EEA9A5B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Plan the comparison and record retained water.</a:t>
            </a:r>
          </a:p>
        </p:txBody>
      </p:sp>
      <p:sp>
        <p:nvSpPr>
          <p:cNvPr id="13" name="Recommend a product using the exact brief.">
            <a:extLst xmlns:a="http://schemas.openxmlformats.org/drawingml/2006/main">
              <a:ext uri="{FF2B5EF4-FFF2-40B4-BE49-F238E27FC236}">
                <a16:creationId xmlns:a16="http://schemas.microsoft.com/office/drawing/2014/main" id="{68F0D9AA-0BCE-426E-ADB7-409FC95CCEA9}"/>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Recommend a product using the exact brief.</a:t>
            </a:r>
          </a:p>
        </p:txBody>
      </p:sp>
    </p:spTree>
    <p:extLst>
      <p:ext uri="{BB962C8B-B14F-4D97-AF65-F5344CB8AC3E}">
        <p14:creationId xmlns:p14="http://schemas.microsoft.com/office/powerpoint/2010/main" val="9066047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141B8B59-674E-42B9-8101-89B02AB6ACC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3F33AF8-8DB6-491F-B674-53CAE974A94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FDF21C7-7A78-48A4-9064-D0E5D772A70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F940585D-A5C6-46D2-B187-92DB693E011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EC2E9E29-92CD-45BA-ABE0-8D95C9B072E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Record the result you have">
            <a:extLst xmlns:a="http://schemas.openxmlformats.org/drawingml/2006/main">
              <a:ext uri="{FF2B5EF4-FFF2-40B4-BE49-F238E27FC236}">
                <a16:creationId xmlns:a16="http://schemas.microsoft.com/office/drawing/2014/main" id="{F42CD1E5-5013-43D5-B0F3-3BBCDBCDF9A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Record the result you have</a:t>
            </a:r>
          </a:p>
        </p:txBody>
      </p:sp>
      <p:sp>
        <p:nvSpPr>
          <p:cNvPr id="7" name="surface">
            <a:extLst xmlns:a="http://schemas.openxmlformats.org/drawingml/2006/main">
              <a:ext uri="{FF2B5EF4-FFF2-40B4-BE49-F238E27FC236}">
                <a16:creationId xmlns:a16="http://schemas.microsoft.com/office/drawing/2014/main" id="{8AF8C14B-FDDB-44D5-B712-7E0B3F48AEC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7E02EB9C-A022-46C6-8142-FBFAC5FF512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11 / 15">
            <a:extLst xmlns:a="http://schemas.openxmlformats.org/drawingml/2006/main">
              <a:ext uri="{FF2B5EF4-FFF2-40B4-BE49-F238E27FC236}">
                <a16:creationId xmlns:a16="http://schemas.microsoft.com/office/drawing/2014/main" id="{DB54364F-D9BD-4B5E-887B-CE1618D49FE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Retained water = wet mass − dry mass.">
            <a:extLst xmlns:a="http://schemas.openxmlformats.org/drawingml/2006/main">
              <a:ext uri="{FF2B5EF4-FFF2-40B4-BE49-F238E27FC236}">
                <a16:creationId xmlns:a16="http://schemas.microsoft.com/office/drawing/2014/main" id="{C74512F7-082D-4554-9553-A7DEB881BA4F}"/>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Retained water = wet mass − dry mass.</a:t>
            </a:r>
          </a:p>
        </p:txBody>
      </p:sp>
      <p:sp>
        <p:nvSpPr>
          <p:cNvPr id="11" name="Keep the unit g with each result.">
            <a:extLst xmlns:a="http://schemas.openxmlformats.org/drawingml/2006/main">
              <a:ext uri="{FF2B5EF4-FFF2-40B4-BE49-F238E27FC236}">
                <a16:creationId xmlns:a16="http://schemas.microsoft.com/office/drawing/2014/main" id="{45D2C3CF-276B-46E5-938E-1D3213D7E428}"/>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Keep the unit g with each result.</a:t>
            </a:r>
          </a:p>
        </p:txBody>
      </p:sp>
      <p:sp>
        <p:nvSpPr>
          <p:cNvPr id="12" name="Actual practical result? Record it honestly and separately.">
            <a:extLst xmlns:a="http://schemas.openxmlformats.org/drawingml/2006/main">
              <a:ext uri="{FF2B5EF4-FFF2-40B4-BE49-F238E27FC236}">
                <a16:creationId xmlns:a16="http://schemas.microsoft.com/office/drawing/2014/main" id="{C88DB292-528B-406A-A09A-160DD0591F8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Actual practical result? Record it honestly and separately.</a:t>
            </a:r>
          </a:p>
        </p:txBody>
      </p:sp>
    </p:spTree>
    <p:extLst>
      <p:ext uri="{BB962C8B-B14F-4D97-AF65-F5344CB8AC3E}">
        <p14:creationId xmlns:p14="http://schemas.microsoft.com/office/powerpoint/2010/main" val="7923718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AE8B429-A622-4AC5-B53E-42E39700067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335D1C8-2B9A-4BEF-857D-494120A36BE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0770B15-EF4B-460B-B8DD-4FBC057CBFE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30C9A06C-54E3-42A5-9D1C-CD602BAB2C7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21E0B241-B690-404D-8D9C-07C5EEBC50D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Keep the conclusion within the evidence">
            <a:extLst xmlns:a="http://schemas.openxmlformats.org/drawingml/2006/main">
              <a:ext uri="{FF2B5EF4-FFF2-40B4-BE49-F238E27FC236}">
                <a16:creationId xmlns:a16="http://schemas.microsoft.com/office/drawing/2014/main" id="{22FAEE6E-2330-465D-8A3E-4910098680BC}"/>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Keep the conclusion within the evidence</a:t>
            </a:r>
          </a:p>
        </p:txBody>
      </p:sp>
      <p:sp>
        <p:nvSpPr>
          <p:cNvPr id="7" name="surface">
            <a:extLst xmlns:a="http://schemas.openxmlformats.org/drawingml/2006/main">
              <a:ext uri="{FF2B5EF4-FFF2-40B4-BE49-F238E27FC236}">
                <a16:creationId xmlns:a16="http://schemas.microsoft.com/office/drawing/2014/main" id="{26D0C763-81E5-4D69-8CBA-7759C0951CC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E7407F1E-9D1C-40A2-ABF2-7237FED7FB7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12 / 15">
            <a:extLst xmlns:a="http://schemas.openxmlformats.org/drawingml/2006/main">
              <a:ext uri="{FF2B5EF4-FFF2-40B4-BE49-F238E27FC236}">
                <a16:creationId xmlns:a16="http://schemas.microsoft.com/office/drawing/2014/main" id="{47E324BC-9549-471B-AEC6-6A7DF958AC0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Does the product pass every trial?">
            <a:extLst xmlns:a="http://schemas.openxmlformats.org/drawingml/2006/main">
              <a:ext uri="{FF2B5EF4-FFF2-40B4-BE49-F238E27FC236}">
                <a16:creationId xmlns:a16="http://schemas.microsoft.com/office/drawing/2014/main" id="{04A33FCC-EA27-4144-8B92-9849D2A5DAC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the product pass every trial?</a:t>
            </a:r>
          </a:p>
        </p:txBody>
      </p:sp>
      <p:sp>
        <p:nvSpPr>
          <p:cNvPr id="11" name="Is it the cheapest product that passes?">
            <a:extLst xmlns:a="http://schemas.openxmlformats.org/drawingml/2006/main">
              <a:ext uri="{FF2B5EF4-FFF2-40B4-BE49-F238E27FC236}">
                <a16:creationId xmlns:a16="http://schemas.microsoft.com/office/drawing/2014/main" id="{2E047B51-40A9-46AA-86E2-B1BF2CE7F083}"/>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Is it the cheapest product that passes?</a:t>
            </a:r>
          </a:p>
        </p:txBody>
      </p:sp>
      <p:sp>
        <p:nvSpPr>
          <p:cNvPr id="12" name="Which feature of a real mat still needs testing?">
            <a:extLst xmlns:a="http://schemas.openxmlformats.org/drawingml/2006/main">
              <a:ext uri="{FF2B5EF4-FFF2-40B4-BE49-F238E27FC236}">
                <a16:creationId xmlns:a16="http://schemas.microsoft.com/office/drawing/2014/main" id="{8FFA2089-A2DA-4269-ACD4-F9EA09CF069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feature of a real mat still needs testing?</a:t>
            </a:r>
          </a:p>
        </p:txBody>
      </p:sp>
    </p:spTree>
    <p:extLst>
      <p:ext uri="{BB962C8B-B14F-4D97-AF65-F5344CB8AC3E}">
        <p14:creationId xmlns:p14="http://schemas.microsoft.com/office/powerpoint/2010/main" val="18086776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7064D12B-6159-4310-9CE3-6BB20ABD5F2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987E97E-E88C-4AA3-84C8-57DB0C251B3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E91E721-795A-4F7F-BDC7-2F6B131EDBB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FF3C7415-5785-485B-81E1-A00F893423E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645E13DE-DA8B-4D4E-B1C7-ADC7EC364DC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44CD8625-2C63-470E-964A-9BF3399136D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Challenge the design decision">
            <a:extLst xmlns:a="http://schemas.openxmlformats.org/drawingml/2006/main">
              <a:ext uri="{FF2B5EF4-FFF2-40B4-BE49-F238E27FC236}">
                <a16:creationId xmlns:a16="http://schemas.microsoft.com/office/drawing/2014/main" id="{F426DB4B-666F-4E3E-AA2E-9D032A3EB1B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Challenge the design decision</a:t>
            </a:r>
          </a:p>
        </p:txBody>
      </p:sp>
      <p:sp>
        <p:nvSpPr>
          <p:cNvPr id="8" name="surface">
            <a:extLst xmlns:a="http://schemas.openxmlformats.org/drawingml/2006/main">
              <a:ext uri="{FF2B5EF4-FFF2-40B4-BE49-F238E27FC236}">
                <a16:creationId xmlns:a16="http://schemas.microsoft.com/office/drawing/2014/main" id="{57170CCD-C960-410D-9672-5AF71856FEB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7882972F-6659-4A6A-A8D3-07E378814EC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13 / 15">
            <a:extLst xmlns:a="http://schemas.openxmlformats.org/drawingml/2006/main">
              <a:ext uri="{FF2B5EF4-FFF2-40B4-BE49-F238E27FC236}">
                <a16:creationId xmlns:a16="http://schemas.microsoft.com/office/drawing/2014/main" id="{27B62846-E0F8-4D89-AE1E-CEAE20B9B1A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One pupil recommends felt because it holds the most.">
            <a:extLst xmlns:a="http://schemas.openxmlformats.org/drawingml/2006/main">
              <a:ext uri="{FF2B5EF4-FFF2-40B4-BE49-F238E27FC236}">
                <a16:creationId xmlns:a16="http://schemas.microsoft.com/office/drawing/2014/main" id="{C7C26B4F-B97A-4A70-84B9-913B90963DA0}"/>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One pupil recommends felt because it holds the most.</a:t>
            </a:r>
          </a:p>
        </p:txBody>
      </p:sp>
      <p:sp>
        <p:nvSpPr>
          <p:cNvPr id="12" name="Another recommends cotton because it meets the cheaper brief.">
            <a:extLst xmlns:a="http://schemas.openxmlformats.org/drawingml/2006/main">
              <a:ext uri="{FF2B5EF4-FFF2-40B4-BE49-F238E27FC236}">
                <a16:creationId xmlns:a16="http://schemas.microsoft.com/office/drawing/2014/main" id="{8CA57740-F4DB-4212-9A3E-4DF71EFB563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Another recommends cotton because it meets the cheaper brief.</a:t>
            </a:r>
          </a:p>
        </p:txBody>
      </p:sp>
      <p:sp>
        <p:nvSpPr>
          <p:cNvPr id="13" name="Which claim answers our actual question?">
            <a:extLst xmlns:a="http://schemas.openxmlformats.org/drawingml/2006/main">
              <a:ext uri="{FF2B5EF4-FFF2-40B4-BE49-F238E27FC236}">
                <a16:creationId xmlns:a16="http://schemas.microsoft.com/office/drawing/2014/main" id="{5F1E1F3A-8F27-4ECC-ABDC-8E328C04587C}"/>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claim answers our actual question?</a:t>
            </a:r>
          </a:p>
        </p:txBody>
      </p:sp>
    </p:spTree>
    <p:extLst>
      <p:ext uri="{BB962C8B-B14F-4D97-AF65-F5344CB8AC3E}">
        <p14:creationId xmlns:p14="http://schemas.microsoft.com/office/powerpoint/2010/main" val="338256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2D68F052-A8F6-49BE-8D4B-6946A5A1497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9FC2084-EB92-4BB4-930F-355DD80AAB0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D8B994B-2E3F-4984-BF0C-23E7142E63B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C546C59B-4747-4C5D-868F-581BBDF6B99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DBF60D33-751A-487C-B2F7-924368464E7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Plan our next improvement">
            <a:extLst xmlns:a="http://schemas.openxmlformats.org/drawingml/2006/main">
              <a:ext uri="{FF2B5EF4-FFF2-40B4-BE49-F238E27FC236}">
                <a16:creationId xmlns:a16="http://schemas.microsoft.com/office/drawing/2014/main" id="{C9AB4005-51FB-4EE3-983C-81CDA72EC2E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Plan our next improvement</a:t>
            </a:r>
          </a:p>
        </p:txBody>
      </p:sp>
      <p:sp>
        <p:nvSpPr>
          <p:cNvPr id="7" name="surface">
            <a:extLst xmlns:a="http://schemas.openxmlformats.org/drawingml/2006/main">
              <a:ext uri="{FF2B5EF4-FFF2-40B4-BE49-F238E27FC236}">
                <a16:creationId xmlns:a16="http://schemas.microsoft.com/office/drawing/2014/main" id="{7FA848B6-4B7F-48C6-9808-274429BC2E9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pill-mat design lab">
            <a:extLst xmlns:a="http://schemas.openxmlformats.org/drawingml/2006/main">
              <a:ext uri="{FF2B5EF4-FFF2-40B4-BE49-F238E27FC236}">
                <a16:creationId xmlns:a16="http://schemas.microsoft.com/office/drawing/2014/main" id="{FA16F885-ABEE-41CF-A3BC-0C4298D91A1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9" name="14 / 15">
            <a:extLst xmlns:a="http://schemas.openxmlformats.org/drawingml/2006/main">
              <a:ext uri="{FF2B5EF4-FFF2-40B4-BE49-F238E27FC236}">
                <a16:creationId xmlns:a16="http://schemas.microsoft.com/office/drawing/2014/main" id="{0EB83ABF-C3EF-473B-84B5-E4E06708402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Which untested property should the team investigate?">
            <a:extLst xmlns:a="http://schemas.openxmlformats.org/drawingml/2006/main">
              <a:ext uri="{FF2B5EF4-FFF2-40B4-BE49-F238E27FC236}">
                <a16:creationId xmlns:a16="http://schemas.microsoft.com/office/drawing/2014/main" id="{3DB907AD-8718-4A97-A62E-6C9A72B01996}"/>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untested property should the team investigate?</a:t>
            </a:r>
          </a:p>
        </p:txBody>
      </p:sp>
      <p:sp>
        <p:nvSpPr>
          <p:cNvPr id="11" name="Suggest a measurable outcome and one control.">
            <a:extLst xmlns:a="http://schemas.openxmlformats.org/drawingml/2006/main">
              <a:ext uri="{FF2B5EF4-FFF2-40B4-BE49-F238E27FC236}">
                <a16:creationId xmlns:a16="http://schemas.microsoft.com/office/drawing/2014/main" id="{95926F90-B596-4495-9E91-A80239AB17B1}"/>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Suggest a measurable outcome and one control.</a:t>
            </a:r>
          </a:p>
        </p:txBody>
      </p:sp>
      <p:sp>
        <p:nvSpPr>
          <p:cNvPr id="12" name="Teacher: explain how one suggestion will shape the next test.">
            <a:extLst xmlns:a="http://schemas.openxmlformats.org/drawingml/2006/main">
              <a:ext uri="{FF2B5EF4-FFF2-40B4-BE49-F238E27FC236}">
                <a16:creationId xmlns:a16="http://schemas.microsoft.com/office/drawing/2014/main" id="{3EBDBEE3-D577-49FE-8A2B-E256E5BE60F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Teacher: explain how one suggestion will shape the next test.</a:t>
            </a:r>
          </a:p>
        </p:txBody>
      </p:sp>
    </p:spTree>
    <p:extLst>
      <p:ext uri="{BB962C8B-B14F-4D97-AF65-F5344CB8AC3E}">
        <p14:creationId xmlns:p14="http://schemas.microsoft.com/office/powerpoint/2010/main" val="20845094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6E45FE36-5A4F-4174-9C41-1BEB4CB58F0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A80AAFE-23B7-446E-97C8-D61D724BC90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57F6F91-49C9-4434-804D-C57AC9F43E9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B1823975-A71F-4360-83B7-21B4E051654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Exit">
            <a:extLst xmlns:a="http://schemas.openxmlformats.org/drawingml/2006/main">
              <a:ext uri="{FF2B5EF4-FFF2-40B4-BE49-F238E27FC236}">
                <a16:creationId xmlns:a16="http://schemas.microsoft.com/office/drawing/2014/main" id="{9DEA3DEB-800A-4C68-AA4E-F17FCAF7D9F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11DDA841-B1E6-47AD-9539-BFF486AE826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Exit: the fair-test check">
            <a:extLst xmlns:a="http://schemas.openxmlformats.org/drawingml/2006/main">
              <a:ext uri="{FF2B5EF4-FFF2-40B4-BE49-F238E27FC236}">
                <a16:creationId xmlns:a16="http://schemas.microsoft.com/office/drawing/2014/main" id="{AEE6B9DC-EE94-4F21-A49A-DB9E53F6CE4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Exit: the fair-test check</a:t>
            </a:r>
          </a:p>
        </p:txBody>
      </p:sp>
      <p:sp>
        <p:nvSpPr>
          <p:cNvPr id="8" name="surface">
            <a:extLst xmlns:a="http://schemas.openxmlformats.org/drawingml/2006/main">
              <a:ext uri="{FF2B5EF4-FFF2-40B4-BE49-F238E27FC236}">
                <a16:creationId xmlns:a16="http://schemas.microsoft.com/office/drawing/2014/main" id="{828C3341-20B2-4C80-9DBB-5ED81084819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pill-mat design lab">
            <a:extLst xmlns:a="http://schemas.openxmlformats.org/drawingml/2006/main">
              <a:ext uri="{FF2B5EF4-FFF2-40B4-BE49-F238E27FC236}">
                <a16:creationId xmlns:a16="http://schemas.microsoft.com/office/drawing/2014/main" id="{D0DA1A8E-00A3-4071-A991-D4B09EED307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spill-mat design lab</a:t>
            </a:r>
          </a:p>
        </p:txBody>
      </p:sp>
      <p:sp>
        <p:nvSpPr>
          <p:cNvPr id="10" name="15 / 15">
            <a:extLst xmlns:a="http://schemas.openxmlformats.org/drawingml/2006/main">
              <a:ext uri="{FF2B5EF4-FFF2-40B4-BE49-F238E27FC236}">
                <a16:creationId xmlns:a16="http://schemas.microsoft.com/office/drawing/2014/main" id="{DCB08AFD-729B-4388-9A6F-EC5E2EC6FA2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Name what changes and what is measured.">
            <a:extLst xmlns:a="http://schemas.openxmlformats.org/drawingml/2006/main">
              <a:ext uri="{FF2B5EF4-FFF2-40B4-BE49-F238E27FC236}">
                <a16:creationId xmlns:a16="http://schemas.microsoft.com/office/drawing/2014/main" id="{F72D0929-687E-4B66-8D69-9428033876D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Name what changes and what is measured.</a:t>
            </a:r>
          </a:p>
        </p:txBody>
      </p:sp>
      <p:sp>
        <p:nvSpPr>
          <p:cNvPr id="12" name="E2. Name two conditions that stay the same.">
            <a:extLst xmlns:a="http://schemas.openxmlformats.org/drawingml/2006/main">
              <a:ext uri="{FF2B5EF4-FFF2-40B4-BE49-F238E27FC236}">
                <a16:creationId xmlns:a16="http://schemas.microsoft.com/office/drawing/2014/main" id="{EBEE63D3-054F-4658-B1C4-54CF34879257}"/>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Name two conditions that stay the same.</a:t>
            </a:r>
          </a:p>
        </p:txBody>
      </p:sp>
      <p:sp>
        <p:nvSpPr>
          <p:cNvPr id="13" name="E3. Recommend a product using one result and the brief.">
            <a:extLst xmlns:a="http://schemas.openxmlformats.org/drawingml/2006/main">
              <a:ext uri="{FF2B5EF4-FFF2-40B4-BE49-F238E27FC236}">
                <a16:creationId xmlns:a16="http://schemas.microsoft.com/office/drawing/2014/main" id="{D380F9A0-04CD-4FC5-A870-E7D121DC4A5F}"/>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Recommend a product using one result and the brief.</a:t>
            </a:r>
          </a:p>
        </p:txBody>
      </p:sp>
    </p:spTree>
    <p:extLst>
      <p:ext uri="{BB962C8B-B14F-4D97-AF65-F5344CB8AC3E}">
        <p14:creationId xmlns:p14="http://schemas.microsoft.com/office/powerpoint/2010/main" val="604423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2026-09-08T22:38:31.5720000Z</dcterms:created>
  <dcterms:modified xsi:type="dcterms:W3CDTF">2026-09-08T22:38:31.5720000Z</dcterms:modified>
</coreProperties>
</file>