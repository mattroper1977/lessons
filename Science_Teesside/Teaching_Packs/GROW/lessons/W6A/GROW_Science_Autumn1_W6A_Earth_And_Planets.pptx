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406975772b46ef" /><Relationship Type="http://schemas.openxmlformats.org/officeDocument/2006/relationships/extended-properties" Target="/docProps/app.xml" Id="R2380fb354f714b04" /><Relationship Type="http://schemas.openxmlformats.org/officeDocument/2006/relationships/officeDocument" Target="/ppt/presentation.xml" Id="Rcae1b94430af4d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7b74fcd03e4cda"/>
  </p:sldMasterIdLst>
  <p:notesMasterIdLst>
    <p:notesMasterId xmlns:r="http://schemas.openxmlformats.org/officeDocument/2006/relationships" r:id="R3ed51725e4834561"/>
  </p:notesMasterIdLst>
  <p:sldIdLst>
    <p:sldId xmlns:r="http://schemas.openxmlformats.org/officeDocument/2006/relationships" id="256" r:id="R688fa6dff96f475f"/>
    <p:sldId xmlns:r="http://schemas.openxmlformats.org/officeDocument/2006/relationships" id="257" r:id="Rd4349b6b938f493b"/>
    <p:sldId xmlns:r="http://schemas.openxmlformats.org/officeDocument/2006/relationships" id="258" r:id="R6b7b65caf0674c41"/>
    <p:sldId xmlns:r="http://schemas.openxmlformats.org/officeDocument/2006/relationships" id="259" r:id="Rbe53129f3cce46a9"/>
    <p:sldId xmlns:r="http://schemas.openxmlformats.org/officeDocument/2006/relationships" id="260" r:id="Rab0cebac5c534020"/>
    <p:sldId xmlns:r="http://schemas.openxmlformats.org/officeDocument/2006/relationships" id="261" r:id="R91f6f4391ef2482b"/>
    <p:sldId xmlns:r="http://schemas.openxmlformats.org/officeDocument/2006/relationships" id="262" r:id="R9eefda6804eb4f45"/>
    <p:sldId xmlns:r="http://schemas.openxmlformats.org/officeDocument/2006/relationships" id="263" r:id="R710b73aa20eb42e2"/>
    <p:sldId xmlns:r="http://schemas.openxmlformats.org/officeDocument/2006/relationships" id="264" r:id="Rb8f6611bf1dd4b25"/>
    <p:sldId xmlns:r="http://schemas.openxmlformats.org/officeDocument/2006/relationships" id="265" r:id="Ra674f5ff91de4d62"/>
    <p:sldId xmlns:r="http://schemas.openxmlformats.org/officeDocument/2006/relationships" id="266" r:id="Raa3e3ca518994b03"/>
    <p:sldId xmlns:r="http://schemas.openxmlformats.org/officeDocument/2006/relationships" id="267" r:id="R43db0970ac3449ac"/>
    <p:sldId xmlns:r="http://schemas.openxmlformats.org/officeDocument/2006/relationships" id="268" r:id="R6e582a719a2342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8df2f2c27b4732" /><Relationship Type="http://schemas.openxmlformats.org/officeDocument/2006/relationships/slideMaster" Target="/ppt/slideMasters/slideMaster1.xml" Id="R777b74fcd03e4cda" /><Relationship Type="http://schemas.openxmlformats.org/officeDocument/2006/relationships/notesMaster" Target="/ppt/notesMasters/notesMaster1.xml" Id="R3ed51725e4834561" /><Relationship Type="http://schemas.openxmlformats.org/officeDocument/2006/relationships/presProps" Target="/ppt/presProps.xml" Id="Re464f78bc8aa42e7" /><Relationship Type="http://schemas.openxmlformats.org/officeDocument/2006/relationships/tableStyles" Target="/ppt/tableStyles.xml" Id="R65a58d92b55a4dc3" /><Relationship Type="http://schemas.openxmlformats.org/officeDocument/2006/relationships/slide" Target="/ppt/slides/slide1.xml" Id="R688fa6dff96f475f" /><Relationship Type="http://schemas.openxmlformats.org/officeDocument/2006/relationships/slide" Target="/ppt/slides/slide2.xml" Id="Rd4349b6b938f493b" /><Relationship Type="http://schemas.openxmlformats.org/officeDocument/2006/relationships/slide" Target="/ppt/slides/slide3.xml" Id="R6b7b65caf0674c41" /><Relationship Type="http://schemas.openxmlformats.org/officeDocument/2006/relationships/slide" Target="/ppt/slides/slide4.xml" Id="Rbe53129f3cce46a9" /><Relationship Type="http://schemas.openxmlformats.org/officeDocument/2006/relationships/slide" Target="/ppt/slides/slide5.xml" Id="Rab0cebac5c534020" /><Relationship Type="http://schemas.openxmlformats.org/officeDocument/2006/relationships/slide" Target="/ppt/slides/slide6.xml" Id="R91f6f4391ef2482b" /><Relationship Type="http://schemas.openxmlformats.org/officeDocument/2006/relationships/slide" Target="/ppt/slides/slide7.xml" Id="R9eefda6804eb4f45" /><Relationship Type="http://schemas.openxmlformats.org/officeDocument/2006/relationships/slide" Target="/ppt/slides/slide8.xml" Id="R710b73aa20eb42e2" /><Relationship Type="http://schemas.openxmlformats.org/officeDocument/2006/relationships/slide" Target="/ppt/slides/slide9.xml" Id="Rb8f6611bf1dd4b25" /><Relationship Type="http://schemas.openxmlformats.org/officeDocument/2006/relationships/slide" Target="/ppt/slides/slide10.xml" Id="Ra674f5ff91de4d62" /><Relationship Type="http://schemas.openxmlformats.org/officeDocument/2006/relationships/slide" Target="/ppt/slides/slide11.xml" Id="Raa3e3ca518994b03" /><Relationship Type="http://schemas.openxmlformats.org/officeDocument/2006/relationships/slide" Target="/ppt/slides/slide12.xml" Id="R43db0970ac3449ac" /><Relationship Type="http://schemas.openxmlformats.org/officeDocument/2006/relationships/slide" Target="/ppt/slides/slide13.xml" Id="R6e582a719a23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4ee6e0dfc0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d6f9e1144d4bf2" /><Relationship Type="http://schemas.openxmlformats.org/officeDocument/2006/relationships/notesMaster" Target="/ppt/notesMasters/notesMaster1.xml" Id="R351dab1868e2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3d00f84774b46" /><Relationship Type="http://schemas.openxmlformats.org/officeDocument/2006/relationships/notesMaster" Target="/ppt/notesMasters/notesMaster1.xml" Id="R7e21053a2c044c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87fb61a0346b8" /><Relationship Type="http://schemas.openxmlformats.org/officeDocument/2006/relationships/notesMaster" Target="/ppt/notesMasters/notesMaster1.xml" Id="R244fab350a9549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c1cf56f52d4e77" /><Relationship Type="http://schemas.openxmlformats.org/officeDocument/2006/relationships/notesMaster" Target="/ppt/notesMasters/notesMaster1.xml" Id="R84bffb624bb24d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d41d9829443ae" /><Relationship Type="http://schemas.openxmlformats.org/officeDocument/2006/relationships/notesMaster" Target="/ppt/notesMasters/notesMaster1.xml" Id="Refecdf440f3e48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6cb4cdba540ea" /><Relationship Type="http://schemas.openxmlformats.org/officeDocument/2006/relationships/notesMaster" Target="/ppt/notesMasters/notesMaster1.xml" Id="R29731423550948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9d45746e3d4ffa" /><Relationship Type="http://schemas.openxmlformats.org/officeDocument/2006/relationships/notesMaster" Target="/ppt/notesMasters/notesMaster1.xml" Id="R26707f7e79ad43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15ac089504a10" /><Relationship Type="http://schemas.openxmlformats.org/officeDocument/2006/relationships/notesMaster" Target="/ppt/notesMasters/notesMaster1.xml" Id="R2fd71be1727a4c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9bfced99f496c" /><Relationship Type="http://schemas.openxmlformats.org/officeDocument/2006/relationships/notesMaster" Target="/ppt/notesMasters/notesMaster1.xml" Id="R3b00d62f014148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d9dde67e3a4796" /><Relationship Type="http://schemas.openxmlformats.org/officeDocument/2006/relationships/notesMaster" Target="/ppt/notesMasters/notesMaster1.xml" Id="Rc1ccde17e3c34f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683a12b5e9402e" /><Relationship Type="http://schemas.openxmlformats.org/officeDocument/2006/relationships/notesMaster" Target="/ppt/notesMasters/notesMaster1.xml" Id="R57215f85bd694d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3ffbd6d506466f" /><Relationship Type="http://schemas.openxmlformats.org/officeDocument/2006/relationships/notesMaster" Target="/ppt/notesMasters/notesMaster1.xml" Id="Ra28531441f7442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2681736d474159" /><Relationship Type="http://schemas.openxmlformats.org/officeDocument/2006/relationships/notesMaster" Target="/ppt/notesMasters/notesMaster1.xml" Id="R62caea13b239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— 1 minutes within the source's 40-minute lesson.</a:t>
            </a:r>
          </a:p>
          <a:p xmlns:a="http://schemas.openxmlformats.org/drawingml/2006/main">
            <a:r>
              <a:t>Current W6 objective. Success: order eight planets; describe near-circular orbits; explain the Sun's inward gravitational pull. Assess these through pupil responses, not completion of slide viewing. This deck is Monday's 40-minute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Arrival Task — 4 minutes within the source's 40-minute lesson.</a:t>
            </a:r>
          </a:p>
          <a:p xmlns:a="http://schemas.openxmlformats.org/drawingml/2006/main">
            <a:r>
              <a:t>Offer four name cards to supported pupils, including an accessible pointing/directing route. Standard answer Mercury, Venus, Earth, Mars. Stretch continues Jupiter, Saturn, Uranus, Neptune. Keep initial answer for later correction; do not treat this as a timed memory competition.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at a Glance — 2 minutes within the source's 40-minute lesson.</a:t>
            </a:r>
          </a:p>
          <a:p xmlns:a="http://schemas.openxmlformats.org/drawingml/2006/main">
            <a:r>
              <a:t>Use current source sequence. An orbit is a curved path around another object. A year here means one planet's time for an orbit of the Sun; it is not the same number of days for every planet.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 — 3 minutes within the source's 40-minute lesson.</a:t>
            </a:r>
          </a:p>
          <a:p xmlns:a="http://schemas.openxmlformats.org/drawingml/2006/main">
            <a:r>
              <a:t>Read from the Sun outwards. Sun is a star, not one of the eight planets. Source terms: Solar System means Sun and everything orbiting it; gravity attracts objects; orbit is path; year is orbit time. Rocky planets are the inner four, while outer group contains two gas and two ice giants.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 — 3 minutes within the source's 40-minute lesson.</a:t>
            </a:r>
          </a:p>
          <a:p xmlns:a="http://schemas.openxmlformats.org/drawingml/2006/main">
            <a:r>
              <a:t>Explain the existing two-arrow model. Amber is the direction of the planet's velocity, not a force; teal is gravitational force towards the Sun. Their directions are approximately perpendicular for a near-circular orbit. Gravity changes motion continuously. Do not describe equal opposing forces or an outward gravitational push. The schematic circle represents a near-circular orbit; sizes and distances are not to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1 — 3 minutes within the source's 40-minute lesson.</a:t>
            </a:r>
          </a:p>
          <a:p xmlns:a="http://schemas.openxmlformats.org/drawingml/2006/main">
            <a:r>
              <a:t>Use desk counters rather than require public walking. Gravity arrow points Sunward; motion arrow is tangent to the path at that point. Without gravity, the straight-on tangent is the idealised prediction, not a line directly away from the Sun. Counters are moved by hand; this demonstrates an explanation, not gravity in action. Do not swing objects on strings.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 — 5 minutes within the source's 40-minute lesson.</a:t>
            </a:r>
          </a:p>
          <a:p xmlns:a="http://schemas.openxmlformats.org/drawingml/2006/main">
            <a:r>
              <a:t>Use spoken answers or two paper headings. Ask pupils to choose before revealing. Mercury and Mars rocky; Jupiter gas giant; Neptune ice giant. For the year comparison supply Earth 365 and Mars 687 Earth days. Mars takes longer because 687 is greater than 365.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1 — 5 minutes within the source's 40-minute lesson.</a:t>
            </a:r>
          </a:p>
          <a:p xmlns:a="http://schemas.openxmlformats.org/drawingml/2006/main">
            <a:r>
              <a:t>Correct one card and explain the group. Difference 687 − 365 = 322 days is optional arithmetic; required science is Mars takes longer for one orbit. Further-out Solar System planets have longer orbital periods. Do not infer the diagram gives accurate distances or speed. Repeat the inner-planet order; remaining source cards optional within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 2 — 4 minutes within the source's 40-minute lesson.</a:t>
            </a:r>
          </a:p>
          <a:p xmlns:a="http://schemas.openxmlformats.org/drawingml/2006/main">
            <a:r>
              <a:t>Source answer shape and evidence loop. Look for order, rocky/giant classification and gravity's role. An adult may keep pupil work or write an observation with independence level; photographs are optional and not assumed. Use pupil's own explanation, with pointing to arrows equivalent to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4 minutes within the source's 40-minute lesson.</a:t>
            </a:r>
          </a:p>
          <a:p xmlns:a="http://schemas.openxmlformats.org/drawingml/2006/main">
            <a:r>
              <a:t>Pupils choose TRUE/FALSE for each and prepare one reason. Expected T,F,T,F,T for the simplified Solar System context. If a pupil raises motion around the Solar System's shared centre of mass, acknowledge extension but keep required heliocentric model clear. Avoid pretending 'Sun never moves' is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3 minutes within the source's 40-minute lesson.</a:t>
            </a:r>
          </a:p>
          <a:p xmlns:a="http://schemas.openxmlformats.org/drawingml/2006/main">
            <a:r>
              <a:t>Check the five original statements in order T,F,T,F,T. Repair false claims: Earth orbits Sun; gravity acts in space and curves planetary paths. Do not add a false claim that Sun never moves. Correct one explanation after pupils have attempted the sort.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2 minutes within the source's 40-minute lesson.</a:t>
            </a:r>
          </a:p>
          <a:p xmlns:a="http://schemas.openxmlformats.org/drawingml/2006/main">
            <a:r>
              <a:t>Source WAGOLL. Neptune's approximately 60,190 Earth days ÷365 is about 165. Its longer period reflects both a larger orbital path and lower orbital speed; do not imply equal speed. Comparing numbers suffices at supported level. No additional numerical assessment beyond source intent.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 2 — 1 minutes within the source's 40-minute lesson.</a:t>
            </a:r>
          </a:p>
          <a:p xmlns:a="http://schemas.openxmlformats.org/drawingml/2006/main">
            <a:r>
              <a:t>Stop Monday here as current source directs. Do not add Tuesday 32-minute workshop or exit now. Pupil may save a dictated or adult-scribed response. Next session checks model limitations, two year comparisons at standard level, and the same source success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2d8fc8407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4c76c0d2e4223" /><Relationship Type="http://schemas.openxmlformats.org/officeDocument/2006/relationships/slideLayout" Target="/ppt/slideLayouts/slideLayout1.xml" Id="Redcf6c6289fb4f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f6c6289fb4f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49daaf3b44fa5" /><Relationship Type="http://schemas.openxmlformats.org/officeDocument/2006/relationships/notesSlide" Target="/ppt/notesSlides/notesSlide1.xml" Id="R0c581bc90ec2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6385e500b4f2c" /><Relationship Type="http://schemas.openxmlformats.org/officeDocument/2006/relationships/notesSlide" Target="/ppt/notesSlides/notesSlide2.xml" Id="R34ef69ee0a46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7adcfef144640" /><Relationship Type="http://schemas.openxmlformats.org/officeDocument/2006/relationships/notesSlide" Target="/ppt/notesSlides/notesSlide3.xml" Id="Raf495eab9dec41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1e98a63e54b93" /><Relationship Type="http://schemas.openxmlformats.org/officeDocument/2006/relationships/notesSlide" Target="/ppt/notesSlides/notesSlide4.xml" Id="R043284006971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a2a698144e19" /><Relationship Type="http://schemas.openxmlformats.org/officeDocument/2006/relationships/notesSlide" Target="/ppt/notesSlides/notesSlide5.xml" Id="R2f4df529a5d44f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bfb46e1f2491e" /><Relationship Type="http://schemas.openxmlformats.org/officeDocument/2006/relationships/notesSlide" Target="/ppt/notesSlides/notesSlide6.xml" Id="Rb7ae01c587d94e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b190d1b134c47" /><Relationship Type="http://schemas.openxmlformats.org/officeDocument/2006/relationships/notesSlide" Target="/ppt/notesSlides/notesSlide7.xml" Id="R7d888fbee89b43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00612f2247d7" /><Relationship Type="http://schemas.openxmlformats.org/officeDocument/2006/relationships/notesSlide" Target="/ppt/notesSlides/notesSlide8.xml" Id="Rc65079b0466e4e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09ec557154bbf" /><Relationship Type="http://schemas.openxmlformats.org/officeDocument/2006/relationships/notesSlide" Target="/ppt/notesSlides/notesSlide9.xml" Id="R66030ef3bf6b45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0361007ed414c" /><Relationship Type="http://schemas.openxmlformats.org/officeDocument/2006/relationships/notesSlide" Target="/ppt/notesSlides/notesSlide10.xml" Id="R18ab05f392484c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27f33da9f40ae" /><Relationship Type="http://schemas.openxmlformats.org/officeDocument/2006/relationships/notesSlide" Target="/ppt/notesSlides/notesSlide11.xml" Id="R78ed479097c44e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34565c4c14df6" /><Relationship Type="http://schemas.openxmlformats.org/officeDocument/2006/relationships/notesSlide" Target="/ppt/notesSlides/notesSlide12.xml" Id="Refdd8dfbc10c42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89730badb43f0" /><Relationship Type="http://schemas.openxmlformats.org/officeDocument/2006/relationships/notesSlide" Target="/ppt/notesSlides/notesSlide13.xml" Id="R63ba24fd93db44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3631EA76-0A5D-4069-AFF4-1AA5FCC1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8404240-4131-494B-B01C-1783EAF2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EDD208-785E-49B3-877A-32AA138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Earth and the planets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713A3AB-927A-4297-9E14-1436624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497198-9349-4D1B-B9F4-199E0D1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99FB6F6-3E6D-4EE6-AA59-FD97772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01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6FF7E0F-C343-4FEB-A187-E91381F4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685E"/>
                </a:solidFill>
              </a:defRPr>
            </a:pPr>
            <a:r>
              <a:rPr sz="3900" b="1">
                <a:solidFill>
                  <a:srgbClr val="28685E"/>
                </a:solidFill>
              </a:rPr>
              <a:t>Order. Orbit. Explain.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D52F3A7-7EFE-4FFB-85DE-0843C9E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Describe how Earth and the other planets move around the Sun.</a:t>
            </a:r>
          </a:p>
        </p:txBody>
      </p:sp>
    </p:spTree>
    <p:extLst>
      <p:ext uri="{BB962C8B-B14F-4D97-AF65-F5344CB8AC3E}">
        <p14:creationId xmlns:p14="http://schemas.microsoft.com/office/powerpoint/2010/main" val="1182200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4B5216AD-5B99-4C36-8F1B-B4959DD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FC8E3A3-7011-4EF3-9B7C-F6E82B8A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61B486-0C4D-49DF-A2B9-898D2B9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Start with the planets you know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7A14BAC-095F-43AF-8B90-9100C6A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8D5BEE-F713-4D6B-A987-23412ED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D575026-1D6D-4C50-9E01-8A9DC49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02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8863D35C-95F5-404D-B2E7-5DB034AC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Supported: order Mercury, Venus, Earth and Mars.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7CD59054-D9E0-4E0E-A47D-51FEA8A2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Standard: write the first four planets from the Sun.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1F0620F4-468A-4817-B012-006D28BC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Stretch: try all eight planets in order.</a:t>
            </a:r>
          </a:p>
        </p:txBody>
      </p:sp>
    </p:spTree>
    <p:extLst>
      <p:ext uri="{BB962C8B-B14F-4D97-AF65-F5344CB8AC3E}">
        <p14:creationId xmlns:p14="http://schemas.microsoft.com/office/powerpoint/2010/main" val="1809423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B1A61D65-34F9-46EE-AA26-9780676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E4E41BA-2DFF-48CA-8A07-0FB15E4D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B07D7C-EAA8-464E-B844-9F2D8276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Three things to work out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7DE7E75-E690-4A40-8429-4DF74047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7A7E3F4-DB91-49C8-9595-48480390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CD542BB-C3DD-4C99-9525-7DA67C49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FC9AA0A5-F4C1-465C-83E8-9BF2CD06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1   Get the order right.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549109E3-011E-4572-93A6-3FF883A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2   Model an orbit.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C4DE50BF-823C-4326-9325-F7FF1A7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3   Explain what keeps the path curving.</a:t>
            </a:r>
          </a:p>
        </p:txBody>
      </p:sp>
    </p:spTree>
    <p:extLst>
      <p:ext uri="{BB962C8B-B14F-4D97-AF65-F5344CB8AC3E}">
        <p14:creationId xmlns:p14="http://schemas.microsoft.com/office/powerpoint/2010/main" val="839535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B2650B63-CFFE-4FE6-8FF5-EF17809E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2A4682D-41A6-4772-BB9B-B6A7FD1A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917E29-2E2A-467B-A57F-72428230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Eight planets, one order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31AE7AF-81A1-4D2D-AF66-9DA4626E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6856747-E1C8-4115-BB9F-4BBC64F4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AB9BECF-5BC0-4D52-8739-737886B9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04</a:t>
            </a:r>
          </a:p>
        </p:txBody>
      </p:sp>
      <p:sp>
        <p:nvSpPr>
          <p:cNvPr id="7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67FB2333-4E61-4FD7-B8F2-080E13A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ROCKY INNER PLANETS</a:t>
            </a:r>
          </a:p>
        </p:txBody>
      </p:sp>
      <p:sp>
        <p:nvSpPr>
          <p:cNvPr id="8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34CEE3EA-497A-4A0E-8711-F8847EB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OUTER GIANTS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339A6771-005A-4492-88B7-EB99269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Mercury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Venus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Earth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Mars</a:t>
            </a:r>
          </a:p>
        </p:txBody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AB8D395A-2D7A-47EF-ADE1-FB86D341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Jupiter — gas giant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Saturn — gas giant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Uranus — ice giant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Neptune — ice giant</a:t>
            </a:r>
          </a:p>
        </p:txBody>
      </p:sp>
    </p:spTree>
    <p:extLst>
      <p:ext uri="{BB962C8B-B14F-4D97-AF65-F5344CB8AC3E}">
        <p14:creationId xmlns:p14="http://schemas.microsoft.com/office/powerpoint/2010/main" val="1464559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A905CA6B-FB45-45E3-9BD2-3BC179CA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D6BEE66-C6A6-4F34-A245-5A3C7FB7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93C510-BD0C-4EA1-BFE9-3E0AE3D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Gravity changes the direction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3685CD3-C75F-4F0D-A3A7-F9AF3F19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CA17089-42FF-4B2C-9BCE-129BBB5F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C502E7A-6051-41FE-BD92-FC34507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05</a:t>
            </a:r>
          </a:p>
        </p:txBody>
      </p:sp>
      <p:sp>
        <p:nvSpPr>
          <p:cNvPr id="7" name="diagram-shape-0">
            <a:extLst xmlns:a="http://schemas.openxmlformats.org/drawingml/2006/main">
              <a:ext uri="{FF2B5EF4-FFF2-40B4-BE49-F238E27FC236}">
                <a16:creationId xmlns:a16="http://schemas.microsoft.com/office/drawing/2014/main" id="{F2C05AC1-A2B3-4B3C-B1EC-7DECB32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76500"/>
            <a:ext cx="3162300" cy="3162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616B"/>
            </a:solidFill>
            <a:prstDash val="solid"/>
          </a:ln>
        </p:spPr>
      </p:sp>
      <p:sp>
        <p:nvSpPr>
          <p:cNvPr id="8" name="diagram-shape-1">
            <a:extLst xmlns:a="http://schemas.openxmlformats.org/drawingml/2006/main">
              <a:ext uri="{FF2B5EF4-FFF2-40B4-BE49-F238E27FC236}">
                <a16:creationId xmlns:a16="http://schemas.microsoft.com/office/drawing/2014/main" id="{73180390-8A53-4154-9296-1026C511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33825"/>
            <a:ext cx="857250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shape-2">
            <a:extLst xmlns:a="http://schemas.openxmlformats.org/drawingml/2006/main">
              <a:ext uri="{FF2B5EF4-FFF2-40B4-BE49-F238E27FC236}">
                <a16:creationId xmlns:a16="http://schemas.microsoft.com/office/drawing/2014/main" id="{A6551640-1D88-426F-A2C6-9B134254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266700" cy="904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A65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agram-shape-3">
            <a:extLst xmlns:a="http://schemas.openxmlformats.org/drawingml/2006/main">
              <a:ext uri="{FF2B5EF4-FFF2-40B4-BE49-F238E27FC236}">
                <a16:creationId xmlns:a16="http://schemas.microsoft.com/office/drawing/2014/main" id="{600DC86E-3BC0-444B-B6EC-E23FEF30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623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1" name="diagram-shape-4">
            <a:extLst xmlns:a="http://schemas.openxmlformats.org/drawingml/2006/main">
              <a:ext uri="{FF2B5EF4-FFF2-40B4-BE49-F238E27FC236}">
                <a16:creationId xmlns:a16="http://schemas.microsoft.com/office/drawing/2014/main" id="{053E22A5-D58C-4B00-BEFD-BE4B416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38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2" name="diagram-label-5">
            <a:extLst xmlns:a="http://schemas.openxmlformats.org/drawingml/2006/main">
              <a:ext uri="{FF2B5EF4-FFF2-40B4-BE49-F238E27FC236}">
                <a16:creationId xmlns:a16="http://schemas.microsoft.com/office/drawing/2014/main" id="{74414F7E-6BB8-4CB0-BBF3-6835480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41007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B3A"/>
                </a:solidFill>
              </a:defRPr>
            </a:pPr>
            <a:r>
              <a:rPr sz="1950" b="1">
                <a:solidFill>
                  <a:srgbClr val="152B3A"/>
                </a:solidFill>
              </a:rPr>
              <a:t>SUN</a:t>
            </a:r>
          </a:p>
        </p:txBody>
      </p:sp>
      <p:sp>
        <p:nvSpPr>
          <p:cNvPr id="13" name="diagram-label-6">
            <a:extLst xmlns:a="http://schemas.openxmlformats.org/drawingml/2006/main">
              <a:ext uri="{FF2B5EF4-FFF2-40B4-BE49-F238E27FC236}">
                <a16:creationId xmlns:a16="http://schemas.microsoft.com/office/drawing/2014/main" id="{A94F68CE-0777-4A3C-9CDE-4D277DB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529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B3A"/>
                </a:solidFill>
              </a:defRPr>
            </a:pPr>
            <a:r>
              <a:rPr sz="1950" b="1">
                <a:solidFill>
                  <a:srgbClr val="152B3A"/>
                </a:solidFill>
              </a:rPr>
              <a:t>Earth</a:t>
            </a:r>
          </a:p>
        </p:txBody>
      </p:sp>
      <p:sp>
        <p:nvSpPr>
          <p:cNvPr id="14" name="diagram-label-7">
            <a:extLst xmlns:a="http://schemas.openxmlformats.org/drawingml/2006/main">
              <a:ext uri="{FF2B5EF4-FFF2-40B4-BE49-F238E27FC236}">
                <a16:creationId xmlns:a16="http://schemas.microsoft.com/office/drawing/2014/main" id="{DF21CE5E-EF95-4441-B04E-7049D2A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5D25"/>
                </a:solidFill>
              </a:defRPr>
            </a:pPr>
            <a:r>
              <a:rPr sz="1800" b="1">
                <a:solidFill>
                  <a:srgbClr val="A65D25"/>
                </a:solidFill>
              </a:rPr>
              <a:t>motion</a:t>
            </a:r>
          </a:p>
        </p:txBody>
      </p:sp>
      <p:sp>
        <p:nvSpPr>
          <p:cNvPr id="15" name="diagram-label-8">
            <a:extLst xmlns:a="http://schemas.openxmlformats.org/drawingml/2006/main">
              <a:ext uri="{FF2B5EF4-FFF2-40B4-BE49-F238E27FC236}">
                <a16:creationId xmlns:a16="http://schemas.microsoft.com/office/drawing/2014/main" id="{767AF026-58D7-4356-962F-1044AA19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480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685E"/>
                </a:solidFill>
              </a:defRPr>
            </a:pPr>
            <a:r>
              <a:rPr sz="1800" b="1">
                <a:solidFill>
                  <a:srgbClr val="28685E"/>
                </a:solidFill>
              </a:rPr>
              <a:t>gravity</a:t>
            </a:r>
          </a:p>
        </p:txBody>
      </p:sp>
      <p:sp>
        <p:nvSpPr>
          <p:cNvPr id="16" name="diagram-body">
            <a:extLst xmlns:a="http://schemas.openxmlformats.org/drawingml/2006/main">
              <a:ext uri="{FF2B5EF4-FFF2-40B4-BE49-F238E27FC236}">
                <a16:creationId xmlns:a16="http://schemas.microsoft.com/office/drawing/2014/main" id="{13BA1FEA-3A4F-459E-887D-8D19F69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A"/>
                </a:solidFill>
              </a:defRPr>
            </a:pPr>
            <a:r>
              <a:rPr sz="2550" b="1">
                <a:solidFill>
                  <a:srgbClr val="152B3A"/>
                </a:solidFill>
              </a:rPr>
              <a:t>Motion is along the path. Gravity pulls towards the Sun.</a:t>
            </a:r>
          </a:p>
        </p:txBody>
      </p:sp>
      <p:sp>
        <p:nvSpPr>
          <p:cNvPr id="17" name="diagram-callout">
            <a:extLst xmlns:a="http://schemas.openxmlformats.org/drawingml/2006/main">
              <a:ext uri="{FF2B5EF4-FFF2-40B4-BE49-F238E27FC236}">
                <a16:creationId xmlns:a16="http://schemas.microsoft.com/office/drawing/2014/main" id="{3F8F0A72-81CC-4779-83F1-0DCE933D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685E"/>
                </a:solidFill>
              </a:defRPr>
            </a:pPr>
            <a:r>
              <a:rPr sz="2175" b="0">
                <a:solidFill>
                  <a:srgbClr val="28685E"/>
                </a:solidFill>
              </a:rPr>
              <a:t>Motion direction is not another force.</a:t>
            </a:r>
          </a:p>
        </p:txBody>
      </p:sp>
    </p:spTree>
    <p:extLst>
      <p:ext uri="{BB962C8B-B14F-4D97-AF65-F5344CB8AC3E}">
        <p14:creationId xmlns:p14="http://schemas.microsoft.com/office/powerpoint/2010/main" val="1506827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9B1F76B7-448F-4ABC-B692-EB82184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C2E2CD1-9F4D-4DEF-AB68-E1F7C53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6FE651-2502-47E4-9541-AFB33A4F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Move the model, then challenge it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CB8101E-4BF7-4155-9C68-B8AE5263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61606C-C222-45F8-9442-7598D95C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3D3F17C-9002-407B-B005-9FB93AE9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06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866E834C-D2CE-4066-8226-7DDD52FE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Put a Sun label on the desk and an Earth counter beside it.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31A5B094-8C0B-423C-B223-398968A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Move Earth around the Sun. At two places, reset both arrows.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39A58ACA-251D-4BE4-BAF8-03252598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If gravity vanished, trace the straight-on direction.</a:t>
            </a:r>
          </a:p>
        </p:txBody>
      </p:sp>
    </p:spTree>
    <p:extLst>
      <p:ext uri="{BB962C8B-B14F-4D97-AF65-F5344CB8AC3E}">
        <p14:creationId xmlns:p14="http://schemas.microsoft.com/office/powerpoint/2010/main" val="1050403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BFBFA50-D86D-448D-BE6D-99DA054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820B527-BCA7-41E9-9B82-D287ED12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89646D-13D1-4C8F-AD00-8B05D84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Rocky or giant?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38E590C-467F-4A7C-94DC-BFA43D65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A2E0A98-A283-446D-8BC8-A3663DD5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0E37727-C371-4FD2-9CF0-B8C5F3B2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07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B857DB08-F955-4DD7-9046-781C06B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Mercury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69636FA2-C897-4A0B-AF8E-5B51E8F4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Mars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EBBFFBD6-C25B-4A97-A6C8-B6AB2857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Jupiter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63C8BB8E-F421-4AB8-8EB7-21476806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Neptune</a:t>
            </a:r>
          </a:p>
        </p:txBody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8D040423-5D8D-4027-896C-690C315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Which has the longer year: Earth or Mars?</a:t>
            </a:r>
          </a:p>
        </p:txBody>
      </p:sp>
    </p:spTree>
    <p:extLst>
      <p:ext uri="{BB962C8B-B14F-4D97-AF65-F5344CB8AC3E}">
        <p14:creationId xmlns:p14="http://schemas.microsoft.com/office/powerpoint/2010/main" val="12084199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AA0EFE47-367D-4070-87BC-51FEFCE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5F648E8-C072-43ED-A2FF-2C77DEAE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4FA027-44A0-43CF-B375-20968AA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a reason, not just a label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5FA6207-4A68-4838-9FFA-6D418793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B4AD808-C9B3-49EE-8BBD-7B32A137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6A77FCE-D765-4C61-A49E-D3099A90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08</a:t>
            </a:r>
          </a:p>
        </p:txBody>
      </p:sp>
      <p:sp>
        <p:nvSpPr>
          <p:cNvPr id="7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DFACE77C-2C1E-4819-8F64-FBF9493C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CLASSIFICATION CHECK</a:t>
            </a:r>
          </a:p>
        </p:txBody>
      </p:sp>
      <p:sp>
        <p:nvSpPr>
          <p:cNvPr id="8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38517E99-9125-4FDC-A749-9BDD1EFB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YEAR CHECK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1C06FA85-5F08-4080-8A83-42C09121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Mercury and Mars: rocky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Jupiter: gas giant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Neptune: ice giant</a:t>
            </a:r>
          </a:p>
        </p:txBody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471E2BE0-7CCB-4B09-BC47-62535C8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Earth: 365 Earth days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Mars: 687 Earth days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Mars takes 322 more days.</a:t>
            </a:r>
          </a:p>
        </p:txBody>
      </p:sp>
    </p:spTree>
    <p:extLst>
      <p:ext uri="{BB962C8B-B14F-4D97-AF65-F5344CB8AC3E}">
        <p14:creationId xmlns:p14="http://schemas.microsoft.com/office/powerpoint/2010/main" val="631526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D13ABA50-F241-4366-A145-710CEDB2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CD51006-61AF-4663-8DAB-D2D066DB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18F8E6-C237-4A84-8760-8C905B5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Build the explanation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B02D3ED-5955-442E-93CB-E8EB04A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8C6D1D2-4C25-404E-99C4-5D06147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94FB917-1CC9-41E7-8260-CC9FB5BF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09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FE915F2F-4D1B-4C0D-8A85-4C356F1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The Sun's gravity pulls Earth inward, continually bending its moving path into an orbit.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9FACFF34-8B6A-4424-85BD-51C3740B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Name the force, then explain its effect.</a:t>
            </a:r>
          </a:p>
        </p:txBody>
      </p:sp>
    </p:spTree>
    <p:extLst>
      <p:ext uri="{BB962C8B-B14F-4D97-AF65-F5344CB8AC3E}">
        <p14:creationId xmlns:p14="http://schemas.microsoft.com/office/powerpoint/2010/main" val="622045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BABD6171-B437-4E9C-8D24-66DE423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D4A17FC-DD65-404B-B487-2A9E0E93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C9CCAE-0A24-4EE6-BD70-304EA43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Sort five statements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795FCC1-1E28-4449-86C1-610C512C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9B64E7D-CEAD-46BB-AC96-05E8CCE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40CFBB6-64EC-4F5C-A169-D9A62B1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10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C1151DA1-ACCA-4687-AF8A-BA8F34C9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Planets orbit the Sun.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E97FA354-E196-4A48-A246-0C89D9A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The Sun orbits Earth.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5C8D870C-DDCD-43A5-8A48-1CDA8F8F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Gravity keeps the planets in orbit.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CDE2FC29-AB0E-4064-8964-4E449724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There is no gravity in space.</a:t>
            </a:r>
          </a:p>
        </p:txBody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AE21344D-3BD6-4A71-94AA-89194A5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Further-out planets have longer years.</a:t>
            </a:r>
          </a:p>
        </p:txBody>
      </p:sp>
    </p:spTree>
    <p:extLst>
      <p:ext uri="{BB962C8B-B14F-4D97-AF65-F5344CB8AC3E}">
        <p14:creationId xmlns:p14="http://schemas.microsoft.com/office/powerpoint/2010/main" val="11432633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526F0627-F47C-41EA-BE6E-CFC1488E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6764440-890D-4C0A-8C56-9D16C2C8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4A0AAB-231B-42D9-AB6F-6DBC99DE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Answers to the five claims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2374D86-AEDE-4C9C-87EA-CA86D7A4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9358414-09B6-4699-A78B-A62A3874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1A3B9C9-8A7A-4789-A7B9-772CD16A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11</a:t>
            </a:r>
          </a:p>
        </p:txBody>
      </p:sp>
      <p:sp>
        <p:nvSpPr>
          <p:cNvPr id="7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70CD49BF-4F8D-4A19-9766-259D8076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8685E"/>
                </a:solidFill>
              </a:defRPr>
            </a:pPr>
            <a:r>
              <a:rPr sz="2025" b="1">
                <a:solidFill>
                  <a:srgbClr val="28685E"/>
                </a:solidFill>
              </a:rPr>
              <a:t>TRUE CLAIMS</a:t>
            </a:r>
          </a:p>
        </p:txBody>
      </p:sp>
      <p:sp>
        <p:nvSpPr>
          <p:cNvPr id="8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32DBED23-AAD5-4853-9F58-903A52B3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65D25"/>
                </a:solidFill>
              </a:defRPr>
            </a:pPr>
            <a:r>
              <a:rPr sz="2025" b="1">
                <a:solidFill>
                  <a:srgbClr val="A65D25"/>
                </a:solidFill>
              </a:rPr>
              <a:t>FALSE CLAIMS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6ACAAA59-29AD-452F-B429-4D6C8A1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Planets orbit the Sun.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Gravity keeps them in orbit.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Outer planets have longer years.</a:t>
            </a:r>
          </a:p>
        </p:txBody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9C057A58-98AA-4157-B316-2A82AB9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857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The Sun orbits Earth.</a:t>
            </a:r>
          </a:p>
          <a:p xmlns:a="http://schemas.openxmlformats.org/drawingml/2006/main">
            <a:pPr>
              <a:defRPr sz="2400" b="0">
                <a:solidFill>
                  <a:srgbClr val="152B3A"/>
                </a:solidFill>
              </a:defRPr>
            </a:pPr>
            <a:r>
              <a:rPr sz="2400" b="0">
                <a:solidFill>
                  <a:srgbClr val="152B3A"/>
                </a:solidFill>
              </a:rPr>
              <a:t>There is no gravity in space.</a:t>
            </a:r>
          </a:p>
        </p:txBody>
      </p:sp>
    </p:spTree>
    <p:extLst>
      <p:ext uri="{BB962C8B-B14F-4D97-AF65-F5344CB8AC3E}">
        <p14:creationId xmlns:p14="http://schemas.microsoft.com/office/powerpoint/2010/main" val="1402509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A4C40700-869A-47D2-9D6B-162415BB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EDFBE77-B62E-4396-8DF4-802EAA4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04DDB3-5980-473B-8D20-BDCE8C8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Use time as evidence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49CE6C4-C1F5-4DE8-B3CB-7D0632C1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85D3E56-8104-47C9-B12E-6D0BB06B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5B7CAB5-5F79-4B27-A2BE-C4CF24AA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12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C93675A4-0856-4DC8-8BF8-C39DA7E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Neptune's year is much longer than Earth's: about 165 Earth years for one orbit.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F34E2004-752A-464C-9CB7-ECD7A627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A year means one orbit, not always 365 days.</a:t>
            </a:r>
          </a:p>
        </p:txBody>
      </p:sp>
    </p:spTree>
    <p:extLst>
      <p:ext uri="{BB962C8B-B14F-4D97-AF65-F5344CB8AC3E}">
        <p14:creationId xmlns:p14="http://schemas.microsoft.com/office/powerpoint/2010/main" val="12239272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D39F5C7D-7134-4568-BB27-9E33CE1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3A52E53-DCD8-4272-A5EE-A516618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AC1B6B-EDF2-4D52-802B-6F0CD7DE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Keep your orbit explanation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D242DEF-842D-485B-86F4-BD24A6FA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50FDF89-C8EE-43F3-A5D4-E3CA4A5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A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0851727-18E6-4630-8A08-04AB6515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7B66C28B-6BF4-4A66-808F-3809BBA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Label and keep today's order strip and explanation.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DE8FA50E-2879-4FC1-ABF2-9A2242B5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Next lesson: build the model and test year comparisons.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CB7B366F-D8D9-40FB-B16D-FD91BE2A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Choose one arrow or idea to check again.</a:t>
            </a:r>
          </a:p>
        </p:txBody>
      </p:sp>
    </p:spTree>
    <p:extLst>
      <p:ext uri="{BB962C8B-B14F-4D97-AF65-F5344CB8AC3E}">
        <p14:creationId xmlns:p14="http://schemas.microsoft.com/office/powerpoint/2010/main" val="1174250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2026-09-06T12:13:50.5860000Z</dcterms:created>
  <dcterms:modified xsi:type="dcterms:W3CDTF">2026-09-06T12:13:50.5860000Z</dcterms:modified>
</coreProperties>
</file>