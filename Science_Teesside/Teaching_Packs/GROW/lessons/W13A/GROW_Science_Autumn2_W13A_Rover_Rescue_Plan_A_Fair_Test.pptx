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7b1f95a68a445f" /><Relationship Type="http://schemas.openxmlformats.org/officeDocument/2006/relationships/extended-properties" Target="/docProps/app.xml" Id="R8c69d7dfa9534996" /><Relationship Type="http://schemas.openxmlformats.org/officeDocument/2006/relationships/officeDocument" Target="/ppt/presentation.xml" Id="R40d44c4c3c1146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6a743095374b91"/>
  </p:sldMasterIdLst>
  <p:notesMasterIdLst>
    <p:notesMasterId xmlns:r="http://schemas.openxmlformats.org/officeDocument/2006/relationships" r:id="Reab447daf1c04a72"/>
  </p:notesMasterIdLst>
  <p:sldIdLst>
    <p:sldId xmlns:r="http://schemas.openxmlformats.org/officeDocument/2006/relationships" id="256" r:id="Rc14a9b74ecdf418e"/>
    <p:sldId xmlns:r="http://schemas.openxmlformats.org/officeDocument/2006/relationships" id="257" r:id="Rdbf00b8f19ad4a8b"/>
    <p:sldId xmlns:r="http://schemas.openxmlformats.org/officeDocument/2006/relationships" id="258" r:id="R59047b33426c4eac"/>
    <p:sldId xmlns:r="http://schemas.openxmlformats.org/officeDocument/2006/relationships" id="259" r:id="R8d188ca2f29645b5"/>
    <p:sldId xmlns:r="http://schemas.openxmlformats.org/officeDocument/2006/relationships" id="260" r:id="Rb34d18544eac4419"/>
    <p:sldId xmlns:r="http://schemas.openxmlformats.org/officeDocument/2006/relationships" id="261" r:id="Rec1dc2c553504659"/>
    <p:sldId xmlns:r="http://schemas.openxmlformats.org/officeDocument/2006/relationships" id="262" r:id="Re2173971a70441bf"/>
    <p:sldId xmlns:r="http://schemas.openxmlformats.org/officeDocument/2006/relationships" id="263" r:id="R30b36bb00ccb4dca"/>
    <p:sldId xmlns:r="http://schemas.openxmlformats.org/officeDocument/2006/relationships" id="264" r:id="R54def1681df1446b"/>
    <p:sldId xmlns:r="http://schemas.openxmlformats.org/officeDocument/2006/relationships" id="265" r:id="R0ee3823b3a824dd5"/>
    <p:sldId xmlns:r="http://schemas.openxmlformats.org/officeDocument/2006/relationships" id="266" r:id="R7d4e766e97b94a30"/>
    <p:sldId xmlns:r="http://schemas.openxmlformats.org/officeDocument/2006/relationships" id="267" r:id="Rdc08f751d8b6424a"/>
    <p:sldId xmlns:r="http://schemas.openxmlformats.org/officeDocument/2006/relationships" id="268" r:id="R18de666686b740ae"/>
    <p:sldId xmlns:r="http://schemas.openxmlformats.org/officeDocument/2006/relationships" id="269" r:id="R0965e59fc082489b"/>
    <p:sldId xmlns:r="http://schemas.openxmlformats.org/officeDocument/2006/relationships" id="270" r:id="Rafa07c2926e84523"/>
    <p:sldId xmlns:r="http://schemas.openxmlformats.org/officeDocument/2006/relationships" id="271" r:id="Re2573b72de404b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590d0577274f58" /><Relationship Type="http://schemas.openxmlformats.org/officeDocument/2006/relationships/slideMaster" Target="/ppt/slideMasters/slideMaster1.xml" Id="R556a743095374b91" /><Relationship Type="http://schemas.openxmlformats.org/officeDocument/2006/relationships/notesMaster" Target="/ppt/notesMasters/notesMaster1.xml" Id="Reab447daf1c04a72" /><Relationship Type="http://schemas.openxmlformats.org/officeDocument/2006/relationships/presProps" Target="/ppt/presProps.xml" Id="Rf06511ce4a56477c" /><Relationship Type="http://schemas.openxmlformats.org/officeDocument/2006/relationships/tableStyles" Target="/ppt/tableStyles.xml" Id="R753340c0d2e447e4" /><Relationship Type="http://schemas.openxmlformats.org/officeDocument/2006/relationships/slide" Target="/ppt/slides/slide1.xml" Id="Rc14a9b74ecdf418e" /><Relationship Type="http://schemas.openxmlformats.org/officeDocument/2006/relationships/slide" Target="/ppt/slides/slide2.xml" Id="Rdbf00b8f19ad4a8b" /><Relationship Type="http://schemas.openxmlformats.org/officeDocument/2006/relationships/slide" Target="/ppt/slides/slide3.xml" Id="R59047b33426c4eac" /><Relationship Type="http://schemas.openxmlformats.org/officeDocument/2006/relationships/slide" Target="/ppt/slides/slide4.xml" Id="R8d188ca2f29645b5" /><Relationship Type="http://schemas.openxmlformats.org/officeDocument/2006/relationships/slide" Target="/ppt/slides/slide5.xml" Id="Rb34d18544eac4419" /><Relationship Type="http://schemas.openxmlformats.org/officeDocument/2006/relationships/slide" Target="/ppt/slides/slide6.xml" Id="Rec1dc2c553504659" /><Relationship Type="http://schemas.openxmlformats.org/officeDocument/2006/relationships/slide" Target="/ppt/slides/slide7.xml" Id="Re2173971a70441bf" /><Relationship Type="http://schemas.openxmlformats.org/officeDocument/2006/relationships/slide" Target="/ppt/slides/slide8.xml" Id="R30b36bb00ccb4dca" /><Relationship Type="http://schemas.openxmlformats.org/officeDocument/2006/relationships/slide" Target="/ppt/slides/slide9.xml" Id="R54def1681df1446b" /><Relationship Type="http://schemas.openxmlformats.org/officeDocument/2006/relationships/slide" Target="/ppt/slides/slide10.xml" Id="R0ee3823b3a824dd5" /><Relationship Type="http://schemas.openxmlformats.org/officeDocument/2006/relationships/slide" Target="/ppt/slides/slide11.xml" Id="R7d4e766e97b94a30" /><Relationship Type="http://schemas.openxmlformats.org/officeDocument/2006/relationships/slide" Target="/ppt/slides/slide12.xml" Id="Rdc08f751d8b6424a" /><Relationship Type="http://schemas.openxmlformats.org/officeDocument/2006/relationships/slide" Target="/ppt/slides/slide13.xml" Id="R18de666686b740ae" /><Relationship Type="http://schemas.openxmlformats.org/officeDocument/2006/relationships/slide" Target="/ppt/slides/slide14.xml" Id="R0965e59fc082489b" /><Relationship Type="http://schemas.openxmlformats.org/officeDocument/2006/relationships/slide" Target="/ppt/slides/slide15.xml" Id="Rafa07c2926e84523" /><Relationship Type="http://schemas.openxmlformats.org/officeDocument/2006/relationships/slide" Target="/ppt/slides/slide16.xml" Id="Re2573b72de404b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7316d3fbd545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1ac8e809fd4733" /><Relationship Type="http://schemas.openxmlformats.org/officeDocument/2006/relationships/notesMaster" Target="/ppt/notesMasters/notesMaster1.xml" Id="R34ae8611ca7144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fa7a25b75245f9" /><Relationship Type="http://schemas.openxmlformats.org/officeDocument/2006/relationships/notesMaster" Target="/ppt/notesMasters/notesMaster1.xml" Id="R35b6c374796740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2ffb84773940e1" /><Relationship Type="http://schemas.openxmlformats.org/officeDocument/2006/relationships/notesMaster" Target="/ppt/notesMasters/notesMaster1.xml" Id="R78f3285763d747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aa37772c584879" /><Relationship Type="http://schemas.openxmlformats.org/officeDocument/2006/relationships/notesMaster" Target="/ppt/notesMasters/notesMaster1.xml" Id="R4fab8965a55a45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d1d31449334620" /><Relationship Type="http://schemas.openxmlformats.org/officeDocument/2006/relationships/notesMaster" Target="/ppt/notesMasters/notesMaster1.xml" Id="R49087ab5de064f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05e8a2f31c496f" /><Relationship Type="http://schemas.openxmlformats.org/officeDocument/2006/relationships/notesMaster" Target="/ppt/notesMasters/notesMaster1.xml" Id="Ra863ad2f3ed547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cc5ec416ab452d" /><Relationship Type="http://schemas.openxmlformats.org/officeDocument/2006/relationships/notesMaster" Target="/ppt/notesMasters/notesMaster1.xml" Id="R2f19856dd8394c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58ca16a7b747a0" /><Relationship Type="http://schemas.openxmlformats.org/officeDocument/2006/relationships/notesMaster" Target="/ppt/notesMasters/notesMaster1.xml" Id="Reaa2e255b7d946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29c2fb77f84c3b" /><Relationship Type="http://schemas.openxmlformats.org/officeDocument/2006/relationships/notesMaster" Target="/ppt/notesMasters/notesMaster1.xml" Id="R3db9c59063cf4e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89e62c94064895" /><Relationship Type="http://schemas.openxmlformats.org/officeDocument/2006/relationships/notesMaster" Target="/ppt/notesMasters/notesMaster1.xml" Id="Rbebc5e6c21e644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f66c5cdc3f4e34" /><Relationship Type="http://schemas.openxmlformats.org/officeDocument/2006/relationships/notesMaster" Target="/ppt/notesMasters/notesMaster1.xml" Id="R4d62cc7e45604d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9501d7d6de40d5" /><Relationship Type="http://schemas.openxmlformats.org/officeDocument/2006/relationships/notesMaster" Target="/ppt/notesMasters/notesMaster1.xml" Id="Rad452bcc12aa4c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511b44968f4b89" /><Relationship Type="http://schemas.openxmlformats.org/officeDocument/2006/relationships/notesMaster" Target="/ppt/notesMasters/notesMaster1.xml" Id="Rd129b5d238fb48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586146e9cc34f38" /><Relationship Type="http://schemas.openxmlformats.org/officeDocument/2006/relationships/notesMaster" Target="/ppt/notesMasters/notesMaster1.xml" Id="R0f39bddca1ab4d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494fcb49284cf9" /><Relationship Type="http://schemas.openxmlformats.org/officeDocument/2006/relationships/notesMaster" Target="/ppt/notesMasters/notesMaster1.xml" Id="R01b6f17c9599460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a8e305d25544bbf" /><Relationship Type="http://schemas.openxmlformats.org/officeDocument/2006/relationships/notesMaster" Target="/ppt/notesMasters/notesMaster1.xml" Id="R08d19ef4a3f443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SCI_G_W13A_Rover_Rescue_Plan_Explore.html.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classroom rover, surfaces and short ramp simplify a real planetary rover. The model can compare friction here, not copy every real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 · Science · Week 13A · Explore</a:t>
            </a:r>
          </a:p>
          <a:p xmlns:a="http://schemas.openxmlformats.org/drawingml/2006/main">
            <a:r>
              <a:t>Learning objective: I can plan a fair investigation of how surface type affects a rover's travel distance.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name surface type as the independent variable and compare smooth with fabric.</a:t>
            </a:r>
          </a:p>
          <a:p xmlns:a="http://schemas.openxmlformats.org/drawingml/2006/main">
            <a:r>
              <a:t>I can measure travel distance and keep other variables controlled.</a:t>
            </a:r>
          </a:p>
          <a:p xmlns:a="http://schemas.openxmlformats.org/drawingml/2006/main">
            <a:r>
              <a:t>I can plan three repeats for each condition and state a safe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SCI_G_W13A_Rover_Rescue_Plan_Explore.html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SCI_G_W13A_Rover_Rescue_Plan_Explore.html.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classroom rover, surfaces and short ramp simplify a real planetary rover. The model can compare friction here, not copy every real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 · Science · Week 13A · Explore</a:t>
            </a:r>
          </a:p>
          <a:p xmlns:a="http://schemas.openxmlformats.org/drawingml/2006/main">
            <a:r>
              <a:t>Learning objective: I can plan a fair investigation of how surface type affects a rover's travel distance.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name surface type as the independent variable and compare smooth with fabric.</a:t>
            </a:r>
          </a:p>
          <a:p xmlns:a="http://schemas.openxmlformats.org/drawingml/2006/main">
            <a:r>
              <a:t>I can measure travel distance and keep other variables controlled.</a:t>
            </a:r>
          </a:p>
          <a:p xmlns:a="http://schemas.openxmlformats.org/drawingml/2006/main">
            <a:r>
              <a:t>I can plan three repeats for each condition and state a safe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SCI_G_W13A_Rover_Rescue_Plan_Explore.html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SCI_G_W13A_Rover_Rescue_Plan_Explore.html. Arrival: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classroom rover, surfaces and short ramp simplify a real planetary rover. The model can compare friction here, not copy every real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W12: a conclusion needs relevant repeated evidence.</a:t>
            </a:r>
          </a:p>
          <a:p xmlns:a="http://schemas.openxmlformats.org/drawingml/2006/main">
            <a:r>
              <a:t>W11: decide the measure before claiming success.</a:t>
            </a:r>
          </a:p>
          <a:p xmlns:a="http://schemas.openxmlformats.org/drawingml/2006/main">
            <a:r>
              <a:t>W5: a fair test changes one variable at a time.</a:t>
            </a:r>
          </a:p>
          <a:p xmlns:a="http://schemas.openxmlformats.org/drawingml/2006/main">
            <a:r>
              <a:t>W4: mechanisms and friction change how objects move.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Name the independent variable in a surface test.</a:t>
            </a:r>
          </a:p>
          <a:p xmlns:a="http://schemas.openxmlformats.org/drawingml/2006/main">
            <a:r>
              <a:t>Name the dependent variable and its unit.</a:t>
            </a:r>
          </a:p>
          <a:p xmlns:a="http://schemas.openxmlformats.org/drawingml/2006/main">
            <a:r>
              <a:t>List two variables to control.</a:t>
            </a:r>
          </a:p>
          <a:p xmlns:a="http://schemas.openxmlformats.org/drawingml/2006/main">
            <a:r>
              <a:t>Explain why each condition needs repeats.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SCI_G_W13A_Rover_Rescue_Plan_Explore.html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SCI_G_W13A_Rover_Rescue_Plan_Explore.html.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classroom rover, surfaces and short ramp simplify a real planetary rover. The model can compare friction here, not copy every real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CHANGE · one independent variable</a:t>
            </a:r>
          </a:p>
          <a:p xmlns:a="http://schemas.openxmlformats.org/drawingml/2006/main">
            <a:r>
              <a:t>Only the surface changes.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MEASURE · distance in centimetres</a:t>
            </a:r>
          </a:p>
          <a:p xmlns:a="http://schemas.openxmlformats.org/drawingml/2006/main">
            <a:r>
              <a:t>Same line, same end of the rover, same unit.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KEEP · controls and repeat</a:t>
            </a:r>
          </a:p>
          <a:p xmlns:a="http://schemas.openxmlformats.org/drawingml/2006/main">
            <a:r>
              <a:t>Three repeats per surface. A six-row table before you start.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Change surface only; keep ramp and release the same</a:t>
            </a:r>
          </a:p>
          <a:p xmlns:a="http://schemas.openxmlformats.org/drawingml/2006/main">
            <a:r>
              <a:t>Change surface and ramp height together</a:t>
            </a:r>
          </a:p>
          <a:p xmlns:a="http://schemas.openxmlformats.org/drawingml/2006/main">
            <a:r>
              <a:t>Push the rover differently each 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SCI_G_W13A_Rover_Rescue_Plan_Explore.html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SCI_G_W13A_Rover_Rescue_Plan_Explore.html.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classroom rover, surfaces and short ramp simplify a real planetary rover. The model can compare friction here, not copy every real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CHANGE · one independent variable</a:t>
            </a:r>
          </a:p>
          <a:p xmlns:a="http://schemas.openxmlformats.org/drawingml/2006/main">
            <a:r>
              <a:t>Only the surface changes.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MEASURE · distance in centimetres</a:t>
            </a:r>
          </a:p>
          <a:p xmlns:a="http://schemas.openxmlformats.org/drawingml/2006/main">
            <a:r>
              <a:t>Same line, same end of the rover, same unit.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KEEP · controls and repeat</a:t>
            </a:r>
          </a:p>
          <a:p xmlns:a="http://schemas.openxmlformats.org/drawingml/2006/main">
            <a:r>
              <a:t>Three repeats per surface. A six-row table before you start.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Change surface only; keep ramp and release the same</a:t>
            </a:r>
          </a:p>
          <a:p xmlns:a="http://schemas.openxmlformats.org/drawingml/2006/main">
            <a:r>
              <a:t>Change surface and ramp height together</a:t>
            </a:r>
          </a:p>
          <a:p xmlns:a="http://schemas.openxmlformats.org/drawingml/2006/main">
            <a:r>
              <a:t>Push the rover differently each 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SCI_G_W13A_Rover_Rescue_Plan_Explore.html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SCI_G_W13A_Rover_Rescue_Plan_Explore.html.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classroom rover, surfaces and short ramp simplify a real planetary rover. The model can compare friction here, not copy every real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CHANGE · one independent variable</a:t>
            </a:r>
          </a:p>
          <a:p xmlns:a="http://schemas.openxmlformats.org/drawingml/2006/main">
            <a:r>
              <a:t>Only the surface changes.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MEASURE · distance in centimetres</a:t>
            </a:r>
          </a:p>
          <a:p xmlns:a="http://schemas.openxmlformats.org/drawingml/2006/main">
            <a:r>
              <a:t>Same line, same end of the rover, same unit.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KEEP · controls and repeat</a:t>
            </a:r>
          </a:p>
          <a:p xmlns:a="http://schemas.openxmlformats.org/drawingml/2006/main">
            <a:r>
              <a:t>Three repeats per surface. A six-row table before you start.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Change surface only; keep ramp and release the same</a:t>
            </a:r>
          </a:p>
          <a:p xmlns:a="http://schemas.openxmlformats.org/drawingml/2006/main">
            <a:r>
              <a:t>Change surface and ramp height together</a:t>
            </a:r>
          </a:p>
          <a:p xmlns:a="http://schemas.openxmlformats.org/drawingml/2006/main">
            <a:r>
              <a:t>Push the rover differently each 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SCI_G_W13A_Rover_Rescue_Plan_Explore.html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SCI_G_W13A_Rover_Rescue_Plan_Explore.html.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classroom rover, surfaces and short ramp simplify a real planetary rover. The model can compare friction here, not copy every real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VARIABLE what I change the one factor deliberately changed in a fair test</a:t>
            </a:r>
          </a:p>
          <a:p xmlns:a="http://schemas.openxmlformats.org/drawingml/2006/main">
            <a:r>
              <a:t>DEPENDENT VARIABLE what I measure the result measured after the change</a:t>
            </a:r>
          </a:p>
          <a:p xmlns:a="http://schemas.openxmlformats.org/drawingml/2006/main">
            <a:r>
              <a:t>CONTROL VARIABLE what I keep the same a factor kept the same so the comparison is fair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change–measure–keep board makes variable roles visible before equipment is touched.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classroom rover, surfaces and short ramp simplify a real planetary rover. The model can compare friction here, not copy every real condition.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Choose one question: How does surface type affect rover travel distance? Conditions: smooth and fabric.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Measure the distance from the same finish line to the rover's front in centimetres.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Keep the rover, low ramp height, start point and no-push release the same; plan three repeats per condition.</a:t>
            </a:r>
          </a:p>
          <a:p xmlns:a="http://schemas.openxmlformats.org/drawingml/2006/main">
            <a:r>
              <a:t>Rover plan · CHANGE, MEASURE, KEEP</a:t>
            </a:r>
          </a:p>
          <a:p xmlns:a="http://schemas.openxmlformats.org/drawingml/2006/main">
            <a:r>
              <a:t>ramp height</a:t>
            </a:r>
          </a:p>
          <a:p xmlns:a="http://schemas.openxmlformats.org/drawingml/2006/main">
            <a:r>
              <a:t>surface type</a:t>
            </a:r>
          </a:p>
          <a:p xmlns:a="http://schemas.openxmlformats.org/drawingml/2006/main">
            <a:r>
              <a:t>distance travelled (cm)</a:t>
            </a:r>
          </a:p>
          <a:p xmlns:a="http://schemas.openxmlformats.org/drawingml/2006/main">
            <a:r>
              <a:t>the rover used</a:t>
            </a:r>
          </a:p>
          <a:p xmlns:a="http://schemas.openxmlformats.org/drawingml/2006/main">
            <a:r>
              <a:t>release without a push</a:t>
            </a:r>
          </a:p>
          <a:p xmlns:a="http://schemas.openxmlformats.org/drawingml/2006/main">
            <a:r>
              <a:t>number of repeats (3 each)</a:t>
            </a:r>
          </a:p>
          <a:p xmlns:a="http://schemas.openxmlformats.org/drawingml/2006/main">
            <a:r>
              <a:t>1⃣ CHANGE</a:t>
            </a:r>
          </a:p>
          <a:p xmlns:a="http://schemas.openxmlformats.org/drawingml/2006/main">
            <a:r>
              <a:t>MEASURE</a:t>
            </a:r>
          </a:p>
          <a:p xmlns:a="http://schemas.openxmlformats.org/drawingml/2006/main">
            <a:r>
              <a:t>KEEP</a:t>
            </a:r>
          </a:p>
          <a:p xmlns:a="http://schemas.openxmlformats.org/drawingml/2006/main">
            <a:r>
              <a:t>Press a card.</a:t>
            </a:r>
          </a:p>
          <a:p xmlns:a="http://schemas.openxmlformats.org/drawingml/2006/main">
            <a:r>
              <a:t>CHANGE: — · MEASURE: — · KEEP: —</a:t>
            </a:r>
          </a:p>
          <a:p xmlns:a="http://schemas.openxmlformats.org/drawingml/2006/main">
            <a:r>
              <a:t>Build the six-row table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SCI_G_W13A_Rover_Rescue_Plan_Explore.html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SCI_G_W13A_Rover_Rescue_Plan_Explore.html.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classroom rover, surfaces and short ramp simplify a real planetary rover. The model can compare friction here, not copy every real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VARIABLE what I change the one factor deliberately changed in a fair test</a:t>
            </a:r>
          </a:p>
          <a:p xmlns:a="http://schemas.openxmlformats.org/drawingml/2006/main">
            <a:r>
              <a:t>DEPENDENT VARIABLE what I measure the result measured after the change</a:t>
            </a:r>
          </a:p>
          <a:p xmlns:a="http://schemas.openxmlformats.org/drawingml/2006/main">
            <a:r>
              <a:t>CONTROL VARIABLE what I keep the same a factor kept the same so the comparison is fair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change–measure–keep board makes variable roles visible before equipment is touched.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classroom rover, surfaces and short ramp simplify a real planetary rover. The model can compare friction here, not copy every real condition.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Choose one question: How does surface type affect rover travel distance? Conditions: smooth and fabric.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Measure the distance from the same finish line to the rover's front in centimetres.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Keep the rover, low ramp height, start point and no-push release the same; plan three repeats per condition.</a:t>
            </a:r>
          </a:p>
          <a:p xmlns:a="http://schemas.openxmlformats.org/drawingml/2006/main">
            <a:r>
              <a:t>Rover plan · CHANGE, MEASURE, KEEP</a:t>
            </a:r>
          </a:p>
          <a:p xmlns:a="http://schemas.openxmlformats.org/drawingml/2006/main">
            <a:r>
              <a:t>ramp height</a:t>
            </a:r>
          </a:p>
          <a:p xmlns:a="http://schemas.openxmlformats.org/drawingml/2006/main">
            <a:r>
              <a:t>surface type</a:t>
            </a:r>
          </a:p>
          <a:p xmlns:a="http://schemas.openxmlformats.org/drawingml/2006/main">
            <a:r>
              <a:t>distance travelled (cm)</a:t>
            </a:r>
          </a:p>
          <a:p xmlns:a="http://schemas.openxmlformats.org/drawingml/2006/main">
            <a:r>
              <a:t>the rover used</a:t>
            </a:r>
          </a:p>
          <a:p xmlns:a="http://schemas.openxmlformats.org/drawingml/2006/main">
            <a:r>
              <a:t>release without a push</a:t>
            </a:r>
          </a:p>
          <a:p xmlns:a="http://schemas.openxmlformats.org/drawingml/2006/main">
            <a:r>
              <a:t>number of repeats (3 each)</a:t>
            </a:r>
          </a:p>
          <a:p xmlns:a="http://schemas.openxmlformats.org/drawingml/2006/main">
            <a:r>
              <a:t>1⃣ CHANGE</a:t>
            </a:r>
          </a:p>
          <a:p xmlns:a="http://schemas.openxmlformats.org/drawingml/2006/main">
            <a:r>
              <a:t>MEASURE</a:t>
            </a:r>
          </a:p>
          <a:p xmlns:a="http://schemas.openxmlformats.org/drawingml/2006/main">
            <a:r>
              <a:t>KEEP</a:t>
            </a:r>
          </a:p>
          <a:p xmlns:a="http://schemas.openxmlformats.org/drawingml/2006/main">
            <a:r>
              <a:t>Press a card.</a:t>
            </a:r>
          </a:p>
          <a:p xmlns:a="http://schemas.openxmlformats.org/drawingml/2006/main">
            <a:r>
              <a:t>CHANGE: — · MEASURE: — · KEEP: —</a:t>
            </a:r>
          </a:p>
          <a:p xmlns:a="http://schemas.openxmlformats.org/drawingml/2006/main">
            <a:r>
              <a:t>Build the six-row table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SCI_G_W13A_Rover_Rescue_Plan_Explore.html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SCI_G_W13A_Rover_Rescue_Plan_Explore.html. We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classroom rover, surfaces and short ramp simplify a real planetary rover. The model can compare friction here, not copy every real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How does surface type affect travel distance when ramp height and release stay the same?</a:t>
            </a:r>
          </a:p>
          <a:p xmlns:a="http://schemas.openxmlformats.org/drawingml/2006/main">
            <a:r>
              <a:t>What happens when surface and ramp height both change?</a:t>
            </a:r>
          </a:p>
          <a:p xmlns:a="http://schemas.openxmlformats.org/drawingml/2006/main">
            <a:r>
              <a:t>Which rover looks fastest after a different push each time?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SCI_G_W13A_Rover_Rescue_Plan_Explore.html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SCI_G_W13A_Rover_Rescue_Plan_Explore.html.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classroom rover, surfaces and short ramp simplify a real planetary rover. The model can compare friction here, not copy every real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Safety first: use a stable low ramp in a clear tray or lane. Release without pushing and keep hands out of the travel path.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Create a six-row table before testing: two conditions with three blank repeat rows each.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Make a prediction with a reason, but record what happens rather than changing results to fit it.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change–measure–keep board makes variable roles visible before equipment is touched.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classroom rover, surfaces and short ramp simplify a real planetary rover. The model can compare friction here, not copy every real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SCI_G_W13A_Rover_Rescue_Plan_Explore.html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SCI_G_W13A_Rover_Rescue_Plan_Explore.html.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classroom rover, surfaces and short ramp simplify a real planetary rover. The model can compare friction here, not copy every real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Safety first: use a stable low ramp in a clear tray or lane. Release without pushing and keep hands out of the travel path.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Create a six-row table before testing: two conditions with three blank repeat rows each.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Make a prediction with a reason, but record what happens rather than changing results to fit it.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change–measure–keep board makes variable roles visible before equipment is touched.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classroom rover, surfaces and short ramp simplify a real planetary rover. The model can compare friction here, not copy every real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SCI_G_W13A_Rover_Rescue_Plan_Explore.html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SCI_G_W13A_Rover_Rescue_Plan_Explore.html.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classroom rover, surfaces and short ramp simplify a real planetary rover. The model can compare friction here, not copy every real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method card under Change, Measure or Keep the same. Reject any plan that changes two variables.</a:t>
            </a:r>
          </a:p>
          <a:p xmlns:a="http://schemas.openxmlformats.org/drawingml/2006/main">
            <a:r>
              <a:t>Choose one question Name two conditions Set measure and controls Plan three repeats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Surface type Use smooth and fabric as the two conditions.</a:t>
            </a:r>
          </a:p>
          <a:p xmlns:a="http://schemas.openxmlformats.org/drawingml/2006/main">
            <a:r>
              <a:t>Travel distance in cm Measure from the same line to the rover's front.</a:t>
            </a:r>
          </a:p>
          <a:p xmlns:a="http://schemas.openxmlformats.org/drawingml/2006/main">
            <a:r>
              <a:t>Low ramp height Use the same safe height for every surface run.</a:t>
            </a:r>
          </a:p>
          <a:p xmlns:a="http://schemas.openxmlformats.org/drawingml/2006/main">
            <a:r>
              <a:t>Same rover Use the same trolley or rover for all six runs.</a:t>
            </a:r>
          </a:p>
          <a:p xmlns:a="http://schemas.openxmlformats.org/drawingml/2006/main">
            <a:r>
              <a:t>Same no-push release Release from one marked start point without adding a push.</a:t>
            </a:r>
          </a:p>
          <a:p xmlns:a="http://schemas.openxmlformats.org/drawingml/2006/main">
            <a:r>
              <a:t>Three results per condition Record every run, including an unexpected result.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CHANGE</a:t>
            </a:r>
          </a:p>
          <a:p xmlns:a="http://schemas.openxmlformats.org/drawingml/2006/main">
            <a:r>
              <a:t>MEASURE</a:t>
            </a:r>
          </a:p>
          <a:p xmlns:a="http://schemas.openxmlformats.org/drawingml/2006/main">
            <a:r>
              <a:t>KEEP THE SAME</a:t>
            </a:r>
          </a:p>
          <a:p xmlns:a="http://schemas.openxmlformats.org/drawingml/2006/main">
            <a:r>
              <a:t>REPEAT / RECORD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For a clearer result, change the surface and ramp height together.</a:t>
            </a:r>
          </a:p>
          <a:p xmlns:a="http://schemas.openxmlformats.org/drawingml/2006/main">
            <a:r>
              <a:t>Keep it: two changes give twice as much evidence.</a:t>
            </a:r>
          </a:p>
          <a:p xmlns:a="http://schemas.openxmlformats.org/drawingml/2006/main">
            <a:r>
              <a:t>Repair it: change one variable so the cause of any difference is clearer.</a:t>
            </a:r>
          </a:p>
          <a:p xmlns:a="http://schemas.openxmlformats.org/drawingml/2006/main">
            <a:r>
              <a:t>Change it: add a different push on every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SCI_G_W13A_Rover_Rescue_Plan_Explore.html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SCI_G_W13A_Rover_Rescue_Plan_Explore.html.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classroom rover, surfaces and short ramp simplify a real planetary rover. The model can compare friction here, not copy every real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method card under Change, Measure or Keep the same. Reject any plan that changes two variables.</a:t>
            </a:r>
          </a:p>
          <a:p xmlns:a="http://schemas.openxmlformats.org/drawingml/2006/main">
            <a:r>
              <a:t>Choose one question Name two conditions Set measure and controls Plan three repeats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Surface type Use smooth and fabric as the two conditions.</a:t>
            </a:r>
          </a:p>
          <a:p xmlns:a="http://schemas.openxmlformats.org/drawingml/2006/main">
            <a:r>
              <a:t>Travel distance in cm Measure from the same line to the rover's front.</a:t>
            </a:r>
          </a:p>
          <a:p xmlns:a="http://schemas.openxmlformats.org/drawingml/2006/main">
            <a:r>
              <a:t>Low ramp height Use the same safe height for every surface run.</a:t>
            </a:r>
          </a:p>
          <a:p xmlns:a="http://schemas.openxmlformats.org/drawingml/2006/main">
            <a:r>
              <a:t>Same rover Use the same trolley or rover for all six runs.</a:t>
            </a:r>
          </a:p>
          <a:p xmlns:a="http://schemas.openxmlformats.org/drawingml/2006/main">
            <a:r>
              <a:t>Same no-push release Release from one marked start point without adding a push.</a:t>
            </a:r>
          </a:p>
          <a:p xmlns:a="http://schemas.openxmlformats.org/drawingml/2006/main">
            <a:r>
              <a:t>Three results per condition Record every run, including an unexpected result.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CHANGE</a:t>
            </a:r>
          </a:p>
          <a:p xmlns:a="http://schemas.openxmlformats.org/drawingml/2006/main">
            <a:r>
              <a:t>MEASURE</a:t>
            </a:r>
          </a:p>
          <a:p xmlns:a="http://schemas.openxmlformats.org/drawingml/2006/main">
            <a:r>
              <a:t>KEEP THE SAME</a:t>
            </a:r>
          </a:p>
          <a:p xmlns:a="http://schemas.openxmlformats.org/drawingml/2006/main">
            <a:r>
              <a:t>REPEAT / RECORD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For a clearer result, change the surface and ramp height together.</a:t>
            </a:r>
          </a:p>
          <a:p xmlns:a="http://schemas.openxmlformats.org/drawingml/2006/main">
            <a:r>
              <a:t>Keep it: two changes give twice as much evidence.</a:t>
            </a:r>
          </a:p>
          <a:p xmlns:a="http://schemas.openxmlformats.org/drawingml/2006/main">
            <a:r>
              <a:t>Repair it: change one variable so the cause of any difference is clearer.</a:t>
            </a:r>
          </a:p>
          <a:p xmlns:a="http://schemas.openxmlformats.org/drawingml/2006/main">
            <a:r>
              <a:t>Change it: add a different push on every run.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SCI_G_W13A_Rover_Rescue_Plan_Explore.html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SCI_G_W13A_Rover_Rescue_Plan_Explore.html.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classroom rover, surfaces and short ramp simplify a real planetary rover. The model can compare friction here, not copy every real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Planning mat; low ramp; trolley or rover; smooth and fabric surfaces; metre rule or tape; start and finish markers.</a:t>
            </a:r>
          </a:p>
          <a:p xmlns:a="http://schemas.openxmlformats.org/drawingml/2006/main">
            <a:r>
              <a:t>Same outcome: I can plan a fair investigation of how surface type affects a rover's travel distance.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same two-condition plan and six blank result rows with a local rover representation; no results are saved.</a:t>
            </a:r>
          </a:p>
          <a:p xmlns:a="http://schemas.openxmlformats.org/drawingml/2006/main">
            <a:r>
              <a:t>Same evidence: Question, prediction, variable table, safe numbered method, two conditions, six result spaces and one model limitation.</a:t>
            </a:r>
          </a:p>
          <a:p xmlns:a="http://schemas.openxmlformats.org/drawingml/2006/main">
            <a:r>
              <a:t>Equipment / setup Planning mat; low ramp; trolley or rover; smooth and fabric surfaces; metre rule or tape; start and finish markers.</a:t>
            </a:r>
          </a:p>
          <a:p xmlns:a="http://schemas.openxmlformats.org/drawingml/2006/main">
            <a:r>
              <a:t>Safety / sensory Teacher checks a stable low ramp and clear lane. Do not push the rover, chase it or place hands in its path.</a:t>
            </a:r>
          </a:p>
          <a:p xmlns:a="http://schemas.openxmlformats.org/drawingml/2006/main">
            <a:r>
              <a:t>Offline parity Use the same two-condition plan and six blank result rows with a local rover representation; no results are saved.</a:t>
            </a:r>
          </a:p>
          <a:p xmlns:a="http://schemas.openxmlformats.org/drawingml/2006/main">
            <a:r>
              <a:t>No-equipment/access route: Plan with cards only or direct an adult to place every method card. No equipment handling is required.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Write a fair question, prediction, variable table and numbered method for two conditions with three repeats.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the check: one change, one measured outcome, same release and safe low ramp.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SCI_G_W13A_Rover_Rescue_Plan_Explore.html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SCI_G_W13A_Rover_Rescue_Plan_Explore.html.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classroom rover, surfaces and short ramp simplify a real planetary rover. The model can compare friction here, not copy every real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Planning mat; low ramp; trolley or rover; smooth and fabric surfaces; metre rule or tape; start and finish markers.</a:t>
            </a:r>
          </a:p>
          <a:p xmlns:a="http://schemas.openxmlformats.org/drawingml/2006/main">
            <a:r>
              <a:t>Same outcome: I can plan a fair investigation of how surface type affects a rover's travel distance.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same two-condition plan and six blank result rows with a local rover representation; no results are saved.</a:t>
            </a:r>
          </a:p>
          <a:p xmlns:a="http://schemas.openxmlformats.org/drawingml/2006/main">
            <a:r>
              <a:t>Same evidence: Question, prediction, variable table, safe numbered method, two conditions, six result spaces and one model limitation.</a:t>
            </a:r>
          </a:p>
          <a:p xmlns:a="http://schemas.openxmlformats.org/drawingml/2006/main">
            <a:r>
              <a:t>Equipment / setup Planning mat; low ramp; trolley or rover; smooth and fabric surfaces; metre rule or tape; start and finish markers.</a:t>
            </a:r>
          </a:p>
          <a:p xmlns:a="http://schemas.openxmlformats.org/drawingml/2006/main">
            <a:r>
              <a:t>Safety / sensory Teacher checks a stable low ramp and clear lane. Do not push the rover, chase it or place hands in its path.</a:t>
            </a:r>
          </a:p>
          <a:p xmlns:a="http://schemas.openxmlformats.org/drawingml/2006/main">
            <a:r>
              <a:t>Offline parity Use the same two-condition plan and six blank result rows with a local rover representation; no results are saved.</a:t>
            </a:r>
          </a:p>
          <a:p xmlns:a="http://schemas.openxmlformats.org/drawingml/2006/main">
            <a:r>
              <a:t>No-equipment/access route: Plan with cards only or direct an adult to place every method card. No equipment handling is required.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Write a fair question, prediction, variable table and numbered method for two conditions with three repeats.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the check: one change, one measured outcome, same release and safe low ramp.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SCI_G_W13A_Rover_Rescue_Plan_Explore.html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SCI_G_W13A_Rover_Rescue_Plan_Explore.html.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Choose one visible next move. The pupil writes what they said and what 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classroom rover, surfaces and short ramp simplify a real planetary rover. The model can compare friction here, not copy every real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Name the dependent variable and two controls.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What I said, and what it changed:</a:t>
            </a:r>
          </a:p>
          <a:p xmlns:a="http://schemas.openxmlformats.org/drawingml/2006/main">
            <a:r>
              <a:t>Next I will ______. One next step chosen after the adult listened.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SCI_G_W13A_Rover_Rescue_Plan_Explore.html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54535b22dc45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32a025b93a4516" /><Relationship Type="http://schemas.openxmlformats.org/officeDocument/2006/relationships/slideLayout" Target="/ppt/slideLayouts/slideLayout1.xml" Id="Rc584e917c81242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84e917c81242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4db2cbfab4a1c" /><Relationship Type="http://schemas.openxmlformats.org/officeDocument/2006/relationships/hyperlink" Target="SCI_G_W13A_Rover_Rescue_Plan_Explore.html" TargetMode="External" Id="R22dffba67aaf44d8" /><Relationship Type="http://schemas.openxmlformats.org/officeDocument/2006/relationships/notesSlide" Target="/ppt/notesSlides/notesSlide1.xml" Id="R6ccc43ec270643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6321f215bd4ac8" /><Relationship Type="http://schemas.openxmlformats.org/officeDocument/2006/relationships/notesSlide" Target="/ppt/notesSlides/notesSlide2.xml" Id="Rc3a7c468749f40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4a740d9df40b1" /><Relationship Type="http://schemas.openxmlformats.org/officeDocument/2006/relationships/notesSlide" Target="/ppt/notesSlides/notesSlide3.xml" Id="Rf78307bada6649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58c7fefde4020" /><Relationship Type="http://schemas.openxmlformats.org/officeDocument/2006/relationships/notesSlide" Target="/ppt/notesSlides/notesSlide4.xml" Id="Rc0da192b886845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6df1442a24b4d" /><Relationship Type="http://schemas.openxmlformats.org/officeDocument/2006/relationships/notesSlide" Target="/ppt/notesSlides/notesSlide5.xml" Id="R72dfd565df8947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6c5b7a81c49fa" /><Relationship Type="http://schemas.openxmlformats.org/officeDocument/2006/relationships/image" Target="/ppt/media/image.png" Id="R3a5aab9f58984795" /><Relationship Type="http://schemas.openxmlformats.org/officeDocument/2006/relationships/image" Target="/ppt/media/image2.png" Id="R0c0703184c314b73" /><Relationship Type="http://schemas.openxmlformats.org/officeDocument/2006/relationships/image" Target="/ppt/media/image3.png" Id="R51c2aa60e9a44ca4" /><Relationship Type="http://schemas.openxmlformats.org/officeDocument/2006/relationships/notesSlide" Target="/ppt/notesSlides/notesSlide6.xml" Id="Rfddbf7a2f93646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4d7ca100a402f" /><Relationship Type="http://schemas.openxmlformats.org/officeDocument/2006/relationships/notesSlide" Target="/ppt/notesSlides/notesSlide7.xml" Id="Rdc11f86c67a144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34a42225a43cf" /><Relationship Type="http://schemas.openxmlformats.org/officeDocument/2006/relationships/notesSlide" Target="/ppt/notesSlides/notesSlide8.xml" Id="Rd7270ea8e43649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586f738624524" /><Relationship Type="http://schemas.openxmlformats.org/officeDocument/2006/relationships/notesSlide" Target="/ppt/notesSlides/notesSlide9.xml" Id="Rdf1f56ee221641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736744a874bc9" /><Relationship Type="http://schemas.openxmlformats.org/officeDocument/2006/relationships/notesSlide" Target="/ppt/notesSlides/notesSlide10.xml" Id="Ra8cc1acc188b48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99bd171c646e6" /><Relationship Type="http://schemas.openxmlformats.org/officeDocument/2006/relationships/notesSlide" Target="/ppt/notesSlides/notesSlide11.xml" Id="R216b70ab7fce46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89cc5330f4722" /><Relationship Type="http://schemas.openxmlformats.org/officeDocument/2006/relationships/notesSlide" Target="/ppt/notesSlides/notesSlide12.xml" Id="R23ec2b5a55614a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3c761956f4425" /><Relationship Type="http://schemas.openxmlformats.org/officeDocument/2006/relationships/notesSlide" Target="/ppt/notesSlides/notesSlide13.xml" Id="R99950ea761184c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961324711484f" /><Relationship Type="http://schemas.openxmlformats.org/officeDocument/2006/relationships/notesSlide" Target="/ppt/notesSlides/notesSlide14.xml" Id="R7089b170b21746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e942f84984293" /><Relationship Type="http://schemas.openxmlformats.org/officeDocument/2006/relationships/notesSlide" Target="/ppt/notesSlides/notesSlide15.xml" Id="R34ffc2a4b470451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f81c17b504941" /><Relationship Type="http://schemas.openxmlformats.org/officeDocument/2006/relationships/notesSlide" Target="/ppt/notesSlides/notesSlide16.xml" Id="R3b08673609544c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8E904563-EB47-40B3-99B7-C8FDE92D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520AF35-2853-4BE3-84AD-5113A290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6B8A00D-28ED-4839-9073-E098F32F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AB0994-CDFB-4A65-BDE7-9FD08874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Rover Rescue: Plan a Fair Test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1B79BA3-3CCA-4F1D-B4E9-7B4D0A8C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BD465A60-262E-4354-BB3A-CF8E171F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12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plan a fair investigation of how surface type affects a rover's travel distance.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FDF7EDCF-18E9-4184-94A6-F670A462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480077D0-C48B-48C6-A650-8B834668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8C852505-7AAA-4DE0-B2E5-7864618E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AB2E395F-B2A5-4E85-BA53-DA1D271A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E9ADA027-7042-48F2-B3C1-45F461DA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B85DFAC9-3CBC-4864-813F-0129FC1B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BDADF116-74A7-491D-93AB-8855598A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EDDD4F42-AC34-462B-B0AA-7BD3EBC4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KEEP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A44A00CD-A928-4DBC-A6D2-A5BE00B5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495513CC-7397-4283-B80F-65DC11BE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F7D6E"/>
                </a:solidFill>
                <a:latin typeface="Arial"/>
                <a:ea typeface="Arial"/>
                <a:cs typeface="Arial"/>
                <a:hlinkClick xmlns:r="http://schemas.openxmlformats.org/officeDocument/2006/relationships" r:id="R22dffba67aaf44d8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7DC0750F-862C-4AFE-819F-994D5F01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CF72D58C-FE96-41E7-BAE7-608826EC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16</a:t>
            </a:r>
          </a:p>
        </p:txBody>
      </p:sp>
    </p:spTree>
    <p:extLst>
      <p:ext uri="{BB962C8B-B14F-4D97-AF65-F5344CB8AC3E}">
        <p14:creationId xmlns:p14="http://schemas.microsoft.com/office/powerpoint/2010/main" val="20475487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D191AC9B-96A6-4C4E-866B-1163B3E0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19E7E81-B2AD-4EBB-B5D4-FB94BCE0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CDA91A4-6234-406B-B8DC-A1CF372B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C8B829A-EDDA-4756-990D-F4B494DE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AE91715-1F81-41A0-9D5E-83FAEC57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36C9147-AAB9-4499-AD6C-9FD39FCA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name surface type as the independent variable and compare smooth with fabric.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E8DDB0D-21C8-4C35-9365-2477F28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measure travel distance and keep other variables controlled.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04A12E6-C7EF-47F3-8A67-85990433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plan three repeats for each condition and state a safe method.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FC700DAF-8FB7-44C1-8D2E-F0E98646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8CA6C8AE-72E4-4322-9A28-E1C51360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16</a:t>
            </a:r>
          </a:p>
        </p:txBody>
      </p:sp>
    </p:spTree>
    <p:extLst>
      <p:ext uri="{BB962C8B-B14F-4D97-AF65-F5344CB8AC3E}">
        <p14:creationId xmlns:p14="http://schemas.microsoft.com/office/powerpoint/2010/main" val="11705684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6B8EF5B9-8CDD-4CF7-85BF-E71F0E0E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3DEA3CA-AED9-4890-B691-981B95F3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664D997-2164-4654-B02D-3A69E3EA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355655-740B-4889-83E3-82EE94CB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A475710-0B3C-4E94-B87F-CDAB6C54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41967A6-150A-4475-A65B-F04ABFA5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Name the independent variable in a surface test.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BC98DF1-AE4C-4F49-96E2-E5023A64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Name the dependent variable and its unit.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8BBB165-C720-4ADA-8C59-5FC6E3E0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List two variables to control.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39FB6B0F-2A36-41A0-BB56-FCB15B8D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why each condition needs repeats.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B3F69418-4333-4569-8703-9C93600C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7577A933-9961-4DF3-BB94-2727E11F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16</a:t>
            </a:r>
          </a:p>
        </p:txBody>
      </p:sp>
    </p:spTree>
    <p:extLst>
      <p:ext uri="{BB962C8B-B14F-4D97-AF65-F5344CB8AC3E}">
        <p14:creationId xmlns:p14="http://schemas.microsoft.com/office/powerpoint/2010/main" val="2923728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004D0E1B-195A-466C-A452-72F6FDC9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FBE663F-B3EB-4087-A4EB-3031440B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C61A00C-AF92-4752-8434-28820BF4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52DD3E-3700-4C6F-AF0E-F44C4C11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plan lets us find out whether surface type affects rover travel distance?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911F524-8EF1-41D9-A257-B4357050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9B247E2-6B71-4330-BDED-9EB409A4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F6DAE07-4A9A-45D3-AD36-ABF69836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Change surface only; keep ramp and release the same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1C2E2CA-B9F5-4F8B-ABAE-C38BA788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Change surface and ramp height together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ED8A4C6C-99FD-4258-8602-290653E4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Push the rover differently each time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079BCA45-58E5-4088-AF66-D4235904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0CB9E8A3-5F80-482C-B671-16B5F54B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16</a:t>
            </a:r>
          </a:p>
        </p:txBody>
      </p:sp>
    </p:spTree>
    <p:extLst>
      <p:ext uri="{BB962C8B-B14F-4D97-AF65-F5344CB8AC3E}">
        <p14:creationId xmlns:p14="http://schemas.microsoft.com/office/powerpoint/2010/main" val="14827110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7E71571F-1AEC-47DF-A5A2-DE9BA833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816BCFF-6D40-4277-B8FC-7BD37DAE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5729D19-6D59-43EB-8C43-C3F6F9D0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BC5392-01A1-4714-98B4-69356429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23DE366-7DD0-4B07-9351-E9C171D0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0D156E9-8777-40B7-B625-56BF3B78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CHANGE · one independent variable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C994F18-DB64-4084-8C92-5A745DD2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MEASURE · distance in centimetres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D3B0B25-85FA-4DDA-BE35-C93C6093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KEEP · controls and repeat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A9CA5569-F63F-410D-BC62-5D906483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326790B9-587D-42BA-8314-48219AED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16</a:t>
            </a:r>
          </a:p>
        </p:txBody>
      </p:sp>
    </p:spTree>
    <p:extLst>
      <p:ext uri="{BB962C8B-B14F-4D97-AF65-F5344CB8AC3E}">
        <p14:creationId xmlns:p14="http://schemas.microsoft.com/office/powerpoint/2010/main" val="8847659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E3FC3ABE-8A77-4EDD-99C9-96D18B61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0B2B103-8752-404A-ABC7-234AAF58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2EF57C0-8F86-4DEC-9D9D-6FA54B97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038EC6-45B1-4548-BBCB-44CF9FCE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5AE78D3-C540-4A09-895E-7C9888AC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aab9f58984795"/>
          <a:stretch xmlns:a="http://schemas.openxmlformats.org/drawingml/2006/main"/>
        </p:blipFill>
        <p:spPr>
          <a:xfrm xmlns:a="http://schemas.openxmlformats.org/drawingml/2006/main">
            <a:off x="800100" y="3096724"/>
            <a:ext cx="3378200" cy="1169377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7E97F005-F457-43B5-ADEA-9F1A66D6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Ramp and surface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703184c314b73"/>
          <a:stretch xmlns:a="http://schemas.openxmlformats.org/drawingml/2006/main"/>
        </p:blipFill>
        <p:spPr>
          <a:xfrm xmlns:a="http://schemas.openxmlformats.org/drawingml/2006/main">
            <a:off x="4406900" y="3096724"/>
            <a:ext cx="3378200" cy="1169377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55828C0E-4571-4694-B6D4-130D0639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Measuring distance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2aa60e9a44ca4"/>
          <a:stretch xmlns:a="http://schemas.openxmlformats.org/drawingml/2006/main"/>
        </p:blipFill>
        <p:spPr>
          <a:xfrm xmlns:a="http://schemas.openxmlformats.org/drawingml/2006/main">
            <a:off x="8013700" y="3096724"/>
            <a:ext cx="3378200" cy="1169377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DC1BEE45-7EE6-42AD-B6AC-B199BB80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Controls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97CA1C4D-18A7-4889-B57C-3F3046A7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A0A6D4E6-AB19-43BF-9765-62C82441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16</a:t>
            </a:r>
          </a:p>
        </p:txBody>
      </p:sp>
    </p:spTree>
    <p:extLst>
      <p:ext uri="{BB962C8B-B14F-4D97-AF65-F5344CB8AC3E}">
        <p14:creationId xmlns:p14="http://schemas.microsoft.com/office/powerpoint/2010/main" val="15796560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EA8B8C67-798D-455D-8FE6-BBE72FC0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3703618-D546-4E33-835D-7D17704D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A2C45FD-A9A6-4B0D-9CEA-32CF8131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CDDADE-F3FB-46F4-A810-3E32B0E7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67E0D10-F8DC-46EF-9867-2D29B9C7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96EAE91-2FEA-4A06-A50F-04F6863D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independent variable — what I change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944D88F-046F-4D95-9D1F-0D0F8AF1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dependent variable — what I measure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2094474-A8EB-4A1A-91D4-000BD4A0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control variable — what I keep the same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4F15113F-14A0-4340-9DCF-F9AC06DB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0E2DAFB0-8A19-4242-9031-B54CEBF0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16</a:t>
            </a:r>
          </a:p>
        </p:txBody>
      </p:sp>
    </p:spTree>
    <p:extLst>
      <p:ext uri="{BB962C8B-B14F-4D97-AF65-F5344CB8AC3E}">
        <p14:creationId xmlns:p14="http://schemas.microsoft.com/office/powerpoint/2010/main" val="11842169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9BF45C4F-0FDD-457C-A5C8-E37FFE62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7F2A372-9CFA-4E5C-8C0C-BB10D501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4C7CE94-D044-4FD1-A2EA-941F04CE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06D786-0E37-4AAF-AB2B-AEF2A016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06A8C2C-5495-4B15-80CB-202D70D8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17FACB5-F052-4316-A4C2-5EFA0295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Choose one question: How does surface type affect rover travel distance? Conditions: smooth and fabric.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E8C0985-9419-4719-B3B5-DFE5A4FF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Measure the distance from the same finish line to the rover's front in centimetres.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58583F0-1886-4E2B-AE74-2A8A816E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Keep the rover, low ramp height, start point and no-push release the same; plan three repeats per condition.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0926D514-BC8B-4EAE-A11C-5E0C79B3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4974CD44-404B-4B1C-96FF-E7DC02AE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16</a:t>
            </a:r>
          </a:p>
        </p:txBody>
      </p:sp>
    </p:spTree>
    <p:extLst>
      <p:ext uri="{BB962C8B-B14F-4D97-AF65-F5344CB8AC3E}">
        <p14:creationId xmlns:p14="http://schemas.microsoft.com/office/powerpoint/2010/main" val="11350854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8E7F275C-AB51-43BC-9AA0-D46327F3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651748B-220E-42A6-A39E-1CAC57F7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FB91D9C-D4FB-4C87-BE42-2D3583B2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F1938F0-DB76-4889-BB16-6EE4789D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is the fairest rover test question?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30B3C3B-8BE2-474D-B70E-A5E064A5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8AF7618-53DA-44C1-9450-97053B36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How does surface type affect travel distance when ramp height and release stay the same?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4D024A2-019D-478C-814B-82A9FADA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What happens when surface and ramp height both change?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304E2D3-3821-4046-9D7D-1F49145D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Which rover looks fastest after a different push each time?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AB9383B-5E94-4F3D-A8FB-F07EFED8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038455DD-E100-4D8B-8DB1-E2FC5306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5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077F1ABF-0E80-43D0-9D23-F5D40DD2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16</a:t>
            </a:r>
          </a:p>
        </p:txBody>
      </p:sp>
    </p:spTree>
    <p:extLst>
      <p:ext uri="{BB962C8B-B14F-4D97-AF65-F5344CB8AC3E}">
        <p14:creationId xmlns:p14="http://schemas.microsoft.com/office/powerpoint/2010/main" val="16591095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563B96A7-4AE2-4505-81B5-22164DEE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C307750-2D04-4EEE-8C02-226640E6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C225D1A-2FFB-4274-B303-3DE57ADC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64620F-1F38-4055-86BE-6F93C0CD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B4F3E67-D387-4027-AC9C-539A36AC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9BEBED9-58D4-4B59-BDB3-A5D259DF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Safety first: use a stable low ramp in a clear tray or lane. Release without pushing and keep hands out of the travel path.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9125AF0-976D-4F20-8B7A-C0AFBBB7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Create a six-row table before testing: two conditions with three blank repeat rows each.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74AE8C6-B1A9-4960-96AD-6CAE6C1B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Make a prediction with a reason, but record what happens rather than changing results to fit it.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A4D0268F-9CDF-43D1-9121-17C868ED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CC10BB61-D231-445B-B588-F161731D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5194248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943B34F6-4E97-41E2-8DB5-7C31B09F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E31CC96-F05E-4A78-9CBC-3ACE42CC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DBF529A-578E-4637-9156-55D7F418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40EA70-0D0B-4690-8FAB-EFD94AD9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5B6377A-341E-453E-A14C-9BBF53EA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1A0DE0A-675E-4157-AE32-51240A7B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For a clearer result, change the surface and ramp height together.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C59D0D0-F1CF-4BBD-B793-A8A8EE8C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two changes give twice as much evidence.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A0B0AC3-4890-444D-A856-313E204C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change one variable so the cause of any difference is clearer.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ED2A1240-3104-4036-9CC7-AF728E7B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Change it: add a different push on every run.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785581C3-6371-49CA-AEA9-6379D288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3303B888-D2E6-4437-B4DC-22E08E89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18662146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7D0E361E-F032-4F1F-BC23-3C49C238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90BB2DD-F6D8-47F9-8E9A-99DB1493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7BEA3D0-F998-4259-81F7-618E2685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4A19A5-F484-4C8F-BFD2-63AE9638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Fair-Test Control Board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9F160E2-0963-4AD7-8F7E-2C01BE8D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A1DC3DE-F557-4AF6-B3AF-CE85F351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Place each method card under Change, Measure or Keep the same. Reject any plan that changes two variables.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13B2F87-BABC-463B-BB12-36C01541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Choose one question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EAA2B02-463C-4135-AACB-84082FD6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Name two conditions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19F6A5A-2487-4DF2-83CD-7D76AAFE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Set measure and controls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0529FDA7-9888-4582-9BCE-1E2C1E4C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Plan three repeats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ED89A364-1A0C-4BC4-A1B9-7818D0EF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353C9F16-30EE-4225-BD3C-9091D4DD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A0861E82-C45F-4B26-93D7-0D0E3EFD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5609366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0FDF2282-2DAA-43E7-AC77-0D03EC03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A5695D1-547A-4E7A-903B-E6D96E0C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4A8BEC7-457E-4A76-8E4E-51F69005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F6BA55A-103C-46A7-B3AF-B2A3D0B6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B301160-36D8-4A0C-96B2-5FF7152F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7275F57-9430-4D3B-B6EA-490D7AD7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CHANGE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AD917B3-8323-45DA-A65A-3B51327F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MEASURE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E70D5D4-4F17-49B6-BEE4-F4D1A13C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KEEP THE SAME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A241BA7-E4E9-4FD6-9488-87CA4F9C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REPEAT / RECORD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7ADCB21B-A130-43F6-9E0B-E08A2B87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Read the frozen plan as a method: We change surface. We measure ___. We keep ___ the same. We repeat ___.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5C826677-4EA2-41DC-9D28-2879BDB4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C41799CA-4CC1-4729-AEC5-A4AEE304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16460849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DB416897-CCBC-40D0-8383-E246C749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10ED147-DE76-4D79-834E-7AD6AD23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0523484-F42C-4CBC-B028-FD5C675E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750D8B-AA82-4F64-9439-4A60F55F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C797370-1DD4-45C8-9867-B982CCE6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42F2A56-F561-4CE9-8D8D-9E918F37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Produce a safe fair-test plan comparing smooth and fabric surfaces, with three repeats per condition.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22A8C1A-5F9F-4D8B-A2D5-A469EBF4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Question, prediction, variable table, safe numbered method, two conditions, six result spaces and one model limitation.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3798A22B-A8BB-47B4-9741-0CD5174C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6BB586B0-E57D-4919-805F-10E0E4DC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7011445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13E8C9D1-4BB8-4F35-92BA-1C02D1E8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63252B4-D7BD-4859-84B6-F6A2F048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42479E8-3B4E-41AE-A981-7E057C8F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75221F-729A-42A8-9966-A3ECF000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F1D15D1-384E-46C8-9F1E-E4250944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719992F-7370-451E-A279-3DB38503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Use the prepared surface question and complete Change, Measure, Keep and Repeat with icon-backed cards.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F06F1D4-4CE0-4185-AF38-F12B5442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Write a fair question, prediction, variable table and numbered method for two conditions with three repeats.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E3FC256-F06E-4CDE-A3F9-B4665BA4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Justify the controls, predict random variation and explain one limitation of transfer to a real rover.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D80EEBBF-180D-4FD3-8051-8808D2E6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6B2065D4-3274-47D9-AC3D-96CCE566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3585489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A20410D6-38E6-4D12-B10E-8804486D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81F2ADC-733F-43B0-9342-DBBEBE54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C0BC80D-8060-4F19-8676-F3B7E7FA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81A131-CA79-4673-BAC0-65BAE028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560AFE6-7E16-4702-AB60-2E70FEC5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1DCCCD6-FA7E-4D64-833D-28074F84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Name the dependent variable and two controls.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CAADAD8-C772-40EC-A4F2-467B7CA0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B0F2A5BE-A52B-4DB0-90BF-C23F2D5F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69064A9C-C57F-4FFE-AC08-64FDC22D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605452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2026-09-08T08:54:18.7500000Z</dcterms:created>
  <dcterms:modified xsi:type="dcterms:W3CDTF">2026-09-08T08:54:18.7500000Z</dcterms:modified>
</coreProperties>
</file>