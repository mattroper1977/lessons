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d10ab881ff4782" /><Relationship Type="http://schemas.openxmlformats.org/officeDocument/2006/relationships/extended-properties" Target="/docProps/app.xml" Id="R9c3bde434b6947e4" /><Relationship Type="http://schemas.openxmlformats.org/officeDocument/2006/relationships/officeDocument" Target="/ppt/presentation.xml" Id="R4273c0458f8546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9c1ed72ec146e5"/>
  </p:sldMasterIdLst>
  <p:notesMasterIdLst>
    <p:notesMasterId xmlns:r="http://schemas.openxmlformats.org/officeDocument/2006/relationships" r:id="Rcc1ebfcdf31d430b"/>
  </p:notesMasterIdLst>
  <p:sldIdLst>
    <p:sldId xmlns:r="http://schemas.openxmlformats.org/officeDocument/2006/relationships" id="256" r:id="R71d6f0a67e7841b0"/>
    <p:sldId xmlns:r="http://schemas.openxmlformats.org/officeDocument/2006/relationships" id="257" r:id="Rdac093be15cf4cc8"/>
    <p:sldId xmlns:r="http://schemas.openxmlformats.org/officeDocument/2006/relationships" id="258" r:id="R298388ddddfc41a4"/>
    <p:sldId xmlns:r="http://schemas.openxmlformats.org/officeDocument/2006/relationships" id="259" r:id="R828c4a10384b4e1d"/>
    <p:sldId xmlns:r="http://schemas.openxmlformats.org/officeDocument/2006/relationships" id="260" r:id="R3749b71129bd402d"/>
    <p:sldId xmlns:r="http://schemas.openxmlformats.org/officeDocument/2006/relationships" id="261" r:id="R3cba4f224acd4b9b"/>
    <p:sldId xmlns:r="http://schemas.openxmlformats.org/officeDocument/2006/relationships" id="262" r:id="Rce34266105964ee0"/>
    <p:sldId xmlns:r="http://schemas.openxmlformats.org/officeDocument/2006/relationships" id="263" r:id="R750efbe6f5f34663"/>
    <p:sldId xmlns:r="http://schemas.openxmlformats.org/officeDocument/2006/relationships" id="264" r:id="R94c8d6b3b9374f9f"/>
    <p:sldId xmlns:r="http://schemas.openxmlformats.org/officeDocument/2006/relationships" id="265" r:id="Rb7ef837aaa77476d"/>
    <p:sldId xmlns:r="http://schemas.openxmlformats.org/officeDocument/2006/relationships" id="266" r:id="R52ad381462b44566"/>
    <p:sldId xmlns:r="http://schemas.openxmlformats.org/officeDocument/2006/relationships" id="267" r:id="R45e413f967ae4b0f"/>
    <p:sldId xmlns:r="http://schemas.openxmlformats.org/officeDocument/2006/relationships" id="268" r:id="R55639196b4ab47b0"/>
    <p:sldId xmlns:r="http://schemas.openxmlformats.org/officeDocument/2006/relationships" id="269" r:id="Rd262f0f1dc444c08"/>
    <p:sldId xmlns:r="http://schemas.openxmlformats.org/officeDocument/2006/relationships" id="270" r:id="Rc41c260307d542e7"/>
    <p:sldId xmlns:r="http://schemas.openxmlformats.org/officeDocument/2006/relationships" id="271" r:id="R9539258169cc44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e7d65e5c964b7a" /><Relationship Type="http://schemas.openxmlformats.org/officeDocument/2006/relationships/slideMaster" Target="/ppt/slideMasters/slideMaster1.xml" Id="Rcb9c1ed72ec146e5" /><Relationship Type="http://schemas.openxmlformats.org/officeDocument/2006/relationships/notesMaster" Target="/ppt/notesMasters/notesMaster1.xml" Id="Rcc1ebfcdf31d430b" /><Relationship Type="http://schemas.openxmlformats.org/officeDocument/2006/relationships/presProps" Target="/ppt/presProps.xml" Id="Rb49fa2ab07be4705" /><Relationship Type="http://schemas.openxmlformats.org/officeDocument/2006/relationships/tableStyles" Target="/ppt/tableStyles.xml" Id="Raa7cfb943e7c4628" /><Relationship Type="http://schemas.openxmlformats.org/officeDocument/2006/relationships/slide" Target="/ppt/slides/slide1.xml" Id="R71d6f0a67e7841b0" /><Relationship Type="http://schemas.openxmlformats.org/officeDocument/2006/relationships/slide" Target="/ppt/slides/slide2.xml" Id="Rdac093be15cf4cc8" /><Relationship Type="http://schemas.openxmlformats.org/officeDocument/2006/relationships/slide" Target="/ppt/slides/slide3.xml" Id="R298388ddddfc41a4" /><Relationship Type="http://schemas.openxmlformats.org/officeDocument/2006/relationships/slide" Target="/ppt/slides/slide4.xml" Id="R828c4a10384b4e1d" /><Relationship Type="http://schemas.openxmlformats.org/officeDocument/2006/relationships/slide" Target="/ppt/slides/slide5.xml" Id="R3749b71129bd402d" /><Relationship Type="http://schemas.openxmlformats.org/officeDocument/2006/relationships/slide" Target="/ppt/slides/slide6.xml" Id="R3cba4f224acd4b9b" /><Relationship Type="http://schemas.openxmlformats.org/officeDocument/2006/relationships/slide" Target="/ppt/slides/slide7.xml" Id="Rce34266105964ee0" /><Relationship Type="http://schemas.openxmlformats.org/officeDocument/2006/relationships/slide" Target="/ppt/slides/slide8.xml" Id="R750efbe6f5f34663" /><Relationship Type="http://schemas.openxmlformats.org/officeDocument/2006/relationships/slide" Target="/ppt/slides/slide9.xml" Id="R94c8d6b3b9374f9f" /><Relationship Type="http://schemas.openxmlformats.org/officeDocument/2006/relationships/slide" Target="/ppt/slides/slide10.xml" Id="Rb7ef837aaa77476d" /><Relationship Type="http://schemas.openxmlformats.org/officeDocument/2006/relationships/slide" Target="/ppt/slides/slide11.xml" Id="R52ad381462b44566" /><Relationship Type="http://schemas.openxmlformats.org/officeDocument/2006/relationships/slide" Target="/ppt/slides/slide12.xml" Id="R45e413f967ae4b0f" /><Relationship Type="http://schemas.openxmlformats.org/officeDocument/2006/relationships/slide" Target="/ppt/slides/slide13.xml" Id="R55639196b4ab47b0" /><Relationship Type="http://schemas.openxmlformats.org/officeDocument/2006/relationships/slide" Target="/ppt/slides/slide14.xml" Id="Rd262f0f1dc444c08" /><Relationship Type="http://schemas.openxmlformats.org/officeDocument/2006/relationships/slide" Target="/ppt/slides/slide15.xml" Id="Rc41c260307d542e7" /><Relationship Type="http://schemas.openxmlformats.org/officeDocument/2006/relationships/slide" Target="/ppt/slides/slide16.xml" Id="R9539258169cc44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c13ce3c27a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10edabf6784e76" /><Relationship Type="http://schemas.openxmlformats.org/officeDocument/2006/relationships/notesMaster" Target="/ppt/notesMasters/notesMaster1.xml" Id="Rab2057da231845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527fb637904b95" /><Relationship Type="http://schemas.openxmlformats.org/officeDocument/2006/relationships/notesMaster" Target="/ppt/notesMasters/notesMaster1.xml" Id="R6092330098f147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389fe7435847ac" /><Relationship Type="http://schemas.openxmlformats.org/officeDocument/2006/relationships/notesMaster" Target="/ppt/notesMasters/notesMaster1.xml" Id="Rb559d1dcd36c45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b5d735edf6473b" /><Relationship Type="http://schemas.openxmlformats.org/officeDocument/2006/relationships/notesMaster" Target="/ppt/notesMasters/notesMaster1.xml" Id="R0e3176bd624c4d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1a4b2afc254efe" /><Relationship Type="http://schemas.openxmlformats.org/officeDocument/2006/relationships/notesMaster" Target="/ppt/notesMasters/notesMaster1.xml" Id="R2b3d1a7a1f5a4f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01590b493746f4" /><Relationship Type="http://schemas.openxmlformats.org/officeDocument/2006/relationships/notesMaster" Target="/ppt/notesMasters/notesMaster1.xml" Id="R2bab4794af7146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510506ca344814" /><Relationship Type="http://schemas.openxmlformats.org/officeDocument/2006/relationships/notesMaster" Target="/ppt/notesMasters/notesMaster1.xml" Id="Ra786ade065be42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4c2e28853a45ce" /><Relationship Type="http://schemas.openxmlformats.org/officeDocument/2006/relationships/notesMaster" Target="/ppt/notesMasters/notesMaster1.xml" Id="R29fc53090b564e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31bc1e4291437c" /><Relationship Type="http://schemas.openxmlformats.org/officeDocument/2006/relationships/notesMaster" Target="/ppt/notesMasters/notesMaster1.xml" Id="R27fc32f7dfa547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ed749c19684e83" /><Relationship Type="http://schemas.openxmlformats.org/officeDocument/2006/relationships/notesMaster" Target="/ppt/notesMasters/notesMaster1.xml" Id="R021f8f7838db49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24c8cd457f4652" /><Relationship Type="http://schemas.openxmlformats.org/officeDocument/2006/relationships/notesMaster" Target="/ppt/notesMasters/notesMaster1.xml" Id="Rb2142b847e0a4e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57a75786c5419f" /><Relationship Type="http://schemas.openxmlformats.org/officeDocument/2006/relationships/notesMaster" Target="/ppt/notesMasters/notesMaster1.xml" Id="R0c6e5f7dbaee46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d587c722104781" /><Relationship Type="http://schemas.openxmlformats.org/officeDocument/2006/relationships/notesMaster" Target="/ppt/notesMasters/notesMaster1.xml" Id="Rae0abd9dd32746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7bea920d8741f1" /><Relationship Type="http://schemas.openxmlformats.org/officeDocument/2006/relationships/notesMaster" Target="/ppt/notesMasters/notesMaster1.xml" Id="Rea4f7bf757e045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94f8e202514fee" /><Relationship Type="http://schemas.openxmlformats.org/officeDocument/2006/relationships/notesMaster" Target="/ppt/notesMasters/notesMaster1.xml" Id="Re33b011b9d8543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bd5a6b8bbe4334" /><Relationship Type="http://schemas.openxmlformats.org/officeDocument/2006/relationships/notesMaster" Target="/ppt/notesMasters/notesMaster1.xml" Id="Rd161494487d84a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workshop reference — 0 minutes within the source's 40-minute lesson.</a:t>
            </a:r>
          </a:p>
          <a:p xmlns:a="http://schemas.openxmlformats.org/drawingml/2006/main">
            <a:r>
              <a:t>Reference title only, no added starter. Begin source 32-minute workshop immediately: 7-minute plan/setup, 17-minute trials, 2-minute check, 6-minute improve/conclude/tidy.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plan and set up — 3 minutes within the source's 40-minute lesson.</a:t>
            </a:r>
          </a:p>
          <a:p xmlns:a="http://schemas.openxmlformats.org/drawingml/2006/main">
            <a:r>
              <a:t>First three source seven-minute plan phase. Use Monday plan. Supported: choose or point with adult and direct trials; standard: write/dictate full plan; stretch: explain controls and intended evaluation. Select two actual available level samples, not automatically carpet/board. Measure distance in centimetres.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plan and set up — 4 minutes within the source's 40-minute lesson.</a:t>
            </a:r>
          </a:p>
          <a:p xmlns:a="http://schemas.openxmlformats.org/drawingml/2006/main">
            <a:r>
              <a:t>Final four minutes source seven-minute plan phase. Equipment: same trolley, adult-secured low ramp, two level surface samples, tape/ruler, padded stop. Hands clear; agree audible/visual release signal and roles. Observation/direction equals valid participation. Do not accept an unclear zero or changed sample height without correction. Use data alternative if safe setup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run trials — 2 minutes within the source's 40-minute lesson.</a:t>
            </a:r>
          </a:p>
          <a:p xmlns:a="http://schemas.openxmlformats.org/drawingml/2006/main">
            <a:r>
              <a:t>First two of source 17-minute trials. Keep units in headers; no numeric entry for unperformed run. Optional XLSX can record results, but paper/dictation remains equivalent. Add named observer/recorder only according to ordinary classroom practice, no account or upload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run trials — 6 minutes within the source's 40-minute lesson.</a:t>
            </a:r>
          </a:p>
          <a:p xmlns:a="http://schemas.openxmlformats.org/drawingml/2006/main">
            <a:r>
              <a:t>Six minutes of source 17-minute trials. Adult checks run clear before each release; no racing. Supported may direct these three trials and later compare adult-recorded second surface. Three trials are target, not permission to invent missing values. Retain surprising measurements. Alternative source set A=48, 50, 49 cm is invented teaching data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run trials — 6 minutes within the source's 40-minute lesson.</a:t>
            </a:r>
          </a:p>
          <a:p xmlns:a="http://schemas.openxmlformats.org/drawingml/2006/main">
            <a:r>
              <a:t>Next six source 17-minute trials. Keep same trolley, ramp height, release mark and measuring edge. If second surface handled by adult, learner can direct and interpret; identify actual contribution. No-equipment source B=27, 29, 28 cm remains invented model data, never pupil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run trials — 3 minutes within the source's 40-minute lesson.</a:t>
            </a:r>
          </a:p>
          <a:p xmlns:a="http://schemas.openxmlformats.org/drawingml/2006/main">
            <a:r>
              <a:t>Final three minutes source 17-minute trial phase. Compare within-surface consistency and between-surface differences. Do not call every unusual value an error; uncertainty can remain. Stretch may prepare optional means; basic comparison doesn't require mean. Unfinished trials must remain labelled unperformed.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alternative reference — 0 minutes within the source's 40-minute lesson.</a:t>
            </a:r>
          </a:p>
          <a:p xmlns:a="http://schemas.openxmlformats.org/drawingml/2006/main">
            <a:r>
              <a:t>Reference alternative within existing trial time, not extra stage. Exact source values. Model conclusion: all B distances shorter than A for stipulated setup; supports surface effect if controlled. State this is interpreting supplied data, not performing an experiment. Names A/B intentionally do not invent actual surface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evidence check — 2 minutes within the source's 40-minute lesson.</a:t>
            </a:r>
          </a:p>
          <a:p xmlns:a="http://schemas.openxmlformats.org/drawingml/2006/main">
            <a:r>
              <a:t>Source's two-minute planned check. Pens down if writing; adult/pupil may discuss privately. Difference alone not reason to delete. If pushed release observed, note it as specific method issue; keep original. Mean of unfair trials remains unfair.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improve and conclude — 2 minutes within the source's 40-minute lesson.</a:t>
            </a:r>
          </a:p>
          <a:p xmlns:a="http://schemas.openxmlformats.org/drawingml/2006/main">
            <a:r>
              <a:t>First two of source final six-minute phase. Retry only safe feasible issue; no compelled extra trials if time unavailable. Keep original and repeated values with reason. Alternative route: evaluate control needed, don't fabricate a repeated model-data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improve and conclude — 1 minutes within the source's 40-minute lesson.</a:t>
            </a:r>
          </a:p>
          <a:p xmlns:a="http://schemas.openxmlformats.org/drawingml/2006/main">
            <a:r>
              <a:t>One minute within source final six, optional stretch only. Model B=(27 + 29 + 28)/3=28 cm. Real mean only when all three valid comparable numeric trials available; missing trial isn't zero. Keep original trial data and any separately labelled retry. A mean doesn't cure unfair setup or prove all surfaces behave universally. Other learners use this minute to compare repeated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improve and conclude — 2 minutes within the source's 40-minute lesson.</a:t>
            </a:r>
          </a:p>
          <a:p xmlns:a="http://schemas.openxmlformats.org/drawingml/2006/main">
            <a:r>
              <a:t>Two minutes source final six. Real conclusion uses actual numbers, even no clear difference. Source model answer: B 27/29/28 cm consistently shorter than A 48/50/49 cm; suggests greater overall resistance to rolling on B under controlled setup. Do not imply trolley stopping distance directly measures friction force, or invent carpet identity. Rolling wheels also affected by deformation/bearings; qualify to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Work — improve and conclude — 1 minutes within the source's 40-minute lesson.</a:t>
            </a:r>
          </a:p>
          <a:p xmlns:a="http://schemas.openxmlformats.org/drawingml/2006/main">
            <a:r>
              <a:t>Final minute 32-minute workshop. Teacher witness records observed variable knowledge, unit use and evaluation with actual support level; no photo/public upload required. Keep raw values and retries, not just spreadsheet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Lundy Loop — pupil feedback — 4 minutes within the source's 40-minute lesson.</a:t>
            </a:r>
          </a:p>
          <a:p xmlns:a="http://schemas.openxmlformats.org/drawingml/2006/main">
            <a:r>
              <a:t>Exact four-minute feedback stage. Waiting is part of a measured investigation. Offer meaningful observer/director tasks or quieter space without excluding science. Adult acts on one feasible suggestion and explains any limits. No assumption of classroom display or onward sharing.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 — 3 minutes within the source's 40-minute lesson.</a:t>
            </a:r>
          </a:p>
          <a:p xmlns:a="http://schemas.openxmlformats.org/drawingml/2006/main">
            <a:r>
              <a:t>First three source exit minutes. One chosen route, not mandatory all. Answers: one planned independent variable; same trolley/ramp height/release point/no push/zero; repeats show consistency and help identify unusual results, improving judgement of reliability. They do not guarantee truth or fix confounding.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 — 1 minutes within the source's 40-minute lesson.</a:t>
            </a:r>
          </a:p>
          <a:p xmlns:a="http://schemas.openxmlformats.org/drawingml/2006/main">
            <a:r>
              <a:t>Final exit minute. Reveal after attempts. Accept qualified real conclusion including insufficient evidence. Teacher logs unresolved measurement/control misconceptions for next lesson. Preserve source intent to judge data rather than reward a predetermined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https://github.com/MattRoper1977/Lessons/blob/main/Science_Teesside/Grow/SCI_G_W5_Fair_Test.html</a:t>
            </a:r>
          </a:p>
          <a:p xmlns:a="http://schemas.openxmlformats.org/drawingml/2006/main">
            <a:r>
              <a:t>Git blob: efdaeab196acc3a8a07e04b088c646ea3a8c724c.</a:t>
            </a:r>
          </a:p>
          <a:p xmlns:a="http://schemas.openxmlformats.org/drawingml/2006/main">
            <a:r>
              <a:t>SHA256: bb73bf1bb84d91f21cb25a128b08842daa4e54e9810262258a122fb69f91c779.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861a8ef7e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ea99e28af449f0" /><Relationship Type="http://schemas.openxmlformats.org/officeDocument/2006/relationships/slideLayout" Target="/ppt/slideLayouts/slideLayout1.xml" Id="R2c187acd4bfc45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187acd4bfc45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9ff042dfa468b" /><Relationship Type="http://schemas.openxmlformats.org/officeDocument/2006/relationships/notesSlide" Target="/ppt/notesSlides/notesSlide1.xml" Id="R08c1aea310b245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5f17958644d25" /><Relationship Type="http://schemas.openxmlformats.org/officeDocument/2006/relationships/notesSlide" Target="/ppt/notesSlides/notesSlide2.xml" Id="Rf4a5426472f743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3afe8ed0045c7" /><Relationship Type="http://schemas.openxmlformats.org/officeDocument/2006/relationships/notesSlide" Target="/ppt/notesSlides/notesSlide3.xml" Id="R9c6d7fe328634b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0b3aa3bef4613" /><Relationship Type="http://schemas.openxmlformats.org/officeDocument/2006/relationships/notesSlide" Target="/ppt/notesSlides/notesSlide4.xml" Id="Rd2d67fb7801c4d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d35d4abe34471" /><Relationship Type="http://schemas.openxmlformats.org/officeDocument/2006/relationships/notesSlide" Target="/ppt/notesSlides/notesSlide5.xml" Id="R43929a57b2e640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08bda94e144f9" /><Relationship Type="http://schemas.openxmlformats.org/officeDocument/2006/relationships/notesSlide" Target="/ppt/notesSlides/notesSlide6.xml" Id="Rf6cc6f89e91b4e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7a213783d4ad0" /><Relationship Type="http://schemas.openxmlformats.org/officeDocument/2006/relationships/notesSlide" Target="/ppt/notesSlides/notesSlide7.xml" Id="Rbd8297db160f40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3688948cf4d68" /><Relationship Type="http://schemas.openxmlformats.org/officeDocument/2006/relationships/notesSlide" Target="/ppt/notesSlides/notesSlide8.xml" Id="Rdd0aa6ec8ea748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7deb313114d5e" /><Relationship Type="http://schemas.openxmlformats.org/officeDocument/2006/relationships/notesSlide" Target="/ppt/notesSlides/notesSlide9.xml" Id="R7c5e35bf2fe743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045067e1344a5" /><Relationship Type="http://schemas.openxmlformats.org/officeDocument/2006/relationships/notesSlide" Target="/ppt/notesSlides/notesSlide10.xml" Id="R7d9d845cc04d41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d65b056a640f4" /><Relationship Type="http://schemas.openxmlformats.org/officeDocument/2006/relationships/notesSlide" Target="/ppt/notesSlides/notesSlide11.xml" Id="R49417b26bbf84a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c020cedfb400f" /><Relationship Type="http://schemas.openxmlformats.org/officeDocument/2006/relationships/notesSlide" Target="/ppt/notesSlides/notesSlide12.xml" Id="Rc81a710cf36f4d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3bcca65174c4f" /><Relationship Type="http://schemas.openxmlformats.org/officeDocument/2006/relationships/notesSlide" Target="/ppt/notesSlides/notesSlide13.xml" Id="Rbcc0e3f2d65a47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23c2252114bfd" /><Relationship Type="http://schemas.openxmlformats.org/officeDocument/2006/relationships/notesSlide" Target="/ppt/notesSlides/notesSlide14.xml" Id="Re77069083a4b4a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039089cc34a64" /><Relationship Type="http://schemas.openxmlformats.org/officeDocument/2006/relationships/notesSlide" Target="/ppt/notesSlides/notesSlide15.xml" Id="R65c64299395c4e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0c192ea7d453a" /><Relationship Type="http://schemas.openxmlformats.org/officeDocument/2006/relationships/notesSlide" Target="/ppt/notesSlides/notesSlide16.xml" Id="R6189b4d494de42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623D4403-36CC-496B-86DB-E2A7D4C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1546A0F-51DC-45FE-9643-58DB7B92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5899C4-01C4-4BBD-9EC2-75C3CA99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Run and judge a fair test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71035FB-ACF0-44A2-BA29-8063249E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A250AEE-AE2F-48AD-B4B3-B1BB61BB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4E4F54A-811E-4105-B364-A13CB673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01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1005556-FD1D-40D7-9C86-F6BA8185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685E"/>
                </a:solidFill>
              </a:defRPr>
            </a:pPr>
            <a:r>
              <a:rPr sz="3900" b="1">
                <a:solidFill>
                  <a:srgbClr val="28685E"/>
                </a:solidFill>
              </a:rPr>
              <a:t>Plan. Repeat. Check. Conclude.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1452828-51E2-49D9-AADA-73F695BF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Use evidence to answer the question, and explain its limits.</a:t>
            </a:r>
          </a:p>
        </p:txBody>
      </p:sp>
    </p:spTree>
    <p:extLst>
      <p:ext uri="{BB962C8B-B14F-4D97-AF65-F5344CB8AC3E}">
        <p14:creationId xmlns:p14="http://schemas.microsoft.com/office/powerpoint/2010/main" val="2041549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3662FD08-030E-4633-AC8D-1FD67A7B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DEB31BA-F8F5-4468-86E4-B7923BF6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9ED7FC-71D2-4B17-A199-DA266D36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Recover the question and your plan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F3B72B6-F009-4C05-A9C0-2B51BAE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3CEDBCA-4D1D-4596-98F7-5F3FFD86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D6713C4-3CEE-4F81-BD51-FC17F7C5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02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2681D7D3-909B-41A8-AAB1-6864B8A5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Does the run-out surface affect the trolley’s stopping distance?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05DD6D8D-97E7-4ECF-BAC0-E369ADB2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Choose two surfaces. Complete CHANGE / KEEP / MEASURE.</a:t>
            </a:r>
          </a:p>
        </p:txBody>
      </p:sp>
    </p:spTree>
    <p:extLst>
      <p:ext uri="{BB962C8B-B14F-4D97-AF65-F5344CB8AC3E}">
        <p14:creationId xmlns:p14="http://schemas.microsoft.com/office/powerpoint/2010/main" val="336429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022E3D3E-C251-4222-A303-BAF71B59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632679A-BA95-4EB4-9C15-EEC4BD54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967FFD-E63F-444C-80DD-6C07AFB1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Check a safe, controlled setup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F51C913-533E-4807-9691-5C36052D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71B1C20-57EC-4484-88AF-2CF79B69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5067214-D459-4E50-9C4E-897EFF71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03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A5D09ABE-ACCF-4A50-97E8-E4866F53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Adult secures a low ramp, clear run and padded stop.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B7021FEE-A152-47CE-905C-D3D3E6CB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the trolley, ramp height and release mark fixed.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6A6488C7-AA18-4C05-B3C8-D92E5FA2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the run-out level and the ramp join unchanged.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25109C48-9FE5-401E-B939-A321FCE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Agree the zero, trolley edge and no-push release.</a:t>
            </a:r>
          </a:p>
        </p:txBody>
      </p:sp>
    </p:spTree>
    <p:extLst>
      <p:ext uri="{BB962C8B-B14F-4D97-AF65-F5344CB8AC3E}">
        <p14:creationId xmlns:p14="http://schemas.microsoft.com/office/powerpoint/2010/main" val="2934282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E3E5BEEC-37DD-4E6E-81FF-E1CF1D0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77CA67D-7531-40FD-88C5-8E2070F3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804AEF-2369-4C68-9D70-DD04D974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Record in a useful table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E698D7D-1342-4914-BC4B-3B36CE23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A0B74E-FBB9-4BA6-9B6C-C58C35DD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4DBCFDA-51FD-4102-84B8-C82FAD0D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04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2BF780F7-CE50-4B7A-9814-2A6A31B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Name each surface before testing.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918C106F-FC9D-462C-B430-75438EB6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Use columns: Trial 1 / cm, Trial 2 / cm, Trial 3 / cm.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A9EC007D-1EEE-47F2-86B1-86153303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Record from the same zero to the same trolley edge.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EED6E557-9C89-48A0-AECE-838E712F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notes about any method change or non-run.</a:t>
            </a:r>
          </a:p>
        </p:txBody>
      </p:sp>
    </p:spTree>
    <p:extLst>
      <p:ext uri="{BB962C8B-B14F-4D97-AF65-F5344CB8AC3E}">
        <p14:creationId xmlns:p14="http://schemas.microsoft.com/office/powerpoint/2010/main" val="1389617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E98E9CA-C6B5-40B3-9621-D856AD9D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4786148-1FDD-45DA-BA32-9230C4B9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7558A1-713C-4CB1-BC31-DE8B656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Surface A: make three releases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74FEEEA-1682-4F56-A6D3-D41E47C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E43B060-1BA1-49A3-A854-0645A702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354CD28-8EF2-4BBC-B263-045B4BF4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05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545D671D-DBAA-481C-B4E4-3CE4DB79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Release without a push. Wait until the trolley stops.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13129DC7-239F-49BA-9367-3B31959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Measure and record the first distance.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CD655606-7144-4A4C-BA2F-688BE012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Reset to the same mark; repeat twice if practicable.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68754399-A430-433A-9C20-490AA80F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every value and any method note.</a:t>
            </a:r>
          </a:p>
        </p:txBody>
      </p:sp>
    </p:spTree>
    <p:extLst>
      <p:ext uri="{BB962C8B-B14F-4D97-AF65-F5344CB8AC3E}">
        <p14:creationId xmlns:p14="http://schemas.microsoft.com/office/powerpoint/2010/main" val="1771471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6C00C736-3481-4316-9926-6D9EFDEA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2679C28-597A-474E-8696-40E8E04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4F3711-F455-4ED8-86BB-92F3049F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Surface B: keep the controls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053039D-604C-47B1-8D91-1901A913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1DDEA15-F832-45FE-8271-70EAFC98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2D4068D-BDDF-42DF-9F7E-BC748BA0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06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45F7F89B-3BF9-4ECF-BF0B-01DED8FC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Change only the level run-out sample.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B093D29B-8064-49AF-9AEC-B02D6E93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Recheck the ramp join, release and measuring zero.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F13C6687-99FD-43A4-BBEF-29029FCA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Run three no-push trials if practicable.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CCEEED0B-1162-4D30-9B12-E30E156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Record distances in centimetres and note any issue.</a:t>
            </a:r>
          </a:p>
        </p:txBody>
      </p:sp>
    </p:spTree>
    <p:extLst>
      <p:ext uri="{BB962C8B-B14F-4D97-AF65-F5344CB8AC3E}">
        <p14:creationId xmlns:p14="http://schemas.microsoft.com/office/powerpoint/2010/main" val="247389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6FDE45AF-0D4C-4160-B523-B8A40514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7F278AB-DC6E-42E8-9ABF-FFA8287A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849D11-7B1E-4A48-BDBE-920F84E4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Compare the repeated values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FB04773-F2E6-4E9C-9287-F1ECE279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AC6F2A8-19BF-4CB5-9619-7D41D1AD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3432FFF-A67F-40B3-AE2B-3BCD146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07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09C5C35C-55BD-4A4F-9A49-3C80F9F0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Are the three values for each surface close?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81B13574-0F7F-409D-9D41-D2F82072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Is one run noticeably different? Keep it.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B2F71542-3698-4E09-AAA1-68600CBD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What did you observe about the method?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73411033-28FB-47C7-96A0-5BA5EA72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Use values from both surfaces in your explanation.</a:t>
            </a:r>
          </a:p>
        </p:txBody>
      </p:sp>
    </p:spTree>
    <p:extLst>
      <p:ext uri="{BB962C8B-B14F-4D97-AF65-F5344CB8AC3E}">
        <p14:creationId xmlns:p14="http://schemas.microsoft.com/office/powerpoint/2010/main" val="585074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8476246-47B0-4149-9060-A3B3873D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F341DCA-ED95-4C53-97E4-74090323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0FED63-9BD9-4AD6-AC71-3CB13AD6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No kit? Interpret this model set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2B24895-DBCD-469B-BBDD-71BA4EE3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5B13C12-3DF8-477E-8FEF-C26A8BF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BFAFFE0-39AE-4401-8310-C8169283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08</a:t>
            </a:r>
          </a:p>
        </p:txBody>
      </p:sp>
      <p:sp>
        <p:nvSpPr>
          <p:cNvPr id="7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74C68E19-4157-4814-A8C6-47752D9F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85E"/>
                </a:solidFill>
              </a:defRPr>
            </a:pPr>
            <a:r>
              <a:rPr sz="2025" b="1">
                <a:solidFill>
                  <a:srgbClr val="28685E"/>
                </a:solidFill>
              </a:rPr>
              <a:t>INVENTED TEACHING DATA</a:t>
            </a:r>
          </a:p>
        </p:txBody>
      </p:sp>
      <p:sp>
        <p:nvSpPr>
          <p:cNvPr id="8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C5BC6F6F-369A-4E3B-BA21-BB18618C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5D25"/>
                </a:solidFill>
              </a:defRPr>
            </a:pPr>
            <a:r>
              <a:rPr sz="2025" b="1">
                <a:solidFill>
                  <a:srgbClr val="A65D25"/>
                </a:solidFill>
              </a:rPr>
              <a:t>WHAT MUST BE TRUE?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8E8D9744-C7FD-488F-9E16-05CA0FDB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A: 48 cm, 50 cm, 49 cm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B: 27 cm, 29 cm, 28 cm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These are not your measurements.</a:t>
            </a:r>
          </a:p>
        </p:txBody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989FE270-6EEF-4201-A6C0-538E9C5F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857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Same trolley and ramp?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Same no-push release and zero?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Only run-out surface changed?</a:t>
            </a:r>
          </a:p>
        </p:txBody>
      </p:sp>
    </p:spTree>
    <p:extLst>
      <p:ext uri="{BB962C8B-B14F-4D97-AF65-F5344CB8AC3E}">
        <p14:creationId xmlns:p14="http://schemas.microsoft.com/office/powerpoint/2010/main" val="741203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542BAF38-87EF-4715-9B1A-9D52A8B1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ED33375-0590-4978-8B19-ED2F3223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DF8E62-C588-41C6-9A68-E9FF2DD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Pause and inspect one uncertainty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2BC0163-6BF3-4D5B-B0D0-DBD09395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E3E2522-BDE4-45A9-9CA9-94A2CAA1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56F9EB0-EFC6-429B-A7DE-31E18A0D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09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A1279430-B52E-4A11-824D-77D47D37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Pause the kit. Compare the repeats.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B811AD97-0BB2-4D01-8D51-F4418729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Mark an unusual run or possible method issue.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D7EDD8BE-70AA-4E46-9EF3-B466F5F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Do not delete a result because it differs.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8452315B-1CB1-4684-9ABF-E927E501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Decide whether one controlled retry would help.</a:t>
            </a:r>
          </a:p>
        </p:txBody>
      </p:sp>
    </p:spTree>
    <p:extLst>
      <p:ext uri="{BB962C8B-B14F-4D97-AF65-F5344CB8AC3E}">
        <p14:creationId xmlns:p14="http://schemas.microsoft.com/office/powerpoint/2010/main" val="642565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2827CC08-9C54-4340-9575-39AD3099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F9D3557-580C-4F88-845E-04D1104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A5F144-87F4-4631-908C-4EBEBC27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Retry a method issue if time allows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A5FFF64-354D-430E-B86D-C8219CED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6376DF7-9C08-4B29-9C9B-D3FABD9F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184ECA3-A88E-48A9-9D9F-C42729B2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10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BD195737-7CB6-4733-B50B-CF63D528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Name the concern before repeating.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B98F8B8F-975F-49E5-9B4A-7D06F65D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Correct it, then use the same planned method.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318A7F3F-66CE-44EA-9A26-42122533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Label the retry separately from the original trial.</a:t>
            </a:r>
          </a:p>
        </p:txBody>
      </p:sp>
    </p:spTree>
    <p:extLst>
      <p:ext uri="{BB962C8B-B14F-4D97-AF65-F5344CB8AC3E}">
        <p14:creationId xmlns:p14="http://schemas.microsoft.com/office/powerpoint/2010/main" val="13374444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B63C09D4-0EB5-4FB1-89A3-A3EA48E4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B733D0C-82E4-4834-BDF3-51B30C39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61A486-1BAB-4027-8B0E-6276C414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Optional: calculate a mean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BC5BD70-CDC9-435F-A2A8-85927AE4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86EA020-4F55-4DCC-AD8E-B10B6722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2303569-E767-42E1-9F22-66741EB7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11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16120F86-C0FF-41CC-BFEA-8A6E452D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Mean = total of the three distances ÷ 3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A31CF72D-AAE6-40CE-937A-737F606B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Model A: (48 + 50 + 49) ÷ 3 = 49 cm.</a:t>
            </a:r>
          </a:p>
        </p:txBody>
      </p:sp>
    </p:spTree>
    <p:extLst>
      <p:ext uri="{BB962C8B-B14F-4D97-AF65-F5344CB8AC3E}">
        <p14:creationId xmlns:p14="http://schemas.microsoft.com/office/powerpoint/2010/main" val="12510989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3D51E7C5-498A-4E13-A50D-9A61CD77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EE44921-35D9-491B-920D-1FE74543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ECD56A-1826-479E-9DDD-70F27820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Answer using the evidence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6F394A7-6552-46B6-90D8-F85CB895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B911478-7049-4856-83C5-5D3FEB3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84AACC5-AAC5-4A5F-B58A-1C2A1266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12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2D374841-770F-4292-8D2A-2AFF2077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Our evidence supports ___ because the distances were ___.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71B90D36-86D1-4417-BBD0-9F89C31D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This applies to this setup. One limit or method concern is ___.</a:t>
            </a:r>
          </a:p>
        </p:txBody>
      </p:sp>
    </p:spTree>
    <p:extLst>
      <p:ext uri="{BB962C8B-B14F-4D97-AF65-F5344CB8AC3E}">
        <p14:creationId xmlns:p14="http://schemas.microsoft.com/office/powerpoint/2010/main" val="15535720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8240F451-242A-4934-8E23-875A2068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A670250-1677-4FF1-9323-203497F7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B67048-97B3-4AA5-9AC3-2FA8CFDF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Keep the plan with the results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9090447-E099-487B-B3B0-C3F136B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23CDC3C-493E-4FF5-899F-B149266F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17FE4D5-606A-4706-88DD-A01F6FF4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13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5968CC4C-DDE9-4D4F-ABBB-054019AC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your plan, all results and conclusion together.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AA1C3734-C637-404A-9B29-9E272FBA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Label actual, adult-recorded or model-data work.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58CF3F0F-68A2-4100-A5E1-15077355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Reset the space and return the equipment.</a:t>
            </a:r>
          </a:p>
        </p:txBody>
      </p:sp>
    </p:spTree>
    <p:extLst>
      <p:ext uri="{BB962C8B-B14F-4D97-AF65-F5344CB8AC3E}">
        <p14:creationId xmlns:p14="http://schemas.microsoft.com/office/powerpoint/2010/main" val="12036066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186F4936-F0D1-4131-B4A3-877AC06E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596188E-8B27-4569-927D-7A6E1F28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7A6C0B-46B8-447F-80D8-43C780E5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Your feedback has an audience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04E213B-5F02-444E-A67B-7D983CD0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74635F8-4AC3-41E5-AD05-804DE095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BDBD3DD-8ACD-42E1-981E-2CCE0C50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14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004C2CB9-4322-44B4-9C98-3D1B892C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What helped while you waited between trials?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16E71186-BF90-4074-A690-E50A9709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What could make testing or recording more accessible?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3A45E416-FEA0-4AA3-92BA-94200AE3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Point, sign, speak, write—or pass privately.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C519AB02-DDDA-4A51-85B7-86B61892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Adult: agree a change, explain limits and check back.</a:t>
            </a:r>
          </a:p>
        </p:txBody>
      </p:sp>
    </p:spTree>
    <p:extLst>
      <p:ext uri="{BB962C8B-B14F-4D97-AF65-F5344CB8AC3E}">
        <p14:creationId xmlns:p14="http://schemas.microsoft.com/office/powerpoint/2010/main" val="959978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22E79433-BD4D-4A8F-97E0-675825E1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2A3E5AE-8945-4D69-AC6A-8A6D7CB8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FDA75A-AE80-4602-8AF8-51A048B5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Explain why the method matters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1AE1529-EE49-43AC-89D4-D4FD1D51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AEC8E17-C0F9-429F-89D7-B73B447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2FC1B0A-A76E-4BAA-A0F9-71B97CF7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15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5BAEA2C5-6875-4EC9-9F18-75FA2323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Supported: how many variables did we plan to change?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547B9228-805D-4DFF-9194-80166FD5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Standard: name one control variable from this test.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46A1D906-F1C6-49E1-909D-88460705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Stretch: why are repeats more useful than one result?</a:t>
            </a:r>
          </a:p>
        </p:txBody>
      </p:sp>
    </p:spTree>
    <p:extLst>
      <p:ext uri="{BB962C8B-B14F-4D97-AF65-F5344CB8AC3E}">
        <p14:creationId xmlns:p14="http://schemas.microsoft.com/office/powerpoint/2010/main" val="10495604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C2C668BA-7F29-4859-BE50-F540933F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4A2EB7F-92C3-4EDB-B8C9-5DD6D618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18659C-5120-488C-B447-98B9165B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Check and improve your answer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8AA1FC2-CF0B-4842-B0F8-94237711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038AD8B-EBB3-45EC-BBC1-EEF2A3B8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5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C633F80-5C6D-4F20-A8B0-BB299DA6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16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0073E760-2EA9-4DC9-9D47-763BF14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We changed the surface and controlled the release. Repeats helped us judge consistency.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C92FD6CF-12CA-4504-9AA7-1E7F0F50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An unexpected result stays in the record, with any method concern noted.</a:t>
            </a:r>
          </a:p>
        </p:txBody>
      </p:sp>
    </p:spTree>
    <p:extLst>
      <p:ext uri="{BB962C8B-B14F-4D97-AF65-F5344CB8AC3E}">
        <p14:creationId xmlns:p14="http://schemas.microsoft.com/office/powerpoint/2010/main" val="1787607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2026-09-06T12:11:43.6820000Z</dcterms:created>
  <dcterms:modified xsi:type="dcterms:W3CDTF">2026-09-06T12:11:43.6820000Z</dcterms:modified>
</coreProperties>
</file>