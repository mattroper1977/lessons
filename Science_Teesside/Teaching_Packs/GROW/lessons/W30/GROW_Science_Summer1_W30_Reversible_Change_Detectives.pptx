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d7e15b49de44e4" /><Relationship Type="http://schemas.openxmlformats.org/officeDocument/2006/relationships/extended-properties" Target="/docProps/app.xml" Id="Rc3873959f6a94e99" /><Relationship Type="http://schemas.openxmlformats.org/officeDocument/2006/relationships/officeDocument" Target="/ppt/presentation.xml" Id="Rcc6ecf14a06844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cc6ca14a4d4ccc"/>
  </p:sldMasterIdLst>
  <p:notesMasterIdLst>
    <p:notesMasterId xmlns:r="http://schemas.openxmlformats.org/officeDocument/2006/relationships" r:id="R1e39dafe336f4e7f"/>
  </p:notesMasterIdLst>
  <p:sldIdLst>
    <p:sldId xmlns:r="http://schemas.openxmlformats.org/officeDocument/2006/relationships" id="256" r:id="Rff2349692f0c4b47"/>
    <p:sldId xmlns:r="http://schemas.openxmlformats.org/officeDocument/2006/relationships" id="257" r:id="R072ae4c9a9f24951"/>
    <p:sldId xmlns:r="http://schemas.openxmlformats.org/officeDocument/2006/relationships" id="258" r:id="R1b67f509f6eb4bde"/>
    <p:sldId xmlns:r="http://schemas.openxmlformats.org/officeDocument/2006/relationships" id="259" r:id="R7d6adc1778d542f3"/>
    <p:sldId xmlns:r="http://schemas.openxmlformats.org/officeDocument/2006/relationships" id="260" r:id="R9985c5e8198747c6"/>
    <p:sldId xmlns:r="http://schemas.openxmlformats.org/officeDocument/2006/relationships" id="261" r:id="R116a4ae9b49f4adb"/>
    <p:sldId xmlns:r="http://schemas.openxmlformats.org/officeDocument/2006/relationships" id="262" r:id="R367f79dcf66c41e2"/>
    <p:sldId xmlns:r="http://schemas.openxmlformats.org/officeDocument/2006/relationships" id="263" r:id="R0da2392677ba488e"/>
    <p:sldId xmlns:r="http://schemas.openxmlformats.org/officeDocument/2006/relationships" id="264" r:id="Ra06712cc9743485f"/>
    <p:sldId xmlns:r="http://schemas.openxmlformats.org/officeDocument/2006/relationships" id="265" r:id="R5ee3bfb32cdc4caa"/>
    <p:sldId xmlns:r="http://schemas.openxmlformats.org/officeDocument/2006/relationships" id="266" r:id="R1a78465262744309"/>
    <p:sldId xmlns:r="http://schemas.openxmlformats.org/officeDocument/2006/relationships" id="267" r:id="Rd42214f5eccb4dae"/>
    <p:sldId xmlns:r="http://schemas.openxmlformats.org/officeDocument/2006/relationships" id="268" r:id="Rbc71966220d84406"/>
    <p:sldId xmlns:r="http://schemas.openxmlformats.org/officeDocument/2006/relationships" id="269" r:id="R3336bb6914114055"/>
    <p:sldId xmlns:r="http://schemas.openxmlformats.org/officeDocument/2006/relationships" id="270" r:id="Rfaff0768e8c04a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50a35468c54c31" /><Relationship Type="http://schemas.openxmlformats.org/officeDocument/2006/relationships/slideMaster" Target="/ppt/slideMasters/slideMaster1.xml" Id="Ra7cc6ca14a4d4ccc" /><Relationship Type="http://schemas.openxmlformats.org/officeDocument/2006/relationships/notesMaster" Target="/ppt/notesMasters/notesMaster1.xml" Id="R1e39dafe336f4e7f" /><Relationship Type="http://schemas.openxmlformats.org/officeDocument/2006/relationships/presProps" Target="/ppt/presProps.xml" Id="R8b15eb8c481f46e1" /><Relationship Type="http://schemas.openxmlformats.org/officeDocument/2006/relationships/tableStyles" Target="/ppt/tableStyles.xml" Id="R01b9cd62807645ad" /><Relationship Type="http://schemas.openxmlformats.org/officeDocument/2006/relationships/slide" Target="/ppt/slides/slide1.xml" Id="Rff2349692f0c4b47" /><Relationship Type="http://schemas.openxmlformats.org/officeDocument/2006/relationships/slide" Target="/ppt/slides/slide2.xml" Id="R072ae4c9a9f24951" /><Relationship Type="http://schemas.openxmlformats.org/officeDocument/2006/relationships/slide" Target="/ppt/slides/slide3.xml" Id="R1b67f509f6eb4bde" /><Relationship Type="http://schemas.openxmlformats.org/officeDocument/2006/relationships/slide" Target="/ppt/slides/slide4.xml" Id="R7d6adc1778d542f3" /><Relationship Type="http://schemas.openxmlformats.org/officeDocument/2006/relationships/slide" Target="/ppt/slides/slide5.xml" Id="R9985c5e8198747c6" /><Relationship Type="http://schemas.openxmlformats.org/officeDocument/2006/relationships/slide" Target="/ppt/slides/slide6.xml" Id="R116a4ae9b49f4adb" /><Relationship Type="http://schemas.openxmlformats.org/officeDocument/2006/relationships/slide" Target="/ppt/slides/slide7.xml" Id="R367f79dcf66c41e2" /><Relationship Type="http://schemas.openxmlformats.org/officeDocument/2006/relationships/slide" Target="/ppt/slides/slide8.xml" Id="R0da2392677ba488e" /><Relationship Type="http://schemas.openxmlformats.org/officeDocument/2006/relationships/slide" Target="/ppt/slides/slide9.xml" Id="Ra06712cc9743485f" /><Relationship Type="http://schemas.openxmlformats.org/officeDocument/2006/relationships/slide" Target="/ppt/slides/slide10.xml" Id="R5ee3bfb32cdc4caa" /><Relationship Type="http://schemas.openxmlformats.org/officeDocument/2006/relationships/slide" Target="/ppt/slides/slide11.xml" Id="R1a78465262744309" /><Relationship Type="http://schemas.openxmlformats.org/officeDocument/2006/relationships/slide" Target="/ppt/slides/slide12.xml" Id="Rd42214f5eccb4dae" /><Relationship Type="http://schemas.openxmlformats.org/officeDocument/2006/relationships/slide" Target="/ppt/slides/slide13.xml" Id="Rbc71966220d84406" /><Relationship Type="http://schemas.openxmlformats.org/officeDocument/2006/relationships/slide" Target="/ppt/slides/slide14.xml" Id="R3336bb6914114055" /><Relationship Type="http://schemas.openxmlformats.org/officeDocument/2006/relationships/slide" Target="/ppt/slides/slide15.xml" Id="Rfaff0768e8c04a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8ddbf9cb9e42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0753ac7b404dab" /><Relationship Type="http://schemas.openxmlformats.org/officeDocument/2006/relationships/notesMaster" Target="/ppt/notesMasters/notesMaster1.xml" Id="R19806e8d303040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0f249277fa42d4" /><Relationship Type="http://schemas.openxmlformats.org/officeDocument/2006/relationships/notesMaster" Target="/ppt/notesMasters/notesMaster1.xml" Id="R0186f316bac047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39f20997954254" /><Relationship Type="http://schemas.openxmlformats.org/officeDocument/2006/relationships/notesMaster" Target="/ppt/notesMasters/notesMaster1.xml" Id="Rec36f3f4b0964f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77e15a4e27484e" /><Relationship Type="http://schemas.openxmlformats.org/officeDocument/2006/relationships/notesMaster" Target="/ppt/notesMasters/notesMaster1.xml" Id="Rf2cee67160304c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ee10d3725c45ac" /><Relationship Type="http://schemas.openxmlformats.org/officeDocument/2006/relationships/notesMaster" Target="/ppt/notesMasters/notesMaster1.xml" Id="Ra0b67ca75b2e48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f680b9c0444f88" /><Relationship Type="http://schemas.openxmlformats.org/officeDocument/2006/relationships/notesMaster" Target="/ppt/notesMasters/notesMaster1.xml" Id="R9712a86a076d4f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38eb22a3cc4768" /><Relationship Type="http://schemas.openxmlformats.org/officeDocument/2006/relationships/notesMaster" Target="/ppt/notesMasters/notesMaster1.xml" Id="R7da443d864b74b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db13bd02504e7c" /><Relationship Type="http://schemas.openxmlformats.org/officeDocument/2006/relationships/notesMaster" Target="/ppt/notesMasters/notesMaster1.xml" Id="R06cc4d4d17824b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81fd98c7834bb1" /><Relationship Type="http://schemas.openxmlformats.org/officeDocument/2006/relationships/notesMaster" Target="/ppt/notesMasters/notesMaster1.xml" Id="R121b53c051984b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6243bee4fc4bed" /><Relationship Type="http://schemas.openxmlformats.org/officeDocument/2006/relationships/notesMaster" Target="/ppt/notesMasters/notesMaster1.xml" Id="Ra740b9a68d7e49e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7fc985fbf5e4994" /><Relationship Type="http://schemas.openxmlformats.org/officeDocument/2006/relationships/notesMaster" Target="/ppt/notesMasters/notesMaster1.xml" Id="R7e19b6b272b749b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d5bbc46a1894923" /><Relationship Type="http://schemas.openxmlformats.org/officeDocument/2006/relationships/notesMaster" Target="/ppt/notesMasters/notesMaster1.xml" Id="Rf7d551eee65b435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2611a432c354780" /><Relationship Type="http://schemas.openxmlformats.org/officeDocument/2006/relationships/notesMaster" Target="/ppt/notesMasters/notesMaster1.xml" Id="R17cbe6d2e48c40a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52aad49bc6149d7" /><Relationship Type="http://schemas.openxmlformats.org/officeDocument/2006/relationships/notesMaster" Target="/ppt/notesMasters/notesMaster1.xml" Id="Rd1fe0406c019488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c6d85c22f6f4074" /><Relationship Type="http://schemas.openxmlformats.org/officeDocument/2006/relationships/notesMaster" Target="/ppt/notesMasters/notesMaster1.xml" Id="Rb46daa3cd0e64a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 the question with paper evidence. No tasting is allowed or needed to identify a dissolved substance.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American Chemical Society: Why does water dissolve sugar?</a:t>
            </a:r>
          </a:p>
          <a:p xmlns:a="http://schemas.openxmlformats.org/drawingml/2006/main">
            <a:r>
              <a:t>https://www.acs.org/middleschoolchemistry/lessonplans/chapter5/lesson4.html</a:t>
            </a:r>
          </a:p>
          <a:p xmlns:a="http://schemas.openxmlformats.org/drawingml/2006/main">
            <a:r>
              <a:t>Checked September 2026. Sugar molecules separate from one another and mix among water molecules without the sucrose molecules being destroyed.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American Chemical Society: Changes of state</a:t>
            </a:r>
          </a:p>
          <a:p xmlns:a="http://schemas.openxmlformats.org/drawingml/2006/main">
            <a:r>
              <a:t>https://www.acs.org/middleschoolchemistry/lessonplans/chapter2.html</a:t>
            </a:r>
          </a:p>
          <a:p xmlns:a="http://schemas.openxmlformats.org/drawingml/2006/main">
            <a:r>
              <a:t>Checked September 2026. Melting, freezing, evaporation and condensation; practicals here are replaced by original paper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Society of Chemistry: Separation techniques</a:t>
            </a:r>
          </a:p>
          <a:p xmlns:a="http://schemas.openxmlformats.org/drawingml/2006/main">
            <a:r>
              <a:t>https://edu.rsc.org/cpd/separation-techniques/3009787.article</a:t>
            </a:r>
          </a:p>
          <a:p xmlns:a="http://schemas.openxmlformats.org/drawingml/2006/main">
            <a:r>
              <a:t>Checked September 2026. Filtration, evaporation and separation misconceptions. Classroom activities are original and include a complete paper route.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Accurate examples; no; grams or kilograms. Do not assume all clear liquids are pure water.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American Chemical Society: Why does water dissolve sugar?</a:t>
            </a:r>
          </a:p>
          <a:p xmlns:a="http://schemas.openxmlformats.org/drawingml/2006/main">
            <a:r>
              <a:t>https://www.acs.org/middleschoolchemistry/lessonplans/chapter5/lesson4.html</a:t>
            </a:r>
          </a:p>
          <a:p xmlns:a="http://schemas.openxmlformats.org/drawingml/2006/main">
            <a:r>
              <a:t>Checked September 2026. Sugar molecules separate from one another and mix among water molecules without the sucrose molecules being destroyed.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American Chemical Society: Changes of state</a:t>
            </a:r>
          </a:p>
          <a:p xmlns:a="http://schemas.openxmlformats.org/drawingml/2006/main">
            <a:r>
              <a:t>https://www.acs.org/middleschoolchemistry/lessonplans/chapter2.html</a:t>
            </a:r>
          </a:p>
          <a:p xmlns:a="http://schemas.openxmlformats.org/drawingml/2006/main">
            <a:r>
              <a:t>Checked September 2026. Melting, freezing, evaporation and condensation; practicals here are replaced by original paper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Society of Chemistry: Separation techniques</a:t>
            </a:r>
          </a:p>
          <a:p xmlns:a="http://schemas.openxmlformats.org/drawingml/2006/main">
            <a:r>
              <a:t>https://edu.rsc.org/cpd/separation-techniques/3009787.article</a:t>
            </a:r>
          </a:p>
          <a:p xmlns:a="http://schemas.openxmlformats.org/drawingml/2006/main">
            <a:r>
              <a:t>Checked September 2026. Filtration, evaporation and separation misconceptions. Classroom activities are original and include a complete paper route.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8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Think aloud: I track water before and after. A second substance is not required for the melting step. Energy transfer matters; warming does not need to continue raising temperature during the phase change. Numerical phase temperatures are not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Two macroscopic states of the same substance are connected by opposite arrows: warming can melt ice into liquid water; cooling enough can freeze water into ice. This diagram does not represent exact density or crystal structure.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American Chemical Society: Why does water dissolve sugar?</a:t>
            </a:r>
          </a:p>
          <a:p xmlns:a="http://schemas.openxmlformats.org/drawingml/2006/main">
            <a:r>
              <a:t>https://www.acs.org/middleschoolchemistry/lessonplans/chapter5/lesson4.html</a:t>
            </a:r>
          </a:p>
          <a:p xmlns:a="http://schemas.openxmlformats.org/drawingml/2006/main">
            <a:r>
              <a:t>Checked September 2026. Sugar molecules separate from one another and mix among water molecules without the sucrose molecules being destroyed.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American Chemical Society: Changes of state</a:t>
            </a:r>
          </a:p>
          <a:p xmlns:a="http://schemas.openxmlformats.org/drawingml/2006/main">
            <a:r>
              <a:t>https://www.acs.org/middleschoolchemistry/lessonplans/chapter2.html</a:t>
            </a:r>
          </a:p>
          <a:p xmlns:a="http://schemas.openxmlformats.org/drawingml/2006/main">
            <a:r>
              <a:t>Checked September 2026. Melting, freezing, evaporation and condensation; practicals here are replaced by original paper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Society of Chemistry: Separation techniques</a:t>
            </a:r>
          </a:p>
          <a:p xmlns:a="http://schemas.openxmlformats.org/drawingml/2006/main">
            <a:r>
              <a:t>https://edu.rsc.org/cpd/separation-techniques/3009787.article</a:t>
            </a:r>
          </a:p>
          <a:p xmlns:a="http://schemas.openxmlformats.org/drawingml/2006/main">
            <a:r>
              <a:t>Checked September 2026. Filtration, evaporation and separation misconceptions. Classroom activities are original and include a complete paper route.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I do time. Model the four orange symbols before and after: same number, new distribution. Blue and orange symbol sizes are schematic. Sucrose molecules are not broken into atoms in this dissolving example.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Eight water symbols and four sugar symbols are retained in both panels. Sugar begins clustered and ends dispersed among water; no symbols disappear. Sizes, shapes and quantities are schematic.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American Chemical Society: Why does water dissolve sugar?</a:t>
            </a:r>
          </a:p>
          <a:p xmlns:a="http://schemas.openxmlformats.org/drawingml/2006/main">
            <a:r>
              <a:t>https://www.acs.org/middleschoolchemistry/lessonplans/chapter5/lesson4.html</a:t>
            </a:r>
          </a:p>
          <a:p xmlns:a="http://schemas.openxmlformats.org/drawingml/2006/main">
            <a:r>
              <a:t>Checked September 2026. Sugar molecules separate from one another and mix among water molecules without the sucrose molecules being destroyed.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American Chemical Society: Changes of state</a:t>
            </a:r>
          </a:p>
          <a:p xmlns:a="http://schemas.openxmlformats.org/drawingml/2006/main">
            <a:r>
              <a:t>https://www.acs.org/middleschoolchemistry/lessonplans/chapter2.html</a:t>
            </a:r>
          </a:p>
          <a:p xmlns:a="http://schemas.openxmlformats.org/drawingml/2006/main">
            <a:r>
              <a:t>Checked September 2026. Melting, freezing, evaporation and condensation; practicals here are replaced by original paper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Society of Chemistry: Separation techniques</a:t>
            </a:r>
          </a:p>
          <a:p xmlns:a="http://schemas.openxmlformats.org/drawingml/2006/main">
            <a:r>
              <a:t>https://edu.rsc.org/cpd/separation-techniques/3009787.article</a:t>
            </a:r>
          </a:p>
          <a:p xmlns:a="http://schemas.openxmlformats.org/drawingml/2006/main">
            <a:r>
              <a:t>Checked September 2026. Filtration, evaporation and separation misconceptions. Classroom activities are original and include a complete paper route.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I do time. Explain that the recovery observation spans days and is constructed. No rapid or heated sugar recovery is instructed. This lesson distinguishes concepts; next lesson chooses specific recovery methods.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A simplified scientific sequence: Sugar solution; Water evaporates</a:t>
            </a:r>
          </a:p>
          <a:p xmlns:a="http://schemas.openxmlformats.org/drawingml/2006/main">
            <a:r>
              <a:t>over time; Sugar remains</a:t>
            </a:r>
          </a:p>
          <a:p xmlns:a="http://schemas.openxmlformats.org/drawingml/2006/main">
            <a:r>
              <a:t>after drying. This recovers the sugar. Water is not collected</a:t>
            </a:r>
          </a:p>
          <a:p xmlns:a="http://schemas.openxmlformats.org/drawingml/2006/main">
            <a:r>
              <a:t>by simple open evaporation; no heating is required here.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American Chemical Society: Why does water dissolve sugar?</a:t>
            </a:r>
          </a:p>
          <a:p xmlns:a="http://schemas.openxmlformats.org/drawingml/2006/main">
            <a:r>
              <a:t>https://www.acs.org/middleschoolchemistry/lessonplans/chapter5/lesson4.html</a:t>
            </a:r>
          </a:p>
          <a:p xmlns:a="http://schemas.openxmlformats.org/drawingml/2006/main">
            <a:r>
              <a:t>Checked September 2026. Sugar molecules separate from one another and mix among water molecules without the sucrose molecules being destroyed.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American Chemical Society: Changes of state</a:t>
            </a:r>
          </a:p>
          <a:p xmlns:a="http://schemas.openxmlformats.org/drawingml/2006/main">
            <a:r>
              <a:t>https://www.acs.org/middleschoolchemistry/lessonplans/chapter2.html</a:t>
            </a:r>
          </a:p>
          <a:p xmlns:a="http://schemas.openxmlformats.org/drawingml/2006/main">
            <a:r>
              <a:t>Checked September 2026. Melting, freezing, evaporation and condensation; practicals here are replaced by original paper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Society of Chemistry: Separation techniques</a:t>
            </a:r>
          </a:p>
          <a:p xmlns:a="http://schemas.openxmlformats.org/drawingml/2006/main">
            <a:r>
              <a:t>https://edu.rsc.org/cpd/separation-techniques/3009787.article</a:t>
            </a:r>
          </a:p>
          <a:p xmlns:a="http://schemas.openxmlformats.org/drawingml/2006/main">
            <a:r>
              <a:t>Checked September 2026. Filtration, evaporation and separation misconceptions. Classroom activities are original and include a complete paper route.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8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contains melting and freezing; B dissolving. C supports no loss of mass from the sealed system; D shows sugar can be recovered. Mass alone does not identify every substance.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American Chemical Society: Why does water dissolve sugar?</a:t>
            </a:r>
          </a:p>
          <a:p xmlns:a="http://schemas.openxmlformats.org/drawingml/2006/main">
            <a:r>
              <a:t>https://www.acs.org/middleschoolchemistry/lessonplans/chapter5/lesson4.html</a:t>
            </a:r>
          </a:p>
          <a:p xmlns:a="http://schemas.openxmlformats.org/drawingml/2006/main">
            <a:r>
              <a:t>Checked September 2026. Sugar molecules separate from one another and mix among water molecules without the sucrose molecules being destroyed.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American Chemical Society: Changes of state</a:t>
            </a:r>
          </a:p>
          <a:p xmlns:a="http://schemas.openxmlformats.org/drawingml/2006/main">
            <a:r>
              <a:t>https://www.acs.org/middleschoolchemistry/lessonplans/chapter2.html</a:t>
            </a:r>
          </a:p>
          <a:p xmlns:a="http://schemas.openxmlformats.org/drawingml/2006/main">
            <a:r>
              <a:t>Checked September 2026. Melting, freezing, evaporation and condensation; practicals here are replaced by original paper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Society of Chemistry: Separation techniques</a:t>
            </a:r>
          </a:p>
          <a:p xmlns:a="http://schemas.openxmlformats.org/drawingml/2006/main">
            <a:r>
              <a:t>https://edu.rsc.org/cpd/separation-techniques/3009787.article</a:t>
            </a:r>
          </a:p>
          <a:p xmlns:a="http://schemas.openxmlformats.org/drawingml/2006/main">
            <a:r>
              <a:t>Checked September 2026. Filtration, evaporation and separation misconceptions. Classroom activities are original and include a complete paper route.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We do time. Cooling freezes water; water evaporation can recover sugar from solution. Simply putting sugar solution in a freezer is not the same as cleanly recovering both components.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American Chemical Society: Why does water dissolve sugar?</a:t>
            </a:r>
          </a:p>
          <a:p xmlns:a="http://schemas.openxmlformats.org/drawingml/2006/main">
            <a:r>
              <a:t>https://www.acs.org/middleschoolchemistry/lessonplans/chapter5/lesson4.html</a:t>
            </a:r>
          </a:p>
          <a:p xmlns:a="http://schemas.openxmlformats.org/drawingml/2006/main">
            <a:r>
              <a:t>Checked September 2026. Sugar molecules separate from one another and mix among water molecules without the sucrose molecules being destroyed.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American Chemical Society: Changes of state</a:t>
            </a:r>
          </a:p>
          <a:p xmlns:a="http://schemas.openxmlformats.org/drawingml/2006/main">
            <a:r>
              <a:t>https://www.acs.org/middleschoolchemistry/lessonplans/chapter2.html</a:t>
            </a:r>
          </a:p>
          <a:p xmlns:a="http://schemas.openxmlformats.org/drawingml/2006/main">
            <a:r>
              <a:t>Checked September 2026. Melting, freezing, evaporation and condensation; practicals here are replaced by original paper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Society of Chemistry: Separation techniques</a:t>
            </a:r>
          </a:p>
          <a:p xmlns:a="http://schemas.openxmlformats.org/drawingml/2006/main">
            <a:r>
              <a:t>https://edu.rsc.org/cpd/separation-techniques/3009787.article</a:t>
            </a:r>
          </a:p>
          <a:p xmlns:a="http://schemas.openxmlformats.org/drawingml/2006/main">
            <a:r>
              <a:t>Checked September 2026. Filtration, evaporation and separation misconceptions. Classroom activities are original and include a complete paper route.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Sugar molecules remain in a mixture with water. The result is solution, not conversion of sugar into water. Keep molecular detail age-appropriate.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Sugar remains mixed through the water. Removing water can leave sugar behind.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American Chemical Society: Why does water dissolve sugar?</a:t>
            </a:r>
          </a:p>
          <a:p xmlns:a="http://schemas.openxmlformats.org/drawingml/2006/main">
            <a:r>
              <a:t>https://www.acs.org/middleschoolchemistry/lessonplans/chapter5/lesson4.html</a:t>
            </a:r>
          </a:p>
          <a:p xmlns:a="http://schemas.openxmlformats.org/drawingml/2006/main">
            <a:r>
              <a:t>Checked September 2026. Sugar molecules separate from one another and mix among water molecules without the sucrose molecules being destroyed.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American Chemical Society: Changes of state</a:t>
            </a:r>
          </a:p>
          <a:p xmlns:a="http://schemas.openxmlformats.org/drawingml/2006/main">
            <a:r>
              <a:t>https://www.acs.org/middleschoolchemistry/lessonplans/chapter2.html</a:t>
            </a:r>
          </a:p>
          <a:p xmlns:a="http://schemas.openxmlformats.org/drawingml/2006/main">
            <a:r>
              <a:t>Checked September 2026. Melting, freezing, evaporation and condensation; practicals here are replaced by original paper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Society of Chemistry: Separation techniques</a:t>
            </a:r>
          </a:p>
          <a:p xmlns:a="http://schemas.openxmlformats.org/drawingml/2006/main">
            <a:r>
              <a:t>https://edu.rsc.org/cpd/separation-techniques/3009787.article</a:t>
            </a:r>
          </a:p>
          <a:p xmlns:a="http://schemas.openxmlformats.org/drawingml/2006/main">
            <a:r>
              <a:t>Checked September 2026. Filtration, evaporation and separation misconceptions. Classroom activities are original and include a complete paper route.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is correct. B incorrectly calls dissolving a change of state; C incorrectly claims that the sugar vanishes.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A. The sugar dissolved and remains in the solution.</a:t>
            </a:r>
          </a:p>
          <a:p xmlns:a="http://schemas.openxmlformats.org/drawingml/2006/main">
            <a:r>
              <a:t>Correct. The particles are distributed through the solvent.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B. The sugar melted into pure liquid sugar.</a:t>
            </a:r>
          </a:p>
          <a:p xmlns:a="http://schemas.openxmlformats.org/drawingml/2006/main">
            <a:r>
              <a:t>This is mixing with water to form a solution, not melting.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C. The sugar stopped existing.</a:t>
            </a:r>
          </a:p>
          <a:p xmlns:a="http://schemas.openxmlformats.org/drawingml/2006/main">
            <a:r>
              <a:t>The mass and recovery evidence contradict disappearance of the substance.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American Chemical Society: Why does water dissolve sugar?</a:t>
            </a:r>
          </a:p>
          <a:p xmlns:a="http://schemas.openxmlformats.org/drawingml/2006/main">
            <a:r>
              <a:t>https://www.acs.org/middleschoolchemistry/lessonplans/chapter5/lesson4.html</a:t>
            </a:r>
          </a:p>
          <a:p xmlns:a="http://schemas.openxmlformats.org/drawingml/2006/main">
            <a:r>
              <a:t>Checked September 2026. Sugar molecules separate from one another and mix among water molecules without the sucrose molecules being destroyed.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American Chemical Society: Changes of state</a:t>
            </a:r>
          </a:p>
          <a:p xmlns:a="http://schemas.openxmlformats.org/drawingml/2006/main">
            <a:r>
              <a:t>https://www.acs.org/middleschoolchemistry/lessonplans/chapter2.html</a:t>
            </a:r>
          </a:p>
          <a:p xmlns:a="http://schemas.openxmlformats.org/drawingml/2006/main">
            <a:r>
              <a:t>Checked September 2026. Melting, freezing, evaporation and condensation; practicals here are replaced by original paper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Society of Chemistry: Separation techniques</a:t>
            </a:r>
          </a:p>
          <a:p xmlns:a="http://schemas.openxmlformats.org/drawingml/2006/main">
            <a:r>
              <a:t>https://edu.rsc.org/cpd/separation-techniques/3009787.article</a:t>
            </a:r>
          </a:p>
          <a:p xmlns:a="http://schemas.openxmlformats.org/drawingml/2006/main">
            <a:r>
              <a:t>Checked September 2026. Filtration, evaporation and separation misconceptions. Classroom activities are original and include a complete paper route.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 minutes across the three You do slides. Supply shared page 1 and one selected route page. All routes target the stated science objective; a labelled drawing or independent dictated explanation is valid.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American Chemical Society: Why does water dissolve sugar?</a:t>
            </a:r>
          </a:p>
          <a:p xmlns:a="http://schemas.openxmlformats.org/drawingml/2006/main">
            <a:r>
              <a:t>https://www.acs.org/middleschoolchemistry/lessonplans/chapter5/lesson4.html</a:t>
            </a:r>
          </a:p>
          <a:p xmlns:a="http://schemas.openxmlformats.org/drawingml/2006/main">
            <a:r>
              <a:t>Checked September 2026. Sugar molecules separate from one another and mix among water molecules without the sucrose molecules being destroyed.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American Chemical Society: Changes of state</a:t>
            </a:r>
          </a:p>
          <a:p xmlns:a="http://schemas.openxmlformats.org/drawingml/2006/main">
            <a:r>
              <a:t>https://www.acs.org/middleschoolchemistry/lessonplans/chapter2.html</a:t>
            </a:r>
          </a:p>
          <a:p xmlns:a="http://schemas.openxmlformats.org/drawingml/2006/main">
            <a:r>
              <a:t>Checked September 2026. Melting, freezing, evaporation and condensation; practicals here are replaced by original paper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Society of Chemistry: Separation techniques</a:t>
            </a:r>
          </a:p>
          <a:p xmlns:a="http://schemas.openxmlformats.org/drawingml/2006/main">
            <a:r>
              <a:t>https://edu.rsc.org/cpd/separation-techniques/3009787.article</a:t>
            </a:r>
          </a:p>
          <a:p xmlns:a="http://schemas.openxmlformats.org/drawingml/2006/main">
            <a:r>
              <a:t>Checked September 2026. Filtration, evaporation and separation misconceptions. Classroom activities are original and include a complete paper route.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You do time. Ask pupils which evidence supports their explanation. Read prompts or scribe without supplying the scientific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American Chemical Society: Why does water dissolve sugar?</a:t>
            </a:r>
          </a:p>
          <a:p xmlns:a="http://schemas.openxmlformats.org/drawingml/2006/main">
            <a:r>
              <a:t>https://www.acs.org/middleschoolchemistry/lessonplans/chapter5/lesson4.html</a:t>
            </a:r>
          </a:p>
          <a:p xmlns:a="http://schemas.openxmlformats.org/drawingml/2006/main">
            <a:r>
              <a:t>Checked September 2026. Sugar molecules separate from one another and mix among water molecules without the sucrose molecules being destroyed.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American Chemical Society: Changes of state</a:t>
            </a:r>
          </a:p>
          <a:p xmlns:a="http://schemas.openxmlformats.org/drawingml/2006/main">
            <a:r>
              <a:t>https://www.acs.org/middleschoolchemistry/lessonplans/chapter2.html</a:t>
            </a:r>
          </a:p>
          <a:p xmlns:a="http://schemas.openxmlformats.org/drawingml/2006/main">
            <a:r>
              <a:t>Checked September 2026. Melting, freezing, evaporation and condensation; practicals here are replaced by original paper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Society of Chemistry: Separation techniques</a:t>
            </a:r>
          </a:p>
          <a:p xmlns:a="http://schemas.openxmlformats.org/drawingml/2006/main">
            <a:r>
              <a:t>https://edu.rsc.org/cpd/separation-techniques/3009787.article</a:t>
            </a:r>
          </a:p>
          <a:p xmlns:a="http://schemas.openxmlformats.org/drawingml/2006/main">
            <a:r>
              <a:t>Checked September 2026. Filtration, evaporation and separation misconceptions. Classroom activities are original and include a complete paper route.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You do time. Use the route-specific worked answers to identify one precise next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American Chemical Society: Why does water dissolve sugar?</a:t>
            </a:r>
          </a:p>
          <a:p xmlns:a="http://schemas.openxmlformats.org/drawingml/2006/main">
            <a:r>
              <a:t>https://www.acs.org/middleschoolchemistry/lessonplans/chapter5/lesson4.html</a:t>
            </a:r>
          </a:p>
          <a:p xmlns:a="http://schemas.openxmlformats.org/drawingml/2006/main">
            <a:r>
              <a:t>Checked September 2026. Sugar molecules separate from one another and mix among water molecules without the sucrose molecules being destroyed.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American Chemical Society: Changes of state</a:t>
            </a:r>
          </a:p>
          <a:p xmlns:a="http://schemas.openxmlformats.org/drawingml/2006/main">
            <a:r>
              <a:t>https://www.acs.org/middleschoolchemistry/lessonplans/chapter2.html</a:t>
            </a:r>
          </a:p>
          <a:p xmlns:a="http://schemas.openxmlformats.org/drawingml/2006/main">
            <a:r>
              <a:t>Checked September 2026. Melting, freezing, evaporation and condensation; practicals here are replaced by original paper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Society of Chemistry: Separation techniques</a:t>
            </a:r>
          </a:p>
          <a:p xmlns:a="http://schemas.openxmlformats.org/drawingml/2006/main">
            <a:r>
              <a:t>https://edu.rsc.org/cpd/separation-techniques/3009787.article</a:t>
            </a:r>
          </a:p>
          <a:p xmlns:a="http://schemas.openxmlformats.org/drawingml/2006/main">
            <a:r>
              <a:t>Checked September 2026. Filtration, evaporation and separation misconceptions. Classroom activities are original and include a complete paper route.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 minutes across Review. Offer partner or private teacher feedback. Ask for one specific revision linked to evidence; no public ranking.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American Chemical Society: Why does water dissolve sugar?</a:t>
            </a:r>
          </a:p>
          <a:p xmlns:a="http://schemas.openxmlformats.org/drawingml/2006/main">
            <a:r>
              <a:t>https://www.acs.org/middleschoolchemistry/lessonplans/chapter5/lesson4.html</a:t>
            </a:r>
          </a:p>
          <a:p xmlns:a="http://schemas.openxmlformats.org/drawingml/2006/main">
            <a:r>
              <a:t>Checked September 2026. Sugar molecules separate from one another and mix among water molecules without the sucrose molecules being destroyed.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American Chemical Society: Changes of state</a:t>
            </a:r>
          </a:p>
          <a:p xmlns:a="http://schemas.openxmlformats.org/drawingml/2006/main">
            <a:r>
              <a:t>https://www.acs.org/middleschoolchemistry/lessonplans/chapter2.html</a:t>
            </a:r>
          </a:p>
          <a:p xmlns:a="http://schemas.openxmlformats.org/drawingml/2006/main">
            <a:r>
              <a:t>Checked September 2026. Melting, freezing, evaporation and condensation; practicals here are replaced by original paper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Society of Chemistry: Separation techniques</a:t>
            </a:r>
          </a:p>
          <a:p xmlns:a="http://schemas.openxmlformats.org/drawingml/2006/main">
            <a:r>
              <a:t>https://edu.rsc.org/cpd/separation-techniques/3009787.article</a:t>
            </a:r>
          </a:p>
          <a:p xmlns:a="http://schemas.openxmlformats.org/drawingml/2006/main">
            <a:r>
              <a:t>Checked September 2026. Filtration, evaporation and separation misconceptions. Classroom activities are original and include a complete paper route.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Lundy cycle: invite written, spoken or pointed suggestions. Select one feasible question and explain how the pupil contribution changes the next example or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American Chemical Society: Why does water dissolve sugar?</a:t>
            </a:r>
          </a:p>
          <a:p xmlns:a="http://schemas.openxmlformats.org/drawingml/2006/main">
            <a:r>
              <a:t>https://www.acs.org/middleschoolchemistry/lessonplans/chapter5/lesson4.html</a:t>
            </a:r>
          </a:p>
          <a:p xmlns:a="http://schemas.openxmlformats.org/drawingml/2006/main">
            <a:r>
              <a:t>Checked September 2026. Sugar molecules separate from one another and mix among water molecules without the sucrose molecules being destroyed.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American Chemical Society: Changes of state</a:t>
            </a:r>
          </a:p>
          <a:p xmlns:a="http://schemas.openxmlformats.org/drawingml/2006/main">
            <a:r>
              <a:t>https://www.acs.org/middleschoolchemistry/lessonplans/chapter2.html</a:t>
            </a:r>
          </a:p>
          <a:p xmlns:a="http://schemas.openxmlformats.org/drawingml/2006/main">
            <a:r>
              <a:t>Checked September 2026. Melting, freezing, evaporation and condensation; practicals here are replaced by original paper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Society of Chemistry: Separation techniques</a:t>
            </a:r>
          </a:p>
          <a:p xmlns:a="http://schemas.openxmlformats.org/drawingml/2006/main">
            <a:r>
              <a:t>https://edu.rsc.org/cpd/separation-techniques/3009787.article</a:t>
            </a:r>
          </a:p>
          <a:p xmlns:a="http://schemas.openxmlformats.org/drawingml/2006/main">
            <a:r>
              <a:t>Checked September 2026. Filtration, evaporation and separation misconceptions. Classroom activities are original and include a complete paper route.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Melting changes the state of a substance; dissolving makes a mixture. The sugar remains distributed through the water. Evaporating the water over time can recover sugar. E4 asks for the reverse of melting: freezing.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American Chemical Society: Why does water dissolve sugar?</a:t>
            </a:r>
          </a:p>
          <a:p xmlns:a="http://schemas.openxmlformats.org/drawingml/2006/main">
            <a:r>
              <a:t>https://www.acs.org/middleschoolchemistry/lessonplans/chapter5/lesson4.html</a:t>
            </a:r>
          </a:p>
          <a:p xmlns:a="http://schemas.openxmlformats.org/drawingml/2006/main">
            <a:r>
              <a:t>Checked September 2026. Sugar molecules separate from one another and mix among water molecules without the sucrose molecules being destroyed.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American Chemical Society: Changes of state</a:t>
            </a:r>
          </a:p>
          <a:p xmlns:a="http://schemas.openxmlformats.org/drawingml/2006/main">
            <a:r>
              <a:t>https://www.acs.org/middleschoolchemistry/lessonplans/chapter2.html</a:t>
            </a:r>
          </a:p>
          <a:p xmlns:a="http://schemas.openxmlformats.org/drawingml/2006/main">
            <a:r>
              <a:t>Checked September 2026. Melting, freezing, evaporation and condensation; practicals here are replaced by original paper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Society of Chemistry: Separation techniques</a:t>
            </a:r>
          </a:p>
          <a:p xmlns:a="http://schemas.openxmlformats.org/drawingml/2006/main">
            <a:r>
              <a:t>https://edu.rsc.org/cpd/separation-techniques/3009787.article</a:t>
            </a:r>
          </a:p>
          <a:p xmlns:a="http://schemas.openxmlformats.org/drawingml/2006/main">
            <a:r>
              <a:t>Checked September 2026. Filtration, evaporation and separation misconceptions. Classroom activities are original and include a complete paper route.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a010f04e5c45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d93e3b004e472a" /><Relationship Type="http://schemas.openxmlformats.org/officeDocument/2006/relationships/slideLayout" Target="/ppt/slideLayouts/slideLayout1.xml" Id="Re0f95ea0cca446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f95ea0cca446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32f13662ba4e55" /><Relationship Type="http://schemas.openxmlformats.org/officeDocument/2006/relationships/notesSlide" Target="/ppt/notesSlides/notesSlide1.xml" Id="R0e1f3163d10f45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896e1454b4c1c" /><Relationship Type="http://schemas.openxmlformats.org/officeDocument/2006/relationships/notesSlide" Target="/ppt/notesSlides/notesSlide2.xml" Id="Rcc0fef34b21d45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83ec40ded4834" /><Relationship Type="http://schemas.openxmlformats.org/officeDocument/2006/relationships/notesSlide" Target="/ppt/notesSlides/notesSlide3.xml" Id="R7b42f04675e245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2bbb18a0349df" /><Relationship Type="http://schemas.openxmlformats.org/officeDocument/2006/relationships/notesSlide" Target="/ppt/notesSlides/notesSlide4.xml" Id="Re570df1178ea4c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6557845ba407a" /><Relationship Type="http://schemas.openxmlformats.org/officeDocument/2006/relationships/notesSlide" Target="/ppt/notesSlides/notesSlide5.xml" Id="Rc8e32cee116949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e700066ad04480" /><Relationship Type="http://schemas.openxmlformats.org/officeDocument/2006/relationships/notesSlide" Target="/ppt/notesSlides/notesSlide6.xml" Id="Re3b540c4923a41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dfcfeb2d34a3e" /><Relationship Type="http://schemas.openxmlformats.org/officeDocument/2006/relationships/notesSlide" Target="/ppt/notesSlides/notesSlide7.xml" Id="R0395402f8b7e49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51d423b3e46f5" /><Relationship Type="http://schemas.openxmlformats.org/officeDocument/2006/relationships/notesSlide" Target="/ppt/notesSlides/notesSlide8.xml" Id="R469ae1e17b5246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f30c6a7ca94176" /><Relationship Type="http://schemas.openxmlformats.org/officeDocument/2006/relationships/notesSlide" Target="/ppt/notesSlides/notesSlide9.xml" Id="Ra2110f1de1354f9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690970ae84dd2" /><Relationship Type="http://schemas.openxmlformats.org/officeDocument/2006/relationships/notesSlide" Target="/ppt/notesSlides/notesSlide10.xml" Id="R68ece54517f44af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398fe9ee014963" /><Relationship Type="http://schemas.openxmlformats.org/officeDocument/2006/relationships/notesSlide" Target="/ppt/notesSlides/notesSlide11.xml" Id="Re0e1da8e6fc94c2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b0951bec6429a" /><Relationship Type="http://schemas.openxmlformats.org/officeDocument/2006/relationships/notesSlide" Target="/ppt/notesSlides/notesSlide12.xml" Id="R31191f88caa94ad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b61d3fc054b8a" /><Relationship Type="http://schemas.openxmlformats.org/officeDocument/2006/relationships/notesSlide" Target="/ppt/notesSlides/notesSlide13.xml" Id="R3b0dc3410ad4466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4b6bb986441de" /><Relationship Type="http://schemas.openxmlformats.org/officeDocument/2006/relationships/notesSlide" Target="/ppt/notesSlides/notesSlide14.xml" Id="R62ee690a1a92469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add045f0814bbe" /><Relationship Type="http://schemas.openxmlformats.org/officeDocument/2006/relationships/notesSlide" Target="/ppt/notesSlides/notesSlide15.xml" Id="R7c3f2b81bba849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BA6A8DAE-6384-4320-9220-D4C1D515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1B6D6218-B9BB-408A-9126-F1BDF218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4E35078B-C068-4E4F-A0D4-B7B664A7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F155F031-00DE-4906-B159-CCB45FCB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Opening">
            <a:extLst xmlns:a="http://schemas.openxmlformats.org/drawingml/2006/main">
              <a:ext uri="{FF2B5EF4-FFF2-40B4-BE49-F238E27FC236}">
                <a16:creationId xmlns:a16="http://schemas.microsoft.com/office/drawing/2014/main" id="{5F3CCC6E-01E4-4A65-B938-6288D08B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Opening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EC88D7CA-1FAB-4354-9159-3216459F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The crystal has disappeared from view">
            <a:extLst xmlns:a="http://schemas.openxmlformats.org/drawingml/2006/main">
              <a:ext uri="{FF2B5EF4-FFF2-40B4-BE49-F238E27FC236}">
                <a16:creationId xmlns:a16="http://schemas.microsoft.com/office/drawing/2014/main" id="{1EA57E2C-6C25-42F0-B783-C436AB70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crystal has disappeared from view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24D711F3-E4EE-4213-8F4A-82292C12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Reversible change detectives">
            <a:extLst xmlns:a="http://schemas.openxmlformats.org/drawingml/2006/main">
              <a:ext uri="{FF2B5EF4-FFF2-40B4-BE49-F238E27FC236}">
                <a16:creationId xmlns:a16="http://schemas.microsoft.com/office/drawing/2014/main" id="{A523D4F0-9F02-4369-B582-1E1E473B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Reversible change detectives</a:t>
            </a:r>
          </a:p>
        </p:txBody>
      </p:sp>
      <p:sp>
        <p:nvSpPr>
          <p:cNvPr id="10" name="1 / 15">
            <a:extLst xmlns:a="http://schemas.openxmlformats.org/drawingml/2006/main">
              <a:ext uri="{FF2B5EF4-FFF2-40B4-BE49-F238E27FC236}">
                <a16:creationId xmlns:a16="http://schemas.microsoft.com/office/drawing/2014/main" id="{79037CEC-D849-4BFD-952B-56235F9B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 / 15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5BBA473F-3714-4073-A881-3DFEDB3F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111252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F65666A2-F2D6-4260-A35F-828E10C2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66675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13" name="Learning intention">
            <a:extLst xmlns:a="http://schemas.openxmlformats.org/drawingml/2006/main">
              <a:ext uri="{FF2B5EF4-FFF2-40B4-BE49-F238E27FC236}">
                <a16:creationId xmlns:a16="http://schemas.microsoft.com/office/drawing/2014/main" id="{C4BBE48D-C297-4540-A60D-ECB796C9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Learning intention</a:t>
            </a:r>
          </a:p>
        </p:txBody>
      </p:sp>
      <p:sp>
        <p:nvSpPr>
          <p:cNvPr id="14" name="Describe melting, freezing and dissolving and explain how the st">
            <a:extLst xmlns:a="http://schemas.openxmlformats.org/drawingml/2006/main">
              <a:ext uri="{FF2B5EF4-FFF2-40B4-BE49-F238E27FC236}">
                <a16:creationId xmlns:a16="http://schemas.microsoft.com/office/drawing/2014/main" id="{5490CA2A-CD1F-4399-93AB-BCD47869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Describe melting, freezing and dissolving and explain how the starting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substances can be recovered in these examples.</a:t>
            </a:r>
          </a:p>
        </p:txBody>
      </p:sp>
      <p:sp>
        <p:nvSpPr>
          <p:cNvPr id="15" name="Did the substance vanish, melt or dissolve?">
            <a:extLst xmlns:a="http://schemas.openxmlformats.org/drawingml/2006/main">
              <a:ext uri="{FF2B5EF4-FFF2-40B4-BE49-F238E27FC236}">
                <a16:creationId xmlns:a16="http://schemas.microsoft.com/office/drawing/2014/main" id="{1E72B5D2-F92F-40F5-AB35-53E02083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Did the substance vanish, melt or dissolve?</a:t>
            </a:r>
          </a:p>
        </p:txBody>
      </p:sp>
      <p:sp>
        <p:nvSpPr>
          <p:cNvPr id="16" name="A detective needs more than appearance.">
            <a:extLst xmlns:a="http://schemas.openxmlformats.org/drawingml/2006/main">
              <a:ext uri="{FF2B5EF4-FFF2-40B4-BE49-F238E27FC236}">
                <a16:creationId xmlns:a16="http://schemas.microsoft.com/office/drawing/2014/main" id="{4611DB07-0E37-42EE-82C8-5FAE201C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57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detective needs more than appearance.</a:t>
            </a:r>
          </a:p>
        </p:txBody>
      </p:sp>
    </p:spTree>
    <p:extLst>
      <p:ext uri="{BB962C8B-B14F-4D97-AF65-F5344CB8AC3E}">
        <p14:creationId xmlns:p14="http://schemas.microsoft.com/office/powerpoint/2010/main" val="7194327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ED1DABDC-EA95-4C67-8EA4-4FBAA0E1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5C461B87-76A9-4CA4-ABAA-74B05DC1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E05420A9-AC84-4244-B32A-7C994857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D2801DEF-B8EA-421A-BF7B-D7E9507A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Retrieval">
            <a:extLst xmlns:a="http://schemas.openxmlformats.org/drawingml/2006/main">
              <a:ext uri="{FF2B5EF4-FFF2-40B4-BE49-F238E27FC236}">
                <a16:creationId xmlns:a16="http://schemas.microsoft.com/office/drawing/2014/main" id="{1B0697A8-B49E-4D87-A168-CCABBC2B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Retrieval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307FC7A7-6C75-49B7-A384-0512EB1B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State or mixture?">
            <a:extLst xmlns:a="http://schemas.openxmlformats.org/drawingml/2006/main">
              <a:ext uri="{FF2B5EF4-FFF2-40B4-BE49-F238E27FC236}">
                <a16:creationId xmlns:a16="http://schemas.microsoft.com/office/drawing/2014/main" id="{74EABAA4-DF07-43BA-975C-3710FF82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State or mixture?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011C0A68-0624-4C75-BDF9-69C03702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Reversible change detectives">
            <a:extLst xmlns:a="http://schemas.openxmlformats.org/drawingml/2006/main">
              <a:ext uri="{FF2B5EF4-FFF2-40B4-BE49-F238E27FC236}">
                <a16:creationId xmlns:a16="http://schemas.microsoft.com/office/drawing/2014/main" id="{8AE5A54B-82EC-458D-A079-8B50DF79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Reversible change detectives</a:t>
            </a:r>
          </a:p>
        </p:txBody>
      </p:sp>
      <p:sp>
        <p:nvSpPr>
          <p:cNvPr id="10" name="2 / 15">
            <a:extLst xmlns:a="http://schemas.openxmlformats.org/drawingml/2006/main">
              <a:ext uri="{FF2B5EF4-FFF2-40B4-BE49-F238E27FC236}">
                <a16:creationId xmlns:a16="http://schemas.microsoft.com/office/drawing/2014/main" id="{50A6CA18-4F9F-4486-A326-65EA1E53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2 / 15</a:t>
            </a:r>
          </a:p>
        </p:txBody>
      </p:sp>
      <p:sp>
        <p:nvSpPr>
          <p:cNvPr id="11" name="R1. Name a solid and a liquid.">
            <a:extLst xmlns:a="http://schemas.openxmlformats.org/drawingml/2006/main">
              <a:ext uri="{FF2B5EF4-FFF2-40B4-BE49-F238E27FC236}">
                <a16:creationId xmlns:a16="http://schemas.microsoft.com/office/drawing/2014/main" id="{0074B4FE-945E-4ADD-AD7E-D3C719FC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R1. Name a solid and a liquid.</a:t>
            </a:r>
          </a:p>
        </p:txBody>
      </p:sp>
      <p:sp>
        <p:nvSpPr>
          <p:cNvPr id="12" name="R2. Does invisible always mean absent?">
            <a:extLst xmlns:a="http://schemas.openxmlformats.org/drawingml/2006/main">
              <a:ext uri="{FF2B5EF4-FFF2-40B4-BE49-F238E27FC236}">
                <a16:creationId xmlns:a16="http://schemas.microsoft.com/office/drawing/2014/main" id="{1C1D7EF6-C8F8-49F3-A7D2-D8330A65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R2. Does invisible always mean absent?</a:t>
            </a:r>
          </a:p>
        </p:txBody>
      </p:sp>
      <p:sp>
        <p:nvSpPr>
          <p:cNvPr id="13" name="R3. What unit records mass?">
            <a:extLst xmlns:a="http://schemas.openxmlformats.org/drawingml/2006/main">
              <a:ext uri="{FF2B5EF4-FFF2-40B4-BE49-F238E27FC236}">
                <a16:creationId xmlns:a16="http://schemas.microsoft.com/office/drawing/2014/main" id="{75B220CE-31F3-4955-8A11-71B5AA07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R3. What unit records mass?</a:t>
            </a:r>
          </a:p>
        </p:txBody>
      </p:sp>
    </p:spTree>
    <p:extLst>
      <p:ext uri="{BB962C8B-B14F-4D97-AF65-F5344CB8AC3E}">
        <p14:creationId xmlns:p14="http://schemas.microsoft.com/office/powerpoint/2010/main" val="15378305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urface">
            <a:extLst xmlns:a="http://schemas.openxmlformats.org/drawingml/2006/main">
              <a:ext uri="{FF2B5EF4-FFF2-40B4-BE49-F238E27FC236}">
                <a16:creationId xmlns:a16="http://schemas.microsoft.com/office/drawing/2014/main" id="{4CE71DBF-DF56-4A7F-910C-CFF0E4FB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00053B30-F7C7-4A78-B88F-4EE129F1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A8A69710-A5CE-45F5-B6F2-624DA995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EE554ACE-57A0-4269-BC91-0C1D4084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FFBA1794-3279-4F24-AAEA-487E750C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8 min">
            <a:extLst xmlns:a="http://schemas.openxmlformats.org/drawingml/2006/main">
              <a:ext uri="{FF2B5EF4-FFF2-40B4-BE49-F238E27FC236}">
                <a16:creationId xmlns:a16="http://schemas.microsoft.com/office/drawing/2014/main" id="{47B5481A-2857-450E-A685-644186BC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8 min</a:t>
            </a:r>
          </a:p>
        </p:txBody>
      </p:sp>
      <p:sp>
        <p:nvSpPr>
          <p:cNvPr id="7" name="I identify a change of state">
            <a:extLst xmlns:a="http://schemas.openxmlformats.org/drawingml/2006/main">
              <a:ext uri="{FF2B5EF4-FFF2-40B4-BE49-F238E27FC236}">
                <a16:creationId xmlns:a16="http://schemas.microsoft.com/office/drawing/2014/main" id="{18C9EC6E-ADAD-43D7-8368-3B182402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identify a change of state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D4307E8D-5084-40B9-8D84-06E7CFB8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Reversible change detectives">
            <a:extLst xmlns:a="http://schemas.openxmlformats.org/drawingml/2006/main">
              <a:ext uri="{FF2B5EF4-FFF2-40B4-BE49-F238E27FC236}">
                <a16:creationId xmlns:a16="http://schemas.microsoft.com/office/drawing/2014/main" id="{C0636870-C02E-4438-AB98-3BF66423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Reversible change detectives</a:t>
            </a:r>
          </a:p>
        </p:txBody>
      </p:sp>
      <p:sp>
        <p:nvSpPr>
          <p:cNvPr id="10" name="3 / 15">
            <a:extLst xmlns:a="http://schemas.openxmlformats.org/drawingml/2006/main">
              <a:ext uri="{FF2B5EF4-FFF2-40B4-BE49-F238E27FC236}">
                <a16:creationId xmlns:a16="http://schemas.microsoft.com/office/drawing/2014/main" id="{FB70CBE3-CAB9-4FB9-86FB-DB663AB0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3 / 15</a:t>
            </a:r>
          </a:p>
        </p:txBody>
      </p:sp>
      <p:sp>
        <p:nvSpPr>
          <p:cNvPr id="11" name="Diagram label: Same substance; different state">
            <a:extLst xmlns:a="http://schemas.openxmlformats.org/drawingml/2006/main">
              <a:ext uri="{FF2B5EF4-FFF2-40B4-BE49-F238E27FC236}">
                <a16:creationId xmlns:a16="http://schemas.microsoft.com/office/drawing/2014/main" id="{46C06107-3D09-4058-86AC-63CF9914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217" y="2034523"/>
            <a:ext cx="6869566" cy="410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81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81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Same substance; different state</a:t>
            </a:r>
          </a:p>
        </p:txBody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E7C2F70F-FC21-44C4-874A-E7DA43FA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894" y="3191896"/>
            <a:ext cx="2389414" cy="13440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F5"/>
          </a:solidFill>
          <a:ln xmlns:a="http://schemas.openxmlformats.org/drawingml/2006/main" w="22401">
            <a:solidFill>
              <a:srgbClr val="4D82A0"/>
            </a:solidFill>
          </a:ln>
        </p:spPr>
      </p:sp>
      <p:sp>
        <p:nvSpPr>
          <p:cNvPr id="1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0E2E724D-5D10-4229-8C99-26C42377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1369" y="3453238"/>
            <a:ext cx="1866730" cy="7840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8F4"/>
          </a:solidFill>
          <a:ln xmlns:a="http://schemas.openxmlformats.org/drawingml/2006/main" w="22401">
            <a:solidFill>
              <a:srgbClr val="4D82A0"/>
            </a:solidFill>
          </a:ln>
        </p:spPr>
      </p:sp>
      <p:sp>
        <p:nvSpPr>
          <p:cNvPr id="14" name="Diagram label: Ice&#10;solid water">
            <a:extLst xmlns:a="http://schemas.openxmlformats.org/drawingml/2006/main">
              <a:ext uri="{FF2B5EF4-FFF2-40B4-BE49-F238E27FC236}">
                <a16:creationId xmlns:a16="http://schemas.microsoft.com/office/drawing/2014/main" id="{434A5C61-6085-451E-B24E-FD4CAA42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563" y="3527907"/>
            <a:ext cx="2240076" cy="672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23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23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Ice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23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23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solid water</a:t>
            </a:r>
          </a:p>
        </p:txBody>
      </p:sp>
      <p:sp>
        <p:nvSpPr>
          <p:cNvPr id="15" name="Diagram label: Liquid water">
            <a:extLst xmlns:a="http://schemas.openxmlformats.org/drawingml/2006/main">
              <a:ext uri="{FF2B5EF4-FFF2-40B4-BE49-F238E27FC236}">
                <a16:creationId xmlns:a16="http://schemas.microsoft.com/office/drawing/2014/main" id="{DAD98194-1AF9-47D0-A412-04D04F1E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4696" y="4349268"/>
            <a:ext cx="2314745" cy="5226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23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23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Liquid water</a:t>
            </a:r>
          </a:p>
        </p:txBody>
      </p:sp>
      <p:sp>
        <p:nvSpPr>
          <p:cNvPr id="16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D5368D93-2E48-4542-B213-68307D8D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98646" y="3191896"/>
            <a:ext cx="1302977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C9803B"/>
            </a:solidFill>
          </a:ln>
        </p:spPr>
      </p:sp>
      <p:sp>
        <p:nvSpPr>
          <p:cNvPr id="17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DFDC6A8E-B09F-4CCF-BC24-9EAC3C83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775490" y="3139627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18" name="Diagram label: Melting&#10;energy transferred in">
            <a:extLst xmlns:a="http://schemas.openxmlformats.org/drawingml/2006/main">
              <a:ext uri="{FF2B5EF4-FFF2-40B4-BE49-F238E27FC236}">
                <a16:creationId xmlns:a16="http://schemas.microsoft.com/office/drawing/2014/main" id="{29B3E7C7-FC8B-4263-922F-345C7B62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7304" y="2557207"/>
            <a:ext cx="1904065" cy="5226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Melting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energy transferred in</a:t>
            </a:r>
          </a:p>
        </p:txBody>
      </p:sp>
      <p:sp>
        <p:nvSpPr>
          <p:cNvPr id="19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B00AD34B-B28A-4B9D-A05F-150B4A19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577049" y="5095960"/>
            <a:ext cx="1302977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4D82A0"/>
            </a:solidFill>
          </a:ln>
        </p:spPr>
      </p:sp>
      <p:sp>
        <p:nvSpPr>
          <p:cNvPr id="20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8E9FB365-B602-43AD-A858-F8A1B1F9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498646" y="5043692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1" name="Diagram label: Freezing&#10;energy transferred out">
            <a:extLst xmlns:a="http://schemas.openxmlformats.org/drawingml/2006/main">
              <a:ext uri="{FF2B5EF4-FFF2-40B4-BE49-F238E27FC236}">
                <a16:creationId xmlns:a16="http://schemas.microsoft.com/office/drawing/2014/main" id="{B8232096-6105-468A-B448-815FD773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7966" y="5319968"/>
            <a:ext cx="2240076" cy="56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Freezing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energy transferred out</a:t>
            </a:r>
          </a:p>
        </p:txBody>
      </p:sp>
      <p:sp>
        <p:nvSpPr>
          <p:cNvPr id="22" name="Ice and liquid water are the same substance.  Melting changes so">
            <a:extLst xmlns:a="http://schemas.openxmlformats.org/drawingml/2006/main">
              <a:ext uri="{FF2B5EF4-FFF2-40B4-BE49-F238E27FC236}">
                <a16:creationId xmlns:a16="http://schemas.microsoft.com/office/drawing/2014/main" id="{6290D777-C845-4A21-94EB-BF5C7865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Ice and liquid water are the same substance. Melting changes solid to liquid. Freezing changes liquid to solid.</a:t>
            </a:r>
          </a:p>
        </p:txBody>
      </p:sp>
    </p:spTree>
    <p:extLst>
      <p:ext uri="{BB962C8B-B14F-4D97-AF65-F5344CB8AC3E}">
        <p14:creationId xmlns:p14="http://schemas.microsoft.com/office/powerpoint/2010/main" val="1657425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surface">
            <a:extLst xmlns:a="http://schemas.openxmlformats.org/drawingml/2006/main">
              <a:ext uri="{FF2B5EF4-FFF2-40B4-BE49-F238E27FC236}">
                <a16:creationId xmlns:a16="http://schemas.microsoft.com/office/drawing/2014/main" id="{CA2493CB-C128-4D77-9723-5FC44180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F7B51A09-1471-43DA-B5C0-5A33CC66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86AC5055-0E5D-4939-8A0D-EAC21D86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74F8E554-52A7-4D87-8384-55B75360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E21F2F59-AF7F-4AB5-9564-4C62751E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I count what the model retains">
            <a:extLst xmlns:a="http://schemas.openxmlformats.org/drawingml/2006/main">
              <a:ext uri="{FF2B5EF4-FFF2-40B4-BE49-F238E27FC236}">
                <a16:creationId xmlns:a16="http://schemas.microsoft.com/office/drawing/2014/main" id="{1D9B8170-1499-4628-B861-21B51B46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count what the model retains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53049954-3126-4DF5-BAB7-3BC95EFD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Reversible change detectives">
            <a:extLst xmlns:a="http://schemas.openxmlformats.org/drawingml/2006/main">
              <a:ext uri="{FF2B5EF4-FFF2-40B4-BE49-F238E27FC236}">
                <a16:creationId xmlns:a16="http://schemas.microsoft.com/office/drawing/2014/main" id="{85C4A151-6303-4989-AEF9-D86ABB54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Reversible change detectives</a:t>
            </a:r>
          </a:p>
        </p:txBody>
      </p:sp>
      <p:sp>
        <p:nvSpPr>
          <p:cNvPr id="9" name="4 / 15">
            <a:extLst xmlns:a="http://schemas.openxmlformats.org/drawingml/2006/main">
              <a:ext uri="{FF2B5EF4-FFF2-40B4-BE49-F238E27FC236}">
                <a16:creationId xmlns:a16="http://schemas.microsoft.com/office/drawing/2014/main" id="{1B583927-5EA4-48BC-8332-9325C175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4 / 15</a:t>
            </a:r>
          </a:p>
        </p:txBody>
      </p:sp>
      <p:sp>
        <p:nvSpPr>
          <p:cNvPr id="10" name="Diagram label: Dissolving: sugar remains in the mixture">
            <a:extLst xmlns:a="http://schemas.openxmlformats.org/drawingml/2006/main">
              <a:ext uri="{FF2B5EF4-FFF2-40B4-BE49-F238E27FC236}">
                <a16:creationId xmlns:a16="http://schemas.microsoft.com/office/drawing/2014/main" id="{D13E6604-679B-421D-8547-64FD6EFF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468" y="1988004"/>
            <a:ext cx="6447064" cy="3854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11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11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Dissolving: sugar remains in the mixture</a:t>
            </a:r>
          </a:p>
        </p:txBody>
      </p:sp>
      <p:sp>
        <p:nvSpPr>
          <p:cNvPr id="1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366FEF4F-56F4-4948-A918-A9F606ED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2698" y="2899002"/>
            <a:ext cx="2522764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B"/>
          </a:solidFill>
          <a:ln xmlns:a="http://schemas.openxmlformats.org/drawingml/2006/main" w="21023">
            <a:solidFill>
              <a:srgbClr val="4D82A0"/>
            </a:solidFill>
          </a:ln>
        </p:spPr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E30D0C01-4438-434F-B946-C04F7FD9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538" y="2899002"/>
            <a:ext cx="2522764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B"/>
          </a:solidFill>
          <a:ln xmlns:a="http://schemas.openxmlformats.org/drawingml/2006/main" w="21023">
            <a:solidFill>
              <a:srgbClr val="4D82A0"/>
            </a:solidFill>
          </a:ln>
        </p:spPr>
      </p:sp>
      <p:sp>
        <p:nvSpPr>
          <p:cNvPr id="13" name="Diagram label: Before: sugar and water">
            <a:extLst xmlns:a="http://schemas.openxmlformats.org/drawingml/2006/main">
              <a:ext uri="{FF2B5EF4-FFF2-40B4-BE49-F238E27FC236}">
                <a16:creationId xmlns:a16="http://schemas.microsoft.com/office/drawing/2014/main" id="{D88C9DEF-F7F4-4DB6-B2BB-0908D14C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7813" y="2513579"/>
            <a:ext cx="2312534" cy="315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Before: sugar and water</a:t>
            </a:r>
          </a:p>
        </p:txBody>
      </p:sp>
      <p:sp>
        <p:nvSpPr>
          <p:cNvPr id="14" name="Diagram label: After: sugar solution">
            <a:extLst xmlns:a="http://schemas.openxmlformats.org/drawingml/2006/main">
              <a:ext uri="{FF2B5EF4-FFF2-40B4-BE49-F238E27FC236}">
                <a16:creationId xmlns:a16="http://schemas.microsoft.com/office/drawing/2014/main" id="{8FA8967D-75A1-4C57-901F-623B0A2F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1653" y="2513579"/>
            <a:ext cx="2312534" cy="315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After: sugar solution</a:t>
            </a:r>
          </a:p>
        </p:txBody>
      </p:sp>
      <p:sp>
        <p:nvSpPr>
          <p:cNvPr id="15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B6E07162-0E8B-4893-AD0F-47D0AFD0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75539" y="3845038"/>
            <a:ext cx="76734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3F7D6E"/>
            </a:solidFill>
          </a:ln>
        </p:spPr>
      </p:sp>
      <p:sp>
        <p:nvSpPr>
          <p:cNvPr id="16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AC6E6B69-65B0-4F35-B2FA-30E81844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418353" y="3795985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17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63082F3D-4E21-40AF-81B4-63B2AC06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8044" y="3249386"/>
            <a:ext cx="154169" cy="1541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BAD6"/>
          </a:solidFill>
          <a:ln xmlns:a="http://schemas.openxmlformats.org/drawingml/2006/main" w="21023">
            <a:solidFill>
              <a:srgbClr val="4D82A0"/>
            </a:solidFill>
          </a:ln>
        </p:spPr>
      </p:sp>
      <p:sp>
        <p:nvSpPr>
          <p:cNvPr id="18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120887B9-1962-43F9-A6F7-34CACE05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3620" y="3389539"/>
            <a:ext cx="154169" cy="1541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BAD6"/>
          </a:solidFill>
          <a:ln xmlns:a="http://schemas.openxmlformats.org/drawingml/2006/main" w="21023">
            <a:solidFill>
              <a:srgbClr val="4D82A0"/>
            </a:solidFill>
          </a:ln>
        </p:spPr>
      </p:sp>
      <p:sp>
        <p:nvSpPr>
          <p:cNvPr id="19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AA7AB089-09DE-4905-9BDF-6E19CA09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4234" y="3179309"/>
            <a:ext cx="154169" cy="1541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BAD6"/>
          </a:solidFill>
          <a:ln xmlns:a="http://schemas.openxmlformats.org/drawingml/2006/main" w="21023">
            <a:solidFill>
              <a:srgbClr val="4D82A0"/>
            </a:solidFill>
          </a:ln>
        </p:spPr>
      </p:sp>
      <p:sp>
        <p:nvSpPr>
          <p:cNvPr id="20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0562B472-5B1B-4F45-9EDC-AE8D2AC0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771" y="3529693"/>
            <a:ext cx="154169" cy="1541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BAD6"/>
          </a:solidFill>
          <a:ln xmlns:a="http://schemas.openxmlformats.org/drawingml/2006/main" w="21023">
            <a:solidFill>
              <a:srgbClr val="4D82A0"/>
            </a:solidFill>
          </a:ln>
        </p:spPr>
      </p:sp>
      <p:sp>
        <p:nvSpPr>
          <p:cNvPr id="2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1EEB8E97-6500-425B-98A2-DF575C88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082" y="3950154"/>
            <a:ext cx="154169" cy="1541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BAD6"/>
          </a:solidFill>
          <a:ln xmlns:a="http://schemas.openxmlformats.org/drawingml/2006/main" w="21023">
            <a:solidFill>
              <a:srgbClr val="4D82A0"/>
            </a:solidFill>
          </a:ln>
        </p:spPr>
      </p:sp>
      <p:sp>
        <p:nvSpPr>
          <p:cNvPr id="2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98C6A8D7-3B9C-4921-BE9C-38B82926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160384"/>
            <a:ext cx="154169" cy="1541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BAD6"/>
          </a:solidFill>
          <a:ln xmlns:a="http://schemas.openxmlformats.org/drawingml/2006/main" w="21023">
            <a:solidFill>
              <a:srgbClr val="4D82A0"/>
            </a:solidFill>
          </a:ln>
        </p:spPr>
      </p:sp>
      <p:sp>
        <p:nvSpPr>
          <p:cNvPr id="2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E8EDABFB-BE70-438E-922B-68908BFA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4618" y="4055269"/>
            <a:ext cx="154169" cy="1541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BAD6"/>
          </a:solidFill>
          <a:ln xmlns:a="http://schemas.openxmlformats.org/drawingml/2006/main" w="21023">
            <a:solidFill>
              <a:srgbClr val="4D82A0"/>
            </a:solidFill>
          </a:ln>
        </p:spPr>
      </p:sp>
      <p:sp>
        <p:nvSpPr>
          <p:cNvPr id="2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6ECF955C-3071-4C0D-8B7C-451CA927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9963" y="4405653"/>
            <a:ext cx="154169" cy="1541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BAD6"/>
          </a:solidFill>
          <a:ln xmlns:a="http://schemas.openxmlformats.org/drawingml/2006/main" w="21023">
            <a:solidFill>
              <a:srgbClr val="4D82A0"/>
            </a:solidFill>
          </a:ln>
        </p:spPr>
      </p:sp>
      <p:sp>
        <p:nvSpPr>
          <p:cNvPr id="25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80B49D88-A09A-4D69-88E4-1DC1F325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179309"/>
            <a:ext cx="154169" cy="1541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BAD6"/>
          </a:solidFill>
          <a:ln xmlns:a="http://schemas.openxmlformats.org/drawingml/2006/main" w="21023">
            <a:solidFill>
              <a:srgbClr val="4D82A0"/>
            </a:solidFill>
          </a:ln>
        </p:spPr>
      </p:sp>
      <p:sp>
        <p:nvSpPr>
          <p:cNvPr id="2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D57B7CCA-49E6-451C-9F94-D32441F9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7613" y="3389539"/>
            <a:ext cx="154169" cy="1541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BAD6"/>
          </a:solidFill>
          <a:ln xmlns:a="http://schemas.openxmlformats.org/drawingml/2006/main" w="21023">
            <a:solidFill>
              <a:srgbClr val="4D82A0"/>
            </a:solidFill>
          </a:ln>
        </p:spPr>
      </p:sp>
      <p:sp>
        <p:nvSpPr>
          <p:cNvPr id="27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08149580-A9A6-4B95-A62B-7ACF960A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534" y="3179309"/>
            <a:ext cx="154169" cy="1541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BAD6"/>
          </a:solidFill>
          <a:ln xmlns:a="http://schemas.openxmlformats.org/drawingml/2006/main" w="21023">
            <a:solidFill>
              <a:srgbClr val="4D82A0"/>
            </a:solidFill>
          </a:ln>
        </p:spPr>
      </p:sp>
      <p:sp>
        <p:nvSpPr>
          <p:cNvPr id="28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3842D300-7EBE-4A5C-8C22-FA8699AD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8764" y="3845038"/>
            <a:ext cx="154169" cy="1541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BAD6"/>
          </a:solidFill>
          <a:ln xmlns:a="http://schemas.openxmlformats.org/drawingml/2006/main" w="21023">
            <a:solidFill>
              <a:srgbClr val="4D82A0"/>
            </a:solidFill>
          </a:ln>
        </p:spPr>
      </p:sp>
      <p:sp>
        <p:nvSpPr>
          <p:cNvPr id="29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AC0091E0-0842-44DC-B3EA-67C87878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6998" y="4090307"/>
            <a:ext cx="154169" cy="1541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BAD6"/>
          </a:solidFill>
          <a:ln xmlns:a="http://schemas.openxmlformats.org/drawingml/2006/main" w="21023">
            <a:solidFill>
              <a:srgbClr val="4D82A0"/>
            </a:solidFill>
          </a:ln>
        </p:spPr>
      </p:sp>
      <p:sp>
        <p:nvSpPr>
          <p:cNvPr id="30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72ACC5EC-75E4-4143-82F7-DE994405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2804" y="4265499"/>
            <a:ext cx="154169" cy="1541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BAD6"/>
          </a:solidFill>
          <a:ln xmlns:a="http://schemas.openxmlformats.org/drawingml/2006/main" w="21023">
            <a:solidFill>
              <a:srgbClr val="4D82A0"/>
            </a:solidFill>
          </a:ln>
        </p:spPr>
      </p:sp>
      <p:sp>
        <p:nvSpPr>
          <p:cNvPr id="3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4A2A5736-1ECA-4A74-B545-0352C899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8457" y="4370614"/>
            <a:ext cx="154169" cy="1541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BAD6"/>
          </a:solidFill>
          <a:ln xmlns:a="http://schemas.openxmlformats.org/drawingml/2006/main" w="21023">
            <a:solidFill>
              <a:srgbClr val="4D82A0"/>
            </a:solidFill>
          </a:ln>
        </p:spPr>
      </p:sp>
      <p:sp>
        <p:nvSpPr>
          <p:cNvPr id="3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FFF3C505-B977-4D45-9698-AFAC669F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7996" y="3774962"/>
            <a:ext cx="154169" cy="1541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BAD6"/>
          </a:solidFill>
          <a:ln xmlns:a="http://schemas.openxmlformats.org/drawingml/2006/main" w="21023">
            <a:solidFill>
              <a:srgbClr val="4D82A0"/>
            </a:solidFill>
          </a:ln>
        </p:spPr>
      </p:sp>
      <p:sp>
        <p:nvSpPr>
          <p:cNvPr id="3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D83F7D2F-380B-4185-B0B3-13FA013B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405653"/>
            <a:ext cx="168184" cy="168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B96C"/>
          </a:solidFill>
          <a:ln xmlns:a="http://schemas.openxmlformats.org/drawingml/2006/main" w="21023">
            <a:solidFill>
              <a:srgbClr val="C9803B"/>
            </a:solidFill>
          </a:ln>
        </p:spPr>
      </p:sp>
      <p:sp>
        <p:nvSpPr>
          <p:cNvPr id="3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67EDCCF1-8D0A-44EB-89DC-F9D65E38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73" y="4405653"/>
            <a:ext cx="168184" cy="168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B96C"/>
          </a:solidFill>
          <a:ln xmlns:a="http://schemas.openxmlformats.org/drawingml/2006/main" w="21023">
            <a:solidFill>
              <a:srgbClr val="C9803B"/>
            </a:solidFill>
          </a:ln>
        </p:spPr>
      </p:sp>
      <p:sp>
        <p:nvSpPr>
          <p:cNvPr id="35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51A97E91-FF89-4DEF-AAA7-DDEE1225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608875"/>
            <a:ext cx="168184" cy="168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B96C"/>
          </a:solidFill>
          <a:ln xmlns:a="http://schemas.openxmlformats.org/drawingml/2006/main" w="21023">
            <a:solidFill>
              <a:srgbClr val="C9803B"/>
            </a:solidFill>
          </a:ln>
        </p:spPr>
      </p:sp>
      <p:sp>
        <p:nvSpPr>
          <p:cNvPr id="3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83E50242-64CB-4147-9E85-D5FD8E50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73" y="4608875"/>
            <a:ext cx="168184" cy="168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B96C"/>
          </a:solidFill>
          <a:ln xmlns:a="http://schemas.openxmlformats.org/drawingml/2006/main" w="21023">
            <a:solidFill>
              <a:srgbClr val="C9803B"/>
            </a:solidFill>
          </a:ln>
        </p:spPr>
      </p:sp>
      <p:sp>
        <p:nvSpPr>
          <p:cNvPr id="37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C8CE2F72-18D1-49BC-8024-605F7ADF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2344" y="3810000"/>
            <a:ext cx="168184" cy="168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B96C"/>
          </a:solidFill>
          <a:ln xmlns:a="http://schemas.openxmlformats.org/drawingml/2006/main" w="21023">
            <a:solidFill>
              <a:srgbClr val="C9803B"/>
            </a:solidFill>
          </a:ln>
        </p:spPr>
      </p:sp>
      <p:sp>
        <p:nvSpPr>
          <p:cNvPr id="38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4266F5C9-3BAA-405E-B5C6-67AE54BC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227" y="3459616"/>
            <a:ext cx="168184" cy="168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B96C"/>
          </a:solidFill>
          <a:ln xmlns:a="http://schemas.openxmlformats.org/drawingml/2006/main" w="21023">
            <a:solidFill>
              <a:srgbClr val="C9803B"/>
            </a:solidFill>
          </a:ln>
        </p:spPr>
      </p:sp>
      <p:sp>
        <p:nvSpPr>
          <p:cNvPr id="39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75C3B35C-D504-49FF-A76F-426E38C8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3803" y="4440691"/>
            <a:ext cx="168184" cy="168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B96C"/>
          </a:solidFill>
          <a:ln xmlns:a="http://schemas.openxmlformats.org/drawingml/2006/main" w="21023">
            <a:solidFill>
              <a:srgbClr val="C9803B"/>
            </a:solidFill>
          </a:ln>
        </p:spPr>
      </p:sp>
      <p:sp>
        <p:nvSpPr>
          <p:cNvPr id="40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B828BC34-1F69-47A4-BAFF-9216827E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2037" y="4580845"/>
            <a:ext cx="168184" cy="168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B96C"/>
          </a:solidFill>
          <a:ln xmlns:a="http://schemas.openxmlformats.org/drawingml/2006/main" w="21023">
            <a:solidFill>
              <a:srgbClr val="C9803B"/>
            </a:solidFill>
          </a:ln>
        </p:spPr>
      </p:sp>
      <p:sp>
        <p:nvSpPr>
          <p:cNvPr id="41" name="Diagram label: Blue: water molecules. Orange: sugar molecules.&#10;Symbols and quantities are not to scale.">
            <a:extLst xmlns:a="http://schemas.openxmlformats.org/drawingml/2006/main">
              <a:ext uri="{FF2B5EF4-FFF2-40B4-BE49-F238E27FC236}">
                <a16:creationId xmlns:a16="http://schemas.microsoft.com/office/drawing/2014/main" id="{2626ADEA-5CD5-470C-8ECD-834806B0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660" y="5176497"/>
            <a:ext cx="6096680" cy="42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Blue: water molecules. Orange: sugar molecules.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Symbols and quantities are not to scale.</a:t>
            </a:r>
          </a:p>
        </p:txBody>
      </p:sp>
      <p:sp>
        <p:nvSpPr>
          <p:cNvPr id="42" name="Sugar molecules spread among water molecules.  The sugar symbols">
            <a:extLst xmlns:a="http://schemas.openxmlformats.org/drawingml/2006/main">
              <a:ext uri="{FF2B5EF4-FFF2-40B4-BE49-F238E27FC236}">
                <a16:creationId xmlns:a16="http://schemas.microsoft.com/office/drawing/2014/main" id="{B05DF05F-EB5D-4EB3-AD17-3D4D9192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Sugar molecules spread among water molecules. The sugar symbols remain present. A solution forms; the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sugar has not melted here.</a:t>
            </a:r>
          </a:p>
        </p:txBody>
      </p:sp>
    </p:spTree>
    <p:extLst>
      <p:ext uri="{BB962C8B-B14F-4D97-AF65-F5344CB8AC3E}">
        <p14:creationId xmlns:p14="http://schemas.microsoft.com/office/powerpoint/2010/main" val="21304208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urface">
            <a:extLst xmlns:a="http://schemas.openxmlformats.org/drawingml/2006/main">
              <a:ext uri="{FF2B5EF4-FFF2-40B4-BE49-F238E27FC236}">
                <a16:creationId xmlns:a16="http://schemas.microsoft.com/office/drawing/2014/main" id="{3CFA2A30-76A7-435B-A2B8-5D33B278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E2D97228-109C-4383-A4DA-B3ECC2B8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B76E29B5-6061-44A4-9F7B-074A24A8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FD9D0D23-D679-4C31-A40A-94FF7D9F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3BCF079B-AC01-455E-BDAD-538D8DDA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I choose a route back">
            <a:extLst xmlns:a="http://schemas.openxmlformats.org/drawingml/2006/main">
              <a:ext uri="{FF2B5EF4-FFF2-40B4-BE49-F238E27FC236}">
                <a16:creationId xmlns:a16="http://schemas.microsoft.com/office/drawing/2014/main" id="{94C9384D-4848-4190-87AC-B57559C9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choose a route back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C7307AC4-5E7A-49EC-848C-159C3CC5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Reversible change detectives">
            <a:extLst xmlns:a="http://schemas.openxmlformats.org/drawingml/2006/main">
              <a:ext uri="{FF2B5EF4-FFF2-40B4-BE49-F238E27FC236}">
                <a16:creationId xmlns:a16="http://schemas.microsoft.com/office/drawing/2014/main" id="{0DCFDE8E-66D7-4BC9-BD31-19F4F262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Reversible change detectives</a:t>
            </a:r>
          </a:p>
        </p:txBody>
      </p:sp>
      <p:sp>
        <p:nvSpPr>
          <p:cNvPr id="9" name="5 / 15">
            <a:extLst xmlns:a="http://schemas.openxmlformats.org/drawingml/2006/main">
              <a:ext uri="{FF2B5EF4-FFF2-40B4-BE49-F238E27FC236}">
                <a16:creationId xmlns:a16="http://schemas.microsoft.com/office/drawing/2014/main" id="{2BEDF44E-6E6C-4BA8-B835-62FE907D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5 / 15</a:t>
            </a:r>
          </a:p>
        </p:txBody>
      </p:sp>
      <p:sp>
        <p:nvSpPr>
          <p:cNvPr id="10" name="Diagram label: Recovering the dissolved solid">
            <a:extLst xmlns:a="http://schemas.openxmlformats.org/drawingml/2006/main">
              <a:ext uri="{FF2B5EF4-FFF2-40B4-BE49-F238E27FC236}">
                <a16:creationId xmlns:a16="http://schemas.microsoft.com/office/drawing/2014/main" id="{806FF90C-7801-418B-B7FB-5BBD0866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468" y="2023042"/>
            <a:ext cx="6447064" cy="350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6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Recovering the dissolved solid</a:t>
            </a:r>
          </a:p>
        </p:txBody>
      </p:sp>
      <p:sp>
        <p:nvSpPr>
          <p:cNvPr id="1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EB2F0D8D-F90F-4451-B222-AB20DCD9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2621" y="3179309"/>
            <a:ext cx="1915432" cy="910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2" name="Diagram label: Sugar solution">
            <a:extLst xmlns:a="http://schemas.openxmlformats.org/drawingml/2006/main">
              <a:ext uri="{FF2B5EF4-FFF2-40B4-BE49-F238E27FC236}">
                <a16:creationId xmlns:a16="http://schemas.microsoft.com/office/drawing/2014/main" id="{364F5011-ECD7-464C-BC36-71406B35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8683" y="3319463"/>
            <a:ext cx="1803309" cy="630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Sugar solution</a:t>
            </a:r>
          </a:p>
        </p:txBody>
      </p:sp>
      <p:sp>
        <p:nvSpPr>
          <p:cNvPr id="1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967C5BF3-E99F-4F53-A370-2F44E008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28054" y="3634808"/>
            <a:ext cx="136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1F2937"/>
            </a:solidFill>
          </a:ln>
        </p:spPr>
      </p:sp>
      <p:sp>
        <p:nvSpPr>
          <p:cNvPr id="14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B971F81B-F99D-47DC-8F57-F2E9B1F8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040176" y="3585754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15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31E97B8D-F846-40B5-B8E6-5985AE0F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284" y="3179309"/>
            <a:ext cx="1915432" cy="910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6" name="Diagram label: Water evaporates&#10;over time">
            <a:extLst xmlns:a="http://schemas.openxmlformats.org/drawingml/2006/main">
              <a:ext uri="{FF2B5EF4-FFF2-40B4-BE49-F238E27FC236}">
                <a16:creationId xmlns:a16="http://schemas.microsoft.com/office/drawing/2014/main" id="{C48CCC07-CB39-4055-9160-402E81AD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4345" y="3319463"/>
            <a:ext cx="1803309" cy="630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Water evaporates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over time</a:t>
            </a:r>
          </a:p>
        </p:txBody>
      </p:sp>
      <p:sp>
        <p:nvSpPr>
          <p:cNvPr id="17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B981C81E-937E-4A57-9C98-F22BE484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53716" y="3634808"/>
            <a:ext cx="136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1F2937"/>
            </a:solidFill>
          </a:ln>
        </p:spPr>
      </p:sp>
      <p:sp>
        <p:nvSpPr>
          <p:cNvPr id="18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5766CD78-0ABF-4445-B601-DA8AC011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165839" y="3585754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19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44811333-34E6-41F4-9F41-DD8D337E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3946" y="3179309"/>
            <a:ext cx="1915432" cy="910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20" name="Diagram label: Sugar remains&#10;after drying">
            <a:extLst xmlns:a="http://schemas.openxmlformats.org/drawingml/2006/main">
              <a:ext uri="{FF2B5EF4-FFF2-40B4-BE49-F238E27FC236}">
                <a16:creationId xmlns:a16="http://schemas.microsoft.com/office/drawing/2014/main" id="{4CA2B091-A662-45F9-907B-1892AC6F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0008" y="3319463"/>
            <a:ext cx="1803309" cy="630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Sugar remains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after drying</a:t>
            </a:r>
          </a:p>
        </p:txBody>
      </p:sp>
      <p:sp>
        <p:nvSpPr>
          <p:cNvPr id="21" name="Diagram label: This recovers the sugar. Water is not collected&#10;by simple open evaporation; no heating is required here.">
            <a:extLst xmlns:a="http://schemas.openxmlformats.org/drawingml/2006/main">
              <a:ext uri="{FF2B5EF4-FFF2-40B4-BE49-F238E27FC236}">
                <a16:creationId xmlns:a16="http://schemas.microsoft.com/office/drawing/2014/main" id="{37B1A836-0C41-47C0-88E0-D58B67DE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2545" y="4475729"/>
            <a:ext cx="6306911" cy="910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This recovers the sugar. Water is not collected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by simple open evaporation; no heating is required here.</a:t>
            </a:r>
          </a:p>
        </p:txBody>
      </p:sp>
      <p:sp>
        <p:nvSpPr>
          <p:cNvPr id="22" name="Letting water evaporate can leave sugar behind.  Simple open eva">
            <a:extLst xmlns:a="http://schemas.openxmlformats.org/drawingml/2006/main">
              <a:ext uri="{FF2B5EF4-FFF2-40B4-BE49-F238E27FC236}">
                <a16:creationId xmlns:a16="http://schemas.microsoft.com/office/drawing/2014/main" id="{1D7F17D4-7C1F-4488-A514-40746279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Letting water evaporate can leave sugar behind. Simple open evaporation does not collect the water.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Reversible does not mean instant or effortless.</a:t>
            </a:r>
          </a:p>
        </p:txBody>
      </p:sp>
    </p:spTree>
    <p:extLst>
      <p:ext uri="{BB962C8B-B14F-4D97-AF65-F5344CB8AC3E}">
        <p14:creationId xmlns:p14="http://schemas.microsoft.com/office/powerpoint/2010/main" val="1034884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E7E46129-2844-47FC-AF20-EF3FACAE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349DFDF3-4268-42BB-A417-9575CE8C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9C89FE5D-BB64-4E65-9ADF-51D0E7D9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7F712C04-775F-420B-A87C-EADC83FF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98CB2DE1-B514-40AD-BF7F-2C2BB6C7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8 min">
            <a:extLst xmlns:a="http://schemas.openxmlformats.org/drawingml/2006/main">
              <a:ext uri="{FF2B5EF4-FFF2-40B4-BE49-F238E27FC236}">
                <a16:creationId xmlns:a16="http://schemas.microsoft.com/office/drawing/2014/main" id="{63B4B896-7F51-4BBA-96F9-533D6262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8 min</a:t>
            </a:r>
          </a:p>
        </p:txBody>
      </p:sp>
      <p:sp>
        <p:nvSpPr>
          <p:cNvPr id="7" name="Process evidence tribunal">
            <a:extLst xmlns:a="http://schemas.openxmlformats.org/drawingml/2006/main">
              <a:ext uri="{FF2B5EF4-FFF2-40B4-BE49-F238E27FC236}">
                <a16:creationId xmlns:a16="http://schemas.microsoft.com/office/drawing/2014/main" id="{135FA9B0-DA35-49FD-82D1-E3CEF597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Process evidence tribunal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27BCE271-8DC6-4130-B98A-F8F9E5E6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Reversible change detectives">
            <a:extLst xmlns:a="http://schemas.openxmlformats.org/drawingml/2006/main">
              <a:ext uri="{FF2B5EF4-FFF2-40B4-BE49-F238E27FC236}">
                <a16:creationId xmlns:a16="http://schemas.microsoft.com/office/drawing/2014/main" id="{1A6BC364-5D43-428A-9D3F-394A1AA2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Reversible change detectives</a:t>
            </a:r>
          </a:p>
        </p:txBody>
      </p:sp>
      <p:sp>
        <p:nvSpPr>
          <p:cNvPr id="10" name="6 / 15">
            <a:extLst xmlns:a="http://schemas.openxmlformats.org/drawingml/2006/main">
              <a:ext uri="{FF2B5EF4-FFF2-40B4-BE49-F238E27FC236}">
                <a16:creationId xmlns:a16="http://schemas.microsoft.com/office/drawing/2014/main" id="{DB14E32E-6147-41DE-9468-6FED6EBA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6 / 15</a:t>
            </a:r>
          </a:p>
        </p:txBody>
      </p:sp>
      <p:sp>
        <p:nvSpPr>
          <p:cNvPr id="11" name="W1. Classify A and B: melting/freezing or dissolving. W2. Use C ">
            <a:extLst xmlns:a="http://schemas.openxmlformats.org/drawingml/2006/main">
              <a:ext uri="{FF2B5EF4-FFF2-40B4-BE49-F238E27FC236}">
                <a16:creationId xmlns:a16="http://schemas.microsoft.com/office/drawing/2014/main" id="{AE632813-EB0C-4DB2-9564-4459A504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95475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W1. Classify A and B: melting/freezing or dissolving. W2. Use C and D to challenge “the sugar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vanished”. State what each piece of evidence contributes.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533400" y="2581275"/>
          <a:ext xmlns:a="http://schemas.openxmlformats.org/drawingml/2006/main" cx="11125200" cy="1515904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214224"/>
                <a:gridCol w="3287894"/>
                <a:gridCol w="3623082"/>
              </a:tblGrid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Constructed record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Before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After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Sealed mass / g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120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120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Open recovery over days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Sugar solution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Dry sugar remains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1476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94FD6E98-837D-4C0E-B083-11B0075F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69E6FE7D-F622-4B8E-AB90-433BEF90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516B7C49-7944-4DC0-ABF7-21993569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92C7B271-3930-4934-B512-2A540A02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8C5EC1F8-9D13-4D65-9CC4-EAB31FD1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Choose a reverse process">
            <a:extLst xmlns:a="http://schemas.openxmlformats.org/drawingml/2006/main">
              <a:ext uri="{FF2B5EF4-FFF2-40B4-BE49-F238E27FC236}">
                <a16:creationId xmlns:a16="http://schemas.microsoft.com/office/drawing/2014/main" id="{41B4A6CE-16C0-4D3F-BE92-DD355372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a reverse process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766DAA03-2F6C-44BF-A4B6-23990C8D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Reversible change detectives">
            <a:extLst xmlns:a="http://schemas.openxmlformats.org/drawingml/2006/main">
              <a:ext uri="{FF2B5EF4-FFF2-40B4-BE49-F238E27FC236}">
                <a16:creationId xmlns:a16="http://schemas.microsoft.com/office/drawing/2014/main" id="{C7182269-5B83-4F43-A7C7-7DBA4D3F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Reversible change detectives</a:t>
            </a:r>
          </a:p>
        </p:txBody>
      </p:sp>
      <p:sp>
        <p:nvSpPr>
          <p:cNvPr id="9" name="7 / 15">
            <a:extLst xmlns:a="http://schemas.openxmlformats.org/drawingml/2006/main">
              <a:ext uri="{FF2B5EF4-FFF2-40B4-BE49-F238E27FC236}">
                <a16:creationId xmlns:a16="http://schemas.microsoft.com/office/drawing/2014/main" id="{EB7373AD-B2FD-48C6-8187-3D7993BE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7 / 15</a:t>
            </a:r>
          </a:p>
        </p:txBody>
      </p:sp>
      <p:sp>
        <p:nvSpPr>
          <p:cNvPr id="10" name="A tray contains melted ice. A second contains sugar solution.">
            <a:extLst xmlns:a="http://schemas.openxmlformats.org/drawingml/2006/main">
              <a:ext uri="{FF2B5EF4-FFF2-40B4-BE49-F238E27FC236}">
                <a16:creationId xmlns:a16="http://schemas.microsoft.com/office/drawing/2014/main" id="{D3C391EA-5A26-426B-BE13-388BC6F6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tray contains melted ice. A second contains sugar solution.</a:t>
            </a:r>
          </a:p>
        </p:txBody>
      </p:sp>
      <p:sp>
        <p:nvSpPr>
          <p:cNvPr id="11" name="Which needs enough cooling? Which needs water removed to recover">
            <a:extLst xmlns:a="http://schemas.openxmlformats.org/drawingml/2006/main">
              <a:ext uri="{FF2B5EF4-FFF2-40B4-BE49-F238E27FC236}">
                <a16:creationId xmlns:a16="http://schemas.microsoft.com/office/drawing/2014/main" id="{494A0693-72BD-4B0C-8B73-ACC5162F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Which needs enough cooling? Which needs water removed to recover sugar?</a:t>
            </a:r>
          </a:p>
        </p:txBody>
      </p:sp>
    </p:spTree>
    <p:extLst>
      <p:ext uri="{BB962C8B-B14F-4D97-AF65-F5344CB8AC3E}">
        <p14:creationId xmlns:p14="http://schemas.microsoft.com/office/powerpoint/2010/main" val="9084102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C7A21516-90E8-4D11-8B9B-00A70DC7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5B1840D2-C4E3-4192-823A-F2C72DE8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33BDD3A0-0B03-48BF-83FA-94BD3C37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2CF22E32-E934-4C97-9FB3-EED16230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C13D612E-328B-4E1C-923E-2152936B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Write a precise verdict">
            <a:extLst xmlns:a="http://schemas.openxmlformats.org/drawingml/2006/main">
              <a:ext uri="{FF2B5EF4-FFF2-40B4-BE49-F238E27FC236}">
                <a16:creationId xmlns:a16="http://schemas.microsoft.com/office/drawing/2014/main" id="{775AD8A7-E13B-4DC9-BA4B-5D665C1D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Write a precise verdict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34EE1932-C4FE-45A8-9575-026E18E1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Reversible change detectives">
            <a:extLst xmlns:a="http://schemas.openxmlformats.org/drawingml/2006/main">
              <a:ext uri="{FF2B5EF4-FFF2-40B4-BE49-F238E27FC236}">
                <a16:creationId xmlns:a16="http://schemas.microsoft.com/office/drawing/2014/main" id="{8D492C16-3EA4-4B0B-B493-2B8C6B58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Reversible change detectives</a:t>
            </a:r>
          </a:p>
        </p:txBody>
      </p:sp>
      <p:sp>
        <p:nvSpPr>
          <p:cNvPr id="9" name="8 / 15">
            <a:extLst xmlns:a="http://schemas.openxmlformats.org/drawingml/2006/main">
              <a:ext uri="{FF2B5EF4-FFF2-40B4-BE49-F238E27FC236}">
                <a16:creationId xmlns:a16="http://schemas.microsoft.com/office/drawing/2014/main" id="{93E69637-CDFA-4AB0-9F0B-246E3F7E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8 / 15</a:t>
            </a:r>
          </a:p>
        </p:txBody>
      </p:sp>
      <p:sp>
        <p:nvSpPr>
          <p:cNvPr id="10" name="W3. Repair “Dissolving makes sugar into water”.">
            <a:extLst xmlns:a="http://schemas.openxmlformats.org/drawingml/2006/main">
              <a:ext uri="{FF2B5EF4-FFF2-40B4-BE49-F238E27FC236}">
                <a16:creationId xmlns:a16="http://schemas.microsoft.com/office/drawing/2014/main" id="{508B380E-D7CD-4DFE-BDFC-062DF719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W3. Repair “Dissolving makes sugar into water”.</a:t>
            </a:r>
          </a:p>
        </p:txBody>
      </p:sp>
      <p:sp>
        <p:nvSpPr>
          <p:cNvPr id="11" name="Use the particle model and recovery record.">
            <a:extLst xmlns:a="http://schemas.openxmlformats.org/drawingml/2006/main">
              <a:ext uri="{FF2B5EF4-FFF2-40B4-BE49-F238E27FC236}">
                <a16:creationId xmlns:a16="http://schemas.microsoft.com/office/drawing/2014/main" id="{0C8075AB-CF32-4A75-A86C-D51D29A5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the particle model and recovery record.</a:t>
            </a:r>
          </a:p>
        </p:txBody>
      </p:sp>
    </p:spTree>
    <p:extLst>
      <p:ext uri="{BB962C8B-B14F-4D97-AF65-F5344CB8AC3E}">
        <p14:creationId xmlns:p14="http://schemas.microsoft.com/office/powerpoint/2010/main" val="7800128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DB892328-ED29-4097-9D8D-C98B0920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C7AE33B3-94A5-463C-A796-191D26C6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073AE53B-9929-4AFB-8FBA-BC964412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EB43313C-3F0D-40F8-B18F-459935F5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Hinge">
            <a:extLst xmlns:a="http://schemas.openxmlformats.org/drawingml/2006/main">
              <a:ext uri="{FF2B5EF4-FFF2-40B4-BE49-F238E27FC236}">
                <a16:creationId xmlns:a16="http://schemas.microsoft.com/office/drawing/2014/main" id="{D81314C8-32E1-4C3F-B8EA-DC1D69AF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Hinge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1C37BB20-5797-47EF-8721-38396DF9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Sugar is stirred into room-temperature water">
            <a:extLst xmlns:a="http://schemas.openxmlformats.org/drawingml/2006/main">
              <a:ext uri="{FF2B5EF4-FFF2-40B4-BE49-F238E27FC236}">
                <a16:creationId xmlns:a16="http://schemas.microsoft.com/office/drawing/2014/main" id="{BE8779F7-A1DB-49D6-8226-51957169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Sugar is stirred into room-temperature water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AAE3C1E6-ECFF-45B0-A57B-3A0D30AB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Reversible change detectives">
            <a:extLst xmlns:a="http://schemas.openxmlformats.org/drawingml/2006/main">
              <a:ext uri="{FF2B5EF4-FFF2-40B4-BE49-F238E27FC236}">
                <a16:creationId xmlns:a16="http://schemas.microsoft.com/office/drawing/2014/main" id="{1730AA09-00F1-4125-AFD4-C91640B9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Reversible change detectives</a:t>
            </a:r>
          </a:p>
        </p:txBody>
      </p:sp>
      <p:sp>
        <p:nvSpPr>
          <p:cNvPr id="10" name="9 / 15">
            <a:extLst xmlns:a="http://schemas.openxmlformats.org/drawingml/2006/main">
              <a:ext uri="{FF2B5EF4-FFF2-40B4-BE49-F238E27FC236}">
                <a16:creationId xmlns:a16="http://schemas.microsoft.com/office/drawing/2014/main" id="{00000F37-9ABA-4423-8EE4-BE3C9C83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9 / 15</a:t>
            </a:r>
          </a:p>
        </p:txBody>
      </p:sp>
      <p:sp>
        <p:nvSpPr>
          <p:cNvPr id="11" name="The crystals become invisible and a solution forms. What happene">
            <a:extLst xmlns:a="http://schemas.openxmlformats.org/drawingml/2006/main">
              <a:ext uri="{FF2B5EF4-FFF2-40B4-BE49-F238E27FC236}">
                <a16:creationId xmlns:a16="http://schemas.microsoft.com/office/drawing/2014/main" id="{EBFDB8EE-3893-458C-9634-75BF08DF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crystals become invisible and a solution forms. What happened?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43AEA60F-80DD-4C09-87A0-38EF1CAF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E2AC9C86-D4EC-4494-801B-06461692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4" name="A">
            <a:extLst xmlns:a="http://schemas.openxmlformats.org/drawingml/2006/main">
              <a:ext uri="{FF2B5EF4-FFF2-40B4-BE49-F238E27FC236}">
                <a16:creationId xmlns:a16="http://schemas.microsoft.com/office/drawing/2014/main" id="{A956193B-5FF6-4E8E-B1E4-62CFD684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955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A</a:t>
            </a:r>
          </a:p>
        </p:txBody>
      </p:sp>
      <p:sp>
        <p:nvSpPr>
          <p:cNvPr id="15" name="The sugar dissolved and remains in the solution.">
            <a:extLst xmlns:a="http://schemas.openxmlformats.org/drawingml/2006/main">
              <a:ext uri="{FF2B5EF4-FFF2-40B4-BE49-F238E27FC236}">
                <a16:creationId xmlns:a16="http://schemas.microsoft.com/office/drawing/2014/main" id="{7EF46770-2A44-4B15-8D34-0817FC44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955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sugar dissolved and remains in the solution.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335A8A3D-4A6F-45B1-97BA-3CDECFBF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3B6617FB-12D5-42AC-B452-FE86F04F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8" name="B">
            <a:extLst xmlns:a="http://schemas.openxmlformats.org/drawingml/2006/main">
              <a:ext uri="{FF2B5EF4-FFF2-40B4-BE49-F238E27FC236}">
                <a16:creationId xmlns:a16="http://schemas.microsoft.com/office/drawing/2014/main" id="{EC1609A8-2371-49AF-A6B3-086A146C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766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</a:t>
            </a:r>
          </a:p>
        </p:txBody>
      </p:sp>
      <p:sp>
        <p:nvSpPr>
          <p:cNvPr id="19" name="The sugar melted into pure liquid sugar.">
            <a:extLst xmlns:a="http://schemas.openxmlformats.org/drawingml/2006/main">
              <a:ext uri="{FF2B5EF4-FFF2-40B4-BE49-F238E27FC236}">
                <a16:creationId xmlns:a16="http://schemas.microsoft.com/office/drawing/2014/main" id="{3E77AEE8-6A56-436D-8119-C69E5AA5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6766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sugar melted into pure liquid sugar.</a:t>
            </a:r>
          </a:p>
        </p:txBody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272289BE-42B4-40DA-B6DB-AC070749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655F5872-C99B-4153-82D7-B9A1C873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2" name="C">
            <a:extLst xmlns:a="http://schemas.openxmlformats.org/drawingml/2006/main">
              <a:ext uri="{FF2B5EF4-FFF2-40B4-BE49-F238E27FC236}">
                <a16:creationId xmlns:a16="http://schemas.microsoft.com/office/drawing/2014/main" id="{7D5409AB-9E8F-4CD8-819C-754F92E3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577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C</a:t>
            </a:r>
          </a:p>
        </p:txBody>
      </p:sp>
      <p:sp>
        <p:nvSpPr>
          <p:cNvPr id="23" name="The sugar stopped existing.">
            <a:extLst xmlns:a="http://schemas.openxmlformats.org/drawingml/2006/main">
              <a:ext uri="{FF2B5EF4-FFF2-40B4-BE49-F238E27FC236}">
                <a16:creationId xmlns:a16="http://schemas.microsoft.com/office/drawing/2014/main" id="{47B7FE9D-E291-48A3-904B-78E56860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8577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sugar stopped existing.</a:t>
            </a:r>
          </a:p>
        </p:txBody>
      </p:sp>
    </p:spTree>
    <p:extLst>
      <p:ext uri="{BB962C8B-B14F-4D97-AF65-F5344CB8AC3E}">
        <p14:creationId xmlns:p14="http://schemas.microsoft.com/office/powerpoint/2010/main" val="10826175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79E7F6DA-9D80-43FC-9559-22118F26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097E4A4E-2652-4C90-BD50-0588B42B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73FED9D3-502C-44D3-AA97-BD78F2BE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7702E8AC-F5F7-4DD3-AD03-1C714541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9090E038-501B-4954-A65F-86B9A9C6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10 min">
            <a:extLst xmlns:a="http://schemas.openxmlformats.org/drawingml/2006/main">
              <a:ext uri="{FF2B5EF4-FFF2-40B4-BE49-F238E27FC236}">
                <a16:creationId xmlns:a16="http://schemas.microsoft.com/office/drawing/2014/main" id="{0F6F78ED-0D4E-4070-8E60-42494676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10 min</a:t>
            </a:r>
          </a:p>
        </p:txBody>
      </p:sp>
      <p:sp>
        <p:nvSpPr>
          <p:cNvPr id="7" name="Your independent investigation">
            <a:extLst xmlns:a="http://schemas.openxmlformats.org/drawingml/2006/main">
              <a:ext uri="{FF2B5EF4-FFF2-40B4-BE49-F238E27FC236}">
                <a16:creationId xmlns:a16="http://schemas.microsoft.com/office/drawing/2014/main" id="{CFA9CA29-4919-4D4C-9C39-95DDC7B0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Your independent investigation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EA9AE3FA-27BF-40D0-A795-A0AAD898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Reversible change detectives">
            <a:extLst xmlns:a="http://schemas.openxmlformats.org/drawingml/2006/main">
              <a:ext uri="{FF2B5EF4-FFF2-40B4-BE49-F238E27FC236}">
                <a16:creationId xmlns:a16="http://schemas.microsoft.com/office/drawing/2014/main" id="{4ED08746-27CA-4092-BD1C-6DF8F3F5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Reversible change detectives</a:t>
            </a:r>
          </a:p>
        </p:txBody>
      </p:sp>
      <p:sp>
        <p:nvSpPr>
          <p:cNvPr id="10" name="10 / 15">
            <a:extLst xmlns:a="http://schemas.openxmlformats.org/drawingml/2006/main">
              <a:ext uri="{FF2B5EF4-FFF2-40B4-BE49-F238E27FC236}">
                <a16:creationId xmlns:a16="http://schemas.microsoft.com/office/drawing/2014/main" id="{2CD76716-E833-4A29-8F1A-F310B3DC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10 / 15</a:t>
            </a:r>
          </a:p>
        </p:txBody>
      </p:sp>
      <p:sp>
        <p:nvSpPr>
          <p:cNvPr id="11" name="Choose one response route.">
            <a:extLst xmlns:a="http://schemas.openxmlformats.org/drawingml/2006/main">
              <a:ext uri="{FF2B5EF4-FFF2-40B4-BE49-F238E27FC236}">
                <a16:creationId xmlns:a16="http://schemas.microsoft.com/office/drawing/2014/main" id="{FF9EF8BF-17B5-420C-99C5-1E8C8303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one response route.</a:t>
            </a:r>
          </a:p>
        </p:txBody>
      </p:sp>
      <p:sp>
        <p:nvSpPr>
          <p:cNvPr id="12" name="Compare melting, freezing and dissolving.">
            <a:extLst xmlns:a="http://schemas.openxmlformats.org/drawingml/2006/main">
              <a:ext uri="{FF2B5EF4-FFF2-40B4-BE49-F238E27FC236}">
                <a16:creationId xmlns:a16="http://schemas.microsoft.com/office/drawing/2014/main" id="{0EBEE72A-7473-4FE2-B69F-D2EAFB21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Compare melting, freezing and dissolving.</a:t>
            </a:r>
          </a:p>
        </p:txBody>
      </p:sp>
      <p:sp>
        <p:nvSpPr>
          <p:cNvPr id="13" name="Explain a route to recover the stated substance.">
            <a:extLst xmlns:a="http://schemas.openxmlformats.org/drawingml/2006/main">
              <a:ext uri="{FF2B5EF4-FFF2-40B4-BE49-F238E27FC236}">
                <a16:creationId xmlns:a16="http://schemas.microsoft.com/office/drawing/2014/main" id="{64E9BF9D-A6FB-45BA-8C95-83227960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Explain a route to recover the stated substance.</a:t>
            </a:r>
          </a:p>
        </p:txBody>
      </p:sp>
    </p:spTree>
    <p:extLst>
      <p:ext uri="{BB962C8B-B14F-4D97-AF65-F5344CB8AC3E}">
        <p14:creationId xmlns:p14="http://schemas.microsoft.com/office/powerpoint/2010/main" val="21314703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1CFF8E41-B559-4DFC-A2BF-0590F841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D9FED557-C819-4A86-AC28-F3FE672E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38C3B75A-CABF-4A85-BE4E-702615BC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B5C7E54C-C09F-4AFF-9774-4517B7B3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F87BB867-CDED-44EA-B658-8BBE4176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Use the evidence">
            <a:extLst xmlns:a="http://schemas.openxmlformats.org/drawingml/2006/main">
              <a:ext uri="{FF2B5EF4-FFF2-40B4-BE49-F238E27FC236}">
                <a16:creationId xmlns:a16="http://schemas.microsoft.com/office/drawing/2014/main" id="{BAD73504-765A-443C-8780-CEBBA818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the evidence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D16413F4-557C-4C43-835D-B60DD612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Reversible change detectives">
            <a:extLst xmlns:a="http://schemas.openxmlformats.org/drawingml/2006/main">
              <a:ext uri="{FF2B5EF4-FFF2-40B4-BE49-F238E27FC236}">
                <a16:creationId xmlns:a16="http://schemas.microsoft.com/office/drawing/2014/main" id="{09E488FC-7EAA-41A8-B8A5-347DA0B5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Reversible change detectives</a:t>
            </a:r>
          </a:p>
        </p:txBody>
      </p:sp>
      <p:sp>
        <p:nvSpPr>
          <p:cNvPr id="9" name="11 / 15">
            <a:extLst xmlns:a="http://schemas.openxmlformats.org/drawingml/2006/main">
              <a:ext uri="{FF2B5EF4-FFF2-40B4-BE49-F238E27FC236}">
                <a16:creationId xmlns:a16="http://schemas.microsoft.com/office/drawing/2014/main" id="{EC2703AE-7EFE-4F7A-9035-87EF4E13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11 / 15</a:t>
            </a:r>
          </a:p>
        </p:txBody>
      </p:sp>
      <p:sp>
        <p:nvSpPr>
          <p:cNvPr id="10" name="Track the substance before and after.">
            <a:extLst xmlns:a="http://schemas.openxmlformats.org/drawingml/2006/main">
              <a:ext uri="{FF2B5EF4-FFF2-40B4-BE49-F238E27FC236}">
                <a16:creationId xmlns:a16="http://schemas.microsoft.com/office/drawing/2014/main" id="{371A0351-4763-4259-A9AC-78F0AD92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Track the substance before and after.</a:t>
            </a:r>
          </a:p>
        </p:txBody>
      </p:sp>
      <p:sp>
        <p:nvSpPr>
          <p:cNvPr id="11" name="Use mass and recovery evidence appropriately.">
            <a:extLst xmlns:a="http://schemas.openxmlformats.org/drawingml/2006/main">
              <a:ext uri="{FF2B5EF4-FFF2-40B4-BE49-F238E27FC236}">
                <a16:creationId xmlns:a16="http://schemas.microsoft.com/office/drawing/2014/main" id="{2C4E1B45-2863-488E-BF93-B3777A54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mass and recovery evidence appropriately.</a:t>
            </a:r>
          </a:p>
        </p:txBody>
      </p:sp>
      <p:sp>
        <p:nvSpPr>
          <p:cNvPr id="12" name="Name what a chosen process actually collects.">
            <a:extLst xmlns:a="http://schemas.openxmlformats.org/drawingml/2006/main">
              <a:ext uri="{FF2B5EF4-FFF2-40B4-BE49-F238E27FC236}">
                <a16:creationId xmlns:a16="http://schemas.microsoft.com/office/drawing/2014/main" id="{85A16877-851A-420D-A920-EDCD78CD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Name what a chosen process actually collects.</a:t>
            </a:r>
          </a:p>
        </p:txBody>
      </p:sp>
    </p:spTree>
    <p:extLst>
      <p:ext uri="{BB962C8B-B14F-4D97-AF65-F5344CB8AC3E}">
        <p14:creationId xmlns:p14="http://schemas.microsoft.com/office/powerpoint/2010/main" val="17998358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7B138934-5E2F-45D5-9345-54D1CE1E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921DC2B2-3C5E-4C33-B368-392421E7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992554C6-98D7-4332-9675-4E8A5287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B6B3BA67-6188-4BEC-AA5D-4C0AF488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0A069F10-7DC3-4661-A86D-3A2596DD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Check before sharing">
            <a:extLst xmlns:a="http://schemas.openxmlformats.org/drawingml/2006/main">
              <a:ext uri="{FF2B5EF4-FFF2-40B4-BE49-F238E27FC236}">
                <a16:creationId xmlns:a16="http://schemas.microsoft.com/office/drawing/2014/main" id="{E806E083-5916-40F8-89A6-B151FB42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Check before sharing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9F0FA3FF-2C0C-4D92-AB76-DE4D3920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Reversible change detectives">
            <a:extLst xmlns:a="http://schemas.openxmlformats.org/drawingml/2006/main">
              <a:ext uri="{FF2B5EF4-FFF2-40B4-BE49-F238E27FC236}">
                <a16:creationId xmlns:a16="http://schemas.microsoft.com/office/drawing/2014/main" id="{734FCAF2-46D4-4128-B795-BBD494EB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Reversible change detectives</a:t>
            </a:r>
          </a:p>
        </p:txBody>
      </p:sp>
      <p:sp>
        <p:nvSpPr>
          <p:cNvPr id="9" name="12 / 15">
            <a:extLst xmlns:a="http://schemas.openxmlformats.org/drawingml/2006/main">
              <a:ext uri="{FF2B5EF4-FFF2-40B4-BE49-F238E27FC236}">
                <a16:creationId xmlns:a16="http://schemas.microsoft.com/office/drawing/2014/main" id="{7D9B0F6D-39BD-42EE-90D2-477709E0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12 / 15</a:t>
            </a:r>
          </a:p>
        </p:txBody>
      </p:sp>
      <p:sp>
        <p:nvSpPr>
          <p:cNvPr id="10" name="Does my explanation answer the question?">
            <a:extLst xmlns:a="http://schemas.openxmlformats.org/drawingml/2006/main">
              <a:ext uri="{FF2B5EF4-FFF2-40B4-BE49-F238E27FC236}">
                <a16:creationId xmlns:a16="http://schemas.microsoft.com/office/drawing/2014/main" id="{02D603F5-540A-40E9-B36F-56E7C3AC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Does my explanation answer the question?</a:t>
            </a:r>
          </a:p>
        </p:txBody>
      </p:sp>
      <p:sp>
        <p:nvSpPr>
          <p:cNvPr id="11" name="Have I named the evidence or process?">
            <a:extLst xmlns:a="http://schemas.openxmlformats.org/drawingml/2006/main">
              <a:ext uri="{FF2B5EF4-FFF2-40B4-BE49-F238E27FC236}">
                <a16:creationId xmlns:a16="http://schemas.microsoft.com/office/drawing/2014/main" id="{19D54BCB-170F-44A9-9F03-565C24AA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Have I named the evidence or process?</a:t>
            </a:r>
          </a:p>
        </p:txBody>
      </p:sp>
      <p:sp>
        <p:nvSpPr>
          <p:cNvPr id="12" name="Have I kept the conclusion within its limits?">
            <a:extLst xmlns:a="http://schemas.openxmlformats.org/drawingml/2006/main">
              <a:ext uri="{FF2B5EF4-FFF2-40B4-BE49-F238E27FC236}">
                <a16:creationId xmlns:a16="http://schemas.microsoft.com/office/drawing/2014/main" id="{3E0DD17F-F489-42A2-A1A3-B379F06E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Have I kept the conclusion within its limits?</a:t>
            </a:r>
          </a:p>
        </p:txBody>
      </p:sp>
    </p:spTree>
    <p:extLst>
      <p:ext uri="{BB962C8B-B14F-4D97-AF65-F5344CB8AC3E}">
        <p14:creationId xmlns:p14="http://schemas.microsoft.com/office/powerpoint/2010/main" val="1898090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E81741FE-416C-4E0A-B24F-F9EFC65E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530BE8DD-2C15-46C6-9DFF-6D3310C6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8A42A1B2-38DA-409D-B945-9822FDF4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81F07C76-E8F0-48CA-9CF2-C1AF062A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D1D01612-C26E-4B7D-A500-C56242C4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4 min">
            <a:extLst xmlns:a="http://schemas.openxmlformats.org/drawingml/2006/main">
              <a:ext uri="{FF2B5EF4-FFF2-40B4-BE49-F238E27FC236}">
                <a16:creationId xmlns:a16="http://schemas.microsoft.com/office/drawing/2014/main" id="{B1C159D0-5492-4B41-85B7-8A628F5F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4 min</a:t>
            </a:r>
          </a:p>
        </p:txBody>
      </p:sp>
      <p:sp>
        <p:nvSpPr>
          <p:cNvPr id="7" name="Compare and improve">
            <a:extLst xmlns:a="http://schemas.openxmlformats.org/drawingml/2006/main">
              <a:ext uri="{FF2B5EF4-FFF2-40B4-BE49-F238E27FC236}">
                <a16:creationId xmlns:a16="http://schemas.microsoft.com/office/drawing/2014/main" id="{9FA1A111-909A-4DD5-B488-89D47B08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Compare and improve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689AB61F-8859-48E3-B1FD-5D051306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Reversible change detectives">
            <a:extLst xmlns:a="http://schemas.openxmlformats.org/drawingml/2006/main">
              <a:ext uri="{FF2B5EF4-FFF2-40B4-BE49-F238E27FC236}">
                <a16:creationId xmlns:a16="http://schemas.microsoft.com/office/drawing/2014/main" id="{B4097E37-C3BC-4D31-A851-FB98B5E5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Reversible change detectives</a:t>
            </a:r>
          </a:p>
        </p:txBody>
      </p:sp>
      <p:sp>
        <p:nvSpPr>
          <p:cNvPr id="10" name="13 / 15">
            <a:extLst xmlns:a="http://schemas.openxmlformats.org/drawingml/2006/main">
              <a:ext uri="{FF2B5EF4-FFF2-40B4-BE49-F238E27FC236}">
                <a16:creationId xmlns:a16="http://schemas.microsoft.com/office/drawing/2014/main" id="{426044B0-5E9F-435D-B6D0-84C4100F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13 / 15</a:t>
            </a:r>
          </a:p>
        </p:txBody>
      </p:sp>
      <p:sp>
        <p:nvSpPr>
          <p:cNvPr id="11" name="Share one corrected process label.">
            <a:extLst xmlns:a="http://schemas.openxmlformats.org/drawingml/2006/main">
              <a:ext uri="{FF2B5EF4-FFF2-40B4-BE49-F238E27FC236}">
                <a16:creationId xmlns:a16="http://schemas.microsoft.com/office/drawing/2014/main" id="{40A824D2-0724-4378-BE57-4F406328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Share one corrected process label.</a:t>
            </a:r>
          </a:p>
        </p:txBody>
      </p:sp>
      <p:sp>
        <p:nvSpPr>
          <p:cNvPr id="12" name="Check the before-and-after substance.">
            <a:extLst xmlns:a="http://schemas.openxmlformats.org/drawingml/2006/main">
              <a:ext uri="{FF2B5EF4-FFF2-40B4-BE49-F238E27FC236}">
                <a16:creationId xmlns:a16="http://schemas.microsoft.com/office/drawing/2014/main" id="{5C7F5388-E3B3-4AA3-AB42-DC641E1D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Check the before-and-after substance.</a:t>
            </a:r>
          </a:p>
        </p:txBody>
      </p:sp>
      <p:sp>
        <p:nvSpPr>
          <p:cNvPr id="13" name="Improve a disappearing or melting claim.">
            <a:extLst xmlns:a="http://schemas.openxmlformats.org/drawingml/2006/main">
              <a:ext uri="{FF2B5EF4-FFF2-40B4-BE49-F238E27FC236}">
                <a16:creationId xmlns:a16="http://schemas.microsoft.com/office/drawing/2014/main" id="{5308FD87-F0DD-43D0-AF15-E53E4FB6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Improve a disappearing or melting claim.</a:t>
            </a:r>
          </a:p>
        </p:txBody>
      </p:sp>
    </p:spTree>
    <p:extLst>
      <p:ext uri="{BB962C8B-B14F-4D97-AF65-F5344CB8AC3E}">
        <p14:creationId xmlns:p14="http://schemas.microsoft.com/office/powerpoint/2010/main" val="5310229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ECE5B251-A6E5-4B56-891A-E07D4B8B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5FBF2480-87FE-4F18-8DF2-4B4B801E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7C9039F6-6318-4C57-B9BE-AC66141A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580C76F5-50B3-4F96-8DBD-7C47BA7C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66EB26EC-3C35-436A-AB05-0F2D5F85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A question worth investigating">
            <a:extLst xmlns:a="http://schemas.openxmlformats.org/drawingml/2006/main">
              <a:ext uri="{FF2B5EF4-FFF2-40B4-BE49-F238E27FC236}">
                <a16:creationId xmlns:a16="http://schemas.microsoft.com/office/drawing/2014/main" id="{91642AFC-637D-4E5E-B9ED-CC070096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question worth investigating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98905A52-2597-43B8-B36D-36ABEE59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Reversible change detectives">
            <a:extLst xmlns:a="http://schemas.openxmlformats.org/drawingml/2006/main">
              <a:ext uri="{FF2B5EF4-FFF2-40B4-BE49-F238E27FC236}">
                <a16:creationId xmlns:a16="http://schemas.microsoft.com/office/drawing/2014/main" id="{F926D434-A055-4A37-BF13-FE36085D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Reversible change detectives</a:t>
            </a:r>
          </a:p>
        </p:txBody>
      </p:sp>
      <p:sp>
        <p:nvSpPr>
          <p:cNvPr id="9" name="14 / 15">
            <a:extLst xmlns:a="http://schemas.openxmlformats.org/drawingml/2006/main">
              <a:ext uri="{FF2B5EF4-FFF2-40B4-BE49-F238E27FC236}">
                <a16:creationId xmlns:a16="http://schemas.microsoft.com/office/drawing/2014/main" id="{3F307C18-4C39-49CC-B7EC-1F606836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14 / 15</a:t>
            </a:r>
          </a:p>
        </p:txBody>
      </p:sp>
      <p:sp>
        <p:nvSpPr>
          <p:cNvPr id="10" name="Suggest one next question about this lesson’s evidence.">
            <a:extLst xmlns:a="http://schemas.openxmlformats.org/drawingml/2006/main">
              <a:ext uri="{FF2B5EF4-FFF2-40B4-BE49-F238E27FC236}">
                <a16:creationId xmlns:a16="http://schemas.microsoft.com/office/drawing/2014/main" id="{55BE91A0-6AAE-4E7F-8DE9-6EF63D95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Suggest one next question about this lesson’s evidence.</a:t>
            </a:r>
          </a:p>
        </p:txBody>
      </p:sp>
      <p:sp>
        <p:nvSpPr>
          <p:cNvPr id="11" name="Choose a question whose answer would improve our model.">
            <a:extLst xmlns:a="http://schemas.openxmlformats.org/drawingml/2006/main">
              <a:ext uri="{FF2B5EF4-FFF2-40B4-BE49-F238E27FC236}">
                <a16:creationId xmlns:a16="http://schemas.microsoft.com/office/drawing/2014/main" id="{D2DD49A6-88AA-4155-BA81-3255BFDD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a question whose answer would improve our model.</a:t>
            </a:r>
          </a:p>
        </p:txBody>
      </p:sp>
    </p:spTree>
    <p:extLst>
      <p:ext uri="{BB962C8B-B14F-4D97-AF65-F5344CB8AC3E}">
        <p14:creationId xmlns:p14="http://schemas.microsoft.com/office/powerpoint/2010/main" val="110270093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48EC7DE4-F136-4D20-A83C-97E5E309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CABFB0B5-D550-42CD-9889-CE06B942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14E87189-B228-4F13-9461-4C11A3A8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C1E7E113-1723-4F3A-AF27-5E81045E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Exit">
            <a:extLst xmlns:a="http://schemas.openxmlformats.org/drawingml/2006/main">
              <a:ext uri="{FF2B5EF4-FFF2-40B4-BE49-F238E27FC236}">
                <a16:creationId xmlns:a16="http://schemas.microsoft.com/office/drawing/2014/main" id="{9E5034CA-352F-4AF3-AEBA-43764626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Exit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947AB2BD-1FB6-408F-B9CF-43E99DD2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Show the science you can explain">
            <a:extLst xmlns:a="http://schemas.openxmlformats.org/drawingml/2006/main">
              <a:ext uri="{FF2B5EF4-FFF2-40B4-BE49-F238E27FC236}">
                <a16:creationId xmlns:a16="http://schemas.microsoft.com/office/drawing/2014/main" id="{50EA2BCF-88FC-40F1-AA0A-C86D154F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Show the science you can explain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0CDBBA80-2673-4F32-8BD9-59C109D9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Reversible change detectives">
            <a:extLst xmlns:a="http://schemas.openxmlformats.org/drawingml/2006/main">
              <a:ext uri="{FF2B5EF4-FFF2-40B4-BE49-F238E27FC236}">
                <a16:creationId xmlns:a16="http://schemas.microsoft.com/office/drawing/2014/main" id="{F3C04DF7-0274-4E67-B69E-F9656985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Reversible change detectives</a:t>
            </a:r>
          </a:p>
        </p:txBody>
      </p:sp>
      <p:sp>
        <p:nvSpPr>
          <p:cNvPr id="10" name="15 / 15">
            <a:extLst xmlns:a="http://schemas.openxmlformats.org/drawingml/2006/main">
              <a:ext uri="{FF2B5EF4-FFF2-40B4-BE49-F238E27FC236}">
                <a16:creationId xmlns:a16="http://schemas.microsoft.com/office/drawing/2014/main" id="{EB137670-6C5B-4EB7-99D6-C49CDC65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15 / 15</a:t>
            </a:r>
          </a:p>
        </p:txBody>
      </p:sp>
      <p:sp>
        <p:nvSpPr>
          <p:cNvPr id="11" name="E1. How is melting different from dissolving?">
            <a:extLst xmlns:a="http://schemas.openxmlformats.org/drawingml/2006/main">
              <a:ext uri="{FF2B5EF4-FFF2-40B4-BE49-F238E27FC236}">
                <a16:creationId xmlns:a16="http://schemas.microsoft.com/office/drawing/2014/main" id="{25854B54-97E8-4BDF-BEBF-ACE00334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E1. How is melting different from dissolving?</a:t>
            </a:r>
          </a:p>
        </p:txBody>
      </p:sp>
      <p:sp>
        <p:nvSpPr>
          <p:cNvPr id="12" name="E2. Where is the sugar in a clear solution?">
            <a:extLst xmlns:a="http://schemas.openxmlformats.org/drawingml/2006/main">
              <a:ext uri="{FF2B5EF4-FFF2-40B4-BE49-F238E27FC236}">
                <a16:creationId xmlns:a16="http://schemas.microsoft.com/office/drawing/2014/main" id="{DB9348A9-9730-4D2F-8F42-0DCDF8EC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E2. Where is the sugar in a clear solution?</a:t>
            </a:r>
          </a:p>
        </p:txBody>
      </p:sp>
      <p:sp>
        <p:nvSpPr>
          <p:cNvPr id="13" name="E3. How could sugar be recovered here?">
            <a:extLst xmlns:a="http://schemas.openxmlformats.org/drawingml/2006/main">
              <a:ext uri="{FF2B5EF4-FFF2-40B4-BE49-F238E27FC236}">
                <a16:creationId xmlns:a16="http://schemas.microsoft.com/office/drawing/2014/main" id="{7F238356-C683-47C0-B287-749F207D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E3. How could sugar be recovered here?</a:t>
            </a:r>
          </a:p>
        </p:txBody>
      </p:sp>
    </p:spTree>
    <p:extLst>
      <p:ext uri="{BB962C8B-B14F-4D97-AF65-F5344CB8AC3E}">
        <p14:creationId xmlns:p14="http://schemas.microsoft.com/office/powerpoint/2010/main" val="15216875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2026-09-09T00:01:42.1190000Z</dcterms:created>
  <dcterms:modified xsi:type="dcterms:W3CDTF">2026-09-09T00:01:42.1190000Z</dcterms:modified>
</coreProperties>
</file>