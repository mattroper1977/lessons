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ae3f3aa2eb4de5" /><Relationship Type="http://schemas.openxmlformats.org/officeDocument/2006/relationships/extended-properties" Target="/docProps/app.xml" Id="R16edbadadd834aad" /><Relationship Type="http://schemas.openxmlformats.org/officeDocument/2006/relationships/officeDocument" Target="/ppt/presentation.xml" Id="R2409861db14d47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f3bf41b7944011"/>
  </p:sldMasterIdLst>
  <p:notesMasterIdLst>
    <p:notesMasterId xmlns:r="http://schemas.openxmlformats.org/officeDocument/2006/relationships" r:id="R735900342d984939"/>
  </p:notesMasterIdLst>
  <p:sldIdLst>
    <p:sldId xmlns:r="http://schemas.openxmlformats.org/officeDocument/2006/relationships" id="256" r:id="Rfb112aee8c5e4b40"/>
    <p:sldId xmlns:r="http://schemas.openxmlformats.org/officeDocument/2006/relationships" id="257" r:id="Rf0bdfa732f5d44cc"/>
    <p:sldId xmlns:r="http://schemas.openxmlformats.org/officeDocument/2006/relationships" id="258" r:id="R289dd006e34848d8"/>
    <p:sldId xmlns:r="http://schemas.openxmlformats.org/officeDocument/2006/relationships" id="259" r:id="Rfac5c51f17f04612"/>
    <p:sldId xmlns:r="http://schemas.openxmlformats.org/officeDocument/2006/relationships" id="260" r:id="Rfa2cbe0b16f044ab"/>
    <p:sldId xmlns:r="http://schemas.openxmlformats.org/officeDocument/2006/relationships" id="261" r:id="R9e11092e63da4b5f"/>
    <p:sldId xmlns:r="http://schemas.openxmlformats.org/officeDocument/2006/relationships" id="262" r:id="Rd2b7ea4916ba40f5"/>
    <p:sldId xmlns:r="http://schemas.openxmlformats.org/officeDocument/2006/relationships" id="263" r:id="R8dde91cf22294c79"/>
    <p:sldId xmlns:r="http://schemas.openxmlformats.org/officeDocument/2006/relationships" id="264" r:id="R423693483c664e7d"/>
    <p:sldId xmlns:r="http://schemas.openxmlformats.org/officeDocument/2006/relationships" id="265" r:id="R77fd0a7d2e3747ed"/>
    <p:sldId xmlns:r="http://schemas.openxmlformats.org/officeDocument/2006/relationships" id="266" r:id="R9d67233b24704e7b"/>
    <p:sldId xmlns:r="http://schemas.openxmlformats.org/officeDocument/2006/relationships" id="267" r:id="Rf86d74b00f4f4ed2"/>
    <p:sldId xmlns:r="http://schemas.openxmlformats.org/officeDocument/2006/relationships" id="268" r:id="Rda00fcc5c7a44253"/>
    <p:sldId xmlns:r="http://schemas.openxmlformats.org/officeDocument/2006/relationships" id="269" r:id="Rb5b61a0ee97c48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e61a60162f4605" /><Relationship Type="http://schemas.openxmlformats.org/officeDocument/2006/relationships/slideMaster" Target="/ppt/slideMasters/slideMaster1.xml" Id="Rc1f3bf41b7944011" /><Relationship Type="http://schemas.openxmlformats.org/officeDocument/2006/relationships/notesMaster" Target="/ppt/notesMasters/notesMaster1.xml" Id="R735900342d984939" /><Relationship Type="http://schemas.openxmlformats.org/officeDocument/2006/relationships/presProps" Target="/ppt/presProps.xml" Id="R16b60bc345354986" /><Relationship Type="http://schemas.openxmlformats.org/officeDocument/2006/relationships/tableStyles" Target="/ppt/tableStyles.xml" Id="R2146a00461b04b74" /><Relationship Type="http://schemas.openxmlformats.org/officeDocument/2006/relationships/slide" Target="/ppt/slides/slide1.xml" Id="Rfb112aee8c5e4b40" /><Relationship Type="http://schemas.openxmlformats.org/officeDocument/2006/relationships/slide" Target="/ppt/slides/slide2.xml" Id="Rf0bdfa732f5d44cc" /><Relationship Type="http://schemas.openxmlformats.org/officeDocument/2006/relationships/slide" Target="/ppt/slides/slide3.xml" Id="R289dd006e34848d8" /><Relationship Type="http://schemas.openxmlformats.org/officeDocument/2006/relationships/slide" Target="/ppt/slides/slide4.xml" Id="Rfac5c51f17f04612" /><Relationship Type="http://schemas.openxmlformats.org/officeDocument/2006/relationships/slide" Target="/ppt/slides/slide5.xml" Id="Rfa2cbe0b16f044ab" /><Relationship Type="http://schemas.openxmlformats.org/officeDocument/2006/relationships/slide" Target="/ppt/slides/slide6.xml" Id="R9e11092e63da4b5f" /><Relationship Type="http://schemas.openxmlformats.org/officeDocument/2006/relationships/slide" Target="/ppt/slides/slide7.xml" Id="Rd2b7ea4916ba40f5" /><Relationship Type="http://schemas.openxmlformats.org/officeDocument/2006/relationships/slide" Target="/ppt/slides/slide8.xml" Id="R8dde91cf22294c79" /><Relationship Type="http://schemas.openxmlformats.org/officeDocument/2006/relationships/slide" Target="/ppt/slides/slide9.xml" Id="R423693483c664e7d" /><Relationship Type="http://schemas.openxmlformats.org/officeDocument/2006/relationships/slide" Target="/ppt/slides/slide10.xml" Id="R77fd0a7d2e3747ed" /><Relationship Type="http://schemas.openxmlformats.org/officeDocument/2006/relationships/slide" Target="/ppt/slides/slide11.xml" Id="R9d67233b24704e7b" /><Relationship Type="http://schemas.openxmlformats.org/officeDocument/2006/relationships/slide" Target="/ppt/slides/slide12.xml" Id="Rf86d74b00f4f4ed2" /><Relationship Type="http://schemas.openxmlformats.org/officeDocument/2006/relationships/slide" Target="/ppt/slides/slide13.xml" Id="Rda00fcc5c7a44253" /><Relationship Type="http://schemas.openxmlformats.org/officeDocument/2006/relationships/slide" Target="/ppt/slides/slide14.xml" Id="Rb5b61a0ee97c48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29df01c13348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be57cdb5eb46f7" /><Relationship Type="http://schemas.openxmlformats.org/officeDocument/2006/relationships/notesMaster" Target="/ppt/notesMasters/notesMaster1.xml" Id="Rbbcd9deab76c49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765cad254142b0" /><Relationship Type="http://schemas.openxmlformats.org/officeDocument/2006/relationships/notesMaster" Target="/ppt/notesMasters/notesMaster1.xml" Id="Rc02d40ac3de54e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72e89599164ffc" /><Relationship Type="http://schemas.openxmlformats.org/officeDocument/2006/relationships/notesMaster" Target="/ppt/notesMasters/notesMaster1.xml" Id="R0664035b77844f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25912c4d8b40e0" /><Relationship Type="http://schemas.openxmlformats.org/officeDocument/2006/relationships/notesMaster" Target="/ppt/notesMasters/notesMaster1.xml" Id="R06d3574335d14d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35b9300f39484f" /><Relationship Type="http://schemas.openxmlformats.org/officeDocument/2006/relationships/notesMaster" Target="/ppt/notesMasters/notesMaster1.xml" Id="R2443c4fa530f4e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8f716ac6c44058" /><Relationship Type="http://schemas.openxmlformats.org/officeDocument/2006/relationships/notesMaster" Target="/ppt/notesMasters/notesMaster1.xml" Id="R7ab7c620633348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bfad611c8648de" /><Relationship Type="http://schemas.openxmlformats.org/officeDocument/2006/relationships/notesMaster" Target="/ppt/notesMasters/notesMaster1.xml" Id="Rb7512bc53be84a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959030e0a74946" /><Relationship Type="http://schemas.openxmlformats.org/officeDocument/2006/relationships/notesMaster" Target="/ppt/notesMasters/notesMaster1.xml" Id="Ra7cbe2bd7a9244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09363042864e47" /><Relationship Type="http://schemas.openxmlformats.org/officeDocument/2006/relationships/notesMaster" Target="/ppt/notesMasters/notesMaster1.xml" Id="Rf9e0c78a75be44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69afbe1b154d5d" /><Relationship Type="http://schemas.openxmlformats.org/officeDocument/2006/relationships/notesMaster" Target="/ppt/notesMasters/notesMaster1.xml" Id="R1926431880ae47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575c73260c4ba4" /><Relationship Type="http://schemas.openxmlformats.org/officeDocument/2006/relationships/notesMaster" Target="/ppt/notesMasters/notesMaster1.xml" Id="R30884423bd1d48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dea2408a2e4398" /><Relationship Type="http://schemas.openxmlformats.org/officeDocument/2006/relationships/notesMaster" Target="/ppt/notesMasters/notesMaster1.xml" Id="R0a3c8c1b430b4a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1f4fc5d9f24d72" /><Relationship Type="http://schemas.openxmlformats.org/officeDocument/2006/relationships/notesMaster" Target="/ppt/notesMasters/notesMaster1.xml" Id="R298264e10291462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c40524cc0e04fa9" /><Relationship Type="http://schemas.openxmlformats.org/officeDocument/2006/relationships/notesMaster" Target="/ppt/notesMasters/notesMaster1.xml" Id="Ra7e8e63abfca44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 · retrieve — 1 minutes within the source's 40-minute lesson.</a:t>
            </a:r>
          </a:p>
          <a:p xmlns:a="http://schemas.openxmlformats.org/drawingml/2006/main">
            <a:r>
              <a:t>First minute of the source 4-minute retrieval, not an extra starter. Return Monday's order strip. Today's 32-minute workshop includes all setup, work, check and tidy; feedback and exit follow.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https://github.com/MattRoper1977/Lessons/blob/main/Science_Teesside/Grow/SCI_G_W6_Earth_And_Planets.html</a:t>
            </a:r>
          </a:p>
          <a:p xmlns:a="http://schemas.openxmlformats.org/drawingml/2006/main">
            <a:r>
              <a:t>Git blob: 4a5f555bb496b2ba8f691b4811ca23a0a0c2b1e3.</a:t>
            </a:r>
          </a:p>
          <a:p xmlns:a="http://schemas.openxmlformats.org/drawingml/2006/main">
            <a:r>
              <a:t>SHA256: 83eaeaca1b23925984d12c25ba3af86d8e952f0547e35303b78a50d734d82bee.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 · retrieve — 3 minutes within the source's 40-minute lesson.</a:t>
            </a:r>
          </a:p>
          <a:p xmlns:a="http://schemas.openxmlformats.org/drawingml/2006/main">
            <a:r>
              <a:t>Order Mercury, Venus, Earth, Mars, Jupiter, Saturn, Uranus, Neptune. Provide all eight cards; adult can hold or read them. At current model position, gravity points inward; motion tangent. Support may direct an adult, draw or use counters. This completes the source 4-minute retrieval.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https://github.com/MattRoper1977/Lessons/blob/main/Science_Teesside/Grow/SCI_G_W6_Earth_And_Planets.html</a:t>
            </a:r>
          </a:p>
          <a:p xmlns:a="http://schemas.openxmlformats.org/drawingml/2006/main">
            <a:r>
              <a:t>Git blob: 4a5f555bb496b2ba8f691b4811ca23a0a0c2b1e3.</a:t>
            </a:r>
          </a:p>
          <a:p xmlns:a="http://schemas.openxmlformats.org/drawingml/2006/main">
            <a:r>
              <a:t>SHA256: 83eaeaca1b23925984d12c25ba3af86d8e952f0547e35303b78a50d734d82bee.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 · build and compare — 4 minutes within the source's 40-minute lesson.</a:t>
            </a:r>
          </a:p>
          <a:p xmlns:a="http://schemas.openxmlformats.org/drawingml/2006/main">
            <a:r>
              <a:t>First 4 of the 20-minute model/data phase. Supported: order names with support and Earth/Mars comparison. Standard: order and group, two arrows, two data pairs. Stretch: test farther-out/longer-year prediction and model limits. No bodily movement required. Supply paper ruler only if useful for layout; this is not distance measurement.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https://github.com/MattRoper1977/Lessons/blob/main/Science_Teesside/Grow/SCI_G_W6_Earth_And_Planets.html</a:t>
            </a:r>
          </a:p>
          <a:p xmlns:a="http://schemas.openxmlformats.org/drawingml/2006/main">
            <a:r>
              <a:t>Git blob: 4a5f555bb496b2ba8f691b4811ca23a0a0c2b1e3.</a:t>
            </a:r>
          </a:p>
          <a:p xmlns:a="http://schemas.openxmlformats.org/drawingml/2006/main">
            <a:r>
              <a:t>SHA256: 83eaeaca1b23925984d12c25ba3af86d8e952f0547e35303b78a50d734d82bee.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 · build and compare — 4 minutes within the source's 40-minute lesson.</a:t>
            </a:r>
          </a:p>
          <a:p xmlns:a="http://schemas.openxmlformats.org/drawingml/2006/main">
            <a:r>
              <a:t>Pupils manipulate their own or adult-operated model. Inward arrow represents gravitational force, tangent arrow represents direction of motion. They are not two opposing forces. Native schematic is an explanation aid; hand motion supplies movement in classroom model. No claim that counter orbit demonstrates gravity experimentally.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https://github.com/MattRoper1977/Lessons/blob/main/Science_Teesside/Grow/SCI_G_W6_Earth_And_Planets.html</a:t>
            </a:r>
          </a:p>
          <a:p xmlns:a="http://schemas.openxmlformats.org/drawingml/2006/main">
            <a:r>
              <a:t>Git blob: 4a5f555bb496b2ba8f691b4811ca23a0a0c2b1e3.</a:t>
            </a:r>
          </a:p>
          <a:p xmlns:a="http://schemas.openxmlformats.org/drawingml/2006/main">
            <a:r>
              <a:t>SHA256: 83eaeaca1b23925984d12c25ba3af86d8e952f0547e35303b78a50d734d82bee.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 · build and compare — 5 minutes within the source's 40-minute lesson.</a:t>
            </a:r>
          </a:p>
          <a:p xmlns:a="http://schemas.openxmlformats.org/drawingml/2006/main">
            <a:r>
              <a:t>Current source approximate orbital periods. Compare one pair supported; two pairs standard. All numbers share unit Earth days. Ask which finishes a single orbit first when starting together; shorter year finishes first. These are supplied scientific data, not student measurements. NASA Space Place years-on-other-planets and NASA planets are source facts; no internet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https://github.com/MattRoper1977/Lessons/blob/main/Science_Teesside/Grow/SCI_G_W6_Earth_And_Planets.html</a:t>
            </a:r>
          </a:p>
          <a:p xmlns:a="http://schemas.openxmlformats.org/drawingml/2006/main">
            <a:r>
              <a:t>Git blob: 4a5f555bb496b2ba8f691b4811ca23a0a0c2b1e3.</a:t>
            </a:r>
          </a:p>
          <a:p xmlns:a="http://schemas.openxmlformats.org/drawingml/2006/main">
            <a:r>
              <a:t>SHA256: 83eaeaca1b23925984d12c25ba3af86d8e952f0547e35303b78a50d734d82bee.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 · build and compare — 5 minutes within the source's 40-minute lesson.</a:t>
            </a:r>
          </a:p>
          <a:p xmlns:a="http://schemas.openxmlformats.org/drawingml/2006/main">
            <a:r>
              <a:t>Worked answer for adult after attempt: Mars 687 &gt; Earth 365, so Mars takes longer and Earth completes one orbit first; Neptune 60,190 &gt; Jupiter 4,333, so Neptune longer. Mercury 88 &lt; Earth 365, so Mercury shorter. Stretch checks farther-out pattern using given order and table. No invented relation that planets move at equal speed.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https://github.com/MattRoper1977/Lessons/blob/main/Science_Teesside/Grow/SCI_G_W6_Earth_And_Planets.html</a:t>
            </a:r>
          </a:p>
          <a:p xmlns:a="http://schemas.openxmlformats.org/drawingml/2006/main">
            <a:r>
              <a:t>Git blob: 4a5f555bb496b2ba8f691b4811ca23a0a0c2b1e3.</a:t>
            </a:r>
          </a:p>
          <a:p xmlns:a="http://schemas.openxmlformats.org/drawingml/2006/main">
            <a:r>
              <a:t>SHA256: 83eaeaca1b23925984d12c25ba3af86d8e952f0547e35303b78a50d734d82bee.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 · build and compare — 2 minutes within the source's 40-minute lesson.</a:t>
            </a:r>
          </a:p>
          <a:p xmlns:a="http://schemas.openxmlformats.org/drawingml/2006/main">
            <a:r>
              <a:t>Final 2 minutes of source 20-minute build/data phase. Scribe or accept dictated/pointed evidence. Model shows Sunward pull direction and curving path/order; does not show accurate size, distance, speed or actual gravitational mechanism. Pupils can use two supported sentence halves rather than full paragraph. Keep own predictions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https://github.com/MattRoper1977/Lessons/blob/main/Science_Teesside/Grow/SCI_G_W6_Earth_And_Planets.html</a:t>
            </a:r>
          </a:p>
          <a:p xmlns:a="http://schemas.openxmlformats.org/drawingml/2006/main">
            <a:r>
              <a:t>Git blob: 4a5f555bb496b2ba8f691b4811ca23a0a0c2b1e3.</a:t>
            </a:r>
          </a:p>
          <a:p xmlns:a="http://schemas.openxmlformats.org/drawingml/2006/main">
            <a:r>
              <a:t>SHA256: 83eaeaca1b23925984d12c25ba3af86d8e952f0547e35303b78a50d734d82bee.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 · check — 2 minutes within the source's 40-minute lesson.</a:t>
            </a:r>
          </a:p>
          <a:p xmlns:a="http://schemas.openxmlformats.org/drawingml/2006/main">
            <a:r>
              <a:t>Exact source 2-minute check inside 32. Expected yes: longer time, not a bigger physical planet. Use 365/687 to verify unit understanding. Adult records actual demonstrated science and independence. An incorrect first arrow is an opportunity to correct, not proof of failure.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https://github.com/MattRoper1977/Lessons/blob/main/Science_Teesside/Grow/SCI_G_W6_Earth_And_Planets.html</a:t>
            </a:r>
          </a:p>
          <a:p xmlns:a="http://schemas.openxmlformats.org/drawingml/2006/main">
            <a:r>
              <a:t>Git blob: 4a5f555bb496b2ba8f691b4811ca23a0a0c2b1e3.</a:t>
            </a:r>
          </a:p>
          <a:p xmlns:a="http://schemas.openxmlformats.org/drawingml/2006/main">
            <a:r>
              <a:t>SHA256: 83eaeaca1b23925984d12c25ba3af86d8e952f0547e35303b78a50d734d82bee.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 · correct and tidy — 3 minutes within the source's 40-minute lesson.</a:t>
            </a:r>
          </a:p>
          <a:p xmlns:a="http://schemas.openxmlformats.org/drawingml/2006/main">
            <a:r>
              <a:t>First 3 of source 6-minute correction/tidy. Examples shows orbit path and inward pull direction; does not show scale, speed or real gravitational movement. Differentiate: adult records a spoken model limit, standard writes one, stretch explains why a hand-moved counter is no gravity experiment.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https://github.com/MattRoper1977/Lessons/blob/main/Science_Teesside/Grow/SCI_G_W6_Earth_And_Planets.html</a:t>
            </a:r>
          </a:p>
          <a:p xmlns:a="http://schemas.openxmlformats.org/drawingml/2006/main">
            <a:r>
              <a:t>Git blob: 4a5f555bb496b2ba8f691b4811ca23a0a0c2b1e3.</a:t>
            </a:r>
          </a:p>
          <a:p xmlns:a="http://schemas.openxmlformats.org/drawingml/2006/main">
            <a:r>
              <a:t>SHA256: 83eaeaca1b23925984d12c25ba3af86d8e952f0547e35303b78a50d734d82bee.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Workshop · correct and tidy — 3 minutes within the source's 40-minute lesson.</a:t>
            </a:r>
          </a:p>
          <a:p xmlns:a="http://schemas.openxmlformats.org/drawingml/2006/main">
            <a:r>
              <a:t>Completes 32-minute workshop. Keep or record evidence without assuming a photograph/public display. Adult can record direct observation instead of forcing writing. No extension consumes feedback/exit. Do not award external accreditation solely because a worksheet exists.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https://github.com/MattRoper1977/Lessons/blob/main/Science_Teesside/Grow/SCI_G_W6_Earth_And_Planets.html</a:t>
            </a:r>
          </a:p>
          <a:p xmlns:a="http://schemas.openxmlformats.org/drawingml/2006/main">
            <a:r>
              <a:t>Git blob: 4a5f555bb496b2ba8f691b4811ca23a0a0c2b1e3.</a:t>
            </a:r>
          </a:p>
          <a:p xmlns:a="http://schemas.openxmlformats.org/drawingml/2006/main">
            <a:r>
              <a:t>SHA256: 83eaeaca1b23925984d12c25ba3af86d8e952f0547e35303b78a50d734d82bee.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Pupil feedback — 2 minutes within the source's 40-minute lesson.</a:t>
            </a:r>
          </a:p>
          <a:p xmlns:a="http://schemas.openxmlformats.org/drawingml/2006/main">
            <a:r>
              <a:t>First 2 of source 4-minute Lundy/pupil feedback. Ask about science or access, e.g. colour distinction, movement demand, instruction pace. Offer chosen partner to convey feedback. Do not require public performance or disclosure.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https://github.com/MattRoper1977/Lessons/blob/main/Science_Teesside/Grow/SCI_G_W6_Earth_And_Planets.html</a:t>
            </a:r>
          </a:p>
          <a:p xmlns:a="http://schemas.openxmlformats.org/drawingml/2006/main">
            <a:r>
              <a:t>Git blob: 4a5f555bb496b2ba8f691b4811ca23a0a0c2b1e3.</a:t>
            </a:r>
          </a:p>
          <a:p xmlns:a="http://schemas.openxmlformats.org/drawingml/2006/main">
            <a:r>
              <a:t>SHA256: 83eaeaca1b23925984d12c25ba3af86d8e952f0547e35303b78a50d734d82bee.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Pupil feedback — 2 minutes within the source's 40-minute lesson.</a:t>
            </a:r>
          </a:p>
          <a:p xmlns:a="http://schemas.openxmlformats.org/drawingml/2006/main">
            <a:r>
              <a:t>Adult makes one possible change, e.g. labelled paper arrows instead of colour alone, static drawing instead of movement. Explain real limits and check response. Pupil may pass. A brief private note can preserve voice/action; no unnecessary photograph or sharing.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https://github.com/MattRoper1977/Lessons/blob/main/Science_Teesside/Grow/SCI_G_W6_Earth_And_Planets.html</a:t>
            </a:r>
          </a:p>
          <a:p xmlns:a="http://schemas.openxmlformats.org/drawingml/2006/main">
            <a:r>
              <a:t>Git blob: 4a5f555bb496b2ba8f691b4811ca23a0a0c2b1e3.</a:t>
            </a:r>
          </a:p>
          <a:p xmlns:a="http://schemas.openxmlformats.org/drawingml/2006/main">
            <a:r>
              <a:t>SHA256: 83eaeaca1b23925984d12c25ba3af86d8e952f0547e35303b78a50d734d82bee.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Exit Ticket — 2 minutes within the source's 40-minute lesson.</a:t>
            </a:r>
          </a:p>
          <a:p xmlns:a="http://schemas.openxmlformats.org/drawingml/2006/main">
            <a:r>
              <a:t>Pupil chooses agreed source tier; not all three compulsory. Responses may be spoken/pointed/drawn. Answers on next slide/teacher notes after independent attempt. Source assessed outcomes: order, orbit description, gravitational explanation. Prompting level should be recorded.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https://github.com/MattRoper1977/Lessons/blob/main/Science_Teesside/Grow/SCI_G_W6_Earth_And_Planets.html</a:t>
            </a:r>
          </a:p>
          <a:p xmlns:a="http://schemas.openxmlformats.org/drawingml/2006/main">
            <a:r>
              <a:t>Git blob: 4a5f555bb496b2ba8f691b4811ca23a0a0c2b1e3.</a:t>
            </a:r>
          </a:p>
          <a:p xmlns:a="http://schemas.openxmlformats.org/drawingml/2006/main">
            <a:r>
              <a:t>SHA256: 83eaeaca1b23925984d12c25ba3af86d8e952f0547e35303b78a50d734d82bee.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Exit Ticket — 2 minutes within the source's 40-minute lesson.</a:t>
            </a:r>
          </a:p>
          <a:p xmlns:a="http://schemas.openxmlformats.org/drawingml/2006/main">
            <a:r>
              <a:t>Source answers. Stretch: its sideways motion and inward gravitational pull combine to produce a continuing curved orbit rather than a radial fall. Avoid false 'gravity cancels forward motion' or 'there is no gravity'. Ask pupil to correct one word or arrow. This completes 40 minutes, not a new activity.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https://github.com/MattRoper1977/Lessons/blob/main/Science_Teesside/Grow/SCI_G_W6_Earth_And_Planets.html</a:t>
            </a:r>
          </a:p>
          <a:p xmlns:a="http://schemas.openxmlformats.org/drawingml/2006/main">
            <a:r>
              <a:t>Git blob: 4a5f555bb496b2ba8f691b4811ca23a0a0c2b1e3.</a:t>
            </a:r>
          </a:p>
          <a:p xmlns:a="http://schemas.openxmlformats.org/drawingml/2006/main">
            <a:r>
              <a:t>SHA256: 83eaeaca1b23925984d12c25ba3af86d8e952f0547e35303b78a50d734d82bee.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c74e2ef8e84b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0d5e18a7474339" /><Relationship Type="http://schemas.openxmlformats.org/officeDocument/2006/relationships/slideLayout" Target="/ppt/slideLayouts/slideLayout1.xml" Id="R46c4e9cc7e9d4f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c4e9cc7e9d4f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da31975334e2c" /><Relationship Type="http://schemas.openxmlformats.org/officeDocument/2006/relationships/notesSlide" Target="/ppt/notesSlides/notesSlide1.xml" Id="Rf5a821201dcd48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1ca84d5a347c1" /><Relationship Type="http://schemas.openxmlformats.org/officeDocument/2006/relationships/notesSlide" Target="/ppt/notesSlides/notesSlide2.xml" Id="R346d7b8e40d041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7db07eb6c4851" /><Relationship Type="http://schemas.openxmlformats.org/officeDocument/2006/relationships/notesSlide" Target="/ppt/notesSlides/notesSlide3.xml" Id="R536866b78cab4d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fa132ebca4b06" /><Relationship Type="http://schemas.openxmlformats.org/officeDocument/2006/relationships/notesSlide" Target="/ppt/notesSlides/notesSlide4.xml" Id="Rfe5a043fc08742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c4dde0e394d4e" /><Relationship Type="http://schemas.openxmlformats.org/officeDocument/2006/relationships/notesSlide" Target="/ppt/notesSlides/notesSlide5.xml" Id="R8b97c280af1745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cab1686354e14" /><Relationship Type="http://schemas.openxmlformats.org/officeDocument/2006/relationships/notesSlide" Target="/ppt/notesSlides/notesSlide6.xml" Id="R58fcccd98b5448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44a39206a4838" /><Relationship Type="http://schemas.openxmlformats.org/officeDocument/2006/relationships/notesSlide" Target="/ppt/notesSlides/notesSlide7.xml" Id="R9f95dd0a571e4d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22ee6894e40db" /><Relationship Type="http://schemas.openxmlformats.org/officeDocument/2006/relationships/notesSlide" Target="/ppt/notesSlides/notesSlide8.xml" Id="R26564988190944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cc0947ae24d66" /><Relationship Type="http://schemas.openxmlformats.org/officeDocument/2006/relationships/notesSlide" Target="/ppt/notesSlides/notesSlide9.xml" Id="Ra1ab5b33204d4d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e8da6fcac4920" /><Relationship Type="http://schemas.openxmlformats.org/officeDocument/2006/relationships/notesSlide" Target="/ppt/notesSlides/notesSlide10.xml" Id="Rb22d6d5da1ac43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e35827ec84006" /><Relationship Type="http://schemas.openxmlformats.org/officeDocument/2006/relationships/notesSlide" Target="/ppt/notesSlides/notesSlide11.xml" Id="Rc2d57850a3ca41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c5a654fa04fc3" /><Relationship Type="http://schemas.openxmlformats.org/officeDocument/2006/relationships/notesSlide" Target="/ppt/notesSlides/notesSlide12.xml" Id="R4a18b6e46e414ef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bcf1fd8494668" /><Relationship Type="http://schemas.openxmlformats.org/officeDocument/2006/relationships/notesSlide" Target="/ppt/notesSlides/notesSlide13.xml" Id="Rfc2e4d20cdd244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23a2cc0cc403a" /><Relationship Type="http://schemas.openxmlformats.org/officeDocument/2006/relationships/notesSlide" Target="/ppt/notesSlides/notesSlide14.xml" Id="R15f30b4c61064f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ule">
            <a:extLst xmlns:a="http://schemas.openxmlformats.org/drawingml/2006/main">
              <a:ext uri="{FF2B5EF4-FFF2-40B4-BE49-F238E27FC236}">
                <a16:creationId xmlns:a16="http://schemas.microsoft.com/office/drawing/2014/main" id="{5AFFB721-9A35-4674-9589-B7B8826E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42C105D7-AAF6-4656-A1BC-A2F825EC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A97494-5E22-4A51-9B11-66646E6F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Build an orbit model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6A471381-4238-4193-A1A0-52E2E78C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2CB7A39-E82D-40D9-912E-37F5748B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C57CF9A-4086-4B2E-99A4-82CC722A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01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FD790AE7-933F-491F-8EE5-F7139415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8685E"/>
                </a:solidFill>
              </a:defRPr>
            </a:pPr>
            <a:r>
              <a:rPr sz="3900" b="1">
                <a:solidFill>
                  <a:srgbClr val="28685E"/>
                </a:solidFill>
              </a:rPr>
              <a:t>Show it. Check it. Improve it.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368CE78F-706E-4255-AC1D-717B34B6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Explain an orbit and compare the time planets take.</a:t>
            </a:r>
          </a:p>
        </p:txBody>
      </p:sp>
    </p:spTree>
    <p:extLst>
      <p:ext uri="{BB962C8B-B14F-4D97-AF65-F5344CB8AC3E}">
        <p14:creationId xmlns:p14="http://schemas.microsoft.com/office/powerpoint/2010/main" val="18879642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06EB4CE9-89D0-4FFE-9792-74298B80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AA4E4A6-3C85-475F-9578-CDEB110C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41852C-F1BE-42FB-B548-834DF091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Retrieve the order and arrows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74D166B-FF1F-4CBA-A4A7-6ACE4928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7166A0C-88BC-4DD0-9CE2-2506521E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96DEA75F-3655-423D-86B2-546BCCFC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02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7CB451EC-3F0B-42CC-9ADD-39ED57BB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Order the eight planet names from the Sun.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B47259D0-D120-427C-9136-DF1DE250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Point towards the Sun for gravity.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E4BD9A06-AF03-4666-BF25-C7197C68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Point along the orbit for motion.</a:t>
            </a:r>
          </a:p>
        </p:txBody>
      </p:sp>
    </p:spTree>
    <p:extLst>
      <p:ext uri="{BB962C8B-B14F-4D97-AF65-F5344CB8AC3E}">
        <p14:creationId xmlns:p14="http://schemas.microsoft.com/office/powerpoint/2010/main" val="19841973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320C091C-5FA8-41F2-B80B-D74ECAB2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BD517914-29BE-4A58-8725-51F0D0DB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950A8E-4247-4A1B-91B3-D8F9D923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Choose a route and set up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F0B15E73-4DF4-40D3-98A8-A20D3CB4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1C8D378-991D-4C9B-9B21-2B4F1359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78A83D9-F18C-4F00-A5CE-26B1483A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03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303F93C0-8672-4597-AAA9-08249761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Use Sun/Earth labels, counters, two paper arrows and the year table.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58C67870-DEA7-4648-839A-DE4498D5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Choose desk model, drawing, or directing an adult.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18ADFEBA-7C07-4698-8691-F8E572DD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Keep the kit on the desk. No swinging objects.</a:t>
            </a:r>
          </a:p>
        </p:txBody>
      </p:sp>
    </p:spTree>
    <p:extLst>
      <p:ext uri="{BB962C8B-B14F-4D97-AF65-F5344CB8AC3E}">
        <p14:creationId xmlns:p14="http://schemas.microsoft.com/office/powerpoint/2010/main" val="12775914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ule">
            <a:extLst xmlns:a="http://schemas.openxmlformats.org/drawingml/2006/main">
              <a:ext uri="{FF2B5EF4-FFF2-40B4-BE49-F238E27FC236}">
                <a16:creationId xmlns:a16="http://schemas.microsoft.com/office/drawing/2014/main" id="{ED70C750-6CC6-450B-B1E5-423DDAC0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E897D092-0647-4165-B326-02ED2A58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E72CF7-CF5C-4BDE-BDCA-304EBDED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Two arrows, two meanings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D369EFD3-89F8-4AFF-8010-A1059235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3138763-F9E6-4A37-AF16-4AB1BF5E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A1D6FB18-4DB6-4DF4-8177-57F7C5B0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04</a:t>
            </a:r>
          </a:p>
        </p:txBody>
      </p:sp>
      <p:sp>
        <p:nvSpPr>
          <p:cNvPr id="7" name="diagram-shape-0">
            <a:extLst xmlns:a="http://schemas.openxmlformats.org/drawingml/2006/main">
              <a:ext uri="{FF2B5EF4-FFF2-40B4-BE49-F238E27FC236}">
                <a16:creationId xmlns:a16="http://schemas.microsoft.com/office/drawing/2014/main" id="{A9A0A125-5052-4ABD-9149-E50DC161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476500"/>
            <a:ext cx="3162300" cy="3162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0616B"/>
            </a:solidFill>
            <a:prstDash val="solid"/>
          </a:ln>
        </p:spPr>
      </p:sp>
      <p:sp>
        <p:nvSpPr>
          <p:cNvPr id="8" name="diagram-shape-1">
            <a:extLst xmlns:a="http://schemas.openxmlformats.org/drawingml/2006/main">
              <a:ext uri="{FF2B5EF4-FFF2-40B4-BE49-F238E27FC236}">
                <a16:creationId xmlns:a16="http://schemas.microsoft.com/office/drawing/2014/main" id="{447E8CBD-03F2-4617-AB4F-4FD581F8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33825"/>
            <a:ext cx="857250" cy="25717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iagram-shape-2">
            <a:extLst xmlns:a="http://schemas.openxmlformats.org/drawingml/2006/main">
              <a:ext uri="{FF2B5EF4-FFF2-40B4-BE49-F238E27FC236}">
                <a16:creationId xmlns:a16="http://schemas.microsoft.com/office/drawing/2014/main" id="{45CAA7CF-014D-4A79-9775-050EB343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38450"/>
            <a:ext cx="266700" cy="9048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A65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agram-shape-3">
            <a:extLst xmlns:a="http://schemas.openxmlformats.org/drawingml/2006/main">
              <a:ext uri="{FF2B5EF4-FFF2-40B4-BE49-F238E27FC236}">
                <a16:creationId xmlns:a16="http://schemas.microsoft.com/office/drawing/2014/main" id="{32520CA4-7238-40EF-B7D9-AA039792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623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19050">
            <a:solidFill>
              <a:srgbClr val="152B3A"/>
            </a:solidFill>
            <a:prstDash val="solid"/>
          </a:ln>
        </p:spPr>
      </p:sp>
      <p:sp>
        <p:nvSpPr>
          <p:cNvPr id="11" name="diagram-shape-4">
            <a:extLst xmlns:a="http://schemas.openxmlformats.org/drawingml/2006/main">
              <a:ext uri="{FF2B5EF4-FFF2-40B4-BE49-F238E27FC236}">
                <a16:creationId xmlns:a16="http://schemas.microsoft.com/office/drawing/2014/main" id="{43D62454-604E-437C-8250-F60DD678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38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19050">
            <a:solidFill>
              <a:srgbClr val="152B3A"/>
            </a:solidFill>
            <a:prstDash val="solid"/>
          </a:ln>
        </p:spPr>
      </p:sp>
      <p:sp>
        <p:nvSpPr>
          <p:cNvPr id="12" name="diagram-label-5">
            <a:extLst xmlns:a="http://schemas.openxmlformats.org/drawingml/2006/main">
              <a:ext uri="{FF2B5EF4-FFF2-40B4-BE49-F238E27FC236}">
                <a16:creationId xmlns:a16="http://schemas.microsoft.com/office/drawing/2014/main" id="{4ACE02F5-2C95-4A58-85FD-8DF0D01B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410075"/>
            <a:ext cx="95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B3A"/>
                </a:solidFill>
              </a:defRPr>
            </a:pPr>
            <a:r>
              <a:rPr sz="1950" b="1">
                <a:solidFill>
                  <a:srgbClr val="152B3A"/>
                </a:solidFill>
              </a:rPr>
              <a:t>SUN</a:t>
            </a:r>
          </a:p>
        </p:txBody>
      </p:sp>
      <p:sp>
        <p:nvSpPr>
          <p:cNvPr id="13" name="diagram-label-6">
            <a:extLst xmlns:a="http://schemas.openxmlformats.org/drawingml/2006/main">
              <a:ext uri="{FF2B5EF4-FFF2-40B4-BE49-F238E27FC236}">
                <a16:creationId xmlns:a16="http://schemas.microsoft.com/office/drawing/2014/main" id="{B370CB2F-CE0F-4174-981C-476976AD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52925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B3A"/>
                </a:solidFill>
              </a:defRPr>
            </a:pPr>
            <a:r>
              <a:rPr sz="1950" b="1">
                <a:solidFill>
                  <a:srgbClr val="152B3A"/>
                </a:solidFill>
              </a:rPr>
              <a:t>Earth</a:t>
            </a:r>
          </a:p>
        </p:txBody>
      </p:sp>
      <p:sp>
        <p:nvSpPr>
          <p:cNvPr id="14" name="diagram-label-7">
            <a:extLst xmlns:a="http://schemas.openxmlformats.org/drawingml/2006/main">
              <a:ext uri="{FF2B5EF4-FFF2-40B4-BE49-F238E27FC236}">
                <a16:creationId xmlns:a16="http://schemas.microsoft.com/office/drawing/2014/main" id="{036AADA7-A551-4E89-A7F8-A17E6702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65D25"/>
                </a:solidFill>
              </a:defRPr>
            </a:pPr>
            <a:r>
              <a:rPr sz="1800" b="1">
                <a:solidFill>
                  <a:srgbClr val="A65D25"/>
                </a:solidFill>
              </a:rPr>
              <a:t>motion</a:t>
            </a:r>
          </a:p>
        </p:txBody>
      </p:sp>
      <p:sp>
        <p:nvSpPr>
          <p:cNvPr id="15" name="diagram-label-8">
            <a:extLst xmlns:a="http://schemas.openxmlformats.org/drawingml/2006/main">
              <a:ext uri="{FF2B5EF4-FFF2-40B4-BE49-F238E27FC236}">
                <a16:creationId xmlns:a16="http://schemas.microsoft.com/office/drawing/2014/main" id="{8E7625B2-A80D-45CD-AB50-E0FD8BA7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4480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685E"/>
                </a:solidFill>
              </a:defRPr>
            </a:pPr>
            <a:r>
              <a:rPr sz="1800" b="1">
                <a:solidFill>
                  <a:srgbClr val="28685E"/>
                </a:solidFill>
              </a:rPr>
              <a:t>gravity</a:t>
            </a:r>
          </a:p>
        </p:txBody>
      </p:sp>
      <p:sp>
        <p:nvSpPr>
          <p:cNvPr id="16" name="diagram-body">
            <a:extLst xmlns:a="http://schemas.openxmlformats.org/drawingml/2006/main">
              <a:ext uri="{FF2B5EF4-FFF2-40B4-BE49-F238E27FC236}">
                <a16:creationId xmlns:a16="http://schemas.microsoft.com/office/drawing/2014/main" id="{6DBBB2AF-16F2-4750-96C1-A5694781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14625"/>
            <a:ext cx="4857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2B3A"/>
                </a:solidFill>
              </a:defRPr>
            </a:pPr>
            <a:r>
              <a:rPr sz="2550" b="1">
                <a:solidFill>
                  <a:srgbClr val="152B3A"/>
                </a:solidFill>
              </a:rPr>
              <a:t>Place Earth in two positions. Change both arrows each time.</a:t>
            </a:r>
          </a:p>
        </p:txBody>
      </p:sp>
      <p:sp>
        <p:nvSpPr>
          <p:cNvPr id="17" name="diagram-callout">
            <a:extLst xmlns:a="http://schemas.openxmlformats.org/drawingml/2006/main">
              <a:ext uri="{FF2B5EF4-FFF2-40B4-BE49-F238E27FC236}">
                <a16:creationId xmlns:a16="http://schemas.microsoft.com/office/drawing/2014/main" id="{ED71DCA4-7F6F-434E-A7BE-2C2AB816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14875"/>
            <a:ext cx="4857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8685E"/>
                </a:solidFill>
              </a:defRPr>
            </a:pPr>
            <a:r>
              <a:rPr sz="2175" b="0">
                <a:solidFill>
                  <a:srgbClr val="28685E"/>
                </a:solidFill>
              </a:rPr>
              <a:t>Motion direction is not another force.</a:t>
            </a:r>
          </a:p>
        </p:txBody>
      </p:sp>
    </p:spTree>
    <p:extLst>
      <p:ext uri="{BB962C8B-B14F-4D97-AF65-F5344CB8AC3E}">
        <p14:creationId xmlns:p14="http://schemas.microsoft.com/office/powerpoint/2010/main" val="11297502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E2C88543-7F93-41F0-9495-3079D83C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3C126300-A688-4CAC-9DC6-97D65EF2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575DF1-B00C-40B8-9C46-D1578653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Use the supplied year data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C613F157-1502-475F-8559-C54B098C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1EF2DDA-7BD6-4B48-9E40-4A27A216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3C338B30-FBF5-444F-8E4F-054F398D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05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4BD307CD-83B2-41FB-8FE9-B883651C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2B3A"/>
                </a:solidFill>
              </a:defRPr>
            </a:pPr>
            <a:r>
              <a:rPr sz="2175" b="0">
                <a:solidFill>
                  <a:srgbClr val="152B3A"/>
                </a:solidFill>
              </a:rPr>
              <a:t>Mercury   88 Earth days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DAE0521A-B7C8-4860-A936-8ABB4BD6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2B3A"/>
                </a:solidFill>
              </a:defRPr>
            </a:pPr>
            <a:r>
              <a:rPr sz="2175" b="0">
                <a:solidFill>
                  <a:srgbClr val="152B3A"/>
                </a:solidFill>
              </a:rPr>
              <a:t>Earth   365 Earth days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7B113345-17E9-4B78-90D1-0A35D123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2B3A"/>
                </a:solidFill>
              </a:defRPr>
            </a:pPr>
            <a:r>
              <a:rPr sz="2175" b="0">
                <a:solidFill>
                  <a:srgbClr val="152B3A"/>
                </a:solidFill>
              </a:rPr>
              <a:t>Mars   687 Earth days</a:t>
            </a:r>
          </a:p>
        </p:txBody>
      </p:sp>
      <p:sp>
        <p:nvSpPr>
          <p:cNvPr id="10" name="line-3">
            <a:extLst xmlns:a="http://schemas.openxmlformats.org/drawingml/2006/main">
              <a:ext uri="{FF2B5EF4-FFF2-40B4-BE49-F238E27FC236}">
                <a16:creationId xmlns:a16="http://schemas.microsoft.com/office/drawing/2014/main" id="{BC485F9E-178B-4B53-BC7E-AB669DFB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2B3A"/>
                </a:solidFill>
              </a:defRPr>
            </a:pPr>
            <a:r>
              <a:rPr sz="2175" b="0">
                <a:solidFill>
                  <a:srgbClr val="152B3A"/>
                </a:solidFill>
              </a:rPr>
              <a:t>Jupiter   4,333 Earth days</a:t>
            </a:r>
          </a:p>
        </p:txBody>
      </p:sp>
      <p:sp>
        <p:nvSpPr>
          <p:cNvPr id="11" name="line-4">
            <a:extLst xmlns:a="http://schemas.openxmlformats.org/drawingml/2006/main">
              <a:ext uri="{FF2B5EF4-FFF2-40B4-BE49-F238E27FC236}">
                <a16:creationId xmlns:a16="http://schemas.microsoft.com/office/drawing/2014/main" id="{CAC786B9-1113-45A5-B4E6-6A9BA57B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2B3A"/>
                </a:solidFill>
              </a:defRPr>
            </a:pPr>
            <a:r>
              <a:rPr sz="2175" b="0">
                <a:solidFill>
                  <a:srgbClr val="152B3A"/>
                </a:solidFill>
              </a:rPr>
              <a:t>Neptune   60,190 Earth days</a:t>
            </a:r>
          </a:p>
        </p:txBody>
      </p:sp>
    </p:spTree>
    <p:extLst>
      <p:ext uri="{BB962C8B-B14F-4D97-AF65-F5344CB8AC3E}">
        <p14:creationId xmlns:p14="http://schemas.microsoft.com/office/powerpoint/2010/main" val="1276912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7EC83B0E-EE9F-461B-A489-9A25CB63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F8F24C8A-B818-404C-87C9-981089D8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63CEF3-E480-4D98-9191-10DA9E8C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Make a claim, then check it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E6DBAB73-7697-402D-B446-AED2FA10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71C0E44-B883-485A-B7C4-EA3C3A4D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1C4D1FA7-0DF7-4047-8AF4-03CEF0C7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06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B8115E9D-7E3F-46CF-8C1A-9BC79C87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Choose a pair. Predict which has the longer year.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E1C75B7A-747C-4995-9EB9-ED06CE78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Check the numbers and name the evidence.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4E78FD6E-B8AB-460B-9BEC-C62F695C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Try a second pair or explain one model limit.</a:t>
            </a:r>
          </a:p>
        </p:txBody>
      </p:sp>
    </p:spTree>
    <p:extLst>
      <p:ext uri="{BB962C8B-B14F-4D97-AF65-F5344CB8AC3E}">
        <p14:creationId xmlns:p14="http://schemas.microsoft.com/office/powerpoint/2010/main" val="19620311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ule">
            <a:extLst xmlns:a="http://schemas.openxmlformats.org/drawingml/2006/main">
              <a:ext uri="{FF2B5EF4-FFF2-40B4-BE49-F238E27FC236}">
                <a16:creationId xmlns:a16="http://schemas.microsoft.com/office/drawing/2014/main" id="{D0414B21-680F-484F-AB7E-2B1076F9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FEA4C0D-F626-4510-A236-A8ADC90C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FEDF21-CB75-4BD0-880C-6A3008DC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Record your evidence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16A40342-B31A-4CFC-9483-3C06CA4B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148730D-6D33-4980-9E11-37CE6585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9446F0F2-6D6E-48F7-B57E-BB74CE63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07</a:t>
            </a:r>
          </a:p>
        </p:txBody>
      </p:sp>
      <p:sp>
        <p:nvSpPr>
          <p:cNvPr id="7" name="statement">
            <a:extLst xmlns:a="http://schemas.openxmlformats.org/drawingml/2006/main">
              <a:ext uri="{FF2B5EF4-FFF2-40B4-BE49-F238E27FC236}">
                <a16:creationId xmlns:a16="http://schemas.microsoft.com/office/drawing/2014/main" id="{F567511E-0C40-4E14-92E3-12790A86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8685E"/>
                </a:solidFill>
              </a:defRPr>
            </a:pPr>
            <a:r>
              <a:rPr sz="2925" b="1">
                <a:solidFill>
                  <a:srgbClr val="28685E"/>
                </a:solidFill>
              </a:rPr>
              <a:t>_____ has the longer year because_____ days is more than_____ days.</a:t>
            </a:r>
          </a:p>
        </p:txBody>
      </p:sp>
      <p:sp>
        <p:nvSpPr>
          <p:cNvPr id="8" name="callout">
            <a:extLst xmlns:a="http://schemas.openxmlformats.org/drawingml/2006/main">
              <a:ext uri="{FF2B5EF4-FFF2-40B4-BE49-F238E27FC236}">
                <a16:creationId xmlns:a16="http://schemas.microsoft.com/office/drawing/2014/main" id="{086286FE-3D0F-4600-BD6A-659C50EE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858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52B3A"/>
                </a:solidFill>
              </a:defRPr>
            </a:pPr>
            <a:r>
              <a:rPr sz="2700" b="0">
                <a:solidFill>
                  <a:srgbClr val="152B3A"/>
                </a:solidFill>
              </a:rPr>
              <a:t>Our model shows_____, but it does not show_____.</a:t>
            </a:r>
          </a:p>
        </p:txBody>
      </p:sp>
    </p:spTree>
    <p:extLst>
      <p:ext uri="{BB962C8B-B14F-4D97-AF65-F5344CB8AC3E}">
        <p14:creationId xmlns:p14="http://schemas.microsoft.com/office/powerpoint/2010/main" val="18839613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7CDAAA55-B9E3-4129-A543-02358BC8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19DD512D-9ADF-4872-8810-685836CE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E38FC3-2DB2-400F-B723-AC8321E7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Pause for a two-minute check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9CDA08D0-7824-436C-BB60-44A8CBB9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431973B-F348-4F17-A925-D60EF40F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280D75F-A6B0-4ECB-B837-35D1F70B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08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0CA16AB0-9097-4935-8F8C-88624245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Ask an adult or chosen partner to check one arrow.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3757852D-7372-494C-A3A7-87C90745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Explain one year comparison.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68FB7DD8-7576-47D6-AEF9-4B731DAA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Does ‘longer year’ mean more time for one orbit?</a:t>
            </a:r>
          </a:p>
        </p:txBody>
      </p:sp>
    </p:spTree>
    <p:extLst>
      <p:ext uri="{BB962C8B-B14F-4D97-AF65-F5344CB8AC3E}">
        <p14:creationId xmlns:p14="http://schemas.microsoft.com/office/powerpoint/2010/main" val="11367571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E2929EAD-6DE7-4482-9E72-0AB69700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65F5D3F-67EE-476B-8E4E-F3BCC5A0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FE99FF-CAC8-4AF0-8906-43B8BBC4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Improve one thing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D2E71C62-EBF1-4975-9224-64DDCBF8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54BA78B-1F80-4B44-95AD-00705D4C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38D16A14-B8D8-415A-9172-71BD5FCC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09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19905770-1D69-4A52-9B01-C924A84E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Correct one arrow or number comparison.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76914CE6-9A58-485D-B40F-F3EAC8F1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Record two things the model shows.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FE01FE10-D532-4F65-A680-370768AF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Name one thing it does not show accurately.</a:t>
            </a:r>
          </a:p>
        </p:txBody>
      </p:sp>
    </p:spTree>
    <p:extLst>
      <p:ext uri="{BB962C8B-B14F-4D97-AF65-F5344CB8AC3E}">
        <p14:creationId xmlns:p14="http://schemas.microsoft.com/office/powerpoint/2010/main" val="134078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39EEAF2E-55EB-4E2D-88F5-F32D925A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BFB597F4-AD61-43FB-8562-11089742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3CC7EC-D699-46CA-8176-9DFA13EB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Keep the evidence; return the kit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4D615408-FAF5-46BA-94CF-9B8939C3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32B7973-8A57-449E-838C-58FA5D59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A364747C-E963-41CA-9518-5CB95674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10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0AFF1CE2-9241-4C6B-810B-97A56641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Check your name, planet order and recorded comparison.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20F7C1FE-5C6F-4F9D-B9EC-B6FD946F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Keep the drawing or explanation you want to use.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A3CDD1BA-FC90-4823-9D5D-99B60F9C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Return counters, arrows and labels.</a:t>
            </a:r>
          </a:p>
        </p:txBody>
      </p:sp>
    </p:spTree>
    <p:extLst>
      <p:ext uri="{BB962C8B-B14F-4D97-AF65-F5344CB8AC3E}">
        <p14:creationId xmlns:p14="http://schemas.microsoft.com/office/powerpoint/2010/main" val="297949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B06DDCF5-955D-4017-B2D0-238F8178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88B5442A-07CD-4940-989A-B3074E40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40101A-6D89-4B17-9A13-4ADE9D97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Your voice can change the lesson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66C84964-A01A-44D9-A480-F5F1CBAC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ED52EBE-F91A-4833-9D83-8DD9B114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C58BE9E2-7D39-4F52-B008-A896F711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11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0FAE84A6-ED2A-4A9D-877C-21C2634D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What helped you understand the orbit?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25BBC9AB-7E34-4D4D-A77D-BB2835E5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What made the model or task difficult?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5C1924AA-3947-49CC-AEAA-B2233DED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Point, speak privately, sign, or pass.</a:t>
            </a:r>
          </a:p>
        </p:txBody>
      </p:sp>
    </p:spTree>
    <p:extLst>
      <p:ext uri="{BB962C8B-B14F-4D97-AF65-F5344CB8AC3E}">
        <p14:creationId xmlns:p14="http://schemas.microsoft.com/office/powerpoint/2010/main" val="10083439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ule">
            <a:extLst xmlns:a="http://schemas.openxmlformats.org/drawingml/2006/main">
              <a:ext uri="{FF2B5EF4-FFF2-40B4-BE49-F238E27FC236}">
                <a16:creationId xmlns:a16="http://schemas.microsoft.com/office/drawing/2014/main" id="{82DE3FED-B7EE-429F-A164-E44C6B34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081B09FD-13FA-4E53-9153-83EAC3A8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0B8155-ECAA-4DCC-A4FE-88A19EAD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Agree one useful change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D5AD4A4E-881A-42C4-B2F5-00A551AD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850D067-CD50-423D-B8B8-0FF47838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FBD3AFE0-0457-4E18-A2E9-00911053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12</a:t>
            </a:r>
          </a:p>
        </p:txBody>
      </p:sp>
      <p:sp>
        <p:nvSpPr>
          <p:cNvPr id="7" name="statement">
            <a:extLst xmlns:a="http://schemas.openxmlformats.org/drawingml/2006/main">
              <a:ext uri="{FF2B5EF4-FFF2-40B4-BE49-F238E27FC236}">
                <a16:creationId xmlns:a16="http://schemas.microsoft.com/office/drawing/2014/main" id="{CFDBABC5-3195-4F58-AB3D-AD90433F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8685E"/>
                </a:solidFill>
              </a:defRPr>
            </a:pPr>
            <a:r>
              <a:rPr sz="2925" b="1">
                <a:solidFill>
                  <a:srgbClr val="28685E"/>
                </a:solidFill>
              </a:rPr>
              <a:t>You said_____. We can change_____.</a:t>
            </a:r>
          </a:p>
        </p:txBody>
      </p:sp>
      <p:sp>
        <p:nvSpPr>
          <p:cNvPr id="8" name="callout">
            <a:extLst xmlns:a="http://schemas.openxmlformats.org/drawingml/2006/main">
              <a:ext uri="{FF2B5EF4-FFF2-40B4-BE49-F238E27FC236}">
                <a16:creationId xmlns:a16="http://schemas.microsoft.com/office/drawing/2014/main" id="{F69B0C50-05A1-43FF-8438-1A27207C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858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52B3A"/>
                </a:solidFill>
              </a:defRPr>
            </a:pPr>
            <a:r>
              <a:rPr sz="2700" b="0">
                <a:solidFill>
                  <a:srgbClr val="152B3A"/>
                </a:solidFill>
              </a:rPr>
              <a:t>Did that change help? What still needs explaining?</a:t>
            </a:r>
          </a:p>
        </p:txBody>
      </p:sp>
    </p:spTree>
    <p:extLst>
      <p:ext uri="{BB962C8B-B14F-4D97-AF65-F5344CB8AC3E}">
        <p14:creationId xmlns:p14="http://schemas.microsoft.com/office/powerpoint/2010/main" val="5835940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8EF1ACC6-C84F-49DC-AB2B-E527E2D1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1861970B-420F-4904-9ECF-69D46580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481398-B074-4A51-9B4C-59821BEE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Exit: show what you understand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1B9ECA-891B-4467-AFEF-F758D6EF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B239DC2-F3D3-4EEA-B70E-8A5111C3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38C4A804-EECD-43F0-A895-6E66E0E6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13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BED93C43-84B0-49B3-B4F2-EE7F6FA7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Supported: which planet is third from the Sun?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DEE128F5-4854-4EE4-8E3A-D08824E1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Standard: what force keeps a planet in orbit?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597C57BB-7FC6-4F6C-8308-13EB4C59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Stretch: why does Earth not simply fall into the Sun?</a:t>
            </a:r>
          </a:p>
        </p:txBody>
      </p:sp>
    </p:spTree>
    <p:extLst>
      <p:ext uri="{BB962C8B-B14F-4D97-AF65-F5344CB8AC3E}">
        <p14:creationId xmlns:p14="http://schemas.microsoft.com/office/powerpoint/2010/main" val="6796849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6DB74C12-D41A-412B-85DF-CAF256A7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82CF5A8-7305-43A8-B4EB-EC97723D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685E"/>
                </a:solidFill>
              </a:defRPr>
            </a:pPr>
            <a:r>
              <a:rPr sz="1500" b="1">
                <a:solidFill>
                  <a:srgbClr val="28685E"/>
                </a:solidFill>
              </a:rPr>
              <a:t>MADE BY MATT  /  GROW SCIENCE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187E98-9D68-40AA-97F0-A4C6D9C9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2B3A"/>
                </a:solidFill>
              </a:defRPr>
            </a:pPr>
            <a:r>
              <a:rPr sz="3750" b="1">
                <a:solidFill>
                  <a:srgbClr val="152B3A"/>
                </a:solidFill>
              </a:rPr>
              <a:t>Check the science before you leave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B8CD643A-69DE-4891-A3CB-04AB7A60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F446A29-EBED-400A-B802-F5D1FFE1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</a:defRPr>
            </a:pPr>
            <a:r>
              <a:rPr sz="1275" b="0">
                <a:solidFill>
                  <a:srgbClr val="50616B"/>
                </a:solidFill>
              </a:rPr>
              <a:t>AUTUMN 1  ·  WEEK 6  ·  LESSON B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1DE2A33-A462-4524-B154-DECAF9EF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8685E"/>
                </a:solidFill>
              </a:defRPr>
            </a:pPr>
            <a:r>
              <a:rPr sz="1350" b="1">
                <a:solidFill>
                  <a:srgbClr val="28685E"/>
                </a:solidFill>
              </a:rPr>
              <a:t>14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A01B26FC-4D69-49A1-9362-89A07164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Earth is third from the Sun.</a:t>
            </a:r>
          </a:p>
        </p:txBody>
      </p:sp>
      <p:sp>
        <p:nvSpPr>
          <p:cNvPr id="8" name="line-1">
            <a:extLst xmlns:a="http://schemas.openxmlformats.org/drawingml/2006/main">
              <a:ext uri="{FF2B5EF4-FFF2-40B4-BE49-F238E27FC236}">
                <a16:creationId xmlns:a16="http://schemas.microsoft.com/office/drawing/2014/main" id="{E0030C97-0657-4912-A011-8F004E65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The Sun's gravity keeps curving the planet's path.</a:t>
            </a:r>
          </a:p>
        </p:txBody>
      </p:sp>
      <p:sp>
        <p:nvSpPr>
          <p:cNvPr id="9" name="line-2">
            <a:extLst xmlns:a="http://schemas.openxmlformats.org/drawingml/2006/main">
              <a:ext uri="{FF2B5EF4-FFF2-40B4-BE49-F238E27FC236}">
                <a16:creationId xmlns:a16="http://schemas.microsoft.com/office/drawing/2014/main" id="{8C5D05DF-1388-4390-96B7-C21793A0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52B3A"/>
                </a:solidFill>
              </a:defRPr>
            </a:pPr>
            <a:r>
              <a:rPr sz="2550" b="0">
                <a:solidFill>
                  <a:srgbClr val="152B3A"/>
                </a:solidFill>
              </a:rPr>
              <a:t>Earth keeps moving while gravity pulls it inward.</a:t>
            </a:r>
          </a:p>
        </p:txBody>
      </p:sp>
    </p:spTree>
    <p:extLst>
      <p:ext uri="{BB962C8B-B14F-4D97-AF65-F5344CB8AC3E}">
        <p14:creationId xmlns:p14="http://schemas.microsoft.com/office/powerpoint/2010/main" val="5103851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2026-09-06T12:13:50.6140000Z</dcterms:created>
  <dcterms:modified xsi:type="dcterms:W3CDTF">2026-09-06T12:13:50.6140000Z</dcterms:modified>
</coreProperties>
</file>