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293ada5dc3340ca" /><Relationship Type="http://schemas.openxmlformats.org/officeDocument/2006/relationships/extended-properties" Target="/docProps/app.xml" Id="Rec86af991648425c" /><Relationship Type="http://schemas.openxmlformats.org/officeDocument/2006/relationships/officeDocument" Target="/ppt/presentation.xml" Id="Refc86956febc4e2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f8e88f20f2c4f48"/>
  </p:sldMasterIdLst>
  <p:notesMasterIdLst>
    <p:notesMasterId xmlns:r="http://schemas.openxmlformats.org/officeDocument/2006/relationships" r:id="R4e604dc6e0404a63"/>
  </p:notesMasterIdLst>
  <p:sldIdLst>
    <p:sldId xmlns:r="http://schemas.openxmlformats.org/officeDocument/2006/relationships" id="256" r:id="R9280a8448c7146bf"/>
    <p:sldId xmlns:r="http://schemas.openxmlformats.org/officeDocument/2006/relationships" id="257" r:id="Re114f0a48d754099"/>
    <p:sldId xmlns:r="http://schemas.openxmlformats.org/officeDocument/2006/relationships" id="258" r:id="R0b15ff6d06d2453f"/>
    <p:sldId xmlns:r="http://schemas.openxmlformats.org/officeDocument/2006/relationships" id="259" r:id="Rca182cec2f944ba4"/>
    <p:sldId xmlns:r="http://schemas.openxmlformats.org/officeDocument/2006/relationships" id="260" r:id="Rc33b01ad0a344a40"/>
    <p:sldId xmlns:r="http://schemas.openxmlformats.org/officeDocument/2006/relationships" id="261" r:id="R3206622b224848c0"/>
    <p:sldId xmlns:r="http://schemas.openxmlformats.org/officeDocument/2006/relationships" id="262" r:id="Rbfc685d101904e3c"/>
    <p:sldId xmlns:r="http://schemas.openxmlformats.org/officeDocument/2006/relationships" id="263" r:id="Rb25e8d280663432f"/>
    <p:sldId xmlns:r="http://schemas.openxmlformats.org/officeDocument/2006/relationships" id="264" r:id="R6a1b6d99b0844c36"/>
    <p:sldId xmlns:r="http://schemas.openxmlformats.org/officeDocument/2006/relationships" id="265" r:id="Rb1c9c6553ad441d5"/>
    <p:sldId xmlns:r="http://schemas.openxmlformats.org/officeDocument/2006/relationships" id="266" r:id="R399bb7526ddb4b6c"/>
    <p:sldId xmlns:r="http://schemas.openxmlformats.org/officeDocument/2006/relationships" id="267" r:id="R123cb5c92da44234"/>
    <p:sldId xmlns:r="http://schemas.openxmlformats.org/officeDocument/2006/relationships" id="268" r:id="R6729bad7aab340b3"/>
    <p:sldId xmlns:r="http://schemas.openxmlformats.org/officeDocument/2006/relationships" id="269" r:id="Rdf8635eeb56c4a9e"/>
    <p:sldId xmlns:r="http://schemas.openxmlformats.org/officeDocument/2006/relationships" id="270" r:id="Rdc4b92d45c02479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eb49fc68d1d450e" /><Relationship Type="http://schemas.openxmlformats.org/officeDocument/2006/relationships/slideMaster" Target="/ppt/slideMasters/slideMaster1.xml" Id="R3f8e88f20f2c4f48" /><Relationship Type="http://schemas.openxmlformats.org/officeDocument/2006/relationships/notesMaster" Target="/ppt/notesMasters/notesMaster1.xml" Id="R4e604dc6e0404a63" /><Relationship Type="http://schemas.openxmlformats.org/officeDocument/2006/relationships/presProps" Target="/ppt/presProps.xml" Id="R4cf15d83b93948e7" /><Relationship Type="http://schemas.openxmlformats.org/officeDocument/2006/relationships/tableStyles" Target="/ppt/tableStyles.xml" Id="R3df725a901044d49" /><Relationship Type="http://schemas.openxmlformats.org/officeDocument/2006/relationships/slide" Target="/ppt/slides/slide1.xml" Id="R9280a8448c7146bf" /><Relationship Type="http://schemas.openxmlformats.org/officeDocument/2006/relationships/slide" Target="/ppt/slides/slide2.xml" Id="Re114f0a48d754099" /><Relationship Type="http://schemas.openxmlformats.org/officeDocument/2006/relationships/slide" Target="/ppt/slides/slide3.xml" Id="R0b15ff6d06d2453f" /><Relationship Type="http://schemas.openxmlformats.org/officeDocument/2006/relationships/slide" Target="/ppt/slides/slide4.xml" Id="Rca182cec2f944ba4" /><Relationship Type="http://schemas.openxmlformats.org/officeDocument/2006/relationships/slide" Target="/ppt/slides/slide5.xml" Id="Rc33b01ad0a344a40" /><Relationship Type="http://schemas.openxmlformats.org/officeDocument/2006/relationships/slide" Target="/ppt/slides/slide6.xml" Id="R3206622b224848c0" /><Relationship Type="http://schemas.openxmlformats.org/officeDocument/2006/relationships/slide" Target="/ppt/slides/slide7.xml" Id="Rbfc685d101904e3c" /><Relationship Type="http://schemas.openxmlformats.org/officeDocument/2006/relationships/slide" Target="/ppt/slides/slide8.xml" Id="Rb25e8d280663432f" /><Relationship Type="http://schemas.openxmlformats.org/officeDocument/2006/relationships/slide" Target="/ppt/slides/slide9.xml" Id="R6a1b6d99b0844c36" /><Relationship Type="http://schemas.openxmlformats.org/officeDocument/2006/relationships/slide" Target="/ppt/slides/slide10.xml" Id="Rb1c9c6553ad441d5" /><Relationship Type="http://schemas.openxmlformats.org/officeDocument/2006/relationships/slide" Target="/ppt/slides/slide11.xml" Id="R399bb7526ddb4b6c" /><Relationship Type="http://schemas.openxmlformats.org/officeDocument/2006/relationships/slide" Target="/ppt/slides/slide12.xml" Id="R123cb5c92da44234" /><Relationship Type="http://schemas.openxmlformats.org/officeDocument/2006/relationships/slide" Target="/ppt/slides/slide13.xml" Id="R6729bad7aab340b3" /><Relationship Type="http://schemas.openxmlformats.org/officeDocument/2006/relationships/slide" Target="/ppt/slides/slide14.xml" Id="Rdf8635eeb56c4a9e" /><Relationship Type="http://schemas.openxmlformats.org/officeDocument/2006/relationships/slide" Target="/ppt/slides/slide15.xml" Id="Rdc4b92d45c02479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4e6cba39222456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74ea56a4b88439c" /><Relationship Type="http://schemas.openxmlformats.org/officeDocument/2006/relationships/notesMaster" Target="/ppt/notesMasters/notesMaster1.xml" Id="R8000da15d38449e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b2b72f7e0854eb4" /><Relationship Type="http://schemas.openxmlformats.org/officeDocument/2006/relationships/notesMaster" Target="/ppt/notesMasters/notesMaster1.xml" Id="R98c141a2b37b40c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cf90484afff4f7d" /><Relationship Type="http://schemas.openxmlformats.org/officeDocument/2006/relationships/notesMaster" Target="/ppt/notesMasters/notesMaster1.xml" Id="R8484dfce87bd423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e6f83e488814efc" /><Relationship Type="http://schemas.openxmlformats.org/officeDocument/2006/relationships/notesMaster" Target="/ppt/notesMasters/notesMaster1.xml" Id="R1852b4025bb04af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6f7483d62d141b7" /><Relationship Type="http://schemas.openxmlformats.org/officeDocument/2006/relationships/notesMaster" Target="/ppt/notesMasters/notesMaster1.xml" Id="Rc647d7c067ce4d0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8dbd5867af4484e" /><Relationship Type="http://schemas.openxmlformats.org/officeDocument/2006/relationships/notesMaster" Target="/ppt/notesMasters/notesMaster1.xml" Id="Rb0bdbf89dcca47a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8f1ad8359ed4f97" /><Relationship Type="http://schemas.openxmlformats.org/officeDocument/2006/relationships/notesMaster" Target="/ppt/notesMasters/notesMaster1.xml" Id="R8a9502d50d83496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a27325f6488453b" /><Relationship Type="http://schemas.openxmlformats.org/officeDocument/2006/relationships/notesMaster" Target="/ppt/notesMasters/notesMaster1.xml" Id="R5691a258f917426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f20772e1f724856" /><Relationship Type="http://schemas.openxmlformats.org/officeDocument/2006/relationships/notesMaster" Target="/ppt/notesMasters/notesMaster1.xml" Id="Rbd8811ba75ed4f5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3f904e8fb574980" /><Relationship Type="http://schemas.openxmlformats.org/officeDocument/2006/relationships/notesMaster" Target="/ppt/notesMasters/notesMaster1.xml" Id="Rbf44f8a63613464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7e9bc9854b04b96" /><Relationship Type="http://schemas.openxmlformats.org/officeDocument/2006/relationships/notesMaster" Target="/ppt/notesMasters/notesMaster1.xml" Id="R4eb96603a214422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c6e85c6f2e24b9c" /><Relationship Type="http://schemas.openxmlformats.org/officeDocument/2006/relationships/notesMaster" Target="/ppt/notesMasters/notesMaster1.xml" Id="R3f6065780c5341c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0f0fd799cfa4b26" /><Relationship Type="http://schemas.openxmlformats.org/officeDocument/2006/relationships/notesMaster" Target="/ppt/notesMasters/notesMaster1.xml" Id="Rc8d68858e9a8414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707bf3ffe8e4c3d" /><Relationship Type="http://schemas.openxmlformats.org/officeDocument/2006/relationships/notesMaster" Target="/ppt/notesMasters/notesMaster1.xml" Id="R0184d09bc50c4a3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402255a9c944e2c" /><Relationship Type="http://schemas.openxmlformats.org/officeDocument/2006/relationships/notesMaster" Target="/ppt/notesMasters/notesMaster1.xml" Id="R7f83d4f2f4ef4b3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2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Explain that this is feedback on selected taught content, not an official exam or grade predictor. Keep selected route pages face down.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Monarch Joint Venture: Life cycle</a:t>
            </a:r>
          </a:p>
          <a:p xmlns:a="http://schemas.openxmlformats.org/drawingml/2006/main">
            <a:r>
              <a:t>https://monarchjointventure.org/monarch-biology/life-cycle</a:t>
            </a:r>
          </a:p>
          <a:p xmlns:a="http://schemas.openxmlformats.org/drawingml/2006/main">
            <a:r>
              <a:t>Checked September 2026. Named monarch sequence: egg, larva, pupa, adult; not a rule for all insects.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Arizona State University: Incomplete metamorphosis</a:t>
            </a:r>
          </a:p>
          <a:p xmlns:a="http://schemas.openxmlformats.org/drawingml/2006/main">
            <a:r>
              <a:t>https://askabiologist.asu.edu/incomplete-metamorphosis</a:t>
            </a:r>
          </a:p>
          <a:p xmlns:a="http://schemas.openxmlformats.org/drawingml/2006/main">
            <a:r>
              <a:t>Checked September 2026. Egg–nymph–adult is different from complete metamorphosis; dragonfly nymphs are aquatic. The checkpoint supplies the necessary species clues.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NHLBI: The heart</a:t>
            </a:r>
          </a:p>
          <a:p xmlns:a="http://schemas.openxmlformats.org/drawingml/2006/main">
            <a:r>
              <a:t>https://www.nhlbi.nih.gov/health/heart</a:t>
            </a:r>
          </a:p>
          <a:p xmlns:a="http://schemas.openxmlformats.org/drawingml/2006/main">
            <a:r>
              <a:t>Heart pumping and blood transport reference, checked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Royal Society of Chemistry: Separation techniques</a:t>
            </a:r>
          </a:p>
          <a:p xmlns:a="http://schemas.openxmlformats.org/drawingml/2006/main">
            <a:r>
              <a:t>https://edu.rsc.org/cpd/separation-techniques/3009787.article</a:t>
            </a:r>
          </a:p>
          <a:p xmlns:a="http://schemas.openxmlformats.org/drawingml/2006/main">
            <a:r>
              <a:t>Checked September 2026. Filtration, evaporation and separation misconceptions. Classroom activities are original and include a complete paper route.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 National Park Service: Dragonfly larvae</a:t>
            </a:r>
          </a:p>
          <a:p xmlns:a="http://schemas.openxmlformats.org/drawingml/2006/main">
            <a:r>
              <a:t>https://www.nps.gov/articles/dragonfly-larvae.htm</a:t>
            </a:r>
          </a:p>
          <a:p xmlns:a="http://schemas.openxmlformats.org/drawingml/2006/main">
            <a:r>
              <a:t>Checked September 2026. Aquatic dragonfly juveniles; insects with this incomplete metamorphosis route do not have a pupa.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Wildlife Trusts: Lovely ladybirds</a:t>
            </a:r>
          </a:p>
          <a:p xmlns:a="http://schemas.openxmlformats.org/drawingml/2006/main">
            <a:r>
              <a:t>https://www.wildlifetrusts.org/blog/tom-hibbert/lovely-ladybirds</a:t>
            </a:r>
          </a:p>
          <a:p xmlns:a="http://schemas.openxmlformats.org/drawingml/2006/main">
            <a:r>
              <a:t>Checked September 2026. Explicit ladybird egg, larva, pupa and adult sequence.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3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Units give meaning; bounded context limits a claim; yes, neutral reading supports access. Do not review the checkpoint’s exact factual answers.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Monarch Joint Venture: Life cycle</a:t>
            </a:r>
          </a:p>
          <a:p xmlns:a="http://schemas.openxmlformats.org/drawingml/2006/main">
            <a:r>
              <a:t>https://monarchjointventure.org/monarch-biology/life-cycle</a:t>
            </a:r>
          </a:p>
          <a:p xmlns:a="http://schemas.openxmlformats.org/drawingml/2006/main">
            <a:r>
              <a:t>Checked September 2026. Named monarch sequence: egg, larva, pupa, adult; not a rule for all insects.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Arizona State University: Incomplete metamorphosis</a:t>
            </a:r>
          </a:p>
          <a:p xmlns:a="http://schemas.openxmlformats.org/drawingml/2006/main">
            <a:r>
              <a:t>https://askabiologist.asu.edu/incomplete-metamorphosis</a:t>
            </a:r>
          </a:p>
          <a:p xmlns:a="http://schemas.openxmlformats.org/drawingml/2006/main">
            <a:r>
              <a:t>Checked September 2026. Egg–nymph–adult is different from complete metamorphosis; dragonfly nymphs are aquatic. The checkpoint supplies the necessary species clues.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NHLBI: The heart</a:t>
            </a:r>
          </a:p>
          <a:p xmlns:a="http://schemas.openxmlformats.org/drawingml/2006/main">
            <a:r>
              <a:t>https://www.nhlbi.nih.gov/health/heart</a:t>
            </a:r>
          </a:p>
          <a:p xmlns:a="http://schemas.openxmlformats.org/drawingml/2006/main">
            <a:r>
              <a:t>Heart pumping and blood transport reference, checked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Royal Society of Chemistry: Separation techniques</a:t>
            </a:r>
          </a:p>
          <a:p xmlns:a="http://schemas.openxmlformats.org/drawingml/2006/main">
            <a:r>
              <a:t>https://edu.rsc.org/cpd/separation-techniques/3009787.article</a:t>
            </a:r>
          </a:p>
          <a:p xmlns:a="http://schemas.openxmlformats.org/drawingml/2006/main">
            <a:r>
              <a:t>Checked September 2026. Filtration, evaporation and separation misconceptions. Classroom activities are original and include a complete paper route.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 National Park Service: Dragonfly larvae</a:t>
            </a:r>
          </a:p>
          <a:p xmlns:a="http://schemas.openxmlformats.org/drawingml/2006/main">
            <a:r>
              <a:t>https://www.nps.gov/articles/dragonfly-larvae.htm</a:t>
            </a:r>
          </a:p>
          <a:p xmlns:a="http://schemas.openxmlformats.org/drawingml/2006/main">
            <a:r>
              <a:t>Checked September 2026. Aquatic dragonfly juveniles; insects with this incomplete metamorphosis route do not have a pupa.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Wildlife Trusts: Lovely ladybirds</a:t>
            </a:r>
          </a:p>
          <a:p xmlns:a="http://schemas.openxmlformats.org/drawingml/2006/main">
            <a:r>
              <a:t>https://www.wildlifetrusts.org/blog/tom-hibbert/lovely-ladybirds</a:t>
            </a:r>
          </a:p>
          <a:p xmlns:a="http://schemas.openxmlformats.org/drawingml/2006/main">
            <a:r>
              <a:t>Checked September 2026. Explicit ladybird egg, larva, pupa and adult sequence.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8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Think aloud using the training car example only. The purpose is a response routine; the independent lifecycle, body and materials cases are not shown or solved here.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DIAGRAM DESCRIPTION</a:t>
            </a:r>
          </a:p>
          <a:p xmlns:a="http://schemas.openxmlformats.org/drawingml/2006/main">
            <a:r>
              <a:t>A simplified scientific sequence: Read the question; Find a matching</a:t>
            </a:r>
          </a:p>
          <a:p xmlns:a="http://schemas.openxmlformats.org/drawingml/2006/main">
            <a:r>
              <a:t>observation; Explain what</a:t>
            </a:r>
          </a:p>
          <a:p xmlns:a="http://schemas.openxmlformats.org/drawingml/2006/main">
            <a:r>
              <a:t>it supports. Training example only. Checkpoint cases come later.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Monarch Joint Venture: Life cycle</a:t>
            </a:r>
          </a:p>
          <a:p xmlns:a="http://schemas.openxmlformats.org/drawingml/2006/main">
            <a:r>
              <a:t>https://monarchjointventure.org/monarch-biology/life-cycle</a:t>
            </a:r>
          </a:p>
          <a:p xmlns:a="http://schemas.openxmlformats.org/drawingml/2006/main">
            <a:r>
              <a:t>Checked September 2026. Named monarch sequence: egg, larva, pupa, adult; not a rule for all insects.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Arizona State University: Incomplete metamorphosis</a:t>
            </a:r>
          </a:p>
          <a:p xmlns:a="http://schemas.openxmlformats.org/drawingml/2006/main">
            <a:r>
              <a:t>https://askabiologist.asu.edu/incomplete-metamorphosis</a:t>
            </a:r>
          </a:p>
          <a:p xmlns:a="http://schemas.openxmlformats.org/drawingml/2006/main">
            <a:r>
              <a:t>Checked September 2026. Egg–nymph–adult is different from complete metamorphosis; dragonfly nymphs are aquatic. The checkpoint supplies the necessary species clues.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NHLBI: The heart</a:t>
            </a:r>
          </a:p>
          <a:p xmlns:a="http://schemas.openxmlformats.org/drawingml/2006/main">
            <a:r>
              <a:t>https://www.nhlbi.nih.gov/health/heart</a:t>
            </a:r>
          </a:p>
          <a:p xmlns:a="http://schemas.openxmlformats.org/drawingml/2006/main">
            <a:r>
              <a:t>Heart pumping and blood transport reference, checked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Royal Society of Chemistry: Separation techniques</a:t>
            </a:r>
          </a:p>
          <a:p xmlns:a="http://schemas.openxmlformats.org/drawingml/2006/main">
            <a:r>
              <a:t>https://edu.rsc.org/cpd/separation-techniques/3009787.article</a:t>
            </a:r>
          </a:p>
          <a:p xmlns:a="http://schemas.openxmlformats.org/drawingml/2006/main">
            <a:r>
              <a:t>Checked September 2026. Filtration, evaporation and separation misconceptions. Classroom activities are original and include a complete paper route.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 National Park Service: Dragonfly larvae</a:t>
            </a:r>
          </a:p>
          <a:p xmlns:a="http://schemas.openxmlformats.org/drawingml/2006/main">
            <a:r>
              <a:t>https://www.nps.gov/articles/dragonfly-larvae.htm</a:t>
            </a:r>
          </a:p>
          <a:p xmlns:a="http://schemas.openxmlformats.org/drawingml/2006/main">
            <a:r>
              <a:t>Checked September 2026. Aquatic dragonfly juveniles; insects with this incomplete metamorphosis route do not have a pupa.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Wildlife Trusts: Lovely ladybirds</a:t>
            </a:r>
          </a:p>
          <a:p xmlns:a="http://schemas.openxmlformats.org/drawingml/2006/main">
            <a:r>
              <a:t>https://www.wildlifetrusts.org/blog/tom-hibbert/lovely-ladybirds</a:t>
            </a:r>
          </a:p>
          <a:p xmlns:a="http://schemas.openxmlformats.org/drawingml/2006/main">
            <a:r>
              <a:t>Checked September 2026. Explicit ladybird egg, larva, pupa and adult sequence.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Continue within the time allocated to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Shared I do time. Trace the two ramps. This is a schematic, not a scale drawing. Model the control question: What else could change the result? Do not introduce checkpoint values.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DIAGRAM DESCRIPTION</a:t>
            </a:r>
          </a:p>
          <a:p xmlns:a="http://schemas.openxmlformats.org/drawingml/2006/main">
            <a:r>
              <a:t>Two equal-height ramps lead onto surfaces A and B. The same toy car, release point and measuring rule are used. This training example is separate from the independent checkpoint.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Monarch Joint Venture: Life cycle</a:t>
            </a:r>
          </a:p>
          <a:p xmlns:a="http://schemas.openxmlformats.org/drawingml/2006/main">
            <a:r>
              <a:t>https://monarchjointventure.org/monarch-biology/life-cycle</a:t>
            </a:r>
          </a:p>
          <a:p xmlns:a="http://schemas.openxmlformats.org/drawingml/2006/main">
            <a:r>
              <a:t>Checked September 2026. Named monarch sequence: egg, larva, pupa, adult; not a rule for all insects.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Arizona State University: Incomplete metamorphosis</a:t>
            </a:r>
          </a:p>
          <a:p xmlns:a="http://schemas.openxmlformats.org/drawingml/2006/main">
            <a:r>
              <a:t>https://askabiologist.asu.edu/incomplete-metamorphosis</a:t>
            </a:r>
          </a:p>
          <a:p xmlns:a="http://schemas.openxmlformats.org/drawingml/2006/main">
            <a:r>
              <a:t>Checked September 2026. Egg–nymph–adult is different from complete metamorphosis; dragonfly nymphs are aquatic. The checkpoint supplies the necessary species clues.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NHLBI: The heart</a:t>
            </a:r>
          </a:p>
          <a:p xmlns:a="http://schemas.openxmlformats.org/drawingml/2006/main">
            <a:r>
              <a:t>https://www.nhlbi.nih.gov/health/heart</a:t>
            </a:r>
          </a:p>
          <a:p xmlns:a="http://schemas.openxmlformats.org/drawingml/2006/main">
            <a:r>
              <a:t>Heart pumping and blood transport reference, checked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Royal Society of Chemistry: Separation techniques</a:t>
            </a:r>
          </a:p>
          <a:p xmlns:a="http://schemas.openxmlformats.org/drawingml/2006/main">
            <a:r>
              <a:t>https://edu.rsc.org/cpd/separation-techniques/3009787.article</a:t>
            </a:r>
          </a:p>
          <a:p xmlns:a="http://schemas.openxmlformats.org/drawingml/2006/main">
            <a:r>
              <a:t>Checked September 2026. Filtration, evaporation and separation misconceptions. Classroom activities are original and include a complete paper route.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 National Park Service: Dragonfly larvae</a:t>
            </a:r>
          </a:p>
          <a:p xmlns:a="http://schemas.openxmlformats.org/drawingml/2006/main">
            <a:r>
              <a:t>https://www.nps.gov/articles/dragonfly-larvae.htm</a:t>
            </a:r>
          </a:p>
          <a:p xmlns:a="http://schemas.openxmlformats.org/drawingml/2006/main">
            <a:r>
              <a:t>Checked September 2026. Aquatic dragonfly juveniles; insects with this incomplete metamorphosis route do not have a pupa.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Wildlife Trusts: Lovely ladybirds</a:t>
            </a:r>
          </a:p>
          <a:p xmlns:a="http://schemas.openxmlformats.org/drawingml/2006/main">
            <a:r>
              <a:t>https://www.wildlifetrusts.org/blog/tom-hibbert/lovely-ladybirds</a:t>
            </a:r>
          </a:p>
          <a:p xmlns:a="http://schemas.openxmlformats.org/drawingml/2006/main">
            <a:r>
              <a:t>Checked September 2026. Explicit ladybird egg, larva, pupa and adult sequence.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Continue within the time allocated to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Shared I do time. Model: In these constructed trials, the car travelled farther on surface A, for example 60 cm versus 40 cm in trial 1. Repeat conditions matter. Avoid using the independent insulation data.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DIAGRAM DESCRIPTION</a:t>
            </a:r>
          </a:p>
          <a:p xmlns:a="http://schemas.openxmlformats.org/drawingml/2006/main">
            <a:r>
              <a:t>A simplified scientific sequence: Observed:</a:t>
            </a:r>
          </a:p>
          <a:p xmlns:a="http://schemas.openxmlformats.org/drawingml/2006/main">
            <a:r>
              <a:t>the car travelled farther on A; Supported:</a:t>
            </a:r>
          </a:p>
          <a:p xmlns:a="http://schemas.openxmlformats.org/drawingml/2006/main">
            <a:r>
              <a:t>in these trials; Not established:</a:t>
            </a:r>
          </a:p>
          <a:p xmlns:a="http://schemas.openxmlformats.org/drawingml/2006/main">
            <a:r>
              <a:t>always, everywhere. Training sample data: A 60, 58 cm; B 40, 42 cm.</a:t>
            </a:r>
          </a:p>
          <a:p xmlns:a="http://schemas.openxmlformats.org/drawingml/2006/main">
            <a:r>
              <a:t>A claim must stay within the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Monarch Joint Venture: Life cycle</a:t>
            </a:r>
          </a:p>
          <a:p xmlns:a="http://schemas.openxmlformats.org/drawingml/2006/main">
            <a:r>
              <a:t>https://monarchjointventure.org/monarch-biology/life-cycle</a:t>
            </a:r>
          </a:p>
          <a:p xmlns:a="http://schemas.openxmlformats.org/drawingml/2006/main">
            <a:r>
              <a:t>Checked September 2026. Named monarch sequence: egg, larva, pupa, adult; not a rule for all insects.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Arizona State University: Incomplete metamorphosis</a:t>
            </a:r>
          </a:p>
          <a:p xmlns:a="http://schemas.openxmlformats.org/drawingml/2006/main">
            <a:r>
              <a:t>https://askabiologist.asu.edu/incomplete-metamorphosis</a:t>
            </a:r>
          </a:p>
          <a:p xmlns:a="http://schemas.openxmlformats.org/drawingml/2006/main">
            <a:r>
              <a:t>Checked September 2026. Egg–nymph–adult is different from complete metamorphosis; dragonfly nymphs are aquatic. The checkpoint supplies the necessary species clues.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NHLBI: The heart</a:t>
            </a:r>
          </a:p>
          <a:p xmlns:a="http://schemas.openxmlformats.org/drawingml/2006/main">
            <a:r>
              <a:t>https://www.nhlbi.nih.gov/health/heart</a:t>
            </a:r>
          </a:p>
          <a:p xmlns:a="http://schemas.openxmlformats.org/drawingml/2006/main">
            <a:r>
              <a:t>Heart pumping and blood transport reference, checked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Royal Society of Chemistry: Separation techniques</a:t>
            </a:r>
          </a:p>
          <a:p xmlns:a="http://schemas.openxmlformats.org/drawingml/2006/main">
            <a:r>
              <a:t>https://edu.rsc.org/cpd/separation-techniques/3009787.article</a:t>
            </a:r>
          </a:p>
          <a:p xmlns:a="http://schemas.openxmlformats.org/drawingml/2006/main">
            <a:r>
              <a:t>Checked September 2026. Filtration, evaporation and separation misconceptions. Classroom activities are original and include a complete paper route.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 National Park Service: Dragonfly larvae</a:t>
            </a:r>
          </a:p>
          <a:p xmlns:a="http://schemas.openxmlformats.org/drawingml/2006/main">
            <a:r>
              <a:t>https://www.nps.gov/articles/dragonfly-larvae.htm</a:t>
            </a:r>
          </a:p>
          <a:p xmlns:a="http://schemas.openxmlformats.org/drawingml/2006/main">
            <a:r>
              <a:t>Checked September 2026. Aquatic dragonfly juveniles; insects with this incomplete metamorphosis route do not have a pupa.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Wildlife Trusts: Lovely ladybirds</a:t>
            </a:r>
          </a:p>
          <a:p xmlns:a="http://schemas.openxmlformats.org/drawingml/2006/main">
            <a:r>
              <a:t>https://www.wildlifetrusts.org/blog/tom-hibbert/lovely-ladybirds</a:t>
            </a:r>
          </a:p>
          <a:p xmlns:a="http://schemas.openxmlformats.org/drawingml/2006/main">
            <a:r>
              <a:t>Checked September 2026. Explicit ladybird egg, larva, pupa and adult sequence.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8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toy-car dataset only. A exceeds B in both trials; 60/40 or 58/42 cm. Replace always with in these sample trials and suggest more repeats or conditions.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Monarch Joint Venture: Life cycle</a:t>
            </a:r>
          </a:p>
          <a:p xmlns:a="http://schemas.openxmlformats.org/drawingml/2006/main">
            <a:r>
              <a:t>https://monarchjointventure.org/monarch-biology/life-cycle</a:t>
            </a:r>
          </a:p>
          <a:p xmlns:a="http://schemas.openxmlformats.org/drawingml/2006/main">
            <a:r>
              <a:t>Checked September 2026. Named monarch sequence: egg, larva, pupa, adult; not a rule for all insects.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Arizona State University: Incomplete metamorphosis</a:t>
            </a:r>
          </a:p>
          <a:p xmlns:a="http://schemas.openxmlformats.org/drawingml/2006/main">
            <a:r>
              <a:t>https://askabiologist.asu.edu/incomplete-metamorphosis</a:t>
            </a:r>
          </a:p>
          <a:p xmlns:a="http://schemas.openxmlformats.org/drawingml/2006/main">
            <a:r>
              <a:t>Checked September 2026. Egg–nymph–adult is different from complete metamorphosis; dragonfly nymphs are aquatic. The checkpoint supplies the necessary species clues.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NHLBI: The heart</a:t>
            </a:r>
          </a:p>
          <a:p xmlns:a="http://schemas.openxmlformats.org/drawingml/2006/main">
            <a:r>
              <a:t>https://www.nhlbi.nih.gov/health/heart</a:t>
            </a:r>
          </a:p>
          <a:p xmlns:a="http://schemas.openxmlformats.org/drawingml/2006/main">
            <a:r>
              <a:t>Heart pumping and blood transport reference, checked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Royal Society of Chemistry: Separation techniques</a:t>
            </a:r>
          </a:p>
          <a:p xmlns:a="http://schemas.openxmlformats.org/drawingml/2006/main">
            <a:r>
              <a:t>https://edu.rsc.org/cpd/separation-techniques/3009787.article</a:t>
            </a:r>
          </a:p>
          <a:p xmlns:a="http://schemas.openxmlformats.org/drawingml/2006/main">
            <a:r>
              <a:t>Checked September 2026. Filtration, evaporation and separation misconceptions. Classroom activities are original and include a complete paper route.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 National Park Service: Dragonfly larvae</a:t>
            </a:r>
          </a:p>
          <a:p xmlns:a="http://schemas.openxmlformats.org/drawingml/2006/main">
            <a:r>
              <a:t>https://www.nps.gov/articles/dragonfly-larvae.htm</a:t>
            </a:r>
          </a:p>
          <a:p xmlns:a="http://schemas.openxmlformats.org/drawingml/2006/main">
            <a:r>
              <a:t>Checked September 2026. Aquatic dragonfly juveniles; insects with this incomplete metamorphosis route do not have a pupa.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Wildlife Trusts: Lovely ladybirds</a:t>
            </a:r>
          </a:p>
          <a:p xmlns:a="http://schemas.openxmlformats.org/drawingml/2006/main">
            <a:r>
              <a:t>https://www.wildlifetrusts.org/blog/tom-hibbert/lovely-ladybirds</a:t>
            </a:r>
          </a:p>
          <a:p xmlns:a="http://schemas.openxmlformats.org/drawingml/2006/main">
            <a:r>
              <a:t>Checked September 2026. Explicit ladybird egg, larva, pupa and adult sequence.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Continue within the time allocated to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Shared We do time. Add a numerical comparison that answers the question; speed is not the science goal. Allow private written choice.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Monarch Joint Venture: Life cycle</a:t>
            </a:r>
          </a:p>
          <a:p xmlns:a="http://schemas.openxmlformats.org/drawingml/2006/main">
            <a:r>
              <a:t>https://monarchjointventure.org/monarch-biology/life-cycle</a:t>
            </a:r>
          </a:p>
          <a:p xmlns:a="http://schemas.openxmlformats.org/drawingml/2006/main">
            <a:r>
              <a:t>Checked September 2026. Named monarch sequence: egg, larva, pupa, adult; not a rule for all insects.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Arizona State University: Incomplete metamorphosis</a:t>
            </a:r>
          </a:p>
          <a:p xmlns:a="http://schemas.openxmlformats.org/drawingml/2006/main">
            <a:r>
              <a:t>https://askabiologist.asu.edu/incomplete-metamorphosis</a:t>
            </a:r>
          </a:p>
          <a:p xmlns:a="http://schemas.openxmlformats.org/drawingml/2006/main">
            <a:r>
              <a:t>Checked September 2026. Egg–nymph–adult is different from complete metamorphosis; dragonfly nymphs are aquatic. The checkpoint supplies the necessary species clues.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NHLBI: The heart</a:t>
            </a:r>
          </a:p>
          <a:p xmlns:a="http://schemas.openxmlformats.org/drawingml/2006/main">
            <a:r>
              <a:t>https://www.nhlbi.nih.gov/health/heart</a:t>
            </a:r>
          </a:p>
          <a:p xmlns:a="http://schemas.openxmlformats.org/drawingml/2006/main">
            <a:r>
              <a:t>Heart pumping and blood transport reference, checked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Royal Society of Chemistry: Separation techniques</a:t>
            </a:r>
          </a:p>
          <a:p xmlns:a="http://schemas.openxmlformats.org/drawingml/2006/main">
            <a:r>
              <a:t>https://edu.rsc.org/cpd/separation-techniques/3009787.article</a:t>
            </a:r>
          </a:p>
          <a:p xmlns:a="http://schemas.openxmlformats.org/drawingml/2006/main">
            <a:r>
              <a:t>Checked September 2026. Filtration, evaporation and separation misconceptions. Classroom activities are original and include a complete paper route.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 National Park Service: Dragonfly larvae</a:t>
            </a:r>
          </a:p>
          <a:p xmlns:a="http://schemas.openxmlformats.org/drawingml/2006/main">
            <a:r>
              <a:t>https://www.nps.gov/articles/dragonfly-larvae.htm</a:t>
            </a:r>
          </a:p>
          <a:p xmlns:a="http://schemas.openxmlformats.org/drawingml/2006/main">
            <a:r>
              <a:t>Checked September 2026. Aquatic dragonfly juveniles; insects with this incomplete metamorphosis route do not have a pupa.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Wildlife Trusts: Lovely ladybirds</a:t>
            </a:r>
          </a:p>
          <a:p xmlns:a="http://schemas.openxmlformats.org/drawingml/2006/main">
            <a:r>
              <a:t>https://www.wildlifetrusts.org/blog/tom-hibbert/lovely-ladybirds</a:t>
            </a:r>
          </a:p>
          <a:p xmlns:a="http://schemas.openxmlformats.org/drawingml/2006/main">
            <a:r>
              <a:t>Checked September 2026. Explicit ladybird egg, larva, pupa and adult sequence.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Continue within the time allocated to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Shared We do time. Hand out or reveal pages 2, 3 or 4 only after the hinge. No answer key or teacher page should be visible.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Monarch Joint Venture: Life cycle</a:t>
            </a:r>
          </a:p>
          <a:p xmlns:a="http://schemas.openxmlformats.org/drawingml/2006/main">
            <a:r>
              <a:t>https://monarchjointventure.org/monarch-biology/life-cycle</a:t>
            </a:r>
          </a:p>
          <a:p xmlns:a="http://schemas.openxmlformats.org/drawingml/2006/main">
            <a:r>
              <a:t>Checked September 2026. Named monarch sequence: egg, larva, pupa, adult; not a rule for all insects.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Arizona State University: Incomplete metamorphosis</a:t>
            </a:r>
          </a:p>
          <a:p xmlns:a="http://schemas.openxmlformats.org/drawingml/2006/main">
            <a:r>
              <a:t>https://askabiologist.asu.edu/incomplete-metamorphosis</a:t>
            </a:r>
          </a:p>
          <a:p xmlns:a="http://schemas.openxmlformats.org/drawingml/2006/main">
            <a:r>
              <a:t>Checked September 2026. Egg–nymph–adult is different from complete metamorphosis; dragonfly nymphs are aquatic. The checkpoint supplies the necessary species clues.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NHLBI: The heart</a:t>
            </a:r>
          </a:p>
          <a:p xmlns:a="http://schemas.openxmlformats.org/drawingml/2006/main">
            <a:r>
              <a:t>https://www.nhlbi.nih.gov/health/heart</a:t>
            </a:r>
          </a:p>
          <a:p xmlns:a="http://schemas.openxmlformats.org/drawingml/2006/main">
            <a:r>
              <a:t>Heart pumping and blood transport reference, checked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Royal Society of Chemistry: Separation techniques</a:t>
            </a:r>
          </a:p>
          <a:p xmlns:a="http://schemas.openxmlformats.org/drawingml/2006/main">
            <a:r>
              <a:t>https://edu.rsc.org/cpd/separation-techniques/3009787.article</a:t>
            </a:r>
          </a:p>
          <a:p xmlns:a="http://schemas.openxmlformats.org/drawingml/2006/main">
            <a:r>
              <a:t>Checked September 2026. Filtration, evaporation and separation misconceptions. Classroom activities are original and include a complete paper route.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 National Park Service: Dragonfly larvae</a:t>
            </a:r>
          </a:p>
          <a:p xmlns:a="http://schemas.openxmlformats.org/drawingml/2006/main">
            <a:r>
              <a:t>https://www.nps.gov/articles/dragonfly-larvae.htm</a:t>
            </a:r>
          </a:p>
          <a:p xmlns:a="http://schemas.openxmlformats.org/drawingml/2006/main">
            <a:r>
              <a:t>Checked September 2026. Aquatic dragonfly juveniles; insects with this incomplete metamorphosis route do not have a pupa.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Wildlife Trusts: Lovely ladybirds</a:t>
            </a:r>
          </a:p>
          <a:p xmlns:a="http://schemas.openxmlformats.org/drawingml/2006/main">
            <a:r>
              <a:t>https://www.wildlifetrusts.org/blog/tom-hibbert/lovely-ladybirds</a:t>
            </a:r>
          </a:p>
          <a:p xmlns:a="http://schemas.openxmlformats.org/drawingml/2006/main">
            <a:r>
              <a:t>Checked September 2026. Explicit ladybird egg, larva, pupa and adult sequence.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3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unsupported preference. B accurate values/context. C universal overclaim. This tests evidence language, not checkpoint science answers.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A. A is better because it looks nicer.</a:t>
            </a:r>
          </a:p>
          <a:p xmlns:a="http://schemas.openxmlformats.org/drawingml/2006/main">
            <a:r>
              <a:t>Appearance is not evidence about the measured distance.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B. In trial 1, the car travelled 60 cm on A and 40 cm on B.</a:t>
            </a:r>
          </a:p>
          <a:p xmlns:a="http://schemas.openxmlformats.org/drawingml/2006/main">
            <a:r>
              <a:t>Correct. It gives relevant values, units and a clear boundary.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C. The car must always travel farther on A in every situation.</a:t>
            </a:r>
          </a:p>
          <a:p xmlns:a="http://schemas.openxmlformats.org/drawingml/2006/main">
            <a:r>
              <a:t>Two training trials do not establish every situation.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Monarch Joint Venture: Life cycle</a:t>
            </a:r>
          </a:p>
          <a:p xmlns:a="http://schemas.openxmlformats.org/drawingml/2006/main">
            <a:r>
              <a:t>https://monarchjointventure.org/monarch-biology/life-cycle</a:t>
            </a:r>
          </a:p>
          <a:p xmlns:a="http://schemas.openxmlformats.org/drawingml/2006/main">
            <a:r>
              <a:t>Checked September 2026. Named monarch sequence: egg, larva, pupa, adult; not a rule for all insects.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Arizona State University: Incomplete metamorphosis</a:t>
            </a:r>
          </a:p>
          <a:p xmlns:a="http://schemas.openxmlformats.org/drawingml/2006/main">
            <a:r>
              <a:t>https://askabiologist.asu.edu/incomplete-metamorphosis</a:t>
            </a:r>
          </a:p>
          <a:p xmlns:a="http://schemas.openxmlformats.org/drawingml/2006/main">
            <a:r>
              <a:t>Checked September 2026. Egg–nymph–adult is different from complete metamorphosis; dragonfly nymphs are aquatic. The checkpoint supplies the necessary species clues.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NHLBI: The heart</a:t>
            </a:r>
          </a:p>
          <a:p xmlns:a="http://schemas.openxmlformats.org/drawingml/2006/main">
            <a:r>
              <a:t>https://www.nhlbi.nih.gov/health/heart</a:t>
            </a:r>
          </a:p>
          <a:p xmlns:a="http://schemas.openxmlformats.org/drawingml/2006/main">
            <a:r>
              <a:t>Heart pumping and blood transport reference, checked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Royal Society of Chemistry: Separation techniques</a:t>
            </a:r>
          </a:p>
          <a:p xmlns:a="http://schemas.openxmlformats.org/drawingml/2006/main">
            <a:r>
              <a:t>https://edu.rsc.org/cpd/separation-techniques/3009787.article</a:t>
            </a:r>
          </a:p>
          <a:p xmlns:a="http://schemas.openxmlformats.org/drawingml/2006/main">
            <a:r>
              <a:t>Checked September 2026. Filtration, evaporation and separation misconceptions. Classroom activities are original and include a complete paper route.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 National Park Service: Dragonfly larvae</a:t>
            </a:r>
          </a:p>
          <a:p xmlns:a="http://schemas.openxmlformats.org/drawingml/2006/main">
            <a:r>
              <a:t>https://www.nps.gov/articles/dragonfly-larvae.htm</a:t>
            </a:r>
          </a:p>
          <a:p xmlns:a="http://schemas.openxmlformats.org/drawingml/2006/main">
            <a:r>
              <a:t>Checked September 2026. Aquatic dragonfly juveniles; insects with this incomplete metamorphosis route do not have a pupa.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Wildlife Trusts: Lovely ladybirds</a:t>
            </a:r>
          </a:p>
          <a:p xmlns:a="http://schemas.openxmlformats.org/drawingml/2006/main">
            <a:r>
              <a:t>https://www.wildlifetrusts.org/blog/tom-hibbert/lovely-ladybirds</a:t>
            </a:r>
          </a:p>
          <a:p xmlns:a="http://schemas.openxmlformats.org/drawingml/2006/main">
            <a:r>
              <a:t>Checked September 2026. Explicit ladybird egg, larva, pupa and adult sequence.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10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10 minutes across the three You do slides. Supply shared page 1 and one selected route page. All routes target the stated science objective; a labelled drawing or independent dictated explanation is valid.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Monarch Joint Venture: Life cycle</a:t>
            </a:r>
          </a:p>
          <a:p xmlns:a="http://schemas.openxmlformats.org/drawingml/2006/main">
            <a:r>
              <a:t>https://monarchjointventure.org/monarch-biology/life-cycle</a:t>
            </a:r>
          </a:p>
          <a:p xmlns:a="http://schemas.openxmlformats.org/drawingml/2006/main">
            <a:r>
              <a:t>Checked September 2026. Named monarch sequence: egg, larva, pupa, adult; not a rule for all insects.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Arizona State University: Incomplete metamorphosis</a:t>
            </a:r>
          </a:p>
          <a:p xmlns:a="http://schemas.openxmlformats.org/drawingml/2006/main">
            <a:r>
              <a:t>https://askabiologist.asu.edu/incomplete-metamorphosis</a:t>
            </a:r>
          </a:p>
          <a:p xmlns:a="http://schemas.openxmlformats.org/drawingml/2006/main">
            <a:r>
              <a:t>Checked September 2026. Egg–nymph–adult is different from complete metamorphosis; dragonfly nymphs are aquatic. The checkpoint supplies the necessary species clues.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NHLBI: The heart</a:t>
            </a:r>
          </a:p>
          <a:p xmlns:a="http://schemas.openxmlformats.org/drawingml/2006/main">
            <a:r>
              <a:t>https://www.nhlbi.nih.gov/health/heart</a:t>
            </a:r>
          </a:p>
          <a:p xmlns:a="http://schemas.openxmlformats.org/drawingml/2006/main">
            <a:r>
              <a:t>Heart pumping and blood transport reference, checked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Royal Society of Chemistry: Separation techniques</a:t>
            </a:r>
          </a:p>
          <a:p xmlns:a="http://schemas.openxmlformats.org/drawingml/2006/main">
            <a:r>
              <a:t>https://edu.rsc.org/cpd/separation-techniques/3009787.article</a:t>
            </a:r>
          </a:p>
          <a:p xmlns:a="http://schemas.openxmlformats.org/drawingml/2006/main">
            <a:r>
              <a:t>Checked September 2026. Filtration, evaporation and separation misconceptions. Classroom activities are original and include a complete paper route.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 National Park Service: Dragonfly larvae</a:t>
            </a:r>
          </a:p>
          <a:p xmlns:a="http://schemas.openxmlformats.org/drawingml/2006/main">
            <a:r>
              <a:t>https://www.nps.gov/articles/dragonfly-larvae.htm</a:t>
            </a:r>
          </a:p>
          <a:p xmlns:a="http://schemas.openxmlformats.org/drawingml/2006/main">
            <a:r>
              <a:t>Checked September 2026. Aquatic dragonfly juveniles; insects with this incomplete metamorphosis route do not have a pupa.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Wildlife Trusts: Lovely ladybirds</a:t>
            </a:r>
          </a:p>
          <a:p xmlns:a="http://schemas.openxmlformats.org/drawingml/2006/main">
            <a:r>
              <a:t>https://www.wildlifetrusts.org/blog/tom-hibbert/lovely-ladybirds</a:t>
            </a:r>
          </a:p>
          <a:p xmlns:a="http://schemas.openxmlformats.org/drawingml/2006/main">
            <a:r>
              <a:t>Checked September 2026. Explicit ladybird egg, larva, pupa and adult sequence.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Continue within the time allocated to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Shared You do time. Ask pupils which evidence supports their explanation. Read prompts or scribe without supplying the scientific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Monarch Joint Venture: Life cycle</a:t>
            </a:r>
          </a:p>
          <a:p xmlns:a="http://schemas.openxmlformats.org/drawingml/2006/main">
            <a:r>
              <a:t>https://monarchjointventure.org/monarch-biology/life-cycle</a:t>
            </a:r>
          </a:p>
          <a:p xmlns:a="http://schemas.openxmlformats.org/drawingml/2006/main">
            <a:r>
              <a:t>Checked September 2026. Named monarch sequence: egg, larva, pupa, adult; not a rule for all insects.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Arizona State University: Incomplete metamorphosis</a:t>
            </a:r>
          </a:p>
          <a:p xmlns:a="http://schemas.openxmlformats.org/drawingml/2006/main">
            <a:r>
              <a:t>https://askabiologist.asu.edu/incomplete-metamorphosis</a:t>
            </a:r>
          </a:p>
          <a:p xmlns:a="http://schemas.openxmlformats.org/drawingml/2006/main">
            <a:r>
              <a:t>Checked September 2026. Egg–nymph–adult is different from complete metamorphosis; dragonfly nymphs are aquatic. The checkpoint supplies the necessary species clues.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NHLBI: The heart</a:t>
            </a:r>
          </a:p>
          <a:p xmlns:a="http://schemas.openxmlformats.org/drawingml/2006/main">
            <a:r>
              <a:t>https://www.nhlbi.nih.gov/health/heart</a:t>
            </a:r>
          </a:p>
          <a:p xmlns:a="http://schemas.openxmlformats.org/drawingml/2006/main">
            <a:r>
              <a:t>Heart pumping and blood transport reference, checked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Royal Society of Chemistry: Separation techniques</a:t>
            </a:r>
          </a:p>
          <a:p xmlns:a="http://schemas.openxmlformats.org/drawingml/2006/main">
            <a:r>
              <a:t>https://edu.rsc.org/cpd/separation-techniques/3009787.article</a:t>
            </a:r>
          </a:p>
          <a:p xmlns:a="http://schemas.openxmlformats.org/drawingml/2006/main">
            <a:r>
              <a:t>Checked September 2026. Filtration, evaporation and separation misconceptions. Classroom activities are original and include a complete paper route.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 National Park Service: Dragonfly larvae</a:t>
            </a:r>
          </a:p>
          <a:p xmlns:a="http://schemas.openxmlformats.org/drawingml/2006/main">
            <a:r>
              <a:t>https://www.nps.gov/articles/dragonfly-larvae.htm</a:t>
            </a:r>
          </a:p>
          <a:p xmlns:a="http://schemas.openxmlformats.org/drawingml/2006/main">
            <a:r>
              <a:t>Checked September 2026. Aquatic dragonfly juveniles; insects with this incomplete metamorphosis route do not have a pupa.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Wildlife Trusts: Lovely ladybirds</a:t>
            </a:r>
          </a:p>
          <a:p xmlns:a="http://schemas.openxmlformats.org/drawingml/2006/main">
            <a:r>
              <a:t>https://www.wildlifetrusts.org/blog/tom-hibbert/lovely-ladybirds</a:t>
            </a:r>
          </a:p>
          <a:p xmlns:a="http://schemas.openxmlformats.org/drawingml/2006/main">
            <a:r>
              <a:t>Checked September 2026. Explicit ladybird egg, larva, pupa and adult sequence.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Continue within the time allocated to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Shared You do time. Use the route-specific worked answers to identify one precise next step.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Monarch Joint Venture: Life cycle</a:t>
            </a:r>
          </a:p>
          <a:p xmlns:a="http://schemas.openxmlformats.org/drawingml/2006/main">
            <a:r>
              <a:t>https://monarchjointventure.org/monarch-biology/life-cycle</a:t>
            </a:r>
          </a:p>
          <a:p xmlns:a="http://schemas.openxmlformats.org/drawingml/2006/main">
            <a:r>
              <a:t>Checked September 2026. Named monarch sequence: egg, larva, pupa, adult; not a rule for all insects.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Arizona State University: Incomplete metamorphosis</a:t>
            </a:r>
          </a:p>
          <a:p xmlns:a="http://schemas.openxmlformats.org/drawingml/2006/main">
            <a:r>
              <a:t>https://askabiologist.asu.edu/incomplete-metamorphosis</a:t>
            </a:r>
          </a:p>
          <a:p xmlns:a="http://schemas.openxmlformats.org/drawingml/2006/main">
            <a:r>
              <a:t>Checked September 2026. Egg–nymph–adult is different from complete metamorphosis; dragonfly nymphs are aquatic. The checkpoint supplies the necessary species clues.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NHLBI: The heart</a:t>
            </a:r>
          </a:p>
          <a:p xmlns:a="http://schemas.openxmlformats.org/drawingml/2006/main">
            <a:r>
              <a:t>https://www.nhlbi.nih.gov/health/heart</a:t>
            </a:r>
          </a:p>
          <a:p xmlns:a="http://schemas.openxmlformats.org/drawingml/2006/main">
            <a:r>
              <a:t>Heart pumping and blood transport reference, checked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Royal Society of Chemistry: Separation techniques</a:t>
            </a:r>
          </a:p>
          <a:p xmlns:a="http://schemas.openxmlformats.org/drawingml/2006/main">
            <a:r>
              <a:t>https://edu.rsc.org/cpd/separation-techniques/3009787.article</a:t>
            </a:r>
          </a:p>
          <a:p xmlns:a="http://schemas.openxmlformats.org/drawingml/2006/main">
            <a:r>
              <a:t>Checked September 2026. Filtration, evaporation and separation misconceptions. Classroom activities are original and include a complete paper route.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 National Park Service: Dragonfly larvae</a:t>
            </a:r>
          </a:p>
          <a:p xmlns:a="http://schemas.openxmlformats.org/drawingml/2006/main">
            <a:r>
              <a:t>https://www.nps.gov/articles/dragonfly-larvae.htm</a:t>
            </a:r>
          </a:p>
          <a:p xmlns:a="http://schemas.openxmlformats.org/drawingml/2006/main">
            <a:r>
              <a:t>Checked September 2026. Aquatic dragonfly juveniles; insects with this incomplete metamorphosis route do not have a pupa.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Wildlife Trusts: Lovely ladybirds</a:t>
            </a:r>
          </a:p>
          <a:p xmlns:a="http://schemas.openxmlformats.org/drawingml/2006/main">
            <a:r>
              <a:t>https://www.wildlifetrusts.org/blog/tom-hibbert/lovely-ladybirds</a:t>
            </a:r>
          </a:p>
          <a:p xmlns:a="http://schemas.openxmlformats.org/drawingml/2006/main">
            <a:r>
              <a:t>Checked September 2026. Explicit ladybird egg, larva, pupa and adult sequence.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4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Collect the independent checkpoint before discussing its answers. Use the separate teacher answers to give private criterion-based feedback. If pupils annotate afterwards, keep the original response visible so the first attempt is distinguishable.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Monarch Joint Venture: Life cycle</a:t>
            </a:r>
          </a:p>
          <a:p xmlns:a="http://schemas.openxmlformats.org/drawingml/2006/main">
            <a:r>
              <a:t>https://monarchjointventure.org/monarch-biology/life-cycle</a:t>
            </a:r>
          </a:p>
          <a:p xmlns:a="http://schemas.openxmlformats.org/drawingml/2006/main">
            <a:r>
              <a:t>Checked September 2026. Named monarch sequence: egg, larva, pupa, adult; not a rule for all insects.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Arizona State University: Incomplete metamorphosis</a:t>
            </a:r>
          </a:p>
          <a:p xmlns:a="http://schemas.openxmlformats.org/drawingml/2006/main">
            <a:r>
              <a:t>https://askabiologist.asu.edu/incomplete-metamorphosis</a:t>
            </a:r>
          </a:p>
          <a:p xmlns:a="http://schemas.openxmlformats.org/drawingml/2006/main">
            <a:r>
              <a:t>Checked September 2026. Egg–nymph–adult is different from complete metamorphosis; dragonfly nymphs are aquatic. The checkpoint supplies the necessary species clues.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NHLBI: The heart</a:t>
            </a:r>
          </a:p>
          <a:p xmlns:a="http://schemas.openxmlformats.org/drawingml/2006/main">
            <a:r>
              <a:t>https://www.nhlbi.nih.gov/health/heart</a:t>
            </a:r>
          </a:p>
          <a:p xmlns:a="http://schemas.openxmlformats.org/drawingml/2006/main">
            <a:r>
              <a:t>Heart pumping and blood transport reference, checked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Royal Society of Chemistry: Separation techniques</a:t>
            </a:r>
          </a:p>
          <a:p xmlns:a="http://schemas.openxmlformats.org/drawingml/2006/main">
            <a:r>
              <a:t>https://edu.rsc.org/cpd/separation-techniques/3009787.article</a:t>
            </a:r>
          </a:p>
          <a:p xmlns:a="http://schemas.openxmlformats.org/drawingml/2006/main">
            <a:r>
              <a:t>Checked September 2026. Filtration, evaporation and separation misconceptions. Classroom activities are original and include a complete paper route.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 National Park Service: Dragonfly larvae</a:t>
            </a:r>
          </a:p>
          <a:p xmlns:a="http://schemas.openxmlformats.org/drawingml/2006/main">
            <a:r>
              <a:t>https://www.nps.gov/articles/dragonfly-larvae.htm</a:t>
            </a:r>
          </a:p>
          <a:p xmlns:a="http://schemas.openxmlformats.org/drawingml/2006/main">
            <a:r>
              <a:t>Checked September 2026. Aquatic dragonfly juveniles; insects with this incomplete metamorphosis route do not have a pupa.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Wildlife Trusts: Lovely ladybirds</a:t>
            </a:r>
          </a:p>
          <a:p xmlns:a="http://schemas.openxmlformats.org/drawingml/2006/main">
            <a:r>
              <a:t>https://www.wildlifetrusts.org/blog/tom-hibbert/lovely-ladybirds</a:t>
            </a:r>
          </a:p>
          <a:p xmlns:a="http://schemas.openxmlformats.org/drawingml/2006/main">
            <a:r>
              <a:t>Checked September 2026. Explicit ladybird egg, larva, pupa and adult sequence.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Continue within the time allocated to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Lundy cycle: invite written, spoken or pointed suggestions. Select one feasible question and explain how the pupil contribution changes the next example or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Monarch Joint Venture: Life cycle</a:t>
            </a:r>
          </a:p>
          <a:p xmlns:a="http://schemas.openxmlformats.org/drawingml/2006/main">
            <a:r>
              <a:t>https://monarchjointventure.org/monarch-biology/life-cycle</a:t>
            </a:r>
          </a:p>
          <a:p xmlns:a="http://schemas.openxmlformats.org/drawingml/2006/main">
            <a:r>
              <a:t>Checked September 2026. Named monarch sequence: egg, larva, pupa, adult; not a rule for all insects.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Arizona State University: Incomplete metamorphosis</a:t>
            </a:r>
          </a:p>
          <a:p xmlns:a="http://schemas.openxmlformats.org/drawingml/2006/main">
            <a:r>
              <a:t>https://askabiologist.asu.edu/incomplete-metamorphosis</a:t>
            </a:r>
          </a:p>
          <a:p xmlns:a="http://schemas.openxmlformats.org/drawingml/2006/main">
            <a:r>
              <a:t>Checked September 2026. Egg–nymph–adult is different from complete metamorphosis; dragonfly nymphs are aquatic. The checkpoint supplies the necessary species clues.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NHLBI: The heart</a:t>
            </a:r>
          </a:p>
          <a:p xmlns:a="http://schemas.openxmlformats.org/drawingml/2006/main">
            <a:r>
              <a:t>https://www.nhlbi.nih.gov/health/heart</a:t>
            </a:r>
          </a:p>
          <a:p xmlns:a="http://schemas.openxmlformats.org/drawingml/2006/main">
            <a:r>
              <a:t>Heart pumping and blood transport reference, checked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Royal Society of Chemistry: Separation techniques</a:t>
            </a:r>
          </a:p>
          <a:p xmlns:a="http://schemas.openxmlformats.org/drawingml/2006/main">
            <a:r>
              <a:t>https://edu.rsc.org/cpd/separation-techniques/3009787.article</a:t>
            </a:r>
          </a:p>
          <a:p xmlns:a="http://schemas.openxmlformats.org/drawingml/2006/main">
            <a:r>
              <a:t>Checked September 2026. Filtration, evaporation and separation misconceptions. Classroom activities are original and include a complete paper route.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 National Park Service: Dragonfly larvae</a:t>
            </a:r>
          </a:p>
          <a:p xmlns:a="http://schemas.openxmlformats.org/drawingml/2006/main">
            <a:r>
              <a:t>https://www.nps.gov/articles/dragonfly-larvae.htm</a:t>
            </a:r>
          </a:p>
          <a:p xmlns:a="http://schemas.openxmlformats.org/drawingml/2006/main">
            <a:r>
              <a:t>Checked September 2026. Aquatic dragonfly juveniles; insects with this incomplete metamorphosis route do not have a pupa.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Wildlife Trusts: Lovely ladybirds</a:t>
            </a:r>
          </a:p>
          <a:p xmlns:a="http://schemas.openxmlformats.org/drawingml/2006/main">
            <a:r>
              <a:t>https://www.wildlifetrusts.org/blog/tom-hibbert/lovely-ladybirds</a:t>
            </a:r>
          </a:p>
          <a:p xmlns:a="http://schemas.openxmlformats.org/drawingml/2006/main">
            <a:r>
              <a:t>Checked September 2026. Explicit ladybird egg, larva, pupa and adult sequence.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2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Exit is reflection after submission, not a second independent score. Accept a corrected lifecycle, body or material explanation with relevant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Monarch Joint Venture: Life cycle</a:t>
            </a:r>
          </a:p>
          <a:p xmlns:a="http://schemas.openxmlformats.org/drawingml/2006/main">
            <a:r>
              <a:t>https://monarchjointventure.org/monarch-biology/life-cycle</a:t>
            </a:r>
          </a:p>
          <a:p xmlns:a="http://schemas.openxmlformats.org/drawingml/2006/main">
            <a:r>
              <a:t>Checked September 2026. Named monarch sequence: egg, larva, pupa, adult; not a rule for all insects.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Arizona State University: Incomplete metamorphosis</a:t>
            </a:r>
          </a:p>
          <a:p xmlns:a="http://schemas.openxmlformats.org/drawingml/2006/main">
            <a:r>
              <a:t>https://askabiologist.asu.edu/incomplete-metamorphosis</a:t>
            </a:r>
          </a:p>
          <a:p xmlns:a="http://schemas.openxmlformats.org/drawingml/2006/main">
            <a:r>
              <a:t>Checked September 2026. Egg–nymph–adult is different from complete metamorphosis; dragonfly nymphs are aquatic. The checkpoint supplies the necessary species clues.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NHLBI: The heart</a:t>
            </a:r>
          </a:p>
          <a:p xmlns:a="http://schemas.openxmlformats.org/drawingml/2006/main">
            <a:r>
              <a:t>https://www.nhlbi.nih.gov/health/heart</a:t>
            </a:r>
          </a:p>
          <a:p xmlns:a="http://schemas.openxmlformats.org/drawingml/2006/main">
            <a:r>
              <a:t>Heart pumping and blood transport reference, checked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Royal Society of Chemistry: Separation techniques</a:t>
            </a:r>
          </a:p>
          <a:p xmlns:a="http://schemas.openxmlformats.org/drawingml/2006/main">
            <a:r>
              <a:t>https://edu.rsc.org/cpd/separation-techniques/3009787.article</a:t>
            </a:r>
          </a:p>
          <a:p xmlns:a="http://schemas.openxmlformats.org/drawingml/2006/main">
            <a:r>
              <a:t>Checked September 2026. Filtration, evaporation and separation misconceptions. Classroom activities are original and include a complete paper route.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 National Park Service: Dragonfly larvae</a:t>
            </a:r>
          </a:p>
          <a:p xmlns:a="http://schemas.openxmlformats.org/drawingml/2006/main">
            <a:r>
              <a:t>https://www.nps.gov/articles/dragonfly-larvae.htm</a:t>
            </a:r>
          </a:p>
          <a:p xmlns:a="http://schemas.openxmlformats.org/drawingml/2006/main">
            <a:r>
              <a:t>Checked September 2026. Aquatic dragonfly juveniles; insects with this incomplete metamorphosis route do not have a pupa.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Wildlife Trusts: Lovely ladybirds</a:t>
            </a:r>
          </a:p>
          <a:p xmlns:a="http://schemas.openxmlformats.org/drawingml/2006/main">
            <a:r>
              <a:t>https://www.wildlifetrusts.org/blog/tom-hibbert/lovely-ladybirds</a:t>
            </a:r>
          </a:p>
          <a:p xmlns:a="http://schemas.openxmlformats.org/drawingml/2006/main">
            <a:r>
              <a:t>Checked September 2026. Explicit ladybird egg, larva, pupa and adult sequence.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4f176ca4de40a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a90381c23a74545" /><Relationship Type="http://schemas.openxmlformats.org/officeDocument/2006/relationships/slideLayout" Target="/ppt/slideLayouts/slideLayout1.xml" Id="R87a040065bea418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7a040065bea418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0fdf18b75549ce" /><Relationship Type="http://schemas.openxmlformats.org/officeDocument/2006/relationships/notesSlide" Target="/ppt/notesSlides/notesSlide1.xml" Id="R2803f24c96a741d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9bbb78d9184868" /><Relationship Type="http://schemas.openxmlformats.org/officeDocument/2006/relationships/notesSlide" Target="/ppt/notesSlides/notesSlide2.xml" Id="R18a6daebfd6e4e6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16664cb0a543b0" /><Relationship Type="http://schemas.openxmlformats.org/officeDocument/2006/relationships/notesSlide" Target="/ppt/notesSlides/notesSlide3.xml" Id="Rad0a70cbe8fd4eb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ef386c612a4fe9" /><Relationship Type="http://schemas.openxmlformats.org/officeDocument/2006/relationships/notesSlide" Target="/ppt/notesSlides/notesSlide4.xml" Id="Rcc36a59b54924c0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66ff05d4024175" /><Relationship Type="http://schemas.openxmlformats.org/officeDocument/2006/relationships/notesSlide" Target="/ppt/notesSlides/notesSlide5.xml" Id="R2a1fa6fd0cdd434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d4aad9be5e44db" /><Relationship Type="http://schemas.openxmlformats.org/officeDocument/2006/relationships/notesSlide" Target="/ppt/notesSlides/notesSlide6.xml" Id="R80084a146e34444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98da28875e4246" /><Relationship Type="http://schemas.openxmlformats.org/officeDocument/2006/relationships/notesSlide" Target="/ppt/notesSlides/notesSlide7.xml" Id="R7093c9b42a5b437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03ac75a7a64d2c" /><Relationship Type="http://schemas.openxmlformats.org/officeDocument/2006/relationships/notesSlide" Target="/ppt/notesSlides/notesSlide8.xml" Id="R5730da1e165942e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fb077736514ab9" /><Relationship Type="http://schemas.openxmlformats.org/officeDocument/2006/relationships/notesSlide" Target="/ppt/notesSlides/notesSlide9.xml" Id="R150409b216864ed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e89bf6417742af" /><Relationship Type="http://schemas.openxmlformats.org/officeDocument/2006/relationships/notesSlide" Target="/ppt/notesSlides/notesSlide10.xml" Id="Ra4b330c3226a441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e501228b674bd9" /><Relationship Type="http://schemas.openxmlformats.org/officeDocument/2006/relationships/notesSlide" Target="/ppt/notesSlides/notesSlide11.xml" Id="R5485d14205e84dd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0189e96efd4426" /><Relationship Type="http://schemas.openxmlformats.org/officeDocument/2006/relationships/notesSlide" Target="/ppt/notesSlides/notesSlide12.xml" Id="Rf99d28fbd041412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14babe8f7a44b5" /><Relationship Type="http://schemas.openxmlformats.org/officeDocument/2006/relationships/notesSlide" Target="/ppt/notesSlides/notesSlide13.xml" Id="Rbd3603c83483415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0013c2e2204a82" /><Relationship Type="http://schemas.openxmlformats.org/officeDocument/2006/relationships/notesSlide" Target="/ppt/notesSlides/notesSlide14.xml" Id="Rdcdc9587501c431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112846377540eb" /><Relationship Type="http://schemas.openxmlformats.org/officeDocument/2006/relationships/notesSlide" Target="/ppt/notesSlides/notesSlide15.xml" Id="R8f93f1a7ecb7436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urface">
            <a:extLst xmlns:a="http://schemas.openxmlformats.org/drawingml/2006/main">
              <a:ext uri="{FF2B5EF4-FFF2-40B4-BE49-F238E27FC236}">
                <a16:creationId xmlns:a16="http://schemas.microsoft.com/office/drawing/2014/main" id="{EF48CD2B-6B78-48BC-96CC-CB448DD95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6E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FF6731B1-211B-43A4-9E58-8DAF9B93D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65DB3F49-38F6-48B5-A0B1-D55DF2634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6E"/>
          </a:solidFill>
          <a:ln xmlns:a="http://schemas.openxmlformats.org/drawingml/2006/main" w="0">
            <a:noFill/>
          </a:ln>
        </p:spPr>
      </p:sp>
      <p:sp>
        <p:nvSpPr>
          <p:cNvPr id="4" name="GROW SCIENCE">
            <a:extLst xmlns:a="http://schemas.openxmlformats.org/drawingml/2006/main">
              <a:ext uri="{FF2B5EF4-FFF2-40B4-BE49-F238E27FC236}">
                <a16:creationId xmlns:a16="http://schemas.microsoft.com/office/drawing/2014/main" id="{E2AAD423-1C1F-4E51-9500-BB9797FD6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rPr>
              <a:t>GROW SCIENCE</a:t>
            </a:r>
          </a:p>
        </p:txBody>
      </p:sp>
      <p:sp>
        <p:nvSpPr>
          <p:cNvPr id="5" name="Opening">
            <a:extLst xmlns:a="http://schemas.openxmlformats.org/drawingml/2006/main">
              <a:ext uri="{FF2B5EF4-FFF2-40B4-BE49-F238E27FC236}">
                <a16:creationId xmlns:a16="http://schemas.microsoft.com/office/drawing/2014/main" id="{6282B622-2B16-4ABB-BDA3-85F659E82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rPr>
              <a:t>Opening</a:t>
            </a:r>
          </a:p>
        </p:txBody>
      </p:sp>
      <p:sp>
        <p:nvSpPr>
          <p:cNvPr id="6" name="2 min">
            <a:extLst xmlns:a="http://schemas.openxmlformats.org/drawingml/2006/main">
              <a:ext uri="{FF2B5EF4-FFF2-40B4-BE49-F238E27FC236}">
                <a16:creationId xmlns:a16="http://schemas.microsoft.com/office/drawing/2014/main" id="{38318C39-03F1-4A9D-AA8D-F48FE70C3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2 min</a:t>
            </a:r>
          </a:p>
        </p:txBody>
      </p:sp>
      <p:sp>
        <p:nvSpPr>
          <p:cNvPr id="7" name="Show the science you can explain">
            <a:extLst xmlns:a="http://schemas.openxmlformats.org/drawingml/2006/main">
              <a:ext uri="{FF2B5EF4-FFF2-40B4-BE49-F238E27FC236}">
                <a16:creationId xmlns:a16="http://schemas.microsoft.com/office/drawing/2014/main" id="{ADE4134E-93E7-41DB-B768-951A5BCE0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Show the science you can explain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C5B75D6F-AFE2-4C20-A0FE-4C391388A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The spring science evidence exchange">
            <a:extLst xmlns:a="http://schemas.openxmlformats.org/drawingml/2006/main">
              <a:ext uri="{FF2B5EF4-FFF2-40B4-BE49-F238E27FC236}">
                <a16:creationId xmlns:a16="http://schemas.microsoft.com/office/drawing/2014/main" id="{E6222099-549E-4B43-A1D4-0421792AB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spring science evidence exchange</a:t>
            </a:r>
          </a:p>
        </p:txBody>
      </p:sp>
      <p:sp>
        <p:nvSpPr>
          <p:cNvPr id="10" name="1 / 15">
            <a:extLst xmlns:a="http://schemas.openxmlformats.org/drawingml/2006/main">
              <a:ext uri="{FF2B5EF4-FFF2-40B4-BE49-F238E27FC236}">
                <a16:creationId xmlns:a16="http://schemas.microsoft.com/office/drawing/2014/main" id="{35FCFBC9-7732-4572-BE2E-80C335481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 / 15</a:t>
            </a:r>
          </a:p>
        </p:txBody>
      </p:sp>
      <p:sp>
        <p:nvSpPr>
          <p:cNvPr id="11" name="surface">
            <a:extLst xmlns:a="http://schemas.openxmlformats.org/drawingml/2006/main">
              <a:ext uri="{FF2B5EF4-FFF2-40B4-BE49-F238E27FC236}">
                <a16:creationId xmlns:a16="http://schemas.microsoft.com/office/drawing/2014/main" id="{4A8F2BCA-DA5E-4928-B879-BD44A5CA2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85950"/>
            <a:ext cx="11125200" cy="1247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12" name="surface">
            <a:extLst xmlns:a="http://schemas.openxmlformats.org/drawingml/2006/main">
              <a:ext uri="{FF2B5EF4-FFF2-40B4-BE49-F238E27FC236}">
                <a16:creationId xmlns:a16="http://schemas.microsoft.com/office/drawing/2014/main" id="{EFE5343C-FF55-4959-AB3A-80477CDDC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85950"/>
            <a:ext cx="66675" cy="1247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6E"/>
          </a:solidFill>
          <a:ln xmlns:a="http://schemas.openxmlformats.org/drawingml/2006/main" w="0">
            <a:noFill/>
          </a:ln>
        </p:spPr>
      </p:sp>
      <p:sp>
        <p:nvSpPr>
          <p:cNvPr id="13" name="Learning intention">
            <a:extLst xmlns:a="http://schemas.openxmlformats.org/drawingml/2006/main">
              <a:ext uri="{FF2B5EF4-FFF2-40B4-BE49-F238E27FC236}">
                <a16:creationId xmlns:a16="http://schemas.microsoft.com/office/drawing/2014/main" id="{BA4C4C41-6A20-4A14-9A76-08AE73E81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1930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3F7D6E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>
                <a:solidFill>
                  <a:srgbClr val="3F7D6E"/>
                </a:solidFill>
                <a:latin typeface="Nimbus Sans"/>
                <a:ea typeface="Nimbus Sans"/>
                <a:cs typeface="Nimbus Sans"/>
              </a:rPr>
              <a:t>Learning intention</a:t>
            </a:r>
          </a:p>
        </p:txBody>
      </p:sp>
      <p:sp>
        <p:nvSpPr>
          <p:cNvPr id="14" name="Use evidence to explain life cycles and apply selected spring sc">
            <a:extLst xmlns:a="http://schemas.openxmlformats.org/drawingml/2006/main">
              <a:ext uri="{FF2B5EF4-FFF2-40B4-BE49-F238E27FC236}">
                <a16:creationId xmlns:a16="http://schemas.microsoft.com/office/drawing/2014/main" id="{E4625E29-455C-4310-837B-640A11AEC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62200"/>
            <a:ext cx="10572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175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Use evidence to explain life cycles and apply selected spring science ideas in a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175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teacher-authored checkpoint.</a:t>
            </a:r>
          </a:p>
        </p:txBody>
      </p:sp>
      <p:sp>
        <p:nvSpPr>
          <p:cNvPr id="15" name="Today is a short teacher-authored checkpoint.">
            <a:extLst xmlns:a="http://schemas.openxmlformats.org/drawingml/2006/main">
              <a:ext uri="{FF2B5EF4-FFF2-40B4-BE49-F238E27FC236}">
                <a16:creationId xmlns:a16="http://schemas.microsoft.com/office/drawing/2014/main" id="{E05357B4-37E6-4589-A2F4-F323F7B72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623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Today is a short teacher-authored checkpoint.</a:t>
            </a:r>
          </a:p>
        </p:txBody>
      </p:sp>
      <p:sp>
        <p:nvSpPr>
          <p:cNvPr id="16" name="First practise how to use evidence.">
            <a:extLst xmlns:a="http://schemas.openxmlformats.org/drawingml/2006/main">
              <a:ext uri="{FF2B5EF4-FFF2-40B4-BE49-F238E27FC236}">
                <a16:creationId xmlns:a16="http://schemas.microsoft.com/office/drawing/2014/main" id="{C4F2ACDD-D2EB-46AB-ADF8-024831B8B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157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First practise how to use evidence.</a:t>
            </a:r>
          </a:p>
        </p:txBody>
      </p:sp>
      <p:sp>
        <p:nvSpPr>
          <p:cNvPr id="17" name="The independent cases stay unseen until later.">
            <a:extLst xmlns:a="http://schemas.openxmlformats.org/drawingml/2006/main">
              <a:ext uri="{FF2B5EF4-FFF2-40B4-BE49-F238E27FC236}">
                <a16:creationId xmlns:a16="http://schemas.microsoft.com/office/drawing/2014/main" id="{FF3F2BC5-B0BE-4EF2-9897-10DDCD6EF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69130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The independent cases stay unseen until later.</a:t>
            </a:r>
          </a:p>
        </p:txBody>
      </p:sp>
    </p:spTree>
    <p:extLst>
      <p:ext uri="{BB962C8B-B14F-4D97-AF65-F5344CB8AC3E}">
        <p14:creationId xmlns:p14="http://schemas.microsoft.com/office/powerpoint/2010/main" val="5967412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urface">
            <a:extLst xmlns:a="http://schemas.openxmlformats.org/drawingml/2006/main">
              <a:ext uri="{FF2B5EF4-FFF2-40B4-BE49-F238E27FC236}">
                <a16:creationId xmlns:a16="http://schemas.microsoft.com/office/drawing/2014/main" id="{FF8C3D8E-BD2F-4AFB-948F-77EA9C90C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6E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D45E2175-4BBF-4CD9-BD44-7155C7E9F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CA720871-325C-4E56-A05C-E8DE32A6A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6E"/>
          </a:solidFill>
          <a:ln xmlns:a="http://schemas.openxmlformats.org/drawingml/2006/main" w="0">
            <a:noFill/>
          </a:ln>
        </p:spPr>
      </p:sp>
      <p:sp>
        <p:nvSpPr>
          <p:cNvPr id="4" name="GROW SCIENCE">
            <a:extLst xmlns:a="http://schemas.openxmlformats.org/drawingml/2006/main">
              <a:ext uri="{FF2B5EF4-FFF2-40B4-BE49-F238E27FC236}">
                <a16:creationId xmlns:a16="http://schemas.microsoft.com/office/drawing/2014/main" id="{729B4720-BE34-4527-B407-7DCCD52DF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rPr>
              <a:t>GROW SCIENCE</a:t>
            </a:r>
          </a:p>
        </p:txBody>
      </p:sp>
      <p:sp>
        <p:nvSpPr>
          <p:cNvPr id="5" name="Retrieval">
            <a:extLst xmlns:a="http://schemas.openxmlformats.org/drawingml/2006/main">
              <a:ext uri="{FF2B5EF4-FFF2-40B4-BE49-F238E27FC236}">
                <a16:creationId xmlns:a16="http://schemas.microsoft.com/office/drawing/2014/main" id="{38281B4E-B6BE-4B70-8788-DAD2268E1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rPr>
              <a:t>Retrieval</a:t>
            </a:r>
          </a:p>
        </p:txBody>
      </p:sp>
      <p:sp>
        <p:nvSpPr>
          <p:cNvPr id="6" name="3 min">
            <a:extLst xmlns:a="http://schemas.openxmlformats.org/drawingml/2006/main">
              <a:ext uri="{FF2B5EF4-FFF2-40B4-BE49-F238E27FC236}">
                <a16:creationId xmlns:a16="http://schemas.microsoft.com/office/drawing/2014/main" id="{81214E51-7D6B-40D6-B637-2A3181D6F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3 min</a:t>
            </a:r>
          </a:p>
        </p:txBody>
      </p:sp>
      <p:sp>
        <p:nvSpPr>
          <p:cNvPr id="7" name="Remember the evidence habits">
            <a:extLst xmlns:a="http://schemas.openxmlformats.org/drawingml/2006/main">
              <a:ext uri="{FF2B5EF4-FFF2-40B4-BE49-F238E27FC236}">
                <a16:creationId xmlns:a16="http://schemas.microsoft.com/office/drawing/2014/main" id="{B94FA96C-F83D-4E31-AF3D-48902E135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Remember the evidence habits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2338D8FF-8FC5-4E6A-B764-644FCECBD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The spring science evidence exchange">
            <a:extLst xmlns:a="http://schemas.openxmlformats.org/drawingml/2006/main">
              <a:ext uri="{FF2B5EF4-FFF2-40B4-BE49-F238E27FC236}">
                <a16:creationId xmlns:a16="http://schemas.microsoft.com/office/drawing/2014/main" id="{64131C3D-82E1-43DE-89D7-8E0D6A5C9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spring science evidence exchange</a:t>
            </a:r>
          </a:p>
        </p:txBody>
      </p:sp>
      <p:sp>
        <p:nvSpPr>
          <p:cNvPr id="10" name="2 / 15">
            <a:extLst xmlns:a="http://schemas.openxmlformats.org/drawingml/2006/main">
              <a:ext uri="{FF2B5EF4-FFF2-40B4-BE49-F238E27FC236}">
                <a16:creationId xmlns:a16="http://schemas.microsoft.com/office/drawing/2014/main" id="{8677B84B-0C5B-4612-B718-AD7221C9D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2 / 15</a:t>
            </a:r>
          </a:p>
        </p:txBody>
      </p:sp>
      <p:sp>
        <p:nvSpPr>
          <p:cNvPr id="11" name="R1. Why include units with a number?">
            <a:extLst xmlns:a="http://schemas.openxmlformats.org/drawingml/2006/main">
              <a:ext uri="{FF2B5EF4-FFF2-40B4-BE49-F238E27FC236}">
                <a16:creationId xmlns:a16="http://schemas.microsoft.com/office/drawing/2014/main" id="{9F66A54A-9368-46DF-B2FC-BF9D5FD8A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R1. Why include units with a number?</a:t>
            </a:r>
          </a:p>
        </p:txBody>
      </p:sp>
      <p:sp>
        <p:nvSpPr>
          <p:cNvPr id="12" name="R2. What does “in this test” tell a reader?">
            <a:extLst xmlns:a="http://schemas.openxmlformats.org/drawingml/2006/main">
              <a:ext uri="{FF2B5EF4-FFF2-40B4-BE49-F238E27FC236}">
                <a16:creationId xmlns:a16="http://schemas.microsoft.com/office/drawing/2014/main" id="{2A196857-1BE5-4B60-82C0-EF04FFA14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22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R2. What does “in this test” tell a reader?</a:t>
            </a:r>
          </a:p>
        </p:txBody>
      </p:sp>
      <p:sp>
        <p:nvSpPr>
          <p:cNvPr id="13" name="R3. Can an adult read a question without giving the answer?">
            <a:extLst xmlns:a="http://schemas.openxmlformats.org/drawingml/2006/main">
              <a:ext uri="{FF2B5EF4-FFF2-40B4-BE49-F238E27FC236}">
                <a16:creationId xmlns:a16="http://schemas.microsoft.com/office/drawing/2014/main" id="{1C11B805-4ACC-4D67-AF54-C6318F8E0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35630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R3. Can an adult read a question without giving the answer?</a:t>
            </a:r>
          </a:p>
        </p:txBody>
      </p:sp>
    </p:spTree>
    <p:extLst>
      <p:ext uri="{BB962C8B-B14F-4D97-AF65-F5344CB8AC3E}">
        <p14:creationId xmlns:p14="http://schemas.microsoft.com/office/powerpoint/2010/main" val="43560950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urface">
            <a:extLst xmlns:a="http://schemas.openxmlformats.org/drawingml/2006/main">
              <a:ext uri="{FF2B5EF4-FFF2-40B4-BE49-F238E27FC236}">
                <a16:creationId xmlns:a16="http://schemas.microsoft.com/office/drawing/2014/main" id="{13B3A8E1-958C-434F-BCD2-C7EF961D5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4F42EF39-6322-416E-A30A-22F23EDD5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10E48F1A-D6FA-4995-92B7-6D1EA94F9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4" name="GROW SCIENCE">
            <a:extLst xmlns:a="http://schemas.openxmlformats.org/drawingml/2006/main">
              <a:ext uri="{FF2B5EF4-FFF2-40B4-BE49-F238E27FC236}">
                <a16:creationId xmlns:a16="http://schemas.microsoft.com/office/drawing/2014/main" id="{8D05C053-0BDF-4E17-B76B-DEFC87ECF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GROW SCIENCE</a:t>
            </a:r>
          </a:p>
        </p:txBody>
      </p:sp>
      <p:sp>
        <p:nvSpPr>
          <p:cNvPr id="5" name="I do">
            <a:extLst xmlns:a="http://schemas.openxmlformats.org/drawingml/2006/main">
              <a:ext uri="{FF2B5EF4-FFF2-40B4-BE49-F238E27FC236}">
                <a16:creationId xmlns:a16="http://schemas.microsoft.com/office/drawing/2014/main" id="{2F3B7035-251E-4CA0-BFA8-D36158D93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I do</a:t>
            </a:r>
          </a:p>
        </p:txBody>
      </p:sp>
      <p:sp>
        <p:nvSpPr>
          <p:cNvPr id="6" name="8 min">
            <a:extLst xmlns:a="http://schemas.openxmlformats.org/drawingml/2006/main">
              <a:ext uri="{FF2B5EF4-FFF2-40B4-BE49-F238E27FC236}">
                <a16:creationId xmlns:a16="http://schemas.microsoft.com/office/drawing/2014/main" id="{CBC1CDCC-40EE-401D-979F-D61316424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8 min</a:t>
            </a:r>
          </a:p>
        </p:txBody>
      </p:sp>
      <p:sp>
        <p:nvSpPr>
          <p:cNvPr id="7" name="I model how to answer, not the checkpoint">
            <a:extLst xmlns:a="http://schemas.openxmlformats.org/drawingml/2006/main">
              <a:ext uri="{FF2B5EF4-FFF2-40B4-BE49-F238E27FC236}">
                <a16:creationId xmlns:a16="http://schemas.microsoft.com/office/drawing/2014/main" id="{AF88DA23-9C6C-4A8F-8A12-798EB8BF6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I model how to answer, not the checkpoint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318DAEE7-7FBD-4020-8471-175FC981F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The spring science evidence exchange">
            <a:extLst xmlns:a="http://schemas.openxmlformats.org/drawingml/2006/main">
              <a:ext uri="{FF2B5EF4-FFF2-40B4-BE49-F238E27FC236}">
                <a16:creationId xmlns:a16="http://schemas.microsoft.com/office/drawing/2014/main" id="{417529C5-384E-4D55-9961-986EDB6B2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spring science evidence exchange</a:t>
            </a:r>
          </a:p>
        </p:txBody>
      </p:sp>
      <p:sp>
        <p:nvSpPr>
          <p:cNvPr id="10" name="3 / 15">
            <a:extLst xmlns:a="http://schemas.openxmlformats.org/drawingml/2006/main">
              <a:ext uri="{FF2B5EF4-FFF2-40B4-BE49-F238E27FC236}">
                <a16:creationId xmlns:a16="http://schemas.microsoft.com/office/drawing/2014/main" id="{CDD1C495-DB18-4279-A4E5-797BD56E3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3 / 15</a:t>
            </a:r>
          </a:p>
        </p:txBody>
      </p:sp>
      <p:sp>
        <p:nvSpPr>
          <p:cNvPr id="11" name="Diagram label: A worked example uses evidence">
            <a:extLst xmlns:a="http://schemas.openxmlformats.org/drawingml/2006/main">
              <a:ext uri="{FF2B5EF4-FFF2-40B4-BE49-F238E27FC236}">
                <a16:creationId xmlns:a16="http://schemas.microsoft.com/office/drawing/2014/main" id="{00FB538C-7EBA-4BD1-87A6-DE539226B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2468" y="2023042"/>
            <a:ext cx="6447064" cy="3503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66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766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 worked example uses evidence</a:t>
            </a:r>
          </a:p>
        </p:txBody>
      </p:sp>
      <p:sp>
        <p:nvSpPr>
          <p:cNvPr id="12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F3E642E1-86FB-4DF2-B0C4-8081F9557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2621" y="3179309"/>
            <a:ext cx="1915432" cy="9109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7F3"/>
          </a:solidFill>
          <a:ln xmlns:a="http://schemas.openxmlformats.org/drawingml/2006/main" w="21023">
            <a:solidFill>
              <a:srgbClr val="3F7D6E"/>
            </a:solidFill>
          </a:ln>
        </p:spPr>
      </p:sp>
      <p:sp>
        <p:nvSpPr>
          <p:cNvPr id="13" name="Diagram label: Read the question">
            <a:extLst xmlns:a="http://schemas.openxmlformats.org/drawingml/2006/main">
              <a:ext uri="{FF2B5EF4-FFF2-40B4-BE49-F238E27FC236}">
                <a16:creationId xmlns:a16="http://schemas.microsoft.com/office/drawing/2014/main" id="{D63834AD-C152-401D-A851-9712267BC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8683" y="3319463"/>
            <a:ext cx="1803309" cy="630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Read the question</a:t>
            </a:r>
          </a:p>
        </p:txBody>
      </p:sp>
      <p:sp>
        <p:nvSpPr>
          <p:cNvPr id="14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B01C064B-96C4-48CA-9098-20CABD838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28054" y="3634808"/>
            <a:ext cx="1366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5038">
            <a:solidFill>
              <a:srgbClr val="1F2937"/>
            </a:solidFill>
          </a:ln>
        </p:spPr>
      </p:sp>
      <p:sp>
        <p:nvSpPr>
          <p:cNvPr id="15" name="Diagram arrowhead">
            <a:extLst xmlns:a="http://schemas.openxmlformats.org/drawingml/2006/main">
              <a:ext uri="{FF2B5EF4-FFF2-40B4-BE49-F238E27FC236}">
                <a16:creationId xmlns:a16="http://schemas.microsoft.com/office/drawing/2014/main" id="{D543BF7D-80E1-4ADD-92CB-6232F451B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040176" y="3585754"/>
            <a:ext cx="98108" cy="98108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</a:ln>
        </p:spPr>
      </p:sp>
      <p:sp>
        <p:nvSpPr>
          <p:cNvPr id="16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B972D58A-B52E-4D52-920C-A992DBAB9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8284" y="3179309"/>
            <a:ext cx="1915432" cy="9109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7F3"/>
          </a:solidFill>
          <a:ln xmlns:a="http://schemas.openxmlformats.org/drawingml/2006/main" w="21023">
            <a:solidFill>
              <a:srgbClr val="3F7D6E"/>
            </a:solidFill>
          </a:ln>
        </p:spPr>
      </p:sp>
      <p:sp>
        <p:nvSpPr>
          <p:cNvPr id="17" name="Diagram label: Find a matching&#10;observation">
            <a:extLst xmlns:a="http://schemas.openxmlformats.org/drawingml/2006/main">
              <a:ext uri="{FF2B5EF4-FFF2-40B4-BE49-F238E27FC236}">
                <a16:creationId xmlns:a16="http://schemas.microsoft.com/office/drawing/2014/main" id="{7EDEE091-025E-4394-8739-E09C57DEA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4345" y="3319463"/>
            <a:ext cx="1803309" cy="630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Find a matching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observation</a:t>
            </a:r>
          </a:p>
        </p:txBody>
      </p:sp>
      <p:sp>
        <p:nvSpPr>
          <p:cNvPr id="18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AD976B2C-966F-463D-B644-7E4DAE3F7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053716" y="3634808"/>
            <a:ext cx="1366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5038">
            <a:solidFill>
              <a:srgbClr val="1F2937"/>
            </a:solidFill>
          </a:ln>
        </p:spPr>
      </p:sp>
      <p:sp>
        <p:nvSpPr>
          <p:cNvPr id="19" name="Diagram arrowhead">
            <a:extLst xmlns:a="http://schemas.openxmlformats.org/drawingml/2006/main">
              <a:ext uri="{FF2B5EF4-FFF2-40B4-BE49-F238E27FC236}">
                <a16:creationId xmlns:a16="http://schemas.microsoft.com/office/drawing/2014/main" id="{D1B4F0B4-6CEF-4255-B501-740850786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165839" y="3585754"/>
            <a:ext cx="98108" cy="98108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</a:ln>
        </p:spPr>
      </p:sp>
      <p:sp>
        <p:nvSpPr>
          <p:cNvPr id="20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01B14752-A3A7-473F-9708-D8ABC784A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3946" y="3179309"/>
            <a:ext cx="1915432" cy="9109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7F3"/>
          </a:solidFill>
          <a:ln xmlns:a="http://schemas.openxmlformats.org/drawingml/2006/main" w="21023">
            <a:solidFill>
              <a:srgbClr val="3F7D6E"/>
            </a:solidFill>
          </a:ln>
        </p:spPr>
      </p:sp>
      <p:sp>
        <p:nvSpPr>
          <p:cNvPr id="21" name="Diagram label: Explain what&#10;it supports">
            <a:extLst xmlns:a="http://schemas.openxmlformats.org/drawingml/2006/main">
              <a:ext uri="{FF2B5EF4-FFF2-40B4-BE49-F238E27FC236}">
                <a16:creationId xmlns:a16="http://schemas.microsoft.com/office/drawing/2014/main" id="{D4DDB70F-9A89-4AF3-8D2C-D9DD02A4B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0008" y="3319463"/>
            <a:ext cx="1803309" cy="630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Explain what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it supports</a:t>
            </a:r>
          </a:p>
        </p:txBody>
      </p:sp>
      <p:sp>
        <p:nvSpPr>
          <p:cNvPr id="22" name="Diagram label: Training example only. Checkpoint cases come later.">
            <a:extLst xmlns:a="http://schemas.openxmlformats.org/drawingml/2006/main">
              <a:ext uri="{FF2B5EF4-FFF2-40B4-BE49-F238E27FC236}">
                <a16:creationId xmlns:a16="http://schemas.microsoft.com/office/drawing/2014/main" id="{94AE3445-0E19-4DAC-8197-EAA50CC09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2545" y="4475729"/>
            <a:ext cx="6306911" cy="9109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Training example only. Checkpoint cases come later.</a:t>
            </a:r>
          </a:p>
        </p:txBody>
      </p:sp>
      <p:sp>
        <p:nvSpPr>
          <p:cNvPr id="23" name="I read the question before choosing evidence.  I select a matchi">
            <a:extLst xmlns:a="http://schemas.openxmlformats.org/drawingml/2006/main">
              <a:ext uri="{FF2B5EF4-FFF2-40B4-BE49-F238E27FC236}">
                <a16:creationId xmlns:a16="http://schemas.microsoft.com/office/drawing/2014/main" id="{99353A3A-14F9-43B0-A606-E4475FF87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29300"/>
            <a:ext cx="11125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I read the question before choosing evidence. I select a matching observation. I explain the link in one clear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sentence.</a:t>
            </a:r>
          </a:p>
        </p:txBody>
      </p:sp>
    </p:spTree>
    <p:extLst>
      <p:ext uri="{BB962C8B-B14F-4D97-AF65-F5344CB8AC3E}">
        <p14:creationId xmlns:p14="http://schemas.microsoft.com/office/powerpoint/2010/main" val="205598892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urface">
            <a:extLst xmlns:a="http://schemas.openxmlformats.org/drawingml/2006/main">
              <a:ext uri="{FF2B5EF4-FFF2-40B4-BE49-F238E27FC236}">
                <a16:creationId xmlns:a16="http://schemas.microsoft.com/office/drawing/2014/main" id="{267678BA-7D12-4F79-A939-B256A14D1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B8F0E433-C84C-46A0-8443-C7B50F4D8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BFA77F2F-B16A-4C0A-B4B0-56DC26C03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4" name="GROW SCIENCE">
            <a:extLst xmlns:a="http://schemas.openxmlformats.org/drawingml/2006/main">
              <a:ext uri="{FF2B5EF4-FFF2-40B4-BE49-F238E27FC236}">
                <a16:creationId xmlns:a16="http://schemas.microsoft.com/office/drawing/2014/main" id="{996E3F63-4051-4097-BD1F-9BC6F9C86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GROW SCIENCE</a:t>
            </a:r>
          </a:p>
        </p:txBody>
      </p:sp>
      <p:sp>
        <p:nvSpPr>
          <p:cNvPr id="5" name="I do">
            <a:extLst xmlns:a="http://schemas.openxmlformats.org/drawingml/2006/main">
              <a:ext uri="{FF2B5EF4-FFF2-40B4-BE49-F238E27FC236}">
                <a16:creationId xmlns:a16="http://schemas.microsoft.com/office/drawing/2014/main" id="{3A512504-E7F8-4BBE-9A0F-6DB788099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I do</a:t>
            </a:r>
          </a:p>
        </p:txBody>
      </p:sp>
      <p:sp>
        <p:nvSpPr>
          <p:cNvPr id="6" name="I inspect the comparison conditions">
            <a:extLst xmlns:a="http://schemas.openxmlformats.org/drawingml/2006/main">
              <a:ext uri="{FF2B5EF4-FFF2-40B4-BE49-F238E27FC236}">
                <a16:creationId xmlns:a16="http://schemas.microsoft.com/office/drawing/2014/main" id="{F71E0C75-12BD-40E4-9B76-B8AAD0EF5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I inspect the comparison conditions</a:t>
            </a:r>
          </a:p>
        </p:txBody>
      </p:sp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BB3319DB-2821-4259-A587-89A33D062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8" name="The spring science evidence exchange">
            <a:extLst xmlns:a="http://schemas.openxmlformats.org/drawingml/2006/main">
              <a:ext uri="{FF2B5EF4-FFF2-40B4-BE49-F238E27FC236}">
                <a16:creationId xmlns:a16="http://schemas.microsoft.com/office/drawing/2014/main" id="{6144AAAF-E0F0-4670-90EA-B2BDB6180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spring science evidence exchange</a:t>
            </a:r>
          </a:p>
        </p:txBody>
      </p:sp>
      <p:sp>
        <p:nvSpPr>
          <p:cNvPr id="9" name="4 / 15">
            <a:extLst xmlns:a="http://schemas.openxmlformats.org/drawingml/2006/main">
              <a:ext uri="{FF2B5EF4-FFF2-40B4-BE49-F238E27FC236}">
                <a16:creationId xmlns:a16="http://schemas.microsoft.com/office/drawing/2014/main" id="{1283CFD4-E495-4FBB-AE79-FC8D626C7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4 / 15</a:t>
            </a:r>
          </a:p>
        </p:txBody>
      </p:sp>
      <p:sp>
        <p:nvSpPr>
          <p:cNvPr id="10" name="Diagram label: Training: compare one condition">
            <a:extLst xmlns:a="http://schemas.openxmlformats.org/drawingml/2006/main">
              <a:ext uri="{FF2B5EF4-FFF2-40B4-BE49-F238E27FC236}">
                <a16:creationId xmlns:a16="http://schemas.microsoft.com/office/drawing/2014/main" id="{FE337B51-99A1-4B26-B4CC-EBF58338F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2468" y="2023042"/>
            <a:ext cx="6447064" cy="3854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66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766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Training: compare one condition</a:t>
            </a:r>
          </a:p>
        </p:txBody>
      </p:sp>
      <p:sp>
        <p:nvSpPr>
          <p:cNvPr id="11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012BF761-07D6-435E-8A0B-6FE40752D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222852" y="3039155"/>
            <a:ext cx="1681843" cy="133145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5038">
            <a:solidFill>
              <a:srgbClr val="1F2937"/>
            </a:solidFill>
          </a:ln>
        </p:spPr>
      </p:sp>
      <p:sp>
        <p:nvSpPr>
          <p:cNvPr id="12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EB8E0EC4-96CC-49AA-A941-A0D72E917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656614" y="3039155"/>
            <a:ext cx="1681843" cy="133145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5038">
            <a:solidFill>
              <a:srgbClr val="1F2937"/>
            </a:solidFill>
          </a:ln>
        </p:spPr>
      </p:sp>
      <p:sp>
        <p:nvSpPr>
          <p:cNvPr id="13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732A4059-501F-4B3D-8C42-FAB1FC876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082698" y="4370614"/>
            <a:ext cx="2803071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5038">
            <a:solidFill>
              <a:srgbClr val="3F7D6E"/>
            </a:solidFill>
          </a:ln>
        </p:spPr>
      </p:sp>
      <p:sp>
        <p:nvSpPr>
          <p:cNvPr id="14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C2B3AA48-032A-4931-85DC-92373F0EC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46384" y="4370614"/>
            <a:ext cx="2803071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5038">
            <a:solidFill>
              <a:srgbClr val="4D82A0"/>
            </a:solidFill>
          </a:ln>
        </p:spPr>
      </p:sp>
      <p:sp>
        <p:nvSpPr>
          <p:cNvPr id="15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4C9FB208-2965-47E8-B9DB-1C619B917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3082" y="2969079"/>
            <a:ext cx="525576" cy="28030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7F3"/>
          </a:solidFill>
          <a:ln xmlns:a="http://schemas.openxmlformats.org/drawingml/2006/main" w="21023">
            <a:solidFill>
              <a:srgbClr val="3F7D6E"/>
            </a:solidFill>
          </a:ln>
        </p:spPr>
      </p:sp>
      <p:sp>
        <p:nvSpPr>
          <p:cNvPr id="16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B614FC3F-5C00-4D4D-8A62-126E225A6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6845" y="2969079"/>
            <a:ext cx="525576" cy="28030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7F3"/>
          </a:solidFill>
          <a:ln xmlns:a="http://schemas.openxmlformats.org/drawingml/2006/main" w="21023">
            <a:solidFill>
              <a:srgbClr val="3F7D6E"/>
            </a:solidFill>
          </a:ln>
        </p:spPr>
      </p:sp>
      <p:sp>
        <p:nvSpPr>
          <p:cNvPr id="17" name="Diagram label: Surface A&#10;same car and release">
            <a:extLst xmlns:a="http://schemas.openxmlformats.org/drawingml/2006/main">
              <a:ext uri="{FF2B5EF4-FFF2-40B4-BE49-F238E27FC236}">
                <a16:creationId xmlns:a16="http://schemas.microsoft.com/office/drawing/2014/main" id="{A5BB17E6-3937-433C-A738-2F677C333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7737" y="4685960"/>
            <a:ext cx="2768033" cy="5606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4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4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Surface A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54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4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same car and release</a:t>
            </a:r>
          </a:p>
        </p:txBody>
      </p:sp>
      <p:sp>
        <p:nvSpPr>
          <p:cNvPr id="18" name="Diagram label: Surface B&#10;same car and release">
            <a:extLst xmlns:a="http://schemas.openxmlformats.org/drawingml/2006/main">
              <a:ext uri="{FF2B5EF4-FFF2-40B4-BE49-F238E27FC236}">
                <a16:creationId xmlns:a16="http://schemas.microsoft.com/office/drawing/2014/main" id="{685949EA-0A8A-4545-B756-6F531254F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1422" y="4685960"/>
            <a:ext cx="2768033" cy="5606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4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4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Surface B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54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4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same car and release</a:t>
            </a:r>
          </a:p>
        </p:txBody>
      </p:sp>
      <p:sp>
        <p:nvSpPr>
          <p:cNvPr id="19" name="Diagram label: Same ramp height; change only the surface.">
            <a:extLst xmlns:a="http://schemas.openxmlformats.org/drawingml/2006/main">
              <a:ext uri="{FF2B5EF4-FFF2-40B4-BE49-F238E27FC236}">
                <a16:creationId xmlns:a16="http://schemas.microsoft.com/office/drawing/2014/main" id="{CA73B042-F8E0-4F88-B5D9-2234C03CA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7737" y="2583656"/>
            <a:ext cx="5956527" cy="3153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Same ramp height; change only the surface.</a:t>
            </a:r>
          </a:p>
        </p:txBody>
      </p:sp>
      <p:sp>
        <p:nvSpPr>
          <p:cNvPr id="20" name="The training car and ramp height stay the same.  The surface cha">
            <a:extLst xmlns:a="http://schemas.openxmlformats.org/drawingml/2006/main">
              <a:ext uri="{FF2B5EF4-FFF2-40B4-BE49-F238E27FC236}">
                <a16:creationId xmlns:a16="http://schemas.microsoft.com/office/drawing/2014/main" id="{C22C04C3-54BD-4F12-A334-06C6B0A15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29300"/>
            <a:ext cx="11125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The training car and ramp height stay the same. The surface changes. A fair comparison reduces other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explanations.</a:t>
            </a:r>
          </a:p>
        </p:txBody>
      </p:sp>
    </p:spTree>
    <p:extLst>
      <p:ext uri="{BB962C8B-B14F-4D97-AF65-F5344CB8AC3E}">
        <p14:creationId xmlns:p14="http://schemas.microsoft.com/office/powerpoint/2010/main" val="15410248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urface">
            <a:extLst xmlns:a="http://schemas.openxmlformats.org/drawingml/2006/main">
              <a:ext uri="{FF2B5EF4-FFF2-40B4-BE49-F238E27FC236}">
                <a16:creationId xmlns:a16="http://schemas.microsoft.com/office/drawing/2014/main" id="{A2B8A0C1-AA78-422D-AB36-E50470E27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20E522FD-197A-445D-81A6-D1B5852A5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7D090626-2967-4F33-91A3-E713B37C9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4" name="GROW SCIENCE">
            <a:extLst xmlns:a="http://schemas.openxmlformats.org/drawingml/2006/main">
              <a:ext uri="{FF2B5EF4-FFF2-40B4-BE49-F238E27FC236}">
                <a16:creationId xmlns:a16="http://schemas.microsoft.com/office/drawing/2014/main" id="{991227F3-3B78-4A73-B9F7-57ECE1453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GROW SCIENCE</a:t>
            </a:r>
          </a:p>
        </p:txBody>
      </p:sp>
      <p:sp>
        <p:nvSpPr>
          <p:cNvPr id="5" name="I do">
            <a:extLst xmlns:a="http://schemas.openxmlformats.org/drawingml/2006/main">
              <a:ext uri="{FF2B5EF4-FFF2-40B4-BE49-F238E27FC236}">
                <a16:creationId xmlns:a16="http://schemas.microsoft.com/office/drawing/2014/main" id="{21C507D6-D3AC-4C86-BDAF-BB714F3D5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I do</a:t>
            </a:r>
          </a:p>
        </p:txBody>
      </p:sp>
      <p:sp>
        <p:nvSpPr>
          <p:cNvPr id="6" name="I bound the training claim">
            <a:extLst xmlns:a="http://schemas.openxmlformats.org/drawingml/2006/main">
              <a:ext uri="{FF2B5EF4-FFF2-40B4-BE49-F238E27FC236}">
                <a16:creationId xmlns:a16="http://schemas.microsoft.com/office/drawing/2014/main" id="{61D3DD39-1792-4D3F-9CC7-B114E63F3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I bound the training claim</a:t>
            </a:r>
          </a:p>
        </p:txBody>
      </p:sp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0142C522-07B3-4CAD-A70C-C12D16CBB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8" name="The spring science evidence exchange">
            <a:extLst xmlns:a="http://schemas.openxmlformats.org/drawingml/2006/main">
              <a:ext uri="{FF2B5EF4-FFF2-40B4-BE49-F238E27FC236}">
                <a16:creationId xmlns:a16="http://schemas.microsoft.com/office/drawing/2014/main" id="{C8B37482-0DDE-4E2B-B746-21EC084FE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spring science evidence exchange</a:t>
            </a:r>
          </a:p>
        </p:txBody>
      </p:sp>
      <p:sp>
        <p:nvSpPr>
          <p:cNvPr id="9" name="5 / 15">
            <a:extLst xmlns:a="http://schemas.openxmlformats.org/drawingml/2006/main">
              <a:ext uri="{FF2B5EF4-FFF2-40B4-BE49-F238E27FC236}">
                <a16:creationId xmlns:a16="http://schemas.microsoft.com/office/drawing/2014/main" id="{B88FA08B-EA45-40B5-BF17-B3AE33F8B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5 / 15</a:t>
            </a:r>
          </a:p>
        </p:txBody>
      </p:sp>
      <p:sp>
        <p:nvSpPr>
          <p:cNvPr id="10" name="Diagram label: Separate observation from overclaim">
            <a:extLst xmlns:a="http://schemas.openxmlformats.org/drawingml/2006/main">
              <a:ext uri="{FF2B5EF4-FFF2-40B4-BE49-F238E27FC236}">
                <a16:creationId xmlns:a16="http://schemas.microsoft.com/office/drawing/2014/main" id="{5CB02422-9C71-439E-AB23-E4EEC86E8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2468" y="2023042"/>
            <a:ext cx="6447064" cy="3503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66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766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Separate observation from overclaim</a:t>
            </a:r>
          </a:p>
        </p:txBody>
      </p:sp>
      <p:sp>
        <p:nvSpPr>
          <p:cNvPr id="11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2DAADB64-A567-4383-A06B-B6B711D25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2621" y="3179309"/>
            <a:ext cx="1915432" cy="9109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7F3"/>
          </a:solidFill>
          <a:ln xmlns:a="http://schemas.openxmlformats.org/drawingml/2006/main" w="21023">
            <a:solidFill>
              <a:srgbClr val="3F7D6E"/>
            </a:solidFill>
          </a:ln>
        </p:spPr>
      </p:sp>
      <p:sp>
        <p:nvSpPr>
          <p:cNvPr id="12" name="Diagram label: Observed:&#10;car farther on A">
            <a:extLst xmlns:a="http://schemas.openxmlformats.org/drawingml/2006/main">
              <a:ext uri="{FF2B5EF4-FFF2-40B4-BE49-F238E27FC236}">
                <a16:creationId xmlns:a16="http://schemas.microsoft.com/office/drawing/2014/main" id="{EC12D550-82CC-473D-A4AA-501F0A156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8683" y="3319463"/>
            <a:ext cx="1803309" cy="630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Observed: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car farther on A</a:t>
            </a:r>
          </a:p>
        </p:txBody>
      </p:sp>
      <p:sp>
        <p:nvSpPr>
          <p:cNvPr id="13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5C2459AD-E7C8-492C-97B0-5CDD5C57D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28054" y="3634808"/>
            <a:ext cx="1366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5038">
            <a:solidFill>
              <a:srgbClr val="1F2937"/>
            </a:solidFill>
          </a:ln>
        </p:spPr>
      </p:sp>
      <p:sp>
        <p:nvSpPr>
          <p:cNvPr id="14" name="Diagram arrowhead">
            <a:extLst xmlns:a="http://schemas.openxmlformats.org/drawingml/2006/main">
              <a:ext uri="{FF2B5EF4-FFF2-40B4-BE49-F238E27FC236}">
                <a16:creationId xmlns:a16="http://schemas.microsoft.com/office/drawing/2014/main" id="{4155BA0C-9A71-45B3-838D-CCE27F34D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040176" y="3585754"/>
            <a:ext cx="98108" cy="98108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</a:ln>
        </p:spPr>
      </p:sp>
      <p:sp>
        <p:nvSpPr>
          <p:cNvPr id="15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C75E7B65-E0C6-411C-991E-31641E8BB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8284" y="3179309"/>
            <a:ext cx="1915432" cy="9109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7F3"/>
          </a:solidFill>
          <a:ln xmlns:a="http://schemas.openxmlformats.org/drawingml/2006/main" w="21023">
            <a:solidFill>
              <a:srgbClr val="3F7D6E"/>
            </a:solidFill>
          </a:ln>
        </p:spPr>
      </p:sp>
      <p:sp>
        <p:nvSpPr>
          <p:cNvPr id="16" name="Diagram label: Supported:&#10;in these trials">
            <a:extLst xmlns:a="http://schemas.openxmlformats.org/drawingml/2006/main">
              <a:ext uri="{FF2B5EF4-FFF2-40B4-BE49-F238E27FC236}">
                <a16:creationId xmlns:a16="http://schemas.microsoft.com/office/drawing/2014/main" id="{45801A84-D5CB-4AF6-A43E-940E65B12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4345" y="3319463"/>
            <a:ext cx="1803309" cy="630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Supported: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in these trials</a:t>
            </a:r>
          </a:p>
        </p:txBody>
      </p:sp>
      <p:sp>
        <p:nvSpPr>
          <p:cNvPr id="17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09E34366-4D36-4137-83E3-81BE1EE1B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053716" y="3634808"/>
            <a:ext cx="1366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5038">
            <a:solidFill>
              <a:srgbClr val="1F2937"/>
            </a:solidFill>
          </a:ln>
        </p:spPr>
      </p:sp>
      <p:sp>
        <p:nvSpPr>
          <p:cNvPr id="18" name="Diagram arrowhead">
            <a:extLst xmlns:a="http://schemas.openxmlformats.org/drawingml/2006/main">
              <a:ext uri="{FF2B5EF4-FFF2-40B4-BE49-F238E27FC236}">
                <a16:creationId xmlns:a16="http://schemas.microsoft.com/office/drawing/2014/main" id="{3759928E-B950-46E9-ADC7-B330BEF02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165839" y="3585754"/>
            <a:ext cx="98108" cy="98108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</a:ln>
        </p:spPr>
      </p:sp>
      <p:sp>
        <p:nvSpPr>
          <p:cNvPr id="19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DCE244CF-74BE-419D-9ED0-AEC52CFCB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3946" y="3179309"/>
            <a:ext cx="1915432" cy="9109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7F3"/>
          </a:solidFill>
          <a:ln xmlns:a="http://schemas.openxmlformats.org/drawingml/2006/main" w="21023">
            <a:solidFill>
              <a:srgbClr val="3F7D6E"/>
            </a:solidFill>
          </a:ln>
        </p:spPr>
      </p:sp>
      <p:sp>
        <p:nvSpPr>
          <p:cNvPr id="20" name="Diagram label: Not established:&#10;always, everywhere">
            <a:extLst xmlns:a="http://schemas.openxmlformats.org/drawingml/2006/main">
              <a:ext uri="{FF2B5EF4-FFF2-40B4-BE49-F238E27FC236}">
                <a16:creationId xmlns:a16="http://schemas.microsoft.com/office/drawing/2014/main" id="{173D9951-CE3B-48E1-928C-F2AF99A28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0008" y="3319463"/>
            <a:ext cx="1803309" cy="630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Not established: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always, everywhere</a:t>
            </a:r>
          </a:p>
        </p:txBody>
      </p:sp>
      <p:sp>
        <p:nvSpPr>
          <p:cNvPr id="21" name="Diagram label: Training sample data: A 60, 58 cm; B 40, 42 cm.&#10;A claim must stay within the evidence.">
            <a:extLst xmlns:a="http://schemas.openxmlformats.org/drawingml/2006/main">
              <a:ext uri="{FF2B5EF4-FFF2-40B4-BE49-F238E27FC236}">
                <a16:creationId xmlns:a16="http://schemas.microsoft.com/office/drawing/2014/main" id="{50AF63A3-161B-4075-B120-B88D611D9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2545" y="4475729"/>
            <a:ext cx="6306911" cy="9109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Training sample data: A 60, 58 cm; B 40, 42 cm.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 claim must stay within the evidence.</a:t>
            </a:r>
          </a:p>
        </p:txBody>
      </p:sp>
      <p:sp>
        <p:nvSpPr>
          <p:cNvPr id="22" name="The A values exceed the B values here.  I use a pair of values w">
            <a:extLst xmlns:a="http://schemas.openxmlformats.org/drawingml/2006/main">
              <a:ext uri="{FF2B5EF4-FFF2-40B4-BE49-F238E27FC236}">
                <a16:creationId xmlns:a16="http://schemas.microsoft.com/office/drawing/2014/main" id="{45924039-79F2-440D-A3C0-A79765887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29300"/>
            <a:ext cx="11125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The A values exceed the B values here. I use a pair of values with centimetres. I do not promise the same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result everywhere.</a:t>
            </a:r>
          </a:p>
        </p:txBody>
      </p:sp>
    </p:spTree>
    <p:extLst>
      <p:ext uri="{BB962C8B-B14F-4D97-AF65-F5344CB8AC3E}">
        <p14:creationId xmlns:p14="http://schemas.microsoft.com/office/powerpoint/2010/main" val="89120398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urface">
            <a:extLst xmlns:a="http://schemas.openxmlformats.org/drawingml/2006/main">
              <a:ext uri="{FF2B5EF4-FFF2-40B4-BE49-F238E27FC236}">
                <a16:creationId xmlns:a16="http://schemas.microsoft.com/office/drawing/2014/main" id="{272535F2-8342-4062-BA3D-B47555370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3D1D8EE2-7770-4A75-A9B7-5311C9352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00C3EA93-F520-420F-BF8D-DAB01DCCB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4" name="GROW SCIENCE">
            <a:extLst xmlns:a="http://schemas.openxmlformats.org/drawingml/2006/main">
              <a:ext uri="{FF2B5EF4-FFF2-40B4-BE49-F238E27FC236}">
                <a16:creationId xmlns:a16="http://schemas.microsoft.com/office/drawing/2014/main" id="{92856287-A16C-44B0-8F47-F17AEB355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GROW SCIENCE</a:t>
            </a:r>
          </a:p>
        </p:txBody>
      </p:sp>
      <p:sp>
        <p:nvSpPr>
          <p:cNvPr id="5" name="We do">
            <a:extLst xmlns:a="http://schemas.openxmlformats.org/drawingml/2006/main">
              <a:ext uri="{FF2B5EF4-FFF2-40B4-BE49-F238E27FC236}">
                <a16:creationId xmlns:a16="http://schemas.microsoft.com/office/drawing/2014/main" id="{3FC2336E-049C-4FC2-9706-9AF85B364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We do</a:t>
            </a:r>
          </a:p>
        </p:txBody>
      </p:sp>
      <p:sp>
        <p:nvSpPr>
          <p:cNvPr id="6" name="8 min">
            <a:extLst xmlns:a="http://schemas.openxmlformats.org/drawingml/2006/main">
              <a:ext uri="{FF2B5EF4-FFF2-40B4-BE49-F238E27FC236}">
                <a16:creationId xmlns:a16="http://schemas.microsoft.com/office/drawing/2014/main" id="{08EC6D6E-F9F4-448C-8729-FB2D5F953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8 min</a:t>
            </a:r>
          </a:p>
        </p:txBody>
      </p:sp>
      <p:sp>
        <p:nvSpPr>
          <p:cNvPr id="7" name="Training editor: improve the response">
            <a:extLst xmlns:a="http://schemas.openxmlformats.org/drawingml/2006/main">
              <a:ext uri="{FF2B5EF4-FFF2-40B4-BE49-F238E27FC236}">
                <a16:creationId xmlns:a16="http://schemas.microsoft.com/office/drawing/2014/main" id="{C352F223-8FE0-4616-846A-8B34380EB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Training editor: improve the response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1AB0E968-590B-432B-BD44-5003BA6E0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The spring science evidence exchange">
            <a:extLst xmlns:a="http://schemas.openxmlformats.org/drawingml/2006/main">
              <a:ext uri="{FF2B5EF4-FFF2-40B4-BE49-F238E27FC236}">
                <a16:creationId xmlns:a16="http://schemas.microsoft.com/office/drawing/2014/main" id="{B6ED5304-2F15-482C-A00C-6FFEE359A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spring science evidence exchange</a:t>
            </a:r>
          </a:p>
        </p:txBody>
      </p:sp>
      <p:sp>
        <p:nvSpPr>
          <p:cNvPr id="10" name="6 / 15">
            <a:extLst xmlns:a="http://schemas.openxmlformats.org/drawingml/2006/main">
              <a:ext uri="{FF2B5EF4-FFF2-40B4-BE49-F238E27FC236}">
                <a16:creationId xmlns:a16="http://schemas.microsoft.com/office/drawing/2014/main" id="{7CC47D02-3973-44FD-8124-0DFA53DEE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6 / 15</a:t>
            </a:r>
          </a:p>
        </p:txBody>
      </p:sp>
      <p:sp>
        <p:nvSpPr>
          <p:cNvPr id="11" name="W1. On which surface did the car travel farther in both trials? ">
            <a:extLst xmlns:a="http://schemas.openxmlformats.org/drawingml/2006/main">
              <a:ext uri="{FF2B5EF4-FFF2-40B4-BE49-F238E27FC236}">
                <a16:creationId xmlns:a16="http://schemas.microsoft.com/office/drawing/2014/main" id="{9489408E-77C8-4F31-AEC6-3F631A8E9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95475"/>
            <a:ext cx="11125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95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W1. On which surface did the car travel farther in both trials? W2. Give one pair of numbers and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95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95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units. W3. Repair “A always wins everywhere”.</a:t>
            </a:r>
          </a:p>
        </p:txBody>
      </p:sp>
      <p:graphicFrame>
        <p:nvGraphicFramePr>
          <p:cNvPr id="25" name=""/>
          <p:cNvGraphicFramePr/>
          <p:nvPr/>
        </p:nvGraphicFramePr>
        <p:xfrm>
          <a:off xmlns:a="http://schemas.openxmlformats.org/drawingml/2006/main" x="533400" y="2581275"/>
          <a:ext xmlns:a="http://schemas.openxmlformats.org/drawingml/2006/main" cx="11125200" cy="1515904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4072106"/>
                <a:gridCol w="3526547"/>
                <a:gridCol w="3526547"/>
              </a:tblGrid>
              <a:tr h="505301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Training surface</a:t>
                      </a:r>
                    </a:p>
                  </a:txBody>
                  <a:tcPr marL="95250" marR="95250" marT="95250" marB="95250" anchor="ctr">
                    <a:solidFill>
                      <a:srgbClr val="4D82A0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Trial 1 / cm</a:t>
                      </a:r>
                    </a:p>
                  </a:txBody>
                  <a:tcPr marL="95250" marR="95250" marT="95250" marB="95250" anchor="ctr">
                    <a:solidFill>
                      <a:srgbClr val="4D82A0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Trial 2 / cm</a:t>
                      </a:r>
                    </a:p>
                  </a:txBody>
                  <a:tcPr marL="95250" marR="95250" marT="95250" marB="95250" anchor="ctr">
                    <a:solidFill>
                      <a:srgbClr val="4D82A0"/>
                    </a:solidFill>
                  </a:tcPr>
                </a:tc>
              </a:tr>
              <a:tr h="505301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A</a:t>
                      </a:r>
                    </a:p>
                  </a:txBody>
                  <a:tcPr marL="95250" marR="95250" marT="95250" marB="95250" anchor="ctr">
                    <a:solidFill>
                      <a:srgbClr val="F4F7F9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60</a:t>
                      </a:r>
                    </a:p>
                  </a:txBody>
                  <a:tcPr marL="95250" marR="95250" marT="95250" marB="95250" anchor="ctr">
                    <a:solidFill>
                      <a:srgbClr val="F4F7F9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58</a:t>
                      </a:r>
                    </a:p>
                  </a:txBody>
                  <a:tcPr marL="95250" marR="95250" marT="95250" marB="95250" anchor="ctr">
                    <a:solidFill>
                      <a:srgbClr val="F4F7F9"/>
                    </a:solidFill>
                  </a:tcPr>
                </a:tc>
              </a:tr>
              <a:tr h="505301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B</a:t>
                      </a: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40</a:t>
                      </a: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42</a:t>
                      </a: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Constructed training data; different from the checkpoint.">
            <a:extLst xmlns:a="http://schemas.openxmlformats.org/drawingml/2006/main">
              <a:ext uri="{FF2B5EF4-FFF2-40B4-BE49-F238E27FC236}">
                <a16:creationId xmlns:a16="http://schemas.microsoft.com/office/drawing/2014/main" id="{EF18E0A9-9A4C-4050-8BC8-584A98F61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11479"/>
            <a:ext cx="11125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Constructed training data; different from the checkpoint.</a:t>
            </a:r>
          </a:p>
        </p:txBody>
      </p:sp>
    </p:spTree>
    <p:extLst>
      <p:ext uri="{BB962C8B-B14F-4D97-AF65-F5344CB8AC3E}">
        <p14:creationId xmlns:p14="http://schemas.microsoft.com/office/powerpoint/2010/main" val="56637189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urface">
            <a:extLst xmlns:a="http://schemas.openxmlformats.org/drawingml/2006/main">
              <a:ext uri="{FF2B5EF4-FFF2-40B4-BE49-F238E27FC236}">
                <a16:creationId xmlns:a16="http://schemas.microsoft.com/office/drawing/2014/main" id="{20FEEE27-10D4-4BD7-BEDA-DFAB428E1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CD1B2F18-F77F-4601-9A57-229D39BC2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8D3ACED1-65AF-4A3E-9EAC-B93A4F273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4" name="GROW SCIENCE">
            <a:extLst xmlns:a="http://schemas.openxmlformats.org/drawingml/2006/main">
              <a:ext uri="{FF2B5EF4-FFF2-40B4-BE49-F238E27FC236}">
                <a16:creationId xmlns:a16="http://schemas.microsoft.com/office/drawing/2014/main" id="{E1B8C3D2-A0C8-48F7-A90B-81827E9D2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GROW SCIENCE</a:t>
            </a:r>
          </a:p>
        </p:txBody>
      </p:sp>
      <p:sp>
        <p:nvSpPr>
          <p:cNvPr id="5" name="We do">
            <a:extLst xmlns:a="http://schemas.openxmlformats.org/drawingml/2006/main">
              <a:ext uri="{FF2B5EF4-FFF2-40B4-BE49-F238E27FC236}">
                <a16:creationId xmlns:a16="http://schemas.microsoft.com/office/drawing/2014/main" id="{1247D3D6-0501-41BF-82DB-51F88786C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We do</a:t>
            </a:r>
          </a:p>
        </p:txBody>
      </p:sp>
      <p:sp>
        <p:nvSpPr>
          <p:cNvPr id="6" name="Choose useful feedback">
            <a:extLst xmlns:a="http://schemas.openxmlformats.org/drawingml/2006/main">
              <a:ext uri="{FF2B5EF4-FFF2-40B4-BE49-F238E27FC236}">
                <a16:creationId xmlns:a16="http://schemas.microsoft.com/office/drawing/2014/main" id="{1CED9C1C-5B8A-49C5-A422-7102ACF7A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Choose useful feedback</a:t>
            </a:r>
          </a:p>
        </p:txBody>
      </p:sp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5D313C52-B631-498F-977C-98663CDE8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8" name="The spring science evidence exchange">
            <a:extLst xmlns:a="http://schemas.openxmlformats.org/drawingml/2006/main">
              <a:ext uri="{FF2B5EF4-FFF2-40B4-BE49-F238E27FC236}">
                <a16:creationId xmlns:a16="http://schemas.microsoft.com/office/drawing/2014/main" id="{9E985D12-8AAB-4550-9A40-DC6D3DF48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spring science evidence exchange</a:t>
            </a:r>
          </a:p>
        </p:txBody>
      </p:sp>
      <p:sp>
        <p:nvSpPr>
          <p:cNvPr id="9" name="7 / 15">
            <a:extLst xmlns:a="http://schemas.openxmlformats.org/drawingml/2006/main">
              <a:ext uri="{FF2B5EF4-FFF2-40B4-BE49-F238E27FC236}">
                <a16:creationId xmlns:a16="http://schemas.microsoft.com/office/drawing/2014/main" id="{B80B40FC-F1E3-464A-B03F-3195AABE9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7 / 15</a:t>
            </a:r>
          </a:p>
        </p:txBody>
      </p:sp>
      <p:sp>
        <p:nvSpPr>
          <p:cNvPr id="10" name="Response: “A is best because I like it.”">
            <a:extLst xmlns:a="http://schemas.openxmlformats.org/drawingml/2006/main">
              <a:ext uri="{FF2B5EF4-FFF2-40B4-BE49-F238E27FC236}">
                <a16:creationId xmlns:a16="http://schemas.microsoft.com/office/drawing/2014/main" id="{ADE70FB9-8604-4A6E-91B6-08C533AAA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Response: “A is best because I like it.”</a:t>
            </a:r>
          </a:p>
        </p:txBody>
      </p:sp>
      <p:sp>
        <p:nvSpPr>
          <p:cNvPr id="11" name="Which feedback helps: add a number, or write faster?">
            <a:extLst xmlns:a="http://schemas.openxmlformats.org/drawingml/2006/main">
              <a:ext uri="{FF2B5EF4-FFF2-40B4-BE49-F238E27FC236}">
                <a16:creationId xmlns:a16="http://schemas.microsoft.com/office/drawing/2014/main" id="{56C3EBE5-ACA7-482A-8236-E18D9C042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22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Which feedback helps: add a number, or write faster?</a:t>
            </a:r>
          </a:p>
        </p:txBody>
      </p:sp>
      <p:sp>
        <p:nvSpPr>
          <p:cNvPr id="12" name="Explain your choice.">
            <a:extLst xmlns:a="http://schemas.openxmlformats.org/drawingml/2006/main">
              <a:ext uri="{FF2B5EF4-FFF2-40B4-BE49-F238E27FC236}">
                <a16:creationId xmlns:a16="http://schemas.microsoft.com/office/drawing/2014/main" id="{A8384C01-66C0-4C24-B5BC-89D6D6CDD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35630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Explain your choice.</a:t>
            </a:r>
          </a:p>
        </p:txBody>
      </p:sp>
    </p:spTree>
    <p:extLst>
      <p:ext uri="{BB962C8B-B14F-4D97-AF65-F5344CB8AC3E}">
        <p14:creationId xmlns:p14="http://schemas.microsoft.com/office/powerpoint/2010/main" val="35832064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urface">
            <a:extLst xmlns:a="http://schemas.openxmlformats.org/drawingml/2006/main">
              <a:ext uri="{FF2B5EF4-FFF2-40B4-BE49-F238E27FC236}">
                <a16:creationId xmlns:a16="http://schemas.microsoft.com/office/drawing/2014/main" id="{9D28583C-03AB-41EF-A6A5-B298F5FE2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D45F9359-2948-47D4-BFF2-484C83BB2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A40D0889-F5B3-4B49-B548-B7526E796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4" name="GROW SCIENCE">
            <a:extLst xmlns:a="http://schemas.openxmlformats.org/drawingml/2006/main">
              <a:ext uri="{FF2B5EF4-FFF2-40B4-BE49-F238E27FC236}">
                <a16:creationId xmlns:a16="http://schemas.microsoft.com/office/drawing/2014/main" id="{426775E2-4479-4329-B5AE-44F945F24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GROW SCIENCE</a:t>
            </a:r>
          </a:p>
        </p:txBody>
      </p:sp>
      <p:sp>
        <p:nvSpPr>
          <p:cNvPr id="5" name="We do">
            <a:extLst xmlns:a="http://schemas.openxmlformats.org/drawingml/2006/main">
              <a:ext uri="{FF2B5EF4-FFF2-40B4-BE49-F238E27FC236}">
                <a16:creationId xmlns:a16="http://schemas.microsoft.com/office/drawing/2014/main" id="{91CE318D-8271-4F10-8D6E-196EF62E0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We do</a:t>
            </a:r>
          </a:p>
        </p:txBody>
      </p:sp>
      <p:sp>
        <p:nvSpPr>
          <p:cNvPr id="6" name="Prepare for independent work">
            <a:extLst xmlns:a="http://schemas.openxmlformats.org/drawingml/2006/main">
              <a:ext uri="{FF2B5EF4-FFF2-40B4-BE49-F238E27FC236}">
                <a16:creationId xmlns:a16="http://schemas.microsoft.com/office/drawing/2014/main" id="{10807284-CD17-4328-B551-469BDE14C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Prepare for independent work</a:t>
            </a:r>
          </a:p>
        </p:txBody>
      </p:sp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85875F3F-3ECC-46C6-9883-CA97BCFCA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8" name="The spring science evidence exchange">
            <a:extLst xmlns:a="http://schemas.openxmlformats.org/drawingml/2006/main">
              <a:ext uri="{FF2B5EF4-FFF2-40B4-BE49-F238E27FC236}">
                <a16:creationId xmlns:a16="http://schemas.microsoft.com/office/drawing/2014/main" id="{B3E030BB-D45F-429B-B3D4-13E98D52D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spring science evidence exchange</a:t>
            </a:r>
          </a:p>
        </p:txBody>
      </p:sp>
      <p:sp>
        <p:nvSpPr>
          <p:cNvPr id="9" name="8 / 15">
            <a:extLst xmlns:a="http://schemas.openxmlformats.org/drawingml/2006/main">
              <a:ext uri="{FF2B5EF4-FFF2-40B4-BE49-F238E27FC236}">
                <a16:creationId xmlns:a16="http://schemas.microsoft.com/office/drawing/2014/main" id="{281D936A-67C3-49E0-8069-F08CB980F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8 / 15</a:t>
            </a:r>
          </a:p>
        </p:txBody>
      </p:sp>
      <p:sp>
        <p:nvSpPr>
          <p:cNvPr id="10" name="Keep the response routine.">
            <a:extLst xmlns:a="http://schemas.openxmlformats.org/drawingml/2006/main">
              <a:ext uri="{FF2B5EF4-FFF2-40B4-BE49-F238E27FC236}">
                <a16:creationId xmlns:a16="http://schemas.microsoft.com/office/drawing/2014/main" id="{D4C8AC2F-B9B5-48EF-A3B8-7E06339E3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Keep the response routine.</a:t>
            </a:r>
          </a:p>
        </p:txBody>
      </p:sp>
      <p:sp>
        <p:nvSpPr>
          <p:cNvPr id="11" name="Put the training sheet aside.">
            <a:extLst xmlns:a="http://schemas.openxmlformats.org/drawingml/2006/main">
              <a:ext uri="{FF2B5EF4-FFF2-40B4-BE49-F238E27FC236}">
                <a16:creationId xmlns:a16="http://schemas.microsoft.com/office/drawing/2014/main" id="{F44583F3-C3C6-4098-B978-1D6D4B6D2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22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Put the training sheet aside.</a:t>
            </a:r>
          </a:p>
        </p:txBody>
      </p:sp>
      <p:sp>
        <p:nvSpPr>
          <p:cNvPr id="12" name="Wait for your selected checkpoint page.">
            <a:extLst xmlns:a="http://schemas.openxmlformats.org/drawingml/2006/main">
              <a:ext uri="{FF2B5EF4-FFF2-40B4-BE49-F238E27FC236}">
                <a16:creationId xmlns:a16="http://schemas.microsoft.com/office/drawing/2014/main" id="{A60AB622-DAC7-482A-9C6A-C8F87A4D8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35630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Wait for your selected checkpoint page.</a:t>
            </a:r>
          </a:p>
        </p:txBody>
      </p:sp>
    </p:spTree>
    <p:extLst>
      <p:ext uri="{BB962C8B-B14F-4D97-AF65-F5344CB8AC3E}">
        <p14:creationId xmlns:p14="http://schemas.microsoft.com/office/powerpoint/2010/main" val="138450938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urface">
            <a:extLst xmlns:a="http://schemas.openxmlformats.org/drawingml/2006/main">
              <a:ext uri="{FF2B5EF4-FFF2-40B4-BE49-F238E27FC236}">
                <a16:creationId xmlns:a16="http://schemas.microsoft.com/office/drawing/2014/main" id="{25D67DE3-D271-47A0-AF7C-61D6A3ECD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14C20FD6-8A48-4DC7-A8C0-12FE2B0B2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D37FB009-C84A-423A-9E44-1B2D74EF1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4" name="GROW SCIENCE">
            <a:extLst xmlns:a="http://schemas.openxmlformats.org/drawingml/2006/main">
              <a:ext uri="{FF2B5EF4-FFF2-40B4-BE49-F238E27FC236}">
                <a16:creationId xmlns:a16="http://schemas.microsoft.com/office/drawing/2014/main" id="{CC93BBEA-7B4B-4D50-9510-62BC139BC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GROW SCIENCE</a:t>
            </a:r>
          </a:p>
        </p:txBody>
      </p:sp>
      <p:sp>
        <p:nvSpPr>
          <p:cNvPr id="5" name="Hinge">
            <a:extLst xmlns:a="http://schemas.openxmlformats.org/drawingml/2006/main">
              <a:ext uri="{FF2B5EF4-FFF2-40B4-BE49-F238E27FC236}">
                <a16:creationId xmlns:a16="http://schemas.microsoft.com/office/drawing/2014/main" id="{9A95021C-A7CA-4B73-B0B7-0C55F7025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Hinge</a:t>
            </a:r>
          </a:p>
        </p:txBody>
      </p:sp>
      <p:sp>
        <p:nvSpPr>
          <p:cNvPr id="6" name="3 min">
            <a:extLst xmlns:a="http://schemas.openxmlformats.org/drawingml/2006/main">
              <a:ext uri="{FF2B5EF4-FFF2-40B4-BE49-F238E27FC236}">
                <a16:creationId xmlns:a16="http://schemas.microsoft.com/office/drawing/2014/main" id="{9413A092-53F9-4BCE-8525-8F038881F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3 min</a:t>
            </a:r>
          </a:p>
        </p:txBody>
      </p:sp>
      <p:sp>
        <p:nvSpPr>
          <p:cNvPr id="7" name="Which is a useful evidence sentence?">
            <a:extLst xmlns:a="http://schemas.openxmlformats.org/drawingml/2006/main">
              <a:ext uri="{FF2B5EF4-FFF2-40B4-BE49-F238E27FC236}">
                <a16:creationId xmlns:a16="http://schemas.microsoft.com/office/drawing/2014/main" id="{943ECCCA-59C5-4E35-A3E9-6BF04AEBF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Which is a useful evidence sentence?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B79ACBEA-3C6F-4A0B-A89A-E93DBD8FD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The spring science evidence exchange">
            <a:extLst xmlns:a="http://schemas.openxmlformats.org/drawingml/2006/main">
              <a:ext uri="{FF2B5EF4-FFF2-40B4-BE49-F238E27FC236}">
                <a16:creationId xmlns:a16="http://schemas.microsoft.com/office/drawing/2014/main" id="{708EEDB3-1980-4DD2-BAE4-5CB0083DA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spring science evidence exchange</a:t>
            </a:r>
          </a:p>
        </p:txBody>
      </p:sp>
      <p:sp>
        <p:nvSpPr>
          <p:cNvPr id="10" name="9 / 15">
            <a:extLst xmlns:a="http://schemas.openxmlformats.org/drawingml/2006/main">
              <a:ext uri="{FF2B5EF4-FFF2-40B4-BE49-F238E27FC236}">
                <a16:creationId xmlns:a16="http://schemas.microsoft.com/office/drawing/2014/main" id="{205F5099-EF70-46D3-AADF-B4D34C9FC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9 / 15</a:t>
            </a:r>
          </a:p>
        </p:txBody>
      </p:sp>
      <p:sp>
        <p:nvSpPr>
          <p:cNvPr id="11" name="Use the training example only.">
            <a:extLst xmlns:a="http://schemas.openxmlformats.org/drawingml/2006/main">
              <a:ext uri="{FF2B5EF4-FFF2-40B4-BE49-F238E27FC236}">
                <a16:creationId xmlns:a16="http://schemas.microsoft.com/office/drawing/2014/main" id="{AF158928-5C74-4E79-A9B9-7AF84449C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66900"/>
            <a:ext cx="111252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1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Use the training example only.</a:t>
            </a:r>
          </a:p>
        </p:txBody>
      </p:sp>
      <p:sp>
        <p:nvSpPr>
          <p:cNvPr id="12" name="surface">
            <a:extLst xmlns:a="http://schemas.openxmlformats.org/drawingml/2006/main">
              <a:ext uri="{FF2B5EF4-FFF2-40B4-BE49-F238E27FC236}">
                <a16:creationId xmlns:a16="http://schemas.microsoft.com/office/drawing/2014/main" id="{6BDAD95D-84AD-490D-93C4-29F3D9E92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52675"/>
            <a:ext cx="11125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13" name="surface">
            <a:extLst xmlns:a="http://schemas.openxmlformats.org/drawingml/2006/main">
              <a:ext uri="{FF2B5EF4-FFF2-40B4-BE49-F238E27FC236}">
                <a16:creationId xmlns:a16="http://schemas.microsoft.com/office/drawing/2014/main" id="{94FDC6D6-D434-4F39-A9DC-458DA7277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52675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14" name="A">
            <a:extLst xmlns:a="http://schemas.openxmlformats.org/drawingml/2006/main">
              <a:ext uri="{FF2B5EF4-FFF2-40B4-BE49-F238E27FC236}">
                <a16:creationId xmlns:a16="http://schemas.microsoft.com/office/drawing/2014/main" id="{B7812EC5-1885-45BD-AE28-7CF9EB0D0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495550"/>
            <a:ext cx="476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A</a:t>
            </a:r>
          </a:p>
        </p:txBody>
      </p:sp>
      <p:sp>
        <p:nvSpPr>
          <p:cNvPr id="15" name="A is better because it looks nicer.">
            <a:extLst xmlns:a="http://schemas.openxmlformats.org/drawingml/2006/main">
              <a:ext uri="{FF2B5EF4-FFF2-40B4-BE49-F238E27FC236}">
                <a16:creationId xmlns:a16="http://schemas.microsoft.com/office/drawing/2014/main" id="{10D44804-7E80-4BE9-83A6-E971AA5A3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2495550"/>
            <a:ext cx="10144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 is better because it looks nicer.</a:t>
            </a:r>
          </a:p>
        </p:txBody>
      </p:sp>
      <p:sp>
        <p:nvSpPr>
          <p:cNvPr id="16" name="surface">
            <a:extLst xmlns:a="http://schemas.openxmlformats.org/drawingml/2006/main">
              <a:ext uri="{FF2B5EF4-FFF2-40B4-BE49-F238E27FC236}">
                <a16:creationId xmlns:a16="http://schemas.microsoft.com/office/drawing/2014/main" id="{FF2A421A-D753-464F-A605-AF6F46F00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33775"/>
            <a:ext cx="11125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17" name="surface">
            <a:extLst xmlns:a="http://schemas.openxmlformats.org/drawingml/2006/main">
              <a:ext uri="{FF2B5EF4-FFF2-40B4-BE49-F238E27FC236}">
                <a16:creationId xmlns:a16="http://schemas.microsoft.com/office/drawing/2014/main" id="{18CBF503-8591-47A7-A676-EE4668D50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33775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18" name="B">
            <a:extLst xmlns:a="http://schemas.openxmlformats.org/drawingml/2006/main">
              <a:ext uri="{FF2B5EF4-FFF2-40B4-BE49-F238E27FC236}">
                <a16:creationId xmlns:a16="http://schemas.microsoft.com/office/drawing/2014/main" id="{7E8403E0-6740-4868-B316-851A2C9B5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676650"/>
            <a:ext cx="476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B</a:t>
            </a:r>
          </a:p>
        </p:txBody>
      </p:sp>
      <p:sp>
        <p:nvSpPr>
          <p:cNvPr id="19" name="In trial 1, the car travelled 60 cm on A and 40 cm on B.">
            <a:extLst xmlns:a="http://schemas.openxmlformats.org/drawingml/2006/main">
              <a:ext uri="{FF2B5EF4-FFF2-40B4-BE49-F238E27FC236}">
                <a16:creationId xmlns:a16="http://schemas.microsoft.com/office/drawing/2014/main" id="{C12B0D60-E8E6-4B4F-8883-2180D3AE4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3676650"/>
            <a:ext cx="10144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In trial 1, the car travelled 60 cm on A and 40 cm on B.</a:t>
            </a:r>
          </a:p>
        </p:txBody>
      </p:sp>
      <p:sp>
        <p:nvSpPr>
          <p:cNvPr id="20" name="surface">
            <a:extLst xmlns:a="http://schemas.openxmlformats.org/drawingml/2006/main">
              <a:ext uri="{FF2B5EF4-FFF2-40B4-BE49-F238E27FC236}">
                <a16:creationId xmlns:a16="http://schemas.microsoft.com/office/drawing/2014/main" id="{D80E6364-0689-42A9-9936-8F8B6BDAD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14875"/>
            <a:ext cx="11125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21" name="surface">
            <a:extLst xmlns:a="http://schemas.openxmlformats.org/drawingml/2006/main">
              <a:ext uri="{FF2B5EF4-FFF2-40B4-BE49-F238E27FC236}">
                <a16:creationId xmlns:a16="http://schemas.microsoft.com/office/drawing/2014/main" id="{886C13B8-BF60-400B-A421-A69FFDE19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14875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22" name="C">
            <a:extLst xmlns:a="http://schemas.openxmlformats.org/drawingml/2006/main">
              <a:ext uri="{FF2B5EF4-FFF2-40B4-BE49-F238E27FC236}">
                <a16:creationId xmlns:a16="http://schemas.microsoft.com/office/drawing/2014/main" id="{19E03D2B-922B-405E-B07B-2BB01AF9F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857750"/>
            <a:ext cx="476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C</a:t>
            </a:r>
          </a:p>
        </p:txBody>
      </p:sp>
      <p:sp>
        <p:nvSpPr>
          <p:cNvPr id="23" name="The car must always travel farther on A in every situation.">
            <a:extLst xmlns:a="http://schemas.openxmlformats.org/drawingml/2006/main">
              <a:ext uri="{FF2B5EF4-FFF2-40B4-BE49-F238E27FC236}">
                <a16:creationId xmlns:a16="http://schemas.microsoft.com/office/drawing/2014/main" id="{6B43356B-6DC4-4178-B399-7FC1FB918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857750"/>
            <a:ext cx="10144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The car must always travel farther on A in every situation.</a:t>
            </a:r>
          </a:p>
        </p:txBody>
      </p:sp>
    </p:spTree>
    <p:extLst>
      <p:ext uri="{BB962C8B-B14F-4D97-AF65-F5344CB8AC3E}">
        <p14:creationId xmlns:p14="http://schemas.microsoft.com/office/powerpoint/2010/main" val="1098356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urface">
            <a:extLst xmlns:a="http://schemas.openxmlformats.org/drawingml/2006/main">
              <a:ext uri="{FF2B5EF4-FFF2-40B4-BE49-F238E27FC236}">
                <a16:creationId xmlns:a16="http://schemas.microsoft.com/office/drawing/2014/main" id="{BE0B2873-EDD5-4F53-81CE-8336983D4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63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768A2FE0-A41C-4FE2-A078-8E440E267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E755CDE0-EE19-4E02-8FB1-641422F5A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63B"/>
          </a:solidFill>
          <a:ln xmlns:a="http://schemas.openxmlformats.org/drawingml/2006/main" w="0">
            <a:noFill/>
          </a:ln>
        </p:spPr>
      </p:sp>
      <p:sp>
        <p:nvSpPr>
          <p:cNvPr id="4" name="GROW SCIENCE">
            <a:extLst xmlns:a="http://schemas.openxmlformats.org/drawingml/2006/main">
              <a:ext uri="{FF2B5EF4-FFF2-40B4-BE49-F238E27FC236}">
                <a16:creationId xmlns:a16="http://schemas.microsoft.com/office/drawing/2014/main" id="{E43D9313-EFDE-4A5F-884B-1543A3B7E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rPr>
              <a:t>GROW SCIENCE</a:t>
            </a:r>
          </a:p>
        </p:txBody>
      </p:sp>
      <p:sp>
        <p:nvSpPr>
          <p:cNvPr id="5" name="You do">
            <a:extLst xmlns:a="http://schemas.openxmlformats.org/drawingml/2006/main">
              <a:ext uri="{FF2B5EF4-FFF2-40B4-BE49-F238E27FC236}">
                <a16:creationId xmlns:a16="http://schemas.microsoft.com/office/drawing/2014/main" id="{468B62B5-4EF6-44F4-84E2-24594EDAC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rPr>
              <a:t>You do</a:t>
            </a:r>
          </a:p>
        </p:txBody>
      </p:sp>
      <p:sp>
        <p:nvSpPr>
          <p:cNvPr id="6" name="10 min">
            <a:extLst xmlns:a="http://schemas.openxmlformats.org/drawingml/2006/main">
              <a:ext uri="{FF2B5EF4-FFF2-40B4-BE49-F238E27FC236}">
                <a16:creationId xmlns:a16="http://schemas.microsoft.com/office/drawing/2014/main" id="{CF32D8AA-CCDC-40C8-A5D2-F08039BA8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10 min</a:t>
            </a:r>
          </a:p>
        </p:txBody>
      </p:sp>
      <p:sp>
        <p:nvSpPr>
          <p:cNvPr id="7" name="Your independent investigation">
            <a:extLst xmlns:a="http://schemas.openxmlformats.org/drawingml/2006/main">
              <a:ext uri="{FF2B5EF4-FFF2-40B4-BE49-F238E27FC236}">
                <a16:creationId xmlns:a16="http://schemas.microsoft.com/office/drawing/2014/main" id="{321C810E-A61C-488C-A6C8-E683564FF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Your independent investigation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A2F18AF4-5A99-48D7-8E7F-297F0CF69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The spring science evidence exchange">
            <a:extLst xmlns:a="http://schemas.openxmlformats.org/drawingml/2006/main">
              <a:ext uri="{FF2B5EF4-FFF2-40B4-BE49-F238E27FC236}">
                <a16:creationId xmlns:a16="http://schemas.microsoft.com/office/drawing/2014/main" id="{2D9B9C01-7587-410A-AB57-9A735D990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spring science evidence exchange</a:t>
            </a:r>
          </a:p>
        </p:txBody>
      </p:sp>
      <p:sp>
        <p:nvSpPr>
          <p:cNvPr id="10" name="10 / 15">
            <a:extLst xmlns:a="http://schemas.openxmlformats.org/drawingml/2006/main">
              <a:ext uri="{FF2B5EF4-FFF2-40B4-BE49-F238E27FC236}">
                <a16:creationId xmlns:a16="http://schemas.microsoft.com/office/drawing/2014/main" id="{A1BE667A-1445-4324-B445-C50C463FC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10 / 15</a:t>
            </a:r>
          </a:p>
        </p:txBody>
      </p:sp>
      <p:sp>
        <p:nvSpPr>
          <p:cNvPr id="11" name="Open your selected checkpoint route now.">
            <a:extLst xmlns:a="http://schemas.openxmlformats.org/drawingml/2006/main">
              <a:ext uri="{FF2B5EF4-FFF2-40B4-BE49-F238E27FC236}">
                <a16:creationId xmlns:a16="http://schemas.microsoft.com/office/drawing/2014/main" id="{7472C3F2-868F-4386-9DB9-81A9C3CC7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Open your selected checkpoint route now.</a:t>
            </a:r>
          </a:p>
        </p:txBody>
      </p:sp>
      <p:sp>
        <p:nvSpPr>
          <p:cNvPr id="12" name="Work independently on all three science cases.">
            <a:extLst xmlns:a="http://schemas.openxmlformats.org/drawingml/2006/main">
              <a:ext uri="{FF2B5EF4-FFF2-40B4-BE49-F238E27FC236}">
                <a16:creationId xmlns:a16="http://schemas.microsoft.com/office/drawing/2014/main" id="{92DE603F-E333-45E6-8A08-E4B16F241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22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Work independently on all three science cases.</a:t>
            </a:r>
          </a:p>
        </p:txBody>
      </p:sp>
      <p:sp>
        <p:nvSpPr>
          <p:cNvPr id="13" name="Ask for reading support if needed.">
            <a:extLst xmlns:a="http://schemas.openxmlformats.org/drawingml/2006/main">
              <a:ext uri="{FF2B5EF4-FFF2-40B4-BE49-F238E27FC236}">
                <a16:creationId xmlns:a16="http://schemas.microsoft.com/office/drawing/2014/main" id="{17615C84-2F94-4543-8E17-B3E56375B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35630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Ask for reading support if needed.</a:t>
            </a:r>
          </a:p>
        </p:txBody>
      </p:sp>
    </p:spTree>
    <p:extLst>
      <p:ext uri="{BB962C8B-B14F-4D97-AF65-F5344CB8AC3E}">
        <p14:creationId xmlns:p14="http://schemas.microsoft.com/office/powerpoint/2010/main" val="15298527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urface">
            <a:extLst xmlns:a="http://schemas.openxmlformats.org/drawingml/2006/main">
              <a:ext uri="{FF2B5EF4-FFF2-40B4-BE49-F238E27FC236}">
                <a16:creationId xmlns:a16="http://schemas.microsoft.com/office/drawing/2014/main" id="{F4517874-DA29-4531-9DC6-3901DAA03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63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379DAFF0-E9AB-406A-8A6F-FE92E6303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93D2AB82-04CA-411E-A40E-2A6063D59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63B"/>
          </a:solidFill>
          <a:ln xmlns:a="http://schemas.openxmlformats.org/drawingml/2006/main" w="0">
            <a:noFill/>
          </a:ln>
        </p:spPr>
      </p:sp>
      <p:sp>
        <p:nvSpPr>
          <p:cNvPr id="4" name="GROW SCIENCE">
            <a:extLst xmlns:a="http://schemas.openxmlformats.org/drawingml/2006/main">
              <a:ext uri="{FF2B5EF4-FFF2-40B4-BE49-F238E27FC236}">
                <a16:creationId xmlns:a16="http://schemas.microsoft.com/office/drawing/2014/main" id="{97F155D7-26CA-45F9-BBDD-4274C7ADD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rPr>
              <a:t>GROW SCIENCE</a:t>
            </a:r>
          </a:p>
        </p:txBody>
      </p:sp>
      <p:sp>
        <p:nvSpPr>
          <p:cNvPr id="5" name="You do">
            <a:extLst xmlns:a="http://schemas.openxmlformats.org/drawingml/2006/main">
              <a:ext uri="{FF2B5EF4-FFF2-40B4-BE49-F238E27FC236}">
                <a16:creationId xmlns:a16="http://schemas.microsoft.com/office/drawing/2014/main" id="{5ED17F71-B3E8-47D5-9FED-7B109410D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rPr>
              <a:t>You do</a:t>
            </a:r>
          </a:p>
        </p:txBody>
      </p:sp>
      <p:sp>
        <p:nvSpPr>
          <p:cNvPr id="6" name="Use the evidence">
            <a:extLst xmlns:a="http://schemas.openxmlformats.org/drawingml/2006/main">
              <a:ext uri="{FF2B5EF4-FFF2-40B4-BE49-F238E27FC236}">
                <a16:creationId xmlns:a16="http://schemas.microsoft.com/office/drawing/2014/main" id="{A480F252-A84D-4926-8E21-B9CEF95C1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Use the evidence</a:t>
            </a:r>
          </a:p>
        </p:txBody>
      </p:sp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1E496738-2742-4A8A-82A7-24BAE7692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8" name="The spring science evidence exchange">
            <a:extLst xmlns:a="http://schemas.openxmlformats.org/drawingml/2006/main">
              <a:ext uri="{FF2B5EF4-FFF2-40B4-BE49-F238E27FC236}">
                <a16:creationId xmlns:a16="http://schemas.microsoft.com/office/drawing/2014/main" id="{0A42F775-8BA9-4EF4-9BE7-270057331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spring science evidence exchange</a:t>
            </a:r>
          </a:p>
        </p:txBody>
      </p:sp>
      <p:sp>
        <p:nvSpPr>
          <p:cNvPr id="9" name="11 / 15">
            <a:extLst xmlns:a="http://schemas.openxmlformats.org/drawingml/2006/main">
              <a:ext uri="{FF2B5EF4-FFF2-40B4-BE49-F238E27FC236}">
                <a16:creationId xmlns:a16="http://schemas.microsoft.com/office/drawing/2014/main" id="{C41D6030-8062-4B76-AAB9-DAABE790B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11 / 15</a:t>
            </a:r>
          </a:p>
        </p:txBody>
      </p:sp>
      <p:sp>
        <p:nvSpPr>
          <p:cNvPr id="10" name="Use the evidence printed on your route.">
            <a:extLst xmlns:a="http://schemas.openxmlformats.org/drawingml/2006/main">
              <a:ext uri="{FF2B5EF4-FFF2-40B4-BE49-F238E27FC236}">
                <a16:creationId xmlns:a16="http://schemas.microsoft.com/office/drawing/2014/main" id="{47638920-7BF7-4539-938B-2E73FD843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Use the evidence printed on your route.</a:t>
            </a:r>
          </a:p>
        </p:txBody>
      </p:sp>
      <p:sp>
        <p:nvSpPr>
          <p:cNvPr id="11" name="Show a reason as well as a choice.">
            <a:extLst xmlns:a="http://schemas.openxmlformats.org/drawingml/2006/main">
              <a:ext uri="{FF2B5EF4-FFF2-40B4-BE49-F238E27FC236}">
                <a16:creationId xmlns:a16="http://schemas.microsoft.com/office/drawing/2014/main" id="{02C4D286-40DA-44A6-8D85-BE2FA05C0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22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Show a reason as well as a choice.</a:t>
            </a:r>
          </a:p>
        </p:txBody>
      </p:sp>
      <p:sp>
        <p:nvSpPr>
          <p:cNvPr id="12" name="Put a question mark beside anything uncertain.">
            <a:extLst xmlns:a="http://schemas.openxmlformats.org/drawingml/2006/main">
              <a:ext uri="{FF2B5EF4-FFF2-40B4-BE49-F238E27FC236}">
                <a16:creationId xmlns:a16="http://schemas.microsoft.com/office/drawing/2014/main" id="{0CD61B5F-6823-4FAF-93C6-9EF8708DF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35630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Put a question mark beside anything uncertain.</a:t>
            </a:r>
          </a:p>
        </p:txBody>
      </p:sp>
    </p:spTree>
    <p:extLst>
      <p:ext uri="{BB962C8B-B14F-4D97-AF65-F5344CB8AC3E}">
        <p14:creationId xmlns:p14="http://schemas.microsoft.com/office/powerpoint/2010/main" val="207373488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urface">
            <a:extLst xmlns:a="http://schemas.openxmlformats.org/drawingml/2006/main">
              <a:ext uri="{FF2B5EF4-FFF2-40B4-BE49-F238E27FC236}">
                <a16:creationId xmlns:a16="http://schemas.microsoft.com/office/drawing/2014/main" id="{302E6129-8DB1-4D9E-A8FF-4F7559FB4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63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9550DAF7-B56F-422E-9472-9F5172FFE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E0DCC066-CE35-4DC6-99D8-EFCD79073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63B"/>
          </a:solidFill>
          <a:ln xmlns:a="http://schemas.openxmlformats.org/drawingml/2006/main" w="0">
            <a:noFill/>
          </a:ln>
        </p:spPr>
      </p:sp>
      <p:sp>
        <p:nvSpPr>
          <p:cNvPr id="4" name="GROW SCIENCE">
            <a:extLst xmlns:a="http://schemas.openxmlformats.org/drawingml/2006/main">
              <a:ext uri="{FF2B5EF4-FFF2-40B4-BE49-F238E27FC236}">
                <a16:creationId xmlns:a16="http://schemas.microsoft.com/office/drawing/2014/main" id="{09193A72-0D77-48EC-9EF8-3EFFF8F20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rPr>
              <a:t>GROW SCIENCE</a:t>
            </a:r>
          </a:p>
        </p:txBody>
      </p:sp>
      <p:sp>
        <p:nvSpPr>
          <p:cNvPr id="5" name="You do">
            <a:extLst xmlns:a="http://schemas.openxmlformats.org/drawingml/2006/main">
              <a:ext uri="{FF2B5EF4-FFF2-40B4-BE49-F238E27FC236}">
                <a16:creationId xmlns:a16="http://schemas.microsoft.com/office/drawing/2014/main" id="{22313E63-DD11-469E-ADBD-2D0A180D5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rPr>
              <a:t>You do</a:t>
            </a:r>
          </a:p>
        </p:txBody>
      </p:sp>
      <p:sp>
        <p:nvSpPr>
          <p:cNvPr id="6" name="Check before sharing">
            <a:extLst xmlns:a="http://schemas.openxmlformats.org/drawingml/2006/main">
              <a:ext uri="{FF2B5EF4-FFF2-40B4-BE49-F238E27FC236}">
                <a16:creationId xmlns:a16="http://schemas.microsoft.com/office/drawing/2014/main" id="{FFAC7F33-F5CB-4294-A797-1E45AE4C3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Check before sharing</a:t>
            </a:r>
          </a:p>
        </p:txBody>
      </p:sp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F83B75A8-852D-4AF0-A3D6-B34773660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8" name="The spring science evidence exchange">
            <a:extLst xmlns:a="http://schemas.openxmlformats.org/drawingml/2006/main">
              <a:ext uri="{FF2B5EF4-FFF2-40B4-BE49-F238E27FC236}">
                <a16:creationId xmlns:a16="http://schemas.microsoft.com/office/drawing/2014/main" id="{DAABCCFA-347B-4181-80F3-09C2D2262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spring science evidence exchange</a:t>
            </a:r>
          </a:p>
        </p:txBody>
      </p:sp>
      <p:sp>
        <p:nvSpPr>
          <p:cNvPr id="9" name="12 / 15">
            <a:extLst xmlns:a="http://schemas.openxmlformats.org/drawingml/2006/main">
              <a:ext uri="{FF2B5EF4-FFF2-40B4-BE49-F238E27FC236}">
                <a16:creationId xmlns:a16="http://schemas.microsoft.com/office/drawing/2014/main" id="{FE5D242C-50D4-4A2D-9ADD-704703671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12 / 15</a:t>
            </a:r>
          </a:p>
        </p:txBody>
      </p:sp>
      <p:sp>
        <p:nvSpPr>
          <p:cNvPr id="10" name="Does my explanation answer the question?">
            <a:extLst xmlns:a="http://schemas.openxmlformats.org/drawingml/2006/main">
              <a:ext uri="{FF2B5EF4-FFF2-40B4-BE49-F238E27FC236}">
                <a16:creationId xmlns:a16="http://schemas.microsoft.com/office/drawing/2014/main" id="{C11C39BF-42AA-4A49-AB03-514C3806D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Does my explanation answer the question?</a:t>
            </a:r>
          </a:p>
        </p:txBody>
      </p:sp>
      <p:sp>
        <p:nvSpPr>
          <p:cNvPr id="11" name="Have I named the evidence or process?">
            <a:extLst xmlns:a="http://schemas.openxmlformats.org/drawingml/2006/main">
              <a:ext uri="{FF2B5EF4-FFF2-40B4-BE49-F238E27FC236}">
                <a16:creationId xmlns:a16="http://schemas.microsoft.com/office/drawing/2014/main" id="{F90A8B16-942E-4323-864F-88B33AAAA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22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Have I named the evidence or process?</a:t>
            </a:r>
          </a:p>
        </p:txBody>
      </p:sp>
      <p:sp>
        <p:nvSpPr>
          <p:cNvPr id="12" name="Have I kept the conclusion within its limits?">
            <a:extLst xmlns:a="http://schemas.openxmlformats.org/drawingml/2006/main">
              <a:ext uri="{FF2B5EF4-FFF2-40B4-BE49-F238E27FC236}">
                <a16:creationId xmlns:a16="http://schemas.microsoft.com/office/drawing/2014/main" id="{F001FCBE-DE18-4B29-AAEF-3B160D280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35630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Have I kept the conclusion within its limits?</a:t>
            </a:r>
          </a:p>
        </p:txBody>
      </p:sp>
    </p:spTree>
    <p:extLst>
      <p:ext uri="{BB962C8B-B14F-4D97-AF65-F5344CB8AC3E}">
        <p14:creationId xmlns:p14="http://schemas.microsoft.com/office/powerpoint/2010/main" val="107264911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urface">
            <a:extLst xmlns:a="http://schemas.openxmlformats.org/drawingml/2006/main">
              <a:ext uri="{FF2B5EF4-FFF2-40B4-BE49-F238E27FC236}">
                <a16:creationId xmlns:a16="http://schemas.microsoft.com/office/drawing/2014/main" id="{5325B60E-27A9-4D82-A85E-853EDF780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6E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010F4341-C77D-4E87-80C9-F91E71022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187F88A7-7602-42D9-8F1F-775E5A983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6E"/>
          </a:solidFill>
          <a:ln xmlns:a="http://schemas.openxmlformats.org/drawingml/2006/main" w="0">
            <a:noFill/>
          </a:ln>
        </p:spPr>
      </p:sp>
      <p:sp>
        <p:nvSpPr>
          <p:cNvPr id="4" name="GROW SCIENCE">
            <a:extLst xmlns:a="http://schemas.openxmlformats.org/drawingml/2006/main">
              <a:ext uri="{FF2B5EF4-FFF2-40B4-BE49-F238E27FC236}">
                <a16:creationId xmlns:a16="http://schemas.microsoft.com/office/drawing/2014/main" id="{3C7B202A-D4C1-4345-AFBC-65C7A9C21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rPr>
              <a:t>GROW SCIENCE</a:t>
            </a:r>
          </a:p>
        </p:txBody>
      </p:sp>
      <p:sp>
        <p:nvSpPr>
          <p:cNvPr id="5" name="Review">
            <a:extLst xmlns:a="http://schemas.openxmlformats.org/drawingml/2006/main">
              <a:ext uri="{FF2B5EF4-FFF2-40B4-BE49-F238E27FC236}">
                <a16:creationId xmlns:a16="http://schemas.microsoft.com/office/drawing/2014/main" id="{BF580DB7-6FA3-4534-A03C-7CE81E627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rPr>
              <a:t>Review</a:t>
            </a:r>
          </a:p>
        </p:txBody>
      </p:sp>
      <p:sp>
        <p:nvSpPr>
          <p:cNvPr id="6" name="4 min">
            <a:extLst xmlns:a="http://schemas.openxmlformats.org/drawingml/2006/main">
              <a:ext uri="{FF2B5EF4-FFF2-40B4-BE49-F238E27FC236}">
                <a16:creationId xmlns:a16="http://schemas.microsoft.com/office/drawing/2014/main" id="{32EE7E0F-3F70-48FB-A14D-39F6CB66F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4 min</a:t>
            </a:r>
          </a:p>
        </p:txBody>
      </p:sp>
      <p:sp>
        <p:nvSpPr>
          <p:cNvPr id="7" name="Compare and improve">
            <a:extLst xmlns:a="http://schemas.openxmlformats.org/drawingml/2006/main">
              <a:ext uri="{FF2B5EF4-FFF2-40B4-BE49-F238E27FC236}">
                <a16:creationId xmlns:a16="http://schemas.microsoft.com/office/drawing/2014/main" id="{AC356F6A-B09C-4B18-8D93-9618A346E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Compare and improve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4578887C-0F44-43B9-9923-6100B5043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The spring science evidence exchange">
            <a:extLst xmlns:a="http://schemas.openxmlformats.org/drawingml/2006/main">
              <a:ext uri="{FF2B5EF4-FFF2-40B4-BE49-F238E27FC236}">
                <a16:creationId xmlns:a16="http://schemas.microsoft.com/office/drawing/2014/main" id="{CED27884-98EF-4AEC-9988-0FC4A7C35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spring science evidence exchange</a:t>
            </a:r>
          </a:p>
        </p:txBody>
      </p:sp>
      <p:sp>
        <p:nvSpPr>
          <p:cNvPr id="10" name="13 / 15">
            <a:extLst xmlns:a="http://schemas.openxmlformats.org/drawingml/2006/main">
              <a:ext uri="{FF2B5EF4-FFF2-40B4-BE49-F238E27FC236}">
                <a16:creationId xmlns:a16="http://schemas.microsoft.com/office/drawing/2014/main" id="{48E4E970-82BB-49F0-B515-0CCE5D305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13 / 15</a:t>
            </a:r>
          </a:p>
        </p:txBody>
      </p:sp>
      <p:sp>
        <p:nvSpPr>
          <p:cNvPr id="11" name="Submit before seeing the worked answers.">
            <a:extLst xmlns:a="http://schemas.openxmlformats.org/drawingml/2006/main">
              <a:ext uri="{FF2B5EF4-FFF2-40B4-BE49-F238E27FC236}">
                <a16:creationId xmlns:a16="http://schemas.microsoft.com/office/drawing/2014/main" id="{CD941B40-DE73-4646-858C-64223B07B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Submit before seeing the worked answers.</a:t>
            </a:r>
          </a:p>
        </p:txBody>
      </p:sp>
      <p:sp>
        <p:nvSpPr>
          <p:cNvPr id="12" name="Compare one response with the criteria.">
            <a:extLst xmlns:a="http://schemas.openxmlformats.org/drawingml/2006/main">
              <a:ext uri="{FF2B5EF4-FFF2-40B4-BE49-F238E27FC236}">
                <a16:creationId xmlns:a16="http://schemas.microsoft.com/office/drawing/2014/main" id="{6555A5FD-68B2-4DDB-86A5-9C5355B72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22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Compare one response with the criteria.</a:t>
            </a:r>
          </a:p>
        </p:txBody>
      </p:sp>
      <p:sp>
        <p:nvSpPr>
          <p:cNvPr id="13" name="Choose one precise improvement.">
            <a:extLst xmlns:a="http://schemas.openxmlformats.org/drawingml/2006/main">
              <a:ext uri="{FF2B5EF4-FFF2-40B4-BE49-F238E27FC236}">
                <a16:creationId xmlns:a16="http://schemas.microsoft.com/office/drawing/2014/main" id="{2D125655-8C89-479D-BEC4-E060C765B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35630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Choose one precise improvement.</a:t>
            </a:r>
          </a:p>
        </p:txBody>
      </p:sp>
    </p:spTree>
    <p:extLst>
      <p:ext uri="{BB962C8B-B14F-4D97-AF65-F5344CB8AC3E}">
        <p14:creationId xmlns:p14="http://schemas.microsoft.com/office/powerpoint/2010/main" val="167207355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urface">
            <a:extLst xmlns:a="http://schemas.openxmlformats.org/drawingml/2006/main">
              <a:ext uri="{FF2B5EF4-FFF2-40B4-BE49-F238E27FC236}">
                <a16:creationId xmlns:a16="http://schemas.microsoft.com/office/drawing/2014/main" id="{62ECB37D-C035-486E-8285-4CD03AF33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6E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CDA3D04C-E456-4AAB-B681-2AC96EDD1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167BF4B9-74C7-47BB-91B6-41BF581AA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6E"/>
          </a:solidFill>
          <a:ln xmlns:a="http://schemas.openxmlformats.org/drawingml/2006/main" w="0">
            <a:noFill/>
          </a:ln>
        </p:spPr>
      </p:sp>
      <p:sp>
        <p:nvSpPr>
          <p:cNvPr id="4" name="GROW SCIENCE">
            <a:extLst xmlns:a="http://schemas.openxmlformats.org/drawingml/2006/main">
              <a:ext uri="{FF2B5EF4-FFF2-40B4-BE49-F238E27FC236}">
                <a16:creationId xmlns:a16="http://schemas.microsoft.com/office/drawing/2014/main" id="{955902D2-EE37-401C-B2C9-63888B404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rPr>
              <a:t>GROW SCIENCE</a:t>
            </a:r>
          </a:p>
        </p:txBody>
      </p:sp>
      <p:sp>
        <p:nvSpPr>
          <p:cNvPr id="5" name="Review">
            <a:extLst xmlns:a="http://schemas.openxmlformats.org/drawingml/2006/main">
              <a:ext uri="{FF2B5EF4-FFF2-40B4-BE49-F238E27FC236}">
                <a16:creationId xmlns:a16="http://schemas.microsoft.com/office/drawing/2014/main" id="{3BA73A52-136D-43DE-8D76-1095F05C5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rPr>
              <a:t>Review</a:t>
            </a:r>
          </a:p>
        </p:txBody>
      </p:sp>
      <p:sp>
        <p:nvSpPr>
          <p:cNvPr id="6" name="A question worth investigating">
            <a:extLst xmlns:a="http://schemas.openxmlformats.org/drawingml/2006/main">
              <a:ext uri="{FF2B5EF4-FFF2-40B4-BE49-F238E27FC236}">
                <a16:creationId xmlns:a16="http://schemas.microsoft.com/office/drawing/2014/main" id="{7DAB7BF3-0425-4CC5-AA55-7106AB73C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 question worth investigating</a:t>
            </a:r>
          </a:p>
        </p:txBody>
      </p:sp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AD735A04-1E48-4244-928F-00D592536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8" name="The spring science evidence exchange">
            <a:extLst xmlns:a="http://schemas.openxmlformats.org/drawingml/2006/main">
              <a:ext uri="{FF2B5EF4-FFF2-40B4-BE49-F238E27FC236}">
                <a16:creationId xmlns:a16="http://schemas.microsoft.com/office/drawing/2014/main" id="{354249A6-0F13-4A9D-8177-85BECFCC2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spring science evidence exchange</a:t>
            </a:r>
          </a:p>
        </p:txBody>
      </p:sp>
      <p:sp>
        <p:nvSpPr>
          <p:cNvPr id="9" name="14 / 15">
            <a:extLst xmlns:a="http://schemas.openxmlformats.org/drawingml/2006/main">
              <a:ext uri="{FF2B5EF4-FFF2-40B4-BE49-F238E27FC236}">
                <a16:creationId xmlns:a16="http://schemas.microsoft.com/office/drawing/2014/main" id="{B841A8FD-A655-433C-BEF9-B95CF4B9C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14 / 15</a:t>
            </a:r>
          </a:p>
        </p:txBody>
      </p:sp>
      <p:sp>
        <p:nvSpPr>
          <p:cNvPr id="10" name="Suggest one next question about this lesson’s evidence.">
            <a:extLst xmlns:a="http://schemas.openxmlformats.org/drawingml/2006/main">
              <a:ext uri="{FF2B5EF4-FFF2-40B4-BE49-F238E27FC236}">
                <a16:creationId xmlns:a16="http://schemas.microsoft.com/office/drawing/2014/main" id="{AC53B65E-A60E-4247-81E3-F81735408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Suggest one next question about this lesson’s evidence.</a:t>
            </a:r>
          </a:p>
        </p:txBody>
      </p:sp>
      <p:sp>
        <p:nvSpPr>
          <p:cNvPr id="11" name="Choose a question whose answer would improve our model.">
            <a:extLst xmlns:a="http://schemas.openxmlformats.org/drawingml/2006/main">
              <a:ext uri="{FF2B5EF4-FFF2-40B4-BE49-F238E27FC236}">
                <a16:creationId xmlns:a16="http://schemas.microsoft.com/office/drawing/2014/main" id="{68ED78DB-86B6-4ABA-BA0E-C612F1622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22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Choose a question whose answer would improve our model.</a:t>
            </a:r>
          </a:p>
        </p:txBody>
      </p:sp>
    </p:spTree>
    <p:extLst>
      <p:ext uri="{BB962C8B-B14F-4D97-AF65-F5344CB8AC3E}">
        <p14:creationId xmlns:p14="http://schemas.microsoft.com/office/powerpoint/2010/main" val="76512304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urface">
            <a:extLst xmlns:a="http://schemas.openxmlformats.org/drawingml/2006/main">
              <a:ext uri="{FF2B5EF4-FFF2-40B4-BE49-F238E27FC236}">
                <a16:creationId xmlns:a16="http://schemas.microsoft.com/office/drawing/2014/main" id="{4F266AB6-9728-4B1D-85E0-DC71896F1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6E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417561BC-0672-47C1-ACAE-FF75356CA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D6AF2BF3-1A60-4B2F-9030-460A2152C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6E"/>
          </a:solidFill>
          <a:ln xmlns:a="http://schemas.openxmlformats.org/drawingml/2006/main" w="0">
            <a:noFill/>
          </a:ln>
        </p:spPr>
      </p:sp>
      <p:sp>
        <p:nvSpPr>
          <p:cNvPr id="4" name="GROW SCIENCE">
            <a:extLst xmlns:a="http://schemas.openxmlformats.org/drawingml/2006/main">
              <a:ext uri="{FF2B5EF4-FFF2-40B4-BE49-F238E27FC236}">
                <a16:creationId xmlns:a16="http://schemas.microsoft.com/office/drawing/2014/main" id="{84380A43-2CCB-4111-9CA2-604A44F0B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rPr>
              <a:t>GROW SCIENCE</a:t>
            </a:r>
          </a:p>
        </p:txBody>
      </p:sp>
      <p:sp>
        <p:nvSpPr>
          <p:cNvPr id="5" name="Exit">
            <a:extLst xmlns:a="http://schemas.openxmlformats.org/drawingml/2006/main">
              <a:ext uri="{FF2B5EF4-FFF2-40B4-BE49-F238E27FC236}">
                <a16:creationId xmlns:a16="http://schemas.microsoft.com/office/drawing/2014/main" id="{975FF570-5BD7-4989-8771-991FFD32C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rPr>
              <a:t>Exit</a:t>
            </a:r>
          </a:p>
        </p:txBody>
      </p:sp>
      <p:sp>
        <p:nvSpPr>
          <p:cNvPr id="6" name="2 min">
            <a:extLst xmlns:a="http://schemas.openxmlformats.org/drawingml/2006/main">
              <a:ext uri="{FF2B5EF4-FFF2-40B4-BE49-F238E27FC236}">
                <a16:creationId xmlns:a16="http://schemas.microsoft.com/office/drawing/2014/main" id="{72026680-80E4-4876-B373-5893B34E3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2 min</a:t>
            </a:r>
          </a:p>
        </p:txBody>
      </p:sp>
      <p:sp>
        <p:nvSpPr>
          <p:cNvPr id="7" name="Show the science you can explain">
            <a:extLst xmlns:a="http://schemas.openxmlformats.org/drawingml/2006/main">
              <a:ext uri="{FF2B5EF4-FFF2-40B4-BE49-F238E27FC236}">
                <a16:creationId xmlns:a16="http://schemas.microsoft.com/office/drawing/2014/main" id="{73993223-8028-402A-A4D1-1575085B9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Show the science you can explain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32F29465-F168-449F-AF5E-0C9F6DA8D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The spring science evidence exchange">
            <a:extLst xmlns:a="http://schemas.openxmlformats.org/drawingml/2006/main">
              <a:ext uri="{FF2B5EF4-FFF2-40B4-BE49-F238E27FC236}">
                <a16:creationId xmlns:a16="http://schemas.microsoft.com/office/drawing/2014/main" id="{178409AC-5944-4D41-A026-222FCA67A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spring science evidence exchange</a:t>
            </a:r>
          </a:p>
        </p:txBody>
      </p:sp>
      <p:sp>
        <p:nvSpPr>
          <p:cNvPr id="10" name="15 / 15">
            <a:extLst xmlns:a="http://schemas.openxmlformats.org/drawingml/2006/main">
              <a:ext uri="{FF2B5EF4-FFF2-40B4-BE49-F238E27FC236}">
                <a16:creationId xmlns:a16="http://schemas.microsoft.com/office/drawing/2014/main" id="{232C0E19-FF3E-4E6D-A485-889EBD29C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15 / 15</a:t>
            </a:r>
          </a:p>
        </p:txBody>
      </p:sp>
      <p:sp>
        <p:nvSpPr>
          <p:cNvPr id="11" name="E1. Which science area is most secure for you?">
            <a:extLst xmlns:a="http://schemas.openxmlformats.org/drawingml/2006/main">
              <a:ext uri="{FF2B5EF4-FFF2-40B4-BE49-F238E27FC236}">
                <a16:creationId xmlns:a16="http://schemas.microsoft.com/office/drawing/2014/main" id="{C572C029-814F-4C58-86F2-7EAECC174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E1. Which science area is most secure for you?</a:t>
            </a:r>
          </a:p>
        </p:txBody>
      </p:sp>
      <p:sp>
        <p:nvSpPr>
          <p:cNvPr id="12" name="E2. Write one corrected explanation after feedback.">
            <a:extLst xmlns:a="http://schemas.openxmlformats.org/drawingml/2006/main">
              <a:ext uri="{FF2B5EF4-FFF2-40B4-BE49-F238E27FC236}">
                <a16:creationId xmlns:a16="http://schemas.microsoft.com/office/drawing/2014/main" id="{7B4B5221-8C87-47E5-A22E-1C9EFC233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22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E2. Write one corrected explanation after feedback.</a:t>
            </a:r>
          </a:p>
        </p:txBody>
      </p:sp>
      <p:sp>
        <p:nvSpPr>
          <p:cNvPr id="13" name="E3. Name the evidence that supports it.">
            <a:extLst xmlns:a="http://schemas.openxmlformats.org/drawingml/2006/main">
              <a:ext uri="{FF2B5EF4-FFF2-40B4-BE49-F238E27FC236}">
                <a16:creationId xmlns:a16="http://schemas.microsoft.com/office/drawing/2014/main" id="{14FE0FB0-826F-47B0-8A6B-46A4FEFAF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35630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E3. Name the evidence that supports it.</a:t>
            </a:r>
          </a:p>
        </p:txBody>
      </p:sp>
    </p:spTree>
    <p:extLst>
      <p:ext uri="{BB962C8B-B14F-4D97-AF65-F5344CB8AC3E}">
        <p14:creationId xmlns:p14="http://schemas.microsoft.com/office/powerpoint/2010/main" val="144130872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2026-09-09T00:01:54.0750000Z</dcterms:created>
  <dcterms:modified xsi:type="dcterms:W3CDTF">2026-09-09T00:01:54.0760000Z</dcterms:modified>
</coreProperties>
</file>