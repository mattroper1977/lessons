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4baeb5a2834d28" /><Relationship Type="http://schemas.openxmlformats.org/officeDocument/2006/relationships/extended-properties" Target="/docProps/app.xml" Id="R6706be946d30410a" /><Relationship Type="http://schemas.openxmlformats.org/officeDocument/2006/relationships/officeDocument" Target="/ppt/presentation.xml" Id="Rbe1c0d85f65c42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ba905d0b424571"/>
  </p:sldMasterIdLst>
  <p:notesMasterIdLst>
    <p:notesMasterId xmlns:r="http://schemas.openxmlformats.org/officeDocument/2006/relationships" r:id="R03c175c4b811454e"/>
  </p:notesMasterIdLst>
  <p:sldIdLst>
    <p:sldId xmlns:r="http://schemas.openxmlformats.org/officeDocument/2006/relationships" id="256" r:id="R0d5ff5ec5d61433b"/>
    <p:sldId xmlns:r="http://schemas.openxmlformats.org/officeDocument/2006/relationships" id="257" r:id="Rbd170ed7a2a7476c"/>
    <p:sldId xmlns:r="http://schemas.openxmlformats.org/officeDocument/2006/relationships" id="258" r:id="R29dc3c01ccb044e4"/>
    <p:sldId xmlns:r="http://schemas.openxmlformats.org/officeDocument/2006/relationships" id="259" r:id="Rd090fcf20672446e"/>
    <p:sldId xmlns:r="http://schemas.openxmlformats.org/officeDocument/2006/relationships" id="260" r:id="R2f603e6bff534923"/>
    <p:sldId xmlns:r="http://schemas.openxmlformats.org/officeDocument/2006/relationships" id="261" r:id="R1a64c8bc75ea4be0"/>
    <p:sldId xmlns:r="http://schemas.openxmlformats.org/officeDocument/2006/relationships" id="262" r:id="R5118a088206b4677"/>
    <p:sldId xmlns:r="http://schemas.openxmlformats.org/officeDocument/2006/relationships" id="263" r:id="Rc717bc1ac9df4871"/>
    <p:sldId xmlns:r="http://schemas.openxmlformats.org/officeDocument/2006/relationships" id="264" r:id="Rd25ebe0982f74fa2"/>
    <p:sldId xmlns:r="http://schemas.openxmlformats.org/officeDocument/2006/relationships" id="265" r:id="R72d86ea98d654ab8"/>
    <p:sldId xmlns:r="http://schemas.openxmlformats.org/officeDocument/2006/relationships" id="266" r:id="Re76e2c844a69458a"/>
    <p:sldId xmlns:r="http://schemas.openxmlformats.org/officeDocument/2006/relationships" id="267" r:id="R834e01d659f4448d"/>
    <p:sldId xmlns:r="http://schemas.openxmlformats.org/officeDocument/2006/relationships" id="268" r:id="Rb46bbaa9f8b64a3b"/>
    <p:sldId xmlns:r="http://schemas.openxmlformats.org/officeDocument/2006/relationships" id="269" r:id="Rd770b4e1c898482c"/>
    <p:sldId xmlns:r="http://schemas.openxmlformats.org/officeDocument/2006/relationships" id="270" r:id="R87d8e2a4358146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23ab354e3043b6" /><Relationship Type="http://schemas.openxmlformats.org/officeDocument/2006/relationships/slideMaster" Target="/ppt/slideMasters/slideMaster1.xml" Id="R8cba905d0b424571" /><Relationship Type="http://schemas.openxmlformats.org/officeDocument/2006/relationships/notesMaster" Target="/ppt/notesMasters/notesMaster1.xml" Id="R03c175c4b811454e" /><Relationship Type="http://schemas.openxmlformats.org/officeDocument/2006/relationships/presProps" Target="/ppt/presProps.xml" Id="Rb9655640efbc480b" /><Relationship Type="http://schemas.openxmlformats.org/officeDocument/2006/relationships/tableStyles" Target="/ppt/tableStyles.xml" Id="R11092da898eb4b7b" /><Relationship Type="http://schemas.openxmlformats.org/officeDocument/2006/relationships/slide" Target="/ppt/slides/slide1.xml" Id="R0d5ff5ec5d61433b" /><Relationship Type="http://schemas.openxmlformats.org/officeDocument/2006/relationships/slide" Target="/ppt/slides/slide2.xml" Id="Rbd170ed7a2a7476c" /><Relationship Type="http://schemas.openxmlformats.org/officeDocument/2006/relationships/slide" Target="/ppt/slides/slide3.xml" Id="R29dc3c01ccb044e4" /><Relationship Type="http://schemas.openxmlformats.org/officeDocument/2006/relationships/slide" Target="/ppt/slides/slide4.xml" Id="Rd090fcf20672446e" /><Relationship Type="http://schemas.openxmlformats.org/officeDocument/2006/relationships/slide" Target="/ppt/slides/slide5.xml" Id="R2f603e6bff534923" /><Relationship Type="http://schemas.openxmlformats.org/officeDocument/2006/relationships/slide" Target="/ppt/slides/slide6.xml" Id="R1a64c8bc75ea4be0" /><Relationship Type="http://schemas.openxmlformats.org/officeDocument/2006/relationships/slide" Target="/ppt/slides/slide7.xml" Id="R5118a088206b4677" /><Relationship Type="http://schemas.openxmlformats.org/officeDocument/2006/relationships/slide" Target="/ppt/slides/slide8.xml" Id="Rc717bc1ac9df4871" /><Relationship Type="http://schemas.openxmlformats.org/officeDocument/2006/relationships/slide" Target="/ppt/slides/slide9.xml" Id="Rd25ebe0982f74fa2" /><Relationship Type="http://schemas.openxmlformats.org/officeDocument/2006/relationships/slide" Target="/ppt/slides/slide10.xml" Id="R72d86ea98d654ab8" /><Relationship Type="http://schemas.openxmlformats.org/officeDocument/2006/relationships/slide" Target="/ppt/slides/slide11.xml" Id="Re76e2c844a69458a" /><Relationship Type="http://schemas.openxmlformats.org/officeDocument/2006/relationships/slide" Target="/ppt/slides/slide12.xml" Id="R834e01d659f4448d" /><Relationship Type="http://schemas.openxmlformats.org/officeDocument/2006/relationships/slide" Target="/ppt/slides/slide13.xml" Id="Rb46bbaa9f8b64a3b" /><Relationship Type="http://schemas.openxmlformats.org/officeDocument/2006/relationships/slide" Target="/ppt/slides/slide14.xml" Id="Rd770b4e1c898482c" /><Relationship Type="http://schemas.openxmlformats.org/officeDocument/2006/relationships/slide" Target="/ppt/slides/slide15.xml" Id="R87d8e2a4358146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1f0148fc845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9f1717e624786" /><Relationship Type="http://schemas.openxmlformats.org/officeDocument/2006/relationships/notesMaster" Target="/ppt/notesMasters/notesMaster1.xml" Id="R95515b9d694b4f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6a8f7e9254747" /><Relationship Type="http://schemas.openxmlformats.org/officeDocument/2006/relationships/notesMaster" Target="/ppt/notesMasters/notesMaster1.xml" Id="R7255bc589a3a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204fb0cad34a74" /><Relationship Type="http://schemas.openxmlformats.org/officeDocument/2006/relationships/notesMaster" Target="/ppt/notesMasters/notesMaster1.xml" Id="R9f4063279ab447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a4200603cb41e6" /><Relationship Type="http://schemas.openxmlformats.org/officeDocument/2006/relationships/notesMaster" Target="/ppt/notesMasters/notesMaster1.xml" Id="R14bf7571a3fa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f374bc90f44054" /><Relationship Type="http://schemas.openxmlformats.org/officeDocument/2006/relationships/notesMaster" Target="/ppt/notesMasters/notesMaster1.xml" Id="R15b3d907a11c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250aef49df4b71" /><Relationship Type="http://schemas.openxmlformats.org/officeDocument/2006/relationships/notesMaster" Target="/ppt/notesMasters/notesMaster1.xml" Id="R3cc4ab54014142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90f1a3991a472b" /><Relationship Type="http://schemas.openxmlformats.org/officeDocument/2006/relationships/notesMaster" Target="/ppt/notesMasters/notesMaster1.xml" Id="R8bedc553511841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5390f1d03b4299" /><Relationship Type="http://schemas.openxmlformats.org/officeDocument/2006/relationships/notesMaster" Target="/ppt/notesMasters/notesMaster1.xml" Id="Rca4b50836c4345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f5a0bf0ea8478f" /><Relationship Type="http://schemas.openxmlformats.org/officeDocument/2006/relationships/notesMaster" Target="/ppt/notesMasters/notesMaster1.xml" Id="R1facdc6e812840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f4dd4773074378" /><Relationship Type="http://schemas.openxmlformats.org/officeDocument/2006/relationships/notesMaster" Target="/ppt/notesMasters/notesMaster1.xml" Id="R78d866e2c5dd45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9ef4f5b8494616" /><Relationship Type="http://schemas.openxmlformats.org/officeDocument/2006/relationships/notesMaster" Target="/ppt/notesMasters/notesMaster1.xml" Id="R4d8dda8ca40049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b0a6ee77644f5e" /><Relationship Type="http://schemas.openxmlformats.org/officeDocument/2006/relationships/notesMaster" Target="/ppt/notesMasters/notesMaster1.xml" Id="R030f3190ae1a48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1f41353ab749f4" /><Relationship Type="http://schemas.openxmlformats.org/officeDocument/2006/relationships/notesMaster" Target="/ppt/notesMasters/notesMaster1.xml" Id="R7a5afcd8f9b540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d2dc238cca4a36" /><Relationship Type="http://schemas.openxmlformats.org/officeDocument/2006/relationships/notesMaster" Target="/ppt/notesMasters/notesMaster1.xml" Id="R88cdd521f6c34d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b494b387b947cc" /><Relationship Type="http://schemas.openxmlformats.org/officeDocument/2006/relationships/notesMaster" Target="/ppt/notesMasters/notesMaster1.xml" Id="R02deef27c7a146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predictions without requiring existing terminology. Explain that paper evidence gives the whole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 part; new plant; no, reproduction makes offspring, whereas growth increases size/development of an individual.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place my token on the anther, then move it to the stigma. A landing on a leaf would not complete this defined transfer. This selected diagram omits petals and exact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flower section labels anther, pollen, stigma, style, ovary and ovule. A pollen-transfer arrow goes from anther to stigma; it does not lead directly to a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Think aloud: The transfer has already happened; now I describe a different event. The male gamete travels through a tube; the egg is in an ovule within the ovary. Advanced double fertilisation is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pollen grain on the stigma grows a tube through the style towards an ovule. The tube delivers male gametes. A male gamete fuses with an egg cell inside the ovule; the pollen grain itself does not turn into a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Trace each independent arrow. Ordinary botanical fruits include pods; fruit here is a plant structure, not just a sweet food.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parallel developmental links: fertilised ovule develops into seed; ovary develops into fruit. The pollen grain is not shown becoming a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shows transfer to stigma; D records pollen on leaf. Ask pupils to place or point to the appropriate destination on a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pollination→B fertilisation→C seed/fruit development. A bee does not carry ready-made seeds into the ovary.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No; pollen transfer is seen, not gamete fusion. State that the record supports pollination but does not establish later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The record shows pollen on a stigma. It does not by itself prove fertilisation or a mature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false pollen/seed confusion; B correct; C false leaves not seed precursors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The pollen grain simply changes into a seed.</a:t>
            </a:r>
          </a:p>
          <a:p xmlns:a="http://schemas.openxmlformats.org/drawingml/2006/main">
            <a:r>
              <a:t>Pollen supplies male gametes; the ovule develops into the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A fertilised ovule develops into a seed.</a:t>
            </a:r>
          </a:p>
          <a:p xmlns:a="http://schemas.openxmlformats.org/drawingml/2006/main">
            <a:r>
              <a:t>Correct. This distinguishes reproductive cells from the structure that develops.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A leaf changes into every seed.</a:t>
            </a:r>
          </a:p>
          <a:p xmlns:a="http://schemas.openxmlformats.org/drawingml/2006/main">
            <a:r>
              <a:t>In this model, seeds develop from ovules inside the ovary.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the three You do slides. Supply shared page 1 and one selected route page. All routes target the stated science objective; a labelled drawing or independent dictated explanation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Ask pupils which evidence supports their explanation. Read prompts or scribe without supplying the scientific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Use the route-specific worked answers to identify one precise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Offer partner or private teacher feedback. Ask for one specific revision linked to evidence;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 cycle: invite written, spoken or pointed suggestions. Select one feasible question and explain how the pupil contribution changes the next example or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Transfer anther→stigma; gamete fusion; fertilised ovule. E4 on pupil page asks why pollen on leaf is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9182017854a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0be34abc9d4926" /><Relationship Type="http://schemas.openxmlformats.org/officeDocument/2006/relationships/slideLayout" Target="/ppt/slideLayouts/slideLayout1.xml" Id="Rfd20a6814dd845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20a6814dd845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e8c61a563418d" /><Relationship Type="http://schemas.openxmlformats.org/officeDocument/2006/relationships/notesSlide" Target="/ppt/notesSlides/notesSlide1.xml" Id="Rccb448ce331840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2bca6ca1e4c2f" /><Relationship Type="http://schemas.openxmlformats.org/officeDocument/2006/relationships/notesSlide" Target="/ppt/notesSlides/notesSlide2.xml" Id="R77125e60b59741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d247596884321" /><Relationship Type="http://schemas.openxmlformats.org/officeDocument/2006/relationships/notesSlide" Target="/ppt/notesSlides/notesSlide3.xml" Id="Re0a1336e820e4d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8be86882e4141" /><Relationship Type="http://schemas.openxmlformats.org/officeDocument/2006/relationships/notesSlide" Target="/ppt/notesSlides/notesSlide4.xml" Id="R5abe0cd8a42a4c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56e85dd824a7c" /><Relationship Type="http://schemas.openxmlformats.org/officeDocument/2006/relationships/notesSlide" Target="/ppt/notesSlides/notesSlide5.xml" Id="Rc6b31f0882b54e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a31b6b4d54621" /><Relationship Type="http://schemas.openxmlformats.org/officeDocument/2006/relationships/notesSlide" Target="/ppt/notesSlides/notesSlide6.xml" Id="R2a6c25a000cc45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c2ba399254613" /><Relationship Type="http://schemas.openxmlformats.org/officeDocument/2006/relationships/notesSlide" Target="/ppt/notesSlides/notesSlide7.xml" Id="R313cac98fafc4c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dd951d843443b" /><Relationship Type="http://schemas.openxmlformats.org/officeDocument/2006/relationships/notesSlide" Target="/ppt/notesSlides/notesSlide8.xml" Id="R375550fb229349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fe678d3024a73" /><Relationship Type="http://schemas.openxmlformats.org/officeDocument/2006/relationships/notesSlide" Target="/ppt/notesSlides/notesSlide9.xml" Id="R9c77b87b3cfa42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e83b355ac446b" /><Relationship Type="http://schemas.openxmlformats.org/officeDocument/2006/relationships/notesSlide" Target="/ppt/notesSlides/notesSlide10.xml" Id="R7f93f6959b1541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d62c245be49ed" /><Relationship Type="http://schemas.openxmlformats.org/officeDocument/2006/relationships/notesSlide" Target="/ppt/notesSlides/notesSlide11.xml" Id="Ra0da501a7cde47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a991e29f24fa8" /><Relationship Type="http://schemas.openxmlformats.org/officeDocument/2006/relationships/notesSlide" Target="/ppt/notesSlides/notesSlide12.xml" Id="R4d63e67bfa4843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df0c369964e56" /><Relationship Type="http://schemas.openxmlformats.org/officeDocument/2006/relationships/notesSlide" Target="/ppt/notesSlides/notesSlide13.xml" Id="Rfe392d4efc9d4c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44b55e4654578" /><Relationship Type="http://schemas.openxmlformats.org/officeDocument/2006/relationships/notesSlide" Target="/ppt/notesSlides/notesSlide14.xml" Id="Rcb2ccd3226bc4d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2dfcb8f0413a" /><Relationship Type="http://schemas.openxmlformats.org/officeDocument/2006/relationships/notesSlide" Target="/ppt/notesSlides/notesSlide15.xml" Id="R07a65017a36a40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B877C77-2D26-4A75-A86F-46A1B71E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1C8DAAF-92F4-48F9-BCD7-C23091F1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7DE6DDE-8CBB-42DE-8737-449D18A0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46298B3-CEA4-4F67-9335-A30B0AC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0C46F443-DFD4-4718-98AF-45A05CF0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32E3AA93-38B3-4B6D-96D9-D50699C4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pollen delivery mystery">
            <a:extLst xmlns:a="http://schemas.openxmlformats.org/drawingml/2006/main">
              <a:ext uri="{FF2B5EF4-FFF2-40B4-BE49-F238E27FC236}">
                <a16:creationId xmlns:a16="http://schemas.microsoft.com/office/drawing/2014/main" id="{2254D257-F83A-4D43-BF01-BA944AF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pollen delivery mystery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5BD39E3-F63F-4E58-B75F-086C940C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7348578C-1B79-4E31-8876-71F96140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5E48F53C-B724-4597-A925-180E63D3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677B80B2-B1F7-45CF-AB60-C510EC5F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A8CF812-832C-44F2-9EFF-000710F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70AA5BFD-F2E7-4299-8CCA-AEBD3432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escribe pollination, fertilisation and seed formation as differ">
            <a:extLst xmlns:a="http://schemas.openxmlformats.org/drawingml/2006/main">
              <a:ext uri="{FF2B5EF4-FFF2-40B4-BE49-F238E27FC236}">
                <a16:creationId xmlns:a16="http://schemas.microsoft.com/office/drawing/2014/main" id="{C51223F6-77A4-4C4F-93E5-10C53E69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pollination, fertilisation and seed formation as different connected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processes.</a:t>
            </a:r>
          </a:p>
        </p:txBody>
      </p:sp>
      <p:sp>
        <p:nvSpPr>
          <p:cNvPr id="15" name="Pollen reaches a plant. Does that guarantee a seed?">
            <a:extLst xmlns:a="http://schemas.openxmlformats.org/drawingml/2006/main">
              <a:ext uri="{FF2B5EF4-FFF2-40B4-BE49-F238E27FC236}">
                <a16:creationId xmlns:a16="http://schemas.microsoft.com/office/drawing/2014/main" id="{9B43629F-038A-47D9-BC68-AA8767E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Pollen reaches a plant. Does that guarantee a seed?</a:t>
            </a:r>
          </a:p>
        </p:txBody>
      </p:sp>
      <p:sp>
        <p:nvSpPr>
          <p:cNvPr id="16" name="We will follow the destination and the next processes.">
            <a:extLst xmlns:a="http://schemas.openxmlformats.org/drawingml/2006/main">
              <a:ext uri="{FF2B5EF4-FFF2-40B4-BE49-F238E27FC236}">
                <a16:creationId xmlns:a16="http://schemas.microsoft.com/office/drawing/2014/main" id="{14945524-E6CE-4A73-B855-0F2B24F5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We will follow the destination and the next processes.</a:t>
            </a:r>
          </a:p>
        </p:txBody>
      </p:sp>
    </p:spTree>
    <p:extLst>
      <p:ext uri="{BB962C8B-B14F-4D97-AF65-F5344CB8AC3E}">
        <p14:creationId xmlns:p14="http://schemas.microsoft.com/office/powerpoint/2010/main" val="1010201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00D30DD-CE54-4D74-B99A-BC44464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6F432BD-37D2-497B-94D3-E0812E58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AFB0342-2892-4735-A5E6-BFCFC43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2FB1B69-14DC-4075-9006-DDAC50F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21F97032-CEAA-4C9A-A489-BFEF994F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689D73F1-EF20-4F5B-9ECD-6127A425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cover the plant words">
            <a:extLst xmlns:a="http://schemas.openxmlformats.org/drawingml/2006/main">
              <a:ext uri="{FF2B5EF4-FFF2-40B4-BE49-F238E27FC236}">
                <a16:creationId xmlns:a16="http://schemas.microsoft.com/office/drawing/2014/main" id="{25AFF69A-99D7-44E8-91C8-80301747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Recover the plant words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3E73089-FA75-4537-A7FC-661D2C92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13971803-C9FB-46A2-9500-3D8B172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51E1A39E-9B59-4D22-A6D6-4DC80C05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Name a flowering-plant part.">
            <a:extLst xmlns:a="http://schemas.openxmlformats.org/drawingml/2006/main">
              <a:ext uri="{FF2B5EF4-FFF2-40B4-BE49-F238E27FC236}">
                <a16:creationId xmlns:a16="http://schemas.microsoft.com/office/drawing/2014/main" id="{56A2670E-FA75-420F-B3F5-036D844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Name a flowering-plant part.</a:t>
            </a:r>
          </a:p>
        </p:txBody>
      </p:sp>
      <p:sp>
        <p:nvSpPr>
          <p:cNvPr id="12" name="R2. What can a seed grow into in suitable conditions?">
            <a:extLst xmlns:a="http://schemas.openxmlformats.org/drawingml/2006/main">
              <a:ext uri="{FF2B5EF4-FFF2-40B4-BE49-F238E27FC236}">
                <a16:creationId xmlns:a16="http://schemas.microsoft.com/office/drawing/2014/main" id="{06845ABE-4E9F-4FF4-963C-AD27BD22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can a seed grow into in suitable conditions?</a:t>
            </a:r>
          </a:p>
        </p:txBody>
      </p:sp>
      <p:sp>
        <p:nvSpPr>
          <p:cNvPr id="13" name="R3. Does reproduction mean the parent grows taller?">
            <a:extLst xmlns:a="http://schemas.openxmlformats.org/drawingml/2006/main">
              <a:ext uri="{FF2B5EF4-FFF2-40B4-BE49-F238E27FC236}">
                <a16:creationId xmlns:a16="http://schemas.microsoft.com/office/drawing/2014/main" id="{9A8CF637-0A49-4ED1-A5F6-02789EBC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reproduction mean the parent grows taller?</a:t>
            </a:r>
          </a:p>
        </p:txBody>
      </p:sp>
    </p:spTree>
    <p:extLst>
      <p:ext uri="{BB962C8B-B14F-4D97-AF65-F5344CB8AC3E}">
        <p14:creationId xmlns:p14="http://schemas.microsoft.com/office/powerpoint/2010/main" val="280387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7A69FA46-421A-4CB4-91CE-D98639AF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A6E4C14-FC61-40A6-806B-0EAEC252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E416DDA-03FD-4B2A-9F62-BBF18E25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9CB1860-7A11-4802-8770-D4EEC86D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A486F90-5F7F-4EAE-84B4-188D31CD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FCC7F54F-EF82-48D4-A35C-F9C908CF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trace the correct delivery destination">
            <a:extLst xmlns:a="http://schemas.openxmlformats.org/drawingml/2006/main">
              <a:ext uri="{FF2B5EF4-FFF2-40B4-BE49-F238E27FC236}">
                <a16:creationId xmlns:a16="http://schemas.microsoft.com/office/drawing/2014/main" id="{6E4249FE-3DC2-4DEB-836E-F884176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trace the correct delivery destination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CBC727A-4E3F-4BE1-83AB-0CAB473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E9BF2CCE-CF66-4AB2-BAE3-81CE55DC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71634FF4-67A1-4CCD-95A7-8545F270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Pollination: pollen reaches a stigma">
            <a:extLst xmlns:a="http://schemas.openxmlformats.org/drawingml/2006/main">
              <a:ext uri="{FF2B5EF4-FFF2-40B4-BE49-F238E27FC236}">
                <a16:creationId xmlns:a16="http://schemas.microsoft.com/office/drawing/2014/main" id="{1A03BDF1-51AA-4637-A383-FAA1FF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1997188"/>
            <a:ext cx="686956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Pollination: pollen reaches a stigma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9BA67F1-37B5-445B-BE7F-276BF8ED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926" y="3415903"/>
            <a:ext cx="418148" cy="11947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A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1A6FC32-34FD-4C4D-B2F4-0D344BC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646" y="2967888"/>
            <a:ext cx="1194707" cy="410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E6D8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4098A68-B372-4594-9B1C-B45E1FC4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4498606"/>
            <a:ext cx="1717392" cy="9333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EA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FA06150-3411-49AC-9310-E8B649EE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4722614"/>
            <a:ext cx="410681" cy="410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BA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183B2B6-6839-4B87-B7C3-C567F9A8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41274" y="3602576"/>
            <a:ext cx="953" cy="858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E8880A7-2315-4F56-8F3E-C58D4909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928" y="3303899"/>
            <a:ext cx="746692" cy="313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59C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596C0F4-5705-46AA-944D-0E0BC30D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616" y="3154561"/>
            <a:ext cx="149338" cy="149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E5E6F02-E730-4921-B4AC-519B31E2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89289" y="3148381"/>
            <a:ext cx="586643" cy="659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FFA58D3-75A2-46D9-9DB4-03BF8F3B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15350">
            <a:off x="5349635" y="309319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1" name="Diagram label: Anther:&#10;makes pollen">
            <a:extLst xmlns:a="http://schemas.openxmlformats.org/drawingml/2006/main">
              <a:ext uri="{FF2B5EF4-FFF2-40B4-BE49-F238E27FC236}">
                <a16:creationId xmlns:a16="http://schemas.microsoft.com/office/drawing/2014/main" id="{80D88D3E-631C-4C5D-AB88-C2AB0D2B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3901253"/>
            <a:ext cx="1493384" cy="634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Anther: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makes pollen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1CD428B-9045-4F9A-A72F-8BB7AE90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42597" y="3617510"/>
            <a:ext cx="37335" cy="3584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3" name="Diagram label: Stigma:&#10;receives pollen">
            <a:extLst xmlns:a="http://schemas.openxmlformats.org/drawingml/2006/main">
              <a:ext uri="{FF2B5EF4-FFF2-40B4-BE49-F238E27FC236}">
                <a16:creationId xmlns:a16="http://schemas.microsoft.com/office/drawing/2014/main" id="{71EF0D14-9265-4502-86FC-DA19ECB9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711" y="2855884"/>
            <a:ext cx="1866730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Stigma: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receives pollen</a:t>
            </a:r>
          </a:p>
        </p:txBody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7DEAEE0-9153-4A56-8CF7-3C9A5E90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3354" y="3162028"/>
            <a:ext cx="70935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5" name="Diagram label: Style">
            <a:extLst xmlns:a="http://schemas.openxmlformats.org/drawingml/2006/main">
              <a:ext uri="{FF2B5EF4-FFF2-40B4-BE49-F238E27FC236}">
                <a16:creationId xmlns:a16="http://schemas.microsoft.com/office/drawing/2014/main" id="{4DAF3D37-5D9D-42B2-B4EE-7F858595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038" y="3863918"/>
            <a:ext cx="194139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Style</a:t>
            </a:r>
          </a:p>
        </p:txBody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1426A5B-E06D-4BA9-B974-D24E2061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20008" y="4050591"/>
            <a:ext cx="8960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7" name="Diagram label: Ovary">
            <a:extLst xmlns:a="http://schemas.openxmlformats.org/drawingml/2006/main">
              <a:ext uri="{FF2B5EF4-FFF2-40B4-BE49-F238E27FC236}">
                <a16:creationId xmlns:a16="http://schemas.microsoft.com/office/drawing/2014/main" id="{41C6E740-E166-4FB3-BDBF-2712128C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707" y="4722614"/>
            <a:ext cx="194139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Ovary</a:t>
            </a:r>
          </a:p>
        </p:txBody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E279A9B-6520-4065-8337-B010ABE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17361" y="4909287"/>
            <a:ext cx="37334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9" name="Diagram label: Ovule">
            <a:extLst xmlns:a="http://schemas.openxmlformats.org/drawingml/2006/main">
              <a:ext uri="{FF2B5EF4-FFF2-40B4-BE49-F238E27FC236}">
                <a16:creationId xmlns:a16="http://schemas.microsoft.com/office/drawing/2014/main" id="{CA8E293A-CB96-41D3-9FB6-FC1CB600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4871952"/>
            <a:ext cx="1792061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Ovule</a:t>
            </a:r>
          </a:p>
        </p:txBody>
      </p:sp>
      <p:sp>
        <p:nvSpPr>
          <p:cNvPr id="3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3859476-D0FC-4A88-9B8E-E17A9DB8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63958" y="4961555"/>
            <a:ext cx="851229" cy="970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31" name="Diagram label: Selected structures only; not to scale. Petals are omitted.">
            <a:extLst xmlns:a="http://schemas.openxmlformats.org/drawingml/2006/main">
              <a:ext uri="{FF2B5EF4-FFF2-40B4-BE49-F238E27FC236}">
                <a16:creationId xmlns:a16="http://schemas.microsoft.com/office/drawing/2014/main" id="{26050339-D7FE-442D-94AB-C52E95A2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5543975"/>
            <a:ext cx="6421551" cy="313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Selected structures only; not to scale. Petals are omitted.</a:t>
            </a:r>
          </a:p>
        </p:txBody>
      </p:sp>
      <p:sp>
        <p:nvSpPr>
          <p:cNvPr id="32" name="Anthers produce pollen.  A stigma receives pollen.  Pollination ">
            <a:extLst xmlns:a="http://schemas.openxmlformats.org/drawingml/2006/main">
              <a:ext uri="{FF2B5EF4-FFF2-40B4-BE49-F238E27FC236}">
                <a16:creationId xmlns:a16="http://schemas.microsoft.com/office/drawing/2014/main" id="{F1E49558-DFD7-408E-8DA3-2AAAF192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Anthers produce pollen. A stigma receives pollen. Pollination names this transfer.</a:t>
            </a:r>
          </a:p>
        </p:txBody>
      </p:sp>
    </p:spTree>
    <p:extLst>
      <p:ext uri="{BB962C8B-B14F-4D97-AF65-F5344CB8AC3E}">
        <p14:creationId xmlns:p14="http://schemas.microsoft.com/office/powerpoint/2010/main" val="1171500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BC3D9951-DBB5-4AE5-B657-E9EA30BC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BFD1ABF-5B7E-484A-8E2C-0F160003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12C9FB3-D4C8-4FFF-AEEA-778E1010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CDF1A62-2106-469A-BC8D-A375F8F4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F819E73-16FC-4F77-85C7-C9AEF2C7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distinguish the event inside the ovule">
            <a:extLst xmlns:a="http://schemas.openxmlformats.org/drawingml/2006/main">
              <a:ext uri="{FF2B5EF4-FFF2-40B4-BE49-F238E27FC236}">
                <a16:creationId xmlns:a16="http://schemas.microsoft.com/office/drawing/2014/main" id="{BAB29C47-4628-4BDE-8748-3902BC7D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distinguish the event inside the ovule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59484D5-C559-4EED-B1FD-BFE01A69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D537367D-D0F4-4E3C-8B01-3F5A3FDF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16AB372C-F910-4132-945B-D819FF8F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Fertilisation happens after pollination">
            <a:extLst xmlns:a="http://schemas.openxmlformats.org/drawingml/2006/main">
              <a:ext uri="{FF2B5EF4-FFF2-40B4-BE49-F238E27FC236}">
                <a16:creationId xmlns:a16="http://schemas.microsoft.com/office/drawing/2014/main" id="{BB919BC6-D106-41F2-881B-671BD8F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1982255"/>
            <a:ext cx="6869566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Fertilisation happens after pollination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F25F773-EF77-41A1-ADFD-B39E6FA4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654" y="3117226"/>
            <a:ext cx="746692" cy="13440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A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712412C-E70D-4EE8-AF13-B839EB71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643" y="2781215"/>
            <a:ext cx="1418715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E6D8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D257C5A-CA0C-45A8-B5D5-AA800ED4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631" y="4386603"/>
            <a:ext cx="2090738" cy="10827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0EA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7F1DF34-0ED5-4A94-A9D8-56428970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658" y="2669211"/>
            <a:ext cx="209074" cy="2090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59C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23D52B4-43C2-4F4B-B699-60055146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46662" y="2930553"/>
            <a:ext cx="953" cy="13067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2F0F958-0116-4E25-8B79-E8E04826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46662" y="4237264"/>
            <a:ext cx="192361" cy="436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C9803B"/>
            </a:solidFill>
          </a:ln>
        </p:spPr>
      </p:sp>
      <p:sp>
        <p:nvSpPr>
          <p:cNvPr id="1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9E072B46-0660-45CB-A31D-79F6F83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1643">
            <a:off x="6097303" y="464492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10031C2-4EB5-46C3-A302-5D49C45F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996" y="4647945"/>
            <a:ext cx="612287" cy="53761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6BA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FC3AF68-3B6B-47A3-B8E6-BD1798AD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871" y="4819684"/>
            <a:ext cx="164272" cy="164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AE7B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0" name="Diagram label: Pollen grain grows&#10;a pollen tube">
            <a:extLst xmlns:a="http://schemas.openxmlformats.org/drawingml/2006/main">
              <a:ext uri="{FF2B5EF4-FFF2-40B4-BE49-F238E27FC236}">
                <a16:creationId xmlns:a16="http://schemas.microsoft.com/office/drawing/2014/main" id="{5BB10617-3150-438C-90DB-026FD7F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3005223"/>
            <a:ext cx="2240076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Pollen grain grows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pollen tube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B65474B-7DD5-4E1A-BBE2-2ACCAF7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8627" y="3311366"/>
            <a:ext cx="1008034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2" name="Diagram label: Male gamete&#10;travels through&#10;the tube">
            <a:extLst xmlns:a="http://schemas.openxmlformats.org/drawingml/2006/main">
              <a:ext uri="{FF2B5EF4-FFF2-40B4-BE49-F238E27FC236}">
                <a16:creationId xmlns:a16="http://schemas.microsoft.com/office/drawing/2014/main" id="{845861F0-8145-4931-A227-7C523F96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373" y="3229230"/>
            <a:ext cx="2090738" cy="78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Male gamete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travels through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tube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CB9142D-3162-402B-9DA7-584F065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46662" y="3736981"/>
            <a:ext cx="126937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4" name="Diagram label: Egg cell&#10;inside an ovule">
            <a:extLst xmlns:a="http://schemas.openxmlformats.org/drawingml/2006/main">
              <a:ext uri="{FF2B5EF4-FFF2-40B4-BE49-F238E27FC236}">
                <a16:creationId xmlns:a16="http://schemas.microsoft.com/office/drawing/2014/main" id="{F5E93170-0A53-4B3F-8DE0-38B0A649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498606"/>
            <a:ext cx="2128072" cy="82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 cell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inside an ovule</a:t>
            </a:r>
          </a:p>
        </p:txBody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E027BCD-4976-4AA7-AB10-3531A647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63958" y="4909287"/>
            <a:ext cx="1366446" cy="597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6" name="Diagram label: Gametes fuse:&#10;fertilisation">
            <a:extLst xmlns:a="http://schemas.openxmlformats.org/drawingml/2006/main">
              <a:ext uri="{FF2B5EF4-FFF2-40B4-BE49-F238E27FC236}">
                <a16:creationId xmlns:a16="http://schemas.microsoft.com/office/drawing/2014/main" id="{5DEBF664-70EE-4137-9D12-2451039D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711" y="4535941"/>
            <a:ext cx="1904065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Gametes fuse: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fertilisation</a:t>
            </a:r>
          </a:p>
        </p:txBody>
      </p:sp>
      <p:sp>
        <p:nvSpPr>
          <p:cNvPr id="27" name="Diagram label: One key fusion is shown; advanced double-fertilisation detail omitted.">
            <a:extLst xmlns:a="http://schemas.openxmlformats.org/drawingml/2006/main">
              <a:ext uri="{FF2B5EF4-FFF2-40B4-BE49-F238E27FC236}">
                <a16:creationId xmlns:a16="http://schemas.microsoft.com/office/drawing/2014/main" id="{E52D480E-B805-469A-A233-5BF6E497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5581310"/>
            <a:ext cx="642155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key fusion is shown; advanced double-fertilisation detail omitted.</a:t>
            </a:r>
          </a:p>
        </p:txBody>
      </p:sp>
      <p:sp>
        <p:nvSpPr>
          <p:cNvPr id="28" name="Compatible pollen can grow a tube.  A male gamete reaches an egg">
            <a:extLst xmlns:a="http://schemas.openxmlformats.org/drawingml/2006/main">
              <a:ext uri="{FF2B5EF4-FFF2-40B4-BE49-F238E27FC236}">
                <a16:creationId xmlns:a16="http://schemas.microsoft.com/office/drawing/2014/main" id="{67E95B2B-5179-41C0-981F-9B5AF61B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Compatible pollen can grow a tube. A male gamete reaches an egg cell. Their fusion is fertilisation.</a:t>
            </a:r>
          </a:p>
        </p:txBody>
      </p:sp>
    </p:spTree>
    <p:extLst>
      <p:ext uri="{BB962C8B-B14F-4D97-AF65-F5344CB8AC3E}">
        <p14:creationId xmlns:p14="http://schemas.microsoft.com/office/powerpoint/2010/main" val="957631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2641FCF9-75D9-4709-8D82-9C36C56F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E8E0C21-A283-4A73-AC7B-7DC6CCE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6454F60-AAE4-493E-9217-2F24C6A8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EFFDB31-9378-470D-8810-C012022D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CAABDAEC-0AD5-439A-8FDE-5FBB64A6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name what develops into a seed">
            <a:extLst xmlns:a="http://schemas.openxmlformats.org/drawingml/2006/main">
              <a:ext uri="{FF2B5EF4-FFF2-40B4-BE49-F238E27FC236}">
                <a16:creationId xmlns:a16="http://schemas.microsoft.com/office/drawing/2014/main" id="{3EC1893A-7321-463C-A74B-63B6DFD7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name what develops into a seed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41EFBE1B-5454-4E8E-93F0-5C0EDEF6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B7F4C680-AE6A-449E-B46F-9460A051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C3080A90-CAC6-4FE5-9E9F-3193FD6C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After fertilisation: identify the structure">
            <a:extLst xmlns:a="http://schemas.openxmlformats.org/drawingml/2006/main">
              <a:ext uri="{FF2B5EF4-FFF2-40B4-BE49-F238E27FC236}">
                <a16:creationId xmlns:a16="http://schemas.microsoft.com/office/drawing/2014/main" id="{06A3CE43-C7D9-4A32-8C42-BDDC5709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1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1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 fertilisation: identify the structure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4ACCC9E-423D-40F5-A639-85D8A85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2899002"/>
            <a:ext cx="2242457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Fertilised ovule">
            <a:extLst xmlns:a="http://schemas.openxmlformats.org/drawingml/2006/main">
              <a:ext uri="{FF2B5EF4-FFF2-40B4-BE49-F238E27FC236}">
                <a16:creationId xmlns:a16="http://schemas.microsoft.com/office/drawing/2014/main" id="{4FAAE121-24BE-4E79-AF64-5EF439E7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90" y="3109232"/>
            <a:ext cx="1962150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Fertilised ovule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10C5DBE-3864-4296-92F7-6545179E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2899002"/>
            <a:ext cx="2207419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Diagram label: Seed">
            <a:extLst xmlns:a="http://schemas.openxmlformats.org/drawingml/2006/main">
              <a:ext uri="{FF2B5EF4-FFF2-40B4-BE49-F238E27FC236}">
                <a16:creationId xmlns:a16="http://schemas.microsoft.com/office/drawing/2014/main" id="{E71B2EB7-DE67-4CF4-BE9A-66441FC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998" y="3109232"/>
            <a:ext cx="1927112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Seed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E89C2B8-E492-406F-A03C-5632DBE8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60194" y="3284424"/>
            <a:ext cx="14330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D0414B6-8CC0-480C-A898-DC02878B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8737" y="3235370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6DA22DC-49D6-4FE0-866D-80577FD1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4265499"/>
            <a:ext cx="2242457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8" name="Diagram label: Ovary">
            <a:extLst xmlns:a="http://schemas.openxmlformats.org/drawingml/2006/main">
              <a:ext uri="{FF2B5EF4-FFF2-40B4-BE49-F238E27FC236}">
                <a16:creationId xmlns:a16="http://schemas.microsoft.com/office/drawing/2014/main" id="{99B2B344-C8B1-4CB2-BB4B-F2D46B0F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890" y="4475729"/>
            <a:ext cx="1962150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Ovary</a:t>
            </a:r>
          </a:p>
        </p:txBody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62118A1-D353-423B-9BB7-70D6ECDD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4265499"/>
            <a:ext cx="2207419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Diagram label: Fruit">
            <a:extLst xmlns:a="http://schemas.openxmlformats.org/drawingml/2006/main">
              <a:ext uri="{FF2B5EF4-FFF2-40B4-BE49-F238E27FC236}">
                <a16:creationId xmlns:a16="http://schemas.microsoft.com/office/drawing/2014/main" id="{035C3672-5D67-4297-AEA9-429D986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998" y="4475729"/>
            <a:ext cx="1927112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Fruit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823FC5F-A231-4DC3-9A99-FDED19F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60194" y="4650921"/>
            <a:ext cx="143307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2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AE47D4E-2E29-4113-9DEB-DB3B8E7E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8737" y="4601868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3" name="Diagram label: A seed contains a young plant embryo; fruit surrounds seeds.">
            <a:extLst xmlns:a="http://schemas.openxmlformats.org/drawingml/2006/main">
              <a:ext uri="{FF2B5EF4-FFF2-40B4-BE49-F238E27FC236}">
                <a16:creationId xmlns:a16="http://schemas.microsoft.com/office/drawing/2014/main" id="{11D81DE0-EE9D-491A-8D1D-B5969E04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98" y="5302636"/>
            <a:ext cx="6026604" cy="294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seed contains a young plant embryo; fruit surrounds seeds.</a:t>
            </a:r>
          </a:p>
        </p:txBody>
      </p:sp>
      <p:sp>
        <p:nvSpPr>
          <p:cNvPr id="24" name="The fertilised ovule develops into a seed.  The ovary develops i">
            <a:extLst xmlns:a="http://schemas.openxmlformats.org/drawingml/2006/main">
              <a:ext uri="{FF2B5EF4-FFF2-40B4-BE49-F238E27FC236}">
                <a16:creationId xmlns:a16="http://schemas.microsoft.com/office/drawing/2014/main" id="{149FDF21-118C-41F4-B4D4-C0692347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fertilised ovule develops into a seed. The ovary develops into fruit. A pollen grain does not turn into the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seed.</a:t>
            </a:r>
          </a:p>
        </p:txBody>
      </p:sp>
    </p:spTree>
    <p:extLst>
      <p:ext uri="{BB962C8B-B14F-4D97-AF65-F5344CB8AC3E}">
        <p14:creationId xmlns:p14="http://schemas.microsoft.com/office/powerpoint/2010/main" val="95368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630AE9B-0008-42AB-814F-98AA7D6D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B1B28CB-07D7-45BF-AC35-521D40BF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C30B4DA-10F4-4192-A88D-191ECA10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220ACDD-3787-4E11-9111-7A0BB8B1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0C6DB33F-58DB-4824-A293-36185BB5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CA18FC1A-CEAC-47E4-BD8F-AAEB2EFE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Orchard evidence desk">
            <a:extLst xmlns:a="http://schemas.openxmlformats.org/drawingml/2006/main">
              <a:ext uri="{FF2B5EF4-FFF2-40B4-BE49-F238E27FC236}">
                <a16:creationId xmlns:a16="http://schemas.microsoft.com/office/drawing/2014/main" id="{F01841A9-4FD9-40AF-96A9-0B9FCDDF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Orchard evidence desk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3E04B40-27E4-4C3D-9207-37F8AD17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4B092C6C-9799-4497-813D-6DE0843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F8EECDC9-D407-4F65-89EB-24955D7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Use records A–F. W1. Which record shows pollination? Which recor">
            <a:extLst xmlns:a="http://schemas.openxmlformats.org/drawingml/2006/main">
              <a:ext uri="{FF2B5EF4-FFF2-40B4-BE49-F238E27FC236}">
                <a16:creationId xmlns:a16="http://schemas.microsoft.com/office/drawing/2014/main" id="{8CAB05E9-AB0F-4AEB-AFED-15D4181B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records A–F. W1. Which record shows pollination? Which record shows only pollen in the wrong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place?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604114"/>
                <a:gridCol w="5521086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Observed record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What can we establish?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A: anther → suitable stigma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Pollen transfer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D: pollen on leaf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Wrong destination in this record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E: pollen on stigma; inside unseen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Transfer, but fusion not observed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544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2B6B7B2-C42B-42F2-BB84-FA44CD8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0DD458D-94BF-47E7-81BC-33DD965A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CCC34C5-446B-463F-BAA9-F03E18FC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97E606E-6112-4ECC-AB7B-BD869362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9EA65ED-5DA8-4572-AEAC-6FAC2F40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Audit the missing step">
            <a:extLst xmlns:a="http://schemas.openxmlformats.org/drawingml/2006/main">
              <a:ext uri="{FF2B5EF4-FFF2-40B4-BE49-F238E27FC236}">
                <a16:creationId xmlns:a16="http://schemas.microsoft.com/office/drawing/2014/main" id="{AA83CB1D-4943-41DF-AD57-9A3BCBB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Audit the missing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854357C-F102-4448-A436-A4B2365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5EE7E841-D03B-4968-AB0E-45053D94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B7015C95-D421-4F82-AC1D-8BDD9AB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W2. Put A, B and C in process order.">
            <a:extLst xmlns:a="http://schemas.openxmlformats.org/drawingml/2006/main">
              <a:ext uri="{FF2B5EF4-FFF2-40B4-BE49-F238E27FC236}">
                <a16:creationId xmlns:a16="http://schemas.microsoft.com/office/drawing/2014/main" id="{41EEDEBD-78AF-47B6-80BF-E39A6CD0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Put A, B and C in process order.</a:t>
            </a:r>
          </a:p>
        </p:txBody>
      </p:sp>
      <p:sp>
        <p:nvSpPr>
          <p:cNvPr id="11" name="Explain what changes from transfer to fusion to development.">
            <a:extLst xmlns:a="http://schemas.openxmlformats.org/drawingml/2006/main">
              <a:ext uri="{FF2B5EF4-FFF2-40B4-BE49-F238E27FC236}">
                <a16:creationId xmlns:a16="http://schemas.microsoft.com/office/drawing/2014/main" id="{31F6ABD7-59A4-4085-AF90-B717CC9C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what changes from transfer to fusion to development.</a:t>
            </a:r>
          </a:p>
        </p:txBody>
      </p:sp>
    </p:spTree>
    <p:extLst>
      <p:ext uri="{BB962C8B-B14F-4D97-AF65-F5344CB8AC3E}">
        <p14:creationId xmlns:p14="http://schemas.microsoft.com/office/powerpoint/2010/main" val="1969149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FFE6E3C-8B72-4B7F-ACEA-9550141F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D4F7B01-51B6-4141-9537-4F616F53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33DBFB1-7B4C-4608-99E4-3F9AE0B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BB35F96-69A7-4D5D-BDA2-681D67E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40E0CF0B-B04F-4173-B963-17AF3D2D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What does the evidence prove?">
            <a:extLst xmlns:a="http://schemas.openxmlformats.org/drawingml/2006/main">
              <a:ext uri="{FF2B5EF4-FFF2-40B4-BE49-F238E27FC236}">
                <a16:creationId xmlns:a16="http://schemas.microsoft.com/office/drawing/2014/main" id="{B97527BC-488E-410D-A17E-2BCC625B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does the evidence prove?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A0C0A9FD-0A2E-4487-BE68-B970EAC4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E3FF09EA-86AF-43EB-82FC-17A74BD4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92562B88-C402-4751-9C1F-6B598107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W3. Record E has pollen on a stigma.">
            <a:extLst xmlns:a="http://schemas.openxmlformats.org/drawingml/2006/main">
              <a:ext uri="{FF2B5EF4-FFF2-40B4-BE49-F238E27FC236}">
                <a16:creationId xmlns:a16="http://schemas.microsoft.com/office/drawing/2014/main" id="{2B33C4BC-344E-49C8-8DA0-D202265D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Record E has pollen on a stigma.</a:t>
            </a:r>
          </a:p>
        </p:txBody>
      </p:sp>
      <p:sp>
        <p:nvSpPr>
          <p:cNvPr id="11" name="Can the observer claim fertilisation definitely happened?">
            <a:extLst xmlns:a="http://schemas.openxmlformats.org/drawingml/2006/main">
              <a:ext uri="{FF2B5EF4-FFF2-40B4-BE49-F238E27FC236}">
                <a16:creationId xmlns:a16="http://schemas.microsoft.com/office/drawing/2014/main" id="{B35EB9F7-83C7-477A-90F0-9B49FBF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the observer claim fertilisation definitely happened?</a:t>
            </a:r>
          </a:p>
        </p:txBody>
      </p:sp>
      <p:sp>
        <p:nvSpPr>
          <p:cNvPr id="12" name="Give the strongest claim that the record supports.">
            <a:extLst xmlns:a="http://schemas.openxmlformats.org/drawingml/2006/main">
              <a:ext uri="{FF2B5EF4-FFF2-40B4-BE49-F238E27FC236}">
                <a16:creationId xmlns:a16="http://schemas.microsoft.com/office/drawing/2014/main" id="{E1E49580-2E19-46C6-A853-D6ED79C9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Give the strongest claim that the record supports.</a:t>
            </a:r>
          </a:p>
        </p:txBody>
      </p:sp>
    </p:spTree>
    <p:extLst>
      <p:ext uri="{BB962C8B-B14F-4D97-AF65-F5344CB8AC3E}">
        <p14:creationId xmlns:p14="http://schemas.microsoft.com/office/powerpoint/2010/main" val="177892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689B840E-A67F-4D08-83EA-01C79291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530A343-302B-4ACC-B423-9C58A38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11F2F25-F9D7-4F42-B706-87CEF27F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1FB99A3-DA73-4C66-80C3-474DC34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3F84DF3A-3282-40E1-A56A-EC586B78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2BD5644C-9AC7-43A2-8390-7DFE66D1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structure becomes a seed?">
            <a:extLst xmlns:a="http://schemas.openxmlformats.org/drawingml/2006/main">
              <a:ext uri="{FF2B5EF4-FFF2-40B4-BE49-F238E27FC236}">
                <a16:creationId xmlns:a16="http://schemas.microsoft.com/office/drawing/2014/main" id="{A54540F2-D166-4D09-A9C3-21A5FC3F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structure becomes a seed?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2BD23FC-D041-4683-B3F4-9D24F3AC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C590BC19-8257-46A8-A9A1-E878686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C8FBD203-B750-4608-9171-30A147C6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scientifically accurate explanation.">
            <a:extLst xmlns:a="http://schemas.openxmlformats.org/drawingml/2006/main">
              <a:ext uri="{FF2B5EF4-FFF2-40B4-BE49-F238E27FC236}">
                <a16:creationId xmlns:a16="http://schemas.microsoft.com/office/drawing/2014/main" id="{E0D60E46-481F-4C31-99EE-B2DEE36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scientifically accurate explanation.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B314137-A053-4889-A086-3036CA06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B416374-1565-4373-93D7-A5F2C7C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D04BD4C9-6E50-4454-A76E-C0D8C2F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The pollen grain simply changes into a seed.">
            <a:extLst xmlns:a="http://schemas.openxmlformats.org/drawingml/2006/main">
              <a:ext uri="{FF2B5EF4-FFF2-40B4-BE49-F238E27FC236}">
                <a16:creationId xmlns:a16="http://schemas.microsoft.com/office/drawing/2014/main" id="{40D82686-CDB8-467D-9386-6378D52F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pollen grain simply changes into a seed.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56A8B9EA-E11B-43F6-AA20-098C13B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DA32793D-11DF-4CD1-92BF-52A28FC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DE57CFF6-973B-41CE-9041-58582103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A fertilised ovule develops into a seed.">
            <a:extLst xmlns:a="http://schemas.openxmlformats.org/drawingml/2006/main">
              <a:ext uri="{FF2B5EF4-FFF2-40B4-BE49-F238E27FC236}">
                <a16:creationId xmlns:a16="http://schemas.microsoft.com/office/drawing/2014/main" id="{13E55E3F-EABC-44D4-B8BC-33FCD71D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fertilised ovule develops into a seed.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3163D0FD-9BE4-42C2-9599-ABA1E8C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99626BF3-8CD8-4B27-A071-FBF2394D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66FD833B-B906-4C0A-BA8F-8F5FF484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A leaf changes into every seed.">
            <a:extLst xmlns:a="http://schemas.openxmlformats.org/drawingml/2006/main">
              <a:ext uri="{FF2B5EF4-FFF2-40B4-BE49-F238E27FC236}">
                <a16:creationId xmlns:a16="http://schemas.microsoft.com/office/drawing/2014/main" id="{9A89EEB6-51C3-49AA-A10D-E5E2A81F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leaf changes into every seed.</a:t>
            </a:r>
          </a:p>
        </p:txBody>
      </p:sp>
    </p:spTree>
    <p:extLst>
      <p:ext uri="{BB962C8B-B14F-4D97-AF65-F5344CB8AC3E}">
        <p14:creationId xmlns:p14="http://schemas.microsoft.com/office/powerpoint/2010/main" val="929068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EA1F6AC-681A-47A6-95D8-DAA3E708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D260452-EE22-4820-A129-9A64AFD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8B63238-0F33-4F11-BA7E-BCA4489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3C3B378-AAC2-4CEC-A1E0-0AD69D05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CEA53126-7A79-409D-8D70-7F4A1D4B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E904C280-9B8B-4C5B-A9A0-6244BA26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Your independent investigation">
            <a:extLst xmlns:a="http://schemas.openxmlformats.org/drawingml/2006/main">
              <a:ext uri="{FF2B5EF4-FFF2-40B4-BE49-F238E27FC236}">
                <a16:creationId xmlns:a16="http://schemas.microsoft.com/office/drawing/2014/main" id="{65117BDF-1037-425F-ACA9-B6AF807A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independent investigation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F454EEF-C42F-48B7-B047-E47739A2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891DCD8C-8EF8-4BEC-A691-569274F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5EBA46B6-9B2D-4872-B49E-C0809563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.">
            <a:extLst xmlns:a="http://schemas.openxmlformats.org/drawingml/2006/main">
              <a:ext uri="{FF2B5EF4-FFF2-40B4-BE49-F238E27FC236}">
                <a16:creationId xmlns:a16="http://schemas.microsoft.com/office/drawing/2014/main" id="{74C5FAD1-0E22-4A2A-BF10-5D56ADE4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route.</a:t>
            </a:r>
          </a:p>
        </p:txBody>
      </p:sp>
      <p:sp>
        <p:nvSpPr>
          <p:cNvPr id="12" name="Trace the flower-to-seed sequence.">
            <a:extLst xmlns:a="http://schemas.openxmlformats.org/drawingml/2006/main">
              <a:ext uri="{FF2B5EF4-FFF2-40B4-BE49-F238E27FC236}">
                <a16:creationId xmlns:a16="http://schemas.microsoft.com/office/drawing/2014/main" id="{B6850DF2-A85C-446D-AD06-42F04B1E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the flower-to-seed sequence.</a:t>
            </a:r>
          </a:p>
        </p:txBody>
      </p:sp>
      <p:sp>
        <p:nvSpPr>
          <p:cNvPr id="13" name="Use records to separate observation from inference.">
            <a:extLst xmlns:a="http://schemas.openxmlformats.org/drawingml/2006/main">
              <a:ext uri="{FF2B5EF4-FFF2-40B4-BE49-F238E27FC236}">
                <a16:creationId xmlns:a16="http://schemas.microsoft.com/office/drawing/2014/main" id="{DA991E87-BE7D-46A7-AAA2-906E4508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records to separate observation from inference.</a:t>
            </a:r>
          </a:p>
        </p:txBody>
      </p:sp>
    </p:spTree>
    <p:extLst>
      <p:ext uri="{BB962C8B-B14F-4D97-AF65-F5344CB8AC3E}">
        <p14:creationId xmlns:p14="http://schemas.microsoft.com/office/powerpoint/2010/main" val="904002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A0C167B-8733-40FC-8FC0-8D130E80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8708031-001D-4FEF-950C-F37C242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B7CF85D-6EDA-4868-A32A-B9845F0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EF9AF06-911A-4BF6-84B4-B5BCC398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D5FE7D00-8CAD-44B7-95FC-43962681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B7759B54-CBA6-4549-A71A-B0FF25D7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DC28B51-E232-45D7-A36D-EE9B8D22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0C63186C-C324-4DF7-9BB9-4C06D1E5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885C799E-0B43-4D4F-982D-575FA6C0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Name the destination: anther to stigma.">
            <a:extLst xmlns:a="http://schemas.openxmlformats.org/drawingml/2006/main">
              <a:ext uri="{FF2B5EF4-FFF2-40B4-BE49-F238E27FC236}">
                <a16:creationId xmlns:a16="http://schemas.microsoft.com/office/drawing/2014/main" id="{666792A2-4A27-4C6A-A020-782EE6AD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the destination: anther to stigma.</a:t>
            </a:r>
          </a:p>
        </p:txBody>
      </p:sp>
      <p:sp>
        <p:nvSpPr>
          <p:cNvPr id="11" name="Distinguish transfer, fusion and development.">
            <a:extLst xmlns:a="http://schemas.openxmlformats.org/drawingml/2006/main">
              <a:ext uri="{FF2B5EF4-FFF2-40B4-BE49-F238E27FC236}">
                <a16:creationId xmlns:a16="http://schemas.microsoft.com/office/drawing/2014/main" id="{3887B8B2-B602-4A1C-9367-DF81078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Distinguish transfer, fusion and development.</a:t>
            </a:r>
          </a:p>
        </p:txBody>
      </p:sp>
      <p:sp>
        <p:nvSpPr>
          <p:cNvPr id="12" name="State what the observer has actually seen.">
            <a:extLst xmlns:a="http://schemas.openxmlformats.org/drawingml/2006/main">
              <a:ext uri="{FF2B5EF4-FFF2-40B4-BE49-F238E27FC236}">
                <a16:creationId xmlns:a16="http://schemas.microsoft.com/office/drawing/2014/main" id="{3F5EDD47-53EA-4A53-AEA3-93FFB3D7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State what the observer has actually seen.</a:t>
            </a:r>
          </a:p>
        </p:txBody>
      </p:sp>
    </p:spTree>
    <p:extLst>
      <p:ext uri="{BB962C8B-B14F-4D97-AF65-F5344CB8AC3E}">
        <p14:creationId xmlns:p14="http://schemas.microsoft.com/office/powerpoint/2010/main" val="19378539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8A9DFBC-F184-4889-8462-903B3EA0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0EF4A62-2084-4AF0-93C4-08E2CE0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E26ABFA-5097-42EB-9988-6112F70F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54036FC-3880-4BBD-AB91-82A172D3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19EE8B15-E544-4D8D-A19D-438A7DE4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before sharing">
            <a:extLst xmlns:a="http://schemas.openxmlformats.org/drawingml/2006/main">
              <a:ext uri="{FF2B5EF4-FFF2-40B4-BE49-F238E27FC236}">
                <a16:creationId xmlns:a16="http://schemas.microsoft.com/office/drawing/2014/main" id="{7D2CB889-6C5A-4128-A1E8-2D7EF730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before sharing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0716C29-E6C2-4951-A736-EBD73268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84030303-D885-46C1-AD3B-CCC645BE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3F9B8CF7-A108-4014-AE5D-C274B402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Does my explanation answer the question?">
            <a:extLst xmlns:a="http://schemas.openxmlformats.org/drawingml/2006/main">
              <a:ext uri="{FF2B5EF4-FFF2-40B4-BE49-F238E27FC236}">
                <a16:creationId xmlns:a16="http://schemas.microsoft.com/office/drawing/2014/main" id="{5B7691E2-E39A-4798-9C85-3432A8A2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explanation answer the question?</a:t>
            </a:r>
          </a:p>
        </p:txBody>
      </p:sp>
      <p:sp>
        <p:nvSpPr>
          <p:cNvPr id="11" name="Have I named the evidence or process?">
            <a:extLst xmlns:a="http://schemas.openxmlformats.org/drawingml/2006/main">
              <a:ext uri="{FF2B5EF4-FFF2-40B4-BE49-F238E27FC236}">
                <a16:creationId xmlns:a16="http://schemas.microsoft.com/office/drawing/2014/main" id="{AD0F98B3-9EBF-43C8-A186-3477284A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named the evidence or process?</a:t>
            </a:r>
          </a:p>
        </p:txBody>
      </p:sp>
      <p:sp>
        <p:nvSpPr>
          <p:cNvPr id="12" name="Have I kept the conclusion within its limits?">
            <a:extLst xmlns:a="http://schemas.openxmlformats.org/drawingml/2006/main">
              <a:ext uri="{FF2B5EF4-FFF2-40B4-BE49-F238E27FC236}">
                <a16:creationId xmlns:a16="http://schemas.microsoft.com/office/drawing/2014/main" id="{CD5394EC-CF4D-41E4-B562-964BE5CC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kept the conclusion within its limits?</a:t>
            </a:r>
          </a:p>
        </p:txBody>
      </p:sp>
    </p:spTree>
    <p:extLst>
      <p:ext uri="{BB962C8B-B14F-4D97-AF65-F5344CB8AC3E}">
        <p14:creationId xmlns:p14="http://schemas.microsoft.com/office/powerpoint/2010/main" val="97767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C0E4B94-CCDD-4CBD-B6B3-5DA7E57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CE99806-E9E0-4D13-8442-82106E76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19910FE-8F77-45F0-925C-1CF9EE17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DC21ED5-6888-45F7-B383-75089CFE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5BE5C27F-34B3-4C83-B020-D62615F9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858CF64C-AFA7-41CB-8F0A-824F074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ompare and improve">
            <a:extLst xmlns:a="http://schemas.openxmlformats.org/drawingml/2006/main">
              <a:ext uri="{FF2B5EF4-FFF2-40B4-BE49-F238E27FC236}">
                <a16:creationId xmlns:a16="http://schemas.microsoft.com/office/drawing/2014/main" id="{D2AB26E1-4287-4120-9307-3282B9F5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and improve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9CF913D-A781-4676-A533-39B25382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E058946B-14E7-4074-AC45-CE0693D9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4B98BEE2-0566-4B57-A42F-3F93BE5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Share one accurate arrow or process label.">
            <a:extLst xmlns:a="http://schemas.openxmlformats.org/drawingml/2006/main">
              <a:ext uri="{FF2B5EF4-FFF2-40B4-BE49-F238E27FC236}">
                <a16:creationId xmlns:a16="http://schemas.microsoft.com/office/drawing/2014/main" id="{462600A8-4CD7-45EA-8881-D7928DA3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Share one accurate arrow or process label.</a:t>
            </a:r>
          </a:p>
        </p:txBody>
      </p:sp>
      <p:sp>
        <p:nvSpPr>
          <p:cNvPr id="12" name="Check it against the source cards.">
            <a:extLst xmlns:a="http://schemas.openxmlformats.org/drawingml/2006/main">
              <a:ext uri="{FF2B5EF4-FFF2-40B4-BE49-F238E27FC236}">
                <a16:creationId xmlns:a16="http://schemas.microsoft.com/office/drawing/2014/main" id="{4C533006-F351-436E-8342-1F172AC9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it against the source cards.</a:t>
            </a:r>
          </a:p>
        </p:txBody>
      </p:sp>
      <p:sp>
        <p:nvSpPr>
          <p:cNvPr id="13" name="Improve a seed or fertilisation claim.">
            <a:extLst xmlns:a="http://schemas.openxmlformats.org/drawingml/2006/main">
              <a:ext uri="{FF2B5EF4-FFF2-40B4-BE49-F238E27FC236}">
                <a16:creationId xmlns:a16="http://schemas.microsoft.com/office/drawing/2014/main" id="{C911F99A-6AD9-42B1-A3B1-B0F59694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a seed or fertilisation claim.</a:t>
            </a:r>
          </a:p>
        </p:txBody>
      </p:sp>
    </p:spTree>
    <p:extLst>
      <p:ext uri="{BB962C8B-B14F-4D97-AF65-F5344CB8AC3E}">
        <p14:creationId xmlns:p14="http://schemas.microsoft.com/office/powerpoint/2010/main" val="394560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0112D94-5ADB-47DF-A440-DE06969C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095F171-A833-48D3-AE12-E3D4C824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C86888F-8F11-4023-A55B-F0A508D5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7CBCB92-FFF1-4F0B-8E96-017428F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661E36C5-A77B-4929-A436-4CD51F63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A question worth investigating">
            <a:extLst xmlns:a="http://schemas.openxmlformats.org/drawingml/2006/main">
              <a:ext uri="{FF2B5EF4-FFF2-40B4-BE49-F238E27FC236}">
                <a16:creationId xmlns:a16="http://schemas.microsoft.com/office/drawing/2014/main" id="{3A3ED9B0-F21F-4078-9A46-6EF70520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question worth investigating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FDCEA0E-A670-434E-ACA2-E23F6A9A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9B34C01D-78E5-4869-8D48-2EC0DAB9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FA3A9C16-BAD7-44A1-80E4-45FC41D1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uggest one next question about this lesson’s evidence.">
            <a:extLst xmlns:a="http://schemas.openxmlformats.org/drawingml/2006/main">
              <a:ext uri="{FF2B5EF4-FFF2-40B4-BE49-F238E27FC236}">
                <a16:creationId xmlns:a16="http://schemas.microsoft.com/office/drawing/2014/main" id="{5A9011D3-A85A-4F60-827B-1A9C1437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one next question about this lesson’s evidence.</a:t>
            </a:r>
          </a:p>
        </p:txBody>
      </p:sp>
      <p:sp>
        <p:nvSpPr>
          <p:cNvPr id="11" name="Choose a question whose answer would improve our model.">
            <a:extLst xmlns:a="http://schemas.openxmlformats.org/drawingml/2006/main">
              <a:ext uri="{FF2B5EF4-FFF2-40B4-BE49-F238E27FC236}">
                <a16:creationId xmlns:a16="http://schemas.microsoft.com/office/drawing/2014/main" id="{93F5403E-EEE4-42E5-A4F2-D28DED0C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question whose answer would improve our model.</a:t>
            </a:r>
          </a:p>
        </p:txBody>
      </p:sp>
    </p:spTree>
    <p:extLst>
      <p:ext uri="{BB962C8B-B14F-4D97-AF65-F5344CB8AC3E}">
        <p14:creationId xmlns:p14="http://schemas.microsoft.com/office/powerpoint/2010/main" val="5308678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FD0733A-FBAD-48DF-8809-7FF32EF4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7A3C924-A5E7-45CD-A19D-83FC6011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CB8043D-A7B4-4C50-BA43-F54D3DC3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ED54F1D-EEF7-47C8-BFCE-33BA5841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01929A10-1DA3-4AD5-93D3-39CB392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09BCCBF-8463-4DC1-A64F-48751214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how the science you can explain">
            <a:extLst xmlns:a="http://schemas.openxmlformats.org/drawingml/2006/main">
              <a:ext uri="{FF2B5EF4-FFF2-40B4-BE49-F238E27FC236}">
                <a16:creationId xmlns:a16="http://schemas.microsoft.com/office/drawing/2014/main" id="{F3D34A2B-52D0-4B0F-8B86-323C402F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science you can explain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57E3443-C768-4708-A85C-2B27AAC2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lower-to-seed investigation">
            <a:extLst xmlns:a="http://schemas.openxmlformats.org/drawingml/2006/main">
              <a:ext uri="{FF2B5EF4-FFF2-40B4-BE49-F238E27FC236}">
                <a16:creationId xmlns:a16="http://schemas.microsoft.com/office/drawing/2014/main" id="{9A0C9631-D861-454E-9AC7-D4E7E4AA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flower-to-seed investigation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79FB9BA5-D31C-4897-88DC-130BCA8B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What is pollination?">
            <a:extLst xmlns:a="http://schemas.openxmlformats.org/drawingml/2006/main">
              <a:ext uri="{FF2B5EF4-FFF2-40B4-BE49-F238E27FC236}">
                <a16:creationId xmlns:a16="http://schemas.microsoft.com/office/drawing/2014/main" id="{C7353C49-837D-4E01-9B50-92DD54FC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is pollination?</a:t>
            </a:r>
          </a:p>
        </p:txBody>
      </p:sp>
      <p:sp>
        <p:nvSpPr>
          <p:cNvPr id="12" name="E2. How is fertilisation different?">
            <a:extLst xmlns:a="http://schemas.openxmlformats.org/drawingml/2006/main">
              <a:ext uri="{FF2B5EF4-FFF2-40B4-BE49-F238E27FC236}">
                <a16:creationId xmlns:a16="http://schemas.microsoft.com/office/drawing/2014/main" id="{B28C3D83-0CAE-4B86-9C54-E723F025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How is fertilisation different?</a:t>
            </a:r>
          </a:p>
        </p:txBody>
      </p:sp>
      <p:sp>
        <p:nvSpPr>
          <p:cNvPr id="13" name="E3. What develops into a seed?">
            <a:extLst xmlns:a="http://schemas.openxmlformats.org/drawingml/2006/main">
              <a:ext uri="{FF2B5EF4-FFF2-40B4-BE49-F238E27FC236}">
                <a16:creationId xmlns:a16="http://schemas.microsoft.com/office/drawing/2014/main" id="{DE16EA70-784D-42F9-87C8-1EAC96C8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What develops into a seed?</a:t>
            </a:r>
          </a:p>
        </p:txBody>
      </p:sp>
    </p:spTree>
    <p:extLst>
      <p:ext uri="{BB962C8B-B14F-4D97-AF65-F5344CB8AC3E}">
        <p14:creationId xmlns:p14="http://schemas.microsoft.com/office/powerpoint/2010/main" val="876421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2026-09-08T23:51:00.9510000Z</dcterms:created>
  <dcterms:modified xsi:type="dcterms:W3CDTF">2026-09-08T23:51:00.9510000Z</dcterms:modified>
</coreProperties>
</file>