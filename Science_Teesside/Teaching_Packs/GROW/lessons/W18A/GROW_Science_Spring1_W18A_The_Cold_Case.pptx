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a57b6725e204087" /><Relationship Type="http://schemas.openxmlformats.org/officeDocument/2006/relationships/extended-properties" Target="/docProps/app.xml" Id="Rf8f7bca9d68a4f97" /><Relationship Type="http://schemas.openxmlformats.org/officeDocument/2006/relationships/officeDocument" Target="/ppt/presentation.xml" Id="R4260ac37a42649f2" /></Relationships>
</file>

<file path=ppt/presentation.xml><?xml version="1.0" encoding="utf-8"?>
<p:presentation xmlns:p="http://schemas.openxmlformats.org/presentationml/2006/main">
  <p:sldMasterIdLst>
    <p:sldMasterId xmlns:r="http://schemas.openxmlformats.org/officeDocument/2006/relationships" id="2147483648" r:id="R29e058b8b1244b37"/>
  </p:sldMasterIdLst>
  <p:notesMasterIdLst>
    <p:notesMasterId xmlns:r="http://schemas.openxmlformats.org/officeDocument/2006/relationships" r:id="R0bd419eefc5440ea"/>
  </p:notesMasterIdLst>
  <p:sldIdLst>
    <p:sldId xmlns:r="http://schemas.openxmlformats.org/officeDocument/2006/relationships" id="256" r:id="Rd5ac1fe4ca9f4f83"/>
    <p:sldId xmlns:r="http://schemas.openxmlformats.org/officeDocument/2006/relationships" id="257" r:id="R96b8b6b1b97a44f0"/>
    <p:sldId xmlns:r="http://schemas.openxmlformats.org/officeDocument/2006/relationships" id="258" r:id="R53dc3230cfe44490"/>
    <p:sldId xmlns:r="http://schemas.openxmlformats.org/officeDocument/2006/relationships" id="259" r:id="R1da95dac9c014f94"/>
    <p:sldId xmlns:r="http://schemas.openxmlformats.org/officeDocument/2006/relationships" id="260" r:id="Rbaa4b7b9801241b4"/>
    <p:sldId xmlns:r="http://schemas.openxmlformats.org/officeDocument/2006/relationships" id="261" r:id="R1126ba61c74f4428"/>
    <p:sldId xmlns:r="http://schemas.openxmlformats.org/officeDocument/2006/relationships" id="262" r:id="R1fb949cacbb14be4"/>
    <p:sldId xmlns:r="http://schemas.openxmlformats.org/officeDocument/2006/relationships" id="263" r:id="Rda0b7ae9495f443a"/>
    <p:sldId xmlns:r="http://schemas.openxmlformats.org/officeDocument/2006/relationships" id="264" r:id="R50ceb43d644541c7"/>
    <p:sldId xmlns:r="http://schemas.openxmlformats.org/officeDocument/2006/relationships" id="265" r:id="Raffcca21bb714a1a"/>
    <p:sldId xmlns:r="http://schemas.openxmlformats.org/officeDocument/2006/relationships" id="266" r:id="R30dcb49139ad4026"/>
    <p:sldId xmlns:r="http://schemas.openxmlformats.org/officeDocument/2006/relationships" id="267" r:id="Rb513914995a04302"/>
    <p:sldId xmlns:r="http://schemas.openxmlformats.org/officeDocument/2006/relationships" id="268" r:id="R97779571d8914a4c"/>
    <p:sldId xmlns:r="http://schemas.openxmlformats.org/officeDocument/2006/relationships" id="269" r:id="R931718ebdcdf4c2a"/>
    <p:sldId xmlns:r="http://schemas.openxmlformats.org/officeDocument/2006/relationships" id="270" r:id="Rbb90ae1e01c1467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fa83ee656124048" /><Relationship Type="http://schemas.openxmlformats.org/officeDocument/2006/relationships/slideMaster" Target="/ppt/slideMasters/slideMaster1.xml" Id="R29e058b8b1244b37" /><Relationship Type="http://schemas.openxmlformats.org/officeDocument/2006/relationships/notesMaster" Target="/ppt/notesMasters/notesMaster1.xml" Id="R0bd419eefc5440ea" /><Relationship Type="http://schemas.openxmlformats.org/officeDocument/2006/relationships/presProps" Target="/ppt/presProps.xml" Id="R856d7558aec54c92" /><Relationship Type="http://schemas.openxmlformats.org/officeDocument/2006/relationships/tableStyles" Target="/ppt/tableStyles.xml" Id="R6d600da3c1a14925" /><Relationship Type="http://schemas.openxmlformats.org/officeDocument/2006/relationships/slide" Target="/ppt/slides/slide1.xml" Id="Rd5ac1fe4ca9f4f83" /><Relationship Type="http://schemas.openxmlformats.org/officeDocument/2006/relationships/slide" Target="/ppt/slides/slide2.xml" Id="R96b8b6b1b97a44f0" /><Relationship Type="http://schemas.openxmlformats.org/officeDocument/2006/relationships/slide" Target="/ppt/slides/slide3.xml" Id="R53dc3230cfe44490" /><Relationship Type="http://schemas.openxmlformats.org/officeDocument/2006/relationships/slide" Target="/ppt/slides/slide4.xml" Id="R1da95dac9c014f94" /><Relationship Type="http://schemas.openxmlformats.org/officeDocument/2006/relationships/slide" Target="/ppt/slides/slide5.xml" Id="Rbaa4b7b9801241b4" /><Relationship Type="http://schemas.openxmlformats.org/officeDocument/2006/relationships/slide" Target="/ppt/slides/slide6.xml" Id="R1126ba61c74f4428" /><Relationship Type="http://schemas.openxmlformats.org/officeDocument/2006/relationships/slide" Target="/ppt/slides/slide7.xml" Id="R1fb949cacbb14be4" /><Relationship Type="http://schemas.openxmlformats.org/officeDocument/2006/relationships/slide" Target="/ppt/slides/slide8.xml" Id="Rda0b7ae9495f443a" /><Relationship Type="http://schemas.openxmlformats.org/officeDocument/2006/relationships/slide" Target="/ppt/slides/slide9.xml" Id="R50ceb43d644541c7" /><Relationship Type="http://schemas.openxmlformats.org/officeDocument/2006/relationships/slide" Target="/ppt/slides/slide10.xml" Id="Raffcca21bb714a1a" /><Relationship Type="http://schemas.openxmlformats.org/officeDocument/2006/relationships/slide" Target="/ppt/slides/slide11.xml" Id="R30dcb49139ad4026" /><Relationship Type="http://schemas.openxmlformats.org/officeDocument/2006/relationships/slide" Target="/ppt/slides/slide12.xml" Id="Rb513914995a04302" /><Relationship Type="http://schemas.openxmlformats.org/officeDocument/2006/relationships/slide" Target="/ppt/slides/slide13.xml" Id="R97779571d8914a4c" /><Relationship Type="http://schemas.openxmlformats.org/officeDocument/2006/relationships/slide" Target="/ppt/slides/slide14.xml" Id="R931718ebdcdf4c2a" /><Relationship Type="http://schemas.openxmlformats.org/officeDocument/2006/relationships/slide" Target="/ppt/slides/slide15.xml" Id="Rbb90ae1e01c1467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ff7825b2ea5413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603940f5bb2449e" /><Relationship Type="http://schemas.openxmlformats.org/officeDocument/2006/relationships/notesMaster" Target="/ppt/notesMasters/notesMaster1.xml" Id="R281734548b704b2c" /></Relationships>
</file>

<file path=ppt/notesSlides/_rels/notesSlide2.xml.rels>&#65279;<?xml version="1.0" encoding="utf-8"?><Relationships xmlns="http://schemas.openxmlformats.org/package/2006/relationships"><Relationship Type="http://schemas.openxmlformats.org/officeDocument/2006/relationships/slide" Target="/ppt/slides/slide2.xml" Id="Rad390cf4b08a43f1" /><Relationship Type="http://schemas.openxmlformats.org/officeDocument/2006/relationships/notesMaster" Target="/ppt/notesMasters/notesMaster1.xml" Id="R7b91d6256cdb48b1" /></Relationships>
</file>

<file path=ppt/notesSlides/_rels/notesSlide3.xml.rels>&#65279;<?xml version="1.0" encoding="utf-8"?><Relationships xmlns="http://schemas.openxmlformats.org/package/2006/relationships"><Relationship Type="http://schemas.openxmlformats.org/officeDocument/2006/relationships/slide" Target="/ppt/slides/slide3.xml" Id="R3ba5f14ce7374cc0" /><Relationship Type="http://schemas.openxmlformats.org/officeDocument/2006/relationships/notesMaster" Target="/ppt/notesMasters/notesMaster1.xml" Id="R3cbae33dcd154f80" /></Relationships>
</file>

<file path=ppt/notesSlides/_rels/notesSlide4.xml.rels>&#65279;<?xml version="1.0" encoding="utf-8"?><Relationships xmlns="http://schemas.openxmlformats.org/package/2006/relationships"><Relationship Type="http://schemas.openxmlformats.org/officeDocument/2006/relationships/slide" Target="/ppt/slides/slide4.xml" Id="R08cc2da82f954543" /><Relationship Type="http://schemas.openxmlformats.org/officeDocument/2006/relationships/notesMaster" Target="/ppt/notesMasters/notesMaster1.xml" Id="Rbb5969ea47884bae" /></Relationships>
</file>

<file path=ppt/notesSlides/_rels/notesSlide5.xml.rels>&#65279;<?xml version="1.0" encoding="utf-8"?><Relationships xmlns="http://schemas.openxmlformats.org/package/2006/relationships"><Relationship Type="http://schemas.openxmlformats.org/officeDocument/2006/relationships/slide" Target="/ppt/slides/slide5.xml" Id="Rbd110cdfa8b6482d" /><Relationship Type="http://schemas.openxmlformats.org/officeDocument/2006/relationships/notesMaster" Target="/ppt/notesMasters/notesMaster1.xml" Id="R018cdb6a56e445d0" /></Relationships>
</file>

<file path=ppt/notesSlides/_rels/notesSlide6.xml.rels>&#65279;<?xml version="1.0" encoding="utf-8"?><Relationships xmlns="http://schemas.openxmlformats.org/package/2006/relationships"><Relationship Type="http://schemas.openxmlformats.org/officeDocument/2006/relationships/slide" Target="/ppt/slides/slide6.xml" Id="R829933ad49884e5d" /><Relationship Type="http://schemas.openxmlformats.org/officeDocument/2006/relationships/notesMaster" Target="/ppt/notesMasters/notesMaster1.xml" Id="R5d306caa226d40c3" /></Relationships>
</file>

<file path=ppt/notesSlides/_rels/notesSlide7.xml.rels>&#65279;<?xml version="1.0" encoding="utf-8"?><Relationships xmlns="http://schemas.openxmlformats.org/package/2006/relationships"><Relationship Type="http://schemas.openxmlformats.org/officeDocument/2006/relationships/slide" Target="/ppt/slides/slide7.xml" Id="R10f55d8304444d55" /><Relationship Type="http://schemas.openxmlformats.org/officeDocument/2006/relationships/notesMaster" Target="/ppt/notesMasters/notesMaster1.xml" Id="Rd4249402648e4339" /></Relationships>
</file>

<file path=ppt/notesSlides/_rels/notesSlide8.xml.rels>&#65279;<?xml version="1.0" encoding="utf-8"?><Relationships xmlns="http://schemas.openxmlformats.org/package/2006/relationships"><Relationship Type="http://schemas.openxmlformats.org/officeDocument/2006/relationships/slide" Target="/ppt/slides/slide8.xml" Id="Re23cb36413d64c71" /><Relationship Type="http://schemas.openxmlformats.org/officeDocument/2006/relationships/notesMaster" Target="/ppt/notesMasters/notesMaster1.xml" Id="Rc906575f17c84f38" /></Relationships>
</file>

<file path=ppt/notesSlides/_rels/notesSlide9.xml.rels>&#65279;<?xml version="1.0" encoding="utf-8"?><Relationships xmlns="http://schemas.openxmlformats.org/package/2006/relationships"><Relationship Type="http://schemas.openxmlformats.org/officeDocument/2006/relationships/slide" Target="/ppt/slides/slide9.xml" Id="R79701b19e79d43eb" /><Relationship Type="http://schemas.openxmlformats.org/officeDocument/2006/relationships/notesMaster" Target="/ppt/notesMasters/notesMaster1.xml" Id="R9daa4e79e9b7495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aa041d6871b4321" /><Relationship Type="http://schemas.openxmlformats.org/officeDocument/2006/relationships/notesMaster" Target="/ppt/notesMasters/notesMaster1.xml" Id="R4a28df23c240473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89cc2dce3024aec" /><Relationship Type="http://schemas.openxmlformats.org/officeDocument/2006/relationships/notesMaster" Target="/ppt/notesMasters/notesMaster1.xml" Id="R2d85fe66f13c4da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fcd528fbc1b4301" /><Relationship Type="http://schemas.openxmlformats.org/officeDocument/2006/relationships/notesMaster" Target="/ppt/notesMasters/notesMaster1.xml" Id="R538b090b0482420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84e5e94f0fc4100" /><Relationship Type="http://schemas.openxmlformats.org/officeDocument/2006/relationships/notesMaster" Target="/ppt/notesMasters/notesMaster1.xml" Id="R6083d2e9f419444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96e5fb6e3004e8c" /><Relationship Type="http://schemas.openxmlformats.org/officeDocument/2006/relationships/notesMaster" Target="/ppt/notesMasters/notesMaster1.xml" Id="R8517375059e54ad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7c9eff6decb493c" /><Relationship Type="http://schemas.openxmlformats.org/officeDocument/2006/relationships/notesMaster" Target="/ppt/notesMasters/notesMaster1.xml" Id="R2bf4a872f5a24b1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2 minutes.</a:t>
            </a:r>
          </a:p>
          <a:p xmlns:a="http://schemas.openxmlformats.org/drawingml/2006/main">
            <a:r>
              <a:t/>
            </a:r>
          </a:p>
          <a:p xmlns:a="http://schemas.openxmlformats.org/drawingml/2006/main">
            <a:r>
              <a:t>Introduce an ordinary cold-drink delivery, with no health or food-storage guarantee. The scientific decision concerns only temperature change over 20 minutes. Say: We can change our first idea when evidence improves it.</a:t>
            </a:r>
          </a:p>
          <a:p xmlns:a="http://schemas.openxmlformats.org/drawingml/2006/main">
            <a:r>
              <a:t/>
            </a:r>
          </a:p>
          <a:p xmlns:a="http://schemas.openxmlformats.org/drawingml/2006/main">
            <a:r>
              <a:t>LESSON REFERENCES</a:t>
            </a:r>
          </a:p>
          <a:p xmlns:a="http://schemas.openxmlformats.org/drawingml/2006/main">
            <a:r>
              <a:t>US Department of Energy: Heat Flow</a:t>
            </a:r>
          </a:p>
          <a:p xmlns:a="http://schemas.openxmlformats.org/drawingml/2006/main">
            <a:r>
              <a:t>https://bsesc.energy.gov/energy-basics/heat-flow</a:t>
            </a:r>
          </a:p>
          <a:p xmlns:a="http://schemas.openxmlformats.org/drawingml/2006/main">
            <a:r>
              <a:t>Checked 9 September 2026. Direction of conduction and distinction between transfer mechanisms; diagrams and tasks are original.</a:t>
            </a:r>
          </a:p>
          <a:p xmlns:a="http://schemas.openxmlformats.org/drawingml/2006/main">
            <a:r>
              <a:t/>
            </a:r>
          </a:p>
          <a:p xmlns:a="http://schemas.openxmlformats.org/drawingml/2006/main">
            <a:r>
              <a:t>NSW Government: Insulation</a:t>
            </a:r>
          </a:p>
          <a:p xmlns:a="http://schemas.openxmlformats.org/drawingml/2006/main">
            <a:r>
              <a:t>https://www.planningportal.nsw.gov.au/basix-thermal-comfort/design-principles/insulation</a:t>
            </a:r>
          </a:p>
          <a:p xmlns:a="http://schemas.openxmlformats.org/drawingml/2006/main">
            <a:r>
              <a:t>Checked 9 September 2026. Insulation reduces heat gain and heat loss; supports the cold-container transfer example. No source numerical data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3 minutes.</a:t>
            </a:r>
          </a:p>
          <a:p xmlns:a="http://schemas.openxmlformats.org/drawingml/2006/main">
            <a:r>
              <a:t/>
            </a:r>
          </a:p>
          <a:p xmlns:a="http://schemas.openxmlformats.org/drawingml/2006/main">
            <a:r>
              <a:t>Answers: a suitable metal such as steel; 20 °C; thermometer. Accept everyday language, then supply the scientific word. If values are confused, locate 8 and 20 on an imagined number line. Do not teach relative temperature by touching unknown objects.</a:t>
            </a:r>
          </a:p>
          <a:p xmlns:a="http://schemas.openxmlformats.org/drawingml/2006/main">
            <a:r>
              <a:t/>
            </a:r>
          </a:p>
          <a:p xmlns:a="http://schemas.openxmlformats.org/drawingml/2006/main">
            <a:r>
              <a:t>LESSON REFERENCES</a:t>
            </a:r>
          </a:p>
          <a:p xmlns:a="http://schemas.openxmlformats.org/drawingml/2006/main">
            <a:r>
              <a:t>US Department of Energy: Heat Flow</a:t>
            </a:r>
          </a:p>
          <a:p xmlns:a="http://schemas.openxmlformats.org/drawingml/2006/main">
            <a:r>
              <a:t>https://bsesc.energy.gov/energy-basics/heat-flow</a:t>
            </a:r>
          </a:p>
          <a:p xmlns:a="http://schemas.openxmlformats.org/drawingml/2006/main">
            <a:r>
              <a:t>Checked 9 September 2026. Direction of conduction and distinction between transfer mechanisms; diagrams and tasks are original.</a:t>
            </a:r>
          </a:p>
          <a:p xmlns:a="http://schemas.openxmlformats.org/drawingml/2006/main">
            <a:r>
              <a:t/>
            </a:r>
          </a:p>
          <a:p xmlns:a="http://schemas.openxmlformats.org/drawingml/2006/main">
            <a:r>
              <a:t>NSW Government: Insulation</a:t>
            </a:r>
          </a:p>
          <a:p xmlns:a="http://schemas.openxmlformats.org/drawingml/2006/main">
            <a:r>
              <a:t>https://www.planningportal.nsw.gov.au/basix-thermal-comfort/design-principles/insulation</a:t>
            </a:r>
          </a:p>
          <a:p xmlns:a="http://schemas.openxmlformats.org/drawingml/2006/main">
            <a:r>
              <a:t>Checked 9 September 2026. Insulation reduces heat gain and heat loss; supports the cold-container transfer example. No source numerical data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8 minutes.</a:t>
            </a:r>
          </a:p>
          <a:p xmlns:a="http://schemas.openxmlformats.org/drawingml/2006/main">
            <a:r>
              <a:t/>
            </a:r>
          </a:p>
          <a:p xmlns:a="http://schemas.openxmlformats.org/drawingml/2006/main">
            <a:r>
              <a:t>8 minutes shared across this and the next two I do slides. Think aloud: I notice the two thermometer readings match. So lower starting temperature cannot explain the different feeling. I compare how quickly energy leaves the warmer hand. Optional smooth room-temperature sample observation only. The about-32 °C hand is an illustrative value, not a body-temperature claim.</a:t>
            </a:r>
          </a:p>
          <a:p xmlns:a="http://schemas.openxmlformats.org/drawingml/2006/main">
            <a:r>
              <a:t/>
            </a:r>
          </a:p>
          <a:p xmlns:a="http://schemas.openxmlformats.org/drawingml/2006/main">
            <a:r>
              <a:t>DIAGRAM DESCRIPTION</a:t>
            </a:r>
          </a:p>
          <a:p xmlns:a="http://schemas.openxmlformats.org/drawingml/2006/main">
            <a:r>
              <a:t>A warmer hand transfers energy to metal and wood at the same room temperature. A thicker arrow represents faster transfer into metal, not a lower starting temperature.</a:t>
            </a:r>
          </a:p>
          <a:p xmlns:a="http://schemas.openxmlformats.org/drawingml/2006/main">
            <a:r>
              <a:t/>
            </a:r>
          </a:p>
          <a:p xmlns:a="http://schemas.openxmlformats.org/drawingml/2006/main">
            <a:r>
              <a:t>LESSON REFERENCES</a:t>
            </a:r>
          </a:p>
          <a:p xmlns:a="http://schemas.openxmlformats.org/drawingml/2006/main">
            <a:r>
              <a:t>US Department of Energy: Heat Flow</a:t>
            </a:r>
          </a:p>
          <a:p xmlns:a="http://schemas.openxmlformats.org/drawingml/2006/main">
            <a:r>
              <a:t>https://bsesc.energy.gov/energy-basics/heat-flow</a:t>
            </a:r>
          </a:p>
          <a:p xmlns:a="http://schemas.openxmlformats.org/drawingml/2006/main">
            <a:r>
              <a:t>Checked 9 September 2026. Direction of conduction and distinction between transfer mechanisms; diagrams and tasks are original.</a:t>
            </a:r>
          </a:p>
          <a:p xmlns:a="http://schemas.openxmlformats.org/drawingml/2006/main">
            <a:r>
              <a:t/>
            </a:r>
          </a:p>
          <a:p xmlns:a="http://schemas.openxmlformats.org/drawingml/2006/main">
            <a:r>
              <a:t>NSW Government: Insulation</a:t>
            </a:r>
          </a:p>
          <a:p xmlns:a="http://schemas.openxmlformats.org/drawingml/2006/main">
            <a:r>
              <a:t>https://www.planningportal.nsw.gov.au/basix-thermal-comfort/design-principles/insulation</a:t>
            </a:r>
          </a:p>
          <a:p xmlns:a="http://schemas.openxmlformats.org/drawingml/2006/main">
            <a:r>
              <a:t>Checked 9 September 2026. Insulation reduces heat gain and heat loss; supports the cold-container transfer example. No source numerical data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Shared I do time. Trace the arrows from tray towards ice. Conduction through metal helps supply energy for melting. Explain that energy also enters from air and radiation; the diagram isolates the contact route. Do not imply the tray stays at 20 °C throughout or that all metals behave identically.</a:t>
            </a:r>
          </a:p>
          <a:p xmlns:a="http://schemas.openxmlformats.org/drawingml/2006/main">
            <a:r>
              <a:t/>
            </a:r>
          </a:p>
          <a:p xmlns:a="http://schemas.openxmlformats.org/drawingml/2006/main">
            <a:r>
              <a:t>DIAGRAM DESCRIPTION</a:t>
            </a:r>
          </a:p>
          <a:p xmlns:a="http://schemas.openxmlformats.org/drawingml/2006/main">
            <a:r>
              <a:t>At room temperature, energy transfers from the warmer surroundings through the warmer tray towards the ice. Faster melting is evidence of faster energy transfer in this set-up; sizes are not to scale.</a:t>
            </a:r>
          </a:p>
          <a:p xmlns:a="http://schemas.openxmlformats.org/drawingml/2006/main">
            <a:r>
              <a:t/>
            </a:r>
          </a:p>
          <a:p xmlns:a="http://schemas.openxmlformats.org/drawingml/2006/main">
            <a:r>
              <a:t>LESSON REFERENCES</a:t>
            </a:r>
          </a:p>
          <a:p xmlns:a="http://schemas.openxmlformats.org/drawingml/2006/main">
            <a:r>
              <a:t>US Department of Energy: Heat Flow</a:t>
            </a:r>
          </a:p>
          <a:p xmlns:a="http://schemas.openxmlformats.org/drawingml/2006/main">
            <a:r>
              <a:t>https://bsesc.energy.gov/energy-basics/heat-flow</a:t>
            </a:r>
          </a:p>
          <a:p xmlns:a="http://schemas.openxmlformats.org/drawingml/2006/main">
            <a:r>
              <a:t>Checked 9 September 2026. Direction of conduction and distinction between transfer mechanisms; diagrams and tasks are original.</a:t>
            </a:r>
          </a:p>
          <a:p xmlns:a="http://schemas.openxmlformats.org/drawingml/2006/main">
            <a:r>
              <a:t/>
            </a:r>
          </a:p>
          <a:p xmlns:a="http://schemas.openxmlformats.org/drawingml/2006/main">
            <a:r>
              <a:t>NSW Government: Insulation</a:t>
            </a:r>
          </a:p>
          <a:p xmlns:a="http://schemas.openxmlformats.org/drawingml/2006/main">
            <a:r>
              <a:t>https://www.planningportal.nsw.gov.au/basix-thermal-comfort/design-principles/insulation</a:t>
            </a:r>
          </a:p>
          <a:p xmlns:a="http://schemas.openxmlformats.org/drawingml/2006/main">
            <a:r>
              <a:t>Checked 9 September 2026. Insulation reduces heat gain and heat loss; supports the cold-container transfer example. No source numerical data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Shared I do time. Model the cold case: 20 °C room is warmer than 8 °C contents, so energy transfers inwards. A foam jacket slows this. Trapped gas in foam reduces conduction and limits bulk air movement; do not claim conduction is the only route in a real bottle.</a:t>
            </a:r>
          </a:p>
          <a:p xmlns:a="http://schemas.openxmlformats.org/drawingml/2006/main">
            <a:r>
              <a:t/>
            </a:r>
          </a:p>
          <a:p xmlns:a="http://schemas.openxmlformats.org/drawingml/2006/main">
            <a:r>
              <a:t>DIAGRAM DESCRIPTION</a:t>
            </a:r>
          </a:p>
          <a:p xmlns:a="http://schemas.openxmlformats.org/drawingml/2006/main">
            <a:r>
              <a:t>Two insulated containers: energy moves out from warm contents to a cooler room; energy moves in from a warmer room to cool contents. Insulation slows both transfers. Arrows show net energy transfer only.</a:t>
            </a:r>
          </a:p>
          <a:p xmlns:a="http://schemas.openxmlformats.org/drawingml/2006/main">
            <a:r>
              <a:t/>
            </a:r>
          </a:p>
          <a:p xmlns:a="http://schemas.openxmlformats.org/drawingml/2006/main">
            <a:r>
              <a:t>LESSON REFERENCES</a:t>
            </a:r>
          </a:p>
          <a:p xmlns:a="http://schemas.openxmlformats.org/drawingml/2006/main">
            <a:r>
              <a:t>US Department of Energy: Heat Flow</a:t>
            </a:r>
          </a:p>
          <a:p xmlns:a="http://schemas.openxmlformats.org/drawingml/2006/main">
            <a:r>
              <a:t>https://bsesc.energy.gov/energy-basics/heat-flow</a:t>
            </a:r>
          </a:p>
          <a:p xmlns:a="http://schemas.openxmlformats.org/drawingml/2006/main">
            <a:r>
              <a:t>Checked 9 September 2026. Direction of conduction and distinction between transfer mechanisms; diagrams and tasks are original.</a:t>
            </a:r>
          </a:p>
          <a:p xmlns:a="http://schemas.openxmlformats.org/drawingml/2006/main">
            <a:r>
              <a:t/>
            </a:r>
          </a:p>
          <a:p xmlns:a="http://schemas.openxmlformats.org/drawingml/2006/main">
            <a:r>
              <a:t>NSW Government: Insulation</a:t>
            </a:r>
          </a:p>
          <a:p xmlns:a="http://schemas.openxmlformats.org/drawingml/2006/main">
            <a:r>
              <a:t>https://www.planningportal.nsw.gov.au/basix-thermal-comfort/design-principles/insulation</a:t>
            </a:r>
          </a:p>
          <a:p xmlns:a="http://schemas.openxmlformats.org/drawingml/2006/main">
            <a:r>
              <a:t>Checked 9 September 2026. Insulation reduces heat gain and heat loss; supports the cold-container transfer example. No source numerical data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8 minutes.</a:t>
            </a:r>
          </a:p>
          <a:p xmlns:a="http://schemas.openxmlformats.org/drawingml/2006/main">
            <a:r>
              <a:t/>
            </a:r>
          </a:p>
          <a:p xmlns:a="http://schemas.openxmlformats.org/drawingml/2006/main">
            <a:r>
              <a:t>8 minutes shared across three We do slides. Give pairs the common evidence page. Roles: evidence finder and claim editor, with silent individual alternative. D1 rejects metal must be colder. D2 is consistent with faster energy transfer through the metal set-up. It alone does not measure conductivity because dimensions, masses, contact and other routes affect melting.</a:t>
            </a:r>
          </a:p>
          <a:p xmlns:a="http://schemas.openxmlformats.org/drawingml/2006/main">
            <a:r>
              <a:t/>
            </a:r>
          </a:p>
          <a:p xmlns:a="http://schemas.openxmlformats.org/drawingml/2006/main">
            <a:r>
              <a:t>LESSON REFERENCES</a:t>
            </a:r>
          </a:p>
          <a:p xmlns:a="http://schemas.openxmlformats.org/drawingml/2006/main">
            <a:r>
              <a:t>US Department of Energy: Heat Flow</a:t>
            </a:r>
          </a:p>
          <a:p xmlns:a="http://schemas.openxmlformats.org/drawingml/2006/main">
            <a:r>
              <a:t>https://bsesc.energy.gov/energy-basics/heat-flow</a:t>
            </a:r>
          </a:p>
          <a:p xmlns:a="http://schemas.openxmlformats.org/drawingml/2006/main">
            <a:r>
              <a:t>Checked 9 September 2026. Direction of conduction and distinction between transfer mechanisms; diagrams and tasks are original.</a:t>
            </a:r>
          </a:p>
          <a:p xmlns:a="http://schemas.openxmlformats.org/drawingml/2006/main">
            <a:r>
              <a:t/>
            </a:r>
          </a:p>
          <a:p xmlns:a="http://schemas.openxmlformats.org/drawingml/2006/main">
            <a:r>
              <a:t>NSW Government: Insulation</a:t>
            </a:r>
          </a:p>
          <a:p xmlns:a="http://schemas.openxmlformats.org/drawingml/2006/main">
            <a:r>
              <a:t>https://www.planningportal.nsw.gov.au/basix-thermal-comfort/design-principles/insulation</a:t>
            </a:r>
          </a:p>
          <a:p xmlns:a="http://schemas.openxmlformats.org/drawingml/2006/main">
            <a:r>
              <a:t>Checked 9 September 2026. Insulation reduces heat gain and heat loss; supports the cold-container transfer example. No source numerical data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Shared We do time. Ask everyone to first point at the lowest final temperature. Compute rises together: 14−8=6 °C, 12−8=4 °C, 10−8=2 °C. The foam jacket performed best among these tested jackets. Table concerns a single model comparison; repeat before a stronger conclusion.</a:t>
            </a:r>
          </a:p>
          <a:p xmlns:a="http://schemas.openxmlformats.org/drawingml/2006/main">
            <a:r>
              <a:t/>
            </a:r>
          </a:p>
          <a:p xmlns:a="http://schemas.openxmlformats.org/drawingml/2006/main">
            <a:r>
              <a:t>LESSON REFERENCES</a:t>
            </a:r>
          </a:p>
          <a:p xmlns:a="http://schemas.openxmlformats.org/drawingml/2006/main">
            <a:r>
              <a:t>US Department of Energy: Heat Flow</a:t>
            </a:r>
          </a:p>
          <a:p xmlns:a="http://schemas.openxmlformats.org/drawingml/2006/main">
            <a:r>
              <a:t>https://bsesc.energy.gov/energy-basics/heat-flow</a:t>
            </a:r>
          </a:p>
          <a:p xmlns:a="http://schemas.openxmlformats.org/drawingml/2006/main">
            <a:r>
              <a:t>Checked 9 September 2026. Direction of conduction and distinction between transfer mechanisms; diagrams and tasks are original.</a:t>
            </a:r>
          </a:p>
          <a:p xmlns:a="http://schemas.openxmlformats.org/drawingml/2006/main">
            <a:r>
              <a:t/>
            </a:r>
          </a:p>
          <a:p xmlns:a="http://schemas.openxmlformats.org/drawingml/2006/main">
            <a:r>
              <a:t>NSW Government: Insulation</a:t>
            </a:r>
          </a:p>
          <a:p xmlns:a="http://schemas.openxmlformats.org/drawingml/2006/main">
            <a:r>
              <a:t>https://www.planningportal.nsw.gov.au/basix-thermal-comfort/design-principles/insulation</a:t>
            </a:r>
          </a:p>
          <a:p xmlns:a="http://schemas.openxmlformats.org/drawingml/2006/main">
            <a:r>
              <a:t>Checked 9 September 2026. Insulation reduces heat gain and heat loss; supports the cold-container transfer example. No source numerical data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Shared We do time. Model after pupil attempts: In this test, the foam jacket limited warming to 2 °C, compared with 6 °C without a jacket. It slowed energy transfer into the bottle. Repeat tests; record thickness and fit; test longer journeys. Accept equivalent bounded conclusions.</a:t>
            </a:r>
          </a:p>
          <a:p xmlns:a="http://schemas.openxmlformats.org/drawingml/2006/main">
            <a:r>
              <a:t/>
            </a:r>
          </a:p>
          <a:p xmlns:a="http://schemas.openxmlformats.org/drawingml/2006/main">
            <a:r>
              <a:t>REVEAL / MODEL ANSWER</a:t>
            </a:r>
          </a:p>
          <a:p xmlns:a="http://schemas.openxmlformats.org/drawingml/2006/main">
            <a:r>
              <a:t>This foam jacket slowed warming most in this 20-minute test.</a:t>
            </a:r>
          </a:p>
          <a:p xmlns:a="http://schemas.openxmlformats.org/drawingml/2006/main">
            <a:r>
              <a:t/>
            </a:r>
          </a:p>
          <a:p xmlns:a="http://schemas.openxmlformats.org/drawingml/2006/main">
            <a:r>
              <a:t>LESSON REFERENCES</a:t>
            </a:r>
          </a:p>
          <a:p xmlns:a="http://schemas.openxmlformats.org/drawingml/2006/main">
            <a:r>
              <a:t>US Department of Energy: Heat Flow</a:t>
            </a:r>
          </a:p>
          <a:p xmlns:a="http://schemas.openxmlformats.org/drawingml/2006/main">
            <a:r>
              <a:t>https://bsesc.energy.gov/energy-basics/heat-flow</a:t>
            </a:r>
          </a:p>
          <a:p xmlns:a="http://schemas.openxmlformats.org/drawingml/2006/main">
            <a:r>
              <a:t>Checked 9 September 2026. Direction of conduction and distinction between transfer mechanisms; diagrams and tasks are original.</a:t>
            </a:r>
          </a:p>
          <a:p xmlns:a="http://schemas.openxmlformats.org/drawingml/2006/main">
            <a:r>
              <a:t/>
            </a:r>
          </a:p>
          <a:p xmlns:a="http://schemas.openxmlformats.org/drawingml/2006/main">
            <a:r>
              <a:t>NSW Government: Insulation</a:t>
            </a:r>
          </a:p>
          <a:p xmlns:a="http://schemas.openxmlformats.org/drawingml/2006/main">
            <a:r>
              <a:t>https://www.planningportal.nsw.gov.au/basix-thermal-comfort/design-principles/insulation</a:t>
            </a:r>
          </a:p>
          <a:p xmlns:a="http://schemas.openxmlformats.org/drawingml/2006/main">
            <a:r>
              <a:t>Checked 9 September 2026. Insulation reduces heat gain and heat loss; supports the cold-container transfer example. No source numerical data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3 minutes.</a:t>
            </a:r>
          </a:p>
          <a:p xmlns:a="http://schemas.openxmlformats.org/drawingml/2006/main">
            <a:r>
              <a:t/>
            </a:r>
          </a:p>
          <a:p xmlns:a="http://schemas.openxmlformats.org/drawingml/2006/main">
            <a:r>
              <a:t>Take simultaneous responses by pointing, cards or private writing. If A or C chosen, revisit the cold-container arrow before independent work. If D chosen, ask which value remains lower than the room temperature.</a:t>
            </a:r>
          </a:p>
          <a:p xmlns:a="http://schemas.openxmlformats.org/drawingml/2006/main">
            <a:r>
              <a:t/>
            </a:r>
          </a:p>
          <a:p xmlns:a="http://schemas.openxmlformats.org/drawingml/2006/main">
            <a:r>
              <a:t>A. The jacket produces cold.</a:t>
            </a:r>
          </a:p>
          <a:p xmlns:a="http://schemas.openxmlformats.org/drawingml/2006/main">
            <a:r>
              <a:t>No. A passive jacket does not produce cold; it slows energy transfer.</a:t>
            </a:r>
          </a:p>
          <a:p xmlns:a="http://schemas.openxmlformats.org/drawingml/2006/main">
            <a:r>
              <a:t/>
            </a:r>
          </a:p>
          <a:p xmlns:a="http://schemas.openxmlformats.org/drawingml/2006/main">
            <a:r>
              <a:t>B. Energy still transfers in, but more slowly.</a:t>
            </a:r>
          </a:p>
          <a:p xmlns:a="http://schemas.openxmlformats.org/drawingml/2006/main">
            <a:r>
              <a:t>Correct. Yes. The room is warmer, so net energy transfer is inwards; insulation slows it.</a:t>
            </a:r>
          </a:p>
          <a:p xmlns:a="http://schemas.openxmlformats.org/drawingml/2006/main">
            <a:r>
              <a:t/>
            </a:r>
          </a:p>
          <a:p xmlns:a="http://schemas.openxmlformats.org/drawingml/2006/main">
            <a:r>
              <a:t>C. The jacket stops all transfer forever.</a:t>
            </a:r>
          </a:p>
          <a:p xmlns:a="http://schemas.openxmlformats.org/drawingml/2006/main">
            <a:r>
              <a:t>No. Insulation reduces the rate; temperatures can still move towards room temperature.</a:t>
            </a:r>
          </a:p>
          <a:p xmlns:a="http://schemas.openxmlformats.org/drawingml/2006/main">
            <a:r>
              <a:t/>
            </a:r>
          </a:p>
          <a:p xmlns:a="http://schemas.openxmlformats.org/drawingml/2006/main">
            <a:r>
              <a:t>D. Energy transfers from cold bottle to warmer room.</a:t>
            </a:r>
          </a:p>
          <a:p xmlns:a="http://schemas.openxmlformats.org/drawingml/2006/main">
            <a:r>
              <a:t>No. The net transfer in this situation is from the warmer room to the cooler bottle.</a:t>
            </a:r>
          </a:p>
          <a:p xmlns:a="http://schemas.openxmlformats.org/drawingml/2006/main">
            <a:r>
              <a:t/>
            </a:r>
          </a:p>
          <a:p xmlns:a="http://schemas.openxmlformats.org/drawingml/2006/main">
            <a:r>
              <a:t>LESSON REFERENCES</a:t>
            </a:r>
          </a:p>
          <a:p xmlns:a="http://schemas.openxmlformats.org/drawingml/2006/main">
            <a:r>
              <a:t>US Department of Energy: Heat Flow</a:t>
            </a:r>
          </a:p>
          <a:p xmlns:a="http://schemas.openxmlformats.org/drawingml/2006/main">
            <a:r>
              <a:t>https://bsesc.energy.gov/energy-basics/heat-flow</a:t>
            </a:r>
          </a:p>
          <a:p xmlns:a="http://schemas.openxmlformats.org/drawingml/2006/main">
            <a:r>
              <a:t>Checked 9 September 2026. Direction of conduction and distinction between transfer mechanisms; diagrams and tasks are original.</a:t>
            </a:r>
          </a:p>
          <a:p xmlns:a="http://schemas.openxmlformats.org/drawingml/2006/main">
            <a:r>
              <a:t/>
            </a:r>
          </a:p>
          <a:p xmlns:a="http://schemas.openxmlformats.org/drawingml/2006/main">
            <a:r>
              <a:t>NSW Government: Insulation</a:t>
            </a:r>
          </a:p>
          <a:p xmlns:a="http://schemas.openxmlformats.org/drawingml/2006/main">
            <a:r>
              <a:t>https://www.planningportal.nsw.gov.au/basix-thermal-comfort/design-principles/insulation</a:t>
            </a:r>
          </a:p>
          <a:p xmlns:a="http://schemas.openxmlformats.org/drawingml/2006/main">
            <a:r>
              <a:t>Checked 9 September 2026. Insulation reduces heat gain and heat loss; supports the cold-container transfer example. No source numerical data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10 minutes.</a:t>
            </a:r>
          </a:p>
          <a:p xmlns:a="http://schemas.openxmlformats.org/drawingml/2006/main">
            <a:r>
              <a:t/>
            </a:r>
          </a:p>
          <a:p xmlns:a="http://schemas.openxmlformats.org/drawingml/2006/main">
            <a:r>
              <a:t>10 minutes shared across the three You do slides. All routes assess the same objective. Select after the hinge, not from a fixed ability label. Provide page 1 with each route. Read prompts aloud or scribe verbatim where needed. Independent explanation can be drawn and dictated.</a:t>
            </a:r>
          </a:p>
          <a:p xmlns:a="http://schemas.openxmlformats.org/drawingml/2006/main">
            <a:r>
              <a:t/>
            </a:r>
          </a:p>
          <a:p xmlns:a="http://schemas.openxmlformats.org/drawingml/2006/main">
            <a:r>
              <a:t>LESSON REFERENCES</a:t>
            </a:r>
          </a:p>
          <a:p xmlns:a="http://schemas.openxmlformats.org/drawingml/2006/main">
            <a:r>
              <a:t>US Department of Energy: Heat Flow</a:t>
            </a:r>
          </a:p>
          <a:p xmlns:a="http://schemas.openxmlformats.org/drawingml/2006/main">
            <a:r>
              <a:t>https://bsesc.energy.gov/energy-basics/heat-flow</a:t>
            </a:r>
          </a:p>
          <a:p xmlns:a="http://schemas.openxmlformats.org/drawingml/2006/main">
            <a:r>
              <a:t>Checked 9 September 2026. Direction of conduction and distinction between transfer mechanisms; diagrams and tasks are original.</a:t>
            </a:r>
          </a:p>
          <a:p xmlns:a="http://schemas.openxmlformats.org/drawingml/2006/main">
            <a:r>
              <a:t/>
            </a:r>
          </a:p>
          <a:p xmlns:a="http://schemas.openxmlformats.org/drawingml/2006/main">
            <a:r>
              <a:t>NSW Government: Insulation</a:t>
            </a:r>
          </a:p>
          <a:p xmlns:a="http://schemas.openxmlformats.org/drawingml/2006/main">
            <a:r>
              <a:t>https://www.planningportal.nsw.gov.au/basix-thermal-comfort/design-principles/insulation</a:t>
            </a:r>
          </a:p>
          <a:p xmlns:a="http://schemas.openxmlformats.org/drawingml/2006/main">
            <a:r>
              <a:t>Checked 9 September 2026. Insulation reduces heat gain and heat loss; supports the cold-container transfer example. No source numerical data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Shared You do time. Supported: 10 versus 14 °C and inward arrow suffice with a clear explanation. Standard: show all rises. Stretch: compare a thick foam sleeve with a thin cotton sleeve fairly, and explain warm-container transfer. Prompt with questions, not the conclusion.</a:t>
            </a:r>
          </a:p>
          <a:p xmlns:a="http://schemas.openxmlformats.org/drawingml/2006/main">
            <a:r>
              <a:t/>
            </a:r>
          </a:p>
          <a:p xmlns:a="http://schemas.openxmlformats.org/drawingml/2006/main">
            <a:r>
              <a:t>LESSON REFERENCES</a:t>
            </a:r>
          </a:p>
          <a:p xmlns:a="http://schemas.openxmlformats.org/drawingml/2006/main">
            <a:r>
              <a:t>US Department of Energy: Heat Flow</a:t>
            </a:r>
          </a:p>
          <a:p xmlns:a="http://schemas.openxmlformats.org/drawingml/2006/main">
            <a:r>
              <a:t>https://bsesc.energy.gov/energy-basics/heat-flow</a:t>
            </a:r>
          </a:p>
          <a:p xmlns:a="http://schemas.openxmlformats.org/drawingml/2006/main">
            <a:r>
              <a:t>Checked 9 September 2026. Direction of conduction and distinction between transfer mechanisms; diagrams and tasks are original.</a:t>
            </a:r>
          </a:p>
          <a:p xmlns:a="http://schemas.openxmlformats.org/drawingml/2006/main">
            <a:r>
              <a:t/>
            </a:r>
          </a:p>
          <a:p xmlns:a="http://schemas.openxmlformats.org/drawingml/2006/main">
            <a:r>
              <a:t>NSW Government: Insulation</a:t>
            </a:r>
          </a:p>
          <a:p xmlns:a="http://schemas.openxmlformats.org/drawingml/2006/main">
            <a:r>
              <a:t>https://www.planningportal.nsw.gov.au/basix-thermal-comfort/design-principles/insulation</a:t>
            </a:r>
          </a:p>
          <a:p xmlns:a="http://schemas.openxmlformats.org/drawingml/2006/main">
            <a:r>
              <a:t>Checked 9 September 2026. Insulation reduces heat gain and heat loss; supports the cold-container transfer example. No source numerical data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Shared You do time. Teacher checks one explanation per pupil. For metal feels colder misconception, return to identical thermometer labels. For cold escapes, ask which object gives energy to which. Do not add new technical vocabulary during independent work.</a:t>
            </a:r>
          </a:p>
          <a:p xmlns:a="http://schemas.openxmlformats.org/drawingml/2006/main">
            <a:r>
              <a:t/>
            </a:r>
          </a:p>
          <a:p xmlns:a="http://schemas.openxmlformats.org/drawingml/2006/main">
            <a:r>
              <a:t>LESSON REFERENCES</a:t>
            </a:r>
          </a:p>
          <a:p xmlns:a="http://schemas.openxmlformats.org/drawingml/2006/main">
            <a:r>
              <a:t>US Department of Energy: Heat Flow</a:t>
            </a:r>
          </a:p>
          <a:p xmlns:a="http://schemas.openxmlformats.org/drawingml/2006/main">
            <a:r>
              <a:t>https://bsesc.energy.gov/energy-basics/heat-flow</a:t>
            </a:r>
          </a:p>
          <a:p xmlns:a="http://schemas.openxmlformats.org/drawingml/2006/main">
            <a:r>
              <a:t>Checked 9 September 2026. Direction of conduction and distinction between transfer mechanisms; diagrams and tasks are original.</a:t>
            </a:r>
          </a:p>
          <a:p xmlns:a="http://schemas.openxmlformats.org/drawingml/2006/main">
            <a:r>
              <a:t/>
            </a:r>
          </a:p>
          <a:p xmlns:a="http://schemas.openxmlformats.org/drawingml/2006/main">
            <a:r>
              <a:t>NSW Government: Insulation</a:t>
            </a:r>
          </a:p>
          <a:p xmlns:a="http://schemas.openxmlformats.org/drawingml/2006/main">
            <a:r>
              <a:t>https://www.planningportal.nsw.gov.au/basix-thermal-comfort/design-principles/insulation</a:t>
            </a:r>
          </a:p>
          <a:p xmlns:a="http://schemas.openxmlformats.org/drawingml/2006/main">
            <a:r>
              <a:t>Checked 9 September 2026. Insulation reduces heat gain and heat loss; supports the cold-container transfer example. No source numerical data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4 minutes.</a:t>
            </a:r>
          </a:p>
          <a:p xmlns:a="http://schemas.openxmlformats.org/drawingml/2006/main">
            <a:r>
              <a:t/>
            </a:r>
          </a:p>
          <a:p xmlns:a="http://schemas.openxmlformats.org/drawingml/2006/main">
            <a:r>
              <a:t>4 minutes shared across two Review slides. Offer private teacher sharing. Listen for foam jacket slowed warming; 2 °C rather than 6 °C; repeat under controlled conditions. Praise a specific revision of reasoning rather than speed or confidence.</a:t>
            </a:r>
          </a:p>
          <a:p xmlns:a="http://schemas.openxmlformats.org/drawingml/2006/main">
            <a:r>
              <a:t/>
            </a:r>
          </a:p>
          <a:p xmlns:a="http://schemas.openxmlformats.org/drawingml/2006/main">
            <a:r>
              <a:t>LESSON REFERENCES</a:t>
            </a:r>
          </a:p>
          <a:p xmlns:a="http://schemas.openxmlformats.org/drawingml/2006/main">
            <a:r>
              <a:t>US Department of Energy: Heat Flow</a:t>
            </a:r>
          </a:p>
          <a:p xmlns:a="http://schemas.openxmlformats.org/drawingml/2006/main">
            <a:r>
              <a:t>https://bsesc.energy.gov/energy-basics/heat-flow</a:t>
            </a:r>
          </a:p>
          <a:p xmlns:a="http://schemas.openxmlformats.org/drawingml/2006/main">
            <a:r>
              <a:t>Checked 9 September 2026. Direction of conduction and distinction between transfer mechanisms; diagrams and tasks are original.</a:t>
            </a:r>
          </a:p>
          <a:p xmlns:a="http://schemas.openxmlformats.org/drawingml/2006/main">
            <a:r>
              <a:t/>
            </a:r>
          </a:p>
          <a:p xmlns:a="http://schemas.openxmlformats.org/drawingml/2006/main">
            <a:r>
              <a:t>NSW Government: Insulation</a:t>
            </a:r>
          </a:p>
          <a:p xmlns:a="http://schemas.openxmlformats.org/drawingml/2006/main">
            <a:r>
              <a:t>https://www.planningportal.nsw.gov.au/basix-thermal-comfort/design-principles/insulation</a:t>
            </a:r>
          </a:p>
          <a:p xmlns:a="http://schemas.openxmlformats.org/drawingml/2006/main">
            <a:r>
              <a:t>Checked 9 September 2026. Insulation reduces heat gain and heat loss; supports the cold-container transfer example. No source numerical data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Shared Review time; light Lundy cycle. Invite a spoken, written or pointed proposal; teacher records one and explains which can be tested next, such as equal material at two thicknesses. Explain that listening led to a planned test, not merely collecting a vote. No obligation to disclose feelings.</a:t>
            </a:r>
          </a:p>
          <a:p xmlns:a="http://schemas.openxmlformats.org/drawingml/2006/main">
            <a:r>
              <a:t/>
            </a:r>
          </a:p>
          <a:p xmlns:a="http://schemas.openxmlformats.org/drawingml/2006/main">
            <a:r>
              <a:t>LESSON REFERENCES</a:t>
            </a:r>
          </a:p>
          <a:p xmlns:a="http://schemas.openxmlformats.org/drawingml/2006/main">
            <a:r>
              <a:t>US Department of Energy: Heat Flow</a:t>
            </a:r>
          </a:p>
          <a:p xmlns:a="http://schemas.openxmlformats.org/drawingml/2006/main">
            <a:r>
              <a:t>https://bsesc.energy.gov/energy-basics/heat-flow</a:t>
            </a:r>
          </a:p>
          <a:p xmlns:a="http://schemas.openxmlformats.org/drawingml/2006/main">
            <a:r>
              <a:t>Checked 9 September 2026. Direction of conduction and distinction between transfer mechanisms; diagrams and tasks are original.</a:t>
            </a:r>
          </a:p>
          <a:p xmlns:a="http://schemas.openxmlformats.org/drawingml/2006/main">
            <a:r>
              <a:t/>
            </a:r>
          </a:p>
          <a:p xmlns:a="http://schemas.openxmlformats.org/drawingml/2006/main">
            <a:r>
              <a:t>NSW Government: Insulation</a:t>
            </a:r>
          </a:p>
          <a:p xmlns:a="http://schemas.openxmlformats.org/drawingml/2006/main">
            <a:r>
              <a:t>https://www.planningportal.nsw.gov.au/basix-thermal-comfort/design-principles/insulation</a:t>
            </a:r>
          </a:p>
          <a:p xmlns:a="http://schemas.openxmlformats.org/drawingml/2006/main">
            <a:r>
              <a:t>Checked 9 September 2026. Insulation reduces heat gain and heat loss; supports the cold-container transfer example. No source numerical data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2 minutes.</a:t>
            </a:r>
          </a:p>
          <a:p xmlns:a="http://schemas.openxmlformats.org/drawingml/2006/main">
            <a:r>
              <a:t/>
            </a:r>
          </a:p>
          <a:p xmlns:a="http://schemas.openxmlformats.org/drawingml/2006/main">
            <a:r>
              <a:t>Answers: arrow room to bottle; slows energy transfer; 10 °C final or 2 °C rise, ideally compared with 14 °C or 6 °C unwrapped. Collect independent evidence; an adult may read and scribe without supplying concepts.</a:t>
            </a:r>
          </a:p>
          <a:p xmlns:a="http://schemas.openxmlformats.org/drawingml/2006/main">
            <a:r>
              <a:t/>
            </a:r>
          </a:p>
          <a:p xmlns:a="http://schemas.openxmlformats.org/drawingml/2006/main">
            <a:r>
              <a:t>LESSON REFERENCES</a:t>
            </a:r>
          </a:p>
          <a:p xmlns:a="http://schemas.openxmlformats.org/drawingml/2006/main">
            <a:r>
              <a:t>US Department of Energy: Heat Flow</a:t>
            </a:r>
          </a:p>
          <a:p xmlns:a="http://schemas.openxmlformats.org/drawingml/2006/main">
            <a:r>
              <a:t>https://bsesc.energy.gov/energy-basics/heat-flow</a:t>
            </a:r>
          </a:p>
          <a:p xmlns:a="http://schemas.openxmlformats.org/drawingml/2006/main">
            <a:r>
              <a:t>Checked 9 September 2026. Direction of conduction and distinction between transfer mechanisms; diagrams and tasks are original.</a:t>
            </a:r>
          </a:p>
          <a:p xmlns:a="http://schemas.openxmlformats.org/drawingml/2006/main">
            <a:r>
              <a:t/>
            </a:r>
          </a:p>
          <a:p xmlns:a="http://schemas.openxmlformats.org/drawingml/2006/main">
            <a:r>
              <a:t>NSW Government: Insulation</a:t>
            </a:r>
          </a:p>
          <a:p xmlns:a="http://schemas.openxmlformats.org/drawingml/2006/main">
            <a:r>
              <a:t>https://www.planningportal.nsw.gov.au/basix-thermal-comfort/design-principles/insulation</a:t>
            </a:r>
          </a:p>
          <a:p xmlns:a="http://schemas.openxmlformats.org/drawingml/2006/main">
            <a:r>
              <a:t>Checked 9 September 2026. Insulation reduces heat gain and heat loss; supports the cold-container transfer example. No source numerical data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a22966dc49e4f2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93dde4aa3a34ae6" /><Relationship Type="http://schemas.openxmlformats.org/officeDocument/2006/relationships/slideLayout" Target="/ppt/slideLayouts/slideLayout1.xml" Id="R4ba7fe295a01497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ba7fe295a01497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bf02ff1588e4502" /><Relationship Type="http://schemas.openxmlformats.org/officeDocument/2006/relationships/notesSlide" Target="/ppt/notesSlides/notesSlide1.xml" Id="Rdc5388e652964a9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5f9019637b74175" /><Relationship Type="http://schemas.openxmlformats.org/officeDocument/2006/relationships/notesSlide" Target="/ppt/notesSlides/notesSlide2.xml" Id="R81cac2a82cdc4fb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07193c3e89c4435" /><Relationship Type="http://schemas.openxmlformats.org/officeDocument/2006/relationships/notesSlide" Target="/ppt/notesSlides/notesSlide3.xml" Id="R4c76de2edf724d9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2c55947170b499c" /><Relationship Type="http://schemas.openxmlformats.org/officeDocument/2006/relationships/notesSlide" Target="/ppt/notesSlides/notesSlide4.xml" Id="R5e2f15763e76463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797200bf18e4cf1" /><Relationship Type="http://schemas.openxmlformats.org/officeDocument/2006/relationships/notesSlide" Target="/ppt/notesSlides/notesSlide5.xml" Id="R84a6d2aa0f504bf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658e468d20e4e8d" /><Relationship Type="http://schemas.openxmlformats.org/officeDocument/2006/relationships/notesSlide" Target="/ppt/notesSlides/notesSlide6.xml" Id="R5388034303e148d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59729cda6514b66" /><Relationship Type="http://schemas.openxmlformats.org/officeDocument/2006/relationships/notesSlide" Target="/ppt/notesSlides/notesSlide7.xml" Id="R52728aeebf89465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b1e491b20274c03" /><Relationship Type="http://schemas.openxmlformats.org/officeDocument/2006/relationships/notesSlide" Target="/ppt/notesSlides/notesSlide8.xml" Id="R58eb1ff74c2d439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5fd2c44e6ac4008" /><Relationship Type="http://schemas.openxmlformats.org/officeDocument/2006/relationships/notesSlide" Target="/ppt/notesSlides/notesSlide9.xml" Id="R69d34f50469a488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238fd3990d240a5" /><Relationship Type="http://schemas.openxmlformats.org/officeDocument/2006/relationships/notesSlide" Target="/ppt/notesSlides/notesSlide10.xml" Id="R4e12311394184d6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bc564fe17634775" /><Relationship Type="http://schemas.openxmlformats.org/officeDocument/2006/relationships/notesSlide" Target="/ppt/notesSlides/notesSlide11.xml" Id="Rfc1d80f52736437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7007f703de44e15" /><Relationship Type="http://schemas.openxmlformats.org/officeDocument/2006/relationships/notesSlide" Target="/ppt/notesSlides/notesSlide12.xml" Id="Rd7c64c1e1052486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3bf8747be994a6f" /><Relationship Type="http://schemas.openxmlformats.org/officeDocument/2006/relationships/notesSlide" Target="/ppt/notesSlides/notesSlide13.xml" Id="R350fb4fba1554c3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9280fd9ba5e4df7" /><Relationship Type="http://schemas.openxmlformats.org/officeDocument/2006/relationships/notesSlide" Target="/ppt/notesSlides/notesSlide14.xml" Id="Rd0effdc8afb849e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556398738fa4859" /><Relationship Type="http://schemas.openxmlformats.org/officeDocument/2006/relationships/notesSlide" Target="/ppt/notesSlides/notesSlide15.xml" Id="R3d422bb1118e46f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urface">
            <a:extLst xmlns:a="http://schemas.openxmlformats.org/drawingml/2006/main">
              <a:ext uri="{FF2B5EF4-FFF2-40B4-BE49-F238E27FC236}">
                <a16:creationId xmlns:a16="http://schemas.microsoft.com/office/drawing/2014/main" id="{3C0CB97B-A082-4BBA-803A-0AD45ED0EED6}"/>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3F7D6E"/>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4C006718-A02B-43D8-8433-66FB02151B45}"/>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32DC88B4-9720-4C02-89AF-2B63C844B45F}"/>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3F7D6E"/>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63E1BF9F-696D-41F8-BEDA-ACE3889C6B91}"/>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3F7D6E"/>
                </a:solidFill>
                <a:latin typeface="Nimbus Sans"/>
                <a:ea typeface="Nimbus Sans"/>
                <a:cs typeface="Nimbus Sans"/>
              </a:defRPr>
            </a:pPr>
            <a:r>
              <a:rPr sz="1800" b="1">
                <a:solidFill>
                  <a:srgbClr val="3F7D6E"/>
                </a:solidFill>
                <a:latin typeface="Nimbus Sans"/>
                <a:ea typeface="Nimbus Sans"/>
                <a:cs typeface="Nimbus Sans"/>
              </a:rPr>
              <a:t>GROW SCIENCE</a:t>
            </a:r>
          </a:p>
        </p:txBody>
      </p:sp>
      <p:sp>
        <p:nvSpPr>
          <p:cNvPr id="5" name="Opening">
            <a:extLst xmlns:a="http://schemas.openxmlformats.org/drawingml/2006/main">
              <a:ext uri="{FF2B5EF4-FFF2-40B4-BE49-F238E27FC236}">
                <a16:creationId xmlns:a16="http://schemas.microsoft.com/office/drawing/2014/main" id="{86DC5622-9459-46BB-993B-8651047FD9EF}"/>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3F7D6E"/>
                </a:solidFill>
                <a:latin typeface="Nimbus Sans"/>
                <a:ea typeface="Nimbus Sans"/>
                <a:cs typeface="Nimbus Sans"/>
              </a:defRPr>
            </a:pPr>
            <a:r>
              <a:rPr sz="1800" b="1">
                <a:solidFill>
                  <a:srgbClr val="3F7D6E"/>
                </a:solidFill>
                <a:latin typeface="Nimbus Sans"/>
                <a:ea typeface="Nimbus Sans"/>
                <a:cs typeface="Nimbus Sans"/>
              </a:rPr>
              <a:t>Opening</a:t>
            </a:r>
          </a:p>
        </p:txBody>
      </p:sp>
      <p:sp>
        <p:nvSpPr>
          <p:cNvPr id="6" name="2 min">
            <a:extLst xmlns:a="http://schemas.openxmlformats.org/drawingml/2006/main">
              <a:ext uri="{FF2B5EF4-FFF2-40B4-BE49-F238E27FC236}">
                <a16:creationId xmlns:a16="http://schemas.microsoft.com/office/drawing/2014/main" id="{3612B5A7-38E6-46B6-A0EB-FA8F2F6184FC}"/>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2 min</a:t>
            </a:r>
          </a:p>
        </p:txBody>
      </p:sp>
      <p:sp>
        <p:nvSpPr>
          <p:cNvPr id="7" name="Can a jacket keep something cold?">
            <a:extLst xmlns:a="http://schemas.openxmlformats.org/drawingml/2006/main">
              <a:ext uri="{FF2B5EF4-FFF2-40B4-BE49-F238E27FC236}">
                <a16:creationId xmlns:a16="http://schemas.microsoft.com/office/drawing/2014/main" id="{502773E0-FF94-4E08-A7D8-2802A4A79682}"/>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Can a jacket keep something cold?</a:t>
            </a:r>
          </a:p>
        </p:txBody>
      </p:sp>
      <p:sp>
        <p:nvSpPr>
          <p:cNvPr id="8" name="surface">
            <a:extLst xmlns:a="http://schemas.openxmlformats.org/drawingml/2006/main">
              <a:ext uri="{FF2B5EF4-FFF2-40B4-BE49-F238E27FC236}">
                <a16:creationId xmlns:a16="http://schemas.microsoft.com/office/drawing/2014/main" id="{DA8C518E-D046-4FB1-9514-0D0D69AC0EB6}"/>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cold case">
            <a:extLst xmlns:a="http://schemas.openxmlformats.org/drawingml/2006/main">
              <a:ext uri="{FF2B5EF4-FFF2-40B4-BE49-F238E27FC236}">
                <a16:creationId xmlns:a16="http://schemas.microsoft.com/office/drawing/2014/main" id="{F9806A6C-492F-4FD3-8643-74016C64867D}"/>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cold case</a:t>
            </a:r>
          </a:p>
        </p:txBody>
      </p:sp>
      <p:sp>
        <p:nvSpPr>
          <p:cNvPr id="10" name="1 / 15">
            <a:extLst xmlns:a="http://schemas.openxmlformats.org/drawingml/2006/main">
              <a:ext uri="{FF2B5EF4-FFF2-40B4-BE49-F238E27FC236}">
                <a16:creationId xmlns:a16="http://schemas.microsoft.com/office/drawing/2014/main" id="{1199463C-FEE1-4E83-B880-E33DCDDBF90D}"/>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 / 15</a:t>
            </a:r>
          </a:p>
        </p:txBody>
      </p:sp>
      <p:sp>
        <p:nvSpPr>
          <p:cNvPr id="11" name="surface">
            <a:extLst xmlns:a="http://schemas.openxmlformats.org/drawingml/2006/main">
              <a:ext uri="{FF2B5EF4-FFF2-40B4-BE49-F238E27FC236}">
                <a16:creationId xmlns:a16="http://schemas.microsoft.com/office/drawing/2014/main" id="{DD09B216-3AEA-4EDE-9225-00E720507079}"/>
              </a:ext>
            </a:extLst>
          </p:cNvPr>
          <p:cNvSpPr>
            <a:spLocks xmlns:a="http://schemas.openxmlformats.org/drawingml/2006/main" noGrp="1"/>
          </p:cNvSpPr>
          <p:nvPr/>
        </p:nvSpPr>
        <p:spPr>
          <a:xfrm xmlns:a="http://schemas.openxmlformats.org/drawingml/2006/main">
            <a:off x="533400" y="1885950"/>
            <a:ext cx="11125200" cy="1247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12" name="surface">
            <a:extLst xmlns:a="http://schemas.openxmlformats.org/drawingml/2006/main">
              <a:ext uri="{FF2B5EF4-FFF2-40B4-BE49-F238E27FC236}">
                <a16:creationId xmlns:a16="http://schemas.microsoft.com/office/drawing/2014/main" id="{A0823092-E38D-4231-B047-125633F6A5C0}"/>
              </a:ext>
            </a:extLst>
          </p:cNvPr>
          <p:cNvSpPr>
            <a:spLocks xmlns:a="http://schemas.openxmlformats.org/drawingml/2006/main" noGrp="1"/>
          </p:cNvSpPr>
          <p:nvPr/>
        </p:nvSpPr>
        <p:spPr>
          <a:xfrm xmlns:a="http://schemas.openxmlformats.org/drawingml/2006/main">
            <a:off x="533400" y="1885950"/>
            <a:ext cx="66675" cy="1247775"/>
          </a:xfrm>
          <a:prstGeom xmlns:a="http://schemas.openxmlformats.org/drawingml/2006/main" prst="rect">
            <a:avLst/>
          </a:prstGeom>
          <a:solidFill xmlns:a="http://schemas.openxmlformats.org/drawingml/2006/main">
            <a:srgbClr val="3F7D6E"/>
          </a:solidFill>
          <a:ln xmlns:a="http://schemas.openxmlformats.org/drawingml/2006/main" w="0">
            <a:noFill/>
          </a:ln>
        </p:spPr>
      </p:sp>
      <p:sp>
        <p:nvSpPr>
          <p:cNvPr id="13" name="Learning intention">
            <a:extLst xmlns:a="http://schemas.openxmlformats.org/drawingml/2006/main">
              <a:ext uri="{FF2B5EF4-FFF2-40B4-BE49-F238E27FC236}">
                <a16:creationId xmlns:a16="http://schemas.microsoft.com/office/drawing/2014/main" id="{BC4F9417-A69C-470E-AACB-B6BBAF0C8838}"/>
              </a:ext>
            </a:extLst>
          </p:cNvPr>
          <p:cNvSpPr>
            <a:spLocks xmlns:a="http://schemas.openxmlformats.org/drawingml/2006/main" noGrp="1"/>
          </p:cNvSpPr>
          <p:nvPr/>
        </p:nvSpPr>
        <p:spPr>
          <a:xfrm xmlns:a="http://schemas.openxmlformats.org/drawingml/2006/main">
            <a:off x="762000" y="201930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650" b="1">
                <a:solidFill>
                  <a:srgbClr val="3F7D6E"/>
                </a:solidFill>
                <a:latin typeface="Nimbus Sans"/>
                <a:ea typeface="Nimbus Sans"/>
                <a:cs typeface="Nimbus Sans"/>
              </a:defRPr>
            </a:pPr>
            <a:r>
              <a:rPr sz="1650" b="1">
                <a:solidFill>
                  <a:srgbClr val="3F7D6E"/>
                </a:solidFill>
                <a:latin typeface="Nimbus Sans"/>
                <a:ea typeface="Nimbus Sans"/>
                <a:cs typeface="Nimbus Sans"/>
              </a:rPr>
              <a:t>Learning intention</a:t>
            </a:r>
          </a:p>
        </p:txBody>
      </p:sp>
      <p:sp>
        <p:nvSpPr>
          <p:cNvPr id="14" name="Use evidence to explain thermal conduction and select insulation">
            <a:extLst xmlns:a="http://schemas.openxmlformats.org/drawingml/2006/main">
              <a:ext uri="{FF2B5EF4-FFF2-40B4-BE49-F238E27FC236}">
                <a16:creationId xmlns:a16="http://schemas.microsoft.com/office/drawing/2014/main" id="{1FBA531F-4F3A-4E2A-9DAF-F26D297687BF}"/>
              </a:ext>
            </a:extLst>
          </p:cNvPr>
          <p:cNvSpPr>
            <a:spLocks xmlns:a="http://schemas.openxmlformats.org/drawingml/2006/main" noGrp="1"/>
          </p:cNvSpPr>
          <p:nvPr/>
        </p:nvSpPr>
        <p:spPr>
          <a:xfrm xmlns:a="http://schemas.openxmlformats.org/drawingml/2006/main">
            <a:off x="762000" y="236220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75" b="1">
                <a:solidFill>
                  <a:srgbClr val="1F2937"/>
                </a:solidFill>
                <a:latin typeface="Nimbus Sans"/>
                <a:ea typeface="Nimbus Sans"/>
                <a:cs typeface="Nimbus Sans"/>
              </a:defRPr>
            </a:pPr>
            <a:r>
              <a:rPr sz="2175" b="1">
                <a:solidFill>
                  <a:srgbClr val="1F2937"/>
                </a:solidFill>
                <a:latin typeface="Nimbus Sans"/>
                <a:ea typeface="Nimbus Sans"/>
                <a:cs typeface="Nimbus Sans"/>
              </a:rPr>
              <a:t>Use evidence to explain thermal conduction and select insulation for a cold</a:t>
            </a:r>
          </a:p>
          <a:p xmlns:a="http://schemas.openxmlformats.org/drawingml/2006/main">
            <a:pPr algn="l">
              <a:lnSpc>
                <a:spcPct val="108000"/>
              </a:lnSpc>
              <a:buNone/>
              <a:defRPr sz="2175" b="1">
                <a:solidFill>
                  <a:srgbClr val="1F2937"/>
                </a:solidFill>
                <a:latin typeface="Nimbus Sans"/>
                <a:ea typeface="Nimbus Sans"/>
                <a:cs typeface="Nimbus Sans"/>
              </a:defRPr>
            </a:pPr>
            <a:r>
              <a:rPr sz="2175" b="1">
                <a:solidFill>
                  <a:srgbClr val="1F2937"/>
                </a:solidFill>
                <a:latin typeface="Nimbus Sans"/>
                <a:ea typeface="Nimbus Sans"/>
                <a:cs typeface="Nimbus Sans"/>
              </a:rPr>
              <a:t>container.</a:t>
            </a:r>
          </a:p>
        </p:txBody>
      </p:sp>
      <p:sp>
        <p:nvSpPr>
          <p:cNvPr id="15" name="A cold drink must arrive cool.">
            <a:extLst xmlns:a="http://schemas.openxmlformats.org/drawingml/2006/main">
              <a:ext uri="{FF2B5EF4-FFF2-40B4-BE49-F238E27FC236}">
                <a16:creationId xmlns:a16="http://schemas.microsoft.com/office/drawing/2014/main" id="{D2AA536B-00EF-4C45-BC48-2596EE8160F9}"/>
              </a:ext>
            </a:extLst>
          </p:cNvPr>
          <p:cNvSpPr>
            <a:spLocks xmlns:a="http://schemas.openxmlformats.org/drawingml/2006/main" noGrp="1"/>
          </p:cNvSpPr>
          <p:nvPr/>
        </p:nvSpPr>
        <p:spPr>
          <a:xfrm xmlns:a="http://schemas.openxmlformats.org/drawingml/2006/main">
            <a:off x="762000" y="33623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A cold drink must arrive cool.</a:t>
            </a:r>
          </a:p>
        </p:txBody>
      </p:sp>
      <p:sp>
        <p:nvSpPr>
          <p:cNvPr id="16" name="Your job: choose a jacket and defend it with evidence.">
            <a:extLst xmlns:a="http://schemas.openxmlformats.org/drawingml/2006/main">
              <a:ext uri="{FF2B5EF4-FFF2-40B4-BE49-F238E27FC236}">
                <a16:creationId xmlns:a16="http://schemas.microsoft.com/office/drawing/2014/main" id="{ADCD0613-2CD6-4608-897A-09D46C35BE58}"/>
              </a:ext>
            </a:extLst>
          </p:cNvPr>
          <p:cNvSpPr>
            <a:spLocks xmlns:a="http://schemas.openxmlformats.org/drawingml/2006/main" noGrp="1"/>
          </p:cNvSpPr>
          <p:nvPr/>
        </p:nvSpPr>
        <p:spPr>
          <a:xfrm xmlns:a="http://schemas.openxmlformats.org/drawingml/2006/main">
            <a:off x="762000" y="39157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Your job: choose a jacket and defend it with evidence.</a:t>
            </a:r>
          </a:p>
        </p:txBody>
      </p:sp>
      <p:sp>
        <p:nvSpPr>
          <p:cNvPr id="17" name="Today: notice → explain → test the claim.">
            <a:extLst xmlns:a="http://schemas.openxmlformats.org/drawingml/2006/main">
              <a:ext uri="{FF2B5EF4-FFF2-40B4-BE49-F238E27FC236}">
                <a16:creationId xmlns:a16="http://schemas.microsoft.com/office/drawing/2014/main" id="{ECBD3D87-26AC-44DB-9E0F-C13A00C4F5EF}"/>
              </a:ext>
            </a:extLst>
          </p:cNvPr>
          <p:cNvSpPr>
            <a:spLocks xmlns:a="http://schemas.openxmlformats.org/drawingml/2006/main" noGrp="1"/>
          </p:cNvSpPr>
          <p:nvPr/>
        </p:nvSpPr>
        <p:spPr>
          <a:xfrm xmlns:a="http://schemas.openxmlformats.org/drawingml/2006/main">
            <a:off x="762000" y="44691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Today: notice → explain → test the claim.</a:t>
            </a:r>
          </a:p>
        </p:txBody>
      </p:sp>
    </p:spTree>
    <p:extLst>
      <p:ext uri="{BB962C8B-B14F-4D97-AF65-F5344CB8AC3E}">
        <p14:creationId xmlns:p14="http://schemas.microsoft.com/office/powerpoint/2010/main" val="81397780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909688B9-DB61-41E7-8921-17860B20C2D0}"/>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3F7D6E"/>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FBC616B6-8544-4CDB-AB2F-67801F402FA9}"/>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676DCB2F-9D6A-4B2A-8054-2DB1965018E5}"/>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3F7D6E"/>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188A2FF9-8EED-4D2A-84CB-0D965B6B195F}"/>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3F7D6E"/>
                </a:solidFill>
                <a:latin typeface="Nimbus Sans"/>
                <a:ea typeface="Nimbus Sans"/>
                <a:cs typeface="Nimbus Sans"/>
              </a:defRPr>
            </a:pPr>
            <a:r>
              <a:rPr sz="1800" b="1">
                <a:solidFill>
                  <a:srgbClr val="3F7D6E"/>
                </a:solidFill>
                <a:latin typeface="Nimbus Sans"/>
                <a:ea typeface="Nimbus Sans"/>
                <a:cs typeface="Nimbus Sans"/>
              </a:rPr>
              <a:t>GROW SCIENCE</a:t>
            </a:r>
          </a:p>
        </p:txBody>
      </p:sp>
      <p:sp>
        <p:nvSpPr>
          <p:cNvPr id="5" name="Retrieval">
            <a:extLst xmlns:a="http://schemas.openxmlformats.org/drawingml/2006/main">
              <a:ext uri="{FF2B5EF4-FFF2-40B4-BE49-F238E27FC236}">
                <a16:creationId xmlns:a16="http://schemas.microsoft.com/office/drawing/2014/main" id="{18CB3FE8-F979-4326-B94B-DA30C19FE913}"/>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3F7D6E"/>
                </a:solidFill>
                <a:latin typeface="Nimbus Sans"/>
                <a:ea typeface="Nimbus Sans"/>
                <a:cs typeface="Nimbus Sans"/>
              </a:defRPr>
            </a:pPr>
            <a:r>
              <a:rPr sz="1800" b="1">
                <a:solidFill>
                  <a:srgbClr val="3F7D6E"/>
                </a:solidFill>
                <a:latin typeface="Nimbus Sans"/>
                <a:ea typeface="Nimbus Sans"/>
                <a:cs typeface="Nimbus Sans"/>
              </a:rPr>
              <a:t>Retrieval</a:t>
            </a:r>
          </a:p>
        </p:txBody>
      </p:sp>
      <p:sp>
        <p:nvSpPr>
          <p:cNvPr id="6" name="3 min">
            <a:extLst xmlns:a="http://schemas.openxmlformats.org/drawingml/2006/main">
              <a:ext uri="{FF2B5EF4-FFF2-40B4-BE49-F238E27FC236}">
                <a16:creationId xmlns:a16="http://schemas.microsoft.com/office/drawing/2014/main" id="{763F7049-7699-4642-8F5E-D072591AA200}"/>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3 min</a:t>
            </a:r>
          </a:p>
        </p:txBody>
      </p:sp>
      <p:sp>
        <p:nvSpPr>
          <p:cNvPr id="7" name="What do we already know?">
            <a:extLst xmlns:a="http://schemas.openxmlformats.org/drawingml/2006/main">
              <a:ext uri="{FF2B5EF4-FFF2-40B4-BE49-F238E27FC236}">
                <a16:creationId xmlns:a16="http://schemas.microsoft.com/office/drawing/2014/main" id="{AE976F67-FA74-4C56-A7E2-14DEA27D57D8}"/>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What do we already know?</a:t>
            </a:r>
          </a:p>
        </p:txBody>
      </p:sp>
      <p:sp>
        <p:nvSpPr>
          <p:cNvPr id="8" name="surface">
            <a:extLst xmlns:a="http://schemas.openxmlformats.org/drawingml/2006/main">
              <a:ext uri="{FF2B5EF4-FFF2-40B4-BE49-F238E27FC236}">
                <a16:creationId xmlns:a16="http://schemas.microsoft.com/office/drawing/2014/main" id="{61BEB321-8243-4C41-9E3B-D2B1B6C519AD}"/>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cold case">
            <a:extLst xmlns:a="http://schemas.openxmlformats.org/drawingml/2006/main">
              <a:ext uri="{FF2B5EF4-FFF2-40B4-BE49-F238E27FC236}">
                <a16:creationId xmlns:a16="http://schemas.microsoft.com/office/drawing/2014/main" id="{85055FF1-B85D-45A2-AF01-593C0E168BAF}"/>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cold case</a:t>
            </a:r>
          </a:p>
        </p:txBody>
      </p:sp>
      <p:sp>
        <p:nvSpPr>
          <p:cNvPr id="10" name="2 / 15">
            <a:extLst xmlns:a="http://schemas.openxmlformats.org/drawingml/2006/main">
              <a:ext uri="{FF2B5EF4-FFF2-40B4-BE49-F238E27FC236}">
                <a16:creationId xmlns:a16="http://schemas.microsoft.com/office/drawing/2014/main" id="{1B218E86-F1EB-4A2C-BB7B-17B1A81DE9EF}"/>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2 / 15</a:t>
            </a:r>
          </a:p>
        </p:txBody>
      </p:sp>
      <p:sp>
        <p:nvSpPr>
          <p:cNvPr id="11" name="R1. Name the material in a metal spoon.">
            <a:extLst xmlns:a="http://schemas.openxmlformats.org/drawingml/2006/main">
              <a:ext uri="{FF2B5EF4-FFF2-40B4-BE49-F238E27FC236}">
                <a16:creationId xmlns:a16="http://schemas.microsoft.com/office/drawing/2014/main" id="{CB77A842-9A04-48C5-A7DB-7B1F17B860A3}"/>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R1. Name the material in a metal spoon.</a:t>
            </a:r>
          </a:p>
        </p:txBody>
      </p:sp>
      <p:sp>
        <p:nvSpPr>
          <p:cNvPr id="12" name="R2. Which is warmer: 8 °C or 20 °C?">
            <a:extLst xmlns:a="http://schemas.openxmlformats.org/drawingml/2006/main">
              <a:ext uri="{FF2B5EF4-FFF2-40B4-BE49-F238E27FC236}">
                <a16:creationId xmlns:a16="http://schemas.microsoft.com/office/drawing/2014/main" id="{2826D226-1E60-476D-AE01-A2A8BD54B10F}"/>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R2. Which is warmer: 8 °C or 20 °C?</a:t>
            </a:r>
          </a:p>
        </p:txBody>
      </p:sp>
      <p:sp>
        <p:nvSpPr>
          <p:cNvPr id="13" name="R3. Name a tool that measures temperature.">
            <a:extLst xmlns:a="http://schemas.openxmlformats.org/drawingml/2006/main">
              <a:ext uri="{FF2B5EF4-FFF2-40B4-BE49-F238E27FC236}">
                <a16:creationId xmlns:a16="http://schemas.microsoft.com/office/drawing/2014/main" id="{C29F6603-CC4B-4B6F-964E-10C97D68A585}"/>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R3. Name a tool that measures temperature.</a:t>
            </a:r>
          </a:p>
        </p:txBody>
      </p:sp>
    </p:spTree>
    <p:extLst>
      <p:ext uri="{BB962C8B-B14F-4D97-AF65-F5344CB8AC3E}">
        <p14:creationId xmlns:p14="http://schemas.microsoft.com/office/powerpoint/2010/main" val="63736048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surface">
            <a:extLst xmlns:a="http://schemas.openxmlformats.org/drawingml/2006/main">
              <a:ext uri="{FF2B5EF4-FFF2-40B4-BE49-F238E27FC236}">
                <a16:creationId xmlns:a16="http://schemas.microsoft.com/office/drawing/2014/main" id="{A931C8FB-F3DA-4969-AC94-3F3AA3927EA6}"/>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A38DEAD9-83C7-4E8F-920E-D2BA5CA24184}"/>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3E6DA"/>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DAC7CFA1-E8CB-406F-8EF1-32FE38714CE8}"/>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CF55F4A7-EDBB-4367-ADBC-5FF469763510}"/>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GROW SCIENCE</a:t>
            </a:r>
          </a:p>
        </p:txBody>
      </p:sp>
      <p:sp>
        <p:nvSpPr>
          <p:cNvPr id="5" name="I do">
            <a:extLst xmlns:a="http://schemas.openxmlformats.org/drawingml/2006/main">
              <a:ext uri="{FF2B5EF4-FFF2-40B4-BE49-F238E27FC236}">
                <a16:creationId xmlns:a16="http://schemas.microsoft.com/office/drawing/2014/main" id="{48E61A32-1D59-44FD-88C3-43A8F49B215C}"/>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I do</a:t>
            </a:r>
          </a:p>
        </p:txBody>
      </p:sp>
      <p:sp>
        <p:nvSpPr>
          <p:cNvPr id="6" name="8 min">
            <a:extLst xmlns:a="http://schemas.openxmlformats.org/drawingml/2006/main">
              <a:ext uri="{FF2B5EF4-FFF2-40B4-BE49-F238E27FC236}">
                <a16:creationId xmlns:a16="http://schemas.microsoft.com/office/drawing/2014/main" id="{228A93C8-B185-4BF7-B459-05C9CB5E12F2}"/>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8 min</a:t>
            </a:r>
          </a:p>
        </p:txBody>
      </p:sp>
      <p:sp>
        <p:nvSpPr>
          <p:cNvPr id="7" name="Feeling is not a thermometer">
            <a:extLst xmlns:a="http://schemas.openxmlformats.org/drawingml/2006/main">
              <a:ext uri="{FF2B5EF4-FFF2-40B4-BE49-F238E27FC236}">
                <a16:creationId xmlns:a16="http://schemas.microsoft.com/office/drawing/2014/main" id="{E701BAF9-3FA6-4C5A-8597-0F9185BFA1AE}"/>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Feeling is not a thermometer</a:t>
            </a:r>
          </a:p>
        </p:txBody>
      </p:sp>
      <p:sp>
        <p:nvSpPr>
          <p:cNvPr id="8" name="surface">
            <a:extLst xmlns:a="http://schemas.openxmlformats.org/drawingml/2006/main">
              <a:ext uri="{FF2B5EF4-FFF2-40B4-BE49-F238E27FC236}">
                <a16:creationId xmlns:a16="http://schemas.microsoft.com/office/drawing/2014/main" id="{5A2A7F04-4F2F-431C-A6BC-9F9A8EDBDD2B}"/>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cold case">
            <a:extLst xmlns:a="http://schemas.openxmlformats.org/drawingml/2006/main">
              <a:ext uri="{FF2B5EF4-FFF2-40B4-BE49-F238E27FC236}">
                <a16:creationId xmlns:a16="http://schemas.microsoft.com/office/drawing/2014/main" id="{6C14E5D7-FD0B-4028-A539-5EB7ED62AE69}"/>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cold case</a:t>
            </a:r>
          </a:p>
        </p:txBody>
      </p:sp>
      <p:sp>
        <p:nvSpPr>
          <p:cNvPr id="10" name="3 / 15">
            <a:extLst xmlns:a="http://schemas.openxmlformats.org/drawingml/2006/main">
              <a:ext uri="{FF2B5EF4-FFF2-40B4-BE49-F238E27FC236}">
                <a16:creationId xmlns:a16="http://schemas.microsoft.com/office/drawing/2014/main" id="{DFCDBD50-C90A-4D74-A53E-269847422453}"/>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3 / 15</a:t>
            </a:r>
          </a:p>
        </p:txBody>
      </p:sp>
      <p:sp>
        <p:nvSpPr>
          <p:cNvPr id="11" name="Diagram label: Both samples start at 20 °C">
            <a:extLst xmlns:a="http://schemas.openxmlformats.org/drawingml/2006/main">
              <a:ext uri="{FF2B5EF4-FFF2-40B4-BE49-F238E27FC236}">
                <a16:creationId xmlns:a16="http://schemas.microsoft.com/office/drawing/2014/main" id="{9046D58F-7FD7-4FEB-916C-986B0F3731C6}"/>
              </a:ext>
            </a:extLst>
          </p:cNvPr>
          <p:cNvSpPr>
            <a:spLocks xmlns:a="http://schemas.openxmlformats.org/drawingml/2006/main" noGrp="1"/>
          </p:cNvSpPr>
          <p:nvPr/>
        </p:nvSpPr>
        <p:spPr>
          <a:xfrm xmlns:a="http://schemas.openxmlformats.org/drawingml/2006/main">
            <a:off x="2907506" y="2058080"/>
            <a:ext cx="6306911" cy="3153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76" b="1">
                <a:solidFill>
                  <a:srgbClr val="1F2937"/>
                </a:solidFill>
                <a:latin typeface="Nimbus Sans"/>
                <a:ea typeface="Nimbus Sans"/>
                <a:cs typeface="Nimbus Sans"/>
              </a:defRPr>
            </a:pPr>
            <a:r>
              <a:rPr sz="1876" b="1">
                <a:solidFill>
                  <a:srgbClr val="1F2937"/>
                </a:solidFill>
                <a:latin typeface="Nimbus Sans"/>
                <a:ea typeface="Nimbus Sans"/>
                <a:cs typeface="Nimbus Sans"/>
              </a:rPr>
              <a:t>Both samples start at 20 °C</a:t>
            </a:r>
          </a:p>
        </p:txBody>
      </p:sp>
      <p:sp>
        <p:nvSpPr>
          <p:cNvPr id="12" name="Editable scientific diagram">
            <a:extLst xmlns:a="http://schemas.openxmlformats.org/drawingml/2006/main">
              <a:ext uri="{FF2B5EF4-FFF2-40B4-BE49-F238E27FC236}">
                <a16:creationId xmlns:a16="http://schemas.microsoft.com/office/drawing/2014/main" id="{2C49359E-7836-448B-A4CB-93CF391D0188}"/>
              </a:ext>
            </a:extLst>
          </p:cNvPr>
          <p:cNvSpPr>
            <a:spLocks xmlns:a="http://schemas.openxmlformats.org/drawingml/2006/main" noGrp="1"/>
          </p:cNvSpPr>
          <p:nvPr/>
        </p:nvSpPr>
        <p:spPr>
          <a:xfrm xmlns:a="http://schemas.openxmlformats.org/drawingml/2006/main">
            <a:off x="3047660" y="2899002"/>
            <a:ext cx="1962150" cy="665729"/>
          </a:xfrm>
          <a:prstGeom xmlns:a="http://schemas.openxmlformats.org/drawingml/2006/main" prst="rect">
            <a:avLst/>
          </a:prstGeom>
          <a:solidFill xmlns:a="http://schemas.openxmlformats.org/drawingml/2006/main">
            <a:srgbClr val="FBE8D6"/>
          </a:solidFill>
          <a:ln xmlns:a="http://schemas.openxmlformats.org/drawingml/2006/main" w="21023">
            <a:solidFill>
              <a:srgbClr val="C9803B"/>
            </a:solidFill>
          </a:ln>
        </p:spPr>
      </p:sp>
      <p:sp>
        <p:nvSpPr>
          <p:cNvPr id="13" name="Diagram label: Hand&#10;about 32 °C">
            <a:extLst xmlns:a="http://schemas.openxmlformats.org/drawingml/2006/main">
              <a:ext uri="{FF2B5EF4-FFF2-40B4-BE49-F238E27FC236}">
                <a16:creationId xmlns:a16="http://schemas.microsoft.com/office/drawing/2014/main" id="{5ACF61CE-AE65-4DAF-8E63-1395D4C804EF}"/>
              </a:ext>
            </a:extLst>
          </p:cNvPr>
          <p:cNvSpPr>
            <a:spLocks xmlns:a="http://schemas.openxmlformats.org/drawingml/2006/main" noGrp="1"/>
          </p:cNvSpPr>
          <p:nvPr/>
        </p:nvSpPr>
        <p:spPr>
          <a:xfrm xmlns:a="http://schemas.openxmlformats.org/drawingml/2006/main">
            <a:off x="3222852" y="2969079"/>
            <a:ext cx="1681843" cy="5956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435" b="0">
                <a:solidFill>
                  <a:srgbClr val="1F2937"/>
                </a:solidFill>
                <a:latin typeface="Nimbus Sans"/>
                <a:ea typeface="Nimbus Sans"/>
                <a:cs typeface="Nimbus Sans"/>
              </a:defRPr>
            </a:pPr>
            <a:r>
              <a:rPr sz="1435" b="0">
                <a:solidFill>
                  <a:srgbClr val="1F2937"/>
                </a:solidFill>
                <a:latin typeface="Nimbus Sans"/>
                <a:ea typeface="Nimbus Sans"/>
                <a:cs typeface="Nimbus Sans"/>
              </a:rPr>
              <a:t>Hand</a:t>
            </a:r>
          </a:p>
          <a:p xmlns:a="http://schemas.openxmlformats.org/drawingml/2006/main">
            <a:pPr algn="l">
              <a:lnSpc>
                <a:spcPct val="108000"/>
              </a:lnSpc>
              <a:buNone/>
              <a:defRPr sz="1435" b="0">
                <a:solidFill>
                  <a:srgbClr val="1F2937"/>
                </a:solidFill>
                <a:latin typeface="Nimbus Sans"/>
                <a:ea typeface="Nimbus Sans"/>
                <a:cs typeface="Nimbus Sans"/>
              </a:defRPr>
            </a:pPr>
            <a:r>
              <a:rPr sz="1435" b="0">
                <a:solidFill>
                  <a:srgbClr val="1F2937"/>
                </a:solidFill>
                <a:latin typeface="Nimbus Sans"/>
                <a:ea typeface="Nimbus Sans"/>
                <a:cs typeface="Nimbus Sans"/>
              </a:rPr>
              <a:t>about 32 °C</a:t>
            </a:r>
          </a:p>
        </p:txBody>
      </p:sp>
      <p:sp>
        <p:nvSpPr>
          <p:cNvPr id="14" name="Editable scientific diagram">
            <a:extLst xmlns:a="http://schemas.openxmlformats.org/drawingml/2006/main">
              <a:ext uri="{FF2B5EF4-FFF2-40B4-BE49-F238E27FC236}">
                <a16:creationId xmlns:a16="http://schemas.microsoft.com/office/drawing/2014/main" id="{1DD37658-5F10-4285-B0D2-20F8DBCA18EF}"/>
              </a:ext>
            </a:extLst>
          </p:cNvPr>
          <p:cNvSpPr>
            <a:spLocks xmlns:a="http://schemas.openxmlformats.org/drawingml/2006/main" noGrp="1"/>
          </p:cNvSpPr>
          <p:nvPr/>
        </p:nvSpPr>
        <p:spPr>
          <a:xfrm xmlns:a="http://schemas.openxmlformats.org/drawingml/2006/main">
            <a:off x="7182190" y="2723810"/>
            <a:ext cx="1962150" cy="665729"/>
          </a:xfrm>
          <a:prstGeom xmlns:a="http://schemas.openxmlformats.org/drawingml/2006/main" prst="rect">
            <a:avLst/>
          </a:prstGeom>
          <a:solidFill xmlns:a="http://schemas.openxmlformats.org/drawingml/2006/main">
            <a:srgbClr val="E2E6EB"/>
          </a:solidFill>
          <a:ln xmlns:a="http://schemas.openxmlformats.org/drawingml/2006/main" w="21023">
            <a:solidFill>
              <a:srgbClr val="66788A"/>
            </a:solidFill>
          </a:ln>
        </p:spPr>
      </p:sp>
      <p:sp>
        <p:nvSpPr>
          <p:cNvPr id="15" name="Diagram label: Metal: 20 °C">
            <a:extLst xmlns:a="http://schemas.openxmlformats.org/drawingml/2006/main">
              <a:ext uri="{FF2B5EF4-FFF2-40B4-BE49-F238E27FC236}">
                <a16:creationId xmlns:a16="http://schemas.microsoft.com/office/drawing/2014/main" id="{EFBF384F-92E5-4B84-AFE4-8F795101F0E3}"/>
              </a:ext>
            </a:extLst>
          </p:cNvPr>
          <p:cNvSpPr>
            <a:spLocks xmlns:a="http://schemas.openxmlformats.org/drawingml/2006/main" noGrp="1"/>
          </p:cNvSpPr>
          <p:nvPr/>
        </p:nvSpPr>
        <p:spPr>
          <a:xfrm xmlns:a="http://schemas.openxmlformats.org/drawingml/2006/main">
            <a:off x="7357382" y="2899002"/>
            <a:ext cx="1646804" cy="4204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45" b="0">
                <a:solidFill>
                  <a:srgbClr val="1F2937"/>
                </a:solidFill>
                <a:latin typeface="Nimbus Sans"/>
                <a:ea typeface="Nimbus Sans"/>
                <a:cs typeface="Nimbus Sans"/>
              </a:defRPr>
            </a:pPr>
            <a:r>
              <a:rPr sz="1545" b="0">
                <a:solidFill>
                  <a:srgbClr val="1F2937"/>
                </a:solidFill>
                <a:latin typeface="Nimbus Sans"/>
                <a:ea typeface="Nimbus Sans"/>
                <a:cs typeface="Nimbus Sans"/>
              </a:rPr>
              <a:t>Metal: 20 °C</a:t>
            </a:r>
          </a:p>
        </p:txBody>
      </p:sp>
      <p:sp>
        <p:nvSpPr>
          <p:cNvPr id="16" name="Editable scientific diagram">
            <a:extLst xmlns:a="http://schemas.openxmlformats.org/drawingml/2006/main">
              <a:ext uri="{FF2B5EF4-FFF2-40B4-BE49-F238E27FC236}">
                <a16:creationId xmlns:a16="http://schemas.microsoft.com/office/drawing/2014/main" id="{6C7D74B2-A50D-4D4F-B778-8E5C035BA0B9}"/>
              </a:ext>
            </a:extLst>
          </p:cNvPr>
          <p:cNvSpPr>
            <a:spLocks xmlns:a="http://schemas.openxmlformats.org/drawingml/2006/main" noGrp="1"/>
          </p:cNvSpPr>
          <p:nvPr/>
        </p:nvSpPr>
        <p:spPr>
          <a:xfrm xmlns:a="http://schemas.openxmlformats.org/drawingml/2006/main">
            <a:off x="7182190" y="4125346"/>
            <a:ext cx="1962150" cy="665729"/>
          </a:xfrm>
          <a:prstGeom xmlns:a="http://schemas.openxmlformats.org/drawingml/2006/main" prst="rect">
            <a:avLst/>
          </a:prstGeom>
          <a:solidFill xmlns:a="http://schemas.openxmlformats.org/drawingml/2006/main">
            <a:srgbClr val="EFE5D7"/>
          </a:solidFill>
          <a:ln xmlns:a="http://schemas.openxmlformats.org/drawingml/2006/main" w="21023">
            <a:solidFill>
              <a:srgbClr val="8C7454"/>
            </a:solidFill>
          </a:ln>
        </p:spPr>
      </p:sp>
      <p:sp>
        <p:nvSpPr>
          <p:cNvPr id="17" name="Diagram label: Wood: 20 °C">
            <a:extLst xmlns:a="http://schemas.openxmlformats.org/drawingml/2006/main">
              <a:ext uri="{FF2B5EF4-FFF2-40B4-BE49-F238E27FC236}">
                <a16:creationId xmlns:a16="http://schemas.microsoft.com/office/drawing/2014/main" id="{63776D99-2C92-4B8C-8ADF-ADEC7EDD29B6}"/>
              </a:ext>
            </a:extLst>
          </p:cNvPr>
          <p:cNvSpPr>
            <a:spLocks xmlns:a="http://schemas.openxmlformats.org/drawingml/2006/main" noGrp="1"/>
          </p:cNvSpPr>
          <p:nvPr/>
        </p:nvSpPr>
        <p:spPr>
          <a:xfrm xmlns:a="http://schemas.openxmlformats.org/drawingml/2006/main">
            <a:off x="7357382" y="4300538"/>
            <a:ext cx="1646804" cy="4204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45" b="0">
                <a:solidFill>
                  <a:srgbClr val="1F2937"/>
                </a:solidFill>
                <a:latin typeface="Nimbus Sans"/>
                <a:ea typeface="Nimbus Sans"/>
                <a:cs typeface="Nimbus Sans"/>
              </a:defRPr>
            </a:pPr>
            <a:r>
              <a:rPr sz="1545" b="0">
                <a:solidFill>
                  <a:srgbClr val="1F2937"/>
                </a:solidFill>
                <a:latin typeface="Nimbus Sans"/>
                <a:ea typeface="Nimbus Sans"/>
                <a:cs typeface="Nimbus Sans"/>
              </a:rPr>
              <a:t>Wood: 20 °C</a:t>
            </a:r>
          </a:p>
        </p:txBody>
      </p:sp>
      <p:sp>
        <p:nvSpPr>
          <p:cNvPr id="18" name="Diagram line">
            <a:extLst xmlns:a="http://schemas.openxmlformats.org/drawingml/2006/main">
              <a:ext uri="{FF2B5EF4-FFF2-40B4-BE49-F238E27FC236}">
                <a16:creationId xmlns:a16="http://schemas.microsoft.com/office/drawing/2014/main" id="{1FFE3862-409C-42D9-8708-C7775C37CE35}"/>
              </a:ext>
            </a:extLst>
          </p:cNvPr>
          <p:cNvSpPr>
            <a:spLocks xmlns:a="http://schemas.openxmlformats.org/drawingml/2006/main" noGrp="1"/>
          </p:cNvSpPr>
          <p:nvPr/>
        </p:nvSpPr>
        <p:spPr>
          <a:xfrm xmlns:a="http://schemas.openxmlformats.org/drawingml/2006/main" flipH="0" flipV="0">
            <a:off x="5079887" y="3109232"/>
            <a:ext cx="1776447" cy="953"/>
          </a:xfrm>
          <a:prstGeom xmlns:a="http://schemas.openxmlformats.org/drawingml/2006/main" prst="line">
            <a:avLst/>
          </a:prstGeom>
          <a:noFill xmlns:a="http://schemas.openxmlformats.org/drawingml/2006/main"/>
          <a:ln xmlns:a="http://schemas.openxmlformats.org/drawingml/2006/main" w="105115">
            <a:solidFill>
              <a:srgbClr val="C9803B"/>
            </a:solidFill>
          </a:ln>
        </p:spPr>
      </p:sp>
      <p:sp>
        <p:nvSpPr>
          <p:cNvPr id="19" name="Diagram arrowhead">
            <a:extLst xmlns:a="http://schemas.openxmlformats.org/drawingml/2006/main">
              <a:ext uri="{FF2B5EF4-FFF2-40B4-BE49-F238E27FC236}">
                <a16:creationId xmlns:a16="http://schemas.microsoft.com/office/drawing/2014/main" id="{45D4C1E9-B3A1-430C-8095-86A2154BAFF1}"/>
              </a:ext>
            </a:extLst>
          </p:cNvPr>
          <p:cNvSpPr>
            <a:spLocks xmlns:a="http://schemas.openxmlformats.org/drawingml/2006/main" noGrp="1"/>
          </p:cNvSpPr>
          <p:nvPr/>
        </p:nvSpPr>
        <p:spPr>
          <a:xfrm xmlns:a="http://schemas.openxmlformats.org/drawingml/2006/main" rot="5400000">
            <a:off x="6782752" y="2962071"/>
            <a:ext cx="294323" cy="294323"/>
          </a:xfrm>
          <a:prstGeom xmlns:a="http://schemas.openxmlformats.org/drawingml/2006/main" prst="triangle">
            <a:avLst/>
          </a:prstGeom>
          <a:solidFill xmlns:a="http://schemas.openxmlformats.org/drawingml/2006/main">
            <a:srgbClr val="C9803B"/>
          </a:solidFill>
          <a:ln xmlns:a="http://schemas.openxmlformats.org/drawingml/2006/main" w="0">
            <a:noFill/>
          </a:ln>
        </p:spPr>
      </p:sp>
      <p:sp>
        <p:nvSpPr>
          <p:cNvPr id="20" name="Diagram line">
            <a:extLst xmlns:a="http://schemas.openxmlformats.org/drawingml/2006/main">
              <a:ext uri="{FF2B5EF4-FFF2-40B4-BE49-F238E27FC236}">
                <a16:creationId xmlns:a16="http://schemas.microsoft.com/office/drawing/2014/main" id="{A707C4A2-BB55-4F65-B57D-8C1E489B93D0}"/>
              </a:ext>
            </a:extLst>
          </p:cNvPr>
          <p:cNvSpPr>
            <a:spLocks xmlns:a="http://schemas.openxmlformats.org/drawingml/2006/main" noGrp="1"/>
          </p:cNvSpPr>
          <p:nvPr/>
        </p:nvSpPr>
        <p:spPr>
          <a:xfrm xmlns:a="http://schemas.openxmlformats.org/drawingml/2006/main" flipH="0" flipV="0">
            <a:off x="5009810" y="3564731"/>
            <a:ext cx="1999108" cy="813196"/>
          </a:xfrm>
          <a:prstGeom xmlns:a="http://schemas.openxmlformats.org/drawingml/2006/main" prst="line">
            <a:avLst/>
          </a:prstGeom>
          <a:noFill xmlns:a="http://schemas.openxmlformats.org/drawingml/2006/main"/>
          <a:ln xmlns:a="http://schemas.openxmlformats.org/drawingml/2006/main" w="28031">
            <a:solidFill>
              <a:srgbClr val="C9803B"/>
            </a:solidFill>
          </a:ln>
        </p:spPr>
      </p:sp>
      <p:sp>
        <p:nvSpPr>
          <p:cNvPr id="21" name="Diagram arrowhead">
            <a:extLst xmlns:a="http://schemas.openxmlformats.org/drawingml/2006/main">
              <a:ext uri="{FF2B5EF4-FFF2-40B4-BE49-F238E27FC236}">
                <a16:creationId xmlns:a16="http://schemas.microsoft.com/office/drawing/2014/main" id="{A9F05773-D20A-4858-B969-6059D5B0A7E0}"/>
              </a:ext>
            </a:extLst>
          </p:cNvPr>
          <p:cNvSpPr>
            <a:spLocks xmlns:a="http://schemas.openxmlformats.org/drawingml/2006/main" noGrp="1"/>
          </p:cNvSpPr>
          <p:nvPr/>
        </p:nvSpPr>
        <p:spPr>
          <a:xfrm xmlns:a="http://schemas.openxmlformats.org/drawingml/2006/main" rot="6728130">
            <a:off x="6982583" y="4338116"/>
            <a:ext cx="98108" cy="98108"/>
          </a:xfrm>
          <a:prstGeom xmlns:a="http://schemas.openxmlformats.org/drawingml/2006/main" prst="triangle">
            <a:avLst/>
          </a:prstGeom>
          <a:solidFill xmlns:a="http://schemas.openxmlformats.org/drawingml/2006/main">
            <a:srgbClr val="C9803B"/>
          </a:solidFill>
          <a:ln xmlns:a="http://schemas.openxmlformats.org/drawingml/2006/main" w="0">
            <a:noFill/>
          </a:ln>
        </p:spPr>
      </p:sp>
      <p:sp>
        <p:nvSpPr>
          <p:cNvPr id="22" name="Diagram label: Faster transfer">
            <a:extLst xmlns:a="http://schemas.openxmlformats.org/drawingml/2006/main">
              <a:ext uri="{FF2B5EF4-FFF2-40B4-BE49-F238E27FC236}">
                <a16:creationId xmlns:a16="http://schemas.microsoft.com/office/drawing/2014/main" id="{E77902F0-8D69-4AFA-BF77-4E1BA912A55E}"/>
              </a:ext>
            </a:extLst>
          </p:cNvPr>
          <p:cNvSpPr>
            <a:spLocks xmlns:a="http://schemas.openxmlformats.org/drawingml/2006/main" noGrp="1"/>
          </p:cNvSpPr>
          <p:nvPr/>
        </p:nvSpPr>
        <p:spPr>
          <a:xfrm xmlns:a="http://schemas.openxmlformats.org/drawingml/2006/main">
            <a:off x="5149963" y="2513579"/>
            <a:ext cx="1786958" cy="3854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435" b="1">
                <a:solidFill>
                  <a:srgbClr val="1F2937"/>
                </a:solidFill>
                <a:latin typeface="Nimbus Sans"/>
                <a:ea typeface="Nimbus Sans"/>
                <a:cs typeface="Nimbus Sans"/>
              </a:defRPr>
            </a:pPr>
            <a:r>
              <a:rPr sz="1435" b="1">
                <a:solidFill>
                  <a:srgbClr val="1F2937"/>
                </a:solidFill>
                <a:latin typeface="Nimbus Sans"/>
                <a:ea typeface="Nimbus Sans"/>
                <a:cs typeface="Nimbus Sans"/>
              </a:rPr>
              <a:t>Faster transfer</a:t>
            </a:r>
          </a:p>
        </p:txBody>
      </p:sp>
      <p:sp>
        <p:nvSpPr>
          <p:cNvPr id="23" name="Diagram label: Slower transfer">
            <a:extLst xmlns:a="http://schemas.openxmlformats.org/drawingml/2006/main">
              <a:ext uri="{FF2B5EF4-FFF2-40B4-BE49-F238E27FC236}">
                <a16:creationId xmlns:a16="http://schemas.microsoft.com/office/drawing/2014/main" id="{3A2EFC51-3C91-4375-8AE6-720E79588396}"/>
              </a:ext>
            </a:extLst>
          </p:cNvPr>
          <p:cNvSpPr>
            <a:spLocks xmlns:a="http://schemas.openxmlformats.org/drawingml/2006/main" noGrp="1"/>
          </p:cNvSpPr>
          <p:nvPr/>
        </p:nvSpPr>
        <p:spPr>
          <a:xfrm xmlns:a="http://schemas.openxmlformats.org/drawingml/2006/main">
            <a:off x="5149963" y="4405653"/>
            <a:ext cx="1892073" cy="3854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435" b="1">
                <a:solidFill>
                  <a:srgbClr val="1F2937"/>
                </a:solidFill>
                <a:latin typeface="Nimbus Sans"/>
                <a:ea typeface="Nimbus Sans"/>
                <a:cs typeface="Nimbus Sans"/>
              </a:defRPr>
            </a:pPr>
            <a:r>
              <a:rPr sz="1435" b="1">
                <a:solidFill>
                  <a:srgbClr val="1F2937"/>
                </a:solidFill>
                <a:latin typeface="Nimbus Sans"/>
                <a:ea typeface="Nimbus Sans"/>
                <a:cs typeface="Nimbus Sans"/>
              </a:rPr>
              <a:t>Slower transfer</a:t>
            </a:r>
          </a:p>
        </p:txBody>
      </p:sp>
      <p:sp>
        <p:nvSpPr>
          <p:cNvPr id="24" name="Diagram label: Arrow width is a model, not measured data.">
            <a:extLst xmlns:a="http://schemas.openxmlformats.org/drawingml/2006/main">
              <a:ext uri="{FF2B5EF4-FFF2-40B4-BE49-F238E27FC236}">
                <a16:creationId xmlns:a16="http://schemas.microsoft.com/office/drawing/2014/main" id="{48820F23-50BE-49CE-9A72-061035D48FCF}"/>
              </a:ext>
            </a:extLst>
          </p:cNvPr>
          <p:cNvSpPr>
            <a:spLocks xmlns:a="http://schemas.openxmlformats.org/drawingml/2006/main" noGrp="1"/>
          </p:cNvSpPr>
          <p:nvPr/>
        </p:nvSpPr>
        <p:spPr>
          <a:xfrm xmlns:a="http://schemas.openxmlformats.org/drawingml/2006/main">
            <a:off x="3047660" y="5176497"/>
            <a:ext cx="6131719" cy="3854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435" b="0">
                <a:solidFill>
                  <a:srgbClr val="1F2937"/>
                </a:solidFill>
                <a:latin typeface="Nimbus Sans"/>
                <a:ea typeface="Nimbus Sans"/>
                <a:cs typeface="Nimbus Sans"/>
              </a:defRPr>
            </a:pPr>
            <a:r>
              <a:rPr sz="1435" b="0">
                <a:solidFill>
                  <a:srgbClr val="1F2937"/>
                </a:solidFill>
                <a:latin typeface="Nimbus Sans"/>
                <a:ea typeface="Nimbus Sans"/>
                <a:cs typeface="Nimbus Sans"/>
              </a:rPr>
              <a:t>Arrow width is a model, not measured data.</a:t>
            </a:r>
          </a:p>
        </p:txBody>
      </p:sp>
      <p:sp>
        <p:nvSpPr>
          <p:cNvPr id="25" name="The samples both start at 20 °C.  A warmer hand loses energy to ">
            <a:extLst xmlns:a="http://schemas.openxmlformats.org/drawingml/2006/main">
              <a:ext uri="{FF2B5EF4-FFF2-40B4-BE49-F238E27FC236}">
                <a16:creationId xmlns:a16="http://schemas.microsoft.com/office/drawing/2014/main" id="{27B379D6-A87E-4E95-87F4-0E4A9D721918}"/>
              </a:ext>
            </a:extLst>
          </p:cNvPr>
          <p:cNvSpPr>
            <a:spLocks xmlns:a="http://schemas.openxmlformats.org/drawingml/2006/main" noGrp="1"/>
          </p:cNvSpPr>
          <p:nvPr/>
        </p:nvSpPr>
        <p:spPr>
          <a:xfrm xmlns:a="http://schemas.openxmlformats.org/drawingml/2006/main">
            <a:off x="533400" y="5829300"/>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The samples both start at 20 °C. A warmer hand loses energy to both. Metal transfers that energy more</a:t>
            </a:r>
          </a:p>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quickly.</a:t>
            </a:r>
          </a:p>
        </p:txBody>
      </p:sp>
    </p:spTree>
    <p:extLst>
      <p:ext uri="{BB962C8B-B14F-4D97-AF65-F5344CB8AC3E}">
        <p14:creationId xmlns:p14="http://schemas.microsoft.com/office/powerpoint/2010/main" val="120648541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urface">
            <a:extLst xmlns:a="http://schemas.openxmlformats.org/drawingml/2006/main">
              <a:ext uri="{FF2B5EF4-FFF2-40B4-BE49-F238E27FC236}">
                <a16:creationId xmlns:a16="http://schemas.microsoft.com/office/drawing/2014/main" id="{919A1F7F-A6F1-4226-8CDF-12075D3AA93D}"/>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E1F0CAFE-319B-4227-B335-17984B55DCB9}"/>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3E6DA"/>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D8930901-BAB1-4DC0-A2F2-405B90B0081B}"/>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781CC26B-6E48-4C56-8367-D3359B08536F}"/>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GROW SCIENCE</a:t>
            </a:r>
          </a:p>
        </p:txBody>
      </p:sp>
      <p:sp>
        <p:nvSpPr>
          <p:cNvPr id="5" name="I do">
            <a:extLst xmlns:a="http://schemas.openxmlformats.org/drawingml/2006/main">
              <a:ext uri="{FF2B5EF4-FFF2-40B4-BE49-F238E27FC236}">
                <a16:creationId xmlns:a16="http://schemas.microsoft.com/office/drawing/2014/main" id="{B925DF5D-03A9-41AF-A41E-0B7241602C55}"/>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I do</a:t>
            </a:r>
          </a:p>
        </p:txBody>
      </p:sp>
      <p:sp>
        <p:nvSpPr>
          <p:cNvPr id="6" name="Why can ice melt faster on metal?">
            <a:extLst xmlns:a="http://schemas.openxmlformats.org/drawingml/2006/main">
              <a:ext uri="{FF2B5EF4-FFF2-40B4-BE49-F238E27FC236}">
                <a16:creationId xmlns:a16="http://schemas.microsoft.com/office/drawing/2014/main" id="{D1DF9668-0139-4483-97BC-E4464EDDFFF7}"/>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Why can ice melt faster on metal?</a:t>
            </a:r>
          </a:p>
        </p:txBody>
      </p:sp>
      <p:sp>
        <p:nvSpPr>
          <p:cNvPr id="7" name="surface">
            <a:extLst xmlns:a="http://schemas.openxmlformats.org/drawingml/2006/main">
              <a:ext uri="{FF2B5EF4-FFF2-40B4-BE49-F238E27FC236}">
                <a16:creationId xmlns:a16="http://schemas.microsoft.com/office/drawing/2014/main" id="{6E350CF3-13E2-4D4E-A304-4FD8B929D98F}"/>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The cold case">
            <a:extLst xmlns:a="http://schemas.openxmlformats.org/drawingml/2006/main">
              <a:ext uri="{FF2B5EF4-FFF2-40B4-BE49-F238E27FC236}">
                <a16:creationId xmlns:a16="http://schemas.microsoft.com/office/drawing/2014/main" id="{089C11F5-C727-446D-A92B-21565ABDDC00}"/>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cold case</a:t>
            </a:r>
          </a:p>
        </p:txBody>
      </p:sp>
      <p:sp>
        <p:nvSpPr>
          <p:cNvPr id="9" name="4 / 15">
            <a:extLst xmlns:a="http://schemas.openxmlformats.org/drawingml/2006/main">
              <a:ext uri="{FF2B5EF4-FFF2-40B4-BE49-F238E27FC236}">
                <a16:creationId xmlns:a16="http://schemas.microsoft.com/office/drawing/2014/main" id="{7B51369F-0243-46E2-86C0-0F00B1ED6794}"/>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4 / 15</a:t>
            </a:r>
          </a:p>
        </p:txBody>
      </p:sp>
      <p:sp>
        <p:nvSpPr>
          <p:cNvPr id="10" name="Diagram label: Ice is cooler than the tray and room">
            <a:extLst xmlns:a="http://schemas.openxmlformats.org/drawingml/2006/main">
              <a:ext uri="{FF2B5EF4-FFF2-40B4-BE49-F238E27FC236}">
                <a16:creationId xmlns:a16="http://schemas.microsoft.com/office/drawing/2014/main" id="{FC22A9CC-E841-4E12-A456-258B66DB1D81}"/>
              </a:ext>
            </a:extLst>
          </p:cNvPr>
          <p:cNvSpPr>
            <a:spLocks xmlns:a="http://schemas.openxmlformats.org/drawingml/2006/main" noGrp="1"/>
          </p:cNvSpPr>
          <p:nvPr/>
        </p:nvSpPr>
        <p:spPr>
          <a:xfrm xmlns:a="http://schemas.openxmlformats.org/drawingml/2006/main">
            <a:off x="2907506" y="2023042"/>
            <a:ext cx="6306911" cy="3153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76" b="1">
                <a:solidFill>
                  <a:srgbClr val="1F2937"/>
                </a:solidFill>
                <a:latin typeface="Nimbus Sans"/>
                <a:ea typeface="Nimbus Sans"/>
                <a:cs typeface="Nimbus Sans"/>
              </a:defRPr>
            </a:pPr>
            <a:r>
              <a:rPr sz="1876" b="1">
                <a:solidFill>
                  <a:srgbClr val="1F2937"/>
                </a:solidFill>
                <a:latin typeface="Nimbus Sans"/>
                <a:ea typeface="Nimbus Sans"/>
                <a:cs typeface="Nimbus Sans"/>
              </a:rPr>
              <a:t>Ice is cooler than the tray and room</a:t>
            </a:r>
          </a:p>
        </p:txBody>
      </p:sp>
      <p:sp>
        <p:nvSpPr>
          <p:cNvPr id="11" name="Editable scientific diagram">
            <a:extLst xmlns:a="http://schemas.openxmlformats.org/drawingml/2006/main">
              <a:ext uri="{FF2B5EF4-FFF2-40B4-BE49-F238E27FC236}">
                <a16:creationId xmlns:a16="http://schemas.microsoft.com/office/drawing/2014/main" id="{1D86958E-756D-48B4-A4D8-5812DD9738BF}"/>
              </a:ext>
            </a:extLst>
          </p:cNvPr>
          <p:cNvSpPr>
            <a:spLocks xmlns:a="http://schemas.openxmlformats.org/drawingml/2006/main" noGrp="1"/>
          </p:cNvSpPr>
          <p:nvPr/>
        </p:nvSpPr>
        <p:spPr>
          <a:xfrm xmlns:a="http://schemas.openxmlformats.org/drawingml/2006/main">
            <a:off x="3187813" y="4265499"/>
            <a:ext cx="5746296" cy="455499"/>
          </a:xfrm>
          <a:prstGeom xmlns:a="http://schemas.openxmlformats.org/drawingml/2006/main" prst="rect">
            <a:avLst/>
          </a:prstGeom>
          <a:solidFill xmlns:a="http://schemas.openxmlformats.org/drawingml/2006/main">
            <a:srgbClr val="DEE5ED"/>
          </a:solidFill>
          <a:ln xmlns:a="http://schemas.openxmlformats.org/drawingml/2006/main" w="21023">
            <a:solidFill>
              <a:srgbClr val="66788A"/>
            </a:solidFill>
          </a:ln>
        </p:spPr>
      </p:sp>
      <p:sp>
        <p:nvSpPr>
          <p:cNvPr id="12" name="Diagram label: Room-temperature metal tray">
            <a:extLst xmlns:a="http://schemas.openxmlformats.org/drawingml/2006/main">
              <a:ext uri="{FF2B5EF4-FFF2-40B4-BE49-F238E27FC236}">
                <a16:creationId xmlns:a16="http://schemas.microsoft.com/office/drawing/2014/main" id="{3B359F2D-ED9D-4AC4-BD7A-12206CB7197C}"/>
              </a:ext>
            </a:extLst>
          </p:cNvPr>
          <p:cNvSpPr>
            <a:spLocks xmlns:a="http://schemas.openxmlformats.org/drawingml/2006/main" noGrp="1"/>
          </p:cNvSpPr>
          <p:nvPr/>
        </p:nvSpPr>
        <p:spPr>
          <a:xfrm xmlns:a="http://schemas.openxmlformats.org/drawingml/2006/main">
            <a:off x="4694464" y="4335576"/>
            <a:ext cx="3924300" cy="3503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45" b="1">
                <a:solidFill>
                  <a:srgbClr val="1F2937"/>
                </a:solidFill>
                <a:latin typeface="Nimbus Sans"/>
                <a:ea typeface="Nimbus Sans"/>
                <a:cs typeface="Nimbus Sans"/>
              </a:defRPr>
            </a:pPr>
            <a:r>
              <a:rPr sz="1545" b="1">
                <a:solidFill>
                  <a:srgbClr val="1F2937"/>
                </a:solidFill>
                <a:latin typeface="Nimbus Sans"/>
                <a:ea typeface="Nimbus Sans"/>
                <a:cs typeface="Nimbus Sans"/>
              </a:rPr>
              <a:t>Room-temperature metal tray</a:t>
            </a:r>
          </a:p>
        </p:txBody>
      </p:sp>
      <p:sp>
        <p:nvSpPr>
          <p:cNvPr id="13" name="Editable scientific diagram">
            <a:extLst xmlns:a="http://schemas.openxmlformats.org/drawingml/2006/main">
              <a:ext uri="{FF2B5EF4-FFF2-40B4-BE49-F238E27FC236}">
                <a16:creationId xmlns:a16="http://schemas.microsoft.com/office/drawing/2014/main" id="{0BBEFBE8-8DAA-4CFE-A8DB-A35270958070}"/>
              </a:ext>
            </a:extLst>
          </p:cNvPr>
          <p:cNvSpPr>
            <a:spLocks xmlns:a="http://schemas.openxmlformats.org/drawingml/2006/main" noGrp="1"/>
          </p:cNvSpPr>
          <p:nvPr/>
        </p:nvSpPr>
        <p:spPr>
          <a:xfrm xmlns:a="http://schemas.openxmlformats.org/drawingml/2006/main">
            <a:off x="4869656" y="2934040"/>
            <a:ext cx="2242457" cy="1331459"/>
          </a:xfrm>
          <a:prstGeom xmlns:a="http://schemas.openxmlformats.org/drawingml/2006/main" prst="rect">
            <a:avLst/>
          </a:prstGeom>
          <a:solidFill xmlns:a="http://schemas.openxmlformats.org/drawingml/2006/main">
            <a:srgbClr val="D9EDF7"/>
          </a:solidFill>
          <a:ln xmlns:a="http://schemas.openxmlformats.org/drawingml/2006/main" w="21023">
            <a:solidFill>
              <a:srgbClr val="4D82A0"/>
            </a:solidFill>
          </a:ln>
        </p:spPr>
      </p:sp>
      <p:sp>
        <p:nvSpPr>
          <p:cNvPr id="14" name="Diagram label: Ice&#10;about 0 °C">
            <a:extLst xmlns:a="http://schemas.openxmlformats.org/drawingml/2006/main">
              <a:ext uri="{FF2B5EF4-FFF2-40B4-BE49-F238E27FC236}">
                <a16:creationId xmlns:a16="http://schemas.microsoft.com/office/drawing/2014/main" id="{2C824E91-FB35-42AA-8330-BDCF7C39F82A}"/>
              </a:ext>
            </a:extLst>
          </p:cNvPr>
          <p:cNvSpPr>
            <a:spLocks xmlns:a="http://schemas.openxmlformats.org/drawingml/2006/main" noGrp="1"/>
          </p:cNvSpPr>
          <p:nvPr/>
        </p:nvSpPr>
        <p:spPr>
          <a:xfrm xmlns:a="http://schemas.openxmlformats.org/drawingml/2006/main">
            <a:off x="5290117" y="3214347"/>
            <a:ext cx="1541689" cy="5606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655" b="1">
                <a:solidFill>
                  <a:srgbClr val="1F2937"/>
                </a:solidFill>
                <a:latin typeface="Nimbus Sans"/>
                <a:ea typeface="Nimbus Sans"/>
                <a:cs typeface="Nimbus Sans"/>
              </a:defRPr>
            </a:pPr>
            <a:r>
              <a:rPr sz="1655" b="1">
                <a:solidFill>
                  <a:srgbClr val="1F2937"/>
                </a:solidFill>
                <a:latin typeface="Nimbus Sans"/>
                <a:ea typeface="Nimbus Sans"/>
                <a:cs typeface="Nimbus Sans"/>
              </a:rPr>
              <a:t>Ice</a:t>
            </a:r>
          </a:p>
          <a:p xmlns:a="http://schemas.openxmlformats.org/drawingml/2006/main">
            <a:pPr algn="l">
              <a:lnSpc>
                <a:spcPct val="108000"/>
              </a:lnSpc>
              <a:buNone/>
              <a:defRPr sz="1655" b="1">
                <a:solidFill>
                  <a:srgbClr val="1F2937"/>
                </a:solidFill>
                <a:latin typeface="Nimbus Sans"/>
                <a:ea typeface="Nimbus Sans"/>
                <a:cs typeface="Nimbus Sans"/>
              </a:defRPr>
            </a:pPr>
            <a:r>
              <a:rPr sz="1655" b="1">
                <a:solidFill>
                  <a:srgbClr val="1F2937"/>
                </a:solidFill>
                <a:latin typeface="Nimbus Sans"/>
                <a:ea typeface="Nimbus Sans"/>
                <a:cs typeface="Nimbus Sans"/>
              </a:rPr>
              <a:t>about 0 °C</a:t>
            </a:r>
          </a:p>
        </p:txBody>
      </p:sp>
      <p:sp>
        <p:nvSpPr>
          <p:cNvPr id="15" name="Diagram line">
            <a:extLst xmlns:a="http://schemas.openxmlformats.org/drawingml/2006/main">
              <a:ext uri="{FF2B5EF4-FFF2-40B4-BE49-F238E27FC236}">
                <a16:creationId xmlns:a16="http://schemas.microsoft.com/office/drawing/2014/main" id="{603C48DE-A865-4C50-ABCB-AD1E65034B30}"/>
              </a:ext>
            </a:extLst>
          </p:cNvPr>
          <p:cNvSpPr>
            <a:spLocks xmlns:a="http://schemas.openxmlformats.org/drawingml/2006/main" noGrp="1"/>
          </p:cNvSpPr>
          <p:nvPr/>
        </p:nvSpPr>
        <p:spPr>
          <a:xfrm xmlns:a="http://schemas.openxmlformats.org/drawingml/2006/main" flipH="0" flipV="1">
            <a:off x="4274004" y="3974346"/>
            <a:ext cx="652382" cy="326191"/>
          </a:xfrm>
          <a:prstGeom xmlns:a="http://schemas.openxmlformats.org/drawingml/2006/main" prst="line">
            <a:avLst/>
          </a:prstGeom>
          <a:noFill xmlns:a="http://schemas.openxmlformats.org/drawingml/2006/main"/>
          <a:ln xmlns:a="http://schemas.openxmlformats.org/drawingml/2006/main" w="63069">
            <a:solidFill>
              <a:srgbClr val="C9803B"/>
            </a:solidFill>
          </a:ln>
        </p:spPr>
      </p:sp>
      <p:sp>
        <p:nvSpPr>
          <p:cNvPr id="16" name="Diagram arrowhead">
            <a:extLst xmlns:a="http://schemas.openxmlformats.org/drawingml/2006/main">
              <a:ext uri="{FF2B5EF4-FFF2-40B4-BE49-F238E27FC236}">
                <a16:creationId xmlns:a16="http://schemas.microsoft.com/office/drawing/2014/main" id="{21B92160-B046-4BCB-BE38-FF3357B215ED}"/>
              </a:ext>
            </a:extLst>
          </p:cNvPr>
          <p:cNvSpPr>
            <a:spLocks xmlns:a="http://schemas.openxmlformats.org/drawingml/2006/main" noGrp="1"/>
          </p:cNvSpPr>
          <p:nvPr/>
        </p:nvSpPr>
        <p:spPr>
          <a:xfrm xmlns:a="http://schemas.openxmlformats.org/drawingml/2006/main" rot="3806097">
            <a:off x="4877576" y="3866306"/>
            <a:ext cx="176594" cy="176594"/>
          </a:xfrm>
          <a:prstGeom xmlns:a="http://schemas.openxmlformats.org/drawingml/2006/main" prst="triangle">
            <a:avLst/>
          </a:prstGeom>
          <a:solidFill xmlns:a="http://schemas.openxmlformats.org/drawingml/2006/main">
            <a:srgbClr val="C9803B"/>
          </a:solidFill>
          <a:ln xmlns:a="http://schemas.openxmlformats.org/drawingml/2006/main" w="0">
            <a:noFill/>
          </a:ln>
        </p:spPr>
      </p:sp>
      <p:sp>
        <p:nvSpPr>
          <p:cNvPr id="17" name="Diagram line">
            <a:extLst xmlns:a="http://schemas.openxmlformats.org/drawingml/2006/main">
              <a:ext uri="{FF2B5EF4-FFF2-40B4-BE49-F238E27FC236}">
                <a16:creationId xmlns:a16="http://schemas.microsoft.com/office/drawing/2014/main" id="{2F6679E6-26B4-42EE-8F40-FC173249EAD3}"/>
              </a:ext>
            </a:extLst>
          </p:cNvPr>
          <p:cNvSpPr>
            <a:spLocks xmlns:a="http://schemas.openxmlformats.org/drawingml/2006/main" noGrp="1"/>
          </p:cNvSpPr>
          <p:nvPr/>
        </p:nvSpPr>
        <p:spPr>
          <a:xfrm xmlns:a="http://schemas.openxmlformats.org/drawingml/2006/main" flipH="1" flipV="1">
            <a:off x="7124322" y="3976571"/>
            <a:ext cx="618482" cy="323967"/>
          </a:xfrm>
          <a:prstGeom xmlns:a="http://schemas.openxmlformats.org/drawingml/2006/main" prst="line">
            <a:avLst/>
          </a:prstGeom>
          <a:noFill xmlns:a="http://schemas.openxmlformats.org/drawingml/2006/main"/>
          <a:ln xmlns:a="http://schemas.openxmlformats.org/drawingml/2006/main" w="63069">
            <a:solidFill>
              <a:srgbClr val="C9803B"/>
            </a:solidFill>
          </a:ln>
        </p:spPr>
      </p:sp>
      <p:sp>
        <p:nvSpPr>
          <p:cNvPr id="18" name="Diagram arrowhead">
            <a:extLst xmlns:a="http://schemas.openxmlformats.org/drawingml/2006/main">
              <a:ext uri="{FF2B5EF4-FFF2-40B4-BE49-F238E27FC236}">
                <a16:creationId xmlns:a16="http://schemas.microsoft.com/office/drawing/2014/main" id="{734C2824-93C2-4D3A-91E1-B53E1A4A09D6}"/>
              </a:ext>
            </a:extLst>
          </p:cNvPr>
          <p:cNvSpPr>
            <a:spLocks xmlns:a="http://schemas.openxmlformats.org/drawingml/2006/main" noGrp="1"/>
          </p:cNvSpPr>
          <p:nvPr/>
        </p:nvSpPr>
        <p:spPr>
          <a:xfrm xmlns:a="http://schemas.openxmlformats.org/drawingml/2006/main" rot="-3741241">
            <a:off x="6996918" y="3867789"/>
            <a:ext cx="176594" cy="176594"/>
          </a:xfrm>
          <a:prstGeom xmlns:a="http://schemas.openxmlformats.org/drawingml/2006/main" prst="triangle">
            <a:avLst/>
          </a:prstGeom>
          <a:solidFill xmlns:a="http://schemas.openxmlformats.org/drawingml/2006/main">
            <a:srgbClr val="C9803B"/>
          </a:solidFill>
          <a:ln xmlns:a="http://schemas.openxmlformats.org/drawingml/2006/main" w="0">
            <a:noFill/>
          </a:ln>
        </p:spPr>
      </p:sp>
      <p:sp>
        <p:nvSpPr>
          <p:cNvPr id="19" name="Diagram label: Energy&#10;towards the ice">
            <a:extLst xmlns:a="http://schemas.openxmlformats.org/drawingml/2006/main">
              <a:ext uri="{FF2B5EF4-FFF2-40B4-BE49-F238E27FC236}">
                <a16:creationId xmlns:a16="http://schemas.microsoft.com/office/drawing/2014/main" id="{9C5540C2-ED93-42FB-B80A-CF6FFF8E992B}"/>
              </a:ext>
            </a:extLst>
          </p:cNvPr>
          <p:cNvSpPr>
            <a:spLocks xmlns:a="http://schemas.openxmlformats.org/drawingml/2006/main" noGrp="1"/>
          </p:cNvSpPr>
          <p:nvPr/>
        </p:nvSpPr>
        <p:spPr>
          <a:xfrm xmlns:a="http://schemas.openxmlformats.org/drawingml/2006/main">
            <a:off x="3082698" y="3319463"/>
            <a:ext cx="1611766" cy="6306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435" b="0">
                <a:solidFill>
                  <a:srgbClr val="1F2937"/>
                </a:solidFill>
                <a:latin typeface="Nimbus Sans"/>
                <a:ea typeface="Nimbus Sans"/>
                <a:cs typeface="Nimbus Sans"/>
              </a:defRPr>
            </a:pPr>
            <a:r>
              <a:rPr sz="1435" b="0">
                <a:solidFill>
                  <a:srgbClr val="1F2937"/>
                </a:solidFill>
                <a:latin typeface="Nimbus Sans"/>
                <a:ea typeface="Nimbus Sans"/>
                <a:cs typeface="Nimbus Sans"/>
              </a:rPr>
              <a:t>Energy</a:t>
            </a:r>
          </a:p>
          <a:p xmlns:a="http://schemas.openxmlformats.org/drawingml/2006/main">
            <a:pPr algn="l">
              <a:lnSpc>
                <a:spcPct val="108000"/>
              </a:lnSpc>
              <a:buNone/>
              <a:defRPr sz="1435" b="0">
                <a:solidFill>
                  <a:srgbClr val="1F2937"/>
                </a:solidFill>
                <a:latin typeface="Nimbus Sans"/>
                <a:ea typeface="Nimbus Sans"/>
                <a:cs typeface="Nimbus Sans"/>
              </a:defRPr>
            </a:pPr>
            <a:r>
              <a:rPr sz="1435" b="0">
                <a:solidFill>
                  <a:srgbClr val="1F2937"/>
                </a:solidFill>
                <a:latin typeface="Nimbus Sans"/>
                <a:ea typeface="Nimbus Sans"/>
                <a:cs typeface="Nimbus Sans"/>
              </a:rPr>
              <a:t>towards the ice</a:t>
            </a:r>
          </a:p>
        </p:txBody>
      </p:sp>
      <p:sp>
        <p:nvSpPr>
          <p:cNvPr id="20" name="Diagram label: Ice gains energy&#10;and can melt">
            <a:extLst xmlns:a="http://schemas.openxmlformats.org/drawingml/2006/main">
              <a:ext uri="{FF2B5EF4-FFF2-40B4-BE49-F238E27FC236}">
                <a16:creationId xmlns:a16="http://schemas.microsoft.com/office/drawing/2014/main" id="{798FF561-23EF-4A99-8AF7-E254B2773F6F}"/>
              </a:ext>
            </a:extLst>
          </p:cNvPr>
          <p:cNvSpPr>
            <a:spLocks xmlns:a="http://schemas.openxmlformats.org/drawingml/2006/main" noGrp="1"/>
          </p:cNvSpPr>
          <p:nvPr/>
        </p:nvSpPr>
        <p:spPr>
          <a:xfrm xmlns:a="http://schemas.openxmlformats.org/drawingml/2006/main">
            <a:off x="7497536" y="3319463"/>
            <a:ext cx="1821996" cy="6306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435" b="0">
                <a:solidFill>
                  <a:srgbClr val="1F2937"/>
                </a:solidFill>
                <a:latin typeface="Nimbus Sans"/>
                <a:ea typeface="Nimbus Sans"/>
                <a:cs typeface="Nimbus Sans"/>
              </a:defRPr>
            </a:pPr>
            <a:r>
              <a:rPr sz="1435" b="0">
                <a:solidFill>
                  <a:srgbClr val="1F2937"/>
                </a:solidFill>
                <a:latin typeface="Nimbus Sans"/>
                <a:ea typeface="Nimbus Sans"/>
                <a:cs typeface="Nimbus Sans"/>
              </a:rPr>
              <a:t>Ice gains energy</a:t>
            </a:r>
          </a:p>
          <a:p xmlns:a="http://schemas.openxmlformats.org/drawingml/2006/main">
            <a:pPr algn="l">
              <a:lnSpc>
                <a:spcPct val="108000"/>
              </a:lnSpc>
              <a:buNone/>
              <a:defRPr sz="1435" b="0">
                <a:solidFill>
                  <a:srgbClr val="1F2937"/>
                </a:solidFill>
                <a:latin typeface="Nimbus Sans"/>
                <a:ea typeface="Nimbus Sans"/>
                <a:cs typeface="Nimbus Sans"/>
              </a:defRPr>
            </a:pPr>
            <a:r>
              <a:rPr sz="1435" b="0">
                <a:solidFill>
                  <a:srgbClr val="1F2937"/>
                </a:solidFill>
                <a:latin typeface="Nimbus Sans"/>
                <a:ea typeface="Nimbus Sans"/>
                <a:cs typeface="Nimbus Sans"/>
              </a:rPr>
              <a:t>and can melt</a:t>
            </a:r>
          </a:p>
        </p:txBody>
      </p:sp>
      <p:sp>
        <p:nvSpPr>
          <p:cNvPr id="21" name="Diagram label: Model: other energy routes and sizes are simplified.">
            <a:extLst xmlns:a="http://schemas.openxmlformats.org/drawingml/2006/main">
              <a:ext uri="{FF2B5EF4-FFF2-40B4-BE49-F238E27FC236}">
                <a16:creationId xmlns:a16="http://schemas.microsoft.com/office/drawing/2014/main" id="{871AE9E8-3DFB-4A94-A858-7A1D7FB68641}"/>
              </a:ext>
            </a:extLst>
          </p:cNvPr>
          <p:cNvSpPr>
            <a:spLocks xmlns:a="http://schemas.openxmlformats.org/drawingml/2006/main" noGrp="1"/>
          </p:cNvSpPr>
          <p:nvPr/>
        </p:nvSpPr>
        <p:spPr>
          <a:xfrm xmlns:a="http://schemas.openxmlformats.org/drawingml/2006/main">
            <a:off x="3187813" y="5071382"/>
            <a:ext cx="5816373" cy="4554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435" b="0">
                <a:solidFill>
                  <a:srgbClr val="1F2937"/>
                </a:solidFill>
                <a:latin typeface="Nimbus Sans"/>
                <a:ea typeface="Nimbus Sans"/>
                <a:cs typeface="Nimbus Sans"/>
              </a:defRPr>
            </a:pPr>
            <a:r>
              <a:rPr sz="1435" b="0">
                <a:solidFill>
                  <a:srgbClr val="1F2937"/>
                </a:solidFill>
                <a:latin typeface="Nimbus Sans"/>
                <a:ea typeface="Nimbus Sans"/>
                <a:cs typeface="Nimbus Sans"/>
              </a:rPr>
              <a:t>Model: other energy routes and sizes are simplified.</a:t>
            </a:r>
          </a:p>
        </p:txBody>
      </p:sp>
      <p:sp>
        <p:nvSpPr>
          <p:cNvPr id="22" name="Energy transfers from warmer to cooler objects.  A metal tray ca">
            <a:extLst xmlns:a="http://schemas.openxmlformats.org/drawingml/2006/main">
              <a:ext uri="{FF2B5EF4-FFF2-40B4-BE49-F238E27FC236}">
                <a16:creationId xmlns:a16="http://schemas.microsoft.com/office/drawing/2014/main" id="{8CC86BDD-F8D6-4796-A247-5ECC9A729E40}"/>
              </a:ext>
            </a:extLst>
          </p:cNvPr>
          <p:cNvSpPr>
            <a:spLocks xmlns:a="http://schemas.openxmlformats.org/drawingml/2006/main" noGrp="1"/>
          </p:cNvSpPr>
          <p:nvPr/>
        </p:nvSpPr>
        <p:spPr>
          <a:xfrm xmlns:a="http://schemas.openxmlformats.org/drawingml/2006/main">
            <a:off x="533400" y="5829300"/>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Energy transfers from warmer to cooler objects. A metal tray can transfer energy towards ice quickly. Melting</a:t>
            </a:r>
          </a:p>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does not mean the tray started hotter.</a:t>
            </a:r>
          </a:p>
        </p:txBody>
      </p:sp>
    </p:spTree>
    <p:extLst>
      <p:ext uri="{BB962C8B-B14F-4D97-AF65-F5344CB8AC3E}">
        <p14:creationId xmlns:p14="http://schemas.microsoft.com/office/powerpoint/2010/main" val="175396763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urface">
            <a:extLst xmlns:a="http://schemas.openxmlformats.org/drawingml/2006/main">
              <a:ext uri="{FF2B5EF4-FFF2-40B4-BE49-F238E27FC236}">
                <a16:creationId xmlns:a16="http://schemas.microsoft.com/office/drawing/2014/main" id="{8F876E47-D9A8-4D44-844D-2BA8DFEA8936}"/>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81CCBD0A-20FE-430C-917D-E3FA1E1DE952}"/>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3E6DA"/>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54C20407-B164-4E5A-A1C6-28E8A44587EB}"/>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27924B9D-7BC8-4701-90C2-7CB87AF89DC7}"/>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GROW SCIENCE</a:t>
            </a:r>
          </a:p>
        </p:txBody>
      </p:sp>
      <p:sp>
        <p:nvSpPr>
          <p:cNvPr id="5" name="I do">
            <a:extLst xmlns:a="http://schemas.openxmlformats.org/drawingml/2006/main">
              <a:ext uri="{FF2B5EF4-FFF2-40B4-BE49-F238E27FC236}">
                <a16:creationId xmlns:a16="http://schemas.microsoft.com/office/drawing/2014/main" id="{0446AFE5-F0D5-4B2B-8CA1-A2890A3C8D1A}"/>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I do</a:t>
            </a:r>
          </a:p>
        </p:txBody>
      </p:sp>
      <p:sp>
        <p:nvSpPr>
          <p:cNvPr id="6" name="Insulation changes the rate">
            <a:extLst xmlns:a="http://schemas.openxmlformats.org/drawingml/2006/main">
              <a:ext uri="{FF2B5EF4-FFF2-40B4-BE49-F238E27FC236}">
                <a16:creationId xmlns:a16="http://schemas.microsoft.com/office/drawing/2014/main" id="{661B28FA-6FCB-42AF-98D7-F4BE9C57C9A3}"/>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Insulation changes the rate</a:t>
            </a:r>
          </a:p>
        </p:txBody>
      </p:sp>
      <p:sp>
        <p:nvSpPr>
          <p:cNvPr id="7" name="surface">
            <a:extLst xmlns:a="http://schemas.openxmlformats.org/drawingml/2006/main">
              <a:ext uri="{FF2B5EF4-FFF2-40B4-BE49-F238E27FC236}">
                <a16:creationId xmlns:a16="http://schemas.microsoft.com/office/drawing/2014/main" id="{D32AEA97-5279-4A05-823A-3CB9AFD20C16}"/>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The cold case">
            <a:extLst xmlns:a="http://schemas.openxmlformats.org/drawingml/2006/main">
              <a:ext uri="{FF2B5EF4-FFF2-40B4-BE49-F238E27FC236}">
                <a16:creationId xmlns:a16="http://schemas.microsoft.com/office/drawing/2014/main" id="{B8C6788B-7219-442B-B6C3-33767CC5EF52}"/>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cold case</a:t>
            </a:r>
          </a:p>
        </p:txBody>
      </p:sp>
      <p:sp>
        <p:nvSpPr>
          <p:cNvPr id="9" name="5 / 15">
            <a:extLst xmlns:a="http://schemas.openxmlformats.org/drawingml/2006/main">
              <a:ext uri="{FF2B5EF4-FFF2-40B4-BE49-F238E27FC236}">
                <a16:creationId xmlns:a16="http://schemas.microsoft.com/office/drawing/2014/main" id="{25D95A70-7C86-4D9D-B232-43D527331B30}"/>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5 / 15</a:t>
            </a:r>
          </a:p>
        </p:txBody>
      </p:sp>
      <p:sp>
        <p:nvSpPr>
          <p:cNvPr id="10" name="Diagram label: Insulation slows energy transfer">
            <a:extLst xmlns:a="http://schemas.openxmlformats.org/drawingml/2006/main">
              <a:ext uri="{FF2B5EF4-FFF2-40B4-BE49-F238E27FC236}">
                <a16:creationId xmlns:a16="http://schemas.microsoft.com/office/drawing/2014/main" id="{52DD4C32-D3F0-4CEA-8CDA-72327A881831}"/>
              </a:ext>
            </a:extLst>
          </p:cNvPr>
          <p:cNvSpPr>
            <a:spLocks xmlns:a="http://schemas.openxmlformats.org/drawingml/2006/main" noGrp="1"/>
          </p:cNvSpPr>
          <p:nvPr/>
        </p:nvSpPr>
        <p:spPr>
          <a:xfrm xmlns:a="http://schemas.openxmlformats.org/drawingml/2006/main">
            <a:off x="2872468" y="2023042"/>
            <a:ext cx="6447064" cy="3503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76" b="1">
                <a:solidFill>
                  <a:srgbClr val="1F2937"/>
                </a:solidFill>
                <a:latin typeface="Nimbus Sans"/>
                <a:ea typeface="Nimbus Sans"/>
                <a:cs typeface="Nimbus Sans"/>
              </a:defRPr>
            </a:pPr>
            <a:r>
              <a:rPr sz="1876" b="1">
                <a:solidFill>
                  <a:srgbClr val="1F2937"/>
                </a:solidFill>
                <a:latin typeface="Nimbus Sans"/>
                <a:ea typeface="Nimbus Sans"/>
                <a:cs typeface="Nimbus Sans"/>
              </a:rPr>
              <a:t>Insulation slows energy transfer</a:t>
            </a:r>
          </a:p>
        </p:txBody>
      </p:sp>
      <p:sp>
        <p:nvSpPr>
          <p:cNvPr id="11" name="Editable scientific diagram">
            <a:extLst xmlns:a="http://schemas.openxmlformats.org/drawingml/2006/main">
              <a:ext uri="{FF2B5EF4-FFF2-40B4-BE49-F238E27FC236}">
                <a16:creationId xmlns:a16="http://schemas.microsoft.com/office/drawing/2014/main" id="{3812157A-B993-4B48-9612-B239FAA756B7}"/>
              </a:ext>
            </a:extLst>
          </p:cNvPr>
          <p:cNvSpPr>
            <a:spLocks xmlns:a="http://schemas.openxmlformats.org/drawingml/2006/main" noGrp="1"/>
          </p:cNvSpPr>
          <p:nvPr/>
        </p:nvSpPr>
        <p:spPr>
          <a:xfrm xmlns:a="http://schemas.openxmlformats.org/drawingml/2006/main">
            <a:off x="3117737" y="2828925"/>
            <a:ext cx="2522764" cy="1681843"/>
          </a:xfrm>
          <a:prstGeom xmlns:a="http://schemas.openxmlformats.org/drawingml/2006/main" prst="rect">
            <a:avLst/>
          </a:prstGeom>
          <a:solidFill xmlns:a="http://schemas.openxmlformats.org/drawingml/2006/main">
            <a:srgbClr val="CDE0D6"/>
          </a:solidFill>
          <a:ln xmlns:a="http://schemas.openxmlformats.org/drawingml/2006/main" w="21023">
            <a:solidFill>
              <a:srgbClr val="3F7D6E"/>
            </a:solidFill>
          </a:ln>
        </p:spPr>
      </p:sp>
      <p:sp>
        <p:nvSpPr>
          <p:cNvPr id="12" name="Editable scientific diagram">
            <a:extLst xmlns:a="http://schemas.openxmlformats.org/drawingml/2006/main">
              <a:ext uri="{FF2B5EF4-FFF2-40B4-BE49-F238E27FC236}">
                <a16:creationId xmlns:a16="http://schemas.microsoft.com/office/drawing/2014/main" id="{C03B9E75-A919-492F-9488-E834CD98AEB5}"/>
              </a:ext>
            </a:extLst>
          </p:cNvPr>
          <p:cNvSpPr>
            <a:spLocks xmlns:a="http://schemas.openxmlformats.org/drawingml/2006/main" noGrp="1"/>
          </p:cNvSpPr>
          <p:nvPr/>
        </p:nvSpPr>
        <p:spPr>
          <a:xfrm xmlns:a="http://schemas.openxmlformats.org/drawingml/2006/main">
            <a:off x="3398044" y="3109232"/>
            <a:ext cx="1962150" cy="1051152"/>
          </a:xfrm>
          <a:prstGeom xmlns:a="http://schemas.openxmlformats.org/drawingml/2006/main" prst="rect">
            <a:avLst/>
          </a:prstGeom>
          <a:solidFill xmlns:a="http://schemas.openxmlformats.org/drawingml/2006/main">
            <a:srgbClr val="F9E0C8"/>
          </a:solidFill>
          <a:ln xmlns:a="http://schemas.openxmlformats.org/drawingml/2006/main" w="21023">
            <a:solidFill>
              <a:srgbClr val="C9803B"/>
            </a:solidFill>
          </a:ln>
        </p:spPr>
      </p:sp>
      <p:sp>
        <p:nvSpPr>
          <p:cNvPr id="13" name="Diagram label: Warm contents&#10;40 °C">
            <a:extLst xmlns:a="http://schemas.openxmlformats.org/drawingml/2006/main">
              <a:ext uri="{FF2B5EF4-FFF2-40B4-BE49-F238E27FC236}">
                <a16:creationId xmlns:a16="http://schemas.microsoft.com/office/drawing/2014/main" id="{BF6316CD-4D69-493C-AEA7-E1111AF8C15D}"/>
              </a:ext>
            </a:extLst>
          </p:cNvPr>
          <p:cNvSpPr>
            <a:spLocks xmlns:a="http://schemas.openxmlformats.org/drawingml/2006/main" noGrp="1"/>
          </p:cNvSpPr>
          <p:nvPr/>
        </p:nvSpPr>
        <p:spPr>
          <a:xfrm xmlns:a="http://schemas.openxmlformats.org/drawingml/2006/main">
            <a:off x="3573236" y="3354501"/>
            <a:ext cx="1646804" cy="6306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655" b="1">
                <a:solidFill>
                  <a:srgbClr val="1F2937"/>
                </a:solidFill>
                <a:latin typeface="Nimbus Sans"/>
                <a:ea typeface="Nimbus Sans"/>
                <a:cs typeface="Nimbus Sans"/>
              </a:defRPr>
            </a:pPr>
            <a:r>
              <a:rPr sz="1655" b="1">
                <a:solidFill>
                  <a:srgbClr val="1F2937"/>
                </a:solidFill>
                <a:latin typeface="Nimbus Sans"/>
                <a:ea typeface="Nimbus Sans"/>
                <a:cs typeface="Nimbus Sans"/>
              </a:rPr>
              <a:t>Warm contents</a:t>
            </a:r>
          </a:p>
          <a:p xmlns:a="http://schemas.openxmlformats.org/drawingml/2006/main">
            <a:pPr algn="l">
              <a:lnSpc>
                <a:spcPct val="108000"/>
              </a:lnSpc>
              <a:buNone/>
              <a:defRPr sz="1655" b="1">
                <a:solidFill>
                  <a:srgbClr val="1F2937"/>
                </a:solidFill>
                <a:latin typeface="Nimbus Sans"/>
                <a:ea typeface="Nimbus Sans"/>
                <a:cs typeface="Nimbus Sans"/>
              </a:defRPr>
            </a:pPr>
            <a:r>
              <a:rPr sz="1655" b="1">
                <a:solidFill>
                  <a:srgbClr val="1F2937"/>
                </a:solidFill>
                <a:latin typeface="Nimbus Sans"/>
                <a:ea typeface="Nimbus Sans"/>
                <a:cs typeface="Nimbus Sans"/>
              </a:rPr>
              <a:t>40 °C</a:t>
            </a:r>
          </a:p>
        </p:txBody>
      </p:sp>
      <p:sp>
        <p:nvSpPr>
          <p:cNvPr id="14" name="Diagram label: Cooler room: 20 °C">
            <a:extLst xmlns:a="http://schemas.openxmlformats.org/drawingml/2006/main">
              <a:ext uri="{FF2B5EF4-FFF2-40B4-BE49-F238E27FC236}">
                <a16:creationId xmlns:a16="http://schemas.microsoft.com/office/drawing/2014/main" id="{60E642BB-A654-4B1F-B95B-F88B35BBA521}"/>
              </a:ext>
            </a:extLst>
          </p:cNvPr>
          <p:cNvSpPr>
            <a:spLocks xmlns:a="http://schemas.openxmlformats.org/drawingml/2006/main" noGrp="1"/>
          </p:cNvSpPr>
          <p:nvPr/>
        </p:nvSpPr>
        <p:spPr>
          <a:xfrm xmlns:a="http://schemas.openxmlformats.org/drawingml/2006/main">
            <a:off x="3082698" y="4615883"/>
            <a:ext cx="2592841" cy="4204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435" b="0">
                <a:solidFill>
                  <a:srgbClr val="1F2937"/>
                </a:solidFill>
                <a:latin typeface="Nimbus Sans"/>
                <a:ea typeface="Nimbus Sans"/>
                <a:cs typeface="Nimbus Sans"/>
              </a:defRPr>
            </a:pPr>
            <a:r>
              <a:rPr sz="1435" b="0">
                <a:solidFill>
                  <a:srgbClr val="1F2937"/>
                </a:solidFill>
                <a:latin typeface="Nimbus Sans"/>
                <a:ea typeface="Nimbus Sans"/>
                <a:cs typeface="Nimbus Sans"/>
              </a:rPr>
              <a:t>Cooler room: 20 °C</a:t>
            </a:r>
          </a:p>
        </p:txBody>
      </p:sp>
      <p:sp>
        <p:nvSpPr>
          <p:cNvPr id="15" name="Diagram line">
            <a:extLst xmlns:a="http://schemas.openxmlformats.org/drawingml/2006/main">
              <a:ext uri="{FF2B5EF4-FFF2-40B4-BE49-F238E27FC236}">
                <a16:creationId xmlns:a16="http://schemas.microsoft.com/office/drawing/2014/main" id="{3A1407B8-6103-4BFF-A12E-D74DA1594EDD}"/>
              </a:ext>
            </a:extLst>
          </p:cNvPr>
          <p:cNvSpPr>
            <a:spLocks xmlns:a="http://schemas.openxmlformats.org/drawingml/2006/main" noGrp="1"/>
          </p:cNvSpPr>
          <p:nvPr/>
        </p:nvSpPr>
        <p:spPr>
          <a:xfrm xmlns:a="http://schemas.openxmlformats.org/drawingml/2006/main" flipH="0" flipV="1">
            <a:off x="4414157" y="2566838"/>
            <a:ext cx="953" cy="577433"/>
          </a:xfrm>
          <a:prstGeom xmlns:a="http://schemas.openxmlformats.org/drawingml/2006/main" prst="line">
            <a:avLst/>
          </a:prstGeom>
          <a:noFill xmlns:a="http://schemas.openxmlformats.org/drawingml/2006/main"/>
          <a:ln xmlns:a="http://schemas.openxmlformats.org/drawingml/2006/main" w="42046">
            <a:solidFill>
              <a:srgbClr val="C9803B"/>
            </a:solidFill>
          </a:ln>
        </p:spPr>
      </p:sp>
      <p:sp>
        <p:nvSpPr>
          <p:cNvPr id="16" name="Diagram arrowhead">
            <a:extLst xmlns:a="http://schemas.openxmlformats.org/drawingml/2006/main">
              <a:ext uri="{FF2B5EF4-FFF2-40B4-BE49-F238E27FC236}">
                <a16:creationId xmlns:a16="http://schemas.microsoft.com/office/drawing/2014/main" id="{1E8386D4-52CE-4AEF-8221-20D6B4D33FA6}"/>
              </a:ext>
            </a:extLst>
          </p:cNvPr>
          <p:cNvSpPr>
            <a:spLocks xmlns:a="http://schemas.openxmlformats.org/drawingml/2006/main" noGrp="1"/>
          </p:cNvSpPr>
          <p:nvPr/>
        </p:nvSpPr>
        <p:spPr>
          <a:xfrm xmlns:a="http://schemas.openxmlformats.org/drawingml/2006/main" rot="0">
            <a:off x="4355293" y="2478541"/>
            <a:ext cx="117729" cy="117729"/>
          </a:xfrm>
          <a:prstGeom xmlns:a="http://schemas.openxmlformats.org/drawingml/2006/main" prst="triangle">
            <a:avLst/>
          </a:prstGeom>
          <a:solidFill xmlns:a="http://schemas.openxmlformats.org/drawingml/2006/main">
            <a:srgbClr val="C9803B"/>
          </a:solidFill>
          <a:ln xmlns:a="http://schemas.openxmlformats.org/drawingml/2006/main" w="0">
            <a:noFill/>
          </a:ln>
        </p:spPr>
      </p:sp>
      <p:sp>
        <p:nvSpPr>
          <p:cNvPr id="17" name="Editable scientific diagram">
            <a:extLst xmlns:a="http://schemas.openxmlformats.org/drawingml/2006/main">
              <a:ext uri="{FF2B5EF4-FFF2-40B4-BE49-F238E27FC236}">
                <a16:creationId xmlns:a16="http://schemas.microsoft.com/office/drawing/2014/main" id="{C92BF5FB-1BB2-42B5-A78A-432AE91F5705}"/>
              </a:ext>
            </a:extLst>
          </p:cNvPr>
          <p:cNvSpPr>
            <a:spLocks xmlns:a="http://schemas.openxmlformats.org/drawingml/2006/main" noGrp="1"/>
          </p:cNvSpPr>
          <p:nvPr/>
        </p:nvSpPr>
        <p:spPr>
          <a:xfrm xmlns:a="http://schemas.openxmlformats.org/drawingml/2006/main">
            <a:off x="6551499" y="2828925"/>
            <a:ext cx="2522764" cy="1681843"/>
          </a:xfrm>
          <a:prstGeom xmlns:a="http://schemas.openxmlformats.org/drawingml/2006/main" prst="rect">
            <a:avLst/>
          </a:prstGeom>
          <a:solidFill xmlns:a="http://schemas.openxmlformats.org/drawingml/2006/main">
            <a:srgbClr val="CDE0D6"/>
          </a:solidFill>
          <a:ln xmlns:a="http://schemas.openxmlformats.org/drawingml/2006/main" w="21023">
            <a:solidFill>
              <a:srgbClr val="3F7D6E"/>
            </a:solidFill>
          </a:ln>
        </p:spPr>
      </p:sp>
      <p:sp>
        <p:nvSpPr>
          <p:cNvPr id="18" name="Editable scientific diagram">
            <a:extLst xmlns:a="http://schemas.openxmlformats.org/drawingml/2006/main">
              <a:ext uri="{FF2B5EF4-FFF2-40B4-BE49-F238E27FC236}">
                <a16:creationId xmlns:a16="http://schemas.microsoft.com/office/drawing/2014/main" id="{443D2FE5-D069-4D3C-8EE5-B6CB75309136}"/>
              </a:ext>
            </a:extLst>
          </p:cNvPr>
          <p:cNvSpPr>
            <a:spLocks xmlns:a="http://schemas.openxmlformats.org/drawingml/2006/main" noGrp="1"/>
          </p:cNvSpPr>
          <p:nvPr/>
        </p:nvSpPr>
        <p:spPr>
          <a:xfrm xmlns:a="http://schemas.openxmlformats.org/drawingml/2006/main">
            <a:off x="6831806" y="3109232"/>
            <a:ext cx="1962150" cy="1051152"/>
          </a:xfrm>
          <a:prstGeom xmlns:a="http://schemas.openxmlformats.org/drawingml/2006/main" prst="rect">
            <a:avLst/>
          </a:prstGeom>
          <a:solidFill xmlns:a="http://schemas.openxmlformats.org/drawingml/2006/main">
            <a:srgbClr val="D9EDF7"/>
          </a:solidFill>
          <a:ln xmlns:a="http://schemas.openxmlformats.org/drawingml/2006/main" w="21023">
            <a:solidFill>
              <a:srgbClr val="4D82A0"/>
            </a:solidFill>
          </a:ln>
        </p:spPr>
      </p:sp>
      <p:sp>
        <p:nvSpPr>
          <p:cNvPr id="19" name="Diagram label: Cool contents&#10;8 °C">
            <a:extLst xmlns:a="http://schemas.openxmlformats.org/drawingml/2006/main">
              <a:ext uri="{FF2B5EF4-FFF2-40B4-BE49-F238E27FC236}">
                <a16:creationId xmlns:a16="http://schemas.microsoft.com/office/drawing/2014/main" id="{6027A0AD-6B60-40F8-98D1-85DA513FCC4B}"/>
              </a:ext>
            </a:extLst>
          </p:cNvPr>
          <p:cNvSpPr>
            <a:spLocks xmlns:a="http://schemas.openxmlformats.org/drawingml/2006/main" noGrp="1"/>
          </p:cNvSpPr>
          <p:nvPr/>
        </p:nvSpPr>
        <p:spPr>
          <a:xfrm xmlns:a="http://schemas.openxmlformats.org/drawingml/2006/main">
            <a:off x="7006998" y="3354501"/>
            <a:ext cx="1646804" cy="6306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655" b="1">
                <a:solidFill>
                  <a:srgbClr val="1F2937"/>
                </a:solidFill>
                <a:latin typeface="Nimbus Sans"/>
                <a:ea typeface="Nimbus Sans"/>
                <a:cs typeface="Nimbus Sans"/>
              </a:defRPr>
            </a:pPr>
            <a:r>
              <a:rPr sz="1655" b="1">
                <a:solidFill>
                  <a:srgbClr val="1F2937"/>
                </a:solidFill>
                <a:latin typeface="Nimbus Sans"/>
                <a:ea typeface="Nimbus Sans"/>
                <a:cs typeface="Nimbus Sans"/>
              </a:rPr>
              <a:t>Cool contents</a:t>
            </a:r>
          </a:p>
          <a:p xmlns:a="http://schemas.openxmlformats.org/drawingml/2006/main">
            <a:pPr algn="l">
              <a:lnSpc>
                <a:spcPct val="108000"/>
              </a:lnSpc>
              <a:buNone/>
              <a:defRPr sz="1655" b="1">
                <a:solidFill>
                  <a:srgbClr val="1F2937"/>
                </a:solidFill>
                <a:latin typeface="Nimbus Sans"/>
                <a:ea typeface="Nimbus Sans"/>
                <a:cs typeface="Nimbus Sans"/>
              </a:defRPr>
            </a:pPr>
            <a:r>
              <a:rPr sz="1655" b="1">
                <a:solidFill>
                  <a:srgbClr val="1F2937"/>
                </a:solidFill>
                <a:latin typeface="Nimbus Sans"/>
                <a:ea typeface="Nimbus Sans"/>
                <a:cs typeface="Nimbus Sans"/>
              </a:rPr>
              <a:t>8 °C</a:t>
            </a:r>
          </a:p>
        </p:txBody>
      </p:sp>
      <p:sp>
        <p:nvSpPr>
          <p:cNvPr id="20" name="Diagram label: Warmer room: 20 °C">
            <a:extLst xmlns:a="http://schemas.openxmlformats.org/drawingml/2006/main">
              <a:ext uri="{FF2B5EF4-FFF2-40B4-BE49-F238E27FC236}">
                <a16:creationId xmlns:a16="http://schemas.microsoft.com/office/drawing/2014/main" id="{3FAEAD32-BB45-4263-BDE0-0521515844DD}"/>
              </a:ext>
            </a:extLst>
          </p:cNvPr>
          <p:cNvSpPr>
            <a:spLocks xmlns:a="http://schemas.openxmlformats.org/drawingml/2006/main" noGrp="1"/>
          </p:cNvSpPr>
          <p:nvPr/>
        </p:nvSpPr>
        <p:spPr>
          <a:xfrm xmlns:a="http://schemas.openxmlformats.org/drawingml/2006/main">
            <a:off x="6551499" y="4615883"/>
            <a:ext cx="2592841" cy="4204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435" b="0">
                <a:solidFill>
                  <a:srgbClr val="1F2937"/>
                </a:solidFill>
                <a:latin typeface="Nimbus Sans"/>
                <a:ea typeface="Nimbus Sans"/>
                <a:cs typeface="Nimbus Sans"/>
              </a:defRPr>
            </a:pPr>
            <a:r>
              <a:rPr sz="1435" b="0">
                <a:solidFill>
                  <a:srgbClr val="1F2937"/>
                </a:solidFill>
                <a:latin typeface="Nimbus Sans"/>
                <a:ea typeface="Nimbus Sans"/>
                <a:cs typeface="Nimbus Sans"/>
              </a:rPr>
              <a:t>Warmer room: 20 °C</a:t>
            </a:r>
          </a:p>
        </p:txBody>
      </p:sp>
      <p:sp>
        <p:nvSpPr>
          <p:cNvPr id="21" name="Diagram line">
            <a:extLst xmlns:a="http://schemas.openxmlformats.org/drawingml/2006/main">
              <a:ext uri="{FF2B5EF4-FFF2-40B4-BE49-F238E27FC236}">
                <a16:creationId xmlns:a16="http://schemas.microsoft.com/office/drawing/2014/main" id="{FD09466D-25CF-44EF-9D43-E1434756C152}"/>
              </a:ext>
            </a:extLst>
          </p:cNvPr>
          <p:cNvSpPr>
            <a:spLocks xmlns:a="http://schemas.openxmlformats.org/drawingml/2006/main" noGrp="1"/>
          </p:cNvSpPr>
          <p:nvPr/>
        </p:nvSpPr>
        <p:spPr>
          <a:xfrm xmlns:a="http://schemas.openxmlformats.org/drawingml/2006/main" flipH="0" flipV="0">
            <a:off x="7847920" y="2443503"/>
            <a:ext cx="953" cy="577433"/>
          </a:xfrm>
          <a:prstGeom xmlns:a="http://schemas.openxmlformats.org/drawingml/2006/main" prst="line">
            <a:avLst/>
          </a:prstGeom>
          <a:noFill xmlns:a="http://schemas.openxmlformats.org/drawingml/2006/main"/>
          <a:ln xmlns:a="http://schemas.openxmlformats.org/drawingml/2006/main" w="42046">
            <a:solidFill>
              <a:srgbClr val="C9803B"/>
            </a:solidFill>
          </a:ln>
        </p:spPr>
      </p:sp>
      <p:sp>
        <p:nvSpPr>
          <p:cNvPr id="22" name="Diagram arrowhead">
            <a:extLst xmlns:a="http://schemas.openxmlformats.org/drawingml/2006/main">
              <a:ext uri="{FF2B5EF4-FFF2-40B4-BE49-F238E27FC236}">
                <a16:creationId xmlns:a16="http://schemas.microsoft.com/office/drawing/2014/main" id="{226B089E-9F9C-4BDB-8295-A149D33DD2A4}"/>
              </a:ext>
            </a:extLst>
          </p:cNvPr>
          <p:cNvSpPr>
            <a:spLocks xmlns:a="http://schemas.openxmlformats.org/drawingml/2006/main" noGrp="1"/>
          </p:cNvSpPr>
          <p:nvPr/>
        </p:nvSpPr>
        <p:spPr>
          <a:xfrm xmlns:a="http://schemas.openxmlformats.org/drawingml/2006/main" rot="10800000">
            <a:off x="7789055" y="2991503"/>
            <a:ext cx="117729" cy="117729"/>
          </a:xfrm>
          <a:prstGeom xmlns:a="http://schemas.openxmlformats.org/drawingml/2006/main" prst="triangle">
            <a:avLst/>
          </a:prstGeom>
          <a:solidFill xmlns:a="http://schemas.openxmlformats.org/drawingml/2006/main">
            <a:srgbClr val="C9803B"/>
          </a:solidFill>
          <a:ln xmlns:a="http://schemas.openxmlformats.org/drawingml/2006/main" w="0">
            <a:noFill/>
          </a:ln>
        </p:spPr>
      </p:sp>
      <p:sp>
        <p:nvSpPr>
          <p:cNvPr id="23" name="Diagram label: The green jacket adds insulation. It makes no heat.">
            <a:extLst xmlns:a="http://schemas.openxmlformats.org/drawingml/2006/main">
              <a:ext uri="{FF2B5EF4-FFF2-40B4-BE49-F238E27FC236}">
                <a16:creationId xmlns:a16="http://schemas.microsoft.com/office/drawing/2014/main" id="{B0E7FBA6-25DC-4B3F-B00B-6137A15E4DC7}"/>
              </a:ext>
            </a:extLst>
          </p:cNvPr>
          <p:cNvSpPr>
            <a:spLocks xmlns:a="http://schemas.openxmlformats.org/drawingml/2006/main" noGrp="1"/>
          </p:cNvSpPr>
          <p:nvPr/>
        </p:nvSpPr>
        <p:spPr>
          <a:xfrm xmlns:a="http://schemas.openxmlformats.org/drawingml/2006/main">
            <a:off x="3117737" y="5211536"/>
            <a:ext cx="5956527" cy="3153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490" b="1">
                <a:solidFill>
                  <a:srgbClr val="1F2937"/>
                </a:solidFill>
                <a:latin typeface="Nimbus Sans"/>
                <a:ea typeface="Nimbus Sans"/>
                <a:cs typeface="Nimbus Sans"/>
              </a:defRPr>
            </a:pPr>
            <a:r>
              <a:rPr sz="1490" b="1">
                <a:solidFill>
                  <a:srgbClr val="1F2937"/>
                </a:solidFill>
                <a:latin typeface="Nimbus Sans"/>
                <a:ea typeface="Nimbus Sans"/>
                <a:cs typeface="Nimbus Sans"/>
              </a:rPr>
              <a:t>The green jacket adds insulation. It makes no heat.</a:t>
            </a:r>
          </a:p>
        </p:txBody>
      </p:sp>
      <p:sp>
        <p:nvSpPr>
          <p:cNvPr id="24" name="Thermal insulators slow transfer by conduction.  A jacket can sl">
            <a:extLst xmlns:a="http://schemas.openxmlformats.org/drawingml/2006/main">
              <a:ext uri="{FF2B5EF4-FFF2-40B4-BE49-F238E27FC236}">
                <a16:creationId xmlns:a16="http://schemas.microsoft.com/office/drawing/2014/main" id="{C309D24E-BCEB-481E-BB0C-57C30C377B8E}"/>
              </a:ext>
            </a:extLst>
          </p:cNvPr>
          <p:cNvSpPr>
            <a:spLocks xmlns:a="http://schemas.openxmlformats.org/drawingml/2006/main" noGrp="1"/>
          </p:cNvSpPr>
          <p:nvPr/>
        </p:nvSpPr>
        <p:spPr>
          <a:xfrm xmlns:a="http://schemas.openxmlformats.org/drawingml/2006/main">
            <a:off x="533400" y="5829300"/>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Thermal insulators slow transfer by conduction. A jacket can slow cooling or warming. It does not create heat</a:t>
            </a:r>
          </a:p>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or stop transfer forever.</a:t>
            </a:r>
          </a:p>
        </p:txBody>
      </p:sp>
    </p:spTree>
    <p:extLst>
      <p:ext uri="{BB962C8B-B14F-4D97-AF65-F5344CB8AC3E}">
        <p14:creationId xmlns:p14="http://schemas.microsoft.com/office/powerpoint/2010/main" val="105178473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248A20FD-3966-4E3B-A6B8-850EF634247F}"/>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42A13312-D811-4261-BE5D-94CC74A63C03}"/>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1E69937E-9281-459E-B14A-6A4AFDE7082B}"/>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AC19C7BA-DE6C-431F-9A8D-E34EEF572795}"/>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GROW SCIENCE</a:t>
            </a:r>
          </a:p>
        </p:txBody>
      </p:sp>
      <p:sp>
        <p:nvSpPr>
          <p:cNvPr id="5" name="We do">
            <a:extLst xmlns:a="http://schemas.openxmlformats.org/drawingml/2006/main">
              <a:ext uri="{FF2B5EF4-FFF2-40B4-BE49-F238E27FC236}">
                <a16:creationId xmlns:a16="http://schemas.microsoft.com/office/drawing/2014/main" id="{21223A20-C90E-45A3-ACC4-F9BB1780D2C5}"/>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We do</a:t>
            </a:r>
          </a:p>
        </p:txBody>
      </p:sp>
      <p:sp>
        <p:nvSpPr>
          <p:cNvPr id="6" name="8 min">
            <a:extLst xmlns:a="http://schemas.openxmlformats.org/drawingml/2006/main">
              <a:ext uri="{FF2B5EF4-FFF2-40B4-BE49-F238E27FC236}">
                <a16:creationId xmlns:a16="http://schemas.microsoft.com/office/drawing/2014/main" id="{822CD1DF-5069-4D61-9538-D7F14A6F551A}"/>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8 min</a:t>
            </a:r>
          </a:p>
        </p:txBody>
      </p:sp>
      <p:sp>
        <p:nvSpPr>
          <p:cNvPr id="7" name="Evidence detectives: feeling versus measurement">
            <a:extLst xmlns:a="http://schemas.openxmlformats.org/drawingml/2006/main">
              <a:ext uri="{FF2B5EF4-FFF2-40B4-BE49-F238E27FC236}">
                <a16:creationId xmlns:a16="http://schemas.microsoft.com/office/drawing/2014/main" id="{819D6891-D53D-481B-BFB5-794A05A4A6DE}"/>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Evidence detectives: feeling versus measurement</a:t>
            </a:r>
          </a:p>
        </p:txBody>
      </p:sp>
      <p:sp>
        <p:nvSpPr>
          <p:cNvPr id="8" name="surface">
            <a:extLst xmlns:a="http://schemas.openxmlformats.org/drawingml/2006/main">
              <a:ext uri="{FF2B5EF4-FFF2-40B4-BE49-F238E27FC236}">
                <a16:creationId xmlns:a16="http://schemas.microsoft.com/office/drawing/2014/main" id="{953A60AD-AB33-4184-B5C9-E2C81B904493}"/>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cold case">
            <a:extLst xmlns:a="http://schemas.openxmlformats.org/drawingml/2006/main">
              <a:ext uri="{FF2B5EF4-FFF2-40B4-BE49-F238E27FC236}">
                <a16:creationId xmlns:a16="http://schemas.microsoft.com/office/drawing/2014/main" id="{4405FC82-62F7-4DA9-833D-097152457F76}"/>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cold case</a:t>
            </a:r>
          </a:p>
        </p:txBody>
      </p:sp>
      <p:sp>
        <p:nvSpPr>
          <p:cNvPr id="10" name="6 / 15">
            <a:extLst xmlns:a="http://schemas.openxmlformats.org/drawingml/2006/main">
              <a:ext uri="{FF2B5EF4-FFF2-40B4-BE49-F238E27FC236}">
                <a16:creationId xmlns:a16="http://schemas.microsoft.com/office/drawing/2014/main" id="{815A4B58-95DF-45E1-B785-13BF7BB584BE}"/>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6 / 15</a:t>
            </a:r>
          </a:p>
        </p:txBody>
      </p:sp>
      <p:sp>
        <p:nvSpPr>
          <p:cNvPr id="11" name="D1. Both blocks measured 20 °C. Metal felt colder.">
            <a:extLst xmlns:a="http://schemas.openxmlformats.org/drawingml/2006/main">
              <a:ext uri="{FF2B5EF4-FFF2-40B4-BE49-F238E27FC236}">
                <a16:creationId xmlns:a16="http://schemas.microsoft.com/office/drawing/2014/main" id="{9AD5BFB1-88FD-4A8B-903D-FB0DAA0421D7}"/>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D1. Both blocks measured 20 °C. Metal felt colder.</a:t>
            </a:r>
          </a:p>
        </p:txBody>
      </p:sp>
      <p:sp>
        <p:nvSpPr>
          <p:cNvPr id="12" name="D2. In an ice test, more ice melted on metal.">
            <a:extLst xmlns:a="http://schemas.openxmlformats.org/drawingml/2006/main">
              <a:ext uri="{FF2B5EF4-FFF2-40B4-BE49-F238E27FC236}">
                <a16:creationId xmlns:a16="http://schemas.microsoft.com/office/drawing/2014/main" id="{820C859A-0710-43E8-BE09-601623D56DFF}"/>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D2. In an ice test, more ice melted on metal.</a:t>
            </a:r>
          </a:p>
        </p:txBody>
      </p:sp>
      <p:sp>
        <p:nvSpPr>
          <p:cNvPr id="13" name="Use page 1: reject, keep or improve each claim.">
            <a:extLst xmlns:a="http://schemas.openxmlformats.org/drawingml/2006/main">
              <a:ext uri="{FF2B5EF4-FFF2-40B4-BE49-F238E27FC236}">
                <a16:creationId xmlns:a16="http://schemas.microsoft.com/office/drawing/2014/main" id="{4B79E6E3-1078-4F21-BD1F-46286EBC7471}"/>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Use page 1: reject, keep or improve each claim.</a:t>
            </a:r>
          </a:p>
        </p:txBody>
      </p:sp>
    </p:spTree>
    <p:extLst>
      <p:ext uri="{BB962C8B-B14F-4D97-AF65-F5344CB8AC3E}">
        <p14:creationId xmlns:p14="http://schemas.microsoft.com/office/powerpoint/2010/main" val="112858295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urface">
            <a:extLst xmlns:a="http://schemas.openxmlformats.org/drawingml/2006/main">
              <a:ext uri="{FF2B5EF4-FFF2-40B4-BE49-F238E27FC236}">
                <a16:creationId xmlns:a16="http://schemas.microsoft.com/office/drawing/2014/main" id="{43575B6B-5B39-4299-B261-3450A47A2E28}"/>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B3946ED7-C14C-4C6F-91E4-F07E14A9D91B}"/>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79187816-9E21-43AE-8D11-921FB405FFEA}"/>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62522522-4F72-43B2-83CB-3B92CC0057A4}"/>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GROW SCIENCE</a:t>
            </a:r>
          </a:p>
        </p:txBody>
      </p:sp>
      <p:sp>
        <p:nvSpPr>
          <p:cNvPr id="5" name="We do">
            <a:extLst xmlns:a="http://schemas.openxmlformats.org/drawingml/2006/main">
              <a:ext uri="{FF2B5EF4-FFF2-40B4-BE49-F238E27FC236}">
                <a16:creationId xmlns:a16="http://schemas.microsoft.com/office/drawing/2014/main" id="{29806E2B-BF65-401C-B431-93212FB3958D}"/>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We do</a:t>
            </a:r>
          </a:p>
        </p:txBody>
      </p:sp>
      <p:sp>
        <p:nvSpPr>
          <p:cNvPr id="6" name="Which bottle warmed least?">
            <a:extLst xmlns:a="http://schemas.openxmlformats.org/drawingml/2006/main">
              <a:ext uri="{FF2B5EF4-FFF2-40B4-BE49-F238E27FC236}">
                <a16:creationId xmlns:a16="http://schemas.microsoft.com/office/drawing/2014/main" id="{C21AE35C-8516-49DF-86FB-324C8EA7E930}"/>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Which bottle warmed least?</a:t>
            </a:r>
          </a:p>
        </p:txBody>
      </p:sp>
      <p:sp>
        <p:nvSpPr>
          <p:cNvPr id="7" name="surface">
            <a:extLst xmlns:a="http://schemas.openxmlformats.org/drawingml/2006/main">
              <a:ext uri="{FF2B5EF4-FFF2-40B4-BE49-F238E27FC236}">
                <a16:creationId xmlns:a16="http://schemas.microsoft.com/office/drawing/2014/main" id="{EF7B782E-04D6-4CED-9BD2-A9C5A0438C02}"/>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The cold case">
            <a:extLst xmlns:a="http://schemas.openxmlformats.org/drawingml/2006/main">
              <a:ext uri="{FF2B5EF4-FFF2-40B4-BE49-F238E27FC236}">
                <a16:creationId xmlns:a16="http://schemas.microsoft.com/office/drawing/2014/main" id="{15A8A949-49BF-47BD-82DB-5EF56C584C02}"/>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cold case</a:t>
            </a:r>
          </a:p>
        </p:txBody>
      </p:sp>
      <p:sp>
        <p:nvSpPr>
          <p:cNvPr id="9" name="7 / 15">
            <a:extLst xmlns:a="http://schemas.openxmlformats.org/drawingml/2006/main">
              <a:ext uri="{FF2B5EF4-FFF2-40B4-BE49-F238E27FC236}">
                <a16:creationId xmlns:a16="http://schemas.microsoft.com/office/drawing/2014/main" id="{243FF0A5-8D27-4D87-9358-1F3CEF1F40F5}"/>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7 / 15</a:t>
            </a:r>
          </a:p>
        </p:txBody>
      </p:sp>
      <p:sp>
        <p:nvSpPr>
          <p:cNvPr id="10" name="Constructed sample data: identical sealed bottles. All start at ">
            <a:extLst xmlns:a="http://schemas.openxmlformats.org/drawingml/2006/main">
              <a:ext uri="{FF2B5EF4-FFF2-40B4-BE49-F238E27FC236}">
                <a16:creationId xmlns:a16="http://schemas.microsoft.com/office/drawing/2014/main" id="{50A5DEC8-3782-45E6-86E1-7DEC7DA74BD5}"/>
              </a:ext>
            </a:extLst>
          </p:cNvPr>
          <p:cNvSpPr>
            <a:spLocks xmlns:a="http://schemas.openxmlformats.org/drawingml/2006/main" noGrp="1"/>
          </p:cNvSpPr>
          <p:nvPr/>
        </p:nvSpPr>
        <p:spPr>
          <a:xfrm xmlns:a="http://schemas.openxmlformats.org/drawingml/2006/main">
            <a:off x="533400" y="1895475"/>
            <a:ext cx="11125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950" b="0">
                <a:solidFill>
                  <a:srgbClr val="1F2937"/>
                </a:solidFill>
                <a:latin typeface="Nimbus Sans"/>
                <a:ea typeface="Nimbus Sans"/>
                <a:cs typeface="Nimbus Sans"/>
              </a:defRPr>
            </a:pPr>
            <a:r>
              <a:rPr sz="1950" b="0">
                <a:solidFill>
                  <a:srgbClr val="1F2937"/>
                </a:solidFill>
                <a:latin typeface="Nimbus Sans"/>
                <a:ea typeface="Nimbus Sans"/>
                <a:cs typeface="Nimbus Sans"/>
              </a:rPr>
              <a:t>Constructed sample data: identical sealed bottles. All start at 8 °C in a 20 °C room. Read the</a:t>
            </a:r>
          </a:p>
          <a:p xmlns:a="http://schemas.openxmlformats.org/drawingml/2006/main">
            <a:pPr algn="l">
              <a:lnSpc>
                <a:spcPct val="108000"/>
              </a:lnSpc>
              <a:buNone/>
              <a:defRPr sz="1950" b="0">
                <a:solidFill>
                  <a:srgbClr val="1F2937"/>
                </a:solidFill>
                <a:latin typeface="Nimbus Sans"/>
                <a:ea typeface="Nimbus Sans"/>
                <a:cs typeface="Nimbus Sans"/>
              </a:defRPr>
            </a:pPr>
            <a:r>
              <a:rPr sz="1950" b="0">
                <a:solidFill>
                  <a:srgbClr val="1F2937"/>
                </a:solidFill>
                <a:latin typeface="Nimbus Sans"/>
                <a:ea typeface="Nimbus Sans"/>
                <a:cs typeface="Nimbus Sans"/>
              </a:rPr>
              <a:t>20-minute temperature; justify one choice.</a:t>
            </a:r>
          </a:p>
        </p:txBody>
      </p:sp>
      <p:graphicFrame>
        <p:nvGraphicFramePr>
          <p:cNvPr id="23" name=""/>
          <p:cNvGraphicFramePr/>
          <p:nvPr/>
        </p:nvGraphicFramePr>
        <p:xfrm>
          <a:off xmlns:a="http://schemas.openxmlformats.org/drawingml/2006/main" x="533400" y="2581275"/>
          <a:ext xmlns:a="http://schemas.openxmlformats.org/drawingml/2006/main" cx="11125200" cy="2021205"/>
        </p:xfrm>
        <a:graphic xmlns:a="http://schemas.openxmlformats.org/drawingml/2006/main">
          <a:graphicData uri="http://schemas.openxmlformats.org/drawingml/2006/table">
            <a:tbl>
              <a:tblPr firstRow="1" bandRow="0"/>
              <a:tblGrid>
                <a:gridCol w="3977655"/>
                <a:gridCol w="3488634"/>
                <a:gridCol w="3658911"/>
              </a:tblGrid>
              <a:tr h="505301">
                <a:tc>
                  <a:txBody>
                    <a:bodyPr lIns="95250" tIns="95250" rIns="95250" bIns="95250"/>
                    <a:lstStyle/>
                    <a:p>
                      <a:pPr algn="l"/>
                      <a:r>
                        <a:rPr sz="2025" b="1">
                          <a:solidFill>
                            <a:srgbClr val="FFFFFF"/>
                          </a:solidFill>
                          <a:latin typeface="Nimbus Sans"/>
                          <a:ea typeface="Nimbus Sans"/>
                          <a:cs typeface="Nimbus Sans"/>
                        </a:rPr>
                        <a:t>Jacket</a:t>
                      </a:r>
                    </a:p>
                  </a:txBody>
                  <a:tcPr marL="95250" marR="95250" marT="95250" marB="95250" anchor="ctr">
                    <a:solidFill>
                      <a:srgbClr val="4D82A0"/>
                    </a:solidFill>
                  </a:tcPr>
                </a:tc>
                <a:tc>
                  <a:txBody>
                    <a:bodyPr lIns="95250" tIns="95250" rIns="95250" bIns="95250"/>
                    <a:lstStyle/>
                    <a:p>
                      <a:pPr algn="l"/>
                      <a:r>
                        <a:rPr sz="2025" b="1">
                          <a:solidFill>
                            <a:srgbClr val="FFFFFF"/>
                          </a:solidFill>
                          <a:latin typeface="Nimbus Sans"/>
                          <a:ea typeface="Nimbus Sans"/>
                          <a:cs typeface="Nimbus Sans"/>
                        </a:rPr>
                        <a:t>Start / °C</a:t>
                      </a:r>
                    </a:p>
                  </a:txBody>
                  <a:tcPr marL="95250" marR="95250" marT="95250" marB="95250" anchor="ctr">
                    <a:solidFill>
                      <a:srgbClr val="4D82A0"/>
                    </a:solidFill>
                  </a:tcPr>
                </a:tc>
                <a:tc>
                  <a:txBody>
                    <a:bodyPr lIns="95250" tIns="95250" rIns="95250" bIns="95250"/>
                    <a:lstStyle/>
                    <a:p>
                      <a:pPr algn="l"/>
                      <a:r>
                        <a:rPr sz="2025" b="1">
                          <a:solidFill>
                            <a:srgbClr val="FFFFFF"/>
                          </a:solidFill>
                          <a:latin typeface="Nimbus Sans"/>
                          <a:ea typeface="Nimbus Sans"/>
                          <a:cs typeface="Nimbus Sans"/>
                        </a:rPr>
                        <a:t>20 min / °C</a:t>
                      </a:r>
                    </a:p>
                  </a:txBody>
                  <a:tcPr marL="95250" marR="95250" marT="95250" marB="95250" anchor="ctr">
                    <a:solidFill>
                      <a:srgbClr val="4D82A0"/>
                    </a:solidFill>
                  </a:tcPr>
                </a:tc>
              </a:tr>
              <a:tr h="505301">
                <a:tc>
                  <a:txBody>
                    <a:bodyPr lIns="95250" tIns="95250" rIns="95250" bIns="95250"/>
                    <a:lstStyle/>
                    <a:p>
                      <a:pPr algn="l"/>
                      <a:r>
                        <a:rPr sz="2025" b="0">
                          <a:solidFill>
                            <a:srgbClr val="1F2937"/>
                          </a:solidFill>
                          <a:latin typeface="Nimbus Sans"/>
                          <a:ea typeface="Nimbus Sans"/>
                          <a:cs typeface="Nimbus Sans"/>
                        </a:rPr>
                        <a:t>None</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8</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14</a:t>
                      </a:r>
                    </a:p>
                  </a:txBody>
                  <a:tcPr marL="95250" marR="95250" marT="95250" marB="95250" anchor="ctr">
                    <a:solidFill>
                      <a:srgbClr val="F4F7F9"/>
                    </a:solidFill>
                  </a:tcPr>
                </a:tc>
              </a:tr>
              <a:tr h="505301">
                <a:tc>
                  <a:txBody>
                    <a:bodyPr lIns="95250" tIns="95250" rIns="95250" bIns="95250"/>
                    <a:lstStyle/>
                    <a:p>
                      <a:pPr algn="l"/>
                      <a:r>
                        <a:rPr sz="2025" b="0">
                          <a:solidFill>
                            <a:srgbClr val="1F2937"/>
                          </a:solidFill>
                          <a:latin typeface="Nimbus Sans"/>
                          <a:ea typeface="Nimbus Sans"/>
                          <a:cs typeface="Nimbus Sans"/>
                        </a:rPr>
                        <a:t>Cotton sleeve</a:t>
                      </a:r>
                    </a:p>
                  </a:txBody>
                  <a:tcPr marL="95250" marR="95250" marT="95250" marB="95250" anchor="ctr">
                    <a:solidFill>
                      <a:srgbClr val="FFFFFF"/>
                    </a:solidFill>
                  </a:tcPr>
                </a:tc>
                <a:tc>
                  <a:txBody>
                    <a:bodyPr lIns="95250" tIns="95250" rIns="95250" bIns="95250"/>
                    <a:lstStyle/>
                    <a:p>
                      <a:pPr algn="l"/>
                      <a:r>
                        <a:rPr sz="2025" b="0">
                          <a:solidFill>
                            <a:srgbClr val="1F2937"/>
                          </a:solidFill>
                          <a:latin typeface="Nimbus Sans"/>
                          <a:ea typeface="Nimbus Sans"/>
                          <a:cs typeface="Nimbus Sans"/>
                        </a:rPr>
                        <a:t>8</a:t>
                      </a:r>
                    </a:p>
                  </a:txBody>
                  <a:tcPr marL="95250" marR="95250" marT="95250" marB="95250" anchor="ctr">
                    <a:solidFill>
                      <a:srgbClr val="FFFFFF"/>
                    </a:solidFill>
                  </a:tcPr>
                </a:tc>
                <a:tc>
                  <a:txBody>
                    <a:bodyPr lIns="95250" tIns="95250" rIns="95250" bIns="95250"/>
                    <a:lstStyle/>
                    <a:p>
                      <a:pPr algn="l"/>
                      <a:r>
                        <a:rPr sz="2025" b="0">
                          <a:solidFill>
                            <a:srgbClr val="1F2937"/>
                          </a:solidFill>
                          <a:latin typeface="Nimbus Sans"/>
                          <a:ea typeface="Nimbus Sans"/>
                          <a:cs typeface="Nimbus Sans"/>
                        </a:rPr>
                        <a:t>12</a:t>
                      </a:r>
                    </a:p>
                  </a:txBody>
                  <a:tcPr marL="95250" marR="95250" marT="95250" marB="95250" anchor="ctr">
                    <a:solidFill>
                      <a:srgbClr val="FFFFFF"/>
                    </a:solidFill>
                  </a:tcPr>
                </a:tc>
              </a:tr>
              <a:tr h="505301">
                <a:tc>
                  <a:txBody>
                    <a:bodyPr lIns="95250" tIns="95250" rIns="95250" bIns="95250"/>
                    <a:lstStyle/>
                    <a:p>
                      <a:pPr algn="l"/>
                      <a:r>
                        <a:rPr sz="2025" b="0">
                          <a:solidFill>
                            <a:srgbClr val="1F2937"/>
                          </a:solidFill>
                          <a:latin typeface="Nimbus Sans"/>
                          <a:ea typeface="Nimbus Sans"/>
                          <a:cs typeface="Nimbus Sans"/>
                        </a:rPr>
                        <a:t>Foam sleeve</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8</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10</a:t>
                      </a:r>
                    </a:p>
                  </a:txBody>
                  <a:tcPr marL="95250" marR="95250" marT="95250" marB="95250" anchor="ctr">
                    <a:solidFill>
                      <a:srgbClr val="F4F7F9"/>
                    </a:solidFill>
                  </a:tcPr>
                </a:tc>
              </a:tr>
            </a:tbl>
          </a:graphicData>
        </a:graphic>
      </p:graphicFrame>
      <p:sp>
        <p:nvSpPr>
          <p:cNvPr id="12" name="Constructed sample data; equal bottles, fill, start temperature ">
            <a:extLst xmlns:a="http://schemas.openxmlformats.org/drawingml/2006/main">
              <a:ext uri="{FF2B5EF4-FFF2-40B4-BE49-F238E27FC236}">
                <a16:creationId xmlns:a16="http://schemas.microsoft.com/office/drawing/2014/main" id="{9B571AD1-A314-436C-9F4C-20E022A07302}"/>
              </a:ext>
            </a:extLst>
          </p:cNvPr>
          <p:cNvSpPr>
            <a:spLocks xmlns:a="http://schemas.openxmlformats.org/drawingml/2006/main" noGrp="1"/>
          </p:cNvSpPr>
          <p:nvPr/>
        </p:nvSpPr>
        <p:spPr>
          <a:xfrm xmlns:a="http://schemas.openxmlformats.org/drawingml/2006/main">
            <a:off x="533400" y="4716780"/>
            <a:ext cx="11125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00" b="0">
                <a:solidFill>
                  <a:srgbClr val="1F2937"/>
                </a:solidFill>
                <a:latin typeface="Nimbus Sans"/>
                <a:ea typeface="Nimbus Sans"/>
                <a:cs typeface="Nimbus Sans"/>
              </a:defRPr>
            </a:pPr>
            <a:r>
              <a:rPr sz="1500" b="0">
                <a:solidFill>
                  <a:srgbClr val="1F2937"/>
                </a:solidFill>
                <a:latin typeface="Nimbus Sans"/>
                <a:ea typeface="Nimbus Sans"/>
                <a:cs typeface="Nimbus Sans"/>
              </a:rPr>
              <a:t>Constructed sample data; equal bottles, fill, start temperature and room.</a:t>
            </a:r>
          </a:p>
        </p:txBody>
      </p:sp>
    </p:spTree>
    <p:extLst>
      <p:ext uri="{BB962C8B-B14F-4D97-AF65-F5344CB8AC3E}">
        <p14:creationId xmlns:p14="http://schemas.microsoft.com/office/powerpoint/2010/main" val="35031982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urface">
            <a:extLst xmlns:a="http://schemas.openxmlformats.org/drawingml/2006/main">
              <a:ext uri="{FF2B5EF4-FFF2-40B4-BE49-F238E27FC236}">
                <a16:creationId xmlns:a16="http://schemas.microsoft.com/office/drawing/2014/main" id="{D29D09DF-0FE4-41FB-8693-46B08C49A0CC}"/>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59A6A74F-5C62-4DA1-B6C7-4D57E75F5A6D}"/>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159A30FA-6E96-4C5D-900E-BF432ACDA51D}"/>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8A81C70F-5D07-470E-B367-6CC1C07DD485}"/>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GROW SCIENCE</a:t>
            </a:r>
          </a:p>
        </p:txBody>
      </p:sp>
      <p:sp>
        <p:nvSpPr>
          <p:cNvPr id="5" name="We do">
            <a:extLst xmlns:a="http://schemas.openxmlformats.org/drawingml/2006/main">
              <a:ext uri="{FF2B5EF4-FFF2-40B4-BE49-F238E27FC236}">
                <a16:creationId xmlns:a16="http://schemas.microsoft.com/office/drawing/2014/main" id="{3E46728A-BECE-40BD-A189-20EF9F21565D}"/>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We do</a:t>
            </a:r>
          </a:p>
        </p:txBody>
      </p:sp>
      <p:sp>
        <p:nvSpPr>
          <p:cNvPr id="6" name="Improve the delivery claim">
            <a:extLst xmlns:a="http://schemas.openxmlformats.org/drawingml/2006/main">
              <a:ext uri="{FF2B5EF4-FFF2-40B4-BE49-F238E27FC236}">
                <a16:creationId xmlns:a16="http://schemas.microsoft.com/office/drawing/2014/main" id="{A34C3AEC-2731-4EFE-84BD-6ACA42EE5CFE}"/>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Improve the delivery claim</a:t>
            </a:r>
          </a:p>
        </p:txBody>
      </p:sp>
      <p:sp>
        <p:nvSpPr>
          <p:cNvPr id="7" name="surface">
            <a:extLst xmlns:a="http://schemas.openxmlformats.org/drawingml/2006/main">
              <a:ext uri="{FF2B5EF4-FFF2-40B4-BE49-F238E27FC236}">
                <a16:creationId xmlns:a16="http://schemas.microsoft.com/office/drawing/2014/main" id="{37EBF0BF-E56B-4ACF-8022-12B9B21E3B7D}"/>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The cold case">
            <a:extLst xmlns:a="http://schemas.openxmlformats.org/drawingml/2006/main">
              <a:ext uri="{FF2B5EF4-FFF2-40B4-BE49-F238E27FC236}">
                <a16:creationId xmlns:a16="http://schemas.microsoft.com/office/drawing/2014/main" id="{F22F012F-1205-4F60-A8F1-E8ACB0FFDF47}"/>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cold case</a:t>
            </a:r>
          </a:p>
        </p:txBody>
      </p:sp>
      <p:sp>
        <p:nvSpPr>
          <p:cNvPr id="9" name="8 / 15">
            <a:extLst xmlns:a="http://schemas.openxmlformats.org/drawingml/2006/main">
              <a:ext uri="{FF2B5EF4-FFF2-40B4-BE49-F238E27FC236}">
                <a16:creationId xmlns:a16="http://schemas.microsoft.com/office/drawing/2014/main" id="{E92D1B81-8C0F-4D4B-B1E3-1C6A6F206C8D}"/>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8 / 15</a:t>
            </a:r>
          </a:p>
        </p:txBody>
      </p:sp>
      <p:sp>
        <p:nvSpPr>
          <p:cNvPr id="10" name="Claim: “Foam makes cold and is always best.”">
            <a:extLst xmlns:a="http://schemas.openxmlformats.org/drawingml/2006/main">
              <a:ext uri="{FF2B5EF4-FFF2-40B4-BE49-F238E27FC236}">
                <a16:creationId xmlns:a16="http://schemas.microsoft.com/office/drawing/2014/main" id="{BE7F4671-9F8A-4255-926D-EDC9FC5B72B4}"/>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Claim: “Foam makes cold and is always best.”</a:t>
            </a:r>
          </a:p>
        </p:txBody>
      </p:sp>
      <p:sp>
        <p:nvSpPr>
          <p:cNvPr id="11" name="Replace it with a sentence the evidence supports.">
            <a:extLst xmlns:a="http://schemas.openxmlformats.org/drawingml/2006/main">
              <a:ext uri="{FF2B5EF4-FFF2-40B4-BE49-F238E27FC236}">
                <a16:creationId xmlns:a16="http://schemas.microsoft.com/office/drawing/2014/main" id="{C8CB5E82-248C-43C5-A18C-5EB9BB64874A}"/>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Replace it with a sentence the evidence supports.</a:t>
            </a:r>
          </a:p>
        </p:txBody>
      </p:sp>
      <p:sp>
        <p:nvSpPr>
          <p:cNvPr id="12" name="Name one extra check before a bigger decision.">
            <a:extLst xmlns:a="http://schemas.openxmlformats.org/drawingml/2006/main">
              <a:ext uri="{FF2B5EF4-FFF2-40B4-BE49-F238E27FC236}">
                <a16:creationId xmlns:a16="http://schemas.microsoft.com/office/drawing/2014/main" id="{B239AB8E-165F-4788-BDB2-9ED5BBA574C0}"/>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Name one extra check before a bigger decision.</a:t>
            </a:r>
          </a:p>
        </p:txBody>
      </p:sp>
    </p:spTree>
    <p:extLst>
      <p:ext uri="{BB962C8B-B14F-4D97-AF65-F5344CB8AC3E}">
        <p14:creationId xmlns:p14="http://schemas.microsoft.com/office/powerpoint/2010/main" val="198435437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surface">
            <a:extLst xmlns:a="http://schemas.openxmlformats.org/drawingml/2006/main">
              <a:ext uri="{FF2B5EF4-FFF2-40B4-BE49-F238E27FC236}">
                <a16:creationId xmlns:a16="http://schemas.microsoft.com/office/drawing/2014/main" id="{DAC2E643-2C0F-46A0-BA40-450CDF01679E}"/>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58BAC138-55E3-4D6B-9CC4-F8F68C65D59B}"/>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1E5AC20D-0193-4223-A476-4B3B650C05B4}"/>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96F5BBA4-EAF6-4C73-9266-92A73EAA4EB6}"/>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GROW SCIENCE</a:t>
            </a:r>
          </a:p>
        </p:txBody>
      </p:sp>
      <p:sp>
        <p:nvSpPr>
          <p:cNvPr id="5" name="Hinge">
            <a:extLst xmlns:a="http://schemas.openxmlformats.org/drawingml/2006/main">
              <a:ext uri="{FF2B5EF4-FFF2-40B4-BE49-F238E27FC236}">
                <a16:creationId xmlns:a16="http://schemas.microsoft.com/office/drawing/2014/main" id="{CF3E6119-6B44-437F-8AC3-8A45A308E106}"/>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Hinge</a:t>
            </a:r>
          </a:p>
        </p:txBody>
      </p:sp>
      <p:sp>
        <p:nvSpPr>
          <p:cNvPr id="6" name="3 min">
            <a:extLst xmlns:a="http://schemas.openxmlformats.org/drawingml/2006/main">
              <a:ext uri="{FF2B5EF4-FFF2-40B4-BE49-F238E27FC236}">
                <a16:creationId xmlns:a16="http://schemas.microsoft.com/office/drawing/2014/main" id="{CC9F4940-88C5-4E87-A065-E355F6DA5981}"/>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3 min</a:t>
            </a:r>
          </a:p>
        </p:txBody>
      </p:sp>
      <p:sp>
        <p:nvSpPr>
          <p:cNvPr id="7" name="A cold bottle wears an insulating jacket">
            <a:extLst xmlns:a="http://schemas.openxmlformats.org/drawingml/2006/main">
              <a:ext uri="{FF2B5EF4-FFF2-40B4-BE49-F238E27FC236}">
                <a16:creationId xmlns:a16="http://schemas.microsoft.com/office/drawing/2014/main" id="{B0F7A8B3-6386-465D-9404-93A40C80869D}"/>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A cold bottle wears an insulating jacket</a:t>
            </a:r>
          </a:p>
        </p:txBody>
      </p:sp>
      <p:sp>
        <p:nvSpPr>
          <p:cNvPr id="8" name="surface">
            <a:extLst xmlns:a="http://schemas.openxmlformats.org/drawingml/2006/main">
              <a:ext uri="{FF2B5EF4-FFF2-40B4-BE49-F238E27FC236}">
                <a16:creationId xmlns:a16="http://schemas.microsoft.com/office/drawing/2014/main" id="{1C1BDE5B-C2BE-4EAA-B91F-1EBFB79B204F}"/>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cold case">
            <a:extLst xmlns:a="http://schemas.openxmlformats.org/drawingml/2006/main">
              <a:ext uri="{FF2B5EF4-FFF2-40B4-BE49-F238E27FC236}">
                <a16:creationId xmlns:a16="http://schemas.microsoft.com/office/drawing/2014/main" id="{CE2F0BFF-17B4-42DD-BEA9-63A859193778}"/>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cold case</a:t>
            </a:r>
          </a:p>
        </p:txBody>
      </p:sp>
      <p:sp>
        <p:nvSpPr>
          <p:cNvPr id="10" name="9 / 15">
            <a:extLst xmlns:a="http://schemas.openxmlformats.org/drawingml/2006/main">
              <a:ext uri="{FF2B5EF4-FFF2-40B4-BE49-F238E27FC236}">
                <a16:creationId xmlns:a16="http://schemas.microsoft.com/office/drawing/2014/main" id="{E9BED9DD-FE52-4836-9A1B-E9D7FCF54743}"/>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9 / 15</a:t>
            </a:r>
          </a:p>
        </p:txBody>
      </p:sp>
      <p:sp>
        <p:nvSpPr>
          <p:cNvPr id="11" name="The room is warmer than the bottle. What happens?">
            <a:extLst xmlns:a="http://schemas.openxmlformats.org/drawingml/2006/main">
              <a:ext uri="{FF2B5EF4-FFF2-40B4-BE49-F238E27FC236}">
                <a16:creationId xmlns:a16="http://schemas.microsoft.com/office/drawing/2014/main" id="{13D445D8-F7C4-4692-A20D-6BD2FAB611A1}"/>
              </a:ext>
            </a:extLst>
          </p:cNvPr>
          <p:cNvSpPr>
            <a:spLocks xmlns:a="http://schemas.openxmlformats.org/drawingml/2006/main" noGrp="1"/>
          </p:cNvSpPr>
          <p:nvPr/>
        </p:nvSpPr>
        <p:spPr>
          <a:xfrm xmlns:a="http://schemas.openxmlformats.org/drawingml/2006/main">
            <a:off x="533400" y="1866900"/>
            <a:ext cx="11125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75" b="0">
                <a:solidFill>
                  <a:srgbClr val="1F2937"/>
                </a:solidFill>
                <a:latin typeface="Nimbus Sans"/>
                <a:ea typeface="Nimbus Sans"/>
                <a:cs typeface="Nimbus Sans"/>
              </a:defRPr>
            </a:pPr>
            <a:r>
              <a:rPr sz="2175" b="0">
                <a:solidFill>
                  <a:srgbClr val="1F2937"/>
                </a:solidFill>
                <a:latin typeface="Nimbus Sans"/>
                <a:ea typeface="Nimbus Sans"/>
                <a:cs typeface="Nimbus Sans"/>
              </a:rPr>
              <a:t>The room is warmer than the bottle. What happens?</a:t>
            </a:r>
          </a:p>
        </p:txBody>
      </p:sp>
      <p:sp>
        <p:nvSpPr>
          <p:cNvPr id="12" name="surface">
            <a:extLst xmlns:a="http://schemas.openxmlformats.org/drawingml/2006/main">
              <a:ext uri="{FF2B5EF4-FFF2-40B4-BE49-F238E27FC236}">
                <a16:creationId xmlns:a16="http://schemas.microsoft.com/office/drawing/2014/main" id="{B9B45088-1465-4D95-86F9-0BA42D3B386C}"/>
              </a:ext>
            </a:extLst>
          </p:cNvPr>
          <p:cNvSpPr>
            <a:spLocks xmlns:a="http://schemas.openxmlformats.org/drawingml/2006/main" noGrp="1"/>
          </p:cNvSpPr>
          <p:nvPr/>
        </p:nvSpPr>
        <p:spPr>
          <a:xfrm xmlns:a="http://schemas.openxmlformats.org/drawingml/2006/main">
            <a:off x="533400" y="2352675"/>
            <a:ext cx="11125200" cy="892969"/>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13" name="surface">
            <a:extLst xmlns:a="http://schemas.openxmlformats.org/drawingml/2006/main">
              <a:ext uri="{FF2B5EF4-FFF2-40B4-BE49-F238E27FC236}">
                <a16:creationId xmlns:a16="http://schemas.microsoft.com/office/drawing/2014/main" id="{CDC727B2-EFEA-48A1-83E7-1CD36B704A6F}"/>
              </a:ext>
            </a:extLst>
          </p:cNvPr>
          <p:cNvSpPr>
            <a:spLocks xmlns:a="http://schemas.openxmlformats.org/drawingml/2006/main" noGrp="1"/>
          </p:cNvSpPr>
          <p:nvPr/>
        </p:nvSpPr>
        <p:spPr>
          <a:xfrm xmlns:a="http://schemas.openxmlformats.org/drawingml/2006/main">
            <a:off x="533400" y="2352675"/>
            <a:ext cx="57150" cy="892969"/>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14" name="A">
            <a:extLst xmlns:a="http://schemas.openxmlformats.org/drawingml/2006/main">
              <a:ext uri="{FF2B5EF4-FFF2-40B4-BE49-F238E27FC236}">
                <a16:creationId xmlns:a16="http://schemas.microsoft.com/office/drawing/2014/main" id="{FBC665AD-0242-47C5-B0C1-37C6441D737E}"/>
              </a:ext>
            </a:extLst>
          </p:cNvPr>
          <p:cNvSpPr>
            <a:spLocks xmlns:a="http://schemas.openxmlformats.org/drawingml/2006/main" noGrp="1"/>
          </p:cNvSpPr>
          <p:nvPr/>
        </p:nvSpPr>
        <p:spPr>
          <a:xfrm xmlns:a="http://schemas.openxmlformats.org/drawingml/2006/main">
            <a:off x="733425" y="2495550"/>
            <a:ext cx="476250" cy="7024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250" b="1">
                <a:solidFill>
                  <a:srgbClr val="4D82A0"/>
                </a:solidFill>
                <a:latin typeface="Nimbus Sans"/>
                <a:ea typeface="Nimbus Sans"/>
                <a:cs typeface="Nimbus Sans"/>
              </a:defRPr>
            </a:pPr>
            <a:r>
              <a:rPr sz="2250" b="1">
                <a:solidFill>
                  <a:srgbClr val="4D82A0"/>
                </a:solidFill>
                <a:latin typeface="Nimbus Sans"/>
                <a:ea typeface="Nimbus Sans"/>
                <a:cs typeface="Nimbus Sans"/>
              </a:rPr>
              <a:t>A</a:t>
            </a:r>
          </a:p>
        </p:txBody>
      </p:sp>
      <p:sp>
        <p:nvSpPr>
          <p:cNvPr id="15" name="The jacket produces cold.">
            <a:extLst xmlns:a="http://schemas.openxmlformats.org/drawingml/2006/main">
              <a:ext uri="{FF2B5EF4-FFF2-40B4-BE49-F238E27FC236}">
                <a16:creationId xmlns:a16="http://schemas.microsoft.com/office/drawing/2014/main" id="{CA2FC889-BE49-4AC5-AC7B-D9382BA40A7D}"/>
              </a:ext>
            </a:extLst>
          </p:cNvPr>
          <p:cNvSpPr>
            <a:spLocks xmlns:a="http://schemas.openxmlformats.org/drawingml/2006/main" noGrp="1"/>
          </p:cNvSpPr>
          <p:nvPr/>
        </p:nvSpPr>
        <p:spPr>
          <a:xfrm xmlns:a="http://schemas.openxmlformats.org/drawingml/2006/main">
            <a:off x="1266825" y="2495550"/>
            <a:ext cx="10144125" cy="683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00" b="0">
                <a:solidFill>
                  <a:srgbClr val="1F2937"/>
                </a:solidFill>
                <a:latin typeface="Nimbus Sans"/>
                <a:ea typeface="Nimbus Sans"/>
                <a:cs typeface="Nimbus Sans"/>
              </a:defRPr>
            </a:pPr>
            <a:r>
              <a:rPr sz="2100" b="0">
                <a:solidFill>
                  <a:srgbClr val="1F2937"/>
                </a:solidFill>
                <a:latin typeface="Nimbus Sans"/>
                <a:ea typeface="Nimbus Sans"/>
                <a:cs typeface="Nimbus Sans"/>
              </a:rPr>
              <a:t>The jacket produces cold.</a:t>
            </a:r>
          </a:p>
        </p:txBody>
      </p:sp>
      <p:sp>
        <p:nvSpPr>
          <p:cNvPr id="16" name="surface">
            <a:extLst xmlns:a="http://schemas.openxmlformats.org/drawingml/2006/main">
              <a:ext uri="{FF2B5EF4-FFF2-40B4-BE49-F238E27FC236}">
                <a16:creationId xmlns:a16="http://schemas.microsoft.com/office/drawing/2014/main" id="{9F397C14-4A2B-4F2C-B5C1-F5E5F5B4E5F9}"/>
              </a:ext>
            </a:extLst>
          </p:cNvPr>
          <p:cNvSpPr>
            <a:spLocks xmlns:a="http://schemas.openxmlformats.org/drawingml/2006/main" noGrp="1"/>
          </p:cNvSpPr>
          <p:nvPr/>
        </p:nvSpPr>
        <p:spPr>
          <a:xfrm xmlns:a="http://schemas.openxmlformats.org/drawingml/2006/main">
            <a:off x="533400" y="3359944"/>
            <a:ext cx="11125200" cy="892969"/>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17" name="surface">
            <a:extLst xmlns:a="http://schemas.openxmlformats.org/drawingml/2006/main">
              <a:ext uri="{FF2B5EF4-FFF2-40B4-BE49-F238E27FC236}">
                <a16:creationId xmlns:a16="http://schemas.microsoft.com/office/drawing/2014/main" id="{D8A9DFF8-E035-4170-9033-09EAE7517F7B}"/>
              </a:ext>
            </a:extLst>
          </p:cNvPr>
          <p:cNvSpPr>
            <a:spLocks xmlns:a="http://schemas.openxmlformats.org/drawingml/2006/main" noGrp="1"/>
          </p:cNvSpPr>
          <p:nvPr/>
        </p:nvSpPr>
        <p:spPr>
          <a:xfrm xmlns:a="http://schemas.openxmlformats.org/drawingml/2006/main">
            <a:off x="533400" y="3359944"/>
            <a:ext cx="57150" cy="892969"/>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18" name="B">
            <a:extLst xmlns:a="http://schemas.openxmlformats.org/drawingml/2006/main">
              <a:ext uri="{FF2B5EF4-FFF2-40B4-BE49-F238E27FC236}">
                <a16:creationId xmlns:a16="http://schemas.microsoft.com/office/drawing/2014/main" id="{F0F9EA3D-FEF7-4A00-B66E-EDF05C4D9619}"/>
              </a:ext>
            </a:extLst>
          </p:cNvPr>
          <p:cNvSpPr>
            <a:spLocks xmlns:a="http://schemas.openxmlformats.org/drawingml/2006/main" noGrp="1"/>
          </p:cNvSpPr>
          <p:nvPr/>
        </p:nvSpPr>
        <p:spPr>
          <a:xfrm xmlns:a="http://schemas.openxmlformats.org/drawingml/2006/main">
            <a:off x="733425" y="3502819"/>
            <a:ext cx="476250" cy="7024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250" b="1">
                <a:solidFill>
                  <a:srgbClr val="4D82A0"/>
                </a:solidFill>
                <a:latin typeface="Nimbus Sans"/>
                <a:ea typeface="Nimbus Sans"/>
                <a:cs typeface="Nimbus Sans"/>
              </a:defRPr>
            </a:pPr>
            <a:r>
              <a:rPr sz="2250" b="1">
                <a:solidFill>
                  <a:srgbClr val="4D82A0"/>
                </a:solidFill>
                <a:latin typeface="Nimbus Sans"/>
                <a:ea typeface="Nimbus Sans"/>
                <a:cs typeface="Nimbus Sans"/>
              </a:rPr>
              <a:t>B</a:t>
            </a:r>
          </a:p>
        </p:txBody>
      </p:sp>
      <p:sp>
        <p:nvSpPr>
          <p:cNvPr id="19" name="Energy still transfers in, but more slowly.">
            <a:extLst xmlns:a="http://schemas.openxmlformats.org/drawingml/2006/main">
              <a:ext uri="{FF2B5EF4-FFF2-40B4-BE49-F238E27FC236}">
                <a16:creationId xmlns:a16="http://schemas.microsoft.com/office/drawing/2014/main" id="{63CD4E96-1E0E-4547-A6F0-D0C6717419C5}"/>
              </a:ext>
            </a:extLst>
          </p:cNvPr>
          <p:cNvSpPr>
            <a:spLocks xmlns:a="http://schemas.openxmlformats.org/drawingml/2006/main" noGrp="1"/>
          </p:cNvSpPr>
          <p:nvPr/>
        </p:nvSpPr>
        <p:spPr>
          <a:xfrm xmlns:a="http://schemas.openxmlformats.org/drawingml/2006/main">
            <a:off x="1266825" y="3502819"/>
            <a:ext cx="10144125" cy="683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00" b="0">
                <a:solidFill>
                  <a:srgbClr val="1F2937"/>
                </a:solidFill>
                <a:latin typeface="Nimbus Sans"/>
                <a:ea typeface="Nimbus Sans"/>
                <a:cs typeface="Nimbus Sans"/>
              </a:defRPr>
            </a:pPr>
            <a:r>
              <a:rPr sz="2100" b="0">
                <a:solidFill>
                  <a:srgbClr val="1F2937"/>
                </a:solidFill>
                <a:latin typeface="Nimbus Sans"/>
                <a:ea typeface="Nimbus Sans"/>
                <a:cs typeface="Nimbus Sans"/>
              </a:rPr>
              <a:t>Energy still transfers in, but more slowly.</a:t>
            </a:r>
          </a:p>
        </p:txBody>
      </p:sp>
      <p:sp>
        <p:nvSpPr>
          <p:cNvPr id="20" name="surface">
            <a:extLst xmlns:a="http://schemas.openxmlformats.org/drawingml/2006/main">
              <a:ext uri="{FF2B5EF4-FFF2-40B4-BE49-F238E27FC236}">
                <a16:creationId xmlns:a16="http://schemas.microsoft.com/office/drawing/2014/main" id="{8CC97874-5CF8-40D0-A347-F10C1D63D23F}"/>
              </a:ext>
            </a:extLst>
          </p:cNvPr>
          <p:cNvSpPr>
            <a:spLocks xmlns:a="http://schemas.openxmlformats.org/drawingml/2006/main" noGrp="1"/>
          </p:cNvSpPr>
          <p:nvPr/>
        </p:nvSpPr>
        <p:spPr>
          <a:xfrm xmlns:a="http://schemas.openxmlformats.org/drawingml/2006/main">
            <a:off x="533400" y="4367213"/>
            <a:ext cx="11125200" cy="892969"/>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21" name="surface">
            <a:extLst xmlns:a="http://schemas.openxmlformats.org/drawingml/2006/main">
              <a:ext uri="{FF2B5EF4-FFF2-40B4-BE49-F238E27FC236}">
                <a16:creationId xmlns:a16="http://schemas.microsoft.com/office/drawing/2014/main" id="{BAC9559C-33DF-40D1-8413-76F81508DA4F}"/>
              </a:ext>
            </a:extLst>
          </p:cNvPr>
          <p:cNvSpPr>
            <a:spLocks xmlns:a="http://schemas.openxmlformats.org/drawingml/2006/main" noGrp="1"/>
          </p:cNvSpPr>
          <p:nvPr/>
        </p:nvSpPr>
        <p:spPr>
          <a:xfrm xmlns:a="http://schemas.openxmlformats.org/drawingml/2006/main">
            <a:off x="533400" y="4367213"/>
            <a:ext cx="57150" cy="892969"/>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2" name="C">
            <a:extLst xmlns:a="http://schemas.openxmlformats.org/drawingml/2006/main">
              <a:ext uri="{FF2B5EF4-FFF2-40B4-BE49-F238E27FC236}">
                <a16:creationId xmlns:a16="http://schemas.microsoft.com/office/drawing/2014/main" id="{1120CC83-D1F9-42C7-AEC1-DEAED28140BE}"/>
              </a:ext>
            </a:extLst>
          </p:cNvPr>
          <p:cNvSpPr>
            <a:spLocks xmlns:a="http://schemas.openxmlformats.org/drawingml/2006/main" noGrp="1"/>
          </p:cNvSpPr>
          <p:nvPr/>
        </p:nvSpPr>
        <p:spPr>
          <a:xfrm xmlns:a="http://schemas.openxmlformats.org/drawingml/2006/main">
            <a:off x="733425" y="4510088"/>
            <a:ext cx="476250" cy="7024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250" b="1">
                <a:solidFill>
                  <a:srgbClr val="4D82A0"/>
                </a:solidFill>
                <a:latin typeface="Nimbus Sans"/>
                <a:ea typeface="Nimbus Sans"/>
                <a:cs typeface="Nimbus Sans"/>
              </a:defRPr>
            </a:pPr>
            <a:r>
              <a:rPr sz="2250" b="1">
                <a:solidFill>
                  <a:srgbClr val="4D82A0"/>
                </a:solidFill>
                <a:latin typeface="Nimbus Sans"/>
                <a:ea typeface="Nimbus Sans"/>
                <a:cs typeface="Nimbus Sans"/>
              </a:rPr>
              <a:t>C</a:t>
            </a:r>
          </a:p>
        </p:txBody>
      </p:sp>
      <p:sp>
        <p:nvSpPr>
          <p:cNvPr id="23" name="The jacket stops all transfer forever.">
            <a:extLst xmlns:a="http://schemas.openxmlformats.org/drawingml/2006/main">
              <a:ext uri="{FF2B5EF4-FFF2-40B4-BE49-F238E27FC236}">
                <a16:creationId xmlns:a16="http://schemas.microsoft.com/office/drawing/2014/main" id="{BFF25B9B-DB9A-4239-937F-950806B8DCB1}"/>
              </a:ext>
            </a:extLst>
          </p:cNvPr>
          <p:cNvSpPr>
            <a:spLocks xmlns:a="http://schemas.openxmlformats.org/drawingml/2006/main" noGrp="1"/>
          </p:cNvSpPr>
          <p:nvPr/>
        </p:nvSpPr>
        <p:spPr>
          <a:xfrm xmlns:a="http://schemas.openxmlformats.org/drawingml/2006/main">
            <a:off x="1266825" y="4510088"/>
            <a:ext cx="10144125" cy="683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00" b="0">
                <a:solidFill>
                  <a:srgbClr val="1F2937"/>
                </a:solidFill>
                <a:latin typeface="Nimbus Sans"/>
                <a:ea typeface="Nimbus Sans"/>
                <a:cs typeface="Nimbus Sans"/>
              </a:defRPr>
            </a:pPr>
            <a:r>
              <a:rPr sz="2100" b="0">
                <a:solidFill>
                  <a:srgbClr val="1F2937"/>
                </a:solidFill>
                <a:latin typeface="Nimbus Sans"/>
                <a:ea typeface="Nimbus Sans"/>
                <a:cs typeface="Nimbus Sans"/>
              </a:rPr>
              <a:t>The jacket stops all transfer forever.</a:t>
            </a:r>
          </a:p>
        </p:txBody>
      </p:sp>
      <p:sp>
        <p:nvSpPr>
          <p:cNvPr id="24" name="surface">
            <a:extLst xmlns:a="http://schemas.openxmlformats.org/drawingml/2006/main">
              <a:ext uri="{FF2B5EF4-FFF2-40B4-BE49-F238E27FC236}">
                <a16:creationId xmlns:a16="http://schemas.microsoft.com/office/drawing/2014/main" id="{EE1CDA6F-9201-442A-9FBF-96F48466745C}"/>
              </a:ext>
            </a:extLst>
          </p:cNvPr>
          <p:cNvSpPr>
            <a:spLocks xmlns:a="http://schemas.openxmlformats.org/drawingml/2006/main" noGrp="1"/>
          </p:cNvSpPr>
          <p:nvPr/>
        </p:nvSpPr>
        <p:spPr>
          <a:xfrm xmlns:a="http://schemas.openxmlformats.org/drawingml/2006/main">
            <a:off x="533400" y="5374481"/>
            <a:ext cx="11125200" cy="892969"/>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25" name="surface">
            <a:extLst xmlns:a="http://schemas.openxmlformats.org/drawingml/2006/main">
              <a:ext uri="{FF2B5EF4-FFF2-40B4-BE49-F238E27FC236}">
                <a16:creationId xmlns:a16="http://schemas.microsoft.com/office/drawing/2014/main" id="{BBC0DB9A-E798-4281-9FC0-1417846F3159}"/>
              </a:ext>
            </a:extLst>
          </p:cNvPr>
          <p:cNvSpPr>
            <a:spLocks xmlns:a="http://schemas.openxmlformats.org/drawingml/2006/main" noGrp="1"/>
          </p:cNvSpPr>
          <p:nvPr/>
        </p:nvSpPr>
        <p:spPr>
          <a:xfrm xmlns:a="http://schemas.openxmlformats.org/drawingml/2006/main">
            <a:off x="533400" y="5374481"/>
            <a:ext cx="57150" cy="892969"/>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6" name="D">
            <a:extLst xmlns:a="http://schemas.openxmlformats.org/drawingml/2006/main">
              <a:ext uri="{FF2B5EF4-FFF2-40B4-BE49-F238E27FC236}">
                <a16:creationId xmlns:a16="http://schemas.microsoft.com/office/drawing/2014/main" id="{8E81E3BB-CF25-4A38-A6AF-07544C7894F4}"/>
              </a:ext>
            </a:extLst>
          </p:cNvPr>
          <p:cNvSpPr>
            <a:spLocks xmlns:a="http://schemas.openxmlformats.org/drawingml/2006/main" noGrp="1"/>
          </p:cNvSpPr>
          <p:nvPr/>
        </p:nvSpPr>
        <p:spPr>
          <a:xfrm xmlns:a="http://schemas.openxmlformats.org/drawingml/2006/main">
            <a:off x="733425" y="5517356"/>
            <a:ext cx="476250" cy="7024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250" b="1">
                <a:solidFill>
                  <a:srgbClr val="4D82A0"/>
                </a:solidFill>
                <a:latin typeface="Nimbus Sans"/>
                <a:ea typeface="Nimbus Sans"/>
                <a:cs typeface="Nimbus Sans"/>
              </a:defRPr>
            </a:pPr>
            <a:r>
              <a:rPr sz="2250" b="1">
                <a:solidFill>
                  <a:srgbClr val="4D82A0"/>
                </a:solidFill>
                <a:latin typeface="Nimbus Sans"/>
                <a:ea typeface="Nimbus Sans"/>
                <a:cs typeface="Nimbus Sans"/>
              </a:rPr>
              <a:t>D</a:t>
            </a:r>
          </a:p>
        </p:txBody>
      </p:sp>
      <p:sp>
        <p:nvSpPr>
          <p:cNvPr id="27" name="Energy transfers from cold bottle to warmer room.">
            <a:extLst xmlns:a="http://schemas.openxmlformats.org/drawingml/2006/main">
              <a:ext uri="{FF2B5EF4-FFF2-40B4-BE49-F238E27FC236}">
                <a16:creationId xmlns:a16="http://schemas.microsoft.com/office/drawing/2014/main" id="{1518F450-AD2C-48CD-8092-6985D5341F16}"/>
              </a:ext>
            </a:extLst>
          </p:cNvPr>
          <p:cNvSpPr>
            <a:spLocks xmlns:a="http://schemas.openxmlformats.org/drawingml/2006/main" noGrp="1"/>
          </p:cNvSpPr>
          <p:nvPr/>
        </p:nvSpPr>
        <p:spPr>
          <a:xfrm xmlns:a="http://schemas.openxmlformats.org/drawingml/2006/main">
            <a:off x="1266825" y="5517356"/>
            <a:ext cx="10144125" cy="683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00" b="0">
                <a:solidFill>
                  <a:srgbClr val="1F2937"/>
                </a:solidFill>
                <a:latin typeface="Nimbus Sans"/>
                <a:ea typeface="Nimbus Sans"/>
                <a:cs typeface="Nimbus Sans"/>
              </a:defRPr>
            </a:pPr>
            <a:r>
              <a:rPr sz="2100" b="0">
                <a:solidFill>
                  <a:srgbClr val="1F2937"/>
                </a:solidFill>
                <a:latin typeface="Nimbus Sans"/>
                <a:ea typeface="Nimbus Sans"/>
                <a:cs typeface="Nimbus Sans"/>
              </a:rPr>
              <a:t>Energy transfers from cold bottle to warmer room.</a:t>
            </a:r>
          </a:p>
        </p:txBody>
      </p:sp>
    </p:spTree>
    <p:extLst>
      <p:ext uri="{BB962C8B-B14F-4D97-AF65-F5344CB8AC3E}">
        <p14:creationId xmlns:p14="http://schemas.microsoft.com/office/powerpoint/2010/main" val="136783728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FCB0A465-6049-41C3-85DC-C3913F6221A7}"/>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D35A2EB5-B287-49FB-9CE9-C8083B90805E}"/>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8F1D9"/>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92928261-7140-417E-8602-D089E7A16D49}"/>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0DFF2E89-CD26-4323-8669-946CFF767616}"/>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GROW SCIENCE</a:t>
            </a:r>
          </a:p>
        </p:txBody>
      </p:sp>
      <p:sp>
        <p:nvSpPr>
          <p:cNvPr id="5" name="You do">
            <a:extLst xmlns:a="http://schemas.openxmlformats.org/drawingml/2006/main">
              <a:ext uri="{FF2B5EF4-FFF2-40B4-BE49-F238E27FC236}">
                <a16:creationId xmlns:a16="http://schemas.microsoft.com/office/drawing/2014/main" id="{BF245D22-2429-4C40-8036-C97A2845E8B8}"/>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You do</a:t>
            </a:r>
          </a:p>
        </p:txBody>
      </p:sp>
      <p:sp>
        <p:nvSpPr>
          <p:cNvPr id="6" name="10 min">
            <a:extLst xmlns:a="http://schemas.openxmlformats.org/drawingml/2006/main">
              <a:ext uri="{FF2B5EF4-FFF2-40B4-BE49-F238E27FC236}">
                <a16:creationId xmlns:a16="http://schemas.microsoft.com/office/drawing/2014/main" id="{90F0F477-1891-4567-9BA5-600F3E43DBDA}"/>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10 min</a:t>
            </a:r>
          </a:p>
        </p:txBody>
      </p:sp>
      <p:sp>
        <p:nvSpPr>
          <p:cNvPr id="7" name="Your design brief">
            <a:extLst xmlns:a="http://schemas.openxmlformats.org/drawingml/2006/main">
              <a:ext uri="{FF2B5EF4-FFF2-40B4-BE49-F238E27FC236}">
                <a16:creationId xmlns:a16="http://schemas.microsoft.com/office/drawing/2014/main" id="{372A1DE0-9A42-488E-8FC4-3570737F67FA}"/>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Your design brief</a:t>
            </a:r>
          </a:p>
        </p:txBody>
      </p:sp>
      <p:sp>
        <p:nvSpPr>
          <p:cNvPr id="8" name="surface">
            <a:extLst xmlns:a="http://schemas.openxmlformats.org/drawingml/2006/main">
              <a:ext uri="{FF2B5EF4-FFF2-40B4-BE49-F238E27FC236}">
                <a16:creationId xmlns:a16="http://schemas.microsoft.com/office/drawing/2014/main" id="{AFB32D96-B2D7-4DB9-9B17-071DEE55C61B}"/>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cold case">
            <a:extLst xmlns:a="http://schemas.openxmlformats.org/drawingml/2006/main">
              <a:ext uri="{FF2B5EF4-FFF2-40B4-BE49-F238E27FC236}">
                <a16:creationId xmlns:a16="http://schemas.microsoft.com/office/drawing/2014/main" id="{BA34B519-2A4D-4E67-878B-F93A107F814B}"/>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cold case</a:t>
            </a:r>
          </a:p>
        </p:txBody>
      </p:sp>
      <p:sp>
        <p:nvSpPr>
          <p:cNvPr id="10" name="10 / 15">
            <a:extLst xmlns:a="http://schemas.openxmlformats.org/drawingml/2006/main">
              <a:ext uri="{FF2B5EF4-FFF2-40B4-BE49-F238E27FC236}">
                <a16:creationId xmlns:a16="http://schemas.microsoft.com/office/drawing/2014/main" id="{47EEE2C9-8C76-493F-BEE7-73875CA1D1E9}"/>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10 / 15</a:t>
            </a:r>
          </a:p>
        </p:txBody>
      </p:sp>
      <p:sp>
        <p:nvSpPr>
          <p:cNvPr id="11" name="Choose one response page: supported, standard or stretch.">
            <a:extLst xmlns:a="http://schemas.openxmlformats.org/drawingml/2006/main">
              <a:ext uri="{FF2B5EF4-FFF2-40B4-BE49-F238E27FC236}">
                <a16:creationId xmlns:a16="http://schemas.microsoft.com/office/drawing/2014/main" id="{5ED49994-CA3E-4DFD-8E2D-62BD62153D89}"/>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Choose one response page: supported, standard or stretch.</a:t>
            </a:r>
          </a:p>
        </p:txBody>
      </p:sp>
      <p:sp>
        <p:nvSpPr>
          <p:cNvPr id="12" name="Recommend a jacket using the common evidence.">
            <a:extLst xmlns:a="http://schemas.openxmlformats.org/drawingml/2006/main">
              <a:ext uri="{FF2B5EF4-FFF2-40B4-BE49-F238E27FC236}">
                <a16:creationId xmlns:a16="http://schemas.microsoft.com/office/drawing/2014/main" id="{04877E22-2F7D-4EDF-8AA1-6755E7BDDAFB}"/>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Recommend a jacket using the common evidence.</a:t>
            </a:r>
          </a:p>
        </p:txBody>
      </p:sp>
      <p:sp>
        <p:nvSpPr>
          <p:cNvPr id="13" name="Explain where energy moves and why.">
            <a:extLst xmlns:a="http://schemas.openxmlformats.org/drawingml/2006/main">
              <a:ext uri="{FF2B5EF4-FFF2-40B4-BE49-F238E27FC236}">
                <a16:creationId xmlns:a16="http://schemas.microsoft.com/office/drawing/2014/main" id="{3FD0E95D-C803-4AD4-9E18-23C844CAC537}"/>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Explain where energy moves and why.</a:t>
            </a:r>
          </a:p>
        </p:txBody>
      </p:sp>
    </p:spTree>
    <p:extLst>
      <p:ext uri="{BB962C8B-B14F-4D97-AF65-F5344CB8AC3E}">
        <p14:creationId xmlns:p14="http://schemas.microsoft.com/office/powerpoint/2010/main" val="72934069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urface">
            <a:extLst xmlns:a="http://schemas.openxmlformats.org/drawingml/2006/main">
              <a:ext uri="{FF2B5EF4-FFF2-40B4-BE49-F238E27FC236}">
                <a16:creationId xmlns:a16="http://schemas.microsoft.com/office/drawing/2014/main" id="{0E7B7595-A3C7-4A19-BBEA-1D8F4B12D362}"/>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04575CDC-0798-4FAD-967A-9D44E53E7158}"/>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8F1D9"/>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02F703ED-C1DE-4B2D-8082-F5AC13D3F861}"/>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77A4F2A0-AA95-4466-8784-D4925DF6E165}"/>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GROW SCIENCE</a:t>
            </a:r>
          </a:p>
        </p:txBody>
      </p:sp>
      <p:sp>
        <p:nvSpPr>
          <p:cNvPr id="5" name="You do">
            <a:extLst xmlns:a="http://schemas.openxmlformats.org/drawingml/2006/main">
              <a:ext uri="{FF2B5EF4-FFF2-40B4-BE49-F238E27FC236}">
                <a16:creationId xmlns:a16="http://schemas.microsoft.com/office/drawing/2014/main" id="{8421A291-37B5-41A4-9754-762D868CA9CB}"/>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You do</a:t>
            </a:r>
          </a:p>
        </p:txBody>
      </p:sp>
      <p:sp>
        <p:nvSpPr>
          <p:cNvPr id="6" name="Make the evidence do the work">
            <a:extLst xmlns:a="http://schemas.openxmlformats.org/drawingml/2006/main">
              <a:ext uri="{FF2B5EF4-FFF2-40B4-BE49-F238E27FC236}">
                <a16:creationId xmlns:a16="http://schemas.microsoft.com/office/drawing/2014/main" id="{53D55C5A-B5AC-4A0D-BCF3-A780AC4E1288}"/>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Make the evidence do the work</a:t>
            </a:r>
          </a:p>
        </p:txBody>
      </p:sp>
      <p:sp>
        <p:nvSpPr>
          <p:cNvPr id="7" name="surface">
            <a:extLst xmlns:a="http://schemas.openxmlformats.org/drawingml/2006/main">
              <a:ext uri="{FF2B5EF4-FFF2-40B4-BE49-F238E27FC236}">
                <a16:creationId xmlns:a16="http://schemas.microsoft.com/office/drawing/2014/main" id="{44F5FD26-1E32-4F13-895B-DFB449B77B7D}"/>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The cold case">
            <a:extLst xmlns:a="http://schemas.openxmlformats.org/drawingml/2006/main">
              <a:ext uri="{FF2B5EF4-FFF2-40B4-BE49-F238E27FC236}">
                <a16:creationId xmlns:a16="http://schemas.microsoft.com/office/drawing/2014/main" id="{FBE0C29D-626C-49AE-A531-0EE66B61FA21}"/>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cold case</a:t>
            </a:r>
          </a:p>
        </p:txBody>
      </p:sp>
      <p:sp>
        <p:nvSpPr>
          <p:cNvPr id="9" name="11 / 15">
            <a:extLst xmlns:a="http://schemas.openxmlformats.org/drawingml/2006/main">
              <a:ext uri="{FF2B5EF4-FFF2-40B4-BE49-F238E27FC236}">
                <a16:creationId xmlns:a16="http://schemas.microsoft.com/office/drawing/2014/main" id="{8CF018AB-C712-4A8C-9818-DCB2AEA3742C}"/>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11 / 15</a:t>
            </a:r>
          </a:p>
        </p:txBody>
      </p:sp>
      <p:sp>
        <p:nvSpPr>
          <p:cNvPr id="10" name="Name the two objects at different temperatures.">
            <a:extLst xmlns:a="http://schemas.openxmlformats.org/drawingml/2006/main">
              <a:ext uri="{FF2B5EF4-FFF2-40B4-BE49-F238E27FC236}">
                <a16:creationId xmlns:a16="http://schemas.microsoft.com/office/drawing/2014/main" id="{3CBE4E11-7BD4-4CDB-BD46-48F27D61E93D}"/>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Name the two objects at different temperatures.</a:t>
            </a:r>
          </a:p>
        </p:txBody>
      </p:sp>
      <p:sp>
        <p:nvSpPr>
          <p:cNvPr id="11" name="Use at least one pair of values.">
            <a:extLst xmlns:a="http://schemas.openxmlformats.org/drawingml/2006/main">
              <a:ext uri="{FF2B5EF4-FFF2-40B4-BE49-F238E27FC236}">
                <a16:creationId xmlns:a16="http://schemas.microsoft.com/office/drawing/2014/main" id="{F26A6777-AE3B-48F3-9CF3-94153A54308A}"/>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Use at least one pair of values.</a:t>
            </a:r>
          </a:p>
        </p:txBody>
      </p:sp>
      <p:sp>
        <p:nvSpPr>
          <p:cNvPr id="12" name="Finish: “This shows … in this test.”">
            <a:extLst xmlns:a="http://schemas.openxmlformats.org/drawingml/2006/main">
              <a:ext uri="{FF2B5EF4-FFF2-40B4-BE49-F238E27FC236}">
                <a16:creationId xmlns:a16="http://schemas.microsoft.com/office/drawing/2014/main" id="{6C6BBB3D-782D-46D0-AD9C-A5ECB8631CD4}"/>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Finish: “This shows … in this test.”</a:t>
            </a:r>
          </a:p>
        </p:txBody>
      </p:sp>
    </p:spTree>
    <p:extLst>
      <p:ext uri="{BB962C8B-B14F-4D97-AF65-F5344CB8AC3E}">
        <p14:creationId xmlns:p14="http://schemas.microsoft.com/office/powerpoint/2010/main" val="103620417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urface">
            <a:extLst xmlns:a="http://schemas.openxmlformats.org/drawingml/2006/main">
              <a:ext uri="{FF2B5EF4-FFF2-40B4-BE49-F238E27FC236}">
                <a16:creationId xmlns:a16="http://schemas.microsoft.com/office/drawing/2014/main" id="{DB04649A-A861-4800-9E49-5944FAB1EABB}"/>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CEB746F8-1661-4932-B1E8-4729F86936E0}"/>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8F1D9"/>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39399F13-59F4-4CA6-9AA0-B916B9449FFD}"/>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E4466300-E3AD-4AA2-B236-0B83CA3F6567}"/>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GROW SCIENCE</a:t>
            </a:r>
          </a:p>
        </p:txBody>
      </p:sp>
      <p:sp>
        <p:nvSpPr>
          <p:cNvPr id="5" name="You do">
            <a:extLst xmlns:a="http://schemas.openxmlformats.org/drawingml/2006/main">
              <a:ext uri="{FF2B5EF4-FFF2-40B4-BE49-F238E27FC236}">
                <a16:creationId xmlns:a16="http://schemas.microsoft.com/office/drawing/2014/main" id="{6A6C926A-A40F-4B09-B509-F7F9CF548B67}"/>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You do</a:t>
            </a:r>
          </a:p>
        </p:txBody>
      </p:sp>
      <p:sp>
        <p:nvSpPr>
          <p:cNvPr id="6" name="Check before you submit">
            <a:extLst xmlns:a="http://schemas.openxmlformats.org/drawingml/2006/main">
              <a:ext uri="{FF2B5EF4-FFF2-40B4-BE49-F238E27FC236}">
                <a16:creationId xmlns:a16="http://schemas.microsoft.com/office/drawing/2014/main" id="{9F4325A6-0FA0-4856-95CC-99F6A1AA2EC6}"/>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Check before you submit</a:t>
            </a:r>
          </a:p>
        </p:txBody>
      </p:sp>
      <p:sp>
        <p:nvSpPr>
          <p:cNvPr id="7" name="surface">
            <a:extLst xmlns:a="http://schemas.openxmlformats.org/drawingml/2006/main">
              <a:ext uri="{FF2B5EF4-FFF2-40B4-BE49-F238E27FC236}">
                <a16:creationId xmlns:a16="http://schemas.microsoft.com/office/drawing/2014/main" id="{CC13C8B5-94B1-44CD-866C-506D745A8578}"/>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The cold case">
            <a:extLst xmlns:a="http://schemas.openxmlformats.org/drawingml/2006/main">
              <a:ext uri="{FF2B5EF4-FFF2-40B4-BE49-F238E27FC236}">
                <a16:creationId xmlns:a16="http://schemas.microsoft.com/office/drawing/2014/main" id="{42632B79-D581-469C-8F62-81E962B68E08}"/>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cold case</a:t>
            </a:r>
          </a:p>
        </p:txBody>
      </p:sp>
      <p:sp>
        <p:nvSpPr>
          <p:cNvPr id="9" name="12 / 15">
            <a:extLst xmlns:a="http://schemas.openxmlformats.org/drawingml/2006/main">
              <a:ext uri="{FF2B5EF4-FFF2-40B4-BE49-F238E27FC236}">
                <a16:creationId xmlns:a16="http://schemas.microsoft.com/office/drawing/2014/main" id="{71C20730-7496-4CC7-BF0C-EE4309A47A8A}"/>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12 / 15</a:t>
            </a:r>
          </a:p>
        </p:txBody>
      </p:sp>
      <p:sp>
        <p:nvSpPr>
          <p:cNvPr id="10" name="Have I used “slows” rather than “stops”?">
            <a:extLst xmlns:a="http://schemas.openxmlformats.org/drawingml/2006/main">
              <a:ext uri="{FF2B5EF4-FFF2-40B4-BE49-F238E27FC236}">
                <a16:creationId xmlns:a16="http://schemas.microsoft.com/office/drawing/2014/main" id="{61209AE1-DBBA-45F3-8959-0213C81B443F}"/>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Have I used “slows” rather than “stops”?</a:t>
            </a:r>
          </a:p>
        </p:txBody>
      </p:sp>
      <p:sp>
        <p:nvSpPr>
          <p:cNvPr id="11" name="Does my arrow go from warmer to cooler?">
            <a:extLst xmlns:a="http://schemas.openxmlformats.org/drawingml/2006/main">
              <a:ext uri="{FF2B5EF4-FFF2-40B4-BE49-F238E27FC236}">
                <a16:creationId xmlns:a16="http://schemas.microsoft.com/office/drawing/2014/main" id="{C8C603E1-3685-4956-98C0-F0411DBE935D}"/>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Does my arrow go from warmer to cooler?</a:t>
            </a:r>
          </a:p>
        </p:txBody>
      </p:sp>
      <p:sp>
        <p:nvSpPr>
          <p:cNvPr id="12" name="Have I separated evidence from a guess?">
            <a:extLst xmlns:a="http://schemas.openxmlformats.org/drawingml/2006/main">
              <a:ext uri="{FF2B5EF4-FFF2-40B4-BE49-F238E27FC236}">
                <a16:creationId xmlns:a16="http://schemas.microsoft.com/office/drawing/2014/main" id="{3656C824-EE5D-4435-8A77-88E9BE25FCDA}"/>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Have I separated evidence from a guess?</a:t>
            </a:r>
          </a:p>
        </p:txBody>
      </p:sp>
    </p:spTree>
    <p:extLst>
      <p:ext uri="{BB962C8B-B14F-4D97-AF65-F5344CB8AC3E}">
        <p14:creationId xmlns:p14="http://schemas.microsoft.com/office/powerpoint/2010/main" val="180292428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D0C5EBD0-3426-4CAD-89E2-6B24150C7BEC}"/>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3F7D6E"/>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C8EBB71B-133E-4D6F-A474-C6488058FBFC}"/>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D32BCD22-61A1-41A7-A19F-0DC3A745F83E}"/>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3F7D6E"/>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02E63845-94EE-4FD0-9B61-1741008D7918}"/>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3F7D6E"/>
                </a:solidFill>
                <a:latin typeface="Nimbus Sans"/>
                <a:ea typeface="Nimbus Sans"/>
                <a:cs typeface="Nimbus Sans"/>
              </a:defRPr>
            </a:pPr>
            <a:r>
              <a:rPr sz="1800" b="1">
                <a:solidFill>
                  <a:srgbClr val="3F7D6E"/>
                </a:solidFill>
                <a:latin typeface="Nimbus Sans"/>
                <a:ea typeface="Nimbus Sans"/>
                <a:cs typeface="Nimbus Sans"/>
              </a:rPr>
              <a:t>GROW SCIENCE</a:t>
            </a:r>
          </a:p>
        </p:txBody>
      </p:sp>
      <p:sp>
        <p:nvSpPr>
          <p:cNvPr id="5" name="Review">
            <a:extLst xmlns:a="http://schemas.openxmlformats.org/drawingml/2006/main">
              <a:ext uri="{FF2B5EF4-FFF2-40B4-BE49-F238E27FC236}">
                <a16:creationId xmlns:a16="http://schemas.microsoft.com/office/drawing/2014/main" id="{87C1284D-BE1D-4686-8893-CE1862BD3D82}"/>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3F7D6E"/>
                </a:solidFill>
                <a:latin typeface="Nimbus Sans"/>
                <a:ea typeface="Nimbus Sans"/>
                <a:cs typeface="Nimbus Sans"/>
              </a:defRPr>
            </a:pPr>
            <a:r>
              <a:rPr sz="1800" b="1">
                <a:solidFill>
                  <a:srgbClr val="3F7D6E"/>
                </a:solidFill>
                <a:latin typeface="Nimbus Sans"/>
                <a:ea typeface="Nimbus Sans"/>
                <a:cs typeface="Nimbus Sans"/>
              </a:rPr>
              <a:t>Review</a:t>
            </a:r>
          </a:p>
        </p:txBody>
      </p:sp>
      <p:sp>
        <p:nvSpPr>
          <p:cNvPr id="6" name="4 min">
            <a:extLst xmlns:a="http://schemas.openxmlformats.org/drawingml/2006/main">
              <a:ext uri="{FF2B5EF4-FFF2-40B4-BE49-F238E27FC236}">
                <a16:creationId xmlns:a16="http://schemas.microsoft.com/office/drawing/2014/main" id="{87B58919-F6CB-4D7E-AED1-1D1A42B4DDC7}"/>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4 min</a:t>
            </a:r>
          </a:p>
        </p:txBody>
      </p:sp>
      <p:sp>
        <p:nvSpPr>
          <p:cNvPr id="7" name="Compare and improve">
            <a:extLst xmlns:a="http://schemas.openxmlformats.org/drawingml/2006/main">
              <a:ext uri="{FF2B5EF4-FFF2-40B4-BE49-F238E27FC236}">
                <a16:creationId xmlns:a16="http://schemas.microsoft.com/office/drawing/2014/main" id="{D776435A-42D4-4776-AE5A-EFC9ADDBF323}"/>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Compare and improve</a:t>
            </a:r>
          </a:p>
        </p:txBody>
      </p:sp>
      <p:sp>
        <p:nvSpPr>
          <p:cNvPr id="8" name="surface">
            <a:extLst xmlns:a="http://schemas.openxmlformats.org/drawingml/2006/main">
              <a:ext uri="{FF2B5EF4-FFF2-40B4-BE49-F238E27FC236}">
                <a16:creationId xmlns:a16="http://schemas.microsoft.com/office/drawing/2014/main" id="{50279925-28BF-4654-89AE-4B74E4A596AF}"/>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cold case">
            <a:extLst xmlns:a="http://schemas.openxmlformats.org/drawingml/2006/main">
              <a:ext uri="{FF2B5EF4-FFF2-40B4-BE49-F238E27FC236}">
                <a16:creationId xmlns:a16="http://schemas.microsoft.com/office/drawing/2014/main" id="{7A6EFD2A-F362-407E-AE3D-DCDA543D008C}"/>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cold case</a:t>
            </a:r>
          </a:p>
        </p:txBody>
      </p:sp>
      <p:sp>
        <p:nvSpPr>
          <p:cNvPr id="10" name="13 / 15">
            <a:extLst xmlns:a="http://schemas.openxmlformats.org/drawingml/2006/main">
              <a:ext uri="{FF2B5EF4-FFF2-40B4-BE49-F238E27FC236}">
                <a16:creationId xmlns:a16="http://schemas.microsoft.com/office/drawing/2014/main" id="{A89152AA-D4A1-476E-8EBE-A22D92640328}"/>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13 / 15</a:t>
            </a:r>
          </a:p>
        </p:txBody>
      </p:sp>
      <p:sp>
        <p:nvSpPr>
          <p:cNvPr id="11" name="Show one sentence or arrow you improved.">
            <a:extLst xmlns:a="http://schemas.openxmlformats.org/drawingml/2006/main">
              <a:ext uri="{FF2B5EF4-FFF2-40B4-BE49-F238E27FC236}">
                <a16:creationId xmlns:a16="http://schemas.microsoft.com/office/drawing/2014/main" id="{097374F5-FFAA-4945-9522-788BC333DAF2}"/>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Show one sentence or arrow you improved.</a:t>
            </a:r>
          </a:p>
        </p:txBody>
      </p:sp>
      <p:sp>
        <p:nvSpPr>
          <p:cNvPr id="12" name="Check a partner’s evidence without judging their first idea.">
            <a:extLst xmlns:a="http://schemas.openxmlformats.org/drawingml/2006/main">
              <a:ext uri="{FF2B5EF4-FFF2-40B4-BE49-F238E27FC236}">
                <a16:creationId xmlns:a16="http://schemas.microsoft.com/office/drawing/2014/main" id="{F996BA79-4B2C-4D35-B3BF-97385FF26981}"/>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Check a partner’s evidence without judging their first idea.</a:t>
            </a:r>
          </a:p>
        </p:txBody>
      </p:sp>
      <p:sp>
        <p:nvSpPr>
          <p:cNvPr id="13" name="What would make our conclusion stronger?">
            <a:extLst xmlns:a="http://schemas.openxmlformats.org/drawingml/2006/main">
              <a:ext uri="{FF2B5EF4-FFF2-40B4-BE49-F238E27FC236}">
                <a16:creationId xmlns:a16="http://schemas.microsoft.com/office/drawing/2014/main" id="{1ACE9B8D-E2D3-42CA-A34A-2FDB81A825FF}"/>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What would make our conclusion stronger?</a:t>
            </a:r>
          </a:p>
        </p:txBody>
      </p:sp>
    </p:spTree>
    <p:extLst>
      <p:ext uri="{BB962C8B-B14F-4D97-AF65-F5344CB8AC3E}">
        <p14:creationId xmlns:p14="http://schemas.microsoft.com/office/powerpoint/2010/main" val="79083441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urface">
            <a:extLst xmlns:a="http://schemas.openxmlformats.org/drawingml/2006/main">
              <a:ext uri="{FF2B5EF4-FFF2-40B4-BE49-F238E27FC236}">
                <a16:creationId xmlns:a16="http://schemas.microsoft.com/office/drawing/2014/main" id="{9CF156BF-742E-4BE5-9C58-A1C6564C8F82}"/>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3F7D6E"/>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E716305F-C11D-4A5A-8FB8-15852A7935D1}"/>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46EA5137-0CCE-42C6-9E09-FE444A2AE282}"/>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3F7D6E"/>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F4B06B5B-3EC7-4CF5-9B45-A91FE4990FF5}"/>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3F7D6E"/>
                </a:solidFill>
                <a:latin typeface="Nimbus Sans"/>
                <a:ea typeface="Nimbus Sans"/>
                <a:cs typeface="Nimbus Sans"/>
              </a:defRPr>
            </a:pPr>
            <a:r>
              <a:rPr sz="1800" b="1">
                <a:solidFill>
                  <a:srgbClr val="3F7D6E"/>
                </a:solidFill>
                <a:latin typeface="Nimbus Sans"/>
                <a:ea typeface="Nimbus Sans"/>
                <a:cs typeface="Nimbus Sans"/>
              </a:rPr>
              <a:t>GROW SCIENCE</a:t>
            </a:r>
          </a:p>
        </p:txBody>
      </p:sp>
      <p:sp>
        <p:nvSpPr>
          <p:cNvPr id="5" name="Review">
            <a:extLst xmlns:a="http://schemas.openxmlformats.org/drawingml/2006/main">
              <a:ext uri="{FF2B5EF4-FFF2-40B4-BE49-F238E27FC236}">
                <a16:creationId xmlns:a16="http://schemas.microsoft.com/office/drawing/2014/main" id="{443DE439-4973-4BFA-AF21-78CA417F92A8}"/>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3F7D6E"/>
                </a:solidFill>
                <a:latin typeface="Nimbus Sans"/>
                <a:ea typeface="Nimbus Sans"/>
                <a:cs typeface="Nimbus Sans"/>
              </a:defRPr>
            </a:pPr>
            <a:r>
              <a:rPr sz="1800" b="1">
                <a:solidFill>
                  <a:srgbClr val="3F7D6E"/>
                </a:solidFill>
                <a:latin typeface="Nimbus Sans"/>
                <a:ea typeface="Nimbus Sans"/>
                <a:cs typeface="Nimbus Sans"/>
              </a:rPr>
              <a:t>Review</a:t>
            </a:r>
          </a:p>
        </p:txBody>
      </p:sp>
      <p:sp>
        <p:nvSpPr>
          <p:cNvPr id="6" name="Our evidence has a boundary">
            <a:extLst xmlns:a="http://schemas.openxmlformats.org/drawingml/2006/main">
              <a:ext uri="{FF2B5EF4-FFF2-40B4-BE49-F238E27FC236}">
                <a16:creationId xmlns:a16="http://schemas.microsoft.com/office/drawing/2014/main" id="{10ABB4F3-5CC9-4B58-B973-5833809EC695}"/>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Our evidence has a boundary</a:t>
            </a:r>
          </a:p>
        </p:txBody>
      </p:sp>
      <p:sp>
        <p:nvSpPr>
          <p:cNvPr id="7" name="surface">
            <a:extLst xmlns:a="http://schemas.openxmlformats.org/drawingml/2006/main">
              <a:ext uri="{FF2B5EF4-FFF2-40B4-BE49-F238E27FC236}">
                <a16:creationId xmlns:a16="http://schemas.microsoft.com/office/drawing/2014/main" id="{87A5AE5C-E6C5-4A22-987C-04A96BFF8CDD}"/>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The cold case">
            <a:extLst xmlns:a="http://schemas.openxmlformats.org/drawingml/2006/main">
              <a:ext uri="{FF2B5EF4-FFF2-40B4-BE49-F238E27FC236}">
                <a16:creationId xmlns:a16="http://schemas.microsoft.com/office/drawing/2014/main" id="{5E21DD8D-85CB-426A-AB29-5DF4FAD3447F}"/>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cold case</a:t>
            </a:r>
          </a:p>
        </p:txBody>
      </p:sp>
      <p:sp>
        <p:nvSpPr>
          <p:cNvPr id="9" name="14 / 15">
            <a:extLst xmlns:a="http://schemas.openxmlformats.org/drawingml/2006/main">
              <a:ext uri="{FF2B5EF4-FFF2-40B4-BE49-F238E27FC236}">
                <a16:creationId xmlns:a16="http://schemas.microsoft.com/office/drawing/2014/main" id="{14D7D6C1-0A00-43FC-BCB2-C1CAB0A42B3D}"/>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14 / 15</a:t>
            </a:r>
          </a:p>
        </p:txBody>
      </p:sp>
      <p:sp>
        <p:nvSpPr>
          <p:cNvPr id="10" name="We compared three particular jackets.">
            <a:extLst xmlns:a="http://schemas.openxmlformats.org/drawingml/2006/main">
              <a:ext uri="{FF2B5EF4-FFF2-40B4-BE49-F238E27FC236}">
                <a16:creationId xmlns:a16="http://schemas.microsoft.com/office/drawing/2014/main" id="{B608CAA8-A294-488F-A950-8F800F23D7EB}"/>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We compared three particular jackets.</a:t>
            </a:r>
          </a:p>
        </p:txBody>
      </p:sp>
      <p:sp>
        <p:nvSpPr>
          <p:cNvPr id="11" name="Thickness, fit and repeat results still matter.">
            <a:extLst xmlns:a="http://schemas.openxmlformats.org/drawingml/2006/main">
              <a:ext uri="{FF2B5EF4-FFF2-40B4-BE49-F238E27FC236}">
                <a16:creationId xmlns:a16="http://schemas.microsoft.com/office/drawing/2014/main" id="{C9D97826-8C99-4FC7-B310-11FC4C5BEBFF}"/>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Thickness, fit and repeat results still matter.</a:t>
            </a:r>
          </a:p>
        </p:txBody>
      </p:sp>
      <p:sp>
        <p:nvSpPr>
          <p:cNvPr id="12" name="Pupil choice: which jacket variable should be tested next?">
            <a:extLst xmlns:a="http://schemas.openxmlformats.org/drawingml/2006/main">
              <a:ext uri="{FF2B5EF4-FFF2-40B4-BE49-F238E27FC236}">
                <a16:creationId xmlns:a16="http://schemas.microsoft.com/office/drawing/2014/main" id="{D96263AC-E23B-45DD-858E-B31E4DE8DFBA}"/>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Pupil choice: which jacket variable should be tested next?</a:t>
            </a:r>
          </a:p>
        </p:txBody>
      </p:sp>
    </p:spTree>
    <p:extLst>
      <p:ext uri="{BB962C8B-B14F-4D97-AF65-F5344CB8AC3E}">
        <p14:creationId xmlns:p14="http://schemas.microsoft.com/office/powerpoint/2010/main" val="154049081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60DADAD0-85F2-4183-87AA-C4020843F98E}"/>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3F7D6E"/>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2D449F69-9F12-4EEC-995A-CC5DCD962FBC}"/>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9DBB7A89-0088-4DD1-8698-0C56EB469BE9}"/>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3F7D6E"/>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EE4CC245-469B-4C4C-8349-66FD30A37DCF}"/>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3F7D6E"/>
                </a:solidFill>
                <a:latin typeface="Nimbus Sans"/>
                <a:ea typeface="Nimbus Sans"/>
                <a:cs typeface="Nimbus Sans"/>
              </a:defRPr>
            </a:pPr>
            <a:r>
              <a:rPr sz="1800" b="1">
                <a:solidFill>
                  <a:srgbClr val="3F7D6E"/>
                </a:solidFill>
                <a:latin typeface="Nimbus Sans"/>
                <a:ea typeface="Nimbus Sans"/>
                <a:cs typeface="Nimbus Sans"/>
              </a:rPr>
              <a:t>GROW SCIENCE</a:t>
            </a:r>
          </a:p>
        </p:txBody>
      </p:sp>
      <p:sp>
        <p:nvSpPr>
          <p:cNvPr id="5" name="Exit">
            <a:extLst xmlns:a="http://schemas.openxmlformats.org/drawingml/2006/main">
              <a:ext uri="{FF2B5EF4-FFF2-40B4-BE49-F238E27FC236}">
                <a16:creationId xmlns:a16="http://schemas.microsoft.com/office/drawing/2014/main" id="{34651E75-F548-4525-A92D-43E799CFCDEF}"/>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3F7D6E"/>
                </a:solidFill>
                <a:latin typeface="Nimbus Sans"/>
                <a:ea typeface="Nimbus Sans"/>
                <a:cs typeface="Nimbus Sans"/>
              </a:defRPr>
            </a:pPr>
            <a:r>
              <a:rPr sz="1800" b="1">
                <a:solidFill>
                  <a:srgbClr val="3F7D6E"/>
                </a:solidFill>
                <a:latin typeface="Nimbus Sans"/>
                <a:ea typeface="Nimbus Sans"/>
                <a:cs typeface="Nimbus Sans"/>
              </a:rPr>
              <a:t>Exit</a:t>
            </a:r>
          </a:p>
        </p:txBody>
      </p:sp>
      <p:sp>
        <p:nvSpPr>
          <p:cNvPr id="6" name="2 min">
            <a:extLst xmlns:a="http://schemas.openxmlformats.org/drawingml/2006/main">
              <a:ext uri="{FF2B5EF4-FFF2-40B4-BE49-F238E27FC236}">
                <a16:creationId xmlns:a16="http://schemas.microsoft.com/office/drawing/2014/main" id="{5D25D9D7-8481-4FCE-9B16-467636F0D51D}"/>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2 min</a:t>
            </a:r>
          </a:p>
        </p:txBody>
      </p:sp>
      <p:sp>
        <p:nvSpPr>
          <p:cNvPr id="7" name="Three things to leave with">
            <a:extLst xmlns:a="http://schemas.openxmlformats.org/drawingml/2006/main">
              <a:ext uri="{FF2B5EF4-FFF2-40B4-BE49-F238E27FC236}">
                <a16:creationId xmlns:a16="http://schemas.microsoft.com/office/drawing/2014/main" id="{59FB4A93-EC70-461D-A5B9-163790C4F764}"/>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Three things to leave with</a:t>
            </a:r>
          </a:p>
        </p:txBody>
      </p:sp>
      <p:sp>
        <p:nvSpPr>
          <p:cNvPr id="8" name="surface">
            <a:extLst xmlns:a="http://schemas.openxmlformats.org/drawingml/2006/main">
              <a:ext uri="{FF2B5EF4-FFF2-40B4-BE49-F238E27FC236}">
                <a16:creationId xmlns:a16="http://schemas.microsoft.com/office/drawing/2014/main" id="{80ECF8BB-B2A4-4975-B5E7-16827960AA05}"/>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cold case">
            <a:extLst xmlns:a="http://schemas.openxmlformats.org/drawingml/2006/main">
              <a:ext uri="{FF2B5EF4-FFF2-40B4-BE49-F238E27FC236}">
                <a16:creationId xmlns:a16="http://schemas.microsoft.com/office/drawing/2014/main" id="{3FDDF789-3709-4045-B59E-D5CDF565A940}"/>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cold case</a:t>
            </a:r>
          </a:p>
        </p:txBody>
      </p:sp>
      <p:sp>
        <p:nvSpPr>
          <p:cNvPr id="10" name="15 / 15">
            <a:extLst xmlns:a="http://schemas.openxmlformats.org/drawingml/2006/main">
              <a:ext uri="{FF2B5EF4-FFF2-40B4-BE49-F238E27FC236}">
                <a16:creationId xmlns:a16="http://schemas.microsoft.com/office/drawing/2014/main" id="{3276AAE5-3AF4-4501-95D1-E0FF4AFA2B76}"/>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15 / 15</a:t>
            </a:r>
          </a:p>
        </p:txBody>
      </p:sp>
      <p:sp>
        <p:nvSpPr>
          <p:cNvPr id="11" name="E1. Draw energy’s direction: room 20 °C, bottle 8 °C.">
            <a:extLst xmlns:a="http://schemas.openxmlformats.org/drawingml/2006/main">
              <a:ext uri="{FF2B5EF4-FFF2-40B4-BE49-F238E27FC236}">
                <a16:creationId xmlns:a16="http://schemas.microsoft.com/office/drawing/2014/main" id="{DCC82CD2-C3B4-4033-BD38-5340989B600F}"/>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E1. Draw energy’s direction: room 20 °C, bottle 8 °C.</a:t>
            </a:r>
          </a:p>
        </p:txBody>
      </p:sp>
      <p:sp>
        <p:nvSpPr>
          <p:cNvPr id="12" name="E2. Explain what a thermal insulator does.">
            <a:extLst xmlns:a="http://schemas.openxmlformats.org/drawingml/2006/main">
              <a:ext uri="{FF2B5EF4-FFF2-40B4-BE49-F238E27FC236}">
                <a16:creationId xmlns:a16="http://schemas.microsoft.com/office/drawing/2014/main" id="{4312871A-2B99-4DE6-A281-99DEFB15E4B2}"/>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E2. Explain what a thermal insulator does.</a:t>
            </a:r>
          </a:p>
        </p:txBody>
      </p:sp>
      <p:sp>
        <p:nvSpPr>
          <p:cNvPr id="13" name="E3. Give one number that supports the foam choice.">
            <a:extLst xmlns:a="http://schemas.openxmlformats.org/drawingml/2006/main">
              <a:ext uri="{FF2B5EF4-FFF2-40B4-BE49-F238E27FC236}">
                <a16:creationId xmlns:a16="http://schemas.microsoft.com/office/drawing/2014/main" id="{BA7B0D43-1D79-4A8E-9305-3FCBBA6AC91A}"/>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E3. Give one number that supports the foam choice.</a:t>
            </a:r>
          </a:p>
        </p:txBody>
      </p:sp>
    </p:spTree>
    <p:extLst>
      <p:ext uri="{BB962C8B-B14F-4D97-AF65-F5344CB8AC3E}">
        <p14:creationId xmlns:p14="http://schemas.microsoft.com/office/powerpoint/2010/main" val="170810140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2026-09-08T22:38:39.7020000Z</dcterms:created>
  <dcterms:modified xsi:type="dcterms:W3CDTF">2026-09-08T22:38:39.7020000Z</dcterms:modified>
</coreProperties>
</file>