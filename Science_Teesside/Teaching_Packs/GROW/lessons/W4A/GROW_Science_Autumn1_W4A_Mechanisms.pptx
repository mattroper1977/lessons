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559ba5d89f4747" /><Relationship Type="http://schemas.openxmlformats.org/officeDocument/2006/relationships/extended-properties" Target="/docProps/app.xml" Id="Rebcbc14d77524801" /><Relationship Type="http://schemas.openxmlformats.org/officeDocument/2006/relationships/officeDocument" Target="/ppt/presentation.xml" Id="Rd0b27b40098e4a20" /></Relationships>
</file>

<file path=ppt/presentation.xml><?xml version="1.0" encoding="utf-8"?>
<p:presentation xmlns:p="http://schemas.openxmlformats.org/presentationml/2006/main">
  <p:sldMasterIdLst>
    <p:sldMasterId xmlns:r="http://schemas.openxmlformats.org/officeDocument/2006/relationships" id="2147483648" r:id="R42aa32b064a44f69"/>
  </p:sldMasterIdLst>
  <p:notesMasterIdLst>
    <p:notesMasterId xmlns:r="http://schemas.openxmlformats.org/officeDocument/2006/relationships" r:id="Rda639e25ef4344f8"/>
  </p:notesMasterIdLst>
  <p:sldIdLst>
    <p:sldId xmlns:r="http://schemas.openxmlformats.org/officeDocument/2006/relationships" id="256" r:id="R8ccf1c2d6f9a4308"/>
    <p:sldId xmlns:r="http://schemas.openxmlformats.org/officeDocument/2006/relationships" id="257" r:id="Raf32b8a773d04f8d"/>
    <p:sldId xmlns:r="http://schemas.openxmlformats.org/officeDocument/2006/relationships" id="258" r:id="R6f82a3075a1b482e"/>
    <p:sldId xmlns:r="http://schemas.openxmlformats.org/officeDocument/2006/relationships" id="259" r:id="R2714b766e46a4ff1"/>
    <p:sldId xmlns:r="http://schemas.openxmlformats.org/officeDocument/2006/relationships" id="260" r:id="R4e207cad8a7f49e7"/>
    <p:sldId xmlns:r="http://schemas.openxmlformats.org/officeDocument/2006/relationships" id="261" r:id="R7478bd2deac3403c"/>
    <p:sldId xmlns:r="http://schemas.openxmlformats.org/officeDocument/2006/relationships" id="262" r:id="Re98f59c8dfdc41b0"/>
    <p:sldId xmlns:r="http://schemas.openxmlformats.org/officeDocument/2006/relationships" id="263" r:id="Rd114d6fdf1a34870"/>
    <p:sldId xmlns:r="http://schemas.openxmlformats.org/officeDocument/2006/relationships" id="264" r:id="R8c183c9f10ff4061"/>
    <p:sldId xmlns:r="http://schemas.openxmlformats.org/officeDocument/2006/relationships" id="265" r:id="R3e86a9f4c1944fc0"/>
    <p:sldId xmlns:r="http://schemas.openxmlformats.org/officeDocument/2006/relationships" id="266" r:id="R742b30e56645480e"/>
    <p:sldId xmlns:r="http://schemas.openxmlformats.org/officeDocument/2006/relationships" id="267" r:id="Rf8802f6c3c1b4c4d"/>
    <p:sldId xmlns:r="http://schemas.openxmlformats.org/officeDocument/2006/relationships" id="268" r:id="R34c64fe1171c4f83"/>
    <p:sldId xmlns:r="http://schemas.openxmlformats.org/officeDocument/2006/relationships" id="269" r:id="Rb9f4fcedb0c34b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ade1f9b4844a5d" /><Relationship Type="http://schemas.openxmlformats.org/officeDocument/2006/relationships/slideMaster" Target="/ppt/slideMasters/slideMaster1.xml" Id="R42aa32b064a44f69" /><Relationship Type="http://schemas.openxmlformats.org/officeDocument/2006/relationships/notesMaster" Target="/ppt/notesMasters/notesMaster1.xml" Id="Rda639e25ef4344f8" /><Relationship Type="http://schemas.openxmlformats.org/officeDocument/2006/relationships/presProps" Target="/ppt/presProps.xml" Id="Re5c4b81aef0841ca" /><Relationship Type="http://schemas.openxmlformats.org/officeDocument/2006/relationships/tableStyles" Target="/ppt/tableStyles.xml" Id="R66fa015e54754089" /><Relationship Type="http://schemas.openxmlformats.org/officeDocument/2006/relationships/slide" Target="/ppt/slides/slide1.xml" Id="R8ccf1c2d6f9a4308" /><Relationship Type="http://schemas.openxmlformats.org/officeDocument/2006/relationships/slide" Target="/ppt/slides/slide2.xml" Id="Raf32b8a773d04f8d" /><Relationship Type="http://schemas.openxmlformats.org/officeDocument/2006/relationships/slide" Target="/ppt/slides/slide3.xml" Id="R6f82a3075a1b482e" /><Relationship Type="http://schemas.openxmlformats.org/officeDocument/2006/relationships/slide" Target="/ppt/slides/slide4.xml" Id="R2714b766e46a4ff1" /><Relationship Type="http://schemas.openxmlformats.org/officeDocument/2006/relationships/slide" Target="/ppt/slides/slide5.xml" Id="R4e207cad8a7f49e7" /><Relationship Type="http://schemas.openxmlformats.org/officeDocument/2006/relationships/slide" Target="/ppt/slides/slide6.xml" Id="R7478bd2deac3403c" /><Relationship Type="http://schemas.openxmlformats.org/officeDocument/2006/relationships/slide" Target="/ppt/slides/slide7.xml" Id="Re98f59c8dfdc41b0" /><Relationship Type="http://schemas.openxmlformats.org/officeDocument/2006/relationships/slide" Target="/ppt/slides/slide8.xml" Id="Rd114d6fdf1a34870" /><Relationship Type="http://schemas.openxmlformats.org/officeDocument/2006/relationships/slide" Target="/ppt/slides/slide9.xml" Id="R8c183c9f10ff4061" /><Relationship Type="http://schemas.openxmlformats.org/officeDocument/2006/relationships/slide" Target="/ppt/slides/slide10.xml" Id="R3e86a9f4c1944fc0" /><Relationship Type="http://schemas.openxmlformats.org/officeDocument/2006/relationships/slide" Target="/ppt/slides/slide11.xml" Id="R742b30e56645480e" /><Relationship Type="http://schemas.openxmlformats.org/officeDocument/2006/relationships/slide" Target="/ppt/slides/slide12.xml" Id="Rf8802f6c3c1b4c4d" /><Relationship Type="http://schemas.openxmlformats.org/officeDocument/2006/relationships/slide" Target="/ppt/slides/slide13.xml" Id="R34c64fe1171c4f83" /><Relationship Type="http://schemas.openxmlformats.org/officeDocument/2006/relationships/slide" Target="/ppt/slides/slide14.xml" Id="Rb9f4fcedb0c34b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f99afc531d47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ed91475c8d408b" /><Relationship Type="http://schemas.openxmlformats.org/officeDocument/2006/relationships/notesMaster" Target="/ppt/notesMasters/notesMaster1.xml" Id="R50f4591ebf994e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af95721edb4d62" /><Relationship Type="http://schemas.openxmlformats.org/officeDocument/2006/relationships/notesMaster" Target="/ppt/notesMasters/notesMaster1.xml" Id="R50c034e82ebd4b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51e21f525445b6" /><Relationship Type="http://schemas.openxmlformats.org/officeDocument/2006/relationships/notesMaster" Target="/ppt/notesMasters/notesMaster1.xml" Id="Racce029b8afb4b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73447e35d54ab2" /><Relationship Type="http://schemas.openxmlformats.org/officeDocument/2006/relationships/notesMaster" Target="/ppt/notesMasters/notesMaster1.xml" Id="R1d9300e7140e4e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00b1533c4a48a6" /><Relationship Type="http://schemas.openxmlformats.org/officeDocument/2006/relationships/notesMaster" Target="/ppt/notesMasters/notesMaster1.xml" Id="Rfd285778877f42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137660a69e43d0" /><Relationship Type="http://schemas.openxmlformats.org/officeDocument/2006/relationships/notesMaster" Target="/ppt/notesMasters/notesMaster1.xml" Id="Rf3868897ad0140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9d15011cba48dc" /><Relationship Type="http://schemas.openxmlformats.org/officeDocument/2006/relationships/notesMaster" Target="/ppt/notesMasters/notesMaster1.xml" Id="Rddfaff2ca32f46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938d42734e49b2" /><Relationship Type="http://schemas.openxmlformats.org/officeDocument/2006/relationships/notesMaster" Target="/ppt/notesMasters/notesMaster1.xml" Id="R2873ce19545540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f473e35eab48ca" /><Relationship Type="http://schemas.openxmlformats.org/officeDocument/2006/relationships/notesMaster" Target="/ppt/notesMasters/notesMaster1.xml" Id="Reb79fe1a1a574a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e14c6874df4295" /><Relationship Type="http://schemas.openxmlformats.org/officeDocument/2006/relationships/notesMaster" Target="/ppt/notesMasters/notesMaster1.xml" Id="Re589b260cd66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a5efaac3ae4006" /><Relationship Type="http://schemas.openxmlformats.org/officeDocument/2006/relationships/notesMaster" Target="/ppt/notesMasters/notesMaster1.xml" Id="R0de788084d1a41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599daa817a4e40" /><Relationship Type="http://schemas.openxmlformats.org/officeDocument/2006/relationships/notesMaster" Target="/ppt/notesMasters/notesMaster1.xml" Id="R87f887d064c44c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73b7c4f0bc475c" /><Relationship Type="http://schemas.openxmlformats.org/officeDocument/2006/relationships/notesMaster" Target="/ppt/notesMasters/notesMaster1.xml" Id="Rfa2eb924867441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0b4713f01c4e46" /><Relationship Type="http://schemas.openxmlformats.org/officeDocument/2006/relationships/notesMaster" Target="/ppt/notesMasters/notesMaster1.xml" Id="Re46a96c074b640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 1 minutes within the source's 40-minute lesson.</a:t>
            </a:r>
          </a:p>
          <a:p xmlns:a="http://schemas.openxmlformats.org/drawingml/2006/main">
            <a:r>
              <a:t>Introduce source learning intention. A mechanism may change force size, direction or both; a fixed pulley need not reduce force. The lesson explores the source's force-distance idea without claiming energy is created. Monday stops after We Do 2.</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Task — 3 minutes within the source's 40-minute lesson.</a:t>
            </a:r>
          </a:p>
          <a:p xmlns:a="http://schemas.openxmlformats.org/drawingml/2006/main">
            <a:r>
              <a:t>Source arrival task adapted for safe access: blunt scissors adult-approved or a drawing, no cutting task. Answer: scissors pivot is the screw/joint; wheelbarrow lever pivot is wheel axle. Wheelbarrow example can be drawn on board, no publisher image required. Never handle sharp blades to point. Use the next slide for the wheelbarrow drawing and one-minute check within this same Arrival stage.</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Task — 1 minutes within the source's 40-minute lesson.</a:t>
            </a:r>
          </a:p>
          <a:p xmlns:a="http://schemas.openxmlformats.org/drawingml/2006/main">
            <a:r>
              <a:t>Final minute of source four-minute Arrival stage. Original editable schematic supplied as the wheelbarrow picture: the small amber centre of the wheel is its axle/pivot. Ask learner to locate the turning point before reading the explanation. Wheelbarrow is a second-class lever: load between wheel axle and effort at handles. Drawing is schematic, not a scale force diagram. No physical wheelbarrow or heavy load needed.</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at a Glance — 2 minutes within the source's 40-minute lesson.</a:t>
            </a:r>
          </a:p>
          <a:p xmlns:a="http://schemas.openxmlformats.org/drawingml/2006/main">
            <a:r>
              <a:t>Retain current source sequence. Agree response and sensory choices. Today's controlled adult demonstration prepares Tuesday's pupil/director comparison; don't count it as their independent practical.</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1 — 4 minutes within the source's 40-minute lesson.</a:t>
            </a:r>
          </a:p>
          <a:p xmlns:a="http://schemas.openxmlformats.org/drawingml/2006/main">
            <a:r>
              <a:t>First four minutes of source nine-minute I Do 1. Define lever: rigid bar rotating about pivot; mechanism changes force size or direction. Arrow diagram schematic only, not force magnitude. The little secured eraser is the load. Effort arm is distance pivot-to-effort; load arm pivot-to-load. No numerical calculations needed.</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1 — 5 minutes within the source's 40-minute lesson.</a:t>
            </a:r>
          </a:p>
          <a:p xmlns:a="http://schemas.openxmlformats.org/drawingml/2006/main">
            <a:r>
              <a:t>Completes source nine-minute demonstration. Adult-secured broad pivot, ruler/card lever and light secured load, small lift target; never launch objects, hands clear. Near-load pivot lengthens effort arm relative to load arm, reducing needed effort force ideally; for same load rise, effort end travels farther. Repeat both positions. Real friction/bending means report observations honestly. No kit: use lever sketch as explanation/prediction only.</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1 — 2 minutes within the source's 40-minute lesson.</a:t>
            </a:r>
          </a:p>
          <a:p xmlns:a="http://schemas.openxmlformats.org/drawingml/2006/main">
            <a:r>
              <a:t>First two of source ten-minute We Do 1. Wheelbarrow rotates around wheel axle; scissors are a pair of levers around joint; spanner turns around bolt axis. Name where effort is applied. Adult models the wheelbarrow using drawing rather than heavy equipment. Pointing, speech or annotations equally valid.</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1 — 3 minutes within the source's 40-minute lesson.</a:t>
            </a:r>
          </a:p>
          <a:p xmlns:a="http://schemas.openxmlformats.org/drawingml/2006/main">
            <a:r>
              <a:t>Next three minutes source We Do 1. Trace rope over fixed top wheel on board/native sketch. Ideal fixed pulley effort force is approximately load weight; real friction can increase it. This differs from a pulley system with more supporting rope sections. No pupil lifting, hanging or rope-around-body activity. Offline diagram fully substitutes animation.</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1 — 3 minutes within the source's 40-minute lesson.</a:t>
            </a:r>
          </a:p>
          <a:p xmlns:a="http://schemas.openxmlformats.org/drawingml/2006/main">
            <a:r>
              <a:t>Next three minutes of source We Do 1. Source everyday example 'bicycle chain and cogs' is a chain drive with gear ratios, not two directly meshing gears. Explain torque as turning effect in accessible words. With lower gearing, wheel torque is greater for comparable pedal torque but wheel speed per pedal turn is lower; rider must turn pedals more often for same distance. Keep fingers away from real moving gears. No ratio maths required.</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1 — 2 minutes within the source's 40-minute lesson.</a:t>
            </a:r>
          </a:p>
          <a:p xmlns:a="http://schemas.openxmlformats.org/drawingml/2006/main">
            <a:r>
              <a:t>Final two minutes source We Do 1. Reveal after classification. Learner chooses one example and describes force or movement direction. Do not imply each example reduces force in every use; names alone do not establish a benefit. Correct one label with reason.</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2 — 4 minutes within the source's 40-minute lesson.</a:t>
            </a:r>
          </a:p>
          <a:p xmlns:a="http://schemas.openxmlformats.org/drawingml/2006/main">
            <a:r>
              <a:t>Exact four-minute I Do 2 evidence loop. Model lever: rigid bar about pivot; near-load pivot can need less effort force but hand travels farther for same load rise. Record named mechanisms, correctly identified pivot and gain/cost. Do not require photographs: labelled diagram and explanation suffice. Actual comparison evidence follows Tuesday.</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5 minutes within the source's 40-minute lesson.</a:t>
            </a:r>
          </a:p>
          <a:p xmlns:a="http://schemas.openxmlformats.org/drawingml/2006/main">
            <a:r>
              <a:t>First five of source ten-minute We Do 2. Sort into GAIN, COST, NEITHER, or GAIN AND COST. Give an attempt before next slide. Explain intended task matters. 'Creates extra energy' is false, not a legitimate benefit. Spoken pointing or paper cards replace tap/drag controls.</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3 minutes within the source's 40-minute lesson.</a:t>
            </a:r>
          </a:p>
          <a:p xmlns:a="http://schemas.openxmlformats.org/drawingml/2006/main">
            <a:r>
              <a:t>Next three minutes. Source bins classify false energy claim as NEITHER. Explain gears' 'stronger turn' means greater turning effect/torque, not energy creation. For lever, compare same load and rise before claiming easier. Invite pupil to move/draw model showing both outcomes.</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2 minutes within the source's 40-minute lesson.</a:t>
            </a:r>
          </a:p>
          <a:p xmlns:a="http://schemas.openxmlformats.org/drawingml/2006/main">
            <a:r>
              <a:t>Final two minutes of source We Do 2. No mechanism creates energy; real mechanisms also dissipate some. Stop Monday here, label and keep work. Tuesday uses 32-minute lever comparison, 4-minute feedback and 4-minute exit. Do not add practical or exit today.</a:t>
            </a:r>
          </a:p>
          <a:p xmlns:a="http://schemas.openxmlformats.org/drawingml/2006/main">
            <a:r>
              <a:t/>
            </a:r>
          </a:p>
          <a:p xmlns:a="http://schemas.openxmlformats.org/drawingml/2006/main">
            <a:r>
              <a:t>[Sources]</a:t>
            </a:r>
          </a:p>
          <a:p xmlns:a="http://schemas.openxmlformats.org/drawingml/2006/main">
            <a:r>
              <a:t>https://github.com/MattRoper1977/Lessons/blob/main/Science_Teesside/Grow/SCI_G_W4_Mechanisms.html</a:t>
            </a:r>
          </a:p>
          <a:p xmlns:a="http://schemas.openxmlformats.org/drawingml/2006/main">
            <a:r>
              <a:t>Git blob: 8aa3e1f001c3d3c944207d4eb44b93b1df4d7e46.</a:t>
            </a:r>
          </a:p>
          <a:p xmlns:a="http://schemas.openxmlformats.org/drawingml/2006/main">
            <a:r>
              <a:t>SHA256: a2d4bd4b2ec87aace94167b285bd1724bb9e2907f86a472b74b84fa48ffa53a0.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bbaddf4c3a43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09af446f5442e8" /><Relationship Type="http://schemas.openxmlformats.org/officeDocument/2006/relationships/slideLayout" Target="/ppt/slideLayouts/slideLayout1.xml" Id="Ra96d35a9781a43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6d35a9781a43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2e7c6992a04c14" /><Relationship Type="http://schemas.openxmlformats.org/officeDocument/2006/relationships/notesSlide" Target="/ppt/notesSlides/notesSlide1.xml" Id="R1f78635b7dde4e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f25e02e0d84a4c" /><Relationship Type="http://schemas.openxmlformats.org/officeDocument/2006/relationships/notesSlide" Target="/ppt/notesSlides/notesSlide2.xml" Id="Rfce26ee2836148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cc852de4fb4f3d" /><Relationship Type="http://schemas.openxmlformats.org/officeDocument/2006/relationships/notesSlide" Target="/ppt/notesSlides/notesSlide3.xml" Id="Rd6d5d1c5ab6346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3063245bda4ff0" /><Relationship Type="http://schemas.openxmlformats.org/officeDocument/2006/relationships/notesSlide" Target="/ppt/notesSlides/notesSlide4.xml" Id="Rea4d344aff9240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14a50ac6794ac5" /><Relationship Type="http://schemas.openxmlformats.org/officeDocument/2006/relationships/notesSlide" Target="/ppt/notesSlides/notesSlide5.xml" Id="Rebd9df982a4342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cbc7e57ad04f73" /><Relationship Type="http://schemas.openxmlformats.org/officeDocument/2006/relationships/notesSlide" Target="/ppt/notesSlides/notesSlide6.xml" Id="Rbef496ea7d9641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e4c55bbe8d4464" /><Relationship Type="http://schemas.openxmlformats.org/officeDocument/2006/relationships/notesSlide" Target="/ppt/notesSlides/notesSlide7.xml" Id="R1254ed94906146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c98550cdfa41d1" /><Relationship Type="http://schemas.openxmlformats.org/officeDocument/2006/relationships/notesSlide" Target="/ppt/notesSlides/notesSlide8.xml" Id="R799159bbc0ca4b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1739b61de5496c" /><Relationship Type="http://schemas.openxmlformats.org/officeDocument/2006/relationships/notesSlide" Target="/ppt/notesSlides/notesSlide9.xml" Id="R831af1851ac248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f4bffb8dea4711" /><Relationship Type="http://schemas.openxmlformats.org/officeDocument/2006/relationships/notesSlide" Target="/ppt/notesSlides/notesSlide10.xml" Id="R3490dccc6e7646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3e6b5ca3ac4f23" /><Relationship Type="http://schemas.openxmlformats.org/officeDocument/2006/relationships/notesSlide" Target="/ppt/notesSlides/notesSlide11.xml" Id="Raca8bd811d7c42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87df11ff714af7" /><Relationship Type="http://schemas.openxmlformats.org/officeDocument/2006/relationships/notesSlide" Target="/ppt/notesSlides/notesSlide12.xml" Id="R1008db1764204f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f5c4d9a0354d13" /><Relationship Type="http://schemas.openxmlformats.org/officeDocument/2006/relationships/notesSlide" Target="/ppt/notesSlides/notesSlide13.xml" Id="R590fb00fa9ff4a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a2a05724984f19" /><Relationship Type="http://schemas.openxmlformats.org/officeDocument/2006/relationships/notesSlide" Target="/ppt/notesSlides/notesSlide14.xml" Id="R31888edee83d4f31"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top-rule">
            <a:extLst xmlns:a="http://schemas.openxmlformats.org/drawingml/2006/main">
              <a:ext uri="{FF2B5EF4-FFF2-40B4-BE49-F238E27FC236}">
                <a16:creationId xmlns:a16="http://schemas.microsoft.com/office/drawing/2014/main" id="{B1B5B3B5-73E5-47F3-9636-38736F55EB7F}"/>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A4D5104-76A5-4C4E-B127-320BC8B619C0}"/>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D4FE6014-A8E0-4048-BB64-4164A461FAB8}"/>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Levers, pulleys and gears</a:t>
            </a:r>
          </a:p>
        </p:txBody>
      </p:sp>
      <p:sp>
        <p:nvSpPr>
          <p:cNvPr id="4" name="footer-line">
            <a:extLst xmlns:a="http://schemas.openxmlformats.org/drawingml/2006/main">
              <a:ext uri="{FF2B5EF4-FFF2-40B4-BE49-F238E27FC236}">
                <a16:creationId xmlns:a16="http://schemas.microsoft.com/office/drawing/2014/main" id="{16686260-0F36-4DCB-BABC-A92A1EFF3885}"/>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111557AA-6A01-4E5F-99EB-9A1E08C67ECE}"/>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233C85DA-8E33-48E3-8570-52B7E382120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01</a:t>
            </a:r>
          </a:p>
        </p:txBody>
      </p:sp>
      <p:sp>
        <p:nvSpPr>
          <p:cNvPr id="7" name="subtitle">
            <a:extLst xmlns:a="http://schemas.openxmlformats.org/drawingml/2006/main">
              <a:ext uri="{FF2B5EF4-FFF2-40B4-BE49-F238E27FC236}">
                <a16:creationId xmlns:a16="http://schemas.microsoft.com/office/drawing/2014/main" id="{6388F353-49CF-496D-9C08-DF11E1775667}"/>
              </a:ext>
            </a:extLst>
          </p:cNvPr>
          <p:cNvSpPr>
            <a:spLocks xmlns:a="http://schemas.openxmlformats.org/drawingml/2006/main" noGrp="1"/>
          </p:cNvSpPr>
          <p:nvPr/>
        </p:nvSpPr>
        <p:spPr>
          <a:xfrm xmlns:a="http://schemas.openxmlformats.org/drawingml/2006/main">
            <a:off x="609600" y="2809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900" b="1">
                <a:solidFill>
                  <a:srgbClr val="28685E"/>
                </a:solidFill>
              </a:defRPr>
            </a:pPr>
            <a:r>
              <a:rPr sz="3900" b="1">
                <a:solidFill>
                  <a:srgbClr val="28685E"/>
                </a:solidFill>
              </a:rPr>
              <a:t>Change the force. Notice the trade-off.</a:t>
            </a:r>
          </a:p>
        </p:txBody>
      </p:sp>
      <p:sp>
        <p:nvSpPr>
          <p:cNvPr id="8" name="body">
            <a:extLst xmlns:a="http://schemas.openxmlformats.org/drawingml/2006/main">
              <a:ext uri="{FF2B5EF4-FFF2-40B4-BE49-F238E27FC236}">
                <a16:creationId xmlns:a16="http://schemas.microsoft.com/office/drawing/2014/main" id="{008376DA-4675-412D-995C-8048EF2D0EBB}"/>
              </a:ext>
            </a:extLst>
          </p:cNvPr>
          <p:cNvSpPr>
            <a:spLocks xmlns:a="http://schemas.openxmlformats.org/drawingml/2006/main" noGrp="1"/>
          </p:cNvSpPr>
          <p:nvPr/>
        </p:nvSpPr>
        <p:spPr>
          <a:xfrm xmlns:a="http://schemas.openxmlformats.org/drawingml/2006/main">
            <a:off x="609600" y="414337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Name mechanisms, find a pivot and explain a gain and a cost.</a:t>
            </a:r>
          </a:p>
        </p:txBody>
      </p:sp>
    </p:spTree>
    <p:extLst>
      <p:ext uri="{BB962C8B-B14F-4D97-AF65-F5344CB8AC3E}">
        <p14:creationId xmlns:p14="http://schemas.microsoft.com/office/powerpoint/2010/main" val="1746961772"/>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4C871474-2230-4104-8939-D2755AC80103}"/>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AB28240-1A75-4D5C-8156-422E5A6E31EF}"/>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8914C61E-BB62-4E8C-9FBF-1932D28E9DB7}"/>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Find the turning point</a:t>
            </a:r>
          </a:p>
        </p:txBody>
      </p:sp>
      <p:sp>
        <p:nvSpPr>
          <p:cNvPr id="4" name="footer-line">
            <a:extLst xmlns:a="http://schemas.openxmlformats.org/drawingml/2006/main">
              <a:ext uri="{FF2B5EF4-FFF2-40B4-BE49-F238E27FC236}">
                <a16:creationId xmlns:a16="http://schemas.microsoft.com/office/drawing/2014/main" id="{AE786436-EF5D-4281-9D25-EB2036476F1F}"/>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C1DC33F3-8E03-40D6-B08E-DEC5B4ABC433}"/>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5F3176EF-D22E-4C42-90D3-C68092286C9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02</a:t>
            </a:r>
          </a:p>
        </p:txBody>
      </p:sp>
      <p:sp>
        <p:nvSpPr>
          <p:cNvPr id="7" name="line-0">
            <a:extLst xmlns:a="http://schemas.openxmlformats.org/drawingml/2006/main">
              <a:ext uri="{FF2B5EF4-FFF2-40B4-BE49-F238E27FC236}">
                <a16:creationId xmlns:a16="http://schemas.microsoft.com/office/drawing/2014/main" id="{27339E50-2E54-4720-85C2-96550363B510}"/>
              </a:ext>
            </a:extLst>
          </p:cNvPr>
          <p:cNvSpPr>
            <a:spLocks xmlns:a="http://schemas.openxmlformats.org/drawingml/2006/main" noGrp="1"/>
          </p:cNvSpPr>
          <p:nvPr/>
        </p:nvSpPr>
        <p:spPr>
          <a:xfrm xmlns:a="http://schemas.openxmlformats.org/drawingml/2006/main">
            <a:off x="609600" y="25241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Supported: point to where scissors turn.</a:t>
            </a:r>
          </a:p>
        </p:txBody>
      </p:sp>
      <p:sp>
        <p:nvSpPr>
          <p:cNvPr id="8" name="line-1">
            <a:extLst xmlns:a="http://schemas.openxmlformats.org/drawingml/2006/main">
              <a:ext uri="{FF2B5EF4-FFF2-40B4-BE49-F238E27FC236}">
                <a16:creationId xmlns:a16="http://schemas.microsoft.com/office/drawing/2014/main" id="{274713E0-FC16-406A-A326-BC474D2C6C58}"/>
              </a:ext>
            </a:extLst>
          </p:cNvPr>
          <p:cNvSpPr>
            <a:spLocks xmlns:a="http://schemas.openxmlformats.org/drawingml/2006/main" noGrp="1"/>
          </p:cNvSpPr>
          <p:nvPr/>
        </p:nvSpPr>
        <p:spPr>
          <a:xfrm xmlns:a="http://schemas.openxmlformats.org/drawingml/2006/main">
            <a:off x="609600" y="3381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Standard: name that turning point.</a:t>
            </a:r>
          </a:p>
        </p:txBody>
      </p:sp>
      <p:sp>
        <p:nvSpPr>
          <p:cNvPr id="9" name="line-2">
            <a:extLst xmlns:a="http://schemas.openxmlformats.org/drawingml/2006/main">
              <a:ext uri="{FF2B5EF4-FFF2-40B4-BE49-F238E27FC236}">
                <a16:creationId xmlns:a16="http://schemas.microsoft.com/office/drawing/2014/main" id="{9FD01B03-444E-4488-AEC3-C0B72B9EB0B8}"/>
              </a:ext>
            </a:extLst>
          </p:cNvPr>
          <p:cNvSpPr>
            <a:spLocks xmlns:a="http://schemas.openxmlformats.org/drawingml/2006/main" noGrp="1"/>
          </p:cNvSpPr>
          <p:nvPr/>
        </p:nvSpPr>
        <p:spPr>
          <a:xfrm xmlns:a="http://schemas.openxmlformats.org/drawingml/2006/main">
            <a:off x="609600" y="4238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Stretch: find it on a wheelbarrow drawing too.</a:t>
            </a:r>
          </a:p>
        </p:txBody>
      </p:sp>
      <p:sp>
        <p:nvSpPr>
          <p:cNvPr id="10" name="callout">
            <a:extLst xmlns:a="http://schemas.openxmlformats.org/drawingml/2006/main">
              <a:ext uri="{FF2B5EF4-FFF2-40B4-BE49-F238E27FC236}">
                <a16:creationId xmlns:a16="http://schemas.microsoft.com/office/drawing/2014/main" id="{18D598B5-F5AF-4309-AE99-1E211997F1EE}"/>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00" b="1">
                <a:solidFill>
                  <a:srgbClr val="28685E"/>
                </a:solidFill>
              </a:defRPr>
            </a:pPr>
            <a:r>
              <a:rPr sz="2100" b="1">
                <a:solidFill>
                  <a:srgbClr val="28685E"/>
                </a:solidFill>
              </a:rPr>
              <a:t>Look, point, describe or draw.</a:t>
            </a:r>
          </a:p>
        </p:txBody>
      </p:sp>
    </p:spTree>
    <p:extLst>
      <p:ext uri="{BB962C8B-B14F-4D97-AF65-F5344CB8AC3E}">
        <p14:creationId xmlns:p14="http://schemas.microsoft.com/office/powerpoint/2010/main" val="873766506"/>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top-rule">
            <a:extLst xmlns:a="http://schemas.openxmlformats.org/drawingml/2006/main">
              <a:ext uri="{FF2B5EF4-FFF2-40B4-BE49-F238E27FC236}">
                <a16:creationId xmlns:a16="http://schemas.microsoft.com/office/drawing/2014/main" id="{7794A57E-8632-4FCD-88E1-1A29B3641F7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14547191-03F8-4BC6-B4BA-26E1D5087937}"/>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4BD12256-3AC0-4F83-902B-B79C3412E7ED}"/>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Check the wheelbarrow’s pivot</a:t>
            </a:r>
          </a:p>
        </p:txBody>
      </p:sp>
      <p:sp>
        <p:nvSpPr>
          <p:cNvPr id="4" name="footer-line">
            <a:extLst xmlns:a="http://schemas.openxmlformats.org/drawingml/2006/main">
              <a:ext uri="{FF2B5EF4-FFF2-40B4-BE49-F238E27FC236}">
                <a16:creationId xmlns:a16="http://schemas.microsoft.com/office/drawing/2014/main" id="{F6413AAF-9E9B-45A3-96A4-2790E6510D26}"/>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8BAD34E5-0351-4566-8EE2-ED889FA79A1B}"/>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FBE05C59-5FDF-44D0-B120-7C9FAA7A25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03</a:t>
            </a:r>
          </a:p>
        </p:txBody>
      </p:sp>
      <p:sp>
        <p:nvSpPr>
          <p:cNvPr id="7" name="diagram-shape-0">
            <a:extLst xmlns:a="http://schemas.openxmlformats.org/drawingml/2006/main">
              <a:ext uri="{FF2B5EF4-FFF2-40B4-BE49-F238E27FC236}">
                <a16:creationId xmlns:a16="http://schemas.microsoft.com/office/drawing/2014/main" id="{33346F7D-72BC-4F25-8B61-D40FCB6F2A53}"/>
              </a:ext>
            </a:extLst>
          </p:cNvPr>
          <p:cNvSpPr>
            <a:spLocks xmlns:a="http://schemas.openxmlformats.org/drawingml/2006/main" noGrp="1"/>
          </p:cNvSpPr>
          <p:nvPr/>
        </p:nvSpPr>
        <p:spPr>
          <a:xfrm xmlns:a="http://schemas.openxmlformats.org/drawingml/2006/main">
            <a:off x="1981200" y="4610100"/>
            <a:ext cx="3619500" cy="152400"/>
          </a:xfrm>
          <a:prstGeom xmlns:a="http://schemas.openxmlformats.org/drawingml/2006/main" prst="rect">
            <a:avLst/>
          </a:prstGeom>
          <a:solidFill xmlns:a="http://schemas.openxmlformats.org/drawingml/2006/main">
            <a:srgbClr val="50616B"/>
          </a:solidFill>
          <a:ln xmlns:a="http://schemas.openxmlformats.org/drawingml/2006/main" w="0">
            <a:noFill/>
            <a:prstDash val="solid"/>
          </a:ln>
        </p:spPr>
      </p:sp>
      <p:sp>
        <p:nvSpPr>
          <p:cNvPr id="8" name="diagram-shape-1">
            <a:extLst xmlns:a="http://schemas.openxmlformats.org/drawingml/2006/main">
              <a:ext uri="{FF2B5EF4-FFF2-40B4-BE49-F238E27FC236}">
                <a16:creationId xmlns:a16="http://schemas.microsoft.com/office/drawing/2014/main" id="{9C172592-0C6C-411B-9803-C3E3E2A357E8}"/>
              </a:ext>
            </a:extLst>
          </p:cNvPr>
          <p:cNvSpPr>
            <a:spLocks xmlns:a="http://schemas.openxmlformats.org/drawingml/2006/main" noGrp="1"/>
          </p:cNvSpPr>
          <p:nvPr/>
        </p:nvSpPr>
        <p:spPr>
          <a:xfrm xmlns:a="http://schemas.openxmlformats.org/drawingml/2006/main">
            <a:off x="2524125" y="3667125"/>
            <a:ext cx="2095500" cy="942975"/>
          </a:xfrm>
          <a:prstGeom xmlns:a="http://schemas.openxmlformats.org/drawingml/2006/main" prst="rect">
            <a:avLst/>
          </a:prstGeom>
          <a:solidFill xmlns:a="http://schemas.openxmlformats.org/drawingml/2006/main">
            <a:srgbClr val="DCE7DD"/>
          </a:solidFill>
          <a:ln xmlns:a="http://schemas.openxmlformats.org/drawingml/2006/main" w="19050">
            <a:solidFill>
              <a:srgbClr val="152B3A"/>
            </a:solidFill>
            <a:prstDash val="solid"/>
          </a:ln>
        </p:spPr>
      </p:sp>
      <p:sp>
        <p:nvSpPr>
          <p:cNvPr id="9" name="diagram-shape-2">
            <a:extLst xmlns:a="http://schemas.openxmlformats.org/drawingml/2006/main">
              <a:ext uri="{FF2B5EF4-FFF2-40B4-BE49-F238E27FC236}">
                <a16:creationId xmlns:a16="http://schemas.microsoft.com/office/drawing/2014/main" id="{BA881019-F704-424C-8F63-7694D88C6DAE}"/>
              </a:ext>
            </a:extLst>
          </p:cNvPr>
          <p:cNvSpPr>
            <a:spLocks xmlns:a="http://schemas.openxmlformats.org/drawingml/2006/main" noGrp="1"/>
          </p:cNvSpPr>
          <p:nvPr/>
        </p:nvSpPr>
        <p:spPr>
          <a:xfrm xmlns:a="http://schemas.openxmlformats.org/drawingml/2006/main">
            <a:off x="1447800" y="4162425"/>
            <a:ext cx="1028700" cy="1028700"/>
          </a:xfrm>
          <a:prstGeom xmlns:a="http://schemas.openxmlformats.org/drawingml/2006/main" prst="ellipse">
            <a:avLst/>
          </a:prstGeom>
          <a:solidFill xmlns:a="http://schemas.openxmlformats.org/drawingml/2006/main">
            <a:srgbClr val="DCE7DD"/>
          </a:solidFill>
          <a:ln xmlns:a="http://schemas.openxmlformats.org/drawingml/2006/main" w="19050">
            <a:solidFill>
              <a:srgbClr val="152B3A"/>
            </a:solidFill>
            <a:prstDash val="solid"/>
          </a:ln>
        </p:spPr>
      </p:sp>
      <p:sp>
        <p:nvSpPr>
          <p:cNvPr id="10" name="diagram-shape-3">
            <a:extLst xmlns:a="http://schemas.openxmlformats.org/drawingml/2006/main">
              <a:ext uri="{FF2B5EF4-FFF2-40B4-BE49-F238E27FC236}">
                <a16:creationId xmlns:a16="http://schemas.microsoft.com/office/drawing/2014/main" id="{767B3BD4-D7F2-461D-A6A2-C65F4B9D2B2E}"/>
              </a:ext>
            </a:extLst>
          </p:cNvPr>
          <p:cNvSpPr>
            <a:spLocks xmlns:a="http://schemas.openxmlformats.org/drawingml/2006/main" noGrp="1"/>
          </p:cNvSpPr>
          <p:nvPr/>
        </p:nvSpPr>
        <p:spPr>
          <a:xfrm xmlns:a="http://schemas.openxmlformats.org/drawingml/2006/main">
            <a:off x="1885950" y="4600575"/>
            <a:ext cx="152400" cy="152400"/>
          </a:xfrm>
          <a:prstGeom xmlns:a="http://schemas.openxmlformats.org/drawingml/2006/main" prst="ellipse">
            <a:avLst/>
          </a:prstGeom>
          <a:solidFill xmlns:a="http://schemas.openxmlformats.org/drawingml/2006/main">
            <a:srgbClr val="A65D25"/>
          </a:solidFill>
          <a:ln xmlns:a="http://schemas.openxmlformats.org/drawingml/2006/main" w="0">
            <a:noFill/>
            <a:prstDash val="solid"/>
          </a:ln>
        </p:spPr>
      </p:sp>
      <p:sp>
        <p:nvSpPr>
          <p:cNvPr id="11" name="diagram-label-4">
            <a:extLst xmlns:a="http://schemas.openxmlformats.org/drawingml/2006/main">
              <a:ext uri="{FF2B5EF4-FFF2-40B4-BE49-F238E27FC236}">
                <a16:creationId xmlns:a16="http://schemas.microsoft.com/office/drawing/2014/main" id="{89FEEC94-73EC-4F16-A616-CE3D84F96FB8}"/>
              </a:ext>
            </a:extLst>
          </p:cNvPr>
          <p:cNvSpPr>
            <a:spLocks xmlns:a="http://schemas.openxmlformats.org/drawingml/2006/main" noGrp="1"/>
          </p:cNvSpPr>
          <p:nvPr/>
        </p:nvSpPr>
        <p:spPr>
          <a:xfrm xmlns:a="http://schemas.openxmlformats.org/drawingml/2006/main">
            <a:off x="2600325" y="3209925"/>
            <a:ext cx="2619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950" b="1">
                <a:solidFill>
                  <a:srgbClr val="152B3A"/>
                </a:solidFill>
              </a:defRPr>
            </a:pPr>
            <a:r>
              <a:rPr sz="1950" b="1">
                <a:solidFill>
                  <a:srgbClr val="152B3A"/>
                </a:solidFill>
              </a:rPr>
              <a:t>LOAD IN TRAY</a:t>
            </a:r>
          </a:p>
        </p:txBody>
      </p:sp>
      <p:sp>
        <p:nvSpPr>
          <p:cNvPr id="12" name="diagram-label-5">
            <a:extLst xmlns:a="http://schemas.openxmlformats.org/drawingml/2006/main">
              <a:ext uri="{FF2B5EF4-FFF2-40B4-BE49-F238E27FC236}">
                <a16:creationId xmlns:a16="http://schemas.microsoft.com/office/drawing/2014/main" id="{E9139172-E4EC-4F22-BE29-2CB1702FE01F}"/>
              </a:ext>
            </a:extLst>
          </p:cNvPr>
          <p:cNvSpPr>
            <a:spLocks xmlns:a="http://schemas.openxmlformats.org/drawingml/2006/main" noGrp="1"/>
          </p:cNvSpPr>
          <p:nvPr/>
        </p:nvSpPr>
        <p:spPr>
          <a:xfrm xmlns:a="http://schemas.openxmlformats.org/drawingml/2006/main">
            <a:off x="4810125" y="4095750"/>
            <a:ext cx="142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800" b="1">
                <a:solidFill>
                  <a:srgbClr val="152B3A"/>
                </a:solidFill>
              </a:defRPr>
            </a:pPr>
            <a:r>
              <a:rPr sz="1800" b="1">
                <a:solidFill>
                  <a:srgbClr val="152B3A"/>
                </a:solidFill>
              </a:rPr>
              <a:t>handles</a:t>
            </a:r>
          </a:p>
        </p:txBody>
      </p:sp>
      <p:sp>
        <p:nvSpPr>
          <p:cNvPr id="13" name="diagram-label-6">
            <a:extLst xmlns:a="http://schemas.openxmlformats.org/drawingml/2006/main">
              <a:ext uri="{FF2B5EF4-FFF2-40B4-BE49-F238E27FC236}">
                <a16:creationId xmlns:a16="http://schemas.microsoft.com/office/drawing/2014/main" id="{55291B14-C0E8-407B-97FE-432477029B46}"/>
              </a:ext>
            </a:extLst>
          </p:cNvPr>
          <p:cNvSpPr>
            <a:spLocks xmlns:a="http://schemas.openxmlformats.org/drawingml/2006/main" noGrp="1"/>
          </p:cNvSpPr>
          <p:nvPr/>
        </p:nvSpPr>
        <p:spPr>
          <a:xfrm xmlns:a="http://schemas.openxmlformats.org/drawingml/2006/main">
            <a:off x="866775" y="52863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950" b="1">
                <a:solidFill>
                  <a:srgbClr val="152B3A"/>
                </a:solidFill>
              </a:defRPr>
            </a:pPr>
            <a:r>
              <a:rPr sz="1950" b="1">
                <a:solidFill>
                  <a:srgbClr val="152B3A"/>
                </a:solidFill>
              </a:rPr>
              <a:t>PIVOT: wheel axle</a:t>
            </a:r>
          </a:p>
        </p:txBody>
      </p:sp>
      <p:sp>
        <p:nvSpPr>
          <p:cNvPr id="14" name="diagram-body">
            <a:extLst xmlns:a="http://schemas.openxmlformats.org/drawingml/2006/main">
              <a:ext uri="{FF2B5EF4-FFF2-40B4-BE49-F238E27FC236}">
                <a16:creationId xmlns:a16="http://schemas.microsoft.com/office/drawing/2014/main" id="{3A0536FE-83EA-4C80-A79C-5ACD25D57484}"/>
              </a:ext>
            </a:extLst>
          </p:cNvPr>
          <p:cNvSpPr>
            <a:spLocks xmlns:a="http://schemas.openxmlformats.org/drawingml/2006/main" noGrp="1"/>
          </p:cNvSpPr>
          <p:nvPr/>
        </p:nvSpPr>
        <p:spPr>
          <a:xfrm xmlns:a="http://schemas.openxmlformats.org/drawingml/2006/main">
            <a:off x="6667500" y="2714625"/>
            <a:ext cx="4857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1">
                <a:solidFill>
                  <a:srgbClr val="152B3A"/>
                </a:solidFill>
              </a:defRPr>
            </a:pPr>
            <a:r>
              <a:rPr sz="2550" b="1">
                <a:solidFill>
                  <a:srgbClr val="152B3A"/>
                </a:solidFill>
              </a:rPr>
              <a:t>The wheel axle is the turning point when you lift the handles.</a:t>
            </a:r>
          </a:p>
        </p:txBody>
      </p:sp>
      <p:sp>
        <p:nvSpPr>
          <p:cNvPr id="15" name="diagram-callout">
            <a:extLst xmlns:a="http://schemas.openxmlformats.org/drawingml/2006/main">
              <a:ext uri="{FF2B5EF4-FFF2-40B4-BE49-F238E27FC236}">
                <a16:creationId xmlns:a16="http://schemas.microsoft.com/office/drawing/2014/main" id="{263A2CB2-0100-4B78-B95C-5FD4D87A7B05}"/>
              </a:ext>
            </a:extLst>
          </p:cNvPr>
          <p:cNvSpPr>
            <a:spLocks xmlns:a="http://schemas.openxmlformats.org/drawingml/2006/main" noGrp="1"/>
          </p:cNvSpPr>
          <p:nvPr/>
        </p:nvSpPr>
        <p:spPr>
          <a:xfrm xmlns:a="http://schemas.openxmlformats.org/drawingml/2006/main">
            <a:off x="6667500" y="4714875"/>
            <a:ext cx="4857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28685E"/>
                </a:solidFill>
              </a:defRPr>
            </a:pPr>
            <a:r>
              <a:rPr sz="2175" b="0">
                <a:solidFill>
                  <a:srgbClr val="28685E"/>
                </a:solidFill>
              </a:rPr>
              <a:t>A wheelbarrow is a lever. The load sits between pivot and effort.</a:t>
            </a:r>
          </a:p>
        </p:txBody>
      </p:sp>
    </p:spTree>
    <p:extLst>
      <p:ext uri="{BB962C8B-B14F-4D97-AF65-F5344CB8AC3E}">
        <p14:creationId xmlns:p14="http://schemas.microsoft.com/office/powerpoint/2010/main" val="140751272"/>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AC66E1DE-DF9F-48C2-9B2C-13903761D9A5}"/>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7EF3DA1-471E-49EC-B033-4E66CB779FF0}"/>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2E7E2B2A-5C5D-4687-816A-7FB30EA6F145}"/>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Three things to notice</a:t>
            </a:r>
          </a:p>
        </p:txBody>
      </p:sp>
      <p:sp>
        <p:nvSpPr>
          <p:cNvPr id="4" name="footer-line">
            <a:extLst xmlns:a="http://schemas.openxmlformats.org/drawingml/2006/main">
              <a:ext uri="{FF2B5EF4-FFF2-40B4-BE49-F238E27FC236}">
                <a16:creationId xmlns:a16="http://schemas.microsoft.com/office/drawing/2014/main" id="{8698F886-CA24-418B-A1A4-C3E3D54F6DC7}"/>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B69FA1E5-5CD4-4333-A5C8-D511F3ACE98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5347A93D-5AAB-4659-A801-11AC352E27B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04</a:t>
            </a:r>
          </a:p>
        </p:txBody>
      </p:sp>
      <p:sp>
        <p:nvSpPr>
          <p:cNvPr id="7" name="line-0">
            <a:extLst xmlns:a="http://schemas.openxmlformats.org/drawingml/2006/main">
              <a:ext uri="{FF2B5EF4-FFF2-40B4-BE49-F238E27FC236}">
                <a16:creationId xmlns:a16="http://schemas.microsoft.com/office/drawing/2014/main" id="{EC8FD3A2-DF91-4789-90C4-8C649F3B8EEA}"/>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1   Find the pivot.</a:t>
            </a:r>
          </a:p>
        </p:txBody>
      </p:sp>
      <p:sp>
        <p:nvSpPr>
          <p:cNvPr id="8" name="line-1">
            <a:extLst xmlns:a="http://schemas.openxmlformats.org/drawingml/2006/main">
              <a:ext uri="{FF2B5EF4-FFF2-40B4-BE49-F238E27FC236}">
                <a16:creationId xmlns:a16="http://schemas.microsoft.com/office/drawing/2014/main" id="{FA877B4C-842F-41B9-BFF7-274405C8D34F}"/>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2   Move it and compare the effort.</a:t>
            </a:r>
          </a:p>
        </p:txBody>
      </p:sp>
      <p:sp>
        <p:nvSpPr>
          <p:cNvPr id="9" name="line-2">
            <a:extLst xmlns:a="http://schemas.openxmlformats.org/drawingml/2006/main">
              <a:ext uri="{FF2B5EF4-FFF2-40B4-BE49-F238E27FC236}">
                <a16:creationId xmlns:a16="http://schemas.microsoft.com/office/drawing/2014/main" id="{7AE40BFB-270E-4B51-8F9C-08475832950B}"/>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3   Explain what you gain and what it costs.</a:t>
            </a:r>
          </a:p>
        </p:txBody>
      </p:sp>
    </p:spTree>
    <p:extLst>
      <p:ext uri="{BB962C8B-B14F-4D97-AF65-F5344CB8AC3E}">
        <p14:creationId xmlns:p14="http://schemas.microsoft.com/office/powerpoint/2010/main" val="44710177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7" name="top-rule">
            <a:extLst xmlns:a="http://schemas.openxmlformats.org/drawingml/2006/main">
              <a:ext uri="{FF2B5EF4-FFF2-40B4-BE49-F238E27FC236}">
                <a16:creationId xmlns:a16="http://schemas.microsoft.com/office/drawing/2014/main" id="{CB0E0C24-3F12-410B-8073-D90E4EA3E541}"/>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44C7DD1-8693-4B5C-9FE8-A905BA49E6DA}"/>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1608E672-C4E2-4A8F-889F-2A4DFF905A3A}"/>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A lever turns about a pivot</a:t>
            </a:r>
          </a:p>
        </p:txBody>
      </p:sp>
      <p:sp>
        <p:nvSpPr>
          <p:cNvPr id="4" name="footer-line">
            <a:extLst xmlns:a="http://schemas.openxmlformats.org/drawingml/2006/main">
              <a:ext uri="{FF2B5EF4-FFF2-40B4-BE49-F238E27FC236}">
                <a16:creationId xmlns:a16="http://schemas.microsoft.com/office/drawing/2014/main" id="{7843B460-8056-47E7-B0E0-3EC8108B3CBD}"/>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EC5DC685-B529-435E-98B2-9F350B28F96A}"/>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9CFDCC56-DCF7-49FD-8922-61910488398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05</a:t>
            </a:r>
          </a:p>
        </p:txBody>
      </p:sp>
      <p:sp>
        <p:nvSpPr>
          <p:cNvPr id="7" name="diagram-shape-0">
            <a:extLst xmlns:a="http://schemas.openxmlformats.org/drawingml/2006/main">
              <a:ext uri="{FF2B5EF4-FFF2-40B4-BE49-F238E27FC236}">
                <a16:creationId xmlns:a16="http://schemas.microsoft.com/office/drawing/2014/main" id="{F419CE73-A7EF-434F-B3E2-517B1DBC152C}"/>
              </a:ext>
            </a:extLst>
          </p:cNvPr>
          <p:cNvSpPr>
            <a:spLocks xmlns:a="http://schemas.openxmlformats.org/drawingml/2006/main" noGrp="1"/>
          </p:cNvSpPr>
          <p:nvPr/>
        </p:nvSpPr>
        <p:spPr>
          <a:xfrm xmlns:a="http://schemas.openxmlformats.org/drawingml/2006/main">
            <a:off x="1095375" y="2876550"/>
            <a:ext cx="304800" cy="714375"/>
          </a:xfrm>
          <a:prstGeom xmlns:a="http://schemas.openxmlformats.org/drawingml/2006/main" prst="downArrow">
            <a:avLst/>
          </a:prstGeom>
          <a:solidFill xmlns:a="http://schemas.openxmlformats.org/drawingml/2006/main">
            <a:srgbClr val="28685E"/>
          </a:solidFill>
          <a:ln xmlns:a="http://schemas.openxmlformats.org/drawingml/2006/main" w="0">
            <a:noFill/>
            <a:prstDash val="solid"/>
          </a:ln>
        </p:spPr>
      </p:sp>
      <p:sp>
        <p:nvSpPr>
          <p:cNvPr id="8" name="diagram-shape-1">
            <a:extLst xmlns:a="http://schemas.openxmlformats.org/drawingml/2006/main">
              <a:ext uri="{FF2B5EF4-FFF2-40B4-BE49-F238E27FC236}">
                <a16:creationId xmlns:a16="http://schemas.microsoft.com/office/drawing/2014/main" id="{4096319B-FD29-489E-84B9-868862F94821}"/>
              </a:ext>
            </a:extLst>
          </p:cNvPr>
          <p:cNvSpPr>
            <a:spLocks xmlns:a="http://schemas.openxmlformats.org/drawingml/2006/main" noGrp="1"/>
          </p:cNvSpPr>
          <p:nvPr/>
        </p:nvSpPr>
        <p:spPr>
          <a:xfrm xmlns:a="http://schemas.openxmlformats.org/drawingml/2006/main">
            <a:off x="5086350" y="2800350"/>
            <a:ext cx="304800" cy="714375"/>
          </a:xfrm>
          <a:prstGeom xmlns:a="http://schemas.openxmlformats.org/drawingml/2006/main" prst="upArrow">
            <a:avLst/>
          </a:prstGeom>
          <a:solidFill xmlns:a="http://schemas.openxmlformats.org/drawingml/2006/main">
            <a:srgbClr val="A65D25"/>
          </a:solidFill>
          <a:ln xmlns:a="http://schemas.openxmlformats.org/drawingml/2006/main" w="0">
            <a:noFill/>
            <a:prstDash val="solid"/>
          </a:ln>
        </p:spPr>
      </p:sp>
      <p:sp>
        <p:nvSpPr>
          <p:cNvPr id="9" name="diagram-shape-2">
            <a:extLst xmlns:a="http://schemas.openxmlformats.org/drawingml/2006/main">
              <a:ext uri="{FF2B5EF4-FFF2-40B4-BE49-F238E27FC236}">
                <a16:creationId xmlns:a16="http://schemas.microsoft.com/office/drawing/2014/main" id="{7973563C-EF13-4C14-B6F4-A2DF6C78A2BB}"/>
              </a:ext>
            </a:extLst>
          </p:cNvPr>
          <p:cNvSpPr>
            <a:spLocks xmlns:a="http://schemas.openxmlformats.org/drawingml/2006/main" noGrp="1"/>
          </p:cNvSpPr>
          <p:nvPr/>
        </p:nvSpPr>
        <p:spPr>
          <a:xfrm xmlns:a="http://schemas.openxmlformats.org/drawingml/2006/main">
            <a:off x="952500" y="3790950"/>
            <a:ext cx="4610100" cy="209550"/>
          </a:xfrm>
          <a:prstGeom xmlns:a="http://schemas.openxmlformats.org/drawingml/2006/main" prst="rect">
            <a:avLst/>
          </a:prstGeom>
          <a:solidFill xmlns:a="http://schemas.openxmlformats.org/drawingml/2006/main">
            <a:srgbClr val="50616B"/>
          </a:solidFill>
          <a:ln xmlns:a="http://schemas.openxmlformats.org/drawingml/2006/main" w="0">
            <a:noFill/>
            <a:prstDash val="solid"/>
          </a:ln>
        </p:spPr>
      </p:sp>
      <p:sp>
        <p:nvSpPr>
          <p:cNvPr id="10" name="diagram-shape-3">
            <a:extLst xmlns:a="http://schemas.openxmlformats.org/drawingml/2006/main">
              <a:ext uri="{FF2B5EF4-FFF2-40B4-BE49-F238E27FC236}">
                <a16:creationId xmlns:a16="http://schemas.microsoft.com/office/drawing/2014/main" id="{A3513644-7FE4-4462-9DC1-7335C14CB5A0}"/>
              </a:ext>
            </a:extLst>
          </p:cNvPr>
          <p:cNvSpPr>
            <a:spLocks xmlns:a="http://schemas.openxmlformats.org/drawingml/2006/main" noGrp="1"/>
          </p:cNvSpPr>
          <p:nvPr/>
        </p:nvSpPr>
        <p:spPr>
          <a:xfrm xmlns:a="http://schemas.openxmlformats.org/drawingml/2006/main">
            <a:off x="2809875" y="4000500"/>
            <a:ext cx="723900" cy="714375"/>
          </a:xfrm>
          <a:prstGeom xmlns:a="http://schemas.openxmlformats.org/drawingml/2006/main" prst="triangle">
            <a:avLst/>
          </a:prstGeom>
          <a:solidFill xmlns:a="http://schemas.openxmlformats.org/drawingml/2006/main">
            <a:srgbClr val="DCE7DD"/>
          </a:solidFill>
          <a:ln xmlns:a="http://schemas.openxmlformats.org/drawingml/2006/main" w="19050">
            <a:solidFill>
              <a:srgbClr val="152B3A"/>
            </a:solidFill>
            <a:prstDash val="solid"/>
          </a:ln>
        </p:spPr>
      </p:sp>
      <p:sp>
        <p:nvSpPr>
          <p:cNvPr id="11" name="diagram-shape-4">
            <a:extLst xmlns:a="http://schemas.openxmlformats.org/drawingml/2006/main">
              <a:ext uri="{FF2B5EF4-FFF2-40B4-BE49-F238E27FC236}">
                <a16:creationId xmlns:a16="http://schemas.microsoft.com/office/drawing/2014/main" id="{E4645918-F293-4B3B-9FF5-836CEA7268CB}"/>
              </a:ext>
            </a:extLst>
          </p:cNvPr>
          <p:cNvSpPr>
            <a:spLocks xmlns:a="http://schemas.openxmlformats.org/drawingml/2006/main" noGrp="1"/>
          </p:cNvSpPr>
          <p:nvPr/>
        </p:nvSpPr>
        <p:spPr>
          <a:xfrm xmlns:a="http://schemas.openxmlformats.org/drawingml/2006/main">
            <a:off x="4419600" y="3381375"/>
            <a:ext cx="495300" cy="409575"/>
          </a:xfrm>
          <a:prstGeom xmlns:a="http://schemas.openxmlformats.org/drawingml/2006/main" prst="rect">
            <a:avLst/>
          </a:prstGeom>
          <a:solidFill xmlns:a="http://schemas.openxmlformats.org/drawingml/2006/main">
            <a:srgbClr val="DCE7DD"/>
          </a:solidFill>
          <a:ln xmlns:a="http://schemas.openxmlformats.org/drawingml/2006/main" w="19050">
            <a:solidFill>
              <a:srgbClr val="152B3A"/>
            </a:solidFill>
            <a:prstDash val="solid"/>
          </a:ln>
        </p:spPr>
      </p:sp>
      <p:sp>
        <p:nvSpPr>
          <p:cNvPr id="12" name="diagram-label-5">
            <a:extLst xmlns:a="http://schemas.openxmlformats.org/drawingml/2006/main">
              <a:ext uri="{FF2B5EF4-FFF2-40B4-BE49-F238E27FC236}">
                <a16:creationId xmlns:a16="http://schemas.microsoft.com/office/drawing/2014/main" id="{4493CBAB-D230-42B2-9D87-A20A3E2F0DAB}"/>
              </a:ext>
            </a:extLst>
          </p:cNvPr>
          <p:cNvSpPr>
            <a:spLocks xmlns:a="http://schemas.openxmlformats.org/drawingml/2006/main" noGrp="1"/>
          </p:cNvSpPr>
          <p:nvPr/>
        </p:nvSpPr>
        <p:spPr>
          <a:xfrm xmlns:a="http://schemas.openxmlformats.org/drawingml/2006/main">
            <a:off x="666750" y="24765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875" b="1">
                <a:solidFill>
                  <a:srgbClr val="152B3A"/>
                </a:solidFill>
              </a:defRPr>
            </a:pPr>
            <a:r>
              <a:rPr sz="1875" b="1">
                <a:solidFill>
                  <a:srgbClr val="152B3A"/>
                </a:solidFill>
              </a:rPr>
              <a:t>EFFORT</a:t>
            </a:r>
          </a:p>
        </p:txBody>
      </p:sp>
      <p:sp>
        <p:nvSpPr>
          <p:cNvPr id="13" name="diagram-label-6">
            <a:extLst xmlns:a="http://schemas.openxmlformats.org/drawingml/2006/main">
              <a:ext uri="{FF2B5EF4-FFF2-40B4-BE49-F238E27FC236}">
                <a16:creationId xmlns:a16="http://schemas.microsoft.com/office/drawing/2014/main" id="{FFB55ECC-9DE7-4324-AAD0-76851B94D0EE}"/>
              </a:ext>
            </a:extLst>
          </p:cNvPr>
          <p:cNvSpPr>
            <a:spLocks xmlns:a="http://schemas.openxmlformats.org/drawingml/2006/main" noGrp="1"/>
          </p:cNvSpPr>
          <p:nvPr/>
        </p:nvSpPr>
        <p:spPr>
          <a:xfrm xmlns:a="http://schemas.openxmlformats.org/drawingml/2006/main">
            <a:off x="4029075" y="24765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875" b="1">
                <a:solidFill>
                  <a:srgbClr val="152B3A"/>
                </a:solidFill>
              </a:defRPr>
            </a:pPr>
            <a:r>
              <a:rPr sz="1875" b="1">
                <a:solidFill>
                  <a:srgbClr val="152B3A"/>
                </a:solidFill>
              </a:rPr>
              <a:t>LOAD</a:t>
            </a:r>
          </a:p>
        </p:txBody>
      </p:sp>
      <p:sp>
        <p:nvSpPr>
          <p:cNvPr id="14" name="diagram-label-7">
            <a:extLst xmlns:a="http://schemas.openxmlformats.org/drawingml/2006/main">
              <a:ext uri="{FF2B5EF4-FFF2-40B4-BE49-F238E27FC236}">
                <a16:creationId xmlns:a16="http://schemas.microsoft.com/office/drawing/2014/main" id="{0317A1C0-D064-4D07-A76F-68F067CB6EFD}"/>
              </a:ext>
            </a:extLst>
          </p:cNvPr>
          <p:cNvSpPr>
            <a:spLocks xmlns:a="http://schemas.openxmlformats.org/drawingml/2006/main" noGrp="1"/>
          </p:cNvSpPr>
          <p:nvPr/>
        </p:nvSpPr>
        <p:spPr>
          <a:xfrm xmlns:a="http://schemas.openxmlformats.org/drawingml/2006/main">
            <a:off x="2581275" y="488632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875" b="1">
                <a:solidFill>
                  <a:srgbClr val="152B3A"/>
                </a:solidFill>
              </a:defRPr>
            </a:pPr>
            <a:r>
              <a:rPr sz="1875" b="1">
                <a:solidFill>
                  <a:srgbClr val="152B3A"/>
                </a:solidFill>
              </a:rPr>
              <a:t>PIVOT</a:t>
            </a:r>
          </a:p>
        </p:txBody>
      </p:sp>
      <p:sp>
        <p:nvSpPr>
          <p:cNvPr id="15" name="diagram-body">
            <a:extLst xmlns:a="http://schemas.openxmlformats.org/drawingml/2006/main">
              <a:ext uri="{FF2B5EF4-FFF2-40B4-BE49-F238E27FC236}">
                <a16:creationId xmlns:a16="http://schemas.microsoft.com/office/drawing/2014/main" id="{5C13E66B-BDCA-4151-A282-7ADF5C72D145}"/>
              </a:ext>
            </a:extLst>
          </p:cNvPr>
          <p:cNvSpPr>
            <a:spLocks xmlns:a="http://schemas.openxmlformats.org/drawingml/2006/main" noGrp="1"/>
          </p:cNvSpPr>
          <p:nvPr/>
        </p:nvSpPr>
        <p:spPr>
          <a:xfrm xmlns:a="http://schemas.openxmlformats.org/drawingml/2006/main">
            <a:off x="6667500" y="2714625"/>
            <a:ext cx="4857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1">
                <a:solidFill>
                  <a:srgbClr val="152B3A"/>
                </a:solidFill>
              </a:defRPr>
            </a:pPr>
            <a:r>
              <a:rPr sz="2550" b="1">
                <a:solidFill>
                  <a:srgbClr val="152B3A"/>
                </a:solidFill>
              </a:rPr>
              <a:t>The effort pushes one end. The load rises at the other end.</a:t>
            </a:r>
          </a:p>
        </p:txBody>
      </p:sp>
      <p:sp>
        <p:nvSpPr>
          <p:cNvPr id="16" name="diagram-callout">
            <a:extLst xmlns:a="http://schemas.openxmlformats.org/drawingml/2006/main">
              <a:ext uri="{FF2B5EF4-FFF2-40B4-BE49-F238E27FC236}">
                <a16:creationId xmlns:a16="http://schemas.microsoft.com/office/drawing/2014/main" id="{E2DC1C74-C8B5-42E5-A0C3-2EED2F3546F3}"/>
              </a:ext>
            </a:extLst>
          </p:cNvPr>
          <p:cNvSpPr>
            <a:spLocks xmlns:a="http://schemas.openxmlformats.org/drawingml/2006/main" noGrp="1"/>
          </p:cNvSpPr>
          <p:nvPr/>
        </p:nvSpPr>
        <p:spPr>
          <a:xfrm xmlns:a="http://schemas.openxmlformats.org/drawingml/2006/main">
            <a:off x="6667500" y="4714875"/>
            <a:ext cx="4857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28685E"/>
                </a:solidFill>
              </a:defRPr>
            </a:pPr>
            <a:r>
              <a:rPr sz="2175" b="0">
                <a:solidFill>
                  <a:srgbClr val="28685E"/>
                </a:solidFill>
              </a:rPr>
              <a:t>The pivot is the turning point.</a:t>
            </a:r>
          </a:p>
        </p:txBody>
      </p:sp>
    </p:spTree>
    <p:extLst>
      <p:ext uri="{BB962C8B-B14F-4D97-AF65-F5344CB8AC3E}">
        <p14:creationId xmlns:p14="http://schemas.microsoft.com/office/powerpoint/2010/main" val="1295919807"/>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C474FBCE-8C41-4402-8AEE-0886336F9E03}"/>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A129199-5DDD-47D1-8475-48B976A7F718}"/>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1E32AC2C-CD36-408C-BC64-A118E0D2E7CE}"/>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Move the pivot, keep the load</a:t>
            </a:r>
          </a:p>
        </p:txBody>
      </p:sp>
      <p:sp>
        <p:nvSpPr>
          <p:cNvPr id="4" name="footer-line">
            <a:extLst xmlns:a="http://schemas.openxmlformats.org/drawingml/2006/main">
              <a:ext uri="{FF2B5EF4-FFF2-40B4-BE49-F238E27FC236}">
                <a16:creationId xmlns:a16="http://schemas.microsoft.com/office/drawing/2014/main" id="{924E47B4-901C-4FF9-AC5E-21B081EA8619}"/>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50A8477E-C330-44A6-8B6A-E52D0CEDB47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EA280F57-C807-4C2F-BAF1-51AF3929CDA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06</a:t>
            </a:r>
          </a:p>
        </p:txBody>
      </p:sp>
      <p:sp>
        <p:nvSpPr>
          <p:cNvPr id="7" name="line-0">
            <a:extLst xmlns:a="http://schemas.openxmlformats.org/drawingml/2006/main">
              <a:ext uri="{FF2B5EF4-FFF2-40B4-BE49-F238E27FC236}">
                <a16:creationId xmlns:a16="http://schemas.microsoft.com/office/drawing/2014/main" id="{3DC77179-CCC9-4F02-A882-D054FA96BA7C}"/>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Watch the adult use the middle pivot.</a:t>
            </a:r>
          </a:p>
        </p:txBody>
      </p:sp>
      <p:sp>
        <p:nvSpPr>
          <p:cNvPr id="8" name="line-1">
            <a:extLst xmlns:a="http://schemas.openxmlformats.org/drawingml/2006/main">
              <a:ext uri="{FF2B5EF4-FFF2-40B4-BE49-F238E27FC236}">
                <a16:creationId xmlns:a16="http://schemas.microsoft.com/office/drawing/2014/main" id="{EEB5E303-C365-4B23-8504-97590D6EE7B0}"/>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Predict what changes when it moves near the load.</a:t>
            </a:r>
          </a:p>
        </p:txBody>
      </p:sp>
      <p:sp>
        <p:nvSpPr>
          <p:cNvPr id="9" name="line-2">
            <a:extLst xmlns:a="http://schemas.openxmlformats.org/drawingml/2006/main">
              <a:ext uri="{FF2B5EF4-FFF2-40B4-BE49-F238E27FC236}">
                <a16:creationId xmlns:a16="http://schemas.microsoft.com/office/drawing/2014/main" id="{20C26CC2-6CFE-4F03-B15B-8030569A678C}"/>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the effort point and small load rise the same.</a:t>
            </a:r>
          </a:p>
        </p:txBody>
      </p:sp>
      <p:sp>
        <p:nvSpPr>
          <p:cNvPr id="10" name="line-3">
            <a:extLst xmlns:a="http://schemas.openxmlformats.org/drawingml/2006/main">
              <a:ext uri="{FF2B5EF4-FFF2-40B4-BE49-F238E27FC236}">
                <a16:creationId xmlns:a16="http://schemas.microsoft.com/office/drawing/2014/main" id="{173D2F48-678F-43C0-9CAE-5AF711E727C0}"/>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Compare the effort and the hand’s travel.</a:t>
            </a:r>
          </a:p>
        </p:txBody>
      </p:sp>
    </p:spTree>
    <p:extLst>
      <p:ext uri="{BB962C8B-B14F-4D97-AF65-F5344CB8AC3E}">
        <p14:creationId xmlns:p14="http://schemas.microsoft.com/office/powerpoint/2010/main" val="24433246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7827795D-954B-4E63-A351-D5EFCCD8778B}"/>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202914E-3079-4F6D-9FE9-45A731100EE9}"/>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AAF1581B-9C4C-45AF-9F02-DAFC70E286C9}"/>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Which objects are levers?</a:t>
            </a:r>
          </a:p>
        </p:txBody>
      </p:sp>
      <p:sp>
        <p:nvSpPr>
          <p:cNvPr id="4" name="footer-line">
            <a:extLst xmlns:a="http://schemas.openxmlformats.org/drawingml/2006/main">
              <a:ext uri="{FF2B5EF4-FFF2-40B4-BE49-F238E27FC236}">
                <a16:creationId xmlns:a16="http://schemas.microsoft.com/office/drawing/2014/main" id="{23EA5AF5-B1B2-4605-AEFD-0FDB9A216EF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E49A83A1-8005-4781-8618-30B4036172D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11873F0C-710D-4C92-9965-570EACA8D14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07</a:t>
            </a:r>
          </a:p>
        </p:txBody>
      </p:sp>
      <p:sp>
        <p:nvSpPr>
          <p:cNvPr id="7" name="line-0">
            <a:extLst xmlns:a="http://schemas.openxmlformats.org/drawingml/2006/main">
              <a:ext uri="{FF2B5EF4-FFF2-40B4-BE49-F238E27FC236}">
                <a16:creationId xmlns:a16="http://schemas.microsoft.com/office/drawing/2014/main" id="{7C4B1147-BA51-4C1A-BF7A-7536CBAD4D90}"/>
              </a:ext>
            </a:extLst>
          </p:cNvPr>
          <p:cNvSpPr>
            <a:spLocks xmlns:a="http://schemas.openxmlformats.org/drawingml/2006/main" noGrp="1"/>
          </p:cNvSpPr>
          <p:nvPr/>
        </p:nvSpPr>
        <p:spPr>
          <a:xfrm xmlns:a="http://schemas.openxmlformats.org/drawingml/2006/main">
            <a:off x="609600" y="25241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Wheelbarrow</a:t>
            </a:r>
          </a:p>
        </p:txBody>
      </p:sp>
      <p:sp>
        <p:nvSpPr>
          <p:cNvPr id="8" name="line-1">
            <a:extLst xmlns:a="http://schemas.openxmlformats.org/drawingml/2006/main">
              <a:ext uri="{FF2B5EF4-FFF2-40B4-BE49-F238E27FC236}">
                <a16:creationId xmlns:a16="http://schemas.microsoft.com/office/drawing/2014/main" id="{09D4D38A-BB84-4DC8-9580-D307123F18CD}"/>
              </a:ext>
            </a:extLst>
          </p:cNvPr>
          <p:cNvSpPr>
            <a:spLocks xmlns:a="http://schemas.openxmlformats.org/drawingml/2006/main" noGrp="1"/>
          </p:cNvSpPr>
          <p:nvPr/>
        </p:nvSpPr>
        <p:spPr>
          <a:xfrm xmlns:a="http://schemas.openxmlformats.org/drawingml/2006/main">
            <a:off x="609600" y="3381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Scissors</a:t>
            </a:r>
          </a:p>
        </p:txBody>
      </p:sp>
      <p:sp>
        <p:nvSpPr>
          <p:cNvPr id="9" name="line-2">
            <a:extLst xmlns:a="http://schemas.openxmlformats.org/drawingml/2006/main">
              <a:ext uri="{FF2B5EF4-FFF2-40B4-BE49-F238E27FC236}">
                <a16:creationId xmlns:a16="http://schemas.microsoft.com/office/drawing/2014/main" id="{10E6E376-540D-4B2F-89A5-1CFF5F78727E}"/>
              </a:ext>
            </a:extLst>
          </p:cNvPr>
          <p:cNvSpPr>
            <a:spLocks xmlns:a="http://schemas.openxmlformats.org/drawingml/2006/main" noGrp="1"/>
          </p:cNvSpPr>
          <p:nvPr/>
        </p:nvSpPr>
        <p:spPr>
          <a:xfrm xmlns:a="http://schemas.openxmlformats.org/drawingml/2006/main">
            <a:off x="609600" y="4238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Spanner on a bolt</a:t>
            </a:r>
          </a:p>
        </p:txBody>
      </p:sp>
      <p:sp>
        <p:nvSpPr>
          <p:cNvPr id="10" name="callout">
            <a:extLst xmlns:a="http://schemas.openxmlformats.org/drawingml/2006/main">
              <a:ext uri="{FF2B5EF4-FFF2-40B4-BE49-F238E27FC236}">
                <a16:creationId xmlns:a16="http://schemas.microsoft.com/office/drawing/2014/main" id="{7DE565D1-5266-496A-B7C9-31095F44DC4D}"/>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00" b="1">
                <a:solidFill>
                  <a:srgbClr val="28685E"/>
                </a:solidFill>
              </a:defRPr>
            </a:pPr>
            <a:r>
              <a:rPr sz="2100" b="1">
                <a:solidFill>
                  <a:srgbClr val="28685E"/>
                </a:solidFill>
              </a:rPr>
              <a:t>Point to a turning point before naming it.</a:t>
            </a:r>
          </a:p>
        </p:txBody>
      </p:sp>
    </p:spTree>
    <p:extLst>
      <p:ext uri="{BB962C8B-B14F-4D97-AF65-F5344CB8AC3E}">
        <p14:creationId xmlns:p14="http://schemas.microsoft.com/office/powerpoint/2010/main" val="793135321"/>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top-rule">
            <a:extLst xmlns:a="http://schemas.openxmlformats.org/drawingml/2006/main">
              <a:ext uri="{FF2B5EF4-FFF2-40B4-BE49-F238E27FC236}">
                <a16:creationId xmlns:a16="http://schemas.microsoft.com/office/drawing/2014/main" id="{E6697E53-05DA-40FA-98C3-F9222826ABAE}"/>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ED9CA718-D57E-4C17-90BC-24ACCE626A23}"/>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E4168D7B-D41A-4D72-B4CA-137FBBCB6592}"/>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A fixed pulley changes direction</a:t>
            </a:r>
          </a:p>
        </p:txBody>
      </p:sp>
      <p:sp>
        <p:nvSpPr>
          <p:cNvPr id="4" name="footer-line">
            <a:extLst xmlns:a="http://schemas.openxmlformats.org/drawingml/2006/main">
              <a:ext uri="{FF2B5EF4-FFF2-40B4-BE49-F238E27FC236}">
                <a16:creationId xmlns:a16="http://schemas.microsoft.com/office/drawing/2014/main" id="{12AEE84A-7E0F-4244-A097-84E8280FA7F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A6D4EBA8-E813-4B34-B3A4-B8E366C9AB25}"/>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B4CA0F29-5C78-4E55-97C2-7307EAFFB740}"/>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08</a:t>
            </a:r>
          </a:p>
        </p:txBody>
      </p:sp>
      <p:sp>
        <p:nvSpPr>
          <p:cNvPr id="7" name="statement">
            <a:extLst xmlns:a="http://schemas.openxmlformats.org/drawingml/2006/main">
              <a:ext uri="{FF2B5EF4-FFF2-40B4-BE49-F238E27FC236}">
                <a16:creationId xmlns:a16="http://schemas.microsoft.com/office/drawing/2014/main" id="{D02A7AE0-909D-44DD-A375-A11CF4703D28}"/>
              </a:ext>
            </a:extLst>
          </p:cNvPr>
          <p:cNvSpPr>
            <a:spLocks xmlns:a="http://schemas.openxmlformats.org/drawingml/2006/main" noGrp="1"/>
          </p:cNvSpPr>
          <p:nvPr/>
        </p:nvSpPr>
        <p:spPr>
          <a:xfrm xmlns:a="http://schemas.openxmlformats.org/drawingml/2006/main">
            <a:off x="609600" y="26860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925" b="1">
                <a:solidFill>
                  <a:srgbClr val="28685E"/>
                </a:solidFill>
              </a:defRPr>
            </a:pPr>
            <a:r>
              <a:rPr sz="2925" b="1">
                <a:solidFill>
                  <a:srgbClr val="28685E"/>
                </a:solidFill>
              </a:rPr>
              <a:t>At a flagpole, pull the rope down and the flag goes up.</a:t>
            </a:r>
          </a:p>
        </p:txBody>
      </p:sp>
      <p:sp>
        <p:nvSpPr>
          <p:cNvPr id="8" name="callout">
            <a:extLst xmlns:a="http://schemas.openxmlformats.org/drawingml/2006/main">
              <a:ext uri="{FF2B5EF4-FFF2-40B4-BE49-F238E27FC236}">
                <a16:creationId xmlns:a16="http://schemas.microsoft.com/office/drawing/2014/main" id="{165F9A4E-07C2-457C-80E8-34D498529291}"/>
              </a:ext>
            </a:extLst>
          </p:cNvPr>
          <p:cNvSpPr>
            <a:spLocks xmlns:a="http://schemas.openxmlformats.org/drawingml/2006/main" noGrp="1"/>
          </p:cNvSpPr>
          <p:nvPr/>
        </p:nvSpPr>
        <p:spPr>
          <a:xfrm xmlns:a="http://schemas.openxmlformats.org/drawingml/2006/main">
            <a:off x="609600" y="4552950"/>
            <a:ext cx="10858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700" b="0">
                <a:solidFill>
                  <a:srgbClr val="152B3A"/>
                </a:solidFill>
              </a:defRPr>
            </a:pPr>
            <a:r>
              <a:rPr sz="2700" b="0">
                <a:solidFill>
                  <a:srgbClr val="152B3A"/>
                </a:solidFill>
              </a:rPr>
              <a:t>One fixed pulley changes the pull’s direction. It does not give free lifting force.</a:t>
            </a:r>
          </a:p>
        </p:txBody>
      </p:sp>
    </p:spTree>
    <p:extLst>
      <p:ext uri="{BB962C8B-B14F-4D97-AF65-F5344CB8AC3E}">
        <p14:creationId xmlns:p14="http://schemas.microsoft.com/office/powerpoint/2010/main" val="1119993285"/>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C8481EB2-DFCD-4084-AE7D-E44BFC07666B}"/>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4C97E9B-BE18-4342-BCAF-2DB791892B3B}"/>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2E919DB6-AFA4-4219-90EA-F9183DD917F5}"/>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Gears trade speed for turning effect</a:t>
            </a:r>
          </a:p>
        </p:txBody>
      </p:sp>
      <p:sp>
        <p:nvSpPr>
          <p:cNvPr id="4" name="footer-line">
            <a:extLst xmlns:a="http://schemas.openxmlformats.org/drawingml/2006/main">
              <a:ext uri="{FF2B5EF4-FFF2-40B4-BE49-F238E27FC236}">
                <a16:creationId xmlns:a16="http://schemas.microsoft.com/office/drawing/2014/main" id="{8C4C05DD-7BC4-44A2-9BAD-2D264143974E}"/>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F0AA7592-B59E-42CB-A0B4-A9A9014C4726}"/>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C9B37809-F241-42C2-BE76-1E15D2CEDB49}"/>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09</a:t>
            </a:r>
          </a:p>
        </p:txBody>
      </p:sp>
      <p:sp>
        <p:nvSpPr>
          <p:cNvPr id="7" name="line-0">
            <a:extLst xmlns:a="http://schemas.openxmlformats.org/drawingml/2006/main">
              <a:ext uri="{FF2B5EF4-FFF2-40B4-BE49-F238E27FC236}">
                <a16:creationId xmlns:a16="http://schemas.microsoft.com/office/drawing/2014/main" id="{070C7D18-D129-4877-8F1B-43D7A7232B8F}"/>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Gears have teeth and pass on turning movement.</a:t>
            </a:r>
          </a:p>
        </p:txBody>
      </p:sp>
      <p:sp>
        <p:nvSpPr>
          <p:cNvPr id="8" name="line-1">
            <a:extLst xmlns:a="http://schemas.openxmlformats.org/drawingml/2006/main">
              <a:ext uri="{FF2B5EF4-FFF2-40B4-BE49-F238E27FC236}">
                <a16:creationId xmlns:a16="http://schemas.microsoft.com/office/drawing/2014/main" id="{16EE88DF-E081-467A-BDEA-8461D2442285}"/>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 bicycle uses chainrings, a chain and sprockets.</a:t>
            </a:r>
          </a:p>
        </p:txBody>
      </p:sp>
      <p:sp>
        <p:nvSpPr>
          <p:cNvPr id="9" name="line-2">
            <a:extLst xmlns:a="http://schemas.openxmlformats.org/drawingml/2006/main">
              <a:ext uri="{FF2B5EF4-FFF2-40B4-BE49-F238E27FC236}">
                <a16:creationId xmlns:a16="http://schemas.microsoft.com/office/drawing/2014/main" id="{7E4DA266-74BE-4D1C-9A0D-7A507A6A9E5D}"/>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 lower gear can help turn the wheel against a load.</a:t>
            </a:r>
          </a:p>
        </p:txBody>
      </p:sp>
      <p:sp>
        <p:nvSpPr>
          <p:cNvPr id="10" name="line-3">
            <a:extLst xmlns:a="http://schemas.openxmlformats.org/drawingml/2006/main">
              <a:ext uri="{FF2B5EF4-FFF2-40B4-BE49-F238E27FC236}">
                <a16:creationId xmlns:a16="http://schemas.microsoft.com/office/drawing/2014/main" id="{5E2EDEAE-6586-4651-B436-CC201774266E}"/>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The wheel turns fewer times per pedal turn.</a:t>
            </a:r>
          </a:p>
        </p:txBody>
      </p:sp>
    </p:spTree>
    <p:extLst>
      <p:ext uri="{BB962C8B-B14F-4D97-AF65-F5344CB8AC3E}">
        <p14:creationId xmlns:p14="http://schemas.microsoft.com/office/powerpoint/2010/main" val="1688764689"/>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BD76CEA9-CC20-4A8E-8398-5599A2D61A4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0AA9E164-03E1-44D8-8152-6C32A0F3FBBC}"/>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FB72A36C-820D-4E20-9A24-703DEBA49F19}"/>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Check the mechanism and its job</a:t>
            </a:r>
          </a:p>
        </p:txBody>
      </p:sp>
      <p:sp>
        <p:nvSpPr>
          <p:cNvPr id="4" name="footer-line">
            <a:extLst xmlns:a="http://schemas.openxmlformats.org/drawingml/2006/main">
              <a:ext uri="{FF2B5EF4-FFF2-40B4-BE49-F238E27FC236}">
                <a16:creationId xmlns:a16="http://schemas.microsoft.com/office/drawing/2014/main" id="{43634204-18FF-4101-BC98-D27AB4C471A6}"/>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AEC7E155-39CB-4E5A-BBDF-4174E7F4276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89ACC7A5-40E3-47DA-974D-E76A55CCC5E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10</a:t>
            </a:r>
          </a:p>
        </p:txBody>
      </p:sp>
      <p:sp>
        <p:nvSpPr>
          <p:cNvPr id="7" name="left-heading">
            <a:extLst xmlns:a="http://schemas.openxmlformats.org/drawingml/2006/main">
              <a:ext uri="{FF2B5EF4-FFF2-40B4-BE49-F238E27FC236}">
                <a16:creationId xmlns:a16="http://schemas.microsoft.com/office/drawing/2014/main" id="{2C80B3CB-74A5-4D42-A7D8-E0E3C2FAA044}"/>
              </a:ext>
            </a:extLst>
          </p:cNvPr>
          <p:cNvSpPr>
            <a:spLocks xmlns:a="http://schemas.openxmlformats.org/drawingml/2006/main" noGrp="1"/>
          </p:cNvSpPr>
          <p:nvPr/>
        </p:nvSpPr>
        <p:spPr>
          <a:xfrm xmlns:a="http://schemas.openxmlformats.org/drawingml/2006/main">
            <a:off x="60960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28685E"/>
                </a:solidFill>
              </a:defRPr>
            </a:pPr>
            <a:r>
              <a:rPr sz="2025" b="1">
                <a:solidFill>
                  <a:srgbClr val="28685E"/>
                </a:solidFill>
              </a:rPr>
              <a:t>MECHANISM</a:t>
            </a:r>
          </a:p>
        </p:txBody>
      </p:sp>
      <p:sp>
        <p:nvSpPr>
          <p:cNvPr id="8" name="right-heading">
            <a:extLst xmlns:a="http://schemas.openxmlformats.org/drawingml/2006/main">
              <a:ext uri="{FF2B5EF4-FFF2-40B4-BE49-F238E27FC236}">
                <a16:creationId xmlns:a16="http://schemas.microsoft.com/office/drawing/2014/main" id="{4EA50328-AE21-4145-AB88-50AA7643399A}"/>
              </a:ext>
            </a:extLst>
          </p:cNvPr>
          <p:cNvSpPr>
            <a:spLocks xmlns:a="http://schemas.openxmlformats.org/drawingml/2006/main" noGrp="1"/>
          </p:cNvSpPr>
          <p:nvPr/>
        </p:nvSpPr>
        <p:spPr>
          <a:xfrm xmlns:a="http://schemas.openxmlformats.org/drawingml/2006/main">
            <a:off x="657225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A65D25"/>
                </a:solidFill>
              </a:defRPr>
            </a:pPr>
            <a:r>
              <a:rPr sz="2025" b="1">
                <a:solidFill>
                  <a:srgbClr val="A65D25"/>
                </a:solidFill>
              </a:rPr>
              <a:t>EVERYDAY EXAMPLE</a:t>
            </a:r>
          </a:p>
        </p:txBody>
      </p:sp>
      <p:sp>
        <p:nvSpPr>
          <p:cNvPr id="9" name="left">
            <a:extLst xmlns:a="http://schemas.openxmlformats.org/drawingml/2006/main">
              <a:ext uri="{FF2B5EF4-FFF2-40B4-BE49-F238E27FC236}">
                <a16:creationId xmlns:a16="http://schemas.microsoft.com/office/drawing/2014/main" id="{D1E7ECC0-271A-4449-8979-B6C76C2F2F06}"/>
              </a:ext>
            </a:extLst>
          </p:cNvPr>
          <p:cNvSpPr>
            <a:spLocks xmlns:a="http://schemas.openxmlformats.org/drawingml/2006/main" noGrp="1"/>
          </p:cNvSpPr>
          <p:nvPr/>
        </p:nvSpPr>
        <p:spPr>
          <a:xfrm xmlns:a="http://schemas.openxmlformats.org/drawingml/2006/main">
            <a:off x="609600" y="3333750"/>
            <a:ext cx="4953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Lever</a:t>
            </a:r>
          </a:p>
          <a:p xmlns:a="http://schemas.openxmlformats.org/drawingml/2006/main">
            <a:pPr>
              <a:defRPr sz="2400" b="0">
                <a:solidFill>
                  <a:srgbClr val="152B3A"/>
                </a:solidFill>
              </a:defRPr>
            </a:pPr>
            <a:r>
              <a:rPr sz="2400" b="0">
                <a:solidFill>
                  <a:srgbClr val="152B3A"/>
                </a:solidFill>
              </a:rPr>
              <a:t>Fixed pulley</a:t>
            </a:r>
          </a:p>
          <a:p xmlns:a="http://schemas.openxmlformats.org/drawingml/2006/main">
            <a:pPr>
              <a:defRPr sz="2400" b="0">
                <a:solidFill>
                  <a:srgbClr val="152B3A"/>
                </a:solidFill>
              </a:defRPr>
            </a:pPr>
            <a:r>
              <a:rPr sz="2400" b="0">
                <a:solidFill>
                  <a:srgbClr val="152B3A"/>
                </a:solidFill>
              </a:rPr>
              <a:t>Geared chain drive</a:t>
            </a:r>
          </a:p>
        </p:txBody>
      </p:sp>
      <p:sp>
        <p:nvSpPr>
          <p:cNvPr id="10" name="right">
            <a:extLst xmlns:a="http://schemas.openxmlformats.org/drawingml/2006/main">
              <a:ext uri="{FF2B5EF4-FFF2-40B4-BE49-F238E27FC236}">
                <a16:creationId xmlns:a16="http://schemas.microsoft.com/office/drawing/2014/main" id="{3C32B2B3-6FE7-4DB8-B22D-56F82F144F41}"/>
              </a:ext>
            </a:extLst>
          </p:cNvPr>
          <p:cNvSpPr>
            <a:spLocks xmlns:a="http://schemas.openxmlformats.org/drawingml/2006/main" noGrp="1"/>
          </p:cNvSpPr>
          <p:nvPr/>
        </p:nvSpPr>
        <p:spPr>
          <a:xfrm xmlns:a="http://schemas.openxmlformats.org/drawingml/2006/main">
            <a:off x="6572250" y="3333750"/>
            <a:ext cx="48577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Scissors, wheelbarrow, spanner</a:t>
            </a:r>
          </a:p>
          <a:p xmlns:a="http://schemas.openxmlformats.org/drawingml/2006/main">
            <a:pPr>
              <a:defRPr sz="2400" b="0">
                <a:solidFill>
                  <a:srgbClr val="152B3A"/>
                </a:solidFill>
              </a:defRPr>
            </a:pPr>
            <a:r>
              <a:rPr sz="2400" b="0">
                <a:solidFill>
                  <a:srgbClr val="152B3A"/>
                </a:solidFill>
              </a:rPr>
              <a:t>Flagpole rope over top wheel</a:t>
            </a:r>
          </a:p>
          <a:p xmlns:a="http://schemas.openxmlformats.org/drawingml/2006/main">
            <a:pPr>
              <a:defRPr sz="2400" b="0">
                <a:solidFill>
                  <a:srgbClr val="152B3A"/>
                </a:solidFill>
              </a:defRPr>
            </a:pPr>
            <a:r>
              <a:rPr sz="2400" b="0">
                <a:solidFill>
                  <a:srgbClr val="152B3A"/>
                </a:solidFill>
              </a:rPr>
              <a:t>Bicycle chain and cogs</a:t>
            </a:r>
          </a:p>
        </p:txBody>
      </p:sp>
    </p:spTree>
    <p:extLst>
      <p:ext uri="{BB962C8B-B14F-4D97-AF65-F5344CB8AC3E}">
        <p14:creationId xmlns:p14="http://schemas.microsoft.com/office/powerpoint/2010/main" val="1003073850"/>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top-rule">
            <a:extLst xmlns:a="http://schemas.openxmlformats.org/drawingml/2006/main">
              <a:ext uri="{FF2B5EF4-FFF2-40B4-BE49-F238E27FC236}">
                <a16:creationId xmlns:a16="http://schemas.microsoft.com/office/drawing/2014/main" id="{AA01F6DB-4B07-4611-86FF-C8F8F81FF8A4}"/>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7328525-FD11-4488-B3E0-73E5CBB8B3D6}"/>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45A875AD-E8E6-490D-A182-D096767E2EDA}"/>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Explain the gain and the cost</a:t>
            </a:r>
          </a:p>
        </p:txBody>
      </p:sp>
      <p:sp>
        <p:nvSpPr>
          <p:cNvPr id="4" name="footer-line">
            <a:extLst xmlns:a="http://schemas.openxmlformats.org/drawingml/2006/main">
              <a:ext uri="{FF2B5EF4-FFF2-40B4-BE49-F238E27FC236}">
                <a16:creationId xmlns:a16="http://schemas.microsoft.com/office/drawing/2014/main" id="{713A9930-BD00-4AA9-9606-4C57CDEAF279}"/>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07AA6823-C97E-4E61-AE74-A2651D10FB6E}"/>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2A3E7AB1-7F31-4A49-8B9D-C0DE0AE68D90}"/>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11</a:t>
            </a:r>
          </a:p>
        </p:txBody>
      </p:sp>
      <p:sp>
        <p:nvSpPr>
          <p:cNvPr id="7" name="statement">
            <a:extLst xmlns:a="http://schemas.openxmlformats.org/drawingml/2006/main">
              <a:ext uri="{FF2B5EF4-FFF2-40B4-BE49-F238E27FC236}">
                <a16:creationId xmlns:a16="http://schemas.microsoft.com/office/drawing/2014/main" id="{571CCCC1-D8F7-453C-8569-A01891D8E92B}"/>
              </a:ext>
            </a:extLst>
          </p:cNvPr>
          <p:cNvSpPr>
            <a:spLocks xmlns:a="http://schemas.openxmlformats.org/drawingml/2006/main" noGrp="1"/>
          </p:cNvSpPr>
          <p:nvPr/>
        </p:nvSpPr>
        <p:spPr>
          <a:xfrm xmlns:a="http://schemas.openxmlformats.org/drawingml/2006/main">
            <a:off x="609600" y="26860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925" b="1">
                <a:solidFill>
                  <a:srgbClr val="28685E"/>
                </a:solidFill>
              </a:defRPr>
            </a:pPr>
            <a:r>
              <a:rPr sz="2925" b="1">
                <a:solidFill>
                  <a:srgbClr val="28685E"/>
                </a:solidFill>
              </a:rPr>
              <a:t>This is a ___ because ___. It helps by ___, but you have to ___.</a:t>
            </a:r>
          </a:p>
        </p:txBody>
      </p:sp>
      <p:sp>
        <p:nvSpPr>
          <p:cNvPr id="8" name="callout">
            <a:extLst xmlns:a="http://schemas.openxmlformats.org/drawingml/2006/main">
              <a:ext uri="{FF2B5EF4-FFF2-40B4-BE49-F238E27FC236}">
                <a16:creationId xmlns:a16="http://schemas.microsoft.com/office/drawing/2014/main" id="{11A3CD12-7272-4DE0-ACF9-1B1E65783860}"/>
              </a:ext>
            </a:extLst>
          </p:cNvPr>
          <p:cNvSpPr>
            <a:spLocks xmlns:a="http://schemas.openxmlformats.org/drawingml/2006/main" noGrp="1"/>
          </p:cNvSpPr>
          <p:nvPr/>
        </p:nvSpPr>
        <p:spPr>
          <a:xfrm xmlns:a="http://schemas.openxmlformats.org/drawingml/2006/main">
            <a:off x="609600" y="4552950"/>
            <a:ext cx="10858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700" b="0">
                <a:solidFill>
                  <a:srgbClr val="152B3A"/>
                </a:solidFill>
              </a:defRPr>
            </a:pPr>
            <a:r>
              <a:rPr sz="2700" b="0">
                <a:solidFill>
                  <a:srgbClr val="152B3A"/>
                </a:solidFill>
              </a:rPr>
              <a:t>Name the mechanism, its job and the trade-off.</a:t>
            </a:r>
          </a:p>
        </p:txBody>
      </p:sp>
    </p:spTree>
    <p:extLst>
      <p:ext uri="{BB962C8B-B14F-4D97-AF65-F5344CB8AC3E}">
        <p14:creationId xmlns:p14="http://schemas.microsoft.com/office/powerpoint/2010/main" val="1696149620"/>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12406A2A-5182-4900-A979-6E58A06B2B49}"/>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A38B634B-F0B2-4D3B-82EE-DD191FB8EA32}"/>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19756E2D-C845-4206-BEDD-50DBDB002C59}"/>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Sort the gain and the cost</a:t>
            </a:r>
          </a:p>
        </p:txBody>
      </p:sp>
      <p:sp>
        <p:nvSpPr>
          <p:cNvPr id="4" name="footer-line">
            <a:extLst xmlns:a="http://schemas.openxmlformats.org/drawingml/2006/main">
              <a:ext uri="{FF2B5EF4-FFF2-40B4-BE49-F238E27FC236}">
                <a16:creationId xmlns:a16="http://schemas.microsoft.com/office/drawing/2014/main" id="{84D3A985-3EE1-4D79-A952-759F2560FF9C}"/>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D9729794-4CE0-40FA-8820-6FF1D0089BF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114557A9-4179-44CD-AA69-FC12234B763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12</a:t>
            </a:r>
          </a:p>
        </p:txBody>
      </p:sp>
      <p:sp>
        <p:nvSpPr>
          <p:cNvPr id="7" name="line-0">
            <a:extLst xmlns:a="http://schemas.openxmlformats.org/drawingml/2006/main">
              <a:ext uri="{FF2B5EF4-FFF2-40B4-BE49-F238E27FC236}">
                <a16:creationId xmlns:a16="http://schemas.microsoft.com/office/drawing/2014/main" id="{BA094426-6E2B-4ACD-A085-9AEFD8BFE6AC}"/>
              </a:ext>
            </a:extLst>
          </p:cNvPr>
          <p:cNvSpPr>
            <a:spLocks xmlns:a="http://schemas.openxmlformats.org/drawingml/2006/main" noGrp="1"/>
          </p:cNvSpPr>
          <p:nvPr/>
        </p:nvSpPr>
        <p:spPr>
          <a:xfrm xmlns:a="http://schemas.openxmlformats.org/drawingml/2006/main">
            <a:off x="609600" y="261937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152B3A"/>
                </a:solidFill>
              </a:defRPr>
            </a:pPr>
            <a:r>
              <a:rPr sz="2175" b="0">
                <a:solidFill>
                  <a:srgbClr val="152B3A"/>
                </a:solidFill>
              </a:rPr>
              <a:t>Less effort force needed</a:t>
            </a:r>
          </a:p>
        </p:txBody>
      </p:sp>
      <p:sp>
        <p:nvSpPr>
          <p:cNvPr id="8" name="line-1">
            <a:extLst xmlns:a="http://schemas.openxmlformats.org/drawingml/2006/main">
              <a:ext uri="{FF2B5EF4-FFF2-40B4-BE49-F238E27FC236}">
                <a16:creationId xmlns:a16="http://schemas.microsoft.com/office/drawing/2014/main" id="{96B039EC-AF5B-49CB-8612-8ACF11E6A2F7}"/>
              </a:ext>
            </a:extLst>
          </p:cNvPr>
          <p:cNvSpPr>
            <a:spLocks xmlns:a="http://schemas.openxmlformats.org/drawingml/2006/main" noGrp="1"/>
          </p:cNvSpPr>
          <p:nvPr/>
        </p:nvSpPr>
        <p:spPr>
          <a:xfrm xmlns:a="http://schemas.openxmlformats.org/drawingml/2006/main">
            <a:off x="609600" y="322897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152B3A"/>
                </a:solidFill>
              </a:defRPr>
            </a:pPr>
            <a:r>
              <a:rPr sz="2175" b="0">
                <a:solidFill>
                  <a:srgbClr val="152B3A"/>
                </a:solidFill>
              </a:rPr>
              <a:t>Hand travels farther</a:t>
            </a:r>
          </a:p>
        </p:txBody>
      </p:sp>
      <p:sp>
        <p:nvSpPr>
          <p:cNvPr id="9" name="line-2">
            <a:extLst xmlns:a="http://schemas.openxmlformats.org/drawingml/2006/main">
              <a:ext uri="{FF2B5EF4-FFF2-40B4-BE49-F238E27FC236}">
                <a16:creationId xmlns:a16="http://schemas.microsoft.com/office/drawing/2014/main" id="{11DC5645-0396-4ACE-9210-A47753692748}"/>
              </a:ext>
            </a:extLst>
          </p:cNvPr>
          <p:cNvSpPr>
            <a:spLocks xmlns:a="http://schemas.openxmlformats.org/drawingml/2006/main" noGrp="1"/>
          </p:cNvSpPr>
          <p:nvPr/>
        </p:nvSpPr>
        <p:spPr>
          <a:xfrm xmlns:a="http://schemas.openxmlformats.org/drawingml/2006/main">
            <a:off x="609600" y="383857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152B3A"/>
                </a:solidFill>
              </a:defRPr>
            </a:pPr>
            <a:r>
              <a:rPr sz="2175" b="0">
                <a:solidFill>
                  <a:srgbClr val="152B3A"/>
                </a:solidFill>
              </a:rPr>
              <a:t>Pull down instead of up</a:t>
            </a:r>
          </a:p>
        </p:txBody>
      </p:sp>
      <p:sp>
        <p:nvSpPr>
          <p:cNvPr id="10" name="line-3">
            <a:extLst xmlns:a="http://schemas.openxmlformats.org/drawingml/2006/main">
              <a:ext uri="{FF2B5EF4-FFF2-40B4-BE49-F238E27FC236}">
                <a16:creationId xmlns:a16="http://schemas.microsoft.com/office/drawing/2014/main" id="{FED75853-0386-4BC1-A31C-2E95327F8468}"/>
              </a:ext>
            </a:extLst>
          </p:cNvPr>
          <p:cNvSpPr>
            <a:spLocks xmlns:a="http://schemas.openxmlformats.org/drawingml/2006/main" noGrp="1"/>
          </p:cNvSpPr>
          <p:nvPr/>
        </p:nvSpPr>
        <p:spPr>
          <a:xfrm xmlns:a="http://schemas.openxmlformats.org/drawingml/2006/main">
            <a:off x="609600" y="444817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152B3A"/>
                </a:solidFill>
              </a:defRPr>
            </a:pPr>
            <a:r>
              <a:rPr sz="2175" b="0">
                <a:solidFill>
                  <a:srgbClr val="152B3A"/>
                </a:solidFill>
              </a:rPr>
              <a:t>Mechanism creates extra energy</a:t>
            </a:r>
          </a:p>
        </p:txBody>
      </p:sp>
      <p:sp>
        <p:nvSpPr>
          <p:cNvPr id="11" name="line-4">
            <a:extLst xmlns:a="http://schemas.openxmlformats.org/drawingml/2006/main">
              <a:ext uri="{FF2B5EF4-FFF2-40B4-BE49-F238E27FC236}">
                <a16:creationId xmlns:a16="http://schemas.microsoft.com/office/drawing/2014/main" id="{5272B52C-0EFF-4B2B-8ECB-683EF9C88CDD}"/>
              </a:ext>
            </a:extLst>
          </p:cNvPr>
          <p:cNvSpPr>
            <a:spLocks xmlns:a="http://schemas.openxmlformats.org/drawingml/2006/main" noGrp="1"/>
          </p:cNvSpPr>
          <p:nvPr/>
        </p:nvSpPr>
        <p:spPr>
          <a:xfrm xmlns:a="http://schemas.openxmlformats.org/drawingml/2006/main">
            <a:off x="609600" y="505777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175" b="0">
                <a:solidFill>
                  <a:srgbClr val="152B3A"/>
                </a:solidFill>
              </a:defRPr>
            </a:pPr>
            <a:r>
              <a:rPr sz="2175" b="0">
                <a:solidFill>
                  <a:srgbClr val="152B3A"/>
                </a:solidFill>
              </a:rPr>
              <a:t>Slower turning, greater turning effect</a:t>
            </a:r>
          </a:p>
        </p:txBody>
      </p:sp>
    </p:spTree>
    <p:extLst>
      <p:ext uri="{BB962C8B-B14F-4D97-AF65-F5344CB8AC3E}">
        <p14:creationId xmlns:p14="http://schemas.microsoft.com/office/powerpoint/2010/main" val="38164153"/>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ED42107B-7463-4AC6-ABE3-8E69ADCB7928}"/>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66710005-2179-4F44-A4F1-1575B3C84A26}"/>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F1C78CF8-339F-4935-B7F4-50F4CFE1FBB0}"/>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Check your choices</a:t>
            </a:r>
          </a:p>
        </p:txBody>
      </p:sp>
      <p:sp>
        <p:nvSpPr>
          <p:cNvPr id="4" name="footer-line">
            <a:extLst xmlns:a="http://schemas.openxmlformats.org/drawingml/2006/main">
              <a:ext uri="{FF2B5EF4-FFF2-40B4-BE49-F238E27FC236}">
                <a16:creationId xmlns:a16="http://schemas.microsoft.com/office/drawing/2014/main" id="{92836979-7238-4490-8880-BC5E1AB406E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B67676F1-558F-4A71-BC57-BDD7470733F3}"/>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F6D87454-B31E-447F-AB17-643A7B55C424}"/>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13</a:t>
            </a:r>
          </a:p>
        </p:txBody>
      </p:sp>
      <p:sp>
        <p:nvSpPr>
          <p:cNvPr id="7" name="left-heading">
            <a:extLst xmlns:a="http://schemas.openxmlformats.org/drawingml/2006/main">
              <a:ext uri="{FF2B5EF4-FFF2-40B4-BE49-F238E27FC236}">
                <a16:creationId xmlns:a16="http://schemas.microsoft.com/office/drawing/2014/main" id="{ED7EF921-A408-4104-84E0-3718A99ADC89}"/>
              </a:ext>
            </a:extLst>
          </p:cNvPr>
          <p:cNvSpPr>
            <a:spLocks xmlns:a="http://schemas.openxmlformats.org/drawingml/2006/main" noGrp="1"/>
          </p:cNvSpPr>
          <p:nvPr/>
        </p:nvSpPr>
        <p:spPr>
          <a:xfrm xmlns:a="http://schemas.openxmlformats.org/drawingml/2006/main">
            <a:off x="60960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28685E"/>
                </a:solidFill>
              </a:defRPr>
            </a:pPr>
            <a:r>
              <a:rPr sz="2025" b="1">
                <a:solidFill>
                  <a:srgbClr val="28685E"/>
                </a:solidFill>
              </a:rPr>
              <a:t>GAIN OR GAIN + COST</a:t>
            </a:r>
          </a:p>
        </p:txBody>
      </p:sp>
      <p:sp>
        <p:nvSpPr>
          <p:cNvPr id="8" name="right-heading">
            <a:extLst xmlns:a="http://schemas.openxmlformats.org/drawingml/2006/main">
              <a:ext uri="{FF2B5EF4-FFF2-40B4-BE49-F238E27FC236}">
                <a16:creationId xmlns:a16="http://schemas.microsoft.com/office/drawing/2014/main" id="{95C43E85-7293-426A-8DE0-B015B74854A9}"/>
              </a:ext>
            </a:extLst>
          </p:cNvPr>
          <p:cNvSpPr>
            <a:spLocks xmlns:a="http://schemas.openxmlformats.org/drawingml/2006/main" noGrp="1"/>
          </p:cNvSpPr>
          <p:nvPr/>
        </p:nvSpPr>
        <p:spPr>
          <a:xfrm xmlns:a="http://schemas.openxmlformats.org/drawingml/2006/main">
            <a:off x="6572250" y="261937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025" b="1">
                <a:solidFill>
                  <a:srgbClr val="A65D25"/>
                </a:solidFill>
              </a:defRPr>
            </a:pPr>
            <a:r>
              <a:rPr sz="2025" b="1">
                <a:solidFill>
                  <a:srgbClr val="A65D25"/>
                </a:solidFill>
              </a:rPr>
              <a:t>COST OR FALSE CLAIM</a:t>
            </a:r>
          </a:p>
        </p:txBody>
      </p:sp>
      <p:sp>
        <p:nvSpPr>
          <p:cNvPr id="9" name="left">
            <a:extLst xmlns:a="http://schemas.openxmlformats.org/drawingml/2006/main">
              <a:ext uri="{FF2B5EF4-FFF2-40B4-BE49-F238E27FC236}">
                <a16:creationId xmlns:a16="http://schemas.microsoft.com/office/drawing/2014/main" id="{5FBB7F6C-B71A-42E2-9926-A7CA434061CA}"/>
              </a:ext>
            </a:extLst>
          </p:cNvPr>
          <p:cNvSpPr>
            <a:spLocks xmlns:a="http://schemas.openxmlformats.org/drawingml/2006/main" noGrp="1"/>
          </p:cNvSpPr>
          <p:nvPr/>
        </p:nvSpPr>
        <p:spPr>
          <a:xfrm xmlns:a="http://schemas.openxmlformats.org/drawingml/2006/main">
            <a:off x="609600" y="3333750"/>
            <a:ext cx="4953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Less effort: gain</a:t>
            </a:r>
          </a:p>
          <a:p xmlns:a="http://schemas.openxmlformats.org/drawingml/2006/main">
            <a:pPr>
              <a:defRPr sz="2400" b="0">
                <a:solidFill>
                  <a:srgbClr val="152B3A"/>
                </a:solidFill>
              </a:defRPr>
            </a:pPr>
            <a:r>
              <a:rPr sz="2400" b="0">
                <a:solidFill>
                  <a:srgbClr val="152B3A"/>
                </a:solidFill>
              </a:rPr>
              <a:t>Pull down: direction benefit</a:t>
            </a:r>
          </a:p>
          <a:p xmlns:a="http://schemas.openxmlformats.org/drawingml/2006/main">
            <a:pPr>
              <a:defRPr sz="2400" b="0">
                <a:solidFill>
                  <a:srgbClr val="152B3A"/>
                </a:solidFill>
              </a:defRPr>
            </a:pPr>
            <a:r>
              <a:rPr sz="2400" b="0">
                <a:solidFill>
                  <a:srgbClr val="152B3A"/>
                </a:solidFill>
              </a:rPr>
              <a:t>Slower + stronger turn: both</a:t>
            </a:r>
          </a:p>
        </p:txBody>
      </p:sp>
      <p:sp>
        <p:nvSpPr>
          <p:cNvPr id="10" name="right">
            <a:extLst xmlns:a="http://schemas.openxmlformats.org/drawingml/2006/main">
              <a:ext uri="{FF2B5EF4-FFF2-40B4-BE49-F238E27FC236}">
                <a16:creationId xmlns:a16="http://schemas.microsoft.com/office/drawing/2014/main" id="{784B9BCA-BD49-438E-8730-438A2F165DD0}"/>
              </a:ext>
            </a:extLst>
          </p:cNvPr>
          <p:cNvSpPr>
            <a:spLocks xmlns:a="http://schemas.openxmlformats.org/drawingml/2006/main" noGrp="1"/>
          </p:cNvSpPr>
          <p:nvPr/>
        </p:nvSpPr>
        <p:spPr>
          <a:xfrm xmlns:a="http://schemas.openxmlformats.org/drawingml/2006/main">
            <a:off x="6572250" y="3333750"/>
            <a:ext cx="48577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400" b="0">
                <a:solidFill>
                  <a:srgbClr val="152B3A"/>
                </a:solidFill>
              </a:defRPr>
            </a:pPr>
            <a:r>
              <a:rPr sz="2400" b="0">
                <a:solidFill>
                  <a:srgbClr val="152B3A"/>
                </a:solidFill>
              </a:rPr>
              <a:t>Farther hand travel: cost</a:t>
            </a:r>
          </a:p>
          <a:p xmlns:a="http://schemas.openxmlformats.org/drawingml/2006/main">
            <a:pPr>
              <a:defRPr sz="2400" b="0">
                <a:solidFill>
                  <a:srgbClr val="152B3A"/>
                </a:solidFill>
              </a:defRPr>
            </a:pPr>
            <a:r>
              <a:rPr sz="2400" b="0">
                <a:solidFill>
                  <a:srgbClr val="152B3A"/>
                </a:solidFill>
              </a:rPr>
              <a:t>Extra energy created: false</a:t>
            </a:r>
          </a:p>
        </p:txBody>
      </p:sp>
    </p:spTree>
    <p:extLst>
      <p:ext uri="{BB962C8B-B14F-4D97-AF65-F5344CB8AC3E}">
        <p14:creationId xmlns:p14="http://schemas.microsoft.com/office/powerpoint/2010/main" val="1398820967"/>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top-rule">
            <a:extLst xmlns:a="http://schemas.openxmlformats.org/drawingml/2006/main">
              <a:ext uri="{FF2B5EF4-FFF2-40B4-BE49-F238E27FC236}">
                <a16:creationId xmlns:a16="http://schemas.microsoft.com/office/drawing/2014/main" id="{25404961-E9C0-4F75-8330-F001FA6ED14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EB2537BA-CDAB-439D-86C7-392FF21861D5}"/>
              </a:ext>
            </a:extLst>
          </p:cNvPr>
          <p:cNvSpPr>
            <a:spLocks xmlns:a="http://schemas.openxmlformats.org/drawingml/2006/main" noGrp="1"/>
          </p:cNvSpPr>
          <p:nvPr/>
        </p:nvSpPr>
        <p:spPr>
          <a:xfrm xmlns:a="http://schemas.openxmlformats.org/drawingml/2006/main">
            <a:off x="609600" y="7620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GROW SCIENCE</a:t>
            </a:r>
          </a:p>
        </p:txBody>
      </p:sp>
      <p:sp>
        <p:nvSpPr>
          <p:cNvPr id="3" name="title">
            <a:extLst xmlns:a="http://schemas.openxmlformats.org/drawingml/2006/main">
              <a:ext uri="{FF2B5EF4-FFF2-40B4-BE49-F238E27FC236}">
                <a16:creationId xmlns:a16="http://schemas.microsoft.com/office/drawing/2014/main" id="{121FF31A-AEBD-41CE-BDCB-310260259531}"/>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Keep both halves of the explanation</a:t>
            </a:r>
          </a:p>
        </p:txBody>
      </p:sp>
      <p:sp>
        <p:nvSpPr>
          <p:cNvPr id="4" name="footer-line">
            <a:extLst xmlns:a="http://schemas.openxmlformats.org/drawingml/2006/main">
              <a:ext uri="{FF2B5EF4-FFF2-40B4-BE49-F238E27FC236}">
                <a16:creationId xmlns:a16="http://schemas.microsoft.com/office/drawing/2014/main" id="{5C02A296-FFF6-4EBC-A38E-89B7CE153EBE}"/>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B3BDAA3D-5D5D-4492-A0C6-C6BC108D6CE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4  ·  LESSON A</a:t>
            </a:r>
          </a:p>
        </p:txBody>
      </p:sp>
      <p:sp>
        <p:nvSpPr>
          <p:cNvPr id="6" name="page">
            <a:extLst xmlns:a="http://schemas.openxmlformats.org/drawingml/2006/main">
              <a:ext uri="{FF2B5EF4-FFF2-40B4-BE49-F238E27FC236}">
                <a16:creationId xmlns:a16="http://schemas.microsoft.com/office/drawing/2014/main" id="{907FE46C-FBA3-4FA2-91AB-2867A20656B4}"/>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14</a:t>
            </a:r>
          </a:p>
        </p:txBody>
      </p:sp>
      <p:sp>
        <p:nvSpPr>
          <p:cNvPr id="7" name="statement">
            <a:extLst xmlns:a="http://schemas.openxmlformats.org/drawingml/2006/main">
              <a:ext uri="{FF2B5EF4-FFF2-40B4-BE49-F238E27FC236}">
                <a16:creationId xmlns:a16="http://schemas.microsoft.com/office/drawing/2014/main" id="{2E984058-7F73-4452-93C4-B7D0E23FCDA9}"/>
              </a:ext>
            </a:extLst>
          </p:cNvPr>
          <p:cNvSpPr>
            <a:spLocks xmlns:a="http://schemas.openxmlformats.org/drawingml/2006/main" noGrp="1"/>
          </p:cNvSpPr>
          <p:nvPr/>
        </p:nvSpPr>
        <p:spPr>
          <a:xfrm xmlns:a="http://schemas.openxmlformats.org/drawingml/2006/main">
            <a:off x="609600" y="26860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925" b="1">
                <a:solidFill>
                  <a:srgbClr val="28685E"/>
                </a:solidFill>
              </a:defRPr>
            </a:pPr>
            <a:r>
              <a:rPr sz="2925" b="1">
                <a:solidFill>
                  <a:srgbClr val="28685E"/>
                </a:solidFill>
              </a:rPr>
              <a:t>Moving the pivot nearer the load can reduce the effort force needed.</a:t>
            </a:r>
          </a:p>
        </p:txBody>
      </p:sp>
      <p:sp>
        <p:nvSpPr>
          <p:cNvPr id="8" name="callout">
            <a:extLst xmlns:a="http://schemas.openxmlformats.org/drawingml/2006/main">
              <a:ext uri="{FF2B5EF4-FFF2-40B4-BE49-F238E27FC236}">
                <a16:creationId xmlns:a16="http://schemas.microsoft.com/office/drawing/2014/main" id="{94ACEC5D-984B-49F3-8553-5E10F988EC40}"/>
              </a:ext>
            </a:extLst>
          </p:cNvPr>
          <p:cNvSpPr>
            <a:spLocks xmlns:a="http://schemas.openxmlformats.org/drawingml/2006/main" noGrp="1"/>
          </p:cNvSpPr>
          <p:nvPr/>
        </p:nvSpPr>
        <p:spPr>
          <a:xfrm xmlns:a="http://schemas.openxmlformats.org/drawingml/2006/main">
            <a:off x="609600" y="4552950"/>
            <a:ext cx="10858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700" b="0">
                <a:solidFill>
                  <a:srgbClr val="152B3A"/>
                </a:solidFill>
              </a:defRPr>
            </a:pPr>
            <a:r>
              <a:rPr sz="2700" b="0">
                <a:solidFill>
                  <a:srgbClr val="152B3A"/>
                </a:solidFill>
              </a:rPr>
              <a:t>For the same small load rise, the effort end must travel farther.</a:t>
            </a:r>
          </a:p>
        </p:txBody>
      </p:sp>
    </p:spTree>
    <p:extLst>
      <p:ext uri="{BB962C8B-B14F-4D97-AF65-F5344CB8AC3E}">
        <p14:creationId xmlns:p14="http://schemas.microsoft.com/office/powerpoint/2010/main" val="1778224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2026-09-06T12:53:55.7350000Z</dcterms:created>
  <dcterms:modified xsi:type="dcterms:W3CDTF">2026-09-06T12:53:55.7350000Z</dcterms:modified>
</coreProperties>
</file>