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4a9d066679d493a" Type="http://schemas.openxmlformats.org/package/2006/relationships/metadata/core-properties" Target="docProps/core.xml"/><Relationship Id="R640db78264e44b53" Type="http://schemas.openxmlformats.org/officeDocument/2006/relationships/extended-properties" Target="docProps/app.xml"/><Relationship Id="Re721886399554dc7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93b5aa0ffc4540"/>
  </p:sldMasterIdLst>
  <p:notesMasterIdLst>
    <p:notesMasterId xmlns:r="http://schemas.openxmlformats.org/officeDocument/2006/relationships" r:id="R4f1e0c7a6e3d4c1f"/>
  </p:notesMasterIdLst>
  <p:sldIdLst>
    <p:sldId xmlns:r="http://schemas.openxmlformats.org/officeDocument/2006/relationships" id="256" r:id="Rf1d157fceb9b4b71"/>
    <p:sldId xmlns:r="http://schemas.openxmlformats.org/officeDocument/2006/relationships" id="257" r:id="Rf030e73070b34540"/>
    <p:sldId xmlns:r="http://schemas.openxmlformats.org/officeDocument/2006/relationships" id="258" r:id="R4f93b0a001704989"/>
    <p:sldId xmlns:r="http://schemas.openxmlformats.org/officeDocument/2006/relationships" id="259" r:id="R7ff1679c9b784993"/>
    <p:sldId xmlns:r="http://schemas.openxmlformats.org/officeDocument/2006/relationships" id="260" r:id="R80e83670b0704a52"/>
    <p:sldId xmlns:r="http://schemas.openxmlformats.org/officeDocument/2006/relationships" id="261" r:id="R67593080d4d846f5"/>
    <p:sldId xmlns:r="http://schemas.openxmlformats.org/officeDocument/2006/relationships" id="262" r:id="R73a3864ec34c4976"/>
    <p:sldId xmlns:r="http://schemas.openxmlformats.org/officeDocument/2006/relationships" id="263" r:id="Rdd475a069ef74c11"/>
    <p:sldId xmlns:r="http://schemas.openxmlformats.org/officeDocument/2006/relationships" id="264" r:id="R359d76e6c7ed4d05"/>
    <p:sldId xmlns:r="http://schemas.openxmlformats.org/officeDocument/2006/relationships" id="265" r:id="R96438b29b0ba46a8"/>
    <p:sldId xmlns:r="http://schemas.openxmlformats.org/officeDocument/2006/relationships" id="266" r:id="R77ee211c28c74e75"/>
    <p:sldId xmlns:r="http://schemas.openxmlformats.org/officeDocument/2006/relationships" id="267" r:id="R61dd767f5cfb4859"/>
    <p:sldId xmlns:r="http://schemas.openxmlformats.org/officeDocument/2006/relationships" id="268" r:id="R7eeeca9a2408457d"/>
    <p:sldId xmlns:r="http://schemas.openxmlformats.org/officeDocument/2006/relationships" id="269" r:id="R97bfde33ff6d4b35"/>
    <p:sldId xmlns:r="http://schemas.openxmlformats.org/officeDocument/2006/relationships" id="270" r:id="R04e5b99f8b484dbb"/>
    <p:sldId xmlns:r="http://schemas.openxmlformats.org/officeDocument/2006/relationships" id="271" r:id="R831810e5fc14422a"/>
    <p:sldId xmlns:r="http://schemas.openxmlformats.org/officeDocument/2006/relationships" id="272" r:id="Re9c2c277443b4c83"/>
    <p:sldId xmlns:r="http://schemas.openxmlformats.org/officeDocument/2006/relationships" id="273" r:id="Rb9612c7d84a94985"/>
    <p:sldId xmlns:r="http://schemas.openxmlformats.org/officeDocument/2006/relationships" id="274" r:id="Rfc017f38207144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e5b99f8b484dbb" Type="http://schemas.openxmlformats.org/officeDocument/2006/relationships/slide" Target="slides/slide15.xml"/><Relationship Id="R359d76e6c7ed4d05" Type="http://schemas.openxmlformats.org/officeDocument/2006/relationships/slide" Target="slides/slide9.xml"/><Relationship Id="R3b85c13ba1a2420d" Type="http://schemas.openxmlformats.org/officeDocument/2006/relationships/theme" Target="theme/theme1.xml"/><Relationship Id="R3e93b5aa0ffc4540" Type="http://schemas.openxmlformats.org/officeDocument/2006/relationships/slideMaster" Target="slideMasters/slideMaster1.xml"/><Relationship Id="R4f1e0c7a6e3d4c1f" Type="http://schemas.openxmlformats.org/officeDocument/2006/relationships/notesMaster" Target="notesMasters/notesMaster1.xml"/><Relationship Id="R4f93b0a001704989" Type="http://schemas.openxmlformats.org/officeDocument/2006/relationships/slide" Target="slides/slide3.xml"/><Relationship Id="R4f9c4721bd5e429f" Type="http://schemas.openxmlformats.org/officeDocument/2006/relationships/presProps" Target="presProps.xml"/><Relationship Id="R61dd767f5cfb4859" Type="http://schemas.openxmlformats.org/officeDocument/2006/relationships/slide" Target="slides/slide12.xml"/><Relationship Id="R67593080d4d846f5" Type="http://schemas.openxmlformats.org/officeDocument/2006/relationships/slide" Target="slides/slide6.xml"/><Relationship Id="R73a3864ec34c4976" Type="http://schemas.openxmlformats.org/officeDocument/2006/relationships/slide" Target="slides/slide7.xml"/><Relationship Id="R77ee211c28c74e75" Type="http://schemas.openxmlformats.org/officeDocument/2006/relationships/slide" Target="slides/slide11.xml"/><Relationship Id="R7eeeca9a2408457d" Type="http://schemas.openxmlformats.org/officeDocument/2006/relationships/slide" Target="slides/slide13.xml"/><Relationship Id="R7ff1679c9b784993" Type="http://schemas.openxmlformats.org/officeDocument/2006/relationships/slide" Target="slides/slide4.xml"/><Relationship Id="R80e83670b0704a52" Type="http://schemas.openxmlformats.org/officeDocument/2006/relationships/slide" Target="slides/slide5.xml"/><Relationship Id="R831810e5fc14422a" Type="http://schemas.openxmlformats.org/officeDocument/2006/relationships/slide" Target="slides/slide16.xml"/><Relationship Id="R96438b29b0ba46a8" Type="http://schemas.openxmlformats.org/officeDocument/2006/relationships/slide" Target="slides/slide10.xml"/><Relationship Id="R97bfde33ff6d4b35" Type="http://schemas.openxmlformats.org/officeDocument/2006/relationships/slide" Target="slides/slide14.xml"/><Relationship Id="Rb9612c7d84a94985" Type="http://schemas.openxmlformats.org/officeDocument/2006/relationships/slide" Target="slides/slide18.xml"/><Relationship Id="Rbb2ae23bc4be4682" Type="http://schemas.openxmlformats.org/officeDocument/2006/relationships/tableStyles" Target="tableStyles.xml"/><Relationship Id="Rdd475a069ef74c11" Type="http://schemas.openxmlformats.org/officeDocument/2006/relationships/slide" Target="slides/slide8.xml"/><Relationship Id="Re9c2c277443b4c83" Type="http://schemas.openxmlformats.org/officeDocument/2006/relationships/slide" Target="slides/slide17.xml"/><Relationship Id="Rf030e73070b34540" Type="http://schemas.openxmlformats.org/officeDocument/2006/relationships/slide" Target="slides/slide2.xml"/><Relationship Id="Rf1d157fceb9b4b71" Type="http://schemas.openxmlformats.org/officeDocument/2006/relationships/slide" Target="slides/slide1.xml"/><Relationship Id="Rfc017f38207144b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3c7066b979ac4cc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d410e2c961644b8" Type="http://schemas.openxmlformats.org/officeDocument/2006/relationships/notesMaster" Target="../notesMasters/notesMaster1.xml"/><Relationship Id="Rc6cf3a514b164fba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eabd8d149de54e9d" Type="http://schemas.openxmlformats.org/officeDocument/2006/relationships/slide" Target="../slides/slide2.xml"/><Relationship Id="Reca138914d1b4f6a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81976d8d7e54c6b" Type="http://schemas.openxmlformats.org/officeDocument/2006/relationships/notesMaster" Target="../notesMasters/notesMaster1.xml"/><Relationship Id="R8ede835462ef4409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e3cda660c594238" Type="http://schemas.openxmlformats.org/officeDocument/2006/relationships/slide" Target="../slides/slide4.xml"/><Relationship Id="R899990651d2e424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8294ada574af42e9" Type="http://schemas.openxmlformats.org/officeDocument/2006/relationships/notesMaster" Target="../notesMasters/notesMaster1.xml"/><Relationship Id="Rb079f87fe12d47f7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3e97db4eb294b2b" Type="http://schemas.openxmlformats.org/officeDocument/2006/relationships/slide" Target="../slides/slide6.xml"/><Relationship Id="R5bc9639ba557483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dadc17adc3ad4bbb" Type="http://schemas.openxmlformats.org/officeDocument/2006/relationships/notesMaster" Target="../notesMasters/notesMaster1.xml"/><Relationship Id="Recf920690826435c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3039526abac4df5" Type="http://schemas.openxmlformats.org/officeDocument/2006/relationships/notesMaster" Target="../notesMasters/notesMaster1.xml"/><Relationship Id="Raafcd8e999c94de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c8623f6b48741f4" Type="http://schemas.openxmlformats.org/officeDocument/2006/relationships/notesMaster" Target="../notesMasters/notesMaster1.xml"/><Relationship Id="Rd3eb14153631402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47b015ae5774434" Type="http://schemas.openxmlformats.org/officeDocument/2006/relationships/slide" Target="../slides/slide10.xml"/><Relationship Id="R4f2a8f0d4ec14586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1568e553bb449a6" Type="http://schemas.openxmlformats.org/officeDocument/2006/relationships/slide" Target="../slides/slide11.xml"/><Relationship Id="R72ea381c6aab4dea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2fd57658f73e494b" Type="http://schemas.openxmlformats.org/officeDocument/2006/relationships/notesMaster" Target="../notesMasters/notesMaster1.xml"/><Relationship Id="Rbaab5c99b6ff48e8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809c5ff9a2742ea" Type="http://schemas.openxmlformats.org/officeDocument/2006/relationships/slide" Target="../slides/slide13.xml"/><Relationship Id="R8ef7a0ac0c234ce4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6aa9a34ead047b0" Type="http://schemas.openxmlformats.org/officeDocument/2006/relationships/notesMaster" Target="../notesMasters/notesMaster1.xml"/><Relationship Id="R393bc2868d6d40c0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7a8e76f88d5e448d" Type="http://schemas.openxmlformats.org/officeDocument/2006/relationships/notesMaster" Target="../notesMasters/notesMaster1.xml"/><Relationship Id="Rbafcb9b00bb840b8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080d116d75bf45da" Type="http://schemas.openxmlformats.org/officeDocument/2006/relationships/slide" Target="../slides/slide16.xml"/><Relationship Id="Ra947cb780d57429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9c791d71319e487f" Type="http://schemas.openxmlformats.org/officeDocument/2006/relationships/notesMaster" Target="../notesMasters/notesMaster1.xml"/><Relationship Id="Rb174ccfb8c204048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15c14372788a4205" Type="http://schemas.openxmlformats.org/officeDocument/2006/relationships/slide" Target="../slides/slide18.xml"/><Relationship Id="R50d2d759a0384c8c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667f0e0e24fe41a4" Type="http://schemas.openxmlformats.org/officeDocument/2006/relationships/slide" Target="../slides/slide19.xml"/><Relationship Id="R8639f790d7b94d7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SCI-GROW-A2-W02</a:t>
            </a:r>
          </a:p>
          <a:p xmlns:a="http://schemas.openxmlformats.org/drawingml/2006/main">
            <a:r>
              <a:t>SoW objective: Describe the Sun, Earth and Moon as approximately spherical bodies.</a:t>
            </a:r>
          </a:p>
          <a:p xmlns:a="http://schemas.openxmlformats.org/drawingml/2006/main">
            <a:r>
              <a:t>Reading band: GROW 8–11</a:t>
            </a:r>
          </a:p>
          <a:p xmlns:a="http://schemas.openxmlformats.org/drawingml/2006/main">
            <a:r>
              <a:t>Staff focus: {'i_do': 'Watch the ball, then point to the side you can see.', 'we_do': 'What is done? What does turning show next?', 'independent': 'Show your model choice. What can you explain yourself?'}</a:t>
            </a:r>
          </a:p>
          <a:p xmlns:a="http://schemas.openxmlformats.org/drawingml/2006/main">
            <a:r>
              <a:t>Prompt ladder: ['Wait and count to 5.', 'Point to the lesson’s diagram, kit or source.', 'Ask: What is done, and what is the next step?', 'Model one step, then return the next step to the pupil.', 'Finish one example together, then fade the help.']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NASA Science, Sketch the Shape of the Sun, https://science.nasa.gov/solar-system/skywatching/sketch-the-shape-of-the-sun-for-science-during-the-solar-eclipse/</a:t>
            </a:r>
          </a:p>
          <a:p xmlns:a="http://schemas.openxmlformats.org/drawingml/2006/main">
            <a:r>
              <a:t>NASA Science, What is a Planet?, https://science.nasa.gov/solar-system/planets/what-is-a-planet/; NASA Science, Facts About Earth, https://science.nasa.gov/earth/facts/</a:t>
            </a:r>
          </a:p>
          <a:p xmlns:a="http://schemas.openxmlformats.org/drawingml/2006/main">
            <a:r>
              <a:t>NASA Science, Top Moon Questions, https://science.nasa.gov/moon/top-moon-questions/</a:t>
            </a:r>
          </a:p>
          <a:p xmlns:a="http://schemas.openxmlformats.org/drawingml/2006/main">
            <a:r>
              <a:t>NASA eClips Glossary, model/simulation, https://science.nasa.gov/eclips/resources/glossary/; NASA Science, What is a Planet?, https://science.nasa.gov/solar-system/planets/what-is-a-planet/</a:t>
            </a:r>
          </a:p>
          <a:p xmlns:a="http://schemas.openxmlformats.org/drawingml/2006/main">
            <a:r>
              <a:t>NASA eClips Glossary, model/simulation, https://science.nasa.gov/eclips/resources/glossary/</a:t>
            </a:r>
          </a:p>
          <a:p xmlns:a="http://schemas.openxmlformats.org/drawingml/2006/main">
            <a:r>
              <a:t>NASA Science, eclipse geometry, https://science.nasa.gov/eclipses/geometry/</a:t>
            </a:r>
          </a:p>
          <a:p xmlns:a="http://schemas.openxmlformats.org/drawingml/2006/main">
            <a:r>
              <a:t>the GROW scheme of work</a:t>
            </a:r>
          </a:p>
          <a:p xmlns:a="http://schemas.openxmlformats.org/drawingml/2006/main">
            <a:r>
              <a:t>NASA Science, What is a Planet?, https://science.nasa.gov/solar-system/planets/what-is-a-planet/; NASA Science, Earth Facts, https://science.nasa.gov/earth/facts/; NASA eClips Glossary, model/simulation, https://science.nasa.gov/eclips/resources/glossary/</a:t>
            </a:r>
          </a:p>
          <a:p xmlns:a="http://schemas.openxmlformats.org/drawingml/2006/main">
            <a:r>
              <a:t>Local school risk assessment and CLEAPSS guidance; staff confirm exact kit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predictable seat or standing spot and the first visual cue. No public test.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three low-stakes retrieval questions; prior coverage must be checked.</a:t>
            </a:r>
          </a:p>
          <a:p xmlns:a="http://schemas.openxmlformats.org/drawingml/2006/main">
            <a:r>
              <a:t>What makes day turn to night at one place? → Earth turns on its axis.</a:t>
            </a:r>
          </a:p>
          <a:p xmlns:a="http://schemas.openxmlformats.org/drawingml/2006/main">
            <a:r>
              <a:t>What goes around the Sun? → Earth and other planets.</a:t>
            </a:r>
          </a:p>
          <a:p xmlns:a="http://schemas.openxmlformats.org/drawingml/2006/main">
            <a:r>
              <a:t>Name one force you have explored. → Gravity, air resistance or friction.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full reasoning step, pre-teach four words and ask the show-me question.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The disc is flat. A ball has a curved surface even when turned. Simplified shape model;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The ball.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part-done example, then allow paired talk before an answer. One-minute reset inside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Name the new curved side and explain why it helps.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Paper circle → flat</a:t>
            </a:r>
          </a:p>
          <a:p xmlns:a="http://schemas.openxmlformats.org/drawingml/2006/main">
            <a:r>
              <a:t>Coin face → flat</a:t>
            </a:r>
          </a:p>
          <a:p xmlns:a="http://schemas.openxmlformats.org/drawingml/2006/main">
            <a:r>
              <a:t>Ball → solid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pupils answer the four-option hinge; use the decision rule, not a score.</a:t>
            </a:r>
          </a:p>
          <a:p xmlns:a="http://schemas.openxmlformats.org/drawingml/2006/main">
            <a:r>
              <a:t>A. A thin flat disc. | Not correct | Uses a flat circle for a three-dimensional Moon.</a:t>
            </a:r>
          </a:p>
          <a:p xmlns:a="http://schemas.openxmlformats.org/drawingml/2006/main">
            <a:r>
              <a:t>B. A long straight stick. | Not correct | Mistakes a long one-dimensional shape for a round body.</a:t>
            </a:r>
          </a:p>
          <a:p xmlns:a="http://schemas.openxmlformats.org/drawingml/2006/main">
            <a:r>
              <a:t>C. A round solid ball. | Correct | Uses the new case accurately.</a:t>
            </a:r>
          </a:p>
          <a:p xmlns:a="http://schemas.openxmlformats.org/drawingml/2006/main">
            <a:r>
              <a:t>D. A flat square sheet. | Not correct | Chooses a flat square because the diagram is on paper.</a:t>
            </a:r>
          </a:p>
          <a:p xmlns:a="http://schemas.openxmlformats.org/drawingml/2006/main">
            <a:r>
              <a:t>About 3 in 4 or more right → move on. Otherwise re-model with the named I-do example, then ask the parallel hinge.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agreed pupils, the other holds the group; swap across the week. One-minute reset inside this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specific verbal comment (VF) and invite one self-edit (//) or read-back (?).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the answer and name how it changes the next example or support. One-minute reset and handoff.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98a981b692d4ef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8f1f3416cfc4e2f" Type="http://schemas.openxmlformats.org/officeDocument/2006/relationships/theme" Target="theme/theme2.xml"/><Relationship Id="Rf39a2fecd83a4503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9a2fecd83a45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505eed8419f47bb" Type="http://schemas.openxmlformats.org/officeDocument/2006/relationships/slideLayout" Target="../slideLayouts/slideLayout1.xml"/><Relationship Id="Rf009fd308c074ac5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8ac18e9eeacb4265" Type="http://schemas.openxmlformats.org/officeDocument/2006/relationships/slideLayout" Target="../slideLayouts/slideLayout1.xml"/><Relationship Id="R99f8d2a9b3a7468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7136ef904354ffe" Type="http://schemas.openxmlformats.org/officeDocument/2006/relationships/slideLayout" Target="../slideLayouts/slideLayout1.xml"/><Relationship Id="Rca81350b6bf6421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0fbb64acccfc45ef" Type="http://schemas.openxmlformats.org/officeDocument/2006/relationships/slideLayout" Target="../slideLayouts/slideLayout1.xml"/><Relationship Id="Rd6782a49e9c24c8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7a89818666c6402c" Type="http://schemas.openxmlformats.org/officeDocument/2006/relationships/slideLayout" Target="../slideLayouts/slideLayout1.xml"/><Relationship Id="Rbfdbafd4561545d6" Type="http://schemas.openxmlformats.org/officeDocument/2006/relationships/notesSlide" Target="../notesSlides/notesSlide5.xml"/><Relationship Id="Rf78d548208794fc5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0e7f2b625fec4ab4" Type="http://schemas.openxmlformats.org/officeDocument/2006/relationships/notesSlide" Target="../notesSlides/notesSlide6.xml"/><Relationship Id="R30a4c522a64c46e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4c848089f5774045" Type="http://schemas.openxmlformats.org/officeDocument/2006/relationships/slideLayout" Target="../slideLayouts/slideLayout1.xml"/><Relationship Id="R56c8e01715f748bc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9b13f791db9548db" Type="http://schemas.openxmlformats.org/officeDocument/2006/relationships/notesSlide" Target="../notesSlides/notesSlide8.xml"/><Relationship Id="Rde5895212c6b4eca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2ff4a6c83ec475a" Type="http://schemas.openxmlformats.org/officeDocument/2006/relationships/slideLayout" Target="../slideLayouts/slideLayout1.xml"/><Relationship Id="Rb197f7fbdfb9487c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c279b9b434640ed" Type="http://schemas.openxmlformats.org/officeDocument/2006/relationships/notesSlide" Target="../notesSlides/notesSlide10.xml"/><Relationship Id="Re60f94a98dff4570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b510f046eac43ee" Type="http://schemas.openxmlformats.org/officeDocument/2006/relationships/notesSlide" Target="../notesSlides/notesSlide11.xml"/><Relationship Id="Rf13e6992bbd64947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58961b40a7f4b2b" Type="http://schemas.openxmlformats.org/officeDocument/2006/relationships/slideLayout" Target="../slideLayouts/slideLayout1.xml"/><Relationship Id="Rd400c16dfbb3402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7ec8bba2181b463f" Type="http://schemas.openxmlformats.org/officeDocument/2006/relationships/notesSlide" Target="../notesSlides/notesSlide13.xml"/><Relationship Id="R866cab0cd8aa4c90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3b11dc9057e34d8b" Type="http://schemas.openxmlformats.org/officeDocument/2006/relationships/notesSlide" Target="../notesSlides/notesSlide14.xml"/><Relationship Id="Rc6e58366e81c485d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c7284b16a2f145c0" Type="http://schemas.openxmlformats.org/officeDocument/2006/relationships/notesSlide" Target="../notesSlides/notesSlide15.xml"/><Relationship Id="Rf262c6100cd34986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29a8a528932140be" Type="http://schemas.openxmlformats.org/officeDocument/2006/relationships/notesSlide" Target="../notesSlides/notesSlide16.xml"/><Relationship Id="Rd5bbe4649c6d4deb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08416475a0d14ea5" Type="http://schemas.openxmlformats.org/officeDocument/2006/relationships/notesSlide" Target="../notesSlides/notesSlide17.xml"/><Relationship Id="Rc87e9cd0cf894ad5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9be2632338e64858" Type="http://schemas.openxmlformats.org/officeDocument/2006/relationships/slideLayout" Target="../slideLayouts/slideLayout1.xml"/><Relationship Id="Ra8ca32e6366b40ad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37db4eab68ce4733" Type="http://schemas.openxmlformats.org/officeDocument/2006/relationships/notesSlide" Target="../notesSlides/notesSlide19.xml"/><Relationship Id="R7c27d4df0f11418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70D4E-7C65-423D-A077-68547098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The shapes of Sun, Earth and Moon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A58C2-01F5-4948-AB11-2028EB39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50C00-AEED-4464-BCCE-71B2FEB2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F6ADC-4747-427E-A439-5F0B002E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how a ball models the Sun, Earth and Moon.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F34BF-25AB-449D-9F0A-C1500A62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choose a ball to model a round body.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52B85-EBBD-49CD-8837-DC3706AD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turn it to show more than one side.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A4A1C-7A5F-4B5E-9DC0-4D4B6E1E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name one limit of a model.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201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0BB2A-62A0-4138-9720-D077DABB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DE658-A9B6-49A9-82CF-C308FF70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EE8BB-ACD9-4C62-AA4B-F95D06F2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C934E-14FF-4A5E-8B22-96A610E3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Sort a coin, paper circle and ball: flat or solid?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89572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9637E-4839-45CD-BDC2-AA5E3E74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87C27-C6C2-4C6F-A495-9590EA66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733F2-A22A-4301-BAB2-02F777C0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68F11-E1C5-4357-881C-E9391C65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Say, point or write one answer for each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8FCF8-D904-4C93-A1F4-F0F4B5FE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makes day turn to night at one place?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5B0A1-F46B-45CB-8DE0-3B48A8D0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goes around the Sun?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DE65C-A396-4AE0-AC7C-4A28DCB0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one force you have explored.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84515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90E3E-9F3C-4E8C-A1CA-C61EE292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2D2C6-0C90-4A8E-A173-F64C24DB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42968-C38F-4EB2-B50B-871C922E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F2F49-CEC9-43DE-862F-27F9AE61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me turn a ball. I can see another curved side. A paper circle is flat. A ball helps show the shape of the Sun, Earth and Moon, but its size is not exact.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2EB49-320E-472B-880C-7A838A27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9959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Ball → turn it → see another curved side → useful for an approximately spherical body; ball sizes and gaps are not to scale.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32988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3689F-192F-473D-A310-2F98AAF1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9C056-7CF9-441B-AF1E-F5D0BC91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ADC6B-1536-4C1E-9778-2BAF1954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A flat disc is shown face-on and edge-on beside a shaded solid sphere shown before and after turning; another curved side comes into view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d548208794fc5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79817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254EA-4707-431D-8007-476F9DF7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AFA64-E096-4959-9C70-C6CD3C26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CC0C9-4E0F-40DF-9E61-F1FA0549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2D2CF-4578-47A3-A487-D924219D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Point: which object can I turn to see another curved side?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809069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25C51-F7DF-4FC8-94AE-BFB88720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A1FA6-FCDD-4FC4-A9EE-66B73F6C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5306D-10BC-47A9-8793-2E3B1D64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3EA05-0158-4630-89EE-AD632A7B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a ball and a paper circle. The model and first label are ready. Turn the ball and complete the missing label: new side or the same flat face?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24097-5A59-4F56-8954-5A71A22D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9959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Ball → turn it → see ____ → useful because ____.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848550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A5980-0BCA-4C04-859B-529D3A58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D3552-84F8-4B0A-8347-A591F92B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47832-CF64-4869-AC60-8F7FEB98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85461-86A6-459F-BDBE-FAC8F2BD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flat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4DA6B-EC3B-4399-9199-849529B5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solid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9EA17-36EB-4961-A713-0325FBD7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Paper circle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45CB8-9B2D-42DA-9C11-2BA960C0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Coin 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E5DA5-F65E-4CE1-A2C4-1479DF80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Ball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59493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1F579-EB04-46E1-8489-90FCDD3B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084F8-D704-4D1D-BE4D-CA284A01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18A77-69FA-4256-A767-14125649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85A98-4DB5-45AC-B618-832B85C1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class models the Moon’s whole shape. Which object is the closest simple shape?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D9A53-B85F-4E66-9890-8B9D48F4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thin flat disc.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518D5-AE7D-4538-857D-4413F6C5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long straight stick.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BF956-FF57-4F7B-943D-6376A0CB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round solid ball.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02665-6525-4BA7-A460-157AAA6C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707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flat square sheet.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439220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C912C-C8CD-4FFC-BCBE-59BA5761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07066-A5BF-4EDB-9128-C5104593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8290D-9FA7-406A-A0B3-8CB0583B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0F3F2-2C8F-4981-9415-B9A4672F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Turn a shape model. Explain one way it helps and one limit. You can show, say or draw.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153D3-A8E8-4EC1-B729-D2E41D77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Choose a ball rather than a flat circle.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FA111-10D5-4299-A420-E9CA3317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choose the ___ to show shape.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561904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942F5-1450-47CA-AF9A-0847D677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2E5B1-E3B2-466A-99BE-D4B5A9FB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8D40A-29EF-46DE-81A9-54A18A9E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E1617-DB25-45F5-9922-AEBF4115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Turn a shape model. Explain one way it helps and one limit. You can show, say or draw.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43AA7-1058-4EE8-8AF4-0DB30C35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Turn the ball and explain what new view it gives.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CFCCF-C9C6-40CD-9976-271B1BAD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When I turn it, I see ___ because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167463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271AA-49A2-4D3E-B3C0-E80A88A5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053D1-7FA0-44DC-85F3-21407706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A1C39-27F6-4A00-812C-EB286EA5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5F2D9-8C1E-4DA8-BC3B-A5A26027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Turn a shape model. Explain one way it helps and one limit. You can show, say or draw.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249E6-B75F-48FC-9F2E-6A525D9F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Explain what a ball model reveals and how its scale may mislead.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B7DE2-B387-4457-A06E-6A4E6523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model helps because ___; its limit is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50184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F85CE-5834-409B-A91A-B7E12B00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C8E9E-9737-48B5-8CE1-69D09CA0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35FA5-C309-45A8-80AF-8F6C934A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8C09F-3F4A-40D3-93A0-AA43E623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Compare a ball and a photo. What can each show, and what does each hide?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8F32E-10F3-4BC3-893D-AC1A609A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photo shows Earth as a circle. Choose another observation or model to test its full shape. Explain why one photo is not enough.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199960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7FCC8-996A-4E88-B51A-5D1A8705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7B3BA-5A13-405C-A872-9762C39F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5BC06-BE15-48DA-AA0B-483B3F2F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C5B28-90B5-41B6-BDAB-818E86E4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Hear a comment on your model. Change one label or spoken reason and say what changed.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535104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0BCEF-8F5A-48CE-8B31-1DABC0D9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9A1AD-9AAE-4D75-8D1B-90E3A2FF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76EAE-DBB3-48D8-935B-F318295A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3C229-7998-4B3A-8002-FEAA0AB8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which shape model helps. Say one way it helps and one thing it cannot show exactly.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CE121-36CE-4BD9-AAE5-4C7169CB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78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? Read it back: show how a ball models the Sun, Earth and Moon.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0E3BA-07E1-471F-B7C4-F98DAEF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22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was… say what changed. Next I need to… name a fix.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36600-5396-459E-B3B9-C7BCDDD3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6595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choose a ball to model a round body. I can turn it to show more than one side. I can name one limit of a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41EE9-D277-410C-AC24-3EC1365D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099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adult hears you and chooses our next example. Take one quiet minute.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3404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F37DC-D3DB-4AB6-8B50-08857FB3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spherical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BF109-3D59-4561-9B2D-D38B0E08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7F567-951F-4E8E-A775-2B0B724F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E30C4-A69E-452B-8078-A54D62A5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shaped roughly like a ball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98B68-EDA6-41B9-A2DF-C81AA938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Earth is approximately spherical.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932856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9AB0A-665C-48EE-8BB7-D9FD8BD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curve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C9487-2C8A-4315-9BA9-4E9B8A7E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2D57B-0AC2-477F-96F7-95966C9B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D0D84-7DBF-4046-B77E-244E6DD5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line or surface that bends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B2EFB-FBA5-4A69-8E16-B1C73CD9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ball has a curved surface.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155543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211EA-AD34-4199-AE4F-55A1B05C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shadow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9E6ED-1FF0-460E-841D-D13EC82F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C2BCD-474B-4DD2-8FDB-EAE800C0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7E1E6-454C-448B-87A7-63D338B5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dark area where an object blocks light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778E1-5568-4725-824C-94BBEEF0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ball makes a shadow on the card.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092190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63450-EBB3-454E-AA01-48EFFA4B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AFC42-2CC7-4A65-80D2-889BE515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SCI-GROW-A2-W02  •  GROW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6FFF3-1BFB-4803-A264-04989E30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D48EB-4282-4B65-AAE5-00029506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simple way to show an object or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6D7DF-E89A-4AC5-B309-180164F5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ball is a model of Earth’s shape.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96392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2026-09-25T12:29:05.9540000Z</dcterms:created>
  <dcterms:modified xsi:type="dcterms:W3CDTF">2026-09-25T12:29:05.9540000Z</dcterms:modified>
</coreProperties>
</file>