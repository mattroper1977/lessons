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69bde3e2a464ae6" Type="http://schemas.openxmlformats.org/package/2006/relationships/metadata/core-properties" Target="docProps/core.xml"/><Relationship Id="R73380311091146b8" Type="http://schemas.openxmlformats.org/officeDocument/2006/relationships/extended-properties" Target="docProps/app.xml"/><Relationship Id="Rcd1b2af23645448d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78be40e2a64c70"/>
  </p:sldMasterIdLst>
  <p:notesMasterIdLst>
    <p:notesMasterId xmlns:r="http://schemas.openxmlformats.org/officeDocument/2006/relationships" r:id="R7846aa9c02f34eb3"/>
  </p:notesMasterIdLst>
  <p:sldIdLst>
    <p:sldId xmlns:r="http://schemas.openxmlformats.org/officeDocument/2006/relationships" id="256" r:id="Rb4d739a1f846407a"/>
    <p:sldId xmlns:r="http://schemas.openxmlformats.org/officeDocument/2006/relationships" id="257" r:id="R9b9f2e821c644532"/>
    <p:sldId xmlns:r="http://schemas.openxmlformats.org/officeDocument/2006/relationships" id="258" r:id="R794eb03e220d4b5b"/>
    <p:sldId xmlns:r="http://schemas.openxmlformats.org/officeDocument/2006/relationships" id="259" r:id="R23f133876cfe4c3b"/>
    <p:sldId xmlns:r="http://schemas.openxmlformats.org/officeDocument/2006/relationships" id="260" r:id="Rbb87040fcf7047cb"/>
    <p:sldId xmlns:r="http://schemas.openxmlformats.org/officeDocument/2006/relationships" id="261" r:id="R1fbcf151546844a2"/>
    <p:sldId xmlns:r="http://schemas.openxmlformats.org/officeDocument/2006/relationships" id="262" r:id="R479225bd45094f79"/>
    <p:sldId xmlns:r="http://schemas.openxmlformats.org/officeDocument/2006/relationships" id="263" r:id="R2f73a5c996574eed"/>
    <p:sldId xmlns:r="http://schemas.openxmlformats.org/officeDocument/2006/relationships" id="264" r:id="R7bb886b8dd0f425c"/>
    <p:sldId xmlns:r="http://schemas.openxmlformats.org/officeDocument/2006/relationships" id="265" r:id="Ref5f76900fb24802"/>
    <p:sldId xmlns:r="http://schemas.openxmlformats.org/officeDocument/2006/relationships" id="266" r:id="Rd483b573be184969"/>
    <p:sldId xmlns:r="http://schemas.openxmlformats.org/officeDocument/2006/relationships" id="267" r:id="R259c3f639de64a4e"/>
    <p:sldId xmlns:r="http://schemas.openxmlformats.org/officeDocument/2006/relationships" id="268" r:id="R72f2359f637f465a"/>
    <p:sldId xmlns:r="http://schemas.openxmlformats.org/officeDocument/2006/relationships" id="269" r:id="R83413c62a2cd4cfa"/>
    <p:sldId xmlns:r="http://schemas.openxmlformats.org/officeDocument/2006/relationships" id="270" r:id="R2b8fac0278b6454f"/>
    <p:sldId xmlns:r="http://schemas.openxmlformats.org/officeDocument/2006/relationships" id="271" r:id="Rcc4ac1240d714390"/>
    <p:sldId xmlns:r="http://schemas.openxmlformats.org/officeDocument/2006/relationships" id="272" r:id="Ra86dc23c79b24fe5"/>
    <p:sldId xmlns:r="http://schemas.openxmlformats.org/officeDocument/2006/relationships" id="273" r:id="R34ec976bc6cd4735"/>
    <p:sldId xmlns:r="http://schemas.openxmlformats.org/officeDocument/2006/relationships" id="274" r:id="R18bb2c7d85444a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8bb2c7d85444a9f" Type="http://schemas.openxmlformats.org/officeDocument/2006/relationships/slide" Target="slides/slide19.xml"/><Relationship Id="R1fbcf151546844a2" Type="http://schemas.openxmlformats.org/officeDocument/2006/relationships/slide" Target="slides/slide6.xml"/><Relationship Id="R23f133876cfe4c3b" Type="http://schemas.openxmlformats.org/officeDocument/2006/relationships/slide" Target="slides/slide4.xml"/><Relationship Id="R259c3f639de64a4e" Type="http://schemas.openxmlformats.org/officeDocument/2006/relationships/slide" Target="slides/slide12.xml"/><Relationship Id="R2b8fac0278b6454f" Type="http://schemas.openxmlformats.org/officeDocument/2006/relationships/slide" Target="slides/slide15.xml"/><Relationship Id="R2f73a5c996574eed" Type="http://schemas.openxmlformats.org/officeDocument/2006/relationships/slide" Target="slides/slide8.xml"/><Relationship Id="R34ec976bc6cd4735" Type="http://schemas.openxmlformats.org/officeDocument/2006/relationships/slide" Target="slides/slide18.xml"/><Relationship Id="R479225bd45094f79" Type="http://schemas.openxmlformats.org/officeDocument/2006/relationships/slide" Target="slides/slide7.xml"/><Relationship Id="R72f2359f637f465a" Type="http://schemas.openxmlformats.org/officeDocument/2006/relationships/slide" Target="slides/slide13.xml"/><Relationship Id="R7846aa9c02f34eb3" Type="http://schemas.openxmlformats.org/officeDocument/2006/relationships/notesMaster" Target="notesMasters/notesMaster1.xml"/><Relationship Id="R794eb03e220d4b5b" Type="http://schemas.openxmlformats.org/officeDocument/2006/relationships/slide" Target="slides/slide3.xml"/><Relationship Id="R7bb886b8dd0f425c" Type="http://schemas.openxmlformats.org/officeDocument/2006/relationships/slide" Target="slides/slide9.xml"/><Relationship Id="R83413c62a2cd4cfa" Type="http://schemas.openxmlformats.org/officeDocument/2006/relationships/slide" Target="slides/slide14.xml"/><Relationship Id="R8678be40e2a64c70" Type="http://schemas.openxmlformats.org/officeDocument/2006/relationships/slideMaster" Target="slideMasters/slideMaster1.xml"/><Relationship Id="R9b9f2e821c644532" Type="http://schemas.openxmlformats.org/officeDocument/2006/relationships/slide" Target="slides/slide2.xml"/><Relationship Id="Ra86dc23c79b24fe5" Type="http://schemas.openxmlformats.org/officeDocument/2006/relationships/slide" Target="slides/slide17.xml"/><Relationship Id="Rb4d739a1f846407a" Type="http://schemas.openxmlformats.org/officeDocument/2006/relationships/slide" Target="slides/slide1.xml"/><Relationship Id="Rbb87040fcf7047cb" Type="http://schemas.openxmlformats.org/officeDocument/2006/relationships/slide" Target="slides/slide5.xml"/><Relationship Id="Rcc4ac1240d714390" Type="http://schemas.openxmlformats.org/officeDocument/2006/relationships/slide" Target="slides/slide16.xml"/><Relationship Id="Rd1e03f0ba07e466f" Type="http://schemas.openxmlformats.org/officeDocument/2006/relationships/theme" Target="theme/theme1.xml"/><Relationship Id="Rd483b573be184969" Type="http://schemas.openxmlformats.org/officeDocument/2006/relationships/slide" Target="slides/slide11.xml"/><Relationship Id="Rd7007cef212f4dea" Type="http://schemas.openxmlformats.org/officeDocument/2006/relationships/presProps" Target="presProps.xml"/><Relationship Id="Ref5f76900fb24802" Type="http://schemas.openxmlformats.org/officeDocument/2006/relationships/slide" Target="slides/slide10.xml"/><Relationship Id="Rf7940febb36343de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6292ced2d6ab4c0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c87a68d617948f0" Type="http://schemas.openxmlformats.org/officeDocument/2006/relationships/slide" Target="../slides/slide1.xml"/><Relationship Id="Rfc10f12e56f544bc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741509161de3486f" Type="http://schemas.openxmlformats.org/officeDocument/2006/relationships/notesMaster" Target="../notesMasters/notesMaster1.xml"/><Relationship Id="Rc657c593ff464e35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10cb45429794939" Type="http://schemas.openxmlformats.org/officeDocument/2006/relationships/slide" Target="../slides/slide3.xml"/><Relationship Id="R7188b2e942ec48b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be354f4cf874f20" Type="http://schemas.openxmlformats.org/officeDocument/2006/relationships/slide" Target="../slides/slide4.xml"/><Relationship Id="Raecdde9c6ba1438e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83d6187a69746c9" Type="http://schemas.openxmlformats.org/officeDocument/2006/relationships/slide" Target="../slides/slide5.xml"/><Relationship Id="R8da004154b5246ad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27345566c86a49a1" Type="http://schemas.openxmlformats.org/officeDocument/2006/relationships/slide" Target="../slides/slide6.xml"/><Relationship Id="R740be4d5b64d44e0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353073ca4d6d4aa3" Type="http://schemas.openxmlformats.org/officeDocument/2006/relationships/slide" Target="../slides/slide7.xml"/><Relationship Id="Rb5ea059f118040d6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22e95614c999458e" Type="http://schemas.openxmlformats.org/officeDocument/2006/relationships/notesMaster" Target="../notesMasters/notesMaster1.xml"/><Relationship Id="R614337172dce4e5a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94a4cda1992a45fc" Type="http://schemas.openxmlformats.org/officeDocument/2006/relationships/notesMaster" Target="../notesMasters/notesMaster1.xml"/><Relationship Id="Rc909558ecfa14717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864619da55504412" Type="http://schemas.openxmlformats.org/officeDocument/2006/relationships/notesMaster" Target="../notesMasters/notesMaster1.xml"/><Relationship Id="Rd6bcd75643754556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53cffb1721514bf6" Type="http://schemas.openxmlformats.org/officeDocument/2006/relationships/notesMaster" Target="../notesMasters/notesMaster1.xml"/><Relationship Id="Ra40e1e51ebf548b6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411c2dd339c549c5" Type="http://schemas.openxmlformats.org/officeDocument/2006/relationships/notesMaster" Target="../notesMasters/notesMaster1.xml"/><Relationship Id="Ra8cd51913e6741c3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5153b6e41ea5404b" Type="http://schemas.openxmlformats.org/officeDocument/2006/relationships/slide" Target="../slides/slide13.xml"/><Relationship Id="Raea54bb923c04c8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02006db8a3bf40b7" Type="http://schemas.openxmlformats.org/officeDocument/2006/relationships/slide" Target="../slides/slide14.xml"/><Relationship Id="R7358aeb06f514d3d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24a453af4f86450f" Type="http://schemas.openxmlformats.org/officeDocument/2006/relationships/slide" Target="../slides/slide15.xml"/><Relationship Id="R82f7ed27cd134799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3c4bd789d56c4d64" Type="http://schemas.openxmlformats.org/officeDocument/2006/relationships/slide" Target="../slides/slide16.xml"/><Relationship Id="R80ed8bb6102f48f4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8a61fd461f524311" Type="http://schemas.openxmlformats.org/officeDocument/2006/relationships/notesMaster" Target="../notesMasters/notesMaster1.xml"/><Relationship Id="Rf827f6c661434368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355cf0c2196b452c" Type="http://schemas.openxmlformats.org/officeDocument/2006/relationships/slide" Target="../slides/slide18.xml"/><Relationship Id="Rd5bbc07135db4c1c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0d28a98b5d8d411f" Type="http://schemas.openxmlformats.org/officeDocument/2006/relationships/notesMaster" Target="../notesMasters/notesMaster1.xml"/><Relationship Id="Rd421574540f34ec5" Type="http://schemas.openxmlformats.org/officeDocument/2006/relationships/slide" Target="../slides/slide19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code: SCI-GROW-A2-W01</a:t>
            </a:r>
          </a:p>
          <a:p xmlns:a="http://schemas.openxmlformats.org/drawingml/2006/main">
            <a:r>
              <a:t>SoW objective: Explain day and night and the apparent movement of the Sun.</a:t>
            </a:r>
          </a:p>
          <a:p xmlns:a="http://schemas.openxmlformats.org/drawingml/2006/main">
            <a:r>
              <a:t>Reading band: GROW 8–11</a:t>
            </a:r>
          </a:p>
          <a:p xmlns:a="http://schemas.openxmlformats.org/drawingml/2006/main">
            <a:r>
              <a:t>Staff focus: {'i_do': 'Watch the dot. Point to it when it faces the light.', 'we_do': 'What is done already? What step is left for you?', 'independent': 'Show your first step. What can you do on your own next?'}</a:t>
            </a:r>
          </a:p>
          <a:p xmlns:a="http://schemas.openxmlformats.org/drawingml/2006/main">
            <a:r>
              <a:t>Prompt ladder: ['Wait and count to 5.', 'Point to the dot or light.', 'Ask: What changes at the dot?', 'Model one turn; let the pupil try.', 'Finish one example together, then return the next turn to the pupil.']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NASA Science, Heliophysics Big Idea 1.1, https://science.nasa.gov/learn/heat/big-ideas/big-idea-1-1/</a:t>
            </a:r>
          </a:p>
          <a:p xmlns:a="http://schemas.openxmlformats.org/drawingml/2006/main">
            <a:r>
              <a:t>NASA Science, Facts About Earth, https://science.nasa.gov/earth/facts/; NASA Space Place, Glossary, https://spaceplace.nasa.gov/glossary/en/</a:t>
            </a:r>
          </a:p>
          <a:p xmlns:a="http://schemas.openxmlformats.org/drawingml/2006/main">
            <a:r>
              <a:t>NASA Science, Moon Facts, https://science.nasa.gov/moon/facts/</a:t>
            </a:r>
          </a:p>
          <a:p xmlns:a="http://schemas.openxmlformats.org/drawingml/2006/main">
            <a:r>
              <a:t>NASA Science, Facts About Earth, https://science.nasa.gov/earth/facts/; NASA Science, Earth spin axis, https://science.nasa.gov/earth/climate-change/scientists-id-three-causes-of-earths-spin-axis-drift/</a:t>
            </a:r>
          </a:p>
          <a:p xmlns:a="http://schemas.openxmlformats.org/drawingml/2006/main">
            <a:r>
              <a:t>NASA Science, Eclipse geometry, https://science.nasa.gov/eclipses/geometry/</a:t>
            </a:r>
          </a:p>
          <a:p xmlns:a="http://schemas.openxmlformats.org/drawingml/2006/main">
            <a:r>
              <a:t>GROW scheme of work, Autumn 1 weeks 1, 4 and 7</a:t>
            </a:r>
          </a:p>
          <a:p xmlns:a="http://schemas.openxmlformats.org/drawingml/2006/main">
            <a:r>
              <a:t>NASA Science, Heliophysics Big Idea 1.1, https://science.nasa.gov/learn/heat/big-ideas/big-idea-1-1/; NASA Science, Earth spin axis, https://science.nasa.gov/earth/climate-change/scientists-id-three-causes-of-earths-spin-axis-drift/</a:t>
            </a:r>
          </a:p>
          <a:p xmlns:a="http://schemas.openxmlformats.org/drawingml/2006/main">
            <a:r>
              <a:t>NASA Science, Facts About Earth, https://science.nasa.gov/earth/facts/</a:t>
            </a:r>
          </a:p>
          <a:p xmlns:a="http://schemas.openxmlformats.org/drawingml/2006/main">
            <a:r>
              <a:t>Local school risk assessment and CLEAPSS guidance; staff confirm exact kit</a:t>
            </a:r>
          </a:p>
          <a:p xmlns:a="http://schemas.openxmlformats.org/drawingml/2006/main">
            <a:r>
              <a:t>lesson content–source checks ruling; static SVG geometry and mechanism check; browser confirmation remains NOT RUN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a seat or standing spot. End with a one-minute reset.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three low-stakes questions without a public test.</a:t>
            </a:r>
          </a:p>
          <a:p xmlns:a="http://schemas.openxmlformats.org/drawingml/2006/main">
            <a:r>
              <a:t>What goes around Earth? → The Moon.</a:t>
            </a:r>
          </a:p>
          <a:p xmlns:a="http://schemas.openxmlformats.org/drawingml/2006/main">
            <a:r>
              <a:t>Name one mechanism from our forces work. → A lever, pulley or gear.</a:t>
            </a:r>
          </a:p>
          <a:p xmlns:a="http://schemas.openxmlformats.org/drawingml/2006/main">
            <a:r>
              <a:t>Name one force from our first science week. → Gravity, air resistance or friction.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full sequence. Keep light out of eyes. Ask the show-me check.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Light reaches one side of Earth. This model is simplified and not to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On the side facing the torch or light.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Wait for the missing step. End with a one-minute reset.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Missing step: Name night when the dot faces away from the torch.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The missing word is → See the lesson teacher note.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an all-pupil hinge response and the decision rule in the note.</a:t>
            </a:r>
          </a:p>
          <a:p xmlns:a="http://schemas.openxmlformats.org/drawingml/2006/main">
            <a:r>
              <a:t>A. Day at the red dot. | Not correct | Keeps the old day label after the dot has rotated into shade.</a:t>
            </a:r>
          </a:p>
          <a:p xmlns:a="http://schemas.openxmlformats.org/drawingml/2006/main">
            <a:r>
              <a:t>B. The Sun turning off now. | Not correct | Treats darkness at one place as the Sun switching off.</a:t>
            </a:r>
          </a:p>
          <a:p xmlns:a="http://schemas.openxmlformats.org/drawingml/2006/main">
            <a:r>
              <a:t>C. The whole Earth going dark. | Not correct | Extends one dot’s night to every place on Earth.</a:t>
            </a:r>
          </a:p>
          <a:p xmlns:a="http://schemas.openxmlformats.org/drawingml/2006/main">
            <a:r>
              <a:t>D. Night at the red dot. | Correct | Uses the new case accurately.</a:t>
            </a:r>
          </a:p>
          <a:p xmlns:a="http://schemas.openxmlformats.org/drawingml/2006/main">
            <a:r>
              <a:t>About 3 in 4 or more right → move on. Otherwise re-model with the dot on the far side of the ball, then ask the parallel hinge.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agreed pupils, the other holds the group; swap across the week. One-minute reset at end.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agreed pupils, the other holds the group; swap across the week. One-minute reset at end.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agreed pupils, the other holds the group; swap across the week. One-minute reset at end.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one specific comment, invite a self-edit (//) or read-back (?).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Hear answer, choose next model or help; hand over highest prompt and independent part.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64f460f8ad394d0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fb517d656744a21" Type="http://schemas.openxmlformats.org/officeDocument/2006/relationships/slideLayout" Target="../slideLayouts/slideLayout1.xml"/><Relationship Id="R818a729d19a34d30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b517d656744a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dbd0f029b95c4908" Type="http://schemas.openxmlformats.org/officeDocument/2006/relationships/notesSlide" Target="../notesSlides/notesSlide1.xml"/><Relationship Id="Reb7b6363fac44eef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65e2af10d9794e13" Type="http://schemas.openxmlformats.org/officeDocument/2006/relationships/notesSlide" Target="../notesSlides/notesSlide2.xml"/><Relationship Id="Rc469c34e85714706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585e12965c534cca" Type="http://schemas.openxmlformats.org/officeDocument/2006/relationships/notesSlide" Target="../notesSlides/notesSlide3.xml"/><Relationship Id="R5d5ffa71d017463f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4153171ad47b4c8d" Type="http://schemas.openxmlformats.org/officeDocument/2006/relationships/slideLayout" Target="../slideLayouts/slideLayout1.xml"/><Relationship Id="Rd0314ea9768343e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733f5b8fe67b4524" Type="http://schemas.openxmlformats.org/officeDocument/2006/relationships/image" Target="../media/image.png"/><Relationship Id="R88bd15ee9e2749cf" Type="http://schemas.openxmlformats.org/officeDocument/2006/relationships/slideLayout" Target="../slideLayouts/slideLayout1.xml"/><Relationship Id="R911d99603db444c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96207d510b5041ca" Type="http://schemas.openxmlformats.org/officeDocument/2006/relationships/notesSlide" Target="../notesSlides/notesSlide6.xml"/><Relationship Id="Rb22581d20ef64d33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1261102cfb1d40d6" Type="http://schemas.openxmlformats.org/officeDocument/2006/relationships/notesSlide" Target="../notesSlides/notesSlide7.xml"/><Relationship Id="R4ded9af102434cb9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50868ae3b8d48aa" Type="http://schemas.openxmlformats.org/officeDocument/2006/relationships/slideLayout" Target="../slideLayouts/slideLayout1.xml"/><Relationship Id="Rbc435ab3027f47ac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3ffcfddfbdad424f" Type="http://schemas.openxmlformats.org/officeDocument/2006/relationships/notesSlide" Target="../notesSlides/notesSlide9.xml"/><Relationship Id="Rd472884854f84fa5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b5999c637d0946bb" Type="http://schemas.openxmlformats.org/officeDocument/2006/relationships/slideLayout" Target="../slideLayouts/slideLayout1.xml"/><Relationship Id="Rf7d8b4f6479c4e3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4220cfcb624048de" Type="http://schemas.openxmlformats.org/officeDocument/2006/relationships/slideLayout" Target="../slideLayouts/slideLayout1.xml"/><Relationship Id="Rba8a28b94db64be0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4c3b3928f36d4450" Type="http://schemas.openxmlformats.org/officeDocument/2006/relationships/notesSlide" Target="../notesSlides/notesSlide12.xml"/><Relationship Id="R576f62e7406f4d94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81ddb685368741fe" Type="http://schemas.openxmlformats.org/officeDocument/2006/relationships/notesSlide" Target="../notesSlides/notesSlide13.xml"/><Relationship Id="Re891623ff1384897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9c8b6aac81504316" Type="http://schemas.openxmlformats.org/officeDocument/2006/relationships/slideLayout" Target="../slideLayouts/slideLayout1.xml"/><Relationship Id="R9e1baffcb2944309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811452dfd2a046ab" Type="http://schemas.openxmlformats.org/officeDocument/2006/relationships/notesSlide" Target="../notesSlides/notesSlide15.xml"/><Relationship Id="Ref2086713069476d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b280e8d61a774ca6" Type="http://schemas.openxmlformats.org/officeDocument/2006/relationships/notesSlide" Target="../notesSlides/notesSlide16.xml"/><Relationship Id="Rf1d35f0a7790416d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30afdd6efe5a4305" Type="http://schemas.openxmlformats.org/officeDocument/2006/relationships/slideLayout" Target="../slideLayouts/slideLayout1.xml"/><Relationship Id="Rd14b5ece1ac1437b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158a94a9260e41c4" Type="http://schemas.openxmlformats.org/officeDocument/2006/relationships/notesSlide" Target="../notesSlides/notesSlide18.xml"/><Relationship Id="Rdf7906ddb24240ce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c5042346b97c4571" Type="http://schemas.openxmlformats.org/officeDocument/2006/relationships/slideLayout" Target="../slideLayouts/slideLayout1.xml"/><Relationship Id="Rfecee81ad8384727" Type="http://schemas.openxmlformats.org/officeDocument/2006/relationships/notesSlide" Target="../notesSlides/notesSlide19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69209-23E0-4EE7-8D5A-B5157F16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Why day turns to night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296D0-0008-453D-8C7C-939FBA4E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SCI-GROW-A2-W01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D4611-0125-4B62-8A86-ED6340DC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DA17A-070F-4F13-BA86-B03652C6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why day turns to night and why the Sun seems to move.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935B6-08B8-4F67-A59D-4C4BD78C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point to the day and night sides.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24BE2-8313-4CB6-A636-354CA41B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turn the model and explain when night comes.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F736D-1384-4CAF-ACE9-208C465C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explain why the Sun seems to move.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Made by Mat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5833872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220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EBF15-BC08-4B6A-A264-4A1EE0A3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3AE34-FF6D-499E-8BCE-DE38A84B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SCI-GROW-A2-W01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D73A2-5B42-40A5-A6CD-18643A0C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02EE7-B35A-44CB-A4A4-3ABB10EC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Place a dot on the ball. Point to the side lit by the torch.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1284670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FD018-0DA1-4604-AC09-BE3E060E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B93C7-2C11-40D3-84AD-0F05A87F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SCI-GROW-A2-W01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2ED89-B8CA-4A08-97B7-25C79446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32C5F-928F-4517-9FAE-00D9B1E0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Think back. Say, point or write one answer for each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63FAC-4376-49E7-9D2A-DEB06AB5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goes around Earth?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3A4FB-F352-4D96-9E46-3240389E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Name one mechanism from our forces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A9707-0170-4D81-8A76-7F28FABF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Name one force from our first science week.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2469905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946B8-E54A-4008-8D78-DEE59887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017DC-E1CA-4D4A-A83B-3E277226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SCI-GROW-A2-W01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93324-F043-4679-83AD-85D3306C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924FC-486A-4C29-AEB7-C29AE821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Watch: the torch stays still. I turn the ball. The dot has day when it faces the light. It has night when it faces away.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120EB-2FAE-4B3D-936F-1AB5D79A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Torch still → dot faces the torch: day → turn the ball → dot faces away: night. Earth’s rotation makes the Sun seem to move.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336789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FBA85-4EBE-4214-A198-D8009195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Picture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57424-009F-439E-AF20-F0417C52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SCI-GROW-A2-W01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0619A-3C91-4B4A-82E5-2354FC1F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8" name="" descr="Simple model: light from the Sun reaches the left side of Earth. A dot on that side has day; a dot away from light has night. The line through Earth is its axi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f5b8fe67b4524"/>
          <a:stretch xmlns:a="http://schemas.openxmlformats.org/drawingml/2006/main"/>
        </p:blipFill>
        <p:spPr>
          <a:xfrm xmlns:a="http://schemas.openxmlformats.org/drawingml/2006/main">
            <a:off x="4366347" y="1409700"/>
            <a:ext cx="3459307" cy="44767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3584816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BB2DE-960E-4A38-AED7-89508BE0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Show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B4F0B-A10F-462F-A953-8579EA21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SCI-GROW-A2-W01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812C1-BEC6-434F-B155-D01935CB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FEB04-7BA9-42F9-A003-7B43977F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me: where is the dot when that place has day?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2914109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54C4D-DD16-448E-8E32-C5F9DF31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6C96F-80EA-4C1C-9271-2635F08A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SCI-GROW-A2-W01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6DC5F-5D11-4C56-999C-30AE4FCB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DCCC8-D631-49DC-B63E-2BD917CD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Now try the same model. Two steps are done. Complete the last step: turn the dot away and name what comes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76597-F26F-483E-B56A-76ADD319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Torch still → dot faces the torch: day → turn the ball → dot faces away: ____.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9319327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0A2B0-3A2F-401D-B140-833DC727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Talk, then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E7573-3D66-40CD-A8C5-67D55742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SCI-GROW-A2-W01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505F3-EE07-4477-985B-A098FD0F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DC501-D0E0-4AD3-8628-C03C4C8C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19D88-C6D9-4954-B81C-2D76BC0D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F32FB-1E74-4A75-BABA-9CC68A9F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missing word is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893759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94362-72C7-4F19-ADBC-7440979D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40913-2128-4F62-A30B-1A807406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SCI-GROW-A2-W01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A28F6-3CFC-4B96-B36D-4290FFDA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0CBE5-C4A4-4813-8943-7C77B4AD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On a new ball model, the red dot has just turned from light into shade. What does the shade represent?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3196D-3C15-4F7B-ACD2-624B8AA3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A.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Day at the red dot.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1F544-8D70-4A64-A9B9-D119B942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B.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Sun turning off now.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22841-7B85-43D5-9ABD-BA40E610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C.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whole Earth going dark.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0CC24-0DAF-468B-A949-0F05131B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9707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D.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Night at the red dot.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7998012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2C9AD-5476-43EA-B888-A1026E1F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FED4E-0272-499D-944C-0BFD70E5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SCI-GROW-A2-W01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C0381-3079-4308-8417-57ED6058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2BEA8-5C35-4A37-960E-F45FD273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day and night at the dot. Explain why the Sun seems to move, even when our torch stays still.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00DF2-B7E8-4A2B-94C9-88D89E66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Point to the lit side and the dark side.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446DA-8F1B-494E-87B4-CDF4D7C4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point to ___ for day and ___ for night.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0327522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F74E3-FDD8-4048-8E92-36594088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F671D-EB7C-4389-87A6-F54CBBBB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SCI-GROW-A2-W01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C9F71-FC9D-4AC5-AFBD-809EC27C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D0853-705D-4B44-AC6D-CCD4A6D1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day and night at the dot. Explain why the Sun seems to move, even when our torch stays still.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8D97A-47E0-4A7C-9888-1FF861E2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Explain what the dot sees as Earth turns.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6C105-D50B-449E-9B8D-6A968523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dot has night when ___ because 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0264211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391F3-27C6-4A74-9478-1425FE06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8BE34-3B9E-4EA8-8100-A42731B8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SCI-GROW-A2-W01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FCB2D-30E4-47F7-BAB3-97334978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76B23-3CF4-4637-B53E-8506D112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day and night at the dot. Explain why the Sun seems to move, even when our torch stays still.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5A04A-6ED2-429F-831B-F11125FC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Explain why the Sun seems to move across our sky while the model torch stays still.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A77EA-98BD-41AF-9330-C7B88AA6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7362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Sun seems to move because ___. The model shows 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1382424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3D4FE-EF4D-4ED2-9AE4-FC27CAD8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06DEF-F79A-4AFC-A6B2-0BE7087D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SCI-GROW-A2-W01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9E022-8E85-4E9F-83E3-5A5192D8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29A62-F523-4A46-B33E-3AEF579E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Mark two dots on opposite sides. Explain why one has day while the other has night.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CD8F1-D30F-43C3-9C4B-B223D948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Two dots, one turn: test the claim that the Sun goes round Earth each day. Show the motion that explains both dots. Name one limit of the torch model.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0087949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73457-639B-4B5A-A8CC-1EF544BE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A62FA-CFD5-4A00-BC2F-EF1CD33F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SCI-GROW-A2-W01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E1834-2AB1-40DB-8956-38EDE100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A1671-1B3C-48E3-96DA-D00118FE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Tell a partner what your model shows. Hear one comment. Change one part and say what you changed.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0003805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7D7A3-9E7D-47A3-A07F-8A8F4B80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470C0-F130-4CB7-8F6D-406A4E4F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SCI-GROW-A2-W01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B5BD6-34AE-49BF-9A4B-6FBBB181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A5292-33E6-4954-AB63-980C3A12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how you know. Tell us your feedback and next step. Say, point, sign, draw or write.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51B09-595E-4375-884A-072EC37B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789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point to the day and night sides.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6C0A5-7755-4081-A43D-9CE078A3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224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turn the model and explain when night comes.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4F117-67BA-42BF-B520-6C5CEE60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659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explain why the Sun seems to move.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CE91F-3B72-4C91-9CC7-5EFEEF68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0945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I know: I can turn the model and explain when one place has day and night.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2F104-57C0-489F-AFC3-AE36AC9B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534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NS(+) · Next I need to: check the dot before I name day or night.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BC6DC-D7F6-4B06-84BC-0AF7116E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39690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Who hears it: Your teacher or TA sees or hears your answer. They use it to choose the next model or help.</a:t>
            </a:r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138189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D6AC0-9F9E-48C6-98E5-7B030D7B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rotation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48F26-4A9C-41A3-83F7-3A60BB21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SCI-GROW-A2-W01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73CA5-D93E-4804-9AC4-FB23476C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2D78F-6A4A-4A07-830A-828E80D3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one turn around an axis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EEBC2-0AE7-4C4C-BCB9-401FE076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Earth’s rotation brings day and night.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395896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4BB71-7AE5-4A65-B766-2C585FA5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axis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A6647-1863-4BA2-A78D-2165320C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SCI-GROW-A2-W01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0E10E-E4F8-4B54-9197-52843548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63E97-C0A5-4CAF-8620-DC6EE5BC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an imagined line a planet spins around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B8F8B-6C80-4CC4-94A5-44995912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Earth turns around its axis.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849223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BBA19-D5A9-4C1E-B8E6-88CC1982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shadow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24131-0C0C-4972-ADFF-D025ABB4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SCI-GROW-A2-W01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025E2-4FE8-4BA1-BC79-1C680520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C3950-1858-41E8-90FE-DCA9C15B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an area where an object blocks light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A4A5F-F15E-4921-9456-EECC21A1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ball makes a shadow on the desk.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4604022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88C2F-8259-4F1D-8953-534F980F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orbit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EE590-4354-4EB6-8E82-078ECE55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SCI-GROW-A2-W01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3B19A-0E20-4949-83BD-484E4EC9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9BC40-8428-489F-BCE9-5737EFD7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curved path around another object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5CB73-7B7C-4347-BB2B-555EC4ED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Earth’s orbit takes it around the Sun.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253029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2026-09-25T12:29:02.1450000Z</dcterms:created>
  <dcterms:modified xsi:type="dcterms:W3CDTF">2026-09-25T12:29:02.1450000Z</dcterms:modified>
</coreProperties>
</file>