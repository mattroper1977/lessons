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44003f137eb416b" Type="http://schemas.openxmlformats.org/officeDocument/2006/relationships/extended-properties" Target="docProps/app.xml"/><Relationship Id="R64cab3c90eac4807" Type="http://schemas.openxmlformats.org/officeDocument/2006/relationships/officeDocument" Target="ppt/presentation.xml"/><Relationship Id="Rf5c102741e2144f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7409ad0ecd4ba6"/>
  </p:sldMasterIdLst>
  <p:notesMasterIdLst>
    <p:notesMasterId xmlns:r="http://schemas.openxmlformats.org/officeDocument/2006/relationships" r:id="R55ff1d1e15b94856"/>
  </p:notesMasterIdLst>
  <p:sldIdLst>
    <p:sldId xmlns:r="http://schemas.openxmlformats.org/officeDocument/2006/relationships" id="256" r:id="R5bf507eefd294253"/>
    <p:sldId xmlns:r="http://schemas.openxmlformats.org/officeDocument/2006/relationships" id="257" r:id="Rb8dbeb1a6d5c453d"/>
    <p:sldId xmlns:r="http://schemas.openxmlformats.org/officeDocument/2006/relationships" id="258" r:id="R06bd18e3dff244a6"/>
    <p:sldId xmlns:r="http://schemas.openxmlformats.org/officeDocument/2006/relationships" id="259" r:id="R6ac915025bd04173"/>
    <p:sldId xmlns:r="http://schemas.openxmlformats.org/officeDocument/2006/relationships" id="260" r:id="Rf454637a9d3b410e"/>
    <p:sldId xmlns:r="http://schemas.openxmlformats.org/officeDocument/2006/relationships" id="261" r:id="R5c923bd005064873"/>
    <p:sldId xmlns:r="http://schemas.openxmlformats.org/officeDocument/2006/relationships" id="262" r:id="R5d97faf3f7bf49a6"/>
    <p:sldId xmlns:r="http://schemas.openxmlformats.org/officeDocument/2006/relationships" id="263" r:id="Rec2aeba6b788449f"/>
    <p:sldId xmlns:r="http://schemas.openxmlformats.org/officeDocument/2006/relationships" id="264" r:id="R62a7ddb7eadb4fe6"/>
    <p:sldId xmlns:r="http://schemas.openxmlformats.org/officeDocument/2006/relationships" id="265" r:id="Reba36290e3404ae1"/>
    <p:sldId xmlns:r="http://schemas.openxmlformats.org/officeDocument/2006/relationships" id="266" r:id="R717f9e2fa5b346e7"/>
    <p:sldId xmlns:r="http://schemas.openxmlformats.org/officeDocument/2006/relationships" id="267" r:id="R2c986514d3bf472f"/>
    <p:sldId xmlns:r="http://schemas.openxmlformats.org/officeDocument/2006/relationships" id="268" r:id="Rcf10c2990c8848bd"/>
    <p:sldId xmlns:r="http://schemas.openxmlformats.org/officeDocument/2006/relationships" id="269" r:id="Rf10ced1d62a24ce2"/>
    <p:sldId xmlns:r="http://schemas.openxmlformats.org/officeDocument/2006/relationships" id="270" r:id="R891d4513980041fb"/>
    <p:sldId xmlns:r="http://schemas.openxmlformats.org/officeDocument/2006/relationships" id="271" r:id="Rd0398da3c4f04b41"/>
    <p:sldId xmlns:r="http://schemas.openxmlformats.org/officeDocument/2006/relationships" id="272" r:id="R8f29338da6ff424a"/>
    <p:sldId xmlns:r="http://schemas.openxmlformats.org/officeDocument/2006/relationships" id="273" r:id="Rbb9c870829be4432"/>
    <p:sldId xmlns:r="http://schemas.openxmlformats.org/officeDocument/2006/relationships" id="274" r:id="R3051b0b4fe2a4c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bd18e3dff244a6" Type="http://schemas.openxmlformats.org/officeDocument/2006/relationships/slide" Target="slides/slide3.xml"/><Relationship Id="R2c986514d3bf472f" Type="http://schemas.openxmlformats.org/officeDocument/2006/relationships/slide" Target="slides/slide12.xml"/><Relationship Id="R2d7409ad0ecd4ba6" Type="http://schemas.openxmlformats.org/officeDocument/2006/relationships/slideMaster" Target="slideMasters/slideMaster1.xml"/><Relationship Id="R3051b0b4fe2a4c79" Type="http://schemas.openxmlformats.org/officeDocument/2006/relationships/slide" Target="slides/slide19.xml"/><Relationship Id="R55ff1d1e15b94856" Type="http://schemas.openxmlformats.org/officeDocument/2006/relationships/notesMaster" Target="notesMasters/notesMaster1.xml"/><Relationship Id="R5bf507eefd294253" Type="http://schemas.openxmlformats.org/officeDocument/2006/relationships/slide" Target="slides/slide1.xml"/><Relationship Id="R5c923bd005064873" Type="http://schemas.openxmlformats.org/officeDocument/2006/relationships/slide" Target="slides/slide6.xml"/><Relationship Id="R5d97faf3f7bf49a6" Type="http://schemas.openxmlformats.org/officeDocument/2006/relationships/slide" Target="slides/slide7.xml"/><Relationship Id="R5ecee4e82173444a" Type="http://schemas.openxmlformats.org/officeDocument/2006/relationships/theme" Target="theme/theme1.xml"/><Relationship Id="R62a7ddb7eadb4fe6" Type="http://schemas.openxmlformats.org/officeDocument/2006/relationships/slide" Target="slides/slide9.xml"/><Relationship Id="R6ac915025bd04173" Type="http://schemas.openxmlformats.org/officeDocument/2006/relationships/slide" Target="slides/slide4.xml"/><Relationship Id="R717f9e2fa5b346e7" Type="http://schemas.openxmlformats.org/officeDocument/2006/relationships/slide" Target="slides/slide11.xml"/><Relationship Id="R891d4513980041fb" Type="http://schemas.openxmlformats.org/officeDocument/2006/relationships/slide" Target="slides/slide15.xml"/><Relationship Id="R8bd4822e327a4a1e" Type="http://schemas.openxmlformats.org/officeDocument/2006/relationships/tableStyles" Target="tableStyles.xml"/><Relationship Id="R8f29338da6ff424a" Type="http://schemas.openxmlformats.org/officeDocument/2006/relationships/slide" Target="slides/slide17.xml"/><Relationship Id="Rb8dbeb1a6d5c453d" Type="http://schemas.openxmlformats.org/officeDocument/2006/relationships/slide" Target="slides/slide2.xml"/><Relationship Id="Rbb9c870829be4432" Type="http://schemas.openxmlformats.org/officeDocument/2006/relationships/slide" Target="slides/slide18.xml"/><Relationship Id="Rcf10c2990c8848bd" Type="http://schemas.openxmlformats.org/officeDocument/2006/relationships/slide" Target="slides/slide13.xml"/><Relationship Id="Rd0398da3c4f04b41" Type="http://schemas.openxmlformats.org/officeDocument/2006/relationships/slide" Target="slides/slide16.xml"/><Relationship Id="Reba36290e3404ae1" Type="http://schemas.openxmlformats.org/officeDocument/2006/relationships/slide" Target="slides/slide10.xml"/><Relationship Id="Rec2aeba6b788449f" Type="http://schemas.openxmlformats.org/officeDocument/2006/relationships/slide" Target="slides/slide8.xml"/><Relationship Id="Rf10ced1d62a24ce2" Type="http://schemas.openxmlformats.org/officeDocument/2006/relationships/slide" Target="slides/slide14.xml"/><Relationship Id="Rf454637a9d3b410e" Type="http://schemas.openxmlformats.org/officeDocument/2006/relationships/slide" Target="slides/slide5.xml"/><Relationship Id="Rfe77c623cdaf419e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072122d479b644a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e9cb368d60e4b7e" Type="http://schemas.openxmlformats.org/officeDocument/2006/relationships/notesMaster" Target="../notesMasters/notesMaster1.xml"/><Relationship Id="Rfd7ffa7b63fc474d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563ac093603d4ea6" Type="http://schemas.openxmlformats.org/officeDocument/2006/relationships/slide" Target="../slides/slide2.xml"/><Relationship Id="Rcda7441d8e6742a8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779e3125a8154b93" Type="http://schemas.openxmlformats.org/officeDocument/2006/relationships/notesMaster" Target="../notesMasters/notesMaster1.xml"/><Relationship Id="R8cf1a8192b864799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7f0eeb35df4169" Type="http://schemas.openxmlformats.org/officeDocument/2006/relationships/slide" Target="../slides/slide4.xml"/><Relationship Id="Rb230f8934dbc4e4c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59b1985c522449e7" Type="http://schemas.openxmlformats.org/officeDocument/2006/relationships/slide" Target="../slides/slide5.xml"/><Relationship Id="Rb5bc820c69314968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b6cab6f1239742d7" Type="http://schemas.openxmlformats.org/officeDocument/2006/relationships/notesMaster" Target="../notesMasters/notesMaster1.xml"/><Relationship Id="Rd4c3d6e14f7e482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7c9de18ac5f544d4" Type="http://schemas.openxmlformats.org/officeDocument/2006/relationships/notesMaster" Target="../notesMasters/notesMaster1.xml"/><Relationship Id="Rc79dc539ebc04e7d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405f3d018eb34ba1" Type="http://schemas.openxmlformats.org/officeDocument/2006/relationships/notesMaster" Target="../notesMasters/notesMaster1.xml"/><Relationship Id="R93950e4e1456460d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522d3eeb1bb24fff" Type="http://schemas.openxmlformats.org/officeDocument/2006/relationships/notesMaster" Target="../notesMasters/notesMaster1.xml"/><Relationship Id="Rf5ded9e568194b3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93df37ac23fa47ce" Type="http://schemas.openxmlformats.org/officeDocument/2006/relationships/notesMaster" Target="../notesMasters/notesMaster1.xml"/><Relationship Id="Rce86fb93f4c544a8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347ffb3967c44e42" Type="http://schemas.openxmlformats.org/officeDocument/2006/relationships/notesMaster" Target="../notesMasters/notesMaster1.xml"/><Relationship Id="R4bd7cac6819f4454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a29c5172382b4639" Type="http://schemas.openxmlformats.org/officeDocument/2006/relationships/slide" Target="../slides/slide12.xml"/><Relationship Id="Rfc8c5165aa84434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5cf955ceae243b0" Type="http://schemas.openxmlformats.org/officeDocument/2006/relationships/slide" Target="../slides/slide13.xml"/><Relationship Id="Rca92dbd7c8304db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24e65fe557684129" Type="http://schemas.openxmlformats.org/officeDocument/2006/relationships/notesMaster" Target="../notesMasters/notesMaster1.xml"/><Relationship Id="Ra5a76b0b81904cd0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d870af02f624f11" Type="http://schemas.openxmlformats.org/officeDocument/2006/relationships/slide" Target="../slides/slide15.xml"/><Relationship Id="Rae0d7be7bec845a9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24f13782a9ec4f40" Type="http://schemas.openxmlformats.org/officeDocument/2006/relationships/notesMaster" Target="../notesMasters/notesMaster1.xml"/><Relationship Id="Rf0e67a3c8e9d4ac4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b2e00a922d4f44f8" Type="http://schemas.openxmlformats.org/officeDocument/2006/relationships/slide" Target="../slides/slide17.xml"/><Relationship Id="Re480778f254e4d98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4aef90beb7be48cb" Type="http://schemas.openxmlformats.org/officeDocument/2006/relationships/slide" Target="../slides/slide18.xml"/><Relationship Id="Rb850caa69490444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47dc24da9435426b" Type="http://schemas.openxmlformats.org/officeDocument/2006/relationships/slide" Target="../slides/slide19.xml"/><Relationship Id="R6b96e44ac174423a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code: SCI-LAUNCH-A2-W03</a:t>
            </a:r>
          </a:p>
          <a:p xmlns:a="http://schemas.openxmlformats.org/drawingml/2006/main">
            <a:r>
              <a:t>SoW objective: Stem-cell ethics discussion (links RE/PSHE).</a:t>
            </a:r>
          </a:p>
          <a:p xmlns:a="http://schemas.openxmlformats.org/drawingml/2006/main">
            <a:r>
              <a:t>Reading band: LAUNCH 11+</a:t>
            </a:r>
          </a:p>
          <a:p xmlns:a="http://schemas.openxmlformats.org/drawingml/2006/main">
            <a:r>
              <a:t>Staff focus: {'i_do': '“Which statement is a possible result, and which is measured evidence?”', 'we_do': '“The risk column is blank. What question could the panel ask?”', 'independent': '“What is your reason for more research or a pause? Which evidence would test it?”'}</a:t>
            </a:r>
          </a:p>
          <a:p xmlns:a="http://schemas.openxmlformats.org/drawingml/2006/main">
            <a:r>
              <a:t>Prompt ladder: ['Wait five seconds for the pupil to choose a column.', 'Point to a card heading and the last completed model sentence.', 'Ask “What would a careful panel need to find out?”', 'Model the first benefit card only; pupil places the risk card.', 'Place one card together, then invite a new evidence request independently.']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Pearson Edexcel GCSE Biology 1BI0 / Combined Science 1SC0, Biology specification, 2.9; https://qualifications.pearson.com/content/dam/pdf/GCSE/Science/2016/Specification/gcse-biology-spec.pdf; https://qualifications.pearson.com/content/dam/pdf/GCSE/Science/2016/Specification/gcse-combinedscience-spec.pdf</a:t>
            </a:r>
          </a:p>
          <a:p xmlns:a="http://schemas.openxmlformats.org/drawingml/2006/main">
            <a:r>
              <a:t>UK Health Research Authority, role in protecting participants; https://www.hra.nhs.uk/about-us/what-we-do/our-role-protecting-research-participants/</a:t>
            </a:r>
          </a:p>
          <a:p xmlns:a="http://schemas.openxmlformats.org/drawingml/2006/main">
            <a:r>
              <a:t>UK Health Research Authority, informed-consent guidance; https://www.hra.nhs.uk/planning-and-improving-research/best-practice/informing-participants-and-seeking-consent/applying-a-proportionate-approach-to-seeking-and-evidencing-informed-consent-in-health-and-social-care-research/</a:t>
            </a:r>
          </a:p>
          <a:p xmlns:a="http://schemas.openxmlformats.org/drawingml/2006/main">
            <a:r>
              <a:t>Authored scenario in this lesson; no real trial or patient claim.</a:t>
            </a:r>
          </a:p>
          <a:p xmlns:a="http://schemas.openxmlformats.org/drawingml/2006/main">
            <a:r>
              <a:t>Health Research Authority, protecting participants, https://www.hra.nhs.uk/about-us/what-we-do/our-role-protecting-research-participants/</a:t>
            </a:r>
          </a:p>
          <a:p xmlns:a="http://schemas.openxmlformats.org/drawingml/2006/main">
            <a:r>
              <a:t>lesson content–source checks ruling; static SVG geometry and mechanism check; browser confirmation remains NOT RUN</a:t>
            </a:r>
          </a:p>
          <a:p xmlns:a="http://schemas.openxmlformats.org/drawingml/2006/main">
            <a:r>
              <a:t>Local school risk assessment and exact prepared kit; staff confirm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Offer a private, predictable start. Do not require previous knowledge.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pupils respond; reveal the answers only after attempts. Revisit success criteria.</a:t>
            </a:r>
          </a:p>
          <a:p xmlns:a="http://schemas.openxmlformats.org/drawingml/2006/main">
            <a:r>
              <a:t>What is the name for a cell gaining a specialised job? → Differentiation.</a:t>
            </a:r>
          </a:p>
          <a:p xmlns:a="http://schemas.openxmlformats.org/drawingml/2006/main">
            <a:r>
              <a:t>What two cells follow mitosis and cell splitting? → Two matching daughter body cells.</a:t>
            </a:r>
          </a:p>
          <a:p xmlns:a="http://schemas.openxmlformats.org/drawingml/2006/main">
            <a:r>
              <a:t>In which direction do particles spread by diffusion? → From a higher to a lower concentration overall.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one complete example; check every pupil’s response to the show-me question.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Fictional proposal: weigh a possible benefit and risk against evidence. Simplified decision aid; no medical decision is made here.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No. It is a possible benefit; evidence from an appropriate study is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Wait five seconds, gesture, then cue if needed. Support the route without supplying the missing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Missing step: Identify an uncertain harmful result as a risk, without stating it has already happened.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The trial records how much damaged tissue changes. → evidence request</a:t>
            </a:r>
          </a:p>
          <a:p xmlns:a="http://schemas.openxmlformats.org/drawingml/2006/main">
            <a:r>
              <a:t>A treatment may help a damaged tissue. → possible benefit</a:t>
            </a:r>
          </a:p>
          <a:p xmlns:a="http://schemas.openxmlformats.org/drawingml/2006/main">
            <a:r>
              <a:t>It must work because many people want it. → unsupported assertion</a:t>
            </a:r>
          </a:p>
          <a:p xmlns:a="http://schemas.openxmlformats.org/drawingml/2006/main">
            <a:r>
              <a:t>A study could find a harmful effect. → possible harm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Collect simultaneous responses, apply the decision rule and parallel hinge in the staff note.</a:t>
            </a:r>
          </a:p>
          <a:p xmlns:a="http://schemas.openxmlformats.org/drawingml/2006/main">
            <a:r>
              <a:t>A. A. The benefit can establish safety despite the missing report on harms. | Not correct | Treats an observed benefit as proof of safety without harm data.</a:t>
            </a:r>
          </a:p>
          <a:p xmlns:a="http://schemas.openxmlformats.org/drawingml/2006/main">
            <a:r>
              <a:t>B. B. The missing report proves the study cannot have produced any benefit. | Not correct | Treats missing harm reporting as proof that the reported benefit did not occur.</a:t>
            </a:r>
          </a:p>
          <a:p xmlns:a="http://schemas.openxmlformats.org/drawingml/2006/main">
            <a:r>
              <a:t>C. C. The improved movement proves the study will work for every person. | Not correct | Generalises one study result to every person.</a:t>
            </a:r>
          </a:p>
          <a:p xmlns:a="http://schemas.openxmlformats.org/drawingml/2006/main">
            <a:r>
              <a:t>D. D. The benefit needs checking alongside missing risk evidence before a decision. | Correct | Uses the new case accurately.</a:t>
            </a:r>
          </a:p>
          <a:p xmlns:a="http://schemas.openxmlformats.org/drawingml/2006/main">
            <a:r>
              <a:t>About 3 in 4 or more correct: proceed; otherwise re-model a fictional claim card beside an empty evidence column and ask the parallel hinge. No auto-grade.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lesson start choose one adult with supported pupils and one holding the group; swap during the week. Record independence and prompt level.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precise VF or NS(+) only when it actually happens. Invite a true self-edit and read-back.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Hear the answer privately in a valid mode and use it to change the next example or prompt.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6fa1eb5817c4ab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b7ca65cfd014ac0" Type="http://schemas.openxmlformats.org/officeDocument/2006/relationships/theme" Target="theme/theme2.xml"/><Relationship Id="R62eb4148f09040e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eb4148f09040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fcfe0cf20a24dd7" Type="http://schemas.openxmlformats.org/officeDocument/2006/relationships/notesSlide" Target="../notesSlides/notesSlide1.xml"/><Relationship Id="Ra8b12ffc1bd04d15" Type="http://schemas.openxmlformats.org/officeDocument/2006/relationships/slideLayout" Target="../slideLayouts/slideLayout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1efdc14c05794c3f" Type="http://schemas.openxmlformats.org/officeDocument/2006/relationships/image" Target="../media/image.png"/><Relationship Id="R4398f532ed14477f" Type="http://schemas.openxmlformats.org/officeDocument/2006/relationships/notesSlide" Target="../notesSlides/notesSlide2.xml"/><Relationship Id="R4b6773a09fc543f3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4335d9366e8341bf" Type="http://schemas.openxmlformats.org/officeDocument/2006/relationships/slideLayout" Target="../slideLayouts/slideLayout1.xml"/><Relationship Id="R81f4e65cab5c4b9a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12939c0f1614885" Type="http://schemas.openxmlformats.org/officeDocument/2006/relationships/notesSlide" Target="../notesSlides/notesSlide4.xml"/><Relationship Id="Ra8936fc79e4b475c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b5b4e38f33745e8" Type="http://schemas.openxmlformats.org/officeDocument/2006/relationships/image" Target="../media/image2.png"/><Relationship Id="Rd8a54ba9ed944581" Type="http://schemas.openxmlformats.org/officeDocument/2006/relationships/slideLayout" Target="../slideLayouts/slideLayout1.xml"/><Relationship Id="Rdbb9783d9dbd4a3e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b6d0153472774453" Type="http://schemas.openxmlformats.org/officeDocument/2006/relationships/slideLayout" Target="../slideLayouts/slideLayout1.xml"/><Relationship Id="Re73ee274d9d9436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cb211cec5af4f89" Type="http://schemas.openxmlformats.org/officeDocument/2006/relationships/slideLayout" Target="../slideLayouts/slideLayout1.xml"/><Relationship Id="Rc9b98028eb8e415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5d6abacc687d44d4" Type="http://schemas.openxmlformats.org/officeDocument/2006/relationships/notesSlide" Target="../notesSlides/notesSlide8.xml"/><Relationship Id="R810a69ba198b4c99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83e1ef3a86a84cf7" Type="http://schemas.openxmlformats.org/officeDocument/2006/relationships/notesSlide" Target="../notesSlides/notesSlide9.xml"/><Relationship Id="Rd6ab12c4642b45f9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d0de9f8b6e74b05" Type="http://schemas.openxmlformats.org/officeDocument/2006/relationships/slideLayout" Target="../slideLayouts/slideLayout1.xml"/><Relationship Id="Re774b77f3e274ff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9e73179d9ea6453d" Type="http://schemas.openxmlformats.org/officeDocument/2006/relationships/slideLayout" Target="../slideLayouts/slideLayout1.xml"/><Relationship Id="Rb1a665fd2e4f4cf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3fe8c2d7f0514376" Type="http://schemas.openxmlformats.org/officeDocument/2006/relationships/notesSlide" Target="../notesSlides/notesSlide12.xml"/><Relationship Id="Ra506f2e20925470d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47c2d74a51e14f46" Type="http://schemas.openxmlformats.org/officeDocument/2006/relationships/slideLayout" Target="../slideLayouts/slideLayout1.xml"/><Relationship Id="R8a3dc7070982489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298cebc04e984e4d" Type="http://schemas.openxmlformats.org/officeDocument/2006/relationships/notesSlide" Target="../notesSlides/notesSlide14.xml"/><Relationship Id="R99fd016ff812485b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c2674404859464a" Type="http://schemas.openxmlformats.org/officeDocument/2006/relationships/slideLayout" Target="../slideLayouts/slideLayout1.xml"/><Relationship Id="R388a311ffcba4c3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36fa97b98ace436d" Type="http://schemas.openxmlformats.org/officeDocument/2006/relationships/slideLayout" Target="../slideLayouts/slideLayout1.xml"/><Relationship Id="R6d4e4f3c0891496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c3d8b8dff3d34cf7" Type="http://schemas.openxmlformats.org/officeDocument/2006/relationships/slideLayout" Target="../slideLayouts/slideLayout1.xml"/><Relationship Id="Rf4e227b48fd44a71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1907604403494549" Type="http://schemas.openxmlformats.org/officeDocument/2006/relationships/slideLayout" Target="../slideLayouts/slideLayout1.xml"/><Relationship Id="R437c4b37687d483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047aeb7d975b4d32" Type="http://schemas.openxmlformats.org/officeDocument/2006/relationships/notesSlide" Target="../notesSlides/notesSlide19.xml"/><Relationship Id="R567124d2116142a5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84959-FE05-4B3F-B275-F4EEF09A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Stem-cell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BA873E-D28B-410D-8E7E-2D4F97DA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076DE-328D-4E3E-96EC-6F7D9EAC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C3DDFE-FC2E-4079-BBE5-1ADB2879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am learning to weigh a possible benefit and risk of stem-cell research using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68486-89C0-4AB7-8BA6-12B7DB0D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a possible benefit and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866B97-1417-4244-BA4D-E2435E27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ask for evidence that tests a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0727D-5DBB-4738-BB27-3C0D3F3C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justify further research without claiming a cure.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  <p:pic xmlns:a="http://schemas.openxmlformats.org/drawingml/2006/main" xmlns:r="http://schemas.openxmlformats.org/officeDocument/2006/relationships">
        <p:nvPicPr>
          <p:cNvPr id="10" name="Picture 9" descr="Made by Mat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0816" y="5833872"/>
            <a:ext cx="475488" cy="47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45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EE1D3-FF31-4DFE-96A9-CEA2CADD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C23F2-C05B-49A5-A144-74201009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CB0523-A21B-40DA-88A6-08A915B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7C3FE-81DF-4C85-9D5F-5F6191F5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Look at this week’s fictional stem-cell proposal card. Point to one detail you notice.</a:t>
            </a:r>
          </a:p>
        </p:txBody>
      </p:sp>
      <p:pic>
        <p:nvPicPr>
          <p:cNvPr id="10" name="" descr="A balance holds a possible benefit on one pan and a possible risk on the other. An evidence card below asks what is known before a recommendatio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dc14c05794c3f"/>
          <a:stretch xmlns:a="http://schemas.openxmlformats.org/drawingml/2006/main"/>
        </p:blipFill>
        <p:spPr>
          <a:xfrm xmlns:a="http://schemas.openxmlformats.org/drawingml/2006/main">
            <a:off x="5286375" y="3905250"/>
            <a:ext cx="1619250" cy="209550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11" name="TextBox 10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67035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4C808-6328-42E9-BDEA-9C87CB9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2A8EE-8886-4F3D-A1E7-E02E0DDB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A0C860-987B-4657-AFEF-3D7F4749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4F493-10D3-4E62-B927-4CCB6197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Recall three ideas from earlier lessons. Show one answer at a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6B8DB-CBED-46F4-A90A-A39D59C7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is the name for a cell gaining a specialised job?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3ED2B-6F9C-4735-82D8-934C2660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6931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two cells follow mitosis and cell splitting?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56B68-F5BE-472A-A126-D83FEDF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33191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 which direction do particles spread by diffusion?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5738997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01B2C-A4B3-4032-9572-7C614B21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FF509-D1F7-4453-808A-18599A68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CFF77D-4280-4FE6-BA9F-AC08F1C2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AC6E7-FCF5-4836-8A73-FB6EAC17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Watch the full model. Point to the step that answers today’s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65E5F-09AB-4CED-9708-1B147A2C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13864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fictional proposal may replace damaged cells. A possible harm is unknown. A careful study must measure both benefit and risk; possible use is not proven treatment.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644592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E01B9-EC27-450E-A9AE-55F512C2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Picture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6041A-602E-461A-9BA2-F5DAB541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53D0B-F8AB-4389-BB49-5E744C20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8" name="" descr="A balance holds a possible benefit on one pan and a possible risk on the other. An evidence card below asks what is known before a recommendatio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b4e38f33745e8"/>
          <a:stretch xmlns:a="http://schemas.openxmlformats.org/drawingml/2006/main"/>
        </p:blipFill>
        <p:spPr>
          <a:xfrm xmlns:a="http://schemas.openxmlformats.org/drawingml/2006/main">
            <a:off x="4366347" y="1409700"/>
            <a:ext cx="3459307" cy="4476750"/>
          </a:xfrm>
          <a:prstGeom xmlns:a="http://schemas.openxmlformats.org/drawingml/2006/main" prst="rect">
            <a:avLst/>
          </a:prstGeom>
        </p:spPr>
      </p:pic>
      <p:sp xmlns:a="http://schemas.openxmlformats.org/drawingml/2006/main">
        <p:nvSpPr>
          <p:cNvPr id="9" name="TextBox 8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4413820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D956C-460D-4841-B08F-634DF241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Show 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EA536-E305-418C-8987-11CE35DF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D1E99-2F86-429D-AF4F-6E36419F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AE29F-23B5-427E-84F6-18F9FD6A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me: is “it might help” evidence that the treatment already works?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8358334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8E61D-F385-4D6C-8650-D7D75614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Our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CFB6C-9328-4DD0-84CC-956F6587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26DC4-A7B2-477C-AFAA-FD6C39A5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61746-20A4-4319-96B2-7544369D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Complete the missing step in the part-done model. Speak, then match the cards.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A704C-8553-4A1C-B179-B317CF34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Possible benefit: may replace damaged cells. Possible risk: ________. Evidence needed: a fair check of benefit and harm.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832264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34F48-65AB-4349-ACF0-B7BECF3CB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Talk, then sort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2787E-F3D8-4D82-B84A-6927106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68E3B-F06D-40E3-BE50-2A99C3AD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8C567-4943-4C3A-8B49-608FFCA9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evidence request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F8114-A8F0-47FD-A2B0-1BFC1ABC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possible benefit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C9C42-EC45-4D48-8A48-71CA9E5B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12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possible harm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4686-D2E0-4A03-8BD4-C120DABF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514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unsupported assertion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0C9D3-4B91-47CB-A8F6-20AA32C3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902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trial records how much damaged tissue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7F5CCB-AA6E-4204-AA48-4886CCED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treatment may help a damaged tissue.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94AF9-4A28-4482-BE09-68F20A4E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167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It must work because many people want 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CF33F-C7CF-49A9-942D-FA5237EE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066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study could find a harmful effect.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5306324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68899-0CE5-484C-979E-D46C12B9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DB9D3-89C2-4686-9026-ADBAA122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E4531-1AA1-4FE7-85D7-1374B38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9DDB4-1E69-4482-89AA-124F66D2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new fictional cell study reports improved movement but does not report harmful effects. Which review is justified?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7A4EC-D386-42D4-95F1-58549ABA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78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A.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A. The benefit can establish safety despite the missing report on harms.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0D38C-ED21-4484-8B89-85BF711E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224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B.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B. The missing report proves the study cannot have produced any benefit.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99F3F-C970-4063-AEFB-42A06993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6595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C.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C. The improved movement proves the study will work for every person.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472FC-47FF-4C1D-B2C4-84402836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0945"/>
            <a:ext cx="11087100" cy="874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 xml:space="preserve">D. </a:t>
            </a:r>
            <a:r>
              <a:rPr sz="22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D. The benefit needs checking alongside missing risk evidence before a decision.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9700623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E145C-DCCB-4674-9A2D-83C5ED8D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FD906-B513-4920-8E80-7888FB6A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5EED7C-A400-4E8E-A5EB-7E831627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1706A-66F4-4DC7-96C1-33AE8851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fictional stem-cell proposal lacks safety results. Decide what to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25E3F-594F-462A-BA0C-CF4AF80D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Sort the fictional proposal statements under possible benefit, possible risk and evidence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B24D6-BA21-40AB-A3D5-5AA26B7A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possible benefit is …; a possible risk is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6925486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C6E2C-79DB-4E31-95BB-D250E235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BD3EA-2D06-46B0-ACD7-9B781815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7B955-FA79-4956-BDF7-7D1204B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8C299-D78B-4500-848D-E01A2DDA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fictional stem-cell proposal lacks safety results. Decide what to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43857-F60D-4C54-985E-2F1C4FCD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Explain why a proposal needs evidence of both effect and harm before a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5A203-0A1B-488A-A93D-B9E9F976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claim is not yet proven because we need evidence that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328666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0B4A6-CB19-4F98-BCEB-AD41A23A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· 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DDFC2-2898-4B6D-8100-BB9EAFBE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A3E1B-D4F2-43DB-9AE1-04372A23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B9A30-D4C6-4134-80CA-3357332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fictional stem-cell proposal lacks safety results. Decide what to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A8319-867F-4CA6-B953-5C73BDF3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Evaluate whether to support further research with a qualified reason, risk and evidence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EFCE4-0781-4FC1-9C2C-0E21306C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7362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would support/review further research if …; however, before treatment use I would need …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2573202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0EFBB-D19C-4C3B-8B40-888D68C1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Go deeper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F659A-B1B0-4248-9953-E4CA1056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33B62-69E7-4515-9A2B-2F2501CF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87CD7-7297-4086-8DFD-4A5A3F53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If a careful new study showed no improvement, how should the panel change its recommendation and why?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E3C056-BEFA-4838-BC4E-29694DAC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431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Separate further research from routine treatment; explain the evidence needed for each.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64496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93A4EF-5404-4F4A-9158-DEDD96ED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6908C-072F-457A-95B6-CDC04792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BB176-A110-4C99-B5DC-A271FA14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0D0DE-F90D-49C7-BBF6-0AC2F8E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97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Tell a partner what you changed after feedback. Mark a real edit // and read it back when asked ?.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1597904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290C0-046C-4226-8059-BC7EC87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9D08D-4E63-4D1D-896F-8724E8AE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93553-E6C2-4F6E-9743-301A6069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EEE78-93B8-4325-8A48-5971C75C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Show what you know with a model and explain one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57C94-34C0-4462-8E3B-9AA34B94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1173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Check today’s success: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BDE25-C4E7-4ECC-A573-B5D76CE7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8845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name a possible benefit and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30CBB2-9AC2-432D-9FDF-36EE72FB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6518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ask for evidence that tests a claim.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8F085-957C-49B3-B8B5-A2C0F0A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419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 can justify further research without claiming a cure.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2E0D7-36EC-41AA-8035-F246E2EE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1863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What am I learning? I am learning to weigh a possible benefit and risk of stem-cell research using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69293-5AD0-452C-8E2A-711F0AA4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5570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My feedback was … Name what you heard at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678B33-4CF3-493B-8E82-9683E0E2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3242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Next I need to … Add one precise piece of benefit or safety evidence you would request before deciding.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F2B57-62D7-4E73-8F03-E43F89E1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06949"/>
            <a:ext cx="11087100" cy="7037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How I know: I can name a possible benefit and risk, then request evidence before recommending a next step.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F6B0E-2542-40B2-9C7A-0A86559E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656"/>
            <a:ext cx="11087100" cy="4276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Your teacher hears your answer and uses it to choose our next model, prompt or example.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0428509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AD5A69-3DFB-411B-9C9D-0447BFED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stem cell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63889-DA7D-4811-B9BB-A21A8E8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0B2D4-7865-47FD-8861-436ADD61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B3080-83FB-4EBC-BA94-2BE54C8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cell that can divide and form specialised cell types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C831F-0525-4071-A694-046FB149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Stem cells are being studied for possible medical uses.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0543544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7A658-4C38-4068-B510-74F5F2E9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benefit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F1499-1935-45FC-AF18-6220999F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97914-3A6A-40CF-9A83-F3F7246F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26731-F419-4A77-BB70-96683BCE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possible helpful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4ABF7-C640-4B7B-99CB-3CB34E0C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possible benefit would be replacing damaged cells.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2591205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26C290-A94B-4FC0-A8E3-F0D66146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33CA8-F8DA-4A46-AB39-0BDD7E9B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1582C-9C5E-41F8-8CED-6D14DF75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BFFF8-51A6-41DA-AD28-2B5250DB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possible harmful result or uncertain effect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06CAE-26CD-4F99-8228-88FEA84A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A study must consider a risk to volunteers.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133023282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A6DCF-3D43-4537-8637-17E75A14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 help ·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391BC-2537-4D77-BCDB-05F01AE0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00800"/>
            <a:ext cx="10191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SCI-LAUNCH-A2-W03  •  LAUNCH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057BC-4035-4992-9F00-57A52BC0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90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02694-C8EF-4E56-AF62-31125CEC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information that tests or supports a claim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E45E5-F450-42D2-BA20-9F10A62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7380"/>
            <a:ext cx="11087100" cy="563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7394A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7394A"/>
                </a:solidFill>
                <a:latin typeface="Arial"/>
                <a:ea typeface="Arial"/>
                <a:cs typeface="Arial"/>
              </a:rPr>
              <a:t>The trial needs evidence of both benefit and harm.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557784" y="6675120"/>
            <a:ext cx="11082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25">
                <a:solidFill>
                  <a:srgbClr val="14323F"/>
                </a:solidFill>
                <a:latin typeface="Arial"/>
              </a:rPr>
              <a:t>Made by Matt · madebymatt.uk · © Matt Roper · CC BY-NC-SA 4.0: free for classroom use, share and adapt with credit, no resale · v9 · 25 Sep 2026</a:t>
            </a:r>
          </a:p>
        </p:txBody>
      </p:sp>
    </p:spTree>
    <p:extLst>
      <p:ext uri="{BB962C8B-B14F-4D97-AF65-F5344CB8AC3E}">
        <p14:creationId xmlns:p14="http://schemas.microsoft.com/office/powerpoint/2010/main" val="459343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2026-09-25T12:29:35.9820000Z</dcterms:created>
  <dcterms:modified xsi:type="dcterms:W3CDTF">2026-09-25T12:29:35.9820000Z</dcterms:modified>
</coreProperties>
</file>