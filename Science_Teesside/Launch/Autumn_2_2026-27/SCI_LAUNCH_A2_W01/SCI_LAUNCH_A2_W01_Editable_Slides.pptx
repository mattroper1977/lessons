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f7d659fd3a34353" Type="http://schemas.openxmlformats.org/officeDocument/2006/relationships/officeDocument" Target="ppt/presentation.xml"/><Relationship Id="R227859f7de794c8b" Type="http://schemas.openxmlformats.org/officeDocument/2006/relationships/extended-properties" Target="docProps/app.xml"/><Relationship Id="R46460f8e65b1494c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d220b1a23a404f"/>
  </p:sldMasterIdLst>
  <p:notesMasterIdLst>
    <p:notesMasterId xmlns:r="http://schemas.openxmlformats.org/officeDocument/2006/relationships" r:id="R4e7efed87aa74f45"/>
  </p:notesMasterIdLst>
  <p:sldIdLst>
    <p:sldId xmlns:r="http://schemas.openxmlformats.org/officeDocument/2006/relationships" id="256" r:id="Ra7e2a7d5a3d34ad3"/>
    <p:sldId xmlns:r="http://schemas.openxmlformats.org/officeDocument/2006/relationships" id="257" r:id="R169beb89b57344fb"/>
    <p:sldId xmlns:r="http://schemas.openxmlformats.org/officeDocument/2006/relationships" id="258" r:id="Rd1af7fd81bc14e97"/>
    <p:sldId xmlns:r="http://schemas.openxmlformats.org/officeDocument/2006/relationships" id="259" r:id="R3a107a77c2544ee1"/>
    <p:sldId xmlns:r="http://schemas.openxmlformats.org/officeDocument/2006/relationships" id="260" r:id="R32d1d3df8c0e4103"/>
    <p:sldId xmlns:r="http://schemas.openxmlformats.org/officeDocument/2006/relationships" id="261" r:id="R6465b3dda1e74309"/>
    <p:sldId xmlns:r="http://schemas.openxmlformats.org/officeDocument/2006/relationships" id="262" r:id="R2eb364bddcc04320"/>
    <p:sldId xmlns:r="http://schemas.openxmlformats.org/officeDocument/2006/relationships" id="263" r:id="Rd19202bf96894a4c"/>
    <p:sldId xmlns:r="http://schemas.openxmlformats.org/officeDocument/2006/relationships" id="264" r:id="Re2bc1b52a0784f82"/>
    <p:sldId xmlns:r="http://schemas.openxmlformats.org/officeDocument/2006/relationships" id="265" r:id="R51569266951e4121"/>
    <p:sldId xmlns:r="http://schemas.openxmlformats.org/officeDocument/2006/relationships" id="266" r:id="R7d8add52b57b49a0"/>
    <p:sldId xmlns:r="http://schemas.openxmlformats.org/officeDocument/2006/relationships" id="267" r:id="Reb375724e7d44b7a"/>
    <p:sldId xmlns:r="http://schemas.openxmlformats.org/officeDocument/2006/relationships" id="268" r:id="R15628480bfb348ee"/>
    <p:sldId xmlns:r="http://schemas.openxmlformats.org/officeDocument/2006/relationships" id="269" r:id="Ra31618ccd0c64d97"/>
    <p:sldId xmlns:r="http://schemas.openxmlformats.org/officeDocument/2006/relationships" id="270" r:id="R69ec948aee044452"/>
    <p:sldId xmlns:r="http://schemas.openxmlformats.org/officeDocument/2006/relationships" id="271" r:id="R90a437af9af84cc3"/>
    <p:sldId xmlns:r="http://schemas.openxmlformats.org/officeDocument/2006/relationships" id="272" r:id="Ra609d59c8e65420d"/>
    <p:sldId xmlns:r="http://schemas.openxmlformats.org/officeDocument/2006/relationships" id="273" r:id="Rc4d85877e2d746dd"/>
    <p:sldId xmlns:r="http://schemas.openxmlformats.org/officeDocument/2006/relationships" id="274" r:id="R611de7dbb6f546ed"/>
    <p:sldId xmlns:r="http://schemas.openxmlformats.org/officeDocument/2006/relationships" id="275" r:id="R801e30a2552741f7"/>
    <p:sldId xmlns:r="http://schemas.openxmlformats.org/officeDocument/2006/relationships" id="276" r:id="R4813907efc2f4c95"/>
    <p:sldId xmlns:r="http://schemas.openxmlformats.org/officeDocument/2006/relationships" id="277" r:id="Rd5132131259246bd"/>
    <p:sldId xmlns:r="http://schemas.openxmlformats.org/officeDocument/2006/relationships" id="278" r:id="Rada0dc12e2f94076"/>
    <p:sldId xmlns:r="http://schemas.openxmlformats.org/officeDocument/2006/relationships" id="279" r:id="R0254847adf8449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254847adf8449bf" Type="http://schemas.openxmlformats.org/officeDocument/2006/relationships/slide" Target="slides/slide24.xml"/><Relationship Id="R15628480bfb348ee" Type="http://schemas.openxmlformats.org/officeDocument/2006/relationships/slide" Target="slides/slide13.xml"/><Relationship Id="R169beb89b57344fb" Type="http://schemas.openxmlformats.org/officeDocument/2006/relationships/slide" Target="slides/slide2.xml"/><Relationship Id="R2eb364bddcc04320" Type="http://schemas.openxmlformats.org/officeDocument/2006/relationships/slide" Target="slides/slide7.xml"/><Relationship Id="R32d1d3df8c0e4103" Type="http://schemas.openxmlformats.org/officeDocument/2006/relationships/slide" Target="slides/slide5.xml"/><Relationship Id="R3a107a77c2544ee1" Type="http://schemas.openxmlformats.org/officeDocument/2006/relationships/slide" Target="slides/slide4.xml"/><Relationship Id="R447ba91628574447" Type="http://schemas.openxmlformats.org/officeDocument/2006/relationships/theme" Target="theme/theme1.xml"/><Relationship Id="R4813907efc2f4c95" Type="http://schemas.openxmlformats.org/officeDocument/2006/relationships/slide" Target="slides/slide21.xml"/><Relationship Id="R4e0f48af62f34654" Type="http://schemas.openxmlformats.org/officeDocument/2006/relationships/presProps" Target="presProps.xml"/><Relationship Id="R4e7efed87aa74f45" Type="http://schemas.openxmlformats.org/officeDocument/2006/relationships/notesMaster" Target="notesMasters/notesMaster1.xml"/><Relationship Id="R51569266951e4121" Type="http://schemas.openxmlformats.org/officeDocument/2006/relationships/slide" Target="slides/slide10.xml"/><Relationship Id="R611de7dbb6f546ed" Type="http://schemas.openxmlformats.org/officeDocument/2006/relationships/slide" Target="slides/slide19.xml"/><Relationship Id="R6189880204904ff0" Type="http://schemas.openxmlformats.org/officeDocument/2006/relationships/tableStyles" Target="tableStyles.xml"/><Relationship Id="R6465b3dda1e74309" Type="http://schemas.openxmlformats.org/officeDocument/2006/relationships/slide" Target="slides/slide6.xml"/><Relationship Id="R69ec948aee044452" Type="http://schemas.openxmlformats.org/officeDocument/2006/relationships/slide" Target="slides/slide15.xml"/><Relationship Id="R7d8add52b57b49a0" Type="http://schemas.openxmlformats.org/officeDocument/2006/relationships/slide" Target="slides/slide11.xml"/><Relationship Id="R801e30a2552741f7" Type="http://schemas.openxmlformats.org/officeDocument/2006/relationships/slide" Target="slides/slide20.xml"/><Relationship Id="R90a437af9af84cc3" Type="http://schemas.openxmlformats.org/officeDocument/2006/relationships/slide" Target="slides/slide16.xml"/><Relationship Id="R9ed220b1a23a404f" Type="http://schemas.openxmlformats.org/officeDocument/2006/relationships/slideMaster" Target="slideMasters/slideMaster1.xml"/><Relationship Id="Ra31618ccd0c64d97" Type="http://schemas.openxmlformats.org/officeDocument/2006/relationships/slide" Target="slides/slide14.xml"/><Relationship Id="Ra609d59c8e65420d" Type="http://schemas.openxmlformats.org/officeDocument/2006/relationships/slide" Target="slides/slide17.xml"/><Relationship Id="Ra7e2a7d5a3d34ad3" Type="http://schemas.openxmlformats.org/officeDocument/2006/relationships/slide" Target="slides/slide1.xml"/><Relationship Id="Rada0dc12e2f94076" Type="http://schemas.openxmlformats.org/officeDocument/2006/relationships/slide" Target="slides/slide23.xml"/><Relationship Id="Rc4d85877e2d746dd" Type="http://schemas.openxmlformats.org/officeDocument/2006/relationships/slide" Target="slides/slide18.xml"/><Relationship Id="Rd19202bf96894a4c" Type="http://schemas.openxmlformats.org/officeDocument/2006/relationships/slide" Target="slides/slide8.xml"/><Relationship Id="Rd1af7fd81bc14e97" Type="http://schemas.openxmlformats.org/officeDocument/2006/relationships/slide" Target="slides/slide3.xml"/><Relationship Id="Rd5132131259246bd" Type="http://schemas.openxmlformats.org/officeDocument/2006/relationships/slide" Target="slides/slide22.xml"/><Relationship Id="Re2bc1b52a0784f82" Type="http://schemas.openxmlformats.org/officeDocument/2006/relationships/slide" Target="slides/slide9.xml"/><Relationship Id="Reb375724e7d44b7a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0fb3a8be23b643c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6d5be4060f345fd" Type="http://schemas.openxmlformats.org/officeDocument/2006/relationships/slide" Target="../slides/slide1.xml"/><Relationship Id="Rd9d116b9e4a84830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4679765f83a14e66" Type="http://schemas.openxmlformats.org/officeDocument/2006/relationships/slide" Target="../slides/slide2.xml"/><Relationship Id="R791c8355e77943f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496758c714804aed" Type="http://schemas.openxmlformats.org/officeDocument/2006/relationships/slide" Target="../slides/slide3.xml"/><Relationship Id="R63b7c71d95274674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90ea0cbc69f44a4" Type="http://schemas.openxmlformats.org/officeDocument/2006/relationships/slide" Target="../slides/slide4.xml"/><Relationship Id="R4bea0e242a864657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6c14648d0364014" Type="http://schemas.openxmlformats.org/officeDocument/2006/relationships/slide" Target="../slides/slide5.xml"/><Relationship Id="Rf1bdb9b0603546ce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776eb6790c8d45c8" Type="http://schemas.openxmlformats.org/officeDocument/2006/relationships/slide" Target="../slides/slide6.xml"/><Relationship Id="Re4ca52cbd8cf47f9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e3e57d9fce54d43" Type="http://schemas.openxmlformats.org/officeDocument/2006/relationships/notesMaster" Target="../notesMasters/notesMaster1.xml"/><Relationship Id="R3c874c1c83514231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51d53ba594694548" Type="http://schemas.openxmlformats.org/officeDocument/2006/relationships/notesMaster" Target="../notesMasters/notesMaster1.xml"/><Relationship Id="R6bceec11c84043f9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23bef9f9604484f" Type="http://schemas.openxmlformats.org/officeDocument/2006/relationships/notesMaster" Target="../notesMasters/notesMaster1.xml"/><Relationship Id="Rdbb9c5b31bd74b67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71ef2719f4394851" Type="http://schemas.openxmlformats.org/officeDocument/2006/relationships/notesMaster" Target="../notesMasters/notesMaster1.xml"/><Relationship Id="Ree919e1b6acd4031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e1980f4054bf47ef" Type="http://schemas.openxmlformats.org/officeDocument/2006/relationships/slide" Target="../slides/slide11.xml"/><Relationship Id="Rfd8fb7a41f5c4d44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106b73e63fdf4ae1" Type="http://schemas.openxmlformats.org/officeDocument/2006/relationships/slide" Target="../slides/slide12.xml"/><Relationship Id="R2b33e577e3804398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61a452e0009e40f2" Type="http://schemas.openxmlformats.org/officeDocument/2006/relationships/slide" Target="../slides/slide13.xml"/><Relationship Id="Rc1bbce9d36444b00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cb92a4eaf2a943a8" Type="http://schemas.openxmlformats.org/officeDocument/2006/relationships/slide" Target="../slides/slide14.xml"/><Relationship Id="Rec173405ead941f9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3261456765f24687" Type="http://schemas.openxmlformats.org/officeDocument/2006/relationships/notesMaster" Target="../notesMasters/notesMaster1.xml"/><Relationship Id="R77d2f86f94a0492a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b5ac043bba8e4fbb" Type="http://schemas.openxmlformats.org/officeDocument/2006/relationships/notesMaster" Target="../notesMasters/notesMaster1.xml"/><Relationship Id="Rddd7a4b5241d4626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9e0da0c2bfc44828" Type="http://schemas.openxmlformats.org/officeDocument/2006/relationships/notesMaster" Target="../notesMasters/notesMaster1.xml"/><Relationship Id="Rc6391f38441f4521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4f06b9487dec4268" Type="http://schemas.openxmlformats.org/officeDocument/2006/relationships/slide" Target="../slides/slide18.xml"/><Relationship Id="R858857b38a5f4340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1e12f5e2fc90436a" Type="http://schemas.openxmlformats.org/officeDocument/2006/relationships/slide" Target="../slides/slide19.xml"/><Relationship Id="Reb9bbaada8034d14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a5b817a6bbf34821" Type="http://schemas.openxmlformats.org/officeDocument/2006/relationships/slide" Target="../slides/slide20.xml"/><Relationship Id="Rd6766aaa164c48b6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070139ea68a64547" Type="http://schemas.openxmlformats.org/officeDocument/2006/relationships/notesMaster" Target="../notesMasters/notesMaster1.xml"/><Relationship Id="Re0ab23c5ba7d4039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2fd93154ab974a0e" Type="http://schemas.openxmlformats.org/officeDocument/2006/relationships/notesMaster" Target="../notesMasters/notesMaster1.xml"/><Relationship Id="R4ce8285cfa4c4d8d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167eb2dac7f64562" Type="http://schemas.openxmlformats.org/officeDocument/2006/relationships/slide" Target="../slides/slide23.xml"/><Relationship Id="R2b9640595e5d4b97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6ab5618730d64664" Type="http://schemas.openxmlformats.org/officeDocument/2006/relationships/slide" Target="../slides/slide24.xml"/><Relationship Id="Ra6ddee746fd6459c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code: SCI-LAUNCH-A2-W01</a:t>
            </a:r>
          </a:p>
          <a:p xmlns:a="http://schemas.openxmlformats.org/drawingml/2006/main">
            <a:r>
              <a:t>SoW objective: Describe mitosis &amp; the cell cycle (animation).</a:t>
            </a:r>
          </a:p>
          <a:p xmlns:a="http://schemas.openxmlformats.org/drawingml/2006/main">
            <a:r>
              <a:t>Reading band: LAUNCH 11+</a:t>
            </a:r>
          </a:p>
          <a:p xmlns:a="http://schemas.openxmlformats.org/drawingml/2006/main">
            <a:r>
              <a:t>Staff focus: {'i_do': '“Watch the DNA copy. Point to where the two matching sets go.”', 'we_do': '“You have the first and last steps. What might happen between them?”', 'independent': '“Show me the last step you know. What does the model tell you next?”'}</a:t>
            </a:r>
          </a:p>
          <a:p xmlns:a="http://schemas.openxmlformats.org/drawingml/2006/main">
            <a:r>
              <a:t>Prompt ladder: ['Wait: count to five and watch for an independent move.', 'Point or gesture to the last complete card or model step.', 'Verbal cue: “What happened to the copied chromosomes?”', 'Model one move with one colour; pupil repeats with the other colour.', 'Finish one step together; then ask the pupil to try a fresh step alone.']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Pearson Edexcel GCSE Biology 1BI0 / Combined Science 1SC0, Biology Topic 1, points 1.1 and 1.15; https://qualifications.pearson.com/content/dam/pdf/GCSE/Science/2016/Specification/gcse-biology-spec.pdf; https://qualifications.pearson.com/content/dam/pdf/GCSE/Science/2016/Specification/gcse-combinedscience-spec.pdf; Pearson Edexcel GCSE Biology 1BI0 points 1.1 and 2.3, https://qualifications.pearson.com/content/dam/pdf/GCSE/Science/2016/Specification/gcse-biology-spec.pdf</a:t>
            </a:r>
          </a:p>
          <a:p xmlns:a="http://schemas.openxmlformats.org/drawingml/2006/main">
            <a:r>
              <a:t>Pearson Edexcel GCSE Biology 1BI0 / Combined Science 1SC0, Biology Topic 1, points 1.1 and 1.15; https://qualifications.pearson.com/content/dam/pdf/GCSE/Science/2016/Specification/gcse-biology-spec.pdf; https://qualifications.pearson.com/content/dam/pdf/GCSE/Science/2016/Specification/gcse-combinedscience-spec.pdf; Pearson Edexcel GCSE Biology 5BI2F examiner report, Q5(a)(i), https://qualifications.pearson.com/content/dam/pdf/GCSE/Science/2011/Exam%20materials/Examiner-report-Unit-2F-June-2014.pdf</a:t>
            </a:r>
          </a:p>
          <a:p xmlns:a="http://schemas.openxmlformats.org/drawingml/2006/main">
            <a:r>
              <a:t>Pearson Edexcel GCSE Biology 1BI0 point 1.15, https://qualifications.pearson.com/content/dam/pdf/GCSE/Science/2016/Specification/gcse-biology-spec.pdf; AQA GCSE Biology 8461, Transport in cells 4.1.3.2, https://www.aqa.org.uk/subjects/biology/gcse/biology-8461/specification/subject-content/cell-biology</a:t>
            </a:r>
          </a:p>
          <a:p xmlns:a="http://schemas.openxmlformats.org/drawingml/2006/main">
            <a:r>
              <a:t>Pearson Edexcel GCSE Biology 1BI0, Topic 2, points 2.1–2.3, https://qualifications.pearson.com/content/dam/pdf/GCSE/Science/2016/Specification/gcse-biology-spec.pdf; Pearson Edexcel GCSE Combined Science 1SC0, Biology Topic 2, points 2.1–2.3, https://qualifications.pearson.com/content/dam/pdf/GCSE/Science/2016/Specification/gcse-combinedscience-spec.pdf</a:t>
            </a:r>
          </a:p>
          <a:p xmlns:a="http://schemas.openxmlformats.org/drawingml/2006/main">
            <a:r>
              <a:t>Pearson Edexcel 1BI0 / 1SC0 Biology 3.4–3.5, 3.13; Pearson Edexcel GCSE Biology 1BI0, Topic 2, points 2.1–2.3, https://qualifications.pearson.com/content/dam/pdf/GCSE/Science/2016/Specification/gcse-biology-spec.pdf; Pearson Edexcel GCSE Combined Science 1SC0, Biology Topic 2, points 2.1–2.3, https://qualifications.pearson.com/content/dam/pdf/GCSE/Science/2016/Specification/gcse-combinedscience-spec.pdf</a:t>
            </a:r>
          </a:p>
          <a:p xmlns:a="http://schemas.openxmlformats.org/drawingml/2006/main">
            <a:r>
              <a:t>Pearson Edexcel 1BI0 Paper 1 mark scheme, Q9(a)(i), https://qualifications.pearson.com/content/dam/pdf/GCSE/Science/2016/Exam-materials/1bi0-1h-rms-20240822.pdf; Pearson Edexcel GCSE Biology 1BI0, Topic 2, points 2.1–2.3, https://qualifications.pearson.com/content/dam/pdf/GCSE/Science/2016/Specification/gcse-biology-spec.pdf; Pearson Edexcel GCSE Combined Science 1SC0, Biology Topic 2, points 2.1–2.3, https://qualifications.pearson.com/content/dam/pdf/GCSE/Science/2016/Specification/gcse-combinedscience-spec.pdf</a:t>
            </a:r>
          </a:p>
          <a:p xmlns:a="http://schemas.openxmlformats.org/drawingml/2006/main">
            <a:r>
              <a:t>Pearson Edexcel GCSE Biology 1BI0, Topic 2 points 2.1 and 2.3, https://qualifications.pearson.com/content/dam/pdf/GCSE/Science/2016/Specification/gcse-biology-spec.pdf</a:t>
            </a:r>
          </a:p>
          <a:p xmlns:a="http://schemas.openxmlformats.org/drawingml/2006/main">
            <a:r>
              <a:t>Pearson Edexcel 1BI0 / 1SC0 Biology 2.3 and 3.3; Pearson Edexcel GCSE Biology 1BI0, Topic 2, points 2.1–2.3, https://qualifications.pearson.com/content/dam/pdf/GCSE/Science/2016/Specification/gcse-biology-spec.pdf; Pearson Edexcel GCSE Combined Science 1SC0, Biology Topic 2, points 2.1–2.3, https://qualifications.pearson.com/content/dam/pdf/GCSE/Science/2016/Specification/gcse-combinedscience-spec.pdf</a:t>
            </a:r>
          </a:p>
          <a:p xmlns:a="http://schemas.openxmlformats.org/drawingml/2006/main">
            <a:r>
              <a:t>Pearson Edexcel GCSE Biology 1BI0 and Combined Science 1SC0, specification, Biology Topics 2–3; https://qualifications.pearson.com/content/dam/pdf/GCSE/Science/2016/Specification/gcse-biology-spec.pdf; https://qualifications.pearson.com/content/dam/pdf/GCSE/Science/2016/Specification/gcse-combinedscience-spec.pdf</a:t>
            </a:r>
          </a:p>
          <a:p xmlns:a="http://schemas.openxmlformats.org/drawingml/2006/main">
            <a:r>
              <a:t>Local school risk assessment and exact prepared kit; staff confirm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the same strip as large print or tactile paper shapes; accept pointing before speaking.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three retrieval questions in order, reveal answers after all pupils respond, then point to the three success criteria.</a:t>
            </a:r>
          </a:p>
          <a:p xmlns:a="http://schemas.openxmlformats.org/drawingml/2006/main">
            <a:r>
              <a:t>Which process uses energy to move a substance from low to high concentration? → Active transport.</a:t>
            </a:r>
          </a:p>
          <a:p xmlns:a="http://schemas.openxmlformats.org/drawingml/2006/main">
            <a:r>
              <a:t>In osmosis, which substance moves through a partially permeable membrane? → Water.</a:t>
            </a:r>
          </a:p>
          <a:p xmlns:a="http://schemas.openxmlformats.org/drawingml/2006/main">
            <a:r>
              <a:t>In a eukaryotic animal cell, which structure holds the chromosomes? → The nucleus.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paper-strip model; pause for the show-me check before the next stage.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Body-cell division: copied chromosomes separate, then one cell splits into two. Simplified; not to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mitosis, in interphase.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paired talk before the card or select task; offer the support route without giving the missing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step: Anaphase: the two copies of each chromosome are pulled to opposite ends.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First → See the lesson teacher note.</a:t>
            </a:r>
          </a:p>
          <a:p xmlns:a="http://schemas.openxmlformats.org/drawingml/2006/main">
            <a:r>
              <a:t>Then → See the lesson teacher note.</a:t>
            </a:r>
          </a:p>
          <a:p xmlns:a="http://schemas.openxmlformats.org/drawingml/2006/main">
            <a:r>
              <a:t>Last → See the lesson teacher note.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simultaneous whiteboards, point or symbol cards. Apply the decision rule and parallel hinge in the note.</a:t>
            </a:r>
          </a:p>
          <a:p xmlns:a="http://schemas.openxmlformats.org/drawingml/2006/main">
            <a:r>
              <a:t>A. A. Half the original set, with just three chromosomes each. | Not correct | Confuses body-cell mitosis with chromosome halving in meiosis.</a:t>
            </a:r>
          </a:p>
          <a:p xmlns:a="http://schemas.openxmlformats.org/drawingml/2006/main">
            <a:r>
              <a:t>B. B. Double the original set, with twelve chromosomes in each. | Not correct | Counts the copied chromosomes before separation as the number retained by each daughter cell.</a:t>
            </a:r>
          </a:p>
          <a:p xmlns:a="http://schemas.openxmlformats.org/drawingml/2006/main">
            <a:r>
              <a:t>C. C. The same six-chromosome set as the original body cell. | Correct | Uses the new case accurately.</a:t>
            </a:r>
          </a:p>
          <a:p xmlns:a="http://schemas.openxmlformats.org/drawingml/2006/main">
            <a:r>
              <a:t>D. D. No chromosomes, because the copies remain in one cell. | Not correct | Assumes copied chromosomes stay in the parent cell instead of separating into two cells.</a:t>
            </a:r>
          </a:p>
          <a:p xmlns:a="http://schemas.openxmlformats.org/drawingml/2006/main">
            <a:r>
              <a:t>About 3 in 4 or more right → move on; otherwise re-model copying and splitting with two blue and two orange paper strips, then ask the parallel hinge. No automatic grade or saved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pupils; the other holds the group, swapping roles across the week. Record actual independence and prompt level.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pupils; the other holds the group, swapping roles across the week. Record actual independence and prompt level.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adult supports pupils; the other holds the group, swapping roles across the week. Record actual independence and prompt level.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one specific piece of VF, allow a true self-edit and record only feedback that occurred.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Hear every response through speech, sign, point, drawing or writing; use it to change the next example or prompt.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6ffdcf7c0f83428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1f1aa4738c449f3" Type="http://schemas.openxmlformats.org/officeDocument/2006/relationships/theme" Target="theme/theme2.xml"/><Relationship Id="Rcba056e44a04421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a056e44a0442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e7e4864c3e643d2" Type="http://schemas.openxmlformats.org/officeDocument/2006/relationships/notesSlide" Target="../notesSlides/notesSlide1.xml"/><Relationship Id="Radc4e6725ce14a91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4da14de93c2e4a45" Type="http://schemas.openxmlformats.org/officeDocument/2006/relationships/image" Target="../media/image.png"/><Relationship Id="Rbce228dfd798410c" Type="http://schemas.openxmlformats.org/officeDocument/2006/relationships/slideLayout" Target="../slideLayouts/slideLayout1.xml"/><Relationship Id="Rde1b721e2b7b4ff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5d6dee040499463d" Type="http://schemas.openxmlformats.org/officeDocument/2006/relationships/notesSlide" Target="../notesSlides/notesSlide3.xml"/><Relationship Id="Re2495e494e4b42f4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5c3eeffa0d494577" Type="http://schemas.openxmlformats.org/officeDocument/2006/relationships/notesSlide" Target="../notesSlides/notesSlide4.xml"/><Relationship Id="Re24df921584f45c9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5d699a1b96b541d7" Type="http://schemas.openxmlformats.org/officeDocument/2006/relationships/slideLayout" Target="../slideLayouts/slideLayout1.xml"/><Relationship Id="R9ca99946d6a24774" Type="http://schemas.openxmlformats.org/officeDocument/2006/relationships/image" Target="../media/image2.png"/><Relationship Id="Rcc5ed59478f1438a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dfd06c3979e04cca" Type="http://schemas.openxmlformats.org/officeDocument/2006/relationships/slideLayout" Target="../slideLayouts/slideLayout1.xml"/><Relationship Id="Rfdd9e4ad5b054eda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31b30969c794e46" Type="http://schemas.openxmlformats.org/officeDocument/2006/relationships/slideLayout" Target="../slideLayouts/slideLayout1.xml"/><Relationship Id="Rb6d169525e1541fb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176a50365fc14904" Type="http://schemas.openxmlformats.org/officeDocument/2006/relationships/slideLayout" Target="../slideLayouts/slideLayout1.xml"/><Relationship Id="Rec781d75faa449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4d8cc02abb3a4f12" Type="http://schemas.openxmlformats.org/officeDocument/2006/relationships/notesSlide" Target="../notesSlides/notesSlide9.xml"/><Relationship Id="R7335f261ca4c41d3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9f15b71893eb48f4" Type="http://schemas.openxmlformats.org/officeDocument/2006/relationships/slideLayout" Target="../slideLayouts/slideLayout1.xml"/><Relationship Id="Rcc9bbb362dad45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45776b1e2e34430c" Type="http://schemas.openxmlformats.org/officeDocument/2006/relationships/slideLayout" Target="../slideLayouts/slideLayout1.xml"/><Relationship Id="Rcf61bea4408848f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1ec3efa6eafa4803" Type="http://schemas.openxmlformats.org/officeDocument/2006/relationships/notesSlide" Target="../notesSlides/notesSlide12.xml"/><Relationship Id="R35ab435b076f4ef7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ec03479a2e7b4002" Type="http://schemas.openxmlformats.org/officeDocument/2006/relationships/slideLayout" Target="../slideLayouts/slideLayout1.xml"/><Relationship Id="Rfbe22bd8eb6b4cae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cdf1c42c1bf1491d" Type="http://schemas.openxmlformats.org/officeDocument/2006/relationships/notesSlide" Target="../notesSlides/notesSlide14.xml"/><Relationship Id="Rde8d0e4bdb39445e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2c644dc6ecf34c86" Type="http://schemas.openxmlformats.org/officeDocument/2006/relationships/notesSlide" Target="../notesSlides/notesSlide15.xml"/><Relationship Id="R3ac7d509c00e4069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b6200b98408a4cb5" Type="http://schemas.openxmlformats.org/officeDocument/2006/relationships/notesSlide" Target="../notesSlides/notesSlide16.xml"/><Relationship Id="Rf82d5c785dd940c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219350d32b224a30" Type="http://schemas.openxmlformats.org/officeDocument/2006/relationships/slideLayout" Target="../slideLayouts/slideLayout1.xml"/><Relationship Id="Rd0bb6f6328824ae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9129d992a0fb4166" Type="http://schemas.openxmlformats.org/officeDocument/2006/relationships/notesSlide" Target="../notesSlides/notesSlide18.xml"/><Relationship Id="Rb0db453478e94286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4fddec40551449c7" Type="http://schemas.openxmlformats.org/officeDocument/2006/relationships/notesSlide" Target="../notesSlides/notesSlide19.xml"/><Relationship Id="Rbc7b39dd8bac4147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8200f188a7194899" Type="http://schemas.openxmlformats.org/officeDocument/2006/relationships/notesSlide" Target="../notesSlides/notesSlide20.xml"/><Relationship Id="Rfd0f0e4d4c134b73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d74f2601089b4e1a" Type="http://schemas.openxmlformats.org/officeDocument/2006/relationships/slideLayout" Target="../slideLayouts/slideLayout1.xml"/><Relationship Id="Rf7b13f3a0b3a4cf0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53e8809cbe2542a4" Type="http://schemas.openxmlformats.org/officeDocument/2006/relationships/notesSlide" Target="../notesSlides/notesSlide22.xml"/><Relationship Id="Rf710ec4e4bd047f6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172755da12a34e2e" Type="http://schemas.openxmlformats.org/officeDocument/2006/relationships/notesSlide" Target="../notesSlides/notesSlide23.xml"/><Relationship Id="R9a91f2c6a6b54de3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66dd5a1cd1de4a2b" Type="http://schemas.openxmlformats.org/officeDocument/2006/relationships/slideLayout" Target="../slideLayouts/slideLayout1.xml"/><Relationship Id="Rfc4c92766df64e0a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8BA2B-9094-4712-A4CA-72C51995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Mitosis and the cell 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76D49-4BA0-42C1-8543-D31C52BA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E8448-B650-431B-B61D-8013ABF7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7F8DE-FB9E-4BE7-A228-E66A5CE5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am learning to order the cell cycle and explain why a cell makes two matching cells.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329A4-1360-43A6-AE3D-9DC9B745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order interphase, four mitosis phases and cytokinesis.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F0347-2041-49A4-B566-3A21BB43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show that the two new body cells have matching chromosome sets.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6C5A4-510F-4EF3-918E-3D7FE0EA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1242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explain how mitosis helps growth or repair.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Made by M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5833872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2120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869C7-CE1F-4D4F-BF8D-9E843D58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075EF-CFEC-43FE-9F7C-B065DBEC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DDC2B-AED2-4440-B956-97702BD4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FD313-217E-4E41-B488-EF30F67C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Point to the first and last picture in the cell strip. What changed?</a:t>
            </a:r>
          </a:p>
        </p:txBody>
      </p:sp>
      <p:pic>
        <p:nvPicPr>
          <p:cNvPr id="10" name="" descr="Three drawn stages: one cell with copied chromosomes; chromosome sets move to two nuclei; the cell splits into two cells with matching set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14de93c2e4a45"/>
          <a:stretch xmlns:a="http://schemas.openxmlformats.org/drawingml/2006/main"/>
        </p:blipFill>
        <p:spPr>
          <a:xfrm xmlns:a="http://schemas.openxmlformats.org/drawingml/2006/main">
            <a:off x="5286375" y="3905250"/>
            <a:ext cx="1619250" cy="209550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11" name="TextBox 10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120427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655CB-51FD-4819-AFA9-5803AA73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407DC-AB4A-4C16-99BF-12ADC55F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A0D5A-D05B-4138-B588-2243273F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89EA8-4011-445D-91EA-8ED8E3BD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Recall three things from earlier lessons. Show one answer at a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C350E-E5F8-49E6-A1D8-43FBAEC8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Which process uses energy to move a substance from low to high concentration?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4560F-8144-4F68-ADA0-7231782D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7362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In osmosis, which substance moves through a partially permeable membrane?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239BF-648F-43E6-A43E-2C3CC994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9293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In a eukaryotic animal cell, which structure holds the chromosomes?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598302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02396-2389-4C4F-8214-4B16CBD4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53DF8-40F1-4877-ADC6-09680AC5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34832-A149-499C-A39A-E13AED1C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0BAC1-58B4-45C1-8EBA-5A28C523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Watch the full model: copy the DNA, separate the matching chromosomes, then split the cell.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51592-9446-49D9-BD02-F08C1BBC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180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Interphase: copy DNA. Mitosis: prophase (condense), metaphase (line up), anaphase (the two copies of each chromosome are pulled to opposite ends), telophase (two nuclei). Cytokinesis: split the cell.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1392448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5898B-626A-4183-A9AB-E0E556B1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6E4FF-8793-4CE4-98C0-17D052C5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FA016-1696-491A-8862-4067730B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8" name="" descr="Three drawn stages: one cell with copied chromosomes; chromosome sets move to two nuclei; the cell splits into two cells with matching set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99946d6a24774"/>
          <a:stretch xmlns:a="http://schemas.openxmlformats.org/drawingml/2006/main"/>
        </p:blipFill>
        <p:spPr>
          <a:xfrm xmlns:a="http://schemas.openxmlformats.org/drawingml/2006/main">
            <a:off x="4366347" y="1409700"/>
            <a:ext cx="3459307" cy="44767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9676987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1DC1A-8263-48F9-9C3C-ABEF3C8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76850-4DF2-4E24-A8AC-76FFD522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A551B-A656-4827-953B-916F1ABC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009CD-8741-4C61-A927-1F6AB5F2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me: is DNA copied before, during or after mitosis?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9526365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EC53A-66AE-4E25-8743-A927BF87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C7FF7-0C34-427F-B4F7-5037DB09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3C541-2365-4D9C-A803-2CA26531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7D74C-BA61-4D2A-95BE-510699B9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Complete the missing step in the part-done model. Then place the paper strips in both new cells.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AD113-7B0D-419B-A230-0176F6F9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Interphase: copy DNA. Mitosis: prophase (condense), metaphase (line up), ________, telophase (two nuclei). Cytokinesis: split the cell.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880554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78386-F3D1-45ED-B729-AA7A72D7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Talk, then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4BFF3-E5C6-481D-8B90-7C293C5C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9416F-4748-466A-90D0-4463DBFF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D79C8-F503-43F7-B704-EBF5A221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Interphase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4985E-C06F-4414-B711-A1B37FD3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Mitosis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CB12A-611B-47B8-B6D7-B2D3F487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Cytokinesis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7A7CB-07EB-4970-91B6-B85FBA0E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F4527-EED1-4CA9-950D-6435A915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E40AD-ADC6-4423-98C6-D795EF11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Last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146650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2D8CE-71A4-4194-9B2C-20225D15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FCC01-678E-481B-B211-778D5FAE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51823-AB1C-44D6-982C-16575998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DAC5E-771A-4118-85D3-6EDAC953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new body-cell model starts with six chromosomes. After DNA copying, mitosis and cell division, what should each daughter cell contain?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DEBC9-C538-460C-9753-65E5CBD8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789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A. </a:t>
            </a: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A. Half the original set, with just three chromosomes each.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FE2C7-CBF8-48A4-8B6F-576043C6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224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B. </a:t>
            </a: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B. Double the original set, with twelve chromosomes in each.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1CA60-1658-4D7A-A801-C50EAEFD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659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C. </a:t>
            </a: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C. The same six-chromosome set as the original body cell.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B2D04-C9AA-4242-A8B0-A5E94911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094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D. </a:t>
            </a: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D. No chromosomes, because the copies remain in one cell.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1315349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903F1-92F7-4CC5-B00F-57C8E76D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0024C-F00F-4800-AB58-C435722A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30F93-3119-4DA4-8158-0E43BF9C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53776-3860-4778-8CD3-627F62AC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Use the model to explain how cell division helps replace damaged body cells.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8DF91-8D63-41F7-A6A0-BD227028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Order the three cards and show the same chromosome colours in each new cell.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DA81B-830D-4E0A-A8AC-BC2C807A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7362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First …; then …; last …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4848887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3B7E7-8DAB-4B12-81C1-38B61E2F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8135F-6D73-4088-A4D0-6805D6AC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AA60B-1A32-4185-A98E-A5D5221E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2EDD1-9818-4BEA-AA83-73A1753D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Use the model to explain how cell division helps replace damaged body cells.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3501D-9674-4879-BA9D-B14E86A0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Explain why each new cell has a matching chromosome 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6CF45-27A8-4AF2-BB53-874D74E8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Each new cell matches because …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5774041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35E81-FD0F-4496-86E9-0E929796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9944F-6D65-4213-B0A0-4DFC1C93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3ABFE-DDAA-49A5-B73D-042EAD63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C2894-B111-48D1-A04C-596A03E5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Use the model to explain how cell division helps replace damaged body cells.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27B18-A532-4087-9728-AF4C748C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Predict what would happen to the sets if copied chromosomes did not separate evenly.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EBC43-580F-4021-A26D-7BD7B6C2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7362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If the copies did not separate evenly, then … because …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6422730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6AD5D-3439-4CDC-AF25-17BC9B04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9F7C3-1FC5-4185-82AC-59FA8CE2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5B824-D9C4-4FC1-A6EE-BAF01555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DE54F-9DF4-49A1-AB6E-7A3E8380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do copy, separate and split work together when new cells are needed for repair?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120E5-8B50-446F-9E9E-2C18FE78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Fault finder: compare two faulty models. One skips DNA copying; the other puts both copies of one chromosome in one nucleus. Find each first error and propose a repair.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0542695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2E848-FC06-4CED-B0C5-29DE4E1B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51C00-B713-4C5B-8ED7-4EFED546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9EFB9-1D26-4DEE-8C80-2CA6E279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5CF64-D6DD-4CE0-80E8-80BD67DC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Tell your partner what you changed after feedback. Mark a real self-edit // and read it back when asked ?.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0908999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C0877-5787-458E-8B07-C82B2D69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B98A3-0217-4574-A9DE-006E453E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75B01-C8CC-4141-A2F2-385E6E94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9C10B-0B33-4FFB-9DFE-39594E59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489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how you know: order the three stages and explain why the new cells match.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7CD02-B21A-4741-9346-F921930B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3085"/>
            <a:ext cx="11087100" cy="489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Check today’s success: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370B6-6D91-457A-8EEF-04024A61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12670"/>
            <a:ext cx="11087100" cy="489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order interphase, four mitosis phases and cytokinesis.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9EB5A-7F99-428B-835F-F0AF6686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2255"/>
            <a:ext cx="11087100" cy="489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show that the two new body cells have matching chromosome sets.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8F05C-838B-43DB-81B7-F6CFF2B1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1840"/>
            <a:ext cx="11087100" cy="489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explain how mitosis helps growth or repair.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0DAAF-3D5B-432A-B4F9-BCA60817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81425"/>
            <a:ext cx="11087100" cy="489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feedback was … Name the feedback you heard at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2FE32-8488-46DF-B288-4A7F81A7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1010"/>
            <a:ext cx="11087100" cy="489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Next I need to … Check both matching chromosome sets and the final cell split.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63029-DCFE-468B-AF61-3010480E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0595"/>
            <a:ext cx="11087100" cy="489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I know: My model shows two matching cells, and I can explain the order.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8E89A-2E4B-45F1-B164-2E94C247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0180"/>
            <a:ext cx="11087100" cy="825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Your teacher hears your answer and uses it to choose the next example or prompt.</a:t>
            </a:r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444114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A468A-416C-4588-89AA-5346D977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cell 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9E16F-0F53-4B18-A072-EEFC5421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0F630-128B-4278-A028-A64ECD99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52849-B2B7-44FE-8607-193012E5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series of steps in which a cell grows and divides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0FC32-C500-4CFE-B0F7-7533013C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cell cycle includes interphase, mitosis and cytokinesis.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685645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EE59F-D9B8-4990-8987-2D624BE8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interphase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654AB-A3EF-4D39-B6FB-78250140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09413-36FA-4DFD-86F0-4CF7E225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26F04-108F-4B5F-AB85-E21B346A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stage in which the cell grows and copies its DNA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2CB09-7DE8-40BD-8F34-7C62424B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cell copies its DNA in interphase.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4711207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70B6B-059F-4347-A6D5-76B08989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mitosis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3BB4F-F66B-4BCD-8585-40A3AE85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81CC3-9E57-40FE-AB1C-0A7230F6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690B6-A296-4F9E-BC48-DCC8B564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stage in which copied chromosomes separate into two nuclei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06618-8883-488C-B56B-79552678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Mitosis separates the chromosome sets.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4429586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8988B-115D-4EC0-A4C2-4335088C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chromosome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DE609-B837-4011-8027-C5F273FC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E57C2-93C6-4798-8AE4-1FFB9955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18FA0-AB65-4044-9092-8EC3FA7E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structure of DNA that carries genes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A25CB-C442-489E-B73D-CDE81EC5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Each new nucleus receives a matching set of chromosomes.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3505234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F25C6-6CEB-4398-A528-096AB185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cytokinesis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608AA-AF23-4941-86CD-9B48FC0B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7F90C-8DEB-44E8-A021-12608CC9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79CFE-A9D3-4776-B55D-0CF5453D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division of the cell after the nuclei 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10529-683C-4842-A1B1-BCE3AD5B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Cytokinesis splits one cell into two.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5859790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2FF67-019A-49DB-9614-F75CB31F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prophase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88B26-D6D2-4138-BAC1-404C5BDC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93375-0F28-4859-9B29-1D1773C5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DC263-E341-4894-AC95-8A1F1E43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mitosis phase when chromosomes condense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74ADE-322B-4C6E-A0B8-B9ECB9BA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In prophase, chromosomes become easier to see.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4685298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DF6F9-1EBF-4F19-8449-EE847793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metaphase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80881-DCC6-4B0E-81CC-9C893E52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26357-5C31-4F4B-9F03-DD4E3A77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09C2C-98E0-482B-8B60-5F87C16C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mitosis phase when chromosomes line up in the middle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28429-A674-4D9C-BC93-150B5458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In metaphase, chromosomes form a line.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17031280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8B989-C931-4B84-B608-AAC23555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anaphase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19D1B-281F-44EF-9D08-DC573DDF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9F245-A8A3-45A0-BB41-94913596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652E5-546B-4367-8F63-C1998D51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mitosis phase when the two copies of each chromosome are pulled to opposite ends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670B1-DF3B-4135-9623-CCB530E0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In anaphase, the two copies of each chromosome are pulled to opposite ends.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289189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A23D8-1D64-45E9-B19D-DA165D4C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telophase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34B54-5DF7-4AF8-B398-FFCBBE37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SCI-LAUNCH-A2-W01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206CD-B6FC-4571-BF30-91F8A4EB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48E9F-F7CB-4D16-B61E-894F8020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mitosis phase when two new nuclei 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D8EC8-E7EB-45EE-8777-12FDD105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In telophase, each set gains a nucleus.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84354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2026-09-25T12:29:28.0620000Z</dcterms:created>
  <dcterms:modified xsi:type="dcterms:W3CDTF">2026-09-25T12:29:28.0620000Z</dcterms:modified>
</coreProperties>
</file>