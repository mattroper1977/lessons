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672abcd7fea147c9" Type="http://schemas.openxmlformats.org/officeDocument/2006/relationships/officeDocument" Target="ppt/presentation.xml"/><Relationship Id="R802ead1814fb4745" Type="http://schemas.openxmlformats.org/officeDocument/2006/relationships/extended-properties" Target="docProps/app.xml"/><Relationship Id="Rb2b1b89ed03f4180" Type="http://schemas.openxmlformats.org/package/2006/relationships/metadata/core-properties" Target="docProps/core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a405667cd294e1f"/>
  </p:sldMasterIdLst>
  <p:notesMasterIdLst>
    <p:notesMasterId xmlns:r="http://schemas.openxmlformats.org/officeDocument/2006/relationships" r:id="R37aff6910be54de6"/>
  </p:notesMasterIdLst>
  <p:sldIdLst>
    <p:sldId xmlns:r="http://schemas.openxmlformats.org/officeDocument/2006/relationships" id="256" r:id="R4747c810aeac4a97"/>
    <p:sldId xmlns:r="http://schemas.openxmlformats.org/officeDocument/2006/relationships" id="257" r:id="R8f757d499a5a4b9c"/>
    <p:sldId xmlns:r="http://schemas.openxmlformats.org/officeDocument/2006/relationships" id="258" r:id="R43dbe4799ef24ede"/>
    <p:sldId xmlns:r="http://schemas.openxmlformats.org/officeDocument/2006/relationships" id="259" r:id="R696395702e214b1b"/>
    <p:sldId xmlns:r="http://schemas.openxmlformats.org/officeDocument/2006/relationships" id="260" r:id="Rdddd1bacde6842f1"/>
    <p:sldId xmlns:r="http://schemas.openxmlformats.org/officeDocument/2006/relationships" id="261" r:id="R6f523947bcf14d57"/>
    <p:sldId xmlns:r="http://schemas.openxmlformats.org/officeDocument/2006/relationships" id="262" r:id="R7de4ee8bbf6446f2"/>
    <p:sldId xmlns:r="http://schemas.openxmlformats.org/officeDocument/2006/relationships" id="263" r:id="R43902792f2dc4626"/>
    <p:sldId xmlns:r="http://schemas.openxmlformats.org/officeDocument/2006/relationships" id="264" r:id="Rab4ccd3d8ef2412f"/>
    <p:sldId xmlns:r="http://schemas.openxmlformats.org/officeDocument/2006/relationships" id="265" r:id="Rf66d6819ea464839"/>
    <p:sldId xmlns:r="http://schemas.openxmlformats.org/officeDocument/2006/relationships" id="266" r:id="R424dc19f3f7743f8"/>
    <p:sldId xmlns:r="http://schemas.openxmlformats.org/officeDocument/2006/relationships" id="267" r:id="R6bdb8f7c64644624"/>
    <p:sldId xmlns:r="http://schemas.openxmlformats.org/officeDocument/2006/relationships" id="268" r:id="R4f481c814afa4ea6"/>
    <p:sldId xmlns:r="http://schemas.openxmlformats.org/officeDocument/2006/relationships" id="269" r:id="Rffba8f1d76e3449c"/>
    <p:sldId xmlns:r="http://schemas.openxmlformats.org/officeDocument/2006/relationships" id="270" r:id="R8af6d013b95246fe"/>
    <p:sldId xmlns:r="http://schemas.openxmlformats.org/officeDocument/2006/relationships" id="271" r:id="R248278fc645649c6"/>
    <p:sldId xmlns:r="http://schemas.openxmlformats.org/officeDocument/2006/relationships" id="272" r:id="R3d887b3a389c45eb"/>
    <p:sldId xmlns:r="http://schemas.openxmlformats.org/officeDocument/2006/relationships" id="273" r:id="R15a829c08ada477d"/>
    <p:sldId xmlns:r="http://schemas.openxmlformats.org/officeDocument/2006/relationships" id="274" r:id="Rda51ab666dc34fb9"/>
    <p:sldId xmlns:r="http://schemas.openxmlformats.org/officeDocument/2006/relationships" id="275" r:id="R4b9bde66e7f045c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Id="R15a829c08ada477d" Type="http://schemas.openxmlformats.org/officeDocument/2006/relationships/slide" Target="slides/slide18.xml"/><Relationship Id="R248278fc645649c6" Type="http://schemas.openxmlformats.org/officeDocument/2006/relationships/slide" Target="slides/slide16.xml"/><Relationship Id="R37aff6910be54de6" Type="http://schemas.openxmlformats.org/officeDocument/2006/relationships/notesMaster" Target="notesMasters/notesMaster1.xml"/><Relationship Id="R3d887b3a389c45eb" Type="http://schemas.openxmlformats.org/officeDocument/2006/relationships/slide" Target="slides/slide17.xml"/><Relationship Id="R424dc19f3f7743f8" Type="http://schemas.openxmlformats.org/officeDocument/2006/relationships/slide" Target="slides/slide11.xml"/><Relationship Id="R43902792f2dc4626" Type="http://schemas.openxmlformats.org/officeDocument/2006/relationships/slide" Target="slides/slide8.xml"/><Relationship Id="R43dbe4799ef24ede" Type="http://schemas.openxmlformats.org/officeDocument/2006/relationships/slide" Target="slides/slide3.xml"/><Relationship Id="R4747c810aeac4a97" Type="http://schemas.openxmlformats.org/officeDocument/2006/relationships/slide" Target="slides/slide1.xml"/><Relationship Id="R4b9bde66e7f045c7" Type="http://schemas.openxmlformats.org/officeDocument/2006/relationships/slide" Target="slides/slide20.xml"/><Relationship Id="R4f481c814afa4ea6" Type="http://schemas.openxmlformats.org/officeDocument/2006/relationships/slide" Target="slides/slide13.xml"/><Relationship Id="R696395702e214b1b" Type="http://schemas.openxmlformats.org/officeDocument/2006/relationships/slide" Target="slides/slide4.xml"/><Relationship Id="R6bdb8f7c64644624" Type="http://schemas.openxmlformats.org/officeDocument/2006/relationships/slide" Target="slides/slide12.xml"/><Relationship Id="R6f523947bcf14d57" Type="http://schemas.openxmlformats.org/officeDocument/2006/relationships/slide" Target="slides/slide6.xml"/><Relationship Id="R70bea8e871504077" Type="http://schemas.openxmlformats.org/officeDocument/2006/relationships/tableStyles" Target="tableStyles.xml"/><Relationship Id="R7de4ee8bbf6446f2" Type="http://schemas.openxmlformats.org/officeDocument/2006/relationships/slide" Target="slides/slide7.xml"/><Relationship Id="R8a405667cd294e1f" Type="http://schemas.openxmlformats.org/officeDocument/2006/relationships/slideMaster" Target="slideMasters/slideMaster1.xml"/><Relationship Id="R8af6d013b95246fe" Type="http://schemas.openxmlformats.org/officeDocument/2006/relationships/slide" Target="slides/slide15.xml"/><Relationship Id="R8f757d499a5a4b9c" Type="http://schemas.openxmlformats.org/officeDocument/2006/relationships/slide" Target="slides/slide2.xml"/><Relationship Id="Rab4ccd3d8ef2412f" Type="http://schemas.openxmlformats.org/officeDocument/2006/relationships/slide" Target="slides/slide9.xml"/><Relationship Id="Rbdc0562bcddb49f0" Type="http://schemas.openxmlformats.org/officeDocument/2006/relationships/theme" Target="theme/theme1.xml"/><Relationship Id="Rda51ab666dc34fb9" Type="http://schemas.openxmlformats.org/officeDocument/2006/relationships/slide" Target="slides/slide19.xml"/><Relationship Id="Rdddd1bacde6842f1" Type="http://schemas.openxmlformats.org/officeDocument/2006/relationships/slide" Target="slides/slide5.xml"/><Relationship Id="Re2d7431895b4429e" Type="http://schemas.openxmlformats.org/officeDocument/2006/relationships/presProps" Target="presProps.xml"/><Relationship Id="Rf66d6819ea464839" Type="http://schemas.openxmlformats.org/officeDocument/2006/relationships/slide" Target="slides/slide10.xml"/><Relationship Id="Rffba8f1d76e3449c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fc65995c0d064713" Type="http://schemas.openxmlformats.org/officeDocument/2006/relationships/theme" Target="theme/theme3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1731c6fe4808417b" Type="http://schemas.openxmlformats.org/officeDocument/2006/relationships/slide" Target="../slides/slide1.xml"/><Relationship Id="R5fceb520a496486a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5cce261075ea41ca" Type="http://schemas.openxmlformats.org/officeDocument/2006/relationships/slide" Target="../slides/slide2.xml"/><Relationship Id="Rbe36f4cae07a4f04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7ab66fcc649149d3" Type="http://schemas.openxmlformats.org/officeDocument/2006/relationships/notesMaster" Target="../notesMasters/notesMaster1.xml"/><Relationship Id="R96794512cc0a49a7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12b94fbf516b4ace" Type="http://schemas.openxmlformats.org/officeDocument/2006/relationships/slide" Target="../slides/slide4.xml"/><Relationship Id="R196d02de0f06423d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81f9ca5991b14894" Type="http://schemas.openxmlformats.org/officeDocument/2006/relationships/notesMaster" Target="../notesMasters/notesMaster1.xml"/><Relationship Id="Rf23b2e2b03c849e5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10ce2191bddf4124" Type="http://schemas.openxmlformats.org/officeDocument/2006/relationships/slide" Target="../slides/slide6.xml"/><Relationship Id="R32ef369c0ced43fb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13171dfa38874f8c" Type="http://schemas.openxmlformats.org/officeDocument/2006/relationships/slide" Target="../slides/slide7.xml"/><Relationship Id="Rdc5657b124a64b3e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b92a509ee5b243db" Type="http://schemas.openxmlformats.org/officeDocument/2006/relationships/slide" Target="../slides/slide8.xml"/><Relationship Id="Rd137ad124ab6427b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0733e50416c947bf" Type="http://schemas.openxmlformats.org/officeDocument/2006/relationships/slide" Target="../slides/slide9.xml"/><Relationship Id="R9a5ca495080443c6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27264be5a1bf4617" Type="http://schemas.openxmlformats.org/officeDocument/2006/relationships/slide" Target="../slides/slide10.xml"/><Relationship Id="R288ecbcd09d74793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8c8330289117484b" Type="http://schemas.openxmlformats.org/officeDocument/2006/relationships/slide" Target="../slides/slide11.xml"/><Relationship Id="Rcad2222dadc44f1a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16e87a79ef494953" Type="http://schemas.openxmlformats.org/officeDocument/2006/relationships/slide" Target="../slides/slide12.xml"/><Relationship Id="R9dcc37fef30040ea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82d09cb7e4fd4e84" Type="http://schemas.openxmlformats.org/officeDocument/2006/relationships/slide" Target="../slides/slide13.xml"/><Relationship Id="Red4ea5d8286d47d3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3e260b80d4d540a3" Type="http://schemas.openxmlformats.org/officeDocument/2006/relationships/slide" Target="../slides/slide14.xml"/><Relationship Id="Rab218c684ec94569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1a011f0c43244221" Type="http://schemas.openxmlformats.org/officeDocument/2006/relationships/slide" Target="../slides/slide15.xml"/><Relationship Id="Ra0480866fee44536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09138e75899b48e0" Type="http://schemas.openxmlformats.org/officeDocument/2006/relationships/slide" Target="../slides/slide16.xml"/><Relationship Id="Rbd822180d5fa4349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4ae35e0a38e24369" Type="http://schemas.openxmlformats.org/officeDocument/2006/relationships/slide" Target="../slides/slide17.xml"/><Relationship Id="Ra061df13fc9b4e01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b24bbcb566724ab6" Type="http://schemas.openxmlformats.org/officeDocument/2006/relationships/notesMaster" Target="../notesMasters/notesMaster1.xml"/><Relationship Id="Rb6185133e64b4ff3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070dc5c5754947cb" Type="http://schemas.openxmlformats.org/officeDocument/2006/relationships/slide" Target="../slides/slide19.xml"/><Relationship Id="Ra852122889e24ccc" Type="http://schemas.openxmlformats.org/officeDocument/2006/relationships/notesMaster" Target="../notesMasters/notesMaster1.xml"/></Relationships>
</file>

<file path=ppt/notesSlides/_rels/notesSlide20.xml.rels><?xml version='1.0' encoding='UTF-8' standalone='yes'?>
<Relationships xmlns="http://schemas.openxmlformats.org/package/2006/relationships"><Relationship Id="R68aad3ad083f4ebb" Type="http://schemas.openxmlformats.org/officeDocument/2006/relationships/notesMaster" Target="../notesMasters/notesMaster1.xml"/><Relationship Id="Rcce6960e9c05490a" Type="http://schemas.openxmlformats.org/officeDocument/2006/relationships/slide" Target="../slides/slide20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Lesson code: SCI-LAUNCH-A2-W05</a:t>
            </a:r>
          </a:p>
          <a:p xmlns:a="http://schemas.openxmlformats.org/drawingml/2006/main">
            <a:r>
              <a:t>SoW objective: Complete a genetic cross (digital Punnett square).</a:t>
            </a:r>
          </a:p>
          <a:p xmlns:a="http://schemas.openxmlformats.org/drawingml/2006/main">
            <a:r>
              <a:t>Reading band: LAUNCH 11+</a:t>
            </a:r>
          </a:p>
          <a:p xmlns:a="http://schemas.openxmlformats.org/drawingml/2006/main">
            <a:r>
              <a:t>Staff focus: {'i_do': '“Watch one letter from each parent enter one square.”', 'we_do': '“Which edge has not supplied a letter yet?”', 'independent': '“Point to one finished square. How will you use that step next?”'}</a:t>
            </a:r>
          </a:p>
          <a:p xmlns:a="http://schemas.openxmlformats.org/drawingml/2006/main">
            <a:r>
              <a:t>Prompt ladder: ['Wait five seconds for an independent tile move.', 'Point to the unfinished square and the two edges.', 'Ask “Which one allele can this parent pass on?”', 'Model one edge-to-square move; pupil repeats with another square.', 'Complete one square together, then pupil tries a fresh one alone.']</a:t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Pearson Edexcel GCSE Biology 1BI0 Foundation, Biology Topics 2–3, https://qualifications.pearson.com/content/dam/pdf/GCSE/Science/2016/Specification/gcse-biology-spec.pdf; Pearson Edexcel GCSE Combined Science 1SC0 Foundation, Biology Topics 2–3, https://qualifications.pearson.com/content/dam/pdf/GCSE/Science/2016/Specification/gcse-combinedscience-spec.pdf</a:t>
            </a:r>
          </a:p>
          <a:p xmlns:a="http://schemas.openxmlformats.org/drawingml/2006/main">
            <a:r>
              <a:t>Authored fictional classroom model; not a species claim.</a:t>
            </a:r>
          </a:p>
          <a:p xmlns:a="http://schemas.openxmlformats.org/drawingml/2006/main">
            <a:r>
              <a:t>Pearson Edexcel GCSE Biology 1BI0 and Combined Science 1SC0, specification, Biology Topics 2–3; https://qualifications.pearson.com/content/dam/pdf/GCSE/Science/2016/Specification/gcse-biology-spec.pdf; https://qualifications.pearson.com/content/dam/pdf/GCSE/Science/2016/Specification/gcse-combinedscience-spec.pdf</a:t>
            </a:r>
          </a:p>
          <a:p xmlns:a="http://schemas.openxmlformats.org/drawingml/2006/main">
            <a:r>
              <a:t>lesson content–source checks ruling; static SVG geometry and mechanism check; browser confirmation remains NOT RUN</a:t>
            </a:r>
          </a:p>
          <a:p xmlns:a="http://schemas.openxmlformats.org/drawingml/2006/main">
            <a:r>
              <a:t>Local school risk assessment and exact prepared kit; staff confirm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Offer a private, predictable start. Do not require previous knowledge.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All pupils respond; reveal the answers only after attempts. Revisit success criteria.</a:t>
            </a:r>
          </a:p>
          <a:p xmlns:a="http://schemas.openxmlformats.org/drawingml/2006/main">
            <a:r>
              <a:t>What is a gene? → A section of DNA that codes for a protein.</a:t>
            </a:r>
          </a:p>
          <a:p xmlns:a="http://schemas.openxmlformats.org/drawingml/2006/main">
            <a:r>
              <a:t>What do stem cells do in growth? → They divide and some become specialised.</a:t>
            </a:r>
          </a:p>
          <a:p xmlns:a="http://schemas.openxmlformats.org/drawingml/2006/main">
            <a:r>
              <a:t>Where are chromosomes found in an animal cell? → In the nucleus.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Model one complete example; check every pupil’s response to the show-me question.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Invented A/a flower model: Aa × aa gives two Aa and two aa possibilities. Each square is a possibility, not a family count. Simplified.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Only 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Wait five seconds, gesture, then cue if needed. Support the route without supplying the missing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Missing step: Combine one top allele and one side allele in each second-row square; count two aa squares.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Top A with side a → Aa</a:t>
            </a:r>
          </a:p>
          <a:p xmlns:a="http://schemas.openxmlformats.org/drawingml/2006/main">
            <a:r>
              <a:t>Top a with first side a → aa</a:t>
            </a:r>
          </a:p>
          <a:p xmlns:a="http://schemas.openxmlformats.org/drawingml/2006/main">
            <a:r>
              <a:t>Top A with second side a → Aa</a:t>
            </a:r>
          </a:p>
          <a:p xmlns:a="http://schemas.openxmlformats.org/drawingml/2006/main">
            <a:r>
              <a:t>Top a with second side a → aa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Collect simultaneous responses, apply the decision rule and parallel hinge in the staff note.</a:t>
            </a:r>
          </a:p>
          <a:p xmlns:a="http://schemas.openxmlformats.org/drawingml/2006/main">
            <a:r>
              <a:t>A. A. 1 in 4 for each offspring. | Correct | Uses the new case accurately.</a:t>
            </a:r>
          </a:p>
          <a:p xmlns:a="http://schemas.openxmlformats.org/drawingml/2006/main">
            <a:r>
              <a:t>B. B. 1 in 2 for each offspring. | Not correct | Counts the two heterozygous squares rather than the one aa square.</a:t>
            </a:r>
          </a:p>
          <a:p xmlns:a="http://schemas.openxmlformats.org/drawingml/2006/main">
            <a:r>
              <a:t>C. C. 3 in 4 for each offspring. | Not correct | Counts all outcomes except aa rather than the recessive genotype.</a:t>
            </a:r>
          </a:p>
          <a:p xmlns:a="http://schemas.openxmlformats.org/drawingml/2006/main">
            <a:r>
              <a:t>D. D. Certain for every single offspring. | Not correct | Treats one possible aa square as a guaranteed outcome.</a:t>
            </a:r>
          </a:p>
          <a:p xmlns:a="http://schemas.openxmlformats.org/drawingml/2006/main">
            <a:r>
              <a:t>About 3 in 4 or more right → move on. Otherwise re-model the Aa × aa top and side headings with two colours, pair one allele in each square, then ask the parallel hinge. No automatic mark or saved response.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At lesson start choose one adult with supported pupils and one holding the group; swap during the week. Record independence and prompt level.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At lesson start choose one adult with supported pupils and one holding the group; swap during the week. Record independence and prompt level.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At lesson start choose one adult with supported pupils and one holding the group; swap during the week. Record independence and prompt level.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Give a precise VF or NS(+) only when it actually happens. Invite a true self-edit and read-back.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Hear the answer privately in a valid mode and use it to change the next example or prompt.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Id="R5ca75c2eaeab4185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01d8e3adce0848be" Type="http://schemas.openxmlformats.org/officeDocument/2006/relationships/theme" Target="theme/theme2.xml"/><Relationship Id="R25d1749194ee41af" Type="http://schemas.openxmlformats.org/officeDocument/2006/relationships/slideLayout" Target="../slideLayouts/slideLayout1.xml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5d1749194ee41a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272eed1edf884671" Type="http://schemas.openxmlformats.org/officeDocument/2006/relationships/notesSlide" Target="../notesSlides/notesSlide1.xml"/><Relationship Id="R539393b1197c4dde" Type="http://schemas.openxmlformats.org/officeDocument/2006/relationships/slideLayout" Target="../slideLayouts/slideLayout1.xml"/><Relationship Id="rId3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782355cab2c34a95" Type="http://schemas.openxmlformats.org/officeDocument/2006/relationships/slideLayout" Target="../slideLayouts/slideLayout1.xml"/><Relationship Id="Rac1b54e0cec6499e" Type="http://schemas.openxmlformats.org/officeDocument/2006/relationships/image" Target="../media/image.png"/><Relationship Id="Re3439eca0ca241db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8a51c00c3a0d40f0" Type="http://schemas.openxmlformats.org/officeDocument/2006/relationships/notesSlide" Target="../notesSlides/notesSlide3.xml"/><Relationship Id="Ra31c0174dbf0423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36db451500314964" Type="http://schemas.openxmlformats.org/officeDocument/2006/relationships/slideLayout" Target="../slideLayouts/slideLayout1.xml"/><Relationship Id="R9e3d0859b42f4b0c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7c559db59ed84bb3" Type="http://schemas.openxmlformats.org/officeDocument/2006/relationships/notesSlide" Target="../notesSlides/notesSlide5.xml"/><Relationship Id="R999291c39140418e" Type="http://schemas.openxmlformats.org/officeDocument/2006/relationships/image" Target="../media/image2.png"/><Relationship Id="Re0f4320f21184936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048990b268ea484c" Type="http://schemas.openxmlformats.org/officeDocument/2006/relationships/notesSlide" Target="../notesSlides/notesSlide6.xml"/><Relationship Id="R26219eb5968a4fae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2a2071fc79804daf" Type="http://schemas.openxmlformats.org/officeDocument/2006/relationships/slideLayout" Target="../slideLayouts/slideLayout1.xml"/><Relationship Id="Rcdc187dbd0454311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02fb49c694384117" Type="http://schemas.openxmlformats.org/officeDocument/2006/relationships/notesSlide" Target="../notesSlides/notesSlide8.xml"/><Relationship Id="Rbc648e79e9a544ab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3ee2bdaffed34c16" Type="http://schemas.openxmlformats.org/officeDocument/2006/relationships/notesSlide" Target="../notesSlides/notesSlide9.xml"/><Relationship Id="Rad8318a92dc94dc0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29e4831777414014" Type="http://schemas.openxmlformats.org/officeDocument/2006/relationships/notesSlide" Target="../notesSlides/notesSlide10.xml"/><Relationship Id="R656d90bcf74d4646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cb54200167554bbc" Type="http://schemas.openxmlformats.org/officeDocument/2006/relationships/slideLayout" Target="../slideLayouts/slideLayout1.xml"/><Relationship Id="Re3bd71712dc5441b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20c80283b82641c0" Type="http://schemas.openxmlformats.org/officeDocument/2006/relationships/notesSlide" Target="../notesSlides/notesSlide12.xml"/><Relationship Id="R823fba27f4e54049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2dcd4e89d53b47fb" Type="http://schemas.openxmlformats.org/officeDocument/2006/relationships/slideLayout" Target="../slideLayouts/slideLayout1.xml"/><Relationship Id="Ra97c9a748a8246af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9ad8fd52d0a4417a" Type="http://schemas.openxmlformats.org/officeDocument/2006/relationships/notesSlide" Target="../notesSlides/notesSlide14.xml"/><Relationship Id="Re5a7386e22324d06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233b4cc635a44f00" Type="http://schemas.openxmlformats.org/officeDocument/2006/relationships/slideLayout" Target="../slideLayouts/slideLayout1.xml"/><Relationship Id="Rf48bb24522f14b7c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215a19ce05f74d98" Type="http://schemas.openxmlformats.org/officeDocument/2006/relationships/slideLayout" Target="../slideLayouts/slideLayout1.xml"/><Relationship Id="Rdeb096cf3911412c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16a4f2251811490c" Type="http://schemas.openxmlformats.org/officeDocument/2006/relationships/slideLayout" Target="../slideLayouts/slideLayout1.xml"/><Relationship Id="Re28cd55f57d740d8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4afbca201dd041f2" Type="http://schemas.openxmlformats.org/officeDocument/2006/relationships/notesSlide" Target="../notesSlides/notesSlide18.xml"/><Relationship Id="R82713da58e6042de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c574aa6ec47a411b" Type="http://schemas.openxmlformats.org/officeDocument/2006/relationships/notesSlide" Target="../notesSlides/notesSlide19.xml"/><Relationship Id="Rcd7db3b81a2c4fee" Type="http://schemas.openxmlformats.org/officeDocument/2006/relationships/slideLayout" Target="../slideLayouts/slideLayout1.xml"/></Relationships>
</file>

<file path=ppt/slides/_rels/slide20.xml.rels><?xml version='1.0' encoding='UTF-8' standalone='yes'?>
<Relationships xmlns="http://schemas.openxmlformats.org/package/2006/relationships"><Relationship Id="R4f8e00083d744a72" Type="http://schemas.openxmlformats.org/officeDocument/2006/relationships/slideLayout" Target="../slideLayouts/slideLayout1.xml"/><Relationship Id="R67ac76859d1e43da" Type="http://schemas.openxmlformats.org/officeDocument/2006/relationships/notesSlide" Target="../notesSlides/notesSlide20.xml"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F38CA2-B3D9-4491-A68B-CFF237E3B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A simple genetic cross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F9B816-8558-41FF-B0ED-E58605777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SCI-LAUNCH-A2-W05  •  LAUNCH Science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E72FC5-BF73-4F19-B6B7-AB11C5F6B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2E3689-6E85-4472-8A19-1522C06A1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1087100" cy="9719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I am learning to calculate genetic probability with a Punnett square and evaluate its limits.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B067AF-B4FF-41F1-ABD8-36148ADFC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05431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I can pair one allele from each parent.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D433D1-BF66-4699-99B9-3614882C6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69311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I can find the aa chance in four squares.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E40898-D20F-4FF9-8E83-6DF13B589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33191"/>
            <a:ext cx="11087100" cy="9719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I can evaluate why probability does not guarantee an exact count.</a:t>
            </a:r>
          </a:p>
        </p:txBody>
      </p:sp>
      <p:sp xmlns:a="http://schemas.openxmlformats.org/drawingml/2006/main">
        <p:nvSpPr>
          <p:cNvPr id="9" name="TextBox 8"/>
          <p:cNvSpPr txBox="1"/>
          <p:nvPr/>
        </p:nvSpPr>
        <p:spPr>
          <a:xfrm>
            <a:off x="557784" y="6675120"/>
            <a:ext cx="11082528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25">
                <a:solidFill>
                  <a:srgbClr val="14323F"/>
                </a:solidFill>
                <a:latin typeface="Arial"/>
              </a:rPr>
              <a:t>Made by Matt · madebymatt.uk · © Matt Roper · CC BY-NC-SA 4.0: free for classroom use, share and adapt with credit, no resale · v9 · 25 Sep 2026</a:t>
            </a:r>
          </a:p>
        </p:txBody>
      </p:sp>
      <p:pic xmlns:a="http://schemas.openxmlformats.org/drawingml/2006/main" xmlns:r="http://schemas.openxmlformats.org/officeDocument/2006/relationships">
        <p:nvPicPr>
          <p:cNvPr id="10" name="Picture 9" descr="Made by Mat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0816" y="5833872"/>
            <a:ext cx="475488" cy="475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022163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03BD7E-4CA4-4128-BF36-1982674F2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Arrival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8D4C61-4C95-450A-BE0B-CFD2FC53E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SCI-LAUNCH-A2-W05  •  LAUNCH Science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0F0987-0633-44AC-B207-926DF96C1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A9B6E8-C7B1-4294-9BDA-0EDBE44DA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1087100" cy="9719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Look at this week’s letter tiles A and a. Point to one detail you notice.</a:t>
            </a:r>
          </a:p>
        </p:txBody>
      </p:sp>
      <p:pic>
        <p:nvPicPr>
          <p:cNvPr id="10" name="" descr="An Aa parent has A and a across the top. An aa parent has a and a down the side. Four drawn grid cells read Aa, aa, Aa and aa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1b54e0cec6499e"/>
          <a:stretch xmlns:a="http://schemas.openxmlformats.org/drawingml/2006/main"/>
        </p:blipFill>
        <p:spPr>
          <a:xfrm xmlns:a="http://schemas.openxmlformats.org/drawingml/2006/main">
            <a:off x="5286375" y="3905250"/>
            <a:ext cx="1619250" cy="2095500"/>
          </a:xfrm>
          <a:prstGeom xmlns:a="http://schemas.openxmlformats.org/drawingml/2006/main" prst="rect">
            <a:avLst/>
          </a:prstGeom>
        </p:spPr>
      </p:pic>
      <p:sp xmlns:a="http://schemas.openxmlformats.org/drawingml/2006/main">
        <p:nvSpPr>
          <p:cNvPr id="11" name="TextBox 10"/>
          <p:cNvSpPr txBox="1"/>
          <p:nvPr/>
        </p:nvSpPr>
        <p:spPr>
          <a:xfrm>
            <a:off x="557784" y="6675120"/>
            <a:ext cx="11082528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25">
                <a:solidFill>
                  <a:srgbClr val="14323F"/>
                </a:solidFill>
                <a:latin typeface="Arial"/>
              </a:rPr>
              <a:t>Made by Matt · madebymatt.uk · © Matt Roper · CC BY-NC-SA 4.0: free for classroom use, share and adapt with credit, no resale · v9 · 25 Sep 2026</a:t>
            </a:r>
          </a:p>
        </p:txBody>
      </p:sp>
    </p:spTree>
    <p:extLst>
      <p:ext uri="{BB962C8B-B14F-4D97-AF65-F5344CB8AC3E}">
        <p14:creationId xmlns:p14="http://schemas.microsoft.com/office/powerpoint/2010/main" val="99936517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FA72C7-9637-4768-9C0F-3862E2DF7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Starter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DED5D5-71C4-4578-85DD-D26856FFF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SCI-LAUNCH-A2-W05  •  LAUNCH Science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60D85F-7B09-43EB-94D3-6126A7276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2BF45D-DC16-4C82-A512-B4ECFBB7C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1087100" cy="9719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Recall three ideas from earlier lessons. Show one answer at a time.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059557-7099-4B91-8AAC-28610FF85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05431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What is a gene?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AED514-60A8-4DD7-A21E-ED1B50108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69311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What do stem cells do in growth?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1020B9-469F-48A0-9425-EF9A9EAE1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33191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Where are chromosomes found in an animal cell?</a:t>
            </a:r>
          </a:p>
        </p:txBody>
      </p:sp>
      <p:sp xmlns:a="http://schemas.openxmlformats.org/drawingml/2006/main">
        <p:nvSpPr>
          <p:cNvPr id="9" name="TextBox 8"/>
          <p:cNvSpPr txBox="1"/>
          <p:nvPr/>
        </p:nvSpPr>
        <p:spPr>
          <a:xfrm>
            <a:off x="557784" y="6675120"/>
            <a:ext cx="11082528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25">
                <a:solidFill>
                  <a:srgbClr val="14323F"/>
                </a:solidFill>
                <a:latin typeface="Arial"/>
              </a:rPr>
              <a:t>Made by Matt · madebymatt.uk · © Matt Roper · CC BY-NC-SA 4.0: free for classroom use, share and adapt with credit, no resale · v9 · 25 Sep 2026</a:t>
            </a:r>
          </a:p>
        </p:txBody>
      </p:sp>
    </p:spTree>
    <p:extLst>
      <p:ext uri="{BB962C8B-B14F-4D97-AF65-F5344CB8AC3E}">
        <p14:creationId xmlns:p14="http://schemas.microsoft.com/office/powerpoint/2010/main" val="176408522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F5B69C-CBCD-4A0C-B380-4A591CB7E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Model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7E28B6-C4A2-49BF-9406-6FA3C7204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SCI-LAUNCH-A2-W05  •  LAUNCH Science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9B81F3-631F-4FB7-B868-B25C7AB01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9B8051-2F3C-4506-BCB3-3280ECBE0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1087100" cy="9719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Watch the full model. Point to the step that answers today’s question.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A0F0D0-DB82-481F-ABF6-85B7C245B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05431"/>
            <a:ext cx="11087100" cy="18009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Place A/a atop the grid for one parent; place a/a at its side for the other. Pair one allele from each edge: Aa, aa, Aa, aa. Two of four boxes are aa: a 1 in 2 chance per offspring, not an exact family count.</a:t>
            </a:r>
          </a:p>
        </p:txBody>
      </p:sp>
      <p:sp xmlns:a="http://schemas.openxmlformats.org/drawingml/2006/main">
        <p:nvSpPr>
          <p:cNvPr id="7" name="TextBox 6"/>
          <p:cNvSpPr txBox="1"/>
          <p:nvPr/>
        </p:nvSpPr>
        <p:spPr>
          <a:xfrm>
            <a:off x="557784" y="6675120"/>
            <a:ext cx="11082528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25">
                <a:solidFill>
                  <a:srgbClr val="14323F"/>
                </a:solidFill>
                <a:latin typeface="Arial"/>
              </a:rPr>
              <a:t>Made by Matt · madebymatt.uk · © Matt Roper · CC BY-NC-SA 4.0: free for classroom use, share and adapt with credit, no resale · v9 · 25 Sep 2026</a:t>
            </a:r>
          </a:p>
        </p:txBody>
      </p:sp>
    </p:spTree>
    <p:extLst>
      <p:ext uri="{BB962C8B-B14F-4D97-AF65-F5344CB8AC3E}">
        <p14:creationId xmlns:p14="http://schemas.microsoft.com/office/powerpoint/2010/main" val="90141793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24ECFD-B999-4D34-9CD5-1C831A1C5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Picture model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9DA49E-4F91-49CC-9F37-3E10CDCE5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SCI-LAUNCH-A2-W05  •  LAUNCH Science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C29CC2-BD65-4DC0-836E-D454FC419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pic>
        <p:nvPicPr>
          <p:cNvPr id="8" name="" descr="An Aa parent has A and a across the top. An aa parent has a and a down the side. Four drawn grid cells read Aa, aa, Aa and aa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9291c39140418e"/>
          <a:stretch xmlns:a="http://schemas.openxmlformats.org/drawingml/2006/main"/>
        </p:blipFill>
        <p:spPr>
          <a:xfrm xmlns:a="http://schemas.openxmlformats.org/drawingml/2006/main">
            <a:off x="4366347" y="1409700"/>
            <a:ext cx="3459307" cy="4476750"/>
          </a:xfrm>
          <a:prstGeom xmlns:a="http://schemas.openxmlformats.org/drawingml/2006/main" prst="rect">
            <a:avLst/>
          </a:prstGeom>
        </p:spPr>
      </p:pic>
      <p:sp xmlns:a="http://schemas.openxmlformats.org/drawingml/2006/main">
        <p:nvSpPr>
          <p:cNvPr id="9" name="TextBox 8"/>
          <p:cNvSpPr txBox="1"/>
          <p:nvPr/>
        </p:nvSpPr>
        <p:spPr>
          <a:xfrm>
            <a:off x="557784" y="6675120"/>
            <a:ext cx="11082528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25">
                <a:solidFill>
                  <a:srgbClr val="14323F"/>
                </a:solidFill>
                <a:latin typeface="Arial"/>
              </a:rPr>
              <a:t>Made by Matt · madebymatt.uk · © Matt Roper · CC BY-NC-SA 4.0: free for classroom use, share and adapt with credit, no resale · v9 · 25 Sep 2026</a:t>
            </a:r>
          </a:p>
        </p:txBody>
      </p:sp>
    </p:spTree>
    <p:extLst>
      <p:ext uri="{BB962C8B-B14F-4D97-AF65-F5344CB8AC3E}">
        <p14:creationId xmlns:p14="http://schemas.microsoft.com/office/powerpoint/2010/main" val="54613963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A01FD5-DB60-4E14-8DAE-FC89FE265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Show me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4E4E18-1928-40FA-B72B-E606AD7EF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SCI-LAUNCH-A2-W05  •  LAUNCH Science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AE0D5A-3B00-466E-9B62-06998BC26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7333EA-DD01-4500-9C7D-30FAC4BF3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Show me: which allele can the aa parent pass on?</a:t>
            </a:r>
          </a:p>
        </p:txBody>
      </p:sp>
      <p:sp xmlns:a="http://schemas.openxmlformats.org/drawingml/2006/main">
        <p:nvSpPr>
          <p:cNvPr id="6" name="TextBox 5"/>
          <p:cNvSpPr txBox="1"/>
          <p:nvPr/>
        </p:nvSpPr>
        <p:spPr>
          <a:xfrm>
            <a:off x="557784" y="6675120"/>
            <a:ext cx="11082528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25">
                <a:solidFill>
                  <a:srgbClr val="14323F"/>
                </a:solidFill>
                <a:latin typeface="Arial"/>
              </a:rPr>
              <a:t>Made by Matt · madebymatt.uk · © Matt Roper · CC BY-NC-SA 4.0: free for classroom use, share and adapt with credit, no resale · v9 · 25 Sep 2026</a:t>
            </a:r>
          </a:p>
        </p:txBody>
      </p:sp>
    </p:spTree>
    <p:extLst>
      <p:ext uri="{BB962C8B-B14F-4D97-AF65-F5344CB8AC3E}">
        <p14:creationId xmlns:p14="http://schemas.microsoft.com/office/powerpoint/2010/main" val="115316957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BB602D-C122-4515-9CAC-47803C6FE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Our turn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DFE5F3-D0F2-493F-BAE2-40F9A1370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SCI-LAUNCH-A2-W05  •  LAUNCH Science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7FBE14-208D-4039-9BBF-05C006FB7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0E0E1D-458F-49F9-94A5-AAF64D4B4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1087100" cy="9719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Complete the missing step in the part-done model. Speak, then match the cards.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D4401D-C414-4366-9710-7C4CB694E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05431"/>
            <a:ext cx="11087100" cy="9719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Aa × aa: top A, a; side a, a. First row Aa, aa; second row ___, ___. Chance of aa: ___ out of 4.</a:t>
            </a:r>
          </a:p>
        </p:txBody>
      </p:sp>
      <p:sp xmlns:a="http://schemas.openxmlformats.org/drawingml/2006/main">
        <p:nvSpPr>
          <p:cNvPr id="7" name="TextBox 6"/>
          <p:cNvSpPr txBox="1"/>
          <p:nvPr/>
        </p:nvSpPr>
        <p:spPr>
          <a:xfrm>
            <a:off x="557784" y="6675120"/>
            <a:ext cx="11082528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25">
                <a:solidFill>
                  <a:srgbClr val="14323F"/>
                </a:solidFill>
                <a:latin typeface="Arial"/>
              </a:rPr>
              <a:t>Made by Matt · madebymatt.uk · © Matt Roper · CC BY-NC-SA 4.0: free for classroom use, share and adapt with credit, no resale · v9 · 25 Sep 2026</a:t>
            </a:r>
          </a:p>
        </p:txBody>
      </p:sp>
    </p:spTree>
    <p:extLst>
      <p:ext uri="{BB962C8B-B14F-4D97-AF65-F5344CB8AC3E}">
        <p14:creationId xmlns:p14="http://schemas.microsoft.com/office/powerpoint/2010/main" val="58924993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3461B8-CBB3-4546-95DF-93F81C3A0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Talk, then sort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52B9D9-11DE-4A2B-AC9C-8CB066CFC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SCI-LAUNCH-A2-W05  •  LAUNCH Science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CAFCDA-4649-4E20-A8BA-8CBD677A6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40A01A-B10D-42C9-BE51-E9001D816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Aa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965605-3B9A-435D-8A56-E45140A3B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9738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aa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11B069-5D06-4D73-8E86-579E71DED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6126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Top A with side 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4CD2C8-81AE-4D79-A304-1ABC90A01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2514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Top a with first side 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32A566-B8A7-4E5F-BA77-C0B19C579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8902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Top A with second side 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5E0B08-0017-4A45-B8C0-10520604D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5290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Top a with second side a</a:t>
            </a:r>
          </a:p>
        </p:txBody>
      </p:sp>
      <p:sp xmlns:a="http://schemas.openxmlformats.org/drawingml/2006/main">
        <p:nvSpPr>
          <p:cNvPr id="11" name="TextBox 10"/>
          <p:cNvSpPr txBox="1"/>
          <p:nvPr/>
        </p:nvSpPr>
        <p:spPr>
          <a:xfrm>
            <a:off x="557784" y="6675120"/>
            <a:ext cx="11082528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25">
                <a:solidFill>
                  <a:srgbClr val="14323F"/>
                </a:solidFill>
                <a:latin typeface="Arial"/>
              </a:rPr>
              <a:t>Made by Matt · madebymatt.uk · © Matt Roper · CC BY-NC-SA 4.0: free for classroom use, share and adapt with credit, no resale · v9 · 25 Sep 2026</a:t>
            </a:r>
          </a:p>
        </p:txBody>
      </p:sp>
    </p:spTree>
    <p:extLst>
      <p:ext uri="{BB962C8B-B14F-4D97-AF65-F5344CB8AC3E}">
        <p14:creationId xmlns:p14="http://schemas.microsoft.com/office/powerpoint/2010/main" val="145521929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97BD27-6E89-4161-871C-E22C97A2C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F0FA58-7F4E-4614-B5D5-2D0392F1D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SCI-LAUNCH-A2-W05  •  LAUNCH Science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2137B2-D61F-4877-B14A-6DA57078E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8D5BE2-3928-4A27-8ED1-225D57115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New cross: Aa × Aa. What is the chance of aa for each offspring?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14F0F1-EF19-4565-84A8-F4821A64A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9738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 xml:space="preserve">A. </a:t>
            </a: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A. 1 in 4 for each offspring.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1B3DC3-F4B5-4DC2-96D3-E65AE339F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6126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 xml:space="preserve">B. </a:t>
            </a: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B. 1 in 2 for each offspring.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98A039-EA67-490B-855B-0281FA1BB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2514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 xml:space="preserve">C. </a:t>
            </a: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C. 3 in 4 for each offspring.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696A99-3B41-4390-99F8-CFBAD8DBC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8902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 xml:space="preserve">D. </a:t>
            </a: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D. Certain for every single offspring.</a:t>
            </a:r>
          </a:p>
        </p:txBody>
      </p:sp>
      <p:sp xmlns:a="http://schemas.openxmlformats.org/drawingml/2006/main">
        <p:nvSpPr>
          <p:cNvPr id="10" name="TextBox 9"/>
          <p:cNvSpPr txBox="1"/>
          <p:nvPr/>
        </p:nvSpPr>
        <p:spPr>
          <a:xfrm>
            <a:off x="557784" y="6675120"/>
            <a:ext cx="11082528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25">
                <a:solidFill>
                  <a:srgbClr val="14323F"/>
                </a:solidFill>
                <a:latin typeface="Arial"/>
              </a:rPr>
              <a:t>Made by Matt · madebymatt.uk · © Matt Roper · CC BY-NC-SA 4.0: free for classroom use, share and adapt with credit, no resale · v9 · 25 Sep 2026</a:t>
            </a:r>
          </a:p>
        </p:txBody>
      </p:sp>
    </p:spTree>
    <p:extLst>
      <p:ext uri="{BB962C8B-B14F-4D97-AF65-F5344CB8AC3E}">
        <p14:creationId xmlns:p14="http://schemas.microsoft.com/office/powerpoint/2010/main" val="169681641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48ED12-446E-4008-AF1F-092231D41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Independent · F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053DF9-4CF5-47B5-A0CC-102E347BB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SCI-LAUNCH-A2-W05  •  LAUNCH Science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A924D7-CEFA-470B-BC79-2B0F383B0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DFAACE-A542-481F-839D-D95EDB2B9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1087100" cy="9719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Calculate the aa probability for Aa × aa. Evaluate an exact-count claim about real offspring.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010A3C-2E21-48AD-9582-B39AE92ED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05431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Complete Aa × aa with allele tiles.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78AD6B-CF35-4935-8FB2-8A19FD18C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69311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Top ___ and side ___ make ___.</a:t>
            </a:r>
          </a:p>
        </p:txBody>
      </p:sp>
      <p:sp xmlns:a="http://schemas.openxmlformats.org/drawingml/2006/main">
        <p:nvSpPr>
          <p:cNvPr id="8" name="TextBox 7"/>
          <p:cNvSpPr txBox="1"/>
          <p:nvPr/>
        </p:nvSpPr>
        <p:spPr>
          <a:xfrm>
            <a:off x="557784" y="6675120"/>
            <a:ext cx="11082528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25">
                <a:solidFill>
                  <a:srgbClr val="14323F"/>
                </a:solidFill>
                <a:latin typeface="Arial"/>
              </a:rPr>
              <a:t>Made by Matt · madebymatt.uk · © Matt Roper · CC BY-NC-SA 4.0: free for classroom use, share and adapt with credit, no resale · v9 · 25 Sep 2026</a:t>
            </a:r>
          </a:p>
        </p:txBody>
      </p:sp>
    </p:spTree>
    <p:extLst>
      <p:ext uri="{BB962C8B-B14F-4D97-AF65-F5344CB8AC3E}">
        <p14:creationId xmlns:p14="http://schemas.microsoft.com/office/powerpoint/2010/main" val="135046061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EDF3EA-25B1-488E-B64C-785D7DAAD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Independent · 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7997BD-5FB0-48E3-9F9D-2F56DDF13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SCI-LAUNCH-A2-W05  •  LAUNCH Science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042210-B8BC-42A8-8AF0-5233124B1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8DF130-9074-4A3F-A396-16664BBB8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1087100" cy="9719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Calculate the aa probability for Aa × aa. Evaluate an exact-count claim about real offspring.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C48ACF-24AE-4666-8C63-EE5D4277F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05431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Calculate and justify the aa probability from the grid.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2AA19D-A467-4547-B627-C36E9412F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69311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I count ___ aa squares out of four, so …</a:t>
            </a:r>
          </a:p>
        </p:txBody>
      </p:sp>
      <p:sp xmlns:a="http://schemas.openxmlformats.org/drawingml/2006/main">
        <p:nvSpPr>
          <p:cNvPr id="8" name="TextBox 7"/>
          <p:cNvSpPr txBox="1"/>
          <p:nvPr/>
        </p:nvSpPr>
        <p:spPr>
          <a:xfrm>
            <a:off x="557784" y="6675120"/>
            <a:ext cx="11082528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25">
                <a:solidFill>
                  <a:srgbClr val="14323F"/>
                </a:solidFill>
                <a:latin typeface="Arial"/>
              </a:rPr>
              <a:t>Made by Matt · madebymatt.uk · © Matt Roper · CC BY-NC-SA 4.0: free for classroom use, share and adapt with credit, no resale · v9 · 25 Sep 2026</a:t>
            </a:r>
          </a:p>
        </p:txBody>
      </p:sp>
    </p:spTree>
    <p:extLst>
      <p:ext uri="{BB962C8B-B14F-4D97-AF65-F5344CB8AC3E}">
        <p14:creationId xmlns:p14="http://schemas.microsoft.com/office/powerpoint/2010/main" val="193280474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628AF9-C78F-4101-B5FE-E868F5AAC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Independent · 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E95C81-946D-4E4B-AFDA-E02E2C34D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SCI-LAUNCH-A2-W05  •  LAUNCH Science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BB6909-FD70-49BF-BB19-149A36C41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A29FF9-F160-4C7A-80BE-E42B44C4F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1087100" cy="9719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Calculate the aa probability for Aa × aa. Evaluate an exact-count claim about real offspring.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D98709-2A72-4D15-B8D7-FE0E2D377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05431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Evaluate an exact-count claim about four real offspring.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EBD0C5-49BE-4B58-B9EC-0A4FF92A6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69311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The grid shows a chance, not a promise, because …</a:t>
            </a:r>
          </a:p>
        </p:txBody>
      </p:sp>
      <p:sp xmlns:a="http://schemas.openxmlformats.org/drawingml/2006/main">
        <p:nvSpPr>
          <p:cNvPr id="8" name="TextBox 7"/>
          <p:cNvSpPr txBox="1"/>
          <p:nvPr/>
        </p:nvSpPr>
        <p:spPr>
          <a:xfrm>
            <a:off x="557784" y="6675120"/>
            <a:ext cx="11082528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25">
                <a:solidFill>
                  <a:srgbClr val="14323F"/>
                </a:solidFill>
                <a:latin typeface="Arial"/>
              </a:rPr>
              <a:t>Made by Matt · madebymatt.uk · © Matt Roper · CC BY-NC-SA 4.0: free for classroom use, share and adapt with credit, no resale · v9 · 25 Sep 2026</a:t>
            </a:r>
          </a:p>
        </p:txBody>
      </p:sp>
    </p:spTree>
    <p:extLst>
      <p:ext uri="{BB962C8B-B14F-4D97-AF65-F5344CB8AC3E}">
        <p14:creationId xmlns:p14="http://schemas.microsoft.com/office/powerpoint/2010/main" val="180215003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140EA1-C7A5-4FD9-9E80-32586B2AE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Go deeper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BC3619-AB99-4B40-8D6F-7AEE9B1FF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SCI-LAUNCH-A2-W05  •  LAUNCH Science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FDE354-08D7-4ADC-B046-03069911D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2B7B88-C0F9-47FF-80BD-DA89CF990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Compare aa chances for Aa × Aa and Aa × aa with a second grid.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12BEBA-D286-4AEF-8FE2-F770F2BD6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97380"/>
            <a:ext cx="11087100" cy="9719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Correct a faulty grid that gives an Aa parent two A headings; explain its wrong probability.</a:t>
            </a:r>
          </a:p>
        </p:txBody>
      </p:sp>
      <p:sp xmlns:a="http://schemas.openxmlformats.org/drawingml/2006/main">
        <p:nvSpPr>
          <p:cNvPr id="7" name="TextBox 6"/>
          <p:cNvSpPr txBox="1"/>
          <p:nvPr/>
        </p:nvSpPr>
        <p:spPr>
          <a:xfrm>
            <a:off x="557784" y="6675120"/>
            <a:ext cx="11082528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25">
                <a:solidFill>
                  <a:srgbClr val="14323F"/>
                </a:solidFill>
                <a:latin typeface="Arial"/>
              </a:rPr>
              <a:t>Made by Matt · madebymatt.uk · © Matt Roper · CC BY-NC-SA 4.0: free for classroom use, share and adapt with credit, no resale · v9 · 25 Sep 2026</a:t>
            </a:r>
          </a:p>
        </p:txBody>
      </p:sp>
    </p:spTree>
    <p:extLst>
      <p:ext uri="{BB962C8B-B14F-4D97-AF65-F5344CB8AC3E}">
        <p14:creationId xmlns:p14="http://schemas.microsoft.com/office/powerpoint/2010/main" val="206383686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ACB714-0B3A-4CD0-9BB4-BF593FF02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92E62D-02D1-40D4-A0F6-3F3BA9DE5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SCI-LAUNCH-A2-W05  •  LAUNCH Science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0FAC20-0156-4302-86CD-B06190635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EE60B6-90E2-4C1F-B665-46201145F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1087100" cy="9719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Tell a partner what you changed after feedback. Mark a real edit // and read it back when asked ?.</a:t>
            </a:r>
          </a:p>
        </p:txBody>
      </p:sp>
      <p:sp xmlns:a="http://schemas.openxmlformats.org/drawingml/2006/main">
        <p:nvSpPr>
          <p:cNvPr id="6" name="TextBox 5"/>
          <p:cNvSpPr txBox="1"/>
          <p:nvPr/>
        </p:nvSpPr>
        <p:spPr>
          <a:xfrm>
            <a:off x="557784" y="6675120"/>
            <a:ext cx="11082528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25">
                <a:solidFill>
                  <a:srgbClr val="14323F"/>
                </a:solidFill>
                <a:latin typeface="Arial"/>
              </a:rPr>
              <a:t>Made by Matt · madebymatt.uk · © Matt Roper · CC BY-NC-SA 4.0: free for classroom use, share and adapt with credit, no resale · v9 · 25 Sep 2026</a:t>
            </a:r>
          </a:p>
        </p:txBody>
      </p:sp>
    </p:spTree>
    <p:extLst>
      <p:ext uri="{BB962C8B-B14F-4D97-AF65-F5344CB8AC3E}">
        <p14:creationId xmlns:p14="http://schemas.microsoft.com/office/powerpoint/2010/main" val="32405760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81F5057-F70C-4AAF-BCCE-0382CFDB2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Exit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5BD853-B975-4E2F-ACE0-7F2B4450C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SCI-LAUNCH-A2-W05  •  LAUNCH Science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B8ED0C-1FBD-4813-A7F4-1C0E09364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81E430-BC36-4A25-9DDF-E8C907D9F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1087100" cy="4276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Show what you know with a model and explain one reason.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6BCF39-6923-47F2-BC8C-C8D35D2B3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61173"/>
            <a:ext cx="11087100" cy="4276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Check today’s success: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83A125-0373-4A46-9CF1-85A26AEB4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88845"/>
            <a:ext cx="11087100" cy="4276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I can pair one allele from each parent.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022633-7432-4439-9C9B-204710CE5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16518"/>
            <a:ext cx="11087100" cy="4276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I can find the aa chance in four squares.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ABBFDA-D0E2-45E3-960C-443BFEB67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44190"/>
            <a:ext cx="11087100" cy="4276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I can evaluate why probability does not guarantee an exact count.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8DEA33-C329-454A-BC05-D0E59E847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71863"/>
            <a:ext cx="11087100" cy="7037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What am I learning? I am learning to calculate genetic probability with a Punnett square and evaluate its limits.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F49BB0-C500-4727-B53C-85A1CCCC1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75570"/>
            <a:ext cx="11087100" cy="4276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My feedback was … Name what you heard at Review.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15E7D9-BA42-4AC0-B818-11BD6C4F7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03242"/>
            <a:ext cx="11087100" cy="4276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Next I need to … Check the top and side alleles before giving a chance.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1ADA29-9852-4C92-A50B-67F08FBB7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030914"/>
            <a:ext cx="11087100" cy="7037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How I know: I can fill Aa × aa and explain that two of four model squares are aa, with no promise about real offspring.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C79FDE-80EC-421C-9C6B-DE80C3911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734621"/>
            <a:ext cx="11087100" cy="4276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Your teacher hears your answer and uses it to choose our next model, prompt or example.</a:t>
            </a:r>
          </a:p>
        </p:txBody>
      </p:sp>
      <p:sp xmlns:a="http://schemas.openxmlformats.org/drawingml/2006/main">
        <p:nvSpPr>
          <p:cNvPr id="15" name="TextBox 14"/>
          <p:cNvSpPr txBox="1"/>
          <p:nvPr/>
        </p:nvSpPr>
        <p:spPr>
          <a:xfrm>
            <a:off x="557784" y="6675120"/>
            <a:ext cx="11082528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25">
                <a:solidFill>
                  <a:srgbClr val="14323F"/>
                </a:solidFill>
                <a:latin typeface="Arial"/>
              </a:rPr>
              <a:t>Made by Matt · madebymatt.uk · © Matt Roper · CC BY-NC-SA 4.0: free for classroom use, share and adapt with credit, no resale · v9 · 25 Sep 2026</a:t>
            </a:r>
          </a:p>
        </p:txBody>
      </p:sp>
    </p:spTree>
    <p:extLst>
      <p:ext uri="{BB962C8B-B14F-4D97-AF65-F5344CB8AC3E}">
        <p14:creationId xmlns:p14="http://schemas.microsoft.com/office/powerpoint/2010/main" val="116399112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774F85-9F1B-4E2E-8EC7-6A5601F6C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Word help · allele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C12D3E-CDA4-42E4-80CD-0016AF056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SCI-LAUNCH-A2-W05  •  LAUNCH Science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3AF6D1-FD93-4D63-9679-31E503FEE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49F9EA-B0B7-4FB4-BE68-B4EE9FB4D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a version of a gene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A4E41B-2D0F-4AA5-AA9B-9E7D2D0E1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9738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A and a represent two alleles in our invented model.</a:t>
            </a:r>
          </a:p>
        </p:txBody>
      </p:sp>
      <p:sp xmlns:a="http://schemas.openxmlformats.org/drawingml/2006/main">
        <p:nvSpPr>
          <p:cNvPr id="7" name="TextBox 6"/>
          <p:cNvSpPr txBox="1"/>
          <p:nvPr/>
        </p:nvSpPr>
        <p:spPr>
          <a:xfrm>
            <a:off x="557784" y="6675120"/>
            <a:ext cx="11082528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25">
                <a:solidFill>
                  <a:srgbClr val="14323F"/>
                </a:solidFill>
                <a:latin typeface="Arial"/>
              </a:rPr>
              <a:t>Made by Matt · madebymatt.uk · © Matt Roper · CC BY-NC-SA 4.0: free for classroom use, share and adapt with credit, no resale · v9 · 25 Sep 2026</a:t>
            </a:r>
          </a:p>
        </p:txBody>
      </p:sp>
    </p:spTree>
    <p:extLst>
      <p:ext uri="{BB962C8B-B14F-4D97-AF65-F5344CB8AC3E}">
        <p14:creationId xmlns:p14="http://schemas.microsoft.com/office/powerpoint/2010/main" val="784333808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A2F939-2730-4279-B3D0-D5507FA29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Word help · genotype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EC21AF-42A7-4506-9604-A93DC2C94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SCI-LAUNCH-A2-W05  •  LAUNCH Science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23489C-8811-4F51-B148-73F17A942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C82798-0B2B-427B-99F8-9B7CAE2BA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the pair of alleles shown by letters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F726A2-E624-4AAB-9DB9-2FA3C2D40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9738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Aa is one possible genotype in this model.</a:t>
            </a:r>
          </a:p>
        </p:txBody>
      </p:sp>
      <p:sp xmlns:a="http://schemas.openxmlformats.org/drawingml/2006/main">
        <p:nvSpPr>
          <p:cNvPr id="7" name="TextBox 6"/>
          <p:cNvSpPr txBox="1"/>
          <p:nvPr/>
        </p:nvSpPr>
        <p:spPr>
          <a:xfrm>
            <a:off x="557784" y="6675120"/>
            <a:ext cx="11082528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25">
                <a:solidFill>
                  <a:srgbClr val="14323F"/>
                </a:solidFill>
                <a:latin typeface="Arial"/>
              </a:rPr>
              <a:t>Made by Matt · madebymatt.uk · © Matt Roper · CC BY-NC-SA 4.0: free for classroom use, share and adapt with credit, no resale · v9 · 25 Sep 2026</a:t>
            </a:r>
          </a:p>
        </p:txBody>
      </p:sp>
    </p:spTree>
    <p:extLst>
      <p:ext uri="{BB962C8B-B14F-4D97-AF65-F5344CB8AC3E}">
        <p14:creationId xmlns:p14="http://schemas.microsoft.com/office/powerpoint/2010/main" val="220723405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D3A771-7D02-4E19-9542-36AE59EDB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Word help · dominant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389105-219F-43F5-94D4-204C862A0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SCI-LAUNCH-A2-W05  •  LAUNCH Science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530D15-2E0A-4601-88DA-6AB47C7CC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96A2A7-2432-4477-9E98-E6504920A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an allele shown by one copy in this simple model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71AC6A-954F-4590-9022-F0F2F5171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9738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A is dominant in our invented flower model.</a:t>
            </a:r>
          </a:p>
        </p:txBody>
      </p:sp>
      <p:sp xmlns:a="http://schemas.openxmlformats.org/drawingml/2006/main">
        <p:nvSpPr>
          <p:cNvPr id="7" name="TextBox 6"/>
          <p:cNvSpPr txBox="1"/>
          <p:nvPr/>
        </p:nvSpPr>
        <p:spPr>
          <a:xfrm>
            <a:off x="557784" y="6675120"/>
            <a:ext cx="11082528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25">
                <a:solidFill>
                  <a:srgbClr val="14323F"/>
                </a:solidFill>
                <a:latin typeface="Arial"/>
              </a:rPr>
              <a:t>Made by Matt · madebymatt.uk · © Matt Roper · CC BY-NC-SA 4.0: free for classroom use, share and adapt with credit, no resale · v9 · 25 Sep 2026</a:t>
            </a:r>
          </a:p>
        </p:txBody>
      </p:sp>
    </p:spTree>
    <p:extLst>
      <p:ext uri="{BB962C8B-B14F-4D97-AF65-F5344CB8AC3E}">
        <p14:creationId xmlns:p14="http://schemas.microsoft.com/office/powerpoint/2010/main" val="809192742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A7E58E-0DED-467B-9DB7-A8FA3E134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Word help · recessive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5D6EAF-FF16-4FD8-BD18-00F8D8481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SCI-LAUNCH-A2-W05  •  LAUNCH Science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E5AA23-5514-41DB-98D1-6D196A4A1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3BEF73-3ED8-492B-BAFF-7DED88F6C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an allele shown when two copies are present in this model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9BB345-D542-4E5D-A7DF-2BA489E8F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9738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aa shows the recessive version in our model.</a:t>
            </a:r>
          </a:p>
        </p:txBody>
      </p:sp>
      <p:sp xmlns:a="http://schemas.openxmlformats.org/drawingml/2006/main">
        <p:nvSpPr>
          <p:cNvPr id="7" name="TextBox 6"/>
          <p:cNvSpPr txBox="1"/>
          <p:nvPr/>
        </p:nvSpPr>
        <p:spPr>
          <a:xfrm>
            <a:off x="557784" y="6675120"/>
            <a:ext cx="11082528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25">
                <a:solidFill>
                  <a:srgbClr val="14323F"/>
                </a:solidFill>
                <a:latin typeface="Arial"/>
              </a:rPr>
              <a:t>Made by Matt · madebymatt.uk · © Matt Roper · CC BY-NC-SA 4.0: free for classroom use, share and adapt with credit, no resale · v9 · 25 Sep 2026</a:t>
            </a:r>
          </a:p>
        </p:txBody>
      </p:sp>
    </p:spTree>
    <p:extLst>
      <p:ext uri="{BB962C8B-B14F-4D97-AF65-F5344CB8AC3E}">
        <p14:creationId xmlns:p14="http://schemas.microsoft.com/office/powerpoint/2010/main" val="1841097120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5EA361-3253-4E5B-9741-6BAA94198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Word help · Punnett square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9C9257-11F3-4D0F-9B30-5C14A51A9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SCI-LAUNCH-A2-W05  •  LAUNCH Science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AB71E0-559B-49FE-BE37-7DED533D7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A5D774-3062-4B3A-A287-1CE713AB6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a grid that shows possible allele pairs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DDAC5C-1EE8-404E-BDA2-BD5E9E38E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9738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The Punnett square for Aa × aa has four cells.</a:t>
            </a:r>
          </a:p>
        </p:txBody>
      </p:sp>
      <p:sp xmlns:a="http://schemas.openxmlformats.org/drawingml/2006/main">
        <p:nvSpPr>
          <p:cNvPr id="7" name="TextBox 6"/>
          <p:cNvSpPr txBox="1"/>
          <p:nvPr/>
        </p:nvSpPr>
        <p:spPr>
          <a:xfrm>
            <a:off x="557784" y="6675120"/>
            <a:ext cx="11082528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25">
                <a:solidFill>
                  <a:srgbClr val="14323F"/>
                </a:solidFill>
                <a:latin typeface="Arial"/>
              </a:rPr>
              <a:t>Made by Matt · madebymatt.uk · © Matt Roper · CC BY-NC-SA 4.0: free for classroom use, share and adapt with credit, no resale · v9 · 25 Sep 2026</a:t>
            </a:r>
          </a:p>
        </p:txBody>
      </p:sp>
    </p:spTree>
    <p:extLst>
      <p:ext uri="{BB962C8B-B14F-4D97-AF65-F5344CB8AC3E}">
        <p14:creationId xmlns:p14="http://schemas.microsoft.com/office/powerpoint/2010/main" val="87056329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2026-09-25T12:29:43.1240000Z</dcterms:created>
  <dcterms:modified xsi:type="dcterms:W3CDTF">2026-09-25T12:29:43.1240000Z</dcterms:modified>
</coreProperties>
</file>