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d5173bb3efc4be3" Type="http://schemas.openxmlformats.org/package/2006/relationships/metadata/core-properties" Target="docProps/core.xml"/><Relationship Id="R7cc0ff83965a4a3b" Type="http://schemas.openxmlformats.org/officeDocument/2006/relationships/extended-properties" Target="docProps/app.xml"/><Relationship Id="Rea9fa1ee42d14efa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dde3dddf8b48a8"/>
  </p:sldMasterIdLst>
  <p:notesMasterIdLst>
    <p:notesMasterId xmlns:r="http://schemas.openxmlformats.org/officeDocument/2006/relationships" r:id="R904049ebca684a2a"/>
  </p:notesMasterIdLst>
  <p:sldIdLst>
    <p:sldId xmlns:r="http://schemas.openxmlformats.org/officeDocument/2006/relationships" id="256" r:id="Rbcd5b8fac938442a"/>
    <p:sldId xmlns:r="http://schemas.openxmlformats.org/officeDocument/2006/relationships" id="257" r:id="R21dc2afb537a4a97"/>
    <p:sldId xmlns:r="http://schemas.openxmlformats.org/officeDocument/2006/relationships" id="258" r:id="Rfb2259a93642465c"/>
    <p:sldId xmlns:r="http://schemas.openxmlformats.org/officeDocument/2006/relationships" id="259" r:id="R13ae5bbe77be4a9f"/>
    <p:sldId xmlns:r="http://schemas.openxmlformats.org/officeDocument/2006/relationships" id="260" r:id="Rbd3ddeaaed844c77"/>
    <p:sldId xmlns:r="http://schemas.openxmlformats.org/officeDocument/2006/relationships" id="261" r:id="R7fd3b48f92d44642"/>
    <p:sldId xmlns:r="http://schemas.openxmlformats.org/officeDocument/2006/relationships" id="262" r:id="R2d226ea56cf84f0b"/>
    <p:sldId xmlns:r="http://schemas.openxmlformats.org/officeDocument/2006/relationships" id="263" r:id="Rcf2575b4043e4ed3"/>
    <p:sldId xmlns:r="http://schemas.openxmlformats.org/officeDocument/2006/relationships" id="264" r:id="Rfde86f6edd7f4e26"/>
    <p:sldId xmlns:r="http://schemas.openxmlformats.org/officeDocument/2006/relationships" id="265" r:id="R5b42f01da4684857"/>
    <p:sldId xmlns:r="http://schemas.openxmlformats.org/officeDocument/2006/relationships" id="266" r:id="R2f4256a850ff405c"/>
    <p:sldId xmlns:r="http://schemas.openxmlformats.org/officeDocument/2006/relationships" id="267" r:id="R1312757af7c14b02"/>
    <p:sldId xmlns:r="http://schemas.openxmlformats.org/officeDocument/2006/relationships" id="268" r:id="Re98d3f7a3e7b448f"/>
    <p:sldId xmlns:r="http://schemas.openxmlformats.org/officeDocument/2006/relationships" id="269" r:id="Re1bf3d51b2844ea8"/>
    <p:sldId xmlns:r="http://schemas.openxmlformats.org/officeDocument/2006/relationships" id="270" r:id="R2adf20b0bc29459b"/>
    <p:sldId xmlns:r="http://schemas.openxmlformats.org/officeDocument/2006/relationships" id="271" r:id="Rf89104fbefe64d8f"/>
    <p:sldId xmlns:r="http://schemas.openxmlformats.org/officeDocument/2006/relationships" id="272" r:id="R08c9ea5038164e9b"/>
    <p:sldId xmlns:r="http://schemas.openxmlformats.org/officeDocument/2006/relationships" id="273" r:id="Rf6e5ef88d3ec45ea"/>
    <p:sldId xmlns:r="http://schemas.openxmlformats.org/officeDocument/2006/relationships" id="274" r:id="R9244035fb2174a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8c9ea5038164e9b" Type="http://schemas.openxmlformats.org/officeDocument/2006/relationships/slide" Target="slides/slide17.xml"/><Relationship Id="R08dde3dddf8b48a8" Type="http://schemas.openxmlformats.org/officeDocument/2006/relationships/slideMaster" Target="slideMasters/slideMaster1.xml"/><Relationship Id="R1312757af7c14b02" Type="http://schemas.openxmlformats.org/officeDocument/2006/relationships/slide" Target="slides/slide12.xml"/><Relationship Id="R13ae5bbe77be4a9f" Type="http://schemas.openxmlformats.org/officeDocument/2006/relationships/slide" Target="slides/slide4.xml"/><Relationship Id="R21dc2afb537a4a97" Type="http://schemas.openxmlformats.org/officeDocument/2006/relationships/slide" Target="slides/slide2.xml"/><Relationship Id="R2adf20b0bc29459b" Type="http://schemas.openxmlformats.org/officeDocument/2006/relationships/slide" Target="slides/slide15.xml"/><Relationship Id="R2d226ea56cf84f0b" Type="http://schemas.openxmlformats.org/officeDocument/2006/relationships/slide" Target="slides/slide7.xml"/><Relationship Id="R2f4256a850ff405c" Type="http://schemas.openxmlformats.org/officeDocument/2006/relationships/slide" Target="slides/slide11.xml"/><Relationship Id="R3530b8a18f3b40dc" Type="http://schemas.openxmlformats.org/officeDocument/2006/relationships/theme" Target="theme/theme1.xml"/><Relationship Id="R5b42f01da4684857" Type="http://schemas.openxmlformats.org/officeDocument/2006/relationships/slide" Target="slides/slide10.xml"/><Relationship Id="R7fd3b48f92d44642" Type="http://schemas.openxmlformats.org/officeDocument/2006/relationships/slide" Target="slides/slide6.xml"/><Relationship Id="R8ce4479ffc3740c7" Type="http://schemas.openxmlformats.org/officeDocument/2006/relationships/presProps" Target="presProps.xml"/><Relationship Id="R904049ebca684a2a" Type="http://schemas.openxmlformats.org/officeDocument/2006/relationships/notesMaster" Target="notesMasters/notesMaster1.xml"/><Relationship Id="R9244035fb2174ae9" Type="http://schemas.openxmlformats.org/officeDocument/2006/relationships/slide" Target="slides/slide19.xml"/><Relationship Id="R9674d0ca6df84cab" Type="http://schemas.openxmlformats.org/officeDocument/2006/relationships/tableStyles" Target="tableStyles.xml"/><Relationship Id="Rbcd5b8fac938442a" Type="http://schemas.openxmlformats.org/officeDocument/2006/relationships/slide" Target="slides/slide1.xml"/><Relationship Id="Rbd3ddeaaed844c77" Type="http://schemas.openxmlformats.org/officeDocument/2006/relationships/slide" Target="slides/slide5.xml"/><Relationship Id="Rcf2575b4043e4ed3" Type="http://schemas.openxmlformats.org/officeDocument/2006/relationships/slide" Target="slides/slide8.xml"/><Relationship Id="Re1bf3d51b2844ea8" Type="http://schemas.openxmlformats.org/officeDocument/2006/relationships/slide" Target="slides/slide14.xml"/><Relationship Id="Re98d3f7a3e7b448f" Type="http://schemas.openxmlformats.org/officeDocument/2006/relationships/slide" Target="slides/slide13.xml"/><Relationship Id="Rf6e5ef88d3ec45ea" Type="http://schemas.openxmlformats.org/officeDocument/2006/relationships/slide" Target="slides/slide18.xml"/><Relationship Id="Rf89104fbefe64d8f" Type="http://schemas.openxmlformats.org/officeDocument/2006/relationships/slide" Target="slides/slide16.xml"/><Relationship Id="Rfb2259a93642465c" Type="http://schemas.openxmlformats.org/officeDocument/2006/relationships/slide" Target="slides/slide3.xml"/><Relationship Id="Rfde86f6edd7f4e2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192f4e83d7594a9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a40585aeb4d4ae4" Type="http://schemas.openxmlformats.org/officeDocument/2006/relationships/notesMaster" Target="../notesMasters/notesMaster1.xml"/><Relationship Id="R3656fc31f2b94c68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5b830ad96f8746c2" Type="http://schemas.openxmlformats.org/officeDocument/2006/relationships/slide" Target="../slides/slide2.xml"/><Relationship Id="R5f9f3e1369724fb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27a49f1018a4f7f" Type="http://schemas.openxmlformats.org/officeDocument/2006/relationships/slide" Target="../slides/slide3.xml"/><Relationship Id="R3a8a522525b54864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dc78ab1df934322" Type="http://schemas.openxmlformats.org/officeDocument/2006/relationships/slide" Target="../slides/slide4.xml"/><Relationship Id="R4ff4a6a331ee4638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ca882aa783f4880" Type="http://schemas.openxmlformats.org/officeDocument/2006/relationships/notesMaster" Target="../notesMasters/notesMaster1.xml"/><Relationship Id="R94a96f9ad5224d6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6137d5b392294a53" Type="http://schemas.openxmlformats.org/officeDocument/2006/relationships/slide" Target="../slides/slide6.xml"/><Relationship Id="Rcad6c98c367e41d7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9d1799172e34996" Type="http://schemas.openxmlformats.org/officeDocument/2006/relationships/notesMaster" Target="../notesMasters/notesMaster1.xml"/><Relationship Id="R7f4ca05b4241466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a66201584a064398" Type="http://schemas.openxmlformats.org/officeDocument/2006/relationships/notesMaster" Target="../notesMasters/notesMaster1.xml"/><Relationship Id="Rc3a00a15d6a74a77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86db001f21274177" Type="http://schemas.openxmlformats.org/officeDocument/2006/relationships/slide" Target="../slides/slide9.xml"/><Relationship Id="Rb441d99cc48a482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ef3160e660146cc" Type="http://schemas.openxmlformats.org/officeDocument/2006/relationships/slide" Target="../slides/slide10.xml"/><Relationship Id="R7da7022237ad4d0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b705a21d0c5b4804" Type="http://schemas.openxmlformats.org/officeDocument/2006/relationships/notesMaster" Target="../notesMasters/notesMaster1.xml"/><Relationship Id="Rf7be11fae73a4f81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cdf6bff13bad4ff2" Type="http://schemas.openxmlformats.org/officeDocument/2006/relationships/slide" Target="../slides/slide12.xml"/><Relationship Id="Rd68692a6fbf94f24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8237dc0663ec4032" Type="http://schemas.openxmlformats.org/officeDocument/2006/relationships/slide" Target="../slides/slide13.xml"/><Relationship Id="R918fb3ac9a1644bd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96d21eb91eae4d5a" Type="http://schemas.openxmlformats.org/officeDocument/2006/relationships/slide" Target="../slides/slide14.xml"/><Relationship Id="Rbceb02ad44734aa9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74c3b5f5ae0b4cdf" Type="http://schemas.openxmlformats.org/officeDocument/2006/relationships/slide" Target="../slides/slide15.xml"/><Relationship Id="R93fc035430304cba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7b3ace8c0a784746" Type="http://schemas.openxmlformats.org/officeDocument/2006/relationships/slide" Target="../slides/slide16.xml"/><Relationship Id="Rcafaa5c68bf34654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00f9a279445d4e3d" Type="http://schemas.openxmlformats.org/officeDocument/2006/relationships/notesMaster" Target="../notesMasters/notesMaster1.xml"/><Relationship Id="R4e78ab9b09ed4ed6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2f1b534fc0ae4924" Type="http://schemas.openxmlformats.org/officeDocument/2006/relationships/slide" Target="../slides/slide18.xml"/><Relationship Id="Rc7c259067536430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6c2ec5034ded4052" Type="http://schemas.openxmlformats.org/officeDocument/2006/relationships/slide" Target="../slides/slide19.xml"/><Relationship Id="Rfbdad4515c1147d9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SCI-LAUNCH-A2-W07</a:t>
            </a:r>
          </a:p>
          <a:p xmlns:a="http://schemas.openxmlformats.org/drawingml/2006/main">
            <a:r>
              <a:t>SoW objective: Topics 2 to 3 assessment (Dec).</a:t>
            </a:r>
          </a:p>
          <a:p xmlns:a="http://schemas.openxmlformats.org/drawingml/2006/main">
            <a:r>
              <a:t>Reading band: LAUNCH 11+</a:t>
            </a:r>
          </a:p>
          <a:p xmlns:a="http://schemas.openxmlformats.org/drawingml/2006/main">
            <a:r>
              <a:t>Staff focus: {'i_do': '“Watch how I use a different model detail in my answer.”', 'we_do': '“Which detail can you point to as evidence?”', 'independent': '“Read the command. Choose one valid response mode; this item is yours.”'}</a:t>
            </a:r>
          </a:p>
          <a:p xmlns:a="http://schemas.openxmlformats.org/drawingml/2006/main">
            <a:r>
              <a:t>Prompt ladder: ['Wait five seconds for a self-start with command words.', 'Point to the command word, not the answer location.', 'Ask “Which item are you on?” without hinting at content.', 'Model a parallel non-test item only; pupil then returns to a fresh check item.', 'Correct the procedure (for example, which box to use), never a test answer.']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Pearson Edexcel GCSE Biology 1BI0 Foundation, Biology Topics 2–3, https://qualifications.pearson.com/content/dam/pdf/GCSE/Science/2016/Specification/gcse-biology-spec.pdf; Pearson Edexcel GCSE Combined Science 1SC0 Foundation, Biology Topics 2–3, https://qualifications.pearson.com/content/dam/pdf/GCSE/Science/2016/Specification/gcse-combinedscience-spec.pdf</a:t>
            </a:r>
          </a:p>
          <a:p xmlns:a="http://schemas.openxmlformats.org/drawingml/2006/main">
            <a:r>
              <a:t>NHS, Cystic fibrosis, https://www.nhs.uk/conditions/cystic-fibrosis/; NHS Genomics Education Programme, Cystic fibrosis, https://www.genomicseducation.hee.nhs.uk/genotes/knowledge-hub/cystic-fibrosis/</a:t>
            </a:r>
          </a:p>
          <a:p xmlns:a="http://schemas.openxmlformats.org/drawingml/2006/main">
            <a:r>
              <a:t>Authored classroom model grounded in Pearson Edexcel GCSE Biology 1BI0 Foundation, Biology Topics 2–3, https://qualifications.pearson.com/content/dam/pdf/GCSE/Science/2016/Specification/gcse-biology-spec.pdf; Pearson Edexcel GCSE Combined Science 1SC0 Foundation, Biology Topics 2–3, https://qualifications.pearson.com/content/dam/pdf/GCSE/Science/2016/Specification/gcse-combinedscience-spec.pdf</a:t>
            </a:r>
          </a:p>
          <a:p xmlns:a="http://schemas.openxmlformats.org/drawingml/2006/main">
            <a:r>
              <a:t>Pearson Edexcel GCSE Biology 1BI0 and Combined Science 1SC0, specification, Biology Topics 2–3; https://qualifications.pearson.com/content/dam/pdf/GCSE/Science/2016/Specification/gcse-biology-spec.pdf; https://qualifications.pearson.com/content/dam/pdf/GCSE/Science/2016/Specification/gcse-combinedscience-spec.pdf</a:t>
            </a:r>
          </a:p>
          <a:p xmlns:a="http://schemas.openxmlformats.org/drawingml/2006/main">
            <a:r>
              <a:t>lesson content–source checks ruling; static SVG geometry and mechanism check; browser confirmation remains NOT RUN</a:t>
            </a:r>
          </a:p>
          <a:p xmlns:a="http://schemas.openxmlformats.org/drawingml/2006/main">
            <a:r>
              <a:t>Local school risk assessment and exact prepared kit; staff confirm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private, predictable start. Do not require previous knowledge.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pupils respond; reveal the answers only after attempts. Revisit success criteria.</a:t>
            </a:r>
          </a:p>
          <a:p xmlns:a="http://schemas.openxmlformats.org/drawingml/2006/main">
            <a:r>
              <a:t>Which named source supports our cystic fibrosis card? → The NHS page and NHS Genomics Education Programme.</a:t>
            </a:r>
          </a:p>
          <a:p xmlns:a="http://schemas.openxmlformats.org/drawingml/2006/main">
            <a:r>
              <a:t>How does a gene relate to DNA? → A gene is a section of DNA.</a:t>
            </a:r>
          </a:p>
          <a:p xmlns:a="http://schemas.openxmlformats.org/drawingml/2006/main">
            <a:r>
              <a:t>Which part of an animal cell holds chromosomes? → The nucleus.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one complete example; check every pupil’s response to the show-me question.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Three separate rehearsal pictures: mitosis, a gene on DNA, and a Punnett square. Simplified; not to scale; not answers to the independent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A scientific model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Wait five seconds, gesture, then cue if needed. Support the route without supplying the missing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State that matching chromosome sets go into two nuclei and cite a labelled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Two matching chromosome sets → Cell model</a:t>
            </a:r>
          </a:p>
          <a:p xmlns:a="http://schemas.openxmlformats.org/drawingml/2006/main">
            <a:r>
              <a:t>Short marked part of a DNA string → DNA model</a:t>
            </a:r>
          </a:p>
          <a:p xmlns:a="http://schemas.openxmlformats.org/drawingml/2006/main">
            <a:r>
              <a:t>Four possible allele pairs → Cross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simultaneous responses, apply the decision rule and parallel hinge in the staff note.</a:t>
            </a:r>
          </a:p>
          <a:p xmlns:a="http://schemas.openxmlformats.org/drawingml/2006/main">
            <a:r>
              <a:t>A. A. Mitosis halves chromosome number; a gene is the whole genome. | Not correct | Confuses mitosis with meiosis and gene with genome.</a:t>
            </a:r>
          </a:p>
          <a:p xmlns:a="http://schemas.openxmlformats.org/drawingml/2006/main">
            <a:r>
              <a:t>B. B. Mitosis removes DNA; an allele is a separate cell. | Not correct | Treats DNA as used up and allele as a cell.</a:t>
            </a:r>
          </a:p>
          <a:p xmlns:a="http://schemas.openxmlformats.org/drawingml/2006/main">
            <a:r>
              <a:t>C. C. Mitosis makes one unsplit cell; DNA is only in proteins. | Not correct | Misses cell splitting and confuses DNA with protein.</a:t>
            </a:r>
          </a:p>
          <a:p xmlns:a="http://schemas.openxmlformats.org/drawingml/2006/main">
            <a:r>
              <a:t>D. D. Mitosis gives matching body cells; a gene is a section of DNA. | Correct | Secure cell-cycle and gene distinction.</a:t>
            </a:r>
          </a:p>
          <a:p xmlns:a="http://schemas.openxmlformats.org/drawingml/2006/main">
            <a:r>
              <a:t>About 3 in 4 or more right → begin the check. Otherwise re-model a two-colour copy/separate/split strip and a short gene mark on a DNA string, then ask the parallel hinge. Do not pre-answer the three check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precise VF or NS(+) only when it actually happens. Invite a true self-edit and read-back.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the answer privately in a valid mode and use it to change the next example or prompt.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918172fac1a403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b409b0e46174e0d" Type="http://schemas.openxmlformats.org/officeDocument/2006/relationships/theme" Target="theme/theme2.xml"/><Relationship Id="Ra9b4fa8f7b514e97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b4fa8f7b514e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20e6bd93e2d4111" Type="http://schemas.openxmlformats.org/officeDocument/2006/relationships/slideLayout" Target="../slideLayouts/slideLayout1.xml"/><Relationship Id="Rf473e975364741aa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1dba3abd144c41e0" Type="http://schemas.openxmlformats.org/officeDocument/2006/relationships/image" Target="../media/image.png"/><Relationship Id="R2b93fb22ef6c4354" Type="http://schemas.openxmlformats.org/officeDocument/2006/relationships/slideLayout" Target="../slideLayouts/slideLayout1.xml"/><Relationship Id="Rf0bfff0977ca4b9d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c335b6d2bda746c8" Type="http://schemas.openxmlformats.org/officeDocument/2006/relationships/notesSlide" Target="../notesSlides/notesSlide3.xml"/><Relationship Id="Rf1e986bc185d4739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615f0620d578461e" Type="http://schemas.openxmlformats.org/officeDocument/2006/relationships/slideLayout" Target="../slideLayouts/slideLayout1.xml"/><Relationship Id="Rf0abf7e4c0c743f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0c8bcf158cc4996" Type="http://schemas.openxmlformats.org/officeDocument/2006/relationships/slideLayout" Target="../slideLayouts/slideLayout1.xml"/><Relationship Id="R429f7699829e43b6" Type="http://schemas.openxmlformats.org/officeDocument/2006/relationships/image" Target="../media/image2.png"/><Relationship Id="Rea28aff93696445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99a766afea614de7" Type="http://schemas.openxmlformats.org/officeDocument/2006/relationships/slideLayout" Target="../slideLayouts/slideLayout1.xml"/><Relationship Id="R9ba9cdc92c76478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d6b4f3af05cd4e9e" Type="http://schemas.openxmlformats.org/officeDocument/2006/relationships/notesSlide" Target="../notesSlides/notesSlide7.xml"/><Relationship Id="Re33a55b707454cc9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f5a331ef65c42b9" Type="http://schemas.openxmlformats.org/officeDocument/2006/relationships/notesSlide" Target="../notesSlides/notesSlide8.xml"/><Relationship Id="R5f5b6de437d84e1e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7795b2be6d134f84" Type="http://schemas.openxmlformats.org/officeDocument/2006/relationships/notesSlide" Target="../notesSlides/notesSlide9.xml"/><Relationship Id="Rd2759d95ffef420e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54cdce5c94cb422e" Type="http://schemas.openxmlformats.org/officeDocument/2006/relationships/notesSlide" Target="../notesSlides/notesSlide10.xml"/><Relationship Id="Rb3460edd70ba4c36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2400f4efdea74646" Type="http://schemas.openxmlformats.org/officeDocument/2006/relationships/notesSlide" Target="../notesSlides/notesSlide11.xml"/><Relationship Id="Rc9a6de1e67d843c4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99a9ee5030cb4522" Type="http://schemas.openxmlformats.org/officeDocument/2006/relationships/notesSlide" Target="../notesSlides/notesSlide12.xml"/><Relationship Id="Rb0ed7ea7d4ae4c7a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0da89346da484bfb" Type="http://schemas.openxmlformats.org/officeDocument/2006/relationships/notesSlide" Target="../notesSlides/notesSlide13.xml"/><Relationship Id="R26329562c84c4c08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c97ad62560474852" Type="http://schemas.openxmlformats.org/officeDocument/2006/relationships/notesSlide" Target="../notesSlides/notesSlide14.xml"/><Relationship Id="Rfe8323002ee74cb8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f1c6f3d7ffc4baa" Type="http://schemas.openxmlformats.org/officeDocument/2006/relationships/notesSlide" Target="../notesSlides/notesSlide15.xml"/><Relationship Id="Rdb9c77ab0e3e41d0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4b2e38fb5d684a89" Type="http://schemas.openxmlformats.org/officeDocument/2006/relationships/notesSlide" Target="../notesSlides/notesSlide16.xml"/><Relationship Id="Rd4be334458854ca0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96b32ea6f76f49bc" Type="http://schemas.openxmlformats.org/officeDocument/2006/relationships/slideLayout" Target="../slideLayouts/slideLayout1.xml"/><Relationship Id="Rccf0bb9fe0f24e39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c3717a85e012449a" Type="http://schemas.openxmlformats.org/officeDocument/2006/relationships/notesSlide" Target="../notesSlides/notesSlide18.xml"/><Relationship Id="Re6fb81335d384aee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3d232ea3e48f45ef" Type="http://schemas.openxmlformats.org/officeDocument/2006/relationships/slideLayout" Target="../slideLayouts/slideLayout1.xml"/><Relationship Id="R6c1f97cb50894499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48E74-3FC7-45F1-AD04-7E55B796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Cells and genetics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55A3B-0746-495F-A8BA-E4576031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E2D40-70A9-44AB-AF1C-AA192264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881FC-153E-4F20-9560-3935A668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am learning to use cell and inheritance models to show what I know and choose one next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BC663-0E24-4F9A-BF15-80247653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order copy, separate and split for mitosis.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56DAB-DB04-45E9-B37B-F68190BC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mark one gene as part of DNA.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6B7D2-3FC1-4EFB-8D8A-E7BD1342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use a simple cross as probability, not a promise.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133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CC396-FAA5-483D-808C-04ADCBB4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64138-3D15-4A32-9682-289F7CCE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F817A-064B-4A1E-9279-C14565B2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99D80-2618-4303-B007-1D8BB779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Look at this week’s familiar cell and allele models. Point to one detail you notice.</a:t>
            </a:r>
          </a:p>
        </p:txBody>
      </p:sp>
      <p:pic>
        <p:nvPicPr>
          <p:cNvPr id="10" name="" descr="Three separate drawn panels: two body cells after mitosis with matching chromosome sets, a highlighted gene section on DNA in a chromosome, and a small Punnett square of possible allele pair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a3abd144c41e0"/>
          <a:stretch xmlns:a="http://schemas.openxmlformats.org/drawingml/2006/main"/>
        </p:blipFill>
        <p:spPr>
          <a:xfrm xmlns:a="http://schemas.openxmlformats.org/drawingml/2006/main">
            <a:off x="5286375" y="3905250"/>
            <a:ext cx="1619250" cy="209550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2368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2D0EC-B69A-441A-AA08-A762F8F8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7A719-9EC1-4CB6-A74F-4FE97103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5F954-DF88-42E8-B6FC-6994731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7C24F-3906-4288-A220-D8CC7A32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Recall three ideas from earlier lessons. Show one answer at a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A8A78-7489-440B-BE77-2F390331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Which named source supports our cystic fibrosis card?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31939-8F89-40BD-AB70-86AA8279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does a gene relate to DNA?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2DF2D-FAFE-4B28-97F6-0793FFAE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Which part of an animal cell holds chromosomes?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42418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62FB9-0416-4EBF-8DAD-748548E6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84790-CF8B-4947-884E-326053AA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10BB9-4700-41CB-963D-0BF7D906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431E5-E939-4035-8C41-A91E5C1C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the full model. Point to the step that answers today’s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B5013-979D-4435-A2FD-17AA50E2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11087100" cy="1605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Parallel example (not one of the check items): label a body-cell model with copied chromosome sets, then explain that mitosis separates them into two nuclei. Point to a model detail that supports the answer. Now cover the labels for the independent check.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72030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AD05F-6E9D-46B9-AD60-3B6DE0BD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EB584-BB30-4492-B909-FA7492E4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B7950-2A7B-4D38-8801-CC449D09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Three separate drawn panels: two body cells after mitosis with matching chromosome sets, a highlighted gene section on DNA in a chromosome, and a small Punnett square of possible allele pair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f7699829e43b6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30848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A3978-2D1B-4669-BE6F-0BF810B4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403A7-7D44-4023-862A-62F2123A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8E170-3768-4126-9662-64E15E25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D56E3-EB00-4E1A-862C-545B93A9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me: does “describe” need a model detail or a personal story?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36626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D32E2-C6AA-4DC5-BF95-4B5BA234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1A440-47D6-4327-8EA3-845B9C01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C5BC3-8AA6-468A-A291-9EAFFE54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A9736-CD2C-4D64-9AB6-1979E63D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Complete the missing step in the part-done model. Speak, then match the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D27A9-87CC-429F-8FDC-D1AB093C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Parallel example: the chromosome sets are copied. Mitosis moves the sets to ___ nuclei; the evidence detail is ___.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12128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7A5CA-9BC8-44A9-B671-6E9617AC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DEFC8-D3FD-4ED2-9326-661EA867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CF271-0613-4B4E-A0FC-53402ADD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A7A75-E90A-4755-B9B6-A86FC633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Cell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DE92A-41C6-4217-A0D1-68F14571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DNA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38010-AB0D-4C8D-80B1-05E8EF1E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Cross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FA0FE-148B-4446-86CF-EB7591ED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Two matching chromosome 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D01DB-92B4-48C2-B475-2C65386A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Short marked part of a DNA string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275F0-6813-4FF4-AD79-5A0170D5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Four possible allele pairs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12650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33E34-0E98-47C4-BF81-20A38DF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C27C5-DB4F-462F-9EA0-9B71EABF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3FFFC-E779-4D8D-BFD6-3ED1C54B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BFE1F-B1B4-42C2-9B84-2B339939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Which paired statement is scientifically accurate?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B99B0-F8E5-4137-8D02-17931F39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A. Mitosis halves chromosome number; a gene is the whole genome.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C1CDD-4750-4F8F-AE0E-00876BFE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B. Mitosis removes DNA; an allele is a separate cell.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14ECC-A8FD-496E-BCEC-FE17FD9A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C. Mitosis makes one unsplit cell; DNA is only in proteins.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5A94F-FF2C-4409-A152-F0AEF6AC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D. Mitosis gives matching body cells; a gene is a section of DNA.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32104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DB53D-189A-4FA9-9D2E-3C1DE0F5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42BAB-E5BE-4720-A610-20755265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DB597-950B-45FB-BD60-A85D5780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58FF1-5553-4767-9DFA-94B4B910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Complete a short three-part check: order copy/separate/split, mark a gene on DNA, and use Aa × aa to state a possible pair and chance.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2EA20-56F7-47DC-8E9C-B8818F6B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9959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 the independent check, order the three stages and mark one gene on the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81838-DE34-4F50-BFD2-8907D8B9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189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First …; then …; last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236602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6C489-4696-4855-A885-9490B8E9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8EF64-9CAD-4664-AD46-5DE27720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35ACF-DBC5-47AC-AE4F-F87C2AAF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B03F4-F4F6-4AF0-92F4-7609F188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Complete a short three-part check: order copy/separate/split, mark a gene on DNA, and use Aa × aa to state a possible pair and chance.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A85A6-2848-4213-B05F-03D72490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9959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Explain matching body cells and why a gene is only part of DNA.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25891-4BB0-440C-9356-08F8CF84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3839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model shows … because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621751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B5A1F-44B4-4A39-88E0-853C6E41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6A6CC-B5C4-414C-85B0-3C6200DC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243B7-DF2B-4EA5-B7CA-3D51AD71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39A9A-CDC1-4D9B-A876-9A4F210B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Complete a short three-part check: order copy/separate/split, mark a gene on DNA, and use Aa × aa to state a possible pair and chance.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97A2B-99DB-4A0D-AD55-8383DE75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9959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Aa × aa to reject the claim that a probability promises an exact family count.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F488D-7182-42E3-AF55-0CC11E3C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189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model chance is …; the real count may differ because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478034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52A60-BBAC-44BA-BB25-F0053253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09EBF-F4F5-4BAC-83D5-9D7393DC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B8EAD-02B4-4A6C-A421-8C8B8655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46E35-E221-430E-9311-A18DC88B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Which model feature supports an explanation that transfers to a fresh example, and which detail is only the model?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D1C56-EF66-4B42-A8C1-CB2E01B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After submitting the check, compare two wrong cross explanations. Name each misconception and a precise repair without altering the checked answer.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034007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F65A9-8687-4C17-8FC5-7FA00FAE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F0FF7-79A6-4569-AC2F-8A9A944F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C1ADF-AB0F-4475-8C87-C1B13E18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A0C80-AB1F-4E19-9389-C4C3D701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a partner what you changed after feedback. Mark a real edit // and read it back when asked ?.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112122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400A4-FC56-4008-BADF-E8DBCE15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EC943-DAC1-499B-9F43-7F1AE17A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9644D-AB52-4251-9F6E-DC538E0B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C429E-D6CD-47CF-8379-FC903CEA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what you know with a model and explain one reason.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2F7A6-C19C-4AC3-AFD0-B8077216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1173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today’s success: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26EB4-6434-4299-BBD1-5EB2A2EE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88845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order copy, separate and split for mitosis.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93361-C459-4C96-810C-06574823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6518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mark one gene as part of DNA.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0D29E-E0B7-4D18-A08D-582AD3CB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419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use a simple cross as probability, not a promise.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62122-CC12-4F9E-AF3E-B0BADF4D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1863"/>
            <a:ext cx="11087100" cy="703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am I learning? I am learning to use cell and inheritance models to show what I know and choose one next step.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763BF-D94B-4467-9296-1F1A57B1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557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 … Name what you heard at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5FE81-F394-4E96-96A7-94E40D2F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3242"/>
            <a:ext cx="11087100" cy="703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Next I need to … Choose one model error you found; repair it and explain that change in the next lesson.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5BB6F-9F3B-4792-81B6-6149550C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06949"/>
            <a:ext cx="11087100" cy="703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use a correct model detail to explain one answer, and I can name one precise improvement.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E8137-6DCB-411C-BA4A-1DF3B0A7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0656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Your teacher hears your answer and uses it to choose our next model, prompt or example.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919724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25DC2-5BFC-4D59-BFFD-6F823EAA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mitosis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2CC4A-4B0F-4827-8F2B-C14D21A6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11467-6A6F-4137-B570-DD3DD16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23EAF-CA55-47C7-8B08-0188DA69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division of the nucleus to separate matching chromosome 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E96C5-9096-48BA-A482-82A1BD18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Mitosis helps make matching body cells.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525134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55891-C85C-4409-B909-ADF29975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gene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17923-49AE-4BEA-A78B-2CF6A472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1A845-80EF-413D-9CDA-935188BC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453B2-D056-4137-885C-99382715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section of DNA that codes for a protein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C8B6C-6CC4-43E8-BDD4-B683EF81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gene is a part of the DNA string.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35241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5DFCA-344B-4061-9A7B-6A0E6F5E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allele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7DA8-BA25-45F8-A0B9-23E3797F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73928-3B63-49E3-B813-0CD08292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309C3-8B21-4739-A516-4C5FDAEC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version of a gene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003D9-78B8-4969-A2C8-B56C0A7B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and a stand for two alleles in our invented model.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317856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4386B-51E8-46AB-998E-6CE99458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19727-1404-48E4-88CD-437D10B4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SCI-LAUNCH-A2-W07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2D681-95DF-40E3-B633-0770C644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A774F-2DEB-4E9D-B60C-E057983C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fact or model detail that supports a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2859D-D410-4BC9-A21C-2FDF2731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labelled chromosome sets are evidence for my answer.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70176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2026-09-25T12:29:49.9470000Z</dcterms:created>
  <dcterms:modified xsi:type="dcterms:W3CDTF">2026-09-25T12:29:49.9470000Z</dcterms:modified>
</coreProperties>
</file>