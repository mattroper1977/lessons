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843c2cf6d9a24ebf"/><Relationship Type="http://schemas.openxmlformats.org/officeDocument/2006/relationships/extended-properties" Target="/docProps/app.xml" Id="R1296822fdf3a471b"/><Relationship Type="http://schemas.openxmlformats.org/officeDocument/2006/relationships/officeDocument" Target="/ppt/presentation.xml" Id="R68c626e0027f4011"/><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436e310dbe414013"/>
  </p:sldMasterIdLst>
  <p:notesMasterIdLst>
    <p:notesMasterId xmlns:r="http://schemas.openxmlformats.org/officeDocument/2006/relationships" r:id="R6034b26874c54a8b"/>
  </p:notesMasterIdLst>
  <p:sldIdLst>
    <p:sldId xmlns:r="http://schemas.openxmlformats.org/officeDocument/2006/relationships" id="256" r:id="Rfc22ba6f63c24764"/>
    <p:sldId xmlns:r="http://schemas.openxmlformats.org/officeDocument/2006/relationships" id="257" r:id="Rb77f08f32d834ac2"/>
    <p:sldId xmlns:r="http://schemas.openxmlformats.org/officeDocument/2006/relationships" id="258" r:id="R9ebd28578d184c28"/>
    <p:sldId xmlns:r="http://schemas.openxmlformats.org/officeDocument/2006/relationships" id="259" r:id="R0408061e70f74aaa"/>
    <p:sldId xmlns:r="http://schemas.openxmlformats.org/officeDocument/2006/relationships" id="260" r:id="R5749654ba247452c"/>
    <p:sldId xmlns:r="http://schemas.openxmlformats.org/officeDocument/2006/relationships" id="261" r:id="R73229438101947f6"/>
    <p:sldId xmlns:r="http://schemas.openxmlformats.org/officeDocument/2006/relationships" id="262" r:id="R5e88ce43ba0441d4"/>
    <p:sldId xmlns:r="http://schemas.openxmlformats.org/officeDocument/2006/relationships" id="263" r:id="Re5568b8d92184746"/>
    <p:sldId xmlns:r="http://schemas.openxmlformats.org/officeDocument/2006/relationships" id="264" r:id="R08c8eb9e5e5a4967"/>
    <p:sldId xmlns:r="http://schemas.openxmlformats.org/officeDocument/2006/relationships" id="265" r:id="R1c24358f3cb74f51"/>
    <p:sldId xmlns:r="http://schemas.openxmlformats.org/officeDocument/2006/relationships" id="266" r:id="R2c082ca6cede409b"/>
    <p:sldId xmlns:r="http://schemas.openxmlformats.org/officeDocument/2006/relationships" id="267" r:id="R6687089fc6e94fd6"/>
    <p:sldId xmlns:r="http://schemas.openxmlformats.org/officeDocument/2006/relationships" id="268" r:id="Rc2b204e6628d433b"/>
    <p:sldId xmlns:r="http://schemas.openxmlformats.org/officeDocument/2006/relationships" id="269" r:id="R6747764bc342447b"/>
    <p:sldId xmlns:r="http://schemas.openxmlformats.org/officeDocument/2006/relationships" id="270" r:id="R281d5359d9894508"/>
    <p:sldId xmlns:r="http://schemas.openxmlformats.org/officeDocument/2006/relationships" id="271" r:id="Rf9d3148f040749c0"/>
    <p:sldId xmlns:r="http://schemas.openxmlformats.org/officeDocument/2006/relationships" id="272" r:id="R2319236591754aef"/>
    <p:sldId xmlns:r="http://schemas.openxmlformats.org/officeDocument/2006/relationships" id="273" r:id="R1e294f57eaf44ff4"/>
    <p:sldId xmlns:r="http://schemas.openxmlformats.org/officeDocument/2006/relationships" id="274" r:id="R864d10904ec04106"/>
    <p:sldId xmlns:r="http://schemas.openxmlformats.org/officeDocument/2006/relationships" id="275" r:id="R5229984b098b474e"/>
    <p:sldId xmlns:r="http://schemas.openxmlformats.org/officeDocument/2006/relationships" id="276" r:id="Re78cf7da8f0c4839"/>
    <p:sldId xmlns:r="http://schemas.openxmlformats.org/officeDocument/2006/relationships" id="277" r:id="R8449f35518574866"/>
    <p:sldId xmlns:r="http://schemas.openxmlformats.org/officeDocument/2006/relationships" id="278" r:id="R840f014a4d344fd7"/>
    <p:sldId xmlns:r="http://schemas.openxmlformats.org/officeDocument/2006/relationships" id="279" r:id="R7ba84896552748d0"/>
    <p:sldId xmlns:r="http://schemas.openxmlformats.org/officeDocument/2006/relationships" id="280" r:id="R2d072462dce74b15"/>
    <p:sldId xmlns:r="http://schemas.openxmlformats.org/officeDocument/2006/relationships" id="281" r:id="R5d38ad9155ee4f34"/>
    <p:sldId xmlns:r="http://schemas.openxmlformats.org/officeDocument/2006/relationships" id="282" r:id="Rac792754b8f74e0e"/>
    <p:sldId xmlns:r="http://schemas.openxmlformats.org/officeDocument/2006/relationships" id="283" r:id="R056345da368a49b3"/>
    <p:sldId xmlns:r="http://schemas.openxmlformats.org/officeDocument/2006/relationships" id="284" r:id="Rf184c06d3c224b5d"/>
    <p:sldId xmlns:r="http://schemas.openxmlformats.org/officeDocument/2006/relationships" id="285" r:id="R7ae2bd00637e4789"/>
    <p:sldId xmlns:r="http://schemas.openxmlformats.org/officeDocument/2006/relationships" id="286" r:id="R933448d115c84fbc"/>
    <p:sldId xmlns:r="http://schemas.openxmlformats.org/officeDocument/2006/relationships" id="287" r:id="Rad1ce3704cdb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9332a72277a94ad2"/><Relationship Type="http://schemas.openxmlformats.org/officeDocument/2006/relationships/slideMaster" Target="/ppt/slideMasters/slideMaster1.xml" Id="R436e310dbe414013"/><Relationship Type="http://schemas.openxmlformats.org/officeDocument/2006/relationships/notesMaster" Target="/ppt/notesMasters/notesMaster1.xml" Id="R6034b26874c54a8b"/><Relationship Type="http://schemas.openxmlformats.org/officeDocument/2006/relationships/presProps" Target="/ppt/presProps.xml" Id="Rb3f25d072af141b3"/><Relationship Type="http://schemas.openxmlformats.org/officeDocument/2006/relationships/tableStyles" Target="/ppt/tableStyles.xml" Id="R084f335f31474c40"/><Relationship Type="http://schemas.openxmlformats.org/officeDocument/2006/relationships/slide" Target="/ppt/slides/slide1.xml" Id="Rfc22ba6f63c24764"/><Relationship Type="http://schemas.openxmlformats.org/officeDocument/2006/relationships/slide" Target="/ppt/slides/slide2.xml" Id="Rb77f08f32d834ac2"/><Relationship Type="http://schemas.openxmlformats.org/officeDocument/2006/relationships/slide" Target="/ppt/slides/slide3.xml" Id="R9ebd28578d184c28"/><Relationship Type="http://schemas.openxmlformats.org/officeDocument/2006/relationships/slide" Target="/ppt/slides/slide4.xml" Id="R0408061e70f74aaa"/><Relationship Type="http://schemas.openxmlformats.org/officeDocument/2006/relationships/slide" Target="/ppt/slides/slide5.xml" Id="R5749654ba247452c"/><Relationship Type="http://schemas.openxmlformats.org/officeDocument/2006/relationships/slide" Target="/ppt/slides/slide6.xml" Id="R73229438101947f6"/><Relationship Type="http://schemas.openxmlformats.org/officeDocument/2006/relationships/slide" Target="/ppt/slides/slide7.xml" Id="R5e88ce43ba0441d4"/><Relationship Type="http://schemas.openxmlformats.org/officeDocument/2006/relationships/slide" Target="/ppt/slides/slide8.xml" Id="Re5568b8d92184746"/><Relationship Type="http://schemas.openxmlformats.org/officeDocument/2006/relationships/slide" Target="/ppt/slides/slide9.xml" Id="R08c8eb9e5e5a4967"/><Relationship Type="http://schemas.openxmlformats.org/officeDocument/2006/relationships/slide" Target="/ppt/slides/slide10.xml" Id="R1c24358f3cb74f51"/><Relationship Type="http://schemas.openxmlformats.org/officeDocument/2006/relationships/slide" Target="/ppt/slides/slide11.xml" Id="R2c082ca6cede409b"/><Relationship Type="http://schemas.openxmlformats.org/officeDocument/2006/relationships/slide" Target="/ppt/slides/slide12.xml" Id="R6687089fc6e94fd6"/><Relationship Type="http://schemas.openxmlformats.org/officeDocument/2006/relationships/slide" Target="/ppt/slides/slide13.xml" Id="Rc2b204e6628d433b"/><Relationship Type="http://schemas.openxmlformats.org/officeDocument/2006/relationships/slide" Target="/ppt/slides/slide14.xml" Id="R6747764bc342447b"/><Relationship Type="http://schemas.openxmlformats.org/officeDocument/2006/relationships/slide" Target="/ppt/slides/slide15.xml" Id="R281d5359d9894508"/><Relationship Type="http://schemas.openxmlformats.org/officeDocument/2006/relationships/slide" Target="/ppt/slides/slide16.xml" Id="Rf9d3148f040749c0"/><Relationship Type="http://schemas.openxmlformats.org/officeDocument/2006/relationships/slide" Target="/ppt/slides/slide17.xml" Id="R2319236591754aef"/><Relationship Type="http://schemas.openxmlformats.org/officeDocument/2006/relationships/slide" Target="/ppt/slides/slide18.xml" Id="R1e294f57eaf44ff4"/><Relationship Type="http://schemas.openxmlformats.org/officeDocument/2006/relationships/slide" Target="/ppt/slides/slide19.xml" Id="R864d10904ec04106"/><Relationship Type="http://schemas.openxmlformats.org/officeDocument/2006/relationships/slide" Target="/ppt/slides/slide20.xml" Id="R5229984b098b474e"/><Relationship Type="http://schemas.openxmlformats.org/officeDocument/2006/relationships/slide" Target="/ppt/slides/slide21.xml" Id="Re78cf7da8f0c4839"/><Relationship Type="http://schemas.openxmlformats.org/officeDocument/2006/relationships/slide" Target="/ppt/slides/slide22.xml" Id="R8449f35518574866"/><Relationship Type="http://schemas.openxmlformats.org/officeDocument/2006/relationships/slide" Target="/ppt/slides/slide23.xml" Id="R840f014a4d344fd7"/><Relationship Type="http://schemas.openxmlformats.org/officeDocument/2006/relationships/slide" Target="/ppt/slides/slide24.xml" Id="R7ba84896552748d0"/><Relationship Type="http://schemas.openxmlformats.org/officeDocument/2006/relationships/slide" Target="/ppt/slides/slide25.xml" Id="R2d072462dce74b15"/><Relationship Type="http://schemas.openxmlformats.org/officeDocument/2006/relationships/slide" Target="/ppt/slides/slide26.xml" Id="R5d38ad9155ee4f34"/><Relationship Type="http://schemas.openxmlformats.org/officeDocument/2006/relationships/slide" Target="/ppt/slides/slide27.xml" Id="Rac792754b8f74e0e"/><Relationship Type="http://schemas.openxmlformats.org/officeDocument/2006/relationships/slide" Target="/ppt/slides/slide28.xml" Id="R056345da368a49b3"/><Relationship Type="http://schemas.openxmlformats.org/officeDocument/2006/relationships/slide" Target="/ppt/slides/slide29.xml" Id="Rf184c06d3c224b5d"/><Relationship Type="http://schemas.openxmlformats.org/officeDocument/2006/relationships/slide" Target="/ppt/slides/slide30.xml" Id="R7ae2bd00637e4789"/><Relationship Type="http://schemas.openxmlformats.org/officeDocument/2006/relationships/slide" Target="/ppt/slides/slide31.xml" Id="R933448d115c84fbc"/><Relationship Type="http://schemas.openxmlformats.org/officeDocument/2006/relationships/slide" Target="/ppt/slides/slide32.xml" Id="Rad1ce3704cdb4a3d"/></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9c0e92040b42435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66ecba464dd4bb2"/><Relationship Type="http://schemas.openxmlformats.org/officeDocument/2006/relationships/notesMaster" Target="/ppt/notesMasters/notesMaster1.xml" Id="R2bbaed111a294466"/></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d785be140b3e45ee"/><Relationship Type="http://schemas.openxmlformats.org/officeDocument/2006/relationships/notesMaster" Target="/ppt/notesMasters/notesMaster1.xml" Id="R58c2af77bb7142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6f1a6ce5e394927"/><Relationship Type="http://schemas.openxmlformats.org/officeDocument/2006/relationships/notesMaster" Target="/ppt/notesMasters/notesMaster1.xml" Id="Rbcf0be0d09db493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4e227ea2b0f4c99"/><Relationship Type="http://schemas.openxmlformats.org/officeDocument/2006/relationships/notesMaster" Target="/ppt/notesMasters/notesMaster1.xml" Id="R1a30e9c517bc46a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04a0c3ba83b48a6"/><Relationship Type="http://schemas.openxmlformats.org/officeDocument/2006/relationships/notesMaster" Target="/ppt/notesMasters/notesMaster1.xml" Id="Re058e54064a845f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f3d13b15cf94371"/><Relationship Type="http://schemas.openxmlformats.org/officeDocument/2006/relationships/notesMaster" Target="/ppt/notesMasters/notesMaster1.xml" Id="Rcc1f123c45a9480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13c7e1ad9f3446d"/><Relationship Type="http://schemas.openxmlformats.org/officeDocument/2006/relationships/notesMaster" Target="/ppt/notesMasters/notesMaster1.xml" Id="R24654f2e0c024363"/></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b6ed1ae593154529"/><Relationship Type="http://schemas.openxmlformats.org/officeDocument/2006/relationships/notesMaster" Target="/ppt/notesMasters/notesMaster1.xml" Id="Rdd947692cb8e4130"/></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b888e08995fd40d9"/><Relationship Type="http://schemas.openxmlformats.org/officeDocument/2006/relationships/notesMaster" Target="/ppt/notesMasters/notesMaster1.xml" Id="R234c1ac433514b5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8ce41e581f2c479b"/><Relationship Type="http://schemas.openxmlformats.org/officeDocument/2006/relationships/notesMaster" Target="/ppt/notesMasters/notesMaster1.xml" Id="Rff83db3a265243b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6e709d23f8cc4e35"/><Relationship Type="http://schemas.openxmlformats.org/officeDocument/2006/relationships/notesMaster" Target="/ppt/notesMasters/notesMaster1.xml" Id="Ree07c82fc83b483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2a9c9f995ac046ab"/><Relationship Type="http://schemas.openxmlformats.org/officeDocument/2006/relationships/notesMaster" Target="/ppt/notesMasters/notesMaster1.xml" Id="R75d22ab965e54d8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9a209dee37144c60"/><Relationship Type="http://schemas.openxmlformats.org/officeDocument/2006/relationships/notesMaster" Target="/ppt/notesMasters/notesMaster1.xml" Id="Rb2233b562aa24c15"/></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e145e8a95c140ce"/><Relationship Type="http://schemas.openxmlformats.org/officeDocument/2006/relationships/notesMaster" Target="/ppt/notesMasters/notesMaster1.xml" Id="Rf40da49f776a4c5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ab721e1f910443b"/><Relationship Type="http://schemas.openxmlformats.org/officeDocument/2006/relationships/notesMaster" Target="/ppt/notesMasters/notesMaster1.xml" Id="Rc091182773114706"/></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e6defbe31ca4e54"/><Relationship Type="http://schemas.openxmlformats.org/officeDocument/2006/relationships/notesMaster" Target="/ppt/notesMasters/notesMaster1.xml" Id="R6d3739f1e4e648b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1e22aa3e9504a72"/><Relationship Type="http://schemas.openxmlformats.org/officeDocument/2006/relationships/notesMaster" Target="/ppt/notesMasters/notesMaster1.xml" Id="R00d0fc01e78e45c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82832094b794b6f"/><Relationship Type="http://schemas.openxmlformats.org/officeDocument/2006/relationships/notesMaster" Target="/ppt/notesMasters/notesMaster1.xml" Id="Ree68dbb0ca01459a"/></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9a3d3efaa024082"/><Relationship Type="http://schemas.openxmlformats.org/officeDocument/2006/relationships/notesMaster" Target="/ppt/notesMasters/notesMaster1.xml" Id="Rfbf2b350f1e54b1c"/></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84f13ab29904a4b"/><Relationship Type="http://schemas.openxmlformats.org/officeDocument/2006/relationships/notesMaster" Target="/ppt/notesMasters/notesMaster1.xml" Id="R429b38804b604347"/></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b4cf01ddfd934f9e"/><Relationship Type="http://schemas.openxmlformats.org/officeDocument/2006/relationships/notesMaster" Target="/ppt/notesMasters/notesMaster1.xml" Id="Red0e2757385c41b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5176ac79f25a4498"/><Relationship Type="http://schemas.openxmlformats.org/officeDocument/2006/relationships/notesMaster" Target="/ppt/notesMasters/notesMaster1.xml" Id="Rf99cb039902c4ebd"/></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a40061b40938418a"/><Relationship Type="http://schemas.openxmlformats.org/officeDocument/2006/relationships/notesMaster" Target="/ppt/notesMasters/notesMaster1.xml" Id="R1807cde11c4b4caf"/></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5653fd0b14744b91"/><Relationship Type="http://schemas.openxmlformats.org/officeDocument/2006/relationships/notesMaster" Target="/ppt/notesMasters/notesMaster1.xml" Id="Rcdd811bb5b8143c9"/></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c7db783db2f94ca1"/><Relationship Type="http://schemas.openxmlformats.org/officeDocument/2006/relationships/notesMaster" Target="/ppt/notesMasters/notesMaster1.xml" Id="Rbbecdb52e67544e5"/></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bc4cb9d5796e4ece"/><Relationship Type="http://schemas.openxmlformats.org/officeDocument/2006/relationships/notesMaster" Target="/ppt/notesMasters/notesMaster1.xml" Id="R30055caa74884cb5"/></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89b6fba6281b4d74"/><Relationship Type="http://schemas.openxmlformats.org/officeDocument/2006/relationships/notesMaster" Target="/ppt/notesMasters/notesMaster1.xml" Id="R44ea1225c3e74907"/></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596a52d49d034529"/><Relationship Type="http://schemas.openxmlformats.org/officeDocument/2006/relationships/notesMaster" Target="/ppt/notesMasters/notesMaster1.xml" Id="Rc6a5d1b154bb47ae"/></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eb448d9a8e184092"/><Relationship Type="http://schemas.openxmlformats.org/officeDocument/2006/relationships/notesMaster" Target="/ppt/notesMasters/notesMaster1.xml" Id="Rf1c7c0cb955143a4"/></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614d669f20914c43"/><Relationship Type="http://schemas.openxmlformats.org/officeDocument/2006/relationships/notesMaster" Target="/ppt/notesMasters/notesMaster1.xml" Id="R2ef5fbc3c95f45df"/></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87a407a7585f4feb"/><Relationship Type="http://schemas.openxmlformats.org/officeDocument/2006/relationships/notesMaster" Target="/ppt/notesMasters/notesMaster1.xml" Id="R16618321a9944cff"/></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5c1f99d206554d93"/><Relationship Type="http://schemas.openxmlformats.org/officeDocument/2006/relationships/notesMaster" Target="/ppt/notesMasters/notesMaster1.xml" Id="R43f6e8f8d16b488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Opening; 0 minutes; lesson clock 0 to 0.</a:t>
            </a:r>
          </a:p>
          <a:p xmlns:a="http://schemas.openxmlformats.org/drawingml/2006/main">
            <a:r>
              <a:t>They are constructed classroom examples, not historical artworks or evidence of attendance at an arts event. Label this lesson's mini-gallery review CLASSROOM PRACTICE. Keep any genuine experience record separate; this lesson does not complete or sign off Unit 1.</a:t>
            </a:r>
          </a:p>
          <a:p xmlns:a="http://schemas.openxmlformats.org/drawingml/2006/main">
            <a:r>
              <a:t>Read one prompt at a time. Every task can be answered by pointing, speaking, signing, using symbols, drawing or writing. A pupil may pass. No cold calling or required public reading. Allow thinking time, then invite all pupils to show a choice together. An adult can move cards or scribe the pupil's exact words. Do not substitute an adult's interpretation for the pupil's. A pass needs no book entry.</a:t>
            </a:r>
          </a:p>
          <a:p xmlns:a="http://schemas.openxmlformats.org/drawingml/2006/main">
            <a:r>
              <a:t>Use one Arrival tier and one Exit tier for each pupil, not all three. Keep Answer (adult) lines out of pupil view until after responses. Offer one You do route; the four routes are alternatives. Keep the artworks visible and invite evidence-based disagreement. Personal taste is not marked right or wrong. No personal story, belief, family detail or loss is requested.</a:t>
            </a:r>
          </a:p>
          <a:p xmlns:a="http://schemas.openxmlformats.org/drawingml/2006/main">
            <a:r>
              <a:t>Preparation — complete teaching-artwork cues</a:t>
            </a:r>
          </a:p>
          <a:p xmlns:a="http://schemas.openxmlformats.org/drawingml/2006/main">
            <a:r>
              <a:t>Prepare two plain rectangular images before the lesson. Show both throughout. No names, logos or branding appear on them. These descriptions are the specification for the classroom examples. Do not substitute a different image; keep these answer keys.</a:t>
            </a:r>
          </a:p>
          <a:p xmlns:a="http://schemas.openxmlformats.org/drawingml/2006/main">
            <a:r>
              <a:t>Artwork A, title Flow: a pale cream field; three broad blue and teal curved bands running from left towards right, with clear pale gaps; one small solid orange circle above the bands towards the upper right. The circle does not touch a band. Leave open pale space around the forms. No people, letters or objects are depicted.</a:t>
            </a:r>
          </a:p>
          <a:p xmlns:a="http://schemas.openxmlformats.org/drawingml/2006/main">
            <a:r>
              <a:t>Artwork B, title Crossing: an orange field; three dark charcoal diagonal strips crossing and overlapping near the centre; a large white circle at the right edge with part of the circle beyond the image, so it is cropped. The strips have straight edges. No people or letters are depicted.</a:t>
            </a:r>
          </a:p>
          <a:p xmlns:a="http://schemas.openxmlformats.org/drawingml/2006/main">
            <a:r>
              <a:t>Prepare four category cards: Feature / Interpretation / Recommendation / Unsupported claim. Prepare the four sentence cards printed in We do. Provide two plain audience cards: Viewers who enjoy abstract images / Viewers seeking a detailed, lifelike portrait. Read all cards aloud. Offer large, high-contrast copies and a spoken description of each artwork. If a pupil uses the description, note that access route; do not treat visual acuity as reviewing skill. Make a private adult-listener option available.</a:t>
            </a:r>
          </a:p>
          <a:p xmlns:a="http://schemas.openxmlformats.org/drawingml/2006/main">
            <a:r>
              <a:t>Adult-only note: Possible EHCP outcome areas are communication and interaction (expressing and checking meaning), cognition and learning (selecting evidence and organising an explanation), and independence (choosing a response mode and checking one claim). Observe only the relevant individual outcome actually shown; do not infer progress in every area from a finished review.</a:t>
            </a:r>
          </a:p>
          <a:p xmlns:a="http://schemas.openxmlformats.org/drawingml/2006/main">
            <a:r>
              <a:t>Adult-only note: Regulation strategy — agree a quiet pause signal at the start; keep the pupil's selected image and first step ready for a calm return within task time.</a:t>
            </a:r>
          </a:p>
          <a:p xmlns:a="http://schemas.openxmlformats.org/drawingml/2006/main">
            <a:r>
              <a:t>Same-day evidence — ART-LAUNCH-A2-W01: the assigned adult records the chosen artwork, the pupil's exact review or selected/annotated evidence, the response mode and actual support. File one book item, a before-and-after photograph of the upgraded claim or brief observation in the evidence app the same day under ART-LAUNCH-A2-W01. Record how the listener received and checked the pupil's meaning. A photograph alone does not establish the reasoning. Use no pupil, staff or school names in this teaching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Opening; 0 minutes; lesson clock 0 to 0.</a:t>
            </a:r>
          </a:p>
          <a:p xmlns:a="http://schemas.openxmlformats.org/drawingml/2006/main">
            <a:r>
              <a:t>They are constructed classroom examples, not historical artworks or evidence of attendance at an arts event. Label this lesson's mini-gallery review CLASSROOM PRACTICE. Keep any genuine experience record separate; this lesson does not complete or sign off Unit 1.</a:t>
            </a:r>
          </a:p>
          <a:p xmlns:a="http://schemas.openxmlformats.org/drawingml/2006/main">
            <a:r>
              <a:t>Read one prompt at a time. Every task can be answered by pointing, speaking, signing, using symbols, drawing or writing. A pupil may pass. No cold calling or required public reading. Allow thinking time, then invite all pupils to show a choice together. An adult can move cards or scribe the pupil's exact words. Do not substitute an adult's interpretation for the pupil's. A pass needs no book entry.</a:t>
            </a:r>
          </a:p>
          <a:p xmlns:a="http://schemas.openxmlformats.org/drawingml/2006/main">
            <a:r>
              <a:t>Use one Arrival tier and one Exit tier for each pupil, not all three. Keep Answer (adult) lines out of pupil view until after responses. Offer one You do route; the four routes are alternatives. Keep the artworks visible and invite evidence-based disagreement. Personal taste is not marked right or wrong. No personal story, belief, family detail or loss is requested.</a:t>
            </a:r>
          </a:p>
          <a:p xmlns:a="http://schemas.openxmlformats.org/drawingml/2006/main">
            <a:r>
              <a:t>Preparation — complete teaching-artwork cues</a:t>
            </a:r>
          </a:p>
          <a:p xmlns:a="http://schemas.openxmlformats.org/drawingml/2006/main">
            <a:r>
              <a:t>Prepare two plain rectangular images before the lesson. Show both throughout. No names, logos or branding appear on them. These descriptions are the specification for the classroom examples. Do not substitute a different image; keep these answer keys.</a:t>
            </a:r>
          </a:p>
          <a:p xmlns:a="http://schemas.openxmlformats.org/drawingml/2006/main">
            <a:r>
              <a:t>Artwork A, title Flow: a pale cream field; three broad blue and teal curved bands running from left towards right, with clear pale gaps; one small solid orange circle above the bands towards the upper right. The circle does not touch a band. Leave open pale space around the forms. No people, letters or objects are depicted.</a:t>
            </a:r>
          </a:p>
          <a:p xmlns:a="http://schemas.openxmlformats.org/drawingml/2006/main">
            <a:r>
              <a:t>Artwork B, title Crossing: an orange field; three dark charcoal diagonal strips crossing and overlapping near the centre; a large white circle at the right edge with part of the circle beyond the image, so it is cropped. The strips have straight edges. No people or letters are depicted.</a:t>
            </a:r>
          </a:p>
          <a:p xmlns:a="http://schemas.openxmlformats.org/drawingml/2006/main">
            <a:r>
              <a:t>Prepare four category cards: Feature / Interpretation / Recommendation / Unsupported claim. Prepare the four sentence cards printed in We do. Provide two plain audience cards: Viewers who enjoy abstract images / Viewers seeking a detailed, lifelike portrait. Read all cards aloud. Offer large, high-contrast copies and a spoken description of each artwork. If a pupil uses the description, note that access route; do not treat visual acuity as reviewing skill. Make a private adult-listener option available.</a:t>
            </a:r>
          </a:p>
          <a:p xmlns:a="http://schemas.openxmlformats.org/drawingml/2006/main">
            <a:r>
              <a:t>Adult-only note: Possible EHCP outcome areas are communication and interaction (expressing and checking meaning), cognition and learning (selecting evidence and organising an explanation), and independence (choosing a response mode and checking one claim). Observe only the relevant individual outcome actually shown; do not infer progress in every area from a finished review.</a:t>
            </a:r>
          </a:p>
          <a:p xmlns:a="http://schemas.openxmlformats.org/drawingml/2006/main">
            <a:r>
              <a:t>Adult-only note: Regulation strategy — agree a quiet pause signal at the start; keep the pupil's selected image and first step ready for a calm return within task time.</a:t>
            </a:r>
          </a:p>
          <a:p xmlns:a="http://schemas.openxmlformats.org/drawingml/2006/main">
            <a:r>
              <a:t>Same-day evidence — ART-LAUNCH-A2-W01: the assigned adult records the chosen artwork, the pupil's exact review or selected/annotated evidence, the response mode and actual support. File one book item, a before-and-after photograph of the upgraded claim or brief observation in the evidence app the same day under ART-LAUNCH-A2-W01. Record how the listener received and checked the pupil's meaning. A photograph alone does not establish the reasoning. Use no pupil, staff or school names in this teaching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Arrival; 5 minutes; lesson clock 0 to 5.</a:t>
            </a:r>
          </a:p>
          <a:p xmlns:a="http://schemas.openxmlformats.org/drawingml/2006/main">
            <a:r>
              <a:t>Adult note: Display Flow and Crossing with their titles. Read the preparation descriptions if needed. Accept a point or selection as evidence of a feature; ask for the extra reason only where the selected tier asks for it. Invite four short responses. Do not require any earlier review or event attendance. The two artworks and their descriptions are supplied clues, not a test of prior learning.</a:t>
            </a:r>
          </a:p>
          <a:p xmlns:a="http://schemas.openxmlformats.org/drawingml/2006/main">
            <a:r>
              <a:t>Answer guidance: Orange.</a:t>
            </a:r>
          </a:p>
          <a:p xmlns:a="http://schemas.openxmlformats.org/drawingml/2006/main">
            <a:r>
              <a:t>Answer guidance: Straight; the strips run diagonally.</a:t>
            </a:r>
          </a:p>
          <a:p xmlns:a="http://schemas.openxmlformats.org/drawingml/2006/main">
            <a:r>
              <a:t>Answer guidance: Three bands, in Flow. 'The best art' is a judgement.</a:t>
            </a:r>
          </a:p>
          <a:p xmlns:a="http://schemas.openxmlformats.org/drawingml/2006/main">
            <a:r>
              <a:t>Answer guidance: People viewing the art.</a:t>
            </a:r>
          </a:p>
          <a:p xmlns:a="http://schemas.openxmlformats.org/drawingml/2006/main">
            <a:r>
              <a:t>Answer guidance: For example, a small orange circle above the curved bands towards the upper right. Accept another accurate, specific feature.</a:t>
            </a:r>
          </a:p>
          <a:p xmlns:a="http://schemas.openxmlformats.org/drawingml/2006/main">
            <a:r>
              <a:t>Answer guidance: Flow has curved bands; Crossing has straight diagonal strips. A difference must refer to both works.</a:t>
            </a:r>
          </a:p>
          <a:p xmlns:a="http://schemas.openxmlformats.org/drawingml/2006/main">
            <a:r>
              <a:t>Answer guidance: The cropped circle in Crossing can be checked at the right edge. Exciting is an interpretation or judgement that needs a reason.</a:t>
            </a:r>
          </a:p>
          <a:p xmlns:a="http://schemas.openxmlformats.org/drawingml/2006/main">
            <a:r>
              <a:t>Answer guidance: To explain who might value the work and why, instead of assuming everyone will respond alike.</a:t>
            </a:r>
          </a:p>
          <a:p xmlns:a="http://schemas.openxmlformats.org/drawingml/2006/main">
            <a:r>
              <a:t>Answer guidance: For example, the orange circle contrasts with the blue bands, so it could draw attention. Accept a different plausible effect supported by an accurate feature.</a:t>
            </a:r>
          </a:p>
          <a:p xmlns:a="http://schemas.openxmlformats.org/drawingml/2006/main">
            <a:r>
              <a:t>Answer guidance: Curved bands may suggest flow or a gentle movement; crossing diagonals may suggest tension or a strong structure. Require a feature from each work; interpretations may differ.</a:t>
            </a:r>
          </a:p>
          <a:p xmlns:a="http://schemas.openxmlformats.org/drawingml/2006/main">
            <a:r>
              <a:t>Answer guidance: No. The shapes may support a viewer's interpretation of tension, but do not prove the maker's emotional state or intention. A reliable account from the maker could add relevant context.</a:t>
            </a:r>
          </a:p>
          <a:p xmlns:a="http://schemas.openxmlformats.org/drawingml/2006/main">
            <a:r>
              <a:t>Answer guidance: It assumes universal taste and gives no reason. Name a relevant audience and connect the recommendation to a feature or experience.</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Arrival; 5 minutes; lesson clock 0 to 5.</a:t>
            </a:r>
          </a:p>
          <a:p xmlns:a="http://schemas.openxmlformats.org/drawingml/2006/main">
            <a:r>
              <a:t>Adult note: Display Flow and Crossing with their titles. Read the preparation descriptions if needed. Accept a point or selection as evidence of a feature; ask for the extra reason only where the selected tier asks for it. Invite four short responses. Do not require any earlier review or event attendance. The two artworks and their descriptions are supplied clues, not a test of prior learning.</a:t>
            </a:r>
          </a:p>
          <a:p xmlns:a="http://schemas.openxmlformats.org/drawingml/2006/main">
            <a:r>
              <a:t>Answer guidance: Orange.</a:t>
            </a:r>
          </a:p>
          <a:p xmlns:a="http://schemas.openxmlformats.org/drawingml/2006/main">
            <a:r>
              <a:t>Answer guidance: Straight; the strips run diagonally.</a:t>
            </a:r>
          </a:p>
          <a:p xmlns:a="http://schemas.openxmlformats.org/drawingml/2006/main">
            <a:r>
              <a:t>Answer guidance: Three bands, in Flow. 'The best art' is a judgement.</a:t>
            </a:r>
          </a:p>
          <a:p xmlns:a="http://schemas.openxmlformats.org/drawingml/2006/main">
            <a:r>
              <a:t>Answer guidance: People viewing the art.</a:t>
            </a:r>
          </a:p>
          <a:p xmlns:a="http://schemas.openxmlformats.org/drawingml/2006/main">
            <a:r>
              <a:t>Answer guidance: For example, a small orange circle above the curved bands towards the upper right. Accept another accurate, specific feature.</a:t>
            </a:r>
          </a:p>
          <a:p xmlns:a="http://schemas.openxmlformats.org/drawingml/2006/main">
            <a:r>
              <a:t>Answer guidance: Flow has curved bands; Crossing has straight diagonal strips. A difference must refer to both works.</a:t>
            </a:r>
          </a:p>
          <a:p xmlns:a="http://schemas.openxmlformats.org/drawingml/2006/main">
            <a:r>
              <a:t>Answer guidance: The cropped circle in Crossing can be checked at the right edge. Exciting is an interpretation or judgement that needs a reason.</a:t>
            </a:r>
          </a:p>
          <a:p xmlns:a="http://schemas.openxmlformats.org/drawingml/2006/main">
            <a:r>
              <a:t>Answer guidance: To explain who might value the work and why, instead of assuming everyone will respond alike.</a:t>
            </a:r>
          </a:p>
          <a:p xmlns:a="http://schemas.openxmlformats.org/drawingml/2006/main">
            <a:r>
              <a:t>Answer guidance: For example, the orange circle contrasts with the blue bands, so it could draw attention. Accept a different plausible effect supported by an accurate feature.</a:t>
            </a:r>
          </a:p>
          <a:p xmlns:a="http://schemas.openxmlformats.org/drawingml/2006/main">
            <a:r>
              <a:t>Answer guidance: Curved bands may suggest flow or a gentle movement; crossing diagonals may suggest tension or a strong structure. Require a feature from each work; interpretations may differ.</a:t>
            </a:r>
          </a:p>
          <a:p xmlns:a="http://schemas.openxmlformats.org/drawingml/2006/main">
            <a:r>
              <a:t>Answer guidance: No. The shapes may support a viewer's interpretation of tension, but do not prove the maker's emotional state or intention. A reliable account from the maker could add relevant context.</a:t>
            </a:r>
          </a:p>
          <a:p xmlns:a="http://schemas.openxmlformats.org/drawingml/2006/main">
            <a:r>
              <a:t>Answer guidance: It assumes universal taste and gives no reason. Name a relevant audience and connect the recommendation to a feature or experience.</a:t>
            </a:r>
          </a:p>
          <a:p xmlns:a="http://schemas.openxmlformats.org/drawingml/2006/main">
            <a:r>
              <a:t>Use this tier as an alternative to the other tiers. Continuation adds no teaching time.</a:t>
            </a:r>
          </a:p>
          <a:p xmlns:a="http://schemas.openxmlformats.org/drawingml/2006/main">
            <a:r>
              <a:t>1. A feature</a:t>
            </a:r>
          </a:p>
          <a:p xmlns:a="http://schemas.openxmlformats.org/drawingml/2006/main">
            <a:r>
              <a:t>Answer guidance: Orange.</a:t>
            </a:r>
          </a:p>
          <a:p xmlns:a="http://schemas.openxmlformats.org/drawingml/2006/main">
            <a:r>
              <a:t>2. A line</a:t>
            </a:r>
          </a:p>
          <a:p xmlns:a="http://schemas.openxmlformats.org/drawingml/2006/main">
            <a:r>
              <a:t>Answer guidance: Straight; the strips run diagonally.</a:t>
            </a:r>
          </a:p>
          <a:p xmlns:a="http://schemas.openxmlformats.org/drawingml/2006/main">
            <a:r>
              <a:t>3. Evidence or opinion</a:t>
            </a:r>
          </a:p>
          <a:p xmlns:a="http://schemas.openxmlformats.org/drawingml/2006/main">
            <a:r>
              <a:t>Answer guidance: Three bands, in Flow. 'The best art' is a judgement.</a:t>
            </a:r>
          </a:p>
          <a:p xmlns:a="http://schemas.openxmlformats.org/drawingml/2006/main">
            <a:r>
              <a:t>4. A listener</a:t>
            </a:r>
          </a:p>
          <a:p xmlns:a="http://schemas.openxmlformats.org/drawingml/2006/main">
            <a:r>
              <a:t>Answer guidance: People viewing the art.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Arrival; 5 minutes; lesson clock 0 to 5.</a:t>
            </a:r>
          </a:p>
          <a:p xmlns:a="http://schemas.openxmlformats.org/drawingml/2006/main">
            <a:r>
              <a:t>Adult note: Display Flow and Crossing with their titles. Read the preparation descriptions if needed. Accept a point or selection as evidence of a feature; ask for the extra reason only where the selected tier asks for it. Invite four short responses. Do not require any earlier review or event attendance. The two artworks and their descriptions are supplied clues, not a test of prior learning.</a:t>
            </a:r>
          </a:p>
          <a:p xmlns:a="http://schemas.openxmlformats.org/drawingml/2006/main">
            <a:r>
              <a:t>Answer guidance: Orange.</a:t>
            </a:r>
          </a:p>
          <a:p xmlns:a="http://schemas.openxmlformats.org/drawingml/2006/main">
            <a:r>
              <a:t>Answer guidance: Straight; the strips run diagonally.</a:t>
            </a:r>
          </a:p>
          <a:p xmlns:a="http://schemas.openxmlformats.org/drawingml/2006/main">
            <a:r>
              <a:t>Answer guidance: Three bands, in Flow. 'The best art' is a judgement.</a:t>
            </a:r>
          </a:p>
          <a:p xmlns:a="http://schemas.openxmlformats.org/drawingml/2006/main">
            <a:r>
              <a:t>Answer guidance: People viewing the art.</a:t>
            </a:r>
          </a:p>
          <a:p xmlns:a="http://schemas.openxmlformats.org/drawingml/2006/main">
            <a:r>
              <a:t>Answer guidance: For example, a small orange circle above the curved bands towards the upper right. Accept another accurate, specific feature.</a:t>
            </a:r>
          </a:p>
          <a:p xmlns:a="http://schemas.openxmlformats.org/drawingml/2006/main">
            <a:r>
              <a:t>Answer guidance: Flow has curved bands; Crossing has straight diagonal strips. A difference must refer to both works.</a:t>
            </a:r>
          </a:p>
          <a:p xmlns:a="http://schemas.openxmlformats.org/drawingml/2006/main">
            <a:r>
              <a:t>Answer guidance: The cropped circle in Crossing can be checked at the right edge. Exciting is an interpretation or judgement that needs a reason.</a:t>
            </a:r>
          </a:p>
          <a:p xmlns:a="http://schemas.openxmlformats.org/drawingml/2006/main">
            <a:r>
              <a:t>Answer guidance: To explain who might value the work and why, instead of assuming everyone will respond alike.</a:t>
            </a:r>
          </a:p>
          <a:p xmlns:a="http://schemas.openxmlformats.org/drawingml/2006/main">
            <a:r>
              <a:t>Answer guidance: For example, the orange circle contrasts with the blue bands, so it could draw attention. Accept a different plausible effect supported by an accurate feature.</a:t>
            </a:r>
          </a:p>
          <a:p xmlns:a="http://schemas.openxmlformats.org/drawingml/2006/main">
            <a:r>
              <a:t>Answer guidance: Curved bands may suggest flow or a gentle movement; crossing diagonals may suggest tension or a strong structure. Require a feature from each work; interpretations may differ.</a:t>
            </a:r>
          </a:p>
          <a:p xmlns:a="http://schemas.openxmlformats.org/drawingml/2006/main">
            <a:r>
              <a:t>Answer guidance: No. The shapes may support a viewer's interpretation of tension, but do not prove the maker's emotional state or intention. A reliable account from the maker could add relevant context.</a:t>
            </a:r>
          </a:p>
          <a:p xmlns:a="http://schemas.openxmlformats.org/drawingml/2006/main">
            <a:r>
              <a:t>Answer guidance: It assumes universal taste and gives no reason. Name a relevant audience and connect the recommendation to a feature or experience.</a:t>
            </a:r>
          </a:p>
          <a:p xmlns:a="http://schemas.openxmlformats.org/drawingml/2006/main">
            <a:r>
              <a:t>Use this tier as an alternative to the other tiers. Continuation adds no teaching time.</a:t>
            </a:r>
          </a:p>
          <a:p xmlns:a="http://schemas.openxmlformats.org/drawingml/2006/main">
            <a:r>
              <a:t>1. A feature</a:t>
            </a:r>
          </a:p>
          <a:p xmlns:a="http://schemas.openxmlformats.org/drawingml/2006/main">
            <a:r>
              <a:t>Answer guidance: For example, a small orange circle above the curved bands towards the upper right. Accept another accurate, specific feature.</a:t>
            </a:r>
          </a:p>
          <a:p xmlns:a="http://schemas.openxmlformats.org/drawingml/2006/main">
            <a:r>
              <a:t>2. A comparison</a:t>
            </a:r>
          </a:p>
          <a:p xmlns:a="http://schemas.openxmlformats.org/drawingml/2006/main">
            <a:r>
              <a:t>Answer guidance: Flow has curved bands; Crossing has straight diagonal strips. A difference must refer to both works.</a:t>
            </a:r>
          </a:p>
          <a:p xmlns:a="http://schemas.openxmlformats.org/drawingml/2006/main">
            <a:r>
              <a:t>3. Evidence or opinion</a:t>
            </a:r>
          </a:p>
          <a:p xmlns:a="http://schemas.openxmlformats.org/drawingml/2006/main">
            <a:r>
              <a:t>Answer guidance: The cropped circle in Crossing can be checked at the right edge. Exciting is an interpretation or judgement that needs a reason.</a:t>
            </a:r>
          </a:p>
          <a:p xmlns:a="http://schemas.openxmlformats.org/drawingml/2006/main">
            <a:r>
              <a:t>4. A listener</a:t>
            </a:r>
          </a:p>
          <a:p xmlns:a="http://schemas.openxmlformats.org/drawingml/2006/main">
            <a:r>
              <a:t>Answer guidance: To explain who might value the work and why, instead of assuming everyone will respond alike.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Arrival; 5 minutes; lesson clock 0 to 5.</a:t>
            </a:r>
          </a:p>
          <a:p xmlns:a="http://schemas.openxmlformats.org/drawingml/2006/main">
            <a:r>
              <a:t>Adult note: Display Flow and Crossing with their titles. Read the preparation descriptions if needed. Accept a point or selection as evidence of a feature; ask for the extra reason only where the selected tier asks for it. Invite four short responses. Do not require any earlier review or event attendance. The two artworks and their descriptions are supplied clues, not a test of prior learning.</a:t>
            </a:r>
          </a:p>
          <a:p xmlns:a="http://schemas.openxmlformats.org/drawingml/2006/main">
            <a:r>
              <a:t>Answer guidance: Orange.</a:t>
            </a:r>
          </a:p>
          <a:p xmlns:a="http://schemas.openxmlformats.org/drawingml/2006/main">
            <a:r>
              <a:t>Answer guidance: Straight; the strips run diagonally.</a:t>
            </a:r>
          </a:p>
          <a:p xmlns:a="http://schemas.openxmlformats.org/drawingml/2006/main">
            <a:r>
              <a:t>Answer guidance: Three bands, in Flow. 'The best art' is a judgement.</a:t>
            </a:r>
          </a:p>
          <a:p xmlns:a="http://schemas.openxmlformats.org/drawingml/2006/main">
            <a:r>
              <a:t>Answer guidance: People viewing the art.</a:t>
            </a:r>
          </a:p>
          <a:p xmlns:a="http://schemas.openxmlformats.org/drawingml/2006/main">
            <a:r>
              <a:t>Answer guidance: For example, a small orange circle above the curved bands towards the upper right. Accept another accurate, specific feature.</a:t>
            </a:r>
          </a:p>
          <a:p xmlns:a="http://schemas.openxmlformats.org/drawingml/2006/main">
            <a:r>
              <a:t>Answer guidance: Flow has curved bands; Crossing has straight diagonal strips. A difference must refer to both works.</a:t>
            </a:r>
          </a:p>
          <a:p xmlns:a="http://schemas.openxmlformats.org/drawingml/2006/main">
            <a:r>
              <a:t>Answer guidance: The cropped circle in Crossing can be checked at the right edge. Exciting is an interpretation or judgement that needs a reason.</a:t>
            </a:r>
          </a:p>
          <a:p xmlns:a="http://schemas.openxmlformats.org/drawingml/2006/main">
            <a:r>
              <a:t>Answer guidance: To explain who might value the work and why, instead of assuming everyone will respond alike.</a:t>
            </a:r>
          </a:p>
          <a:p xmlns:a="http://schemas.openxmlformats.org/drawingml/2006/main">
            <a:r>
              <a:t>Answer guidance: For example, the orange circle contrasts with the blue bands, so it could draw attention. Accept a different plausible effect supported by an accurate feature.</a:t>
            </a:r>
          </a:p>
          <a:p xmlns:a="http://schemas.openxmlformats.org/drawingml/2006/main">
            <a:r>
              <a:t>Answer guidance: Curved bands may suggest flow or a gentle movement; crossing diagonals may suggest tension or a strong structure. Require a feature from each work; interpretations may differ.</a:t>
            </a:r>
          </a:p>
          <a:p xmlns:a="http://schemas.openxmlformats.org/drawingml/2006/main">
            <a:r>
              <a:t>Answer guidance: No. The shapes may support a viewer's interpretation of tension, but do not prove the maker's emotional state or intention. A reliable account from the maker could add relevant context.</a:t>
            </a:r>
          </a:p>
          <a:p xmlns:a="http://schemas.openxmlformats.org/drawingml/2006/main">
            <a:r>
              <a:t>Answer guidance: It assumes universal taste and gives no reason. Name a relevant audience and connect the recommendation to a feature or experience.</a:t>
            </a:r>
          </a:p>
          <a:p xmlns:a="http://schemas.openxmlformats.org/drawingml/2006/main">
            <a:r>
              <a:t>Use this tier as an alternative to the other tiers. Continuation adds no teaching time.</a:t>
            </a:r>
          </a:p>
          <a:p xmlns:a="http://schemas.openxmlformats.org/drawingml/2006/main">
            <a:r>
              <a:t>1. A feature</a:t>
            </a:r>
          </a:p>
          <a:p xmlns:a="http://schemas.openxmlformats.org/drawingml/2006/main">
            <a:r>
              <a:t>Answer guidance: For example, the orange circle contrasts with the blue bands, so it could draw attention. Accept a different plausible effect supported by an accurate feature.</a:t>
            </a:r>
          </a:p>
          <a:p xmlns:a="http://schemas.openxmlformats.org/drawingml/2006/main">
            <a:r>
              <a:t>2. A comparison</a:t>
            </a:r>
          </a:p>
          <a:p xmlns:a="http://schemas.openxmlformats.org/drawingml/2006/main">
            <a:r>
              <a:t>Answer guidance: Curved bands may suggest flow or a gentle movement; crossing diagonals may suggest tension or a strong structure. Require a feature from each work; interpretations may differ.</a:t>
            </a:r>
          </a:p>
          <a:p xmlns:a="http://schemas.openxmlformats.org/drawingml/2006/main">
            <a:r>
              <a:t>3. A limit</a:t>
            </a:r>
          </a:p>
          <a:p xmlns:a="http://schemas.openxmlformats.org/drawingml/2006/main">
            <a:r>
              <a:t>Answer guidance: No. The shapes may support a viewer's interpretation of tension, but do not prove the maker's emotional state or intention. A reliable account from the maker could add relevant context.</a:t>
            </a:r>
          </a:p>
          <a:p xmlns:a="http://schemas.openxmlformats.org/drawingml/2006/main">
            <a:r>
              <a:t>4. A listener</a:t>
            </a:r>
          </a:p>
          <a:p xmlns:a="http://schemas.openxmlformats.org/drawingml/2006/main">
            <a:r>
              <a:t>Answer guidance: It assumes universal taste and gives no reason. Name a relevant audience and connect the recommendation to a feature or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Starter; 3 minutes; lesson clock 5 to 8.</a:t>
            </a:r>
          </a:p>
          <a:p xmlns:a="http://schemas.openxmlformats.org/drawingml/2006/main">
            <a:r>
              <a:t>Adult note: Read both once. All pupils decide privately before anyone shares. A pupil may pass or ask for the choices again. The adult points only where the pupil directs, without locating the evidence for them.</a:t>
            </a:r>
          </a:p>
          <a:p xmlns:a="http://schemas.openxmlformats.org/drawingml/2006/main">
            <a:r>
              <a:t>Answer guidance: B names the circle and bands and links their contrasting colours to the reviewer's attention. A is a possible opinion, but it supplies no evidence and assumes that all viewers agree. A confident voice alone does not strengthen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Starter; 3 minutes; lesson clock 5 to 8.</a:t>
            </a:r>
          </a:p>
          <a:p xmlns:a="http://schemas.openxmlformats.org/drawingml/2006/main">
            <a:r>
              <a:t>Adult note: Read both once. All pupils decide privately before anyone shares. A pupil may pass or ask for the choices again. The adult points only where the pupil directs, without locating the evidence for them.</a:t>
            </a:r>
          </a:p>
          <a:p xmlns:a="http://schemas.openxmlformats.org/drawingml/2006/main">
            <a:r>
              <a:t>Answer guidance: B names the circle and bands and links their contrasting colours to the reviewer's attention. A is a possible opinion, but it supplies no evidence and assumes that all viewers agree. A confident voice alone does not strengthen evidence.</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8 to 10.</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8 to 10.</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10 to 12.</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10 to 12.</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12 to 14.</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a:p xmlns:a="http://schemas.openxmlformats.org/drawingml/2006/main">
            <a:r>
              <a:t>Picture description: An arrow points to one orange circle, showing a feature that can be identified.</a:t>
            </a:r>
          </a:p>
          <a:p xmlns:a="http://schemas.openxmlformats.org/drawingml/2006/main">
            <a:r>
              <a:t>Picture description: Three blue bands can be counted beside the statement three bands.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I do; 2 minutes; lesson clock 12 to 14.</a:t>
            </a:r>
          </a:p>
          <a:p xmlns:a="http://schemas.openxmlformats.org/drawingml/2006/main">
            <a:r>
              <a:t>Adult note: Model a short practice review using the visible Flow image. Point as you speak. Allow a quiet check after each step. Pupils can point, speak, sign, use symbols, draw or write to signal agreement, a question or a different reading; they may pass. Do not require them to copy the model.</a:t>
            </a:r>
          </a:p>
          <a:p xmlns:a="http://schemas.openxmlformats.org/drawingml/2006/main">
            <a:r>
              <a:t>Adult note: Explain contrast here as a noticeable difference. The feature is visible; calm is one reading, not an agreed fact about the work.</a:t>
            </a:r>
          </a:p>
          <a:p xmlns:a="http://schemas.openxmlformats.org/drawingml/2006/main">
            <a:r>
              <a:t>Adult note: A fair review need not invent a bad point. It can acknowledge another reading, an audience need or a real limit in the evidence.</a:t>
            </a:r>
          </a:p>
          <a:p xmlns:a="http://schemas.openxmlformats.org/drawingml/2006/main">
            <a:r>
              <a:t>Picture description: Two outlined comment cards show that one work can have more than one reading.</a:t>
            </a:r>
          </a:p>
          <a:p xmlns:a="http://schemas.openxmlformats.org/drawingml/2006/main">
            <a:r>
              <a:t>Picture description: Two simple viewer symbols face a small picture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We do; 4 minutes; lesson clock 14 to 18.</a:t>
            </a:r>
          </a:p>
          <a:p xmlns:a="http://schemas.openxmlformats.org/drawingml/2006/main">
            <a:r>
              <a:t>Adult note: Give each pupil the four category choices or symbols. For each card, read it, allow a private decision, then invite every pupil to show a category together. No cold calling; pass is allowed. A volunteer or adult moves the shared card only after these decisions. A sentence can serve more than one purpose; accept a reasoned classification while naming its main job here.</a:t>
            </a:r>
          </a:p>
          <a:p xmlns:a="http://schemas.openxmlformats.org/drawingml/2006/main">
            <a:r>
              <a:t>Reserved guided-example space: [Leave space here for one category choice and one pointed, drawn, selected or written evidence detail.]</a:t>
            </a:r>
          </a:p>
          <a:p xmlns:a="http://schemas.openxmlformats.org/drawingml/2006/main">
            <a:r>
              <a:t>Answer guidance: Feature. The pale gaps can be located directly. Model one check against the image, then return the next choice to pupils.</a:t>
            </a:r>
          </a:p>
          <a:p xmlns:a="http://schemas.openxmlformats.org/drawingml/2006/main">
            <a:r>
              <a:t>Answer guidance: 1 Feature; 2 Interpretation; 3 Recommendation, supported by a feature; 4 Unsupported claim. A valid repair is 'Crossing feels tense to me because the dark strips cross in different directions.' A pupil may prefer 'structured' or another interpretation with visible support. Do not judge pupils' taste or demand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We do; 4 minutes; lesson clock 14 to 18.</a:t>
            </a:r>
          </a:p>
          <a:p xmlns:a="http://schemas.openxmlformats.org/drawingml/2006/main">
            <a:r>
              <a:t>Adult note: Give each pupil the four category choices or symbols. For each card, read it, allow a private decision, then invite every pupil to show a category together. No cold calling; pass is allowed. A volunteer or adult moves the shared card only after these decisions. A sentence can serve more than one purpose; accept a reasoned classification while naming its main job here.</a:t>
            </a:r>
          </a:p>
          <a:p xmlns:a="http://schemas.openxmlformats.org/drawingml/2006/main">
            <a:r>
              <a:t>Reserved guided-example space: [Leave space here for one category choice and one pointed, drawn, selected or written evidence detail.]</a:t>
            </a:r>
          </a:p>
          <a:p xmlns:a="http://schemas.openxmlformats.org/drawingml/2006/main">
            <a:r>
              <a:t>Answer guidance: Feature. The pale gaps can be located directly. Model one check against the image, then return the next choice to pupils.</a:t>
            </a:r>
          </a:p>
          <a:p xmlns:a="http://schemas.openxmlformats.org/drawingml/2006/main">
            <a:r>
              <a:t>Answer guidance: 1 Feature; 2 Interpretation; 3 Recommendation, supported by a feature; 4 Unsupported claim. A valid repair is 'Crossing feels tense to me because the dark strips cross in different directions.' A pupil may prefer 'structured' or another interpretation with visible support. Do not judge pupils' taste or demand agreement.</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We do; 4 minutes; lesson clock 18 to 22.</a:t>
            </a:r>
          </a:p>
          <a:p xmlns:a="http://schemas.openxmlformats.org/drawingml/2006/main">
            <a:r>
              <a:t>Adult note: Give each pupil the four category choices or symbols. For each card, read it, allow a private decision, then invite every pupil to show a category together. No cold calling; pass is allowed. A volunteer or adult moves the shared card only after these decisions. A sentence can serve more than one purpose; accept a reasoned classification while naming its main job here.</a:t>
            </a:r>
          </a:p>
          <a:p xmlns:a="http://schemas.openxmlformats.org/drawingml/2006/main">
            <a:r>
              <a:t>Reserved guided-example space: [Leave space here for one category choice and one pointed, drawn, selected or written evidence detail.]</a:t>
            </a:r>
          </a:p>
          <a:p xmlns:a="http://schemas.openxmlformats.org/drawingml/2006/main">
            <a:r>
              <a:t>Answer guidance: Feature. The pale gaps can be located directly. Model one check against the image, then return the next choice to pupils.</a:t>
            </a:r>
          </a:p>
          <a:p xmlns:a="http://schemas.openxmlformats.org/drawingml/2006/main">
            <a:r>
              <a:t>Answer guidance: 1 Feature; 2 Interpretation; 3 Recommendation, supported by a feature; 4 Unsupported claim. A valid repair is 'Crossing feels tense to me because the dark strips cross in different directions.' A pupil may prefer 'structured' or another interpretation with visible support. Do not judge pupils' taste or demand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We do; 4 minutes; lesson clock 18 to 22.</a:t>
            </a:r>
          </a:p>
          <a:p xmlns:a="http://schemas.openxmlformats.org/drawingml/2006/main">
            <a:r>
              <a:t>Adult note: Give each pupil the four category choices or symbols. For each card, read it, allow a private decision, then invite every pupil to show a category together. No cold calling; pass is allowed. A volunteer or adult moves the shared card only after these decisions. A sentence can serve more than one purpose; accept a reasoned classification while naming its main job here.</a:t>
            </a:r>
          </a:p>
          <a:p xmlns:a="http://schemas.openxmlformats.org/drawingml/2006/main">
            <a:r>
              <a:t>Reserved guided-example space: [Leave space here for one category choice and one pointed, drawn, selected or written evidence detail.]</a:t>
            </a:r>
          </a:p>
          <a:p xmlns:a="http://schemas.openxmlformats.org/drawingml/2006/main">
            <a:r>
              <a:t>Answer guidance: Feature. The pale gaps can be located directly. Model one check against the image, then return the next choice to pupils.</a:t>
            </a:r>
          </a:p>
          <a:p xmlns:a="http://schemas.openxmlformats.org/drawingml/2006/main">
            <a:r>
              <a:t>Answer guidance: 1 Feature; 2 Interpretation; 3 Recommendation, supported by a feature; 4 Unsupported claim. A valid repair is 'Crossing feels tense to me because the dark strips cross in different directions.' A pupil may prefer 'structured' or another interpretation with visible support. Do not judge pupils' taste or demand agreement.</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You do; 15 minutes; lesson clock 22 to 37.</a:t>
            </a:r>
          </a:p>
          <a:p xmlns:a="http://schemas.openxmlformats.org/drawingml/2006/main">
            <a:r>
              <a:t>Adult note: All work here is CLASSROOM PRACTICE, using the fully specified mini-gallery. Allow two minutes to select evidence, nine to compose, two to check a claim and two to review it with an adult. These are inside the stage, not extra stages. Keep both works visible. A private spoken, signed, symbol or drawn review can carry the same reasoning as a written one; the adult records only the pupil's own meaning. No electronic recording is required.</a:t>
            </a:r>
          </a:p>
          <a:p xmlns:a="http://schemas.openxmlformats.org/drawingml/2006/main">
            <a:r>
              <a:t>Adult note: The listener names back one judgement and its evidence. The pupil confirms or corrects that account, then chooses one small revision or explains why the evidence already supports the claim. Mark an actual self-edit // where useful. A next-step response must be genuine, not an automatic completion tick. Give a brief written note against the review criteria (two accurate features, a supported judgement, a qualification, an audience reason) and name the improvement. The pupil upgrades the checked claim in green pen (or by the same response mode). If a longer written review is made, its response is deferred to the first 10 to 15 minutes of the next lesson.</a:t>
            </a:r>
          </a:p>
          <a:p xmlns:a="http://schemas.openxmlformats.org/drawingml/2006/main">
            <a:r>
              <a:t>Staff mark actual support I, S or C (Independent, Supported or Choice); record support accurately for Aspire too.</a:t>
            </a:r>
          </a:p>
          <a:p xmlns:a="http://schemas.openxmlformats.org/drawingml/2006/main">
            <a:r>
              <a:t>Answer guidance: Look for two accurate features, a supported judgement, a plausible qualification and an audience reason. For example, a review of Crossing may link its overlapping diagonal strips and cropped circle to movement, acknowledge that another viewer sees a stable structure, and recommend it to viewers interested in abstract composition. An equally supported different judgement is valid. Do not accept a definite claim about the maker's mental state without evidence. Record the pupil's checked meaning, not copied model wording.</a:t>
            </a:r>
          </a:p>
          <a:p xmlns:a="http://schemas.openxmlformats.org/drawingml/2006/main">
            <a:r>
              <a:t>Answer guidance: Flow's fitting cues are curved bands and small orange circle; Crossing's are overlapping diagonal strips and cropped white circle. Effects have no fixed answer: require a plausible link to the selected visible detail. Abstract-image viewers are a directly justified audience for these examples; another recommendation may be accepted if the pupil explains the fit or limitation honestly. 'Another viewer might see the straight strips as a strong structure' is one valid qualification. The pupil retains ownership of the review when assisted with recording.</a:t>
            </a:r>
          </a:p>
          <a:p xmlns:a="http://schemas.openxmlformats.org/drawingml/2006/main">
            <a:r>
              <a:t>Answer guidance: Curved blue bands match Flow; overlapping dark diagonal strips match Crossing. Accept a reasoned effect rather than prescribing taste. 'This is my reading' correctly qualifies the interpretation. An audience choice needs a reason: these works offer abstract forms rather than a lifelike portrait. A card choice alone is not a complete review; invite the feature-to-effect link and audience reason in any mode, with the option to pass. Keep the original choice and note any adult scaffold.</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Answer guidance: Accept an evidence-led comparison, not a prescribed favourite. A strong response could compare the repeated curves and pale spaces in Flow with Crossing's overlapping diagonals, evaluate movement versus structure as readings of Crossing, and explain that a larger image or reliable context from the maker might alter its judgement. The recommendation must explain audience fit. Require a fair account of the competing view; inventing a fault or claiming universal taste does not meet the aim. A signed, annotated or scribed review can show the same reasoning.</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Exit; 3 minutes; lesson clock 37 to 40.</a:t>
            </a:r>
          </a:p>
          <a:p xmlns:a="http://schemas.openxmlformats.org/drawingml/2006/main">
            <a:r>
              <a:t>Adult note: Use one tier. Keep the artworks visible. Invite three brief checks, with no cold calling and the option to pass. A pupil may point, speak, sign, use symbols, draw or write. The adult notes the reason expressed, not the length of writing. Use the review already made as the evidence; do not set a new long review.</a:t>
            </a:r>
          </a:p>
          <a:p xmlns:a="http://schemas.openxmlformats.org/drawingml/2006/main">
            <a:r>
              <a:t>Answer guidance: Accept any accurately located feature in the chosen work, consistent with the review.</a:t>
            </a:r>
          </a:p>
          <a:p xmlns:a="http://schemas.openxmlformats.org/drawingml/2006/main">
            <a:r>
              <a:t>Answer guidance: A possible effect or interpretation; it is not a colour. It needs a feature as support.</a:t>
            </a:r>
          </a:p>
          <a:p xmlns:a="http://schemas.openxmlformats.org/drawingml/2006/main">
            <a:r>
              <a:t>Answer guidance: Accept a fitting audience and feature-based reason, such as abstract-image viewers comparing its shapes. No single audience is compulsory if the reasoning fits.</a:t>
            </a:r>
          </a:p>
          <a:p xmlns:a="http://schemas.openxmlformats.org/drawingml/2006/main">
            <a:r>
              <a:t>Answer guidance: Require an accurate feature and a clear link to the judgement, in any response mode.</a:t>
            </a:r>
          </a:p>
          <a:p xmlns:a="http://schemas.openxmlformats.org/drawingml/2006/main">
            <a:r>
              <a:t>Answer guidance: Accept a plausible alternative or real scope limit, such as reviewing only one image and not knowing the maker's intention. Do not require an invented negative comment.</a:t>
            </a:r>
          </a:p>
          <a:p xmlns:a="http://schemas.openxmlformats.org/drawingml/2006/main">
            <a:r>
              <a:t>Answer guidance: A specific audience linked to an artistic feature or experience. Unsupported 'everyone' is insufficient without qualification.</a:t>
            </a:r>
          </a:p>
          <a:p xmlns:a="http://schemas.openxmlformats.org/drawingml/2006/main">
            <a:r>
              <a:t>Answer guidance: The named feature can be located and its link to a judgement discussed; 'good' alone gives neither evidence nor a criterion.</a:t>
            </a:r>
          </a:p>
          <a:p xmlns:a="http://schemas.openxmlformats.org/drawingml/2006/main">
            <a:r>
              <a:t>Answer guidance: A supported interpretation does not establish intention. Reliable contextual evidence would be needed; even then the review should distinguish the source from the viewer's judgement.</a:t>
            </a:r>
          </a:p>
          <a:p xmlns:a="http://schemas.openxmlformats.org/drawingml/2006/main">
            <a:r>
              <a:t>Answer guidance: Accept a fair limit linked to the viewer's interest, for example that someone seeking realistic portraits may find less of that here while still valuing the colour or form. Do not assume a whole group's taste.</a:t>
            </a:r>
          </a:p>
          <a:p xmlns:a="http://schemas.openxmlformats.org/drawingml/2006/main">
            <a:r>
              <a:t>Picture description: Flow has a pale cream field. Three broad blue and teal curved bands run towards the right with clear pale gaps. A small solid orange circle sits above the bands near the upper right, without touching them.</a:t>
            </a:r>
          </a:p>
          <a:p xmlns:a="http://schemas.openxmlformats.org/drawingml/2006/main">
            <a:r>
              <a:t>Picture description: Crossing has an orange field. Three dark charcoal strips have straight edges and cross near the centre. A large white circle is at the right edge, where part of it is cut off by the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Exit; 3 minutes; lesson clock 37 to 40.</a:t>
            </a:r>
          </a:p>
          <a:p xmlns:a="http://schemas.openxmlformats.org/drawingml/2006/main">
            <a:r>
              <a:t>Adult note: Use one tier. Keep the artworks visible. Invite three brief checks, with no cold calling and the option to pass. A pupil may point, speak, sign, use symbols, draw or write. The adult notes the reason expressed, not the length of writing. Use the review already made as the evidence; do not set a new long review.</a:t>
            </a:r>
          </a:p>
          <a:p xmlns:a="http://schemas.openxmlformats.org/drawingml/2006/main">
            <a:r>
              <a:t>Answer guidance: Accept any accurately located feature in the chosen work, consistent with the review.</a:t>
            </a:r>
          </a:p>
          <a:p xmlns:a="http://schemas.openxmlformats.org/drawingml/2006/main">
            <a:r>
              <a:t>Answer guidance: A possible effect or interpretation; it is not a colour. It needs a feature as support.</a:t>
            </a:r>
          </a:p>
          <a:p xmlns:a="http://schemas.openxmlformats.org/drawingml/2006/main">
            <a:r>
              <a:t>Answer guidance: Accept a fitting audience and feature-based reason, such as abstract-image viewers comparing its shapes. No single audience is compulsory if the reasoning fits.</a:t>
            </a:r>
          </a:p>
          <a:p xmlns:a="http://schemas.openxmlformats.org/drawingml/2006/main">
            <a:r>
              <a:t>Answer guidance: Require an accurate feature and a clear link to the judgement, in any response mode.</a:t>
            </a:r>
          </a:p>
          <a:p xmlns:a="http://schemas.openxmlformats.org/drawingml/2006/main">
            <a:r>
              <a:t>Answer guidance: Accept a plausible alternative or real scope limit, such as reviewing only one image and not knowing the maker's intention. Do not require an invented negative comment.</a:t>
            </a:r>
          </a:p>
          <a:p xmlns:a="http://schemas.openxmlformats.org/drawingml/2006/main">
            <a:r>
              <a:t>Answer guidance: A specific audience linked to an artistic feature or experience. Unsupported 'everyone' is insufficient without qualification.</a:t>
            </a:r>
          </a:p>
          <a:p xmlns:a="http://schemas.openxmlformats.org/drawingml/2006/main">
            <a:r>
              <a:t>Answer guidance: The named feature can be located and its link to a judgement discussed; 'good' alone gives neither evidence nor a criterion.</a:t>
            </a:r>
          </a:p>
          <a:p xmlns:a="http://schemas.openxmlformats.org/drawingml/2006/main">
            <a:r>
              <a:t>Answer guidance: A supported interpretation does not establish intention. Reliable contextual evidence would be needed; even then the review should distinguish the source from the viewer's judgement.</a:t>
            </a:r>
          </a:p>
          <a:p xmlns:a="http://schemas.openxmlformats.org/drawingml/2006/main">
            <a:r>
              <a:t>Answer guidance: Accept a fair limit linked to the viewer's interest, for example that someone seeking realistic portraits may find less of that here while still valuing the colour or form. Do not assume a whole group's taste.</a:t>
            </a:r>
          </a:p>
          <a:p xmlns:a="http://schemas.openxmlformats.org/drawingml/2006/main">
            <a:r>
              <a:t>Use this tier as an alternative to the other tiers. Continuation adds no teaching time.</a:t>
            </a:r>
          </a:p>
          <a:p xmlns:a="http://schemas.openxmlformats.org/drawingml/2006/main">
            <a:r>
              <a:t>1. Feature</a:t>
            </a:r>
          </a:p>
          <a:p xmlns:a="http://schemas.openxmlformats.org/drawingml/2006/main">
            <a:r>
              <a:t>Answer guidance: Accept any accurately located feature in the chosen work, consistent with the review.</a:t>
            </a:r>
          </a:p>
          <a:p xmlns:a="http://schemas.openxmlformats.org/drawingml/2006/main">
            <a:r>
              <a:t>2. Judgement</a:t>
            </a:r>
          </a:p>
          <a:p xmlns:a="http://schemas.openxmlformats.org/drawingml/2006/main">
            <a:r>
              <a:t>Answer guidance: A possible effect or interpretation; it is not a colour. It needs a feature as support.</a:t>
            </a:r>
          </a:p>
          <a:p xmlns:a="http://schemas.openxmlformats.org/drawingml/2006/main">
            <a:r>
              <a:t>3. Audience</a:t>
            </a:r>
          </a:p>
          <a:p xmlns:a="http://schemas.openxmlformats.org/drawingml/2006/main">
            <a:r>
              <a:t>Answer guidance: Accept a fitting audience and feature-based reason, such as abstract-image viewers comparing its shapes. No single audience is compulsory if the reasoning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Exit; 3 minutes; lesson clock 37 to 40.</a:t>
            </a:r>
          </a:p>
          <a:p xmlns:a="http://schemas.openxmlformats.org/drawingml/2006/main">
            <a:r>
              <a:t>Adult note: Use one tier. Keep the artworks visible. Invite three brief checks, with no cold calling and the option to pass. A pupil may point, speak, sign, use symbols, draw or write. The adult notes the reason expressed, not the length of writing. Use the review already made as the evidence; do not set a new long review.</a:t>
            </a:r>
          </a:p>
          <a:p xmlns:a="http://schemas.openxmlformats.org/drawingml/2006/main">
            <a:r>
              <a:t>Answer guidance: Accept any accurately located feature in the chosen work, consistent with the review.</a:t>
            </a:r>
          </a:p>
          <a:p xmlns:a="http://schemas.openxmlformats.org/drawingml/2006/main">
            <a:r>
              <a:t>Answer guidance: A possible effect or interpretation; it is not a colour. It needs a feature as support.</a:t>
            </a:r>
          </a:p>
          <a:p xmlns:a="http://schemas.openxmlformats.org/drawingml/2006/main">
            <a:r>
              <a:t>Answer guidance: Accept a fitting audience and feature-based reason, such as abstract-image viewers comparing its shapes. No single audience is compulsory if the reasoning fits.</a:t>
            </a:r>
          </a:p>
          <a:p xmlns:a="http://schemas.openxmlformats.org/drawingml/2006/main">
            <a:r>
              <a:t>Answer guidance: Require an accurate feature and a clear link to the judgement, in any response mode.</a:t>
            </a:r>
          </a:p>
          <a:p xmlns:a="http://schemas.openxmlformats.org/drawingml/2006/main">
            <a:r>
              <a:t>Answer guidance: Accept a plausible alternative or real scope limit, such as reviewing only one image and not knowing the maker's intention. Do not require an invented negative comment.</a:t>
            </a:r>
          </a:p>
          <a:p xmlns:a="http://schemas.openxmlformats.org/drawingml/2006/main">
            <a:r>
              <a:t>Answer guidance: A specific audience linked to an artistic feature or experience. Unsupported 'everyone' is insufficient without qualification.</a:t>
            </a:r>
          </a:p>
          <a:p xmlns:a="http://schemas.openxmlformats.org/drawingml/2006/main">
            <a:r>
              <a:t>Answer guidance: The named feature can be located and its link to a judgement discussed; 'good' alone gives neither evidence nor a criterion.</a:t>
            </a:r>
          </a:p>
          <a:p xmlns:a="http://schemas.openxmlformats.org/drawingml/2006/main">
            <a:r>
              <a:t>Answer guidance: A supported interpretation does not establish intention. Reliable contextual evidence would be needed; even then the review should distinguish the source from the viewer's judgement.</a:t>
            </a:r>
          </a:p>
          <a:p xmlns:a="http://schemas.openxmlformats.org/drawingml/2006/main">
            <a:r>
              <a:t>Answer guidance: Accept a fair limit linked to the viewer's interest, for example that someone seeking realistic portraits may find less of that here while still valuing the colour or form. Do not assume a whole group's taste.</a:t>
            </a:r>
          </a:p>
          <a:p xmlns:a="http://schemas.openxmlformats.org/drawingml/2006/main">
            <a:r>
              <a:t>Use this tier as an alternative to the other tiers. Continuation adds no teaching time.</a:t>
            </a:r>
          </a:p>
          <a:p xmlns:a="http://schemas.openxmlformats.org/drawingml/2006/main">
            <a:r>
              <a:t>1. Evidence</a:t>
            </a:r>
          </a:p>
          <a:p xmlns:a="http://schemas.openxmlformats.org/drawingml/2006/main">
            <a:r>
              <a:t>Answer guidance: Require an accurate feature and a clear link to the judgement, in any response mode.</a:t>
            </a:r>
          </a:p>
          <a:p xmlns:a="http://schemas.openxmlformats.org/drawingml/2006/main">
            <a:r>
              <a:t>2. Qualification</a:t>
            </a:r>
          </a:p>
          <a:p xmlns:a="http://schemas.openxmlformats.org/drawingml/2006/main">
            <a:r>
              <a:t>Answer guidance: Accept a plausible alternative or real scope limit, such as reviewing only one image and not knowing the maker's intention. Do not require an invented negative comment.</a:t>
            </a:r>
          </a:p>
          <a:p xmlns:a="http://schemas.openxmlformats.org/drawingml/2006/main">
            <a:r>
              <a:t>3. Audience</a:t>
            </a:r>
          </a:p>
          <a:p xmlns:a="http://schemas.openxmlformats.org/drawingml/2006/main">
            <a:r>
              <a:t>Answer guidance: A specific audience linked to an artistic feature or experience. Unsupported 'everyone' is insufficient without qualification.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ART-LAUNCH-A2-W01</a:t>
            </a:r>
          </a:p>
          <a:p xmlns:a="http://schemas.openxmlformats.org/drawingml/2006/main">
            <a:r>
              <a:t>Stage: Exit; 3 minutes; lesson clock 37 to 40.</a:t>
            </a:r>
          </a:p>
          <a:p xmlns:a="http://schemas.openxmlformats.org/drawingml/2006/main">
            <a:r>
              <a:t>Adult note: Use one tier. Keep the artworks visible. Invite three brief checks, with no cold calling and the option to pass. A pupil may point, speak, sign, use symbols, draw or write. The adult notes the reason expressed, not the length of writing. Use the review already made as the evidence; do not set a new long review.</a:t>
            </a:r>
          </a:p>
          <a:p xmlns:a="http://schemas.openxmlformats.org/drawingml/2006/main">
            <a:r>
              <a:t>Answer guidance: Accept any accurately located feature in the chosen work, consistent with the review.</a:t>
            </a:r>
          </a:p>
          <a:p xmlns:a="http://schemas.openxmlformats.org/drawingml/2006/main">
            <a:r>
              <a:t>Answer guidance: A possible effect or interpretation; it is not a colour. It needs a feature as support.</a:t>
            </a:r>
          </a:p>
          <a:p xmlns:a="http://schemas.openxmlformats.org/drawingml/2006/main">
            <a:r>
              <a:t>Answer guidance: Accept a fitting audience and feature-based reason, such as abstract-image viewers comparing its shapes. No single audience is compulsory if the reasoning fits.</a:t>
            </a:r>
          </a:p>
          <a:p xmlns:a="http://schemas.openxmlformats.org/drawingml/2006/main">
            <a:r>
              <a:t>Answer guidance: Require an accurate feature and a clear link to the judgement, in any response mode.</a:t>
            </a:r>
          </a:p>
          <a:p xmlns:a="http://schemas.openxmlformats.org/drawingml/2006/main">
            <a:r>
              <a:t>Answer guidance: Accept a plausible alternative or real scope limit, such as reviewing only one image and not knowing the maker's intention. Do not require an invented negative comment.</a:t>
            </a:r>
          </a:p>
          <a:p xmlns:a="http://schemas.openxmlformats.org/drawingml/2006/main">
            <a:r>
              <a:t>Answer guidance: A specific audience linked to an artistic feature or experience. Unsupported 'everyone' is insufficient without qualification.</a:t>
            </a:r>
          </a:p>
          <a:p xmlns:a="http://schemas.openxmlformats.org/drawingml/2006/main">
            <a:r>
              <a:t>Answer guidance: The named feature can be located and its link to a judgement discussed; 'good' alone gives neither evidence nor a criterion.</a:t>
            </a:r>
          </a:p>
          <a:p xmlns:a="http://schemas.openxmlformats.org/drawingml/2006/main">
            <a:r>
              <a:t>Answer guidance: A supported interpretation does not establish intention. Reliable contextual evidence would be needed; even then the review should distinguish the source from the viewer's judgement.</a:t>
            </a:r>
          </a:p>
          <a:p xmlns:a="http://schemas.openxmlformats.org/drawingml/2006/main">
            <a:r>
              <a:t>Answer guidance: Accept a fair limit linked to the viewer's interest, for example that someone seeking realistic portraits may find less of that here while still valuing the colour or form. Do not assume a whole group's taste.</a:t>
            </a:r>
          </a:p>
          <a:p xmlns:a="http://schemas.openxmlformats.org/drawingml/2006/main">
            <a:r>
              <a:t>Use this tier as an alternative to the other tiers. Continuation adds no teaching time.</a:t>
            </a:r>
          </a:p>
          <a:p xmlns:a="http://schemas.openxmlformats.org/drawingml/2006/main">
            <a:r>
              <a:t>1. Evidence</a:t>
            </a:r>
          </a:p>
          <a:p xmlns:a="http://schemas.openxmlformats.org/drawingml/2006/main">
            <a:r>
              <a:t>Answer guidance: The named feature can be located and its link to a judgement discussed; 'good' alone gives neither evidence nor a criterion.</a:t>
            </a:r>
          </a:p>
          <a:p xmlns:a="http://schemas.openxmlformats.org/drawingml/2006/main">
            <a:r>
              <a:t>2. Qualification</a:t>
            </a:r>
          </a:p>
          <a:p xmlns:a="http://schemas.openxmlformats.org/drawingml/2006/main">
            <a:r>
              <a:t>Answer guidance: A supported interpretation does not establish intention. Reliable contextual evidence would be needed; even then the review should distinguish the source from the viewer's judgement.</a:t>
            </a:r>
          </a:p>
          <a:p xmlns:a="http://schemas.openxmlformats.org/drawingml/2006/main">
            <a:r>
              <a:t>3. Audience</a:t>
            </a:r>
          </a:p>
          <a:p xmlns:a="http://schemas.openxmlformats.org/drawingml/2006/main">
            <a:r>
              <a:t>Answer guidance: Accept a fair limit linked to the viewer's interest, for example that someone seeking realistic portraits may find less of that here while still valuing the colour or form. Do not assume a whole group's taste.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1f0c2f2df934f88"/></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038a185ac1b546b3"/></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7c845b1771254107"/></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53f869e62f054841"/></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f9fd980293ff48a1"/></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a54b35caf8274a0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3b32a746e954b82"/><Relationship Type="http://schemas.openxmlformats.org/officeDocument/2006/relationships/slideLayout" Target="/ppt/slideLayouts/slideLayout1.xml" Id="R0e1b594aef22406b"/><Relationship Type="http://schemas.openxmlformats.org/officeDocument/2006/relationships/slideLayout" Target="/ppt/slideLayouts/slideLayout2.xml" Id="Re1e7fa6c0e2e4026"/><Relationship Type="http://schemas.openxmlformats.org/officeDocument/2006/relationships/slideLayout" Target="/ppt/slideLayouts/slideLayout3.xml" Id="R24dd381d812f41e3"/><Relationship Type="http://schemas.openxmlformats.org/officeDocument/2006/relationships/slideLayout" Target="/ppt/slideLayouts/slideLayout4.xml" Id="R9b22d1ff577e4889"/><Relationship Type="http://schemas.openxmlformats.org/officeDocument/2006/relationships/slideLayout" Target="/ppt/slideLayouts/slideLayout5.xml" Id="R426ae0f9a9284091"/><Relationship Type="http://schemas.openxmlformats.org/officeDocument/2006/relationships/slideLayout" Target="/ppt/slideLayouts/slideLayout6.xml" Id="R719ed6fa7a514ab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1b594aef22406b"/>
    <p:sldLayoutId xmlns:r="http://schemas.openxmlformats.org/officeDocument/2006/relationships" id="2147483650" r:id="Re1e7fa6c0e2e4026"/>
    <p:sldLayoutId xmlns:r="http://schemas.openxmlformats.org/officeDocument/2006/relationships" id="2147483651" r:id="R24dd381d812f41e3"/>
    <p:sldLayoutId xmlns:r="http://schemas.openxmlformats.org/officeDocument/2006/relationships" id="2147483652" r:id="R9b22d1ff577e4889"/>
    <p:sldLayoutId xmlns:r="http://schemas.openxmlformats.org/officeDocument/2006/relationships" id="2147483653" r:id="R426ae0f9a9284091"/>
    <p:sldLayoutId xmlns:r="http://schemas.openxmlformats.org/officeDocument/2006/relationships" id="2147483654" r:id="R719ed6fa7a514ab8"/>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d2d28156685d4ef5"/><Relationship Type="http://schemas.openxmlformats.org/officeDocument/2006/relationships/image" Target="/ppt/media/image.jpeg" Id="R9e7c9a1590b1491f"/><Relationship Type="http://schemas.openxmlformats.org/officeDocument/2006/relationships/notesSlide" Target="/ppt/notesSlides/notesSlide1.xml" Id="Rcc4fa81debe9488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474a9420c9334b78"/><Relationship Type="http://schemas.openxmlformats.org/officeDocument/2006/relationships/image" Target="../media/image.jpeg" Id="R15f264c689254aba"/><Relationship Type="http://schemas.openxmlformats.org/officeDocument/2006/relationships/notesSlide" Target="/ppt/notesSlides/notesSlide2.xml" Id="R19c3f3c95030483e"/></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7c05f3869be74875"/><Relationship Type="http://schemas.openxmlformats.org/officeDocument/2006/relationships/image" Target="../media/image.jpeg" Id="Rd46ed452c5814e60"/><Relationship Type="http://schemas.openxmlformats.org/officeDocument/2006/relationships/notesSlide" Target="/ppt/notesSlides/notesSlide3.xml" Id="R23f5d461f0a047f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4de61a088ef34848"/><Relationship Type="http://schemas.openxmlformats.org/officeDocument/2006/relationships/image" Target="../media/image.jpeg" Id="R514f57179e97436e"/><Relationship Type="http://schemas.openxmlformats.org/officeDocument/2006/relationships/notesSlide" Target="/ppt/notesSlides/notesSlide4.xml" Id="R0a60bc949f354fa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2ffb11975f80469a"/><Relationship Type="http://schemas.openxmlformats.org/officeDocument/2006/relationships/image" Target="../media/image.jpeg" Id="R62f9e6bd9d1f4486"/><Relationship Type="http://schemas.openxmlformats.org/officeDocument/2006/relationships/notesSlide" Target="/ppt/notesSlides/notesSlide5.xml" Id="Re86e7c6ba1e34d8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cc59c4f02a2946db"/><Relationship Type="http://schemas.openxmlformats.org/officeDocument/2006/relationships/image" Target="../media/image.jpeg" Id="R40321f389aa24884"/><Relationship Type="http://schemas.openxmlformats.org/officeDocument/2006/relationships/notesSlide" Target="/ppt/notesSlides/notesSlide6.xml" Id="R1e9316a9bea542d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a0dffd07ee2743f2"/><Relationship Type="http://schemas.openxmlformats.org/officeDocument/2006/relationships/image" Target="../media/image.jpeg" Id="R1f2d444e4726447a"/><Relationship Type="http://schemas.openxmlformats.org/officeDocument/2006/relationships/notesSlide" Target="/ppt/notesSlides/notesSlide7.xml" Id="R58e2fd16f353464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f3507bd1ff1f43e1"/><Relationship Type="http://schemas.openxmlformats.org/officeDocument/2006/relationships/image" Target="../media/image.jpeg" Id="Red67c1acd20a4f1a"/><Relationship Type="http://schemas.openxmlformats.org/officeDocument/2006/relationships/notesSlide" Target="/ppt/notesSlides/notesSlide8.xml" Id="R600010e23fab4a9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9fade3ba071d43eb"/><Relationship Type="http://schemas.openxmlformats.org/officeDocument/2006/relationships/image" Target="../media/image.jpeg" Id="Rfa10a30d03cd4c5b"/><Relationship Type="http://schemas.openxmlformats.org/officeDocument/2006/relationships/notesSlide" Target="/ppt/notesSlides/notesSlide9.xml" Id="Rf23ae182a3e3441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7bf7ab87e2b947ac"/><Relationship Type="http://schemas.openxmlformats.org/officeDocument/2006/relationships/image" Target="../media/image.jpeg" Id="R8b60cfef746e432f"/><Relationship Type="http://schemas.openxmlformats.org/officeDocument/2006/relationships/notesSlide" Target="/ppt/notesSlides/notesSlide10.xml" Id="Re34950942ad54ee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616938e9b8ca459f"/><Relationship Type="http://schemas.openxmlformats.org/officeDocument/2006/relationships/image" Target="../media/image.jpeg" Id="R5d52516008d1430b"/><Relationship Type="http://schemas.openxmlformats.org/officeDocument/2006/relationships/notesSlide" Target="/ppt/notesSlides/notesSlide11.xml" Id="R873ffaa83be14b6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f0235862eaff4e64"/><Relationship Type="http://schemas.openxmlformats.org/officeDocument/2006/relationships/image" Target="../media/image.jpeg" Id="Rba2c5e1c35254ad0"/><Relationship Type="http://schemas.openxmlformats.org/officeDocument/2006/relationships/notesSlide" Target="/ppt/notesSlides/notesSlide12.xml" Id="R0ee16f62c40c4f4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c753319cdae34b98"/><Relationship Type="http://schemas.openxmlformats.org/officeDocument/2006/relationships/image" Target="../media/image.jpeg" Id="R1d9f7dc0e4e44ee0"/><Relationship Type="http://schemas.openxmlformats.org/officeDocument/2006/relationships/notesSlide" Target="/ppt/notesSlides/notesSlide13.xml" Id="R2493d09174a24f7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5807dd24c9a7424d"/><Relationship Type="http://schemas.openxmlformats.org/officeDocument/2006/relationships/image" Target="../media/image.jpeg" Id="R87926978ed3442f4"/><Relationship Type="http://schemas.openxmlformats.org/officeDocument/2006/relationships/notesSlide" Target="/ppt/notesSlides/notesSlide14.xml" Id="R83133885b48041b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0d286ce997e846bd"/><Relationship Type="http://schemas.openxmlformats.org/officeDocument/2006/relationships/image" Target="../media/image.jpeg" Id="Rf4e85393bd634894"/><Relationship Type="http://schemas.openxmlformats.org/officeDocument/2006/relationships/notesSlide" Target="/ppt/notesSlides/notesSlide15.xml" Id="Rae1addf70315487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99877da9f2b64dce"/><Relationship Type="http://schemas.openxmlformats.org/officeDocument/2006/relationships/image" Target="../media/image.jpeg" Id="Rdea29664e0654028"/><Relationship Type="http://schemas.openxmlformats.org/officeDocument/2006/relationships/notesSlide" Target="/ppt/notesSlides/notesSlide16.xml" Id="R86a8f22cd1cb40b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c086fdb47fa04b97"/><Relationship Type="http://schemas.openxmlformats.org/officeDocument/2006/relationships/image" Target="../media/image.jpeg" Id="Raf152c6f73564268"/><Relationship Type="http://schemas.openxmlformats.org/officeDocument/2006/relationships/notesSlide" Target="/ppt/notesSlides/notesSlide17.xml" Id="Rd9bd9d4b1f5b4496"/></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dedaab3cc2b54125"/><Relationship Type="http://schemas.openxmlformats.org/officeDocument/2006/relationships/image" Target="../media/image.jpeg" Id="R1c586c812f9a4659"/><Relationship Type="http://schemas.openxmlformats.org/officeDocument/2006/relationships/notesSlide" Target="/ppt/notesSlides/notesSlide18.xml" Id="R25980c1b369648cb"/></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a8769b0c4ea94f9b"/><Relationship Type="http://schemas.openxmlformats.org/officeDocument/2006/relationships/image" Target="../media/image.jpeg" Id="R878ef310c655462b"/><Relationship Type="http://schemas.openxmlformats.org/officeDocument/2006/relationships/notesSlide" Target="/ppt/notesSlides/notesSlide19.xml" Id="Rff3555d24d6e4932"/></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a84f263a41c74396"/><Relationship Type="http://schemas.openxmlformats.org/officeDocument/2006/relationships/image" Target="../media/image.jpeg" Id="R86b9e4ef15f543e1"/><Relationship Type="http://schemas.openxmlformats.org/officeDocument/2006/relationships/notesSlide" Target="/ppt/notesSlides/notesSlide20.xml" Id="R6da1bc456f0d42b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bf9cdf6983ee4b24"/><Relationship Type="http://schemas.openxmlformats.org/officeDocument/2006/relationships/image" Target="../media/image.jpeg" Id="Re1763b74b0814881"/><Relationship Type="http://schemas.openxmlformats.org/officeDocument/2006/relationships/notesSlide" Target="/ppt/notesSlides/notesSlide21.xml" Id="Rdb613c4179df451e"/></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fc4c10ad291d4b81"/><Relationship Type="http://schemas.openxmlformats.org/officeDocument/2006/relationships/image" Target="../media/image.jpeg" Id="R8eef418ac91c4c3f"/><Relationship Type="http://schemas.openxmlformats.org/officeDocument/2006/relationships/notesSlide" Target="/ppt/notesSlides/notesSlide22.xml" Id="R5721a4c2fbaa42b3"/></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4fbf265ea07844e1"/><Relationship Type="http://schemas.openxmlformats.org/officeDocument/2006/relationships/image" Target="../media/image.jpeg" Id="R353e340d0da344bb"/><Relationship Type="http://schemas.openxmlformats.org/officeDocument/2006/relationships/notesSlide" Target="/ppt/notesSlides/notesSlide23.xml" Id="R09ed3f4c8a1e44cc"/></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92c12ceb6e114d22"/><Relationship Type="http://schemas.openxmlformats.org/officeDocument/2006/relationships/image" Target="../media/image.jpeg" Id="Rd303572a80664bb0"/><Relationship Type="http://schemas.openxmlformats.org/officeDocument/2006/relationships/notesSlide" Target="/ppt/notesSlides/notesSlide24.xml" Id="Rd67b5c003b0547b1"/></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2c588c8faefb492c"/><Relationship Type="http://schemas.openxmlformats.org/officeDocument/2006/relationships/image" Target="../media/image.jpeg" Id="Rc8df5d5dc1a147fb"/><Relationship Type="http://schemas.openxmlformats.org/officeDocument/2006/relationships/notesSlide" Target="/ppt/notesSlides/notesSlide25.xml" Id="R20681ad9e56c42d5"/></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2083135f77f45c8"/><Relationship Type="http://schemas.openxmlformats.org/officeDocument/2006/relationships/image" Target="../media/image.jpeg" Id="R1e0ad5c4b7bc4a8d"/><Relationship Type="http://schemas.openxmlformats.org/officeDocument/2006/relationships/notesSlide" Target="/ppt/notesSlides/notesSlide26.xml" Id="Ra04ebd108c9f4da2"/></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3f5a32fd90c94e14"/><Relationship Type="http://schemas.openxmlformats.org/officeDocument/2006/relationships/image" Target="../media/image.jpeg" Id="R531d19abc25c45ea"/><Relationship Type="http://schemas.openxmlformats.org/officeDocument/2006/relationships/notesSlide" Target="/ppt/notesSlides/notesSlide27.xml" Id="R6eb640c03cfe468c"/></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2facaabdac994e81"/><Relationship Type="http://schemas.openxmlformats.org/officeDocument/2006/relationships/image" Target="../media/image.jpeg" Id="Ra7ac1bd2061b4456"/><Relationship Type="http://schemas.openxmlformats.org/officeDocument/2006/relationships/notesSlide" Target="/ppt/notesSlides/notesSlide28.xml" Id="Rdcebb3ea9eb2417d"/></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0cf96ecec3e54cbf"/><Relationship Type="http://schemas.openxmlformats.org/officeDocument/2006/relationships/image" Target="../media/image.jpeg" Id="R38b563b149bb466a"/><Relationship Type="http://schemas.openxmlformats.org/officeDocument/2006/relationships/notesSlide" Target="/ppt/notesSlides/notesSlide29.xml" Id="R70884adff77a4dd7"/></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80deb62ec3ce41b7"/><Relationship Type="http://schemas.openxmlformats.org/officeDocument/2006/relationships/image" Target="../media/image.jpeg" Id="R4173d77228dc46b6"/><Relationship Type="http://schemas.openxmlformats.org/officeDocument/2006/relationships/notesSlide" Target="/ppt/notesSlides/notesSlide30.xml" Id="R43e778c89fe2485f"/></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db98c52cfb554eaf"/><Relationship Type="http://schemas.openxmlformats.org/officeDocument/2006/relationships/image" Target="../media/image.jpeg" Id="Rdf1017e054f84503"/><Relationship Type="http://schemas.openxmlformats.org/officeDocument/2006/relationships/notesSlide" Target="/ppt/notesSlides/notesSlide31.xml" Id="R676d0a41cebc4612"/></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f13c63e303154895"/><Relationship Type="http://schemas.openxmlformats.org/officeDocument/2006/relationships/image" Target="../media/image.jpeg" Id="R0aa18c267bd8473d"/><Relationship Type="http://schemas.openxmlformats.org/officeDocument/2006/relationships/notesSlide" Target="/ppt/notesSlides/notesSlide32.xml" Id="Ra382310b0e9f48de"/></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F1377AA-0CFD-4B09-BB01-E7C889216AA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20392F27-4B69-4312-89EC-0D607356458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924F3267-F099-4C68-A082-9A6A5F1669A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 review with evidence</a:t>
            </a:r>
          </a:p>
        </p:txBody>
      </p:sp>
      <p:pic>
        <p:nvPicPr>
          <p:cNvPr id="4" name="">
            <a:extLst xmlns:a="http://schemas.openxmlformats.org/drawingml/2006/main">
              <a:ext uri="{FF2B5EF4-FFF2-40B4-BE49-F238E27FC236}">
                <a16:creationId xmlns:a16="http://schemas.microsoft.com/office/drawing/2014/main" id="{FB0A7135-E9BF-48FE-9CA9-A9DB0BB02021}"/>
              </a:ext>
            </a:extLst>
          </p:cNvPr>
          <p:cNvPicPr>
            <a:picLocks xmlns:a="http://schemas.openxmlformats.org/drawingml/2006/main" noChangeAspect="1"/>
          </p:cNvPicPr>
          <p:nvPr/>
        </p:nvPicPr>
        <p:blipFill>
          <a:blip xmlns:r="http://schemas.openxmlformats.org/officeDocument/2006/relationships" xmlns:a="http://schemas.openxmlformats.org/drawingml/2006/main" r:embed="R9e7c9a1590b1491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581C852-3E78-41AF-8877-2BACEB81482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6C9B7E8-0CD1-48DF-A82E-7F52C790ADF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0721588-07FE-4B03-A4DD-9ED19AB510D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115D892-6E6A-489D-B7DB-DF649D8942C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B3004E4-E42F-455B-AA1D-692F659B40E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6DA83ED-322A-4DC4-B0FD-81CAB212386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4C2F7C1-BBA8-4EF1-9D46-62669847944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85D5E4C5-A46C-410F-B480-18A30BEA510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15000247-00B1-425D-B258-EF0D15590EBE}"/>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B6BAA8FD-6E9B-45B2-9E16-629A5B4EDE31}"/>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support an arts review with evidence and recommend it to an audience.</a:t>
            </a:r>
          </a:p>
        </p:txBody>
      </p:sp>
      <p:sp>
        <p:nvSpPr>
          <p:cNvPr id="15" name="body-2">
            <a:extLst xmlns:a="http://schemas.openxmlformats.org/drawingml/2006/main">
              <a:ext uri="{FF2B5EF4-FFF2-40B4-BE49-F238E27FC236}">
                <a16:creationId xmlns:a16="http://schemas.microsoft.com/office/drawing/2014/main" id="{9CBA2F94-85B7-4ED3-81B1-D1DE73AF79E4}"/>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8774ED4A-920D-4850-9641-B2ABC40B77E4}"/>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describe a feature I can check.</a:t>
            </a:r>
          </a:p>
        </p:txBody>
      </p:sp>
      <p:sp>
        <p:nvSpPr>
          <p:cNvPr id="17" name="body-4">
            <a:extLst xmlns:a="http://schemas.openxmlformats.org/drawingml/2006/main">
              <a:ext uri="{FF2B5EF4-FFF2-40B4-BE49-F238E27FC236}">
                <a16:creationId xmlns:a16="http://schemas.microsoft.com/office/drawing/2014/main" id="{F37D28D8-7652-4DA6-9B14-7B3EEB4284E4}"/>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explain and qualify my judgement.</a:t>
            </a:r>
          </a:p>
        </p:txBody>
      </p:sp>
      <p:sp>
        <p:nvSpPr>
          <p:cNvPr id="18" name="body-5">
            <a:extLst xmlns:a="http://schemas.openxmlformats.org/drawingml/2006/main">
              <a:ext uri="{FF2B5EF4-FFF2-40B4-BE49-F238E27FC236}">
                <a16:creationId xmlns:a16="http://schemas.microsoft.com/office/drawing/2014/main" id="{3CA52296-5102-42A1-B713-6742FCA5B8D3}"/>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recommend a work to an audience, with a reason.</a:t>
            </a:r>
          </a:p>
        </p:txBody>
      </p:sp>
      <p:sp>
        <p:nvSpPr>
          <p:cNvPr id="19" name="body-6">
            <a:extLst xmlns:a="http://schemas.openxmlformats.org/drawingml/2006/main">
              <a:ext uri="{FF2B5EF4-FFF2-40B4-BE49-F238E27FC236}">
                <a16:creationId xmlns:a16="http://schemas.microsoft.com/office/drawing/2014/main" id="{CF3542CF-C510-4192-9D72-DE7332227BA0}"/>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Must-know words: feature, evidence, interpretation, audience</a:t>
            </a:r>
          </a:p>
        </p:txBody>
      </p:sp>
      <p:sp>
        <p:nvSpPr>
          <p:cNvPr id="20" name="body-7">
            <a:extLst xmlns:a="http://schemas.openxmlformats.org/drawingml/2006/main">
              <a:ext uri="{FF2B5EF4-FFF2-40B4-BE49-F238E27FC236}">
                <a16:creationId xmlns:a16="http://schemas.microsoft.com/office/drawing/2014/main" id="{2AA5FDD0-05A6-46C9-85C8-5403E5BDE1CF}"/>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feature — a particular part of a work that you can identify.</a:t>
            </a:r>
          </a:p>
        </p:txBody>
      </p:sp>
    </p:spTree>
    <p:extLst>
      <p:ext uri="{BB962C8B-B14F-4D97-AF65-F5344CB8AC3E}">
        <p14:creationId xmlns:p14="http://schemas.microsoft.com/office/powerpoint/2010/main" val="1353666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1A6118F-1616-45F3-A6C8-BF96AD92F4C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5287881C-27D4-4D08-A85C-ADCBFF45B92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95FC531E-EE8B-4B7A-8E9E-590BA542992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 review with evidence · continued</a:t>
            </a:r>
          </a:p>
        </p:txBody>
      </p:sp>
      <p:pic>
        <p:nvPicPr>
          <p:cNvPr id="4" name="">
            <a:extLst xmlns:a="http://schemas.openxmlformats.org/drawingml/2006/main">
              <a:ext uri="{FF2B5EF4-FFF2-40B4-BE49-F238E27FC236}">
                <a16:creationId xmlns:a16="http://schemas.microsoft.com/office/drawing/2014/main" id="{BEA19630-58E9-4504-A7EC-9989677E2C94}"/>
              </a:ext>
            </a:extLst>
          </p:cNvPr>
          <p:cNvPicPr>
            <a:picLocks xmlns:a="http://schemas.openxmlformats.org/drawingml/2006/main" noChangeAspect="1"/>
          </p:cNvPicPr>
          <p:nvPr/>
        </p:nvPicPr>
        <p:blipFill>
          <a:blip xmlns:r="http://schemas.openxmlformats.org/officeDocument/2006/relationships" xmlns:a="http://schemas.openxmlformats.org/drawingml/2006/main" r:embed="R15f264c689254ab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7E6F6A7-9D2A-49EB-9138-F568D5CEE45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9558E2F-F4AA-460A-8A25-F1AAB9B534A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13777FF-B1C5-4A4D-8004-BE08D2E465B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448A5CC-0B07-4E35-B640-1A0A7D8F9C3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1C026C8-6673-454B-A90E-86F9DBDF74A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3F69775-52F6-4C33-BC04-47CEA30E1E4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6AC628E-F78E-4873-96A0-E328687CE7C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0DFA4E22-1E47-4D18-96B4-1C6B0481E43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106D4531-0032-48A7-9CEE-A2350C73708A}"/>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evidence — a detail or reliable record that supports a statement.</a:t>
            </a:r>
          </a:p>
        </p:txBody>
      </p:sp>
      <p:sp>
        <p:nvSpPr>
          <p:cNvPr id="14" name="body-1">
            <a:extLst xmlns:a="http://schemas.openxmlformats.org/drawingml/2006/main">
              <a:ext uri="{FF2B5EF4-FFF2-40B4-BE49-F238E27FC236}">
                <a16:creationId xmlns:a16="http://schemas.microsoft.com/office/drawing/2014/main" id="{C022CCA7-81B3-41D0-BC90-BF767BAA427E}"/>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interpretation — a meaning or effect you draw from the work.</a:t>
            </a:r>
          </a:p>
        </p:txBody>
      </p:sp>
      <p:sp>
        <p:nvSpPr>
          <p:cNvPr id="15" name="body-2">
            <a:extLst xmlns:a="http://schemas.openxmlformats.org/drawingml/2006/main">
              <a:ext uri="{FF2B5EF4-FFF2-40B4-BE49-F238E27FC236}">
                <a16:creationId xmlns:a16="http://schemas.microsoft.com/office/drawing/2014/main" id="{9E5DE5E6-7AEE-402B-81CF-0BA348E5F699}"/>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audience — the people who view, hear or experience the work.</a:t>
            </a:r>
          </a:p>
        </p:txBody>
      </p:sp>
      <p:sp>
        <p:nvSpPr>
          <p:cNvPr id="16" name="body-3">
            <a:extLst xmlns:a="http://schemas.openxmlformats.org/drawingml/2006/main">
              <a:ext uri="{FF2B5EF4-FFF2-40B4-BE49-F238E27FC236}">
                <a16:creationId xmlns:a16="http://schemas.microsoft.com/office/drawing/2014/main" id="{A7D526CA-9200-4D48-9718-4C7B38768825}"/>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17" name="body-4">
            <a:extLst xmlns:a="http://schemas.openxmlformats.org/drawingml/2006/main">
              <a:ext uri="{FF2B5EF4-FFF2-40B4-BE49-F238E27FC236}">
                <a16:creationId xmlns:a16="http://schemas.microsoft.com/office/drawing/2014/main" id="{F99BD9D1-437A-4439-82C5-40DC12A4FB66}"/>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a:t>
            </a:r>
          </a:p>
        </p:txBody>
      </p:sp>
    </p:spTree>
    <p:extLst>
      <p:ext uri="{BB962C8B-B14F-4D97-AF65-F5344CB8AC3E}">
        <p14:creationId xmlns:p14="http://schemas.microsoft.com/office/powerpoint/2010/main" val="2467525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B1BC146-DD7A-45CB-A85F-462DA7FAACC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A737B7DB-B26E-424C-B821-F74DDD2AD36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3A68C50D-9079-4ED8-8F5D-FA8730A31E0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pic>
        <p:nvPicPr>
          <p:cNvPr id="4" name="">
            <a:extLst xmlns:a="http://schemas.openxmlformats.org/drawingml/2006/main">
              <a:ext uri="{FF2B5EF4-FFF2-40B4-BE49-F238E27FC236}">
                <a16:creationId xmlns:a16="http://schemas.microsoft.com/office/drawing/2014/main" id="{643D30D0-C23E-47F3-99BD-0600E1327CFF}"/>
              </a:ext>
            </a:extLst>
          </p:cNvPr>
          <p:cNvPicPr>
            <a:picLocks xmlns:a="http://schemas.openxmlformats.org/drawingml/2006/main" noChangeAspect="1"/>
          </p:cNvPicPr>
          <p:nvPr/>
        </p:nvPicPr>
        <p:blipFill>
          <a:blip xmlns:r="http://schemas.openxmlformats.org/officeDocument/2006/relationships" xmlns:a="http://schemas.openxmlformats.org/drawingml/2006/main" r:embed="Rd46ed452c5814e6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B43B80D-21BD-4654-9BC1-B1FC05E337B3}"/>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5630FD7-5DD6-453F-8526-1257057B8F2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6184735-5157-431C-A5C5-53C985096A8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FA08E61-2734-4652-973C-B9D5500969B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1BB3442-149D-42CA-AC75-F01FAAFED0D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CAA5C08-3262-4904-A249-22714140DB4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D4A5279-A396-4E69-AF2C-701A0714AB3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C44A58C3-1A7F-43CA-A77C-73A10747186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65E6B24-5D23-4FAF-8CBA-BDBC7E69B0D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words, marks, annotations or selected symbols.</a:t>
            </a:r>
          </a:p>
        </p:txBody>
      </p:sp>
      <p:sp>
        <p:nvSpPr>
          <p:cNvPr id="14" name="figure-flow-0">
            <a:extLst xmlns:a="http://schemas.openxmlformats.org/drawingml/2006/main">
              <a:ext uri="{FF2B5EF4-FFF2-40B4-BE49-F238E27FC236}">
                <a16:creationId xmlns:a16="http://schemas.microsoft.com/office/drawing/2014/main" id="{B210A3B8-9229-456F-8268-BA769F9985EA}"/>
              </a:ext>
            </a:extLst>
          </p:cNvPr>
          <p:cNvSpPr>
            <a:spLocks xmlns:a="http://schemas.openxmlformats.org/drawingml/2006/main" noGrp="1"/>
          </p:cNvSpPr>
          <p:nvPr/>
        </p:nvSpPr>
        <p:spPr>
          <a:xfrm xmlns:a="http://schemas.openxmlformats.org/drawingml/2006/main">
            <a:off x="740450" y="1956670"/>
            <a:ext cx="541329"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40BFDE66-48C9-46A9-B7E0-59D27207A5D8}"/>
              </a:ext>
            </a:extLst>
          </p:cNvPr>
          <p:cNvSpPr>
            <a:spLocks xmlns:a="http://schemas.openxmlformats.org/drawingml/2006/main" noGrp="1"/>
          </p:cNvSpPr>
          <p:nvPr/>
        </p:nvSpPr>
        <p:spPr>
          <a:xfrm xmlns:a="http://schemas.openxmlformats.org/drawingml/2006/main">
            <a:off x="761405" y="2336780"/>
            <a:ext cx="4801791" cy="2640985"/>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796FDC8C-8247-43CC-8521-02FC0FBD2B05}"/>
              </a:ext>
            </a:extLst>
          </p:cNvPr>
          <p:cNvSpPr>
            <a:spLocks xmlns:a="http://schemas.openxmlformats.org/drawingml/2006/main" noGrp="1"/>
          </p:cNvSpPr>
          <p:nvPr/>
        </p:nvSpPr>
        <p:spPr>
          <a:xfrm xmlns:a="http://schemas.openxmlformats.org/drawingml/2006/main">
            <a:off x="1020701" y="2893914"/>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2C5AA03F-CA94-4589-81B6-10B102275134}"/>
              </a:ext>
            </a:extLst>
          </p:cNvPr>
          <p:cNvSpPr>
            <a:spLocks xmlns:a="http://schemas.openxmlformats.org/drawingml/2006/main" noGrp="1"/>
          </p:cNvSpPr>
          <p:nvPr/>
        </p:nvSpPr>
        <p:spPr>
          <a:xfrm xmlns:a="http://schemas.openxmlformats.org/drawingml/2006/main">
            <a:off x="1020701" y="3489336"/>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B6E47868-9435-4722-B3E9-BE489696A7E6}"/>
              </a:ext>
            </a:extLst>
          </p:cNvPr>
          <p:cNvSpPr>
            <a:spLocks xmlns:a="http://schemas.openxmlformats.org/drawingml/2006/main" noGrp="1"/>
          </p:cNvSpPr>
          <p:nvPr/>
        </p:nvSpPr>
        <p:spPr>
          <a:xfrm xmlns:a="http://schemas.openxmlformats.org/drawingml/2006/main">
            <a:off x="1020701" y="4084758"/>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D72439C4-E9A1-453B-8920-C228C7F28951}"/>
              </a:ext>
            </a:extLst>
          </p:cNvPr>
          <p:cNvSpPr>
            <a:spLocks xmlns:a="http://schemas.openxmlformats.org/drawingml/2006/main" noGrp="1"/>
          </p:cNvSpPr>
          <p:nvPr/>
        </p:nvSpPr>
        <p:spPr>
          <a:xfrm xmlns:a="http://schemas.openxmlformats.org/drawingml/2006/main">
            <a:off x="4679666" y="2500041"/>
            <a:ext cx="345729" cy="345729"/>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E9EF2E8A-8DCB-4EBE-99D4-5F1D0E43BA65}"/>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F7416689-0369-4375-BF9D-B9E32C278499}"/>
              </a:ext>
            </a:extLst>
          </p:cNvPr>
          <p:cNvSpPr>
            <a:spLocks xmlns:a="http://schemas.openxmlformats.org/drawingml/2006/main" noGrp="1"/>
          </p:cNvSpPr>
          <p:nvPr/>
        </p:nvSpPr>
        <p:spPr>
          <a:xfrm xmlns:a="http://schemas.openxmlformats.org/drawingml/2006/main">
            <a:off x="6607850" y="1956670"/>
            <a:ext cx="928914"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65F974AF-7C4D-42E5-B2C3-2DC8D9C0DA34}"/>
              </a:ext>
            </a:extLst>
          </p:cNvPr>
          <p:cNvSpPr>
            <a:spLocks xmlns:a="http://schemas.openxmlformats.org/drawingml/2006/main" noGrp="1"/>
          </p:cNvSpPr>
          <p:nvPr/>
        </p:nvSpPr>
        <p:spPr>
          <a:xfrm xmlns:a="http://schemas.openxmlformats.org/drawingml/2006/main">
            <a:off x="6628805" y="2336780"/>
            <a:ext cx="4801791" cy="2640985"/>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8741FA92-3BB5-41A9-9CB8-8808DFE185EA}"/>
              </a:ext>
            </a:extLst>
          </p:cNvPr>
          <p:cNvSpPr>
            <a:spLocks xmlns:a="http://schemas.openxmlformats.org/drawingml/2006/main" noGrp="1"/>
          </p:cNvSpPr>
          <p:nvPr/>
        </p:nvSpPr>
        <p:spPr>
          <a:xfrm xmlns:a="http://schemas.openxmlformats.org/drawingml/2006/main">
            <a:off x="7349073" y="2528852"/>
            <a:ext cx="3034732" cy="2237634"/>
          </a:xfrm>
          <a:custGeom xmlns:a="http://schemas.openxmlformats.org/drawingml/2006/main">
            <a:pathLst>
              <a:path w="3034732" h="2237634">
                <a:moveTo>
                  <a:pt x="0" y="96036"/>
                </a:moveTo>
                <a:lnTo>
                  <a:pt x="201675" y="0"/>
                </a:lnTo>
                <a:lnTo>
                  <a:pt x="3034732" y="2093581"/>
                </a:lnTo>
                <a:lnTo>
                  <a:pt x="2833056" y="2237634"/>
                </a:lnTo>
                <a:lnTo>
                  <a:pt x="0" y="96036"/>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6331C1D1-7011-4FD2-AD81-BB7134F53100}"/>
              </a:ext>
            </a:extLst>
          </p:cNvPr>
          <p:cNvSpPr>
            <a:spLocks xmlns:a="http://schemas.openxmlformats.org/drawingml/2006/main" noGrp="1"/>
          </p:cNvSpPr>
          <p:nvPr/>
        </p:nvSpPr>
        <p:spPr>
          <a:xfrm xmlns:a="http://schemas.openxmlformats.org/drawingml/2006/main">
            <a:off x="7224227" y="2567266"/>
            <a:ext cx="3217200" cy="2160806"/>
          </a:xfrm>
          <a:custGeom xmlns:a="http://schemas.openxmlformats.org/drawingml/2006/main">
            <a:pathLst>
              <a:path w="3217200" h="2160806">
                <a:moveTo>
                  <a:pt x="0" y="1959131"/>
                </a:moveTo>
                <a:lnTo>
                  <a:pt x="172864" y="2160806"/>
                </a:lnTo>
                <a:lnTo>
                  <a:pt x="3217200" y="211279"/>
                </a:lnTo>
                <a:lnTo>
                  <a:pt x="3044335" y="0"/>
                </a:lnTo>
                <a:lnTo>
                  <a:pt x="0" y="1959131"/>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9D4038B2-BA9C-484B-A44C-E5513E3B2046}"/>
              </a:ext>
            </a:extLst>
          </p:cNvPr>
          <p:cNvSpPr>
            <a:spLocks xmlns:a="http://schemas.openxmlformats.org/drawingml/2006/main" noGrp="1"/>
          </p:cNvSpPr>
          <p:nvPr/>
        </p:nvSpPr>
        <p:spPr>
          <a:xfrm xmlns:a="http://schemas.openxmlformats.org/drawingml/2006/main">
            <a:off x="8683971" y="2471230"/>
            <a:ext cx="691458" cy="2304860"/>
          </a:xfrm>
          <a:custGeom xmlns:a="http://schemas.openxmlformats.org/drawingml/2006/main">
            <a:pathLst>
              <a:path w="691458" h="2304860">
                <a:moveTo>
                  <a:pt x="0" y="48018"/>
                </a:moveTo>
                <a:lnTo>
                  <a:pt x="259297" y="0"/>
                </a:lnTo>
                <a:lnTo>
                  <a:pt x="691458" y="2256842"/>
                </a:lnTo>
                <a:lnTo>
                  <a:pt x="432161" y="2304860"/>
                </a:lnTo>
                <a:lnTo>
                  <a:pt x="0" y="48018"/>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546B8261-2AA8-46BC-A399-F342E2782A9A}"/>
              </a:ext>
            </a:extLst>
          </p:cNvPr>
          <p:cNvSpPr>
            <a:spLocks xmlns:a="http://schemas.openxmlformats.org/drawingml/2006/main" noGrp="1"/>
          </p:cNvSpPr>
          <p:nvPr/>
        </p:nvSpPr>
        <p:spPr>
          <a:xfrm xmlns:a="http://schemas.openxmlformats.org/drawingml/2006/main">
            <a:off x="10585480" y="2989824"/>
            <a:ext cx="845115" cy="1498159"/>
          </a:xfrm>
          <a:custGeom xmlns:a="http://schemas.openxmlformats.org/drawingml/2006/main">
            <a:pathLst>
              <a:path w="845115" h="1498159">
                <a:moveTo>
                  <a:pt x="845115" y="1491720"/>
                </a:moveTo>
                <a:lnTo>
                  <a:pt x="827379" y="1494055"/>
                </a:lnTo>
                <a:lnTo>
                  <a:pt x="788283" y="1497132"/>
                </a:lnTo>
                <a:lnTo>
                  <a:pt x="749079" y="1498159"/>
                </a:lnTo>
                <a:lnTo>
                  <a:pt x="709876" y="1497132"/>
                </a:lnTo>
                <a:lnTo>
                  <a:pt x="670779" y="1494055"/>
                </a:lnTo>
                <a:lnTo>
                  <a:pt x="631898" y="1488936"/>
                </a:lnTo>
                <a:lnTo>
                  <a:pt x="593337" y="1481789"/>
                </a:lnTo>
                <a:lnTo>
                  <a:pt x="555203" y="1472634"/>
                </a:lnTo>
                <a:lnTo>
                  <a:pt x="517601" y="1461496"/>
                </a:lnTo>
                <a:lnTo>
                  <a:pt x="480633" y="1448405"/>
                </a:lnTo>
                <a:lnTo>
                  <a:pt x="444401" y="1433397"/>
                </a:lnTo>
                <a:lnTo>
                  <a:pt x="409004" y="1416514"/>
                </a:lnTo>
                <a:lnTo>
                  <a:pt x="374540" y="1397801"/>
                </a:lnTo>
                <a:lnTo>
                  <a:pt x="341101" y="1377310"/>
                </a:lnTo>
                <a:lnTo>
                  <a:pt x="308782" y="1355097"/>
                </a:lnTo>
                <a:lnTo>
                  <a:pt x="277668" y="1331223"/>
                </a:lnTo>
                <a:lnTo>
                  <a:pt x="247847" y="1305754"/>
                </a:lnTo>
                <a:lnTo>
                  <a:pt x="219400" y="1278758"/>
                </a:lnTo>
                <a:lnTo>
                  <a:pt x="192405" y="1250311"/>
                </a:lnTo>
                <a:lnTo>
                  <a:pt x="166935" y="1220490"/>
                </a:lnTo>
                <a:lnTo>
                  <a:pt x="143061" y="1189377"/>
                </a:lnTo>
                <a:lnTo>
                  <a:pt x="120849" y="1157057"/>
                </a:lnTo>
                <a:lnTo>
                  <a:pt x="100358" y="1123619"/>
                </a:lnTo>
                <a:lnTo>
                  <a:pt x="81645" y="1089154"/>
                </a:lnTo>
                <a:lnTo>
                  <a:pt x="64761" y="1053757"/>
                </a:lnTo>
                <a:lnTo>
                  <a:pt x="49754" y="1017525"/>
                </a:lnTo>
                <a:lnTo>
                  <a:pt x="36663" y="980558"/>
                </a:lnTo>
                <a:lnTo>
                  <a:pt x="25524" y="942955"/>
                </a:lnTo>
                <a:lnTo>
                  <a:pt x="16369" y="904822"/>
                </a:lnTo>
                <a:lnTo>
                  <a:pt x="9222" y="866261"/>
                </a:lnTo>
                <a:lnTo>
                  <a:pt x="4104" y="827379"/>
                </a:lnTo>
                <a:lnTo>
                  <a:pt x="1027" y="788283"/>
                </a:lnTo>
                <a:lnTo>
                  <a:pt x="0" y="749079"/>
                </a:lnTo>
                <a:lnTo>
                  <a:pt x="1027" y="709876"/>
                </a:lnTo>
                <a:lnTo>
                  <a:pt x="4104" y="670779"/>
                </a:lnTo>
                <a:lnTo>
                  <a:pt x="9222" y="631898"/>
                </a:lnTo>
                <a:lnTo>
                  <a:pt x="16369" y="593337"/>
                </a:lnTo>
                <a:lnTo>
                  <a:pt x="25524" y="555203"/>
                </a:lnTo>
                <a:lnTo>
                  <a:pt x="36663" y="517601"/>
                </a:lnTo>
                <a:lnTo>
                  <a:pt x="49754" y="480633"/>
                </a:lnTo>
                <a:lnTo>
                  <a:pt x="64761" y="444401"/>
                </a:lnTo>
                <a:lnTo>
                  <a:pt x="81645" y="409004"/>
                </a:lnTo>
                <a:lnTo>
                  <a:pt x="100358" y="374540"/>
                </a:lnTo>
                <a:lnTo>
                  <a:pt x="120849" y="341101"/>
                </a:lnTo>
                <a:lnTo>
                  <a:pt x="143061" y="308782"/>
                </a:lnTo>
                <a:lnTo>
                  <a:pt x="166935" y="277668"/>
                </a:lnTo>
                <a:lnTo>
                  <a:pt x="192405" y="247847"/>
                </a:lnTo>
                <a:lnTo>
                  <a:pt x="219400" y="219400"/>
                </a:lnTo>
                <a:lnTo>
                  <a:pt x="247847" y="192405"/>
                </a:lnTo>
                <a:lnTo>
                  <a:pt x="277668" y="166935"/>
                </a:lnTo>
                <a:lnTo>
                  <a:pt x="308782" y="143061"/>
                </a:lnTo>
                <a:lnTo>
                  <a:pt x="341101" y="120849"/>
                </a:lnTo>
                <a:lnTo>
                  <a:pt x="374540" y="100358"/>
                </a:lnTo>
                <a:lnTo>
                  <a:pt x="409004" y="81645"/>
                </a:lnTo>
                <a:lnTo>
                  <a:pt x="444401" y="64761"/>
                </a:lnTo>
                <a:lnTo>
                  <a:pt x="480633" y="49754"/>
                </a:lnTo>
                <a:lnTo>
                  <a:pt x="517601" y="36663"/>
                </a:lnTo>
                <a:lnTo>
                  <a:pt x="555203" y="25524"/>
                </a:lnTo>
                <a:lnTo>
                  <a:pt x="593337" y="16369"/>
                </a:lnTo>
                <a:lnTo>
                  <a:pt x="631898" y="9222"/>
                </a:lnTo>
                <a:lnTo>
                  <a:pt x="670779" y="4104"/>
                </a:lnTo>
                <a:lnTo>
                  <a:pt x="709876" y="1027"/>
                </a:lnTo>
                <a:lnTo>
                  <a:pt x="749079" y="0"/>
                </a:lnTo>
                <a:lnTo>
                  <a:pt x="788283" y="1027"/>
                </a:lnTo>
                <a:lnTo>
                  <a:pt x="827379" y="4104"/>
                </a:lnTo>
                <a:lnTo>
                  <a:pt x="845115" y="6438"/>
                </a:lnTo>
                <a:lnTo>
                  <a:pt x="845115" y="1491720"/>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5809D766-880C-4BA1-9E97-D6A27852A5C9}"/>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1506088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88983334-B55F-4688-BAB0-250EBFFC5B5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B08ED67E-8D2A-4210-A6FC-85FA38C874E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7745D037-3C22-4700-BFB0-B5C15E4197EE}"/>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9AFE5743-4BFD-4DE1-97A9-24B416B92FF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C259F670-AAD3-4037-B398-92270E790890}"/>
              </a:ext>
            </a:extLst>
          </p:cNvPr>
          <p:cNvPicPr>
            <a:picLocks xmlns:a="http://schemas.openxmlformats.org/drawingml/2006/main" noChangeAspect="1"/>
          </p:cNvPicPr>
          <p:nvPr/>
        </p:nvPicPr>
        <p:blipFill>
          <a:blip xmlns:r="http://schemas.openxmlformats.org/officeDocument/2006/relationships" xmlns:a="http://schemas.openxmlformats.org/drawingml/2006/main" r:embed="R514f57179e97436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CB1D279-26EE-4712-B965-96527E61564F}"/>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9B58D2C-87DC-4F36-AE33-F6DE70B4FF3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231B787-D82D-46E8-BE30-9A515F2CFF9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967E0EE-27CE-4EAD-8FE5-F621FBAC4AF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9B33CA7-ED1F-433A-A12D-29382BD79FB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9A3E1EE-D482-49BE-92EC-3C8887B1915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2EE3C8E4-6A56-4BF3-9FDD-FAA91E01332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31946ED2-9435-445A-A815-0354BD95395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C31EAE7-CC85-41F8-ACC9-F7A485310E4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words, marks, annotations or selected symbols.</a:t>
            </a:r>
          </a:p>
        </p:txBody>
      </p:sp>
      <p:sp>
        <p:nvSpPr>
          <p:cNvPr id="15" name="item-1-title">
            <a:extLst xmlns:a="http://schemas.openxmlformats.org/drawingml/2006/main">
              <a:ext uri="{FF2B5EF4-FFF2-40B4-BE49-F238E27FC236}">
                <a16:creationId xmlns:a16="http://schemas.microsoft.com/office/drawing/2014/main" id="{DD8DC2B5-5012-4B22-81F2-A57C07D4A6AA}"/>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feature</a:t>
            </a:r>
          </a:p>
        </p:txBody>
      </p:sp>
      <p:sp>
        <p:nvSpPr>
          <p:cNvPr id="16" name="item-1-question">
            <a:extLst xmlns:a="http://schemas.openxmlformats.org/drawingml/2006/main">
              <a:ext uri="{FF2B5EF4-FFF2-40B4-BE49-F238E27FC236}">
                <a16:creationId xmlns:a16="http://schemas.microsoft.com/office/drawing/2014/main" id="{7AF05232-D12D-470C-BFBC-B49DA8F5243A}"/>
              </a:ext>
            </a:extLst>
          </p:cNvPr>
          <p:cNvSpPr>
            <a:spLocks xmlns:a="http://schemas.openxmlformats.org/drawingml/2006/main" noGrp="1"/>
          </p:cNvSpPr>
          <p:nvPr/>
        </p:nvSpPr>
        <p:spPr>
          <a:xfrm xmlns:a="http://schemas.openxmlformats.org/drawingml/2006/main">
            <a:off x="38100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colour is Flow's small circle: orange or blue?</a:t>
            </a:r>
          </a:p>
        </p:txBody>
      </p:sp>
      <p:sp>
        <p:nvSpPr>
          <p:cNvPr id="17" name="item-1-clue">
            <a:extLst xmlns:a="http://schemas.openxmlformats.org/drawingml/2006/main">
              <a:ext uri="{FF2B5EF4-FFF2-40B4-BE49-F238E27FC236}">
                <a16:creationId xmlns:a16="http://schemas.microsoft.com/office/drawing/2014/main" id="{4E837DEF-E65D-4F71-B81C-6C3954BA0B5F}"/>
              </a:ext>
            </a:extLst>
          </p:cNvPr>
          <p:cNvSpPr>
            <a:spLocks xmlns:a="http://schemas.openxmlformats.org/drawingml/2006/main" noGrp="1"/>
          </p:cNvSpPr>
          <p:nvPr/>
        </p:nvSpPr>
        <p:spPr>
          <a:xfrm xmlns:a="http://schemas.openxmlformats.org/drawingml/2006/main">
            <a:off x="38100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Find the small circle above the bands.</a:t>
            </a:r>
          </a:p>
        </p:txBody>
      </p:sp>
      <p:sp>
        <p:nvSpPr>
          <p:cNvPr id="18" name="item-2-title">
            <a:extLst xmlns:a="http://schemas.openxmlformats.org/drawingml/2006/main">
              <a:ext uri="{FF2B5EF4-FFF2-40B4-BE49-F238E27FC236}">
                <a16:creationId xmlns:a16="http://schemas.microsoft.com/office/drawing/2014/main" id="{9AD50617-7722-48F3-864F-6D1ABA8441BC}"/>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line</a:t>
            </a:r>
          </a:p>
        </p:txBody>
      </p:sp>
      <p:sp>
        <p:nvSpPr>
          <p:cNvPr id="19" name="item-2-question">
            <a:extLst xmlns:a="http://schemas.openxmlformats.org/drawingml/2006/main">
              <a:ext uri="{FF2B5EF4-FFF2-40B4-BE49-F238E27FC236}">
                <a16:creationId xmlns:a16="http://schemas.microsoft.com/office/drawing/2014/main" id="{4BC0293E-EF56-4809-9C10-283CD4476186}"/>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Are Crossing's dark strips curved or straight?</a:t>
            </a:r>
          </a:p>
        </p:txBody>
      </p:sp>
      <p:sp>
        <p:nvSpPr>
          <p:cNvPr id="20" name="item-2-clue">
            <a:extLst xmlns:a="http://schemas.openxmlformats.org/drawingml/2006/main">
              <a:ext uri="{FF2B5EF4-FFF2-40B4-BE49-F238E27FC236}">
                <a16:creationId xmlns:a16="http://schemas.microsoft.com/office/drawing/2014/main" id="{23738257-0C52-4F0F-A8E9-A26A0716B832}"/>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Follow one edge with your finger or point.</a:t>
            </a:r>
          </a:p>
        </p:txBody>
      </p:sp>
      <p:sp>
        <p:nvSpPr>
          <p:cNvPr id="21" name="item-3-title">
            <a:extLst xmlns:a="http://schemas.openxmlformats.org/drawingml/2006/main">
              <a:ext uri="{FF2B5EF4-FFF2-40B4-BE49-F238E27FC236}">
                <a16:creationId xmlns:a16="http://schemas.microsoft.com/office/drawing/2014/main" id="{37B3BE72-C081-43D6-BE70-39E4701593F2}"/>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Evidence or opinion</a:t>
            </a:r>
          </a:p>
        </p:txBody>
      </p:sp>
      <p:sp>
        <p:nvSpPr>
          <p:cNvPr id="22" name="item-3-question">
            <a:extLst xmlns:a="http://schemas.openxmlformats.org/drawingml/2006/main">
              <a:ext uri="{FF2B5EF4-FFF2-40B4-BE49-F238E27FC236}">
                <a16:creationId xmlns:a16="http://schemas.microsoft.com/office/drawing/2014/main" id="{6B6C3E79-93BC-45AF-8B1C-A40CAA94C95D}"/>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can you check in Flow: 'three bands' or 'the best art'?</a:t>
            </a:r>
          </a:p>
        </p:txBody>
      </p:sp>
      <p:sp>
        <p:nvSpPr>
          <p:cNvPr id="23" name="item-3-clue">
            <a:extLst xmlns:a="http://schemas.openxmlformats.org/drawingml/2006/main">
              <a:ext uri="{FF2B5EF4-FFF2-40B4-BE49-F238E27FC236}">
                <a16:creationId xmlns:a16="http://schemas.microsoft.com/office/drawing/2014/main" id="{8DBB58F7-4AD7-4E5A-A1B9-088358111755}"/>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Count what is shown.</a:t>
            </a:r>
          </a:p>
        </p:txBody>
      </p:sp>
      <p:sp>
        <p:nvSpPr>
          <p:cNvPr id="24" name="item-4-title">
            <a:extLst xmlns:a="http://schemas.openxmlformats.org/drawingml/2006/main">
              <a:ext uri="{FF2B5EF4-FFF2-40B4-BE49-F238E27FC236}">
                <a16:creationId xmlns:a16="http://schemas.microsoft.com/office/drawing/2014/main" id="{8C602138-F1E9-4945-ABF6-D3E60C601F3B}"/>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listener</a:t>
            </a:r>
          </a:p>
        </p:txBody>
      </p:sp>
      <p:sp>
        <p:nvSpPr>
          <p:cNvPr id="25" name="item-4-question">
            <a:extLst xmlns:a="http://schemas.openxmlformats.org/drawingml/2006/main">
              <a:ext uri="{FF2B5EF4-FFF2-40B4-BE49-F238E27FC236}">
                <a16:creationId xmlns:a16="http://schemas.microsoft.com/office/drawing/2014/main" id="{8D101344-4AD7-40EE-95ED-D4CD3F9945AC}"/>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Who is the audience: people viewing the art or the paint?</a:t>
            </a:r>
          </a:p>
        </p:txBody>
      </p:sp>
      <p:sp>
        <p:nvSpPr>
          <p:cNvPr id="26" name="item-4-clue">
            <a:extLst xmlns:a="http://schemas.openxmlformats.org/drawingml/2006/main">
              <a:ext uri="{FF2B5EF4-FFF2-40B4-BE49-F238E27FC236}">
                <a16:creationId xmlns:a16="http://schemas.microsoft.com/office/drawing/2014/main" id="{9E99098D-85E0-49D1-9168-70E6C8FC6016}"/>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about who receives the work.</a:t>
            </a:r>
          </a:p>
        </p:txBody>
      </p:sp>
    </p:spTree>
    <p:extLst>
      <p:ext uri="{BB962C8B-B14F-4D97-AF65-F5344CB8AC3E}">
        <p14:creationId xmlns:p14="http://schemas.microsoft.com/office/powerpoint/2010/main" val="12608714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207E88DD-5C32-4912-A5EC-CC05BF196AF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85061644-4EE7-42C8-B3BC-7CDFAE8BB6C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960CF6FB-098A-47BC-92E3-62423749EFB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9424E592-AFD0-4BE0-8433-7113B2187A2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497B7A4B-6CD1-4E4E-97D0-DE71DBE76C75}"/>
              </a:ext>
            </a:extLst>
          </p:cNvPr>
          <p:cNvPicPr>
            <a:picLocks xmlns:a="http://schemas.openxmlformats.org/drawingml/2006/main" noChangeAspect="1"/>
          </p:cNvPicPr>
          <p:nvPr/>
        </p:nvPicPr>
        <p:blipFill>
          <a:blip xmlns:r="http://schemas.openxmlformats.org/officeDocument/2006/relationships" xmlns:a="http://schemas.openxmlformats.org/drawingml/2006/main" r:embed="R62f9e6bd9d1f448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D4659E1-BA11-464A-A904-EE2722A40620}"/>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A9CED38-B0A3-455B-89AE-E58D5CE1CC1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0727342-57F2-421C-BDEB-C0460C61BA1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751C22E-F352-4E5B-8E21-A514D17A080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9E7B57D-5BD1-474B-AF7A-12D0C91F277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593D672-8710-44C8-9373-022307FE669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C86A486-60C3-49F1-B69E-647FBAC70C8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A3309C1F-93F9-44B6-B3F5-4F5BDB4D176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B5508F6F-5C04-4055-BB90-00206DAF719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words, marks, annotations or selected symbols.</a:t>
            </a:r>
          </a:p>
        </p:txBody>
      </p:sp>
      <p:sp>
        <p:nvSpPr>
          <p:cNvPr id="15" name="item-1-title">
            <a:extLst xmlns:a="http://schemas.openxmlformats.org/drawingml/2006/main">
              <a:ext uri="{FF2B5EF4-FFF2-40B4-BE49-F238E27FC236}">
                <a16:creationId xmlns:a16="http://schemas.microsoft.com/office/drawing/2014/main" id="{70FE1D8E-5B3F-4092-914D-AD367CE01EE3}"/>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feature</a:t>
            </a:r>
          </a:p>
        </p:txBody>
      </p:sp>
      <p:sp>
        <p:nvSpPr>
          <p:cNvPr id="16" name="item-1-question">
            <a:extLst xmlns:a="http://schemas.openxmlformats.org/drawingml/2006/main">
              <a:ext uri="{FF2B5EF4-FFF2-40B4-BE49-F238E27FC236}">
                <a16:creationId xmlns:a16="http://schemas.microsoft.com/office/drawing/2014/main" id="{3C7A0F1C-AF56-4896-B833-0815313E22EE}"/>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one feature of Flow precisely.</a:t>
            </a:r>
          </a:p>
        </p:txBody>
      </p:sp>
      <p:sp>
        <p:nvSpPr>
          <p:cNvPr id="17" name="item-1-clue">
            <a:extLst xmlns:a="http://schemas.openxmlformats.org/drawingml/2006/main">
              <a:ext uri="{FF2B5EF4-FFF2-40B4-BE49-F238E27FC236}">
                <a16:creationId xmlns:a16="http://schemas.microsoft.com/office/drawing/2014/main" id="{0595D092-E152-4247-B773-B78140150DF1}"/>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Name a colour, shape and position.</a:t>
            </a:r>
          </a:p>
        </p:txBody>
      </p:sp>
      <p:sp>
        <p:nvSpPr>
          <p:cNvPr id="18" name="item-2-title">
            <a:extLst xmlns:a="http://schemas.openxmlformats.org/drawingml/2006/main">
              <a:ext uri="{FF2B5EF4-FFF2-40B4-BE49-F238E27FC236}">
                <a16:creationId xmlns:a16="http://schemas.microsoft.com/office/drawing/2014/main" id="{27257BB9-566D-47A0-983D-337722F09CED}"/>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comparison</a:t>
            </a:r>
          </a:p>
        </p:txBody>
      </p:sp>
      <p:sp>
        <p:nvSpPr>
          <p:cNvPr id="19" name="item-2-question">
            <a:extLst xmlns:a="http://schemas.openxmlformats.org/drawingml/2006/main">
              <a:ext uri="{FF2B5EF4-FFF2-40B4-BE49-F238E27FC236}">
                <a16:creationId xmlns:a16="http://schemas.microsoft.com/office/drawing/2014/main" id="{716E5A86-429A-48BF-BD55-A3487D844CFF}"/>
              </a:ext>
            </a:extLst>
          </p:cNvPr>
          <p:cNvSpPr>
            <a:spLocks xmlns:a="http://schemas.openxmlformats.org/drawingml/2006/main" noGrp="1"/>
          </p:cNvSpPr>
          <p:nvPr/>
        </p:nvSpPr>
        <p:spPr>
          <a:xfrm xmlns:a="http://schemas.openxmlformats.org/drawingml/2006/main">
            <a:off x="622935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Describe one difference between the lines in the two works.</a:t>
            </a:r>
          </a:p>
        </p:txBody>
      </p:sp>
      <p:sp>
        <p:nvSpPr>
          <p:cNvPr id="20" name="item-2-clue">
            <a:extLst xmlns:a="http://schemas.openxmlformats.org/drawingml/2006/main">
              <a:ext uri="{FF2B5EF4-FFF2-40B4-BE49-F238E27FC236}">
                <a16:creationId xmlns:a16="http://schemas.microsoft.com/office/drawing/2014/main" id="{BDEA636B-67F4-40D1-8501-52BB948B9AF0}"/>
              </a:ext>
            </a:extLst>
          </p:cNvPr>
          <p:cNvSpPr>
            <a:spLocks xmlns:a="http://schemas.openxmlformats.org/drawingml/2006/main" noGrp="1"/>
          </p:cNvSpPr>
          <p:nvPr/>
        </p:nvSpPr>
        <p:spPr>
          <a:xfrm xmlns:a="http://schemas.openxmlformats.org/drawingml/2006/main">
            <a:off x="622935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Compare the bands and strips.</a:t>
            </a:r>
          </a:p>
        </p:txBody>
      </p:sp>
      <p:sp>
        <p:nvSpPr>
          <p:cNvPr id="21" name="item-3-title">
            <a:extLst xmlns:a="http://schemas.openxmlformats.org/drawingml/2006/main">
              <a:ext uri="{FF2B5EF4-FFF2-40B4-BE49-F238E27FC236}">
                <a16:creationId xmlns:a16="http://schemas.microsoft.com/office/drawing/2014/main" id="{7E27F5F4-0825-4E5D-AAF8-6F8FADE2553A}"/>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Evidence or opinion</a:t>
            </a:r>
          </a:p>
        </p:txBody>
      </p:sp>
      <p:sp>
        <p:nvSpPr>
          <p:cNvPr id="22" name="item-3-question">
            <a:extLst xmlns:a="http://schemas.openxmlformats.org/drawingml/2006/main">
              <a:ext uri="{FF2B5EF4-FFF2-40B4-BE49-F238E27FC236}">
                <a16:creationId xmlns:a16="http://schemas.microsoft.com/office/drawing/2014/main" id="{82965E61-4144-4A5E-9736-96E30902E96B}"/>
              </a:ext>
            </a:extLst>
          </p:cNvPr>
          <p:cNvSpPr>
            <a:spLocks xmlns:a="http://schemas.openxmlformats.org/drawingml/2006/main" noGrp="1"/>
          </p:cNvSpPr>
          <p:nvPr/>
        </p:nvSpPr>
        <p:spPr>
          <a:xfrm xmlns:a="http://schemas.openxmlformats.org/drawingml/2006/main">
            <a:off x="381000" y="4546283"/>
            <a:ext cx="558165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an observation about Crossing: 'the circle is cropped' or 'the picture is exciting'? Explain.</a:t>
            </a:r>
          </a:p>
        </p:txBody>
      </p:sp>
      <p:sp>
        <p:nvSpPr>
          <p:cNvPr id="23" name="item-3-clue">
            <a:extLst xmlns:a="http://schemas.openxmlformats.org/drawingml/2006/main">
              <a:ext uri="{FF2B5EF4-FFF2-40B4-BE49-F238E27FC236}">
                <a16:creationId xmlns:a16="http://schemas.microsoft.com/office/drawing/2014/main" id="{0F2280D0-579D-4549-A8F2-F7E20A76B757}"/>
              </a:ext>
            </a:extLst>
          </p:cNvPr>
          <p:cNvSpPr>
            <a:spLocks xmlns:a="http://schemas.openxmlformats.org/drawingml/2006/main" noGrp="1"/>
          </p:cNvSpPr>
          <p:nvPr/>
        </p:nvSpPr>
        <p:spPr>
          <a:xfrm xmlns:a="http://schemas.openxmlformats.org/drawingml/2006/main">
            <a:off x="381000" y="5603939"/>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Which claim can another viewer check directly?</a:t>
            </a:r>
          </a:p>
        </p:txBody>
      </p:sp>
      <p:sp>
        <p:nvSpPr>
          <p:cNvPr id="24" name="item-4-title">
            <a:extLst xmlns:a="http://schemas.openxmlformats.org/drawingml/2006/main">
              <a:ext uri="{FF2B5EF4-FFF2-40B4-BE49-F238E27FC236}">
                <a16:creationId xmlns:a16="http://schemas.microsoft.com/office/drawing/2014/main" id="{42A326E2-32CD-438C-BF7E-2F2BF277BF9A}"/>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listener</a:t>
            </a:r>
          </a:p>
        </p:txBody>
      </p:sp>
      <p:sp>
        <p:nvSpPr>
          <p:cNvPr id="25" name="item-4-question">
            <a:extLst xmlns:a="http://schemas.openxmlformats.org/drawingml/2006/main">
              <a:ext uri="{FF2B5EF4-FFF2-40B4-BE49-F238E27FC236}">
                <a16:creationId xmlns:a16="http://schemas.microsoft.com/office/drawing/2014/main" id="{31636D82-C5F4-4DDF-AAD2-4F961F8A4BCA}"/>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Why might a review name its intended audience?</a:t>
            </a:r>
          </a:p>
        </p:txBody>
      </p:sp>
      <p:sp>
        <p:nvSpPr>
          <p:cNvPr id="26" name="item-4-clue">
            <a:extLst xmlns:a="http://schemas.openxmlformats.org/drawingml/2006/main">
              <a:ext uri="{FF2B5EF4-FFF2-40B4-BE49-F238E27FC236}">
                <a16:creationId xmlns:a16="http://schemas.microsoft.com/office/drawing/2014/main" id="{9A7BE51B-5F64-41D8-89FB-2580D4BB9C49}"/>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Different viewers may want different experiences.</a:t>
            </a:r>
          </a:p>
        </p:txBody>
      </p:sp>
    </p:spTree>
    <p:extLst>
      <p:ext uri="{BB962C8B-B14F-4D97-AF65-F5344CB8AC3E}">
        <p14:creationId xmlns:p14="http://schemas.microsoft.com/office/powerpoint/2010/main" val="3418329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DA20F680-6B15-47DE-A608-18F68E151D7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B7E2E720-11F8-488B-96EE-969D366D3F1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CFBA2FD7-5392-4D15-92E4-046B5511A04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8812B272-88CC-4549-B9E3-076D845998D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0586F383-740D-49C1-AEB7-123C45B71D80}"/>
              </a:ext>
            </a:extLst>
          </p:cNvPr>
          <p:cNvPicPr>
            <a:picLocks xmlns:a="http://schemas.openxmlformats.org/drawingml/2006/main" noChangeAspect="1"/>
          </p:cNvPicPr>
          <p:nvPr/>
        </p:nvPicPr>
        <p:blipFill>
          <a:blip xmlns:r="http://schemas.openxmlformats.org/officeDocument/2006/relationships" xmlns:a="http://schemas.openxmlformats.org/drawingml/2006/main" r:embed="R40321f389aa2488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F1B2DEE-7C36-4869-AE1A-504CAE0F2FC5}"/>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163960B-2320-415E-A522-29376A2CAD8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A75C256-78FA-49D3-BFBE-97B651B01F1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9FCC3F9-59F5-468F-9B99-89CF7DDEB1E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37A1C64-5992-407E-9DEB-2342A8A3578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298A66D-C9F9-4B30-88A9-59B9908FE22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6D05EF6-3A21-48AD-BD23-042F681B84E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CA1135CC-4CD3-4ED6-95E9-79FB3263C6D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5B66111-7DB0-45E2-89FC-CB873F49C1F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numbered responses, 1 to 4: words, marks, annotations or selected symbols.</a:t>
            </a:r>
          </a:p>
        </p:txBody>
      </p:sp>
      <p:sp>
        <p:nvSpPr>
          <p:cNvPr id="15" name="item-1-title">
            <a:extLst xmlns:a="http://schemas.openxmlformats.org/drawingml/2006/main">
              <a:ext uri="{FF2B5EF4-FFF2-40B4-BE49-F238E27FC236}">
                <a16:creationId xmlns:a16="http://schemas.microsoft.com/office/drawing/2014/main" id="{8E27AF62-4B57-4807-B56D-ECD13EAB4B65}"/>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A feature</a:t>
            </a:r>
          </a:p>
        </p:txBody>
      </p:sp>
      <p:sp>
        <p:nvSpPr>
          <p:cNvPr id="16" name="item-1-question">
            <a:extLst xmlns:a="http://schemas.openxmlformats.org/drawingml/2006/main">
              <a:ext uri="{FF2B5EF4-FFF2-40B4-BE49-F238E27FC236}">
                <a16:creationId xmlns:a16="http://schemas.microsoft.com/office/drawing/2014/main" id="{A2B7253E-7F55-43B9-B589-0AFFF1C58A88}"/>
              </a:ext>
            </a:extLst>
          </p:cNvPr>
          <p:cNvSpPr>
            <a:spLocks xmlns:a="http://schemas.openxmlformats.org/drawingml/2006/main" noGrp="1"/>
          </p:cNvSpPr>
          <p:nvPr/>
        </p:nvSpPr>
        <p:spPr>
          <a:xfrm xmlns:a="http://schemas.openxmlformats.org/drawingml/2006/main">
            <a:off x="38100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Select one feature of Flow and suggest an effect it could create.</a:t>
            </a:r>
          </a:p>
        </p:txBody>
      </p:sp>
      <p:sp>
        <p:nvSpPr>
          <p:cNvPr id="17" name="item-1-clue">
            <a:extLst xmlns:a="http://schemas.openxmlformats.org/drawingml/2006/main">
              <a:ext uri="{FF2B5EF4-FFF2-40B4-BE49-F238E27FC236}">
                <a16:creationId xmlns:a16="http://schemas.microsoft.com/office/drawing/2014/main" id="{14E8D012-0017-443E-9679-40371139C5EB}"/>
              </a:ext>
            </a:extLst>
          </p:cNvPr>
          <p:cNvSpPr>
            <a:spLocks xmlns:a="http://schemas.openxmlformats.org/drawingml/2006/main" noGrp="1"/>
          </p:cNvSpPr>
          <p:nvPr/>
        </p:nvSpPr>
        <p:spPr>
          <a:xfrm xmlns:a="http://schemas.openxmlformats.org/drawingml/2006/main">
            <a:off x="38100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Separate what is visible from your interpretation.</a:t>
            </a:r>
          </a:p>
        </p:txBody>
      </p:sp>
      <p:sp>
        <p:nvSpPr>
          <p:cNvPr id="18" name="item-2-title">
            <a:extLst xmlns:a="http://schemas.openxmlformats.org/drawingml/2006/main">
              <a:ext uri="{FF2B5EF4-FFF2-40B4-BE49-F238E27FC236}">
                <a16:creationId xmlns:a16="http://schemas.microsoft.com/office/drawing/2014/main" id="{D48956BF-E00A-4DE1-B494-E198BF60CA05}"/>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A comparison</a:t>
            </a:r>
          </a:p>
        </p:txBody>
      </p:sp>
      <p:sp>
        <p:nvSpPr>
          <p:cNvPr id="19" name="item-2-question">
            <a:extLst xmlns:a="http://schemas.openxmlformats.org/drawingml/2006/main">
              <a:ext uri="{FF2B5EF4-FFF2-40B4-BE49-F238E27FC236}">
                <a16:creationId xmlns:a16="http://schemas.microsoft.com/office/drawing/2014/main" id="{745671B4-A4D6-4C4F-AF62-9BB1F39ABA68}"/>
              </a:ext>
            </a:extLst>
          </p:cNvPr>
          <p:cNvSpPr>
            <a:spLocks xmlns:a="http://schemas.openxmlformats.org/drawingml/2006/main" noGrp="1"/>
          </p:cNvSpPr>
          <p:nvPr/>
        </p:nvSpPr>
        <p:spPr>
          <a:xfrm xmlns:a="http://schemas.openxmlformats.org/drawingml/2006/main">
            <a:off x="622935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Compare the direction of the forms in both works. What different effects might result?</a:t>
            </a:r>
          </a:p>
        </p:txBody>
      </p:sp>
      <p:sp>
        <p:nvSpPr>
          <p:cNvPr id="20" name="item-2-clue">
            <a:extLst xmlns:a="http://schemas.openxmlformats.org/drawingml/2006/main">
              <a:ext uri="{FF2B5EF4-FFF2-40B4-BE49-F238E27FC236}">
                <a16:creationId xmlns:a16="http://schemas.microsoft.com/office/drawing/2014/main" id="{848D5E51-E4D6-4F11-907F-5F666A286134}"/>
              </a:ext>
            </a:extLst>
          </p:cNvPr>
          <p:cNvSpPr>
            <a:spLocks xmlns:a="http://schemas.openxmlformats.org/drawingml/2006/main" noGrp="1"/>
          </p:cNvSpPr>
          <p:nvPr/>
        </p:nvSpPr>
        <p:spPr>
          <a:xfrm xmlns:a="http://schemas.openxmlformats.org/drawingml/2006/main">
            <a:off x="622935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'curved' and 'diagonal' if they help.</a:t>
            </a:r>
          </a:p>
        </p:txBody>
      </p:sp>
      <p:sp>
        <p:nvSpPr>
          <p:cNvPr id="21" name="item-3-title">
            <a:extLst xmlns:a="http://schemas.openxmlformats.org/drawingml/2006/main">
              <a:ext uri="{FF2B5EF4-FFF2-40B4-BE49-F238E27FC236}">
                <a16:creationId xmlns:a16="http://schemas.microsoft.com/office/drawing/2014/main" id="{8EC172CF-6BD2-4DC6-9160-0CF09B6B85B4}"/>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 limit</a:t>
            </a:r>
          </a:p>
        </p:txBody>
      </p:sp>
      <p:sp>
        <p:nvSpPr>
          <p:cNvPr id="22" name="item-3-question">
            <a:extLst xmlns:a="http://schemas.openxmlformats.org/drawingml/2006/main">
              <a:ext uri="{FF2B5EF4-FFF2-40B4-BE49-F238E27FC236}">
                <a16:creationId xmlns:a16="http://schemas.microsoft.com/office/drawing/2014/main" id="{E9AE02C9-C0DF-4368-9945-4E186660FD53}"/>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Crossing prove its maker was angry? Justify your answer.</a:t>
            </a:r>
          </a:p>
        </p:txBody>
      </p:sp>
      <p:sp>
        <p:nvSpPr>
          <p:cNvPr id="23" name="item-3-clue">
            <a:extLst xmlns:a="http://schemas.openxmlformats.org/drawingml/2006/main">
              <a:ext uri="{FF2B5EF4-FFF2-40B4-BE49-F238E27FC236}">
                <a16:creationId xmlns:a16="http://schemas.microsoft.com/office/drawing/2014/main" id="{71882F01-B63C-4F22-9448-65CEDD4C463F}"/>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What evidence would a claim about the maker need?</a:t>
            </a:r>
          </a:p>
        </p:txBody>
      </p:sp>
      <p:sp>
        <p:nvSpPr>
          <p:cNvPr id="24" name="item-4-title">
            <a:extLst xmlns:a="http://schemas.openxmlformats.org/drawingml/2006/main">
              <a:ext uri="{FF2B5EF4-FFF2-40B4-BE49-F238E27FC236}">
                <a16:creationId xmlns:a16="http://schemas.microsoft.com/office/drawing/2014/main" id="{D102568F-8BA5-4402-B751-D4A417138823}"/>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4. A listener</a:t>
            </a:r>
          </a:p>
        </p:txBody>
      </p:sp>
      <p:sp>
        <p:nvSpPr>
          <p:cNvPr id="25" name="item-4-question">
            <a:extLst xmlns:a="http://schemas.openxmlformats.org/drawingml/2006/main">
              <a:ext uri="{FF2B5EF4-FFF2-40B4-BE49-F238E27FC236}">
                <a16:creationId xmlns:a16="http://schemas.microsoft.com/office/drawing/2014/main" id="{B7A943D2-2352-402C-97A1-5506596ACF52}"/>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Evaluate 'Everyone should see this'. What would make the recommendation more useful?</a:t>
            </a:r>
          </a:p>
        </p:txBody>
      </p:sp>
      <p:sp>
        <p:nvSpPr>
          <p:cNvPr id="26" name="item-4-clue">
            <a:extLst xmlns:a="http://schemas.openxmlformats.org/drawingml/2006/main">
              <a:ext uri="{FF2B5EF4-FFF2-40B4-BE49-F238E27FC236}">
                <a16:creationId xmlns:a16="http://schemas.microsoft.com/office/drawing/2014/main" id="{6B2044B2-E2AF-43D1-ADE1-2A548A1BE9EE}"/>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Specify who and why.</a:t>
            </a:r>
          </a:p>
        </p:txBody>
      </p:sp>
    </p:spTree>
    <p:extLst>
      <p:ext uri="{BB962C8B-B14F-4D97-AF65-F5344CB8AC3E}">
        <p14:creationId xmlns:p14="http://schemas.microsoft.com/office/powerpoint/2010/main" val="4477610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F0DF0B99-D4F3-45D7-A7A0-F291CE1058D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FE2DC825-223A-41F1-A3B1-A231B59960F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222699DC-7FBD-4028-BFA1-A5E0282A3AA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CA28C1E8-6D46-4914-B050-711E9D270F0F}"/>
              </a:ext>
            </a:extLst>
          </p:cNvPr>
          <p:cNvPicPr>
            <a:picLocks xmlns:a="http://schemas.openxmlformats.org/drawingml/2006/main" noChangeAspect="1"/>
          </p:cNvPicPr>
          <p:nvPr/>
        </p:nvPicPr>
        <p:blipFill>
          <a:blip xmlns:r="http://schemas.openxmlformats.org/officeDocument/2006/relationships" xmlns:a="http://schemas.openxmlformats.org/drawingml/2006/main" r:embed="R1f2d444e4726447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BBDEF15-D7ED-47CA-BE05-85551C227F0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6935C56-A8DD-4554-8968-702BE0FC20E4}"/>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62CAAC5-60EC-4270-B839-8E1A23AA916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01A0D02-1E54-467F-979D-1F78EED6F87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8E8CB1F-23B7-4AF2-BBC5-E925943A381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FD84A13-50DD-4C28-A95D-A3B676D57D0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F052A78-99D4-4CB9-AEC4-75187F9F46E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E150BABC-6220-4790-B8C1-5CCFE9F7065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8122B6A-33E4-4446-8D10-83E734664B6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A or B, with one feature that supports your choice.</a:t>
            </a:r>
          </a:p>
        </p:txBody>
      </p:sp>
      <p:sp>
        <p:nvSpPr>
          <p:cNvPr id="14" name="body-0">
            <a:extLst xmlns:a="http://schemas.openxmlformats.org/drawingml/2006/main">
              <a:ext uri="{FF2B5EF4-FFF2-40B4-BE49-F238E27FC236}">
                <a16:creationId xmlns:a16="http://schemas.microsoft.com/office/drawing/2014/main" id="{36DCE8A0-5F4E-473D-993D-64B9EF40B4D3}"/>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review gives you evidence you can check?</a:t>
            </a:r>
          </a:p>
        </p:txBody>
      </p:sp>
      <p:sp>
        <p:nvSpPr>
          <p:cNvPr id="15" name="body-1">
            <a:extLst xmlns:a="http://schemas.openxmlformats.org/drawingml/2006/main">
              <a:ext uri="{FF2B5EF4-FFF2-40B4-BE49-F238E27FC236}">
                <a16:creationId xmlns:a16="http://schemas.microsoft.com/office/drawing/2014/main" id="{6755998F-8DA0-4A84-B54B-D7E71D7C61E1}"/>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'It is amazing. Everyone will love it.'</a:t>
            </a:r>
          </a:p>
        </p:txBody>
      </p:sp>
      <p:sp>
        <p:nvSpPr>
          <p:cNvPr id="16" name="body-2">
            <a:extLst xmlns:a="http://schemas.openxmlformats.org/drawingml/2006/main">
              <a:ext uri="{FF2B5EF4-FFF2-40B4-BE49-F238E27FC236}">
                <a16:creationId xmlns:a16="http://schemas.microsoft.com/office/drawing/2014/main" id="{74842AD2-92A2-4D1F-9A8B-21B88E6A3BF0}"/>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'Flow draws my eye because its small orange circle contrasts with the blue bands.'</a:t>
            </a:r>
          </a:p>
        </p:txBody>
      </p:sp>
      <p:sp>
        <p:nvSpPr>
          <p:cNvPr id="17" name="body-3">
            <a:extLst xmlns:a="http://schemas.openxmlformats.org/drawingml/2006/main">
              <a:ext uri="{FF2B5EF4-FFF2-40B4-BE49-F238E27FC236}">
                <a16:creationId xmlns:a16="http://schemas.microsoft.com/office/drawing/2014/main" id="{DC69F2DC-7C1B-4B51-ADE0-8117F3581BAF}"/>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or B. Point to the evidence in the artwork.</a:t>
            </a:r>
          </a:p>
        </p:txBody>
      </p:sp>
    </p:spTree>
    <p:extLst>
      <p:ext uri="{BB962C8B-B14F-4D97-AF65-F5344CB8AC3E}">
        <p14:creationId xmlns:p14="http://schemas.microsoft.com/office/powerpoint/2010/main" val="252779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FF550ED-0ECC-4F90-8B65-6DB3199FFA0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7BAF5E2C-4D80-43D0-91BD-0E4DC58112E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559517BC-1055-4D69-9CCF-713D8F69CDC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C26833DA-6FD9-41C1-89B6-67A0074DC99F}"/>
              </a:ext>
            </a:extLst>
          </p:cNvPr>
          <p:cNvPicPr>
            <a:picLocks xmlns:a="http://schemas.openxmlformats.org/drawingml/2006/main" noChangeAspect="1"/>
          </p:cNvPicPr>
          <p:nvPr/>
        </p:nvPicPr>
        <p:blipFill>
          <a:blip xmlns:r="http://schemas.openxmlformats.org/officeDocument/2006/relationships" xmlns:a="http://schemas.openxmlformats.org/drawingml/2006/main" r:embed="Red67c1acd20a4f1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7B27EEB-76EC-4EEE-B89F-13A6660E1A4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9A3E986-138E-4BE7-BFDB-E4B901F87432}"/>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11C1F13-B83C-45CF-99A5-67055BF8D3F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6CA84B5-E3A9-4297-B41C-C47564D4512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45B3216-8915-4780-ACBB-2A245EFA61B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09C97D6-0B3A-4B58-A32B-22B515CABA6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43769B6-C3B2-4D78-B9B2-E565AE60980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C3DA7B27-7810-413C-B8ED-6EDC7134F98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1AB0EC0-8A8F-4114-AA3A-54AC3E28645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A or B, with one feature that supports your choice.</a:t>
            </a:r>
          </a:p>
        </p:txBody>
      </p:sp>
      <p:sp>
        <p:nvSpPr>
          <p:cNvPr id="14" name="figure-flow-0">
            <a:extLst xmlns:a="http://schemas.openxmlformats.org/drawingml/2006/main">
              <a:ext uri="{FF2B5EF4-FFF2-40B4-BE49-F238E27FC236}">
                <a16:creationId xmlns:a16="http://schemas.microsoft.com/office/drawing/2014/main" id="{01F9F7B4-7CCE-4F98-8BBB-69FE682F423F}"/>
              </a:ext>
            </a:extLst>
          </p:cNvPr>
          <p:cNvSpPr>
            <a:spLocks xmlns:a="http://schemas.openxmlformats.org/drawingml/2006/main" noGrp="1"/>
          </p:cNvSpPr>
          <p:nvPr/>
        </p:nvSpPr>
        <p:spPr>
          <a:xfrm xmlns:a="http://schemas.openxmlformats.org/drawingml/2006/main">
            <a:off x="740450" y="1956670"/>
            <a:ext cx="541329"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B2381645-0909-49E4-AC90-A933C3F081DB}"/>
              </a:ext>
            </a:extLst>
          </p:cNvPr>
          <p:cNvSpPr>
            <a:spLocks xmlns:a="http://schemas.openxmlformats.org/drawingml/2006/main" noGrp="1"/>
          </p:cNvSpPr>
          <p:nvPr/>
        </p:nvSpPr>
        <p:spPr>
          <a:xfrm xmlns:a="http://schemas.openxmlformats.org/drawingml/2006/main">
            <a:off x="761405" y="2336780"/>
            <a:ext cx="4801791" cy="2640985"/>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3CE11833-7A3B-443A-9904-FFFF4E63B886}"/>
              </a:ext>
            </a:extLst>
          </p:cNvPr>
          <p:cNvSpPr>
            <a:spLocks xmlns:a="http://schemas.openxmlformats.org/drawingml/2006/main" noGrp="1"/>
          </p:cNvSpPr>
          <p:nvPr/>
        </p:nvSpPr>
        <p:spPr>
          <a:xfrm xmlns:a="http://schemas.openxmlformats.org/drawingml/2006/main">
            <a:off x="1020701" y="2893914"/>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85137A59-C205-4BD0-A911-3BA226293DB3}"/>
              </a:ext>
            </a:extLst>
          </p:cNvPr>
          <p:cNvSpPr>
            <a:spLocks xmlns:a="http://schemas.openxmlformats.org/drawingml/2006/main" noGrp="1"/>
          </p:cNvSpPr>
          <p:nvPr/>
        </p:nvSpPr>
        <p:spPr>
          <a:xfrm xmlns:a="http://schemas.openxmlformats.org/drawingml/2006/main">
            <a:off x="1020701" y="3489336"/>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35C86030-40D3-47A3-8D22-3E53CD223FE2}"/>
              </a:ext>
            </a:extLst>
          </p:cNvPr>
          <p:cNvSpPr>
            <a:spLocks xmlns:a="http://schemas.openxmlformats.org/drawingml/2006/main" noGrp="1"/>
          </p:cNvSpPr>
          <p:nvPr/>
        </p:nvSpPr>
        <p:spPr>
          <a:xfrm xmlns:a="http://schemas.openxmlformats.org/drawingml/2006/main">
            <a:off x="1020701" y="4084758"/>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A5577210-8B0A-4CAF-942F-5271FC0FEF61}"/>
              </a:ext>
            </a:extLst>
          </p:cNvPr>
          <p:cNvSpPr>
            <a:spLocks xmlns:a="http://schemas.openxmlformats.org/drawingml/2006/main" noGrp="1"/>
          </p:cNvSpPr>
          <p:nvPr/>
        </p:nvSpPr>
        <p:spPr>
          <a:xfrm xmlns:a="http://schemas.openxmlformats.org/drawingml/2006/main">
            <a:off x="4679666" y="2500041"/>
            <a:ext cx="345729" cy="345729"/>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56F73C65-6F48-480A-82A7-122018731BAD}"/>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F8F4E104-196B-4953-ABAD-9DBA53A4EC8E}"/>
              </a:ext>
            </a:extLst>
          </p:cNvPr>
          <p:cNvSpPr>
            <a:spLocks xmlns:a="http://schemas.openxmlformats.org/drawingml/2006/main" noGrp="1"/>
          </p:cNvSpPr>
          <p:nvPr/>
        </p:nvSpPr>
        <p:spPr>
          <a:xfrm xmlns:a="http://schemas.openxmlformats.org/drawingml/2006/main">
            <a:off x="6607850" y="1956670"/>
            <a:ext cx="928914"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ECC57B61-D62A-4096-B4F7-5C5CC0B25BD0}"/>
              </a:ext>
            </a:extLst>
          </p:cNvPr>
          <p:cNvSpPr>
            <a:spLocks xmlns:a="http://schemas.openxmlformats.org/drawingml/2006/main" noGrp="1"/>
          </p:cNvSpPr>
          <p:nvPr/>
        </p:nvSpPr>
        <p:spPr>
          <a:xfrm xmlns:a="http://schemas.openxmlformats.org/drawingml/2006/main">
            <a:off x="6628805" y="2336780"/>
            <a:ext cx="4801791" cy="2640985"/>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CC12238D-D815-47A1-ABE3-713FF622B4E6}"/>
              </a:ext>
            </a:extLst>
          </p:cNvPr>
          <p:cNvSpPr>
            <a:spLocks xmlns:a="http://schemas.openxmlformats.org/drawingml/2006/main" noGrp="1"/>
          </p:cNvSpPr>
          <p:nvPr/>
        </p:nvSpPr>
        <p:spPr>
          <a:xfrm xmlns:a="http://schemas.openxmlformats.org/drawingml/2006/main">
            <a:off x="7349073" y="2528852"/>
            <a:ext cx="3034732" cy="2237634"/>
          </a:xfrm>
          <a:custGeom xmlns:a="http://schemas.openxmlformats.org/drawingml/2006/main">
            <a:pathLst>
              <a:path w="3034732" h="2237634">
                <a:moveTo>
                  <a:pt x="0" y="96036"/>
                </a:moveTo>
                <a:lnTo>
                  <a:pt x="201675" y="0"/>
                </a:lnTo>
                <a:lnTo>
                  <a:pt x="3034732" y="2093581"/>
                </a:lnTo>
                <a:lnTo>
                  <a:pt x="2833056" y="2237634"/>
                </a:lnTo>
                <a:lnTo>
                  <a:pt x="0" y="96036"/>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0E34A470-B5CB-40BF-B92B-F8B74D8A8F14}"/>
              </a:ext>
            </a:extLst>
          </p:cNvPr>
          <p:cNvSpPr>
            <a:spLocks xmlns:a="http://schemas.openxmlformats.org/drawingml/2006/main" noGrp="1"/>
          </p:cNvSpPr>
          <p:nvPr/>
        </p:nvSpPr>
        <p:spPr>
          <a:xfrm xmlns:a="http://schemas.openxmlformats.org/drawingml/2006/main">
            <a:off x="7224227" y="2567266"/>
            <a:ext cx="3217200" cy="2160806"/>
          </a:xfrm>
          <a:custGeom xmlns:a="http://schemas.openxmlformats.org/drawingml/2006/main">
            <a:pathLst>
              <a:path w="3217200" h="2160806">
                <a:moveTo>
                  <a:pt x="0" y="1959131"/>
                </a:moveTo>
                <a:lnTo>
                  <a:pt x="172864" y="2160806"/>
                </a:lnTo>
                <a:lnTo>
                  <a:pt x="3217200" y="211279"/>
                </a:lnTo>
                <a:lnTo>
                  <a:pt x="3044335" y="0"/>
                </a:lnTo>
                <a:lnTo>
                  <a:pt x="0" y="1959131"/>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F9F19CDD-8B76-4C3B-92D1-BD4D48BE91BA}"/>
              </a:ext>
            </a:extLst>
          </p:cNvPr>
          <p:cNvSpPr>
            <a:spLocks xmlns:a="http://schemas.openxmlformats.org/drawingml/2006/main" noGrp="1"/>
          </p:cNvSpPr>
          <p:nvPr/>
        </p:nvSpPr>
        <p:spPr>
          <a:xfrm xmlns:a="http://schemas.openxmlformats.org/drawingml/2006/main">
            <a:off x="8683971" y="2471230"/>
            <a:ext cx="691458" cy="2304860"/>
          </a:xfrm>
          <a:custGeom xmlns:a="http://schemas.openxmlformats.org/drawingml/2006/main">
            <a:pathLst>
              <a:path w="691458" h="2304860">
                <a:moveTo>
                  <a:pt x="0" y="48018"/>
                </a:moveTo>
                <a:lnTo>
                  <a:pt x="259297" y="0"/>
                </a:lnTo>
                <a:lnTo>
                  <a:pt x="691458" y="2256842"/>
                </a:lnTo>
                <a:lnTo>
                  <a:pt x="432161" y="2304860"/>
                </a:lnTo>
                <a:lnTo>
                  <a:pt x="0" y="48018"/>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3A38011B-5309-4E30-B31F-8A642DB4EF0D}"/>
              </a:ext>
            </a:extLst>
          </p:cNvPr>
          <p:cNvSpPr>
            <a:spLocks xmlns:a="http://schemas.openxmlformats.org/drawingml/2006/main" noGrp="1"/>
          </p:cNvSpPr>
          <p:nvPr/>
        </p:nvSpPr>
        <p:spPr>
          <a:xfrm xmlns:a="http://schemas.openxmlformats.org/drawingml/2006/main">
            <a:off x="10585480" y="2989824"/>
            <a:ext cx="845115" cy="1498159"/>
          </a:xfrm>
          <a:custGeom xmlns:a="http://schemas.openxmlformats.org/drawingml/2006/main">
            <a:pathLst>
              <a:path w="845115" h="1498159">
                <a:moveTo>
                  <a:pt x="845115" y="1491720"/>
                </a:moveTo>
                <a:lnTo>
                  <a:pt x="827379" y="1494055"/>
                </a:lnTo>
                <a:lnTo>
                  <a:pt x="788283" y="1497132"/>
                </a:lnTo>
                <a:lnTo>
                  <a:pt x="749079" y="1498159"/>
                </a:lnTo>
                <a:lnTo>
                  <a:pt x="709876" y="1497132"/>
                </a:lnTo>
                <a:lnTo>
                  <a:pt x="670779" y="1494055"/>
                </a:lnTo>
                <a:lnTo>
                  <a:pt x="631898" y="1488936"/>
                </a:lnTo>
                <a:lnTo>
                  <a:pt x="593337" y="1481789"/>
                </a:lnTo>
                <a:lnTo>
                  <a:pt x="555203" y="1472634"/>
                </a:lnTo>
                <a:lnTo>
                  <a:pt x="517601" y="1461496"/>
                </a:lnTo>
                <a:lnTo>
                  <a:pt x="480633" y="1448405"/>
                </a:lnTo>
                <a:lnTo>
                  <a:pt x="444401" y="1433397"/>
                </a:lnTo>
                <a:lnTo>
                  <a:pt x="409004" y="1416514"/>
                </a:lnTo>
                <a:lnTo>
                  <a:pt x="374540" y="1397801"/>
                </a:lnTo>
                <a:lnTo>
                  <a:pt x="341101" y="1377310"/>
                </a:lnTo>
                <a:lnTo>
                  <a:pt x="308782" y="1355097"/>
                </a:lnTo>
                <a:lnTo>
                  <a:pt x="277668" y="1331223"/>
                </a:lnTo>
                <a:lnTo>
                  <a:pt x="247847" y="1305754"/>
                </a:lnTo>
                <a:lnTo>
                  <a:pt x="219400" y="1278758"/>
                </a:lnTo>
                <a:lnTo>
                  <a:pt x="192405" y="1250311"/>
                </a:lnTo>
                <a:lnTo>
                  <a:pt x="166935" y="1220490"/>
                </a:lnTo>
                <a:lnTo>
                  <a:pt x="143061" y="1189377"/>
                </a:lnTo>
                <a:lnTo>
                  <a:pt x="120849" y="1157057"/>
                </a:lnTo>
                <a:lnTo>
                  <a:pt x="100358" y="1123619"/>
                </a:lnTo>
                <a:lnTo>
                  <a:pt x="81645" y="1089154"/>
                </a:lnTo>
                <a:lnTo>
                  <a:pt x="64761" y="1053757"/>
                </a:lnTo>
                <a:lnTo>
                  <a:pt x="49754" y="1017525"/>
                </a:lnTo>
                <a:lnTo>
                  <a:pt x="36663" y="980558"/>
                </a:lnTo>
                <a:lnTo>
                  <a:pt x="25524" y="942955"/>
                </a:lnTo>
                <a:lnTo>
                  <a:pt x="16369" y="904822"/>
                </a:lnTo>
                <a:lnTo>
                  <a:pt x="9222" y="866261"/>
                </a:lnTo>
                <a:lnTo>
                  <a:pt x="4104" y="827379"/>
                </a:lnTo>
                <a:lnTo>
                  <a:pt x="1027" y="788283"/>
                </a:lnTo>
                <a:lnTo>
                  <a:pt x="0" y="749079"/>
                </a:lnTo>
                <a:lnTo>
                  <a:pt x="1027" y="709876"/>
                </a:lnTo>
                <a:lnTo>
                  <a:pt x="4104" y="670779"/>
                </a:lnTo>
                <a:lnTo>
                  <a:pt x="9222" y="631898"/>
                </a:lnTo>
                <a:lnTo>
                  <a:pt x="16369" y="593337"/>
                </a:lnTo>
                <a:lnTo>
                  <a:pt x="25524" y="555203"/>
                </a:lnTo>
                <a:lnTo>
                  <a:pt x="36663" y="517601"/>
                </a:lnTo>
                <a:lnTo>
                  <a:pt x="49754" y="480633"/>
                </a:lnTo>
                <a:lnTo>
                  <a:pt x="64761" y="444401"/>
                </a:lnTo>
                <a:lnTo>
                  <a:pt x="81645" y="409004"/>
                </a:lnTo>
                <a:lnTo>
                  <a:pt x="100358" y="374540"/>
                </a:lnTo>
                <a:lnTo>
                  <a:pt x="120849" y="341101"/>
                </a:lnTo>
                <a:lnTo>
                  <a:pt x="143061" y="308782"/>
                </a:lnTo>
                <a:lnTo>
                  <a:pt x="166935" y="277668"/>
                </a:lnTo>
                <a:lnTo>
                  <a:pt x="192405" y="247847"/>
                </a:lnTo>
                <a:lnTo>
                  <a:pt x="219400" y="219400"/>
                </a:lnTo>
                <a:lnTo>
                  <a:pt x="247847" y="192405"/>
                </a:lnTo>
                <a:lnTo>
                  <a:pt x="277668" y="166935"/>
                </a:lnTo>
                <a:lnTo>
                  <a:pt x="308782" y="143061"/>
                </a:lnTo>
                <a:lnTo>
                  <a:pt x="341101" y="120849"/>
                </a:lnTo>
                <a:lnTo>
                  <a:pt x="374540" y="100358"/>
                </a:lnTo>
                <a:lnTo>
                  <a:pt x="409004" y="81645"/>
                </a:lnTo>
                <a:lnTo>
                  <a:pt x="444401" y="64761"/>
                </a:lnTo>
                <a:lnTo>
                  <a:pt x="480633" y="49754"/>
                </a:lnTo>
                <a:lnTo>
                  <a:pt x="517601" y="36663"/>
                </a:lnTo>
                <a:lnTo>
                  <a:pt x="555203" y="25524"/>
                </a:lnTo>
                <a:lnTo>
                  <a:pt x="593337" y="16369"/>
                </a:lnTo>
                <a:lnTo>
                  <a:pt x="631898" y="9222"/>
                </a:lnTo>
                <a:lnTo>
                  <a:pt x="670779" y="4104"/>
                </a:lnTo>
                <a:lnTo>
                  <a:pt x="709876" y="1027"/>
                </a:lnTo>
                <a:lnTo>
                  <a:pt x="749079" y="0"/>
                </a:lnTo>
                <a:lnTo>
                  <a:pt x="788283" y="1027"/>
                </a:lnTo>
                <a:lnTo>
                  <a:pt x="827379" y="4104"/>
                </a:lnTo>
                <a:lnTo>
                  <a:pt x="845115" y="6438"/>
                </a:lnTo>
                <a:lnTo>
                  <a:pt x="845115" y="1491720"/>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00FCDEF2-CC89-4B32-BD8D-4C12DC60D227}"/>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8336438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F24295DF-01B2-4AB7-B9CE-EB5133B9FC2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0609584B-2F45-4218-87D1-1F04E648D57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98AB19B3-4396-4D2F-AF4E-71E4E2E52F0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49A90929-D568-4B38-AD71-6A26F770B9C3}"/>
              </a:ext>
            </a:extLst>
          </p:cNvPr>
          <p:cNvPicPr>
            <a:picLocks xmlns:a="http://schemas.openxmlformats.org/drawingml/2006/main" noChangeAspect="1"/>
          </p:cNvPicPr>
          <p:nvPr/>
        </p:nvPicPr>
        <p:blipFill>
          <a:blip xmlns:r="http://schemas.openxmlformats.org/officeDocument/2006/relationships" xmlns:a="http://schemas.openxmlformats.org/drawingml/2006/main" r:embed="Rfa10a30d03cd4c5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24ABB4D-8CED-4001-8747-FC18709A7E9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94EB93B-C873-4987-9101-444223A5378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31FAE3C-3859-41E0-AAE3-52FFD0ECB2C7}"/>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4038B8F-0B7B-40EA-ABE3-9BFE1F86298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1D60093-A820-44CD-BA65-5AF99E771B4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4318062-6A25-4358-BE6F-3FB59C11E10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0335E47-2581-4926-A403-EFB0495936C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A95C6447-0BF4-4F11-9916-709B481742F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723798F-2357-4E64-B600-240DCE2AD15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body-0">
            <a:extLst xmlns:a="http://schemas.openxmlformats.org/drawingml/2006/main">
              <a:ext uri="{FF2B5EF4-FFF2-40B4-BE49-F238E27FC236}">
                <a16:creationId xmlns:a16="http://schemas.microsoft.com/office/drawing/2014/main" id="{9C4AD03D-5861-445F-AB9B-0460FF87AC28}"/>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1 — Describe the evidence</a:t>
            </a:r>
          </a:p>
        </p:txBody>
      </p:sp>
      <p:sp>
        <p:nvSpPr>
          <p:cNvPr id="15" name="body-1">
            <a:extLst xmlns:a="http://schemas.openxmlformats.org/drawingml/2006/main">
              <a:ext uri="{FF2B5EF4-FFF2-40B4-BE49-F238E27FC236}">
                <a16:creationId xmlns:a16="http://schemas.microsoft.com/office/drawing/2014/main" id="{41CF9063-17F0-420C-BD3D-A350A59598FA}"/>
              </a:ext>
            </a:extLst>
          </p:cNvPr>
          <p:cNvSpPr>
            <a:spLocks xmlns:a="http://schemas.openxmlformats.org/drawingml/2006/main" noGrp="1"/>
          </p:cNvSpPr>
          <p:nvPr/>
        </p:nvSpPr>
        <p:spPr>
          <a:xfrm xmlns:a="http://schemas.openxmlformats.org/drawingml/2006/main">
            <a:off x="381000" y="2446211"/>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'Flow has three broad curved bands and a small orange circle. The pale spaces keep the forms apart.'</a:t>
            </a:r>
          </a:p>
        </p:txBody>
      </p:sp>
      <p:sp>
        <p:nvSpPr>
          <p:cNvPr id="16" name="body-2">
            <a:extLst xmlns:a="http://schemas.openxmlformats.org/drawingml/2006/main">
              <a:ext uri="{FF2B5EF4-FFF2-40B4-BE49-F238E27FC236}">
                <a16:creationId xmlns:a16="http://schemas.microsoft.com/office/drawing/2014/main" id="{4588984E-9E7C-4CCA-B383-75D66713FA74}"/>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2 — Explain a judgement</a:t>
            </a:r>
          </a:p>
        </p:txBody>
      </p:sp>
      <p:sp>
        <p:nvSpPr>
          <p:cNvPr id="17" name="body-3">
            <a:extLst xmlns:a="http://schemas.openxmlformats.org/drawingml/2006/main">
              <a:ext uri="{FF2B5EF4-FFF2-40B4-BE49-F238E27FC236}">
                <a16:creationId xmlns:a16="http://schemas.microsoft.com/office/drawing/2014/main" id="{1BF0ADC9-1AB9-4E79-86E2-6E13B00EB7AA}"/>
              </a:ext>
            </a:extLst>
          </p:cNvPr>
          <p:cNvSpPr>
            <a:spLocks xmlns:a="http://schemas.openxmlformats.org/drawingml/2006/main" noGrp="1"/>
          </p:cNvSpPr>
          <p:nvPr/>
        </p:nvSpPr>
        <p:spPr>
          <a:xfrm xmlns:a="http://schemas.openxmlformats.org/drawingml/2006/main">
            <a:off x="381000" y="3832860"/>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repeated curves feel calm to me because my eye can follow them across the image. The orange circle adds a contrast in colour.'</a:t>
            </a:r>
          </a:p>
        </p:txBody>
      </p:sp>
      <p:sp>
        <p:nvSpPr>
          <p:cNvPr id="18" name="body-4">
            <a:extLst xmlns:a="http://schemas.openxmlformats.org/drawingml/2006/main">
              <a:ext uri="{FF2B5EF4-FFF2-40B4-BE49-F238E27FC236}">
                <a16:creationId xmlns:a16="http://schemas.microsoft.com/office/drawing/2014/main" id="{C59595B1-3F18-474A-BD78-7F19169AD894}"/>
              </a:ext>
            </a:extLst>
          </p:cNvPr>
          <p:cNvSpPr>
            <a:spLocks xmlns:a="http://schemas.openxmlformats.org/drawingml/2006/main" noGrp="1"/>
          </p:cNvSpPr>
          <p:nvPr/>
        </p:nvSpPr>
        <p:spPr>
          <a:xfrm xmlns:a="http://schemas.openxmlformats.org/drawingml/2006/main">
            <a:off x="381000" y="467791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3 — Qualify and recommend</a:t>
            </a:r>
          </a:p>
        </p:txBody>
      </p:sp>
    </p:spTree>
    <p:extLst>
      <p:ext uri="{BB962C8B-B14F-4D97-AF65-F5344CB8AC3E}">
        <p14:creationId xmlns:p14="http://schemas.microsoft.com/office/powerpoint/2010/main" val="20270721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3FC3B7F-C523-4DE7-922A-DF09A05CBA9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BA2D4FE1-87CE-47BD-9741-0BB8B914A04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BEEA68D1-EB84-4E5C-B513-A325646E7A3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DB16316F-39ED-4306-8277-244109ACF172}"/>
              </a:ext>
            </a:extLst>
          </p:cNvPr>
          <p:cNvPicPr>
            <a:picLocks xmlns:a="http://schemas.openxmlformats.org/drawingml/2006/main" noChangeAspect="1"/>
          </p:cNvPicPr>
          <p:nvPr/>
        </p:nvPicPr>
        <p:blipFill>
          <a:blip xmlns:r="http://schemas.openxmlformats.org/officeDocument/2006/relationships" xmlns:a="http://schemas.openxmlformats.org/drawingml/2006/main" r:embed="R8b60cfef746e432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07763A4-BBBA-449A-8AB8-230AC4C64A9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7667AAB-4A74-4EB6-919E-AC26300469E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D479FCD-579B-432C-9CAF-EA51D8A35739}"/>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9A87FD7-60B0-4673-B23A-315DA39B23D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28D25B2-0DAB-41D5-843A-CD41500DFD0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0D75A21-F5AD-4F07-8B19-70B3C59B89E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AA6166D-3BBA-4014-9E5D-1DC0D705D72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B2D3C4AA-224B-4901-983B-33EC1022488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311CFF8-6984-4C88-9244-2AE641EC014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figure-flow-0">
            <a:extLst xmlns:a="http://schemas.openxmlformats.org/drawingml/2006/main">
              <a:ext uri="{FF2B5EF4-FFF2-40B4-BE49-F238E27FC236}">
                <a16:creationId xmlns:a16="http://schemas.microsoft.com/office/drawing/2014/main" id="{2F9B5C6E-25BF-4BB7-BB6D-69BA84BEED3A}"/>
              </a:ext>
            </a:extLst>
          </p:cNvPr>
          <p:cNvSpPr>
            <a:spLocks xmlns:a="http://schemas.openxmlformats.org/drawingml/2006/main" noGrp="1"/>
          </p:cNvSpPr>
          <p:nvPr/>
        </p:nvSpPr>
        <p:spPr>
          <a:xfrm xmlns:a="http://schemas.openxmlformats.org/drawingml/2006/main">
            <a:off x="740450" y="1956670"/>
            <a:ext cx="541329"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B6426313-29E5-4D60-95F7-02B1E7F6E2D5}"/>
              </a:ext>
            </a:extLst>
          </p:cNvPr>
          <p:cNvSpPr>
            <a:spLocks xmlns:a="http://schemas.openxmlformats.org/drawingml/2006/main" noGrp="1"/>
          </p:cNvSpPr>
          <p:nvPr/>
        </p:nvSpPr>
        <p:spPr>
          <a:xfrm xmlns:a="http://schemas.openxmlformats.org/drawingml/2006/main">
            <a:off x="761405" y="2336780"/>
            <a:ext cx="4801791" cy="2640985"/>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251FB72B-71CE-4EC8-A89A-F3647292228D}"/>
              </a:ext>
            </a:extLst>
          </p:cNvPr>
          <p:cNvSpPr>
            <a:spLocks xmlns:a="http://schemas.openxmlformats.org/drawingml/2006/main" noGrp="1"/>
          </p:cNvSpPr>
          <p:nvPr/>
        </p:nvSpPr>
        <p:spPr>
          <a:xfrm xmlns:a="http://schemas.openxmlformats.org/drawingml/2006/main">
            <a:off x="1020701" y="2893914"/>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4A924DC3-FEA9-4E02-B42A-34B8FB3D3E50}"/>
              </a:ext>
            </a:extLst>
          </p:cNvPr>
          <p:cNvSpPr>
            <a:spLocks xmlns:a="http://schemas.openxmlformats.org/drawingml/2006/main" noGrp="1"/>
          </p:cNvSpPr>
          <p:nvPr/>
        </p:nvSpPr>
        <p:spPr>
          <a:xfrm xmlns:a="http://schemas.openxmlformats.org/drawingml/2006/main">
            <a:off x="1020701" y="3489336"/>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208429B4-CE10-4E99-A69D-8E568835B4FE}"/>
              </a:ext>
            </a:extLst>
          </p:cNvPr>
          <p:cNvSpPr>
            <a:spLocks xmlns:a="http://schemas.openxmlformats.org/drawingml/2006/main" noGrp="1"/>
          </p:cNvSpPr>
          <p:nvPr/>
        </p:nvSpPr>
        <p:spPr>
          <a:xfrm xmlns:a="http://schemas.openxmlformats.org/drawingml/2006/main">
            <a:off x="1020701" y="4084758"/>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895B0B52-4ABD-4857-8777-E6525B2FCCBE}"/>
              </a:ext>
            </a:extLst>
          </p:cNvPr>
          <p:cNvSpPr>
            <a:spLocks xmlns:a="http://schemas.openxmlformats.org/drawingml/2006/main" noGrp="1"/>
          </p:cNvSpPr>
          <p:nvPr/>
        </p:nvSpPr>
        <p:spPr>
          <a:xfrm xmlns:a="http://schemas.openxmlformats.org/drawingml/2006/main">
            <a:off x="4679666" y="2500041"/>
            <a:ext cx="345729" cy="345729"/>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5BDCB4A3-0DF4-47E1-9B24-E4169F6EFCD0}"/>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3CBAA90E-8089-462D-9E03-750192F480B5}"/>
              </a:ext>
            </a:extLst>
          </p:cNvPr>
          <p:cNvSpPr>
            <a:spLocks xmlns:a="http://schemas.openxmlformats.org/drawingml/2006/main" noGrp="1"/>
          </p:cNvSpPr>
          <p:nvPr/>
        </p:nvSpPr>
        <p:spPr>
          <a:xfrm xmlns:a="http://schemas.openxmlformats.org/drawingml/2006/main">
            <a:off x="6607850" y="1956670"/>
            <a:ext cx="928914"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97C595E8-C61B-4BB8-A013-5989D9272DCE}"/>
              </a:ext>
            </a:extLst>
          </p:cNvPr>
          <p:cNvSpPr>
            <a:spLocks xmlns:a="http://schemas.openxmlformats.org/drawingml/2006/main" noGrp="1"/>
          </p:cNvSpPr>
          <p:nvPr/>
        </p:nvSpPr>
        <p:spPr>
          <a:xfrm xmlns:a="http://schemas.openxmlformats.org/drawingml/2006/main">
            <a:off x="6628805" y="2336780"/>
            <a:ext cx="4801791" cy="2640985"/>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C92DD53E-EC6C-44E1-9ABC-93CAC13109C0}"/>
              </a:ext>
            </a:extLst>
          </p:cNvPr>
          <p:cNvSpPr>
            <a:spLocks xmlns:a="http://schemas.openxmlformats.org/drawingml/2006/main" noGrp="1"/>
          </p:cNvSpPr>
          <p:nvPr/>
        </p:nvSpPr>
        <p:spPr>
          <a:xfrm xmlns:a="http://schemas.openxmlformats.org/drawingml/2006/main">
            <a:off x="7349073" y="2528852"/>
            <a:ext cx="3034732" cy="2237634"/>
          </a:xfrm>
          <a:custGeom xmlns:a="http://schemas.openxmlformats.org/drawingml/2006/main">
            <a:pathLst>
              <a:path w="3034732" h="2237634">
                <a:moveTo>
                  <a:pt x="0" y="96036"/>
                </a:moveTo>
                <a:lnTo>
                  <a:pt x="201675" y="0"/>
                </a:lnTo>
                <a:lnTo>
                  <a:pt x="3034732" y="2093581"/>
                </a:lnTo>
                <a:lnTo>
                  <a:pt x="2833056" y="2237634"/>
                </a:lnTo>
                <a:lnTo>
                  <a:pt x="0" y="96036"/>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C634AAA3-0CAD-49B7-8EC7-5A372A264E6C}"/>
              </a:ext>
            </a:extLst>
          </p:cNvPr>
          <p:cNvSpPr>
            <a:spLocks xmlns:a="http://schemas.openxmlformats.org/drawingml/2006/main" noGrp="1"/>
          </p:cNvSpPr>
          <p:nvPr/>
        </p:nvSpPr>
        <p:spPr>
          <a:xfrm xmlns:a="http://schemas.openxmlformats.org/drawingml/2006/main">
            <a:off x="7224227" y="2567266"/>
            <a:ext cx="3217200" cy="2160806"/>
          </a:xfrm>
          <a:custGeom xmlns:a="http://schemas.openxmlformats.org/drawingml/2006/main">
            <a:pathLst>
              <a:path w="3217200" h="2160806">
                <a:moveTo>
                  <a:pt x="0" y="1959131"/>
                </a:moveTo>
                <a:lnTo>
                  <a:pt x="172864" y="2160806"/>
                </a:lnTo>
                <a:lnTo>
                  <a:pt x="3217200" y="211279"/>
                </a:lnTo>
                <a:lnTo>
                  <a:pt x="3044335" y="0"/>
                </a:lnTo>
                <a:lnTo>
                  <a:pt x="0" y="1959131"/>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6F14D829-D8DD-4A24-B877-9353CE8407EF}"/>
              </a:ext>
            </a:extLst>
          </p:cNvPr>
          <p:cNvSpPr>
            <a:spLocks xmlns:a="http://schemas.openxmlformats.org/drawingml/2006/main" noGrp="1"/>
          </p:cNvSpPr>
          <p:nvPr/>
        </p:nvSpPr>
        <p:spPr>
          <a:xfrm xmlns:a="http://schemas.openxmlformats.org/drawingml/2006/main">
            <a:off x="8683971" y="2471230"/>
            <a:ext cx="691458" cy="2304860"/>
          </a:xfrm>
          <a:custGeom xmlns:a="http://schemas.openxmlformats.org/drawingml/2006/main">
            <a:pathLst>
              <a:path w="691458" h="2304860">
                <a:moveTo>
                  <a:pt x="0" y="48018"/>
                </a:moveTo>
                <a:lnTo>
                  <a:pt x="259297" y="0"/>
                </a:lnTo>
                <a:lnTo>
                  <a:pt x="691458" y="2256842"/>
                </a:lnTo>
                <a:lnTo>
                  <a:pt x="432161" y="2304860"/>
                </a:lnTo>
                <a:lnTo>
                  <a:pt x="0" y="48018"/>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9D73C3D9-8EFF-4725-A0A0-1673B2B3726B}"/>
              </a:ext>
            </a:extLst>
          </p:cNvPr>
          <p:cNvSpPr>
            <a:spLocks xmlns:a="http://schemas.openxmlformats.org/drawingml/2006/main" noGrp="1"/>
          </p:cNvSpPr>
          <p:nvPr/>
        </p:nvSpPr>
        <p:spPr>
          <a:xfrm xmlns:a="http://schemas.openxmlformats.org/drawingml/2006/main">
            <a:off x="10585480" y="2989824"/>
            <a:ext cx="845115" cy="1498159"/>
          </a:xfrm>
          <a:custGeom xmlns:a="http://schemas.openxmlformats.org/drawingml/2006/main">
            <a:pathLst>
              <a:path w="845115" h="1498159">
                <a:moveTo>
                  <a:pt x="845115" y="1491720"/>
                </a:moveTo>
                <a:lnTo>
                  <a:pt x="827379" y="1494055"/>
                </a:lnTo>
                <a:lnTo>
                  <a:pt x="788283" y="1497132"/>
                </a:lnTo>
                <a:lnTo>
                  <a:pt x="749079" y="1498159"/>
                </a:lnTo>
                <a:lnTo>
                  <a:pt x="709876" y="1497132"/>
                </a:lnTo>
                <a:lnTo>
                  <a:pt x="670779" y="1494055"/>
                </a:lnTo>
                <a:lnTo>
                  <a:pt x="631898" y="1488936"/>
                </a:lnTo>
                <a:lnTo>
                  <a:pt x="593337" y="1481789"/>
                </a:lnTo>
                <a:lnTo>
                  <a:pt x="555203" y="1472634"/>
                </a:lnTo>
                <a:lnTo>
                  <a:pt x="517601" y="1461496"/>
                </a:lnTo>
                <a:lnTo>
                  <a:pt x="480633" y="1448405"/>
                </a:lnTo>
                <a:lnTo>
                  <a:pt x="444401" y="1433397"/>
                </a:lnTo>
                <a:lnTo>
                  <a:pt x="409004" y="1416514"/>
                </a:lnTo>
                <a:lnTo>
                  <a:pt x="374540" y="1397801"/>
                </a:lnTo>
                <a:lnTo>
                  <a:pt x="341101" y="1377310"/>
                </a:lnTo>
                <a:lnTo>
                  <a:pt x="308782" y="1355097"/>
                </a:lnTo>
                <a:lnTo>
                  <a:pt x="277668" y="1331223"/>
                </a:lnTo>
                <a:lnTo>
                  <a:pt x="247847" y="1305754"/>
                </a:lnTo>
                <a:lnTo>
                  <a:pt x="219400" y="1278758"/>
                </a:lnTo>
                <a:lnTo>
                  <a:pt x="192405" y="1250311"/>
                </a:lnTo>
                <a:lnTo>
                  <a:pt x="166935" y="1220490"/>
                </a:lnTo>
                <a:lnTo>
                  <a:pt x="143061" y="1189377"/>
                </a:lnTo>
                <a:lnTo>
                  <a:pt x="120849" y="1157057"/>
                </a:lnTo>
                <a:lnTo>
                  <a:pt x="100358" y="1123619"/>
                </a:lnTo>
                <a:lnTo>
                  <a:pt x="81645" y="1089154"/>
                </a:lnTo>
                <a:lnTo>
                  <a:pt x="64761" y="1053757"/>
                </a:lnTo>
                <a:lnTo>
                  <a:pt x="49754" y="1017525"/>
                </a:lnTo>
                <a:lnTo>
                  <a:pt x="36663" y="980558"/>
                </a:lnTo>
                <a:lnTo>
                  <a:pt x="25524" y="942955"/>
                </a:lnTo>
                <a:lnTo>
                  <a:pt x="16369" y="904822"/>
                </a:lnTo>
                <a:lnTo>
                  <a:pt x="9222" y="866261"/>
                </a:lnTo>
                <a:lnTo>
                  <a:pt x="4104" y="827379"/>
                </a:lnTo>
                <a:lnTo>
                  <a:pt x="1027" y="788283"/>
                </a:lnTo>
                <a:lnTo>
                  <a:pt x="0" y="749079"/>
                </a:lnTo>
                <a:lnTo>
                  <a:pt x="1027" y="709876"/>
                </a:lnTo>
                <a:lnTo>
                  <a:pt x="4104" y="670779"/>
                </a:lnTo>
                <a:lnTo>
                  <a:pt x="9222" y="631898"/>
                </a:lnTo>
                <a:lnTo>
                  <a:pt x="16369" y="593337"/>
                </a:lnTo>
                <a:lnTo>
                  <a:pt x="25524" y="555203"/>
                </a:lnTo>
                <a:lnTo>
                  <a:pt x="36663" y="517601"/>
                </a:lnTo>
                <a:lnTo>
                  <a:pt x="49754" y="480633"/>
                </a:lnTo>
                <a:lnTo>
                  <a:pt x="64761" y="444401"/>
                </a:lnTo>
                <a:lnTo>
                  <a:pt x="81645" y="409004"/>
                </a:lnTo>
                <a:lnTo>
                  <a:pt x="100358" y="374540"/>
                </a:lnTo>
                <a:lnTo>
                  <a:pt x="120849" y="341101"/>
                </a:lnTo>
                <a:lnTo>
                  <a:pt x="143061" y="308782"/>
                </a:lnTo>
                <a:lnTo>
                  <a:pt x="166935" y="277668"/>
                </a:lnTo>
                <a:lnTo>
                  <a:pt x="192405" y="247847"/>
                </a:lnTo>
                <a:lnTo>
                  <a:pt x="219400" y="219400"/>
                </a:lnTo>
                <a:lnTo>
                  <a:pt x="247847" y="192405"/>
                </a:lnTo>
                <a:lnTo>
                  <a:pt x="277668" y="166935"/>
                </a:lnTo>
                <a:lnTo>
                  <a:pt x="308782" y="143061"/>
                </a:lnTo>
                <a:lnTo>
                  <a:pt x="341101" y="120849"/>
                </a:lnTo>
                <a:lnTo>
                  <a:pt x="374540" y="100358"/>
                </a:lnTo>
                <a:lnTo>
                  <a:pt x="409004" y="81645"/>
                </a:lnTo>
                <a:lnTo>
                  <a:pt x="444401" y="64761"/>
                </a:lnTo>
                <a:lnTo>
                  <a:pt x="480633" y="49754"/>
                </a:lnTo>
                <a:lnTo>
                  <a:pt x="517601" y="36663"/>
                </a:lnTo>
                <a:lnTo>
                  <a:pt x="555203" y="25524"/>
                </a:lnTo>
                <a:lnTo>
                  <a:pt x="593337" y="16369"/>
                </a:lnTo>
                <a:lnTo>
                  <a:pt x="631898" y="9222"/>
                </a:lnTo>
                <a:lnTo>
                  <a:pt x="670779" y="4104"/>
                </a:lnTo>
                <a:lnTo>
                  <a:pt x="709876" y="1027"/>
                </a:lnTo>
                <a:lnTo>
                  <a:pt x="749079" y="0"/>
                </a:lnTo>
                <a:lnTo>
                  <a:pt x="788283" y="1027"/>
                </a:lnTo>
                <a:lnTo>
                  <a:pt x="827379" y="4104"/>
                </a:lnTo>
                <a:lnTo>
                  <a:pt x="845115" y="6438"/>
                </a:lnTo>
                <a:lnTo>
                  <a:pt x="845115" y="1491720"/>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7BF8405C-904A-4030-9FA6-1ECFD906FA43}"/>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1845588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A4A9BC9E-DCEB-4412-A769-753DEDA68DF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93E70A3F-55E5-4202-8D28-5909BD478BF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674B3EB9-846B-4B7C-9A57-29F261745F4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B3B3CAD1-4D33-4C4E-844C-3965FEEEF1AF}"/>
              </a:ext>
            </a:extLst>
          </p:cNvPr>
          <p:cNvPicPr>
            <a:picLocks xmlns:a="http://schemas.openxmlformats.org/drawingml/2006/main" noChangeAspect="1"/>
          </p:cNvPicPr>
          <p:nvPr/>
        </p:nvPicPr>
        <p:blipFill>
          <a:blip xmlns:r="http://schemas.openxmlformats.org/officeDocument/2006/relationships" xmlns:a="http://schemas.openxmlformats.org/drawingml/2006/main" r:embed="R5d52516008d1430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B3FAE37-B6CF-41A3-A23F-7886D06E6AF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BA54147-7091-419A-8E30-8F5301775A5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7CD9F9A-6604-4168-8F62-6A17C1B54AB7}"/>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5CAE3C3-37D1-4278-A758-BAE28B6E53E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F72FB0F-EE43-482D-8EF1-40B950E81362}"/>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BE88B2C-6059-4CB9-A6AA-088F03543AC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56CB65C1-BE0B-4204-A294-E895BB2C5D1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DB0E5D37-42E2-4DEE-A54C-A5471792DD8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91F2C4A-8446-41D3-BB64-653F89F272A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body-0">
            <a:extLst xmlns:a="http://schemas.openxmlformats.org/drawingml/2006/main">
              <a:ext uri="{FF2B5EF4-FFF2-40B4-BE49-F238E27FC236}">
                <a16:creationId xmlns:a16="http://schemas.microsoft.com/office/drawing/2014/main" id="{8AC1F4B0-E440-4594-9C20-632F77259E39}"/>
              </a:ext>
            </a:extLst>
          </p:cNvPr>
          <p:cNvSpPr>
            <a:spLocks xmlns:a="http://schemas.openxmlformats.org/drawingml/2006/main" noGrp="1"/>
          </p:cNvSpPr>
          <p:nvPr/>
        </p:nvSpPr>
        <p:spPr>
          <a:xfrm xmlns:a="http://schemas.openxmlformats.org/drawingml/2006/main">
            <a:off x="381000" y="1904619"/>
            <a:ext cx="11430000" cy="105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'Another viewer may find the open space empty rather than calm. I would recommend this to someone who enjoys simple abstract shapes, because the curves and circle give them a clear colour contrast to explore. My view is based on this image; I do not know its maker's intention.'</a:t>
            </a:r>
          </a:p>
        </p:txBody>
      </p:sp>
    </p:spTree>
    <p:extLst>
      <p:ext uri="{BB962C8B-B14F-4D97-AF65-F5344CB8AC3E}">
        <p14:creationId xmlns:p14="http://schemas.microsoft.com/office/powerpoint/2010/main" val="2074332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D28C0D9-5FE2-4678-A2E4-AC35AF2277E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CFBAF25B-7ABD-4AFC-9DBE-02897910261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C14E7769-7A9D-4624-86ED-488F95673D3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3A1DA50F-0B2B-4653-A8E6-C0FF6932B111}"/>
              </a:ext>
            </a:extLst>
          </p:cNvPr>
          <p:cNvPicPr>
            <a:picLocks xmlns:a="http://schemas.openxmlformats.org/drawingml/2006/main" noChangeAspect="1"/>
          </p:cNvPicPr>
          <p:nvPr/>
        </p:nvPicPr>
        <p:blipFill>
          <a:blip xmlns:r="http://schemas.openxmlformats.org/officeDocument/2006/relationships" xmlns:a="http://schemas.openxmlformats.org/drawingml/2006/main" r:embed="Rba2c5e1c35254ad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780D690-B6D2-4F72-AA6D-CD4E26B473F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A530A01-88B6-4599-A54A-94ABA7359E9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8C7377F-B93C-4E7F-A3D6-0B6BFBC821C8}"/>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D0DDBBF-FEBD-4A2C-B89B-D163B5DB198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09E52A1-4A1C-4CEF-969E-FA3BC2DDD6E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DEAF4DF-6D7F-4CE4-A0DC-CC5EBD09A3F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A62FACA-EF28-466E-B7B4-F74109CA962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4BF8BBE9-FEB5-495C-9BB9-2DFA790FF5C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4DCCED3-19C5-4CEB-A8BA-DF0082414EA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figure-flow-0">
            <a:extLst xmlns:a="http://schemas.openxmlformats.org/drawingml/2006/main">
              <a:ext uri="{FF2B5EF4-FFF2-40B4-BE49-F238E27FC236}">
                <a16:creationId xmlns:a16="http://schemas.microsoft.com/office/drawing/2014/main" id="{2089F5B0-7E4F-4BEE-AA6B-5C34F6EA5CF1}"/>
              </a:ext>
            </a:extLst>
          </p:cNvPr>
          <p:cNvSpPr>
            <a:spLocks xmlns:a="http://schemas.openxmlformats.org/drawingml/2006/main" noGrp="1"/>
          </p:cNvSpPr>
          <p:nvPr/>
        </p:nvSpPr>
        <p:spPr>
          <a:xfrm xmlns:a="http://schemas.openxmlformats.org/drawingml/2006/main">
            <a:off x="740450" y="1956670"/>
            <a:ext cx="541329"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C87BF5C7-F738-4F94-A046-4B9F8633DBAF}"/>
              </a:ext>
            </a:extLst>
          </p:cNvPr>
          <p:cNvSpPr>
            <a:spLocks xmlns:a="http://schemas.openxmlformats.org/drawingml/2006/main" noGrp="1"/>
          </p:cNvSpPr>
          <p:nvPr/>
        </p:nvSpPr>
        <p:spPr>
          <a:xfrm xmlns:a="http://schemas.openxmlformats.org/drawingml/2006/main">
            <a:off x="761405" y="2336780"/>
            <a:ext cx="4801791" cy="2640985"/>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EACEFE32-623B-40FA-AB1C-7A93340E868F}"/>
              </a:ext>
            </a:extLst>
          </p:cNvPr>
          <p:cNvSpPr>
            <a:spLocks xmlns:a="http://schemas.openxmlformats.org/drawingml/2006/main" noGrp="1"/>
          </p:cNvSpPr>
          <p:nvPr/>
        </p:nvSpPr>
        <p:spPr>
          <a:xfrm xmlns:a="http://schemas.openxmlformats.org/drawingml/2006/main">
            <a:off x="1020701" y="2893914"/>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71511414-190A-4267-A2FC-AF96371BBEF6}"/>
              </a:ext>
            </a:extLst>
          </p:cNvPr>
          <p:cNvSpPr>
            <a:spLocks xmlns:a="http://schemas.openxmlformats.org/drawingml/2006/main" noGrp="1"/>
          </p:cNvSpPr>
          <p:nvPr/>
        </p:nvSpPr>
        <p:spPr>
          <a:xfrm xmlns:a="http://schemas.openxmlformats.org/drawingml/2006/main">
            <a:off x="1020701" y="3489336"/>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25FD2D01-F0E8-46FC-BBBF-5024EC3DE749}"/>
              </a:ext>
            </a:extLst>
          </p:cNvPr>
          <p:cNvSpPr>
            <a:spLocks xmlns:a="http://schemas.openxmlformats.org/drawingml/2006/main" noGrp="1"/>
          </p:cNvSpPr>
          <p:nvPr/>
        </p:nvSpPr>
        <p:spPr>
          <a:xfrm xmlns:a="http://schemas.openxmlformats.org/drawingml/2006/main">
            <a:off x="1020701" y="4084758"/>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A5CC231B-EF33-4A5D-A1D4-7D66431F5290}"/>
              </a:ext>
            </a:extLst>
          </p:cNvPr>
          <p:cNvSpPr>
            <a:spLocks xmlns:a="http://schemas.openxmlformats.org/drawingml/2006/main" noGrp="1"/>
          </p:cNvSpPr>
          <p:nvPr/>
        </p:nvSpPr>
        <p:spPr>
          <a:xfrm xmlns:a="http://schemas.openxmlformats.org/drawingml/2006/main">
            <a:off x="4679666" y="2500041"/>
            <a:ext cx="345729" cy="345729"/>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303AB65D-C822-414F-984A-10E5800E0954}"/>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3167F229-0D8D-4F02-82E8-BE00A308068F}"/>
              </a:ext>
            </a:extLst>
          </p:cNvPr>
          <p:cNvSpPr>
            <a:spLocks xmlns:a="http://schemas.openxmlformats.org/drawingml/2006/main" noGrp="1"/>
          </p:cNvSpPr>
          <p:nvPr/>
        </p:nvSpPr>
        <p:spPr>
          <a:xfrm xmlns:a="http://schemas.openxmlformats.org/drawingml/2006/main">
            <a:off x="6607850" y="1956670"/>
            <a:ext cx="928914"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494A8E72-951B-4962-80FF-322C994AD344}"/>
              </a:ext>
            </a:extLst>
          </p:cNvPr>
          <p:cNvSpPr>
            <a:spLocks xmlns:a="http://schemas.openxmlformats.org/drawingml/2006/main" noGrp="1"/>
          </p:cNvSpPr>
          <p:nvPr/>
        </p:nvSpPr>
        <p:spPr>
          <a:xfrm xmlns:a="http://schemas.openxmlformats.org/drawingml/2006/main">
            <a:off x="6628805" y="2336780"/>
            <a:ext cx="4801791" cy="2640985"/>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8ABCF785-89E7-4415-B4AC-76AA37DF118F}"/>
              </a:ext>
            </a:extLst>
          </p:cNvPr>
          <p:cNvSpPr>
            <a:spLocks xmlns:a="http://schemas.openxmlformats.org/drawingml/2006/main" noGrp="1"/>
          </p:cNvSpPr>
          <p:nvPr/>
        </p:nvSpPr>
        <p:spPr>
          <a:xfrm xmlns:a="http://schemas.openxmlformats.org/drawingml/2006/main">
            <a:off x="7349073" y="2528852"/>
            <a:ext cx="3034732" cy="2237634"/>
          </a:xfrm>
          <a:custGeom xmlns:a="http://schemas.openxmlformats.org/drawingml/2006/main">
            <a:pathLst>
              <a:path w="3034732" h="2237634">
                <a:moveTo>
                  <a:pt x="0" y="96036"/>
                </a:moveTo>
                <a:lnTo>
                  <a:pt x="201675" y="0"/>
                </a:lnTo>
                <a:lnTo>
                  <a:pt x="3034732" y="2093581"/>
                </a:lnTo>
                <a:lnTo>
                  <a:pt x="2833056" y="2237634"/>
                </a:lnTo>
                <a:lnTo>
                  <a:pt x="0" y="96036"/>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F9B7DB64-5A37-4C73-A466-99598082F858}"/>
              </a:ext>
            </a:extLst>
          </p:cNvPr>
          <p:cNvSpPr>
            <a:spLocks xmlns:a="http://schemas.openxmlformats.org/drawingml/2006/main" noGrp="1"/>
          </p:cNvSpPr>
          <p:nvPr/>
        </p:nvSpPr>
        <p:spPr>
          <a:xfrm xmlns:a="http://schemas.openxmlformats.org/drawingml/2006/main">
            <a:off x="7224227" y="2567266"/>
            <a:ext cx="3217200" cy="2160806"/>
          </a:xfrm>
          <a:custGeom xmlns:a="http://schemas.openxmlformats.org/drawingml/2006/main">
            <a:pathLst>
              <a:path w="3217200" h="2160806">
                <a:moveTo>
                  <a:pt x="0" y="1959131"/>
                </a:moveTo>
                <a:lnTo>
                  <a:pt x="172864" y="2160806"/>
                </a:lnTo>
                <a:lnTo>
                  <a:pt x="3217200" y="211279"/>
                </a:lnTo>
                <a:lnTo>
                  <a:pt x="3044335" y="0"/>
                </a:lnTo>
                <a:lnTo>
                  <a:pt x="0" y="1959131"/>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C373C008-F173-4119-AC27-70C5BF2489A8}"/>
              </a:ext>
            </a:extLst>
          </p:cNvPr>
          <p:cNvSpPr>
            <a:spLocks xmlns:a="http://schemas.openxmlformats.org/drawingml/2006/main" noGrp="1"/>
          </p:cNvSpPr>
          <p:nvPr/>
        </p:nvSpPr>
        <p:spPr>
          <a:xfrm xmlns:a="http://schemas.openxmlformats.org/drawingml/2006/main">
            <a:off x="8683971" y="2471230"/>
            <a:ext cx="691458" cy="2304860"/>
          </a:xfrm>
          <a:custGeom xmlns:a="http://schemas.openxmlformats.org/drawingml/2006/main">
            <a:pathLst>
              <a:path w="691458" h="2304860">
                <a:moveTo>
                  <a:pt x="0" y="48018"/>
                </a:moveTo>
                <a:lnTo>
                  <a:pt x="259297" y="0"/>
                </a:lnTo>
                <a:lnTo>
                  <a:pt x="691458" y="2256842"/>
                </a:lnTo>
                <a:lnTo>
                  <a:pt x="432161" y="2304860"/>
                </a:lnTo>
                <a:lnTo>
                  <a:pt x="0" y="48018"/>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12A4B181-E9C5-481B-9626-4EF553B325C8}"/>
              </a:ext>
            </a:extLst>
          </p:cNvPr>
          <p:cNvSpPr>
            <a:spLocks xmlns:a="http://schemas.openxmlformats.org/drawingml/2006/main" noGrp="1"/>
          </p:cNvSpPr>
          <p:nvPr/>
        </p:nvSpPr>
        <p:spPr>
          <a:xfrm xmlns:a="http://schemas.openxmlformats.org/drawingml/2006/main">
            <a:off x="10585480" y="2989824"/>
            <a:ext cx="845115" cy="1498159"/>
          </a:xfrm>
          <a:custGeom xmlns:a="http://schemas.openxmlformats.org/drawingml/2006/main">
            <a:pathLst>
              <a:path w="845115" h="1498159">
                <a:moveTo>
                  <a:pt x="845115" y="1491720"/>
                </a:moveTo>
                <a:lnTo>
                  <a:pt x="827379" y="1494055"/>
                </a:lnTo>
                <a:lnTo>
                  <a:pt x="788283" y="1497132"/>
                </a:lnTo>
                <a:lnTo>
                  <a:pt x="749079" y="1498159"/>
                </a:lnTo>
                <a:lnTo>
                  <a:pt x="709876" y="1497132"/>
                </a:lnTo>
                <a:lnTo>
                  <a:pt x="670779" y="1494055"/>
                </a:lnTo>
                <a:lnTo>
                  <a:pt x="631898" y="1488936"/>
                </a:lnTo>
                <a:lnTo>
                  <a:pt x="593337" y="1481789"/>
                </a:lnTo>
                <a:lnTo>
                  <a:pt x="555203" y="1472634"/>
                </a:lnTo>
                <a:lnTo>
                  <a:pt x="517601" y="1461496"/>
                </a:lnTo>
                <a:lnTo>
                  <a:pt x="480633" y="1448405"/>
                </a:lnTo>
                <a:lnTo>
                  <a:pt x="444401" y="1433397"/>
                </a:lnTo>
                <a:lnTo>
                  <a:pt x="409004" y="1416514"/>
                </a:lnTo>
                <a:lnTo>
                  <a:pt x="374540" y="1397801"/>
                </a:lnTo>
                <a:lnTo>
                  <a:pt x="341101" y="1377310"/>
                </a:lnTo>
                <a:lnTo>
                  <a:pt x="308782" y="1355097"/>
                </a:lnTo>
                <a:lnTo>
                  <a:pt x="277668" y="1331223"/>
                </a:lnTo>
                <a:lnTo>
                  <a:pt x="247847" y="1305754"/>
                </a:lnTo>
                <a:lnTo>
                  <a:pt x="219400" y="1278758"/>
                </a:lnTo>
                <a:lnTo>
                  <a:pt x="192405" y="1250311"/>
                </a:lnTo>
                <a:lnTo>
                  <a:pt x="166935" y="1220490"/>
                </a:lnTo>
                <a:lnTo>
                  <a:pt x="143061" y="1189377"/>
                </a:lnTo>
                <a:lnTo>
                  <a:pt x="120849" y="1157057"/>
                </a:lnTo>
                <a:lnTo>
                  <a:pt x="100358" y="1123619"/>
                </a:lnTo>
                <a:lnTo>
                  <a:pt x="81645" y="1089154"/>
                </a:lnTo>
                <a:lnTo>
                  <a:pt x="64761" y="1053757"/>
                </a:lnTo>
                <a:lnTo>
                  <a:pt x="49754" y="1017525"/>
                </a:lnTo>
                <a:lnTo>
                  <a:pt x="36663" y="980558"/>
                </a:lnTo>
                <a:lnTo>
                  <a:pt x="25524" y="942955"/>
                </a:lnTo>
                <a:lnTo>
                  <a:pt x="16369" y="904822"/>
                </a:lnTo>
                <a:lnTo>
                  <a:pt x="9222" y="866261"/>
                </a:lnTo>
                <a:lnTo>
                  <a:pt x="4104" y="827379"/>
                </a:lnTo>
                <a:lnTo>
                  <a:pt x="1027" y="788283"/>
                </a:lnTo>
                <a:lnTo>
                  <a:pt x="0" y="749079"/>
                </a:lnTo>
                <a:lnTo>
                  <a:pt x="1027" y="709876"/>
                </a:lnTo>
                <a:lnTo>
                  <a:pt x="4104" y="670779"/>
                </a:lnTo>
                <a:lnTo>
                  <a:pt x="9222" y="631898"/>
                </a:lnTo>
                <a:lnTo>
                  <a:pt x="16369" y="593337"/>
                </a:lnTo>
                <a:lnTo>
                  <a:pt x="25524" y="555203"/>
                </a:lnTo>
                <a:lnTo>
                  <a:pt x="36663" y="517601"/>
                </a:lnTo>
                <a:lnTo>
                  <a:pt x="49754" y="480633"/>
                </a:lnTo>
                <a:lnTo>
                  <a:pt x="64761" y="444401"/>
                </a:lnTo>
                <a:lnTo>
                  <a:pt x="81645" y="409004"/>
                </a:lnTo>
                <a:lnTo>
                  <a:pt x="100358" y="374540"/>
                </a:lnTo>
                <a:lnTo>
                  <a:pt x="120849" y="341101"/>
                </a:lnTo>
                <a:lnTo>
                  <a:pt x="143061" y="308782"/>
                </a:lnTo>
                <a:lnTo>
                  <a:pt x="166935" y="277668"/>
                </a:lnTo>
                <a:lnTo>
                  <a:pt x="192405" y="247847"/>
                </a:lnTo>
                <a:lnTo>
                  <a:pt x="219400" y="219400"/>
                </a:lnTo>
                <a:lnTo>
                  <a:pt x="247847" y="192405"/>
                </a:lnTo>
                <a:lnTo>
                  <a:pt x="277668" y="166935"/>
                </a:lnTo>
                <a:lnTo>
                  <a:pt x="308782" y="143061"/>
                </a:lnTo>
                <a:lnTo>
                  <a:pt x="341101" y="120849"/>
                </a:lnTo>
                <a:lnTo>
                  <a:pt x="374540" y="100358"/>
                </a:lnTo>
                <a:lnTo>
                  <a:pt x="409004" y="81645"/>
                </a:lnTo>
                <a:lnTo>
                  <a:pt x="444401" y="64761"/>
                </a:lnTo>
                <a:lnTo>
                  <a:pt x="480633" y="49754"/>
                </a:lnTo>
                <a:lnTo>
                  <a:pt x="517601" y="36663"/>
                </a:lnTo>
                <a:lnTo>
                  <a:pt x="555203" y="25524"/>
                </a:lnTo>
                <a:lnTo>
                  <a:pt x="593337" y="16369"/>
                </a:lnTo>
                <a:lnTo>
                  <a:pt x="631898" y="9222"/>
                </a:lnTo>
                <a:lnTo>
                  <a:pt x="670779" y="4104"/>
                </a:lnTo>
                <a:lnTo>
                  <a:pt x="709876" y="1027"/>
                </a:lnTo>
                <a:lnTo>
                  <a:pt x="749079" y="0"/>
                </a:lnTo>
                <a:lnTo>
                  <a:pt x="788283" y="1027"/>
                </a:lnTo>
                <a:lnTo>
                  <a:pt x="827379" y="4104"/>
                </a:lnTo>
                <a:lnTo>
                  <a:pt x="845115" y="6438"/>
                </a:lnTo>
                <a:lnTo>
                  <a:pt x="845115" y="1491720"/>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EDF1F85D-08B4-4C87-9099-53FED5496BBF}"/>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7338871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CB49E37C-6AB5-445B-B4ED-A535C02DAB5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5F3BF6F0-95F1-468A-943C-2553383150A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5A9D26D7-3C64-410D-90BE-BD97CB7B284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FF99B48F-F863-403A-81CF-A0445D6A2870}"/>
              </a:ext>
            </a:extLst>
          </p:cNvPr>
          <p:cNvPicPr>
            <a:picLocks xmlns:a="http://schemas.openxmlformats.org/drawingml/2006/main" noChangeAspect="1"/>
          </p:cNvPicPr>
          <p:nvPr/>
        </p:nvPicPr>
        <p:blipFill>
          <a:blip xmlns:r="http://schemas.openxmlformats.org/officeDocument/2006/relationships" xmlns:a="http://schemas.openxmlformats.org/drawingml/2006/main" r:embed="R1d9f7dc0e4e44ee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0F9903E-5130-4888-AEBB-8010DD4C445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547F91D-4C6D-4467-8981-20C6051DE87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B7B8F58-8D87-4745-A982-D6759EC8699B}"/>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D745822-D206-4EA7-8779-0C7AAEDEEC8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1B828A2-B40B-4A02-9BF3-39F87F94C8A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1B303B8-729D-42F7-AB54-389FD6F1963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232F3D5-8FAC-4FDF-9E7C-52DAFC025B4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D3B5BD9E-4809-4F51-BBC7-68C196D46F0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E7D4566-A54E-4F48-A05C-9C86866C532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vocabulary-heading">
            <a:extLst xmlns:a="http://schemas.openxmlformats.org/drawingml/2006/main">
              <a:ext uri="{FF2B5EF4-FFF2-40B4-BE49-F238E27FC236}">
                <a16:creationId xmlns:a16="http://schemas.microsoft.com/office/drawing/2014/main" id="{6673F3CE-E752-4AFD-9F45-79B9F06EEDC2}"/>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665081"/>
                </a:solidFill>
                <a:latin typeface="Arial"/>
                <a:ea typeface="Arial"/>
                <a:cs typeface="Arial"/>
              </a:defRPr>
            </a:defPPr>
          </a:lstStyle>
          <a:p xmlns:a="http://schemas.openxmlformats.org/drawingml/2006/main">
            <a:pPr algn="l">
              <a:lnSpc>
                <a:spcPct val="108000"/>
              </a:lnSpc>
              <a:buNone/>
              <a:defRPr sz="1875" b="1" lang="en-GB">
                <a:solidFill>
                  <a:srgbClr val="665081"/>
                </a:solidFill>
                <a:latin typeface="Arial"/>
                <a:ea typeface="Arial"/>
                <a:cs typeface="Arial"/>
              </a:defRPr>
            </a:pPr>
            <a:r>
              <a:rPr sz="1875" b="1" lang="en-GB">
                <a:solidFill>
                  <a:srgbClr val="665081"/>
                </a:solidFill>
                <a:latin typeface="Arial"/>
                <a:ea typeface="Arial"/>
                <a:cs typeface="Arial"/>
              </a:rPr>
              <a:t>Must-know words — four</a:t>
            </a:r>
          </a:p>
        </p:txBody>
      </p:sp>
      <p:sp>
        <p:nvSpPr>
          <p:cNvPr id="15" name="vocabulary-0">
            <a:extLst xmlns:a="http://schemas.openxmlformats.org/drawingml/2006/main">
              <a:ext uri="{FF2B5EF4-FFF2-40B4-BE49-F238E27FC236}">
                <a16:creationId xmlns:a16="http://schemas.microsoft.com/office/drawing/2014/main" id="{85126D6F-8B87-427C-A932-63713FFF3963}"/>
              </a:ext>
            </a:extLst>
          </p:cNvPr>
          <p:cNvSpPr>
            <a:spLocks xmlns:a="http://schemas.openxmlformats.org/drawingml/2006/main" noGrp="1"/>
          </p:cNvSpPr>
          <p:nvPr/>
        </p:nvSpPr>
        <p:spPr>
          <a:xfrm xmlns:a="http://schemas.openxmlformats.org/drawingml/2006/main">
            <a:off x="3810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feature — a particular part of a work that you can identify.</a:t>
            </a:r>
          </a:p>
        </p:txBody>
      </p:sp>
      <p:sp>
        <p:nvSpPr>
          <p:cNvPr id="16" name="figure-word_feature-0">
            <a:extLst xmlns:a="http://schemas.openxmlformats.org/drawingml/2006/main">
              <a:ext uri="{FF2B5EF4-FFF2-40B4-BE49-F238E27FC236}">
                <a16:creationId xmlns:a16="http://schemas.microsoft.com/office/drawing/2014/main" id="{F11BD0A6-153A-4585-9D5B-425EFA39A98C}"/>
              </a:ext>
            </a:extLst>
          </p:cNvPr>
          <p:cNvSpPr>
            <a:spLocks xmlns:a="http://schemas.openxmlformats.org/drawingml/2006/main" noGrp="1"/>
          </p:cNvSpPr>
          <p:nvPr/>
        </p:nvSpPr>
        <p:spPr>
          <a:xfrm xmlns:a="http://schemas.openxmlformats.org/drawingml/2006/main">
            <a:off x="1310869" y="3259938"/>
            <a:ext cx="3702863" cy="2088794"/>
          </a:xfrm>
          <a:prstGeom xmlns:a="http://schemas.openxmlformats.org/drawingml/2006/main" prst="rect">
            <a:avLst/>
          </a:prstGeom>
          <a:solidFill xmlns:a="http://schemas.openxmlformats.org/drawingml/2006/main">
            <a:srgbClr val="FFF2D8"/>
          </a:solidFill>
          <a:ln xmlns:a="http://schemas.openxmlformats.org/drawingml/2006/main" w="31648">
            <a:solidFill>
              <a:srgbClr val="152238"/>
            </a:solidFill>
          </a:ln>
        </p:spPr>
      </p:sp>
      <p:sp>
        <p:nvSpPr>
          <p:cNvPr id="17" name="figure-word_feature-1">
            <a:extLst xmlns:a="http://schemas.openxmlformats.org/drawingml/2006/main">
              <a:ext uri="{FF2B5EF4-FFF2-40B4-BE49-F238E27FC236}">
                <a16:creationId xmlns:a16="http://schemas.microsoft.com/office/drawing/2014/main" id="{423F4308-D88D-444B-BA80-DD885A9A3AFD}"/>
              </a:ext>
            </a:extLst>
          </p:cNvPr>
          <p:cNvSpPr>
            <a:spLocks xmlns:a="http://schemas.openxmlformats.org/drawingml/2006/main" noGrp="1"/>
          </p:cNvSpPr>
          <p:nvPr/>
        </p:nvSpPr>
        <p:spPr>
          <a:xfrm xmlns:a="http://schemas.openxmlformats.org/drawingml/2006/main">
            <a:off x="3605378" y="3766312"/>
            <a:ext cx="759562" cy="759562"/>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18" name="figure-word_feature-2">
            <a:extLst xmlns:a="http://schemas.openxmlformats.org/drawingml/2006/main">
              <a:ext uri="{FF2B5EF4-FFF2-40B4-BE49-F238E27FC236}">
                <a16:creationId xmlns:a16="http://schemas.microsoft.com/office/drawing/2014/main" id="{1D37F43C-6F45-4172-9848-E48B3C62B8BC}"/>
              </a:ext>
            </a:extLst>
          </p:cNvPr>
          <p:cNvSpPr>
            <a:spLocks xmlns:a="http://schemas.openxmlformats.org/drawingml/2006/main" noGrp="1"/>
          </p:cNvSpPr>
          <p:nvPr/>
        </p:nvSpPr>
        <p:spPr>
          <a:xfrm xmlns:a="http://schemas.openxmlformats.org/drawingml/2006/main">
            <a:off x="1753946" y="4288511"/>
            <a:ext cx="1772310" cy="632968"/>
          </a:xfrm>
          <a:custGeom xmlns:a="http://schemas.openxmlformats.org/drawingml/2006/main">
            <a:pathLst>
              <a:path w="1772310" h="632968">
                <a:moveTo>
                  <a:pt x="0" y="632968"/>
                </a:moveTo>
                <a:lnTo>
                  <a:pt x="1772310" y="0"/>
                </a:lnTo>
              </a:path>
            </a:pathLst>
          </a:custGeom>
          <a:noFill xmlns:a="http://schemas.openxmlformats.org/drawingml/2006/main"/>
          <a:ln xmlns:a="http://schemas.openxmlformats.org/drawingml/2006/main" w="47473">
            <a:solidFill>
              <a:srgbClr val="152238"/>
            </a:solidFill>
          </a:ln>
        </p:spPr>
      </p:sp>
      <p:sp>
        <p:nvSpPr>
          <p:cNvPr id="19" name="figure-word_feature-3">
            <a:extLst xmlns:a="http://schemas.openxmlformats.org/drawingml/2006/main">
              <a:ext uri="{FF2B5EF4-FFF2-40B4-BE49-F238E27FC236}">
                <a16:creationId xmlns:a16="http://schemas.microsoft.com/office/drawing/2014/main" id="{F4F3C833-7A2C-4658-BB1C-537797473D2B}"/>
              </a:ext>
            </a:extLst>
          </p:cNvPr>
          <p:cNvSpPr>
            <a:spLocks xmlns:a="http://schemas.openxmlformats.org/drawingml/2006/main" noGrp="1"/>
          </p:cNvSpPr>
          <p:nvPr/>
        </p:nvSpPr>
        <p:spPr>
          <a:xfrm xmlns:a="http://schemas.openxmlformats.org/drawingml/2006/main">
            <a:off x="3273069" y="4256862"/>
            <a:ext cx="253187" cy="31648"/>
          </a:xfrm>
          <a:custGeom xmlns:a="http://schemas.openxmlformats.org/drawingml/2006/main">
            <a:pathLst>
              <a:path w="253187" h="31648">
                <a:moveTo>
                  <a:pt x="253187" y="31648"/>
                </a:moveTo>
                <a:lnTo>
                  <a:pt x="0" y="0"/>
                </a:lnTo>
              </a:path>
            </a:pathLst>
          </a:custGeom>
          <a:noFill xmlns:a="http://schemas.openxmlformats.org/drawingml/2006/main"/>
          <a:ln xmlns:a="http://schemas.openxmlformats.org/drawingml/2006/main" w="47473">
            <a:solidFill>
              <a:srgbClr val="152238"/>
            </a:solidFill>
          </a:ln>
        </p:spPr>
      </p:sp>
      <p:sp>
        <p:nvSpPr>
          <p:cNvPr id="20" name="figure-word_feature-4">
            <a:extLst xmlns:a="http://schemas.openxmlformats.org/drawingml/2006/main">
              <a:ext uri="{FF2B5EF4-FFF2-40B4-BE49-F238E27FC236}">
                <a16:creationId xmlns:a16="http://schemas.microsoft.com/office/drawing/2014/main" id="{F3246869-CBB1-4E9A-8D98-63E4AC934418}"/>
              </a:ext>
            </a:extLst>
          </p:cNvPr>
          <p:cNvSpPr>
            <a:spLocks xmlns:a="http://schemas.openxmlformats.org/drawingml/2006/main" noGrp="1"/>
          </p:cNvSpPr>
          <p:nvPr/>
        </p:nvSpPr>
        <p:spPr>
          <a:xfrm xmlns:a="http://schemas.openxmlformats.org/drawingml/2006/main">
            <a:off x="3352190" y="4288511"/>
            <a:ext cx="174066" cy="221539"/>
          </a:xfrm>
          <a:custGeom xmlns:a="http://schemas.openxmlformats.org/drawingml/2006/main">
            <a:pathLst>
              <a:path w="174066" h="221539">
                <a:moveTo>
                  <a:pt x="174066" y="0"/>
                </a:moveTo>
                <a:lnTo>
                  <a:pt x="0" y="221539"/>
                </a:lnTo>
              </a:path>
            </a:pathLst>
          </a:custGeom>
          <a:noFill xmlns:a="http://schemas.openxmlformats.org/drawingml/2006/main"/>
          <a:ln xmlns:a="http://schemas.openxmlformats.org/drawingml/2006/main" w="47473">
            <a:solidFill>
              <a:srgbClr val="152238"/>
            </a:solidFill>
          </a:ln>
        </p:spPr>
      </p:sp>
      <p:sp>
        <p:nvSpPr>
          <p:cNvPr id="21" name="figure-description-word_feature">
            <a:extLst xmlns:a="http://schemas.openxmlformats.org/drawingml/2006/main">
              <a:ext uri="{FF2B5EF4-FFF2-40B4-BE49-F238E27FC236}">
                <a16:creationId xmlns:a16="http://schemas.microsoft.com/office/drawing/2014/main" id="{7EDF0B7F-6F5A-499A-872E-BD9128555701}"/>
              </a:ext>
            </a:extLst>
          </p:cNvPr>
          <p:cNvSpPr>
            <a:spLocks xmlns:a="http://schemas.openxmlformats.org/drawingml/2006/main" noGrp="1"/>
          </p:cNvSpPr>
          <p:nvPr/>
        </p:nvSpPr>
        <p:spPr>
          <a:xfrm xmlns:a="http://schemas.openxmlformats.org/drawingml/2006/main">
            <a:off x="381000" y="560222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An arrow points to one orange circle, showing a feature that can be identified.</a:t>
            </a:r>
          </a:p>
        </p:txBody>
      </p:sp>
      <p:sp>
        <p:nvSpPr>
          <p:cNvPr id="22" name="vocabulary-1">
            <a:extLst xmlns:a="http://schemas.openxmlformats.org/drawingml/2006/main">
              <a:ext uri="{FF2B5EF4-FFF2-40B4-BE49-F238E27FC236}">
                <a16:creationId xmlns:a16="http://schemas.microsoft.com/office/drawing/2014/main" id="{FE9ED38E-00D0-4481-AFE5-B930C3028C20}"/>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evidence — a detail or reliable record that supports a statement.</a:t>
            </a:r>
          </a:p>
        </p:txBody>
      </p:sp>
      <p:sp>
        <p:nvSpPr>
          <p:cNvPr id="23" name="figure-word_evidence-0">
            <a:extLst xmlns:a="http://schemas.openxmlformats.org/drawingml/2006/main">
              <a:ext uri="{FF2B5EF4-FFF2-40B4-BE49-F238E27FC236}">
                <a16:creationId xmlns:a16="http://schemas.microsoft.com/office/drawing/2014/main" id="{3CB8451E-3785-433D-9F21-781C9CBBB3BF}"/>
              </a:ext>
            </a:extLst>
          </p:cNvPr>
          <p:cNvSpPr>
            <a:spLocks xmlns:a="http://schemas.openxmlformats.org/drawingml/2006/main" noGrp="1"/>
          </p:cNvSpPr>
          <p:nvPr/>
        </p:nvSpPr>
        <p:spPr>
          <a:xfrm xmlns:a="http://schemas.openxmlformats.org/drawingml/2006/main">
            <a:off x="7011699" y="3271327"/>
            <a:ext cx="4036002" cy="2276719"/>
          </a:xfrm>
          <a:prstGeom xmlns:a="http://schemas.openxmlformats.org/drawingml/2006/main" prst="rect">
            <a:avLst/>
          </a:prstGeom>
          <a:solidFill xmlns:a="http://schemas.openxmlformats.org/drawingml/2006/main">
            <a:srgbClr val="FFFFFF"/>
          </a:solidFill>
          <a:ln xmlns:a="http://schemas.openxmlformats.org/drawingml/2006/main" w="34496">
            <a:solidFill>
              <a:srgbClr val="152238"/>
            </a:solidFill>
          </a:ln>
        </p:spPr>
      </p:sp>
      <p:sp>
        <p:nvSpPr>
          <p:cNvPr id="24" name="figure-word_evidence-1">
            <a:extLst xmlns:a="http://schemas.openxmlformats.org/drawingml/2006/main">
              <a:ext uri="{FF2B5EF4-FFF2-40B4-BE49-F238E27FC236}">
                <a16:creationId xmlns:a16="http://schemas.microsoft.com/office/drawing/2014/main" id="{DE013504-C1E7-42BB-AA72-6424F2B82140}"/>
              </a:ext>
            </a:extLst>
          </p:cNvPr>
          <p:cNvSpPr>
            <a:spLocks xmlns:a="http://schemas.openxmlformats.org/drawingml/2006/main" noGrp="1"/>
          </p:cNvSpPr>
          <p:nvPr/>
        </p:nvSpPr>
        <p:spPr>
          <a:xfrm xmlns:a="http://schemas.openxmlformats.org/drawingml/2006/main">
            <a:off x="7339409" y="3633532"/>
            <a:ext cx="1586804" cy="224222"/>
          </a:xfrm>
          <a:prstGeom xmlns:a="http://schemas.openxmlformats.org/drawingml/2006/main" prst="rect">
            <a:avLst/>
          </a:prstGeom>
          <a:solidFill xmlns:a="http://schemas.openxmlformats.org/drawingml/2006/main">
            <a:srgbClr val="356BB2"/>
          </a:solidFill>
          <a:ln xmlns:a="http://schemas.openxmlformats.org/drawingml/2006/main" w="0">
            <a:noFill/>
          </a:ln>
        </p:spPr>
      </p:sp>
      <p:sp>
        <p:nvSpPr>
          <p:cNvPr id="25" name="figure-word_evidence-2">
            <a:extLst xmlns:a="http://schemas.openxmlformats.org/drawingml/2006/main">
              <a:ext uri="{FF2B5EF4-FFF2-40B4-BE49-F238E27FC236}">
                <a16:creationId xmlns:a16="http://schemas.microsoft.com/office/drawing/2014/main" id="{0F56DE4F-81BE-4A81-A086-00B706EEBBE7}"/>
              </a:ext>
            </a:extLst>
          </p:cNvPr>
          <p:cNvSpPr>
            <a:spLocks xmlns:a="http://schemas.openxmlformats.org/drawingml/2006/main" noGrp="1"/>
          </p:cNvSpPr>
          <p:nvPr/>
        </p:nvSpPr>
        <p:spPr>
          <a:xfrm xmlns:a="http://schemas.openxmlformats.org/drawingml/2006/main">
            <a:off x="7339409" y="4185464"/>
            <a:ext cx="1586804" cy="224222"/>
          </a:xfrm>
          <a:prstGeom xmlns:a="http://schemas.openxmlformats.org/drawingml/2006/main" prst="rect">
            <a:avLst/>
          </a:prstGeom>
          <a:solidFill xmlns:a="http://schemas.openxmlformats.org/drawingml/2006/main">
            <a:srgbClr val="356BB2"/>
          </a:solidFill>
          <a:ln xmlns:a="http://schemas.openxmlformats.org/drawingml/2006/main" w="0">
            <a:noFill/>
          </a:ln>
        </p:spPr>
      </p:sp>
      <p:sp>
        <p:nvSpPr>
          <p:cNvPr id="26" name="figure-word_evidence-3">
            <a:extLst xmlns:a="http://schemas.openxmlformats.org/drawingml/2006/main">
              <a:ext uri="{FF2B5EF4-FFF2-40B4-BE49-F238E27FC236}">
                <a16:creationId xmlns:a16="http://schemas.microsoft.com/office/drawing/2014/main" id="{8191E316-AAA1-41A1-91E9-2A4F425663DB}"/>
              </a:ext>
            </a:extLst>
          </p:cNvPr>
          <p:cNvSpPr>
            <a:spLocks xmlns:a="http://schemas.openxmlformats.org/drawingml/2006/main" noGrp="1"/>
          </p:cNvSpPr>
          <p:nvPr/>
        </p:nvSpPr>
        <p:spPr>
          <a:xfrm xmlns:a="http://schemas.openxmlformats.org/drawingml/2006/main">
            <a:off x="7339409" y="4737396"/>
            <a:ext cx="1586804" cy="224222"/>
          </a:xfrm>
          <a:prstGeom xmlns:a="http://schemas.openxmlformats.org/drawingml/2006/main" prst="rect">
            <a:avLst/>
          </a:prstGeom>
          <a:solidFill xmlns:a="http://schemas.openxmlformats.org/drawingml/2006/main">
            <a:srgbClr val="356BB2"/>
          </a:solidFill>
          <a:ln xmlns:a="http://schemas.openxmlformats.org/drawingml/2006/main" w="0">
            <a:noFill/>
          </a:ln>
        </p:spPr>
      </p:sp>
      <p:sp>
        <p:nvSpPr>
          <p:cNvPr id="27" name="figure-word_evidence-4">
            <a:extLst xmlns:a="http://schemas.openxmlformats.org/drawingml/2006/main">
              <a:ext uri="{FF2B5EF4-FFF2-40B4-BE49-F238E27FC236}">
                <a16:creationId xmlns:a16="http://schemas.microsoft.com/office/drawing/2014/main" id="{FF914751-742F-4928-961F-DD11BF21F9F3}"/>
              </a:ext>
            </a:extLst>
          </p:cNvPr>
          <p:cNvSpPr>
            <a:spLocks xmlns:a="http://schemas.openxmlformats.org/drawingml/2006/main" noGrp="1"/>
          </p:cNvSpPr>
          <p:nvPr/>
        </p:nvSpPr>
        <p:spPr>
          <a:xfrm xmlns:a="http://schemas.openxmlformats.org/drawingml/2006/main">
            <a:off x="9146728" y="3974350"/>
            <a:ext cx="1030543" cy="386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73" b="0" lang="en-GB">
                <a:solidFill>
                  <a:srgbClr val="152238"/>
                </a:solidFill>
                <a:latin typeface="Arial"/>
                <a:ea typeface="Arial"/>
                <a:cs typeface="Arial"/>
              </a:defRPr>
            </a:defPPr>
          </a:lstStyle>
          <a:p xmlns:a="http://schemas.openxmlformats.org/drawingml/2006/main">
            <a:pPr algn="l">
              <a:lnSpc>
                <a:spcPct val="108000"/>
              </a:lnSpc>
              <a:buNone/>
              <a:defRPr sz="2173" b="0" lang="en-GB">
                <a:solidFill>
                  <a:srgbClr val="152238"/>
                </a:solidFill>
                <a:latin typeface="Arial"/>
                <a:ea typeface="Arial"/>
                <a:cs typeface="Arial"/>
              </a:defRPr>
            </a:pPr>
            <a:r>
              <a:rPr sz="2173" b="0" lang="en-GB">
                <a:solidFill>
                  <a:srgbClr val="152238"/>
                </a:solidFill>
                <a:latin typeface="Arial"/>
                <a:ea typeface="Arial"/>
                <a:cs typeface="Arial"/>
              </a:rPr>
              <a:t>THREE</a:t>
            </a:r>
          </a:p>
        </p:txBody>
      </p:sp>
      <p:sp>
        <p:nvSpPr>
          <p:cNvPr id="28" name="figure-word_evidence-5">
            <a:extLst xmlns:a="http://schemas.openxmlformats.org/drawingml/2006/main">
              <a:ext uri="{FF2B5EF4-FFF2-40B4-BE49-F238E27FC236}">
                <a16:creationId xmlns:a16="http://schemas.microsoft.com/office/drawing/2014/main" id="{3871CE93-F17A-4A91-8099-035BAEBD7DA1}"/>
              </a:ext>
            </a:extLst>
          </p:cNvPr>
          <p:cNvSpPr>
            <a:spLocks xmlns:a="http://schemas.openxmlformats.org/drawingml/2006/main" noGrp="1"/>
          </p:cNvSpPr>
          <p:nvPr/>
        </p:nvSpPr>
        <p:spPr>
          <a:xfrm xmlns:a="http://schemas.openxmlformats.org/drawingml/2006/main">
            <a:off x="9146728" y="4388299"/>
            <a:ext cx="1046039" cy="3863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73" b="0" lang="en-GB">
                <a:solidFill>
                  <a:srgbClr val="152238"/>
                </a:solidFill>
                <a:latin typeface="Arial"/>
                <a:ea typeface="Arial"/>
                <a:cs typeface="Arial"/>
              </a:defRPr>
            </a:defPPr>
          </a:lstStyle>
          <a:p xmlns:a="http://schemas.openxmlformats.org/drawingml/2006/main">
            <a:pPr algn="l">
              <a:lnSpc>
                <a:spcPct val="108000"/>
              </a:lnSpc>
              <a:buNone/>
              <a:defRPr sz="2173" b="0" lang="en-GB">
                <a:solidFill>
                  <a:srgbClr val="152238"/>
                </a:solidFill>
                <a:latin typeface="Arial"/>
                <a:ea typeface="Arial"/>
                <a:cs typeface="Arial"/>
              </a:defRPr>
            </a:pPr>
            <a:r>
              <a:rPr sz="2173" b="0" lang="en-GB">
                <a:solidFill>
                  <a:srgbClr val="152238"/>
                </a:solidFill>
                <a:latin typeface="Arial"/>
                <a:ea typeface="Arial"/>
                <a:cs typeface="Arial"/>
              </a:rPr>
              <a:t>BANDS</a:t>
            </a:r>
          </a:p>
        </p:txBody>
      </p:sp>
      <p:sp>
        <p:nvSpPr>
          <p:cNvPr id="29" name="figure-description-word_evidence">
            <a:extLst xmlns:a="http://schemas.openxmlformats.org/drawingml/2006/main">
              <a:ext uri="{FF2B5EF4-FFF2-40B4-BE49-F238E27FC236}">
                <a16:creationId xmlns:a16="http://schemas.microsoft.com/office/drawing/2014/main" id="{6FFEB348-D3F3-43DD-942B-610AD05FBB7C}"/>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Three blue bands can be counted beside the statement three bands.</a:t>
            </a:r>
          </a:p>
        </p:txBody>
      </p:sp>
    </p:spTree>
    <p:extLst>
      <p:ext uri="{BB962C8B-B14F-4D97-AF65-F5344CB8AC3E}">
        <p14:creationId xmlns:p14="http://schemas.microsoft.com/office/powerpoint/2010/main" val="9404736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C42BB340-2E16-4913-81CD-975843144CB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D973B32C-8255-454D-A2D8-2171A60F232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D054CA87-CEFB-4476-A05F-F69704140E6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0ED1CC98-9619-4258-B138-E3A6E64AF655}"/>
              </a:ext>
            </a:extLst>
          </p:cNvPr>
          <p:cNvPicPr>
            <a:picLocks xmlns:a="http://schemas.openxmlformats.org/drawingml/2006/main" noChangeAspect="1"/>
          </p:cNvPicPr>
          <p:nvPr/>
        </p:nvPicPr>
        <p:blipFill>
          <a:blip xmlns:r="http://schemas.openxmlformats.org/officeDocument/2006/relationships" xmlns:a="http://schemas.openxmlformats.org/drawingml/2006/main" r:embed="R87926978ed3442f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1384DA8-61F7-4651-A051-043E5E85346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ADA0235-46A6-48DB-8332-F1F5A36A425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F95AF04-75A6-471A-B7AB-FC5123951EBF}"/>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B94A629-F028-4DEC-9247-EED0F51AA36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45CFB11-5304-467A-B2B1-DD886FC1880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0032CB6-7A66-412C-BC8E-25E7AE6BD18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8C35470-7300-4E87-A7C8-D9F93C0350F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E9DBBB67-F244-4707-936E-A9DCC7C8429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20D7B3E-545F-4E7B-8623-8B6F6638C76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feature from the model and a word or symbol for its possible effect.</a:t>
            </a:r>
          </a:p>
        </p:txBody>
      </p:sp>
      <p:sp>
        <p:nvSpPr>
          <p:cNvPr id="14" name="vocabulary-heading">
            <a:extLst xmlns:a="http://schemas.openxmlformats.org/drawingml/2006/main">
              <a:ext uri="{FF2B5EF4-FFF2-40B4-BE49-F238E27FC236}">
                <a16:creationId xmlns:a16="http://schemas.microsoft.com/office/drawing/2014/main" id="{6453617B-C3DF-4A92-9108-AC1191055A7D}"/>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665081"/>
                </a:solidFill>
                <a:latin typeface="Arial"/>
                <a:ea typeface="Arial"/>
                <a:cs typeface="Arial"/>
              </a:defRPr>
            </a:defPPr>
          </a:lstStyle>
          <a:p xmlns:a="http://schemas.openxmlformats.org/drawingml/2006/main">
            <a:pPr algn="l">
              <a:lnSpc>
                <a:spcPct val="108000"/>
              </a:lnSpc>
              <a:buNone/>
              <a:defRPr sz="1875" b="1" lang="en-GB">
                <a:solidFill>
                  <a:srgbClr val="665081"/>
                </a:solidFill>
                <a:latin typeface="Arial"/>
                <a:ea typeface="Arial"/>
                <a:cs typeface="Arial"/>
              </a:defRPr>
            </a:pPr>
            <a:r>
              <a:rPr sz="1875" b="1" lang="en-GB">
                <a:solidFill>
                  <a:srgbClr val="665081"/>
                </a:solidFill>
                <a:latin typeface="Arial"/>
                <a:ea typeface="Arial"/>
                <a:cs typeface="Arial"/>
              </a:rPr>
              <a:t>Must-know words — four</a:t>
            </a:r>
          </a:p>
        </p:txBody>
      </p:sp>
      <p:sp>
        <p:nvSpPr>
          <p:cNvPr id="15" name="vocabulary-2">
            <a:extLst xmlns:a="http://schemas.openxmlformats.org/drawingml/2006/main">
              <a:ext uri="{FF2B5EF4-FFF2-40B4-BE49-F238E27FC236}">
                <a16:creationId xmlns:a16="http://schemas.microsoft.com/office/drawing/2014/main" id="{DC010034-0E63-473B-81E4-6CD9BA06DB2B}"/>
              </a:ext>
            </a:extLst>
          </p:cNvPr>
          <p:cNvSpPr>
            <a:spLocks xmlns:a="http://schemas.openxmlformats.org/drawingml/2006/main" noGrp="1"/>
          </p:cNvSpPr>
          <p:nvPr/>
        </p:nvSpPr>
        <p:spPr>
          <a:xfrm xmlns:a="http://schemas.openxmlformats.org/drawingml/2006/main">
            <a:off x="3810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interpretation — a meaning or effect you draw from the work.</a:t>
            </a:r>
          </a:p>
        </p:txBody>
      </p:sp>
      <p:sp>
        <p:nvSpPr>
          <p:cNvPr id="16" name="figure-word_interpretation-0">
            <a:extLst xmlns:a="http://schemas.openxmlformats.org/drawingml/2006/main">
              <a:ext uri="{FF2B5EF4-FFF2-40B4-BE49-F238E27FC236}">
                <a16:creationId xmlns:a16="http://schemas.microsoft.com/office/drawing/2014/main" id="{6EF9431F-2317-4622-B717-7C374E5AE5DE}"/>
              </a:ext>
            </a:extLst>
          </p:cNvPr>
          <p:cNvSpPr>
            <a:spLocks xmlns:a="http://schemas.openxmlformats.org/drawingml/2006/main" noGrp="1"/>
          </p:cNvSpPr>
          <p:nvPr/>
        </p:nvSpPr>
        <p:spPr>
          <a:xfrm xmlns:a="http://schemas.openxmlformats.org/drawingml/2006/main">
            <a:off x="472186" y="3370707"/>
            <a:ext cx="2436927" cy="1645717"/>
          </a:xfrm>
          <a:prstGeom xmlns:a="http://schemas.openxmlformats.org/drawingml/2006/main" prst="rect">
            <a:avLst/>
          </a:prstGeom>
          <a:solidFill xmlns:a="http://schemas.openxmlformats.org/drawingml/2006/main">
            <a:srgbClr val="FFFFFF"/>
          </a:solidFill>
          <a:ln xmlns:a="http://schemas.openxmlformats.org/drawingml/2006/main" w="31648">
            <a:solidFill>
              <a:srgbClr val="152238"/>
            </a:solidFill>
          </a:ln>
        </p:spPr>
      </p:sp>
      <p:sp>
        <p:nvSpPr>
          <p:cNvPr id="17" name="figure-word_interpretation-1">
            <a:extLst xmlns:a="http://schemas.openxmlformats.org/drawingml/2006/main">
              <a:ext uri="{FF2B5EF4-FFF2-40B4-BE49-F238E27FC236}">
                <a16:creationId xmlns:a16="http://schemas.microsoft.com/office/drawing/2014/main" id="{0848DA89-1130-464D-89E2-A9E41D9BB518}"/>
              </a:ext>
            </a:extLst>
          </p:cNvPr>
          <p:cNvSpPr>
            <a:spLocks xmlns:a="http://schemas.openxmlformats.org/drawingml/2006/main" noGrp="1"/>
          </p:cNvSpPr>
          <p:nvPr/>
        </p:nvSpPr>
        <p:spPr>
          <a:xfrm xmlns:a="http://schemas.openxmlformats.org/drawingml/2006/main">
            <a:off x="720242" y="3811727"/>
            <a:ext cx="678196" cy="376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18" b="0" lang="en-GB">
                <a:solidFill>
                  <a:srgbClr val="152238"/>
                </a:solidFill>
                <a:latin typeface="Arial"/>
                <a:ea typeface="Arial"/>
                <a:cs typeface="Arial"/>
              </a:defRPr>
            </a:defPPr>
          </a:lstStyle>
          <a:p xmlns:a="http://schemas.openxmlformats.org/drawingml/2006/main">
            <a:pPr algn="l">
              <a:lnSpc>
                <a:spcPct val="108000"/>
              </a:lnSpc>
              <a:buNone/>
              <a:defRPr sz="2118" b="0" lang="en-GB">
                <a:solidFill>
                  <a:srgbClr val="152238"/>
                </a:solidFill>
                <a:latin typeface="Arial"/>
                <a:ea typeface="Arial"/>
                <a:cs typeface="Arial"/>
              </a:defRPr>
            </a:pPr>
            <a:r>
              <a:rPr sz="2118" b="0" lang="en-GB">
                <a:solidFill>
                  <a:srgbClr val="152238"/>
                </a:solidFill>
                <a:latin typeface="Arial"/>
                <a:ea typeface="Arial"/>
                <a:cs typeface="Arial"/>
              </a:rPr>
              <a:t>ONE</a:t>
            </a:r>
          </a:p>
        </p:txBody>
      </p:sp>
      <p:sp>
        <p:nvSpPr>
          <p:cNvPr id="18" name="figure-word_interpretation-2">
            <a:extLst xmlns:a="http://schemas.openxmlformats.org/drawingml/2006/main">
              <a:ext uri="{FF2B5EF4-FFF2-40B4-BE49-F238E27FC236}">
                <a16:creationId xmlns:a16="http://schemas.microsoft.com/office/drawing/2014/main" id="{9F13728C-279B-4AFF-98C7-28A3829B87C1}"/>
              </a:ext>
            </a:extLst>
          </p:cNvPr>
          <p:cNvSpPr>
            <a:spLocks xmlns:a="http://schemas.openxmlformats.org/drawingml/2006/main" noGrp="1"/>
          </p:cNvSpPr>
          <p:nvPr/>
        </p:nvSpPr>
        <p:spPr>
          <a:xfrm xmlns:a="http://schemas.openxmlformats.org/drawingml/2006/main">
            <a:off x="720242" y="4254805"/>
            <a:ext cx="1320907" cy="376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18" b="0" lang="en-GB">
                <a:solidFill>
                  <a:srgbClr val="152238"/>
                </a:solidFill>
                <a:latin typeface="Arial"/>
                <a:ea typeface="Arial"/>
                <a:cs typeface="Arial"/>
              </a:defRPr>
            </a:defPPr>
          </a:lstStyle>
          <a:p xmlns:a="http://schemas.openxmlformats.org/drawingml/2006/main">
            <a:pPr algn="l">
              <a:lnSpc>
                <a:spcPct val="108000"/>
              </a:lnSpc>
              <a:buNone/>
              <a:defRPr sz="2118" b="0" lang="en-GB">
                <a:solidFill>
                  <a:srgbClr val="152238"/>
                </a:solidFill>
                <a:latin typeface="Arial"/>
                <a:ea typeface="Arial"/>
                <a:cs typeface="Arial"/>
              </a:defRPr>
            </a:pPr>
            <a:r>
              <a:rPr sz="2118" b="0" lang="en-GB">
                <a:solidFill>
                  <a:srgbClr val="152238"/>
                </a:solidFill>
                <a:latin typeface="Arial"/>
                <a:ea typeface="Arial"/>
                <a:cs typeface="Arial"/>
              </a:rPr>
              <a:t>READING</a:t>
            </a:r>
          </a:p>
        </p:txBody>
      </p:sp>
      <p:sp>
        <p:nvSpPr>
          <p:cNvPr id="19" name="figure-word_interpretation-3">
            <a:extLst xmlns:a="http://schemas.openxmlformats.org/drawingml/2006/main">
              <a:ext uri="{FF2B5EF4-FFF2-40B4-BE49-F238E27FC236}">
                <a16:creationId xmlns:a16="http://schemas.microsoft.com/office/drawing/2014/main" id="{CFD9C4ED-EB5B-4056-874E-C70B2F2B17B4}"/>
              </a:ext>
            </a:extLst>
          </p:cNvPr>
          <p:cNvSpPr>
            <a:spLocks xmlns:a="http://schemas.openxmlformats.org/drawingml/2006/main" noGrp="1"/>
          </p:cNvSpPr>
          <p:nvPr/>
        </p:nvSpPr>
        <p:spPr>
          <a:xfrm xmlns:a="http://schemas.openxmlformats.org/drawingml/2006/main">
            <a:off x="3320542" y="3370707"/>
            <a:ext cx="2436927" cy="1645717"/>
          </a:xfrm>
          <a:prstGeom xmlns:a="http://schemas.openxmlformats.org/drawingml/2006/main" prst="rect">
            <a:avLst/>
          </a:prstGeom>
          <a:solidFill xmlns:a="http://schemas.openxmlformats.org/drawingml/2006/main">
            <a:srgbClr val="FFFFFF"/>
          </a:solidFill>
          <a:ln xmlns:a="http://schemas.openxmlformats.org/drawingml/2006/main" w="31648">
            <a:solidFill>
              <a:srgbClr val="152238"/>
            </a:solidFill>
          </a:ln>
        </p:spPr>
      </p:sp>
      <p:sp>
        <p:nvSpPr>
          <p:cNvPr id="20" name="figure-word_interpretation-4">
            <a:extLst xmlns:a="http://schemas.openxmlformats.org/drawingml/2006/main">
              <a:ext uri="{FF2B5EF4-FFF2-40B4-BE49-F238E27FC236}">
                <a16:creationId xmlns:a16="http://schemas.microsoft.com/office/drawing/2014/main" id="{E276DB29-05D2-43D0-8969-F2FFF2D8CB70}"/>
              </a:ext>
            </a:extLst>
          </p:cNvPr>
          <p:cNvSpPr>
            <a:spLocks xmlns:a="http://schemas.openxmlformats.org/drawingml/2006/main" noGrp="1"/>
          </p:cNvSpPr>
          <p:nvPr/>
        </p:nvSpPr>
        <p:spPr>
          <a:xfrm xmlns:a="http://schemas.openxmlformats.org/drawingml/2006/main">
            <a:off x="3521126" y="3811727"/>
            <a:ext cx="1410490" cy="376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18" b="0" lang="en-GB">
                <a:solidFill>
                  <a:srgbClr val="152238"/>
                </a:solidFill>
                <a:latin typeface="Arial"/>
                <a:ea typeface="Arial"/>
                <a:cs typeface="Arial"/>
              </a:defRPr>
            </a:defPPr>
          </a:lstStyle>
          <a:p xmlns:a="http://schemas.openxmlformats.org/drawingml/2006/main">
            <a:pPr algn="l">
              <a:lnSpc>
                <a:spcPct val="108000"/>
              </a:lnSpc>
              <a:buNone/>
              <a:defRPr sz="2118" b="0" lang="en-GB">
                <a:solidFill>
                  <a:srgbClr val="152238"/>
                </a:solidFill>
                <a:latin typeface="Arial"/>
                <a:ea typeface="Arial"/>
                <a:cs typeface="Arial"/>
              </a:defRPr>
            </a:pPr>
            <a:r>
              <a:rPr sz="2118" b="0" lang="en-GB">
                <a:solidFill>
                  <a:srgbClr val="152238"/>
                </a:solidFill>
                <a:latin typeface="Arial"/>
                <a:ea typeface="Arial"/>
                <a:cs typeface="Arial"/>
              </a:rPr>
              <a:t>ANOTHER</a:t>
            </a:r>
          </a:p>
        </p:txBody>
      </p:sp>
      <p:sp>
        <p:nvSpPr>
          <p:cNvPr id="21" name="figure-word_interpretation-5">
            <a:extLst xmlns:a="http://schemas.openxmlformats.org/drawingml/2006/main">
              <a:ext uri="{FF2B5EF4-FFF2-40B4-BE49-F238E27FC236}">
                <a16:creationId xmlns:a16="http://schemas.microsoft.com/office/drawing/2014/main" id="{9B29AC2B-D528-4727-996D-4C9B5C2362C3}"/>
              </a:ext>
            </a:extLst>
          </p:cNvPr>
          <p:cNvSpPr>
            <a:spLocks xmlns:a="http://schemas.openxmlformats.org/drawingml/2006/main" noGrp="1"/>
          </p:cNvSpPr>
          <p:nvPr/>
        </p:nvSpPr>
        <p:spPr>
          <a:xfrm xmlns:a="http://schemas.openxmlformats.org/drawingml/2006/main">
            <a:off x="3521126" y="4254805"/>
            <a:ext cx="1320907" cy="376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118" b="0" lang="en-GB">
                <a:solidFill>
                  <a:srgbClr val="152238"/>
                </a:solidFill>
                <a:latin typeface="Arial"/>
                <a:ea typeface="Arial"/>
                <a:cs typeface="Arial"/>
              </a:defRPr>
            </a:defPPr>
          </a:lstStyle>
          <a:p xmlns:a="http://schemas.openxmlformats.org/drawingml/2006/main">
            <a:pPr algn="l">
              <a:lnSpc>
                <a:spcPct val="108000"/>
              </a:lnSpc>
              <a:buNone/>
              <a:defRPr sz="2118" b="0" lang="en-GB">
                <a:solidFill>
                  <a:srgbClr val="152238"/>
                </a:solidFill>
                <a:latin typeface="Arial"/>
                <a:ea typeface="Arial"/>
                <a:cs typeface="Arial"/>
              </a:defRPr>
            </a:pPr>
            <a:r>
              <a:rPr sz="2118" b="0" lang="en-GB">
                <a:solidFill>
                  <a:srgbClr val="152238"/>
                </a:solidFill>
                <a:latin typeface="Arial"/>
                <a:ea typeface="Arial"/>
                <a:cs typeface="Arial"/>
              </a:rPr>
              <a:t>READING</a:t>
            </a:r>
          </a:p>
        </p:txBody>
      </p:sp>
      <p:sp>
        <p:nvSpPr>
          <p:cNvPr id="22" name="figure-description-word_interpretation">
            <a:extLst xmlns:a="http://schemas.openxmlformats.org/drawingml/2006/main">
              <a:ext uri="{FF2B5EF4-FFF2-40B4-BE49-F238E27FC236}">
                <a16:creationId xmlns:a16="http://schemas.microsoft.com/office/drawing/2014/main" id="{79306220-6A23-464E-BEFF-3A0D9B9791DD}"/>
              </a:ext>
            </a:extLst>
          </p:cNvPr>
          <p:cNvSpPr>
            <a:spLocks xmlns:a="http://schemas.openxmlformats.org/drawingml/2006/main" noGrp="1"/>
          </p:cNvSpPr>
          <p:nvPr/>
        </p:nvSpPr>
        <p:spPr>
          <a:xfrm xmlns:a="http://schemas.openxmlformats.org/drawingml/2006/main">
            <a:off x="381000" y="560222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Two outlined comment cards show that one work can have more than one reading.</a:t>
            </a:r>
          </a:p>
        </p:txBody>
      </p:sp>
      <p:sp>
        <p:nvSpPr>
          <p:cNvPr id="23" name="vocabulary-3">
            <a:extLst xmlns:a="http://schemas.openxmlformats.org/drawingml/2006/main">
              <a:ext uri="{FF2B5EF4-FFF2-40B4-BE49-F238E27FC236}">
                <a16:creationId xmlns:a16="http://schemas.microsoft.com/office/drawing/2014/main" id="{AAB04BF4-C67F-4850-A433-E8ECD1346468}"/>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audience — the people who view, hear or experience the work.</a:t>
            </a:r>
          </a:p>
        </p:txBody>
      </p:sp>
      <p:sp>
        <p:nvSpPr>
          <p:cNvPr id="24" name="figure-word_audience-0">
            <a:extLst xmlns:a="http://schemas.openxmlformats.org/drawingml/2006/main">
              <a:ext uri="{FF2B5EF4-FFF2-40B4-BE49-F238E27FC236}">
                <a16:creationId xmlns:a16="http://schemas.microsoft.com/office/drawing/2014/main" id="{4D1DBAA1-4BD9-49B1-AE3B-C4F4445785DC}"/>
              </a:ext>
            </a:extLst>
          </p:cNvPr>
          <p:cNvSpPr>
            <a:spLocks xmlns:a="http://schemas.openxmlformats.org/drawingml/2006/main" noGrp="1"/>
          </p:cNvSpPr>
          <p:nvPr/>
        </p:nvSpPr>
        <p:spPr>
          <a:xfrm xmlns:a="http://schemas.openxmlformats.org/drawingml/2006/main">
            <a:off x="8378732" y="3383716"/>
            <a:ext cx="1301936" cy="1168404"/>
          </a:xfrm>
          <a:prstGeom xmlns:a="http://schemas.openxmlformats.org/drawingml/2006/main" prst="rect">
            <a:avLst/>
          </a:prstGeom>
          <a:solidFill xmlns:a="http://schemas.openxmlformats.org/drawingml/2006/main">
            <a:srgbClr val="FFFFFF"/>
          </a:solidFill>
          <a:ln xmlns:a="http://schemas.openxmlformats.org/drawingml/2006/main" w="50074">
            <a:solidFill>
              <a:srgbClr val="152238"/>
            </a:solidFill>
          </a:ln>
        </p:spPr>
      </p:sp>
      <p:sp>
        <p:nvSpPr>
          <p:cNvPr id="25" name="figure-word_audience-1">
            <a:extLst xmlns:a="http://schemas.openxmlformats.org/drawingml/2006/main">
              <a:ext uri="{FF2B5EF4-FFF2-40B4-BE49-F238E27FC236}">
                <a16:creationId xmlns:a16="http://schemas.microsoft.com/office/drawing/2014/main" id="{75C1597D-B353-4632-806D-5953DC6A85A4}"/>
              </a:ext>
            </a:extLst>
          </p:cNvPr>
          <p:cNvSpPr>
            <a:spLocks xmlns:a="http://schemas.openxmlformats.org/drawingml/2006/main" noGrp="1"/>
          </p:cNvSpPr>
          <p:nvPr/>
        </p:nvSpPr>
        <p:spPr>
          <a:xfrm xmlns:a="http://schemas.openxmlformats.org/drawingml/2006/main">
            <a:off x="8629104" y="3600706"/>
            <a:ext cx="333830" cy="333830"/>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6" name="figure-word_audience-2">
            <a:extLst xmlns:a="http://schemas.openxmlformats.org/drawingml/2006/main">
              <a:ext uri="{FF2B5EF4-FFF2-40B4-BE49-F238E27FC236}">
                <a16:creationId xmlns:a16="http://schemas.microsoft.com/office/drawing/2014/main" id="{7268A7BA-A51D-4780-9A56-F5F825DA1562}"/>
              </a:ext>
            </a:extLst>
          </p:cNvPr>
          <p:cNvSpPr>
            <a:spLocks xmlns:a="http://schemas.openxmlformats.org/drawingml/2006/main" noGrp="1"/>
          </p:cNvSpPr>
          <p:nvPr/>
        </p:nvSpPr>
        <p:spPr>
          <a:xfrm xmlns:a="http://schemas.openxmlformats.org/drawingml/2006/main">
            <a:off x="8528955" y="3934535"/>
            <a:ext cx="951415" cy="300447"/>
          </a:xfrm>
          <a:custGeom xmlns:a="http://schemas.openxmlformats.org/drawingml/2006/main">
            <a:pathLst>
              <a:path w="951415" h="300447">
                <a:moveTo>
                  <a:pt x="0" y="300447"/>
                </a:moveTo>
                <a:lnTo>
                  <a:pt x="951415" y="0"/>
                </a:lnTo>
              </a:path>
            </a:pathLst>
          </a:custGeom>
          <a:noFill xmlns:a="http://schemas.openxmlformats.org/drawingml/2006/main"/>
          <a:ln xmlns:a="http://schemas.openxmlformats.org/drawingml/2006/main" w="116840">
            <a:solidFill>
              <a:srgbClr val="356BB2"/>
            </a:solidFill>
          </a:ln>
        </p:spPr>
      </p:sp>
      <p:sp>
        <p:nvSpPr>
          <p:cNvPr id="27" name="figure-word_audience-3">
            <a:extLst xmlns:a="http://schemas.openxmlformats.org/drawingml/2006/main">
              <a:ext uri="{FF2B5EF4-FFF2-40B4-BE49-F238E27FC236}">
                <a16:creationId xmlns:a16="http://schemas.microsoft.com/office/drawing/2014/main" id="{A1DF9581-4FA1-4087-823A-A40058A85B59}"/>
              </a:ext>
            </a:extLst>
          </p:cNvPr>
          <p:cNvSpPr>
            <a:spLocks xmlns:a="http://schemas.openxmlformats.org/drawingml/2006/main" noGrp="1"/>
          </p:cNvSpPr>
          <p:nvPr/>
        </p:nvSpPr>
        <p:spPr>
          <a:xfrm xmlns:a="http://schemas.openxmlformats.org/drawingml/2006/main">
            <a:off x="7377243" y="4068067"/>
            <a:ext cx="467362" cy="467362"/>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8" name="figure-word_audience-4">
            <a:extLst xmlns:a="http://schemas.openxmlformats.org/drawingml/2006/main">
              <a:ext uri="{FF2B5EF4-FFF2-40B4-BE49-F238E27FC236}">
                <a16:creationId xmlns:a16="http://schemas.microsoft.com/office/drawing/2014/main" id="{1B3217EC-3D7D-4F94-BF76-1A09FA5C595A}"/>
              </a:ext>
            </a:extLst>
          </p:cNvPr>
          <p:cNvSpPr>
            <a:spLocks xmlns:a="http://schemas.openxmlformats.org/drawingml/2006/main" noGrp="1"/>
          </p:cNvSpPr>
          <p:nvPr/>
        </p:nvSpPr>
        <p:spPr>
          <a:xfrm xmlns:a="http://schemas.openxmlformats.org/drawingml/2006/main">
            <a:off x="7327168" y="4635578"/>
            <a:ext cx="567511" cy="834574"/>
          </a:xfrm>
          <a:prstGeom xmlns:a="http://schemas.openxmlformats.org/drawingml/2006/main" prst="rect">
            <a:avLst/>
          </a:prstGeom>
          <a:solidFill xmlns:a="http://schemas.openxmlformats.org/drawingml/2006/main">
            <a:srgbClr val="152238"/>
          </a:solidFill>
          <a:ln xmlns:a="http://schemas.openxmlformats.org/drawingml/2006/main" w="0">
            <a:noFill/>
          </a:ln>
        </p:spPr>
      </p:sp>
      <p:sp>
        <p:nvSpPr>
          <p:cNvPr id="29" name="figure-word_audience-5">
            <a:extLst xmlns:a="http://schemas.openxmlformats.org/drawingml/2006/main">
              <a:ext uri="{FF2B5EF4-FFF2-40B4-BE49-F238E27FC236}">
                <a16:creationId xmlns:a16="http://schemas.microsoft.com/office/drawing/2014/main" id="{73567117-E607-4197-97E1-02A44FB91940}"/>
              </a:ext>
            </a:extLst>
          </p:cNvPr>
          <p:cNvSpPr>
            <a:spLocks xmlns:a="http://schemas.openxmlformats.org/drawingml/2006/main" noGrp="1"/>
          </p:cNvSpPr>
          <p:nvPr/>
        </p:nvSpPr>
        <p:spPr>
          <a:xfrm xmlns:a="http://schemas.openxmlformats.org/drawingml/2006/main">
            <a:off x="10231487" y="4068067"/>
            <a:ext cx="467362" cy="467362"/>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30" name="figure-word_audience-6">
            <a:extLst xmlns:a="http://schemas.openxmlformats.org/drawingml/2006/main">
              <a:ext uri="{FF2B5EF4-FFF2-40B4-BE49-F238E27FC236}">
                <a16:creationId xmlns:a16="http://schemas.microsoft.com/office/drawing/2014/main" id="{ED336FDC-464A-480F-9A3F-46BE7626EF3E}"/>
              </a:ext>
            </a:extLst>
          </p:cNvPr>
          <p:cNvSpPr>
            <a:spLocks xmlns:a="http://schemas.openxmlformats.org/drawingml/2006/main" noGrp="1"/>
          </p:cNvSpPr>
          <p:nvPr/>
        </p:nvSpPr>
        <p:spPr>
          <a:xfrm xmlns:a="http://schemas.openxmlformats.org/drawingml/2006/main">
            <a:off x="10181413" y="4635578"/>
            <a:ext cx="567511" cy="834574"/>
          </a:xfrm>
          <a:prstGeom xmlns:a="http://schemas.openxmlformats.org/drawingml/2006/main" prst="rect">
            <a:avLst/>
          </a:prstGeom>
          <a:solidFill xmlns:a="http://schemas.openxmlformats.org/drawingml/2006/main">
            <a:srgbClr val="152238"/>
          </a:solidFill>
          <a:ln xmlns:a="http://schemas.openxmlformats.org/drawingml/2006/main" w="0">
            <a:noFill/>
          </a:ln>
        </p:spPr>
      </p:sp>
      <p:sp>
        <p:nvSpPr>
          <p:cNvPr id="31" name="figure-description-word_audience">
            <a:extLst xmlns:a="http://schemas.openxmlformats.org/drawingml/2006/main">
              <a:ext uri="{FF2B5EF4-FFF2-40B4-BE49-F238E27FC236}">
                <a16:creationId xmlns:a16="http://schemas.microsoft.com/office/drawing/2014/main" id="{E445F19D-9C0C-4E4E-998D-C6626C3F328C}"/>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Two simple viewer symbols face a small picture frame.</a:t>
            </a:r>
          </a:p>
        </p:txBody>
      </p:sp>
    </p:spTree>
    <p:extLst>
      <p:ext uri="{BB962C8B-B14F-4D97-AF65-F5344CB8AC3E}">
        <p14:creationId xmlns:p14="http://schemas.microsoft.com/office/powerpoint/2010/main" val="17725977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2FBCF23C-C9C5-4802-ACD0-B016D003E5A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6F76CB7A-E29F-4BAE-A96C-97049A02A31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01415702-2D5E-4565-A6E4-DA272DF6EC9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549F9690-5B8D-4226-93F9-83DDEC1FE951}"/>
              </a:ext>
            </a:extLst>
          </p:cNvPr>
          <p:cNvPicPr>
            <a:picLocks xmlns:a="http://schemas.openxmlformats.org/drawingml/2006/main" noChangeAspect="1"/>
          </p:cNvPicPr>
          <p:nvPr/>
        </p:nvPicPr>
        <p:blipFill>
          <a:blip xmlns:r="http://schemas.openxmlformats.org/officeDocument/2006/relationships" xmlns:a="http://schemas.openxmlformats.org/drawingml/2006/main" r:embed="Rf4e85393bd63489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6B7988C-F536-442B-B7BE-E65797D4844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39B29CD-3530-48EA-8D22-93D17B24787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8B38064-35F6-4982-9260-8A176FF7D19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83E843E-DA90-4B71-B56B-7F8132E9022D}"/>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3E7FB19-451D-4265-A66F-2A48AA77011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95EC33F-5635-41B1-A209-D07A316FD60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403EB1B-A8F9-4391-810C-31F4D697F1E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75492FE3-0B41-4CD8-ACA0-506CF766A7B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F1E0991-DD9B-40B4-8C01-0E63C50E9386}"/>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example's category and evidence, one sorted card and a revised claim, using words, symbols or an annotation.</a:t>
            </a:r>
          </a:p>
        </p:txBody>
      </p:sp>
      <p:sp>
        <p:nvSpPr>
          <p:cNvPr id="14" name="body-0">
            <a:extLst xmlns:a="http://schemas.openxmlformats.org/drawingml/2006/main">
              <a:ext uri="{FF2B5EF4-FFF2-40B4-BE49-F238E27FC236}">
                <a16:creationId xmlns:a16="http://schemas.microsoft.com/office/drawing/2014/main" id="{691B5E3B-0830-43B7-9612-D8A4853A4BE4}"/>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Sort the sentence cards</a:t>
            </a:r>
          </a:p>
        </p:txBody>
      </p:sp>
      <p:sp>
        <p:nvSpPr>
          <p:cNvPr id="15" name="body-1">
            <a:extLst xmlns:a="http://schemas.openxmlformats.org/drawingml/2006/main">
              <a:ext uri="{FF2B5EF4-FFF2-40B4-BE49-F238E27FC236}">
                <a16:creationId xmlns:a16="http://schemas.microsoft.com/office/drawing/2014/main" id="{24CC6EEB-7C15-496F-93F1-FC4CB858C2B8}"/>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Categories: Feature / Interpretation / Recommendation / Unsupported claim.</a:t>
            </a:r>
          </a:p>
        </p:txBody>
      </p:sp>
      <p:sp>
        <p:nvSpPr>
          <p:cNvPr id="16" name="body-2">
            <a:extLst xmlns:a="http://schemas.openxmlformats.org/drawingml/2006/main">
              <a:ext uri="{FF2B5EF4-FFF2-40B4-BE49-F238E27FC236}">
                <a16:creationId xmlns:a16="http://schemas.microsoft.com/office/drawing/2014/main" id="{40DF7E87-A008-4A69-8732-EE15C2B76C91}"/>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One guided example — allow two minutes</a:t>
            </a:r>
          </a:p>
        </p:txBody>
      </p:sp>
      <p:sp>
        <p:nvSpPr>
          <p:cNvPr id="17" name="body-3">
            <a:extLst xmlns:a="http://schemas.openxmlformats.org/drawingml/2006/main">
              <a:ext uri="{FF2B5EF4-FFF2-40B4-BE49-F238E27FC236}">
                <a16:creationId xmlns:a16="http://schemas.microsoft.com/office/drawing/2014/main" id="{FB384E9E-51D6-4D42-9F78-E26D1BD9F7B7}"/>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Example card: 'Flow has pale gaps between its bands.'</a:t>
            </a:r>
          </a:p>
        </p:txBody>
      </p:sp>
      <p:sp>
        <p:nvSpPr>
          <p:cNvPr id="18" name="body-4">
            <a:extLst xmlns:a="http://schemas.openxmlformats.org/drawingml/2006/main">
              <a:ext uri="{FF2B5EF4-FFF2-40B4-BE49-F238E27FC236}">
                <a16:creationId xmlns:a16="http://schemas.microsoft.com/office/drawing/2014/main" id="{B1FBA0B9-16A1-4567-8D85-9AAD831C91AA}"/>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its category. Point to the evidence.</a:t>
            </a:r>
          </a:p>
        </p:txBody>
      </p:sp>
      <p:sp>
        <p:nvSpPr>
          <p:cNvPr id="19" name="body-5">
            <a:extLst xmlns:a="http://schemas.openxmlformats.org/drawingml/2006/main">
              <a:ext uri="{FF2B5EF4-FFF2-40B4-BE49-F238E27FC236}">
                <a16:creationId xmlns:a16="http://schemas.microsoft.com/office/drawing/2014/main" id="{69E4BD4B-E9D2-45F5-8127-266B29A4865F}"/>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Four shared cards — allow six minutes</a:t>
            </a:r>
          </a:p>
        </p:txBody>
      </p:sp>
      <p:sp>
        <p:nvSpPr>
          <p:cNvPr id="20" name="body-6">
            <a:extLst xmlns:a="http://schemas.openxmlformats.org/drawingml/2006/main">
              <a:ext uri="{FF2B5EF4-FFF2-40B4-BE49-F238E27FC236}">
                <a16:creationId xmlns:a16="http://schemas.microsoft.com/office/drawing/2014/main" id="{479CFEE9-8F92-46B0-BA8C-4E994DB18C69}"/>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Card 1: 'Dark diagonal strips overlap in Crossing.'</a:t>
            </a:r>
          </a:p>
        </p:txBody>
      </p:sp>
    </p:spTree>
    <p:extLst>
      <p:ext uri="{BB962C8B-B14F-4D97-AF65-F5344CB8AC3E}">
        <p14:creationId xmlns:p14="http://schemas.microsoft.com/office/powerpoint/2010/main" val="39830081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1161D953-2A93-407F-87C6-4606F0E4FFA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5FF80D3F-001F-4EB4-A48B-E47B81D780C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DD427B90-8620-467C-A836-4D60A428D32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0CAB2C72-03C2-48C1-8223-0583A1C41636}"/>
              </a:ext>
            </a:extLst>
          </p:cNvPr>
          <p:cNvPicPr>
            <a:picLocks xmlns:a="http://schemas.openxmlformats.org/drawingml/2006/main" noChangeAspect="1"/>
          </p:cNvPicPr>
          <p:nvPr/>
        </p:nvPicPr>
        <p:blipFill>
          <a:blip xmlns:r="http://schemas.openxmlformats.org/officeDocument/2006/relationships" xmlns:a="http://schemas.openxmlformats.org/drawingml/2006/main" r:embed="Rdea29664e065402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BF6836EA-599E-4EBF-BC87-6D1C6522FA2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DBC346B-3A22-40C9-9594-3351712CEFF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398F562-E776-4952-A4CB-531FA5E1EEA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5A26BD1-FB4B-4C1E-84F9-D333E16FC911}"/>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E5549E0-1E52-4C44-858F-8AAC6F7ED1F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CF308D2-99AF-482A-8F57-362DFD3CBF0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4180790-98C8-4261-8A53-D574FCB4F60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BB363716-EA81-4C3C-B3AE-ADDF3C64431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B68EBCD-3DC2-488E-9CCC-719F52BC80ED}"/>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example's category and evidence, one sorted card and a revised claim, using words, symbols or an annotation.</a:t>
            </a:r>
          </a:p>
        </p:txBody>
      </p:sp>
      <p:sp>
        <p:nvSpPr>
          <p:cNvPr id="14" name="figure-flow-0">
            <a:extLst xmlns:a="http://schemas.openxmlformats.org/drawingml/2006/main">
              <a:ext uri="{FF2B5EF4-FFF2-40B4-BE49-F238E27FC236}">
                <a16:creationId xmlns:a16="http://schemas.microsoft.com/office/drawing/2014/main" id="{7ED60167-2545-4FA5-959B-1800C4A4DAAC}"/>
              </a:ext>
            </a:extLst>
          </p:cNvPr>
          <p:cNvSpPr>
            <a:spLocks xmlns:a="http://schemas.openxmlformats.org/drawingml/2006/main" noGrp="1"/>
          </p:cNvSpPr>
          <p:nvPr/>
        </p:nvSpPr>
        <p:spPr>
          <a:xfrm xmlns:a="http://schemas.openxmlformats.org/drawingml/2006/main">
            <a:off x="933629" y="2199751"/>
            <a:ext cx="505437"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931BA8EB-A074-4188-A0C1-5F1D7B4098D3}"/>
              </a:ext>
            </a:extLst>
          </p:cNvPr>
          <p:cNvSpPr>
            <a:spLocks xmlns:a="http://schemas.openxmlformats.org/drawingml/2006/main" noGrp="1"/>
          </p:cNvSpPr>
          <p:nvPr/>
        </p:nvSpPr>
        <p:spPr>
          <a:xfrm xmlns:a="http://schemas.openxmlformats.org/drawingml/2006/main">
            <a:off x="954584" y="2549277"/>
            <a:ext cx="4415433" cy="2428488"/>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C15D98F3-A0AC-43EE-9DC3-A73487F84C3B}"/>
              </a:ext>
            </a:extLst>
          </p:cNvPr>
          <p:cNvSpPr>
            <a:spLocks xmlns:a="http://schemas.openxmlformats.org/drawingml/2006/main" noGrp="1"/>
          </p:cNvSpPr>
          <p:nvPr/>
        </p:nvSpPr>
        <p:spPr>
          <a:xfrm xmlns:a="http://schemas.openxmlformats.org/drawingml/2006/main">
            <a:off x="1193017" y="3061583"/>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DE02B81E-83AB-4AC1-AB1F-B82E10A7E599}"/>
              </a:ext>
            </a:extLst>
          </p:cNvPr>
          <p:cNvSpPr>
            <a:spLocks xmlns:a="http://schemas.openxmlformats.org/drawingml/2006/main" noGrp="1"/>
          </p:cNvSpPr>
          <p:nvPr/>
        </p:nvSpPr>
        <p:spPr>
          <a:xfrm xmlns:a="http://schemas.openxmlformats.org/drawingml/2006/main">
            <a:off x="1193017" y="3609097"/>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BE4C7F30-328C-45CB-B9AC-5F1C327F18FB}"/>
              </a:ext>
            </a:extLst>
          </p:cNvPr>
          <p:cNvSpPr>
            <a:spLocks xmlns:a="http://schemas.openxmlformats.org/drawingml/2006/main" noGrp="1"/>
          </p:cNvSpPr>
          <p:nvPr/>
        </p:nvSpPr>
        <p:spPr>
          <a:xfrm xmlns:a="http://schemas.openxmlformats.org/drawingml/2006/main">
            <a:off x="1193017" y="4156610"/>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21A5E812-2350-4B20-8BCB-39CCB3FEE147}"/>
              </a:ext>
            </a:extLst>
          </p:cNvPr>
          <p:cNvSpPr>
            <a:spLocks xmlns:a="http://schemas.openxmlformats.org/drawingml/2006/main" noGrp="1"/>
          </p:cNvSpPr>
          <p:nvPr/>
        </p:nvSpPr>
        <p:spPr>
          <a:xfrm xmlns:a="http://schemas.openxmlformats.org/drawingml/2006/main">
            <a:off x="4557577" y="2699402"/>
            <a:ext cx="317911" cy="317911"/>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64F813A9-F456-423B-9DB9-E50EB1B33F59}"/>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157FB236-DCB3-4C19-8019-9F33C92BAA41}"/>
              </a:ext>
            </a:extLst>
          </p:cNvPr>
          <p:cNvSpPr>
            <a:spLocks xmlns:a="http://schemas.openxmlformats.org/drawingml/2006/main" noGrp="1"/>
          </p:cNvSpPr>
          <p:nvPr/>
        </p:nvSpPr>
        <p:spPr>
          <a:xfrm xmlns:a="http://schemas.openxmlformats.org/drawingml/2006/main">
            <a:off x="6801029" y="2199751"/>
            <a:ext cx="861836"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F01D34A4-64DC-4AAB-BB84-72E837D7F9A3}"/>
              </a:ext>
            </a:extLst>
          </p:cNvPr>
          <p:cNvSpPr>
            <a:spLocks xmlns:a="http://schemas.openxmlformats.org/drawingml/2006/main" noGrp="1"/>
          </p:cNvSpPr>
          <p:nvPr/>
        </p:nvSpPr>
        <p:spPr>
          <a:xfrm xmlns:a="http://schemas.openxmlformats.org/drawingml/2006/main">
            <a:off x="6821984" y="2549277"/>
            <a:ext cx="4415433" cy="2428488"/>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6975B9ED-D827-4DCC-B956-7228C63A6648}"/>
              </a:ext>
            </a:extLst>
          </p:cNvPr>
          <p:cNvSpPr>
            <a:spLocks xmlns:a="http://schemas.openxmlformats.org/drawingml/2006/main" noGrp="1"/>
          </p:cNvSpPr>
          <p:nvPr/>
        </p:nvSpPr>
        <p:spPr>
          <a:xfrm xmlns:a="http://schemas.openxmlformats.org/drawingml/2006/main">
            <a:off x="7484299" y="2725894"/>
            <a:ext cx="2790554" cy="2057592"/>
          </a:xfrm>
          <a:custGeom xmlns:a="http://schemas.openxmlformats.org/drawingml/2006/main">
            <a:pathLst>
              <a:path w="2790554" h="2057592">
                <a:moveTo>
                  <a:pt x="0" y="88309"/>
                </a:moveTo>
                <a:lnTo>
                  <a:pt x="185448" y="0"/>
                </a:lnTo>
                <a:lnTo>
                  <a:pt x="2790554" y="1925129"/>
                </a:lnTo>
                <a:lnTo>
                  <a:pt x="2605105" y="2057592"/>
                </a:lnTo>
                <a:lnTo>
                  <a:pt x="0" y="88309"/>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611F09C5-E12A-452D-BC89-BC5F7E0F509C}"/>
              </a:ext>
            </a:extLst>
          </p:cNvPr>
          <p:cNvSpPr>
            <a:spLocks xmlns:a="http://schemas.openxmlformats.org/drawingml/2006/main" noGrp="1"/>
          </p:cNvSpPr>
          <p:nvPr/>
        </p:nvSpPr>
        <p:spPr>
          <a:xfrm xmlns:a="http://schemas.openxmlformats.org/drawingml/2006/main">
            <a:off x="7369497" y="2761218"/>
            <a:ext cx="2958340" cy="1986945"/>
          </a:xfrm>
          <a:custGeom xmlns:a="http://schemas.openxmlformats.org/drawingml/2006/main">
            <a:pathLst>
              <a:path w="2958340" h="1986945">
                <a:moveTo>
                  <a:pt x="0" y="1801497"/>
                </a:moveTo>
                <a:lnTo>
                  <a:pt x="158956" y="1986945"/>
                </a:lnTo>
                <a:lnTo>
                  <a:pt x="2958340" y="194279"/>
                </a:lnTo>
                <a:lnTo>
                  <a:pt x="2799384" y="0"/>
                </a:lnTo>
                <a:lnTo>
                  <a:pt x="0" y="1801497"/>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F681E361-F2E1-4C7B-AC91-D3BE22191819}"/>
              </a:ext>
            </a:extLst>
          </p:cNvPr>
          <p:cNvSpPr>
            <a:spLocks xmlns:a="http://schemas.openxmlformats.org/drawingml/2006/main" noGrp="1"/>
          </p:cNvSpPr>
          <p:nvPr/>
        </p:nvSpPr>
        <p:spPr>
          <a:xfrm xmlns:a="http://schemas.openxmlformats.org/drawingml/2006/main">
            <a:off x="8711789" y="2672909"/>
            <a:ext cx="635822" cy="2119408"/>
          </a:xfrm>
          <a:custGeom xmlns:a="http://schemas.openxmlformats.org/drawingml/2006/main">
            <a:pathLst>
              <a:path w="635822" h="2119408">
                <a:moveTo>
                  <a:pt x="0" y="44154"/>
                </a:moveTo>
                <a:lnTo>
                  <a:pt x="238433" y="0"/>
                </a:lnTo>
                <a:lnTo>
                  <a:pt x="635822" y="2075253"/>
                </a:lnTo>
                <a:lnTo>
                  <a:pt x="397389" y="2119408"/>
                </a:lnTo>
                <a:lnTo>
                  <a:pt x="0" y="44154"/>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6369A634-0EC2-4DD0-A6CE-8CCC0CEC6301}"/>
              </a:ext>
            </a:extLst>
          </p:cNvPr>
          <p:cNvSpPr>
            <a:spLocks xmlns:a="http://schemas.openxmlformats.org/drawingml/2006/main" noGrp="1"/>
          </p:cNvSpPr>
          <p:nvPr/>
        </p:nvSpPr>
        <p:spPr>
          <a:xfrm xmlns:a="http://schemas.openxmlformats.org/drawingml/2006/main">
            <a:off x="10460300" y="3149776"/>
            <a:ext cx="777116" cy="1377615"/>
          </a:xfrm>
          <a:custGeom xmlns:a="http://schemas.openxmlformats.org/drawingml/2006/main">
            <a:pathLst>
              <a:path w="777116" h="1377615">
                <a:moveTo>
                  <a:pt x="777116" y="1371695"/>
                </a:moveTo>
                <a:lnTo>
                  <a:pt x="760808" y="1373842"/>
                </a:lnTo>
                <a:lnTo>
                  <a:pt x="724857" y="1376671"/>
                </a:lnTo>
                <a:lnTo>
                  <a:pt x="688808" y="1377615"/>
                </a:lnTo>
                <a:lnTo>
                  <a:pt x="652758" y="1376671"/>
                </a:lnTo>
                <a:lnTo>
                  <a:pt x="616808" y="1373842"/>
                </a:lnTo>
                <a:lnTo>
                  <a:pt x="581054" y="1369135"/>
                </a:lnTo>
                <a:lnTo>
                  <a:pt x="545596" y="1362563"/>
                </a:lnTo>
                <a:lnTo>
                  <a:pt x="510531" y="1354144"/>
                </a:lnTo>
                <a:lnTo>
                  <a:pt x="475954" y="1343902"/>
                </a:lnTo>
                <a:lnTo>
                  <a:pt x="441961" y="1331865"/>
                </a:lnTo>
                <a:lnTo>
                  <a:pt x="408644" y="1318064"/>
                </a:lnTo>
                <a:lnTo>
                  <a:pt x="376095" y="1302540"/>
                </a:lnTo>
                <a:lnTo>
                  <a:pt x="344404" y="1285332"/>
                </a:lnTo>
                <a:lnTo>
                  <a:pt x="313656" y="1266490"/>
                </a:lnTo>
                <a:lnTo>
                  <a:pt x="283937" y="1246065"/>
                </a:lnTo>
                <a:lnTo>
                  <a:pt x="255327" y="1224112"/>
                </a:lnTo>
                <a:lnTo>
                  <a:pt x="227905" y="1200691"/>
                </a:lnTo>
                <a:lnTo>
                  <a:pt x="201747" y="1175868"/>
                </a:lnTo>
                <a:lnTo>
                  <a:pt x="176924" y="1149710"/>
                </a:lnTo>
                <a:lnTo>
                  <a:pt x="153504" y="1122288"/>
                </a:lnTo>
                <a:lnTo>
                  <a:pt x="131551" y="1093678"/>
                </a:lnTo>
                <a:lnTo>
                  <a:pt x="111125" y="1063959"/>
                </a:lnTo>
                <a:lnTo>
                  <a:pt x="92283" y="1033211"/>
                </a:lnTo>
                <a:lnTo>
                  <a:pt x="75076" y="1001520"/>
                </a:lnTo>
                <a:lnTo>
                  <a:pt x="59551" y="968971"/>
                </a:lnTo>
                <a:lnTo>
                  <a:pt x="45750" y="935654"/>
                </a:lnTo>
                <a:lnTo>
                  <a:pt x="33713" y="901661"/>
                </a:lnTo>
                <a:lnTo>
                  <a:pt x="23471" y="867084"/>
                </a:lnTo>
                <a:lnTo>
                  <a:pt x="15052" y="832019"/>
                </a:lnTo>
                <a:lnTo>
                  <a:pt x="8480" y="796561"/>
                </a:lnTo>
                <a:lnTo>
                  <a:pt x="3773" y="760808"/>
                </a:lnTo>
                <a:lnTo>
                  <a:pt x="944" y="724857"/>
                </a:lnTo>
                <a:lnTo>
                  <a:pt x="0" y="688808"/>
                </a:lnTo>
                <a:lnTo>
                  <a:pt x="944" y="652758"/>
                </a:lnTo>
                <a:lnTo>
                  <a:pt x="3773" y="616808"/>
                </a:lnTo>
                <a:lnTo>
                  <a:pt x="8480" y="581054"/>
                </a:lnTo>
                <a:lnTo>
                  <a:pt x="15052" y="545596"/>
                </a:lnTo>
                <a:lnTo>
                  <a:pt x="23471" y="510531"/>
                </a:lnTo>
                <a:lnTo>
                  <a:pt x="33713" y="475954"/>
                </a:lnTo>
                <a:lnTo>
                  <a:pt x="45750" y="441961"/>
                </a:lnTo>
                <a:lnTo>
                  <a:pt x="59551" y="408644"/>
                </a:lnTo>
                <a:lnTo>
                  <a:pt x="75076" y="376095"/>
                </a:lnTo>
                <a:lnTo>
                  <a:pt x="92283" y="344404"/>
                </a:lnTo>
                <a:lnTo>
                  <a:pt x="111125" y="313656"/>
                </a:lnTo>
                <a:lnTo>
                  <a:pt x="131551" y="283937"/>
                </a:lnTo>
                <a:lnTo>
                  <a:pt x="153504" y="255327"/>
                </a:lnTo>
                <a:lnTo>
                  <a:pt x="176924" y="227905"/>
                </a:lnTo>
                <a:lnTo>
                  <a:pt x="201747" y="201747"/>
                </a:lnTo>
                <a:lnTo>
                  <a:pt x="227905" y="176924"/>
                </a:lnTo>
                <a:lnTo>
                  <a:pt x="255327" y="153504"/>
                </a:lnTo>
                <a:lnTo>
                  <a:pt x="283937" y="131551"/>
                </a:lnTo>
                <a:lnTo>
                  <a:pt x="313656" y="111125"/>
                </a:lnTo>
                <a:lnTo>
                  <a:pt x="344404" y="92283"/>
                </a:lnTo>
                <a:lnTo>
                  <a:pt x="376095" y="75076"/>
                </a:lnTo>
                <a:lnTo>
                  <a:pt x="408644" y="59551"/>
                </a:lnTo>
                <a:lnTo>
                  <a:pt x="441961" y="45750"/>
                </a:lnTo>
                <a:lnTo>
                  <a:pt x="475954" y="33713"/>
                </a:lnTo>
                <a:lnTo>
                  <a:pt x="510531" y="23471"/>
                </a:lnTo>
                <a:lnTo>
                  <a:pt x="545596" y="15052"/>
                </a:lnTo>
                <a:lnTo>
                  <a:pt x="581054" y="8480"/>
                </a:lnTo>
                <a:lnTo>
                  <a:pt x="616808" y="3773"/>
                </a:lnTo>
                <a:lnTo>
                  <a:pt x="652758" y="944"/>
                </a:lnTo>
                <a:lnTo>
                  <a:pt x="688808" y="0"/>
                </a:lnTo>
                <a:lnTo>
                  <a:pt x="724857" y="944"/>
                </a:lnTo>
                <a:lnTo>
                  <a:pt x="760808" y="3773"/>
                </a:lnTo>
                <a:lnTo>
                  <a:pt x="777116" y="5920"/>
                </a:lnTo>
                <a:lnTo>
                  <a:pt x="777116" y="1371695"/>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7C248E8E-CF8C-46D7-B369-5B9CE261B13C}"/>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8312493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151DC003-A256-4D59-B30E-595C8F86E05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D5F02DCF-D256-4F09-9581-D56A8C2A9A3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1C8A6BB9-C296-45E3-8FCB-A4E4904CCD7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585C1978-E535-48A1-984C-5BFDEB443E16}"/>
              </a:ext>
            </a:extLst>
          </p:cNvPr>
          <p:cNvPicPr>
            <a:picLocks xmlns:a="http://schemas.openxmlformats.org/drawingml/2006/main" noChangeAspect="1"/>
          </p:cNvPicPr>
          <p:nvPr/>
        </p:nvPicPr>
        <p:blipFill>
          <a:blip xmlns:r="http://schemas.openxmlformats.org/officeDocument/2006/relationships" xmlns:a="http://schemas.openxmlformats.org/drawingml/2006/main" r:embed="Raf152c6f7356426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A7156D7-4689-479D-B583-DD8DF514442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97E8BF6-13E5-4F68-918E-50B61CB04DF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EA5BCC3-71DF-4AA5-9542-55B1FB04EB3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15D91CE-4EB8-47DA-97A0-A270B0BD4F1A}"/>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1887D7E-AC33-4B1D-87B1-56A96217337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98DBC50-635A-4541-8C23-846A34DBA3D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79A552D-275A-47EE-AD25-ABA090EC2E9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5F2EEA5C-F6EE-41F2-A459-1F39F68CC4B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0E9819A-D54B-47E9-A579-F41DE7E75410}"/>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example's category and evidence, one sorted card and a revised claim, using words, symbols or an annotation.</a:t>
            </a:r>
          </a:p>
        </p:txBody>
      </p:sp>
      <p:sp>
        <p:nvSpPr>
          <p:cNvPr id="14" name="body-0">
            <a:extLst xmlns:a="http://schemas.openxmlformats.org/drawingml/2006/main">
              <a:ext uri="{FF2B5EF4-FFF2-40B4-BE49-F238E27FC236}">
                <a16:creationId xmlns:a16="http://schemas.microsoft.com/office/drawing/2014/main" id="{5A6F459F-BF7D-43FC-AC80-1E962A375DC7}"/>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Card 2: 'Their changing directions feel restless to me.'</a:t>
            </a:r>
          </a:p>
        </p:txBody>
      </p:sp>
      <p:sp>
        <p:nvSpPr>
          <p:cNvPr id="15" name="body-1">
            <a:extLst xmlns:a="http://schemas.openxmlformats.org/drawingml/2006/main">
              <a:ext uri="{FF2B5EF4-FFF2-40B4-BE49-F238E27FC236}">
                <a16:creationId xmlns:a16="http://schemas.microsoft.com/office/drawing/2014/main" id="{78DDCB33-BBF7-4178-83A1-862FD50B0DBF}"/>
              </a:ext>
            </a:extLst>
          </p:cNvPr>
          <p:cNvSpPr>
            <a:spLocks xmlns:a="http://schemas.openxmlformats.org/drawingml/2006/main" noGrp="1"/>
          </p:cNvSpPr>
          <p:nvPr/>
        </p:nvSpPr>
        <p:spPr>
          <a:xfrm xmlns:a="http://schemas.openxmlformats.org/drawingml/2006/main">
            <a:off x="381000" y="2693479"/>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Card 3: 'I recommend Crossing to viewers who enjoy abstract patterns because the strips create strong changes of direction.'</a:t>
            </a:r>
          </a:p>
        </p:txBody>
      </p:sp>
      <p:sp>
        <p:nvSpPr>
          <p:cNvPr id="16" name="body-2">
            <a:extLst xmlns:a="http://schemas.openxmlformats.org/drawingml/2006/main">
              <a:ext uri="{FF2B5EF4-FFF2-40B4-BE49-F238E27FC236}">
                <a16:creationId xmlns:a16="http://schemas.microsoft.com/office/drawing/2014/main" id="{8F86EFB9-7488-4A26-8552-0DBEC8DA3752}"/>
              </a:ext>
            </a:extLst>
          </p:cNvPr>
          <p:cNvSpPr>
            <a:spLocks xmlns:a="http://schemas.openxmlformats.org/drawingml/2006/main" noGrp="1"/>
          </p:cNvSpPr>
          <p:nvPr/>
        </p:nvSpPr>
        <p:spPr>
          <a:xfrm xmlns:a="http://schemas.openxmlformats.org/drawingml/2006/main">
            <a:off x="381000" y="353853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Card 4: 'The maker was definitely angry when making Crossing.'</a:t>
            </a:r>
          </a:p>
        </p:txBody>
      </p:sp>
      <p:sp>
        <p:nvSpPr>
          <p:cNvPr id="17" name="body-3">
            <a:extLst xmlns:a="http://schemas.openxmlformats.org/drawingml/2006/main">
              <a:ext uri="{FF2B5EF4-FFF2-40B4-BE49-F238E27FC236}">
                <a16:creationId xmlns:a16="http://schemas.microsoft.com/office/drawing/2014/main" id="{82FB53C6-BECA-423B-A514-9F9CBEF9DB53}"/>
              </a:ext>
            </a:extLst>
          </p:cNvPr>
          <p:cNvSpPr>
            <a:spLocks xmlns:a="http://schemas.openxmlformats.org/drawingml/2006/main" noGrp="1"/>
          </p:cNvSpPr>
          <p:nvPr/>
        </p:nvSpPr>
        <p:spPr>
          <a:xfrm xmlns:a="http://schemas.openxmlformats.org/drawingml/2006/main">
            <a:off x="381000" y="408012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each card's main job. Then repair Card 4 without claiming to know the maker's feelings.</a:t>
            </a:r>
          </a:p>
        </p:txBody>
      </p:sp>
    </p:spTree>
    <p:extLst>
      <p:ext uri="{BB962C8B-B14F-4D97-AF65-F5344CB8AC3E}">
        <p14:creationId xmlns:p14="http://schemas.microsoft.com/office/powerpoint/2010/main" val="64520729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6C6AE8C5-8FEF-4AED-A16A-10DD4695DB9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6BE836B1-A812-4207-B095-766B91FABA0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A6972C7F-0BB8-4948-83CB-B3B422F6370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68C1FBCD-6E79-47EF-A9D7-1E7CDBEE94FB}"/>
              </a:ext>
            </a:extLst>
          </p:cNvPr>
          <p:cNvPicPr>
            <a:picLocks xmlns:a="http://schemas.openxmlformats.org/drawingml/2006/main" noChangeAspect="1"/>
          </p:cNvPicPr>
          <p:nvPr/>
        </p:nvPicPr>
        <p:blipFill>
          <a:blip xmlns:r="http://schemas.openxmlformats.org/officeDocument/2006/relationships" xmlns:a="http://schemas.openxmlformats.org/drawingml/2006/main" r:embed="R1c586c812f9a465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89C6509-EB69-427C-9C1F-AEB11B728E4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FF7119E-ECB1-4E54-B972-8EC72CE479B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C2CC1F7-AD50-45EB-8ED7-9F5D4665C3C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9D43EB6-61E8-427F-9C34-728747D04F26}"/>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04D798A-281F-4331-A0E7-56C74D4F9CD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8E92284-82EA-4828-8685-E3BE09922B8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564783FB-E5D7-4526-A770-82E9130276B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524B26A9-169A-486B-9DAE-C9E3AC4EC8B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6A1484B-A929-42DE-900D-BAD5BB1F7DBF}"/>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guided example's category and evidence, one sorted card and a revised claim, using words, symbols or an annotation.</a:t>
            </a:r>
          </a:p>
        </p:txBody>
      </p:sp>
      <p:sp>
        <p:nvSpPr>
          <p:cNvPr id="14" name="figure-flow-0">
            <a:extLst xmlns:a="http://schemas.openxmlformats.org/drawingml/2006/main">
              <a:ext uri="{FF2B5EF4-FFF2-40B4-BE49-F238E27FC236}">
                <a16:creationId xmlns:a16="http://schemas.microsoft.com/office/drawing/2014/main" id="{836C3987-14E4-4893-B1C5-F06010C6F512}"/>
              </a:ext>
            </a:extLst>
          </p:cNvPr>
          <p:cNvSpPr>
            <a:spLocks xmlns:a="http://schemas.openxmlformats.org/drawingml/2006/main" noGrp="1"/>
          </p:cNvSpPr>
          <p:nvPr/>
        </p:nvSpPr>
        <p:spPr>
          <a:xfrm xmlns:a="http://schemas.openxmlformats.org/drawingml/2006/main">
            <a:off x="933629" y="2199751"/>
            <a:ext cx="505437"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99B0B902-389C-4EEB-850F-D7EB87460BA4}"/>
              </a:ext>
            </a:extLst>
          </p:cNvPr>
          <p:cNvSpPr>
            <a:spLocks xmlns:a="http://schemas.openxmlformats.org/drawingml/2006/main" noGrp="1"/>
          </p:cNvSpPr>
          <p:nvPr/>
        </p:nvSpPr>
        <p:spPr>
          <a:xfrm xmlns:a="http://schemas.openxmlformats.org/drawingml/2006/main">
            <a:off x="954584" y="2549277"/>
            <a:ext cx="4415433" cy="2428488"/>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5A5B6A2F-B056-478C-A163-1280E0BA1DB9}"/>
              </a:ext>
            </a:extLst>
          </p:cNvPr>
          <p:cNvSpPr>
            <a:spLocks xmlns:a="http://schemas.openxmlformats.org/drawingml/2006/main" noGrp="1"/>
          </p:cNvSpPr>
          <p:nvPr/>
        </p:nvSpPr>
        <p:spPr>
          <a:xfrm xmlns:a="http://schemas.openxmlformats.org/drawingml/2006/main">
            <a:off x="1193017" y="3061583"/>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119E7D81-1A00-437E-8F53-FF87B279E068}"/>
              </a:ext>
            </a:extLst>
          </p:cNvPr>
          <p:cNvSpPr>
            <a:spLocks xmlns:a="http://schemas.openxmlformats.org/drawingml/2006/main" noGrp="1"/>
          </p:cNvSpPr>
          <p:nvPr/>
        </p:nvSpPr>
        <p:spPr>
          <a:xfrm xmlns:a="http://schemas.openxmlformats.org/drawingml/2006/main">
            <a:off x="1193017" y="3609097"/>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ABECAFDD-C188-4F08-B297-8FB019544B8C}"/>
              </a:ext>
            </a:extLst>
          </p:cNvPr>
          <p:cNvSpPr>
            <a:spLocks xmlns:a="http://schemas.openxmlformats.org/drawingml/2006/main" noGrp="1"/>
          </p:cNvSpPr>
          <p:nvPr/>
        </p:nvSpPr>
        <p:spPr>
          <a:xfrm xmlns:a="http://schemas.openxmlformats.org/drawingml/2006/main">
            <a:off x="1193017" y="4156610"/>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99FE7E79-32B6-4846-9FA8-E778B21D508A}"/>
              </a:ext>
            </a:extLst>
          </p:cNvPr>
          <p:cNvSpPr>
            <a:spLocks xmlns:a="http://schemas.openxmlformats.org/drawingml/2006/main" noGrp="1"/>
          </p:cNvSpPr>
          <p:nvPr/>
        </p:nvSpPr>
        <p:spPr>
          <a:xfrm xmlns:a="http://schemas.openxmlformats.org/drawingml/2006/main">
            <a:off x="4557577" y="2699402"/>
            <a:ext cx="317911" cy="317911"/>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ED397162-1794-449D-BA51-6FBD19B08D84}"/>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59F4024A-8DBD-4BF2-B29E-F1DA4280DCC8}"/>
              </a:ext>
            </a:extLst>
          </p:cNvPr>
          <p:cNvSpPr>
            <a:spLocks xmlns:a="http://schemas.openxmlformats.org/drawingml/2006/main" noGrp="1"/>
          </p:cNvSpPr>
          <p:nvPr/>
        </p:nvSpPr>
        <p:spPr>
          <a:xfrm xmlns:a="http://schemas.openxmlformats.org/drawingml/2006/main">
            <a:off x="6801029" y="2199751"/>
            <a:ext cx="861836"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DDF029FD-0B80-4228-B214-C310DA292A60}"/>
              </a:ext>
            </a:extLst>
          </p:cNvPr>
          <p:cNvSpPr>
            <a:spLocks xmlns:a="http://schemas.openxmlformats.org/drawingml/2006/main" noGrp="1"/>
          </p:cNvSpPr>
          <p:nvPr/>
        </p:nvSpPr>
        <p:spPr>
          <a:xfrm xmlns:a="http://schemas.openxmlformats.org/drawingml/2006/main">
            <a:off x="6821984" y="2549277"/>
            <a:ext cx="4415433" cy="2428488"/>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AC8FA3BB-4B73-4C3E-B0A6-AD27F4A9CD11}"/>
              </a:ext>
            </a:extLst>
          </p:cNvPr>
          <p:cNvSpPr>
            <a:spLocks xmlns:a="http://schemas.openxmlformats.org/drawingml/2006/main" noGrp="1"/>
          </p:cNvSpPr>
          <p:nvPr/>
        </p:nvSpPr>
        <p:spPr>
          <a:xfrm xmlns:a="http://schemas.openxmlformats.org/drawingml/2006/main">
            <a:off x="7484299" y="2725894"/>
            <a:ext cx="2790554" cy="2057592"/>
          </a:xfrm>
          <a:custGeom xmlns:a="http://schemas.openxmlformats.org/drawingml/2006/main">
            <a:pathLst>
              <a:path w="2790554" h="2057592">
                <a:moveTo>
                  <a:pt x="0" y="88309"/>
                </a:moveTo>
                <a:lnTo>
                  <a:pt x="185448" y="0"/>
                </a:lnTo>
                <a:lnTo>
                  <a:pt x="2790554" y="1925129"/>
                </a:lnTo>
                <a:lnTo>
                  <a:pt x="2605105" y="2057592"/>
                </a:lnTo>
                <a:lnTo>
                  <a:pt x="0" y="88309"/>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B7B0A8BE-871D-4D16-B32F-DB951E27488A}"/>
              </a:ext>
            </a:extLst>
          </p:cNvPr>
          <p:cNvSpPr>
            <a:spLocks xmlns:a="http://schemas.openxmlformats.org/drawingml/2006/main" noGrp="1"/>
          </p:cNvSpPr>
          <p:nvPr/>
        </p:nvSpPr>
        <p:spPr>
          <a:xfrm xmlns:a="http://schemas.openxmlformats.org/drawingml/2006/main">
            <a:off x="7369497" y="2761218"/>
            <a:ext cx="2958340" cy="1986945"/>
          </a:xfrm>
          <a:custGeom xmlns:a="http://schemas.openxmlformats.org/drawingml/2006/main">
            <a:pathLst>
              <a:path w="2958340" h="1986945">
                <a:moveTo>
                  <a:pt x="0" y="1801497"/>
                </a:moveTo>
                <a:lnTo>
                  <a:pt x="158956" y="1986945"/>
                </a:lnTo>
                <a:lnTo>
                  <a:pt x="2958340" y="194279"/>
                </a:lnTo>
                <a:lnTo>
                  <a:pt x="2799384" y="0"/>
                </a:lnTo>
                <a:lnTo>
                  <a:pt x="0" y="1801497"/>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78443393-1ABF-41F8-B576-313CB88F6A9E}"/>
              </a:ext>
            </a:extLst>
          </p:cNvPr>
          <p:cNvSpPr>
            <a:spLocks xmlns:a="http://schemas.openxmlformats.org/drawingml/2006/main" noGrp="1"/>
          </p:cNvSpPr>
          <p:nvPr/>
        </p:nvSpPr>
        <p:spPr>
          <a:xfrm xmlns:a="http://schemas.openxmlformats.org/drawingml/2006/main">
            <a:off x="8711789" y="2672909"/>
            <a:ext cx="635822" cy="2119408"/>
          </a:xfrm>
          <a:custGeom xmlns:a="http://schemas.openxmlformats.org/drawingml/2006/main">
            <a:pathLst>
              <a:path w="635822" h="2119408">
                <a:moveTo>
                  <a:pt x="0" y="44154"/>
                </a:moveTo>
                <a:lnTo>
                  <a:pt x="238433" y="0"/>
                </a:lnTo>
                <a:lnTo>
                  <a:pt x="635822" y="2075253"/>
                </a:lnTo>
                <a:lnTo>
                  <a:pt x="397389" y="2119408"/>
                </a:lnTo>
                <a:lnTo>
                  <a:pt x="0" y="44154"/>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A3E39E4B-98F1-473C-A516-CA0A9DFAE3B9}"/>
              </a:ext>
            </a:extLst>
          </p:cNvPr>
          <p:cNvSpPr>
            <a:spLocks xmlns:a="http://schemas.openxmlformats.org/drawingml/2006/main" noGrp="1"/>
          </p:cNvSpPr>
          <p:nvPr/>
        </p:nvSpPr>
        <p:spPr>
          <a:xfrm xmlns:a="http://schemas.openxmlformats.org/drawingml/2006/main">
            <a:off x="10460300" y="3149776"/>
            <a:ext cx="777116" cy="1377615"/>
          </a:xfrm>
          <a:custGeom xmlns:a="http://schemas.openxmlformats.org/drawingml/2006/main">
            <a:pathLst>
              <a:path w="777116" h="1377615">
                <a:moveTo>
                  <a:pt x="777116" y="1371695"/>
                </a:moveTo>
                <a:lnTo>
                  <a:pt x="760808" y="1373842"/>
                </a:lnTo>
                <a:lnTo>
                  <a:pt x="724857" y="1376671"/>
                </a:lnTo>
                <a:lnTo>
                  <a:pt x="688808" y="1377615"/>
                </a:lnTo>
                <a:lnTo>
                  <a:pt x="652758" y="1376671"/>
                </a:lnTo>
                <a:lnTo>
                  <a:pt x="616808" y="1373842"/>
                </a:lnTo>
                <a:lnTo>
                  <a:pt x="581054" y="1369135"/>
                </a:lnTo>
                <a:lnTo>
                  <a:pt x="545596" y="1362563"/>
                </a:lnTo>
                <a:lnTo>
                  <a:pt x="510531" y="1354144"/>
                </a:lnTo>
                <a:lnTo>
                  <a:pt x="475954" y="1343902"/>
                </a:lnTo>
                <a:lnTo>
                  <a:pt x="441961" y="1331865"/>
                </a:lnTo>
                <a:lnTo>
                  <a:pt x="408644" y="1318064"/>
                </a:lnTo>
                <a:lnTo>
                  <a:pt x="376095" y="1302540"/>
                </a:lnTo>
                <a:lnTo>
                  <a:pt x="344404" y="1285332"/>
                </a:lnTo>
                <a:lnTo>
                  <a:pt x="313656" y="1266490"/>
                </a:lnTo>
                <a:lnTo>
                  <a:pt x="283937" y="1246065"/>
                </a:lnTo>
                <a:lnTo>
                  <a:pt x="255327" y="1224112"/>
                </a:lnTo>
                <a:lnTo>
                  <a:pt x="227905" y="1200691"/>
                </a:lnTo>
                <a:lnTo>
                  <a:pt x="201747" y="1175868"/>
                </a:lnTo>
                <a:lnTo>
                  <a:pt x="176924" y="1149710"/>
                </a:lnTo>
                <a:lnTo>
                  <a:pt x="153504" y="1122288"/>
                </a:lnTo>
                <a:lnTo>
                  <a:pt x="131551" y="1093678"/>
                </a:lnTo>
                <a:lnTo>
                  <a:pt x="111125" y="1063959"/>
                </a:lnTo>
                <a:lnTo>
                  <a:pt x="92283" y="1033211"/>
                </a:lnTo>
                <a:lnTo>
                  <a:pt x="75076" y="1001520"/>
                </a:lnTo>
                <a:lnTo>
                  <a:pt x="59551" y="968971"/>
                </a:lnTo>
                <a:lnTo>
                  <a:pt x="45750" y="935654"/>
                </a:lnTo>
                <a:lnTo>
                  <a:pt x="33713" y="901661"/>
                </a:lnTo>
                <a:lnTo>
                  <a:pt x="23471" y="867084"/>
                </a:lnTo>
                <a:lnTo>
                  <a:pt x="15052" y="832019"/>
                </a:lnTo>
                <a:lnTo>
                  <a:pt x="8480" y="796561"/>
                </a:lnTo>
                <a:lnTo>
                  <a:pt x="3773" y="760808"/>
                </a:lnTo>
                <a:lnTo>
                  <a:pt x="944" y="724857"/>
                </a:lnTo>
                <a:lnTo>
                  <a:pt x="0" y="688808"/>
                </a:lnTo>
                <a:lnTo>
                  <a:pt x="944" y="652758"/>
                </a:lnTo>
                <a:lnTo>
                  <a:pt x="3773" y="616808"/>
                </a:lnTo>
                <a:lnTo>
                  <a:pt x="8480" y="581054"/>
                </a:lnTo>
                <a:lnTo>
                  <a:pt x="15052" y="545596"/>
                </a:lnTo>
                <a:lnTo>
                  <a:pt x="23471" y="510531"/>
                </a:lnTo>
                <a:lnTo>
                  <a:pt x="33713" y="475954"/>
                </a:lnTo>
                <a:lnTo>
                  <a:pt x="45750" y="441961"/>
                </a:lnTo>
                <a:lnTo>
                  <a:pt x="59551" y="408644"/>
                </a:lnTo>
                <a:lnTo>
                  <a:pt x="75076" y="376095"/>
                </a:lnTo>
                <a:lnTo>
                  <a:pt x="92283" y="344404"/>
                </a:lnTo>
                <a:lnTo>
                  <a:pt x="111125" y="313656"/>
                </a:lnTo>
                <a:lnTo>
                  <a:pt x="131551" y="283937"/>
                </a:lnTo>
                <a:lnTo>
                  <a:pt x="153504" y="255327"/>
                </a:lnTo>
                <a:lnTo>
                  <a:pt x="176924" y="227905"/>
                </a:lnTo>
                <a:lnTo>
                  <a:pt x="201747" y="201747"/>
                </a:lnTo>
                <a:lnTo>
                  <a:pt x="227905" y="176924"/>
                </a:lnTo>
                <a:lnTo>
                  <a:pt x="255327" y="153504"/>
                </a:lnTo>
                <a:lnTo>
                  <a:pt x="283937" y="131551"/>
                </a:lnTo>
                <a:lnTo>
                  <a:pt x="313656" y="111125"/>
                </a:lnTo>
                <a:lnTo>
                  <a:pt x="344404" y="92283"/>
                </a:lnTo>
                <a:lnTo>
                  <a:pt x="376095" y="75076"/>
                </a:lnTo>
                <a:lnTo>
                  <a:pt x="408644" y="59551"/>
                </a:lnTo>
                <a:lnTo>
                  <a:pt x="441961" y="45750"/>
                </a:lnTo>
                <a:lnTo>
                  <a:pt x="475954" y="33713"/>
                </a:lnTo>
                <a:lnTo>
                  <a:pt x="510531" y="23471"/>
                </a:lnTo>
                <a:lnTo>
                  <a:pt x="545596" y="15052"/>
                </a:lnTo>
                <a:lnTo>
                  <a:pt x="581054" y="8480"/>
                </a:lnTo>
                <a:lnTo>
                  <a:pt x="616808" y="3773"/>
                </a:lnTo>
                <a:lnTo>
                  <a:pt x="652758" y="944"/>
                </a:lnTo>
                <a:lnTo>
                  <a:pt x="688808" y="0"/>
                </a:lnTo>
                <a:lnTo>
                  <a:pt x="724857" y="944"/>
                </a:lnTo>
                <a:lnTo>
                  <a:pt x="760808" y="3773"/>
                </a:lnTo>
                <a:lnTo>
                  <a:pt x="777116" y="5920"/>
                </a:lnTo>
                <a:lnTo>
                  <a:pt x="777116" y="1371695"/>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7F3FB29A-B52B-4A70-BF46-713E8DA22445}"/>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7636391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sson-header">
            <a:extLst xmlns:a="http://schemas.openxmlformats.org/drawingml/2006/main">
              <a:ext uri="{FF2B5EF4-FFF2-40B4-BE49-F238E27FC236}">
                <a16:creationId xmlns:a16="http://schemas.microsoft.com/office/drawing/2014/main" id="{F7A8458D-5273-43E3-A91E-7EA91FEAF3A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5741F1CF-5C0D-41B0-9B07-9F3D380902C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C52ECDED-0CB9-4291-8442-E49AF3E90550}"/>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440B6FC2-A4D1-40AA-B72F-F2A8134C4B5D}"/>
              </a:ext>
            </a:extLst>
          </p:cNvPr>
          <p:cNvPicPr>
            <a:picLocks xmlns:a="http://schemas.openxmlformats.org/drawingml/2006/main" noChangeAspect="1"/>
          </p:cNvPicPr>
          <p:nvPr/>
        </p:nvPicPr>
        <p:blipFill>
          <a:blip xmlns:r="http://schemas.openxmlformats.org/officeDocument/2006/relationships" xmlns:a="http://schemas.openxmlformats.org/drawingml/2006/main" r:embed="R878ef310c655462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B921795-CEE0-49CC-B1FA-CD59E7D13DE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FD9FCC0-95EA-4F6D-AAC7-354631CA73D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20655BA-86F9-4C4F-9BB8-C58447BF3C3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ED94C6D-59B6-4F50-A417-678074699B5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F4D99D6-7CE8-44E0-8806-F948CCA5ABC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E36C3F1-9EE8-450C-A8CD-1211BC573FA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4F870D2-3C5D-4AD3-8B46-8004AA0AE1D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59AAA5BF-0FB3-43DA-95C9-68898E2361E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B69EA32-6EC5-447E-9C11-5C11AE10249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4" name="body-0">
            <a:extLst xmlns:a="http://schemas.openxmlformats.org/drawingml/2006/main">
              <a:ext uri="{FF2B5EF4-FFF2-40B4-BE49-F238E27FC236}">
                <a16:creationId xmlns:a16="http://schemas.microsoft.com/office/drawing/2014/main" id="{F3298CD2-B12C-4ADD-8112-094AD5D8D90A}"/>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route. Review Flow, Crossing or both, as your route asks.</a:t>
            </a:r>
          </a:p>
        </p:txBody>
      </p:sp>
    </p:spTree>
    <p:extLst>
      <p:ext uri="{BB962C8B-B14F-4D97-AF65-F5344CB8AC3E}">
        <p14:creationId xmlns:p14="http://schemas.microsoft.com/office/powerpoint/2010/main" val="16755409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C680935-3C29-4E44-BF95-A4D8137A20F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4FC6EC70-F1AE-4C9F-8734-ECAE564D068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1C76FD80-266C-48E4-93EC-D32D2CD95EC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87BB95CD-FE88-4C52-96C2-7F768DE3E9F7}"/>
              </a:ext>
            </a:extLst>
          </p:cNvPr>
          <p:cNvPicPr>
            <a:picLocks xmlns:a="http://schemas.openxmlformats.org/drawingml/2006/main" noChangeAspect="1"/>
          </p:cNvPicPr>
          <p:nvPr/>
        </p:nvPicPr>
        <p:blipFill>
          <a:blip xmlns:r="http://schemas.openxmlformats.org/officeDocument/2006/relationships" xmlns:a="http://schemas.openxmlformats.org/drawingml/2006/main" r:embed="R86b9e4ef15f543e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6AC0D1B-BAE5-4FA9-9714-5D6D91E489F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A3C55CA-36CB-47A8-AB31-AC75C336A2B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2BBC028-760E-45A5-8831-E48E2A053ED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5CEEFA8-8C55-40CA-B34B-DA4DAE6E424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5B6E395-90AB-476D-93FD-531DB5ACA573}"/>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EAB7F60-0FE1-432F-9B55-9907154470A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415D2BA-60F9-4597-9F5B-C1B34E84E5D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190DF366-6314-4823-BE71-506C319EDDA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BEC50E5-0403-4866-A89E-8261D36133A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4" name="figure-flow-0">
            <a:extLst xmlns:a="http://schemas.openxmlformats.org/drawingml/2006/main">
              <a:ext uri="{FF2B5EF4-FFF2-40B4-BE49-F238E27FC236}">
                <a16:creationId xmlns:a16="http://schemas.microsoft.com/office/drawing/2014/main" id="{8D2304EE-C725-4941-8611-01E3A08A109C}"/>
              </a:ext>
            </a:extLst>
          </p:cNvPr>
          <p:cNvSpPr>
            <a:spLocks xmlns:a="http://schemas.openxmlformats.org/drawingml/2006/main" noGrp="1"/>
          </p:cNvSpPr>
          <p:nvPr/>
        </p:nvSpPr>
        <p:spPr>
          <a:xfrm xmlns:a="http://schemas.openxmlformats.org/drawingml/2006/main">
            <a:off x="740450" y="1956670"/>
            <a:ext cx="541329"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40459553-7F14-4537-A41D-C0ED68768F2E}"/>
              </a:ext>
            </a:extLst>
          </p:cNvPr>
          <p:cNvSpPr>
            <a:spLocks xmlns:a="http://schemas.openxmlformats.org/drawingml/2006/main" noGrp="1"/>
          </p:cNvSpPr>
          <p:nvPr/>
        </p:nvSpPr>
        <p:spPr>
          <a:xfrm xmlns:a="http://schemas.openxmlformats.org/drawingml/2006/main">
            <a:off x="761405" y="2336780"/>
            <a:ext cx="4801791" cy="2640985"/>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9AD12830-DFC4-4075-AB59-93163DD5F66C}"/>
              </a:ext>
            </a:extLst>
          </p:cNvPr>
          <p:cNvSpPr>
            <a:spLocks xmlns:a="http://schemas.openxmlformats.org/drawingml/2006/main" noGrp="1"/>
          </p:cNvSpPr>
          <p:nvPr/>
        </p:nvSpPr>
        <p:spPr>
          <a:xfrm xmlns:a="http://schemas.openxmlformats.org/drawingml/2006/main">
            <a:off x="1020701" y="2893914"/>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918F83E4-FC78-469F-B53D-7617AFB4AA92}"/>
              </a:ext>
            </a:extLst>
          </p:cNvPr>
          <p:cNvSpPr>
            <a:spLocks xmlns:a="http://schemas.openxmlformats.org/drawingml/2006/main" noGrp="1"/>
          </p:cNvSpPr>
          <p:nvPr/>
        </p:nvSpPr>
        <p:spPr>
          <a:xfrm xmlns:a="http://schemas.openxmlformats.org/drawingml/2006/main">
            <a:off x="1020701" y="3489336"/>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152A2F64-46E1-4467-A329-7011834A665E}"/>
              </a:ext>
            </a:extLst>
          </p:cNvPr>
          <p:cNvSpPr>
            <a:spLocks xmlns:a="http://schemas.openxmlformats.org/drawingml/2006/main" noGrp="1"/>
          </p:cNvSpPr>
          <p:nvPr/>
        </p:nvSpPr>
        <p:spPr>
          <a:xfrm xmlns:a="http://schemas.openxmlformats.org/drawingml/2006/main">
            <a:off x="1020701" y="4084758"/>
            <a:ext cx="4148747" cy="614423"/>
          </a:xfrm>
          <a:custGeom xmlns:a="http://schemas.openxmlformats.org/drawingml/2006/main">
            <a:pathLst>
              <a:path w="4148747" h="614423">
                <a:moveTo>
                  <a:pt x="0" y="163135"/>
                </a:moveTo>
                <a:lnTo>
                  <a:pt x="103719" y="184869"/>
                </a:lnTo>
                <a:lnTo>
                  <a:pt x="207437" y="206215"/>
                </a:lnTo>
                <a:lnTo>
                  <a:pt x="311156" y="226795"/>
                </a:lnTo>
                <a:lnTo>
                  <a:pt x="414875" y="246242"/>
                </a:lnTo>
                <a:lnTo>
                  <a:pt x="518593" y="264209"/>
                </a:lnTo>
                <a:lnTo>
                  <a:pt x="622312" y="280377"/>
                </a:lnTo>
                <a:lnTo>
                  <a:pt x="726031" y="294458"/>
                </a:lnTo>
                <a:lnTo>
                  <a:pt x="829749" y="306202"/>
                </a:lnTo>
                <a:lnTo>
                  <a:pt x="933468" y="315398"/>
                </a:lnTo>
                <a:lnTo>
                  <a:pt x="1037187" y="321885"/>
                </a:lnTo>
                <a:lnTo>
                  <a:pt x="1140905" y="325546"/>
                </a:lnTo>
                <a:lnTo>
                  <a:pt x="1244624" y="326315"/>
                </a:lnTo>
                <a:lnTo>
                  <a:pt x="1348343" y="324180"/>
                </a:lnTo>
                <a:lnTo>
                  <a:pt x="1452061" y="319179"/>
                </a:lnTo>
                <a:lnTo>
                  <a:pt x="1555780" y="311399"/>
                </a:lnTo>
                <a:lnTo>
                  <a:pt x="1659499" y="300981"/>
                </a:lnTo>
                <a:lnTo>
                  <a:pt x="1763218" y="288108"/>
                </a:lnTo>
                <a:lnTo>
                  <a:pt x="1866936" y="273012"/>
                </a:lnTo>
                <a:lnTo>
                  <a:pt x="1970655" y="255959"/>
                </a:lnTo>
                <a:lnTo>
                  <a:pt x="2074374" y="237254"/>
                </a:lnTo>
                <a:lnTo>
                  <a:pt x="2178092" y="217230"/>
                </a:lnTo>
                <a:lnTo>
                  <a:pt x="2281811" y="196242"/>
                </a:lnTo>
                <a:lnTo>
                  <a:pt x="2385530" y="174666"/>
                </a:lnTo>
                <a:lnTo>
                  <a:pt x="2489248" y="152884"/>
                </a:lnTo>
                <a:lnTo>
                  <a:pt x="2592967" y="131284"/>
                </a:lnTo>
                <a:lnTo>
                  <a:pt x="2696686" y="110252"/>
                </a:lnTo>
                <a:lnTo>
                  <a:pt x="2800404" y="90161"/>
                </a:lnTo>
                <a:lnTo>
                  <a:pt x="2904123" y="71369"/>
                </a:lnTo>
                <a:lnTo>
                  <a:pt x="3007842" y="54210"/>
                </a:lnTo>
                <a:lnTo>
                  <a:pt x="3111560" y="38990"/>
                </a:lnTo>
                <a:lnTo>
                  <a:pt x="3215279" y="25981"/>
                </a:lnTo>
                <a:lnTo>
                  <a:pt x="3318998" y="15412"/>
                </a:lnTo>
                <a:lnTo>
                  <a:pt x="3422716" y="7473"/>
                </a:lnTo>
                <a:lnTo>
                  <a:pt x="3526435" y="2305"/>
                </a:lnTo>
                <a:lnTo>
                  <a:pt x="3630154" y="0"/>
                </a:lnTo>
                <a:lnTo>
                  <a:pt x="3733872" y="599"/>
                </a:lnTo>
                <a:lnTo>
                  <a:pt x="3837591" y="4091"/>
                </a:lnTo>
                <a:lnTo>
                  <a:pt x="3941310" y="10414"/>
                </a:lnTo>
                <a:lnTo>
                  <a:pt x="4045028" y="19455"/>
                </a:lnTo>
                <a:lnTo>
                  <a:pt x="4148747" y="31054"/>
                </a:lnTo>
                <a:lnTo>
                  <a:pt x="4148747" y="319162"/>
                </a:lnTo>
                <a:lnTo>
                  <a:pt x="4045028" y="307563"/>
                </a:lnTo>
                <a:lnTo>
                  <a:pt x="3941310" y="298521"/>
                </a:lnTo>
                <a:lnTo>
                  <a:pt x="3837591" y="292198"/>
                </a:lnTo>
                <a:lnTo>
                  <a:pt x="3733872" y="288706"/>
                </a:lnTo>
                <a:lnTo>
                  <a:pt x="3630154" y="288107"/>
                </a:lnTo>
                <a:lnTo>
                  <a:pt x="3526435" y="290413"/>
                </a:lnTo>
                <a:lnTo>
                  <a:pt x="3422716" y="295581"/>
                </a:lnTo>
                <a:lnTo>
                  <a:pt x="3318998" y="303520"/>
                </a:lnTo>
                <a:lnTo>
                  <a:pt x="3215279" y="314088"/>
                </a:lnTo>
                <a:lnTo>
                  <a:pt x="3111560" y="327098"/>
                </a:lnTo>
                <a:lnTo>
                  <a:pt x="3007842" y="342318"/>
                </a:lnTo>
                <a:lnTo>
                  <a:pt x="2904123" y="359476"/>
                </a:lnTo>
                <a:lnTo>
                  <a:pt x="2800404" y="378268"/>
                </a:lnTo>
                <a:lnTo>
                  <a:pt x="2696686" y="398359"/>
                </a:lnTo>
                <a:lnTo>
                  <a:pt x="2592967" y="419392"/>
                </a:lnTo>
                <a:lnTo>
                  <a:pt x="2489248" y="440991"/>
                </a:lnTo>
                <a:lnTo>
                  <a:pt x="2385530" y="462773"/>
                </a:lnTo>
                <a:lnTo>
                  <a:pt x="2281811" y="484350"/>
                </a:lnTo>
                <a:lnTo>
                  <a:pt x="2178092" y="505337"/>
                </a:lnTo>
                <a:lnTo>
                  <a:pt x="2074374" y="525361"/>
                </a:lnTo>
                <a:lnTo>
                  <a:pt x="1970655" y="544066"/>
                </a:lnTo>
                <a:lnTo>
                  <a:pt x="1866936" y="561119"/>
                </a:lnTo>
                <a:lnTo>
                  <a:pt x="1763218" y="576216"/>
                </a:lnTo>
                <a:lnTo>
                  <a:pt x="1659499" y="589088"/>
                </a:lnTo>
                <a:lnTo>
                  <a:pt x="1555780" y="599507"/>
                </a:lnTo>
                <a:lnTo>
                  <a:pt x="1452061" y="607286"/>
                </a:lnTo>
                <a:lnTo>
                  <a:pt x="1348343" y="612288"/>
                </a:lnTo>
                <a:lnTo>
                  <a:pt x="1244624" y="614423"/>
                </a:lnTo>
                <a:lnTo>
                  <a:pt x="1140905" y="613653"/>
                </a:lnTo>
                <a:lnTo>
                  <a:pt x="1037187" y="609992"/>
                </a:lnTo>
                <a:lnTo>
                  <a:pt x="933468" y="603506"/>
                </a:lnTo>
                <a:lnTo>
                  <a:pt x="829749" y="594309"/>
                </a:lnTo>
                <a:lnTo>
                  <a:pt x="726031" y="582566"/>
                </a:lnTo>
                <a:lnTo>
                  <a:pt x="622312" y="568484"/>
                </a:lnTo>
                <a:lnTo>
                  <a:pt x="518593" y="552316"/>
                </a:lnTo>
                <a:lnTo>
                  <a:pt x="414875" y="534349"/>
                </a:lnTo>
                <a:lnTo>
                  <a:pt x="311156" y="514902"/>
                </a:lnTo>
                <a:lnTo>
                  <a:pt x="207437" y="494323"/>
                </a:lnTo>
                <a:lnTo>
                  <a:pt x="103719" y="472976"/>
                </a:lnTo>
                <a:lnTo>
                  <a:pt x="0" y="451242"/>
                </a:lnTo>
                <a:lnTo>
                  <a:pt x="0" y="163135"/>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BB94F8B1-B2E1-4F56-9987-A54AC6F6F483}"/>
              </a:ext>
            </a:extLst>
          </p:cNvPr>
          <p:cNvSpPr>
            <a:spLocks xmlns:a="http://schemas.openxmlformats.org/drawingml/2006/main" noGrp="1"/>
          </p:cNvSpPr>
          <p:nvPr/>
        </p:nvSpPr>
        <p:spPr>
          <a:xfrm xmlns:a="http://schemas.openxmlformats.org/drawingml/2006/main">
            <a:off x="4679666" y="2500041"/>
            <a:ext cx="345729" cy="345729"/>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EC1F8136-06D5-455A-84B1-AAB3A9852B29}"/>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A989FA4D-8999-4DB5-BC2E-AFFDCE6E6FB8}"/>
              </a:ext>
            </a:extLst>
          </p:cNvPr>
          <p:cNvSpPr>
            <a:spLocks xmlns:a="http://schemas.openxmlformats.org/drawingml/2006/main" noGrp="1"/>
          </p:cNvSpPr>
          <p:nvPr/>
        </p:nvSpPr>
        <p:spPr>
          <a:xfrm xmlns:a="http://schemas.openxmlformats.org/drawingml/2006/main">
            <a:off x="6607850" y="1956670"/>
            <a:ext cx="928914" cy="295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64" b="0" lang="en-GB">
                <a:solidFill>
                  <a:srgbClr val="152238"/>
                </a:solidFill>
                <a:latin typeface="Arial"/>
                <a:ea typeface="Arial"/>
                <a:cs typeface="Arial"/>
              </a:defRPr>
            </a:defPPr>
          </a:lstStyle>
          <a:p xmlns:a="http://schemas.openxmlformats.org/drawingml/2006/main">
            <a:pPr algn="l">
              <a:lnSpc>
                <a:spcPct val="108000"/>
              </a:lnSpc>
              <a:buNone/>
              <a:defRPr sz="1664" b="0" lang="en-GB">
                <a:solidFill>
                  <a:srgbClr val="152238"/>
                </a:solidFill>
                <a:latin typeface="Arial"/>
                <a:ea typeface="Arial"/>
                <a:cs typeface="Arial"/>
              </a:defRPr>
            </a:pPr>
            <a:r>
              <a:rPr sz="1664"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0F6F31FC-FD0F-4043-825C-630692F6A09C}"/>
              </a:ext>
            </a:extLst>
          </p:cNvPr>
          <p:cNvSpPr>
            <a:spLocks xmlns:a="http://schemas.openxmlformats.org/drawingml/2006/main" noGrp="1"/>
          </p:cNvSpPr>
          <p:nvPr/>
        </p:nvSpPr>
        <p:spPr>
          <a:xfrm xmlns:a="http://schemas.openxmlformats.org/drawingml/2006/main">
            <a:off x="6628805" y="2336780"/>
            <a:ext cx="4801791" cy="2640985"/>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C808D7C8-B46E-45F0-B245-2FD16194B0B0}"/>
              </a:ext>
            </a:extLst>
          </p:cNvPr>
          <p:cNvSpPr>
            <a:spLocks xmlns:a="http://schemas.openxmlformats.org/drawingml/2006/main" noGrp="1"/>
          </p:cNvSpPr>
          <p:nvPr/>
        </p:nvSpPr>
        <p:spPr>
          <a:xfrm xmlns:a="http://schemas.openxmlformats.org/drawingml/2006/main">
            <a:off x="7349073" y="2528852"/>
            <a:ext cx="3034732" cy="2237634"/>
          </a:xfrm>
          <a:custGeom xmlns:a="http://schemas.openxmlformats.org/drawingml/2006/main">
            <a:pathLst>
              <a:path w="3034732" h="2237634">
                <a:moveTo>
                  <a:pt x="0" y="96036"/>
                </a:moveTo>
                <a:lnTo>
                  <a:pt x="201675" y="0"/>
                </a:lnTo>
                <a:lnTo>
                  <a:pt x="3034732" y="2093581"/>
                </a:lnTo>
                <a:lnTo>
                  <a:pt x="2833056" y="2237634"/>
                </a:lnTo>
                <a:lnTo>
                  <a:pt x="0" y="96036"/>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CA9A4C3D-2EDA-4944-86A5-E305CA802660}"/>
              </a:ext>
            </a:extLst>
          </p:cNvPr>
          <p:cNvSpPr>
            <a:spLocks xmlns:a="http://schemas.openxmlformats.org/drawingml/2006/main" noGrp="1"/>
          </p:cNvSpPr>
          <p:nvPr/>
        </p:nvSpPr>
        <p:spPr>
          <a:xfrm xmlns:a="http://schemas.openxmlformats.org/drawingml/2006/main">
            <a:off x="7224227" y="2567266"/>
            <a:ext cx="3217200" cy="2160806"/>
          </a:xfrm>
          <a:custGeom xmlns:a="http://schemas.openxmlformats.org/drawingml/2006/main">
            <a:pathLst>
              <a:path w="3217200" h="2160806">
                <a:moveTo>
                  <a:pt x="0" y="1959131"/>
                </a:moveTo>
                <a:lnTo>
                  <a:pt x="172864" y="2160806"/>
                </a:lnTo>
                <a:lnTo>
                  <a:pt x="3217200" y="211279"/>
                </a:lnTo>
                <a:lnTo>
                  <a:pt x="3044335" y="0"/>
                </a:lnTo>
                <a:lnTo>
                  <a:pt x="0" y="1959131"/>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08A30987-3D17-436E-B630-78461EBB3B9D}"/>
              </a:ext>
            </a:extLst>
          </p:cNvPr>
          <p:cNvSpPr>
            <a:spLocks xmlns:a="http://schemas.openxmlformats.org/drawingml/2006/main" noGrp="1"/>
          </p:cNvSpPr>
          <p:nvPr/>
        </p:nvSpPr>
        <p:spPr>
          <a:xfrm xmlns:a="http://schemas.openxmlformats.org/drawingml/2006/main">
            <a:off x="8683971" y="2471230"/>
            <a:ext cx="691458" cy="2304860"/>
          </a:xfrm>
          <a:custGeom xmlns:a="http://schemas.openxmlformats.org/drawingml/2006/main">
            <a:pathLst>
              <a:path w="691458" h="2304860">
                <a:moveTo>
                  <a:pt x="0" y="48018"/>
                </a:moveTo>
                <a:lnTo>
                  <a:pt x="259297" y="0"/>
                </a:lnTo>
                <a:lnTo>
                  <a:pt x="691458" y="2256842"/>
                </a:lnTo>
                <a:lnTo>
                  <a:pt x="432161" y="2304860"/>
                </a:lnTo>
                <a:lnTo>
                  <a:pt x="0" y="48018"/>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5E908690-3409-47B2-AAD0-D8F4E6D10A9E}"/>
              </a:ext>
            </a:extLst>
          </p:cNvPr>
          <p:cNvSpPr>
            <a:spLocks xmlns:a="http://schemas.openxmlformats.org/drawingml/2006/main" noGrp="1"/>
          </p:cNvSpPr>
          <p:nvPr/>
        </p:nvSpPr>
        <p:spPr>
          <a:xfrm xmlns:a="http://schemas.openxmlformats.org/drawingml/2006/main">
            <a:off x="10585480" y="2989824"/>
            <a:ext cx="845115" cy="1498159"/>
          </a:xfrm>
          <a:custGeom xmlns:a="http://schemas.openxmlformats.org/drawingml/2006/main">
            <a:pathLst>
              <a:path w="845115" h="1498159">
                <a:moveTo>
                  <a:pt x="845115" y="1491720"/>
                </a:moveTo>
                <a:lnTo>
                  <a:pt x="827379" y="1494055"/>
                </a:lnTo>
                <a:lnTo>
                  <a:pt x="788283" y="1497132"/>
                </a:lnTo>
                <a:lnTo>
                  <a:pt x="749079" y="1498159"/>
                </a:lnTo>
                <a:lnTo>
                  <a:pt x="709876" y="1497132"/>
                </a:lnTo>
                <a:lnTo>
                  <a:pt x="670779" y="1494055"/>
                </a:lnTo>
                <a:lnTo>
                  <a:pt x="631898" y="1488936"/>
                </a:lnTo>
                <a:lnTo>
                  <a:pt x="593337" y="1481789"/>
                </a:lnTo>
                <a:lnTo>
                  <a:pt x="555203" y="1472634"/>
                </a:lnTo>
                <a:lnTo>
                  <a:pt x="517601" y="1461496"/>
                </a:lnTo>
                <a:lnTo>
                  <a:pt x="480633" y="1448405"/>
                </a:lnTo>
                <a:lnTo>
                  <a:pt x="444401" y="1433397"/>
                </a:lnTo>
                <a:lnTo>
                  <a:pt x="409004" y="1416514"/>
                </a:lnTo>
                <a:lnTo>
                  <a:pt x="374540" y="1397801"/>
                </a:lnTo>
                <a:lnTo>
                  <a:pt x="341101" y="1377310"/>
                </a:lnTo>
                <a:lnTo>
                  <a:pt x="308782" y="1355097"/>
                </a:lnTo>
                <a:lnTo>
                  <a:pt x="277668" y="1331223"/>
                </a:lnTo>
                <a:lnTo>
                  <a:pt x="247847" y="1305754"/>
                </a:lnTo>
                <a:lnTo>
                  <a:pt x="219400" y="1278758"/>
                </a:lnTo>
                <a:lnTo>
                  <a:pt x="192405" y="1250311"/>
                </a:lnTo>
                <a:lnTo>
                  <a:pt x="166935" y="1220490"/>
                </a:lnTo>
                <a:lnTo>
                  <a:pt x="143061" y="1189377"/>
                </a:lnTo>
                <a:lnTo>
                  <a:pt x="120849" y="1157057"/>
                </a:lnTo>
                <a:lnTo>
                  <a:pt x="100358" y="1123619"/>
                </a:lnTo>
                <a:lnTo>
                  <a:pt x="81645" y="1089154"/>
                </a:lnTo>
                <a:lnTo>
                  <a:pt x="64761" y="1053757"/>
                </a:lnTo>
                <a:lnTo>
                  <a:pt x="49754" y="1017525"/>
                </a:lnTo>
                <a:lnTo>
                  <a:pt x="36663" y="980558"/>
                </a:lnTo>
                <a:lnTo>
                  <a:pt x="25524" y="942955"/>
                </a:lnTo>
                <a:lnTo>
                  <a:pt x="16369" y="904822"/>
                </a:lnTo>
                <a:lnTo>
                  <a:pt x="9222" y="866261"/>
                </a:lnTo>
                <a:lnTo>
                  <a:pt x="4104" y="827379"/>
                </a:lnTo>
                <a:lnTo>
                  <a:pt x="1027" y="788283"/>
                </a:lnTo>
                <a:lnTo>
                  <a:pt x="0" y="749079"/>
                </a:lnTo>
                <a:lnTo>
                  <a:pt x="1027" y="709876"/>
                </a:lnTo>
                <a:lnTo>
                  <a:pt x="4104" y="670779"/>
                </a:lnTo>
                <a:lnTo>
                  <a:pt x="9222" y="631898"/>
                </a:lnTo>
                <a:lnTo>
                  <a:pt x="16369" y="593337"/>
                </a:lnTo>
                <a:lnTo>
                  <a:pt x="25524" y="555203"/>
                </a:lnTo>
                <a:lnTo>
                  <a:pt x="36663" y="517601"/>
                </a:lnTo>
                <a:lnTo>
                  <a:pt x="49754" y="480633"/>
                </a:lnTo>
                <a:lnTo>
                  <a:pt x="64761" y="444401"/>
                </a:lnTo>
                <a:lnTo>
                  <a:pt x="81645" y="409004"/>
                </a:lnTo>
                <a:lnTo>
                  <a:pt x="100358" y="374540"/>
                </a:lnTo>
                <a:lnTo>
                  <a:pt x="120849" y="341101"/>
                </a:lnTo>
                <a:lnTo>
                  <a:pt x="143061" y="308782"/>
                </a:lnTo>
                <a:lnTo>
                  <a:pt x="166935" y="277668"/>
                </a:lnTo>
                <a:lnTo>
                  <a:pt x="192405" y="247847"/>
                </a:lnTo>
                <a:lnTo>
                  <a:pt x="219400" y="219400"/>
                </a:lnTo>
                <a:lnTo>
                  <a:pt x="247847" y="192405"/>
                </a:lnTo>
                <a:lnTo>
                  <a:pt x="277668" y="166935"/>
                </a:lnTo>
                <a:lnTo>
                  <a:pt x="308782" y="143061"/>
                </a:lnTo>
                <a:lnTo>
                  <a:pt x="341101" y="120849"/>
                </a:lnTo>
                <a:lnTo>
                  <a:pt x="374540" y="100358"/>
                </a:lnTo>
                <a:lnTo>
                  <a:pt x="409004" y="81645"/>
                </a:lnTo>
                <a:lnTo>
                  <a:pt x="444401" y="64761"/>
                </a:lnTo>
                <a:lnTo>
                  <a:pt x="480633" y="49754"/>
                </a:lnTo>
                <a:lnTo>
                  <a:pt x="517601" y="36663"/>
                </a:lnTo>
                <a:lnTo>
                  <a:pt x="555203" y="25524"/>
                </a:lnTo>
                <a:lnTo>
                  <a:pt x="593337" y="16369"/>
                </a:lnTo>
                <a:lnTo>
                  <a:pt x="631898" y="9222"/>
                </a:lnTo>
                <a:lnTo>
                  <a:pt x="670779" y="4104"/>
                </a:lnTo>
                <a:lnTo>
                  <a:pt x="709876" y="1027"/>
                </a:lnTo>
                <a:lnTo>
                  <a:pt x="749079" y="0"/>
                </a:lnTo>
                <a:lnTo>
                  <a:pt x="788283" y="1027"/>
                </a:lnTo>
                <a:lnTo>
                  <a:pt x="827379" y="4104"/>
                </a:lnTo>
                <a:lnTo>
                  <a:pt x="845115" y="6438"/>
                </a:lnTo>
                <a:lnTo>
                  <a:pt x="845115" y="1491720"/>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B9049702-F7DD-44C4-8707-67C0BA01F132}"/>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536122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92C73F9-6EAC-49AC-9EAC-E7EA9634569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EC0E1C7D-7940-4FC5-9789-AA81FEB227A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B8F28E1-023B-46E4-9C0D-BF123B2F1E9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38E5C3A4-2481-4EC1-99D9-4F994F55A1F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5B2D7B2A-03D2-4D25-98E3-F1437DD0F3AF}"/>
              </a:ext>
            </a:extLst>
          </p:cNvPr>
          <p:cNvPicPr>
            <a:picLocks xmlns:a="http://schemas.openxmlformats.org/drawingml/2006/main" noChangeAspect="1"/>
          </p:cNvPicPr>
          <p:nvPr/>
        </p:nvPicPr>
        <p:blipFill>
          <a:blip xmlns:r="http://schemas.openxmlformats.org/officeDocument/2006/relationships" xmlns:a="http://schemas.openxmlformats.org/drawingml/2006/main" r:embed="Re1763b74b081488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2D3D6344-D4C3-4B4A-B148-2B087B57F7C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AEB74DF-8A42-4C54-8483-4FA75E4A5C1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8B1E2EA-0D83-46D6-91E1-B5A727C9949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B5B050B-6F7E-4D4C-A0DB-E57916831C8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42C724D-580D-4E2F-AF03-365F861EB134}"/>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B39961B-0DD1-4312-9E1E-91402DF5D7B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04D033F-28CA-4745-8D6C-887821A9D68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A6D90ED4-927A-4C2E-BAA0-73484F48ECC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19B851C-F54E-437E-9B17-F9EA987ACEF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7DB946DC-7E79-4A39-88D1-52833625DA73}"/>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ART-LAUNCH-A2-W01 — Week 1 — CLASSROOM PRACTICE</a:t>
            </a:r>
          </a:p>
        </p:txBody>
      </p:sp>
      <p:sp>
        <p:nvSpPr>
          <p:cNvPr id="16" name="body-1">
            <a:extLst xmlns:a="http://schemas.openxmlformats.org/drawingml/2006/main">
              <a:ext uri="{FF2B5EF4-FFF2-40B4-BE49-F238E27FC236}">
                <a16:creationId xmlns:a16="http://schemas.microsoft.com/office/drawing/2014/main" id="{A212258E-CDB2-49B7-A94C-24257DED0F27}"/>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Choose Flow or Crossing and record its title.</a:t>
            </a:r>
          </a:p>
        </p:txBody>
      </p:sp>
      <p:sp>
        <p:nvSpPr>
          <p:cNvPr id="17" name="body-2">
            <a:extLst xmlns:a="http://schemas.openxmlformats.org/drawingml/2006/main">
              <a:ext uri="{FF2B5EF4-FFF2-40B4-BE49-F238E27FC236}">
                <a16:creationId xmlns:a16="http://schemas.microsoft.com/office/drawing/2014/main" id="{610408D5-B1C6-427C-BDD1-4757E1308103}"/>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Describe two features you can point to.</a:t>
            </a:r>
          </a:p>
        </p:txBody>
      </p:sp>
      <p:sp>
        <p:nvSpPr>
          <p:cNvPr id="18" name="body-3">
            <a:extLst xmlns:a="http://schemas.openxmlformats.org/drawingml/2006/main">
              <a:ext uri="{FF2B5EF4-FFF2-40B4-BE49-F238E27FC236}">
                <a16:creationId xmlns:a16="http://schemas.microsoft.com/office/drawing/2014/main" id="{B3705252-D680-483E-8411-A4B7C5ED9D47}"/>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Explain how those features support your judgement of the work.</a:t>
            </a:r>
          </a:p>
        </p:txBody>
      </p:sp>
      <p:sp>
        <p:nvSpPr>
          <p:cNvPr id="19" name="body-4">
            <a:extLst xmlns:a="http://schemas.openxmlformats.org/drawingml/2006/main">
              <a:ext uri="{FF2B5EF4-FFF2-40B4-BE49-F238E27FC236}">
                <a16:creationId xmlns:a16="http://schemas.microsoft.com/office/drawing/2014/main" id="{9A157C10-671B-46B0-B1E3-9C35BA902ECD}"/>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Add another possible interpretation or a limit to your review.</a:t>
            </a:r>
          </a:p>
        </p:txBody>
      </p:sp>
      <p:sp>
        <p:nvSpPr>
          <p:cNvPr id="20" name="body-5">
            <a:extLst xmlns:a="http://schemas.openxmlformats.org/drawingml/2006/main">
              <a:ext uri="{FF2B5EF4-FFF2-40B4-BE49-F238E27FC236}">
                <a16:creationId xmlns:a16="http://schemas.microsoft.com/office/drawing/2014/main" id="{39D8CC34-B2EE-4854-A7AF-46CEC1F8E7C8}"/>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Recommend the work to a particular audience. Give a reason linked to the work.</a:t>
            </a:r>
          </a:p>
        </p:txBody>
      </p:sp>
      <p:sp>
        <p:nvSpPr>
          <p:cNvPr id="21" name="body-6">
            <a:extLst xmlns:a="http://schemas.openxmlformats.org/drawingml/2006/main">
              <a:ext uri="{FF2B5EF4-FFF2-40B4-BE49-F238E27FC236}">
                <a16:creationId xmlns:a16="http://schemas.microsoft.com/office/drawing/2014/main" id="{C193B625-B8C2-44D5-AFA2-DC27CC589EAF}"/>
              </a:ext>
            </a:extLst>
          </p:cNvPr>
          <p:cNvSpPr>
            <a:spLocks xmlns:a="http://schemas.openxmlformats.org/drawingml/2006/main" noGrp="1"/>
          </p:cNvSpPr>
          <p:nvPr/>
        </p:nvSpPr>
        <p:spPr>
          <a:xfrm xmlns:a="http://schemas.openxmlformats.org/drawingml/2006/main">
            <a:off x="381000" y="5154168"/>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6. Check one claim against the image. Share it with your chosen listener and confirm or correct what they heard.</a:t>
            </a:r>
          </a:p>
        </p:txBody>
      </p:sp>
    </p:spTree>
    <p:extLst>
      <p:ext uri="{BB962C8B-B14F-4D97-AF65-F5344CB8AC3E}">
        <p14:creationId xmlns:p14="http://schemas.microsoft.com/office/powerpoint/2010/main" val="18218878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1C981A5B-334A-4B29-AF78-F191798B9DC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82A9EB08-2B86-4AE9-9C2B-80F2A0D8D34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DCD1959C-2BC6-43C4-A519-6381DDBCC1A7}"/>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1D052826-7B28-4CA1-BEC9-4B2FF04B747D}"/>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A6309491-F8FA-404C-AFB0-B21EB2B2CD53}"/>
              </a:ext>
            </a:extLst>
          </p:cNvPr>
          <p:cNvPicPr>
            <a:picLocks xmlns:a="http://schemas.openxmlformats.org/drawingml/2006/main" noChangeAspect="1"/>
          </p:cNvPicPr>
          <p:nvPr/>
        </p:nvPicPr>
        <p:blipFill>
          <a:blip xmlns:r="http://schemas.openxmlformats.org/officeDocument/2006/relationships" xmlns:a="http://schemas.openxmlformats.org/drawingml/2006/main" r:embed="R8eef418ac91c4c3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159EFD9-4F89-48A1-86B0-8756B7C3721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6872F81-FA28-41A0-968C-5538E0D7342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FD430DF-7896-4A20-BD68-E022F0F9A95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E93FABB-2BF9-45BE-AF30-9415085E0C0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830361B-0276-4C98-B23E-5C81BA322F8B}"/>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2D96522-E67E-4A08-B560-34AFBD5D82D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49CB5A0-D44F-42DB-A1A4-5018C95A4E0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221A60C8-A74D-40B8-A3CE-D82F3B47323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2D2BEC2-AA96-4171-B1F0-8344C00CBBC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F9563DF5-178B-4827-97B1-70D8B7A260FF}"/>
              </a:ext>
            </a:extLst>
          </p:cNvPr>
          <p:cNvSpPr>
            <a:spLocks xmlns:a="http://schemas.openxmlformats.org/drawingml/2006/main" noGrp="1"/>
          </p:cNvSpPr>
          <p:nvPr/>
        </p:nvSpPr>
        <p:spPr>
          <a:xfrm xmlns:a="http://schemas.openxmlformats.org/drawingml/2006/main">
            <a:off x="381000" y="1904619"/>
            <a:ext cx="11430000" cy="749808"/>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Help: Feature → effect → judgement. 'Another viewer might ___. I recommend it to ___ because ___. My evidence is limited to ___.'</a:t>
            </a:r>
          </a:p>
        </p:txBody>
      </p:sp>
      <p:sp>
        <p:nvSpPr>
          <p:cNvPr id="16" name="body-1">
            <a:extLst xmlns:a="http://schemas.openxmlformats.org/drawingml/2006/main">
              <a:ext uri="{FF2B5EF4-FFF2-40B4-BE49-F238E27FC236}">
                <a16:creationId xmlns:a16="http://schemas.microsoft.com/office/drawing/2014/main" id="{36E3A416-663A-48D6-92EC-DDF03B67DEF9}"/>
              </a:ext>
            </a:extLst>
          </p:cNvPr>
          <p:cNvSpPr>
            <a:spLocks xmlns:a="http://schemas.openxmlformats.org/drawingml/2006/main" noGrp="1"/>
          </p:cNvSpPr>
          <p:nvPr/>
        </p:nvSpPr>
        <p:spPr>
          <a:xfrm xmlns:a="http://schemas.openxmlformats.org/drawingml/2006/main">
            <a:off x="381000" y="27496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 You may pass.</a:t>
            </a:r>
          </a:p>
        </p:txBody>
      </p:sp>
    </p:spTree>
    <p:extLst>
      <p:ext uri="{BB962C8B-B14F-4D97-AF65-F5344CB8AC3E}">
        <p14:creationId xmlns:p14="http://schemas.microsoft.com/office/powerpoint/2010/main" val="21209732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2240FAD2-BA6B-40B3-9766-CE2C3132E15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416D3105-F7A1-4AC0-8226-36140965459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A32C16A-B583-487A-8529-3CB1612BB0A0}"/>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FA5D6B31-6EAF-49CE-80F9-A8CA85D74E7C}"/>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308C5641-EABB-4375-AAA2-7210EE0970AA}"/>
              </a:ext>
            </a:extLst>
          </p:cNvPr>
          <p:cNvPicPr>
            <a:picLocks xmlns:a="http://schemas.openxmlformats.org/drawingml/2006/main" noChangeAspect="1"/>
          </p:cNvPicPr>
          <p:nvPr/>
        </p:nvPicPr>
        <p:blipFill>
          <a:blip xmlns:r="http://schemas.openxmlformats.org/officeDocument/2006/relationships" xmlns:a="http://schemas.openxmlformats.org/drawingml/2006/main" r:embed="R353e340d0da344b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A3E29AC-8037-44E3-8BDE-7A561AE2CBF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E850AF2-4264-4840-86A5-F1387C9C225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5BF6595-3123-4271-9761-BFE2D19680AD}"/>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9096BAC-A5EA-4B4F-BD18-71A924E4178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D1804571-69F0-4D58-842C-377219295CD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6682B08-1111-4AE3-A391-A66CE31B8E6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2077A9C4-6BF2-42DA-B7C1-AFA90951138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440F535E-04C4-4CD2-A68A-3D6FC1D3B7A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CF892B30-9B0E-4F59-954C-06E416E3A1E7}"/>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6115E1AE-E0F4-49A2-8BAF-C6C593054550}"/>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ART-LAUNCH-A2-W01 — Week 1 — CLASSROOM PRACTICE</a:t>
            </a:r>
          </a:p>
        </p:txBody>
      </p:sp>
      <p:sp>
        <p:nvSpPr>
          <p:cNvPr id="16" name="body-1">
            <a:extLst xmlns:a="http://schemas.openxmlformats.org/drawingml/2006/main">
              <a:ext uri="{FF2B5EF4-FFF2-40B4-BE49-F238E27FC236}">
                <a16:creationId xmlns:a16="http://schemas.microsoft.com/office/drawing/2014/main" id="{F1C4AE7E-359C-4808-9AF3-934859EF7A70}"/>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Choose Flow or Crossing. Point to its title.</a:t>
            </a:r>
          </a:p>
        </p:txBody>
      </p:sp>
      <p:sp>
        <p:nvSpPr>
          <p:cNvPr id="17" name="body-2">
            <a:extLst xmlns:a="http://schemas.openxmlformats.org/drawingml/2006/main">
              <a:ext uri="{FF2B5EF4-FFF2-40B4-BE49-F238E27FC236}">
                <a16:creationId xmlns:a16="http://schemas.microsoft.com/office/drawing/2014/main" id="{18022A57-6AAF-41FC-A8D8-45A1EDA9C61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With the image visible, choose two feature cues that fit.</a:t>
            </a:r>
          </a:p>
        </p:txBody>
      </p:sp>
      <p:sp>
        <p:nvSpPr>
          <p:cNvPr id="18" name="body-3">
            <a:extLst xmlns:a="http://schemas.openxmlformats.org/drawingml/2006/main">
              <a:ext uri="{FF2B5EF4-FFF2-40B4-BE49-F238E27FC236}">
                <a16:creationId xmlns:a16="http://schemas.microsoft.com/office/drawing/2014/main" id="{78C43007-846F-4DA6-8AD9-05536B119AE5}"/>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Flow cues: curved bands / small orange circle / dark straight strips.</a:t>
            </a:r>
          </a:p>
        </p:txBody>
      </p:sp>
      <p:sp>
        <p:nvSpPr>
          <p:cNvPr id="19" name="body-4">
            <a:extLst xmlns:a="http://schemas.openxmlformats.org/drawingml/2006/main">
              <a:ext uri="{FF2B5EF4-FFF2-40B4-BE49-F238E27FC236}">
                <a16:creationId xmlns:a16="http://schemas.microsoft.com/office/drawing/2014/main" id="{40235F3F-CACD-4B1B-B364-9428AD8FCE13}"/>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Crossing cues: overlapping diagonal strips / cropped white circle / three curved blue bands.</a:t>
            </a:r>
          </a:p>
        </p:txBody>
      </p:sp>
      <p:sp>
        <p:nvSpPr>
          <p:cNvPr id="20" name="body-5">
            <a:extLst xmlns:a="http://schemas.openxmlformats.org/drawingml/2006/main">
              <a:ext uri="{FF2B5EF4-FFF2-40B4-BE49-F238E27FC236}">
                <a16:creationId xmlns:a16="http://schemas.microsoft.com/office/drawing/2014/main" id="{9DBC2721-60DB-4174-AFE4-8B0B120ED387}"/>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Choose or give an effect. Link it to one of your features.</a:t>
            </a:r>
          </a:p>
        </p:txBody>
      </p:sp>
      <p:sp>
        <p:nvSpPr>
          <p:cNvPr id="21" name="body-6">
            <a:extLst xmlns:a="http://schemas.openxmlformats.org/drawingml/2006/main">
              <a:ext uri="{FF2B5EF4-FFF2-40B4-BE49-F238E27FC236}">
                <a16:creationId xmlns:a16="http://schemas.microsoft.com/office/drawing/2014/main" id="{E8374C50-493A-4D70-BE31-87082B6199E5}"/>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Effect words you may use: calm / movement / tension / structure. You can choose a different effect.</a:t>
            </a:r>
          </a:p>
        </p:txBody>
      </p:sp>
    </p:spTree>
    <p:extLst>
      <p:ext uri="{BB962C8B-B14F-4D97-AF65-F5344CB8AC3E}">
        <p14:creationId xmlns:p14="http://schemas.microsoft.com/office/powerpoint/2010/main" val="5796243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36EB2ECA-D036-4A27-964E-EFBC8DD15F3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FD5DEC65-6155-4E9D-98E6-87EEA57884B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2820502-6F4A-4928-A325-8145E4CB647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EEF39474-55FA-4AC5-A53C-8DC2BFDC177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0BE638E5-E1AD-4AD4-B1E0-09596955D20E}"/>
              </a:ext>
            </a:extLst>
          </p:cNvPr>
          <p:cNvPicPr>
            <a:picLocks xmlns:a="http://schemas.openxmlformats.org/drawingml/2006/main" noChangeAspect="1"/>
          </p:cNvPicPr>
          <p:nvPr/>
        </p:nvPicPr>
        <p:blipFill>
          <a:blip xmlns:r="http://schemas.openxmlformats.org/officeDocument/2006/relationships" xmlns:a="http://schemas.openxmlformats.org/drawingml/2006/main" r:embed="Rd303572a80664bb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E7680E4-CD64-4015-A991-40D74914197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73C10A8-158E-40C1-848C-C8D979EF86E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6E29CEB-80D7-409F-9580-405893CED70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2EB6EAF-70A5-4BD4-BB40-84FFC1DDBED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FC68646-5446-467C-80B3-24D54E54041B}"/>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DF78082-5CDB-4355-A60B-08146A45856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95D2142-33A8-446B-A1E3-9F4DFD9F97B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B458E15D-ABDE-42E9-A5B7-DC0D92B536A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143052B-6787-4F28-BEDA-D5E7D9A381F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A4D9B0E6-D6FC-44FD-9065-FA7059BAEF4E}"/>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Complete: 'I think ___ because I can see ___. Another viewer might ___. '</a:t>
            </a:r>
          </a:p>
        </p:txBody>
      </p:sp>
      <p:sp>
        <p:nvSpPr>
          <p:cNvPr id="16" name="body-1">
            <a:extLst xmlns:a="http://schemas.openxmlformats.org/drawingml/2006/main">
              <a:ext uri="{FF2B5EF4-FFF2-40B4-BE49-F238E27FC236}">
                <a16:creationId xmlns:a16="http://schemas.microsoft.com/office/drawing/2014/main" id="{86750B48-B61A-491D-9657-96D4DB286CA7}"/>
              </a:ext>
            </a:extLst>
          </p:cNvPr>
          <p:cNvSpPr>
            <a:spLocks xmlns:a="http://schemas.openxmlformats.org/drawingml/2006/main" noGrp="1"/>
          </p:cNvSpPr>
          <p:nvPr/>
        </p:nvSpPr>
        <p:spPr>
          <a:xfrm xmlns:a="http://schemas.openxmlformats.org/drawingml/2006/main">
            <a:off x="381000" y="2446211"/>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Choose an audience: viewers who enjoy abstract images, or viewers seeking a detailed lifelike portrait. Give one reason for your recommendation.</a:t>
            </a:r>
          </a:p>
        </p:txBody>
      </p:sp>
      <p:sp>
        <p:nvSpPr>
          <p:cNvPr id="17" name="body-2">
            <a:extLst xmlns:a="http://schemas.openxmlformats.org/drawingml/2006/main">
              <a:ext uri="{FF2B5EF4-FFF2-40B4-BE49-F238E27FC236}">
                <a16:creationId xmlns:a16="http://schemas.microsoft.com/office/drawing/2014/main" id="{90E64A8B-5232-4D96-8E6B-ADAEEF01350F}"/>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6. Show one claim to your listener. Check what they heard and make one change if it helps.</a:t>
            </a:r>
          </a:p>
        </p:txBody>
      </p:sp>
      <p:sp>
        <p:nvSpPr>
          <p:cNvPr id="18" name="body-3">
            <a:extLst xmlns:a="http://schemas.openxmlformats.org/drawingml/2006/main">
              <a:ext uri="{FF2B5EF4-FFF2-40B4-BE49-F238E27FC236}">
                <a16:creationId xmlns:a16="http://schemas.microsoft.com/office/drawing/2014/main" id="{B86D58C6-F19F-463A-AE4D-3C4A7466E897}"/>
              </a:ext>
            </a:extLst>
          </p:cNvPr>
          <p:cNvSpPr>
            <a:spLocks xmlns:a="http://schemas.openxmlformats.org/drawingml/2006/main" noGrp="1"/>
          </p:cNvSpPr>
          <p:nvPr/>
        </p:nvSpPr>
        <p:spPr>
          <a:xfrm xmlns:a="http://schemas.openxmlformats.org/drawingml/2006/main">
            <a:off x="381000" y="3832860"/>
            <a:ext cx="11430000" cy="749808"/>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Help: Show one choice at a time. The adult may reread a cue or scribe your words; you make the decisions.</a:t>
            </a:r>
          </a:p>
        </p:txBody>
      </p:sp>
      <p:sp>
        <p:nvSpPr>
          <p:cNvPr id="19" name="body-4">
            <a:extLst xmlns:a="http://schemas.openxmlformats.org/drawingml/2006/main">
              <a:ext uri="{FF2B5EF4-FFF2-40B4-BE49-F238E27FC236}">
                <a16:creationId xmlns:a16="http://schemas.microsoft.com/office/drawing/2014/main" id="{123C219F-324D-4043-83BA-66DAA646A65D}"/>
              </a:ext>
            </a:extLst>
          </p:cNvPr>
          <p:cNvSpPr>
            <a:spLocks xmlns:a="http://schemas.openxmlformats.org/drawingml/2006/main" noGrp="1"/>
          </p:cNvSpPr>
          <p:nvPr/>
        </p:nvSpPr>
        <p:spPr>
          <a:xfrm xmlns:a="http://schemas.openxmlformats.org/drawingml/2006/main">
            <a:off x="381000" y="467791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 You may pass.</a:t>
            </a:r>
          </a:p>
        </p:txBody>
      </p:sp>
    </p:spTree>
    <p:extLst>
      <p:ext uri="{BB962C8B-B14F-4D97-AF65-F5344CB8AC3E}">
        <p14:creationId xmlns:p14="http://schemas.microsoft.com/office/powerpoint/2010/main" val="13906969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0E88C305-B6BD-4155-BA73-0CCE83A60F3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8C8A0D17-394A-4F89-83DA-66AA427249C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9BAC74F-AA91-4052-84E1-9195508F7647}"/>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47B7F35-79B7-4D69-A095-359BA7188BC3}"/>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D05EB988-B926-455F-8950-74EF76DF1FED}"/>
              </a:ext>
            </a:extLst>
          </p:cNvPr>
          <p:cNvPicPr>
            <a:picLocks xmlns:a="http://schemas.openxmlformats.org/drawingml/2006/main" noChangeAspect="1"/>
          </p:cNvPicPr>
          <p:nvPr/>
        </p:nvPicPr>
        <p:blipFill>
          <a:blip xmlns:r="http://schemas.openxmlformats.org/officeDocument/2006/relationships" xmlns:a="http://schemas.openxmlformats.org/drawingml/2006/main" r:embed="Rc8df5d5dc1a147f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B4C8F8C-86D1-471E-8A01-C5DE4FEE7B7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56B471F-E15E-425A-8BD2-C17D473573E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CA87B74-F2F1-4727-B2AB-DC9819AB47F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6BEA2A6-37BE-48B3-B071-89BE5565E4A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59DE76A-AB96-4AD2-A93C-58C1503F48D8}"/>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0DE1B29-A28D-4447-AFED-613D0905EE6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80F0F9A9-0AF9-49B8-BC58-92656735AC2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C136DC44-32C8-4FCC-AE1B-6A2704F5181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B4BA981-9713-4E38-B338-F7821376C69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878D90B8-306A-4A5D-B28D-FCC511654F7B}"/>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ART-LAUNCH-A2-W01 — Week 1 — CLASSROOM PRACTICE</a:t>
            </a:r>
          </a:p>
        </p:txBody>
      </p:sp>
      <p:sp>
        <p:nvSpPr>
          <p:cNvPr id="16" name="body-1">
            <a:extLst xmlns:a="http://schemas.openxmlformats.org/drawingml/2006/main">
              <a:ext uri="{FF2B5EF4-FFF2-40B4-BE49-F238E27FC236}">
                <a16:creationId xmlns:a16="http://schemas.microsoft.com/office/drawing/2014/main" id="{4E2C4BE5-83D5-4DB2-A9BF-6897EC98A18B}"/>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Choose one work: Flow or Crossing.</a:t>
            </a:r>
          </a:p>
        </p:txBody>
      </p:sp>
      <p:sp>
        <p:nvSpPr>
          <p:cNvPr id="17" name="body-2">
            <a:extLst xmlns:a="http://schemas.openxmlformats.org/drawingml/2006/main">
              <a:ext uri="{FF2B5EF4-FFF2-40B4-BE49-F238E27FC236}">
                <a16:creationId xmlns:a16="http://schemas.microsoft.com/office/drawing/2014/main" id="{0935478A-D31B-40CA-9ACD-4D80EF15BA11}"/>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Choose a feature that fits it: curved blue bands / overlapping dark diagonal strips. Point to it.</a:t>
            </a:r>
          </a:p>
        </p:txBody>
      </p:sp>
      <p:sp>
        <p:nvSpPr>
          <p:cNvPr id="18" name="body-3">
            <a:extLst xmlns:a="http://schemas.openxmlformats.org/drawingml/2006/main">
              <a:ext uri="{FF2B5EF4-FFF2-40B4-BE49-F238E27FC236}">
                <a16:creationId xmlns:a16="http://schemas.microsoft.com/office/drawing/2014/main" id="{9D836A07-94FE-42A9-B2E8-10D145C1B050}"/>
              </a:ext>
            </a:extLst>
          </p:cNvPr>
          <p:cNvSpPr>
            <a:spLocks xmlns:a="http://schemas.openxmlformats.org/drawingml/2006/main" noGrp="1"/>
          </p:cNvSpPr>
          <p:nvPr/>
        </p:nvSpPr>
        <p:spPr>
          <a:xfrm xmlns:a="http://schemas.openxmlformats.org/drawingml/2006/main">
            <a:off x="381000" y="3529394"/>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Choose an effect or give your own: calm / movement / tension / structure. Say, show or select why the feature creates that effect for you.</a:t>
            </a:r>
          </a:p>
        </p:txBody>
      </p:sp>
      <p:sp>
        <p:nvSpPr>
          <p:cNvPr id="19" name="body-4">
            <a:extLst xmlns:a="http://schemas.openxmlformats.org/drawingml/2006/main">
              <a:ext uri="{FF2B5EF4-FFF2-40B4-BE49-F238E27FC236}">
                <a16:creationId xmlns:a16="http://schemas.microsoft.com/office/drawing/2014/main" id="{F2A6E814-554A-4FE1-92BA-5447A3BB5E77}"/>
              </a:ext>
            </a:extLst>
          </p:cNvPr>
          <p:cNvSpPr>
            <a:spLocks xmlns:a="http://schemas.openxmlformats.org/drawingml/2006/main" noGrp="1"/>
          </p:cNvSpPr>
          <p:nvPr/>
        </p:nvSpPr>
        <p:spPr>
          <a:xfrm xmlns:a="http://schemas.openxmlformats.org/drawingml/2006/main">
            <a:off x="381000" y="437445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Choose the careful claim: 'This is my reading' / 'Every viewer must agree'.</a:t>
            </a:r>
          </a:p>
        </p:txBody>
      </p:sp>
      <p:sp>
        <p:nvSpPr>
          <p:cNvPr id="20" name="body-5">
            <a:extLst xmlns:a="http://schemas.openxmlformats.org/drawingml/2006/main">
              <a:ext uri="{FF2B5EF4-FFF2-40B4-BE49-F238E27FC236}">
                <a16:creationId xmlns:a16="http://schemas.microsoft.com/office/drawing/2014/main" id="{3F1DE4CA-296C-485C-801F-9B3437C64DF7}"/>
              </a:ext>
            </a:extLst>
          </p:cNvPr>
          <p:cNvSpPr>
            <a:spLocks xmlns:a="http://schemas.openxmlformats.org/drawingml/2006/main" noGrp="1"/>
          </p:cNvSpPr>
          <p:nvPr/>
        </p:nvSpPr>
        <p:spPr>
          <a:xfrm xmlns:a="http://schemas.openxmlformats.org/drawingml/2006/main">
            <a:off x="381000" y="4916043"/>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Recommend it to viewers who enjoy abstract images or viewers seeking a lifelike portrait. Add one reason based on what the work shows.</a:t>
            </a:r>
          </a:p>
        </p:txBody>
      </p:sp>
    </p:spTree>
    <p:extLst>
      <p:ext uri="{BB962C8B-B14F-4D97-AF65-F5344CB8AC3E}">
        <p14:creationId xmlns:p14="http://schemas.microsoft.com/office/powerpoint/2010/main" val="16851200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6CDFC6A-9C8F-4422-883E-8984B441E66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D6698A03-5E68-4A1C-BA2B-EF4B62E4EAE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046C67C-E102-4691-8D98-13BBF9AE243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507B1090-FD94-4C6B-9285-D605794C9B5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FB9C82B5-CC92-4206-9127-635616EA6F6B}"/>
              </a:ext>
            </a:extLst>
          </p:cNvPr>
          <p:cNvPicPr>
            <a:picLocks xmlns:a="http://schemas.openxmlformats.org/drawingml/2006/main" noChangeAspect="1"/>
          </p:cNvPicPr>
          <p:nvPr/>
        </p:nvPicPr>
        <p:blipFill>
          <a:blip xmlns:r="http://schemas.openxmlformats.org/officeDocument/2006/relationships" xmlns:a="http://schemas.openxmlformats.org/drawingml/2006/main" r:embed="R1e0ad5c4b7bc4a8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C9435E9-CDE7-435A-A52F-ACA5D354DA1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D674F90-C91C-4238-8859-5F3927C128B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46BC916-CC77-4D57-9954-0E219548FA2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D91B0CB-B78D-465A-9A12-CFC40F42ED0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24763CA-A517-48BE-967F-83CE00A04B6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BF8BAAB-7A86-4BAD-B7BF-E137D2A9C72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E07302B-D403-497C-B3A7-5A382F92771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FA4F23E0-2C0D-451D-A37B-648494C689F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06A0011B-D8EF-4FDD-AC19-B4571B2760E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5EF024AC-C791-4411-850F-598ED920432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6. Ask your listener to name back your feature and judgement. Confirm or correct the account.</a:t>
            </a:r>
          </a:p>
        </p:txBody>
      </p:sp>
      <p:sp>
        <p:nvSpPr>
          <p:cNvPr id="16" name="body-1">
            <a:extLst xmlns:a="http://schemas.openxmlformats.org/drawingml/2006/main">
              <a:ext uri="{FF2B5EF4-FFF2-40B4-BE49-F238E27FC236}">
                <a16:creationId xmlns:a16="http://schemas.microsoft.com/office/drawing/2014/main" id="{FA661463-8474-472A-9FE8-9DB9E052102C}"/>
              </a:ext>
            </a:extLst>
          </p:cNvPr>
          <p:cNvSpPr>
            <a:spLocks xmlns:a="http://schemas.openxmlformats.org/drawingml/2006/main" noGrp="1"/>
          </p:cNvSpPr>
          <p:nvPr/>
        </p:nvSpPr>
        <p:spPr>
          <a:xfrm xmlns:a="http://schemas.openxmlformats.org/drawingml/2006/main">
            <a:off x="381000" y="2446211"/>
            <a:ext cx="11430000" cy="749808"/>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Help: 'I chose ___ because ___. My feature is ___. It suggests ___ to me. I recommend it to ___ because ___. '</a:t>
            </a:r>
          </a:p>
        </p:txBody>
      </p:sp>
      <p:sp>
        <p:nvSpPr>
          <p:cNvPr id="17" name="body-2">
            <a:extLst xmlns:a="http://schemas.openxmlformats.org/drawingml/2006/main">
              <a:ext uri="{FF2B5EF4-FFF2-40B4-BE49-F238E27FC236}">
                <a16:creationId xmlns:a16="http://schemas.microsoft.com/office/drawing/2014/main" id="{EC9EE6BA-DFF4-4A93-B181-29EBC899C7E1}"/>
              </a:ext>
            </a:extLst>
          </p:cNvPr>
          <p:cNvSpPr>
            <a:spLocks xmlns:a="http://schemas.openxmlformats.org/drawingml/2006/main" noGrp="1"/>
          </p:cNvSpPr>
          <p:nvPr/>
        </p:nvSpPr>
        <p:spPr>
          <a:xfrm xmlns:a="http://schemas.openxmlformats.org/drawingml/2006/main">
            <a:off x="381000" y="32912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 You may pass.</a:t>
            </a:r>
          </a:p>
        </p:txBody>
      </p:sp>
    </p:spTree>
    <p:extLst>
      <p:ext uri="{BB962C8B-B14F-4D97-AF65-F5344CB8AC3E}">
        <p14:creationId xmlns:p14="http://schemas.microsoft.com/office/powerpoint/2010/main" val="20471095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4E28928-0666-4485-BE39-FB37A485452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ECDC5057-BED0-4C76-A133-7B0C09B3A0E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B7FEE54C-EEE0-4638-8E68-6C4F2EB3F53A}"/>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FD8C6FC-47A4-4BD4-A74A-631466C34EBD}"/>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6A724BFC-DF83-4A95-8EB2-41FF325975AC}"/>
              </a:ext>
            </a:extLst>
          </p:cNvPr>
          <p:cNvPicPr>
            <a:picLocks xmlns:a="http://schemas.openxmlformats.org/drawingml/2006/main" noChangeAspect="1"/>
          </p:cNvPicPr>
          <p:nvPr/>
        </p:nvPicPr>
        <p:blipFill>
          <a:blip xmlns:r="http://schemas.openxmlformats.org/officeDocument/2006/relationships" xmlns:a="http://schemas.openxmlformats.org/drawingml/2006/main" r:embed="R531d19abc25c45e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CDFE5AB-D607-4183-BEF5-FB3BE824EFF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00D2BA8-670E-4544-BB57-D2C3ACF9DBB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B34AF0F-FD0F-4B0B-BD6F-5685AF18B0A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8BC7C6B-8F9E-493E-8DD3-2A0616499DE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57CCDBF-45CF-4BE2-9AC7-8AB9795900F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3329CCD8-4B83-49BE-A514-B36C2BB484D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D17E265D-7A4E-4AF3-9780-981951C27F9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F7EC8879-F917-40DE-9BE9-C193FEFB0ED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42C6A6D-2ED9-4BA3-9A87-EEFBFD8FB2A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5D657B98-E8C1-474D-821A-CF73EB042BB3}"/>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ART-LAUNCH-A2-W01 — Week 1 — CLASSROOM PRACTICE</a:t>
            </a:r>
          </a:p>
        </p:txBody>
      </p:sp>
      <p:sp>
        <p:nvSpPr>
          <p:cNvPr id="16" name="body-1">
            <a:extLst xmlns:a="http://schemas.openxmlformats.org/drawingml/2006/main">
              <a:ext uri="{FF2B5EF4-FFF2-40B4-BE49-F238E27FC236}">
                <a16:creationId xmlns:a16="http://schemas.microsoft.com/office/drawing/2014/main" id="{A0CE0EBD-8ACE-4A6F-A347-90EE457689B9}"/>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Compare Flow and Crossing, identifying one precise feature from each.</a:t>
            </a:r>
          </a:p>
        </p:txBody>
      </p:sp>
      <p:sp>
        <p:nvSpPr>
          <p:cNvPr id="17" name="body-2">
            <a:extLst xmlns:a="http://schemas.openxmlformats.org/drawingml/2006/main">
              <a:ext uri="{FF2B5EF4-FFF2-40B4-BE49-F238E27FC236}">
                <a16:creationId xmlns:a16="http://schemas.microsoft.com/office/drawing/2014/main" id="{E5339237-BF1C-4F85-B87F-3CF9CD92E95B}"/>
              </a:ext>
            </a:extLst>
          </p:cNvPr>
          <p:cNvSpPr>
            <a:spLocks xmlns:a="http://schemas.openxmlformats.org/drawingml/2006/main" noGrp="1"/>
          </p:cNvSpPr>
          <p:nvPr/>
        </p:nvSpPr>
        <p:spPr>
          <a:xfrm xmlns:a="http://schemas.openxmlformats.org/drawingml/2006/main">
            <a:off x="381000" y="2987802"/>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Explain which work more strongly supports your chosen judgement, using both features as evidence.</a:t>
            </a:r>
          </a:p>
        </p:txBody>
      </p:sp>
      <p:sp>
        <p:nvSpPr>
          <p:cNvPr id="18" name="body-3">
            <a:extLst xmlns:a="http://schemas.openxmlformats.org/drawingml/2006/main">
              <a:ext uri="{FF2B5EF4-FFF2-40B4-BE49-F238E27FC236}">
                <a16:creationId xmlns:a16="http://schemas.microsoft.com/office/drawing/2014/main" id="{EC1D828F-AA9A-4C13-B334-647FE6BCA3E0}"/>
              </a:ext>
            </a:extLst>
          </p:cNvPr>
          <p:cNvSpPr>
            <a:spLocks xmlns:a="http://schemas.openxmlformats.org/drawingml/2006/main" noGrp="1"/>
          </p:cNvSpPr>
          <p:nvPr/>
        </p:nvSpPr>
        <p:spPr>
          <a:xfrm xmlns:a="http://schemas.openxmlformats.org/drawingml/2006/main">
            <a:off x="381000" y="3832860"/>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Evaluate a competing interpretation of one work. Explain what its evidence supports and where your view differs.</a:t>
            </a:r>
          </a:p>
        </p:txBody>
      </p:sp>
      <p:sp>
        <p:nvSpPr>
          <p:cNvPr id="19" name="body-4">
            <a:extLst xmlns:a="http://schemas.openxmlformats.org/drawingml/2006/main">
              <a:ext uri="{FF2B5EF4-FFF2-40B4-BE49-F238E27FC236}">
                <a16:creationId xmlns:a16="http://schemas.microsoft.com/office/drawing/2014/main" id="{F6C4F359-5976-4242-BE6B-345B470E310C}"/>
              </a:ext>
            </a:extLst>
          </p:cNvPr>
          <p:cNvSpPr>
            <a:spLocks xmlns:a="http://schemas.openxmlformats.org/drawingml/2006/main" noGrp="1"/>
          </p:cNvSpPr>
          <p:nvPr/>
        </p:nvSpPr>
        <p:spPr>
          <a:xfrm xmlns:a="http://schemas.openxmlformats.org/drawingml/2006/main">
            <a:off x="381000" y="467791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State what further context could change your judgement. Do not invent a maker's intention.</a:t>
            </a:r>
          </a:p>
        </p:txBody>
      </p:sp>
      <p:sp>
        <p:nvSpPr>
          <p:cNvPr id="20" name="body-5">
            <a:extLst xmlns:a="http://schemas.openxmlformats.org/drawingml/2006/main">
              <a:ext uri="{FF2B5EF4-FFF2-40B4-BE49-F238E27FC236}">
                <a16:creationId xmlns:a16="http://schemas.microsoft.com/office/drawing/2014/main" id="{094C5B12-5E7B-4130-A144-83C411AE9A5F}"/>
              </a:ext>
            </a:extLst>
          </p:cNvPr>
          <p:cNvSpPr>
            <a:spLocks xmlns:a="http://schemas.openxmlformats.org/drawingml/2006/main" noGrp="1"/>
          </p:cNvSpPr>
          <p:nvPr/>
        </p:nvSpPr>
        <p:spPr>
          <a:xfrm xmlns:a="http://schemas.openxmlformats.org/drawingml/2006/main">
            <a:off x="381000" y="521951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Recommend one work, or the comparison, to a clearly defined audience. Justify the fit.</a:t>
            </a:r>
          </a:p>
        </p:txBody>
      </p:sp>
    </p:spTree>
    <p:extLst>
      <p:ext uri="{BB962C8B-B14F-4D97-AF65-F5344CB8AC3E}">
        <p14:creationId xmlns:p14="http://schemas.microsoft.com/office/powerpoint/2010/main" val="141515099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8662FF1B-CBB3-4648-845A-83A94B56086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E967C8AB-7270-4EA4-947A-059E4E2CDB3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D4EB8FFB-BE3E-4D6D-8080-151F0F3913F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24428856-3DCD-429D-A9CE-1A437A032CE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3310D2A2-3EA2-45CB-9158-C6A21F1F3FDE}"/>
              </a:ext>
            </a:extLst>
          </p:cNvPr>
          <p:cNvPicPr>
            <a:picLocks xmlns:a="http://schemas.openxmlformats.org/drawingml/2006/main" noChangeAspect="1"/>
          </p:cNvPicPr>
          <p:nvPr/>
        </p:nvPicPr>
        <p:blipFill>
          <a:blip xmlns:r="http://schemas.openxmlformats.org/officeDocument/2006/relationships" xmlns:a="http://schemas.openxmlformats.org/drawingml/2006/main" r:embed="Ra7ac1bd2061b445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C2F452E6-A85E-4A1F-9586-F7AC80647CC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ED6DAE5-D05A-49A0-9C0B-4EF45A1983A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F5FAF08-48C1-4433-B1AB-875D9D49081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C7177A1-19C8-4B80-9A5B-93E58EFA6C6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17759B5-40CE-4D07-A6B1-1B4E2F2D64F2}"/>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EAFAA29-3B31-4F23-BD12-698A690B7D9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45039EE-6C85-4B10-9157-7C9553F0001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7F943A46-D70A-4FA4-AA7B-3A3A91979A7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4F0F196-3330-4D7F-9424-49F8077E573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practice review and one checked or revised claim.</a:t>
            </a:r>
          </a:p>
        </p:txBody>
      </p:sp>
      <p:sp>
        <p:nvSpPr>
          <p:cNvPr id="15" name="body-0">
            <a:extLst xmlns:a="http://schemas.openxmlformats.org/drawingml/2006/main">
              <a:ext uri="{FF2B5EF4-FFF2-40B4-BE49-F238E27FC236}">
                <a16:creationId xmlns:a16="http://schemas.microsoft.com/office/drawing/2014/main" id="{0B6608F8-FB9C-4592-8ECF-E1E1596A6DDC}"/>
              </a:ext>
            </a:extLst>
          </p:cNvPr>
          <p:cNvSpPr>
            <a:spLocks xmlns:a="http://schemas.openxmlformats.org/drawingml/2006/main" noGrp="1"/>
          </p:cNvSpPr>
          <p:nvPr/>
        </p:nvSpPr>
        <p:spPr>
          <a:xfrm xmlns:a="http://schemas.openxmlformats.org/drawingml/2006/main">
            <a:off x="381000" y="1904619"/>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6. Check a claim with your chosen listener. Confirm, qualify or revise it after they name back your meaning.</a:t>
            </a:r>
          </a:p>
        </p:txBody>
      </p:sp>
      <p:sp>
        <p:nvSpPr>
          <p:cNvPr id="16" name="body-1">
            <a:extLst xmlns:a="http://schemas.openxmlformats.org/drawingml/2006/main">
              <a:ext uri="{FF2B5EF4-FFF2-40B4-BE49-F238E27FC236}">
                <a16:creationId xmlns:a16="http://schemas.microsoft.com/office/drawing/2014/main" id="{1CE915FA-81A7-45F3-B905-C4FF28F87C8D}"/>
              </a:ext>
            </a:extLst>
          </p:cNvPr>
          <p:cNvSpPr>
            <a:spLocks xmlns:a="http://schemas.openxmlformats.org/drawingml/2006/main" noGrp="1"/>
          </p:cNvSpPr>
          <p:nvPr/>
        </p:nvSpPr>
        <p:spPr>
          <a:xfrm xmlns:a="http://schemas.openxmlformats.org/drawingml/2006/main">
            <a:off x="381000" y="2749677"/>
            <a:ext cx="11430000" cy="749808"/>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Help: 'Both readings account for ___. This evidence supports ___ more strongly because ___. I would need ___ before claiming ___. '</a:t>
            </a:r>
          </a:p>
        </p:txBody>
      </p:sp>
      <p:sp>
        <p:nvSpPr>
          <p:cNvPr id="17" name="body-2">
            <a:extLst xmlns:a="http://schemas.openxmlformats.org/drawingml/2006/main">
              <a:ext uri="{FF2B5EF4-FFF2-40B4-BE49-F238E27FC236}">
                <a16:creationId xmlns:a16="http://schemas.microsoft.com/office/drawing/2014/main" id="{CD78DB7C-B08C-4BA6-B434-273890C9A763}"/>
              </a:ext>
            </a:extLst>
          </p:cNvPr>
          <p:cNvSpPr>
            <a:spLocks xmlns:a="http://schemas.openxmlformats.org/drawingml/2006/main" noGrp="1"/>
          </p:cNvSpPr>
          <p:nvPr/>
        </p:nvSpPr>
        <p:spPr>
          <a:xfrm xmlns:a="http://schemas.openxmlformats.org/drawingml/2006/main">
            <a:off x="381000" y="359473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 You may pass.</a:t>
            </a:r>
          </a:p>
        </p:txBody>
      </p:sp>
    </p:spTree>
    <p:extLst>
      <p:ext uri="{BB962C8B-B14F-4D97-AF65-F5344CB8AC3E}">
        <p14:creationId xmlns:p14="http://schemas.microsoft.com/office/powerpoint/2010/main" val="13120191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D634F241-AB95-455C-9DEF-4891750EE73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B9F859C5-6640-49F2-A171-085408A70FC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3FE172A7-1DF2-4A2E-AEC4-6CB522ACBF9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pic>
        <p:nvPicPr>
          <p:cNvPr id="4" name="">
            <a:extLst xmlns:a="http://schemas.openxmlformats.org/drawingml/2006/main">
              <a:ext uri="{FF2B5EF4-FFF2-40B4-BE49-F238E27FC236}">
                <a16:creationId xmlns:a16="http://schemas.microsoft.com/office/drawing/2014/main" id="{773E956B-FF44-437F-A471-695786244DB3}"/>
              </a:ext>
            </a:extLst>
          </p:cNvPr>
          <p:cNvPicPr>
            <a:picLocks xmlns:a="http://schemas.openxmlformats.org/drawingml/2006/main" noChangeAspect="1"/>
          </p:cNvPicPr>
          <p:nvPr/>
        </p:nvPicPr>
        <p:blipFill>
          <a:blip xmlns:r="http://schemas.openxmlformats.org/officeDocument/2006/relationships" xmlns:a="http://schemas.openxmlformats.org/drawingml/2006/main" r:embed="R38b563b149bb466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83C68411-4B96-4FC3-AA2C-4ACF951136C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C74A1A5-D29A-4C09-B93E-774066D1874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2A85D5C-37FD-49A4-B22A-692975FADFB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E716B17-CABC-4347-AF7C-9594E62547E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3B421C9-AEFD-4CE8-817E-CAD1F4FEF5F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DD653DB-D844-406A-8F65-5001F7588999}"/>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2DB2647-622C-430B-A4A8-328B1C4AAAF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2" name="licence-footer">
            <a:extLst xmlns:a="http://schemas.openxmlformats.org/drawingml/2006/main">
              <a:ext uri="{FF2B5EF4-FFF2-40B4-BE49-F238E27FC236}">
                <a16:creationId xmlns:a16="http://schemas.microsoft.com/office/drawing/2014/main" id="{F859A3DF-9BBC-4427-B8BA-0D797127733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563B4B1-49D7-4A6D-A8CB-1D6C6A7A98B4}"/>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each check, 1 to 3 (a word, mark or short phrase), and your next action: keep, clarify or revise.</a:t>
            </a:r>
          </a:p>
        </p:txBody>
      </p:sp>
      <p:sp>
        <p:nvSpPr>
          <p:cNvPr id="14" name="figure-flow-0">
            <a:extLst xmlns:a="http://schemas.openxmlformats.org/drawingml/2006/main">
              <a:ext uri="{FF2B5EF4-FFF2-40B4-BE49-F238E27FC236}">
                <a16:creationId xmlns:a16="http://schemas.microsoft.com/office/drawing/2014/main" id="{0B89BC4F-5DEC-4F21-B9A2-3510E1F7BEDC}"/>
              </a:ext>
            </a:extLst>
          </p:cNvPr>
          <p:cNvSpPr>
            <a:spLocks xmlns:a="http://schemas.openxmlformats.org/drawingml/2006/main" noGrp="1"/>
          </p:cNvSpPr>
          <p:nvPr/>
        </p:nvSpPr>
        <p:spPr>
          <a:xfrm xmlns:a="http://schemas.openxmlformats.org/drawingml/2006/main">
            <a:off x="933629" y="2199751"/>
            <a:ext cx="505437"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Flow</a:t>
            </a:r>
          </a:p>
        </p:txBody>
      </p:sp>
      <p:sp>
        <p:nvSpPr>
          <p:cNvPr id="15" name="figure-flow-1">
            <a:extLst xmlns:a="http://schemas.openxmlformats.org/drawingml/2006/main">
              <a:ext uri="{FF2B5EF4-FFF2-40B4-BE49-F238E27FC236}">
                <a16:creationId xmlns:a16="http://schemas.microsoft.com/office/drawing/2014/main" id="{64F4F46C-125F-4CB8-BD60-157B6BC3459B}"/>
              </a:ext>
            </a:extLst>
          </p:cNvPr>
          <p:cNvSpPr>
            <a:spLocks xmlns:a="http://schemas.openxmlformats.org/drawingml/2006/main" noGrp="1"/>
          </p:cNvSpPr>
          <p:nvPr/>
        </p:nvSpPr>
        <p:spPr>
          <a:xfrm xmlns:a="http://schemas.openxmlformats.org/drawingml/2006/main">
            <a:off x="954584" y="2549277"/>
            <a:ext cx="4415433" cy="2428488"/>
          </a:xfrm>
          <a:prstGeom xmlns:a="http://schemas.openxmlformats.org/drawingml/2006/main" prst="rect">
            <a:avLst/>
          </a:prstGeom>
          <a:solidFill xmlns:a="http://schemas.openxmlformats.org/drawingml/2006/main">
            <a:srgbClr val="FFF2D8"/>
          </a:solidFill>
          <a:ln xmlns:a="http://schemas.openxmlformats.org/drawingml/2006/main" w="0">
            <a:noFill/>
          </a:ln>
        </p:spPr>
      </p:sp>
      <p:sp>
        <p:nvSpPr>
          <p:cNvPr id="16" name="figure-flow-2">
            <a:extLst xmlns:a="http://schemas.openxmlformats.org/drawingml/2006/main">
              <a:ext uri="{FF2B5EF4-FFF2-40B4-BE49-F238E27FC236}">
                <a16:creationId xmlns:a16="http://schemas.microsoft.com/office/drawing/2014/main" id="{2179E78E-54A0-4AC3-BEF8-D059F13BAC13}"/>
              </a:ext>
            </a:extLst>
          </p:cNvPr>
          <p:cNvSpPr>
            <a:spLocks xmlns:a="http://schemas.openxmlformats.org/drawingml/2006/main" noGrp="1"/>
          </p:cNvSpPr>
          <p:nvPr/>
        </p:nvSpPr>
        <p:spPr>
          <a:xfrm xmlns:a="http://schemas.openxmlformats.org/drawingml/2006/main">
            <a:off x="1193017" y="3061583"/>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356BB2"/>
          </a:solidFill>
          <a:ln xmlns:a="http://schemas.openxmlformats.org/drawingml/2006/main" w="0">
            <a:noFill/>
          </a:ln>
        </p:spPr>
      </p:sp>
      <p:sp>
        <p:nvSpPr>
          <p:cNvPr id="17" name="figure-flow-3">
            <a:extLst xmlns:a="http://schemas.openxmlformats.org/drawingml/2006/main">
              <a:ext uri="{FF2B5EF4-FFF2-40B4-BE49-F238E27FC236}">
                <a16:creationId xmlns:a16="http://schemas.microsoft.com/office/drawing/2014/main" id="{CDADAB0F-6CE3-4FEA-932E-CB5B0CF563DC}"/>
              </a:ext>
            </a:extLst>
          </p:cNvPr>
          <p:cNvSpPr>
            <a:spLocks xmlns:a="http://schemas.openxmlformats.org/drawingml/2006/main" noGrp="1"/>
          </p:cNvSpPr>
          <p:nvPr/>
        </p:nvSpPr>
        <p:spPr>
          <a:xfrm xmlns:a="http://schemas.openxmlformats.org/drawingml/2006/main">
            <a:off x="1193017" y="3609097"/>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198C91"/>
          </a:solidFill>
          <a:ln xmlns:a="http://schemas.openxmlformats.org/drawingml/2006/main" w="0">
            <a:noFill/>
          </a:ln>
        </p:spPr>
      </p:sp>
      <p:sp>
        <p:nvSpPr>
          <p:cNvPr id="18" name="figure-flow-4">
            <a:extLst xmlns:a="http://schemas.openxmlformats.org/drawingml/2006/main">
              <a:ext uri="{FF2B5EF4-FFF2-40B4-BE49-F238E27FC236}">
                <a16:creationId xmlns:a16="http://schemas.microsoft.com/office/drawing/2014/main" id="{0AED8025-4B65-4E42-BC22-9939AE68410A}"/>
              </a:ext>
            </a:extLst>
          </p:cNvPr>
          <p:cNvSpPr>
            <a:spLocks xmlns:a="http://schemas.openxmlformats.org/drawingml/2006/main" noGrp="1"/>
          </p:cNvSpPr>
          <p:nvPr/>
        </p:nvSpPr>
        <p:spPr>
          <a:xfrm xmlns:a="http://schemas.openxmlformats.org/drawingml/2006/main">
            <a:off x="1193017" y="4156610"/>
            <a:ext cx="3814934" cy="564986"/>
          </a:xfrm>
          <a:custGeom xmlns:a="http://schemas.openxmlformats.org/drawingml/2006/main">
            <a:pathLst>
              <a:path w="3814934" h="564986">
                <a:moveTo>
                  <a:pt x="0" y="150009"/>
                </a:moveTo>
                <a:lnTo>
                  <a:pt x="95373" y="169994"/>
                </a:lnTo>
                <a:lnTo>
                  <a:pt x="190747" y="189623"/>
                </a:lnTo>
                <a:lnTo>
                  <a:pt x="286120" y="208547"/>
                </a:lnTo>
                <a:lnTo>
                  <a:pt x="381493" y="226429"/>
                </a:lnTo>
                <a:lnTo>
                  <a:pt x="476867" y="242950"/>
                </a:lnTo>
                <a:lnTo>
                  <a:pt x="572240" y="257817"/>
                </a:lnTo>
                <a:lnTo>
                  <a:pt x="667613" y="270766"/>
                </a:lnTo>
                <a:lnTo>
                  <a:pt x="762987" y="281564"/>
                </a:lnTo>
                <a:lnTo>
                  <a:pt x="858360" y="290021"/>
                </a:lnTo>
                <a:lnTo>
                  <a:pt x="953733" y="295986"/>
                </a:lnTo>
                <a:lnTo>
                  <a:pt x="1049107" y="299352"/>
                </a:lnTo>
                <a:lnTo>
                  <a:pt x="1144480" y="300060"/>
                </a:lnTo>
                <a:lnTo>
                  <a:pt x="1239854" y="298096"/>
                </a:lnTo>
                <a:lnTo>
                  <a:pt x="1335227" y="293497"/>
                </a:lnTo>
                <a:lnTo>
                  <a:pt x="1430600" y="286344"/>
                </a:lnTo>
                <a:lnTo>
                  <a:pt x="1525974" y="276763"/>
                </a:lnTo>
                <a:lnTo>
                  <a:pt x="1621347" y="264927"/>
                </a:lnTo>
                <a:lnTo>
                  <a:pt x="1716720" y="251045"/>
                </a:lnTo>
                <a:lnTo>
                  <a:pt x="1812094" y="235364"/>
                </a:lnTo>
                <a:lnTo>
                  <a:pt x="1907467" y="218164"/>
                </a:lnTo>
                <a:lnTo>
                  <a:pt x="2002840" y="199751"/>
                </a:lnTo>
                <a:lnTo>
                  <a:pt x="2098214" y="180452"/>
                </a:lnTo>
                <a:lnTo>
                  <a:pt x="2193587" y="160612"/>
                </a:lnTo>
                <a:lnTo>
                  <a:pt x="2288960" y="140583"/>
                </a:lnTo>
                <a:lnTo>
                  <a:pt x="2384334" y="120721"/>
                </a:lnTo>
                <a:lnTo>
                  <a:pt x="2479707" y="101381"/>
                </a:lnTo>
                <a:lnTo>
                  <a:pt x="2575080" y="82906"/>
                </a:lnTo>
                <a:lnTo>
                  <a:pt x="2670454" y="65626"/>
                </a:lnTo>
                <a:lnTo>
                  <a:pt x="2765827" y="49848"/>
                </a:lnTo>
                <a:lnTo>
                  <a:pt x="2861200" y="35853"/>
                </a:lnTo>
                <a:lnTo>
                  <a:pt x="2956574" y="23890"/>
                </a:lnTo>
                <a:lnTo>
                  <a:pt x="3051947" y="14172"/>
                </a:lnTo>
                <a:lnTo>
                  <a:pt x="3147321" y="6872"/>
                </a:lnTo>
                <a:lnTo>
                  <a:pt x="3242694" y="2120"/>
                </a:lnTo>
                <a:lnTo>
                  <a:pt x="3338067" y="0"/>
                </a:lnTo>
                <a:lnTo>
                  <a:pt x="3433441" y="551"/>
                </a:lnTo>
                <a:lnTo>
                  <a:pt x="3528814" y="3761"/>
                </a:lnTo>
                <a:lnTo>
                  <a:pt x="3624187" y="9576"/>
                </a:lnTo>
                <a:lnTo>
                  <a:pt x="3719561" y="17890"/>
                </a:lnTo>
                <a:lnTo>
                  <a:pt x="3814934" y="28556"/>
                </a:lnTo>
                <a:lnTo>
                  <a:pt x="3814934" y="293481"/>
                </a:lnTo>
                <a:lnTo>
                  <a:pt x="3719561" y="282816"/>
                </a:lnTo>
                <a:lnTo>
                  <a:pt x="3624187" y="274502"/>
                </a:lnTo>
                <a:lnTo>
                  <a:pt x="3528814" y="268687"/>
                </a:lnTo>
                <a:lnTo>
                  <a:pt x="3433441" y="265476"/>
                </a:lnTo>
                <a:lnTo>
                  <a:pt x="3338067" y="264926"/>
                </a:lnTo>
                <a:lnTo>
                  <a:pt x="3242694" y="267046"/>
                </a:lnTo>
                <a:lnTo>
                  <a:pt x="3147321" y="271798"/>
                </a:lnTo>
                <a:lnTo>
                  <a:pt x="3051947" y="279098"/>
                </a:lnTo>
                <a:lnTo>
                  <a:pt x="2956574" y="288816"/>
                </a:lnTo>
                <a:lnTo>
                  <a:pt x="2861200" y="300779"/>
                </a:lnTo>
                <a:lnTo>
                  <a:pt x="2765827" y="314774"/>
                </a:lnTo>
                <a:lnTo>
                  <a:pt x="2670454" y="330552"/>
                </a:lnTo>
                <a:lnTo>
                  <a:pt x="2575080" y="347832"/>
                </a:lnTo>
                <a:lnTo>
                  <a:pt x="2479707" y="366307"/>
                </a:lnTo>
                <a:lnTo>
                  <a:pt x="2384334" y="385647"/>
                </a:lnTo>
                <a:lnTo>
                  <a:pt x="2288960" y="405509"/>
                </a:lnTo>
                <a:lnTo>
                  <a:pt x="2193587" y="425538"/>
                </a:lnTo>
                <a:lnTo>
                  <a:pt x="2098214" y="445378"/>
                </a:lnTo>
                <a:lnTo>
                  <a:pt x="2002840" y="464677"/>
                </a:lnTo>
                <a:lnTo>
                  <a:pt x="1907467" y="483090"/>
                </a:lnTo>
                <a:lnTo>
                  <a:pt x="1812094" y="500290"/>
                </a:lnTo>
                <a:lnTo>
                  <a:pt x="1716720" y="515971"/>
                </a:lnTo>
                <a:lnTo>
                  <a:pt x="1621347" y="529853"/>
                </a:lnTo>
                <a:lnTo>
                  <a:pt x="1525974" y="541689"/>
                </a:lnTo>
                <a:lnTo>
                  <a:pt x="1430600" y="551270"/>
                </a:lnTo>
                <a:lnTo>
                  <a:pt x="1335227" y="558423"/>
                </a:lnTo>
                <a:lnTo>
                  <a:pt x="1239854" y="563022"/>
                </a:lnTo>
                <a:lnTo>
                  <a:pt x="1144480" y="564986"/>
                </a:lnTo>
                <a:lnTo>
                  <a:pt x="1049107" y="564278"/>
                </a:lnTo>
                <a:lnTo>
                  <a:pt x="953733" y="560912"/>
                </a:lnTo>
                <a:lnTo>
                  <a:pt x="858360" y="554947"/>
                </a:lnTo>
                <a:lnTo>
                  <a:pt x="762987" y="546490"/>
                </a:lnTo>
                <a:lnTo>
                  <a:pt x="667613" y="535692"/>
                </a:lnTo>
                <a:lnTo>
                  <a:pt x="572240" y="522743"/>
                </a:lnTo>
                <a:lnTo>
                  <a:pt x="476867" y="507876"/>
                </a:lnTo>
                <a:lnTo>
                  <a:pt x="381493" y="491355"/>
                </a:lnTo>
                <a:lnTo>
                  <a:pt x="286120" y="473473"/>
                </a:lnTo>
                <a:lnTo>
                  <a:pt x="190747" y="454549"/>
                </a:lnTo>
                <a:lnTo>
                  <a:pt x="95373" y="434920"/>
                </a:lnTo>
                <a:lnTo>
                  <a:pt x="0" y="414935"/>
                </a:lnTo>
                <a:lnTo>
                  <a:pt x="0" y="150009"/>
                </a:lnTo>
                <a:close/>
              </a:path>
            </a:pathLst>
          </a:custGeom>
          <a:solidFill xmlns:a="http://schemas.openxmlformats.org/drawingml/2006/main">
            <a:srgbClr val="456CB4"/>
          </a:solidFill>
          <a:ln xmlns:a="http://schemas.openxmlformats.org/drawingml/2006/main" w="0">
            <a:noFill/>
          </a:ln>
        </p:spPr>
      </p:sp>
      <p:sp>
        <p:nvSpPr>
          <p:cNvPr id="19" name="figure-flow-5">
            <a:extLst xmlns:a="http://schemas.openxmlformats.org/drawingml/2006/main">
              <a:ext uri="{FF2B5EF4-FFF2-40B4-BE49-F238E27FC236}">
                <a16:creationId xmlns:a16="http://schemas.microsoft.com/office/drawing/2014/main" id="{71870E0A-2CE4-4B7E-A33E-09396B4304C3}"/>
              </a:ext>
            </a:extLst>
          </p:cNvPr>
          <p:cNvSpPr>
            <a:spLocks xmlns:a="http://schemas.openxmlformats.org/drawingml/2006/main" noGrp="1"/>
          </p:cNvSpPr>
          <p:nvPr/>
        </p:nvSpPr>
        <p:spPr>
          <a:xfrm xmlns:a="http://schemas.openxmlformats.org/drawingml/2006/main">
            <a:off x="4557577" y="2699402"/>
            <a:ext cx="317911" cy="317911"/>
          </a:xfrm>
          <a:prstGeom xmlns:a="http://schemas.openxmlformats.org/drawingml/2006/main" prst="ellipse">
            <a:avLst/>
          </a:prstGeom>
          <a:solidFill xmlns:a="http://schemas.openxmlformats.org/drawingml/2006/main">
            <a:srgbClr val="FF8C32"/>
          </a:solidFill>
          <a:ln xmlns:a="http://schemas.openxmlformats.org/drawingml/2006/main" w="0">
            <a:noFill/>
          </a:ln>
        </p:spPr>
      </p:sp>
      <p:sp>
        <p:nvSpPr>
          <p:cNvPr id="20" name="figure-description-flow">
            <a:extLst xmlns:a="http://schemas.openxmlformats.org/drawingml/2006/main">
              <a:ext uri="{FF2B5EF4-FFF2-40B4-BE49-F238E27FC236}">
                <a16:creationId xmlns:a16="http://schemas.microsoft.com/office/drawing/2014/main" id="{989E1D06-0893-467C-A143-526617D547B9}"/>
              </a:ext>
            </a:extLst>
          </p:cNvPr>
          <p:cNvSpPr>
            <a:spLocks xmlns:a="http://schemas.openxmlformats.org/drawingml/2006/main" noGrp="1"/>
          </p:cNvSpPr>
          <p:nvPr/>
        </p:nvSpPr>
        <p:spPr>
          <a:xfrm xmlns:a="http://schemas.openxmlformats.org/drawingml/2006/main">
            <a:off x="3810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Flow has a pale cream field. Three broad blue and teal curved bands run towards the right with clear pale gaps. A small solid orange circle sits above the bands near the upper right, without touching them.</a:t>
            </a:r>
          </a:p>
        </p:txBody>
      </p:sp>
      <p:sp>
        <p:nvSpPr>
          <p:cNvPr id="21" name="figure-crossing-0">
            <a:extLst xmlns:a="http://schemas.openxmlformats.org/drawingml/2006/main">
              <a:ext uri="{FF2B5EF4-FFF2-40B4-BE49-F238E27FC236}">
                <a16:creationId xmlns:a16="http://schemas.microsoft.com/office/drawing/2014/main" id="{8910FF84-D6B2-4226-AA52-1C6C71634976}"/>
              </a:ext>
            </a:extLst>
          </p:cNvPr>
          <p:cNvSpPr>
            <a:spLocks xmlns:a="http://schemas.openxmlformats.org/drawingml/2006/main" noGrp="1"/>
          </p:cNvSpPr>
          <p:nvPr/>
        </p:nvSpPr>
        <p:spPr>
          <a:xfrm xmlns:a="http://schemas.openxmlformats.org/drawingml/2006/main">
            <a:off x="6801029" y="2199751"/>
            <a:ext cx="861836" cy="271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30" b="0" lang="en-GB">
                <a:solidFill>
                  <a:srgbClr val="152238"/>
                </a:solidFill>
                <a:latin typeface="Arial"/>
                <a:ea typeface="Arial"/>
                <a:cs typeface="Arial"/>
              </a:defRPr>
            </a:defPPr>
          </a:lstStyle>
          <a:p xmlns:a="http://schemas.openxmlformats.org/drawingml/2006/main">
            <a:pPr algn="l">
              <a:lnSpc>
                <a:spcPct val="108000"/>
              </a:lnSpc>
              <a:buNone/>
              <a:defRPr sz="1530" b="0" lang="en-GB">
                <a:solidFill>
                  <a:srgbClr val="152238"/>
                </a:solidFill>
                <a:latin typeface="Arial"/>
                <a:ea typeface="Arial"/>
                <a:cs typeface="Arial"/>
              </a:defRPr>
            </a:pPr>
            <a:r>
              <a:rPr sz="1530" b="0" lang="en-GB">
                <a:solidFill>
                  <a:srgbClr val="152238"/>
                </a:solidFill>
                <a:latin typeface="Arial"/>
                <a:ea typeface="Arial"/>
                <a:cs typeface="Arial"/>
              </a:rPr>
              <a:t>Crossing</a:t>
            </a:r>
          </a:p>
        </p:txBody>
      </p:sp>
      <p:sp>
        <p:nvSpPr>
          <p:cNvPr id="22" name="figure-crossing-1">
            <a:extLst xmlns:a="http://schemas.openxmlformats.org/drawingml/2006/main">
              <a:ext uri="{FF2B5EF4-FFF2-40B4-BE49-F238E27FC236}">
                <a16:creationId xmlns:a16="http://schemas.microsoft.com/office/drawing/2014/main" id="{A0BD1E4B-9F12-4D27-9594-3C6A9C37222C}"/>
              </a:ext>
            </a:extLst>
          </p:cNvPr>
          <p:cNvSpPr>
            <a:spLocks xmlns:a="http://schemas.openxmlformats.org/drawingml/2006/main" noGrp="1"/>
          </p:cNvSpPr>
          <p:nvPr/>
        </p:nvSpPr>
        <p:spPr>
          <a:xfrm xmlns:a="http://schemas.openxmlformats.org/drawingml/2006/main">
            <a:off x="6821984" y="2549277"/>
            <a:ext cx="4415433" cy="2428488"/>
          </a:xfrm>
          <a:prstGeom xmlns:a="http://schemas.openxmlformats.org/drawingml/2006/main" prst="rect">
            <a:avLst/>
          </a:prstGeom>
          <a:solidFill xmlns:a="http://schemas.openxmlformats.org/drawingml/2006/main">
            <a:srgbClr val="F28A32"/>
          </a:solidFill>
          <a:ln xmlns:a="http://schemas.openxmlformats.org/drawingml/2006/main" w="0">
            <a:noFill/>
          </a:ln>
        </p:spPr>
      </p:sp>
      <p:sp>
        <p:nvSpPr>
          <p:cNvPr id="23" name="figure-crossing-2">
            <a:extLst xmlns:a="http://schemas.openxmlformats.org/drawingml/2006/main">
              <a:ext uri="{FF2B5EF4-FFF2-40B4-BE49-F238E27FC236}">
                <a16:creationId xmlns:a16="http://schemas.microsoft.com/office/drawing/2014/main" id="{8C1F76BC-B82B-4B15-9DAD-E75E5ACA56B5}"/>
              </a:ext>
            </a:extLst>
          </p:cNvPr>
          <p:cNvSpPr>
            <a:spLocks xmlns:a="http://schemas.openxmlformats.org/drawingml/2006/main" noGrp="1"/>
          </p:cNvSpPr>
          <p:nvPr/>
        </p:nvSpPr>
        <p:spPr>
          <a:xfrm xmlns:a="http://schemas.openxmlformats.org/drawingml/2006/main">
            <a:off x="7484299" y="2725894"/>
            <a:ext cx="2790554" cy="2057592"/>
          </a:xfrm>
          <a:custGeom xmlns:a="http://schemas.openxmlformats.org/drawingml/2006/main">
            <a:pathLst>
              <a:path w="2790554" h="2057592">
                <a:moveTo>
                  <a:pt x="0" y="88309"/>
                </a:moveTo>
                <a:lnTo>
                  <a:pt x="185448" y="0"/>
                </a:lnTo>
                <a:lnTo>
                  <a:pt x="2790554" y="1925129"/>
                </a:lnTo>
                <a:lnTo>
                  <a:pt x="2605105" y="2057592"/>
                </a:lnTo>
                <a:lnTo>
                  <a:pt x="0" y="88309"/>
                </a:lnTo>
                <a:close/>
              </a:path>
            </a:pathLst>
          </a:custGeom>
          <a:solidFill xmlns:a="http://schemas.openxmlformats.org/drawingml/2006/main">
            <a:srgbClr val="28313A"/>
          </a:solidFill>
          <a:ln xmlns:a="http://schemas.openxmlformats.org/drawingml/2006/main" w="0">
            <a:noFill/>
          </a:ln>
        </p:spPr>
      </p:sp>
      <p:sp>
        <p:nvSpPr>
          <p:cNvPr id="24" name="figure-crossing-3">
            <a:extLst xmlns:a="http://schemas.openxmlformats.org/drawingml/2006/main">
              <a:ext uri="{FF2B5EF4-FFF2-40B4-BE49-F238E27FC236}">
                <a16:creationId xmlns:a16="http://schemas.microsoft.com/office/drawing/2014/main" id="{F2BE0D06-B6E0-4ED1-800A-166CC0258FC0}"/>
              </a:ext>
            </a:extLst>
          </p:cNvPr>
          <p:cNvSpPr>
            <a:spLocks xmlns:a="http://schemas.openxmlformats.org/drawingml/2006/main" noGrp="1"/>
          </p:cNvSpPr>
          <p:nvPr/>
        </p:nvSpPr>
        <p:spPr>
          <a:xfrm xmlns:a="http://schemas.openxmlformats.org/drawingml/2006/main">
            <a:off x="7369497" y="2761218"/>
            <a:ext cx="2958340" cy="1986945"/>
          </a:xfrm>
          <a:custGeom xmlns:a="http://schemas.openxmlformats.org/drawingml/2006/main">
            <a:pathLst>
              <a:path w="2958340" h="1986945">
                <a:moveTo>
                  <a:pt x="0" y="1801497"/>
                </a:moveTo>
                <a:lnTo>
                  <a:pt x="158956" y="1986945"/>
                </a:lnTo>
                <a:lnTo>
                  <a:pt x="2958340" y="194279"/>
                </a:lnTo>
                <a:lnTo>
                  <a:pt x="2799384" y="0"/>
                </a:lnTo>
                <a:lnTo>
                  <a:pt x="0" y="1801497"/>
                </a:lnTo>
                <a:close/>
              </a:path>
            </a:pathLst>
          </a:custGeom>
          <a:solidFill xmlns:a="http://schemas.openxmlformats.org/drawingml/2006/main">
            <a:srgbClr val="28313A"/>
          </a:solidFill>
          <a:ln xmlns:a="http://schemas.openxmlformats.org/drawingml/2006/main" w="0">
            <a:noFill/>
          </a:ln>
        </p:spPr>
      </p:sp>
      <p:sp>
        <p:nvSpPr>
          <p:cNvPr id="25" name="figure-crossing-4">
            <a:extLst xmlns:a="http://schemas.openxmlformats.org/drawingml/2006/main">
              <a:ext uri="{FF2B5EF4-FFF2-40B4-BE49-F238E27FC236}">
                <a16:creationId xmlns:a16="http://schemas.microsoft.com/office/drawing/2014/main" id="{417B79F2-1917-4E15-B674-CE1B24BD81B7}"/>
              </a:ext>
            </a:extLst>
          </p:cNvPr>
          <p:cNvSpPr>
            <a:spLocks xmlns:a="http://schemas.openxmlformats.org/drawingml/2006/main" noGrp="1"/>
          </p:cNvSpPr>
          <p:nvPr/>
        </p:nvSpPr>
        <p:spPr>
          <a:xfrm xmlns:a="http://schemas.openxmlformats.org/drawingml/2006/main">
            <a:off x="8711789" y="2672909"/>
            <a:ext cx="635822" cy="2119408"/>
          </a:xfrm>
          <a:custGeom xmlns:a="http://schemas.openxmlformats.org/drawingml/2006/main">
            <a:pathLst>
              <a:path w="635822" h="2119408">
                <a:moveTo>
                  <a:pt x="0" y="44154"/>
                </a:moveTo>
                <a:lnTo>
                  <a:pt x="238433" y="0"/>
                </a:lnTo>
                <a:lnTo>
                  <a:pt x="635822" y="2075253"/>
                </a:lnTo>
                <a:lnTo>
                  <a:pt x="397389" y="2119408"/>
                </a:lnTo>
                <a:lnTo>
                  <a:pt x="0" y="44154"/>
                </a:lnTo>
                <a:close/>
              </a:path>
            </a:pathLst>
          </a:custGeom>
          <a:solidFill xmlns:a="http://schemas.openxmlformats.org/drawingml/2006/main">
            <a:srgbClr val="28313A"/>
          </a:solidFill>
          <a:ln xmlns:a="http://schemas.openxmlformats.org/drawingml/2006/main" w="0">
            <a:noFill/>
          </a:ln>
        </p:spPr>
      </p:sp>
      <p:sp>
        <p:nvSpPr>
          <p:cNvPr id="26" name="figure-crossing-5">
            <a:extLst xmlns:a="http://schemas.openxmlformats.org/drawingml/2006/main">
              <a:ext uri="{FF2B5EF4-FFF2-40B4-BE49-F238E27FC236}">
                <a16:creationId xmlns:a16="http://schemas.microsoft.com/office/drawing/2014/main" id="{B7BFDF8D-EA75-48D8-8CEE-2B75097BB522}"/>
              </a:ext>
            </a:extLst>
          </p:cNvPr>
          <p:cNvSpPr>
            <a:spLocks xmlns:a="http://schemas.openxmlformats.org/drawingml/2006/main" noGrp="1"/>
          </p:cNvSpPr>
          <p:nvPr/>
        </p:nvSpPr>
        <p:spPr>
          <a:xfrm xmlns:a="http://schemas.openxmlformats.org/drawingml/2006/main">
            <a:off x="10460300" y="3149776"/>
            <a:ext cx="777116" cy="1377615"/>
          </a:xfrm>
          <a:custGeom xmlns:a="http://schemas.openxmlformats.org/drawingml/2006/main">
            <a:pathLst>
              <a:path w="777116" h="1377615">
                <a:moveTo>
                  <a:pt x="777116" y="1371695"/>
                </a:moveTo>
                <a:lnTo>
                  <a:pt x="760808" y="1373842"/>
                </a:lnTo>
                <a:lnTo>
                  <a:pt x="724857" y="1376671"/>
                </a:lnTo>
                <a:lnTo>
                  <a:pt x="688808" y="1377615"/>
                </a:lnTo>
                <a:lnTo>
                  <a:pt x="652758" y="1376671"/>
                </a:lnTo>
                <a:lnTo>
                  <a:pt x="616808" y="1373842"/>
                </a:lnTo>
                <a:lnTo>
                  <a:pt x="581054" y="1369135"/>
                </a:lnTo>
                <a:lnTo>
                  <a:pt x="545596" y="1362563"/>
                </a:lnTo>
                <a:lnTo>
                  <a:pt x="510531" y="1354144"/>
                </a:lnTo>
                <a:lnTo>
                  <a:pt x="475954" y="1343902"/>
                </a:lnTo>
                <a:lnTo>
                  <a:pt x="441961" y="1331865"/>
                </a:lnTo>
                <a:lnTo>
                  <a:pt x="408644" y="1318064"/>
                </a:lnTo>
                <a:lnTo>
                  <a:pt x="376095" y="1302540"/>
                </a:lnTo>
                <a:lnTo>
                  <a:pt x="344404" y="1285332"/>
                </a:lnTo>
                <a:lnTo>
                  <a:pt x="313656" y="1266490"/>
                </a:lnTo>
                <a:lnTo>
                  <a:pt x="283937" y="1246065"/>
                </a:lnTo>
                <a:lnTo>
                  <a:pt x="255327" y="1224112"/>
                </a:lnTo>
                <a:lnTo>
                  <a:pt x="227905" y="1200691"/>
                </a:lnTo>
                <a:lnTo>
                  <a:pt x="201747" y="1175868"/>
                </a:lnTo>
                <a:lnTo>
                  <a:pt x="176924" y="1149710"/>
                </a:lnTo>
                <a:lnTo>
                  <a:pt x="153504" y="1122288"/>
                </a:lnTo>
                <a:lnTo>
                  <a:pt x="131551" y="1093678"/>
                </a:lnTo>
                <a:lnTo>
                  <a:pt x="111125" y="1063959"/>
                </a:lnTo>
                <a:lnTo>
                  <a:pt x="92283" y="1033211"/>
                </a:lnTo>
                <a:lnTo>
                  <a:pt x="75076" y="1001520"/>
                </a:lnTo>
                <a:lnTo>
                  <a:pt x="59551" y="968971"/>
                </a:lnTo>
                <a:lnTo>
                  <a:pt x="45750" y="935654"/>
                </a:lnTo>
                <a:lnTo>
                  <a:pt x="33713" y="901661"/>
                </a:lnTo>
                <a:lnTo>
                  <a:pt x="23471" y="867084"/>
                </a:lnTo>
                <a:lnTo>
                  <a:pt x="15052" y="832019"/>
                </a:lnTo>
                <a:lnTo>
                  <a:pt x="8480" y="796561"/>
                </a:lnTo>
                <a:lnTo>
                  <a:pt x="3773" y="760808"/>
                </a:lnTo>
                <a:lnTo>
                  <a:pt x="944" y="724857"/>
                </a:lnTo>
                <a:lnTo>
                  <a:pt x="0" y="688808"/>
                </a:lnTo>
                <a:lnTo>
                  <a:pt x="944" y="652758"/>
                </a:lnTo>
                <a:lnTo>
                  <a:pt x="3773" y="616808"/>
                </a:lnTo>
                <a:lnTo>
                  <a:pt x="8480" y="581054"/>
                </a:lnTo>
                <a:lnTo>
                  <a:pt x="15052" y="545596"/>
                </a:lnTo>
                <a:lnTo>
                  <a:pt x="23471" y="510531"/>
                </a:lnTo>
                <a:lnTo>
                  <a:pt x="33713" y="475954"/>
                </a:lnTo>
                <a:lnTo>
                  <a:pt x="45750" y="441961"/>
                </a:lnTo>
                <a:lnTo>
                  <a:pt x="59551" y="408644"/>
                </a:lnTo>
                <a:lnTo>
                  <a:pt x="75076" y="376095"/>
                </a:lnTo>
                <a:lnTo>
                  <a:pt x="92283" y="344404"/>
                </a:lnTo>
                <a:lnTo>
                  <a:pt x="111125" y="313656"/>
                </a:lnTo>
                <a:lnTo>
                  <a:pt x="131551" y="283937"/>
                </a:lnTo>
                <a:lnTo>
                  <a:pt x="153504" y="255327"/>
                </a:lnTo>
                <a:lnTo>
                  <a:pt x="176924" y="227905"/>
                </a:lnTo>
                <a:lnTo>
                  <a:pt x="201747" y="201747"/>
                </a:lnTo>
                <a:lnTo>
                  <a:pt x="227905" y="176924"/>
                </a:lnTo>
                <a:lnTo>
                  <a:pt x="255327" y="153504"/>
                </a:lnTo>
                <a:lnTo>
                  <a:pt x="283937" y="131551"/>
                </a:lnTo>
                <a:lnTo>
                  <a:pt x="313656" y="111125"/>
                </a:lnTo>
                <a:lnTo>
                  <a:pt x="344404" y="92283"/>
                </a:lnTo>
                <a:lnTo>
                  <a:pt x="376095" y="75076"/>
                </a:lnTo>
                <a:lnTo>
                  <a:pt x="408644" y="59551"/>
                </a:lnTo>
                <a:lnTo>
                  <a:pt x="441961" y="45750"/>
                </a:lnTo>
                <a:lnTo>
                  <a:pt x="475954" y="33713"/>
                </a:lnTo>
                <a:lnTo>
                  <a:pt x="510531" y="23471"/>
                </a:lnTo>
                <a:lnTo>
                  <a:pt x="545596" y="15052"/>
                </a:lnTo>
                <a:lnTo>
                  <a:pt x="581054" y="8480"/>
                </a:lnTo>
                <a:lnTo>
                  <a:pt x="616808" y="3773"/>
                </a:lnTo>
                <a:lnTo>
                  <a:pt x="652758" y="944"/>
                </a:lnTo>
                <a:lnTo>
                  <a:pt x="688808" y="0"/>
                </a:lnTo>
                <a:lnTo>
                  <a:pt x="724857" y="944"/>
                </a:lnTo>
                <a:lnTo>
                  <a:pt x="760808" y="3773"/>
                </a:lnTo>
                <a:lnTo>
                  <a:pt x="777116" y="5920"/>
                </a:lnTo>
                <a:lnTo>
                  <a:pt x="777116" y="1371695"/>
                </a:lnTo>
                <a:close/>
              </a:path>
            </a:pathLst>
          </a:custGeom>
          <a:solidFill xmlns:a="http://schemas.openxmlformats.org/drawingml/2006/main">
            <a:srgbClr val="FFFFFF"/>
          </a:solidFill>
          <a:ln xmlns:a="http://schemas.openxmlformats.org/drawingml/2006/main" w="0">
            <a:noFill/>
          </a:ln>
        </p:spPr>
      </p:sp>
      <p:sp>
        <p:nvSpPr>
          <p:cNvPr id="27" name="figure-description-crossing">
            <a:extLst xmlns:a="http://schemas.openxmlformats.org/drawingml/2006/main">
              <a:ext uri="{FF2B5EF4-FFF2-40B4-BE49-F238E27FC236}">
                <a16:creationId xmlns:a16="http://schemas.microsoft.com/office/drawing/2014/main" id="{2AC38030-E0B2-4CD4-B2A6-2A0324C03E3C}"/>
              </a:ext>
            </a:extLst>
          </p:cNvPr>
          <p:cNvSpPr>
            <a:spLocks xmlns:a="http://schemas.openxmlformats.org/drawingml/2006/main" noGrp="1"/>
          </p:cNvSpPr>
          <p:nvPr/>
        </p:nvSpPr>
        <p:spPr>
          <a:xfrm xmlns:a="http://schemas.openxmlformats.org/drawingml/2006/main">
            <a:off x="6248400" y="5168265"/>
            <a:ext cx="556260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Crossing has an orange field. Three dark charcoal strips have straight edges and cross near the centre. A large white circle is at the right edge, where part of it is cut off by the edge.</a:t>
            </a:r>
          </a:p>
        </p:txBody>
      </p:sp>
    </p:spTree>
    <p:extLst>
      <p:ext uri="{BB962C8B-B14F-4D97-AF65-F5344CB8AC3E}">
        <p14:creationId xmlns:p14="http://schemas.microsoft.com/office/powerpoint/2010/main" val="107199956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F9D904B1-C9B9-4DAE-9342-79102F485A7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1AD4975B-CD3C-4906-ABC2-A724963CFF2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4C9DAB7B-DBE0-4857-989E-64706FE1A0E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586D52B5-5D62-4408-A5BB-F4D7C733785D}"/>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C8350AA8-F104-44E1-82A4-0E6AB7FB6BF8}"/>
              </a:ext>
            </a:extLst>
          </p:cNvPr>
          <p:cNvPicPr>
            <a:picLocks xmlns:a="http://schemas.openxmlformats.org/drawingml/2006/main" noChangeAspect="1"/>
          </p:cNvPicPr>
          <p:nvPr/>
        </p:nvPicPr>
        <p:blipFill>
          <a:blip xmlns:r="http://schemas.openxmlformats.org/officeDocument/2006/relationships" xmlns:a="http://schemas.openxmlformats.org/drawingml/2006/main" r:embed="R4173d77228dc46b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2FE44DB-670A-4DE4-83E5-465E033E0B7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CDF5BB1-611C-400C-AA01-88480E6857E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1CAA79C-8993-43ED-8184-4872DB8EDD4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B5240BE-3D11-4C57-A656-DE9750A2C88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C89C21C-EC50-4408-9281-0F67F953B5E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95A656F2-117E-4062-8C73-8C64F1FC9398}"/>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B600C8E8-95C3-4A43-AB98-1F68AC98B98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AF111DDF-E090-4881-BA4F-D255FA436DE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C2416E4C-0F85-418B-840F-69F454075D1F}"/>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each check, 1 to 3 (a word, mark or short phrase), and your next action: keep, clarify or revise.</a:t>
            </a:r>
          </a:p>
        </p:txBody>
      </p:sp>
      <p:sp>
        <p:nvSpPr>
          <p:cNvPr id="15" name="item-1-title">
            <a:extLst xmlns:a="http://schemas.openxmlformats.org/drawingml/2006/main">
              <a:ext uri="{FF2B5EF4-FFF2-40B4-BE49-F238E27FC236}">
                <a16:creationId xmlns:a16="http://schemas.microsoft.com/office/drawing/2014/main" id="{209F0F38-A1EA-4B27-9F83-68FB31CD87B9}"/>
              </a:ext>
            </a:extLst>
          </p:cNvPr>
          <p:cNvSpPr>
            <a:spLocks xmlns:a="http://schemas.openxmlformats.org/drawingml/2006/main" noGrp="1"/>
          </p:cNvSpPr>
          <p:nvPr/>
        </p:nvSpPr>
        <p:spPr>
          <a:xfrm xmlns:a="http://schemas.openxmlformats.org/drawingml/2006/main">
            <a:off x="3810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Feature</a:t>
            </a:r>
          </a:p>
        </p:txBody>
      </p:sp>
      <p:sp>
        <p:nvSpPr>
          <p:cNvPr id="16" name="item-1-question">
            <a:extLst xmlns:a="http://schemas.openxmlformats.org/drawingml/2006/main">
              <a:ext uri="{FF2B5EF4-FFF2-40B4-BE49-F238E27FC236}">
                <a16:creationId xmlns:a16="http://schemas.microsoft.com/office/drawing/2014/main" id="{9061D4D6-50C8-4006-B5A1-559742877B47}"/>
              </a:ext>
            </a:extLst>
          </p:cNvPr>
          <p:cNvSpPr>
            <a:spLocks xmlns:a="http://schemas.openxmlformats.org/drawingml/2006/main" noGrp="1"/>
          </p:cNvSpPr>
          <p:nvPr/>
        </p:nvSpPr>
        <p:spPr>
          <a:xfrm xmlns:a="http://schemas.openxmlformats.org/drawingml/2006/main">
            <a:off x="381000" y="2564511"/>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Point to one feature used in your review.</a:t>
            </a:r>
          </a:p>
        </p:txBody>
      </p:sp>
      <p:sp>
        <p:nvSpPr>
          <p:cNvPr id="17" name="item-1-clue">
            <a:extLst xmlns:a="http://schemas.openxmlformats.org/drawingml/2006/main">
              <a:ext uri="{FF2B5EF4-FFF2-40B4-BE49-F238E27FC236}">
                <a16:creationId xmlns:a16="http://schemas.microsoft.com/office/drawing/2014/main" id="{79CA78AA-FAE5-4B7F-A20F-D723EEFFFCA2}"/>
              </a:ext>
            </a:extLst>
          </p:cNvPr>
          <p:cNvSpPr>
            <a:spLocks xmlns:a="http://schemas.openxmlformats.org/drawingml/2006/main" noGrp="1"/>
          </p:cNvSpPr>
          <p:nvPr/>
        </p:nvSpPr>
        <p:spPr>
          <a:xfrm xmlns:a="http://schemas.openxmlformats.org/drawingml/2006/main">
            <a:off x="381000" y="3329940"/>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Find its shape or colour in the work.</a:t>
            </a:r>
          </a:p>
        </p:txBody>
      </p:sp>
      <p:sp>
        <p:nvSpPr>
          <p:cNvPr id="18" name="item-2-title">
            <a:extLst xmlns:a="http://schemas.openxmlformats.org/drawingml/2006/main">
              <a:ext uri="{FF2B5EF4-FFF2-40B4-BE49-F238E27FC236}">
                <a16:creationId xmlns:a16="http://schemas.microsoft.com/office/drawing/2014/main" id="{BCCA82DE-7542-4070-A38B-595AE87AF1D8}"/>
              </a:ext>
            </a:extLst>
          </p:cNvPr>
          <p:cNvSpPr>
            <a:spLocks xmlns:a="http://schemas.openxmlformats.org/drawingml/2006/main" noGrp="1"/>
          </p:cNvSpPr>
          <p:nvPr/>
        </p:nvSpPr>
        <p:spPr>
          <a:xfrm xmlns:a="http://schemas.openxmlformats.org/drawingml/2006/main">
            <a:off x="42799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Judgement</a:t>
            </a:r>
          </a:p>
        </p:txBody>
      </p:sp>
      <p:sp>
        <p:nvSpPr>
          <p:cNvPr id="19" name="item-2-question">
            <a:extLst xmlns:a="http://schemas.openxmlformats.org/drawingml/2006/main">
              <a:ext uri="{FF2B5EF4-FFF2-40B4-BE49-F238E27FC236}">
                <a16:creationId xmlns:a16="http://schemas.microsoft.com/office/drawing/2014/main" id="{598B5E90-AFDB-4464-B914-AD8EBED3E838}"/>
              </a:ext>
            </a:extLst>
          </p:cNvPr>
          <p:cNvSpPr>
            <a:spLocks xmlns:a="http://schemas.openxmlformats.org/drawingml/2006/main" noGrp="1"/>
          </p:cNvSpPr>
          <p:nvPr/>
        </p:nvSpPr>
        <p:spPr>
          <a:xfrm xmlns:a="http://schemas.openxmlformats.org/drawingml/2006/main">
            <a:off x="4279900" y="2564511"/>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Is 'calm' a colour or a possible effect?</a:t>
            </a:r>
          </a:p>
        </p:txBody>
      </p:sp>
      <p:sp>
        <p:nvSpPr>
          <p:cNvPr id="20" name="item-2-clue">
            <a:extLst xmlns:a="http://schemas.openxmlformats.org/drawingml/2006/main">
              <a:ext uri="{FF2B5EF4-FFF2-40B4-BE49-F238E27FC236}">
                <a16:creationId xmlns:a16="http://schemas.microsoft.com/office/drawing/2014/main" id="{DECB79EB-77DD-40A5-90D9-0D14AFDB24FA}"/>
              </a:ext>
            </a:extLst>
          </p:cNvPr>
          <p:cNvSpPr>
            <a:spLocks xmlns:a="http://schemas.openxmlformats.org/drawingml/2006/main" noGrp="1"/>
          </p:cNvSpPr>
          <p:nvPr/>
        </p:nvSpPr>
        <p:spPr>
          <a:xfrm xmlns:a="http://schemas.openxmlformats.org/drawingml/2006/main">
            <a:off x="4279900" y="3329940"/>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Think about what the word tells a viewer.</a:t>
            </a:r>
          </a:p>
        </p:txBody>
      </p:sp>
      <p:sp>
        <p:nvSpPr>
          <p:cNvPr id="21" name="item-3-title">
            <a:extLst xmlns:a="http://schemas.openxmlformats.org/drawingml/2006/main">
              <a:ext uri="{FF2B5EF4-FFF2-40B4-BE49-F238E27FC236}">
                <a16:creationId xmlns:a16="http://schemas.microsoft.com/office/drawing/2014/main" id="{72E20557-4450-469A-8103-39C0209AF7F7}"/>
              </a:ext>
            </a:extLst>
          </p:cNvPr>
          <p:cNvSpPr>
            <a:spLocks xmlns:a="http://schemas.openxmlformats.org/drawingml/2006/main" noGrp="1"/>
          </p:cNvSpPr>
          <p:nvPr/>
        </p:nvSpPr>
        <p:spPr>
          <a:xfrm xmlns:a="http://schemas.openxmlformats.org/drawingml/2006/main">
            <a:off x="81788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Audience</a:t>
            </a:r>
          </a:p>
        </p:txBody>
      </p:sp>
      <p:sp>
        <p:nvSpPr>
          <p:cNvPr id="22" name="item-3-question">
            <a:extLst xmlns:a="http://schemas.openxmlformats.org/drawingml/2006/main">
              <a:ext uri="{FF2B5EF4-FFF2-40B4-BE49-F238E27FC236}">
                <a16:creationId xmlns:a16="http://schemas.microsoft.com/office/drawing/2014/main" id="{4F4A29CF-EE46-417B-9C4C-BF52B96A442D}"/>
              </a:ext>
            </a:extLst>
          </p:cNvPr>
          <p:cNvSpPr>
            <a:spLocks xmlns:a="http://schemas.openxmlformats.org/drawingml/2006/main" noGrp="1"/>
          </p:cNvSpPr>
          <p:nvPr/>
        </p:nvSpPr>
        <p:spPr>
          <a:xfrm xmlns:a="http://schemas.openxmlformats.org/drawingml/2006/main">
            <a:off x="8178800" y="2564511"/>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Who might value your chosen work? Show one reason.</a:t>
            </a:r>
          </a:p>
        </p:txBody>
      </p:sp>
      <p:sp>
        <p:nvSpPr>
          <p:cNvPr id="23" name="item-3-clue">
            <a:extLst xmlns:a="http://schemas.openxmlformats.org/drawingml/2006/main">
              <a:ext uri="{FF2B5EF4-FFF2-40B4-BE49-F238E27FC236}">
                <a16:creationId xmlns:a16="http://schemas.microsoft.com/office/drawing/2014/main" id="{489CE399-50B8-4F97-84F1-1ACE0575CBB1}"/>
              </a:ext>
            </a:extLst>
          </p:cNvPr>
          <p:cNvSpPr>
            <a:spLocks xmlns:a="http://schemas.openxmlformats.org/drawingml/2006/main" noGrp="1"/>
          </p:cNvSpPr>
          <p:nvPr/>
        </p:nvSpPr>
        <p:spPr>
          <a:xfrm xmlns:a="http://schemas.openxmlformats.org/drawingml/2006/main">
            <a:off x="8178800" y="3329940"/>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Use your audience card and one feature.</a:t>
            </a:r>
          </a:p>
        </p:txBody>
      </p:sp>
    </p:spTree>
    <p:extLst>
      <p:ext uri="{BB962C8B-B14F-4D97-AF65-F5344CB8AC3E}">
        <p14:creationId xmlns:p14="http://schemas.microsoft.com/office/powerpoint/2010/main" val="177910968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DA84FEFA-0B21-494E-9801-99C4E4EA4A7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02932A4B-424E-44AC-A653-10F83393E52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A32E33E1-E818-4D9A-B9C2-0C9EF642F7F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8CBF1C0B-D1C8-4D43-9DD8-541A9C725C4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988D9947-9A84-47E1-A9EB-0467007929EB}"/>
              </a:ext>
            </a:extLst>
          </p:cNvPr>
          <p:cNvPicPr>
            <a:picLocks xmlns:a="http://schemas.openxmlformats.org/drawingml/2006/main" noChangeAspect="1"/>
          </p:cNvPicPr>
          <p:nvPr/>
        </p:nvPicPr>
        <p:blipFill>
          <a:blip xmlns:r="http://schemas.openxmlformats.org/officeDocument/2006/relationships" xmlns:a="http://schemas.openxmlformats.org/drawingml/2006/main" r:embed="Rdf1017e054f8450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BB5793C-34CF-43FA-9CFF-1C5CB8B2EA1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35052E8-FFA0-4F19-81B3-1E29A3911CB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83BA92E-991F-4354-8F03-E14E39AD4C8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44F5280-CE6A-4FAF-81D5-66E05F38779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DA84DBB-B284-451B-AD3D-2C3571963FC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499ACC7-C619-43B5-9AC7-279BE021472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3AB0A84-FA64-4AA7-B6B3-37344A2F363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B09A3A13-0461-4285-839D-07A85F527DC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3EA6832-F93A-4D95-8CD9-3B5F8939CF44}"/>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each check, 1 to 3 (a word, mark or short phrase), and your next action: keep, clarify or revise.</a:t>
            </a:r>
          </a:p>
        </p:txBody>
      </p:sp>
      <p:sp>
        <p:nvSpPr>
          <p:cNvPr id="15" name="item-1-title">
            <a:extLst xmlns:a="http://schemas.openxmlformats.org/drawingml/2006/main">
              <a:ext uri="{FF2B5EF4-FFF2-40B4-BE49-F238E27FC236}">
                <a16:creationId xmlns:a16="http://schemas.microsoft.com/office/drawing/2014/main" id="{6546CBE0-E3AB-41E5-B779-837090E0C7F3}"/>
              </a:ext>
            </a:extLst>
          </p:cNvPr>
          <p:cNvSpPr>
            <a:spLocks xmlns:a="http://schemas.openxmlformats.org/drawingml/2006/main" noGrp="1"/>
          </p:cNvSpPr>
          <p:nvPr/>
        </p:nvSpPr>
        <p:spPr>
          <a:xfrm xmlns:a="http://schemas.openxmlformats.org/drawingml/2006/main">
            <a:off x="3810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Evidence</a:t>
            </a:r>
          </a:p>
        </p:txBody>
      </p:sp>
      <p:sp>
        <p:nvSpPr>
          <p:cNvPr id="16" name="item-1-question">
            <a:extLst xmlns:a="http://schemas.openxmlformats.org/drawingml/2006/main">
              <a:ext uri="{FF2B5EF4-FFF2-40B4-BE49-F238E27FC236}">
                <a16:creationId xmlns:a16="http://schemas.microsoft.com/office/drawing/2014/main" id="{B85D3911-DFF6-47BB-9B8F-0644AE66B312}"/>
              </a:ext>
            </a:extLst>
          </p:cNvPr>
          <p:cNvSpPr>
            <a:spLocks xmlns:a="http://schemas.openxmlformats.org/drawingml/2006/main" noGrp="1"/>
          </p:cNvSpPr>
          <p:nvPr/>
        </p:nvSpPr>
        <p:spPr>
          <a:xfrm xmlns:a="http://schemas.openxmlformats.org/drawingml/2006/main">
            <a:off x="381000" y="2564511"/>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Identify the feature that best supports one of your judgements.</a:t>
            </a:r>
          </a:p>
        </p:txBody>
      </p:sp>
      <p:sp>
        <p:nvSpPr>
          <p:cNvPr id="17" name="item-1-clue">
            <a:extLst xmlns:a="http://schemas.openxmlformats.org/drawingml/2006/main">
              <a:ext uri="{FF2B5EF4-FFF2-40B4-BE49-F238E27FC236}">
                <a16:creationId xmlns:a16="http://schemas.microsoft.com/office/drawing/2014/main" id="{39986207-90E9-4D38-AE0B-426DFC617605}"/>
              </a:ext>
            </a:extLst>
          </p:cNvPr>
          <p:cNvSpPr>
            <a:spLocks xmlns:a="http://schemas.openxmlformats.org/drawingml/2006/main" noGrp="1"/>
          </p:cNvSpPr>
          <p:nvPr/>
        </p:nvSpPr>
        <p:spPr>
          <a:xfrm xmlns:a="http://schemas.openxmlformats.org/drawingml/2006/main">
            <a:off x="381000" y="3622167"/>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Point as you explain.</a:t>
            </a:r>
          </a:p>
        </p:txBody>
      </p:sp>
      <p:sp>
        <p:nvSpPr>
          <p:cNvPr id="18" name="item-2-title">
            <a:extLst xmlns:a="http://schemas.openxmlformats.org/drawingml/2006/main">
              <a:ext uri="{FF2B5EF4-FFF2-40B4-BE49-F238E27FC236}">
                <a16:creationId xmlns:a16="http://schemas.microsoft.com/office/drawing/2014/main" id="{6C653EE4-78D1-44B0-BEAE-88F3C0E7B0D3}"/>
              </a:ext>
            </a:extLst>
          </p:cNvPr>
          <p:cNvSpPr>
            <a:spLocks xmlns:a="http://schemas.openxmlformats.org/drawingml/2006/main" noGrp="1"/>
          </p:cNvSpPr>
          <p:nvPr/>
        </p:nvSpPr>
        <p:spPr>
          <a:xfrm xmlns:a="http://schemas.openxmlformats.org/drawingml/2006/main">
            <a:off x="42799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Qualification</a:t>
            </a:r>
          </a:p>
        </p:txBody>
      </p:sp>
      <p:sp>
        <p:nvSpPr>
          <p:cNvPr id="19" name="item-2-question">
            <a:extLst xmlns:a="http://schemas.openxmlformats.org/drawingml/2006/main">
              <a:ext uri="{FF2B5EF4-FFF2-40B4-BE49-F238E27FC236}">
                <a16:creationId xmlns:a16="http://schemas.microsoft.com/office/drawing/2014/main" id="{4C222F5F-278A-4FB2-977D-E192BF9776A7}"/>
              </a:ext>
            </a:extLst>
          </p:cNvPr>
          <p:cNvSpPr>
            <a:spLocks xmlns:a="http://schemas.openxmlformats.org/drawingml/2006/main" noGrp="1"/>
          </p:cNvSpPr>
          <p:nvPr/>
        </p:nvSpPr>
        <p:spPr>
          <a:xfrm xmlns:a="http://schemas.openxmlformats.org/drawingml/2006/main">
            <a:off x="4279900" y="2564511"/>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a different reading or one limit to your review.</a:t>
            </a:r>
          </a:p>
        </p:txBody>
      </p:sp>
      <p:sp>
        <p:nvSpPr>
          <p:cNvPr id="20" name="item-2-clue">
            <a:extLst xmlns:a="http://schemas.openxmlformats.org/drawingml/2006/main">
              <a:ext uri="{FF2B5EF4-FFF2-40B4-BE49-F238E27FC236}">
                <a16:creationId xmlns:a16="http://schemas.microsoft.com/office/drawing/2014/main" id="{4FE07337-E12A-47B9-A7A5-96E3A6F411AE}"/>
              </a:ext>
            </a:extLst>
          </p:cNvPr>
          <p:cNvSpPr>
            <a:spLocks xmlns:a="http://schemas.openxmlformats.org/drawingml/2006/main" noGrp="1"/>
          </p:cNvSpPr>
          <p:nvPr/>
        </p:nvSpPr>
        <p:spPr>
          <a:xfrm xmlns:a="http://schemas.openxmlformats.org/drawingml/2006/main">
            <a:off x="4279900" y="3329940"/>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Another viewer could see the work differently; context may be missing.</a:t>
            </a:r>
          </a:p>
        </p:txBody>
      </p:sp>
      <p:sp>
        <p:nvSpPr>
          <p:cNvPr id="21" name="item-3-title">
            <a:extLst xmlns:a="http://schemas.openxmlformats.org/drawingml/2006/main">
              <a:ext uri="{FF2B5EF4-FFF2-40B4-BE49-F238E27FC236}">
                <a16:creationId xmlns:a16="http://schemas.microsoft.com/office/drawing/2014/main" id="{0AAA7D22-8867-421C-87F8-F64066ACBFBA}"/>
              </a:ext>
            </a:extLst>
          </p:cNvPr>
          <p:cNvSpPr>
            <a:spLocks xmlns:a="http://schemas.openxmlformats.org/drawingml/2006/main" noGrp="1"/>
          </p:cNvSpPr>
          <p:nvPr/>
        </p:nvSpPr>
        <p:spPr>
          <a:xfrm xmlns:a="http://schemas.openxmlformats.org/drawingml/2006/main">
            <a:off x="81788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Audience</a:t>
            </a:r>
          </a:p>
        </p:txBody>
      </p:sp>
      <p:sp>
        <p:nvSpPr>
          <p:cNvPr id="22" name="item-3-question">
            <a:extLst xmlns:a="http://schemas.openxmlformats.org/drawingml/2006/main">
              <a:ext uri="{FF2B5EF4-FFF2-40B4-BE49-F238E27FC236}">
                <a16:creationId xmlns:a16="http://schemas.microsoft.com/office/drawing/2014/main" id="{C6BA1079-E87C-42CA-A7FF-07969E671710}"/>
              </a:ext>
            </a:extLst>
          </p:cNvPr>
          <p:cNvSpPr>
            <a:spLocks xmlns:a="http://schemas.openxmlformats.org/drawingml/2006/main" noGrp="1"/>
          </p:cNvSpPr>
          <p:nvPr/>
        </p:nvSpPr>
        <p:spPr>
          <a:xfrm xmlns:a="http://schemas.openxmlformats.org/drawingml/2006/main">
            <a:off x="8178800" y="2564511"/>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Explain your recommendation in one short claim.</a:t>
            </a:r>
          </a:p>
        </p:txBody>
      </p:sp>
      <p:sp>
        <p:nvSpPr>
          <p:cNvPr id="23" name="item-3-clue">
            <a:extLst xmlns:a="http://schemas.openxmlformats.org/drawingml/2006/main">
              <a:ext uri="{FF2B5EF4-FFF2-40B4-BE49-F238E27FC236}">
                <a16:creationId xmlns:a16="http://schemas.microsoft.com/office/drawing/2014/main" id="{3AB98B8B-5028-45FD-A8E7-2AE733DE761E}"/>
              </a:ext>
            </a:extLst>
          </p:cNvPr>
          <p:cNvSpPr>
            <a:spLocks xmlns:a="http://schemas.openxmlformats.org/drawingml/2006/main" noGrp="1"/>
          </p:cNvSpPr>
          <p:nvPr/>
        </p:nvSpPr>
        <p:spPr>
          <a:xfrm xmlns:a="http://schemas.openxmlformats.org/drawingml/2006/main">
            <a:off x="8178800" y="3329940"/>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Who might value what, and why?</a:t>
            </a:r>
          </a:p>
        </p:txBody>
      </p:sp>
    </p:spTree>
    <p:extLst>
      <p:ext uri="{BB962C8B-B14F-4D97-AF65-F5344CB8AC3E}">
        <p14:creationId xmlns:p14="http://schemas.microsoft.com/office/powerpoint/2010/main" val="212911240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D9C513AF-08D1-48CA-BC76-48859C44C99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665081"/>
                </a:solidFill>
                <a:latin typeface="Arial"/>
                <a:ea typeface="Arial"/>
                <a:cs typeface="Arial"/>
              </a:defRPr>
            </a:defPPr>
          </a:lstStyle>
          <a:p xmlns:a="http://schemas.openxmlformats.org/drawingml/2006/main">
            <a:pPr algn="l">
              <a:lnSpc>
                <a:spcPct val="108000"/>
              </a:lnSpc>
              <a:buNone/>
              <a:defRPr sz="1050" b="1" lang="en-GB">
                <a:solidFill>
                  <a:srgbClr val="665081"/>
                </a:solidFill>
                <a:latin typeface="Arial"/>
                <a:ea typeface="Arial"/>
                <a:cs typeface="Arial"/>
              </a:defRPr>
            </a:pPr>
            <a:r>
              <a:rPr sz="1050" b="1" lang="en-GB">
                <a:solidFill>
                  <a:srgbClr val="665081"/>
                </a:solidFill>
                <a:latin typeface="Arial"/>
                <a:ea typeface="Arial"/>
                <a:cs typeface="Arial"/>
              </a:rPr>
              <a:t>Art · LAUNCH · Autumn 2 · Week 1</a:t>
            </a:r>
          </a:p>
        </p:txBody>
      </p:sp>
      <p:sp>
        <p:nvSpPr>
          <p:cNvPr id="2" name="stage-time">
            <a:extLst xmlns:a="http://schemas.openxmlformats.org/drawingml/2006/main">
              <a:ext uri="{FF2B5EF4-FFF2-40B4-BE49-F238E27FC236}">
                <a16:creationId xmlns:a16="http://schemas.microsoft.com/office/drawing/2014/main" id="{EE22DEFD-836E-418C-8C98-222D672BC4E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665081"/>
                </a:solidFill>
                <a:latin typeface="Arial"/>
                <a:ea typeface="Arial"/>
                <a:cs typeface="Arial"/>
              </a:defRPr>
            </a:defPPr>
          </a:lstStyle>
          <a:p xmlns:a="http://schemas.openxmlformats.org/drawingml/2006/main">
            <a:pPr algn="r">
              <a:lnSpc>
                <a:spcPct val="108000"/>
              </a:lnSpc>
              <a:buNone/>
              <a:defRPr sz="1425" b="1" lang="en-GB">
                <a:solidFill>
                  <a:srgbClr val="665081"/>
                </a:solidFill>
                <a:latin typeface="Arial"/>
                <a:ea typeface="Arial"/>
                <a:cs typeface="Arial"/>
              </a:defRPr>
            </a:pPr>
            <a:r>
              <a:rPr sz="1425" b="1" lang="en-GB">
                <a:solidFill>
                  <a:srgbClr val="665081"/>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5C79A64D-7353-4E57-AEC8-16EA7CF5CD7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665081"/>
                </a:solidFill>
                <a:latin typeface="Arial"/>
                <a:ea typeface="Arial"/>
                <a:cs typeface="Arial"/>
              </a:defRPr>
            </a:defPPr>
          </a:lstStyle>
          <a:p xmlns:a="http://schemas.openxmlformats.org/drawingml/2006/main">
            <a:pPr algn="l">
              <a:lnSpc>
                <a:spcPct val="108000"/>
              </a:lnSpc>
              <a:buNone/>
              <a:defRPr sz="2700" b="1" lang="en-GB">
                <a:solidFill>
                  <a:srgbClr val="665081"/>
                </a:solidFill>
                <a:latin typeface="Arial"/>
                <a:ea typeface="Arial"/>
                <a:cs typeface="Arial"/>
              </a:defRPr>
            </a:pPr>
            <a:r>
              <a:rPr sz="2700" b="1" lang="en-GB">
                <a:solidFill>
                  <a:srgbClr val="665081"/>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D04D44C9-A0A6-4440-88B8-DEC1A4335D6C}"/>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665081"/>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0ECC6A05-056E-4E45-A444-2F7DE20E3346}"/>
              </a:ext>
            </a:extLst>
          </p:cNvPr>
          <p:cNvPicPr>
            <a:picLocks xmlns:a="http://schemas.openxmlformats.org/drawingml/2006/main" noChangeAspect="1"/>
          </p:cNvPicPr>
          <p:nvPr/>
        </p:nvPicPr>
        <p:blipFill>
          <a:blip xmlns:r="http://schemas.openxmlformats.org/officeDocument/2006/relationships" xmlns:a="http://schemas.openxmlformats.org/drawingml/2006/main" r:embed="R0aa18c267bd8473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690AA42-21BE-4B9C-B7BB-B70D1D7FAD1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10D20D4-C239-4A6C-989B-0B8705E141A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8D15FC2-5245-47CF-BE9C-2A63AF2C31B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7A05B3B-55E3-4DCD-BDCA-E439A0450E6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69D137B-09DA-4A84-9312-4205FA81760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6B570AE-A45D-40D6-9B49-241187CC225C}"/>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665081"/>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2A71D3F7-9E3A-4F77-AE60-D6DE8A84066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ART-LAUNCH-A2-W01 · version ______</a:t>
            </a:r>
          </a:p>
        </p:txBody>
      </p:sp>
      <p:sp>
        <p:nvSpPr>
          <p:cNvPr id="13" name="licence-footer">
            <a:extLst xmlns:a="http://schemas.openxmlformats.org/drawingml/2006/main">
              <a:ext uri="{FF2B5EF4-FFF2-40B4-BE49-F238E27FC236}">
                <a16:creationId xmlns:a16="http://schemas.microsoft.com/office/drawing/2014/main" id="{E79A1578-5B1D-47B9-91DB-28D853F7262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C5A300F-E02E-4D7E-BA57-590701F205E1}"/>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answer to each check, 1 to 3 (a word, mark or short phrase), and your next action: keep, clarify or revise.</a:t>
            </a:r>
          </a:p>
        </p:txBody>
      </p:sp>
      <p:sp>
        <p:nvSpPr>
          <p:cNvPr id="15" name="item-1-title">
            <a:extLst xmlns:a="http://schemas.openxmlformats.org/drawingml/2006/main">
              <a:ext uri="{FF2B5EF4-FFF2-40B4-BE49-F238E27FC236}">
                <a16:creationId xmlns:a16="http://schemas.microsoft.com/office/drawing/2014/main" id="{56025D22-15AD-4E6F-AA9B-273405618192}"/>
              </a:ext>
            </a:extLst>
          </p:cNvPr>
          <p:cNvSpPr>
            <a:spLocks xmlns:a="http://schemas.openxmlformats.org/drawingml/2006/main" noGrp="1"/>
          </p:cNvSpPr>
          <p:nvPr/>
        </p:nvSpPr>
        <p:spPr>
          <a:xfrm xmlns:a="http://schemas.openxmlformats.org/drawingml/2006/main">
            <a:off x="3810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1. Evidence</a:t>
            </a:r>
          </a:p>
        </p:txBody>
      </p:sp>
      <p:sp>
        <p:nvSpPr>
          <p:cNvPr id="16" name="item-1-question">
            <a:extLst xmlns:a="http://schemas.openxmlformats.org/drawingml/2006/main">
              <a:ext uri="{FF2B5EF4-FFF2-40B4-BE49-F238E27FC236}">
                <a16:creationId xmlns:a16="http://schemas.microsoft.com/office/drawing/2014/main" id="{8613DF8D-3120-4149-A1ED-0E15FD8CB2B4}"/>
              </a:ext>
            </a:extLst>
          </p:cNvPr>
          <p:cNvSpPr>
            <a:spLocks xmlns:a="http://schemas.openxmlformats.org/drawingml/2006/main" noGrp="1"/>
          </p:cNvSpPr>
          <p:nvPr/>
        </p:nvSpPr>
        <p:spPr>
          <a:xfrm xmlns:a="http://schemas.openxmlformats.org/drawingml/2006/main">
            <a:off x="381000" y="2564511"/>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Justify why one feature is stronger support than a general word such as 'good'.</a:t>
            </a:r>
          </a:p>
        </p:txBody>
      </p:sp>
      <p:sp>
        <p:nvSpPr>
          <p:cNvPr id="17" name="item-1-clue">
            <a:extLst xmlns:a="http://schemas.openxmlformats.org/drawingml/2006/main">
              <a:ext uri="{FF2B5EF4-FFF2-40B4-BE49-F238E27FC236}">
                <a16:creationId xmlns:a16="http://schemas.microsoft.com/office/drawing/2014/main" id="{FD2A25E3-A070-4D77-8247-72998A4421FA}"/>
              </a:ext>
            </a:extLst>
          </p:cNvPr>
          <p:cNvSpPr>
            <a:spLocks xmlns:a="http://schemas.openxmlformats.org/drawingml/2006/main" noGrp="1"/>
          </p:cNvSpPr>
          <p:nvPr/>
        </p:nvSpPr>
        <p:spPr>
          <a:xfrm xmlns:a="http://schemas.openxmlformats.org/drawingml/2006/main">
            <a:off x="381000" y="3622167"/>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Compare what another viewer can check.</a:t>
            </a:r>
          </a:p>
        </p:txBody>
      </p:sp>
      <p:sp>
        <p:nvSpPr>
          <p:cNvPr id="18" name="item-2-title">
            <a:extLst xmlns:a="http://schemas.openxmlformats.org/drawingml/2006/main">
              <a:ext uri="{FF2B5EF4-FFF2-40B4-BE49-F238E27FC236}">
                <a16:creationId xmlns:a16="http://schemas.microsoft.com/office/drawing/2014/main" id="{0F62B011-233E-4AC8-A255-6E54F547AE9C}"/>
              </a:ext>
            </a:extLst>
          </p:cNvPr>
          <p:cNvSpPr>
            <a:spLocks xmlns:a="http://schemas.openxmlformats.org/drawingml/2006/main" noGrp="1"/>
          </p:cNvSpPr>
          <p:nvPr/>
        </p:nvSpPr>
        <p:spPr>
          <a:xfrm xmlns:a="http://schemas.openxmlformats.org/drawingml/2006/main">
            <a:off x="42799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2. Qualification</a:t>
            </a:r>
          </a:p>
        </p:txBody>
      </p:sp>
      <p:sp>
        <p:nvSpPr>
          <p:cNvPr id="19" name="item-2-question">
            <a:extLst xmlns:a="http://schemas.openxmlformats.org/drawingml/2006/main">
              <a:ext uri="{FF2B5EF4-FFF2-40B4-BE49-F238E27FC236}">
                <a16:creationId xmlns:a16="http://schemas.microsoft.com/office/drawing/2014/main" id="{DB0F0257-844E-4EE0-A827-02EB15BC76B0}"/>
              </a:ext>
            </a:extLst>
          </p:cNvPr>
          <p:cNvSpPr>
            <a:spLocks xmlns:a="http://schemas.openxmlformats.org/drawingml/2006/main" noGrp="1"/>
          </p:cNvSpPr>
          <p:nvPr/>
        </p:nvSpPr>
        <p:spPr>
          <a:xfrm xmlns:a="http://schemas.openxmlformats.org/drawingml/2006/main">
            <a:off x="4279900" y="2564511"/>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Evaluate the claim that your interpretation proves the maker's intention.</a:t>
            </a:r>
          </a:p>
        </p:txBody>
      </p:sp>
      <p:sp>
        <p:nvSpPr>
          <p:cNvPr id="20" name="item-2-clue">
            <a:extLst xmlns:a="http://schemas.openxmlformats.org/drawingml/2006/main">
              <a:ext uri="{FF2B5EF4-FFF2-40B4-BE49-F238E27FC236}">
                <a16:creationId xmlns:a16="http://schemas.microsoft.com/office/drawing/2014/main" id="{B0DA6EF5-4D0A-4B53-B78E-6CD63DCC2794}"/>
              </a:ext>
            </a:extLst>
          </p:cNvPr>
          <p:cNvSpPr>
            <a:spLocks xmlns:a="http://schemas.openxmlformats.org/drawingml/2006/main" noGrp="1"/>
          </p:cNvSpPr>
          <p:nvPr/>
        </p:nvSpPr>
        <p:spPr>
          <a:xfrm xmlns:a="http://schemas.openxmlformats.org/drawingml/2006/main">
            <a:off x="4279900" y="3622167"/>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Separate a viewer's reading from evidence about the maker.</a:t>
            </a:r>
          </a:p>
        </p:txBody>
      </p:sp>
      <p:sp>
        <p:nvSpPr>
          <p:cNvPr id="21" name="item-3-title">
            <a:extLst xmlns:a="http://schemas.openxmlformats.org/drawingml/2006/main">
              <a:ext uri="{FF2B5EF4-FFF2-40B4-BE49-F238E27FC236}">
                <a16:creationId xmlns:a16="http://schemas.microsoft.com/office/drawing/2014/main" id="{A093C977-5096-4CCC-BE43-32046A69A11D}"/>
              </a:ext>
            </a:extLst>
          </p:cNvPr>
          <p:cNvSpPr>
            <a:spLocks xmlns:a="http://schemas.openxmlformats.org/drawingml/2006/main" noGrp="1"/>
          </p:cNvSpPr>
          <p:nvPr/>
        </p:nvSpPr>
        <p:spPr>
          <a:xfrm xmlns:a="http://schemas.openxmlformats.org/drawingml/2006/main">
            <a:off x="8178800" y="2151888"/>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665081"/>
                </a:solidFill>
                <a:latin typeface="Arial"/>
                <a:ea typeface="Arial"/>
                <a:cs typeface="Arial"/>
              </a:defRPr>
            </a:defPPr>
          </a:lstStyle>
          <a:p xmlns:a="http://schemas.openxmlformats.org/drawingml/2006/main">
            <a:pPr algn="l">
              <a:lnSpc>
                <a:spcPct val="108000"/>
              </a:lnSpc>
              <a:buNone/>
              <a:defRPr sz="1800" b="1" lang="en-GB">
                <a:solidFill>
                  <a:srgbClr val="665081"/>
                </a:solidFill>
                <a:latin typeface="Arial"/>
                <a:ea typeface="Arial"/>
                <a:cs typeface="Arial"/>
              </a:defRPr>
            </a:pPr>
            <a:r>
              <a:rPr sz="1800" b="1" lang="en-GB">
                <a:solidFill>
                  <a:srgbClr val="665081"/>
                </a:solidFill>
                <a:latin typeface="Arial"/>
                <a:ea typeface="Arial"/>
                <a:cs typeface="Arial"/>
              </a:rPr>
              <a:t>3. Audience</a:t>
            </a:r>
          </a:p>
        </p:txBody>
      </p:sp>
      <p:sp>
        <p:nvSpPr>
          <p:cNvPr id="22" name="item-3-question">
            <a:extLst xmlns:a="http://schemas.openxmlformats.org/drawingml/2006/main">
              <a:ext uri="{FF2B5EF4-FFF2-40B4-BE49-F238E27FC236}">
                <a16:creationId xmlns:a16="http://schemas.microsoft.com/office/drawing/2014/main" id="{5325C839-B9B1-48BC-BACD-B8F7DB7422BD}"/>
              </a:ext>
            </a:extLst>
          </p:cNvPr>
          <p:cNvSpPr>
            <a:spLocks xmlns:a="http://schemas.openxmlformats.org/drawingml/2006/main" noGrp="1"/>
          </p:cNvSpPr>
          <p:nvPr/>
        </p:nvSpPr>
        <p:spPr>
          <a:xfrm xmlns:a="http://schemas.openxmlformats.org/drawingml/2006/main">
            <a:off x="8178800" y="2564511"/>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Qualify your recommendation for a viewer with a different interest.</a:t>
            </a:r>
          </a:p>
        </p:txBody>
      </p:sp>
      <p:sp>
        <p:nvSpPr>
          <p:cNvPr id="23" name="item-3-clue">
            <a:extLst xmlns:a="http://schemas.openxmlformats.org/drawingml/2006/main">
              <a:ext uri="{FF2B5EF4-FFF2-40B4-BE49-F238E27FC236}">
                <a16:creationId xmlns:a16="http://schemas.microsoft.com/office/drawing/2014/main" id="{67E9D72E-57D4-4659-8FFD-5E6EB221B90A}"/>
              </a:ext>
            </a:extLst>
          </p:cNvPr>
          <p:cNvSpPr>
            <a:spLocks xmlns:a="http://schemas.openxmlformats.org/drawingml/2006/main" noGrp="1"/>
          </p:cNvSpPr>
          <p:nvPr/>
        </p:nvSpPr>
        <p:spPr>
          <a:xfrm xmlns:a="http://schemas.openxmlformats.org/drawingml/2006/main">
            <a:off x="8178800" y="3622167"/>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665081"/>
                </a:solidFill>
                <a:latin typeface="Arial"/>
                <a:ea typeface="Arial"/>
                <a:cs typeface="Arial"/>
              </a:defRPr>
            </a:defPPr>
          </a:lstStyle>
          <a:p xmlns:a="http://schemas.openxmlformats.org/drawingml/2006/main">
            <a:pPr algn="l">
              <a:lnSpc>
                <a:spcPct val="108000"/>
              </a:lnSpc>
              <a:buNone/>
              <a:defRPr sz="1500" b="0" lang="en-GB">
                <a:solidFill>
                  <a:srgbClr val="665081"/>
                </a:solidFill>
                <a:latin typeface="Arial"/>
                <a:ea typeface="Arial"/>
                <a:cs typeface="Arial"/>
              </a:defRPr>
            </a:pPr>
            <a:r>
              <a:rPr sz="1500" b="0" lang="en-GB">
                <a:solidFill>
                  <a:srgbClr val="665081"/>
                </a:solidFill>
                <a:latin typeface="Arial"/>
                <a:ea typeface="Arial"/>
                <a:cs typeface="Arial"/>
              </a:rPr>
              <a:t>Clue: What does the work offer, and what might they be seeking?</a:t>
            </a:r>
          </a:p>
        </p:txBody>
      </p:sp>
    </p:spTree>
    <p:extLst>
      <p:ext uri="{BB962C8B-B14F-4D97-AF65-F5344CB8AC3E}">
        <p14:creationId xmlns:p14="http://schemas.microsoft.com/office/powerpoint/2010/main" val="48271916"/>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A review with evidence</dc:title>
  <dcterms:created xsi:type="dcterms:W3CDTF"/>
  <dcterms:modified xsi:type="dcterms:W3CDTF"/>
  <dc:subject>ART-LAUNCH-A2-W01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