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d84540b0db64b64"/><Relationship Type="http://schemas.openxmlformats.org/officeDocument/2006/relationships/extended-properties" Target="/docProps/app.xml" Id="R1f2d96c58c55440c"/><Relationship Type="http://schemas.openxmlformats.org/officeDocument/2006/relationships/officeDocument" Target="/ppt/presentation.xml" Id="Re464253634f4438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aa18b736b4bdf"/>
  </p:sldMasterIdLst>
  <p:notesMasterIdLst>
    <p:notesMasterId xmlns:r="http://schemas.openxmlformats.org/officeDocument/2006/relationships" r:id="R96d94d15dc974a5e"/>
  </p:notesMasterIdLst>
  <p:sldIdLst>
    <p:sldId xmlns:r="http://schemas.openxmlformats.org/officeDocument/2006/relationships" id="256" r:id="Rcde81a43be7f4cfc"/>
    <p:sldId xmlns:r="http://schemas.openxmlformats.org/officeDocument/2006/relationships" id="257" r:id="Rb591ceb67cfe4dfa"/>
    <p:sldId xmlns:r="http://schemas.openxmlformats.org/officeDocument/2006/relationships" id="258" r:id="Red634db161304007"/>
    <p:sldId xmlns:r="http://schemas.openxmlformats.org/officeDocument/2006/relationships" id="259" r:id="R744bcab443ee4f0a"/>
    <p:sldId xmlns:r="http://schemas.openxmlformats.org/officeDocument/2006/relationships" id="260" r:id="R17730be55cce4d1b"/>
    <p:sldId xmlns:r="http://schemas.openxmlformats.org/officeDocument/2006/relationships" id="261" r:id="Rd958332fc9254de4"/>
    <p:sldId xmlns:r="http://schemas.openxmlformats.org/officeDocument/2006/relationships" id="262" r:id="Ra4f0238fed2e4cfb"/>
    <p:sldId xmlns:r="http://schemas.openxmlformats.org/officeDocument/2006/relationships" id="263" r:id="R14e01cba9d774edd"/>
    <p:sldId xmlns:r="http://schemas.openxmlformats.org/officeDocument/2006/relationships" id="264" r:id="Raa862df73e584e4f"/>
    <p:sldId xmlns:r="http://schemas.openxmlformats.org/officeDocument/2006/relationships" id="265" r:id="R182d2d16699f4c93"/>
    <p:sldId xmlns:r="http://schemas.openxmlformats.org/officeDocument/2006/relationships" id="266" r:id="R2d67950fd6c940a8"/>
    <p:sldId xmlns:r="http://schemas.openxmlformats.org/officeDocument/2006/relationships" id="267" r:id="R3e87ee2e624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9f492bc644b8" /><Relationship Type="http://schemas.openxmlformats.org/officeDocument/2006/relationships/slideMaster" Target="/ppt/slideMasters/slideMaster1.xml" Id="R04aaa18b736b4bdf" /><Relationship Type="http://schemas.openxmlformats.org/officeDocument/2006/relationships/notesMaster" Target="/ppt/notesMasters/notesMaster1.xml" Id="R96d94d15dc974a5e" /><Relationship Type="http://schemas.openxmlformats.org/officeDocument/2006/relationships/presProps" Target="/ppt/presProps.xml" Id="R1eb803d0e5634d51" /><Relationship Type="http://schemas.openxmlformats.org/officeDocument/2006/relationships/tableStyles" Target="/ppt/tableStyles.xml" Id="R046ca296d2e6404a" /><Relationship Type="http://schemas.openxmlformats.org/officeDocument/2006/relationships/slide" Target="/ppt/slides/slide1.xml" Id="Rcde81a43be7f4cfc" /><Relationship Type="http://schemas.openxmlformats.org/officeDocument/2006/relationships/slide" Target="/ppt/slides/slide2.xml" Id="Rb591ceb67cfe4dfa" /><Relationship Type="http://schemas.openxmlformats.org/officeDocument/2006/relationships/slide" Target="/ppt/slides/slide3.xml" Id="Red634db161304007" /><Relationship Type="http://schemas.openxmlformats.org/officeDocument/2006/relationships/slide" Target="/ppt/slides/slide4.xml" Id="R744bcab443ee4f0a" /><Relationship Type="http://schemas.openxmlformats.org/officeDocument/2006/relationships/slide" Target="/ppt/slides/slide5.xml" Id="R17730be55cce4d1b" /><Relationship Type="http://schemas.openxmlformats.org/officeDocument/2006/relationships/slide" Target="/ppt/slides/slide6.xml" Id="Rd958332fc9254de4" /><Relationship Type="http://schemas.openxmlformats.org/officeDocument/2006/relationships/slide" Target="/ppt/slides/slide7.xml" Id="Ra4f0238fed2e4cfb" /><Relationship Type="http://schemas.openxmlformats.org/officeDocument/2006/relationships/slide" Target="/ppt/slides/slide8.xml" Id="R14e01cba9d774edd" /><Relationship Type="http://schemas.openxmlformats.org/officeDocument/2006/relationships/slide" Target="/ppt/slides/slide9.xml" Id="Raa862df73e584e4f" /><Relationship Type="http://schemas.openxmlformats.org/officeDocument/2006/relationships/slide" Target="/ppt/slides/slide10.xml" Id="R182d2d16699f4c93" /><Relationship Type="http://schemas.openxmlformats.org/officeDocument/2006/relationships/slide" Target="/ppt/slides/slide11.xml" Id="R2d67950fd6c940a8" /><Relationship Type="http://schemas.openxmlformats.org/officeDocument/2006/relationships/slide" Target="/ppt/slides/slide12.xml" Id="R3e87ee2e624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b5938c13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8eab85e384bc2" /><Relationship Type="http://schemas.openxmlformats.org/officeDocument/2006/relationships/notesMaster" Target="/ppt/notesMasters/notesMaster1.xml" Id="R6519dbe39c88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7e838a5c4944" /><Relationship Type="http://schemas.openxmlformats.org/officeDocument/2006/relationships/notesMaster" Target="/ppt/notesMasters/notesMaster1.xml" Id="R52c26794846f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676e893194b3c" /><Relationship Type="http://schemas.openxmlformats.org/officeDocument/2006/relationships/notesMaster" Target="/ppt/notesMasters/notesMaster1.xml" Id="R6884c9b99857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560b550134841" /><Relationship Type="http://schemas.openxmlformats.org/officeDocument/2006/relationships/notesMaster" Target="/ppt/notesMasters/notesMaster1.xml" Id="R097e1584cc63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3e15a17c646e7" /><Relationship Type="http://schemas.openxmlformats.org/officeDocument/2006/relationships/notesMaster" Target="/ppt/notesMasters/notesMaster1.xml" Id="Rab609d8c57ba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752b038c48f6" /><Relationship Type="http://schemas.openxmlformats.org/officeDocument/2006/relationships/notesMaster" Target="/ppt/notesMasters/notesMaster1.xml" Id="Rf64862cd19b0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bde8c8f5341ce" /><Relationship Type="http://schemas.openxmlformats.org/officeDocument/2006/relationships/notesMaster" Target="/ppt/notesMasters/notesMaster1.xml" Id="R2ea49e5f1e0a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9c359fd184d05" /><Relationship Type="http://schemas.openxmlformats.org/officeDocument/2006/relationships/notesMaster" Target="/ppt/notesMasters/notesMaster1.xml" Id="R91cd519756d8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2881931df42c5" /><Relationship Type="http://schemas.openxmlformats.org/officeDocument/2006/relationships/notesMaster" Target="/ppt/notesMasters/notesMaster1.xml" Id="R7bb907761a59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83bf25a424bc5" /><Relationship Type="http://schemas.openxmlformats.org/officeDocument/2006/relationships/notesMaster" Target="/ppt/notesMasters/notesMaster1.xml" Id="R9535c48bda2f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3137aec23409a" /><Relationship Type="http://schemas.openxmlformats.org/officeDocument/2006/relationships/notesMaster" Target="/ppt/notesMasters/notesMaster1.xml" Id="R60b2a3f282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abdd08cc745e5" /><Relationship Type="http://schemas.openxmlformats.org/officeDocument/2006/relationships/notesMaster" Target="/ppt/notesMasters/notesMaster1.xml" Id="Rf09ce24b8e9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PSHE-LAUNCH-A2-W04 · Monday 23–Friday 27 November 2026</ns0:t>
            </ns0:r>
          </ns0:p>
          <ns1:p xmlns:ns1="http://schemas.openxmlformats.org/drawingml/2006/main">
            <ns1:r>
              <ns1:t>Title and big question: 0 minutes.</ns1:t>
            </ns1:r>
          </ns1:p>
          <ns2:p xmlns:ns2="http://schemas.openxmlformats.org/drawingml/2006/main">
            <ns2:r>
              <ns2:t>Teacher: Open the big question without requiring personal disclosure. Staff enter the actual date in the planner.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LAUNCH-PSHE-W4-E1; An individual fact-to-risk explanation, a safer choice for a substance-related fictional case, and a refusal/help request with an appropriate support route.</ns4:t>
            </ns4:r>
          </ns4:p>
          <ns5:p xmlns:ns5="http://schemas.openxmlformats.org/drawingml/2006/main">
            <ns5:r>
              <ns5:t>Scheme: LAUNCH Weekly - Autumn!C182;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https://talktofrank.com/drug/alcohol; https://www.niaaa.nih.gov/publications/brochures-and-fact-sheets/harmful-interactions-mixing-alcohol-with-medicines; https://www.nhs.uk/conditions/poisoning/; https://www.childline.org.uk/info-advice/bullying-abuse-safety/getting-help/asking-adult-help/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PSHE-LAUNCH-A2-W04 · Monday 23–Friday 27 November 2026</ns0:t>
            </ns0:r>
          </ns0:p>
          <ns1:p xmlns:ns1="http://schemas.openxmlformats.org/drawingml/2006/main">
            <ns1:r>
              <ns1:t>Arrival and regulation: 4 minutes.</ns1:t>
            </ns1:r>
          </ns1:p>
          <ns2:p xmlns:ns2="http://schemas.openxmlformats.org/drawingml/2006/main">
            <ns2:r>
              <ns2:t>Teacher: Use a private check-in, quiet start and processing time. Identify the available adult and backup support route.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LAUNCH-PSHE-W4-E1; An individual fact-to-risk explanation, a safer choice for a substance-related fictional case, and a refusal/help request with an appropriate support route.</ns4:t>
            </ns4:r>
          </ns4:p>
          <ns5:p xmlns:ns5="http://schemas.openxmlformats.org/drawingml/2006/main">
            <ns5:r>
              <ns5:t>Scheme: LAUNCH Weekly - Autumn!C182;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https://talktofrank.com/drug/alcohol; https://www.niaaa.nih.gov/publications/brochures-and-fact-sheets/harmful-interactions-mixing-alcohol-with-medicines; https://www.nhs.uk/conditions/poisoning/; https://www.childline.org.uk/info-advice/bullying-abuse-safety/getting-help/asking-adult-help/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PSHE-LAUNCH-A2-W04 · Monday 23–Friday 27 November 2026</ns0:t>
            </ns0:r>
          </ns0:p>
          <ns1:p xmlns:ns1="http://schemas.openxmlformats.org/drawingml/2006/main">
            <ns1:r>
              <ns1:t>Starter: 2 minutes.</ns1:t>
            </ns1:r>
          </ns1:p>
          <ns2:p xmlns:ns2="http://schemas.openxmlformats.org/drawingml/2006/main">
            <ns2:r>
              <ns2:t>Teacher: Read all diagram labels aloud. Accept a pointed clue. Diagrams are authored examples, not learner evidence or measuring templates.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LAUNCH-PSHE-W4-E1; An individual fact-to-risk explanation, a safer choice for a substance-related fictional case, and a refusal/help request with an appropriate support route.</ns4:t>
            </ns4:r>
          </ns4:p>
          <ns5:p xmlns:ns5="http://schemas.openxmlformats.org/drawingml/2006/main">
            <ns5:r>
              <ns5:t>Scheme: LAUNCH Weekly - Autumn!C182;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https://talktofrank.com/drug/alcohol; https://www.niaaa.nih.gov/publications/brochures-and-fact-sheets/harmful-interactions-mixing-alcohol-with-medicines; https://www.nhs.uk/conditions/poisoning/; https://www.childline.org.uk/info-advice/bullying-abuse-safety/getting-help/asking-adult-help/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PSHE-LAUNCH-A2-W04 · Monday 23–Friday 27 November 2026</ns0:t>
            </ns0:r>
          </ns0:p>
          <ns1:p xmlns:ns1="http://schemas.openxmlformats.org/drawingml/2006/main">
            <ns1:r>
              <ns1:t>Today: 0 minutes.</ns1:t>
            </ns1:r>
          </ns1:p>
          <ns2:p xmlns:ns2="http://schemas.openxmlformats.org/drawingml/2006/main">
            <ns2:r>
              <ns2:t>Teacher: Read the exact scheme objective and the success checks. Explain today’s contribution without claiming award completion.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LAUNCH-PSHE-W4-E1; An individual fact-to-risk explanation, a safer choice for a substance-related fictional case, and a refusal/help request with an appropriate support route.</ns4:t>
            </ns4:r>
          </ns4:p>
          <ns5:p xmlns:ns5="http://schemas.openxmlformats.org/drawingml/2006/main">
            <ns5:r>
              <ns5:t>Scheme: LAUNCH Weekly - Autumn!C182;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https://talktofrank.com/drug/alcohol; https://www.niaaa.nih.gov/publications/brochures-and-fact-sheets/harmful-interactions-mixing-alcohol-with-medicines; https://www.nhs.uk/conditions/poisoning/; https://www.childline.org.uk/info-advice/bullying-abuse-safety/getting-help/asking-adult-help/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PSHE-LAUNCH-A2-W04 · Monday 23–Friday 27 November 2026</ns0:t>
            </ns0:r>
          </ns0:p>
          <ns1:p xmlns:ns1="http://schemas.openxmlformats.org/drawingml/2006/main">
            <ns1:r>
              <ns1:t>I Do: 5 minutes.</ns1:t>
            </ns1:r>
          </ns1:p>
          <ns2:p xmlns:ns2="http://schemas.openxmlformats.org/drawingml/2006/main">
            <ns2:r>
              <ns2:t>Teacher: Model each line aloud and make the reasoning explicit. Accept: medicines used as directed can help; unknown tablets cannot be identified by appearance; alcohol can affect judgement/balance; mixing can increase harm. Link the fact to a choice, not a moral judgement. A clear refusal, moving to support or a pharmacist query is valid. Unconsciousness/serious breathing problems need 999; suspected harmful poisoning needs urgent emergency help.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LAUNCH-PSHE-W4-E1; An individual fact-to-risk explanation, a safer choice for a substance-related fictional case, and a refusal/help request with an appropriate support route.</ns4:t>
            </ns4:r>
          </ns4:p>
          <ns5:p xmlns:ns5="http://schemas.openxmlformats.org/drawingml/2006/main">
            <ns5:r>
              <ns5:t>Scheme: LAUNCH Weekly - Autumn!C182;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https://talktofrank.com/drug/alcohol; https://www.niaaa.nih.gov/publications/brochures-and-fact-sheets/harmful-interactions-mixing-alcohol-with-medicines; https://www.nhs.uk/conditions/poisoning/; https://www.childline.org.uk/info-advice/bullying-abuse-safety/getting-help/asking-adult-help/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PSHE-LAUNCH-A2-W04 · Monday 23–Friday 27 November 2026</ns0:t>
            </ns0:r>
          </ns0:p>
          <ns1:p xmlns:ns1="http://schemas.openxmlformats.org/drawingml/2006/main">
            <ns1:r>
              <ns1:t>We Do: 5 minutes.</ns1:t>
            </ns1:r>
          </ns1:p>
          <ns2:p xmlns:ns2="http://schemas.openxmlformats.org/drawingml/2006/main">
            <ns2:r>
              <ns2:t>Teacher: Read the hinge aloud, ask for a choice and a reason. C. Appearance and a friend’s reassurance do not establish what a tablet contains or whether it is safe. Do not taste, smell or handle unknown substances. If something harmful may already have been taken, seek urgent medical help; do not wait for this classroom routine. Reteach with an unlabelled container, without a real prop.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LAUNCH-PSHE-W4-E1; An individual fact-to-risk explanation, a safer choice for a substance-related fictional case, and a refusal/help request with an appropriate support route.</ns4:t>
            </ns4:r>
          </ns4:p>
          <ns5:p xmlns:ns5="http://schemas.openxmlformats.org/drawingml/2006/main">
            <ns5:r>
              <ns5:t>Scheme: LAUNCH Weekly - Autumn!C182;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https://talktofrank.com/drug/alcohol; https://www.niaaa.nih.gov/publications/brochures-and-fact-sheets/harmful-interactions-mixing-alcohol-with-medicines; https://www.nhs.uk/conditions/poisoning/; https://www.childline.org.uk/info-advice/bullying-abuse-safety/getting-help/asking-adult-help/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PSHE-LAUNCH-A2-W04 · Monday 23–Friday 27 November 2026</ns0:t>
            </ns0:r>
          </ns0:p>
          <ns1:p xmlns:ns1="http://schemas.openxmlformats.org/drawingml/2006/main">
            <ns1:r>
              <ns1:t>You Do practice: 12 minutes.</ns1:t>
            </ns1:r>
          </ns1:p>
          <ns2:p xmlns:ns2="http://schemas.openxmlformats.org/drawingml/2006/main">
            <ns2:r>
              <ns2:t>Teacher: Teach the six model facts, then read A–F. Pupils match a fact, risk and action. Rehearse a neutral refusal or question with the adult; nobody pressures a peer. Explain the emergency response plainly without a physical demonstration.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LAUNCH-PSHE-W4-E1; An individual fact-to-risk explanation, a safer choice for a substance-related fictional case, and a refusal/help request with an appropriate support route.</ns4:t>
            </ns4:r>
          </ns4:p>
          <ns5:p xmlns:ns5="http://schemas.openxmlformats.org/drawingml/2006/main">
            <ns5:r>
              <ns5:t>Scheme: LAUNCH Weekly - Autumn!C182;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https://talktofrank.com/drug/alcohol; https://www.niaaa.nih.gov/publications/brochures-and-fact-sheets/harmful-interactions-mixing-alcohol-with-medicines; https://www.nhs.uk/conditions/poisoning/; https://www.childline.org.uk/info-advice/bullying-abuse-safety/getting-help/asking-adult-help/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PSHE-LAUNCH-A2-W04 · Monday 23–Friday 27 November 2026</ns0:t>
            </ns0:r>
          </ns0:p>
          <ns1:p xmlns:ns1="http://schemas.openxmlformats.org/drawingml/2006/main">
            <ns1:r>
              <ns1:t>You Do evidence: 6 minutes.</ns1:t>
            </ns1:r>
          </ns1:p>
          <ns2:p xmlns:ns2="http://schemas.openxmlformats.org/drawingml/2006/main">
            <ns2:r>
              <ns2:t>Teacher: Complete both Evidence Sheet pages. Accept: medicines used as directed can help; unknown tablets cannot be identified by appearance; alcohol can affect judgement/balance; mixing can increase harm. Link the fact to a choice, not a moral judgement. A clear refusal, moving to support or a pharmacist query is valid. Unconsciousness/serious breathing problems need 999; suspected harmful poisoning needs urgent emergency help.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LAUNCH-PSHE-W4-E1; An individual fact-to-risk explanation, a safer choice for a substance-related fictional case, and a refusal/help request with an appropriate support route.</ns4:t>
            </ns4:r>
          </ns4:p>
          <ns5:p xmlns:ns5="http://schemas.openxmlformats.org/drawingml/2006/main">
            <ns5:r>
              <ns5:t>Scheme: LAUNCH Weekly - Autumn!C182;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https://talktofrank.com/drug/alcohol; https://www.niaaa.nih.gov/publications/brochures-and-fact-sheets/harmful-interactions-mixing-alcohol-with-medicines; https://www.nhs.uk/conditions/poisoning/; https://www.childline.org.uk/info-advice/bullying-abuse-safety/getting-help/asking-adult-help/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PSHE-LAUNCH-A2-W04 · Monday 23–Friday 27 November 2026</ns0:t>
            </ns0:r>
          </ns0:p>
          <ns1:p xmlns:ns1="http://schemas.openxmlformats.org/drawingml/2006/main">
            <ns1:r>
              <ns1:t>Tidy and evidence check: 4 minutes.</ns1:t>
            </ns1:r>
          </ns1:p>
          <ns2:p xmlns:ns2="http://schemas.openxmlformats.org/drawingml/2006/main">
            <ns2:r>
              <ns2:t>Teacher: Check actual support, ownership and response. Use VF, WS, I, NS+, //, ?, R and E appropriately. R needs Voice, Audience, NS+ and a response in the learner’s own colour. E requires actual banking.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LAUNCH-PSHE-W4-E1; An individual fact-to-risk explanation, a safer choice for a substance-related fictional case, and a refusal/help request with an appropriate support route.</ns4:t>
            </ns4:r>
          </ns4:p>
          <ns5:p xmlns:ns5="http://schemas.openxmlformats.org/drawingml/2006/main">
            <ns5:r>
              <ns5:t>Scheme: LAUNCH Weekly - Autumn!C182;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https://talktofrank.com/drug/alcohol; https://www.niaaa.nih.gov/publications/brochures-and-fact-sheets/harmful-interactions-mixing-alcohol-with-medicines; https://www.nhs.uk/conditions/poisoning/; https://www.childline.org.uk/info-advice/bullying-abuse-safety/getting-help/asking-adult-help/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PSHE-LAUNCH-A2-W04 · Monday 23–Friday 27 November 2026</ns0:t>
            </ns0:r>
          </ns0:p>
          <ns1:p xmlns:ns1="http://schemas.openxmlformats.org/drawingml/2006/main">
            <ns1:r>
              <ns1:t>Exit ticket: 2 minutes.</ns1:t>
            </ns1:r>
          </ns1:p>
          <ns2:p xmlns:ns2="http://schemas.openxmlformats.org/drawingml/2006/main">
            <ns2:r>
              <ns2:t>Teacher: Take a quiet exit response and note the next teaching need. Use the Staff Answers to assess the reason rather than just a letter.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LAUNCH-PSHE-W4-E1; An individual fact-to-risk explanation, a safer choice for a substance-related fictional case, and a refusal/help request with an appropriate support route.</ns4:t>
            </ns4:r>
          </ns4:p>
          <ns5:p xmlns:ns5="http://schemas.openxmlformats.org/drawingml/2006/main">
            <ns5:r>
              <ns5:t>Scheme: LAUNCH Weekly - Autumn!C182;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https://talktofrank.com/drug/alcohol; https://www.niaaa.nih.gov/publications/brochures-and-fact-sheets/harmful-interactions-mixing-alcohol-with-medicines; https://www.nhs.uk/conditions/poisoning/; https://www.childline.org.uk/info-advice/bullying-abuse-safety/getting-help/asking-adult-help/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PSHE-LAUNCH-A2-W04 · Monday 23–Friday 27 November 2026</ns0:t>
            </ns0:r>
          </ns0:p>
          <ns1:p xmlns:ns1="http://schemas.openxmlformats.org/drawingml/2006/main">
            <ns1:r>
              <ns1:t>Vocabulary: 0 minutes.</ns1:t>
            </ns1:r>
          </ns1:p>
          <ns2:p xmlns:ns2="http://schemas.openxmlformats.org/drawingml/2006/main">
            <ns2:r>
              <ns2:t>Teacher: Keep the Vocabulary Mat available. Link each word to a case or actual task. Allow a home-language first response.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LAUNCH-PSHE-W4-E1; An individual fact-to-risk explanation, a safer choice for a substance-related fictional case, and a refusal/help request with an appropriate support route.</ns4:t>
            </ns4:r>
          </ns4:p>
          <ns5:p xmlns:ns5="http://schemas.openxmlformats.org/drawingml/2006/main">
            <ns5:r>
              <ns5:t>Scheme: LAUNCH Weekly - Autumn!C182;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https://talktofrank.com/drug/alcohol; https://www.niaaa.nih.gov/publications/brochures-and-fact-sheets/harmful-interactions-mixing-alcohol-with-medicines; https://www.nhs.uk/conditions/poisoning/; https://www.childline.org.uk/info-advice/bullying-abuse-safety/getting-help/asking-adult-help/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PSHE-LAUNCH-A2-W04 · Monday 23–Friday 27 November 2026</ns0:t>
            </ns0:r>
          </ns0:p>
          <ns1:p xmlns:ns1="http://schemas.openxmlformats.org/drawingml/2006/main">
            <ns1:r>
              <ns1:t>Staff brief: 0 minutes.</ns1:t>
            </ns1:r>
          </ns1:p>
          <ns2:p xmlns:ns2="http://schemas.openxmlformats.org/drawingml/2006/main">
            <ns2:r>
              <ns2:t>Teacher: Hidden staff reference. Use third-person cases. Do not ask about pupil or family substance use, medication or diagnoses. No scare images, intoxication role-play, use instructions, doses, procurement or real drug handling. Do not change prescribed treatment. For a live suspected poisoning or emergency, stop the lesson routine and follow emergency procedures.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LAUNCH-PSHE-W4-E1; An individual fact-to-risk explanation, a safer choice for a substance-related fictional case, and a refusal/help request with an appropriate support route.</ns4:t>
            </ns4:r>
          </ns4:p>
          <ns5:p xmlns:ns5="http://schemas.openxmlformats.org/drawingml/2006/main">
            <ns5:r>
              <ns5:t>Scheme: LAUNCH Weekly - Autumn!C182;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https://talktofrank.com/drug/alcohol; https://www.niaaa.nih.gov/publications/brochures-and-fact-sheets/harmful-interactions-mixing-alcohol-with-medicines; https://www.nhs.uk/conditions/poisoning/; https://www.childline.org.uk/info-advice/bullying-abuse-safety/getting-help/asking-adult-help/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d2734f39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05ae6f99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726fc20d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e64f51856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cf5d6a97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bbc7b7d5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fc6a297904e7d" /><Relationship Type="http://schemas.openxmlformats.org/officeDocument/2006/relationships/slideLayout" Target="/ppt/slideLayouts/slideLayout1.xml" Id="R12242226f6ae4fb8" /><Relationship Type="http://schemas.openxmlformats.org/officeDocument/2006/relationships/slideLayout" Target="/ppt/slideLayouts/slideLayout2.xml" Id="R4c9041799c814233" /><Relationship Type="http://schemas.openxmlformats.org/officeDocument/2006/relationships/slideLayout" Target="/ppt/slideLayouts/slideLayout3.xml" Id="Rf92f518c139547f2" /><Relationship Type="http://schemas.openxmlformats.org/officeDocument/2006/relationships/slideLayout" Target="/ppt/slideLayouts/slideLayout4.xml" Id="R17b0f0872a6c4012" /><Relationship Type="http://schemas.openxmlformats.org/officeDocument/2006/relationships/slideLayout" Target="/ppt/slideLayouts/slideLayout5.xml" Id="R95089bedba364c20" /><Relationship Type="http://schemas.openxmlformats.org/officeDocument/2006/relationships/slideLayout" Target="/ppt/slideLayouts/slideLayout6.xml" Id="R5d9c146d3d6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42226f6ae4fb8"/>
    <p:sldLayoutId xmlns:r="http://schemas.openxmlformats.org/officeDocument/2006/relationships" id="2147483650" r:id="R4c9041799c814233"/>
    <p:sldLayoutId xmlns:r="http://schemas.openxmlformats.org/officeDocument/2006/relationships" id="2147483651" r:id="Rf92f518c139547f2"/>
    <p:sldLayoutId xmlns:r="http://schemas.openxmlformats.org/officeDocument/2006/relationships" id="2147483652" r:id="R17b0f0872a6c4012"/>
    <p:sldLayoutId xmlns:r="http://schemas.openxmlformats.org/officeDocument/2006/relationships" id="2147483653" r:id="R95089bedba364c20"/>
    <p:sldLayoutId xmlns:r="http://schemas.openxmlformats.org/officeDocument/2006/relationships" id="2147483654" r:id="R5d9c146d3d6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15d58e22544e7" /><Relationship Type="http://schemas.openxmlformats.org/officeDocument/2006/relationships/notesSlide" Target="/ppt/notesSlides/notesSlide1.xml" Id="Ra9f77fbe70c3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19643cce24813" /><Relationship Type="http://schemas.openxmlformats.org/officeDocument/2006/relationships/notesSlide" Target="/ppt/notesSlides/notesSlide2.xml" Id="Rda26f811207e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5255ebee4187" /><Relationship Type="http://schemas.openxmlformats.org/officeDocument/2006/relationships/image" Target="/ppt/media/image.jpeg" Id="R87ca9eec94ea4c42" /><Relationship Type="http://schemas.openxmlformats.org/officeDocument/2006/relationships/notesSlide" Target="/ppt/notesSlides/notesSlide3.xml" Id="Rd30cd001fdc3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6fcaae6fe4ecd" /><Relationship Type="http://schemas.openxmlformats.org/officeDocument/2006/relationships/notesSlide" Target="/ppt/notesSlides/notesSlide4.xml" Id="Rbbc722ce6ceb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6e66bd9414474" /><Relationship Type="http://schemas.openxmlformats.org/officeDocument/2006/relationships/notesSlide" Target="/ppt/notesSlides/notesSlide5.xml" Id="R535d1e722e44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3b74467bd414f" /><Relationship Type="http://schemas.openxmlformats.org/officeDocument/2006/relationships/notesSlide" Target="/ppt/notesSlides/notesSlide6.xml" Id="Ra090871d4851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7b38b06f34c92" /><Relationship Type="http://schemas.openxmlformats.org/officeDocument/2006/relationships/notesSlide" Target="/ppt/notesSlides/notesSlide7.xml" Id="R34b183ae9bcf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d5890359a4567" /><Relationship Type="http://schemas.openxmlformats.org/officeDocument/2006/relationships/notesSlide" Target="/ppt/notesSlides/notesSlide8.xml" Id="R941c20f52dc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5ed5fc584fd5" /><Relationship Type="http://schemas.openxmlformats.org/officeDocument/2006/relationships/notesSlide" Target="/ppt/notesSlides/notesSlide9.xml" Id="R5ad80cf219c8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6f0679454feb" /><Relationship Type="http://schemas.openxmlformats.org/officeDocument/2006/relationships/notesSlide" Target="/ppt/notesSlides/notesSlide10.xml" Id="Rce1092717fb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a86e9943249be" /><Relationship Type="http://schemas.openxmlformats.org/officeDocument/2006/relationships/notesSlide" Target="/ppt/notesSlides/notesSlide11.xml" Id="Raadf6de2a4cc4b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48de1450c45eb" /><Relationship Type="http://schemas.openxmlformats.org/officeDocument/2006/relationships/notesSlide" Target="/ppt/notesSlides/notesSlide12.xml" Id="R2030fa05042a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TITLE AND BIG QUESTION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 / 12</ns1:t>
            </ns1:r>
          </ns1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Drugs alcohol and healthy choices</ns5:t>
            </ns5:r>
          </ns5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buNone/>
              <ns6:def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rPr>
              <ns6:t>Week 4 · 23–27 November 2026 · 40 minutes</ns6:t>
            </ns6:r>
          </ns6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PSHE-LAUNCH-A2-W04</ns2:t>
            </ns2:r>
          </ns2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How can facts help us make safer choices?</ns7:t>
            </ns7:r>
          </ns7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We use made-up cases. You can pass.</ns8:t>
            </ns8:r>
          </ns8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Point, say, draw, write or show.</ns9:t>
            </ns9:r>
          </ns9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ARRIVAL AND REGULATION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2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Ready for a calm start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PSHE-LAUNCH-A2-W04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how you feel in private.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quiet seat or a short pause.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Keep your work space clear.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the adult if you need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the agreed help route.</ns10:t>
            </ns10:r>
          </ns10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We listen without judging each other.</ns11:t>
            </ns11:r>
          </ns11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STARTER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3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Look at the diagram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PSHE-LAUNCH-A2-W04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pic>
        <p:nvPicPr>
          <p:cNvPr id="18" name="" descr="An abstract fact-check diagram: unknown contents lead to pause and adult help; a medicine query leads to a pharmacist; an emergency leads to 999. No real substances or brands.">
            <a:extLst xmlns:a="http://schemas.openxmlformats.org/drawingml/2006/main">
              <a:ext uri="{FF2B5EF4-FFF2-40B4-BE49-F238E27FC236}">
                <a16:creationId xmlns:a16="http://schemas.microsoft.com/office/drawing/2014/main" id="{028D2357-EB6C-424E-A2E6-DBD8B5691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a9eec94ea4c4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pill has no label.</ns6:t>
            </ns6:r>
          </ns6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Can looks prove what it is?</ns7:t>
            </ns7:r>
          </ns7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Who can check a medicine?</ns8:t>
            </ns8:r>
          </ns8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Use a made-up case.</ns9:t>
            </ns9:r>
          </ns9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TODAY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4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Today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PSHE-LAUNCH-A2-W04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Drugs, alcohol &amp; healthy choices.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can explain a drug or alcohol risk.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use a fact to choose a safer action.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can practise a refusal and a help route.</ns9:t>
            </ns9:r>
          </ns9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I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5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Watch the model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PSHE-LAUNCH-A2-W04</ns2:t>
            </ns2:r>
          </ns2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drug can affect the body or brain.</ns6:t>
            </ns6:r>
          </ns6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Medicines can help when used as directed.</ns7:t>
            </ns7:r>
          </ns7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Alcohol can affect judgement and balance.</ns8:t>
            </ns8:r>
          </ns8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Mixing alcohol and other drugs can add harm.</ns9:t>
            </ns9:r>
          </ns9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An unknown pill cannot be checked by looks.</ns10:t>
            </ns10:r>
          </ns10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Pause. Ask a trusted adult or pharmacist.</ns11:t>
            </ns11:r>
          </ns11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rPr>
              <ns12:t>Use facts, avoid pressure and seek help early.</ns12:t>
            </ns12:r>
          </ns12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WE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6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Which step fits the facts?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PSHE-LAUNCH-A2-W04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friend offers Lee an unknown tablet.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 Take it because the friend says it is safe.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  Try a bit to find out what it is.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  Do not take it. Get trusted adult help.</ns9:t>
            </ns9:r>
          </ns9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PRACTICE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7 / 12  ·  12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Our practice tasks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PSHE-LAUNCH-A2-W04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Match each fact to a safer action.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Supported: work through cases A and B.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Independent: explain all six choices.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Aspire: challenge a claim using a fact.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Practise a refusal without acting out use.</ns10:t>
            </ns10:r>
          </ns10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EVIDENCE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8 / 12  ·  6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evidence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PSHE-LAUNCH-A2-W04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Keep one fact and the risk it explains.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case and a safer action.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Add a refusal or a clear help request.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Respond to feedback in your own colour.</ns9:t>
            </ns9:r>
          </ns9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TIDY AND EVIDENCE CHECK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9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Tidy and check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PSHE-LAUNCH-A2-W04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your name or ID and both pages.</ns6:t>
            </ns6:r>
          </ns6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Keep your work and record the help used.</ns7:t>
            </ns7:r>
          </ns7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Put resources away safely.</ns8:t>
            </ns8:r>
          </ns8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Tell the adult your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EXIT TICKET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10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Exit ticket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PSHE-LAUNCH-A2-W04</ns2:t>
            </ns2:r>
          </ns2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Why can’t looks prove a pill is safe?</ns6:t>
            </ns6:r>
          </ns6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Who can advise about a medicine?</ns7:t>
            </ns7:r>
          </ns7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What should happen if someone won’t wake?</ns8:t>
            </ns8:r>
          </ns8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VOCABULARY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11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Words that help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PSHE-LAUNCH-A2-W04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Drug: Can affect body or brain.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Medicine: Treats or prevents illness.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Alcohol: A drug in some drinks.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Risk: The chance of harm.</ns9:t>
            </ns9:r>
          </ns9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Pressure: Being pushed to act.</ns10:t>
            </ns10:r>
          </ns10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Refusal: Saying or showing no.</ns11:t>
            </ns11:r>
          </ns11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rPr>
              <ns12:t>Pharmacist: An expert on medicines.</ns12:t>
            </ns12:r>
          </ns12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STAFF BRIEF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12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Staff brief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PSHE-LAUNCH-A2-W04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Read the planner and local support route.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Use the task limits and right to pass.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TA: scribe exact words; record physical help.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each learner’s own evidence.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Lundy: Space, Voice, Audience, Influence.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[SYS]</ap:Application>
  <ap:PresentationFormat/>
  <ap:Slides>12</ap:Slides>
  <ap:Notes>12</ap:Notes>
  <ap:HiddenSlides>1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Drugs alcohol and healthy choices</dc:title>
  <dc:subject>PSHE-LAUNCH-A2-W04</dc:subject>
  <cp:lastModifiedBy/>
  <dc:description>PSHE, RSHE &amp; Citizenship Autumn 2 Week 4</dc:description>
  <cp:keywords/>
</cp:coreProperties>
</file>