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cd84540b0db64b64"/><Relationship Type="http://schemas.openxmlformats.org/officeDocument/2006/relationships/extended-properties" Target="/docProps/app.xml" Id="R1f2d96c58c55440c"/><Relationship Type="http://schemas.openxmlformats.org/officeDocument/2006/relationships/officeDocument" Target="/ppt/presentation.xml" Id="Re464253634f44380"/></Relationships>
</file>

<file path=ppt/presentation.xml><?xml version="1.0" encoding="utf-8"?>
<p:presentation xmlns:p="http://schemas.openxmlformats.org/presentationml/2006/main">
  <p:sldMasterIdLst>
    <p:sldMasterId xmlns:r="http://schemas.openxmlformats.org/officeDocument/2006/relationships" id="2147483648" r:id="R04aaa18b736b4bdf"/>
  </p:sldMasterIdLst>
  <p:notesMasterIdLst>
    <p:notesMasterId xmlns:r="http://schemas.openxmlformats.org/officeDocument/2006/relationships" r:id="R96d94d15dc974a5e"/>
  </p:notesMasterIdLst>
  <p:sldIdLst>
    <p:sldId xmlns:r="http://schemas.openxmlformats.org/officeDocument/2006/relationships" id="256" r:id="Rcde81a43be7f4cfc"/>
    <p:sldId xmlns:r="http://schemas.openxmlformats.org/officeDocument/2006/relationships" id="257" r:id="Rb591ceb67cfe4dfa"/>
    <p:sldId xmlns:r="http://schemas.openxmlformats.org/officeDocument/2006/relationships" id="258" r:id="Red634db161304007"/>
    <p:sldId xmlns:r="http://schemas.openxmlformats.org/officeDocument/2006/relationships" id="259" r:id="R744bcab443ee4f0a"/>
    <p:sldId xmlns:r="http://schemas.openxmlformats.org/officeDocument/2006/relationships" id="260" r:id="R17730be55cce4d1b"/>
    <p:sldId xmlns:r="http://schemas.openxmlformats.org/officeDocument/2006/relationships" id="261" r:id="Rd958332fc9254de4"/>
    <p:sldId xmlns:r="http://schemas.openxmlformats.org/officeDocument/2006/relationships" id="262" r:id="Ra4f0238fed2e4cfb"/>
    <p:sldId xmlns:r="http://schemas.openxmlformats.org/officeDocument/2006/relationships" id="263" r:id="R14e01cba9d774edd"/>
    <p:sldId xmlns:r="http://schemas.openxmlformats.org/officeDocument/2006/relationships" id="264" r:id="Raa862df73e584e4f"/>
    <p:sldId xmlns:r="http://schemas.openxmlformats.org/officeDocument/2006/relationships" id="265" r:id="R182d2d16699f4c93"/>
    <p:sldId xmlns:r="http://schemas.openxmlformats.org/officeDocument/2006/relationships" id="266" r:id="R2d67950fd6c940a8"/>
    <p:sldId xmlns:r="http://schemas.openxmlformats.org/officeDocument/2006/relationships" id="267" r:id="R3e87ee2e624c4c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de9f492bc644b8" /><Relationship Type="http://schemas.openxmlformats.org/officeDocument/2006/relationships/slideMaster" Target="/ppt/slideMasters/slideMaster1.xml" Id="R04aaa18b736b4bdf" /><Relationship Type="http://schemas.openxmlformats.org/officeDocument/2006/relationships/notesMaster" Target="/ppt/notesMasters/notesMaster1.xml" Id="R96d94d15dc974a5e" /><Relationship Type="http://schemas.openxmlformats.org/officeDocument/2006/relationships/presProps" Target="/ppt/presProps.xml" Id="R1eb803d0e5634d51" /><Relationship Type="http://schemas.openxmlformats.org/officeDocument/2006/relationships/tableStyles" Target="/ppt/tableStyles.xml" Id="R046ca296d2e6404a" /><Relationship Type="http://schemas.openxmlformats.org/officeDocument/2006/relationships/slide" Target="/ppt/slides/slide1.xml" Id="Rcde81a43be7f4cfc" /><Relationship Type="http://schemas.openxmlformats.org/officeDocument/2006/relationships/slide" Target="/ppt/slides/slide2.xml" Id="Rb591ceb67cfe4dfa" /><Relationship Type="http://schemas.openxmlformats.org/officeDocument/2006/relationships/slide" Target="/ppt/slides/slide3.xml" Id="Red634db161304007" /><Relationship Type="http://schemas.openxmlformats.org/officeDocument/2006/relationships/slide" Target="/ppt/slides/slide4.xml" Id="R744bcab443ee4f0a" /><Relationship Type="http://schemas.openxmlformats.org/officeDocument/2006/relationships/slide" Target="/ppt/slides/slide5.xml" Id="R17730be55cce4d1b" /><Relationship Type="http://schemas.openxmlformats.org/officeDocument/2006/relationships/slide" Target="/ppt/slides/slide6.xml" Id="Rd958332fc9254de4" /><Relationship Type="http://schemas.openxmlformats.org/officeDocument/2006/relationships/slide" Target="/ppt/slides/slide7.xml" Id="Ra4f0238fed2e4cfb" /><Relationship Type="http://schemas.openxmlformats.org/officeDocument/2006/relationships/slide" Target="/ppt/slides/slide8.xml" Id="R14e01cba9d774edd" /><Relationship Type="http://schemas.openxmlformats.org/officeDocument/2006/relationships/slide" Target="/ppt/slides/slide9.xml" Id="Raa862df73e584e4f" /><Relationship Type="http://schemas.openxmlformats.org/officeDocument/2006/relationships/slide" Target="/ppt/slides/slide10.xml" Id="R182d2d16699f4c93" /><Relationship Type="http://schemas.openxmlformats.org/officeDocument/2006/relationships/slide" Target="/ppt/slides/slide11.xml" Id="R2d67950fd6c940a8" /><Relationship Type="http://schemas.openxmlformats.org/officeDocument/2006/relationships/slide" Target="/ppt/slides/slide12.xml" Id="R3e87ee2e624c4c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91b5938c134a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b28eab85e384bc2" /><Relationship Type="http://schemas.openxmlformats.org/officeDocument/2006/relationships/notesMaster" Target="/ppt/notesMasters/notesMaster1.xml" Id="R6519dbe39c884c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077e838a5c4944" /><Relationship Type="http://schemas.openxmlformats.org/officeDocument/2006/relationships/notesMaster" Target="/ppt/notesMasters/notesMaster1.xml" Id="R52c26794846f4f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f676e893194b3c" /><Relationship Type="http://schemas.openxmlformats.org/officeDocument/2006/relationships/notesMaster" Target="/ppt/notesMasters/notesMaster1.xml" Id="R6884c9b9985740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d560b550134841" /><Relationship Type="http://schemas.openxmlformats.org/officeDocument/2006/relationships/notesMaster" Target="/ppt/notesMasters/notesMaster1.xml" Id="R097e1584cc6346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e3e15a17c646e7" /><Relationship Type="http://schemas.openxmlformats.org/officeDocument/2006/relationships/notesMaster" Target="/ppt/notesMasters/notesMaster1.xml" Id="Rab609d8c57ba4bc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4f5752b038c48f6" /><Relationship Type="http://schemas.openxmlformats.org/officeDocument/2006/relationships/notesMaster" Target="/ppt/notesMasters/notesMaster1.xml" Id="Rf64862cd19b04df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b6bde8c8f5341ce" /><Relationship Type="http://schemas.openxmlformats.org/officeDocument/2006/relationships/notesMaster" Target="/ppt/notesMasters/notesMaster1.xml" Id="R2ea49e5f1e0a4ab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c9c359fd184d05" /><Relationship Type="http://schemas.openxmlformats.org/officeDocument/2006/relationships/notesMaster" Target="/ppt/notesMasters/notesMaster1.xml" Id="R91cd519756d84e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bc2881931df42c5" /><Relationship Type="http://schemas.openxmlformats.org/officeDocument/2006/relationships/notesMaster" Target="/ppt/notesMasters/notesMaster1.xml" Id="R7bb907761a5942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a83bf25a424bc5" /><Relationship Type="http://schemas.openxmlformats.org/officeDocument/2006/relationships/notesMaster" Target="/ppt/notesMasters/notesMaster1.xml" Id="R9535c48bda2f418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023137aec23409a" /><Relationship Type="http://schemas.openxmlformats.org/officeDocument/2006/relationships/notesMaster" Target="/ppt/notesMasters/notesMaster1.xml" Id="R60b2a3f282fa4e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59abdd08cc745e5" /><Relationship Type="http://schemas.openxmlformats.org/officeDocument/2006/relationships/notesMaster" Target="/ppt/notesMasters/notesMaster1.xml" Id="Rf09ce24b8e9746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DT-LAUNCH-A2-W02 · Monday 9–Friday 13 November 2026</ns0:t>
            </ns0:r>
          </ns0:p>
          <ns1:p xmlns:ns1="http://schemas.openxmlformats.org/drawingml/2006/main">
            <ns1:r>
              <ns1:t>Title and big question: 0 minutes.</ns1:t>
            </ns1:r>
          </ns1:p>
          <ns2:p xmlns:ns2="http://schemas.openxmlformats.org/drawingml/2006/main">
            <ns2:r>
              <ns2:t>Teacher: Open the question. Enter the actual date in the planner; the slide gives the authorised week range. One D&amp;T period per week.</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LAUNCH-DT-W2-E1; Individual labelled plan plus an actual flat card blank marked at 2 cm and 6 cm from one long edge, with checked measurements, support and feedback response.</ns4:t>
            </ns4:r>
          </ns4:p>
          <ns5:p xmlns:ns5="http://schemas.openxmlformats.org/drawingml/2006/main">
            <ns5:r>
              <ns5:t>Scheme: LAUNCH Weekly - Autumn!C237; LAUNCH - Autumn!D33, I33, J33; revision 9ed44bdf.</ns5:t>
            </ns5:r>
          </ns5:p>
          <ns6:p xmlns:ns6="http://schemas.openxmlformats.org/drawingml/2006/main">
            <ns6:r>
              <ns6:t>Unit: Construction &amp; making: safe structures</ns6:t>
            </ns6:r>
          </ns6:p>
          <ns7:p xmlns:ns7="http://schemas.openxmlformats.org/drawingml/2006/main">
            <ns7:r>
              <ns7:t>Accreditation: [AWARD] [QUAL] (Level 1/2); [AWARD] [QUAL] '[QUAL]', '[QUAL]'.</ns7:t>
            </ns7:r>
          </ns7:p>
          <ns8:p xmlns:ns8="http://schemas.openxmlformats.org/drawingml/2006/main">
            <ns8:r>
              <ns8:t>Assessment: F: safe-working observation.  S: constructed product + evaluation (data drop).</ns8:t>
            </ns8:r>
          </ns8:p>
          <ns9:p xmlns:ns9="http://schemas.openxmlformats.org/drawingml/2006/main">
            <ns9:r>
              <ns9:t>Sources: https://www.hse.gov.uk/risk/classroom-checklist.htm; https://www.sciencebuddies.org/stem-activities/build-best-bridge</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DT-LAUNCH-A2-W02 · Monday 9–Friday 13 November 2026</ns0:t>
            </ns0:r>
          </ns0:p>
          <ns1:p xmlns:ns1="http://schemas.openxmlformats.org/drawingml/2006/main">
            <ns1:r>
              <ns1:t>Arrival and regulation: 4 minutes.</ns1:t>
            </ns1:r>
          </ns1:p>
          <ns2:p xmlns:ns2="http://schemas.openxmlformats.org/drawingml/2006/main">
            <ns2:r>
              <ns2:t>Teacher: Use a private check-in and quiet start. Explain help and pause routes. Check the work surface and pupil access needs.</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LAUNCH-DT-W2-E1; Individual labelled plan plus an actual flat card blank marked at 2 cm and 6 cm from one long edge, with checked measurements, support and feedback response.</ns4:t>
            </ns4:r>
          </ns4:p>
          <ns5:p xmlns:ns5="http://schemas.openxmlformats.org/drawingml/2006/main">
            <ns5:r>
              <ns5:t>Scheme: LAUNCH Weekly - Autumn!C237; LAUNCH - Autumn!D33, I33, J33; revision 9ed44bdf.</ns5:t>
            </ns5:r>
          </ns5:p>
          <ns6:p xmlns:ns6="http://schemas.openxmlformats.org/drawingml/2006/main">
            <ns6:r>
              <ns6:t>Unit: Construction &amp; making: safe structures</ns6:t>
            </ns6:r>
          </ns6:p>
          <ns7:p xmlns:ns7="http://schemas.openxmlformats.org/drawingml/2006/main">
            <ns7:r>
              <ns7:t>Accreditation: [AWARD] [QUAL] (Level 1/2); [AWARD] [QUAL] '[QUAL]', '[QUAL]'.</ns7:t>
            </ns7:r>
          </ns7:p>
          <ns8:p xmlns:ns8="http://schemas.openxmlformats.org/drawingml/2006/main">
            <ns8:r>
              <ns8:t>Assessment: F: safe-working observation.  S: constructed product + evaluation (data drop).</ns8:t>
            </ns8:r>
          </ns8:p>
          <ns9:p xmlns:ns9="http://schemas.openxmlformats.org/drawingml/2006/main">
            <ns9:r>
              <ns9:t>Sources: https://www.hse.gov.uk/risk/classroom-checklist.htm; https://www.sciencebuddies.org/stem-activities/build-best-bridge</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DT-LAUNCH-A2-W02 · Monday 9–Friday 13 November 2026</ns0:t>
            </ns0:r>
          </ns0:p>
          <ns1:p xmlns:ns1="http://schemas.openxmlformats.org/drawingml/2006/main">
            <ns1:r>
              <ns1:t>Starter: 2 minutes.</ns1:t>
            </ns1:r>
          </ns1:p>
          <ns2:p xmlns:ns2="http://schemas.openxmlformats.org/drawingml/2006/main">
            <ns2:r>
              <ns2:t>Teacher: Read the diagram labels aloud and show real materials or a flat blank. Accept a pointed clue or quiet answer. Diagrams are not measuring templates.</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LAUNCH-DT-W2-E1; Individual labelled plan plus an actual flat card blank marked at 2 cm and 6 cm from one long edge, with checked measurements, support and feedback response.</ns4:t>
            </ns4:r>
          </ns4:p>
          <ns5:p xmlns:ns5="http://schemas.openxmlformats.org/drawingml/2006/main">
            <ns5:r>
              <ns5:t>Scheme: LAUNCH Weekly - Autumn!C237; LAUNCH - Autumn!D33, I33, J33; revision 9ed44bdf.</ns5:t>
            </ns5:r>
          </ns5:p>
          <ns6:p xmlns:ns6="http://schemas.openxmlformats.org/drawingml/2006/main">
            <ns6:r>
              <ns6:t>Unit: Construction &amp; making: safe structures</ns6:t>
            </ns6:r>
          </ns6:p>
          <ns7:p xmlns:ns7="http://schemas.openxmlformats.org/drawingml/2006/main">
            <ns7:r>
              <ns7:t>Accreditation: [AWARD] [QUAL] (Level 1/2); [AWARD] [QUAL] '[QUAL]', '[QUAL]'.</ns7:t>
            </ns7:r>
          </ns7:p>
          <ns8:p xmlns:ns8="http://schemas.openxmlformats.org/drawingml/2006/main">
            <ns8:r>
              <ns8:t>Assessment: F: safe-working observation.  S: constructed product + evaluation (data drop).</ns8:t>
            </ns8:r>
          </ns8:p>
          <ns9:p xmlns:ns9="http://schemas.openxmlformats.org/drawingml/2006/main">
            <ns9:r>
              <ns9:t>Sources: https://www.hse.gov.uk/risk/classroom-checklist.htm; https://www.sciencebuddies.org/stem-activities/build-best-bridge</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DT-LAUNCH-A2-W02 · Monday 9–Friday 13 November 2026</ns0:t>
            </ns0:r>
          </ns0:p>
          <ns1:p xmlns:ns1="http://schemas.openxmlformats.org/drawingml/2006/main">
            <ns1:r>
              <ns1:t>Today: 0 minutes.</ns1:t>
            </ns1:r>
          </ns1:p>
          <ns2:p xmlns:ns2="http://schemas.openxmlformats.org/drawingml/2006/main">
            <ns2:r>
              <ns2:t>Teacher: Read the scheme objective exactly. Explain the success checks. This is formative work, not award completion.</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LAUNCH-DT-W2-E1; Individual labelled plan plus an actual flat card blank marked at 2 cm and 6 cm from one long edge, with checked measurements, support and feedback response.</ns4:t>
            </ns4:r>
          </ns4:p>
          <ns5:p xmlns:ns5="http://schemas.openxmlformats.org/drawingml/2006/main">
            <ns5:r>
              <ns5:t>Scheme: LAUNCH Weekly - Autumn!C237; LAUNCH - Autumn!D33, I33, J33; revision 9ed44bdf.</ns5:t>
            </ns5:r>
          </ns5:p>
          <ns6:p xmlns:ns6="http://schemas.openxmlformats.org/drawingml/2006/main">
            <ns6:r>
              <ns6:t>Unit: Construction &amp; making: safe structures</ns6:t>
            </ns6:r>
          </ns6:p>
          <ns7:p xmlns:ns7="http://schemas.openxmlformats.org/drawingml/2006/main">
            <ns7:r>
              <ns7:t>Accreditation: [AWARD] [QUAL] (Level 1/2); [AWARD] [QUAL] '[QUAL]', '[QUAL]'.</ns7:t>
            </ns7:r>
          </ns7:p>
          <ns8:p xmlns:ns8="http://schemas.openxmlformats.org/drawingml/2006/main">
            <ns8:r>
              <ns8:t>Assessment: F: safe-working observation.  S: constructed product + evaluation (data drop).</ns8:t>
            </ns8:r>
          </ns8:p>
          <ns9:p xmlns:ns9="http://schemas.openxmlformats.org/drawingml/2006/main">
            <ns9:r>
              <ns9:t>Sources: https://www.hse.gov.uk/risk/classroom-checklist.htm; https://www.sciencebuddies.org/stem-activities/build-best-bridge</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DT-LAUNCH-A2-W02 · Monday 9–Friday 13 November 2026</ns0:t>
            </ns0:r>
          </ns0:p>
          <ns1:p xmlns:ns1="http://schemas.openxmlformats.org/drawingml/2006/main">
            <ns1:r>
              <ns1:t>I Do: 5 minutes.</ns1:t>
            </ns1:r>
          </ns1:p>
          <ns2:p xmlns:ns2="http://schemas.openxmlformats.org/drawingml/2006/main">
            <ns2:r>
              <ns2:t>Teacher: Show the 20 by 8 cm flat blank and the plan. Star one long edge. Lay a ruler across a short end with zero at that edge. Mark 2 cm and 6 cm. Repeat at the other end using the same long edge. Join matching marks with dashed lines. Check the two distances at both ends; leave the card flat.</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LAUNCH-DT-W2-E1; Individual labelled plan plus an actual flat card blank marked at 2 cm and 6 cm from one long edge, with checked measurements, support and feedback response.</ns4:t>
            </ns4:r>
          </ns4:p>
          <ns5:p xmlns:ns5="http://schemas.openxmlformats.org/drawingml/2006/main">
            <ns5:r>
              <ns5:t>Scheme: LAUNCH Weekly - Autumn!C237; LAUNCH - Autumn!D33, I33, J33; revision 9ed44bdf.</ns5:t>
            </ns5:r>
          </ns5:p>
          <ns6:p xmlns:ns6="http://schemas.openxmlformats.org/drawingml/2006/main">
            <ns6:r>
              <ns6:t>Unit: Construction &amp; making: safe structures</ns6:t>
            </ns6:r>
          </ns6:p>
          <ns7:p xmlns:ns7="http://schemas.openxmlformats.org/drawingml/2006/main">
            <ns7:r>
              <ns7:t>Accreditation: [AWARD] [QUAL] (Level 1/2); [AWARD] [QUAL] '[QUAL]', '[QUAL]'.</ns7:t>
            </ns7:r>
          </ns7:p>
          <ns8:p xmlns:ns8="http://schemas.openxmlformats.org/drawingml/2006/main">
            <ns8:r>
              <ns8:t>Assessment: F: safe-working observation.  S: constructed product + evaluation (data drop).</ns8:t>
            </ns8:r>
          </ns8:p>
          <ns9:p xmlns:ns9="http://schemas.openxmlformats.org/drawingml/2006/main">
            <ns9:r>
              <ns9:t>Sources: https://www.hse.gov.uk/risk/classroom-checklist.htm; https://www.sciencebuddies.org/stem-activities/build-best-bridge</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DT-LAUNCH-A2-W02 · Monday 9–Friday 13 November 2026</ns0:t>
            </ns0:r>
          </ns0:p>
          <ns1:p xmlns:ns1="http://schemas.openxmlformats.org/drawingml/2006/main">
            <ns1:r>
              <ns1:t>We Do: 5 minutes.</ns1:t>
            </ns1:r>
          </ns1:p>
          <ns2:p xmlns:ns2="http://schemas.openxmlformats.org/drawingml/2006/main">
            <ns2:r>
              <ns2:t>Teacher: Read A/B/C aloud and ask for a letter plus a reason. C. Align the zero mark, not the ruler end or the 1 cm mark, with the chosen long edge. At each short end mark 2 cm and 6 cm from that same edge. Re-model on scrap card if needed, then let the learner make a fresh mark. Ask why A would give the wrong distance.</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LAUNCH-DT-W2-E1; Individual labelled plan plus an actual flat card blank marked at 2 cm and 6 cm from one long edge, with checked measurements, support and feedback response.</ns4:t>
            </ns4:r>
          </ns4:p>
          <ns5:p xmlns:ns5="http://schemas.openxmlformats.org/drawingml/2006/main">
            <ns5:r>
              <ns5:t>Scheme: LAUNCH Weekly - Autumn!C237; LAUNCH - Autumn!D33, I33, J33; revision 9ed44bdf.</ns5:t>
            </ns5:r>
          </ns5:p>
          <ns6:p xmlns:ns6="http://schemas.openxmlformats.org/drawingml/2006/main">
            <ns6:r>
              <ns6:t>Unit: Construction &amp; making: safe structures</ns6:t>
            </ns6:r>
          </ns6:p>
          <ns7:p xmlns:ns7="http://schemas.openxmlformats.org/drawingml/2006/main">
            <ns7:r>
              <ns7:t>Accreditation: [AWARD] [QUAL] (Level 1/2); [AWARD] [QUAL] '[QUAL]', '[QUAL]'.</ns7:t>
            </ns7:r>
          </ns7:p>
          <ns8:p xmlns:ns8="http://schemas.openxmlformats.org/drawingml/2006/main">
            <ns8:r>
              <ns8:t>Assessment: F: safe-working observation.  S: constructed product + evaluation (data drop).</ns8:t>
            </ns8:r>
          </ns8:p>
          <ns9:p xmlns:ns9="http://schemas.openxmlformats.org/drawingml/2006/main">
            <ns9:r>
              <ns9:t>Sources: https://www.hse.gov.uk/risk/classroom-checklist.htm; https://www.sciencebuddies.org/stem-activities/build-best-bridge</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DT-LAUNCH-A2-W02 · Monday 9–Friday 13 November 2026</ns0:t>
            </ns0:r>
          </ns0:p>
          <ns1:p xmlns:ns1="http://schemas.openxmlformats.org/drawingml/2006/main">
            <ns1:r>
              <ns1:t>You Do practice: 12 minutes.</ns1:t>
            </ns1:r>
          </ns1:p>
          <ns2:p xmlns:ns2="http://schemas.openxmlformats.org/drawingml/2006/main">
            <ns2:r>
              <ns2:t>Teacher: Use slide 3 for the full plan and Support Cards page 3 for the marking guide. Pupils draw and label their own plan, then mark an actual staff-cut blank following A–F. Start page 1 evidence during practice. Watch zero alignment, the same start edge and matching points. Adults may steady a ruler but record assistance.</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LAUNCH-DT-W2-E1; Individual labelled plan plus an actual flat card blank marked at 2 cm and 6 cm from one long edge, with checked measurements, support and feedback response.</ns4:t>
            </ns4:r>
          </ns4:p>
          <ns5:p xmlns:ns5="http://schemas.openxmlformats.org/drawingml/2006/main">
            <ns5:r>
              <ns5:t>Scheme: LAUNCH Weekly - Autumn!C237; LAUNCH - Autumn!D33, I33, J33; revision 9ed44bdf.</ns5:t>
            </ns5:r>
          </ns5:p>
          <ns6:p xmlns:ns6="http://schemas.openxmlformats.org/drawingml/2006/main">
            <ns6:r>
              <ns6:t>Unit: Construction &amp; making: safe structures</ns6:t>
            </ns6:r>
          </ns6:p>
          <ns7:p xmlns:ns7="http://schemas.openxmlformats.org/drawingml/2006/main">
            <ns7:r>
              <ns7:t>Accreditation: [AWARD] [QUAL] (Level 1/2); [AWARD] [QUAL] '[QUAL]', '[QUAL]'.</ns7:t>
            </ns7:r>
          </ns7:p>
          <ns8:p xmlns:ns8="http://schemas.openxmlformats.org/drawingml/2006/main">
            <ns8:r>
              <ns8:t>Assessment: F: safe-working observation.  S: constructed product + evaluation (data drop).</ns8:t>
            </ns8:r>
          </ns8:p>
          <ns9:p xmlns:ns9="http://schemas.openxmlformats.org/drawingml/2006/main">
            <ns9:r>
              <ns9:t>Sources: https://www.hse.gov.uk/risk/classroom-checklist.htm; https://www.sciencebuddies.org/stem-activities/build-best-bridge</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DT-LAUNCH-A2-W02 · Monday 9–Friday 13 November 2026</ns0:t>
            </ns0:r>
          </ns0:p>
          <ns1:p xmlns:ns1="http://schemas.openxmlformats.org/drawingml/2006/main">
            <ns1:r>
              <ns1:t>You Do evidence: 6 minutes.</ns1:t>
            </ns1:r>
          </ns1:p>
          <ns2:p xmlns:ns2="http://schemas.openxmlformats.org/drawingml/2006/main">
            <ns2:r>
              <ns2:t>Teacher: Use both Evidence Sheet pages. Plan: 20 cm length, 8 cm width, card material, two parallel fold lines 2 cm and 6 cm from the same long edge. Mark all four points on the actual card and join matching pairs. Distances between lines: 4 cm; side panels: 2 cm each. Check at both short ends against the ruler scale. Future centred 10 cm span leaves (20 − 10) ÷ 2 = 5 cm overlap at each end. Record measured values and support; a drawing alone does not evidence marking out. Scribe without supplying the reason. Keep the actual work reference.</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LAUNCH-DT-W2-E1; Individual labelled plan plus an actual flat card blank marked at 2 cm and 6 cm from one long edge, with checked measurements, support and feedback response.</ns4:t>
            </ns4:r>
          </ns4:p>
          <ns5:p xmlns:ns5="http://schemas.openxmlformats.org/drawingml/2006/main">
            <ns5:r>
              <ns5:t>Scheme: LAUNCH Weekly - Autumn!C237; LAUNCH - Autumn!D33, I33, J33; revision 9ed44bdf.</ns5:t>
            </ns5:r>
          </ns5:p>
          <ns6:p xmlns:ns6="http://schemas.openxmlformats.org/drawingml/2006/main">
            <ns6:r>
              <ns6:t>Unit: Construction &amp; making: safe structures</ns6:t>
            </ns6:r>
          </ns6:p>
          <ns7:p xmlns:ns7="http://schemas.openxmlformats.org/drawingml/2006/main">
            <ns7:r>
              <ns7:t>Accreditation: [AWARD] [QUAL] (Level 1/2); [AWARD] [QUAL] '[QUAL]', '[QUAL]'.</ns7:t>
            </ns7:r>
          </ns7:p>
          <ns8:p xmlns:ns8="http://schemas.openxmlformats.org/drawingml/2006/main">
            <ns8:r>
              <ns8:t>Assessment: F: safe-working observation.  S: constructed product + evaluation (data drop).</ns8:t>
            </ns8:r>
          </ns8:p>
          <ns9:p xmlns:ns9="http://schemas.openxmlformats.org/drawingml/2006/main">
            <ns9:r>
              <ns9:t>Sources: https://www.hse.gov.uk/risk/classroom-checklist.htm; https://www.sciencebuddies.org/stem-activities/build-best-bridge</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DT-LAUNCH-A2-W02 · Monday 9–Friday 13 November 2026</ns0:t>
            </ns0:r>
          </ns0:p>
          <ns1:p xmlns:ns1="http://schemas.openxmlformats.org/drawingml/2006/main">
            <ns1:r>
              <ns1:t>Tidy and evidence check: 4 minutes.</ns1:t>
            </ns1:r>
          </ns1:p>
          <ns2:p xmlns:ns2="http://schemas.openxmlformats.org/drawingml/2006/main">
            <ns2:r>
              <ns2:t>Teacher: Check ownership and actual assistance. Use VF, WS, I, NS+ (Yellow Box), //, ?, R and E appropriately. R needs Voice, Audience, NS+ and the pupil response in their own colour. E requires actual banking. Store materials safely.</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LAUNCH-DT-W2-E1; Individual labelled plan plus an actual flat card blank marked at 2 cm and 6 cm from one long edge, with checked measurements, support and feedback response.</ns4:t>
            </ns4:r>
          </ns4:p>
          <ns5:p xmlns:ns5="http://schemas.openxmlformats.org/drawingml/2006/main">
            <ns5:r>
              <ns5:t>Scheme: LAUNCH Weekly - Autumn!C237; LAUNCH - Autumn!D33, I33, J33; revision 9ed44bdf.</ns5:t>
            </ns5:r>
          </ns5:p>
          <ns6:p xmlns:ns6="http://schemas.openxmlformats.org/drawingml/2006/main">
            <ns6:r>
              <ns6:t>Unit: Construction &amp; making: safe structures</ns6:t>
            </ns6:r>
          </ns6:p>
          <ns7:p xmlns:ns7="http://schemas.openxmlformats.org/drawingml/2006/main">
            <ns7:r>
              <ns7:t>Accreditation: [AWARD] [QUAL] (Level 1/2); [AWARD] [QUAL] '[QUAL]', '[QUAL]'.</ns7:t>
            </ns7:r>
          </ns7:p>
          <ns8:p xmlns:ns8="http://schemas.openxmlformats.org/drawingml/2006/main">
            <ns8:r>
              <ns8:t>Assessment: F: safe-working observation.  S: constructed product + evaluation (data drop).</ns8:t>
            </ns8:r>
          </ns8:p>
          <ns9:p xmlns:ns9="http://schemas.openxmlformats.org/drawingml/2006/main">
            <ns9:r>
              <ns9:t>Sources: https://www.hse.gov.uk/risk/classroom-checklist.htm; https://www.sciencebuddies.org/stem-activities/build-best-bridge</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DT-LAUNCH-A2-W02 · Monday 9–Friday 13 November 2026</ns0:t>
            </ns0:r>
          </ns0:p>
          <ns1:p xmlns:ns1="http://schemas.openxmlformats.org/drawingml/2006/main">
            <ns1:r>
              <ns1:t>Exit ticket: 2 minutes.</ns1:t>
            </ns1:r>
          </ns1:p>
          <ns2:p xmlns:ns2="http://schemas.openxmlformats.org/drawingml/2006/main">
            <ns2:r>
              <ns2:t>Teacher: Take a quiet exit response. Zero meets the same starred long edge. Lines are 2 cm and 6 cm from it, checked at both short ends. Keep card flat. Note the next teaching need.</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LAUNCH-DT-W2-E1; Individual labelled plan plus an actual flat card blank marked at 2 cm and 6 cm from one long edge, with checked measurements, support and feedback response.</ns4:t>
            </ns4:r>
          </ns4:p>
          <ns5:p xmlns:ns5="http://schemas.openxmlformats.org/drawingml/2006/main">
            <ns5:r>
              <ns5:t>Scheme: LAUNCH Weekly - Autumn!C237; LAUNCH - Autumn!D33, I33, J33; revision 9ed44bdf.</ns5:t>
            </ns5:r>
          </ns5:p>
          <ns6:p xmlns:ns6="http://schemas.openxmlformats.org/drawingml/2006/main">
            <ns6:r>
              <ns6:t>Unit: Construction &amp; making: safe structures</ns6:t>
            </ns6:r>
          </ns6:p>
          <ns7:p xmlns:ns7="http://schemas.openxmlformats.org/drawingml/2006/main">
            <ns7:r>
              <ns7:t>Accreditation: [AWARD] [QUAL] (Level 1/2); [AWARD] [QUAL] '[QUAL]', '[QUAL]'.</ns7:t>
            </ns7:r>
          </ns7:p>
          <ns8:p xmlns:ns8="http://schemas.openxmlformats.org/drawingml/2006/main">
            <ns8:r>
              <ns8:t>Assessment: F: safe-working observation.  S: constructed product + evaluation (data drop).</ns8:t>
            </ns8:r>
          </ns8:p>
          <ns9:p xmlns:ns9="http://schemas.openxmlformats.org/drawingml/2006/main">
            <ns9:r>
              <ns9:t>Sources: https://www.hse.gov.uk/risk/classroom-checklist.htm; https://www.sciencebuddies.org/stem-activities/build-best-bridge</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DT-LAUNCH-A2-W02 · Monday 9–Friday 13 November 2026</ns0:t>
            </ns0:r>
          </ns0:p>
          <ns1:p xmlns:ns1="http://schemas.openxmlformats.org/drawingml/2006/main">
            <ns1:r>
              <ns1:t>Vocabulary: 0 minutes.</ns1:t>
            </ns1:r>
          </ns1:p>
          <ns2:p xmlns:ns2="http://schemas.openxmlformats.org/drawingml/2006/main">
            <ns2:r>
              <ns2:t>Teacher: Keep the Vocabulary Mat visible. Connect words to actual tools, materials and marks. Allow a home-language first response.</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LAUNCH-DT-W2-E1; Individual labelled plan plus an actual flat card blank marked at 2 cm and 6 cm from one long edge, with checked measurements, support and feedback response.</ns4:t>
            </ns4:r>
          </ns4:p>
          <ns5:p xmlns:ns5="http://schemas.openxmlformats.org/drawingml/2006/main">
            <ns5:r>
              <ns5:t>Scheme: LAUNCH Weekly - Autumn!C237; LAUNCH - Autumn!D33, I33, J33; revision 9ed44bdf.</ns5:t>
            </ns5:r>
          </ns5:p>
          <ns6:p xmlns:ns6="http://schemas.openxmlformats.org/drawingml/2006/main">
            <ns6:r>
              <ns6:t>Unit: Construction &amp; making: safe structures</ns6:t>
            </ns6:r>
          </ns6:p>
          <ns7:p xmlns:ns7="http://schemas.openxmlformats.org/drawingml/2006/main">
            <ns7:r>
              <ns7:t>Accreditation: [AWARD] [QUAL] (Level 1/2); [AWARD] [QUAL] '[QUAL]', '[QUAL]'.</ns7:t>
            </ns7:r>
          </ns7:p>
          <ns8:p xmlns:ns8="http://schemas.openxmlformats.org/drawingml/2006/main">
            <ns8:r>
              <ns8:t>Assessment: F: safe-working observation.  S: constructed product + evaluation (data drop).</ns8:t>
            </ns8:r>
          </ns8:p>
          <ns9:p xmlns:ns9="http://schemas.openxmlformats.org/drawingml/2006/main">
            <ns9:r>
              <ns9:t>Sources: https://www.hse.gov.uk/risk/classroom-checklist.htm; https://www.sciencebuddies.org/stem-activities/build-best-bridge</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DT-LAUNCH-A2-W02 · Monday 9–Friday 13 November 2026</ns0:t>
            </ns0:r>
          </ns0:p>
          <ns1:p xmlns:ns1="http://schemas.openxmlformats.org/drawingml/2006/main">
            <ns1:r>
              <ns1:t>Staff brief: 0 minutes.</ns1:t>
            </ns1:r>
          </ns1:p>
          <ns2:p xmlns:ns2="http://schemas.openxmlformats.org/drawingml/2006/main">
            <ns2:r>
              <ns2:t>Teacher: Hidden adult reference. Use the planner, Staff Answers and local risk controls. Staff check the task and room risk assessment and individual access needs. Staff pre-cut clean, staple-free 20 by 8 cm card blanks before the lesson. Learners use only rulers, pencils and erasers to plan and mark. No pupil cutting, folding, assembly, load test, blades, hot glue or powered tools. Store marked blanks flat for Week 3.</ns2:t>
            </ns2:r>
          </ns2:p>
          <ns3:p xmlns:ns3="http://schemas.openxmlformats.org/drawingml/2006/main">
            <ns3:r>
              <ns3:t>TA: offer processing time, read or scribe exact words; record support without supplying the assessed answer.</ns3:t>
            </ns3:r>
          </ns3:p>
          <ns4:p xmlns:ns4="http://schemas.openxmlformats.org/drawingml/2006/main">
            <ns4:r>
              <ns4:t>Evidence: LAUNCH-DT-W2-E1; Individual labelled plan plus an actual flat card blank marked at 2 cm and 6 cm from one long edge, with checked measurements, support and feedback response.</ns4:t>
            </ns4:r>
          </ns4:p>
          <ns5:p xmlns:ns5="http://schemas.openxmlformats.org/drawingml/2006/main">
            <ns5:r>
              <ns5:t>Scheme: LAUNCH Weekly - Autumn!C237; LAUNCH - Autumn!D33, I33, J33; revision 9ed44bdf.</ns5:t>
            </ns5:r>
          </ns5:p>
          <ns6:p xmlns:ns6="http://schemas.openxmlformats.org/drawingml/2006/main">
            <ns6:r>
              <ns6:t>Unit: Construction &amp; making: safe structures</ns6:t>
            </ns6:r>
          </ns6:p>
          <ns7:p xmlns:ns7="http://schemas.openxmlformats.org/drawingml/2006/main">
            <ns7:r>
              <ns7:t>Accreditation: [AWARD] [QUAL] (Level 1/2); [AWARD] [QUAL] '[QUAL]', '[QUAL]'.</ns7:t>
            </ns7:r>
          </ns7:p>
          <ns8:p xmlns:ns8="http://schemas.openxmlformats.org/drawingml/2006/main">
            <ns8:r>
              <ns8:t>Assessment: F: safe-working observation.  S: constructed product + evaluation (data drop).</ns8:t>
            </ns8:r>
          </ns8:p>
          <ns9:p xmlns:ns9="http://schemas.openxmlformats.org/drawingml/2006/main">
            <ns9:r>
              <ns9:t>Sources: https://www.hse.gov.uk/risk/classroom-checklist.htm; https://www.sciencebuddies.org/stem-activities/build-best-bridge</ns9:t>
            </ns9:r>
          </ns9:p>
          <ns10:p xmlns:ns10="http://schemas.openxmlformats.org/drawingml/2006/main">
            <ns10:r>
              <ns10:t>Made by Matt · © Matt Roper · CC BY-NC-SA 4.0: free for classroom use, share and adapt with credit, no resale</ns10:t>
            </ns10:r>
          </ns1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7bd2734f39498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9a05ae6f99d4a7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ed3726fc20d48a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16e64f518564ec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d55cf5d6a9747a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511bbc7b7d54a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97F803-DEEC-43CA-A5E2-5BC22B8B98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6CE16B-3214-426C-9E08-EEDDFC8B69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1A1369-C2BF-482F-AFB7-6600F6B209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B8F1F-0C21-4D89-9AA0-7FC120957C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0A3C49-7B2D-4FF2-BFD5-2E8F3F3FD6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19B6FF-36F5-4292-9FAB-D404CD0E30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0CC938-0B77-488A-B095-995EDA0A30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32CFE4-C8A9-4518-9235-758C4667C1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6DCB1-8188-4B3A-9144-B492CA0B55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23B529-5BDC-4D03-A6E7-0375064ADE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95fc6a297904e7d" /><Relationship Type="http://schemas.openxmlformats.org/officeDocument/2006/relationships/slideLayout" Target="/ppt/slideLayouts/slideLayout1.xml" Id="R12242226f6ae4fb8" /><Relationship Type="http://schemas.openxmlformats.org/officeDocument/2006/relationships/slideLayout" Target="/ppt/slideLayouts/slideLayout2.xml" Id="R4c9041799c814233" /><Relationship Type="http://schemas.openxmlformats.org/officeDocument/2006/relationships/slideLayout" Target="/ppt/slideLayouts/slideLayout3.xml" Id="Rf92f518c139547f2" /><Relationship Type="http://schemas.openxmlformats.org/officeDocument/2006/relationships/slideLayout" Target="/ppt/slideLayouts/slideLayout4.xml" Id="R17b0f0872a6c4012" /><Relationship Type="http://schemas.openxmlformats.org/officeDocument/2006/relationships/slideLayout" Target="/ppt/slideLayouts/slideLayout5.xml" Id="R95089bedba364c20" /><Relationship Type="http://schemas.openxmlformats.org/officeDocument/2006/relationships/slideLayout" Target="/ppt/slideLayouts/slideLayout6.xml" Id="R5d9c146d3d6f4e2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242226f6ae4fb8"/>
    <p:sldLayoutId xmlns:r="http://schemas.openxmlformats.org/officeDocument/2006/relationships" id="2147483650" r:id="R4c9041799c814233"/>
    <p:sldLayoutId xmlns:r="http://schemas.openxmlformats.org/officeDocument/2006/relationships" id="2147483651" r:id="Rf92f518c139547f2"/>
    <p:sldLayoutId xmlns:r="http://schemas.openxmlformats.org/officeDocument/2006/relationships" id="2147483652" r:id="R17b0f0872a6c4012"/>
    <p:sldLayoutId xmlns:r="http://schemas.openxmlformats.org/officeDocument/2006/relationships" id="2147483653" r:id="R95089bedba364c20"/>
    <p:sldLayoutId xmlns:r="http://schemas.openxmlformats.org/officeDocument/2006/relationships" id="2147483654" r:id="R5d9c146d3d6f4e29"/>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3815d58e22544e7" /><Relationship Type="http://schemas.openxmlformats.org/officeDocument/2006/relationships/notesSlide" Target="/ppt/notesSlides/notesSlide1.xml" Id="Ra9f77fbe70c34a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9019643cce24813" /><Relationship Type="http://schemas.openxmlformats.org/officeDocument/2006/relationships/notesSlide" Target="/ppt/notesSlides/notesSlide2.xml" Id="Rda26f811207e40c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fd95255ebee4187" /><Relationship Type="http://schemas.openxmlformats.org/officeDocument/2006/relationships/image" Target="/ppt/media/image.jpeg" Id="R87ca9eec94ea4c42" /><Relationship Type="http://schemas.openxmlformats.org/officeDocument/2006/relationships/notesSlide" Target="/ppt/notesSlides/notesSlide3.xml" Id="Rd30cd001fdc34f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376fcaae6fe4ecd" /><Relationship Type="http://schemas.openxmlformats.org/officeDocument/2006/relationships/notesSlide" Target="/ppt/notesSlides/notesSlide4.xml" Id="Rbbc722ce6ceb46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db6e66bd9414474" /><Relationship Type="http://schemas.openxmlformats.org/officeDocument/2006/relationships/notesSlide" Target="/ppt/notesSlides/notesSlide5.xml" Id="R535d1e722e4449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d63b74467bd414f" /><Relationship Type="http://schemas.openxmlformats.org/officeDocument/2006/relationships/notesSlide" Target="/ppt/notesSlides/notesSlide6.xml" Id="Ra090871d48514e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d07b38b06f34c92" /><Relationship Type="http://schemas.openxmlformats.org/officeDocument/2006/relationships/notesSlide" Target="/ppt/notesSlides/notesSlide7.xml" Id="R34b183ae9bcf4a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69d5890359a4567" /><Relationship Type="http://schemas.openxmlformats.org/officeDocument/2006/relationships/notesSlide" Target="/ppt/notesSlides/notesSlide8.xml" Id="R941c20f52dc64dc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dd75ed5fc584fd5" /><Relationship Type="http://schemas.openxmlformats.org/officeDocument/2006/relationships/notesSlide" Target="/ppt/notesSlides/notesSlide9.xml" Id="R5ad80cf219c8436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96b6f0679454feb" /><Relationship Type="http://schemas.openxmlformats.org/officeDocument/2006/relationships/notesSlide" Target="/ppt/notesSlides/notesSlide10.xml" Id="Rce1092717fb445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35a86e9943249be" /><Relationship Type="http://schemas.openxmlformats.org/officeDocument/2006/relationships/notesSlide" Target="/ppt/notesSlides/notesSlide11.xml" Id="Raadf6de2a4cc4b1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1d48de1450c45eb" /><Relationship Type="http://schemas.openxmlformats.org/officeDocument/2006/relationships/notesSlide" Target="/ppt/notesSlides/notesSlide12.xml" Id="R2030fa05042a48a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21FA00E8-6C9D-4555-9239-D720E2F96F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00A5EBA-9C7A-4929-AF50-65DE54E734CC}"/>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TITLE AND BIG QUESTION</ns0:t>
            </ns0:r>
          </ns0:p>
        </p:txBody>
      </p:sp>
      <p:sp>
        <p:nvSpPr>
          <p:cNvPr id="3" name="slide-number-time">
            <a:extLst xmlns:a="http://schemas.openxmlformats.org/drawingml/2006/main">
              <a:ext uri="{FF2B5EF4-FFF2-40B4-BE49-F238E27FC236}">
                <a16:creationId xmlns:a16="http://schemas.microsoft.com/office/drawing/2014/main" id="{B5553090-10DF-4876-B620-4580F7D74DE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 / 12</ns1:t>
            </ns1:r>
          </ns1:p>
        </p:txBody>
      </p:sp>
      <p:sp>
        <p:nvSpPr>
          <p:cNvPr id="4" name="lesson-title">
            <a:extLst xmlns:a="http://schemas.openxmlformats.org/drawingml/2006/main">
              <a:ext uri="{FF2B5EF4-FFF2-40B4-BE49-F238E27FC236}">
                <a16:creationId xmlns:a16="http://schemas.microsoft.com/office/drawing/2014/main" id="{95CCE6A2-A359-43CF-A30F-F808B5954B3D}"/>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ns5:p xmlns:ns5="http://schemas.openxmlformats.org/drawingml/2006/main">
            <ns5:pPr algn="l">
              <ns5:buNone/>
              <ns5:defRPr sz="4200" b="1">
                <ns5:solidFill>
                  <ns5:srgbClr val="17384A"/>
                </ns5:solidFill>
                <ns5:latin typeface="Arial"/>
                <ns5:ea typeface="Arial"/>
                <ns5:cs typeface="Arial"/>
              </ns5:defRPr>
            </ns5:pPr>
            <ns5:r>
              <ns5:rPr sz="4200" b="1">
                <ns5:solidFill>
                  <ns5:srgbClr val="17384A"/>
                </ns5:solidFill>
                <ns5:latin typeface="Arial"/>
                <ns5:ea typeface="Arial"/>
                <ns5:cs typeface="Arial"/>
              </ns5:rPr>
              <ns5:t>Plan and mark out a model</ns5:t>
            </ns5:r>
          </ns5:p>
        </p:txBody>
      </p:sp>
      <p:sp>
        <p:nvSpPr>
          <p:cNvPr id="5" name="lesson-subtitle">
            <a:extLst xmlns:a="http://schemas.openxmlformats.org/drawingml/2006/main">
              <a:ext uri="{FF2B5EF4-FFF2-40B4-BE49-F238E27FC236}">
                <a16:creationId xmlns:a16="http://schemas.microsoft.com/office/drawing/2014/main" id="{27188317-831F-4A26-ABD0-28EBF336460B}"/>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buNone/>
              <a:defRPr sz="2250" b="0">
                <a:solidFill>
                  <a:srgbClr val="146B68"/>
                </a:solidFill>
                <a:latin typeface="Arial"/>
                <a:ea typeface="Arial"/>
                <a:cs typeface="Arial"/>
              </a:defRPr>
            </a:lvl1pPr>
            <a:lvl2pPr algn="l">
              <a:buNone/>
              <a:defRPr sz="2250" b="0">
                <a:solidFill>
                  <a:srgbClr val="146B68"/>
                </a:solidFill>
                <a:latin typeface="Arial"/>
                <a:ea typeface="Arial"/>
                <a:cs typeface="Arial"/>
              </a:defRPr>
            </a:lvl2pPr>
            <a:lvl3pPr algn="l">
              <a:buNone/>
              <a:defRPr sz="2250" b="0">
                <a:solidFill>
                  <a:srgbClr val="146B68"/>
                </a:solidFill>
                <a:latin typeface="Arial"/>
                <a:ea typeface="Arial"/>
                <a:cs typeface="Arial"/>
              </a:defRPr>
            </a:lvl3pPr>
            <a:lvl4pPr algn="l">
              <a:buNone/>
              <a:defRPr sz="2250" b="0">
                <a:solidFill>
                  <a:srgbClr val="146B68"/>
                </a:solidFill>
                <a:latin typeface="Arial"/>
                <a:ea typeface="Arial"/>
                <a:cs typeface="Arial"/>
              </a:defRPr>
            </a:lvl4pPr>
            <a:lvl5pPr algn="l">
              <a:buNone/>
              <a:defRPr sz="2250" b="0">
                <a:solidFill>
                  <a:srgbClr val="146B68"/>
                </a:solidFill>
                <a:latin typeface="Arial"/>
                <a:ea typeface="Arial"/>
                <a:cs typeface="Arial"/>
              </a:defRPr>
            </a:lvl5pPr>
            <a:lvl6pPr algn="l">
              <a:buNone/>
              <a:defRPr sz="2250" b="0">
                <a:solidFill>
                  <a:srgbClr val="146B68"/>
                </a:solidFill>
                <a:latin typeface="Arial"/>
                <a:ea typeface="Arial"/>
                <a:cs typeface="Arial"/>
              </a:defRPr>
            </a:lvl6pPr>
            <a:lvl7pPr algn="l">
              <a:buNone/>
              <a:defRPr sz="2250" b="0">
                <a:solidFill>
                  <a:srgbClr val="146B68"/>
                </a:solidFill>
                <a:latin typeface="Arial"/>
                <a:ea typeface="Arial"/>
                <a:cs typeface="Arial"/>
              </a:defRPr>
            </a:lvl7pPr>
            <a:lvl8pPr algn="l">
              <a:buNone/>
              <a:defRPr sz="2250" b="0">
                <a:solidFill>
                  <a:srgbClr val="146B68"/>
                </a:solidFill>
                <a:latin typeface="Arial"/>
                <a:ea typeface="Arial"/>
                <a:cs typeface="Arial"/>
              </a:defRPr>
            </a:lvl8pPr>
            <a:lvl9pPr algn="l">
              <a:buNone/>
              <a:defRPr sz="2250" b="0">
                <a:solidFill>
                  <a:srgbClr val="146B68"/>
                </a:solidFill>
                <a:latin typeface="Arial"/>
                <a:ea typeface="Arial"/>
                <a:cs typeface="Arial"/>
              </a:defRPr>
            </a:lvl9pPr>
          </a:lstStyle>
          <ns6:p xmlns:ns6="http://schemas.openxmlformats.org/drawingml/2006/main">
            <ns6:pPr algn="l">
              <ns6:buNone/>
              <ns6:defRPr sz="2250" b="0">
                <ns6:solidFill>
                  <ns6:srgbClr val="146B68"/>
                </ns6:solidFill>
                <ns6:latin typeface="Arial"/>
                <ns6:ea typeface="Arial"/>
                <ns6:cs typeface="Arial"/>
              </ns6:defRPr>
            </ns6:pPr>
            <ns6:r>
              <ns6:rPr sz="2250" b="0">
                <ns6:solidFill>
                  <ns6:srgbClr val="146B68"/>
                </ns6:solidFill>
                <ns6:latin typeface="Arial"/>
                <ns6:ea typeface="Arial"/>
                <ns6:cs typeface="Arial"/>
              </ns6:rPr>
              <ns6:t>Week 2 · 9–13 November 2026 · 40 minutes</ns6:t>
            </ns6:r>
          </ns6:p>
        </p:txBody>
      </p:sp>
      <p:sp>
        <p:nvSpPr>
          <p:cNvPr id="8" name="printed-id">
            <a:extLst xmlns:a="http://schemas.openxmlformats.org/drawingml/2006/main">
              <a:ext uri="{FF2B5EF4-FFF2-40B4-BE49-F238E27FC236}">
                <a16:creationId xmlns:a16="http://schemas.microsoft.com/office/drawing/2014/main" id="{D1DE9CD0-0274-4F6F-865F-DD0F553DDF8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DT-LAUNCH-A2-W02</ns2:t>
            </ns2:r>
          </ns2:p>
        </p:txBody>
      </p:sp>
      <p:sp>
        <p:nvSpPr>
          <p:cNvPr id="9" name="edition-label">
            <a:extLst xmlns:a="http://schemas.openxmlformats.org/drawingml/2006/main">
              <a:ext uri="{FF2B5EF4-FFF2-40B4-BE49-F238E27FC236}">
                <a16:creationId xmlns:a16="http://schemas.microsoft.com/office/drawing/2014/main" id="{9DB788D1-307B-450E-8E75-3DE957BCA32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0" name="licence-credit">
            <a:extLst xmlns:a="http://schemas.openxmlformats.org/drawingml/2006/main">
              <a:ext uri="{FF2B5EF4-FFF2-40B4-BE49-F238E27FC236}">
                <a16:creationId xmlns:a16="http://schemas.microsoft.com/office/drawing/2014/main" id="{CFFACCED-9803-4150-B478-B2D5E21D8DE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2" name="body-0">
            <a:extLst xmlns:a="http://schemas.openxmlformats.org/drawingml/2006/main">
              <a:ext uri="{FF2B5EF4-FFF2-40B4-BE49-F238E27FC236}">
                <a16:creationId xmlns:a16="http://schemas.microsoft.com/office/drawing/2014/main" id="{4179850A-9B57-4A81-B9D3-E88349FC8B24}"/>
              </a:ext>
            </a:extLst>
          </p:cNvPr>
          <p:cNvSpPr>
            <a:spLocks xmlns:a="http://schemas.openxmlformats.org/drawingml/2006/main" noGrp="1"/>
          </p:cNvSpPr>
          <p:nvPr/>
        </p:nvSpPr>
        <p:spPr>
          <a:xfrm xmlns:a="http://schemas.openxmlformats.org/drawingml/2006/main">
            <a:off x="609600" y="371475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How can a clear plan guide our marks?</ns7:t>
            </ns7:r>
          </ns7:p>
        </p:txBody>
      </p:sp>
      <p:sp>
        <p:nvSpPr>
          <p:cNvPr id="13" name="body-1">
            <a:extLst xmlns:a="http://schemas.openxmlformats.org/drawingml/2006/main">
              <a:ext uri="{FF2B5EF4-FFF2-40B4-BE49-F238E27FC236}">
                <a16:creationId xmlns:a16="http://schemas.microsoft.com/office/drawing/2014/main" id="{B3B79DBF-9AF8-427F-9EF2-D9D9BA7081D1}"/>
              </a:ext>
            </a:extLst>
          </p:cNvPr>
          <p:cNvSpPr>
            <a:spLocks xmlns:a="http://schemas.openxmlformats.org/drawingml/2006/main" noGrp="1"/>
          </p:cNvSpPr>
          <p:nvPr/>
        </p:nvSpPr>
        <p:spPr>
          <a:xfrm xmlns:a="http://schemas.openxmlformats.org/drawingml/2006/main">
            <a:off x="609600" y="423481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We will work with a small card model.</ns8:t>
            </ns8:r>
          </ns8:p>
        </p:txBody>
      </p:sp>
      <p:sp>
        <p:nvSpPr>
          <p:cNvPr id="14" name="body-2">
            <a:extLst xmlns:a="http://schemas.openxmlformats.org/drawingml/2006/main">
              <a:ext uri="{FF2B5EF4-FFF2-40B4-BE49-F238E27FC236}">
                <a16:creationId xmlns:a16="http://schemas.microsoft.com/office/drawing/2014/main" id="{6137EF2D-887A-4596-9565-C03031165296}"/>
              </a:ext>
            </a:extLst>
          </p:cNvPr>
          <p:cNvSpPr>
            <a:spLocks xmlns:a="http://schemas.openxmlformats.org/drawingml/2006/main" noGrp="1"/>
          </p:cNvSpPr>
          <p:nvPr/>
        </p:nvSpPr>
        <p:spPr>
          <a:xfrm xmlns:a="http://schemas.openxmlformats.org/drawingml/2006/main">
            <a:off x="609600" y="47548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Point, say, draw, write or show.</ns9:t>
            </ns9:r>
          </ns9:p>
        </p:txBody>
      </p:sp>
    </p:spTree>
    <p:extLst>
      <p:ext uri="{BB962C8B-B14F-4D97-AF65-F5344CB8AC3E}">
        <p14:creationId xmlns:p14="http://schemas.microsoft.com/office/powerpoint/2010/main" val="2088950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4FD94499-3EA1-421F-BBBF-AAAEC9FCB9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38B1A31-272E-4B53-A986-999EB0AE8AE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ARRIVAL AND REGULATION</ns0:t>
            </ns0:r>
          </ns0:p>
        </p:txBody>
      </p:sp>
      <p:sp>
        <p:nvSpPr>
          <p:cNvPr id="3" name="slide-number-time">
            <a:extLst xmlns:a="http://schemas.openxmlformats.org/drawingml/2006/main">
              <a:ext uri="{FF2B5EF4-FFF2-40B4-BE49-F238E27FC236}">
                <a16:creationId xmlns:a16="http://schemas.microsoft.com/office/drawing/2014/main" id="{D71FC1CA-AC2B-48A1-B1E2-5C96A8A8B75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2 / 12  ·  4 min</ns1:t>
            </ns1:r>
          </ns1:p>
        </p:txBody>
      </p:sp>
      <p:sp>
        <p:nvSpPr>
          <p:cNvPr id="4" name="slide-title">
            <a:extLst xmlns:a="http://schemas.openxmlformats.org/drawingml/2006/main">
              <a:ext uri="{FF2B5EF4-FFF2-40B4-BE49-F238E27FC236}">
                <a16:creationId xmlns:a16="http://schemas.microsoft.com/office/drawing/2014/main" id="{4FF2732D-8D8A-4A14-B7EC-4427BF844FB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Ready for a calm start</ns5:t>
            </ns5:r>
          </ns5:p>
        </p:txBody>
      </p:sp>
      <p:sp>
        <p:nvSpPr>
          <p:cNvPr id="5" name="heading-rule">
            <a:extLst xmlns:a="http://schemas.openxmlformats.org/drawingml/2006/main">
              <a:ext uri="{FF2B5EF4-FFF2-40B4-BE49-F238E27FC236}">
                <a16:creationId xmlns:a16="http://schemas.microsoft.com/office/drawing/2014/main" id="{39B5AC7B-925A-427E-B6D5-FF7155BB2EE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95424F63-FAC6-49BB-A26B-FF4C752FA21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DT-LAUNCH-A2-W02</ns2:t>
            </ns2:r>
          </ns2:p>
        </p:txBody>
      </p:sp>
      <p:sp>
        <p:nvSpPr>
          <p:cNvPr id="12" name="edition-label">
            <a:extLst xmlns:a="http://schemas.openxmlformats.org/drawingml/2006/main">
              <a:ext uri="{FF2B5EF4-FFF2-40B4-BE49-F238E27FC236}">
                <a16:creationId xmlns:a16="http://schemas.microsoft.com/office/drawing/2014/main" id="{2CC72B9C-1296-4C4A-886A-5E292D7620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1E89A079-9FE1-4E2E-A35B-157CE58B947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5EC01B38-2E63-4243-9769-79C2B925393E}"/>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Check how you feel in private.</ns6:t>
            </ns6:r>
          </ns6:p>
        </p:txBody>
      </p:sp>
      <p:sp>
        <p:nvSpPr>
          <p:cNvPr id="16" name="body-1">
            <a:extLst xmlns:a="http://schemas.openxmlformats.org/drawingml/2006/main">
              <a:ext uri="{FF2B5EF4-FFF2-40B4-BE49-F238E27FC236}">
                <a16:creationId xmlns:a16="http://schemas.microsoft.com/office/drawing/2014/main" id="{F28DA917-CB7A-4C83-99B1-B17867E53C84}"/>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Choose a quiet seat or a short pause.</ns7:t>
            </ns7:r>
          </ns7:p>
        </p:txBody>
      </p:sp>
      <p:sp>
        <p:nvSpPr>
          <p:cNvPr id="17" name="body-2">
            <a:extLst xmlns:a="http://schemas.openxmlformats.org/drawingml/2006/main">
              <a:ext uri="{FF2B5EF4-FFF2-40B4-BE49-F238E27FC236}">
                <a16:creationId xmlns:a16="http://schemas.microsoft.com/office/drawing/2014/main" id="{7B45F856-07DA-4CDC-9EDC-8416662C59FC}"/>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Clear your work space.</ns8:t>
            </ns8:r>
          </ns8:p>
        </p:txBody>
      </p:sp>
      <p:sp>
        <p:nvSpPr>
          <p:cNvPr id="18" name="body-3">
            <a:extLst xmlns:a="http://schemas.openxmlformats.org/drawingml/2006/main">
              <a:ext uri="{FF2B5EF4-FFF2-40B4-BE49-F238E27FC236}">
                <a16:creationId xmlns:a16="http://schemas.microsoft.com/office/drawing/2014/main" id="{B8616F4F-E875-4A93-9A52-ADD9BB19CF1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Ask the adult if you need support.</ns9:t>
            </ns9:r>
          </ns9:p>
        </p:txBody>
      </p:sp>
      <p:sp>
        <p:nvSpPr>
          <p:cNvPr id="19" name="body-4">
            <a:extLst xmlns:a="http://schemas.openxmlformats.org/drawingml/2006/main">
              <a:ext uri="{FF2B5EF4-FFF2-40B4-BE49-F238E27FC236}">
                <a16:creationId xmlns:a16="http://schemas.microsoft.com/office/drawing/2014/main" id="{CD67554F-3D83-433B-84B1-03812733B190}"/>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Keep tools on the mat when not in use.</ns10:t>
            </ns10:r>
          </ns10:p>
        </p:txBody>
      </p:sp>
      <p:sp>
        <p:nvSpPr>
          <p:cNvPr id="20" name="body-5">
            <a:extLst xmlns:a="http://schemas.openxmlformats.org/drawingml/2006/main">
              <a:ext uri="{FF2B5EF4-FFF2-40B4-BE49-F238E27FC236}">
                <a16:creationId xmlns:a16="http://schemas.microsoft.com/office/drawing/2014/main" id="{60C96764-4A82-4924-8CFD-49EE15FAA4D7}"/>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1:p xmlns:ns11="http://schemas.openxmlformats.org/drawingml/2006/main">
            <ns11:pPr algn="l">
              <ns11:defRPr sz="2025" b="0">
                <ns11:solidFill>
                  <ns11:srgbClr val="17384A"/>
                </ns11:solidFill>
                <ns11:latin typeface="Arial"/>
                <ns11:ea typeface="Arial"/>
                <ns11:cs typeface="Arial"/>
              </ns11:defRPr>
            </ns11:pPr>
            <ns11:r>
              <ns11:rPr sz="2025" b="0">
                <ns11:solidFill>
                  <ns11:srgbClr val="17384A"/>
                </ns11:solidFill>
                <ns11:latin typeface="Arial"/>
                <ns11:ea typeface="Arial"/>
                <ns11:cs typeface="Arial"/>
              </ns11:rPr>
              <ns11:t>Tell the adult if you spot a hazard.</ns11:t>
            </ns11:r>
          </ns11:p>
        </p:txBody>
      </p:sp>
    </p:spTree>
    <p:extLst>
      <p:ext uri="{BB962C8B-B14F-4D97-AF65-F5344CB8AC3E}">
        <p14:creationId xmlns:p14="http://schemas.microsoft.com/office/powerpoint/2010/main" val="13691881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2CA9BFC-91D6-4E1F-A868-FA6417B8D8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184B3EE-1B83-4D3F-A35F-80E82823E3D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STARTER</ns0:t>
            </ns0:r>
          </ns0:p>
        </p:txBody>
      </p:sp>
      <p:sp>
        <p:nvSpPr>
          <p:cNvPr id="3" name="slide-number-time">
            <a:extLst xmlns:a="http://schemas.openxmlformats.org/drawingml/2006/main">
              <a:ext uri="{FF2B5EF4-FFF2-40B4-BE49-F238E27FC236}">
                <a16:creationId xmlns:a16="http://schemas.microsoft.com/office/drawing/2014/main" id="{897C6A8C-70A1-47AD-A2FE-4C00764616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3 / 12  ·  2 min</ns1:t>
            </ns1:r>
          </ns1:p>
        </p:txBody>
      </p:sp>
      <p:sp>
        <p:nvSpPr>
          <p:cNvPr id="4" name="slide-title">
            <a:extLst xmlns:a="http://schemas.openxmlformats.org/drawingml/2006/main">
              <a:ext uri="{FF2B5EF4-FFF2-40B4-BE49-F238E27FC236}">
                <a16:creationId xmlns:a16="http://schemas.microsoft.com/office/drawing/2014/main" id="{31C5F347-218C-4DE9-8526-D8AC97478EA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Look at the diagram</ns5:t>
            </ns5:r>
          </ns5:p>
        </p:txBody>
      </p:sp>
      <p:sp>
        <p:nvSpPr>
          <p:cNvPr id="5" name="heading-rule">
            <a:extLst xmlns:a="http://schemas.openxmlformats.org/drawingml/2006/main">
              <a:ext uri="{FF2B5EF4-FFF2-40B4-BE49-F238E27FC236}">
                <a16:creationId xmlns:a16="http://schemas.microsoft.com/office/drawing/2014/main" id="{564A5958-580E-4CAC-B2D5-2942577B85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331A60C7-DF6A-4D09-8443-EAE28857AAD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DT-LAUNCH-A2-W02</ns2:t>
            </ns2:r>
          </ns2:p>
        </p:txBody>
      </p:sp>
      <p:sp>
        <p:nvSpPr>
          <p:cNvPr id="15" name="edition-label">
            <a:extLst xmlns:a="http://schemas.openxmlformats.org/drawingml/2006/main">
              <a:ext uri="{FF2B5EF4-FFF2-40B4-BE49-F238E27FC236}">
                <a16:creationId xmlns:a16="http://schemas.microsoft.com/office/drawing/2014/main" id="{E9C4646B-A2DB-47CD-9B88-8366B5301301}"/>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6" name="licence-credit">
            <a:extLst xmlns:a="http://schemas.openxmlformats.org/drawingml/2006/main">
              <a:ext uri="{FF2B5EF4-FFF2-40B4-BE49-F238E27FC236}">
                <a16:creationId xmlns:a16="http://schemas.microsoft.com/office/drawing/2014/main" id="{C34D29D3-4466-4904-88F0-BAEAD505EE3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pic>
        <p:nvPicPr>
          <p:cNvPr id="18" name="" descr="Top view of a 20 by 8 centimetre card bridge plan. Fold lines are 2 and 6 centimetres from the same long start edge. Drawing is not to scale.">
            <a:extLst xmlns:a="http://schemas.openxmlformats.org/drawingml/2006/main">
              <a:ext uri="{FF2B5EF4-FFF2-40B4-BE49-F238E27FC236}">
                <a16:creationId xmlns:a16="http://schemas.microsoft.com/office/drawing/2014/main" id="{028D2357-EB6C-424E-A2E6-DBD8B5691975}"/>
              </a:ext>
            </a:extLst>
          </p:cNvPr>
          <p:cNvPicPr>
            <a:picLocks xmlns:a="http://schemas.openxmlformats.org/drawingml/2006/main" noChangeAspect="1"/>
          </p:cNvPicPr>
          <p:nvPr/>
        </p:nvPicPr>
        <p:blipFill>
          <a:blip xmlns:r="http://schemas.openxmlformats.org/officeDocument/2006/relationships" xmlns:a="http://schemas.openxmlformats.org/drawingml/2006/main" r:embed="R87ca9eec94ea4c42"/>
          <a:stretch xmlns:a="http://schemas.openxmlformats.org/drawingml/2006/main"/>
        </p:blipFill>
        <p:spPr>
          <a:xfrm xmlns:a="http://schemas.openxmlformats.org/drawingml/2006/main">
            <a:off x="609600" y="1638300"/>
            <a:ext cx="6343650" cy="4229100"/>
          </a:xfrm>
          <a:prstGeom xmlns:a="http://schemas.openxmlformats.org/drawingml/2006/main" prst="rect">
            <a:avLst/>
          </a:prstGeom>
        </p:spPr>
      </p:pic>
      <p:sp>
        <p:nvSpPr>
          <p:cNvPr id="19" name="body-0">
            <a:extLst xmlns:a="http://schemas.openxmlformats.org/drawingml/2006/main">
              <a:ext uri="{FF2B5EF4-FFF2-40B4-BE49-F238E27FC236}">
                <a16:creationId xmlns:a16="http://schemas.microsoft.com/office/drawing/2014/main" id="{57DE7B14-03C6-44A4-ADEF-A389F9D699EE}"/>
              </a:ext>
            </a:extLst>
          </p:cNvPr>
          <p:cNvSpPr>
            <a:spLocks xmlns:a="http://schemas.openxmlformats.org/drawingml/2006/main" noGrp="1"/>
          </p:cNvSpPr>
          <p:nvPr/>
        </p:nvSpPr>
        <p:spPr>
          <a:xfrm xmlns:a="http://schemas.openxmlformats.org/drawingml/2006/main">
            <a:off x="7381875" y="1714500"/>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Find the long edge.</ns6:t>
            </ns6:r>
          </ns6:p>
        </p:txBody>
      </p:sp>
      <p:sp>
        <p:nvSpPr>
          <p:cNvPr id="20" name="body-1">
            <a:extLst xmlns:a="http://schemas.openxmlformats.org/drawingml/2006/main">
              <a:ext uri="{FF2B5EF4-FFF2-40B4-BE49-F238E27FC236}">
                <a16:creationId xmlns:a16="http://schemas.microsoft.com/office/drawing/2014/main" id="{6C49FD1E-082C-46ED-BD65-5869357FEFFF}"/>
              </a:ext>
            </a:extLst>
          </p:cNvPr>
          <p:cNvSpPr>
            <a:spLocks xmlns:a="http://schemas.openxmlformats.org/drawingml/2006/main" noGrp="1"/>
          </p:cNvSpPr>
          <p:nvPr/>
        </p:nvSpPr>
        <p:spPr>
          <a:xfrm xmlns:a="http://schemas.openxmlformats.org/drawingml/2006/main">
            <a:off x="7381875" y="2199704"/>
            <a:ext cx="4200525"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Where do we start?</ns7:t>
            </ns7:r>
          </ns7:p>
        </p:txBody>
      </p:sp>
      <p:sp>
        <p:nvSpPr>
          <p:cNvPr id="21" name="body-2">
            <a:extLst xmlns:a="http://schemas.openxmlformats.org/drawingml/2006/main">
              <a:ext uri="{FF2B5EF4-FFF2-40B4-BE49-F238E27FC236}">
                <a16:creationId xmlns:a16="http://schemas.microsoft.com/office/drawing/2014/main" id="{7BE34822-C512-4BD5-AF44-30090BF31A92}"/>
              </a:ext>
            </a:extLst>
          </p:cNvPr>
          <p:cNvSpPr>
            <a:spLocks xmlns:a="http://schemas.openxmlformats.org/drawingml/2006/main" noGrp="1"/>
          </p:cNvSpPr>
          <p:nvPr/>
        </p:nvSpPr>
        <p:spPr>
          <a:xfrm xmlns:a="http://schemas.openxmlformats.org/drawingml/2006/main">
            <a:off x="7381875" y="2684907"/>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What do the dash lines mean?</ns8:t>
            </ns8:r>
          </ns8:p>
        </p:txBody>
      </p:sp>
      <p:sp>
        <p:nvSpPr>
          <p:cNvPr id="22" name="body-3">
            <a:extLst xmlns:a="http://schemas.openxmlformats.org/drawingml/2006/main">
              <a:ext uri="{FF2B5EF4-FFF2-40B4-BE49-F238E27FC236}">
                <a16:creationId xmlns:a16="http://schemas.microsoft.com/office/drawing/2014/main" id="{C2000FD8-BBA3-4430-B7E7-17C5B6E48BBE}"/>
              </a:ext>
            </a:extLst>
          </p:cNvPr>
          <p:cNvSpPr>
            <a:spLocks xmlns:a="http://schemas.openxmlformats.org/drawingml/2006/main" noGrp="1"/>
          </p:cNvSpPr>
          <p:nvPr/>
        </p:nvSpPr>
        <p:spPr>
          <a:xfrm xmlns:a="http://schemas.openxmlformats.org/drawingml/2006/main">
            <a:off x="7381875" y="3483864"/>
            <a:ext cx="4200525"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Plan first. Mark next.</ns9:t>
            </ns9:r>
          </ns9:p>
        </p:txBody>
      </p:sp>
    </p:spTree>
    <p:extLst>
      <p:ext uri="{BB962C8B-B14F-4D97-AF65-F5344CB8AC3E}">
        <p14:creationId xmlns:p14="http://schemas.microsoft.com/office/powerpoint/2010/main" val="1885040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50AFFD45-DDE8-4E13-AB19-AB490C4DC4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695C907-FAF0-40C0-94DA-EDA6AF2AFFB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TODAY</ns0:t>
            </ns0:r>
          </ns0:p>
        </p:txBody>
      </p:sp>
      <p:sp>
        <p:nvSpPr>
          <p:cNvPr id="3" name="slide-number-time">
            <a:extLst xmlns:a="http://schemas.openxmlformats.org/drawingml/2006/main">
              <a:ext uri="{FF2B5EF4-FFF2-40B4-BE49-F238E27FC236}">
                <a16:creationId xmlns:a16="http://schemas.microsoft.com/office/drawing/2014/main" id="{B24D514A-FB80-4477-B77A-6CBF40FE34F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4 / 12</ns1:t>
            </ns1:r>
          </ns1:p>
        </p:txBody>
      </p:sp>
      <p:sp>
        <p:nvSpPr>
          <p:cNvPr id="4" name="slide-title">
            <a:extLst xmlns:a="http://schemas.openxmlformats.org/drawingml/2006/main">
              <a:ext uri="{FF2B5EF4-FFF2-40B4-BE49-F238E27FC236}">
                <a16:creationId xmlns:a16="http://schemas.microsoft.com/office/drawing/2014/main" id="{AC662DEC-F343-4B80-A316-EA02E40AB20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Today</ns5:t>
            </ns5:r>
          </ns5:p>
        </p:txBody>
      </p:sp>
      <p:sp>
        <p:nvSpPr>
          <p:cNvPr id="5" name="heading-rule">
            <a:extLst xmlns:a="http://schemas.openxmlformats.org/drawingml/2006/main">
              <a:ext uri="{FF2B5EF4-FFF2-40B4-BE49-F238E27FC236}">
                <a16:creationId xmlns:a16="http://schemas.microsoft.com/office/drawing/2014/main" id="{0AF1810E-209D-49EB-A790-135B09335F7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66F008D0-268A-4ECE-A855-21B57ADC8F1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DT-LAUNCH-A2-W02</ns2:t>
            </ns2:r>
          </ns2:p>
        </p:txBody>
      </p:sp>
      <p:sp>
        <p:nvSpPr>
          <p:cNvPr id="11" name="edition-label">
            <a:extLst xmlns:a="http://schemas.openxmlformats.org/drawingml/2006/main">
              <a:ext uri="{FF2B5EF4-FFF2-40B4-BE49-F238E27FC236}">
                <a16:creationId xmlns:a16="http://schemas.microsoft.com/office/drawing/2014/main" id="{788CFB30-7CBE-4014-B032-8DC2ACFD800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2" name="licence-credit">
            <a:extLst xmlns:a="http://schemas.openxmlformats.org/drawingml/2006/main">
              <a:ext uri="{FF2B5EF4-FFF2-40B4-BE49-F238E27FC236}">
                <a16:creationId xmlns:a16="http://schemas.microsoft.com/office/drawing/2014/main" id="{EA904A03-002E-4189-A0F8-88FF05C4DD2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4" name="body-0">
            <a:extLst xmlns:a="http://schemas.openxmlformats.org/drawingml/2006/main">
              <a:ext uri="{FF2B5EF4-FFF2-40B4-BE49-F238E27FC236}">
                <a16:creationId xmlns:a16="http://schemas.microsoft.com/office/drawing/2014/main" id="{5CA1100B-3C12-4D22-8B3A-5D390927669E}"/>
              </a:ext>
            </a:extLst>
          </p:cNvPr>
          <p:cNvSpPr>
            <a:spLocks xmlns:a="http://schemas.openxmlformats.org/drawingml/2006/main" noGrp="1"/>
          </p:cNvSpPr>
          <p:nvPr/>
        </p:nvSpPr>
        <p:spPr>
          <a:xfrm xmlns:a="http://schemas.openxmlformats.org/drawingml/2006/main">
            <a:off x="609600" y="1676400"/>
            <a:ext cx="10972800" cy="7448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CONSTRUCTION: plan and mark out a simple structure.</ns6:t>
            </ns6:r>
          </ns6:p>
        </p:txBody>
      </p:sp>
      <p:sp>
        <p:nvSpPr>
          <p:cNvPr id="15" name="body-1">
            <a:extLst xmlns:a="http://schemas.openxmlformats.org/drawingml/2006/main">
              <a:ext uri="{FF2B5EF4-FFF2-40B4-BE49-F238E27FC236}">
                <a16:creationId xmlns:a16="http://schemas.microsoft.com/office/drawing/2014/main" id="{44CA7D53-579D-445D-8E02-81F7AEA5022B}"/>
              </a:ext>
            </a:extLst>
          </p:cNvPr>
          <p:cNvSpPr>
            <a:spLocks xmlns:a="http://schemas.openxmlformats.org/drawingml/2006/main" noGrp="1"/>
          </p:cNvSpPr>
          <p:nvPr/>
        </p:nvSpPr>
        <p:spPr>
          <a:xfrm xmlns:a="http://schemas.openxmlformats.org/drawingml/2006/main">
            <a:off x="609600" y="25450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I can draw and label a simple plan.</ns7:t>
            </ns7:r>
          </ns7:p>
        </p:txBody>
      </p:sp>
      <p:sp>
        <p:nvSpPr>
          <p:cNvPr id="16" name="body-2">
            <a:extLst xmlns:a="http://schemas.openxmlformats.org/drawingml/2006/main">
              <a:ext uri="{FF2B5EF4-FFF2-40B4-BE49-F238E27FC236}">
                <a16:creationId xmlns:a16="http://schemas.microsoft.com/office/drawing/2014/main" id="{1113C604-9484-434B-9EF8-CE13B7D2E0F0}"/>
              </a:ext>
            </a:extLst>
          </p:cNvPr>
          <p:cNvSpPr>
            <a:spLocks xmlns:a="http://schemas.openxmlformats.org/drawingml/2006/main" noGrp="1"/>
          </p:cNvSpPr>
          <p:nvPr/>
        </p:nvSpPr>
        <p:spPr>
          <a:xfrm xmlns:a="http://schemas.openxmlformats.org/drawingml/2006/main">
            <a:off x="609600" y="306514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I can measure and mark fold lines on card.</ns8:t>
            </ns8:r>
          </ns8:p>
        </p:txBody>
      </p:sp>
      <p:sp>
        <p:nvSpPr>
          <p:cNvPr id="17" name="body-3">
            <a:extLst xmlns:a="http://schemas.openxmlformats.org/drawingml/2006/main">
              <a:ext uri="{FF2B5EF4-FFF2-40B4-BE49-F238E27FC236}">
                <a16:creationId xmlns:a16="http://schemas.microsoft.com/office/drawing/2014/main" id="{FC9F5832-1797-4743-9AE3-CA75FD494CDE}"/>
              </a:ext>
            </a:extLst>
          </p:cNvPr>
          <p:cNvSpPr>
            <a:spLocks xmlns:a="http://schemas.openxmlformats.org/drawingml/2006/main" noGrp="1"/>
          </p:cNvSpPr>
          <p:nvPr/>
        </p:nvSpPr>
        <p:spPr>
          <a:xfrm xmlns:a="http://schemas.openxmlformats.org/drawingml/2006/main">
            <a:off x="609600" y="358521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I can check my marks and ask for help.</ns9:t>
            </ns9:r>
          </ns9:p>
        </p:txBody>
      </p:sp>
    </p:spTree>
    <p:extLst>
      <p:ext uri="{BB962C8B-B14F-4D97-AF65-F5344CB8AC3E}">
        <p14:creationId xmlns:p14="http://schemas.microsoft.com/office/powerpoint/2010/main" val="9280005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ide-rule">
            <a:extLst xmlns:a="http://schemas.openxmlformats.org/drawingml/2006/main">
              <a:ext uri="{FF2B5EF4-FFF2-40B4-BE49-F238E27FC236}">
                <a16:creationId xmlns:a16="http://schemas.microsoft.com/office/drawing/2014/main" id="{097687FC-1C0B-47D1-B37A-D2F6A8DD65A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EB332C-2485-4323-A5CE-5069692938C9}"/>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I DO</ns0:t>
            </ns0:r>
          </ns0:p>
        </p:txBody>
      </p:sp>
      <p:sp>
        <p:nvSpPr>
          <p:cNvPr id="3" name="slide-number-time">
            <a:extLst xmlns:a="http://schemas.openxmlformats.org/drawingml/2006/main">
              <a:ext uri="{FF2B5EF4-FFF2-40B4-BE49-F238E27FC236}">
                <a16:creationId xmlns:a16="http://schemas.microsoft.com/office/drawing/2014/main" id="{F99A3BF5-5E64-4EB6-9FBC-4AA41BF50F0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5 / 12  ·  5 min</ns1:t>
            </ns1:r>
          </ns1:p>
        </p:txBody>
      </p:sp>
      <p:sp>
        <p:nvSpPr>
          <p:cNvPr id="4" name="slide-title">
            <a:extLst xmlns:a="http://schemas.openxmlformats.org/drawingml/2006/main">
              <a:ext uri="{FF2B5EF4-FFF2-40B4-BE49-F238E27FC236}">
                <a16:creationId xmlns:a16="http://schemas.microsoft.com/office/drawing/2014/main" id="{1183019A-C132-4E6A-B158-7B8FDB02549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Plan then mark</ns5:t>
            </ns5:r>
          </ns5:p>
        </p:txBody>
      </p:sp>
      <p:sp>
        <p:nvSpPr>
          <p:cNvPr id="5" name="heading-rule">
            <a:extLst xmlns:a="http://schemas.openxmlformats.org/drawingml/2006/main">
              <a:ext uri="{FF2B5EF4-FFF2-40B4-BE49-F238E27FC236}">
                <a16:creationId xmlns:a16="http://schemas.microsoft.com/office/drawing/2014/main" id="{D292F269-A0C9-4A49-A3BF-57410DADE0E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20" name="printed-id">
            <a:extLst xmlns:a="http://schemas.openxmlformats.org/drawingml/2006/main">
              <a:ext uri="{FF2B5EF4-FFF2-40B4-BE49-F238E27FC236}">
                <a16:creationId xmlns:a16="http://schemas.microsoft.com/office/drawing/2014/main" id="{C5B7F60E-A73C-489D-BD0E-0061649220CC}"/>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DT-LAUNCH-A2-W02</ns2:t>
            </ns2:r>
          </ns2:p>
        </p:txBody>
      </p:sp>
      <p:sp>
        <p:nvSpPr>
          <p:cNvPr id="21" name="edition-label">
            <a:extLst xmlns:a="http://schemas.openxmlformats.org/drawingml/2006/main">
              <a:ext uri="{FF2B5EF4-FFF2-40B4-BE49-F238E27FC236}">
                <a16:creationId xmlns:a16="http://schemas.microsoft.com/office/drawing/2014/main" id="{84C3B745-B6CB-42D8-BB95-E58551E7CEB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22" name="licence-credit">
            <a:extLst xmlns:a="http://schemas.openxmlformats.org/drawingml/2006/main">
              <a:ext uri="{FF2B5EF4-FFF2-40B4-BE49-F238E27FC236}">
                <a16:creationId xmlns:a16="http://schemas.microsoft.com/office/drawing/2014/main" id="{851A0815-45F4-4C47-AE5E-BEE6F0B0CA9D}"/>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24" name="body-0">
            <a:extLst xmlns:a="http://schemas.openxmlformats.org/drawingml/2006/main">
              <a:ext uri="{FF2B5EF4-FFF2-40B4-BE49-F238E27FC236}">
                <a16:creationId xmlns:a16="http://schemas.microsoft.com/office/drawing/2014/main" id="{F23E615D-633F-4AEC-85FC-97572F0B3E53}"/>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Plan a card bridge: 20 cm long, 8 cm wide.</ns6:t>
            </ns6:r>
          </ns6:p>
        </p:txBody>
      </p:sp>
      <p:sp>
        <p:nvSpPr>
          <p:cNvPr id="25" name="body-1">
            <a:extLst xmlns:a="http://schemas.openxmlformats.org/drawingml/2006/main">
              <a:ext uri="{FF2B5EF4-FFF2-40B4-BE49-F238E27FC236}">
                <a16:creationId xmlns:a16="http://schemas.microsoft.com/office/drawing/2014/main" id="{9FE963E1-470E-447B-8A4E-BE5AEE8E9EA6}"/>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Choose one long edge as the start edge.</ns7:t>
            </ns7:r>
          </ns7:p>
        </p:txBody>
      </p:sp>
      <p:sp>
        <p:nvSpPr>
          <p:cNvPr id="26" name="body-2">
            <a:extLst xmlns:a="http://schemas.openxmlformats.org/drawingml/2006/main">
              <a:ext uri="{FF2B5EF4-FFF2-40B4-BE49-F238E27FC236}">
                <a16:creationId xmlns:a16="http://schemas.microsoft.com/office/drawing/2014/main" id="{B51B5736-01AE-4595-93E5-5529AD4EAD6E}"/>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At one short end, put ruler zero on that edge.</ns8:t>
            </ns8:r>
          </ns8:p>
        </p:txBody>
      </p:sp>
      <p:sp>
        <p:nvSpPr>
          <p:cNvPr id="27" name="body-3">
            <a:extLst xmlns:a="http://schemas.openxmlformats.org/drawingml/2006/main">
              <a:ext uri="{FF2B5EF4-FFF2-40B4-BE49-F238E27FC236}">
                <a16:creationId xmlns:a16="http://schemas.microsoft.com/office/drawing/2014/main" id="{E04D50D9-8148-4E80-8B08-F30F8F17746D}"/>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Mark 2 cm and 6 cm from that same edge.</ns9:t>
            </ns9:r>
          </ns9:p>
        </p:txBody>
      </p:sp>
      <p:sp>
        <p:nvSpPr>
          <p:cNvPr id="28" name="body-4">
            <a:extLst xmlns:a="http://schemas.openxmlformats.org/drawingml/2006/main">
              <a:ext uri="{FF2B5EF4-FFF2-40B4-BE49-F238E27FC236}">
                <a16:creationId xmlns:a16="http://schemas.microsoft.com/office/drawing/2014/main" id="{20BB9364-E18A-45E5-BE54-5B9C6D4D9A5E}"/>
              </a:ext>
            </a:extLst>
          </p:cNvPr>
          <p:cNvSpPr>
            <a:spLocks xmlns:a="http://schemas.openxmlformats.org/drawingml/2006/main" noGrp="1"/>
          </p:cNvSpPr>
          <p:nvPr/>
        </p:nvSpPr>
        <p:spPr>
          <a:xfrm xmlns:a="http://schemas.openxmlformats.org/drawingml/2006/main">
            <a:off x="609600" y="375666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10:p xmlns:ns10="http://schemas.openxmlformats.org/drawingml/2006/main">
            <ns10:pPr algn="l">
              <ns10:defRPr sz="2250" b="0">
                <ns10:solidFill>
                  <ns10:srgbClr val="17384A"/>
                </ns10:solidFill>
                <ns10:latin typeface="Arial"/>
                <ns10:ea typeface="Arial"/>
                <ns10:cs typeface="Arial"/>
              </ns10:defRPr>
            </ns10:pPr>
            <ns10:r>
              <ns10:rPr sz="2250" b="0">
                <ns10:solidFill>
                  <ns10:srgbClr val="17384A"/>
                </ns10:solidFill>
                <ns10:latin typeface="Arial"/>
                <ns10:ea typeface="Arial"/>
                <ns10:cs typeface="Arial"/>
              </ns10:rPr>
              <ns10:t>Repeat at the other short end. Join each pair.</ns10:t>
            </ns10:r>
          </ns10:p>
        </p:txBody>
      </p:sp>
      <p:sp>
        <p:nvSpPr>
          <p:cNvPr id="29" name="body-5">
            <a:extLst xmlns:a="http://schemas.openxmlformats.org/drawingml/2006/main">
              <a:ext uri="{FF2B5EF4-FFF2-40B4-BE49-F238E27FC236}">
                <a16:creationId xmlns:a16="http://schemas.microsoft.com/office/drawing/2014/main" id="{11C7B658-634C-4EEA-9854-0DDACA4BD16F}"/>
              </a:ext>
            </a:extLst>
          </p:cNvPr>
          <p:cNvSpPr>
            <a:spLocks xmlns:a="http://schemas.openxmlformats.org/drawingml/2006/main" noGrp="1"/>
          </p:cNvSpPr>
          <p:nvPr/>
        </p:nvSpPr>
        <p:spPr>
          <a:xfrm xmlns:a="http://schemas.openxmlformats.org/drawingml/2006/main">
            <a:off x="609600" y="427672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11:p xmlns:ns11="http://schemas.openxmlformats.org/drawingml/2006/main">
            <ns11:pPr algn="l">
              <ns11:defRPr sz="2250" b="0">
                <ns11:solidFill>
                  <ns11:srgbClr val="17384A"/>
                </ns11:solidFill>
                <ns11:latin typeface="Arial"/>
                <ns11:ea typeface="Arial"/>
                <ns11:cs typeface="Arial"/>
              </ns11:defRPr>
            </ns11:pPr>
            <ns11:r>
              <ns11:rPr sz="2250" b="0">
                <ns11:solidFill>
                  <ns11:srgbClr val="17384A"/>
                </ns11:solidFill>
                <ns11:latin typeface="Arial"/>
                <ns11:ea typeface="Arial"/>
                <ns11:cs typeface="Arial"/>
              </ns11:rPr>
              <ns11:t>Check both lines. Keep the card flat.</ns11:t>
            </ns11:r>
          </ns11:p>
        </p:txBody>
      </p:sp>
      <p:sp>
        <p:nvSpPr>
          <p:cNvPr id="30" name="diagram-caption">
            <a:extLst xmlns:a="http://schemas.openxmlformats.org/drawingml/2006/main">
              <a:ext uri="{FF2B5EF4-FFF2-40B4-BE49-F238E27FC236}">
                <a16:creationId xmlns:a16="http://schemas.microsoft.com/office/drawing/2014/main" id="{FC71C855-EBF2-403A-A84C-6E763A685DA1}"/>
              </a:ext>
            </a:extLst>
          </p:cNvPr>
          <p:cNvSpPr>
            <a:spLocks xmlns:a="http://schemas.openxmlformats.org/drawingml/2006/main" noGrp="1"/>
          </p:cNvSpPr>
          <p:nvPr/>
        </p:nvSpPr>
        <p:spPr>
          <a:xfrm xmlns:a="http://schemas.openxmlformats.org/drawingml/2006/main">
            <a:off x="609600" y="53721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defRPr sz="2025" b="0">
                <a:solidFill>
                  <a:srgbClr val="146B68"/>
                </a:solidFill>
                <a:latin typeface="Arial"/>
                <a:ea typeface="Arial"/>
                <a:cs typeface="Arial"/>
              </a:defRPr>
            </a:lvl1pPr>
            <a:lvl2pPr algn="l">
              <a:defRPr sz="2025" b="0">
                <a:solidFill>
                  <a:srgbClr val="146B68"/>
                </a:solidFill>
                <a:latin typeface="Arial"/>
                <a:ea typeface="Arial"/>
                <a:cs typeface="Arial"/>
              </a:defRPr>
            </a:lvl2pPr>
            <a:lvl3pPr algn="l">
              <a:defRPr sz="2025" b="0">
                <a:solidFill>
                  <a:srgbClr val="146B68"/>
                </a:solidFill>
                <a:latin typeface="Arial"/>
                <a:ea typeface="Arial"/>
                <a:cs typeface="Arial"/>
              </a:defRPr>
            </a:lvl3pPr>
            <a:lvl4pPr algn="l">
              <a:defRPr sz="2025" b="0">
                <a:solidFill>
                  <a:srgbClr val="146B68"/>
                </a:solidFill>
                <a:latin typeface="Arial"/>
                <a:ea typeface="Arial"/>
                <a:cs typeface="Arial"/>
              </a:defRPr>
            </a:lvl4pPr>
            <a:lvl5pPr algn="l">
              <a:defRPr sz="2025" b="0">
                <a:solidFill>
                  <a:srgbClr val="146B68"/>
                </a:solidFill>
                <a:latin typeface="Arial"/>
                <a:ea typeface="Arial"/>
                <a:cs typeface="Arial"/>
              </a:defRPr>
            </a:lvl5pPr>
            <a:lvl6pPr algn="l">
              <a:defRPr sz="2025" b="0">
                <a:solidFill>
                  <a:srgbClr val="146B68"/>
                </a:solidFill>
                <a:latin typeface="Arial"/>
                <a:ea typeface="Arial"/>
                <a:cs typeface="Arial"/>
              </a:defRPr>
            </a:lvl6pPr>
            <a:lvl7pPr algn="l">
              <a:defRPr sz="2025" b="0">
                <a:solidFill>
                  <a:srgbClr val="146B68"/>
                </a:solidFill>
                <a:latin typeface="Arial"/>
                <a:ea typeface="Arial"/>
                <a:cs typeface="Arial"/>
              </a:defRPr>
            </a:lvl7pPr>
            <a:lvl8pPr algn="l">
              <a:defRPr sz="2025" b="0">
                <a:solidFill>
                  <a:srgbClr val="146B68"/>
                </a:solidFill>
                <a:latin typeface="Arial"/>
                <a:ea typeface="Arial"/>
                <a:cs typeface="Arial"/>
              </a:defRPr>
            </a:lvl8pPr>
            <a:lvl9pPr algn="l">
              <a:defRPr sz="2025" b="0">
                <a:solidFill>
                  <a:srgbClr val="146B68"/>
                </a:solidFill>
                <a:latin typeface="Arial"/>
                <a:ea typeface="Arial"/>
                <a:cs typeface="Arial"/>
              </a:defRPr>
            </a:lvl9pPr>
          </a:lstStyle>
          <ns12:p xmlns:ns12="http://schemas.openxmlformats.org/drawingml/2006/main">
            <ns12:pPr algn="l">
              <ns12:defRPr sz="2025" b="0">
                <ns12:solidFill>
                  <ns12:srgbClr val="146B68"/>
                </ns12:solidFill>
                <ns12:latin typeface="Arial"/>
                <ns12:ea typeface="Arial"/>
                <ns12:cs typeface="Arial"/>
              </ns12:defRPr>
            </ns12:pPr>
            <ns12:r>
              <ns12:rPr sz="2025" b="0">
                <ns12:solidFill>
                  <ns12:srgbClr val="146B68"/>
                </ns12:solidFill>
                <ns12:latin typeface="Arial"/>
                <ns12:ea typeface="Arial"/>
                <ns12:cs typeface="Arial"/>
              </ns12:rPr>
              <ns12:t>Two fold lines: 2 cm and 6 cm from the same long edge.</ns12:t>
            </ns12:r>
          </ns12:p>
        </p:txBody>
      </p:sp>
    </p:spTree>
    <p:extLst>
      <p:ext uri="{BB962C8B-B14F-4D97-AF65-F5344CB8AC3E}">
        <p14:creationId xmlns:p14="http://schemas.microsoft.com/office/powerpoint/2010/main" val="17334477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7C3C7B59-169A-4D85-8D42-4261DA4D87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2A3137D-D971-4680-86CB-8E5867DC8EF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WE DO</ns0:t>
            </ns0:r>
          </ns0:p>
        </p:txBody>
      </p:sp>
      <p:sp>
        <p:nvSpPr>
          <p:cNvPr id="3" name="slide-number-time">
            <a:extLst xmlns:a="http://schemas.openxmlformats.org/drawingml/2006/main">
              <a:ext uri="{FF2B5EF4-FFF2-40B4-BE49-F238E27FC236}">
                <a16:creationId xmlns:a16="http://schemas.microsoft.com/office/drawing/2014/main" id="{C6C2E05D-C255-4FC3-A178-7C3A3ADF0B7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6 / 12  ·  5 min</ns1:t>
            </ns1:r>
          </ns1:p>
        </p:txBody>
      </p:sp>
      <p:sp>
        <p:nvSpPr>
          <p:cNvPr id="4" name="slide-title">
            <a:extLst xmlns:a="http://schemas.openxmlformats.org/drawingml/2006/main">
              <a:ext uri="{FF2B5EF4-FFF2-40B4-BE49-F238E27FC236}">
                <a16:creationId xmlns:a16="http://schemas.microsoft.com/office/drawing/2014/main" id="{D811F47D-1684-41AA-908F-4905BB64C2D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What is the safe next step?</ns5:t>
            </ns5:r>
          </ns5:p>
        </p:txBody>
      </p:sp>
      <p:sp>
        <p:nvSpPr>
          <p:cNvPr id="5" name="heading-rule">
            <a:extLst xmlns:a="http://schemas.openxmlformats.org/drawingml/2006/main">
              <a:ext uri="{FF2B5EF4-FFF2-40B4-BE49-F238E27FC236}">
                <a16:creationId xmlns:a16="http://schemas.microsoft.com/office/drawing/2014/main" id="{B1A3538F-988B-4A37-9593-681FEF7FC7E8}"/>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E929F48F-CB8A-43F6-9EBB-1D3B70608B3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DT-LAUNCH-A2-W02</ns2:t>
            </ns2:r>
          </ns2:p>
        </p:txBody>
      </p:sp>
      <p:sp>
        <p:nvSpPr>
          <p:cNvPr id="11" name="edition-label">
            <a:extLst xmlns:a="http://schemas.openxmlformats.org/drawingml/2006/main">
              <a:ext uri="{FF2B5EF4-FFF2-40B4-BE49-F238E27FC236}">
                <a16:creationId xmlns:a16="http://schemas.microsoft.com/office/drawing/2014/main" id="{F8FC46E8-C419-4543-AFE8-4A3AE199E80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2" name="licence-credit">
            <a:extLst xmlns:a="http://schemas.openxmlformats.org/drawingml/2006/main">
              <a:ext uri="{FF2B5EF4-FFF2-40B4-BE49-F238E27FC236}">
                <a16:creationId xmlns:a16="http://schemas.microsoft.com/office/drawing/2014/main" id="{C1BD0028-6BB2-4DF9-979D-E866AEED941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4" name="body-0">
            <a:extLst xmlns:a="http://schemas.openxmlformats.org/drawingml/2006/main">
              <a:ext uri="{FF2B5EF4-FFF2-40B4-BE49-F238E27FC236}">
                <a16:creationId xmlns:a16="http://schemas.microsoft.com/office/drawing/2014/main" id="{6ECDBC84-CBD5-41C6-A1E7-78CBB780EC71}"/>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The ruler starts at 1 cm on the card edge.</ns6:t>
            </ns6:r>
          </ns6:p>
        </p:txBody>
      </p:sp>
      <p:sp>
        <p:nvSpPr>
          <p:cNvPr id="15" name="body-1">
            <a:extLst xmlns:a="http://schemas.openxmlformats.org/drawingml/2006/main">
              <a:ext uri="{FF2B5EF4-FFF2-40B4-BE49-F238E27FC236}">
                <a16:creationId xmlns:a16="http://schemas.microsoft.com/office/drawing/2014/main" id="{6A50435D-4FA5-4A21-A00A-9024D5A620DD}"/>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A  Keep it there and mark at 2 cm.</ns7:t>
            </ns7:r>
          </ns7:p>
        </p:txBody>
      </p:sp>
      <p:sp>
        <p:nvSpPr>
          <p:cNvPr id="16" name="body-2">
            <a:extLst xmlns:a="http://schemas.openxmlformats.org/drawingml/2006/main">
              <a:ext uri="{FF2B5EF4-FFF2-40B4-BE49-F238E27FC236}">
                <a16:creationId xmlns:a16="http://schemas.microsoft.com/office/drawing/2014/main" id="{2D40E9ED-0AAC-4ABF-91A4-B29F929BEAA5}"/>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B  Guess where the mark should go.</ns8:t>
            </ns8:r>
          </ns8:p>
        </p:txBody>
      </p:sp>
      <p:sp>
        <p:nvSpPr>
          <p:cNvPr id="17" name="body-3">
            <a:extLst xmlns:a="http://schemas.openxmlformats.org/drawingml/2006/main">
              <a:ext uri="{FF2B5EF4-FFF2-40B4-BE49-F238E27FC236}">
                <a16:creationId xmlns:a16="http://schemas.microsoft.com/office/drawing/2014/main" id="{15760A3D-C8CB-444C-97BB-DD974FBE7880}"/>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C  Move zero to the edge, then measure.</ns9:t>
            </ns9:r>
          </ns9:p>
        </p:txBody>
      </p:sp>
    </p:spTree>
    <p:extLst>
      <p:ext uri="{BB962C8B-B14F-4D97-AF65-F5344CB8AC3E}">
        <p14:creationId xmlns:p14="http://schemas.microsoft.com/office/powerpoint/2010/main" val="19771722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D8E5E2AB-ADA1-4838-ACF0-FFEF5BB56E1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18FBDEC-1AF3-4715-AA09-479266E2E3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YOU DO PRACTICE</ns0:t>
            </ns0:r>
          </ns0:p>
        </p:txBody>
      </p:sp>
      <p:sp>
        <p:nvSpPr>
          <p:cNvPr id="3" name="slide-number-time">
            <a:extLst xmlns:a="http://schemas.openxmlformats.org/drawingml/2006/main">
              <a:ext uri="{FF2B5EF4-FFF2-40B4-BE49-F238E27FC236}">
                <a16:creationId xmlns:a16="http://schemas.microsoft.com/office/drawing/2014/main" id="{E419A0B8-80B8-4D04-AA00-03054673B72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7 / 12  ·  12 min</ns1:t>
            </ns1:r>
          </ns1:p>
        </p:txBody>
      </p:sp>
      <p:sp>
        <p:nvSpPr>
          <p:cNvPr id="4" name="slide-title">
            <a:extLst xmlns:a="http://schemas.openxmlformats.org/drawingml/2006/main">
              <a:ext uri="{FF2B5EF4-FFF2-40B4-BE49-F238E27FC236}">
                <a16:creationId xmlns:a16="http://schemas.microsoft.com/office/drawing/2014/main" id="{B7103CDA-DC45-49C7-8199-AFE03A2C4AD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Our practice tasks</ns5:t>
            </ns5:r>
          </ns5:p>
        </p:txBody>
      </p:sp>
      <p:sp>
        <p:nvSpPr>
          <p:cNvPr id="5" name="heading-rule">
            <a:extLst xmlns:a="http://schemas.openxmlformats.org/drawingml/2006/main">
              <a:ext uri="{FF2B5EF4-FFF2-40B4-BE49-F238E27FC236}">
                <a16:creationId xmlns:a16="http://schemas.microsoft.com/office/drawing/2014/main" id="{AE716716-2304-4E68-B71C-7212C01D83C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78B1FBD6-B0E3-4DBA-AE92-B3E0AB199D8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DT-LAUNCH-A2-W02</ns2:t>
            </ns2:r>
          </ns2:p>
        </p:txBody>
      </p:sp>
      <p:sp>
        <p:nvSpPr>
          <p:cNvPr id="12" name="edition-label">
            <a:extLst xmlns:a="http://schemas.openxmlformats.org/drawingml/2006/main">
              <a:ext uri="{FF2B5EF4-FFF2-40B4-BE49-F238E27FC236}">
                <a16:creationId xmlns:a16="http://schemas.microsoft.com/office/drawing/2014/main" id="{464D54B0-7F69-47C0-8884-FB04772F8A7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1042A2BA-D71F-4608-81F1-56527613E05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D56143C9-633B-49FB-8C6A-CF18E2F3A1D5}"/>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Draw your plan. Then mark the real card.</ns6:t>
            </ns6:r>
          </ns6:p>
        </p:txBody>
      </p:sp>
      <p:sp>
        <p:nvSpPr>
          <p:cNvPr id="16" name="body-1">
            <a:extLst xmlns:a="http://schemas.openxmlformats.org/drawingml/2006/main">
              <a:ext uri="{FF2B5EF4-FFF2-40B4-BE49-F238E27FC236}">
                <a16:creationId xmlns:a16="http://schemas.microsoft.com/office/drawing/2014/main" id="{B6D490E7-1C72-4E1B-9DFF-6A51D7CD83AC}"/>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Supported: ask an adult to steady the ruler.</ns7:t>
            </ns7:r>
          </ns7:p>
        </p:txBody>
      </p:sp>
      <p:sp>
        <p:nvSpPr>
          <p:cNvPr id="17" name="body-2">
            <a:extLst xmlns:a="http://schemas.openxmlformats.org/drawingml/2006/main">
              <a:ext uri="{FF2B5EF4-FFF2-40B4-BE49-F238E27FC236}">
                <a16:creationId xmlns:a16="http://schemas.microsoft.com/office/drawing/2014/main" id="{08901007-A68D-49A8-B527-C521B404D0E8}"/>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Independent: plan, mark and check each line.</ns8:t>
            </ns8:r>
          </ns8:p>
        </p:txBody>
      </p:sp>
      <p:sp>
        <p:nvSpPr>
          <p:cNvPr id="18" name="body-3">
            <a:extLst xmlns:a="http://schemas.openxmlformats.org/drawingml/2006/main">
              <a:ext uri="{FF2B5EF4-FFF2-40B4-BE49-F238E27FC236}">
                <a16:creationId xmlns:a16="http://schemas.microsoft.com/office/drawing/2014/main" id="{3EA2B60A-E54D-4F8D-BC00-957C59C26DE0}"/>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Aspire: explain why both marks use one edge.</ns9:t>
            </ns9:r>
          </ns9:p>
        </p:txBody>
      </p:sp>
      <p:sp>
        <p:nvSpPr>
          <p:cNvPr id="19" name="body-4">
            <a:extLst xmlns:a="http://schemas.openxmlformats.org/drawingml/2006/main">
              <a:ext uri="{FF2B5EF4-FFF2-40B4-BE49-F238E27FC236}">
                <a16:creationId xmlns:a16="http://schemas.microsoft.com/office/drawing/2014/main" id="{4583C6A7-E83D-4290-B65B-7B823E667CBC}"/>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Keep the card flat. We will build later.</ns10:t>
            </ns10:r>
          </ns10:p>
        </p:txBody>
      </p:sp>
    </p:spTree>
    <p:extLst>
      <p:ext uri="{BB962C8B-B14F-4D97-AF65-F5344CB8AC3E}">
        <p14:creationId xmlns:p14="http://schemas.microsoft.com/office/powerpoint/2010/main" val="1624949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66C44A98-3D93-4F51-B71E-69741D9BC75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B347D01-AF7A-441C-95AA-D9DDC8E7E67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YOU DO EVIDENCE</ns0:t>
            </ns0:r>
          </ns0:p>
        </p:txBody>
      </p:sp>
      <p:sp>
        <p:nvSpPr>
          <p:cNvPr id="3" name="slide-number-time">
            <a:extLst xmlns:a="http://schemas.openxmlformats.org/drawingml/2006/main">
              <a:ext uri="{FF2B5EF4-FFF2-40B4-BE49-F238E27FC236}">
                <a16:creationId xmlns:a16="http://schemas.microsoft.com/office/drawing/2014/main" id="{0E908289-E77F-4BCE-B478-BFBAF859EEEF}"/>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8 / 12  ·  6 min</ns1:t>
            </ns1:r>
          </ns1:p>
        </p:txBody>
      </p:sp>
      <p:sp>
        <p:nvSpPr>
          <p:cNvPr id="4" name="slide-title">
            <a:extLst xmlns:a="http://schemas.openxmlformats.org/drawingml/2006/main">
              <a:ext uri="{FF2B5EF4-FFF2-40B4-BE49-F238E27FC236}">
                <a16:creationId xmlns:a16="http://schemas.microsoft.com/office/drawing/2014/main" id="{F44AEF26-FD38-4E07-B155-D8216D2DD38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My evidence</ns5:t>
            </ns5:r>
          </ns5:p>
        </p:txBody>
      </p:sp>
      <p:sp>
        <p:nvSpPr>
          <p:cNvPr id="5" name="heading-rule">
            <a:extLst xmlns:a="http://schemas.openxmlformats.org/drawingml/2006/main">
              <a:ext uri="{FF2B5EF4-FFF2-40B4-BE49-F238E27FC236}">
                <a16:creationId xmlns:a16="http://schemas.microsoft.com/office/drawing/2014/main" id="{65EC05C6-1DDD-4ED7-9416-85B2792CABF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86E837DB-874D-4D98-95F1-0A5EB40AFEE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DT-LAUNCH-A2-W02</ns2:t>
            </ns2:r>
          </ns2:p>
        </p:txBody>
      </p:sp>
      <p:sp>
        <p:nvSpPr>
          <p:cNvPr id="13" name="edition-label">
            <a:extLst xmlns:a="http://schemas.openxmlformats.org/drawingml/2006/main">
              <a:ext uri="{FF2B5EF4-FFF2-40B4-BE49-F238E27FC236}">
                <a16:creationId xmlns:a16="http://schemas.microsoft.com/office/drawing/2014/main" id="{BB784062-68CA-4716-9541-FCC2624ADBF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4" name="licence-credit">
            <a:extLst xmlns:a="http://schemas.openxmlformats.org/drawingml/2006/main">
              <a:ext uri="{FF2B5EF4-FFF2-40B4-BE49-F238E27FC236}">
                <a16:creationId xmlns:a16="http://schemas.microsoft.com/office/drawing/2014/main" id="{56B640B8-BB08-416A-913B-30884D34861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6" name="body-0">
            <a:extLst xmlns:a="http://schemas.openxmlformats.org/drawingml/2006/main">
              <a:ext uri="{FF2B5EF4-FFF2-40B4-BE49-F238E27FC236}">
                <a16:creationId xmlns:a16="http://schemas.microsoft.com/office/drawing/2014/main" id="{39255F30-454A-4B62-B463-8ED37A47597C}"/>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Keep your plan and your marked card.</ns6:t>
            </ns6:r>
          </ns6:p>
        </p:txBody>
      </p:sp>
      <p:sp>
        <p:nvSpPr>
          <p:cNvPr id="17" name="body-1">
            <a:extLst xmlns:a="http://schemas.openxmlformats.org/drawingml/2006/main">
              <a:ext uri="{FF2B5EF4-FFF2-40B4-BE49-F238E27FC236}">
                <a16:creationId xmlns:a16="http://schemas.microsoft.com/office/drawing/2014/main" id="{B400D461-D55C-4F45-8F48-1294C146E800}"/>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Check 2 cm and 6 cm at both short ends.</ns7:t>
            </ns7:r>
          </ns7:p>
        </p:txBody>
      </p:sp>
      <p:sp>
        <p:nvSpPr>
          <p:cNvPr id="18" name="body-2">
            <a:extLst xmlns:a="http://schemas.openxmlformats.org/drawingml/2006/main">
              <a:ext uri="{FF2B5EF4-FFF2-40B4-BE49-F238E27FC236}">
                <a16:creationId xmlns:a16="http://schemas.microsoft.com/office/drawing/2014/main" id="{8D8AABD9-7E6F-4862-B495-E49E9D6827DA}"/>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Record your checks and any change.</ns8:t>
            </ns8:r>
          </ns8:p>
        </p:txBody>
      </p:sp>
      <p:sp>
        <p:nvSpPr>
          <p:cNvPr id="19" name="body-3">
            <a:extLst xmlns:a="http://schemas.openxmlformats.org/drawingml/2006/main">
              <a:ext uri="{FF2B5EF4-FFF2-40B4-BE49-F238E27FC236}">
                <a16:creationId xmlns:a16="http://schemas.microsoft.com/office/drawing/2014/main" id="{BE650D55-78CE-4B6C-B594-BF1451CAB65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Respond to feedback in your own colour.</ns9:t>
            </ns9:r>
          </ns9:p>
        </p:txBody>
      </p:sp>
    </p:spTree>
    <p:extLst>
      <p:ext uri="{BB962C8B-B14F-4D97-AF65-F5344CB8AC3E}">
        <p14:creationId xmlns:p14="http://schemas.microsoft.com/office/powerpoint/2010/main" val="6726751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D99B899-E3BF-49C2-AF68-6D6CF11441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39133E1-A8EA-4557-ABD0-F0F049DC8CF7}"/>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TIDY AND EVIDENCE CHECK</ns0:t>
            </ns0:r>
          </ns0:p>
        </p:txBody>
      </p:sp>
      <p:sp>
        <p:nvSpPr>
          <p:cNvPr id="3" name="slide-number-time">
            <a:extLst xmlns:a="http://schemas.openxmlformats.org/drawingml/2006/main">
              <a:ext uri="{FF2B5EF4-FFF2-40B4-BE49-F238E27FC236}">
                <a16:creationId xmlns:a16="http://schemas.microsoft.com/office/drawing/2014/main" id="{D74A83CD-4D73-4E4A-B78C-D8D074F8EC5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9 / 12  ·  4 min</ns1:t>
            </ns1:r>
          </ns1:p>
        </p:txBody>
      </p:sp>
      <p:sp>
        <p:nvSpPr>
          <p:cNvPr id="4" name="slide-title">
            <a:extLst xmlns:a="http://schemas.openxmlformats.org/drawingml/2006/main">
              <a:ext uri="{FF2B5EF4-FFF2-40B4-BE49-F238E27FC236}">
                <a16:creationId xmlns:a16="http://schemas.microsoft.com/office/drawing/2014/main" id="{35FC91DF-147B-4BBB-8617-27DEAEDBA17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Tidy and check</ns5:t>
            </ns5:r>
          </ns5:p>
        </p:txBody>
      </p:sp>
      <p:sp>
        <p:nvSpPr>
          <p:cNvPr id="5" name="heading-rule">
            <a:extLst xmlns:a="http://schemas.openxmlformats.org/drawingml/2006/main">
              <a:ext uri="{FF2B5EF4-FFF2-40B4-BE49-F238E27FC236}">
                <a16:creationId xmlns:a16="http://schemas.microsoft.com/office/drawing/2014/main" id="{5D051C0A-7299-461B-B2A0-C9E66A73DDB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FCC4FAC5-3A9D-4290-89BD-E0E63D688C2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DT-LAUNCH-A2-W02</ns2:t>
            </ns2:r>
          </ns2:p>
        </p:txBody>
      </p:sp>
      <p:sp>
        <p:nvSpPr>
          <p:cNvPr id="15" name="edition-label">
            <a:extLst xmlns:a="http://schemas.openxmlformats.org/drawingml/2006/main">
              <a:ext uri="{FF2B5EF4-FFF2-40B4-BE49-F238E27FC236}">
                <a16:creationId xmlns:a16="http://schemas.microsoft.com/office/drawing/2014/main" id="{D9053BBE-8E7B-41BA-A413-FA20D299185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6" name="licence-credit">
            <a:extLst xmlns:a="http://schemas.openxmlformats.org/drawingml/2006/main">
              <a:ext uri="{FF2B5EF4-FFF2-40B4-BE49-F238E27FC236}">
                <a16:creationId xmlns:a16="http://schemas.microsoft.com/office/drawing/2014/main" id="{0FA6775F-4A85-43BE-A6BA-4F00B61D612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8" name="step-number-0">
            <a:extLst xmlns:a="http://schemas.openxmlformats.org/drawingml/2006/main">
              <a:ext uri="{FF2B5EF4-FFF2-40B4-BE49-F238E27FC236}">
                <a16:creationId xmlns:a16="http://schemas.microsoft.com/office/drawing/2014/main" id="{087B79DB-B13D-4C00-8AD4-C621817E4ADF}"/>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EFF555BC-8EEA-48FD-8C9B-0D66683B0A36}"/>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Check your name or ID and both pages.</ns6:t>
            </ns6:r>
          </ns6:p>
        </p:txBody>
      </p:sp>
      <p:sp>
        <p:nvSpPr>
          <p:cNvPr id="20" name="step-number-1">
            <a:extLst xmlns:a="http://schemas.openxmlformats.org/drawingml/2006/main">
              <a:ext uri="{FF2B5EF4-FFF2-40B4-BE49-F238E27FC236}">
                <a16:creationId xmlns:a16="http://schemas.microsoft.com/office/drawing/2014/main" id="{C413AB4A-46AA-4E82-B169-6983E9E0B43B}"/>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7C8BF745-D880-47F7-B45F-9EF87BFBF3DB}"/>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Keep your work and record the help used.</ns7:t>
            </ns7:r>
          </ns7:p>
        </p:txBody>
      </p:sp>
      <p:sp>
        <p:nvSpPr>
          <p:cNvPr id="22" name="step-number-2">
            <a:extLst xmlns:a="http://schemas.openxmlformats.org/drawingml/2006/main">
              <a:ext uri="{FF2B5EF4-FFF2-40B4-BE49-F238E27FC236}">
                <a16:creationId xmlns:a16="http://schemas.microsoft.com/office/drawing/2014/main" id="{8ACC7B68-7ACB-459D-9247-0B3147F1F0D9}"/>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31AFDBC3-92F9-4C91-941F-C1B505420F6C}"/>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Return tools to the tray.</ns8:t>
            </ns8:r>
          </ns8:p>
        </p:txBody>
      </p:sp>
      <p:sp>
        <p:nvSpPr>
          <p:cNvPr id="24" name="step-number-3">
            <a:extLst xmlns:a="http://schemas.openxmlformats.org/drawingml/2006/main">
              <a:ext uri="{FF2B5EF4-FFF2-40B4-BE49-F238E27FC236}">
                <a16:creationId xmlns:a16="http://schemas.microsoft.com/office/drawing/2014/main" id="{21BDBCB0-4ED5-4F35-ADB5-9F2511A34D83}"/>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defRPr sz="2475" b="1">
                <a:solidFill>
                  <a:srgbClr val="176A6A"/>
                </a:solidFill>
                <a:latin typeface="Arial"/>
                <a:ea typeface="Arial"/>
                <a:cs typeface="Arial"/>
              </a:defRPr>
            </a:lvl1pPr>
            <a:lvl2pPr algn="l">
              <a:defRPr sz="2475" b="1">
                <a:solidFill>
                  <a:srgbClr val="176A6A"/>
                </a:solidFill>
                <a:latin typeface="Arial"/>
                <a:ea typeface="Arial"/>
                <a:cs typeface="Arial"/>
              </a:defRPr>
            </a:lvl2pPr>
            <a:lvl3pPr algn="l">
              <a:defRPr sz="2475" b="1">
                <a:solidFill>
                  <a:srgbClr val="176A6A"/>
                </a:solidFill>
                <a:latin typeface="Arial"/>
                <a:ea typeface="Arial"/>
                <a:cs typeface="Arial"/>
              </a:defRPr>
            </a:lvl3pPr>
            <a:lvl4pPr algn="l">
              <a:defRPr sz="2475" b="1">
                <a:solidFill>
                  <a:srgbClr val="176A6A"/>
                </a:solidFill>
                <a:latin typeface="Arial"/>
                <a:ea typeface="Arial"/>
                <a:cs typeface="Arial"/>
              </a:defRPr>
            </a:lvl4pPr>
            <a:lvl5pPr algn="l">
              <a:defRPr sz="2475" b="1">
                <a:solidFill>
                  <a:srgbClr val="176A6A"/>
                </a:solidFill>
                <a:latin typeface="Arial"/>
                <a:ea typeface="Arial"/>
                <a:cs typeface="Arial"/>
              </a:defRPr>
            </a:lvl5pPr>
            <a:lvl6pPr algn="l">
              <a:defRPr sz="2475" b="1">
                <a:solidFill>
                  <a:srgbClr val="176A6A"/>
                </a:solidFill>
                <a:latin typeface="Arial"/>
                <a:ea typeface="Arial"/>
                <a:cs typeface="Arial"/>
              </a:defRPr>
            </a:lvl6pPr>
            <a:lvl7pPr algn="l">
              <a:defRPr sz="2475" b="1">
                <a:solidFill>
                  <a:srgbClr val="176A6A"/>
                </a:solidFill>
                <a:latin typeface="Arial"/>
                <a:ea typeface="Arial"/>
                <a:cs typeface="Arial"/>
              </a:defRPr>
            </a:lvl7pPr>
            <a:lvl8pPr algn="l">
              <a:defRPr sz="2475" b="1">
                <a:solidFill>
                  <a:srgbClr val="176A6A"/>
                </a:solidFill>
                <a:latin typeface="Arial"/>
                <a:ea typeface="Arial"/>
                <a:cs typeface="Arial"/>
              </a:defRPr>
            </a:lvl8pPr>
            <a:lvl9pPr algn="l">
              <a:defRPr sz="2475" b="1">
                <a:solidFill>
                  <a:srgbClr val="176A6A"/>
                </a:solidFill>
                <a:latin typeface="Arial"/>
                <a:ea typeface="Arial"/>
                <a:cs typeface="Arial"/>
              </a:defRPr>
            </a:lvl9pPr>
          </a:lstStyle>
          <a:p xmlns:a="http://schemas.openxmlformats.org/drawingml/2006/main">
            <a:pPr algn="l">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11DBDF86-9217-4206-908E-A4E9A9C073B9}"/>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9:p xmlns:ns9="http://schemas.openxmlformats.org/drawingml/2006/main">
            <ns9:pPr algn="l">
              <ns9:defRPr sz="2250" b="0">
                <ns9:solidFill>
                  <ns9:srgbClr val="17384A"/>
                </ns9:solidFill>
                <ns9:latin typeface="Arial"/>
                <ns9:ea typeface="Arial"/>
                <ns9:cs typeface="Arial"/>
              </ns9:defRPr>
            </ns9:pPr>
            <ns9:r>
              <ns9:rPr sz="2250" b="0">
                <ns9:solidFill>
                  <ns9:srgbClr val="17384A"/>
                </ns9:solidFill>
                <ns9:latin typeface="Arial"/>
                <ns9:ea typeface="Arial"/>
                <ns9:cs typeface="Arial"/>
              </ns9:rPr>
              <ns9:t>Tell the adult your next step.</ns9:t>
            </ns9:r>
          </ns9:p>
        </p:txBody>
      </p:sp>
    </p:spTree>
    <p:extLst>
      <p:ext uri="{BB962C8B-B14F-4D97-AF65-F5344CB8AC3E}">
        <p14:creationId xmlns:p14="http://schemas.microsoft.com/office/powerpoint/2010/main" val="6573137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59C9C49A-1ECE-4C68-AA48-8F45006DD9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D7B1B8-710A-4637-AD51-BB394286BE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EXIT TICKET</ns0:t>
            </ns0:r>
          </ns0:p>
        </p:txBody>
      </p:sp>
      <p:sp>
        <p:nvSpPr>
          <p:cNvPr id="3" name="slide-number-time">
            <a:extLst xmlns:a="http://schemas.openxmlformats.org/drawingml/2006/main">
              <a:ext uri="{FF2B5EF4-FFF2-40B4-BE49-F238E27FC236}">
                <a16:creationId xmlns:a16="http://schemas.microsoft.com/office/drawing/2014/main" id="{66109A82-556F-4CF9-B5DC-048C49CC545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10 / 12  ·  2 min</ns1:t>
            </ns1:r>
          </ns1:p>
        </p:txBody>
      </p:sp>
      <p:sp>
        <p:nvSpPr>
          <p:cNvPr id="4" name="slide-title">
            <a:extLst xmlns:a="http://schemas.openxmlformats.org/drawingml/2006/main">
              <a:ext uri="{FF2B5EF4-FFF2-40B4-BE49-F238E27FC236}">
                <a16:creationId xmlns:a16="http://schemas.microsoft.com/office/drawing/2014/main" id="{64E39EA1-F3DB-4E05-BB09-794112D7B4A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Exit ticket</ns5:t>
            </ns5:r>
          </ns5:p>
        </p:txBody>
      </p:sp>
      <p:sp>
        <p:nvSpPr>
          <p:cNvPr id="5" name="heading-rule">
            <a:extLst xmlns:a="http://schemas.openxmlformats.org/drawingml/2006/main">
              <a:ext uri="{FF2B5EF4-FFF2-40B4-BE49-F238E27FC236}">
                <a16:creationId xmlns:a16="http://schemas.microsoft.com/office/drawing/2014/main" id="{0A4497D4-A50A-4696-9DCC-0A2E8DE99BE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932148A5-B336-4611-A94A-0D8133BB92F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DT-LAUNCH-A2-W02</ns2:t>
            </ns2:r>
          </ns2:p>
        </p:txBody>
      </p:sp>
      <p:sp>
        <p:nvSpPr>
          <p:cNvPr id="10" name="edition-label">
            <a:extLst xmlns:a="http://schemas.openxmlformats.org/drawingml/2006/main">
              <a:ext uri="{FF2B5EF4-FFF2-40B4-BE49-F238E27FC236}">
                <a16:creationId xmlns:a16="http://schemas.microsoft.com/office/drawing/2014/main" id="{5BDFC492-DAA3-45FD-974E-5934DD86EAC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1" name="licence-credit">
            <a:extLst xmlns:a="http://schemas.openxmlformats.org/drawingml/2006/main">
              <a:ext uri="{FF2B5EF4-FFF2-40B4-BE49-F238E27FC236}">
                <a16:creationId xmlns:a16="http://schemas.microsoft.com/office/drawing/2014/main" id="{684DD80D-ABF7-4E04-914D-90124C59383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3" name="body-0">
            <a:extLst xmlns:a="http://schemas.openxmlformats.org/drawingml/2006/main">
              <a:ext uri="{FF2B5EF4-FFF2-40B4-BE49-F238E27FC236}">
                <a16:creationId xmlns:a16="http://schemas.microsoft.com/office/drawing/2014/main" id="{65D257E5-CECE-41DE-9AB8-111EC1B098FF}"/>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6:p xmlns:ns6="http://schemas.openxmlformats.org/drawingml/2006/main">
            <ns6:pPr algn="l">
              <ns6:defRPr sz="2250" b="0">
                <ns6:solidFill>
                  <ns6:srgbClr val="17384A"/>
                </ns6:solidFill>
                <ns6:latin typeface="Arial"/>
                <ns6:ea typeface="Arial"/>
                <ns6:cs typeface="Arial"/>
              </ns6:defRPr>
            </ns6:pPr>
            <ns6:r>
              <ns6:rPr sz="2250" b="0">
                <ns6:solidFill>
                  <ns6:srgbClr val="17384A"/>
                </ns6:solidFill>
                <ns6:latin typeface="Arial"/>
                <ns6:ea typeface="Arial"/>
                <ns6:cs typeface="Arial"/>
              </ns6:rPr>
              <ns6:t>Where should ruler zero go?</ns6:t>
            </ns6:r>
          </ns6:p>
        </p:txBody>
      </p:sp>
      <p:sp>
        <p:nvSpPr>
          <p:cNvPr id="14" name="body-1">
            <a:extLst xmlns:a="http://schemas.openxmlformats.org/drawingml/2006/main">
              <a:ext uri="{FF2B5EF4-FFF2-40B4-BE49-F238E27FC236}">
                <a16:creationId xmlns:a16="http://schemas.microsoft.com/office/drawing/2014/main" id="{6F4C84B4-AD02-4D06-85D4-17AEF7372EE5}"/>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7:p xmlns:ns7="http://schemas.openxmlformats.org/drawingml/2006/main">
            <ns7:pPr algn="l">
              <ns7:defRPr sz="2250" b="0">
                <ns7:solidFill>
                  <ns7:srgbClr val="17384A"/>
                </ns7:solidFill>
                <ns7:latin typeface="Arial"/>
                <ns7:ea typeface="Arial"/>
                <ns7:cs typeface="Arial"/>
              </ns7:defRPr>
            </ns7:pPr>
            <ns7:r>
              <ns7:rPr sz="2250" b="0">
                <ns7:solidFill>
                  <ns7:srgbClr val="17384A"/>
                </ns7:solidFill>
                <ns7:latin typeface="Arial"/>
                <ns7:ea typeface="Arial"/>
                <ns7:cs typeface="Arial"/>
              </ns7:rPr>
              <ns7:t>How far from the same edge are both lines?</ns7:t>
            </ns7:r>
          </ns7:p>
        </p:txBody>
      </p:sp>
      <p:sp>
        <p:nvSpPr>
          <p:cNvPr id="15" name="body-2">
            <a:extLst xmlns:a="http://schemas.openxmlformats.org/drawingml/2006/main">
              <a:ext uri="{FF2B5EF4-FFF2-40B4-BE49-F238E27FC236}">
                <a16:creationId xmlns:a16="http://schemas.microsoft.com/office/drawing/2014/main" id="{B480E7FE-B5BC-4A66-80F3-704BD1D4F1B3}"/>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defRPr sz="2250" b="0">
                <a:solidFill>
                  <a:srgbClr val="17384A"/>
                </a:solidFill>
                <a:latin typeface="Arial"/>
                <a:ea typeface="Arial"/>
                <a:cs typeface="Arial"/>
              </a:defRPr>
            </a:lvl1pPr>
            <a:lvl2pPr algn="l">
              <a:defRPr sz="2250" b="0">
                <a:solidFill>
                  <a:srgbClr val="17384A"/>
                </a:solidFill>
                <a:latin typeface="Arial"/>
                <a:ea typeface="Arial"/>
                <a:cs typeface="Arial"/>
              </a:defRPr>
            </a:lvl2pPr>
            <a:lvl3pPr algn="l">
              <a:defRPr sz="2250" b="0">
                <a:solidFill>
                  <a:srgbClr val="17384A"/>
                </a:solidFill>
                <a:latin typeface="Arial"/>
                <a:ea typeface="Arial"/>
                <a:cs typeface="Arial"/>
              </a:defRPr>
            </a:lvl3pPr>
            <a:lvl4pPr algn="l">
              <a:defRPr sz="2250" b="0">
                <a:solidFill>
                  <a:srgbClr val="17384A"/>
                </a:solidFill>
                <a:latin typeface="Arial"/>
                <a:ea typeface="Arial"/>
                <a:cs typeface="Arial"/>
              </a:defRPr>
            </a:lvl4pPr>
            <a:lvl5pPr algn="l">
              <a:defRPr sz="2250" b="0">
                <a:solidFill>
                  <a:srgbClr val="17384A"/>
                </a:solidFill>
                <a:latin typeface="Arial"/>
                <a:ea typeface="Arial"/>
                <a:cs typeface="Arial"/>
              </a:defRPr>
            </a:lvl5pPr>
            <a:lvl6pPr algn="l">
              <a:defRPr sz="2250" b="0">
                <a:solidFill>
                  <a:srgbClr val="17384A"/>
                </a:solidFill>
                <a:latin typeface="Arial"/>
                <a:ea typeface="Arial"/>
                <a:cs typeface="Arial"/>
              </a:defRPr>
            </a:lvl6pPr>
            <a:lvl7pPr algn="l">
              <a:defRPr sz="2250" b="0">
                <a:solidFill>
                  <a:srgbClr val="17384A"/>
                </a:solidFill>
                <a:latin typeface="Arial"/>
                <a:ea typeface="Arial"/>
                <a:cs typeface="Arial"/>
              </a:defRPr>
            </a:lvl7pPr>
            <a:lvl8pPr algn="l">
              <a:defRPr sz="2250" b="0">
                <a:solidFill>
                  <a:srgbClr val="17384A"/>
                </a:solidFill>
                <a:latin typeface="Arial"/>
                <a:ea typeface="Arial"/>
                <a:cs typeface="Arial"/>
              </a:defRPr>
            </a:lvl8pPr>
            <a:lvl9pPr algn="l">
              <a:defRPr sz="2250" b="0">
                <a:solidFill>
                  <a:srgbClr val="17384A"/>
                </a:solidFill>
                <a:latin typeface="Arial"/>
                <a:ea typeface="Arial"/>
                <a:cs typeface="Arial"/>
              </a:defRPr>
            </a:lvl9pPr>
          </a:lstStyle>
          <ns8:p xmlns:ns8="http://schemas.openxmlformats.org/drawingml/2006/main">
            <ns8:pPr algn="l">
              <ns8:defRPr sz="2250" b="0">
                <ns8:solidFill>
                  <ns8:srgbClr val="17384A"/>
                </ns8:solidFill>
                <ns8:latin typeface="Arial"/>
                <ns8:ea typeface="Arial"/>
                <ns8:cs typeface="Arial"/>
              </ns8:defRPr>
            </ns8:pPr>
            <ns8:r>
              <ns8:rPr sz="2250" b="0">
                <ns8:solidFill>
                  <ns8:srgbClr val="17384A"/>
                </ns8:solidFill>
                <ns8:latin typeface="Arial"/>
                <ns8:ea typeface="Arial"/>
                <ns8:cs typeface="Arial"/>
              </ns8:rPr>
              <ns8:t>How will you check a mark before building?</ns8:t>
            </ns8:r>
          </ns8:p>
        </p:txBody>
      </p:sp>
    </p:spTree>
    <p:extLst>
      <p:ext uri="{BB962C8B-B14F-4D97-AF65-F5344CB8AC3E}">
        <p14:creationId xmlns:p14="http://schemas.microsoft.com/office/powerpoint/2010/main" val="216046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D7E27DC8-5780-4C6F-967F-69F5095E01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10CD50A6-479A-42E3-9889-EC0655F086C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VOCABULARY</ns0:t>
            </ns0:r>
          </ns0:p>
        </p:txBody>
      </p:sp>
      <p:sp>
        <p:nvSpPr>
          <p:cNvPr id="3" name="slide-number-time">
            <a:extLst xmlns:a="http://schemas.openxmlformats.org/drawingml/2006/main">
              <a:ext uri="{FF2B5EF4-FFF2-40B4-BE49-F238E27FC236}">
                <a16:creationId xmlns:a16="http://schemas.microsoft.com/office/drawing/2014/main" id="{71513864-1F44-47A2-8AB0-36023EBE7FDC}"/>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11 / 12</ns1:t>
            </ns1:r>
          </ns1:p>
        </p:txBody>
      </p:sp>
      <p:sp>
        <p:nvSpPr>
          <p:cNvPr id="4" name="slide-title">
            <a:extLst xmlns:a="http://schemas.openxmlformats.org/drawingml/2006/main">
              <a:ext uri="{FF2B5EF4-FFF2-40B4-BE49-F238E27FC236}">
                <a16:creationId xmlns:a16="http://schemas.microsoft.com/office/drawing/2014/main" id="{60AC37AA-F3B2-4D83-838F-55D3F178146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Words that help</ns5:t>
            </ns5:r>
          </ns5:p>
        </p:txBody>
      </p:sp>
      <p:sp>
        <p:nvSpPr>
          <p:cNvPr id="5" name="heading-rule">
            <a:extLst xmlns:a="http://schemas.openxmlformats.org/drawingml/2006/main">
              <a:ext uri="{FF2B5EF4-FFF2-40B4-BE49-F238E27FC236}">
                <a16:creationId xmlns:a16="http://schemas.microsoft.com/office/drawing/2014/main" id="{A88D4494-77DD-42F8-A953-8F665FD2C3F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A55B9542-E345-4C7A-A0EC-BB2D0E57999A}"/>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DT-LAUNCH-A2-W02</ns2:t>
            </ns2:r>
          </ns2:p>
        </p:txBody>
      </p:sp>
      <p:sp>
        <p:nvSpPr>
          <p:cNvPr id="13" name="edition-label">
            <a:extLst xmlns:a="http://schemas.openxmlformats.org/drawingml/2006/main">
              <a:ext uri="{FF2B5EF4-FFF2-40B4-BE49-F238E27FC236}">
                <a16:creationId xmlns:a16="http://schemas.microsoft.com/office/drawing/2014/main" id="{79C90A18-ACEE-4E26-A658-19337AA5301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4" name="licence-credit">
            <a:extLst xmlns:a="http://schemas.openxmlformats.org/drawingml/2006/main">
              <a:ext uri="{FF2B5EF4-FFF2-40B4-BE49-F238E27FC236}">
                <a16:creationId xmlns:a16="http://schemas.microsoft.com/office/drawing/2014/main" id="{B8C65DA7-B3D3-4863-BFEB-F8AC4C662AAF}"/>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6" name="body-0">
            <a:extLst xmlns:a="http://schemas.openxmlformats.org/drawingml/2006/main">
              <a:ext uri="{FF2B5EF4-FFF2-40B4-BE49-F238E27FC236}">
                <a16:creationId xmlns:a16="http://schemas.microsoft.com/office/drawing/2014/main" id="{AD5ECC91-FF83-473B-A80F-A2DCEA5EA4F5}"/>
              </a:ext>
            </a:extLst>
          </p:cNvPr>
          <p:cNvSpPr>
            <a:spLocks xmlns:a="http://schemas.openxmlformats.org/drawingml/2006/main" noGrp="1"/>
          </p:cNvSpPr>
          <p:nvPr/>
        </p:nvSpPr>
        <p:spPr>
          <a:xfrm xmlns:a="http://schemas.openxmlformats.org/drawingml/2006/main">
            <a:off x="6096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Plan: A drawing to guide work.</ns6:t>
            </ns6:r>
          </ns6:p>
        </p:txBody>
      </p:sp>
      <p:sp>
        <p:nvSpPr>
          <p:cNvPr id="17" name="body-1">
            <a:extLst xmlns:a="http://schemas.openxmlformats.org/drawingml/2006/main">
              <a:ext uri="{FF2B5EF4-FFF2-40B4-BE49-F238E27FC236}">
                <a16:creationId xmlns:a16="http://schemas.microsoft.com/office/drawing/2014/main" id="{88C68CAC-CA38-4207-B855-B297B6EF22BE}"/>
              </a:ext>
            </a:extLst>
          </p:cNvPr>
          <p:cNvSpPr>
            <a:spLocks xmlns:a="http://schemas.openxmlformats.org/drawingml/2006/main" noGrp="1"/>
          </p:cNvSpPr>
          <p:nvPr/>
        </p:nvSpPr>
        <p:spPr>
          <a:xfrm xmlns:a="http://schemas.openxmlformats.org/drawingml/2006/main">
            <a:off x="609600" y="2247329"/>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Mark out: Put lines on a material.</ns7:t>
            </ns7:r>
          </ns7:p>
        </p:txBody>
      </p:sp>
      <p:sp>
        <p:nvSpPr>
          <p:cNvPr id="18" name="body-2">
            <a:extLst xmlns:a="http://schemas.openxmlformats.org/drawingml/2006/main">
              <a:ext uri="{FF2B5EF4-FFF2-40B4-BE49-F238E27FC236}">
                <a16:creationId xmlns:a16="http://schemas.microsoft.com/office/drawing/2014/main" id="{98BB6F30-A928-488D-96C8-5767784E31A6}"/>
              </a:ext>
            </a:extLst>
          </p:cNvPr>
          <p:cNvSpPr>
            <a:spLocks xmlns:a="http://schemas.openxmlformats.org/drawingml/2006/main" noGrp="1"/>
          </p:cNvSpPr>
          <p:nvPr/>
        </p:nvSpPr>
        <p:spPr>
          <a:xfrm xmlns:a="http://schemas.openxmlformats.org/drawingml/2006/main">
            <a:off x="609600" y="3112961"/>
            <a:ext cx="5219700" cy="6751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Measure: Find a size with a scale.</ns8:t>
            </ns8:r>
          </ns8:p>
        </p:txBody>
      </p:sp>
      <p:sp>
        <p:nvSpPr>
          <p:cNvPr id="19" name="body-3">
            <a:extLst xmlns:a="http://schemas.openxmlformats.org/drawingml/2006/main">
              <a:ext uri="{FF2B5EF4-FFF2-40B4-BE49-F238E27FC236}">
                <a16:creationId xmlns:a16="http://schemas.microsoft.com/office/drawing/2014/main" id="{C20DEC5F-CD4B-4158-AF0D-E60254BF4CDF}"/>
              </a:ext>
            </a:extLst>
          </p:cNvPr>
          <p:cNvSpPr>
            <a:spLocks xmlns:a="http://schemas.openxmlformats.org/drawingml/2006/main" noGrp="1"/>
          </p:cNvSpPr>
          <p:nvPr/>
        </p:nvSpPr>
        <p:spPr>
          <a:xfrm xmlns:a="http://schemas.openxmlformats.org/drawingml/2006/main">
            <a:off x="609600" y="3978593"/>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Edge: The side of a shape.</ns9:t>
            </ns9:r>
          </ns9:p>
        </p:txBody>
      </p:sp>
      <p:sp>
        <p:nvSpPr>
          <p:cNvPr id="20" name="body-0">
            <a:extLst xmlns:a="http://schemas.openxmlformats.org/drawingml/2006/main">
              <a:ext uri="{FF2B5EF4-FFF2-40B4-BE49-F238E27FC236}">
                <a16:creationId xmlns:a16="http://schemas.microsoft.com/office/drawing/2014/main" id="{E1D697A6-2187-411F-9F04-95AEDEFD8F1F}"/>
              </a:ext>
            </a:extLst>
          </p:cNvPr>
          <p:cNvSpPr>
            <a:spLocks xmlns:a="http://schemas.openxmlformats.org/drawingml/2006/main" noGrp="1"/>
          </p:cNvSpPr>
          <p:nvPr/>
        </p:nvSpPr>
        <p:spPr>
          <a:xfrm xmlns:a="http://schemas.openxmlformats.org/drawingml/2006/main">
            <a:off x="6362700" y="1695450"/>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Fold line: Where to bend later.</ns10:t>
            </ns10:r>
          </ns10:p>
        </p:txBody>
      </p:sp>
      <p:sp>
        <p:nvSpPr>
          <p:cNvPr id="21" name="body-1">
            <a:extLst xmlns:a="http://schemas.openxmlformats.org/drawingml/2006/main">
              <a:ext uri="{FF2B5EF4-FFF2-40B4-BE49-F238E27FC236}">
                <a16:creationId xmlns:a16="http://schemas.microsoft.com/office/drawing/2014/main" id="{CBDB7742-827E-4DF1-ADBF-52ACD82E81C1}"/>
              </a:ext>
            </a:extLst>
          </p:cNvPr>
          <p:cNvSpPr>
            <a:spLocks xmlns:a="http://schemas.openxmlformats.org/drawingml/2006/main" noGrp="1"/>
          </p:cNvSpPr>
          <p:nvPr/>
        </p:nvSpPr>
        <p:spPr>
          <a:xfrm xmlns:a="http://schemas.openxmlformats.org/drawingml/2006/main">
            <a:off x="6362700" y="2247329"/>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1:p xmlns:ns11="http://schemas.openxmlformats.org/drawingml/2006/main">
            <ns11:pPr algn="l">
              <ns11:defRPr sz="2025" b="0">
                <ns11:solidFill>
                  <ns11:srgbClr val="17384A"/>
                </ns11:solidFill>
                <ns11:latin typeface="Arial"/>
                <ns11:ea typeface="Arial"/>
                <ns11:cs typeface="Arial"/>
              </ns11:defRPr>
            </ns11:pPr>
            <ns11:r>
              <ns11:rPr sz="2025" b="0">
                <ns11:solidFill>
                  <ns11:srgbClr val="17384A"/>
                </ns11:solidFill>
                <ns11:latin typeface="Arial"/>
                <ns11:ea typeface="Arial"/>
                <ns11:cs typeface="Arial"/>
              </ns11:rPr>
              <ns11:t>Span: The gap a bridge crosses.</ns11:t>
            </ns11:r>
          </ns11:p>
        </p:txBody>
      </p:sp>
      <p:sp>
        <p:nvSpPr>
          <p:cNvPr id="22" name="body-2">
            <a:extLst xmlns:a="http://schemas.openxmlformats.org/drawingml/2006/main">
              <a:ext uri="{FF2B5EF4-FFF2-40B4-BE49-F238E27FC236}">
                <a16:creationId xmlns:a16="http://schemas.microsoft.com/office/drawing/2014/main" id="{6E4AC5B5-5DB5-4AFD-A540-86B7945174BF}"/>
              </a:ext>
            </a:extLst>
          </p:cNvPr>
          <p:cNvSpPr>
            <a:spLocks xmlns:a="http://schemas.openxmlformats.org/drawingml/2006/main" noGrp="1"/>
          </p:cNvSpPr>
          <p:nvPr/>
        </p:nvSpPr>
        <p:spPr>
          <a:xfrm xmlns:a="http://schemas.openxmlformats.org/drawingml/2006/main">
            <a:off x="6362700" y="2799207"/>
            <a:ext cx="52197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2:p xmlns:ns12="http://schemas.openxmlformats.org/drawingml/2006/main">
            <ns12:pPr algn="l">
              <ns12:defRPr sz="2025" b="0">
                <ns12:solidFill>
                  <ns12:srgbClr val="17384A"/>
                </ns12:solidFill>
                <ns12:latin typeface="Arial"/>
                <ns12:ea typeface="Arial"/>
                <ns12:cs typeface="Arial"/>
              </ns12:defRPr>
            </ns12:pPr>
            <ns12:r>
              <ns12:rPr sz="2025" b="0">
                <ns12:solidFill>
                  <ns12:srgbClr val="17384A"/>
                </ns12:solidFill>
                <ns12:latin typeface="Arial"/>
                <ns12:ea typeface="Arial"/>
                <ns12:cs typeface="Arial"/>
              </ns12:rPr>
              <ns12:t>Check: Look again at your work.</ns12:t>
            </ns12:r>
          </ns12:p>
        </p:txBody>
      </p:sp>
    </p:spTree>
    <p:extLst>
      <p:ext uri="{BB962C8B-B14F-4D97-AF65-F5344CB8AC3E}">
        <p14:creationId xmlns:p14="http://schemas.microsoft.com/office/powerpoint/2010/main" val="1724659072"/>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506853DF-EDE9-47DE-B379-5CA30FE014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C5D01BA-4C5C-4CC7-8930-4470E839FB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ns0:p xmlns:ns0="http://schemas.openxmlformats.org/drawingml/2006/main">
            <ns0:pPr algn="l">
              <ns0:buNone/>
              <ns0:defRPr sz="1275" b="1">
                <ns0:solidFill>
                  <ns0:srgbClr val="146B68"/>
                </ns0:solidFill>
                <ns0:latin typeface="Arial"/>
                <ns0:ea typeface="Arial"/>
                <ns0:cs typeface="Arial"/>
              </ns0:defRPr>
            </ns0:pPr>
            <ns0:r>
              <ns0:rPr sz="1275" b="1">
                <ns0:solidFill>
                  <ns0:srgbClr val="146B68"/>
                </ns0:solidFill>
                <ns0:latin typeface="Arial"/>
                <ns0:ea typeface="Arial"/>
                <ns0:cs typeface="Arial"/>
              </ns0:rPr>
              <ns0:t>STAFF BRIEF</ns0:t>
            </ns0:r>
          </ns0:p>
        </p:txBody>
      </p:sp>
      <p:sp>
        <p:nvSpPr>
          <p:cNvPr id="3" name="slide-number-time">
            <a:extLst xmlns:a="http://schemas.openxmlformats.org/drawingml/2006/main">
              <a:ext uri="{FF2B5EF4-FFF2-40B4-BE49-F238E27FC236}">
                <a16:creationId xmlns:a16="http://schemas.microsoft.com/office/drawing/2014/main" id="{6935380F-44D1-4452-83AA-C691894F81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ns1:p xmlns:ns1="http://schemas.openxmlformats.org/drawingml/2006/main">
            <ns1:pPr algn="r">
              <ns1:buNone/>
              <ns1:defRPr sz="1275" b="0">
                <ns1:solidFill>
                  <ns1:srgbClr val="586C77"/>
                </ns1:solidFill>
                <ns1:latin typeface="Arial"/>
                <ns1:ea typeface="Arial"/>
                <ns1:cs typeface="Arial"/>
              </ns1:defRPr>
            </ns1:pPr>
            <ns1:r>
              <ns1:rPr sz="1275" b="0">
                <ns1:solidFill>
                  <ns1:srgbClr val="586C77"/>
                </ns1:solidFill>
                <ns1:latin typeface="Arial"/>
                <ns1:ea typeface="Arial"/>
                <ns1:cs typeface="Arial"/>
              </ns1:rPr>
              <ns1:t>12 / 12</ns1:t>
            </ns1:r>
          </ns1:p>
        </p:txBody>
      </p:sp>
      <p:sp>
        <p:nvSpPr>
          <p:cNvPr id="4" name="slide-title">
            <a:extLst xmlns:a="http://schemas.openxmlformats.org/drawingml/2006/main">
              <a:ext uri="{FF2B5EF4-FFF2-40B4-BE49-F238E27FC236}">
                <a16:creationId xmlns:a16="http://schemas.microsoft.com/office/drawing/2014/main" id="{9509DD9B-423A-4951-96E4-2F49524E35F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ns5:p xmlns:ns5="http://schemas.openxmlformats.org/drawingml/2006/main">
            <ns5:pPr algn="l">
              <ns5:buNone/>
              <ns5:defRPr sz="3225" b="1">
                <ns5:solidFill>
                  <ns5:srgbClr val="17384A"/>
                </ns5:solidFill>
                <ns5:latin typeface="Arial"/>
                <ns5:ea typeface="Arial"/>
                <ns5:cs typeface="Arial"/>
              </ns5:defRPr>
            </ns5:pPr>
            <ns5:r>
              <ns5:rPr sz="3225" b="1">
                <ns5:solidFill>
                  <ns5:srgbClr val="17384A"/>
                </ns5:solidFill>
                <ns5:latin typeface="Arial"/>
                <ns5:ea typeface="Arial"/>
                <ns5:cs typeface="Arial"/>
              </ns5:rPr>
              <ns5:t>Staff brief</ns5:t>
            </ns5:r>
          </ns5:p>
        </p:txBody>
      </p:sp>
      <p:sp>
        <p:nvSpPr>
          <p:cNvPr id="5" name="heading-rule">
            <a:extLst xmlns:a="http://schemas.openxmlformats.org/drawingml/2006/main">
              <a:ext uri="{FF2B5EF4-FFF2-40B4-BE49-F238E27FC236}">
                <a16:creationId xmlns:a16="http://schemas.microsoft.com/office/drawing/2014/main" id="{CD306737-F981-46D9-9315-54D5AE4B79B9}"/>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515AEF30-6294-44DB-81F6-F3CB66FDC9B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ns2:p xmlns:ns2="http://schemas.openxmlformats.org/drawingml/2006/main">
            <ns2:pPr algn="l">
              <ns2:buNone/>
              <ns2:defRPr sz="1200" b="1">
                <ns2:solidFill>
                  <ns2:srgbClr val="146B68"/>
                </ns2:solidFill>
                <ns2:latin typeface="Arial"/>
                <ns2:ea typeface="Arial"/>
                <ns2:cs typeface="Arial"/>
              </ns2:defRPr>
            </ns2:pPr>
            <ns2:r>
              <ns2:rPr sz="1200" b="1">
                <ns2:solidFill>
                  <ns2:srgbClr val="146B68"/>
                </ns2:solidFill>
                <ns2:latin typeface="Arial"/>
                <ns2:ea typeface="Arial"/>
                <ns2:cs typeface="Arial"/>
              </ns2:rPr>
              <ns2:t>DT-LAUNCH-A2-W02</ns2:t>
            </ns2:r>
          </ns2:p>
        </p:txBody>
      </p:sp>
      <p:sp>
        <p:nvSpPr>
          <p:cNvPr id="12" name="edition-label">
            <a:extLst xmlns:a="http://schemas.openxmlformats.org/drawingml/2006/main">
              <a:ext uri="{FF2B5EF4-FFF2-40B4-BE49-F238E27FC236}">
                <a16:creationId xmlns:a16="http://schemas.microsoft.com/office/drawing/2014/main" id="{9F510AFB-D341-4DF2-B29D-CEE167391426}"/>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ns3:p xmlns:ns3="http://schemas.openxmlformats.org/drawingml/2006/main">
            <ns3:pPr algn="r">
              <ns3:buNone/>
              <ns3:defRPr sz="1200" b="0">
                <ns3:solidFill>
                  <ns3:srgbClr val="586C77"/>
                </ns3:solidFill>
                <ns3:latin typeface="Arial"/>
                <ns3:ea typeface="Arial"/>
                <ns3:cs typeface="Arial"/>
              </ns3:defRPr>
            </ns3:pPr>
            <ns3:r>
              <ns3:rPr sz="1200" b="0">
                <ns3:solidFill>
                  <ns3:srgbClr val="586C77"/>
                </ns3:solidFill>
                <ns3:latin typeface="Arial"/>
                <ns3:ea typeface="Arial"/>
                <ns3:cs typeface="Arial"/>
              </ns3:rPr>
              <ns3:t>Public edition</ns3:t>
            </ns3:r>
          </ns3:p>
        </p:txBody>
      </p:sp>
      <p:sp>
        <p:nvSpPr>
          <p:cNvPr id="13" name="licence-credit">
            <a:extLst xmlns:a="http://schemas.openxmlformats.org/drawingml/2006/main">
              <a:ext uri="{FF2B5EF4-FFF2-40B4-BE49-F238E27FC236}">
                <a16:creationId xmlns:a16="http://schemas.microsoft.com/office/drawing/2014/main" id="{594BF42D-B6E5-41F7-A227-2AD8399D7E4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ns4:p xmlns:ns4="http://schemas.openxmlformats.org/drawingml/2006/main">
            <ns4:pPr algn="l">
              <ns4:buNone/>
              <ns4:defRPr sz="863" b="0">
                <ns4:solidFill>
                  <ns4:srgbClr val="586C77"/>
                </ns4:solidFill>
                <ns4:latin typeface="Arial"/>
                <ns4:ea typeface="Arial"/>
                <ns4:cs typeface="Arial"/>
              </ns4:defRPr>
            </ns4:pPr>
            <ns4:r>
              <ns4:rPr sz="863" b="0">
                <ns4:solidFill>
                  <ns4:srgbClr val="586C77"/>
                </ns4:solidFill>
                <ns4:latin typeface="Arial"/>
                <ns4:ea typeface="Arial"/>
                <ns4:cs typeface="Arial"/>
              </ns4:rPr>
              <ns4:t>Made by Matt · © Matt Roper · CC BY-NC-SA 4.0: free for classroom use, share and adapt with credit, no resale</ns4:t>
            </ns4:r>
          </ns4:p>
        </p:txBody>
      </p:sp>
      <p:sp>
        <p:nvSpPr>
          <p:cNvPr id="15" name="body-0">
            <a:extLst xmlns:a="http://schemas.openxmlformats.org/drawingml/2006/main">
              <a:ext uri="{FF2B5EF4-FFF2-40B4-BE49-F238E27FC236}">
                <a16:creationId xmlns:a16="http://schemas.microsoft.com/office/drawing/2014/main" id="{61E01433-5B72-41AB-B4BB-59FA79C627F3}"/>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6:p xmlns:ns6="http://schemas.openxmlformats.org/drawingml/2006/main">
            <ns6:pPr algn="l">
              <ns6:defRPr sz="2025" b="0">
                <ns6:solidFill>
                  <ns6:srgbClr val="17384A"/>
                </ns6:solidFill>
                <ns6:latin typeface="Arial"/>
                <ns6:ea typeface="Arial"/>
                <ns6:cs typeface="Arial"/>
              </ns6:defRPr>
            </ns6:pPr>
            <ns6:r>
              <ns6:rPr sz="2025" b="0">
                <ns6:solidFill>
                  <ns6:srgbClr val="17384A"/>
                </ns6:solidFill>
                <ns6:latin typeface="Arial"/>
                <ns6:ea typeface="Arial"/>
                <ns6:cs typeface="Arial"/>
              </ns6:rPr>
              <ns6:t>Check local risk controls before teaching.</ns6:t>
            </ns6:r>
          </ns6:p>
        </p:txBody>
      </p:sp>
      <p:sp>
        <p:nvSpPr>
          <p:cNvPr id="16" name="body-1">
            <a:extLst xmlns:a="http://schemas.openxmlformats.org/drawingml/2006/main">
              <a:ext uri="{FF2B5EF4-FFF2-40B4-BE49-F238E27FC236}">
                <a16:creationId xmlns:a16="http://schemas.microsoft.com/office/drawing/2014/main" id="{365D8A69-7368-41E6-901B-C63D119685CE}"/>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7:p xmlns:ns7="http://schemas.openxmlformats.org/drawingml/2006/main">
            <ns7:pPr algn="l">
              <ns7:defRPr sz="2025" b="0">
                <ns7:solidFill>
                  <ns7:srgbClr val="17384A"/>
                </ns7:solidFill>
                <ns7:latin typeface="Arial"/>
                <ns7:ea typeface="Arial"/>
                <ns7:cs typeface="Arial"/>
              </ns7:defRPr>
            </ns7:pPr>
            <ns7:r>
              <ns7:rPr sz="2025" b="0">
                <ns7:solidFill>
                  <ns7:srgbClr val="17384A"/>
                </ns7:solidFill>
                <ns7:latin typeface="Arial"/>
                <ns7:ea typeface="Arial"/>
                <ns7:cs typeface="Arial"/>
              </ns7:rPr>
              <ns7:t>Pupil tools: ruler and pencil; no cutting.</ns7:t>
            </ns7:r>
          </ns7:p>
        </p:txBody>
      </p:sp>
      <p:sp>
        <p:nvSpPr>
          <p:cNvPr id="17" name="body-2">
            <a:extLst xmlns:a="http://schemas.openxmlformats.org/drawingml/2006/main">
              <a:ext uri="{FF2B5EF4-FFF2-40B4-BE49-F238E27FC236}">
                <a16:creationId xmlns:a16="http://schemas.microsoft.com/office/drawing/2014/main" id="{FE40F02C-1AC4-41E6-88B9-54CB5E2D1172}"/>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8:p xmlns:ns8="http://schemas.openxmlformats.org/drawingml/2006/main">
            <ns8:pPr algn="l">
              <ns8:defRPr sz="2025" b="0">
                <ns8:solidFill>
                  <ns8:srgbClr val="17384A"/>
                </ns8:solidFill>
                <ns8:latin typeface="Arial"/>
                <ns8:ea typeface="Arial"/>
                <ns8:cs typeface="Arial"/>
              </ns8:defRPr>
            </ns8:pPr>
            <ns8:r>
              <ns8:rPr sz="2025" b="0">
                <ns8:solidFill>
                  <ns8:srgbClr val="17384A"/>
                </ns8:solidFill>
                <ns8:latin typeface="Arial"/>
                <ns8:ea typeface="Arial"/>
                <ns8:cs typeface="Arial"/>
              </ns8:rPr>
              <ns8:t>TA: record physical help and exact words.</ns8:t>
            </ns8:r>
          </ns8:p>
        </p:txBody>
      </p:sp>
      <p:sp>
        <p:nvSpPr>
          <p:cNvPr id="18" name="body-3">
            <a:extLst xmlns:a="http://schemas.openxmlformats.org/drawingml/2006/main">
              <a:ext uri="{FF2B5EF4-FFF2-40B4-BE49-F238E27FC236}">
                <a16:creationId xmlns:a16="http://schemas.microsoft.com/office/drawing/2014/main" id="{09F7BA08-B0D3-407F-B420-DAE0E9FF12B8}"/>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9:p xmlns:ns9="http://schemas.openxmlformats.org/drawingml/2006/main">
            <ns9:pPr algn="l">
              <ns9:defRPr sz="2025" b="0">
                <ns9:solidFill>
                  <ns9:srgbClr val="17384A"/>
                </ns9:solidFill>
                <ns9:latin typeface="Arial"/>
                <ns9:ea typeface="Arial"/>
                <ns9:cs typeface="Arial"/>
              </ns9:defRPr>
            </ns9:pPr>
            <ns9:r>
              <ns9:rPr sz="2025" b="0">
                <ns9:solidFill>
                  <ns9:srgbClr val="17384A"/>
                </ns9:solidFill>
                <ns9:latin typeface="Arial"/>
                <ns9:ea typeface="Arial"/>
                <ns9:cs typeface="Arial"/>
              </ns9:rPr>
              <ns9:t>Keep each pupil’s own practical evidence.</ns9:t>
            </ns9:r>
          </ns9:p>
        </p:txBody>
      </p:sp>
      <p:sp>
        <p:nvSpPr>
          <p:cNvPr id="19" name="body-4">
            <a:extLst xmlns:a="http://schemas.openxmlformats.org/drawingml/2006/main">
              <a:ext uri="{FF2B5EF4-FFF2-40B4-BE49-F238E27FC236}">
                <a16:creationId xmlns:a16="http://schemas.microsoft.com/office/drawing/2014/main" id="{80AE7E45-3807-4F32-B830-F0825E0A9BB3}"/>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defRPr sz="2025" b="0">
                <a:solidFill>
                  <a:srgbClr val="17384A"/>
                </a:solidFill>
                <a:latin typeface="Arial"/>
                <a:ea typeface="Arial"/>
                <a:cs typeface="Arial"/>
              </a:defRPr>
            </a:lvl1pPr>
            <a:lvl2pPr algn="l">
              <a:defRPr sz="2025" b="0">
                <a:solidFill>
                  <a:srgbClr val="17384A"/>
                </a:solidFill>
                <a:latin typeface="Arial"/>
                <a:ea typeface="Arial"/>
                <a:cs typeface="Arial"/>
              </a:defRPr>
            </a:lvl2pPr>
            <a:lvl3pPr algn="l">
              <a:defRPr sz="2025" b="0">
                <a:solidFill>
                  <a:srgbClr val="17384A"/>
                </a:solidFill>
                <a:latin typeface="Arial"/>
                <a:ea typeface="Arial"/>
                <a:cs typeface="Arial"/>
              </a:defRPr>
            </a:lvl3pPr>
            <a:lvl4pPr algn="l">
              <a:defRPr sz="2025" b="0">
                <a:solidFill>
                  <a:srgbClr val="17384A"/>
                </a:solidFill>
                <a:latin typeface="Arial"/>
                <a:ea typeface="Arial"/>
                <a:cs typeface="Arial"/>
              </a:defRPr>
            </a:lvl4pPr>
            <a:lvl5pPr algn="l">
              <a:defRPr sz="2025" b="0">
                <a:solidFill>
                  <a:srgbClr val="17384A"/>
                </a:solidFill>
                <a:latin typeface="Arial"/>
                <a:ea typeface="Arial"/>
                <a:cs typeface="Arial"/>
              </a:defRPr>
            </a:lvl5pPr>
            <a:lvl6pPr algn="l">
              <a:defRPr sz="2025" b="0">
                <a:solidFill>
                  <a:srgbClr val="17384A"/>
                </a:solidFill>
                <a:latin typeface="Arial"/>
                <a:ea typeface="Arial"/>
                <a:cs typeface="Arial"/>
              </a:defRPr>
            </a:lvl6pPr>
            <a:lvl7pPr algn="l">
              <a:defRPr sz="2025" b="0">
                <a:solidFill>
                  <a:srgbClr val="17384A"/>
                </a:solidFill>
                <a:latin typeface="Arial"/>
                <a:ea typeface="Arial"/>
                <a:cs typeface="Arial"/>
              </a:defRPr>
            </a:lvl7pPr>
            <a:lvl8pPr algn="l">
              <a:defRPr sz="2025" b="0">
                <a:solidFill>
                  <a:srgbClr val="17384A"/>
                </a:solidFill>
                <a:latin typeface="Arial"/>
                <a:ea typeface="Arial"/>
                <a:cs typeface="Arial"/>
              </a:defRPr>
            </a:lvl8pPr>
            <a:lvl9pPr algn="l">
              <a:defRPr sz="2025" b="0">
                <a:solidFill>
                  <a:srgbClr val="17384A"/>
                </a:solidFill>
                <a:latin typeface="Arial"/>
                <a:ea typeface="Arial"/>
                <a:cs typeface="Arial"/>
              </a:defRPr>
            </a:lvl9pPr>
          </a:lstStyle>
          <ns10:p xmlns:ns10="http://schemas.openxmlformats.org/drawingml/2006/main">
            <ns10:pPr algn="l">
              <ns10:defRPr sz="2025" b="0">
                <ns10:solidFill>
                  <ns10:srgbClr val="17384A"/>
                </ns10:solidFill>
                <ns10:latin typeface="Arial"/>
                <ns10:ea typeface="Arial"/>
                <ns10:cs typeface="Arial"/>
              </ns10:defRPr>
            </ns10:pPr>
            <ns10:r>
              <ns10:rPr sz="2025" b="0">
                <ns10:solidFill>
                  <ns10:srgbClr val="17384A"/>
                </ns10:solidFill>
                <ns10:latin typeface="Arial"/>
                <ns10:ea typeface="Arial"/>
                <ns10:cs typeface="Arial"/>
              </ns10:rPr>
              <ns10:t>Lundy: Space, Voice, Audience, Influence.</ns10:t>
            </ns10:r>
          </ns10:p>
        </p:txBody>
      </p:sp>
    </p:spTree>
    <p:extLst>
      <p:ext uri="{BB962C8B-B14F-4D97-AF65-F5344CB8AC3E}">
        <p14:creationId xmlns:p14="http://schemas.microsoft.com/office/powerpoint/2010/main" val="1752919071"/>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[SYS]</ap:Application>
  <ap:PresentationFormat/>
  <ap:Slides>12</ap:Slides>
  <ap:Notes>12</ap:Notes>
  <ap:HiddenSlides>1</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creator>Lesson resource</dc:creator>
  <dc:title>Plan and mark out a model</dc:title>
  <dc:subject>DT-LAUNCH-A2-W02</dc:subject>
  <cp:lastModifiedBy/>
  <dc:description>LAUNCH D&amp;T Autumn 2 Week 2</dc:description>
  <cp:keywords/>
</cp:coreProperties>
</file>