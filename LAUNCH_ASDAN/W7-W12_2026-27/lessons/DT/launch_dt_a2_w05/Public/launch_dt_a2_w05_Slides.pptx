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d84540b0db64b64"/><Relationship Type="http://schemas.openxmlformats.org/officeDocument/2006/relationships/extended-properties" Target="/docProps/app.xml" Id="R1f2d96c58c55440c"/><Relationship Type="http://schemas.openxmlformats.org/officeDocument/2006/relationships/officeDocument" Target="/ppt/presentation.xml" Id="Re464253634f44380"/></Relationships>
</file>

<file path=ppt/presentation.xml><?xml version="1.0" encoding="utf-8"?>
<p:presentation xmlns:p="http://schemas.openxmlformats.org/presentationml/2006/main">
  <p:sldMasterIdLst>
    <p:sldMasterId xmlns:r="http://schemas.openxmlformats.org/officeDocument/2006/relationships" id="2147483648" r:id="R04aaa18b736b4bdf"/>
  </p:sldMasterIdLst>
  <p:notesMasterIdLst>
    <p:notesMasterId xmlns:r="http://schemas.openxmlformats.org/officeDocument/2006/relationships" r:id="R96d94d15dc974a5e"/>
  </p:notesMasterIdLst>
  <p:sldIdLst>
    <p:sldId xmlns:r="http://schemas.openxmlformats.org/officeDocument/2006/relationships" id="256" r:id="Rcde81a43be7f4cfc"/>
    <p:sldId xmlns:r="http://schemas.openxmlformats.org/officeDocument/2006/relationships" id="257" r:id="Rb591ceb67cfe4dfa"/>
    <p:sldId xmlns:r="http://schemas.openxmlformats.org/officeDocument/2006/relationships" id="258" r:id="Red634db161304007"/>
    <p:sldId xmlns:r="http://schemas.openxmlformats.org/officeDocument/2006/relationships" id="259" r:id="R744bcab443ee4f0a"/>
    <p:sldId xmlns:r="http://schemas.openxmlformats.org/officeDocument/2006/relationships" id="260" r:id="R17730be55cce4d1b"/>
    <p:sldId xmlns:r="http://schemas.openxmlformats.org/officeDocument/2006/relationships" id="261" r:id="Rd958332fc9254de4"/>
    <p:sldId xmlns:r="http://schemas.openxmlformats.org/officeDocument/2006/relationships" id="262" r:id="Ra4f0238fed2e4cfb"/>
    <p:sldId xmlns:r="http://schemas.openxmlformats.org/officeDocument/2006/relationships" id="263" r:id="R14e01cba9d774edd"/>
    <p:sldId xmlns:r="http://schemas.openxmlformats.org/officeDocument/2006/relationships" id="264" r:id="Raa862df73e584e4f"/>
    <p:sldId xmlns:r="http://schemas.openxmlformats.org/officeDocument/2006/relationships" id="265" r:id="R182d2d16699f4c93"/>
    <p:sldId xmlns:r="http://schemas.openxmlformats.org/officeDocument/2006/relationships" id="266" r:id="R2d67950fd6c940a8"/>
    <p:sldId xmlns:r="http://schemas.openxmlformats.org/officeDocument/2006/relationships" id="267" r:id="R3e87ee2e624c4c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9f492bc644b8" /><Relationship Type="http://schemas.openxmlformats.org/officeDocument/2006/relationships/slideMaster" Target="/ppt/slideMasters/slideMaster1.xml" Id="R04aaa18b736b4bdf" /><Relationship Type="http://schemas.openxmlformats.org/officeDocument/2006/relationships/notesMaster" Target="/ppt/notesMasters/notesMaster1.xml" Id="R96d94d15dc974a5e" /><Relationship Type="http://schemas.openxmlformats.org/officeDocument/2006/relationships/presProps" Target="/ppt/presProps.xml" Id="R1eb803d0e5634d51" /><Relationship Type="http://schemas.openxmlformats.org/officeDocument/2006/relationships/tableStyles" Target="/ppt/tableStyles.xml" Id="R046ca296d2e6404a" /><Relationship Type="http://schemas.openxmlformats.org/officeDocument/2006/relationships/slide" Target="/ppt/slides/slide1.xml" Id="Rcde81a43be7f4cfc" /><Relationship Type="http://schemas.openxmlformats.org/officeDocument/2006/relationships/slide" Target="/ppt/slides/slide2.xml" Id="Rb591ceb67cfe4dfa" /><Relationship Type="http://schemas.openxmlformats.org/officeDocument/2006/relationships/slide" Target="/ppt/slides/slide3.xml" Id="Red634db161304007" /><Relationship Type="http://schemas.openxmlformats.org/officeDocument/2006/relationships/slide" Target="/ppt/slides/slide4.xml" Id="R744bcab443ee4f0a" /><Relationship Type="http://schemas.openxmlformats.org/officeDocument/2006/relationships/slide" Target="/ppt/slides/slide5.xml" Id="R17730be55cce4d1b" /><Relationship Type="http://schemas.openxmlformats.org/officeDocument/2006/relationships/slide" Target="/ppt/slides/slide6.xml" Id="Rd958332fc9254de4" /><Relationship Type="http://schemas.openxmlformats.org/officeDocument/2006/relationships/slide" Target="/ppt/slides/slide7.xml" Id="Ra4f0238fed2e4cfb" /><Relationship Type="http://schemas.openxmlformats.org/officeDocument/2006/relationships/slide" Target="/ppt/slides/slide8.xml" Id="R14e01cba9d774edd" /><Relationship Type="http://schemas.openxmlformats.org/officeDocument/2006/relationships/slide" Target="/ppt/slides/slide9.xml" Id="Raa862df73e584e4f" /><Relationship Type="http://schemas.openxmlformats.org/officeDocument/2006/relationships/slide" Target="/ppt/slides/slide10.xml" Id="R182d2d16699f4c93" /><Relationship Type="http://schemas.openxmlformats.org/officeDocument/2006/relationships/slide" Target="/ppt/slides/slide11.xml" Id="R2d67950fd6c940a8" /><Relationship Type="http://schemas.openxmlformats.org/officeDocument/2006/relationships/slide" Target="/ppt/slides/slide12.xml" Id="R3e87ee2e624c4c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1b5938c134a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eab85e384bc2" /><Relationship Type="http://schemas.openxmlformats.org/officeDocument/2006/relationships/notesMaster" Target="/ppt/notesMasters/notesMaster1.xml" Id="R6519dbe39c88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77e838a5c4944" /><Relationship Type="http://schemas.openxmlformats.org/officeDocument/2006/relationships/notesMaster" Target="/ppt/notesMasters/notesMaster1.xml" Id="R52c26794846f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f676e893194b3c" /><Relationship Type="http://schemas.openxmlformats.org/officeDocument/2006/relationships/notesMaster" Target="/ppt/notesMasters/notesMaster1.xml" Id="R6884c9b9985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d560b550134841" /><Relationship Type="http://schemas.openxmlformats.org/officeDocument/2006/relationships/notesMaster" Target="/ppt/notesMasters/notesMaster1.xml" Id="R097e1584cc6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3e15a17c646e7" /><Relationship Type="http://schemas.openxmlformats.org/officeDocument/2006/relationships/notesMaster" Target="/ppt/notesMasters/notesMaster1.xml" Id="Rab609d8c57ba4b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f5752b038c48f6" /><Relationship Type="http://schemas.openxmlformats.org/officeDocument/2006/relationships/notesMaster" Target="/ppt/notesMasters/notesMaster1.xml" Id="Rf64862cd19b04d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bde8c8f5341ce" /><Relationship Type="http://schemas.openxmlformats.org/officeDocument/2006/relationships/notesMaster" Target="/ppt/notesMasters/notesMaster1.xml" Id="R2ea49e5f1e0a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c9c359fd184d05" /><Relationship Type="http://schemas.openxmlformats.org/officeDocument/2006/relationships/notesMaster" Target="/ppt/notesMasters/notesMaster1.xml" Id="R91cd519756d84e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2881931df42c5" /><Relationship Type="http://schemas.openxmlformats.org/officeDocument/2006/relationships/notesMaster" Target="/ppt/notesMasters/notesMaster1.xml" Id="R7bb907761a59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83bf25a424bc5" /><Relationship Type="http://schemas.openxmlformats.org/officeDocument/2006/relationships/notesMaster" Target="/ppt/notesMasters/notesMaster1.xml" Id="R9535c48bda2f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23137aec23409a" /><Relationship Type="http://schemas.openxmlformats.org/officeDocument/2006/relationships/notesMaster" Target="/ppt/notesMasters/notesMaster1.xml" Id="R60b2a3f282fa4e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abdd08cc745e5" /><Relationship Type="http://schemas.openxmlformats.org/officeDocument/2006/relationships/notesMaster" Target="/ppt/notesMasters/notesMaster1.xml" Id="Rf09ce24b8e9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Title and big question: 0 minutes.</ns1:t>
            </ns1:r>
          </ns1:p>
          <ns2:p xmlns:ns2="http://schemas.openxmlformats.org/drawingml/2006/main">
            <ns2:r>
              <ns2:t>Teacher: Open the big question without requiring personal disclosure. Staff enter the actual date in the planner.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Arrival and regulation: 4 minutes.</ns1:t>
            </ns1:r>
          </ns1:p>
          <ns2:p xmlns:ns2="http://schemas.openxmlformats.org/drawingml/2006/main">
            <ns2:r>
              <ns2:t>Teacher: Use a private check-in, quiet start and processing time. Identify the available adult and backup support route.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Starter: 2 minutes.</ns1:t>
            </ns1:r>
          </ns1:p>
          <ns2:p xmlns:ns2="http://schemas.openxmlformats.org/drawingml/2006/main">
            <ns2:r>
              <ns2:t>Teacher: Read all diagram labels aloud. Accept a pointed clue. Diagrams are authored examples, not learner evidence or measuring templates.</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Today: 0 minutes.</ns1:t>
            </ns1:r>
          </ns1:p>
          <ns2:p xmlns:ns2="http://schemas.openxmlformats.org/drawingml/2006/main">
            <ns2:r>
              <ns2:t>Teacher: Read the exact scheme objective and the success checks. Explain today’s contribution without claiming award completion.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I Do: 5 minutes.</ns1:t>
            </ns1:r>
          </ns1:p>
          <ns2:p xmlns:ns2="http://schemas.openxmlformats.org/drawingml/2006/main">
            <ns2:r>
              <ns2:t>Teacher: Model each line aloud and make the reasoning explicit. Check that plan/build/test captions match the supplied work and who did each step. Accept a drawing or work reference when a photo is unavailable, accurately labelled. The evaluation states what worked or did not, cites an observed result and proposes a reasoned change. No fabricated photo, date or load result.</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We Do: 5 minutes.</ns1:t>
            </ns1:r>
          </ns1:p>
          <ns2:p xmlns:ns2="http://schemas.openxmlformats.org/drawingml/2006/main">
            <ns2:r>
              <ns2:t>Teacher: Read the hinge aloud, ask for a choice and a reason. B. Use the actual plan, work or teacher record and state what is missing. A new demonstration may be photographed only if labelled as a later demonstration with who did it. C misattributes work. Reteach by matching a real sample record to a truthful caption.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You Do practice: 12 minutes.</ns1:t>
            </ns1:r>
          </ns1:p>
          <ns2:p xmlns:ns2="http://schemas.openxmlformats.org/drawingml/2006/main">
            <ns2:r>
              <ns2:t>Teacher: Sort real records into plan/build/test. Learners caption each and link an actual result to an evaluation. Staff check ownership and assist photography if authorised, without inventing a missing stage.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You Do evidence: 6 minutes.</ns1:t>
            </ns1:r>
          </ns1:p>
          <ns2:p xmlns:ns2="http://schemas.openxmlformats.org/drawingml/2006/main">
            <ns2:r>
              <ns2:t>Teacher: Complete both Evidence Sheet pages. Check that plan/build/test captions match the supplied work and who did each step. Accept a drawing or work reference when a photo is unavailable, accurately labelled. The evaluation states what worked or did not, cites an observed result and proposes a reasoned change. No fabricated photo, date or load result.</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Tidy and evidence check: 4 minutes.</ns1:t>
            </ns1:r>
          </ns1:p>
          <ns2:p xmlns:ns2="http://schemas.openxmlformats.org/drawingml/2006/main">
            <ns2:r>
              <ns2:t>Teacher: Check actual support, ownership and response. Use VF, WS, I, NS+, //, ?, R and E appropriately. R needs Voice, Audience, NS+ and a response in the learner’s own colour. E requires actual banking.</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Exit ticket: 2 minutes.</ns1:t>
            </ns1:r>
          </ns1:p>
          <ns2:p xmlns:ns2="http://schemas.openxmlformats.org/drawingml/2006/main">
            <ns2:r>
              <ns2:t>Teacher: Take a quiet exit response and note the next teaching need. Use the Staff Answers to assess the reason rather than just a letter.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Vocabulary: 0 minutes.</ns1:t>
            </ns1:r>
          </ns1:p>
          <ns2:p xmlns:ns2="http://schemas.openxmlformats.org/drawingml/2006/main">
            <ns2:r>
              <ns2:t>Teacher: Keep the Vocabulary Mat available. Link each word to a case or actual task. Allow a home-language first response.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DT-LAUNCH-A2-W05 · Monday 30 November–Friday 4 December 2026</ns0:t>
            </ns0:r>
          </ns0:p>
          <ns1:p xmlns:ns1="http://schemas.openxmlformats.org/drawingml/2006/main">
            <ns1:r>
              <ns1:t>Staff brief: 0 minutes.</ns1:t>
            </ns1:r>
          </ns1:p>
          <ns2:p xmlns:ns2="http://schemas.openxmlformats.org/drawingml/2006/main">
            <ns2:r>
              <ns2:t>Teacher: Hidden staff reference. Do not photograph pupils or personal labels without the setting permissions. No personal devices, public uploads or copied peer evidence. Keep any later demonstration labelled with date and author. Staff handle file/storage steps under local rules.</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LAUNCH-DT-W5-E1; A process record with three authentic stage references/captions, ownership/support notes and a design evaluation linked to an actual result; missing records clearly labelled.</ns4:t>
            </ns4:r>
          </ns4:p>
          <ns5:p xmlns:ns5="http://schemas.openxmlformats.org/drawingml/2006/main">
            <ns5:r>
              <ns5:t>Scheme: LAUNCH Weekly - Autumn!C240; LAUNCH - Autumn!D33, I33, J33; revision 9ed44bdf.</ns5:t>
            </ns5:r>
          </ns5:p>
          <ns6:p xmlns:ns6="http://schemas.openxmlformats.org/drawingml/2006/main">
            <ns6:r>
              <ns6:t>Source objective: Record process photos and a design evaluation.</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 https://www.sciencebuddies.org/stem-activities/build-best-bridge</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bd2734f3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a05ae6f99d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3726fc20d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6e64f51856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55cf5d6a97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1bbc7b7d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c6a297904e7d" /><Relationship Type="http://schemas.openxmlformats.org/officeDocument/2006/relationships/slideLayout" Target="/ppt/slideLayouts/slideLayout1.xml" Id="R12242226f6ae4fb8" /><Relationship Type="http://schemas.openxmlformats.org/officeDocument/2006/relationships/slideLayout" Target="/ppt/slideLayouts/slideLayout2.xml" Id="R4c9041799c814233" /><Relationship Type="http://schemas.openxmlformats.org/officeDocument/2006/relationships/slideLayout" Target="/ppt/slideLayouts/slideLayout3.xml" Id="Rf92f518c139547f2" /><Relationship Type="http://schemas.openxmlformats.org/officeDocument/2006/relationships/slideLayout" Target="/ppt/slideLayouts/slideLayout4.xml" Id="R17b0f0872a6c4012" /><Relationship Type="http://schemas.openxmlformats.org/officeDocument/2006/relationships/slideLayout" Target="/ppt/slideLayouts/slideLayout5.xml" Id="R95089bedba364c20" /><Relationship Type="http://schemas.openxmlformats.org/officeDocument/2006/relationships/slideLayout" Target="/ppt/slideLayouts/slideLayout6.xml" Id="R5d9c146d3d6f4e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42226f6ae4fb8"/>
    <p:sldLayoutId xmlns:r="http://schemas.openxmlformats.org/officeDocument/2006/relationships" id="2147483650" r:id="R4c9041799c814233"/>
    <p:sldLayoutId xmlns:r="http://schemas.openxmlformats.org/officeDocument/2006/relationships" id="2147483651" r:id="Rf92f518c139547f2"/>
    <p:sldLayoutId xmlns:r="http://schemas.openxmlformats.org/officeDocument/2006/relationships" id="2147483652" r:id="R17b0f0872a6c4012"/>
    <p:sldLayoutId xmlns:r="http://schemas.openxmlformats.org/officeDocument/2006/relationships" id="2147483653" r:id="R95089bedba364c20"/>
    <p:sldLayoutId xmlns:r="http://schemas.openxmlformats.org/officeDocument/2006/relationships" id="2147483654" r:id="R5d9c146d3d6f4e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15d58e22544e7" /><Relationship Type="http://schemas.openxmlformats.org/officeDocument/2006/relationships/notesSlide" Target="/ppt/notesSlides/notesSlide1.xml" Id="Ra9f77fbe70c3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19643cce24813" /><Relationship Type="http://schemas.openxmlformats.org/officeDocument/2006/relationships/notesSlide" Target="/ppt/notesSlides/notesSlide2.xml" Id="Rda26f811207e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d95255ebee4187" /><Relationship Type="http://schemas.openxmlformats.org/officeDocument/2006/relationships/image" Target="/ppt/media/image.jpeg" Id="R87ca9eec94ea4c42" /><Relationship Type="http://schemas.openxmlformats.org/officeDocument/2006/relationships/notesSlide" Target="/ppt/notesSlides/notesSlide3.xml" Id="Rd30cd001fdc3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76fcaae6fe4ecd" /><Relationship Type="http://schemas.openxmlformats.org/officeDocument/2006/relationships/notesSlide" Target="/ppt/notesSlides/notesSlide4.xml" Id="Rbbc722ce6ce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b6e66bd9414474" /><Relationship Type="http://schemas.openxmlformats.org/officeDocument/2006/relationships/notesSlide" Target="/ppt/notesSlides/notesSlide5.xml" Id="R535d1e722e44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3b74467bd414f" /><Relationship Type="http://schemas.openxmlformats.org/officeDocument/2006/relationships/notesSlide" Target="/ppt/notesSlides/notesSlide6.xml" Id="Ra090871d4851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07b38b06f34c92" /><Relationship Type="http://schemas.openxmlformats.org/officeDocument/2006/relationships/notesSlide" Target="/ppt/notesSlides/notesSlide7.xml" Id="R34b183ae9bcf4a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d5890359a4567" /><Relationship Type="http://schemas.openxmlformats.org/officeDocument/2006/relationships/notesSlide" Target="/ppt/notesSlides/notesSlide8.xml" Id="R941c20f52dc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d75ed5fc584fd5" /><Relationship Type="http://schemas.openxmlformats.org/officeDocument/2006/relationships/notesSlide" Target="/ppt/notesSlides/notesSlide9.xml" Id="R5ad80cf219c8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6b6f0679454feb" /><Relationship Type="http://schemas.openxmlformats.org/officeDocument/2006/relationships/notesSlide" Target="/ppt/notesSlides/notesSlide10.xml" Id="Rce1092717fb445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5a86e9943249be" /><Relationship Type="http://schemas.openxmlformats.org/officeDocument/2006/relationships/notesSlide" Target="/ppt/notesSlides/notesSlide11.xml" Id="Raadf6de2a4cc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d48de1450c45eb" /><Relationship Type="http://schemas.openxmlformats.org/officeDocument/2006/relationships/notesSlide" Target="/ppt/notesSlides/notesSlide12.xml" Id="R2030fa05042a48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TITLE AND BIG QUESTION</ns0:t>
            </ns0:r>
          </ns0: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 / 12</ns1:t>
            </ns1:r>
          </ns1: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ns5:p xmlns:ns5="http://schemas.openxmlformats.org/drawingml/2006/main">
            <ns5:pPr algn="l">
              <ns5:buNone/>
              <ns5:defRPr sz="4200" b="1">
                <ns5:solidFill>
                  <ns5:srgbClr val="17384A"/>
                </ns5:solidFill>
                <ns5:latin typeface="Arial"/>
                <ns5:ea typeface="Arial"/>
                <ns5:cs typeface="Arial"/>
              </ns5:defRPr>
            </ns5:pPr>
            <ns5:r>
              <ns5:rPr sz="4200" b="1">
                <ns5:solidFill>
                  <ns5:srgbClr val="17384A"/>
                </ns5:solidFill>
                <ns5:latin typeface="Arial"/>
                <ns5:ea typeface="Arial"/>
                <ns5:cs typeface="Arial"/>
              </ns5:rPr>
              <ns5:t>Record my making story</ns5:t>
            </ns5:r>
          </ns5: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ns6:p xmlns:ns6="http://schemas.openxmlformats.org/drawingml/2006/main">
            <ns6:pPr algn="l">
              <ns6:buNone/>
              <ns6:defRPr sz="2250" b="0">
                <ns6:solidFill>
                  <ns6:srgbClr val="146B68"/>
                </ns6:solidFill>
                <ns6:latin typeface="Arial"/>
                <ns6:ea typeface="Arial"/>
                <ns6:cs typeface="Arial"/>
              </ns6:defRPr>
            </ns6:pPr>
            <ns6:r>
              <ns6:rPr sz="2250" b="0">
                <ns6:solidFill>
                  <ns6:srgbClr val="146B68"/>
                </ns6:solidFill>
                <ns6:latin typeface="Arial"/>
                <ns6:ea typeface="Arial"/>
                <ns6:cs typeface="Arial"/>
              </ns6:rPr>
              <ns6:t>Week 5 · 30 November–4 December 2026 · 40 minutes</ns6:t>
            </ns6:r>
          </ns6: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How can photos and words show what I actually made?</ns7:t>
            </ns7:r>
          </ns7: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Use your own work and ask for support.</ns8:t>
            </ns8:r>
          </ns8: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Point, say, draw, write or show.</ns9:t>
            </ns9:r>
          </ns9: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ARRIVAL AND REGULATION</ns0:t>
            </ns0:r>
          </ns0: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2 / 12  ·  4 min</ns1:t>
            </ns1:r>
          </ns1: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Ready for a calm start</ns5:t>
            </ns5:r>
          </ns5: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how you feel in private.</ns6:t>
            </ns6:r>
          </ns6: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Choose a quiet seat or a short pause.</ns7:t>
            </ns7:r>
          </ns7: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Keep your work space clear.</ns8:t>
            </ns8:r>
          </ns8: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Ask the adult if you need support.</ns9:t>
            </ns9:r>
          </ns9: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Use the agreed help route.</ns10:t>
            </ns10:r>
          </ns10: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We listen without judging each other.</ns11:t>
            </ns11:r>
          </ns11: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STARTER</ns0:t>
            </ns0:r>
          </ns0: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3 / 12  ·  2 min</ns1:t>
            </ns1:r>
          </ns1: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Look at the diagram</ns5:t>
            </ns5:r>
          </ns5: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pic>
        <p:nvPicPr>
          <p:cNvPr id="18" name="" descr="Three labelled empty evidence frames for plan, build and test, linked to captions and an evaluation. Frames are prompts, not example learner photos.">
            <a:extLst xmlns:a="http://schemas.openxmlformats.org/drawingml/2006/main">
              <a:ext uri="{FF2B5EF4-FFF2-40B4-BE49-F238E27FC236}">
                <a16:creationId xmlns:a16="http://schemas.microsoft.com/office/drawing/2014/main" id="{028D2357-EB6C-424E-A2E6-DBD8B5691975}"/>
              </a:ext>
            </a:extLst>
          </p:cNvPr>
          <p:cNvPicPr>
            <a:picLocks xmlns:a="http://schemas.openxmlformats.org/drawingml/2006/main" noChangeAspect="1"/>
          </p:cNvPicPr>
          <p:nvPr/>
        </p:nvPicPr>
        <p:blipFill>
          <a:blip xmlns:r="http://schemas.openxmlformats.org/officeDocument/2006/relationships" xmlns:a="http://schemas.openxmlformats.org/drawingml/2006/main" r:embed="R87ca9eec94ea4c4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A photo shows a finished model.</ns6:t>
            </ns6:r>
          </ns6: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Does it show every making step?</ns7:t>
            </ns7:r>
          </ns7: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What other records could help?</ns8:t>
            </ns8:r>
          </ns8: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Label a missing step honestly.</ns9:t>
            </ns9:r>
          </ns9: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TODAY</ns0:t>
            </ns0:r>
          </ns0: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4 / 12</ns1:t>
            </ns1:r>
          </ns1: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Today</ns5:t>
            </ns5:r>
          </ns5: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Record process photos and a design evaluation.</ns6:t>
            </ns6:r>
          </ns6: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can select records of my own process.</ns7:t>
            </ns7:r>
          </ns7: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can add clear and truthful captions.</ns8:t>
            </ns8:r>
          </ns8: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can use a result to suggest an improvement.</ns9:t>
            </ns9:r>
          </ns9: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I DO</ns0:t>
            </ns0:r>
          </ns0: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5 / 12  ·  5 min</ns1:t>
            </ns1:r>
          </ns1: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Watch the model</ns5:t>
            </ns5:r>
          </ns5: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Fictional example: Jo checks a build photo.</ns6:t>
            </ns6:r>
          </ns6: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Caption: I folded the card along my marked line.</ns7:t>
            </ns7:r>
          </ns7: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An adult held the ruler; I made the fold.</ns8:t>
            </ns8:r>
          </ns8: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No test photo? Label the actual test note instead.</ns9:t>
            </ns9:r>
          </ns9: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0:p xmlns:ns10="http://schemas.openxmlformats.org/drawingml/2006/main">
            <ns10:pPr algn="l">
              <ns10:defRPr sz="2250" b="0">
                <ns10:solidFill>
                  <ns10:srgbClr val="17384A"/>
                </ns10:solidFill>
                <ns10:latin typeface="Arial"/>
                <ns10:ea typeface="Arial"/>
                <ns10:cs typeface="Arial"/>
              </ns10:defRPr>
            </ns10:pPr>
            <ns10:r>
              <ns10:rPr sz="2250" b="0">
                <ns10:solidFill>
                  <ns10:srgbClr val="17384A"/>
                </ns10:solidFill>
                <ns10:latin typeface="Arial"/>
                <ns10:ea typeface="Arial"/>
                <ns10:cs typeface="Arial"/>
              </ns10:rPr>
              <ns10:t>The note says the centre bent in the agreed test.</ns10:t>
            </ns10:r>
          </ns10: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1:p xmlns:ns11="http://schemas.openxmlformats.org/drawingml/2006/main">
            <ns11:pPr algn="l">
              <ns11:defRPr sz="2250" b="0">
                <ns11:solidFill>
                  <ns11:srgbClr val="17384A"/>
                </ns11:solidFill>
                <ns11:latin typeface="Arial"/>
                <ns11:ea typeface="Arial"/>
                <ns11:cs typeface="Arial"/>
              </ns11:defRPr>
            </ns11:pPr>
            <ns11:r>
              <ns11:rPr sz="2250" b="0">
                <ns11:solidFill>
                  <ns11:srgbClr val="17384A"/>
                </ns11:solidFill>
                <ns11:latin typeface="Arial"/>
                <ns11:ea typeface="Arial"/>
                <ns11:cs typeface="Arial"/>
              </ns11:rPr>
              <ns11:t>Jo proposes a folded edge, then a fair retest.</ns11:t>
            </ns11:r>
          </ns11: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ns12:p xmlns:ns12="http://schemas.openxmlformats.org/drawingml/2006/main">
            <ns12:pPr algn="l">
              <ns12:defRPr sz="2025" b="0">
                <ns12:solidFill>
                  <ns12:srgbClr val="146B68"/>
                </ns12:solidFill>
                <ns12:latin typeface="Arial"/>
                <ns12:ea typeface="Arial"/>
                <ns12:cs typeface="Arial"/>
              </ns12:defRPr>
            </ns12:pPr>
            <ns12:r>
              <ns12:rPr sz="2025" b="0">
                <ns12:solidFill>
                  <ns12:srgbClr val="146B68"/>
                </ns12:solidFill>
                <ns12:latin typeface="Arial"/>
                <ns12:ea typeface="Arial"/>
                <ns12:cs typeface="Arial"/>
              </ns12:rPr>
              <ns12:t>A caption says what happened. It does not invent a result.</ns12:t>
            </ns12:r>
          </ns12: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WE DO</ns0:t>
            </ns0:r>
          </ns0: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6 / 12  ·  5 min</ns1:t>
            </ns1:r>
          </ns1: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Which step fits the facts?</ns5:t>
            </ns5:r>
          </ns5: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There is no photo of an earlier fold. What next?</ns6:t>
            </ns6:r>
          </ns6: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  Stage a new photo and call it the old step.</ns7:t>
            </ns7:r>
          </ns7: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  Use a real record and label the missing photo.</ns8:t>
            </ns8:r>
          </ns8: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C  Copy another pupil’s photo as your work.</ns9:t>
            </ns9:r>
          </ns9: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PRACTICE</ns0:t>
            </ns0:r>
          </ns0: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7 / 12  ·  12 min</ns1:t>
            </ns1:r>
          </ns1: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Our practice tasks</ns5:t>
            </ns5:r>
          </ns5: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Choose records for plan, build and test.</ns6:t>
            </ns6:r>
          </ns6: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Supported: match records to stage labels.</ns7:t>
            </ns7:r>
          </ns7: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Independent: add what, who and result.</ns8:t>
            </ns8:r>
          </ns8: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Aspire: explain a limit in the evidence.</ns9:t>
            </ns9:r>
          </ns9: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Use only your own or clearly labelled work.</ns10:t>
            </ns10:r>
          </ns10: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EVIDENCE</ns0:t>
            </ns0:r>
          </ns0: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8 / 12  ·  6 min</ns1:t>
            </ns1:r>
          </ns1: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My evidence</ns5:t>
            </ns5:r>
          </ns5: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Keep three stage references and captions.</ns6:t>
            </ns6:r>
          </ns6: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Link one strength or limit to a real result.</ns7:t>
            </ns7:r>
          </ns7: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Propose an improvement and say why.</ns8:t>
            </ns8:r>
          </ns8: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Record help and respond in your own colour.</ns9:t>
            </ns9:r>
          </ns9: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TIDY AND EVIDENCE CHECK</ns0:t>
            </ns0:r>
          </ns0: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9 / 12  ·  4 min</ns1:t>
            </ns1:r>
          </ns1: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Tidy and check</ns5:t>
            </ns5:r>
          </ns5: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Check your name or ID and both pages.</ns6:t>
            </ns6:r>
          </ns6: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Keep your work and record the help used.</ns7:t>
            </ns7:r>
          </ns7: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Put resources away safely.</ns8:t>
            </ns8:r>
          </ns8: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Tell the adult your next step.</ns9:t>
            </ns9:r>
          </ns9: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EXIT TICKET</ns0:t>
            </ns0:r>
          </ns0: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10 / 12  ·  2 min</ns1:t>
            </ns1:r>
          </ns1: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Exit ticket</ns5:t>
            </ns5:r>
          </ns5: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What does one record actually show?</ns6:t>
            </ns6:r>
          </ns6: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How will you label missing evidence?</ns7:t>
            </ns7:r>
          </ns7: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Which result supports your improvement?</ns8:t>
            </ns8:r>
          </ns8: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VOCABULARY</ns0:t>
            </ns0:r>
          </ns0: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11 / 12</ns1:t>
            </ns1:r>
          </ns1: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Words that help</ns5:t>
            </ns5:r>
          </ns5: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Process: The making steps.</ns6:t>
            </ns6:r>
          </ns6: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Caption: Words about a record.</ns7:t>
            </ns7:r>
          </ns7: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Record: What we keep about a step.</ns8:t>
            </ns8:r>
          </ns8: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Evaluate: Judge using evidence.</ns9:t>
            </ns9:r>
          </ns9: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Result: What happened in a test.</ns10:t>
            </ns10:r>
          </ns10: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Improve: Change to help.</ns11:t>
            </ns11:r>
          </ns11: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2:p xmlns:ns12="http://schemas.openxmlformats.org/drawingml/2006/main">
            <ns12:pPr algn="l">
              <ns12:defRPr sz="2025" b="0">
                <ns12:solidFill>
                  <ns12:srgbClr val="17384A"/>
                </ns12:solidFill>
                <ns12:latin typeface="Arial"/>
                <ns12:ea typeface="Arial"/>
                <ns12:cs typeface="Arial"/>
              </ns12:defRPr>
            </ns12:pPr>
            <ns12:r>
              <ns12:rPr sz="2025" b="0">
                <ns12:solidFill>
                  <ns12:srgbClr val="17384A"/>
                </ns12:solidFill>
                <ns12:latin typeface="Arial"/>
                <ns12:ea typeface="Arial"/>
                <ns12:cs typeface="Arial"/>
              </ns12:rPr>
              <ns12:t>Gap: A missing part.</ns12:t>
            </ns12:r>
          </ns12: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STAFF BRIEF</ns0:t>
            </ns0:r>
          </ns0: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12 / 12</ns1:t>
            </ns1:r>
          </ns1: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Staff brief</ns5:t>
            </ns5:r>
          </ns5: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DT-LAUNCH-A2-W05</ns2:t>
            </ns2:r>
          </ns2: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planner and local support route.</ns6:t>
            </ns6:r>
          </ns6: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Use the task limits and right to pass.</ns7:t>
            </ns7:r>
          </ns7: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TA: scribe exact words; record physical help.</ns8:t>
            </ns8:r>
          </ns8: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Keep each learner’s own evidence.</ns9:t>
            </ns9:r>
          </ns9: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Lundy: Space, Voice, Audience, Influence.</ns10:t>
            </ns10:r>
          </ns10: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
  <ap:Slides>12</ap:Slides>
  <ap:Notes>12</ap:Notes>
  <ap:HiddenSlides>1</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Record my making story</dc:title>
  <dc:subject>DT-LAUNCH-A2-W05</dc:subject>
  <cp:lastModifiedBy/>
  <dc:description>Design &amp; Technology Autumn 2 Week 5</dc:description>
  <cp:keywords/>
</cp:coreProperties>
</file>