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Type="http://schemas.openxmlformats.org/package/2006/relationships/metadata/core-properties" Target="/docProps/core.xml" Id="Rcd84540b0db64b64"/><Relationship Type="http://schemas.openxmlformats.org/officeDocument/2006/relationships/extended-properties" Target="/docProps/app.xml" Id="R1f2d96c58c55440c"/><Relationship Type="http://schemas.openxmlformats.org/officeDocument/2006/relationships/officeDocument" Target="/ppt/presentation.xml" Id="Re464253634f44380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4aaa18b736b4bdf"/>
  </p:sldMasterIdLst>
  <p:notesMasterIdLst>
    <p:notesMasterId xmlns:r="http://schemas.openxmlformats.org/officeDocument/2006/relationships" r:id="R96d94d15dc974a5e"/>
  </p:notesMasterIdLst>
  <p:sldIdLst>
    <p:sldId xmlns:r="http://schemas.openxmlformats.org/officeDocument/2006/relationships" id="256" r:id="Rcde81a43be7f4cfc"/>
    <p:sldId xmlns:r="http://schemas.openxmlformats.org/officeDocument/2006/relationships" id="257" r:id="Rb591ceb67cfe4dfa"/>
    <p:sldId xmlns:r="http://schemas.openxmlformats.org/officeDocument/2006/relationships" id="258" r:id="Red634db161304007"/>
    <p:sldId xmlns:r="http://schemas.openxmlformats.org/officeDocument/2006/relationships" id="259" r:id="R744bcab443ee4f0a"/>
    <p:sldId xmlns:r="http://schemas.openxmlformats.org/officeDocument/2006/relationships" id="260" r:id="R17730be55cce4d1b"/>
    <p:sldId xmlns:r="http://schemas.openxmlformats.org/officeDocument/2006/relationships" id="261" r:id="Rd958332fc9254de4"/>
    <p:sldId xmlns:r="http://schemas.openxmlformats.org/officeDocument/2006/relationships" id="262" r:id="Ra4f0238fed2e4cfb"/>
    <p:sldId xmlns:r="http://schemas.openxmlformats.org/officeDocument/2006/relationships" id="263" r:id="R14e01cba9d774edd"/>
    <p:sldId xmlns:r="http://schemas.openxmlformats.org/officeDocument/2006/relationships" id="264" r:id="Raa862df73e584e4f"/>
    <p:sldId xmlns:r="http://schemas.openxmlformats.org/officeDocument/2006/relationships" id="265" r:id="R182d2d16699f4c93"/>
    <p:sldId xmlns:r="http://schemas.openxmlformats.org/officeDocument/2006/relationships" id="266" r:id="R2d67950fd6c940a8"/>
    <p:sldId xmlns:r="http://schemas.openxmlformats.org/officeDocument/2006/relationships" id="267" r:id="R3e87ee2e624c4c6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9de9f492bc644b8" /><Relationship Type="http://schemas.openxmlformats.org/officeDocument/2006/relationships/slideMaster" Target="/ppt/slideMasters/slideMaster1.xml" Id="R04aaa18b736b4bdf" /><Relationship Type="http://schemas.openxmlformats.org/officeDocument/2006/relationships/notesMaster" Target="/ppt/notesMasters/notesMaster1.xml" Id="R96d94d15dc974a5e" /><Relationship Type="http://schemas.openxmlformats.org/officeDocument/2006/relationships/presProps" Target="/ppt/presProps.xml" Id="R1eb803d0e5634d51" /><Relationship Type="http://schemas.openxmlformats.org/officeDocument/2006/relationships/tableStyles" Target="/ppt/tableStyles.xml" Id="R046ca296d2e6404a" /><Relationship Type="http://schemas.openxmlformats.org/officeDocument/2006/relationships/slide" Target="/ppt/slides/slide1.xml" Id="Rcde81a43be7f4cfc" /><Relationship Type="http://schemas.openxmlformats.org/officeDocument/2006/relationships/slide" Target="/ppt/slides/slide2.xml" Id="Rb591ceb67cfe4dfa" /><Relationship Type="http://schemas.openxmlformats.org/officeDocument/2006/relationships/slide" Target="/ppt/slides/slide3.xml" Id="Red634db161304007" /><Relationship Type="http://schemas.openxmlformats.org/officeDocument/2006/relationships/slide" Target="/ppt/slides/slide4.xml" Id="R744bcab443ee4f0a" /><Relationship Type="http://schemas.openxmlformats.org/officeDocument/2006/relationships/slide" Target="/ppt/slides/slide5.xml" Id="R17730be55cce4d1b" /><Relationship Type="http://schemas.openxmlformats.org/officeDocument/2006/relationships/slide" Target="/ppt/slides/slide6.xml" Id="Rd958332fc9254de4" /><Relationship Type="http://schemas.openxmlformats.org/officeDocument/2006/relationships/slide" Target="/ppt/slides/slide7.xml" Id="Ra4f0238fed2e4cfb" /><Relationship Type="http://schemas.openxmlformats.org/officeDocument/2006/relationships/slide" Target="/ppt/slides/slide8.xml" Id="R14e01cba9d774edd" /><Relationship Type="http://schemas.openxmlformats.org/officeDocument/2006/relationships/slide" Target="/ppt/slides/slide9.xml" Id="Raa862df73e584e4f" /><Relationship Type="http://schemas.openxmlformats.org/officeDocument/2006/relationships/slide" Target="/ppt/slides/slide10.xml" Id="R182d2d16699f4c93" /><Relationship Type="http://schemas.openxmlformats.org/officeDocument/2006/relationships/slide" Target="/ppt/slides/slide11.xml" Id="R2d67950fd6c940a8" /><Relationship Type="http://schemas.openxmlformats.org/officeDocument/2006/relationships/slide" Target="/ppt/slides/slide12.xml" Id="R3e87ee2e624c4c6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a91b5938c134aa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Lesson theme">
  <a:themeElements>
    <a:clrScheme name="Lesson them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Lesson them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b28eab85e384bc2" /><Relationship Type="http://schemas.openxmlformats.org/officeDocument/2006/relationships/notesMaster" Target="/ppt/notesMasters/notesMaster1.xml" Id="R6519dbe39c884c2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1077e838a5c4944" /><Relationship Type="http://schemas.openxmlformats.org/officeDocument/2006/relationships/notesMaster" Target="/ppt/notesMasters/notesMaster1.xml" Id="R52c26794846f4f4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7f676e893194b3c" /><Relationship Type="http://schemas.openxmlformats.org/officeDocument/2006/relationships/notesMaster" Target="/ppt/notesMasters/notesMaster1.xml" Id="R6884c9b99857407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7d560b550134841" /><Relationship Type="http://schemas.openxmlformats.org/officeDocument/2006/relationships/notesMaster" Target="/ppt/notesMasters/notesMaster1.xml" Id="R097e1584cc63467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6e3e15a17c646e7" /><Relationship Type="http://schemas.openxmlformats.org/officeDocument/2006/relationships/notesMaster" Target="/ppt/notesMasters/notesMaster1.xml" Id="Rab609d8c57ba4bc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4f5752b038c48f6" /><Relationship Type="http://schemas.openxmlformats.org/officeDocument/2006/relationships/notesMaster" Target="/ppt/notesMasters/notesMaster1.xml" Id="Rf64862cd19b04df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b6bde8c8f5341ce" /><Relationship Type="http://schemas.openxmlformats.org/officeDocument/2006/relationships/notesMaster" Target="/ppt/notesMasters/notesMaster1.xml" Id="R2ea49e5f1e0a4ab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5c9c359fd184d05" /><Relationship Type="http://schemas.openxmlformats.org/officeDocument/2006/relationships/notesMaster" Target="/ppt/notesMasters/notesMaster1.xml" Id="R91cd519756d84ea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bc2881931df42c5" /><Relationship Type="http://schemas.openxmlformats.org/officeDocument/2006/relationships/notesMaster" Target="/ppt/notesMasters/notesMaster1.xml" Id="R7bb907761a5942c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aa83bf25a424bc5" /><Relationship Type="http://schemas.openxmlformats.org/officeDocument/2006/relationships/notesMaster" Target="/ppt/notesMasters/notesMaster1.xml" Id="R9535c48bda2f418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023137aec23409a" /><Relationship Type="http://schemas.openxmlformats.org/officeDocument/2006/relationships/notesMaster" Target="/ppt/notesMasters/notesMaster1.xml" Id="R60b2a3f282fa4ef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59abdd08cc745e5" /><Relationship Type="http://schemas.openxmlformats.org/officeDocument/2006/relationships/notesMaster" Target="/ppt/notesMasters/notesMaster1.xml" Id="Rf09ce24b8e97460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DT-LAUNCH-A2-W03 · Monday 16–Friday 20 November 2026</ns0:t>
            </ns0:r>
          </ns0:p>
          <ns1:p xmlns:ns1="http://schemas.openxmlformats.org/drawingml/2006/main">
            <ns1:r>
              <ns1:t>Title and big question: 0 minutes.</ns1:t>
            </ns1:r>
          </ns1:p>
          <ns2:p xmlns:ns2="http://schemas.openxmlformats.org/drawingml/2006/main">
            <ns2:r>
              <ns2:t>Teacher: Open the big question without requiring personal disclosure. Staff enter the actual date in the planner.</ns2:t>
            </ns2:r>
          </ns2:p>
          <ns3:p xmlns:ns3="http://schemas.openxmlformats.org/drawingml/2006/main">
            <ns3:r>
              <ns3:t>TA: offer processing time, read or scribe exact words, record physical help and avoid supplying the assessed answer.</ns3:t>
            </ns3:r>
          </ns3:p>
          <ns4:p xmlns:ns4="http://schemas.openxmlformats.org/drawingml/2006/main">
            <ns4:r>
              <ns4:t>Evidence: LAUNCH-DT-W3-E1; The learner’s actual folded card model, a labelled photo/work reference, build checks, one change or next step and accurate physical-support record.</ns4:t>
            </ns4:r>
          </ns4:p>
          <ns5:p xmlns:ns5="http://schemas.openxmlformats.org/drawingml/2006/main">
            <ns5:r>
              <ns5:t>Scheme: LAUNCH Weekly - Autumn!C238; LAUNCH - Autumn!D33, I33, J33; revision 9ed44bdf.</ns5:t>
            </ns5:r>
          </ns5:p>
          <ns6:p xmlns:ns6="http://schemas.openxmlformats.org/drawingml/2006/main">
            <ns6:r>
              <ns6:t>Unit: Construction &amp; making: safe structures</ns6:t>
            </ns6:r>
          </ns6:p>
          <ns7:p xmlns:ns7="http://schemas.openxmlformats.org/drawingml/2006/main">
            <ns7:r>
              <ns7:t>Accreditation: [AWARD] [QUAL] (Level 1/2); [AWARD] [QUAL] '[QUAL]', '[QUAL]'.</ns7:t>
            </ns7:r>
          </ns7:p>
          <ns8:p xmlns:ns8="http://schemas.openxmlformats.org/drawingml/2006/main">
            <ns8:r>
              <ns8:t>Assessment: F: safe-working observation.  S: constructed product + evaluation (data drop).</ns8:t>
            </ns8:r>
          </ns8:p>
          <ns9:p xmlns:ns9="http://schemas.openxmlformats.org/drawingml/2006/main">
            <ns9:r>
              <ns9:t>Sources: https://www.hse.gov.uk/risk/classroom-checklist.htm; https://www.sciencebuddies.org/stem-activities/build-best-bridge</ns9:t>
            </ns9:r>
          </ns9:p>
          <ns10:p xmlns:ns10="http://schemas.openxmlformats.org/drawingml/2006/main">
            <ns10:r>
              <ns10:t>Made by Matt · © Matt Roper · CC BY-NC-SA 4.0: free for classroom use, share and adapt with credit, no resale</ns10:t>
            </ns10:r>
          </ns10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DT-LAUNCH-A2-W03 · Monday 16–Friday 20 November 2026</ns0:t>
            </ns0:r>
          </ns0:p>
          <ns1:p xmlns:ns1="http://schemas.openxmlformats.org/drawingml/2006/main">
            <ns1:r>
              <ns1:t>Arrival and regulation: 4 minutes.</ns1:t>
            </ns1:r>
          </ns1:p>
          <ns2:p xmlns:ns2="http://schemas.openxmlformats.org/drawingml/2006/main">
            <ns2:r>
              <ns2:t>Teacher: Use a private check-in, quiet start and processing time. Identify the available adult and backup support route.</ns2:t>
            </ns2:r>
          </ns2:p>
          <ns3:p xmlns:ns3="http://schemas.openxmlformats.org/drawingml/2006/main">
            <ns3:r>
              <ns3:t>TA: offer processing time, read or scribe exact words, record physical help and avoid supplying the assessed answer.</ns3:t>
            </ns3:r>
          </ns3:p>
          <ns4:p xmlns:ns4="http://schemas.openxmlformats.org/drawingml/2006/main">
            <ns4:r>
              <ns4:t>Evidence: LAUNCH-DT-W3-E1; The learner’s actual folded card model, a labelled photo/work reference, build checks, one change or next step and accurate physical-support record.</ns4:t>
            </ns4:r>
          </ns4:p>
          <ns5:p xmlns:ns5="http://schemas.openxmlformats.org/drawingml/2006/main">
            <ns5:r>
              <ns5:t>Scheme: LAUNCH Weekly - Autumn!C238; LAUNCH - Autumn!D33, I33, J33; revision 9ed44bdf.</ns5:t>
            </ns5:r>
          </ns5:p>
          <ns6:p xmlns:ns6="http://schemas.openxmlformats.org/drawingml/2006/main">
            <ns6:r>
              <ns6:t>Unit: Construction &amp; making: safe structures</ns6:t>
            </ns6:r>
          </ns6:p>
          <ns7:p xmlns:ns7="http://schemas.openxmlformats.org/drawingml/2006/main">
            <ns7:r>
              <ns7:t>Accreditation: [AWARD] [QUAL] (Level 1/2); [AWARD] [QUAL] '[QUAL]', '[QUAL]'.</ns7:t>
            </ns7:r>
          </ns7:p>
          <ns8:p xmlns:ns8="http://schemas.openxmlformats.org/drawingml/2006/main">
            <ns8:r>
              <ns8:t>Assessment: F: safe-working observation.  S: constructed product + evaluation (data drop).</ns8:t>
            </ns8:r>
          </ns8:p>
          <ns9:p xmlns:ns9="http://schemas.openxmlformats.org/drawingml/2006/main">
            <ns9:r>
              <ns9:t>Sources: https://www.hse.gov.uk/risk/classroom-checklist.htm; https://www.sciencebuddies.org/stem-activities/build-best-bridge</ns9:t>
            </ns9:r>
          </ns9:p>
          <ns10:p xmlns:ns10="http://schemas.openxmlformats.org/drawingml/2006/main">
            <ns10:r>
              <ns10:t>Made by Matt · © Matt Roper · CC BY-NC-SA 4.0: free for classroom use, share and adapt with credit, no resale</ns10:t>
            </ns10:r>
          </ns10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DT-LAUNCH-A2-W03 · Monday 16–Friday 20 November 2026</ns0:t>
            </ns0:r>
          </ns0:p>
          <ns1:p xmlns:ns1="http://schemas.openxmlformats.org/drawingml/2006/main">
            <ns1:r>
              <ns1:t>Starter: 2 minutes.</ns1:t>
            </ns1:r>
          </ns1:p>
          <ns2:p xmlns:ns2="http://schemas.openxmlformats.org/drawingml/2006/main">
            <ns2:r>
              <ns2:t>Teacher: Read all diagram labels aloud. Accept a pointed clue. Diagrams are authored examples, not learner evidence or measuring templates.</ns2:t>
            </ns2:r>
          </ns2:p>
          <ns3:p xmlns:ns3="http://schemas.openxmlformats.org/drawingml/2006/main">
            <ns3:r>
              <ns3:t>TA: offer processing time, read or scribe exact words, record physical help and avoid supplying the assessed answer.</ns3:t>
            </ns3:r>
          </ns3:p>
          <ns4:p xmlns:ns4="http://schemas.openxmlformats.org/drawingml/2006/main">
            <ns4:r>
              <ns4:t>Evidence: LAUNCH-DT-W3-E1; The learner’s actual folded card model, a labelled photo/work reference, build checks, one change or next step and accurate physical-support record.</ns4:t>
            </ns4:r>
          </ns4:p>
          <ns5:p xmlns:ns5="http://schemas.openxmlformats.org/drawingml/2006/main">
            <ns5:r>
              <ns5:t>Scheme: LAUNCH Weekly - Autumn!C238; LAUNCH - Autumn!D33, I33, J33; revision 9ed44bdf.</ns5:t>
            </ns5:r>
          </ns5:p>
          <ns6:p xmlns:ns6="http://schemas.openxmlformats.org/drawingml/2006/main">
            <ns6:r>
              <ns6:t>Unit: Construction &amp; making: safe structures</ns6:t>
            </ns6:r>
          </ns6:p>
          <ns7:p xmlns:ns7="http://schemas.openxmlformats.org/drawingml/2006/main">
            <ns7:r>
              <ns7:t>Accreditation: [AWARD] [QUAL] (Level 1/2); [AWARD] [QUAL] '[QUAL]', '[QUAL]'.</ns7:t>
            </ns7:r>
          </ns7:p>
          <ns8:p xmlns:ns8="http://schemas.openxmlformats.org/drawingml/2006/main">
            <ns8:r>
              <ns8:t>Assessment: F: safe-working observation.  S: constructed product + evaluation (data drop).</ns8:t>
            </ns8:r>
          </ns8:p>
          <ns9:p xmlns:ns9="http://schemas.openxmlformats.org/drawingml/2006/main">
            <ns9:r>
              <ns9:t>Sources: https://www.hse.gov.uk/risk/classroom-checklist.htm; https://www.sciencebuddies.org/stem-activities/build-best-bridge</ns9:t>
            </ns9:r>
          </ns9:p>
          <ns10:p xmlns:ns10="http://schemas.openxmlformats.org/drawingml/2006/main">
            <ns10:r>
              <ns10:t>Made by Matt · © Matt Roper · CC BY-NC-SA 4.0: free for classroom use, share and adapt with credit, no resale</ns10:t>
            </ns10:r>
          </ns10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DT-LAUNCH-A2-W03 · Monday 16–Friday 20 November 2026</ns0:t>
            </ns0:r>
          </ns0:p>
          <ns1:p xmlns:ns1="http://schemas.openxmlformats.org/drawingml/2006/main">
            <ns1:r>
              <ns1:t>Today: 0 minutes.</ns1:t>
            </ns1:r>
          </ns1:p>
          <ns2:p xmlns:ns2="http://schemas.openxmlformats.org/drawingml/2006/main">
            <ns2:r>
              <ns2:t>Teacher: Read the exact scheme objective and the success checks. Explain today’s contribution without claiming award completion.</ns2:t>
            </ns2:r>
          </ns2:p>
          <ns3:p xmlns:ns3="http://schemas.openxmlformats.org/drawingml/2006/main">
            <ns3:r>
              <ns3:t>TA: offer processing time, read or scribe exact words, record physical help and avoid supplying the assessed answer.</ns3:t>
            </ns3:r>
          </ns3:p>
          <ns4:p xmlns:ns4="http://schemas.openxmlformats.org/drawingml/2006/main">
            <ns4:r>
              <ns4:t>Evidence: LAUNCH-DT-W3-E1; The learner’s actual folded card model, a labelled photo/work reference, build checks, one change or next step and accurate physical-support record.</ns4:t>
            </ns4:r>
          </ns4:p>
          <ns5:p xmlns:ns5="http://schemas.openxmlformats.org/drawingml/2006/main">
            <ns5:r>
              <ns5:t>Scheme: LAUNCH Weekly - Autumn!C238; LAUNCH - Autumn!D33, I33, J33; revision 9ed44bdf.</ns5:t>
            </ns5:r>
          </ns5:p>
          <ns6:p xmlns:ns6="http://schemas.openxmlformats.org/drawingml/2006/main">
            <ns6:r>
              <ns6:t>Unit: Construction &amp; making: safe structures</ns6:t>
            </ns6:r>
          </ns6:p>
          <ns7:p xmlns:ns7="http://schemas.openxmlformats.org/drawingml/2006/main">
            <ns7:r>
              <ns7:t>Accreditation: [AWARD] [QUAL] (Level 1/2); [AWARD] [QUAL] '[QUAL]', '[QUAL]'.</ns7:t>
            </ns7:r>
          </ns7:p>
          <ns8:p xmlns:ns8="http://schemas.openxmlformats.org/drawingml/2006/main">
            <ns8:r>
              <ns8:t>Assessment: F: safe-working observation.  S: constructed product + evaluation (data drop).</ns8:t>
            </ns8:r>
          </ns8:p>
          <ns9:p xmlns:ns9="http://schemas.openxmlformats.org/drawingml/2006/main">
            <ns9:r>
              <ns9:t>Sources: https://www.hse.gov.uk/risk/classroom-checklist.htm; https://www.sciencebuddies.org/stem-activities/build-best-bridge</ns9:t>
            </ns9:r>
          </ns9:p>
          <ns10:p xmlns:ns10="http://schemas.openxmlformats.org/drawingml/2006/main">
            <ns10:r>
              <ns10:t>Made by Matt · © Matt Roper · CC BY-NC-SA 4.0: free for classroom use, share and adapt with credit, no resale</ns10:t>
            </ns10:r>
          </ns10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DT-LAUNCH-A2-W03 · Monday 16–Friday 20 November 2026</ns0:t>
            </ns0:r>
          </ns0:p>
          <ns1:p xmlns:ns1="http://schemas.openxmlformats.org/drawingml/2006/main">
            <ns1:r>
              <ns1:t>I Do: 5 minutes.</ns1:t>
            </ns1:r>
          </ns1:p>
          <ns2:p xmlns:ns2="http://schemas.openxmlformats.org/drawingml/2006/main">
            <ns2:r>
              <ns2:t>Teacher: Model each line aloud and make the reasoning explicit. A 20 by 8 cm blank folded at 2 cm and 6 cm gives a 4 cm base and two 2 cm sides. A centred 20 cm length across a 10 cm gap rests 5 cm on each support. Check actual folds and fit. Capture the model, not just a plan. Record adult-started folds or a supplied pre-marked blank. No load, strength or award completion result is inferred.</ns2:t>
            </ns2:r>
          </ns2:p>
          <ns3:p xmlns:ns3="http://schemas.openxmlformats.org/drawingml/2006/main">
            <ns3:r>
              <ns3:t>TA: offer processing time, read or scribe exact words, record physical help and avoid supplying the assessed answer.</ns3:t>
            </ns3:r>
          </ns3:p>
          <ns4:p xmlns:ns4="http://schemas.openxmlformats.org/drawingml/2006/main">
            <ns4:r>
              <ns4:t>Evidence: LAUNCH-DT-W3-E1; The learner’s actual folded card model, a labelled photo/work reference, build checks, one change or next step and accurate physical-support record.</ns4:t>
            </ns4:r>
          </ns4:p>
          <ns5:p xmlns:ns5="http://schemas.openxmlformats.org/drawingml/2006/main">
            <ns5:r>
              <ns5:t>Scheme: LAUNCH Weekly - Autumn!C238; LAUNCH - Autumn!D33, I33, J33; revision 9ed44bdf.</ns5:t>
            </ns5:r>
          </ns5:p>
          <ns6:p xmlns:ns6="http://schemas.openxmlformats.org/drawingml/2006/main">
            <ns6:r>
              <ns6:t>Unit: Construction &amp; making: safe structures</ns6:t>
            </ns6:r>
          </ns6:p>
          <ns7:p xmlns:ns7="http://schemas.openxmlformats.org/drawingml/2006/main">
            <ns7:r>
              <ns7:t>Accreditation: [AWARD] [QUAL] (Level 1/2); [AWARD] [QUAL] '[QUAL]', '[QUAL]'.</ns7:t>
            </ns7:r>
          </ns7:p>
          <ns8:p xmlns:ns8="http://schemas.openxmlformats.org/drawingml/2006/main">
            <ns8:r>
              <ns8:t>Assessment: F: safe-working observation.  S: constructed product + evaluation (data drop).</ns8:t>
            </ns8:r>
          </ns8:p>
          <ns9:p xmlns:ns9="http://schemas.openxmlformats.org/drawingml/2006/main">
            <ns9:r>
              <ns9:t>Sources: https://www.hse.gov.uk/risk/classroom-checklist.htm; https://www.sciencebuddies.org/stem-activities/build-best-bridge</ns9:t>
            </ns9:r>
          </ns9:p>
          <ns10:p xmlns:ns10="http://schemas.openxmlformats.org/drawingml/2006/main">
            <ns10:r>
              <ns10:t>Made by Matt · © Matt Roper · CC BY-NC-SA 4.0: free for classroom use, share and adapt with credit, no resale</ns10:t>
            </ns10:r>
          </ns10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DT-LAUNCH-A2-W03 · Monday 16–Friday 20 November 2026</ns0:t>
            </ns0:r>
          </ns0:p>
          <ns1:p xmlns:ns1="http://schemas.openxmlformats.org/drawingml/2006/main">
            <ns1:r>
              <ns1:t>We Do: 5 minutes.</ns1:t>
            </ns1:r>
          </ns1:p>
          <ns2:p xmlns:ns2="http://schemas.openxmlformats.org/drawingml/2006/main">
            <ns2:r>
              <ns2:t>Teacher: Read the hinge aloud, ask for a choice and a reason. B. Check the 2 cm and 6 cm lines from the same reference edge. Ask the adult whether the fold can be corrected or a spare blank is needed; record the help and change. A hides rather than resolves the mismatch; C introduces unplanned cutting. Re-model a fold on scrap card if needed.</ns2:t>
            </ns2:r>
          </ns2:p>
          <ns3:p xmlns:ns3="http://schemas.openxmlformats.org/drawingml/2006/main">
            <ns3:r>
              <ns3:t>TA: offer processing time, read or scribe exact words, record physical help and avoid supplying the assessed answer.</ns3:t>
            </ns3:r>
          </ns3:p>
          <ns4:p xmlns:ns4="http://schemas.openxmlformats.org/drawingml/2006/main">
            <ns4:r>
              <ns4:t>Evidence: LAUNCH-DT-W3-E1; The learner’s actual folded card model, a labelled photo/work reference, build checks, one change or next step and accurate physical-support record.</ns4:t>
            </ns4:r>
          </ns4:p>
          <ns5:p xmlns:ns5="http://schemas.openxmlformats.org/drawingml/2006/main">
            <ns5:r>
              <ns5:t>Scheme: LAUNCH Weekly - Autumn!C238; LAUNCH - Autumn!D33, I33, J33; revision 9ed44bdf.</ns5:t>
            </ns5:r>
          </ns5:p>
          <ns6:p xmlns:ns6="http://schemas.openxmlformats.org/drawingml/2006/main">
            <ns6:r>
              <ns6:t>Unit: Construction &amp; making: safe structures</ns6:t>
            </ns6:r>
          </ns6:p>
          <ns7:p xmlns:ns7="http://schemas.openxmlformats.org/drawingml/2006/main">
            <ns7:r>
              <ns7:t>Accreditation: [AWARD] [QUAL] (Level 1/2); [AWARD] [QUAL] '[QUAL]', '[QUAL]'.</ns7:t>
            </ns7:r>
          </ns7:p>
          <ns8:p xmlns:ns8="http://schemas.openxmlformats.org/drawingml/2006/main">
            <ns8:r>
              <ns8:t>Assessment: F: safe-working observation.  S: constructed product + evaluation (data drop).</ns8:t>
            </ns8:r>
          </ns8:p>
          <ns9:p xmlns:ns9="http://schemas.openxmlformats.org/drawingml/2006/main">
            <ns9:r>
              <ns9:t>Sources: https://www.hse.gov.uk/risk/classroom-checklist.htm; https://www.sciencebuddies.org/stem-activities/build-best-bridge</ns9:t>
            </ns9:r>
          </ns9:p>
          <ns10:p xmlns:ns10="http://schemas.openxmlformats.org/drawingml/2006/main">
            <ns10:r>
              <ns10:t>Made by Matt · © Matt Roper · CC BY-NC-SA 4.0: free for classroom use, share and adapt with credit, no resale</ns10:t>
            </ns10:r>
          </ns10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DT-LAUNCH-A2-W03 · Monday 16–Friday 20 November 2026</ns0:t>
            </ns0:r>
          </ns0:p>
          <ns1:p xmlns:ns1="http://schemas.openxmlformats.org/drawingml/2006/main">
            <ns1:r>
              <ns1:t>You Do practice: 12 minutes.</ns1:t>
            </ns1:r>
          </ns1:p>
          <ns2:p xmlns:ns2="http://schemas.openxmlformats.org/drawingml/2006/main">
            <ns2:r>
              <ns2:t>Teacher: Follow A–F. Check marks first, model one crease on spare card, then let pupils form their own channel. Adults record physical help. Use a fit check over the 10 cm gap only. For an absent pupil, record supplied marking as catch-up support and focus on today’s building objective.</ns2:t>
            </ns2:r>
          </ns2:p>
          <ns3:p xmlns:ns3="http://schemas.openxmlformats.org/drawingml/2006/main">
            <ns3:r>
              <ns3:t>TA: offer processing time, read or scribe exact words, record physical help and avoid supplying the assessed answer.</ns3:t>
            </ns3:r>
          </ns3:p>
          <ns4:p xmlns:ns4="http://schemas.openxmlformats.org/drawingml/2006/main">
            <ns4:r>
              <ns4:t>Evidence: LAUNCH-DT-W3-E1; The learner’s actual folded card model, a labelled photo/work reference, build checks, one change or next step and accurate physical-support record.</ns4:t>
            </ns4:r>
          </ns4:p>
          <ns5:p xmlns:ns5="http://schemas.openxmlformats.org/drawingml/2006/main">
            <ns5:r>
              <ns5:t>Scheme: LAUNCH Weekly - Autumn!C238; LAUNCH - Autumn!D33, I33, J33; revision 9ed44bdf.</ns5:t>
            </ns5:r>
          </ns5:p>
          <ns6:p xmlns:ns6="http://schemas.openxmlformats.org/drawingml/2006/main">
            <ns6:r>
              <ns6:t>Unit: Construction &amp; making: safe structures</ns6:t>
            </ns6:r>
          </ns6:p>
          <ns7:p xmlns:ns7="http://schemas.openxmlformats.org/drawingml/2006/main">
            <ns7:r>
              <ns7:t>Accreditation: [AWARD] [QUAL] (Level 1/2); [AWARD] [QUAL] '[QUAL]', '[QUAL]'.</ns7:t>
            </ns7:r>
          </ns7:p>
          <ns8:p xmlns:ns8="http://schemas.openxmlformats.org/drawingml/2006/main">
            <ns8:r>
              <ns8:t>Assessment: F: safe-working observation.  S: constructed product + evaluation (data drop).</ns8:t>
            </ns8:r>
          </ns8:p>
          <ns9:p xmlns:ns9="http://schemas.openxmlformats.org/drawingml/2006/main">
            <ns9:r>
              <ns9:t>Sources: https://www.hse.gov.uk/risk/classroom-checklist.htm; https://www.sciencebuddies.org/stem-activities/build-best-bridge</ns9:t>
            </ns9:r>
          </ns9:p>
          <ns10:p xmlns:ns10="http://schemas.openxmlformats.org/drawingml/2006/main">
            <ns10:r>
              <ns10:t>Made by Matt · © Matt Roper · CC BY-NC-SA 4.0: free for classroom use, share and adapt with credit, no resale</ns10:t>
            </ns10:r>
          </ns10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DT-LAUNCH-A2-W03 · Monday 16–Friday 20 November 2026</ns0:t>
            </ns0:r>
          </ns0:p>
          <ns1:p xmlns:ns1="http://schemas.openxmlformats.org/drawingml/2006/main">
            <ns1:r>
              <ns1:t>You Do evidence: 6 minutes.</ns1:t>
            </ns1:r>
          </ns1:p>
          <ns2:p xmlns:ns2="http://schemas.openxmlformats.org/drawingml/2006/main">
            <ns2:r>
              <ns2:t>Teacher: Complete both Evidence Sheet pages. A 20 by 8 cm blank folded at 2 cm and 6 cm gives a 4 cm base and two 2 cm sides. A centred 20 cm length across a 10 cm gap rests 5 cm on each support. Check actual folds and fit. Capture the model, not just a plan. Record adult-started folds or a supplied pre-marked blank. No load, strength or award completion result is inferred.</ns2:t>
            </ns2:r>
          </ns2:p>
          <ns3:p xmlns:ns3="http://schemas.openxmlformats.org/drawingml/2006/main">
            <ns3:r>
              <ns3:t>TA: offer processing time, read or scribe exact words, record physical help and avoid supplying the assessed answer.</ns3:t>
            </ns3:r>
          </ns3:p>
          <ns4:p xmlns:ns4="http://schemas.openxmlformats.org/drawingml/2006/main">
            <ns4:r>
              <ns4:t>Evidence: LAUNCH-DT-W3-E1; The learner’s actual folded card model, a labelled photo/work reference, build checks, one change or next step and accurate physical-support record.</ns4:t>
            </ns4:r>
          </ns4:p>
          <ns5:p xmlns:ns5="http://schemas.openxmlformats.org/drawingml/2006/main">
            <ns5:r>
              <ns5:t>Scheme: LAUNCH Weekly - Autumn!C238; LAUNCH - Autumn!D33, I33, J33; revision 9ed44bdf.</ns5:t>
            </ns5:r>
          </ns5:p>
          <ns6:p xmlns:ns6="http://schemas.openxmlformats.org/drawingml/2006/main">
            <ns6:r>
              <ns6:t>Unit: Construction &amp; making: safe structures</ns6:t>
            </ns6:r>
          </ns6:p>
          <ns7:p xmlns:ns7="http://schemas.openxmlformats.org/drawingml/2006/main">
            <ns7:r>
              <ns7:t>Accreditation: [AWARD] [QUAL] (Level 1/2); [AWARD] [QUAL] '[QUAL]', '[QUAL]'.</ns7:t>
            </ns7:r>
          </ns7:p>
          <ns8:p xmlns:ns8="http://schemas.openxmlformats.org/drawingml/2006/main">
            <ns8:r>
              <ns8:t>Assessment: F: safe-working observation.  S: constructed product + evaluation (data drop).</ns8:t>
            </ns8:r>
          </ns8:p>
          <ns9:p xmlns:ns9="http://schemas.openxmlformats.org/drawingml/2006/main">
            <ns9:r>
              <ns9:t>Sources: https://www.hse.gov.uk/risk/classroom-checklist.htm; https://www.sciencebuddies.org/stem-activities/build-best-bridge</ns9:t>
            </ns9:r>
          </ns9:p>
          <ns10:p xmlns:ns10="http://schemas.openxmlformats.org/drawingml/2006/main">
            <ns10:r>
              <ns10:t>Made by Matt · © Matt Roper · CC BY-NC-SA 4.0: free for classroom use, share and adapt with credit, no resale</ns10:t>
            </ns10:r>
          </ns10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DT-LAUNCH-A2-W03 · Monday 16–Friday 20 November 2026</ns0:t>
            </ns0:r>
          </ns0:p>
          <ns1:p xmlns:ns1="http://schemas.openxmlformats.org/drawingml/2006/main">
            <ns1:r>
              <ns1:t>Tidy and evidence check: 4 minutes.</ns1:t>
            </ns1:r>
          </ns1:p>
          <ns2:p xmlns:ns2="http://schemas.openxmlformats.org/drawingml/2006/main">
            <ns2:r>
              <ns2:t>Teacher: Check actual support, ownership and response. Use VF, WS, I, NS+, //, ?, R and E appropriately. R needs Voice, Audience, NS+ and a response in the learner’s own colour. E requires actual banking.</ns2:t>
            </ns2:r>
          </ns2:p>
          <ns3:p xmlns:ns3="http://schemas.openxmlformats.org/drawingml/2006/main">
            <ns3:r>
              <ns3:t>TA: offer processing time, read or scribe exact words, record physical help and avoid supplying the assessed answer.</ns3:t>
            </ns3:r>
          </ns3:p>
          <ns4:p xmlns:ns4="http://schemas.openxmlformats.org/drawingml/2006/main">
            <ns4:r>
              <ns4:t>Evidence: LAUNCH-DT-W3-E1; The learner’s actual folded card model, a labelled photo/work reference, build checks, one change or next step and accurate physical-support record.</ns4:t>
            </ns4:r>
          </ns4:p>
          <ns5:p xmlns:ns5="http://schemas.openxmlformats.org/drawingml/2006/main">
            <ns5:r>
              <ns5:t>Scheme: LAUNCH Weekly - Autumn!C238; LAUNCH - Autumn!D33, I33, J33; revision 9ed44bdf.</ns5:t>
            </ns5:r>
          </ns5:p>
          <ns6:p xmlns:ns6="http://schemas.openxmlformats.org/drawingml/2006/main">
            <ns6:r>
              <ns6:t>Unit: Construction &amp; making: safe structures</ns6:t>
            </ns6:r>
          </ns6:p>
          <ns7:p xmlns:ns7="http://schemas.openxmlformats.org/drawingml/2006/main">
            <ns7:r>
              <ns7:t>Accreditation: [AWARD] [QUAL] (Level 1/2); [AWARD] [QUAL] '[QUAL]', '[QUAL]'.</ns7:t>
            </ns7:r>
          </ns7:p>
          <ns8:p xmlns:ns8="http://schemas.openxmlformats.org/drawingml/2006/main">
            <ns8:r>
              <ns8:t>Assessment: F: safe-working observation.  S: constructed product + evaluation (data drop).</ns8:t>
            </ns8:r>
          </ns8:p>
          <ns9:p xmlns:ns9="http://schemas.openxmlformats.org/drawingml/2006/main">
            <ns9:r>
              <ns9:t>Sources: https://www.hse.gov.uk/risk/classroom-checklist.htm; https://www.sciencebuddies.org/stem-activities/build-best-bridge</ns9:t>
            </ns9:r>
          </ns9:p>
          <ns10:p xmlns:ns10="http://schemas.openxmlformats.org/drawingml/2006/main">
            <ns10:r>
              <ns10:t>Made by Matt · © Matt Roper · CC BY-NC-SA 4.0: free for classroom use, share and adapt with credit, no resale</ns10:t>
            </ns10:r>
          </ns10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DT-LAUNCH-A2-W03 · Monday 16–Friday 20 November 2026</ns0:t>
            </ns0:r>
          </ns0:p>
          <ns1:p xmlns:ns1="http://schemas.openxmlformats.org/drawingml/2006/main">
            <ns1:r>
              <ns1:t>Exit ticket: 2 minutes.</ns1:t>
            </ns1:r>
          </ns1:p>
          <ns2:p xmlns:ns2="http://schemas.openxmlformats.org/drawingml/2006/main">
            <ns2:r>
              <ns2:t>Teacher: Take a quiet exit response and note the next teaching need. Use the Staff Answers to assess the reason rather than just a letter.</ns2:t>
            </ns2:r>
          </ns2:p>
          <ns3:p xmlns:ns3="http://schemas.openxmlformats.org/drawingml/2006/main">
            <ns3:r>
              <ns3:t>TA: offer processing time, read or scribe exact words, record physical help and avoid supplying the assessed answer.</ns3:t>
            </ns3:r>
          </ns3:p>
          <ns4:p xmlns:ns4="http://schemas.openxmlformats.org/drawingml/2006/main">
            <ns4:r>
              <ns4:t>Evidence: LAUNCH-DT-W3-E1; The learner’s actual folded card model, a labelled photo/work reference, build checks, one change or next step and accurate physical-support record.</ns4:t>
            </ns4:r>
          </ns4:p>
          <ns5:p xmlns:ns5="http://schemas.openxmlformats.org/drawingml/2006/main">
            <ns5:r>
              <ns5:t>Scheme: LAUNCH Weekly - Autumn!C238; LAUNCH - Autumn!D33, I33, J33; revision 9ed44bdf.</ns5:t>
            </ns5:r>
          </ns5:p>
          <ns6:p xmlns:ns6="http://schemas.openxmlformats.org/drawingml/2006/main">
            <ns6:r>
              <ns6:t>Unit: Construction &amp; making: safe structures</ns6:t>
            </ns6:r>
          </ns6:p>
          <ns7:p xmlns:ns7="http://schemas.openxmlformats.org/drawingml/2006/main">
            <ns7:r>
              <ns7:t>Accreditation: [AWARD] [QUAL] (Level 1/2); [AWARD] [QUAL] '[QUAL]', '[QUAL]'.</ns7:t>
            </ns7:r>
          </ns7:p>
          <ns8:p xmlns:ns8="http://schemas.openxmlformats.org/drawingml/2006/main">
            <ns8:r>
              <ns8:t>Assessment: F: safe-working observation.  S: constructed product + evaluation (data drop).</ns8:t>
            </ns8:r>
          </ns8:p>
          <ns9:p xmlns:ns9="http://schemas.openxmlformats.org/drawingml/2006/main">
            <ns9:r>
              <ns9:t>Sources: https://www.hse.gov.uk/risk/classroom-checklist.htm; https://www.sciencebuddies.org/stem-activities/build-best-bridge</ns9:t>
            </ns9:r>
          </ns9:p>
          <ns10:p xmlns:ns10="http://schemas.openxmlformats.org/drawingml/2006/main">
            <ns10:r>
              <ns10:t>Made by Matt · © Matt Roper · CC BY-NC-SA 4.0: free for classroom use, share and adapt with credit, no resale</ns10:t>
            </ns10:r>
          </ns10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DT-LAUNCH-A2-W03 · Monday 16–Friday 20 November 2026</ns0:t>
            </ns0:r>
          </ns0:p>
          <ns1:p xmlns:ns1="http://schemas.openxmlformats.org/drawingml/2006/main">
            <ns1:r>
              <ns1:t>Vocabulary: 0 minutes.</ns1:t>
            </ns1:r>
          </ns1:p>
          <ns2:p xmlns:ns2="http://schemas.openxmlformats.org/drawingml/2006/main">
            <ns2:r>
              <ns2:t>Teacher: Keep the Vocabulary Mat available. Link each word to a case or actual task. Allow a home-language first response.</ns2:t>
            </ns2:r>
          </ns2:p>
          <ns3:p xmlns:ns3="http://schemas.openxmlformats.org/drawingml/2006/main">
            <ns3:r>
              <ns3:t>TA: offer processing time, read or scribe exact words, record physical help and avoid supplying the assessed answer.</ns3:t>
            </ns3:r>
          </ns3:p>
          <ns4:p xmlns:ns4="http://schemas.openxmlformats.org/drawingml/2006/main">
            <ns4:r>
              <ns4:t>Evidence: LAUNCH-DT-W3-E1; The learner’s actual folded card model, a labelled photo/work reference, build checks, one change or next step and accurate physical-support record.</ns4:t>
            </ns4:r>
          </ns4:p>
          <ns5:p xmlns:ns5="http://schemas.openxmlformats.org/drawingml/2006/main">
            <ns5:r>
              <ns5:t>Scheme: LAUNCH Weekly - Autumn!C238; LAUNCH - Autumn!D33, I33, J33; revision 9ed44bdf.</ns5:t>
            </ns5:r>
          </ns5:p>
          <ns6:p xmlns:ns6="http://schemas.openxmlformats.org/drawingml/2006/main">
            <ns6:r>
              <ns6:t>Unit: Construction &amp; making: safe structures</ns6:t>
            </ns6:r>
          </ns6:p>
          <ns7:p xmlns:ns7="http://schemas.openxmlformats.org/drawingml/2006/main">
            <ns7:r>
              <ns7:t>Accreditation: [AWARD] [QUAL] (Level 1/2); [AWARD] [QUAL] '[QUAL]', '[QUAL]'.</ns7:t>
            </ns7:r>
          </ns7:p>
          <ns8:p xmlns:ns8="http://schemas.openxmlformats.org/drawingml/2006/main">
            <ns8:r>
              <ns8:t>Assessment: F: safe-working observation.  S: constructed product + evaluation (data drop).</ns8:t>
            </ns8:r>
          </ns8:p>
          <ns9:p xmlns:ns9="http://schemas.openxmlformats.org/drawingml/2006/main">
            <ns9:r>
              <ns9:t>Sources: https://www.hse.gov.uk/risk/classroom-checklist.htm; https://www.sciencebuddies.org/stem-activities/build-best-bridge</ns9:t>
            </ns9:r>
          </ns9:p>
          <ns10:p xmlns:ns10="http://schemas.openxmlformats.org/drawingml/2006/main">
            <ns10:r>
              <ns10:t>Made by Matt · © Matt Roper · CC BY-NC-SA 4.0: free for classroom use, share and adapt with credit, no resale</ns10:t>
            </ns10:r>
          </ns10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DT-LAUNCH-A2-W03 · Monday 16–Friday 20 November 2026</ns0:t>
            </ns0:r>
          </ns0:p>
          <ns1:p xmlns:ns1="http://schemas.openxmlformats.org/drawingml/2006/main">
            <ns1:r>
              <ns1:t>Staff brief: 0 minutes.</ns1:t>
            </ns1:r>
          </ns1:p>
          <ns2:p xmlns:ns2="http://schemas.openxmlformats.org/drawingml/2006/main">
            <ns2:r>
              <ns2:t>Teacher: Hidden staff reference. Use hand-foldable card with clean edges and no staples. Learners fold by hand; adults can steady the card. No pupil cutting, sharp scoring tools, blades, hot glue, power tools or load tests. Supports sit on a stable low desk/tray; no standing on a model or testing with hands or body weight.</ns2:t>
            </ns2:r>
          </ns2:p>
          <ns3:p xmlns:ns3="http://schemas.openxmlformats.org/drawingml/2006/main">
            <ns3:r>
              <ns3:t>TA: offer processing time, read or scribe exact words, record physical help and avoid supplying the assessed answer.</ns3:t>
            </ns3:r>
          </ns3:p>
          <ns4:p xmlns:ns4="http://schemas.openxmlformats.org/drawingml/2006/main">
            <ns4:r>
              <ns4:t>Evidence: LAUNCH-DT-W3-E1; The learner’s actual folded card model, a labelled photo/work reference, build checks, one change or next step and accurate physical-support record.</ns4:t>
            </ns4:r>
          </ns4:p>
          <ns5:p xmlns:ns5="http://schemas.openxmlformats.org/drawingml/2006/main">
            <ns5:r>
              <ns5:t>Scheme: LAUNCH Weekly - Autumn!C238; LAUNCH - Autumn!D33, I33, J33; revision 9ed44bdf.</ns5:t>
            </ns5:r>
          </ns5:p>
          <ns6:p xmlns:ns6="http://schemas.openxmlformats.org/drawingml/2006/main">
            <ns6:r>
              <ns6:t>Unit: Construction &amp; making: safe structures</ns6:t>
            </ns6:r>
          </ns6:p>
          <ns7:p xmlns:ns7="http://schemas.openxmlformats.org/drawingml/2006/main">
            <ns7:r>
              <ns7:t>Accreditation: [AWARD] [QUAL] (Level 1/2); [AWARD] [QUAL] '[QUAL]', '[QUAL]'.</ns7:t>
            </ns7:r>
          </ns7:p>
          <ns8:p xmlns:ns8="http://schemas.openxmlformats.org/drawingml/2006/main">
            <ns8:r>
              <ns8:t>Assessment: F: safe-working observation.  S: constructed product + evaluation (data drop).</ns8:t>
            </ns8:r>
          </ns8:p>
          <ns9:p xmlns:ns9="http://schemas.openxmlformats.org/drawingml/2006/main">
            <ns9:r>
              <ns9:t>Sources: https://www.hse.gov.uk/risk/classroom-checklist.htm; https://www.sciencebuddies.org/stem-activities/build-best-bridge</ns9:t>
            </ns9:r>
          </ns9:p>
          <ns10:p xmlns:ns10="http://schemas.openxmlformats.org/drawingml/2006/main">
            <ns10:r>
              <ns10:t>Made by Matt · © Matt Roper · CC BY-NC-SA 4.0: free for classroom use, share and adapt with credit, no resale</ns10:t>
            </ns10:r>
          </ns10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67bd2734f39498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9a05ae6f99d4a7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ed3726fc20d48a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16e64f518564ec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d55cf5d6a9747a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511bbc7b7d54a5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697F803-DEEC-43CA-A5E2-5BC22B8B986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F6CE16B-3214-426C-9E08-EEDDFC8B694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21A1369-C2BF-482F-AFB7-6600F6B2099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53B8F1F-0C21-4D89-9AA0-7FC120957C0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40A3C49-7B2D-4FF2-BFD5-2E8F3F3FD65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D19B6FF-36F5-4292-9FAB-D404CD0E301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F0CC938-0B77-488A-B095-995EDA0A301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A832CFE4-C8A9-4518-9235-758C4667C16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456DCB1-8188-4B3A-9144-B492CA0B55A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323B529-5BDC-4D03-A6E7-0375064ADED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95fc6a297904e7d" /><Relationship Type="http://schemas.openxmlformats.org/officeDocument/2006/relationships/slideLayout" Target="/ppt/slideLayouts/slideLayout1.xml" Id="R12242226f6ae4fb8" /><Relationship Type="http://schemas.openxmlformats.org/officeDocument/2006/relationships/slideLayout" Target="/ppt/slideLayouts/slideLayout2.xml" Id="R4c9041799c814233" /><Relationship Type="http://schemas.openxmlformats.org/officeDocument/2006/relationships/slideLayout" Target="/ppt/slideLayouts/slideLayout3.xml" Id="Rf92f518c139547f2" /><Relationship Type="http://schemas.openxmlformats.org/officeDocument/2006/relationships/slideLayout" Target="/ppt/slideLayouts/slideLayout4.xml" Id="R17b0f0872a6c4012" /><Relationship Type="http://schemas.openxmlformats.org/officeDocument/2006/relationships/slideLayout" Target="/ppt/slideLayouts/slideLayout5.xml" Id="R95089bedba364c20" /><Relationship Type="http://schemas.openxmlformats.org/officeDocument/2006/relationships/slideLayout" Target="/ppt/slideLayouts/slideLayout6.xml" Id="R5d9c146d3d6f4e2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2242226f6ae4fb8"/>
    <p:sldLayoutId xmlns:r="http://schemas.openxmlformats.org/officeDocument/2006/relationships" id="2147483650" r:id="R4c9041799c814233"/>
    <p:sldLayoutId xmlns:r="http://schemas.openxmlformats.org/officeDocument/2006/relationships" id="2147483651" r:id="Rf92f518c139547f2"/>
    <p:sldLayoutId xmlns:r="http://schemas.openxmlformats.org/officeDocument/2006/relationships" id="2147483652" r:id="R17b0f0872a6c4012"/>
    <p:sldLayoutId xmlns:r="http://schemas.openxmlformats.org/officeDocument/2006/relationships" id="2147483653" r:id="R95089bedba364c20"/>
    <p:sldLayoutId xmlns:r="http://schemas.openxmlformats.org/officeDocument/2006/relationships" id="2147483654" r:id="R5d9c146d3d6f4e2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Arial"/>
          <a:ea typeface="Arial"/>
          <a:cs typeface="Arial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Arial"/>
          <a:ea typeface="Arial"/>
          <a:cs typeface="Arial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Arial"/>
          <a:ea typeface="Arial"/>
          <a:cs typeface="Arial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Arial"/>
          <a:ea typeface="Arial"/>
          <a:cs typeface="Arial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Lesson theme">
  <a:themeElements>
    <a:clrScheme name="Lesson them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Lesson them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3815d58e22544e7" /><Relationship Type="http://schemas.openxmlformats.org/officeDocument/2006/relationships/notesSlide" Target="/ppt/notesSlides/notesSlide1.xml" Id="Ra9f77fbe70c34ab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9019643cce24813" /><Relationship Type="http://schemas.openxmlformats.org/officeDocument/2006/relationships/notesSlide" Target="/ppt/notesSlides/notesSlide2.xml" Id="Rda26f811207e40c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fd95255ebee4187" /><Relationship Type="http://schemas.openxmlformats.org/officeDocument/2006/relationships/image" Target="/ppt/media/image.jpeg" Id="R87ca9eec94ea4c42" /><Relationship Type="http://schemas.openxmlformats.org/officeDocument/2006/relationships/notesSlide" Target="/ppt/notesSlides/notesSlide3.xml" Id="Rd30cd001fdc34f3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376fcaae6fe4ecd" /><Relationship Type="http://schemas.openxmlformats.org/officeDocument/2006/relationships/notesSlide" Target="/ppt/notesSlides/notesSlide4.xml" Id="Rbbc722ce6ceb46e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db6e66bd9414474" /><Relationship Type="http://schemas.openxmlformats.org/officeDocument/2006/relationships/notesSlide" Target="/ppt/notesSlides/notesSlide5.xml" Id="R535d1e722e4449c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d63b74467bd414f" /><Relationship Type="http://schemas.openxmlformats.org/officeDocument/2006/relationships/notesSlide" Target="/ppt/notesSlides/notesSlide6.xml" Id="Ra090871d48514e3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d07b38b06f34c92" /><Relationship Type="http://schemas.openxmlformats.org/officeDocument/2006/relationships/notesSlide" Target="/ppt/notesSlides/notesSlide7.xml" Id="R34b183ae9bcf4ac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69d5890359a4567" /><Relationship Type="http://schemas.openxmlformats.org/officeDocument/2006/relationships/notesSlide" Target="/ppt/notesSlides/notesSlide8.xml" Id="R941c20f52dc64dc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dd75ed5fc584fd5" /><Relationship Type="http://schemas.openxmlformats.org/officeDocument/2006/relationships/notesSlide" Target="/ppt/notesSlides/notesSlide9.xml" Id="R5ad80cf219c8436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96b6f0679454feb" /><Relationship Type="http://schemas.openxmlformats.org/officeDocument/2006/relationships/notesSlide" Target="/ppt/notesSlides/notesSlide10.xml" Id="Rce1092717fb445f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35a86e9943249be" /><Relationship Type="http://schemas.openxmlformats.org/officeDocument/2006/relationships/notesSlide" Target="/ppt/notesSlides/notesSlide11.xml" Id="Raadf6de2a4cc4b1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1d48de1450c45eb" /><Relationship Type="http://schemas.openxmlformats.org/officeDocument/2006/relationships/notesSlide" Target="/ppt/notesSlides/notesSlide12.xml" Id="R2030fa05042a48a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ide-rule">
            <a:extLst xmlns:a="http://schemas.openxmlformats.org/drawingml/2006/main">
              <a:ext uri="{FF2B5EF4-FFF2-40B4-BE49-F238E27FC236}">
                <a16:creationId xmlns:a16="http://schemas.microsoft.com/office/drawing/2014/main" id="{21FA00E8-6C9D-4555-9239-D720E2F96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800A5EBA-9C7A-4929-AF50-65DE54E73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0:p xmlns:ns0="http://schemas.openxmlformats.org/drawingml/2006/main">
            <ns0:pPr algn="l">
              <ns0:buNone/>
              <ns0:def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defRPr>
            </ns0:pPr>
            <ns0:r>
              <ns0: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rPr>
              <ns0:t>TITLE AND BIG QUESTION</ns0:t>
            </ns0:r>
          </ns0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B5553090-10DF-4876-B620-4580F7D74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1:p xmlns:ns1="http://schemas.openxmlformats.org/drawingml/2006/main">
            <ns1:pPr algn="r">
              <ns1:buNone/>
              <ns1:def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defRPr>
            </ns1:pPr>
            <ns1:r>
              <ns1: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rPr>
              <ns1:t>1 / 12</ns1:t>
            </ns1:r>
          </ns1:p>
        </p:txBody>
      </p:sp>
      <p:sp>
        <p:nvSpPr>
          <p:cNvPr id="4" name="lesson-title">
            <a:extLst xmlns:a="http://schemas.openxmlformats.org/drawingml/2006/main">
              <a:ext uri="{FF2B5EF4-FFF2-40B4-BE49-F238E27FC236}">
                <a16:creationId xmlns:a16="http://schemas.microsoft.com/office/drawing/2014/main" id="{95CCE6A2-A359-43CF-A30F-F808B5954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06125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200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4200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4200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4200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4200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4200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4200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4200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4200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4200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5:p xmlns:ns5="http://schemas.openxmlformats.org/drawingml/2006/main">
            <ns5:pPr algn="l">
              <ns5:buNone/>
              <ns5:defRPr sz="4200" b="1">
                <ns5:solidFill>
                  <ns5:srgbClr val="17384A"/>
                </ns5:solidFill>
                <ns5:latin typeface="Arial"/>
                <ns5:ea typeface="Arial"/>
                <ns5:cs typeface="Arial"/>
              </ns5:defRPr>
            </ns5:pPr>
            <ns5:r>
              <ns5:rPr sz="4200" b="1">
                <ns5:solidFill>
                  <ns5:srgbClr val="17384A"/>
                </ns5:solidFill>
                <ns5:latin typeface="Arial"/>
                <ns5:ea typeface="Arial"/>
                <ns5:cs typeface="Arial"/>
              </ns5:rPr>
              <ns5:t>Build my card bridge model</ns5:t>
            </ns5:r>
          </ns5:p>
        </p:txBody>
      </p:sp>
      <p:sp>
        <p:nvSpPr>
          <p:cNvPr id="5" name="lesson-subtitle">
            <a:extLst xmlns:a="http://schemas.openxmlformats.org/drawingml/2006/main">
              <a:ext uri="{FF2B5EF4-FFF2-40B4-BE49-F238E27FC236}">
                <a16:creationId xmlns:a16="http://schemas.microsoft.com/office/drawing/2014/main" id="{27188317-831F-4A26-ABD0-28EBF3364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05125"/>
            <a:ext cx="10715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250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250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250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250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250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250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250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250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250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6:p xmlns:ns6="http://schemas.openxmlformats.org/drawingml/2006/main">
            <ns6:pPr algn="l">
              <ns6:buNone/>
              <ns6:defRPr sz="2250" b="0">
                <ns6:solidFill>
                  <ns6:srgbClr val="146B68"/>
                </ns6:solidFill>
                <ns6:latin typeface="Arial"/>
                <ns6:ea typeface="Arial"/>
                <ns6:cs typeface="Arial"/>
              </ns6:defRPr>
            </ns6:pPr>
            <ns6:r>
              <ns6:rPr sz="2250" b="0">
                <ns6:solidFill>
                  <ns6:srgbClr val="146B68"/>
                </ns6:solidFill>
                <ns6:latin typeface="Arial"/>
                <ns6:ea typeface="Arial"/>
                <ns6:cs typeface="Arial"/>
              </ns6:rPr>
              <ns6:t>Week 3 · 16–20 November 2026 · 40 minutes</ns6:t>
            </ns6:r>
          </ns6:p>
        </p:txBody>
      </p:sp>
      <p:sp>
        <p:nvSpPr>
          <p:cNvPr id="8" name="printed-id">
            <a:extLst xmlns:a="http://schemas.openxmlformats.org/drawingml/2006/main">
              <a:ext uri="{FF2B5EF4-FFF2-40B4-BE49-F238E27FC236}">
                <a16:creationId xmlns:a16="http://schemas.microsoft.com/office/drawing/2014/main" id="{D1DE9CD0-0274-4F6F-865F-DD0F553DD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2:p xmlns:ns2="http://schemas.openxmlformats.org/drawingml/2006/main">
            <ns2:pPr algn="l">
              <ns2:buNone/>
              <ns2:def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defRPr>
            </ns2:pPr>
            <ns2:r>
              <ns2: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rPr>
              <ns2:t>DT-LAUNCH-A2-W03</ns2:t>
            </ns2:r>
          </ns2:p>
        </p:txBody>
      </p:sp>
      <p:sp>
        <p:nvSpPr>
          <p:cNvPr id="9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9DB788D1-307B-450E-8E75-3DE957BCA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3:p xmlns:ns3="http://schemas.openxmlformats.org/drawingml/2006/main">
            <ns3:pPr algn="r">
              <ns3:buNone/>
              <ns3:def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defRPr>
            </ns3:pPr>
            <ns3:r>
              <ns3: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rPr>
              <ns3:t>Public edition</ns3:t>
            </ns3:r>
          </ns3:p>
        </p:txBody>
      </p:sp>
      <p:sp>
        <p:nvSpPr>
          <p:cNvPr id="10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CFFACCED-9803-4150-B478-B2D5E21D8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4:p xmlns:ns4="http://schemas.openxmlformats.org/drawingml/2006/main">
            <ns4:pPr algn="l">
              <ns4:buNone/>
              <ns4:def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defRPr>
            </ns4:pPr>
            <ns4:r>
              <ns4: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rPr>
              <ns4:t>Made by Matt · © Matt Roper · CC BY-NC-SA 4.0: free for classroom use, share and adapt with credit, no resale</ns4:t>
            </ns4:r>
          </ns4:p>
        </p:txBody>
      </p:sp>
      <p:sp>
        <p:nvSpPr>
          <p:cNvPr id="12" name="body-0">
            <a:extLst xmlns:a="http://schemas.openxmlformats.org/drawingml/2006/main">
              <a:ext uri="{FF2B5EF4-FFF2-40B4-BE49-F238E27FC236}">
                <a16:creationId xmlns:a16="http://schemas.microsoft.com/office/drawing/2014/main" id="{4179850A-9B57-4A81-B9D3-E88349FC8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7:p xmlns:ns7="http://schemas.openxmlformats.org/drawingml/2006/main">
            <ns7:pPr algn="l">
              <ns7:defRPr sz="2250" b="0">
                <ns7:solidFill>
                  <ns7:srgbClr val="17384A"/>
                </ns7:solidFill>
                <ns7:latin typeface="Arial"/>
                <ns7:ea typeface="Arial"/>
                <ns7:cs typeface="Arial"/>
              </ns7:defRPr>
            </ns7:pPr>
            <ns7:r>
              <ns7:rPr sz="2250" b="0">
                <ns7:solidFill>
                  <ns7:srgbClr val="17384A"/>
                </ns7:solidFill>
                <ns7:latin typeface="Arial"/>
                <ns7:ea typeface="Arial"/>
                <ns7:cs typeface="Arial"/>
              </ns7:rPr>
              <ns7:t>How can I turn my marked card into a model?</ns7:t>
            </ns7:r>
          </ns7:p>
        </p:txBody>
      </p:sp>
      <p:sp>
        <p:nvSpPr>
          <p:cNvPr id="13" name="body-1">
            <a:extLst xmlns:a="http://schemas.openxmlformats.org/drawingml/2006/main">
              <a:ext uri="{FF2B5EF4-FFF2-40B4-BE49-F238E27FC236}">
                <a16:creationId xmlns:a16="http://schemas.microsoft.com/office/drawing/2014/main" id="{B3B79DBF-9AF8-427F-9EF2-D9D9BA708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34815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8:p xmlns:ns8="http://schemas.openxmlformats.org/drawingml/2006/main">
            <ns8:pPr algn="l">
              <ns8:defRPr sz="2250" b="0">
                <ns8:solidFill>
                  <ns8:srgbClr val="17384A"/>
                </ns8:solidFill>
                <ns8:latin typeface="Arial"/>
                <ns8:ea typeface="Arial"/>
                <ns8:cs typeface="Arial"/>
              </ns8:defRPr>
            </ns8:pPr>
            <ns8:r>
              <ns8:rPr sz="2250" b="0">
                <ns8:solidFill>
                  <ns8:srgbClr val="17384A"/>
                </ns8:solidFill>
                <ns8:latin typeface="Arial"/>
                <ns8:ea typeface="Arial"/>
                <ns8:cs typeface="Arial"/>
              </ns8:rPr>
              <ns8:t>Use your own work and ask for support.</ns8:t>
            </ns8:r>
          </ns8:p>
        </p:txBody>
      </p:sp>
      <p:sp>
        <p:nvSpPr>
          <p:cNvPr id="14" name="body-2">
            <a:extLst xmlns:a="http://schemas.openxmlformats.org/drawingml/2006/main">
              <a:ext uri="{FF2B5EF4-FFF2-40B4-BE49-F238E27FC236}">
                <a16:creationId xmlns:a16="http://schemas.microsoft.com/office/drawing/2014/main" id="{6137EF2D-887A-4596-9565-C03031165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54880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9:p xmlns:ns9="http://schemas.openxmlformats.org/drawingml/2006/main">
            <ns9:pPr algn="l">
              <ns9:defRPr sz="2250" b="0">
                <ns9:solidFill>
                  <ns9:srgbClr val="17384A"/>
                </ns9:solidFill>
                <ns9:latin typeface="Arial"/>
                <ns9:ea typeface="Arial"/>
                <ns9:cs typeface="Arial"/>
              </ns9:defRPr>
            </ns9:pPr>
            <ns9:r>
              <ns9:rPr sz="2250" b="0">
                <ns9:solidFill>
                  <ns9:srgbClr val="17384A"/>
                </ns9:solidFill>
                <ns9:latin typeface="Arial"/>
                <ns9:ea typeface="Arial"/>
                <ns9:cs typeface="Arial"/>
              </ns9:rPr>
              <ns9:t>Point, say, draw, write or show.</ns9:t>
            </ns9:r>
          </ns9:p>
        </p:txBody>
      </p:sp>
    </p:spTree>
    <p:extLst>
      <p:ext uri="{BB962C8B-B14F-4D97-AF65-F5344CB8AC3E}">
        <p14:creationId xmlns:p14="http://schemas.microsoft.com/office/powerpoint/2010/main" val="208895043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ide-rule">
            <a:extLst xmlns:a="http://schemas.openxmlformats.org/drawingml/2006/main">
              <a:ext uri="{FF2B5EF4-FFF2-40B4-BE49-F238E27FC236}">
                <a16:creationId xmlns:a16="http://schemas.microsoft.com/office/drawing/2014/main" id="{4FD94499-3EA1-421F-BBBF-AAAEC9FCB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B38B1A31-272E-4B53-A986-999EB0AE8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0:p xmlns:ns0="http://schemas.openxmlformats.org/drawingml/2006/main">
            <ns0:pPr algn="l">
              <ns0:buNone/>
              <ns0:def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defRPr>
            </ns0:pPr>
            <ns0:r>
              <ns0: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rPr>
              <ns0:t>ARRIVAL AND REGULATION</ns0:t>
            </ns0:r>
          </ns0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D71FC1CA-AC2B-48A1-B1E2-5C96A8A8B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1:p xmlns:ns1="http://schemas.openxmlformats.org/drawingml/2006/main">
            <ns1:pPr algn="r">
              <ns1:buNone/>
              <ns1:def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defRPr>
            </ns1:pPr>
            <ns1:r>
              <ns1: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rPr>
              <ns1:t>2 / 12  ·  4 min</ns1:t>
            </ns1:r>
          </ns1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FF2732D-8D8A-4A14-B7EC-4427BF844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5:p xmlns:ns5="http://schemas.openxmlformats.org/drawingml/2006/main">
            <ns5:pPr algn="l">
              <ns5:buNone/>
              <ns5:def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defRPr>
            </ns5:pPr>
            <ns5:r>
              <ns5: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rPr>
              <ns5:t>Ready for a calm start</ns5:t>
            </ns5:r>
          </ns5:p>
        </p:txBody>
      </p:sp>
      <p:sp>
        <p:nvSpPr>
          <p:cNvPr id="5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39B5AC7B-925A-427E-B6D5-FF7155BB2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rinted-id">
            <a:extLst xmlns:a="http://schemas.openxmlformats.org/drawingml/2006/main">
              <a:ext uri="{FF2B5EF4-FFF2-40B4-BE49-F238E27FC236}">
                <a16:creationId xmlns:a16="http://schemas.microsoft.com/office/drawing/2014/main" id="{95424F63-FAC6-49BB-A26B-FF4C752FA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2:p xmlns:ns2="http://schemas.openxmlformats.org/drawingml/2006/main">
            <ns2:pPr algn="l">
              <ns2:buNone/>
              <ns2:def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defRPr>
            </ns2:pPr>
            <ns2:r>
              <ns2: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rPr>
              <ns2:t>DT-LAUNCH-A2-W03</ns2:t>
            </ns2:r>
          </ns2:p>
        </p:txBody>
      </p:sp>
      <p:sp>
        <p:nvSpPr>
          <p:cNvPr id="12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2CC72B9C-1296-4C4A-886A-5E292D762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3:p xmlns:ns3="http://schemas.openxmlformats.org/drawingml/2006/main">
            <ns3:pPr algn="r">
              <ns3:buNone/>
              <ns3:def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defRPr>
            </ns3:pPr>
            <ns3:r>
              <ns3: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rPr>
              <ns3:t>Public edition</ns3:t>
            </ns3:r>
          </ns3:p>
        </p:txBody>
      </p:sp>
      <p:sp>
        <p:nvSpPr>
          <p:cNvPr id="13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1E89A079-9FE1-4E2E-A35B-157CE58B9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4:p xmlns:ns4="http://schemas.openxmlformats.org/drawingml/2006/main">
            <ns4:pPr algn="l">
              <ns4:buNone/>
              <ns4:def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defRPr>
            </ns4:pPr>
            <ns4:r>
              <ns4: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rPr>
              <ns4:t>Made by Matt · © Matt Roper · CC BY-NC-SA 4.0: free for classroom use, share and adapt with credit, no resale</ns4:t>
            </ns4:r>
          </ns4:p>
        </p:txBody>
      </p:sp>
      <p:sp>
        <p:nvSpPr>
          <p:cNvPr id="15" name="body-0">
            <a:extLst xmlns:a="http://schemas.openxmlformats.org/drawingml/2006/main">
              <a:ext uri="{FF2B5EF4-FFF2-40B4-BE49-F238E27FC236}">
                <a16:creationId xmlns:a16="http://schemas.microsoft.com/office/drawing/2014/main" id="{5EC01B38-2E63-4243-9769-79C2B9253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6:p xmlns:ns6="http://schemas.openxmlformats.org/drawingml/2006/main">
            <ns6:pPr algn="l">
              <ns6:defRPr sz="2025" b="0">
                <ns6:solidFill>
                  <ns6:srgbClr val="17384A"/>
                </ns6:solidFill>
                <ns6:latin typeface="Arial"/>
                <ns6:ea typeface="Arial"/>
                <ns6:cs typeface="Arial"/>
              </ns6:defRPr>
            </ns6:pPr>
            <ns6:r>
              <ns6:rPr sz="2025" b="0">
                <ns6:solidFill>
                  <ns6:srgbClr val="17384A"/>
                </ns6:solidFill>
                <ns6:latin typeface="Arial"/>
                <ns6:ea typeface="Arial"/>
                <ns6:cs typeface="Arial"/>
              </ns6:rPr>
              <ns6:t>Check how you feel in private.</ns6:t>
            </ns6:r>
          </ns6:p>
        </p:txBody>
      </p:sp>
      <p:sp>
        <p:nvSpPr>
          <p:cNvPr id="16" name="body-1">
            <a:extLst xmlns:a="http://schemas.openxmlformats.org/drawingml/2006/main">
              <a:ext uri="{FF2B5EF4-FFF2-40B4-BE49-F238E27FC236}">
                <a16:creationId xmlns:a16="http://schemas.microsoft.com/office/drawing/2014/main" id="{F28DA917-CB7A-4C83-99B1-B17867E53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23504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7:p xmlns:ns7="http://schemas.openxmlformats.org/drawingml/2006/main">
            <ns7:pPr algn="l">
              <ns7:defRPr sz="2025" b="0">
                <ns7:solidFill>
                  <ns7:srgbClr val="17384A"/>
                </ns7:solidFill>
                <ns7:latin typeface="Arial"/>
                <ns7:ea typeface="Arial"/>
                <ns7:cs typeface="Arial"/>
              </ns7:defRPr>
            </ns7:pPr>
            <ns7:r>
              <ns7:rPr sz="2025" b="0">
                <ns7:solidFill>
                  <ns7:srgbClr val="17384A"/>
                </ns7:solidFill>
                <ns7:latin typeface="Arial"/>
                <ns7:ea typeface="Arial"/>
                <ns7:cs typeface="Arial"/>
              </ns7:rPr>
              <ns7:t>Choose a quiet seat or a short pause.</ns7:t>
            </ns7:r>
          </ns7:p>
        </p:txBody>
      </p:sp>
      <p:sp>
        <p:nvSpPr>
          <p:cNvPr id="17" name="body-2">
            <a:extLst xmlns:a="http://schemas.openxmlformats.org/drawingml/2006/main">
              <a:ext uri="{FF2B5EF4-FFF2-40B4-BE49-F238E27FC236}">
                <a16:creationId xmlns:a16="http://schemas.microsoft.com/office/drawing/2014/main" id="{7B45F856-07DA-4CDC-9EDC-8416662C5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0607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8:p xmlns:ns8="http://schemas.openxmlformats.org/drawingml/2006/main">
            <ns8:pPr algn="l">
              <ns8:defRPr sz="2025" b="0">
                <ns8:solidFill>
                  <ns8:srgbClr val="17384A"/>
                </ns8:solidFill>
                <ns8:latin typeface="Arial"/>
                <ns8:ea typeface="Arial"/>
                <ns8:cs typeface="Arial"/>
              </ns8:defRPr>
            </ns8:pPr>
            <ns8:r>
              <ns8:rPr sz="2025" b="0">
                <ns8:solidFill>
                  <ns8:srgbClr val="17384A"/>
                </ns8:solidFill>
                <ns8:latin typeface="Arial"/>
                <ns8:ea typeface="Arial"/>
                <ns8:cs typeface="Arial"/>
              </ns8:rPr>
              <ns8:t>Keep your work space clear.</ns8:t>
            </ns8:r>
          </ns8:p>
        </p:txBody>
      </p:sp>
      <p:sp>
        <p:nvSpPr>
          <p:cNvPr id="18" name="body-3">
            <a:extLst xmlns:a="http://schemas.openxmlformats.org/drawingml/2006/main">
              <a:ext uri="{FF2B5EF4-FFF2-40B4-BE49-F238E27FC236}">
                <a16:creationId xmlns:a16="http://schemas.microsoft.com/office/drawing/2014/main" id="{B8616F4F-E875-4A93-9A52-ADD9BB19C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17711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9:p xmlns:ns9="http://schemas.openxmlformats.org/drawingml/2006/main">
            <ns9:pPr algn="l">
              <ns9:defRPr sz="2025" b="0">
                <ns9:solidFill>
                  <ns9:srgbClr val="17384A"/>
                </ns9:solidFill>
                <ns9:latin typeface="Arial"/>
                <ns9:ea typeface="Arial"/>
                <ns9:cs typeface="Arial"/>
              </ns9:defRPr>
            </ns9:pPr>
            <ns9:r>
              <ns9:rPr sz="2025" b="0">
                <ns9:solidFill>
                  <ns9:srgbClr val="17384A"/>
                </ns9:solidFill>
                <ns9:latin typeface="Arial"/>
                <ns9:ea typeface="Arial"/>
                <ns9:cs typeface="Arial"/>
              </ns9:rPr>
              <ns9:t>Ask the adult if you need support.</ns9:t>
            </ns9:r>
          </ns9:p>
        </p:txBody>
      </p:sp>
      <p:sp>
        <p:nvSpPr>
          <p:cNvPr id="19" name="body-4">
            <a:extLst xmlns:a="http://schemas.openxmlformats.org/drawingml/2006/main">
              <a:ext uri="{FF2B5EF4-FFF2-40B4-BE49-F238E27FC236}">
                <a16:creationId xmlns:a16="http://schemas.microsoft.com/office/drawing/2014/main" id="{CD67554F-3D83-433B-84B1-03812733B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64814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10:p xmlns:ns10="http://schemas.openxmlformats.org/drawingml/2006/main">
            <ns10:pPr algn="l">
              <ns10:defRPr sz="2025" b="0">
                <ns10:solidFill>
                  <ns10:srgbClr val="17384A"/>
                </ns10:solidFill>
                <ns10:latin typeface="Arial"/>
                <ns10:ea typeface="Arial"/>
                <ns10:cs typeface="Arial"/>
              </ns10:defRPr>
            </ns10:pPr>
            <ns10:r>
              <ns10:rPr sz="2025" b="0">
                <ns10:solidFill>
                  <ns10:srgbClr val="17384A"/>
                </ns10:solidFill>
                <ns10:latin typeface="Arial"/>
                <ns10:ea typeface="Arial"/>
                <ns10:cs typeface="Arial"/>
              </ns10:rPr>
              <ns10:t>Use the agreed help route.</ns10:t>
            </ns10:r>
          </ns10:p>
        </p:txBody>
      </p:sp>
      <p:sp>
        <p:nvSpPr>
          <p:cNvPr id="20" name="body-5">
            <a:extLst xmlns:a="http://schemas.openxmlformats.org/drawingml/2006/main">
              <a:ext uri="{FF2B5EF4-FFF2-40B4-BE49-F238E27FC236}">
                <a16:creationId xmlns:a16="http://schemas.microsoft.com/office/drawing/2014/main" id="{60C96764-4A82-4924-8CFD-49EE15FAA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11918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11:p xmlns:ns11="http://schemas.openxmlformats.org/drawingml/2006/main">
            <ns11:pPr algn="l">
              <ns11:defRPr sz="2025" b="0">
                <ns11:solidFill>
                  <ns11:srgbClr val="17384A"/>
                </ns11:solidFill>
                <ns11:latin typeface="Arial"/>
                <ns11:ea typeface="Arial"/>
                <ns11:cs typeface="Arial"/>
              </ns11:defRPr>
            </ns11:pPr>
            <ns11:r>
              <ns11:rPr sz="2025" b="0">
                <ns11:solidFill>
                  <ns11:srgbClr val="17384A"/>
                </ns11:solidFill>
                <ns11:latin typeface="Arial"/>
                <ns11:ea typeface="Arial"/>
                <ns11:cs typeface="Arial"/>
              </ns11:rPr>
              <ns11:t>We listen without judging each other.</ns11:t>
            </ns11:r>
          </ns11:p>
        </p:txBody>
      </p:sp>
    </p:spTree>
    <p:extLst>
      <p:ext uri="{BB962C8B-B14F-4D97-AF65-F5344CB8AC3E}">
        <p14:creationId xmlns:p14="http://schemas.microsoft.com/office/powerpoint/2010/main" val="136918818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ide-rule">
            <a:extLst xmlns:a="http://schemas.openxmlformats.org/drawingml/2006/main">
              <a:ext uri="{FF2B5EF4-FFF2-40B4-BE49-F238E27FC236}">
                <a16:creationId xmlns:a16="http://schemas.microsoft.com/office/drawing/2014/main" id="{62CA9BFC-91D6-4E1F-A868-FA6417B8D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5184B3EE-1B83-4D3F-A35F-80E82823E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0:p xmlns:ns0="http://schemas.openxmlformats.org/drawingml/2006/main">
            <ns0:pPr algn="l">
              <ns0:buNone/>
              <ns0:def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defRPr>
            </ns0:pPr>
            <ns0:r>
              <ns0: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rPr>
              <ns0:t>STARTER</ns0:t>
            </ns0:r>
          </ns0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897C6A8C-70A1-47AD-A2FE-4C0076461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1:p xmlns:ns1="http://schemas.openxmlformats.org/drawingml/2006/main">
            <ns1:pPr algn="r">
              <ns1:buNone/>
              <ns1:def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defRPr>
            </ns1:pPr>
            <ns1:r>
              <ns1: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rPr>
              <ns1:t>3 / 12  ·  2 min</ns1:t>
            </ns1:r>
          </ns1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1C5F347-218C-4DE9-8526-D8AC97478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5:p xmlns:ns5="http://schemas.openxmlformats.org/drawingml/2006/main">
            <ns5:pPr algn="l">
              <ns5:buNone/>
              <ns5:def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defRPr>
            </ns5:pPr>
            <ns5:r>
              <ns5: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rPr>
              <ns5:t>Look at the diagram</ns5:t>
            </ns5:r>
          </ns5:p>
        </p:txBody>
      </p:sp>
      <p:sp>
        <p:nvSpPr>
          <p:cNvPr id="5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564A5958-580E-4CAC-B2D5-2942577B8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printed-id">
            <a:extLst xmlns:a="http://schemas.openxmlformats.org/drawingml/2006/main">
              <a:ext uri="{FF2B5EF4-FFF2-40B4-BE49-F238E27FC236}">
                <a16:creationId xmlns:a16="http://schemas.microsoft.com/office/drawing/2014/main" id="{331A60C7-DF6A-4D09-8443-EAE28857A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2:p xmlns:ns2="http://schemas.openxmlformats.org/drawingml/2006/main">
            <ns2:pPr algn="l">
              <ns2:buNone/>
              <ns2:def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defRPr>
            </ns2:pPr>
            <ns2:r>
              <ns2: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rPr>
              <ns2:t>DT-LAUNCH-A2-W03</ns2:t>
            </ns2:r>
          </ns2:p>
        </p:txBody>
      </p:sp>
      <p:sp>
        <p:nvSpPr>
          <p:cNvPr id="15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E9C4646B-A2DB-47CD-9B88-8366B5301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3:p xmlns:ns3="http://schemas.openxmlformats.org/drawingml/2006/main">
            <ns3:pPr algn="r">
              <ns3:buNone/>
              <ns3:def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defRPr>
            </ns3:pPr>
            <ns3:r>
              <ns3: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rPr>
              <ns3:t>Public edition</ns3:t>
            </ns3:r>
          </ns3:p>
        </p:txBody>
      </p:sp>
      <p:sp>
        <p:nvSpPr>
          <p:cNvPr id="16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C34D29D3-4466-4904-88F0-BAEAD505E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4:p xmlns:ns4="http://schemas.openxmlformats.org/drawingml/2006/main">
            <ns4:pPr algn="l">
              <ns4:buNone/>
              <ns4:def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defRPr>
            </ns4:pPr>
            <ns4:r>
              <ns4: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rPr>
              <ns4:t>Made by Matt · © Matt Roper · CC BY-NC-SA 4.0: free for classroom use, share and adapt with credit, no resale</ns4:t>
            </ns4:r>
          </ns4:p>
        </p:txBody>
      </p:sp>
      <p:pic>
        <p:nvPicPr>
          <p:cNvPr id="18" name="" descr="A flat 20 by 8 centimetre card blank, channel fold diagram and centred fit across a 10 centimetre gap. Five centimetres of length rests on each support. Not to scale.">
            <a:extLst xmlns:a="http://schemas.openxmlformats.org/drawingml/2006/main">
              <a:ext uri="{FF2B5EF4-FFF2-40B4-BE49-F238E27FC236}">
                <a16:creationId xmlns:a16="http://schemas.microsoft.com/office/drawing/2014/main" id="{028D2357-EB6C-424E-A2E6-DBD8B569197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ca9eec94ea4c42"/>
          <a:stretch xmlns:a="http://schemas.openxmlformats.org/drawingml/2006/main"/>
        </p:blipFill>
        <p:spPr>
          <a:xfrm xmlns:a="http://schemas.openxmlformats.org/drawingml/2006/main">
            <a:off x="609600" y="1638300"/>
            <a:ext cx="6343650" cy="4229100"/>
          </a:xfrm>
          <a:prstGeom xmlns:a="http://schemas.openxmlformats.org/drawingml/2006/main" prst="rect">
            <a:avLst/>
          </a:prstGeom>
        </p:spPr>
      </p:pic>
      <p:sp>
        <p:nvSpPr>
          <p:cNvPr id="19" name="body-0">
            <a:extLst xmlns:a="http://schemas.openxmlformats.org/drawingml/2006/main">
              <a:ext uri="{FF2B5EF4-FFF2-40B4-BE49-F238E27FC236}">
                <a16:creationId xmlns:a16="http://schemas.microsoft.com/office/drawing/2014/main" id="{57DE7B14-03C6-44A4-ADEF-A389F9D69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714500"/>
            <a:ext cx="4200525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6:p xmlns:ns6="http://schemas.openxmlformats.org/drawingml/2006/main">
            <ns6:pPr algn="l">
              <ns6:defRPr sz="2025" b="0">
                <ns6:solidFill>
                  <ns6:srgbClr val="17384A"/>
                </ns6:solidFill>
                <ns6:latin typeface="Arial"/>
                <ns6:ea typeface="Arial"/>
                <ns6:cs typeface="Arial"/>
              </ns6:defRPr>
            </ns6:pPr>
            <ns6:r>
              <ns6:rPr sz="2025" b="0">
                <ns6:solidFill>
                  <ns6:srgbClr val="17384A"/>
                </ns6:solidFill>
                <ns6:latin typeface="Arial"/>
                <ns6:ea typeface="Arial"/>
                <ns6:cs typeface="Arial"/>
              </ns6:rPr>
              <ns6:t>Find the two fold lines.</ns6:t>
            </ns6:r>
          </ns6:p>
        </p:txBody>
      </p:sp>
      <p:sp>
        <p:nvSpPr>
          <p:cNvPr id="20" name="body-1">
            <a:extLst xmlns:a="http://schemas.openxmlformats.org/drawingml/2006/main">
              <a:ext uri="{FF2B5EF4-FFF2-40B4-BE49-F238E27FC236}">
                <a16:creationId xmlns:a16="http://schemas.microsoft.com/office/drawing/2014/main" id="{6C49FD1E-082C-46ED-BD65-5869357FE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199704"/>
            <a:ext cx="4200525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7:p xmlns:ns7="http://schemas.openxmlformats.org/drawingml/2006/main">
            <ns7:pPr algn="l">
              <ns7:defRPr sz="2025" b="0">
                <ns7:solidFill>
                  <ns7:srgbClr val="17384A"/>
                </ns7:solidFill>
                <ns7:latin typeface="Arial"/>
                <ns7:ea typeface="Arial"/>
                <ns7:cs typeface="Arial"/>
              </ns7:defRPr>
            </ns7:pPr>
            <ns7:r>
              <ns7:rPr sz="2025" b="0">
                <ns7:solidFill>
                  <ns7:srgbClr val="17384A"/>
                </ns7:solidFill>
                <ns7:latin typeface="Arial"/>
                <ns7:ea typeface="Arial"/>
                <ns7:cs typeface="Arial"/>
              </ns7:rPr>
              <ns7:t>What shape will they make?</ns7:t>
            </ns7:r>
          </ns7:p>
        </p:txBody>
      </p:sp>
      <p:sp>
        <p:nvSpPr>
          <p:cNvPr id="21" name="body-2">
            <a:extLst xmlns:a="http://schemas.openxmlformats.org/drawingml/2006/main">
              <a:ext uri="{FF2B5EF4-FFF2-40B4-BE49-F238E27FC236}">
                <a16:creationId xmlns:a16="http://schemas.microsoft.com/office/drawing/2014/main" id="{7BE34822-C512-4BD5-AF44-30090BF31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684907"/>
            <a:ext cx="4200525" cy="6751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8:p xmlns:ns8="http://schemas.openxmlformats.org/drawingml/2006/main">
            <ns8:pPr algn="l">
              <ns8:defRPr sz="2025" b="0">
                <ns8:solidFill>
                  <ns8:srgbClr val="17384A"/>
                </ns8:solidFill>
                <ns8:latin typeface="Arial"/>
                <ns8:ea typeface="Arial"/>
                <ns8:cs typeface="Arial"/>
              </ns8:defRPr>
            </ns8:pPr>
            <ns8:r>
              <ns8:rPr sz="2025" b="0">
                <ns8:solidFill>
                  <ns8:srgbClr val="17384A"/>
                </ns8:solidFill>
                <ns8:latin typeface="Arial"/>
                <ns8:ea typeface="Arial"/>
                <ns8:cs typeface="Arial"/>
              </ns8:rPr>
              <ns8:t>Which part stays flat?</ns8:t>
            </ns8:r>
          </ns8:p>
        </p:txBody>
      </p:sp>
      <p:sp>
        <p:nvSpPr>
          <p:cNvPr id="22" name="body-3">
            <a:extLst xmlns:a="http://schemas.openxmlformats.org/drawingml/2006/main">
              <a:ext uri="{FF2B5EF4-FFF2-40B4-BE49-F238E27FC236}">
                <a16:creationId xmlns:a16="http://schemas.microsoft.com/office/drawing/2014/main" id="{C2000FD8-BBA3-4430-B7E7-17C5B6E48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483864"/>
            <a:ext cx="4200525" cy="6751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9:p xmlns:ns9="http://schemas.openxmlformats.org/drawingml/2006/main">
            <ns9:pPr algn="l">
              <ns9:defRPr sz="2025" b="0">
                <ns9:solidFill>
                  <ns9:srgbClr val="17384A"/>
                </ns9:solidFill>
                <ns9:latin typeface="Arial"/>
                <ns9:ea typeface="Arial"/>
                <ns9:cs typeface="Arial"/>
              </ns9:defRPr>
            </ns9:pPr>
            <ns9:r>
              <ns9:rPr sz="2025" b="0">
                <ns9:solidFill>
                  <ns9:srgbClr val="17384A"/>
                </ns9:solidFill>
                <ns9:latin typeface="Arial"/>
                <ns9:ea typeface="Arial"/>
                <ns9:cs typeface="Arial"/>
              </ns9:rPr>
              <ns9:t>Build today. Test next week.</ns9:t>
            </ns9:r>
          </ns9:p>
        </p:txBody>
      </p:sp>
    </p:spTree>
    <p:extLst>
      <p:ext uri="{BB962C8B-B14F-4D97-AF65-F5344CB8AC3E}">
        <p14:creationId xmlns:p14="http://schemas.microsoft.com/office/powerpoint/2010/main" val="188504005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ide-rule">
            <a:extLst xmlns:a="http://schemas.openxmlformats.org/drawingml/2006/main">
              <a:ext uri="{FF2B5EF4-FFF2-40B4-BE49-F238E27FC236}">
                <a16:creationId xmlns:a16="http://schemas.microsoft.com/office/drawing/2014/main" id="{50AFFD45-DDE8-4E13-AB19-AB490C4DC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F695C907-FAF0-40C0-94DA-EDA6AF2AF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0:p xmlns:ns0="http://schemas.openxmlformats.org/drawingml/2006/main">
            <ns0:pPr algn="l">
              <ns0:buNone/>
              <ns0:def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defRPr>
            </ns0:pPr>
            <ns0:r>
              <ns0: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rPr>
              <ns0:t>TODAY</ns0:t>
            </ns0:r>
          </ns0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B24D514A-FB80-4477-B77A-6CBF40FE3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1:p xmlns:ns1="http://schemas.openxmlformats.org/drawingml/2006/main">
            <ns1:pPr algn="r">
              <ns1:buNone/>
              <ns1:def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defRPr>
            </ns1:pPr>
            <ns1:r>
              <ns1: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rPr>
              <ns1:t>4 / 12</ns1:t>
            </ns1:r>
          </ns1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C662DEC-F343-4B80-A316-EA02E40AB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5:p xmlns:ns5="http://schemas.openxmlformats.org/drawingml/2006/main">
            <ns5:pPr algn="l">
              <ns5:buNone/>
              <ns5:def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defRPr>
            </ns5:pPr>
            <ns5:r>
              <ns5: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rPr>
              <ns5:t>Today</ns5:t>
            </ns5:r>
          </ns5:p>
        </p:txBody>
      </p:sp>
      <p:sp>
        <p:nvSpPr>
          <p:cNvPr id="5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0AF1810E-209D-49EB-A790-135B09335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rinted-id">
            <a:extLst xmlns:a="http://schemas.openxmlformats.org/drawingml/2006/main">
              <a:ext uri="{FF2B5EF4-FFF2-40B4-BE49-F238E27FC236}">
                <a16:creationId xmlns:a16="http://schemas.microsoft.com/office/drawing/2014/main" id="{66F008D0-268A-4ECE-A855-21B57ADC8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2:p xmlns:ns2="http://schemas.openxmlformats.org/drawingml/2006/main">
            <ns2:pPr algn="l">
              <ns2:buNone/>
              <ns2:def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defRPr>
            </ns2:pPr>
            <ns2:r>
              <ns2: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rPr>
              <ns2:t>DT-LAUNCH-A2-W03</ns2:t>
            </ns2:r>
          </ns2:p>
        </p:txBody>
      </p:sp>
      <p:sp>
        <p:nvSpPr>
          <p:cNvPr id="11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788CFB30-7CBE-4014-B032-8DC2ACFD8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3:p xmlns:ns3="http://schemas.openxmlformats.org/drawingml/2006/main">
            <ns3:pPr algn="r">
              <ns3:buNone/>
              <ns3:def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defRPr>
            </ns3:pPr>
            <ns3:r>
              <ns3: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rPr>
              <ns3:t>Public edition</ns3:t>
            </ns3:r>
          </ns3:p>
        </p:txBody>
      </p:sp>
      <p:sp>
        <p:nvSpPr>
          <p:cNvPr id="12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EA904A03-002E-4189-A0F8-88FF05C4D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4:p xmlns:ns4="http://schemas.openxmlformats.org/drawingml/2006/main">
            <ns4:pPr algn="l">
              <ns4:buNone/>
              <ns4:def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defRPr>
            </ns4:pPr>
            <ns4:r>
              <ns4: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rPr>
              <ns4:t>Made by Matt · © Matt Roper · CC BY-NC-SA 4.0: free for classroom use, share and adapt with credit, no resale</ns4:t>
            </ns4:r>
          </ns4:p>
        </p:txBody>
      </p:sp>
      <p:sp>
        <p:nvSpPr>
          <p:cNvPr id="14" name="body-0">
            <a:extLst xmlns:a="http://schemas.openxmlformats.org/drawingml/2006/main">
              <a:ext uri="{FF2B5EF4-FFF2-40B4-BE49-F238E27FC236}">
                <a16:creationId xmlns:a16="http://schemas.microsoft.com/office/drawing/2014/main" id="{5CA1100B-3C12-4D22-8B3A-5D3909276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7448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6:p xmlns:ns6="http://schemas.openxmlformats.org/drawingml/2006/main">
            <ns6:pPr algn="l">
              <ns6:defRPr sz="2250" b="0">
                <ns6:solidFill>
                  <ns6:srgbClr val="17384A"/>
                </ns6:solidFill>
                <ns6:latin typeface="Arial"/>
                <ns6:ea typeface="Arial"/>
                <ns6:cs typeface="Arial"/>
              </ns6:defRPr>
            </ns6:pPr>
            <ns6:r>
              <ns6:rPr sz="2250" b="0">
                <ns6:solidFill>
                  <ns6:srgbClr val="17384A"/>
                </ns6:solidFill>
                <ns6:latin typeface="Arial"/>
                <ns6:ea typeface="Arial"/>
                <ns6:cs typeface="Arial"/>
              </ns6:rPr>
              <ns6:t>CONSTRUCTION: build a simple model/structure.</ns6:t>
            </ns6:r>
          </ns6:p>
        </p:txBody>
      </p:sp>
      <p:sp>
        <p:nvSpPr>
          <p:cNvPr id="15" name="body-1">
            <a:extLst xmlns:a="http://schemas.openxmlformats.org/drawingml/2006/main">
              <a:ext uri="{FF2B5EF4-FFF2-40B4-BE49-F238E27FC236}">
                <a16:creationId xmlns:a16="http://schemas.microsoft.com/office/drawing/2014/main" id="{44CA7D53-579D-445D-8E02-81F7AEA50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45080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7:p xmlns:ns7="http://schemas.openxmlformats.org/drawingml/2006/main">
            <ns7:pPr algn="l">
              <ns7:defRPr sz="2250" b="0">
                <ns7:solidFill>
                  <ns7:srgbClr val="17384A"/>
                </ns7:solidFill>
                <ns7:latin typeface="Arial"/>
                <ns7:ea typeface="Arial"/>
                <ns7:cs typeface="Arial"/>
              </ns7:defRPr>
            </ns7:pPr>
            <ns7:r>
              <ns7:rPr sz="2250" b="0">
                <ns7:solidFill>
                  <ns7:srgbClr val="17384A"/>
                </ns7:solidFill>
                <ns7:latin typeface="Arial"/>
                <ns7:ea typeface="Arial"/>
                <ns7:cs typeface="Arial"/>
              </ns7:rPr>
              <ns7:t>I can follow my plan to form the model.</ns7:t>
            </ns7:r>
          </ns7:p>
        </p:txBody>
      </p:sp>
      <p:sp>
        <p:nvSpPr>
          <p:cNvPr id="16" name="body-2">
            <a:extLst xmlns:a="http://schemas.openxmlformats.org/drawingml/2006/main">
              <a:ext uri="{FF2B5EF4-FFF2-40B4-BE49-F238E27FC236}">
                <a16:creationId xmlns:a16="http://schemas.microsoft.com/office/drawing/2014/main" id="{1113C604-9484-434B-9EF8-CE13B7D2E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65145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8:p xmlns:ns8="http://schemas.openxmlformats.org/drawingml/2006/main">
            <ns8:pPr algn="l">
              <ns8:defRPr sz="2250" b="0">
                <ns8:solidFill>
                  <ns8:srgbClr val="17384A"/>
                </ns8:solidFill>
                <ns8:latin typeface="Arial"/>
                <ns8:ea typeface="Arial"/>
                <ns8:cs typeface="Arial"/>
              </ns8:defRPr>
            </ns8:pPr>
            <ns8:r>
              <ns8:rPr sz="2250" b="0">
                <ns8:solidFill>
                  <ns8:srgbClr val="17384A"/>
                </ns8:solidFill>
                <ns8:latin typeface="Arial"/>
                <ns8:ea typeface="Arial"/>
                <ns8:cs typeface="Arial"/>
              </ns8:rPr>
              <ns8:t>I can make and check two clear folds.</ns8:t>
            </ns8:r>
          </ns8:p>
        </p:txBody>
      </p:sp>
      <p:sp>
        <p:nvSpPr>
          <p:cNvPr id="17" name="body-3">
            <a:extLst xmlns:a="http://schemas.openxmlformats.org/drawingml/2006/main">
              <a:ext uri="{FF2B5EF4-FFF2-40B4-BE49-F238E27FC236}">
                <a16:creationId xmlns:a16="http://schemas.microsoft.com/office/drawing/2014/main" id="{FC9F5832-1797-4743-9AE3-CA75FD494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85210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9:p xmlns:ns9="http://schemas.openxmlformats.org/drawingml/2006/main">
            <ns9:pPr algn="l">
              <ns9:defRPr sz="2250" b="0">
                <ns9:solidFill>
                  <ns9:srgbClr val="17384A"/>
                </ns9:solidFill>
                <ns9:latin typeface="Arial"/>
                <ns9:ea typeface="Arial"/>
                <ns9:cs typeface="Arial"/>
              </ns9:defRPr>
            </ns9:pPr>
            <ns9:r>
              <ns9:rPr sz="2250" b="0">
                <ns9:solidFill>
                  <ns9:srgbClr val="17384A"/>
                </ns9:solidFill>
                <ns9:latin typeface="Arial"/>
                <ns9:ea typeface="Arial"/>
                <ns9:cs typeface="Arial"/>
              </ns9:rPr>
              <ns9:t>I can record my work and the help I used.</ns9:t>
            </ns9:r>
          </ns9:p>
        </p:txBody>
      </p:sp>
    </p:spTree>
    <p:extLst>
      <p:ext uri="{BB962C8B-B14F-4D97-AF65-F5344CB8AC3E}">
        <p14:creationId xmlns:p14="http://schemas.microsoft.com/office/powerpoint/2010/main" val="92800055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side-rule">
            <a:extLst xmlns:a="http://schemas.openxmlformats.org/drawingml/2006/main">
              <a:ext uri="{FF2B5EF4-FFF2-40B4-BE49-F238E27FC236}">
                <a16:creationId xmlns:a16="http://schemas.microsoft.com/office/drawing/2014/main" id="{097687FC-1C0B-47D1-B37A-D2F6A8DD6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E9EB332C-2485-4323-A5CE-506969293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0:p xmlns:ns0="http://schemas.openxmlformats.org/drawingml/2006/main">
            <ns0:pPr algn="l">
              <ns0:buNone/>
              <ns0:def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defRPr>
            </ns0:pPr>
            <ns0:r>
              <ns0: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rPr>
              <ns0:t>I DO</ns0:t>
            </ns0:r>
          </ns0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F99A3BF5-5E64-4EB6-9FBC-4AA41BF50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1:p xmlns:ns1="http://schemas.openxmlformats.org/drawingml/2006/main">
            <ns1:pPr algn="r">
              <ns1:buNone/>
              <ns1:def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defRPr>
            </ns1:pPr>
            <ns1:r>
              <ns1: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rPr>
              <ns1:t>5 / 12  ·  5 min</ns1:t>
            </ns1:r>
          </ns1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183019A-C132-4E6A-B158-7B8FDB025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5:p xmlns:ns5="http://schemas.openxmlformats.org/drawingml/2006/main">
            <ns5:pPr algn="l">
              <ns5:buNone/>
              <ns5:def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defRPr>
            </ns5:pPr>
            <ns5:r>
              <ns5: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rPr>
              <ns5:t>Watch the model</ns5:t>
            </ns5:r>
          </ns5:p>
        </p:txBody>
      </p:sp>
      <p:sp>
        <p:nvSpPr>
          <p:cNvPr id="5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D292F269-A0C9-4A49-A3BF-57410DADE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printed-id">
            <a:extLst xmlns:a="http://schemas.openxmlformats.org/drawingml/2006/main">
              <a:ext uri="{FF2B5EF4-FFF2-40B4-BE49-F238E27FC236}">
                <a16:creationId xmlns:a16="http://schemas.microsoft.com/office/drawing/2014/main" id="{C5B7F60E-A73C-489D-BD0E-006164922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2:p xmlns:ns2="http://schemas.openxmlformats.org/drawingml/2006/main">
            <ns2:pPr algn="l">
              <ns2:buNone/>
              <ns2:def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defRPr>
            </ns2:pPr>
            <ns2:r>
              <ns2: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rPr>
              <ns2:t>DT-LAUNCH-A2-W03</ns2:t>
            </ns2:r>
          </ns2:p>
        </p:txBody>
      </p:sp>
      <p:sp>
        <p:nvSpPr>
          <p:cNvPr id="21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84C3B745-B6CB-42D8-BB95-E58551E7C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3:p xmlns:ns3="http://schemas.openxmlformats.org/drawingml/2006/main">
            <ns3:pPr algn="r">
              <ns3:buNone/>
              <ns3:def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defRPr>
            </ns3:pPr>
            <ns3:r>
              <ns3: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rPr>
              <ns3:t>Public edition</ns3:t>
            </ns3:r>
          </ns3:p>
        </p:txBody>
      </p:sp>
      <p:sp>
        <p:nvSpPr>
          <p:cNvPr id="22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851A0815-45F4-4C47-AE5E-BEE6F0B0C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4:p xmlns:ns4="http://schemas.openxmlformats.org/drawingml/2006/main">
            <ns4:pPr algn="l">
              <ns4:buNone/>
              <ns4:def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defRPr>
            </ns4:pPr>
            <ns4:r>
              <ns4: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rPr>
              <ns4:t>Made by Matt · © Matt Roper · CC BY-NC-SA 4.0: free for classroom use, share and adapt with credit, no resale</ns4:t>
            </ns4:r>
          </ns4:p>
        </p:txBody>
      </p:sp>
      <p:sp>
        <p:nvSpPr>
          <p:cNvPr id="24" name="body-0">
            <a:extLst xmlns:a="http://schemas.openxmlformats.org/drawingml/2006/main">
              <a:ext uri="{FF2B5EF4-FFF2-40B4-BE49-F238E27FC236}">
                <a16:creationId xmlns:a16="http://schemas.microsoft.com/office/drawing/2014/main" id="{F23E615D-633F-4AEC-85FC-97572F0B3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6:p xmlns:ns6="http://schemas.openxmlformats.org/drawingml/2006/main">
            <ns6:pPr algn="l">
              <ns6:defRPr sz="2250" b="0">
                <ns6:solidFill>
                  <ns6:srgbClr val="17384A"/>
                </ns6:solidFill>
                <ns6:latin typeface="Arial"/>
                <ns6:ea typeface="Arial"/>
                <ns6:cs typeface="Arial"/>
              </ns6:defRPr>
            </ns6:pPr>
            <ns6:r>
              <ns6:rPr sz="2250" b="0">
                <ns6:solidFill>
                  <ns6:srgbClr val="17384A"/>
                </ns6:solidFill>
                <ns6:latin typeface="Arial"/>
                <ns6:ea typeface="Arial"/>
                <ns6:cs typeface="Arial"/>
              </ns6:rPr>
              <ns6:t>Check the card: 20 cm long and 8 cm wide.</ns6:t>
            </ns6:r>
          </ns6:p>
        </p:txBody>
      </p:sp>
      <p:sp>
        <p:nvSpPr>
          <p:cNvPr id="25" name="body-1">
            <a:extLst xmlns:a="http://schemas.openxmlformats.org/drawingml/2006/main">
              <a:ext uri="{FF2B5EF4-FFF2-40B4-BE49-F238E27FC236}">
                <a16:creationId xmlns:a16="http://schemas.microsoft.com/office/drawing/2014/main" id="{9FE963E1-470E-447B-8A4E-BE5AEE8E9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6465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7:p xmlns:ns7="http://schemas.openxmlformats.org/drawingml/2006/main">
            <ns7:pPr algn="l">
              <ns7:defRPr sz="2250" b="0">
                <ns7:solidFill>
                  <ns7:srgbClr val="17384A"/>
                </ns7:solidFill>
                <ns7:latin typeface="Arial"/>
                <ns7:ea typeface="Arial"/>
                <ns7:cs typeface="Arial"/>
              </ns7:defRPr>
            </ns7:pPr>
            <ns7:r>
              <ns7:rPr sz="2250" b="0">
                <ns7:solidFill>
                  <ns7:srgbClr val="17384A"/>
                </ns7:solidFill>
                <ns7:latin typeface="Arial"/>
                <ns7:ea typeface="Arial"/>
                <ns7:cs typeface="Arial"/>
              </ns7:rPr>
              <ns7:t>Find lines 2 cm and 6 cm from one long edge.</ns7:t>
            </ns7:r>
          </ns7:p>
        </p:txBody>
      </p:sp>
      <p:sp>
        <p:nvSpPr>
          <p:cNvPr id="26" name="body-2">
            <a:extLst xmlns:a="http://schemas.openxmlformats.org/drawingml/2006/main">
              <a:ext uri="{FF2B5EF4-FFF2-40B4-BE49-F238E27FC236}">
                <a16:creationId xmlns:a16="http://schemas.microsoft.com/office/drawing/2014/main" id="{B51B5736-01AE-4595-93E5-5529AD4EA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6530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8:p xmlns:ns8="http://schemas.openxmlformats.org/drawingml/2006/main">
            <ns8:pPr algn="l">
              <ns8:defRPr sz="2250" b="0">
                <ns8:solidFill>
                  <ns8:srgbClr val="17384A"/>
                </ns8:solidFill>
                <ns8:latin typeface="Arial"/>
                <ns8:ea typeface="Arial"/>
                <ns8:cs typeface="Arial"/>
              </ns8:defRPr>
            </ns8:pPr>
            <ns8:r>
              <ns8:rPr sz="2250" b="0">
                <ns8:solidFill>
                  <ns8:srgbClr val="17384A"/>
                </ns8:solidFill>
                <ns8:latin typeface="Arial"/>
                <ns8:ea typeface="Arial"/>
                <ns8:cs typeface="Arial"/>
              </ns8:rPr>
              <ns8:t>Fold each outer panel up along its line.</ns8:t>
            </ns8:r>
          </ns8:p>
        </p:txBody>
      </p:sp>
      <p:sp>
        <p:nvSpPr>
          <p:cNvPr id="27" name="body-3">
            <a:extLst xmlns:a="http://schemas.openxmlformats.org/drawingml/2006/main">
              <a:ext uri="{FF2B5EF4-FFF2-40B4-BE49-F238E27FC236}">
                <a16:creationId xmlns:a16="http://schemas.microsoft.com/office/drawing/2014/main" id="{E04D50D9-8148-4E80-8B08-F30F8F177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6595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9:p xmlns:ns9="http://schemas.openxmlformats.org/drawingml/2006/main">
            <ns9:pPr algn="l">
              <ns9:defRPr sz="2250" b="0">
                <ns9:solidFill>
                  <ns9:srgbClr val="17384A"/>
                </ns9:solidFill>
                <ns9:latin typeface="Arial"/>
                <ns9:ea typeface="Arial"/>
                <ns9:cs typeface="Arial"/>
              </ns9:defRPr>
            </ns9:pPr>
            <ns9:r>
              <ns9:rPr sz="2250" b="0">
                <ns9:solidFill>
                  <ns9:srgbClr val="17384A"/>
                </ns9:solidFill>
                <ns9:latin typeface="Arial"/>
                <ns9:ea typeface="Arial"/>
                <ns9:cs typeface="Arial"/>
              </ns9:rPr>
              <ns9:t>Keep the middle 4 cm panel flat.</ns9:t>
            </ns9:r>
          </ns9:p>
        </p:txBody>
      </p:sp>
      <p:sp>
        <p:nvSpPr>
          <p:cNvPr id="28" name="body-4">
            <a:extLst xmlns:a="http://schemas.openxmlformats.org/drawingml/2006/main">
              <a:ext uri="{FF2B5EF4-FFF2-40B4-BE49-F238E27FC236}">
                <a16:creationId xmlns:a16="http://schemas.microsoft.com/office/drawing/2014/main" id="{20BB9364-E18A-45E5-BE54-5B9C6D4D9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56660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10:p xmlns:ns10="http://schemas.openxmlformats.org/drawingml/2006/main">
            <ns10:pPr algn="l">
              <ns10:defRPr sz="2250" b="0">
                <ns10:solidFill>
                  <ns10:srgbClr val="17384A"/>
                </ns10:solidFill>
                <ns10:latin typeface="Arial"/>
                <ns10:ea typeface="Arial"/>
                <ns10:cs typeface="Arial"/>
              </ns10:defRPr>
            </ns10:pPr>
            <ns10:r>
              <ns10:rPr sz="2250" b="0">
                <ns10:solidFill>
                  <ns10:srgbClr val="17384A"/>
                </ns10:solidFill>
                <ns10:latin typeface="Arial"/>
                <ns10:ea typeface="Arial"/>
                <ns10:cs typeface="Arial"/>
              </ns10:rPr>
              <ns10:t>Place it across a 10 cm gap between supports.</ns10:t>
            </ns10:r>
          </ns10:p>
        </p:txBody>
      </p:sp>
      <p:sp>
        <p:nvSpPr>
          <p:cNvPr id="29" name="body-5">
            <a:extLst xmlns:a="http://schemas.openxmlformats.org/drawingml/2006/main">
              <a:ext uri="{FF2B5EF4-FFF2-40B4-BE49-F238E27FC236}">
                <a16:creationId xmlns:a16="http://schemas.microsoft.com/office/drawing/2014/main" id="{11C7B658-634C-4EEA-9854-0DDACA4BD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76725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11:p xmlns:ns11="http://schemas.openxmlformats.org/drawingml/2006/main">
            <ns11:pPr algn="l">
              <ns11:defRPr sz="2250" b="0">
                <ns11:solidFill>
                  <ns11:srgbClr val="17384A"/>
                </ns11:solidFill>
                <ns11:latin typeface="Arial"/>
                <ns11:ea typeface="Arial"/>
                <ns11:cs typeface="Arial"/>
              </ns11:defRPr>
            </ns11:pPr>
            <ns11:r>
              <ns11:rPr sz="2250" b="0">
                <ns11:solidFill>
                  <ns11:srgbClr val="17384A"/>
                </ns11:solidFill>
                <ns11:latin typeface="Arial"/>
                <ns11:ea typeface="Arial"/>
                <ns11:cs typeface="Arial"/>
              </ns11:rPr>
              <ns11:t>Centre it: 5 cm rests on each support.</ns11:t>
            </ns11:r>
          </ns11:p>
        </p:txBody>
      </p:sp>
      <p:sp>
        <p:nvSpPr>
          <p:cNvPr id="30" name="diagram-caption">
            <a:extLst xmlns:a="http://schemas.openxmlformats.org/drawingml/2006/main">
              <a:ext uri="{FF2B5EF4-FFF2-40B4-BE49-F238E27FC236}">
                <a16:creationId xmlns:a16="http://schemas.microsoft.com/office/drawing/2014/main" id="{FC71C855-EBF2-403A-A84C-6E763A685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7210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12:p xmlns:ns12="http://schemas.openxmlformats.org/drawingml/2006/main">
            <ns12:pPr algn="l">
              <ns12:defRPr sz="2025" b="0">
                <ns12:solidFill>
                  <ns12:srgbClr val="146B68"/>
                </ns12:solidFill>
                <ns12:latin typeface="Arial"/>
                <ns12:ea typeface="Arial"/>
                <ns12:cs typeface="Arial"/>
              </ns12:defRPr>
            </ns12:pPr>
            <ns12:r>
              <ns12:rPr sz="2025" b="0">
                <ns12:solidFill>
                  <ns12:srgbClr val="146B68"/>
                </ns12:solidFill>
                <ns12:latin typeface="Arial"/>
                <ns12:ea typeface="Arial"/>
                <ns12:cs typeface="Arial"/>
              </ns12:rPr>
              <ns12:t>A small card model: two sides up and a flat middle.</ns12:t>
            </ns12:r>
          </ns12:p>
        </p:txBody>
      </p:sp>
    </p:spTree>
    <p:extLst>
      <p:ext uri="{BB962C8B-B14F-4D97-AF65-F5344CB8AC3E}">
        <p14:creationId xmlns:p14="http://schemas.microsoft.com/office/powerpoint/2010/main" val="173344774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ide-rule">
            <a:extLst xmlns:a="http://schemas.openxmlformats.org/drawingml/2006/main">
              <a:ext uri="{FF2B5EF4-FFF2-40B4-BE49-F238E27FC236}">
                <a16:creationId xmlns:a16="http://schemas.microsoft.com/office/drawing/2014/main" id="{7C3C7B59-169A-4D85-8D42-4261DA4D8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62A3137D-D971-4680-86CB-8E5867DC8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0:p xmlns:ns0="http://schemas.openxmlformats.org/drawingml/2006/main">
            <ns0:pPr algn="l">
              <ns0:buNone/>
              <ns0:def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defRPr>
            </ns0:pPr>
            <ns0:r>
              <ns0: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rPr>
              <ns0:t>WE DO</ns0:t>
            </ns0:r>
          </ns0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C6C2E05D-C255-4FC3-A178-7C3A3ADF0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1:p xmlns:ns1="http://schemas.openxmlformats.org/drawingml/2006/main">
            <ns1:pPr algn="r">
              <ns1:buNone/>
              <ns1:def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defRPr>
            </ns1:pPr>
            <ns1:r>
              <ns1: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rPr>
              <ns1:t>6 / 12  ·  5 min</ns1:t>
            </ns1:r>
          </ns1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811F47D-1684-41AA-908F-4905BB64C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5:p xmlns:ns5="http://schemas.openxmlformats.org/drawingml/2006/main">
            <ns5:pPr algn="l">
              <ns5:buNone/>
              <ns5:def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defRPr>
            </ns5:pPr>
            <ns5:r>
              <ns5: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rPr>
              <ns5:t>Which step fits the facts?</ns5:t>
            </ns5:r>
          </ns5:p>
        </p:txBody>
      </p:sp>
      <p:sp>
        <p:nvSpPr>
          <p:cNvPr id="5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B1A3538F-988B-4A37-9593-681FEF7FC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rinted-id">
            <a:extLst xmlns:a="http://schemas.openxmlformats.org/drawingml/2006/main">
              <a:ext uri="{FF2B5EF4-FFF2-40B4-BE49-F238E27FC236}">
                <a16:creationId xmlns:a16="http://schemas.microsoft.com/office/drawing/2014/main" id="{E929F48F-CB8A-43F6-9EBB-1D3B70608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2:p xmlns:ns2="http://schemas.openxmlformats.org/drawingml/2006/main">
            <ns2:pPr algn="l">
              <ns2:buNone/>
              <ns2:def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defRPr>
            </ns2:pPr>
            <ns2:r>
              <ns2: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rPr>
              <ns2:t>DT-LAUNCH-A2-W03</ns2:t>
            </ns2:r>
          </ns2:p>
        </p:txBody>
      </p:sp>
      <p:sp>
        <p:nvSpPr>
          <p:cNvPr id="11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F8FC46E8-C419-4543-AFE8-4A3AE199E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3:p xmlns:ns3="http://schemas.openxmlformats.org/drawingml/2006/main">
            <ns3:pPr algn="r">
              <ns3:buNone/>
              <ns3:def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defRPr>
            </ns3:pPr>
            <ns3:r>
              <ns3: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rPr>
              <ns3:t>Public edition</ns3:t>
            </ns3:r>
          </ns3:p>
        </p:txBody>
      </p:sp>
      <p:sp>
        <p:nvSpPr>
          <p:cNvPr id="12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C1BD0028-6BB2-4DF9-979D-E866AEED9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4:p xmlns:ns4="http://schemas.openxmlformats.org/drawingml/2006/main">
            <ns4:pPr algn="l">
              <ns4:buNone/>
              <ns4:def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defRPr>
            </ns4:pPr>
            <ns4:r>
              <ns4: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rPr>
              <ns4:t>Made by Matt · © Matt Roper · CC BY-NC-SA 4.0: free for classroom use, share and adapt with credit, no resale</ns4:t>
            </ns4:r>
          </ns4:p>
        </p:txBody>
      </p:sp>
      <p:sp>
        <p:nvSpPr>
          <p:cNvPr id="14" name="body-0">
            <a:extLst xmlns:a="http://schemas.openxmlformats.org/drawingml/2006/main">
              <a:ext uri="{FF2B5EF4-FFF2-40B4-BE49-F238E27FC236}">
                <a16:creationId xmlns:a16="http://schemas.microsoft.com/office/drawing/2014/main" id="{6ECDBC84-CBD5-41C6-A1E7-78CBB780E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6:p xmlns:ns6="http://schemas.openxmlformats.org/drawingml/2006/main">
            <ns6:pPr algn="l">
              <ns6:defRPr sz="2250" b="0">
                <ns6:solidFill>
                  <ns6:srgbClr val="17384A"/>
                </ns6:solidFill>
                <ns6:latin typeface="Arial"/>
                <ns6:ea typeface="Arial"/>
                <ns6:cs typeface="Arial"/>
              </ns6:defRPr>
            </ns6:pPr>
            <ns6:r>
              <ns6:rPr sz="2250" b="0">
                <ns6:solidFill>
                  <ns6:srgbClr val="17384A"/>
                </ns6:solidFill>
                <ns6:latin typeface="Arial"/>
                <ns6:ea typeface="Arial"/>
                <ns6:cs typeface="Arial"/>
              </ns6:rPr>
              <ns6:t>One fold is in the wrong place. What next?</ns6:t>
            </ns6:r>
          </ns6:p>
        </p:txBody>
      </p:sp>
      <p:sp>
        <p:nvSpPr>
          <p:cNvPr id="15" name="body-1">
            <a:extLst xmlns:a="http://schemas.openxmlformats.org/drawingml/2006/main">
              <a:ext uri="{FF2B5EF4-FFF2-40B4-BE49-F238E27FC236}">
                <a16:creationId xmlns:a16="http://schemas.microsoft.com/office/drawing/2014/main" id="{6A50435D-4FA5-4A21-A00A-9024D5A62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6465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7:p xmlns:ns7="http://schemas.openxmlformats.org/drawingml/2006/main">
            <ns7:pPr algn="l">
              <ns7:defRPr sz="2250" b="0">
                <ns7:solidFill>
                  <ns7:srgbClr val="17384A"/>
                </ns7:solidFill>
                <ns7:latin typeface="Arial"/>
                <ns7:ea typeface="Arial"/>
                <ns7:cs typeface="Arial"/>
              </ns7:defRPr>
            </ns7:pPr>
            <ns7:r>
              <ns7:rPr sz="2250" b="0">
                <ns7:solidFill>
                  <ns7:srgbClr val="17384A"/>
                </ns7:solidFill>
                <ns7:latin typeface="Arial"/>
                <ns7:ea typeface="Arial"/>
                <ns7:cs typeface="Arial"/>
              </ns7:rPr>
              <ns7:t>A  Hide the mistake with lots of tape.</ns7:t>
            </ns7:r>
          </ns7:p>
        </p:txBody>
      </p:sp>
      <p:sp>
        <p:nvSpPr>
          <p:cNvPr id="16" name="body-2">
            <a:extLst xmlns:a="http://schemas.openxmlformats.org/drawingml/2006/main">
              <a:ext uri="{FF2B5EF4-FFF2-40B4-BE49-F238E27FC236}">
                <a16:creationId xmlns:a16="http://schemas.microsoft.com/office/drawing/2014/main" id="{2D40E9ED-0AAC-4ABF-91A4-B29F929BE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6530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8:p xmlns:ns8="http://schemas.openxmlformats.org/drawingml/2006/main">
            <ns8:pPr algn="l">
              <ns8:defRPr sz="2250" b="0">
                <ns8:solidFill>
                  <ns8:srgbClr val="17384A"/>
                </ns8:solidFill>
                <ns8:latin typeface="Arial"/>
                <ns8:ea typeface="Arial"/>
                <ns8:cs typeface="Arial"/>
              </ns8:defRPr>
            </ns8:pPr>
            <ns8:r>
              <ns8:rPr sz="2250" b="0">
                <ns8:solidFill>
                  <ns8:srgbClr val="17384A"/>
                </ns8:solidFill>
                <ns8:latin typeface="Arial"/>
                <ns8:ea typeface="Arial"/>
                <ns8:cs typeface="Arial"/>
              </ns8:rPr>
              <ns8:t>B  Pause and check the plan with the adult.</ns8:t>
            </ns8:r>
          </ns8:p>
        </p:txBody>
      </p:sp>
      <p:sp>
        <p:nvSpPr>
          <p:cNvPr id="17" name="body-3">
            <a:extLst xmlns:a="http://schemas.openxmlformats.org/drawingml/2006/main">
              <a:ext uri="{FF2B5EF4-FFF2-40B4-BE49-F238E27FC236}">
                <a16:creationId xmlns:a16="http://schemas.microsoft.com/office/drawing/2014/main" id="{15760A3D-C8CB-444C-97BB-DD974FBE7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6595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9:p xmlns:ns9="http://schemas.openxmlformats.org/drawingml/2006/main">
            <ns9:pPr algn="l">
              <ns9:defRPr sz="2250" b="0">
                <ns9:solidFill>
                  <ns9:srgbClr val="17384A"/>
                </ns9:solidFill>
                <ns9:latin typeface="Arial"/>
                <ns9:ea typeface="Arial"/>
                <ns9:cs typeface="Arial"/>
              </ns9:defRPr>
            </ns9:pPr>
            <ns9:r>
              <ns9:rPr sz="2250" b="0">
                <ns9:solidFill>
                  <ns9:srgbClr val="17384A"/>
                </ns9:solidFill>
                <ns9:latin typeface="Arial"/>
                <ns9:ea typeface="Arial"/>
                <ns9:cs typeface="Arial"/>
              </ns9:rPr>
              <ns9:t>C  Cut the card with any tool nearby.</ns9:t>
            </ns9:r>
          </ns9:p>
        </p:txBody>
      </p:sp>
    </p:spTree>
    <p:extLst>
      <p:ext uri="{BB962C8B-B14F-4D97-AF65-F5344CB8AC3E}">
        <p14:creationId xmlns:p14="http://schemas.microsoft.com/office/powerpoint/2010/main" val="197717229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ide-rule">
            <a:extLst xmlns:a="http://schemas.openxmlformats.org/drawingml/2006/main">
              <a:ext uri="{FF2B5EF4-FFF2-40B4-BE49-F238E27FC236}">
                <a16:creationId xmlns:a16="http://schemas.microsoft.com/office/drawing/2014/main" id="{D8E5E2AB-ADA1-4838-ACF0-FFEF5BB56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C18FBDEC-1AF3-4715-AA09-479266E2E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0:p xmlns:ns0="http://schemas.openxmlformats.org/drawingml/2006/main">
            <ns0:pPr algn="l">
              <ns0:buNone/>
              <ns0:def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defRPr>
            </ns0:pPr>
            <ns0:r>
              <ns0: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rPr>
              <ns0:t>YOU DO PRACTICE</ns0:t>
            </ns0:r>
          </ns0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E419A0B8-80B8-4D04-AA00-03054673B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1:p xmlns:ns1="http://schemas.openxmlformats.org/drawingml/2006/main">
            <ns1:pPr algn="r">
              <ns1:buNone/>
              <ns1:def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defRPr>
            </ns1:pPr>
            <ns1:r>
              <ns1: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rPr>
              <ns1:t>7 / 12  ·  12 min</ns1:t>
            </ns1:r>
          </ns1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7103CDA-DC45-49C7-8199-AFE03A2C4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5:p xmlns:ns5="http://schemas.openxmlformats.org/drawingml/2006/main">
            <ns5:pPr algn="l">
              <ns5:buNone/>
              <ns5:def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defRPr>
            </ns5:pPr>
            <ns5:r>
              <ns5: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rPr>
              <ns5:t>Our practice tasks</ns5:t>
            </ns5:r>
          </ns5:p>
        </p:txBody>
      </p:sp>
      <p:sp>
        <p:nvSpPr>
          <p:cNvPr id="5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AE716716-2304-4E68-B71C-7212C01D8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rinted-id">
            <a:extLst xmlns:a="http://schemas.openxmlformats.org/drawingml/2006/main">
              <a:ext uri="{FF2B5EF4-FFF2-40B4-BE49-F238E27FC236}">
                <a16:creationId xmlns:a16="http://schemas.microsoft.com/office/drawing/2014/main" id="{78B1FBD6-B0E3-4DBA-AE92-B3E0AB199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2:p xmlns:ns2="http://schemas.openxmlformats.org/drawingml/2006/main">
            <ns2:pPr algn="l">
              <ns2:buNone/>
              <ns2:def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defRPr>
            </ns2:pPr>
            <ns2:r>
              <ns2: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rPr>
              <ns2:t>DT-LAUNCH-A2-W03</ns2:t>
            </ns2:r>
          </ns2:p>
        </p:txBody>
      </p:sp>
      <p:sp>
        <p:nvSpPr>
          <p:cNvPr id="12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464D54B0-7F69-47C0-8884-FB04772F8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3:p xmlns:ns3="http://schemas.openxmlformats.org/drawingml/2006/main">
            <ns3:pPr algn="r">
              <ns3:buNone/>
              <ns3:def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defRPr>
            </ns3:pPr>
            <ns3:r>
              <ns3: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rPr>
              <ns3:t>Public edition</ns3:t>
            </ns3:r>
          </ns3:p>
        </p:txBody>
      </p:sp>
      <p:sp>
        <p:nvSpPr>
          <p:cNvPr id="13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1042A2BA-D71F-4608-81F1-56527613E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4:p xmlns:ns4="http://schemas.openxmlformats.org/drawingml/2006/main">
            <ns4:pPr algn="l">
              <ns4:buNone/>
              <ns4:def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defRPr>
            </ns4:pPr>
            <ns4:r>
              <ns4: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rPr>
              <ns4:t>Made by Matt · © Matt Roper · CC BY-NC-SA 4.0: free for classroom use, share and adapt with credit, no resale</ns4:t>
            </ns4:r>
          </ns4:p>
        </p:txBody>
      </p:sp>
      <p:sp>
        <p:nvSpPr>
          <p:cNvPr id="15" name="body-0">
            <a:extLst xmlns:a="http://schemas.openxmlformats.org/drawingml/2006/main">
              <a:ext uri="{FF2B5EF4-FFF2-40B4-BE49-F238E27FC236}">
                <a16:creationId xmlns:a16="http://schemas.microsoft.com/office/drawing/2014/main" id="{D56143C9-633B-49FB-8C6A-CF18E2F3A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6:p xmlns:ns6="http://schemas.openxmlformats.org/drawingml/2006/main">
            <ns6:pPr algn="l">
              <ns6:defRPr sz="2025" b="0">
                <ns6:solidFill>
                  <ns6:srgbClr val="17384A"/>
                </ns6:solidFill>
                <ns6:latin typeface="Arial"/>
                <ns6:ea typeface="Arial"/>
                <ns6:cs typeface="Arial"/>
              </ns6:defRPr>
            </ns6:pPr>
            <ns6:r>
              <ns6:rPr sz="2025" b="0">
                <ns6:solidFill>
                  <ns6:srgbClr val="17384A"/>
                </ns6:solidFill>
                <ns6:latin typeface="Arial"/>
                <ns6:ea typeface="Arial"/>
                <ns6:cs typeface="Arial"/>
              </ns6:rPr>
              <ns6:t>Use your plan and marked card from Week 2.</ns6:t>
            </ns6:r>
          </ns6:p>
        </p:txBody>
      </p:sp>
      <p:sp>
        <p:nvSpPr>
          <p:cNvPr id="16" name="body-1">
            <a:extLst xmlns:a="http://schemas.openxmlformats.org/drawingml/2006/main">
              <a:ext uri="{FF2B5EF4-FFF2-40B4-BE49-F238E27FC236}">
                <a16:creationId xmlns:a16="http://schemas.microsoft.com/office/drawing/2014/main" id="{B6D490E7-1C72-4E1B-9DFF-6A51D7CD8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23504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7:p xmlns:ns7="http://schemas.openxmlformats.org/drawingml/2006/main">
            <ns7:pPr algn="l">
              <ns7:defRPr sz="2025" b="0">
                <ns7:solidFill>
                  <ns7:srgbClr val="17384A"/>
                </ns7:solidFill>
                <ns7:latin typeface="Arial"/>
                <ns7:ea typeface="Arial"/>
                <ns7:cs typeface="Arial"/>
              </ns7:defRPr>
            </ns7:pPr>
            <ns7:r>
              <ns7:rPr sz="2025" b="0">
                <ns7:solidFill>
                  <ns7:srgbClr val="17384A"/>
                </ns7:solidFill>
                <ns7:latin typeface="Arial"/>
                <ns7:ea typeface="Arial"/>
                <ns7:cs typeface="Arial"/>
              </ns7:rPr>
              <ns7:t>Supported: ask an adult to steady the card.</ns7:t>
            </ns7:r>
          </ns7:p>
        </p:txBody>
      </p:sp>
      <p:sp>
        <p:nvSpPr>
          <p:cNvPr id="17" name="body-2">
            <a:extLst xmlns:a="http://schemas.openxmlformats.org/drawingml/2006/main">
              <a:ext uri="{FF2B5EF4-FFF2-40B4-BE49-F238E27FC236}">
                <a16:creationId xmlns:a16="http://schemas.microsoft.com/office/drawing/2014/main" id="{08901007-A68D-49A8-B527-C521B404D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0607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8:p xmlns:ns8="http://schemas.openxmlformats.org/drawingml/2006/main">
            <ns8:pPr algn="l">
              <ns8:defRPr sz="2025" b="0">
                <ns8:solidFill>
                  <ns8:srgbClr val="17384A"/>
                </ns8:solidFill>
                <ns8:latin typeface="Arial"/>
                <ns8:ea typeface="Arial"/>
                <ns8:cs typeface="Arial"/>
              </ns8:defRPr>
            </ns8:pPr>
            <ns8:r>
              <ns8:rPr sz="2025" b="0">
                <ns8:solidFill>
                  <ns8:srgbClr val="17384A"/>
                </ns8:solidFill>
                <ns8:latin typeface="Arial"/>
                <ns8:ea typeface="Arial"/>
                <ns8:cs typeface="Arial"/>
              </ns8:rPr>
              <ns8:t>Independent: fold, form and check the model.</ns8:t>
            </ns8:r>
          </ns8:p>
        </p:txBody>
      </p:sp>
      <p:sp>
        <p:nvSpPr>
          <p:cNvPr id="18" name="body-3">
            <a:extLst xmlns:a="http://schemas.openxmlformats.org/drawingml/2006/main">
              <a:ext uri="{FF2B5EF4-FFF2-40B4-BE49-F238E27FC236}">
                <a16:creationId xmlns:a16="http://schemas.microsoft.com/office/drawing/2014/main" id="{3EA2B60A-E54D-4F8D-BC00-957C59C26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17711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9:p xmlns:ns9="http://schemas.openxmlformats.org/drawingml/2006/main">
            <ns9:pPr algn="l">
              <ns9:defRPr sz="2025" b="0">
                <ns9:solidFill>
                  <ns9:srgbClr val="17384A"/>
                </ns9:solidFill>
                <ns9:latin typeface="Arial"/>
                <ns9:ea typeface="Arial"/>
                <ns9:cs typeface="Arial"/>
              </ns9:defRPr>
            </ns9:pPr>
            <ns9:r>
              <ns9:rPr sz="2025" b="0">
                <ns9:solidFill>
                  <ns9:srgbClr val="17384A"/>
                </ns9:solidFill>
                <ns9:latin typeface="Arial"/>
                <ns9:ea typeface="Arial"/>
                <ns9:cs typeface="Arial"/>
              </ns9:rPr>
              <ns9:t>Aspire: explain how the shape fits the plan.</ns9:t>
            </ns9:r>
          </ns9:p>
        </p:txBody>
      </p:sp>
      <p:sp>
        <p:nvSpPr>
          <p:cNvPr id="19" name="body-4">
            <a:extLst xmlns:a="http://schemas.openxmlformats.org/drawingml/2006/main">
              <a:ext uri="{FF2B5EF4-FFF2-40B4-BE49-F238E27FC236}">
                <a16:creationId xmlns:a16="http://schemas.microsoft.com/office/drawing/2014/main" id="{4583C6A7-E83D-4290-B65B-7B823E667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64814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10:p xmlns:ns10="http://schemas.openxmlformats.org/drawingml/2006/main">
            <ns10:pPr algn="l">
              <ns10:defRPr sz="2025" b="0">
                <ns10:solidFill>
                  <ns10:srgbClr val="17384A"/>
                </ns10:solidFill>
                <ns10:latin typeface="Arial"/>
                <ns10:ea typeface="Arial"/>
                <ns10:cs typeface="Arial"/>
              </ns10:defRPr>
            </ns10:pPr>
            <ns10:r>
              <ns10:rPr sz="2025" b="0">
                <ns10:solidFill>
                  <ns10:srgbClr val="17384A"/>
                </ns10:solidFill>
                <ns10:latin typeface="Arial"/>
                <ns10:ea typeface="Arial"/>
                <ns10:cs typeface="Arial"/>
              </ns10:rPr>
              <ns10:t>No load test today. Keep your model safe.</ns10:t>
            </ns10:r>
          </ns10:p>
        </p:txBody>
      </p:sp>
    </p:spTree>
    <p:extLst>
      <p:ext uri="{BB962C8B-B14F-4D97-AF65-F5344CB8AC3E}">
        <p14:creationId xmlns:p14="http://schemas.microsoft.com/office/powerpoint/2010/main" val="162494973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ide-rule">
            <a:extLst xmlns:a="http://schemas.openxmlformats.org/drawingml/2006/main">
              <a:ext uri="{FF2B5EF4-FFF2-40B4-BE49-F238E27FC236}">
                <a16:creationId xmlns:a16="http://schemas.microsoft.com/office/drawing/2014/main" id="{66C44A98-3D93-4F51-B71E-69741D9BC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BB347D01-AF7A-441C-95AA-D9DDC8E7E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0:p xmlns:ns0="http://schemas.openxmlformats.org/drawingml/2006/main">
            <ns0:pPr algn="l">
              <ns0:buNone/>
              <ns0:def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defRPr>
            </ns0:pPr>
            <ns0:r>
              <ns0: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rPr>
              <ns0:t>YOU DO EVIDENCE</ns0:t>
            </ns0:r>
          </ns0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0E908289-E77F-4BCE-B478-BFBAF859E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1:p xmlns:ns1="http://schemas.openxmlformats.org/drawingml/2006/main">
            <ns1:pPr algn="r">
              <ns1:buNone/>
              <ns1:def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defRPr>
            </ns1:pPr>
            <ns1:r>
              <ns1: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rPr>
              <ns1:t>8 / 12  ·  6 min</ns1:t>
            </ns1:r>
          </ns1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44AEF26-FD38-4E07-B155-D8216D2DD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5:p xmlns:ns5="http://schemas.openxmlformats.org/drawingml/2006/main">
            <ns5:pPr algn="l">
              <ns5:buNone/>
              <ns5:def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defRPr>
            </ns5:pPr>
            <ns5:r>
              <ns5: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rPr>
              <ns5:t>My evidence</ns5:t>
            </ns5:r>
          </ns5:p>
        </p:txBody>
      </p:sp>
      <p:sp>
        <p:nvSpPr>
          <p:cNvPr id="5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65EC05C6-1DDD-4ED7-9416-85B2792CA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rinted-id">
            <a:extLst xmlns:a="http://schemas.openxmlformats.org/drawingml/2006/main">
              <a:ext uri="{FF2B5EF4-FFF2-40B4-BE49-F238E27FC236}">
                <a16:creationId xmlns:a16="http://schemas.microsoft.com/office/drawing/2014/main" id="{86E837DB-874D-4D98-95F1-0A5EB40AF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2:p xmlns:ns2="http://schemas.openxmlformats.org/drawingml/2006/main">
            <ns2:pPr algn="l">
              <ns2:buNone/>
              <ns2:def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defRPr>
            </ns2:pPr>
            <ns2:r>
              <ns2: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rPr>
              <ns2:t>DT-LAUNCH-A2-W03</ns2:t>
            </ns2:r>
          </ns2:p>
        </p:txBody>
      </p:sp>
      <p:sp>
        <p:nvSpPr>
          <p:cNvPr id="13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BB784062-68CA-4716-9541-FCC2624AD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3:p xmlns:ns3="http://schemas.openxmlformats.org/drawingml/2006/main">
            <ns3:pPr algn="r">
              <ns3:buNone/>
              <ns3:def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defRPr>
            </ns3:pPr>
            <ns3:r>
              <ns3: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rPr>
              <ns3:t>Public edition</ns3:t>
            </ns3:r>
          </ns3:p>
        </p:txBody>
      </p:sp>
      <p:sp>
        <p:nvSpPr>
          <p:cNvPr id="14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56B640B8-BB08-416A-913B-30884D348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4:p xmlns:ns4="http://schemas.openxmlformats.org/drawingml/2006/main">
            <ns4:pPr algn="l">
              <ns4:buNone/>
              <ns4:def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defRPr>
            </ns4:pPr>
            <ns4:r>
              <ns4: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rPr>
              <ns4:t>Made by Matt · © Matt Roper · CC BY-NC-SA 4.0: free for classroom use, share and adapt with credit, no resale</ns4:t>
            </ns4:r>
          </ns4:p>
        </p:txBody>
      </p:sp>
      <p:sp>
        <p:nvSpPr>
          <p:cNvPr id="16" name="body-0">
            <a:extLst xmlns:a="http://schemas.openxmlformats.org/drawingml/2006/main">
              <a:ext uri="{FF2B5EF4-FFF2-40B4-BE49-F238E27FC236}">
                <a16:creationId xmlns:a16="http://schemas.microsoft.com/office/drawing/2014/main" id="{39255F30-454A-4B62-B463-8ED37A475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6:p xmlns:ns6="http://schemas.openxmlformats.org/drawingml/2006/main">
            <ns6:pPr algn="l">
              <ns6:defRPr sz="2025" b="0">
                <ns6:solidFill>
                  <ns6:srgbClr val="17384A"/>
                </ns6:solidFill>
                <ns6:latin typeface="Arial"/>
                <ns6:ea typeface="Arial"/>
                <ns6:cs typeface="Arial"/>
              </ns6:defRPr>
            </ns6:pPr>
            <ns6:r>
              <ns6:rPr sz="2025" b="0">
                <ns6:solidFill>
                  <ns6:srgbClr val="17384A"/>
                </ns6:solidFill>
                <ns6:latin typeface="Arial"/>
                <ns6:ea typeface="Arial"/>
                <ns6:cs typeface="Arial"/>
              </ns6:rPr>
              <ns6:t>Keep a model photo or work reference.</ns6:t>
            </ns6:r>
          </ns6:p>
        </p:txBody>
      </p:sp>
      <p:sp>
        <p:nvSpPr>
          <p:cNvPr id="17" name="body-1">
            <a:extLst xmlns:a="http://schemas.openxmlformats.org/drawingml/2006/main">
              <a:ext uri="{FF2B5EF4-FFF2-40B4-BE49-F238E27FC236}">
                <a16:creationId xmlns:a16="http://schemas.microsoft.com/office/drawing/2014/main" id="{B400D461-D55C-4F45-8F48-1294C146E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23504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7:p xmlns:ns7="http://schemas.openxmlformats.org/drawingml/2006/main">
            <ns7:pPr algn="l">
              <ns7:defRPr sz="2025" b="0">
                <ns7:solidFill>
                  <ns7:srgbClr val="17384A"/>
                </ns7:solidFill>
                <ns7:latin typeface="Arial"/>
                <ns7:ea typeface="Arial"/>
                <ns7:cs typeface="Arial"/>
              </ns7:defRPr>
            </ns7:pPr>
            <ns7:r>
              <ns7:rPr sz="2025" b="0">
                <ns7:solidFill>
                  <ns7:srgbClr val="17384A"/>
                </ns7:solidFill>
                <ns7:latin typeface="Arial"/>
                <ns7:ea typeface="Arial"/>
                <ns7:cs typeface="Arial"/>
              </ns7:rPr>
              <ns7:t>Check folds, flat middle and fit on supports.</ns7:t>
            </ns7:r>
          </ns7:p>
        </p:txBody>
      </p:sp>
      <p:sp>
        <p:nvSpPr>
          <p:cNvPr id="18" name="body-2">
            <a:extLst xmlns:a="http://schemas.openxmlformats.org/drawingml/2006/main">
              <a:ext uri="{FF2B5EF4-FFF2-40B4-BE49-F238E27FC236}">
                <a16:creationId xmlns:a16="http://schemas.microsoft.com/office/drawing/2014/main" id="{8D8AABD9-7E6F-4862-B495-E49E9D682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0607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8:p xmlns:ns8="http://schemas.openxmlformats.org/drawingml/2006/main">
            <ns8:pPr algn="l">
              <ns8:defRPr sz="2025" b="0">
                <ns8:solidFill>
                  <ns8:srgbClr val="17384A"/>
                </ns8:solidFill>
                <ns8:latin typeface="Arial"/>
                <ns8:ea typeface="Arial"/>
                <ns8:cs typeface="Arial"/>
              </ns8:defRPr>
            </ns8:pPr>
            <ns8:r>
              <ns8:rPr sz="2025" b="0">
                <ns8:solidFill>
                  <ns8:srgbClr val="17384A"/>
                </ns8:solidFill>
                <ns8:latin typeface="Arial"/>
                <ns8:ea typeface="Arial"/>
                <ns8:cs typeface="Arial"/>
              </ns8:rPr>
              <ns8:t>Record one change and the help you used.</ns8:t>
            </ns8:r>
          </ns8:p>
        </p:txBody>
      </p:sp>
      <p:sp>
        <p:nvSpPr>
          <p:cNvPr id="19" name="body-3">
            <a:extLst xmlns:a="http://schemas.openxmlformats.org/drawingml/2006/main">
              <a:ext uri="{FF2B5EF4-FFF2-40B4-BE49-F238E27FC236}">
                <a16:creationId xmlns:a16="http://schemas.microsoft.com/office/drawing/2014/main" id="{BE650D55-78CE-4B6C-B594-BF1451CAB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17711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9:p xmlns:ns9="http://schemas.openxmlformats.org/drawingml/2006/main">
            <ns9:pPr algn="l">
              <ns9:defRPr sz="2025" b="0">
                <ns9:solidFill>
                  <ns9:srgbClr val="17384A"/>
                </ns9:solidFill>
                <ns9:latin typeface="Arial"/>
                <ns9:ea typeface="Arial"/>
                <ns9:cs typeface="Arial"/>
              </ns9:defRPr>
            </ns9:pPr>
            <ns9:r>
              <ns9:rPr sz="2025" b="0">
                <ns9:solidFill>
                  <ns9:srgbClr val="17384A"/>
                </ns9:solidFill>
                <ns9:latin typeface="Arial"/>
                <ns9:ea typeface="Arial"/>
                <ns9:cs typeface="Arial"/>
              </ns9:rPr>
              <ns9:t>Respond to feedback in your own colour.</ns9:t>
            </ns9:r>
          </ns9:p>
        </p:txBody>
      </p:sp>
    </p:spTree>
    <p:extLst>
      <p:ext uri="{BB962C8B-B14F-4D97-AF65-F5344CB8AC3E}">
        <p14:creationId xmlns:p14="http://schemas.microsoft.com/office/powerpoint/2010/main" val="67267519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ide-rule">
            <a:extLst xmlns:a="http://schemas.openxmlformats.org/drawingml/2006/main">
              <a:ext uri="{FF2B5EF4-FFF2-40B4-BE49-F238E27FC236}">
                <a16:creationId xmlns:a16="http://schemas.microsoft.com/office/drawing/2014/main" id="{6D99B899-E3BF-49C2-AF68-6D6CF1144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539133E1-A8EA-4557-ABD0-F0F049DC8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0:p xmlns:ns0="http://schemas.openxmlformats.org/drawingml/2006/main">
            <ns0:pPr algn="l">
              <ns0:buNone/>
              <ns0:def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defRPr>
            </ns0:pPr>
            <ns0:r>
              <ns0: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rPr>
              <ns0:t>TIDY AND EVIDENCE CHECK</ns0:t>
            </ns0:r>
          </ns0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D74A83CD-4D73-4E4A-B78C-D8D074F8E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1:p xmlns:ns1="http://schemas.openxmlformats.org/drawingml/2006/main">
            <ns1:pPr algn="r">
              <ns1:buNone/>
              <ns1:def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defRPr>
            </ns1:pPr>
            <ns1:r>
              <ns1: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rPr>
              <ns1:t>9 / 12  ·  4 min</ns1:t>
            </ns1:r>
          </ns1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5FC91DF-147B-4BBB-8617-27DEAEDBA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5:p xmlns:ns5="http://schemas.openxmlformats.org/drawingml/2006/main">
            <ns5:pPr algn="l">
              <ns5:buNone/>
              <ns5:def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defRPr>
            </ns5:pPr>
            <ns5:r>
              <ns5: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rPr>
              <ns5:t>Tidy and check</ns5:t>
            </ns5:r>
          </ns5:p>
        </p:txBody>
      </p:sp>
      <p:sp>
        <p:nvSpPr>
          <p:cNvPr id="5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5D051C0A-7299-461B-B2A0-C9E66A73D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printed-id">
            <a:extLst xmlns:a="http://schemas.openxmlformats.org/drawingml/2006/main">
              <a:ext uri="{FF2B5EF4-FFF2-40B4-BE49-F238E27FC236}">
                <a16:creationId xmlns:a16="http://schemas.microsoft.com/office/drawing/2014/main" id="{FCC4FAC5-3A9D-4290-89BD-E0E63D688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2:p xmlns:ns2="http://schemas.openxmlformats.org/drawingml/2006/main">
            <ns2:pPr algn="l">
              <ns2:buNone/>
              <ns2:def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defRPr>
            </ns2:pPr>
            <ns2:r>
              <ns2: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rPr>
              <ns2:t>DT-LAUNCH-A2-W03</ns2:t>
            </ns2:r>
          </ns2:p>
        </p:txBody>
      </p:sp>
      <p:sp>
        <p:nvSpPr>
          <p:cNvPr id="15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D9053BBE-8E7B-41BA-A413-FA20D2991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3:p xmlns:ns3="http://schemas.openxmlformats.org/drawingml/2006/main">
            <ns3:pPr algn="r">
              <ns3:buNone/>
              <ns3:def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defRPr>
            </ns3:pPr>
            <ns3:r>
              <ns3: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rPr>
              <ns3:t>Public edition</ns3:t>
            </ns3:r>
          </ns3:p>
        </p:txBody>
      </p:sp>
      <p:sp>
        <p:nvSpPr>
          <p:cNvPr id="16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0FA6775F-4A85-43BE-A6BA-4F00B61D6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4:p xmlns:ns4="http://schemas.openxmlformats.org/drawingml/2006/main">
            <ns4:pPr algn="l">
              <ns4:buNone/>
              <ns4:def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defRPr>
            </ns4:pPr>
            <ns4:r>
              <ns4: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rPr>
              <ns4:t>Made by Matt · © Matt Roper · CC BY-NC-SA 4.0: free for classroom use, share and adapt with credit, no resale</ns4:t>
            </ns4:r>
          </ns4:p>
        </p:txBody>
      </p:sp>
      <p:sp>
        <p:nvSpPr>
          <p:cNvPr id="18" name="step-number-0">
            <a:extLst xmlns:a="http://schemas.openxmlformats.org/drawingml/2006/main">
              <a:ext uri="{FF2B5EF4-FFF2-40B4-BE49-F238E27FC236}">
                <a16:creationId xmlns:a16="http://schemas.microsoft.com/office/drawing/2014/main" id="{087B79DB-B13D-4C00-8AD4-C621817E4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438150" cy="3486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defPPr>
            <a:lvl1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1pPr>
            <a:lvl2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2pPr>
            <a:lvl3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3pPr>
            <a:lvl4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4pPr>
            <a:lvl5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5pPr>
            <a:lvl6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6pPr>
            <a:lvl7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7pPr>
            <a:lvl8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8pPr>
            <a:lvl9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76A6A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9" name="body-0">
            <a:extLst xmlns:a="http://schemas.openxmlformats.org/drawingml/2006/main">
              <a:ext uri="{FF2B5EF4-FFF2-40B4-BE49-F238E27FC236}">
                <a16:creationId xmlns:a16="http://schemas.microsoft.com/office/drawing/2014/main" id="{EFF555BC-8EEA-48FD-8C9B-0D66683B0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676400"/>
            <a:ext cx="1038225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6:p xmlns:ns6="http://schemas.openxmlformats.org/drawingml/2006/main">
            <ns6:pPr algn="l">
              <ns6:defRPr sz="2250" b="0">
                <ns6:solidFill>
                  <ns6:srgbClr val="17384A"/>
                </ns6:solidFill>
                <ns6:latin typeface="Arial"/>
                <ns6:ea typeface="Arial"/>
                <ns6:cs typeface="Arial"/>
              </ns6:defRPr>
            </ns6:pPr>
            <ns6:r>
              <ns6:rPr sz="2250" b="0">
                <ns6:solidFill>
                  <ns6:srgbClr val="17384A"/>
                </ns6:solidFill>
                <ns6:latin typeface="Arial"/>
                <ns6:ea typeface="Arial"/>
                <ns6:cs typeface="Arial"/>
              </ns6:rPr>
              <ns6:t>Check your name or ID and both pages.</ns6:t>
            </ns6:r>
          </ns6:p>
        </p:txBody>
      </p:sp>
      <p:sp>
        <p:nvSpPr>
          <p:cNvPr id="20" name="step-number-1">
            <a:extLst xmlns:a="http://schemas.openxmlformats.org/drawingml/2006/main">
              <a:ext uri="{FF2B5EF4-FFF2-40B4-BE49-F238E27FC236}">
                <a16:creationId xmlns:a16="http://schemas.microsoft.com/office/drawing/2014/main" id="{C413AB4A-46AA-4E82-B169-6983E9E0B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6465"/>
            <a:ext cx="438150" cy="3486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defPPr>
            <a:lvl1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1pPr>
            <a:lvl2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2pPr>
            <a:lvl3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3pPr>
            <a:lvl4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4pPr>
            <a:lvl5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5pPr>
            <a:lvl6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6pPr>
            <a:lvl7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7pPr>
            <a:lvl8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8pPr>
            <a:lvl9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76A6A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1" name="body-1">
            <a:extLst xmlns:a="http://schemas.openxmlformats.org/drawingml/2006/main">
              <a:ext uri="{FF2B5EF4-FFF2-40B4-BE49-F238E27FC236}">
                <a16:creationId xmlns:a16="http://schemas.microsoft.com/office/drawing/2014/main" id="{7C8BF745-D880-47F7-B45F-9EF87BFBF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196465"/>
            <a:ext cx="1038225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7:p xmlns:ns7="http://schemas.openxmlformats.org/drawingml/2006/main">
            <ns7:pPr algn="l">
              <ns7:defRPr sz="2250" b="0">
                <ns7:solidFill>
                  <ns7:srgbClr val="17384A"/>
                </ns7:solidFill>
                <ns7:latin typeface="Arial"/>
                <ns7:ea typeface="Arial"/>
                <ns7:cs typeface="Arial"/>
              </ns7:defRPr>
            </ns7:pPr>
            <ns7:r>
              <ns7:rPr sz="2250" b="0">
                <ns7:solidFill>
                  <ns7:srgbClr val="17384A"/>
                </ns7:solidFill>
                <ns7:latin typeface="Arial"/>
                <ns7:ea typeface="Arial"/>
                <ns7:cs typeface="Arial"/>
              </ns7:rPr>
              <ns7:t>Keep your work and record the help used.</ns7:t>
            </ns7:r>
          </ns7:p>
        </p:txBody>
      </p:sp>
      <p:sp>
        <p:nvSpPr>
          <p:cNvPr id="22" name="step-number-2">
            <a:extLst xmlns:a="http://schemas.openxmlformats.org/drawingml/2006/main">
              <a:ext uri="{FF2B5EF4-FFF2-40B4-BE49-F238E27FC236}">
                <a16:creationId xmlns:a16="http://schemas.microsoft.com/office/drawing/2014/main" id="{8ACC7B68-7ACB-459D-9247-0B3147F1F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6530"/>
            <a:ext cx="438150" cy="3486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defPPr>
            <a:lvl1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1pPr>
            <a:lvl2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2pPr>
            <a:lvl3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3pPr>
            <a:lvl4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4pPr>
            <a:lvl5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5pPr>
            <a:lvl6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6pPr>
            <a:lvl7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7pPr>
            <a:lvl8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8pPr>
            <a:lvl9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76A6A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3" name="body-2">
            <a:extLst xmlns:a="http://schemas.openxmlformats.org/drawingml/2006/main">
              <a:ext uri="{FF2B5EF4-FFF2-40B4-BE49-F238E27FC236}">
                <a16:creationId xmlns:a16="http://schemas.microsoft.com/office/drawing/2014/main" id="{31AFDBC3-92F9-4C91-941F-C1B505420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16530"/>
            <a:ext cx="1038225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8:p xmlns:ns8="http://schemas.openxmlformats.org/drawingml/2006/main">
            <ns8:pPr algn="l">
              <ns8:defRPr sz="2250" b="0">
                <ns8:solidFill>
                  <ns8:srgbClr val="17384A"/>
                </ns8:solidFill>
                <ns8:latin typeface="Arial"/>
                <ns8:ea typeface="Arial"/>
                <ns8:cs typeface="Arial"/>
              </ns8:defRPr>
            </ns8:pPr>
            <ns8:r>
              <ns8:rPr sz="2250" b="0">
                <ns8:solidFill>
                  <ns8:srgbClr val="17384A"/>
                </ns8:solidFill>
                <ns8:latin typeface="Arial"/>
                <ns8:ea typeface="Arial"/>
                <ns8:cs typeface="Arial"/>
              </ns8:rPr>
              <ns8:t>Put resources away safely.</ns8:t>
            </ns8:r>
          </ns8:p>
        </p:txBody>
      </p:sp>
      <p:sp>
        <p:nvSpPr>
          <p:cNvPr id="24" name="step-number-3">
            <a:extLst xmlns:a="http://schemas.openxmlformats.org/drawingml/2006/main">
              <a:ext uri="{FF2B5EF4-FFF2-40B4-BE49-F238E27FC236}">
                <a16:creationId xmlns:a16="http://schemas.microsoft.com/office/drawing/2014/main" id="{21BDBCB0-4ED5-4F35-ADB5-9F2511A34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6595"/>
            <a:ext cx="438150" cy="3486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defPPr>
            <a:lvl1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1pPr>
            <a:lvl2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2pPr>
            <a:lvl3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3pPr>
            <a:lvl4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4pPr>
            <a:lvl5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5pPr>
            <a:lvl6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6pPr>
            <a:lvl7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7pPr>
            <a:lvl8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8pPr>
            <a:lvl9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76A6A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5" name="body-3">
            <a:extLst xmlns:a="http://schemas.openxmlformats.org/drawingml/2006/main">
              <a:ext uri="{FF2B5EF4-FFF2-40B4-BE49-F238E27FC236}">
                <a16:creationId xmlns:a16="http://schemas.microsoft.com/office/drawing/2014/main" id="{11DBDF86-9217-4206-908E-A4E9A9C07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236595"/>
            <a:ext cx="1038225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9:p xmlns:ns9="http://schemas.openxmlformats.org/drawingml/2006/main">
            <ns9:pPr algn="l">
              <ns9:defRPr sz="2250" b="0">
                <ns9:solidFill>
                  <ns9:srgbClr val="17384A"/>
                </ns9:solidFill>
                <ns9:latin typeface="Arial"/>
                <ns9:ea typeface="Arial"/>
                <ns9:cs typeface="Arial"/>
              </ns9:defRPr>
            </ns9:pPr>
            <ns9:r>
              <ns9:rPr sz="2250" b="0">
                <ns9:solidFill>
                  <ns9:srgbClr val="17384A"/>
                </ns9:solidFill>
                <ns9:latin typeface="Arial"/>
                <ns9:ea typeface="Arial"/>
                <ns9:cs typeface="Arial"/>
              </ns9:rPr>
              <ns9:t>Tell the adult your next step.</ns9:t>
            </ns9:r>
          </ns9:p>
        </p:txBody>
      </p:sp>
    </p:spTree>
    <p:extLst>
      <p:ext uri="{BB962C8B-B14F-4D97-AF65-F5344CB8AC3E}">
        <p14:creationId xmlns:p14="http://schemas.microsoft.com/office/powerpoint/2010/main" val="65731375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ide-rule">
            <a:extLst xmlns:a="http://schemas.openxmlformats.org/drawingml/2006/main">
              <a:ext uri="{FF2B5EF4-FFF2-40B4-BE49-F238E27FC236}">
                <a16:creationId xmlns:a16="http://schemas.microsoft.com/office/drawing/2014/main" id="{59C9C49A-1ECE-4C68-AA48-8F45006DD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E9D7B1B8-710A-4637-AD51-BB394286B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0:p xmlns:ns0="http://schemas.openxmlformats.org/drawingml/2006/main">
            <ns0:pPr algn="l">
              <ns0:buNone/>
              <ns0:def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defRPr>
            </ns0:pPr>
            <ns0:r>
              <ns0: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rPr>
              <ns0:t>EXIT TICKET</ns0:t>
            </ns0:r>
          </ns0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66109A82-556F-4CF9-B5DC-048C49CC5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1:p xmlns:ns1="http://schemas.openxmlformats.org/drawingml/2006/main">
            <ns1:pPr algn="r">
              <ns1:buNone/>
              <ns1:def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defRPr>
            </ns1:pPr>
            <ns1:r>
              <ns1: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rPr>
              <ns1:t>10 / 12  ·  2 min</ns1:t>
            </ns1:r>
          </ns1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4E39EA1-F3DB-4E05-BB09-794112D7B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5:p xmlns:ns5="http://schemas.openxmlformats.org/drawingml/2006/main">
            <ns5:pPr algn="l">
              <ns5:buNone/>
              <ns5:def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defRPr>
            </ns5:pPr>
            <ns5:r>
              <ns5: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rPr>
              <ns5:t>Exit ticket</ns5:t>
            </ns5:r>
          </ns5:p>
        </p:txBody>
      </p:sp>
      <p:sp>
        <p:nvSpPr>
          <p:cNvPr id="5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0A4497D4-A50A-4696-9DCC-0A2E8DE99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printed-id">
            <a:extLst xmlns:a="http://schemas.openxmlformats.org/drawingml/2006/main">
              <a:ext uri="{FF2B5EF4-FFF2-40B4-BE49-F238E27FC236}">
                <a16:creationId xmlns:a16="http://schemas.microsoft.com/office/drawing/2014/main" id="{932148A5-B336-4611-A94A-0D8133BB9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2:p xmlns:ns2="http://schemas.openxmlformats.org/drawingml/2006/main">
            <ns2:pPr algn="l">
              <ns2:buNone/>
              <ns2:def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defRPr>
            </ns2:pPr>
            <ns2:r>
              <ns2: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rPr>
              <ns2:t>DT-LAUNCH-A2-W03</ns2:t>
            </ns2:r>
          </ns2:p>
        </p:txBody>
      </p:sp>
      <p:sp>
        <p:nvSpPr>
          <p:cNvPr id="10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5BDFC492-DAA3-45FD-974E-5934DD86E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3:p xmlns:ns3="http://schemas.openxmlformats.org/drawingml/2006/main">
            <ns3:pPr algn="r">
              <ns3:buNone/>
              <ns3:def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defRPr>
            </ns3:pPr>
            <ns3:r>
              <ns3: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rPr>
              <ns3:t>Public edition</ns3:t>
            </ns3:r>
          </ns3:p>
        </p:txBody>
      </p:sp>
      <p:sp>
        <p:nvSpPr>
          <p:cNvPr id="11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684DD80D-ABF7-4E04-914D-90124C593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4:p xmlns:ns4="http://schemas.openxmlformats.org/drawingml/2006/main">
            <ns4:pPr algn="l">
              <ns4:buNone/>
              <ns4:def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defRPr>
            </ns4:pPr>
            <ns4:r>
              <ns4: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rPr>
              <ns4:t>Made by Matt · © Matt Roper · CC BY-NC-SA 4.0: free for classroom use, share and adapt with credit, no resale</ns4:t>
            </ns4:r>
          </ns4:p>
        </p:txBody>
      </p:sp>
      <p:sp>
        <p:nvSpPr>
          <p:cNvPr id="13" name="body-0">
            <a:extLst xmlns:a="http://schemas.openxmlformats.org/drawingml/2006/main">
              <a:ext uri="{FF2B5EF4-FFF2-40B4-BE49-F238E27FC236}">
                <a16:creationId xmlns:a16="http://schemas.microsoft.com/office/drawing/2014/main" id="{65D257E5-CECE-41DE-9AB8-111EC1B09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6:p xmlns:ns6="http://schemas.openxmlformats.org/drawingml/2006/main">
            <ns6:pPr algn="l">
              <ns6:defRPr sz="2250" b="0">
                <ns6:solidFill>
                  <ns6:srgbClr val="17384A"/>
                </ns6:solidFill>
                <ns6:latin typeface="Arial"/>
                <ns6:ea typeface="Arial"/>
                <ns6:cs typeface="Arial"/>
              </ns6:defRPr>
            </ns6:pPr>
            <ns6:r>
              <ns6:rPr sz="2250" b="0">
                <ns6:solidFill>
                  <ns6:srgbClr val="17384A"/>
                </ns6:solidFill>
                <ns6:latin typeface="Arial"/>
                <ns6:ea typeface="Arial"/>
                <ns6:cs typeface="Arial"/>
              </ns6:rPr>
              <ns6:t>What part of your plan did you use?</ns6:t>
            </ns6:r>
          </ns6:p>
        </p:txBody>
      </p:sp>
      <p:sp>
        <p:nvSpPr>
          <p:cNvPr id="14" name="body-1">
            <a:extLst xmlns:a="http://schemas.openxmlformats.org/drawingml/2006/main">
              <a:ext uri="{FF2B5EF4-FFF2-40B4-BE49-F238E27FC236}">
                <a16:creationId xmlns:a16="http://schemas.microsoft.com/office/drawing/2014/main" id="{6F4C84B4-AD02-4D06-85D4-17AEF7372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6465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7:p xmlns:ns7="http://schemas.openxmlformats.org/drawingml/2006/main">
            <ns7:pPr algn="l">
              <ns7:defRPr sz="2250" b="0">
                <ns7:solidFill>
                  <ns7:srgbClr val="17384A"/>
                </ns7:solidFill>
                <ns7:latin typeface="Arial"/>
                <ns7:ea typeface="Arial"/>
                <ns7:cs typeface="Arial"/>
              </ns7:defRPr>
            </ns7:pPr>
            <ns7:r>
              <ns7:rPr sz="2250" b="0">
                <ns7:solidFill>
                  <ns7:srgbClr val="17384A"/>
                </ns7:solidFill>
                <ns7:latin typeface="Arial"/>
                <ns7:ea typeface="Arial"/>
                <ns7:cs typeface="Arial"/>
              </ns7:rPr>
              <ns7:t>What did you check or change?</ns7:t>
            </ns7:r>
          </ns7:p>
        </p:txBody>
      </p:sp>
      <p:sp>
        <p:nvSpPr>
          <p:cNvPr id="15" name="body-2">
            <a:extLst xmlns:a="http://schemas.openxmlformats.org/drawingml/2006/main">
              <a:ext uri="{FF2B5EF4-FFF2-40B4-BE49-F238E27FC236}">
                <a16:creationId xmlns:a16="http://schemas.microsoft.com/office/drawing/2014/main" id="{B480E7FE-B5BC-4A66-80F3-704BD1D4F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6530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8:p xmlns:ns8="http://schemas.openxmlformats.org/drawingml/2006/main">
            <ns8:pPr algn="l">
              <ns8:defRPr sz="2250" b="0">
                <ns8:solidFill>
                  <ns8:srgbClr val="17384A"/>
                </ns8:solidFill>
                <ns8:latin typeface="Arial"/>
                <ns8:ea typeface="Arial"/>
                <ns8:cs typeface="Arial"/>
              </ns8:defRPr>
            </ns8:pPr>
            <ns8:r>
              <ns8:rPr sz="2250" b="0">
                <ns8:solidFill>
                  <ns8:srgbClr val="17384A"/>
                </ns8:solidFill>
                <ns8:latin typeface="Arial"/>
                <ns8:ea typeface="Arial"/>
                <ns8:cs typeface="Arial"/>
              </ns8:rPr>
              <ns8:t>What will you test next week?</ns8:t>
            </ns8:r>
          </ns8:p>
        </p:txBody>
      </p:sp>
    </p:spTree>
    <p:extLst>
      <p:ext uri="{BB962C8B-B14F-4D97-AF65-F5344CB8AC3E}">
        <p14:creationId xmlns:p14="http://schemas.microsoft.com/office/powerpoint/2010/main" val="2160463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ide-rule">
            <a:extLst xmlns:a="http://schemas.openxmlformats.org/drawingml/2006/main">
              <a:ext uri="{FF2B5EF4-FFF2-40B4-BE49-F238E27FC236}">
                <a16:creationId xmlns:a16="http://schemas.microsoft.com/office/drawing/2014/main" id="{D7E27DC8-5780-4C6F-967F-69F5095E0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10CD50A6-479A-42E3-9889-EC0655F08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0:p xmlns:ns0="http://schemas.openxmlformats.org/drawingml/2006/main">
            <ns0:pPr algn="l">
              <ns0:buNone/>
              <ns0:def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defRPr>
            </ns0:pPr>
            <ns0:r>
              <ns0: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rPr>
              <ns0:t>VOCABULARY</ns0:t>
            </ns0:r>
          </ns0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71513864-1F44-47A2-8AB0-36023EBE7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1:p xmlns:ns1="http://schemas.openxmlformats.org/drawingml/2006/main">
            <ns1:pPr algn="r">
              <ns1:buNone/>
              <ns1:def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defRPr>
            </ns1:pPr>
            <ns1:r>
              <ns1: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rPr>
              <ns1:t>11 / 12</ns1:t>
            </ns1:r>
          </ns1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0AC37AA-F3B2-4D83-838F-55D3F1781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5:p xmlns:ns5="http://schemas.openxmlformats.org/drawingml/2006/main">
            <ns5:pPr algn="l">
              <ns5:buNone/>
              <ns5:def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defRPr>
            </ns5:pPr>
            <ns5:r>
              <ns5: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rPr>
              <ns5:t>Words that help</ns5:t>
            </ns5:r>
          </ns5:p>
        </p:txBody>
      </p:sp>
      <p:sp>
        <p:nvSpPr>
          <p:cNvPr id="5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A88D4494-77DD-42F8-A953-8F665FD2C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rinted-id">
            <a:extLst xmlns:a="http://schemas.openxmlformats.org/drawingml/2006/main">
              <a:ext uri="{FF2B5EF4-FFF2-40B4-BE49-F238E27FC236}">
                <a16:creationId xmlns:a16="http://schemas.microsoft.com/office/drawing/2014/main" id="{A55B9542-E345-4C7A-A0EC-BB2D0E579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2:p xmlns:ns2="http://schemas.openxmlformats.org/drawingml/2006/main">
            <ns2:pPr algn="l">
              <ns2:buNone/>
              <ns2:def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defRPr>
            </ns2:pPr>
            <ns2:r>
              <ns2: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rPr>
              <ns2:t>DT-LAUNCH-A2-W03</ns2:t>
            </ns2:r>
          </ns2:p>
        </p:txBody>
      </p:sp>
      <p:sp>
        <p:nvSpPr>
          <p:cNvPr id="13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79C90A18-ACEE-4E26-A658-19337AA53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3:p xmlns:ns3="http://schemas.openxmlformats.org/drawingml/2006/main">
            <ns3:pPr algn="r">
              <ns3:buNone/>
              <ns3:def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defRPr>
            </ns3:pPr>
            <ns3:r>
              <ns3: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rPr>
              <ns3:t>Public edition</ns3:t>
            </ns3:r>
          </ns3:p>
        </p:txBody>
      </p:sp>
      <p:sp>
        <p:nvSpPr>
          <p:cNvPr id="14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B8C65DA7-B3D3-4863-BFEB-F8AC4C662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4:p xmlns:ns4="http://schemas.openxmlformats.org/drawingml/2006/main">
            <ns4:pPr algn="l">
              <ns4:buNone/>
              <ns4:def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defRPr>
            </ns4:pPr>
            <ns4:r>
              <ns4: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rPr>
              <ns4:t>Made by Matt · © Matt Roper · CC BY-NC-SA 4.0: free for classroom use, share and adapt with credit, no resale</ns4:t>
            </ns4:r>
          </ns4:p>
        </p:txBody>
      </p:sp>
      <p:sp>
        <p:nvSpPr>
          <p:cNvPr id="16" name="body-0">
            <a:extLst xmlns:a="http://schemas.openxmlformats.org/drawingml/2006/main">
              <a:ext uri="{FF2B5EF4-FFF2-40B4-BE49-F238E27FC236}">
                <a16:creationId xmlns:a16="http://schemas.microsoft.com/office/drawing/2014/main" id="{AD5ECC91-FF83-473B-A80F-A2DCEA5EA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52197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6:p xmlns:ns6="http://schemas.openxmlformats.org/drawingml/2006/main">
            <ns6:pPr algn="l">
              <ns6:defRPr sz="2025" b="0">
                <ns6:solidFill>
                  <ns6:srgbClr val="17384A"/>
                </ns6:solidFill>
                <ns6:latin typeface="Arial"/>
                <ns6:ea typeface="Arial"/>
                <ns6:cs typeface="Arial"/>
              </ns6:defRPr>
            </ns6:pPr>
            <ns6:r>
              <ns6:rPr sz="2025" b="0">
                <ns6:solidFill>
                  <ns6:srgbClr val="17384A"/>
                </ns6:solidFill>
                <ns6:latin typeface="Arial"/>
                <ns6:ea typeface="Arial"/>
                <ns6:cs typeface="Arial"/>
              </ns6:rPr>
              <ns6:t>Model: A small version of an idea.</ns6:t>
            </ns6:r>
          </ns6:p>
        </p:txBody>
      </p:sp>
      <p:sp>
        <p:nvSpPr>
          <p:cNvPr id="17" name="body-1">
            <a:extLst xmlns:a="http://schemas.openxmlformats.org/drawingml/2006/main">
              <a:ext uri="{FF2B5EF4-FFF2-40B4-BE49-F238E27FC236}">
                <a16:creationId xmlns:a16="http://schemas.microsoft.com/office/drawing/2014/main" id="{88C68CAC-CA38-4207-B855-B297B6EF2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329"/>
            <a:ext cx="5219700" cy="6751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7:p xmlns:ns7="http://schemas.openxmlformats.org/drawingml/2006/main">
            <ns7:pPr algn="l">
              <ns7:defRPr sz="2025" b="0">
                <ns7:solidFill>
                  <ns7:srgbClr val="17384A"/>
                </ns7:solidFill>
                <ns7:latin typeface="Arial"/>
                <ns7:ea typeface="Arial"/>
                <ns7:cs typeface="Arial"/>
              </ns7:defRPr>
            </ns7:pPr>
            <ns7:r>
              <ns7:rPr sz="2025" b="0">
                <ns7:solidFill>
                  <ns7:srgbClr val="17384A"/>
                </ns7:solidFill>
                <ns7:latin typeface="Arial"/>
                <ns7:ea typeface="Arial"/>
                <ns7:cs typeface="Arial"/>
              </ns7:rPr>
              <ns7:t>Fold: Bend along a line.</ns7:t>
            </ns7:r>
          </ns7:p>
        </p:txBody>
      </p:sp>
      <p:sp>
        <p:nvSpPr>
          <p:cNvPr id="18" name="body-2">
            <a:extLst xmlns:a="http://schemas.openxmlformats.org/drawingml/2006/main">
              <a:ext uri="{FF2B5EF4-FFF2-40B4-BE49-F238E27FC236}">
                <a16:creationId xmlns:a16="http://schemas.microsoft.com/office/drawing/2014/main" id="{98BB6F30-A928-488D-96C8-5767784E3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12961"/>
            <a:ext cx="5219700" cy="6751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8:p xmlns:ns8="http://schemas.openxmlformats.org/drawingml/2006/main">
            <ns8:pPr algn="l">
              <ns8:defRPr sz="2025" b="0">
                <ns8:solidFill>
                  <ns8:srgbClr val="17384A"/>
                </ns8:solidFill>
                <ns8:latin typeface="Arial"/>
                <ns8:ea typeface="Arial"/>
                <ns8:cs typeface="Arial"/>
              </ns8:defRPr>
            </ns8:pPr>
            <ns8:r>
              <ns8:rPr sz="2025" b="0">
                <ns8:solidFill>
                  <ns8:srgbClr val="17384A"/>
                </ns8:solidFill>
                <ns8:latin typeface="Arial"/>
                <ns8:ea typeface="Arial"/>
                <ns8:cs typeface="Arial"/>
              </ns8:rPr>
              <ns8:t>Panel: One flat part.</ns8:t>
            </ns8:r>
          </ns8:p>
        </p:txBody>
      </p:sp>
      <p:sp>
        <p:nvSpPr>
          <p:cNvPr id="19" name="body-3">
            <a:extLst xmlns:a="http://schemas.openxmlformats.org/drawingml/2006/main">
              <a:ext uri="{FF2B5EF4-FFF2-40B4-BE49-F238E27FC236}">
                <a16:creationId xmlns:a16="http://schemas.microsoft.com/office/drawing/2014/main" id="{C20DEC5F-CD4B-4158-AF0D-E60254BF4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78593"/>
            <a:ext cx="52197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9:p xmlns:ns9="http://schemas.openxmlformats.org/drawingml/2006/main">
            <ns9:pPr algn="l">
              <ns9:defRPr sz="2025" b="0">
                <ns9:solidFill>
                  <ns9:srgbClr val="17384A"/>
                </ns9:solidFill>
                <ns9:latin typeface="Arial"/>
                <ns9:ea typeface="Arial"/>
                <ns9:cs typeface="Arial"/>
              </ns9:defRPr>
            </ns9:pPr>
            <ns9:r>
              <ns9:rPr sz="2025" b="0">
                <ns9:solidFill>
                  <ns9:srgbClr val="17384A"/>
                </ns9:solidFill>
                <ns9:latin typeface="Arial"/>
                <ns9:ea typeface="Arial"/>
                <ns9:cs typeface="Arial"/>
              </ns9:rPr>
              <ns9:t>Crease: The line made by a fold.</ns9:t>
            </ns9:r>
          </ns9:p>
        </p:txBody>
      </p:sp>
      <p:sp>
        <p:nvSpPr>
          <p:cNvPr id="20" name="body-0">
            <a:extLst xmlns:a="http://schemas.openxmlformats.org/drawingml/2006/main">
              <a:ext uri="{FF2B5EF4-FFF2-40B4-BE49-F238E27FC236}">
                <a16:creationId xmlns:a16="http://schemas.microsoft.com/office/drawing/2014/main" id="{E1D697A6-2187-411F-9F04-95AEDEFD8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695450"/>
            <a:ext cx="52197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10:p xmlns:ns10="http://schemas.openxmlformats.org/drawingml/2006/main">
            <ns10:pPr algn="l">
              <ns10:defRPr sz="2025" b="0">
                <ns10:solidFill>
                  <ns10:srgbClr val="17384A"/>
                </ns10:solidFill>
                <ns10:latin typeface="Arial"/>
                <ns10:ea typeface="Arial"/>
                <ns10:cs typeface="Arial"/>
              </ns10:defRPr>
            </ns10:pPr>
            <ns10:r>
              <ns10:rPr sz="2025" b="0">
                <ns10:solidFill>
                  <ns10:srgbClr val="17384A"/>
                </ns10:solidFill>
                <ns10:latin typeface="Arial"/>
                <ns10:ea typeface="Arial"/>
                <ns10:cs typeface="Arial"/>
              </ns10:rPr>
              <ns10:t>Support: Holds something up.</ns10:t>
            </ns10:r>
          </ns10:p>
        </p:txBody>
      </p:sp>
      <p:sp>
        <p:nvSpPr>
          <p:cNvPr id="21" name="body-1">
            <a:extLst xmlns:a="http://schemas.openxmlformats.org/drawingml/2006/main">
              <a:ext uri="{FF2B5EF4-FFF2-40B4-BE49-F238E27FC236}">
                <a16:creationId xmlns:a16="http://schemas.microsoft.com/office/drawing/2014/main" id="{CBDB7742-827E-4DF1-ADBF-52ACD82E8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247329"/>
            <a:ext cx="52197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11:p xmlns:ns11="http://schemas.openxmlformats.org/drawingml/2006/main">
            <ns11:pPr algn="l">
              <ns11:defRPr sz="2025" b="0">
                <ns11:solidFill>
                  <ns11:srgbClr val="17384A"/>
                </ns11:solidFill>
                <ns11:latin typeface="Arial"/>
                <ns11:ea typeface="Arial"/>
                <ns11:cs typeface="Arial"/>
              </ns11:defRPr>
            </ns11:pPr>
            <ns11:r>
              <ns11:rPr sz="2025" b="0">
                <ns11:solidFill>
                  <ns11:srgbClr val="17384A"/>
                </ns11:solidFill>
                <ns11:latin typeface="Arial"/>
                <ns11:ea typeface="Arial"/>
                <ns11:cs typeface="Arial"/>
              </ns11:rPr>
              <ns11:t>Span: The gap a bridge crosses.</ns11:t>
            </ns11:r>
          </ns11:p>
        </p:txBody>
      </p:sp>
      <p:sp>
        <p:nvSpPr>
          <p:cNvPr id="22" name="body-2">
            <a:extLst xmlns:a="http://schemas.openxmlformats.org/drawingml/2006/main">
              <a:ext uri="{FF2B5EF4-FFF2-40B4-BE49-F238E27FC236}">
                <a16:creationId xmlns:a16="http://schemas.microsoft.com/office/drawing/2014/main" id="{6E4AC5B5-5DB5-4AFD-A540-86B794517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799207"/>
            <a:ext cx="52197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12:p xmlns:ns12="http://schemas.openxmlformats.org/drawingml/2006/main">
            <ns12:pPr algn="l">
              <ns12:defRPr sz="2025" b="0">
                <ns12:solidFill>
                  <ns12:srgbClr val="17384A"/>
                </ns12:solidFill>
                <ns12:latin typeface="Arial"/>
                <ns12:ea typeface="Arial"/>
                <ns12:cs typeface="Arial"/>
              </ns12:defRPr>
            </ns12:pPr>
            <ns12:r>
              <ns12:rPr sz="2025" b="0">
                <ns12:solidFill>
                  <ns12:srgbClr val="17384A"/>
                </ns12:solidFill>
                <ns12:latin typeface="Arial"/>
                <ns12:ea typeface="Arial"/>
                <ns12:cs typeface="Arial"/>
              </ns12:rPr>
              <ns12:t>Fit: Match the needed space.</ns12:t>
            </ns12:r>
          </ns12:p>
        </p:txBody>
      </p:sp>
    </p:spTree>
    <p:extLst>
      <p:ext uri="{BB962C8B-B14F-4D97-AF65-F5344CB8AC3E}">
        <p14:creationId xmlns:p14="http://schemas.microsoft.com/office/powerpoint/2010/main" val="1724659072"/>
      </p:ext>
    </p:extLst>
  </p:cSld>
</p:sld>
</file>

<file path=ppt/slides/slide12.xml><?xml version="1.0" encoding="utf-8"?>
<p:sld xmlns:p="http://schemas.openxmlformats.org/presentationml/2006/main" show="0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ide-rule">
            <a:extLst xmlns:a="http://schemas.openxmlformats.org/drawingml/2006/main">
              <a:ext uri="{FF2B5EF4-FFF2-40B4-BE49-F238E27FC236}">
                <a16:creationId xmlns:a16="http://schemas.microsoft.com/office/drawing/2014/main" id="{506853DF-EDE9-47DE-B379-5CA30FE01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9C5D01BA-4C5C-4CC7-8930-4470E839F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0:p xmlns:ns0="http://schemas.openxmlformats.org/drawingml/2006/main">
            <ns0:pPr algn="l">
              <ns0:buNone/>
              <ns0:def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defRPr>
            </ns0:pPr>
            <ns0:r>
              <ns0: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rPr>
              <ns0:t>STAFF BRIEF</ns0:t>
            </ns0:r>
          </ns0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6935380F-44D1-4452-83AA-C691894F8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1:p xmlns:ns1="http://schemas.openxmlformats.org/drawingml/2006/main">
            <ns1:pPr algn="r">
              <ns1:buNone/>
              <ns1:def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defRPr>
            </ns1:pPr>
            <ns1:r>
              <ns1: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rPr>
              <ns1:t>12 / 12</ns1:t>
            </ns1:r>
          </ns1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509DD9B-423A-4951-96E4-2F49524E3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5:p xmlns:ns5="http://schemas.openxmlformats.org/drawingml/2006/main">
            <ns5:pPr algn="l">
              <ns5:buNone/>
              <ns5:def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defRPr>
            </ns5:pPr>
            <ns5:r>
              <ns5: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rPr>
              <ns5:t>Staff brief</ns5:t>
            </ns5:r>
          </ns5:p>
        </p:txBody>
      </p:sp>
      <p:sp>
        <p:nvSpPr>
          <p:cNvPr id="5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CD306737-F981-46D9-9315-54D5AE4B7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rinted-id">
            <a:extLst xmlns:a="http://schemas.openxmlformats.org/drawingml/2006/main">
              <a:ext uri="{FF2B5EF4-FFF2-40B4-BE49-F238E27FC236}">
                <a16:creationId xmlns:a16="http://schemas.microsoft.com/office/drawing/2014/main" id="{515AEF30-6294-44DB-81F6-F3CB66FDC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2:p xmlns:ns2="http://schemas.openxmlformats.org/drawingml/2006/main">
            <ns2:pPr algn="l">
              <ns2:buNone/>
              <ns2:def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defRPr>
            </ns2:pPr>
            <ns2:r>
              <ns2: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rPr>
              <ns2:t>DT-LAUNCH-A2-W03</ns2:t>
            </ns2:r>
          </ns2:p>
        </p:txBody>
      </p:sp>
      <p:sp>
        <p:nvSpPr>
          <p:cNvPr id="12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9F510AFB-D341-4DF2-B29D-CEE167391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3:p xmlns:ns3="http://schemas.openxmlformats.org/drawingml/2006/main">
            <ns3:pPr algn="r">
              <ns3:buNone/>
              <ns3:def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defRPr>
            </ns3:pPr>
            <ns3:r>
              <ns3: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rPr>
              <ns3:t>Public edition</ns3:t>
            </ns3:r>
          </ns3:p>
        </p:txBody>
      </p:sp>
      <p:sp>
        <p:nvSpPr>
          <p:cNvPr id="13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594BF42D-B6E5-41F7-A227-2AD8399D7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4:p xmlns:ns4="http://schemas.openxmlformats.org/drawingml/2006/main">
            <ns4:pPr algn="l">
              <ns4:buNone/>
              <ns4:def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defRPr>
            </ns4:pPr>
            <ns4:r>
              <ns4: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rPr>
              <ns4:t>Made by Matt · © Matt Roper · CC BY-NC-SA 4.0: free for classroom use, share and adapt with credit, no resale</ns4:t>
            </ns4:r>
          </ns4:p>
        </p:txBody>
      </p:sp>
      <p:sp>
        <p:nvSpPr>
          <p:cNvPr id="15" name="body-0">
            <a:extLst xmlns:a="http://schemas.openxmlformats.org/drawingml/2006/main">
              <a:ext uri="{FF2B5EF4-FFF2-40B4-BE49-F238E27FC236}">
                <a16:creationId xmlns:a16="http://schemas.microsoft.com/office/drawing/2014/main" id="{61E01433-5B72-41AB-B4BB-59FA79C62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6:p xmlns:ns6="http://schemas.openxmlformats.org/drawingml/2006/main">
            <ns6:pPr algn="l">
              <ns6:defRPr sz="2025" b="0">
                <ns6:solidFill>
                  <ns6:srgbClr val="17384A"/>
                </ns6:solidFill>
                <ns6:latin typeface="Arial"/>
                <ns6:ea typeface="Arial"/>
                <ns6:cs typeface="Arial"/>
              </ns6:defRPr>
            </ns6:pPr>
            <ns6:r>
              <ns6:rPr sz="2025" b="0">
                <ns6:solidFill>
                  <ns6:srgbClr val="17384A"/>
                </ns6:solidFill>
                <ns6:latin typeface="Arial"/>
                <ns6:ea typeface="Arial"/>
                <ns6:cs typeface="Arial"/>
              </ns6:rPr>
              <ns6:t>Read the planner and local support route.</ns6:t>
            </ns6:r>
          </ns6:p>
        </p:txBody>
      </p:sp>
      <p:sp>
        <p:nvSpPr>
          <p:cNvPr id="16" name="body-1">
            <a:extLst xmlns:a="http://schemas.openxmlformats.org/drawingml/2006/main">
              <a:ext uri="{FF2B5EF4-FFF2-40B4-BE49-F238E27FC236}">
                <a16:creationId xmlns:a16="http://schemas.microsoft.com/office/drawing/2014/main" id="{365D8A69-7368-41E6-901B-C63D11968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23504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7:p xmlns:ns7="http://schemas.openxmlformats.org/drawingml/2006/main">
            <ns7:pPr algn="l">
              <ns7:defRPr sz="2025" b="0">
                <ns7:solidFill>
                  <ns7:srgbClr val="17384A"/>
                </ns7:solidFill>
                <ns7:latin typeface="Arial"/>
                <ns7:ea typeface="Arial"/>
                <ns7:cs typeface="Arial"/>
              </ns7:defRPr>
            </ns7:pPr>
            <ns7:r>
              <ns7:rPr sz="2025" b="0">
                <ns7:solidFill>
                  <ns7:srgbClr val="17384A"/>
                </ns7:solidFill>
                <ns7:latin typeface="Arial"/>
                <ns7:ea typeface="Arial"/>
                <ns7:cs typeface="Arial"/>
              </ns7:rPr>
              <ns7:t>Use the task limits and right to pass.</ns7:t>
            </ns7:r>
          </ns7:p>
        </p:txBody>
      </p:sp>
      <p:sp>
        <p:nvSpPr>
          <p:cNvPr id="17" name="body-2">
            <a:extLst xmlns:a="http://schemas.openxmlformats.org/drawingml/2006/main">
              <a:ext uri="{FF2B5EF4-FFF2-40B4-BE49-F238E27FC236}">
                <a16:creationId xmlns:a16="http://schemas.microsoft.com/office/drawing/2014/main" id="{FE40F02C-1AC4-41E6-88B9-54CB5E2D1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0607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8:p xmlns:ns8="http://schemas.openxmlformats.org/drawingml/2006/main">
            <ns8:pPr algn="l">
              <ns8:defRPr sz="2025" b="0">
                <ns8:solidFill>
                  <ns8:srgbClr val="17384A"/>
                </ns8:solidFill>
                <ns8:latin typeface="Arial"/>
                <ns8:ea typeface="Arial"/>
                <ns8:cs typeface="Arial"/>
              </ns8:defRPr>
            </ns8:pPr>
            <ns8:r>
              <ns8:rPr sz="2025" b="0">
                <ns8:solidFill>
                  <ns8:srgbClr val="17384A"/>
                </ns8:solidFill>
                <ns8:latin typeface="Arial"/>
                <ns8:ea typeface="Arial"/>
                <ns8:cs typeface="Arial"/>
              </ns8:rPr>
              <ns8:t>TA: scribe exact words; record physical help.</ns8:t>
            </ns8:r>
          </ns8:p>
        </p:txBody>
      </p:sp>
      <p:sp>
        <p:nvSpPr>
          <p:cNvPr id="18" name="body-3">
            <a:extLst xmlns:a="http://schemas.openxmlformats.org/drawingml/2006/main">
              <a:ext uri="{FF2B5EF4-FFF2-40B4-BE49-F238E27FC236}">
                <a16:creationId xmlns:a16="http://schemas.microsoft.com/office/drawing/2014/main" id="{09F7BA08-B0D3-407F-B420-DAE0E9FF1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17711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9:p xmlns:ns9="http://schemas.openxmlformats.org/drawingml/2006/main">
            <ns9:pPr algn="l">
              <ns9:defRPr sz="2025" b="0">
                <ns9:solidFill>
                  <ns9:srgbClr val="17384A"/>
                </ns9:solidFill>
                <ns9:latin typeface="Arial"/>
                <ns9:ea typeface="Arial"/>
                <ns9:cs typeface="Arial"/>
              </ns9:defRPr>
            </ns9:pPr>
            <ns9:r>
              <ns9:rPr sz="2025" b="0">
                <ns9:solidFill>
                  <ns9:srgbClr val="17384A"/>
                </ns9:solidFill>
                <ns9:latin typeface="Arial"/>
                <ns9:ea typeface="Arial"/>
                <ns9:cs typeface="Arial"/>
              </ns9:rPr>
              <ns9:t>Keep each learner’s own evidence.</ns9:t>
            </ns9:r>
          </ns9:p>
        </p:txBody>
      </p:sp>
      <p:sp>
        <p:nvSpPr>
          <p:cNvPr id="19" name="body-4">
            <a:extLst xmlns:a="http://schemas.openxmlformats.org/drawingml/2006/main">
              <a:ext uri="{FF2B5EF4-FFF2-40B4-BE49-F238E27FC236}">
                <a16:creationId xmlns:a16="http://schemas.microsoft.com/office/drawing/2014/main" id="{80AE7E45-3807-4F32-B830-F0825E0A9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64814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10:p xmlns:ns10="http://schemas.openxmlformats.org/drawingml/2006/main">
            <ns10:pPr algn="l">
              <ns10:defRPr sz="2025" b="0">
                <ns10:solidFill>
                  <ns10:srgbClr val="17384A"/>
                </ns10:solidFill>
                <ns10:latin typeface="Arial"/>
                <ns10:ea typeface="Arial"/>
                <ns10:cs typeface="Arial"/>
              </ns10:defRPr>
            </ns10:pPr>
            <ns10:r>
              <ns10:rPr sz="2025" b="0">
                <ns10:solidFill>
                  <ns10:srgbClr val="17384A"/>
                </ns10:solidFill>
                <ns10:latin typeface="Arial"/>
                <ns10:ea typeface="Arial"/>
                <ns10:cs typeface="Arial"/>
              </ns10:rPr>
              <ns10:t>Lundy: Space, Voice, Audience, Influence.</ns10:t>
            </ns10:r>
          </ns10:p>
        </p:txBody>
      </p:sp>
    </p:spTree>
    <p:extLst>
      <p:ext uri="{BB962C8B-B14F-4D97-AF65-F5344CB8AC3E}">
        <p14:creationId xmlns:p14="http://schemas.microsoft.com/office/powerpoint/2010/main" val="1752919071"/>
      </p:ext>
    </p:extLst>
  </p:cSld>
</p:sld>
</file>

<file path=ppt/theme/theme1.xml><?xml version="1.0" encoding="utf-8"?>
<a:theme xmlns:a="http://schemas.openxmlformats.org/drawingml/2006/main" name="Lesson theme">
  <a:themeElements>
    <a:clrScheme name="Lesson them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Lesson them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[SYS]</ap:Application>
  <ap:PresentationFormat/>
  <ap:Slides>12</ap:Slides>
  <ap:Notes>12</ap:Notes>
  <ap:HiddenSlides>1</ap:HiddenSlides>
  <ap:SharedDoc>false</ap:SharedDoc>
  <ap:DocSecurity>0</ap:DocSecurity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Lesson resource</dc:creator>
  <dc:title>Build my card bridge model</dc:title>
  <dc:subject>DT-LAUNCH-A2-W03</dc:subject>
  <cp:lastModifiedBy/>
  <dc:description>Design &amp; Technology Autumn 2 Week 3</dc:description>
  <cp:keywords/>
</cp:coreProperties>
</file>