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821a22717d47c1" /><Relationship Type="http://schemas.openxmlformats.org/officeDocument/2006/relationships/extended-properties" Target="/docProps/app.xml" Id="R7328ba858dae45a5" /><Relationship Type="http://schemas.openxmlformats.org/officeDocument/2006/relationships/officeDocument" Target="/ppt/presentation.xml" Id="R11783ed1ebbb4633" /></Relationships>
</file>

<file path=ppt/presentation.xml><?xml version="1.0" encoding="utf-8"?>
<p:presentation xmlns:p="http://schemas.openxmlformats.org/presentationml/2006/main">
  <p:sldMasterIdLst>
    <p:sldMasterId xmlns:r="http://schemas.openxmlformats.org/officeDocument/2006/relationships" id="2147483648" r:id="R708f9a5d9c7d4653"/>
  </p:sldMasterIdLst>
  <p:notesMasterIdLst>
    <p:notesMasterId xmlns:r="http://schemas.openxmlformats.org/officeDocument/2006/relationships" r:id="R9772fe8649454abb"/>
  </p:notesMasterIdLst>
  <p:sldIdLst>
    <p:sldId xmlns:r="http://schemas.openxmlformats.org/officeDocument/2006/relationships" id="256" r:id="Re7ccacd1f6b84f24"/>
    <p:sldId xmlns:r="http://schemas.openxmlformats.org/officeDocument/2006/relationships" id="257" r:id="R1c15f973264c4675"/>
    <p:sldId xmlns:r="http://schemas.openxmlformats.org/officeDocument/2006/relationships" id="258" r:id="Rbc87a611d6f540a5"/>
    <p:sldId xmlns:r="http://schemas.openxmlformats.org/officeDocument/2006/relationships" id="259" r:id="R1df139e19de743ab"/>
    <p:sldId xmlns:r="http://schemas.openxmlformats.org/officeDocument/2006/relationships" id="260" r:id="R77f85ac48df04afc"/>
    <p:sldId xmlns:r="http://schemas.openxmlformats.org/officeDocument/2006/relationships" id="261" r:id="R7f25da28cc404204"/>
    <p:sldId xmlns:r="http://schemas.openxmlformats.org/officeDocument/2006/relationships" id="262" r:id="R508fe0df67f8430a"/>
    <p:sldId xmlns:r="http://schemas.openxmlformats.org/officeDocument/2006/relationships" id="263" r:id="R677e5283633249f2"/>
    <p:sldId xmlns:r="http://schemas.openxmlformats.org/officeDocument/2006/relationships" id="264" r:id="R7da4ce76216b4145"/>
    <p:sldId xmlns:r="http://schemas.openxmlformats.org/officeDocument/2006/relationships" id="265" r:id="Rad9e1acea1ff44ac"/>
    <p:sldId xmlns:r="http://schemas.openxmlformats.org/officeDocument/2006/relationships" id="266" r:id="R013a323193144d30"/>
    <p:sldId xmlns:r="http://schemas.openxmlformats.org/officeDocument/2006/relationships" id="267" r:id="R30a35ad86e48434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00a98618f843f1" /><Relationship Type="http://schemas.openxmlformats.org/officeDocument/2006/relationships/slideMaster" Target="/ppt/slideMasters/slideMaster1.xml" Id="R708f9a5d9c7d4653" /><Relationship Type="http://schemas.openxmlformats.org/officeDocument/2006/relationships/notesMaster" Target="/ppt/notesMasters/notesMaster1.xml" Id="R9772fe8649454abb" /><Relationship Type="http://schemas.openxmlformats.org/officeDocument/2006/relationships/presProps" Target="/ppt/presProps.xml" Id="Rf48176dd975b4548" /><Relationship Type="http://schemas.openxmlformats.org/officeDocument/2006/relationships/tableStyles" Target="/ppt/tableStyles.xml" Id="R94b4ba214f354ff0" /><Relationship Type="http://schemas.openxmlformats.org/officeDocument/2006/relationships/slide" Target="/ppt/slides/slide1.xml" Id="Re7ccacd1f6b84f24" /><Relationship Type="http://schemas.openxmlformats.org/officeDocument/2006/relationships/slide" Target="/ppt/slides/slide2.xml" Id="R1c15f973264c4675" /><Relationship Type="http://schemas.openxmlformats.org/officeDocument/2006/relationships/slide" Target="/ppt/slides/slide3.xml" Id="Rbc87a611d6f540a5" /><Relationship Type="http://schemas.openxmlformats.org/officeDocument/2006/relationships/slide" Target="/ppt/slides/slide4.xml" Id="R1df139e19de743ab" /><Relationship Type="http://schemas.openxmlformats.org/officeDocument/2006/relationships/slide" Target="/ppt/slides/slide5.xml" Id="R77f85ac48df04afc" /><Relationship Type="http://schemas.openxmlformats.org/officeDocument/2006/relationships/slide" Target="/ppt/slides/slide6.xml" Id="R7f25da28cc404204" /><Relationship Type="http://schemas.openxmlformats.org/officeDocument/2006/relationships/slide" Target="/ppt/slides/slide7.xml" Id="R508fe0df67f8430a" /><Relationship Type="http://schemas.openxmlformats.org/officeDocument/2006/relationships/slide" Target="/ppt/slides/slide8.xml" Id="R677e5283633249f2" /><Relationship Type="http://schemas.openxmlformats.org/officeDocument/2006/relationships/slide" Target="/ppt/slides/slide9.xml" Id="R7da4ce76216b4145" /><Relationship Type="http://schemas.openxmlformats.org/officeDocument/2006/relationships/slide" Target="/ppt/slides/slide10.xml" Id="Rad9e1acea1ff44ac" /><Relationship Type="http://schemas.openxmlformats.org/officeDocument/2006/relationships/slide" Target="/ppt/slides/slide11.xml" Id="R013a323193144d30" /><Relationship Type="http://schemas.openxmlformats.org/officeDocument/2006/relationships/slide" Target="/ppt/slides/slide12.xml" Id="R30a35ad86e4843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ad5a4b98f7428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69de74e1ec444dd" /><Relationship Type="http://schemas.openxmlformats.org/officeDocument/2006/relationships/notesMaster" Target="/ppt/notesMasters/notesMaster1.xml" Id="Rbf1404cf120043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a3af99984a4051" /><Relationship Type="http://schemas.openxmlformats.org/officeDocument/2006/relationships/notesMaster" Target="/ppt/notesMasters/notesMaster1.xml" Id="Rf02627eb110a4b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05b86aa26ea4204" /><Relationship Type="http://schemas.openxmlformats.org/officeDocument/2006/relationships/notesMaster" Target="/ppt/notesMasters/notesMaster1.xml" Id="R3e0c54e8b3d6427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848542880a45cd" /><Relationship Type="http://schemas.openxmlformats.org/officeDocument/2006/relationships/notesMaster" Target="/ppt/notesMasters/notesMaster1.xml" Id="Red1d4da03b5741f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c27b5a8f48e4ab5" /><Relationship Type="http://schemas.openxmlformats.org/officeDocument/2006/relationships/notesMaster" Target="/ppt/notesMasters/notesMaster1.xml" Id="Refdd93b9396047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b1acbf68ecd04ced" /><Relationship Type="http://schemas.openxmlformats.org/officeDocument/2006/relationships/notesMaster" Target="/ppt/notesMasters/notesMaster1.xml" Id="R86efbdbe56354611" /></Relationships>
</file>

<file path=ppt/notesSlides/_rels/notesSlide7.xml.rels>&#65279;<?xml version="1.0" encoding="utf-8"?><Relationships xmlns="http://schemas.openxmlformats.org/package/2006/relationships"><Relationship Type="http://schemas.openxmlformats.org/officeDocument/2006/relationships/slide" Target="/ppt/slides/slide7.xml" Id="R7d3f61a51e524f00" /><Relationship Type="http://schemas.openxmlformats.org/officeDocument/2006/relationships/notesMaster" Target="/ppt/notesMasters/notesMaster1.xml" Id="R08bf62975814472e" /></Relationships>
</file>

<file path=ppt/notesSlides/_rels/notesSlide8.xml.rels>&#65279;<?xml version="1.0" encoding="utf-8"?><Relationships xmlns="http://schemas.openxmlformats.org/package/2006/relationships"><Relationship Type="http://schemas.openxmlformats.org/officeDocument/2006/relationships/slide" Target="/ppt/slides/slide8.xml" Id="Rc535a4747e1a42de" /><Relationship Type="http://schemas.openxmlformats.org/officeDocument/2006/relationships/notesMaster" Target="/ppt/notesMasters/notesMaster1.xml" Id="Rc4cc0ef127e144e3" /></Relationships>
</file>

<file path=ppt/notesSlides/_rels/notesSlide9.xml.rels>&#65279;<?xml version="1.0" encoding="utf-8"?><Relationships xmlns="http://schemas.openxmlformats.org/package/2006/relationships"><Relationship Type="http://schemas.openxmlformats.org/officeDocument/2006/relationships/slide" Target="/ppt/slides/slide9.xml" Id="R4bae270e6b1c464a" /><Relationship Type="http://schemas.openxmlformats.org/officeDocument/2006/relationships/notesMaster" Target="/ppt/notesMasters/notesMaster1.xml" Id="R386eec8c2d614a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3c542450dfb49ca" /><Relationship Type="http://schemas.openxmlformats.org/officeDocument/2006/relationships/notesMaster" Target="/ppt/notesMasters/notesMaster1.xml" Id="R79c03c03fd884ef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e527eb259424b45" /><Relationship Type="http://schemas.openxmlformats.org/officeDocument/2006/relationships/notesMaster" Target="/ppt/notesMasters/notesMaster1.xml" Id="Re9233494b6de47d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b2731604a2a4f11" /><Relationship Type="http://schemas.openxmlformats.org/officeDocument/2006/relationships/notesMaster" Target="/ppt/notesMasters/notesMaster1.xml" Id="R4f6c7446c72746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CAREERS-LAUNCH-A2-W06 · Year A · Week beginning 7 December 2026</a:t>
            </a:r>
          </a:p>
          <a:p xmlns:a="http://schemas.openxmlformats.org/drawingml/2006/main">
            <a:r>
              <a:t>Term theme: Identity &amp; Belonging</a:t>
            </a:r>
          </a:p>
          <a:p xmlns:a="http://schemas.openxmlformats.org/drawingml/2006/main">
            <a:r>
              <a:t>Title and big question: 0 minutes.</a:t>
            </a:r>
          </a:p>
          <a:p xmlns:a="http://schemas.openxmlformats.org/drawingml/2006/main">
            <a:r>
              <a:t>Teacher: Open the title and read the big question before starting the timed sequence.</a:t>
            </a:r>
          </a:p>
          <a:p xmlns:a="http://schemas.openxmlformats.org/drawingml/2006/main">
            <a:r>
              <a:t>Support: read, scribe exact words or use the usual aid; record all prompts. Do not supply the assessed reason.</a:t>
            </a:r>
          </a:p>
          <a:p xmlns:a="http://schemas.openxmlformats.org/drawingml/2006/main">
            <a:r>
              <a:t>Evidence: An individual portfolio index linked to actual CV/application and supporting items, one evidence-based claim check, a preserved first version and learner-owned improvement, recorded support, visible gaps and a Week 7 next step.</a:t>
            </a:r>
          </a:p>
          <a:p xmlns:a="http://schemas.openxmlformats.org/drawingml/2006/main">
            <a:r>
              <a:t>Scheme: LAUNCH Weekly - Autumn!C114; LAUNCH - Autumn!C19, D19, I19, J19; revision uploaded-source-2026-08-10.</a:t>
            </a:r>
          </a:p>
          <a:p xmlns:a="http://schemas.openxmlformats.org/drawingml/2006/main">
            <a:r>
              <a:t>Careers: This helps me keep clear evidence ready for a work or training application.</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CAREERS-LAUNCH-A2-W06 · Year A · Week beginning 7 December 2026</a:t>
            </a:r>
          </a:p>
          <a:p xmlns:a="http://schemas.openxmlformats.org/drawingml/2006/main">
            <a:r>
              <a:t>Term theme: Identity &amp; Belonging</a:t>
            </a:r>
          </a:p>
          <a:p xmlns:a="http://schemas.openxmlformats.org/drawingml/2006/main">
            <a:r>
              <a:t>Arrival and regulation: 4 minutes.</a:t>
            </a:r>
          </a:p>
          <a:p xmlns:a="http://schemas.openxmlformats.org/drawingml/2006/main">
            <a:r>
              <a:t>Teacher: Offer a quiet check-in and support choice. The learner may pass on personal disclosure. Confirm the usual communication aid and a calm route back to the task.</a:t>
            </a:r>
          </a:p>
          <a:p xmlns:a="http://schemas.openxmlformats.org/drawingml/2006/main">
            <a:r>
              <a:t>Support: read, scribe exact words or use the usual aid; record all prompts. Do not supply the assessed reason.</a:t>
            </a:r>
          </a:p>
          <a:p xmlns:a="http://schemas.openxmlformats.org/drawingml/2006/main">
            <a:r>
              <a:t>Evidence: An individual portfolio index linked to actual CV/application and supporting items, one evidence-based claim check, a preserved first version and learner-owned improvement, recorded support, visible gaps and a Week 7 next step.</a:t>
            </a:r>
          </a:p>
          <a:p xmlns:a="http://schemas.openxmlformats.org/drawingml/2006/main">
            <a:r>
              <a:t>Scheme: LAUNCH Weekly - Autumn!C114; LAUNCH - Autumn!C19, D19, I19, J19; revision uploaded-source-2026-08-10.</a:t>
            </a:r>
          </a:p>
          <a:p xmlns:a="http://schemas.openxmlformats.org/drawingml/2006/main">
            <a:r>
              <a:t>Careers: This helps me keep clear evidence ready for a work or training application.</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CAREERS-LAUNCH-A2-W06 · Year A · Week beginning 7 December 2026</a:t>
            </a:r>
          </a:p>
          <a:p xmlns:a="http://schemas.openxmlformats.org/drawingml/2006/main">
            <a:r>
              <a:t>Term theme: Identity &amp; Belonging</a:t>
            </a:r>
          </a:p>
          <a:p xmlns:a="http://schemas.openxmlformats.org/drawingml/2006/main">
            <a:r>
              <a:t>Starter: 2 minutes.</a:t>
            </a:r>
          </a:p>
          <a:p xmlns:a="http://schemas.openxmlformats.org/drawingml/2006/main">
            <a:r>
              <a:t>Teacher: Use the diagram to retrieve one useful step. Accept pointing, speech or writing. Do not infer understanding from a nod alone.</a:t>
            </a:r>
          </a:p>
          <a:p xmlns:a="http://schemas.openxmlformats.org/drawingml/2006/main">
            <a:r>
              <a:t>Support: read, scribe exact words or use the usual aid; record all prompts. Do not supply the assessed reason.</a:t>
            </a:r>
          </a:p>
          <a:p xmlns:a="http://schemas.openxmlformats.org/drawingml/2006/main">
            <a:r>
              <a:t>Evidence: An individual portfolio index linked to actual CV/application and supporting items, one evidence-based claim check, a preserved first version and learner-owned improvement, recorded support, visible gaps and a Week 7 next step.</a:t>
            </a:r>
          </a:p>
          <a:p xmlns:a="http://schemas.openxmlformats.org/drawingml/2006/main">
            <a:r>
              <a:t>Scheme: LAUNCH Weekly - Autumn!C114; LAUNCH - Autumn!C19, D19, I19, J19; revision uploaded-source-2026-08-10.</a:t>
            </a:r>
          </a:p>
          <a:p xmlns:a="http://schemas.openxmlformats.org/drawingml/2006/main">
            <a:r>
              <a:t>Careers: This helps me keep clear evidence ready for a work or training application.</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CAREERS-LAUNCH-A2-W06 · Year A · Week beginning 7 December 2026</a:t>
            </a:r>
          </a:p>
          <a:p xmlns:a="http://schemas.openxmlformats.org/drawingml/2006/main">
            <a:r>
              <a:t>Term theme: Identity &amp; Belonging</a:t>
            </a:r>
          </a:p>
          <a:p xmlns:a="http://schemas.openxmlformats.org/drawingml/2006/main">
            <a:r>
              <a:t>Today: 0 minutes.</a:t>
            </a:r>
          </a:p>
          <a:p xmlns:a="http://schemas.openxmlformats.org/drawingml/2006/main">
            <a:r>
              <a:t>Teacher: Read the exact weekly objective and the three success checks. Explain the careers link in plain words.</a:t>
            </a:r>
          </a:p>
          <a:p xmlns:a="http://schemas.openxmlformats.org/drawingml/2006/main">
            <a:r>
              <a:t>Support: read, scribe exact words or use the usual aid; record all prompts. Do not supply the assessed reason.</a:t>
            </a:r>
          </a:p>
          <a:p xmlns:a="http://schemas.openxmlformats.org/drawingml/2006/main">
            <a:r>
              <a:t>Evidence: An individual portfolio index linked to actual CV/application and supporting items, one evidence-based claim check, a preserved first version and learner-owned improvement, recorded support, visible gaps and a Week 7 next step.</a:t>
            </a:r>
          </a:p>
          <a:p xmlns:a="http://schemas.openxmlformats.org/drawingml/2006/main">
            <a:r>
              <a:t>Scheme: LAUNCH Weekly - Autumn!C114; LAUNCH - Autumn!C19, D19, I19, J19; revision uploaded-source-2026-08-10.</a:t>
            </a:r>
          </a:p>
          <a:p xmlns:a="http://schemas.openxmlformats.org/drawingml/2006/main">
            <a:r>
              <a:t>Careers: This helps me keep clear evidence ready for a work or training application.</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CAREERS-LAUNCH-A2-W06 · Year A · Week beginning 7 December 2026</a:t>
            </a:r>
          </a:p>
          <a:p xmlns:a="http://schemas.openxmlformats.org/drawingml/2006/main">
            <a:r>
              <a:t>Term theme: Identity &amp; Belonging</a:t>
            </a:r>
          </a:p>
          <a:p xmlns:a="http://schemas.openxmlformats.org/drawingml/2006/main">
            <a:r>
              <a:t>I Do: 5 minutes.</a:t>
            </a:r>
          </a:p>
          <a:p xmlns:a="http://schemas.openxmlformats.org/drawingml/2006/main">
            <a:r>
              <a:t>Teacher: Model the six lines with the fictional case. Ask which fact supports the decision. The model is not learner evidence.</a:t>
            </a:r>
          </a:p>
          <a:p xmlns:a="http://schemas.openxmlformats.org/drawingml/2006/main">
            <a:r>
              <a:t>Support: read, scribe exact words or use the usual aid; record all prompts. Do not supply the assessed reason.</a:t>
            </a:r>
          </a:p>
          <a:p xmlns:a="http://schemas.openxmlformats.org/drawingml/2006/main">
            <a:r>
              <a:t>Evidence: An individual portfolio index linked to actual CV/application and supporting items, one evidence-based claim check, a preserved first version and learner-owned improvement, recorded support, visible gaps and a Week 7 next step.</a:t>
            </a:r>
          </a:p>
          <a:p xmlns:a="http://schemas.openxmlformats.org/drawingml/2006/main">
            <a:r>
              <a:t>Scheme: LAUNCH Weekly - Autumn!C114; LAUNCH - Autumn!C19, D19, I19, J19; revision uploaded-source-2026-08-10.</a:t>
            </a:r>
          </a:p>
          <a:p xmlns:a="http://schemas.openxmlformats.org/drawingml/2006/main">
            <a:r>
              <a:t>Careers: This helps me keep clear evidence ready for a work or training application.</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CAREERS-LAUNCH-A2-W06 · Year A · Week beginning 7 December 2026</a:t>
            </a:r>
          </a:p>
          <a:p xmlns:a="http://schemas.openxmlformats.org/drawingml/2006/main">
            <a:r>
              <a:t>Term theme: Identity &amp; Belonging</a:t>
            </a:r>
          </a:p>
          <a:p xmlns:a="http://schemas.openxmlformats.org/drawingml/2006/main">
            <a:r>
              <a:t>We Do: 5 minutes.</a:t>
            </a:r>
          </a:p>
          <a:p xmlns:a="http://schemas.openxmlformats.org/drawingml/2006/main">
            <a:r>
              <a:t>Teacher: B. An index points to evidence; it is not the evidence itself. A hides the gap and C misstates authorship. Recheck using a missing interview record. Accept a clear location or an honest not-yet entry.</a:t>
            </a:r>
          </a:p>
          <a:p xmlns:a="http://schemas.openxmlformats.org/drawingml/2006/main">
            <a:r>
              <a:t>Support: read, scribe exact words or use the usual aid; record all prompts. Do not supply the assessed reason.</a:t>
            </a:r>
          </a:p>
          <a:p xmlns:a="http://schemas.openxmlformats.org/drawingml/2006/main">
            <a:r>
              <a:t>Evidence: An individual portfolio index linked to actual CV/application and supporting items, one evidence-based claim check, a preserved first version and learner-owned improvement, recorded support, visible gaps and a Week 7 next step.</a:t>
            </a:r>
          </a:p>
          <a:p xmlns:a="http://schemas.openxmlformats.org/drawingml/2006/main">
            <a:r>
              <a:t>Scheme: LAUNCH Weekly - Autumn!C114; LAUNCH - Autumn!C19, D19, I19, J19; revision uploaded-source-2026-08-10.</a:t>
            </a:r>
          </a:p>
          <a:p xmlns:a="http://schemas.openxmlformats.org/drawingml/2006/main">
            <a:r>
              <a:t>Careers: This helps me keep clear evidence ready for a work or training application.</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CAREERS-LAUNCH-A2-W06 · Year A · Week beginning 7 December 2026</a:t>
            </a:r>
          </a:p>
          <a:p xmlns:a="http://schemas.openxmlformats.org/drawingml/2006/main">
            <a:r>
              <a:t>Term theme: Identity &amp; Belonging</a:t>
            </a:r>
          </a:p>
          <a:p xmlns:a="http://schemas.openxmlformats.org/drawingml/2006/main">
            <a:r>
              <a:t>You Do practice: 12 minutes.</a:t>
            </a:r>
          </a:p>
          <a:p xmlns:a="http://schemas.openxmlformats.org/drawingml/2006/main">
            <a:r>
              <a:t>Teacher: Use the first four minutes to find and label actual items. Use five minutes to check one claim against a piece of work and improve it after a specific prompt. Use the last three minutes to build the index with honest ready, draft or missing entries. Each learner chooses one next step for Week 7. The six-minute capture links the record to the actual files or pages.</a:t>
            </a:r>
          </a:p>
          <a:p xmlns:a="http://schemas.openxmlformats.org/drawingml/2006/main">
            <a:r>
              <a:t>Support: read, scribe exact words or use the usual aid; record all prompts. Do not supply the assessed reason.</a:t>
            </a:r>
          </a:p>
          <a:p xmlns:a="http://schemas.openxmlformats.org/drawingml/2006/main">
            <a:r>
              <a:t>Evidence: An individual portfolio index linked to actual CV/application and supporting items, one evidence-based claim check, a preserved first version and learner-owned improvement, recorded support, visible gaps and a Week 7 next step.</a:t>
            </a:r>
          </a:p>
          <a:p xmlns:a="http://schemas.openxmlformats.org/drawingml/2006/main">
            <a:r>
              <a:t>Scheme: LAUNCH Weekly - Autumn!C114; LAUNCH - Autumn!C19, D19, I19, J19; revision uploaded-source-2026-08-10.</a:t>
            </a:r>
          </a:p>
          <a:p xmlns:a="http://schemas.openxmlformats.org/drawingml/2006/main">
            <a:r>
              <a:t>Careers: This helps me keep clear evidence ready for a work or training application.</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CAREERS-LAUNCH-A2-W06 · Year A · Week beginning 7 December 2026</a:t>
            </a:r>
          </a:p>
          <a:p xmlns:a="http://schemas.openxmlformats.org/drawingml/2006/main">
            <a:r>
              <a:t>Term theme: Identity &amp; Belonging</a:t>
            </a:r>
          </a:p>
          <a:p xmlns:a="http://schemas.openxmlformats.org/drawingml/2006/main">
            <a:r>
              <a:t>You Do evidence: 6 minutes.</a:t>
            </a:r>
          </a:p>
          <a:p xmlns:a="http://schemas.openxmlformats.org/drawingml/2006/main">
            <a:r>
              <a:t>Teacher: Capture actual words and work references. Keep the initial evidence, exact prompt and later response separate. Record any unattempted mode, question or missing item.</a:t>
            </a:r>
          </a:p>
          <a:p xmlns:a="http://schemas.openxmlformats.org/drawingml/2006/main">
            <a:r>
              <a:t>Support: read, scribe exact words or use the usual aid; record all prompts. Do not supply the assessed reason.</a:t>
            </a:r>
          </a:p>
          <a:p xmlns:a="http://schemas.openxmlformats.org/drawingml/2006/main">
            <a:r>
              <a:t>Evidence: An individual portfolio index linked to actual CV/application and supporting items, one evidence-based claim check, a preserved first version and learner-owned improvement, recorded support, visible gaps and a Week 7 next step.</a:t>
            </a:r>
          </a:p>
          <a:p xmlns:a="http://schemas.openxmlformats.org/drawingml/2006/main">
            <a:r>
              <a:t>Scheme: LAUNCH Weekly - Autumn!C114; LAUNCH - Autumn!C19, D19, I19, J19; revision uploaded-source-2026-08-10.</a:t>
            </a:r>
          </a:p>
          <a:p xmlns:a="http://schemas.openxmlformats.org/drawingml/2006/main">
            <a:r>
              <a:t>Careers: This helps me keep clear evidence ready for a work or training application.</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CAREERS-LAUNCH-A2-W06 · Year A · Week beginning 7 December 2026</a:t>
            </a:r>
          </a:p>
          <a:p xmlns:a="http://schemas.openxmlformats.org/drawingml/2006/main">
            <a:r>
              <a:t>Term theme: Identity &amp; Belonging</a:t>
            </a:r>
          </a:p>
          <a:p xmlns:a="http://schemas.openxmlformats.org/drawingml/2006/main">
            <a:r>
              <a:t>Tidy and evidence check: 4 minutes.</a:t>
            </a:r>
          </a:p>
          <a:p xmlns:a="http://schemas.openxmlformats.org/drawingml/2006/main">
            <a:r>
              <a:t>Teacher: Check ownership, learner ID, support and actual storage reference. Do not tick banked until the work is actually banked. Agree a next step.</a:t>
            </a:r>
          </a:p>
          <a:p xmlns:a="http://schemas.openxmlformats.org/drawingml/2006/main">
            <a:r>
              <a:t>Support: read, scribe exact words or use the usual aid; record all prompts. Do not supply the assessed reason.</a:t>
            </a:r>
          </a:p>
          <a:p xmlns:a="http://schemas.openxmlformats.org/drawingml/2006/main">
            <a:r>
              <a:t>Evidence: An individual portfolio index linked to actual CV/application and supporting items, one evidence-based claim check, a preserved first version and learner-owned improvement, recorded support, visible gaps and a Week 7 next step.</a:t>
            </a:r>
          </a:p>
          <a:p xmlns:a="http://schemas.openxmlformats.org/drawingml/2006/main">
            <a:r>
              <a:t>Scheme: LAUNCH Weekly - Autumn!C114; LAUNCH - Autumn!C19, D19, I19, J19; revision uploaded-source-2026-08-10.</a:t>
            </a:r>
          </a:p>
          <a:p xmlns:a="http://schemas.openxmlformats.org/drawingml/2006/main">
            <a:r>
              <a:t>Careers: This helps me keep clear evidence ready for a work or training application.</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CAREERS-LAUNCH-A2-W06 · Year A · Week beginning 7 December 2026</a:t>
            </a:r>
          </a:p>
          <a:p xmlns:a="http://schemas.openxmlformats.org/drawingml/2006/main">
            <a:r>
              <a:t>Term theme: Identity &amp; Belonging</a:t>
            </a:r>
          </a:p>
          <a:p xmlns:a="http://schemas.openxmlformats.org/drawingml/2006/main">
            <a:r>
              <a:t>Exit ticket: 2 minutes.</a:t>
            </a:r>
          </a:p>
          <a:p xmlns:a="http://schemas.openxmlformats.org/drawingml/2006/main">
            <a:r>
              <a:t>Teacher: Take an individual exit response in the chosen mode. Record one next teaching need; a learner may respond privately.</a:t>
            </a:r>
          </a:p>
          <a:p xmlns:a="http://schemas.openxmlformats.org/drawingml/2006/main">
            <a:r>
              <a:t>Support: read, scribe exact words or use the usual aid; record all prompts. Do not supply the assessed reason.</a:t>
            </a:r>
          </a:p>
          <a:p xmlns:a="http://schemas.openxmlformats.org/drawingml/2006/main">
            <a:r>
              <a:t>Evidence: An individual portfolio index linked to actual CV/application and supporting items, one evidence-based claim check, a preserved first version and learner-owned improvement, recorded support, visible gaps and a Week 7 next step.</a:t>
            </a:r>
          </a:p>
          <a:p xmlns:a="http://schemas.openxmlformats.org/drawingml/2006/main">
            <a:r>
              <a:t>Scheme: LAUNCH Weekly - Autumn!C114; LAUNCH - Autumn!C19, D19, I19, J19; revision uploaded-source-2026-08-10.</a:t>
            </a:r>
          </a:p>
          <a:p xmlns:a="http://schemas.openxmlformats.org/drawingml/2006/main">
            <a:r>
              <a:t>Careers: This helps me keep clear evidence ready for a work or training application.</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CAREERS-LAUNCH-A2-W06 · Year A · Week beginning 7 December 2026</a:t>
            </a:r>
          </a:p>
          <a:p xmlns:a="http://schemas.openxmlformats.org/drawingml/2006/main">
            <a:r>
              <a:t>Term theme: Identity &amp; Belonging</a:t>
            </a:r>
          </a:p>
          <a:p xmlns:a="http://schemas.openxmlformats.org/drawingml/2006/main">
            <a:r>
              <a:t>Vocabulary: 0 minutes.</a:t>
            </a:r>
          </a:p>
          <a:p xmlns:a="http://schemas.openxmlformats.org/drawingml/2006/main">
            <a:r>
              <a:t>Teacher: Keep the vocabulary mat available throughout. Read a word aloud and pair it with a concrete example if needed.</a:t>
            </a:r>
          </a:p>
          <a:p xmlns:a="http://schemas.openxmlformats.org/drawingml/2006/main">
            <a:r>
              <a:t>Support: read, scribe exact words or use the usual aid; record all prompts. Do not supply the assessed reason.</a:t>
            </a:r>
          </a:p>
          <a:p xmlns:a="http://schemas.openxmlformats.org/drawingml/2006/main">
            <a:r>
              <a:t>Evidence: An individual portfolio index linked to actual CV/application and supporting items, one evidence-based claim check, a preserved first version and learner-owned improvement, recorded support, visible gaps and a Week 7 next step.</a:t>
            </a:r>
          </a:p>
          <a:p xmlns:a="http://schemas.openxmlformats.org/drawingml/2006/main">
            <a:r>
              <a:t>Scheme: LAUNCH Weekly - Autumn!C114; LAUNCH - Autumn!C19, D19, I19, J19; revision uploaded-source-2026-08-10.</a:t>
            </a:r>
          </a:p>
          <a:p xmlns:a="http://schemas.openxmlformats.org/drawingml/2006/main">
            <a:r>
              <a:t>Careers: This helps me keep clear evidence ready for a work or training application.</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CAREERS-LAUNCH-A2-W06 · Year A · Week beginning 7 December 2026</a:t>
            </a:r>
          </a:p>
          <a:p xmlns:a="http://schemas.openxmlformats.org/drawingml/2006/main">
            <a:r>
              <a:t>Term theme: Identity &amp; Belonging</a:t>
            </a:r>
          </a:p>
          <a:p xmlns:a="http://schemas.openxmlformats.org/drawingml/2006/main">
            <a:r>
              <a:t>Staff brief: 0 minutes.</a:t>
            </a:r>
          </a:p>
          <a:p xmlns:a="http://schemas.openxmlformats.org/drawingml/2006/main">
            <a:r>
              <a:t>Teacher: Use fictional role briefs and learner IDs. No real names, contacts, addresses, accounts, passwords or referee details. No calls, emails or applications are sent. Offer speech, pointing, writing, scribing or the learner’s usual communication aid. No forced pair work, public performance or personal disclosure. If a concern arises, listen privately and follow the local safeguarding route. Check every ready entry against an actual accessible item. Check ownership and support, not folder decoration or handwriting. Record the distinction between missing, draft and ready. An index or empty template is not a completed portfolio. Week 6 prepares the assessment; it does not award completion in advance.</a:t>
            </a:r>
          </a:p>
          <a:p xmlns:a="http://schemas.openxmlformats.org/drawingml/2006/main">
            <a:r>
              <a:t>Support: read, scribe exact words or use the usual aid; record all prompts. Do not supply the assessed reason.</a:t>
            </a:r>
          </a:p>
          <a:p xmlns:a="http://schemas.openxmlformats.org/drawingml/2006/main">
            <a:r>
              <a:t>Evidence: An individual portfolio index linked to actual CV/application and supporting items, one evidence-based claim check, a preserved first version and learner-owned improvement, recorded support, visible gaps and a Week 7 next step.</a:t>
            </a:r>
          </a:p>
          <a:p xmlns:a="http://schemas.openxmlformats.org/drawingml/2006/main">
            <a:r>
              <a:t>Scheme: LAUNCH Weekly - Autumn!C114; LAUNCH - Autumn!C19, D19, I19, J19; revision uploaded-source-2026-08-10.</a:t>
            </a:r>
          </a:p>
          <a:p xmlns:a="http://schemas.openxmlformats.org/drawingml/2006/main">
            <a:r>
              <a:t>Careers: This helps me keep clear evidence ready for a work or training application.</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e0652b4d00471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a74b9d149b2468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03c32317d8e435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78424fe1d70413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18cfbf9a9e448e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21d028148a04ab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97F803-DEEC-43CA-A5E2-5BC22B8B98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6CE16B-3214-426C-9E08-EEDDFC8B69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1A1369-C2BF-482F-AFB7-6600F6B209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3B8F1F-0C21-4D89-9AA0-7FC120957C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0A3C49-7B2D-4FF2-BFD5-2E8F3F3FD6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19B6FF-36F5-4292-9FAB-D404CD0E30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0CC938-0B77-488A-B095-995EDA0A30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32CFE4-C8A9-4518-9235-758C4667C1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56DCB1-8188-4B3A-9144-B492CA0B55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23B529-5BDC-4D03-A6E7-0375064ADE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c6844fdea44d2e" /><Relationship Type="http://schemas.openxmlformats.org/officeDocument/2006/relationships/slideLayout" Target="/ppt/slideLayouts/slideLayout1.xml" Id="Ra777fb28244a450e" /><Relationship Type="http://schemas.openxmlformats.org/officeDocument/2006/relationships/slideLayout" Target="/ppt/slideLayouts/slideLayout2.xml" Id="R764c3e65a59e4078" /><Relationship Type="http://schemas.openxmlformats.org/officeDocument/2006/relationships/slideLayout" Target="/ppt/slideLayouts/slideLayout3.xml" Id="Rc9a0e996ac684fb7" /><Relationship Type="http://schemas.openxmlformats.org/officeDocument/2006/relationships/slideLayout" Target="/ppt/slideLayouts/slideLayout4.xml" Id="R6bd775ce737e4603" /><Relationship Type="http://schemas.openxmlformats.org/officeDocument/2006/relationships/slideLayout" Target="/ppt/slideLayouts/slideLayout5.xml" Id="Ra10ed69ba2384e24" /><Relationship Type="http://schemas.openxmlformats.org/officeDocument/2006/relationships/slideLayout" Target="/ppt/slideLayouts/slideLayout6.xml" Id="R770d62262a9e43e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77fb28244a450e"/>
    <p:sldLayoutId xmlns:r="http://schemas.openxmlformats.org/officeDocument/2006/relationships" id="2147483650" r:id="R764c3e65a59e4078"/>
    <p:sldLayoutId xmlns:r="http://schemas.openxmlformats.org/officeDocument/2006/relationships" id="2147483651" r:id="Rc9a0e996ac684fb7"/>
    <p:sldLayoutId xmlns:r="http://schemas.openxmlformats.org/officeDocument/2006/relationships" id="2147483652" r:id="R6bd775ce737e4603"/>
    <p:sldLayoutId xmlns:r="http://schemas.openxmlformats.org/officeDocument/2006/relationships" id="2147483653" r:id="Ra10ed69ba2384e24"/>
    <p:sldLayoutId xmlns:r="http://schemas.openxmlformats.org/officeDocument/2006/relationships" id="2147483654" r:id="R770d62262a9e43e4"/>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822d07ce6524bd8" /><Relationship Type="http://schemas.openxmlformats.org/officeDocument/2006/relationships/notesSlide" Target="/ppt/notesSlides/notesSlide1.xml" Id="R74168a8a73b7414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a37d4a0fc294c7d" /><Relationship Type="http://schemas.openxmlformats.org/officeDocument/2006/relationships/notesSlide" Target="/ppt/notesSlides/notesSlide2.xml" Id="R5c9533df386f4e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14df92c28d24a1d" /><Relationship Type="http://schemas.openxmlformats.org/officeDocument/2006/relationships/image" Target="/ppt/media/image.png" Id="Rf9b71a67856042f9" /><Relationship Type="http://schemas.openxmlformats.org/officeDocument/2006/relationships/notesSlide" Target="/ppt/notesSlides/notesSlide3.xml" Id="Re4314eca93cc418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718bf6a68394b5f" /><Relationship Type="http://schemas.openxmlformats.org/officeDocument/2006/relationships/notesSlide" Target="/ppt/notesSlides/notesSlide4.xml" Id="Reb2f30d331d744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638cffdbb124b96" /><Relationship Type="http://schemas.openxmlformats.org/officeDocument/2006/relationships/notesSlide" Target="/ppt/notesSlides/notesSlide5.xml" Id="R2d06f2b7db4f4d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a86c29149ca42a0" /><Relationship Type="http://schemas.openxmlformats.org/officeDocument/2006/relationships/notesSlide" Target="/ppt/notesSlides/notesSlide6.xml" Id="Rfb29dbe4d24c440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85c48d1766746a9" /><Relationship Type="http://schemas.openxmlformats.org/officeDocument/2006/relationships/notesSlide" Target="/ppt/notesSlides/notesSlide7.xml" Id="Rd7109e152ef549a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2a06b8cb0384382" /><Relationship Type="http://schemas.openxmlformats.org/officeDocument/2006/relationships/notesSlide" Target="/ppt/notesSlides/notesSlide8.xml" Id="Rf3c6f11d30a049d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2db7a4d0b0c4326" /><Relationship Type="http://schemas.openxmlformats.org/officeDocument/2006/relationships/notesSlide" Target="/ppt/notesSlides/notesSlide9.xml" Id="Ra91cdc0e98c1493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fec45e03d324707" /><Relationship Type="http://schemas.openxmlformats.org/officeDocument/2006/relationships/notesSlide" Target="/ppt/notesSlides/notesSlide10.xml" Id="R798c1953b31b440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37491f98075489a" /><Relationship Type="http://schemas.openxmlformats.org/officeDocument/2006/relationships/notesSlide" Target="/ppt/notesSlides/notesSlide11.xml" Id="Rab9b193683664b3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385552c44c644ef" /><Relationship Type="http://schemas.openxmlformats.org/officeDocument/2006/relationships/notesSlide" Target="/ppt/notesSlides/notesSlide12.xml" Id="R61bb004b82ef4d5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21FA00E8-6C9D-4555-9239-D720E2F96F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00A5EBA-9C7A-4929-AF50-65DE54E734CC}"/>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TITLE AND BIG QUESTION</a:t>
            </a:r>
          </a:p>
        </p:txBody>
      </p:sp>
      <p:sp>
        <p:nvSpPr>
          <p:cNvPr id="3" name="slide-number-time">
            <a:extLst xmlns:a="http://schemas.openxmlformats.org/drawingml/2006/main">
              <a:ext uri="{FF2B5EF4-FFF2-40B4-BE49-F238E27FC236}">
                <a16:creationId xmlns:a16="http://schemas.microsoft.com/office/drawing/2014/main" id="{B5553090-10DF-4876-B620-4580F7D74DE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 / 12</a:t>
            </a:r>
          </a:p>
        </p:txBody>
      </p:sp>
      <p:sp>
        <p:nvSpPr>
          <p:cNvPr id="4" name="lesson-title">
            <a:extLst xmlns:a="http://schemas.openxmlformats.org/drawingml/2006/main">
              <a:ext uri="{FF2B5EF4-FFF2-40B4-BE49-F238E27FC236}">
                <a16:creationId xmlns:a16="http://schemas.microsoft.com/office/drawing/2014/main" id="{95CCE6A2-A359-43CF-A30F-F808B5954B3D}"/>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buNone/>
              <a:defRPr sz="4200" b="1">
                <a:solidFill>
                  <a:srgbClr val="17384A"/>
                </a:solidFill>
                <a:latin typeface="Arial"/>
                <a:ea typeface="Arial"/>
                <a:cs typeface="Arial"/>
              </a:defRPr>
            </a:lvl1pPr>
            <a:lvl2pPr algn="l">
              <a:buNone/>
              <a:defRPr sz="4200" b="1">
                <a:solidFill>
                  <a:srgbClr val="17384A"/>
                </a:solidFill>
                <a:latin typeface="Arial"/>
                <a:ea typeface="Arial"/>
                <a:cs typeface="Arial"/>
              </a:defRPr>
            </a:lvl2pPr>
            <a:lvl3pPr algn="l">
              <a:buNone/>
              <a:defRPr sz="4200" b="1">
                <a:solidFill>
                  <a:srgbClr val="17384A"/>
                </a:solidFill>
                <a:latin typeface="Arial"/>
                <a:ea typeface="Arial"/>
                <a:cs typeface="Arial"/>
              </a:defRPr>
            </a:lvl3pPr>
            <a:lvl4pPr algn="l">
              <a:buNone/>
              <a:defRPr sz="4200" b="1">
                <a:solidFill>
                  <a:srgbClr val="17384A"/>
                </a:solidFill>
                <a:latin typeface="Arial"/>
                <a:ea typeface="Arial"/>
                <a:cs typeface="Arial"/>
              </a:defRPr>
            </a:lvl4pPr>
            <a:lvl5pPr algn="l">
              <a:buNone/>
              <a:defRPr sz="4200" b="1">
                <a:solidFill>
                  <a:srgbClr val="17384A"/>
                </a:solidFill>
                <a:latin typeface="Arial"/>
                <a:ea typeface="Arial"/>
                <a:cs typeface="Arial"/>
              </a:defRPr>
            </a:lvl5pPr>
            <a:lvl6pPr algn="l">
              <a:buNone/>
              <a:defRPr sz="4200" b="1">
                <a:solidFill>
                  <a:srgbClr val="17384A"/>
                </a:solidFill>
                <a:latin typeface="Arial"/>
                <a:ea typeface="Arial"/>
                <a:cs typeface="Arial"/>
              </a:defRPr>
            </a:lvl6pPr>
            <a:lvl7pPr algn="l">
              <a:buNone/>
              <a:defRPr sz="4200" b="1">
                <a:solidFill>
                  <a:srgbClr val="17384A"/>
                </a:solidFill>
                <a:latin typeface="Arial"/>
                <a:ea typeface="Arial"/>
                <a:cs typeface="Arial"/>
              </a:defRPr>
            </a:lvl7pPr>
            <a:lvl8pPr algn="l">
              <a:buNone/>
              <a:defRPr sz="4200" b="1">
                <a:solidFill>
                  <a:srgbClr val="17384A"/>
                </a:solidFill>
                <a:latin typeface="Arial"/>
                <a:ea typeface="Arial"/>
                <a:cs typeface="Arial"/>
              </a:defRPr>
            </a:lvl8pPr>
            <a:lvl9pPr algn="l">
              <a:buNone/>
              <a:defRPr sz="4200" b="1">
                <a:solidFill>
                  <a:srgbClr val="17384A"/>
                </a:solidFill>
                <a:latin typeface="Arial"/>
                <a:ea typeface="Arial"/>
                <a:cs typeface="Arial"/>
              </a:defRPr>
            </a:lvl9pPr>
          </a:lstStyle>
          <a:p xmlns:a="http://schemas.openxmlformats.org/drawingml/2006/main">
            <a:pPr algn="l">
              <a:buNone/>
              <a:defRPr sz="4200" b="1">
                <a:solidFill>
                  <a:srgbClr val="17384A"/>
                </a:solidFill>
                <a:latin typeface="Arial"/>
                <a:ea typeface="Arial"/>
                <a:cs typeface="Arial"/>
              </a:defRPr>
            </a:pPr>
            <a:r>
              <a:rPr sz="4200" b="1">
                <a:solidFill>
                  <a:srgbClr val="17384A"/>
                </a:solidFill>
                <a:latin typeface="Arial"/>
                <a:ea typeface="Arial"/>
                <a:cs typeface="Arial"/>
              </a:rPr>
              <a:t>Build an application portfolio</a:t>
            </a:r>
          </a:p>
        </p:txBody>
      </p:sp>
      <p:sp>
        <p:nvSpPr>
          <p:cNvPr id="5" name="lesson-subtitle">
            <a:extLst xmlns:a="http://schemas.openxmlformats.org/drawingml/2006/main">
              <a:ext uri="{FF2B5EF4-FFF2-40B4-BE49-F238E27FC236}">
                <a16:creationId xmlns:a16="http://schemas.microsoft.com/office/drawing/2014/main" id="{27188317-831F-4A26-ABD0-28EBF336460B}"/>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46B68"/>
                </a:solidFill>
                <a:latin typeface="Arial"/>
                <a:ea typeface="Arial"/>
                <a:cs typeface="Arial"/>
              </a:defRPr>
            </a:defPPr>
            <a:lvl1pPr algn="l">
              <a:buNone/>
              <a:defRPr sz="2250" b="0">
                <a:solidFill>
                  <a:srgbClr val="146B68"/>
                </a:solidFill>
                <a:latin typeface="Arial"/>
                <a:ea typeface="Arial"/>
                <a:cs typeface="Arial"/>
              </a:defRPr>
            </a:lvl1pPr>
            <a:lvl2pPr algn="l">
              <a:buNone/>
              <a:defRPr sz="2250" b="0">
                <a:solidFill>
                  <a:srgbClr val="146B68"/>
                </a:solidFill>
                <a:latin typeface="Arial"/>
                <a:ea typeface="Arial"/>
                <a:cs typeface="Arial"/>
              </a:defRPr>
            </a:lvl2pPr>
            <a:lvl3pPr algn="l">
              <a:buNone/>
              <a:defRPr sz="2250" b="0">
                <a:solidFill>
                  <a:srgbClr val="146B68"/>
                </a:solidFill>
                <a:latin typeface="Arial"/>
                <a:ea typeface="Arial"/>
                <a:cs typeface="Arial"/>
              </a:defRPr>
            </a:lvl3pPr>
            <a:lvl4pPr algn="l">
              <a:buNone/>
              <a:defRPr sz="2250" b="0">
                <a:solidFill>
                  <a:srgbClr val="146B68"/>
                </a:solidFill>
                <a:latin typeface="Arial"/>
                <a:ea typeface="Arial"/>
                <a:cs typeface="Arial"/>
              </a:defRPr>
            </a:lvl4pPr>
            <a:lvl5pPr algn="l">
              <a:buNone/>
              <a:defRPr sz="2250" b="0">
                <a:solidFill>
                  <a:srgbClr val="146B68"/>
                </a:solidFill>
                <a:latin typeface="Arial"/>
                <a:ea typeface="Arial"/>
                <a:cs typeface="Arial"/>
              </a:defRPr>
            </a:lvl5pPr>
            <a:lvl6pPr algn="l">
              <a:buNone/>
              <a:defRPr sz="2250" b="0">
                <a:solidFill>
                  <a:srgbClr val="146B68"/>
                </a:solidFill>
                <a:latin typeface="Arial"/>
                <a:ea typeface="Arial"/>
                <a:cs typeface="Arial"/>
              </a:defRPr>
            </a:lvl6pPr>
            <a:lvl7pPr algn="l">
              <a:buNone/>
              <a:defRPr sz="2250" b="0">
                <a:solidFill>
                  <a:srgbClr val="146B68"/>
                </a:solidFill>
                <a:latin typeface="Arial"/>
                <a:ea typeface="Arial"/>
                <a:cs typeface="Arial"/>
              </a:defRPr>
            </a:lvl7pPr>
            <a:lvl8pPr algn="l">
              <a:buNone/>
              <a:defRPr sz="2250" b="0">
                <a:solidFill>
                  <a:srgbClr val="146B68"/>
                </a:solidFill>
                <a:latin typeface="Arial"/>
                <a:ea typeface="Arial"/>
                <a:cs typeface="Arial"/>
              </a:defRPr>
            </a:lvl8pPr>
            <a:lvl9pPr algn="l">
              <a:buNone/>
              <a:defRPr sz="2250" b="0">
                <a:solidFill>
                  <a:srgbClr val="146B68"/>
                </a:solidFill>
                <a:latin typeface="Arial"/>
                <a:ea typeface="Arial"/>
                <a:cs typeface="Arial"/>
              </a:defRPr>
            </a:lvl9pPr>
          </a:lstStyle>
          <a:p xmlns:a="http://schemas.openxmlformats.org/drawingml/2006/main">
            <a:pPr algn="l">
              <a:buNone/>
              <a:defRPr sz="2250" b="0">
                <a:solidFill>
                  <a:srgbClr val="146B68"/>
                </a:solidFill>
                <a:latin typeface="Arial"/>
                <a:ea typeface="Arial"/>
                <a:cs typeface="Arial"/>
              </a:defRPr>
            </a:pPr>
            <a:r>
              <a:rPr sz="2250" b="0">
                <a:solidFill>
                  <a:srgbClr val="146B68"/>
                </a:solidFill>
                <a:latin typeface="Arial"/>
                <a:ea typeface="Arial"/>
                <a:cs typeface="Arial"/>
              </a:rPr>
              <a:t>Year A · Week 6 · 7–11 December 2026 · 40 minutes</a:t>
            </a:r>
          </a:p>
        </p:txBody>
      </p:sp>
      <p:sp>
        <p:nvSpPr>
          <p:cNvPr id="8" name="printed-id">
            <a:extLst xmlns:a="http://schemas.openxmlformats.org/drawingml/2006/main">
              <a:ext uri="{FF2B5EF4-FFF2-40B4-BE49-F238E27FC236}">
                <a16:creationId xmlns:a16="http://schemas.microsoft.com/office/drawing/2014/main" id="{D1DE9CD0-0274-4F6F-865F-DD0F553DDF8E}"/>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CAREERS-LAUNCH-A2-W06</a:t>
            </a:r>
          </a:p>
        </p:txBody>
      </p:sp>
      <p:sp>
        <p:nvSpPr>
          <p:cNvPr id="9" name="edition-label">
            <a:extLst xmlns:a="http://schemas.openxmlformats.org/drawingml/2006/main">
              <a:ext uri="{FF2B5EF4-FFF2-40B4-BE49-F238E27FC236}">
                <a16:creationId xmlns:a16="http://schemas.microsoft.com/office/drawing/2014/main" id="{9DB788D1-307B-450E-8E75-3DE957BCA32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0" name="licence-credit">
            <a:extLst xmlns:a="http://schemas.openxmlformats.org/drawingml/2006/main">
              <a:ext uri="{FF2B5EF4-FFF2-40B4-BE49-F238E27FC236}">
                <a16:creationId xmlns:a16="http://schemas.microsoft.com/office/drawing/2014/main" id="{CFFACCED-9803-4150-B478-B2D5E21D8DE7}"/>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2" name="body-0">
            <a:extLst xmlns:a="http://schemas.openxmlformats.org/drawingml/2006/main">
              <a:ext uri="{FF2B5EF4-FFF2-40B4-BE49-F238E27FC236}">
                <a16:creationId xmlns:a16="http://schemas.microsoft.com/office/drawing/2014/main" id="{4179850A-9B57-4A81-B9D3-E88349FC8B24}"/>
              </a:ext>
            </a:extLst>
          </p:cNvPr>
          <p:cNvSpPr>
            <a:spLocks xmlns:a="http://schemas.openxmlformats.org/drawingml/2006/main" noGrp="1"/>
          </p:cNvSpPr>
          <p:nvPr/>
        </p:nvSpPr>
        <p:spPr>
          <a:xfrm xmlns:a="http://schemas.openxmlformats.org/drawingml/2006/main">
            <a:off x="609600" y="371475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How can I make my work easy to find and check?</a:t>
            </a:r>
          </a:p>
        </p:txBody>
      </p:sp>
      <p:sp>
        <p:nvSpPr>
          <p:cNvPr id="13" name="body-1">
            <a:extLst xmlns:a="http://schemas.openxmlformats.org/drawingml/2006/main">
              <a:ext uri="{FF2B5EF4-FFF2-40B4-BE49-F238E27FC236}">
                <a16:creationId xmlns:a16="http://schemas.microsoft.com/office/drawing/2014/main" id="{B3B79DBF-9AF8-427F-9EF2-D9D9BA7081D1}"/>
              </a:ext>
            </a:extLst>
          </p:cNvPr>
          <p:cNvSpPr>
            <a:spLocks xmlns:a="http://schemas.openxmlformats.org/drawingml/2006/main" noGrp="1"/>
          </p:cNvSpPr>
          <p:nvPr/>
        </p:nvSpPr>
        <p:spPr>
          <a:xfrm xmlns:a="http://schemas.openxmlformats.org/drawingml/2006/main">
            <a:off x="609600" y="423481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This helps me keep clear evidence ready for a work or training application.</a:t>
            </a:r>
          </a:p>
        </p:txBody>
      </p:sp>
      <p:sp>
        <p:nvSpPr>
          <p:cNvPr id="14" name="body-2">
            <a:extLst xmlns:a="http://schemas.openxmlformats.org/drawingml/2006/main">
              <a:ext uri="{FF2B5EF4-FFF2-40B4-BE49-F238E27FC236}">
                <a16:creationId xmlns:a16="http://schemas.microsoft.com/office/drawing/2014/main" id="{6137EF2D-887A-4596-9565-C03031165296}"/>
              </a:ext>
            </a:extLst>
          </p:cNvPr>
          <p:cNvSpPr>
            <a:spLocks xmlns:a="http://schemas.openxmlformats.org/drawingml/2006/main" noGrp="1"/>
          </p:cNvSpPr>
          <p:nvPr/>
        </p:nvSpPr>
        <p:spPr>
          <a:xfrm xmlns:a="http://schemas.openxmlformats.org/drawingml/2006/main">
            <a:off x="609600" y="47548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Term theme: Identity &amp; Belonging</a:t>
            </a:r>
          </a:p>
        </p:txBody>
      </p:sp>
    </p:spTree>
    <p:extLst>
      <p:ext uri="{BB962C8B-B14F-4D97-AF65-F5344CB8AC3E}">
        <p14:creationId xmlns:p14="http://schemas.microsoft.com/office/powerpoint/2010/main" val="20889504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4FD94499-3EA1-421F-BBBF-AAAEC9FCB9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38B1A31-272E-4B53-A986-999EB0AE8AE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ARRIVAL AND REGULATION</a:t>
            </a:r>
          </a:p>
        </p:txBody>
      </p:sp>
      <p:sp>
        <p:nvSpPr>
          <p:cNvPr id="3" name="slide-number-time">
            <a:extLst xmlns:a="http://schemas.openxmlformats.org/drawingml/2006/main">
              <a:ext uri="{FF2B5EF4-FFF2-40B4-BE49-F238E27FC236}">
                <a16:creationId xmlns:a16="http://schemas.microsoft.com/office/drawing/2014/main" id="{D71FC1CA-AC2B-48A1-B1E2-5C96A8A8B754}"/>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2 / 12  ·  4 min</a:t>
            </a:r>
          </a:p>
        </p:txBody>
      </p:sp>
      <p:sp>
        <p:nvSpPr>
          <p:cNvPr id="4" name="slide-title">
            <a:extLst xmlns:a="http://schemas.openxmlformats.org/drawingml/2006/main">
              <a:ext uri="{FF2B5EF4-FFF2-40B4-BE49-F238E27FC236}">
                <a16:creationId xmlns:a16="http://schemas.microsoft.com/office/drawing/2014/main" id="{4FF2732D-8D8A-4A14-B7EC-4427BF844FB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Ready for a calm start</a:t>
            </a:r>
          </a:p>
        </p:txBody>
      </p:sp>
      <p:sp>
        <p:nvSpPr>
          <p:cNvPr id="5" name="heading-rule">
            <a:extLst xmlns:a="http://schemas.openxmlformats.org/drawingml/2006/main">
              <a:ext uri="{FF2B5EF4-FFF2-40B4-BE49-F238E27FC236}">
                <a16:creationId xmlns:a16="http://schemas.microsoft.com/office/drawing/2014/main" id="{39B5AC7B-925A-427E-B6D5-FF7155BB2EE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95424F63-FAC6-49BB-A26B-FF4C752FA21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CAREERS-LAUNCH-A2-W06</a:t>
            </a:r>
          </a:p>
        </p:txBody>
      </p:sp>
      <p:sp>
        <p:nvSpPr>
          <p:cNvPr id="12" name="edition-label">
            <a:extLst xmlns:a="http://schemas.openxmlformats.org/drawingml/2006/main">
              <a:ext uri="{FF2B5EF4-FFF2-40B4-BE49-F238E27FC236}">
                <a16:creationId xmlns:a16="http://schemas.microsoft.com/office/drawing/2014/main" id="{2CC72B9C-1296-4C4A-886A-5E292D7620C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1E89A079-9FE1-4E2E-A35B-157CE58B947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5EC01B38-2E63-4243-9769-79C2B925393E}"/>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Check how you feel in private.</a:t>
            </a:r>
          </a:p>
        </p:txBody>
      </p:sp>
      <p:sp>
        <p:nvSpPr>
          <p:cNvPr id="16" name="body-1">
            <a:extLst xmlns:a="http://schemas.openxmlformats.org/drawingml/2006/main">
              <a:ext uri="{FF2B5EF4-FFF2-40B4-BE49-F238E27FC236}">
                <a16:creationId xmlns:a16="http://schemas.microsoft.com/office/drawing/2014/main" id="{F28DA917-CB7A-4C83-99B1-B17867E53C84}"/>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Choose a quiet seat or a short pause.</a:t>
            </a:r>
          </a:p>
        </p:txBody>
      </p:sp>
      <p:sp>
        <p:nvSpPr>
          <p:cNvPr id="17" name="body-2">
            <a:extLst xmlns:a="http://schemas.openxmlformats.org/drawingml/2006/main">
              <a:ext uri="{FF2B5EF4-FFF2-40B4-BE49-F238E27FC236}">
                <a16:creationId xmlns:a16="http://schemas.microsoft.com/office/drawing/2014/main" id="{7B45F856-07DA-4CDC-9EDC-8416662C59FC}"/>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your work space clear.</a:t>
            </a:r>
          </a:p>
        </p:txBody>
      </p:sp>
      <p:sp>
        <p:nvSpPr>
          <p:cNvPr id="18" name="body-3">
            <a:extLst xmlns:a="http://schemas.openxmlformats.org/drawingml/2006/main">
              <a:ext uri="{FF2B5EF4-FFF2-40B4-BE49-F238E27FC236}">
                <a16:creationId xmlns:a16="http://schemas.microsoft.com/office/drawing/2014/main" id="{B8616F4F-E875-4A93-9A52-ADD9BB19CF1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Ask the adult if you need support.</a:t>
            </a:r>
          </a:p>
        </p:txBody>
      </p:sp>
      <p:sp>
        <p:nvSpPr>
          <p:cNvPr id="19" name="body-4">
            <a:extLst xmlns:a="http://schemas.openxmlformats.org/drawingml/2006/main">
              <a:ext uri="{FF2B5EF4-FFF2-40B4-BE49-F238E27FC236}">
                <a16:creationId xmlns:a16="http://schemas.microsoft.com/office/drawing/2014/main" id="{CD67554F-3D83-433B-84B1-03812733B190}"/>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Use the agreed help route.</a:t>
            </a:r>
          </a:p>
        </p:txBody>
      </p:sp>
      <p:sp>
        <p:nvSpPr>
          <p:cNvPr id="20" name="body-5">
            <a:extLst xmlns:a="http://schemas.openxmlformats.org/drawingml/2006/main">
              <a:ext uri="{FF2B5EF4-FFF2-40B4-BE49-F238E27FC236}">
                <a16:creationId xmlns:a16="http://schemas.microsoft.com/office/drawing/2014/main" id="{60C96764-4A82-4924-8CFD-49EE15FAA4D7}"/>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We listen without judging each other.</a:t>
            </a:r>
          </a:p>
        </p:txBody>
      </p:sp>
    </p:spTree>
    <p:extLst>
      <p:ext uri="{BB962C8B-B14F-4D97-AF65-F5344CB8AC3E}">
        <p14:creationId xmlns:p14="http://schemas.microsoft.com/office/powerpoint/2010/main" val="13691881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2CA9BFC-91D6-4E1F-A868-FA6417B8D8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184B3EE-1B83-4D3F-A35F-80E82823E3D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STARTER</a:t>
            </a:r>
          </a:p>
        </p:txBody>
      </p:sp>
      <p:sp>
        <p:nvSpPr>
          <p:cNvPr id="3" name="slide-number-time">
            <a:extLst xmlns:a="http://schemas.openxmlformats.org/drawingml/2006/main">
              <a:ext uri="{FF2B5EF4-FFF2-40B4-BE49-F238E27FC236}">
                <a16:creationId xmlns:a16="http://schemas.microsoft.com/office/drawing/2014/main" id="{897C6A8C-70A1-47AD-A2FE-4C00764616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3 / 12  ·  2 min</a:t>
            </a:r>
          </a:p>
        </p:txBody>
      </p:sp>
      <p:sp>
        <p:nvSpPr>
          <p:cNvPr id="4" name="slide-title">
            <a:extLst xmlns:a="http://schemas.openxmlformats.org/drawingml/2006/main">
              <a:ext uri="{FF2B5EF4-FFF2-40B4-BE49-F238E27FC236}">
                <a16:creationId xmlns:a16="http://schemas.microsoft.com/office/drawing/2014/main" id="{31C5F347-218C-4DE9-8526-D8AC97478EA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Look at the diagram</a:t>
            </a:r>
          </a:p>
        </p:txBody>
      </p:sp>
      <p:sp>
        <p:nvSpPr>
          <p:cNvPr id="5" name="heading-rule">
            <a:extLst xmlns:a="http://schemas.openxmlformats.org/drawingml/2006/main">
              <a:ext uri="{FF2B5EF4-FFF2-40B4-BE49-F238E27FC236}">
                <a16:creationId xmlns:a16="http://schemas.microsoft.com/office/drawing/2014/main" id="{564A5958-580E-4CAC-B2D5-2942577B853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331A60C7-DF6A-4D09-8443-EAE28857AAD5}"/>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CAREERS-LAUNCH-A2-W06</a:t>
            </a:r>
          </a:p>
        </p:txBody>
      </p:sp>
      <p:sp>
        <p:nvSpPr>
          <p:cNvPr id="15" name="edition-label">
            <a:extLst xmlns:a="http://schemas.openxmlformats.org/drawingml/2006/main">
              <a:ext uri="{FF2B5EF4-FFF2-40B4-BE49-F238E27FC236}">
                <a16:creationId xmlns:a16="http://schemas.microsoft.com/office/drawing/2014/main" id="{E9C4646B-A2DB-47CD-9B88-8366B5301301}"/>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C34D29D3-4466-4904-88F0-BAEAD505EE38}"/>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pic>
        <p:nvPicPr>
          <p:cNvPr id="18" name="">
            <a:extLst xmlns:a="http://schemas.openxmlformats.org/drawingml/2006/main">
              <a:ext uri="{FF2B5EF4-FFF2-40B4-BE49-F238E27FC236}">
                <a16:creationId xmlns:a16="http://schemas.microsoft.com/office/drawing/2014/main" id="{9D55392C-EFE0-4EAD-B4B0-83FA134DC876}"/>
              </a:ext>
            </a:extLst>
          </p:cNvPr>
          <p:cNvPicPr>
            <a:picLocks xmlns:a="http://schemas.openxmlformats.org/drawingml/2006/main" noChangeAspect="1"/>
          </p:cNvPicPr>
          <p:nvPr/>
        </p:nvPicPr>
        <p:blipFill>
          <a:blip xmlns:r="http://schemas.openxmlformats.org/officeDocument/2006/relationships" xmlns:a="http://schemas.openxmlformats.org/drawingml/2006/main" r:embed="Rf9b71a67856042f9"/>
          <a:stretch xmlns:a="http://schemas.openxmlformats.org/drawingml/2006/main"/>
        </p:blipFill>
        <p:spPr>
          <a:xfrm xmlns:a="http://schemas.openxmlformats.org/drawingml/2006/main">
            <a:off x="609600" y="1770459"/>
            <a:ext cx="6343650" cy="3964781"/>
          </a:xfrm>
          <a:prstGeom xmlns:a="http://schemas.openxmlformats.org/drawingml/2006/main" prst="rect">
            <a:avLst/>
          </a:prstGeom>
        </p:spPr>
      </p:pic>
      <p:sp>
        <p:nvSpPr>
          <p:cNvPr id="19" name="body-0">
            <a:extLst xmlns:a="http://schemas.openxmlformats.org/drawingml/2006/main">
              <a:ext uri="{FF2B5EF4-FFF2-40B4-BE49-F238E27FC236}">
                <a16:creationId xmlns:a16="http://schemas.microsoft.com/office/drawing/2014/main" id="{57DE7B14-03C6-44A4-ADEF-A389F9D699EE}"/>
              </a:ext>
            </a:extLst>
          </p:cNvPr>
          <p:cNvSpPr>
            <a:spLocks xmlns:a="http://schemas.openxmlformats.org/drawingml/2006/main" noGrp="1"/>
          </p:cNvSpPr>
          <p:nvPr/>
        </p:nvSpPr>
        <p:spPr>
          <a:xfrm xmlns:a="http://schemas.openxmlformats.org/drawingml/2006/main">
            <a:off x="7381875" y="1714500"/>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Read the portfolio route.</a:t>
            </a:r>
          </a:p>
        </p:txBody>
      </p:sp>
      <p:sp>
        <p:nvSpPr>
          <p:cNvPr id="20" name="body-1">
            <a:extLst xmlns:a="http://schemas.openxmlformats.org/drawingml/2006/main">
              <a:ext uri="{FF2B5EF4-FFF2-40B4-BE49-F238E27FC236}">
                <a16:creationId xmlns:a16="http://schemas.microsoft.com/office/drawing/2014/main" id="{6C49FD1E-082C-46ED-BD65-5869357FEFFF}"/>
              </a:ext>
            </a:extLst>
          </p:cNvPr>
          <p:cNvSpPr>
            <a:spLocks xmlns:a="http://schemas.openxmlformats.org/drawingml/2006/main" noGrp="1"/>
          </p:cNvSpPr>
          <p:nvPr/>
        </p:nvSpPr>
        <p:spPr>
          <a:xfrm xmlns:a="http://schemas.openxmlformats.org/drawingml/2006/main">
            <a:off x="7381875" y="2199704"/>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What could an empty folder show?</a:t>
            </a:r>
          </a:p>
        </p:txBody>
      </p:sp>
      <p:sp>
        <p:nvSpPr>
          <p:cNvPr id="21" name="body-2">
            <a:extLst xmlns:a="http://schemas.openxmlformats.org/drawingml/2006/main">
              <a:ext uri="{FF2B5EF4-FFF2-40B4-BE49-F238E27FC236}">
                <a16:creationId xmlns:a16="http://schemas.microsoft.com/office/drawing/2014/main" id="{7BE34822-C512-4BD5-AF44-30090BF31A92}"/>
              </a:ext>
            </a:extLst>
          </p:cNvPr>
          <p:cNvSpPr>
            <a:spLocks xmlns:a="http://schemas.openxmlformats.org/drawingml/2006/main" noGrp="1"/>
          </p:cNvSpPr>
          <p:nvPr/>
        </p:nvSpPr>
        <p:spPr>
          <a:xfrm xmlns:a="http://schemas.openxmlformats.org/drawingml/2006/main">
            <a:off x="7381875" y="2684907"/>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Why keep a note of missing work?</a:t>
            </a:r>
          </a:p>
        </p:txBody>
      </p:sp>
      <p:sp>
        <p:nvSpPr>
          <p:cNvPr id="22" name="body-3">
            <a:extLst xmlns:a="http://schemas.openxmlformats.org/drawingml/2006/main">
              <a:ext uri="{FF2B5EF4-FFF2-40B4-BE49-F238E27FC236}">
                <a16:creationId xmlns:a16="http://schemas.microsoft.com/office/drawing/2014/main" id="{C2000FD8-BBA3-4430-B7E7-17C5B6E48BBE}"/>
              </a:ext>
            </a:extLst>
          </p:cNvPr>
          <p:cNvSpPr>
            <a:spLocks xmlns:a="http://schemas.openxmlformats.org/drawingml/2006/main" noGrp="1"/>
          </p:cNvSpPr>
          <p:nvPr/>
        </p:nvSpPr>
        <p:spPr>
          <a:xfrm xmlns:a="http://schemas.openxmlformats.org/drawingml/2006/main">
            <a:off x="7381875" y="3483864"/>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Point to the step that checks a claim.</a:t>
            </a:r>
          </a:p>
        </p:txBody>
      </p:sp>
    </p:spTree>
    <p:extLst>
      <p:ext uri="{BB962C8B-B14F-4D97-AF65-F5344CB8AC3E}">
        <p14:creationId xmlns:p14="http://schemas.microsoft.com/office/powerpoint/2010/main" val="1885040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50AFFD45-DDE8-4E13-AB19-AB490C4DC4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695C907-FAF0-40C0-94DA-EDA6AF2AFFBB}"/>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TODAY</a:t>
            </a:r>
          </a:p>
        </p:txBody>
      </p:sp>
      <p:sp>
        <p:nvSpPr>
          <p:cNvPr id="3" name="slide-number-time">
            <a:extLst xmlns:a="http://schemas.openxmlformats.org/drawingml/2006/main">
              <a:ext uri="{FF2B5EF4-FFF2-40B4-BE49-F238E27FC236}">
                <a16:creationId xmlns:a16="http://schemas.microsoft.com/office/drawing/2014/main" id="{B24D514A-FB80-4477-B77A-6CBF40FE34F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4 / 12</a:t>
            </a:r>
          </a:p>
        </p:txBody>
      </p:sp>
      <p:sp>
        <p:nvSpPr>
          <p:cNvPr id="4" name="slide-title">
            <a:extLst xmlns:a="http://schemas.openxmlformats.org/drawingml/2006/main">
              <a:ext uri="{FF2B5EF4-FFF2-40B4-BE49-F238E27FC236}">
                <a16:creationId xmlns:a16="http://schemas.microsoft.com/office/drawing/2014/main" id="{AC662DEC-F343-4B80-A316-EA02E40AB20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Today</a:t>
            </a:r>
          </a:p>
        </p:txBody>
      </p:sp>
      <p:sp>
        <p:nvSpPr>
          <p:cNvPr id="5" name="heading-rule">
            <a:extLst xmlns:a="http://schemas.openxmlformats.org/drawingml/2006/main">
              <a:ext uri="{FF2B5EF4-FFF2-40B4-BE49-F238E27FC236}">
                <a16:creationId xmlns:a16="http://schemas.microsoft.com/office/drawing/2014/main" id="{0AF1810E-209D-49EB-A790-135B09335F7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66F008D0-268A-4ECE-A855-21B57ADC8F18}"/>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CAREERS-LAUNCH-A2-W06</a:t>
            </a:r>
          </a:p>
        </p:txBody>
      </p:sp>
      <p:sp>
        <p:nvSpPr>
          <p:cNvPr id="11" name="edition-label">
            <a:extLst xmlns:a="http://schemas.openxmlformats.org/drawingml/2006/main">
              <a:ext uri="{FF2B5EF4-FFF2-40B4-BE49-F238E27FC236}">
                <a16:creationId xmlns:a16="http://schemas.microsoft.com/office/drawing/2014/main" id="{788CFB30-7CBE-4014-B032-8DC2ACFD800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EA904A03-002E-4189-A0F8-88FF05C4DD2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5CA1100B-3C12-4D22-8B3A-5D390927669E}"/>
              </a:ext>
            </a:extLst>
          </p:cNvPr>
          <p:cNvSpPr>
            <a:spLocks xmlns:a="http://schemas.openxmlformats.org/drawingml/2006/main" noGrp="1"/>
          </p:cNvSpPr>
          <p:nvPr/>
        </p:nvSpPr>
        <p:spPr>
          <a:xfrm xmlns:a="http://schemas.openxmlformats.org/drawingml/2006/main">
            <a:off x="609600" y="1676400"/>
            <a:ext cx="10972800" cy="7448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Build an application portfolio.</a:t>
            </a:r>
          </a:p>
        </p:txBody>
      </p:sp>
      <p:sp>
        <p:nvSpPr>
          <p:cNvPr id="15" name="body-1">
            <a:extLst xmlns:a="http://schemas.openxmlformats.org/drawingml/2006/main">
              <a:ext uri="{FF2B5EF4-FFF2-40B4-BE49-F238E27FC236}">
                <a16:creationId xmlns:a16="http://schemas.microsoft.com/office/drawing/2014/main" id="{44CA7D53-579D-445D-8E02-81F7AEA5022B}"/>
              </a:ext>
            </a:extLst>
          </p:cNvPr>
          <p:cNvSpPr>
            <a:spLocks xmlns:a="http://schemas.openxmlformats.org/drawingml/2006/main" noGrp="1"/>
          </p:cNvSpPr>
          <p:nvPr/>
        </p:nvSpPr>
        <p:spPr>
          <a:xfrm xmlns:a="http://schemas.openxmlformats.org/drawingml/2006/main">
            <a:off x="609600" y="25450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 can link each item to a real piece of work.</a:t>
            </a:r>
          </a:p>
        </p:txBody>
      </p:sp>
      <p:sp>
        <p:nvSpPr>
          <p:cNvPr id="16" name="body-2">
            <a:extLst xmlns:a="http://schemas.openxmlformats.org/drawingml/2006/main">
              <a:ext uri="{FF2B5EF4-FFF2-40B4-BE49-F238E27FC236}">
                <a16:creationId xmlns:a16="http://schemas.microsoft.com/office/drawing/2014/main" id="{1113C604-9484-434B-9EF8-CE13B7D2E0F0}"/>
              </a:ext>
            </a:extLst>
          </p:cNvPr>
          <p:cNvSpPr>
            <a:spLocks xmlns:a="http://schemas.openxmlformats.org/drawingml/2006/main" noGrp="1"/>
          </p:cNvSpPr>
          <p:nvPr/>
        </p:nvSpPr>
        <p:spPr>
          <a:xfrm xmlns:a="http://schemas.openxmlformats.org/drawingml/2006/main">
            <a:off x="609600" y="306514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 can check one claim against evidence.</a:t>
            </a:r>
          </a:p>
        </p:txBody>
      </p:sp>
      <p:sp>
        <p:nvSpPr>
          <p:cNvPr id="17" name="body-3">
            <a:extLst xmlns:a="http://schemas.openxmlformats.org/drawingml/2006/main">
              <a:ext uri="{FF2B5EF4-FFF2-40B4-BE49-F238E27FC236}">
                <a16:creationId xmlns:a16="http://schemas.microsoft.com/office/drawing/2014/main" id="{FC9F5832-1797-4743-9AE3-CA75FD494CDE}"/>
              </a:ext>
            </a:extLst>
          </p:cNvPr>
          <p:cNvSpPr>
            <a:spLocks xmlns:a="http://schemas.openxmlformats.org/drawingml/2006/main" noGrp="1"/>
          </p:cNvSpPr>
          <p:nvPr/>
        </p:nvSpPr>
        <p:spPr>
          <a:xfrm xmlns:a="http://schemas.openxmlformats.org/drawingml/2006/main">
            <a:off x="609600" y="358521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 can name a gap and a next step.</a:t>
            </a:r>
          </a:p>
        </p:txBody>
      </p:sp>
    </p:spTree>
    <p:extLst>
      <p:ext uri="{BB962C8B-B14F-4D97-AF65-F5344CB8AC3E}">
        <p14:creationId xmlns:p14="http://schemas.microsoft.com/office/powerpoint/2010/main" val="9280005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ide-rule">
            <a:extLst xmlns:a="http://schemas.openxmlformats.org/drawingml/2006/main">
              <a:ext uri="{FF2B5EF4-FFF2-40B4-BE49-F238E27FC236}">
                <a16:creationId xmlns:a16="http://schemas.microsoft.com/office/drawing/2014/main" id="{097687FC-1C0B-47D1-B37A-D2F6A8DD65A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EB332C-2485-4323-A5CE-5069692938C9}"/>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I DO</a:t>
            </a:r>
          </a:p>
        </p:txBody>
      </p:sp>
      <p:sp>
        <p:nvSpPr>
          <p:cNvPr id="3" name="slide-number-time">
            <a:extLst xmlns:a="http://schemas.openxmlformats.org/drawingml/2006/main">
              <a:ext uri="{FF2B5EF4-FFF2-40B4-BE49-F238E27FC236}">
                <a16:creationId xmlns:a16="http://schemas.microsoft.com/office/drawing/2014/main" id="{F99A3BF5-5E64-4EB6-9FBC-4AA41BF50F0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5 / 12  ·  5 min</a:t>
            </a:r>
          </a:p>
        </p:txBody>
      </p:sp>
      <p:sp>
        <p:nvSpPr>
          <p:cNvPr id="4" name="slide-title">
            <a:extLst xmlns:a="http://schemas.openxmlformats.org/drawingml/2006/main">
              <a:ext uri="{FF2B5EF4-FFF2-40B4-BE49-F238E27FC236}">
                <a16:creationId xmlns:a16="http://schemas.microsoft.com/office/drawing/2014/main" id="{1183019A-C132-4E6A-B158-7B8FDB02549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Watch the model</a:t>
            </a:r>
          </a:p>
        </p:txBody>
      </p:sp>
      <p:sp>
        <p:nvSpPr>
          <p:cNvPr id="5" name="heading-rule">
            <a:extLst xmlns:a="http://schemas.openxmlformats.org/drawingml/2006/main">
              <a:ext uri="{FF2B5EF4-FFF2-40B4-BE49-F238E27FC236}">
                <a16:creationId xmlns:a16="http://schemas.microsoft.com/office/drawing/2014/main" id="{D292F269-A0C9-4A49-A3BF-57410DADE0EC}"/>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20" name="printed-id">
            <a:extLst xmlns:a="http://schemas.openxmlformats.org/drawingml/2006/main">
              <a:ext uri="{FF2B5EF4-FFF2-40B4-BE49-F238E27FC236}">
                <a16:creationId xmlns:a16="http://schemas.microsoft.com/office/drawing/2014/main" id="{C5B7F60E-A73C-489D-BD0E-0061649220CC}"/>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CAREERS-LAUNCH-A2-W06</a:t>
            </a:r>
          </a:p>
        </p:txBody>
      </p:sp>
      <p:sp>
        <p:nvSpPr>
          <p:cNvPr id="21" name="edition-label">
            <a:extLst xmlns:a="http://schemas.openxmlformats.org/drawingml/2006/main">
              <a:ext uri="{FF2B5EF4-FFF2-40B4-BE49-F238E27FC236}">
                <a16:creationId xmlns:a16="http://schemas.microsoft.com/office/drawing/2014/main" id="{84C3B745-B6CB-42D8-BB95-E58551E7CEB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22" name="licence-credit">
            <a:extLst xmlns:a="http://schemas.openxmlformats.org/drawingml/2006/main">
              <a:ext uri="{FF2B5EF4-FFF2-40B4-BE49-F238E27FC236}">
                <a16:creationId xmlns:a16="http://schemas.microsoft.com/office/drawing/2014/main" id="{851A0815-45F4-4C47-AE5E-BEE6F0B0CA9D}"/>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24" name="body-0">
            <a:extLst xmlns:a="http://schemas.openxmlformats.org/drawingml/2006/main">
              <a:ext uri="{FF2B5EF4-FFF2-40B4-BE49-F238E27FC236}">
                <a16:creationId xmlns:a16="http://schemas.microsoft.com/office/drawing/2014/main" id="{F23E615D-633F-4AEC-85FC-97572F0B3E53}"/>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index says: CV, item 1, first draft.</a:t>
            </a:r>
          </a:p>
        </p:txBody>
      </p:sp>
      <p:sp>
        <p:nvSpPr>
          <p:cNvPr id="25" name="body-1">
            <a:extLst xmlns:a="http://schemas.openxmlformats.org/drawingml/2006/main">
              <a:ext uri="{FF2B5EF4-FFF2-40B4-BE49-F238E27FC236}">
                <a16:creationId xmlns:a16="http://schemas.microsoft.com/office/drawing/2014/main" id="{9FE963E1-470E-447B-8A4E-BE5AEE8E9EA6}"/>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actual CV is in the folder.</a:t>
            </a:r>
          </a:p>
        </p:txBody>
      </p:sp>
      <p:sp>
        <p:nvSpPr>
          <p:cNvPr id="26" name="body-2">
            <a:extLst xmlns:a="http://schemas.openxmlformats.org/drawingml/2006/main">
              <a:ext uri="{FF2B5EF4-FFF2-40B4-BE49-F238E27FC236}">
                <a16:creationId xmlns:a16="http://schemas.microsoft.com/office/drawing/2014/main" id="{B51B5736-01AE-4595-93E5-5529AD4EAD6E}"/>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A claim says: I check work with care.</a:t>
            </a:r>
          </a:p>
        </p:txBody>
      </p:sp>
      <p:sp>
        <p:nvSpPr>
          <p:cNvPr id="27" name="body-3">
            <a:extLst xmlns:a="http://schemas.openxmlformats.org/drawingml/2006/main">
              <a:ext uri="{FF2B5EF4-FFF2-40B4-BE49-F238E27FC236}">
                <a16:creationId xmlns:a16="http://schemas.microsoft.com/office/drawing/2014/main" id="{E04D50D9-8148-4E80-8B08-F30F8F17746D}"/>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example says what the learner checked.</a:t>
            </a:r>
          </a:p>
        </p:txBody>
      </p:sp>
      <p:sp>
        <p:nvSpPr>
          <p:cNvPr id="28" name="body-4">
            <a:extLst xmlns:a="http://schemas.openxmlformats.org/drawingml/2006/main">
              <a:ext uri="{FF2B5EF4-FFF2-40B4-BE49-F238E27FC236}">
                <a16:creationId xmlns:a16="http://schemas.microsoft.com/office/drawing/2014/main" id="{20BB9364-E18A-45E5-BE54-5B9C6D4D9A5E}"/>
              </a:ext>
            </a:extLst>
          </p:cNvPr>
          <p:cNvSpPr>
            <a:spLocks xmlns:a="http://schemas.openxmlformats.org/drawingml/2006/main" noGrp="1"/>
          </p:cNvSpPr>
          <p:nvPr/>
        </p:nvSpPr>
        <p:spPr>
          <a:xfrm xmlns:a="http://schemas.openxmlformats.org/drawingml/2006/main">
            <a:off x="609600" y="375666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application is missing: mark it to find.</a:t>
            </a:r>
          </a:p>
        </p:txBody>
      </p:sp>
      <p:sp>
        <p:nvSpPr>
          <p:cNvPr id="29" name="body-5">
            <a:extLst xmlns:a="http://schemas.openxmlformats.org/drawingml/2006/main">
              <a:ext uri="{FF2B5EF4-FFF2-40B4-BE49-F238E27FC236}">
                <a16:creationId xmlns:a16="http://schemas.microsoft.com/office/drawing/2014/main" id="{11C7B658-634C-4EEA-9854-0DDACA4BD16F}"/>
              </a:ext>
            </a:extLst>
          </p:cNvPr>
          <p:cNvSpPr>
            <a:spLocks xmlns:a="http://schemas.openxmlformats.org/drawingml/2006/main" noGrp="1"/>
          </p:cNvSpPr>
          <p:nvPr/>
        </p:nvSpPr>
        <p:spPr>
          <a:xfrm xmlns:a="http://schemas.openxmlformats.org/drawingml/2006/main">
            <a:off x="609600" y="427672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Keep the gap and choose a next step.</a:t>
            </a:r>
          </a:p>
        </p:txBody>
      </p:sp>
      <p:sp>
        <p:nvSpPr>
          <p:cNvPr id="30" name="diagram-caption">
            <a:extLst xmlns:a="http://schemas.openxmlformats.org/drawingml/2006/main">
              <a:ext uri="{FF2B5EF4-FFF2-40B4-BE49-F238E27FC236}">
                <a16:creationId xmlns:a16="http://schemas.microsoft.com/office/drawing/2014/main" id="{FC71C855-EBF2-403A-A84C-6E763A685DA1}"/>
              </a:ext>
            </a:extLst>
          </p:cNvPr>
          <p:cNvSpPr>
            <a:spLocks xmlns:a="http://schemas.openxmlformats.org/drawingml/2006/main" noGrp="1"/>
          </p:cNvSpPr>
          <p:nvPr/>
        </p:nvSpPr>
        <p:spPr>
          <a:xfrm xmlns:a="http://schemas.openxmlformats.org/drawingml/2006/main">
            <a:off x="609600" y="53721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6B68"/>
                </a:solidFill>
                <a:latin typeface="Arial"/>
                <a:ea typeface="Arial"/>
                <a:cs typeface="Arial"/>
              </a:defRPr>
            </a:defPPr>
            <a:lvl1pPr algn="l">
              <a:buNone/>
              <a:defRPr sz="2025" b="0">
                <a:solidFill>
                  <a:srgbClr val="146B68"/>
                </a:solidFill>
                <a:latin typeface="Arial"/>
                <a:ea typeface="Arial"/>
                <a:cs typeface="Arial"/>
              </a:defRPr>
            </a:lvl1pPr>
            <a:lvl2pPr algn="l">
              <a:buNone/>
              <a:defRPr sz="2025" b="0">
                <a:solidFill>
                  <a:srgbClr val="146B68"/>
                </a:solidFill>
                <a:latin typeface="Arial"/>
                <a:ea typeface="Arial"/>
                <a:cs typeface="Arial"/>
              </a:defRPr>
            </a:lvl2pPr>
            <a:lvl3pPr algn="l">
              <a:buNone/>
              <a:defRPr sz="2025" b="0">
                <a:solidFill>
                  <a:srgbClr val="146B68"/>
                </a:solidFill>
                <a:latin typeface="Arial"/>
                <a:ea typeface="Arial"/>
                <a:cs typeface="Arial"/>
              </a:defRPr>
            </a:lvl3pPr>
            <a:lvl4pPr algn="l">
              <a:buNone/>
              <a:defRPr sz="2025" b="0">
                <a:solidFill>
                  <a:srgbClr val="146B68"/>
                </a:solidFill>
                <a:latin typeface="Arial"/>
                <a:ea typeface="Arial"/>
                <a:cs typeface="Arial"/>
              </a:defRPr>
            </a:lvl4pPr>
            <a:lvl5pPr algn="l">
              <a:buNone/>
              <a:defRPr sz="2025" b="0">
                <a:solidFill>
                  <a:srgbClr val="146B68"/>
                </a:solidFill>
                <a:latin typeface="Arial"/>
                <a:ea typeface="Arial"/>
                <a:cs typeface="Arial"/>
              </a:defRPr>
            </a:lvl5pPr>
            <a:lvl6pPr algn="l">
              <a:buNone/>
              <a:defRPr sz="2025" b="0">
                <a:solidFill>
                  <a:srgbClr val="146B68"/>
                </a:solidFill>
                <a:latin typeface="Arial"/>
                <a:ea typeface="Arial"/>
                <a:cs typeface="Arial"/>
              </a:defRPr>
            </a:lvl6pPr>
            <a:lvl7pPr algn="l">
              <a:buNone/>
              <a:defRPr sz="2025" b="0">
                <a:solidFill>
                  <a:srgbClr val="146B68"/>
                </a:solidFill>
                <a:latin typeface="Arial"/>
                <a:ea typeface="Arial"/>
                <a:cs typeface="Arial"/>
              </a:defRPr>
            </a:lvl7pPr>
            <a:lvl8pPr algn="l">
              <a:buNone/>
              <a:defRPr sz="2025" b="0">
                <a:solidFill>
                  <a:srgbClr val="146B68"/>
                </a:solidFill>
                <a:latin typeface="Arial"/>
                <a:ea typeface="Arial"/>
                <a:cs typeface="Arial"/>
              </a:defRPr>
            </a:lvl8pPr>
            <a:lvl9pPr algn="l">
              <a:buNone/>
              <a:defRPr sz="2025" b="0">
                <a:solidFill>
                  <a:srgbClr val="146B68"/>
                </a:solidFill>
                <a:latin typeface="Arial"/>
                <a:ea typeface="Arial"/>
                <a:cs typeface="Arial"/>
              </a:defRPr>
            </a:lvl9pPr>
          </a:lstStyle>
          <a:p xmlns:a="http://schemas.openxmlformats.org/drawingml/2006/main">
            <a:pPr algn="l">
              <a:buNone/>
              <a:defRPr sz="2025" b="0">
                <a:solidFill>
                  <a:srgbClr val="146B68"/>
                </a:solidFill>
                <a:latin typeface="Arial"/>
                <a:ea typeface="Arial"/>
                <a:cs typeface="Arial"/>
              </a:defRPr>
            </a:pPr>
            <a:r>
              <a:rPr sz="2025" b="0">
                <a:solidFill>
                  <a:srgbClr val="146B68"/>
                </a:solidFill>
                <a:latin typeface="Arial"/>
                <a:ea typeface="Arial"/>
                <a:cs typeface="Arial"/>
              </a:rPr>
              <a:t>Actual work → clear label → honest index.</a:t>
            </a:r>
          </a:p>
        </p:txBody>
      </p:sp>
    </p:spTree>
    <p:extLst>
      <p:ext uri="{BB962C8B-B14F-4D97-AF65-F5344CB8AC3E}">
        <p14:creationId xmlns:p14="http://schemas.microsoft.com/office/powerpoint/2010/main" val="17334477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7C3C7B59-169A-4D85-8D42-4261DA4D87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2A3137D-D971-4680-86CB-8E5867DC8EF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WE DO</a:t>
            </a:r>
          </a:p>
        </p:txBody>
      </p:sp>
      <p:sp>
        <p:nvSpPr>
          <p:cNvPr id="3" name="slide-number-time">
            <a:extLst xmlns:a="http://schemas.openxmlformats.org/drawingml/2006/main">
              <a:ext uri="{FF2B5EF4-FFF2-40B4-BE49-F238E27FC236}">
                <a16:creationId xmlns:a16="http://schemas.microsoft.com/office/drawing/2014/main" id="{C6C2E05D-C255-4FC3-A178-7C3A3ADF0B7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6 / 12  ·  5 min</a:t>
            </a:r>
          </a:p>
        </p:txBody>
      </p:sp>
      <p:sp>
        <p:nvSpPr>
          <p:cNvPr id="4" name="slide-title">
            <a:extLst xmlns:a="http://schemas.openxmlformats.org/drawingml/2006/main">
              <a:ext uri="{FF2B5EF4-FFF2-40B4-BE49-F238E27FC236}">
                <a16:creationId xmlns:a16="http://schemas.microsoft.com/office/drawing/2014/main" id="{D811F47D-1684-41AA-908F-4905BB64C2D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Which step fits the facts?</a:t>
            </a:r>
          </a:p>
        </p:txBody>
      </p:sp>
      <p:sp>
        <p:nvSpPr>
          <p:cNvPr id="5" name="heading-rule">
            <a:extLst xmlns:a="http://schemas.openxmlformats.org/drawingml/2006/main">
              <a:ext uri="{FF2B5EF4-FFF2-40B4-BE49-F238E27FC236}">
                <a16:creationId xmlns:a16="http://schemas.microsoft.com/office/drawing/2014/main" id="{B1A3538F-988B-4A37-9593-681FEF7FC7E8}"/>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E929F48F-CB8A-43F6-9EBB-1D3B70608B3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CAREERS-LAUNCH-A2-W06</a:t>
            </a:r>
          </a:p>
        </p:txBody>
      </p:sp>
      <p:sp>
        <p:nvSpPr>
          <p:cNvPr id="11" name="edition-label">
            <a:extLst xmlns:a="http://schemas.openxmlformats.org/drawingml/2006/main">
              <a:ext uri="{FF2B5EF4-FFF2-40B4-BE49-F238E27FC236}">
                <a16:creationId xmlns:a16="http://schemas.microsoft.com/office/drawing/2014/main" id="{F8FC46E8-C419-4543-AFE8-4A3AE199E80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C1BD0028-6BB2-4DF9-979D-E866AEED941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6ECDBC84-CBD5-41C6-A1E7-78CBB780EC71}"/>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index lists a CV, but no CV is there. What fits?</a:t>
            </a:r>
          </a:p>
        </p:txBody>
      </p:sp>
      <p:sp>
        <p:nvSpPr>
          <p:cNvPr id="15" name="body-1">
            <a:extLst xmlns:a="http://schemas.openxmlformats.org/drawingml/2006/main">
              <a:ext uri="{FF2B5EF4-FFF2-40B4-BE49-F238E27FC236}">
                <a16:creationId xmlns:a16="http://schemas.microsoft.com/office/drawing/2014/main" id="{6A50435D-4FA5-4A21-A00A-9024D5A620DD}"/>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A  Tick it as complete because it is listed.</a:t>
            </a:r>
          </a:p>
        </p:txBody>
      </p:sp>
      <p:sp>
        <p:nvSpPr>
          <p:cNvPr id="16" name="body-2">
            <a:extLst xmlns:a="http://schemas.openxmlformats.org/drawingml/2006/main">
              <a:ext uri="{FF2B5EF4-FFF2-40B4-BE49-F238E27FC236}">
                <a16:creationId xmlns:a16="http://schemas.microsoft.com/office/drawing/2014/main" id="{2D40E9ED-0AAC-4ABF-91A4-B29F929BEAA5}"/>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B  Mark the gap and find or make the work.</a:t>
            </a:r>
          </a:p>
        </p:txBody>
      </p:sp>
      <p:sp>
        <p:nvSpPr>
          <p:cNvPr id="17" name="body-3">
            <a:extLst xmlns:a="http://schemas.openxmlformats.org/drawingml/2006/main">
              <a:ext uri="{FF2B5EF4-FFF2-40B4-BE49-F238E27FC236}">
                <a16:creationId xmlns:a16="http://schemas.microsoft.com/office/drawing/2014/main" id="{15760A3D-C8CB-444C-97BB-DD974FBE7880}"/>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  Copy an adult model and claim it as yours.</a:t>
            </a:r>
          </a:p>
        </p:txBody>
      </p:sp>
    </p:spTree>
    <p:extLst>
      <p:ext uri="{BB962C8B-B14F-4D97-AF65-F5344CB8AC3E}">
        <p14:creationId xmlns:p14="http://schemas.microsoft.com/office/powerpoint/2010/main" val="19771722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D8E5E2AB-ADA1-4838-ACF0-FFEF5BB56E1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18FBDEC-1AF3-4715-AA09-479266E2E3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YOU DO PRACTICE</a:t>
            </a:r>
          </a:p>
        </p:txBody>
      </p:sp>
      <p:sp>
        <p:nvSpPr>
          <p:cNvPr id="3" name="slide-number-time">
            <a:extLst xmlns:a="http://schemas.openxmlformats.org/drawingml/2006/main">
              <a:ext uri="{FF2B5EF4-FFF2-40B4-BE49-F238E27FC236}">
                <a16:creationId xmlns:a16="http://schemas.microsoft.com/office/drawing/2014/main" id="{E419A0B8-80B8-4D04-AA00-03054673B72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7 / 12  ·  12 min</a:t>
            </a:r>
          </a:p>
        </p:txBody>
      </p:sp>
      <p:sp>
        <p:nvSpPr>
          <p:cNvPr id="4" name="slide-title">
            <a:extLst xmlns:a="http://schemas.openxmlformats.org/drawingml/2006/main">
              <a:ext uri="{FF2B5EF4-FFF2-40B4-BE49-F238E27FC236}">
                <a16:creationId xmlns:a16="http://schemas.microsoft.com/office/drawing/2014/main" id="{B7103CDA-DC45-49C7-8199-AFE03A2C4AD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Our practice tasks</a:t>
            </a:r>
          </a:p>
        </p:txBody>
      </p:sp>
      <p:sp>
        <p:nvSpPr>
          <p:cNvPr id="5" name="heading-rule">
            <a:extLst xmlns:a="http://schemas.openxmlformats.org/drawingml/2006/main">
              <a:ext uri="{FF2B5EF4-FFF2-40B4-BE49-F238E27FC236}">
                <a16:creationId xmlns:a16="http://schemas.microsoft.com/office/drawing/2014/main" id="{AE716716-2304-4E68-B71C-7212C01D83C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78B1FBD6-B0E3-4DBA-AE92-B3E0AB199D82}"/>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CAREERS-LAUNCH-A2-W06</a:t>
            </a:r>
          </a:p>
        </p:txBody>
      </p:sp>
      <p:sp>
        <p:nvSpPr>
          <p:cNvPr id="12" name="edition-label">
            <a:extLst xmlns:a="http://schemas.openxmlformats.org/drawingml/2006/main">
              <a:ext uri="{FF2B5EF4-FFF2-40B4-BE49-F238E27FC236}">
                <a16:creationId xmlns:a16="http://schemas.microsoft.com/office/drawing/2014/main" id="{464D54B0-7F69-47C0-8884-FB04772F8A7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1042A2BA-D71F-4608-81F1-56527613E05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D56143C9-633B-49FB-8C6A-CF18E2F3A1D5}"/>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Gather your actual work with an adult.</a:t>
            </a:r>
          </a:p>
        </p:txBody>
      </p:sp>
      <p:sp>
        <p:nvSpPr>
          <p:cNvPr id="16" name="body-1">
            <a:extLst xmlns:a="http://schemas.openxmlformats.org/drawingml/2006/main">
              <a:ext uri="{FF2B5EF4-FFF2-40B4-BE49-F238E27FC236}">
                <a16:creationId xmlns:a16="http://schemas.microsoft.com/office/drawing/2014/main" id="{B6D490E7-1C72-4E1B-9DFF-6A51D7CD83AC}"/>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Supported: find and label two actual items.</a:t>
            </a:r>
          </a:p>
        </p:txBody>
      </p:sp>
      <p:sp>
        <p:nvSpPr>
          <p:cNvPr id="17" name="body-2">
            <a:extLst xmlns:a="http://schemas.openxmlformats.org/drawingml/2006/main">
              <a:ext uri="{FF2B5EF4-FFF2-40B4-BE49-F238E27FC236}">
                <a16:creationId xmlns:a16="http://schemas.microsoft.com/office/drawing/2014/main" id="{08901007-A68D-49A8-B527-C521B404D0E8}"/>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Independent: index the work and improve one item.</a:t>
            </a:r>
          </a:p>
        </p:txBody>
      </p:sp>
      <p:sp>
        <p:nvSpPr>
          <p:cNvPr id="18" name="body-3">
            <a:extLst xmlns:a="http://schemas.openxmlformats.org/drawingml/2006/main">
              <a:ext uri="{FF2B5EF4-FFF2-40B4-BE49-F238E27FC236}">
                <a16:creationId xmlns:a16="http://schemas.microsoft.com/office/drawing/2014/main" id="{3EA2B60A-E54D-4F8D-BC00-957C59C26DE0}"/>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Aspire: check how a claim fits the role.</a:t>
            </a:r>
          </a:p>
        </p:txBody>
      </p:sp>
      <p:sp>
        <p:nvSpPr>
          <p:cNvPr id="19" name="body-4">
            <a:extLst xmlns:a="http://schemas.openxmlformats.org/drawingml/2006/main">
              <a:ext uri="{FF2B5EF4-FFF2-40B4-BE49-F238E27FC236}">
                <a16:creationId xmlns:a16="http://schemas.microsoft.com/office/drawing/2014/main" id="{4583C6A7-E83D-4290-B65B-7B823E667CBC}"/>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Mark gaps. Do not claim a model as your work.</a:t>
            </a:r>
          </a:p>
        </p:txBody>
      </p:sp>
    </p:spTree>
    <p:extLst>
      <p:ext uri="{BB962C8B-B14F-4D97-AF65-F5344CB8AC3E}">
        <p14:creationId xmlns:p14="http://schemas.microsoft.com/office/powerpoint/2010/main" val="16249497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66C44A98-3D93-4F51-B71E-69741D9BC75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B347D01-AF7A-441C-95AA-D9DDC8E7E67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YOU DO EVIDENCE</a:t>
            </a:r>
          </a:p>
        </p:txBody>
      </p:sp>
      <p:sp>
        <p:nvSpPr>
          <p:cNvPr id="3" name="slide-number-time">
            <a:extLst xmlns:a="http://schemas.openxmlformats.org/drawingml/2006/main">
              <a:ext uri="{FF2B5EF4-FFF2-40B4-BE49-F238E27FC236}">
                <a16:creationId xmlns:a16="http://schemas.microsoft.com/office/drawing/2014/main" id="{0E908289-E77F-4BCE-B478-BFBAF859EEEF}"/>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8 / 12  ·  6 min</a:t>
            </a:r>
          </a:p>
        </p:txBody>
      </p:sp>
      <p:sp>
        <p:nvSpPr>
          <p:cNvPr id="4" name="slide-title">
            <a:extLst xmlns:a="http://schemas.openxmlformats.org/drawingml/2006/main">
              <a:ext uri="{FF2B5EF4-FFF2-40B4-BE49-F238E27FC236}">
                <a16:creationId xmlns:a16="http://schemas.microsoft.com/office/drawing/2014/main" id="{F44AEF26-FD38-4E07-B155-D8216D2DD38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My evidence</a:t>
            </a:r>
          </a:p>
        </p:txBody>
      </p:sp>
      <p:sp>
        <p:nvSpPr>
          <p:cNvPr id="5" name="heading-rule">
            <a:extLst xmlns:a="http://schemas.openxmlformats.org/drawingml/2006/main">
              <a:ext uri="{FF2B5EF4-FFF2-40B4-BE49-F238E27FC236}">
                <a16:creationId xmlns:a16="http://schemas.microsoft.com/office/drawing/2014/main" id="{65EC05C6-1DDD-4ED7-9416-85B2792CABF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86E837DB-874D-4D98-95F1-0A5EB40AFEE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CAREERS-LAUNCH-A2-W06</a:t>
            </a:r>
          </a:p>
        </p:txBody>
      </p:sp>
      <p:sp>
        <p:nvSpPr>
          <p:cNvPr id="13" name="edition-label">
            <a:extLst xmlns:a="http://schemas.openxmlformats.org/drawingml/2006/main">
              <a:ext uri="{FF2B5EF4-FFF2-40B4-BE49-F238E27FC236}">
                <a16:creationId xmlns:a16="http://schemas.microsoft.com/office/drawing/2014/main" id="{BB784062-68CA-4716-9541-FCC2624ADBF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56B640B8-BB08-416A-913B-30884D348613}"/>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39255F30-454A-4B62-B463-8ED37A47597C}"/>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the index beside the actual work.</a:t>
            </a:r>
          </a:p>
        </p:txBody>
      </p:sp>
      <p:sp>
        <p:nvSpPr>
          <p:cNvPr id="17" name="body-1">
            <a:extLst xmlns:a="http://schemas.openxmlformats.org/drawingml/2006/main">
              <a:ext uri="{FF2B5EF4-FFF2-40B4-BE49-F238E27FC236}">
                <a16:creationId xmlns:a16="http://schemas.microsoft.com/office/drawing/2014/main" id="{B400D461-D55C-4F45-8F48-1294C146E800}"/>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Point to one claim and its evidence.</a:t>
            </a:r>
          </a:p>
        </p:txBody>
      </p:sp>
      <p:sp>
        <p:nvSpPr>
          <p:cNvPr id="18" name="body-2">
            <a:extLst xmlns:a="http://schemas.openxmlformats.org/drawingml/2006/main">
              <a:ext uri="{FF2B5EF4-FFF2-40B4-BE49-F238E27FC236}">
                <a16:creationId xmlns:a16="http://schemas.microsoft.com/office/drawing/2014/main" id="{8D8AABD9-7E6F-4862-B495-E49E9D6827DA}"/>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one change after feedback.</a:t>
            </a:r>
          </a:p>
        </p:txBody>
      </p:sp>
      <p:sp>
        <p:nvSpPr>
          <p:cNvPr id="19" name="body-3">
            <a:extLst xmlns:a="http://schemas.openxmlformats.org/drawingml/2006/main">
              <a:ext uri="{FF2B5EF4-FFF2-40B4-BE49-F238E27FC236}">
                <a16:creationId xmlns:a16="http://schemas.microsoft.com/office/drawing/2014/main" id="{BE650D55-78CE-4B6C-B594-BF1451CAB65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Record any gap, help and next step.</a:t>
            </a:r>
          </a:p>
        </p:txBody>
      </p:sp>
    </p:spTree>
    <p:extLst>
      <p:ext uri="{BB962C8B-B14F-4D97-AF65-F5344CB8AC3E}">
        <p14:creationId xmlns:p14="http://schemas.microsoft.com/office/powerpoint/2010/main" val="6726751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D99B899-E3BF-49C2-AF68-6D6CF11441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39133E1-A8EA-4557-ABD0-F0F049DC8CF7}"/>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TIDY AND EVIDENCE CHECK</a:t>
            </a:r>
          </a:p>
        </p:txBody>
      </p:sp>
      <p:sp>
        <p:nvSpPr>
          <p:cNvPr id="3" name="slide-number-time">
            <a:extLst xmlns:a="http://schemas.openxmlformats.org/drawingml/2006/main">
              <a:ext uri="{FF2B5EF4-FFF2-40B4-BE49-F238E27FC236}">
                <a16:creationId xmlns:a16="http://schemas.microsoft.com/office/drawing/2014/main" id="{D74A83CD-4D73-4E4A-B78C-D8D074F8EC5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9 / 12  ·  4 min</a:t>
            </a:r>
          </a:p>
        </p:txBody>
      </p:sp>
      <p:sp>
        <p:nvSpPr>
          <p:cNvPr id="4" name="slide-title">
            <a:extLst xmlns:a="http://schemas.openxmlformats.org/drawingml/2006/main">
              <a:ext uri="{FF2B5EF4-FFF2-40B4-BE49-F238E27FC236}">
                <a16:creationId xmlns:a16="http://schemas.microsoft.com/office/drawing/2014/main" id="{35FC91DF-147B-4BBB-8617-27DEAEDBA17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Tidy and check</a:t>
            </a:r>
          </a:p>
        </p:txBody>
      </p:sp>
      <p:sp>
        <p:nvSpPr>
          <p:cNvPr id="5" name="heading-rule">
            <a:extLst xmlns:a="http://schemas.openxmlformats.org/drawingml/2006/main">
              <a:ext uri="{FF2B5EF4-FFF2-40B4-BE49-F238E27FC236}">
                <a16:creationId xmlns:a16="http://schemas.microsoft.com/office/drawing/2014/main" id="{5D051C0A-7299-461B-B2A0-C9E66A73DDB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FCC4FAC5-3A9D-4290-89BD-E0E63D688C2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CAREERS-LAUNCH-A2-W06</a:t>
            </a:r>
          </a:p>
        </p:txBody>
      </p:sp>
      <p:sp>
        <p:nvSpPr>
          <p:cNvPr id="15" name="edition-label">
            <a:extLst xmlns:a="http://schemas.openxmlformats.org/drawingml/2006/main">
              <a:ext uri="{FF2B5EF4-FFF2-40B4-BE49-F238E27FC236}">
                <a16:creationId xmlns:a16="http://schemas.microsoft.com/office/drawing/2014/main" id="{D9053BBE-8E7B-41BA-A413-FA20D299185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0FA6775F-4A85-43BE-A6BA-4F00B61D612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8" name="step-number-0">
            <a:extLst xmlns:a="http://schemas.openxmlformats.org/drawingml/2006/main">
              <a:ext uri="{FF2B5EF4-FFF2-40B4-BE49-F238E27FC236}">
                <a16:creationId xmlns:a16="http://schemas.microsoft.com/office/drawing/2014/main" id="{087B79DB-B13D-4C00-8AD4-C621817E4ADF}"/>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EFF555BC-8EEA-48FD-8C9B-0D66683B0A36}"/>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Check your learner ID and both pages.</a:t>
            </a:r>
          </a:p>
        </p:txBody>
      </p:sp>
      <p:sp>
        <p:nvSpPr>
          <p:cNvPr id="20" name="step-number-1">
            <a:extLst xmlns:a="http://schemas.openxmlformats.org/drawingml/2006/main">
              <a:ext uri="{FF2B5EF4-FFF2-40B4-BE49-F238E27FC236}">
                <a16:creationId xmlns:a16="http://schemas.microsoft.com/office/drawing/2014/main" id="{C413AB4A-46AA-4E82-B169-6983E9E0B43B}"/>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7C8BF745-D880-47F7-B45F-9EF87BFBF3DB}"/>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Keep your work and record the help used.</a:t>
            </a:r>
          </a:p>
        </p:txBody>
      </p:sp>
      <p:sp>
        <p:nvSpPr>
          <p:cNvPr id="22" name="step-number-2">
            <a:extLst xmlns:a="http://schemas.openxmlformats.org/drawingml/2006/main">
              <a:ext uri="{FF2B5EF4-FFF2-40B4-BE49-F238E27FC236}">
                <a16:creationId xmlns:a16="http://schemas.microsoft.com/office/drawing/2014/main" id="{8ACC7B68-7ACB-459D-9247-0B3147F1F0D9}"/>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31AFDBC3-92F9-4C91-941F-C1B505420F6C}"/>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Put resources away safely.</a:t>
            </a:r>
          </a:p>
        </p:txBody>
      </p:sp>
      <p:sp>
        <p:nvSpPr>
          <p:cNvPr id="24" name="step-number-3">
            <a:extLst xmlns:a="http://schemas.openxmlformats.org/drawingml/2006/main">
              <a:ext uri="{FF2B5EF4-FFF2-40B4-BE49-F238E27FC236}">
                <a16:creationId xmlns:a16="http://schemas.microsoft.com/office/drawing/2014/main" id="{21BDBCB0-4ED5-4F35-ADB5-9F2511A34D83}"/>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11DBDF86-9217-4206-908E-A4E9A9C073B9}"/>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Tell the adult your next step.</a:t>
            </a:r>
          </a:p>
        </p:txBody>
      </p:sp>
    </p:spTree>
    <p:extLst>
      <p:ext uri="{BB962C8B-B14F-4D97-AF65-F5344CB8AC3E}">
        <p14:creationId xmlns:p14="http://schemas.microsoft.com/office/powerpoint/2010/main" val="6573137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59C9C49A-1ECE-4C68-AA48-8F45006DD9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D7B1B8-710A-4637-AD51-BB394286BE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EXIT TICKET</a:t>
            </a:r>
          </a:p>
        </p:txBody>
      </p:sp>
      <p:sp>
        <p:nvSpPr>
          <p:cNvPr id="3" name="slide-number-time">
            <a:extLst xmlns:a="http://schemas.openxmlformats.org/drawingml/2006/main">
              <a:ext uri="{FF2B5EF4-FFF2-40B4-BE49-F238E27FC236}">
                <a16:creationId xmlns:a16="http://schemas.microsoft.com/office/drawing/2014/main" id="{66109A82-556F-4CF9-B5DC-048C49CC545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10 / 12  ·  2 min</a:t>
            </a:r>
          </a:p>
        </p:txBody>
      </p:sp>
      <p:sp>
        <p:nvSpPr>
          <p:cNvPr id="4" name="slide-title">
            <a:extLst xmlns:a="http://schemas.openxmlformats.org/drawingml/2006/main">
              <a:ext uri="{FF2B5EF4-FFF2-40B4-BE49-F238E27FC236}">
                <a16:creationId xmlns:a16="http://schemas.microsoft.com/office/drawing/2014/main" id="{64E39EA1-F3DB-4E05-BB09-794112D7B4A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Exit ticket</a:t>
            </a:r>
          </a:p>
        </p:txBody>
      </p:sp>
      <p:sp>
        <p:nvSpPr>
          <p:cNvPr id="5" name="heading-rule">
            <a:extLst xmlns:a="http://schemas.openxmlformats.org/drawingml/2006/main">
              <a:ext uri="{FF2B5EF4-FFF2-40B4-BE49-F238E27FC236}">
                <a16:creationId xmlns:a16="http://schemas.microsoft.com/office/drawing/2014/main" id="{0A4497D4-A50A-4696-9DCC-0A2E8DE99BE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9" name="printed-id">
            <a:extLst xmlns:a="http://schemas.openxmlformats.org/drawingml/2006/main">
              <a:ext uri="{FF2B5EF4-FFF2-40B4-BE49-F238E27FC236}">
                <a16:creationId xmlns:a16="http://schemas.microsoft.com/office/drawing/2014/main" id="{932148A5-B336-4611-A94A-0D8133BB92F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CAREERS-LAUNCH-A2-W06</a:t>
            </a:r>
          </a:p>
        </p:txBody>
      </p:sp>
      <p:sp>
        <p:nvSpPr>
          <p:cNvPr id="10" name="edition-label">
            <a:extLst xmlns:a="http://schemas.openxmlformats.org/drawingml/2006/main">
              <a:ext uri="{FF2B5EF4-FFF2-40B4-BE49-F238E27FC236}">
                <a16:creationId xmlns:a16="http://schemas.microsoft.com/office/drawing/2014/main" id="{5BDFC492-DAA3-45FD-974E-5934DD86EACE}"/>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1" name="licence-credit">
            <a:extLst xmlns:a="http://schemas.openxmlformats.org/drawingml/2006/main">
              <a:ext uri="{FF2B5EF4-FFF2-40B4-BE49-F238E27FC236}">
                <a16:creationId xmlns:a16="http://schemas.microsoft.com/office/drawing/2014/main" id="{684DD80D-ABF7-4E04-914D-90124C59383E}"/>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3" name="body-0">
            <a:extLst xmlns:a="http://schemas.openxmlformats.org/drawingml/2006/main">
              <a:ext uri="{FF2B5EF4-FFF2-40B4-BE49-F238E27FC236}">
                <a16:creationId xmlns:a16="http://schemas.microsoft.com/office/drawing/2014/main" id="{65D257E5-CECE-41DE-9AB8-111EC1B098FF}"/>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Which item can you find and explain?</a:t>
            </a:r>
          </a:p>
        </p:txBody>
      </p:sp>
      <p:sp>
        <p:nvSpPr>
          <p:cNvPr id="14" name="body-1">
            <a:extLst xmlns:a="http://schemas.openxmlformats.org/drawingml/2006/main">
              <a:ext uri="{FF2B5EF4-FFF2-40B4-BE49-F238E27FC236}">
                <a16:creationId xmlns:a16="http://schemas.microsoft.com/office/drawing/2014/main" id="{6F4C84B4-AD02-4D06-85D4-17AEF7372EE5}"/>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Which claim did you check?</a:t>
            </a:r>
          </a:p>
        </p:txBody>
      </p:sp>
      <p:sp>
        <p:nvSpPr>
          <p:cNvPr id="15" name="body-2">
            <a:extLst xmlns:a="http://schemas.openxmlformats.org/drawingml/2006/main">
              <a:ext uri="{FF2B5EF4-FFF2-40B4-BE49-F238E27FC236}">
                <a16:creationId xmlns:a16="http://schemas.microsoft.com/office/drawing/2014/main" id="{B480E7FE-B5BC-4A66-80F3-704BD1D4F1B3}"/>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What is your next step before assessment?</a:t>
            </a:r>
          </a:p>
        </p:txBody>
      </p:sp>
    </p:spTree>
    <p:extLst>
      <p:ext uri="{BB962C8B-B14F-4D97-AF65-F5344CB8AC3E}">
        <p14:creationId xmlns:p14="http://schemas.microsoft.com/office/powerpoint/2010/main" val="216046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D7E27DC8-5780-4C6F-967F-69F5095E01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10CD50A6-479A-42E3-9889-EC0655F086C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VOCABULARY</a:t>
            </a:r>
          </a:p>
        </p:txBody>
      </p:sp>
      <p:sp>
        <p:nvSpPr>
          <p:cNvPr id="3" name="slide-number-time">
            <a:extLst xmlns:a="http://schemas.openxmlformats.org/drawingml/2006/main">
              <a:ext uri="{FF2B5EF4-FFF2-40B4-BE49-F238E27FC236}">
                <a16:creationId xmlns:a16="http://schemas.microsoft.com/office/drawing/2014/main" id="{71513864-1F44-47A2-8AB0-36023EBE7FDC}"/>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11 / 12</a:t>
            </a:r>
          </a:p>
        </p:txBody>
      </p:sp>
      <p:sp>
        <p:nvSpPr>
          <p:cNvPr id="4" name="slide-title">
            <a:extLst xmlns:a="http://schemas.openxmlformats.org/drawingml/2006/main">
              <a:ext uri="{FF2B5EF4-FFF2-40B4-BE49-F238E27FC236}">
                <a16:creationId xmlns:a16="http://schemas.microsoft.com/office/drawing/2014/main" id="{60AC37AA-F3B2-4D83-838F-55D3F178146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Words that help</a:t>
            </a:r>
          </a:p>
        </p:txBody>
      </p:sp>
      <p:sp>
        <p:nvSpPr>
          <p:cNvPr id="5" name="heading-rule">
            <a:extLst xmlns:a="http://schemas.openxmlformats.org/drawingml/2006/main">
              <a:ext uri="{FF2B5EF4-FFF2-40B4-BE49-F238E27FC236}">
                <a16:creationId xmlns:a16="http://schemas.microsoft.com/office/drawing/2014/main" id="{A88D4494-77DD-42F8-A953-8F665FD2C3F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A55B9542-E345-4C7A-A0EC-BB2D0E57999A}"/>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CAREERS-LAUNCH-A2-W06</a:t>
            </a:r>
          </a:p>
        </p:txBody>
      </p:sp>
      <p:sp>
        <p:nvSpPr>
          <p:cNvPr id="13" name="edition-label">
            <a:extLst xmlns:a="http://schemas.openxmlformats.org/drawingml/2006/main">
              <a:ext uri="{FF2B5EF4-FFF2-40B4-BE49-F238E27FC236}">
                <a16:creationId xmlns:a16="http://schemas.microsoft.com/office/drawing/2014/main" id="{79C90A18-ACEE-4E26-A658-19337AA5301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B8C65DA7-B3D3-4863-BFEB-F8AC4C662AAF}"/>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AD5ECC91-FF83-473B-A80F-A2DCEA5EA4F5}"/>
              </a:ext>
            </a:extLst>
          </p:cNvPr>
          <p:cNvSpPr>
            <a:spLocks xmlns:a="http://schemas.openxmlformats.org/drawingml/2006/main" noGrp="1"/>
          </p:cNvSpPr>
          <p:nvPr/>
        </p:nvSpPr>
        <p:spPr>
          <a:xfrm xmlns:a="http://schemas.openxmlformats.org/drawingml/2006/main">
            <a:off x="6096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Portfolio: A set of work that shows your skills.</a:t>
            </a:r>
          </a:p>
        </p:txBody>
      </p:sp>
      <p:sp>
        <p:nvSpPr>
          <p:cNvPr id="17" name="body-1">
            <a:extLst xmlns:a="http://schemas.openxmlformats.org/drawingml/2006/main">
              <a:ext uri="{FF2B5EF4-FFF2-40B4-BE49-F238E27FC236}">
                <a16:creationId xmlns:a16="http://schemas.microsoft.com/office/drawing/2014/main" id="{88C68CAC-CA38-4207-B855-B297B6EF22BE}"/>
              </a:ext>
            </a:extLst>
          </p:cNvPr>
          <p:cNvSpPr>
            <a:spLocks xmlns:a="http://schemas.openxmlformats.org/drawingml/2006/main" noGrp="1"/>
          </p:cNvSpPr>
          <p:nvPr/>
        </p:nvSpPr>
        <p:spPr>
          <a:xfrm xmlns:a="http://schemas.openxmlformats.org/drawingml/2006/main">
            <a:off x="609600" y="2247329"/>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Index: A list that helps you find each item.</a:t>
            </a:r>
          </a:p>
        </p:txBody>
      </p:sp>
      <p:sp>
        <p:nvSpPr>
          <p:cNvPr id="18" name="body-2">
            <a:extLst xmlns:a="http://schemas.openxmlformats.org/drawingml/2006/main">
              <a:ext uri="{FF2B5EF4-FFF2-40B4-BE49-F238E27FC236}">
                <a16:creationId xmlns:a16="http://schemas.microsoft.com/office/drawing/2014/main" id="{98BB6F30-A928-488D-96C8-5767784E31A6}"/>
              </a:ext>
            </a:extLst>
          </p:cNvPr>
          <p:cNvSpPr>
            <a:spLocks xmlns:a="http://schemas.openxmlformats.org/drawingml/2006/main" noGrp="1"/>
          </p:cNvSpPr>
          <p:nvPr/>
        </p:nvSpPr>
        <p:spPr>
          <a:xfrm xmlns:a="http://schemas.openxmlformats.org/drawingml/2006/main">
            <a:off x="609600" y="3112961"/>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Evidence: Work or words that show what you did.</a:t>
            </a:r>
          </a:p>
        </p:txBody>
      </p:sp>
      <p:sp>
        <p:nvSpPr>
          <p:cNvPr id="19" name="body-3">
            <a:extLst xmlns:a="http://schemas.openxmlformats.org/drawingml/2006/main">
              <a:ext uri="{FF2B5EF4-FFF2-40B4-BE49-F238E27FC236}">
                <a16:creationId xmlns:a16="http://schemas.microsoft.com/office/drawing/2014/main" id="{C20DEC5F-CD4B-4158-AF0D-E60254BF4CDF}"/>
              </a:ext>
            </a:extLst>
          </p:cNvPr>
          <p:cNvSpPr>
            <a:spLocks xmlns:a="http://schemas.openxmlformats.org/drawingml/2006/main" noGrp="1"/>
          </p:cNvSpPr>
          <p:nvPr/>
        </p:nvSpPr>
        <p:spPr>
          <a:xfrm xmlns:a="http://schemas.openxmlformats.org/drawingml/2006/main">
            <a:off x="609600" y="3978593"/>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Claim: Something you say is true.</a:t>
            </a:r>
          </a:p>
        </p:txBody>
      </p:sp>
      <p:sp>
        <p:nvSpPr>
          <p:cNvPr id="20" name="body-0">
            <a:extLst xmlns:a="http://schemas.openxmlformats.org/drawingml/2006/main">
              <a:ext uri="{FF2B5EF4-FFF2-40B4-BE49-F238E27FC236}">
                <a16:creationId xmlns:a16="http://schemas.microsoft.com/office/drawing/2014/main" id="{E1D697A6-2187-411F-9F04-95AEDEFD8F1F}"/>
              </a:ext>
            </a:extLst>
          </p:cNvPr>
          <p:cNvSpPr>
            <a:spLocks xmlns:a="http://schemas.openxmlformats.org/drawingml/2006/main" noGrp="1"/>
          </p:cNvSpPr>
          <p:nvPr/>
        </p:nvSpPr>
        <p:spPr>
          <a:xfrm xmlns:a="http://schemas.openxmlformats.org/drawingml/2006/main">
            <a:off x="63627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Version: One copy made at a certain stage.</a:t>
            </a:r>
          </a:p>
        </p:txBody>
      </p:sp>
      <p:sp>
        <p:nvSpPr>
          <p:cNvPr id="21" name="body-1">
            <a:extLst xmlns:a="http://schemas.openxmlformats.org/drawingml/2006/main">
              <a:ext uri="{FF2B5EF4-FFF2-40B4-BE49-F238E27FC236}">
                <a16:creationId xmlns:a16="http://schemas.microsoft.com/office/drawing/2014/main" id="{CBDB7742-827E-4DF1-ADBF-52ACD82E81C1}"/>
              </a:ext>
            </a:extLst>
          </p:cNvPr>
          <p:cNvSpPr>
            <a:spLocks xmlns:a="http://schemas.openxmlformats.org/drawingml/2006/main" noGrp="1"/>
          </p:cNvSpPr>
          <p:nvPr/>
        </p:nvSpPr>
        <p:spPr>
          <a:xfrm xmlns:a="http://schemas.openxmlformats.org/drawingml/2006/main">
            <a:off x="6362700" y="2247329"/>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Gap: Something missing or not yet done.</a:t>
            </a:r>
          </a:p>
        </p:txBody>
      </p:sp>
      <p:sp>
        <p:nvSpPr>
          <p:cNvPr id="22" name="body-2">
            <a:extLst xmlns:a="http://schemas.openxmlformats.org/drawingml/2006/main">
              <a:ext uri="{FF2B5EF4-FFF2-40B4-BE49-F238E27FC236}">
                <a16:creationId xmlns:a16="http://schemas.microsoft.com/office/drawing/2014/main" id="{6E4AC5B5-5DB5-4AFD-A540-86B7945174BF}"/>
              </a:ext>
            </a:extLst>
          </p:cNvPr>
          <p:cNvSpPr>
            <a:spLocks xmlns:a="http://schemas.openxmlformats.org/drawingml/2006/main" noGrp="1"/>
          </p:cNvSpPr>
          <p:nvPr/>
        </p:nvSpPr>
        <p:spPr>
          <a:xfrm xmlns:a="http://schemas.openxmlformats.org/drawingml/2006/main">
            <a:off x="6362700" y="2799207"/>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Review: Check work and choose a next step.</a:t>
            </a:r>
          </a:p>
        </p:txBody>
      </p:sp>
    </p:spTree>
    <p:extLst>
      <p:ext uri="{BB962C8B-B14F-4D97-AF65-F5344CB8AC3E}">
        <p14:creationId xmlns:p14="http://schemas.microsoft.com/office/powerpoint/2010/main" val="1724659072"/>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506853DF-EDE9-47DE-B379-5CA30FE0143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C5D01BA-4C5C-4CC7-8930-4470E839FB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STAFF BRIEF</a:t>
            </a:r>
          </a:p>
        </p:txBody>
      </p:sp>
      <p:sp>
        <p:nvSpPr>
          <p:cNvPr id="3" name="slide-number-time">
            <a:extLst xmlns:a="http://schemas.openxmlformats.org/drawingml/2006/main">
              <a:ext uri="{FF2B5EF4-FFF2-40B4-BE49-F238E27FC236}">
                <a16:creationId xmlns:a16="http://schemas.microsoft.com/office/drawing/2014/main" id="{6935380F-44D1-4452-83AA-C691894F81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12 / 12</a:t>
            </a:r>
          </a:p>
        </p:txBody>
      </p:sp>
      <p:sp>
        <p:nvSpPr>
          <p:cNvPr id="4" name="slide-title">
            <a:extLst xmlns:a="http://schemas.openxmlformats.org/drawingml/2006/main">
              <a:ext uri="{FF2B5EF4-FFF2-40B4-BE49-F238E27FC236}">
                <a16:creationId xmlns:a16="http://schemas.microsoft.com/office/drawing/2014/main" id="{9509DD9B-423A-4951-96E4-2F49524E35F0}"/>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Staff brief</a:t>
            </a:r>
          </a:p>
        </p:txBody>
      </p:sp>
      <p:sp>
        <p:nvSpPr>
          <p:cNvPr id="5" name="heading-rule">
            <a:extLst xmlns:a="http://schemas.openxmlformats.org/drawingml/2006/main">
              <a:ext uri="{FF2B5EF4-FFF2-40B4-BE49-F238E27FC236}">
                <a16:creationId xmlns:a16="http://schemas.microsoft.com/office/drawing/2014/main" id="{CD306737-F981-46D9-9315-54D5AE4B79B9}"/>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515AEF30-6294-44DB-81F6-F3CB66FDC9B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CAREERS-LAUNCH-A2-W06</a:t>
            </a:r>
          </a:p>
        </p:txBody>
      </p:sp>
      <p:sp>
        <p:nvSpPr>
          <p:cNvPr id="12" name="edition-label">
            <a:extLst xmlns:a="http://schemas.openxmlformats.org/drawingml/2006/main">
              <a:ext uri="{FF2B5EF4-FFF2-40B4-BE49-F238E27FC236}">
                <a16:creationId xmlns:a16="http://schemas.microsoft.com/office/drawing/2014/main" id="{9F510AFB-D341-4DF2-B29D-CEE167391426}"/>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594BF42D-B6E5-41F7-A227-2AD8399D7E4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61E01433-5B72-41AB-B4BB-59FA79C627F3}"/>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Read the planner and local support route.</a:t>
            </a:r>
          </a:p>
        </p:txBody>
      </p:sp>
      <p:sp>
        <p:nvSpPr>
          <p:cNvPr id="16" name="body-1">
            <a:extLst xmlns:a="http://schemas.openxmlformats.org/drawingml/2006/main">
              <a:ext uri="{FF2B5EF4-FFF2-40B4-BE49-F238E27FC236}">
                <a16:creationId xmlns:a16="http://schemas.microsoft.com/office/drawing/2014/main" id="{365D8A69-7368-41E6-901B-C63D119685CE}"/>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Use the task limits and right to pass.</a:t>
            </a:r>
          </a:p>
        </p:txBody>
      </p:sp>
      <p:sp>
        <p:nvSpPr>
          <p:cNvPr id="17" name="body-2">
            <a:extLst xmlns:a="http://schemas.openxmlformats.org/drawingml/2006/main">
              <a:ext uri="{FF2B5EF4-FFF2-40B4-BE49-F238E27FC236}">
                <a16:creationId xmlns:a16="http://schemas.microsoft.com/office/drawing/2014/main" id="{FE40F02C-1AC4-41E6-88B9-54CB5E2D1172}"/>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TA: scribe exact words; record physical help.</a:t>
            </a:r>
          </a:p>
        </p:txBody>
      </p:sp>
      <p:sp>
        <p:nvSpPr>
          <p:cNvPr id="18" name="body-3">
            <a:extLst xmlns:a="http://schemas.openxmlformats.org/drawingml/2006/main">
              <a:ext uri="{FF2B5EF4-FFF2-40B4-BE49-F238E27FC236}">
                <a16:creationId xmlns:a16="http://schemas.microsoft.com/office/drawing/2014/main" id="{09F7BA08-B0D3-407F-B420-DAE0E9FF12B8}"/>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each learner’s own evidence.</a:t>
            </a:r>
          </a:p>
        </p:txBody>
      </p:sp>
      <p:sp>
        <p:nvSpPr>
          <p:cNvPr id="19" name="body-4">
            <a:extLst xmlns:a="http://schemas.openxmlformats.org/drawingml/2006/main">
              <a:ext uri="{FF2B5EF4-FFF2-40B4-BE49-F238E27FC236}">
                <a16:creationId xmlns:a16="http://schemas.microsoft.com/office/drawing/2014/main" id="{80AE7E45-3807-4F32-B830-F0825E0A9BB3}"/>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Learner voice: Space, Voice, Audience, Influence.</a:t>
            </a:r>
          </a:p>
        </p:txBody>
      </p:sp>
    </p:spTree>
    <p:extLst>
      <p:ext uri="{BB962C8B-B14F-4D97-AF65-F5344CB8AC3E}">
        <p14:creationId xmlns:p14="http://schemas.microsoft.com/office/powerpoint/2010/main" val="1752919071"/>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
  <dc:title>Build an application portfolio</dc:title>
  <dcterms:created xsi:type="dcterms:W3CDTF">2026-10-25T11:07:44.0990000Z</dcterms:created>
  <dcterms:modified xsi:type="dcterms:W3CDTF">2026-10-25T11:07:44.0990000Z</dcterms:modified>
</coreProperties>
</file>