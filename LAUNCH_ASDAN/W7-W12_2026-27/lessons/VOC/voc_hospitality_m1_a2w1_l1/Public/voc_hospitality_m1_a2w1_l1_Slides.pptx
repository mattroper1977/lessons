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e9b4e074524ed5" /><Relationship Type="http://schemas.openxmlformats.org/officeDocument/2006/relationships/extended-properties" Target="/docProps/app.xml" Id="R2e8e7b518dab4561" /><Relationship Type="http://schemas.openxmlformats.org/officeDocument/2006/relationships/officeDocument" Target="/ppt/presentation.xml" Id="R69bc2d6d2dda48ea" /></Relationships>
</file>

<file path=ppt/presentation.xml><?xml version="1.0" encoding="utf-8"?>
<p:presentation xmlns:p="http://schemas.openxmlformats.org/presentationml/2006/main">
  <p:sldMasterIdLst>
    <p:sldMasterId xmlns:r="http://schemas.openxmlformats.org/officeDocument/2006/relationships" id="2147483648" r:id="Rff26fb686d3d4cb4"/>
  </p:sldMasterIdLst>
  <p:notesMasterIdLst>
    <p:notesMasterId xmlns:r="http://schemas.openxmlformats.org/officeDocument/2006/relationships" r:id="R647ddf36d3604c45"/>
  </p:notesMasterIdLst>
  <p:sldIdLst>
    <p:sldId xmlns:r="http://schemas.openxmlformats.org/officeDocument/2006/relationships" id="256" r:id="Rf5cbd86b3c234be3"/>
    <p:sldId xmlns:r="http://schemas.openxmlformats.org/officeDocument/2006/relationships" id="257" r:id="R16233cdc6b7b4df8"/>
    <p:sldId xmlns:r="http://schemas.openxmlformats.org/officeDocument/2006/relationships" id="258" r:id="Rb03b31760f6645ef"/>
    <p:sldId xmlns:r="http://schemas.openxmlformats.org/officeDocument/2006/relationships" id="259" r:id="R1fdb8cc07a6a4532"/>
    <p:sldId xmlns:r="http://schemas.openxmlformats.org/officeDocument/2006/relationships" id="260" r:id="R951eb0befe7845e7"/>
    <p:sldId xmlns:r="http://schemas.openxmlformats.org/officeDocument/2006/relationships" id="261" r:id="R26cc11e96f9e45fb"/>
    <p:sldId xmlns:r="http://schemas.openxmlformats.org/officeDocument/2006/relationships" id="262" r:id="R2767eca24dac4a06"/>
    <p:sldId xmlns:r="http://schemas.openxmlformats.org/officeDocument/2006/relationships" id="263" r:id="R4df4914ff9864fcd"/>
    <p:sldId xmlns:r="http://schemas.openxmlformats.org/officeDocument/2006/relationships" id="264" r:id="Ra04baa10f80e4914"/>
    <p:sldId xmlns:r="http://schemas.openxmlformats.org/officeDocument/2006/relationships" id="265" r:id="Rea5436bbcd664384"/>
    <p:sldId xmlns:r="http://schemas.openxmlformats.org/officeDocument/2006/relationships" id="266" r:id="R2cdf180a443c4614"/>
    <p:sldId xmlns:r="http://schemas.openxmlformats.org/officeDocument/2006/relationships" id="267" r:id="Rbc175a5e5dbe42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67032a1d554891" /><Relationship Type="http://schemas.openxmlformats.org/officeDocument/2006/relationships/slideMaster" Target="/ppt/slideMasters/slideMaster1.xml" Id="Rff26fb686d3d4cb4" /><Relationship Type="http://schemas.openxmlformats.org/officeDocument/2006/relationships/notesMaster" Target="/ppt/notesMasters/notesMaster1.xml" Id="R647ddf36d3604c45" /><Relationship Type="http://schemas.openxmlformats.org/officeDocument/2006/relationships/presProps" Target="/ppt/presProps.xml" Id="Ra1603876d0aa49f6" /><Relationship Type="http://schemas.openxmlformats.org/officeDocument/2006/relationships/tableStyles" Target="/ppt/tableStyles.xml" Id="R588ede47f7a1411c" /><Relationship Type="http://schemas.openxmlformats.org/officeDocument/2006/relationships/slide" Target="/ppt/slides/slide1.xml" Id="Rf5cbd86b3c234be3" /><Relationship Type="http://schemas.openxmlformats.org/officeDocument/2006/relationships/slide" Target="/ppt/slides/slide2.xml" Id="R16233cdc6b7b4df8" /><Relationship Type="http://schemas.openxmlformats.org/officeDocument/2006/relationships/slide" Target="/ppt/slides/slide3.xml" Id="Rb03b31760f6645ef" /><Relationship Type="http://schemas.openxmlformats.org/officeDocument/2006/relationships/slide" Target="/ppt/slides/slide4.xml" Id="R1fdb8cc07a6a4532" /><Relationship Type="http://schemas.openxmlformats.org/officeDocument/2006/relationships/slide" Target="/ppt/slides/slide5.xml" Id="R951eb0befe7845e7" /><Relationship Type="http://schemas.openxmlformats.org/officeDocument/2006/relationships/slide" Target="/ppt/slides/slide6.xml" Id="R26cc11e96f9e45fb" /><Relationship Type="http://schemas.openxmlformats.org/officeDocument/2006/relationships/slide" Target="/ppt/slides/slide7.xml" Id="R2767eca24dac4a06" /><Relationship Type="http://schemas.openxmlformats.org/officeDocument/2006/relationships/slide" Target="/ppt/slides/slide8.xml" Id="R4df4914ff9864fcd" /><Relationship Type="http://schemas.openxmlformats.org/officeDocument/2006/relationships/slide" Target="/ppt/slides/slide9.xml" Id="Ra04baa10f80e4914" /><Relationship Type="http://schemas.openxmlformats.org/officeDocument/2006/relationships/slide" Target="/ppt/slides/slide10.xml" Id="Rea5436bbcd664384" /><Relationship Type="http://schemas.openxmlformats.org/officeDocument/2006/relationships/slide" Target="/ppt/slides/slide11.xml" Id="R2cdf180a443c4614" /><Relationship Type="http://schemas.openxmlformats.org/officeDocument/2006/relationships/slide" Target="/ppt/slides/slide12.xml" Id="Rbc175a5e5dbe42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f2c9bab8de54d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8faedde9ea4637" /><Relationship Type="http://schemas.openxmlformats.org/officeDocument/2006/relationships/notesMaster" Target="/ppt/notesMasters/notesMaster1.xml" Id="R9fb50ee0216349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dc0b7d420a4143" /><Relationship Type="http://schemas.openxmlformats.org/officeDocument/2006/relationships/notesMaster" Target="/ppt/notesMasters/notesMaster1.xml" Id="Rcbb5f52c903c44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c84984e2e3479c" /><Relationship Type="http://schemas.openxmlformats.org/officeDocument/2006/relationships/notesMaster" Target="/ppt/notesMasters/notesMaster1.xml" Id="R0c341614275847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6f7232bf4544ba" /><Relationship Type="http://schemas.openxmlformats.org/officeDocument/2006/relationships/notesMaster" Target="/ppt/notesMasters/notesMaster1.xml" Id="R727d50a2f67c4a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10a431d8574b85" /><Relationship Type="http://schemas.openxmlformats.org/officeDocument/2006/relationships/notesMaster" Target="/ppt/notesMasters/notesMaster1.xml" Id="Ra0e845410a08449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ffaa627ce684c91" /><Relationship Type="http://schemas.openxmlformats.org/officeDocument/2006/relationships/notesMaster" Target="/ppt/notesMasters/notesMaster1.xml" Id="Rab88371151b04c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9731be9b1740eb" /><Relationship Type="http://schemas.openxmlformats.org/officeDocument/2006/relationships/notesMaster" Target="/ppt/notesMasters/notesMaster1.xml" Id="R6911b1b0812843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7481d350064b1a" /><Relationship Type="http://schemas.openxmlformats.org/officeDocument/2006/relationships/notesMaster" Target="/ppt/notesMasters/notesMaster1.xml" Id="R72158e60c12c4d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7b31f9a8a224c88" /><Relationship Type="http://schemas.openxmlformats.org/officeDocument/2006/relationships/notesMaster" Target="/ppt/notesMasters/notesMaster1.xml" Id="R6b8237a5f17c42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efe2ae0dc24d3b" /><Relationship Type="http://schemas.openxmlformats.org/officeDocument/2006/relationships/notesMaster" Target="/ppt/notesMasters/notesMaster1.xml" Id="Rfc5b68be4c024f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c163ed2a8b849ac" /><Relationship Type="http://schemas.openxmlformats.org/officeDocument/2006/relationships/notesMaster" Target="/ppt/notesMasters/notesMaster1.xml" Id="R78b335c08bbe4f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fec56f4bcd4c64" /><Relationship Type="http://schemas.openxmlformats.org/officeDocument/2006/relationships/notesMaster" Target="/ppt/notesMasters/notesMaster1.xml" Id="R2506bbb306864d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Title</a:t>
            </a:r>
          </a:p>
          <a:p xmlns:a="http://schemas.openxmlformats.org/drawingml/2006/main">
            <a:r>
              <a:t>Timing: 0 minutes.</a:t>
            </a:r>
          </a:p>
          <a:p xmlns:a="http://schemas.openxmlformats.org/drawingml/2006/main">
            <a:r>
              <a:t>Untimed opening. Read the question and explain that learners will choose a role for the next blog and CV lessons. The title “The Theory” is the workbook session label; keep the descriptive subtitle. Source: sources/MTP.xlsx; revision sha256:0895674f2901b602daf998b8a7aa1516522ce0c301b23bfba941fcc1807977cd. Medium Term Plan!C6; Lesson register!F6.</a:t>
            </a:r>
          </a:p>
          <a:p xmlns:a="http://schemas.openxmlformats.org/drawingml/2006/main">
            <a:r>
              <a:t>Edition: public.</a:t>
            </a:r>
          </a:p>
          <a:p xmlns:a="http://schemas.openxmlformats.org/drawingml/2006/main">
            <a:r>
              <a:t>Source: sources/MTP.xlsx; revision sha256:0895674f2901b602daf998b8a7aa1516522ce0c301b23bfba941fcc1807977cd; Medium Term Plan A6, B6, C6, E6, F6, G6, H6, I6, J6, K6; Lesson register B6, E6, F6, G6, H6, I6, J6.</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Arrival and regulation</a:t>
            </a:r>
          </a:p>
          <a:p xmlns:a="http://schemas.openxmlformats.org/drawingml/2006/main">
            <a:r>
              <a:t>Timing: 4 minutes.</a:t>
            </a:r>
          </a:p>
          <a:p xmlns:a="http://schemas.openxmlformats.org/drawingml/2006/main">
            <a:r>
              <a:t>4 minutes. Regulation: BLUE low energy; GREEN ready; AMBER tense; RED overwhelmed. Offer water, quiet breathing, a brief pause or a quieter seat. Do not require a public colour disclosure. Privately agree the first return action and keep access to the task. Accept pointing or a short spoken answer. Expected answers: check the learner’s own agreed Plan; looking after guests/customers; leave the knife alone, keep clear and tell the adult; no, hotels also employ housekeepers, chefs and porters. No handling task is required. If the earlier Plan is unavailable, give the retrieval question as a private check and record the gap; do not pretend it was agreed. No cold calling or pair work. Use individual stations and a private check-in. Read, rephrase or scribe the learner’s own words; record support. Do not supply the learner’s assessed choice or explanation. Offer a quiet reset, then one clear return step. Only VF, WS, I, NS, E and R are used; confirm local code definitions before marking. E does not establish an award claim.</a:t>
            </a:r>
          </a:p>
          <a:p xmlns:a="http://schemas.openxmlformats.org/drawingml/2006/main">
            <a:r>
              <a:t>Edition: public.</a:t>
            </a:r>
          </a:p>
          <a:p xmlns:a="http://schemas.openxmlformats.org/drawingml/2006/main">
            <a:r>
              <a:t>Source: sources/MTP.xlsx; revision sha256:0895674f2901b602daf998b8a7aa1516522ce0c301b23bfba941fcc1807977cd; Medium Term Plan A6, B6, C6, E6, F6, G6, H6, I6, J6, K6; Lesson register B6, E6, F6, G6, H6, I6, J6.</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Retrieval and starter</a:t>
            </a:r>
          </a:p>
          <a:p xmlns:a="http://schemas.openxmlformats.org/drawingml/2006/main">
            <a:r>
              <a:t>Timing: 2 minutes.</a:t>
            </a:r>
          </a:p>
          <a:p xmlns:a="http://schemas.openxmlformats.org/drawingml/2006/main">
            <a:r>
              <a:t>2 minutes. Sort with an adult at the board; learners can point or say their choice. For this introductory sort, café, hotel, pub and festival bar are the hospitality examples. A bus is transport. A hospital’s main purpose is health care, although it also has catering and cleaning work. Explain this boundary rather than marking all work in a hospital as non-hospitality. No actual visit, alcohol handling or sale is involved.</a:t>
            </a:r>
          </a:p>
          <a:p xmlns:a="http://schemas.openxmlformats.org/drawingml/2006/main">
            <a:r>
              <a:t>Edition: public.</a:t>
            </a:r>
          </a:p>
          <a:p xmlns:a="http://schemas.openxmlformats.org/drawingml/2006/main">
            <a:r>
              <a:t>Source: sources/MTP.xlsx; revision sha256:0895674f2901b602daf998b8a7aa1516522ce0c301b23bfba941fcc1807977cd; Medium Term Plan A6, B6, C6, E6, F6, G6, H6, I6, J6, K6; Lesson register B6, E6, F6, G6, H6, I6, J6.</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Today</a:t>
            </a:r>
          </a:p>
          <a:p xmlns:a="http://schemas.openxmlformats.org/drawingml/2006/main">
            <a:r>
              <a:t>Timing: 0 minutes.</a:t>
            </a:r>
          </a:p>
          <a:p xmlns:a="http://schemas.openxmlformats.org/drawingml/2006/main">
            <a:r>
              <a:t>Untimed. Read the exact workbook outcome. [QUAL] — planner mapping. The learner-friendly criteria unpack the activity and do not quote official assessment criteria. Exact official wording remains [VERIFY] until checked against the supplied official student book.</a:t>
            </a:r>
          </a:p>
          <a:p xmlns:a="http://schemas.openxmlformats.org/drawingml/2006/main">
            <a:r>
              <a:t>Edition: public.</a:t>
            </a:r>
          </a:p>
          <a:p xmlns:a="http://schemas.openxmlformats.org/drawingml/2006/main">
            <a:r>
              <a:t>Source: sources/MTP.xlsx; revision sha256:0895674f2901b602daf998b8a7aa1516522ce0c301b23bfba941fcc1807977cd; Medium Term Plan A6, B6, C6, E6, F6, G6, H6, I6, J6, K6; Lesson register B6, E6, F6, G6, H6, I6, J6.</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I DO</a:t>
            </a:r>
          </a:p>
          <a:p xmlns:a="http://schemas.openxmlformats.org/drawingml/2006/main">
            <a:r>
              <a:t>Timing: 5 minutes.</a:t>
            </a:r>
          </a:p>
          <a:p xmlns:a="http://schemas.openxmlformats.org/drawingml/2006/main">
            <a:r>
              <a:t>5 minutes. Draw or display one editable Hotel branch and add the four role labels as the model. Read one task at a time. Ask a private hinge: “Would the hotel work with a receptionist but nobody preparing rooms?” Expected no; a clean, ready room needs housekeeping. The model shows that businesses need several roles. The task statements are simple classroom examples, not universal job descriptions.</a:t>
            </a:r>
          </a:p>
          <a:p xmlns:a="http://schemas.openxmlformats.org/drawingml/2006/main">
            <a:r>
              <a:t>Edition: public.</a:t>
            </a:r>
          </a:p>
          <a:p xmlns:a="http://schemas.openxmlformats.org/drawingml/2006/main">
            <a:r>
              <a:t>Source: sources/MTP.xlsx; revision sha256:0895674f2901b602daf998b8a7aa1516522ce0c301b23bfba941fcc1807977cd; Medium Term Plan A6, B6, C6, E6, F6, G6, H6, I6, J6, K6; Lesson register B6, E6, F6, G6, H6, I6, J6.</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WE DO</a:t>
            </a:r>
          </a:p>
          <a:p xmlns:a="http://schemas.openxmlformats.org/drawingml/2006/main">
            <a:r>
              <a:t>Timing: 5 minutes.</a:t>
            </a:r>
          </a:p>
          <a:p xmlns:a="http://schemas.openxmlformats.org/drawingml/2006/main">
            <a:r>
              <a:t>5 minutes. Each learner contributes independently from a station; the adult places notes on the shared sheet if needed. Scribe only the learner’s words and mark that support. Record who contributed what and the handover into the class product. Do not allocate a ready-made answer as the learner’s contribution. Hinge: a photo shows the whole map but no identifiable notes. Is individual ownership clear? Expected no; identify the learner’s own note before capture. No cold calling.</a:t>
            </a:r>
          </a:p>
          <a:p xmlns:a="http://schemas.openxmlformats.org/drawingml/2006/main">
            <a:r>
              <a:t>Edition: public.</a:t>
            </a:r>
          </a:p>
          <a:p xmlns:a="http://schemas.openxmlformats.org/drawingml/2006/main">
            <a:r>
              <a:t>Source: sources/MTP.xlsx; revision sha256:0895674f2901b602daf998b8a7aa1516522ce0c301b23bfba941fcc1807977cd; Medium Term Plan A6, B6, C6, E6, F6, G6, H6, I6, J6, K6; Lesson register B6, E6, F6, G6, H6, I6, J6.</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practice</a:t>
            </a:r>
          </a:p>
          <a:p xmlns:a="http://schemas.openxmlformats.org/drawingml/2006/main">
            <a:r>
              <a:t>Timing: 12 minutes.</a:t>
            </a:r>
          </a:p>
          <a:p xmlns:a="http://schemas.openxmlformats.org/drawingml/2006/main">
            <a:r>
              <a:t>12 minutes. This is the first part of the 18-minute individual task. Provide the blank ten-row evidence record. Read-only role cards support matching. An MCQ match is a recorded learner choice, not an adult answer. Check two rows early and correct misconceptions through a question. Some roles can belong to more than one business; accept a sensible task and explanation.</a:t>
            </a:r>
          </a:p>
          <a:p xmlns:a="http://schemas.openxmlformats.org/drawingml/2006/main">
            <a:r>
              <a:t>Edition: public.</a:t>
            </a:r>
          </a:p>
          <a:p xmlns:a="http://schemas.openxmlformats.org/drawingml/2006/main">
            <a:r>
              <a:t>Source: sources/MTP.xlsx; revision sha256:0895674f2901b602daf998b8a7aa1516522ce0c301b23bfba941fcc1807977cd; Medium Term Plan A6, B6, C6, E6, F6, G6, H6, I6, J6, K6; Lesson register B6, E6, F6, G6, H6, I6, J6.</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YOU DO evidence</a:t>
            </a:r>
          </a:p>
          <a:p xmlns:a="http://schemas.openxmlformats.org/drawingml/2006/main">
            <a:r>
              <a:t>Timing: 6 minutes.</a:t>
            </a:r>
          </a:p>
          <a:p xmlns:a="http://schemas.openxmlformats.org/drawingml/2006/main">
            <a:r>
              <a:t>6 minutes. This completes the workbook’s 18-minute You Do. VOC1-L1-E1 is the identifiable contribution photo; VOC1-L1-E2 is the individual Business and Jobs record. Use approved adult equipment for the photo; learners need no phones. Keep the actual photo reference blank until captured. Record support separately and retain the learner’s own words.</a:t>
            </a:r>
          </a:p>
          <a:p xmlns:a="http://schemas.openxmlformats.org/drawingml/2006/main">
            <a:r>
              <a:t>Edition: public.</a:t>
            </a:r>
          </a:p>
          <a:p xmlns:a="http://schemas.openxmlformats.org/drawingml/2006/main">
            <a:r>
              <a:t>Source: sources/MTP.xlsx; revision sha256:0895674f2901b602daf998b8a7aa1516522ce0c301b23bfba941fcc1807977cd; Medium Term Plan A6, B6, C6, E6, F6, G6, H6, I6, J6, K6; Lesson register B6, E6, F6, G6, H6, I6, J6.</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Tidy and evidence check</a:t>
            </a:r>
          </a:p>
          <a:p xmlns:a="http://schemas.openxmlformats.org/drawingml/2006/main">
            <a:r>
              <a:t>Timing: 4 minutes.</a:t>
            </a:r>
          </a:p>
          <a:p xmlns:a="http://schemas.openxmlformats.org/drawingml/2006/main">
            <a:r>
              <a:t>4 minutes. Tidy the station and file the individual record. Store the photo/reference in the evidence app using the approved workflow. The photo alone is insufficient without ownership. Record actual duration, contribution and support; leave actual minutes and date blank until taught. Hospitality minutes are separate from Careers. Do not automatically claim the challenge completed.</a:t>
            </a:r>
          </a:p>
          <a:p xmlns:a="http://schemas.openxmlformats.org/drawingml/2006/main">
            <a:r>
              <a:t>Edition: public.</a:t>
            </a:r>
          </a:p>
          <a:p xmlns:a="http://schemas.openxmlformats.org/drawingml/2006/main">
            <a:r>
              <a:t>Source: sources/MTP.xlsx; revision sha256:0895674f2901b602daf998b8a7aa1516522ce0c301b23bfba941fcc1807977cd; Medium Term Plan A6, B6, C6, E6, F6, G6, H6, I6, J6, K6; Lesson register B6, E6, F6, G6, H6, I6, J6.</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Exit ticket</a:t>
            </a:r>
          </a:p>
          <a:p xmlns:a="http://schemas.openxmlformats.org/drawingml/2006/main">
            <a:r>
              <a:t>Timing: 2 minutes.</a:t>
            </a:r>
          </a:p>
          <a:p xmlns:a="http://schemas.openxmlformats.org/drawingml/2006/main">
            <a:r>
              <a:t>2 minutes. Private adult check, pointing or a short written answer. Expected example: receptionist, checks bookings. Accept any sensible chosen role/task pair. Use the answer to select the role card for the next lesson. The learner does not need to perform to the class.</a:t>
            </a:r>
          </a:p>
          <a:p xmlns:a="http://schemas.openxmlformats.org/drawingml/2006/main">
            <a:r>
              <a:t>Edition: public.</a:t>
            </a:r>
          </a:p>
          <a:p xmlns:a="http://schemas.openxmlformats.org/drawingml/2006/main">
            <a:r>
              <a:t>Source: sources/MTP.xlsx; revision sha256:0895674f2901b602daf998b8a7aa1516522ce0c301b23bfba941fcc1807977cd; Medium Term Plan A6, B6, C6, E6, F6, G6, H6, I6, J6, K6; Lesson register B6, E6, F6, G6, H6, I6, J6.</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Vocabulary</a:t>
            </a:r>
          </a:p>
          <a:p xmlns:a="http://schemas.openxmlformats.org/drawingml/2006/main">
            <a:r>
              <a:t>Timing: 0 minutes.</a:t>
            </a:r>
          </a:p>
          <a:p xmlns:a="http://schemas.openxmlformats.org/drawingml/2006/main">
            <a:r>
              <a:t>Untimed vocabulary reference. Read aloud and point to the matching picture cue on the vocabulary mat. Explain that a role may cross front/back boundaries; the terms are a useful starting distinction, not a rule about worth or status. Repeat the frame “A __ works at a __ and __.”</a:t>
            </a:r>
          </a:p>
          <a:p xmlns:a="http://schemas.openxmlformats.org/drawingml/2006/main">
            <a:r>
              <a:t>Edition: public.</a:t>
            </a:r>
          </a:p>
          <a:p xmlns:a="http://schemas.openxmlformats.org/drawingml/2006/main">
            <a:r>
              <a:t>Source: sources/MTP.xlsx; revision sha256:0895674f2901b602daf998b8a7aa1516522ce0c301b23bfba941fcc1807977cd; Medium Term Plan A6, B6, C6, E6, F6, G6, H6, I6, J6, K6; Lesson register B6, E6, F6, G6, H6, I6, J6.</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Staff brief</a:t>
            </a:r>
          </a:p>
          <a:p xmlns:a="http://schemas.openxmlformats.org/drawingml/2006/main">
            <a:r>
              <a:t>Timing: 0 minutes.</a:t>
            </a:r>
          </a:p>
          <a:p xmlns:a="http://schemas.openxmlformats.org/drawingml/2006/main">
            <a:r>
              <a:t>Hidden staff slide. TA: prepare cards, read/rephrase questions, scribe exact learner words and identify the learner’s sticky note in the photo. Lundy Space: quiet individual station; Voice: learner chooses a business/role; Audience: adult listens and records; Influence: the chosen role carries into blog/CV work. Check privately: What business? What role? What task? Give one next step from the response. No cold calling or pair work. Use individual stations and a private check-in. Read, rephrase or scribe the learner’s own words; record support. Do not supply the learner’s assessed choice or explanation. Offer a quiet reset, then one clear return step. Only VF, WS, I, NS, E and R are used; confirm local code definitions before marking. E does not establish an award claim. Apply the workbook’s signed-Plan rule before recording eligible hospitality time; the official programme minimum/credit wording is [VERIFY].</a:t>
            </a:r>
          </a:p>
          <a:p xmlns:a="http://schemas.openxmlformats.org/drawingml/2006/main">
            <a:r>
              <a:t>Edition: public.</a:t>
            </a:r>
          </a:p>
          <a:p xmlns:a="http://schemas.openxmlformats.org/drawingml/2006/main">
            <a:r>
              <a:t>Source: sources/MTP.xlsx; revision sha256:0895674f2901b602daf998b8a7aa1516522ce0c301b23bfba941fcc1807977cd; Medium Term Plan A6, B6, C6, E6, F6, G6, H6, I6, J6, K6; Lesson register B6, E6, F6, G6, H6, I6, J6.</a:t>
            </a:r>
          </a:p>
          <ns0:p xmlns:ns0="http://schemas.openxmlformats.org/drawingml/2006/main">
            <ns0:r>
              <ns0:t>TA brief: Read the prompt if needed. Offer the chosen access route. Record prompts and exact scribing, and leave the choice and wording to the learner.</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4197a41abd47d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919bed0e144bf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454e8ae57846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d16b47461a34b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2e74a12aa140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3ce9c8dc1f648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0DB92C-D7AD-4478-B0D9-27EF216325B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19992B9-2D9B-4FEC-99F1-9A6E0433586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91DB90A-7A40-4725-9C98-F198C296B5F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09B8A4-B3D2-436A-8CB8-B713C716EA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7C5911-1478-439A-BE3E-B373AB85E0C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3CEA945-49DD-4D99-9C2F-C8D0CF9D61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132F23-E7A1-4385-8CB5-6048BA2DCF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7CD966F-B833-429F-848F-0616338C150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1917A0-BFAF-482B-B17A-F715882979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A63356-64E7-4E18-A85D-29B4C681532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4c80cb164c4d53" /><Relationship Type="http://schemas.openxmlformats.org/officeDocument/2006/relationships/slideLayout" Target="/ppt/slideLayouts/slideLayout1.xml" Id="R2bb4d5b836c44b57" /><Relationship Type="http://schemas.openxmlformats.org/officeDocument/2006/relationships/slideLayout" Target="/ppt/slideLayouts/slideLayout2.xml" Id="R705f59e04185464d" /><Relationship Type="http://schemas.openxmlformats.org/officeDocument/2006/relationships/slideLayout" Target="/ppt/slideLayouts/slideLayout3.xml" Id="R2cbb21d303724a39" /><Relationship Type="http://schemas.openxmlformats.org/officeDocument/2006/relationships/slideLayout" Target="/ppt/slideLayouts/slideLayout4.xml" Id="R1a30e0d00fce4017" /><Relationship Type="http://schemas.openxmlformats.org/officeDocument/2006/relationships/slideLayout" Target="/ppt/slideLayouts/slideLayout5.xml" Id="R392e895b9c924e34" /><Relationship Type="http://schemas.openxmlformats.org/officeDocument/2006/relationships/slideLayout" Target="/ppt/slideLayouts/slideLayout6.xml" Id="R1350cb9059384c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b4d5b836c44b57"/>
    <p:sldLayoutId xmlns:r="http://schemas.openxmlformats.org/officeDocument/2006/relationships" id="2147483650" r:id="R705f59e04185464d"/>
    <p:sldLayoutId xmlns:r="http://schemas.openxmlformats.org/officeDocument/2006/relationships" id="2147483651" r:id="R2cbb21d303724a39"/>
    <p:sldLayoutId xmlns:r="http://schemas.openxmlformats.org/officeDocument/2006/relationships" id="2147483652" r:id="R1a30e0d00fce4017"/>
    <p:sldLayoutId xmlns:r="http://schemas.openxmlformats.org/officeDocument/2006/relationships" id="2147483653" r:id="R392e895b9c924e34"/>
    <p:sldLayoutId xmlns:r="http://schemas.openxmlformats.org/officeDocument/2006/relationships" id="2147483654" r:id="R1350cb9059384c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b0016c4c4b4776" /><Relationship Type="http://schemas.openxmlformats.org/officeDocument/2006/relationships/notesSlide" Target="/ppt/notesSlides/notesSlide1.xml" Id="R6141b627e68b4e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03434abef947a7" /><Relationship Type="http://schemas.openxmlformats.org/officeDocument/2006/relationships/notesSlide" Target="/ppt/notesSlides/notesSlide2.xml" Id="R83915725491348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6aa12144b054d81" /><Relationship Type="http://schemas.openxmlformats.org/officeDocument/2006/relationships/notesSlide" Target="/ppt/notesSlides/notesSlide3.xml" Id="R01068c2a0a1945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e300659acdd415a" /><Relationship Type="http://schemas.openxmlformats.org/officeDocument/2006/relationships/notesSlide" Target="/ppt/notesSlides/notesSlide4.xml" Id="R4848f6490d9449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e1b4f4b6ee4491a" /><Relationship Type="http://schemas.openxmlformats.org/officeDocument/2006/relationships/notesSlide" Target="/ppt/notesSlides/notesSlide5.xml" Id="R6a5f2cef9ed84a9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36b384e572f49e6" /><Relationship Type="http://schemas.openxmlformats.org/officeDocument/2006/relationships/notesSlide" Target="/ppt/notesSlides/notesSlide6.xml" Id="Rb3bc965089cb41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89375da63a48bc" /><Relationship Type="http://schemas.openxmlformats.org/officeDocument/2006/relationships/notesSlide" Target="/ppt/notesSlides/notesSlide7.xml" Id="R03a37467f7594d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6200cad93b648bd" /><Relationship Type="http://schemas.openxmlformats.org/officeDocument/2006/relationships/notesSlide" Target="/ppt/notesSlides/notesSlide8.xml" Id="Rfe929d742701415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ef0388c892a49e1" /><Relationship Type="http://schemas.openxmlformats.org/officeDocument/2006/relationships/notesSlide" Target="/ppt/notesSlides/notesSlide9.xml" Id="R2a8f90d417ec42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033a0d7153e4ae2" /><Relationship Type="http://schemas.openxmlformats.org/officeDocument/2006/relationships/notesSlide" Target="/ppt/notesSlides/notesSlide10.xml" Id="Rc9af2ba0db634b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e585ec3efdd4ea8" /><Relationship Type="http://schemas.openxmlformats.org/officeDocument/2006/relationships/notesSlide" Target="/ppt/notesSlides/notesSlide11.xml" Id="R38b53de091804b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112100e44fd40c2" /><Relationship Type="http://schemas.openxmlformats.org/officeDocument/2006/relationships/notesSlide" Target="/ppt/notesSlides/notesSlide12.xml" Id="R05609eec931e441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B92B28B5-A91B-4118-A821-556C2F09034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BA72043-1054-43D9-BCA6-E3BD398BF495}"/>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TITLE</a:t>
            </a:r>
          </a:p>
        </p:txBody>
      </p:sp>
      <p:sp>
        <p:nvSpPr>
          <p:cNvPr id="3" name="slide-number-time">
            <a:extLst xmlns:a="http://schemas.openxmlformats.org/drawingml/2006/main">
              <a:ext uri="{FF2B5EF4-FFF2-40B4-BE49-F238E27FC236}">
                <a16:creationId xmlns:a16="http://schemas.microsoft.com/office/drawing/2014/main" id="{C46224D6-79FE-4DC0-9C01-B4B2C661D097}"/>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65243204-1842-4708-929F-89B2094B7E6C}"/>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defRPr sz="4200" b="1">
                <a:solidFill>
                  <a:srgbClr val="17384A"/>
                </a:solidFill>
                <a:latin typeface="Arial"/>
                <a:ea typeface="Arial"/>
                <a:cs typeface="Arial"/>
              </a:defRPr>
            </a:lvl1pPr>
            <a:lvl2pPr algn="l">
              <a:defRPr sz="4200" b="1">
                <a:solidFill>
                  <a:srgbClr val="17384A"/>
                </a:solidFill>
                <a:latin typeface="Arial"/>
                <a:ea typeface="Arial"/>
                <a:cs typeface="Arial"/>
              </a:defRPr>
            </a:lvl2pPr>
            <a:lvl3pPr algn="l">
              <a:defRPr sz="4200" b="1">
                <a:solidFill>
                  <a:srgbClr val="17384A"/>
                </a:solidFill>
                <a:latin typeface="Arial"/>
                <a:ea typeface="Arial"/>
                <a:cs typeface="Arial"/>
              </a:defRPr>
            </a:lvl3pPr>
            <a:lvl4pPr algn="l">
              <a:defRPr sz="4200" b="1">
                <a:solidFill>
                  <a:srgbClr val="17384A"/>
                </a:solidFill>
                <a:latin typeface="Arial"/>
                <a:ea typeface="Arial"/>
                <a:cs typeface="Arial"/>
              </a:defRPr>
            </a:lvl4pPr>
            <a:lvl5pPr algn="l">
              <a:defRPr sz="4200" b="1">
                <a:solidFill>
                  <a:srgbClr val="17384A"/>
                </a:solidFill>
                <a:latin typeface="Arial"/>
                <a:ea typeface="Arial"/>
                <a:cs typeface="Arial"/>
              </a:defRPr>
            </a:lvl5pPr>
            <a:lvl6pPr algn="l">
              <a:defRPr sz="4200" b="1">
                <a:solidFill>
                  <a:srgbClr val="17384A"/>
                </a:solidFill>
                <a:latin typeface="Arial"/>
                <a:ea typeface="Arial"/>
                <a:cs typeface="Arial"/>
              </a:defRPr>
            </a:lvl6pPr>
            <a:lvl7pPr algn="l">
              <a:defRPr sz="4200" b="1">
                <a:solidFill>
                  <a:srgbClr val="17384A"/>
                </a:solidFill>
                <a:latin typeface="Arial"/>
                <a:ea typeface="Arial"/>
                <a:cs typeface="Arial"/>
              </a:defRPr>
            </a:lvl7pPr>
            <a:lvl8pPr algn="l">
              <a:defRPr sz="4200" b="1">
                <a:solidFill>
                  <a:srgbClr val="17384A"/>
                </a:solidFill>
                <a:latin typeface="Arial"/>
                <a:ea typeface="Arial"/>
                <a:cs typeface="Arial"/>
              </a:defRPr>
            </a:lvl8pPr>
            <a:lvl9pPr algn="l">
              <a:defRPr sz="4200" b="1">
                <a:solidFill>
                  <a:srgbClr val="17384A"/>
                </a:solidFill>
                <a:latin typeface="Arial"/>
                <a:ea typeface="Arial"/>
                <a:cs typeface="Arial"/>
              </a:defRPr>
            </a:lvl9pPr>
          </a:lstStyle>
          <a:p xmlns:a="http://schemas.openxmlformats.org/drawingml/2006/main">
            <a:pPr algn="l">
              <a:defRPr sz="4200" b="1">
                <a:solidFill>
                  <a:srgbClr val="17384A"/>
                </a:solidFill>
                <a:latin typeface="Arial"/>
                <a:ea typeface="Arial"/>
                <a:cs typeface="Arial"/>
              </a:defRPr>
            </a:pPr>
            <a:r>
              <a:rPr sz="4200" b="1">
                <a:solidFill>
                  <a:srgbClr val="17384A"/>
                </a:solidFill>
                <a:latin typeface="Arial"/>
                <a:ea typeface="Arial"/>
                <a:cs typeface="Arial"/>
              </a:rPr>
              <a:t>The Theory</a:t>
            </a:r>
          </a:p>
        </p:txBody>
      </p:sp>
      <p:sp>
        <p:nvSpPr>
          <p:cNvPr id="5" name="lesson-subtitle">
            <a:extLst xmlns:a="http://schemas.openxmlformats.org/drawingml/2006/main">
              <a:ext uri="{FF2B5EF4-FFF2-40B4-BE49-F238E27FC236}">
                <a16:creationId xmlns:a16="http://schemas.microsoft.com/office/drawing/2014/main" id="{C99A2427-A890-4AC6-BA5D-413EAA6C5DFF}"/>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defRPr sz="2250" b="0">
                <a:solidFill>
                  <a:srgbClr val="146B68"/>
                </a:solidFill>
                <a:latin typeface="Arial"/>
                <a:ea typeface="Arial"/>
                <a:cs typeface="Arial"/>
              </a:defRPr>
            </a:lvl1pPr>
            <a:lvl2pPr algn="l">
              <a:defRPr sz="2250" b="0">
                <a:solidFill>
                  <a:srgbClr val="146B68"/>
                </a:solidFill>
                <a:latin typeface="Arial"/>
                <a:ea typeface="Arial"/>
                <a:cs typeface="Arial"/>
              </a:defRPr>
            </a:lvl2pPr>
            <a:lvl3pPr algn="l">
              <a:defRPr sz="2250" b="0">
                <a:solidFill>
                  <a:srgbClr val="146B68"/>
                </a:solidFill>
                <a:latin typeface="Arial"/>
                <a:ea typeface="Arial"/>
                <a:cs typeface="Arial"/>
              </a:defRPr>
            </a:lvl3pPr>
            <a:lvl4pPr algn="l">
              <a:defRPr sz="2250" b="0">
                <a:solidFill>
                  <a:srgbClr val="146B68"/>
                </a:solidFill>
                <a:latin typeface="Arial"/>
                <a:ea typeface="Arial"/>
                <a:cs typeface="Arial"/>
              </a:defRPr>
            </a:lvl4pPr>
            <a:lvl5pPr algn="l">
              <a:defRPr sz="2250" b="0">
                <a:solidFill>
                  <a:srgbClr val="146B68"/>
                </a:solidFill>
                <a:latin typeface="Arial"/>
                <a:ea typeface="Arial"/>
                <a:cs typeface="Arial"/>
              </a:defRPr>
            </a:lvl5pPr>
            <a:lvl6pPr algn="l">
              <a:defRPr sz="2250" b="0">
                <a:solidFill>
                  <a:srgbClr val="146B68"/>
                </a:solidFill>
                <a:latin typeface="Arial"/>
                <a:ea typeface="Arial"/>
                <a:cs typeface="Arial"/>
              </a:defRPr>
            </a:lvl6pPr>
            <a:lvl7pPr algn="l">
              <a:defRPr sz="2250" b="0">
                <a:solidFill>
                  <a:srgbClr val="146B68"/>
                </a:solidFill>
                <a:latin typeface="Arial"/>
                <a:ea typeface="Arial"/>
                <a:cs typeface="Arial"/>
              </a:defRPr>
            </a:lvl7pPr>
            <a:lvl8pPr algn="l">
              <a:defRPr sz="2250" b="0">
                <a:solidFill>
                  <a:srgbClr val="146B68"/>
                </a:solidFill>
                <a:latin typeface="Arial"/>
                <a:ea typeface="Arial"/>
                <a:cs typeface="Arial"/>
              </a:defRPr>
            </a:lvl8pPr>
            <a:lvl9pPr algn="l">
              <a:defRPr sz="2250" b="0">
                <a:solidFill>
                  <a:srgbClr val="146B68"/>
                </a:solidFill>
                <a:latin typeface="Arial"/>
                <a:ea typeface="Arial"/>
                <a:cs typeface="Arial"/>
              </a:defRPr>
            </a:lvl9pPr>
          </a:lstStyle>
          <a:p xmlns:a="http://schemas.openxmlformats.org/drawingml/2006/main">
            <a:pPr algn="l">
              <a:defRPr sz="2250" b="0">
                <a:solidFill>
                  <a:srgbClr val="146B68"/>
                </a:solidFill>
                <a:latin typeface="Arial"/>
                <a:ea typeface="Arial"/>
                <a:cs typeface="Arial"/>
              </a:defRPr>
            </a:pPr>
            <a:r>
              <a:rPr sz="2250" b="0">
                <a:solidFill>
                  <a:srgbClr val="146B68"/>
                </a:solidFill>
                <a:latin typeface="Arial"/>
                <a:ea typeface="Arial"/>
                <a:cs typeface="Arial"/>
              </a:rPr>
              <a:t>Hospitality businesses and job roles</a:t>
            </a:r>
          </a:p>
        </p:txBody>
      </p:sp>
      <p:sp>
        <p:nvSpPr>
          <p:cNvPr id="6" name="body-0">
            <a:extLst xmlns:a="http://schemas.openxmlformats.org/drawingml/2006/main">
              <a:ext uri="{FF2B5EF4-FFF2-40B4-BE49-F238E27FC236}">
                <a16:creationId xmlns:a16="http://schemas.microsoft.com/office/drawing/2014/main" id="{472A6CCA-DA26-471E-9590-4E138A6DBF02}"/>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Which jobs help a hospitality business work?</a:t>
            </a:r>
          </a:p>
        </p:txBody>
      </p:sp>
      <p:sp>
        <p:nvSpPr>
          <p:cNvPr id="7" name="body-1">
            <a:extLst xmlns:a="http://schemas.openxmlformats.org/drawingml/2006/main">
              <a:ext uri="{FF2B5EF4-FFF2-40B4-BE49-F238E27FC236}">
                <a16:creationId xmlns:a16="http://schemas.microsoft.com/office/drawing/2014/main" id="{5883605B-4BCD-44F4-B317-8F20D729C1DA}"/>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Point, say, draw or write.</a:t>
            </a:r>
          </a:p>
        </p:txBody>
      </p:sp>
      <p:sp>
        <p:nvSpPr>
          <p:cNvPr id="8" name="printed-id">
            <a:extLst xmlns:a="http://schemas.openxmlformats.org/drawingml/2006/main">
              <a:ext uri="{FF2B5EF4-FFF2-40B4-BE49-F238E27FC236}">
                <a16:creationId xmlns:a16="http://schemas.microsoft.com/office/drawing/2014/main" id="{EA6EEA24-261A-4B48-8E5D-65CDBC0FDD41}"/>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VOC-LAUNCH-A2-W01-L1</a:t>
            </a:r>
          </a:p>
        </p:txBody>
      </p:sp>
      <p:sp>
        <p:nvSpPr>
          <p:cNvPr id="9" name="edition-label">
            <a:extLst xmlns:a="http://schemas.openxmlformats.org/drawingml/2006/main">
              <a:ext uri="{FF2B5EF4-FFF2-40B4-BE49-F238E27FC236}">
                <a16:creationId xmlns:a16="http://schemas.microsoft.com/office/drawing/2014/main" id="{50F70D18-6BED-470B-BCCE-A2E6F502A9B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A372F61F-511F-4A25-B45F-88631B4AAA4A}"/>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20679568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828D74C-FF31-4580-9E01-99894F1316B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BD213CE-6055-4620-A224-03FCE7AA376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23657FD6-09A3-4DE4-B30A-E28A84EB0757}"/>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2 / 12  ·  4 min</a:t>
            </a:r>
          </a:p>
        </p:txBody>
      </p:sp>
      <p:sp>
        <p:nvSpPr>
          <p:cNvPr id="4" name="slide-title">
            <a:extLst xmlns:a="http://schemas.openxmlformats.org/drawingml/2006/main">
              <a:ext uri="{FF2B5EF4-FFF2-40B4-BE49-F238E27FC236}">
                <a16:creationId xmlns:a16="http://schemas.microsoft.com/office/drawing/2014/main" id="{5D5D6C92-6A30-46CA-9A6B-BDA08DD3EA1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Arrival task</a:t>
            </a:r>
          </a:p>
        </p:txBody>
      </p:sp>
      <p:sp>
        <p:nvSpPr>
          <p:cNvPr id="5" name="heading-rule">
            <a:extLst xmlns:a="http://schemas.openxmlformats.org/drawingml/2006/main">
              <a:ext uri="{FF2B5EF4-FFF2-40B4-BE49-F238E27FC236}">
                <a16:creationId xmlns:a16="http://schemas.microsoft.com/office/drawing/2014/main" id="{666E2515-AD67-43A9-A07B-F769D9C6EEEB}"/>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1352B04F-329C-47DA-93F1-4B7871959BA2}"/>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Which challenges are on your Plan?</a:t>
            </a:r>
          </a:p>
        </p:txBody>
      </p:sp>
      <p:sp>
        <p:nvSpPr>
          <p:cNvPr id="7" name="body-1">
            <a:extLst xmlns:a="http://schemas.openxmlformats.org/drawingml/2006/main">
              <a:ext uri="{FF2B5EF4-FFF2-40B4-BE49-F238E27FC236}">
                <a16:creationId xmlns:a16="http://schemas.microsoft.com/office/drawing/2014/main" id="{B6D57A47-924C-433D-9B9B-2459FC700BC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What does hospitality mean?</a:t>
            </a:r>
          </a:p>
        </p:txBody>
      </p:sp>
      <p:sp>
        <p:nvSpPr>
          <p:cNvPr id="8" name="body-2">
            <a:extLst xmlns:a="http://schemas.openxmlformats.org/drawingml/2006/main">
              <a:ext uri="{FF2B5EF4-FFF2-40B4-BE49-F238E27FC236}">
                <a16:creationId xmlns:a16="http://schemas.microsoft.com/office/drawing/2014/main" id="{468BD945-6F13-4461-BC52-DAC3173A8FED}"/>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 knife is left on the counter. What do you do?</a:t>
            </a:r>
          </a:p>
        </p:txBody>
      </p:sp>
      <p:sp>
        <p:nvSpPr>
          <p:cNvPr id="9" name="body-3">
            <a:extLst xmlns:a="http://schemas.openxmlformats.org/drawingml/2006/main">
              <a:ext uri="{FF2B5EF4-FFF2-40B4-BE49-F238E27FC236}">
                <a16:creationId xmlns:a16="http://schemas.microsoft.com/office/drawing/2014/main" id="{2FFAE394-6783-47C4-9C33-BFAB64944C33}"/>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Does a hotel only employ receptionists?</a:t>
            </a:r>
          </a:p>
        </p:txBody>
      </p:sp>
      <p:sp>
        <p:nvSpPr>
          <p:cNvPr id="10" name="body-4">
            <a:extLst xmlns:a="http://schemas.openxmlformats.org/drawingml/2006/main">
              <a:ext uri="{FF2B5EF4-FFF2-40B4-BE49-F238E27FC236}">
                <a16:creationId xmlns:a16="http://schemas.microsoft.com/office/drawing/2014/main" id="{41DCAA69-7D44-4B48-AFBA-3EBFCCEAFF06}"/>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BLUE / GREEN / AMBER / RED. Pause, breathe or choose a quieter seat.</a:t>
            </a:r>
          </a:p>
        </p:txBody>
      </p:sp>
      <p:sp>
        <p:nvSpPr>
          <p:cNvPr id="11" name="printed-id">
            <a:extLst xmlns:a="http://schemas.openxmlformats.org/drawingml/2006/main">
              <a:ext uri="{FF2B5EF4-FFF2-40B4-BE49-F238E27FC236}">
                <a16:creationId xmlns:a16="http://schemas.microsoft.com/office/drawing/2014/main" id="{F6C0E03F-F5CF-4E1E-B1D3-1B00E7DBEEA9}"/>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VOC-LAUNCH-A2-W01-L1</a:t>
            </a:r>
          </a:p>
        </p:txBody>
      </p:sp>
      <p:sp>
        <p:nvSpPr>
          <p:cNvPr id="12" name="edition-label">
            <a:extLst xmlns:a="http://schemas.openxmlformats.org/drawingml/2006/main">
              <a:ext uri="{FF2B5EF4-FFF2-40B4-BE49-F238E27FC236}">
                <a16:creationId xmlns:a16="http://schemas.microsoft.com/office/drawing/2014/main" id="{458DED84-DB96-420E-BA87-485474A0A9D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96D79DA0-BDDA-4C18-87BC-C55449B6774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8073540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5034B293-48C0-4A7A-A2D0-E52C96E3A50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D2E5D1B-1392-497B-9F92-78C08D509E31}"/>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RETRIEVAL AND STARTER</a:t>
            </a:r>
          </a:p>
        </p:txBody>
      </p:sp>
      <p:sp>
        <p:nvSpPr>
          <p:cNvPr id="3" name="slide-number-time">
            <a:extLst xmlns:a="http://schemas.openxmlformats.org/drawingml/2006/main">
              <a:ext uri="{FF2B5EF4-FFF2-40B4-BE49-F238E27FC236}">
                <a16:creationId xmlns:a16="http://schemas.microsoft.com/office/drawing/2014/main" id="{AC5F234E-E698-44F8-8A04-5344680E37C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3 / 12  ·  2 min</a:t>
            </a:r>
          </a:p>
        </p:txBody>
      </p:sp>
      <p:sp>
        <p:nvSpPr>
          <p:cNvPr id="4" name="slide-title">
            <a:extLst xmlns:a="http://schemas.openxmlformats.org/drawingml/2006/main">
              <a:ext uri="{FF2B5EF4-FFF2-40B4-BE49-F238E27FC236}">
                <a16:creationId xmlns:a16="http://schemas.microsoft.com/office/drawing/2014/main" id="{A8CBAB13-5B14-4EDC-9903-703E30294501}"/>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Hospitality or another service</a:t>
            </a:r>
          </a:p>
        </p:txBody>
      </p:sp>
      <p:sp>
        <p:nvSpPr>
          <p:cNvPr id="5" name="heading-rule">
            <a:extLst xmlns:a="http://schemas.openxmlformats.org/drawingml/2006/main">
              <a:ext uri="{FF2B5EF4-FFF2-40B4-BE49-F238E27FC236}">
                <a16:creationId xmlns:a16="http://schemas.microsoft.com/office/drawing/2014/main" id="{7F78F459-6B63-44D4-BEF6-FC3AA48A2D6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step-number-0">
            <a:extLst xmlns:a="http://schemas.openxmlformats.org/drawingml/2006/main">
              <a:ext uri="{FF2B5EF4-FFF2-40B4-BE49-F238E27FC236}">
                <a16:creationId xmlns:a16="http://schemas.microsoft.com/office/drawing/2014/main" id="{50403200-32F6-413C-AA7B-4771B17CA18C}"/>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7" name="body-0">
            <a:extLst xmlns:a="http://schemas.openxmlformats.org/drawingml/2006/main">
              <a:ext uri="{FF2B5EF4-FFF2-40B4-BE49-F238E27FC236}">
                <a16:creationId xmlns:a16="http://schemas.microsoft.com/office/drawing/2014/main" id="{7525EB5B-1974-4B74-8D57-D04EE38BE722}"/>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Café · bus · hotel · hospital · pub · festival bar</a:t>
            </a:r>
          </a:p>
        </p:txBody>
      </p:sp>
      <p:sp>
        <p:nvSpPr>
          <p:cNvPr id="8" name="step-number-1">
            <a:extLst xmlns:a="http://schemas.openxmlformats.org/drawingml/2006/main">
              <a:ext uri="{FF2B5EF4-FFF2-40B4-BE49-F238E27FC236}">
                <a16:creationId xmlns:a16="http://schemas.microsoft.com/office/drawing/2014/main" id="{C45D3E47-D528-45F3-9893-1DF990ACD2E2}"/>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9" name="body-1">
            <a:extLst xmlns:a="http://schemas.openxmlformats.org/drawingml/2006/main">
              <a:ext uri="{FF2B5EF4-FFF2-40B4-BE49-F238E27FC236}">
                <a16:creationId xmlns:a16="http://schemas.microsoft.com/office/drawing/2014/main" id="{F420F984-9BC3-4EA9-B562-F168D0E8B1D6}"/>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Which examples provide food, drink or a place to stay for guests?</a:t>
            </a:r>
          </a:p>
        </p:txBody>
      </p:sp>
      <p:sp>
        <p:nvSpPr>
          <p:cNvPr id="10" name="step-number-2">
            <a:extLst xmlns:a="http://schemas.openxmlformats.org/drawingml/2006/main">
              <a:ext uri="{FF2B5EF4-FFF2-40B4-BE49-F238E27FC236}">
                <a16:creationId xmlns:a16="http://schemas.microsoft.com/office/drawing/2014/main" id="{C0EF4F2C-9E48-4F60-8EAD-0CDF5061D957}"/>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11" name="body-2">
            <a:extLst xmlns:a="http://schemas.openxmlformats.org/drawingml/2006/main">
              <a:ext uri="{FF2B5EF4-FFF2-40B4-BE49-F238E27FC236}">
                <a16:creationId xmlns:a16="http://schemas.microsoft.com/office/drawing/2014/main" id="{538F14C4-27ED-4492-882E-A425E9D52FFE}"/>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chose __ because __.</a:t>
            </a:r>
          </a:p>
        </p:txBody>
      </p:sp>
      <p:sp>
        <p:nvSpPr>
          <p:cNvPr id="12" name="printed-id">
            <a:extLst xmlns:a="http://schemas.openxmlformats.org/drawingml/2006/main">
              <a:ext uri="{FF2B5EF4-FFF2-40B4-BE49-F238E27FC236}">
                <a16:creationId xmlns:a16="http://schemas.microsoft.com/office/drawing/2014/main" id="{84C3D5C6-515E-48DE-BF6E-36EF8184779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VOC-LAUNCH-A2-W01-L1</a:t>
            </a:r>
          </a:p>
        </p:txBody>
      </p:sp>
      <p:sp>
        <p:nvSpPr>
          <p:cNvPr id="13" name="edition-label">
            <a:extLst xmlns:a="http://schemas.openxmlformats.org/drawingml/2006/main">
              <a:ext uri="{FF2B5EF4-FFF2-40B4-BE49-F238E27FC236}">
                <a16:creationId xmlns:a16="http://schemas.microsoft.com/office/drawing/2014/main" id="{B206A813-D635-41C3-A9A8-EE33DDE72653}"/>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EA6611F1-0E50-4E53-A357-A5183387BBD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3361052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A3DE7310-5B08-405A-93CF-BA5177F811D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6739A46-250D-40E3-A2C4-2C1E69CEE6E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8FD81355-6DD1-402E-871E-6DA1099C4E89}"/>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0332DAD2-92CF-4662-A757-CFC3BEA0FD7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Today I can</a:t>
            </a:r>
          </a:p>
        </p:txBody>
      </p:sp>
      <p:sp>
        <p:nvSpPr>
          <p:cNvPr id="5" name="heading-rule">
            <a:extLst xmlns:a="http://schemas.openxmlformats.org/drawingml/2006/main">
              <a:ext uri="{FF2B5EF4-FFF2-40B4-BE49-F238E27FC236}">
                <a16:creationId xmlns:a16="http://schemas.microsoft.com/office/drawing/2014/main" id="{B0A82F99-6876-4DD2-958D-CD9E6FFB56F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0507406E-E726-465D-A04F-A05DF3E9EA6E}"/>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Name five types of hospitality business and match job roles to them.</a:t>
            </a:r>
          </a:p>
        </p:txBody>
      </p:sp>
      <p:sp>
        <p:nvSpPr>
          <p:cNvPr id="7" name="body-1">
            <a:extLst xmlns:a="http://schemas.openxmlformats.org/drawingml/2006/main">
              <a:ext uri="{FF2B5EF4-FFF2-40B4-BE49-F238E27FC236}">
                <a16:creationId xmlns:a16="http://schemas.microsoft.com/office/drawing/2014/main" id="{E5DA670D-BE3B-439E-9C8C-A6CF276ECC6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match a role to a business.</a:t>
            </a:r>
          </a:p>
        </p:txBody>
      </p:sp>
      <p:sp>
        <p:nvSpPr>
          <p:cNvPr id="8" name="body-2">
            <a:extLst xmlns:a="http://schemas.openxmlformats.org/drawingml/2006/main">
              <a:ext uri="{FF2B5EF4-FFF2-40B4-BE49-F238E27FC236}">
                <a16:creationId xmlns:a16="http://schemas.microsoft.com/office/drawing/2014/main" id="{02CD1A98-E82B-492C-872B-25A87111194D}"/>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say what the person does.</a:t>
            </a:r>
          </a:p>
        </p:txBody>
      </p:sp>
      <p:sp>
        <p:nvSpPr>
          <p:cNvPr id="9" name="body-3">
            <a:extLst xmlns:a="http://schemas.openxmlformats.org/drawingml/2006/main">
              <a:ext uri="{FF2B5EF4-FFF2-40B4-BE49-F238E27FC236}">
                <a16:creationId xmlns:a16="http://schemas.microsoft.com/office/drawing/2014/main" id="{EACB513A-CC79-4F2D-88EC-5C59267E58C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can choose a role that interests me.</a:t>
            </a:r>
          </a:p>
        </p:txBody>
      </p:sp>
      <p:sp>
        <p:nvSpPr>
          <p:cNvPr id="10" name="printed-id">
            <a:extLst xmlns:a="http://schemas.openxmlformats.org/drawingml/2006/main">
              <a:ext uri="{FF2B5EF4-FFF2-40B4-BE49-F238E27FC236}">
                <a16:creationId xmlns:a16="http://schemas.microsoft.com/office/drawing/2014/main" id="{564DEEF7-CA70-421F-B7C5-64BEDD8DB5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VOC-LAUNCH-A2-W01-L1</a:t>
            </a:r>
          </a:p>
        </p:txBody>
      </p:sp>
      <p:sp>
        <p:nvSpPr>
          <p:cNvPr id="11" name="edition-label">
            <a:extLst xmlns:a="http://schemas.openxmlformats.org/drawingml/2006/main">
              <a:ext uri="{FF2B5EF4-FFF2-40B4-BE49-F238E27FC236}">
                <a16:creationId xmlns:a16="http://schemas.microsoft.com/office/drawing/2014/main" id="{D16343B3-1F83-4135-9892-97B57364E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090819-0146-490B-87C1-89DEB2279BC6}"/>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7112956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ide-rule">
            <a:extLst xmlns:a="http://schemas.openxmlformats.org/drawingml/2006/main">
              <a:ext uri="{FF2B5EF4-FFF2-40B4-BE49-F238E27FC236}">
                <a16:creationId xmlns:a16="http://schemas.microsoft.com/office/drawing/2014/main" id="{652B5524-C46B-41BF-A569-61339EE19CB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3D4E420-4D45-480A-93AB-283B6AF36621}"/>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AB031864-78A1-409F-AB7E-8B01AAB6E09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104A9D50-2ACD-4AB7-8B17-B3C9D4F39656}"/>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Hotel jobs</a:t>
            </a:r>
          </a:p>
        </p:txBody>
      </p:sp>
      <p:sp>
        <p:nvSpPr>
          <p:cNvPr id="5" name="heading-rule">
            <a:extLst xmlns:a="http://schemas.openxmlformats.org/drawingml/2006/main">
              <a:ext uri="{FF2B5EF4-FFF2-40B4-BE49-F238E27FC236}">
                <a16:creationId xmlns:a16="http://schemas.microsoft.com/office/drawing/2014/main" id="{F98BC252-3F06-49FB-9A84-2295DAD501AD}"/>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usiness-node">
            <a:extLst xmlns:a="http://schemas.openxmlformats.org/drawingml/2006/main">
              <a:ext uri="{FF2B5EF4-FFF2-40B4-BE49-F238E27FC236}">
                <a16:creationId xmlns:a16="http://schemas.microsoft.com/office/drawing/2014/main" id="{BF166479-33EA-42D1-8BDE-6D93B4C3F8C8}"/>
              </a:ext>
            </a:extLst>
          </p:cNvPr>
          <p:cNvSpPr>
            <a:spLocks xmlns:a="http://schemas.openxmlformats.org/drawingml/2006/main" noGrp="1"/>
          </p:cNvSpPr>
          <p:nvPr/>
        </p:nvSpPr>
        <p:spPr>
          <a:xfrm xmlns:a="http://schemas.openxmlformats.org/drawingml/2006/main">
            <a:off x="609600" y="3143250"/>
            <a:ext cx="2857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900" b="1">
                <a:solidFill>
                  <a:srgbClr val="146B68"/>
                </a:solidFill>
                <a:latin typeface="Arial"/>
                <a:ea typeface="Arial"/>
                <a:cs typeface="Arial"/>
              </a:defRPr>
            </a:defPPr>
            <a:lvl1pPr algn="l">
              <a:defRPr sz="3900" b="1">
                <a:solidFill>
                  <a:srgbClr val="146B68"/>
                </a:solidFill>
                <a:latin typeface="Arial"/>
                <a:ea typeface="Arial"/>
                <a:cs typeface="Arial"/>
              </a:defRPr>
            </a:lvl1pPr>
            <a:lvl2pPr algn="l">
              <a:defRPr sz="3900" b="1">
                <a:solidFill>
                  <a:srgbClr val="146B68"/>
                </a:solidFill>
                <a:latin typeface="Arial"/>
                <a:ea typeface="Arial"/>
                <a:cs typeface="Arial"/>
              </a:defRPr>
            </a:lvl2pPr>
            <a:lvl3pPr algn="l">
              <a:defRPr sz="3900" b="1">
                <a:solidFill>
                  <a:srgbClr val="146B68"/>
                </a:solidFill>
                <a:latin typeface="Arial"/>
                <a:ea typeface="Arial"/>
                <a:cs typeface="Arial"/>
              </a:defRPr>
            </a:lvl3pPr>
            <a:lvl4pPr algn="l">
              <a:defRPr sz="3900" b="1">
                <a:solidFill>
                  <a:srgbClr val="146B68"/>
                </a:solidFill>
                <a:latin typeface="Arial"/>
                <a:ea typeface="Arial"/>
                <a:cs typeface="Arial"/>
              </a:defRPr>
            </a:lvl4pPr>
            <a:lvl5pPr algn="l">
              <a:defRPr sz="3900" b="1">
                <a:solidFill>
                  <a:srgbClr val="146B68"/>
                </a:solidFill>
                <a:latin typeface="Arial"/>
                <a:ea typeface="Arial"/>
                <a:cs typeface="Arial"/>
              </a:defRPr>
            </a:lvl5pPr>
            <a:lvl6pPr algn="l">
              <a:defRPr sz="3900" b="1">
                <a:solidFill>
                  <a:srgbClr val="146B68"/>
                </a:solidFill>
                <a:latin typeface="Arial"/>
                <a:ea typeface="Arial"/>
                <a:cs typeface="Arial"/>
              </a:defRPr>
            </a:lvl6pPr>
            <a:lvl7pPr algn="l">
              <a:defRPr sz="3900" b="1">
                <a:solidFill>
                  <a:srgbClr val="146B68"/>
                </a:solidFill>
                <a:latin typeface="Arial"/>
                <a:ea typeface="Arial"/>
                <a:cs typeface="Arial"/>
              </a:defRPr>
            </a:lvl7pPr>
            <a:lvl8pPr algn="l">
              <a:defRPr sz="3900" b="1">
                <a:solidFill>
                  <a:srgbClr val="146B68"/>
                </a:solidFill>
                <a:latin typeface="Arial"/>
                <a:ea typeface="Arial"/>
                <a:cs typeface="Arial"/>
              </a:defRPr>
            </a:lvl8pPr>
            <a:lvl9pPr algn="l">
              <a:defRPr sz="3900" b="1">
                <a:solidFill>
                  <a:srgbClr val="146B68"/>
                </a:solidFill>
                <a:latin typeface="Arial"/>
                <a:ea typeface="Arial"/>
                <a:cs typeface="Arial"/>
              </a:defRPr>
            </a:lvl9pPr>
          </a:lstStyle>
          <a:p xmlns:a="http://schemas.openxmlformats.org/drawingml/2006/main">
            <a:pPr algn="l">
              <a:defRPr sz="3900" b="1">
                <a:solidFill>
                  <a:srgbClr val="146B68"/>
                </a:solidFill>
                <a:latin typeface="Arial"/>
                <a:ea typeface="Arial"/>
                <a:cs typeface="Arial"/>
              </a:defRPr>
            </a:pPr>
            <a:r>
              <a:rPr sz="3900" b="1">
                <a:solidFill>
                  <a:srgbClr val="146B68"/>
                </a:solidFill>
                <a:latin typeface="Arial"/>
                <a:ea typeface="Arial"/>
                <a:cs typeface="Arial"/>
              </a:rPr>
              <a:t>Hotel</a:t>
            </a:r>
          </a:p>
        </p:txBody>
      </p:sp>
      <p:sp>
        <p:nvSpPr>
          <p:cNvPr id="7" name="business-to-branch">
            <a:extLst xmlns:a="http://schemas.openxmlformats.org/drawingml/2006/main">
              <a:ext uri="{FF2B5EF4-FFF2-40B4-BE49-F238E27FC236}">
                <a16:creationId xmlns:a16="http://schemas.microsoft.com/office/drawing/2014/main" id="{F09F0994-7929-47C3-96C0-4D8F8F75B410}"/>
              </a:ext>
            </a:extLst>
          </p:cNvPr>
          <p:cNvSpPr>
            <a:spLocks xmlns:a="http://schemas.openxmlformats.org/drawingml/2006/main" noGrp="1"/>
          </p:cNvSpPr>
          <p:nvPr/>
        </p:nvSpPr>
        <p:spPr>
          <a:xfrm xmlns:a="http://schemas.openxmlformats.org/drawingml/2006/main">
            <a:off x="2857500" y="3524250"/>
            <a:ext cx="1238250" cy="19050"/>
          </a:xfrm>
          <a:prstGeom xmlns:a="http://schemas.openxmlformats.org/drawingml/2006/main" prst="rect">
            <a:avLst/>
          </a:prstGeom>
          <a:solidFill xmlns:a="http://schemas.openxmlformats.org/drawingml/2006/main">
            <a:srgbClr val="BBCBD2"/>
          </a:solidFill>
          <a:ln xmlns:a="http://schemas.openxmlformats.org/drawingml/2006/main" w="0">
            <a:noFill/>
            <a:prstDash val="solid"/>
          </a:ln>
        </p:spPr>
      </p:sp>
      <p:sp>
        <p:nvSpPr>
          <p:cNvPr id="8" name="job-branch">
            <a:extLst xmlns:a="http://schemas.openxmlformats.org/drawingml/2006/main">
              <a:ext uri="{FF2B5EF4-FFF2-40B4-BE49-F238E27FC236}">
                <a16:creationId xmlns:a16="http://schemas.microsoft.com/office/drawing/2014/main" id="{2A1CE18E-39A9-4C76-A36B-660B36EE58CC}"/>
              </a:ext>
            </a:extLst>
          </p:cNvPr>
          <p:cNvSpPr>
            <a:spLocks xmlns:a="http://schemas.openxmlformats.org/drawingml/2006/main" noGrp="1"/>
          </p:cNvSpPr>
          <p:nvPr/>
        </p:nvSpPr>
        <p:spPr>
          <a:xfrm xmlns:a="http://schemas.openxmlformats.org/drawingml/2006/main">
            <a:off x="4095750" y="2066925"/>
            <a:ext cx="19050" cy="2800350"/>
          </a:xfrm>
          <a:prstGeom xmlns:a="http://schemas.openxmlformats.org/drawingml/2006/main" prst="rect">
            <a:avLst/>
          </a:prstGeom>
          <a:solidFill xmlns:a="http://schemas.openxmlformats.org/drawingml/2006/main">
            <a:srgbClr val="BBCBD2"/>
          </a:solidFill>
          <a:ln xmlns:a="http://schemas.openxmlformats.org/drawingml/2006/main" w="0">
            <a:noFill/>
            <a:prstDash val="solid"/>
          </a:ln>
        </p:spPr>
      </p:sp>
      <p:sp>
        <p:nvSpPr>
          <p:cNvPr id="9" name="job-connector-0">
            <a:extLst xmlns:a="http://schemas.openxmlformats.org/drawingml/2006/main">
              <a:ext uri="{FF2B5EF4-FFF2-40B4-BE49-F238E27FC236}">
                <a16:creationId xmlns:a16="http://schemas.microsoft.com/office/drawing/2014/main" id="{D542B89F-CD97-4641-846F-5C2A671D3912}"/>
              </a:ext>
            </a:extLst>
          </p:cNvPr>
          <p:cNvSpPr>
            <a:spLocks xmlns:a="http://schemas.openxmlformats.org/drawingml/2006/main" noGrp="1"/>
          </p:cNvSpPr>
          <p:nvPr/>
        </p:nvSpPr>
        <p:spPr>
          <a:xfrm xmlns:a="http://schemas.openxmlformats.org/drawingml/2006/main">
            <a:off x="4095750" y="2066925"/>
            <a:ext cx="609600" cy="19050"/>
          </a:xfrm>
          <a:prstGeom xmlns:a="http://schemas.openxmlformats.org/drawingml/2006/main" prst="rect">
            <a:avLst/>
          </a:prstGeom>
          <a:solidFill xmlns:a="http://schemas.openxmlformats.org/drawingml/2006/main">
            <a:srgbClr val="BBCBD2"/>
          </a:solidFill>
          <a:ln xmlns:a="http://schemas.openxmlformats.org/drawingml/2006/main" w="0">
            <a:noFill/>
            <a:prstDash val="solid"/>
          </a:ln>
        </p:spPr>
      </p:sp>
      <p:sp>
        <p:nvSpPr>
          <p:cNvPr id="10" name="job-task-0">
            <a:extLst xmlns:a="http://schemas.openxmlformats.org/drawingml/2006/main">
              <a:ext uri="{FF2B5EF4-FFF2-40B4-BE49-F238E27FC236}">
                <a16:creationId xmlns:a16="http://schemas.microsoft.com/office/drawing/2014/main" id="{236C512D-CB74-4790-B159-94B1D7AFC1CF}"/>
              </a:ext>
            </a:extLst>
          </p:cNvPr>
          <p:cNvSpPr>
            <a:spLocks xmlns:a="http://schemas.openxmlformats.org/drawingml/2006/main" noGrp="1"/>
          </p:cNvSpPr>
          <p:nvPr/>
        </p:nvSpPr>
        <p:spPr>
          <a:xfrm xmlns:a="http://schemas.openxmlformats.org/drawingml/2006/main">
            <a:off x="4953000" y="1714500"/>
            <a:ext cx="638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Receptionist: welcomes guests and checks bookings.</a:t>
            </a:r>
          </a:p>
        </p:txBody>
      </p:sp>
      <p:sp>
        <p:nvSpPr>
          <p:cNvPr id="11" name="job-connector-1">
            <a:extLst xmlns:a="http://schemas.openxmlformats.org/drawingml/2006/main">
              <a:ext uri="{FF2B5EF4-FFF2-40B4-BE49-F238E27FC236}">
                <a16:creationId xmlns:a16="http://schemas.microsoft.com/office/drawing/2014/main" id="{BA4BCB94-8969-47AE-861D-97AD14DBE312}"/>
              </a:ext>
            </a:extLst>
          </p:cNvPr>
          <p:cNvSpPr>
            <a:spLocks xmlns:a="http://schemas.openxmlformats.org/drawingml/2006/main" noGrp="1"/>
          </p:cNvSpPr>
          <p:nvPr/>
        </p:nvSpPr>
        <p:spPr>
          <a:xfrm xmlns:a="http://schemas.openxmlformats.org/drawingml/2006/main">
            <a:off x="4095750" y="3000375"/>
            <a:ext cx="609600" cy="19050"/>
          </a:xfrm>
          <a:prstGeom xmlns:a="http://schemas.openxmlformats.org/drawingml/2006/main" prst="rect">
            <a:avLst/>
          </a:prstGeom>
          <a:solidFill xmlns:a="http://schemas.openxmlformats.org/drawingml/2006/main">
            <a:srgbClr val="BBCBD2"/>
          </a:solidFill>
          <a:ln xmlns:a="http://schemas.openxmlformats.org/drawingml/2006/main" w="0">
            <a:noFill/>
            <a:prstDash val="solid"/>
          </a:ln>
        </p:spPr>
      </p:sp>
      <p:sp>
        <p:nvSpPr>
          <p:cNvPr id="12" name="job-task-1">
            <a:extLst xmlns:a="http://schemas.openxmlformats.org/drawingml/2006/main">
              <a:ext uri="{FF2B5EF4-FFF2-40B4-BE49-F238E27FC236}">
                <a16:creationId xmlns:a16="http://schemas.microsoft.com/office/drawing/2014/main" id="{B7614D8E-1888-48B2-AE89-54EA8003EB13}"/>
              </a:ext>
            </a:extLst>
          </p:cNvPr>
          <p:cNvSpPr>
            <a:spLocks xmlns:a="http://schemas.openxmlformats.org/drawingml/2006/main" noGrp="1"/>
          </p:cNvSpPr>
          <p:nvPr/>
        </p:nvSpPr>
        <p:spPr>
          <a:xfrm xmlns:a="http://schemas.openxmlformats.org/drawingml/2006/main">
            <a:off x="4953000" y="2647950"/>
            <a:ext cx="638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Housekeeper: cleans and prepares rooms.</a:t>
            </a:r>
          </a:p>
        </p:txBody>
      </p:sp>
      <p:sp>
        <p:nvSpPr>
          <p:cNvPr id="13" name="job-connector-2">
            <a:extLst xmlns:a="http://schemas.openxmlformats.org/drawingml/2006/main">
              <a:ext uri="{FF2B5EF4-FFF2-40B4-BE49-F238E27FC236}">
                <a16:creationId xmlns:a16="http://schemas.microsoft.com/office/drawing/2014/main" id="{52024981-04C5-4DB1-8F21-0419FA2510AD}"/>
              </a:ext>
            </a:extLst>
          </p:cNvPr>
          <p:cNvSpPr>
            <a:spLocks xmlns:a="http://schemas.openxmlformats.org/drawingml/2006/main" noGrp="1"/>
          </p:cNvSpPr>
          <p:nvPr/>
        </p:nvSpPr>
        <p:spPr>
          <a:xfrm xmlns:a="http://schemas.openxmlformats.org/drawingml/2006/main">
            <a:off x="4095750" y="3933825"/>
            <a:ext cx="609600" cy="19050"/>
          </a:xfrm>
          <a:prstGeom xmlns:a="http://schemas.openxmlformats.org/drawingml/2006/main" prst="rect">
            <a:avLst/>
          </a:prstGeom>
          <a:solidFill xmlns:a="http://schemas.openxmlformats.org/drawingml/2006/main">
            <a:srgbClr val="BBCBD2"/>
          </a:solidFill>
          <a:ln xmlns:a="http://schemas.openxmlformats.org/drawingml/2006/main" w="0">
            <a:noFill/>
            <a:prstDash val="solid"/>
          </a:ln>
        </p:spPr>
      </p:sp>
      <p:sp>
        <p:nvSpPr>
          <p:cNvPr id="14" name="job-task-2">
            <a:extLst xmlns:a="http://schemas.openxmlformats.org/drawingml/2006/main">
              <a:ext uri="{FF2B5EF4-FFF2-40B4-BE49-F238E27FC236}">
                <a16:creationId xmlns:a16="http://schemas.microsoft.com/office/drawing/2014/main" id="{AEF17573-40E9-42D3-84BF-DA3AA80A6777}"/>
              </a:ext>
            </a:extLst>
          </p:cNvPr>
          <p:cNvSpPr>
            <a:spLocks xmlns:a="http://schemas.openxmlformats.org/drawingml/2006/main" noGrp="1"/>
          </p:cNvSpPr>
          <p:nvPr/>
        </p:nvSpPr>
        <p:spPr>
          <a:xfrm xmlns:a="http://schemas.openxmlformats.org/drawingml/2006/main">
            <a:off x="4953000" y="3581400"/>
            <a:ext cx="638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Chef: prepares food.</a:t>
            </a:r>
          </a:p>
        </p:txBody>
      </p:sp>
      <p:sp>
        <p:nvSpPr>
          <p:cNvPr id="15" name="job-connector-3">
            <a:extLst xmlns:a="http://schemas.openxmlformats.org/drawingml/2006/main">
              <a:ext uri="{FF2B5EF4-FFF2-40B4-BE49-F238E27FC236}">
                <a16:creationId xmlns:a16="http://schemas.microsoft.com/office/drawing/2014/main" id="{14849B77-8A63-4B29-8CE4-6AD5BC2A28DF}"/>
              </a:ext>
            </a:extLst>
          </p:cNvPr>
          <p:cNvSpPr>
            <a:spLocks xmlns:a="http://schemas.openxmlformats.org/drawingml/2006/main" noGrp="1"/>
          </p:cNvSpPr>
          <p:nvPr/>
        </p:nvSpPr>
        <p:spPr>
          <a:xfrm xmlns:a="http://schemas.openxmlformats.org/drawingml/2006/main">
            <a:off x="4095750" y="4867275"/>
            <a:ext cx="609600" cy="19050"/>
          </a:xfrm>
          <a:prstGeom xmlns:a="http://schemas.openxmlformats.org/drawingml/2006/main" prst="rect">
            <a:avLst/>
          </a:prstGeom>
          <a:solidFill xmlns:a="http://schemas.openxmlformats.org/drawingml/2006/main">
            <a:srgbClr val="BBCBD2"/>
          </a:solidFill>
          <a:ln xmlns:a="http://schemas.openxmlformats.org/drawingml/2006/main" w="0">
            <a:noFill/>
            <a:prstDash val="solid"/>
          </a:ln>
        </p:spPr>
      </p:sp>
      <p:sp>
        <p:nvSpPr>
          <p:cNvPr id="16" name="job-task-3">
            <a:extLst xmlns:a="http://schemas.openxmlformats.org/drawingml/2006/main">
              <a:ext uri="{FF2B5EF4-FFF2-40B4-BE49-F238E27FC236}">
                <a16:creationId xmlns:a16="http://schemas.microsoft.com/office/drawing/2014/main" id="{66C9A450-F7EC-48D3-81A0-9E3B4C5EE4F5}"/>
              </a:ext>
            </a:extLst>
          </p:cNvPr>
          <p:cNvSpPr>
            <a:spLocks xmlns:a="http://schemas.openxmlformats.org/drawingml/2006/main" noGrp="1"/>
          </p:cNvSpPr>
          <p:nvPr/>
        </p:nvSpPr>
        <p:spPr>
          <a:xfrm xmlns:a="http://schemas.openxmlformats.org/drawingml/2006/main">
            <a:off x="4953000" y="4514850"/>
            <a:ext cx="6381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Porter: helps move guests’ luggage.</a:t>
            </a:r>
          </a:p>
        </p:txBody>
      </p:sp>
      <p:sp>
        <p:nvSpPr>
          <p:cNvPr id="17" name="sentence-frame">
            <a:extLst xmlns:a="http://schemas.openxmlformats.org/drawingml/2006/main">
              <a:ext uri="{FF2B5EF4-FFF2-40B4-BE49-F238E27FC236}">
                <a16:creationId xmlns:a16="http://schemas.microsoft.com/office/drawing/2014/main" id="{1362BE6D-F52B-4CAB-AA60-0FFB098D2E94}"/>
              </a:ext>
            </a:extLst>
          </p:cNvPr>
          <p:cNvSpPr>
            <a:spLocks xmlns:a="http://schemas.openxmlformats.org/drawingml/2006/main" noGrp="1"/>
          </p:cNvSpPr>
          <p:nvPr/>
        </p:nvSpPr>
        <p:spPr>
          <a:xfrm xmlns:a="http://schemas.openxmlformats.org/drawingml/2006/main">
            <a:off x="609600" y="5734050"/>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a:p xmlns:a="http://schemas.openxmlformats.org/drawingml/2006/main">
            <a:pPr algn="l">
              <a:defRPr sz="2025" b="0">
                <a:solidFill>
                  <a:srgbClr val="146B68"/>
                </a:solidFill>
                <a:latin typeface="Arial"/>
                <a:ea typeface="Arial"/>
                <a:cs typeface="Arial"/>
              </a:defRPr>
            </a:pPr>
            <a:r>
              <a:rPr sz="2025" b="0">
                <a:solidFill>
                  <a:srgbClr val="146B68"/>
                </a:solidFill>
                <a:latin typeface="Arial"/>
                <a:ea typeface="Arial"/>
                <a:cs typeface="Arial"/>
              </a:rPr>
              <a:t>A __ works in a hotel and __.</a:t>
            </a:r>
          </a:p>
        </p:txBody>
      </p:sp>
      <p:sp>
        <p:nvSpPr>
          <p:cNvPr id="18" name="printed-id">
            <a:extLst xmlns:a="http://schemas.openxmlformats.org/drawingml/2006/main">
              <a:ext uri="{FF2B5EF4-FFF2-40B4-BE49-F238E27FC236}">
                <a16:creationId xmlns:a16="http://schemas.microsoft.com/office/drawing/2014/main" id="{5781F2F7-F45B-42B1-A455-83F6CF14CE3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VOC-LAUNCH-A2-W01-L1</a:t>
            </a:r>
          </a:p>
        </p:txBody>
      </p:sp>
      <p:sp>
        <p:nvSpPr>
          <p:cNvPr id="19" name="edition-label">
            <a:extLst xmlns:a="http://schemas.openxmlformats.org/drawingml/2006/main">
              <a:ext uri="{FF2B5EF4-FFF2-40B4-BE49-F238E27FC236}">
                <a16:creationId xmlns:a16="http://schemas.microsoft.com/office/drawing/2014/main" id="{2AF6C380-382F-41EC-AA20-DB26C3326DED}"/>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0" name="licence-credit">
            <a:extLst xmlns:a="http://schemas.openxmlformats.org/drawingml/2006/main">
              <a:ext uri="{FF2B5EF4-FFF2-40B4-BE49-F238E27FC236}">
                <a16:creationId xmlns:a16="http://schemas.microsoft.com/office/drawing/2014/main" id="{C8A4D0D9-2202-49A6-8BB0-8F826A70064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2136642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8B0BFE1-C0DF-4855-8BCD-3400E47043F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56D8225-264D-4FB2-B4BE-DD961AC7C8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4EECB551-7DD4-40F4-8FDB-2C907CF61B6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7D6E1D05-0C76-4FA7-9FE1-4C0CD88F95F1}"/>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Our shared mind map</a:t>
            </a:r>
          </a:p>
        </p:txBody>
      </p:sp>
      <p:sp>
        <p:nvSpPr>
          <p:cNvPr id="5" name="heading-rule">
            <a:extLst xmlns:a="http://schemas.openxmlformats.org/drawingml/2006/main">
              <a:ext uri="{FF2B5EF4-FFF2-40B4-BE49-F238E27FC236}">
                <a16:creationId xmlns:a16="http://schemas.microsoft.com/office/drawing/2014/main" id="{2AF201AC-72E5-4D56-AA2A-EF1E87D3226A}"/>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70BBD9F7-D203-4672-BAA9-ECEEB0D99027}"/>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Choose one business type and one job role.</a:t>
            </a:r>
          </a:p>
        </p:txBody>
      </p:sp>
      <p:sp>
        <p:nvSpPr>
          <p:cNvPr id="7" name="body-1">
            <a:extLst xmlns:a="http://schemas.openxmlformats.org/drawingml/2006/main">
              <a:ext uri="{FF2B5EF4-FFF2-40B4-BE49-F238E27FC236}">
                <a16:creationId xmlns:a16="http://schemas.microsoft.com/office/drawing/2014/main" id="{CAF05909-F70A-4315-8CCE-3CAC50F57D4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Put your name or learner code on your sticky note.</a:t>
            </a:r>
          </a:p>
        </p:txBody>
      </p:sp>
      <p:sp>
        <p:nvSpPr>
          <p:cNvPr id="8" name="body-2">
            <a:extLst xmlns:a="http://schemas.openxmlformats.org/drawingml/2006/main">
              <a:ext uri="{FF2B5EF4-FFF2-40B4-BE49-F238E27FC236}">
                <a16:creationId xmlns:a16="http://schemas.microsoft.com/office/drawing/2014/main" id="{90966596-5A6C-4C86-A34F-0540D031ADFF}"/>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Add your own words to the class mind map.</a:t>
            </a:r>
          </a:p>
        </p:txBody>
      </p:sp>
      <p:sp>
        <p:nvSpPr>
          <p:cNvPr id="9" name="body-3">
            <a:extLst xmlns:a="http://schemas.openxmlformats.org/drawingml/2006/main">
              <a:ext uri="{FF2B5EF4-FFF2-40B4-BE49-F238E27FC236}">
                <a16:creationId xmlns:a16="http://schemas.microsoft.com/office/drawing/2014/main" id="{9C801EBA-6250-4042-A880-B6CBAE9C280C}"/>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My business is __. The role is __.</a:t>
            </a:r>
          </a:p>
        </p:txBody>
      </p:sp>
      <p:sp>
        <p:nvSpPr>
          <p:cNvPr id="10" name="printed-id">
            <a:extLst xmlns:a="http://schemas.openxmlformats.org/drawingml/2006/main">
              <a:ext uri="{FF2B5EF4-FFF2-40B4-BE49-F238E27FC236}">
                <a16:creationId xmlns:a16="http://schemas.microsoft.com/office/drawing/2014/main" id="{77291494-0007-47CA-807F-E59E7433182D}"/>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VOC-LAUNCH-A2-W01-L1</a:t>
            </a:r>
          </a:p>
        </p:txBody>
      </p:sp>
      <p:sp>
        <p:nvSpPr>
          <p:cNvPr id="11" name="edition-label">
            <a:extLst xmlns:a="http://schemas.openxmlformats.org/drawingml/2006/main">
              <a:ext uri="{FF2B5EF4-FFF2-40B4-BE49-F238E27FC236}">
                <a16:creationId xmlns:a16="http://schemas.microsoft.com/office/drawing/2014/main" id="{2A2B0FC5-3AB3-40D9-8F79-1A7B5A015F2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D6FD3995-AFAA-4C2C-A05E-AA63E5A82890}"/>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35527461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ide-rule">
            <a:extLst xmlns:a="http://schemas.openxmlformats.org/drawingml/2006/main">
              <a:ext uri="{FF2B5EF4-FFF2-40B4-BE49-F238E27FC236}">
                <a16:creationId xmlns:a16="http://schemas.microsoft.com/office/drawing/2014/main" id="{330384E3-7E7B-47A7-9169-CE2FE072C96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AD6F85C-3E86-4261-A85F-D62B5E3C59C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1DFA52BE-43E4-427E-AB5A-3DDE1E64C1B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A6A79D80-71C3-4D6B-A906-CD6E661E27B5}"/>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Your Business and Jobs record</a:t>
            </a:r>
          </a:p>
        </p:txBody>
      </p:sp>
      <p:sp>
        <p:nvSpPr>
          <p:cNvPr id="5" name="heading-rule">
            <a:extLst xmlns:a="http://schemas.openxmlformats.org/drawingml/2006/main">
              <a:ext uri="{FF2B5EF4-FFF2-40B4-BE49-F238E27FC236}">
                <a16:creationId xmlns:a16="http://schemas.microsoft.com/office/drawing/2014/main" id="{2319A724-6B21-4EB8-94E8-7100BDA4F29B}"/>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C9DAE65C-1DB5-47EB-8707-3FEBC088DE82}"/>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Record five business types.</a:t>
            </a:r>
          </a:p>
        </p:txBody>
      </p:sp>
      <p:sp>
        <p:nvSpPr>
          <p:cNvPr id="7" name="body-1">
            <a:extLst xmlns:a="http://schemas.openxmlformats.org/drawingml/2006/main">
              <a:ext uri="{FF2B5EF4-FFF2-40B4-BE49-F238E27FC236}">
                <a16:creationId xmlns:a16="http://schemas.microsoft.com/office/drawing/2014/main" id="{CD268CED-2FFD-495A-9A08-7D8B123BF25D}"/>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For each business, give two job roles and one task for each role.</a:t>
            </a:r>
          </a:p>
        </p:txBody>
      </p:sp>
      <p:sp>
        <p:nvSpPr>
          <p:cNvPr id="8" name="body-2">
            <a:extLst xmlns:a="http://schemas.openxmlformats.org/drawingml/2006/main">
              <a:ext uri="{FF2B5EF4-FFF2-40B4-BE49-F238E27FC236}">
                <a16:creationId xmlns:a16="http://schemas.microsoft.com/office/drawing/2014/main" id="{19BA90C7-1832-4E01-88D8-2574378BFC6E}"/>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Then circle the role that interests you most.</a:t>
            </a:r>
          </a:p>
        </p:txBody>
      </p:sp>
      <p:sp>
        <p:nvSpPr>
          <p:cNvPr id="9" name="body-3">
            <a:extLst xmlns:a="http://schemas.openxmlformats.org/drawingml/2006/main">
              <a:ext uri="{FF2B5EF4-FFF2-40B4-BE49-F238E27FC236}">
                <a16:creationId xmlns:a16="http://schemas.microsoft.com/office/drawing/2014/main" id="{0E8DB0B0-C365-4A4F-8195-C56B45BD792F}"/>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 __ works at a __ and __.</a:t>
            </a:r>
          </a:p>
        </p:txBody>
      </p:sp>
      <p:sp>
        <p:nvSpPr>
          <p:cNvPr id="10" name="body-4">
            <a:extLst xmlns:a="http://schemas.openxmlformats.org/drawingml/2006/main">
              <a:ext uri="{FF2B5EF4-FFF2-40B4-BE49-F238E27FC236}">
                <a16:creationId xmlns:a16="http://schemas.microsoft.com/office/drawing/2014/main" id="{99D4B483-1549-46DC-AD85-66BC735FC481}"/>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Supported: Match cards and dictate a task for each role.</a:t>
            </a:r>
          </a:p>
        </p:txBody>
      </p:sp>
      <p:sp>
        <p:nvSpPr>
          <p:cNvPr id="11" name="body-5">
            <a:extLst xmlns:a="http://schemas.openxmlformats.org/drawingml/2006/main">
              <a:ext uri="{FF2B5EF4-FFF2-40B4-BE49-F238E27FC236}">
                <a16:creationId xmlns:a16="http://schemas.microsoft.com/office/drawing/2014/main" id="{5F1B3EC9-0011-471D-B947-A72BAB2A9246}"/>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Independent: Complete five businesses and ten roles with tasks.</a:t>
            </a:r>
          </a:p>
        </p:txBody>
      </p:sp>
      <p:sp>
        <p:nvSpPr>
          <p:cNvPr id="12" name="body-6">
            <a:extLst xmlns:a="http://schemas.openxmlformats.org/drawingml/2006/main">
              <a:ext uri="{FF2B5EF4-FFF2-40B4-BE49-F238E27FC236}">
                <a16:creationId xmlns:a16="http://schemas.microsoft.com/office/drawing/2014/main" id="{9A77BDD7-AAC8-4AC6-AE62-CD368ACD3F5C}"/>
              </a:ext>
            </a:extLst>
          </p:cNvPr>
          <p:cNvSpPr>
            <a:spLocks xmlns:a="http://schemas.openxmlformats.org/drawingml/2006/main" noGrp="1"/>
          </p:cNvSpPr>
          <p:nvPr/>
        </p:nvSpPr>
        <p:spPr>
          <a:xfrm xmlns:a="http://schemas.openxmlformats.org/drawingml/2006/main">
            <a:off x="609600" y="435902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Aspire: Add an overlooked role and explain its value.</a:t>
            </a:r>
          </a:p>
        </p:txBody>
      </p:sp>
      <p:sp>
        <p:nvSpPr>
          <p:cNvPr id="13" name="printed-id">
            <a:extLst xmlns:a="http://schemas.openxmlformats.org/drawingml/2006/main">
              <a:ext uri="{FF2B5EF4-FFF2-40B4-BE49-F238E27FC236}">
                <a16:creationId xmlns:a16="http://schemas.microsoft.com/office/drawing/2014/main" id="{DE58773B-2137-4B24-A9F7-31C6AFF2434B}"/>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VOC-LAUNCH-A2-W01-L1</a:t>
            </a:r>
          </a:p>
        </p:txBody>
      </p:sp>
      <p:sp>
        <p:nvSpPr>
          <p:cNvPr id="14" name="edition-label">
            <a:extLst xmlns:a="http://schemas.openxmlformats.org/drawingml/2006/main">
              <a:ext uri="{FF2B5EF4-FFF2-40B4-BE49-F238E27FC236}">
                <a16:creationId xmlns:a16="http://schemas.microsoft.com/office/drawing/2014/main" id="{A9270106-87F0-42A3-8E4C-70170EA9CE8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5" name="licence-credit">
            <a:extLst xmlns:a="http://schemas.openxmlformats.org/drawingml/2006/main">
              <a:ext uri="{FF2B5EF4-FFF2-40B4-BE49-F238E27FC236}">
                <a16:creationId xmlns:a16="http://schemas.microsoft.com/office/drawing/2014/main" id="{3B466B1B-691A-4026-83A1-1F8F5D1F59D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2380032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ide-rule">
            <a:extLst xmlns:a="http://schemas.openxmlformats.org/drawingml/2006/main">
              <a:ext uri="{FF2B5EF4-FFF2-40B4-BE49-F238E27FC236}">
                <a16:creationId xmlns:a16="http://schemas.microsoft.com/office/drawing/2014/main" id="{513856FA-CB2F-4B7D-A5C4-069E1600AF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A299DEA8-9BAD-4683-80B7-96C93EBB7B2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D39D9E2E-C1B8-4EC6-9A5B-E8F05559A94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17E2662E-DEBD-4FD2-A54B-C3F4B349BF7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Your evidence</a:t>
            </a:r>
          </a:p>
        </p:txBody>
      </p:sp>
      <p:sp>
        <p:nvSpPr>
          <p:cNvPr id="5" name="heading-rule">
            <a:extLst xmlns:a="http://schemas.openxmlformats.org/drawingml/2006/main">
              <a:ext uri="{FF2B5EF4-FFF2-40B4-BE49-F238E27FC236}">
                <a16:creationId xmlns:a16="http://schemas.microsoft.com/office/drawing/2014/main" id="{CFD670F0-44BB-4098-B7BA-4A7CE04EEBC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E70951C8-535C-447E-9F10-97C7387B7E5D}"/>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Mark your own sticky note in the mind-map photo.</a:t>
            </a:r>
          </a:p>
        </p:txBody>
      </p:sp>
      <p:sp>
        <p:nvSpPr>
          <p:cNvPr id="7" name="body-1">
            <a:extLst xmlns:a="http://schemas.openxmlformats.org/drawingml/2006/main">
              <a:ext uri="{FF2B5EF4-FFF2-40B4-BE49-F238E27FC236}">
                <a16:creationId xmlns:a16="http://schemas.microsoft.com/office/drawing/2014/main" id="{CE30FE6E-51C5-496B-A1DA-920505BD6F0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Check your five businesses and ten roles.</a:t>
            </a:r>
          </a:p>
        </p:txBody>
      </p:sp>
      <p:sp>
        <p:nvSpPr>
          <p:cNvPr id="8" name="body-2">
            <a:extLst xmlns:a="http://schemas.openxmlformats.org/drawingml/2006/main">
              <a:ext uri="{FF2B5EF4-FFF2-40B4-BE49-F238E27FC236}">
                <a16:creationId xmlns:a16="http://schemas.microsoft.com/office/drawing/2014/main" id="{519EB887-D427-4A0D-BC60-D6BB571E3D0E}"/>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Complete: I chose __ because __.</a:t>
            </a:r>
          </a:p>
        </p:txBody>
      </p:sp>
      <p:sp>
        <p:nvSpPr>
          <p:cNvPr id="9" name="body-3">
            <a:extLst xmlns:a="http://schemas.openxmlformats.org/drawingml/2006/main">
              <a:ext uri="{FF2B5EF4-FFF2-40B4-BE49-F238E27FC236}">
                <a16:creationId xmlns:a16="http://schemas.microsoft.com/office/drawing/2014/main" id="{1DCCEA81-DF0C-4222-9894-FE231A7EE20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Keep the photo reference and your own record together.</a:t>
            </a:r>
          </a:p>
        </p:txBody>
      </p:sp>
      <p:sp>
        <p:nvSpPr>
          <p:cNvPr id="10" name="body-4">
            <a:extLst xmlns:a="http://schemas.openxmlformats.org/drawingml/2006/main">
              <a:ext uri="{FF2B5EF4-FFF2-40B4-BE49-F238E27FC236}">
                <a16:creationId xmlns:a16="http://schemas.microsoft.com/office/drawing/2014/main" id="{2F26FB3B-C9B0-4432-888D-4A8B99482F15}"/>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Supported: Find your note. Check with an adult reader.</a:t>
            </a:r>
          </a:p>
        </p:txBody>
      </p:sp>
      <p:sp>
        <p:nvSpPr>
          <p:cNvPr id="11" name="body-5">
            <a:extLst xmlns:a="http://schemas.openxmlformats.org/drawingml/2006/main">
              <a:ext uri="{FF2B5EF4-FFF2-40B4-BE49-F238E27FC236}">
                <a16:creationId xmlns:a16="http://schemas.microsoft.com/office/drawing/2014/main" id="{6F111EB4-1AE8-48A9-A46A-1D91D0D595D1}"/>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Independent: Label both items and check the role tasks.</a:t>
            </a:r>
          </a:p>
        </p:txBody>
      </p:sp>
      <p:sp>
        <p:nvSpPr>
          <p:cNvPr id="12" name="body-6">
            <a:extLst xmlns:a="http://schemas.openxmlformats.org/drawingml/2006/main">
              <a:ext uri="{FF2B5EF4-FFF2-40B4-BE49-F238E27FC236}">
                <a16:creationId xmlns:a16="http://schemas.microsoft.com/office/drawing/2014/main" id="{986C33D8-7493-40DA-A771-07B4ECF9B65D}"/>
              </a:ext>
            </a:extLst>
          </p:cNvPr>
          <p:cNvSpPr>
            <a:spLocks xmlns:a="http://schemas.openxmlformats.org/drawingml/2006/main" noGrp="1"/>
          </p:cNvSpPr>
          <p:nvPr/>
        </p:nvSpPr>
        <p:spPr>
          <a:xfrm xmlns:a="http://schemas.openxmlformats.org/drawingml/2006/main">
            <a:off x="609600" y="435902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Aspire: Explain your preferred role using a reason.</a:t>
            </a:r>
          </a:p>
        </p:txBody>
      </p:sp>
      <p:sp>
        <p:nvSpPr>
          <p:cNvPr id="13" name="printed-id">
            <a:extLst xmlns:a="http://schemas.openxmlformats.org/drawingml/2006/main">
              <a:ext uri="{FF2B5EF4-FFF2-40B4-BE49-F238E27FC236}">
                <a16:creationId xmlns:a16="http://schemas.microsoft.com/office/drawing/2014/main" id="{ADBFA85E-299F-4B84-BB66-4107C012B470}"/>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VOC-LAUNCH-A2-W01-L1</a:t>
            </a:r>
          </a:p>
        </p:txBody>
      </p:sp>
      <p:sp>
        <p:nvSpPr>
          <p:cNvPr id="14" name="edition-label">
            <a:extLst xmlns:a="http://schemas.openxmlformats.org/drawingml/2006/main">
              <a:ext uri="{FF2B5EF4-FFF2-40B4-BE49-F238E27FC236}">
                <a16:creationId xmlns:a16="http://schemas.microsoft.com/office/drawing/2014/main" id="{25652650-3A4C-4E64-AE21-C6BDBACA171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5" name="licence-credit">
            <a:extLst xmlns:a="http://schemas.openxmlformats.org/drawingml/2006/main">
              <a:ext uri="{FF2B5EF4-FFF2-40B4-BE49-F238E27FC236}">
                <a16:creationId xmlns:a16="http://schemas.microsoft.com/office/drawing/2014/main" id="{CAE4B9CC-AFE7-4A30-AFBF-5FD3030992E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7864944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CECFFAAD-C603-4232-99A4-599299111BC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46DFDB96-3FC9-4DBE-84FD-7D05277ED42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7CEDE75F-7B79-4888-9516-9D126BDAA9A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28FCFD6B-3F7D-498E-B3A8-BB8D1B0B633F}"/>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6D3F0A46-A15E-4EC6-BBF7-250295EE5D7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step-number-0">
            <a:extLst xmlns:a="http://schemas.openxmlformats.org/drawingml/2006/main">
              <a:ext uri="{FF2B5EF4-FFF2-40B4-BE49-F238E27FC236}">
                <a16:creationId xmlns:a16="http://schemas.microsoft.com/office/drawing/2014/main" id="{21768EF4-70B0-452D-93F9-26C6479D28C7}"/>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7" name="body-0">
            <a:extLst xmlns:a="http://schemas.openxmlformats.org/drawingml/2006/main">
              <a:ext uri="{FF2B5EF4-FFF2-40B4-BE49-F238E27FC236}">
                <a16:creationId xmlns:a16="http://schemas.microsoft.com/office/drawing/2014/main" id="{0D440C1A-E9B8-4DEF-A928-54D65FE9BBD4}"/>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Put your record and photo reference in your folder.</a:t>
            </a:r>
          </a:p>
        </p:txBody>
      </p:sp>
      <p:sp>
        <p:nvSpPr>
          <p:cNvPr id="8" name="step-number-1">
            <a:extLst xmlns:a="http://schemas.openxmlformats.org/drawingml/2006/main">
              <a:ext uri="{FF2B5EF4-FFF2-40B4-BE49-F238E27FC236}">
                <a16:creationId xmlns:a16="http://schemas.microsoft.com/office/drawing/2014/main" id="{E472F166-4D7E-4A95-964C-47528286EE0F}"/>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9" name="body-1">
            <a:extLst xmlns:a="http://schemas.openxmlformats.org/drawingml/2006/main">
              <a:ext uri="{FF2B5EF4-FFF2-40B4-BE49-F238E27FC236}">
                <a16:creationId xmlns:a16="http://schemas.microsoft.com/office/drawing/2014/main" id="{5E9913F8-8F21-406C-9580-F54788FB7B67}"/>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Check: five businesses, two jobs each, one task per job.</a:t>
            </a:r>
          </a:p>
        </p:txBody>
      </p:sp>
      <p:sp>
        <p:nvSpPr>
          <p:cNvPr id="10" name="step-number-2">
            <a:extLst xmlns:a="http://schemas.openxmlformats.org/drawingml/2006/main">
              <a:ext uri="{FF2B5EF4-FFF2-40B4-BE49-F238E27FC236}">
                <a16:creationId xmlns:a16="http://schemas.microsoft.com/office/drawing/2014/main" id="{BB78B387-A330-466C-A624-805083AEF921}"/>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11" name="body-2">
            <a:extLst xmlns:a="http://schemas.openxmlformats.org/drawingml/2006/main">
              <a:ext uri="{FF2B5EF4-FFF2-40B4-BE49-F238E27FC236}">
                <a16:creationId xmlns:a16="http://schemas.microsoft.com/office/drawing/2014/main" id="{3EC4C165-C7B7-4D1F-BE0B-6B245B1B4012}"/>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Is your own contribution easy to find?</a:t>
            </a:r>
          </a:p>
        </p:txBody>
      </p:sp>
      <p:sp>
        <p:nvSpPr>
          <p:cNvPr id="12" name="step-number-3">
            <a:extLst xmlns:a="http://schemas.openxmlformats.org/drawingml/2006/main">
              <a:ext uri="{FF2B5EF4-FFF2-40B4-BE49-F238E27FC236}">
                <a16:creationId xmlns:a16="http://schemas.microsoft.com/office/drawing/2014/main" id="{D7D080AC-5A05-4C50-A6E4-7174D9C4446A}"/>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13" name="body-3">
            <a:extLst xmlns:a="http://schemas.openxmlformats.org/drawingml/2006/main">
              <a:ext uri="{FF2B5EF4-FFF2-40B4-BE49-F238E27FC236}">
                <a16:creationId xmlns:a16="http://schemas.microsoft.com/office/drawing/2014/main" id="{AF5D2DB3-5F98-4C5C-A2D6-0F77E1D4A75C}"/>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I still need to __.</a:t>
            </a:r>
          </a:p>
        </p:txBody>
      </p:sp>
      <p:sp>
        <p:nvSpPr>
          <p:cNvPr id="14" name="printed-id">
            <a:extLst xmlns:a="http://schemas.openxmlformats.org/drawingml/2006/main">
              <a:ext uri="{FF2B5EF4-FFF2-40B4-BE49-F238E27FC236}">
                <a16:creationId xmlns:a16="http://schemas.microsoft.com/office/drawing/2014/main" id="{20CB964F-0B0A-4718-957E-391C07C70AC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VOC-LAUNCH-A2-W01-L1</a:t>
            </a:r>
          </a:p>
        </p:txBody>
      </p:sp>
      <p:sp>
        <p:nvSpPr>
          <p:cNvPr id="15" name="edition-label">
            <a:extLst xmlns:a="http://schemas.openxmlformats.org/drawingml/2006/main">
              <a:ext uri="{FF2B5EF4-FFF2-40B4-BE49-F238E27FC236}">
                <a16:creationId xmlns:a16="http://schemas.microsoft.com/office/drawing/2014/main" id="{C89EE279-04E0-4539-9EEF-6E71C6D92A5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A805ACCF-9E3F-4235-A689-32BEBC99A57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6530772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C8691796-31F9-44CF-BE68-F275E8A90E3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028DDF0-DB32-4E21-8241-D38631C95A7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0CF93CFF-DA8C-47C2-A0BB-9CCE787ECF2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2F6AAFEF-18C7-47BE-B24D-C1A056263F52}"/>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Exit ticket</a:t>
            </a:r>
          </a:p>
        </p:txBody>
      </p:sp>
      <p:sp>
        <p:nvSpPr>
          <p:cNvPr id="5" name="heading-rule">
            <a:extLst xmlns:a="http://schemas.openxmlformats.org/drawingml/2006/main">
              <a:ext uri="{FF2B5EF4-FFF2-40B4-BE49-F238E27FC236}">
                <a16:creationId xmlns:a16="http://schemas.microsoft.com/office/drawing/2014/main" id="{B5D55A0C-3713-4DB9-8DBF-2BB5ED044C3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1C71DB13-4B61-4616-9D9C-56445C7581EA}"/>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Name your chosen job role.</a:t>
            </a:r>
          </a:p>
        </p:txBody>
      </p:sp>
      <p:sp>
        <p:nvSpPr>
          <p:cNvPr id="7" name="body-1">
            <a:extLst xmlns:a="http://schemas.openxmlformats.org/drawingml/2006/main">
              <a:ext uri="{FF2B5EF4-FFF2-40B4-BE49-F238E27FC236}">
                <a16:creationId xmlns:a16="http://schemas.microsoft.com/office/drawing/2014/main" id="{46B9579B-14C2-4267-A7BE-8ACE42F32F7A}"/>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Say one thing that person does.</a:t>
            </a:r>
          </a:p>
        </p:txBody>
      </p:sp>
      <p:sp>
        <p:nvSpPr>
          <p:cNvPr id="8" name="body-2">
            <a:extLst xmlns:a="http://schemas.openxmlformats.org/drawingml/2006/main">
              <a:ext uri="{FF2B5EF4-FFF2-40B4-BE49-F238E27FC236}">
                <a16:creationId xmlns:a16="http://schemas.microsoft.com/office/drawing/2014/main" id="{AD932C3F-929E-40DB-A749-DF2A53FB4DF7}"/>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a:p xmlns:a="http://schemas.openxmlformats.org/drawingml/2006/main">
            <a:pPr algn="l">
              <a:defRPr sz="2250" b="0">
                <a:solidFill>
                  <a:srgbClr val="17384A"/>
                </a:solidFill>
                <a:latin typeface="Arial"/>
                <a:ea typeface="Arial"/>
                <a:cs typeface="Arial"/>
              </a:defRPr>
            </a:pPr>
            <a:r>
              <a:rPr sz="2250" b="0">
                <a:solidFill>
                  <a:srgbClr val="17384A"/>
                </a:solidFill>
                <a:latin typeface="Arial"/>
                <a:ea typeface="Arial"/>
                <a:cs typeface="Arial"/>
              </a:rPr>
              <a:t>My chosen role is __. One task is __.</a:t>
            </a:r>
          </a:p>
        </p:txBody>
      </p:sp>
      <p:sp>
        <p:nvSpPr>
          <p:cNvPr id="9" name="printed-id">
            <a:extLst xmlns:a="http://schemas.openxmlformats.org/drawingml/2006/main">
              <a:ext uri="{FF2B5EF4-FFF2-40B4-BE49-F238E27FC236}">
                <a16:creationId xmlns:a16="http://schemas.microsoft.com/office/drawing/2014/main" id="{4AE78525-1114-42FF-BCCD-FD8FBBC0D2E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VOC-LAUNCH-A2-W01-L1</a:t>
            </a:r>
          </a:p>
        </p:txBody>
      </p:sp>
      <p:sp>
        <p:nvSpPr>
          <p:cNvPr id="10" name="edition-label">
            <a:extLst xmlns:a="http://schemas.openxmlformats.org/drawingml/2006/main">
              <a:ext uri="{FF2B5EF4-FFF2-40B4-BE49-F238E27FC236}">
                <a16:creationId xmlns:a16="http://schemas.microsoft.com/office/drawing/2014/main" id="{6177A3DC-6213-4DB7-BF23-0E9DAA7CC20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520F3574-C215-453B-B835-1CAE464634E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7774308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387E12E-3D59-44E2-A9A0-F46EB64587B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1FEB0A4-6716-4213-8AC5-96D0DB5D09F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091408B4-7874-4C90-B55B-C50BFC19FBE7}"/>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F5B737DB-B8CC-4BF9-B564-06639F7AFB01}"/>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Key words</a:t>
            </a:r>
          </a:p>
        </p:txBody>
      </p:sp>
      <p:sp>
        <p:nvSpPr>
          <p:cNvPr id="5" name="heading-rule">
            <a:extLst xmlns:a="http://schemas.openxmlformats.org/drawingml/2006/main">
              <a:ext uri="{FF2B5EF4-FFF2-40B4-BE49-F238E27FC236}">
                <a16:creationId xmlns:a16="http://schemas.microsoft.com/office/drawing/2014/main" id="{5B9791EF-0FB6-4BF1-8F22-1F9D1715B03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CE0A3EF1-9DDB-477B-83EB-130A58C05D39}"/>
              </a:ext>
            </a:extLst>
          </p:cNvPr>
          <p:cNvSpPr>
            <a:spLocks xmlns:a="http://schemas.openxmlformats.org/drawingml/2006/main" noGrp="1"/>
          </p:cNvSpPr>
          <p:nvPr/>
        </p:nvSpPr>
        <p:spPr>
          <a:xfrm xmlns:a="http://schemas.openxmlformats.org/drawingml/2006/main">
            <a:off x="609600" y="1695450"/>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Hospitality: looking after guests and customers.</a:t>
            </a:r>
          </a:p>
        </p:txBody>
      </p:sp>
      <p:sp>
        <p:nvSpPr>
          <p:cNvPr id="7" name="body-1">
            <a:extLst xmlns:a="http://schemas.openxmlformats.org/drawingml/2006/main">
              <a:ext uri="{FF2B5EF4-FFF2-40B4-BE49-F238E27FC236}">
                <a16:creationId xmlns:a16="http://schemas.microsoft.com/office/drawing/2014/main" id="{AF69B9E9-8F8F-481A-B3E2-944208C41FFD}"/>
              </a:ext>
            </a:extLst>
          </p:cNvPr>
          <p:cNvSpPr>
            <a:spLocks xmlns:a="http://schemas.openxmlformats.org/drawingml/2006/main" noGrp="1"/>
          </p:cNvSpPr>
          <p:nvPr/>
        </p:nvSpPr>
        <p:spPr>
          <a:xfrm xmlns:a="http://schemas.openxmlformats.org/drawingml/2006/main">
            <a:off x="609600" y="2561082"/>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Business: provides goods or services.</a:t>
            </a:r>
          </a:p>
        </p:txBody>
      </p:sp>
      <p:sp>
        <p:nvSpPr>
          <p:cNvPr id="8" name="body-2">
            <a:extLst xmlns:a="http://schemas.openxmlformats.org/drawingml/2006/main">
              <a:ext uri="{FF2B5EF4-FFF2-40B4-BE49-F238E27FC236}">
                <a16:creationId xmlns:a16="http://schemas.microsoft.com/office/drawing/2014/main" id="{A81EB1FF-BD00-41A1-9D37-FB89A1EA3710}"/>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Job role: work and responsibilities of a job.</a:t>
            </a:r>
          </a:p>
        </p:txBody>
      </p:sp>
      <p:sp>
        <p:nvSpPr>
          <p:cNvPr id="9" name="body-0">
            <a:extLst xmlns:a="http://schemas.openxmlformats.org/drawingml/2006/main">
              <a:ext uri="{FF2B5EF4-FFF2-40B4-BE49-F238E27FC236}">
                <a16:creationId xmlns:a16="http://schemas.microsoft.com/office/drawing/2014/main" id="{DE99513C-C024-4005-BC9C-AEB1B3AC15BB}"/>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Task: one piece of work.</a:t>
            </a:r>
          </a:p>
        </p:txBody>
      </p:sp>
      <p:sp>
        <p:nvSpPr>
          <p:cNvPr id="10" name="body-1">
            <a:extLst xmlns:a="http://schemas.openxmlformats.org/drawingml/2006/main">
              <a:ext uri="{FF2B5EF4-FFF2-40B4-BE49-F238E27FC236}">
                <a16:creationId xmlns:a16="http://schemas.microsoft.com/office/drawing/2014/main" id="{2E73C922-8D1C-48E9-BF71-2188DDFA7DC9}"/>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Front of house: direct guest contact.</a:t>
            </a:r>
          </a:p>
        </p:txBody>
      </p:sp>
      <p:sp>
        <p:nvSpPr>
          <p:cNvPr id="11" name="body-2">
            <a:extLst xmlns:a="http://schemas.openxmlformats.org/drawingml/2006/main">
              <a:ext uri="{FF2B5EF4-FFF2-40B4-BE49-F238E27FC236}">
                <a16:creationId xmlns:a16="http://schemas.microsoft.com/office/drawing/2014/main" id="{B06FA2CD-E599-4E1F-A0AD-2FA0DD9E5F4C}"/>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Back of house: behind-the-scenes support.</a:t>
            </a:r>
          </a:p>
        </p:txBody>
      </p:sp>
      <p:sp>
        <p:nvSpPr>
          <p:cNvPr id="12" name="printed-id">
            <a:extLst xmlns:a="http://schemas.openxmlformats.org/drawingml/2006/main">
              <a:ext uri="{FF2B5EF4-FFF2-40B4-BE49-F238E27FC236}">
                <a16:creationId xmlns:a16="http://schemas.microsoft.com/office/drawing/2014/main" id="{536624A4-8E7F-4CFC-AB7D-5E4164D1F9E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VOC-LAUNCH-A2-W01-L1</a:t>
            </a:r>
          </a:p>
        </p:txBody>
      </p:sp>
      <p:sp>
        <p:nvSpPr>
          <p:cNvPr id="13" name="edition-label">
            <a:extLst xmlns:a="http://schemas.openxmlformats.org/drawingml/2006/main">
              <a:ext uri="{FF2B5EF4-FFF2-40B4-BE49-F238E27FC236}">
                <a16:creationId xmlns:a16="http://schemas.microsoft.com/office/drawing/2014/main" id="{A2351829-5F6C-4E06-AD59-67A2724DBCBF}"/>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10F41871-36D1-47DE-8699-B6F7D9C1A31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202613776"/>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7919714-65C1-488A-A4C6-25557046E20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424C25C-B261-47A6-9DF8-CEC291E5D79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defRPr sz="1275" b="1">
                <a:solidFill>
                  <a:srgbClr val="146B68"/>
                </a:solidFill>
                <a:latin typeface="Arial"/>
                <a:ea typeface="Arial"/>
                <a:cs typeface="Arial"/>
              </a:defRPr>
            </a:lvl1pPr>
            <a:lvl2pPr algn="l">
              <a:defRPr sz="1275" b="1">
                <a:solidFill>
                  <a:srgbClr val="146B68"/>
                </a:solidFill>
                <a:latin typeface="Arial"/>
                <a:ea typeface="Arial"/>
                <a:cs typeface="Arial"/>
              </a:defRPr>
            </a:lvl2pPr>
            <a:lvl3pPr algn="l">
              <a:defRPr sz="1275" b="1">
                <a:solidFill>
                  <a:srgbClr val="146B68"/>
                </a:solidFill>
                <a:latin typeface="Arial"/>
                <a:ea typeface="Arial"/>
                <a:cs typeface="Arial"/>
              </a:defRPr>
            </a:lvl3pPr>
            <a:lvl4pPr algn="l">
              <a:defRPr sz="1275" b="1">
                <a:solidFill>
                  <a:srgbClr val="146B68"/>
                </a:solidFill>
                <a:latin typeface="Arial"/>
                <a:ea typeface="Arial"/>
                <a:cs typeface="Arial"/>
              </a:defRPr>
            </a:lvl4pPr>
            <a:lvl5pPr algn="l">
              <a:defRPr sz="1275" b="1">
                <a:solidFill>
                  <a:srgbClr val="146B68"/>
                </a:solidFill>
                <a:latin typeface="Arial"/>
                <a:ea typeface="Arial"/>
                <a:cs typeface="Arial"/>
              </a:defRPr>
            </a:lvl5pPr>
            <a:lvl6pPr algn="l">
              <a:defRPr sz="1275" b="1">
                <a:solidFill>
                  <a:srgbClr val="146B68"/>
                </a:solidFill>
                <a:latin typeface="Arial"/>
                <a:ea typeface="Arial"/>
                <a:cs typeface="Arial"/>
              </a:defRPr>
            </a:lvl6pPr>
            <a:lvl7pPr algn="l">
              <a:defRPr sz="1275" b="1">
                <a:solidFill>
                  <a:srgbClr val="146B68"/>
                </a:solidFill>
                <a:latin typeface="Arial"/>
                <a:ea typeface="Arial"/>
                <a:cs typeface="Arial"/>
              </a:defRPr>
            </a:lvl7pPr>
            <a:lvl8pPr algn="l">
              <a:defRPr sz="1275" b="1">
                <a:solidFill>
                  <a:srgbClr val="146B68"/>
                </a:solidFill>
                <a:latin typeface="Arial"/>
                <a:ea typeface="Arial"/>
                <a:cs typeface="Arial"/>
              </a:defRPr>
            </a:lvl8pPr>
            <a:lvl9pPr algn="l">
              <a:defRPr sz="1275" b="1">
                <a:solidFill>
                  <a:srgbClr val="146B68"/>
                </a:solidFill>
                <a:latin typeface="Arial"/>
                <a:ea typeface="Arial"/>
                <a:cs typeface="Arial"/>
              </a:defRPr>
            </a:lvl9pPr>
          </a:lstStyle>
          <a:p xmlns:a="http://schemas.openxmlformats.org/drawingml/2006/main">
            <a:pPr algn="l">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7E979986-A89D-422B-A752-2E21F631C44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defRPr sz="1275" b="0">
                <a:solidFill>
                  <a:srgbClr val="586C77"/>
                </a:solidFill>
                <a:latin typeface="Arial"/>
                <a:ea typeface="Arial"/>
                <a:cs typeface="Arial"/>
              </a:defRPr>
            </a:lvl1pPr>
            <a:lvl2pPr algn="r">
              <a:defRPr sz="1275" b="0">
                <a:solidFill>
                  <a:srgbClr val="586C77"/>
                </a:solidFill>
                <a:latin typeface="Arial"/>
                <a:ea typeface="Arial"/>
                <a:cs typeface="Arial"/>
              </a:defRPr>
            </a:lvl2pPr>
            <a:lvl3pPr algn="r">
              <a:defRPr sz="1275" b="0">
                <a:solidFill>
                  <a:srgbClr val="586C77"/>
                </a:solidFill>
                <a:latin typeface="Arial"/>
                <a:ea typeface="Arial"/>
                <a:cs typeface="Arial"/>
              </a:defRPr>
            </a:lvl3pPr>
            <a:lvl4pPr algn="r">
              <a:defRPr sz="1275" b="0">
                <a:solidFill>
                  <a:srgbClr val="586C77"/>
                </a:solidFill>
                <a:latin typeface="Arial"/>
                <a:ea typeface="Arial"/>
                <a:cs typeface="Arial"/>
              </a:defRPr>
            </a:lvl4pPr>
            <a:lvl5pPr algn="r">
              <a:defRPr sz="1275" b="0">
                <a:solidFill>
                  <a:srgbClr val="586C77"/>
                </a:solidFill>
                <a:latin typeface="Arial"/>
                <a:ea typeface="Arial"/>
                <a:cs typeface="Arial"/>
              </a:defRPr>
            </a:lvl5pPr>
            <a:lvl6pPr algn="r">
              <a:defRPr sz="1275" b="0">
                <a:solidFill>
                  <a:srgbClr val="586C77"/>
                </a:solidFill>
                <a:latin typeface="Arial"/>
                <a:ea typeface="Arial"/>
                <a:cs typeface="Arial"/>
              </a:defRPr>
            </a:lvl6pPr>
            <a:lvl7pPr algn="r">
              <a:defRPr sz="1275" b="0">
                <a:solidFill>
                  <a:srgbClr val="586C77"/>
                </a:solidFill>
                <a:latin typeface="Arial"/>
                <a:ea typeface="Arial"/>
                <a:cs typeface="Arial"/>
              </a:defRPr>
            </a:lvl7pPr>
            <a:lvl8pPr algn="r">
              <a:defRPr sz="1275" b="0">
                <a:solidFill>
                  <a:srgbClr val="586C77"/>
                </a:solidFill>
                <a:latin typeface="Arial"/>
                <a:ea typeface="Arial"/>
                <a:cs typeface="Arial"/>
              </a:defRPr>
            </a:lvl8pPr>
            <a:lvl9pPr algn="r">
              <a:defRPr sz="1275" b="0">
                <a:solidFill>
                  <a:srgbClr val="586C77"/>
                </a:solidFill>
                <a:latin typeface="Arial"/>
                <a:ea typeface="Arial"/>
                <a:cs typeface="Arial"/>
              </a:defRPr>
            </a:lvl9pPr>
          </a:lstStyle>
          <a:p xmlns:a="http://schemas.openxmlformats.org/drawingml/2006/main">
            <a:pPr algn="r">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16B4B507-8755-4EB1-94E1-FB67E9801D3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defRPr sz="3225" b="1">
                <a:solidFill>
                  <a:srgbClr val="17384A"/>
                </a:solidFill>
                <a:latin typeface="Arial"/>
                <a:ea typeface="Arial"/>
                <a:cs typeface="Arial"/>
              </a:defRPr>
            </a:lvl1pPr>
            <a:lvl2pPr algn="l">
              <a:defRPr sz="3225" b="1">
                <a:solidFill>
                  <a:srgbClr val="17384A"/>
                </a:solidFill>
                <a:latin typeface="Arial"/>
                <a:ea typeface="Arial"/>
                <a:cs typeface="Arial"/>
              </a:defRPr>
            </a:lvl2pPr>
            <a:lvl3pPr algn="l">
              <a:defRPr sz="3225" b="1">
                <a:solidFill>
                  <a:srgbClr val="17384A"/>
                </a:solidFill>
                <a:latin typeface="Arial"/>
                <a:ea typeface="Arial"/>
                <a:cs typeface="Arial"/>
              </a:defRPr>
            </a:lvl3pPr>
            <a:lvl4pPr algn="l">
              <a:defRPr sz="3225" b="1">
                <a:solidFill>
                  <a:srgbClr val="17384A"/>
                </a:solidFill>
                <a:latin typeface="Arial"/>
                <a:ea typeface="Arial"/>
                <a:cs typeface="Arial"/>
              </a:defRPr>
            </a:lvl4pPr>
            <a:lvl5pPr algn="l">
              <a:defRPr sz="3225" b="1">
                <a:solidFill>
                  <a:srgbClr val="17384A"/>
                </a:solidFill>
                <a:latin typeface="Arial"/>
                <a:ea typeface="Arial"/>
                <a:cs typeface="Arial"/>
              </a:defRPr>
            </a:lvl5pPr>
            <a:lvl6pPr algn="l">
              <a:defRPr sz="3225" b="1">
                <a:solidFill>
                  <a:srgbClr val="17384A"/>
                </a:solidFill>
                <a:latin typeface="Arial"/>
                <a:ea typeface="Arial"/>
                <a:cs typeface="Arial"/>
              </a:defRPr>
            </a:lvl6pPr>
            <a:lvl7pPr algn="l">
              <a:defRPr sz="3225" b="1">
                <a:solidFill>
                  <a:srgbClr val="17384A"/>
                </a:solidFill>
                <a:latin typeface="Arial"/>
                <a:ea typeface="Arial"/>
                <a:cs typeface="Arial"/>
              </a:defRPr>
            </a:lvl7pPr>
            <a:lvl8pPr algn="l">
              <a:defRPr sz="3225" b="1">
                <a:solidFill>
                  <a:srgbClr val="17384A"/>
                </a:solidFill>
                <a:latin typeface="Arial"/>
                <a:ea typeface="Arial"/>
                <a:cs typeface="Arial"/>
              </a:defRPr>
            </a:lvl8pPr>
            <a:lvl9pPr algn="l">
              <a:defRPr sz="3225" b="1">
                <a:solidFill>
                  <a:srgbClr val="17384A"/>
                </a:solidFill>
                <a:latin typeface="Arial"/>
                <a:ea typeface="Arial"/>
                <a:cs typeface="Arial"/>
              </a:defRPr>
            </a:lvl9pPr>
          </a:lstStyle>
          <a:p xmlns:a="http://schemas.openxmlformats.org/drawingml/2006/main">
            <a:pPr algn="l">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74561F76-7C9F-472A-9B2B-D61FFD85683B}"/>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6" name="body-0">
            <a:extLst xmlns:a="http://schemas.openxmlformats.org/drawingml/2006/main">
              <a:ext uri="{FF2B5EF4-FFF2-40B4-BE49-F238E27FC236}">
                <a16:creationId xmlns:a16="http://schemas.microsoft.com/office/drawing/2014/main" id="{31497953-71E2-4A9D-9089-4D01E7C81378}"/>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Individual stations. No pair work or cold calling.</a:t>
            </a:r>
          </a:p>
        </p:txBody>
      </p:sp>
      <p:sp>
        <p:nvSpPr>
          <p:cNvPr id="7" name="body-1">
            <a:extLst xmlns:a="http://schemas.openxmlformats.org/drawingml/2006/main">
              <a:ext uri="{FF2B5EF4-FFF2-40B4-BE49-F238E27FC236}">
                <a16:creationId xmlns:a16="http://schemas.microsoft.com/office/drawing/2014/main" id="{EC05AB91-EFB8-40BF-B397-CBC1A6CBE398}"/>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Record each learner’s own contribution and support.</a:t>
            </a:r>
          </a:p>
        </p:txBody>
      </p:sp>
      <p:sp>
        <p:nvSpPr>
          <p:cNvPr id="8" name="body-2">
            <a:extLst xmlns:a="http://schemas.openxmlformats.org/drawingml/2006/main">
              <a:ext uri="{FF2B5EF4-FFF2-40B4-BE49-F238E27FC236}">
                <a16:creationId xmlns:a16="http://schemas.microsoft.com/office/drawing/2014/main" id="{1A0AB25D-E57F-4474-8FB5-F5C18128CA40}"/>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Book first. Capture only identifiable individual evidence.</a:t>
            </a:r>
          </a:p>
        </p:txBody>
      </p:sp>
      <p:sp>
        <p:nvSpPr>
          <p:cNvPr id="9" name="body-3">
            <a:extLst xmlns:a="http://schemas.openxmlformats.org/drawingml/2006/main">
              <a:ext uri="{FF2B5EF4-FFF2-40B4-BE49-F238E27FC236}">
                <a16:creationId xmlns:a16="http://schemas.microsoft.com/office/drawing/2014/main" id="{5937FE86-4C6A-4DED-A196-E3E455EAB706}"/>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Lundy: Space · Voice · Audience · Influence.</a:t>
            </a:r>
          </a:p>
        </p:txBody>
      </p:sp>
      <p:sp>
        <p:nvSpPr>
          <p:cNvPr id="10" name="body-4">
            <a:extLst xmlns:a="http://schemas.openxmlformats.org/drawingml/2006/main">
              <a:ext uri="{FF2B5EF4-FFF2-40B4-BE49-F238E27FC236}">
                <a16:creationId xmlns:a16="http://schemas.microsoft.com/office/drawing/2014/main" id="{8994468D-7FC1-4357-B5E4-F6D3E5005A1D}"/>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a:p xmlns:a="http://schemas.openxmlformats.org/drawingml/2006/main">
            <a:pPr algn="l">
              <a:defRPr sz="2025" b="0">
                <a:solidFill>
                  <a:srgbClr val="17384A"/>
                </a:solidFill>
                <a:latin typeface="Arial"/>
                <a:ea typeface="Arial"/>
                <a:cs typeface="Arial"/>
              </a:defRPr>
            </a:pPr>
            <a:r>
              <a:rPr sz="2025" b="0">
                <a:solidFill>
                  <a:srgbClr val="17384A"/>
                </a:solidFill>
                <a:latin typeface="Arial"/>
                <a:ea typeface="Arial"/>
                <a:cs typeface="Arial"/>
              </a:rPr>
              <a:t>Feedback: VF · WS · I · NS · E · R.</a:t>
            </a:r>
          </a:p>
        </p:txBody>
      </p:sp>
      <p:sp>
        <p:nvSpPr>
          <p:cNvPr id="11" name="printed-id">
            <a:extLst xmlns:a="http://schemas.openxmlformats.org/drawingml/2006/main">
              <a:ext uri="{FF2B5EF4-FFF2-40B4-BE49-F238E27FC236}">
                <a16:creationId xmlns:a16="http://schemas.microsoft.com/office/drawing/2014/main" id="{124AAAB0-8C19-4920-84FB-9839A0C17B5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defRPr sz="1200" b="1">
                <a:solidFill>
                  <a:srgbClr val="146B68"/>
                </a:solidFill>
                <a:latin typeface="Arial"/>
                <a:ea typeface="Arial"/>
                <a:cs typeface="Arial"/>
              </a:defRPr>
            </a:lvl1pPr>
            <a:lvl2pPr algn="l">
              <a:defRPr sz="1200" b="1">
                <a:solidFill>
                  <a:srgbClr val="146B68"/>
                </a:solidFill>
                <a:latin typeface="Arial"/>
                <a:ea typeface="Arial"/>
                <a:cs typeface="Arial"/>
              </a:defRPr>
            </a:lvl2pPr>
            <a:lvl3pPr algn="l">
              <a:defRPr sz="1200" b="1">
                <a:solidFill>
                  <a:srgbClr val="146B68"/>
                </a:solidFill>
                <a:latin typeface="Arial"/>
                <a:ea typeface="Arial"/>
                <a:cs typeface="Arial"/>
              </a:defRPr>
            </a:lvl3pPr>
            <a:lvl4pPr algn="l">
              <a:defRPr sz="1200" b="1">
                <a:solidFill>
                  <a:srgbClr val="146B68"/>
                </a:solidFill>
                <a:latin typeface="Arial"/>
                <a:ea typeface="Arial"/>
                <a:cs typeface="Arial"/>
              </a:defRPr>
            </a:lvl4pPr>
            <a:lvl5pPr algn="l">
              <a:defRPr sz="1200" b="1">
                <a:solidFill>
                  <a:srgbClr val="146B68"/>
                </a:solidFill>
                <a:latin typeface="Arial"/>
                <a:ea typeface="Arial"/>
                <a:cs typeface="Arial"/>
              </a:defRPr>
            </a:lvl5pPr>
            <a:lvl6pPr algn="l">
              <a:defRPr sz="1200" b="1">
                <a:solidFill>
                  <a:srgbClr val="146B68"/>
                </a:solidFill>
                <a:latin typeface="Arial"/>
                <a:ea typeface="Arial"/>
                <a:cs typeface="Arial"/>
              </a:defRPr>
            </a:lvl6pPr>
            <a:lvl7pPr algn="l">
              <a:defRPr sz="1200" b="1">
                <a:solidFill>
                  <a:srgbClr val="146B68"/>
                </a:solidFill>
                <a:latin typeface="Arial"/>
                <a:ea typeface="Arial"/>
                <a:cs typeface="Arial"/>
              </a:defRPr>
            </a:lvl7pPr>
            <a:lvl8pPr algn="l">
              <a:defRPr sz="1200" b="1">
                <a:solidFill>
                  <a:srgbClr val="146B68"/>
                </a:solidFill>
                <a:latin typeface="Arial"/>
                <a:ea typeface="Arial"/>
                <a:cs typeface="Arial"/>
              </a:defRPr>
            </a:lvl8pPr>
            <a:lvl9pPr algn="l">
              <a:defRPr sz="1200" b="1">
                <a:solidFill>
                  <a:srgbClr val="146B68"/>
                </a:solidFill>
                <a:latin typeface="Arial"/>
                <a:ea typeface="Arial"/>
                <a:cs typeface="Arial"/>
              </a:defRPr>
            </a:lvl9pPr>
          </a:lstStyle>
          <a:p xmlns:a="http://schemas.openxmlformats.org/drawingml/2006/main">
            <a:pPr algn="l">
              <a:defRPr sz="1200" b="1">
                <a:solidFill>
                  <a:srgbClr val="146B68"/>
                </a:solidFill>
                <a:latin typeface="Arial"/>
                <a:ea typeface="Arial"/>
                <a:cs typeface="Arial"/>
              </a:defRPr>
            </a:pPr>
            <a:r>
              <a:rPr sz="1200" b="1">
                <a:solidFill>
                  <a:srgbClr val="146B68"/>
                </a:solidFill>
                <a:latin typeface="Arial"/>
                <a:ea typeface="Arial"/>
                <a:cs typeface="Arial"/>
              </a:rPr>
              <a:t>VOC-LAUNCH-A2-W01-L1</a:t>
            </a:r>
          </a:p>
        </p:txBody>
      </p:sp>
      <p:sp>
        <p:nvSpPr>
          <p:cNvPr id="12" name="edition-label">
            <a:extLst xmlns:a="http://schemas.openxmlformats.org/drawingml/2006/main">
              <a:ext uri="{FF2B5EF4-FFF2-40B4-BE49-F238E27FC236}">
                <a16:creationId xmlns:a16="http://schemas.microsoft.com/office/drawing/2014/main" id="{65298AB3-A6C6-44D3-A0A5-DEDD29FDDCE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defRPr sz="1200" b="0">
                <a:solidFill>
                  <a:srgbClr val="586C77"/>
                </a:solidFill>
                <a:latin typeface="Arial"/>
                <a:ea typeface="Arial"/>
                <a:cs typeface="Arial"/>
              </a:defRPr>
            </a:lvl1pPr>
            <a:lvl2pPr algn="r">
              <a:defRPr sz="1200" b="0">
                <a:solidFill>
                  <a:srgbClr val="586C77"/>
                </a:solidFill>
                <a:latin typeface="Arial"/>
                <a:ea typeface="Arial"/>
                <a:cs typeface="Arial"/>
              </a:defRPr>
            </a:lvl2pPr>
            <a:lvl3pPr algn="r">
              <a:defRPr sz="1200" b="0">
                <a:solidFill>
                  <a:srgbClr val="586C77"/>
                </a:solidFill>
                <a:latin typeface="Arial"/>
                <a:ea typeface="Arial"/>
                <a:cs typeface="Arial"/>
              </a:defRPr>
            </a:lvl3pPr>
            <a:lvl4pPr algn="r">
              <a:defRPr sz="1200" b="0">
                <a:solidFill>
                  <a:srgbClr val="586C77"/>
                </a:solidFill>
                <a:latin typeface="Arial"/>
                <a:ea typeface="Arial"/>
                <a:cs typeface="Arial"/>
              </a:defRPr>
            </a:lvl4pPr>
            <a:lvl5pPr algn="r">
              <a:defRPr sz="1200" b="0">
                <a:solidFill>
                  <a:srgbClr val="586C77"/>
                </a:solidFill>
                <a:latin typeface="Arial"/>
                <a:ea typeface="Arial"/>
                <a:cs typeface="Arial"/>
              </a:defRPr>
            </a:lvl5pPr>
            <a:lvl6pPr algn="r">
              <a:defRPr sz="1200" b="0">
                <a:solidFill>
                  <a:srgbClr val="586C77"/>
                </a:solidFill>
                <a:latin typeface="Arial"/>
                <a:ea typeface="Arial"/>
                <a:cs typeface="Arial"/>
              </a:defRPr>
            </a:lvl6pPr>
            <a:lvl7pPr algn="r">
              <a:defRPr sz="1200" b="0">
                <a:solidFill>
                  <a:srgbClr val="586C77"/>
                </a:solidFill>
                <a:latin typeface="Arial"/>
                <a:ea typeface="Arial"/>
                <a:cs typeface="Arial"/>
              </a:defRPr>
            </a:lvl7pPr>
            <a:lvl8pPr algn="r">
              <a:defRPr sz="1200" b="0">
                <a:solidFill>
                  <a:srgbClr val="586C77"/>
                </a:solidFill>
                <a:latin typeface="Arial"/>
                <a:ea typeface="Arial"/>
                <a:cs typeface="Arial"/>
              </a:defRPr>
            </a:lvl8pPr>
            <a:lvl9pPr algn="r">
              <a:defRPr sz="1200" b="0">
                <a:solidFill>
                  <a:srgbClr val="586C77"/>
                </a:solidFill>
                <a:latin typeface="Arial"/>
                <a:ea typeface="Arial"/>
                <a:cs typeface="Arial"/>
              </a:defRPr>
            </a:lvl9pPr>
          </a:lstStyle>
          <a:p xmlns:a="http://schemas.openxmlformats.org/drawingml/2006/main">
            <a:pPr algn="r">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E2A49A90-E7B7-448B-8C7B-1695F756034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defRPr sz="863" b="0">
                <a:solidFill>
                  <a:srgbClr val="586C77"/>
                </a:solidFill>
                <a:latin typeface="Arial"/>
                <a:ea typeface="Arial"/>
                <a:cs typeface="Arial"/>
              </a:defRPr>
            </a:lvl1pPr>
            <a:lvl2pPr algn="l">
              <a:defRPr sz="863" b="0">
                <a:solidFill>
                  <a:srgbClr val="586C77"/>
                </a:solidFill>
                <a:latin typeface="Arial"/>
                <a:ea typeface="Arial"/>
                <a:cs typeface="Arial"/>
              </a:defRPr>
            </a:lvl2pPr>
            <a:lvl3pPr algn="l">
              <a:defRPr sz="863" b="0">
                <a:solidFill>
                  <a:srgbClr val="586C77"/>
                </a:solidFill>
                <a:latin typeface="Arial"/>
                <a:ea typeface="Arial"/>
                <a:cs typeface="Arial"/>
              </a:defRPr>
            </a:lvl3pPr>
            <a:lvl4pPr algn="l">
              <a:defRPr sz="863" b="0">
                <a:solidFill>
                  <a:srgbClr val="586C77"/>
                </a:solidFill>
                <a:latin typeface="Arial"/>
                <a:ea typeface="Arial"/>
                <a:cs typeface="Arial"/>
              </a:defRPr>
            </a:lvl4pPr>
            <a:lvl5pPr algn="l">
              <a:defRPr sz="863" b="0">
                <a:solidFill>
                  <a:srgbClr val="586C77"/>
                </a:solidFill>
                <a:latin typeface="Arial"/>
                <a:ea typeface="Arial"/>
                <a:cs typeface="Arial"/>
              </a:defRPr>
            </a:lvl5pPr>
            <a:lvl6pPr algn="l">
              <a:defRPr sz="863" b="0">
                <a:solidFill>
                  <a:srgbClr val="586C77"/>
                </a:solidFill>
                <a:latin typeface="Arial"/>
                <a:ea typeface="Arial"/>
                <a:cs typeface="Arial"/>
              </a:defRPr>
            </a:lvl6pPr>
            <a:lvl7pPr algn="l">
              <a:defRPr sz="863" b="0">
                <a:solidFill>
                  <a:srgbClr val="586C77"/>
                </a:solidFill>
                <a:latin typeface="Arial"/>
                <a:ea typeface="Arial"/>
                <a:cs typeface="Arial"/>
              </a:defRPr>
            </a:lvl7pPr>
            <a:lvl8pPr algn="l">
              <a:defRPr sz="863" b="0">
                <a:solidFill>
                  <a:srgbClr val="586C77"/>
                </a:solidFill>
                <a:latin typeface="Arial"/>
                <a:ea typeface="Arial"/>
                <a:cs typeface="Arial"/>
              </a:defRPr>
            </a:lvl8pPr>
            <a:lvl9pPr algn="l">
              <a:defRPr sz="863" b="0">
                <a:solidFill>
                  <a:srgbClr val="586C77"/>
                </a:solidFill>
                <a:latin typeface="Arial"/>
                <a:ea typeface="Arial"/>
                <a:cs typeface="Arial"/>
              </a:defRPr>
            </a:lvl9pPr>
          </a:lstStyle>
          <a:p xmlns:a="http://schemas.openxmlformats.org/drawingml/2006/main">
            <a:pPr algn="l">
              <a:defRPr sz="863" b="0">
                <a:solidFill>
                  <a:srgbClr val="586C77"/>
                </a:solidFill>
                <a:latin typeface="Arial"/>
                <a:ea typeface="Arial"/>
                <a:cs typeface="Arial"/>
              </a:defRPr>
            </a:pPr>
            <a:r>
              <a:rPr sz="863" b="0">
                <a:solidFill>
                  <a:srgbClr val="586C77"/>
                </a:solidFill>
                <a:latin typeface="Arial"/>
                <a:ea typeface="Arial"/>
                <a:cs typeface="Arial"/>
              </a:rPr>
              <a:t>Made by Matt · © Matt Roper · CC BY-NC-SA 4.0: free for classroom use, share and adapt with credit, no resale</a:t>
            </a:r>
          </a:p>
        </p:txBody>
      </p:sp>
    </p:spTree>
    <p:extLst>
      <p:ext uri="{BB962C8B-B14F-4D97-AF65-F5344CB8AC3E}">
        <p14:creationId xmlns:p14="http://schemas.microsoft.com/office/powerpoint/2010/main" val="14385272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Converted Presentation</ap:PresentationFormat>
  <ap:Slides>12</ap:Slides>
  <ap:Notes>12</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The Theory</dc:title>
  <dc:subject>VOC-LAUNCH-A2-W01-L1</dc:subject>
  <cp:lastModifiedBy/>
</cp:coreProperties>
</file>