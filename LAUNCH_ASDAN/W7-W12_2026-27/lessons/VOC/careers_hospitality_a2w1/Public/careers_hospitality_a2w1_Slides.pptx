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0a2f24766f471b" /><Relationship Type="http://schemas.openxmlformats.org/officeDocument/2006/relationships/extended-properties" Target="/docProps/app.xml" Id="R6c1c573b57c54c75" /><Relationship Type="http://schemas.openxmlformats.org/officeDocument/2006/relationships/officeDocument" Target="/ppt/presentation.xml" Id="Rac32cabe478f4f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bb161e876b4b10"/>
  </p:sldMasterIdLst>
  <p:notesMasterIdLst>
    <p:notesMasterId xmlns:r="http://schemas.openxmlformats.org/officeDocument/2006/relationships" r:id="Rc17d83f5319c42b2"/>
  </p:notesMasterIdLst>
  <p:sldIdLst>
    <p:sldId xmlns:r="http://schemas.openxmlformats.org/officeDocument/2006/relationships" id="256" r:id="Rac57f810d9c64c84"/>
    <p:sldId xmlns:r="http://schemas.openxmlformats.org/officeDocument/2006/relationships" id="257" r:id="R8d85abc06edd4ebc"/>
    <p:sldId xmlns:r="http://schemas.openxmlformats.org/officeDocument/2006/relationships" id="258" r:id="Ra8759cf4e5684324"/>
    <p:sldId xmlns:r="http://schemas.openxmlformats.org/officeDocument/2006/relationships" id="259" r:id="Rce24cfd662c3498c"/>
    <p:sldId xmlns:r="http://schemas.openxmlformats.org/officeDocument/2006/relationships" id="260" r:id="Raf57b3ad1e684958"/>
    <p:sldId xmlns:r="http://schemas.openxmlformats.org/officeDocument/2006/relationships" id="261" r:id="R3386897633794bbd"/>
    <p:sldId xmlns:r="http://schemas.openxmlformats.org/officeDocument/2006/relationships" id="262" r:id="Rcc385508ff514956"/>
    <p:sldId xmlns:r="http://schemas.openxmlformats.org/officeDocument/2006/relationships" id="263" r:id="R4b79ea6cdd954727"/>
    <p:sldId xmlns:r="http://schemas.openxmlformats.org/officeDocument/2006/relationships" id="264" r:id="Rb75f8172c0834f92"/>
    <p:sldId xmlns:r="http://schemas.openxmlformats.org/officeDocument/2006/relationships" id="265" r:id="Rdb0f306de79740ff"/>
    <p:sldId xmlns:r="http://schemas.openxmlformats.org/officeDocument/2006/relationships" id="266" r:id="R4805acd88db54310"/>
    <p:sldId xmlns:r="http://schemas.openxmlformats.org/officeDocument/2006/relationships" id="267" r:id="Raee6b629678146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a9e1f3a203490e" /><Relationship Type="http://schemas.openxmlformats.org/officeDocument/2006/relationships/slideMaster" Target="/ppt/slideMasters/slideMaster1.xml" Id="R63bb161e876b4b10" /><Relationship Type="http://schemas.openxmlformats.org/officeDocument/2006/relationships/notesMaster" Target="/ppt/notesMasters/notesMaster1.xml" Id="Rc17d83f5319c42b2" /><Relationship Type="http://schemas.openxmlformats.org/officeDocument/2006/relationships/presProps" Target="/ppt/presProps.xml" Id="R88ffcbd33bc94d57" /><Relationship Type="http://schemas.openxmlformats.org/officeDocument/2006/relationships/tableStyles" Target="/ppt/tableStyles.xml" Id="R25a75eee6a084b07" /><Relationship Type="http://schemas.openxmlformats.org/officeDocument/2006/relationships/slide" Target="/ppt/slides/slide1.xml" Id="Rac57f810d9c64c84" /><Relationship Type="http://schemas.openxmlformats.org/officeDocument/2006/relationships/slide" Target="/ppt/slides/slide2.xml" Id="R8d85abc06edd4ebc" /><Relationship Type="http://schemas.openxmlformats.org/officeDocument/2006/relationships/slide" Target="/ppt/slides/slide3.xml" Id="Ra8759cf4e5684324" /><Relationship Type="http://schemas.openxmlformats.org/officeDocument/2006/relationships/slide" Target="/ppt/slides/slide4.xml" Id="Rce24cfd662c3498c" /><Relationship Type="http://schemas.openxmlformats.org/officeDocument/2006/relationships/slide" Target="/ppt/slides/slide5.xml" Id="Raf57b3ad1e684958" /><Relationship Type="http://schemas.openxmlformats.org/officeDocument/2006/relationships/slide" Target="/ppt/slides/slide6.xml" Id="R3386897633794bbd" /><Relationship Type="http://schemas.openxmlformats.org/officeDocument/2006/relationships/slide" Target="/ppt/slides/slide7.xml" Id="Rcc385508ff514956" /><Relationship Type="http://schemas.openxmlformats.org/officeDocument/2006/relationships/slide" Target="/ppt/slides/slide8.xml" Id="R4b79ea6cdd954727" /><Relationship Type="http://schemas.openxmlformats.org/officeDocument/2006/relationships/slide" Target="/ppt/slides/slide9.xml" Id="Rb75f8172c0834f92" /><Relationship Type="http://schemas.openxmlformats.org/officeDocument/2006/relationships/slide" Target="/ppt/slides/slide10.xml" Id="Rdb0f306de79740ff" /><Relationship Type="http://schemas.openxmlformats.org/officeDocument/2006/relationships/slide" Target="/ppt/slides/slide11.xml" Id="R4805acd88db54310" /><Relationship Type="http://schemas.openxmlformats.org/officeDocument/2006/relationships/slide" Target="/ppt/slides/slide12.xml" Id="Raee6b629678146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fc3a071e384a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1aa9c9a88f4a6a" /><Relationship Type="http://schemas.openxmlformats.org/officeDocument/2006/relationships/notesMaster" Target="/ppt/notesMasters/notesMaster1.xml" Id="R9ad773524d1042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01e1825be94694" /><Relationship Type="http://schemas.openxmlformats.org/officeDocument/2006/relationships/notesMaster" Target="/ppt/notesMasters/notesMaster1.xml" Id="Ra136dc74475545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81721188384567" /><Relationship Type="http://schemas.openxmlformats.org/officeDocument/2006/relationships/notesMaster" Target="/ppt/notesMasters/notesMaster1.xml" Id="R76aa8fe0fa3c4e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1b6fe929634b56" /><Relationship Type="http://schemas.openxmlformats.org/officeDocument/2006/relationships/notesMaster" Target="/ppt/notesMasters/notesMaster1.xml" Id="R8a983ba8143845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31a8cb963a4098" /><Relationship Type="http://schemas.openxmlformats.org/officeDocument/2006/relationships/notesMaster" Target="/ppt/notesMasters/notesMaster1.xml" Id="R2e10145f46cf42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0ead7889bf4d3c" /><Relationship Type="http://schemas.openxmlformats.org/officeDocument/2006/relationships/notesMaster" Target="/ppt/notesMasters/notesMaster1.xml" Id="Redd612953aab4d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19c9f6bc8e4db9" /><Relationship Type="http://schemas.openxmlformats.org/officeDocument/2006/relationships/notesMaster" Target="/ppt/notesMasters/notesMaster1.xml" Id="Rda5a6422bba646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3004fc53ae849ec" /><Relationship Type="http://schemas.openxmlformats.org/officeDocument/2006/relationships/notesMaster" Target="/ppt/notesMasters/notesMaster1.xml" Id="Ree4bcbf1f03043f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3eef68a314407f" /><Relationship Type="http://schemas.openxmlformats.org/officeDocument/2006/relationships/notesMaster" Target="/ppt/notesMasters/notesMaster1.xml" Id="Red5e6c4cc52044b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6cd29aeb234ef5" /><Relationship Type="http://schemas.openxmlformats.org/officeDocument/2006/relationships/notesMaster" Target="/ppt/notesMasters/notesMaster1.xml" Id="R3b7e3ee449c54e4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1ae8dba230f4274" /><Relationship Type="http://schemas.openxmlformats.org/officeDocument/2006/relationships/notesMaster" Target="/ppt/notesMasters/notesMaster1.xml" Id="R4f072ccd4019480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47b48496be341a9" /><Relationship Type="http://schemas.openxmlformats.org/officeDocument/2006/relationships/notesMaster" Target="/ppt/notesMasters/notesMaster1.xml" Id="Rd415f4c810de4b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Stage: Title</a:t>
            </a:r>
          </a:p>
          <a:p xmlns:a="http://schemas.openxmlformats.org/drawingml/2006/main">
            <a:r>
              <a:t>Timing: 0 minutes.</a:t>
            </a:r>
          </a:p>
          <a:p xmlns:a="http://schemas.openxmlformats.org/drawingml/2006/main">
            <a:r>
              <a:t>Untimed. This is the separate Careers lesson. It contributes zero minutes to hospitality hours. The source asks for a Week 1 draft and banks the final CV at Week 7. Source: sources/MTP.xlsx; revision sha256:0895674f2901b602daf998b8a7aa1516522ce0c301b23bfba941fcc1807977cd. Careers lessons!C6:D6; Lesson register!F24:G24.</a:t>
            </a:r>
          </a:p>
          <a:p xmlns:a="http://schemas.openxmlformats.org/drawingml/2006/main">
            <a:r>
              <a:t>Edition: public.</a:t>
            </a:r>
          </a:p>
          <a:p xmlns:a="http://schemas.openxmlformats.org/drawingml/2006/main">
            <a:r>
              <a:t>Source: sources/MTP.xlsx; revision sha256:0895674f2901b602daf998b8a7aa1516522ce0c301b23bfba941fcc1807977cd; Careers lessons A6, B6, C6, D6, E6, F6, G6, H6, I6, J6, K6, L6; Careers (1 x week) B6, C6, D6, F6, I6, J6, K6, L6; Lesson register B24, E24, F24, G24, H24, I24, J24.</a:t>
            </a:r>
          </a:p>
          <ns0:p xmlns:ns0="http://schemas.openxmlformats.org/drawingml/2006/main">
            <ns0:r>
              <ns0:t>TA brief: Read the prompt if needed. Offer the chosen access route. Record prompts and exact scribing, and leave the choice and wording to the learner.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Stage: Arrival and regulation</a:t>
            </a:r>
          </a:p>
          <a:p xmlns:a="http://schemas.openxmlformats.org/drawingml/2006/main">
            <a:r>
              <a:t>Timing: 4 minutes.</a:t>
            </a:r>
          </a:p>
          <a:p xmlns:a="http://schemas.openxmlformats.org/drawingml/2006/main">
            <a:r>
              <a:t>4 minutes. Regulation: BLUE low energy; GREEN ready; AMBER tense; RED overwhelmed. Offer water, quiet breathing, a brief pause or a quieter seat. Do not require a public colour disclosure. Privately agree the first return action and keep access to the task. Expected answers: use the learner’s own prior next step; a short relevant record of education, experience and skills; do not add date of birth to this CV; give a skill and a truthful example. If the prior self-audit is unavailable, ask privately for one next step and note the missing source instead of inventing a past answer. No cold calling or pair work. Use individual stations and a private check-in. Read, rephrase or scribe the learner’s own words; record support. Do not supply the learner’s assessed choice or explanation. Offer a quiet reset, then one clear return step. Only VF, WS, I, NS, E and R are used; confirm local code definitions before marking. E does not establish an award claim.</a:t>
            </a:r>
          </a:p>
          <a:p xmlns:a="http://schemas.openxmlformats.org/drawingml/2006/main">
            <a:r>
              <a:t>Edition: public.</a:t>
            </a:r>
          </a:p>
          <a:p xmlns:a="http://schemas.openxmlformats.org/drawingml/2006/main">
            <a:r>
              <a:t>Source: sources/MTP.xlsx; revision sha256:0895674f2901b602daf998b8a7aa1516522ce0c301b23bfba941fcc1807977cd; Careers lessons A6, B6, C6, D6, E6, F6, G6, H6, I6, J6, K6, L6; Careers (1 x week) B6, C6, D6, F6, I6, J6, K6, L6; Lesson register B24, E24, F24, G24, H24, I24, J24.</a:t>
            </a:r>
          </a:p>
          <ns0:p xmlns:ns0="http://schemas.openxmlformats.org/drawingml/2006/main">
            <ns0:r>
              <ns0:t>TA brief: Read the prompt if needed. Offer the chosen access route. Record prompts and exact scribing, and leave the choice and wording to the learner.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Stage: Retrieval and starter</a:t>
            </a:r>
          </a:p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2 minutes. Use the eight sorting cards. For the source’s employer-use CV, an adult-approved phone contact, education, job-related skill with an example, true experience and target job belong. Favourite game, date of birth and passwords stay off. In a classroom/public practice copy use contact placeholders, not real phone numbers or email addresses. Never ask a learner to disclose passwords. A game-related skill can be discussed if relevant, but a bare favourite-game listing is not useful here.</a:t>
            </a:r>
          </a:p>
          <a:p xmlns:a="http://schemas.openxmlformats.org/drawingml/2006/main">
            <a:r>
              <a:t>Edition: public.</a:t>
            </a:r>
          </a:p>
          <a:p xmlns:a="http://schemas.openxmlformats.org/drawingml/2006/main">
            <a:r>
              <a:t>Source: sources/MTP.xlsx; revision sha256:0895674f2901b602daf998b8a7aa1516522ce0c301b23bfba941fcc1807977cd; Careers lessons A6, B6, C6, D6, E6, F6, G6, H6, I6, J6, K6, L6; Careers (1 x week) B6, C6, D6, F6, I6, J6, K6, L6; Lesson register B24, E24, F24, G24, H24, I24, J24.</a:t>
            </a:r>
          </a:p>
          <ns0:p xmlns:ns0="http://schemas.openxmlformats.org/drawingml/2006/main">
            <ns0:r>
              <ns0:t>TA brief: Read the prompt if needed. Offer the chosen access route. Record prompts and exact scribing, and leave the choice and wording to the learner.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Stage: Today</a:t>
            </a:r>
          </a:p>
          <a:p xmlns:a="http://schemas.openxmlformats.org/drawingml/2006/main">
            <a:r>
              <a:t>Timing: 0 minutes.</a:t>
            </a:r>
          </a:p>
          <a:p xmlns:a="http://schemas.openxmlformats.org/drawingml/2006/main">
            <a:r>
              <a:t>Untimed. Read the exact supplied outcome. [QUAL] — planner mapping. This is a draft lesson; do not tick final completion automatically. Exact official student-book wording remains [VERIFY].</a:t>
            </a:r>
          </a:p>
          <a:p xmlns:a="http://schemas.openxmlformats.org/drawingml/2006/main">
            <a:r>
              <a:t>Edition: public.</a:t>
            </a:r>
          </a:p>
          <a:p xmlns:a="http://schemas.openxmlformats.org/drawingml/2006/main">
            <a:r>
              <a:t>Source: sources/MTP.xlsx; revision sha256:0895674f2901b602daf998b8a7aa1516522ce0c301b23bfba941fcc1807977cd; Careers lessons A6, B6, C6, D6, E6, F6, G6, H6, I6, J6, K6, L6; Careers (1 x week) B6, C6, D6, F6, I6, J6, K6, L6; Lesson register B24, E24, F24, G24, H24, I24, J24.</a:t>
            </a:r>
          </a:p>
          <ns0:p xmlns:ns0="http://schemas.openxmlformats.org/drawingml/2006/main">
            <ns0:r>
              <ns0:t>TA brief: Read the prompt if needed. Offer the chosen access route. Record prompts and exact scribing, and leave the choice and wording to the learner.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Stage: I DO</a:t>
            </a:r>
          </a:p>
          <a:p xmlns:a="http://schemas.openxmlformats.org/drawingml/2006/main">
            <a:r>
              <a:t>Timing: 5 minutes.</a:t>
            </a:r>
          </a:p>
          <a:p xmlns:a="http://schemas.openxmlformats.org/drawingml/2006/main">
            <a:r>
              <a:t>5 minutes. Compare the strong and weak read-only model CVs. Both are fictional worked examples, labelled “Learner example”. Strong model uses clear headings and a specific activity example; weak model gives vague claims without evidence. Do not provide fictional qualifications. Explain “references available on request” as a practice placeholder until an appropriate adult has agreed. Keep real contact and reference information out of public display.</a:t>
            </a:r>
          </a:p>
          <a:p xmlns:a="http://schemas.openxmlformats.org/drawingml/2006/main">
            <a:r>
              <a:t>Edition: public.</a:t>
            </a:r>
          </a:p>
          <a:p xmlns:a="http://schemas.openxmlformats.org/drawingml/2006/main">
            <a:r>
              <a:t>Source: sources/MTP.xlsx; revision sha256:0895674f2901b602daf998b8a7aa1516522ce0c301b23bfba941fcc1807977cd; Careers lessons A6, B6, C6, D6, E6, F6, G6, H6, I6, J6, K6, L6; Careers (1 x week) B6, C6, D6, F6, I6, J6, K6, L6; Lesson register B24, E24, F24, G24, H24, I24, J24.</a:t>
            </a:r>
          </a:p>
          <ns0:p xmlns:ns0="http://schemas.openxmlformats.org/drawingml/2006/main">
            <ns0:r>
              <ns0:t>TA brief: Read the prompt if needed. Offer the chosen access route. Record prompts and exact scribing, and leave the choice and wording to the learner.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Stage: WE DO</a:t>
            </a:r>
          </a:p>
          <a:p xmlns:a="http://schemas.openxmlformats.org/drawingml/2006/main">
            <a:r>
              <a:t>Timing: 5 minutes.</a:t>
            </a:r>
          </a:p>
          <a:p xmlns:a="http://schemas.openxmlformats.org/drawingml/2006/main">
            <a:r>
              <a:t>5 minutes. Build one clearly hypothetical café-assistant profile from the model: “I am interested in a café assistant role. In a class task, I checked the instructions before preparing my work.” Label it a worked example; learners use it only if it is true for them. Hinge: “I was a receptionist” came from the imagined blog. Can it be listed as real employment? Expected no; use the chosen target role, then a real activity example.</a:t>
            </a:r>
          </a:p>
          <a:p xmlns:a="http://schemas.openxmlformats.org/drawingml/2006/main">
            <a:r>
              <a:t>Edition: public.</a:t>
            </a:r>
          </a:p>
          <a:p xmlns:a="http://schemas.openxmlformats.org/drawingml/2006/main">
            <a:r>
              <a:t>Source: sources/MTP.xlsx; revision sha256:0895674f2901b602daf998b8a7aa1516522ce0c301b23bfba941fcc1807977cd; Careers lessons A6, B6, C6, D6, E6, F6, G6, H6, I6, J6, K6, L6; Careers (1 x week) B6, C6, D6, F6, I6, J6, K6, L6; Lesson register B24, E24, F24, G24, H24, I24, J24.</a:t>
            </a:r>
          </a:p>
          <ns0:p xmlns:ns0="http://schemas.openxmlformats.org/drawingml/2006/main">
            <ns0:r>
              <ns0:t>TA brief: Read the prompt if needed. Offer the chosen access route. Record prompts and exact scribing, and leave the choice and wording to the learner.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Stage: YOU DO practice</a:t>
            </a:r>
          </a:p>
          <a:p xmlns:a="http://schemas.openxmlformats.org/drawingml/2006/main">
            <a:r>
              <a:t>Timing: 12 minutes.</a:t>
            </a:r>
          </a:p>
          <a:p xmlns:a="http://schemas.openxmlformats.org/drawingml/2006/main">
            <a:r>
              <a:t>12 minutes. First part of the 18-minute individual task. Offer the blank CV template and access frames. No experience or qualification is invented; an honest school, home or voluntary activity can illustrate a relevant skill if the learner confirms it. Record “not yet” or leave an agreed section for follow-up when information is unknown. Use placeholders in classroom display copies.</a:t>
            </a:r>
          </a:p>
          <a:p xmlns:a="http://schemas.openxmlformats.org/drawingml/2006/main">
            <a:r>
              <a:t>Edition: public.</a:t>
            </a:r>
          </a:p>
          <a:p xmlns:a="http://schemas.openxmlformats.org/drawingml/2006/main">
            <a:r>
              <a:t>Source: sources/MTP.xlsx; revision sha256:0895674f2901b602daf998b8a7aa1516522ce0c301b23bfba941fcc1807977cd; Careers lessons A6, B6, C6, D6, E6, F6, G6, H6, I6, J6, K6, L6; Careers (1 x week) B6, C6, D6, F6, I6, J6, K6, L6; Lesson register B24, E24, F24, G24, H24, I24, J24.</a:t>
            </a:r>
          </a:p>
          <ns0:p xmlns:ns0="http://schemas.openxmlformats.org/drawingml/2006/main">
            <ns0:r>
              <ns0:t>TA brief: Read the prompt if needed. Offer the chosen access route. Record prompts and exact scribing, and leave the choice and wording to the learner.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Stage: YOU DO evidence</a:t>
            </a:r>
          </a:p>
          <a:p xmlns:a="http://schemas.openxmlformats.org/drawingml/2006/main">
            <a:r>
              <a:t>Timing: 6 minutes.</a:t>
            </a:r>
          </a:p>
          <a:p xmlns:a="http://schemas.openxmlformats.org/drawingml/2006/main">
            <a:r>
              <a:t>6 minutes. Completes the 18-minute You Do. VOC1-C-E1 is the CV draft, checklist and improvement. Adult helps check factual recall and proofreading but does not invent content. Real contact details are entered only in a private appropriate copy after an adult check. The fictional shift blog gives insight into the target role, not evidence that the learner performed those duties.</a:t>
            </a:r>
          </a:p>
          <a:p xmlns:a="http://schemas.openxmlformats.org/drawingml/2006/main">
            <a:r>
              <a:t>Edition: public.</a:t>
            </a:r>
          </a:p>
          <a:p xmlns:a="http://schemas.openxmlformats.org/drawingml/2006/main">
            <a:r>
              <a:t>Source: sources/MTP.xlsx; revision sha256:0895674f2901b602daf998b8a7aa1516522ce0c301b23bfba941fcc1807977cd; Careers lessons A6, B6, C6, D6, E6, F6, G6, H6, I6, J6, K6, L6; Careers (1 x week) B6, C6, D6, F6, I6, J6, K6, L6; Lesson register B24, E24, F24, G24, H24, I24, J24.</a:t>
            </a:r>
          </a:p>
          <ns0:p xmlns:ns0="http://schemas.openxmlformats.org/drawingml/2006/main">
            <ns0:r>
              <ns0:t>TA brief: Read the prompt if needed. Offer the chosen access route. Record prompts and exact scribing, and leave the choice and wording to the learner.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Stage: Tidy and evidence check</a:t>
            </a:r>
          </a:p>
          <a:p xmlns:a="http://schemas.openxmlformats.org/drawingml/2006/main">
            <a:r>
              <a:t>Timing: 4 minutes.</a:t>
            </a:r>
          </a:p>
          <a:p xmlns:a="http://schemas.openxmlformats.org/drawingml/2006/main">
            <a:r>
              <a:t>4 minutes. Use the approved private workflow in the evidence app. Do not project a learner’s personal contact information. Keep draft and change evidence together. Record the actual date, support and work reference. Careers time stays in its own record and contributes zero hospitality minutes.</a:t>
            </a:r>
          </a:p>
          <a:p xmlns:a="http://schemas.openxmlformats.org/drawingml/2006/main">
            <a:r>
              <a:t>Edition: public.</a:t>
            </a:r>
          </a:p>
          <a:p xmlns:a="http://schemas.openxmlformats.org/drawingml/2006/main">
            <a:r>
              <a:t>Source: sources/MTP.xlsx; revision sha256:0895674f2901b602daf998b8a7aa1516522ce0c301b23bfba941fcc1807977cd; Careers lessons A6, B6, C6, D6, E6, F6, G6, H6, I6, J6, K6, L6; Careers (1 x week) B6, C6, D6, F6, I6, J6, K6, L6; Lesson register B24, E24, F24, G24, H24, I24, J24.</a:t>
            </a:r>
          </a:p>
          <ns0:p xmlns:ns0="http://schemas.openxmlformats.org/drawingml/2006/main">
            <ns0:r>
              <ns0:t>TA brief: Read the prompt if needed. Offer the chosen access route. Record prompts and exact scribing, and leave the choice and wording to the learner.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Stage: Exit ticket</a:t>
            </a:r>
          </a:p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2 minutes. Private check-in or written/pointing response. Accept a defensible section and a reason linked to its content. Use the answer to identify the next useful edit. No whole-class presentation or disclosure of personal details is required.</a:t>
            </a:r>
          </a:p>
          <a:p xmlns:a="http://schemas.openxmlformats.org/drawingml/2006/main">
            <a:r>
              <a:t>Edition: public.</a:t>
            </a:r>
          </a:p>
          <a:p xmlns:a="http://schemas.openxmlformats.org/drawingml/2006/main">
            <a:r>
              <a:t>Source: sources/MTP.xlsx; revision sha256:0895674f2901b602daf998b8a7aa1516522ce0c301b23bfba941fcc1807977cd; Careers lessons A6, B6, C6, D6, E6, F6, G6, H6, I6, J6, K6, L6; Careers (1 x week) B6, C6, D6, F6, I6, J6, K6, L6; Lesson register B24, E24, F24, G24, H24, I24, J24.</a:t>
            </a:r>
          </a:p>
          <ns0:p xmlns:ns0="http://schemas.openxmlformats.org/drawingml/2006/main">
            <ns0:r>
              <ns0:t>TA brief: Read the prompt if needed. Offer the chosen access route. Record prompts and exact scribing, and leave the choice and wording to the learner.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Stage: Vocabulary</a:t>
            </a:r>
          </a:p>
          <a:p xmlns:a="http://schemas.openxmlformats.org/drawingml/2006/main">
            <a:r>
              <a:t>Timing: 0 minutes.</a:t>
            </a:r>
          </a:p>
          <a:p xmlns:a="http://schemas.openxmlformats.org/drawingml/2006/main">
            <a:r>
              <a:t>Untimed reference. Read each term, definition and cue. Repeat “I showed __ when I __.” Keep the distinction between hypothetical job duties and true personal experience clear.</a:t>
            </a:r>
          </a:p>
          <a:p xmlns:a="http://schemas.openxmlformats.org/drawingml/2006/main">
            <a:r>
              <a:t>Edition: public.</a:t>
            </a:r>
          </a:p>
          <a:p xmlns:a="http://schemas.openxmlformats.org/drawingml/2006/main">
            <a:r>
              <a:t>Source: sources/MTP.xlsx; revision sha256:0895674f2901b602daf998b8a7aa1516522ce0c301b23bfba941fcc1807977cd; Careers lessons A6, B6, C6, D6, E6, F6, G6, H6, I6, J6, K6, L6; Careers (1 x week) B6, C6, D6, F6, I6, J6, K6, L6; Lesson register B24, E24, F24, G24, H24, I24, J24.</a:t>
            </a:r>
          </a:p>
          <ns0:p xmlns:ns0="http://schemas.openxmlformats.org/drawingml/2006/main">
            <ns0:r>
              <ns0:t>TA brief: Read the prompt if needed. Offer the chosen access route. Record prompts and exact scribing, and leave the choice and wording to the learner.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Stage: Staff brief</a:t>
            </a:r>
          </a:p>
          <a:p xmlns:a="http://schemas.openxmlformats.org/drawingml/2006/main">
            <a:r>
              <a:t>Timing: 0 minutes.</a:t>
            </a:r>
          </a:p>
          <a:p xmlns:a="http://schemas.openxmlformats.org/drawingml/2006/main">
            <a:r>
              <a:t>Hidden staff slide. TA: locate the learner’s own chosen role, use private questioning for real examples, check dates and factual claims, and help with proofreading. Lundy Space: private workstation; Voice: learner chooses true examples; Audience: adult reads the draft; Influence: learner makes one improvement. The official mapping is [VERIFY]; the source plans the final CV for Week 7. No cold calling or pair work. Use individual stations and a private check-in. Read, rephrase or scribe the learner’s own words; record support. Do not supply the learner’s assessed choice or explanation. Offer a quiet reset, then one clear return step. Only VF, WS, I, NS, E and R are used; confirm local code definitions before marking. E does not establish an award claim.</a:t>
            </a:r>
          </a:p>
          <a:p xmlns:a="http://schemas.openxmlformats.org/drawingml/2006/main">
            <a:r>
              <a:t>Edition: public.</a:t>
            </a:r>
          </a:p>
          <a:p xmlns:a="http://schemas.openxmlformats.org/drawingml/2006/main">
            <a:r>
              <a:t>Source: sources/MTP.xlsx; revision sha256:0895674f2901b602daf998b8a7aa1516522ce0c301b23bfba941fcc1807977cd; Careers lessons A6, B6, C6, D6, E6, F6, G6, H6, I6, J6, K6, L6; Careers (1 x week) B6, C6, D6, F6, I6, J6, K6, L6; Lesson register B24, E24, F24, G24, H24, I24, J24.</a:t>
            </a:r>
          </a:p>
          <ns0:p xmlns:ns0="http://schemas.openxmlformats.org/drawingml/2006/main">
            <ns0:r>
              <ns0:t>TA brief: Read the prompt if needed. Offer the chosen access route. Record prompts and exact scribing, and leave the choice and wording to the learner.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e216d8ece34ac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e83492ee2849b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edbb1aba1b4f2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659251a72e421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9aedc0e14542b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4fe07fba4548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69FE10-B31B-4855-8A59-C90B7CFEF2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ECA55F8-9DB6-426F-8D80-A0A78597F72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A2BD26C-B99E-42E7-9824-7D08D5B578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52451D-E555-4AF5-B2CD-AC8B70577C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9C82F70-28A6-499F-97A1-D8D10872F8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8D6B4F1-F13B-4DEA-8012-28805417B1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157A65C-02BE-46F3-869D-B73C991506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C76B623-6557-4A2D-A874-A410333B76A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9386C3-EECA-493B-B844-A5A69CE249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B2AB332-B5F3-4254-9C86-05DC6595D1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99e1c0196040ed" /><Relationship Type="http://schemas.openxmlformats.org/officeDocument/2006/relationships/slideLayout" Target="/ppt/slideLayouts/slideLayout1.xml" Id="R0205216882e3439c" /><Relationship Type="http://schemas.openxmlformats.org/officeDocument/2006/relationships/slideLayout" Target="/ppt/slideLayouts/slideLayout2.xml" Id="R84f7f3e652ff46fa" /><Relationship Type="http://schemas.openxmlformats.org/officeDocument/2006/relationships/slideLayout" Target="/ppt/slideLayouts/slideLayout3.xml" Id="R631c91e7abd94981" /><Relationship Type="http://schemas.openxmlformats.org/officeDocument/2006/relationships/slideLayout" Target="/ppt/slideLayouts/slideLayout4.xml" Id="Rd813f9d292054609" /><Relationship Type="http://schemas.openxmlformats.org/officeDocument/2006/relationships/slideLayout" Target="/ppt/slideLayouts/slideLayout5.xml" Id="R089b0f6ada354e5c" /><Relationship Type="http://schemas.openxmlformats.org/officeDocument/2006/relationships/slideLayout" Target="/ppt/slideLayouts/slideLayout6.xml" Id="Red603dd99a9b4d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05216882e3439c"/>
    <p:sldLayoutId xmlns:r="http://schemas.openxmlformats.org/officeDocument/2006/relationships" id="2147483650" r:id="R84f7f3e652ff46fa"/>
    <p:sldLayoutId xmlns:r="http://schemas.openxmlformats.org/officeDocument/2006/relationships" id="2147483651" r:id="R631c91e7abd94981"/>
    <p:sldLayoutId xmlns:r="http://schemas.openxmlformats.org/officeDocument/2006/relationships" id="2147483652" r:id="Rd813f9d292054609"/>
    <p:sldLayoutId xmlns:r="http://schemas.openxmlformats.org/officeDocument/2006/relationships" id="2147483653" r:id="R089b0f6ada354e5c"/>
    <p:sldLayoutId xmlns:r="http://schemas.openxmlformats.org/officeDocument/2006/relationships" id="2147483654" r:id="Red603dd99a9b4d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54745a70cd4204" /><Relationship Type="http://schemas.openxmlformats.org/officeDocument/2006/relationships/notesSlide" Target="/ppt/notesSlides/notesSlide1.xml" Id="R9ea227bd18ea44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8b7824cb184883" /><Relationship Type="http://schemas.openxmlformats.org/officeDocument/2006/relationships/notesSlide" Target="/ppt/notesSlides/notesSlide2.xml" Id="Rbde34fb810f74d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261d6619194009" /><Relationship Type="http://schemas.openxmlformats.org/officeDocument/2006/relationships/notesSlide" Target="/ppt/notesSlides/notesSlide3.xml" Id="Ra4d9d954db3e4b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c3104e04da43be" /><Relationship Type="http://schemas.openxmlformats.org/officeDocument/2006/relationships/notesSlide" Target="/ppt/notesSlides/notesSlide4.xml" Id="R9ba5339c571248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f20cda08f74d5c" /><Relationship Type="http://schemas.openxmlformats.org/officeDocument/2006/relationships/notesSlide" Target="/ppt/notesSlides/notesSlide5.xml" Id="R4d243b74c41845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79c9878ea645b9" /><Relationship Type="http://schemas.openxmlformats.org/officeDocument/2006/relationships/notesSlide" Target="/ppt/notesSlides/notesSlide6.xml" Id="R2acc944d10f94b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d976cea11f4204" /><Relationship Type="http://schemas.openxmlformats.org/officeDocument/2006/relationships/notesSlide" Target="/ppt/notesSlides/notesSlide7.xml" Id="Rc3ffc9ff528741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36c6d892bb484d" /><Relationship Type="http://schemas.openxmlformats.org/officeDocument/2006/relationships/notesSlide" Target="/ppt/notesSlides/notesSlide8.xml" Id="Radf1b454ec784c8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f409e7fd9b4082" /><Relationship Type="http://schemas.openxmlformats.org/officeDocument/2006/relationships/notesSlide" Target="/ppt/notesSlides/notesSlide9.xml" Id="R31ffc72c311a4ac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de65d5cd534521" /><Relationship Type="http://schemas.openxmlformats.org/officeDocument/2006/relationships/notesSlide" Target="/ppt/notesSlides/notesSlide10.xml" Id="R4ede8617bb9d487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9d8277f56c4adb" /><Relationship Type="http://schemas.openxmlformats.org/officeDocument/2006/relationships/notesSlide" Target="/ppt/notesSlides/notesSlide11.xml" Id="R21c9e26f2bd743a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f8b6afc6ba43b4" /><Relationship Type="http://schemas.openxmlformats.org/officeDocument/2006/relationships/notesSlide" Target="/ppt/notesSlides/notesSlide12.xml" Id="Rc44a9bc0544d4f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ide-rule">
            <a:extLst xmlns:a="http://schemas.openxmlformats.org/drawingml/2006/main">
              <a:ext uri="{FF2B5EF4-FFF2-40B4-BE49-F238E27FC236}">
                <a16:creationId xmlns:a16="http://schemas.microsoft.com/office/drawing/2014/main" id="{BA836B04-AFB7-4A67-8B69-DF8895FB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A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471A5E04-E538-4355-AAF6-B16A2B1D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A4A7B"/>
                </a:solidFill>
                <a:latin typeface="Arial"/>
                <a:ea typeface="Arial"/>
                <a:cs typeface="Arial"/>
              </a:rPr>
              <a:t>TITLE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3954F821-4FA4-4325-8B15-4B06993C6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1 / 12</a:t>
            </a:r>
          </a:p>
        </p:txBody>
      </p:sp>
      <p:sp>
        <p:nvSpPr>
          <p:cNvPr id="4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58E1A56F-4682-41DC-B854-33F27023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My CV for a hospitality job</a:t>
            </a:r>
          </a:p>
        </p:txBody>
      </p:sp>
      <p:sp>
        <p:nvSpPr>
          <p:cNvPr id="5" name="lesson-subtitle">
            <a:extLst xmlns:a="http://schemas.openxmlformats.org/drawingml/2006/main">
              <a:ext uri="{FF2B5EF4-FFF2-40B4-BE49-F238E27FC236}">
                <a16:creationId xmlns:a16="http://schemas.microsoft.com/office/drawing/2014/main" id="{BB26D852-2D8A-4E94-B2C6-0A872ACD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71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6A4A7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6A4A7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6A4A7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6A4A7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6A4A7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6A4A7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6A4A7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6A4A7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6A4A7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6A4A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6A4A7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A4A7B"/>
                </a:solidFill>
                <a:latin typeface="Arial"/>
                <a:ea typeface="Arial"/>
                <a:cs typeface="Arial"/>
              </a:rPr>
              <a:t>Write and refine a CV</a:t>
            </a:r>
          </a:p>
        </p:txBody>
      </p:sp>
      <p:sp>
        <p:nvSpPr>
          <p:cNvPr id="6" name="body-0">
            <a:extLst xmlns:a="http://schemas.openxmlformats.org/drawingml/2006/main">
              <a:ext uri="{FF2B5EF4-FFF2-40B4-BE49-F238E27FC236}">
                <a16:creationId xmlns:a16="http://schemas.microsoft.com/office/drawing/2014/main" id="{A3318D35-51A3-440A-81F8-2F2547DD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How can I show an employer what I can offer?</a:t>
            </a:r>
          </a:p>
        </p:txBody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192F3AC0-A0F1-493D-9C0A-CC18C7A1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481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Use the job role you chose.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8FAF99B6-7038-49D4-BDC5-5019F4FD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488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Use true information and clear sections.</a:t>
            </a:r>
          </a:p>
        </p:txBody>
      </p:sp>
      <p:sp>
        <p:nvSpPr>
          <p:cNvPr id="9" name="printed-id">
            <a:extLst xmlns:a="http://schemas.openxmlformats.org/drawingml/2006/main">
              <a:ext uri="{FF2B5EF4-FFF2-40B4-BE49-F238E27FC236}">
                <a16:creationId xmlns:a16="http://schemas.microsoft.com/office/drawing/2014/main" id="{94318CFA-8D36-40F2-8518-47DB16AF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A4A7B"/>
                </a:solidFill>
                <a:latin typeface="Arial"/>
                <a:ea typeface="Arial"/>
                <a:cs typeface="Arial"/>
              </a:rPr>
              <a:t>CAREERS-LAUNCH-A2-W01</a:t>
            </a:r>
          </a:p>
        </p:txBody>
      </p:sp>
      <p:sp>
        <p:nvSpPr>
          <p:cNvPr id="10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A526BC73-21AF-45CB-AFA0-85E03125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1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48180662-480D-4ACB-88CC-D0CA7BBB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3988116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306E4457-4459-471D-9A80-9003585E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A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625F68DF-2899-4464-9F28-6BF3BBF0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A4A7B"/>
                </a:solidFill>
                <a:latin typeface="Arial"/>
                <a:ea typeface="Arial"/>
                <a:cs typeface="Arial"/>
              </a:rPr>
              <a:t>ARRIVAL AND REGULATION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3B4CFC08-F54C-4083-AC6F-5D9BD3CD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2 / 12  ·  4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306317-EF41-4F11-8E37-4DA1C9DF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Arrival task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3DE27894-3D7E-47A8-AE19-ACDEFFD3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ody-0">
            <a:extLst xmlns:a="http://schemas.openxmlformats.org/drawingml/2006/main">
              <a:ext uri="{FF2B5EF4-FFF2-40B4-BE49-F238E27FC236}">
                <a16:creationId xmlns:a16="http://schemas.microsoft.com/office/drawing/2014/main" id="{698156E5-9081-4017-AFCF-E609C876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What was your next step from the self-audit?</a:t>
            </a:r>
          </a:p>
        </p:txBody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43B22BB6-D9A5-4BD4-B5F3-2FDABBFD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What is a CV?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C70856A5-1053-4C44-9A13-AA649EA6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Should your CV show your date of birth?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E4B1273F-A9D4-42EB-9B94-4B861275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What is missing from “I have good skills”?</a:t>
            </a:r>
          </a:p>
        </p:txBody>
      </p:sp>
      <p:sp>
        <p:nvSpPr>
          <p:cNvPr id="10" name="body-4">
            <a:extLst xmlns:a="http://schemas.openxmlformats.org/drawingml/2006/main">
              <a:ext uri="{FF2B5EF4-FFF2-40B4-BE49-F238E27FC236}">
                <a16:creationId xmlns:a16="http://schemas.microsoft.com/office/drawing/2014/main" id="{59C7FB7C-9F5C-4DAA-8B96-2202CF2D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BLUE / GREEN / AMBER / RED. Choose a reset if needed.</a:t>
            </a:r>
          </a:p>
        </p:txBody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F96904C0-6654-4933-9D04-6966451F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A4A7B"/>
                </a:solidFill>
                <a:latin typeface="Arial"/>
                <a:ea typeface="Arial"/>
                <a:cs typeface="Arial"/>
              </a:rPr>
              <a:t>CAREERS-LAUNCH-A2-W01</a:t>
            </a:r>
          </a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286BC573-899C-4143-96C6-D3EA457D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B24752E2-53CD-4660-8517-D52F5605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5562598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rule">
            <a:extLst xmlns:a="http://schemas.openxmlformats.org/drawingml/2006/main">
              <a:ext uri="{FF2B5EF4-FFF2-40B4-BE49-F238E27FC236}">
                <a16:creationId xmlns:a16="http://schemas.microsoft.com/office/drawing/2014/main" id="{DD655337-1721-4405-B94E-9D34FED7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A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FB33BB1B-DBF2-4FCF-B937-2390454A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A4A7B"/>
                </a:solidFill>
                <a:latin typeface="Arial"/>
                <a:ea typeface="Arial"/>
                <a:cs typeface="Arial"/>
              </a:rPr>
              <a:t>RETRIEVAL AND STARTER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61B921D4-6541-46B9-87E8-BA7CDB21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3 / 12  ·  2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44A78D5-112D-483F-826B-C50B3A3F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What belongs on a CV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3A651A53-6B6A-4EBB-84E7-FCCC6E5F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505FF669-E299-4D4B-9958-A40AE2E5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body-0">
            <a:extLst xmlns:a="http://schemas.openxmlformats.org/drawingml/2006/main">
              <a:ext uri="{FF2B5EF4-FFF2-40B4-BE49-F238E27FC236}">
                <a16:creationId xmlns:a16="http://schemas.microsoft.com/office/drawing/2014/main" id="{F1453690-DAA4-4216-B086-2404CA02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Phone number · favourite game · education · job-related skill</a:t>
            </a:r>
          </a:p>
        </p:txBody>
      </p:sp>
      <p:sp>
        <p:nvSpPr>
          <p:cNvPr id="8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85817FB5-7B1A-4D24-8E6A-39833053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body-1">
            <a:extLst xmlns:a="http://schemas.openxmlformats.org/drawingml/2006/main">
              <a:ext uri="{FF2B5EF4-FFF2-40B4-BE49-F238E27FC236}">
                <a16:creationId xmlns:a16="http://schemas.microsoft.com/office/drawing/2014/main" id="{B6246114-1E3A-4B9A-9204-2DF79472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9646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Date of birth · experience · target job · passwords</a:t>
            </a:r>
          </a:p>
        </p:txBody>
      </p:sp>
      <p:sp>
        <p:nvSpPr>
          <p:cNvPr id="10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32979642-C223-493C-AC53-59ACFCC7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body-2">
            <a:extLst xmlns:a="http://schemas.openxmlformats.org/drawingml/2006/main">
              <a:ext uri="{FF2B5EF4-FFF2-40B4-BE49-F238E27FC236}">
                <a16:creationId xmlns:a16="http://schemas.microsoft.com/office/drawing/2014/main" id="{435531C9-54E4-4F08-BCAF-80D8C791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1653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Sort: useful for the CV / leave off.</a:t>
            </a:r>
          </a:p>
        </p:txBody>
      </p:sp>
      <p:sp>
        <p:nvSpPr>
          <p:cNvPr id="12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874DCD6A-80CE-4682-9870-31C3F889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body-3">
            <a:extLst xmlns:a="http://schemas.openxmlformats.org/drawingml/2006/main">
              <a:ext uri="{FF2B5EF4-FFF2-40B4-BE49-F238E27FC236}">
                <a16:creationId xmlns:a16="http://schemas.microsoft.com/office/drawing/2014/main" id="{E608A7C5-7874-4972-B517-E3BD9A62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659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I chose __ because __.</a:t>
            </a:r>
          </a:p>
        </p:txBody>
      </p:sp>
      <p:sp>
        <p:nvSpPr>
          <p:cNvPr id="14" name="printed-id">
            <a:extLst xmlns:a="http://schemas.openxmlformats.org/drawingml/2006/main">
              <a:ext uri="{FF2B5EF4-FFF2-40B4-BE49-F238E27FC236}">
                <a16:creationId xmlns:a16="http://schemas.microsoft.com/office/drawing/2014/main" id="{202954D5-2EA5-4737-87DE-52F273EA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A4A7B"/>
                </a:solidFill>
                <a:latin typeface="Arial"/>
                <a:ea typeface="Arial"/>
                <a:cs typeface="Arial"/>
              </a:rPr>
              <a:t>CAREERS-LAUNCH-A2-W01</a:t>
            </a:r>
          </a:p>
        </p:txBody>
      </p:sp>
      <p:sp>
        <p:nvSpPr>
          <p:cNvPr id="15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508BAF9D-7097-46B1-A4E7-2A0415B0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6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DEDB5138-BF95-4EC8-B19B-39F6B010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4329064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-rule">
            <a:extLst xmlns:a="http://schemas.openxmlformats.org/drawingml/2006/main">
              <a:ext uri="{FF2B5EF4-FFF2-40B4-BE49-F238E27FC236}">
                <a16:creationId xmlns:a16="http://schemas.microsoft.com/office/drawing/2014/main" id="{0901E391-6A8F-49F6-8B66-E239A151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A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118AE1BD-F6CA-4C16-8C95-6AAE0FE3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A4A7B"/>
                </a:solidFill>
                <a:latin typeface="Arial"/>
                <a:ea typeface="Arial"/>
                <a:cs typeface="Arial"/>
              </a:rPr>
              <a:t>TODAY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C3E64E8A-02E6-4E1B-B893-676DB85F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2C44136-0089-4F47-81A1-A971522A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Today I can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68770EF-248C-444A-B7E9-9A286FC3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ody-0">
            <a:extLst xmlns:a="http://schemas.openxmlformats.org/drawingml/2006/main">
              <a:ext uri="{FF2B5EF4-FFF2-40B4-BE49-F238E27FC236}">
                <a16:creationId xmlns:a16="http://schemas.microsoft.com/office/drawing/2014/main" id="{5688C20D-AC16-40A9-92E3-645ADC07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Understand CV structure and produce/refine a personal CV.</a:t>
            </a:r>
          </a:p>
        </p:txBody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BFAEC2F1-51C9-4634-AC7E-D113F1DA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I can label the sections.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798EF248-F14E-4228-9B3D-0ED31992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I can use truthful examples.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BF82F3BE-B029-48A8-8E20-54083C5B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I can check and improve my draft.</a:t>
            </a:r>
          </a:p>
        </p:txBody>
      </p:sp>
      <p:sp>
        <p:nvSpPr>
          <p:cNvPr id="10" name="printed-id">
            <a:extLst xmlns:a="http://schemas.openxmlformats.org/drawingml/2006/main">
              <a:ext uri="{FF2B5EF4-FFF2-40B4-BE49-F238E27FC236}">
                <a16:creationId xmlns:a16="http://schemas.microsoft.com/office/drawing/2014/main" id="{AA7FDFBA-5ADD-4011-8CEB-6B985D83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A4A7B"/>
                </a:solidFill>
                <a:latin typeface="Arial"/>
                <a:ea typeface="Arial"/>
                <a:cs typeface="Arial"/>
              </a:rPr>
              <a:t>CAREERS-LAUNCH-A2-W01</a:t>
            </a:r>
          </a:p>
        </p:txBody>
      </p:sp>
      <p:sp>
        <p:nvSpPr>
          <p:cNvPr id="1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FC8A7871-890A-4470-A8C5-951FC21C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4C581AF2-0D1C-46B1-9A65-B71F3A53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947692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rule">
            <a:extLst xmlns:a="http://schemas.openxmlformats.org/drawingml/2006/main">
              <a:ext uri="{FF2B5EF4-FFF2-40B4-BE49-F238E27FC236}">
                <a16:creationId xmlns:a16="http://schemas.microsoft.com/office/drawing/2014/main" id="{93BAC5BA-CCA3-4B7D-AE5B-63AC6CBD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A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2EFD914F-4E4A-4084-A294-D97EC9F1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A4A7B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09F90E17-31E7-46FE-A788-090B7517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5 / 12  ·  5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23EAF64-3D6B-44F7-A19B-3D0CA37C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A clear CV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7F529910-4A30-4C93-8BFA-2B7188C0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ody-0">
            <a:extLst xmlns:a="http://schemas.openxmlformats.org/drawingml/2006/main">
              <a:ext uri="{FF2B5EF4-FFF2-40B4-BE49-F238E27FC236}">
                <a16:creationId xmlns:a16="http://schemas.microsoft.com/office/drawing/2014/main" id="{F48CA9FF-C885-43DB-9431-0AC49155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Personal details: adult-approved contact details.</a:t>
            </a:r>
          </a:p>
        </p:txBody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A52DE78D-8627-4B60-B795-6862B8A0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Profile: the role and what you can offer.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0F920BB6-9E09-46E7-8C4B-C68D1A68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Education: accurate learning information.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4C9CBEB5-3A38-49F3-9BE5-A175F674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Experience: things you have really done.</a:t>
            </a:r>
          </a:p>
        </p:txBody>
      </p:sp>
      <p:sp>
        <p:nvSpPr>
          <p:cNvPr id="10" name="body-4">
            <a:extLst xmlns:a="http://schemas.openxmlformats.org/drawingml/2006/main">
              <a:ext uri="{FF2B5EF4-FFF2-40B4-BE49-F238E27FC236}">
                <a16:creationId xmlns:a16="http://schemas.microsoft.com/office/drawing/2014/main" id="{FBE0C19C-28E3-46A5-A0D9-F12C955C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666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Skills: an example for each claim.</a:t>
            </a:r>
          </a:p>
        </p:txBody>
      </p:sp>
      <p:sp>
        <p:nvSpPr>
          <p:cNvPr id="11" name="body-5">
            <a:extLst xmlns:a="http://schemas.openxmlformats.org/drawingml/2006/main">
              <a:ext uri="{FF2B5EF4-FFF2-40B4-BE49-F238E27FC236}">
                <a16:creationId xmlns:a16="http://schemas.microsoft.com/office/drawing/2014/main" id="{A36C3F44-6B79-4F37-B08D-EE6EA3AF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References: with permission.</a:t>
            </a:r>
          </a:p>
        </p:txBody>
      </p:sp>
      <p:sp>
        <p:nvSpPr>
          <p:cNvPr id="12" name="printed-id">
            <a:extLst xmlns:a="http://schemas.openxmlformats.org/drawingml/2006/main">
              <a:ext uri="{FF2B5EF4-FFF2-40B4-BE49-F238E27FC236}">
                <a16:creationId xmlns:a16="http://schemas.microsoft.com/office/drawing/2014/main" id="{7057D620-8E50-4F4D-BE58-9CD093AE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A4A7B"/>
                </a:solidFill>
                <a:latin typeface="Arial"/>
                <a:ea typeface="Arial"/>
                <a:cs typeface="Arial"/>
              </a:rPr>
              <a:t>CAREERS-LAUNCH-A2-W01</a:t>
            </a:r>
          </a:p>
        </p:txBody>
      </p:sp>
      <p:sp>
        <p:nvSpPr>
          <p:cNvPr id="13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FDFA1629-9C45-4F1A-8DE8-75652C96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4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1F437766-E886-4CE8-9799-70CFB15C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6231475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-rule">
            <a:extLst xmlns:a="http://schemas.openxmlformats.org/drawingml/2006/main">
              <a:ext uri="{FF2B5EF4-FFF2-40B4-BE49-F238E27FC236}">
                <a16:creationId xmlns:a16="http://schemas.microsoft.com/office/drawing/2014/main" id="{7EE555B6-0852-4288-A59C-CB15A14F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A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72EDAC15-EB71-4575-93E6-60BB1821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A4A7B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B8588553-F625-4400-B5E7-6646B9C2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6 / 12  ·  5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18A883-168A-4B85-84B4-EA9E6D2D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Our profile sentence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5AC5F35-608C-4DE9-BB51-882759A9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ody-0">
            <a:extLst xmlns:a="http://schemas.openxmlformats.org/drawingml/2006/main">
              <a:ext uri="{FF2B5EF4-FFF2-40B4-BE49-F238E27FC236}">
                <a16:creationId xmlns:a16="http://schemas.microsoft.com/office/drawing/2014/main" id="{A48ECA87-C5C1-4340-8002-333B73F1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Label the six sections on the blank template.</a:t>
            </a:r>
          </a:p>
        </p:txBody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23F6A6B0-8014-4398-B050-86BB7DC2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For a café role: I am interested in __.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3BFF49AB-05D8-4721-B4A8-3F4DEF4E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 skill I can show is __.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763DDA73-AA3E-47DA-AC1E-08935F1F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My true example is __.</a:t>
            </a:r>
          </a:p>
        </p:txBody>
      </p:sp>
      <p:sp>
        <p:nvSpPr>
          <p:cNvPr id="10" name="printed-id">
            <a:extLst xmlns:a="http://schemas.openxmlformats.org/drawingml/2006/main">
              <a:ext uri="{FF2B5EF4-FFF2-40B4-BE49-F238E27FC236}">
                <a16:creationId xmlns:a16="http://schemas.microsoft.com/office/drawing/2014/main" id="{AEC2A8B7-D018-4BE2-974D-EA5CE7BD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A4A7B"/>
                </a:solidFill>
                <a:latin typeface="Arial"/>
                <a:ea typeface="Arial"/>
                <a:cs typeface="Arial"/>
              </a:rPr>
              <a:t>CAREERS-LAUNCH-A2-W01</a:t>
            </a:r>
          </a:p>
        </p:txBody>
      </p:sp>
      <p:sp>
        <p:nvSpPr>
          <p:cNvPr id="1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BED4343F-1FDF-459D-A53B-4186B896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739BAA5C-6C9D-450C-B1E7-C17B7A0A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8039621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rule">
            <a:extLst xmlns:a="http://schemas.openxmlformats.org/drawingml/2006/main">
              <a:ext uri="{FF2B5EF4-FFF2-40B4-BE49-F238E27FC236}">
                <a16:creationId xmlns:a16="http://schemas.microsoft.com/office/drawing/2014/main" id="{6431E41E-773A-4855-8406-757503F9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A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125BEAC1-78E1-4CD9-9E0F-DC64FE7F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A4A7B"/>
                </a:solidFill>
                <a:latin typeface="Arial"/>
                <a:ea typeface="Arial"/>
                <a:cs typeface="Arial"/>
              </a:rPr>
              <a:t>YOU DO PRACTICE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EDE67A7D-26D0-4FE3-B6B5-8E2A7F58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7 / 12  ·  12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92DFB8-4061-4CC0-866B-AF3579D3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Your CV draft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3FC26044-92CC-4142-AF9E-8B0A5E8F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ody-0">
            <a:extLst xmlns:a="http://schemas.openxmlformats.org/drawingml/2006/main">
              <a:ext uri="{FF2B5EF4-FFF2-40B4-BE49-F238E27FC236}">
                <a16:creationId xmlns:a16="http://schemas.microsoft.com/office/drawing/2014/main" id="{1CEB3F98-F346-488A-988C-6C3D4E22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Aim your CV at the hospitality job you chose.</a:t>
            </a:r>
          </a:p>
        </p:txBody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F2B46735-C46E-47B2-8FCA-666CFC9B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Use the headings and true information.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B614D63D-48C7-498E-AE2F-9EB8D46C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Give one real example for each skill.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34EEFA64-1C43-4625-9A87-C911987D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Draft on paper or type in the approved document.</a:t>
            </a:r>
          </a:p>
        </p:txBody>
      </p:sp>
      <p:sp>
        <p:nvSpPr>
          <p:cNvPr id="10" name="body-4">
            <a:extLst xmlns:a="http://schemas.openxmlformats.org/drawingml/2006/main">
              <a:ext uri="{FF2B5EF4-FFF2-40B4-BE49-F238E27FC236}">
                <a16:creationId xmlns:a16="http://schemas.microsoft.com/office/drawing/2014/main" id="{C77280C0-40E9-4419-9AB2-EDDF970C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I showed __ when I __.</a:t>
            </a:r>
          </a:p>
        </p:txBody>
      </p:sp>
      <p:sp>
        <p:nvSpPr>
          <p:cNvPr id="11" name="body-5">
            <a:extLst xmlns:a="http://schemas.openxmlformats.org/drawingml/2006/main">
              <a:ext uri="{FF2B5EF4-FFF2-40B4-BE49-F238E27FC236}">
                <a16:creationId xmlns:a16="http://schemas.microsoft.com/office/drawing/2014/main" id="{B0B556C9-B051-4092-91DF-CF0552FF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1918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Supported: Use the headings and frames with true information.</a:t>
            </a:r>
          </a:p>
        </p:txBody>
      </p:sp>
      <p:sp>
        <p:nvSpPr>
          <p:cNvPr id="12" name="body-6">
            <a:extLst xmlns:a="http://schemas.openxmlformats.org/drawingml/2006/main">
              <a:ext uri="{FF2B5EF4-FFF2-40B4-BE49-F238E27FC236}">
                <a16:creationId xmlns:a16="http://schemas.microsoft.com/office/drawing/2014/main" id="{877E3267-2DAF-4655-8B06-8329966F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902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Independent: Choose a layout and write your own examples.</a:t>
            </a:r>
          </a:p>
        </p:txBody>
      </p:sp>
      <p:sp>
        <p:nvSpPr>
          <p:cNvPr id="13" name="body-7">
            <a:extLst xmlns:a="http://schemas.openxmlformats.org/drawingml/2006/main">
              <a:ext uri="{FF2B5EF4-FFF2-40B4-BE49-F238E27FC236}">
                <a16:creationId xmlns:a16="http://schemas.microsoft.com/office/drawing/2014/main" id="{1FA43CF3-A055-4236-A29C-3D4C2E98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6125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Aspire: Adapt your profile for a second job.</a:t>
            </a:r>
          </a:p>
        </p:txBody>
      </p:sp>
      <p:sp>
        <p:nvSpPr>
          <p:cNvPr id="14" name="printed-id">
            <a:extLst xmlns:a="http://schemas.openxmlformats.org/drawingml/2006/main">
              <a:ext uri="{FF2B5EF4-FFF2-40B4-BE49-F238E27FC236}">
                <a16:creationId xmlns:a16="http://schemas.microsoft.com/office/drawing/2014/main" id="{BB7E9364-2B13-4CFC-BD6A-A58E5C0A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A4A7B"/>
                </a:solidFill>
                <a:latin typeface="Arial"/>
                <a:ea typeface="Arial"/>
                <a:cs typeface="Arial"/>
              </a:rPr>
              <a:t>CAREERS-LAUNCH-A2-W01</a:t>
            </a:r>
          </a:p>
        </p:txBody>
      </p:sp>
      <p:sp>
        <p:nvSpPr>
          <p:cNvPr id="15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28A9C7F5-65EF-419B-AC7B-0E4981FB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6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080A1F4A-B91A-4B65-945D-F982DE1C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5412562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ide-rule">
            <a:extLst xmlns:a="http://schemas.openxmlformats.org/drawingml/2006/main">
              <a:ext uri="{FF2B5EF4-FFF2-40B4-BE49-F238E27FC236}">
                <a16:creationId xmlns:a16="http://schemas.microsoft.com/office/drawing/2014/main" id="{28444E8F-0644-4809-B82E-6A6ACF53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A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27E453CA-1028-46F8-B726-7F72BFD2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A4A7B"/>
                </a:solidFill>
                <a:latin typeface="Arial"/>
                <a:ea typeface="Arial"/>
                <a:cs typeface="Arial"/>
              </a:rPr>
              <a:t>YOU DO EVIDENCE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E23CB144-D35E-43DB-9299-675241E3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8 / 12  ·  6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0060F6-E3D5-4F6D-B9DA-BD23959E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Check and improve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86721A14-6967-4474-B108-0B880ADB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ody-0">
            <a:extLst xmlns:a="http://schemas.openxmlformats.org/drawingml/2006/main">
              <a:ext uri="{FF2B5EF4-FFF2-40B4-BE49-F238E27FC236}">
                <a16:creationId xmlns:a16="http://schemas.microsoft.com/office/drawing/2014/main" id="{8B13E7AB-CB31-4739-A2ED-C20A1542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Check spelling, dates and section headings.</a:t>
            </a:r>
          </a:p>
        </p:txBody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32898CF2-45A0-4480-9C4E-DFECAA83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Check that each skill has a true example.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3DC2559F-8443-4B85-B44C-8490E90D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Keep date of birth and private information off the class copy.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2C28F421-084A-40A0-8E6C-3FF45E7C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Improve one line and keep the draft.</a:t>
            </a:r>
          </a:p>
        </p:txBody>
      </p:sp>
      <p:sp>
        <p:nvSpPr>
          <p:cNvPr id="10" name="body-4">
            <a:extLst xmlns:a="http://schemas.openxmlformats.org/drawingml/2006/main">
              <a:ext uri="{FF2B5EF4-FFF2-40B4-BE49-F238E27FC236}">
                <a16:creationId xmlns:a16="http://schemas.microsoft.com/office/drawing/2014/main" id="{ADAF6ADA-F4A4-45A1-B102-01237B15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Supported: Read one section privately. Choose one change.</a:t>
            </a:r>
          </a:p>
        </p:txBody>
      </p:sp>
      <p:sp>
        <p:nvSpPr>
          <p:cNvPr id="11" name="body-5">
            <a:extLst xmlns:a="http://schemas.openxmlformats.org/drawingml/2006/main">
              <a:ext uri="{FF2B5EF4-FFF2-40B4-BE49-F238E27FC236}">
                <a16:creationId xmlns:a16="http://schemas.microsoft.com/office/drawing/2014/main" id="{FD667BB6-72C0-409C-839D-D833931D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1918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Independent: Improve a vague line with a real example.</a:t>
            </a:r>
          </a:p>
        </p:txBody>
      </p:sp>
      <p:sp>
        <p:nvSpPr>
          <p:cNvPr id="12" name="body-6">
            <a:extLst xmlns:a="http://schemas.openxmlformats.org/drawingml/2006/main">
              <a:ext uri="{FF2B5EF4-FFF2-40B4-BE49-F238E27FC236}">
                <a16:creationId xmlns:a16="http://schemas.microsoft.com/office/drawing/2014/main" id="{9C75BE74-C4FC-4D4A-92E0-669251EC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902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Aspire: Explain which wording fits two different jobs.</a:t>
            </a:r>
          </a:p>
        </p:txBody>
      </p:sp>
      <p:sp>
        <p:nvSpPr>
          <p:cNvPr id="13" name="printed-id">
            <a:extLst xmlns:a="http://schemas.openxmlformats.org/drawingml/2006/main">
              <a:ext uri="{FF2B5EF4-FFF2-40B4-BE49-F238E27FC236}">
                <a16:creationId xmlns:a16="http://schemas.microsoft.com/office/drawing/2014/main" id="{931F6D70-60E6-4F61-A222-5DBCBE14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A4A7B"/>
                </a:solidFill>
                <a:latin typeface="Arial"/>
                <a:ea typeface="Arial"/>
                <a:cs typeface="Arial"/>
              </a:rPr>
              <a:t>CAREERS-LAUNCH-A2-W01</a:t>
            </a:r>
          </a:p>
        </p:txBody>
      </p:sp>
      <p:sp>
        <p:nvSpPr>
          <p:cNvPr id="14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6A7EFDBD-88F9-494A-B91B-BB75783C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5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7419CF62-1C93-4611-8E8E-F0125A47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3106367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rule">
            <a:extLst xmlns:a="http://schemas.openxmlformats.org/drawingml/2006/main">
              <a:ext uri="{FF2B5EF4-FFF2-40B4-BE49-F238E27FC236}">
                <a16:creationId xmlns:a16="http://schemas.microsoft.com/office/drawing/2014/main" id="{1890BE5C-D2B7-441C-8CB9-578D3546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A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3365B4C3-8751-4DAF-8D4F-0FF13F4C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A4A7B"/>
                </a:solidFill>
                <a:latin typeface="Arial"/>
                <a:ea typeface="Arial"/>
                <a:cs typeface="Arial"/>
              </a:rPr>
              <a:t>TIDY AND EVIDENCE CHECK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EC1FCBD5-02CE-4F2C-B9D4-DDF7124F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9 / 12  ·  4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924DF6D-FC79-4F16-AB44-305B562A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Tidy and file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94A10DA9-0B0C-4C8A-B867-FB4CB013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B1F04F92-9844-49B4-B4E6-DCF8F45D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body-0">
            <a:extLst xmlns:a="http://schemas.openxmlformats.org/drawingml/2006/main">
              <a:ext uri="{FF2B5EF4-FFF2-40B4-BE49-F238E27FC236}">
                <a16:creationId xmlns:a16="http://schemas.microsoft.com/office/drawing/2014/main" id="{5A42CC76-475D-4F14-B2E7-14B9E224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Save with your name or learner code in the approved folder.</a:t>
            </a:r>
          </a:p>
        </p:txBody>
      </p:sp>
      <p:sp>
        <p:nvSpPr>
          <p:cNvPr id="8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59B56BD9-98FD-4EEC-8A0D-68B115AB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body-1">
            <a:extLst xmlns:a="http://schemas.openxmlformats.org/drawingml/2006/main">
              <a:ext uri="{FF2B5EF4-FFF2-40B4-BE49-F238E27FC236}">
                <a16:creationId xmlns:a16="http://schemas.microsoft.com/office/drawing/2014/main" id="{992B2622-99F3-49D7-AFFF-E5E13890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9646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Keep the draft and proofreading checklist.</a:t>
            </a:r>
          </a:p>
        </p:txBody>
      </p:sp>
      <p:sp>
        <p:nvSpPr>
          <p:cNvPr id="10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A24A37AC-B609-423F-B877-413ADD8C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body-2">
            <a:extLst xmlns:a="http://schemas.openxmlformats.org/drawingml/2006/main">
              <a:ext uri="{FF2B5EF4-FFF2-40B4-BE49-F238E27FC236}">
                <a16:creationId xmlns:a16="http://schemas.microsoft.com/office/drawing/2014/main" id="{DF225245-9B38-4C9A-B830-8A06CAD7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1653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The final CV will be reviewed later in the sequence.</a:t>
            </a:r>
          </a:p>
        </p:txBody>
      </p:sp>
      <p:sp>
        <p:nvSpPr>
          <p:cNvPr id="12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3D44696D-C412-41FD-94AF-A257D57C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body-3">
            <a:extLst xmlns:a="http://schemas.openxmlformats.org/drawingml/2006/main">
              <a:ext uri="{FF2B5EF4-FFF2-40B4-BE49-F238E27FC236}">
                <a16:creationId xmlns:a16="http://schemas.microsoft.com/office/drawing/2014/main" id="{117E17D1-EF99-4882-B76C-645F11A0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659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My change was __.</a:t>
            </a:r>
          </a:p>
        </p:txBody>
      </p:sp>
      <p:sp>
        <p:nvSpPr>
          <p:cNvPr id="14" name="printed-id">
            <a:extLst xmlns:a="http://schemas.openxmlformats.org/drawingml/2006/main">
              <a:ext uri="{FF2B5EF4-FFF2-40B4-BE49-F238E27FC236}">
                <a16:creationId xmlns:a16="http://schemas.microsoft.com/office/drawing/2014/main" id="{4843D354-8D71-4FA7-98B2-DF8FAFB9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A4A7B"/>
                </a:solidFill>
                <a:latin typeface="Arial"/>
                <a:ea typeface="Arial"/>
                <a:cs typeface="Arial"/>
              </a:rPr>
              <a:t>CAREERS-LAUNCH-A2-W01</a:t>
            </a:r>
          </a:p>
        </p:txBody>
      </p:sp>
      <p:sp>
        <p:nvSpPr>
          <p:cNvPr id="15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5AD51746-48DF-441F-8A4F-3AF8E46B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6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6CADBACD-F5D3-4339-8F4E-DF858F02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6326201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ide-rule">
            <a:extLst xmlns:a="http://schemas.openxmlformats.org/drawingml/2006/main">
              <a:ext uri="{FF2B5EF4-FFF2-40B4-BE49-F238E27FC236}">
                <a16:creationId xmlns:a16="http://schemas.microsoft.com/office/drawing/2014/main" id="{DD713887-59BC-48DA-B594-78BBCDB1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A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F65B5097-5021-4032-8AC7-92362208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A4A7B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54517500-B520-4E5C-9619-8092687E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10 / 12  ·  2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4D67D59-8783-4853-9C35-2307F92F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3CAE5D76-80F9-48A3-96C8-5D37153B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ody-0">
            <a:extLst xmlns:a="http://schemas.openxmlformats.org/drawingml/2006/main">
              <a:ext uri="{FF2B5EF4-FFF2-40B4-BE49-F238E27FC236}">
                <a16:creationId xmlns:a16="http://schemas.microsoft.com/office/drawing/2014/main" id="{6179C2BC-3E6E-4F70-A23A-42F62480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Which section is strongest? Why?</a:t>
            </a:r>
          </a:p>
        </p:txBody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30AF122E-9D5E-4FD0-8421-1F1D4810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Point to the evidence for your answer.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708AB00F-7049-4CB1-9C66-854188AF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My strongest section is __ because __.</a:t>
            </a:r>
          </a:p>
        </p:txBody>
      </p:sp>
      <p:sp>
        <p:nvSpPr>
          <p:cNvPr id="9" name="printed-id">
            <a:extLst xmlns:a="http://schemas.openxmlformats.org/drawingml/2006/main">
              <a:ext uri="{FF2B5EF4-FFF2-40B4-BE49-F238E27FC236}">
                <a16:creationId xmlns:a16="http://schemas.microsoft.com/office/drawing/2014/main" id="{4DA7FD78-8BBC-4DC4-89DB-1E659213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A4A7B"/>
                </a:solidFill>
                <a:latin typeface="Arial"/>
                <a:ea typeface="Arial"/>
                <a:cs typeface="Arial"/>
              </a:rPr>
              <a:t>CAREERS-LAUNCH-A2-W01</a:t>
            </a:r>
          </a:p>
        </p:txBody>
      </p:sp>
      <p:sp>
        <p:nvSpPr>
          <p:cNvPr id="10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768EF7EE-D0F9-412C-9AC1-872EB0EA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1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05EBEF7E-44C7-4A02-8DCD-6615929D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2366469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rule">
            <a:extLst xmlns:a="http://schemas.openxmlformats.org/drawingml/2006/main">
              <a:ext uri="{FF2B5EF4-FFF2-40B4-BE49-F238E27FC236}">
                <a16:creationId xmlns:a16="http://schemas.microsoft.com/office/drawing/2014/main" id="{5F0BED5A-0744-4D77-8EF5-31AD292F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A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FAFA21FD-C481-4706-96FF-355A9BB8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A4A7B"/>
                </a:solidFill>
                <a:latin typeface="Arial"/>
                <a:ea typeface="Arial"/>
                <a:cs typeface="Arial"/>
              </a:rPr>
              <a:t>VOCABULARY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3D040A98-76A9-4F44-9AC5-ACD5B01B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92F607-E6C7-4F6A-92EC-E17D7986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Key words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86F1DF9-0876-4FA8-93B1-7902CDBB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ody-0">
            <a:extLst xmlns:a="http://schemas.openxmlformats.org/drawingml/2006/main">
              <a:ext uri="{FF2B5EF4-FFF2-40B4-BE49-F238E27FC236}">
                <a16:creationId xmlns:a16="http://schemas.microsoft.com/office/drawing/2014/main" id="{A2E854C5-6135-4D68-A2D7-EDCA2E85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219700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CV: a short record of relevant information.</a:t>
            </a:r>
          </a:p>
        </p:txBody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0E98CE4B-97F9-4B20-9CC2-C7C2D95A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1082"/>
            <a:ext cx="5219700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Profile: a short introduction for the job.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4258DFD2-8D28-414F-8A59-EA399FEC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6714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Education: what and where you learn.</a:t>
            </a:r>
          </a:p>
        </p:txBody>
      </p:sp>
      <p:sp>
        <p:nvSpPr>
          <p:cNvPr id="9" name="body-0">
            <a:extLst xmlns:a="http://schemas.openxmlformats.org/drawingml/2006/main">
              <a:ext uri="{FF2B5EF4-FFF2-40B4-BE49-F238E27FC236}">
                <a16:creationId xmlns:a16="http://schemas.microsoft.com/office/drawing/2014/main" id="{6A6AFE14-43FE-4527-964D-110CB653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219700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Experience: things you have actually done.</a:t>
            </a:r>
          </a:p>
        </p:txBody>
      </p:sp>
      <p:sp>
        <p:nvSpPr>
          <p:cNvPr id="10" name="body-1">
            <a:extLst xmlns:a="http://schemas.openxmlformats.org/drawingml/2006/main">
              <a:ext uri="{FF2B5EF4-FFF2-40B4-BE49-F238E27FC236}">
                <a16:creationId xmlns:a16="http://schemas.microsoft.com/office/drawing/2014/main" id="{089D35CB-FED7-476F-BA51-49156E9A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61082"/>
            <a:ext cx="5219700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Skill: something you can show with an example.</a:t>
            </a:r>
          </a:p>
        </p:txBody>
      </p:sp>
      <p:sp>
        <p:nvSpPr>
          <p:cNvPr id="11" name="body-2">
            <a:extLst xmlns:a="http://schemas.openxmlformats.org/drawingml/2006/main">
              <a:ext uri="{FF2B5EF4-FFF2-40B4-BE49-F238E27FC236}">
                <a16:creationId xmlns:a16="http://schemas.microsoft.com/office/drawing/2014/main" id="{798FB8F5-90C0-49B9-B640-1C1A180E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26714"/>
            <a:ext cx="5219700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Reference: a person who confirms information with permission.</a:t>
            </a:r>
          </a:p>
        </p:txBody>
      </p:sp>
      <p:sp>
        <p:nvSpPr>
          <p:cNvPr id="12" name="printed-id">
            <a:extLst xmlns:a="http://schemas.openxmlformats.org/drawingml/2006/main">
              <a:ext uri="{FF2B5EF4-FFF2-40B4-BE49-F238E27FC236}">
                <a16:creationId xmlns:a16="http://schemas.microsoft.com/office/drawing/2014/main" id="{6E0CAC12-AD0B-4206-A2CC-BCD8DA12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A4A7B"/>
                </a:solidFill>
                <a:latin typeface="Arial"/>
                <a:ea typeface="Arial"/>
                <a:cs typeface="Arial"/>
              </a:rPr>
              <a:t>CAREERS-LAUNCH-A2-W01</a:t>
            </a:r>
          </a:p>
        </p:txBody>
      </p:sp>
      <p:sp>
        <p:nvSpPr>
          <p:cNvPr id="13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07DDE27B-43F8-4AF2-BC19-63609995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4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43E7C824-6ABE-4DD0-92CF-E5049261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670371984"/>
      </p:ext>
    </p:extLst>
  </p:cSld>
</p:sld>
</file>

<file path=ppt/slides/slide12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1BD132AF-5C88-4E67-954F-5FE18E37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A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C2E4C9A1-489E-4971-8519-0379E71D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A4A7B"/>
                </a:solidFill>
                <a:latin typeface="Arial"/>
                <a:ea typeface="Arial"/>
                <a:cs typeface="Arial"/>
              </a:rPr>
              <a:t>STAFF BRIEF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C5AA5EBE-965D-4042-BE19-4917BE3B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8F77C59-3144-414F-98AD-457AD0F8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Staff brief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19648A6B-70AC-49C5-BCA3-F3C77174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ody-0">
            <a:extLst xmlns:a="http://schemas.openxmlformats.org/drawingml/2006/main">
              <a:ext uri="{FF2B5EF4-FFF2-40B4-BE49-F238E27FC236}">
                <a16:creationId xmlns:a16="http://schemas.microsoft.com/office/drawing/2014/main" id="{31EC3F3C-570B-49B2-A76C-99F95CD8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Careers evidence and time stay separate.</a:t>
            </a:r>
          </a:p>
        </p:txBody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3F3C2B76-4B17-4628-92C0-E9E62E6F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Help factual recall and proofreading.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C5857BCF-0C1E-4024-B806-2C3CFEBF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Keep personal information private.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E05CDDD9-253F-4F48-A8B9-DC749473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Lundy: Space · Voice · Audience · Influence.</a:t>
            </a:r>
          </a:p>
        </p:txBody>
      </p:sp>
      <p:sp>
        <p:nvSpPr>
          <p:cNvPr id="10" name="body-4">
            <a:extLst xmlns:a="http://schemas.openxmlformats.org/drawingml/2006/main">
              <a:ext uri="{FF2B5EF4-FFF2-40B4-BE49-F238E27FC236}">
                <a16:creationId xmlns:a16="http://schemas.microsoft.com/office/drawing/2014/main" id="{77EBA87B-CD70-4A11-8713-DF9F6AB3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Feedback: VF · WS · I · NS · E · R.</a:t>
            </a:r>
          </a:p>
        </p:txBody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919527F4-AD4E-4BFF-9406-79AA8450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A4A7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A4A7B"/>
                </a:solidFill>
                <a:latin typeface="Arial"/>
                <a:ea typeface="Arial"/>
                <a:cs typeface="Arial"/>
              </a:rPr>
              <a:t>CAREERS-LAUNCH-A2-W01</a:t>
            </a:r>
          </a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8D3559E0-31AE-46E1-96E4-E7FFA4CA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DFBF10B5-B4B3-445D-945E-B2B80B2C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Made by Matt · © Matt Roper · CC BY-NC-SA 4.0: free for classroom use, share and adapt with credit, no resale</a:t>
            </a:r>
          </a:p>
        </p:txBody>
      </p:sp>
    </p:spTree>
    <p:extLst>
      <p:ext uri="{BB962C8B-B14F-4D97-AF65-F5344CB8AC3E}">
        <p14:creationId xmlns:p14="http://schemas.microsoft.com/office/powerpoint/2010/main" val="13009297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[SYS]</ap:Application>
  <ap:PresentationFormat>Converted Presentation</ap:PresentationFormat>
  <ap:Slides>12</ap:Slides>
  <ap:Notes>12</ap:Notes>
  <ap:HiddenSlides>0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Lesson resource</dc:creator>
  <dc:title>My CV for a hospitality job</dc:title>
  <dc:subject>CAREERS-LAUNCH-A2-W01</dc:subject>
  <cp:lastModifiedBy/>
</cp:coreProperties>
</file>