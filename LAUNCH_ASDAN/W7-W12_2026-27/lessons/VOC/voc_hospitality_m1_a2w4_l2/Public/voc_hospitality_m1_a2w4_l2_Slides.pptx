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cdb47f98db4599" /><Relationship Type="http://schemas.openxmlformats.org/officeDocument/2006/relationships/extended-properties" Target="/docProps/app.xml" Id="Ree3e089665e742cf" /><Relationship Type="http://schemas.openxmlformats.org/officeDocument/2006/relationships/officeDocument" Target="/ppt/presentation.xml" Id="Rd848fed18be54cad" /></Relationships>
</file>

<file path=ppt/presentation.xml><?xml version="1.0" encoding="utf-8"?>
<p:presentation xmlns:p="http://schemas.openxmlformats.org/presentationml/2006/main">
  <p:sldMasterIdLst>
    <p:sldMasterId xmlns:r="http://schemas.openxmlformats.org/officeDocument/2006/relationships" id="2147483648" r:id="Ra7dc831b3dc346ce"/>
  </p:sldMasterIdLst>
  <p:notesMasterIdLst>
    <p:notesMasterId xmlns:r="http://schemas.openxmlformats.org/officeDocument/2006/relationships" r:id="R01da8133592a47d6"/>
  </p:notesMasterIdLst>
  <p:sldIdLst>
    <p:sldId xmlns:r="http://schemas.openxmlformats.org/officeDocument/2006/relationships" id="256" r:id="R92c2baec0494439d"/>
    <p:sldId xmlns:r="http://schemas.openxmlformats.org/officeDocument/2006/relationships" id="257" r:id="R80098f7168ad4269"/>
    <p:sldId xmlns:r="http://schemas.openxmlformats.org/officeDocument/2006/relationships" id="258" r:id="R994b5f223540420f"/>
    <p:sldId xmlns:r="http://schemas.openxmlformats.org/officeDocument/2006/relationships" id="259" r:id="R5c47a553450e487f"/>
    <p:sldId xmlns:r="http://schemas.openxmlformats.org/officeDocument/2006/relationships" id="260" r:id="R0523ecc986864dbf"/>
    <p:sldId xmlns:r="http://schemas.openxmlformats.org/officeDocument/2006/relationships" id="261" r:id="R33401f9b5a494f21"/>
    <p:sldId xmlns:r="http://schemas.openxmlformats.org/officeDocument/2006/relationships" id="262" r:id="Rafd89e12943446b9"/>
    <p:sldId xmlns:r="http://schemas.openxmlformats.org/officeDocument/2006/relationships" id="263" r:id="R26b4cd6f78c04e28"/>
    <p:sldId xmlns:r="http://schemas.openxmlformats.org/officeDocument/2006/relationships" id="264" r:id="Rfc478b42f2f8476c"/>
    <p:sldId xmlns:r="http://schemas.openxmlformats.org/officeDocument/2006/relationships" id="265" r:id="R01effa2c70a04c8e"/>
    <p:sldId xmlns:r="http://schemas.openxmlformats.org/officeDocument/2006/relationships" id="266" r:id="R738c410fd88043db"/>
    <p:sldId xmlns:r="http://schemas.openxmlformats.org/officeDocument/2006/relationships" id="267" r:id="R601d454d444649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b6065d67ae4f2f" /><Relationship Type="http://schemas.openxmlformats.org/officeDocument/2006/relationships/slideMaster" Target="/ppt/slideMasters/slideMaster1.xml" Id="Ra7dc831b3dc346ce" /><Relationship Type="http://schemas.openxmlformats.org/officeDocument/2006/relationships/notesMaster" Target="/ppt/notesMasters/notesMaster1.xml" Id="R01da8133592a47d6" /><Relationship Type="http://schemas.openxmlformats.org/officeDocument/2006/relationships/presProps" Target="/ppt/presProps.xml" Id="Rdec0bc6d658045ea" /><Relationship Type="http://schemas.openxmlformats.org/officeDocument/2006/relationships/tableStyles" Target="/ppt/tableStyles.xml" Id="R04aa944bc24e477d" /><Relationship Type="http://schemas.openxmlformats.org/officeDocument/2006/relationships/slide" Target="/ppt/slides/slide1.xml" Id="R92c2baec0494439d" /><Relationship Type="http://schemas.openxmlformats.org/officeDocument/2006/relationships/slide" Target="/ppt/slides/slide2.xml" Id="R80098f7168ad4269" /><Relationship Type="http://schemas.openxmlformats.org/officeDocument/2006/relationships/slide" Target="/ppt/slides/slide3.xml" Id="R994b5f223540420f" /><Relationship Type="http://schemas.openxmlformats.org/officeDocument/2006/relationships/slide" Target="/ppt/slides/slide4.xml" Id="R5c47a553450e487f" /><Relationship Type="http://schemas.openxmlformats.org/officeDocument/2006/relationships/slide" Target="/ppt/slides/slide5.xml" Id="R0523ecc986864dbf" /><Relationship Type="http://schemas.openxmlformats.org/officeDocument/2006/relationships/slide" Target="/ppt/slides/slide6.xml" Id="R33401f9b5a494f21" /><Relationship Type="http://schemas.openxmlformats.org/officeDocument/2006/relationships/slide" Target="/ppt/slides/slide7.xml" Id="Rafd89e12943446b9" /><Relationship Type="http://schemas.openxmlformats.org/officeDocument/2006/relationships/slide" Target="/ppt/slides/slide8.xml" Id="R26b4cd6f78c04e28" /><Relationship Type="http://schemas.openxmlformats.org/officeDocument/2006/relationships/slide" Target="/ppt/slides/slide9.xml" Id="Rfc478b42f2f8476c" /><Relationship Type="http://schemas.openxmlformats.org/officeDocument/2006/relationships/slide" Target="/ppt/slides/slide10.xml" Id="R01effa2c70a04c8e" /><Relationship Type="http://schemas.openxmlformats.org/officeDocument/2006/relationships/slide" Target="/ppt/slides/slide11.xml" Id="R738c410fd88043db" /><Relationship Type="http://schemas.openxmlformats.org/officeDocument/2006/relationships/slide" Target="/ppt/slides/slide12.xml" Id="R601d454d444649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1fe00367948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6b60724a104c33" /><Relationship Type="http://schemas.openxmlformats.org/officeDocument/2006/relationships/notesMaster" Target="/ppt/notesMasters/notesMaster1.xml" Id="Rdeedc69839bb44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e948373306498d" /><Relationship Type="http://schemas.openxmlformats.org/officeDocument/2006/relationships/notesMaster" Target="/ppt/notesMasters/notesMaster1.xml" Id="R032c97e359ca4f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6a6337b48444b1" /><Relationship Type="http://schemas.openxmlformats.org/officeDocument/2006/relationships/notesMaster" Target="/ppt/notesMasters/notesMaster1.xml" Id="Ref19dd5f3ffb4b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089ab2b28d4d38" /><Relationship Type="http://schemas.openxmlformats.org/officeDocument/2006/relationships/notesMaster" Target="/ppt/notesMasters/notesMaster1.xml" Id="R2d8a05c3e8454e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67ec371324415f" /><Relationship Type="http://schemas.openxmlformats.org/officeDocument/2006/relationships/notesMaster" Target="/ppt/notesMasters/notesMaster1.xml" Id="Rcf783d6cef7f42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b32756f9d94b92" /><Relationship Type="http://schemas.openxmlformats.org/officeDocument/2006/relationships/notesMaster" Target="/ppt/notesMasters/notesMaster1.xml" Id="Rcb511ed6cbe943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1f19d4da064c09" /><Relationship Type="http://schemas.openxmlformats.org/officeDocument/2006/relationships/notesMaster" Target="/ppt/notesMasters/notesMaster1.xml" Id="R7843e96adb0a46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c96169b771411c" /><Relationship Type="http://schemas.openxmlformats.org/officeDocument/2006/relationships/notesMaster" Target="/ppt/notesMasters/notesMaster1.xml" Id="R8ffa027a97ad40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991e6a00664908" /><Relationship Type="http://schemas.openxmlformats.org/officeDocument/2006/relationships/notesMaster" Target="/ppt/notesMasters/notesMaster1.xml" Id="Rca4e99b988674e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021c3ad22e463c" /><Relationship Type="http://schemas.openxmlformats.org/officeDocument/2006/relationships/notesMaster" Target="/ppt/notesMasters/notesMaster1.xml" Id="R8e81a06a14e341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c99d05e19e4036" /><Relationship Type="http://schemas.openxmlformats.org/officeDocument/2006/relationships/notesMaster" Target="/ppt/notesMasters/notesMaster1.xml" Id="R0cf6c6f644b644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50c18204b64035" /><Relationship Type="http://schemas.openxmlformats.org/officeDocument/2006/relationships/notesMaster" Target="/ppt/notesMasters/notesMaster1.xml" Id="R68138f4b4d3140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Source: sources/MTP.xlsx; revision sha256:0895674f2901b602daf998b8a7aa1516522ce0c301b23bfba941fcc1807977cd. Medium Term Plan!D9; Lesson register!F13. This is a supervised real cold-food service with practice payment only.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Self-contained reminders and role prompts are supplied. Check each learner’s actual role card without assuming previous teaching. Expected clear-down: put away and clean under the adult’s plan. The adult agrees and rehearses the actual stop signal with each learner individually before opening; no universal signal is assumed. Thank you acknowledges the customer politely. BLUE low energy; GREEN ready; AMBER tense; RED overwhelmed. Offer a brief pause or quieter station without public disclosure. Agree one return action privately. The adult takes over any food task or service position while a learner pauses.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Revisit one concrete service standard: accurate repeat-back. Adult checks that each learner understands the locally agreed stop signal and the return action. Use the quieter preparation station if needed; do not require front-of-house performance.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Exact source outcome. [QUAL] — agreed planner activity. The local checks do not replace the source outcome or invent official assessment wording.</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a complete handover through the adult, using an empty pot first. Then model practice payment only: the training example is one fruit pot at £1, paid with £2, change £1. Adult must approve the actual practice menu/price; no real money or charge. Allergy queries stop the order for the responsible adult to check written information.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Run checks together; record actual opening stock and float, not the worked example. Adult confirms the approved cold menu, ingredient/allergen record, storage/use plan, equipment, venue, invited staff and supervision. A fresh approved batch may be needed. Check actual item quantities and record them. Training float is £2 + £1 + £1 + 50p + 50p = £5, but actual values remain blank until counted. After counting practice money, wash and dry hands before handling food. Keep practice-money handling and ready-to-eat food preparation in separate agreed roles. A person who touches practice money or a phone, cleans, handles waste or touches hair/face washes and dries hands again before food handling. The adult checks this before any role switch.</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practical</a:t>
            </a:r>
          </a:p>
          <a:p xmlns:a="http://schemas.openxmlformats.org/drawingml/2006/main">
            <a:r>
              <a:t>Timing: 10 minutes.</a:t>
            </a:r>
          </a:p>
          <a:p xmlns:a="http://schemas.openxmlformats.org/drawingml/2006/main">
            <a:r>
              <a:t>10 minutes. First part of the source 18-minute You Do. Record actual start and finish; ten minutes is the planned service window, not an automatic duration. Adult observes each learner’s own contribution and support on VOC4-L2-E1. Use actual customer codes and orders. Learner may use quiet back-of-house work; evidence must describe that real role rather than pretend they performed every role. If readiness is unresolved, do not open; label empty-pot/card rehearsal and leave live-service outcome uncompleted.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record or clear down</a:t>
            </a:r>
          </a:p>
          <a:p xmlns:a="http://schemas.openxmlformats.org/drawingml/2006/main">
            <a:r>
              <a:t>Timing: 8 minutes.</a:t>
            </a:r>
          </a:p>
          <a:p xmlns:a="http://schemas.openxmlformats.org/drawingml/2006/main">
            <a:r>
              <a:t>8 minutes. Second part of the source 18-minute You Do. Close and clear down under the approved food-safety plan. Do not keep or reuse food unless the adult confirms the actual storage/use instruction. Feedback cards may be offered as customers finish or during closing so departed customers are not invented. Obtain real comments with customer codes only. Record any help and uncompleted clean-down work.</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VOC4-L2-E2 records actual counts and changes, with an explanation of any difference rather than a forced balance. File VOC4-L2-E1/E2/E3 in the evidence app. Planned time is 40 minutes, while actual active minutes remain blank until taught. Keep Careers minutes separate. No challenge-completion tick is automatic.</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Private check using actual observation and feedback. Accept speech, signing, pointing or exact scribing. If there was no service or no customer comment, record that and the next step rather than supply a fictional comment.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reference. Refer to the real role card, stock line and feedback form. Only the responsible adult checks and authorises food-related decisions.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Space: quiet role or agreed pause. Voice: own role choices, check questions and reflection. Audience: adult observes and actual staff customers give feedback. Influence: learner improves a service action or next step using a real comment. BLUE low energy; GREEN ready; AMBER tense; RED overwhelmed. Offer a brief pause or quieter station without public disclosure. Agree one return action privately. The adult takes over any food task or service position while a learner pauses. Use individual stations and agreed handovers through the responsible adult. No forced peer pair work, cold calling or class performance. Adults may read, rephrase and scribe exact words. They record prompts, actual actions and individual contribution; they do not invent observations or complete the learner’s choices. A plan, model or blank form is not completed evidence.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D9, E9, F9, G9, H9, I9, J9, K9; Challenge map &amp; hours A12, B12, C12, D12, E12, F12, G12, H12, I12, J12, L12, M12, N12; Lesson register B13, D13, E13, F13, G13, H13, I13, J13.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751c6482d54e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fc17b7d63343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5214bf9be346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6132b9073e49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c29138b6ce4b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72170c81874e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F0D6E-783E-4A7A-B19A-B5E0152D01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5BEFF2-428E-4D82-B017-DD72B178B0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DAC846-B7EC-4975-839F-766E2BFA80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C06736-B5EB-43E5-8580-49DAF0CCD5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A064DE-EB36-4FE0-83E7-25EB2BEC1F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F8B3A4-5194-4890-B818-7FE720CF94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81D2C2-2D33-4D3A-96C7-59DAFAAF21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901370-6D9D-48F7-B75A-762DAD8187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D8D235-5733-4E45-9E6D-301D5A23E7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F74F5A-945B-4D43-A23B-E07761F58E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82c0f7be794678" /><Relationship Type="http://schemas.openxmlformats.org/officeDocument/2006/relationships/slideLayout" Target="/ppt/slideLayouts/slideLayout1.xml" Id="Rd7a77fe727144013" /><Relationship Type="http://schemas.openxmlformats.org/officeDocument/2006/relationships/slideLayout" Target="/ppt/slideLayouts/slideLayout2.xml" Id="R952e22f81d584bad" /><Relationship Type="http://schemas.openxmlformats.org/officeDocument/2006/relationships/slideLayout" Target="/ppt/slideLayouts/slideLayout3.xml" Id="R0e1a67cfc1b646a2" /><Relationship Type="http://schemas.openxmlformats.org/officeDocument/2006/relationships/slideLayout" Target="/ppt/slideLayouts/slideLayout4.xml" Id="R83cb275b03e44250" /><Relationship Type="http://schemas.openxmlformats.org/officeDocument/2006/relationships/slideLayout" Target="/ppt/slideLayouts/slideLayout5.xml" Id="R70cea5bec07145bd" /><Relationship Type="http://schemas.openxmlformats.org/officeDocument/2006/relationships/slideLayout" Target="/ppt/slideLayouts/slideLayout6.xml" Id="Rb73a839fd8d24b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a77fe727144013"/>
    <p:sldLayoutId xmlns:r="http://schemas.openxmlformats.org/officeDocument/2006/relationships" id="2147483650" r:id="R952e22f81d584bad"/>
    <p:sldLayoutId xmlns:r="http://schemas.openxmlformats.org/officeDocument/2006/relationships" id="2147483651" r:id="R0e1a67cfc1b646a2"/>
    <p:sldLayoutId xmlns:r="http://schemas.openxmlformats.org/officeDocument/2006/relationships" id="2147483652" r:id="R83cb275b03e44250"/>
    <p:sldLayoutId xmlns:r="http://schemas.openxmlformats.org/officeDocument/2006/relationships" id="2147483653" r:id="R70cea5bec07145bd"/>
    <p:sldLayoutId xmlns:r="http://schemas.openxmlformats.org/officeDocument/2006/relationships" id="2147483654" r:id="Rb73a839fd8d24b56"/>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8f974ffb424ded" /><Relationship Type="http://schemas.openxmlformats.org/officeDocument/2006/relationships/notesSlide" Target="/ppt/notesSlides/notesSlide1.xml" Id="R89d85512803d47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f483830c814b44" /><Relationship Type="http://schemas.openxmlformats.org/officeDocument/2006/relationships/notesSlide" Target="/ppt/notesSlides/notesSlide2.xml" Id="R13c7993af3c947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ca558e79c941cb" /><Relationship Type="http://schemas.openxmlformats.org/officeDocument/2006/relationships/notesSlide" Target="/ppt/notesSlides/notesSlide3.xml" Id="Rcbc3c26a575440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12a491e956422e" /><Relationship Type="http://schemas.openxmlformats.org/officeDocument/2006/relationships/notesSlide" Target="/ppt/notesSlides/notesSlide4.xml" Id="Rea502b3906904f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28d07b61c9440b" /><Relationship Type="http://schemas.openxmlformats.org/officeDocument/2006/relationships/notesSlide" Target="/ppt/notesSlides/notesSlide5.xml" Id="Ref86bc094dc04b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8785646a674c88" /><Relationship Type="http://schemas.openxmlformats.org/officeDocument/2006/relationships/notesSlide" Target="/ppt/notesSlides/notesSlide6.xml" Id="Rae611ac726a54c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b229b4223443d3" /><Relationship Type="http://schemas.openxmlformats.org/officeDocument/2006/relationships/notesSlide" Target="/ppt/notesSlides/notesSlide7.xml" Id="R25935df5f86f46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7ac119490b43dc" /><Relationship Type="http://schemas.openxmlformats.org/officeDocument/2006/relationships/notesSlide" Target="/ppt/notesSlides/notesSlide8.xml" Id="R40b57f5aa1a345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7d3941bd624e83" /><Relationship Type="http://schemas.openxmlformats.org/officeDocument/2006/relationships/notesSlide" Target="/ppt/notesSlides/notesSlide9.xml" Id="R2fc86a83c5dc4e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ce9dec9c96496c" /><Relationship Type="http://schemas.openxmlformats.org/officeDocument/2006/relationships/notesSlide" Target="/ppt/notesSlides/notesSlide10.xml" Id="R30ccf9baab7047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c43b50de2e44ae" /><Relationship Type="http://schemas.openxmlformats.org/officeDocument/2006/relationships/notesSlide" Target="/ppt/notesSlides/notesSlide11.xml" Id="R3c05131cb6bc4d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9fbcdccbc345ac" /><Relationship Type="http://schemas.openxmlformats.org/officeDocument/2006/relationships/notesSlide" Target="/ppt/notesSlides/notesSlide12.xml" Id="R897a3ecd1288474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514E04A1-CF94-4328-B4C1-A29B84EE69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362A1F5-A4C2-401F-993B-93FC0004360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747EAC40-0321-40B7-A199-3C1622DEB7F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CB019C4D-1345-4E9C-895C-09E697BC5EDA}"/>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The Mission</a:t>
            </a:r>
          </a:p>
        </p:txBody>
      </p:sp>
      <p:sp>
        <p:nvSpPr>
          <p:cNvPr id="5" name="lesson-subtitle">
            <a:extLst xmlns:a="http://schemas.openxmlformats.org/drawingml/2006/main">
              <a:ext uri="{FF2B5EF4-FFF2-40B4-BE49-F238E27FC236}">
                <a16:creationId xmlns:a16="http://schemas.microsoft.com/office/drawing/2014/main" id="{8F711AC1-23CA-48C9-A867-F6C08ECDD85D}"/>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325D8A"/>
                </a:solidFill>
                <a:latin typeface="Arial"/>
                <a:ea typeface="Arial"/>
                <a:cs typeface="Arial"/>
              </a:defRPr>
            </a:defPPr>
            <a:lvl1pPr algn="l">
              <a:buNone/>
              <a:defRPr sz="2250" b="0">
                <a:solidFill>
                  <a:srgbClr val="325D8A"/>
                </a:solidFill>
                <a:latin typeface="Arial"/>
                <a:ea typeface="Arial"/>
                <a:cs typeface="Arial"/>
              </a:defRPr>
            </a:lvl1pPr>
            <a:lvl2pPr algn="l">
              <a:buNone/>
              <a:defRPr sz="2250" b="0">
                <a:solidFill>
                  <a:srgbClr val="325D8A"/>
                </a:solidFill>
                <a:latin typeface="Arial"/>
                <a:ea typeface="Arial"/>
                <a:cs typeface="Arial"/>
              </a:defRPr>
            </a:lvl2pPr>
            <a:lvl3pPr algn="l">
              <a:buNone/>
              <a:defRPr sz="2250" b="0">
                <a:solidFill>
                  <a:srgbClr val="325D8A"/>
                </a:solidFill>
                <a:latin typeface="Arial"/>
                <a:ea typeface="Arial"/>
                <a:cs typeface="Arial"/>
              </a:defRPr>
            </a:lvl3pPr>
            <a:lvl4pPr algn="l">
              <a:buNone/>
              <a:defRPr sz="2250" b="0">
                <a:solidFill>
                  <a:srgbClr val="325D8A"/>
                </a:solidFill>
                <a:latin typeface="Arial"/>
                <a:ea typeface="Arial"/>
                <a:cs typeface="Arial"/>
              </a:defRPr>
            </a:lvl4pPr>
            <a:lvl5pPr algn="l">
              <a:buNone/>
              <a:defRPr sz="2250" b="0">
                <a:solidFill>
                  <a:srgbClr val="325D8A"/>
                </a:solidFill>
                <a:latin typeface="Arial"/>
                <a:ea typeface="Arial"/>
                <a:cs typeface="Arial"/>
              </a:defRPr>
            </a:lvl5pPr>
            <a:lvl6pPr algn="l">
              <a:buNone/>
              <a:defRPr sz="2250" b="0">
                <a:solidFill>
                  <a:srgbClr val="325D8A"/>
                </a:solidFill>
                <a:latin typeface="Arial"/>
                <a:ea typeface="Arial"/>
                <a:cs typeface="Arial"/>
              </a:defRPr>
            </a:lvl6pPr>
            <a:lvl7pPr algn="l">
              <a:buNone/>
              <a:defRPr sz="2250" b="0">
                <a:solidFill>
                  <a:srgbClr val="325D8A"/>
                </a:solidFill>
                <a:latin typeface="Arial"/>
                <a:ea typeface="Arial"/>
                <a:cs typeface="Arial"/>
              </a:defRPr>
            </a:lvl7pPr>
            <a:lvl8pPr algn="l">
              <a:buNone/>
              <a:defRPr sz="2250" b="0">
                <a:solidFill>
                  <a:srgbClr val="325D8A"/>
                </a:solidFill>
                <a:latin typeface="Arial"/>
                <a:ea typeface="Arial"/>
                <a:cs typeface="Arial"/>
              </a:defRPr>
            </a:lvl8pPr>
            <a:lvl9pPr algn="l">
              <a:buNone/>
              <a:defRPr sz="2250" b="0">
                <a:solidFill>
                  <a:srgbClr val="325D8A"/>
                </a:solidFill>
                <a:latin typeface="Arial"/>
                <a:ea typeface="Arial"/>
                <a:cs typeface="Arial"/>
              </a:defRPr>
            </a:lvl9pPr>
          </a:lstStyle>
          <a:p xmlns:a="http://schemas.openxmlformats.org/drawingml/2006/main">
            <a:pPr algn="l">
              <a:buNone/>
              <a:defRPr sz="2250" b="0">
                <a:solidFill>
                  <a:srgbClr val="325D8A"/>
                </a:solidFill>
                <a:latin typeface="Arial"/>
                <a:ea typeface="Arial"/>
                <a:cs typeface="Arial"/>
              </a:defRPr>
            </a:pPr>
            <a:r>
              <a:rPr sz="2250" b="0">
                <a:solidFill>
                  <a:srgbClr val="325D8A"/>
                </a:solidFill>
                <a:latin typeface="Arial"/>
                <a:ea typeface="Arial"/>
                <a:cs typeface="Arial"/>
              </a:rPr>
              <a:t>Run the café for invited staff</a:t>
            </a:r>
          </a:p>
        </p:txBody>
      </p:sp>
      <p:sp>
        <p:nvSpPr>
          <p:cNvPr id="8" name="printed-id">
            <a:extLst xmlns:a="http://schemas.openxmlformats.org/drawingml/2006/main">
              <a:ext uri="{FF2B5EF4-FFF2-40B4-BE49-F238E27FC236}">
                <a16:creationId xmlns:a16="http://schemas.microsoft.com/office/drawing/2014/main" id="{80FF9482-F8D9-4F64-9912-D43D2DF8CD7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9" name="edition-label">
            <a:extLst xmlns:a="http://schemas.openxmlformats.org/drawingml/2006/main">
              <a:ext uri="{FF2B5EF4-FFF2-40B4-BE49-F238E27FC236}">
                <a16:creationId xmlns:a16="http://schemas.microsoft.com/office/drawing/2014/main" id="{84A5BB70-0DDB-4A69-9FDB-8B3F8B17966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53B07D4A-949A-4476-801C-90D70E93CDD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2A1F3734-8992-400D-92B3-49F411B97B93}"/>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Use your role. Check, serve, clear down.</a:t>
            </a:r>
          </a:p>
        </p:txBody>
      </p:sp>
      <p:sp>
        <p:nvSpPr>
          <p:cNvPr id="13" name="body-1">
            <a:extLst xmlns:a="http://schemas.openxmlformats.org/drawingml/2006/main">
              <a:ext uri="{FF2B5EF4-FFF2-40B4-BE49-F238E27FC236}">
                <a16:creationId xmlns:a16="http://schemas.microsoft.com/office/drawing/2014/main" id="{D6B41DF9-6A5D-46DE-B60A-F687D97D5694}"/>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Open only when the adult says ready.</a:t>
            </a:r>
          </a:p>
        </p:txBody>
      </p:sp>
    </p:spTree>
    <p:extLst>
      <p:ext uri="{BB962C8B-B14F-4D97-AF65-F5344CB8AC3E}">
        <p14:creationId xmlns:p14="http://schemas.microsoft.com/office/powerpoint/2010/main" val="1120905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161A4E09-B14E-45FC-A057-A3FD43BB57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A327B8A-8128-4C11-9CC9-E70E017AAF8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EC93BDB6-7648-45C8-9595-1F3FA27D40D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1EEB265F-6AEE-487D-A813-94EF21186769}"/>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D1F4E7B8-B4C9-432D-A3A4-8B9B45E31E72}"/>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4BBB428E-18DC-484A-A21E-6E2DE17FA59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2" name="edition-label">
            <a:extLst xmlns:a="http://schemas.openxmlformats.org/drawingml/2006/main">
              <a:ext uri="{FF2B5EF4-FFF2-40B4-BE49-F238E27FC236}">
                <a16:creationId xmlns:a16="http://schemas.microsoft.com/office/drawing/2014/main" id="{8AEC00EA-F7CF-4D00-861B-8C5A8A57F8FC}"/>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36343CE1-2F02-4519-B0DD-EEC1D0D9E1E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42CF3F35-9F33-44AC-80E0-62342F7EA274}"/>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Opening reminders: check with the adult; count stock.</a:t>
            </a:r>
          </a:p>
        </p:txBody>
      </p:sp>
      <p:sp>
        <p:nvSpPr>
          <p:cNvPr id="16" name="body-1">
            <a:extLst xmlns:a="http://schemas.openxmlformats.org/drawingml/2006/main">
              <a:ext uri="{FF2B5EF4-FFF2-40B4-BE49-F238E27FC236}">
                <a16:creationId xmlns:a16="http://schemas.microsoft.com/office/drawing/2014/main" id="{FDEEBA31-4356-4BD0-A9F0-8CF4833B80CB}"/>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Name your two opening checks.</a:t>
            </a:r>
          </a:p>
        </p:txBody>
      </p:sp>
      <p:sp>
        <p:nvSpPr>
          <p:cNvPr id="17" name="body-2">
            <a:extLst xmlns:a="http://schemas.openxmlformats.org/drawingml/2006/main">
              <a:ext uri="{FF2B5EF4-FFF2-40B4-BE49-F238E27FC236}">
                <a16:creationId xmlns:a16="http://schemas.microsoft.com/office/drawing/2014/main" id="{B9836304-53A2-4465-9984-546292FCD299}"/>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does clear down mean?</a:t>
            </a:r>
          </a:p>
        </p:txBody>
      </p:sp>
      <p:sp>
        <p:nvSpPr>
          <p:cNvPr id="18" name="body-3">
            <a:extLst xmlns:a="http://schemas.openxmlformats.org/drawingml/2006/main">
              <a:ext uri="{FF2B5EF4-FFF2-40B4-BE49-F238E27FC236}">
                <a16:creationId xmlns:a16="http://schemas.microsoft.com/office/drawing/2014/main" id="{FF312AF8-2EE7-4779-A4D0-8628A3C31314}"/>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is our agreed stop signal?</a:t>
            </a:r>
          </a:p>
        </p:txBody>
      </p:sp>
      <p:sp>
        <p:nvSpPr>
          <p:cNvPr id="19" name="body-4">
            <a:extLst xmlns:a="http://schemas.openxmlformats.org/drawingml/2006/main">
              <a:ext uri="{FF2B5EF4-FFF2-40B4-BE49-F238E27FC236}">
                <a16:creationId xmlns:a16="http://schemas.microsoft.com/office/drawing/2014/main" id="{8D770354-3084-4565-9D02-1A6E5BB9C0C6}"/>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Why say thank you to a customer?</a:t>
            </a:r>
          </a:p>
        </p:txBody>
      </p:sp>
      <p:sp>
        <p:nvSpPr>
          <p:cNvPr id="20" name="body-5">
            <a:extLst xmlns:a="http://schemas.openxmlformats.org/drawingml/2006/main">
              <a:ext uri="{FF2B5EF4-FFF2-40B4-BE49-F238E27FC236}">
                <a16:creationId xmlns:a16="http://schemas.microsoft.com/office/drawing/2014/main" id="{A4A39E84-486D-478E-961F-95357AB4E7AA}"/>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Choose a pause or quiet station.</a:t>
            </a:r>
          </a:p>
        </p:txBody>
      </p:sp>
    </p:spTree>
    <p:extLst>
      <p:ext uri="{BB962C8B-B14F-4D97-AF65-F5344CB8AC3E}">
        <p14:creationId xmlns:p14="http://schemas.microsoft.com/office/powerpoint/2010/main" val="467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B9403217-71CC-4ECB-81E6-85471A49E5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2EFD22E-6DA2-44A2-8073-38B98D34951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68086E66-B5FB-4F89-A532-A19245428B6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0A8CE2C7-2AAA-4AF3-89C6-140A4C90ECE9}"/>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Our service standard</a:t>
            </a:r>
          </a:p>
        </p:txBody>
      </p:sp>
      <p:sp>
        <p:nvSpPr>
          <p:cNvPr id="5" name="heading-rule">
            <a:extLst xmlns:a="http://schemas.openxmlformats.org/drawingml/2006/main">
              <a:ext uri="{FF2B5EF4-FFF2-40B4-BE49-F238E27FC236}">
                <a16:creationId xmlns:a16="http://schemas.microsoft.com/office/drawing/2014/main" id="{158DC9E9-BAD9-4EF1-8EEE-B6D8FCE1ADC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E65A504A-1378-4A75-83CD-79DA2104321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5" name="edition-label">
            <a:extLst xmlns:a="http://schemas.openxmlformats.org/drawingml/2006/main">
              <a:ext uri="{FF2B5EF4-FFF2-40B4-BE49-F238E27FC236}">
                <a16:creationId xmlns:a16="http://schemas.microsoft.com/office/drawing/2014/main" id="{37DEDE80-91B0-4A3A-B5D3-37F11FFD868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4537977A-A7FF-46D6-9EEF-AC353FE7A45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D8ED3E78-05EE-47AC-88E3-71332E1F3032}"/>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957F6E16-1BB2-4965-AC7C-0575B831FDF4}"/>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Repeat each order before the handover.</a:t>
            </a:r>
          </a:p>
        </p:txBody>
      </p:sp>
      <p:sp>
        <p:nvSpPr>
          <p:cNvPr id="20" name="step-number-1">
            <a:extLst xmlns:a="http://schemas.openxmlformats.org/drawingml/2006/main">
              <a:ext uri="{FF2B5EF4-FFF2-40B4-BE49-F238E27FC236}">
                <a16:creationId xmlns:a16="http://schemas.microsoft.com/office/drawing/2014/main" id="{7BD67FBE-06B5-4F97-B355-92151454CF79}"/>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DCDDC53D-3FC8-47C2-8667-9C3EC7977B65}"/>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Is that right?</a:t>
            </a:r>
          </a:p>
        </p:txBody>
      </p:sp>
      <p:sp>
        <p:nvSpPr>
          <p:cNvPr id="22" name="step-number-2">
            <a:extLst xmlns:a="http://schemas.openxmlformats.org/drawingml/2006/main">
              <a:ext uri="{FF2B5EF4-FFF2-40B4-BE49-F238E27FC236}">
                <a16:creationId xmlns:a16="http://schemas.microsoft.com/office/drawing/2014/main" id="{9991F617-5490-4EF8-AFB5-A2B693492F8B}"/>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18A2200A-C28D-4D34-9F53-88EF871B5A15}"/>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Agree the stop signal with the adult.</a:t>
            </a:r>
          </a:p>
        </p:txBody>
      </p:sp>
      <p:sp>
        <p:nvSpPr>
          <p:cNvPr id="24" name="step-number-3">
            <a:extLst xmlns:a="http://schemas.openxmlformats.org/drawingml/2006/main">
              <a:ext uri="{FF2B5EF4-FFF2-40B4-BE49-F238E27FC236}">
                <a16:creationId xmlns:a16="http://schemas.microsoft.com/office/drawing/2014/main" id="{26B8612D-668A-4B20-883E-BAC18DE41B6B}"/>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2A9DF14-ED66-4A27-905E-7FAF43F89585}"/>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If unsure, stop and ask.</a:t>
            </a:r>
          </a:p>
        </p:txBody>
      </p:sp>
    </p:spTree>
    <p:extLst>
      <p:ext uri="{BB962C8B-B14F-4D97-AF65-F5344CB8AC3E}">
        <p14:creationId xmlns:p14="http://schemas.microsoft.com/office/powerpoint/2010/main" val="8414786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FFC52E88-3A83-42E4-B025-84CC5F63FF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10F31D7-A967-4B34-8F16-1F90644B62E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10B51BDB-41A6-498C-BFE6-BFC745094CB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99F9800E-3EE9-42F3-BD98-ACB91BCBBF1F}"/>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23403918-B293-450D-8839-C42EA8420BF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F2FD765B-E0B9-4BD5-ADDA-B639A5C5C0C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1" name="edition-label">
            <a:extLst xmlns:a="http://schemas.openxmlformats.org/drawingml/2006/main">
              <a:ext uri="{FF2B5EF4-FFF2-40B4-BE49-F238E27FC236}">
                <a16:creationId xmlns:a16="http://schemas.microsoft.com/office/drawing/2014/main" id="{30F5862F-7C82-4439-BC69-D3D1D89842A2}"/>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19FD7D3F-3B97-4E3F-B18B-937D5110D2E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47FE4976-5D26-4D20-A808-9FB2D8DF1975}"/>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Complete the allocated role during a supervised ten-minute café service for invited staff and collect feedback.</a:t>
            </a:r>
          </a:p>
        </p:txBody>
      </p:sp>
      <p:sp>
        <p:nvSpPr>
          <p:cNvPr id="15" name="body-1">
            <a:extLst xmlns:a="http://schemas.openxmlformats.org/drawingml/2006/main">
              <a:ext uri="{FF2B5EF4-FFF2-40B4-BE49-F238E27FC236}">
                <a16:creationId xmlns:a16="http://schemas.microsoft.com/office/drawing/2014/main" id="{280DAF70-D96F-4259-9853-FDCE8F99CD7E}"/>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do my allocated role.</a:t>
            </a:r>
          </a:p>
        </p:txBody>
      </p:sp>
      <p:sp>
        <p:nvSpPr>
          <p:cNvPr id="16" name="body-2">
            <a:extLst xmlns:a="http://schemas.openxmlformats.org/drawingml/2006/main">
              <a:ext uri="{FF2B5EF4-FFF2-40B4-BE49-F238E27FC236}">
                <a16:creationId xmlns:a16="http://schemas.microsoft.com/office/drawing/2014/main" id="{6B790D4D-6961-43C9-9932-7F6F95468AFA}"/>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keep an accurate service record.</a:t>
            </a:r>
          </a:p>
        </p:txBody>
      </p:sp>
      <p:sp>
        <p:nvSpPr>
          <p:cNvPr id="17" name="body-3">
            <a:extLst xmlns:a="http://schemas.openxmlformats.org/drawingml/2006/main">
              <a:ext uri="{FF2B5EF4-FFF2-40B4-BE49-F238E27FC236}">
                <a16:creationId xmlns:a16="http://schemas.microsoft.com/office/drawing/2014/main" id="{2F642A83-456B-4CFB-95A0-470A2FB94E27}"/>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collect a useful customer comment.</a:t>
            </a:r>
          </a:p>
        </p:txBody>
      </p:sp>
    </p:spTree>
    <p:extLst>
      <p:ext uri="{BB962C8B-B14F-4D97-AF65-F5344CB8AC3E}">
        <p14:creationId xmlns:p14="http://schemas.microsoft.com/office/powerpoint/2010/main" val="1393555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302A4831-CBC3-4B7E-B301-B22FC163D0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DCCF059-3568-4649-A910-EE2BCE721DF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C2C89E39-023E-4E62-A13A-9639F4570B2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4A240FEF-4AE2-486D-8EA1-233D8A9C592B}"/>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Check and hand over</a:t>
            </a:r>
          </a:p>
        </p:txBody>
      </p:sp>
      <p:sp>
        <p:nvSpPr>
          <p:cNvPr id="5" name="heading-rule">
            <a:extLst xmlns:a="http://schemas.openxmlformats.org/drawingml/2006/main">
              <a:ext uri="{FF2B5EF4-FFF2-40B4-BE49-F238E27FC236}">
                <a16:creationId xmlns:a16="http://schemas.microsoft.com/office/drawing/2014/main" id="{B5B89251-77ED-415D-ACFC-F72DB8DEC13B}"/>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2B514563-036F-49A1-B054-1047CE6141E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2" name="edition-label">
            <a:extLst xmlns:a="http://schemas.openxmlformats.org/drawingml/2006/main">
              <a:ext uri="{FF2B5EF4-FFF2-40B4-BE49-F238E27FC236}">
                <a16:creationId xmlns:a16="http://schemas.microsoft.com/office/drawing/2014/main" id="{21B5AB2A-C35D-4CD7-8EED-8657633DCED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431A8968-A4B7-4E34-9CC6-35211BE0D29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diagram-step-0">
            <a:extLst xmlns:a="http://schemas.openxmlformats.org/drawingml/2006/main">
              <a:ext uri="{FF2B5EF4-FFF2-40B4-BE49-F238E27FC236}">
                <a16:creationId xmlns:a16="http://schemas.microsoft.com/office/drawing/2014/main" id="{231AFBE3-08D0-4F98-87B0-9FF35EF309FA}"/>
              </a:ext>
            </a:extLst>
          </p:cNvPr>
          <p:cNvSpPr>
            <a:spLocks xmlns:a="http://schemas.openxmlformats.org/drawingml/2006/main" noGrp="1"/>
          </p:cNvSpPr>
          <p:nvPr/>
        </p:nvSpPr>
        <p:spPr>
          <a:xfrm xmlns:a="http://schemas.openxmlformats.org/drawingml/2006/main">
            <a:off x="60960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1. Welcome and order</a:t>
            </a:r>
          </a:p>
        </p:txBody>
      </p:sp>
      <p:sp>
        <p:nvSpPr>
          <p:cNvPr id="16" name="diagram-step-1">
            <a:extLst xmlns:a="http://schemas.openxmlformats.org/drawingml/2006/main">
              <a:ext uri="{FF2B5EF4-FFF2-40B4-BE49-F238E27FC236}">
                <a16:creationId xmlns:a16="http://schemas.microsoft.com/office/drawing/2014/main" id="{0584A4FF-2D70-4B86-975C-5CA2501D8565}"/>
              </a:ext>
            </a:extLst>
          </p:cNvPr>
          <p:cNvSpPr>
            <a:spLocks xmlns:a="http://schemas.openxmlformats.org/drawingml/2006/main" noGrp="1"/>
          </p:cNvSpPr>
          <p:nvPr/>
        </p:nvSpPr>
        <p:spPr>
          <a:xfrm xmlns:a="http://schemas.openxmlformats.org/drawingml/2006/main">
            <a:off x="340995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2. Repeat and confirm</a:t>
            </a:r>
          </a:p>
        </p:txBody>
      </p:sp>
      <p:sp>
        <p:nvSpPr>
          <p:cNvPr id="17" name="diagram-step-2">
            <a:extLst xmlns:a="http://schemas.openxmlformats.org/drawingml/2006/main">
              <a:ext uri="{FF2B5EF4-FFF2-40B4-BE49-F238E27FC236}">
                <a16:creationId xmlns:a16="http://schemas.microsoft.com/office/drawing/2014/main" id="{43524F1A-FDD3-461B-ACC5-0CCD4F60E8CB}"/>
              </a:ext>
            </a:extLst>
          </p:cNvPr>
          <p:cNvSpPr>
            <a:spLocks xmlns:a="http://schemas.openxmlformats.org/drawingml/2006/main" noGrp="1"/>
          </p:cNvSpPr>
          <p:nvPr/>
        </p:nvSpPr>
        <p:spPr>
          <a:xfrm xmlns:a="http://schemas.openxmlformats.org/drawingml/2006/main">
            <a:off x="621030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3. Adult checks and releases</a:t>
            </a:r>
          </a:p>
        </p:txBody>
      </p:sp>
      <p:sp>
        <p:nvSpPr>
          <p:cNvPr id="18" name="diagram-step-3">
            <a:extLst xmlns:a="http://schemas.openxmlformats.org/drawingml/2006/main">
              <a:ext uri="{FF2B5EF4-FFF2-40B4-BE49-F238E27FC236}">
                <a16:creationId xmlns:a16="http://schemas.microsoft.com/office/drawing/2014/main" id="{B1F614C7-9178-4033-8D26-537868C40842}"/>
              </a:ext>
            </a:extLst>
          </p:cNvPr>
          <p:cNvSpPr>
            <a:spLocks xmlns:a="http://schemas.openxmlformats.org/drawingml/2006/main" noGrp="1"/>
          </p:cNvSpPr>
          <p:nvPr/>
        </p:nvSpPr>
        <p:spPr>
          <a:xfrm xmlns:a="http://schemas.openxmlformats.org/drawingml/2006/main">
            <a:off x="9010650" y="1695450"/>
            <a:ext cx="2552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325D8A"/>
                </a:solidFill>
                <a:latin typeface="Arial"/>
                <a:ea typeface="Arial"/>
                <a:cs typeface="Arial"/>
              </a:defRPr>
            </a:defPPr>
            <a:lvl1pPr algn="l">
              <a:defRPr sz="2100" b="1">
                <a:solidFill>
                  <a:srgbClr val="325D8A"/>
                </a:solidFill>
                <a:latin typeface="Arial"/>
                <a:ea typeface="Arial"/>
                <a:cs typeface="Arial"/>
              </a:defRPr>
            </a:lvl1pPr>
            <a:lvl2pPr algn="l">
              <a:defRPr sz="2100" b="1">
                <a:solidFill>
                  <a:srgbClr val="325D8A"/>
                </a:solidFill>
                <a:latin typeface="Arial"/>
                <a:ea typeface="Arial"/>
                <a:cs typeface="Arial"/>
              </a:defRPr>
            </a:lvl2pPr>
            <a:lvl3pPr algn="l">
              <a:defRPr sz="2100" b="1">
                <a:solidFill>
                  <a:srgbClr val="325D8A"/>
                </a:solidFill>
                <a:latin typeface="Arial"/>
                <a:ea typeface="Arial"/>
                <a:cs typeface="Arial"/>
              </a:defRPr>
            </a:lvl3pPr>
            <a:lvl4pPr algn="l">
              <a:defRPr sz="2100" b="1">
                <a:solidFill>
                  <a:srgbClr val="325D8A"/>
                </a:solidFill>
                <a:latin typeface="Arial"/>
                <a:ea typeface="Arial"/>
                <a:cs typeface="Arial"/>
              </a:defRPr>
            </a:lvl4pPr>
            <a:lvl5pPr algn="l">
              <a:defRPr sz="2100" b="1">
                <a:solidFill>
                  <a:srgbClr val="325D8A"/>
                </a:solidFill>
                <a:latin typeface="Arial"/>
                <a:ea typeface="Arial"/>
                <a:cs typeface="Arial"/>
              </a:defRPr>
            </a:lvl5pPr>
            <a:lvl6pPr algn="l">
              <a:defRPr sz="2100" b="1">
                <a:solidFill>
                  <a:srgbClr val="325D8A"/>
                </a:solidFill>
                <a:latin typeface="Arial"/>
                <a:ea typeface="Arial"/>
                <a:cs typeface="Arial"/>
              </a:defRPr>
            </a:lvl6pPr>
            <a:lvl7pPr algn="l">
              <a:defRPr sz="2100" b="1">
                <a:solidFill>
                  <a:srgbClr val="325D8A"/>
                </a:solidFill>
                <a:latin typeface="Arial"/>
                <a:ea typeface="Arial"/>
                <a:cs typeface="Arial"/>
              </a:defRPr>
            </a:lvl7pPr>
            <a:lvl8pPr algn="l">
              <a:defRPr sz="2100" b="1">
                <a:solidFill>
                  <a:srgbClr val="325D8A"/>
                </a:solidFill>
                <a:latin typeface="Arial"/>
                <a:ea typeface="Arial"/>
                <a:cs typeface="Arial"/>
              </a:defRPr>
            </a:lvl8pPr>
            <a:lvl9pPr algn="l">
              <a:defRPr sz="2100" b="1">
                <a:solidFill>
                  <a:srgbClr val="325D8A"/>
                </a:solidFill>
                <a:latin typeface="Arial"/>
                <a:ea typeface="Arial"/>
                <a:cs typeface="Arial"/>
              </a:defRPr>
            </a:lvl9pPr>
          </a:lstStyle>
          <a:p xmlns:a="http://schemas.openxmlformats.org/drawingml/2006/main">
            <a:pPr algn="l">
              <a:defRPr sz="2100" b="1">
                <a:solidFill>
                  <a:srgbClr val="325D8A"/>
                </a:solidFill>
                <a:latin typeface="Arial"/>
                <a:ea typeface="Arial"/>
                <a:cs typeface="Arial"/>
              </a:defRPr>
            </a:pPr>
            <a:r>
              <a:rPr sz="2100" b="1">
                <a:solidFill>
                  <a:srgbClr val="325D8A"/>
                </a:solidFill>
                <a:latin typeface="Arial"/>
                <a:ea typeface="Arial"/>
                <a:cs typeface="Arial"/>
              </a:rPr>
              <a:t>4. Serve and thank</a:t>
            </a:r>
          </a:p>
        </p:txBody>
      </p:sp>
      <p:sp>
        <p:nvSpPr>
          <p:cNvPr id="19" name="diagram-caption">
            <a:extLst xmlns:a="http://schemas.openxmlformats.org/drawingml/2006/main">
              <a:ext uri="{FF2B5EF4-FFF2-40B4-BE49-F238E27FC236}">
                <a16:creationId xmlns:a16="http://schemas.microsoft.com/office/drawing/2014/main" id="{D60E0B00-774F-4888-9D81-830D0A05D9B9}"/>
              </a:ext>
            </a:extLst>
          </p:cNvPr>
          <p:cNvSpPr>
            <a:spLocks xmlns:a="http://schemas.openxmlformats.org/drawingml/2006/main" noGrp="1"/>
          </p:cNvSpPr>
          <p:nvPr/>
        </p:nvSpPr>
        <p:spPr>
          <a:xfrm xmlns:a="http://schemas.openxmlformats.org/drawingml/2006/main">
            <a:off x="609600" y="26003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325D8A"/>
                </a:solidFill>
                <a:latin typeface="Arial"/>
                <a:ea typeface="Arial"/>
                <a:cs typeface="Arial"/>
              </a:defRPr>
            </a:defPPr>
            <a:lvl1pPr algn="l">
              <a:defRPr sz="1875" b="0">
                <a:solidFill>
                  <a:srgbClr val="325D8A"/>
                </a:solidFill>
                <a:latin typeface="Arial"/>
                <a:ea typeface="Arial"/>
                <a:cs typeface="Arial"/>
              </a:defRPr>
            </a:lvl1pPr>
            <a:lvl2pPr algn="l">
              <a:defRPr sz="1875" b="0">
                <a:solidFill>
                  <a:srgbClr val="325D8A"/>
                </a:solidFill>
                <a:latin typeface="Arial"/>
                <a:ea typeface="Arial"/>
                <a:cs typeface="Arial"/>
              </a:defRPr>
            </a:lvl2pPr>
            <a:lvl3pPr algn="l">
              <a:defRPr sz="1875" b="0">
                <a:solidFill>
                  <a:srgbClr val="325D8A"/>
                </a:solidFill>
                <a:latin typeface="Arial"/>
                <a:ea typeface="Arial"/>
                <a:cs typeface="Arial"/>
              </a:defRPr>
            </a:lvl3pPr>
            <a:lvl4pPr algn="l">
              <a:defRPr sz="1875" b="0">
                <a:solidFill>
                  <a:srgbClr val="325D8A"/>
                </a:solidFill>
                <a:latin typeface="Arial"/>
                <a:ea typeface="Arial"/>
                <a:cs typeface="Arial"/>
              </a:defRPr>
            </a:lvl4pPr>
            <a:lvl5pPr algn="l">
              <a:defRPr sz="1875" b="0">
                <a:solidFill>
                  <a:srgbClr val="325D8A"/>
                </a:solidFill>
                <a:latin typeface="Arial"/>
                <a:ea typeface="Arial"/>
                <a:cs typeface="Arial"/>
              </a:defRPr>
            </a:lvl5pPr>
            <a:lvl6pPr algn="l">
              <a:defRPr sz="1875" b="0">
                <a:solidFill>
                  <a:srgbClr val="325D8A"/>
                </a:solidFill>
                <a:latin typeface="Arial"/>
                <a:ea typeface="Arial"/>
                <a:cs typeface="Arial"/>
              </a:defRPr>
            </a:lvl6pPr>
            <a:lvl7pPr algn="l">
              <a:defRPr sz="1875" b="0">
                <a:solidFill>
                  <a:srgbClr val="325D8A"/>
                </a:solidFill>
                <a:latin typeface="Arial"/>
                <a:ea typeface="Arial"/>
                <a:cs typeface="Arial"/>
              </a:defRPr>
            </a:lvl7pPr>
            <a:lvl8pPr algn="l">
              <a:defRPr sz="1875" b="0">
                <a:solidFill>
                  <a:srgbClr val="325D8A"/>
                </a:solidFill>
                <a:latin typeface="Arial"/>
                <a:ea typeface="Arial"/>
                <a:cs typeface="Arial"/>
              </a:defRPr>
            </a:lvl8pPr>
            <a:lvl9pPr algn="l">
              <a:defRPr sz="1875" b="0">
                <a:solidFill>
                  <a:srgbClr val="325D8A"/>
                </a:solidFill>
                <a:latin typeface="Arial"/>
                <a:ea typeface="Arial"/>
                <a:cs typeface="Arial"/>
              </a:defRPr>
            </a:lvl9pPr>
          </a:lstStyle>
          <a:p xmlns:a="http://schemas.openxmlformats.org/drawingml/2006/main">
            <a:pPr algn="l">
              <a:defRPr sz="1875" b="0">
                <a:solidFill>
                  <a:srgbClr val="325D8A"/>
                </a:solidFill>
                <a:latin typeface="Arial"/>
                <a:ea typeface="Arial"/>
                <a:cs typeface="Arial"/>
              </a:defRPr>
            </a:pPr>
            <a:r>
              <a:rPr sz="1875" b="0">
                <a:solidFill>
                  <a:srgbClr val="325D8A"/>
                </a:solidFill>
                <a:latin typeface="Arial"/>
                <a:ea typeface="Arial"/>
                <a:cs typeface="Arial"/>
              </a:rPr>
              <a:t>Practice money only. Ask the responsible adult when unsure.</a:t>
            </a:r>
          </a:p>
        </p:txBody>
      </p:sp>
      <p:sp>
        <p:nvSpPr>
          <p:cNvPr id="20" name="body-0">
            <a:extLst xmlns:a="http://schemas.openxmlformats.org/drawingml/2006/main">
              <a:ext uri="{FF2B5EF4-FFF2-40B4-BE49-F238E27FC236}">
                <a16:creationId xmlns:a16="http://schemas.microsoft.com/office/drawing/2014/main" id="{F00E00F2-2D6A-4642-BBCC-4B92AE5ECD14}"/>
              </a:ext>
            </a:extLst>
          </p:cNvPr>
          <p:cNvSpPr>
            <a:spLocks xmlns:a="http://schemas.openxmlformats.org/drawingml/2006/main" noGrp="1"/>
          </p:cNvSpPr>
          <p:nvPr/>
        </p:nvSpPr>
        <p:spPr>
          <a:xfrm xmlns:a="http://schemas.openxmlformats.org/drawingml/2006/main">
            <a:off x="609600" y="33528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Adult confirms safe opening.</a:t>
            </a:r>
          </a:p>
        </p:txBody>
      </p:sp>
      <p:sp>
        <p:nvSpPr>
          <p:cNvPr id="21" name="body-1">
            <a:extLst xmlns:a="http://schemas.openxmlformats.org/drawingml/2006/main">
              <a:ext uri="{FF2B5EF4-FFF2-40B4-BE49-F238E27FC236}">
                <a16:creationId xmlns:a16="http://schemas.microsoft.com/office/drawing/2014/main" id="{A04DE8DC-0F13-4AA1-B0E9-52D8C7D64AB5}"/>
              </a:ext>
            </a:extLst>
          </p:cNvPr>
          <p:cNvSpPr>
            <a:spLocks xmlns:a="http://schemas.openxmlformats.org/drawingml/2006/main" noGrp="1"/>
          </p:cNvSpPr>
          <p:nvPr/>
        </p:nvSpPr>
        <p:spPr>
          <a:xfrm xmlns:a="http://schemas.openxmlformats.org/drawingml/2006/main">
            <a:off x="609600" y="378085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Count stock and practice money.</a:t>
            </a:r>
          </a:p>
        </p:txBody>
      </p:sp>
      <p:sp>
        <p:nvSpPr>
          <p:cNvPr id="22" name="body-2">
            <a:extLst xmlns:a="http://schemas.openxmlformats.org/drawingml/2006/main">
              <a:ext uri="{FF2B5EF4-FFF2-40B4-BE49-F238E27FC236}">
                <a16:creationId xmlns:a16="http://schemas.microsoft.com/office/drawing/2014/main" id="{248F7F83-B3A4-401F-8316-2D09BB697661}"/>
              </a:ext>
            </a:extLst>
          </p:cNvPr>
          <p:cNvSpPr>
            <a:spLocks xmlns:a="http://schemas.openxmlformats.org/drawingml/2006/main" noGrp="1"/>
          </p:cNvSpPr>
          <p:nvPr/>
        </p:nvSpPr>
        <p:spPr>
          <a:xfrm xmlns:a="http://schemas.openxmlformats.org/drawingml/2006/main">
            <a:off x="609600" y="42089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Greet. Take the order. Repeat it.</a:t>
            </a:r>
          </a:p>
        </p:txBody>
      </p:sp>
      <p:sp>
        <p:nvSpPr>
          <p:cNvPr id="23" name="body-3">
            <a:extLst xmlns:a="http://schemas.openxmlformats.org/drawingml/2006/main">
              <a:ext uri="{FF2B5EF4-FFF2-40B4-BE49-F238E27FC236}">
                <a16:creationId xmlns:a16="http://schemas.microsoft.com/office/drawing/2014/main" id="{F410EBCD-F1BD-4367-9E97-00B94D26E4A4}"/>
              </a:ext>
            </a:extLst>
          </p:cNvPr>
          <p:cNvSpPr>
            <a:spLocks xmlns:a="http://schemas.openxmlformats.org/drawingml/2006/main" noGrp="1"/>
          </p:cNvSpPr>
          <p:nvPr/>
        </p:nvSpPr>
        <p:spPr>
          <a:xfrm xmlns:a="http://schemas.openxmlformats.org/drawingml/2006/main">
            <a:off x="609600" y="463696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Pass the order to the preparation station.</a:t>
            </a:r>
          </a:p>
        </p:txBody>
      </p:sp>
      <p:sp>
        <p:nvSpPr>
          <p:cNvPr id="24" name="body-4">
            <a:extLst xmlns:a="http://schemas.openxmlformats.org/drawingml/2006/main">
              <a:ext uri="{FF2B5EF4-FFF2-40B4-BE49-F238E27FC236}">
                <a16:creationId xmlns:a16="http://schemas.microsoft.com/office/drawing/2014/main" id="{9D95C4B9-E107-4C4F-8486-98196237EBB2}"/>
              </a:ext>
            </a:extLst>
          </p:cNvPr>
          <p:cNvSpPr>
            <a:spLocks xmlns:a="http://schemas.openxmlformats.org/drawingml/2006/main" noGrp="1"/>
          </p:cNvSpPr>
          <p:nvPr/>
        </p:nvSpPr>
        <p:spPr>
          <a:xfrm xmlns:a="http://schemas.openxmlformats.org/drawingml/2006/main">
            <a:off x="609600" y="50650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Adult releases the approved item. Say thank you.</a:t>
            </a:r>
          </a:p>
        </p:txBody>
      </p:sp>
    </p:spTree>
    <p:extLst>
      <p:ext uri="{BB962C8B-B14F-4D97-AF65-F5344CB8AC3E}">
        <p14:creationId xmlns:p14="http://schemas.microsoft.com/office/powerpoint/2010/main" val="5352514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A1E97F82-617F-4E4A-BEF1-B6F5FE18B9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D7447F02-9306-44FB-AD50-3C085C6D53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A851550-7355-49E9-9668-D4643D4140D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BE46BBF0-E3C9-4691-9F44-AF92BA00BE2D}"/>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Run the opening checks</a:t>
            </a:r>
          </a:p>
        </p:txBody>
      </p:sp>
      <p:sp>
        <p:nvSpPr>
          <p:cNvPr id="5" name="heading-rule">
            <a:extLst xmlns:a="http://schemas.openxmlformats.org/drawingml/2006/main">
              <a:ext uri="{FF2B5EF4-FFF2-40B4-BE49-F238E27FC236}">
                <a16:creationId xmlns:a16="http://schemas.microsoft.com/office/drawing/2014/main" id="{02A8F3AF-4B84-4CFD-A6CC-151D627F4C2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46B3D745-4F89-46AE-B48D-6E9BBB0CEA6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5" name="edition-label">
            <a:extLst xmlns:a="http://schemas.openxmlformats.org/drawingml/2006/main">
              <a:ext uri="{FF2B5EF4-FFF2-40B4-BE49-F238E27FC236}">
                <a16:creationId xmlns:a16="http://schemas.microsoft.com/office/drawing/2014/main" id="{FC28D211-2FFE-463D-987A-0B95C925A6D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88B5C5E-705F-4D56-8D52-2CF1B652C82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body-0">
            <a:extLst xmlns:a="http://schemas.openxmlformats.org/drawingml/2006/main">
              <a:ext uri="{FF2B5EF4-FFF2-40B4-BE49-F238E27FC236}">
                <a16:creationId xmlns:a16="http://schemas.microsoft.com/office/drawing/2014/main" id="{C8CD0626-2170-4CC0-A7F3-128C9E26C20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Confirm your actual role and two opening checks.</a:t>
            </a:r>
          </a:p>
        </p:txBody>
      </p:sp>
      <p:sp>
        <p:nvSpPr>
          <p:cNvPr id="19" name="body-1">
            <a:extLst xmlns:a="http://schemas.openxmlformats.org/drawingml/2006/main">
              <a:ext uri="{FF2B5EF4-FFF2-40B4-BE49-F238E27FC236}">
                <a16:creationId xmlns:a16="http://schemas.microsoft.com/office/drawing/2014/main" id="{D97703F4-A10F-49B8-BFEC-18CE6744246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Count the actual opening stock.</a:t>
            </a:r>
          </a:p>
        </p:txBody>
      </p:sp>
      <p:sp>
        <p:nvSpPr>
          <p:cNvPr id="20" name="body-2">
            <a:extLst xmlns:a="http://schemas.openxmlformats.org/drawingml/2006/main">
              <a:ext uri="{FF2B5EF4-FFF2-40B4-BE49-F238E27FC236}">
                <a16:creationId xmlns:a16="http://schemas.microsoft.com/office/drawing/2014/main" id="{D943D402-6AF9-49E4-A8B0-D50D6FF544A6}"/>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Count the practice float together.</a:t>
            </a:r>
          </a:p>
        </p:txBody>
      </p:sp>
      <p:sp>
        <p:nvSpPr>
          <p:cNvPr id="21" name="body-3">
            <a:extLst xmlns:a="http://schemas.openxmlformats.org/drawingml/2006/main">
              <a:ext uri="{FF2B5EF4-FFF2-40B4-BE49-F238E27FC236}">
                <a16:creationId xmlns:a16="http://schemas.microsoft.com/office/drawing/2014/main" id="{8862A8F1-73C5-4E2B-A095-704ED60C571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Rehearse the agreed stop signal.</a:t>
            </a:r>
          </a:p>
        </p:txBody>
      </p:sp>
      <p:sp>
        <p:nvSpPr>
          <p:cNvPr id="22" name="body-4">
            <a:extLst xmlns:a="http://schemas.openxmlformats.org/drawingml/2006/main">
              <a:ext uri="{FF2B5EF4-FFF2-40B4-BE49-F238E27FC236}">
                <a16:creationId xmlns:a16="http://schemas.microsoft.com/office/drawing/2014/main" id="{4272A872-877B-4960-9834-248A87A41BDA}"/>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Open only after the adult confirms readiness.</a:t>
            </a:r>
          </a:p>
        </p:txBody>
      </p:sp>
    </p:spTree>
    <p:extLst>
      <p:ext uri="{BB962C8B-B14F-4D97-AF65-F5344CB8AC3E}">
        <p14:creationId xmlns:p14="http://schemas.microsoft.com/office/powerpoint/2010/main" val="15398464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2DC3247D-0C4A-4290-993C-D230A15140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2E9A763-F9E6-4970-9B55-5867F342823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YOU DO PRACTICAL</a:t>
            </a:r>
          </a:p>
        </p:txBody>
      </p:sp>
      <p:sp>
        <p:nvSpPr>
          <p:cNvPr id="3" name="slide-number-time">
            <a:extLst xmlns:a="http://schemas.openxmlformats.org/drawingml/2006/main">
              <a:ext uri="{FF2B5EF4-FFF2-40B4-BE49-F238E27FC236}">
                <a16:creationId xmlns:a16="http://schemas.microsoft.com/office/drawing/2014/main" id="{6CF93C97-A419-4040-9415-8C002B1CD501}"/>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10 min</a:t>
            </a:r>
          </a:p>
        </p:txBody>
      </p:sp>
      <p:sp>
        <p:nvSpPr>
          <p:cNvPr id="4" name="slide-title">
            <a:extLst xmlns:a="http://schemas.openxmlformats.org/drawingml/2006/main">
              <a:ext uri="{FF2B5EF4-FFF2-40B4-BE49-F238E27FC236}">
                <a16:creationId xmlns:a16="http://schemas.microsoft.com/office/drawing/2014/main" id="{DC8F5D28-78A8-4C39-9371-0A1E871A344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Ten-minute café service</a:t>
            </a:r>
          </a:p>
        </p:txBody>
      </p:sp>
      <p:sp>
        <p:nvSpPr>
          <p:cNvPr id="5" name="heading-rule">
            <a:extLst xmlns:a="http://schemas.openxmlformats.org/drawingml/2006/main">
              <a:ext uri="{FF2B5EF4-FFF2-40B4-BE49-F238E27FC236}">
                <a16:creationId xmlns:a16="http://schemas.microsoft.com/office/drawing/2014/main" id="{05B00E51-8134-45FE-A2AF-7B1E8EDBF46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AC4D87EA-2939-4765-B7EB-177DD086706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2" name="edition-label">
            <a:extLst xmlns:a="http://schemas.openxmlformats.org/drawingml/2006/main">
              <a:ext uri="{FF2B5EF4-FFF2-40B4-BE49-F238E27FC236}">
                <a16:creationId xmlns:a16="http://schemas.microsoft.com/office/drawing/2014/main" id="{115476BE-A4F2-414A-A3B6-FA2AB77FA37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87774FBF-CC14-4A1B-9D5D-4693FD9B384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031EEA0-ADC6-4EBD-81B6-ADCBBA2B739D}"/>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Invited staff only. Keep to your agreed role.</a:t>
            </a:r>
          </a:p>
        </p:txBody>
      </p:sp>
      <p:sp>
        <p:nvSpPr>
          <p:cNvPr id="16" name="body-1">
            <a:extLst xmlns:a="http://schemas.openxmlformats.org/drawingml/2006/main">
              <a:ext uri="{FF2B5EF4-FFF2-40B4-BE49-F238E27FC236}">
                <a16:creationId xmlns:a16="http://schemas.microsoft.com/office/drawing/2014/main" id="{D59ECF7F-E64B-4183-A115-A5C1C92B4408}"/>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Greet, repeat, hand over and serve as agreed.</a:t>
            </a:r>
          </a:p>
        </p:txBody>
      </p:sp>
      <p:sp>
        <p:nvSpPr>
          <p:cNvPr id="17" name="body-2">
            <a:extLst xmlns:a="http://schemas.openxmlformats.org/drawingml/2006/main">
              <a:ext uri="{FF2B5EF4-FFF2-40B4-BE49-F238E27FC236}">
                <a16:creationId xmlns:a16="http://schemas.microsoft.com/office/drawing/2014/main" id="{062C26C4-0C65-4846-8310-A54E77D91CF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the order record and practice money only. Keep money and food jobs separate.</a:t>
            </a:r>
          </a:p>
        </p:txBody>
      </p:sp>
      <p:sp>
        <p:nvSpPr>
          <p:cNvPr id="18" name="body-3">
            <a:extLst xmlns:a="http://schemas.openxmlformats.org/drawingml/2006/main">
              <a:ext uri="{FF2B5EF4-FFF2-40B4-BE49-F238E27FC236}">
                <a16:creationId xmlns:a16="http://schemas.microsoft.com/office/drawing/2014/main" id="{E22AA474-9FB2-4613-B319-5B477EBE854D}"/>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Ask the adult if unsure. Use the agreed stop signal.</a:t>
            </a:r>
          </a:p>
        </p:txBody>
      </p:sp>
      <p:sp>
        <p:nvSpPr>
          <p:cNvPr id="19" name="body-4">
            <a:extLst xmlns:a="http://schemas.openxmlformats.org/drawingml/2006/main">
              <a:ext uri="{FF2B5EF4-FFF2-40B4-BE49-F238E27FC236}">
                <a16:creationId xmlns:a16="http://schemas.microsoft.com/office/drawing/2014/main" id="{8D376CBF-CD49-46B2-BA82-74C75294697A}"/>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quieter station or tick-box record.</a:t>
            </a:r>
          </a:p>
        </p:txBody>
      </p:sp>
      <p:sp>
        <p:nvSpPr>
          <p:cNvPr id="20" name="body-5">
            <a:extLst xmlns:a="http://schemas.openxmlformats.org/drawingml/2006/main">
              <a:ext uri="{FF2B5EF4-FFF2-40B4-BE49-F238E27FC236}">
                <a16:creationId xmlns:a16="http://schemas.microsoft.com/office/drawing/2014/main" id="{D90E5CF6-960A-4E0F-A467-304433B6203B}"/>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check an order change with the adult.</a:t>
            </a:r>
          </a:p>
        </p:txBody>
      </p:sp>
    </p:spTree>
    <p:extLst>
      <p:ext uri="{BB962C8B-B14F-4D97-AF65-F5344CB8AC3E}">
        <p14:creationId xmlns:p14="http://schemas.microsoft.com/office/powerpoint/2010/main" val="1931869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F2CC3971-6367-4389-A8CA-EA01D04879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6C94C2A-6472-434A-A6E0-328DEDFE7BF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YOU DO RECORD OR CLEAR DOWN</a:t>
            </a:r>
          </a:p>
        </p:txBody>
      </p:sp>
      <p:sp>
        <p:nvSpPr>
          <p:cNvPr id="3" name="slide-number-time">
            <a:extLst xmlns:a="http://schemas.openxmlformats.org/drawingml/2006/main">
              <a:ext uri="{FF2B5EF4-FFF2-40B4-BE49-F238E27FC236}">
                <a16:creationId xmlns:a16="http://schemas.microsoft.com/office/drawing/2014/main" id="{5ECD2750-C947-4671-AAD8-414A82C81FCE}"/>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8 min</a:t>
            </a:r>
          </a:p>
        </p:txBody>
      </p:sp>
      <p:sp>
        <p:nvSpPr>
          <p:cNvPr id="4" name="slide-title">
            <a:extLst xmlns:a="http://schemas.openxmlformats.org/drawingml/2006/main">
              <a:ext uri="{FF2B5EF4-FFF2-40B4-BE49-F238E27FC236}">
                <a16:creationId xmlns:a16="http://schemas.microsoft.com/office/drawing/2014/main" id="{55F16BA9-1541-4250-8BD7-5E498B5E951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Clear down and ask for feedback</a:t>
            </a:r>
          </a:p>
        </p:txBody>
      </p:sp>
      <p:sp>
        <p:nvSpPr>
          <p:cNvPr id="5" name="heading-rule">
            <a:extLst xmlns:a="http://schemas.openxmlformats.org/drawingml/2006/main">
              <a:ext uri="{FF2B5EF4-FFF2-40B4-BE49-F238E27FC236}">
                <a16:creationId xmlns:a16="http://schemas.microsoft.com/office/drawing/2014/main" id="{DE03F264-9323-4C9D-A86D-F774D08882A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70CAE874-2893-479B-804E-1EF71157D86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3" name="edition-label">
            <a:extLst xmlns:a="http://schemas.openxmlformats.org/drawingml/2006/main">
              <a:ext uri="{FF2B5EF4-FFF2-40B4-BE49-F238E27FC236}">
                <a16:creationId xmlns:a16="http://schemas.microsoft.com/office/drawing/2014/main" id="{34BA83D7-2F7D-408F-8C5D-6280F0E0129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03D06EED-4119-430D-A798-D1224A0AF71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55B89982-B33A-445E-82F3-050575E04C8B}"/>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Close service when the adult directs.</a:t>
            </a:r>
          </a:p>
        </p:txBody>
      </p:sp>
      <p:sp>
        <p:nvSpPr>
          <p:cNvPr id="17" name="body-1">
            <a:extLst xmlns:a="http://schemas.openxmlformats.org/drawingml/2006/main">
              <a:ext uri="{FF2B5EF4-FFF2-40B4-BE49-F238E27FC236}">
                <a16:creationId xmlns:a16="http://schemas.microsoft.com/office/drawing/2014/main" id="{25F984FC-A524-4CF5-A235-03F70AFF5259}"/>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Follow the adult’s put-away and cleaning plan.</a:t>
            </a:r>
          </a:p>
        </p:txBody>
      </p:sp>
      <p:sp>
        <p:nvSpPr>
          <p:cNvPr id="18" name="body-2">
            <a:extLst xmlns:a="http://schemas.openxmlformats.org/drawingml/2006/main">
              <a:ext uri="{FF2B5EF4-FFF2-40B4-BE49-F238E27FC236}">
                <a16:creationId xmlns:a16="http://schemas.microsoft.com/office/drawing/2014/main" id="{11382C85-E50C-4663-9C65-DB3EE707AB1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Hand a feedback card to each customer.</a:t>
            </a:r>
          </a:p>
        </p:txBody>
      </p:sp>
      <p:sp>
        <p:nvSpPr>
          <p:cNvPr id="19" name="body-3">
            <a:extLst xmlns:a="http://schemas.openxmlformats.org/drawingml/2006/main">
              <a:ext uri="{FF2B5EF4-FFF2-40B4-BE49-F238E27FC236}">
                <a16:creationId xmlns:a16="http://schemas.microsoft.com/office/drawing/2014/main" id="{7E2DAFAE-75F3-4797-9663-02472E7C146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Keep the actual order records.</a:t>
            </a:r>
          </a:p>
        </p:txBody>
      </p:sp>
      <p:sp>
        <p:nvSpPr>
          <p:cNvPr id="20" name="body-4">
            <a:extLst xmlns:a="http://schemas.openxmlformats.org/drawingml/2006/main">
              <a:ext uri="{FF2B5EF4-FFF2-40B4-BE49-F238E27FC236}">
                <a16:creationId xmlns:a16="http://schemas.microsoft.com/office/drawing/2014/main" id="{AF2687C2-A75D-49ED-A778-DF935B497D82}"/>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useful customer comment helps us improve.</a:t>
            </a:r>
          </a:p>
        </p:txBody>
      </p:sp>
    </p:spTree>
    <p:extLst>
      <p:ext uri="{BB962C8B-B14F-4D97-AF65-F5344CB8AC3E}">
        <p14:creationId xmlns:p14="http://schemas.microsoft.com/office/powerpoint/2010/main" val="20251065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4E92340D-DD14-4F80-8DCE-2A627DBC4D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D6EA8D-0BF1-48AF-9E8C-50FE4D6266E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78A7926F-A252-4CD4-85BD-83858B7401F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2B5107C5-4D7E-4759-B414-6CA0F11FC2F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Count close and file</a:t>
            </a:r>
          </a:p>
        </p:txBody>
      </p:sp>
      <p:sp>
        <p:nvSpPr>
          <p:cNvPr id="5" name="heading-rule">
            <a:extLst xmlns:a="http://schemas.openxmlformats.org/drawingml/2006/main">
              <a:ext uri="{FF2B5EF4-FFF2-40B4-BE49-F238E27FC236}">
                <a16:creationId xmlns:a16="http://schemas.microsoft.com/office/drawing/2014/main" id="{CB664DF5-436E-46F4-BCAA-3E64F5B094E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412A9D34-ED16-4880-AF93-DBCD90FFE53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5" name="edition-label">
            <a:extLst xmlns:a="http://schemas.openxmlformats.org/drawingml/2006/main">
              <a:ext uri="{FF2B5EF4-FFF2-40B4-BE49-F238E27FC236}">
                <a16:creationId xmlns:a16="http://schemas.microsoft.com/office/drawing/2014/main" id="{D9EFC214-1590-4F75-9D19-115EBBEA44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F98B947D-9710-457A-B0C2-38E63FF22BF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2610D7B-C930-47CD-A18B-1242ADD0A703}"/>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AF254764-C819-4B58-9F42-21EF8852939B}"/>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Count usable closing stock and practice cash.</a:t>
            </a:r>
          </a:p>
        </p:txBody>
      </p:sp>
      <p:sp>
        <p:nvSpPr>
          <p:cNvPr id="20" name="step-number-1">
            <a:extLst xmlns:a="http://schemas.openxmlformats.org/drawingml/2006/main">
              <a:ext uri="{FF2B5EF4-FFF2-40B4-BE49-F238E27FC236}">
                <a16:creationId xmlns:a16="http://schemas.microsoft.com/office/drawing/2014/main" id="{971BA9E8-C4E8-4749-9308-758AF78FFD89}"/>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3585746-45F0-4713-85A5-215DABF94EE1}"/>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Check against the actual records with the adult.</a:t>
            </a:r>
          </a:p>
        </p:txBody>
      </p:sp>
      <p:sp>
        <p:nvSpPr>
          <p:cNvPr id="22" name="step-number-2">
            <a:extLst xmlns:a="http://schemas.openxmlformats.org/drawingml/2006/main">
              <a:ext uri="{FF2B5EF4-FFF2-40B4-BE49-F238E27FC236}">
                <a16:creationId xmlns:a16="http://schemas.microsoft.com/office/drawing/2014/main" id="{E65133FF-390C-4E3A-B7C1-9B1FD17B0BC0}"/>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554B7F42-14C5-4A35-A1FE-376E1295DE61}"/>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Keep feedback and your observation record.</a:t>
            </a:r>
          </a:p>
        </p:txBody>
      </p:sp>
      <p:sp>
        <p:nvSpPr>
          <p:cNvPr id="24" name="step-number-3">
            <a:extLst xmlns:a="http://schemas.openxmlformats.org/drawingml/2006/main">
              <a:ext uri="{FF2B5EF4-FFF2-40B4-BE49-F238E27FC236}">
                <a16:creationId xmlns:a16="http://schemas.microsoft.com/office/drawing/2014/main" id="{868A0123-DA4A-4267-91A9-7A75F8D48729}"/>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BFCC1637-B460-4B7C-A2C7-41EBB1F3DCAC}"/>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Log your actual contribution and active minutes.</a:t>
            </a:r>
          </a:p>
        </p:txBody>
      </p:sp>
    </p:spTree>
    <p:extLst>
      <p:ext uri="{BB962C8B-B14F-4D97-AF65-F5344CB8AC3E}">
        <p14:creationId xmlns:p14="http://schemas.microsoft.com/office/powerpoint/2010/main" val="1384191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188056F1-E4CD-4937-9ED9-B5D34B67E7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359BC80-AC85-4606-9FBB-684C8D43819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088CA1C3-FDEF-43B2-BFC7-B20D42A7AA6B}"/>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943359A1-F7F6-480A-938E-16C09273924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309D6CD3-4DC3-49EA-914E-54C5C8D2396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BDED09E3-E14E-4A47-893F-36C67B1683A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0" name="edition-label">
            <a:extLst xmlns:a="http://schemas.openxmlformats.org/drawingml/2006/main">
              <a:ext uri="{FF2B5EF4-FFF2-40B4-BE49-F238E27FC236}">
                <a16:creationId xmlns:a16="http://schemas.microsoft.com/office/drawing/2014/main" id="{E5A1847E-43CD-42CD-9BA9-06BB80B160B2}"/>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716892D6-5B93-4194-A5AF-4F393F0C484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8B4A5CFA-18A2-495D-918F-C9CE6AB3EC8E}"/>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did you contribute?</a:t>
            </a:r>
          </a:p>
        </p:txBody>
      </p:sp>
      <p:sp>
        <p:nvSpPr>
          <p:cNvPr id="14" name="body-1">
            <a:extLst xmlns:a="http://schemas.openxmlformats.org/drawingml/2006/main">
              <a:ext uri="{FF2B5EF4-FFF2-40B4-BE49-F238E27FC236}">
                <a16:creationId xmlns:a16="http://schemas.microsoft.com/office/drawing/2014/main" id="{2448DB45-CE6D-48A1-A405-388BFC56A3C1}"/>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did one customer actually say?</a:t>
            </a:r>
          </a:p>
        </p:txBody>
      </p:sp>
      <p:sp>
        <p:nvSpPr>
          <p:cNvPr id="15" name="body-2">
            <a:extLst xmlns:a="http://schemas.openxmlformats.org/drawingml/2006/main">
              <a:ext uri="{FF2B5EF4-FFF2-40B4-BE49-F238E27FC236}">
                <a16:creationId xmlns:a16="http://schemas.microsoft.com/office/drawing/2014/main" id="{632BE010-F764-4566-8B96-AA473A85A918}"/>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helped by __. The comment was __.</a:t>
            </a:r>
          </a:p>
        </p:txBody>
      </p:sp>
      <p:sp>
        <p:nvSpPr>
          <p:cNvPr id="16" name="body-3">
            <a:extLst xmlns:a="http://schemas.openxmlformats.org/drawingml/2006/main">
              <a:ext uri="{FF2B5EF4-FFF2-40B4-BE49-F238E27FC236}">
                <a16:creationId xmlns:a16="http://schemas.microsoft.com/office/drawing/2014/main" id="{3326874B-21AA-4905-8982-5F379C64653F}"/>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My next step is __.</a:t>
            </a:r>
          </a:p>
        </p:txBody>
      </p:sp>
    </p:spTree>
    <p:extLst>
      <p:ext uri="{BB962C8B-B14F-4D97-AF65-F5344CB8AC3E}">
        <p14:creationId xmlns:p14="http://schemas.microsoft.com/office/powerpoint/2010/main" val="14030184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C38B3772-58BE-4163-B3BE-B18574F934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FEE9AFC-1964-4A3E-B9DC-B103ED8D82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AF5F681C-6132-42F3-A303-D14C0790653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958EBEC7-F972-41E5-8CCE-5811F6B74D3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C7610828-EEBC-40DA-B5B0-ECBC40C304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5442CA80-CBDC-4C71-8119-5E2355BF854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3" name="edition-label">
            <a:extLst xmlns:a="http://schemas.openxmlformats.org/drawingml/2006/main">
              <a:ext uri="{FF2B5EF4-FFF2-40B4-BE49-F238E27FC236}">
                <a16:creationId xmlns:a16="http://schemas.microsoft.com/office/drawing/2014/main" id="{0C8B976D-9EB5-42AF-9642-B23F6830D1F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68DEED63-82A9-4331-A781-5E18367C12B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DB5E9B7-D7E1-45AF-951A-CF4A6EA57487}"/>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Role: your agreed job.</a:t>
            </a:r>
          </a:p>
        </p:txBody>
      </p:sp>
      <p:sp>
        <p:nvSpPr>
          <p:cNvPr id="17" name="body-1">
            <a:extLst xmlns:a="http://schemas.openxmlformats.org/drawingml/2006/main">
              <a:ext uri="{FF2B5EF4-FFF2-40B4-BE49-F238E27FC236}">
                <a16:creationId xmlns:a16="http://schemas.microsoft.com/office/drawing/2014/main" id="{078313C8-1E97-48F7-8E22-98E6C31E1443}"/>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Hygiene: keep food and the work area clean.</a:t>
            </a:r>
          </a:p>
        </p:txBody>
      </p:sp>
      <p:sp>
        <p:nvSpPr>
          <p:cNvPr id="18" name="body-2">
            <a:extLst xmlns:a="http://schemas.openxmlformats.org/drawingml/2006/main">
              <a:ext uri="{FF2B5EF4-FFF2-40B4-BE49-F238E27FC236}">
                <a16:creationId xmlns:a16="http://schemas.microsoft.com/office/drawing/2014/main" id="{5BBC9E0D-A0C2-4B22-B2F8-C1B09B78B135}"/>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Allergen: something that can cause an allergic reaction.</a:t>
            </a:r>
          </a:p>
        </p:txBody>
      </p:sp>
      <p:sp>
        <p:nvSpPr>
          <p:cNvPr id="19" name="body-3">
            <a:extLst xmlns:a="http://schemas.openxmlformats.org/drawingml/2006/main">
              <a:ext uri="{FF2B5EF4-FFF2-40B4-BE49-F238E27FC236}">
                <a16:creationId xmlns:a16="http://schemas.microsoft.com/office/drawing/2014/main" id="{F4E9868E-6644-462A-81E3-E9F7980A2BD4}"/>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Stock: items ready to use or serve.</a:t>
            </a:r>
          </a:p>
        </p:txBody>
      </p:sp>
      <p:sp>
        <p:nvSpPr>
          <p:cNvPr id="20" name="body-0">
            <a:extLst xmlns:a="http://schemas.openxmlformats.org/drawingml/2006/main">
              <a:ext uri="{FF2B5EF4-FFF2-40B4-BE49-F238E27FC236}">
                <a16:creationId xmlns:a16="http://schemas.microsoft.com/office/drawing/2014/main" id="{0797DC43-FD9C-4FEA-A956-35EF717C48C9}"/>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Float: practice money at the start.</a:t>
            </a:r>
          </a:p>
        </p:txBody>
      </p:sp>
      <p:sp>
        <p:nvSpPr>
          <p:cNvPr id="21" name="body-1">
            <a:extLst xmlns:a="http://schemas.openxmlformats.org/drawingml/2006/main">
              <a:ext uri="{FF2B5EF4-FFF2-40B4-BE49-F238E27FC236}">
                <a16:creationId xmlns:a16="http://schemas.microsoft.com/office/drawing/2014/main" id="{170D7764-9019-4E31-B254-84C8DC373633}"/>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Clear down: put away and clean.</a:t>
            </a:r>
          </a:p>
        </p:txBody>
      </p:sp>
      <p:sp>
        <p:nvSpPr>
          <p:cNvPr id="22" name="body-2">
            <a:extLst xmlns:a="http://schemas.openxmlformats.org/drawingml/2006/main">
              <a:ext uri="{FF2B5EF4-FFF2-40B4-BE49-F238E27FC236}">
                <a16:creationId xmlns:a16="http://schemas.microsoft.com/office/drawing/2014/main" id="{F47439BC-73FE-43ED-9734-B754B12C2340}"/>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Feedback: a useful comment.</a:t>
            </a:r>
          </a:p>
        </p:txBody>
      </p:sp>
    </p:spTree>
    <p:extLst>
      <p:ext uri="{BB962C8B-B14F-4D97-AF65-F5344CB8AC3E}">
        <p14:creationId xmlns:p14="http://schemas.microsoft.com/office/powerpoint/2010/main" val="646259534"/>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71EE133B-A394-401C-AEA1-3CDFD25B154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789B1499-651A-4229-8E45-889D49D47388}"/>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buNone/>
              <a:defRPr sz="1275" b="1">
                <a:solidFill>
                  <a:srgbClr val="325D8A"/>
                </a:solidFill>
                <a:latin typeface="Arial"/>
                <a:ea typeface="Arial"/>
                <a:cs typeface="Arial"/>
              </a:defRPr>
            </a:lvl1pPr>
            <a:lvl2pPr algn="l">
              <a:buNone/>
              <a:defRPr sz="1275" b="1">
                <a:solidFill>
                  <a:srgbClr val="325D8A"/>
                </a:solidFill>
                <a:latin typeface="Arial"/>
                <a:ea typeface="Arial"/>
                <a:cs typeface="Arial"/>
              </a:defRPr>
            </a:lvl2pPr>
            <a:lvl3pPr algn="l">
              <a:buNone/>
              <a:defRPr sz="1275" b="1">
                <a:solidFill>
                  <a:srgbClr val="325D8A"/>
                </a:solidFill>
                <a:latin typeface="Arial"/>
                <a:ea typeface="Arial"/>
                <a:cs typeface="Arial"/>
              </a:defRPr>
            </a:lvl3pPr>
            <a:lvl4pPr algn="l">
              <a:buNone/>
              <a:defRPr sz="1275" b="1">
                <a:solidFill>
                  <a:srgbClr val="325D8A"/>
                </a:solidFill>
                <a:latin typeface="Arial"/>
                <a:ea typeface="Arial"/>
                <a:cs typeface="Arial"/>
              </a:defRPr>
            </a:lvl4pPr>
            <a:lvl5pPr algn="l">
              <a:buNone/>
              <a:defRPr sz="1275" b="1">
                <a:solidFill>
                  <a:srgbClr val="325D8A"/>
                </a:solidFill>
                <a:latin typeface="Arial"/>
                <a:ea typeface="Arial"/>
                <a:cs typeface="Arial"/>
              </a:defRPr>
            </a:lvl5pPr>
            <a:lvl6pPr algn="l">
              <a:buNone/>
              <a:defRPr sz="1275" b="1">
                <a:solidFill>
                  <a:srgbClr val="325D8A"/>
                </a:solidFill>
                <a:latin typeface="Arial"/>
                <a:ea typeface="Arial"/>
                <a:cs typeface="Arial"/>
              </a:defRPr>
            </a:lvl6pPr>
            <a:lvl7pPr algn="l">
              <a:buNone/>
              <a:defRPr sz="1275" b="1">
                <a:solidFill>
                  <a:srgbClr val="325D8A"/>
                </a:solidFill>
                <a:latin typeface="Arial"/>
                <a:ea typeface="Arial"/>
                <a:cs typeface="Arial"/>
              </a:defRPr>
            </a:lvl7pPr>
            <a:lvl8pPr algn="l">
              <a:buNone/>
              <a:defRPr sz="1275" b="1">
                <a:solidFill>
                  <a:srgbClr val="325D8A"/>
                </a:solidFill>
                <a:latin typeface="Arial"/>
                <a:ea typeface="Arial"/>
                <a:cs typeface="Arial"/>
              </a:defRPr>
            </a:lvl8pPr>
            <a:lvl9pPr algn="l">
              <a:buNone/>
              <a:defRPr sz="1275" b="1">
                <a:solidFill>
                  <a:srgbClr val="325D8A"/>
                </a:solidFill>
                <a:latin typeface="Arial"/>
                <a:ea typeface="Arial"/>
                <a:cs typeface="Arial"/>
              </a:defRPr>
            </a:lvl9pPr>
          </a:lstStyle>
          <a:p xmlns:a="http://schemas.openxmlformats.org/drawingml/2006/main">
            <a:pPr algn="l">
              <a:buNone/>
              <a:defRPr sz="1275" b="1">
                <a:solidFill>
                  <a:srgbClr val="325D8A"/>
                </a:solidFill>
                <a:latin typeface="Arial"/>
                <a:ea typeface="Arial"/>
                <a:cs typeface="Arial"/>
              </a:defRPr>
            </a:pPr>
            <a:r>
              <a:rPr sz="1275" b="1">
                <a:solidFill>
                  <a:srgbClr val="325D8A"/>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A6EBBD91-6380-44C6-8A7E-F14A33E44EA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02C6F34-0AE1-4A4C-AF2B-E7805F260C7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D66CB730-F20E-4203-A099-38E72818E8D5}"/>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30A7A71E-0EF4-4600-A915-DD80C71A637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buNone/>
              <a:defRPr sz="1200" b="1">
                <a:solidFill>
                  <a:srgbClr val="325D8A"/>
                </a:solidFill>
                <a:latin typeface="Arial"/>
                <a:ea typeface="Arial"/>
                <a:cs typeface="Arial"/>
              </a:defRPr>
            </a:lvl1pPr>
            <a:lvl2pPr algn="l">
              <a:buNone/>
              <a:defRPr sz="1200" b="1">
                <a:solidFill>
                  <a:srgbClr val="325D8A"/>
                </a:solidFill>
                <a:latin typeface="Arial"/>
                <a:ea typeface="Arial"/>
                <a:cs typeface="Arial"/>
              </a:defRPr>
            </a:lvl2pPr>
            <a:lvl3pPr algn="l">
              <a:buNone/>
              <a:defRPr sz="1200" b="1">
                <a:solidFill>
                  <a:srgbClr val="325D8A"/>
                </a:solidFill>
                <a:latin typeface="Arial"/>
                <a:ea typeface="Arial"/>
                <a:cs typeface="Arial"/>
              </a:defRPr>
            </a:lvl3pPr>
            <a:lvl4pPr algn="l">
              <a:buNone/>
              <a:defRPr sz="1200" b="1">
                <a:solidFill>
                  <a:srgbClr val="325D8A"/>
                </a:solidFill>
                <a:latin typeface="Arial"/>
                <a:ea typeface="Arial"/>
                <a:cs typeface="Arial"/>
              </a:defRPr>
            </a:lvl4pPr>
            <a:lvl5pPr algn="l">
              <a:buNone/>
              <a:defRPr sz="1200" b="1">
                <a:solidFill>
                  <a:srgbClr val="325D8A"/>
                </a:solidFill>
                <a:latin typeface="Arial"/>
                <a:ea typeface="Arial"/>
                <a:cs typeface="Arial"/>
              </a:defRPr>
            </a:lvl5pPr>
            <a:lvl6pPr algn="l">
              <a:buNone/>
              <a:defRPr sz="1200" b="1">
                <a:solidFill>
                  <a:srgbClr val="325D8A"/>
                </a:solidFill>
                <a:latin typeface="Arial"/>
                <a:ea typeface="Arial"/>
                <a:cs typeface="Arial"/>
              </a:defRPr>
            </a:lvl6pPr>
            <a:lvl7pPr algn="l">
              <a:buNone/>
              <a:defRPr sz="1200" b="1">
                <a:solidFill>
                  <a:srgbClr val="325D8A"/>
                </a:solidFill>
                <a:latin typeface="Arial"/>
                <a:ea typeface="Arial"/>
                <a:cs typeface="Arial"/>
              </a:defRPr>
            </a:lvl7pPr>
            <a:lvl8pPr algn="l">
              <a:buNone/>
              <a:defRPr sz="1200" b="1">
                <a:solidFill>
                  <a:srgbClr val="325D8A"/>
                </a:solidFill>
                <a:latin typeface="Arial"/>
                <a:ea typeface="Arial"/>
                <a:cs typeface="Arial"/>
              </a:defRPr>
            </a:lvl8pPr>
            <a:lvl9pPr algn="l">
              <a:buNone/>
              <a:defRPr sz="1200" b="1">
                <a:solidFill>
                  <a:srgbClr val="325D8A"/>
                </a:solidFill>
                <a:latin typeface="Arial"/>
                <a:ea typeface="Arial"/>
                <a:cs typeface="Arial"/>
              </a:defRPr>
            </a:lvl9pPr>
          </a:lstStyle>
          <a:p xmlns:a="http://schemas.openxmlformats.org/drawingml/2006/main">
            <a:pPr algn="l">
              <a:buNone/>
              <a:defRPr sz="1200" b="1">
                <a:solidFill>
                  <a:srgbClr val="325D8A"/>
                </a:solidFill>
                <a:latin typeface="Arial"/>
                <a:ea typeface="Arial"/>
                <a:cs typeface="Arial"/>
              </a:defRPr>
            </a:pPr>
            <a:r>
              <a:rPr sz="1200" b="1">
                <a:solidFill>
                  <a:srgbClr val="325D8A"/>
                </a:solidFill>
                <a:latin typeface="Arial"/>
                <a:ea typeface="Arial"/>
                <a:cs typeface="Arial"/>
              </a:rPr>
              <a:t>VOC-LAUNCH-A2-W04-L2</a:t>
            </a:r>
          </a:p>
        </p:txBody>
      </p:sp>
      <p:sp>
        <p:nvSpPr>
          <p:cNvPr id="12" name="edition-label">
            <a:extLst xmlns:a="http://schemas.openxmlformats.org/drawingml/2006/main">
              <a:ext uri="{FF2B5EF4-FFF2-40B4-BE49-F238E27FC236}">
                <a16:creationId xmlns:a16="http://schemas.microsoft.com/office/drawing/2014/main" id="{C4DB3AA8-2432-4A33-BF4C-68D6C7B075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B758A12E-C263-444B-9EBB-2364F73CD5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CF922B3-C763-49B8-8E8F-62A5A7EC3DF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Confirm readiness and stop signal individually.</a:t>
            </a:r>
          </a:p>
        </p:txBody>
      </p:sp>
      <p:sp>
        <p:nvSpPr>
          <p:cNvPr id="16" name="body-1">
            <a:extLst xmlns:a="http://schemas.openxmlformats.org/drawingml/2006/main">
              <a:ext uri="{FF2B5EF4-FFF2-40B4-BE49-F238E27FC236}">
                <a16:creationId xmlns:a16="http://schemas.microsoft.com/office/drawing/2014/main" id="{A5AC01D8-BF42-45A7-84E9-63C490B58CAD}"/>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Ten-minute planned service; eight-minute clear-down.</a:t>
            </a:r>
          </a:p>
        </p:txBody>
      </p:sp>
      <p:sp>
        <p:nvSpPr>
          <p:cNvPr id="17" name="body-2">
            <a:extLst xmlns:a="http://schemas.openxmlformats.org/drawingml/2006/main">
              <a:ext uri="{FF2B5EF4-FFF2-40B4-BE49-F238E27FC236}">
                <a16:creationId xmlns:a16="http://schemas.microsoft.com/office/drawing/2014/main" id="{3FC4BC48-FD5E-4B10-A4C8-A553D0CE01DE}"/>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Practice money only; no real customer details.</a:t>
            </a:r>
          </a:p>
        </p:txBody>
      </p:sp>
      <p:sp>
        <p:nvSpPr>
          <p:cNvPr id="18" name="body-3">
            <a:extLst xmlns:a="http://schemas.openxmlformats.org/drawingml/2006/main">
              <a:ext uri="{FF2B5EF4-FFF2-40B4-BE49-F238E27FC236}">
                <a16:creationId xmlns:a16="http://schemas.microsoft.com/office/drawing/2014/main" id="{041D9CD2-543E-4EB9-A092-797AA2930A1F}"/>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each learner’s actual role and support.</a:t>
            </a:r>
          </a:p>
        </p:txBody>
      </p:sp>
      <p:sp>
        <p:nvSpPr>
          <p:cNvPr id="19" name="body-4">
            <a:extLst xmlns:a="http://schemas.openxmlformats.org/drawingml/2006/main">
              <a:ext uri="{FF2B5EF4-FFF2-40B4-BE49-F238E27FC236}">
                <a16:creationId xmlns:a16="http://schemas.microsoft.com/office/drawing/2014/main" id="{C20B9973-0858-442E-80DB-73DBE4AE7022}"/>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Tree>
    <p:extLst>
      <p:ext uri="{BB962C8B-B14F-4D97-AF65-F5344CB8AC3E}">
        <p14:creationId xmlns:p14="http://schemas.microsoft.com/office/powerpoint/2010/main" val="211555059"/>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Mission</dc:title>
  <dc:subject>VOC-LAUNCH-A2-W04-L2</dc:subject>
  <cp:lastModifiedBy/>
</cp:coreProperties>
</file>