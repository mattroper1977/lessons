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4b3a0296c74ff5" /><Relationship Type="http://schemas.openxmlformats.org/officeDocument/2006/relationships/extended-properties" Target="/docProps/app.xml" Id="R00853be4486a4f1e" /><Relationship Type="http://schemas.openxmlformats.org/officeDocument/2006/relationships/officeDocument" Target="/ppt/presentation.xml" Id="R12dcfab02a2d4b83" /></Relationships>
</file>

<file path=ppt/presentation.xml><?xml version="1.0" encoding="utf-8"?>
<p:presentation xmlns:p="http://schemas.openxmlformats.org/presentationml/2006/main">
  <p:sldMasterIdLst>
    <p:sldMasterId xmlns:r="http://schemas.openxmlformats.org/officeDocument/2006/relationships" id="2147483648" r:id="R110ae0a9531f45b4"/>
  </p:sldMasterIdLst>
  <p:notesMasterIdLst>
    <p:notesMasterId xmlns:r="http://schemas.openxmlformats.org/officeDocument/2006/relationships" r:id="Rec716708d0fb4a8f"/>
  </p:notesMasterIdLst>
  <p:sldIdLst>
    <p:sldId xmlns:r="http://schemas.openxmlformats.org/officeDocument/2006/relationships" id="256" r:id="Rdf0d8bf5d58f40f6"/>
    <p:sldId xmlns:r="http://schemas.openxmlformats.org/officeDocument/2006/relationships" id="257" r:id="R6f88ca9cc1214f2a"/>
    <p:sldId xmlns:r="http://schemas.openxmlformats.org/officeDocument/2006/relationships" id="258" r:id="R4851f0110a074e79"/>
    <p:sldId xmlns:r="http://schemas.openxmlformats.org/officeDocument/2006/relationships" id="259" r:id="R13d932d0c4814372"/>
    <p:sldId xmlns:r="http://schemas.openxmlformats.org/officeDocument/2006/relationships" id="260" r:id="R67361133eca04418"/>
    <p:sldId xmlns:r="http://schemas.openxmlformats.org/officeDocument/2006/relationships" id="261" r:id="Red9466808e674c56"/>
    <p:sldId xmlns:r="http://schemas.openxmlformats.org/officeDocument/2006/relationships" id="262" r:id="Ra82b23c4059342a5"/>
    <p:sldId xmlns:r="http://schemas.openxmlformats.org/officeDocument/2006/relationships" id="263" r:id="Rc9be83a3fe4848ef"/>
    <p:sldId xmlns:r="http://schemas.openxmlformats.org/officeDocument/2006/relationships" id="264" r:id="Rb0095cedec5e48b8"/>
    <p:sldId xmlns:r="http://schemas.openxmlformats.org/officeDocument/2006/relationships" id="265" r:id="R6c63b4f394a54241"/>
    <p:sldId xmlns:r="http://schemas.openxmlformats.org/officeDocument/2006/relationships" id="266" r:id="R73651965118341ca"/>
    <p:sldId xmlns:r="http://schemas.openxmlformats.org/officeDocument/2006/relationships" id="267" r:id="R70acf55315aa4c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9e04c2fb1a429a" /><Relationship Type="http://schemas.openxmlformats.org/officeDocument/2006/relationships/slideMaster" Target="/ppt/slideMasters/slideMaster1.xml" Id="R110ae0a9531f45b4" /><Relationship Type="http://schemas.openxmlformats.org/officeDocument/2006/relationships/notesMaster" Target="/ppt/notesMasters/notesMaster1.xml" Id="Rec716708d0fb4a8f" /><Relationship Type="http://schemas.openxmlformats.org/officeDocument/2006/relationships/presProps" Target="/ppt/presProps.xml" Id="Re225717215414eca" /><Relationship Type="http://schemas.openxmlformats.org/officeDocument/2006/relationships/tableStyles" Target="/ppt/tableStyles.xml" Id="R6d4baf90df1c4061" /><Relationship Type="http://schemas.openxmlformats.org/officeDocument/2006/relationships/slide" Target="/ppt/slides/slide1.xml" Id="Rdf0d8bf5d58f40f6" /><Relationship Type="http://schemas.openxmlformats.org/officeDocument/2006/relationships/slide" Target="/ppt/slides/slide2.xml" Id="R6f88ca9cc1214f2a" /><Relationship Type="http://schemas.openxmlformats.org/officeDocument/2006/relationships/slide" Target="/ppt/slides/slide3.xml" Id="R4851f0110a074e79" /><Relationship Type="http://schemas.openxmlformats.org/officeDocument/2006/relationships/slide" Target="/ppt/slides/slide4.xml" Id="R13d932d0c4814372" /><Relationship Type="http://schemas.openxmlformats.org/officeDocument/2006/relationships/slide" Target="/ppt/slides/slide5.xml" Id="R67361133eca04418" /><Relationship Type="http://schemas.openxmlformats.org/officeDocument/2006/relationships/slide" Target="/ppt/slides/slide6.xml" Id="Red9466808e674c56" /><Relationship Type="http://schemas.openxmlformats.org/officeDocument/2006/relationships/slide" Target="/ppt/slides/slide7.xml" Id="Ra82b23c4059342a5" /><Relationship Type="http://schemas.openxmlformats.org/officeDocument/2006/relationships/slide" Target="/ppt/slides/slide8.xml" Id="Rc9be83a3fe4848ef" /><Relationship Type="http://schemas.openxmlformats.org/officeDocument/2006/relationships/slide" Target="/ppt/slides/slide9.xml" Id="Rb0095cedec5e48b8" /><Relationship Type="http://schemas.openxmlformats.org/officeDocument/2006/relationships/slide" Target="/ppt/slides/slide10.xml" Id="R6c63b4f394a54241" /><Relationship Type="http://schemas.openxmlformats.org/officeDocument/2006/relationships/slide" Target="/ppt/slides/slide11.xml" Id="R73651965118341ca" /><Relationship Type="http://schemas.openxmlformats.org/officeDocument/2006/relationships/slide" Target="/ppt/slides/slide12.xml" Id="R70acf55315aa4c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c02b49175141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4a09c84f964d60" /><Relationship Type="http://schemas.openxmlformats.org/officeDocument/2006/relationships/notesMaster" Target="/ppt/notesMasters/notesMaster1.xml" Id="Rbea8eafde74340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c8d4af2f534220" /><Relationship Type="http://schemas.openxmlformats.org/officeDocument/2006/relationships/notesMaster" Target="/ppt/notesMasters/notesMaster1.xml" Id="Rba210fc7bcf849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5cc3520d134c5c" /><Relationship Type="http://schemas.openxmlformats.org/officeDocument/2006/relationships/notesMaster" Target="/ppt/notesMasters/notesMaster1.xml" Id="R2ba08b06b9504d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90b23bd1944436" /><Relationship Type="http://schemas.openxmlformats.org/officeDocument/2006/relationships/notesMaster" Target="/ppt/notesMasters/notesMaster1.xml" Id="Rf2f8982a266842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dbe42dce3943b7" /><Relationship Type="http://schemas.openxmlformats.org/officeDocument/2006/relationships/notesMaster" Target="/ppt/notesMasters/notesMaster1.xml" Id="R5489d2c91ff545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b5867c211f4a62" /><Relationship Type="http://schemas.openxmlformats.org/officeDocument/2006/relationships/notesMaster" Target="/ppt/notesMasters/notesMaster1.xml" Id="R7c1db79fa98643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7159820da34bda" /><Relationship Type="http://schemas.openxmlformats.org/officeDocument/2006/relationships/notesMaster" Target="/ppt/notesMasters/notesMaster1.xml" Id="Rd93e344b56ea48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3d97e601694197" /><Relationship Type="http://schemas.openxmlformats.org/officeDocument/2006/relationships/notesMaster" Target="/ppt/notesMasters/notesMaster1.xml" Id="Rca3b3e42f49b46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475e7715544ed7" /><Relationship Type="http://schemas.openxmlformats.org/officeDocument/2006/relationships/notesMaster" Target="/ppt/notesMasters/notesMaster1.xml" Id="R5f5ba2aac53449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68f93c4711401c" /><Relationship Type="http://schemas.openxmlformats.org/officeDocument/2006/relationships/notesMaster" Target="/ppt/notesMasters/notesMaster1.xml" Id="R2184565f0fe24c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c283b917f94508" /><Relationship Type="http://schemas.openxmlformats.org/officeDocument/2006/relationships/notesMaster" Target="/ppt/notesMasters/notesMaster1.xml" Id="Re3d32095aa6440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4db3e031b24850" /><Relationship Type="http://schemas.openxmlformats.org/officeDocument/2006/relationships/notesMaster" Target="/ppt/notesMasters/notesMaster1.xml" Id="Rf263ad96ca2d41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Title</a:t>
            </a:r>
          </a:p>
          <a:p xmlns:a="http://schemas.openxmlformats.org/drawingml/2006/main">
            <a:r>
              <a:t>Timing: 0 minutes.</a:t>
            </a:r>
          </a:p>
          <a:p xmlns:a="http://schemas.openxmlformats.org/drawingml/2006/main">
            <a:r>
              <a:t>Untimed. Explain that the learner works quietly with the adult customer and observer. Source: sources/MTP.xlsx; revision sha256:0895674f2901b602daf998b8a7aa1516522ce0c301b23bfba941fcc1807977cd. Medium Term Plan!D8; Lesson register!F11.</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D8, E8, F8, G8, H8, I8, J8, K8; Challenge map &amp; hours A11, B11, C11, D11, E11, F11, G11, H11, I11, K11, M11, N11; Lesson register B11, E11, F11, G11, H11, I11, J11.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Arrival and regulation</a:t>
            </a:r>
          </a:p>
          <a:p xmlns:a="http://schemas.openxmlformats.org/drawingml/2006/main">
            <a:r>
              <a:t>Timing: 4 minutes.</a:t>
            </a:r>
          </a:p>
          <a:p xmlns:a="http://schemas.openxmlformats.org/drawingml/2006/main">
            <a:r>
              <a:t>4 minutes. BLUE low energy; GREEN ready; AMBER tense; RED overwhelmed. Offer a brief pause, quiet breathing or a quieter station without requiring a public colour disclosure. Agree one return action privately. Expected: listen and apologise; check details are right; pause, keep clear and tell the adult, following agreed safety procedures; arguing blocks a calm solution. The spill is a spoken fictional prompt, not an enacted spill. Individual stations. An adult is the customer and observer. No pair work, cold calling or performance in front of the class. Adults may read, rephrase or scribe the learner’s exact words; they record the help and do not choose the learner’s assessed lines, decisions or tips. A model, blank form or planned duration is not completed individual evidence. These are paper-based training role plays. Do not prepare or serve real food or drinks, make a real booking, take payment or use personal customer details. Use the fictional guest codes and practice dates only. An allergy question means pause the order and ask the responsible adult to check the approved allergen information; never guess or promise a food is safe. A spill is discussed only: pause, keep clear and alert the adult. Follow the setting’s agreed safety procedures for any real incident.</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D8, E8, F8, G8, H8, I8, J8, K8; Challenge map &amp; hours A11, B11, C11, D11, E11, F11, G11, H11, I11, K11, M11, N11; Lesson register B11, E11, F11, G11, H11, I11, J11.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Retrieval and starter</a:t>
            </a:r>
          </a:p>
          <a:p xmlns:a="http://schemas.openxmlformats.org/drawingml/2006/main">
            <a:r>
              <a:t>Timing: 2 minutes.</a:t>
            </a:r>
          </a:p>
          <a:p xmlns:a="http://schemas.openxmlformats.org/drawingml/2006/main">
            <a:r>
              <a:t>2 minutes. Adult reads the customer line calmly. Apologise is the supplied best first choice; listen to the issue before explaining or seeking an agreed fix. Do not require shouting, confrontation or emotional escalation.</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D8, E8, F8, G8, H8, I8, J8, K8; Challenge map &amp; hours A11, B11, C11, D11, E11, F11, G11, H11, I11, K11, M11, N11; Lesson register B11, E11, F11, G11, H11, I11, J11.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Today</a:t>
            </a:r>
          </a:p>
          <a:p xmlns:a="http://schemas.openxmlformats.org/drawingml/2006/main">
            <a:r>
              <a:t>Timing: 0 minutes.</a:t>
            </a:r>
          </a:p>
          <a:p xmlns:a="http://schemas.openxmlformats.org/drawingml/2006/main">
            <a:r>
              <a:t>Untimed. Exact supplied outcome. [QUAL] — planner mapping. The observation checks are local teaching checks, not asserted official criterion wording.</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D8, E8, F8, G8, H8, I8, J8, K8; Challenge map &amp; hours A11, B11, C11, D11, E11, F11, G11, H11, I11, K11, M11, N11; Lesson register B11, E11, F11, G11, H11, I11, J11.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I DO</a:t>
            </a:r>
          </a:p>
          <a:p xmlns:a="http://schemas.openxmlformats.org/drawingml/2006/main">
            <a:r>
              <a:t>Timing: 5 minutes.</a:t>
            </a:r>
          </a:p>
          <a:p xmlns:a="http://schemas.openxmlformats.org/drawingml/2006/main">
            <a:r>
              <a:t>5 minutes. Model the complaint fully with the adult, then a booking on the form. Use only the fictional model Guest A, 14 June, two nights. The later assessment card uses different fictional details. A learner must not promise a refund or change without permission. These are paper-based training role plays. Do not prepare or serve real food or drinks, make a real booking, take payment or use personal customer details. Use the fictional guest codes and practice dates only. An allergy question means pause the order and ask the responsible adult to check the approved allergen information; never guess or promise a food is safe. A spill is discussed only: pause, keep clear and alert the adult. Follow the setting’s agreed safety procedures for any real incident.</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D8, E8, F8, G8, H8, I8, J8, K8; Challenge map &amp; hours A11, B11, C11, D11, E11, F11, G11, H11, I11, K11, M11, N11; Lesson register B11, E11, F11, G11, H11, I11, J11.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WE DO</a:t>
            </a:r>
          </a:p>
          <a:p xmlns:a="http://schemas.openxmlformats.org/drawingml/2006/main">
            <a:r>
              <a:t>Timing: 5 minutes.</a:t>
            </a:r>
          </a:p>
          <a:p xmlns:a="http://schemas.openxmlformats.org/drawingml/2006/main">
            <a:r>
              <a:t>5 minutes. Use the actual four-row checklist. Explain that the adult records the learner’s action or words and support, not just a tick. Hinge: a completed booking form has the wrong date. It needs checking and correction, even if neat. Script access is valid when recorded; no-script performance is an Independent route, not a rule for every learner.</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D8, E8, F8, G8, H8, I8, J8, K8; Challenge map &amp; hours A11, B11, C11, D11, E11, F11, G11, H11, I11, K11, M11, N11; Lesson register B11, E11, F11, G11, H11, I11, J11.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practice</a:t>
            </a:r>
          </a:p>
          <a:p xmlns:a="http://schemas.openxmlformats.org/drawingml/2006/main">
            <a:r>
              <a:t>Timing: 12 minutes.</a:t>
            </a:r>
          </a:p>
          <a:p xmlns:a="http://schemas.openxmlformats.org/drawingml/2006/main">
            <a:r>
              <a:t>12 minutes. First part of the 18-minute You Do. Aim about three minutes per situation. The order-taking situation includes two short order tickets, given one at a time. Use the four adult customer cards and blank records. Record what is actually completed if a pause or access need reduces the number; do not fill unperformed rows. Individual stations. An adult is the customer and observer. No pair work, cold calling or performance in front of the class. Adults may read, rephrase or scribe the learner’s exact words; they record the help and do not choose the learner’s assessed lines, decisions or tips. A model, blank form or planned duration is not completed individual evidence. These are paper-based training role plays. Do not prepare or serve real food or drinks, make a real booking, take payment or use personal customer details. Use the fictional guest codes and practice dates only. An allergy question means pause the order and ask the responsible adult to check the approved allergen information; never guess or promise a food is safe. A spill is discussed only: pause, keep clear and alert the adult. Follow the setting’s agreed safety procedures for any real incident.</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D8, E8, F8, G8, H8, I8, J8, K8; Challenge map &amp; hours A11, B11, C11, D11, E11, F11, G11, H11, I11, K11, M11, N11; Lesson register B11, E11, F11, G11, H11, I11, J11.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evidence</a:t>
            </a:r>
          </a:p>
          <a:p xmlns:a="http://schemas.openxmlformats.org/drawingml/2006/main">
            <a:r>
              <a:t>Timing: 6 minutes.</a:t>
            </a:r>
          </a:p>
          <a:p xmlns:a="http://schemas.openxmlformats.org/drawingml/2006/main">
            <a:r>
              <a:t>6 minutes. Completes the source 18-minute You Do. VOC3-L2-E2 records three learner-authored or selected tips and reasons. In the six-choice route, suitable choices are A, C and E. The learner gives the reason in their own way. Aspire explains one tip with a specific observed role-play example; do not invent the example. Adults may scribe exact words.</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D8, E8, F8, G8, H8, I8, J8, K8; Challenge map &amp; hours A11, B11, C11, D11, E11, F11, G11, H11, I11, K11, M11, N11; Lesson register B11, E11, F11, G11, H11, I11, J11.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Tidy and evidence check</a:t>
            </a:r>
          </a:p>
          <a:p xmlns:a="http://schemas.openxmlformats.org/drawingml/2006/main">
            <a:r>
              <a:t>Timing: 4 minutes.</a:t>
            </a:r>
          </a:p>
          <a:p xmlns:a="http://schemas.openxmlformats.org/drawingml/2006/main">
            <a:r>
              <a:t>4 minutes. File VOC3-L2-E1 and E2 using the evidence app under the approved workflow. Record actual date, active minutes, individual contribution and support only after the activity. Keep the script and draft corrections if useful. No evidence reference, performance tick or completion decision is pre-filled.</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D8, E8, F8, G8, H8, I8, J8, K8; Challenge map &amp; hours A11, B11, C11, D11, E11, F11, G11, H11, I11, K11, M11, N11; Lesson register B11, E11, F11, G11, H11, I11, J11.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Exit ticket</a:t>
            </a:r>
          </a:p>
          <a:p xmlns:a="http://schemas.openxmlformats.org/drawingml/2006/main">
            <a:r>
              <a:t>Timing: 2 minutes.</a:t>
            </a:r>
          </a:p>
          <a:p xmlns:a="http://schemas.openxmlformats.org/drawingml/2006/main">
            <a:r>
              <a:t>2 minutes. Private adult check, pointing, speech, signing or an agreed supported response. Use a reason linked to the customer, such as repeat-back lets them correct the order. Identify one next step from the actual work.</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D8, E8, F8, G8, H8, I8, J8, K8; Challenge map &amp; hours A11, B11, C11, D11, E11, F11, G11, H11, I11, K11, M11, N11; Lesson register B11, E11, F11, G11, H11, I11, J11.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Vocabulary</a:t>
            </a:r>
          </a:p>
          <a:p xmlns:a="http://schemas.openxmlformats.org/drawingml/2006/main">
            <a:r>
              <a:t>Timing: 0 minutes.</a:t>
            </a:r>
          </a:p>
          <a:p xmlns:a="http://schemas.openxmlformats.org/drawingml/2006/main">
            <a:r>
              <a:t>Untimed reference. Use a concrete line or action to support each meaning. Colour is not the only cue; the situation words and numbers identify the resources.</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D8, E8, F8, G8, H8, I8, J8, K8; Challenge map &amp; hours A11, B11, C11, D11, E11, F11, G11, H11, I11, K11, M11, N11; Lesson register B11, E11, F11, G11, H11, I11, J11.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Staff brief</a:t>
            </a:r>
          </a:p>
          <a:p xmlns:a="http://schemas.openxmlformats.org/drawingml/2006/main">
            <a:r>
              <a:t>Timing: 0 minutes.</a:t>
            </a:r>
          </a:p>
          <a:p xmlns:a="http://schemas.openxmlformats.org/drawingml/2006/main">
            <a:r>
              <a:t>Hidden staff slide. Space: quiet station and agreed pause. Voice: own lines and tips. Audience: adult listens and observes. Influence: learner corrects a detail or improves a response after feedback. Use agreed local feedback codes. Individual stations. An adult is the customer and observer. No pair work, cold calling or performance in front of the class. Adults may read, rephrase or scribe the learner’s exact words; they record the help and do not choose the learner’s assessed lines, decisions or tips. A model, blank form or planned duration is not completed individual evidence. These are paper-based training role plays. Do not prepare or serve real food or drinks, make a real booking, take payment or use personal customer details. Use the fictional guest codes and practice dates only. An allergy question means pause the order and ask the responsible adult to check the approved allergen information; never guess or promise a food is safe. A spill is discussed only: pause, keep clear and alert the adult. Follow the setting’s agreed safety procedures for any real incident.</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D8, E8, F8, G8, H8, I8, J8, K8; Challenge map &amp; hours A11, B11, C11, D11, E11, F11, G11, H11, I11, K11, M11, N11; Lesson register B11, E11, F11, G11, H11, I11, J11.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9c332cbfea4da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b270a74cbf4a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7e5c480719148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a7eae21e0045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80eec0a6a44ee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b928d2501245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2F0D6E-783E-4A7A-B19A-B5E0152D01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5BEFF2-428E-4D82-B017-DD72B178B0E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ADAC846-B7EC-4975-839F-766E2BFA80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C06736-B5EB-43E5-8580-49DAF0CCD5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6A064DE-EB36-4FE0-83E7-25EB2BEC1F7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5F8B3A4-5194-4890-B818-7FE720CF94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81D2C2-2D33-4D3A-96C7-59DAFAAF21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901370-6D9D-48F7-B75A-762DAD8187F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D8D235-5733-4E45-9E6D-301D5A23E7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F74F5A-945B-4D43-A23B-E07761F58E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8c8ef3723248c7" /><Relationship Type="http://schemas.openxmlformats.org/officeDocument/2006/relationships/slideLayout" Target="/ppt/slideLayouts/slideLayout1.xml" Id="R8ea6fd7bd588482f" /><Relationship Type="http://schemas.openxmlformats.org/officeDocument/2006/relationships/slideLayout" Target="/ppt/slideLayouts/slideLayout2.xml" Id="R7c478037bff74626" /><Relationship Type="http://schemas.openxmlformats.org/officeDocument/2006/relationships/slideLayout" Target="/ppt/slideLayouts/slideLayout3.xml" Id="R727d711a7cc94ca2" /><Relationship Type="http://schemas.openxmlformats.org/officeDocument/2006/relationships/slideLayout" Target="/ppt/slideLayouts/slideLayout4.xml" Id="R9fb226e4065d40a1" /><Relationship Type="http://schemas.openxmlformats.org/officeDocument/2006/relationships/slideLayout" Target="/ppt/slideLayouts/slideLayout5.xml" Id="Raf7bccf8687f49fd" /><Relationship Type="http://schemas.openxmlformats.org/officeDocument/2006/relationships/slideLayout" Target="/ppt/slideLayouts/slideLayout6.xml" Id="R337544b9c0b047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a6fd7bd588482f"/>
    <p:sldLayoutId xmlns:r="http://schemas.openxmlformats.org/officeDocument/2006/relationships" id="2147483650" r:id="R7c478037bff74626"/>
    <p:sldLayoutId xmlns:r="http://schemas.openxmlformats.org/officeDocument/2006/relationships" id="2147483651" r:id="R727d711a7cc94ca2"/>
    <p:sldLayoutId xmlns:r="http://schemas.openxmlformats.org/officeDocument/2006/relationships" id="2147483652" r:id="R9fb226e4065d40a1"/>
    <p:sldLayoutId xmlns:r="http://schemas.openxmlformats.org/officeDocument/2006/relationships" id="2147483653" r:id="Raf7bccf8687f49fd"/>
    <p:sldLayoutId xmlns:r="http://schemas.openxmlformats.org/officeDocument/2006/relationships" id="2147483654" r:id="R337544b9c0b04794"/>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5c691cee564e8f" /><Relationship Type="http://schemas.openxmlformats.org/officeDocument/2006/relationships/notesSlide" Target="/ppt/notesSlides/notesSlide1.xml" Id="R05c5305a6cca43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4f9394a13dd43d6" /><Relationship Type="http://schemas.openxmlformats.org/officeDocument/2006/relationships/notesSlide" Target="/ppt/notesSlides/notesSlide2.xml" Id="Rba976e64e80449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10fc7044634eb6" /><Relationship Type="http://schemas.openxmlformats.org/officeDocument/2006/relationships/notesSlide" Target="/ppt/notesSlides/notesSlide3.xml" Id="Ra5f271e059ff4a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454ce7b65944bd9" /><Relationship Type="http://schemas.openxmlformats.org/officeDocument/2006/relationships/notesSlide" Target="/ppt/notesSlides/notesSlide4.xml" Id="R20cd9d6165754e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0e52652de664bc9" /><Relationship Type="http://schemas.openxmlformats.org/officeDocument/2006/relationships/notesSlide" Target="/ppt/notesSlides/notesSlide5.xml" Id="R4d3cb4bae2984c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f877e4b2334dde" /><Relationship Type="http://schemas.openxmlformats.org/officeDocument/2006/relationships/notesSlide" Target="/ppt/notesSlides/notesSlide6.xml" Id="R97759720253f45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7718ccbe174300" /><Relationship Type="http://schemas.openxmlformats.org/officeDocument/2006/relationships/notesSlide" Target="/ppt/notesSlides/notesSlide7.xml" Id="Ra32842991d4b42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21914e2e757412f" /><Relationship Type="http://schemas.openxmlformats.org/officeDocument/2006/relationships/notesSlide" Target="/ppt/notesSlides/notesSlide8.xml" Id="Rf530765ee9644d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1bda98e580d4679" /><Relationship Type="http://schemas.openxmlformats.org/officeDocument/2006/relationships/notesSlide" Target="/ppt/notesSlides/notesSlide9.xml" Id="R5c4fe1d69df74e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dcbc622b5b147f7" /><Relationship Type="http://schemas.openxmlformats.org/officeDocument/2006/relationships/notesSlide" Target="/ppt/notesSlides/notesSlide10.xml" Id="R707a8474ffcc42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4b3199da6cc4f1f" /><Relationship Type="http://schemas.openxmlformats.org/officeDocument/2006/relationships/notesSlide" Target="/ppt/notesSlides/notesSlide11.xml" Id="R00ad055a13d54a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8a9f08ed69f4f58" /><Relationship Type="http://schemas.openxmlformats.org/officeDocument/2006/relationships/notesSlide" Target="/ppt/notesSlides/notesSlide12.xml" Id="Rc803b00414ca4e9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514E04A1-CF94-4328-B4C1-A29B84EE692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362A1F5-A4C2-401F-993B-93FC0004360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TITLE</a:t>
            </a:r>
          </a:p>
        </p:txBody>
      </p:sp>
      <p:sp>
        <p:nvSpPr>
          <p:cNvPr id="3" name="slide-number-time">
            <a:extLst xmlns:a="http://schemas.openxmlformats.org/drawingml/2006/main">
              <a:ext uri="{FF2B5EF4-FFF2-40B4-BE49-F238E27FC236}">
                <a16:creationId xmlns:a16="http://schemas.microsoft.com/office/drawing/2014/main" id="{747EAC40-0321-40B7-A199-3C1622DEB7FA}"/>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CB019C4D-1345-4E9C-895C-09E697BC5EDA}"/>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The Mission</a:t>
            </a:r>
          </a:p>
        </p:txBody>
      </p:sp>
      <p:sp>
        <p:nvSpPr>
          <p:cNvPr id="5" name="lesson-subtitle">
            <a:extLst xmlns:a="http://schemas.openxmlformats.org/drawingml/2006/main">
              <a:ext uri="{FF2B5EF4-FFF2-40B4-BE49-F238E27FC236}">
                <a16:creationId xmlns:a16="http://schemas.microsoft.com/office/drawing/2014/main" id="{8F711AC1-23CA-48C9-A867-F6C08ECDD85D}"/>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325D8A"/>
                </a:solidFill>
                <a:latin typeface="Arial"/>
                <a:ea typeface="Arial"/>
                <a:cs typeface="Arial"/>
              </a:defRPr>
            </a:defPPr>
            <a:lvl1pPr algn="l">
              <a:buNone/>
              <a:defRPr sz="2250" b="0">
                <a:solidFill>
                  <a:srgbClr val="325D8A"/>
                </a:solidFill>
                <a:latin typeface="Arial"/>
                <a:ea typeface="Arial"/>
                <a:cs typeface="Arial"/>
              </a:defRPr>
            </a:lvl1pPr>
            <a:lvl2pPr algn="l">
              <a:buNone/>
              <a:defRPr sz="2250" b="0">
                <a:solidFill>
                  <a:srgbClr val="325D8A"/>
                </a:solidFill>
                <a:latin typeface="Arial"/>
                <a:ea typeface="Arial"/>
                <a:cs typeface="Arial"/>
              </a:defRPr>
            </a:lvl2pPr>
            <a:lvl3pPr algn="l">
              <a:buNone/>
              <a:defRPr sz="2250" b="0">
                <a:solidFill>
                  <a:srgbClr val="325D8A"/>
                </a:solidFill>
                <a:latin typeface="Arial"/>
                <a:ea typeface="Arial"/>
                <a:cs typeface="Arial"/>
              </a:defRPr>
            </a:lvl3pPr>
            <a:lvl4pPr algn="l">
              <a:buNone/>
              <a:defRPr sz="2250" b="0">
                <a:solidFill>
                  <a:srgbClr val="325D8A"/>
                </a:solidFill>
                <a:latin typeface="Arial"/>
                <a:ea typeface="Arial"/>
                <a:cs typeface="Arial"/>
              </a:defRPr>
            </a:lvl4pPr>
            <a:lvl5pPr algn="l">
              <a:buNone/>
              <a:defRPr sz="2250" b="0">
                <a:solidFill>
                  <a:srgbClr val="325D8A"/>
                </a:solidFill>
                <a:latin typeface="Arial"/>
                <a:ea typeface="Arial"/>
                <a:cs typeface="Arial"/>
              </a:defRPr>
            </a:lvl5pPr>
            <a:lvl6pPr algn="l">
              <a:buNone/>
              <a:defRPr sz="2250" b="0">
                <a:solidFill>
                  <a:srgbClr val="325D8A"/>
                </a:solidFill>
                <a:latin typeface="Arial"/>
                <a:ea typeface="Arial"/>
                <a:cs typeface="Arial"/>
              </a:defRPr>
            </a:lvl6pPr>
            <a:lvl7pPr algn="l">
              <a:buNone/>
              <a:defRPr sz="2250" b="0">
                <a:solidFill>
                  <a:srgbClr val="325D8A"/>
                </a:solidFill>
                <a:latin typeface="Arial"/>
                <a:ea typeface="Arial"/>
                <a:cs typeface="Arial"/>
              </a:defRPr>
            </a:lvl7pPr>
            <a:lvl8pPr algn="l">
              <a:buNone/>
              <a:defRPr sz="2250" b="0">
                <a:solidFill>
                  <a:srgbClr val="325D8A"/>
                </a:solidFill>
                <a:latin typeface="Arial"/>
                <a:ea typeface="Arial"/>
                <a:cs typeface="Arial"/>
              </a:defRPr>
            </a:lvl8pPr>
            <a:lvl9pPr algn="l">
              <a:buNone/>
              <a:defRPr sz="2250" b="0">
                <a:solidFill>
                  <a:srgbClr val="325D8A"/>
                </a:solidFill>
                <a:latin typeface="Arial"/>
                <a:ea typeface="Arial"/>
                <a:cs typeface="Arial"/>
              </a:defRPr>
            </a:lvl9pPr>
          </a:lstStyle>
          <a:p xmlns:a="http://schemas.openxmlformats.org/drawingml/2006/main">
            <a:pPr algn="l">
              <a:buNone/>
              <a:defRPr sz="2250" b="0">
                <a:solidFill>
                  <a:srgbClr val="325D8A"/>
                </a:solidFill>
                <a:latin typeface="Arial"/>
                <a:ea typeface="Arial"/>
                <a:cs typeface="Arial"/>
              </a:defRPr>
            </a:pPr>
            <a:r>
              <a:rPr sz="2250" b="0">
                <a:solidFill>
                  <a:srgbClr val="325D8A"/>
                </a:solidFill>
                <a:latin typeface="Arial"/>
                <a:ea typeface="Arial"/>
                <a:cs typeface="Arial"/>
              </a:rPr>
              <a:t>Role plays and three top tips</a:t>
            </a:r>
          </a:p>
        </p:txBody>
      </p:sp>
      <p:sp>
        <p:nvSpPr>
          <p:cNvPr id="8" name="printed-id">
            <a:extLst xmlns:a="http://schemas.openxmlformats.org/drawingml/2006/main">
              <a:ext uri="{FF2B5EF4-FFF2-40B4-BE49-F238E27FC236}">
                <a16:creationId xmlns:a16="http://schemas.microsoft.com/office/drawing/2014/main" id="{80FF9482-F8D9-4F64-9912-D43D2DF8CD7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VOC-LAUNCH-A2-W03-L2</a:t>
            </a:r>
          </a:p>
        </p:txBody>
      </p:sp>
      <p:sp>
        <p:nvSpPr>
          <p:cNvPr id="9" name="edition-label">
            <a:extLst xmlns:a="http://schemas.openxmlformats.org/drawingml/2006/main">
              <a:ext uri="{FF2B5EF4-FFF2-40B4-BE49-F238E27FC236}">
                <a16:creationId xmlns:a16="http://schemas.microsoft.com/office/drawing/2014/main" id="{84A5BB70-0DDB-4A69-9FDB-8B3F8B17966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53B07D4A-949A-4476-801C-90D70E93CDD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23C50804-D91D-4B7D-98DE-0A1E582E3B4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How will you help the customer?</a:t>
            </a:r>
          </a:p>
        </p:txBody>
      </p:sp>
      <p:sp>
        <p:nvSpPr>
          <p:cNvPr id="13" name="body-1">
            <a:extLst xmlns:a="http://schemas.openxmlformats.org/drawingml/2006/main">
              <a:ext uri="{FF2B5EF4-FFF2-40B4-BE49-F238E27FC236}">
                <a16:creationId xmlns:a16="http://schemas.microsoft.com/office/drawing/2014/main" id="{BBEC6487-9A31-48AA-B8BD-EA33C3543B7C}"/>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Use your words, script or agreed communication support.</a:t>
            </a:r>
          </a:p>
        </p:txBody>
      </p:sp>
    </p:spTree>
    <p:extLst>
      <p:ext uri="{BB962C8B-B14F-4D97-AF65-F5344CB8AC3E}">
        <p14:creationId xmlns:p14="http://schemas.microsoft.com/office/powerpoint/2010/main" val="11209050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161A4E09-B14E-45FC-A057-A3FD43BB57D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A327B8A-8128-4C11-9CC9-E70E017AAF81}"/>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EC93BDB6-7648-45C8-9595-1F3FA27D40D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4 min</a:t>
            </a:r>
          </a:p>
        </p:txBody>
      </p:sp>
      <p:sp>
        <p:nvSpPr>
          <p:cNvPr id="4" name="slide-title">
            <a:extLst xmlns:a="http://schemas.openxmlformats.org/drawingml/2006/main">
              <a:ext uri="{FF2B5EF4-FFF2-40B4-BE49-F238E27FC236}">
                <a16:creationId xmlns:a16="http://schemas.microsoft.com/office/drawing/2014/main" id="{1EEB265F-6AEE-487D-A813-94EF21186769}"/>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Arrival task</a:t>
            </a:r>
          </a:p>
        </p:txBody>
      </p:sp>
      <p:sp>
        <p:nvSpPr>
          <p:cNvPr id="5" name="heading-rule">
            <a:extLst xmlns:a="http://schemas.openxmlformats.org/drawingml/2006/main">
              <a:ext uri="{FF2B5EF4-FFF2-40B4-BE49-F238E27FC236}">
                <a16:creationId xmlns:a16="http://schemas.microsoft.com/office/drawing/2014/main" id="{D1F4E7B8-B4C9-432D-A3A4-8B9B45E31E72}"/>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4BBB428E-18DC-484A-A21E-6E2DE17FA59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VOC-LAUNCH-A2-W03-L2</a:t>
            </a:r>
          </a:p>
        </p:txBody>
      </p:sp>
      <p:sp>
        <p:nvSpPr>
          <p:cNvPr id="12" name="edition-label">
            <a:extLst xmlns:a="http://schemas.openxmlformats.org/drawingml/2006/main">
              <a:ext uri="{FF2B5EF4-FFF2-40B4-BE49-F238E27FC236}">
                <a16:creationId xmlns:a16="http://schemas.microsoft.com/office/drawing/2014/main" id="{8AEC00EA-F7CF-4D00-861B-8C5A8A57F8FC}"/>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36343CE1-2F02-4519-B0DD-EEC1D0D9E1E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7357D6CE-0C6A-40A3-A75C-6C033FC47210}"/>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do you say first when a customer complains?</a:t>
            </a:r>
          </a:p>
        </p:txBody>
      </p:sp>
      <p:sp>
        <p:nvSpPr>
          <p:cNvPr id="16" name="body-1">
            <a:extLst xmlns:a="http://schemas.openxmlformats.org/drawingml/2006/main">
              <a:ext uri="{FF2B5EF4-FFF2-40B4-BE49-F238E27FC236}">
                <a16:creationId xmlns:a16="http://schemas.microsoft.com/office/drawing/2014/main" id="{8E429C9E-B076-4F80-A2D6-A725D7CFE5D9}"/>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does confirm mean?</a:t>
            </a:r>
          </a:p>
        </p:txBody>
      </p:sp>
      <p:sp>
        <p:nvSpPr>
          <p:cNvPr id="17" name="body-2">
            <a:extLst xmlns:a="http://schemas.openxmlformats.org/drawingml/2006/main">
              <a:ext uri="{FF2B5EF4-FFF2-40B4-BE49-F238E27FC236}">
                <a16:creationId xmlns:a16="http://schemas.microsoft.com/office/drawing/2014/main" id="{28F25C42-3736-4BAF-87A1-268F7F34B2C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 drink is spilt on a customer. What do you do?</a:t>
            </a:r>
          </a:p>
        </p:txBody>
      </p:sp>
      <p:sp>
        <p:nvSpPr>
          <p:cNvPr id="18" name="body-3">
            <a:extLst xmlns:a="http://schemas.openxmlformats.org/drawingml/2006/main">
              <a:ext uri="{FF2B5EF4-FFF2-40B4-BE49-F238E27FC236}">
                <a16:creationId xmlns:a16="http://schemas.microsoft.com/office/drawing/2014/main" id="{9B619038-245E-434A-BD53-823387D88005}"/>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Why should we avoid arguing about a complaint?</a:t>
            </a:r>
          </a:p>
        </p:txBody>
      </p:sp>
      <p:sp>
        <p:nvSpPr>
          <p:cNvPr id="19" name="body-4">
            <a:extLst xmlns:a="http://schemas.openxmlformats.org/drawingml/2006/main">
              <a:ext uri="{FF2B5EF4-FFF2-40B4-BE49-F238E27FC236}">
                <a16:creationId xmlns:a16="http://schemas.microsoft.com/office/drawing/2014/main" id="{EC4ACFFA-6592-4C9F-9DF3-34978312DC4F}"/>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BLUE / GREEN / AMBER / RED. Choose a pause or quiet station.</a:t>
            </a:r>
          </a:p>
        </p:txBody>
      </p:sp>
    </p:spTree>
    <p:extLst>
      <p:ext uri="{BB962C8B-B14F-4D97-AF65-F5344CB8AC3E}">
        <p14:creationId xmlns:p14="http://schemas.microsoft.com/office/powerpoint/2010/main" val="467671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B9403217-71CC-4ECB-81E6-85471A49E5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2EFD22E-6DA2-44A2-8073-38B98D349511}"/>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RETRIEVAL AND STARTER</a:t>
            </a:r>
          </a:p>
        </p:txBody>
      </p:sp>
      <p:sp>
        <p:nvSpPr>
          <p:cNvPr id="3" name="slide-number-time">
            <a:extLst xmlns:a="http://schemas.openxmlformats.org/drawingml/2006/main">
              <a:ext uri="{FF2B5EF4-FFF2-40B4-BE49-F238E27FC236}">
                <a16:creationId xmlns:a16="http://schemas.microsoft.com/office/drawing/2014/main" id="{68086E66-B5FB-4F89-A532-A19245428B6A}"/>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2 min</a:t>
            </a:r>
          </a:p>
        </p:txBody>
      </p:sp>
      <p:sp>
        <p:nvSpPr>
          <p:cNvPr id="4" name="slide-title">
            <a:extLst xmlns:a="http://schemas.openxmlformats.org/drawingml/2006/main">
              <a:ext uri="{FF2B5EF4-FFF2-40B4-BE49-F238E27FC236}">
                <a16:creationId xmlns:a16="http://schemas.microsoft.com/office/drawing/2014/main" id="{0A8CE2C7-2AAA-4AF3-89C6-140A4C90ECE9}"/>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The drink is cold</a:t>
            </a:r>
          </a:p>
        </p:txBody>
      </p:sp>
      <p:sp>
        <p:nvSpPr>
          <p:cNvPr id="5" name="heading-rule">
            <a:extLst xmlns:a="http://schemas.openxmlformats.org/drawingml/2006/main">
              <a:ext uri="{FF2B5EF4-FFF2-40B4-BE49-F238E27FC236}">
                <a16:creationId xmlns:a16="http://schemas.microsoft.com/office/drawing/2014/main" id="{158DC9E9-BAD9-4EF1-8EEE-B6D8FCE1ADC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E65A504A-1378-4A75-83CD-79DA2104321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VOC-LAUNCH-A2-W03-L2</a:t>
            </a:r>
          </a:p>
        </p:txBody>
      </p:sp>
      <p:sp>
        <p:nvSpPr>
          <p:cNvPr id="15" name="edition-label">
            <a:extLst xmlns:a="http://schemas.openxmlformats.org/drawingml/2006/main">
              <a:ext uri="{FF2B5EF4-FFF2-40B4-BE49-F238E27FC236}">
                <a16:creationId xmlns:a16="http://schemas.microsoft.com/office/drawing/2014/main" id="{37DEDE80-91B0-4A3A-B5D3-37F11FFD868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4537977A-A7FF-46D6-9EEF-AC353FE7A451}"/>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4C6AF5E4-EB7E-47CB-8CF5-30D22B775ABB}"/>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AD2B5C42-9E38-4954-A3F9-7FBF0137406E}"/>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A customer says: The drink is cold.</a:t>
            </a:r>
          </a:p>
        </p:txBody>
      </p:sp>
      <p:sp>
        <p:nvSpPr>
          <p:cNvPr id="20" name="step-number-1">
            <a:extLst xmlns:a="http://schemas.openxmlformats.org/drawingml/2006/main">
              <a:ext uri="{FF2B5EF4-FFF2-40B4-BE49-F238E27FC236}">
                <a16:creationId xmlns:a16="http://schemas.microsoft.com/office/drawing/2014/main" id="{1872C182-9843-4D11-9F0F-BD2626EAB08E}"/>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3E79BEDC-6EC0-477C-83ED-B82C7B4B2823}"/>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What do you say first?</a:t>
            </a:r>
          </a:p>
        </p:txBody>
      </p:sp>
      <p:sp>
        <p:nvSpPr>
          <p:cNvPr id="22" name="step-number-2">
            <a:extLst xmlns:a="http://schemas.openxmlformats.org/drawingml/2006/main">
              <a:ext uri="{FF2B5EF4-FFF2-40B4-BE49-F238E27FC236}">
                <a16:creationId xmlns:a16="http://schemas.microsoft.com/office/drawing/2014/main" id="{8394666A-7632-4D89-A9B2-25D43D7E492C}"/>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633A733A-B7B4-4065-83DF-FEAC2425C5A3}"/>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Choose: apologise / explain / ignore.</a:t>
            </a:r>
          </a:p>
        </p:txBody>
      </p:sp>
      <p:sp>
        <p:nvSpPr>
          <p:cNvPr id="24" name="step-number-3">
            <a:extLst xmlns:a="http://schemas.openxmlformats.org/drawingml/2006/main">
              <a:ext uri="{FF2B5EF4-FFF2-40B4-BE49-F238E27FC236}">
                <a16:creationId xmlns:a16="http://schemas.microsoft.com/office/drawing/2014/main" id="{2F8C1282-EC9E-420B-85F6-0A37D00336EF}"/>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CB14939-2790-4B25-9ADE-CC53C4B64A1E}"/>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Tell the adult why your first step helps.</a:t>
            </a:r>
          </a:p>
        </p:txBody>
      </p:sp>
    </p:spTree>
    <p:extLst>
      <p:ext uri="{BB962C8B-B14F-4D97-AF65-F5344CB8AC3E}">
        <p14:creationId xmlns:p14="http://schemas.microsoft.com/office/powerpoint/2010/main" val="8414786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FFC52E88-3A83-42E4-B025-84CC5F63FFF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310F31D7-A967-4B34-8F16-1F90644B62E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10B51BDB-41A6-498C-BFE6-BFC745094CB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99F9800E-3EE9-42F3-BD98-ACB91BCBBF1F}"/>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 I can</a:t>
            </a:r>
          </a:p>
        </p:txBody>
      </p:sp>
      <p:sp>
        <p:nvSpPr>
          <p:cNvPr id="5" name="heading-rule">
            <a:extLst xmlns:a="http://schemas.openxmlformats.org/drawingml/2006/main">
              <a:ext uri="{FF2B5EF4-FFF2-40B4-BE49-F238E27FC236}">
                <a16:creationId xmlns:a16="http://schemas.microsoft.com/office/drawing/2014/main" id="{23403918-B293-450D-8839-C42EA8420BF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F2FD765B-E0B9-4BD5-ADDA-B639A5C5C0C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VOC-LAUNCH-A2-W03-L2</a:t>
            </a:r>
          </a:p>
        </p:txBody>
      </p:sp>
      <p:sp>
        <p:nvSpPr>
          <p:cNvPr id="11" name="edition-label">
            <a:extLst xmlns:a="http://schemas.openxmlformats.org/drawingml/2006/main">
              <a:ext uri="{FF2B5EF4-FFF2-40B4-BE49-F238E27FC236}">
                <a16:creationId xmlns:a16="http://schemas.microsoft.com/office/drawing/2014/main" id="{30F5862F-7C82-4439-BC69-D3D1D89842A2}"/>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19FD7D3F-3B97-4E3F-B18B-937D5110D2E1}"/>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ADE74FA5-D382-4196-A35E-B3B1F0AA7C07}"/>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Take part in four customer role plays and produce three top tips for good customer service.</a:t>
            </a:r>
          </a:p>
        </p:txBody>
      </p:sp>
      <p:sp>
        <p:nvSpPr>
          <p:cNvPr id="15" name="body-1">
            <a:extLst xmlns:a="http://schemas.openxmlformats.org/drawingml/2006/main">
              <a:ext uri="{FF2B5EF4-FFF2-40B4-BE49-F238E27FC236}">
                <a16:creationId xmlns:a16="http://schemas.microsoft.com/office/drawing/2014/main" id="{DC03A9B0-4549-4F5D-84E5-D2FB732D5912}"/>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check an order and a booking.</a:t>
            </a:r>
          </a:p>
        </p:txBody>
      </p:sp>
      <p:sp>
        <p:nvSpPr>
          <p:cNvPr id="16" name="body-2">
            <a:extLst xmlns:a="http://schemas.openxmlformats.org/drawingml/2006/main">
              <a:ext uri="{FF2B5EF4-FFF2-40B4-BE49-F238E27FC236}">
                <a16:creationId xmlns:a16="http://schemas.microsoft.com/office/drawing/2014/main" id="{D6AF4895-C122-4DC9-BF9E-2873C00D3C98}"/>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respond to a complaint with care.</a:t>
            </a:r>
          </a:p>
        </p:txBody>
      </p:sp>
      <p:sp>
        <p:nvSpPr>
          <p:cNvPr id="17" name="body-3">
            <a:extLst xmlns:a="http://schemas.openxmlformats.org/drawingml/2006/main">
              <a:ext uri="{FF2B5EF4-FFF2-40B4-BE49-F238E27FC236}">
                <a16:creationId xmlns:a16="http://schemas.microsoft.com/office/drawing/2014/main" id="{5556DD9C-1243-4A92-A2A0-7756E3F3D891}"/>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give three useful customer-service tips.</a:t>
            </a:r>
          </a:p>
        </p:txBody>
      </p:sp>
    </p:spTree>
    <p:extLst>
      <p:ext uri="{BB962C8B-B14F-4D97-AF65-F5344CB8AC3E}">
        <p14:creationId xmlns:p14="http://schemas.microsoft.com/office/powerpoint/2010/main" val="13935556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302A4831-CBC3-4B7E-B301-B22FC163D0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DCCF059-3568-4649-A910-EE2BCE721DF2}"/>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C2C89E39-023E-4E62-A13A-9639F4570B2A}"/>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4A240FEF-4AE2-486D-8EA1-233D8A9C592B}"/>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Complaint and booking model</a:t>
            </a:r>
          </a:p>
        </p:txBody>
      </p:sp>
      <p:sp>
        <p:nvSpPr>
          <p:cNvPr id="5" name="heading-rule">
            <a:extLst xmlns:a="http://schemas.openxmlformats.org/drawingml/2006/main">
              <a:ext uri="{FF2B5EF4-FFF2-40B4-BE49-F238E27FC236}">
                <a16:creationId xmlns:a16="http://schemas.microsoft.com/office/drawing/2014/main" id="{B5B89251-77ED-415D-ACFC-F72DB8DEC13B}"/>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2B514563-036F-49A1-B054-1047CE6141E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VOC-LAUNCH-A2-W03-L2</a:t>
            </a:r>
          </a:p>
        </p:txBody>
      </p:sp>
      <p:sp>
        <p:nvSpPr>
          <p:cNvPr id="12" name="edition-label">
            <a:extLst xmlns:a="http://schemas.openxmlformats.org/drawingml/2006/main">
              <a:ext uri="{FF2B5EF4-FFF2-40B4-BE49-F238E27FC236}">
                <a16:creationId xmlns:a16="http://schemas.microsoft.com/office/drawing/2014/main" id="{21B5AB2A-C35D-4CD7-8EED-8657633DCED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431A8968-A4B7-4E34-9CC6-35211BE0D29C}"/>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diagram-step-0">
            <a:extLst xmlns:a="http://schemas.openxmlformats.org/drawingml/2006/main">
              <a:ext uri="{FF2B5EF4-FFF2-40B4-BE49-F238E27FC236}">
                <a16:creationId xmlns:a16="http://schemas.microsoft.com/office/drawing/2014/main" id="{9F5DEEDF-9B08-4A7B-9B8E-F992301A5976}"/>
              </a:ext>
            </a:extLst>
          </p:cNvPr>
          <p:cNvSpPr>
            <a:spLocks xmlns:a="http://schemas.openxmlformats.org/drawingml/2006/main" noGrp="1"/>
          </p:cNvSpPr>
          <p:nvPr/>
        </p:nvSpPr>
        <p:spPr>
          <a:xfrm xmlns:a="http://schemas.openxmlformats.org/drawingml/2006/main">
            <a:off x="609600" y="1695450"/>
            <a:ext cx="25527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325D8A"/>
                </a:solidFill>
                <a:latin typeface="Arial"/>
                <a:ea typeface="Arial"/>
                <a:cs typeface="Arial"/>
              </a:defRPr>
            </a:defPPr>
            <a:lvl1pPr algn="l">
              <a:defRPr sz="2100" b="1">
                <a:solidFill>
                  <a:srgbClr val="325D8A"/>
                </a:solidFill>
                <a:latin typeface="Arial"/>
                <a:ea typeface="Arial"/>
                <a:cs typeface="Arial"/>
              </a:defRPr>
            </a:lvl1pPr>
            <a:lvl2pPr algn="l">
              <a:defRPr sz="2100" b="1">
                <a:solidFill>
                  <a:srgbClr val="325D8A"/>
                </a:solidFill>
                <a:latin typeface="Arial"/>
                <a:ea typeface="Arial"/>
                <a:cs typeface="Arial"/>
              </a:defRPr>
            </a:lvl2pPr>
            <a:lvl3pPr algn="l">
              <a:defRPr sz="2100" b="1">
                <a:solidFill>
                  <a:srgbClr val="325D8A"/>
                </a:solidFill>
                <a:latin typeface="Arial"/>
                <a:ea typeface="Arial"/>
                <a:cs typeface="Arial"/>
              </a:defRPr>
            </a:lvl3pPr>
            <a:lvl4pPr algn="l">
              <a:defRPr sz="2100" b="1">
                <a:solidFill>
                  <a:srgbClr val="325D8A"/>
                </a:solidFill>
                <a:latin typeface="Arial"/>
                <a:ea typeface="Arial"/>
                <a:cs typeface="Arial"/>
              </a:defRPr>
            </a:lvl4pPr>
            <a:lvl5pPr algn="l">
              <a:defRPr sz="2100" b="1">
                <a:solidFill>
                  <a:srgbClr val="325D8A"/>
                </a:solidFill>
                <a:latin typeface="Arial"/>
                <a:ea typeface="Arial"/>
                <a:cs typeface="Arial"/>
              </a:defRPr>
            </a:lvl5pPr>
            <a:lvl6pPr algn="l">
              <a:defRPr sz="2100" b="1">
                <a:solidFill>
                  <a:srgbClr val="325D8A"/>
                </a:solidFill>
                <a:latin typeface="Arial"/>
                <a:ea typeface="Arial"/>
                <a:cs typeface="Arial"/>
              </a:defRPr>
            </a:lvl6pPr>
            <a:lvl7pPr algn="l">
              <a:defRPr sz="2100" b="1">
                <a:solidFill>
                  <a:srgbClr val="325D8A"/>
                </a:solidFill>
                <a:latin typeface="Arial"/>
                <a:ea typeface="Arial"/>
                <a:cs typeface="Arial"/>
              </a:defRPr>
            </a:lvl7pPr>
            <a:lvl8pPr algn="l">
              <a:defRPr sz="2100" b="1">
                <a:solidFill>
                  <a:srgbClr val="325D8A"/>
                </a:solidFill>
                <a:latin typeface="Arial"/>
                <a:ea typeface="Arial"/>
                <a:cs typeface="Arial"/>
              </a:defRPr>
            </a:lvl8pPr>
            <a:lvl9pPr algn="l">
              <a:defRPr sz="2100" b="1">
                <a:solidFill>
                  <a:srgbClr val="325D8A"/>
                </a:solidFill>
                <a:latin typeface="Arial"/>
                <a:ea typeface="Arial"/>
                <a:cs typeface="Arial"/>
              </a:defRPr>
            </a:lvl9pPr>
          </a:lstStyle>
          <a:p xmlns:a="http://schemas.openxmlformats.org/drawingml/2006/main">
            <a:pPr algn="l">
              <a:defRPr sz="2100" b="1">
                <a:solidFill>
                  <a:srgbClr val="325D8A"/>
                </a:solidFill>
                <a:latin typeface="Arial"/>
                <a:ea typeface="Arial"/>
                <a:cs typeface="Arial"/>
              </a:defRPr>
            </a:pPr>
            <a:r>
              <a:rPr sz="2100" b="1">
                <a:solidFill>
                  <a:srgbClr val="325D8A"/>
                </a:solidFill>
                <a:latin typeface="Arial"/>
                <a:ea typeface="Arial"/>
                <a:cs typeface="Arial"/>
              </a:rPr>
              <a:t>1. Listen</a:t>
            </a:r>
          </a:p>
        </p:txBody>
      </p:sp>
      <p:sp>
        <p:nvSpPr>
          <p:cNvPr id="16" name="diagram-step-1">
            <a:extLst xmlns:a="http://schemas.openxmlformats.org/drawingml/2006/main">
              <a:ext uri="{FF2B5EF4-FFF2-40B4-BE49-F238E27FC236}">
                <a16:creationId xmlns:a16="http://schemas.microsoft.com/office/drawing/2014/main" id="{97FAAA1E-317C-45F3-B4F5-41EF77A8F851}"/>
              </a:ext>
            </a:extLst>
          </p:cNvPr>
          <p:cNvSpPr>
            <a:spLocks xmlns:a="http://schemas.openxmlformats.org/drawingml/2006/main" noGrp="1"/>
          </p:cNvSpPr>
          <p:nvPr/>
        </p:nvSpPr>
        <p:spPr>
          <a:xfrm xmlns:a="http://schemas.openxmlformats.org/drawingml/2006/main">
            <a:off x="3409950" y="1695450"/>
            <a:ext cx="25527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325D8A"/>
                </a:solidFill>
                <a:latin typeface="Arial"/>
                <a:ea typeface="Arial"/>
                <a:cs typeface="Arial"/>
              </a:defRPr>
            </a:defPPr>
            <a:lvl1pPr algn="l">
              <a:defRPr sz="2100" b="1">
                <a:solidFill>
                  <a:srgbClr val="325D8A"/>
                </a:solidFill>
                <a:latin typeface="Arial"/>
                <a:ea typeface="Arial"/>
                <a:cs typeface="Arial"/>
              </a:defRPr>
            </a:lvl1pPr>
            <a:lvl2pPr algn="l">
              <a:defRPr sz="2100" b="1">
                <a:solidFill>
                  <a:srgbClr val="325D8A"/>
                </a:solidFill>
                <a:latin typeface="Arial"/>
                <a:ea typeface="Arial"/>
                <a:cs typeface="Arial"/>
              </a:defRPr>
            </a:lvl2pPr>
            <a:lvl3pPr algn="l">
              <a:defRPr sz="2100" b="1">
                <a:solidFill>
                  <a:srgbClr val="325D8A"/>
                </a:solidFill>
                <a:latin typeface="Arial"/>
                <a:ea typeface="Arial"/>
                <a:cs typeface="Arial"/>
              </a:defRPr>
            </a:lvl3pPr>
            <a:lvl4pPr algn="l">
              <a:defRPr sz="2100" b="1">
                <a:solidFill>
                  <a:srgbClr val="325D8A"/>
                </a:solidFill>
                <a:latin typeface="Arial"/>
                <a:ea typeface="Arial"/>
                <a:cs typeface="Arial"/>
              </a:defRPr>
            </a:lvl4pPr>
            <a:lvl5pPr algn="l">
              <a:defRPr sz="2100" b="1">
                <a:solidFill>
                  <a:srgbClr val="325D8A"/>
                </a:solidFill>
                <a:latin typeface="Arial"/>
                <a:ea typeface="Arial"/>
                <a:cs typeface="Arial"/>
              </a:defRPr>
            </a:lvl5pPr>
            <a:lvl6pPr algn="l">
              <a:defRPr sz="2100" b="1">
                <a:solidFill>
                  <a:srgbClr val="325D8A"/>
                </a:solidFill>
                <a:latin typeface="Arial"/>
                <a:ea typeface="Arial"/>
                <a:cs typeface="Arial"/>
              </a:defRPr>
            </a:lvl6pPr>
            <a:lvl7pPr algn="l">
              <a:defRPr sz="2100" b="1">
                <a:solidFill>
                  <a:srgbClr val="325D8A"/>
                </a:solidFill>
                <a:latin typeface="Arial"/>
                <a:ea typeface="Arial"/>
                <a:cs typeface="Arial"/>
              </a:defRPr>
            </a:lvl7pPr>
            <a:lvl8pPr algn="l">
              <a:defRPr sz="2100" b="1">
                <a:solidFill>
                  <a:srgbClr val="325D8A"/>
                </a:solidFill>
                <a:latin typeface="Arial"/>
                <a:ea typeface="Arial"/>
                <a:cs typeface="Arial"/>
              </a:defRPr>
            </a:lvl8pPr>
            <a:lvl9pPr algn="l">
              <a:defRPr sz="2100" b="1">
                <a:solidFill>
                  <a:srgbClr val="325D8A"/>
                </a:solidFill>
                <a:latin typeface="Arial"/>
                <a:ea typeface="Arial"/>
                <a:cs typeface="Arial"/>
              </a:defRPr>
            </a:lvl9pPr>
          </a:lstStyle>
          <a:p xmlns:a="http://schemas.openxmlformats.org/drawingml/2006/main">
            <a:pPr algn="l">
              <a:defRPr sz="2100" b="1">
                <a:solidFill>
                  <a:srgbClr val="325D8A"/>
                </a:solidFill>
                <a:latin typeface="Arial"/>
                <a:ea typeface="Arial"/>
                <a:cs typeface="Arial"/>
              </a:defRPr>
            </a:pPr>
            <a:r>
              <a:rPr sz="2100" b="1">
                <a:solidFill>
                  <a:srgbClr val="325D8A"/>
                </a:solidFill>
                <a:latin typeface="Arial"/>
                <a:ea typeface="Arial"/>
                <a:cs typeface="Arial"/>
              </a:rPr>
              <a:t>2. Apologise</a:t>
            </a:r>
          </a:p>
        </p:txBody>
      </p:sp>
      <p:sp>
        <p:nvSpPr>
          <p:cNvPr id="17" name="diagram-step-2">
            <a:extLst xmlns:a="http://schemas.openxmlformats.org/drawingml/2006/main">
              <a:ext uri="{FF2B5EF4-FFF2-40B4-BE49-F238E27FC236}">
                <a16:creationId xmlns:a16="http://schemas.microsoft.com/office/drawing/2014/main" id="{233AE4CA-2307-46F8-A278-896ED762436B}"/>
              </a:ext>
            </a:extLst>
          </p:cNvPr>
          <p:cNvSpPr>
            <a:spLocks xmlns:a="http://schemas.openxmlformats.org/drawingml/2006/main" noGrp="1"/>
          </p:cNvSpPr>
          <p:nvPr/>
        </p:nvSpPr>
        <p:spPr>
          <a:xfrm xmlns:a="http://schemas.openxmlformats.org/drawingml/2006/main">
            <a:off x="6210300" y="1695450"/>
            <a:ext cx="25527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325D8A"/>
                </a:solidFill>
                <a:latin typeface="Arial"/>
                <a:ea typeface="Arial"/>
                <a:cs typeface="Arial"/>
              </a:defRPr>
            </a:defPPr>
            <a:lvl1pPr algn="l">
              <a:defRPr sz="2100" b="1">
                <a:solidFill>
                  <a:srgbClr val="325D8A"/>
                </a:solidFill>
                <a:latin typeface="Arial"/>
                <a:ea typeface="Arial"/>
                <a:cs typeface="Arial"/>
              </a:defRPr>
            </a:lvl1pPr>
            <a:lvl2pPr algn="l">
              <a:defRPr sz="2100" b="1">
                <a:solidFill>
                  <a:srgbClr val="325D8A"/>
                </a:solidFill>
                <a:latin typeface="Arial"/>
                <a:ea typeface="Arial"/>
                <a:cs typeface="Arial"/>
              </a:defRPr>
            </a:lvl2pPr>
            <a:lvl3pPr algn="l">
              <a:defRPr sz="2100" b="1">
                <a:solidFill>
                  <a:srgbClr val="325D8A"/>
                </a:solidFill>
                <a:latin typeface="Arial"/>
                <a:ea typeface="Arial"/>
                <a:cs typeface="Arial"/>
              </a:defRPr>
            </a:lvl3pPr>
            <a:lvl4pPr algn="l">
              <a:defRPr sz="2100" b="1">
                <a:solidFill>
                  <a:srgbClr val="325D8A"/>
                </a:solidFill>
                <a:latin typeface="Arial"/>
                <a:ea typeface="Arial"/>
                <a:cs typeface="Arial"/>
              </a:defRPr>
            </a:lvl4pPr>
            <a:lvl5pPr algn="l">
              <a:defRPr sz="2100" b="1">
                <a:solidFill>
                  <a:srgbClr val="325D8A"/>
                </a:solidFill>
                <a:latin typeface="Arial"/>
                <a:ea typeface="Arial"/>
                <a:cs typeface="Arial"/>
              </a:defRPr>
            </a:lvl5pPr>
            <a:lvl6pPr algn="l">
              <a:defRPr sz="2100" b="1">
                <a:solidFill>
                  <a:srgbClr val="325D8A"/>
                </a:solidFill>
                <a:latin typeface="Arial"/>
                <a:ea typeface="Arial"/>
                <a:cs typeface="Arial"/>
              </a:defRPr>
            </a:lvl6pPr>
            <a:lvl7pPr algn="l">
              <a:defRPr sz="2100" b="1">
                <a:solidFill>
                  <a:srgbClr val="325D8A"/>
                </a:solidFill>
                <a:latin typeface="Arial"/>
                <a:ea typeface="Arial"/>
                <a:cs typeface="Arial"/>
              </a:defRPr>
            </a:lvl7pPr>
            <a:lvl8pPr algn="l">
              <a:defRPr sz="2100" b="1">
                <a:solidFill>
                  <a:srgbClr val="325D8A"/>
                </a:solidFill>
                <a:latin typeface="Arial"/>
                <a:ea typeface="Arial"/>
                <a:cs typeface="Arial"/>
              </a:defRPr>
            </a:lvl8pPr>
            <a:lvl9pPr algn="l">
              <a:defRPr sz="2100" b="1">
                <a:solidFill>
                  <a:srgbClr val="325D8A"/>
                </a:solidFill>
                <a:latin typeface="Arial"/>
                <a:ea typeface="Arial"/>
                <a:cs typeface="Arial"/>
              </a:defRPr>
            </a:lvl9pPr>
          </a:lstStyle>
          <a:p xmlns:a="http://schemas.openxmlformats.org/drawingml/2006/main">
            <a:pPr algn="l">
              <a:defRPr sz="2100" b="1">
                <a:solidFill>
                  <a:srgbClr val="325D8A"/>
                </a:solidFill>
                <a:latin typeface="Arial"/>
                <a:ea typeface="Arial"/>
                <a:cs typeface="Arial"/>
              </a:defRPr>
            </a:pPr>
            <a:r>
              <a:rPr sz="2100" b="1">
                <a:solidFill>
                  <a:srgbClr val="325D8A"/>
                </a:solidFill>
                <a:latin typeface="Arial"/>
                <a:ea typeface="Arial"/>
                <a:cs typeface="Arial"/>
              </a:rPr>
              <a:t>3. Offer an agreed fix</a:t>
            </a:r>
          </a:p>
        </p:txBody>
      </p:sp>
      <p:sp>
        <p:nvSpPr>
          <p:cNvPr id="18" name="diagram-step-3">
            <a:extLst xmlns:a="http://schemas.openxmlformats.org/drawingml/2006/main">
              <a:ext uri="{FF2B5EF4-FFF2-40B4-BE49-F238E27FC236}">
                <a16:creationId xmlns:a16="http://schemas.microsoft.com/office/drawing/2014/main" id="{3545622D-E565-4B72-951B-1B8DFEB42ABF}"/>
              </a:ext>
            </a:extLst>
          </p:cNvPr>
          <p:cNvSpPr>
            <a:spLocks xmlns:a="http://schemas.openxmlformats.org/drawingml/2006/main" noGrp="1"/>
          </p:cNvSpPr>
          <p:nvPr/>
        </p:nvSpPr>
        <p:spPr>
          <a:xfrm xmlns:a="http://schemas.openxmlformats.org/drawingml/2006/main">
            <a:off x="9010650" y="1695450"/>
            <a:ext cx="25527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325D8A"/>
                </a:solidFill>
                <a:latin typeface="Arial"/>
                <a:ea typeface="Arial"/>
                <a:cs typeface="Arial"/>
              </a:defRPr>
            </a:defPPr>
            <a:lvl1pPr algn="l">
              <a:defRPr sz="2100" b="1">
                <a:solidFill>
                  <a:srgbClr val="325D8A"/>
                </a:solidFill>
                <a:latin typeface="Arial"/>
                <a:ea typeface="Arial"/>
                <a:cs typeface="Arial"/>
              </a:defRPr>
            </a:lvl1pPr>
            <a:lvl2pPr algn="l">
              <a:defRPr sz="2100" b="1">
                <a:solidFill>
                  <a:srgbClr val="325D8A"/>
                </a:solidFill>
                <a:latin typeface="Arial"/>
                <a:ea typeface="Arial"/>
                <a:cs typeface="Arial"/>
              </a:defRPr>
            </a:lvl2pPr>
            <a:lvl3pPr algn="l">
              <a:defRPr sz="2100" b="1">
                <a:solidFill>
                  <a:srgbClr val="325D8A"/>
                </a:solidFill>
                <a:latin typeface="Arial"/>
                <a:ea typeface="Arial"/>
                <a:cs typeface="Arial"/>
              </a:defRPr>
            </a:lvl3pPr>
            <a:lvl4pPr algn="l">
              <a:defRPr sz="2100" b="1">
                <a:solidFill>
                  <a:srgbClr val="325D8A"/>
                </a:solidFill>
                <a:latin typeface="Arial"/>
                <a:ea typeface="Arial"/>
                <a:cs typeface="Arial"/>
              </a:defRPr>
            </a:lvl4pPr>
            <a:lvl5pPr algn="l">
              <a:defRPr sz="2100" b="1">
                <a:solidFill>
                  <a:srgbClr val="325D8A"/>
                </a:solidFill>
                <a:latin typeface="Arial"/>
                <a:ea typeface="Arial"/>
                <a:cs typeface="Arial"/>
              </a:defRPr>
            </a:lvl5pPr>
            <a:lvl6pPr algn="l">
              <a:defRPr sz="2100" b="1">
                <a:solidFill>
                  <a:srgbClr val="325D8A"/>
                </a:solidFill>
                <a:latin typeface="Arial"/>
                <a:ea typeface="Arial"/>
                <a:cs typeface="Arial"/>
              </a:defRPr>
            </a:lvl6pPr>
            <a:lvl7pPr algn="l">
              <a:defRPr sz="2100" b="1">
                <a:solidFill>
                  <a:srgbClr val="325D8A"/>
                </a:solidFill>
                <a:latin typeface="Arial"/>
                <a:ea typeface="Arial"/>
                <a:cs typeface="Arial"/>
              </a:defRPr>
            </a:lvl7pPr>
            <a:lvl8pPr algn="l">
              <a:defRPr sz="2100" b="1">
                <a:solidFill>
                  <a:srgbClr val="325D8A"/>
                </a:solidFill>
                <a:latin typeface="Arial"/>
                <a:ea typeface="Arial"/>
                <a:cs typeface="Arial"/>
              </a:defRPr>
            </a:lvl8pPr>
            <a:lvl9pPr algn="l">
              <a:defRPr sz="2100" b="1">
                <a:solidFill>
                  <a:srgbClr val="325D8A"/>
                </a:solidFill>
                <a:latin typeface="Arial"/>
                <a:ea typeface="Arial"/>
                <a:cs typeface="Arial"/>
              </a:defRPr>
            </a:lvl9pPr>
          </a:lstStyle>
          <a:p xmlns:a="http://schemas.openxmlformats.org/drawingml/2006/main">
            <a:pPr algn="l">
              <a:defRPr sz="2100" b="1">
                <a:solidFill>
                  <a:srgbClr val="325D8A"/>
                </a:solidFill>
                <a:latin typeface="Arial"/>
                <a:ea typeface="Arial"/>
                <a:cs typeface="Arial"/>
              </a:defRPr>
            </a:pPr>
            <a:r>
              <a:rPr sz="2100" b="1">
                <a:solidFill>
                  <a:srgbClr val="325D8A"/>
                </a:solidFill>
                <a:latin typeface="Arial"/>
                <a:ea typeface="Arial"/>
                <a:cs typeface="Arial"/>
              </a:rPr>
              <a:t>4. Refer when needed</a:t>
            </a:r>
          </a:p>
        </p:txBody>
      </p:sp>
      <p:sp>
        <p:nvSpPr>
          <p:cNvPr id="19" name="diagram-caption">
            <a:extLst xmlns:a="http://schemas.openxmlformats.org/drawingml/2006/main">
              <a:ext uri="{FF2B5EF4-FFF2-40B4-BE49-F238E27FC236}">
                <a16:creationId xmlns:a16="http://schemas.microsoft.com/office/drawing/2014/main" id="{6DB52A70-78ED-4071-9D7F-4A1E9753955A}"/>
              </a:ext>
            </a:extLst>
          </p:cNvPr>
          <p:cNvSpPr>
            <a:spLocks xmlns:a="http://schemas.openxmlformats.org/drawingml/2006/main" noGrp="1"/>
          </p:cNvSpPr>
          <p:nvPr/>
        </p:nvSpPr>
        <p:spPr>
          <a:xfrm xmlns:a="http://schemas.openxmlformats.org/drawingml/2006/main">
            <a:off x="609600" y="260032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325D8A"/>
                </a:solidFill>
                <a:latin typeface="Arial"/>
                <a:ea typeface="Arial"/>
                <a:cs typeface="Arial"/>
              </a:defRPr>
            </a:defPPr>
            <a:lvl1pPr algn="l">
              <a:defRPr sz="1875" b="0">
                <a:solidFill>
                  <a:srgbClr val="325D8A"/>
                </a:solidFill>
                <a:latin typeface="Arial"/>
                <a:ea typeface="Arial"/>
                <a:cs typeface="Arial"/>
              </a:defRPr>
            </a:lvl1pPr>
            <a:lvl2pPr algn="l">
              <a:defRPr sz="1875" b="0">
                <a:solidFill>
                  <a:srgbClr val="325D8A"/>
                </a:solidFill>
                <a:latin typeface="Arial"/>
                <a:ea typeface="Arial"/>
                <a:cs typeface="Arial"/>
              </a:defRPr>
            </a:lvl2pPr>
            <a:lvl3pPr algn="l">
              <a:defRPr sz="1875" b="0">
                <a:solidFill>
                  <a:srgbClr val="325D8A"/>
                </a:solidFill>
                <a:latin typeface="Arial"/>
                <a:ea typeface="Arial"/>
                <a:cs typeface="Arial"/>
              </a:defRPr>
            </a:lvl3pPr>
            <a:lvl4pPr algn="l">
              <a:defRPr sz="1875" b="0">
                <a:solidFill>
                  <a:srgbClr val="325D8A"/>
                </a:solidFill>
                <a:latin typeface="Arial"/>
                <a:ea typeface="Arial"/>
                <a:cs typeface="Arial"/>
              </a:defRPr>
            </a:lvl4pPr>
            <a:lvl5pPr algn="l">
              <a:defRPr sz="1875" b="0">
                <a:solidFill>
                  <a:srgbClr val="325D8A"/>
                </a:solidFill>
                <a:latin typeface="Arial"/>
                <a:ea typeface="Arial"/>
                <a:cs typeface="Arial"/>
              </a:defRPr>
            </a:lvl5pPr>
            <a:lvl6pPr algn="l">
              <a:defRPr sz="1875" b="0">
                <a:solidFill>
                  <a:srgbClr val="325D8A"/>
                </a:solidFill>
                <a:latin typeface="Arial"/>
                <a:ea typeface="Arial"/>
                <a:cs typeface="Arial"/>
              </a:defRPr>
            </a:lvl6pPr>
            <a:lvl7pPr algn="l">
              <a:defRPr sz="1875" b="0">
                <a:solidFill>
                  <a:srgbClr val="325D8A"/>
                </a:solidFill>
                <a:latin typeface="Arial"/>
                <a:ea typeface="Arial"/>
                <a:cs typeface="Arial"/>
              </a:defRPr>
            </a:lvl7pPr>
            <a:lvl8pPr algn="l">
              <a:defRPr sz="1875" b="0">
                <a:solidFill>
                  <a:srgbClr val="325D8A"/>
                </a:solidFill>
                <a:latin typeface="Arial"/>
                <a:ea typeface="Arial"/>
                <a:cs typeface="Arial"/>
              </a:defRPr>
            </a:lvl8pPr>
            <a:lvl9pPr algn="l">
              <a:defRPr sz="1875" b="0">
                <a:solidFill>
                  <a:srgbClr val="325D8A"/>
                </a:solidFill>
                <a:latin typeface="Arial"/>
                <a:ea typeface="Arial"/>
                <a:cs typeface="Arial"/>
              </a:defRPr>
            </a:lvl9pPr>
          </a:lstStyle>
          <a:p xmlns:a="http://schemas.openxmlformats.org/drawingml/2006/main">
            <a:pPr algn="l">
              <a:defRPr sz="1875" b="0">
                <a:solidFill>
                  <a:srgbClr val="325D8A"/>
                </a:solidFill>
                <a:latin typeface="Arial"/>
                <a:ea typeface="Arial"/>
                <a:cs typeface="Arial"/>
              </a:defRPr>
            </a:pPr>
            <a:r>
              <a:rPr sz="1875" b="0">
                <a:solidFill>
                  <a:srgbClr val="325D8A"/>
                </a:solidFill>
                <a:latin typeface="Arial"/>
                <a:ea typeface="Arial"/>
                <a:cs typeface="Arial"/>
              </a:rPr>
              <a:t>Ask the responsible adult if permission or information is needed.</a:t>
            </a:r>
          </a:p>
        </p:txBody>
      </p:sp>
      <p:sp>
        <p:nvSpPr>
          <p:cNvPr id="20" name="body-0">
            <a:extLst xmlns:a="http://schemas.openxmlformats.org/drawingml/2006/main">
              <a:ext uri="{FF2B5EF4-FFF2-40B4-BE49-F238E27FC236}">
                <a16:creationId xmlns:a16="http://schemas.microsoft.com/office/drawing/2014/main" id="{C7A10B9D-C10A-4606-B79D-D2828EBF2766}"/>
              </a:ext>
            </a:extLst>
          </p:cNvPr>
          <p:cNvSpPr>
            <a:spLocks xmlns:a="http://schemas.openxmlformats.org/drawingml/2006/main" noGrp="1"/>
          </p:cNvSpPr>
          <p:nvPr/>
        </p:nvSpPr>
        <p:spPr>
          <a:xfrm xmlns:a="http://schemas.openxmlformats.org/drawingml/2006/main">
            <a:off x="609600" y="33528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 am sorry. Please tell me what went wrong.</a:t>
            </a:r>
          </a:p>
        </p:txBody>
      </p:sp>
      <p:sp>
        <p:nvSpPr>
          <p:cNvPr id="21" name="body-1">
            <a:extLst xmlns:a="http://schemas.openxmlformats.org/drawingml/2006/main">
              <a:ext uri="{FF2B5EF4-FFF2-40B4-BE49-F238E27FC236}">
                <a16:creationId xmlns:a16="http://schemas.microsoft.com/office/drawing/2014/main" id="{293FC90C-0AB2-4514-B2FD-ECB9DA74EB8F}"/>
              </a:ext>
            </a:extLst>
          </p:cNvPr>
          <p:cNvSpPr>
            <a:spLocks xmlns:a="http://schemas.openxmlformats.org/drawingml/2006/main" noGrp="1"/>
          </p:cNvSpPr>
          <p:nvPr/>
        </p:nvSpPr>
        <p:spPr>
          <a:xfrm xmlns:a="http://schemas.openxmlformats.org/drawingml/2006/main">
            <a:off x="609600" y="378085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 will ask the responsible adult about a replacement.</a:t>
            </a:r>
          </a:p>
        </p:txBody>
      </p:sp>
      <p:sp>
        <p:nvSpPr>
          <p:cNvPr id="22" name="body-2">
            <a:extLst xmlns:a="http://schemas.openxmlformats.org/drawingml/2006/main">
              <a:ext uri="{FF2B5EF4-FFF2-40B4-BE49-F238E27FC236}">
                <a16:creationId xmlns:a16="http://schemas.microsoft.com/office/drawing/2014/main" id="{DE56949D-5869-4DB9-9111-A7173CD418EA}"/>
              </a:ext>
            </a:extLst>
          </p:cNvPr>
          <p:cNvSpPr>
            <a:spLocks xmlns:a="http://schemas.openxmlformats.org/drawingml/2006/main" noGrp="1"/>
          </p:cNvSpPr>
          <p:nvPr/>
        </p:nvSpPr>
        <p:spPr>
          <a:xfrm xmlns:a="http://schemas.openxmlformats.org/drawingml/2006/main">
            <a:off x="609600" y="42089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Booking: check the guest code, practice check-in date and nights.</a:t>
            </a:r>
          </a:p>
        </p:txBody>
      </p:sp>
      <p:sp>
        <p:nvSpPr>
          <p:cNvPr id="23" name="body-3">
            <a:extLst xmlns:a="http://schemas.openxmlformats.org/drawingml/2006/main">
              <a:ext uri="{FF2B5EF4-FFF2-40B4-BE49-F238E27FC236}">
                <a16:creationId xmlns:a16="http://schemas.microsoft.com/office/drawing/2014/main" id="{9AFCAF27-AAB6-4C65-A34B-8DC6FEC83BA5}"/>
              </a:ext>
            </a:extLst>
          </p:cNvPr>
          <p:cNvSpPr>
            <a:spLocks xmlns:a="http://schemas.openxmlformats.org/drawingml/2006/main" noGrp="1"/>
          </p:cNvSpPr>
          <p:nvPr/>
        </p:nvSpPr>
        <p:spPr>
          <a:xfrm xmlns:a="http://schemas.openxmlformats.org/drawingml/2006/main">
            <a:off x="609600" y="463696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Repeat the details. Ask: Is that right?</a:t>
            </a:r>
          </a:p>
        </p:txBody>
      </p:sp>
    </p:spTree>
    <p:extLst>
      <p:ext uri="{BB962C8B-B14F-4D97-AF65-F5344CB8AC3E}">
        <p14:creationId xmlns:p14="http://schemas.microsoft.com/office/powerpoint/2010/main" val="5352514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A1E97F82-617F-4E4A-BEF1-B6F5FE18B92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D7447F02-9306-44FB-AD50-3C085C6D53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A851550-7355-49E9-9668-D4643D4140D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BE46BBF0-E3C9-4691-9F44-AF92BA00BE2D}"/>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Agree the observation checks</a:t>
            </a:r>
          </a:p>
        </p:txBody>
      </p:sp>
      <p:sp>
        <p:nvSpPr>
          <p:cNvPr id="5" name="heading-rule">
            <a:extLst xmlns:a="http://schemas.openxmlformats.org/drawingml/2006/main">
              <a:ext uri="{FF2B5EF4-FFF2-40B4-BE49-F238E27FC236}">
                <a16:creationId xmlns:a16="http://schemas.microsoft.com/office/drawing/2014/main" id="{02A8F3AF-4B84-4CFD-A6CC-151D627F4C2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46B3D745-4F89-46AE-B48D-6E9BBB0CEA6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VOC-LAUNCH-A2-W03-L2</a:t>
            </a:r>
          </a:p>
        </p:txBody>
      </p:sp>
      <p:sp>
        <p:nvSpPr>
          <p:cNvPr id="15" name="edition-label">
            <a:extLst xmlns:a="http://schemas.openxmlformats.org/drawingml/2006/main">
              <a:ext uri="{FF2B5EF4-FFF2-40B4-BE49-F238E27FC236}">
                <a16:creationId xmlns:a16="http://schemas.microsoft.com/office/drawing/2014/main" id="{FC28D211-2FFE-463D-987A-0B95C925A6D3}"/>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88B5C5E-705F-4D56-8D52-2CF1B652C826}"/>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graphicFrame>
        <p:nvGraphicFramePr>
          <p:cNvPr id="18" name="">
            <a:extLst xmlns:a="http://schemas.openxmlformats.org/drawingml/2006/main">
              <a:ext uri="{FF2B5EF4-FFF2-40B4-BE49-F238E27FC236}">
                <a16:creationId xmlns:a16="http://schemas.microsoft.com/office/drawing/2014/main" id="{3591FF33-3B8F-4A6C-AA3F-C47B84C7215D}"/>
              </a:ext>
            </a:extLst>
          </p:cNvPr>
          <p:cNvGraphicFramePr/>
          <p:nvPr/>
        </p:nvGraphicFramePr>
        <p:xfrm>
          <a:off xmlns:a="http://schemas.openxmlformats.org/drawingml/2006/main" x="609600" y="1676400"/>
          <a:ext xmlns:a="http://schemas.openxmlformats.org/drawingml/2006/main" cx="10972800" cy="3619500"/>
        </p:xfrm>
        <a:graphic xmlns:a="http://schemas.openxmlformats.org/drawingml/2006/main">
          <a:graphicData uri="http://schemas.openxmlformats.org/drawingml/2006/table">
            <a:tbl>
              <a:tblPr firstRow="1" firstCol="0" bandRow="0"/>
              <a:tblGrid>
                <a:gridCol w="2438400"/>
                <a:gridCol w="8534400"/>
              </a:tblGrid>
              <a:tr h="438150">
                <a:tc>
                  <a:txBody>
                    <a:bodyPr wrap="square" lIns="114300" tIns="66675" rIns="114300" bIns="66675">
                      <a:noAutofit/>
                    </a:bodyPr>
                    <a:lstStyle/>
                    <a:p>
                      <a:pPr algn="l"/>
                      <a:r>
                        <a:rPr sz="2100" b="1">
                          <a:solidFill>
                            <a:srgbClr val="325D8A"/>
                          </a:solidFill>
                          <a:latin typeface="Arial"/>
                          <a:ea typeface="Arial"/>
                          <a:cs typeface="Arial"/>
                        </a:rPr>
                        <a:t>Situation</a:t>
                      </a:r>
                    </a:p>
                  </a:txBody>
                  <a:tcPr marL="91440" marR="91440" marT="45720" marB="45720" anchor="ctr">
                    <a:lnL w="9525">
                      <a:solidFill>
                        <a:srgbClr val="D7E0E4"/>
                      </a:solidFill>
                      <a:prstDash val="solid"/>
                    </a:lnL>
                    <a:lnR w="9525">
                      <a:solidFill>
                        <a:srgbClr val="D7E0E4"/>
                      </a:solidFill>
                      <a:prstDash val="solid"/>
                    </a:lnR>
                    <a:lnT w="9525">
                      <a:solidFill>
                        <a:srgbClr val="D7E0E4"/>
                      </a:solidFill>
                      <a:prstDash val="solid"/>
                    </a:lnT>
                    <a:lnB w="9525">
                      <a:solidFill>
                        <a:srgbClr val="D7E0E4"/>
                      </a:solidFill>
                      <a:prstDash val="solid"/>
                    </a:lnB>
                    <a:solidFill>
                      <a:srgbClr val="FFFFFF"/>
                    </a:solidFill>
                  </a:tcPr>
                </a:tc>
                <a:tc>
                  <a:txBody>
                    <a:bodyPr wrap="square" lIns="114300" tIns="66675" rIns="114300" bIns="66675">
                      <a:noAutofit/>
                    </a:bodyPr>
                    <a:lstStyle/>
                    <a:p>
                      <a:pPr algn="l"/>
                      <a:r>
                        <a:rPr sz="2100" b="1">
                          <a:solidFill>
                            <a:srgbClr val="325D8A"/>
                          </a:solidFill>
                          <a:latin typeface="Arial"/>
                          <a:ea typeface="Arial"/>
                          <a:cs typeface="Arial"/>
                        </a:rPr>
                        <a:t>What to see or hear</a:t>
                      </a:r>
                    </a:p>
                  </a:txBody>
                  <a:tcPr marL="91440" marR="91440" marT="45720" marB="45720" anchor="ctr">
                    <a:lnR w="9525">
                      <a:solidFill>
                        <a:srgbClr val="D7E0E4"/>
                      </a:solidFill>
                      <a:prstDash val="solid"/>
                    </a:lnR>
                    <a:lnT w="9525">
                      <a:solidFill>
                        <a:srgbClr val="D7E0E4"/>
                      </a:solidFill>
                      <a:prstDash val="solid"/>
                    </a:lnT>
                    <a:lnB w="9525">
                      <a:solidFill>
                        <a:srgbClr val="D7E0E4"/>
                      </a:solidFill>
                      <a:prstDash val="solid"/>
                    </a:lnB>
                    <a:solidFill>
                      <a:srgbClr val="FFFFFF"/>
                    </a:solidFill>
                  </a:tcPr>
                </a:tc>
              </a:tr>
              <a:tr h="795338">
                <a:tc>
                  <a:txBody>
                    <a:bodyPr wrap="square" lIns="114300" tIns="66675" rIns="114300" bIns="66675">
                      <a:noAutofit/>
                    </a:bodyPr>
                    <a:lstStyle/>
                    <a:p>
                      <a:pPr algn="l"/>
                      <a:r>
                        <a:rPr sz="1950" b="1">
                          <a:solidFill>
                            <a:srgbClr val="17384A"/>
                          </a:solidFill>
                          <a:latin typeface="Arial"/>
                          <a:ea typeface="Arial"/>
                          <a:cs typeface="Arial"/>
                        </a:rPr>
                        <a:t>Greeting</a:t>
                      </a:r>
                    </a:p>
                  </a:txBody>
                  <a:tcPr marL="91440" marR="91440" marT="45720" marB="45720" anchor="ctr">
                    <a:lnL w="9525">
                      <a:solidFill>
                        <a:srgbClr val="D7E0E4"/>
                      </a:solidFill>
                      <a:prstDash val="solid"/>
                    </a:lnL>
                    <a:lnR w="9525">
                      <a:solidFill>
                        <a:srgbClr val="D7E0E4"/>
                      </a:solidFill>
                      <a:prstDash val="solid"/>
                    </a:lnR>
                    <a:lnB w="9525">
                      <a:solidFill>
                        <a:srgbClr val="D7E0E4"/>
                      </a:solidFill>
                      <a:prstDash val="solid"/>
                    </a:lnB>
                    <a:solidFill>
                      <a:srgbClr val="FFFFFF"/>
                    </a:solidFill>
                  </a:tcPr>
                </a:tc>
                <a:tc>
                  <a:txBody>
                    <a:bodyPr wrap="square" lIns="114300" tIns="66675" rIns="114300" bIns="66675">
                      <a:noAutofit/>
                    </a:bodyPr>
                    <a:lstStyle/>
                    <a:p>
                      <a:pPr algn="l"/>
                      <a:r>
                        <a:rPr sz="1950" b="0">
                          <a:solidFill>
                            <a:srgbClr val="17384A"/>
                          </a:solidFill>
                          <a:latin typeface="Arial"/>
                          <a:ea typeface="Arial"/>
                          <a:cs typeface="Arial"/>
                        </a:rPr>
                        <a:t>Polite welcome and listening</a:t>
                      </a:r>
                    </a:p>
                  </a:txBody>
                  <a:tcPr marL="91440" marR="91440" marT="45720" marB="45720" anchor="ctr">
                    <a:lnR w="9525">
                      <a:solidFill>
                        <a:srgbClr val="D7E0E4"/>
                      </a:solidFill>
                      <a:prstDash val="solid"/>
                    </a:lnR>
                    <a:lnB w="9525">
                      <a:solidFill>
                        <a:srgbClr val="D7E0E4"/>
                      </a:solidFill>
                      <a:prstDash val="solid"/>
                    </a:lnB>
                    <a:solidFill>
                      <a:srgbClr val="FFFFFF"/>
                    </a:solidFill>
                  </a:tcPr>
                </a:tc>
              </a:tr>
              <a:tr h="795338">
                <a:tc>
                  <a:txBody>
                    <a:bodyPr wrap="square" lIns="114300" tIns="66675" rIns="114300" bIns="66675">
                      <a:noAutofit/>
                    </a:bodyPr>
                    <a:lstStyle/>
                    <a:p>
                      <a:pPr algn="l"/>
                      <a:r>
                        <a:rPr sz="1950" b="1">
                          <a:solidFill>
                            <a:srgbClr val="17384A"/>
                          </a:solidFill>
                          <a:latin typeface="Arial"/>
                          <a:ea typeface="Arial"/>
                          <a:cs typeface="Arial"/>
                        </a:rPr>
                        <a:t>Order</a:t>
                      </a:r>
                    </a:p>
                  </a:txBody>
                  <a:tcPr marL="91440" marR="91440" marT="45720" marB="45720" anchor="ctr">
                    <a:lnL w="9525">
                      <a:solidFill>
                        <a:srgbClr val="D7E0E4"/>
                      </a:solidFill>
                      <a:prstDash val="solid"/>
                    </a:lnL>
                    <a:lnR w="9525">
                      <a:solidFill>
                        <a:srgbClr val="D7E0E4"/>
                      </a:solidFill>
                      <a:prstDash val="solid"/>
                    </a:lnR>
                    <a:lnB w="9525">
                      <a:solidFill>
                        <a:srgbClr val="D7E0E4"/>
                      </a:solidFill>
                      <a:prstDash val="solid"/>
                    </a:lnB>
                    <a:solidFill>
                      <a:srgbClr val="FFFFFF"/>
                    </a:solidFill>
                  </a:tcPr>
                </a:tc>
                <a:tc>
                  <a:txBody>
                    <a:bodyPr wrap="square" lIns="114300" tIns="66675" rIns="114300" bIns="66675">
                      <a:noAutofit/>
                    </a:bodyPr>
                    <a:lstStyle/>
                    <a:p>
                      <a:pPr algn="l"/>
                      <a:r>
                        <a:rPr sz="1950" b="0">
                          <a:solidFill>
                            <a:srgbClr val="17384A"/>
                          </a:solidFill>
                          <a:latin typeface="Arial"/>
                          <a:ea typeface="Arial"/>
                          <a:cs typeface="Arial"/>
                        </a:rPr>
                        <a:t>Drink names and amounts repeated</a:t>
                      </a:r>
                    </a:p>
                  </a:txBody>
                  <a:tcPr marL="91440" marR="91440" marT="45720" marB="45720" anchor="ctr">
                    <a:lnR w="9525">
                      <a:solidFill>
                        <a:srgbClr val="D7E0E4"/>
                      </a:solidFill>
                      <a:prstDash val="solid"/>
                    </a:lnR>
                    <a:lnB w="9525">
                      <a:solidFill>
                        <a:srgbClr val="D7E0E4"/>
                      </a:solidFill>
                      <a:prstDash val="solid"/>
                    </a:lnB>
                    <a:solidFill>
                      <a:srgbClr val="FFFFFF"/>
                    </a:solidFill>
                  </a:tcPr>
                </a:tc>
              </a:tr>
              <a:tr h="795338">
                <a:tc>
                  <a:txBody>
                    <a:bodyPr wrap="square" lIns="114300" tIns="66675" rIns="114300" bIns="66675">
                      <a:noAutofit/>
                    </a:bodyPr>
                    <a:lstStyle/>
                    <a:p>
                      <a:pPr algn="l"/>
                      <a:r>
                        <a:rPr sz="1950" b="1">
                          <a:solidFill>
                            <a:srgbClr val="17384A"/>
                          </a:solidFill>
                          <a:latin typeface="Arial"/>
                          <a:ea typeface="Arial"/>
                          <a:cs typeface="Arial"/>
                        </a:rPr>
                        <a:t>Booking</a:t>
                      </a:r>
                    </a:p>
                  </a:txBody>
                  <a:tcPr marL="91440" marR="91440" marT="45720" marB="45720" anchor="ctr">
                    <a:lnL w="9525">
                      <a:solidFill>
                        <a:srgbClr val="D7E0E4"/>
                      </a:solidFill>
                      <a:prstDash val="solid"/>
                    </a:lnL>
                    <a:lnR w="9525">
                      <a:solidFill>
                        <a:srgbClr val="D7E0E4"/>
                      </a:solidFill>
                      <a:prstDash val="solid"/>
                    </a:lnR>
                    <a:lnB w="9525">
                      <a:solidFill>
                        <a:srgbClr val="D7E0E4"/>
                      </a:solidFill>
                      <a:prstDash val="solid"/>
                    </a:lnB>
                    <a:solidFill>
                      <a:srgbClr val="FFFFFF"/>
                    </a:solidFill>
                  </a:tcPr>
                </a:tc>
                <a:tc>
                  <a:txBody>
                    <a:bodyPr wrap="square" lIns="114300" tIns="66675" rIns="114300" bIns="66675">
                      <a:noAutofit/>
                    </a:bodyPr>
                    <a:lstStyle/>
                    <a:p>
                      <a:pPr algn="l"/>
                      <a:r>
                        <a:rPr sz="1950" b="0">
                          <a:solidFill>
                            <a:srgbClr val="17384A"/>
                          </a:solidFill>
                          <a:latin typeface="Arial"/>
                          <a:ea typeface="Arial"/>
                          <a:cs typeface="Arial"/>
                        </a:rPr>
                        <a:t>Guest code, check-in date and nights checked</a:t>
                      </a:r>
                    </a:p>
                  </a:txBody>
                  <a:tcPr marL="91440" marR="91440" marT="45720" marB="45720" anchor="ctr">
                    <a:lnR w="9525">
                      <a:solidFill>
                        <a:srgbClr val="D7E0E4"/>
                      </a:solidFill>
                      <a:prstDash val="solid"/>
                    </a:lnR>
                    <a:lnB w="9525">
                      <a:solidFill>
                        <a:srgbClr val="D7E0E4"/>
                      </a:solidFill>
                      <a:prstDash val="solid"/>
                    </a:lnB>
                    <a:solidFill>
                      <a:srgbClr val="FFFFFF"/>
                    </a:solidFill>
                  </a:tcPr>
                </a:tc>
              </a:tr>
              <a:tr h="795338">
                <a:tc>
                  <a:txBody>
                    <a:bodyPr wrap="square" lIns="114300" tIns="66675" rIns="114300" bIns="66675">
                      <a:noAutofit/>
                    </a:bodyPr>
                    <a:lstStyle/>
                    <a:p>
                      <a:pPr algn="l"/>
                      <a:r>
                        <a:rPr sz="1950" b="1">
                          <a:solidFill>
                            <a:srgbClr val="17384A"/>
                          </a:solidFill>
                          <a:latin typeface="Arial"/>
                          <a:ea typeface="Arial"/>
                          <a:cs typeface="Arial"/>
                        </a:rPr>
                        <a:t>Complaint</a:t>
                      </a:r>
                    </a:p>
                  </a:txBody>
                  <a:tcPr marL="91440" marR="91440" marT="45720" marB="45720" anchor="ctr">
                    <a:lnL w="9525">
                      <a:solidFill>
                        <a:srgbClr val="D7E0E4"/>
                      </a:solidFill>
                      <a:prstDash val="solid"/>
                    </a:lnL>
                    <a:lnR w="9525">
                      <a:solidFill>
                        <a:srgbClr val="D7E0E4"/>
                      </a:solidFill>
                      <a:prstDash val="solid"/>
                    </a:lnR>
                    <a:lnB w="9525">
                      <a:solidFill>
                        <a:srgbClr val="D7E0E4"/>
                      </a:solidFill>
                      <a:prstDash val="solid"/>
                    </a:lnB>
                    <a:solidFill>
                      <a:srgbClr val="FFFFFF"/>
                    </a:solidFill>
                  </a:tcPr>
                </a:tc>
                <a:tc>
                  <a:txBody>
                    <a:bodyPr wrap="square" lIns="114300" tIns="66675" rIns="114300" bIns="66675">
                      <a:noAutofit/>
                    </a:bodyPr>
                    <a:lstStyle/>
                    <a:p>
                      <a:pPr algn="l"/>
                      <a:r>
                        <a:rPr sz="1950" b="0">
                          <a:solidFill>
                            <a:srgbClr val="17384A"/>
                          </a:solidFill>
                          <a:latin typeface="Arial"/>
                          <a:ea typeface="Arial"/>
                          <a:cs typeface="Arial"/>
                        </a:rPr>
                        <a:t>Listen, apologise, agreed fix and referral</a:t>
                      </a:r>
                    </a:p>
                  </a:txBody>
                  <a:tcPr marL="91440" marR="91440" marT="45720" marB="45720" anchor="ctr">
                    <a:lnR w="9525">
                      <a:solidFill>
                        <a:srgbClr val="D7E0E4"/>
                      </a:solidFill>
                      <a:prstDash val="solid"/>
                    </a:lnR>
                    <a:lnB w="9525">
                      <a:solidFill>
                        <a:srgbClr val="D7E0E4"/>
                      </a:solidFill>
                      <a:prstDash val="solid"/>
                    </a:lnB>
                    <a:solidFill>
                      <a:srgbClr val="FFFFFF"/>
                    </a:solidFill>
                  </a:tcPr>
                </a:tc>
              </a:tr>
            </a:tbl>
          </a:graphicData>
        </a:graphic>
      </p:graphicFrame>
      <p:sp>
        <p:nvSpPr>
          <p:cNvPr id="19" name="diagram-table-prompt">
            <a:extLst xmlns:a="http://schemas.openxmlformats.org/drawingml/2006/main">
              <a:ext uri="{FF2B5EF4-FFF2-40B4-BE49-F238E27FC236}">
                <a16:creationId xmlns:a16="http://schemas.microsoft.com/office/drawing/2014/main" id="{4AB03AB2-DF7E-4E90-AE50-11483EE3CCDC}"/>
              </a:ext>
            </a:extLst>
          </p:cNvPr>
          <p:cNvSpPr>
            <a:spLocks xmlns:a="http://schemas.openxmlformats.org/drawingml/2006/main" noGrp="1"/>
          </p:cNvSpPr>
          <p:nvPr/>
        </p:nvSpPr>
        <p:spPr>
          <a:xfrm xmlns:a="http://schemas.openxmlformats.org/drawingml/2006/main">
            <a:off x="609600" y="55245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325D8A"/>
                </a:solidFill>
                <a:latin typeface="Arial"/>
                <a:ea typeface="Arial"/>
                <a:cs typeface="Arial"/>
              </a:defRPr>
            </a:defPPr>
            <a:lvl1pPr algn="l">
              <a:defRPr sz="2025" b="0">
                <a:solidFill>
                  <a:srgbClr val="325D8A"/>
                </a:solidFill>
                <a:latin typeface="Arial"/>
                <a:ea typeface="Arial"/>
                <a:cs typeface="Arial"/>
              </a:defRPr>
            </a:lvl1pPr>
            <a:lvl2pPr algn="l">
              <a:defRPr sz="2025" b="0">
                <a:solidFill>
                  <a:srgbClr val="325D8A"/>
                </a:solidFill>
                <a:latin typeface="Arial"/>
                <a:ea typeface="Arial"/>
                <a:cs typeface="Arial"/>
              </a:defRPr>
            </a:lvl2pPr>
            <a:lvl3pPr algn="l">
              <a:defRPr sz="2025" b="0">
                <a:solidFill>
                  <a:srgbClr val="325D8A"/>
                </a:solidFill>
                <a:latin typeface="Arial"/>
                <a:ea typeface="Arial"/>
                <a:cs typeface="Arial"/>
              </a:defRPr>
            </a:lvl3pPr>
            <a:lvl4pPr algn="l">
              <a:defRPr sz="2025" b="0">
                <a:solidFill>
                  <a:srgbClr val="325D8A"/>
                </a:solidFill>
                <a:latin typeface="Arial"/>
                <a:ea typeface="Arial"/>
                <a:cs typeface="Arial"/>
              </a:defRPr>
            </a:lvl4pPr>
            <a:lvl5pPr algn="l">
              <a:defRPr sz="2025" b="0">
                <a:solidFill>
                  <a:srgbClr val="325D8A"/>
                </a:solidFill>
                <a:latin typeface="Arial"/>
                <a:ea typeface="Arial"/>
                <a:cs typeface="Arial"/>
              </a:defRPr>
            </a:lvl5pPr>
            <a:lvl6pPr algn="l">
              <a:defRPr sz="2025" b="0">
                <a:solidFill>
                  <a:srgbClr val="325D8A"/>
                </a:solidFill>
                <a:latin typeface="Arial"/>
                <a:ea typeface="Arial"/>
                <a:cs typeface="Arial"/>
              </a:defRPr>
            </a:lvl6pPr>
            <a:lvl7pPr algn="l">
              <a:defRPr sz="2025" b="0">
                <a:solidFill>
                  <a:srgbClr val="325D8A"/>
                </a:solidFill>
                <a:latin typeface="Arial"/>
                <a:ea typeface="Arial"/>
                <a:cs typeface="Arial"/>
              </a:defRPr>
            </a:lvl7pPr>
            <a:lvl8pPr algn="l">
              <a:defRPr sz="2025" b="0">
                <a:solidFill>
                  <a:srgbClr val="325D8A"/>
                </a:solidFill>
                <a:latin typeface="Arial"/>
                <a:ea typeface="Arial"/>
                <a:cs typeface="Arial"/>
              </a:defRPr>
            </a:lvl8pPr>
            <a:lvl9pPr algn="l">
              <a:defRPr sz="2025" b="0">
                <a:solidFill>
                  <a:srgbClr val="325D8A"/>
                </a:solidFill>
                <a:latin typeface="Arial"/>
                <a:ea typeface="Arial"/>
                <a:cs typeface="Arial"/>
              </a:defRPr>
            </a:lvl9pPr>
          </a:lstStyle>
          <a:p xmlns:a="http://schemas.openxmlformats.org/drawingml/2006/main">
            <a:pPr algn="l">
              <a:defRPr sz="2025" b="0">
                <a:solidFill>
                  <a:srgbClr val="325D8A"/>
                </a:solidFill>
                <a:latin typeface="Arial"/>
                <a:ea typeface="Arial"/>
                <a:cs typeface="Arial"/>
              </a:defRPr>
            </a:pPr>
            <a:r>
              <a:rPr sz="2025" b="0">
                <a:solidFill>
                  <a:srgbClr val="325D8A"/>
                </a:solidFill>
                <a:latin typeface="Arial"/>
                <a:ea typeface="Arial"/>
                <a:cs typeface="Arial"/>
              </a:rPr>
              <a:t>What would the observer see or hear?</a:t>
            </a:r>
          </a:p>
        </p:txBody>
      </p:sp>
    </p:spTree>
    <p:extLst>
      <p:ext uri="{BB962C8B-B14F-4D97-AF65-F5344CB8AC3E}">
        <p14:creationId xmlns:p14="http://schemas.microsoft.com/office/powerpoint/2010/main" val="15398464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2DC3247D-0C4A-4290-993C-D230A151403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2E9A763-F9E6-4970-9B55-5867F342823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6CF93C97-A419-4040-9415-8C002B1CD501}"/>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DC8F5D28-78A8-4C39-9371-0A1E871A344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Four customer role plays</a:t>
            </a:r>
          </a:p>
        </p:txBody>
      </p:sp>
      <p:sp>
        <p:nvSpPr>
          <p:cNvPr id="5" name="heading-rule">
            <a:extLst xmlns:a="http://schemas.openxmlformats.org/drawingml/2006/main">
              <a:ext uri="{FF2B5EF4-FFF2-40B4-BE49-F238E27FC236}">
                <a16:creationId xmlns:a16="http://schemas.microsoft.com/office/drawing/2014/main" id="{05B00E51-8134-45FE-A2AF-7B1E8EDBF46A}"/>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AC4D87EA-2939-4765-B7EB-177DD086706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VOC-LAUNCH-A2-W03-L2</a:t>
            </a:r>
          </a:p>
        </p:txBody>
      </p:sp>
      <p:sp>
        <p:nvSpPr>
          <p:cNvPr id="12" name="edition-label">
            <a:extLst xmlns:a="http://schemas.openxmlformats.org/drawingml/2006/main">
              <a:ext uri="{FF2B5EF4-FFF2-40B4-BE49-F238E27FC236}">
                <a16:creationId xmlns:a16="http://schemas.microsoft.com/office/drawing/2014/main" id="{115476BE-A4F2-414A-A3B6-FA2AB77FA37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87774FBF-CC14-4A1B-9D5D-4693FD9B384C}"/>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0D059B6C-FAF9-47D3-851B-FA7AEB6FDF2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Work quietly with the adult customer.</a:t>
            </a:r>
          </a:p>
        </p:txBody>
      </p:sp>
      <p:sp>
        <p:nvSpPr>
          <p:cNvPr id="16" name="body-1">
            <a:extLst xmlns:a="http://schemas.openxmlformats.org/drawingml/2006/main">
              <a:ext uri="{FF2B5EF4-FFF2-40B4-BE49-F238E27FC236}">
                <a16:creationId xmlns:a16="http://schemas.microsoft.com/office/drawing/2014/main" id="{0383A03F-F0F6-4095-8B4B-088A2A2FC78F}"/>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Greet; take two orders; book a room; deal with a complaint.</a:t>
            </a:r>
          </a:p>
        </p:txBody>
      </p:sp>
      <p:sp>
        <p:nvSpPr>
          <p:cNvPr id="17" name="body-2">
            <a:extLst xmlns:a="http://schemas.openxmlformats.org/drawingml/2006/main">
              <a:ext uri="{FF2B5EF4-FFF2-40B4-BE49-F238E27FC236}">
                <a16:creationId xmlns:a16="http://schemas.microsoft.com/office/drawing/2014/main" id="{BE4E3112-0790-4BDC-8B88-E968842CD595}"/>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Supported: keep your script in hand.</a:t>
            </a:r>
          </a:p>
        </p:txBody>
      </p:sp>
      <p:sp>
        <p:nvSpPr>
          <p:cNvPr id="18" name="body-3">
            <a:extLst xmlns:a="http://schemas.openxmlformats.org/drawingml/2006/main">
              <a:ext uri="{FF2B5EF4-FFF2-40B4-BE49-F238E27FC236}">
                <a16:creationId xmlns:a16="http://schemas.microsoft.com/office/drawing/2014/main" id="{D7574BD9-4E34-414E-8937-F082B684847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Independent: try without a script.</a:t>
            </a:r>
          </a:p>
        </p:txBody>
      </p:sp>
      <p:sp>
        <p:nvSpPr>
          <p:cNvPr id="19" name="body-4">
            <a:extLst xmlns:a="http://schemas.openxmlformats.org/drawingml/2006/main">
              <a:ext uri="{FF2B5EF4-FFF2-40B4-BE49-F238E27FC236}">
                <a16:creationId xmlns:a16="http://schemas.microsoft.com/office/drawing/2014/main" id="{FCCA1646-4DF2-4085-8DA4-E6744F8480C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Ask again if a detail is unclear.</a:t>
            </a:r>
          </a:p>
        </p:txBody>
      </p:sp>
    </p:spTree>
    <p:extLst>
      <p:ext uri="{BB962C8B-B14F-4D97-AF65-F5344CB8AC3E}">
        <p14:creationId xmlns:p14="http://schemas.microsoft.com/office/powerpoint/2010/main" val="19318698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F2CC3971-6367-4389-A8CA-EA01D048799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6C94C2A-6472-434A-A6E0-328DEDFE7BF2}"/>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5ECD2750-C947-4671-AAD8-414A82C81FCE}"/>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55F16BA9-1541-4250-8BD7-5E498B5E9511}"/>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three top tips</a:t>
            </a:r>
          </a:p>
        </p:txBody>
      </p:sp>
      <p:sp>
        <p:nvSpPr>
          <p:cNvPr id="5" name="heading-rule">
            <a:extLst xmlns:a="http://schemas.openxmlformats.org/drawingml/2006/main">
              <a:ext uri="{FF2B5EF4-FFF2-40B4-BE49-F238E27FC236}">
                <a16:creationId xmlns:a16="http://schemas.microsoft.com/office/drawing/2014/main" id="{DE03F264-9323-4C9D-A86D-F774D08882A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70CAE874-2893-479B-804E-1EF71157D86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VOC-LAUNCH-A2-W03-L2</a:t>
            </a:r>
          </a:p>
        </p:txBody>
      </p:sp>
      <p:sp>
        <p:nvSpPr>
          <p:cNvPr id="13" name="edition-label">
            <a:extLst xmlns:a="http://schemas.openxmlformats.org/drawingml/2006/main">
              <a:ext uri="{FF2B5EF4-FFF2-40B4-BE49-F238E27FC236}">
                <a16:creationId xmlns:a16="http://schemas.microsoft.com/office/drawing/2014/main" id="{34BA83D7-2F7D-408F-8C5D-6280F0E0129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03D06EED-4119-430D-A798-D1224A0AF71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DA66BD55-0AD7-4A2A-8C9D-D592ABAD63B1}"/>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Write three tips for good customer service.</a:t>
            </a:r>
          </a:p>
        </p:txBody>
      </p:sp>
      <p:sp>
        <p:nvSpPr>
          <p:cNvPr id="17" name="body-1">
            <a:extLst xmlns:a="http://schemas.openxmlformats.org/drawingml/2006/main">
              <a:ext uri="{FF2B5EF4-FFF2-40B4-BE49-F238E27FC236}">
                <a16:creationId xmlns:a16="http://schemas.microsoft.com/office/drawing/2014/main" id="{75CCED0C-2FD6-4D1C-84BB-DD87B8707199}"/>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You may choose three useful tips from six.</a:t>
            </a:r>
          </a:p>
        </p:txBody>
      </p:sp>
      <p:sp>
        <p:nvSpPr>
          <p:cNvPr id="18" name="body-2">
            <a:extLst xmlns:a="http://schemas.openxmlformats.org/drawingml/2006/main">
              <a:ext uri="{FF2B5EF4-FFF2-40B4-BE49-F238E27FC236}">
                <a16:creationId xmlns:a16="http://schemas.microsoft.com/office/drawing/2014/main" id="{72B73819-A38A-424D-BE42-C3A1947E2D8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Say why each tip helps a customer.</a:t>
            </a:r>
          </a:p>
        </p:txBody>
      </p:sp>
      <p:sp>
        <p:nvSpPr>
          <p:cNvPr id="19" name="body-3">
            <a:extLst xmlns:a="http://schemas.openxmlformats.org/drawingml/2006/main">
              <a:ext uri="{FF2B5EF4-FFF2-40B4-BE49-F238E27FC236}">
                <a16:creationId xmlns:a16="http://schemas.microsoft.com/office/drawing/2014/main" id="{53B9996A-DB57-4710-8455-EE374E81FDCE}"/>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Use one thing that happened in your role play.</a:t>
            </a:r>
          </a:p>
        </p:txBody>
      </p:sp>
    </p:spTree>
    <p:extLst>
      <p:ext uri="{BB962C8B-B14F-4D97-AF65-F5344CB8AC3E}">
        <p14:creationId xmlns:p14="http://schemas.microsoft.com/office/powerpoint/2010/main" val="20251065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4E92340D-DD14-4F80-8DCE-2A627DBC4D3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D6EA8D-0BF1-48AF-9E8C-50FE4D6266E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78A7926F-A252-4CD4-85BD-83858B7401FA}"/>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2B5107C5-4D7E-4759-B414-6CA0F11FC2F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file</a:t>
            </a:r>
          </a:p>
        </p:txBody>
      </p:sp>
      <p:sp>
        <p:nvSpPr>
          <p:cNvPr id="5" name="heading-rule">
            <a:extLst xmlns:a="http://schemas.openxmlformats.org/drawingml/2006/main">
              <a:ext uri="{FF2B5EF4-FFF2-40B4-BE49-F238E27FC236}">
                <a16:creationId xmlns:a16="http://schemas.microsoft.com/office/drawing/2014/main" id="{CB664DF5-436E-46F4-BCAA-3E64F5B094E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412A9D34-ED16-4880-AF93-DBCD90FFE53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VOC-LAUNCH-A2-W03-L2</a:t>
            </a:r>
          </a:p>
        </p:txBody>
      </p:sp>
      <p:sp>
        <p:nvSpPr>
          <p:cNvPr id="15" name="edition-label">
            <a:extLst xmlns:a="http://schemas.openxmlformats.org/drawingml/2006/main">
              <a:ext uri="{FF2B5EF4-FFF2-40B4-BE49-F238E27FC236}">
                <a16:creationId xmlns:a16="http://schemas.microsoft.com/office/drawing/2014/main" id="{D9EFC214-1590-4F75-9D19-115EBBEA44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F98B947D-9710-457A-B0C2-38E63FF22BF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DF76FDE0-D39A-48CF-805B-E804E1CE03C3}"/>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04AF5524-5AAB-4F17-A111-AD7A1F54E1A0}"/>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Keep your two order tickets, booking form and observation.</a:t>
            </a:r>
          </a:p>
        </p:txBody>
      </p:sp>
      <p:sp>
        <p:nvSpPr>
          <p:cNvPr id="20" name="step-number-1">
            <a:extLst xmlns:a="http://schemas.openxmlformats.org/drawingml/2006/main">
              <a:ext uri="{FF2B5EF4-FFF2-40B4-BE49-F238E27FC236}">
                <a16:creationId xmlns:a16="http://schemas.microsoft.com/office/drawing/2014/main" id="{8736EBD0-D5C8-43C8-8ADE-389BC3510309}"/>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D35B8F93-E7C4-43A2-ADD2-93CDA051B620}"/>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File your three top tips card.</a:t>
            </a:r>
          </a:p>
        </p:txBody>
      </p:sp>
      <p:sp>
        <p:nvSpPr>
          <p:cNvPr id="22" name="step-number-2">
            <a:extLst xmlns:a="http://schemas.openxmlformats.org/drawingml/2006/main">
              <a:ext uri="{FF2B5EF4-FFF2-40B4-BE49-F238E27FC236}">
                <a16:creationId xmlns:a16="http://schemas.microsoft.com/office/drawing/2014/main" id="{CCDB3702-E224-4939-B557-1C8229F956E8}"/>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50CD1D84-8E71-4D19-8428-B4A2AB9D66AB}"/>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Record the support you used.</a:t>
            </a:r>
          </a:p>
        </p:txBody>
      </p:sp>
      <p:sp>
        <p:nvSpPr>
          <p:cNvPr id="24" name="step-number-3">
            <a:extLst xmlns:a="http://schemas.openxmlformats.org/drawingml/2006/main">
              <a:ext uri="{FF2B5EF4-FFF2-40B4-BE49-F238E27FC236}">
                <a16:creationId xmlns:a16="http://schemas.microsoft.com/office/drawing/2014/main" id="{E5CFC372-9436-40E3-982D-F5CD5334E940}"/>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4227DC18-4C0C-44B6-BC47-11C40278F7EF}"/>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One thing I improved was __.</a:t>
            </a:r>
          </a:p>
        </p:txBody>
      </p:sp>
    </p:spTree>
    <p:extLst>
      <p:ext uri="{BB962C8B-B14F-4D97-AF65-F5344CB8AC3E}">
        <p14:creationId xmlns:p14="http://schemas.microsoft.com/office/powerpoint/2010/main" val="13841919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188056F1-E4CD-4937-9ED9-B5D34B67E7D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359BC80-AC85-4606-9FBB-684C8D43819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088CA1C3-FDEF-43B2-BFC7-B20D42A7AA6B}"/>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943359A1-F7F6-480A-938E-16C09273924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ticket</a:t>
            </a:r>
          </a:p>
        </p:txBody>
      </p:sp>
      <p:sp>
        <p:nvSpPr>
          <p:cNvPr id="5" name="heading-rule">
            <a:extLst xmlns:a="http://schemas.openxmlformats.org/drawingml/2006/main">
              <a:ext uri="{FF2B5EF4-FFF2-40B4-BE49-F238E27FC236}">
                <a16:creationId xmlns:a16="http://schemas.microsoft.com/office/drawing/2014/main" id="{309D6CD3-4DC3-49EA-914E-54C5C8D2396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BDED09E3-E14E-4A47-893F-36C67B1683A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VOC-LAUNCH-A2-W03-L2</a:t>
            </a:r>
          </a:p>
        </p:txBody>
      </p:sp>
      <p:sp>
        <p:nvSpPr>
          <p:cNvPr id="10" name="edition-label">
            <a:extLst xmlns:a="http://schemas.openxmlformats.org/drawingml/2006/main">
              <a:ext uri="{FF2B5EF4-FFF2-40B4-BE49-F238E27FC236}">
                <a16:creationId xmlns:a16="http://schemas.microsoft.com/office/drawing/2014/main" id="{E5A1847E-43CD-42CD-9BA9-06BB80B160B2}"/>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716892D6-5B93-4194-A5AF-4F393F0C4846}"/>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B366EB5E-8284-43F1-ACEF-F4EFB52ABEE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Say one top tip.</a:t>
            </a:r>
          </a:p>
        </p:txBody>
      </p:sp>
      <p:sp>
        <p:nvSpPr>
          <p:cNvPr id="14" name="body-1">
            <a:extLst xmlns:a="http://schemas.openxmlformats.org/drawingml/2006/main">
              <a:ext uri="{FF2B5EF4-FFF2-40B4-BE49-F238E27FC236}">
                <a16:creationId xmlns:a16="http://schemas.microsoft.com/office/drawing/2014/main" id="{56C0D754-B028-4701-B027-83897F1CC2BA}"/>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Explain why it helps a customer.</a:t>
            </a:r>
          </a:p>
        </p:txBody>
      </p:sp>
      <p:sp>
        <p:nvSpPr>
          <p:cNvPr id="15" name="body-2">
            <a:extLst xmlns:a="http://schemas.openxmlformats.org/drawingml/2006/main">
              <a:ext uri="{FF2B5EF4-FFF2-40B4-BE49-F238E27FC236}">
                <a16:creationId xmlns:a16="http://schemas.microsoft.com/office/drawing/2014/main" id="{9C823C6B-34B4-469C-BC00-F008D5F9A6C6}"/>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My tip is __ because __.</a:t>
            </a:r>
          </a:p>
        </p:txBody>
      </p:sp>
    </p:spTree>
    <p:extLst>
      <p:ext uri="{BB962C8B-B14F-4D97-AF65-F5344CB8AC3E}">
        <p14:creationId xmlns:p14="http://schemas.microsoft.com/office/powerpoint/2010/main" val="14030184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C38B3772-58BE-4163-B3BE-B18574F934F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FEE9AFC-1964-4A3E-B9DC-B103ED8D82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AF5F681C-6132-42F3-A303-D14C0790653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958EBEC7-F972-41E5-8CCE-5811F6B74D3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Key words</a:t>
            </a:r>
          </a:p>
        </p:txBody>
      </p:sp>
      <p:sp>
        <p:nvSpPr>
          <p:cNvPr id="5" name="heading-rule">
            <a:extLst xmlns:a="http://schemas.openxmlformats.org/drawingml/2006/main">
              <a:ext uri="{FF2B5EF4-FFF2-40B4-BE49-F238E27FC236}">
                <a16:creationId xmlns:a16="http://schemas.microsoft.com/office/drawing/2014/main" id="{C7610828-EEBC-40DA-B5B0-ECBC40C304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5442CA80-CBDC-4C71-8119-5E2355BF854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VOC-LAUNCH-A2-W03-L2</a:t>
            </a:r>
          </a:p>
        </p:txBody>
      </p:sp>
      <p:sp>
        <p:nvSpPr>
          <p:cNvPr id="13" name="edition-label">
            <a:extLst xmlns:a="http://schemas.openxmlformats.org/drawingml/2006/main">
              <a:ext uri="{FF2B5EF4-FFF2-40B4-BE49-F238E27FC236}">
                <a16:creationId xmlns:a16="http://schemas.microsoft.com/office/drawing/2014/main" id="{0C8B976D-9EB5-42AF-9642-B23F6830D1F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68DEED63-82A9-4331-A781-5E18367C12BC}"/>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227EFA14-AF99-4A44-8271-B17BE25E7A89}"/>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Greet: welcome politely.</a:t>
            </a:r>
          </a:p>
        </p:txBody>
      </p:sp>
      <p:sp>
        <p:nvSpPr>
          <p:cNvPr id="17" name="body-1">
            <a:extLst xmlns:a="http://schemas.openxmlformats.org/drawingml/2006/main">
              <a:ext uri="{FF2B5EF4-FFF2-40B4-BE49-F238E27FC236}">
                <a16:creationId xmlns:a16="http://schemas.microsoft.com/office/drawing/2014/main" id="{FCCB0C4D-11CF-491D-B19D-C15CFF04807E}"/>
              </a:ext>
            </a:extLst>
          </p:cNvPr>
          <p:cNvSpPr>
            <a:spLocks xmlns:a="http://schemas.openxmlformats.org/drawingml/2006/main" noGrp="1"/>
          </p:cNvSpPr>
          <p:nvPr/>
        </p:nvSpPr>
        <p:spPr>
          <a:xfrm xmlns:a="http://schemas.openxmlformats.org/drawingml/2006/main">
            <a:off x="6096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Order: what the customer asks to buy.</a:t>
            </a:r>
          </a:p>
        </p:txBody>
      </p:sp>
      <p:sp>
        <p:nvSpPr>
          <p:cNvPr id="18" name="body-2">
            <a:extLst xmlns:a="http://schemas.openxmlformats.org/drawingml/2006/main">
              <a:ext uri="{FF2B5EF4-FFF2-40B4-BE49-F238E27FC236}">
                <a16:creationId xmlns:a16="http://schemas.microsoft.com/office/drawing/2014/main" id="{8E7578E2-9515-48CE-893D-27BCC6A9CA66}"/>
              </a:ext>
            </a:extLst>
          </p:cNvPr>
          <p:cNvSpPr>
            <a:spLocks xmlns:a="http://schemas.openxmlformats.org/drawingml/2006/main" noGrp="1"/>
          </p:cNvSpPr>
          <p:nvPr/>
        </p:nvSpPr>
        <p:spPr>
          <a:xfrm xmlns:a="http://schemas.openxmlformats.org/drawingml/2006/main">
            <a:off x="6096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Booking: arrange a room or service.</a:t>
            </a:r>
          </a:p>
        </p:txBody>
      </p:sp>
      <p:sp>
        <p:nvSpPr>
          <p:cNvPr id="19" name="body-3">
            <a:extLst xmlns:a="http://schemas.openxmlformats.org/drawingml/2006/main">
              <a:ext uri="{FF2B5EF4-FFF2-40B4-BE49-F238E27FC236}">
                <a16:creationId xmlns:a16="http://schemas.microsoft.com/office/drawing/2014/main" id="{748D342D-6A68-426E-8C5E-F732A92481D7}"/>
              </a:ext>
            </a:extLst>
          </p:cNvPr>
          <p:cNvSpPr>
            <a:spLocks xmlns:a="http://schemas.openxmlformats.org/drawingml/2006/main" noGrp="1"/>
          </p:cNvSpPr>
          <p:nvPr/>
        </p:nvSpPr>
        <p:spPr>
          <a:xfrm xmlns:a="http://schemas.openxmlformats.org/drawingml/2006/main">
            <a:off x="609600" y="3351086"/>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Confirm: check the details are right.</a:t>
            </a:r>
          </a:p>
        </p:txBody>
      </p:sp>
      <p:sp>
        <p:nvSpPr>
          <p:cNvPr id="20" name="body-0">
            <a:extLst xmlns:a="http://schemas.openxmlformats.org/drawingml/2006/main">
              <a:ext uri="{FF2B5EF4-FFF2-40B4-BE49-F238E27FC236}">
                <a16:creationId xmlns:a16="http://schemas.microsoft.com/office/drawing/2014/main" id="{40441ADD-D2A6-4377-AE34-EADD43E0F111}"/>
              </a:ext>
            </a:extLst>
          </p:cNvPr>
          <p:cNvSpPr>
            <a:spLocks xmlns:a="http://schemas.openxmlformats.org/drawingml/2006/main" noGrp="1"/>
          </p:cNvSpPr>
          <p:nvPr/>
        </p:nvSpPr>
        <p:spPr>
          <a:xfrm xmlns:a="http://schemas.openxmlformats.org/drawingml/2006/main">
            <a:off x="6362700" y="1695450"/>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Complaint: a report that something is wrong.</a:t>
            </a:r>
          </a:p>
        </p:txBody>
      </p:sp>
      <p:sp>
        <p:nvSpPr>
          <p:cNvPr id="21" name="body-1">
            <a:extLst xmlns:a="http://schemas.openxmlformats.org/drawingml/2006/main">
              <a:ext uri="{FF2B5EF4-FFF2-40B4-BE49-F238E27FC236}">
                <a16:creationId xmlns:a16="http://schemas.microsoft.com/office/drawing/2014/main" id="{1C600398-4C8E-40EB-8304-A161D68360E0}"/>
              </a:ext>
            </a:extLst>
          </p:cNvPr>
          <p:cNvSpPr>
            <a:spLocks xmlns:a="http://schemas.openxmlformats.org/drawingml/2006/main" noGrp="1"/>
          </p:cNvSpPr>
          <p:nvPr/>
        </p:nvSpPr>
        <p:spPr>
          <a:xfrm xmlns:a="http://schemas.openxmlformats.org/drawingml/2006/main">
            <a:off x="6362700" y="2561082"/>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Apologise: say you are sorry.</a:t>
            </a:r>
          </a:p>
        </p:txBody>
      </p:sp>
      <p:sp>
        <p:nvSpPr>
          <p:cNvPr id="22" name="body-2">
            <a:extLst xmlns:a="http://schemas.openxmlformats.org/drawingml/2006/main">
              <a:ext uri="{FF2B5EF4-FFF2-40B4-BE49-F238E27FC236}">
                <a16:creationId xmlns:a16="http://schemas.microsoft.com/office/drawing/2014/main" id="{1D800169-C1A7-4B46-8576-63AA5A17C81E}"/>
              </a:ext>
            </a:extLst>
          </p:cNvPr>
          <p:cNvSpPr>
            <a:spLocks xmlns:a="http://schemas.openxmlformats.org/drawingml/2006/main" noGrp="1"/>
          </p:cNvSpPr>
          <p:nvPr/>
        </p:nvSpPr>
        <p:spPr>
          <a:xfrm xmlns:a="http://schemas.openxmlformats.org/drawingml/2006/main">
            <a:off x="6362700" y="3112961"/>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Refer: ask a person who can help.</a:t>
            </a:r>
          </a:p>
        </p:txBody>
      </p:sp>
    </p:spTree>
    <p:extLst>
      <p:ext uri="{BB962C8B-B14F-4D97-AF65-F5344CB8AC3E}">
        <p14:creationId xmlns:p14="http://schemas.microsoft.com/office/powerpoint/2010/main" val="646259534"/>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71EE133B-A394-401C-AEA1-3CDFD25B154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789B1499-651A-4229-8E45-889D49D47388}"/>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A6EBBD91-6380-44C6-8A7E-F14A33E44EA7}"/>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02C6F34-0AE1-4A4C-AF2B-E7805F260C7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D66CB730-F20E-4203-A099-38E72818E8D5}"/>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30A7A71E-0EF4-4600-A915-DD80C71A637B}"/>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VOC-LAUNCH-A2-W03-L2</a:t>
            </a:r>
          </a:p>
        </p:txBody>
      </p:sp>
      <p:sp>
        <p:nvSpPr>
          <p:cNvPr id="12" name="edition-label">
            <a:extLst xmlns:a="http://schemas.openxmlformats.org/drawingml/2006/main">
              <a:ext uri="{FF2B5EF4-FFF2-40B4-BE49-F238E27FC236}">
                <a16:creationId xmlns:a16="http://schemas.microsoft.com/office/drawing/2014/main" id="{C4DB3AA8-2432-4A33-BF4C-68D6C7B075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B758A12E-C263-444B-9EBB-2364F73CD5A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0584A287-388A-42A4-9E7A-985235333031}"/>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Adult customer and observer; quiet individual station.</a:t>
            </a:r>
          </a:p>
        </p:txBody>
      </p:sp>
      <p:sp>
        <p:nvSpPr>
          <p:cNvPr id="16" name="body-1">
            <a:extLst xmlns:a="http://schemas.openxmlformats.org/drawingml/2006/main">
              <a:ext uri="{FF2B5EF4-FFF2-40B4-BE49-F238E27FC236}">
                <a16:creationId xmlns:a16="http://schemas.microsoft.com/office/drawing/2014/main" id="{8699E10D-9B03-464B-94D6-3D9BA45A3742}"/>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Four situations; two order tickets; one booking form.</a:t>
            </a:r>
          </a:p>
        </p:txBody>
      </p:sp>
      <p:sp>
        <p:nvSpPr>
          <p:cNvPr id="17" name="body-2">
            <a:extLst xmlns:a="http://schemas.openxmlformats.org/drawingml/2006/main">
              <a:ext uri="{FF2B5EF4-FFF2-40B4-BE49-F238E27FC236}">
                <a16:creationId xmlns:a16="http://schemas.microsoft.com/office/drawing/2014/main" id="{4D994DA0-6222-439A-B704-2B44066DCF0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Record actual performance, words and support.</a:t>
            </a:r>
          </a:p>
        </p:txBody>
      </p:sp>
      <p:sp>
        <p:nvSpPr>
          <p:cNvPr id="18" name="body-3">
            <a:extLst xmlns:a="http://schemas.openxmlformats.org/drawingml/2006/main">
              <a:ext uri="{FF2B5EF4-FFF2-40B4-BE49-F238E27FC236}">
                <a16:creationId xmlns:a16="http://schemas.microsoft.com/office/drawing/2014/main" id="{9BFC859F-565A-4EA4-852D-09DB3BB8B85C}"/>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Three learner-owned tips, with reasons.</a:t>
            </a:r>
          </a:p>
        </p:txBody>
      </p:sp>
      <p:sp>
        <p:nvSpPr>
          <p:cNvPr id="19" name="body-4">
            <a:extLst xmlns:a="http://schemas.openxmlformats.org/drawingml/2006/main">
              <a:ext uri="{FF2B5EF4-FFF2-40B4-BE49-F238E27FC236}">
                <a16:creationId xmlns:a16="http://schemas.microsoft.com/office/drawing/2014/main" id="{BCD53923-D946-4273-AA6B-0E6CCAAB0A2F}"/>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Lundy: Space · Voice · Audience · Influence.</a:t>
            </a:r>
          </a:p>
        </p:txBody>
      </p:sp>
    </p:spTree>
    <p:extLst>
      <p:ext uri="{BB962C8B-B14F-4D97-AF65-F5344CB8AC3E}">
        <p14:creationId xmlns:p14="http://schemas.microsoft.com/office/powerpoint/2010/main" val="211555059"/>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Converted Presentation</ap:PresentationFormat>
  <ap:Slides>12</ap:Slides>
  <ap:Notes>12</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The Mission</dc:title>
  <dc:subject>VOC-LAUNCH-A2-W03-L2</dc:subject>
  <cp:lastModifiedBy/>
</cp:coreProperties>
</file>