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055b319bea4cd1" /><Relationship Type="http://schemas.openxmlformats.org/officeDocument/2006/relationships/extended-properties" Target="/docProps/app.xml" Id="Rc8626ca0e18f4936" /><Relationship Type="http://schemas.openxmlformats.org/officeDocument/2006/relationships/officeDocument" Target="/ppt/presentation.xml" Id="R8520a95d66664c17" /></Relationships>
</file>

<file path=ppt/presentation.xml><?xml version="1.0" encoding="utf-8"?>
<p:presentation xmlns:p="http://schemas.openxmlformats.org/presentationml/2006/main">
  <p:sldMasterIdLst>
    <p:sldMasterId xmlns:r="http://schemas.openxmlformats.org/officeDocument/2006/relationships" id="2147483648" r:id="Rb2032ae9bf7d41a7"/>
  </p:sldMasterIdLst>
  <p:notesMasterIdLst>
    <p:notesMasterId xmlns:r="http://schemas.openxmlformats.org/officeDocument/2006/relationships" r:id="Rf8196cf8edab42c7"/>
  </p:notesMasterIdLst>
  <p:sldIdLst>
    <p:sldId xmlns:r="http://schemas.openxmlformats.org/officeDocument/2006/relationships" id="256" r:id="R13de9b0a53354556"/>
    <p:sldId xmlns:r="http://schemas.openxmlformats.org/officeDocument/2006/relationships" id="257" r:id="Rd897233504064c99"/>
    <p:sldId xmlns:r="http://schemas.openxmlformats.org/officeDocument/2006/relationships" id="258" r:id="R00e30de60d574c62"/>
    <p:sldId xmlns:r="http://schemas.openxmlformats.org/officeDocument/2006/relationships" id="259" r:id="R90cdb9a7a5c54304"/>
    <p:sldId xmlns:r="http://schemas.openxmlformats.org/officeDocument/2006/relationships" id="260" r:id="R06a6de3ced51495b"/>
    <p:sldId xmlns:r="http://schemas.openxmlformats.org/officeDocument/2006/relationships" id="261" r:id="R704796fdf07a44bf"/>
    <p:sldId xmlns:r="http://schemas.openxmlformats.org/officeDocument/2006/relationships" id="262" r:id="R87c1a4bb70734bc6"/>
    <p:sldId xmlns:r="http://schemas.openxmlformats.org/officeDocument/2006/relationships" id="263" r:id="R64c6d09096e64516"/>
    <p:sldId xmlns:r="http://schemas.openxmlformats.org/officeDocument/2006/relationships" id="264" r:id="Rb737528683564843"/>
    <p:sldId xmlns:r="http://schemas.openxmlformats.org/officeDocument/2006/relationships" id="265" r:id="Rdf1f12f0283841b0"/>
    <p:sldId xmlns:r="http://schemas.openxmlformats.org/officeDocument/2006/relationships" id="266" r:id="R3d50130d85124557"/>
    <p:sldId xmlns:r="http://schemas.openxmlformats.org/officeDocument/2006/relationships" id="267" r:id="R70b197cd68d042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7a6bf943414bd1" /><Relationship Type="http://schemas.openxmlformats.org/officeDocument/2006/relationships/slideMaster" Target="/ppt/slideMasters/slideMaster1.xml" Id="Rb2032ae9bf7d41a7" /><Relationship Type="http://schemas.openxmlformats.org/officeDocument/2006/relationships/notesMaster" Target="/ppt/notesMasters/notesMaster1.xml" Id="Rf8196cf8edab42c7" /><Relationship Type="http://schemas.openxmlformats.org/officeDocument/2006/relationships/presProps" Target="/ppt/presProps.xml" Id="R5a68463ac7934ccf" /><Relationship Type="http://schemas.openxmlformats.org/officeDocument/2006/relationships/tableStyles" Target="/ppt/tableStyles.xml" Id="R621dfefbb32f4102" /><Relationship Type="http://schemas.openxmlformats.org/officeDocument/2006/relationships/slide" Target="/ppt/slides/slide1.xml" Id="R13de9b0a53354556" /><Relationship Type="http://schemas.openxmlformats.org/officeDocument/2006/relationships/slide" Target="/ppt/slides/slide2.xml" Id="Rd897233504064c99" /><Relationship Type="http://schemas.openxmlformats.org/officeDocument/2006/relationships/slide" Target="/ppt/slides/slide3.xml" Id="R00e30de60d574c62" /><Relationship Type="http://schemas.openxmlformats.org/officeDocument/2006/relationships/slide" Target="/ppt/slides/slide4.xml" Id="R90cdb9a7a5c54304" /><Relationship Type="http://schemas.openxmlformats.org/officeDocument/2006/relationships/slide" Target="/ppt/slides/slide5.xml" Id="R06a6de3ced51495b" /><Relationship Type="http://schemas.openxmlformats.org/officeDocument/2006/relationships/slide" Target="/ppt/slides/slide6.xml" Id="R704796fdf07a44bf" /><Relationship Type="http://schemas.openxmlformats.org/officeDocument/2006/relationships/slide" Target="/ppt/slides/slide7.xml" Id="R87c1a4bb70734bc6" /><Relationship Type="http://schemas.openxmlformats.org/officeDocument/2006/relationships/slide" Target="/ppt/slides/slide8.xml" Id="R64c6d09096e64516" /><Relationship Type="http://schemas.openxmlformats.org/officeDocument/2006/relationships/slide" Target="/ppt/slides/slide9.xml" Id="Rb737528683564843" /><Relationship Type="http://schemas.openxmlformats.org/officeDocument/2006/relationships/slide" Target="/ppt/slides/slide10.xml" Id="Rdf1f12f0283841b0" /><Relationship Type="http://schemas.openxmlformats.org/officeDocument/2006/relationships/slide" Target="/ppt/slides/slide11.xml" Id="R3d50130d85124557" /><Relationship Type="http://schemas.openxmlformats.org/officeDocument/2006/relationships/slide" Target="/ppt/slides/slide12.xml" Id="R70b197cd68d042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6633fb5da142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087a0e5adb4cf8" /><Relationship Type="http://schemas.openxmlformats.org/officeDocument/2006/relationships/notesMaster" Target="/ppt/notesMasters/notesMaster1.xml" Id="Rbd1a0f13bf5345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bcf5a5bcc54458" /><Relationship Type="http://schemas.openxmlformats.org/officeDocument/2006/relationships/notesMaster" Target="/ppt/notesMasters/notesMaster1.xml" Id="R6c7b64a5a4f843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bca0ccdc564d22" /><Relationship Type="http://schemas.openxmlformats.org/officeDocument/2006/relationships/notesMaster" Target="/ppt/notesMasters/notesMaster1.xml" Id="R19c292d408104a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772f6477194b40" /><Relationship Type="http://schemas.openxmlformats.org/officeDocument/2006/relationships/notesMaster" Target="/ppt/notesMasters/notesMaster1.xml" Id="R596fe679a18940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128f94f3fb45f4" /><Relationship Type="http://schemas.openxmlformats.org/officeDocument/2006/relationships/notesMaster" Target="/ppt/notesMasters/notesMaster1.xml" Id="R935e425e665d43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268b9333db4b2d" /><Relationship Type="http://schemas.openxmlformats.org/officeDocument/2006/relationships/notesMaster" Target="/ppt/notesMasters/notesMaster1.xml" Id="R7d5b85eab24e44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ace1610e5841f8" /><Relationship Type="http://schemas.openxmlformats.org/officeDocument/2006/relationships/notesMaster" Target="/ppt/notesMasters/notesMaster1.xml" Id="R6596e4f1fad845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8ff7d3e891404d" /><Relationship Type="http://schemas.openxmlformats.org/officeDocument/2006/relationships/notesMaster" Target="/ppt/notesMasters/notesMaster1.xml" Id="R8a2fc7250a5149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40bf11b9b54514" /><Relationship Type="http://schemas.openxmlformats.org/officeDocument/2006/relationships/notesMaster" Target="/ppt/notesMasters/notesMaster1.xml" Id="Rd78d6ad620bc4f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c84969313b4322" /><Relationship Type="http://schemas.openxmlformats.org/officeDocument/2006/relationships/notesMaster" Target="/ppt/notesMasters/notesMaster1.xml" Id="Rc8c29b1a41c04d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a134ffc7aa4480" /><Relationship Type="http://schemas.openxmlformats.org/officeDocument/2006/relationships/notesMaster" Target="/ppt/notesMasters/notesMaster1.xml" Id="Racfee1c340a849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7e9cdc9da6469d" /><Relationship Type="http://schemas.openxmlformats.org/officeDocument/2006/relationships/notesMaster" Target="/ppt/notesMasters/notesMaster1.xml" Id="R42ce61dcbaf14b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Title</a:t>
            </a:r>
          </a:p>
          <a:p xmlns:a="http://schemas.openxmlformats.org/drawingml/2006/main">
            <a:r>
              <a:t>Timing: 0 minutes.</a:t>
            </a:r>
          </a:p>
          <a:p xmlns:a="http://schemas.openxmlformats.org/drawingml/2006/main">
            <a:r>
              <a:t>Untimed. Bring forward the learner’s Week 2 Theory plan and checked sort. This task makes an individual A3 poster or display panel, not a whole-class product. Source: sources/MTP.xlsx; revision sha256:0895674f2901b602daf998b8a7aa1516522ce0c301b23bfba941fcc1807977cd. Medium Term Plan!D7; Lesson register!F9.</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D7, E7, F7, G7, H7, I7, J7, K7; Challenge map &amp; hours A6, B6, C6, D6, E6, F6, G6, K6, M6, N6; Lesson register B9, E9, F9, G9, H9, I9, J9.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Arrival and regulation</a:t>
            </a:r>
          </a:p>
          <a:p xmlns:a="http://schemas.openxmlformats.org/drawingml/2006/main">
            <a:r>
              <a:t>Timing: 4 minutes.</a:t>
            </a:r>
          </a:p>
          <a:p xmlns:a="http://schemas.openxmlformats.org/drawingml/2006/main">
            <a:r>
              <a:t>4 minutes. BLUE low energy; GREEN ready; AMBER tense; RED overwhelmed. Offer water, quiet breathing, a brief pause or a quieter seat without requiring a public colour disclosure. Privately agree one return action. Expected: the food is a product in the lesson convention; preparing or serving it is an associated service, so explain if saying both; range means variety; stop and ask the adult to make the scissors safe, follow local handling instructions; labels explain what the pictures mean and the business/category. Do not demonstrate unsafe handling. Individual stations; no pair work or cold calling. Adults may read, rephrase or scribe exact learner words and record support. They do not choose the learner’s assessed sort, labels or explanation. Only VF, WS, I, NS, E and R are used; confirm local code definitions before marking. Blank templates and copied models are not completed individual evidence.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D7, E7, F7, G7, H7, I7, J7, K7; Challenge map &amp; hours A6, B6, C6, D6, E6, F6, G6, K6, M6, N6; Lesson register B9, E9, F9, G9, H9, I9, J9.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Retrieval and starter</a:t>
            </a:r>
          </a:p>
          <a:p xmlns:a="http://schemas.openxmlformats.org/drawingml/2006/main">
            <a:r>
              <a:t>Timing: 2 minutes.</a:t>
            </a:r>
          </a:p>
          <a:p xmlns:a="http://schemas.openxmlformats.org/drawingml/2006/main">
            <a:r>
              <a:t>2 minutes. Show both read-only model layouts. The weak one has pictures/items but no business or category labels; the strong one gives the reader those labels. These are teaching examples, not completed learner work. A clear label matters more than decoration.</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D7, E7, F7, G7, H7, I7, J7, K7; Challenge map &amp; hours A6, B6, C6, D6, E6, F6, G6, K6, M6, N6; Lesson register B9, E9, F9, G9, H9, I9, J9.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Today</a:t>
            </a:r>
          </a:p>
          <a:p xmlns:a="http://schemas.openxmlformats.org/drawingml/2006/main">
            <a:r>
              <a:t>Timing: 0 minutes.</a:t>
            </a:r>
          </a:p>
          <a:p xmlns:a="http://schemas.openxmlformats.org/drawingml/2006/main">
            <a:r>
              <a:t>Untimed. Read the exact supplied outcome. [QUAL] — planner mapping. Four products, four services, two business types and every item labelled are the workbook’s classroom success checks. They are not presented as unverified official criterion wording.</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D7, E7, F7, G7, H7, I7, J7, K7; Challenge map &amp; hours A6, B6, C6, D6, E6, F6, G6, K6, M6, N6; Lesson register B9, E9, F9, G9, H9, I9, J9.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I DO</a:t>
            </a:r>
          </a:p>
          <a:p xmlns:a="http://schemas.openxmlformats.org/drawingml/2006/main">
            <a:r>
              <a:t>Timing: 5 minutes.</a:t>
            </a:r>
          </a:p>
          <a:p xmlns:a="http://schemas.openxmlformats.org/drawingml/2006/main">
            <a:r>
              <a:t>5 minutes. Model safe cutting or use pre-cut materials, then place and label three items: café sandwich product, hotel room cleaning service, event catering food delivery service. Use supplied magazines, brochures, menus or leaflets; if only the illustrated bank is available, record the flat-illustration adaptation rather than claiming real brochures were used. The workbook teaches room as a product but suggests “can you hold it?” as the test. This lesson keeps the room as a bookable hotel offer sold to a guest, with booking and cleaning as services. Holding is a clue for many physical products, not a defining rule. A room/stay combines an offer and services. Accept a well-reasoned alternative classification and record the reason; do not mark a learner wrong merely for noticing the mixed offer.</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D7, E7, F7, G7, H7, I7, J7, K7; Challenge map &amp; hours A6, B6, C6, D6, E6, F6, G6, K6, M6, N6; Lesson register B9, E9, F9, G9, H9, I9, J9.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WE DO</a:t>
            </a:r>
          </a:p>
          <a:p xmlns:a="http://schemas.openxmlformats.org/drawingml/2006/main">
            <a:r>
              <a:t>Timing: 5 minutes.</a:t>
            </a:r>
          </a:p>
          <a:p xmlns:a="http://schemas.openxmlformats.org/drawingml/2006/main">
            <a:r>
              <a:t>5 minutes. Agree the four source classroom checks and apply them to the strong and weak model layouts. Hinge: a display has eight pictures but only one business type and no service labels. Does it meet the checks? Expected no; add another business type, show service examples and label the items. Different mixed-offer choices are acceptable with a reason.</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D7, E7, F7, G7, H7, I7, J7, K7; Challenge map &amp; hours A6, B6, C6, D6, E6, F6, G6, K6, M6, N6; Lesson register B9, E9, F9, G9, H9, I9, J9.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practice</a:t>
            </a:r>
          </a:p>
          <a:p xmlns:a="http://schemas.openxmlformats.org/drawingml/2006/main">
            <a:r>
              <a:t>Timing: 12 minutes.</a:t>
            </a:r>
          </a:p>
          <a:p xmlns:a="http://schemas.openxmlformats.org/drawingml/2006/main">
            <a:r>
              <a:t>12 minutes. First part of the 18-minute individual task. Learners work at individual stations, using their checked plan. At 10 minutes into the individual work, check the four criteria and record independence. Adult help is practical access support, not permission to select or label the learner’s assessed items. Keep scissors and glue under the school’s ordinary supervision procedures.</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D7, E7, F7, G7, H7, I7, J7, K7; Challenge map &amp; hours A6, B6, C6, D6, E6, F6, G6, K6, M6, N6; Lesson register B9, E9, F9, G9, H9, I9, J9.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evidence</a:t>
            </a:r>
          </a:p>
          <a:p xmlns:a="http://schemas.openxmlformats.org/drawingml/2006/main">
            <a:r>
              <a:t>Timing: 6 minutes.</a:t>
            </a:r>
          </a:p>
          <a:p xmlns:a="http://schemas.openxmlformats.org/drawingml/2006/main">
            <a:r>
              <a:t>6 minutes. Completes the 18-minute You Do. VOC2-L2-E1 includes the learner’s A3 poster/display and real photo reference. Ask the learner to identify one product and one service and explain any ambiguous offer. An adult captures the actual work with approved equipment; learners need no phones. Record support and actual contribution. The café idea is a proposed choice, not an already approved menu or promise to prepare food.</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D7, E7, F7, G7, H7, I7, J7, K7; Challenge map &amp; hours A6, B6, C6, D6, E6, F6, G6, K6, M6, N6; Lesson register B9, E9, F9, G9, H9, I9, J9.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Tidy and evidence check</a:t>
            </a:r>
          </a:p>
          <a:p xmlns:a="http://schemas.openxmlformats.org/drawingml/2006/main">
            <a:r>
              <a:t>Timing: 4 minutes.</a:t>
            </a:r>
          </a:p>
          <a:p xmlns:a="http://schemas.openxmlformats.org/drawingml/2006/main">
            <a:r>
              <a:t>4 minutes. Tidy, photograph and file using the approved workflow in the evidence app. The photo must show the learner’s own display and readable labels; capture date and reference only after it exists. Check actual ownership, access support and active minutes. Do not automatically tick an award challenge complete or assume planned time was earned.</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D7, E7, F7, G7, H7, I7, J7, K7; Challenge map &amp; hours A6, B6, C6, D6, E6, F6, G6, K6, M6, N6; Lesson register B9, E9, F9, G9, H9, I9, J9.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Exit ticket</a:t>
            </a:r>
          </a:p>
          <a:p xmlns:a="http://schemas.openxmlformats.org/drawingml/2006/main">
            <a:r>
              <a:t>Timing: 2 minutes.</a:t>
            </a:r>
          </a:p>
          <a:p xmlns:a="http://schemas.openxmlformats.org/drawingml/2006/main">
            <a:r>
              <a:t>2 minutes. Private adult check, pointing or a short written response. Accept accurate examples and any defensible mixed-offer explanation. If the label or business is unclear, the next step is to improve that exact label. No whole-class performance is required.</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D7, E7, F7, G7, H7, I7, J7, K7; Challenge map &amp; hours A6, B6, C6, D6, E6, F6, G6, K6, M6, N6; Lesson register B9, E9, F9, G9, H9, I9, J9.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Vocabulary</a:t>
            </a:r>
          </a:p>
          <a:p xmlns:a="http://schemas.openxmlformats.org/drawingml/2006/main">
            <a:r>
              <a:t>Timing: 0 minutes.</a:t>
            </a:r>
          </a:p>
          <a:p xmlns:a="http://schemas.openxmlformats.org/drawingml/2006/main">
            <a:r>
              <a:t>Untimed vocabulary reference. Read the labels and the frame “The __ business offers __.” Words, item labels and pictures carry the category; colour alone never decides product or service.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D7, E7, F7, G7, H7, I7, J7, K7; Challenge map &amp; hours A6, B6, C6, D6, E6, F6, G6, K6, M6, N6; Lesson register B9, E9, F9, G9, H9, I9, J9.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Staff brief</a:t>
            </a:r>
          </a:p>
          <a:p xmlns:a="http://schemas.openxmlformats.org/drawingml/2006/main">
            <a:r>
              <a:t>Timing: 0 minutes.</a:t>
            </a:r>
          </a:p>
          <a:p xmlns:a="http://schemas.openxmlformats.org/drawingml/2006/main">
            <a:r>
              <a:t>Hidden staff slide. TA prepares safe/pre-cut access, reads labels and supports placement only to the learner’s direction. Lundy Space: individual station; Voice: learner chooses range and café ideas; Audience: adult reviews the labelled work; Influence: learner improves one label or category after feedback. The workbook teaches room as a product but suggests “can you hold it?” as the test. This lesson keeps the room as a bookable hotel offer sold to a guest, with booking and cleaning as services. Holding is a clue for many physical products, not a defining rule. A room/stay combines an offer and services. Accept a well-reasoned alternative classification and record the reason; do not mark a learner wrong merely for noticing the mixed offer. Individual stations; no pair work or cold calling. Adults may read, rephrase or scribe exact learner words and record support. They do not choose the learner’s assessed sort, labels or explanation. Only VF, WS, I, NS, E and R are used; confirm local code definitions before marking. Blank templates and copied models are not completed individual evidence.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D7, E7, F7, G7, H7, I7, J7, K7; Challenge map &amp; hours A6, B6, C6, D6, E6, F6, G6, K6, M6, N6; Lesson register B9, E9, F9, G9, H9, I9, J9.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20898a2f414b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492fa0d6644fc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2670d769a7949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fe55ce67d7446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8fcb0987f843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e677b375b043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2F0D6E-783E-4A7A-B19A-B5E0152D01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5BEFF2-428E-4D82-B017-DD72B178B0E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ADAC846-B7EC-4975-839F-766E2BFA80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C06736-B5EB-43E5-8580-49DAF0CCD5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6A064DE-EB36-4FE0-83E7-25EB2BEC1F7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5F8B3A4-5194-4890-B818-7FE720CF94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81D2C2-2D33-4D3A-96C7-59DAFAAF21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901370-6D9D-48F7-B75A-762DAD8187F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D8D235-5733-4E45-9E6D-301D5A23E7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F74F5A-945B-4D43-A23B-E07761F58E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24fbc4d33748f7" /><Relationship Type="http://schemas.openxmlformats.org/officeDocument/2006/relationships/slideLayout" Target="/ppt/slideLayouts/slideLayout1.xml" Id="R2fafaf47057842ec" /><Relationship Type="http://schemas.openxmlformats.org/officeDocument/2006/relationships/slideLayout" Target="/ppt/slideLayouts/slideLayout2.xml" Id="R9554cd55b58f4fb3" /><Relationship Type="http://schemas.openxmlformats.org/officeDocument/2006/relationships/slideLayout" Target="/ppt/slideLayouts/slideLayout3.xml" Id="R75110bd77c6b4111" /><Relationship Type="http://schemas.openxmlformats.org/officeDocument/2006/relationships/slideLayout" Target="/ppt/slideLayouts/slideLayout4.xml" Id="R90a8464c84304451" /><Relationship Type="http://schemas.openxmlformats.org/officeDocument/2006/relationships/slideLayout" Target="/ppt/slideLayouts/slideLayout5.xml" Id="Re28a3835c0ba4829" /><Relationship Type="http://schemas.openxmlformats.org/officeDocument/2006/relationships/slideLayout" Target="/ppt/slideLayouts/slideLayout6.xml" Id="R994e961a8c7644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afaf47057842ec"/>
    <p:sldLayoutId xmlns:r="http://schemas.openxmlformats.org/officeDocument/2006/relationships" id="2147483650" r:id="R9554cd55b58f4fb3"/>
    <p:sldLayoutId xmlns:r="http://schemas.openxmlformats.org/officeDocument/2006/relationships" id="2147483651" r:id="R75110bd77c6b4111"/>
    <p:sldLayoutId xmlns:r="http://schemas.openxmlformats.org/officeDocument/2006/relationships" id="2147483652" r:id="R90a8464c84304451"/>
    <p:sldLayoutId xmlns:r="http://schemas.openxmlformats.org/officeDocument/2006/relationships" id="2147483653" r:id="Re28a3835c0ba4829"/>
    <p:sldLayoutId xmlns:r="http://schemas.openxmlformats.org/officeDocument/2006/relationships" id="2147483654" r:id="R994e961a8c7644c5"/>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0e6e73d8015494d" /><Relationship Type="http://schemas.openxmlformats.org/officeDocument/2006/relationships/notesSlide" Target="/ppt/notesSlides/notesSlide1.xml" Id="R3d688578e90b4b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fb6e955fa6745f8" /><Relationship Type="http://schemas.openxmlformats.org/officeDocument/2006/relationships/notesSlide" Target="/ppt/notesSlides/notesSlide2.xml" Id="R1fbbf4b1dcaa48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9c61cb81ea144d5" /><Relationship Type="http://schemas.openxmlformats.org/officeDocument/2006/relationships/notesSlide" Target="/ppt/notesSlides/notesSlide3.xml" Id="R2a1f47f7f67747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4aa44e79f4f40d3" /><Relationship Type="http://schemas.openxmlformats.org/officeDocument/2006/relationships/notesSlide" Target="/ppt/notesSlides/notesSlide4.xml" Id="R9c889b5b303f40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2cd1eab8ae463c" /><Relationship Type="http://schemas.openxmlformats.org/officeDocument/2006/relationships/notesSlide" Target="/ppt/notesSlides/notesSlide5.xml" Id="R6713a6336d8247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308749695ad46e6" /><Relationship Type="http://schemas.openxmlformats.org/officeDocument/2006/relationships/notesSlide" Target="/ppt/notesSlides/notesSlide6.xml" Id="R0ac8d7b2db6c44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a6137f3ef70489f" /><Relationship Type="http://schemas.openxmlformats.org/officeDocument/2006/relationships/notesSlide" Target="/ppt/notesSlides/notesSlide7.xml" Id="R144817a309f34a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e52b848bd7c4a73" /><Relationship Type="http://schemas.openxmlformats.org/officeDocument/2006/relationships/notesSlide" Target="/ppt/notesSlides/notesSlide8.xml" Id="R7bf74a0081384b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253402e16ec4767" /><Relationship Type="http://schemas.openxmlformats.org/officeDocument/2006/relationships/notesSlide" Target="/ppt/notesSlides/notesSlide9.xml" Id="Rec7a72159f9e46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cb97943a7024b68" /><Relationship Type="http://schemas.openxmlformats.org/officeDocument/2006/relationships/notesSlide" Target="/ppt/notesSlides/notesSlide10.xml" Id="Ra9bc7bdad0f044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5fabdcfcad3472e" /><Relationship Type="http://schemas.openxmlformats.org/officeDocument/2006/relationships/notesSlide" Target="/ppt/notesSlides/notesSlide11.xml" Id="R4712fc091a5d4f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60a79a6ca1942f8" /><Relationship Type="http://schemas.openxmlformats.org/officeDocument/2006/relationships/notesSlide" Target="/ppt/notesSlides/notesSlide12.xml" Id="R458e22b0e26a438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514E04A1-CF94-4328-B4C1-A29B84EE692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362A1F5-A4C2-401F-993B-93FC0004360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TITLE</a:t>
            </a:r>
          </a:p>
        </p:txBody>
      </p:sp>
      <p:sp>
        <p:nvSpPr>
          <p:cNvPr id="3" name="slide-number-time">
            <a:extLst xmlns:a="http://schemas.openxmlformats.org/drawingml/2006/main">
              <a:ext uri="{FF2B5EF4-FFF2-40B4-BE49-F238E27FC236}">
                <a16:creationId xmlns:a16="http://schemas.microsoft.com/office/drawing/2014/main" id="{747EAC40-0321-40B7-A199-3C1622DEB7FA}"/>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CB019C4D-1345-4E9C-895C-09E697BC5EDA}"/>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defRPr sz="4200" b="1">
                <a:solidFill>
                  <a:srgbClr val="17384A"/>
                </a:solidFill>
                <a:latin typeface="Arial"/>
                <a:ea typeface="Arial"/>
                <a:cs typeface="Arial"/>
              </a:defRPr>
            </a:lvl1pPr>
            <a:lvl2pPr algn="l">
              <a:defRPr sz="4200" b="1">
                <a:solidFill>
                  <a:srgbClr val="17384A"/>
                </a:solidFill>
                <a:latin typeface="Arial"/>
                <a:ea typeface="Arial"/>
                <a:cs typeface="Arial"/>
              </a:defRPr>
            </a:lvl2pPr>
            <a:lvl3pPr algn="l">
              <a:defRPr sz="4200" b="1">
                <a:solidFill>
                  <a:srgbClr val="17384A"/>
                </a:solidFill>
                <a:latin typeface="Arial"/>
                <a:ea typeface="Arial"/>
                <a:cs typeface="Arial"/>
              </a:defRPr>
            </a:lvl3pPr>
            <a:lvl4pPr algn="l">
              <a:defRPr sz="4200" b="1">
                <a:solidFill>
                  <a:srgbClr val="17384A"/>
                </a:solidFill>
                <a:latin typeface="Arial"/>
                <a:ea typeface="Arial"/>
                <a:cs typeface="Arial"/>
              </a:defRPr>
            </a:lvl4pPr>
            <a:lvl5pPr algn="l">
              <a:defRPr sz="4200" b="1">
                <a:solidFill>
                  <a:srgbClr val="17384A"/>
                </a:solidFill>
                <a:latin typeface="Arial"/>
                <a:ea typeface="Arial"/>
                <a:cs typeface="Arial"/>
              </a:defRPr>
            </a:lvl5pPr>
            <a:lvl6pPr algn="l">
              <a:defRPr sz="4200" b="1">
                <a:solidFill>
                  <a:srgbClr val="17384A"/>
                </a:solidFill>
                <a:latin typeface="Arial"/>
                <a:ea typeface="Arial"/>
                <a:cs typeface="Arial"/>
              </a:defRPr>
            </a:lvl6pPr>
            <a:lvl7pPr algn="l">
              <a:defRPr sz="4200" b="1">
                <a:solidFill>
                  <a:srgbClr val="17384A"/>
                </a:solidFill>
                <a:latin typeface="Arial"/>
                <a:ea typeface="Arial"/>
                <a:cs typeface="Arial"/>
              </a:defRPr>
            </a:lvl7pPr>
            <a:lvl8pPr algn="l">
              <a:defRPr sz="4200" b="1">
                <a:solidFill>
                  <a:srgbClr val="17384A"/>
                </a:solidFill>
                <a:latin typeface="Arial"/>
                <a:ea typeface="Arial"/>
                <a:cs typeface="Arial"/>
              </a:defRPr>
            </a:lvl8pPr>
            <a:lvl9pPr algn="l">
              <a:defRPr sz="4200" b="1">
                <a:solidFill>
                  <a:srgbClr val="17384A"/>
                </a:solidFill>
                <a:latin typeface="Arial"/>
                <a:ea typeface="Arial"/>
                <a:cs typeface="Arial"/>
              </a:defRPr>
            </a:lvl9pPr>
          </a:lstStyle>
          <a:p xmlns:a="http://schemas.openxmlformats.org/drawingml/2006/main">
            <a:pPr algn="l">
              <a:defRPr sz="4200" b="1">
                <a:solidFill>
                  <a:srgbClr val="17384A"/>
                </a:solidFill>
                <a:latin typeface="Arial"/>
                <a:ea typeface="Arial"/>
                <a:cs typeface="Arial"/>
              </a:defRPr>
            </a:pPr>
            <a:r>
              <a:rPr sz="4200" b="1">
                <a:solidFill>
                  <a:srgbClr val="17384A"/>
                </a:solidFill>
                <a:latin typeface="Arial"/>
                <a:ea typeface="Arial"/>
                <a:cs typeface="Arial"/>
              </a:rPr>
              <a:t>The Mission</a:t>
            </a:r>
          </a:p>
        </p:txBody>
      </p:sp>
      <p:sp>
        <p:nvSpPr>
          <p:cNvPr id="5" name="lesson-subtitle">
            <a:extLst xmlns:a="http://schemas.openxmlformats.org/drawingml/2006/main">
              <a:ext uri="{FF2B5EF4-FFF2-40B4-BE49-F238E27FC236}">
                <a16:creationId xmlns:a16="http://schemas.microsoft.com/office/drawing/2014/main" id="{8F711AC1-23CA-48C9-A867-F6C08ECDD85D}"/>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325D8A"/>
                </a:solidFill>
                <a:latin typeface="Arial"/>
                <a:ea typeface="Arial"/>
                <a:cs typeface="Arial"/>
              </a:defRPr>
            </a:defPPr>
            <a:lvl1pPr algn="l">
              <a:defRPr sz="2250" b="0">
                <a:solidFill>
                  <a:srgbClr val="325D8A"/>
                </a:solidFill>
                <a:latin typeface="Arial"/>
                <a:ea typeface="Arial"/>
                <a:cs typeface="Arial"/>
              </a:defRPr>
            </a:lvl1pPr>
            <a:lvl2pPr algn="l">
              <a:defRPr sz="2250" b="0">
                <a:solidFill>
                  <a:srgbClr val="325D8A"/>
                </a:solidFill>
                <a:latin typeface="Arial"/>
                <a:ea typeface="Arial"/>
                <a:cs typeface="Arial"/>
              </a:defRPr>
            </a:lvl2pPr>
            <a:lvl3pPr algn="l">
              <a:defRPr sz="2250" b="0">
                <a:solidFill>
                  <a:srgbClr val="325D8A"/>
                </a:solidFill>
                <a:latin typeface="Arial"/>
                <a:ea typeface="Arial"/>
                <a:cs typeface="Arial"/>
              </a:defRPr>
            </a:lvl3pPr>
            <a:lvl4pPr algn="l">
              <a:defRPr sz="2250" b="0">
                <a:solidFill>
                  <a:srgbClr val="325D8A"/>
                </a:solidFill>
                <a:latin typeface="Arial"/>
                <a:ea typeface="Arial"/>
                <a:cs typeface="Arial"/>
              </a:defRPr>
            </a:lvl4pPr>
            <a:lvl5pPr algn="l">
              <a:defRPr sz="2250" b="0">
                <a:solidFill>
                  <a:srgbClr val="325D8A"/>
                </a:solidFill>
                <a:latin typeface="Arial"/>
                <a:ea typeface="Arial"/>
                <a:cs typeface="Arial"/>
              </a:defRPr>
            </a:lvl5pPr>
            <a:lvl6pPr algn="l">
              <a:defRPr sz="2250" b="0">
                <a:solidFill>
                  <a:srgbClr val="325D8A"/>
                </a:solidFill>
                <a:latin typeface="Arial"/>
                <a:ea typeface="Arial"/>
                <a:cs typeface="Arial"/>
              </a:defRPr>
            </a:lvl6pPr>
            <a:lvl7pPr algn="l">
              <a:defRPr sz="2250" b="0">
                <a:solidFill>
                  <a:srgbClr val="325D8A"/>
                </a:solidFill>
                <a:latin typeface="Arial"/>
                <a:ea typeface="Arial"/>
                <a:cs typeface="Arial"/>
              </a:defRPr>
            </a:lvl7pPr>
            <a:lvl8pPr algn="l">
              <a:defRPr sz="2250" b="0">
                <a:solidFill>
                  <a:srgbClr val="325D8A"/>
                </a:solidFill>
                <a:latin typeface="Arial"/>
                <a:ea typeface="Arial"/>
                <a:cs typeface="Arial"/>
              </a:defRPr>
            </a:lvl8pPr>
            <a:lvl9pPr algn="l">
              <a:defRPr sz="2250" b="0">
                <a:solidFill>
                  <a:srgbClr val="325D8A"/>
                </a:solidFill>
                <a:latin typeface="Arial"/>
                <a:ea typeface="Arial"/>
                <a:cs typeface="Arial"/>
              </a:defRPr>
            </a:lvl9pPr>
          </a:lstStyle>
          <a:p xmlns:a="http://schemas.openxmlformats.org/drawingml/2006/main">
            <a:pPr algn="l">
              <a:defRPr sz="2250" b="0">
                <a:solidFill>
                  <a:srgbClr val="325D8A"/>
                </a:solidFill>
                <a:latin typeface="Arial"/>
                <a:ea typeface="Arial"/>
                <a:cs typeface="Arial"/>
              </a:defRPr>
            </a:pPr>
            <a:r>
              <a:rPr sz="2250" b="0">
                <a:solidFill>
                  <a:srgbClr val="325D8A"/>
                </a:solidFill>
                <a:latin typeface="Arial"/>
                <a:ea typeface="Arial"/>
                <a:cs typeface="Arial"/>
              </a:rPr>
              <a:t>Products and services display</a:t>
            </a:r>
          </a:p>
        </p:txBody>
      </p:sp>
      <p:sp>
        <p:nvSpPr>
          <p:cNvPr id="6" name="body-0">
            <a:extLst xmlns:a="http://schemas.openxmlformats.org/drawingml/2006/main">
              <a:ext uri="{FF2B5EF4-FFF2-40B4-BE49-F238E27FC236}">
                <a16:creationId xmlns:a16="http://schemas.microsoft.com/office/drawing/2014/main" id="{5890BA9C-EBEA-4506-BABD-14F1F0D34559}"/>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How can a labelled display show what hospitality businesses offer?</a:t>
            </a:r>
          </a:p>
        </p:txBody>
      </p:sp>
      <p:sp>
        <p:nvSpPr>
          <p:cNvPr id="7" name="body-1">
            <a:extLst xmlns:a="http://schemas.openxmlformats.org/drawingml/2006/main">
              <a:ext uri="{FF2B5EF4-FFF2-40B4-BE49-F238E27FC236}">
                <a16:creationId xmlns:a16="http://schemas.microsoft.com/office/drawing/2014/main" id="{59DE6ABF-3B5B-44E8-92FC-A0A82ED25A9D}"/>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Use your own display plan.</a:t>
            </a:r>
          </a:p>
        </p:txBody>
      </p:sp>
      <p:sp>
        <p:nvSpPr>
          <p:cNvPr id="8" name="printed-id">
            <a:extLst xmlns:a="http://schemas.openxmlformats.org/drawingml/2006/main">
              <a:ext uri="{FF2B5EF4-FFF2-40B4-BE49-F238E27FC236}">
                <a16:creationId xmlns:a16="http://schemas.microsoft.com/office/drawing/2014/main" id="{80FF9482-F8D9-4F64-9912-D43D2DF8CD7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VOC-LAUNCH-A2-W02-L2</a:t>
            </a:r>
          </a:p>
        </p:txBody>
      </p:sp>
      <p:sp>
        <p:nvSpPr>
          <p:cNvPr id="9" name="edition-label">
            <a:extLst xmlns:a="http://schemas.openxmlformats.org/drawingml/2006/main">
              <a:ext uri="{FF2B5EF4-FFF2-40B4-BE49-F238E27FC236}">
                <a16:creationId xmlns:a16="http://schemas.microsoft.com/office/drawing/2014/main" id="{84A5BB70-0DDB-4A69-9FDB-8B3F8B17966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53B07D4A-949A-4476-801C-90D70E93CDD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1209050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161A4E09-B14E-45FC-A057-A3FD43BB57D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A327B8A-8128-4C11-9CC9-E70E017AAF81}"/>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EC93BDB6-7648-45C8-9595-1F3FA27D40D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2 / 12  ·  4 min</a:t>
            </a:r>
          </a:p>
        </p:txBody>
      </p:sp>
      <p:sp>
        <p:nvSpPr>
          <p:cNvPr id="4" name="slide-title">
            <a:extLst xmlns:a="http://schemas.openxmlformats.org/drawingml/2006/main">
              <a:ext uri="{FF2B5EF4-FFF2-40B4-BE49-F238E27FC236}">
                <a16:creationId xmlns:a16="http://schemas.microsoft.com/office/drawing/2014/main" id="{1EEB265F-6AEE-487D-A813-94EF21186769}"/>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Arrival task</a:t>
            </a:r>
          </a:p>
        </p:txBody>
      </p:sp>
      <p:sp>
        <p:nvSpPr>
          <p:cNvPr id="5" name="heading-rule">
            <a:extLst xmlns:a="http://schemas.openxmlformats.org/drawingml/2006/main">
              <a:ext uri="{FF2B5EF4-FFF2-40B4-BE49-F238E27FC236}">
                <a16:creationId xmlns:a16="http://schemas.microsoft.com/office/drawing/2014/main" id="{D1F4E7B8-B4C9-432D-A3A4-8B9B45E31E72}"/>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C5FC4D4F-47E7-49F4-9ED2-FA030A61CE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 hotel breakfast: product, service or both?</a:t>
            </a:r>
          </a:p>
        </p:txBody>
      </p:sp>
      <p:sp>
        <p:nvSpPr>
          <p:cNvPr id="7" name="body-1">
            <a:extLst xmlns:a="http://schemas.openxmlformats.org/drawingml/2006/main">
              <a:ext uri="{FF2B5EF4-FFF2-40B4-BE49-F238E27FC236}">
                <a16:creationId xmlns:a16="http://schemas.microsoft.com/office/drawing/2014/main" id="{27A2A086-B81B-4D3B-B60E-7465B27517D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What does range mean?</a:t>
            </a:r>
          </a:p>
        </p:txBody>
      </p:sp>
      <p:sp>
        <p:nvSpPr>
          <p:cNvPr id="8" name="body-2">
            <a:extLst xmlns:a="http://schemas.openxmlformats.org/drawingml/2006/main">
              <a:ext uri="{FF2B5EF4-FFF2-40B4-BE49-F238E27FC236}">
                <a16:creationId xmlns:a16="http://schemas.microsoft.com/office/drawing/2014/main" id="{5FD4C337-7826-4DFA-A2D7-67C2B50491B9}"/>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Scissors are on the table edge. What do you do?</a:t>
            </a:r>
          </a:p>
        </p:txBody>
      </p:sp>
      <p:sp>
        <p:nvSpPr>
          <p:cNvPr id="9" name="body-3">
            <a:extLst xmlns:a="http://schemas.openxmlformats.org/drawingml/2006/main">
              <a:ext uri="{FF2B5EF4-FFF2-40B4-BE49-F238E27FC236}">
                <a16:creationId xmlns:a16="http://schemas.microsoft.com/office/drawing/2014/main" id="{B8377027-256A-4137-AFCC-91AD1A60BEB1}"/>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What is missing from a poster with no labels?</a:t>
            </a:r>
          </a:p>
        </p:txBody>
      </p:sp>
      <p:sp>
        <p:nvSpPr>
          <p:cNvPr id="10" name="body-4">
            <a:extLst xmlns:a="http://schemas.openxmlformats.org/drawingml/2006/main">
              <a:ext uri="{FF2B5EF4-FFF2-40B4-BE49-F238E27FC236}">
                <a16:creationId xmlns:a16="http://schemas.microsoft.com/office/drawing/2014/main" id="{95AB33F8-335B-4B63-8E56-C18E6FF31A85}"/>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BLUE / GREEN / AMBER / RED. Choose a reset if needed.</a:t>
            </a:r>
          </a:p>
        </p:txBody>
      </p:sp>
      <p:sp>
        <p:nvSpPr>
          <p:cNvPr id="11" name="printed-id">
            <a:extLst xmlns:a="http://schemas.openxmlformats.org/drawingml/2006/main">
              <a:ext uri="{FF2B5EF4-FFF2-40B4-BE49-F238E27FC236}">
                <a16:creationId xmlns:a16="http://schemas.microsoft.com/office/drawing/2014/main" id="{4BBB428E-18DC-484A-A21E-6E2DE17FA59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VOC-LAUNCH-A2-W02-L2</a:t>
            </a:r>
          </a:p>
        </p:txBody>
      </p:sp>
      <p:sp>
        <p:nvSpPr>
          <p:cNvPr id="12" name="edition-label">
            <a:extLst xmlns:a="http://schemas.openxmlformats.org/drawingml/2006/main">
              <a:ext uri="{FF2B5EF4-FFF2-40B4-BE49-F238E27FC236}">
                <a16:creationId xmlns:a16="http://schemas.microsoft.com/office/drawing/2014/main" id="{8AEC00EA-F7CF-4D00-861B-8C5A8A57F8FC}"/>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36343CE1-2F02-4519-B0DD-EEC1D0D9E1E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467671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B9403217-71CC-4ECB-81E6-85471A49E5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2EFD22E-6DA2-44A2-8073-38B98D349511}"/>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RETRIEVAL AND STARTER</a:t>
            </a:r>
          </a:p>
        </p:txBody>
      </p:sp>
      <p:sp>
        <p:nvSpPr>
          <p:cNvPr id="3" name="slide-number-time">
            <a:extLst xmlns:a="http://schemas.openxmlformats.org/drawingml/2006/main">
              <a:ext uri="{FF2B5EF4-FFF2-40B4-BE49-F238E27FC236}">
                <a16:creationId xmlns:a16="http://schemas.microsoft.com/office/drawing/2014/main" id="{68086E66-B5FB-4F89-A532-A19245428B6A}"/>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3 / 12  ·  2 min</a:t>
            </a:r>
          </a:p>
        </p:txBody>
      </p:sp>
      <p:sp>
        <p:nvSpPr>
          <p:cNvPr id="4" name="slide-title">
            <a:extLst xmlns:a="http://schemas.openxmlformats.org/drawingml/2006/main">
              <a:ext uri="{FF2B5EF4-FFF2-40B4-BE49-F238E27FC236}">
                <a16:creationId xmlns:a16="http://schemas.microsoft.com/office/drawing/2014/main" id="{0A8CE2C7-2AAA-4AF3-89C6-140A4C90ECE9}"/>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Which poster helps the reader?</a:t>
            </a:r>
          </a:p>
        </p:txBody>
      </p:sp>
      <p:sp>
        <p:nvSpPr>
          <p:cNvPr id="5" name="heading-rule">
            <a:extLst xmlns:a="http://schemas.openxmlformats.org/drawingml/2006/main">
              <a:ext uri="{FF2B5EF4-FFF2-40B4-BE49-F238E27FC236}">
                <a16:creationId xmlns:a16="http://schemas.microsoft.com/office/drawing/2014/main" id="{158DC9E9-BAD9-4EF1-8EEE-B6D8FCE1ADC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step-number-0">
            <a:extLst xmlns:a="http://schemas.openxmlformats.org/drawingml/2006/main">
              <a:ext uri="{FF2B5EF4-FFF2-40B4-BE49-F238E27FC236}">
                <a16:creationId xmlns:a16="http://schemas.microsoft.com/office/drawing/2014/main" id="{1174C69E-3A2E-4898-9CB4-ECEB70504E2D}"/>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7" name="body-0">
            <a:extLst xmlns:a="http://schemas.openxmlformats.org/drawingml/2006/main">
              <a:ext uri="{FF2B5EF4-FFF2-40B4-BE49-F238E27FC236}">
                <a16:creationId xmlns:a16="http://schemas.microsoft.com/office/drawing/2014/main" id="{27BAAD13-D060-4261-8BCD-F65BF3AA82DD}"/>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Compare a labelled model with an unlabelled model.</a:t>
            </a:r>
          </a:p>
        </p:txBody>
      </p:sp>
      <p:sp>
        <p:nvSpPr>
          <p:cNvPr id="8" name="step-number-1">
            <a:extLst xmlns:a="http://schemas.openxmlformats.org/drawingml/2006/main">
              <a:ext uri="{FF2B5EF4-FFF2-40B4-BE49-F238E27FC236}">
                <a16:creationId xmlns:a16="http://schemas.microsoft.com/office/drawing/2014/main" id="{901C22A0-F5F0-4442-924F-2CB6AF318948}"/>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9" name="body-1">
            <a:extLst xmlns:a="http://schemas.openxmlformats.org/drawingml/2006/main">
              <a:ext uri="{FF2B5EF4-FFF2-40B4-BE49-F238E27FC236}">
                <a16:creationId xmlns:a16="http://schemas.microsoft.com/office/drawing/2014/main" id="{035E5F72-FAA9-43E7-A999-FCC919997B52}"/>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Which one tells you the business and the category?</a:t>
            </a:r>
          </a:p>
        </p:txBody>
      </p:sp>
      <p:sp>
        <p:nvSpPr>
          <p:cNvPr id="10" name="step-number-2">
            <a:extLst xmlns:a="http://schemas.openxmlformats.org/drawingml/2006/main">
              <a:ext uri="{FF2B5EF4-FFF2-40B4-BE49-F238E27FC236}">
                <a16:creationId xmlns:a16="http://schemas.microsoft.com/office/drawing/2014/main" id="{58B1BE2D-69CC-4852-94C4-CCE90062D8C1}"/>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11" name="body-2">
            <a:extLst xmlns:a="http://schemas.openxmlformats.org/drawingml/2006/main">
              <a:ext uri="{FF2B5EF4-FFF2-40B4-BE49-F238E27FC236}">
                <a16:creationId xmlns:a16="http://schemas.microsoft.com/office/drawing/2014/main" id="{5C5CB115-5C44-40E6-B8E4-F74F94A83617}"/>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A useful label says what the item is.</a:t>
            </a:r>
          </a:p>
        </p:txBody>
      </p:sp>
      <p:sp>
        <p:nvSpPr>
          <p:cNvPr id="12" name="step-number-3">
            <a:extLst xmlns:a="http://schemas.openxmlformats.org/drawingml/2006/main">
              <a:ext uri="{FF2B5EF4-FFF2-40B4-BE49-F238E27FC236}">
                <a16:creationId xmlns:a16="http://schemas.microsoft.com/office/drawing/2014/main" id="{195BBCA2-8AAF-4E2C-B054-16BE04660F41}"/>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13" name="body-3">
            <a:extLst xmlns:a="http://schemas.openxmlformats.org/drawingml/2006/main">
              <a:ext uri="{FF2B5EF4-FFF2-40B4-BE49-F238E27FC236}">
                <a16:creationId xmlns:a16="http://schemas.microsoft.com/office/drawing/2014/main" id="{3637C2CD-788D-48E7-8BE7-A54ADD174117}"/>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This label helps because __.</a:t>
            </a:r>
          </a:p>
        </p:txBody>
      </p:sp>
      <p:sp>
        <p:nvSpPr>
          <p:cNvPr id="14" name="printed-id">
            <a:extLst xmlns:a="http://schemas.openxmlformats.org/drawingml/2006/main">
              <a:ext uri="{FF2B5EF4-FFF2-40B4-BE49-F238E27FC236}">
                <a16:creationId xmlns:a16="http://schemas.microsoft.com/office/drawing/2014/main" id="{E65A504A-1378-4A75-83CD-79DA2104321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VOC-LAUNCH-A2-W02-L2</a:t>
            </a:r>
          </a:p>
        </p:txBody>
      </p:sp>
      <p:sp>
        <p:nvSpPr>
          <p:cNvPr id="15" name="edition-label">
            <a:extLst xmlns:a="http://schemas.openxmlformats.org/drawingml/2006/main">
              <a:ext uri="{FF2B5EF4-FFF2-40B4-BE49-F238E27FC236}">
                <a16:creationId xmlns:a16="http://schemas.microsoft.com/office/drawing/2014/main" id="{37DEDE80-91B0-4A3A-B5D3-37F11FFD868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4537977A-A7FF-46D6-9EEF-AC353FE7A451}"/>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8414786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FFC52E88-3A83-42E4-B025-84CC5F63FFF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310F31D7-A967-4B34-8F16-1F90644B62E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10B51BDB-41A6-498C-BFE6-BFC745094CB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99F9800E-3EE9-42F3-BD98-ACB91BCBBF1F}"/>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Today I can</a:t>
            </a:r>
          </a:p>
        </p:txBody>
      </p:sp>
      <p:sp>
        <p:nvSpPr>
          <p:cNvPr id="5" name="heading-rule">
            <a:extLst xmlns:a="http://schemas.openxmlformats.org/drawingml/2006/main">
              <a:ext uri="{FF2B5EF4-FFF2-40B4-BE49-F238E27FC236}">
                <a16:creationId xmlns:a16="http://schemas.microsoft.com/office/drawing/2014/main" id="{23403918-B293-450D-8839-C42EA8420BF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49B3F644-5894-46DD-B1C0-51745E370B63}"/>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Produce a poster or display showing the range of products and services provided by different hospitality businesses.</a:t>
            </a:r>
          </a:p>
        </p:txBody>
      </p:sp>
      <p:sp>
        <p:nvSpPr>
          <p:cNvPr id="7" name="body-1">
            <a:extLst xmlns:a="http://schemas.openxmlformats.org/drawingml/2006/main">
              <a:ext uri="{FF2B5EF4-FFF2-40B4-BE49-F238E27FC236}">
                <a16:creationId xmlns:a16="http://schemas.microsoft.com/office/drawing/2014/main" id="{168A3F60-8A35-4F9E-ADDF-BF298540F7DA}"/>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choose a range.</a:t>
            </a:r>
          </a:p>
        </p:txBody>
      </p:sp>
      <p:sp>
        <p:nvSpPr>
          <p:cNvPr id="8" name="body-2">
            <a:extLst xmlns:a="http://schemas.openxmlformats.org/drawingml/2006/main">
              <a:ext uri="{FF2B5EF4-FFF2-40B4-BE49-F238E27FC236}">
                <a16:creationId xmlns:a16="http://schemas.microsoft.com/office/drawing/2014/main" id="{0A08AD33-833E-42CC-B6CA-87A0A87E260E}"/>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label each item clearly.</a:t>
            </a:r>
          </a:p>
        </p:txBody>
      </p:sp>
      <p:sp>
        <p:nvSpPr>
          <p:cNvPr id="9" name="body-3">
            <a:extLst xmlns:a="http://schemas.openxmlformats.org/drawingml/2006/main">
              <a:ext uri="{FF2B5EF4-FFF2-40B4-BE49-F238E27FC236}">
                <a16:creationId xmlns:a16="http://schemas.microsoft.com/office/drawing/2014/main" id="{024664D5-E5E4-430A-8AD3-2F85BF10B615}"/>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explain a product and a service.</a:t>
            </a:r>
          </a:p>
        </p:txBody>
      </p:sp>
      <p:sp>
        <p:nvSpPr>
          <p:cNvPr id="10" name="printed-id">
            <a:extLst xmlns:a="http://schemas.openxmlformats.org/drawingml/2006/main">
              <a:ext uri="{FF2B5EF4-FFF2-40B4-BE49-F238E27FC236}">
                <a16:creationId xmlns:a16="http://schemas.microsoft.com/office/drawing/2014/main" id="{F2FD765B-E0B9-4BD5-ADDA-B639A5C5C0C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VOC-LAUNCH-A2-W02-L2</a:t>
            </a:r>
          </a:p>
        </p:txBody>
      </p:sp>
      <p:sp>
        <p:nvSpPr>
          <p:cNvPr id="11" name="edition-label">
            <a:extLst xmlns:a="http://schemas.openxmlformats.org/drawingml/2006/main">
              <a:ext uri="{FF2B5EF4-FFF2-40B4-BE49-F238E27FC236}">
                <a16:creationId xmlns:a16="http://schemas.microsoft.com/office/drawing/2014/main" id="{30F5862F-7C82-4439-BC69-D3D1D89842A2}"/>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19FD7D3F-3B97-4E3F-B18B-937D5110D2E1}"/>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3935556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302A4831-CBC3-4B7E-B301-B22FC163D0E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DCCF059-3568-4649-A910-EE2BCE721DF2}"/>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C2C89E39-023E-4E62-A13A-9639F4570B2A}"/>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4A240FEF-4AE2-486D-8EA1-233D8A9C592B}"/>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Cut place and label</a:t>
            </a:r>
          </a:p>
        </p:txBody>
      </p:sp>
      <p:sp>
        <p:nvSpPr>
          <p:cNvPr id="5" name="heading-rule">
            <a:extLst xmlns:a="http://schemas.openxmlformats.org/drawingml/2006/main">
              <a:ext uri="{FF2B5EF4-FFF2-40B4-BE49-F238E27FC236}">
                <a16:creationId xmlns:a16="http://schemas.microsoft.com/office/drawing/2014/main" id="{B5B89251-77ED-415D-ACFC-F72DB8DEC13B}"/>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D05597C2-E4F1-49D8-95DB-3D8936C510F7}"/>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Choose three items from a supplied brochure or menu.</a:t>
            </a:r>
          </a:p>
        </p:txBody>
      </p:sp>
      <p:sp>
        <p:nvSpPr>
          <p:cNvPr id="7" name="body-1">
            <a:extLst xmlns:a="http://schemas.openxmlformats.org/drawingml/2006/main">
              <a:ext uri="{FF2B5EF4-FFF2-40B4-BE49-F238E27FC236}">
                <a16:creationId xmlns:a16="http://schemas.microsoft.com/office/drawing/2014/main" id="{218063DD-0F52-4E32-8AC1-80CF925BADC7}"/>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Place them under a business heading.</a:t>
            </a:r>
          </a:p>
        </p:txBody>
      </p:sp>
      <p:sp>
        <p:nvSpPr>
          <p:cNvPr id="8" name="body-2">
            <a:extLst xmlns:a="http://schemas.openxmlformats.org/drawingml/2006/main">
              <a:ext uri="{FF2B5EF4-FFF2-40B4-BE49-F238E27FC236}">
                <a16:creationId xmlns:a16="http://schemas.microsoft.com/office/drawing/2014/main" id="{D500539B-4731-4928-BC08-FD4E5D59A53C}"/>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Label the item and product or service.</a:t>
            </a:r>
          </a:p>
        </p:txBody>
      </p:sp>
      <p:sp>
        <p:nvSpPr>
          <p:cNvPr id="9" name="body-3">
            <a:extLst xmlns:a="http://schemas.openxmlformats.org/drawingml/2006/main">
              <a:ext uri="{FF2B5EF4-FFF2-40B4-BE49-F238E27FC236}">
                <a16:creationId xmlns:a16="http://schemas.microsoft.com/office/drawing/2014/main" id="{1DAFF22D-4288-48BF-9838-7F09E63B78F7}"/>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Model: Café — sandwich — product.</a:t>
            </a:r>
          </a:p>
        </p:txBody>
      </p:sp>
      <p:sp>
        <p:nvSpPr>
          <p:cNvPr id="10" name="body-4">
            <a:extLst xmlns:a="http://schemas.openxmlformats.org/drawingml/2006/main">
              <a:ext uri="{FF2B5EF4-FFF2-40B4-BE49-F238E27FC236}">
                <a16:creationId xmlns:a16="http://schemas.microsoft.com/office/drawing/2014/main" id="{51251604-9910-4563-B5FB-52CB55745C92}"/>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Model: Hotel — room cleaning — service.</a:t>
            </a:r>
          </a:p>
        </p:txBody>
      </p:sp>
      <p:sp>
        <p:nvSpPr>
          <p:cNvPr id="11" name="printed-id">
            <a:extLst xmlns:a="http://schemas.openxmlformats.org/drawingml/2006/main">
              <a:ext uri="{FF2B5EF4-FFF2-40B4-BE49-F238E27FC236}">
                <a16:creationId xmlns:a16="http://schemas.microsoft.com/office/drawing/2014/main" id="{2B514563-036F-49A1-B054-1047CE6141E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VOC-LAUNCH-A2-W02-L2</a:t>
            </a:r>
          </a:p>
        </p:txBody>
      </p:sp>
      <p:sp>
        <p:nvSpPr>
          <p:cNvPr id="12" name="edition-label">
            <a:extLst xmlns:a="http://schemas.openxmlformats.org/drawingml/2006/main">
              <a:ext uri="{FF2B5EF4-FFF2-40B4-BE49-F238E27FC236}">
                <a16:creationId xmlns:a16="http://schemas.microsoft.com/office/drawing/2014/main" id="{21B5AB2A-C35D-4CD7-8EED-8657633DCED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431A8968-A4B7-4E34-9CC6-35211BE0D29C}"/>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5352514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A1E97F82-617F-4E4A-BEF1-B6F5FE18B92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D7447F02-9306-44FB-AD50-3C085C6D53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A851550-7355-49E9-9668-D4643D4140D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BE46BBF0-E3C9-4691-9F44-AF92BA00BE2D}"/>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Our display checks</a:t>
            </a:r>
          </a:p>
        </p:txBody>
      </p:sp>
      <p:sp>
        <p:nvSpPr>
          <p:cNvPr id="5" name="heading-rule">
            <a:extLst xmlns:a="http://schemas.openxmlformats.org/drawingml/2006/main">
              <a:ext uri="{FF2B5EF4-FFF2-40B4-BE49-F238E27FC236}">
                <a16:creationId xmlns:a16="http://schemas.microsoft.com/office/drawing/2014/main" id="{02A8F3AF-4B84-4CFD-A6CC-151D627F4C2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diagram-divider">
            <a:extLst xmlns:a="http://schemas.openxmlformats.org/drawingml/2006/main">
              <a:ext uri="{FF2B5EF4-FFF2-40B4-BE49-F238E27FC236}">
                <a16:creationId xmlns:a16="http://schemas.microsoft.com/office/drawing/2014/main" id="{94BCBE0D-50EF-4382-B918-B3ADD4FAC3D6}"/>
              </a:ext>
            </a:extLst>
          </p:cNvPr>
          <p:cNvSpPr>
            <a:spLocks xmlns:a="http://schemas.openxmlformats.org/drawingml/2006/main" noGrp="1"/>
          </p:cNvSpPr>
          <p:nvPr/>
        </p:nvSpPr>
        <p:spPr>
          <a:xfrm xmlns:a="http://schemas.openxmlformats.org/drawingml/2006/main">
            <a:off x="5915025" y="1752600"/>
            <a:ext cx="9525" cy="166687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7" name="diagram-heading-0">
            <a:extLst xmlns:a="http://schemas.openxmlformats.org/drawingml/2006/main">
              <a:ext uri="{FF2B5EF4-FFF2-40B4-BE49-F238E27FC236}">
                <a16:creationId xmlns:a16="http://schemas.microsoft.com/office/drawing/2014/main" id="{0788484C-B8E9-4881-882B-A48060272C20}"/>
              </a:ext>
            </a:extLst>
          </p:cNvPr>
          <p:cNvSpPr>
            <a:spLocks xmlns:a="http://schemas.openxmlformats.org/drawingml/2006/main" noGrp="1"/>
          </p:cNvSpPr>
          <p:nvPr/>
        </p:nvSpPr>
        <p:spPr>
          <a:xfrm xmlns:a="http://schemas.openxmlformats.org/drawingml/2006/main">
            <a:off x="609600" y="1752600"/>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325D8A"/>
                </a:solidFill>
                <a:latin typeface="Arial"/>
                <a:ea typeface="Arial"/>
                <a:cs typeface="Arial"/>
              </a:defRPr>
            </a:defPPr>
            <a:lvl1pPr algn="l">
              <a:defRPr sz="2550" b="1">
                <a:solidFill>
                  <a:srgbClr val="325D8A"/>
                </a:solidFill>
                <a:latin typeface="Arial"/>
                <a:ea typeface="Arial"/>
                <a:cs typeface="Arial"/>
              </a:defRPr>
            </a:lvl1pPr>
            <a:lvl2pPr algn="l">
              <a:defRPr sz="2550" b="1">
                <a:solidFill>
                  <a:srgbClr val="325D8A"/>
                </a:solidFill>
                <a:latin typeface="Arial"/>
                <a:ea typeface="Arial"/>
                <a:cs typeface="Arial"/>
              </a:defRPr>
            </a:lvl2pPr>
            <a:lvl3pPr algn="l">
              <a:defRPr sz="2550" b="1">
                <a:solidFill>
                  <a:srgbClr val="325D8A"/>
                </a:solidFill>
                <a:latin typeface="Arial"/>
                <a:ea typeface="Arial"/>
                <a:cs typeface="Arial"/>
              </a:defRPr>
            </a:lvl3pPr>
            <a:lvl4pPr algn="l">
              <a:defRPr sz="2550" b="1">
                <a:solidFill>
                  <a:srgbClr val="325D8A"/>
                </a:solidFill>
                <a:latin typeface="Arial"/>
                <a:ea typeface="Arial"/>
                <a:cs typeface="Arial"/>
              </a:defRPr>
            </a:lvl4pPr>
            <a:lvl5pPr algn="l">
              <a:defRPr sz="2550" b="1">
                <a:solidFill>
                  <a:srgbClr val="325D8A"/>
                </a:solidFill>
                <a:latin typeface="Arial"/>
                <a:ea typeface="Arial"/>
                <a:cs typeface="Arial"/>
              </a:defRPr>
            </a:lvl5pPr>
            <a:lvl6pPr algn="l">
              <a:defRPr sz="2550" b="1">
                <a:solidFill>
                  <a:srgbClr val="325D8A"/>
                </a:solidFill>
                <a:latin typeface="Arial"/>
                <a:ea typeface="Arial"/>
                <a:cs typeface="Arial"/>
              </a:defRPr>
            </a:lvl6pPr>
            <a:lvl7pPr algn="l">
              <a:defRPr sz="2550" b="1">
                <a:solidFill>
                  <a:srgbClr val="325D8A"/>
                </a:solidFill>
                <a:latin typeface="Arial"/>
                <a:ea typeface="Arial"/>
                <a:cs typeface="Arial"/>
              </a:defRPr>
            </a:lvl7pPr>
            <a:lvl8pPr algn="l">
              <a:defRPr sz="2550" b="1">
                <a:solidFill>
                  <a:srgbClr val="325D8A"/>
                </a:solidFill>
                <a:latin typeface="Arial"/>
                <a:ea typeface="Arial"/>
                <a:cs typeface="Arial"/>
              </a:defRPr>
            </a:lvl8pPr>
            <a:lvl9pPr algn="l">
              <a:defRPr sz="2550" b="1">
                <a:solidFill>
                  <a:srgbClr val="325D8A"/>
                </a:solidFill>
                <a:latin typeface="Arial"/>
                <a:ea typeface="Arial"/>
                <a:cs typeface="Arial"/>
              </a:defRPr>
            </a:lvl9pPr>
          </a:lstStyle>
          <a:p xmlns:a="http://schemas.openxmlformats.org/drawingml/2006/main">
            <a:pPr algn="l">
              <a:defRPr sz="2550" b="1">
                <a:solidFill>
                  <a:srgbClr val="325D8A"/>
                </a:solidFill>
                <a:latin typeface="Arial"/>
                <a:ea typeface="Arial"/>
                <a:cs typeface="Arial"/>
              </a:defRPr>
            </a:pPr>
            <a:r>
              <a:rPr sz="2550" b="1">
                <a:solidFill>
                  <a:srgbClr val="325D8A"/>
                </a:solidFill>
                <a:latin typeface="Arial"/>
                <a:ea typeface="Arial"/>
                <a:cs typeface="Arial"/>
              </a:rPr>
              <a:t>Products</a:t>
            </a:r>
          </a:p>
        </p:txBody>
      </p:sp>
      <p:sp>
        <p:nvSpPr>
          <p:cNvPr id="8" name="diagram-count-0">
            <a:extLst xmlns:a="http://schemas.openxmlformats.org/drawingml/2006/main">
              <a:ext uri="{FF2B5EF4-FFF2-40B4-BE49-F238E27FC236}">
                <a16:creationId xmlns:a16="http://schemas.microsoft.com/office/drawing/2014/main" id="{9A63BE71-8AF4-4692-B71F-6FBDAECA3BA3}"/>
              </a:ext>
            </a:extLst>
          </p:cNvPr>
          <p:cNvSpPr>
            <a:spLocks xmlns:a="http://schemas.openxmlformats.org/drawingml/2006/main" noGrp="1"/>
          </p:cNvSpPr>
          <p:nvPr/>
        </p:nvSpPr>
        <p:spPr>
          <a:xfrm xmlns:a="http://schemas.openxmlformats.org/drawingml/2006/main">
            <a:off x="609600" y="2457450"/>
            <a:ext cx="504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7384A"/>
                </a:solidFill>
                <a:latin typeface="Arial"/>
                <a:ea typeface="Arial"/>
                <a:cs typeface="Arial"/>
              </a:defRPr>
            </a:defPPr>
            <a:lvl1pPr algn="l">
              <a:defRPr sz="3600" b="1">
                <a:solidFill>
                  <a:srgbClr val="17384A"/>
                </a:solidFill>
                <a:latin typeface="Arial"/>
                <a:ea typeface="Arial"/>
                <a:cs typeface="Arial"/>
              </a:defRPr>
            </a:lvl1pPr>
            <a:lvl2pPr algn="l">
              <a:defRPr sz="3600" b="1">
                <a:solidFill>
                  <a:srgbClr val="17384A"/>
                </a:solidFill>
                <a:latin typeface="Arial"/>
                <a:ea typeface="Arial"/>
                <a:cs typeface="Arial"/>
              </a:defRPr>
            </a:lvl2pPr>
            <a:lvl3pPr algn="l">
              <a:defRPr sz="3600" b="1">
                <a:solidFill>
                  <a:srgbClr val="17384A"/>
                </a:solidFill>
                <a:latin typeface="Arial"/>
                <a:ea typeface="Arial"/>
                <a:cs typeface="Arial"/>
              </a:defRPr>
            </a:lvl3pPr>
            <a:lvl4pPr algn="l">
              <a:defRPr sz="3600" b="1">
                <a:solidFill>
                  <a:srgbClr val="17384A"/>
                </a:solidFill>
                <a:latin typeface="Arial"/>
                <a:ea typeface="Arial"/>
                <a:cs typeface="Arial"/>
              </a:defRPr>
            </a:lvl4pPr>
            <a:lvl5pPr algn="l">
              <a:defRPr sz="3600" b="1">
                <a:solidFill>
                  <a:srgbClr val="17384A"/>
                </a:solidFill>
                <a:latin typeface="Arial"/>
                <a:ea typeface="Arial"/>
                <a:cs typeface="Arial"/>
              </a:defRPr>
            </a:lvl5pPr>
            <a:lvl6pPr algn="l">
              <a:defRPr sz="3600" b="1">
                <a:solidFill>
                  <a:srgbClr val="17384A"/>
                </a:solidFill>
                <a:latin typeface="Arial"/>
                <a:ea typeface="Arial"/>
                <a:cs typeface="Arial"/>
              </a:defRPr>
            </a:lvl6pPr>
            <a:lvl7pPr algn="l">
              <a:defRPr sz="3600" b="1">
                <a:solidFill>
                  <a:srgbClr val="17384A"/>
                </a:solidFill>
                <a:latin typeface="Arial"/>
                <a:ea typeface="Arial"/>
                <a:cs typeface="Arial"/>
              </a:defRPr>
            </a:lvl7pPr>
            <a:lvl8pPr algn="l">
              <a:defRPr sz="3600" b="1">
                <a:solidFill>
                  <a:srgbClr val="17384A"/>
                </a:solidFill>
                <a:latin typeface="Arial"/>
                <a:ea typeface="Arial"/>
                <a:cs typeface="Arial"/>
              </a:defRPr>
            </a:lvl8pPr>
            <a:lvl9pPr algn="l">
              <a:defRPr sz="3600" b="1">
                <a:solidFill>
                  <a:srgbClr val="17384A"/>
                </a:solidFill>
                <a:latin typeface="Arial"/>
                <a:ea typeface="Arial"/>
                <a:cs typeface="Arial"/>
              </a:defRPr>
            </a:lvl9pPr>
          </a:lstStyle>
          <a:p xmlns:a="http://schemas.openxmlformats.org/drawingml/2006/main">
            <a:pPr algn="l">
              <a:defRPr sz="3600" b="1">
                <a:solidFill>
                  <a:srgbClr val="17384A"/>
                </a:solidFill>
                <a:latin typeface="Arial"/>
                <a:ea typeface="Arial"/>
                <a:cs typeface="Arial"/>
              </a:defRPr>
            </a:pPr>
            <a:r>
              <a:rPr sz="3600" b="1">
                <a:solidFill>
                  <a:srgbClr val="17384A"/>
                </a:solidFill>
                <a:latin typeface="Arial"/>
                <a:ea typeface="Arial"/>
                <a:cs typeface="Arial"/>
              </a:rPr>
              <a:t>At least four</a:t>
            </a:r>
          </a:p>
        </p:txBody>
      </p:sp>
      <p:sp>
        <p:nvSpPr>
          <p:cNvPr id="9" name="diagram-heading-1">
            <a:extLst xmlns:a="http://schemas.openxmlformats.org/drawingml/2006/main">
              <a:ext uri="{FF2B5EF4-FFF2-40B4-BE49-F238E27FC236}">
                <a16:creationId xmlns:a16="http://schemas.microsoft.com/office/drawing/2014/main" id="{2E7EBAEC-01D7-441A-B89B-B666CDFD197A}"/>
              </a:ext>
            </a:extLst>
          </p:cNvPr>
          <p:cNvSpPr>
            <a:spLocks xmlns:a="http://schemas.openxmlformats.org/drawingml/2006/main" noGrp="1"/>
          </p:cNvSpPr>
          <p:nvPr/>
        </p:nvSpPr>
        <p:spPr>
          <a:xfrm xmlns:a="http://schemas.openxmlformats.org/drawingml/2006/main">
            <a:off x="6362700" y="1752600"/>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325D8A"/>
                </a:solidFill>
                <a:latin typeface="Arial"/>
                <a:ea typeface="Arial"/>
                <a:cs typeface="Arial"/>
              </a:defRPr>
            </a:defPPr>
            <a:lvl1pPr algn="l">
              <a:defRPr sz="2550" b="1">
                <a:solidFill>
                  <a:srgbClr val="325D8A"/>
                </a:solidFill>
                <a:latin typeface="Arial"/>
                <a:ea typeface="Arial"/>
                <a:cs typeface="Arial"/>
              </a:defRPr>
            </a:lvl1pPr>
            <a:lvl2pPr algn="l">
              <a:defRPr sz="2550" b="1">
                <a:solidFill>
                  <a:srgbClr val="325D8A"/>
                </a:solidFill>
                <a:latin typeface="Arial"/>
                <a:ea typeface="Arial"/>
                <a:cs typeface="Arial"/>
              </a:defRPr>
            </a:lvl2pPr>
            <a:lvl3pPr algn="l">
              <a:defRPr sz="2550" b="1">
                <a:solidFill>
                  <a:srgbClr val="325D8A"/>
                </a:solidFill>
                <a:latin typeface="Arial"/>
                <a:ea typeface="Arial"/>
                <a:cs typeface="Arial"/>
              </a:defRPr>
            </a:lvl3pPr>
            <a:lvl4pPr algn="l">
              <a:defRPr sz="2550" b="1">
                <a:solidFill>
                  <a:srgbClr val="325D8A"/>
                </a:solidFill>
                <a:latin typeface="Arial"/>
                <a:ea typeface="Arial"/>
                <a:cs typeface="Arial"/>
              </a:defRPr>
            </a:lvl4pPr>
            <a:lvl5pPr algn="l">
              <a:defRPr sz="2550" b="1">
                <a:solidFill>
                  <a:srgbClr val="325D8A"/>
                </a:solidFill>
                <a:latin typeface="Arial"/>
                <a:ea typeface="Arial"/>
                <a:cs typeface="Arial"/>
              </a:defRPr>
            </a:lvl5pPr>
            <a:lvl6pPr algn="l">
              <a:defRPr sz="2550" b="1">
                <a:solidFill>
                  <a:srgbClr val="325D8A"/>
                </a:solidFill>
                <a:latin typeface="Arial"/>
                <a:ea typeface="Arial"/>
                <a:cs typeface="Arial"/>
              </a:defRPr>
            </a:lvl6pPr>
            <a:lvl7pPr algn="l">
              <a:defRPr sz="2550" b="1">
                <a:solidFill>
                  <a:srgbClr val="325D8A"/>
                </a:solidFill>
                <a:latin typeface="Arial"/>
                <a:ea typeface="Arial"/>
                <a:cs typeface="Arial"/>
              </a:defRPr>
            </a:lvl7pPr>
            <a:lvl8pPr algn="l">
              <a:defRPr sz="2550" b="1">
                <a:solidFill>
                  <a:srgbClr val="325D8A"/>
                </a:solidFill>
                <a:latin typeface="Arial"/>
                <a:ea typeface="Arial"/>
                <a:cs typeface="Arial"/>
              </a:defRPr>
            </a:lvl8pPr>
            <a:lvl9pPr algn="l">
              <a:defRPr sz="2550" b="1">
                <a:solidFill>
                  <a:srgbClr val="325D8A"/>
                </a:solidFill>
                <a:latin typeface="Arial"/>
                <a:ea typeface="Arial"/>
                <a:cs typeface="Arial"/>
              </a:defRPr>
            </a:lvl9pPr>
          </a:lstStyle>
          <a:p xmlns:a="http://schemas.openxmlformats.org/drawingml/2006/main">
            <a:pPr algn="l">
              <a:defRPr sz="2550" b="1">
                <a:solidFill>
                  <a:srgbClr val="325D8A"/>
                </a:solidFill>
                <a:latin typeface="Arial"/>
                <a:ea typeface="Arial"/>
                <a:cs typeface="Arial"/>
              </a:defRPr>
            </a:pPr>
            <a:r>
              <a:rPr sz="2550" b="1">
                <a:solidFill>
                  <a:srgbClr val="325D8A"/>
                </a:solidFill>
                <a:latin typeface="Arial"/>
                <a:ea typeface="Arial"/>
                <a:cs typeface="Arial"/>
              </a:rPr>
              <a:t>Services</a:t>
            </a:r>
          </a:p>
        </p:txBody>
      </p:sp>
      <p:sp>
        <p:nvSpPr>
          <p:cNvPr id="10" name="diagram-count-1">
            <a:extLst xmlns:a="http://schemas.openxmlformats.org/drawingml/2006/main">
              <a:ext uri="{FF2B5EF4-FFF2-40B4-BE49-F238E27FC236}">
                <a16:creationId xmlns:a16="http://schemas.microsoft.com/office/drawing/2014/main" id="{287F10D2-0B3F-4545-926E-764AFF641AA4}"/>
              </a:ext>
            </a:extLst>
          </p:cNvPr>
          <p:cNvSpPr>
            <a:spLocks xmlns:a="http://schemas.openxmlformats.org/drawingml/2006/main" noGrp="1"/>
          </p:cNvSpPr>
          <p:nvPr/>
        </p:nvSpPr>
        <p:spPr>
          <a:xfrm xmlns:a="http://schemas.openxmlformats.org/drawingml/2006/main">
            <a:off x="6362700" y="2457450"/>
            <a:ext cx="504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7384A"/>
                </a:solidFill>
                <a:latin typeface="Arial"/>
                <a:ea typeface="Arial"/>
                <a:cs typeface="Arial"/>
              </a:defRPr>
            </a:defPPr>
            <a:lvl1pPr algn="l">
              <a:defRPr sz="3600" b="1">
                <a:solidFill>
                  <a:srgbClr val="17384A"/>
                </a:solidFill>
                <a:latin typeface="Arial"/>
                <a:ea typeface="Arial"/>
                <a:cs typeface="Arial"/>
              </a:defRPr>
            </a:lvl1pPr>
            <a:lvl2pPr algn="l">
              <a:defRPr sz="3600" b="1">
                <a:solidFill>
                  <a:srgbClr val="17384A"/>
                </a:solidFill>
                <a:latin typeface="Arial"/>
                <a:ea typeface="Arial"/>
                <a:cs typeface="Arial"/>
              </a:defRPr>
            </a:lvl2pPr>
            <a:lvl3pPr algn="l">
              <a:defRPr sz="3600" b="1">
                <a:solidFill>
                  <a:srgbClr val="17384A"/>
                </a:solidFill>
                <a:latin typeface="Arial"/>
                <a:ea typeface="Arial"/>
                <a:cs typeface="Arial"/>
              </a:defRPr>
            </a:lvl3pPr>
            <a:lvl4pPr algn="l">
              <a:defRPr sz="3600" b="1">
                <a:solidFill>
                  <a:srgbClr val="17384A"/>
                </a:solidFill>
                <a:latin typeface="Arial"/>
                <a:ea typeface="Arial"/>
                <a:cs typeface="Arial"/>
              </a:defRPr>
            </a:lvl4pPr>
            <a:lvl5pPr algn="l">
              <a:defRPr sz="3600" b="1">
                <a:solidFill>
                  <a:srgbClr val="17384A"/>
                </a:solidFill>
                <a:latin typeface="Arial"/>
                <a:ea typeface="Arial"/>
                <a:cs typeface="Arial"/>
              </a:defRPr>
            </a:lvl5pPr>
            <a:lvl6pPr algn="l">
              <a:defRPr sz="3600" b="1">
                <a:solidFill>
                  <a:srgbClr val="17384A"/>
                </a:solidFill>
                <a:latin typeface="Arial"/>
                <a:ea typeface="Arial"/>
                <a:cs typeface="Arial"/>
              </a:defRPr>
            </a:lvl6pPr>
            <a:lvl7pPr algn="l">
              <a:defRPr sz="3600" b="1">
                <a:solidFill>
                  <a:srgbClr val="17384A"/>
                </a:solidFill>
                <a:latin typeface="Arial"/>
                <a:ea typeface="Arial"/>
                <a:cs typeface="Arial"/>
              </a:defRPr>
            </a:lvl7pPr>
            <a:lvl8pPr algn="l">
              <a:defRPr sz="3600" b="1">
                <a:solidFill>
                  <a:srgbClr val="17384A"/>
                </a:solidFill>
                <a:latin typeface="Arial"/>
                <a:ea typeface="Arial"/>
                <a:cs typeface="Arial"/>
              </a:defRPr>
            </a:lvl8pPr>
            <a:lvl9pPr algn="l">
              <a:defRPr sz="3600" b="1">
                <a:solidFill>
                  <a:srgbClr val="17384A"/>
                </a:solidFill>
                <a:latin typeface="Arial"/>
                <a:ea typeface="Arial"/>
                <a:cs typeface="Arial"/>
              </a:defRPr>
            </a:lvl9pPr>
          </a:lstStyle>
          <a:p xmlns:a="http://schemas.openxmlformats.org/drawingml/2006/main">
            <a:pPr algn="l">
              <a:defRPr sz="3600" b="1">
                <a:solidFill>
                  <a:srgbClr val="17384A"/>
                </a:solidFill>
                <a:latin typeface="Arial"/>
                <a:ea typeface="Arial"/>
                <a:cs typeface="Arial"/>
              </a:defRPr>
            </a:pPr>
            <a:r>
              <a:rPr sz="3600" b="1">
                <a:solidFill>
                  <a:srgbClr val="17384A"/>
                </a:solidFill>
                <a:latin typeface="Arial"/>
                <a:ea typeface="Arial"/>
                <a:cs typeface="Arial"/>
              </a:rPr>
              <a:t>At least four</a:t>
            </a:r>
          </a:p>
        </p:txBody>
      </p:sp>
      <p:sp>
        <p:nvSpPr>
          <p:cNvPr id="11" name="diagram-business-count">
            <a:extLst xmlns:a="http://schemas.openxmlformats.org/drawingml/2006/main">
              <a:ext uri="{FF2B5EF4-FFF2-40B4-BE49-F238E27FC236}">
                <a16:creationId xmlns:a16="http://schemas.microsoft.com/office/drawing/2014/main" id="{E0C9C141-9FEC-4101-84D9-052E96AB9808}"/>
              </a:ext>
            </a:extLst>
          </p:cNvPr>
          <p:cNvSpPr>
            <a:spLocks xmlns:a="http://schemas.openxmlformats.org/drawingml/2006/main" noGrp="1"/>
          </p:cNvSpPr>
          <p:nvPr/>
        </p:nvSpPr>
        <p:spPr>
          <a:xfrm xmlns:a="http://schemas.openxmlformats.org/drawingml/2006/main">
            <a:off x="609600" y="3790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17384A"/>
                </a:solidFill>
                <a:latin typeface="Arial"/>
                <a:ea typeface="Arial"/>
                <a:cs typeface="Arial"/>
              </a:defRPr>
            </a:defPPr>
            <a:lvl1pPr algn="l">
              <a:defRPr sz="2550" b="0">
                <a:solidFill>
                  <a:srgbClr val="17384A"/>
                </a:solidFill>
                <a:latin typeface="Arial"/>
                <a:ea typeface="Arial"/>
                <a:cs typeface="Arial"/>
              </a:defRPr>
            </a:lvl1pPr>
            <a:lvl2pPr algn="l">
              <a:defRPr sz="2550" b="0">
                <a:solidFill>
                  <a:srgbClr val="17384A"/>
                </a:solidFill>
                <a:latin typeface="Arial"/>
                <a:ea typeface="Arial"/>
                <a:cs typeface="Arial"/>
              </a:defRPr>
            </a:lvl2pPr>
            <a:lvl3pPr algn="l">
              <a:defRPr sz="2550" b="0">
                <a:solidFill>
                  <a:srgbClr val="17384A"/>
                </a:solidFill>
                <a:latin typeface="Arial"/>
                <a:ea typeface="Arial"/>
                <a:cs typeface="Arial"/>
              </a:defRPr>
            </a:lvl3pPr>
            <a:lvl4pPr algn="l">
              <a:defRPr sz="2550" b="0">
                <a:solidFill>
                  <a:srgbClr val="17384A"/>
                </a:solidFill>
                <a:latin typeface="Arial"/>
                <a:ea typeface="Arial"/>
                <a:cs typeface="Arial"/>
              </a:defRPr>
            </a:lvl4pPr>
            <a:lvl5pPr algn="l">
              <a:defRPr sz="2550" b="0">
                <a:solidFill>
                  <a:srgbClr val="17384A"/>
                </a:solidFill>
                <a:latin typeface="Arial"/>
                <a:ea typeface="Arial"/>
                <a:cs typeface="Arial"/>
              </a:defRPr>
            </a:lvl5pPr>
            <a:lvl6pPr algn="l">
              <a:defRPr sz="2550" b="0">
                <a:solidFill>
                  <a:srgbClr val="17384A"/>
                </a:solidFill>
                <a:latin typeface="Arial"/>
                <a:ea typeface="Arial"/>
                <a:cs typeface="Arial"/>
              </a:defRPr>
            </a:lvl6pPr>
            <a:lvl7pPr algn="l">
              <a:defRPr sz="2550" b="0">
                <a:solidFill>
                  <a:srgbClr val="17384A"/>
                </a:solidFill>
                <a:latin typeface="Arial"/>
                <a:ea typeface="Arial"/>
                <a:cs typeface="Arial"/>
              </a:defRPr>
            </a:lvl7pPr>
            <a:lvl8pPr algn="l">
              <a:defRPr sz="2550" b="0">
                <a:solidFill>
                  <a:srgbClr val="17384A"/>
                </a:solidFill>
                <a:latin typeface="Arial"/>
                <a:ea typeface="Arial"/>
                <a:cs typeface="Arial"/>
              </a:defRPr>
            </a:lvl8pPr>
            <a:lvl9pPr algn="l">
              <a:defRPr sz="2550" b="0">
                <a:solidFill>
                  <a:srgbClr val="17384A"/>
                </a:solidFill>
                <a:latin typeface="Arial"/>
                <a:ea typeface="Arial"/>
                <a:cs typeface="Arial"/>
              </a:defRPr>
            </a:lvl9pPr>
          </a:lstStyle>
          <a:p xmlns:a="http://schemas.openxmlformats.org/drawingml/2006/main">
            <a:pPr algn="l">
              <a:defRPr sz="2550" b="0">
                <a:solidFill>
                  <a:srgbClr val="17384A"/>
                </a:solidFill>
                <a:latin typeface="Arial"/>
                <a:ea typeface="Arial"/>
                <a:cs typeface="Arial"/>
              </a:defRPr>
            </a:pPr>
            <a:r>
              <a:rPr sz="2550" b="0">
                <a:solidFill>
                  <a:srgbClr val="17384A"/>
                </a:solidFill>
                <a:latin typeface="Arial"/>
                <a:ea typeface="Arial"/>
                <a:cs typeface="Arial"/>
              </a:rPr>
              <a:t>At least two business types.</a:t>
            </a:r>
          </a:p>
        </p:txBody>
      </p:sp>
      <p:sp>
        <p:nvSpPr>
          <p:cNvPr id="12" name="diagram-labelling">
            <a:extLst xmlns:a="http://schemas.openxmlformats.org/drawingml/2006/main">
              <a:ext uri="{FF2B5EF4-FFF2-40B4-BE49-F238E27FC236}">
                <a16:creationId xmlns:a16="http://schemas.microsoft.com/office/drawing/2014/main" id="{17926D79-9CCF-497F-8BB9-8ED8C88549B7}"/>
              </a:ext>
            </a:extLst>
          </p:cNvPr>
          <p:cNvSpPr>
            <a:spLocks xmlns:a="http://schemas.openxmlformats.org/drawingml/2006/main" noGrp="1"/>
          </p:cNvSpPr>
          <p:nvPr/>
        </p:nvSpPr>
        <p:spPr>
          <a:xfrm xmlns:a="http://schemas.openxmlformats.org/drawingml/2006/main">
            <a:off x="609600" y="445770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17384A"/>
                </a:solidFill>
                <a:latin typeface="Arial"/>
                <a:ea typeface="Arial"/>
                <a:cs typeface="Arial"/>
              </a:defRPr>
            </a:defPPr>
            <a:lvl1pPr algn="l">
              <a:defRPr sz="2550" b="0">
                <a:solidFill>
                  <a:srgbClr val="17384A"/>
                </a:solidFill>
                <a:latin typeface="Arial"/>
                <a:ea typeface="Arial"/>
                <a:cs typeface="Arial"/>
              </a:defRPr>
            </a:lvl1pPr>
            <a:lvl2pPr algn="l">
              <a:defRPr sz="2550" b="0">
                <a:solidFill>
                  <a:srgbClr val="17384A"/>
                </a:solidFill>
                <a:latin typeface="Arial"/>
                <a:ea typeface="Arial"/>
                <a:cs typeface="Arial"/>
              </a:defRPr>
            </a:lvl2pPr>
            <a:lvl3pPr algn="l">
              <a:defRPr sz="2550" b="0">
                <a:solidFill>
                  <a:srgbClr val="17384A"/>
                </a:solidFill>
                <a:latin typeface="Arial"/>
                <a:ea typeface="Arial"/>
                <a:cs typeface="Arial"/>
              </a:defRPr>
            </a:lvl3pPr>
            <a:lvl4pPr algn="l">
              <a:defRPr sz="2550" b="0">
                <a:solidFill>
                  <a:srgbClr val="17384A"/>
                </a:solidFill>
                <a:latin typeface="Arial"/>
                <a:ea typeface="Arial"/>
                <a:cs typeface="Arial"/>
              </a:defRPr>
            </a:lvl4pPr>
            <a:lvl5pPr algn="l">
              <a:defRPr sz="2550" b="0">
                <a:solidFill>
                  <a:srgbClr val="17384A"/>
                </a:solidFill>
                <a:latin typeface="Arial"/>
                <a:ea typeface="Arial"/>
                <a:cs typeface="Arial"/>
              </a:defRPr>
            </a:lvl5pPr>
            <a:lvl6pPr algn="l">
              <a:defRPr sz="2550" b="0">
                <a:solidFill>
                  <a:srgbClr val="17384A"/>
                </a:solidFill>
                <a:latin typeface="Arial"/>
                <a:ea typeface="Arial"/>
                <a:cs typeface="Arial"/>
              </a:defRPr>
            </a:lvl6pPr>
            <a:lvl7pPr algn="l">
              <a:defRPr sz="2550" b="0">
                <a:solidFill>
                  <a:srgbClr val="17384A"/>
                </a:solidFill>
                <a:latin typeface="Arial"/>
                <a:ea typeface="Arial"/>
                <a:cs typeface="Arial"/>
              </a:defRPr>
            </a:lvl7pPr>
            <a:lvl8pPr algn="l">
              <a:defRPr sz="2550" b="0">
                <a:solidFill>
                  <a:srgbClr val="17384A"/>
                </a:solidFill>
                <a:latin typeface="Arial"/>
                <a:ea typeface="Arial"/>
                <a:cs typeface="Arial"/>
              </a:defRPr>
            </a:lvl8pPr>
            <a:lvl9pPr algn="l">
              <a:defRPr sz="2550" b="0">
                <a:solidFill>
                  <a:srgbClr val="17384A"/>
                </a:solidFill>
                <a:latin typeface="Arial"/>
                <a:ea typeface="Arial"/>
                <a:cs typeface="Arial"/>
              </a:defRPr>
            </a:lvl9pPr>
          </a:lstStyle>
          <a:p xmlns:a="http://schemas.openxmlformats.org/drawingml/2006/main">
            <a:pPr algn="l">
              <a:defRPr sz="2550" b="0">
                <a:solidFill>
                  <a:srgbClr val="17384A"/>
                </a:solidFill>
                <a:latin typeface="Arial"/>
                <a:ea typeface="Arial"/>
                <a:cs typeface="Arial"/>
              </a:defRPr>
            </a:pPr>
            <a:r>
              <a:rPr sz="2550" b="0">
                <a:solidFill>
                  <a:srgbClr val="17384A"/>
                </a:solidFill>
                <a:latin typeface="Arial"/>
                <a:ea typeface="Arial"/>
                <a:cs typeface="Arial"/>
              </a:rPr>
              <a:t>Every item labelled.</a:t>
            </a:r>
          </a:p>
        </p:txBody>
      </p:sp>
      <p:sp>
        <p:nvSpPr>
          <p:cNvPr id="13" name="diagram-evidence-check">
            <a:extLst xmlns:a="http://schemas.openxmlformats.org/drawingml/2006/main">
              <a:ext uri="{FF2B5EF4-FFF2-40B4-BE49-F238E27FC236}">
                <a16:creationId xmlns:a16="http://schemas.microsoft.com/office/drawing/2014/main" id="{15093671-C321-4CBF-A933-1D2CC26FBB81}"/>
              </a:ext>
            </a:extLst>
          </p:cNvPr>
          <p:cNvSpPr>
            <a:spLocks xmlns:a="http://schemas.openxmlformats.org/drawingml/2006/main" noGrp="1"/>
          </p:cNvSpPr>
          <p:nvPr/>
        </p:nvSpPr>
        <p:spPr>
          <a:xfrm xmlns:a="http://schemas.openxmlformats.org/drawingml/2006/main">
            <a:off x="609600" y="5305425"/>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325D8A"/>
                </a:solidFill>
                <a:latin typeface="Arial"/>
                <a:ea typeface="Arial"/>
                <a:cs typeface="Arial"/>
              </a:defRPr>
            </a:defPPr>
            <a:lvl1pPr algn="l">
              <a:defRPr sz="2175" b="0">
                <a:solidFill>
                  <a:srgbClr val="325D8A"/>
                </a:solidFill>
                <a:latin typeface="Arial"/>
                <a:ea typeface="Arial"/>
                <a:cs typeface="Arial"/>
              </a:defRPr>
            </a:lvl1pPr>
            <a:lvl2pPr algn="l">
              <a:defRPr sz="2175" b="0">
                <a:solidFill>
                  <a:srgbClr val="325D8A"/>
                </a:solidFill>
                <a:latin typeface="Arial"/>
                <a:ea typeface="Arial"/>
                <a:cs typeface="Arial"/>
              </a:defRPr>
            </a:lvl2pPr>
            <a:lvl3pPr algn="l">
              <a:defRPr sz="2175" b="0">
                <a:solidFill>
                  <a:srgbClr val="325D8A"/>
                </a:solidFill>
                <a:latin typeface="Arial"/>
                <a:ea typeface="Arial"/>
                <a:cs typeface="Arial"/>
              </a:defRPr>
            </a:lvl3pPr>
            <a:lvl4pPr algn="l">
              <a:defRPr sz="2175" b="0">
                <a:solidFill>
                  <a:srgbClr val="325D8A"/>
                </a:solidFill>
                <a:latin typeface="Arial"/>
                <a:ea typeface="Arial"/>
                <a:cs typeface="Arial"/>
              </a:defRPr>
            </a:lvl4pPr>
            <a:lvl5pPr algn="l">
              <a:defRPr sz="2175" b="0">
                <a:solidFill>
                  <a:srgbClr val="325D8A"/>
                </a:solidFill>
                <a:latin typeface="Arial"/>
                <a:ea typeface="Arial"/>
                <a:cs typeface="Arial"/>
              </a:defRPr>
            </a:lvl5pPr>
            <a:lvl6pPr algn="l">
              <a:defRPr sz="2175" b="0">
                <a:solidFill>
                  <a:srgbClr val="325D8A"/>
                </a:solidFill>
                <a:latin typeface="Arial"/>
                <a:ea typeface="Arial"/>
                <a:cs typeface="Arial"/>
              </a:defRPr>
            </a:lvl6pPr>
            <a:lvl7pPr algn="l">
              <a:defRPr sz="2175" b="0">
                <a:solidFill>
                  <a:srgbClr val="325D8A"/>
                </a:solidFill>
                <a:latin typeface="Arial"/>
                <a:ea typeface="Arial"/>
                <a:cs typeface="Arial"/>
              </a:defRPr>
            </a:lvl7pPr>
            <a:lvl8pPr algn="l">
              <a:defRPr sz="2175" b="0">
                <a:solidFill>
                  <a:srgbClr val="325D8A"/>
                </a:solidFill>
                <a:latin typeface="Arial"/>
                <a:ea typeface="Arial"/>
                <a:cs typeface="Arial"/>
              </a:defRPr>
            </a:lvl8pPr>
            <a:lvl9pPr algn="l">
              <a:defRPr sz="2175" b="0">
                <a:solidFill>
                  <a:srgbClr val="325D8A"/>
                </a:solidFill>
                <a:latin typeface="Arial"/>
                <a:ea typeface="Arial"/>
                <a:cs typeface="Arial"/>
              </a:defRPr>
            </a:lvl9pPr>
          </a:lstStyle>
          <a:p xmlns:a="http://schemas.openxmlformats.org/drawingml/2006/main">
            <a:pPr algn="l">
              <a:defRPr sz="2175" b="0">
                <a:solidFill>
                  <a:srgbClr val="325D8A"/>
                </a:solidFill>
                <a:latin typeface="Arial"/>
                <a:ea typeface="Arial"/>
                <a:cs typeface="Arial"/>
              </a:defRPr>
            </a:pPr>
            <a:r>
              <a:rPr sz="2175" b="0">
                <a:solidFill>
                  <a:srgbClr val="325D8A"/>
                </a:solidFill>
                <a:latin typeface="Arial"/>
                <a:ea typeface="Arial"/>
                <a:cs typeface="Arial"/>
              </a:rPr>
              <a:t>Point to one product and one service.</a:t>
            </a:r>
          </a:p>
        </p:txBody>
      </p:sp>
      <p:sp>
        <p:nvSpPr>
          <p:cNvPr id="14" name="printed-id">
            <a:extLst xmlns:a="http://schemas.openxmlformats.org/drawingml/2006/main">
              <a:ext uri="{FF2B5EF4-FFF2-40B4-BE49-F238E27FC236}">
                <a16:creationId xmlns:a16="http://schemas.microsoft.com/office/drawing/2014/main" id="{46B3D745-4F89-46AE-B48D-6E9BBB0CEA6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VOC-LAUNCH-A2-W02-L2</a:t>
            </a:r>
          </a:p>
        </p:txBody>
      </p:sp>
      <p:sp>
        <p:nvSpPr>
          <p:cNvPr id="15" name="edition-label">
            <a:extLst xmlns:a="http://schemas.openxmlformats.org/drawingml/2006/main">
              <a:ext uri="{FF2B5EF4-FFF2-40B4-BE49-F238E27FC236}">
                <a16:creationId xmlns:a16="http://schemas.microsoft.com/office/drawing/2014/main" id="{FC28D211-2FFE-463D-987A-0B95C925A6D3}"/>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88B5C5E-705F-4D56-8D52-2CF1B652C826}"/>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5398464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2DC3247D-0C4A-4290-993C-D230A151403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2E9A763-F9E6-4970-9B55-5867F342823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6CF93C97-A419-4040-9415-8C002B1CD501}"/>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DC8F5D28-78A8-4C39-9371-0A1E871A344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Your A3 display</a:t>
            </a:r>
          </a:p>
        </p:txBody>
      </p:sp>
      <p:sp>
        <p:nvSpPr>
          <p:cNvPr id="5" name="heading-rule">
            <a:extLst xmlns:a="http://schemas.openxmlformats.org/drawingml/2006/main">
              <a:ext uri="{FF2B5EF4-FFF2-40B4-BE49-F238E27FC236}">
                <a16:creationId xmlns:a16="http://schemas.microsoft.com/office/drawing/2014/main" id="{05B00E51-8134-45FE-A2AF-7B1E8EDBF46A}"/>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E0166CE0-35C3-49EC-BE18-83B76ABC8EF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Use magazines, brochures, menus, leaflets or the supplied cut outs.</a:t>
            </a:r>
          </a:p>
        </p:txBody>
      </p:sp>
      <p:sp>
        <p:nvSpPr>
          <p:cNvPr id="7" name="body-1">
            <a:extLst xmlns:a="http://schemas.openxmlformats.org/drawingml/2006/main">
              <a:ext uri="{FF2B5EF4-FFF2-40B4-BE49-F238E27FC236}">
                <a16:creationId xmlns:a16="http://schemas.microsoft.com/office/drawing/2014/main" id="{E7D4286E-7A1C-4589-9022-04347779B75B}"/>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Choose and arrange your own items.</a:t>
            </a:r>
          </a:p>
        </p:txBody>
      </p:sp>
      <p:sp>
        <p:nvSpPr>
          <p:cNvPr id="8" name="body-2">
            <a:extLst xmlns:a="http://schemas.openxmlformats.org/drawingml/2006/main">
              <a:ext uri="{FF2B5EF4-FFF2-40B4-BE49-F238E27FC236}">
                <a16:creationId xmlns:a16="http://schemas.microsoft.com/office/drawing/2014/main" id="{D48F805A-BFAA-40F3-8CD2-CC6234D17914}"/>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Supported: use pre-cut pictures and labels.</a:t>
            </a:r>
          </a:p>
        </p:txBody>
      </p:sp>
      <p:sp>
        <p:nvSpPr>
          <p:cNvPr id="9" name="body-3">
            <a:extLst xmlns:a="http://schemas.openxmlformats.org/drawingml/2006/main">
              <a:ext uri="{FF2B5EF4-FFF2-40B4-BE49-F238E27FC236}">
                <a16:creationId xmlns:a16="http://schemas.microsoft.com/office/drawing/2014/main" id="{2A71C5B9-E4EC-45EF-9651-87F91AAAFEA4}"/>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Independent: create your own clear layout.</a:t>
            </a:r>
          </a:p>
        </p:txBody>
      </p:sp>
      <p:sp>
        <p:nvSpPr>
          <p:cNvPr id="10" name="body-4">
            <a:extLst xmlns:a="http://schemas.openxmlformats.org/drawingml/2006/main">
              <a:ext uri="{FF2B5EF4-FFF2-40B4-BE49-F238E27FC236}">
                <a16:creationId xmlns:a16="http://schemas.microsoft.com/office/drawing/2014/main" id="{9913D4DD-C1C3-4FD8-9F39-D945D50156C5}"/>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Aspire: add the job role that provides each item or service.</a:t>
            </a:r>
          </a:p>
        </p:txBody>
      </p:sp>
      <p:sp>
        <p:nvSpPr>
          <p:cNvPr id="11" name="printed-id">
            <a:extLst xmlns:a="http://schemas.openxmlformats.org/drawingml/2006/main">
              <a:ext uri="{FF2B5EF4-FFF2-40B4-BE49-F238E27FC236}">
                <a16:creationId xmlns:a16="http://schemas.microsoft.com/office/drawing/2014/main" id="{AC4D87EA-2939-4765-B7EB-177DD086706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VOC-LAUNCH-A2-W02-L2</a:t>
            </a:r>
          </a:p>
        </p:txBody>
      </p:sp>
      <p:sp>
        <p:nvSpPr>
          <p:cNvPr id="12" name="edition-label">
            <a:extLst xmlns:a="http://schemas.openxmlformats.org/drawingml/2006/main">
              <a:ext uri="{FF2B5EF4-FFF2-40B4-BE49-F238E27FC236}">
                <a16:creationId xmlns:a16="http://schemas.microsoft.com/office/drawing/2014/main" id="{115476BE-A4F2-414A-A3B6-FA2AB77FA37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87774FBF-CC14-4A1B-9D5D-4693FD9B384C}"/>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9318698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F2CC3971-6367-4389-A8CA-EA01D048799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6C94C2A-6472-434A-A6E0-328DEDFE7BF2}"/>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5ECD2750-C947-4671-AAD8-414A82C81FCE}"/>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55F16BA9-1541-4250-8BD7-5E498B5E9511}"/>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Check and capture your evidence</a:t>
            </a:r>
          </a:p>
        </p:txBody>
      </p:sp>
      <p:sp>
        <p:nvSpPr>
          <p:cNvPr id="5" name="heading-rule">
            <a:extLst xmlns:a="http://schemas.openxmlformats.org/drawingml/2006/main">
              <a:ext uri="{FF2B5EF4-FFF2-40B4-BE49-F238E27FC236}">
                <a16:creationId xmlns:a16="http://schemas.microsoft.com/office/drawing/2014/main" id="{DE03F264-9323-4C9D-A86D-F774D08882A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3DEE7917-06D0-4C1F-B42D-8F8223468EDF}"/>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Count products, services and business types.</a:t>
            </a:r>
          </a:p>
        </p:txBody>
      </p:sp>
      <p:sp>
        <p:nvSpPr>
          <p:cNvPr id="7" name="body-1">
            <a:extLst xmlns:a="http://schemas.openxmlformats.org/drawingml/2006/main">
              <a:ext uri="{FF2B5EF4-FFF2-40B4-BE49-F238E27FC236}">
                <a16:creationId xmlns:a16="http://schemas.microsoft.com/office/drawing/2014/main" id="{28AD73E5-DE96-4404-8FF8-5B4B2DB36C82}"/>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Check every label.</a:t>
            </a:r>
          </a:p>
        </p:txBody>
      </p:sp>
      <p:sp>
        <p:nvSpPr>
          <p:cNvPr id="8" name="body-2">
            <a:extLst xmlns:a="http://schemas.openxmlformats.org/drawingml/2006/main">
              <a:ext uri="{FF2B5EF4-FFF2-40B4-BE49-F238E27FC236}">
                <a16:creationId xmlns:a16="http://schemas.microsoft.com/office/drawing/2014/main" id="{51310C6F-A27C-4CA0-8084-FFC16D11A5C0}"/>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Circle ideas our own café could offer.</a:t>
            </a:r>
          </a:p>
        </p:txBody>
      </p:sp>
      <p:sp>
        <p:nvSpPr>
          <p:cNvPr id="9" name="body-3">
            <a:extLst xmlns:a="http://schemas.openxmlformats.org/drawingml/2006/main">
              <a:ext uri="{FF2B5EF4-FFF2-40B4-BE49-F238E27FC236}">
                <a16:creationId xmlns:a16="http://schemas.microsoft.com/office/drawing/2014/main" id="{D6620E3E-E9D9-48F8-AE06-0EBBC6F66D5B}"/>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Supported: point through the checks with an adult.</a:t>
            </a:r>
          </a:p>
        </p:txBody>
      </p:sp>
      <p:sp>
        <p:nvSpPr>
          <p:cNvPr id="10" name="body-4">
            <a:extLst xmlns:a="http://schemas.openxmlformats.org/drawingml/2006/main">
              <a:ext uri="{FF2B5EF4-FFF2-40B4-BE49-F238E27FC236}">
                <a16:creationId xmlns:a16="http://schemas.microsoft.com/office/drawing/2014/main" id="{373C190E-A9DD-47E5-960A-28320E4A99C4}"/>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Independent: explain one change you made.</a:t>
            </a:r>
          </a:p>
        </p:txBody>
      </p:sp>
      <p:sp>
        <p:nvSpPr>
          <p:cNvPr id="11" name="body-5">
            <a:extLst xmlns:a="http://schemas.openxmlformats.org/drawingml/2006/main">
              <a:ext uri="{FF2B5EF4-FFF2-40B4-BE49-F238E27FC236}">
                <a16:creationId xmlns:a16="http://schemas.microsoft.com/office/drawing/2014/main" id="{2C971DDE-1A79-46FE-BA75-A9256EDD104D}"/>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Aspire: justify one café idea.</a:t>
            </a:r>
          </a:p>
        </p:txBody>
      </p:sp>
      <p:sp>
        <p:nvSpPr>
          <p:cNvPr id="12" name="printed-id">
            <a:extLst xmlns:a="http://schemas.openxmlformats.org/drawingml/2006/main">
              <a:ext uri="{FF2B5EF4-FFF2-40B4-BE49-F238E27FC236}">
                <a16:creationId xmlns:a16="http://schemas.microsoft.com/office/drawing/2014/main" id="{70CAE874-2893-479B-804E-1EF71157D86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VOC-LAUNCH-A2-W02-L2</a:t>
            </a:r>
          </a:p>
        </p:txBody>
      </p:sp>
      <p:sp>
        <p:nvSpPr>
          <p:cNvPr id="13" name="edition-label">
            <a:extLst xmlns:a="http://schemas.openxmlformats.org/drawingml/2006/main">
              <a:ext uri="{FF2B5EF4-FFF2-40B4-BE49-F238E27FC236}">
                <a16:creationId xmlns:a16="http://schemas.microsoft.com/office/drawing/2014/main" id="{34BA83D7-2F7D-408F-8C5D-6280F0E0129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03D06EED-4119-430D-A798-D1224A0AF71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20251065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4E92340D-DD14-4F80-8DCE-2A627DBC4D3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D6EA8D-0BF1-48AF-9E8C-50FE4D6266E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78A7926F-A252-4CD4-85BD-83858B7401FA}"/>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2B5107C5-4D7E-4759-B414-6CA0F11FC2F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Tidy and file</a:t>
            </a:r>
          </a:p>
        </p:txBody>
      </p:sp>
      <p:sp>
        <p:nvSpPr>
          <p:cNvPr id="5" name="heading-rule">
            <a:extLst xmlns:a="http://schemas.openxmlformats.org/drawingml/2006/main">
              <a:ext uri="{FF2B5EF4-FFF2-40B4-BE49-F238E27FC236}">
                <a16:creationId xmlns:a16="http://schemas.microsoft.com/office/drawing/2014/main" id="{CB664DF5-436E-46F4-BCAA-3E64F5B094E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step-number-0">
            <a:extLst xmlns:a="http://schemas.openxmlformats.org/drawingml/2006/main">
              <a:ext uri="{FF2B5EF4-FFF2-40B4-BE49-F238E27FC236}">
                <a16:creationId xmlns:a16="http://schemas.microsoft.com/office/drawing/2014/main" id="{DEB97B2B-CA07-417E-A96E-8704A8176686}"/>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7" name="body-0">
            <a:extLst xmlns:a="http://schemas.openxmlformats.org/drawingml/2006/main">
              <a:ext uri="{FF2B5EF4-FFF2-40B4-BE49-F238E27FC236}">
                <a16:creationId xmlns:a16="http://schemas.microsoft.com/office/drawing/2014/main" id="{D03581F5-20F5-4A26-81F9-88FC87BEF0E5}"/>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Put tools away safely.</a:t>
            </a:r>
          </a:p>
        </p:txBody>
      </p:sp>
      <p:sp>
        <p:nvSpPr>
          <p:cNvPr id="8" name="step-number-1">
            <a:extLst xmlns:a="http://schemas.openxmlformats.org/drawingml/2006/main">
              <a:ext uri="{FF2B5EF4-FFF2-40B4-BE49-F238E27FC236}">
                <a16:creationId xmlns:a16="http://schemas.microsoft.com/office/drawing/2014/main" id="{2A1A0615-4CAB-4DB0-902D-7F3256BBB6CC}"/>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9" name="body-1">
            <a:extLst xmlns:a="http://schemas.openxmlformats.org/drawingml/2006/main">
              <a:ext uri="{FF2B5EF4-FFF2-40B4-BE49-F238E27FC236}">
                <a16:creationId xmlns:a16="http://schemas.microsoft.com/office/drawing/2014/main" id="{EDCF72B6-64B2-445E-9F64-A3DA73C6257F}"/>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Keep your display and photo reference together.</a:t>
            </a:r>
          </a:p>
        </p:txBody>
      </p:sp>
      <p:sp>
        <p:nvSpPr>
          <p:cNvPr id="10" name="step-number-2">
            <a:extLst xmlns:a="http://schemas.openxmlformats.org/drawingml/2006/main">
              <a:ext uri="{FF2B5EF4-FFF2-40B4-BE49-F238E27FC236}">
                <a16:creationId xmlns:a16="http://schemas.microsoft.com/office/drawing/2014/main" id="{1BEF3EEB-7CF7-45B1-A6E2-051B1EBF2DBC}"/>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11" name="body-2">
            <a:extLst xmlns:a="http://schemas.openxmlformats.org/drawingml/2006/main">
              <a:ext uri="{FF2B5EF4-FFF2-40B4-BE49-F238E27FC236}">
                <a16:creationId xmlns:a16="http://schemas.microsoft.com/office/drawing/2014/main" id="{9D251B4B-4E47-497A-B5FD-C105965283DA}"/>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Record one café idea you circled.</a:t>
            </a:r>
          </a:p>
        </p:txBody>
      </p:sp>
      <p:sp>
        <p:nvSpPr>
          <p:cNvPr id="12" name="step-number-3">
            <a:extLst xmlns:a="http://schemas.openxmlformats.org/drawingml/2006/main">
              <a:ext uri="{FF2B5EF4-FFF2-40B4-BE49-F238E27FC236}">
                <a16:creationId xmlns:a16="http://schemas.microsoft.com/office/drawing/2014/main" id="{8383DCD5-78D2-4325-B465-3B1496E80A5F}"/>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13" name="body-3">
            <a:extLst xmlns:a="http://schemas.openxmlformats.org/drawingml/2006/main">
              <a:ext uri="{FF2B5EF4-FFF2-40B4-BE49-F238E27FC236}">
                <a16:creationId xmlns:a16="http://schemas.microsoft.com/office/drawing/2014/main" id="{8E58C7EB-544D-4091-8645-4D38A2285C15}"/>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improved __.</a:t>
            </a:r>
          </a:p>
        </p:txBody>
      </p:sp>
      <p:sp>
        <p:nvSpPr>
          <p:cNvPr id="14" name="printed-id">
            <a:extLst xmlns:a="http://schemas.openxmlformats.org/drawingml/2006/main">
              <a:ext uri="{FF2B5EF4-FFF2-40B4-BE49-F238E27FC236}">
                <a16:creationId xmlns:a16="http://schemas.microsoft.com/office/drawing/2014/main" id="{412A9D34-ED16-4880-AF93-DBCD90FFE53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VOC-LAUNCH-A2-W02-L2</a:t>
            </a:r>
          </a:p>
        </p:txBody>
      </p:sp>
      <p:sp>
        <p:nvSpPr>
          <p:cNvPr id="15" name="edition-label">
            <a:extLst xmlns:a="http://schemas.openxmlformats.org/drawingml/2006/main">
              <a:ext uri="{FF2B5EF4-FFF2-40B4-BE49-F238E27FC236}">
                <a16:creationId xmlns:a16="http://schemas.microsoft.com/office/drawing/2014/main" id="{D9EFC214-1590-4F75-9D19-115EBBEA44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F98B947D-9710-457A-B0C2-38E63FF22BF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3841919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188056F1-E4CD-4937-9ED9-B5D34B67E7D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359BC80-AC85-4606-9FBB-684C8D43819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088CA1C3-FDEF-43B2-BFC7-B20D42A7AA6B}"/>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943359A1-F7F6-480A-938E-16C09273924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Exit ticket</a:t>
            </a:r>
          </a:p>
        </p:txBody>
      </p:sp>
      <p:sp>
        <p:nvSpPr>
          <p:cNvPr id="5" name="heading-rule">
            <a:extLst xmlns:a="http://schemas.openxmlformats.org/drawingml/2006/main">
              <a:ext uri="{FF2B5EF4-FFF2-40B4-BE49-F238E27FC236}">
                <a16:creationId xmlns:a16="http://schemas.microsoft.com/office/drawing/2014/main" id="{309D6CD3-4DC3-49EA-914E-54C5C8D2396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94A3E5E4-1E53-4741-9B80-579A93ADFE69}"/>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Show one labelled product and one labelled service.</a:t>
            </a:r>
          </a:p>
        </p:txBody>
      </p:sp>
      <p:sp>
        <p:nvSpPr>
          <p:cNvPr id="7" name="body-1">
            <a:extLst xmlns:a="http://schemas.openxmlformats.org/drawingml/2006/main">
              <a:ext uri="{FF2B5EF4-FFF2-40B4-BE49-F238E27FC236}">
                <a16:creationId xmlns:a16="http://schemas.microsoft.com/office/drawing/2014/main" id="{5E3568F3-31BC-43E0-AEB5-58EC7C1E84E0}"/>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Name the business for each.</a:t>
            </a:r>
          </a:p>
        </p:txBody>
      </p:sp>
      <p:sp>
        <p:nvSpPr>
          <p:cNvPr id="8" name="body-2">
            <a:extLst xmlns:a="http://schemas.openxmlformats.org/drawingml/2006/main">
              <a:ext uri="{FF2B5EF4-FFF2-40B4-BE49-F238E27FC236}">
                <a16:creationId xmlns:a16="http://schemas.microsoft.com/office/drawing/2014/main" id="{C4A32129-EC7C-4490-9231-993DDB04DA89}"/>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The __ is a product. __ is a service.</a:t>
            </a:r>
          </a:p>
        </p:txBody>
      </p:sp>
      <p:sp>
        <p:nvSpPr>
          <p:cNvPr id="9" name="printed-id">
            <a:extLst xmlns:a="http://schemas.openxmlformats.org/drawingml/2006/main">
              <a:ext uri="{FF2B5EF4-FFF2-40B4-BE49-F238E27FC236}">
                <a16:creationId xmlns:a16="http://schemas.microsoft.com/office/drawing/2014/main" id="{BDED09E3-E14E-4A47-893F-36C67B1683A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VOC-LAUNCH-A2-W02-L2</a:t>
            </a:r>
          </a:p>
        </p:txBody>
      </p:sp>
      <p:sp>
        <p:nvSpPr>
          <p:cNvPr id="10" name="edition-label">
            <a:extLst xmlns:a="http://schemas.openxmlformats.org/drawingml/2006/main">
              <a:ext uri="{FF2B5EF4-FFF2-40B4-BE49-F238E27FC236}">
                <a16:creationId xmlns:a16="http://schemas.microsoft.com/office/drawing/2014/main" id="{E5A1847E-43CD-42CD-9BA9-06BB80B160B2}"/>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716892D6-5B93-4194-A5AF-4F393F0C4846}"/>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4030184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C38B3772-58BE-4163-B3BE-B18574F934F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FEE9AFC-1964-4A3E-B9DC-B103ED8D82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AF5F681C-6132-42F3-A303-D14C0790653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958EBEC7-F972-41E5-8CCE-5811F6B74D3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Key words</a:t>
            </a:r>
          </a:p>
        </p:txBody>
      </p:sp>
      <p:sp>
        <p:nvSpPr>
          <p:cNvPr id="5" name="heading-rule">
            <a:extLst xmlns:a="http://schemas.openxmlformats.org/drawingml/2006/main">
              <a:ext uri="{FF2B5EF4-FFF2-40B4-BE49-F238E27FC236}">
                <a16:creationId xmlns:a16="http://schemas.microsoft.com/office/drawing/2014/main" id="{C7610828-EEBC-40DA-B5B0-ECBC40C304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CFD764F1-2395-457D-9E51-20E374016FAE}"/>
              </a:ext>
            </a:extLst>
          </p:cNvPr>
          <p:cNvSpPr>
            <a:spLocks xmlns:a="http://schemas.openxmlformats.org/drawingml/2006/main" noGrp="1"/>
          </p:cNvSpPr>
          <p:nvPr/>
        </p:nvSpPr>
        <p:spPr>
          <a:xfrm xmlns:a="http://schemas.openxmlformats.org/drawingml/2006/main">
            <a:off x="609600" y="1695450"/>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Product: an item or offer a customer can buy.</a:t>
            </a:r>
          </a:p>
        </p:txBody>
      </p:sp>
      <p:sp>
        <p:nvSpPr>
          <p:cNvPr id="7" name="body-1">
            <a:extLst xmlns:a="http://schemas.openxmlformats.org/drawingml/2006/main">
              <a:ext uri="{FF2B5EF4-FFF2-40B4-BE49-F238E27FC236}">
                <a16:creationId xmlns:a16="http://schemas.microsoft.com/office/drawing/2014/main" id="{86B9831C-1DC3-4692-ABEB-6F20674E58C9}"/>
              </a:ext>
            </a:extLst>
          </p:cNvPr>
          <p:cNvSpPr>
            <a:spLocks xmlns:a="http://schemas.openxmlformats.org/drawingml/2006/main" noGrp="1"/>
          </p:cNvSpPr>
          <p:nvPr/>
        </p:nvSpPr>
        <p:spPr>
          <a:xfrm xmlns:a="http://schemas.openxmlformats.org/drawingml/2006/main">
            <a:off x="609600" y="2561082"/>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Service: an action done for a customer.</a:t>
            </a:r>
          </a:p>
        </p:txBody>
      </p:sp>
      <p:sp>
        <p:nvSpPr>
          <p:cNvPr id="8" name="body-2">
            <a:extLst xmlns:a="http://schemas.openxmlformats.org/drawingml/2006/main">
              <a:ext uri="{FF2B5EF4-FFF2-40B4-BE49-F238E27FC236}">
                <a16:creationId xmlns:a16="http://schemas.microsoft.com/office/drawing/2014/main" id="{52DAA3D2-B167-48BD-BD72-EE3444E05A1D}"/>
              </a:ext>
            </a:extLst>
          </p:cNvPr>
          <p:cNvSpPr>
            <a:spLocks xmlns:a="http://schemas.openxmlformats.org/drawingml/2006/main" noGrp="1"/>
          </p:cNvSpPr>
          <p:nvPr/>
        </p:nvSpPr>
        <p:spPr>
          <a:xfrm xmlns:a="http://schemas.openxmlformats.org/drawingml/2006/main">
            <a:off x="609600" y="3112961"/>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Menu: food and drink on offer.</a:t>
            </a:r>
          </a:p>
        </p:txBody>
      </p:sp>
      <p:sp>
        <p:nvSpPr>
          <p:cNvPr id="9" name="body-0">
            <a:extLst xmlns:a="http://schemas.openxmlformats.org/drawingml/2006/main">
              <a:ext uri="{FF2B5EF4-FFF2-40B4-BE49-F238E27FC236}">
                <a16:creationId xmlns:a16="http://schemas.microsoft.com/office/drawing/2014/main" id="{CFA6AEEA-C10B-4E5E-BE3D-89A86F0EFB2A}"/>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Brochure: a small information booklet.</a:t>
            </a:r>
          </a:p>
        </p:txBody>
      </p:sp>
      <p:sp>
        <p:nvSpPr>
          <p:cNvPr id="10" name="body-1">
            <a:extLst xmlns:a="http://schemas.openxmlformats.org/drawingml/2006/main">
              <a:ext uri="{FF2B5EF4-FFF2-40B4-BE49-F238E27FC236}">
                <a16:creationId xmlns:a16="http://schemas.microsoft.com/office/drawing/2014/main" id="{990DC9E8-AF01-498B-B57C-A8009EA768CD}"/>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Range: variety.</a:t>
            </a:r>
          </a:p>
        </p:txBody>
      </p:sp>
      <p:sp>
        <p:nvSpPr>
          <p:cNvPr id="11" name="body-2">
            <a:extLst xmlns:a="http://schemas.openxmlformats.org/drawingml/2006/main">
              <a:ext uri="{FF2B5EF4-FFF2-40B4-BE49-F238E27FC236}">
                <a16:creationId xmlns:a16="http://schemas.microsoft.com/office/drawing/2014/main" id="{C8B3E718-96B6-4667-BDF7-6A23C0CAC1AC}"/>
              </a:ext>
            </a:extLst>
          </p:cNvPr>
          <p:cNvSpPr>
            <a:spLocks xmlns:a="http://schemas.openxmlformats.org/drawingml/2006/main" noGrp="1"/>
          </p:cNvSpPr>
          <p:nvPr/>
        </p:nvSpPr>
        <p:spPr>
          <a:xfrm xmlns:a="http://schemas.openxmlformats.org/drawingml/2006/main">
            <a:off x="6362700" y="2799207"/>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Display: information arranged for others to see.</a:t>
            </a:r>
          </a:p>
        </p:txBody>
      </p:sp>
      <p:sp>
        <p:nvSpPr>
          <p:cNvPr id="12" name="printed-id">
            <a:extLst xmlns:a="http://schemas.openxmlformats.org/drawingml/2006/main">
              <a:ext uri="{FF2B5EF4-FFF2-40B4-BE49-F238E27FC236}">
                <a16:creationId xmlns:a16="http://schemas.microsoft.com/office/drawing/2014/main" id="{5442CA80-CBDC-4C71-8119-5E2355BF854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VOC-LAUNCH-A2-W02-L2</a:t>
            </a:r>
          </a:p>
        </p:txBody>
      </p:sp>
      <p:sp>
        <p:nvSpPr>
          <p:cNvPr id="13" name="edition-label">
            <a:extLst xmlns:a="http://schemas.openxmlformats.org/drawingml/2006/main">
              <a:ext uri="{FF2B5EF4-FFF2-40B4-BE49-F238E27FC236}">
                <a16:creationId xmlns:a16="http://schemas.microsoft.com/office/drawing/2014/main" id="{0C8B976D-9EB5-42AF-9642-B23F6830D1F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68DEED63-82A9-4331-A781-5E18367C12BC}"/>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646259534"/>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71EE133B-A394-401C-AEA1-3CDFD25B154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789B1499-651A-4229-8E45-889D49D47388}"/>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A6EBBD91-6380-44C6-8A7E-F14A33E44EA7}"/>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02C6F34-0AE1-4A4C-AF2B-E7805F260C7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D66CB730-F20E-4203-A099-38E72818E8D5}"/>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2DD173DF-85E4-479E-8FC2-A04C594AAF3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Individual A3 poster or display.</a:t>
            </a:r>
          </a:p>
        </p:txBody>
      </p:sp>
      <p:sp>
        <p:nvSpPr>
          <p:cNvPr id="7" name="body-1">
            <a:extLst xmlns:a="http://schemas.openxmlformats.org/drawingml/2006/main">
              <a:ext uri="{FF2B5EF4-FFF2-40B4-BE49-F238E27FC236}">
                <a16:creationId xmlns:a16="http://schemas.microsoft.com/office/drawing/2014/main" id="{2638D483-64C8-4197-8ED7-A353690A8E7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Check at ten minutes and record independence.</a:t>
            </a:r>
          </a:p>
        </p:txBody>
      </p:sp>
      <p:sp>
        <p:nvSpPr>
          <p:cNvPr id="8" name="body-2">
            <a:extLst xmlns:a="http://schemas.openxmlformats.org/drawingml/2006/main">
              <a:ext uri="{FF2B5EF4-FFF2-40B4-BE49-F238E27FC236}">
                <a16:creationId xmlns:a16="http://schemas.microsoft.com/office/drawing/2014/main" id="{BCDBD2F6-3B19-4D46-B3FA-B412F9C2AB50}"/>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Learner chooses the range and labels.</a:t>
            </a:r>
          </a:p>
        </p:txBody>
      </p:sp>
      <p:sp>
        <p:nvSpPr>
          <p:cNvPr id="9" name="body-3">
            <a:extLst xmlns:a="http://schemas.openxmlformats.org/drawingml/2006/main">
              <a:ext uri="{FF2B5EF4-FFF2-40B4-BE49-F238E27FC236}">
                <a16:creationId xmlns:a16="http://schemas.microsoft.com/office/drawing/2014/main" id="{AAC77D3A-2522-43D2-9814-3E548E2CB2AD}"/>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Lundy: Space · Voice · Audience · Influence.</a:t>
            </a:r>
          </a:p>
        </p:txBody>
      </p:sp>
      <p:sp>
        <p:nvSpPr>
          <p:cNvPr id="10" name="body-4">
            <a:extLst xmlns:a="http://schemas.openxmlformats.org/drawingml/2006/main">
              <a:ext uri="{FF2B5EF4-FFF2-40B4-BE49-F238E27FC236}">
                <a16:creationId xmlns:a16="http://schemas.microsoft.com/office/drawing/2014/main" id="{15404FB4-DA9E-4613-96D6-18319F842F7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Feedback: VF · WS · I · NS · E · R.</a:t>
            </a:r>
          </a:p>
        </p:txBody>
      </p:sp>
      <p:sp>
        <p:nvSpPr>
          <p:cNvPr id="11" name="printed-id">
            <a:extLst xmlns:a="http://schemas.openxmlformats.org/drawingml/2006/main">
              <a:ext uri="{FF2B5EF4-FFF2-40B4-BE49-F238E27FC236}">
                <a16:creationId xmlns:a16="http://schemas.microsoft.com/office/drawing/2014/main" id="{30A7A71E-0EF4-4600-A915-DD80C71A637B}"/>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VOC-LAUNCH-A2-W02-L2</a:t>
            </a:r>
          </a:p>
        </p:txBody>
      </p:sp>
      <p:sp>
        <p:nvSpPr>
          <p:cNvPr id="12" name="edition-label">
            <a:extLst xmlns:a="http://schemas.openxmlformats.org/drawingml/2006/main">
              <a:ext uri="{FF2B5EF4-FFF2-40B4-BE49-F238E27FC236}">
                <a16:creationId xmlns:a16="http://schemas.microsoft.com/office/drawing/2014/main" id="{C4DB3AA8-2432-4A33-BF4C-68D6C7B075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B758A12E-C263-444B-9EBB-2364F73CD5A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211555059"/>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Converted Presentation</ap:PresentationFormat>
  <ap:Slides>12</ap:Slides>
  <ap:Notes>12</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The Mission</dc:title>
  <dc:subject>VOC-LAUNCH-A2-W02-L2</dc:subject>
  <cp:lastModifiedBy/>
</cp:coreProperties>
</file>