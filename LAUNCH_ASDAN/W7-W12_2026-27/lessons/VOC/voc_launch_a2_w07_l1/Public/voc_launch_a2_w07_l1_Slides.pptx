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cd84540b0db64b64"/><Relationship Type="http://schemas.openxmlformats.org/officeDocument/2006/relationships/extended-properties" Target="/docProps/app.xml" Id="R1f2d96c58c55440c"/><Relationship Type="http://schemas.openxmlformats.org/officeDocument/2006/relationships/officeDocument" Target="/ppt/presentation.xml" Id="Re464253634f44380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aaa18b736b4bdf"/>
  </p:sldMasterIdLst>
  <p:notesMasterIdLst>
    <p:notesMasterId xmlns:r="http://schemas.openxmlformats.org/officeDocument/2006/relationships" r:id="R96d94d15dc974a5e"/>
  </p:notesMasterIdLst>
  <p:sldIdLst>
    <p:sldId xmlns:r="http://schemas.openxmlformats.org/officeDocument/2006/relationships" id="256" r:id="Rcde81a43be7f4cfc"/>
    <p:sldId xmlns:r="http://schemas.openxmlformats.org/officeDocument/2006/relationships" id="257" r:id="Rb591ceb67cfe4dfa"/>
    <p:sldId xmlns:r="http://schemas.openxmlformats.org/officeDocument/2006/relationships" id="258" r:id="Red634db161304007"/>
    <p:sldId xmlns:r="http://schemas.openxmlformats.org/officeDocument/2006/relationships" id="259" r:id="R744bcab443ee4f0a"/>
    <p:sldId xmlns:r="http://schemas.openxmlformats.org/officeDocument/2006/relationships" id="260" r:id="R17730be55cce4d1b"/>
    <p:sldId xmlns:r="http://schemas.openxmlformats.org/officeDocument/2006/relationships" id="261" r:id="Rd958332fc9254de4"/>
    <p:sldId xmlns:r="http://schemas.openxmlformats.org/officeDocument/2006/relationships" id="262" r:id="Ra4f0238fed2e4cfb"/>
    <p:sldId xmlns:r="http://schemas.openxmlformats.org/officeDocument/2006/relationships" id="263" r:id="R14e01cba9d774edd"/>
    <p:sldId xmlns:r="http://schemas.openxmlformats.org/officeDocument/2006/relationships" id="264" r:id="Raa862df73e584e4f"/>
    <p:sldId xmlns:r="http://schemas.openxmlformats.org/officeDocument/2006/relationships" id="265" r:id="R182d2d16699f4c93"/>
    <p:sldId xmlns:r="http://schemas.openxmlformats.org/officeDocument/2006/relationships" id="266" r:id="R2d67950fd6c940a8"/>
    <p:sldId xmlns:r="http://schemas.openxmlformats.org/officeDocument/2006/relationships" id="267" r:id="R3e87ee2e624c4c6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de9f492bc644b8" /><Relationship Type="http://schemas.openxmlformats.org/officeDocument/2006/relationships/slideMaster" Target="/ppt/slideMasters/slideMaster1.xml" Id="R04aaa18b736b4bdf" /><Relationship Type="http://schemas.openxmlformats.org/officeDocument/2006/relationships/notesMaster" Target="/ppt/notesMasters/notesMaster1.xml" Id="R96d94d15dc974a5e" /><Relationship Type="http://schemas.openxmlformats.org/officeDocument/2006/relationships/presProps" Target="/ppt/presProps.xml" Id="R1eb803d0e5634d51" /><Relationship Type="http://schemas.openxmlformats.org/officeDocument/2006/relationships/tableStyles" Target="/ppt/tableStyles.xml" Id="R046ca296d2e6404a" /><Relationship Type="http://schemas.openxmlformats.org/officeDocument/2006/relationships/slide" Target="/ppt/slides/slide1.xml" Id="Rcde81a43be7f4cfc" /><Relationship Type="http://schemas.openxmlformats.org/officeDocument/2006/relationships/slide" Target="/ppt/slides/slide2.xml" Id="Rb591ceb67cfe4dfa" /><Relationship Type="http://schemas.openxmlformats.org/officeDocument/2006/relationships/slide" Target="/ppt/slides/slide3.xml" Id="Red634db161304007" /><Relationship Type="http://schemas.openxmlformats.org/officeDocument/2006/relationships/slide" Target="/ppt/slides/slide4.xml" Id="R744bcab443ee4f0a" /><Relationship Type="http://schemas.openxmlformats.org/officeDocument/2006/relationships/slide" Target="/ppt/slides/slide5.xml" Id="R17730be55cce4d1b" /><Relationship Type="http://schemas.openxmlformats.org/officeDocument/2006/relationships/slide" Target="/ppt/slides/slide6.xml" Id="Rd958332fc9254de4" /><Relationship Type="http://schemas.openxmlformats.org/officeDocument/2006/relationships/slide" Target="/ppt/slides/slide7.xml" Id="Ra4f0238fed2e4cfb" /><Relationship Type="http://schemas.openxmlformats.org/officeDocument/2006/relationships/slide" Target="/ppt/slides/slide8.xml" Id="R14e01cba9d774edd" /><Relationship Type="http://schemas.openxmlformats.org/officeDocument/2006/relationships/slide" Target="/ppt/slides/slide9.xml" Id="Raa862df73e584e4f" /><Relationship Type="http://schemas.openxmlformats.org/officeDocument/2006/relationships/slide" Target="/ppt/slides/slide10.xml" Id="R182d2d16699f4c93" /><Relationship Type="http://schemas.openxmlformats.org/officeDocument/2006/relationships/slide" Target="/ppt/slides/slide11.xml" Id="R2d67950fd6c940a8" /><Relationship Type="http://schemas.openxmlformats.org/officeDocument/2006/relationships/slide" Target="/ppt/slides/slide12.xml" Id="R3e87ee2e624c4c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91b5938c134a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Lesson theme">
  <a:themeElements>
    <a:clrScheme name="Lesson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Lesson the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28eab85e384bc2" /><Relationship Type="http://schemas.openxmlformats.org/officeDocument/2006/relationships/notesMaster" Target="/ppt/notesMasters/notesMaster1.xml" Id="R6519dbe39c884c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077e838a5c4944" /><Relationship Type="http://schemas.openxmlformats.org/officeDocument/2006/relationships/notesMaster" Target="/ppt/notesMasters/notesMaster1.xml" Id="R52c26794846f4f4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f676e893194b3c" /><Relationship Type="http://schemas.openxmlformats.org/officeDocument/2006/relationships/notesMaster" Target="/ppt/notesMasters/notesMaster1.xml" Id="R6884c9b9985740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d560b550134841" /><Relationship Type="http://schemas.openxmlformats.org/officeDocument/2006/relationships/notesMaster" Target="/ppt/notesMasters/notesMaster1.xml" Id="R097e1584cc6346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6e3e15a17c646e7" /><Relationship Type="http://schemas.openxmlformats.org/officeDocument/2006/relationships/notesMaster" Target="/ppt/notesMasters/notesMaster1.xml" Id="Rab609d8c57ba4b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f5752b038c48f6" /><Relationship Type="http://schemas.openxmlformats.org/officeDocument/2006/relationships/notesMaster" Target="/ppt/notesMasters/notesMaster1.xml" Id="Rf64862cd19b04df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b6bde8c8f5341ce" /><Relationship Type="http://schemas.openxmlformats.org/officeDocument/2006/relationships/notesMaster" Target="/ppt/notesMasters/notesMaster1.xml" Id="R2ea49e5f1e0a4ab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5c9c359fd184d05" /><Relationship Type="http://schemas.openxmlformats.org/officeDocument/2006/relationships/notesMaster" Target="/ppt/notesMasters/notesMaster1.xml" Id="R91cd519756d84ea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bc2881931df42c5" /><Relationship Type="http://schemas.openxmlformats.org/officeDocument/2006/relationships/notesMaster" Target="/ppt/notesMasters/notesMaster1.xml" Id="R7bb907761a5942c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aa83bf25a424bc5" /><Relationship Type="http://schemas.openxmlformats.org/officeDocument/2006/relationships/notesMaster" Target="/ppt/notesMasters/notesMaster1.xml" Id="R9535c48bda2f418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023137aec23409a" /><Relationship Type="http://schemas.openxmlformats.org/officeDocument/2006/relationships/notesMaster" Target="/ppt/notesMasters/notesMaster1.xml" Id="R60b2a3f282fa4ef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59abdd08cc745e5" /><Relationship Type="http://schemas.openxmlformats.org/officeDocument/2006/relationships/notesMaster" Target="/ppt/notesMasters/notesMaster1.xml" Id="Rf09ce24b8e9746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VOC-LAUNCH-A2-W07-L1 · Monday 14–Friday 18 December 2026</ns0:t>
            </ns0:r>
          </ns0:p>
          <ns1:p xmlns:ns1="http://schemas.openxmlformats.org/drawingml/2006/main">
            <ns1:r>
              <ns1:t>Title and big question: 0 minutes.</ns1:t>
            </ns1:r>
          </ns1:p>
          <ns2:p xmlns:ns2="http://schemas.openxmlformats.org/drawingml/2006/main">
            <ns2:r>
              <ns2:t>Teacher: Open the big question without requiring personal disclosure. Staff enter the actual date in the planner.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VOC-W7-L1-E1; Individual hospitality evidence index linking actual work to skills in words, with ownership, support, context, storage references and explicit gaps.</ns4:t>
            </ns4:r>
          </ns4:p>
          <ns5:p xmlns:ns5="http://schemas.openxmlformats.org/drawingml/2006/main">
            <ns5:r>
              <ns5:t>Scheme: LAUNCH Weekly - Autumn!C143; LAUNCH - Autumn!D23, I23, J23; revision 9ed44bdf.</ns5:t>
            </ns5:r>
          </ns5:p>
          <ns6:p xmlns:ns6="http://schemas.openxmlformats.org/drawingml/2006/main">
            <ns6:r>
              <ns6:t>Source objective: Hospitality portfolio (Dec).</ns6:t>
            </ns6:r>
          </ns6:p>
          <ns7:p xmlns:ns7="http://schemas.openxmlformats.org/drawingml/2006/main">
            <ns7:r>
              <ns7:t>Calendar: Monday 14–Friday 18 December 2026. Two 40-minute lessons this week. No teaching day or clock slot is inferred. Any visitor, placement or external audience is unconfirmed; the in-class route is ready to use.</ns7:t>
            </ns7:r>
          </ns7:p>
          <ns8:p xmlns:ns8="http://schemas.openxmlformats.org/drawingml/2006/main">
            <ns8:r>
              <ns8:t>Unconfirmed slot: Unconfirmed. No booking, invitation, placement or event date is asserted.</ns8:t>
            </ns8:r>
          </ns8:p>
          <ns9:p xmlns:ns9="http://schemas.openxmlformats.org/drawingml/2006/main">
            <ns9:r>
              <ns9:t>In-class alternative: Review the authentic in-class work that exists. Label any rehearsal or proposal and list missing practical or external evidence. A visitor or placement remains unconfirmed unless staff have an actual record.</ns9:t>
            </ns9:r>
          </ns9:p>
          <ns10:p xmlns:ns10="http://schemas.openxmlformats.org/drawingml/2006/main">
            <ns10:r>
              <ns10:t>Unit: Hospitality &amp; catering basics</ns10:t>
            </ns10:r>
          </ns10:p>
          <ns11:p xmlns:ns11="http://schemas.openxmlformats.org/drawingml/2006/main">
            <ns11:r>
              <ns11:t>Accreditation: [AWARD] [QUAL] / [QUAL] short course; [AWARD] [QUAL], ‘[QUAL]’, ‘[QUAL]’.</ns11:t>
            </ns11:r>
          </ns11:p>
          <ns12:p xmlns:ns12="http://schemas.openxmlformats.org/drawingml/2006/main">
            <ns12:r>
              <ns12:t>Assessment: F: service-task observation.  S: hospitality enterprise evidence + unit (Dec data drop).</ns12:t>
            </ns12:r>
          </ns12:p>
          <ns13:p xmlns:ns13="http://schemas.openxmlformats.org/drawingml/2006/main">
            <ns13:r>
              <ns13:t>Sources: https://www.gov.uk/government/publications/providing-food-at-community-and-charity-events/providing-food-at-community-and-charity-events; https://www.gov.uk/government/publications/allergen-information-for-non-prepacked-foods-best-practice/allergen-information-for-non-prepacked-foods-best-practice</ns13:t>
            </ns13:r>
          </ns13:p>
          <ns14:p xmlns:ns14="http://schemas.openxmlformats.org/drawingml/2006/main">
            <ns14:r>
              <ns14:t>Made by Matt · © Matt Roper · CC BY-NC-SA 4.0: free for classroom use, share and adapt with credit, no resale</ns14:t>
            </ns14:r>
          </ns1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VOC-LAUNCH-A2-W07-L1 · Monday 14–Friday 18 December 2026</ns0:t>
            </ns0:r>
          </ns0:p>
          <ns1:p xmlns:ns1="http://schemas.openxmlformats.org/drawingml/2006/main">
            <ns1:r>
              <ns1:t>Arrival and regulation: 4 minutes.</ns1:t>
            </ns1:r>
          </ns1:p>
          <ns2:p xmlns:ns2="http://schemas.openxmlformats.org/drawingml/2006/main">
            <ns2:r>
              <ns2:t>Teacher: Use a private check-in, quiet start and processing time. Identify the available adult and backup support route.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VOC-W7-L1-E1; Individual hospitality evidence index linking actual work to skills in words, with ownership, support, context, storage references and explicit gaps.</ns4:t>
            </ns4:r>
          </ns4:p>
          <ns5:p xmlns:ns5="http://schemas.openxmlformats.org/drawingml/2006/main">
            <ns5:r>
              <ns5:t>Scheme: LAUNCH Weekly - Autumn!C143; LAUNCH - Autumn!D23, I23, J23; revision 9ed44bdf.</ns5:t>
            </ns5:r>
          </ns5:p>
          <ns6:p xmlns:ns6="http://schemas.openxmlformats.org/drawingml/2006/main">
            <ns6:r>
              <ns6:t>Source objective: Hospitality portfolio (Dec).</ns6:t>
            </ns6:r>
          </ns6:p>
          <ns7:p xmlns:ns7="http://schemas.openxmlformats.org/drawingml/2006/main">
            <ns7:r>
              <ns7:t>Calendar: Monday 14–Friday 18 December 2026. Two 40-minute lessons this week. No teaching day or clock slot is inferred. Any visitor, placement or external audience is unconfirmed; the in-class route is ready to use.</ns7:t>
            </ns7:r>
          </ns7:p>
          <ns8:p xmlns:ns8="http://schemas.openxmlformats.org/drawingml/2006/main">
            <ns8:r>
              <ns8:t>Unconfirmed slot: Unconfirmed. No booking, invitation, placement or event date is asserted.</ns8:t>
            </ns8:r>
          </ns8:p>
          <ns9:p xmlns:ns9="http://schemas.openxmlformats.org/drawingml/2006/main">
            <ns9:r>
              <ns9:t>In-class alternative: Review the authentic in-class work that exists. Label any rehearsal or proposal and list missing practical or external evidence. A visitor or placement remains unconfirmed unless staff have an actual record.</ns9:t>
            </ns9:r>
          </ns9:p>
          <ns10:p xmlns:ns10="http://schemas.openxmlformats.org/drawingml/2006/main">
            <ns10:r>
              <ns10:t>Unit: Hospitality &amp; catering basics</ns10:t>
            </ns10:r>
          </ns10:p>
          <ns11:p xmlns:ns11="http://schemas.openxmlformats.org/drawingml/2006/main">
            <ns11:r>
              <ns11:t>Accreditation: [AWARD] [QUAL] / [QUAL] short course; [AWARD] [QUAL], ‘[QUAL]’, ‘[QUAL]’.</ns11:t>
            </ns11:r>
          </ns11:p>
          <ns12:p xmlns:ns12="http://schemas.openxmlformats.org/drawingml/2006/main">
            <ns12:r>
              <ns12:t>Assessment: F: service-task observation.  S: hospitality enterprise evidence + unit (Dec data drop).</ns12:t>
            </ns12:r>
          </ns12:p>
          <ns13:p xmlns:ns13="http://schemas.openxmlformats.org/drawingml/2006/main">
            <ns13:r>
              <ns13:t>Sources: https://www.gov.uk/government/publications/providing-food-at-community-and-charity-events/providing-food-at-community-and-charity-events; https://www.gov.uk/government/publications/allergen-information-for-non-prepacked-foods-best-practice/allergen-information-for-non-prepacked-foods-best-practice</ns13:t>
            </ns13:r>
          </ns13:p>
          <ns14:p xmlns:ns14="http://schemas.openxmlformats.org/drawingml/2006/main">
            <ns14:r>
              <ns14:t>Made by Matt · © Matt Roper · CC BY-NC-SA 4.0: free for classroom use, share and adapt with credit, no resale</ns14:t>
            </ns14:r>
          </ns1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VOC-LAUNCH-A2-W07-L1 · Monday 14–Friday 18 December 2026</ns0:t>
            </ns0:r>
          </ns0:p>
          <ns1:p xmlns:ns1="http://schemas.openxmlformats.org/drawingml/2006/main">
            <ns1:r>
              <ns1:t>Starter: 2 minutes.</ns1:t>
            </ns1:r>
          </ns1:p>
          <ns2:p xmlns:ns2="http://schemas.openxmlformats.org/drawingml/2006/main">
            <ns2:r>
              <ns2:t>Teacher: Describe the generated practice picture aloud. Accept a pointed clue. It is not a photograph of our learners or proof of a completed activity.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VOC-W7-L1-E1; Individual hospitality evidence index linking actual work to skills in words, with ownership, support, context, storage references and explicit gaps.</ns4:t>
            </ns4:r>
          </ns4:p>
          <ns5:p xmlns:ns5="http://schemas.openxmlformats.org/drawingml/2006/main">
            <ns5:r>
              <ns5:t>Scheme: LAUNCH Weekly - Autumn!C143; LAUNCH - Autumn!D23, I23, J23; revision 9ed44bdf.</ns5:t>
            </ns5:r>
          </ns5:p>
          <ns6:p xmlns:ns6="http://schemas.openxmlformats.org/drawingml/2006/main">
            <ns6:r>
              <ns6:t>Source objective: Hospitality portfolio (Dec).</ns6:t>
            </ns6:r>
          </ns6:p>
          <ns7:p xmlns:ns7="http://schemas.openxmlformats.org/drawingml/2006/main">
            <ns7:r>
              <ns7:t>Calendar: Monday 14–Friday 18 December 2026. Two 40-minute lessons this week. No teaching day or clock slot is inferred. Any visitor, placement or external audience is unconfirmed; the in-class route is ready to use.</ns7:t>
            </ns7:r>
          </ns7:p>
          <ns8:p xmlns:ns8="http://schemas.openxmlformats.org/drawingml/2006/main">
            <ns8:r>
              <ns8:t>Unconfirmed slot: Unconfirmed. No booking, invitation, placement or event date is asserted.</ns8:t>
            </ns8:r>
          </ns8:p>
          <ns9:p xmlns:ns9="http://schemas.openxmlformats.org/drawingml/2006/main">
            <ns9:r>
              <ns9:t>In-class alternative: Review the authentic in-class work that exists. Label any rehearsal or proposal and list missing practical or external evidence. A visitor or placement remains unconfirmed unless staff have an actual record.</ns9:t>
            </ns9:r>
          </ns9:p>
          <ns10:p xmlns:ns10="http://schemas.openxmlformats.org/drawingml/2006/main">
            <ns10:r>
              <ns10:t>Unit: Hospitality &amp; catering basics</ns10:t>
            </ns10:r>
          </ns10:p>
          <ns11:p xmlns:ns11="http://schemas.openxmlformats.org/drawingml/2006/main">
            <ns11:r>
              <ns11:t>Accreditation: [AWARD] [QUAL] / [QUAL] short course; [AWARD] [QUAL], ‘[QUAL]’, ‘[QUAL]’.</ns11:t>
            </ns11:r>
          </ns11:p>
          <ns12:p xmlns:ns12="http://schemas.openxmlformats.org/drawingml/2006/main">
            <ns12:r>
              <ns12:t>Assessment: F: service-task observation.  S: hospitality enterprise evidence + unit (Dec data drop).</ns12:t>
            </ns12:r>
          </ns12:p>
          <ns13:p xmlns:ns13="http://schemas.openxmlformats.org/drawingml/2006/main">
            <ns13:r>
              <ns13:t>Sources: https://www.gov.uk/government/publications/providing-food-at-community-and-charity-events/providing-food-at-community-and-charity-events; https://www.gov.uk/government/publications/allergen-information-for-non-prepacked-foods-best-practice/allergen-information-for-non-prepacked-foods-best-practice</ns13:t>
            </ns13:r>
          </ns13:p>
          <ns14:p xmlns:ns14="http://schemas.openxmlformats.org/drawingml/2006/main">
            <ns14:r>
              <ns14:t>Made by Matt · © Matt Roper · CC BY-NC-SA 4.0: free for classroom use, share and adapt with credit, no resale</ns14:t>
            </ns14:r>
          </ns1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VOC-LAUNCH-A2-W07-L1 · Monday 14–Friday 18 December 2026</ns0:t>
            </ns0:r>
          </ns0:p>
          <ns1:p xmlns:ns1="http://schemas.openxmlformats.org/drawingml/2006/main">
            <ns1:r>
              <ns1:t>Today: 0 minutes.</ns1:t>
            </ns1:r>
          </ns1:p>
          <ns2:p xmlns:ns2="http://schemas.openxmlformats.org/drawingml/2006/main">
            <ns2:r>
              <ns2:t>Teacher: Read the exact scheme objective and the success checks. Explain today’s contribution without claiming award completion.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VOC-W7-L1-E1; Individual hospitality evidence index linking actual work to skills in words, with ownership, support, context, storage references and explicit gaps.</ns4:t>
            </ns4:r>
          </ns4:p>
          <ns5:p xmlns:ns5="http://schemas.openxmlformats.org/drawingml/2006/main">
            <ns5:r>
              <ns5:t>Scheme: LAUNCH Weekly - Autumn!C143; LAUNCH - Autumn!D23, I23, J23; revision 9ed44bdf.</ns5:t>
            </ns5:r>
          </ns5:p>
          <ns6:p xmlns:ns6="http://schemas.openxmlformats.org/drawingml/2006/main">
            <ns6:r>
              <ns6:t>Source objective: Hospitality portfolio (Dec).</ns6:t>
            </ns6:r>
          </ns6:p>
          <ns7:p xmlns:ns7="http://schemas.openxmlformats.org/drawingml/2006/main">
            <ns7:r>
              <ns7:t>Calendar: Monday 14–Friday 18 December 2026. Two 40-minute lessons this week. No teaching day or clock slot is inferred. Any visitor, placement or external audience is unconfirmed; the in-class route is ready to use.</ns7:t>
            </ns7:r>
          </ns7:p>
          <ns8:p xmlns:ns8="http://schemas.openxmlformats.org/drawingml/2006/main">
            <ns8:r>
              <ns8:t>Unconfirmed slot: Unconfirmed. No booking, invitation, placement or event date is asserted.</ns8:t>
            </ns8:r>
          </ns8:p>
          <ns9:p xmlns:ns9="http://schemas.openxmlformats.org/drawingml/2006/main">
            <ns9:r>
              <ns9:t>In-class alternative: Review the authentic in-class work that exists. Label any rehearsal or proposal and list missing practical or external evidence. A visitor or placement remains unconfirmed unless staff have an actual record.</ns9:t>
            </ns9:r>
          </ns9:p>
          <ns10:p xmlns:ns10="http://schemas.openxmlformats.org/drawingml/2006/main">
            <ns10:r>
              <ns10:t>Unit: Hospitality &amp; catering basics</ns10:t>
            </ns10:r>
          </ns10:p>
          <ns11:p xmlns:ns11="http://schemas.openxmlformats.org/drawingml/2006/main">
            <ns11:r>
              <ns11:t>Accreditation: [AWARD] [QUAL] / [QUAL] short course; [AWARD] [QUAL], ‘[QUAL]’, ‘[QUAL]’.</ns11:t>
            </ns11:r>
          </ns11:p>
          <ns12:p xmlns:ns12="http://schemas.openxmlformats.org/drawingml/2006/main">
            <ns12:r>
              <ns12:t>Assessment: F: service-task observation.  S: hospitality enterprise evidence + unit (Dec data drop).</ns12:t>
            </ns12:r>
          </ns12:p>
          <ns13:p xmlns:ns13="http://schemas.openxmlformats.org/drawingml/2006/main">
            <ns13:r>
              <ns13:t>Sources: https://www.gov.uk/government/publications/providing-food-at-community-and-charity-events/providing-food-at-community-and-charity-events; https://www.gov.uk/government/publications/allergen-information-for-non-prepacked-foods-best-practice/allergen-information-for-non-prepacked-foods-best-practice</ns13:t>
            </ns13:r>
          </ns13:p>
          <ns14:p xmlns:ns14="http://schemas.openxmlformats.org/drawingml/2006/main">
            <ns14:r>
              <ns14:t>Made by Matt · © Matt Roper · CC BY-NC-SA 4.0: free for classroom use, share and adapt with credit, no resale</ns14:t>
            </ns14:r>
          </ns1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VOC-LAUNCH-A2-W07-L1 · Monday 14–Friday 18 December 2026</ns0:t>
            </ns0:r>
          </ns0:p>
          <ns1:p xmlns:ns1="http://schemas.openxmlformats.org/drawingml/2006/main">
            <ns1:r>
              <ns1:t>I Do: 5 minutes.</ns1:t>
            </ns1:r>
          </ns1:p>
          <ns2:p xmlns:ns2="http://schemas.openxmlformats.org/drawingml/2006/main">
            <ns2:r>
              <ns2:t>Teacher: Model each line aloud and make the reasoning explicit. Each claimed skill has a traceable learner record or remains marked missing. Retain actual dates when known and mark unknown dates honestly. School source mapping is exact; Public award labels are masked. This is an index and audit, not evidence that every practical task has been completed.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VOC-W7-L1-E1; Individual hospitality evidence index linking actual work to skills in words, with ownership, support, context, storage references and explicit gaps.</ns4:t>
            </ns4:r>
          </ns4:p>
          <ns5:p xmlns:ns5="http://schemas.openxmlformats.org/drawingml/2006/main">
            <ns5:r>
              <ns5:t>Scheme: LAUNCH Weekly - Autumn!C143; LAUNCH - Autumn!D23, I23, J23; revision 9ed44bdf.</ns5:t>
            </ns5:r>
          </ns5:p>
          <ns6:p xmlns:ns6="http://schemas.openxmlformats.org/drawingml/2006/main">
            <ns6:r>
              <ns6:t>Source objective: Hospitality portfolio (Dec).</ns6:t>
            </ns6:r>
          </ns6:p>
          <ns7:p xmlns:ns7="http://schemas.openxmlformats.org/drawingml/2006/main">
            <ns7:r>
              <ns7:t>Calendar: Monday 14–Friday 18 December 2026. Two 40-minute lessons this week. No teaching day or clock slot is inferred. Any visitor, placement or external audience is unconfirmed; the in-class route is ready to use.</ns7:t>
            </ns7:r>
          </ns7:p>
          <ns8:p xmlns:ns8="http://schemas.openxmlformats.org/drawingml/2006/main">
            <ns8:r>
              <ns8:t>Unconfirmed slot: Unconfirmed. No booking, invitation, placement or event date is asserted.</ns8:t>
            </ns8:r>
          </ns8:p>
          <ns9:p xmlns:ns9="http://schemas.openxmlformats.org/drawingml/2006/main">
            <ns9:r>
              <ns9:t>In-class alternative: Review the authentic in-class work that exists. Label any rehearsal or proposal and list missing practical or external evidence. A visitor or placement remains unconfirmed unless staff have an actual record.</ns9:t>
            </ns9:r>
          </ns9:p>
          <ns10:p xmlns:ns10="http://schemas.openxmlformats.org/drawingml/2006/main">
            <ns10:r>
              <ns10:t>Unit: Hospitality &amp; catering basics</ns10:t>
            </ns10:r>
          </ns10:p>
          <ns11:p xmlns:ns11="http://schemas.openxmlformats.org/drawingml/2006/main">
            <ns11:r>
              <ns11:t>Accreditation: [AWARD] [QUAL] / [QUAL] short course; [AWARD] [QUAL], ‘[QUAL]’, ‘[QUAL]’.</ns11:t>
            </ns11:r>
          </ns11:p>
          <ns12:p xmlns:ns12="http://schemas.openxmlformats.org/drawingml/2006/main">
            <ns12:r>
              <ns12:t>Assessment: F: service-task observation.  S: hospitality enterprise evidence + unit (Dec data drop).</ns12:t>
            </ns12:r>
          </ns12:p>
          <ns13:p xmlns:ns13="http://schemas.openxmlformats.org/drawingml/2006/main">
            <ns13:r>
              <ns13:t>Sources: https://www.gov.uk/government/publications/providing-food-at-community-and-charity-events/providing-food-at-community-and-charity-events; https://www.gov.uk/government/publications/allergen-information-for-non-prepacked-foods-best-practice/allergen-information-for-non-prepacked-foods-best-practice</ns13:t>
            </ns13:r>
          </ns13:p>
          <ns14:p xmlns:ns14="http://schemas.openxmlformats.org/drawingml/2006/main">
            <ns14:r>
              <ns14:t>Made by Matt · © Matt Roper · CC BY-NC-SA 4.0: free for classroom use, share and adapt with credit, no resale</ns14:t>
            </ns14:r>
          </ns1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VOC-LAUNCH-A2-W07-L1 · Monday 14–Friday 18 December 2026</ns0:t>
            </ns0:r>
          </ns0:p>
          <ns1:p xmlns:ns1="http://schemas.openxmlformats.org/drawingml/2006/main">
            <ns1:r>
              <ns1:t>We Do: 5 minutes.</ns1:t>
            </ns1:r>
          </ns1:p>
          <ns2:p xmlns:ns2="http://schemas.openxmlformats.org/drawingml/2006/main">
            <ns2:r>
              <ns2:t>Teacher: Read the hinge aloud, ask for a choice and a reason. C. A blank form or another person’s work cannot establish the learner’s food preparation. Check for an authentic existing observation or work record. If it is missing, leave the gap and agree a future opportunity with staff. No completion claim is made from the folder’s appearance.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VOC-W7-L1-E1; Individual hospitality evidence index linking actual work to skills in words, with ownership, support, context, storage references and explicit gaps.</ns4:t>
            </ns4:r>
          </ns4:p>
          <ns5:p xmlns:ns5="http://schemas.openxmlformats.org/drawingml/2006/main">
            <ns5:r>
              <ns5:t>Scheme: LAUNCH Weekly - Autumn!C143; LAUNCH - Autumn!D23, I23, J23; revision 9ed44bdf.</ns5:t>
            </ns5:r>
          </ns5:p>
          <ns6:p xmlns:ns6="http://schemas.openxmlformats.org/drawingml/2006/main">
            <ns6:r>
              <ns6:t>Source objective: Hospitality portfolio (Dec).</ns6:t>
            </ns6:r>
          </ns6:p>
          <ns7:p xmlns:ns7="http://schemas.openxmlformats.org/drawingml/2006/main">
            <ns7:r>
              <ns7:t>Calendar: Monday 14–Friday 18 December 2026. Two 40-minute lessons this week. No teaching day or clock slot is inferred. Any visitor, placement or external audience is unconfirmed; the in-class route is ready to use.</ns7:t>
            </ns7:r>
          </ns7:p>
          <ns8:p xmlns:ns8="http://schemas.openxmlformats.org/drawingml/2006/main">
            <ns8:r>
              <ns8:t>Unconfirmed slot: Unconfirmed. No booking, invitation, placement or event date is asserted.</ns8:t>
            </ns8:r>
          </ns8:p>
          <ns9:p xmlns:ns9="http://schemas.openxmlformats.org/drawingml/2006/main">
            <ns9:r>
              <ns9:t>In-class alternative: Review the authentic in-class work that exists. Label any rehearsal or proposal and list missing practical or external evidence. A visitor or placement remains unconfirmed unless staff have an actual record.</ns9:t>
            </ns9:r>
          </ns9:p>
          <ns10:p xmlns:ns10="http://schemas.openxmlformats.org/drawingml/2006/main">
            <ns10:r>
              <ns10:t>Unit: Hospitality &amp; catering basics</ns10:t>
            </ns10:r>
          </ns10:p>
          <ns11:p xmlns:ns11="http://schemas.openxmlformats.org/drawingml/2006/main">
            <ns11:r>
              <ns11:t>Accreditation: [AWARD] [QUAL] / [QUAL] short course; [AWARD] [QUAL], ‘[QUAL]’, ‘[QUAL]’.</ns11:t>
            </ns11:r>
          </ns11:p>
          <ns12:p xmlns:ns12="http://schemas.openxmlformats.org/drawingml/2006/main">
            <ns12:r>
              <ns12:t>Assessment: F: service-task observation.  S: hospitality enterprise evidence + unit (Dec data drop).</ns12:t>
            </ns12:r>
          </ns12:p>
          <ns13:p xmlns:ns13="http://schemas.openxmlformats.org/drawingml/2006/main">
            <ns13:r>
              <ns13:t>Sources: https://www.gov.uk/government/publications/providing-food-at-community-and-charity-events/providing-food-at-community-and-charity-events; https://www.gov.uk/government/publications/allergen-information-for-non-prepacked-foods-best-practice/allergen-information-for-non-prepacked-foods-best-practice</ns13:t>
            </ns13:r>
          </ns13:p>
          <ns14:p xmlns:ns14="http://schemas.openxmlformats.org/drawingml/2006/main">
            <ns14:r>
              <ns14:t>Made by Matt · © Matt Roper · CC BY-NC-SA 4.0: free for classroom use, share and adapt with credit, no resale</ns14:t>
            </ns14:r>
          </ns1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VOC-LAUNCH-A2-W07-L1 · Monday 14–Friday 18 December 2026</ns0:t>
            </ns0:r>
          </ns0:p>
          <ns1:p xmlns:ns1="http://schemas.openxmlformats.org/drawingml/2006/main">
            <ns1:r>
              <ns1:t>You Do practice: 12 minutes.</ns1:t>
            </ns1:r>
          </ns1:p>
          <ns2:p xmlns:ns2="http://schemas.openxmlformats.org/drawingml/2006/main">
            <ns2:r>
              <ns2:t>Teacher: Check one record at a time for owner, actual activity, context and support. Use the evidence index to distinguish real food/service observations, paper plans and rehearsals. Missing work gets a gap and follow-up, not a tick. The workbook’s summative assessment is retained; this audit does not itself prove award completion.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VOC-W7-L1-E1; Individual hospitality evidence index linking actual work to skills in words, with ownership, support, context, storage references and explicit gaps.</ns4:t>
            </ns4:r>
          </ns4:p>
          <ns5:p xmlns:ns5="http://schemas.openxmlformats.org/drawingml/2006/main">
            <ns5:r>
              <ns5:t>Scheme: LAUNCH Weekly - Autumn!C143; LAUNCH - Autumn!D23, I23, J23; revision 9ed44bdf.</ns5:t>
            </ns5:r>
          </ns5:p>
          <ns6:p xmlns:ns6="http://schemas.openxmlformats.org/drawingml/2006/main">
            <ns6:r>
              <ns6:t>Source objective: Hospitality portfolio (Dec).</ns6:t>
            </ns6:r>
          </ns6:p>
          <ns7:p xmlns:ns7="http://schemas.openxmlformats.org/drawingml/2006/main">
            <ns7:r>
              <ns7:t>Calendar: Monday 14–Friday 18 December 2026. Two 40-minute lessons this week. No teaching day or clock slot is inferred. Any visitor, placement or external audience is unconfirmed; the in-class route is ready to use.</ns7:t>
            </ns7:r>
          </ns7:p>
          <ns8:p xmlns:ns8="http://schemas.openxmlformats.org/drawingml/2006/main">
            <ns8:r>
              <ns8:t>Unconfirmed slot: Unconfirmed. No booking, invitation, placement or event date is asserted.</ns8:t>
            </ns8:r>
          </ns8:p>
          <ns9:p xmlns:ns9="http://schemas.openxmlformats.org/drawingml/2006/main">
            <ns9:r>
              <ns9:t>In-class alternative: Review the authentic in-class work that exists. Label any rehearsal or proposal and list missing practical or external evidence. A visitor or placement remains unconfirmed unless staff have an actual record.</ns9:t>
            </ns9:r>
          </ns9:p>
          <ns10:p xmlns:ns10="http://schemas.openxmlformats.org/drawingml/2006/main">
            <ns10:r>
              <ns10:t>Unit: Hospitality &amp; catering basics</ns10:t>
            </ns10:r>
          </ns10:p>
          <ns11:p xmlns:ns11="http://schemas.openxmlformats.org/drawingml/2006/main">
            <ns11:r>
              <ns11:t>Accreditation: [AWARD] [QUAL] / [QUAL] short course; [AWARD] [QUAL], ‘[QUAL]’, ‘[QUAL]’.</ns11:t>
            </ns11:r>
          </ns11:p>
          <ns12:p xmlns:ns12="http://schemas.openxmlformats.org/drawingml/2006/main">
            <ns12:r>
              <ns12:t>Assessment: F: service-task observation.  S: hospitality enterprise evidence + unit (Dec data drop).</ns12:t>
            </ns12:r>
          </ns12:p>
          <ns13:p xmlns:ns13="http://schemas.openxmlformats.org/drawingml/2006/main">
            <ns13:r>
              <ns13:t>Sources: https://www.gov.uk/government/publications/providing-food-at-community-and-charity-events/providing-food-at-community-and-charity-events; https://www.gov.uk/government/publications/allergen-information-for-non-prepacked-foods-best-practice/allergen-information-for-non-prepacked-foods-best-practice</ns13:t>
            </ns13:r>
          </ns13:p>
          <ns14:p xmlns:ns14="http://schemas.openxmlformats.org/drawingml/2006/main">
            <ns14:r>
              <ns14:t>Made by Matt · © Matt Roper · CC BY-NC-SA 4.0: free for classroom use, share and adapt with credit, no resale</ns14:t>
            </ns14:r>
          </ns1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VOC-LAUNCH-A2-W07-L1 · Monday 14–Friday 18 December 2026</ns0:t>
            </ns0:r>
          </ns0:p>
          <ns1:p xmlns:ns1="http://schemas.openxmlformats.org/drawingml/2006/main">
            <ns1:r>
              <ns1:t>You Do evidence: 6 minutes.</ns1:t>
            </ns1:r>
          </ns1:p>
          <ns2:p xmlns:ns2="http://schemas.openxmlformats.org/drawingml/2006/main">
            <ns2:r>
              <ns2:t>Teacher: Complete both Evidence Sheet pages. Each claimed skill has a traceable learner record or remains marked missing. Retain actual dates when known and mark unknown dates honestly. School source mapping is exact; Public award labels are masked. This is an index and audit, not evidence that every practical task has been completed.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VOC-W7-L1-E1; Individual hospitality evidence index linking actual work to skills in words, with ownership, support, context, storage references and explicit gaps.</ns4:t>
            </ns4:r>
          </ns4:p>
          <ns5:p xmlns:ns5="http://schemas.openxmlformats.org/drawingml/2006/main">
            <ns5:r>
              <ns5:t>Scheme: LAUNCH Weekly - Autumn!C143; LAUNCH - Autumn!D23, I23, J23; revision 9ed44bdf.</ns5:t>
            </ns5:r>
          </ns5:p>
          <ns6:p xmlns:ns6="http://schemas.openxmlformats.org/drawingml/2006/main">
            <ns6:r>
              <ns6:t>Source objective: Hospitality portfolio (Dec).</ns6:t>
            </ns6:r>
          </ns6:p>
          <ns7:p xmlns:ns7="http://schemas.openxmlformats.org/drawingml/2006/main">
            <ns7:r>
              <ns7:t>Calendar: Monday 14–Friday 18 December 2026. Two 40-minute lessons this week. No teaching day or clock slot is inferred. Any visitor, placement or external audience is unconfirmed; the in-class route is ready to use.</ns7:t>
            </ns7:r>
          </ns7:p>
          <ns8:p xmlns:ns8="http://schemas.openxmlformats.org/drawingml/2006/main">
            <ns8:r>
              <ns8:t>Unconfirmed slot: Unconfirmed. No booking, invitation, placement or event date is asserted.</ns8:t>
            </ns8:r>
          </ns8:p>
          <ns9:p xmlns:ns9="http://schemas.openxmlformats.org/drawingml/2006/main">
            <ns9:r>
              <ns9:t>In-class alternative: Review the authentic in-class work that exists. Label any rehearsal or proposal and list missing practical or external evidence. A visitor or placement remains unconfirmed unless staff have an actual record.</ns9:t>
            </ns9:r>
          </ns9:p>
          <ns10:p xmlns:ns10="http://schemas.openxmlformats.org/drawingml/2006/main">
            <ns10:r>
              <ns10:t>Unit: Hospitality &amp; catering basics</ns10:t>
            </ns10:r>
          </ns10:p>
          <ns11:p xmlns:ns11="http://schemas.openxmlformats.org/drawingml/2006/main">
            <ns11:r>
              <ns11:t>Accreditation: [AWARD] [QUAL] / [QUAL] short course; [AWARD] [QUAL], ‘[QUAL]’, ‘[QUAL]’.</ns11:t>
            </ns11:r>
          </ns11:p>
          <ns12:p xmlns:ns12="http://schemas.openxmlformats.org/drawingml/2006/main">
            <ns12:r>
              <ns12:t>Assessment: F: service-task observation.  S: hospitality enterprise evidence + unit (Dec data drop).</ns12:t>
            </ns12:r>
          </ns12:p>
          <ns13:p xmlns:ns13="http://schemas.openxmlformats.org/drawingml/2006/main">
            <ns13:r>
              <ns13:t>Sources: https://www.gov.uk/government/publications/providing-food-at-community-and-charity-events/providing-food-at-community-and-charity-events; https://www.gov.uk/government/publications/allergen-information-for-non-prepacked-foods-best-practice/allergen-information-for-non-prepacked-foods-best-practice</ns13:t>
            </ns13:r>
          </ns13:p>
          <ns14:p xmlns:ns14="http://schemas.openxmlformats.org/drawingml/2006/main">
            <ns14:r>
              <ns14:t>Made by Matt · © Matt Roper · CC BY-NC-SA 4.0: free for classroom use, share and adapt with credit, no resale</ns14:t>
            </ns14:r>
          </ns1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VOC-LAUNCH-A2-W07-L1 · Monday 14–Friday 18 December 2026</ns0:t>
            </ns0:r>
          </ns0:p>
          <ns1:p xmlns:ns1="http://schemas.openxmlformats.org/drawingml/2006/main">
            <ns1:r>
              <ns1:t>Tidy and evidence check: 4 minutes.</ns1:t>
            </ns1:r>
          </ns1:p>
          <ns2:p xmlns:ns2="http://schemas.openxmlformats.org/drawingml/2006/main">
            <ns2:r>
              <ns2:t>Teacher: Check actual support, ownership and response. Use VF, WS, I, NS+, //, ?, R and E appropriately. R needs Voice, Audience, NS+ and a response in the learner’s own colour. E requires actual banking.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VOC-W7-L1-E1; Individual hospitality evidence index linking actual work to skills in words, with ownership, support, context, storage references and explicit gaps.</ns4:t>
            </ns4:r>
          </ns4:p>
          <ns5:p xmlns:ns5="http://schemas.openxmlformats.org/drawingml/2006/main">
            <ns5:r>
              <ns5:t>Scheme: LAUNCH Weekly - Autumn!C143; LAUNCH - Autumn!D23, I23, J23; revision 9ed44bdf.</ns5:t>
            </ns5:r>
          </ns5:p>
          <ns6:p xmlns:ns6="http://schemas.openxmlformats.org/drawingml/2006/main">
            <ns6:r>
              <ns6:t>Source objective: Hospitality portfolio (Dec).</ns6:t>
            </ns6:r>
          </ns6:p>
          <ns7:p xmlns:ns7="http://schemas.openxmlformats.org/drawingml/2006/main">
            <ns7:r>
              <ns7:t>Calendar: Monday 14–Friday 18 December 2026. Two 40-minute lessons this week. No teaching day or clock slot is inferred. Any visitor, placement or external audience is unconfirmed; the in-class route is ready to use.</ns7:t>
            </ns7:r>
          </ns7:p>
          <ns8:p xmlns:ns8="http://schemas.openxmlformats.org/drawingml/2006/main">
            <ns8:r>
              <ns8:t>Unconfirmed slot: Unconfirmed. No booking, invitation, placement or event date is asserted.</ns8:t>
            </ns8:r>
          </ns8:p>
          <ns9:p xmlns:ns9="http://schemas.openxmlformats.org/drawingml/2006/main">
            <ns9:r>
              <ns9:t>In-class alternative: Review the authentic in-class work that exists. Label any rehearsal or proposal and list missing practical or external evidence. A visitor or placement remains unconfirmed unless staff have an actual record.</ns9:t>
            </ns9:r>
          </ns9:p>
          <ns10:p xmlns:ns10="http://schemas.openxmlformats.org/drawingml/2006/main">
            <ns10:r>
              <ns10:t>Unit: Hospitality &amp; catering basics</ns10:t>
            </ns10:r>
          </ns10:p>
          <ns11:p xmlns:ns11="http://schemas.openxmlformats.org/drawingml/2006/main">
            <ns11:r>
              <ns11:t>Accreditation: [AWARD] [QUAL] / [QUAL] short course; [AWARD] [QUAL], ‘[QUAL]’, ‘[QUAL]’.</ns11:t>
            </ns11:r>
          </ns11:p>
          <ns12:p xmlns:ns12="http://schemas.openxmlformats.org/drawingml/2006/main">
            <ns12:r>
              <ns12:t>Assessment: F: service-task observation.  S: hospitality enterprise evidence + unit (Dec data drop).</ns12:t>
            </ns12:r>
          </ns12:p>
          <ns13:p xmlns:ns13="http://schemas.openxmlformats.org/drawingml/2006/main">
            <ns13:r>
              <ns13:t>Sources: https://www.gov.uk/government/publications/providing-food-at-community-and-charity-events/providing-food-at-community-and-charity-events; https://www.gov.uk/government/publications/allergen-information-for-non-prepacked-foods-best-practice/allergen-information-for-non-prepacked-foods-best-practice</ns13:t>
            </ns13:r>
          </ns13:p>
          <ns14:p xmlns:ns14="http://schemas.openxmlformats.org/drawingml/2006/main">
            <ns14:r>
              <ns14:t>Made by Matt · © Matt Roper · CC BY-NC-SA 4.0: free for classroom use, share and adapt with credit, no resale</ns14:t>
            </ns14:r>
          </ns1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VOC-LAUNCH-A2-W07-L1 · Monday 14–Friday 18 December 2026</ns0:t>
            </ns0:r>
          </ns0:p>
          <ns1:p xmlns:ns1="http://schemas.openxmlformats.org/drawingml/2006/main">
            <ns1:r>
              <ns1:t>Exit ticket: 2 minutes.</ns1:t>
            </ns1:r>
          </ns1:p>
          <ns2:p xmlns:ns2="http://schemas.openxmlformats.org/drawingml/2006/main">
            <ns2:r>
              <ns2:t>Teacher: Take a quiet exit response and note the next teaching need. Use the Staff Answers to assess the reason rather than just a letter.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VOC-W7-L1-E1; Individual hospitality evidence index linking actual work to skills in words, with ownership, support, context, storage references and explicit gaps.</ns4:t>
            </ns4:r>
          </ns4:p>
          <ns5:p xmlns:ns5="http://schemas.openxmlformats.org/drawingml/2006/main">
            <ns5:r>
              <ns5:t>Scheme: LAUNCH Weekly - Autumn!C143; LAUNCH - Autumn!D23, I23, J23; revision 9ed44bdf.</ns5:t>
            </ns5:r>
          </ns5:p>
          <ns6:p xmlns:ns6="http://schemas.openxmlformats.org/drawingml/2006/main">
            <ns6:r>
              <ns6:t>Source objective: Hospitality portfolio (Dec).</ns6:t>
            </ns6:r>
          </ns6:p>
          <ns7:p xmlns:ns7="http://schemas.openxmlformats.org/drawingml/2006/main">
            <ns7:r>
              <ns7:t>Calendar: Monday 14–Friday 18 December 2026. Two 40-minute lessons this week. No teaching day or clock slot is inferred. Any visitor, placement or external audience is unconfirmed; the in-class route is ready to use.</ns7:t>
            </ns7:r>
          </ns7:p>
          <ns8:p xmlns:ns8="http://schemas.openxmlformats.org/drawingml/2006/main">
            <ns8:r>
              <ns8:t>Unconfirmed slot: Unconfirmed. No booking, invitation, placement or event date is asserted.</ns8:t>
            </ns8:r>
          </ns8:p>
          <ns9:p xmlns:ns9="http://schemas.openxmlformats.org/drawingml/2006/main">
            <ns9:r>
              <ns9:t>In-class alternative: Review the authentic in-class work that exists. Label any rehearsal or proposal and list missing practical or external evidence. A visitor or placement remains unconfirmed unless staff have an actual record.</ns9:t>
            </ns9:r>
          </ns9:p>
          <ns10:p xmlns:ns10="http://schemas.openxmlformats.org/drawingml/2006/main">
            <ns10:r>
              <ns10:t>Unit: Hospitality &amp; catering basics</ns10:t>
            </ns10:r>
          </ns10:p>
          <ns11:p xmlns:ns11="http://schemas.openxmlformats.org/drawingml/2006/main">
            <ns11:r>
              <ns11:t>Accreditation: [AWARD] [QUAL] / [QUAL] short course; [AWARD] [QUAL], ‘[QUAL]’, ‘[QUAL]’.</ns11:t>
            </ns11:r>
          </ns11:p>
          <ns12:p xmlns:ns12="http://schemas.openxmlformats.org/drawingml/2006/main">
            <ns12:r>
              <ns12:t>Assessment: F: service-task observation.  S: hospitality enterprise evidence + unit (Dec data drop).</ns12:t>
            </ns12:r>
          </ns12:p>
          <ns13:p xmlns:ns13="http://schemas.openxmlformats.org/drawingml/2006/main">
            <ns13:r>
              <ns13:t>Sources: https://www.gov.uk/government/publications/providing-food-at-community-and-charity-events/providing-food-at-community-and-charity-events; https://www.gov.uk/government/publications/allergen-information-for-non-prepacked-foods-best-practice/allergen-information-for-non-prepacked-foods-best-practice</ns13:t>
            </ns13:r>
          </ns13:p>
          <ns14:p xmlns:ns14="http://schemas.openxmlformats.org/drawingml/2006/main">
            <ns14:r>
              <ns14:t>Made by Matt · © Matt Roper · CC BY-NC-SA 4.0: free for classroom use, share and adapt with credit, no resale</ns14:t>
            </ns14:r>
          </ns1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VOC-LAUNCH-A2-W07-L1 · Monday 14–Friday 18 December 2026</ns0:t>
            </ns0:r>
          </ns0:p>
          <ns1:p xmlns:ns1="http://schemas.openxmlformats.org/drawingml/2006/main">
            <ns1:r>
              <ns1:t>Vocabulary: 0 minutes.</ns1:t>
            </ns1:r>
          </ns1:p>
          <ns2:p xmlns:ns2="http://schemas.openxmlformats.org/drawingml/2006/main">
            <ns2:r>
              <ns2:t>Teacher: Keep the Vocabulary Mat available. Link each word to a case or actual task. Allow a home-language first response.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VOC-W7-L1-E1; Individual hospitality evidence index linking actual work to skills in words, with ownership, support, context, storage references and explicit gaps.</ns4:t>
            </ns4:r>
          </ns4:p>
          <ns5:p xmlns:ns5="http://schemas.openxmlformats.org/drawingml/2006/main">
            <ns5:r>
              <ns5:t>Scheme: LAUNCH Weekly - Autumn!C143; LAUNCH - Autumn!D23, I23, J23; revision 9ed44bdf.</ns5:t>
            </ns5:r>
          </ns5:p>
          <ns6:p xmlns:ns6="http://schemas.openxmlformats.org/drawingml/2006/main">
            <ns6:r>
              <ns6:t>Source objective: Hospitality portfolio (Dec).</ns6:t>
            </ns6:r>
          </ns6:p>
          <ns7:p xmlns:ns7="http://schemas.openxmlformats.org/drawingml/2006/main">
            <ns7:r>
              <ns7:t>Calendar: Monday 14–Friday 18 December 2026. Two 40-minute lessons this week. No teaching day or clock slot is inferred. Any visitor, placement or external audience is unconfirmed; the in-class route is ready to use.</ns7:t>
            </ns7:r>
          </ns7:p>
          <ns8:p xmlns:ns8="http://schemas.openxmlformats.org/drawingml/2006/main">
            <ns8:r>
              <ns8:t>Unconfirmed slot: Unconfirmed. No booking, invitation, placement or event date is asserted.</ns8:t>
            </ns8:r>
          </ns8:p>
          <ns9:p xmlns:ns9="http://schemas.openxmlformats.org/drawingml/2006/main">
            <ns9:r>
              <ns9:t>In-class alternative: Review the authentic in-class work that exists. Label any rehearsal or proposal and list missing practical or external evidence. A visitor or placement remains unconfirmed unless staff have an actual record.</ns9:t>
            </ns9:r>
          </ns9:p>
          <ns10:p xmlns:ns10="http://schemas.openxmlformats.org/drawingml/2006/main">
            <ns10:r>
              <ns10:t>Unit: Hospitality &amp; catering basics</ns10:t>
            </ns10:r>
          </ns10:p>
          <ns11:p xmlns:ns11="http://schemas.openxmlformats.org/drawingml/2006/main">
            <ns11:r>
              <ns11:t>Accreditation: [AWARD] [QUAL] / [QUAL] short course; [AWARD] [QUAL], ‘[QUAL]’, ‘[QUAL]’.</ns11:t>
            </ns11:r>
          </ns11:p>
          <ns12:p xmlns:ns12="http://schemas.openxmlformats.org/drawingml/2006/main">
            <ns12:r>
              <ns12:t>Assessment: F: service-task observation.  S: hospitality enterprise evidence + unit (Dec data drop).</ns12:t>
            </ns12:r>
          </ns12:p>
          <ns13:p xmlns:ns13="http://schemas.openxmlformats.org/drawingml/2006/main">
            <ns13:r>
              <ns13:t>Sources: https://www.gov.uk/government/publications/providing-food-at-community-and-charity-events/providing-food-at-community-and-charity-events; https://www.gov.uk/government/publications/allergen-information-for-non-prepacked-foods-best-practice/allergen-information-for-non-prepacked-foods-best-practice</ns13:t>
            </ns13:r>
          </ns13:p>
          <ns14:p xmlns:ns14="http://schemas.openxmlformats.org/drawingml/2006/main">
            <ns14:r>
              <ns14:t>Made by Matt · © Matt Roper · CC BY-NC-SA 4.0: free for classroom use, share and adapt with credit, no resale</ns14:t>
            </ns14:r>
          </ns1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VOC-LAUNCH-A2-W07-L1 · Monday 14–Friday 18 December 2026</ns0:t>
            </ns0:r>
          </ns0:p>
          <ns1:p xmlns:ns1="http://schemas.openxmlformats.org/drawingml/2006/main">
            <ns1:r>
              <ns1:t>Staff brief: 0 minutes.</ns1:t>
            </ns1:r>
          </ns1:p>
          <ns2:p xmlns:ns2="http://schemas.openxmlformats.org/drawingml/2006/main">
            <ns2:r>
              <ns2:t>Teacher: Hidden staff reference. Use approved staff storage. Do not copy another learner’s work, fabricate a date, create a retrospective observation or upload private records publicly. No new food task is required in this portfolio lesson.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VOC-W7-L1-E1; Individual hospitality evidence index linking actual work to skills in words, with ownership, support, context, storage references and explicit gaps.</ns4:t>
            </ns4:r>
          </ns4:p>
          <ns5:p xmlns:ns5="http://schemas.openxmlformats.org/drawingml/2006/main">
            <ns5:r>
              <ns5:t>Scheme: LAUNCH Weekly - Autumn!C143; LAUNCH - Autumn!D23, I23, J23; revision 9ed44bdf.</ns5:t>
            </ns5:r>
          </ns5:p>
          <ns6:p xmlns:ns6="http://schemas.openxmlformats.org/drawingml/2006/main">
            <ns6:r>
              <ns6:t>Source objective: Hospitality portfolio (Dec).</ns6:t>
            </ns6:r>
          </ns6:p>
          <ns7:p xmlns:ns7="http://schemas.openxmlformats.org/drawingml/2006/main">
            <ns7:r>
              <ns7:t>Calendar: Monday 14–Friday 18 December 2026. Two 40-minute lessons this week. No teaching day or clock slot is inferred. Any visitor, placement or external audience is unconfirmed; the in-class route is ready to use.</ns7:t>
            </ns7:r>
          </ns7:p>
          <ns8:p xmlns:ns8="http://schemas.openxmlformats.org/drawingml/2006/main">
            <ns8:r>
              <ns8:t>Unconfirmed slot: Unconfirmed. No booking, invitation, placement or event date is asserted.</ns8:t>
            </ns8:r>
          </ns8:p>
          <ns9:p xmlns:ns9="http://schemas.openxmlformats.org/drawingml/2006/main">
            <ns9:r>
              <ns9:t>In-class alternative: Review the authentic in-class work that exists. Label any rehearsal or proposal and list missing practical or external evidence. A visitor or placement remains unconfirmed unless staff have an actual record.</ns9:t>
            </ns9:r>
          </ns9:p>
          <ns10:p xmlns:ns10="http://schemas.openxmlformats.org/drawingml/2006/main">
            <ns10:r>
              <ns10:t>Unit: Hospitality &amp; catering basics</ns10:t>
            </ns10:r>
          </ns10:p>
          <ns11:p xmlns:ns11="http://schemas.openxmlformats.org/drawingml/2006/main">
            <ns11:r>
              <ns11:t>Accreditation: [AWARD] [QUAL] / [QUAL] short course; [AWARD] [QUAL], ‘[QUAL]’, ‘[QUAL]’.</ns11:t>
            </ns11:r>
          </ns11:p>
          <ns12:p xmlns:ns12="http://schemas.openxmlformats.org/drawingml/2006/main">
            <ns12:r>
              <ns12:t>Assessment: F: service-task observation.  S: hospitality enterprise evidence + unit (Dec data drop).</ns12:t>
            </ns12:r>
          </ns12:p>
          <ns13:p xmlns:ns13="http://schemas.openxmlformats.org/drawingml/2006/main">
            <ns13:r>
              <ns13:t>Sources: https://www.gov.uk/government/publications/providing-food-at-community-and-charity-events/providing-food-at-community-and-charity-events; https://www.gov.uk/government/publications/allergen-information-for-non-prepacked-foods-best-practice/allergen-information-for-non-prepacked-foods-best-practice</ns13:t>
            </ns13:r>
          </ns13:p>
          <ns14:p xmlns:ns14="http://schemas.openxmlformats.org/drawingml/2006/main">
            <ns14:r>
              <ns14:t>Made by Matt · © Matt Roper · CC BY-NC-SA 4.0: free for classroom use, share and adapt with credit, no resale</ns14:t>
            </ns14:r>
          </ns1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7bd2734f39498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a05ae6f99d4a7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d3726fc20d48a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6e64f518564ec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55cf5d6a9747a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11bbc7b7d54a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697F803-DEEC-43CA-A5E2-5BC22B8B98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F6CE16B-3214-426C-9E08-EEDDFC8B694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21A1369-C2BF-482F-AFB7-6600F6B209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53B8F1F-0C21-4D89-9AA0-7FC120957C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40A3C49-7B2D-4FF2-BFD5-2E8F3F3FD6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D19B6FF-36F5-4292-9FAB-D404CD0E30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F0CC938-0B77-488A-B095-995EDA0A30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832CFE4-C8A9-4518-9235-758C4667C16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456DCB1-8188-4B3A-9144-B492CA0B55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323B529-5BDC-4D03-A6E7-0375064ADE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5fc6a297904e7d" /><Relationship Type="http://schemas.openxmlformats.org/officeDocument/2006/relationships/slideLayout" Target="/ppt/slideLayouts/slideLayout1.xml" Id="R12242226f6ae4fb8" /><Relationship Type="http://schemas.openxmlformats.org/officeDocument/2006/relationships/slideLayout" Target="/ppt/slideLayouts/slideLayout2.xml" Id="R4c9041799c814233" /><Relationship Type="http://schemas.openxmlformats.org/officeDocument/2006/relationships/slideLayout" Target="/ppt/slideLayouts/slideLayout3.xml" Id="Rf92f518c139547f2" /><Relationship Type="http://schemas.openxmlformats.org/officeDocument/2006/relationships/slideLayout" Target="/ppt/slideLayouts/slideLayout4.xml" Id="R17b0f0872a6c4012" /><Relationship Type="http://schemas.openxmlformats.org/officeDocument/2006/relationships/slideLayout" Target="/ppt/slideLayouts/slideLayout5.xml" Id="R95089bedba364c20" /><Relationship Type="http://schemas.openxmlformats.org/officeDocument/2006/relationships/slideLayout" Target="/ppt/slideLayouts/slideLayout6.xml" Id="R5d9c146d3d6f4e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242226f6ae4fb8"/>
    <p:sldLayoutId xmlns:r="http://schemas.openxmlformats.org/officeDocument/2006/relationships" id="2147483650" r:id="R4c9041799c814233"/>
    <p:sldLayoutId xmlns:r="http://schemas.openxmlformats.org/officeDocument/2006/relationships" id="2147483651" r:id="Rf92f518c139547f2"/>
    <p:sldLayoutId xmlns:r="http://schemas.openxmlformats.org/officeDocument/2006/relationships" id="2147483652" r:id="R17b0f0872a6c4012"/>
    <p:sldLayoutId xmlns:r="http://schemas.openxmlformats.org/officeDocument/2006/relationships" id="2147483653" r:id="R95089bedba364c20"/>
    <p:sldLayoutId xmlns:r="http://schemas.openxmlformats.org/officeDocument/2006/relationships" id="2147483654" r:id="R5d9c146d3d6f4e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Lesson theme">
  <a:themeElements>
    <a:clrScheme name="Lesson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Lesson the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815d58e22544e7" /><Relationship Type="http://schemas.openxmlformats.org/officeDocument/2006/relationships/notesSlide" Target="/ppt/notesSlides/notesSlide1.xml" Id="Ra9f77fbe70c34a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019643cce24813" /><Relationship Type="http://schemas.openxmlformats.org/officeDocument/2006/relationships/notesSlide" Target="/ppt/notesSlides/notesSlide2.xml" Id="Rda26f811207e40c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d95255ebee4187" /><Relationship Type="http://schemas.openxmlformats.org/officeDocument/2006/relationships/image" Target="/ppt/media/image.jpeg" Id="R87ca9eec94ea4c42" /><Relationship Type="http://schemas.openxmlformats.org/officeDocument/2006/relationships/notesSlide" Target="/ppt/notesSlides/notesSlide3.xml" Id="Rd30cd001fdc34f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76fcaae6fe4ecd" /><Relationship Type="http://schemas.openxmlformats.org/officeDocument/2006/relationships/notesSlide" Target="/ppt/notesSlides/notesSlide4.xml" Id="Rbbc722ce6ceb46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b6e66bd9414474" /><Relationship Type="http://schemas.openxmlformats.org/officeDocument/2006/relationships/notesSlide" Target="/ppt/notesSlides/notesSlide5.xml" Id="R535d1e722e4449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63b74467bd414f" /><Relationship Type="http://schemas.openxmlformats.org/officeDocument/2006/relationships/notesSlide" Target="/ppt/notesSlides/notesSlide6.xml" Id="Ra090871d48514e3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07b38b06f34c92" /><Relationship Type="http://schemas.openxmlformats.org/officeDocument/2006/relationships/notesSlide" Target="/ppt/notesSlides/notesSlide7.xml" Id="R34b183ae9bcf4ac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9d5890359a4567" /><Relationship Type="http://schemas.openxmlformats.org/officeDocument/2006/relationships/notesSlide" Target="/ppt/notesSlides/notesSlide8.xml" Id="R941c20f52dc64dc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d75ed5fc584fd5" /><Relationship Type="http://schemas.openxmlformats.org/officeDocument/2006/relationships/notesSlide" Target="/ppt/notesSlides/notesSlide9.xml" Id="R5ad80cf219c8436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6b6f0679454feb" /><Relationship Type="http://schemas.openxmlformats.org/officeDocument/2006/relationships/notesSlide" Target="/ppt/notesSlides/notesSlide10.xml" Id="Rce1092717fb445f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5a86e9943249be" /><Relationship Type="http://schemas.openxmlformats.org/officeDocument/2006/relationships/notesSlide" Target="/ppt/notesSlides/notesSlide11.xml" Id="Raadf6de2a4cc4b1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d48de1450c45eb" /><Relationship Type="http://schemas.openxmlformats.org/officeDocument/2006/relationships/notesSlide" Target="/ppt/notesSlides/notesSlide12.xml" Id="R2030fa05042a48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ide-rule">
            <a:extLst xmlns:a="http://schemas.openxmlformats.org/drawingml/2006/main">
              <a:ext uri="{FF2B5EF4-FFF2-40B4-BE49-F238E27FC236}">
                <a16:creationId xmlns:a16="http://schemas.microsoft.com/office/drawing/2014/main" id="{21FA00E8-6C9D-4555-9239-D720E2F9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800A5EBA-9C7A-4929-AF50-65DE54E73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TITLE AND BIG QUESTION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B5553090-10DF-4876-B620-4580F7D7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1 / 12</ns1:t>
            </ns1:r>
          </ns1:p>
        </p:txBody>
      </p:sp>
      <p:sp>
        <p:nvSpPr>
          <p:cNvPr id="4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95CCE6A2-A359-43CF-A30F-F808B595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4200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4200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The Theory</ns5:t>
            </ns5:r>
          </ns5:p>
        </p:txBody>
      </p:sp>
      <p:sp>
        <p:nvSpPr>
          <p:cNvPr id="5" name="lesson-subtitle">
            <a:extLst xmlns:a="http://schemas.openxmlformats.org/drawingml/2006/main">
              <a:ext uri="{FF2B5EF4-FFF2-40B4-BE49-F238E27FC236}">
                <a16:creationId xmlns:a16="http://schemas.microsoft.com/office/drawing/2014/main" id="{27188317-831F-4A26-ABD0-28EBF336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715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buNone/>
              <ns6:defRPr sz="2250" b="0">
                <ns6:solidFill>
                  <ns6:srgbClr val="146B68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46B68"/>
                </ns6:solidFill>
                <ns6:latin typeface="Arial"/>
                <ns6:ea typeface="Arial"/>
                <ns6:cs typeface="Arial"/>
              </ns6:rPr>
              <ns6:t>Checking my hospitality evidence</ns6:t>
            </ns6:r>
          </ns6:p>
        </p:txBody>
      </p:sp>
      <p:sp>
        <p:nvSpPr>
          <p:cNvPr id="8" name="printed-id">
            <a:extLst xmlns:a="http://schemas.openxmlformats.org/drawingml/2006/main">
              <a:ext uri="{FF2B5EF4-FFF2-40B4-BE49-F238E27FC236}">
                <a16:creationId xmlns:a16="http://schemas.microsoft.com/office/drawing/2014/main" id="{D1DE9CD0-0274-4F6F-865F-DD0F553D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VOC-LAUNCH-A2-W07-L1</ns2:t>
            </ns2:r>
          </ns2:p>
        </p:txBody>
      </p:sp>
      <p:sp>
        <p:nvSpPr>
          <p:cNvPr id="9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9DB788D1-307B-450E-8E75-3DE957BC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0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CFFACCED-9803-4150-B478-B2D5E21D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2" name="body-0">
            <a:extLst xmlns:a="http://schemas.openxmlformats.org/drawingml/2006/main">
              <a:ext uri="{FF2B5EF4-FFF2-40B4-BE49-F238E27FC236}">
                <a16:creationId xmlns:a16="http://schemas.microsoft.com/office/drawing/2014/main" id="{4179850A-9B57-4A81-B9D3-E88349FC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What does my portfolio show, and what is still missing?</ns7:t>
            </ns7:r>
          </ns7:p>
        </p:txBody>
      </p:sp>
      <p:sp>
        <p:nvSpPr>
          <p:cNvPr id="13" name="body-1">
            <a:extLst xmlns:a="http://schemas.openxmlformats.org/drawingml/2006/main">
              <a:ext uri="{FF2B5EF4-FFF2-40B4-BE49-F238E27FC236}">
                <a16:creationId xmlns:a16="http://schemas.microsoft.com/office/drawing/2014/main" id="{B3B79DBF-9AF8-427F-9EF2-D9D9BA70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481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Monday 14–Friday 18 December 2026 · lesson 1 of 2</ns8:t>
            </ns8:r>
          </ns8:p>
        </p:txBody>
      </p:sp>
      <p:sp>
        <p:nvSpPr>
          <p:cNvPr id="14" name="body-2">
            <a:extLst xmlns:a="http://schemas.openxmlformats.org/drawingml/2006/main">
              <a:ext uri="{FF2B5EF4-FFF2-40B4-BE49-F238E27FC236}">
                <a16:creationId xmlns:a16="http://schemas.microsoft.com/office/drawing/2014/main" id="{6137EF2D-887A-4596-9565-C0303116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488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Point, say, draw, write or show.</ns9:t>
            </ns9:r>
          </ns9:p>
        </p:txBody>
      </p:sp>
    </p:spTree>
    <p:extLst>
      <p:ext uri="{BB962C8B-B14F-4D97-AF65-F5344CB8AC3E}">
        <p14:creationId xmlns:p14="http://schemas.microsoft.com/office/powerpoint/2010/main" val="20889504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ide-rule">
            <a:extLst xmlns:a="http://schemas.openxmlformats.org/drawingml/2006/main">
              <a:ext uri="{FF2B5EF4-FFF2-40B4-BE49-F238E27FC236}">
                <a16:creationId xmlns:a16="http://schemas.microsoft.com/office/drawing/2014/main" id="{4FD94499-3EA1-421F-BBBF-AAAEC9FC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B38B1A31-272E-4B53-A986-999EB0AE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ARRIVAL AND REGULATION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D71FC1CA-AC2B-48A1-B1E2-5C96A8A8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2 / 12  ·  4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FF2732D-8D8A-4A14-B7EC-4427BF84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Ready for a calm start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39B5AC7B-925A-427E-B6D5-FF7155BB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inted-id">
            <a:extLst xmlns:a="http://schemas.openxmlformats.org/drawingml/2006/main">
              <a:ext uri="{FF2B5EF4-FFF2-40B4-BE49-F238E27FC236}">
                <a16:creationId xmlns:a16="http://schemas.microsoft.com/office/drawing/2014/main" id="{95424F63-FAC6-49BB-A26B-FF4C752F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VOC-LAUNCH-A2-W07-L1</ns2:t>
            </ns2:r>
          </ns2:p>
        </p:txBody>
      </p:sp>
      <p:sp>
        <p:nvSpPr>
          <p:cNvPr id="12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2CC72B9C-1296-4C4A-886A-5E292D76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3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1E89A079-9FE1-4E2E-A35B-157CE58B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5" name="body-0">
            <a:extLst xmlns:a="http://schemas.openxmlformats.org/drawingml/2006/main">
              <a:ext uri="{FF2B5EF4-FFF2-40B4-BE49-F238E27FC236}">
                <a16:creationId xmlns:a16="http://schemas.microsoft.com/office/drawing/2014/main" id="{5EC01B38-2E63-4243-9769-79C2B925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Check how you feel in private.</ns6:t>
            </ns6:r>
          </ns6:p>
        </p:txBody>
      </p:sp>
      <p:sp>
        <p:nvSpPr>
          <p:cNvPr id="16" name="body-1">
            <a:extLst xmlns:a="http://schemas.openxmlformats.org/drawingml/2006/main">
              <a:ext uri="{FF2B5EF4-FFF2-40B4-BE49-F238E27FC236}">
                <a16:creationId xmlns:a16="http://schemas.microsoft.com/office/drawing/2014/main" id="{F28DA917-CB7A-4C83-99B1-B17867E5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Choose a quiet seat or a short pause.</ns7:t>
            </ns7:r>
          </ns7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7B45F856-07DA-4CDC-9EDC-8416662C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Keep your work space clear.</ns8:t>
            </ns8:r>
          </ns8:p>
        </p:txBody>
      </p:sp>
      <p:sp>
        <p:nvSpPr>
          <p:cNvPr id="18" name="body-3">
            <a:extLst xmlns:a="http://schemas.openxmlformats.org/drawingml/2006/main">
              <a:ext uri="{FF2B5EF4-FFF2-40B4-BE49-F238E27FC236}">
                <a16:creationId xmlns:a16="http://schemas.microsoft.com/office/drawing/2014/main" id="{B8616F4F-E875-4A93-9A52-ADD9BB19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Ask the adult if you need support.</ns9:t>
            </ns9:r>
          </ns9:p>
        </p:txBody>
      </p:sp>
      <p:sp>
        <p:nvSpPr>
          <p:cNvPr id="19" name="body-4">
            <a:extLst xmlns:a="http://schemas.openxmlformats.org/drawingml/2006/main">
              <a:ext uri="{FF2B5EF4-FFF2-40B4-BE49-F238E27FC236}">
                <a16:creationId xmlns:a16="http://schemas.microsoft.com/office/drawing/2014/main" id="{CD67554F-3D83-433B-84B1-03812733B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481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Use the agreed help route.</ns10:t>
            </ns10:r>
          </ns10:p>
        </p:txBody>
      </p:sp>
      <p:sp>
        <p:nvSpPr>
          <p:cNvPr id="20" name="body-5">
            <a:extLst xmlns:a="http://schemas.openxmlformats.org/drawingml/2006/main">
              <a:ext uri="{FF2B5EF4-FFF2-40B4-BE49-F238E27FC236}">
                <a16:creationId xmlns:a16="http://schemas.microsoft.com/office/drawing/2014/main" id="{60C96764-4A82-4924-8CFD-49EE15FA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1918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1:p xmlns:ns11="http://schemas.openxmlformats.org/drawingml/2006/main">
            <ns11:pPr algn="l">
              <ns11:defRPr sz="2025" b="0">
                <ns11:solidFill>
                  <ns11:srgbClr val="17384A"/>
                </ns11:solidFill>
                <ns11:latin typeface="Arial"/>
                <ns11:ea typeface="Arial"/>
                <ns11:cs typeface="Arial"/>
              </ns11:defRPr>
            </ns11:pPr>
            <ns11:r>
              <ns11:rPr sz="2025" b="0">
                <ns11:solidFill>
                  <ns11:srgbClr val="17384A"/>
                </ns11:solidFill>
                <ns11:latin typeface="Arial"/>
                <ns11:ea typeface="Arial"/>
                <ns11:cs typeface="Arial"/>
              </ns11:rPr>
              <ns11:t>We listen without judging each other.</ns11:t>
            </ns11:r>
          </ns11:p>
        </p:txBody>
      </p:sp>
    </p:spTree>
    <p:extLst>
      <p:ext uri="{BB962C8B-B14F-4D97-AF65-F5344CB8AC3E}">
        <p14:creationId xmlns:p14="http://schemas.microsoft.com/office/powerpoint/2010/main" val="13691881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ide-rule">
            <a:extLst xmlns:a="http://schemas.openxmlformats.org/drawingml/2006/main">
              <a:ext uri="{FF2B5EF4-FFF2-40B4-BE49-F238E27FC236}">
                <a16:creationId xmlns:a16="http://schemas.microsoft.com/office/drawing/2014/main" id="{62CA9BFC-91D6-4E1F-A868-FA6417B8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5184B3EE-1B83-4D3F-A35F-80E82823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STARTER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897C6A8C-70A1-47AD-A2FE-4C007646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3 / 12  ·  2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C5F347-218C-4DE9-8526-D8AC9747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Look at the practice scene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564A5958-580E-4CAC-B2D5-2942577B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rinted-id">
            <a:extLst xmlns:a="http://schemas.openxmlformats.org/drawingml/2006/main">
              <a:ext uri="{FF2B5EF4-FFF2-40B4-BE49-F238E27FC236}">
                <a16:creationId xmlns:a16="http://schemas.microsoft.com/office/drawing/2014/main" id="{331A60C7-DF6A-4D09-8443-EAE28857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VOC-LAUNCH-A2-W07-L1</ns2:t>
            </ns2:r>
          </ns2:p>
        </p:txBody>
      </p:sp>
      <p:sp>
        <p:nvSpPr>
          <p:cNvPr id="15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E9C4646B-A2DB-47CD-9B88-8366B530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6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C34D29D3-4466-4904-88F0-BAEAD505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pic>
        <p:nvPicPr>
          <p:cNvPr id="18" name="" descr="Illustrated folder with PLAN, SERVICE and REVIEW tabs and a separate Missing Evidence page. Its blank forms are not completed learner work.">
            <a:extLst xmlns:a="http://schemas.openxmlformats.org/drawingml/2006/main">
              <a:ext uri="{FF2B5EF4-FFF2-40B4-BE49-F238E27FC236}">
                <a16:creationId xmlns:a16="http://schemas.microsoft.com/office/drawing/2014/main" id="{028D2357-EB6C-424E-A2E6-DBD8B56919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ca9eec94ea4c42"/>
          <a:stretch xmlns:a="http://schemas.openxmlformats.org/drawingml/2006/main"/>
        </p:blipFill>
        <p:spPr>
          <a:xfrm xmlns:a="http://schemas.openxmlformats.org/drawingml/2006/main">
            <a:off x="609600" y="1638300"/>
            <a:ext cx="6343650" cy="4229100"/>
          </a:xfrm>
          <a:prstGeom xmlns:a="http://schemas.openxmlformats.org/drawingml/2006/main" prst="rect">
            <a:avLst/>
          </a:prstGeom>
        </p:spPr>
      </p:pic>
      <p:sp>
        <p:nvSpPr>
          <p:cNvPr id="19" name="body-0">
            <a:extLst xmlns:a="http://schemas.openxmlformats.org/drawingml/2006/main">
              <a:ext uri="{FF2B5EF4-FFF2-40B4-BE49-F238E27FC236}">
                <a16:creationId xmlns:a16="http://schemas.microsoft.com/office/drawing/2014/main" id="{57DE7B14-03C6-44A4-ADEF-A389F9D6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714500"/>
            <a:ext cx="4200525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A made-up portfolio.</ns6:t>
            </ns6:r>
          </ns6:p>
        </p:txBody>
      </p:sp>
      <p:sp>
        <p:nvSpPr>
          <p:cNvPr id="20" name="body-1">
            <a:extLst xmlns:a="http://schemas.openxmlformats.org/drawingml/2006/main">
              <a:ext uri="{FF2B5EF4-FFF2-40B4-BE49-F238E27FC236}">
                <a16:creationId xmlns:a16="http://schemas.microsoft.com/office/drawing/2014/main" id="{6C49FD1E-082C-46ED-BD65-5869357FE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199704"/>
            <a:ext cx="4200525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How can we find the work?</ns7:t>
            </ns7:r>
          </ns7:p>
        </p:txBody>
      </p:sp>
      <p:sp>
        <p:nvSpPr>
          <p:cNvPr id="21" name="body-2">
            <a:extLst xmlns:a="http://schemas.openxmlformats.org/drawingml/2006/main">
              <a:ext uri="{FF2B5EF4-FFF2-40B4-BE49-F238E27FC236}">
                <a16:creationId xmlns:a16="http://schemas.microsoft.com/office/drawing/2014/main" id="{7BE34822-C512-4BD5-AF44-30090BF3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684907"/>
            <a:ext cx="4200525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Does a blank box prove a skill?</ns8:t>
            </ns8:r>
          </ns8:p>
        </p:txBody>
      </p:sp>
      <p:sp>
        <p:nvSpPr>
          <p:cNvPr id="22" name="body-3">
            <a:extLst xmlns:a="http://schemas.openxmlformats.org/drawingml/2006/main">
              <a:ext uri="{FF2B5EF4-FFF2-40B4-BE49-F238E27FC236}">
                <a16:creationId xmlns:a16="http://schemas.microsoft.com/office/drawing/2014/main" id="{C2000FD8-BBA3-4430-B7E7-17C5B6E4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83864"/>
            <a:ext cx="4200525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How can we show a gap?</ns9:t>
            </ns9:r>
          </ns9:p>
        </p:txBody>
      </p:sp>
    </p:spTree>
    <p:extLst>
      <p:ext uri="{BB962C8B-B14F-4D97-AF65-F5344CB8AC3E}">
        <p14:creationId xmlns:p14="http://schemas.microsoft.com/office/powerpoint/2010/main" val="18850400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ide-rule">
            <a:extLst xmlns:a="http://schemas.openxmlformats.org/drawingml/2006/main">
              <a:ext uri="{FF2B5EF4-FFF2-40B4-BE49-F238E27FC236}">
                <a16:creationId xmlns:a16="http://schemas.microsoft.com/office/drawing/2014/main" id="{50AFFD45-DDE8-4E13-AB19-AB490C4D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F695C907-FAF0-40C0-94DA-EDA6AF2A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TODAY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B24D514A-FB80-4477-B77A-6CBF40FE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4 / 12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C662DEC-F343-4B80-A316-EA02E40A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Today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0AF1810E-209D-49EB-A790-135B0933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inted-id">
            <a:extLst xmlns:a="http://schemas.openxmlformats.org/drawingml/2006/main">
              <a:ext uri="{FF2B5EF4-FFF2-40B4-BE49-F238E27FC236}">
                <a16:creationId xmlns:a16="http://schemas.microsoft.com/office/drawing/2014/main" id="{66F008D0-268A-4ECE-A855-21B57ADC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VOC-LAUNCH-A2-W07-L1</ns2:t>
            </ns2:r>
          </ns2:p>
        </p:txBody>
      </p:sp>
      <p:sp>
        <p:nvSpPr>
          <p:cNvPr id="11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788CFB30-7CBE-4014-B032-8DC2ACFD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2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EA904A03-002E-4189-A0F8-88FF05C4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4" name="body-0">
            <a:extLst xmlns:a="http://schemas.openxmlformats.org/drawingml/2006/main">
              <a:ext uri="{FF2B5EF4-FFF2-40B4-BE49-F238E27FC236}">
                <a16:creationId xmlns:a16="http://schemas.microsoft.com/office/drawing/2014/main" id="{5CA1100B-3C12-4D22-8B3A-5D390927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7448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Hospitality portfolio (Dec).</ns6:t>
            </ns6:r>
          </ns6:p>
        </p:txBody>
      </p:sp>
      <p:sp>
        <p:nvSpPr>
          <p:cNvPr id="15" name="body-1">
            <a:extLst xmlns:a="http://schemas.openxmlformats.org/drawingml/2006/main">
              <a:ext uri="{FF2B5EF4-FFF2-40B4-BE49-F238E27FC236}">
                <a16:creationId xmlns:a16="http://schemas.microsoft.com/office/drawing/2014/main" id="{44CA7D53-579D-445D-8E02-81F7AEA5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508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I can link a skill to my own work.</ns7:t>
            </ns7:r>
          </ns7:p>
        </p:txBody>
      </p:sp>
      <p:sp>
        <p:nvSpPr>
          <p:cNvPr id="16" name="body-2">
            <a:extLst xmlns:a="http://schemas.openxmlformats.org/drawingml/2006/main">
              <a:ext uri="{FF2B5EF4-FFF2-40B4-BE49-F238E27FC236}">
                <a16:creationId xmlns:a16="http://schemas.microsoft.com/office/drawing/2014/main" id="{1113C604-9484-434B-9EF8-CE13B7D2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514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I can record help and label missing evidence.</ns8:t>
            </ns8:r>
          </ns8:p>
        </p:txBody>
      </p:sp>
      <p:sp>
        <p:nvSpPr>
          <p:cNvPr id="17" name="body-3">
            <a:extLst xmlns:a="http://schemas.openxmlformats.org/drawingml/2006/main">
              <a:ext uri="{FF2B5EF4-FFF2-40B4-BE49-F238E27FC236}">
                <a16:creationId xmlns:a16="http://schemas.microsoft.com/office/drawing/2014/main" id="{FC9F5832-1797-4743-9AE3-CA75FD49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521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I can organise a clear evidence index.</ns9:t>
            </ns9:r>
          </ns9:p>
        </p:txBody>
      </p:sp>
    </p:spTree>
    <p:extLst>
      <p:ext uri="{BB962C8B-B14F-4D97-AF65-F5344CB8AC3E}">
        <p14:creationId xmlns:p14="http://schemas.microsoft.com/office/powerpoint/2010/main" val="9280005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ide-rule">
            <a:extLst xmlns:a="http://schemas.openxmlformats.org/drawingml/2006/main">
              <a:ext uri="{FF2B5EF4-FFF2-40B4-BE49-F238E27FC236}">
                <a16:creationId xmlns:a16="http://schemas.microsoft.com/office/drawing/2014/main" id="{097687FC-1C0B-47D1-B37A-D2F6A8DD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E9EB332C-2485-4323-A5CE-50696929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I DO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F99A3BF5-5E64-4EB6-9FBC-4AA41BF50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5 / 12  ·  5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183019A-C132-4E6A-B158-7B8FDB02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Watch the model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D292F269-A0C9-4A49-A3BF-57410DADE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rinted-id">
            <a:extLst xmlns:a="http://schemas.openxmlformats.org/drawingml/2006/main">
              <a:ext uri="{FF2B5EF4-FFF2-40B4-BE49-F238E27FC236}">
                <a16:creationId xmlns:a16="http://schemas.microsoft.com/office/drawing/2014/main" id="{C5B7F60E-A73C-489D-BD0E-00616492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VOC-LAUNCH-A2-W07-L1</ns2:t>
            </ns2:r>
          </ns2:p>
        </p:txBody>
      </p:sp>
      <p:sp>
        <p:nvSpPr>
          <p:cNvPr id="21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84C3B745-B6CB-42D8-BB95-E58551E7C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22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851A0815-45F4-4C47-AE5E-BEE6F0B0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24" name="body-0">
            <a:extLst xmlns:a="http://schemas.openxmlformats.org/drawingml/2006/main">
              <a:ext uri="{FF2B5EF4-FFF2-40B4-BE49-F238E27FC236}">
                <a16:creationId xmlns:a16="http://schemas.microsoft.com/office/drawing/2014/main" id="{F23E615D-633F-4AEC-85FC-97572F0B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Fictional example: Jo checks a service note.</ns6:t>
            </ns6:r>
          </ns6:p>
        </p:txBody>
      </p:sp>
      <p:sp>
        <p:nvSpPr>
          <p:cNvPr id="25" name="body-1">
            <a:extLst xmlns:a="http://schemas.openxmlformats.org/drawingml/2006/main">
              <a:ext uri="{FF2B5EF4-FFF2-40B4-BE49-F238E27FC236}">
                <a16:creationId xmlns:a16="http://schemas.microsoft.com/office/drawing/2014/main" id="{9FE963E1-470E-447B-8A4E-BE5AEE8E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The note records Jo reading back an order.</ns7:t>
            </ns7:r>
          </ns7:p>
        </p:txBody>
      </p:sp>
      <p:sp>
        <p:nvSpPr>
          <p:cNvPr id="26" name="body-2">
            <a:extLst xmlns:a="http://schemas.openxmlformats.org/drawingml/2006/main">
              <a:ext uri="{FF2B5EF4-FFF2-40B4-BE49-F238E27FC236}">
                <a16:creationId xmlns:a16="http://schemas.microsoft.com/office/drawing/2014/main" id="{B51B5736-01AE-4595-93E5-5529AD4E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It also records the adult prompt Jo used.</ns8:t>
            </ns8:r>
          </ns8:p>
        </p:txBody>
      </p:sp>
      <p:sp>
        <p:nvSpPr>
          <p:cNvPr id="27" name="body-3">
            <a:extLst xmlns:a="http://schemas.openxmlformats.org/drawingml/2006/main">
              <a:ext uri="{FF2B5EF4-FFF2-40B4-BE49-F238E27FC236}">
                <a16:creationId xmlns:a16="http://schemas.microsoft.com/office/drawing/2014/main" id="{E04D50D9-8148-4E80-8B08-F30F8F17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659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Jo links the note to customer service.</ns9:t>
            </ns9:r>
          </ns9:p>
        </p:txBody>
      </p:sp>
      <p:sp>
        <p:nvSpPr>
          <p:cNvPr id="28" name="body-4">
            <a:extLst xmlns:a="http://schemas.openxmlformats.org/drawingml/2006/main">
              <a:ext uri="{FF2B5EF4-FFF2-40B4-BE49-F238E27FC236}">
                <a16:creationId xmlns:a16="http://schemas.microsoft.com/office/drawing/2014/main" id="{20BB9364-E18A-45E5-BE54-5B9C6D4D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666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250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250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A food-preparation record is still missing.</ns10:t>
            </ns10:r>
          </ns10:p>
        </p:txBody>
      </p:sp>
      <p:sp>
        <p:nvSpPr>
          <p:cNvPr id="29" name="body-5">
            <a:extLst xmlns:a="http://schemas.openxmlformats.org/drawingml/2006/main">
              <a:ext uri="{FF2B5EF4-FFF2-40B4-BE49-F238E27FC236}">
                <a16:creationId xmlns:a16="http://schemas.microsoft.com/office/drawing/2014/main" id="{11C7B658-634C-4EEA-9854-0DDACA4B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1:p xmlns:ns11="http://schemas.openxmlformats.org/drawingml/2006/main">
            <ns11:pPr algn="l">
              <ns11:defRPr sz="2250" b="0">
                <ns11:solidFill>
                  <ns11:srgbClr val="17384A"/>
                </ns11:solidFill>
                <ns11:latin typeface="Arial"/>
                <ns11:ea typeface="Arial"/>
                <ns11:cs typeface="Arial"/>
              </ns11:defRPr>
            </ns11:pPr>
            <ns11:r>
              <ns11:rPr sz="2250" b="0">
                <ns11:solidFill>
                  <ns11:srgbClr val="17384A"/>
                </ns11:solidFill>
                <ns11:latin typeface="Arial"/>
                <ns11:ea typeface="Arial"/>
                <ns11:cs typeface="Arial"/>
              </ns11:rPr>
              <ns11:t>Jo marks the gap and asks staff to check.</ns11:t>
            </ns11:r>
          </ns11:p>
        </p:txBody>
      </p:sp>
      <p:sp>
        <p:nvSpPr>
          <p:cNvPr id="30" name="diagram-caption">
            <a:extLst xmlns:a="http://schemas.openxmlformats.org/drawingml/2006/main">
              <a:ext uri="{FF2B5EF4-FFF2-40B4-BE49-F238E27FC236}">
                <a16:creationId xmlns:a16="http://schemas.microsoft.com/office/drawing/2014/main" id="{FC71C855-EBF2-403A-A84C-6E763A68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12:p xmlns:ns12="http://schemas.openxmlformats.org/drawingml/2006/main">
            <ns12:pPr algn="l">
              <ns12:defRPr sz="2025" b="0">
                <ns12:solidFill>
                  <ns12:srgbClr val="146B68"/>
                </ns12:solidFill>
                <ns12:latin typeface="Arial"/>
                <ns12:ea typeface="Arial"/>
                <ns12:cs typeface="Arial"/>
              </ns12:defRPr>
            </ns12:pPr>
            <ns12:r>
              <ns12:rPr sz="2025" b="0">
                <ns12:solidFill>
                  <ns12:srgbClr val="146B68"/>
                </ns12:solidFill>
                <ns12:latin typeface="Arial"/>
                <ns12:ea typeface="Arial"/>
                <ns12:cs typeface="Arial"/>
              </ns12:rPr>
              <ns12:t>Link each skill to real work. Leave gaps visible.</ns12:t>
            </ns12:r>
          </ns12:p>
        </p:txBody>
      </p:sp>
    </p:spTree>
    <p:extLst>
      <p:ext uri="{BB962C8B-B14F-4D97-AF65-F5344CB8AC3E}">
        <p14:creationId xmlns:p14="http://schemas.microsoft.com/office/powerpoint/2010/main" val="17334477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ide-rule">
            <a:extLst xmlns:a="http://schemas.openxmlformats.org/drawingml/2006/main">
              <a:ext uri="{FF2B5EF4-FFF2-40B4-BE49-F238E27FC236}">
                <a16:creationId xmlns:a16="http://schemas.microsoft.com/office/drawing/2014/main" id="{7C3C7B59-169A-4D85-8D42-4261DA4D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62A3137D-D971-4680-86CB-8E5867DC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WE DO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C6C2E05D-C255-4FC3-A178-7C3A3ADF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6 / 12  ·  5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811F47D-1684-41AA-908F-4905BB64C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Which step fits the facts?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B1A3538F-988B-4A37-9593-681FEF7F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inted-id">
            <a:extLst xmlns:a="http://schemas.openxmlformats.org/drawingml/2006/main">
              <a:ext uri="{FF2B5EF4-FFF2-40B4-BE49-F238E27FC236}">
                <a16:creationId xmlns:a16="http://schemas.microsoft.com/office/drawing/2014/main" id="{E929F48F-CB8A-43F6-9EBB-1D3B7060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VOC-LAUNCH-A2-W07-L1</ns2:t>
            </ns2:r>
          </ns2:p>
        </p:txBody>
      </p:sp>
      <p:sp>
        <p:nvSpPr>
          <p:cNvPr id="11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F8FC46E8-C419-4543-AFE8-4A3AE199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2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C1BD0028-6BB2-4DF9-979D-E866AEED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4" name="body-0">
            <a:extLst xmlns:a="http://schemas.openxmlformats.org/drawingml/2006/main">
              <a:ext uri="{FF2B5EF4-FFF2-40B4-BE49-F238E27FC236}">
                <a16:creationId xmlns:a16="http://schemas.microsoft.com/office/drawing/2014/main" id="{6ECDBC84-CBD5-41C6-A1E7-78CBB780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Your folder has a blank food-prep sheet.</ns6:t>
            </ns6:r>
          </ns6:p>
        </p:txBody>
      </p:sp>
      <p:sp>
        <p:nvSpPr>
          <p:cNvPr id="15" name="body-1">
            <a:extLst xmlns:a="http://schemas.openxmlformats.org/drawingml/2006/main">
              <a:ext uri="{FF2B5EF4-FFF2-40B4-BE49-F238E27FC236}">
                <a16:creationId xmlns:a16="http://schemas.microsoft.com/office/drawing/2014/main" id="{6A50435D-4FA5-4A21-A00A-9024D5A6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A. Count it as completed food preparation.</ns7:t>
            </ns7:r>
          </ns7:p>
        </p:txBody>
      </p:sp>
      <p:sp>
        <p:nvSpPr>
          <p:cNvPr id="16" name="body-2">
            <a:extLst xmlns:a="http://schemas.openxmlformats.org/drawingml/2006/main">
              <a:ext uri="{FF2B5EF4-FFF2-40B4-BE49-F238E27FC236}">
                <a16:creationId xmlns:a16="http://schemas.microsoft.com/office/drawing/2014/main" id="{2D40E9ED-0AAC-4ABF-91A4-B29F929BE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B. Copy a completed sheet from a friend.</ns8:t>
            </ns8:r>
          </ns8:p>
        </p:txBody>
      </p:sp>
      <p:sp>
        <p:nvSpPr>
          <p:cNvPr id="17" name="body-3">
            <a:extLst xmlns:a="http://schemas.openxmlformats.org/drawingml/2006/main">
              <a:ext uri="{FF2B5EF4-FFF2-40B4-BE49-F238E27FC236}">
                <a16:creationId xmlns:a16="http://schemas.microsoft.com/office/drawing/2014/main" id="{15760A3D-C8CB-444C-97BB-DD974FBE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659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C. Mark the gap and check for your real work.</ns9:t>
            </ns9:r>
          </ns9:p>
        </p:txBody>
      </p:sp>
    </p:spTree>
    <p:extLst>
      <p:ext uri="{BB962C8B-B14F-4D97-AF65-F5344CB8AC3E}">
        <p14:creationId xmlns:p14="http://schemas.microsoft.com/office/powerpoint/2010/main" val="19771722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ide-rule">
            <a:extLst xmlns:a="http://schemas.openxmlformats.org/drawingml/2006/main">
              <a:ext uri="{FF2B5EF4-FFF2-40B4-BE49-F238E27FC236}">
                <a16:creationId xmlns:a16="http://schemas.microsoft.com/office/drawing/2014/main" id="{D8E5E2AB-ADA1-4838-ACF0-FFEF5BB5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C18FBDEC-1AF3-4715-AA09-479266E2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YOU DO PRACTICE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E419A0B8-80B8-4D04-AA00-03054673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7 / 12  ·  12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7103CDA-DC45-49C7-8199-AFE03A2C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Our practice tasks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AE716716-2304-4E68-B71C-7212C01D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inted-id">
            <a:extLst xmlns:a="http://schemas.openxmlformats.org/drawingml/2006/main">
              <a:ext uri="{FF2B5EF4-FFF2-40B4-BE49-F238E27FC236}">
                <a16:creationId xmlns:a16="http://schemas.microsoft.com/office/drawing/2014/main" id="{78B1FBD6-B0E3-4DBA-AE92-B3E0AB19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VOC-LAUNCH-A2-W07-L1</ns2:t>
            </ns2:r>
          </ns2:p>
        </p:txBody>
      </p:sp>
      <p:sp>
        <p:nvSpPr>
          <p:cNvPr id="12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464D54B0-7F69-47C0-8884-FB04772F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3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1042A2BA-D71F-4608-81F1-56527613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5" name="body-0">
            <a:extLst xmlns:a="http://schemas.openxmlformats.org/drawingml/2006/main">
              <a:ext uri="{FF2B5EF4-FFF2-40B4-BE49-F238E27FC236}">
                <a16:creationId xmlns:a16="http://schemas.microsoft.com/office/drawing/2014/main" id="{D56143C9-633B-49FB-8C6A-CF18E2F3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Use the review cards, then your own folder.</ns6:t>
            </ns6:r>
          </ns6:p>
        </p:txBody>
      </p:sp>
      <p:sp>
        <p:nvSpPr>
          <p:cNvPr id="16" name="body-1">
            <a:extLst xmlns:a="http://schemas.openxmlformats.org/drawingml/2006/main">
              <a:ext uri="{FF2B5EF4-FFF2-40B4-BE49-F238E27FC236}">
                <a16:creationId xmlns:a16="http://schemas.microsoft.com/office/drawing/2014/main" id="{B6D490E7-1C72-4E1B-9DFF-6A51D7CD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Supported: match a real record to one skill.</ns7:t>
            </ns7:r>
          </ns7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08901007-A68D-49A8-B527-C521B404D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Independent: index work, support and gaps.</ns8:t>
            </ns8:r>
          </ns8:p>
        </p:txBody>
      </p:sp>
      <p:sp>
        <p:nvSpPr>
          <p:cNvPr id="18" name="body-3">
            <a:extLst xmlns:a="http://schemas.openxmlformats.org/drawingml/2006/main">
              <a:ext uri="{FF2B5EF4-FFF2-40B4-BE49-F238E27FC236}">
                <a16:creationId xmlns:a16="http://schemas.microsoft.com/office/drawing/2014/main" id="{3EA2B60A-E54D-4F8D-BC00-957C59C2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Aspire: explain what a record cannot prove.</ns9:t>
            </ns9:r>
          </ns9:p>
        </p:txBody>
      </p:sp>
      <p:sp>
        <p:nvSpPr>
          <p:cNvPr id="19" name="body-4">
            <a:extLst xmlns:a="http://schemas.openxmlformats.org/drawingml/2006/main">
              <a:ext uri="{FF2B5EF4-FFF2-40B4-BE49-F238E27FC236}">
                <a16:creationId xmlns:a16="http://schemas.microsoft.com/office/drawing/2014/main" id="{4583C6A7-E83D-4290-B65B-7B823E66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481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Keep models and rehearsal evidence labelled.</ns10:t>
            </ns10:r>
          </ns10:p>
        </p:txBody>
      </p:sp>
    </p:spTree>
    <p:extLst>
      <p:ext uri="{BB962C8B-B14F-4D97-AF65-F5344CB8AC3E}">
        <p14:creationId xmlns:p14="http://schemas.microsoft.com/office/powerpoint/2010/main" val="16249497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ide-rule">
            <a:extLst xmlns:a="http://schemas.openxmlformats.org/drawingml/2006/main">
              <a:ext uri="{FF2B5EF4-FFF2-40B4-BE49-F238E27FC236}">
                <a16:creationId xmlns:a16="http://schemas.microsoft.com/office/drawing/2014/main" id="{66C44A98-3D93-4F51-B71E-69741D9B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BB347D01-AF7A-441C-95AA-D9DDC8E7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YOU DO EVIDENCE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0E908289-E77F-4BCE-B478-BFBAF859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8 / 12  ·  6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44AEF26-FD38-4E07-B155-D8216D2D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My evidence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65EC05C6-1DDD-4ED7-9416-85B2792C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inted-id">
            <a:extLst xmlns:a="http://schemas.openxmlformats.org/drawingml/2006/main">
              <a:ext uri="{FF2B5EF4-FFF2-40B4-BE49-F238E27FC236}">
                <a16:creationId xmlns:a16="http://schemas.microsoft.com/office/drawing/2014/main" id="{86E837DB-874D-4D98-95F1-0A5EB40A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VOC-LAUNCH-A2-W07-L1</ns2:t>
            </ns2:r>
          </ns2:p>
        </p:txBody>
      </p:sp>
      <p:sp>
        <p:nvSpPr>
          <p:cNvPr id="13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BB784062-68CA-4716-9541-FCC2624A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4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56B640B8-BB08-416A-913B-30884D34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6" name="body-0">
            <a:extLst xmlns:a="http://schemas.openxmlformats.org/drawingml/2006/main">
              <a:ext uri="{FF2B5EF4-FFF2-40B4-BE49-F238E27FC236}">
                <a16:creationId xmlns:a16="http://schemas.microsoft.com/office/drawing/2014/main" id="{39255F30-454A-4B62-B463-8ED37A47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Use the index to name each actual record.</ns6:t>
            </ns6:r>
          </ns6:p>
        </p:txBody>
      </p:sp>
      <p:sp>
        <p:nvSpPr>
          <p:cNvPr id="17" name="body-1">
            <a:extLst xmlns:a="http://schemas.openxmlformats.org/drawingml/2006/main">
              <a:ext uri="{FF2B5EF4-FFF2-40B4-BE49-F238E27FC236}">
                <a16:creationId xmlns:a16="http://schemas.microsoft.com/office/drawing/2014/main" id="{B400D461-D55C-4F45-8F48-1294C146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Say what you did and the help used.</ns7:t>
            </ns7:r>
          </ns7:p>
        </p:txBody>
      </p:sp>
      <p:sp>
        <p:nvSpPr>
          <p:cNvPr id="18" name="body-2">
            <a:extLst xmlns:a="http://schemas.openxmlformats.org/drawingml/2006/main">
              <a:ext uri="{FF2B5EF4-FFF2-40B4-BE49-F238E27FC236}">
                <a16:creationId xmlns:a16="http://schemas.microsoft.com/office/drawing/2014/main" id="{8D8AABD9-7E6F-4862-B495-E49E9D68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Mark missing or unconfirmed items clearly.</ns8:t>
            </ns8:r>
          </ns8:p>
        </p:txBody>
      </p:sp>
      <p:sp>
        <p:nvSpPr>
          <p:cNvPr id="19" name="body-3">
            <a:extLst xmlns:a="http://schemas.openxmlformats.org/drawingml/2006/main">
              <a:ext uri="{FF2B5EF4-FFF2-40B4-BE49-F238E27FC236}">
                <a16:creationId xmlns:a16="http://schemas.microsoft.com/office/drawing/2014/main" id="{BE650D55-78CE-4B6C-B594-BF1451CA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Choose one gap for a staff follow-up.</ns9:t>
            </ns9:r>
          </ns9:p>
        </p:txBody>
      </p:sp>
    </p:spTree>
    <p:extLst>
      <p:ext uri="{BB962C8B-B14F-4D97-AF65-F5344CB8AC3E}">
        <p14:creationId xmlns:p14="http://schemas.microsoft.com/office/powerpoint/2010/main" val="6726751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ide-rule">
            <a:extLst xmlns:a="http://schemas.openxmlformats.org/drawingml/2006/main">
              <a:ext uri="{FF2B5EF4-FFF2-40B4-BE49-F238E27FC236}">
                <a16:creationId xmlns:a16="http://schemas.microsoft.com/office/drawing/2014/main" id="{6D99B899-E3BF-49C2-AF68-6D6CF114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539133E1-A8EA-4557-ABD0-F0F049DC8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TIDY AND EVIDENCE CHECK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D74A83CD-4D73-4E4A-B78C-D8D074F8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9 / 12  ·  4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5FC91DF-147B-4BBB-8617-27DEAEDB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Tidy and check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5D051C0A-7299-461B-B2A0-C9E66A73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rinted-id">
            <a:extLst xmlns:a="http://schemas.openxmlformats.org/drawingml/2006/main">
              <a:ext uri="{FF2B5EF4-FFF2-40B4-BE49-F238E27FC236}">
                <a16:creationId xmlns:a16="http://schemas.microsoft.com/office/drawing/2014/main" id="{FCC4FAC5-3A9D-4290-89BD-E0E63D68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VOC-LAUNCH-A2-W07-L1</ns2:t>
            </ns2:r>
          </ns2:p>
        </p:txBody>
      </p:sp>
      <p:sp>
        <p:nvSpPr>
          <p:cNvPr id="15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D9053BBE-8E7B-41BA-A413-FA20D299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6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0FA6775F-4A85-43BE-A6BA-4F00B61D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8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087B79DB-B13D-4C00-8AD4-C621817E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9" name="body-0">
            <a:extLst xmlns:a="http://schemas.openxmlformats.org/drawingml/2006/main">
              <a:ext uri="{FF2B5EF4-FFF2-40B4-BE49-F238E27FC236}">
                <a16:creationId xmlns:a16="http://schemas.microsoft.com/office/drawing/2014/main" id="{EFF555BC-8EEA-48FD-8C9B-0D66683B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76400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Check your name or ID and both pages.</ns6:t>
            </ns6:r>
          </ns6:p>
        </p:txBody>
      </p:sp>
      <p:sp>
        <p:nvSpPr>
          <p:cNvPr id="20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C413AB4A-46AA-4E82-B169-6983E9E0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1" name="body-1">
            <a:extLst xmlns:a="http://schemas.openxmlformats.org/drawingml/2006/main">
              <a:ext uri="{FF2B5EF4-FFF2-40B4-BE49-F238E27FC236}">
                <a16:creationId xmlns:a16="http://schemas.microsoft.com/office/drawing/2014/main" id="{7C8BF745-D880-47F7-B45F-9EF87BFBF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96465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Keep your work and record the help used.</ns7:t>
            </ns7:r>
          </ns7:p>
        </p:txBody>
      </p:sp>
      <p:sp>
        <p:nvSpPr>
          <p:cNvPr id="22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8ACC7B68-7ACB-459D-9247-0B3147F1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3" name="body-2">
            <a:extLst xmlns:a="http://schemas.openxmlformats.org/drawingml/2006/main">
              <a:ext uri="{FF2B5EF4-FFF2-40B4-BE49-F238E27FC236}">
                <a16:creationId xmlns:a16="http://schemas.microsoft.com/office/drawing/2014/main" id="{31AFDBC3-92F9-4C91-941F-C1B50542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16530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Put resources away safely.</ns8:t>
            </ns8:r>
          </ns8:p>
        </p:txBody>
      </p:sp>
      <p:sp>
        <p:nvSpPr>
          <p:cNvPr id="24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21BDBCB0-4ED5-4F35-ADB5-9F2511A3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6595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body-3">
            <a:extLst xmlns:a="http://schemas.openxmlformats.org/drawingml/2006/main">
              <a:ext uri="{FF2B5EF4-FFF2-40B4-BE49-F238E27FC236}">
                <a16:creationId xmlns:a16="http://schemas.microsoft.com/office/drawing/2014/main" id="{11DBDF86-9217-4206-908E-A4E9A9C0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36595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Tell the adult your next step.</ns9:t>
            </ns9:r>
          </ns9:p>
        </p:txBody>
      </p:sp>
    </p:spTree>
    <p:extLst>
      <p:ext uri="{BB962C8B-B14F-4D97-AF65-F5344CB8AC3E}">
        <p14:creationId xmlns:p14="http://schemas.microsoft.com/office/powerpoint/2010/main" val="6573137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ide-rule">
            <a:extLst xmlns:a="http://schemas.openxmlformats.org/drawingml/2006/main">
              <a:ext uri="{FF2B5EF4-FFF2-40B4-BE49-F238E27FC236}">
                <a16:creationId xmlns:a16="http://schemas.microsoft.com/office/drawing/2014/main" id="{59C9C49A-1ECE-4C68-AA48-8F45006D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E9D7B1B8-710A-4637-AD51-BB394286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EXIT TICKET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66109A82-556F-4CF9-B5DC-048C49CC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10 / 12  ·  2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4E39EA1-F3DB-4E05-BB09-794112D7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Exit ticket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0A4497D4-A50A-4696-9DCC-0A2E8DE9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rinted-id">
            <a:extLst xmlns:a="http://schemas.openxmlformats.org/drawingml/2006/main">
              <a:ext uri="{FF2B5EF4-FFF2-40B4-BE49-F238E27FC236}">
                <a16:creationId xmlns:a16="http://schemas.microsoft.com/office/drawing/2014/main" id="{932148A5-B336-4611-A94A-0D8133BB9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VOC-LAUNCH-A2-W07-L1</ns2:t>
            </ns2:r>
          </ns2:p>
        </p:txBody>
      </p:sp>
      <p:sp>
        <p:nvSpPr>
          <p:cNvPr id="10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5BDFC492-DAA3-45FD-974E-5934DD86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1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684DD80D-ABF7-4E04-914D-90124C59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3" name="body-0">
            <a:extLst xmlns:a="http://schemas.openxmlformats.org/drawingml/2006/main">
              <a:ext uri="{FF2B5EF4-FFF2-40B4-BE49-F238E27FC236}">
                <a16:creationId xmlns:a16="http://schemas.microsoft.com/office/drawing/2014/main" id="{65D257E5-CECE-41DE-9AB8-111EC1B0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One skill I can show is __.</ns6:t>
            </ns6:r>
          </ns6:p>
        </p:txBody>
      </p:sp>
      <p:sp>
        <p:nvSpPr>
          <p:cNvPr id="14" name="body-1">
            <a:extLst xmlns:a="http://schemas.openxmlformats.org/drawingml/2006/main">
              <a:ext uri="{FF2B5EF4-FFF2-40B4-BE49-F238E27FC236}">
                <a16:creationId xmlns:a16="http://schemas.microsoft.com/office/drawing/2014/main" id="{6F4C84B4-AD02-4D06-85D4-17AEF737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The record is __ and the help was __.</ns7:t>
            </ns7:r>
          </ns7:p>
        </p:txBody>
      </p:sp>
      <p:sp>
        <p:nvSpPr>
          <p:cNvPr id="15" name="body-2">
            <a:extLst xmlns:a="http://schemas.openxmlformats.org/drawingml/2006/main">
              <a:ext uri="{FF2B5EF4-FFF2-40B4-BE49-F238E27FC236}">
                <a16:creationId xmlns:a16="http://schemas.microsoft.com/office/drawing/2014/main" id="{B480E7FE-B5BC-4A66-80F3-704BD1D4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One gap I need to follow up is __.</ns8:t>
            </ns8:r>
          </ns8:p>
        </p:txBody>
      </p:sp>
    </p:spTree>
    <p:extLst>
      <p:ext uri="{BB962C8B-B14F-4D97-AF65-F5344CB8AC3E}">
        <p14:creationId xmlns:p14="http://schemas.microsoft.com/office/powerpoint/2010/main" val="216046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ide-rule">
            <a:extLst xmlns:a="http://schemas.openxmlformats.org/drawingml/2006/main">
              <a:ext uri="{FF2B5EF4-FFF2-40B4-BE49-F238E27FC236}">
                <a16:creationId xmlns:a16="http://schemas.microsoft.com/office/drawing/2014/main" id="{D7E27DC8-5780-4C6F-967F-69F5095E0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10CD50A6-479A-42E3-9889-EC0655F0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VOCABULARY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71513864-1F44-47A2-8AB0-36023EBE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11 / 12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0AC37AA-F3B2-4D83-838F-55D3F178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Words that help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A88D4494-77DD-42F8-A953-8F665FD2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inted-id">
            <a:extLst xmlns:a="http://schemas.openxmlformats.org/drawingml/2006/main">
              <a:ext uri="{FF2B5EF4-FFF2-40B4-BE49-F238E27FC236}">
                <a16:creationId xmlns:a16="http://schemas.microsoft.com/office/drawing/2014/main" id="{A55B9542-E345-4C7A-A0EC-BB2D0E57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VOC-LAUNCH-A2-W07-L1</ns2:t>
            </ns2:r>
          </ns2:p>
        </p:txBody>
      </p:sp>
      <p:sp>
        <p:nvSpPr>
          <p:cNvPr id="13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79C90A18-ACEE-4E26-A658-19337AA5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4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B8C65DA7-B3D3-4863-BFEB-F8AC4C66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6" name="body-0">
            <a:extLst xmlns:a="http://schemas.openxmlformats.org/drawingml/2006/main">
              <a:ext uri="{FF2B5EF4-FFF2-40B4-BE49-F238E27FC236}">
                <a16:creationId xmlns:a16="http://schemas.microsoft.com/office/drawing/2014/main" id="{AD5ECC91-FF83-473B-A80F-A2DCEA5E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portfolio: My work and records.</ns6:t>
            </ns6:r>
          </ns6:p>
        </p:txBody>
      </p:sp>
      <p:sp>
        <p:nvSpPr>
          <p:cNvPr id="17" name="body-1">
            <a:extLst xmlns:a="http://schemas.openxmlformats.org/drawingml/2006/main">
              <a:ext uri="{FF2B5EF4-FFF2-40B4-BE49-F238E27FC236}">
                <a16:creationId xmlns:a16="http://schemas.microsoft.com/office/drawing/2014/main" id="{88C68CAC-CA38-4207-B855-B297B6EF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329"/>
            <a:ext cx="5219700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index: A list to find things.</ns7:t>
            </ns7:r>
          </ns7:p>
        </p:txBody>
      </p:sp>
      <p:sp>
        <p:nvSpPr>
          <p:cNvPr id="18" name="body-2">
            <a:extLst xmlns:a="http://schemas.openxmlformats.org/drawingml/2006/main">
              <a:ext uri="{FF2B5EF4-FFF2-40B4-BE49-F238E27FC236}">
                <a16:creationId xmlns:a16="http://schemas.microsoft.com/office/drawing/2014/main" id="{98BB6F30-A928-488D-96C8-5767784E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2961"/>
            <a:ext cx="5219700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evidence: Work showing a skill.</ns8:t>
            </ns8:r>
          </ns8:p>
        </p:txBody>
      </p:sp>
      <p:sp>
        <p:nvSpPr>
          <p:cNvPr id="19" name="body-3">
            <a:extLst xmlns:a="http://schemas.openxmlformats.org/drawingml/2006/main">
              <a:ext uri="{FF2B5EF4-FFF2-40B4-BE49-F238E27FC236}">
                <a16:creationId xmlns:a16="http://schemas.microsoft.com/office/drawing/2014/main" id="{C20DEC5F-CD4B-4158-AF0D-E60254BF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8593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ownership: Who did the work.</ns9:t>
            </ns9:r>
          </ns9:p>
        </p:txBody>
      </p:sp>
      <p:sp>
        <p:nvSpPr>
          <p:cNvPr id="20" name="body-0">
            <a:extLst xmlns:a="http://schemas.openxmlformats.org/drawingml/2006/main">
              <a:ext uri="{FF2B5EF4-FFF2-40B4-BE49-F238E27FC236}">
                <a16:creationId xmlns:a16="http://schemas.microsoft.com/office/drawing/2014/main" id="{E1D697A6-2187-411F-9F04-95AEDEFD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95450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context: Where and how it was.</ns10:t>
            </ns10:r>
          </ns10:p>
        </p:txBody>
      </p:sp>
      <p:sp>
        <p:nvSpPr>
          <p:cNvPr id="21" name="body-1">
            <a:extLst xmlns:a="http://schemas.openxmlformats.org/drawingml/2006/main">
              <a:ext uri="{FF2B5EF4-FFF2-40B4-BE49-F238E27FC236}">
                <a16:creationId xmlns:a16="http://schemas.microsoft.com/office/drawing/2014/main" id="{CBDB7742-827E-4DF1-ADBF-52ACD82E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47329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1:p xmlns:ns11="http://schemas.openxmlformats.org/drawingml/2006/main">
            <ns11:pPr algn="l">
              <ns11:defRPr sz="2025" b="0">
                <ns11:solidFill>
                  <ns11:srgbClr val="17384A"/>
                </ns11:solidFill>
                <ns11:latin typeface="Arial"/>
                <ns11:ea typeface="Arial"/>
                <ns11:cs typeface="Arial"/>
              </ns11:defRPr>
            </ns11:pPr>
            <ns11:r>
              <ns11:rPr sz="2025" b="0">
                <ns11:solidFill>
                  <ns11:srgbClr val="17384A"/>
                </ns11:solidFill>
                <ns11:latin typeface="Arial"/>
                <ns11:ea typeface="Arial"/>
                <ns11:cs typeface="Arial"/>
              </ns11:rPr>
              <ns11:t>gap: Something still missing.</ns11:t>
            </ns11:r>
          </ns11:p>
        </p:txBody>
      </p:sp>
      <p:sp>
        <p:nvSpPr>
          <p:cNvPr id="22" name="body-2">
            <a:extLst xmlns:a="http://schemas.openxmlformats.org/drawingml/2006/main">
              <a:ext uri="{FF2B5EF4-FFF2-40B4-BE49-F238E27FC236}">
                <a16:creationId xmlns:a16="http://schemas.microsoft.com/office/drawing/2014/main" id="{6E4AC5B5-5DB5-4AFD-A540-86B79451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99207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2:p xmlns:ns12="http://schemas.openxmlformats.org/drawingml/2006/main">
            <ns12:pPr algn="l">
              <ns12:defRPr sz="2025" b="0">
                <ns12:solidFill>
                  <ns12:srgbClr val="17384A"/>
                </ns12:solidFill>
                <ns12:latin typeface="Arial"/>
                <ns12:ea typeface="Arial"/>
                <ns12:cs typeface="Arial"/>
              </ns12:defRPr>
            </ns12:pPr>
            <ns12:r>
              <ns12:rPr sz="2025" b="0">
                <ns12:solidFill>
                  <ns12:srgbClr val="17384A"/>
                </ns12:solidFill>
                <ns12:latin typeface="Arial"/>
                <ns12:ea typeface="Arial"/>
                <ns12:cs typeface="Arial"/>
              </ns12:rPr>
              <ns12:t>reference: A label to find work.</ns12:t>
            </ns12:r>
          </ns12:p>
        </p:txBody>
      </p:sp>
    </p:spTree>
    <p:extLst>
      <p:ext uri="{BB962C8B-B14F-4D97-AF65-F5344CB8AC3E}">
        <p14:creationId xmlns:p14="http://schemas.microsoft.com/office/powerpoint/2010/main" val="1724659072"/>
      </p:ext>
    </p:extLst>
  </p:cSld>
</p:sld>
</file>

<file path=ppt/slides/slide12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ide-rule">
            <a:extLst xmlns:a="http://schemas.openxmlformats.org/drawingml/2006/main">
              <a:ext uri="{FF2B5EF4-FFF2-40B4-BE49-F238E27FC236}">
                <a16:creationId xmlns:a16="http://schemas.microsoft.com/office/drawing/2014/main" id="{506853DF-EDE9-47DE-B379-5CA30FE0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9C5D01BA-4C5C-4CC7-8930-4470E839F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STAFF BRIEF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6935380F-44D1-4452-83AA-C691894F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12 / 12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509DD9B-423A-4951-96E4-2F49524E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Staff brief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CD306737-F981-46D9-9315-54D5AE4B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inted-id">
            <a:extLst xmlns:a="http://schemas.openxmlformats.org/drawingml/2006/main">
              <a:ext uri="{FF2B5EF4-FFF2-40B4-BE49-F238E27FC236}">
                <a16:creationId xmlns:a16="http://schemas.microsoft.com/office/drawing/2014/main" id="{515AEF30-6294-44DB-81F6-F3CB66FD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VOC-LAUNCH-A2-W07-L1</ns2:t>
            </ns2:r>
          </ns2:p>
        </p:txBody>
      </p:sp>
      <p:sp>
        <p:nvSpPr>
          <p:cNvPr id="12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9F510AFB-D341-4DF2-B29D-CEE16739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3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594BF42D-B6E5-41F7-A227-2AD8399D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5" name="body-0">
            <a:extLst xmlns:a="http://schemas.openxmlformats.org/drawingml/2006/main">
              <a:ext uri="{FF2B5EF4-FFF2-40B4-BE49-F238E27FC236}">
                <a16:creationId xmlns:a16="http://schemas.microsoft.com/office/drawing/2014/main" id="{61E01433-5B72-41AB-B4BB-59FA79C62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Read the planner and local support route.</ns6:t>
            </ns6:r>
          </ns6:p>
        </p:txBody>
      </p:sp>
      <p:sp>
        <p:nvSpPr>
          <p:cNvPr id="16" name="body-1">
            <a:extLst xmlns:a="http://schemas.openxmlformats.org/drawingml/2006/main">
              <a:ext uri="{FF2B5EF4-FFF2-40B4-BE49-F238E27FC236}">
                <a16:creationId xmlns:a16="http://schemas.microsoft.com/office/drawing/2014/main" id="{365D8A69-7368-41E6-901B-C63D1196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Use the task limits and right to pass.</ns7:t>
            </ns7:r>
          </ns7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FE40F02C-1AC4-41E6-88B9-54CB5E2D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TA: scribe exact words; record physical help.</ns8:t>
            </ns8:r>
          </ns8:p>
        </p:txBody>
      </p:sp>
      <p:sp>
        <p:nvSpPr>
          <p:cNvPr id="18" name="body-3">
            <a:extLst xmlns:a="http://schemas.openxmlformats.org/drawingml/2006/main">
              <a:ext uri="{FF2B5EF4-FFF2-40B4-BE49-F238E27FC236}">
                <a16:creationId xmlns:a16="http://schemas.microsoft.com/office/drawing/2014/main" id="{09F7BA08-B0D3-407F-B420-DAE0E9FF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Keep each learner’s own evidence.</ns9:t>
            </ns9:r>
          </ns9:p>
        </p:txBody>
      </p:sp>
      <p:sp>
        <p:nvSpPr>
          <p:cNvPr id="19" name="body-4">
            <a:extLst xmlns:a="http://schemas.openxmlformats.org/drawingml/2006/main">
              <a:ext uri="{FF2B5EF4-FFF2-40B4-BE49-F238E27FC236}">
                <a16:creationId xmlns:a16="http://schemas.microsoft.com/office/drawing/2014/main" id="{80AE7E45-3807-4F32-B830-F0825E0A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481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Lundy: Space, Voice, Audience, Influence.</ns10:t>
            </ns10:r>
          </ns10:p>
        </p:txBody>
      </p:sp>
    </p:spTree>
    <p:extLst>
      <p:ext uri="{BB962C8B-B14F-4D97-AF65-F5344CB8AC3E}">
        <p14:creationId xmlns:p14="http://schemas.microsoft.com/office/powerpoint/2010/main" val="1752919071"/>
      </p:ext>
    </p:extLst>
  </p:cSld>
</p:sld>
</file>

<file path=ppt/theme/theme1.xml><?xml version="1.0" encoding="utf-8"?>
<a:theme xmlns:a="http://schemas.openxmlformats.org/drawingml/2006/main" name="Lesson theme">
  <a:themeElements>
    <a:clrScheme name="Lesson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Lesson the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[SYS]</ap:Application>
  <ap:PresentationFormat/>
  <ap:Slides>12</ap:Slides>
  <ap:Notes>12</ap:Notes>
  <ap:HiddenSlides>1</ap:HiddenSlides>
  <ap:SharedDoc>false</ap:SharedDoc>
  <ap:DocSecurity>0</ap:DocSecurity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Lesson resource</dc:creator>
  <dc:title>Checking my hospitality evidence</dc:title>
  <dc:subject>VOC-LAUNCH-A2-W07-L1</dc:subject>
  <cp:lastModifiedBy/>
  <dc:description>Vocational Hospitality Autumn 2 Week 7</dc:description>
  <cp:keywords/>
</cp:coreProperties>
</file>