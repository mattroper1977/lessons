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f513ece14d412a" /><Relationship Type="http://schemas.openxmlformats.org/officeDocument/2006/relationships/extended-properties" Target="/docProps/app.xml" Id="R982d2da879ee49e5" /><Relationship Type="http://schemas.openxmlformats.org/officeDocument/2006/relationships/officeDocument" Target="/ppt/presentation.xml" Id="R854829490f9e4634" /></Relationships>
</file>

<file path=ppt/presentation.xml><?xml version="1.0" encoding="utf-8"?>
<p:presentation xmlns:p="http://schemas.openxmlformats.org/presentationml/2006/main">
  <p:sldMasterIdLst>
    <p:sldMasterId xmlns:r="http://schemas.openxmlformats.org/officeDocument/2006/relationships" id="2147483648" r:id="R5d5886eb838c448f"/>
  </p:sldMasterIdLst>
  <p:notesMasterIdLst>
    <p:notesMasterId xmlns:r="http://schemas.openxmlformats.org/officeDocument/2006/relationships" r:id="R267eac7ffa624ba3"/>
  </p:notesMasterIdLst>
  <p:sldIdLst>
    <p:sldId xmlns:r="http://schemas.openxmlformats.org/officeDocument/2006/relationships" id="256" r:id="Re1d4a50a9b174e2e"/>
    <p:sldId xmlns:r="http://schemas.openxmlformats.org/officeDocument/2006/relationships" id="257" r:id="Ra472088cbbbc4d5a"/>
    <p:sldId xmlns:r="http://schemas.openxmlformats.org/officeDocument/2006/relationships" id="258" r:id="R7b75bdcb8cf64ecd"/>
    <p:sldId xmlns:r="http://schemas.openxmlformats.org/officeDocument/2006/relationships" id="259" r:id="R274f4aea96bf4b15"/>
    <p:sldId xmlns:r="http://schemas.openxmlformats.org/officeDocument/2006/relationships" id="260" r:id="Radf39a53abf642c8"/>
    <p:sldId xmlns:r="http://schemas.openxmlformats.org/officeDocument/2006/relationships" id="261" r:id="R88b22deafa374b2b"/>
    <p:sldId xmlns:r="http://schemas.openxmlformats.org/officeDocument/2006/relationships" id="262" r:id="Ra8b5ab3441a34ccd"/>
    <p:sldId xmlns:r="http://schemas.openxmlformats.org/officeDocument/2006/relationships" id="263" r:id="Rb094e9deff5b46f2"/>
    <p:sldId xmlns:r="http://schemas.openxmlformats.org/officeDocument/2006/relationships" id="264" r:id="R40aabd40d8e84880"/>
    <p:sldId xmlns:r="http://schemas.openxmlformats.org/officeDocument/2006/relationships" id="265" r:id="R1764d412192a4abd"/>
    <p:sldId xmlns:r="http://schemas.openxmlformats.org/officeDocument/2006/relationships" id="266" r:id="Rb736448484ab4b53"/>
    <p:sldId xmlns:r="http://schemas.openxmlformats.org/officeDocument/2006/relationships" id="267" r:id="R76f579d45dc947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4352108c3b4241" /><Relationship Type="http://schemas.openxmlformats.org/officeDocument/2006/relationships/slideMaster" Target="/ppt/slideMasters/slideMaster1.xml" Id="R5d5886eb838c448f" /><Relationship Type="http://schemas.openxmlformats.org/officeDocument/2006/relationships/notesMaster" Target="/ppt/notesMasters/notesMaster1.xml" Id="R267eac7ffa624ba3" /><Relationship Type="http://schemas.openxmlformats.org/officeDocument/2006/relationships/presProps" Target="/ppt/presProps.xml" Id="R31b7b0cd12794b79" /><Relationship Type="http://schemas.openxmlformats.org/officeDocument/2006/relationships/tableStyles" Target="/ppt/tableStyles.xml" Id="R1976a924f9b945c6" /><Relationship Type="http://schemas.openxmlformats.org/officeDocument/2006/relationships/slide" Target="/ppt/slides/slide1.xml" Id="Re1d4a50a9b174e2e" /><Relationship Type="http://schemas.openxmlformats.org/officeDocument/2006/relationships/slide" Target="/ppt/slides/slide2.xml" Id="Ra472088cbbbc4d5a" /><Relationship Type="http://schemas.openxmlformats.org/officeDocument/2006/relationships/slide" Target="/ppt/slides/slide3.xml" Id="R7b75bdcb8cf64ecd" /><Relationship Type="http://schemas.openxmlformats.org/officeDocument/2006/relationships/slide" Target="/ppt/slides/slide4.xml" Id="R274f4aea96bf4b15" /><Relationship Type="http://schemas.openxmlformats.org/officeDocument/2006/relationships/slide" Target="/ppt/slides/slide5.xml" Id="Radf39a53abf642c8" /><Relationship Type="http://schemas.openxmlformats.org/officeDocument/2006/relationships/slide" Target="/ppt/slides/slide6.xml" Id="R88b22deafa374b2b" /><Relationship Type="http://schemas.openxmlformats.org/officeDocument/2006/relationships/slide" Target="/ppt/slides/slide7.xml" Id="Ra8b5ab3441a34ccd" /><Relationship Type="http://schemas.openxmlformats.org/officeDocument/2006/relationships/slide" Target="/ppt/slides/slide8.xml" Id="Rb094e9deff5b46f2" /><Relationship Type="http://schemas.openxmlformats.org/officeDocument/2006/relationships/slide" Target="/ppt/slides/slide9.xml" Id="R40aabd40d8e84880" /><Relationship Type="http://schemas.openxmlformats.org/officeDocument/2006/relationships/slide" Target="/ppt/slides/slide10.xml" Id="R1764d412192a4abd" /><Relationship Type="http://schemas.openxmlformats.org/officeDocument/2006/relationships/slide" Target="/ppt/slides/slide11.xml" Id="Rb736448484ab4b53" /><Relationship Type="http://schemas.openxmlformats.org/officeDocument/2006/relationships/slide" Target="/ppt/slides/slide12.xml" Id="R76f579d45dc947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863ad6bc744e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61473b3af845ba" /><Relationship Type="http://schemas.openxmlformats.org/officeDocument/2006/relationships/notesMaster" Target="/ppt/notesMasters/notesMaster1.xml" Id="R2a2cb28984ee4c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f1b40ddd814695" /><Relationship Type="http://schemas.openxmlformats.org/officeDocument/2006/relationships/notesMaster" Target="/ppt/notesMasters/notesMaster1.xml" Id="R90355b7ca3264b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801d57a037433a" /><Relationship Type="http://schemas.openxmlformats.org/officeDocument/2006/relationships/notesMaster" Target="/ppt/notesMasters/notesMaster1.xml" Id="R57101cb724ab4e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eacb9e0ca44ec4" /><Relationship Type="http://schemas.openxmlformats.org/officeDocument/2006/relationships/notesMaster" Target="/ppt/notesMasters/notesMaster1.xml" Id="Re546b26e271540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8f6818a38549bf" /><Relationship Type="http://schemas.openxmlformats.org/officeDocument/2006/relationships/notesMaster" Target="/ppt/notesMasters/notesMaster1.xml" Id="R4b7752b4517e4c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e81ac5fd754184" /><Relationship Type="http://schemas.openxmlformats.org/officeDocument/2006/relationships/notesMaster" Target="/ppt/notesMasters/notesMaster1.xml" Id="R4ee81dad801941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970067a9d643f8" /><Relationship Type="http://schemas.openxmlformats.org/officeDocument/2006/relationships/notesMaster" Target="/ppt/notesMasters/notesMaster1.xml" Id="R1cc3e3b2109d42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613c78a38345f2" /><Relationship Type="http://schemas.openxmlformats.org/officeDocument/2006/relationships/notesMaster" Target="/ppt/notesMasters/notesMaster1.xml" Id="Rd2f9fdc402e146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ea6e3e7d00497f" /><Relationship Type="http://schemas.openxmlformats.org/officeDocument/2006/relationships/notesMaster" Target="/ppt/notesMasters/notesMaster1.xml" Id="R84bd60163b394c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c61a1c477240c2" /><Relationship Type="http://schemas.openxmlformats.org/officeDocument/2006/relationships/notesMaster" Target="/ppt/notesMasters/notesMaster1.xml" Id="R6f605c684b7442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936097484243c6" /><Relationship Type="http://schemas.openxmlformats.org/officeDocument/2006/relationships/notesMaster" Target="/ppt/notesMasters/notesMaster1.xml" Id="R5f92798095494e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89f9190bc0c46a7" /><Relationship Type="http://schemas.openxmlformats.org/officeDocument/2006/relationships/notesMaster" Target="/ppt/notesMasters/notesMaster1.xml" Id="R2480d35219fa49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Title</a:t>
            </a:r>
          </a:p>
          <a:p xmlns:a="http://schemas.openxmlformats.org/drawingml/2006/main">
            <a:r>
              <a:t>Timing: 0 minutes.</a:t>
            </a:r>
          </a:p>
          <a:p xmlns:a="http://schemas.openxmlformats.org/drawingml/2006/main">
            <a:r>
              <a:t>Untimed. Introduce four customer situations and the script card. Source: sources/MTP.xlsx; revision sha256:0895674f2901b602daf998b8a7aa1516522ce0c301b23bfba941fcc1807977cd. Medium Term Plan!C8; Lesson register!F10.</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C8, E8, F8, G8, H8, I8, J8, K8; Challenge map &amp; hours A11, B11, C11, D11, E11, F11, G11, H11, I11, K11, M11, N11; Lesson register B10, E10, F10, G10, H10, I10,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Arrival and regulation</a:t>
            </a:r>
          </a:p>
          <a:p xmlns:a="http://schemas.openxmlformats.org/drawingml/2006/main">
            <a:r>
              <a:t>Timing: 4 minutes.</a:t>
            </a:r>
          </a:p>
          <a:p xmlns:a="http://schemas.openxmlformats.org/drawingml/2006/main">
            <a:r>
              <a:t>4 minutes. BLUE low energy; GREEN ready; AMBER tense; RED overwhelmed. Offer a brief pause, quiet breathing or a quieter station without requiring a public colour disclosure. Agree one return action privately. Expected: drink as a product, taking an order as a service; words/actions showing care; pause and ask the responsible adult to check approved allergen information; repeating helps detect a wrong drink or amount. Never guess, advise a substitute or assure safety. Individual stations. An adult is the customer and observer. No pair work, cold calling or performance in front of the class. Adults may read, rephrase or scribe the learner’s exact words; they record the help and do not choose the learner’s assessed lines, decisions or tips. A model, blank form or planned duration is not completed individual evidence.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C8, E8, F8, G8, H8, I8, J8, K8; Challenge map &amp; hours A11, B11, C11, D11, E11, F11, G11, H11, I11, K11, M11, N11; Lesson register B10, E10, F10, G10, H10, I10,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Retrieval and starter</a:t>
            </a:r>
          </a:p>
          <a:p xmlns:a="http://schemas.openxmlformats.org/drawingml/2006/main">
            <a:r>
              <a:t>Timing: 2 minutes.</a:t>
            </a:r>
          </a:p>
          <a:p xmlns:a="http://schemas.openxmlformats.org/drawingml/2006/main">
            <a:r>
              <a:t>2 minutes. Adult reads both lines with a calm voice. Expected B: it welcomes and invites the customer to speak. A different pace or communication method is valid; do not judge accent, eye contact or performance style.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C8, E8, F8, G8, H8, I8, J8, K8; Challenge map &amp; hours A11, B11, C11, D11, E11, F11, G11, H11, I11, K11, M11, N11; Lesson register B10, E10, F10, G10, H10, I10,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Today</a:t>
            </a:r>
          </a:p>
          <a:p xmlns:a="http://schemas.openxmlformats.org/drawingml/2006/main">
            <a:r>
              <a:t>Timing: 0 minutes.</a:t>
            </a:r>
          </a:p>
          <a:p xmlns:a="http://schemas.openxmlformats.org/drawingml/2006/main">
            <a:r>
              <a:t>Untimed. Exact supplied outcome. [QUAL] — planner mapping. Short I-can lines are local classroom checks, not official criterion quotations.</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C8, E8, F8, G8, H8, I8, J8, K8; Challenge map &amp; hours A11, B11, C11, D11, E11, F11, G11, H11, I11, K11, M11, N11; Lesson register B10, E10, F10, G10, H10, I10,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I DO</a:t>
            </a:r>
          </a:p>
          <a:p xmlns:a="http://schemas.openxmlformats.org/drawingml/2006/main">
            <a:r>
              <a:t>Timing: 5 minutes.</a:t>
            </a:r>
          </a:p>
          <a:p xmlns:a="http://schemas.openxmlformats.org/drawingml/2006/main">
            <a:r>
              <a:t>5 minutes. Model all four situations with the adult using the model cards. For booking use the fictional Guest A, 14 June, two nights and check all three details. For complaint listen, apologise, offer to ask the responsible adult about a replacement, then refer; do not promise a refund or an unauthorised fix. These are paper-based training role plays. Do not prepare or serve real food or drinks, make a real booking, take payment or use personal customer details. Use the fictional guest codes and practice dates only. An allergy question means pause the order and ask the responsible adult to check the approved allergen information; never guess or promise a food is safe. A spill is discussed only: pause, keep clear and alert the adult. Follow the setting’s agreed safety procedures for any real incident.</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C8, E8, F8, G8, H8, I8, J8, K8; Challenge map &amp; hours A11, B11, C11, D11, E11, F11, G11, H11, I11, K11, M11, N11; Lesson register B10, E10, F10, G10, H10, I10,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WE DO</a:t>
            </a:r>
          </a:p>
          <a:p xmlns:a="http://schemas.openxmlformats.org/drawingml/2006/main">
            <a:r>
              <a:t>Timing: 5 minutes.</a:t>
            </a:r>
          </a:p>
          <a:p xmlns:a="http://schemas.openxmlformats.org/drawingml/2006/main">
            <a:r>
              <a:t>5 minutes. Co-create four short lines on the board. Expected order: drink names and amounts; booking: guest code, practice check-in date and nights; complaint: listen, apologise, offer an agreed next step and refer. Hinge: “I did not hear the drink, so I will guess.” Correct response: ask again and confirm. A shared model is a scaffold, not the learner’s completed individual evidence.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C8, E8, F8, G8, H8, I8, J8, K8; Challenge map &amp; hours A11, B11, C11, D11, E11, F11, G11, H11, I11, K11, M11, N11; Lesson register B10, E10, F10, G10, H10, I10,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practice</a:t>
            </a:r>
          </a:p>
          <a:p xmlns:a="http://schemas.openxmlformats.org/drawingml/2006/main">
            <a:r>
              <a:t>Timing: 12 minutes.</a:t>
            </a:r>
          </a:p>
          <a:p xmlns:a="http://schemas.openxmlformats.org/drawingml/2006/main">
            <a:r>
              <a:t>12 minutes. First part of the source 18-minute You Do. VOC3-L1-E1 records the learner’s script or best-line choices. Use the four MCQ prompts with three actual alternatives each; answers vary in position. Adults read or scribe only as agreed and note prompts. Do not file a copied adult model as independent work. Individual stations. An adult is the customer and observer. No pair work, cold calling or performance in front of the class. Adults may read, rephrase or scribe the learner’s exact words; they record the help and do not choose the learner’s assessed lines, decisions or tips. A model, blank form or planned duration is not completed individual evidence.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C8, E8, F8, G8, H8, I8, J8, K8; Challenge map &amp; hours A11, B11, C11, D11, E11, F11, G11, H11, I11, K11, M11, N11; Lesson register B10, E10, F10, G10, H10, I10,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evidence</a:t>
            </a:r>
          </a:p>
          <a:p xmlns:a="http://schemas.openxmlformats.org/drawingml/2006/main">
            <a:r>
              <a:t>Timing: 6 minutes.</a:t>
            </a:r>
          </a:p>
          <a:p xmlns:a="http://schemas.openxmlformats.org/drawingml/2006/main">
            <a:r>
              <a:t>6 minutes. Completes the source 18-minute You Do. Adult gives one fictional order, listens and records VOC3-L1-E2. If the learner needs another attempt, record the change and support. This is quiet rehearsal, with no audience or class performance. No real drink is served. These are paper-based training role plays. Do not prepare or serve real food or drinks, make a real booking, take payment or use personal customer details. Use the fictional guest codes and practice dates only. An allergy question means pause the order and ask the responsible adult to check the approved allergen information; never guess or promise a food is safe. A spill is discussed only: pause, keep clear and alert the adult. Follow the setting’s agreed safety procedures for any real incident.</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C8, E8, F8, G8, H8, I8, J8, K8; Challenge map &amp; hours A11, B11, C11, D11, E11, F11, G11, H11, I11, K11, M11, N11; Lesson register B10, E10, F10, G10, H10, I10,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Tidy and evidence check</a:t>
            </a:r>
          </a:p>
          <a:p xmlns:a="http://schemas.openxmlformats.org/drawingml/2006/main">
            <a:r>
              <a:t>Timing: 4 minutes.</a:t>
            </a:r>
          </a:p>
          <a:p xmlns:a="http://schemas.openxmlformats.org/drawingml/2006/main">
            <a:r>
              <a:t>4 minutes. File VOC3-L1-E1 and E2 using the evidence app under the approved workflow. Keep actual date, duration, observation and initials blank until taught. Record actual contribution; no challenge-completion or earned-time tick is automatic.</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C8, E8, F8, G8, H8, I8, J8, K8; Challenge map &amp; hours A11, B11, C11, D11, E11, F11, G11, H11, I11, K11, M11, N11; Lesson register B10, E10, F10, G10, H10, I10,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Exit ticket</a:t>
            </a:r>
          </a:p>
          <a:p xmlns:a="http://schemas.openxmlformats.org/drawingml/2006/main">
            <a:r>
              <a:t>Timing: 2 minutes.</a:t>
            </a:r>
          </a:p>
          <a:p xmlns:a="http://schemas.openxmlformats.org/drawingml/2006/main">
            <a:r>
              <a:t>2 minutes. Use a new order from the same training menu, such as one orange juice and one water. Accept a clear spoken, signed or supported communication response. Check exact drink names and amounts; do not assume a neat written script proves accurate communication.</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C8, E8, F8, G8, H8, I8, J8, K8; Challenge map &amp; hours A11, B11, C11, D11, E11, F11, G11, H11, I11, K11, M11, N11; Lesson register B10, E10, F10, G10, H10, I10,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Vocabulary</a:t>
            </a:r>
          </a:p>
          <a:p xmlns:a="http://schemas.openxmlformats.org/drawingml/2006/main">
            <a:r>
              <a:t>Timing: 0 minutes.</a:t>
            </a:r>
          </a:p>
          <a:p xmlns:a="http://schemas.openxmlformats.org/drawingml/2006/main">
            <a:r>
              <a:t>Untimed vocabulary reference. Use the exact practical examples and repeat a phrase before asking for a definition. No personal experience disclosure is needed.</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C8, E8, F8, G8, H8, I8, J8, K8; Challenge map &amp; hours A11, B11, C11, D11, E11, F11, G11, H11, I11, K11, M11, N11; Lesson register B10, E10, F10, G10, H10, I10,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Staff brief</a:t>
            </a:r>
          </a:p>
          <a:p xmlns:a="http://schemas.openxmlformats.org/drawingml/2006/main">
            <a:r>
              <a:t>Timing: 0 minutes.</a:t>
            </a:r>
          </a:p>
          <a:p xmlns:a="http://schemas.openxmlformats.org/drawingml/2006/main">
            <a:r>
              <a:t>Hidden staff slide. Space: quiet station and private pause. Voice: learner chooses useful lines or communication method. Audience: adult listens to the learner. Influence: learner improves one line after feedback. Individual stations. An adult is the customer and observer. No pair work, cold calling or performance in front of the class. Adults may read, rephrase or scribe the learner’s exact words; they record the help and do not choose the learner’s assessed lines, decisions or tips. A model, blank form or planned duration is not completed individual evidence. These are paper-based training role plays. Do not prepare or serve real food or drinks, make a real booking, take payment or use personal customer details. Use the fictional guest codes and practice dates only. An allergy question means pause the order and ask the responsible adult to check the approved allergen information; never guess or promise a food is safe. A spill is discussed only: pause, keep clear and alert the adult. Follow the setting’s agreed safety procedures for any real incident.</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A8, B8, C8, E8, F8, G8, H8, I8, J8, K8; Challenge map &amp; hours A11, B11, C11, D11, E11, F11, G11, H11, I11, K11, M11, N11; Lesson register B10, E10, F10, G10, H10, I10,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21e9fac7d346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cb81a7ba6c43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d6a076c1d604e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c12e88af4a4c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4c24dc988445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cea4d77d1347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963A34-38E8-4F4C-9255-57D247755E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185B64-4720-4C29-B30B-F6940CFF1E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E47693-EB63-4CBC-986E-056526C3D3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97C496-3075-48C7-9A47-4EE592CB08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C8881F-0FB8-4414-AE53-211E79391DD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26A681-3A0E-4467-9A6D-04167369B0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A37C29-5D3A-42A2-904E-A8EEF90315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39E48E4-5140-4112-BF51-5950BB95E9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CE7346-B059-4BAA-82B8-D0E2C1D073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AD1C23-3039-47F9-8817-010EC23AD5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3a1f31c1dc43d6" /><Relationship Type="http://schemas.openxmlformats.org/officeDocument/2006/relationships/slideLayout" Target="/ppt/slideLayouts/slideLayout1.xml" Id="R36222f634ff649f6" /><Relationship Type="http://schemas.openxmlformats.org/officeDocument/2006/relationships/slideLayout" Target="/ppt/slideLayouts/slideLayout2.xml" Id="R50dd2f4afc154de2" /><Relationship Type="http://schemas.openxmlformats.org/officeDocument/2006/relationships/slideLayout" Target="/ppt/slideLayouts/slideLayout3.xml" Id="R36f05747b9c44b64" /><Relationship Type="http://schemas.openxmlformats.org/officeDocument/2006/relationships/slideLayout" Target="/ppt/slideLayouts/slideLayout4.xml" Id="R7fcd78c5cda74dcc" /><Relationship Type="http://schemas.openxmlformats.org/officeDocument/2006/relationships/slideLayout" Target="/ppt/slideLayouts/slideLayout5.xml" Id="R879513cd69a649d6" /><Relationship Type="http://schemas.openxmlformats.org/officeDocument/2006/relationships/slideLayout" Target="/ppt/slideLayouts/slideLayout6.xml" Id="Rf76719e0c1cc41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222f634ff649f6"/>
    <p:sldLayoutId xmlns:r="http://schemas.openxmlformats.org/officeDocument/2006/relationships" id="2147483650" r:id="R50dd2f4afc154de2"/>
    <p:sldLayoutId xmlns:r="http://schemas.openxmlformats.org/officeDocument/2006/relationships" id="2147483651" r:id="R36f05747b9c44b64"/>
    <p:sldLayoutId xmlns:r="http://schemas.openxmlformats.org/officeDocument/2006/relationships" id="2147483652" r:id="R7fcd78c5cda74dcc"/>
    <p:sldLayoutId xmlns:r="http://schemas.openxmlformats.org/officeDocument/2006/relationships" id="2147483653" r:id="R879513cd69a649d6"/>
    <p:sldLayoutId xmlns:r="http://schemas.openxmlformats.org/officeDocument/2006/relationships" id="2147483654" r:id="Rf76719e0c1cc41ce"/>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ca09719945440b" /><Relationship Type="http://schemas.openxmlformats.org/officeDocument/2006/relationships/notesSlide" Target="/ppt/notesSlides/notesSlide1.xml" Id="R63a94e0001d749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beae477f8944681" /><Relationship Type="http://schemas.openxmlformats.org/officeDocument/2006/relationships/notesSlide" Target="/ppt/notesSlides/notesSlide2.xml" Id="Rcc6b0d7cc8bb4e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444a69be35a4692" /><Relationship Type="http://schemas.openxmlformats.org/officeDocument/2006/relationships/notesSlide" Target="/ppt/notesSlides/notesSlide3.xml" Id="R8b497e4be7ef4f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2cfa6b0a1bc4a4d" /><Relationship Type="http://schemas.openxmlformats.org/officeDocument/2006/relationships/notesSlide" Target="/ppt/notesSlides/notesSlide4.xml" Id="R98c697251d3e44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630deb185504afe" /><Relationship Type="http://schemas.openxmlformats.org/officeDocument/2006/relationships/notesSlide" Target="/ppt/notesSlides/notesSlide5.xml" Id="Ra19ab43d5cbf49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0628edebc994b2a" /><Relationship Type="http://schemas.openxmlformats.org/officeDocument/2006/relationships/notesSlide" Target="/ppt/notesSlides/notesSlide6.xml" Id="R22460d81f85e44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ddf1ade8d704bee" /><Relationship Type="http://schemas.openxmlformats.org/officeDocument/2006/relationships/notesSlide" Target="/ppt/notesSlides/notesSlide7.xml" Id="R426164014d754e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38cf4817aff4033" /><Relationship Type="http://schemas.openxmlformats.org/officeDocument/2006/relationships/notesSlide" Target="/ppt/notesSlides/notesSlide8.xml" Id="R83a26b5e478c4f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42cab32433c4c00" /><Relationship Type="http://schemas.openxmlformats.org/officeDocument/2006/relationships/notesSlide" Target="/ppt/notesSlides/notesSlide9.xml" Id="Rf1dc07aab56546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e5c971768884590" /><Relationship Type="http://schemas.openxmlformats.org/officeDocument/2006/relationships/notesSlide" Target="/ppt/notesSlides/notesSlide10.xml" Id="R55a239aa390c4d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e54a1053e0e4b9b" /><Relationship Type="http://schemas.openxmlformats.org/officeDocument/2006/relationships/notesSlide" Target="/ppt/notesSlides/notesSlide11.xml" Id="Re3652b6273ad4d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15dc2499565452d" /><Relationship Type="http://schemas.openxmlformats.org/officeDocument/2006/relationships/notesSlide" Target="/ppt/notesSlides/notesSlide12.xml" Id="Re16ee1b88f694ad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09DFE6-EFAF-41F7-9618-E098212ED49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8A277E3-4222-4AD8-91A6-052C26FB7C0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a:t>
            </a:r>
          </a:p>
        </p:txBody>
      </p:sp>
      <p:sp>
        <p:nvSpPr>
          <p:cNvPr id="3" name="slide-number-time">
            <a:extLst xmlns:a="http://schemas.openxmlformats.org/drawingml/2006/main">
              <a:ext uri="{FF2B5EF4-FFF2-40B4-BE49-F238E27FC236}">
                <a16:creationId xmlns:a16="http://schemas.microsoft.com/office/drawing/2014/main" id="{EDC8D322-A711-4716-A80E-EEE796AFB99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0EF079AF-4915-44E8-8C45-064767BB18D5}"/>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The Theory</a:t>
            </a:r>
          </a:p>
        </p:txBody>
      </p:sp>
      <p:sp>
        <p:nvSpPr>
          <p:cNvPr id="5" name="lesson-subtitle">
            <a:extLst xmlns:a="http://schemas.openxmlformats.org/drawingml/2006/main">
              <a:ext uri="{FF2B5EF4-FFF2-40B4-BE49-F238E27FC236}">
                <a16:creationId xmlns:a16="http://schemas.microsoft.com/office/drawing/2014/main" id="{4733161A-8FD5-4754-B74E-151DBC079FE4}"/>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Customer communication scripts</a:t>
            </a:r>
          </a:p>
        </p:txBody>
      </p:sp>
      <p:sp>
        <p:nvSpPr>
          <p:cNvPr id="8" name="printed-id">
            <a:extLst xmlns:a="http://schemas.openxmlformats.org/drawingml/2006/main">
              <a:ext uri="{FF2B5EF4-FFF2-40B4-BE49-F238E27FC236}">
                <a16:creationId xmlns:a16="http://schemas.microsoft.com/office/drawing/2014/main" id="{A62F79B1-D17C-447A-82D2-747B84847499}"/>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VOC-LAUNCH-A2-W03-L1</a:t>
            </a:r>
          </a:p>
        </p:txBody>
      </p:sp>
      <p:sp>
        <p:nvSpPr>
          <p:cNvPr id="9" name="edition-label">
            <a:extLst xmlns:a="http://schemas.openxmlformats.org/drawingml/2006/main">
              <a:ext uri="{FF2B5EF4-FFF2-40B4-BE49-F238E27FC236}">
                <a16:creationId xmlns:a16="http://schemas.microsoft.com/office/drawing/2014/main" id="{AF2011E7-C77C-47FF-AC30-1ED090AA9D7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0237BBF2-883F-4DC6-AAF6-7E1684DE1A6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2F60207E-C1B1-4DDC-A50D-18CCD7517FF1}"/>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What can we say to help a customer?</a:t>
            </a:r>
          </a:p>
        </p:txBody>
      </p:sp>
      <p:sp>
        <p:nvSpPr>
          <p:cNvPr id="13" name="body-1">
            <a:extLst xmlns:a="http://schemas.openxmlformats.org/drawingml/2006/main">
              <a:ext uri="{FF2B5EF4-FFF2-40B4-BE49-F238E27FC236}">
                <a16:creationId xmlns:a16="http://schemas.microsoft.com/office/drawing/2014/main" id="{768F0A04-FBCE-484E-9A05-2BF18DD5854A}"/>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Read, choose, say or write.</a:t>
            </a:r>
          </a:p>
        </p:txBody>
      </p:sp>
    </p:spTree>
    <p:extLst>
      <p:ext uri="{BB962C8B-B14F-4D97-AF65-F5344CB8AC3E}">
        <p14:creationId xmlns:p14="http://schemas.microsoft.com/office/powerpoint/2010/main" val="14726778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E2FCF559-9307-4376-80EC-7190501FC8D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45EB3D7-7402-4C20-8424-3C1CD8EBDA8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847DEA0-B55D-4001-8E54-AF7668DCE959}"/>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4 min</a:t>
            </a:r>
          </a:p>
        </p:txBody>
      </p:sp>
      <p:sp>
        <p:nvSpPr>
          <p:cNvPr id="4" name="slide-title">
            <a:extLst xmlns:a="http://schemas.openxmlformats.org/drawingml/2006/main">
              <a:ext uri="{FF2B5EF4-FFF2-40B4-BE49-F238E27FC236}">
                <a16:creationId xmlns:a16="http://schemas.microsoft.com/office/drawing/2014/main" id="{518E8864-22F6-442D-98C7-B2E3E24B286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Arrival task</a:t>
            </a:r>
          </a:p>
        </p:txBody>
      </p:sp>
      <p:sp>
        <p:nvSpPr>
          <p:cNvPr id="5" name="heading-rule">
            <a:extLst xmlns:a="http://schemas.openxmlformats.org/drawingml/2006/main">
              <a:ext uri="{FF2B5EF4-FFF2-40B4-BE49-F238E27FC236}">
                <a16:creationId xmlns:a16="http://schemas.microsoft.com/office/drawing/2014/main" id="{8EB4CC26-EF5E-442F-9B97-B80B8D1E0C5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3C0DB8C1-A98C-4C33-9BDE-122A156296A6}"/>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VOC-LAUNCH-A2-W03-L1</a:t>
            </a:r>
          </a:p>
        </p:txBody>
      </p:sp>
      <p:sp>
        <p:nvSpPr>
          <p:cNvPr id="12" name="edition-label">
            <a:extLst xmlns:a="http://schemas.openxmlformats.org/drawingml/2006/main">
              <a:ext uri="{FF2B5EF4-FFF2-40B4-BE49-F238E27FC236}">
                <a16:creationId xmlns:a16="http://schemas.microsoft.com/office/drawing/2014/main" id="{E2F12534-A484-4A1D-AF53-00C0E8C53CC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4E71ED8A-618F-4BCD-8507-5A41198C71E4}"/>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2BADF3DD-C483-4EEA-8D77-BEB42115E1E2}"/>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Name one product and one service.</a:t>
            </a:r>
          </a:p>
        </p:txBody>
      </p:sp>
      <p:sp>
        <p:nvSpPr>
          <p:cNvPr id="16" name="body-1">
            <a:extLst xmlns:a="http://schemas.openxmlformats.org/drawingml/2006/main">
              <a:ext uri="{FF2B5EF4-FFF2-40B4-BE49-F238E27FC236}">
                <a16:creationId xmlns:a16="http://schemas.microsoft.com/office/drawing/2014/main" id="{EDF4156F-E1AD-4DDD-A507-BDBADBD364CF}"/>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does polite mean?</a:t>
            </a:r>
          </a:p>
        </p:txBody>
      </p:sp>
      <p:sp>
        <p:nvSpPr>
          <p:cNvPr id="17" name="body-2">
            <a:extLst xmlns:a="http://schemas.openxmlformats.org/drawingml/2006/main">
              <a:ext uri="{FF2B5EF4-FFF2-40B4-BE49-F238E27FC236}">
                <a16:creationId xmlns:a16="http://schemas.microsoft.com/office/drawing/2014/main" id="{563A25C6-3F35-4171-8567-FF7A82DF2027}"/>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 customer mentions an allergy. What do you do?</a:t>
            </a:r>
          </a:p>
        </p:txBody>
      </p:sp>
      <p:sp>
        <p:nvSpPr>
          <p:cNvPr id="18" name="body-3">
            <a:extLst xmlns:a="http://schemas.openxmlformats.org/drawingml/2006/main">
              <a:ext uri="{FF2B5EF4-FFF2-40B4-BE49-F238E27FC236}">
                <a16:creationId xmlns:a16="http://schemas.microsoft.com/office/drawing/2014/main" id="{0250D032-E833-442E-ADA3-8F66030C2A3F}"/>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Why repeat an order back?</a:t>
            </a:r>
          </a:p>
        </p:txBody>
      </p:sp>
      <p:sp>
        <p:nvSpPr>
          <p:cNvPr id="19" name="body-4">
            <a:extLst xmlns:a="http://schemas.openxmlformats.org/drawingml/2006/main">
              <a:ext uri="{FF2B5EF4-FFF2-40B4-BE49-F238E27FC236}">
                <a16:creationId xmlns:a16="http://schemas.microsoft.com/office/drawing/2014/main" id="{7CC89FC3-536B-4D62-AEB4-6F31C2E459DE}"/>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BLUE / GREEN / AMBER / RED. Choose a pause or quiet station.</a:t>
            </a:r>
          </a:p>
        </p:txBody>
      </p:sp>
    </p:spTree>
    <p:extLst>
      <p:ext uri="{BB962C8B-B14F-4D97-AF65-F5344CB8AC3E}">
        <p14:creationId xmlns:p14="http://schemas.microsoft.com/office/powerpoint/2010/main" val="8601679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3A021701-9E20-4A6D-9A48-AD38DFAF3C4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E3AE5FF-4287-4B7C-B215-8CAAFE62FFD5}"/>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RETRIEVAL AND STARTER</a:t>
            </a:r>
          </a:p>
        </p:txBody>
      </p:sp>
      <p:sp>
        <p:nvSpPr>
          <p:cNvPr id="3" name="slide-number-time">
            <a:extLst xmlns:a="http://schemas.openxmlformats.org/drawingml/2006/main">
              <a:ext uri="{FF2B5EF4-FFF2-40B4-BE49-F238E27FC236}">
                <a16:creationId xmlns:a16="http://schemas.microsoft.com/office/drawing/2014/main" id="{5B34A199-16A2-40B3-93F4-E8DC4CB800C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2 min</a:t>
            </a:r>
          </a:p>
        </p:txBody>
      </p:sp>
      <p:sp>
        <p:nvSpPr>
          <p:cNvPr id="4" name="slide-title">
            <a:extLst xmlns:a="http://schemas.openxmlformats.org/drawingml/2006/main">
              <a:ext uri="{FF2B5EF4-FFF2-40B4-BE49-F238E27FC236}">
                <a16:creationId xmlns:a16="http://schemas.microsoft.com/office/drawing/2014/main" id="{A6FD493D-0A9C-4177-8AF4-B00EDD1AAE5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Which greeting helps?</a:t>
            </a:r>
          </a:p>
        </p:txBody>
      </p:sp>
      <p:sp>
        <p:nvSpPr>
          <p:cNvPr id="5" name="heading-rule">
            <a:extLst xmlns:a="http://schemas.openxmlformats.org/drawingml/2006/main">
              <a:ext uri="{FF2B5EF4-FFF2-40B4-BE49-F238E27FC236}">
                <a16:creationId xmlns:a16="http://schemas.microsoft.com/office/drawing/2014/main" id="{F82BE440-5375-4F35-ADAF-437E2ABC0E6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1A0A455-7C04-4E2A-960A-DFD0650EBAB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VOC-LAUNCH-A2-W03-L1</a:t>
            </a:r>
          </a:p>
        </p:txBody>
      </p:sp>
      <p:sp>
        <p:nvSpPr>
          <p:cNvPr id="15" name="edition-label">
            <a:extLst xmlns:a="http://schemas.openxmlformats.org/drawingml/2006/main">
              <a:ext uri="{FF2B5EF4-FFF2-40B4-BE49-F238E27FC236}">
                <a16:creationId xmlns:a16="http://schemas.microsoft.com/office/drawing/2014/main" id="{80190B93-2A2E-42BD-8AA1-E708D54DB0F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90C713F6-C06A-43B2-8504-42FDC153981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379728AE-7E93-4323-B270-2739B5D1DA3D}"/>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0671766F-B2AF-4E27-B10A-AE271A6A43F7}"/>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A: What do you want? Hurry up.</a:t>
            </a:r>
          </a:p>
        </p:txBody>
      </p:sp>
      <p:sp>
        <p:nvSpPr>
          <p:cNvPr id="20" name="step-number-1">
            <a:extLst xmlns:a="http://schemas.openxmlformats.org/drawingml/2006/main">
              <a:ext uri="{FF2B5EF4-FFF2-40B4-BE49-F238E27FC236}">
                <a16:creationId xmlns:a16="http://schemas.microsoft.com/office/drawing/2014/main" id="{913B310A-7B99-477D-89D0-ACF111E9FF1D}"/>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674A2BE7-D34E-4165-8326-25725DA3F514}"/>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B: Hello. Welcome. How can I help you?</a:t>
            </a:r>
          </a:p>
        </p:txBody>
      </p:sp>
      <p:sp>
        <p:nvSpPr>
          <p:cNvPr id="22" name="step-number-2">
            <a:extLst xmlns:a="http://schemas.openxmlformats.org/drawingml/2006/main">
              <a:ext uri="{FF2B5EF4-FFF2-40B4-BE49-F238E27FC236}">
                <a16:creationId xmlns:a16="http://schemas.microsoft.com/office/drawing/2014/main" id="{D199B93E-D75B-41C8-89B7-A27551D2E05C}"/>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1325B3BA-54B6-4875-AD38-2B691DF5DE0E}"/>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Which greeting would make you come back? Why?</a:t>
            </a:r>
          </a:p>
        </p:txBody>
      </p:sp>
    </p:spTree>
    <p:extLst>
      <p:ext uri="{BB962C8B-B14F-4D97-AF65-F5344CB8AC3E}">
        <p14:creationId xmlns:p14="http://schemas.microsoft.com/office/powerpoint/2010/main" val="8357239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177C9D54-3CEE-4FB0-9232-6CAB46E8341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DFFAEDE-5D5E-4223-8D76-717C74429D6A}"/>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D82B6EA8-C732-49C3-8655-2B2A3C29E25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33922DCF-3DD7-4C95-A91B-55810C83AF3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 I can</a:t>
            </a:r>
          </a:p>
        </p:txBody>
      </p:sp>
      <p:sp>
        <p:nvSpPr>
          <p:cNvPr id="5" name="heading-rule">
            <a:extLst xmlns:a="http://schemas.openxmlformats.org/drawingml/2006/main">
              <a:ext uri="{FF2B5EF4-FFF2-40B4-BE49-F238E27FC236}">
                <a16:creationId xmlns:a16="http://schemas.microsoft.com/office/drawing/2014/main" id="{77BF3CF2-E5EA-4F2E-BBE9-4C959E02C1B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C8FC94E4-EF9D-4B4C-854F-855FD88330D1}"/>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VOC-LAUNCH-A2-W03-L1</a:t>
            </a:r>
          </a:p>
        </p:txBody>
      </p:sp>
      <p:sp>
        <p:nvSpPr>
          <p:cNvPr id="11" name="edition-label">
            <a:extLst xmlns:a="http://schemas.openxmlformats.org/drawingml/2006/main">
              <a:ext uri="{FF2B5EF4-FFF2-40B4-BE49-F238E27FC236}">
                <a16:creationId xmlns:a16="http://schemas.microsoft.com/office/drawing/2014/main" id="{72F305FC-1F2C-4085-8EB4-04063FDB041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9D2C3646-72EA-47F9-B66F-46E4E48D985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AA4DF27A-C2A3-409C-AC39-E3CCB639D24F}"/>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Build a service script for greeting, taking a drink order, booking a room and handling a complaint.</a:t>
            </a:r>
          </a:p>
        </p:txBody>
      </p:sp>
      <p:sp>
        <p:nvSpPr>
          <p:cNvPr id="15" name="body-1">
            <a:extLst xmlns:a="http://schemas.openxmlformats.org/drawingml/2006/main">
              <a:ext uri="{FF2B5EF4-FFF2-40B4-BE49-F238E27FC236}">
                <a16:creationId xmlns:a16="http://schemas.microsoft.com/office/drawing/2014/main" id="{D3C931A2-8D83-45FE-B830-A94F66E73C07}"/>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choose a useful line for each situation.</a:t>
            </a:r>
          </a:p>
        </p:txBody>
      </p:sp>
      <p:sp>
        <p:nvSpPr>
          <p:cNvPr id="16" name="body-2">
            <a:extLst xmlns:a="http://schemas.openxmlformats.org/drawingml/2006/main">
              <a:ext uri="{FF2B5EF4-FFF2-40B4-BE49-F238E27FC236}">
                <a16:creationId xmlns:a16="http://schemas.microsoft.com/office/drawing/2014/main" id="{EF9F8ED8-72F9-470C-B594-0E8748EF922C}"/>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check an order and booking details.</a:t>
            </a:r>
          </a:p>
        </p:txBody>
      </p:sp>
      <p:sp>
        <p:nvSpPr>
          <p:cNvPr id="17" name="body-3">
            <a:extLst xmlns:a="http://schemas.openxmlformats.org/drawingml/2006/main">
              <a:ext uri="{FF2B5EF4-FFF2-40B4-BE49-F238E27FC236}">
                <a16:creationId xmlns:a16="http://schemas.microsoft.com/office/drawing/2014/main" id="{C209FBEA-216F-4C58-9F72-1D7C130D3865}"/>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rehearse quietly with an adult.</a:t>
            </a:r>
          </a:p>
        </p:txBody>
      </p:sp>
    </p:spTree>
    <p:extLst>
      <p:ext uri="{BB962C8B-B14F-4D97-AF65-F5344CB8AC3E}">
        <p14:creationId xmlns:p14="http://schemas.microsoft.com/office/powerpoint/2010/main" val="14081503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19821A47-F1BE-48BD-8CCF-6E4E774E174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3427227-B9CA-4D2A-A997-EA9CAD85E543}"/>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0DC3206F-8F1E-4976-8962-E730579602F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8497E868-A88D-470E-925F-63DEE412DD3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Four useful script lines</a:t>
            </a:r>
          </a:p>
        </p:txBody>
      </p:sp>
      <p:sp>
        <p:nvSpPr>
          <p:cNvPr id="5" name="heading-rule">
            <a:extLst xmlns:a="http://schemas.openxmlformats.org/drawingml/2006/main">
              <a:ext uri="{FF2B5EF4-FFF2-40B4-BE49-F238E27FC236}">
                <a16:creationId xmlns:a16="http://schemas.microsoft.com/office/drawing/2014/main" id="{E8CC9F58-527A-43F8-925D-CF226325DCD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0FCE267F-309A-4565-8B17-90685C5303C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VOC-LAUNCH-A2-W03-L1</a:t>
            </a:r>
          </a:p>
        </p:txBody>
      </p:sp>
      <p:sp>
        <p:nvSpPr>
          <p:cNvPr id="21" name="edition-label">
            <a:extLst xmlns:a="http://schemas.openxmlformats.org/drawingml/2006/main">
              <a:ext uri="{FF2B5EF4-FFF2-40B4-BE49-F238E27FC236}">
                <a16:creationId xmlns:a16="http://schemas.microsoft.com/office/drawing/2014/main" id="{8E937393-EE44-4223-830E-3467A7378F2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C9BF86AB-39F4-425B-88D4-98C665B261E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graphicFrame>
        <p:nvGraphicFramePr>
          <p:cNvPr id="24" name="">
            <a:extLst xmlns:a="http://schemas.openxmlformats.org/drawingml/2006/main">
              <a:ext uri="{FF2B5EF4-FFF2-40B4-BE49-F238E27FC236}">
                <a16:creationId xmlns:a16="http://schemas.microsoft.com/office/drawing/2014/main" id="{606EF87B-6B0F-466F-991B-03048D644B52}"/>
              </a:ext>
            </a:extLst>
          </p:cNvPr>
          <p:cNvGraphicFramePr/>
          <p:nvPr/>
        </p:nvGraphicFramePr>
        <p:xfrm>
          <a:off xmlns:a="http://schemas.openxmlformats.org/drawingml/2006/main" x="609600" y="1676400"/>
          <a:ext xmlns:a="http://schemas.openxmlformats.org/drawingml/2006/main" cx="10972800" cy="3619500"/>
        </p:xfrm>
        <a:graphic xmlns:a="http://schemas.openxmlformats.org/drawingml/2006/main">
          <a:graphicData uri="http://schemas.openxmlformats.org/drawingml/2006/table">
            <a:tbl>
              <a:tblPr firstRow="1" firstCol="0" bandRow="0"/>
              <a:tblGrid>
                <a:gridCol w="2438400"/>
                <a:gridCol w="8534400"/>
              </a:tblGrid>
              <a:tr h="438150">
                <a:tc>
                  <a:txBody>
                    <a:bodyPr wrap="square" lIns="114300" tIns="66675" rIns="114300" bIns="66675">
                      <a:noAutofit/>
                    </a:bodyPr>
                    <a:lstStyle/>
                    <a:p>
                      <a:pPr algn="l"/>
                      <a:r>
                        <a:rPr sz="2100" b="1">
                          <a:solidFill>
                            <a:srgbClr val="146B68"/>
                          </a:solidFill>
                          <a:latin typeface="Arial"/>
                          <a:ea typeface="Arial"/>
                          <a:cs typeface="Arial"/>
                        </a:rPr>
                        <a:t>Situation</a:t>
                      </a:r>
                    </a:p>
                  </a:txBody>
                  <a:tcPr marL="91440" marR="91440" marT="45720" marB="45720" anchor="ctr">
                    <a:lnL w="9525">
                      <a:solidFill>
                        <a:srgbClr val="D7E0E4"/>
                      </a:solidFill>
                      <a:prstDash val="solid"/>
                    </a:lnL>
                    <a:lnR w="9525">
                      <a:solidFill>
                        <a:srgbClr val="D7E0E4"/>
                      </a:solidFill>
                      <a:prstDash val="solid"/>
                    </a:lnR>
                    <a:lnT w="9525">
                      <a:solidFill>
                        <a:srgbClr val="D7E0E4"/>
                      </a:solidFill>
                      <a:prstDash val="solid"/>
                    </a:lnT>
                    <a:lnB w="9525">
                      <a:solidFill>
                        <a:srgbClr val="D7E0E4"/>
                      </a:solidFill>
                      <a:prstDash val="solid"/>
                    </a:lnB>
                    <a:solidFill>
                      <a:srgbClr val="FFFFFF"/>
                    </a:solidFill>
                  </a:tcPr>
                </a:tc>
                <a:tc>
                  <a:txBody>
                    <a:bodyPr wrap="square" lIns="114300" tIns="66675" rIns="114300" bIns="66675">
                      <a:noAutofit/>
                    </a:bodyPr>
                    <a:lstStyle/>
                    <a:p>
                      <a:pPr algn="l"/>
                      <a:r>
                        <a:rPr sz="2100" b="1">
                          <a:solidFill>
                            <a:srgbClr val="146B68"/>
                          </a:solidFill>
                          <a:latin typeface="Arial"/>
                          <a:ea typeface="Arial"/>
                          <a:cs typeface="Arial"/>
                        </a:rPr>
                        <a:t>Useful line</a:t>
                      </a:r>
                    </a:p>
                  </a:txBody>
                  <a:tcPr marL="91440" marR="91440" marT="45720" marB="45720" anchor="ctr">
                    <a:lnR w="9525">
                      <a:solidFill>
                        <a:srgbClr val="D7E0E4"/>
                      </a:solidFill>
                      <a:prstDash val="solid"/>
                    </a:lnR>
                    <a:lnT w="9525">
                      <a:solidFill>
                        <a:srgbClr val="D7E0E4"/>
                      </a:solidFill>
                      <a:prstDash val="solid"/>
                    </a:lnT>
                    <a:lnB w="9525">
                      <a:solidFill>
                        <a:srgbClr val="D7E0E4"/>
                      </a:solidFill>
                      <a:prstDash val="solid"/>
                    </a:lnB>
                    <a:solidFill>
                      <a:srgbClr val="FFFFFF"/>
                    </a:solidFill>
                  </a:tcPr>
                </a:tc>
              </a:tr>
              <a:tr h="795338">
                <a:tc>
                  <a:txBody>
                    <a:bodyPr wrap="square" lIns="114300" tIns="66675" rIns="114300" bIns="66675">
                      <a:noAutofit/>
                    </a:bodyPr>
                    <a:lstStyle/>
                    <a:p>
                      <a:pPr algn="l"/>
                      <a:r>
                        <a:rPr sz="1950" b="1">
                          <a:solidFill>
                            <a:srgbClr val="17384A"/>
                          </a:solidFill>
                          <a:latin typeface="Arial"/>
                          <a:ea typeface="Arial"/>
                          <a:cs typeface="Arial"/>
                        </a:rPr>
                        <a:t>Greeting</a:t>
                      </a:r>
                    </a:p>
                  </a:txBody>
                  <a:tcPr marL="91440" marR="91440" marT="45720" marB="45720" anchor="ctr">
                    <a:lnL w="9525">
                      <a:solidFill>
                        <a:srgbClr val="D7E0E4"/>
                      </a:solidFill>
                      <a:prstDash val="solid"/>
                    </a:lnL>
                    <a:lnR w="9525">
                      <a:solidFill>
                        <a:srgbClr val="D7E0E4"/>
                      </a:solidFill>
                      <a:prstDash val="solid"/>
                    </a:lnR>
                    <a:lnB w="9525">
                      <a:solidFill>
                        <a:srgbClr val="D7E0E4"/>
                      </a:solidFill>
                      <a:prstDash val="solid"/>
                    </a:lnB>
                    <a:solidFill>
                      <a:srgbClr val="FFFFFF"/>
                    </a:solidFill>
                  </a:tcPr>
                </a:tc>
                <a:tc>
                  <a:txBody>
                    <a:bodyPr wrap="square" lIns="114300" tIns="66675" rIns="114300" bIns="66675">
                      <a:noAutofit/>
                    </a:bodyPr>
                    <a:lstStyle/>
                    <a:p>
                      <a:pPr algn="l"/>
                      <a:r>
                        <a:rPr sz="1950" b="0">
                          <a:solidFill>
                            <a:srgbClr val="17384A"/>
                          </a:solidFill>
                          <a:latin typeface="Arial"/>
                          <a:ea typeface="Arial"/>
                          <a:cs typeface="Arial"/>
                        </a:rPr>
                        <a:t>Hello. Welcome. How can I help you?</a:t>
                      </a:r>
                    </a:p>
                  </a:txBody>
                  <a:tcPr marL="91440" marR="91440" marT="45720" marB="45720" anchor="ctr">
                    <a:lnR w="9525">
                      <a:solidFill>
                        <a:srgbClr val="D7E0E4"/>
                      </a:solidFill>
                      <a:prstDash val="solid"/>
                    </a:lnR>
                    <a:lnB w="9525">
                      <a:solidFill>
                        <a:srgbClr val="D7E0E4"/>
                      </a:solidFill>
                      <a:prstDash val="solid"/>
                    </a:lnB>
                    <a:solidFill>
                      <a:srgbClr val="FFFFFF"/>
                    </a:solidFill>
                  </a:tcPr>
                </a:tc>
              </a:tr>
              <a:tr h="795338">
                <a:tc>
                  <a:txBody>
                    <a:bodyPr wrap="square" lIns="114300" tIns="66675" rIns="114300" bIns="66675">
                      <a:noAutofit/>
                    </a:bodyPr>
                    <a:lstStyle/>
                    <a:p>
                      <a:pPr algn="l"/>
                      <a:r>
                        <a:rPr sz="1950" b="1">
                          <a:solidFill>
                            <a:srgbClr val="17384A"/>
                          </a:solidFill>
                          <a:latin typeface="Arial"/>
                          <a:ea typeface="Arial"/>
                          <a:cs typeface="Arial"/>
                        </a:rPr>
                        <a:t>Drink order</a:t>
                      </a:r>
                    </a:p>
                  </a:txBody>
                  <a:tcPr marL="91440" marR="91440" marT="45720" marB="45720" anchor="ctr">
                    <a:lnL w="9525">
                      <a:solidFill>
                        <a:srgbClr val="D7E0E4"/>
                      </a:solidFill>
                      <a:prstDash val="solid"/>
                    </a:lnL>
                    <a:lnR w="9525">
                      <a:solidFill>
                        <a:srgbClr val="D7E0E4"/>
                      </a:solidFill>
                      <a:prstDash val="solid"/>
                    </a:lnR>
                    <a:lnB w="9525">
                      <a:solidFill>
                        <a:srgbClr val="D7E0E4"/>
                      </a:solidFill>
                      <a:prstDash val="solid"/>
                    </a:lnB>
                    <a:solidFill>
                      <a:srgbClr val="FFFFFF"/>
                    </a:solidFill>
                  </a:tcPr>
                </a:tc>
                <a:tc>
                  <a:txBody>
                    <a:bodyPr wrap="square" lIns="114300" tIns="66675" rIns="114300" bIns="66675">
                      <a:noAutofit/>
                    </a:bodyPr>
                    <a:lstStyle/>
                    <a:p>
                      <a:pPr algn="l"/>
                      <a:r>
                        <a:rPr sz="1950" b="0">
                          <a:solidFill>
                            <a:srgbClr val="17384A"/>
                          </a:solidFill>
                          <a:latin typeface="Arial"/>
                          <a:ea typeface="Arial"/>
                          <a:cs typeface="Arial"/>
                        </a:rPr>
                        <a:t>One tea and one water. Is that right?</a:t>
                      </a:r>
                    </a:p>
                  </a:txBody>
                  <a:tcPr marL="91440" marR="91440" marT="45720" marB="45720" anchor="ctr">
                    <a:lnR w="9525">
                      <a:solidFill>
                        <a:srgbClr val="D7E0E4"/>
                      </a:solidFill>
                      <a:prstDash val="solid"/>
                    </a:lnR>
                    <a:lnB w="9525">
                      <a:solidFill>
                        <a:srgbClr val="D7E0E4"/>
                      </a:solidFill>
                      <a:prstDash val="solid"/>
                    </a:lnB>
                    <a:solidFill>
                      <a:srgbClr val="FFFFFF"/>
                    </a:solidFill>
                  </a:tcPr>
                </a:tc>
              </a:tr>
              <a:tr h="795338">
                <a:tc>
                  <a:txBody>
                    <a:bodyPr wrap="square" lIns="114300" tIns="66675" rIns="114300" bIns="66675">
                      <a:noAutofit/>
                    </a:bodyPr>
                    <a:lstStyle/>
                    <a:p>
                      <a:pPr algn="l"/>
                      <a:r>
                        <a:rPr sz="1950" b="1">
                          <a:solidFill>
                            <a:srgbClr val="17384A"/>
                          </a:solidFill>
                          <a:latin typeface="Arial"/>
                          <a:ea typeface="Arial"/>
                          <a:cs typeface="Arial"/>
                        </a:rPr>
                        <a:t>Room booking</a:t>
                      </a:r>
                    </a:p>
                  </a:txBody>
                  <a:tcPr marL="91440" marR="91440" marT="45720" marB="45720" anchor="ctr">
                    <a:lnL w="9525">
                      <a:solidFill>
                        <a:srgbClr val="D7E0E4"/>
                      </a:solidFill>
                      <a:prstDash val="solid"/>
                    </a:lnL>
                    <a:lnR w="9525">
                      <a:solidFill>
                        <a:srgbClr val="D7E0E4"/>
                      </a:solidFill>
                      <a:prstDash val="solid"/>
                    </a:lnR>
                    <a:lnB w="9525">
                      <a:solidFill>
                        <a:srgbClr val="D7E0E4"/>
                      </a:solidFill>
                      <a:prstDash val="solid"/>
                    </a:lnB>
                    <a:solidFill>
                      <a:srgbClr val="FFFFFF"/>
                    </a:solidFill>
                  </a:tcPr>
                </a:tc>
                <a:tc>
                  <a:txBody>
                    <a:bodyPr wrap="square" lIns="114300" tIns="66675" rIns="114300" bIns="66675">
                      <a:noAutofit/>
                    </a:bodyPr>
                    <a:lstStyle/>
                    <a:p>
                      <a:pPr algn="l"/>
                      <a:r>
                        <a:rPr sz="1950" b="0">
                          <a:solidFill>
                            <a:srgbClr val="17384A"/>
                          </a:solidFill>
                          <a:latin typeface="Arial"/>
                          <a:ea typeface="Arial"/>
                          <a:cs typeface="Arial"/>
                        </a:rPr>
                        <a:t>May I check: Guest A, arrival 14 June, two nights. Is that right?</a:t>
                      </a:r>
                    </a:p>
                  </a:txBody>
                  <a:tcPr marL="91440" marR="91440" marT="45720" marB="45720" anchor="ctr">
                    <a:lnR w="9525">
                      <a:solidFill>
                        <a:srgbClr val="D7E0E4"/>
                      </a:solidFill>
                      <a:prstDash val="solid"/>
                    </a:lnR>
                    <a:lnB w="9525">
                      <a:solidFill>
                        <a:srgbClr val="D7E0E4"/>
                      </a:solidFill>
                      <a:prstDash val="solid"/>
                    </a:lnB>
                    <a:solidFill>
                      <a:srgbClr val="FFFFFF"/>
                    </a:solidFill>
                  </a:tcPr>
                </a:tc>
              </a:tr>
              <a:tr h="795338">
                <a:tc>
                  <a:txBody>
                    <a:bodyPr wrap="square" lIns="114300" tIns="66675" rIns="114300" bIns="66675">
                      <a:noAutofit/>
                    </a:bodyPr>
                    <a:lstStyle/>
                    <a:p>
                      <a:pPr algn="l"/>
                      <a:r>
                        <a:rPr sz="1950" b="1">
                          <a:solidFill>
                            <a:srgbClr val="17384A"/>
                          </a:solidFill>
                          <a:latin typeface="Arial"/>
                          <a:ea typeface="Arial"/>
                          <a:cs typeface="Arial"/>
                        </a:rPr>
                        <a:t>Complaint</a:t>
                      </a:r>
                    </a:p>
                  </a:txBody>
                  <a:tcPr marL="91440" marR="91440" marT="45720" marB="45720" anchor="ctr">
                    <a:lnL w="9525">
                      <a:solidFill>
                        <a:srgbClr val="D7E0E4"/>
                      </a:solidFill>
                      <a:prstDash val="solid"/>
                    </a:lnL>
                    <a:lnR w="9525">
                      <a:solidFill>
                        <a:srgbClr val="D7E0E4"/>
                      </a:solidFill>
                      <a:prstDash val="solid"/>
                    </a:lnR>
                    <a:lnB w="9525">
                      <a:solidFill>
                        <a:srgbClr val="D7E0E4"/>
                      </a:solidFill>
                      <a:prstDash val="solid"/>
                    </a:lnB>
                    <a:solidFill>
                      <a:srgbClr val="FFFFFF"/>
                    </a:solidFill>
                  </a:tcPr>
                </a:tc>
                <a:tc>
                  <a:txBody>
                    <a:bodyPr wrap="square" lIns="114300" tIns="66675" rIns="114300" bIns="66675">
                      <a:noAutofit/>
                    </a:bodyPr>
                    <a:lstStyle/>
                    <a:p>
                      <a:pPr algn="l"/>
                      <a:r>
                        <a:rPr sz="1950" b="0">
                          <a:solidFill>
                            <a:srgbClr val="17384A"/>
                          </a:solidFill>
                          <a:latin typeface="Arial"/>
                          <a:ea typeface="Arial"/>
                          <a:cs typeface="Arial"/>
                        </a:rPr>
                        <a:t>I am sorry. Please tell me what went wrong. I can ask the responsible adult about a replacement.</a:t>
                      </a:r>
                    </a:p>
                  </a:txBody>
                  <a:tcPr marL="91440" marR="91440" marT="45720" marB="45720" anchor="ctr">
                    <a:lnR w="9525">
                      <a:solidFill>
                        <a:srgbClr val="D7E0E4"/>
                      </a:solidFill>
                      <a:prstDash val="solid"/>
                    </a:lnR>
                    <a:lnB w="9525">
                      <a:solidFill>
                        <a:srgbClr val="D7E0E4"/>
                      </a:solidFill>
                      <a:prstDash val="solid"/>
                    </a:lnB>
                    <a:solidFill>
                      <a:srgbClr val="FFFFFF"/>
                    </a:solidFill>
                  </a:tcPr>
                </a:tc>
              </a:tr>
            </a:tbl>
          </a:graphicData>
        </a:graphic>
      </p:graphicFrame>
      <p:sp>
        <p:nvSpPr>
          <p:cNvPr id="25" name="diagram-table-prompt">
            <a:extLst xmlns:a="http://schemas.openxmlformats.org/drawingml/2006/main">
              <a:ext uri="{FF2B5EF4-FFF2-40B4-BE49-F238E27FC236}">
                <a16:creationId xmlns:a16="http://schemas.microsoft.com/office/drawing/2014/main" id="{2FB07957-159D-46A2-8D6A-D9079B5DFBAF}"/>
              </a:ext>
            </a:extLst>
          </p:cNvPr>
          <p:cNvSpPr>
            <a:spLocks xmlns:a="http://schemas.openxmlformats.org/drawingml/2006/main" noGrp="1"/>
          </p:cNvSpPr>
          <p:nvPr/>
        </p:nvSpPr>
        <p:spPr>
          <a:xfrm xmlns:a="http://schemas.openxmlformats.org/drawingml/2006/main">
            <a:off x="609600" y="55245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a:p xmlns:a="http://schemas.openxmlformats.org/drawingml/2006/main">
            <a:pPr algn="l">
              <a:defRPr sz="2025" b="0">
                <a:solidFill>
                  <a:srgbClr val="146B68"/>
                </a:solidFill>
                <a:latin typeface="Arial"/>
                <a:ea typeface="Arial"/>
                <a:cs typeface="Arial"/>
              </a:defRPr>
            </a:pPr>
            <a:r>
              <a:rPr sz="2025" b="0">
                <a:solidFill>
                  <a:srgbClr val="146B68"/>
                </a:solidFill>
                <a:latin typeface="Arial"/>
                <a:ea typeface="Arial"/>
                <a:cs typeface="Arial"/>
              </a:rPr>
              <a:t>Listen. Offer an agreed fix. Refer when needed.</a:t>
            </a:r>
          </a:p>
        </p:txBody>
      </p:sp>
    </p:spTree>
    <p:extLst>
      <p:ext uri="{BB962C8B-B14F-4D97-AF65-F5344CB8AC3E}">
        <p14:creationId xmlns:p14="http://schemas.microsoft.com/office/powerpoint/2010/main" val="12474395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1F0DE700-D20B-4ADF-9A03-E6E2B8EFB67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A9800357-F019-44E0-8377-096732CF7106}"/>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9D1E2E12-5220-42DC-A226-ACACFB1908F7}"/>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9D10A198-70DD-43E4-B8EE-1AA8EC63938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Build the script together</a:t>
            </a:r>
          </a:p>
        </p:txBody>
      </p:sp>
      <p:sp>
        <p:nvSpPr>
          <p:cNvPr id="5" name="heading-rule">
            <a:extLst xmlns:a="http://schemas.openxmlformats.org/drawingml/2006/main">
              <a:ext uri="{FF2B5EF4-FFF2-40B4-BE49-F238E27FC236}">
                <a16:creationId xmlns:a16="http://schemas.microsoft.com/office/drawing/2014/main" id="{89CBC809-66A7-40DB-90FC-E5827C0A634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9CAE5AA7-BE53-4B67-A54A-DC39CCB67F7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VOC-LAUNCH-A2-W03-L1</a:t>
            </a:r>
          </a:p>
        </p:txBody>
      </p:sp>
      <p:sp>
        <p:nvSpPr>
          <p:cNvPr id="11" name="edition-label">
            <a:extLst xmlns:a="http://schemas.openxmlformats.org/drawingml/2006/main">
              <a:ext uri="{FF2B5EF4-FFF2-40B4-BE49-F238E27FC236}">
                <a16:creationId xmlns:a16="http://schemas.microsoft.com/office/drawing/2014/main" id="{5C085E59-F251-46A8-B029-58D5414C928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D1C6F318-8B16-48BB-A909-846B090C841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951B7F0-4395-4C9A-B50C-023090B9D9AB}"/>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Choose one line we can use for each situation.</a:t>
            </a:r>
          </a:p>
        </p:txBody>
      </p:sp>
      <p:sp>
        <p:nvSpPr>
          <p:cNvPr id="15" name="body-1">
            <a:extLst xmlns:a="http://schemas.openxmlformats.org/drawingml/2006/main">
              <a:ext uri="{FF2B5EF4-FFF2-40B4-BE49-F238E27FC236}">
                <a16:creationId xmlns:a16="http://schemas.microsoft.com/office/drawing/2014/main" id="{AD0B24C1-E416-404C-B3AF-0F3D6071CFE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What must we repeat in a drink order?</a:t>
            </a:r>
          </a:p>
        </p:txBody>
      </p:sp>
      <p:sp>
        <p:nvSpPr>
          <p:cNvPr id="16" name="body-2">
            <a:extLst xmlns:a="http://schemas.openxmlformats.org/drawingml/2006/main">
              <a:ext uri="{FF2B5EF4-FFF2-40B4-BE49-F238E27FC236}">
                <a16:creationId xmlns:a16="http://schemas.microsoft.com/office/drawing/2014/main" id="{33C15939-8F1A-44CB-A4DC-00F37EDE3810}"/>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Which three details do we check for a room?</a:t>
            </a:r>
          </a:p>
        </p:txBody>
      </p:sp>
      <p:sp>
        <p:nvSpPr>
          <p:cNvPr id="17" name="body-3">
            <a:extLst xmlns:a="http://schemas.openxmlformats.org/drawingml/2006/main">
              <a:ext uri="{FF2B5EF4-FFF2-40B4-BE49-F238E27FC236}">
                <a16:creationId xmlns:a16="http://schemas.microsoft.com/office/drawing/2014/main" id="{AF49FAAE-48CC-4681-A266-37A60756FCD5}"/>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How can we respond to a complaint calmly?</a:t>
            </a:r>
          </a:p>
        </p:txBody>
      </p:sp>
    </p:spTree>
    <p:extLst>
      <p:ext uri="{BB962C8B-B14F-4D97-AF65-F5344CB8AC3E}">
        <p14:creationId xmlns:p14="http://schemas.microsoft.com/office/powerpoint/2010/main" val="12308335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8A926718-8930-4448-8922-C0C56AAF888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59E4089-4628-4D22-BF0E-757F2B2821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337FE081-EBA6-405B-A5AA-724CEEC72A27}"/>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CF34F63F-3844-49B5-8856-F27A49D886C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Your four-situation script</a:t>
            </a:r>
          </a:p>
        </p:txBody>
      </p:sp>
      <p:sp>
        <p:nvSpPr>
          <p:cNvPr id="5" name="heading-rule">
            <a:extLst xmlns:a="http://schemas.openxmlformats.org/drawingml/2006/main">
              <a:ext uri="{FF2B5EF4-FFF2-40B4-BE49-F238E27FC236}">
                <a16:creationId xmlns:a16="http://schemas.microsoft.com/office/drawing/2014/main" id="{9DB73DE2-DA30-4E7E-B837-377C6A3F3E7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8CE9244B-6B14-4666-B878-51DA8F98BB3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VOC-LAUNCH-A2-W03-L1</a:t>
            </a:r>
          </a:p>
        </p:txBody>
      </p:sp>
      <p:sp>
        <p:nvSpPr>
          <p:cNvPr id="12" name="edition-label">
            <a:extLst xmlns:a="http://schemas.openxmlformats.org/drawingml/2006/main">
              <a:ext uri="{FF2B5EF4-FFF2-40B4-BE49-F238E27FC236}">
                <a16:creationId xmlns:a16="http://schemas.microsoft.com/office/drawing/2014/main" id="{33C40B15-22A0-4B17-90D1-3300A70D754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929DBC90-8E97-4CEE-8041-9B6F0755BD0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3646E779-885A-46BE-A373-D78FBD610A3D}"/>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Write or choose a line for all four situations.</a:t>
            </a:r>
          </a:p>
        </p:txBody>
      </p:sp>
      <p:sp>
        <p:nvSpPr>
          <p:cNvPr id="16" name="body-1">
            <a:extLst xmlns:a="http://schemas.openxmlformats.org/drawingml/2006/main">
              <a:ext uri="{FF2B5EF4-FFF2-40B4-BE49-F238E27FC236}">
                <a16:creationId xmlns:a16="http://schemas.microsoft.com/office/drawing/2014/main" id="{95492F78-9AD0-439D-982B-1458D72488C7}"/>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Use the training menu and script frame.</a:t>
            </a:r>
          </a:p>
        </p:txBody>
      </p:sp>
      <p:sp>
        <p:nvSpPr>
          <p:cNvPr id="17" name="body-2">
            <a:extLst xmlns:a="http://schemas.openxmlformats.org/drawingml/2006/main">
              <a:ext uri="{FF2B5EF4-FFF2-40B4-BE49-F238E27FC236}">
                <a16:creationId xmlns:a16="http://schemas.microsoft.com/office/drawing/2014/main" id="{ACBD03FA-C8F3-470D-859B-605518EB0C14}"/>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use the frame or choose the best of three lines.</a:t>
            </a:r>
          </a:p>
        </p:txBody>
      </p:sp>
      <p:sp>
        <p:nvSpPr>
          <p:cNvPr id="18" name="body-3">
            <a:extLst xmlns:a="http://schemas.openxmlformats.org/drawingml/2006/main">
              <a:ext uri="{FF2B5EF4-FFF2-40B4-BE49-F238E27FC236}">
                <a16:creationId xmlns:a16="http://schemas.microsoft.com/office/drawing/2014/main" id="{3880B4CC-0F68-4C6B-932B-68ECA3E4B371}"/>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Independent: use your own wording.</a:t>
            </a:r>
          </a:p>
        </p:txBody>
      </p:sp>
      <p:sp>
        <p:nvSpPr>
          <p:cNvPr id="19" name="body-4">
            <a:extLst xmlns:a="http://schemas.openxmlformats.org/drawingml/2006/main">
              <a:ext uri="{FF2B5EF4-FFF2-40B4-BE49-F238E27FC236}">
                <a16:creationId xmlns:a16="http://schemas.microsoft.com/office/drawing/2014/main" id="{DDA1E627-1492-4DE3-BD76-0D81C6448016}"/>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Aspire: put right an order error with respect.</a:t>
            </a:r>
          </a:p>
        </p:txBody>
      </p:sp>
    </p:spTree>
    <p:extLst>
      <p:ext uri="{BB962C8B-B14F-4D97-AF65-F5344CB8AC3E}">
        <p14:creationId xmlns:p14="http://schemas.microsoft.com/office/powerpoint/2010/main" val="16762254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A8C7B892-C730-4124-BD95-5E4556A702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3BDF9A95-640B-4760-92FB-BD38BA9337E1}"/>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CA702760-C862-4C61-A6C8-C6AF08A8CD4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27DBE537-F797-4CA0-A966-2DC1CEBF6E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Quiet rehearsal</a:t>
            </a:r>
          </a:p>
        </p:txBody>
      </p:sp>
      <p:sp>
        <p:nvSpPr>
          <p:cNvPr id="5" name="heading-rule">
            <a:extLst xmlns:a="http://schemas.openxmlformats.org/drawingml/2006/main">
              <a:ext uri="{FF2B5EF4-FFF2-40B4-BE49-F238E27FC236}">
                <a16:creationId xmlns:a16="http://schemas.microsoft.com/office/drawing/2014/main" id="{ACECF116-90D1-4148-A1E6-4DC7C9EDC84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E46E7D15-139F-413C-A943-8B46B8DB96B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VOC-LAUNCH-A2-W03-L1</a:t>
            </a:r>
          </a:p>
        </p:txBody>
      </p:sp>
      <p:sp>
        <p:nvSpPr>
          <p:cNvPr id="13" name="edition-label">
            <a:extLst xmlns:a="http://schemas.openxmlformats.org/drawingml/2006/main">
              <a:ext uri="{FF2B5EF4-FFF2-40B4-BE49-F238E27FC236}">
                <a16:creationId xmlns:a16="http://schemas.microsoft.com/office/drawing/2014/main" id="{DC44AB7A-9C39-4B04-BF28-2FFDEA3DCD2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CE54ABDE-945F-42AD-A8A1-6FEBB490A0F6}"/>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E0C20F6E-A02E-4E87-A407-FFFB58B8084B}"/>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Work with the adult customer at your station.</a:t>
            </a:r>
          </a:p>
        </p:txBody>
      </p:sp>
      <p:sp>
        <p:nvSpPr>
          <p:cNvPr id="17" name="body-1">
            <a:extLst xmlns:a="http://schemas.openxmlformats.org/drawingml/2006/main">
              <a:ext uri="{FF2B5EF4-FFF2-40B4-BE49-F238E27FC236}">
                <a16:creationId xmlns:a16="http://schemas.microsoft.com/office/drawing/2014/main" id="{62246658-EE72-4A38-9B6A-8BD9C216660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Greet the customer and take a drink order.</a:t>
            </a:r>
          </a:p>
        </p:txBody>
      </p:sp>
      <p:sp>
        <p:nvSpPr>
          <p:cNvPr id="18" name="body-2">
            <a:extLst xmlns:a="http://schemas.openxmlformats.org/drawingml/2006/main">
              <a:ext uri="{FF2B5EF4-FFF2-40B4-BE49-F238E27FC236}">
                <a16:creationId xmlns:a16="http://schemas.microsoft.com/office/drawing/2014/main" id="{5157CBBA-EFD6-49F9-BBEC-2573CCF79996}"/>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Repeat the drink and amount. Ask: Is that right?</a:t>
            </a:r>
          </a:p>
        </p:txBody>
      </p:sp>
      <p:sp>
        <p:nvSpPr>
          <p:cNvPr id="19" name="body-3">
            <a:extLst xmlns:a="http://schemas.openxmlformats.org/drawingml/2006/main">
              <a:ext uri="{FF2B5EF4-FFF2-40B4-BE49-F238E27FC236}">
                <a16:creationId xmlns:a16="http://schemas.microsoft.com/office/drawing/2014/main" id="{A2DB5CE8-8EB3-443D-9300-AAB8C5315B2F}"/>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keep the card in view.</a:t>
            </a:r>
          </a:p>
        </p:txBody>
      </p:sp>
      <p:sp>
        <p:nvSpPr>
          <p:cNvPr id="20" name="body-4">
            <a:extLst xmlns:a="http://schemas.openxmlformats.org/drawingml/2006/main">
              <a:ext uri="{FF2B5EF4-FFF2-40B4-BE49-F238E27FC236}">
                <a16:creationId xmlns:a16="http://schemas.microsoft.com/office/drawing/2014/main" id="{D139B457-B51F-4D84-BB84-E7FADB487C8A}"/>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Independent: try your own words.</a:t>
            </a:r>
          </a:p>
        </p:txBody>
      </p:sp>
      <p:sp>
        <p:nvSpPr>
          <p:cNvPr id="21" name="body-5">
            <a:extLst xmlns:a="http://schemas.openxmlformats.org/drawingml/2006/main">
              <a:ext uri="{FF2B5EF4-FFF2-40B4-BE49-F238E27FC236}">
                <a16:creationId xmlns:a16="http://schemas.microsoft.com/office/drawing/2014/main" id="{84FCDDCD-6404-41E7-9C94-1070F05C0A45}"/>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Aspire: correct an order error calmly.</a:t>
            </a:r>
          </a:p>
        </p:txBody>
      </p:sp>
    </p:spTree>
    <p:extLst>
      <p:ext uri="{BB962C8B-B14F-4D97-AF65-F5344CB8AC3E}">
        <p14:creationId xmlns:p14="http://schemas.microsoft.com/office/powerpoint/2010/main" val="597916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5CC015C8-981C-4980-9A16-E1F91E8DA13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F833CAD-C5A3-4521-9C93-A20484883D1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CBD42182-A083-435F-91EA-31A5124FE069}"/>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94AAEB62-8BDF-48B9-BE3A-859A994241B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file</a:t>
            </a:r>
          </a:p>
        </p:txBody>
      </p:sp>
      <p:sp>
        <p:nvSpPr>
          <p:cNvPr id="5" name="heading-rule">
            <a:extLst xmlns:a="http://schemas.openxmlformats.org/drawingml/2006/main">
              <a:ext uri="{FF2B5EF4-FFF2-40B4-BE49-F238E27FC236}">
                <a16:creationId xmlns:a16="http://schemas.microsoft.com/office/drawing/2014/main" id="{9FFF600C-8289-4F79-B177-29DF6B75DDE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45FB49A2-C600-4099-B652-A63E3C20B83B}"/>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VOC-LAUNCH-A2-W03-L1</a:t>
            </a:r>
          </a:p>
        </p:txBody>
      </p:sp>
      <p:sp>
        <p:nvSpPr>
          <p:cNvPr id="15" name="edition-label">
            <a:extLst xmlns:a="http://schemas.openxmlformats.org/drawingml/2006/main">
              <a:ext uri="{FF2B5EF4-FFF2-40B4-BE49-F238E27FC236}">
                <a16:creationId xmlns:a16="http://schemas.microsoft.com/office/drawing/2014/main" id="{047982E4-80E0-4809-A664-19FAE0369C2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D4C8EEA3-05BB-4786-9E61-D35617D8E4A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CCF29CD7-C21A-42A4-9678-C1B529426CA5}"/>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9390A2A1-E8E0-424C-8F15-FF1EAEFF0372}"/>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Keep your four-situation script and rehearsal record.</a:t>
            </a:r>
          </a:p>
        </p:txBody>
      </p:sp>
      <p:sp>
        <p:nvSpPr>
          <p:cNvPr id="20" name="step-number-1">
            <a:extLst xmlns:a="http://schemas.openxmlformats.org/drawingml/2006/main">
              <a:ext uri="{FF2B5EF4-FFF2-40B4-BE49-F238E27FC236}">
                <a16:creationId xmlns:a16="http://schemas.microsoft.com/office/drawing/2014/main" id="{C10294A6-D19A-4BDD-AAF3-81E8E1C899CD}"/>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6384C286-1D48-4E63-A66F-96949050D257}"/>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Check one line you want to improve.</a:t>
            </a:r>
          </a:p>
        </p:txBody>
      </p:sp>
      <p:sp>
        <p:nvSpPr>
          <p:cNvPr id="22" name="step-number-2">
            <a:extLst xmlns:a="http://schemas.openxmlformats.org/drawingml/2006/main">
              <a:ext uri="{FF2B5EF4-FFF2-40B4-BE49-F238E27FC236}">
                <a16:creationId xmlns:a16="http://schemas.microsoft.com/office/drawing/2014/main" id="{3E729A10-2655-487A-A7CC-EA92477E55F5}"/>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72E218FE-FBA5-44D5-B749-A0CE529BB188}"/>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Record the help you used.</a:t>
            </a:r>
          </a:p>
        </p:txBody>
      </p:sp>
      <p:sp>
        <p:nvSpPr>
          <p:cNvPr id="24" name="step-number-3">
            <a:extLst xmlns:a="http://schemas.openxmlformats.org/drawingml/2006/main">
              <a:ext uri="{FF2B5EF4-FFF2-40B4-BE49-F238E27FC236}">
                <a16:creationId xmlns:a16="http://schemas.microsoft.com/office/drawing/2014/main" id="{BA74E1FB-A1A3-424D-8D6D-DA8F601C2A4E}"/>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AADF4487-005E-4DA4-AA34-D5BF88F02F50}"/>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improved __.</a:t>
            </a:r>
          </a:p>
        </p:txBody>
      </p:sp>
    </p:spTree>
    <p:extLst>
      <p:ext uri="{BB962C8B-B14F-4D97-AF65-F5344CB8AC3E}">
        <p14:creationId xmlns:p14="http://schemas.microsoft.com/office/powerpoint/2010/main" val="17850708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AA0AA39E-1E56-4014-A43F-CDD885FEA14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39412F90-EC31-4206-8A42-6579298B5FA5}"/>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83A8E1FC-83FF-4F9E-A8F1-B36B707FD98B}"/>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EDAA1E3C-D173-433C-81C3-B7DE717F43B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ticket</a:t>
            </a:r>
          </a:p>
        </p:txBody>
      </p:sp>
      <p:sp>
        <p:nvSpPr>
          <p:cNvPr id="5" name="heading-rule">
            <a:extLst xmlns:a="http://schemas.openxmlformats.org/drawingml/2006/main">
              <a:ext uri="{FF2B5EF4-FFF2-40B4-BE49-F238E27FC236}">
                <a16:creationId xmlns:a16="http://schemas.microsoft.com/office/drawing/2014/main" id="{E2848ABB-2D8B-482B-B16F-A1147085950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06C0FD76-B044-4310-A2D8-4589B3BB20A9}"/>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VOC-LAUNCH-A2-W03-L1</a:t>
            </a:r>
          </a:p>
        </p:txBody>
      </p:sp>
      <p:sp>
        <p:nvSpPr>
          <p:cNvPr id="10" name="edition-label">
            <a:extLst xmlns:a="http://schemas.openxmlformats.org/drawingml/2006/main">
              <a:ext uri="{FF2B5EF4-FFF2-40B4-BE49-F238E27FC236}">
                <a16:creationId xmlns:a16="http://schemas.microsoft.com/office/drawing/2014/main" id="{4A2A6DF8-A2DB-4567-A0F1-859F4CB9AC9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535DD12C-B60B-4AE9-A63D-BC59C483C7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3311D17A-2BEF-47B3-B98D-28EBCA67C44A}"/>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Adult gives you a short drink order.</a:t>
            </a:r>
          </a:p>
        </p:txBody>
      </p:sp>
      <p:sp>
        <p:nvSpPr>
          <p:cNvPr id="14" name="body-1">
            <a:extLst xmlns:a="http://schemas.openxmlformats.org/drawingml/2006/main">
              <a:ext uri="{FF2B5EF4-FFF2-40B4-BE49-F238E27FC236}">
                <a16:creationId xmlns:a16="http://schemas.microsoft.com/office/drawing/2014/main" id="{DD869530-B481-4377-810C-9B98339D728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Repeat it back accurately.</a:t>
            </a:r>
          </a:p>
        </p:txBody>
      </p:sp>
      <p:sp>
        <p:nvSpPr>
          <p:cNvPr id="15" name="body-2">
            <a:extLst xmlns:a="http://schemas.openxmlformats.org/drawingml/2006/main">
              <a:ext uri="{FF2B5EF4-FFF2-40B4-BE49-F238E27FC236}">
                <a16:creationId xmlns:a16="http://schemas.microsoft.com/office/drawing/2014/main" id="{0C458306-96EC-4162-A60C-78D9B291820C}"/>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Ask: Is that right?</a:t>
            </a:r>
          </a:p>
        </p:txBody>
      </p:sp>
    </p:spTree>
    <p:extLst>
      <p:ext uri="{BB962C8B-B14F-4D97-AF65-F5344CB8AC3E}">
        <p14:creationId xmlns:p14="http://schemas.microsoft.com/office/powerpoint/2010/main" val="19721518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7AF64FE2-1177-4B5C-A807-7286FAED99C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2992EB3E-3D6F-45D2-8E33-06C365D67B92}"/>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1E88F572-125D-49A3-AEC6-5A255B87682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9122445C-D872-474B-9C96-3D7F2CD38686}"/>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Key words</a:t>
            </a:r>
          </a:p>
        </p:txBody>
      </p:sp>
      <p:sp>
        <p:nvSpPr>
          <p:cNvPr id="5" name="heading-rule">
            <a:extLst xmlns:a="http://schemas.openxmlformats.org/drawingml/2006/main">
              <a:ext uri="{FF2B5EF4-FFF2-40B4-BE49-F238E27FC236}">
                <a16:creationId xmlns:a16="http://schemas.microsoft.com/office/drawing/2014/main" id="{78D89641-2889-431B-9321-43540400F0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754D271A-039F-4E78-8E74-7AABF4C47426}"/>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VOC-LAUNCH-A2-W03-L1</a:t>
            </a:r>
          </a:p>
        </p:txBody>
      </p:sp>
      <p:sp>
        <p:nvSpPr>
          <p:cNvPr id="13" name="edition-label">
            <a:extLst xmlns:a="http://schemas.openxmlformats.org/drawingml/2006/main">
              <a:ext uri="{FF2B5EF4-FFF2-40B4-BE49-F238E27FC236}">
                <a16:creationId xmlns:a16="http://schemas.microsoft.com/office/drawing/2014/main" id="{63FCF5BE-BD3D-4B2A-966B-5738DA1D5C13}"/>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BE1EA57-4C65-4247-B3A0-FF6377F781A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4C9925AD-429F-443D-9A5D-7F068BBBA626}"/>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Greet: welcome politely.</a:t>
            </a:r>
          </a:p>
        </p:txBody>
      </p:sp>
      <p:sp>
        <p:nvSpPr>
          <p:cNvPr id="17" name="body-1">
            <a:extLst xmlns:a="http://schemas.openxmlformats.org/drawingml/2006/main">
              <a:ext uri="{FF2B5EF4-FFF2-40B4-BE49-F238E27FC236}">
                <a16:creationId xmlns:a16="http://schemas.microsoft.com/office/drawing/2014/main" id="{47B7F22A-0958-4E7B-9C03-9AE03F00AF4E}"/>
              </a:ext>
            </a:extLst>
          </p:cNvPr>
          <p:cNvSpPr>
            <a:spLocks xmlns:a="http://schemas.openxmlformats.org/drawingml/2006/main" noGrp="1"/>
          </p:cNvSpPr>
          <p:nvPr/>
        </p:nvSpPr>
        <p:spPr>
          <a:xfrm xmlns:a="http://schemas.openxmlformats.org/drawingml/2006/main">
            <a:off x="6096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Order: what the customer asks to buy.</a:t>
            </a:r>
          </a:p>
        </p:txBody>
      </p:sp>
      <p:sp>
        <p:nvSpPr>
          <p:cNvPr id="18" name="body-2">
            <a:extLst xmlns:a="http://schemas.openxmlformats.org/drawingml/2006/main">
              <a:ext uri="{FF2B5EF4-FFF2-40B4-BE49-F238E27FC236}">
                <a16:creationId xmlns:a16="http://schemas.microsoft.com/office/drawing/2014/main" id="{FA42F83F-9A5B-4FDE-9908-6529B9D68E8F}"/>
              </a:ext>
            </a:extLst>
          </p:cNvPr>
          <p:cNvSpPr>
            <a:spLocks xmlns:a="http://schemas.openxmlformats.org/drawingml/2006/main" noGrp="1"/>
          </p:cNvSpPr>
          <p:nvPr/>
        </p:nvSpPr>
        <p:spPr>
          <a:xfrm xmlns:a="http://schemas.openxmlformats.org/drawingml/2006/main">
            <a:off x="6096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Booking: arrange a room or service.</a:t>
            </a:r>
          </a:p>
        </p:txBody>
      </p:sp>
      <p:sp>
        <p:nvSpPr>
          <p:cNvPr id="19" name="body-3">
            <a:extLst xmlns:a="http://schemas.openxmlformats.org/drawingml/2006/main">
              <a:ext uri="{FF2B5EF4-FFF2-40B4-BE49-F238E27FC236}">
                <a16:creationId xmlns:a16="http://schemas.microsoft.com/office/drawing/2014/main" id="{267D99BA-8039-4071-84F7-38F1C857771E}"/>
              </a:ext>
            </a:extLst>
          </p:cNvPr>
          <p:cNvSpPr>
            <a:spLocks xmlns:a="http://schemas.openxmlformats.org/drawingml/2006/main" noGrp="1"/>
          </p:cNvSpPr>
          <p:nvPr/>
        </p:nvSpPr>
        <p:spPr>
          <a:xfrm xmlns:a="http://schemas.openxmlformats.org/drawingml/2006/main">
            <a:off x="609600" y="3351086"/>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Confirm: check the details are right.</a:t>
            </a:r>
          </a:p>
        </p:txBody>
      </p:sp>
      <p:sp>
        <p:nvSpPr>
          <p:cNvPr id="20" name="body-0">
            <a:extLst xmlns:a="http://schemas.openxmlformats.org/drawingml/2006/main">
              <a:ext uri="{FF2B5EF4-FFF2-40B4-BE49-F238E27FC236}">
                <a16:creationId xmlns:a16="http://schemas.microsoft.com/office/drawing/2014/main" id="{4F4853E3-9B84-479B-B9C4-44AC5CD444BF}"/>
              </a:ext>
            </a:extLst>
          </p:cNvPr>
          <p:cNvSpPr>
            <a:spLocks xmlns:a="http://schemas.openxmlformats.org/drawingml/2006/main" noGrp="1"/>
          </p:cNvSpPr>
          <p:nvPr/>
        </p:nvSpPr>
        <p:spPr>
          <a:xfrm xmlns:a="http://schemas.openxmlformats.org/drawingml/2006/main">
            <a:off x="6362700" y="1695450"/>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Complaint: a report that something is wrong.</a:t>
            </a:r>
          </a:p>
        </p:txBody>
      </p:sp>
      <p:sp>
        <p:nvSpPr>
          <p:cNvPr id="21" name="body-1">
            <a:extLst xmlns:a="http://schemas.openxmlformats.org/drawingml/2006/main">
              <a:ext uri="{FF2B5EF4-FFF2-40B4-BE49-F238E27FC236}">
                <a16:creationId xmlns:a16="http://schemas.microsoft.com/office/drawing/2014/main" id="{55E181D4-10F9-4B32-B48E-B2BDA3D9A5C7}"/>
              </a:ext>
            </a:extLst>
          </p:cNvPr>
          <p:cNvSpPr>
            <a:spLocks xmlns:a="http://schemas.openxmlformats.org/drawingml/2006/main" noGrp="1"/>
          </p:cNvSpPr>
          <p:nvPr/>
        </p:nvSpPr>
        <p:spPr>
          <a:xfrm xmlns:a="http://schemas.openxmlformats.org/drawingml/2006/main">
            <a:off x="6362700" y="2561082"/>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Apologise: say you are sorry.</a:t>
            </a:r>
          </a:p>
        </p:txBody>
      </p:sp>
      <p:sp>
        <p:nvSpPr>
          <p:cNvPr id="22" name="body-2">
            <a:extLst xmlns:a="http://schemas.openxmlformats.org/drawingml/2006/main">
              <a:ext uri="{FF2B5EF4-FFF2-40B4-BE49-F238E27FC236}">
                <a16:creationId xmlns:a16="http://schemas.microsoft.com/office/drawing/2014/main" id="{95AE2775-0F64-44B9-840F-BAB5F01E9284}"/>
              </a:ext>
            </a:extLst>
          </p:cNvPr>
          <p:cNvSpPr>
            <a:spLocks xmlns:a="http://schemas.openxmlformats.org/drawingml/2006/main" noGrp="1"/>
          </p:cNvSpPr>
          <p:nvPr/>
        </p:nvSpPr>
        <p:spPr>
          <a:xfrm xmlns:a="http://schemas.openxmlformats.org/drawingml/2006/main">
            <a:off x="6362700" y="3112961"/>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Refer: ask a person who can help.</a:t>
            </a:r>
          </a:p>
        </p:txBody>
      </p:sp>
    </p:spTree>
    <p:extLst>
      <p:ext uri="{BB962C8B-B14F-4D97-AF65-F5344CB8AC3E}">
        <p14:creationId xmlns:p14="http://schemas.microsoft.com/office/powerpoint/2010/main" val="33037519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2C0E2C48-D089-42C1-A066-83FCD158EF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47AA2577-BC28-4D13-AD2C-8628132B21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A730B78F-FB21-447B-8524-A237FFCAEC4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05A2C82B-434B-4499-A566-6F7B0831E332}"/>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7C22469E-605C-4C2C-80FC-5167D5C5BA66}"/>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2D3627B6-C363-415A-8E57-D08EC196E199}"/>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VOC-LAUNCH-A2-W03-L1</a:t>
            </a:r>
          </a:p>
        </p:txBody>
      </p:sp>
      <p:sp>
        <p:nvSpPr>
          <p:cNvPr id="12" name="edition-label">
            <a:extLst xmlns:a="http://schemas.openxmlformats.org/drawingml/2006/main">
              <a:ext uri="{FF2B5EF4-FFF2-40B4-BE49-F238E27FC236}">
                <a16:creationId xmlns:a16="http://schemas.microsoft.com/office/drawing/2014/main" id="{2A5957E9-CEC4-49D2-897A-4F535C18950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A88EA738-A445-451D-A899-23CCFF47ADF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0A5C0892-697D-4229-9522-67593C665E2B}"/>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Individual stations; adult customer and observer.</a:t>
            </a:r>
          </a:p>
        </p:txBody>
      </p:sp>
      <p:sp>
        <p:nvSpPr>
          <p:cNvPr id="16" name="body-1">
            <a:extLst xmlns:a="http://schemas.openxmlformats.org/drawingml/2006/main">
              <a:ext uri="{FF2B5EF4-FFF2-40B4-BE49-F238E27FC236}">
                <a16:creationId xmlns:a16="http://schemas.microsoft.com/office/drawing/2014/main" id="{BAF6DA31-2C74-43FF-9234-74613EBC8F08}"/>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No public performance or forced eye contact.</a:t>
            </a:r>
          </a:p>
        </p:txBody>
      </p:sp>
      <p:sp>
        <p:nvSpPr>
          <p:cNvPr id="17" name="body-2">
            <a:extLst xmlns:a="http://schemas.openxmlformats.org/drawingml/2006/main">
              <a:ext uri="{FF2B5EF4-FFF2-40B4-BE49-F238E27FC236}">
                <a16:creationId xmlns:a16="http://schemas.microsoft.com/office/drawing/2014/main" id="{33C53E43-186A-4284-9859-CA884D57678E}"/>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Record exact lines, actions and support.</a:t>
            </a:r>
          </a:p>
        </p:txBody>
      </p:sp>
      <p:sp>
        <p:nvSpPr>
          <p:cNvPr id="18" name="body-3">
            <a:extLst xmlns:a="http://schemas.openxmlformats.org/drawingml/2006/main">
              <a:ext uri="{FF2B5EF4-FFF2-40B4-BE49-F238E27FC236}">
                <a16:creationId xmlns:a16="http://schemas.microsoft.com/office/drawing/2014/main" id="{78EBCD6F-314F-45C2-B23D-6DF80E90970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Lundy: Space · Voice · Audience · Influence.</a:t>
            </a:r>
          </a:p>
        </p:txBody>
      </p:sp>
      <p:sp>
        <p:nvSpPr>
          <p:cNvPr id="19" name="body-4">
            <a:extLst xmlns:a="http://schemas.openxmlformats.org/drawingml/2006/main">
              <a:ext uri="{FF2B5EF4-FFF2-40B4-BE49-F238E27FC236}">
                <a16:creationId xmlns:a16="http://schemas.microsoft.com/office/drawing/2014/main" id="{2A40FE08-7C69-4882-B688-BC2225115C56}"/>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Use the agreed local feedback codes.</a:t>
            </a:r>
          </a:p>
        </p:txBody>
      </p:sp>
    </p:spTree>
    <p:extLst>
      <p:ext uri="{BB962C8B-B14F-4D97-AF65-F5344CB8AC3E}">
        <p14:creationId xmlns:p14="http://schemas.microsoft.com/office/powerpoint/2010/main" val="364215782"/>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Converted Presentation</ap:PresentationFormat>
  <ap:Slides>12</ap:Slides>
  <ap:Notes>12</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The Theory</dc:title>
  <dc:subject>VOC-LAUNCH-A2-W03-L1</dc:subject>
  <cp:lastModifiedBy/>
</cp:coreProperties>
</file>