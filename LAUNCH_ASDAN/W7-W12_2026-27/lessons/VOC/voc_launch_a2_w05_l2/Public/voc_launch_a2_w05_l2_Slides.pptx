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Title and big question: 0 minutes.</ns1:t>
            </ns1:r>
          </ns1:p>
          <ns2:p xmlns:ns2="http://schemas.openxmlformats.org/drawingml/2006/main">
            <ns2:r>
              <ns2:t>Teacher: Open the big question without requiring personal disclosure. Staff enter the actual date in the planner.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Arrival and regulation: 4 minutes.</ns1:t>
            </ns1:r>
          </ns1:p>
          <ns2:p xmlns:ns2="http://schemas.openxmlformats.org/drawingml/2006/main">
            <ns2:r>
              <ns2:t>Teacher: Use a private check-in, quiet start and processing time. Identify the available adult and backup support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Starter: 2 minutes.</ns1:t>
            </ns1:r>
          </ns1:p>
          <ns2:p xmlns:ns2="http://schemas.openxmlformats.org/drawingml/2006/main">
            <ns2:r>
              <ns2:t>Teacher: Describe the generated practice picture aloud. Accept a pointed clue. It is not a photograph of our learners or proof of a completed activity.</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Today: 0 minutes.</ns1:t>
            </ns1:r>
          </ns1:p>
          <ns2:p xmlns:ns2="http://schemas.openxmlformats.org/drawingml/2006/main">
            <ns2:r>
              <ns2:t>Teacher: Read the exact scheme objective and the success checks. Explain today’s contribution without claiming award completion.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I Do: 5 minutes.</ns1:t>
            </ns1:r>
          </ns1:p>
          <ns2:p xmlns:ns2="http://schemas.openxmlformats.org/drawingml/2006/main">
            <ns2:r>
              <ns2:t>Teacher: Model each line aloud and make the reasoning explicit. The learner owns a specific action and acknowledges support. Link any claimed effect to a record. Keep the actual rehearsal response separate from past service evidence. Accept spoken, pointed, written or AAC responses. A polite script alone is preparation until it is used with an audience.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We Do: 5 minutes.</ns1:t>
            </ns1:r>
          </ns1:p>
          <ns2:p xmlns:ns2="http://schemas.openxmlformats.org/drawingml/2006/main">
            <ns2:r>
              <ns2:t>Teacher: Read the hinge aloud, ask for a choice and a reason. C. Supported work is still the learner’s work when the actual action and help are clear. Reteach using a fictional two-person task: ask who did each step and which prompt helped. Do not turn a later rehearsal into a past service observation.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You Do practice: 12 minutes.</ns1:t>
            </ns1:r>
          </ns1:p>
          <ns2:p xmlns:ns2="http://schemas.openxmlformats.org/drawingml/2006/main">
            <ns2:r>
              <ns2:t>Teacher: Learners explain one action, its effect and support. Listen to actual feedback, then rehearse one chosen improvement with an adult or willing peer. The observer records what really happened in the rehearsal. If no past role exists, review today’s actual practice and mark the original service gap.</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You Do evidence: 6 minutes.</ns1:t>
            </ns1:r>
          </ns1:p>
          <ns2:p xmlns:ns2="http://schemas.openxmlformats.org/drawingml/2006/main">
            <ns2:r>
              <ns2:t>Teacher: Complete both Evidence Sheet pages. The learner owns a specific action and acknowledges support. Link any claimed effect to a record. Keep the actual rehearsal response separate from past service evidence. Accept spoken, pointed, written or AAC responses. A polite script alone is preparation until it is used with an audience.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Tidy and evidence check: 4 minutes.</ns1:t>
            </ns1:r>
          </ns1:p>
          <ns2:p xmlns:ns2="http://schemas.openxmlformats.org/drawingml/2006/main">
            <ns2:r>
              <ns2:t>Teacher: Check actual support, ownership and response. Use VF, WS, I, NS+, //, ?, R and E appropriately. R needs Voice, Audience, NS+ and a response in the learner’s own colour. E requires actual banking.</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Exit ticket: 2 minutes.</ns1:t>
            </ns1:r>
          </ns1:p>
          <ns2:p xmlns:ns2="http://schemas.openxmlformats.org/drawingml/2006/main">
            <ns2:r>
              <ns2:t>Teacher: Take a quiet exit response and note the next teaching need. Use the Staff Answers to assess the reason rather than just a letter.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Vocabulary: 0 minutes.</ns1:t>
            </ns1:r>
          </ns1:p>
          <ns2:p xmlns:ns2="http://schemas.openxmlformats.org/drawingml/2006/main">
            <ns2:r>
              <ns2:t>Teacher: Keep the Vocabulary Mat available. Link each word to a case or actual task. Allow a home-language first response.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VOC-LAUNCH-A2-W05-L2 · Monday 30 November–Friday 4 December 2026</ns0:t>
            </ns0:r>
          </ns0:p>
          <ns1:p xmlns:ns1="http://schemas.openxmlformats.org/drawingml/2006/main">
            <ns1:r>
              <ns1:t>Staff brief: 0 minutes.</ns1:t>
            </ns1:r>
          </ns1:p>
          <ns2:p xmlns:ns2="http://schemas.openxmlformats.org/drawingml/2006/main">
            <ns2:r>
              <ns2:t>Teacher: Hidden staff reference. Dry role-play only. No real food, payment, personal customer details or external calls. No forced performance. A quiet one-to-one exchange is valid classroom participation.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VOC-W5-L2-E1; Individual role reflection with actual action/support, a record or feedback link, one observed classroom improvement rehearsal and a next step.</ns4:t>
            </ns4:r>
          </ns4:p>
          <ns5:p xmlns:ns5="http://schemas.openxmlformats.org/drawingml/2006/main">
            <ns5:r>
              <ns5:t>Scheme: LAUNCH Weekly - Autumn!C141; LAUNCH - Autumn!D23, I23, J23; revision 9ed44bdf.</ns5:t>
            </ns5:r>
          </ns5:p>
          <ns6:p xmlns:ns6="http://schemas.openxmlformats.org/drawingml/2006/main">
            <ns6:r>
              <ns6:t>Source objective: Evaluate the service &amp; my role.</ns6:t>
            </ns6:r>
          </ns6:p>
          <ns7:p xmlns:ns7="http://schemas.openxmlformats.org/drawingml/2006/main">
            <ns7:r>
              <ns7:t>Calendar: Monday 30 November–Friday 4 December 2026. Two 40-minute lessons this week. No teaching day or clock slot is inferred. Any visitor, placement or external audience is unconfirmed; the in-class route is ready to use.</ns7:t>
            </ns7:r>
          </ns7:p>
          <ns8:p xmlns:ns8="http://schemas.openxmlformats.org/drawingml/2006/main">
            <ns8:r>
              <ns8:t>Unconfirmed slot: Unconfirmed. No booking, invitation, placement or event date is asserted.</ns8:t>
            </ns8:r>
          </ns8:p>
          <ns9:p xmlns:ns9="http://schemas.openxmlformats.org/drawingml/2006/main">
            <ns9:r>
              <ns9:t>In-class alternative: A staff member is the in-class customer. Use a blank order slip, empty tray and an accessible response mode. No visitor or placement is required.</ns9:t>
            </ns9:r>
          </ns9:p>
          <ns10:p xmlns:ns10="http://schemas.openxmlformats.org/drawingml/2006/main">
            <ns10:r>
              <ns10:t>Unit: Hospitality &amp; catering basics</ns10:t>
            </ns10:r>
          </ns10:p>
          <ns11:p xmlns:ns11="http://schemas.openxmlformats.org/drawingml/2006/main">
            <ns11:r>
              <ns11:t>Accreditation: [AWARD] [QUAL] / [QUAL] short course; [AWARD] [QUAL], ‘[QUAL]’, ‘[QUAL]’.</ns11:t>
            </ns11:r>
          </ns11:p>
          <ns12:p xmlns:ns12="http://schemas.openxmlformats.org/drawingml/2006/main">
            <ns12:r>
              <ns12:t>Assessment: F: service-task observation.  S: hospitality enterprise evidence + unit (Dec data drop).</ns12:t>
            </ns12:r>
          </ns12:p>
          <ns13:p xmlns:ns13="http://schemas.openxmlformats.org/drawingml/2006/main">
            <ns13:r>
              <ns13:t>Sources: https://www.gov.uk/government/publications/providing-food-at-community-and-charity-events/providing-food-at-community-and-charity-events; https://www.gov.uk/government/publications/allergen-information-for-non-prepacked-foods-best-practice/allergen-information-for-non-prepacked-foods-best-practice</ns13:t>
            </ns13:r>
          </ns13:p>
          <ns14:p xmlns:ns14="http://schemas.openxmlformats.org/drawingml/2006/main">
            <ns14:r>
              <ns14:t>Made by Matt · © Matt Roper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The Mission</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My role and my next step</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did my actions affect the service?</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Monday 30 November–Friday 4 December 2026 · lesson 2 of 2</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practice scene</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Illustrated pair practising an order handover with an adult nearby. It is a fictional rehearsal scene.">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A made-up practice scene.</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What is each person doing?</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Who did each step?</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What feedback could help?</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Evaluate the service &amp; my role.</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explain what I did and the help used.</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use feedback to choose a change.</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practise a next step and review it.</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Fictional example: Kit greeted a customer.</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An adult prompted Kit to read the order back.</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Kit records the prompt as help used.</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The next step is to use a short prompt card.</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Kit practises with an adult as the customer.</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The practice note stays separate from service.</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Name your action and the support you used.</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You used an adult prompt during service.</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Say that you did it all without help.</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Leave the whole task out of your review.</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Explain your action and the help used.</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Use the cards to plan a fair role review.</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say one action with a prompt.</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link action, result and feedback.</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explain how you could test a change.</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Practise one service phrase with an adult.</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Name your actual role and one action.</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Link it to a real record and feedback.</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Record the help and your practice result.</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Choose a next step you can explain.</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My action helped by __.</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The support I used was __.</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Next time I will practise __.</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role: My part in the task.</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action: Something I do.</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support: Help with a step.</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effect: What an action causes.</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rehearsal: Practice for later.</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review: Look back and judge.</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target: A thing to work on.</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VOC-LAUNCH-A2-W05-L2</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My role and my next step</dc:title>
  <dc:subject>VOC-LAUNCH-A2-W05-L2</dc:subject>
  <cp:lastModifiedBy/>
  <dc:description>Vocational Hospitality Autumn 2 Week 5</dc:description>
  <cp:keywords/>
</cp:coreProperties>
</file>