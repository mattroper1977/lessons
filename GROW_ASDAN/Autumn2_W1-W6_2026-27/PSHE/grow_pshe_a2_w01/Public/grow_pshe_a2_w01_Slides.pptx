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cd84540b0db64b64"/><Relationship Type="http://schemas.openxmlformats.org/officeDocument/2006/relationships/extended-properties" Target="/docProps/app.xml" Id="R1f2d96c58c55440c"/><Relationship Type="http://schemas.openxmlformats.org/officeDocument/2006/relationships/officeDocument" Target="/ppt/presentation.xml" Id="Re464253634f4438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aaa18b736b4bdf"/>
  </p:sldMasterIdLst>
  <p:notesMasterIdLst>
    <p:notesMasterId xmlns:r="http://schemas.openxmlformats.org/officeDocument/2006/relationships" r:id="R96d94d15dc974a5e"/>
  </p:notesMasterIdLst>
  <p:sldIdLst>
    <p:sldId xmlns:r="http://schemas.openxmlformats.org/officeDocument/2006/relationships" id="256" r:id="Rcde81a43be7f4cfc"/>
    <p:sldId xmlns:r="http://schemas.openxmlformats.org/officeDocument/2006/relationships" id="257" r:id="Rb591ceb67cfe4dfa"/>
    <p:sldId xmlns:r="http://schemas.openxmlformats.org/officeDocument/2006/relationships" id="258" r:id="Red634db161304007"/>
    <p:sldId xmlns:r="http://schemas.openxmlformats.org/officeDocument/2006/relationships" id="259" r:id="R744bcab443ee4f0a"/>
    <p:sldId xmlns:r="http://schemas.openxmlformats.org/officeDocument/2006/relationships" id="260" r:id="R17730be55cce4d1b"/>
    <p:sldId xmlns:r="http://schemas.openxmlformats.org/officeDocument/2006/relationships" id="261" r:id="Rd958332fc9254de4"/>
    <p:sldId xmlns:r="http://schemas.openxmlformats.org/officeDocument/2006/relationships" id="262" r:id="Ra4f0238fed2e4cfb"/>
    <p:sldId xmlns:r="http://schemas.openxmlformats.org/officeDocument/2006/relationships" id="263" r:id="R14e01cba9d774edd"/>
    <p:sldId xmlns:r="http://schemas.openxmlformats.org/officeDocument/2006/relationships" id="264" r:id="Raa862df73e584e4f"/>
    <p:sldId xmlns:r="http://schemas.openxmlformats.org/officeDocument/2006/relationships" id="265" r:id="R182d2d16699f4c93"/>
    <p:sldId xmlns:r="http://schemas.openxmlformats.org/officeDocument/2006/relationships" id="266" r:id="R2d67950fd6c940a8"/>
    <p:sldId xmlns:r="http://schemas.openxmlformats.org/officeDocument/2006/relationships" id="267" r:id="R3e87ee2e624c4c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9f492bc644b8" /><Relationship Type="http://schemas.openxmlformats.org/officeDocument/2006/relationships/slideMaster" Target="/ppt/slideMasters/slideMaster1.xml" Id="R04aaa18b736b4bdf" /><Relationship Type="http://schemas.openxmlformats.org/officeDocument/2006/relationships/notesMaster" Target="/ppt/notesMasters/notesMaster1.xml" Id="R96d94d15dc974a5e" /><Relationship Type="http://schemas.openxmlformats.org/officeDocument/2006/relationships/presProps" Target="/ppt/presProps.xml" Id="R1eb803d0e5634d51" /><Relationship Type="http://schemas.openxmlformats.org/officeDocument/2006/relationships/tableStyles" Target="/ppt/tableStyles.xml" Id="R046ca296d2e6404a" /><Relationship Type="http://schemas.openxmlformats.org/officeDocument/2006/relationships/slide" Target="/ppt/slides/slide1.xml" Id="Rcde81a43be7f4cfc" /><Relationship Type="http://schemas.openxmlformats.org/officeDocument/2006/relationships/slide" Target="/ppt/slides/slide2.xml" Id="Rb591ceb67cfe4dfa" /><Relationship Type="http://schemas.openxmlformats.org/officeDocument/2006/relationships/slide" Target="/ppt/slides/slide3.xml" Id="Red634db161304007" /><Relationship Type="http://schemas.openxmlformats.org/officeDocument/2006/relationships/slide" Target="/ppt/slides/slide4.xml" Id="R744bcab443ee4f0a" /><Relationship Type="http://schemas.openxmlformats.org/officeDocument/2006/relationships/slide" Target="/ppt/slides/slide5.xml" Id="R17730be55cce4d1b" /><Relationship Type="http://schemas.openxmlformats.org/officeDocument/2006/relationships/slide" Target="/ppt/slides/slide6.xml" Id="Rd958332fc9254de4" /><Relationship Type="http://schemas.openxmlformats.org/officeDocument/2006/relationships/slide" Target="/ppt/slides/slide7.xml" Id="Ra4f0238fed2e4cfb" /><Relationship Type="http://schemas.openxmlformats.org/officeDocument/2006/relationships/slide" Target="/ppt/slides/slide8.xml" Id="R14e01cba9d774edd" /><Relationship Type="http://schemas.openxmlformats.org/officeDocument/2006/relationships/slide" Target="/ppt/slides/slide9.xml" Id="Raa862df73e584e4f" /><Relationship Type="http://schemas.openxmlformats.org/officeDocument/2006/relationships/slide" Target="/ppt/slides/slide10.xml" Id="R182d2d16699f4c93" /><Relationship Type="http://schemas.openxmlformats.org/officeDocument/2006/relationships/slide" Target="/ppt/slides/slide11.xml" Id="R2d67950fd6c940a8" /><Relationship Type="http://schemas.openxmlformats.org/officeDocument/2006/relationships/slide" Target="/ppt/slides/slide12.xml" Id="R3e87ee2e624c4c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91b5938c134a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8eab85e384bc2" /><Relationship Type="http://schemas.openxmlformats.org/officeDocument/2006/relationships/notesMaster" Target="/ppt/notesMasters/notesMaster1.xml" Id="R6519dbe39c884c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77e838a5c4944" /><Relationship Type="http://schemas.openxmlformats.org/officeDocument/2006/relationships/notesMaster" Target="/ppt/notesMasters/notesMaster1.xml" Id="R52c26794846f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676e893194b3c" /><Relationship Type="http://schemas.openxmlformats.org/officeDocument/2006/relationships/notesMaster" Target="/ppt/notesMasters/notesMaster1.xml" Id="R6884c9b9985740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d560b550134841" /><Relationship Type="http://schemas.openxmlformats.org/officeDocument/2006/relationships/notesMaster" Target="/ppt/notesMasters/notesMaster1.xml" Id="R097e1584cc6346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3e15a17c646e7" /><Relationship Type="http://schemas.openxmlformats.org/officeDocument/2006/relationships/notesMaster" Target="/ppt/notesMasters/notesMaster1.xml" Id="Rab609d8c57ba4b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f5752b038c48f6" /><Relationship Type="http://schemas.openxmlformats.org/officeDocument/2006/relationships/notesMaster" Target="/ppt/notesMasters/notesMaster1.xml" Id="Rf64862cd19b04d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bde8c8f5341ce" /><Relationship Type="http://schemas.openxmlformats.org/officeDocument/2006/relationships/notesMaster" Target="/ppt/notesMasters/notesMaster1.xml" Id="R2ea49e5f1e0a4a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c9c359fd184d05" /><Relationship Type="http://schemas.openxmlformats.org/officeDocument/2006/relationships/notesMaster" Target="/ppt/notesMasters/notesMaster1.xml" Id="R91cd519756d84e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c2881931df42c5" /><Relationship Type="http://schemas.openxmlformats.org/officeDocument/2006/relationships/notesMaster" Target="/ppt/notesMasters/notesMaster1.xml" Id="R7bb907761a5942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a83bf25a424bc5" /><Relationship Type="http://schemas.openxmlformats.org/officeDocument/2006/relationships/notesMaster" Target="/ppt/notesMasters/notesMaster1.xml" Id="R9535c48bda2f41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3137aec23409a" /><Relationship Type="http://schemas.openxmlformats.org/officeDocument/2006/relationships/notesMaster" Target="/ppt/notesMasters/notesMaster1.xml" Id="R60b2a3f282fa4e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9abdd08cc745e5" /><Relationship Type="http://schemas.openxmlformats.org/officeDocument/2006/relationships/notesMaster" Target="/ppt/notesMasters/notesMaster1.xml" Id="Rf09ce24b8e9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PSHE-GROW-A2-W01 · Tuesday 3–Friday 6 November 2026</ns0:t>
            </ns0:r>
          </ns0:p>
          <ns1:p xmlns:ns1="http://schemas.openxmlformats.org/drawingml/2006/main">
            <ns1:r>
              <ns1:t>Title and big question: 0 minutes.</ns1:t>
            </ns1:r>
          </ns1:p>
          <ns2:p xmlns:ns2="http://schemas.openxmlformats.org/drawingml/2006/main">
            <ns2:r>
              <ns2:t>Teacher: Show the title and week range. Enter the actual teaching date in the planner. Open the big question without asking for personal experiences.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GROW-PSHE-W1-E1; retain actual learner response and a next step.</ns4:t>
            </ns4:r>
          </ns4:p>
          <ns5:p xmlns:ns5="http://schemas.openxmlformats.org/drawingml/2006/main">
            <ns5:r>
              <ns5:t>Scheme: GROW Weekly - Autumn!C81;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https://www.nhs.uk/live-well/; https://www.nhs.uk/live-well/exercise/physical-activity-guidelines-children-and-young-people/;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PSHE-GROW-A2-W01 · Tuesday 3–Friday 6 November 2026</ns0:t>
            </ns0:r>
          </ns0:p>
          <ns1:p xmlns:ns1="http://schemas.openxmlformats.org/drawingml/2006/main">
            <ns1:r>
              <ns1:t>Arrival and regulation: 4 minutes.</ns1:t>
            </ns1:r>
          </ns1:p>
          <ns2:p xmlns:ns2="http://schemas.openxmlformats.org/drawingml/2006/main">
            <ns2:r>
              <ns2:t>Teacher: Take a private check-in. Offer a quiet start, water, a seated stretch or adult support. Identify where a learner can seek private help and explain the right to pass.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GROW-PSHE-W1-E1; retain actual learner response and a next step.</ns4:t>
            </ns4:r>
          </ns4:p>
          <ns5:p xmlns:ns5="http://schemas.openxmlformats.org/drawingml/2006/main">
            <ns5:r>
              <ns5:t>Scheme: GROW Weekly - Autumn!C81;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https://www.nhs.uk/live-well/; https://www.nhs.uk/live-well/exercise/physical-activity-guidelines-children-and-young-people/;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PSHE-GROW-A2-W01 · Tuesday 3–Friday 6 November 2026</ns0:t>
            </ns0:r>
          </ns0:p>
          <ns1:p xmlns:ns1="http://schemas.openxmlformats.org/drawingml/2006/main">
            <ns1:r>
              <ns1:t>Starter: 2 minutes.</ns1:t>
            </ns1:r>
          </ns1:p>
          <ns2:p xmlns:ns2="http://schemas.openxmlformats.org/drawingml/2006/main">
            <ns2:r>
              <ns2:t>Teacher: Describe the fictional picture aloud. Read the prompt without inviting disclosure. Accept a pointed clue or a quiet spoken answer. The pupil need not decode the image independently.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GROW-PSHE-W1-E1; retain actual learner response and a next step.</ns4:t>
            </ns4:r>
          </ns4:p>
          <ns5:p xmlns:ns5="http://schemas.openxmlformats.org/drawingml/2006/main">
            <ns5:r>
              <ns5:t>Scheme: GROW Weekly - Autumn!C81;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https://www.nhs.uk/live-well/; https://www.nhs.uk/live-well/exercise/physical-activity-guidelines-children-and-young-people/;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PSHE-GROW-A2-W01 · Tuesday 3–Friday 6 November 2026</ns0:t>
            </ns0:r>
          </ns0:p>
          <ns1:p xmlns:ns1="http://schemas.openxmlformats.org/drawingml/2006/main">
            <ns1:r>
              <ns1:t>Today: 0 minutes.</ns1:t>
            </ns1:r>
          </ns1:p>
          <ns2:p xmlns:ns2="http://schemas.openxmlformats.org/drawingml/2006/main">
            <ns2:r>
              <ns2:t>Teacher: Read the scheme objective verbatim. Explain each I can check in plain words. The evidence is a local formative response, not completed award assessment.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GROW-PSHE-W1-E1; retain actual learner response and a next step.</ns4:t>
            </ns4:r>
          </ns4:p>
          <ns5:p xmlns:ns5="http://schemas.openxmlformats.org/drawingml/2006/main">
            <ns5:r>
              <ns5:t>Scheme: GROW Weekly - Autumn!C81;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https://www.nhs.uk/live-well/; https://www.nhs.uk/live-well/exercise/physical-activity-guidelines-children-and-young-people/;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PSHE-GROW-A2-W01 · Tuesday 3–Friday 6 November 2026</ns0:t>
            </ns0:r>
          </ns0:p>
          <ns1:p xmlns:ns1="http://schemas.openxmlformats.org/drawingml/2006/main">
            <ns1:r>
              <ns1:t>I Do: 5 minutes.</ns1:t>
            </ns1:r>
          </ns1:p>
          <ns2:p xmlns:ns2="http://schemas.openxmlformats.org/drawingml/2006/main">
            <ns2:r>
              <ns2:t>Teacher: Model each line aloud. Distinguish an observed clue from a guess. Ask what changed when the person paused. Keep the unsafe action hypothetical.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GROW-PSHE-W1-E1; retain actual learner response and a next step.</ns4:t>
            </ns4:r>
          </ns4:p>
          <ns5:p xmlns:ns5="http://schemas.openxmlformats.org/drawingml/2006/main">
            <ns5:r>
              <ns5:t>Scheme: GROW Weekly - Autumn!C81;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https://www.nhs.uk/live-well/; https://www.nhs.uk/live-well/exercise/physical-activity-guidelines-children-and-young-people/;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PSHE-GROW-A2-W01 · Tuesday 3–Friday 6 November 2026</ns0:t>
            </ns0:r>
          </ns0:p>
          <ns1:p xmlns:ns1="http://schemas.openxmlformats.org/drawingml/2006/main">
            <ns1:r>
              <ns1:t>We Do: 5 minutes.</ns1:t>
            </ns1:r>
          </ns1:p>
          <ns2:p xmlns:ns2="http://schemas.openxmlformats.org/drawingml/2006/main">
            <ns2:r>
              <ns2:t>Teacher: Read the hinge and offer A/B/C response cards, pointing or a quiet response. Ask for a reason. B. The wet floor could cause a slip. Keeping clear and telling the adult reduces the risk. A and C add to it. Re-model and use a fresh case if the risk is missed.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GROW-PSHE-W1-E1; retain actual learner response and a next step.</ns4:t>
            </ns4:r>
          </ns4:p>
          <ns5:p xmlns:ns5="http://schemas.openxmlformats.org/drawingml/2006/main">
            <ns5:r>
              <ns5:t>Scheme: GROW Weekly - Autumn!C81;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https://www.nhs.uk/live-well/; https://www.nhs.uk/live-well/exercise/physical-activity-guidelines-children-and-young-people/;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PSHE-GROW-A2-W01 · Tuesday 3–Friday 6 November 2026</ns0:t>
            </ns0:r>
          </ns0:p>
          <ns1:p xmlns:ns1="http://schemas.openxmlformats.org/drawingml/2006/main">
            <ns1:r>
              <ns1:t>You Do practice: 12 minutes.</ns1:t>
            </ns1:r>
          </ns1:p>
          <ns2:p xmlns:ns2="http://schemas.openxmlformats.org/drawingml/2006/main">
            <ns2:r>
              <ns2:t>Teacher: Use Support Cards page 1 and labels on page 2. Supported learners start with two cases; independent and aspire routes use six. Allow more than one defensible judgement when explained. Keep the assessed choice with the learner.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GROW-PSHE-W1-E1; retain actual learner response and a next step.</ns4:t>
            </ns4:r>
          </ns4:p>
          <ns5:p xmlns:ns5="http://schemas.openxmlformats.org/drawingml/2006/main">
            <ns5:r>
              <ns5:t>Scheme: GROW Weekly - Autumn!C81;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https://www.nhs.uk/live-well/; https://www.nhs.uk/live-well/exercise/physical-activity-guidelines-children-and-young-people/;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PSHE-GROW-A2-W01 · Tuesday 3–Friday 6 November 2026</ns0:t>
            </ns0:r>
          </ns0:p>
          <ns1:p xmlns:ns1="http://schemas.openxmlformats.org/drawingml/2006/main">
            <ns1:r>
              <ns1:t>You Do evidence: 6 minutes.</ns1:t>
            </ns1:r>
          </ns1:p>
          <ns2:p xmlns:ns2="http://schemas.openxmlformats.org/drawingml/2006/main">
            <ns2:r>
              <ns2:t>Teacher: Use the Evidence Sheet. Record the chosen case, clue, reason, next step and response after feedback. Read or scribe exact words without giving the reason. A model answer does not count as the learner’s own evidence.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GROW-PSHE-W1-E1; retain actual learner response and a next step.</ns4:t>
            </ns4:r>
          </ns4:p>
          <ns5:p xmlns:ns5="http://schemas.openxmlformats.org/drawingml/2006/main">
            <ns5:r>
              <ns5:t>Scheme: GROW Weekly - Autumn!C81;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https://www.nhs.uk/live-well/; https://www.nhs.uk/live-well/exercise/physical-activity-guidelines-children-and-young-people/;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PSHE-GROW-A2-W01 · Tuesday 3–Friday 6 November 2026</ns0:t>
            </ns0:r>
          </ns0:p>
          <ns1:p xmlns:ns1="http://schemas.openxmlformats.org/drawingml/2006/main">
            <ns1:r>
              <ns1:t>Tidy and evidence check: 4 minutes.</ns1:t>
            </ns1:r>
          </ns1:p>
          <ns2:p xmlns:ns2="http://schemas.openxmlformats.org/drawingml/2006/main">
            <ns2:r>
              <ns2:t>Teacher: Check ownership and actual support. Keep completed work under local practice. Return cards and hear one next step. No safeguarding account belongs on the evidence form.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GROW-PSHE-W1-E1; retain actual learner response and a next step.</ns4:t>
            </ns4:r>
          </ns4:p>
          <ns5:p xmlns:ns5="http://schemas.openxmlformats.org/drawingml/2006/main">
            <ns5:r>
              <ns5:t>Scheme: GROW Weekly - Autumn!C81;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https://www.nhs.uk/live-well/; https://www.nhs.uk/live-well/exercise/physical-activity-guidelines-children-and-young-people/;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PSHE-GROW-A2-W01 · Tuesday 3–Friday 6 November 2026</ns0:t>
            </ns0:r>
          </ns0:p>
          <ns1:p xmlns:ns1="http://schemas.openxmlformats.org/drawingml/2006/main">
            <ns1:r>
              <ns1:t>Exit ticket: 2 minutes.</ns1:t>
            </ns1:r>
          </ns1:p>
          <ns2:p xmlns:ns2="http://schemas.openxmlformats.org/drawingml/2006/main">
            <ns2:r>
              <ns2:t>Teacher: Use the exit prompts for a private or spoken, drawn, written or pointed response. Record what remains unclear and plan another fictional example. Do not make participation in a public performance a condition of success.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GROW-PSHE-W1-E1; retain actual learner response and a next step.</ns4:t>
            </ns4:r>
          </ns4:p>
          <ns5:p xmlns:ns5="http://schemas.openxmlformats.org/drawingml/2006/main">
            <ns5:r>
              <ns5:t>Scheme: GROW Weekly - Autumn!C81;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https://www.nhs.uk/live-well/; https://www.nhs.uk/live-well/exercise/physical-activity-guidelines-children-and-young-people/;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PSHE-GROW-A2-W01 · Tuesday 3–Friday 6 November 2026</ns0:t>
            </ns0:r>
          </ns0:p>
          <ns1:p xmlns:ns1="http://schemas.openxmlformats.org/drawingml/2006/main">
            <ns1:r>
              <ns1:t>Vocabulary: 0 minutes.</ns1:t>
            </ns1:r>
          </ns1:p>
          <ns2:p xmlns:ns2="http://schemas.openxmlformats.org/drawingml/2006/main">
            <ns2:r>
              <ns2:t>Teacher: Keep the mat available throughout. Read key words aloud, connect them to the fictional cases and accept a home-language first response where helpful.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GROW-PSHE-W1-E1; retain actual learner response and a next step.</ns4:t>
            </ns4:r>
          </ns4:p>
          <ns5:p xmlns:ns5="http://schemas.openxmlformats.org/drawingml/2006/main">
            <ns5:r>
              <ns5:t>Scheme: GROW Weekly - Autumn!C81;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https://www.nhs.uk/live-well/; https://www.nhs.uk/live-well/exercise/physical-activity-guidelines-children-and-young-people/;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PSHE-GROW-A2-W01 · Tuesday 3–Friday 6 November 2026</ns0:t>
            </ns0:r>
          </ns0:p>
          <ns1:p xmlns:ns1="http://schemas.openxmlformats.org/drawingml/2006/main">
            <ns1:r>
              <ns1:t>Staff brief: 0 minutes.</ns1:t>
            </ns1:r>
          </ns1:p>
          <ns2:p xmlns:ns2="http://schemas.openxmlformats.org/drawingml/2006/main">
            <ns2:r>
              <ns2:t>Teacher: Hidden adult reference. Use the planner, case key and local safeguarding route. Record the learner’s voice, the audience, the reply and the next action. No forced disclosure or cold calling.</ns2:t>
            </ns2:r>
          </ns2:p>
          <ns3:p xmlns:ns3="http://schemas.openxmlformats.org/drawingml/2006/main">
            <ns3:r>
              <ns3:t>TA: offer processing time, read or scribe exact words; record support without supplying the assessed reason.</ns3:t>
            </ns3:r>
          </ns3:p>
          <ns4:p xmlns:ns4="http://schemas.openxmlformats.org/drawingml/2006/main">
            <ns4:r>
              <ns4:t>Evidence: GROW-PSHE-W1-E1; retain actual learner response and a next step.</ns4:t>
            </ns4:r>
          </ns4:p>
          <ns5:p xmlns:ns5="http://schemas.openxmlformats.org/drawingml/2006/main">
            <ns5:r>
              <ns5:t>Scheme: GROW Weekly - Autumn!C81; GROW - Autumn!D13, I13, J13; revision 9ed44bdf.</ns5:t>
            </ns5:r>
          </ns5:p>
          <ns6:p xmlns:ns6="http://schemas.openxmlformats.org/drawingml/2006/main">
            <ns6:r>
              <ns6:t>Unit: Keeping safe, healthy &amp; well</ns6:t>
            </ns6:r>
          </ns6:p>
          <ns7:p xmlns:ns7="http://schemas.openxmlformats.org/drawingml/2006/main">
            <ns7:r>
              <ns7:t>Accreditation: PSHE Association programme of study; [AWARD] [QUAL], '[QUAL]', '[QUAL]'.</ns7:t>
            </ns7:r>
          </ns7:p>
          <ns8:p xmlns:ns8="http://schemas.openxmlformats.org/drawingml/2006/main">
            <ns8:r>
              <ns8:t>Assessment: F: scenario sorting.  S: 'my trusted network' + safe/unsafe task (Dec).</ns8:t>
            </ns8:r>
          </ns8:p>
          <ns9:p xmlns:ns9="http://schemas.openxmlformats.org/drawingml/2006/main">
            <ns9:r>
              <ns9:t>Sources: https://www.nhs.uk/live-well/; https://www.nhs.uk/live-well/exercise/physical-activity-guidelines-children-and-young-people/; https://pshe-association.org.uk/guidance/ks1-5/handling-complex-issues-safely-classroom</ns9:t>
            </ns9:r>
          </ns9:p>
          <ns10:p xmlns:ns10="http://schemas.openxmlformats.org/drawingml/2006/main">
            <ns10:r>
              <ns10:t>Made by Matt · © Matt Roper · CC BY-NC-SA 4.0: free for classroom use, share and adapt with credit, no resale</ns10:t>
            </ns10:r>
          </ns1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bd2734f3949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05ae6f99d4a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3726fc20d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e64f518564e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5cf5d6a97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bbc7b7d54a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5fc6a297904e7d" /><Relationship Type="http://schemas.openxmlformats.org/officeDocument/2006/relationships/slideLayout" Target="/ppt/slideLayouts/slideLayout1.xml" Id="R12242226f6ae4fb8" /><Relationship Type="http://schemas.openxmlformats.org/officeDocument/2006/relationships/slideLayout" Target="/ppt/slideLayouts/slideLayout2.xml" Id="R4c9041799c814233" /><Relationship Type="http://schemas.openxmlformats.org/officeDocument/2006/relationships/slideLayout" Target="/ppt/slideLayouts/slideLayout3.xml" Id="Rf92f518c139547f2" /><Relationship Type="http://schemas.openxmlformats.org/officeDocument/2006/relationships/slideLayout" Target="/ppt/slideLayouts/slideLayout4.xml" Id="R17b0f0872a6c4012" /><Relationship Type="http://schemas.openxmlformats.org/officeDocument/2006/relationships/slideLayout" Target="/ppt/slideLayouts/slideLayout5.xml" Id="R95089bedba364c20" /><Relationship Type="http://schemas.openxmlformats.org/officeDocument/2006/relationships/slideLayout" Target="/ppt/slideLayouts/slideLayout6.xml" Id="R5d9c146d3d6f4e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242226f6ae4fb8"/>
    <p:sldLayoutId xmlns:r="http://schemas.openxmlformats.org/officeDocument/2006/relationships" id="2147483650" r:id="R4c9041799c814233"/>
    <p:sldLayoutId xmlns:r="http://schemas.openxmlformats.org/officeDocument/2006/relationships" id="2147483651" r:id="Rf92f518c139547f2"/>
    <p:sldLayoutId xmlns:r="http://schemas.openxmlformats.org/officeDocument/2006/relationships" id="2147483652" r:id="R17b0f0872a6c4012"/>
    <p:sldLayoutId xmlns:r="http://schemas.openxmlformats.org/officeDocument/2006/relationships" id="2147483653" r:id="R95089bedba364c20"/>
    <p:sldLayoutId xmlns:r="http://schemas.openxmlformats.org/officeDocument/2006/relationships" id="2147483654" r:id="R5d9c146d3d6f4e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15d58e22544e7" /><Relationship Type="http://schemas.openxmlformats.org/officeDocument/2006/relationships/notesSlide" Target="/ppt/notesSlides/notesSlide1.xml" Id="Ra9f77fbe70c3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19643cce24813" /><Relationship Type="http://schemas.openxmlformats.org/officeDocument/2006/relationships/notesSlide" Target="/ppt/notesSlides/notesSlide2.xml" Id="Rda26f811207e40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95255ebee4187" /><Relationship Type="http://schemas.openxmlformats.org/officeDocument/2006/relationships/image" Target="/ppt/media/image.jpeg" Id="R87ca9eec94ea4c42" /><Relationship Type="http://schemas.openxmlformats.org/officeDocument/2006/relationships/notesSlide" Target="/ppt/notesSlides/notesSlide3.xml" Id="Rd30cd001fdc34f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6fcaae6fe4ecd" /><Relationship Type="http://schemas.openxmlformats.org/officeDocument/2006/relationships/notesSlide" Target="/ppt/notesSlides/notesSlide4.xml" Id="Rbbc722ce6ceb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b6e66bd9414474" /><Relationship Type="http://schemas.openxmlformats.org/officeDocument/2006/relationships/notesSlide" Target="/ppt/notesSlides/notesSlide5.xml" Id="R535d1e722e44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63b74467bd414f" /><Relationship Type="http://schemas.openxmlformats.org/officeDocument/2006/relationships/notesSlide" Target="/ppt/notesSlides/notesSlide6.xml" Id="Ra090871d4851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7b38b06f34c92" /><Relationship Type="http://schemas.openxmlformats.org/officeDocument/2006/relationships/notesSlide" Target="/ppt/notesSlides/notesSlide7.xml" Id="R34b183ae9bcf4a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9d5890359a4567" /><Relationship Type="http://schemas.openxmlformats.org/officeDocument/2006/relationships/notesSlide" Target="/ppt/notesSlides/notesSlide8.xml" Id="R941c20f52dc6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75ed5fc584fd5" /><Relationship Type="http://schemas.openxmlformats.org/officeDocument/2006/relationships/notesSlide" Target="/ppt/notesSlides/notesSlide9.xml" Id="R5ad80cf219c8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6b6f0679454feb" /><Relationship Type="http://schemas.openxmlformats.org/officeDocument/2006/relationships/notesSlide" Target="/ppt/notesSlides/notesSlide10.xml" Id="Rce1092717fb445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5a86e9943249be" /><Relationship Type="http://schemas.openxmlformats.org/officeDocument/2006/relationships/notesSlide" Target="/ppt/notesSlides/notesSlide11.xml" Id="Raadf6de2a4cc4b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d48de1450c45eb" /><Relationship Type="http://schemas.openxmlformats.org/officeDocument/2006/relationships/notesSlide" Target="/ppt/notesSlides/notesSlide12.xml" Id="R2030fa05042a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TITLE AND BIG QUESTION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 / 12</ns1:t>
            </ns1:r>
          </ns1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4200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Healthy choices and everyday risks</ns5:t>
            </ns5:r>
          </ns5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buNone/>
              <ns6:def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46B68"/>
                </ns6:solidFill>
                <ns6:latin typeface="Arial"/>
                <ns6:ea typeface="Arial"/>
                <ns6:cs typeface="Arial"/>
              </ns6:rPr>
              <ns6:t>Week 1 · 3–6 November 2026 · 40 minutes</ns6:t>
            </ns6:r>
          </ns6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PSHE-GROW-A2-W01</ns2:t>
            </ns2:r>
          </ns2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could help us stay well and safe?</ns7:t>
            </ns7:r>
          </ns7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We use made-up cases. You can pass.</ns8:t>
            </ns8:r>
          </ns8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Point, say, draw or write.</ns9:t>
            </ns9:r>
          </ns9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ARRIVAL AND REGULATION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2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Ready for a calm start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how you feel in private.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Choose a quiet seat or a short pause.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Water or a seated stretch may help.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Ask the adult if you need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We use made-up cases, not personal stories.</ns10:t>
            </ns10:r>
          </ns10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You can pass and try another case.</ns11:t>
            </ns11:r>
          </ns11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STARTER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3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A clue in the picture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PSHE-GROW-A2-W01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pic>
        <p:nvPicPr>
          <p:cNvPr id="18" name="" descr="Fictional school corridor. A pupil notices a spill while an adult is nearby.">
            <a:extLst xmlns:a="http://schemas.openxmlformats.org/drawingml/2006/main">
              <a:ext uri="{FF2B5EF4-FFF2-40B4-BE49-F238E27FC236}">
                <a16:creationId xmlns:a16="http://schemas.microsoft.com/office/drawing/2014/main" id="{028D2357-EB6C-424E-A2E6-DBD8B5691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a9eec94ea4c42"/>
          <a:stretch xmlns:a="http://schemas.openxmlformats.org/drawingml/2006/main"/>
        </p:blipFill>
        <p:spPr>
          <a:xfrm xmlns:a="http://schemas.openxmlformats.org/drawingml/2006/main">
            <a:off x="609600" y="1638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Look at the wet floor.</ns6:t>
            </ns6:r>
          </ns6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99704"/>
            <a:ext cx="4200525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What could happen?</ns7:t>
            </ns7:r>
          </ns7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4907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Point to a clue.</ns8:t>
            </ns8:r>
          </ns8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83864"/>
            <a:ext cx="4200525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What could the person do?</ns9:t>
            </ns9:r>
          </ns9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TODAY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4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Today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PSHE-GROW-A2-W01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Identify healthy choices and everyday risks.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I can name a choice that helps us stay well.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 can spot a clue to a risk.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I can choose a safer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I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5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A safer step in a made-up case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PSHE-GROW-A2-W01</ns2:t>
            </ns2:r>
          </ns2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Sam sees a wet patch on the floor.</ns6:t>
            </ns6:r>
          </ns6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Clue: the floor is wet.</ns7:t>
            </ns7:r>
          </ns7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Risk: someone could slip.</ns8:t>
            </ns8:r>
          </ns8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Sam stops and keeps clear.</ns9:t>
            </ns9:r>
          </ns9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250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Sam tells the adult nearby.</ns10:t>
            </ns10:r>
          </ns10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250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The adult deals with the spill.</ns11:t>
            </ns11:r>
          </ns11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46B68"/>
                </ns12:solidFill>
                <ns12:latin typeface="Arial"/>
                <ns12:ea typeface="Arial"/>
                <ns12:cs typeface="Arial"/>
              </ns12:rPr>
              <ns12:t>A risk is a chance of harm. We can take a safer step.</ns12:t>
            </ns12:r>
          </ns12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WE DO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6 / 12  ·  5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Which step reduces the risk?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PSHE-GROW-A2-W01</ns2:t>
            </ns2:r>
          </ns2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A wet patch blocks the path. What next?</ns6:t>
            </ns6:r>
          </ns6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A  Run across it.</ns7:t>
            </ns7:r>
          </ns7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B  Keep clear. Tell an adult.</ns8:t>
            </ns8:r>
          </ns8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  Ask a friend to slide on it.</ns9:t>
            </ns9:r>
          </ns9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PRACTICE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7 / 12  ·  12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Our case sort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Sort the case cards. Give a reason.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Supported: start with two cases.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Independent: sort all six cases.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Aspire: name a fact that could change a choice.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Point, say, draw or write your own view.</ns10:t>
            </ns10:r>
          </ns10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YOU DO EVIDENCE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8 / 12  ·  6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My clue and safer step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PSHE-GROW-A2-W01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Choose one case for your own sheet.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Record a clue and your reason.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Choose a safer next step.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Check your work with the adult.</ns9:t>
            </ns9:r>
          </ns9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TIDY AND EVIDENCE CHECK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9 / 12  ·  4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Tidy and check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PSHE-GROW-A2-W01</ns2:t>
            </ns2:r>
          </ns2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Check your name or ID and date.</ns6:t>
            </ns6:r>
          </ns6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Keep your own clue, reason and next step.</ns7:t>
            </ns7:r>
          </ns7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Record the help you used.</ns8:t>
            </ns8:r>
          </ns8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250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Put cards away. Tell your next step.</ns9:t>
            </ns9:r>
          </ns9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EXIT TICKET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10 / 12  ·  2 min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Exit ticket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PSHE-GROW-A2-W01</ns2:t>
            </ns2:r>
          </ns2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250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Name one choice that helps us stay well.</ns6:t>
            </ns6:r>
          </ns6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250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Name one risk and a safer step.</ns7:t>
            </ns7:r>
          </ns7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250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One clue is __. The safer step is __.</ns8:t>
            </ns8:r>
          </ns8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VOCABULARY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11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Words that help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PSHE-GROW-A2-W01</ns2:t>
            </ns2:r>
          </ns2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Healthy: Helps us stay well.</ns6:t>
            </ns6:r>
          </ns6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329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Risk: A chance that harm could happen.</ns7:t>
            </ns7:r>
          </ns7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2961"/>
            <a:ext cx="5219700" cy="6751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Clue: A fact that helps us work things out.</ns8:t>
            </ns8:r>
          </ns8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8593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Safer: Less chance of harm.</ns9:t>
            </ns9:r>
          </ns9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Choice: One thing we can pick or do.</ns10:t>
            </ns10:r>
          </ns10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329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1:p xmlns:ns11="http://schemas.openxmlformats.org/drawingml/2006/main">
            <ns11:pPr algn="l">
              <ns11:def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defRPr>
            </ns11:pPr>
            <ns11:r>
              <ns11:rPr sz="2025" b="0">
                <ns11:solidFill>
                  <ns11:srgbClr val="17384A"/>
                </ns11:solidFill>
                <ns11:latin typeface="Arial"/>
                <ns11:ea typeface="Arial"/>
                <ns11:cs typeface="Arial"/>
              </ns11:rPr>
              <ns11:t>Wellbeing: How we feel and cope.</ns11:t>
            </ns11:r>
          </ns11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99207"/>
            <a:ext cx="52197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2:p xmlns:ns12="http://schemas.openxmlformats.org/drawingml/2006/main">
            <ns12:pPr algn="l">
              <ns12:def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defRPr>
            </ns12:pPr>
            <ns12:r>
              <ns12:rPr sz="2025" b="0">
                <ns12:solidFill>
                  <ns12:srgbClr val="17384A"/>
                </ns12:solidFill>
                <ns12:latin typeface="Arial"/>
                <ns12:ea typeface="Arial"/>
                <ns12:cs typeface="Arial"/>
              </ns12:rPr>
              <ns12:t>Help: Support from someone.</ns12:t>
            </ns12:r>
          </ns12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0:p xmlns:ns0="http://schemas.openxmlformats.org/drawingml/2006/main">
            <ns0:pPr algn="l">
              <ns0:buNone/>
              <ns0:def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defRPr>
            </ns0:pPr>
            <ns0:r>
              <ns0:rPr sz="1275" b="1">
                <ns0:solidFill>
                  <ns0:srgbClr val="146B68"/>
                </ns0:solidFill>
                <ns0:latin typeface="Arial"/>
                <ns0:ea typeface="Arial"/>
                <ns0:cs typeface="Arial"/>
              </ns0:rPr>
              <ns0:t>STAFF BRIEF</ns0:t>
            </ns0:r>
          </ns0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1:p xmlns:ns1="http://schemas.openxmlformats.org/drawingml/2006/main">
            <ns1:pPr algn="r">
              <ns1:buNone/>
              <ns1:def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defRPr>
            </ns1:pPr>
            <ns1:r>
              <ns1:rPr sz="1275" b="0">
                <ns1:solidFill>
                  <ns1:srgbClr val="586C77"/>
                </ns1:solidFill>
                <ns1:latin typeface="Arial"/>
                <ns1:ea typeface="Arial"/>
                <ns1:cs typeface="Arial"/>
              </ns1:rPr>
              <ns1:t>12 / 12</ns1:t>
            </ns1:r>
          </ns1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5:p xmlns:ns5="http://schemas.openxmlformats.org/drawingml/2006/main">
            <ns5:pPr algn="l">
              <ns5:buNone/>
              <ns5:def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defRPr>
            </ns5:pPr>
            <ns5:r>
              <ns5:rPr sz="3225" b="1">
                <ns5:solidFill>
                  <ns5:srgbClr val="17384A"/>
                </ns5:solidFill>
                <ns5:latin typeface="Arial"/>
                <ns5:ea typeface="Arial"/>
                <ns5:cs typeface="Arial"/>
              </ns5:rPr>
              <ns5:t>Staff brief</ns5:t>
            </ns5:r>
          </ns5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ns2:p xmlns:ns2="http://schemas.openxmlformats.org/drawingml/2006/main">
            <ns2:pPr algn="l">
              <ns2:buNone/>
              <ns2:def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defRPr>
            </ns2:pPr>
            <ns2:r>
              <ns2:rPr sz="1200" b="1">
                <ns2:solidFill>
                  <ns2:srgbClr val="146B68"/>
                </ns2:solidFill>
                <ns2:latin typeface="Arial"/>
                <ns2:ea typeface="Arial"/>
                <ns2:cs typeface="Arial"/>
              </ns2:rPr>
              <ns2:t>PSHE-GROW-A2-W01</ns2:t>
            </ns2:r>
          </ns2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3:p xmlns:ns3="http://schemas.openxmlformats.org/drawingml/2006/main">
            <ns3:pPr algn="r">
              <ns3:buNone/>
              <ns3:def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defRPr>
            </ns3:pPr>
            <ns3:r>
              <ns3:rPr sz="1200" b="0">
                <ns3:solidFill>
                  <ns3:srgbClr val="586C77"/>
                </ns3:solidFill>
                <ns3:latin typeface="Arial"/>
                <ns3:ea typeface="Arial"/>
                <ns3:cs typeface="Arial"/>
              </ns3:rPr>
              <ns3:t>Public edition</ns3:t>
            </ns3:r>
          </ns3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ns4:p xmlns:ns4="http://schemas.openxmlformats.org/drawingml/2006/main">
            <ns4:pPr algn="l">
              <ns4:buNone/>
              <ns4:def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defRPr>
            </ns4:pPr>
            <ns4:r>
              <ns4:rPr sz="863" b="0">
                <ns4:solidFill>
                  <ns4:srgbClr val="586C77"/>
                </ns4:solidFill>
                <ns4:latin typeface="Arial"/>
                <ns4:ea typeface="Arial"/>
                <ns4:cs typeface="Arial"/>
              </ns4:rPr>
              <ns4:t>Made by Matt · © Matt Roper · CC BY-NC-SA 4.0: free for classroom use, share and adapt with credit, no resale</ns4:t>
            </ns4:r>
          </ns4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6:p xmlns:ns6="http://schemas.openxmlformats.org/drawingml/2006/main">
            <ns6:pPr algn="l">
              <ns6:def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defRPr>
            </ns6:pPr>
            <ns6:r>
              <ns6:rPr sz="2025" b="0">
                <ns6:solidFill>
                  <ns6:srgbClr val="17384A"/>
                </ns6:solidFill>
                <ns6:latin typeface="Arial"/>
                <ns6:ea typeface="Arial"/>
                <ns6:cs typeface="Arial"/>
              </ns6:rPr>
              <ns6:t>Use fictional cases and a right to pass.</ns6:t>
            </ns6:r>
          </ns6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7:p xmlns:ns7="http://schemas.openxmlformats.org/drawingml/2006/main">
            <ns7:pPr algn="l">
              <ns7:def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defRPr>
            </ns7:pPr>
            <ns7:r>
              <ns7:rPr sz="2025" b="0">
                <ns7:solidFill>
                  <ns7:srgbClr val="17384A"/>
                </ns7:solidFill>
                <ns7:latin typeface="Arial"/>
                <ns7:ea typeface="Arial"/>
                <ns7:cs typeface="Arial"/>
              </ns7:rPr>
              <ns7:t>Check the private-help route before teaching.</ns7:t>
            </ns7:r>
          </ns7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8:p xmlns:ns8="http://schemas.openxmlformats.org/drawingml/2006/main">
            <ns8:pPr algn="l">
              <ns8:def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defRPr>
            </ns8:pPr>
            <ns8:r>
              <ns8:rPr sz="2025" b="0">
                <ns8:solidFill>
                  <ns8:srgbClr val="17384A"/>
                </ns8:solidFill>
                <ns8:latin typeface="Arial"/>
                <ns8:ea typeface="Arial"/>
                <ns8:cs typeface="Arial"/>
              </ns8:rPr>
              <ns8:t>TA: read or scribe the learner’s own words.</ns8:t>
            </ns8:r>
          </ns8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9:p xmlns:ns9="http://schemas.openxmlformats.org/drawingml/2006/main">
            <ns9:pPr algn="l">
              <ns9:def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defRPr>
            </ns9:pPr>
            <ns9:r>
              <ns9:rPr sz="2025" b="0">
                <ns9:solidFill>
                  <ns9:srgbClr val="17384A"/>
                </ns9:solidFill>
                <ns9:latin typeface="Arial"/>
                <ns9:ea typeface="Arial"/>
                <ns9:cs typeface="Arial"/>
              </ns9:rPr>
              <ns9:t>Record the reason, next step and support.</ns9:t>
            </ns9:r>
          </ns9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ns10:p xmlns:ns10="http://schemas.openxmlformats.org/drawingml/2006/main">
            <ns10:pPr algn="l">
              <ns10:def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defRPr>
            </ns10:pPr>
            <ns10:r>
              <ns10:rPr sz="2025" b="0">
                <ns10:solidFill>
                  <ns10:srgbClr val="17384A"/>
                </ns10:solidFill>
                <ns10:latin typeface="Arial"/>
                <ns10:ea typeface="Arial"/>
                <ns10:cs typeface="Arial"/>
              </ns10:rPr>
              <ns10:t>Lundy: Space, Voice, Audience, Influence.</ns10:t>
            </ns10:r>
          </ns10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[SYS]</ap:Application>
  <ap:PresentationFormat/>
  <ap:Slides>12</ap:Slides>
  <ap:Notes>12</ap:Notes>
  <ap:HiddenSlides>1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Lesson resource</dc:creator>
  <dc:title>Healthy choices and everyday risks</dc:title>
  <dc:subject>PSHE-GROW-A2-W01</dc:subject>
  <cp:lastModifiedBy/>
  <dc:description>GROW PSHE Autumn 2 Week 1</dc:description>
  <cp:keywords/>
</cp:coreProperties>
</file>