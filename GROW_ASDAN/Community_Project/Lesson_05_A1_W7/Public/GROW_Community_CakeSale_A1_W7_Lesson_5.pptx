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24e704f0664e25" /><Relationship Type="http://schemas.openxmlformats.org/officeDocument/2006/relationships/extended-properties" Target="/docProps/app.xml" Id="R1acd0add5dc84b86" /><Relationship Type="http://schemas.openxmlformats.org/officeDocument/2006/relationships/officeDocument" Target="/ppt/presentation.xml" Id="R16a702be88d44b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9ba6b7a28645b5"/>
  </p:sldMasterIdLst>
  <p:notesMasterIdLst>
    <p:notesMasterId xmlns:r="http://schemas.openxmlformats.org/officeDocument/2006/relationships" r:id="R0f88288c0dfb4c97"/>
  </p:notesMasterIdLst>
  <p:sldIdLst>
    <p:sldId xmlns:r="http://schemas.openxmlformats.org/officeDocument/2006/relationships" id="256" r:id="R798b8870bd854f70"/>
    <p:sldId xmlns:r="http://schemas.openxmlformats.org/officeDocument/2006/relationships" id="257" r:id="R1e0db0df367f44d3"/>
    <p:sldId xmlns:r="http://schemas.openxmlformats.org/officeDocument/2006/relationships" id="258" r:id="Rf34e4790a5f44759"/>
    <p:sldId xmlns:r="http://schemas.openxmlformats.org/officeDocument/2006/relationships" id="259" r:id="Rb4fe3eb3c9f04e8a"/>
    <p:sldId xmlns:r="http://schemas.openxmlformats.org/officeDocument/2006/relationships" id="260" r:id="R5b39f9bf24fd4857"/>
    <p:sldId xmlns:r="http://schemas.openxmlformats.org/officeDocument/2006/relationships" id="261" r:id="R619336be61734aa0"/>
    <p:sldId xmlns:r="http://schemas.openxmlformats.org/officeDocument/2006/relationships" id="262" r:id="R010deb4bad254bd9"/>
    <p:sldId xmlns:r="http://schemas.openxmlformats.org/officeDocument/2006/relationships" id="263" r:id="R4944f2ef1cc64fd4"/>
    <p:sldId xmlns:r="http://schemas.openxmlformats.org/officeDocument/2006/relationships" id="264" r:id="R0816885366184eae"/>
    <p:sldId xmlns:r="http://schemas.openxmlformats.org/officeDocument/2006/relationships" id="265" r:id="Rfcb5ec56bd294e78"/>
    <p:sldId xmlns:r="http://schemas.openxmlformats.org/officeDocument/2006/relationships" id="266" r:id="R7a8e8ba191084d35"/>
    <p:sldId xmlns:r="http://schemas.openxmlformats.org/officeDocument/2006/relationships" id="267" r:id="Rc6e9b30d6d0640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77981b46a4eee" /><Relationship Type="http://schemas.openxmlformats.org/officeDocument/2006/relationships/slideMaster" Target="/ppt/slideMasters/slideMaster1.xml" Id="R729ba6b7a28645b5" /><Relationship Type="http://schemas.openxmlformats.org/officeDocument/2006/relationships/notesMaster" Target="/ppt/notesMasters/notesMaster1.xml" Id="R0f88288c0dfb4c97" /><Relationship Type="http://schemas.openxmlformats.org/officeDocument/2006/relationships/presProps" Target="/ppt/presProps.xml" Id="Rf0a873667e284f01" /><Relationship Type="http://schemas.openxmlformats.org/officeDocument/2006/relationships/tableStyles" Target="/ppt/tableStyles.xml" Id="Re55de22818e747f5" /><Relationship Type="http://schemas.openxmlformats.org/officeDocument/2006/relationships/slide" Target="/ppt/slides/slide1.xml" Id="R798b8870bd854f70" /><Relationship Type="http://schemas.openxmlformats.org/officeDocument/2006/relationships/slide" Target="/ppt/slides/slide2.xml" Id="R1e0db0df367f44d3" /><Relationship Type="http://schemas.openxmlformats.org/officeDocument/2006/relationships/slide" Target="/ppt/slides/slide3.xml" Id="Rf34e4790a5f44759" /><Relationship Type="http://schemas.openxmlformats.org/officeDocument/2006/relationships/slide" Target="/ppt/slides/slide4.xml" Id="Rb4fe3eb3c9f04e8a" /><Relationship Type="http://schemas.openxmlformats.org/officeDocument/2006/relationships/slide" Target="/ppt/slides/slide5.xml" Id="R5b39f9bf24fd4857" /><Relationship Type="http://schemas.openxmlformats.org/officeDocument/2006/relationships/slide" Target="/ppt/slides/slide6.xml" Id="R619336be61734aa0" /><Relationship Type="http://schemas.openxmlformats.org/officeDocument/2006/relationships/slide" Target="/ppt/slides/slide7.xml" Id="R010deb4bad254bd9" /><Relationship Type="http://schemas.openxmlformats.org/officeDocument/2006/relationships/slide" Target="/ppt/slides/slide8.xml" Id="R4944f2ef1cc64fd4" /><Relationship Type="http://schemas.openxmlformats.org/officeDocument/2006/relationships/slide" Target="/ppt/slides/slide9.xml" Id="R0816885366184eae" /><Relationship Type="http://schemas.openxmlformats.org/officeDocument/2006/relationships/slide" Target="/ppt/slides/slide10.xml" Id="Rfcb5ec56bd294e78" /><Relationship Type="http://schemas.openxmlformats.org/officeDocument/2006/relationships/slide" Target="/ppt/slides/slide11.xml" Id="R7a8e8ba191084d35" /><Relationship Type="http://schemas.openxmlformats.org/officeDocument/2006/relationships/slide" Target="/ppt/slides/slide12.xml" Id="Rc6e9b30d6d0640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f0fbd973f7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24435200154c74" /><Relationship Type="http://schemas.openxmlformats.org/officeDocument/2006/relationships/notesMaster" Target="/ppt/notesMasters/notesMaster1.xml" Id="R363a8ae7214945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353266fdad4b64" /><Relationship Type="http://schemas.openxmlformats.org/officeDocument/2006/relationships/notesMaster" Target="/ppt/notesMasters/notesMaster1.xml" Id="Rd6fa55689db544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8dc0f3935c4a37" /><Relationship Type="http://schemas.openxmlformats.org/officeDocument/2006/relationships/notesMaster" Target="/ppt/notesMasters/notesMaster1.xml" Id="R8de87108fd324b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2c74d1367b4e70" /><Relationship Type="http://schemas.openxmlformats.org/officeDocument/2006/relationships/notesMaster" Target="/ppt/notesMasters/notesMaster1.xml" Id="Rdbd49ac101614c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727f2c22b24497" /><Relationship Type="http://schemas.openxmlformats.org/officeDocument/2006/relationships/notesMaster" Target="/ppt/notesMasters/notesMaster1.xml" Id="R5245adbe52f341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b45edcfba74182" /><Relationship Type="http://schemas.openxmlformats.org/officeDocument/2006/relationships/notesMaster" Target="/ppt/notesMasters/notesMaster1.xml" Id="R8dff974e548c45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0cf56e58394242" /><Relationship Type="http://schemas.openxmlformats.org/officeDocument/2006/relationships/notesMaster" Target="/ppt/notesMasters/notesMaster1.xml" Id="Rb0d8e8d7e8a647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7d35c8d05e4def" /><Relationship Type="http://schemas.openxmlformats.org/officeDocument/2006/relationships/notesMaster" Target="/ppt/notesMasters/notesMaster1.xml" Id="Rd1b2ab6c62a849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e670da499f4829" /><Relationship Type="http://schemas.openxmlformats.org/officeDocument/2006/relationships/notesMaster" Target="/ppt/notesMasters/notesMaster1.xml" Id="R4863b78db1034c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089a71eaa5465a" /><Relationship Type="http://schemas.openxmlformats.org/officeDocument/2006/relationships/notesMaster" Target="/ppt/notesMasters/notesMaster1.xml" Id="Rce382c45acfb46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f29a3bcef0465b" /><Relationship Type="http://schemas.openxmlformats.org/officeDocument/2006/relationships/notesMaster" Target="/ppt/notesMasters/notesMaster1.xml" Id="R4b55d52a49bb4c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184db1d17c4935" /><Relationship Type="http://schemas.openxmlformats.org/officeDocument/2006/relationships/notesMaster" Target="/ppt/notesMasters/notesMaster1.xml" Id="R5e85b005a87049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Title + big question</a:t>
            </a:r>
          </a:p>
          <a:p xmlns:a="http://schemas.openxmlformats.org/drawingml/2006/main">
            <a:r>
              <a:t>Timing: 0 minutes. Reference only.</a:t>
            </a:r>
          </a:p>
          <a:p xmlns:a="http://schemas.openxmlformats.org/drawingml/2006/main">
            <a:r>
              <a:t>TA brief: Display before the period. One 40-minute lesson; calendar W10, exact date and Wed/Thu period left for the project teacher. Use actual L3 plans and L4 trial records. Do not report the sale or donation as completed.</a:t>
            </a:r>
          </a:p>
          <a:p xmlns:a="http://schemas.openxmlformats.org/drawingml/2006/main">
            <a:r>
              <a:t>Cold Call: What did you do in this piece of evidence?</a:t>
            </a:r>
          </a:p>
          <a:p xmlns:a="http://schemas.openxmlformats.org/drawingml/2006/main">
            <a:r>
              <a:t>Expected response: The learner identifies their own action, date and result; a shared product needs an individual contribution.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Arrival &amp; regulation check</a:t>
            </a:r>
          </a:p>
          <a:p xmlns:a="http://schemas.openxmlformats.org/drawingml/2006/main">
            <a:r>
              <a:t>Timing: 3 minutes. </a:t>
            </a:r>
          </a:p>
          <a:p xmlns:a="http://schemas.openxmlformats.org/drawingml/2006/main">
            <a:r>
              <a:t>TA brief: Private colour check. Offer a quiet evidence station and a choice of starting with a photo, plan or label. No pupil phone or board typing. The adult handles any device. If evidence is upsetting, use neutral project work and follow safeguarding procedures.</a:t>
            </a:r>
          </a:p>
          <a:p xmlns:a="http://schemas.openxmlformats.org/drawingml/2006/main">
            <a:r>
              <a:t>Cold Call: Why can our group reach this target?</a:t>
            </a:r>
          </a:p>
          <a:p xmlns:a="http://schemas.openxmlformats.org/drawingml/2006/main">
            <a:r>
              <a:t>Expected response: The learner links a choice to checked trial quantities, price and costs, with the decision tool they used.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Retrieval</a:t>
            </a:r>
          </a:p>
          <a:p xmlns:a="http://schemas.openxmlformats.org/drawingml/2006/main">
            <a:r>
              <a:t>Timing: 4 minutes. </a:t>
            </a:r>
          </a:p>
          <a:p xmlns:a="http://schemas.openxmlformats.org/drawingml/2006/main">
            <a:r>
              <a:t>TA brief: Pre-teach evidence, caption, goal and review using the picture mat. Retrieve actual work and feedback only. If a learner missed the trial, accept their genuine L3 contribution and plan a later evidence opportunity; never invent a role or quote. Refresh the remaining words during the worked example.</a:t>
            </a:r>
          </a:p>
          <a:p xmlns:a="http://schemas.openxmlformats.org/drawingml/2006/main">
            <a:r>
              <a:t>Cold Call: What will you change in your plan, and why?</a:t>
            </a:r>
          </a:p>
          <a:p xmlns:a="http://schemas.openxmlformats.org/drawingml/2006/main">
            <a:r>
              <a:t>Expected response: The learner names an improvement supported by actual evidence, an owner or support route, and a review point.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Today: objective + "I can" statements with evidence links</a:t>
            </a:r>
          </a:p>
          <a:p xmlns:a="http://schemas.openxmlformats.org/drawingml/2006/main">
            <a:r>
              <a:t>Timing: 2 minutes. </a:t>
            </a:r>
          </a:p>
          <a:p xmlns:a="http://schemas.openxmlformats.org/drawingml/2006/main">
            <a:r>
              <a:t>TA brief: Separate the shared project goal from the learner’s own target. L5-E1 and L5-E2 link to Project learning link: [QUAL]; [AWARD] unit awards: [QUAL]; [QUAL]. Keep each learner’s dated evidence and contribution. This mid-project review does not claim award completion.</a:t>
            </a:r>
          </a:p>
          <a:p xmlns:a="http://schemas.openxmlformats.org/drawingml/2006/main">
            <a:r>
              <a:t>Cold Call: What did you do in this piece of evidence?</a:t>
            </a:r>
          </a:p>
          <a:p xmlns:a="http://schemas.openxmlformats.org/drawingml/2006/main">
            <a:r>
              <a:t>Expected response: The learner identifies their own action, date and result; a shared product needs an individual contribution.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LESSON_SOURCE.json · issue-2; owner accreditation ruling, 22 October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I DO</a:t>
            </a:r>
          </a:p>
          <a:p xmlns:a="http://schemas.openxmlformats.org/drawingml/2006/main">
            <a:r>
              <a:t>Timing: 5 minutes. </a:t>
            </a:r>
          </a:p>
          <a:p xmlns:a="http://schemas.openxmlformats.org/drawingml/2006/main">
            <a:r>
              <a:t>TA brief: Use one actual permitted item under a visualiser, with the owner’s agreement. Model the four-part caption: item, date, personal action, result. The blanks must be filled from the real item. Contrast “we baked” with a precise account of the learner’s action. Then point to the relevant newly proposed goal; no copied model counts as individual evidence.</a:t>
            </a:r>
          </a:p>
          <a:p xmlns:a="http://schemas.openxmlformats.org/drawingml/2006/main">
            <a:r>
              <a:t>Cold Call: Why can our group reach this target?</a:t>
            </a:r>
          </a:p>
          <a:p xmlns:a="http://schemas.openxmlformats.org/drawingml/2006/main">
            <a:r>
              <a:t>Expected response: The learner links a choice to checked trial quantities, price and costs, with the decision tool they used.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WE DO</a:t>
            </a:r>
          </a:p>
          <a:p xmlns:a="http://schemas.openxmlformats.org/drawingml/2006/main">
            <a:r>
              <a:t>Timing: 8 minutes. </a:t>
            </a:r>
          </a:p>
          <a:p xmlns:a="http://schemas.openxmlformats.org/drawingml/2006/main">
            <a:r>
              <a:t>TA brief: Before class, prepare two or three feasible net-donation targets from real trial yield, staff demand, proposed price and agreed costs. Use a calculator: expected takings less agreed costs gives the amount potentially available to donate. Do not substitute fabricated numbers. 2 minutes: compare options; 2 minutes: one private vote per learner and tally; 2 minutes: agree a measurable awareness goal, safe-practice goal and learner-proposed sale name; 2 minutes: hinge and confirm. Resolve a tie with one reason per option then a second vote. Each learner records their choice, named technique and reason in their book; group voting alone does not show each learner’s contribution. Hinge: “Help the charity” is broad; “Donate £__ after costs by __” can be checked once real values/date are entered. Expected error: treating takings as the donation or thinking a high target is automatically achievable. Re-check costs and capacity. The adult retains mandatory safety controls; learners choose how to evidence them. If actual costing information is missing, record a provisional target and a named check by L6, rather than calling it realistic or final. Copy the agreed goals into books and the planner record, dated as first set now.</a:t>
            </a:r>
          </a:p>
          <a:p xmlns:a="http://schemas.openxmlformats.org/drawingml/2006/main">
            <a:r>
              <a:t>Cold Call: What will you change in your plan, and why?</a:t>
            </a:r>
          </a:p>
          <a:p xmlns:a="http://schemas.openxmlformats.org/drawingml/2006/main">
            <a:r>
              <a:t>Expected response: The learner names an improvement supported by actual evidence, an owner or support route, and a review point.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LESSON_SOURCE.json · issue-2; owner accreditation ruling, 22 October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YOU DO — in your book</a:t>
            </a:r>
          </a:p>
          <a:p xmlns:a="http://schemas.openxmlformats.org/drawingml/2006/main">
            <a:r>
              <a:t>Timing: 5 minutes. </a:t>
            </a:r>
          </a:p>
          <a:p xmlns:a="http://schemas.openxmlformats.org/drawingml/2006/main">
            <a:r>
              <a:t>TA brief: Five-minute evidence sort in books. Three genuine items per learner, which can be different records of their work: plan, product label, dated photo, tally or observation note. Draft or dictate concise captions; number references. Each links to the new success criteria: supports / gap / not yet testable. A trial does not prove later sale income or awareness. Support reads/rephrases/scribes without supplying assessed choices or reasons. Take a movement/reset pause if needed within this time.</a:t>
            </a:r>
          </a:p>
          <a:p xmlns:a="http://schemas.openxmlformats.org/drawingml/2006/main">
            <a:r>
              <a:t>Cold Call: What did you do in this piece of evidence?</a:t>
            </a:r>
          </a:p>
          <a:p xmlns:a="http://schemas.openxmlformats.org/drawingml/2006/main">
            <a:r>
              <a:t>Expected response: The learner identifies their own action, date and result; a shared product needs an individual contribution.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YOU DO — evidence capture</a:t>
            </a:r>
          </a:p>
          <a:p xmlns:a="http://schemas.openxmlformats.org/drawingml/2006/main">
            <a:r>
              <a:t>Timing: 8 minutes. </a:t>
            </a:r>
          </a:p>
          <a:p xmlns:a="http://schemas.openxmlformats.org/drawingml/2006/main">
            <a:r>
              <a:t>TA brief: Eight minutes to select/copy the best book captions or attach clearly referenced captioned work to L5-E1. L5-E2 reviews the learner’s own project plan, tools and outcomes; select one achievable improvement for Autumn 2. Read back a scribe’s exact words. Do not rush a learner into invented evidence. Unfinished records stay NOT YET and receive an agreed completion time. Keep dated individual evidence, support and feedback. No award completion is claimed here.</a:t>
            </a:r>
          </a:p>
          <a:p xmlns:a="http://schemas.openxmlformats.org/drawingml/2006/main">
            <a:r>
              <a:t>Cold Call: Why can our group reach this target?</a:t>
            </a:r>
          </a:p>
          <a:p xmlns:a="http://schemas.openxmlformats.org/drawingml/2006/main">
            <a:r>
              <a:t>Expected response: The learner links a choice to checked trial quantities, price and costs, with the decision tool they used.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LESSON_SOURCE.json · issue-2; owner accreditation ruling, 22 October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Evidence check before hand-in</a:t>
            </a:r>
          </a:p>
          <a:p xmlns:a="http://schemas.openxmlformats.org/drawingml/2006/main">
            <a:r>
              <a:t>Timing: 2 minutes. </a:t>
            </a:r>
          </a:p>
          <a:p xmlns:a="http://schemas.openxmlformats.org/drawingml/2006/main">
            <a:r>
              <a:t>TA brief: Check name/ID, dates, individual role, three actual references, goal links, personal target, named technique and reason. Record the learner’s own contribution, support, feedback and next step. Keep L5-E1 and L5-E2 with the learner’s dated project evidence.</a:t>
            </a:r>
          </a:p>
          <a:p xmlns:a="http://schemas.openxmlformats.org/drawingml/2006/main">
            <a:r>
              <a:t>Cold Call: What will you change in your plan, and why?</a:t>
            </a:r>
          </a:p>
          <a:p xmlns:a="http://schemas.openxmlformats.org/drawingml/2006/main">
            <a:r>
              <a:t>Expected response: The learner names an improvement supported by actual evidence, an owner or support route, and a review point.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LESSON_SOURCE.json · issue-2; owner accreditation ruling, 22 October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Exit ticket</a:t>
            </a:r>
          </a:p>
          <a:p xmlns:a="http://schemas.openxmlformats.org/drawingml/2006/main">
            <a:r>
              <a:t>Timing: 3 minutes. </a:t>
            </a:r>
          </a:p>
          <a:p xmlns:a="http://schemas.openxmlformats.org/drawingml/2006/main">
            <a:r>
              <a:t>TA brief: Invite a spoken, written or pointed exit with a reason. Record the improvement owner and check date. Feed the real tally, recipe/portion/label issues, revised plan and target into L6 after the next authoring gate. No learner has to disclose personal situations outside the project.</a:t>
            </a:r>
          </a:p>
          <a:p xmlns:a="http://schemas.openxmlformats.org/drawingml/2006/main">
            <a:r>
              <a:t>Cold Call: What did you do in this piece of evidence?</a:t>
            </a:r>
          </a:p>
          <a:p xmlns:a="http://schemas.openxmlformats.org/drawingml/2006/main">
            <a:r>
              <a:t>Expected response: The learner identifies their own action, date and result; a shared product needs an individual contribution.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Key vocabulary mat (EAL)</a:t>
            </a:r>
          </a:p>
          <a:p xmlns:a="http://schemas.openxmlformats.org/drawingml/2006/main">
            <a:r>
              <a:t>Timing: 0 minutes. Reference only.</a:t>
            </a:r>
          </a:p>
          <a:p xmlns:a="http://schemas.openxmlformats.org/drawingml/2006/main">
            <a:r>
              <a:t>TA brief: Reference slide: pre-teach in Retrieval and revisit at each task. Explain criteria as the checks we agree before the sale. A target is an intended result; a result is what actually happened. No additional teaching minutes.</a:t>
            </a:r>
          </a:p>
          <a:p xmlns:a="http://schemas.openxmlformats.org/drawingml/2006/main">
            <a:r>
              <a:t>Cold Call: Why can our group reach this target?</a:t>
            </a:r>
          </a:p>
          <a:p xmlns:a="http://schemas.openxmlformats.org/drawingml/2006/main">
            <a:r>
              <a:t>Expected response: The learner links a choice to checked trial quantities, price and costs, with the decision tool they used.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TA / staff brief</a:t>
            </a:r>
          </a:p>
          <a:p xmlns:a="http://schemas.openxmlformats.org/drawingml/2006/main">
            <a:r>
              <a:t>Timing: 0 minutes. Reference only.</a:t>
            </a:r>
          </a:p>
          <a:p xmlns:a="http://schemas.openxmlformats.org/drawingml/2006/main">
            <a:r>
              <a:t>TA brief: Hidden staff brief. Three Cold Calls with wait time and a private response/pass. Keep assessed ideas the learner’s own. Lundy influence must be visible in the goal/next-step record. Use only the six authorised codes. Keep dated individual evidence, support and feedback. See the planner for the SoW accreditation links and the offer to the Communication portfolio.</a:t>
            </a:r>
          </a:p>
          <a:p xmlns:a="http://schemas.openxmlformats.org/drawingml/2006/main">
            <a:r>
              <a:t>Cold Call: What will you change in your plan, and why?</a:t>
            </a:r>
          </a:p>
          <a:p xmlns:a="http://schemas.openxmlformats.org/drawingml/2006/main">
            <a:r>
              <a:t>Expected response: The learner names an improvement supported by actual evidence, an owner or support route, and a review point.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LESSON_SOURCE.json · issue-2; owner accreditation ruling, 22 October 2026.</a:t>
            </a:r>
          </a:p>
          <a:p xmlns:a="http://schemas.openxmlformats.org/drawingml/2006/main">
            <a:r>
              <a:t>Lundy: Space: Speak, point, write, dictate or use a quiet desk; offer thinking time and a pass. Voice: Own the evidence choice, target preference, reason and personal improvement. Audience: the project teacher hears the group decision; the assessor hears the individual review. Influence: The agreed goal sheet, sale name and next steps change; record a reason if safety or feasibility limits a choice.</a:t>
            </a:r>
          </a:p>
          <a:p xmlns:a="http://schemas.openxmlformats.org/drawingml/2006/main">
            <a:r>
              <a:t>Source: GROW scheme of work, C175/C180 — Centre-held scheme of work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a84754eb441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0eed91a6247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cc8e1f0c946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496efeda742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2afbfec064e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5a34cfabe4c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CD81B1-0611-4885-893D-DAD339C3A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D760CE-852D-436A-9C54-DDAF4981DD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33E4D9-9E08-43A7-9069-B0B5DDEF9F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343EB3-9459-4F2A-A80D-52783DADE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5F1DD9-46E6-4215-8CBD-AE0278CEAA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84170E-C7C8-4896-8DC5-268FA2AF1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975070-AA67-477D-8E3E-792BF14CA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5BA1AB-2330-4BFB-AE7C-058B52BBC7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7BACAD-701F-4182-B839-059B91EE2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CDBF78-6B20-432A-B6E7-4316C8138C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2220523164f90" /><Relationship Type="http://schemas.openxmlformats.org/officeDocument/2006/relationships/slideLayout" Target="/ppt/slideLayouts/slideLayout1.xml" Id="Rfc22495538164004" /><Relationship Type="http://schemas.openxmlformats.org/officeDocument/2006/relationships/slideLayout" Target="/ppt/slideLayouts/slideLayout2.xml" Id="R90d0dcf021054756" /><Relationship Type="http://schemas.openxmlformats.org/officeDocument/2006/relationships/slideLayout" Target="/ppt/slideLayouts/slideLayout3.xml" Id="Racf61e44defc4878" /><Relationship Type="http://schemas.openxmlformats.org/officeDocument/2006/relationships/slideLayout" Target="/ppt/slideLayouts/slideLayout4.xml" Id="R5911d40d57224943" /><Relationship Type="http://schemas.openxmlformats.org/officeDocument/2006/relationships/slideLayout" Target="/ppt/slideLayouts/slideLayout5.xml" Id="R378bc2ada6464aa6" /><Relationship Type="http://schemas.openxmlformats.org/officeDocument/2006/relationships/slideLayout" Target="/ppt/slideLayouts/slideLayout6.xml" Id="Re6a4838cdec8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22495538164004"/>
    <p:sldLayoutId xmlns:r="http://schemas.openxmlformats.org/officeDocument/2006/relationships" id="2147483650" r:id="R90d0dcf021054756"/>
    <p:sldLayoutId xmlns:r="http://schemas.openxmlformats.org/officeDocument/2006/relationships" id="2147483651" r:id="Racf61e44defc4878"/>
    <p:sldLayoutId xmlns:r="http://schemas.openxmlformats.org/officeDocument/2006/relationships" id="2147483652" r:id="R5911d40d57224943"/>
    <p:sldLayoutId xmlns:r="http://schemas.openxmlformats.org/officeDocument/2006/relationships" id="2147483653" r:id="R378bc2ada6464aa6"/>
    <p:sldLayoutId xmlns:r="http://schemas.openxmlformats.org/officeDocument/2006/relationships" id="2147483654" r:id="Re6a4838cdec8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2e5d30670497b" /><Relationship Type="http://schemas.openxmlformats.org/officeDocument/2006/relationships/notesSlide" Target="/ppt/notesSlides/notesSlide1.xml" Id="R51d8f2961e264e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3a86544ec48e4" /><Relationship Type="http://schemas.openxmlformats.org/officeDocument/2006/relationships/notesSlide" Target="/ppt/notesSlides/notesSlide2.xml" Id="Ra8585a44ddcc47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39b5d28cc64b01" /><Relationship Type="http://schemas.openxmlformats.org/officeDocument/2006/relationships/image" Target="/ppt/media/image.png" Id="R7492cef41f994322" /><Relationship Type="http://schemas.openxmlformats.org/officeDocument/2006/relationships/notesSlide" Target="/ppt/notesSlides/notesSlide3.xml" Id="R4ac2f6a4967f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9dc71ac064ec1" /><Relationship Type="http://schemas.openxmlformats.org/officeDocument/2006/relationships/notesSlide" Target="/ppt/notesSlides/notesSlide4.xml" Id="R4687adaad81a46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9fa6210a2432d" /><Relationship Type="http://schemas.openxmlformats.org/officeDocument/2006/relationships/image" Target="/ppt/media/image2.png" Id="R8736b23fce514c9a" /><Relationship Type="http://schemas.openxmlformats.org/officeDocument/2006/relationships/image" Target="/ppt/media/image3.png" Id="R5062568a2c4542e0" /><Relationship Type="http://schemas.openxmlformats.org/officeDocument/2006/relationships/image" Target="/ppt/media/image4.png" Id="Ref7b21063a694821" /><Relationship Type="http://schemas.openxmlformats.org/officeDocument/2006/relationships/image" Target="/ppt/media/image5.png" Id="Rdc13b12e22a04832" /><Relationship Type="http://schemas.openxmlformats.org/officeDocument/2006/relationships/notesSlide" Target="/ppt/notesSlides/notesSlide5.xml" Id="R9784f4008f434e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b7a2918694e00" /><Relationship Type="http://schemas.openxmlformats.org/officeDocument/2006/relationships/image" Target="/ppt/media/image6.png" Id="Rd8779d3690dd4f03" /><Relationship Type="http://schemas.openxmlformats.org/officeDocument/2006/relationships/notesSlide" Target="/ppt/notesSlides/notesSlide6.xml" Id="R9e84973c478a4a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63a774b6c45c8" /><Relationship Type="http://schemas.openxmlformats.org/officeDocument/2006/relationships/notesSlide" Target="/ppt/notesSlides/notesSlide7.xml" Id="R51f7536925904e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770848bc740c0" /><Relationship Type="http://schemas.openxmlformats.org/officeDocument/2006/relationships/notesSlide" Target="/ppt/notesSlides/notesSlide8.xml" Id="R71e66f5008554c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fb7e35e0a4e4d" /><Relationship Type="http://schemas.openxmlformats.org/officeDocument/2006/relationships/image" Target="/ppt/media/image7.png" Id="R9198c4759fef4e6c" /><Relationship Type="http://schemas.openxmlformats.org/officeDocument/2006/relationships/notesSlide" Target="/ppt/notesSlides/notesSlide9.xml" Id="R1d9dfbe0281540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6aee2227c4f9b" /><Relationship Type="http://schemas.openxmlformats.org/officeDocument/2006/relationships/notesSlide" Target="/ppt/notesSlides/notesSlide10.xml" Id="R903eaa0ee92042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7ac3930064090" /><Relationship Type="http://schemas.openxmlformats.org/officeDocument/2006/relationships/image" Target="/ppt/media/image8.png" Id="Rf214807b8f914748" /><Relationship Type="http://schemas.openxmlformats.org/officeDocument/2006/relationships/image" Target="/ppt/media/image9.png" Id="Rc68e4c68c8044a2a" /><Relationship Type="http://schemas.openxmlformats.org/officeDocument/2006/relationships/image" Target="/ppt/media/image10.png" Id="Rc1185fa33f0f47a7" /><Relationship Type="http://schemas.openxmlformats.org/officeDocument/2006/relationships/image" Target="/ppt/media/image11.png" Id="R57b387b458b34499" /><Relationship Type="http://schemas.openxmlformats.org/officeDocument/2006/relationships/image" Target="/ppt/media/image12.png" Id="R0145cf27a588416c" /><Relationship Type="http://schemas.openxmlformats.org/officeDocument/2006/relationships/image" Target="/ppt/media/image13.png" Id="Rf4065c802ed1499f" /><Relationship Type="http://schemas.openxmlformats.org/officeDocument/2006/relationships/image" Target="/ppt/media/image14.png" Id="R421d0540eec140cc" /><Relationship Type="http://schemas.openxmlformats.org/officeDocument/2006/relationships/image" Target="/ppt/media/image15.png" Id="R044875dbef8b43ed" /><Relationship Type="http://schemas.openxmlformats.org/officeDocument/2006/relationships/notesSlide" Target="/ppt/notesSlides/notesSlide11.xml" Id="Ra7734258acc64b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79c4e500e484b" /><Relationship Type="http://schemas.openxmlformats.org/officeDocument/2006/relationships/notesSlide" Target="/ppt/notesSlides/notesSlide12.xml" Id="R7e66be6b946a47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A38B896-B930-4F21-B2EA-BA338ED6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GROW Community Project · Charity Cake Sale for Zoe's Place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6E73320-BF82-4421-8315-F722456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Evidence and mid-project review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137146C-5044-438F-85ED-DC6FCA69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0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Which evidence best proves my contribution?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9DC339-C1AF-49DB-B7EC-1ACFB730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Lesson 5 · 40 minutes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FF25A6-A69F-457F-9430-E22E22B7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Date / time: __________</a:t>
            </a:r>
          </a:p>
        </p:txBody>
      </p:sp>
    </p:spTree>
    <p:extLst>
      <p:ext uri="{BB962C8B-B14F-4D97-AF65-F5344CB8AC3E}">
        <p14:creationId xmlns:p14="http://schemas.microsoft.com/office/powerpoint/2010/main" val="1932752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95A80691-D106-482B-B204-FD8FFEFD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Arrival &amp; regulation check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80BD6F0-C985-4E62-9681-C1BA0D00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60E53D-7F0D-42AB-9DF8-D5AE109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2 / 12 · 3 min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1DB50CE-C55E-4AFA-B2E1-EFCD73EE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Choose your check-in and first item.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B3FABA8-7478-411C-844A-837BFD6F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E82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315E82"/>
                </a:solidFill>
                <a:latin typeface="Segoe UI"/>
                <a:ea typeface="Segoe UI"/>
                <a:cs typeface="Segoe UI"/>
              </a:rPr>
              <a:t>BLUE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3B9AFCB-F194-42CA-A203-A54C501A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Low energy.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CF7FE80-150D-44C9-9A60-FA045C8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77358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377358"/>
                </a:solidFill>
                <a:latin typeface="Segoe UI"/>
                <a:ea typeface="Segoe UI"/>
                <a:cs typeface="Segoe UI"/>
              </a:rPr>
              <a:t>GREEN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08D51F2-731D-4935-BD5F-F1782BE8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765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Ready.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C2988AB-B099-4A6B-9869-12174793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24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89620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89620A"/>
                </a:solidFill>
                <a:latin typeface="Segoe UI"/>
                <a:ea typeface="Segoe UI"/>
                <a:cs typeface="Segoe UI"/>
              </a:rPr>
              <a:t>AMBER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18350B4-E270-425B-909B-1B52C446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765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Pause.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1AADEBE-F618-46B0-9EC0-B67EDFC3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24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3B3B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A43B3B"/>
                </a:solidFill>
                <a:latin typeface="Segoe UI"/>
                <a:ea typeface="Segoe UI"/>
                <a:cs typeface="Segoe UI"/>
              </a:rPr>
              <a:t>RED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7F7443E-5CA5-4805-AA72-AF992AD2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765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Adult help.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24DBFD2-6035-41B4-9541-39980DBE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Reset: water, stretch, quiet seat or adult.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12AF8E2-B4C0-4A11-92F8-94BF2E97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Start with a photo, plan or label.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84AF67A-FC99-4F15-A2BB-AC3BFAB7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feel __. I can start with __.</a:t>
            </a:r>
          </a:p>
        </p:txBody>
      </p:sp>
    </p:spTree>
    <p:extLst>
      <p:ext uri="{BB962C8B-B14F-4D97-AF65-F5344CB8AC3E}">
        <p14:creationId xmlns:p14="http://schemas.microsoft.com/office/powerpoint/2010/main" val="882851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3689C55D-096C-452F-83BE-3F12421E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Retrieval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EBBC89-C425-439E-825F-77242BA3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25F6B33-7846-44B5-AB81-3440DDB3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3 / 12 · 4 min</a:t>
            </a:r>
          </a:p>
        </p:txBody>
      </p:sp>
      <p:pic>
        <p:nvPicPr>
          <p:cNvPr id="4" name="Use your own actual plan and trial evidence." descr="Use your own actual plan and trial evidence.">
            <a:extLst xmlns:a="http://schemas.openxmlformats.org/drawingml/2006/main">
              <a:ext uri="{FF2B5EF4-FFF2-40B4-BE49-F238E27FC236}">
                <a16:creationId xmlns:a16="http://schemas.microsoft.com/office/drawing/2014/main" id="{4FFADA6F-36A7-4B89-A9F9-20B8EB9A8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2cef41f994322"/>
          <a:stretch xmlns:a="http://schemas.openxmlformats.org/drawingml/2006/main"/>
        </p:blipFill>
        <p:spPr>
          <a:xfrm xmlns:a="http://schemas.openxmlformats.org/drawingml/2006/main">
            <a:off x="609600" y="15430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2DE0277-8500-46E6-935A-02A5044F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81150"/>
            <a:ext cx="956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Find your plan and trial evidence.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8D53D68-7969-4349-AD98-91909315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One job I did was __.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25A526C-9286-4B36-880D-E65E5512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One result or piece of feedback was __.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326F4ED-BEAD-40A9-A4CE-B565AF90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Word mat: evidence · caption · goal · review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B49DA2E-B8A6-4BF1-8F28-4295FB12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This shows __.</a:t>
            </a:r>
          </a:p>
        </p:txBody>
      </p:sp>
    </p:spTree>
    <p:extLst>
      <p:ext uri="{BB962C8B-B14F-4D97-AF65-F5344CB8AC3E}">
        <p14:creationId xmlns:p14="http://schemas.microsoft.com/office/powerpoint/2010/main" val="1265417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5B584E9D-D5C0-4707-8CDA-C9B2B3A1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Today: objective + I can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450061-9850-4CFC-9EAA-6AF52D00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A3A56C-C365-4449-99B8-8785FC38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4 / 12 · 2 min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DFE64F-C2F7-4017-ABFF-7290AD50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Show my progress. Choose a next step.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CD39EF7-4A0B-48D7-A1C5-96CDED7A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can help choose our goals.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76E151C-8B46-4EDD-A356-4390308F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can caption three pieces of my evidence.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80ADA99-A83A-4FF1-9BCD-2E298900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can review a target and name a change.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4DFD2A3-B486-46BA-A33B-D28285D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L5-E1 · My evidence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EB8C1BD-0FEA-4811-9F3A-41E71FD8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L5-E2 · My next step</a:t>
            </a:r>
          </a:p>
        </p:txBody>
      </p:sp>
    </p:spTree>
    <p:extLst>
      <p:ext uri="{BB962C8B-B14F-4D97-AF65-F5344CB8AC3E}">
        <p14:creationId xmlns:p14="http://schemas.microsoft.com/office/powerpoint/2010/main" val="1432518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0">
            <a:extLst xmlns:a="http://schemas.openxmlformats.org/drawingml/2006/main">
              <a:ext uri="{FF2B5EF4-FFF2-40B4-BE49-F238E27FC236}">
                <a16:creationId xmlns:a16="http://schemas.microsoft.com/office/drawing/2014/main" id="{8452224A-50B1-47F4-80CC-BD83258D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DO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7ABCEB-3CEB-4DF8-9FD0-4036BB2B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AD5BDE-E3E6-4DFC-AC11-2F354358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5 / 12 · 5 min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9485B9F-A171-49E7-A5B8-6C8CD06A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A caption shows my part</a:t>
            </a:r>
          </a:p>
        </p:txBody>
      </p:sp>
      <p:pic>
        <p:nvPicPr>
          <p:cNvPr id="5" name="WHAT" descr="WHAT">
            <a:extLst xmlns:a="http://schemas.openxmlformats.org/drawingml/2006/main">
              <a:ext uri="{FF2B5EF4-FFF2-40B4-BE49-F238E27FC236}">
                <a16:creationId xmlns:a16="http://schemas.microsoft.com/office/drawing/2014/main" id="{84BB7FA8-C6A3-428F-AB1D-73FC1D32A5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6b23fce514c9a"/>
          <a:stretch xmlns:a="http://schemas.openxmlformats.org/drawingml/2006/main"/>
        </p:blipFill>
        <p:spPr>
          <a:xfrm xmlns:a="http://schemas.openxmlformats.org/drawingml/2006/main">
            <a:off x="609600" y="2314575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FEC6794-62F4-4206-A525-9658168D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145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WHAT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213672C-0617-4075-92B1-24987FB7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670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This is __.</a:t>
            </a:r>
          </a:p>
        </p:txBody>
      </p:sp>
      <p:pic>
        <p:nvPicPr>
          <p:cNvPr id="8" name="WHEN" descr="WHEN">
            <a:extLst xmlns:a="http://schemas.openxmlformats.org/drawingml/2006/main">
              <a:ext uri="{FF2B5EF4-FFF2-40B4-BE49-F238E27FC236}">
                <a16:creationId xmlns:a16="http://schemas.microsoft.com/office/drawing/2014/main" id="{86E4E6A5-DB1F-41EC-95F0-5B7B3E3B26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2568a2c4542e0"/>
          <a:stretch xmlns:a="http://schemas.openxmlformats.org/drawingml/2006/main"/>
        </p:blipFill>
        <p:spPr>
          <a:xfrm xmlns:a="http://schemas.openxmlformats.org/drawingml/2006/main">
            <a:off x="6324600" y="2314575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416F0FE9-5772-49C0-8B5F-01477E25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WHEN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6BAFF768-CBB3-4F36-B8EF-66DB399C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670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On __.</a:t>
            </a:r>
          </a:p>
        </p:txBody>
      </p:sp>
      <p:pic>
        <p:nvPicPr>
          <p:cNvPr id="11" name="MY ROLE" descr="MY ROLE">
            <a:extLst xmlns:a="http://schemas.openxmlformats.org/drawingml/2006/main">
              <a:ext uri="{FF2B5EF4-FFF2-40B4-BE49-F238E27FC236}">
                <a16:creationId xmlns:a16="http://schemas.microsoft.com/office/drawing/2014/main" id="{FE0ACA89-EF98-492F-8D16-5F43C6D79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b21063a694821"/>
          <a:stretch xmlns:a="http://schemas.openxmlformats.org/drawingml/2006/main"/>
        </p:blipFill>
        <p:spPr>
          <a:xfrm xmlns:a="http://schemas.openxmlformats.org/drawingml/2006/main">
            <a:off x="609600" y="3943350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1866DC54-87A4-428D-90EC-89F11776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433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MY ROLE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8C409564-FC5E-490E-AE59-72CE583E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__.</a:t>
            </a:r>
          </a:p>
        </p:txBody>
      </p:sp>
      <p:pic>
        <p:nvPicPr>
          <p:cNvPr id="14" name="RESULT" descr="RESULT">
            <a:extLst xmlns:a="http://schemas.openxmlformats.org/drawingml/2006/main">
              <a:ext uri="{FF2B5EF4-FFF2-40B4-BE49-F238E27FC236}">
                <a16:creationId xmlns:a16="http://schemas.microsoft.com/office/drawing/2014/main" id="{780222F4-25F7-455D-9DFC-DE575C7CA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3b12e22a04832"/>
          <a:stretch xmlns:a="http://schemas.openxmlformats.org/drawingml/2006/main"/>
        </p:blipFill>
        <p:spPr>
          <a:xfrm xmlns:a="http://schemas.openxmlformats.org/drawingml/2006/main">
            <a:off x="6324600" y="3943350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15" name="text-10">
            <a:extLst xmlns:a="http://schemas.openxmlformats.org/drawingml/2006/main">
              <a:ext uri="{FF2B5EF4-FFF2-40B4-BE49-F238E27FC236}">
                <a16:creationId xmlns:a16="http://schemas.microsoft.com/office/drawing/2014/main" id="{B6E9F032-C8DE-457E-BC88-C21B17D2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433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RESULT</a:t>
            </a:r>
          </a:p>
        </p:txBody>
      </p:sp>
      <p:sp>
        <p:nvSpPr>
          <p:cNvPr id="16" name="text-11">
            <a:extLst xmlns:a="http://schemas.openxmlformats.org/drawingml/2006/main">
              <a:ext uri="{FF2B5EF4-FFF2-40B4-BE49-F238E27FC236}">
                <a16:creationId xmlns:a16="http://schemas.microsoft.com/office/drawing/2014/main" id="{1A7D7CA9-1949-474C-9526-E861C205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This shows __.</a:t>
            </a:r>
          </a:p>
        </p:txBody>
      </p:sp>
      <p:sp>
        <p:nvSpPr>
          <p:cNvPr id="17" name="text-12">
            <a:extLst xmlns:a="http://schemas.openxmlformats.org/drawingml/2006/main">
              <a:ext uri="{FF2B5EF4-FFF2-40B4-BE49-F238E27FC236}">
                <a16:creationId xmlns:a16="http://schemas.microsoft.com/office/drawing/2014/main" id="{D8E0A909-2666-4693-B346-B0E3C08C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This supports our __ goal because __.</a:t>
            </a:r>
          </a:p>
        </p:txBody>
      </p:sp>
    </p:spTree>
    <p:extLst>
      <p:ext uri="{BB962C8B-B14F-4D97-AF65-F5344CB8AC3E}">
        <p14:creationId xmlns:p14="http://schemas.microsoft.com/office/powerpoint/2010/main" val="845885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B1438860-DB94-4C2A-B724-6EB4F960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WE DO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73FEE0-3B9D-490A-B828-26BF0A1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0AF8D8E-1216-4AF1-AF9C-B59E08F5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6 / 12 · 8 min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DDBE89C-15C7-4D30-B986-04E1C294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Our shared goals</a:t>
            </a:r>
          </a:p>
        </p:txBody>
      </p:sp>
      <p:pic>
        <p:nvPicPr>
          <p:cNvPr id="5" name="Choose a feasible donation target after costs." descr="Choose a feasible donation target after costs.">
            <a:extLst xmlns:a="http://schemas.openxmlformats.org/drawingml/2006/main">
              <a:ext uri="{FF2B5EF4-FFF2-40B4-BE49-F238E27FC236}">
                <a16:creationId xmlns:a16="http://schemas.microsoft.com/office/drawing/2014/main" id="{41981083-87FB-4465-8532-4AE670DE15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79d3690dd4f03"/>
          <a:stretch xmlns:a="http://schemas.openxmlformats.org/drawingml/2006/main"/>
        </p:blipFill>
        <p:spPr>
          <a:xfrm xmlns:a="http://schemas.openxmlformats.org/drawingml/2006/main">
            <a:off x="609600" y="2076450"/>
            <a:ext cx="504825" cy="50482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A384575-658D-42FC-BD92-42AB1E96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66925"/>
            <a:ext cx="1021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Money: A £__   B £__   C £__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89E97AC-66D5-48F3-B23B-66A15E19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Awareness: __ staff can tell us one agreed fact.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D5D19C9-C8F1-4218-BBCC-1D996508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Safe practice: every item has a checked label.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82E251C-BD1B-4914-B984-410AE733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Our sale name: __.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4EC6E39-8C2C-4154-B994-B196F393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Which goal can we check?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23B1487-40B2-495B-AD5A-72433A40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A Help the charity.   B Donate £__ after costs by __.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480F200C-CE38-42DE-BAF2-8553D9AA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Vote A, B or C. I choose __ because __.</a:t>
            </a:r>
          </a:p>
        </p:txBody>
      </p:sp>
    </p:spTree>
    <p:extLst>
      <p:ext uri="{BB962C8B-B14F-4D97-AF65-F5344CB8AC3E}">
        <p14:creationId xmlns:p14="http://schemas.microsoft.com/office/powerpoint/2010/main" val="1375881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21079D92-F0CC-4AE7-B0AA-43F157A4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YOU DO — in your book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9BEDEEF-FB49-45B3-AEAD-FEC1733E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A68DB8-77E9-4DCC-9C17-AAD5781D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7 / 12 · 5 min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0D75481-2D04-4CDE-98A4-D9E1F12C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Choose three real items.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CE0225C-BB3C-4189-A502-2074A554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What / when / my role / result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CE25FA-8F7D-45B7-82D0-0CC4918F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Link each item to a goal we agreed.</a:t>
            </a:r>
          </a:p>
        </p:txBody>
      </p:sp>
      <p:sp>
        <p:nvSpPr>
          <p:cNvPr id="7" name="route-6">
            <a:extLst xmlns:a="http://schemas.openxmlformats.org/drawingml/2006/main">
              <a:ext uri="{FF2B5EF4-FFF2-40B4-BE49-F238E27FC236}">
                <a16:creationId xmlns:a16="http://schemas.microsoft.com/office/drawing/2014/main" id="{AB93B178-696B-4280-9091-06E24D2F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5814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A15BD57-7027-4B2F-A506-E90048EA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SUPPORTED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8E487DD-6CDD-4906-BB99-3B7CD0DF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3276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Point to three of your items. Tell a scribe what you did.</a:t>
            </a:r>
          </a:p>
        </p:txBody>
      </p:sp>
      <p:sp>
        <p:nvSpPr>
          <p:cNvPr id="10" name="route-9">
            <a:extLst xmlns:a="http://schemas.openxmlformats.org/drawingml/2006/main">
              <a:ext uri="{FF2B5EF4-FFF2-40B4-BE49-F238E27FC236}">
                <a16:creationId xmlns:a16="http://schemas.microsoft.com/office/drawing/2014/main" id="{5B8F5CDF-BDF6-4510-9F1F-55A74436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35814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A81612D-8B77-4A77-920A-85A21B3F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997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STANDARD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32F02AE-51B0-4C7B-8F26-0BAE460D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3276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Caption three items in your book. Link each to a goal.</a:t>
            </a:r>
          </a:p>
        </p:txBody>
      </p:sp>
      <p:sp>
        <p:nvSpPr>
          <p:cNvPr id="13" name="route-12">
            <a:extLst xmlns:a="http://schemas.openxmlformats.org/drawingml/2006/main">
              <a:ext uri="{FF2B5EF4-FFF2-40B4-BE49-F238E27FC236}">
                <a16:creationId xmlns:a16="http://schemas.microsoft.com/office/drawing/2014/main" id="{80344435-F62F-4F53-AFD5-4B9902D3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5814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EE850CDC-6F45-4A20-8FB5-E2D18CFC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997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STRETCH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0DD14F1-FF5E-431C-84E0-E1474C75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67175"/>
            <a:ext cx="3276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Compare two items. Explain which proves more.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EF1FFE9-8947-4B79-985D-6D8AE58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This supports __ because __.</a:t>
            </a:r>
          </a:p>
        </p:txBody>
      </p:sp>
    </p:spTree>
    <p:extLst>
      <p:ext uri="{BB962C8B-B14F-4D97-AF65-F5344CB8AC3E}">
        <p14:creationId xmlns:p14="http://schemas.microsoft.com/office/powerpoint/2010/main" val="300430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F1C34081-3FA5-4ED9-B60D-56B230F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YOU DO — evidence capture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C794045-03FC-49DC-A703-D2E4C787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CE88AB1-E518-4DBD-B110-B96A0693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8 / 12 · 8 min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7AB5FCD-16F0-4CA1-9F12-0A604DE9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L5-E1: my three evidence captions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D06FE46-909E-4F07-95FC-E1E5AC37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L5-E2: my target, tool, result and next step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BBC767C-5D43-4C69-AF75-872A5B25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Use your own book and plan.</a:t>
            </a:r>
          </a:p>
        </p:txBody>
      </p:sp>
      <p:sp>
        <p:nvSpPr>
          <p:cNvPr id="7" name="route-6">
            <a:extLst xmlns:a="http://schemas.openxmlformats.org/drawingml/2006/main">
              <a:ext uri="{FF2B5EF4-FFF2-40B4-BE49-F238E27FC236}">
                <a16:creationId xmlns:a16="http://schemas.microsoft.com/office/drawing/2014/main" id="{989CE56A-D6D2-4266-9B5C-5A8D1862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5814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6A486BA-905D-464F-8C56-1E8E4B00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SUPPORTED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3D81EFA-CE9B-4020-BEB3-42DB9CCD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3276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Use your own plan. Say a result and one change.</a:t>
            </a:r>
          </a:p>
        </p:txBody>
      </p:sp>
      <p:sp>
        <p:nvSpPr>
          <p:cNvPr id="10" name="route-9">
            <a:extLst xmlns:a="http://schemas.openxmlformats.org/drawingml/2006/main">
              <a:ext uri="{FF2B5EF4-FFF2-40B4-BE49-F238E27FC236}">
                <a16:creationId xmlns:a16="http://schemas.microsoft.com/office/drawing/2014/main" id="{3F428493-B0EF-415A-85EF-F38505D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35814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637570D-0A68-4758-AAAE-47EB5B32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997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STANDARD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22E3AF2-8382-4A4F-9CEB-09F34286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3276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Record your tool, result and next step.</a:t>
            </a:r>
          </a:p>
        </p:txBody>
      </p:sp>
      <p:sp>
        <p:nvSpPr>
          <p:cNvPr id="13" name="route-12">
            <a:extLst xmlns:a="http://schemas.openxmlformats.org/drawingml/2006/main">
              <a:ext uri="{FF2B5EF4-FFF2-40B4-BE49-F238E27FC236}">
                <a16:creationId xmlns:a16="http://schemas.microsoft.com/office/drawing/2014/main" id="{40B25645-AC67-42AA-BA9A-65A6476C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5814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247EA1F-6038-479E-A61C-31044BDD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997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STRETCH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9A6F30C-00E3-4348-ABF2-5DBB95B1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67175"/>
            <a:ext cx="3276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Explain why your change will help. Name a limit in the evidence.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61DDCAD-129E-4CBF-A096-AB0C1349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used __. I will change __ because __.</a:t>
            </a:r>
          </a:p>
        </p:txBody>
      </p:sp>
    </p:spTree>
    <p:extLst>
      <p:ext uri="{BB962C8B-B14F-4D97-AF65-F5344CB8AC3E}">
        <p14:creationId xmlns:p14="http://schemas.microsoft.com/office/powerpoint/2010/main" val="1182641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B023A13-1531-471C-B1A1-AF70274C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Evidence check before hand-in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811FAF9-2E8F-4738-8E94-2E1017EB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500E2FB-817A-4ED7-834D-4873CE74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9 / 12 · 2 min</a:t>
            </a:r>
          </a:p>
        </p:txBody>
      </p:sp>
      <p:pic>
        <p:nvPicPr>
          <p:cNvPr id="4" name="Check your own work before handing it in." descr="Check your own work before handing it in.">
            <a:extLst xmlns:a="http://schemas.openxmlformats.org/drawingml/2006/main">
              <a:ext uri="{FF2B5EF4-FFF2-40B4-BE49-F238E27FC236}">
                <a16:creationId xmlns:a16="http://schemas.microsoft.com/office/drawing/2014/main" id="{716D3E75-E46F-4E1A-A36C-7649169788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8c4759fef4e6c"/>
          <a:stretch xmlns:a="http://schemas.openxmlformats.org/drawingml/2006/main"/>
        </p:blipFill>
        <p:spPr>
          <a:xfrm xmlns:a="http://schemas.openxmlformats.org/drawingml/2006/main">
            <a:off x="609600" y="1409700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EEF83B9-0913-401D-9793-C06E1866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24000"/>
            <a:ext cx="9629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Check my own evidence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75272BB-79F8-4627-A777-4CECD764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Three items have captions and dates.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1E49024-30FD-44E8-A326-EE226325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My part, result and goal link are clear.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D095B5F-05B3-41AE-950B-2EB040A8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My review names a change and a reason.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4A32810-B7C6-42FD-8AE1-1C723A94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My decision and named tool are recorded.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F5986A2E-80AA-470E-8D9E-23CFFB7D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need to add __.</a:t>
            </a:r>
          </a:p>
        </p:txBody>
      </p:sp>
    </p:spTree>
    <p:extLst>
      <p:ext uri="{BB962C8B-B14F-4D97-AF65-F5344CB8AC3E}">
        <p14:creationId xmlns:p14="http://schemas.microsoft.com/office/powerpoint/2010/main" val="141220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D0BD737-24E2-4191-ADDE-F73D123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Exit ticket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87EE13-3F4C-47B3-90A9-740B8110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DDB8C6-E9BE-40E8-B5D7-FE6FDFE5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10 / 12 · 3 min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D23BB4-6CB9-4C94-9ABC-9AA46F8D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Which piece best proves your contribution?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B61734F-5914-4CC7-AEE0-D96E99C6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chose __ because __.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8128F65-CF26-4436-AB89-8665356B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My next step is __.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E645D2C-4186-42B9-B3F6-ABD115E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 will check it on __.</a:t>
            </a:r>
          </a:p>
        </p:txBody>
      </p:sp>
    </p:spTree>
    <p:extLst>
      <p:ext uri="{BB962C8B-B14F-4D97-AF65-F5344CB8AC3E}">
        <p14:creationId xmlns:p14="http://schemas.microsoft.com/office/powerpoint/2010/main" val="12225981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">
            <a:extLst xmlns:a="http://schemas.openxmlformats.org/drawingml/2006/main">
              <a:ext uri="{FF2B5EF4-FFF2-40B4-BE49-F238E27FC236}">
                <a16:creationId xmlns:a16="http://schemas.microsoft.com/office/drawing/2014/main" id="{A781ACE3-6258-4A46-8AF9-EF55604F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Key vocabulary mat (EAL)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818985-8C66-461F-AABC-CD903C7F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611273-FE54-4955-B55C-8835A260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11 / 12 · Reference</a:t>
            </a:r>
          </a:p>
        </p:txBody>
      </p:sp>
      <p:pic>
        <p:nvPicPr>
          <p:cNvPr id="4" name="Work that helps show what I did." descr="Work that helps show what I did.">
            <a:extLst xmlns:a="http://schemas.openxmlformats.org/drawingml/2006/main">
              <a:ext uri="{FF2B5EF4-FFF2-40B4-BE49-F238E27FC236}">
                <a16:creationId xmlns:a16="http://schemas.microsoft.com/office/drawing/2014/main" id="{6CA5EA2F-31E7-4B3C-A510-B3B891E1E5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4807b8f914748"/>
          <a:stretch xmlns:a="http://schemas.openxmlformats.org/drawingml/2006/main"/>
        </p:blipFill>
        <p:spPr>
          <a:xfrm xmlns:a="http://schemas.openxmlformats.org/drawingml/2006/main">
            <a:off x="609600" y="13811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9F19372-F6E2-4660-9979-595D26F0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381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evidence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E6C4ECD-D324-4705-B841-73D83E83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819275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Work that helps show what I did.</a:t>
            </a:r>
          </a:p>
        </p:txBody>
      </p:sp>
      <p:pic>
        <p:nvPicPr>
          <p:cNvPr id="7" name="A short note about one item." descr="A short note about one item.">
            <a:extLst xmlns:a="http://schemas.openxmlformats.org/drawingml/2006/main">
              <a:ext uri="{FF2B5EF4-FFF2-40B4-BE49-F238E27FC236}">
                <a16:creationId xmlns:a16="http://schemas.microsoft.com/office/drawing/2014/main" id="{08B6FCD4-CD70-48D4-BFC2-3D27DBD1C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e4c68c8044a2a"/>
          <a:stretch xmlns:a="http://schemas.openxmlformats.org/drawingml/2006/main"/>
        </p:blipFill>
        <p:spPr>
          <a:xfrm xmlns:a="http://schemas.openxmlformats.org/drawingml/2006/main">
            <a:off x="609600" y="25336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A967EDC3-E695-4576-837A-C0FB178C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336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caption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F1880315-D064-4BEB-A52B-0156447C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9718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A short note about one item.</a:t>
            </a:r>
          </a:p>
        </p:txBody>
      </p:sp>
      <p:pic>
        <p:nvPicPr>
          <p:cNvPr id="10" name="What we want to achieve." descr="What we want to achieve.">
            <a:extLst xmlns:a="http://schemas.openxmlformats.org/drawingml/2006/main">
              <a:ext uri="{FF2B5EF4-FFF2-40B4-BE49-F238E27FC236}">
                <a16:creationId xmlns:a16="http://schemas.microsoft.com/office/drawing/2014/main" id="{A8ABC599-09DF-4968-BDE7-7888F12221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85fa33f0f47a7"/>
          <a:stretch xmlns:a="http://schemas.openxmlformats.org/drawingml/2006/main"/>
        </p:blipFill>
        <p:spPr>
          <a:xfrm xmlns:a="http://schemas.openxmlformats.org/drawingml/2006/main">
            <a:off x="609600" y="368617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7EC873B8-3517-4F08-B201-6E926BEF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6861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goal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5E79F6FD-B2AC-4510-99FD-17794843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24325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What we want to achieve.</a:t>
            </a:r>
          </a:p>
        </p:txBody>
      </p:sp>
      <p:pic>
        <p:nvPicPr>
          <p:cNvPr id="13" name="Checks that show success." descr="Checks that show success.">
            <a:extLst xmlns:a="http://schemas.openxmlformats.org/drawingml/2006/main">
              <a:ext uri="{FF2B5EF4-FFF2-40B4-BE49-F238E27FC236}">
                <a16:creationId xmlns:a16="http://schemas.microsoft.com/office/drawing/2014/main" id="{4928C3A3-22C7-44C3-A495-55FA264A77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387b458b34499"/>
          <a:stretch xmlns:a="http://schemas.openxmlformats.org/drawingml/2006/main"/>
        </p:blipFill>
        <p:spPr>
          <a:xfrm xmlns:a="http://schemas.openxmlformats.org/drawingml/2006/main">
            <a:off x="609600" y="48387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4" name="text-9">
            <a:extLst xmlns:a="http://schemas.openxmlformats.org/drawingml/2006/main">
              <a:ext uri="{FF2B5EF4-FFF2-40B4-BE49-F238E27FC236}">
                <a16:creationId xmlns:a16="http://schemas.microsoft.com/office/drawing/2014/main" id="{F76C125C-065E-457F-AFAA-D3B9F186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387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criteria</a:t>
            </a:r>
          </a:p>
        </p:txBody>
      </p:sp>
      <p:sp>
        <p:nvSpPr>
          <p:cNvPr id="15" name="text-10">
            <a:extLst xmlns:a="http://schemas.openxmlformats.org/drawingml/2006/main">
              <a:ext uri="{FF2B5EF4-FFF2-40B4-BE49-F238E27FC236}">
                <a16:creationId xmlns:a16="http://schemas.microsoft.com/office/drawing/2014/main" id="{6CED7866-5A7B-45B4-965E-A30BFE08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768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Checks that show success.</a:t>
            </a:r>
          </a:p>
        </p:txBody>
      </p:sp>
      <p:pic>
        <p:nvPicPr>
          <p:cNvPr id="16" name="A clear result to aim for." descr="A clear result to aim for.">
            <a:extLst xmlns:a="http://schemas.openxmlformats.org/drawingml/2006/main">
              <a:ext uri="{FF2B5EF4-FFF2-40B4-BE49-F238E27FC236}">
                <a16:creationId xmlns:a16="http://schemas.microsoft.com/office/drawing/2014/main" id="{033754D0-0A1F-4126-9893-BEF4FE36E3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5cf27a588416c"/>
          <a:stretch xmlns:a="http://schemas.openxmlformats.org/drawingml/2006/main"/>
        </p:blipFill>
        <p:spPr>
          <a:xfrm xmlns:a="http://schemas.openxmlformats.org/drawingml/2006/main">
            <a:off x="6324600" y="13811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7" name="text-11">
            <a:extLst xmlns:a="http://schemas.openxmlformats.org/drawingml/2006/main">
              <a:ext uri="{FF2B5EF4-FFF2-40B4-BE49-F238E27FC236}">
                <a16:creationId xmlns:a16="http://schemas.microsoft.com/office/drawing/2014/main" id="{F1A14076-1043-4E19-A293-F3DAD62A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381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target</a:t>
            </a:r>
          </a:p>
        </p:txBody>
      </p:sp>
      <p:sp>
        <p:nvSpPr>
          <p:cNvPr id="18" name="text-12">
            <a:extLst xmlns:a="http://schemas.openxmlformats.org/drawingml/2006/main">
              <a:ext uri="{FF2B5EF4-FFF2-40B4-BE49-F238E27FC236}">
                <a16:creationId xmlns:a16="http://schemas.microsoft.com/office/drawing/2014/main" id="{AF964C02-2AD9-48D5-A8C8-06D710A9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19275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A clear result to aim for.</a:t>
            </a:r>
          </a:p>
        </p:txBody>
      </p:sp>
      <p:pic>
        <p:nvPicPr>
          <p:cNvPr id="19" name="Check what worked and what to change." descr="Check what worked and what to change.">
            <a:extLst xmlns:a="http://schemas.openxmlformats.org/drawingml/2006/main">
              <a:ext uri="{FF2B5EF4-FFF2-40B4-BE49-F238E27FC236}">
                <a16:creationId xmlns:a16="http://schemas.microsoft.com/office/drawing/2014/main" id="{8CC856C2-0087-4C71-8611-19ADF19B7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65c802ed1499f"/>
          <a:stretch xmlns:a="http://schemas.openxmlformats.org/drawingml/2006/main"/>
        </p:blipFill>
        <p:spPr>
          <a:xfrm xmlns:a="http://schemas.openxmlformats.org/drawingml/2006/main">
            <a:off x="6324600" y="25336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0" name="text-13">
            <a:extLst xmlns:a="http://schemas.openxmlformats.org/drawingml/2006/main">
              <a:ext uri="{FF2B5EF4-FFF2-40B4-BE49-F238E27FC236}">
                <a16:creationId xmlns:a16="http://schemas.microsoft.com/office/drawing/2014/main" id="{297FCE98-905A-4214-B9DF-5BC48C84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5336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review</a:t>
            </a:r>
          </a:p>
        </p:txBody>
      </p:sp>
      <p:sp>
        <p:nvSpPr>
          <p:cNvPr id="21" name="text-14">
            <a:extLst xmlns:a="http://schemas.openxmlformats.org/drawingml/2006/main">
              <a:ext uri="{FF2B5EF4-FFF2-40B4-BE49-F238E27FC236}">
                <a16:creationId xmlns:a16="http://schemas.microsoft.com/office/drawing/2014/main" id="{398F917C-1844-4D09-8FDF-C9F64B36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718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Check what worked and what to change.</a:t>
            </a:r>
          </a:p>
        </p:txBody>
      </p:sp>
      <p:pic>
        <p:nvPicPr>
          <p:cNvPr id="22" name="Money we give to help a charity." descr="Money we give to help a charity.">
            <a:extLst xmlns:a="http://schemas.openxmlformats.org/drawingml/2006/main">
              <a:ext uri="{FF2B5EF4-FFF2-40B4-BE49-F238E27FC236}">
                <a16:creationId xmlns:a16="http://schemas.microsoft.com/office/drawing/2014/main" id="{E49DD612-E39F-4178-AAE7-7D0AF9436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d0540eec140cc"/>
          <a:stretch xmlns:a="http://schemas.openxmlformats.org/drawingml/2006/main"/>
        </p:blipFill>
        <p:spPr>
          <a:xfrm xmlns:a="http://schemas.openxmlformats.org/drawingml/2006/main">
            <a:off x="6324600" y="368617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3" name="text-15">
            <a:extLst xmlns:a="http://schemas.openxmlformats.org/drawingml/2006/main">
              <a:ext uri="{FF2B5EF4-FFF2-40B4-BE49-F238E27FC236}">
                <a16:creationId xmlns:a16="http://schemas.microsoft.com/office/drawing/2014/main" id="{19AA3541-A998-4449-9785-B987C7C0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861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donation</a:t>
            </a:r>
          </a:p>
        </p:txBody>
      </p:sp>
      <p:sp>
        <p:nvSpPr>
          <p:cNvPr id="24" name="text-16">
            <a:extLst xmlns:a="http://schemas.openxmlformats.org/drawingml/2006/main">
              <a:ext uri="{FF2B5EF4-FFF2-40B4-BE49-F238E27FC236}">
                <a16:creationId xmlns:a16="http://schemas.microsoft.com/office/drawing/2014/main" id="{F1B1CB85-701D-4A63-8E58-60F3A1E7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24325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Money we give to help a charity.</a:t>
            </a:r>
          </a:p>
        </p:txBody>
      </p:sp>
      <p:pic>
        <p:nvPicPr>
          <p:cNvPr id="25" name="Make something better." descr="Make something better.">
            <a:extLst xmlns:a="http://schemas.openxmlformats.org/drawingml/2006/main">
              <a:ext uri="{FF2B5EF4-FFF2-40B4-BE49-F238E27FC236}">
                <a16:creationId xmlns:a16="http://schemas.microsoft.com/office/drawing/2014/main" id="{5762D611-2163-42FE-9DA3-5BDEF8A90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875dbef8b43ed"/>
          <a:stretch xmlns:a="http://schemas.openxmlformats.org/drawingml/2006/main"/>
        </p:blipFill>
        <p:spPr>
          <a:xfrm xmlns:a="http://schemas.openxmlformats.org/drawingml/2006/main">
            <a:off x="6324600" y="48387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6" name="text-17">
            <a:extLst xmlns:a="http://schemas.openxmlformats.org/drawingml/2006/main">
              <a:ext uri="{FF2B5EF4-FFF2-40B4-BE49-F238E27FC236}">
                <a16:creationId xmlns:a16="http://schemas.microsoft.com/office/drawing/2014/main" id="{67F3C34D-3D4C-444E-842D-7377C05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387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improve</a:t>
            </a:r>
          </a:p>
        </p:txBody>
      </p:sp>
      <p:sp>
        <p:nvSpPr>
          <p:cNvPr id="27" name="text-18">
            <a:extLst xmlns:a="http://schemas.openxmlformats.org/drawingml/2006/main">
              <a:ext uri="{FF2B5EF4-FFF2-40B4-BE49-F238E27FC236}">
                <a16:creationId xmlns:a16="http://schemas.microsoft.com/office/drawing/2014/main" id="{F2453D72-DBEA-4D05-97A4-910C40B0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2768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Make something better.</a:t>
            </a:r>
          </a:p>
        </p:txBody>
      </p:sp>
    </p:spTree>
    <p:extLst>
      <p:ext uri="{BB962C8B-B14F-4D97-AF65-F5344CB8AC3E}">
        <p14:creationId xmlns:p14="http://schemas.microsoft.com/office/powerpoint/2010/main" val="307688613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5DC12E31-99E6-4AAC-B1A4-AEA8BEFE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TA / staff brief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AFBE9C-95FE-4B04-921A-8E4EE92F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COMM-GROW-A1-W07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B965C9-85C1-430B-9CA2-52AD528F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05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5B6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5B62"/>
                </a:solidFill>
                <a:latin typeface="Segoe UI"/>
                <a:ea typeface="Segoe UI"/>
                <a:cs typeface="Segoe UI"/>
              </a:rPr>
              <a:t>12 / 12 · Reference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2CDB17F-45BD-41A1-822A-13327F26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TA focus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B2977FD-482C-4B55-BF4D-2B2FB7B6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3333750" cy="311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Real, individual evidence.</a:t>
            </a:r>
          </a:p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Own choice, tool and reason.</a:t>
            </a:r>
          </a:p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Read back scribed words.</a:t>
            </a:r>
          </a:p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Record support and feedback.</a:t>
            </a:r>
          </a:p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Record a next step.</a:t>
            </a:r>
          </a:p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No award completion claimed.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F5BE8AD-EB58-4F74-84AA-7C886437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620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Three Cold Calls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1CACD1E-2266-422F-9640-0B1164D0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28825"/>
            <a:ext cx="333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1 What did you do in this item?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2 Why can we reach this target?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3 What will you change, and why?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3A29A6F-6732-4135-8A0D-16A0B9E9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Lundy moments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400BA2D-81A0-4F6A-9827-73AB3DD1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28825"/>
            <a:ext cx="3333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Space: speak, point, write or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Voice: own choice and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Audience: teacher and assessor.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Influence: goals and next steps change.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142253F-D6F3-4A94-8100-50C6CAF9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VF · WS · I · NS · E · R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E87DDC5-9CC4-4964-91BC-0FC26B75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5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0252A"/>
                </a:solidFill>
                <a:latin typeface="Segoe UI"/>
                <a:ea typeface="Segoe UI"/>
                <a:cs typeface="Segoe UI"/>
              </a:rPr>
              <a:t>Evidence: the evidence app. Confirm actual progress and missing evidence.</a:t>
            </a:r>
          </a:p>
        </p:txBody>
      </p:sp>
    </p:spTree>
    <p:extLst>
      <p:ext uri="{BB962C8B-B14F-4D97-AF65-F5344CB8AC3E}">
        <p14:creationId xmlns:p14="http://schemas.microsoft.com/office/powerpoint/2010/main" val="320085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2026-10-21T12:18:00.0150000Z</dcterms:created>
  <dcterms:modified xsi:type="dcterms:W3CDTF">2026-10-21T12:18:00.0150000Z</dcterms:modified>
</coreProperties>
</file>