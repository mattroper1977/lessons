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9006ca312444f5" /><Relationship Type="http://schemas.openxmlformats.org/officeDocument/2006/relationships/extended-properties" Target="/docProps/app.xml" Id="R1eb999acfe964ed8" /><Relationship Type="http://schemas.openxmlformats.org/officeDocument/2006/relationships/officeDocument" Target="/ppt/presentation.xml" Id="R3f0470134d214f00" /></Relationships>
</file>

<file path=ppt/presentation.xml><?xml version="1.0" encoding="utf-8"?>
<p:presentation xmlns:p="http://schemas.openxmlformats.org/presentationml/2006/main">
  <p:sldMasterIdLst>
    <p:sldMasterId xmlns:r="http://schemas.openxmlformats.org/officeDocument/2006/relationships" id="2147483648" r:id="Rb174514284354b1d"/>
  </p:sldMasterIdLst>
  <p:notesMasterIdLst>
    <p:notesMasterId xmlns:r="http://schemas.openxmlformats.org/officeDocument/2006/relationships" r:id="R7c62ec309cb34a06"/>
  </p:notesMasterIdLst>
  <p:sldIdLst>
    <p:sldId xmlns:r="http://schemas.openxmlformats.org/officeDocument/2006/relationships" id="256" r:id="R59dfddcd01ec433f"/>
    <p:sldId xmlns:r="http://schemas.openxmlformats.org/officeDocument/2006/relationships" id="257" r:id="Rba013d144a6b4b33"/>
    <p:sldId xmlns:r="http://schemas.openxmlformats.org/officeDocument/2006/relationships" id="258" r:id="R508f6b5c701b4d6b"/>
    <p:sldId xmlns:r="http://schemas.openxmlformats.org/officeDocument/2006/relationships" id="259" r:id="Re114716b5b4741e9"/>
    <p:sldId xmlns:r="http://schemas.openxmlformats.org/officeDocument/2006/relationships" id="260" r:id="R130a29cae96d4f2a"/>
    <p:sldId xmlns:r="http://schemas.openxmlformats.org/officeDocument/2006/relationships" id="261" r:id="Ra441c7d81a1949e6"/>
    <p:sldId xmlns:r="http://schemas.openxmlformats.org/officeDocument/2006/relationships" id="262" r:id="R971bfd2afd1b49d8"/>
    <p:sldId xmlns:r="http://schemas.openxmlformats.org/officeDocument/2006/relationships" id="263" r:id="Rdfdfc30f35904273"/>
    <p:sldId xmlns:r="http://schemas.openxmlformats.org/officeDocument/2006/relationships" id="264" r:id="R6b90eba2cae0409b"/>
    <p:sldId xmlns:r="http://schemas.openxmlformats.org/officeDocument/2006/relationships" id="265" r:id="R2cc14c0fa5cd45bb"/>
    <p:sldId xmlns:r="http://schemas.openxmlformats.org/officeDocument/2006/relationships" id="266" r:id="R150f7cac04bf419a"/>
    <p:sldId xmlns:r="http://schemas.openxmlformats.org/officeDocument/2006/relationships" id="267" r:id="R8e944c54d7cc43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35ec562a224cdd" /><Relationship Type="http://schemas.openxmlformats.org/officeDocument/2006/relationships/slideMaster" Target="/ppt/slideMasters/slideMaster1.xml" Id="Rb174514284354b1d" /><Relationship Type="http://schemas.openxmlformats.org/officeDocument/2006/relationships/notesMaster" Target="/ppt/notesMasters/notesMaster1.xml" Id="R7c62ec309cb34a06" /><Relationship Type="http://schemas.openxmlformats.org/officeDocument/2006/relationships/presProps" Target="/ppt/presProps.xml" Id="R5eb185aba5814e72" /><Relationship Type="http://schemas.openxmlformats.org/officeDocument/2006/relationships/tableStyles" Target="/ppt/tableStyles.xml" Id="R970e4f0cf04f4501" /><Relationship Type="http://schemas.openxmlformats.org/officeDocument/2006/relationships/slide" Target="/ppt/slides/slide1.xml" Id="R59dfddcd01ec433f" /><Relationship Type="http://schemas.openxmlformats.org/officeDocument/2006/relationships/slide" Target="/ppt/slides/slide2.xml" Id="Rba013d144a6b4b33" /><Relationship Type="http://schemas.openxmlformats.org/officeDocument/2006/relationships/slide" Target="/ppt/slides/slide3.xml" Id="R508f6b5c701b4d6b" /><Relationship Type="http://schemas.openxmlformats.org/officeDocument/2006/relationships/slide" Target="/ppt/slides/slide4.xml" Id="Re114716b5b4741e9" /><Relationship Type="http://schemas.openxmlformats.org/officeDocument/2006/relationships/slide" Target="/ppt/slides/slide5.xml" Id="R130a29cae96d4f2a" /><Relationship Type="http://schemas.openxmlformats.org/officeDocument/2006/relationships/slide" Target="/ppt/slides/slide6.xml" Id="Ra441c7d81a1949e6" /><Relationship Type="http://schemas.openxmlformats.org/officeDocument/2006/relationships/slide" Target="/ppt/slides/slide7.xml" Id="R971bfd2afd1b49d8" /><Relationship Type="http://schemas.openxmlformats.org/officeDocument/2006/relationships/slide" Target="/ppt/slides/slide8.xml" Id="Rdfdfc30f35904273" /><Relationship Type="http://schemas.openxmlformats.org/officeDocument/2006/relationships/slide" Target="/ppt/slides/slide9.xml" Id="R6b90eba2cae0409b" /><Relationship Type="http://schemas.openxmlformats.org/officeDocument/2006/relationships/slide" Target="/ppt/slides/slide10.xml" Id="R2cc14c0fa5cd45bb" /><Relationship Type="http://schemas.openxmlformats.org/officeDocument/2006/relationships/slide" Target="/ppt/slides/slide11.xml" Id="R150f7cac04bf419a" /><Relationship Type="http://schemas.openxmlformats.org/officeDocument/2006/relationships/slide" Target="/ppt/slides/slide12.xml" Id="R8e944c54d7cc43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506b15cc7a42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497a5c25aa4fbb" /><Relationship Type="http://schemas.openxmlformats.org/officeDocument/2006/relationships/notesMaster" Target="/ppt/notesMasters/notesMaster1.xml" Id="R33fe62e1afc340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2524afe67d4a39" /><Relationship Type="http://schemas.openxmlformats.org/officeDocument/2006/relationships/notesMaster" Target="/ppt/notesMasters/notesMaster1.xml" Id="Re67e53590fd845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dbee735762482d" /><Relationship Type="http://schemas.openxmlformats.org/officeDocument/2006/relationships/notesMaster" Target="/ppt/notesMasters/notesMaster1.xml" Id="Ra5d68dbf448845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f9cd920f9a4cd7" /><Relationship Type="http://schemas.openxmlformats.org/officeDocument/2006/relationships/notesMaster" Target="/ppt/notesMasters/notesMaster1.xml" Id="R93fb29765da54b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328ded812e4974" /><Relationship Type="http://schemas.openxmlformats.org/officeDocument/2006/relationships/notesMaster" Target="/ppt/notesMasters/notesMaster1.xml" Id="Rf21f86707c7a43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473f110c4241af" /><Relationship Type="http://schemas.openxmlformats.org/officeDocument/2006/relationships/notesMaster" Target="/ppt/notesMasters/notesMaster1.xml" Id="R9b8a678f979c46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279cfbc00d4e6d" /><Relationship Type="http://schemas.openxmlformats.org/officeDocument/2006/relationships/notesMaster" Target="/ppt/notesMasters/notesMaster1.xml" Id="R7c8fc40dfba94e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173dcaf1a94212" /><Relationship Type="http://schemas.openxmlformats.org/officeDocument/2006/relationships/notesMaster" Target="/ppt/notesMasters/notesMaster1.xml" Id="R7445e456b2a342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d87f5e2c494b28" /><Relationship Type="http://schemas.openxmlformats.org/officeDocument/2006/relationships/notesMaster" Target="/ppt/notesMasters/notesMaster1.xml" Id="R450fef0c6a1e4c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e68b02fbd84683" /><Relationship Type="http://schemas.openxmlformats.org/officeDocument/2006/relationships/notesMaster" Target="/ppt/notesMasters/notesMaster1.xml" Id="R1749f8fee40a4d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9248fb13024a60" /><Relationship Type="http://schemas.openxmlformats.org/officeDocument/2006/relationships/notesMaster" Target="/ppt/notesMasters/notesMaster1.xml" Id="R8a7481fe775946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a2670a3ccd4050" /><Relationship Type="http://schemas.openxmlformats.org/officeDocument/2006/relationships/notesMaster" Target="/ppt/notesMasters/notesMaster1.xml" Id="Rbc3646b9ea3948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Title + big question</ns1:t>
            </ns1:r>
          </ns1:p>
          <ns2:p xmlns:ns2="http://schemas.openxmlformats.org/drawingml/2006/main">
            <ns2:r>
              <ns2:t>Timing: 0 minutes</ns2:t>
            </ns2:r>
          </ns2:p>
          <ns3:p xmlns:ns3="http://schemas.openxmlformats.org/drawingml/2006/main">
            <ns3:r>
              <ns3:t>TA brief: Open Lesson 8 on the ordered date. Bring actual project records, especially L7-E1, a checked pack/label sample, costing or tally work, and any completed project publicity. The lesson is a desk-based careers activity. No cooking, food handling or real payment is needed.</ns3:t>
            </ns3:r>
          </ns3:p>
          <ns4:p xmlns:ns4="http://schemas.openxmlformats.org/drawingml/2006/main">
            <ns4:r>
              <ns4:t>Cold Call: What is a task, and what is a skill?</ns4:t>
            </ns4:r>
          </ns4:p>
          <ns5:p xmlns:ns5="http://schemas.openxmlformats.org/drawingml/2006/main">
            <ns5:r>
              <ns5:t>Expected answer: A task is a piece of work. A skill is something learned and used to do it.</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Arrival &amp; regulation check</ns1:t>
            </ns1:r>
          </ns1:p>
          <ns2:p xmlns:ns2="http://schemas.openxmlformats.org/drawingml/2006/main">
            <ns2:r>
              <ns2:t>Timing: 3 minutes</ns2:t>
            </ns2:r>
          </ns2:p>
          <ns3:p xmlns:ns3="http://schemas.openxmlformats.org/drawingml/2006/main">
            <ns3:r>
              <ns3:t>TA brief: Take a private colour check. Offer a quiet partner, a seated sorting space and a short movement pause within task time. The adult handles any capture device. No learner phone or public performance is required.</ns3:t>
            </ns3:r>
          </ns3:p>
          <ns4:p xmlns:ns4="http://schemas.openxmlformats.org/drawingml/2006/main">
            <ns4:r>
              <ns4:t>Cold Call: Which two skills does your chosen job need?</ns4:t>
            </ns4:r>
          </ns4:p>
          <ns5:p xmlns:ns5="http://schemas.openxmlformats.org/drawingml/2006/main">
            <ns5:r>
              <ns5:t>Expected answer: Two distinct, source-backed skills from the chosen job card, expressed in the learner’s own response mode.</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Retrieval</ns1:t>
            </ns1:r>
          </ns1:p>
          <ns2:p xmlns:ns2="http://schemas.openxmlformats.org/drawingml/2006/main">
            <ns2:r>
              <ns2:t>Timing: 4 minutes</ns2:t>
            </ns2:r>
          </ns2:p>
          <ns3:p xmlns:ns3="http://schemas.openxmlformats.org/drawingml/2006/main">
            <ns3:r>
              <ns3:t>TA brief: Use actual earlier work. Pre-teach job, task, skill and proof with the picture vocabulary mat. Ask for a concrete action before naming a skill. A preferred role or enjoyment alone is not an example of a skill used. Where a learner has missed previous work, use a genuine earlier project action if available; leave the evidence link pending if no example can yet be found.</ns3:t>
            </ns3:r>
          </ns3:p>
          <ns4:p xmlns:ns4="http://schemas.openxmlformats.org/drawingml/2006/main">
            <ns4:r>
              <ns4:t>Cold Call: What did you personally do that shows one of those skills?</ns4:t>
            </ns4:r>
          </ns4:p>
          <ns5:p xmlns:ns5="http://schemas.openxmlformats.org/drawingml/2006/main">
            <ns5:r>
              <ns5:t>Expected answer: A genuine project action, its date or work reference, and how it shows one of the two named skills. Support can be recorded.</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Today: objective + "I can" statements with evidence links</ns1:t>
            </ns1:r>
          </ns1:p>
          <ns2:p xmlns:ns2="http://schemas.openxmlformats.org/drawingml/2006/main">
            <ns2:r>
              <ns2:t>Timing: 2 minutes</ns2:t>
            </ns2:r>
          </ns2:p>
          <ns3:p xmlns:ns3="http://schemas.openxmlformats.org/drawingml/2006/main">
            <ns3:r>
              <ns3:t>TA brief: The evidence link is Project learning link: [QUAL]; [AWARD] unit awards: [QUAL]; [QUAL].. Learners choose one job, identify two distinct skills for it, and link one of those skills to an action they have actually taken in this project. A spoken, pointed or scribed profile is valid when the individual response and support are recorded. No award completion is claimed.</ns3:t>
            </ns3:r>
          </ns3:p>
          <ns4:p xmlns:ns4="http://schemas.openxmlformats.org/drawingml/2006/main">
            <ns4:r>
              <ns4:t>Cold Call: What is a task, and what is a skill?</ns4:t>
            </ns4:r>
          </ns4:p>
          <ns5:p xmlns:ns5="http://schemas.openxmlformats.org/drawingml/2006/main">
            <ns5:r>
              <ns5:t>Expected answer: A task is a piece of work. A skill is something learned and used to do it.</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I DO</ns1:t>
            </ns1:r>
          </ns1:p>
          <ns2:p xmlns:ns2="http://schemas.openxmlformats.org/drawingml/2006/main">
            <ns2:r>
              <ns2:t>Timing: 5 minutes</ns2:t>
            </ns2:r>
          </ns2:p>
          <ns3:p xmlns:ns3="http://schemas.openxmlformats.org/drawingml/2006/main">
            <ns3:r>
              <ns3:t>TA brief: Use the National Careers Service sales-assistant profile to model the distinction between a task and a skill. The action on the slide is an author-created model, not a claim about any learner. Point to a model money record and explain how a checked sum can show maths. Do not supply the learner’s personal example. Model source-backed facts briefly, without careers salary or entry-route information.</ns3:t>
            </ns3:r>
          </ns3:p>
          <ns4:p xmlns:ns4="http://schemas.openxmlformats.org/drawingml/2006/main">
            <ns4:r>
              <ns4:t>Cold Call: Which two skills does your chosen job need?</ns4:t>
            </ns4:r>
          </ns4:p>
          <ns5:p xmlns:ns5="http://schemas.openxmlformats.org/drawingml/2006/main">
            <ns5:r>
              <ns5:t>Expected answer: Two distinct, source-backed skills from the chosen job card, expressed in the learner’s own response mode.</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Source: National Careers Service Baker — https://nationalcareers.service.gov.uk/job-profiles/baker</ns10:t>
            </ns10:r>
          </ns10:p>
          <ns11:p xmlns:ns11="http://schemas.openxmlformats.org/drawingml/2006/main">
            <ns11:r>
              <ns11:t>Source: National Careers Service Food factory worker — https://nationalcareers.service.gov.uk/job-profiles/food-factory-worker</ns11:t>
            </ns11:r>
          </ns11:p>
          <ns12:p xmlns:ns12="http://schemas.openxmlformats.org/drawingml/2006/main">
            <ns12:r>
              <ns12:t>Source: National Careers Service Sales assistant — https://nationalcareers.service.gov.uk/job-profiles/sales-assistant</ns12:t>
            </ns12:r>
          </ns12:p>
          <ns13:p xmlns:ns13="http://schemas.openxmlformats.org/drawingml/2006/main">
            <ns13:r>
              <ns13:t>Source: National Careers Service Graphic designer — https://nationalcareers.service.gov.uk/job-profiles/graphic-designer</ns13:t>
            </ns13:r>
          </ns13:p>
          <ns14:p xmlns:ns14="http://schemas.openxmlformats.org/drawingml/2006/main">
            <ns14:r>
              <ns14:t>Source: National Careers Service Events manager — https://nationalcareers.service.gov.uk/job-profiles/events-manager</ns14:t>
            </ns14:r>
          </ns14:p>
          <ns15:p xmlns:ns15="http://schemas.openxmlformats.org/drawingml/2006/main">
            <ns15:r>
              <ns15:t>Source: National Careers Service Bookkeeper — https://nationalcareers.service.gov.uk/job-profiles/bookkeeper</ns15:t>
            </ns15:r>
          </ns15:p>
          <ns16:p xmlns:ns16="http://schemas.openxmlformats.org/drawingml/2006/main">
            <ns16:r>
              <ns16:t>Source: National Careers Service Charity fundraiser — https://nationalcareers.service.gov.uk/job-profiles/charity-fundraiser</ns16:t>
            </ns16:r>
          </ns16:p>
          <ns17:p xmlns:ns17="http://schemas.openxmlformats.org/drawingml/2006/main">
            <ns17:r>
              <ns17:t>Made by Matt · © Matt Roper · CC BY-NC-SA 4.0: free for classroom use, share and adapt with credit, no resale</ns17:t>
            </ns17:r>
          </ns1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WE DO</ns1:t>
            </ns1:r>
          </ns1:p>
          <ns2:p xmlns:ns2="http://schemas.openxmlformats.org/drawingml/2006/main">
            <ns2:r>
              <ns2:t>Timing: 6 minutes</ns2:t>
            </ns2:r>
          </ns2:p>
          <ns3:p xmlns:ns3="http://schemas.openxmlformats.org/drawingml/2006/main">
            <ns3:r>
              <ns3:t>TA brief: Sort project task cards against all seven picture job cards. The native table shows six possible matches; model the seventh with explaining the sale and asking for support, linked to charity fundraising. These are curriculum links, not a claim of professional competence. Accept another plausible match when the learner can justify it using the checked job facts. Hinge B describes an action; A and C state preferences. A spoken statement still needs the learner’s genuine project record or observation. Re-model if a learner confuses liking a job with using a skill.</ns3:t>
            </ns3:r>
          </ns3:p>
          <ns4:p xmlns:ns4="http://schemas.openxmlformats.org/drawingml/2006/main">
            <ns4:r>
              <ns4:t>Cold Call: What did you personally do that shows one of those skills?</ns4:t>
            </ns4:r>
          </ns4:p>
          <ns5:p xmlns:ns5="http://schemas.openxmlformats.org/drawingml/2006/main">
            <ns5:r>
              <ns5:t>Expected answer: A genuine project action, its date or work reference, and how it shows one of the two named skills. Support can be recorded.</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Source: National Careers Service Baker — https://nationalcareers.service.gov.uk/job-profiles/baker</ns10:t>
            </ns10:r>
          </ns10:p>
          <ns11:p xmlns:ns11="http://schemas.openxmlformats.org/drawingml/2006/main">
            <ns11:r>
              <ns11:t>Source: National Careers Service Food factory worker — https://nationalcareers.service.gov.uk/job-profiles/food-factory-worker</ns11:t>
            </ns11:r>
          </ns11:p>
          <ns12:p xmlns:ns12="http://schemas.openxmlformats.org/drawingml/2006/main">
            <ns12:r>
              <ns12:t>Source: National Careers Service Sales assistant — https://nationalcareers.service.gov.uk/job-profiles/sales-assistant</ns12:t>
            </ns12:r>
          </ns12:p>
          <ns13:p xmlns:ns13="http://schemas.openxmlformats.org/drawingml/2006/main">
            <ns13:r>
              <ns13:t>Source: National Careers Service Graphic designer — https://nationalcareers.service.gov.uk/job-profiles/graphic-designer</ns13:t>
            </ns13:r>
          </ns13:p>
          <ns14:p xmlns:ns14="http://schemas.openxmlformats.org/drawingml/2006/main">
            <ns14:r>
              <ns14:t>Source: National Careers Service Events manager — https://nationalcareers.service.gov.uk/job-profiles/events-manager</ns14:t>
            </ns14:r>
          </ns14:p>
          <ns15:p xmlns:ns15="http://schemas.openxmlformats.org/drawingml/2006/main">
            <ns15:r>
              <ns15:t>Source: National Careers Service Bookkeeper — https://nationalcareers.service.gov.uk/job-profiles/bookkeeper</ns15:t>
            </ns15:r>
          </ns15:p>
          <ns16:p xmlns:ns16="http://schemas.openxmlformats.org/drawingml/2006/main">
            <ns16:r>
              <ns16:t>Source: National Careers Service Charity fundraiser — https://nationalcareers.service.gov.uk/job-profiles/charity-fundraiser</ns16:t>
            </ns16:r>
          </ns16:p>
          <ns17:p xmlns:ns17="http://schemas.openxmlformats.org/drawingml/2006/main">
            <ns17:r>
              <ns17:t>Made by Matt · © Matt Roper · CC BY-NC-SA 4.0: free for classroom use, share and adapt with credit, no resale</ns17:t>
            </ns17:r>
          </ns1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YOU DO — in your book</ns1:t>
            </ns1:r>
          </ns1:p>
          <ns2:p xmlns:ns2="http://schemas.openxmlformats.org/drawingml/2006/main">
            <ns2:r>
              <ns2:t>Timing: 7 minutes</ns2:t>
            </ns2:r>
          </ns2:p>
          <ns3:p xmlns:ns3="http://schemas.openxmlformats.org/drawingml/2006/main">
            <ns3:r>
              <ns3:t>TA brief: Allow a short card sort followed by book-first notes. Learners may sort with a partner but keep their chosen job and response individual. Supported route: offer two job cards initially, then read their facts aloud. The learner selects and gives their own project link. A skill can be used in several jobs.</ns3:t>
            </ns3:r>
          </ns3:p>
          <ns4:p xmlns:ns4="http://schemas.openxmlformats.org/drawingml/2006/main">
            <ns4:r>
              <ns4:t>Cold Call: What is a task, and what is a skill?</ns4:t>
            </ns4:r>
          </ns4:p>
          <ns5:p xmlns:ns5="http://schemas.openxmlformats.org/drawingml/2006/main">
            <ns5:r>
              <ns5:t>Expected answer: A task is a piece of work. A skill is something learned and used to do it.</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Source: National Careers Service Baker — https://nationalcareers.service.gov.uk/job-profiles/baker</ns10:t>
            </ns10:r>
          </ns10:p>
          <ns11:p xmlns:ns11="http://schemas.openxmlformats.org/drawingml/2006/main">
            <ns11:r>
              <ns11:t>Source: National Careers Service Food factory worker — https://nationalcareers.service.gov.uk/job-profiles/food-factory-worker</ns11:t>
            </ns11:r>
          </ns11:p>
          <ns12:p xmlns:ns12="http://schemas.openxmlformats.org/drawingml/2006/main">
            <ns12:r>
              <ns12:t>Source: National Careers Service Sales assistant — https://nationalcareers.service.gov.uk/job-profiles/sales-assistant</ns12:t>
            </ns12:r>
          </ns12:p>
          <ns13:p xmlns:ns13="http://schemas.openxmlformats.org/drawingml/2006/main">
            <ns13:r>
              <ns13:t>Source: National Careers Service Graphic designer — https://nationalcareers.service.gov.uk/job-profiles/graphic-designer</ns13:t>
            </ns13:r>
          </ns13:p>
          <ns14:p xmlns:ns14="http://schemas.openxmlformats.org/drawingml/2006/main">
            <ns14:r>
              <ns14:t>Source: National Careers Service Events manager — https://nationalcareers.service.gov.uk/job-profiles/events-manager</ns14:t>
            </ns14:r>
          </ns14:p>
          <ns15:p xmlns:ns15="http://schemas.openxmlformats.org/drawingml/2006/main">
            <ns15:r>
              <ns15:t>Source: National Careers Service Bookkeeper — https://nationalcareers.service.gov.uk/job-profiles/bookkeeper</ns15:t>
            </ns15:r>
          </ns15:p>
          <ns16:p xmlns:ns16="http://schemas.openxmlformats.org/drawingml/2006/main">
            <ns16:r>
              <ns16:t>Source: National Careers Service Charity fundraiser — https://nationalcareers.service.gov.uk/job-profiles/charity-fundraiser</ns16:t>
            </ns16:r>
          </ns16:p>
          <ns17:p xmlns:ns17="http://schemas.openxmlformats.org/drawingml/2006/main">
            <ns17:r>
              <ns17:t>Made by Matt · © Matt Roper · CC BY-NC-SA 4.0: free for classroom use, share and adapt with credit, no resale</ns17:t>
            </ns17:r>
          </ns1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YOU DO — evidence capture</ns1:t>
            </ns1:r>
          </ns1:p>
          <ns2:p xmlns:ns2="http://schemas.openxmlformats.org/drawingml/2006/main">
            <ns2:r>
              <ns2:t>Timing: 8 minutes</ns2:t>
            </ns2:r>
          </ns2:p>
          <ns3:p xmlns:ns3="http://schemas.openxmlformats.org/drawingml/2006/main">
            <ns3:r>
              <ns3:t>TA brief: Complete the one-page individual profile. Retain the job-card reference, two distinct relevant skills, and one genuine project example linked to one of those two skills. Identify the actual work or observation and date. Written, spoken, pointed or adult-scribed responses are accepted. Use the evidence app for permitted capture and record exact words or selected items, adult support, feedback and a next step. Do not invent a past contribution.</ns3:t>
            </ns3:r>
          </ns3:p>
          <ns4:p xmlns:ns4="http://schemas.openxmlformats.org/drawingml/2006/main">
            <ns4:r>
              <ns4:t>Cold Call: Which two skills does your chosen job need?</ns4:t>
            </ns4:r>
          </ns4:p>
          <ns5:p xmlns:ns5="http://schemas.openxmlformats.org/drawingml/2006/main">
            <ns5:r>
              <ns5:t>Expected answer: Two distinct, source-backed skills from the chosen job card, expressed in the learner’s own response mode.</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Source: National Careers Service Baker — https://nationalcareers.service.gov.uk/job-profiles/baker</ns10:t>
            </ns10:r>
          </ns10:p>
          <ns11:p xmlns:ns11="http://schemas.openxmlformats.org/drawingml/2006/main">
            <ns11:r>
              <ns11:t>Source: National Careers Service Food factory worker — https://nationalcareers.service.gov.uk/job-profiles/food-factory-worker</ns11:t>
            </ns11:r>
          </ns11:p>
          <ns12:p xmlns:ns12="http://schemas.openxmlformats.org/drawingml/2006/main">
            <ns12:r>
              <ns12:t>Source: National Careers Service Sales assistant — https://nationalcareers.service.gov.uk/job-profiles/sales-assistant</ns12:t>
            </ns12:r>
          </ns12:p>
          <ns13:p xmlns:ns13="http://schemas.openxmlformats.org/drawingml/2006/main">
            <ns13:r>
              <ns13:t>Source: National Careers Service Graphic designer — https://nationalcareers.service.gov.uk/job-profiles/graphic-designer</ns13:t>
            </ns13:r>
          </ns13:p>
          <ns14:p xmlns:ns14="http://schemas.openxmlformats.org/drawingml/2006/main">
            <ns14:r>
              <ns14:t>Source: National Careers Service Events manager — https://nationalcareers.service.gov.uk/job-profiles/events-manager</ns14:t>
            </ns14:r>
          </ns14:p>
          <ns15:p xmlns:ns15="http://schemas.openxmlformats.org/drawingml/2006/main">
            <ns15:r>
              <ns15:t>Source: National Careers Service Bookkeeper — https://nationalcareers.service.gov.uk/job-profiles/bookkeeper</ns15:t>
            </ns15:r>
          </ns15:p>
          <ns16:p xmlns:ns16="http://schemas.openxmlformats.org/drawingml/2006/main">
            <ns16:r>
              <ns16:t>Source: National Careers Service Charity fundraiser — https://nationalcareers.service.gov.uk/job-profiles/charity-fundraiser</ns16:t>
            </ns16:r>
          </ns16:p>
          <ns17:p xmlns:ns17="http://schemas.openxmlformats.org/drawingml/2006/main">
            <ns17:r>
              <ns17:t>Made by Matt · © Matt Roper · CC BY-NC-SA 4.0: free for classroom use, share and adapt with credit, no resale</ns17:t>
            </ns17:r>
          </ns1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Evidence check before hand-in</ns1:t>
            </ns1:r>
          </ns1:p>
          <ns2:p xmlns:ns2="http://schemas.openxmlformats.org/drawingml/2006/main">
            <ns2:r>
              <ns2:t>Timing: 2 minutes</ns2:t>
            </ns2:r>
          </ns2:p>
          <ns3:p xmlns:ns3="http://schemas.openxmlformats.org/drawingml/2006/main">
            <ns3:r>
              <ns3:t>TA brief: Check each individual L8-E1 for the chosen job, two distinct source-backed skills, and a genuine action demonstrating one of them. Record any gap as a next practice need. A class card sort, copied model or blank profile is not personal evidence. Keep the spoken/pointed response traceable to the learner and date.</ns3:t>
            </ns3:r>
          </ns3:p>
          <ns4:p xmlns:ns4="http://schemas.openxmlformats.org/drawingml/2006/main">
            <ns4:r>
              <ns4:t>Cold Call: What did you personally do that shows one of those skills?</ns4:t>
            </ns4:r>
          </ns4:p>
          <ns5:p xmlns:ns5="http://schemas.openxmlformats.org/drawingml/2006/main">
            <ns5:r>
              <ns5:t>Expected answer: A genuine project action, its date or work reference, and how it shows one of the two named skills. Support can be recorded.</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Exit ticket</ns1:t>
            </ns1:r>
          </ns1:p>
          <ns2:p xmlns:ns2="http://schemas.openxmlformats.org/drawingml/2006/main">
            <ns2:r>
              <ns2:t>Timing: 3 minutes</ns2:t>
            </ns2:r>
          </ns2:p>
          <ns3:p xmlns:ns3="http://schemas.openxmlformats.org/drawingml/2006/main">
            <ns3:r>
              <ns3:t>TA brief: Take a brief spoken, pointed or written exit. Hear the learner’s chosen next practice step and record a change to the next task or sale role where appropriate. Keep a check of the link, rather than treating a career preference as a demonstrated skill.</ns3:t>
            </ns3:r>
          </ns3:p>
          <ns4:p xmlns:ns4="http://schemas.openxmlformats.org/drawingml/2006/main">
            <ns4:r>
              <ns4:t>Cold Call: What is a task, and what is a skill?</ns4:t>
            </ns4:r>
          </ns4:p>
          <ns5:p xmlns:ns5="http://schemas.openxmlformats.org/drawingml/2006/main">
            <ns5:r>
              <ns5:t>Expected answer: A task is a piece of work. A skill is something learned and used to do it.</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Key vocabulary mat (EAL)</ns1:t>
            </ns1:r>
          </ns1:p>
          <ns2:p xmlns:ns2="http://schemas.openxmlformats.org/drawingml/2006/main">
            <ns2:r>
              <ns2:t>Timing: 0 minutes</ns2:t>
            </ns2:r>
          </ns2:p>
          <ns3:p xmlns:ns3="http://schemas.openxmlformats.org/drawingml/2006/main">
            <ns3:r>
              <ns3:t>TA brief: Keep the picture vocabulary mat available during retrieval, sorting and profile work. Read technical job names aloud. Show the object or record that illustrates each word. Reuse the same sentence frames.</ns3:t>
            </ns3:r>
          </ns3:p>
          <ns4:p xmlns:ns4="http://schemas.openxmlformats.org/drawingml/2006/main">
            <ns4:r>
              <ns4:t>Cold Call: Which two skills does your chosen job need?</ns4:t>
            </ns4:r>
          </ns4:p>
          <ns5:p xmlns:ns5="http://schemas.openxmlformats.org/drawingml/2006/main">
            <ns5:r>
              <ns5:t>Expected answer: Two distinct, source-backed skills from the chosen job card, expressed in the learner’s own response mode.</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Lesson 8 · Thursday 19 November 2026 · P5 12:50–13:30</ns0:t>
            </ns0:r>
          </ns0:p>
          <ns1:p xmlns:ns1="http://schemas.openxmlformats.org/drawingml/2006/main">
            <ns1:r>
              <ns1:t>Stage: TA / staff brief</ns1:t>
            </ns1:r>
          </ns1:p>
          <ns2:p xmlns:ns2="http://schemas.openxmlformats.org/drawingml/2006/main">
            <ns2:r>
              <ns2:t>Timing: 0 minutes</ns2:t>
            </ns2:r>
          </ns2:p>
          <ns3:p xmlns:ns3="http://schemas.openxmlformats.org/drawingml/2006/main">
            <ns3:r>
              <ns3:t>TA brief: Hidden staff reference. Gatsby Benchmark 4, Linking curriculum learning to careers, is addressed through connecting taught project tasks with job knowledge and transferable skills. PfA employment is the SoW link to recognising a personal work skill and choosing a next practice step. No employer encounter or award completion is claimed. Use the three Cold Call questions and expected answers, and the planner’s Communication offer and project-history line.</ns3:t>
            </ns3:r>
          </ns3:p>
          <ns4:p xmlns:ns4="http://schemas.openxmlformats.org/drawingml/2006/main">
            <ns4:r>
              <ns4:t>Cold Call: What did you personally do that shows one of those skills?</ns4:t>
            </ns4:r>
          </ns4:p>
          <ns5:p xmlns:ns5="http://schemas.openxmlformats.org/drawingml/2006/main">
            <ns5:r>
              <ns5:t>Expected answer: A genuine project action, its date or work reference, and how it shows one of the two named skills. Support can be recorded.</ns5:t>
            </ns5:r>
          </ns5:p>
          <ns6:p xmlns:ns6="http://schemas.openxmlformats.org/drawingml/2006/main">
            <ns6:r>
              <ns6:t>Sentence frames: This job needs __ and __. I used __ when I __. Next I will __.</ns6:t>
            </ns6:r>
          </ns6:p>
          <ns7:p xmlns:ns7="http://schemas.openxmlformats.org/drawingml/2006/main">
            <ns7:r>
              <ns7:t>Lundy: Space: Private colour check, quiet pair, pointing, drawing, speech or adult scribe. Voice: The learner chooses a job and their own genuine project example. Audience: The project teacher hears each link and responds; the Communication teacher may select relevant evidence. Influence: Record a requested practice step or support, and how the next task or sale role changes.</ns7:t>
            </ns7:r>
          </ns7:p>
          <ns8:p xmlns:ns8="http://schemas.openxmlformats.org/drawingml/2006/main">
            <ns8:r>
              <ns8:t>Source: Supplied order and SoW Aut2 W3 — 04_ORDER_GCS-1_A1_and_GCS-2.md and 06_SOW_EXTRACT_Cake_Sale.md, revision 2026-10-21.</ns8:t>
            </ns8:r>
          </ns8:p>
          <ns9:p xmlns:ns9="http://schemas.openxmlformats.org/drawingml/2006/main">
            <ns9:r>
              <ns9:t>Source: Current-chat owner continuation ruling — 23 October 2026.</ns9:t>
            </ns9:r>
          </ns9:p>
          <ns10:p xmlns:ns10="http://schemas.openxmlformats.org/drawingml/2006/main">
            <ns10:r>
              <ns10:t>Source: National Careers Service Baker — https://nationalcareers.service.gov.uk/job-profiles/baker</ns10:t>
            </ns10:r>
          </ns10:p>
          <ns11:p xmlns:ns11="http://schemas.openxmlformats.org/drawingml/2006/main">
            <ns11:r>
              <ns11:t>Source: National Careers Service Food factory worker — https://nationalcareers.service.gov.uk/job-profiles/food-factory-worker</ns11:t>
            </ns11:r>
          </ns11:p>
          <ns12:p xmlns:ns12="http://schemas.openxmlformats.org/drawingml/2006/main">
            <ns12:r>
              <ns12:t>Source: National Careers Service Sales assistant — https://nationalcareers.service.gov.uk/job-profiles/sales-assistant</ns12:t>
            </ns12:r>
          </ns12:p>
          <ns13:p xmlns:ns13="http://schemas.openxmlformats.org/drawingml/2006/main">
            <ns13:r>
              <ns13:t>Source: National Careers Service Graphic designer — https://nationalcareers.service.gov.uk/job-profiles/graphic-designer</ns13:t>
            </ns13:r>
          </ns13:p>
          <ns14:p xmlns:ns14="http://schemas.openxmlformats.org/drawingml/2006/main">
            <ns14:r>
              <ns14:t>Source: National Careers Service Events manager — https://nationalcareers.service.gov.uk/job-profiles/events-manager</ns14:t>
            </ns14:r>
          </ns14:p>
          <ns15:p xmlns:ns15="http://schemas.openxmlformats.org/drawingml/2006/main">
            <ns15:r>
              <ns15:t>Source: National Careers Service Bookkeeper — https://nationalcareers.service.gov.uk/job-profiles/bookkeeper</ns15:t>
            </ns15:r>
          </ns15:p>
          <ns16:p xmlns:ns16="http://schemas.openxmlformats.org/drawingml/2006/main">
            <ns16:r>
              <ns16:t>Source: National Careers Service Charity fundraiser — https://nationalcareers.service.gov.uk/job-profiles/charity-fundraiser</ns16:t>
            </ns16:r>
          </ns16:p>
          <ns17:p xmlns:ns17="http://schemas.openxmlformats.org/drawingml/2006/main">
            <ns17:r>
              <ns17:t>Source: Gatsby Benchmark 4 — https://www.gatsbybenchmarks.org.uk/guide-to-gatsby-benchmark-4/</ns17:t>
            </ns17:r>
          </ns17:p>
          <ns18:p xmlns:ns18="http://schemas.openxmlformats.org/drawingml/2006/main">
            <ns18:r>
              <ns18:t>Made by Matt · © Matt Roper · CC BY-NC-SA 4.0: free for classroom use, share and adapt with credit, no resale</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931d3fba8847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60fd7bf8bc45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40e10004b141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63e9f36eef45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cd11d079db4c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f575b0085e47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90A6D4-95B6-4D3E-8656-99792C7F3D3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49AE6F-F34C-4B9E-B668-399F945CAF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A99098-30E2-40A1-9B2E-25AD12C7C4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CD7707-D73B-442F-B522-45628E8F22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BA5FC3-04EC-451C-B973-48EF15C958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22D3D9-BF5F-485C-B6E7-0EA9230F1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856991-4414-4440-902C-E592EF5892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61022B-61E8-4198-8183-8EF0198619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D2C313-A5F4-45B0-BA19-D6F7E3815B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755968-709B-4E8E-B2BB-096160D685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da0274805449d" /><Relationship Type="http://schemas.openxmlformats.org/officeDocument/2006/relationships/slideLayout" Target="/ppt/slideLayouts/slideLayout1.xml" Id="R5dee4266a8c24ad7" /><Relationship Type="http://schemas.openxmlformats.org/officeDocument/2006/relationships/slideLayout" Target="/ppt/slideLayouts/slideLayout2.xml" Id="R038216ee4fa84786" /><Relationship Type="http://schemas.openxmlformats.org/officeDocument/2006/relationships/slideLayout" Target="/ppt/slideLayouts/slideLayout3.xml" Id="R1640dd92e1f94c87" /><Relationship Type="http://schemas.openxmlformats.org/officeDocument/2006/relationships/slideLayout" Target="/ppt/slideLayouts/slideLayout4.xml" Id="R1567898afa3940c3" /><Relationship Type="http://schemas.openxmlformats.org/officeDocument/2006/relationships/slideLayout" Target="/ppt/slideLayouts/slideLayout5.xml" Id="R780983a1fe734a4e" /><Relationship Type="http://schemas.openxmlformats.org/officeDocument/2006/relationships/slideLayout" Target="/ppt/slideLayouts/slideLayout6.xml" Id="Rcd928dfb2b9840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ee4266a8c24ad7"/>
    <p:sldLayoutId xmlns:r="http://schemas.openxmlformats.org/officeDocument/2006/relationships" id="2147483650" r:id="R038216ee4fa84786"/>
    <p:sldLayoutId xmlns:r="http://schemas.openxmlformats.org/officeDocument/2006/relationships" id="2147483651" r:id="R1640dd92e1f94c87"/>
    <p:sldLayoutId xmlns:r="http://schemas.openxmlformats.org/officeDocument/2006/relationships" id="2147483652" r:id="R1567898afa3940c3"/>
    <p:sldLayoutId xmlns:r="http://schemas.openxmlformats.org/officeDocument/2006/relationships" id="2147483653" r:id="R780983a1fe734a4e"/>
    <p:sldLayoutId xmlns:r="http://schemas.openxmlformats.org/officeDocument/2006/relationships" id="2147483654" r:id="Rcd928dfb2b9840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fc273f3e924088" /><Relationship Type="http://schemas.openxmlformats.org/officeDocument/2006/relationships/image" Target="/ppt/media/image.png" Id="R14122ece10b64051" /><Relationship Type="http://schemas.openxmlformats.org/officeDocument/2006/relationships/notesSlide" Target="/ppt/notesSlides/notesSlide1.xml" Id="Rdf3fdff993014a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c227411da845c7" /><Relationship Type="http://schemas.openxmlformats.org/officeDocument/2006/relationships/notesSlide" Target="/ppt/notesSlides/notesSlide2.xml" Id="R79ea3d16284146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daacd6e56e49aa" /><Relationship Type="http://schemas.openxmlformats.org/officeDocument/2006/relationships/notesSlide" Target="/ppt/notesSlides/notesSlide3.xml" Id="Rc7769890e47e45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68e30cd4cb4cfd" /><Relationship Type="http://schemas.openxmlformats.org/officeDocument/2006/relationships/notesSlide" Target="/ppt/notesSlides/notesSlide4.xml" Id="Rfe3a7e63e2be4d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33099e22804eee" /><Relationship Type="http://schemas.openxmlformats.org/officeDocument/2006/relationships/notesSlide" Target="/ppt/notesSlides/notesSlide5.xml" Id="Rc34df1595e7a48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a19fa6208f445c" /><Relationship Type="http://schemas.openxmlformats.org/officeDocument/2006/relationships/notesSlide" Target="/ppt/notesSlides/notesSlide6.xml" Id="R770062713b9748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b9fe0529ca4236" /><Relationship Type="http://schemas.openxmlformats.org/officeDocument/2006/relationships/notesSlide" Target="/ppt/notesSlides/notesSlide7.xml" Id="Rc5b4fcab3ea442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7db70d23f145f7" /><Relationship Type="http://schemas.openxmlformats.org/officeDocument/2006/relationships/notesSlide" Target="/ppt/notesSlides/notesSlide8.xml" Id="R38fb2d10ca7a40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8ca116434a43ba" /><Relationship Type="http://schemas.openxmlformats.org/officeDocument/2006/relationships/notesSlide" Target="/ppt/notesSlides/notesSlide9.xml" Id="R1191cdd5819848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09e64ef6464331" /><Relationship Type="http://schemas.openxmlformats.org/officeDocument/2006/relationships/notesSlide" Target="/ppt/notesSlides/notesSlide10.xml" Id="Rc56bc28e3640432d" /></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8f2d67d155b24b97"/><Relationship Type="http://schemas.openxmlformats.org/officeDocument/2006/relationships/image" Target="../media/e-L8-0.png" Id="Ra524a347ae674527"/><Relationship Type="http://schemas.openxmlformats.org/officeDocument/2006/relationships/image" Target="../media/e-L8-1.png" Id="Rced7992d3541451e"/><Relationship Type="http://schemas.openxmlformats.org/officeDocument/2006/relationships/image" Target="../media/e-L8-2.png" Id="Rd57204122dab4110"/><Relationship Type="http://schemas.openxmlformats.org/officeDocument/2006/relationships/image" Target="../media/e-L8-3.png" Id="Re539814f057443c6"/><Relationship Type="http://schemas.openxmlformats.org/officeDocument/2006/relationships/image" Target="../media/e-L8-4.png" Id="R19f2b9ae2e2041fa"/><Relationship Type="http://schemas.openxmlformats.org/officeDocument/2006/relationships/image" Target="../media/e-L8-5.png" Id="Rd9e0c911d8a14a09"/><Relationship Type="http://schemas.openxmlformats.org/officeDocument/2006/relationships/image" Target="../media/e-L8-6.png" Id="R203ce88a1cb64dad"/><Relationship Type="http://schemas.openxmlformats.org/officeDocument/2006/relationships/image" Target="../media/e-L8-7.png" Id="R5dd78c7271b243a9"/><Relationship Type="http://schemas.openxmlformats.org/officeDocument/2006/relationships/notesSlide" Target="/ppt/notesSlides/notesSlide11.xml" Id="Rc9cc96c4e3de4325"/></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7b565f53614057" /><Relationship Type="http://schemas.openxmlformats.org/officeDocument/2006/relationships/notesSlide" Target="/ppt/notesSlides/notesSlide12.xml" Id="Rbb8589cd525a4ee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8C07E0CF-5E9D-44C0-A5C3-21987F0BC31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COMM-GROW-A2-W03  ·  Lesson 8</ns4:t>
            </ns4:r>
          </ns4:p>
        </p:txBody>
      </p:sp>
      <p:sp>
        <p:nvSpPr>
          <p:cNvPr id="2" name="edition">
            <a:extLst xmlns:a="http://schemas.openxmlformats.org/drawingml/2006/main">
              <a:ext uri="{FF2B5EF4-FFF2-40B4-BE49-F238E27FC236}">
                <a16:creationId xmlns:a16="http://schemas.microsoft.com/office/drawing/2014/main" id="{F28AF52D-E1A5-4332-9E49-E5987D071BB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A8F42E53-C680-404E-8DFA-5C01C353CA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225" b="1">
                <a:solidFill>
                  <a:srgbClr val="345D70"/>
                </a:solidFill>
                <a:latin typeface="Segoe UI"/>
                <a:ea typeface="Segoe UI"/>
                <a:cs typeface="Segoe UI"/>
              </a:defRPr>
            </a:defPPr>
            <a:lvl1pPr>
              <a:defRPr sz="3225" b="1">
                <a:solidFill>
                  <a:srgbClr val="345D70"/>
                </a:solidFill>
                <a:latin typeface="Segoe UI"/>
                <a:ea typeface="Segoe UI"/>
                <a:cs typeface="Segoe UI"/>
              </a:defRPr>
            </a:lvl1pPr>
            <a:lvl2pPr>
              <a:defRPr sz="3225" b="1">
                <a:solidFill>
                  <a:srgbClr val="345D70"/>
                </a:solidFill>
                <a:latin typeface="Segoe UI"/>
                <a:ea typeface="Segoe UI"/>
                <a:cs typeface="Segoe UI"/>
              </a:defRPr>
            </a:lvl2pPr>
            <a:lvl3pPr>
              <a:defRPr sz="3225" b="1">
                <a:solidFill>
                  <a:srgbClr val="345D70"/>
                </a:solidFill>
                <a:latin typeface="Segoe UI"/>
                <a:ea typeface="Segoe UI"/>
                <a:cs typeface="Segoe UI"/>
              </a:defRPr>
            </a:lvl3pPr>
            <a:lvl4pPr>
              <a:defRPr sz="3225" b="1">
                <a:solidFill>
                  <a:srgbClr val="345D70"/>
                </a:solidFill>
                <a:latin typeface="Segoe UI"/>
                <a:ea typeface="Segoe UI"/>
                <a:cs typeface="Segoe UI"/>
              </a:defRPr>
            </a:lvl4pPr>
            <a:lvl5pPr>
              <a:defRPr sz="3225" b="1">
                <a:solidFill>
                  <a:srgbClr val="345D70"/>
                </a:solidFill>
                <a:latin typeface="Segoe UI"/>
                <a:ea typeface="Segoe UI"/>
                <a:cs typeface="Segoe UI"/>
              </a:defRPr>
            </a:lvl5pPr>
            <a:lvl6pPr>
              <a:defRPr sz="3225" b="1">
                <a:solidFill>
                  <a:srgbClr val="345D70"/>
                </a:solidFill>
                <a:latin typeface="Segoe UI"/>
                <a:ea typeface="Segoe UI"/>
                <a:cs typeface="Segoe UI"/>
              </a:defRPr>
            </a:lvl6pPr>
            <a:lvl7pPr>
              <a:defRPr sz="3225" b="1">
                <a:solidFill>
                  <a:srgbClr val="345D70"/>
                </a:solidFill>
                <a:latin typeface="Segoe UI"/>
                <a:ea typeface="Segoe UI"/>
                <a:cs typeface="Segoe UI"/>
              </a:defRPr>
            </a:lvl7pPr>
            <a:lvl8pPr>
              <a:defRPr sz="3225" b="1">
                <a:solidFill>
                  <a:srgbClr val="345D70"/>
                </a:solidFill>
                <a:latin typeface="Segoe UI"/>
                <a:ea typeface="Segoe UI"/>
                <a:cs typeface="Segoe UI"/>
              </a:defRPr>
            </a:lvl8pPr>
            <a:lvl9pPr>
              <a:defRPr sz="3225" b="1">
                <a:solidFill>
                  <a:srgbClr val="345D70"/>
                </a:solidFill>
                <a:latin typeface="Segoe UI"/>
                <a:ea typeface="Segoe UI"/>
                <a:cs typeface="Segoe UI"/>
              </a:defRPr>
            </a:lvl9pPr>
          </a:lstStyle>
          <ns0:p xmlns:ns0="http://schemas.openxmlformats.org/drawingml/2006/main">
            <ns0:pPr>
              <ns0:defRPr sz="3225" b="1">
                <ns0:solidFill>
                  <ns0:srgbClr val="345D70"/>
                </ns0:solidFill>
                <ns0:latin typeface="Segoe UI"/>
                <ns0:ea typeface="Segoe UI"/>
                <ns0:cs typeface="Segoe UI"/>
              </ns0:defRPr>
            </ns0:pPr>
            <ns0:r>
              <ns0:rPr sz="3225" b="1">
                <ns0:solidFill>
                  <ns0:srgbClr val="345D70"/>
                </ns0:solidFill>
                <ns0:latin typeface="Segoe UI"/>
                <ns0:ea typeface="Segoe UI"/>
                <ns0:cs typeface="Segoe UI"/>
              </ns0:rPr>
              <ns0:t>Careers behind the project</ns0:t>
            </ns0:r>
          </ns0:p>
        </p:txBody>
      </p:sp>
      <p:sp>
        <p:nvSpPr>
          <p:cNvPr id="4" name="big-question">
            <a:extLst xmlns:a="http://schemas.openxmlformats.org/drawingml/2006/main">
              <a:ext uri="{FF2B5EF4-FFF2-40B4-BE49-F238E27FC236}">
                <a16:creationId xmlns:a16="http://schemas.microsoft.com/office/drawing/2014/main" id="{DDC99830-5CE7-4FAD-A2D6-1F438FAB8F7A}"/>
              </a:ext>
            </a:extLst>
          </p:cNvPr>
          <p:cNvSpPr>
            <a:spLocks xmlns:a="http://schemas.openxmlformats.org/drawingml/2006/main" noGrp="1"/>
          </p:cNvSpPr>
          <p:nvPr/>
        </p:nvSpPr>
        <p:spPr>
          <a:xfrm xmlns:a="http://schemas.openxmlformats.org/drawingml/2006/main">
            <a:off x="533400" y="20002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600" b="1">
                <a:solidFill>
                  <a:srgbClr val="192E3B"/>
                </a:solidFill>
                <a:latin typeface="Segoe UI"/>
                <a:ea typeface="Segoe UI"/>
                <a:cs typeface="Segoe UI"/>
              </a:defRPr>
            </a:defPPr>
            <a:lvl1pPr>
              <a:defRPr sz="3600" b="1">
                <a:solidFill>
                  <a:srgbClr val="192E3B"/>
                </a:solidFill>
                <a:latin typeface="Segoe UI"/>
                <a:ea typeface="Segoe UI"/>
                <a:cs typeface="Segoe UI"/>
              </a:defRPr>
            </a:lvl1pPr>
            <a:lvl2pPr>
              <a:defRPr sz="3600" b="1">
                <a:solidFill>
                  <a:srgbClr val="192E3B"/>
                </a:solidFill>
                <a:latin typeface="Segoe UI"/>
                <a:ea typeface="Segoe UI"/>
                <a:cs typeface="Segoe UI"/>
              </a:defRPr>
            </a:lvl2pPr>
            <a:lvl3pPr>
              <a:defRPr sz="3600" b="1">
                <a:solidFill>
                  <a:srgbClr val="192E3B"/>
                </a:solidFill>
                <a:latin typeface="Segoe UI"/>
                <a:ea typeface="Segoe UI"/>
                <a:cs typeface="Segoe UI"/>
              </a:defRPr>
            </a:lvl3pPr>
            <a:lvl4pPr>
              <a:defRPr sz="3600" b="1">
                <a:solidFill>
                  <a:srgbClr val="192E3B"/>
                </a:solidFill>
                <a:latin typeface="Segoe UI"/>
                <a:ea typeface="Segoe UI"/>
                <a:cs typeface="Segoe UI"/>
              </a:defRPr>
            </a:lvl4pPr>
            <a:lvl5pPr>
              <a:defRPr sz="3600" b="1">
                <a:solidFill>
                  <a:srgbClr val="192E3B"/>
                </a:solidFill>
                <a:latin typeface="Segoe UI"/>
                <a:ea typeface="Segoe UI"/>
                <a:cs typeface="Segoe UI"/>
              </a:defRPr>
            </a:lvl5pPr>
            <a:lvl6pPr>
              <a:defRPr sz="3600" b="1">
                <a:solidFill>
                  <a:srgbClr val="192E3B"/>
                </a:solidFill>
                <a:latin typeface="Segoe UI"/>
                <a:ea typeface="Segoe UI"/>
                <a:cs typeface="Segoe UI"/>
              </a:defRPr>
            </a:lvl6pPr>
            <a:lvl7pPr>
              <a:defRPr sz="3600" b="1">
                <a:solidFill>
                  <a:srgbClr val="192E3B"/>
                </a:solidFill>
                <a:latin typeface="Segoe UI"/>
                <a:ea typeface="Segoe UI"/>
                <a:cs typeface="Segoe UI"/>
              </a:defRPr>
            </a:lvl7pPr>
            <a:lvl8pPr>
              <a:defRPr sz="3600" b="1">
                <a:solidFill>
                  <a:srgbClr val="192E3B"/>
                </a:solidFill>
                <a:latin typeface="Segoe UI"/>
                <a:ea typeface="Segoe UI"/>
                <a:cs typeface="Segoe UI"/>
              </a:defRPr>
            </a:lvl8pPr>
            <a:lvl9pPr>
              <a:defRPr sz="3600" b="1">
                <a:solidFill>
                  <a:srgbClr val="192E3B"/>
                </a:solidFill>
                <a:latin typeface="Segoe UI"/>
                <a:ea typeface="Segoe UI"/>
                <a:cs typeface="Segoe UI"/>
              </a:defRPr>
            </a:lvl9pPr>
          </a:lstStyle>
          <ns1:p xmlns:ns1="http://schemas.openxmlformats.org/drawingml/2006/main">
            <ns1:pPr>
              <ns1:defRPr sz="3600" b="1">
                <ns1:solidFill>
                  <ns1:srgbClr val="192E3B"/>
                </ns1:solidFill>
                <ns1:latin typeface="Segoe UI"/>
                <ns1:ea typeface="Segoe UI"/>
                <ns1:cs typeface="Segoe UI"/>
              </ns1:defRPr>
            </ns1:pPr>
            <ns1:r>
              <ns1:rPr sz="3600" b="1">
                <ns1:solidFill>
                  <ns1:srgbClr val="192E3B"/>
                </ns1:solidFill>
                <ns1:latin typeface="Segoe UI"/>
                <ns1:ea typeface="Segoe UI"/>
                <ns1:cs typeface="Segoe UI"/>
              </ns1:rPr>
              <ns1:t>Which job uses a skill I have used?</ns1:t>
            </ns1:r>
          </ns1:p>
        </p:txBody>
      </p:sp>
      <p:sp>
        <p:nvSpPr>
          <p:cNvPr id="5" name="purpose">
            <a:extLst xmlns:a="http://schemas.openxmlformats.org/drawingml/2006/main">
              <a:ext uri="{FF2B5EF4-FFF2-40B4-BE49-F238E27FC236}">
                <a16:creationId xmlns:a16="http://schemas.microsoft.com/office/drawing/2014/main" id="{F3062D06-A2B9-495A-8848-D71B1D8E3C79}"/>
              </a:ext>
            </a:extLst>
          </p:cNvPr>
          <p:cNvSpPr>
            <a:spLocks xmlns:a="http://schemas.openxmlformats.org/drawingml/2006/main" noGrp="1"/>
          </p:cNvSpPr>
          <p:nvPr/>
        </p:nvSpPr>
        <p:spPr>
          <a:xfrm xmlns:a="http://schemas.openxmlformats.org/drawingml/2006/main">
            <a:off x="533400" y="3810000"/>
            <a:ext cx="914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2:p xmlns:ns2="http://schemas.openxmlformats.org/drawingml/2006/main">
            <ns2:pPr>
              <ns2:defRPr sz="2550" b="0">
                <ns2:solidFill>
                  <ns2:srgbClr val="192E3B"/>
                </ns2:solidFill>
                <ns2:latin typeface="Segoe UI"/>
                <ns2:ea typeface="Segoe UI"/>
                <ns2:cs typeface="Segoe UI"/>
              </ns2:defRPr>
            </ns2:pPr>
            <ns2:r>
              <ns2:rPr sz="2550" b="0">
                <ns2:solidFill>
                  <ns2:srgbClr val="192E3B"/>
                </ns2:solidFill>
                <ns2:latin typeface="Segoe UI"/>
                <ns2:ea typeface="Segoe UI"/>
                <ns2:cs typeface="Segoe UI"/>
              </ns2:rPr>
              <ns2:t>Jobs and skills from our sale for Zoe’s Place.</ns2:t>
            </ns2:r>
          </ns2:p>
        </p:txBody>
      </p:sp>
      <p:pic>
        <p:nvPicPr>
          <p:cNvPr id="6" name="picture-cue-1" descr="Flat target cue for making a checked project choice.">
            <a:extLst xmlns:a="http://schemas.openxmlformats.org/drawingml/2006/main">
              <a:ext uri="{FF2B5EF4-FFF2-40B4-BE49-F238E27FC236}">
                <a16:creationId xmlns:a16="http://schemas.microsoft.com/office/drawing/2014/main" id="{608FBCE5-B59B-4C30-A4E1-C4E94FE7E5C2}"/>
              </a:ext>
            </a:extLst>
          </p:cNvPr>
          <p:cNvPicPr>
            <a:picLocks xmlns:a="http://schemas.openxmlformats.org/drawingml/2006/main" noChangeAspect="1"/>
          </p:cNvPicPr>
          <p:nvPr/>
        </p:nvPicPr>
        <p:blipFill>
          <a:blip xmlns:r="http://schemas.openxmlformats.org/officeDocument/2006/relationships" xmlns:a="http://schemas.openxmlformats.org/drawingml/2006/main" r:embed="R14122ece10b64051"/>
          <a:stretch xmlns:a="http://schemas.openxmlformats.org/drawingml/2006/main"/>
        </p:blipFill>
        <p:spPr>
          <a:xfrm xmlns:a="http://schemas.openxmlformats.org/drawingml/2006/main">
            <a:off x="10001250" y="2286000"/>
            <a:ext cx="1238250" cy="1238250"/>
          </a:xfrm>
          <a:prstGeom xmlns:a="http://schemas.openxmlformats.org/drawingml/2006/main" prst="rect">
            <a:avLst/>
          </a:prstGeom>
        </p:spPr>
      </p:pic>
      <p:sp>
        <p:nvSpPr>
          <p:cNvPr id="7" name="date">
            <a:extLst xmlns:a="http://schemas.openxmlformats.org/drawingml/2006/main">
              <a:ext uri="{FF2B5EF4-FFF2-40B4-BE49-F238E27FC236}">
                <a16:creationId xmlns:a16="http://schemas.microsoft.com/office/drawing/2014/main" id="{F5698BA5-6BA0-4F63-BD55-736AD0C8D887}"/>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defRPr sz="1800" b="0">
                <a:solidFill>
                  <a:srgbClr val="566574"/>
                </a:solidFill>
                <a:latin typeface="Segoe UI"/>
                <a:ea typeface="Segoe UI"/>
                <a:cs typeface="Segoe UI"/>
              </a:defRPr>
            </a:lvl1pPr>
            <a:lvl2pPr>
              <a:defRPr sz="1800" b="0">
                <a:solidFill>
                  <a:srgbClr val="566574"/>
                </a:solidFill>
                <a:latin typeface="Segoe UI"/>
                <a:ea typeface="Segoe UI"/>
                <a:cs typeface="Segoe UI"/>
              </a:defRPr>
            </a:lvl2pPr>
            <a:lvl3pPr>
              <a:defRPr sz="1800" b="0">
                <a:solidFill>
                  <a:srgbClr val="566574"/>
                </a:solidFill>
                <a:latin typeface="Segoe UI"/>
                <a:ea typeface="Segoe UI"/>
                <a:cs typeface="Segoe UI"/>
              </a:defRPr>
            </a:lvl3pPr>
            <a:lvl4pPr>
              <a:defRPr sz="1800" b="0">
                <a:solidFill>
                  <a:srgbClr val="566574"/>
                </a:solidFill>
                <a:latin typeface="Segoe UI"/>
                <a:ea typeface="Segoe UI"/>
                <a:cs typeface="Segoe UI"/>
              </a:defRPr>
            </a:lvl4pPr>
            <a:lvl5pPr>
              <a:defRPr sz="1800" b="0">
                <a:solidFill>
                  <a:srgbClr val="566574"/>
                </a:solidFill>
                <a:latin typeface="Segoe UI"/>
                <a:ea typeface="Segoe UI"/>
                <a:cs typeface="Segoe UI"/>
              </a:defRPr>
            </a:lvl5pPr>
            <a:lvl6pPr>
              <a:defRPr sz="1800" b="0">
                <a:solidFill>
                  <a:srgbClr val="566574"/>
                </a:solidFill>
                <a:latin typeface="Segoe UI"/>
                <a:ea typeface="Segoe UI"/>
                <a:cs typeface="Segoe UI"/>
              </a:defRPr>
            </a:lvl6pPr>
            <a:lvl7pPr>
              <a:defRPr sz="1800" b="0">
                <a:solidFill>
                  <a:srgbClr val="566574"/>
                </a:solidFill>
                <a:latin typeface="Segoe UI"/>
                <a:ea typeface="Segoe UI"/>
                <a:cs typeface="Segoe UI"/>
              </a:defRPr>
            </a:lvl7pPr>
            <a:lvl8pPr>
              <a:defRPr sz="1800" b="0">
                <a:solidFill>
                  <a:srgbClr val="566574"/>
                </a:solidFill>
                <a:latin typeface="Segoe UI"/>
                <a:ea typeface="Segoe UI"/>
                <a:cs typeface="Segoe UI"/>
              </a:defRPr>
            </a:lvl8pPr>
            <a:lvl9pPr>
              <a:defRPr sz="1800" b="0">
                <a:solidFill>
                  <a:srgbClr val="566574"/>
                </a:solidFill>
                <a:latin typeface="Segoe UI"/>
                <a:ea typeface="Segoe UI"/>
                <a:cs typeface="Segoe UI"/>
              </a:defRPr>
            </a:lvl9pPr>
          </a:lstStyle>
          <ns3:p xmlns:ns3="http://schemas.openxmlformats.org/drawingml/2006/main">
            <ns3:pPr>
              <ns3:defRPr sz="1800" b="0">
                <ns3:solidFill>
                  <ns3:srgbClr val="566574"/>
                </ns3:solidFill>
                <ns3:latin typeface="Segoe UI"/>
                <ns3:ea typeface="Segoe UI"/>
                <ns3:cs typeface="Segoe UI"/>
              </ns3:defRPr>
            </ns3:pPr>
            <ns3:r>
              <ns3:rPr sz="1800" b="0">
                <ns3:solidFill>
                  <ns3:srgbClr val="566574"/>
                </ns3:solidFill>
                <ns3:latin typeface="Segoe UI"/>
                <ns3:ea typeface="Segoe UI"/>
                <ns3:cs typeface="Segoe UI"/>
              </ns3:rPr>
              <ns3:t>Thursday 19 November 2026 · P5 12:50–13:30</ns3:t>
            </ns3:r>
          </ns3:p>
        </p:txBody>
      </p:sp>
      <p:sp>
        <p:nvSpPr>
          <p:cNvPr id="8" name="credit">
            <a:extLst xmlns:a="http://schemas.openxmlformats.org/drawingml/2006/main">
              <a:ext uri="{FF2B5EF4-FFF2-40B4-BE49-F238E27FC236}">
                <a16:creationId xmlns:a16="http://schemas.microsoft.com/office/drawing/2014/main" id="{1401A918-30DC-4A37-9735-6162636E0074}"/>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9" name="page-number">
            <a:extLst xmlns:a="http://schemas.openxmlformats.org/drawingml/2006/main">
              <a:ext uri="{FF2B5EF4-FFF2-40B4-BE49-F238E27FC236}">
                <a16:creationId xmlns:a16="http://schemas.microsoft.com/office/drawing/2014/main" id="{73AF185D-5216-4F6F-AAD1-DB12EEF2BFB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01</ns6:t>
            </ns6:r>
          </ns6:p>
        </p:txBody>
      </p:sp>
    </p:spTree>
    <p:extLst>
      <p:ext uri="{BB962C8B-B14F-4D97-AF65-F5344CB8AC3E}">
        <p14:creationId xmlns:p14="http://schemas.microsoft.com/office/powerpoint/2010/main" val="4666515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code">
            <a:extLst xmlns:a="http://schemas.openxmlformats.org/drawingml/2006/main">
              <a:ext uri="{FF2B5EF4-FFF2-40B4-BE49-F238E27FC236}">
                <a16:creationId xmlns:a16="http://schemas.microsoft.com/office/drawing/2014/main" id="{C018F9C6-3145-473B-B7E1-A8C792691F4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2:p xmlns:ns12="http://schemas.openxmlformats.org/drawingml/2006/main">
            <ns12:pPr>
              <ns12:defRPr sz="1200" b="0">
                <ns12:solidFill>
                  <ns12:srgbClr val="566574"/>
                </ns12:solidFill>
                <ns12:latin typeface="Segoe UI"/>
                <ns12:ea typeface="Segoe UI"/>
                <ns12:cs typeface="Segoe UI"/>
              </ns12:defRPr>
            </ns12:pPr>
            <ns12:r>
              <ns12:rPr sz="1200" b="0">
                <ns12:solidFill>
                  <ns12:srgbClr val="566574"/>
                </ns12:solidFill>
                <ns12:latin typeface="Segoe UI"/>
                <ns12:ea typeface="Segoe UI"/>
                <ns12:cs typeface="Segoe UI"/>
              </ns12:rPr>
              <ns12:t>COMM-GROW-A2-W03  ·  Lesson 8</ns12:t>
            </ns12:r>
          </ns12:p>
        </p:txBody>
      </p:sp>
      <p:sp>
        <p:nvSpPr>
          <p:cNvPr id="2" name="edition">
            <a:extLst xmlns:a="http://schemas.openxmlformats.org/drawingml/2006/main">
              <a:ext uri="{FF2B5EF4-FFF2-40B4-BE49-F238E27FC236}">
                <a16:creationId xmlns:a16="http://schemas.microsoft.com/office/drawing/2014/main" id="{0C05B7E0-6CFD-42FC-8E3B-3E8A629EA1C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Public edition</ns13:t>
            </ns13:r>
          </ns13:p>
        </p:txBody>
      </p:sp>
      <p:sp>
        <p:nvSpPr>
          <p:cNvPr id="3" name="stage-title">
            <a:extLst xmlns:a="http://schemas.openxmlformats.org/drawingml/2006/main">
              <a:ext uri="{FF2B5EF4-FFF2-40B4-BE49-F238E27FC236}">
                <a16:creationId xmlns:a16="http://schemas.microsoft.com/office/drawing/2014/main" id="{97D20851-AE0E-4782-AB49-0574196E06A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6:p xmlns:ns16="http://schemas.openxmlformats.org/drawingml/2006/main">
            <ns16:pPr>
              <ns16:defRPr sz="3300" b="1">
                <ns16:solidFill>
                  <ns16:srgbClr val="345D70"/>
                </ns16:solidFill>
                <ns16:latin typeface="Segoe UI"/>
                <ns16:ea typeface="Segoe UI"/>
                <ns16:cs typeface="Segoe UI"/>
              </ns16:defRPr>
            </ns16:pPr>
            <ns16:r>
              <ns16:rPr sz="3300" b="1">
                <ns16:solidFill>
                  <ns16:srgbClr val="345D70"/>
                </ns16:solidFill>
                <ns16:latin typeface="Segoe UI"/>
                <ns16:ea typeface="Segoe UI"/>
                <ns16:cs typeface="Segoe UI"/>
              </ns16:rPr>
              <ns16:t>Arrival and regulation check</ns16:t>
            </ns16:r>
          </ns16:p>
        </p:txBody>
      </p:sp>
      <p:sp>
        <p:nvSpPr>
          <p:cNvPr id="4" name="check-prompt">
            <a:extLst xmlns:a="http://schemas.openxmlformats.org/drawingml/2006/main">
              <a:ext uri="{FF2B5EF4-FFF2-40B4-BE49-F238E27FC236}">
                <a16:creationId xmlns:a16="http://schemas.microsoft.com/office/drawing/2014/main" id="{35E88815-0F44-40CE-8CE0-E6ABCD1AEC72}"/>
              </a:ext>
            </a:extLst>
          </p:cNvPr>
          <p:cNvSpPr>
            <a:spLocks xmlns:a="http://schemas.openxmlformats.org/drawingml/2006/main" noGrp="1"/>
          </p:cNvSpPr>
          <p:nvPr/>
        </p:nvSpPr>
        <p:spPr>
          <a:xfrm xmlns:a="http://schemas.openxmlformats.org/drawingml/2006/main">
            <a:off x="533400" y="15240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550" b="0">
                <a:solidFill>
                  <a:srgbClr val="192E3B"/>
                </a:solidFill>
                <a:latin typeface="Segoe UI"/>
                <a:ea typeface="Segoe UI"/>
                <a:cs typeface="Segoe UI"/>
              </a:defRPr>
            </a:defPPr>
            <a:lvl1pPr>
              <a:defRPr sz="2550" b="0">
                <a:solidFill>
                  <a:srgbClr val="192E3B"/>
                </a:solidFill>
                <a:latin typeface="Segoe UI"/>
                <a:ea typeface="Segoe UI"/>
                <a:cs typeface="Segoe UI"/>
              </a:defRPr>
            </a:lvl1pPr>
            <a:lvl2pPr>
              <a:defRPr sz="2550" b="0">
                <a:solidFill>
                  <a:srgbClr val="192E3B"/>
                </a:solidFill>
                <a:latin typeface="Segoe UI"/>
                <a:ea typeface="Segoe UI"/>
                <a:cs typeface="Segoe UI"/>
              </a:defRPr>
            </a:lvl2pPr>
            <a:lvl3pPr>
              <a:defRPr sz="2550" b="0">
                <a:solidFill>
                  <a:srgbClr val="192E3B"/>
                </a:solidFill>
                <a:latin typeface="Segoe UI"/>
                <a:ea typeface="Segoe UI"/>
                <a:cs typeface="Segoe UI"/>
              </a:defRPr>
            </a:lvl3pPr>
            <a:lvl4pPr>
              <a:defRPr sz="2550" b="0">
                <a:solidFill>
                  <a:srgbClr val="192E3B"/>
                </a:solidFill>
                <a:latin typeface="Segoe UI"/>
                <a:ea typeface="Segoe UI"/>
                <a:cs typeface="Segoe UI"/>
              </a:defRPr>
            </a:lvl4pPr>
            <a:lvl5pPr>
              <a:defRPr sz="2550" b="0">
                <a:solidFill>
                  <a:srgbClr val="192E3B"/>
                </a:solidFill>
                <a:latin typeface="Segoe UI"/>
                <a:ea typeface="Segoe UI"/>
                <a:cs typeface="Segoe UI"/>
              </a:defRPr>
            </a:lvl5pPr>
            <a:lvl6pPr>
              <a:defRPr sz="2550" b="0">
                <a:solidFill>
                  <a:srgbClr val="192E3B"/>
                </a:solidFill>
                <a:latin typeface="Segoe UI"/>
                <a:ea typeface="Segoe UI"/>
                <a:cs typeface="Segoe UI"/>
              </a:defRPr>
            </a:lvl6pPr>
            <a:lvl7pPr>
              <a:defRPr sz="2550" b="0">
                <a:solidFill>
                  <a:srgbClr val="192E3B"/>
                </a:solidFill>
                <a:latin typeface="Segoe UI"/>
                <a:ea typeface="Segoe UI"/>
                <a:cs typeface="Segoe UI"/>
              </a:defRPr>
            </a:lvl7pPr>
            <a:lvl8pPr>
              <a:defRPr sz="2550" b="0">
                <a:solidFill>
                  <a:srgbClr val="192E3B"/>
                </a:solidFill>
                <a:latin typeface="Segoe UI"/>
                <a:ea typeface="Segoe UI"/>
                <a:cs typeface="Segoe UI"/>
              </a:defRPr>
            </a:lvl8pPr>
            <a:lvl9pPr>
              <a:defRPr sz="2550" b="0">
                <a:solidFill>
                  <a:srgbClr val="192E3B"/>
                </a:solidFill>
                <a:latin typeface="Segoe UI"/>
                <a:ea typeface="Segoe UI"/>
                <a:cs typeface="Segoe UI"/>
              </a:defRPr>
            </a:lvl9pPr>
          </a:lstStyle>
          <ns0:p xmlns:ns0="http://schemas.openxmlformats.org/drawingml/2006/main">
            <ns0:pPr>
              <ns0:defRPr sz="2550" b="0">
                <ns0:solidFill>
                  <ns0:srgbClr val="192E3B"/>
                </ns0:solidFill>
                <ns0:latin typeface="Segoe UI"/>
                <ns0:ea typeface="Segoe UI"/>
                <ns0:cs typeface="Segoe UI"/>
              </ns0:defRPr>
            </ns0:pPr>
            <ns0:r>
              <ns0:rPr sz="2550" b="0">
                <ns0:solidFill>
                  <ns0:srgbClr val="192E3B"/>
                </ns0:solidFill>
                <ns0:latin typeface="Segoe UI"/>
                <ns0:ea typeface="Segoe UI"/>
                <ns0:cs typeface="Segoe UI"/>
              </ns0:rPr>
              <ns0:t>Check how you feel.</ns0:t>
            </ns0:r>
          </ns0:p>
        </p:txBody>
      </p:sp>
      <p:sp>
        <p:nvSpPr>
          <p:cNvPr id="5" name="colour-BLUE">
            <a:extLst xmlns:a="http://schemas.openxmlformats.org/drawingml/2006/main">
              <a:ext uri="{FF2B5EF4-FFF2-40B4-BE49-F238E27FC236}">
                <a16:creationId xmlns:a16="http://schemas.microsoft.com/office/drawing/2014/main" id="{9D8E6363-3DAB-4C75-884B-8FD6DD2C40DB}"/>
              </a:ext>
            </a:extLst>
          </p:cNvPr>
          <p:cNvSpPr>
            <a:spLocks xmlns:a="http://schemas.openxmlformats.org/drawingml/2006/main" noGrp="1"/>
          </p:cNvSpPr>
          <p:nvPr/>
        </p:nvSpPr>
        <p:spPr>
          <a:xfrm xmlns:a="http://schemas.openxmlformats.org/drawingml/2006/main">
            <a:off x="533400" y="2286000"/>
            <a:ext cx="2571750" cy="1190625"/>
          </a:xfrm>
          <a:prstGeom xmlns:a="http://schemas.openxmlformats.org/drawingml/2006/main" prst="rect">
            <a:avLst/>
          </a:prstGeom>
          <a:solidFill xmlns:a="http://schemas.openxmlformats.org/drawingml/2006/main">
            <a:srgbClr val="DFEAF7"/>
          </a:solidFill>
          <a:ln xmlns:a="http://schemas.openxmlformats.org/drawingml/2006/main" w="0">
            <a:noFill/>
            <a:prstDash val="solid"/>
          </a:ln>
        </p:spPr>
      </p:sp>
      <p:sp>
        <p:nvSpPr>
          <p:cNvPr id="6" name="label-BLUE">
            <a:extLst xmlns:a="http://schemas.openxmlformats.org/drawingml/2006/main">
              <a:ext uri="{FF2B5EF4-FFF2-40B4-BE49-F238E27FC236}">
                <a16:creationId xmlns:a16="http://schemas.microsoft.com/office/drawing/2014/main" id="{E5B06875-9CEB-45C1-AD14-DB01C18A66CA}"/>
              </a:ext>
            </a:extLst>
          </p:cNvPr>
          <p:cNvSpPr>
            <a:spLocks xmlns:a="http://schemas.openxmlformats.org/drawingml/2006/main" noGrp="1"/>
          </p:cNvSpPr>
          <p:nvPr/>
        </p:nvSpPr>
        <p:spPr>
          <a:xfrm xmlns:a="http://schemas.openxmlformats.org/drawingml/2006/main">
            <a:off x="6858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1:p xmlns:ns1="http://schemas.openxmlformats.org/drawingml/2006/main">
            <ns1:pPr>
              <ns1:defRPr sz="2250" b="1">
                <ns1:solidFill>
                  <ns1:srgbClr val="192E3B"/>
                </ns1:solidFill>
                <ns1:latin typeface="Segoe UI"/>
                <ns1:ea typeface="Segoe UI"/>
                <ns1:cs typeface="Segoe UI"/>
              </ns1:defRPr>
            </ns1:pPr>
            <ns1:r>
              <ns1:rPr sz="2250" b="1">
                <ns1:solidFill>
                  <ns1:srgbClr val="192E3B"/>
                </ns1:solidFill>
                <ns1:latin typeface="Segoe UI"/>
                <ns1:ea typeface="Segoe UI"/>
                <ns1:cs typeface="Segoe UI"/>
              </ns1:rPr>
              <ns1:t>BLUE</ns1:t>
            </ns1:r>
          </ns1:p>
        </p:txBody>
      </p:sp>
      <p:sp>
        <p:nvSpPr>
          <p:cNvPr id="7" name="meaning-BLUE">
            <a:extLst xmlns:a="http://schemas.openxmlformats.org/drawingml/2006/main">
              <a:ext uri="{FF2B5EF4-FFF2-40B4-BE49-F238E27FC236}">
                <a16:creationId xmlns:a16="http://schemas.microsoft.com/office/drawing/2014/main" id="{CDF251E3-E345-41D1-8BEE-C65B6EF111D5}"/>
              </a:ext>
            </a:extLst>
          </p:cNvPr>
          <p:cNvSpPr>
            <a:spLocks xmlns:a="http://schemas.openxmlformats.org/drawingml/2006/main" noGrp="1"/>
          </p:cNvSpPr>
          <p:nvPr/>
        </p:nvSpPr>
        <p:spPr>
          <a:xfrm xmlns:a="http://schemas.openxmlformats.org/drawingml/2006/main">
            <a:off x="6858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2:p xmlns:ns2="http://schemas.openxmlformats.org/drawingml/2006/main">
            <ns2:pPr>
              <ns2:defRPr sz="2100" b="0">
                <ns2:solidFill>
                  <ns2:srgbClr val="192E3B"/>
                </ns2:solidFill>
                <ns2:latin typeface="Segoe UI"/>
                <ns2:ea typeface="Segoe UI"/>
                <ns2:cs typeface="Segoe UI"/>
              </ns2:defRPr>
            </ns2:pPr>
            <ns2:r>
              <ns2:rPr sz="2100" b="0">
                <ns2:solidFill>
                  <ns2:srgbClr val="192E3B"/>
                </ns2:solidFill>
                <ns2:latin typeface="Segoe UI"/>
                <ns2:ea typeface="Segoe UI"/>
                <ns2:cs typeface="Segoe UI"/>
              </ns2:rPr>
              <ns2:t>Low energy</ns2:t>
            </ns2:r>
          </ns2:p>
        </p:txBody>
      </p:sp>
      <p:sp>
        <p:nvSpPr>
          <p:cNvPr id="8" name="colour-GREEN">
            <a:extLst xmlns:a="http://schemas.openxmlformats.org/drawingml/2006/main">
              <a:ext uri="{FF2B5EF4-FFF2-40B4-BE49-F238E27FC236}">
                <a16:creationId xmlns:a16="http://schemas.microsoft.com/office/drawing/2014/main" id="{B98FDC18-CAE9-4DE6-AFD5-FF0B74D52311}"/>
              </a:ext>
            </a:extLst>
          </p:cNvPr>
          <p:cNvSpPr>
            <a:spLocks xmlns:a="http://schemas.openxmlformats.org/drawingml/2006/main" noGrp="1"/>
          </p:cNvSpPr>
          <p:nvPr/>
        </p:nvSpPr>
        <p:spPr>
          <a:xfrm xmlns:a="http://schemas.openxmlformats.org/drawingml/2006/main">
            <a:off x="3333750" y="2286000"/>
            <a:ext cx="2571750" cy="1190625"/>
          </a:xfrm>
          <a:prstGeom xmlns:a="http://schemas.openxmlformats.org/drawingml/2006/main" prst="rect">
            <a:avLst/>
          </a:prstGeom>
          <a:solidFill xmlns:a="http://schemas.openxmlformats.org/drawingml/2006/main">
            <a:srgbClr val="E3F0E5"/>
          </a:solidFill>
          <a:ln xmlns:a="http://schemas.openxmlformats.org/drawingml/2006/main" w="0">
            <a:noFill/>
            <a:prstDash val="solid"/>
          </a:ln>
        </p:spPr>
      </p:sp>
      <p:sp>
        <p:nvSpPr>
          <p:cNvPr id="9" name="label-GREEN">
            <a:extLst xmlns:a="http://schemas.openxmlformats.org/drawingml/2006/main">
              <a:ext uri="{FF2B5EF4-FFF2-40B4-BE49-F238E27FC236}">
                <a16:creationId xmlns:a16="http://schemas.microsoft.com/office/drawing/2014/main" id="{AC969D89-A8A2-479A-A828-4E5A538B653D}"/>
              </a:ext>
            </a:extLst>
          </p:cNvPr>
          <p:cNvSpPr>
            <a:spLocks xmlns:a="http://schemas.openxmlformats.org/drawingml/2006/main" noGrp="1"/>
          </p:cNvSpPr>
          <p:nvPr/>
        </p:nvSpPr>
        <p:spPr>
          <a:xfrm xmlns:a="http://schemas.openxmlformats.org/drawingml/2006/main">
            <a:off x="34861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3:p xmlns:ns3="http://schemas.openxmlformats.org/drawingml/2006/main">
            <ns3:pPr>
              <ns3:defRPr sz="2250" b="1">
                <ns3:solidFill>
                  <ns3:srgbClr val="192E3B"/>
                </ns3:solidFill>
                <ns3:latin typeface="Segoe UI"/>
                <ns3:ea typeface="Segoe UI"/>
                <ns3:cs typeface="Segoe UI"/>
              </ns3:defRPr>
            </ns3:pPr>
            <ns3:r>
              <ns3:rPr sz="2250" b="1">
                <ns3:solidFill>
                  <ns3:srgbClr val="192E3B"/>
                </ns3:solidFill>
                <ns3:latin typeface="Segoe UI"/>
                <ns3:ea typeface="Segoe UI"/>
                <ns3:cs typeface="Segoe UI"/>
              </ns3:rPr>
              <ns3:t>GREEN</ns3:t>
            </ns3:r>
          </ns3:p>
        </p:txBody>
      </p:sp>
      <p:sp>
        <p:nvSpPr>
          <p:cNvPr id="10" name="meaning-GREEN">
            <a:extLst xmlns:a="http://schemas.openxmlformats.org/drawingml/2006/main">
              <a:ext uri="{FF2B5EF4-FFF2-40B4-BE49-F238E27FC236}">
                <a16:creationId xmlns:a16="http://schemas.microsoft.com/office/drawing/2014/main" id="{41D81F4E-510F-495A-AD85-E501AA41C507}"/>
              </a:ext>
            </a:extLst>
          </p:cNvPr>
          <p:cNvSpPr>
            <a:spLocks xmlns:a="http://schemas.openxmlformats.org/drawingml/2006/main" noGrp="1"/>
          </p:cNvSpPr>
          <p:nvPr/>
        </p:nvSpPr>
        <p:spPr>
          <a:xfrm xmlns:a="http://schemas.openxmlformats.org/drawingml/2006/main">
            <a:off x="34861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4:p xmlns:ns4="http://schemas.openxmlformats.org/drawingml/2006/main">
            <ns4:pPr>
              <ns4:defRPr sz="2100" b="0">
                <ns4:solidFill>
                  <ns4:srgbClr val="192E3B"/>
                </ns4:solidFill>
                <ns4:latin typeface="Segoe UI"/>
                <ns4:ea typeface="Segoe UI"/>
                <ns4:cs typeface="Segoe UI"/>
              </ns4:defRPr>
            </ns4:pPr>
            <ns4:r>
              <ns4:rPr sz="2100" b="0">
                <ns4:solidFill>
                  <ns4:srgbClr val="192E3B"/>
                </ns4:solidFill>
                <ns4:latin typeface="Segoe UI"/>
                <ns4:ea typeface="Segoe UI"/>
                <ns4:cs typeface="Segoe UI"/>
              </ns4:rPr>
              <ns4:t>Ready</ns4:t>
            </ns4:r>
          </ns4:p>
        </p:txBody>
      </p:sp>
      <p:sp>
        <p:nvSpPr>
          <p:cNvPr id="11" name="colour-AMBER">
            <a:extLst xmlns:a="http://schemas.openxmlformats.org/drawingml/2006/main">
              <a:ext uri="{FF2B5EF4-FFF2-40B4-BE49-F238E27FC236}">
                <a16:creationId xmlns:a16="http://schemas.microsoft.com/office/drawing/2014/main" id="{4AFCE4A6-57BD-40A7-B363-8D30B9466845}"/>
              </a:ext>
            </a:extLst>
          </p:cNvPr>
          <p:cNvSpPr>
            <a:spLocks xmlns:a="http://schemas.openxmlformats.org/drawingml/2006/main" noGrp="1"/>
          </p:cNvSpPr>
          <p:nvPr/>
        </p:nvSpPr>
        <p:spPr>
          <a:xfrm xmlns:a="http://schemas.openxmlformats.org/drawingml/2006/main">
            <a:off x="6134100" y="2286000"/>
            <a:ext cx="2571750" cy="1190625"/>
          </a:xfrm>
          <a:prstGeom xmlns:a="http://schemas.openxmlformats.org/drawingml/2006/main" prst="rect">
            <a:avLst/>
          </a:prstGeom>
          <a:solidFill xmlns:a="http://schemas.openxmlformats.org/drawingml/2006/main">
            <a:srgbClr val="FFF0C9"/>
          </a:solidFill>
          <a:ln xmlns:a="http://schemas.openxmlformats.org/drawingml/2006/main" w="0">
            <a:noFill/>
            <a:prstDash val="solid"/>
          </a:ln>
        </p:spPr>
      </p:sp>
      <p:sp>
        <p:nvSpPr>
          <p:cNvPr id="12" name="label-AMBER">
            <a:extLst xmlns:a="http://schemas.openxmlformats.org/drawingml/2006/main">
              <a:ext uri="{FF2B5EF4-FFF2-40B4-BE49-F238E27FC236}">
                <a16:creationId xmlns:a16="http://schemas.microsoft.com/office/drawing/2014/main" id="{22F2E564-8BE9-494A-B500-C665AC179C7F}"/>
              </a:ext>
            </a:extLst>
          </p:cNvPr>
          <p:cNvSpPr>
            <a:spLocks xmlns:a="http://schemas.openxmlformats.org/drawingml/2006/main" noGrp="1"/>
          </p:cNvSpPr>
          <p:nvPr/>
        </p:nvSpPr>
        <p:spPr>
          <a:xfrm xmlns:a="http://schemas.openxmlformats.org/drawingml/2006/main">
            <a:off x="62865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5:p xmlns:ns5="http://schemas.openxmlformats.org/drawingml/2006/main">
            <ns5:pPr>
              <ns5:defRPr sz="2250" b="1">
                <ns5:solidFill>
                  <ns5:srgbClr val="192E3B"/>
                </ns5:solidFill>
                <ns5:latin typeface="Segoe UI"/>
                <ns5:ea typeface="Segoe UI"/>
                <ns5:cs typeface="Segoe UI"/>
              </ns5:defRPr>
            </ns5:pPr>
            <ns5:r>
              <ns5:rPr sz="2250" b="1">
                <ns5:solidFill>
                  <ns5:srgbClr val="192E3B"/>
                </ns5:solidFill>
                <ns5:latin typeface="Segoe UI"/>
                <ns5:ea typeface="Segoe UI"/>
                <ns5:cs typeface="Segoe UI"/>
              </ns5:rPr>
              <ns5:t>AMBER</ns5:t>
            </ns5:r>
          </ns5:p>
        </p:txBody>
      </p:sp>
      <p:sp>
        <p:nvSpPr>
          <p:cNvPr id="13" name="meaning-AMBER">
            <a:extLst xmlns:a="http://schemas.openxmlformats.org/drawingml/2006/main">
              <a:ext uri="{FF2B5EF4-FFF2-40B4-BE49-F238E27FC236}">
                <a16:creationId xmlns:a16="http://schemas.microsoft.com/office/drawing/2014/main" id="{D5CB1260-5566-4770-ACFE-F1034DA5AFCF}"/>
              </a:ext>
            </a:extLst>
          </p:cNvPr>
          <p:cNvSpPr>
            <a:spLocks xmlns:a="http://schemas.openxmlformats.org/drawingml/2006/main" noGrp="1"/>
          </p:cNvSpPr>
          <p:nvPr/>
        </p:nvSpPr>
        <p:spPr>
          <a:xfrm xmlns:a="http://schemas.openxmlformats.org/drawingml/2006/main">
            <a:off x="62865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6:p xmlns:ns6="http://schemas.openxmlformats.org/drawingml/2006/main">
            <ns6:pPr>
              <ns6:defRPr sz="2100" b="0">
                <ns6:solidFill>
                  <ns6:srgbClr val="192E3B"/>
                </ns6:solidFill>
                <ns6:latin typeface="Segoe UI"/>
                <ns6:ea typeface="Segoe UI"/>
                <ns6:cs typeface="Segoe UI"/>
              </ns6:defRPr>
            </ns6:pPr>
            <ns6:r>
              <ns6:rPr sz="2100" b="0">
                <ns6:solidFill>
                  <ns6:srgbClr val="192E3B"/>
                </ns6:solidFill>
                <ns6:latin typeface="Segoe UI"/>
                <ns6:ea typeface="Segoe UI"/>
                <ns6:cs typeface="Segoe UI"/>
              </ns6:rPr>
              <ns6:t>Pause</ns6:t>
            </ns6:r>
          </ns6:p>
        </p:txBody>
      </p:sp>
      <p:sp>
        <p:nvSpPr>
          <p:cNvPr id="14" name="colour-RED">
            <a:extLst xmlns:a="http://schemas.openxmlformats.org/drawingml/2006/main">
              <a:ext uri="{FF2B5EF4-FFF2-40B4-BE49-F238E27FC236}">
                <a16:creationId xmlns:a16="http://schemas.microsoft.com/office/drawing/2014/main" id="{70E1026E-BACD-4BB9-996B-CB880CC9A9EC}"/>
              </a:ext>
            </a:extLst>
          </p:cNvPr>
          <p:cNvSpPr>
            <a:spLocks xmlns:a="http://schemas.openxmlformats.org/drawingml/2006/main" noGrp="1"/>
          </p:cNvSpPr>
          <p:nvPr/>
        </p:nvSpPr>
        <p:spPr>
          <a:xfrm xmlns:a="http://schemas.openxmlformats.org/drawingml/2006/main">
            <a:off x="8934450" y="2286000"/>
            <a:ext cx="2571750" cy="1190625"/>
          </a:xfrm>
          <a:prstGeom xmlns:a="http://schemas.openxmlformats.org/drawingml/2006/main" prst="rect">
            <a:avLst/>
          </a:prstGeom>
          <a:solidFill xmlns:a="http://schemas.openxmlformats.org/drawingml/2006/main">
            <a:srgbClr val="F9E4E2"/>
          </a:solidFill>
          <a:ln xmlns:a="http://schemas.openxmlformats.org/drawingml/2006/main" w="0">
            <a:noFill/>
            <a:prstDash val="solid"/>
          </a:ln>
        </p:spPr>
      </p:sp>
      <p:sp>
        <p:nvSpPr>
          <p:cNvPr id="15" name="label-RED">
            <a:extLst xmlns:a="http://schemas.openxmlformats.org/drawingml/2006/main">
              <a:ext uri="{FF2B5EF4-FFF2-40B4-BE49-F238E27FC236}">
                <a16:creationId xmlns:a16="http://schemas.microsoft.com/office/drawing/2014/main" id="{D2F7DEA7-6AD5-474E-89F3-A3E818FBFBAE}"/>
              </a:ext>
            </a:extLst>
          </p:cNvPr>
          <p:cNvSpPr>
            <a:spLocks xmlns:a="http://schemas.openxmlformats.org/drawingml/2006/main" noGrp="1"/>
          </p:cNvSpPr>
          <p:nvPr/>
        </p:nvSpPr>
        <p:spPr>
          <a:xfrm xmlns:a="http://schemas.openxmlformats.org/drawingml/2006/main">
            <a:off x="90868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defRPr sz="2250" b="1">
                <a:solidFill>
                  <a:srgbClr val="192E3B"/>
                </a:solidFill>
                <a:latin typeface="Segoe UI"/>
                <a:ea typeface="Segoe UI"/>
                <a:cs typeface="Segoe UI"/>
              </a:defRPr>
            </a:lvl1pPr>
            <a:lvl2pPr>
              <a:defRPr sz="2250" b="1">
                <a:solidFill>
                  <a:srgbClr val="192E3B"/>
                </a:solidFill>
                <a:latin typeface="Segoe UI"/>
                <a:ea typeface="Segoe UI"/>
                <a:cs typeface="Segoe UI"/>
              </a:defRPr>
            </a:lvl2pPr>
            <a:lvl3pPr>
              <a:defRPr sz="2250" b="1">
                <a:solidFill>
                  <a:srgbClr val="192E3B"/>
                </a:solidFill>
                <a:latin typeface="Segoe UI"/>
                <a:ea typeface="Segoe UI"/>
                <a:cs typeface="Segoe UI"/>
              </a:defRPr>
            </a:lvl3pPr>
            <a:lvl4pPr>
              <a:defRPr sz="2250" b="1">
                <a:solidFill>
                  <a:srgbClr val="192E3B"/>
                </a:solidFill>
                <a:latin typeface="Segoe UI"/>
                <a:ea typeface="Segoe UI"/>
                <a:cs typeface="Segoe UI"/>
              </a:defRPr>
            </a:lvl4pPr>
            <a:lvl5pPr>
              <a:defRPr sz="2250" b="1">
                <a:solidFill>
                  <a:srgbClr val="192E3B"/>
                </a:solidFill>
                <a:latin typeface="Segoe UI"/>
                <a:ea typeface="Segoe UI"/>
                <a:cs typeface="Segoe UI"/>
              </a:defRPr>
            </a:lvl5pPr>
            <a:lvl6pPr>
              <a:defRPr sz="2250" b="1">
                <a:solidFill>
                  <a:srgbClr val="192E3B"/>
                </a:solidFill>
                <a:latin typeface="Segoe UI"/>
                <a:ea typeface="Segoe UI"/>
                <a:cs typeface="Segoe UI"/>
              </a:defRPr>
            </a:lvl6pPr>
            <a:lvl7pPr>
              <a:defRPr sz="2250" b="1">
                <a:solidFill>
                  <a:srgbClr val="192E3B"/>
                </a:solidFill>
                <a:latin typeface="Segoe UI"/>
                <a:ea typeface="Segoe UI"/>
                <a:cs typeface="Segoe UI"/>
              </a:defRPr>
            </a:lvl7pPr>
            <a:lvl8pPr>
              <a:defRPr sz="2250" b="1">
                <a:solidFill>
                  <a:srgbClr val="192E3B"/>
                </a:solidFill>
                <a:latin typeface="Segoe UI"/>
                <a:ea typeface="Segoe UI"/>
                <a:cs typeface="Segoe UI"/>
              </a:defRPr>
            </a:lvl8pPr>
            <a:lvl9pPr>
              <a:defRPr sz="2250" b="1">
                <a:solidFill>
                  <a:srgbClr val="192E3B"/>
                </a:solidFill>
                <a:latin typeface="Segoe UI"/>
                <a:ea typeface="Segoe UI"/>
                <a:cs typeface="Segoe UI"/>
              </a:defRPr>
            </a:lvl9pPr>
          </a:lstStyle>
          <ns7:p xmlns:ns7="http://schemas.openxmlformats.org/drawingml/2006/main">
            <ns7:pPr>
              <ns7:defRPr sz="2250" b="1">
                <ns7:solidFill>
                  <ns7:srgbClr val="192E3B"/>
                </ns7:solidFill>
                <ns7:latin typeface="Segoe UI"/>
                <ns7:ea typeface="Segoe UI"/>
                <ns7:cs typeface="Segoe UI"/>
              </ns7:defRPr>
            </ns7:pPr>
            <ns7:r>
              <ns7:rPr sz="2250" b="1">
                <ns7:solidFill>
                  <ns7:srgbClr val="192E3B"/>
                </ns7:solidFill>
                <ns7:latin typeface="Segoe UI"/>
                <ns7:ea typeface="Segoe UI"/>
                <ns7:cs typeface="Segoe UI"/>
              </ns7:rPr>
              <ns7:t>RED</ns7:t>
            </ns7:r>
          </ns7:p>
        </p:txBody>
      </p:sp>
      <p:sp>
        <p:nvSpPr>
          <p:cNvPr id="16" name="meaning-RED">
            <a:extLst xmlns:a="http://schemas.openxmlformats.org/drawingml/2006/main">
              <a:ext uri="{FF2B5EF4-FFF2-40B4-BE49-F238E27FC236}">
                <a16:creationId xmlns:a16="http://schemas.microsoft.com/office/drawing/2014/main" id="{BE7AA5DE-A0C3-457E-8B60-957A7765DAB5}"/>
              </a:ext>
            </a:extLst>
          </p:cNvPr>
          <p:cNvSpPr>
            <a:spLocks xmlns:a="http://schemas.openxmlformats.org/drawingml/2006/main" noGrp="1"/>
          </p:cNvSpPr>
          <p:nvPr/>
        </p:nvSpPr>
        <p:spPr>
          <a:xfrm xmlns:a="http://schemas.openxmlformats.org/drawingml/2006/main">
            <a:off x="90868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00" b="0">
                <a:solidFill>
                  <a:srgbClr val="192E3B"/>
                </a:solidFill>
                <a:latin typeface="Segoe UI"/>
                <a:ea typeface="Segoe UI"/>
                <a:cs typeface="Segoe UI"/>
              </a:defRPr>
            </a:defPPr>
            <a:lvl1pPr>
              <a:defRPr sz="2100" b="0">
                <a:solidFill>
                  <a:srgbClr val="192E3B"/>
                </a:solidFill>
                <a:latin typeface="Segoe UI"/>
                <a:ea typeface="Segoe UI"/>
                <a:cs typeface="Segoe UI"/>
              </a:defRPr>
            </a:lvl1pPr>
            <a:lvl2pPr>
              <a:defRPr sz="2100" b="0">
                <a:solidFill>
                  <a:srgbClr val="192E3B"/>
                </a:solidFill>
                <a:latin typeface="Segoe UI"/>
                <a:ea typeface="Segoe UI"/>
                <a:cs typeface="Segoe UI"/>
              </a:defRPr>
            </a:lvl2pPr>
            <a:lvl3pPr>
              <a:defRPr sz="2100" b="0">
                <a:solidFill>
                  <a:srgbClr val="192E3B"/>
                </a:solidFill>
                <a:latin typeface="Segoe UI"/>
                <a:ea typeface="Segoe UI"/>
                <a:cs typeface="Segoe UI"/>
              </a:defRPr>
            </a:lvl3pPr>
            <a:lvl4pPr>
              <a:defRPr sz="2100" b="0">
                <a:solidFill>
                  <a:srgbClr val="192E3B"/>
                </a:solidFill>
                <a:latin typeface="Segoe UI"/>
                <a:ea typeface="Segoe UI"/>
                <a:cs typeface="Segoe UI"/>
              </a:defRPr>
            </a:lvl4pPr>
            <a:lvl5pPr>
              <a:defRPr sz="2100" b="0">
                <a:solidFill>
                  <a:srgbClr val="192E3B"/>
                </a:solidFill>
                <a:latin typeface="Segoe UI"/>
                <a:ea typeface="Segoe UI"/>
                <a:cs typeface="Segoe UI"/>
              </a:defRPr>
            </a:lvl5pPr>
            <a:lvl6pPr>
              <a:defRPr sz="2100" b="0">
                <a:solidFill>
                  <a:srgbClr val="192E3B"/>
                </a:solidFill>
                <a:latin typeface="Segoe UI"/>
                <a:ea typeface="Segoe UI"/>
                <a:cs typeface="Segoe UI"/>
              </a:defRPr>
            </a:lvl6pPr>
            <a:lvl7pPr>
              <a:defRPr sz="2100" b="0">
                <a:solidFill>
                  <a:srgbClr val="192E3B"/>
                </a:solidFill>
                <a:latin typeface="Segoe UI"/>
                <a:ea typeface="Segoe UI"/>
                <a:cs typeface="Segoe UI"/>
              </a:defRPr>
            </a:lvl7pPr>
            <a:lvl8pPr>
              <a:defRPr sz="2100" b="0">
                <a:solidFill>
                  <a:srgbClr val="192E3B"/>
                </a:solidFill>
                <a:latin typeface="Segoe UI"/>
                <a:ea typeface="Segoe UI"/>
                <a:cs typeface="Segoe UI"/>
              </a:defRPr>
            </a:lvl8pPr>
            <a:lvl9pPr>
              <a:defRPr sz="2100" b="0">
                <a:solidFill>
                  <a:srgbClr val="192E3B"/>
                </a:solidFill>
                <a:latin typeface="Segoe UI"/>
                <a:ea typeface="Segoe UI"/>
                <a:cs typeface="Segoe UI"/>
              </a:defRPr>
            </a:lvl9pPr>
          </a:lstStyle>
          <ns8:p xmlns:ns8="http://schemas.openxmlformats.org/drawingml/2006/main">
            <ns8:pPr>
              <ns8:defRPr sz="2100" b="0">
                <ns8:solidFill>
                  <ns8:srgbClr val="192E3B"/>
                </ns8:solidFill>
                <ns8:latin typeface="Segoe UI"/>
                <ns8:ea typeface="Segoe UI"/>
                <ns8:cs typeface="Segoe UI"/>
              </ns8:defRPr>
            </ns8:pPr>
            <ns8:r>
              <ns8:rPr sz="2100" b="0">
                <ns8:solidFill>
                  <ns8:srgbClr val="192E3B"/>
                </ns8:solidFill>
                <ns8:latin typeface="Segoe UI"/>
                <ns8:ea typeface="Segoe UI"/>
                <ns8:cs typeface="Segoe UI"/>
              </ns8:rPr>
              <ns8:t>Adult help</ns8:t>
            </ns8:r>
          </ns8:p>
        </p:txBody>
      </p:sp>
      <p:sp>
        <p:nvSpPr>
          <p:cNvPr id="17" name="reset">
            <a:extLst xmlns:a="http://schemas.openxmlformats.org/drawingml/2006/main">
              <a:ext uri="{FF2B5EF4-FFF2-40B4-BE49-F238E27FC236}">
                <a16:creationId xmlns:a16="http://schemas.microsoft.com/office/drawing/2014/main" id="{A4849A8E-7F49-426C-B88E-EBC3350D6C84}"/>
              </a:ext>
            </a:extLst>
          </p:cNvPr>
          <p:cNvSpPr>
            <a:spLocks xmlns:a="http://schemas.openxmlformats.org/drawingml/2006/main" noGrp="1"/>
          </p:cNvSpPr>
          <p:nvPr/>
        </p:nvSpPr>
        <p:spPr>
          <a:xfrm xmlns:a="http://schemas.openxmlformats.org/drawingml/2006/main">
            <a:off x="533400" y="4000500"/>
            <a:ext cx="1095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9:p xmlns:ns9="http://schemas.openxmlformats.org/drawingml/2006/main">
            <ns9:pPr>
              <ns9:defRPr sz="2250" b="0">
                <ns9:solidFill>
                  <ns9:srgbClr val="192E3B"/>
                </ns9:solidFill>
                <ns9:latin typeface="Segoe UI"/>
                <ns9:ea typeface="Segoe UI"/>
                <ns9:cs typeface="Segoe UI"/>
              </ns9:defRPr>
            </ns9:pPr>
            <ns9:r>
              <ns9:rPr sz="2250" b="0">
                <ns9:solidFill>
                  <ns9:srgbClr val="192E3B"/>
                </ns9:solidFill>
                <ns9:latin typeface="Segoe UI"/>
                <ns9:ea typeface="Segoe UI"/>
                <ns9:cs typeface="Segoe UI"/>
              </ns9:rPr>
              <ns9:t>Reset: water, stretch, quiet seat or adult.</ns9:t>
            </ns9:r>
          </ns9:p>
          <ns10:p xmlns:ns10="http://schemas.openxmlformats.org/drawingml/2006/main">
            <ns10:pPr>
              <ns10:defRPr sz="2250" b="0">
                <ns10:solidFill>
                  <ns10:srgbClr val="192E3B"/>
                </ns10:solidFill>
                <ns10:latin typeface="Segoe UI"/>
                <ns10:ea typeface="Segoe UI"/>
                <ns10:cs typeface="Segoe UI"/>
              </ns10:defRPr>
            </ns10:pPr>
            <ns10:r>
              <ns10:rPr sz="2250" b="0">
                <ns10:solidFill>
                  <ns10:srgbClr val="192E3B"/>
                </ns10:solidFill>
                <ns10:latin typeface="Segoe UI"/>
                <ns10:ea typeface="Segoe UI"/>
                <ns10:cs typeface="Segoe UI"/>
              </ns10:rPr>
              <ns10:t/>
            </ns10:r>
          </ns10:p>
          <ns11:p xmlns:ns11="http://schemas.openxmlformats.org/drawingml/2006/main">
            <ns11:pPr>
              <ns11:defRPr sz="2250" b="0">
                <ns11:solidFill>
                  <ns11:srgbClr val="192E3B"/>
                </ns11:solidFill>
                <ns11:latin typeface="Segoe UI"/>
                <ns11:ea typeface="Segoe UI"/>
                <ns11:cs typeface="Segoe UI"/>
              </ns11:defRPr>
            </ns11:pPr>
            <ns11:r>
              <ns11:rPr sz="2250" b="0">
                <ns11:solidFill>
                  <ns11:srgbClr val="192E3B"/>
                </ns11:solidFill>
                <ns11:latin typeface="Segoe UI"/>
                <ns11:ea typeface="Segoe UI"/>
                <ns11:cs typeface="Segoe UI"/>
              </ns11:rPr>
              <ns11:t>I feel __. I can start with __.</ns11:t>
            </ns11:r>
          </ns11:p>
        </p:txBody>
      </p:sp>
      <p:sp>
        <p:nvSpPr>
          <p:cNvPr id="18" name="credit">
            <a:extLst xmlns:a="http://schemas.openxmlformats.org/drawingml/2006/main">
              <a:ext uri="{FF2B5EF4-FFF2-40B4-BE49-F238E27FC236}">
                <a16:creationId xmlns:a16="http://schemas.microsoft.com/office/drawing/2014/main" id="{C4CF164F-E43F-470B-9851-764A85A266B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5:p xmlns:ns15="http://schemas.openxmlformats.org/drawingml/2006/main">
            <ns15:pPr>
              <ns15:defRPr sz="788" b="0">
                <ns15:solidFill>
                  <ns15:srgbClr val="566574"/>
                </ns15:solidFill>
                <ns15:latin typeface="Segoe UI"/>
                <ns15:ea typeface="Segoe UI"/>
                <ns15:cs typeface="Segoe UI"/>
              </ns15:defRPr>
            </ns15:pPr>
            <ns15:r>
              <ns15:rPr sz="788" b="0">
                <ns15:solidFill>
                  <ns15:srgbClr val="566574"/>
                </ns15:solidFill>
                <ns15:latin typeface="Segoe UI"/>
                <ns15:ea typeface="Segoe UI"/>
                <ns15:cs typeface="Segoe UI"/>
              </ns15:rPr>
              <ns15:t>Made by Matt · © Matt Roper · CC BY-NC-SA 4.0: free for classroom use, share and adapt with credit, no resale</ns15:t>
            </ns15:r>
          </ns15:p>
        </p:txBody>
      </p:sp>
      <p:sp>
        <p:nvSpPr>
          <p:cNvPr id="19" name="page-number">
            <a:extLst xmlns:a="http://schemas.openxmlformats.org/drawingml/2006/main">
              <a:ext uri="{FF2B5EF4-FFF2-40B4-BE49-F238E27FC236}">
                <a16:creationId xmlns:a16="http://schemas.microsoft.com/office/drawing/2014/main" id="{E73C554A-C72D-4384-A1BF-7D8516B6AA5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4:p xmlns:ns14="http://schemas.openxmlformats.org/drawingml/2006/main">
            <ns14:pPr>
              <ns14:defRPr sz="1050" b="0">
                <ns14:solidFill>
                  <ns14:srgbClr val="566574"/>
                </ns14:solidFill>
                <ns14:latin typeface="Segoe UI"/>
                <ns14:ea typeface="Segoe UI"/>
                <ns14:cs typeface="Segoe UI"/>
              </ns14:defRPr>
            </ns14:pPr>
            <ns14:r>
              <ns14:rPr sz="1050" b="0">
                <ns14:solidFill>
                  <ns14:srgbClr val="566574"/>
                </ns14:solidFill>
                <ns14:latin typeface="Segoe UI"/>
                <ns14:ea typeface="Segoe UI"/>
                <ns14:cs typeface="Segoe UI"/>
              </ns14:rPr>
              <ns14:t>02</ns14:t>
            </ns14:r>
          </ns14:p>
        </p:txBody>
      </p:sp>
    </p:spTree>
    <p:extLst>
      <p:ext uri="{BB962C8B-B14F-4D97-AF65-F5344CB8AC3E}">
        <p14:creationId xmlns:p14="http://schemas.microsoft.com/office/powerpoint/2010/main" val="1919646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1669DC02-771F-4F34-A91E-536D28B6F961}"/>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7:p xmlns:ns7="http://schemas.openxmlformats.org/drawingml/2006/main">
            <ns7:pPr>
              <ns7:defRPr sz="1200" b="0">
                <ns7:solidFill>
                  <ns7:srgbClr val="566574"/>
                </ns7:solidFill>
                <ns7:latin typeface="Segoe UI"/>
                <ns7:ea typeface="Segoe UI"/>
                <ns7:cs typeface="Segoe UI"/>
              </ns7:defRPr>
            </ns7:pPr>
            <ns7:r>
              <ns7:rPr sz="1200" b="0">
                <ns7:solidFill>
                  <ns7:srgbClr val="566574"/>
                </ns7:solidFill>
                <ns7:latin typeface="Segoe UI"/>
                <ns7:ea typeface="Segoe UI"/>
                <ns7:cs typeface="Segoe UI"/>
              </ns7:rPr>
              <ns7:t>COMM-GROW-A2-W03  ·  Lesson 8</ns7:t>
            </ns7:r>
          </ns7:p>
        </p:txBody>
      </p:sp>
      <p:sp>
        <p:nvSpPr>
          <p:cNvPr id="2" name="edition">
            <a:extLst xmlns:a="http://schemas.openxmlformats.org/drawingml/2006/main">
              <a:ext uri="{FF2B5EF4-FFF2-40B4-BE49-F238E27FC236}">
                <a16:creationId xmlns:a16="http://schemas.microsoft.com/office/drawing/2014/main" id="{C886C5B7-F7F6-4A61-916A-39D0BABAFD7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8:p xmlns:ns8="http://schemas.openxmlformats.org/drawingml/2006/main">
            <ns8:pPr>
              <ns8:defRPr sz="1050" b="0">
                <ns8:solidFill>
                  <ns8:srgbClr val="566574"/>
                </ns8:solidFill>
                <ns8:latin typeface="Segoe UI"/>
                <ns8:ea typeface="Segoe UI"/>
                <ns8:cs typeface="Segoe UI"/>
              </ns8:defRPr>
            </ns8:pPr>
            <ns8:r>
              <ns8:rPr sz="1050" b="0">
                <ns8:solidFill>
                  <ns8:srgbClr val="566574"/>
                </ns8:solidFill>
                <ns8:latin typeface="Segoe UI"/>
                <ns8:ea typeface="Segoe UI"/>
                <ns8:cs typeface="Segoe UI"/>
              </ns8:rPr>
              <ns8:t>Public edition</ns8:t>
            </ns8:r>
          </ns8:p>
        </p:txBody>
      </p:sp>
      <p:sp>
        <p:nvSpPr>
          <p:cNvPr id="3" name="stage-title">
            <a:extLst xmlns:a="http://schemas.openxmlformats.org/drawingml/2006/main">
              <a:ext uri="{FF2B5EF4-FFF2-40B4-BE49-F238E27FC236}">
                <a16:creationId xmlns:a16="http://schemas.microsoft.com/office/drawing/2014/main" id="{06F440CA-951A-42DF-8857-24D6304E6AA2}"/>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1:p xmlns:ns11="http://schemas.openxmlformats.org/drawingml/2006/main">
            <ns11:pPr>
              <ns11:defRPr sz="3300" b="1">
                <ns11:solidFill>
                  <ns11:srgbClr val="345D70"/>
                </ns11:solidFill>
                <ns11:latin typeface="Segoe UI"/>
                <ns11:ea typeface="Segoe UI"/>
                <ns11:cs typeface="Segoe UI"/>
              </ns11:defRPr>
            </ns11:pPr>
            <ns11:r>
              <ns11:rPr sz="3300" b="1">
                <ns11:solidFill>
                  <ns11:srgbClr val="345D70"/>
                </ns11:solidFill>
                <ns11:latin typeface="Segoe UI"/>
                <ns11:ea typeface="Segoe UI"/>
                <ns11:cs typeface="Segoe UI"/>
              </ns11:rPr>
              <ns11:t>Retrieval</ns11:t>
            </ns11:r>
          </ns11:p>
        </p:txBody>
      </p:sp>
      <p:sp>
        <p:nvSpPr>
          <p:cNvPr id="4" name="pupil-body">
            <a:extLst xmlns:a="http://schemas.openxmlformats.org/drawingml/2006/main">
              <a:ext uri="{FF2B5EF4-FFF2-40B4-BE49-F238E27FC236}">
                <a16:creationId xmlns:a16="http://schemas.microsoft.com/office/drawing/2014/main" id="{6F481DA5-A03B-47C3-8A03-093C7E27C523}"/>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What was your job at the bench or mock stall?</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Show one piece of your own project work.</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What did you do? What helped you do it?</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A task is a piece of work. A skill helps us do it.</ns6:t>
            </ns6:r>
          </ns6:p>
        </p:txBody>
      </p:sp>
      <p:sp>
        <p:nvSpPr>
          <p:cNvPr id="5" name="credit">
            <a:extLst xmlns:a="http://schemas.openxmlformats.org/drawingml/2006/main">
              <a:ext uri="{FF2B5EF4-FFF2-40B4-BE49-F238E27FC236}">
                <a16:creationId xmlns:a16="http://schemas.microsoft.com/office/drawing/2014/main" id="{9D4A936B-D68C-4A8F-AB55-CB5E62932845}"/>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0:p xmlns:ns10="http://schemas.openxmlformats.org/drawingml/2006/main">
            <ns10:pPr>
              <ns10:defRPr sz="788" b="0">
                <ns10:solidFill>
                  <ns10:srgbClr val="566574"/>
                </ns10:solidFill>
                <ns10:latin typeface="Segoe UI"/>
                <ns10:ea typeface="Segoe UI"/>
                <ns10:cs typeface="Segoe UI"/>
              </ns10:defRPr>
            </ns10:pPr>
            <ns10:r>
              <ns10:rPr sz="788" b="0">
                <ns10:solidFill>
                  <ns10:srgbClr val="566574"/>
                </ns10:solidFill>
                <ns10:latin typeface="Segoe UI"/>
                <ns10:ea typeface="Segoe UI"/>
                <ns10:cs typeface="Segoe UI"/>
              </ns10:rPr>
              <ns10:t>Made by Matt · © Matt Roper · CC BY-NC-SA 4.0: free for classroom use, share and adapt with credit, no resale</ns10:t>
            </ns10:r>
          </ns10:p>
        </p:txBody>
      </p:sp>
      <p:sp>
        <p:nvSpPr>
          <p:cNvPr id="6" name="page-number">
            <a:extLst xmlns:a="http://schemas.openxmlformats.org/drawingml/2006/main">
              <a:ext uri="{FF2B5EF4-FFF2-40B4-BE49-F238E27FC236}">
                <a16:creationId xmlns:a16="http://schemas.microsoft.com/office/drawing/2014/main" id="{7E59A0B6-8CA4-4846-B97F-B3326C2C53A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9:p xmlns:ns9="http://schemas.openxmlformats.org/drawingml/2006/main">
            <ns9:pPr>
              <ns9:defRPr sz="1050" b="0">
                <ns9:solidFill>
                  <ns9:srgbClr val="566574"/>
                </ns9:solidFill>
                <ns9:latin typeface="Segoe UI"/>
                <ns9:ea typeface="Segoe UI"/>
                <ns9:cs typeface="Segoe UI"/>
              </ns9:defRPr>
            </ns9:pPr>
            <ns9:r>
              <ns9:rPr sz="1050" b="0">
                <ns9:solidFill>
                  <ns9:srgbClr val="566574"/>
                </ns9:solidFill>
                <ns9:latin typeface="Segoe UI"/>
                <ns9:ea typeface="Segoe UI"/>
                <ns9:cs typeface="Segoe UI"/>
              </ns9:rPr>
              <ns9:t>03</ns9:t>
            </ns9:r>
          </ns9:p>
        </p:txBody>
      </p:sp>
    </p:spTree>
    <p:extLst>
      <p:ext uri="{BB962C8B-B14F-4D97-AF65-F5344CB8AC3E}">
        <p14:creationId xmlns:p14="http://schemas.microsoft.com/office/powerpoint/2010/main" val="4556298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298DB20D-35BB-4135-A6D9-E5BDC237931F}"/>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COMM-GROW-A2-W03  ·  Lesson 8</ns11:t>
            </ns11:r>
          </ns11:p>
        </p:txBody>
      </p:sp>
      <p:sp>
        <p:nvSpPr>
          <p:cNvPr id="2" name="edition">
            <a:extLst xmlns:a="http://schemas.openxmlformats.org/drawingml/2006/main">
              <a:ext uri="{FF2B5EF4-FFF2-40B4-BE49-F238E27FC236}">
                <a16:creationId xmlns:a16="http://schemas.microsoft.com/office/drawing/2014/main" id="{67595B15-DB1F-450E-A631-FDA2C9E31E3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AFDCB2D3-6D2C-4FBE-A631-D18A50612295}"/>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5:p xmlns:ns15="http://schemas.openxmlformats.org/drawingml/2006/main">
            <ns15:pPr>
              <ns15:defRPr sz="3300" b="1">
                <ns15:solidFill>
                  <ns15:srgbClr val="345D70"/>
                </ns15:solidFill>
                <ns15:latin typeface="Segoe UI"/>
                <ns15:ea typeface="Segoe UI"/>
                <ns15:cs typeface="Segoe UI"/>
              </ns15:defRPr>
            </ns15:pPr>
            <ns15:r>
              <ns15:rPr sz="3300" b="1">
                <ns15:solidFill>
                  <ns15:srgbClr val="345D70"/>
                </ns15:solidFill>
                <ns15:latin typeface="Segoe UI"/>
                <ns15:ea typeface="Segoe UI"/>
                <ns15:cs typeface="Segoe UI"/>
              </ns15:rPr>
              <ns15:t>Today</ns15:t>
            </ns15:r>
          </ns15:p>
        </p:txBody>
      </p:sp>
      <p:sp>
        <p:nvSpPr>
          <p:cNvPr id="4" name="pupil-body">
            <a:extLst xmlns:a="http://schemas.openxmlformats.org/drawingml/2006/main">
              <a:ext uri="{FF2B5EF4-FFF2-40B4-BE49-F238E27FC236}">
                <a16:creationId xmlns:a16="http://schemas.microsoft.com/office/drawing/2014/main" id="{2CFCD06F-291C-4C42-BBD7-77633E7B1978}"/>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Match our sale tasks to jobs.</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I can name two skills for one job.</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I can show one skill I have used.</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I can say how my work shows it.</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L8-E1 · My job profile</ns8:t>
            </ns8:r>
          </ns8:p>
          <ns9:p xmlns:ns9="http://schemas.openxmlformats.org/drawingml/2006/main">
            <ns9:pPr>
              <ns9:defRPr sz="2400" b="0">
                <ns9:solidFill>
                  <ns9:srgbClr val="192E3B"/>
                </ns9:solidFill>
                <ns9:latin typeface="Segoe UI"/>
                <ns9:ea typeface="Segoe UI"/>
                <ns9:cs typeface="Segoe UI"/>
              </ns9:defRPr>
            </ns9:pPr>
            <ns9:r>
              <ns9:rPr sz="2400" b="0">
                <ns9:solidFill>
                  <ns9:srgbClr val="192E3B"/>
                </ns9:solidFill>
                <ns9:latin typeface="Segoe UI"/>
                <ns9:ea typeface="Segoe UI"/>
                <ns9:cs typeface="Segoe UI"/>
              </ns9:rPr>
              <ns9:t/>
            </ns9:r>
          </ns9:p>
          <ns10:p xmlns:ns10="http://schemas.openxmlformats.org/drawingml/2006/main">
            <ns10:pPr>
              <ns10:defRPr sz="2400" b="0">
                <ns10:solidFill>
                  <ns10:srgbClr val="192E3B"/>
                </ns10:solidFill>
                <ns10:latin typeface="Segoe UI"/>
                <ns10:ea typeface="Segoe UI"/>
                <ns10:cs typeface="Segoe UI"/>
              </ns10:defRPr>
            </ns10:pPr>
            <ns10:r>
              <ns10:rPr sz="2400" b="0">
                <ns10:solidFill>
                  <ns10:srgbClr val="192E3B"/>
                </ns10:solidFill>
                <ns10:latin typeface="Segoe UI"/>
                <ns10:ea typeface="Segoe UI"/>
                <ns10:cs typeface="Segoe UI"/>
              </ns10:rPr>
              <ns10:t>[AWARD] unit awards: [QUAL]; [QUAL].</ns10:t>
            </ns10:r>
          </ns10:p>
        </p:txBody>
      </p:sp>
      <p:sp>
        <p:nvSpPr>
          <p:cNvPr id="5" name="credit">
            <a:extLst xmlns:a="http://schemas.openxmlformats.org/drawingml/2006/main">
              <a:ext uri="{FF2B5EF4-FFF2-40B4-BE49-F238E27FC236}">
                <a16:creationId xmlns:a16="http://schemas.microsoft.com/office/drawing/2014/main" id="{00027057-8061-44EF-9D9D-A87B412944A0}"/>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6" name="page-number">
            <a:extLst xmlns:a="http://schemas.openxmlformats.org/drawingml/2006/main">
              <a:ext uri="{FF2B5EF4-FFF2-40B4-BE49-F238E27FC236}">
                <a16:creationId xmlns:a16="http://schemas.microsoft.com/office/drawing/2014/main" id="{F404B26A-FF01-48F7-9BAD-01CF42A866E0}"/>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04</ns13:t>
            </ns13:r>
          </ns13:p>
        </p:txBody>
      </p:sp>
    </p:spTree>
    <p:extLst>
      <p:ext uri="{BB962C8B-B14F-4D97-AF65-F5344CB8AC3E}">
        <p14:creationId xmlns:p14="http://schemas.microsoft.com/office/powerpoint/2010/main" val="3196774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D5AAA200-F5F3-41E8-8410-440AA824D504}"/>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9:p xmlns:ns9="http://schemas.openxmlformats.org/drawingml/2006/main">
            <ns9:pPr>
              <ns9:defRPr sz="1200" b="0">
                <ns9:solidFill>
                  <ns9:srgbClr val="566574"/>
                </ns9:solidFill>
                <ns9:latin typeface="Segoe UI"/>
                <ns9:ea typeface="Segoe UI"/>
                <ns9:cs typeface="Segoe UI"/>
              </ns9:defRPr>
            </ns9:pPr>
            <ns9:r>
              <ns9:rPr sz="1200" b="0">
                <ns9:solidFill>
                  <ns9:srgbClr val="566574"/>
                </ns9:solidFill>
                <ns9:latin typeface="Segoe UI"/>
                <ns9:ea typeface="Segoe UI"/>
                <ns9:cs typeface="Segoe UI"/>
              </ns9:rPr>
              <ns9:t>COMM-GROW-A2-W03  ·  Lesson 8</ns9:t>
            </ns9:r>
          </ns9:p>
        </p:txBody>
      </p:sp>
      <p:sp>
        <p:nvSpPr>
          <p:cNvPr id="2" name="edition">
            <a:extLst xmlns:a="http://schemas.openxmlformats.org/drawingml/2006/main">
              <a:ext uri="{FF2B5EF4-FFF2-40B4-BE49-F238E27FC236}">
                <a16:creationId xmlns:a16="http://schemas.microsoft.com/office/drawing/2014/main" id="{D3C22464-1403-4B9B-AF0C-4A3A7561B61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Public edition</ns10:t>
            </ns10:r>
          </ns10:p>
        </p:txBody>
      </p:sp>
      <p:sp>
        <p:nvSpPr>
          <p:cNvPr id="3" name="stage-title">
            <a:extLst xmlns:a="http://schemas.openxmlformats.org/drawingml/2006/main">
              <a:ext uri="{FF2B5EF4-FFF2-40B4-BE49-F238E27FC236}">
                <a16:creationId xmlns:a16="http://schemas.microsoft.com/office/drawing/2014/main" id="{F84F0984-8C32-44C4-809C-DC6715C86678}"/>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3:p xmlns:ns13="http://schemas.openxmlformats.org/drawingml/2006/main">
            <ns13:pPr>
              <ns13:defRPr sz="3300" b="1">
                <ns13:solidFill>
                  <ns13:srgbClr val="345D70"/>
                </ns13:solidFill>
                <ns13:latin typeface="Segoe UI"/>
                <ns13:ea typeface="Segoe UI"/>
                <ns13:cs typeface="Segoe UI"/>
              </ns13:defRPr>
            </ns13:pPr>
            <ns13:r>
              <ns13:rPr sz="3300" b="1">
                <ns13:solidFill>
                  <ns13:srgbClr val="345D70"/>
                </ns13:solidFill>
                <ns13:latin typeface="Segoe UI"/>
                <ns13:ea typeface="Segoe UI"/>
                <ns13:cs typeface="Segoe UI"/>
              </ns13:rPr>
              <ns13:t>I DO</ns13:t>
            </ns13:r>
          </ns13:p>
        </p:txBody>
      </p:sp>
      <p:sp>
        <p:nvSpPr>
          <p:cNvPr id="4" name="pupil-body">
            <a:extLst xmlns:a="http://schemas.openxmlformats.org/drawingml/2006/main">
              <a:ext uri="{FF2B5EF4-FFF2-40B4-BE49-F238E27FC236}">
                <a16:creationId xmlns:a16="http://schemas.microsoft.com/office/drawing/2014/main" id="{B38B9062-94F7-4EFE-ADA7-C33045BFD6EC}"/>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Model job: sales assistant.</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Two skills: clear talk and maths.</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Model action: I checked the change at a mock stall.</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This shows maths. Use your own real work.</ns6:t>
            </ns6:r>
          </ns6:p>
          <ns7:p xmlns:ns7="http://schemas.openxmlformats.org/drawingml/2006/main">
            <ns7:pPr>
              <ns7:defRPr sz="2400" b="0">
                <ns7:solidFill>
                  <ns7:srgbClr val="192E3B"/>
                </ns7:solidFill>
                <ns7:latin typeface="Segoe UI"/>
                <ns7:ea typeface="Segoe UI"/>
                <ns7:cs typeface="Segoe UI"/>
              </ns7:defRPr>
            </ns7:pPr>
            <ns7:r>
              <ns7:rPr sz="2400" b="0">
                <ns7:solidFill>
                  <ns7:srgbClr val="192E3B"/>
                </ns7:solidFill>
                <ns7:latin typeface="Segoe UI"/>
                <ns7:ea typeface="Segoe UI"/>
                <ns7:cs typeface="Segoe UI"/>
              </ns7:rPr>
              <ns7:t/>
            </ns7:r>
          </ns7:p>
          <ns8:p xmlns:ns8="http://schemas.openxmlformats.org/drawingml/2006/main">
            <ns8:pPr>
              <ns8:defRPr sz="2400" b="0">
                <ns8:solidFill>
                  <ns8:srgbClr val="192E3B"/>
                </ns8:solidFill>
                <ns8:latin typeface="Segoe UI"/>
                <ns8:ea typeface="Segoe UI"/>
                <ns8:cs typeface="Segoe UI"/>
              </ns8:defRPr>
            </ns8:pPr>
            <ns8:r>
              <ns8:rPr sz="2400" b="0">
                <ns8:solidFill>
                  <ns8:srgbClr val="192E3B"/>
                </ns8:solidFill>
                <ns8:latin typeface="Segoe UI"/>
                <ns8:ea typeface="Segoe UI"/>
                <ns8:cs typeface="Segoe UI"/>
              </ns8:rPr>
              <ns8:t>I used __ when I __.</ns8:t>
            </ns8:r>
          </ns8:p>
        </p:txBody>
      </p:sp>
      <p:sp>
        <p:nvSpPr>
          <p:cNvPr id="5" name="credit">
            <a:extLst xmlns:a="http://schemas.openxmlformats.org/drawingml/2006/main">
              <a:ext uri="{FF2B5EF4-FFF2-40B4-BE49-F238E27FC236}">
                <a16:creationId xmlns:a16="http://schemas.microsoft.com/office/drawing/2014/main" id="{ED93D098-1EFA-40D8-ADC3-DF9F9A1D58F3}"/>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2:p xmlns:ns12="http://schemas.openxmlformats.org/drawingml/2006/main">
            <ns12:pPr>
              <ns12:defRPr sz="788" b="0">
                <ns12:solidFill>
                  <ns12:srgbClr val="566574"/>
                </ns12:solidFill>
                <ns12:latin typeface="Segoe UI"/>
                <ns12:ea typeface="Segoe UI"/>
                <ns12:cs typeface="Segoe UI"/>
              </ns12:defRPr>
            </ns12:pPr>
            <ns12:r>
              <ns12:rPr sz="788" b="0">
                <ns12:solidFill>
                  <ns12:srgbClr val="566574"/>
                </ns12:solidFill>
                <ns12:latin typeface="Segoe UI"/>
                <ns12:ea typeface="Segoe UI"/>
                <ns12:cs typeface="Segoe UI"/>
              </ns12:rPr>
              <ns12:t>Made by Matt · © Matt Roper · CC BY-NC-SA 4.0: free for classroom use, share and adapt with credit, no resale</ns12:t>
            </ns12:r>
          </ns12:p>
        </p:txBody>
      </p:sp>
      <p:sp>
        <p:nvSpPr>
          <p:cNvPr id="6" name="page-number">
            <a:extLst xmlns:a="http://schemas.openxmlformats.org/drawingml/2006/main">
              <a:ext uri="{FF2B5EF4-FFF2-40B4-BE49-F238E27FC236}">
                <a16:creationId xmlns:a16="http://schemas.microsoft.com/office/drawing/2014/main" id="{086BEDFE-93A0-4496-9BCB-63F04CA1747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05</ns11:t>
            </ns11:r>
          </ns11:p>
        </p:txBody>
      </p:sp>
    </p:spTree>
    <p:extLst>
      <p:ext uri="{BB962C8B-B14F-4D97-AF65-F5344CB8AC3E}">
        <p14:creationId xmlns:p14="http://schemas.microsoft.com/office/powerpoint/2010/main" val="14406535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1D0CBD25-CCA4-49C6-AD08-458BB3D97C8C}"/>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9:p xmlns:ns9="http://schemas.openxmlformats.org/drawingml/2006/main">
            <ns9:pPr>
              <ns9:defRPr sz="1200" b="0">
                <ns9:solidFill>
                  <ns9:srgbClr val="566574"/>
                </ns9:solidFill>
                <ns9:latin typeface="Segoe UI"/>
                <ns9:ea typeface="Segoe UI"/>
                <ns9:cs typeface="Segoe UI"/>
              </ns9:defRPr>
            </ns9:pPr>
            <ns9:r>
              <ns9:rPr sz="1200" b="0">
                <ns9:solidFill>
                  <ns9:srgbClr val="566574"/>
                </ns9:solidFill>
                <ns9:latin typeface="Segoe UI"/>
                <ns9:ea typeface="Segoe UI"/>
                <ns9:cs typeface="Segoe UI"/>
              </ns9:rPr>
              <ns9:t>COMM-GROW-A2-W03  ·  Lesson 8</ns9:t>
            </ns9:r>
          </ns9:p>
        </p:txBody>
      </p:sp>
      <p:sp>
        <p:nvSpPr>
          <p:cNvPr id="2" name="edition">
            <a:extLst xmlns:a="http://schemas.openxmlformats.org/drawingml/2006/main">
              <a:ext uri="{FF2B5EF4-FFF2-40B4-BE49-F238E27FC236}">
                <a16:creationId xmlns:a16="http://schemas.microsoft.com/office/drawing/2014/main" id="{AEA07F64-EECF-428B-AE12-53370DD1DA1F}"/>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Public edition</ns10:t>
            </ns10:r>
          </ns10:p>
        </p:txBody>
      </p:sp>
      <p:sp>
        <p:nvSpPr>
          <p:cNvPr id="3" name="stage-title">
            <a:extLst xmlns:a="http://schemas.openxmlformats.org/drawingml/2006/main">
              <a:ext uri="{FF2B5EF4-FFF2-40B4-BE49-F238E27FC236}">
                <a16:creationId xmlns:a16="http://schemas.microsoft.com/office/drawing/2014/main" id="{01642E62-995E-4C45-8434-098DCB1E4D80}"/>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3:p xmlns:ns13="http://schemas.openxmlformats.org/drawingml/2006/main">
            <ns13:pPr>
              <ns13:defRPr sz="3300" b="1">
                <ns13:solidFill>
                  <ns13:srgbClr val="345D70"/>
                </ns13:solidFill>
                <ns13:latin typeface="Segoe UI"/>
                <ns13:ea typeface="Segoe UI"/>
                <ns13:cs typeface="Segoe UI"/>
              </ns13:defRPr>
            </ns13:pPr>
            <ns13:r>
              <ns13:rPr sz="3300" b="1">
                <ns13:solidFill>
                  <ns13:srgbClr val="345D70"/>
                </ns13:solidFill>
                <ns13:latin typeface="Segoe UI"/>
                <ns13:ea typeface="Segoe UI"/>
                <ns13:cs typeface="Segoe UI"/>
              </ns13:rPr>
              <ns13:t>WE DO</ns13:t>
            </ns13:r>
          </ns13:p>
        </p:txBody>
      </p:sp>
      <p:sp>
        <p:nvSpPr>
          <p:cNvPr id="4" name="practice-label">
            <a:extLst xmlns:a="http://schemas.openxmlformats.org/drawingml/2006/main">
              <a:ext uri="{FF2B5EF4-FFF2-40B4-BE49-F238E27FC236}">
                <a16:creationId xmlns:a16="http://schemas.microsoft.com/office/drawing/2014/main" id="{8D659BFC-CFA6-4C69-BEBD-ED1E35B899CE}"/>
              </a:ext>
            </a:extLst>
          </p:cNvPr>
          <p:cNvSpPr>
            <a:spLocks xmlns:a="http://schemas.openxmlformats.org/drawingml/2006/main" noGrp="1"/>
          </p:cNvSpPr>
          <p:nvPr/>
        </p:nvSpPr>
        <p:spPr>
          <a:xfrm xmlns:a="http://schemas.openxmlformats.org/drawingml/2006/main">
            <a:off x="533400" y="1409700"/>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566574"/>
                </a:solidFill>
                <a:latin typeface="Segoe UI"/>
                <a:ea typeface="Segoe UI"/>
                <a:cs typeface="Segoe UI"/>
              </a:defRPr>
            </a:defPPr>
            <a:lvl1pPr>
              <a:defRPr sz="1875" b="0">
                <a:solidFill>
                  <a:srgbClr val="566574"/>
                </a:solidFill>
                <a:latin typeface="Segoe UI"/>
                <a:ea typeface="Segoe UI"/>
                <a:cs typeface="Segoe UI"/>
              </a:defRPr>
            </a:lvl1pPr>
            <a:lvl2pPr>
              <a:defRPr sz="1875" b="0">
                <a:solidFill>
                  <a:srgbClr val="566574"/>
                </a:solidFill>
                <a:latin typeface="Segoe UI"/>
                <a:ea typeface="Segoe UI"/>
                <a:cs typeface="Segoe UI"/>
              </a:defRPr>
            </a:lvl2pPr>
            <a:lvl3pPr>
              <a:defRPr sz="1875" b="0">
                <a:solidFill>
                  <a:srgbClr val="566574"/>
                </a:solidFill>
                <a:latin typeface="Segoe UI"/>
                <a:ea typeface="Segoe UI"/>
                <a:cs typeface="Segoe UI"/>
              </a:defRPr>
            </a:lvl3pPr>
            <a:lvl4pPr>
              <a:defRPr sz="1875" b="0">
                <a:solidFill>
                  <a:srgbClr val="566574"/>
                </a:solidFill>
                <a:latin typeface="Segoe UI"/>
                <a:ea typeface="Segoe UI"/>
                <a:cs typeface="Segoe UI"/>
              </a:defRPr>
            </a:lvl4pPr>
            <a:lvl5pPr>
              <a:defRPr sz="1875" b="0">
                <a:solidFill>
                  <a:srgbClr val="566574"/>
                </a:solidFill>
                <a:latin typeface="Segoe UI"/>
                <a:ea typeface="Segoe UI"/>
                <a:cs typeface="Segoe UI"/>
              </a:defRPr>
            </a:lvl5pPr>
            <a:lvl6pPr>
              <a:defRPr sz="1875" b="0">
                <a:solidFill>
                  <a:srgbClr val="566574"/>
                </a:solidFill>
                <a:latin typeface="Segoe UI"/>
                <a:ea typeface="Segoe UI"/>
                <a:cs typeface="Segoe UI"/>
              </a:defRPr>
            </a:lvl6pPr>
            <a:lvl7pPr>
              <a:defRPr sz="1875" b="0">
                <a:solidFill>
                  <a:srgbClr val="566574"/>
                </a:solidFill>
                <a:latin typeface="Segoe UI"/>
                <a:ea typeface="Segoe UI"/>
                <a:cs typeface="Segoe UI"/>
              </a:defRPr>
            </a:lvl7pPr>
            <a:lvl8pPr>
              <a:defRPr sz="1875" b="0">
                <a:solidFill>
                  <a:srgbClr val="566574"/>
                </a:solidFill>
                <a:latin typeface="Segoe UI"/>
                <a:ea typeface="Segoe UI"/>
                <a:cs typeface="Segoe UI"/>
              </a:defRPr>
            </a:lvl8pPr>
            <a:lvl9pPr>
              <a:defRPr sz="1875" b="0">
                <a:solidFill>
                  <a:srgbClr val="566574"/>
                </a:solidFill>
                <a:latin typeface="Segoe UI"/>
                <a:ea typeface="Segoe UI"/>
                <a:cs typeface="Segoe UI"/>
              </a:defRPr>
            </a:lvl9pPr>
          </a:lstStyle>
          <ns0:p xmlns:ns0="http://schemas.openxmlformats.org/drawingml/2006/main">
            <ns0:pPr>
              <ns0:defRPr sz="1875" b="0">
                <ns0:solidFill>
                  <ns0:srgbClr val="566574"/>
                </ns0:solidFill>
                <ns0:latin typeface="Segoe UI"/>
                <ns0:ea typeface="Segoe UI"/>
                <ns0:cs typeface="Segoe UI"/>
              </ns0:defRPr>
            </ns0:pPr>
            <ns0:r>
              <ns0:rPr sz="1875" b="0">
                <ns0:solidFill>
                  <ns0:srgbClr val="566574"/>
                </ns0:solidFill>
                <ns0:latin typeface="Segoe UI"/>
                <ns0:ea typeface="Segoe UI"/>
                <ns0:cs typeface="Segoe UI"/>
              </ns0:rPr>
              <ns0:t>Match a task to a job. Some tasks fit more than one job.</ns0:t>
            </ns0:r>
          </ns0:p>
        </p:txBody>
      </p:sp>
      <p:graphicFrame>
        <p:nvGraphicFramePr>
          <p:cNvPr id="5" name="">
            <a:extLst xmlns:a="http://schemas.openxmlformats.org/drawingml/2006/main">
              <a:ext uri="{FF2B5EF4-FFF2-40B4-BE49-F238E27FC236}">
                <a16:creationId xmlns:a16="http://schemas.microsoft.com/office/drawing/2014/main" id="{4EAC879E-5B65-490D-A7AE-89B96AE4F5D0}"/>
              </a:ext>
            </a:extLst>
          </p:cNvPr>
          <p:cNvGraphicFramePr/>
          <p:nvPr/>
        </p:nvGraphicFramePr>
        <p:xfrm>
          <a:off xmlns:a="http://schemas.openxmlformats.org/drawingml/2006/main" x="533400" y="2047875"/>
          <a:ext xmlns:a="http://schemas.openxmlformats.org/drawingml/2006/main" cx="5810250" cy="3333750"/>
        </p:xfrm>
        <a:graphic xmlns:a="http://schemas.openxmlformats.org/drawingml/2006/main">
          <a:graphicData uri="http://schemas.openxmlformats.org/drawingml/2006/table">
            <a:tbl>
              <a:tblPr/>
              <a:tblGrid>
                <a:gridCol w="3524250"/>
                <a:gridCol w="2286000"/>
              </a:tblGrid>
              <a:tr h="476250">
                <a:tc>
                  <a:txBody>
                    <a:bodyPr/>
                    <a:lstStyle/>
                    <a:p>
                      <a:r>
                        <a:rPr sz="1950" b="1">
                          <a:solidFill>
                            <a:srgbClr val="192E3B"/>
                          </a:solidFill>
                          <a:latin typeface="Segoe UI"/>
                          <a:ea typeface="Segoe UI"/>
                          <a:cs typeface="Segoe UI"/>
                        </a:rPr>
                        <a:t>Project task</a:t>
                      </a:r>
                    </a:p>
                  </a:txBody>
                  <a:tcPr marL="91440" marR="91440" marT="45720" marB="45720">
                    <a:lnL w="9525">
                      <a:solidFill>
                        <a:srgbClr val="CDD8DD"/>
                      </a:solidFill>
                      <a:prstDash val="solid"/>
                    </a:lnL>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c>
                  <a:txBody>
                    <a:bodyPr/>
                    <a:lstStyle/>
                    <a:p>
                      <a:r>
                        <a:rPr sz="1950" b="1">
                          <a:solidFill>
                            <a:srgbClr val="192E3B"/>
                          </a:solidFill>
                          <a:latin typeface="Segoe UI"/>
                          <a:ea typeface="Segoe UI"/>
                          <a:cs typeface="Segoe UI"/>
                        </a:rPr>
                        <a:t>One job link</a:t>
                      </a:r>
                    </a:p>
                  </a:txBody>
                  <a:tcPr marL="91440" marR="91440" marT="45720" marB="45720">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r>
              <a:tr h="476250">
                <a:tc>
                  <a:txBody>
                    <a:bodyPr/>
                    <a:lstStyle/>
                    <a:p>
                      <a:r>
                        <a:rPr sz="1950" b="0">
                          <a:solidFill>
                            <a:srgbClr val="192E3B"/>
                          </a:solidFill>
                          <a:latin typeface="Segoe UI"/>
                          <a:ea typeface="Segoe UI"/>
                          <a:cs typeface="Segoe UI"/>
                        </a:rPr>
                        <a:t>Mix a cake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Baker</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Check a batch</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Food worker</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Serve at the till</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Sales assistant</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Make a poster</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Graphic designer</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Plan the rota</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Events manager</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950" b="0">
                          <a:solidFill>
                            <a:srgbClr val="192E3B"/>
                          </a:solidFill>
                          <a:latin typeface="Segoe UI"/>
                          <a:ea typeface="Segoe UI"/>
                          <a:cs typeface="Segoe UI"/>
                        </a:rPr>
                        <a:t>Check money notes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950" b="0">
                          <a:solidFill>
                            <a:srgbClr val="192E3B"/>
                          </a:solidFill>
                          <a:latin typeface="Segoe UI"/>
                          <a:ea typeface="Segoe UI"/>
                          <a:cs typeface="Segoe UI"/>
                        </a:rPr>
                        <a:t>Bookkeeper</a:t>
                      </a:r>
                    </a:p>
                  </a:txBody>
                  <a:tcPr marL="91440" marR="91440" marT="45720" marB="45720">
                    <a:lnR w="9525">
                      <a:solidFill>
                        <a:srgbClr val="CDD8DD"/>
                      </a:solidFill>
                      <a:prstDash val="solid"/>
                    </a:lnR>
                    <a:lnB w="9525">
                      <a:solidFill>
                        <a:srgbClr val="CDD8DD"/>
                      </a:solidFill>
                      <a:prstDash val="solid"/>
                    </a:lnB>
                    <a:solidFill>
                      <a:srgbClr val="FFFFFF"/>
                    </a:solidFill>
                  </a:tcPr>
                </a:tc>
              </a:tr>
            </a:tbl>
          </a:graphicData>
        </a:graphic>
      </p:graphicFrame>
      <p:sp>
        <p:nvSpPr>
          <p:cNvPr id="6" name="hinge">
            <a:extLst xmlns:a="http://schemas.openxmlformats.org/drawingml/2006/main">
              <a:ext uri="{FF2B5EF4-FFF2-40B4-BE49-F238E27FC236}">
                <a16:creationId xmlns:a16="http://schemas.microsoft.com/office/drawing/2014/main" id="{63D770AC-A7D4-4902-8E2B-A7ADB5C6EF05}"/>
              </a:ext>
            </a:extLst>
          </p:cNvPr>
          <p:cNvSpPr>
            <a:spLocks xmlns:a="http://schemas.openxmlformats.org/drawingml/2006/main" noGrp="1"/>
          </p:cNvSpPr>
          <p:nvPr/>
        </p:nvSpPr>
        <p:spPr>
          <a:xfrm xmlns:a="http://schemas.openxmlformats.org/drawingml/2006/main">
            <a:off x="6858000" y="2047875"/>
            <a:ext cx="4667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Which line shows a skill used?</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A I like cakes.</ns3:t>
            </ns3:r>
          </ns3:p>
          <ns4:p xmlns:ns4="http://schemas.openxmlformats.org/drawingml/2006/main">
            <ns4:pPr>
              <ns4:defRPr sz="2250" b="0">
                <ns4:solidFill>
                  <ns4:srgbClr val="192E3B"/>
                </ns4:solidFill>
                <ns4:latin typeface="Segoe UI"/>
                <ns4:ea typeface="Segoe UI"/>
                <ns4:cs typeface="Segoe UI"/>
              </ns4:defRPr>
            </ns4:pPr>
            <ns4:r>
              <ns4:rPr sz="2250" b="0">
                <ns4:solidFill>
                  <ns4:srgbClr val="192E3B"/>
                </ns4:solidFill>
                <ns4:latin typeface="Segoe UI"/>
                <ns4:ea typeface="Segoe UI"/>
                <ns4:cs typeface="Segoe UI"/>
              </ns4:rPr>
              <ns4:t>B I checked the change.</ns4:t>
            </ns4:r>
          </ns4:p>
          <ns5:p xmlns:ns5="http://schemas.openxmlformats.org/drawingml/2006/main">
            <ns5:pPr>
              <ns5:defRPr sz="2250" b="0">
                <ns5:solidFill>
                  <ns5:srgbClr val="192E3B"/>
                </ns5:solidFill>
                <ns5:latin typeface="Segoe UI"/>
                <ns5:ea typeface="Segoe UI"/>
                <ns5:cs typeface="Segoe UI"/>
              </ns5:defRPr>
            </ns5:pPr>
            <ns5:r>
              <ns5:rPr sz="2250" b="0">
                <ns5:solidFill>
                  <ns5:srgbClr val="192E3B"/>
                </ns5:solidFill>
                <ns5:latin typeface="Segoe UI"/>
                <ns5:ea typeface="Segoe UI"/>
                <ns5:cs typeface="Segoe UI"/>
              </ns5:rPr>
              <ns5:t>C I like this job.</ns5:t>
            </ns5:r>
          </ns5:p>
          <ns6:p xmlns:ns6="http://schemas.openxmlformats.org/drawingml/2006/main">
            <ns6:pPr>
              <ns6:defRPr sz="2250" b="0">
                <ns6:solidFill>
                  <ns6:srgbClr val="192E3B"/>
                </ns6:solidFill>
                <ns6:latin typeface="Segoe UI"/>
                <ns6:ea typeface="Segoe UI"/>
                <ns6:cs typeface="Segoe UI"/>
              </ns6:defRPr>
            </ns6:pPr>
            <ns6:r>
              <ns6:rPr sz="2250" b="0">
                <ns6:solidFill>
                  <ns6:srgbClr val="192E3B"/>
                </ns6:solidFill>
                <ns6:latin typeface="Segoe UI"/>
                <ns6:ea typeface="Segoe UI"/>
                <ns6:cs typeface="Segoe UI"/>
              </ns6:rPr>
              <ns6:t/>
            </ns6:r>
          </ns6:p>
          <ns7:p xmlns:ns7="http://schemas.openxmlformats.org/drawingml/2006/main">
            <ns7:pPr>
              <ns7:defRPr sz="2250" b="0">
                <ns7:solidFill>
                  <ns7:srgbClr val="192E3B"/>
                </ns7:solidFill>
                <ns7:latin typeface="Segoe UI"/>
                <ns7:ea typeface="Segoe UI"/>
                <ns7:cs typeface="Segoe UI"/>
              </ns7:defRPr>
            </ns7:pPr>
            <ns7:r>
              <ns7:rPr sz="2250" b="0">
                <ns7:solidFill>
                  <ns7:srgbClr val="192E3B"/>
                </ns7:solidFill>
                <ns7:latin typeface="Segoe UI"/>
                <ns7:ea typeface="Segoe UI"/>
                <ns7:cs typeface="Segoe UI"/>
              </ns7:rPr>
              <ns7:t>I choose __ because __.</ns7:t>
            </ns7:r>
          </ns7:p>
        </p:txBody>
      </p:sp>
      <p:sp>
        <p:nvSpPr>
          <p:cNvPr id="7" name="model-assumption">
            <a:extLst xmlns:a="http://schemas.openxmlformats.org/drawingml/2006/main">
              <a:ext uri="{FF2B5EF4-FFF2-40B4-BE49-F238E27FC236}">
                <a16:creationId xmlns:a16="http://schemas.microsoft.com/office/drawing/2014/main" id="{DB27FA76-EC46-4D22-BDBA-F84DBBFBD961}"/>
              </a:ext>
            </a:extLst>
          </p:cNvPr>
          <p:cNvSpPr>
            <a:spLocks xmlns:a="http://schemas.openxmlformats.org/drawingml/2006/main" noGrp="1"/>
          </p:cNvSpPr>
          <p:nvPr/>
        </p:nvSpPr>
        <p:spPr>
          <a:xfrm xmlns:a="http://schemas.openxmlformats.org/drawingml/2006/main">
            <a:off x="533400" y="5619750"/>
            <a:ext cx="1100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566574"/>
                </a:solidFill>
                <a:latin typeface="Segoe UI"/>
                <a:ea typeface="Segoe UI"/>
                <a:cs typeface="Segoe UI"/>
              </a:defRPr>
            </a:defPPr>
            <a:lvl1pPr>
              <a:defRPr sz="1725" b="0">
                <a:solidFill>
                  <a:srgbClr val="566574"/>
                </a:solidFill>
                <a:latin typeface="Segoe UI"/>
                <a:ea typeface="Segoe UI"/>
                <a:cs typeface="Segoe UI"/>
              </a:defRPr>
            </a:lvl1pPr>
            <a:lvl2pPr>
              <a:defRPr sz="1725" b="0">
                <a:solidFill>
                  <a:srgbClr val="566574"/>
                </a:solidFill>
                <a:latin typeface="Segoe UI"/>
                <a:ea typeface="Segoe UI"/>
                <a:cs typeface="Segoe UI"/>
              </a:defRPr>
            </a:lvl2pPr>
            <a:lvl3pPr>
              <a:defRPr sz="1725" b="0">
                <a:solidFill>
                  <a:srgbClr val="566574"/>
                </a:solidFill>
                <a:latin typeface="Segoe UI"/>
                <a:ea typeface="Segoe UI"/>
                <a:cs typeface="Segoe UI"/>
              </a:defRPr>
            </a:lvl3pPr>
            <a:lvl4pPr>
              <a:defRPr sz="1725" b="0">
                <a:solidFill>
                  <a:srgbClr val="566574"/>
                </a:solidFill>
                <a:latin typeface="Segoe UI"/>
                <a:ea typeface="Segoe UI"/>
                <a:cs typeface="Segoe UI"/>
              </a:defRPr>
            </a:lvl4pPr>
            <a:lvl5pPr>
              <a:defRPr sz="1725" b="0">
                <a:solidFill>
                  <a:srgbClr val="566574"/>
                </a:solidFill>
                <a:latin typeface="Segoe UI"/>
                <a:ea typeface="Segoe UI"/>
                <a:cs typeface="Segoe UI"/>
              </a:defRPr>
            </a:lvl5pPr>
            <a:lvl6pPr>
              <a:defRPr sz="1725" b="0">
                <a:solidFill>
                  <a:srgbClr val="566574"/>
                </a:solidFill>
                <a:latin typeface="Segoe UI"/>
                <a:ea typeface="Segoe UI"/>
                <a:cs typeface="Segoe UI"/>
              </a:defRPr>
            </a:lvl6pPr>
            <a:lvl7pPr>
              <a:defRPr sz="1725" b="0">
                <a:solidFill>
                  <a:srgbClr val="566574"/>
                </a:solidFill>
                <a:latin typeface="Segoe UI"/>
                <a:ea typeface="Segoe UI"/>
                <a:cs typeface="Segoe UI"/>
              </a:defRPr>
            </a:lvl7pPr>
            <a:lvl8pPr>
              <a:defRPr sz="1725" b="0">
                <a:solidFill>
                  <a:srgbClr val="566574"/>
                </a:solidFill>
                <a:latin typeface="Segoe UI"/>
                <a:ea typeface="Segoe UI"/>
                <a:cs typeface="Segoe UI"/>
              </a:defRPr>
            </a:lvl8pPr>
            <a:lvl9pPr>
              <a:defRPr sz="1725" b="0">
                <a:solidFill>
                  <a:srgbClr val="566574"/>
                </a:solidFill>
                <a:latin typeface="Segoe UI"/>
                <a:ea typeface="Segoe UI"/>
                <a:cs typeface="Segoe UI"/>
              </a:defRPr>
            </a:lvl9pPr>
          </a:lstStyle>
          <ns8:p xmlns:ns8="http://schemas.openxmlformats.org/drawingml/2006/main">
            <ns8:pPr>
              <ns8:defRPr sz="1725" b="0">
                <ns8:solidFill>
                  <ns8:srgbClr val="566574"/>
                </ns8:solidFill>
                <ns8:latin typeface="Segoe UI"/>
                <ns8:ea typeface="Segoe UI"/>
                <ns8:cs typeface="Segoe UI"/>
              </ns8:defRPr>
            </ns8:pPr>
            <ns8:r>
              <ns8:rPr sz="1725" b="0">
                <ns8:solidFill>
                  <ns8:srgbClr val="566574"/>
                </ns8:solidFill>
                <ns8:latin typeface="Segoe UI"/>
                <ns8:ea typeface="Segoe UI"/>
                <ns8:cs typeface="Segoe UI"/>
              </ns8:rPr>
              <ns8:t>Choose B. It tells us what the person did. Find the real work too.</ns8:t>
            </ns8:r>
          </ns8:p>
        </p:txBody>
      </p:sp>
      <p:sp>
        <p:nvSpPr>
          <p:cNvPr id="8" name="credit">
            <a:extLst xmlns:a="http://schemas.openxmlformats.org/drawingml/2006/main">
              <a:ext uri="{FF2B5EF4-FFF2-40B4-BE49-F238E27FC236}">
                <a16:creationId xmlns:a16="http://schemas.microsoft.com/office/drawing/2014/main" id="{BAD5A6CD-CDD5-45B6-B2AF-C81A1C8739E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2:p xmlns:ns12="http://schemas.openxmlformats.org/drawingml/2006/main">
            <ns12:pPr>
              <ns12:defRPr sz="788" b="0">
                <ns12:solidFill>
                  <ns12:srgbClr val="566574"/>
                </ns12:solidFill>
                <ns12:latin typeface="Segoe UI"/>
                <ns12:ea typeface="Segoe UI"/>
                <ns12:cs typeface="Segoe UI"/>
              </ns12:defRPr>
            </ns12:pPr>
            <ns12:r>
              <ns12:rPr sz="788" b="0">
                <ns12:solidFill>
                  <ns12:srgbClr val="566574"/>
                </ns12:solidFill>
                <ns12:latin typeface="Segoe UI"/>
                <ns12:ea typeface="Segoe UI"/>
                <ns12:cs typeface="Segoe UI"/>
              </ns12:rPr>
              <ns12:t>Made by Matt · © Matt Roper · CC BY-NC-SA 4.0: free for classroom use, share and adapt with credit, no resale</ns12:t>
            </ns12:r>
          </ns12:p>
        </p:txBody>
      </p:sp>
      <p:sp>
        <p:nvSpPr>
          <p:cNvPr id="9" name="page-number">
            <a:extLst xmlns:a="http://schemas.openxmlformats.org/drawingml/2006/main">
              <a:ext uri="{FF2B5EF4-FFF2-40B4-BE49-F238E27FC236}">
                <a16:creationId xmlns:a16="http://schemas.microsoft.com/office/drawing/2014/main" id="{20389BA4-B63F-434B-85B4-39BBFF0DD81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06</ns11:t>
            </ns11:r>
          </ns11:p>
        </p:txBody>
      </p:sp>
    </p:spTree>
    <p:extLst>
      <p:ext uri="{BB962C8B-B14F-4D97-AF65-F5344CB8AC3E}">
        <p14:creationId xmlns:p14="http://schemas.microsoft.com/office/powerpoint/2010/main" val="6914764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E0C4F682-5281-4E6A-BE8E-B2F870C7A72A}"/>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COMM-GROW-A2-W03  ·  Lesson 8</ns4:t>
            </ns4:r>
          </ns4:p>
        </p:txBody>
      </p:sp>
      <p:sp>
        <p:nvSpPr>
          <p:cNvPr id="2" name="edition">
            <a:extLst xmlns:a="http://schemas.openxmlformats.org/drawingml/2006/main">
              <a:ext uri="{FF2B5EF4-FFF2-40B4-BE49-F238E27FC236}">
                <a16:creationId xmlns:a16="http://schemas.microsoft.com/office/drawing/2014/main" id="{DBC84076-3018-4ED9-AA50-CC4CA0140D14}"/>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AB0C6E98-4F77-4EC8-9067-F0449D14F98F}"/>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8:p xmlns:ns8="http://schemas.openxmlformats.org/drawingml/2006/main">
            <ns8:pPr>
              <ns8:defRPr sz="3300" b="1">
                <ns8:solidFill>
                  <ns8:srgbClr val="345D70"/>
                </ns8:solidFill>
                <ns8:latin typeface="Segoe UI"/>
                <ns8:ea typeface="Segoe UI"/>
                <ns8:cs typeface="Segoe UI"/>
              </ns8:defRPr>
            </ns8:pPr>
            <ns8:r>
              <ns8:rPr sz="3300" b="1">
                <ns8:solidFill>
                  <ns8:srgbClr val="345D70"/>
                </ns8:solidFill>
                <ns8:latin typeface="Segoe UI"/>
                <ns8:ea typeface="Segoe UI"/>
                <ns8:cs typeface="Segoe UI"/>
              </ns8:rPr>
              <ns8:t>YOU DO in your book</ns8:t>
            </ns8:r>
          </ns8:p>
        </p:txBody>
      </p:sp>
      <p:sp>
        <p:nvSpPr>
          <p:cNvPr id="4" name="task-main">
            <a:extLst xmlns:a="http://schemas.openxmlformats.org/drawingml/2006/main">
              <a:ext uri="{FF2B5EF4-FFF2-40B4-BE49-F238E27FC236}">
                <a16:creationId xmlns:a16="http://schemas.microsoft.com/office/drawing/2014/main" id="{2B159760-1615-4BCD-AB48-9D3E74B25B28}"/>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Match task cards to job cards.</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Pick one job. Find two skills it needs.</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Plan your profile in your book.</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This job needs __ and __.</ns3:t>
            </ns3:r>
          </ns3:p>
        </p:txBody>
      </p:sp>
      <p:sp>
        <p:nvSpPr>
          <p:cNvPr id="5" name="route-SUPPORTED">
            <a:extLst xmlns:a="http://schemas.openxmlformats.org/drawingml/2006/main">
              <a:ext uri="{FF2B5EF4-FFF2-40B4-BE49-F238E27FC236}">
                <a16:creationId xmlns:a16="http://schemas.microsoft.com/office/drawing/2014/main" id="{3A1C00C8-DE7A-4CDD-A4E2-501F2712992D}"/>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BE1365CA-5AEB-42CE-B673-EDEBC5C313AA}"/>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B7623DBD-8563-455A-AD2C-FE0357E582C3}"/>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Choose from two job cards. Point or tell your two skills.</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
            </ns10:r>
          </ns10:p>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This job needs __ and __.</ns11:t>
            </ns11:r>
          </ns11:p>
        </p:txBody>
      </p:sp>
      <p:sp>
        <p:nvSpPr>
          <p:cNvPr id="8" name="route-STANDARD">
            <a:extLst xmlns:a="http://schemas.openxmlformats.org/drawingml/2006/main">
              <a:ext uri="{FF2B5EF4-FFF2-40B4-BE49-F238E27FC236}">
                <a16:creationId xmlns:a16="http://schemas.microsoft.com/office/drawing/2014/main" id="{9DB3FA0E-5CFE-48B0-81D9-60D07FE14457}"/>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98CCEC1F-F6F5-40E0-9A7B-68C410CC4A65}"/>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30D87C39-EDA1-478B-A213-7CF4F4EC28E5}"/>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Choose a job. Note two skills and one task.</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
            </ns13:r>
          </ns13:p>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A person in this job __.</ns14:t>
            </ns14:r>
          </ns14:p>
        </p:txBody>
      </p:sp>
      <p:sp>
        <p:nvSpPr>
          <p:cNvPr id="11" name="route-STRETCH">
            <a:extLst xmlns:a="http://schemas.openxmlformats.org/drawingml/2006/main">
              <a:ext uri="{FF2B5EF4-FFF2-40B4-BE49-F238E27FC236}">
                <a16:creationId xmlns:a16="http://schemas.microsoft.com/office/drawing/2014/main" id="{8CE2E9E8-FFD2-4B83-8239-53D05AEB055F}"/>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A9F8715D-25AA-4710-B67B-5C46CE890000}"/>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2DBABA1-6B8E-450A-87E0-3476280A69FF}"/>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Compare two jobs that share a skill. Give a reason.</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
            </ns16:r>
          </ns16:p>
          <ns17:p xmlns:ns17="http://schemas.openxmlformats.org/drawingml/2006/main">
            <ns17:pPr>
              <ns17:defRPr sz="1800" b="0">
                <ns17:solidFill>
                  <ns17:srgbClr val="192E3B"/>
                </ns17:solidFill>
                <ns17:latin typeface="Segoe UI"/>
                <ns17:ea typeface="Segoe UI"/>
                <ns17:cs typeface="Segoe UI"/>
              </ns17:defRPr>
            </ns17:pPr>
            <ns17:r>
              <ns17:rPr sz="1800" b="0">
                <ns17:solidFill>
                  <ns17:srgbClr val="192E3B"/>
                </ns17:solidFill>
                <ns17:latin typeface="Segoe UI"/>
                <ns17:ea typeface="Segoe UI"/>
                <ns17:cs typeface="Segoe UI"/>
              </ns17:rPr>
              <ns17:t>Both need __ because __.</ns17:t>
            </ns17:r>
          </ns17:p>
        </p:txBody>
      </p:sp>
      <p:sp>
        <p:nvSpPr>
          <p:cNvPr id="14" name="credit">
            <a:extLst xmlns:a="http://schemas.openxmlformats.org/drawingml/2006/main">
              <a:ext uri="{FF2B5EF4-FFF2-40B4-BE49-F238E27FC236}">
                <a16:creationId xmlns:a16="http://schemas.microsoft.com/office/drawing/2014/main" id="{B2BBE6DC-B73F-446E-863B-635488A3D26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15" name="page-number">
            <a:extLst xmlns:a="http://schemas.openxmlformats.org/drawingml/2006/main">
              <a:ext uri="{FF2B5EF4-FFF2-40B4-BE49-F238E27FC236}">
                <a16:creationId xmlns:a16="http://schemas.microsoft.com/office/drawing/2014/main" id="{BC2B92A7-2E7C-453A-97EA-1993CE85D8F3}"/>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07</ns6:t>
            </ns6:r>
          </ns6:p>
        </p:txBody>
      </p:sp>
    </p:spTree>
    <p:extLst>
      <p:ext uri="{BB962C8B-B14F-4D97-AF65-F5344CB8AC3E}">
        <p14:creationId xmlns:p14="http://schemas.microsoft.com/office/powerpoint/2010/main" val="5374366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5AF53238-707B-4359-B4AF-6EDC4854AAD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4:p xmlns:ns4="http://schemas.openxmlformats.org/drawingml/2006/main">
            <ns4:pPr>
              <ns4:defRPr sz="1200" b="0">
                <ns4:solidFill>
                  <ns4:srgbClr val="566574"/>
                </ns4:solidFill>
                <ns4:latin typeface="Segoe UI"/>
                <ns4:ea typeface="Segoe UI"/>
                <ns4:cs typeface="Segoe UI"/>
              </ns4:defRPr>
            </ns4:pPr>
            <ns4:r>
              <ns4:rPr sz="1200" b="0">
                <ns4:solidFill>
                  <ns4:srgbClr val="566574"/>
                </ns4:solidFill>
                <ns4:latin typeface="Segoe UI"/>
                <ns4:ea typeface="Segoe UI"/>
                <ns4:cs typeface="Segoe UI"/>
              </ns4:rPr>
              <ns4:t>COMM-GROW-A2-W03  ·  Lesson 8</ns4:t>
            </ns4:r>
          </ns4:p>
        </p:txBody>
      </p:sp>
      <p:sp>
        <p:nvSpPr>
          <p:cNvPr id="2" name="edition">
            <a:extLst xmlns:a="http://schemas.openxmlformats.org/drawingml/2006/main">
              <a:ext uri="{FF2B5EF4-FFF2-40B4-BE49-F238E27FC236}">
                <a16:creationId xmlns:a16="http://schemas.microsoft.com/office/drawing/2014/main" id="{8EB2C7F1-CCB4-431B-B449-A7164CC189EA}"/>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5:p xmlns:ns5="http://schemas.openxmlformats.org/drawingml/2006/main">
            <ns5:pPr>
              <ns5:defRPr sz="1050" b="0">
                <ns5:solidFill>
                  <ns5:srgbClr val="566574"/>
                </ns5:solidFill>
                <ns5:latin typeface="Segoe UI"/>
                <ns5:ea typeface="Segoe UI"/>
                <ns5:cs typeface="Segoe UI"/>
              </ns5:defRPr>
            </ns5:pPr>
            <ns5:r>
              <ns5:rPr sz="1050" b="0">
                <ns5:solidFill>
                  <ns5:srgbClr val="566574"/>
                </ns5:solidFill>
                <ns5:latin typeface="Segoe UI"/>
                <ns5:ea typeface="Segoe UI"/>
                <ns5:cs typeface="Segoe UI"/>
              </ns5:rPr>
              <ns5:t>Public edition</ns5:t>
            </ns5:r>
          </ns5:p>
        </p:txBody>
      </p:sp>
      <p:sp>
        <p:nvSpPr>
          <p:cNvPr id="3" name="stage-title">
            <a:extLst xmlns:a="http://schemas.openxmlformats.org/drawingml/2006/main">
              <a:ext uri="{FF2B5EF4-FFF2-40B4-BE49-F238E27FC236}">
                <a16:creationId xmlns:a16="http://schemas.microsoft.com/office/drawing/2014/main" id="{AF084C49-F1E1-4685-9FA3-9F917758B3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8:p xmlns:ns8="http://schemas.openxmlformats.org/drawingml/2006/main">
            <ns8:pPr>
              <ns8:defRPr sz="3300" b="1">
                <ns8:solidFill>
                  <ns8:srgbClr val="345D70"/>
                </ns8:solidFill>
                <ns8:latin typeface="Segoe UI"/>
                <ns8:ea typeface="Segoe UI"/>
                <ns8:cs typeface="Segoe UI"/>
              </ns8:defRPr>
            </ns8:pPr>
            <ns8:r>
              <ns8:rPr sz="3300" b="1">
                <ns8:solidFill>
                  <ns8:srgbClr val="345D70"/>
                </ns8:solidFill>
                <ns8:latin typeface="Segoe UI"/>
                <ns8:ea typeface="Segoe UI"/>
                <ns8:cs typeface="Segoe UI"/>
              </ns8:rPr>
              <ns8:t>YOU DO evidence capture</ns8:t>
            </ns8:r>
          </ns8:p>
        </p:txBody>
      </p:sp>
      <p:sp>
        <p:nvSpPr>
          <p:cNvPr id="4" name="task-main">
            <a:extLst xmlns:a="http://schemas.openxmlformats.org/drawingml/2006/main">
              <a:ext uri="{FF2B5EF4-FFF2-40B4-BE49-F238E27FC236}">
                <a16:creationId xmlns:a16="http://schemas.microsoft.com/office/drawing/2014/main" id="{0E7F6F7D-1AA9-4F28-960C-774E69294464}"/>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defRPr sz="2250" b="0">
                <a:solidFill>
                  <a:srgbClr val="192E3B"/>
                </a:solidFill>
                <a:latin typeface="Segoe UI"/>
                <a:ea typeface="Segoe UI"/>
                <a:cs typeface="Segoe UI"/>
              </a:defRPr>
            </a:lvl1pPr>
            <a:lvl2pPr>
              <a:defRPr sz="2250" b="0">
                <a:solidFill>
                  <a:srgbClr val="192E3B"/>
                </a:solidFill>
                <a:latin typeface="Segoe UI"/>
                <a:ea typeface="Segoe UI"/>
                <a:cs typeface="Segoe UI"/>
              </a:defRPr>
            </a:lvl2pPr>
            <a:lvl3pPr>
              <a:defRPr sz="2250" b="0">
                <a:solidFill>
                  <a:srgbClr val="192E3B"/>
                </a:solidFill>
                <a:latin typeface="Segoe UI"/>
                <a:ea typeface="Segoe UI"/>
                <a:cs typeface="Segoe UI"/>
              </a:defRPr>
            </a:lvl3pPr>
            <a:lvl4pPr>
              <a:defRPr sz="2250" b="0">
                <a:solidFill>
                  <a:srgbClr val="192E3B"/>
                </a:solidFill>
                <a:latin typeface="Segoe UI"/>
                <a:ea typeface="Segoe UI"/>
                <a:cs typeface="Segoe UI"/>
              </a:defRPr>
            </a:lvl4pPr>
            <a:lvl5pPr>
              <a:defRPr sz="2250" b="0">
                <a:solidFill>
                  <a:srgbClr val="192E3B"/>
                </a:solidFill>
                <a:latin typeface="Segoe UI"/>
                <a:ea typeface="Segoe UI"/>
                <a:cs typeface="Segoe UI"/>
              </a:defRPr>
            </a:lvl5pPr>
            <a:lvl6pPr>
              <a:defRPr sz="2250" b="0">
                <a:solidFill>
                  <a:srgbClr val="192E3B"/>
                </a:solidFill>
                <a:latin typeface="Segoe UI"/>
                <a:ea typeface="Segoe UI"/>
                <a:cs typeface="Segoe UI"/>
              </a:defRPr>
            </a:lvl6pPr>
            <a:lvl7pPr>
              <a:defRPr sz="2250" b="0">
                <a:solidFill>
                  <a:srgbClr val="192E3B"/>
                </a:solidFill>
                <a:latin typeface="Segoe UI"/>
                <a:ea typeface="Segoe UI"/>
                <a:cs typeface="Segoe UI"/>
              </a:defRPr>
            </a:lvl7pPr>
            <a:lvl8pPr>
              <a:defRPr sz="2250" b="0">
                <a:solidFill>
                  <a:srgbClr val="192E3B"/>
                </a:solidFill>
                <a:latin typeface="Segoe UI"/>
                <a:ea typeface="Segoe UI"/>
                <a:cs typeface="Segoe UI"/>
              </a:defRPr>
            </a:lvl8pPr>
            <a:lvl9pPr>
              <a:defRPr sz="2250" b="0">
                <a:solidFill>
                  <a:srgbClr val="192E3B"/>
                </a:solidFill>
                <a:latin typeface="Segoe UI"/>
                <a:ea typeface="Segoe UI"/>
                <a:cs typeface="Segoe UI"/>
              </a:defRPr>
            </a:lvl9pPr>
          </a:lstStyle>
          <ns0:p xmlns:ns0="http://schemas.openxmlformats.org/drawingml/2006/main">
            <ns0:pPr>
              <ns0:defRPr sz="2250" b="0">
                <ns0:solidFill>
                  <ns0:srgbClr val="192E3B"/>
                </ns0:solidFill>
                <ns0:latin typeface="Segoe UI"/>
                <ns0:ea typeface="Segoe UI"/>
                <ns0:cs typeface="Segoe UI"/>
              </ns0:defRPr>
            </ns0:pPr>
            <ns0:r>
              <ns0:rPr sz="2250" b="0">
                <ns0:solidFill>
                  <ns0:srgbClr val="192E3B"/>
                </ns0:solidFill>
                <ns0:latin typeface="Segoe UI"/>
                <ns0:ea typeface="Segoe UI"/>
                <ns0:cs typeface="Segoe UI"/>
              </ns0:rPr>
              <ns0:t>Complete your own L8-E1 job profile.</ns0:t>
            </ns0:r>
          </ns0:p>
          <ns1:p xmlns:ns1="http://schemas.openxmlformats.org/drawingml/2006/main">
            <ns1:pPr>
              <ns1:defRPr sz="2250" b="0">
                <ns1:solidFill>
                  <ns1:srgbClr val="192E3B"/>
                </ns1:solidFill>
                <ns1:latin typeface="Segoe UI"/>
                <ns1:ea typeface="Segoe UI"/>
                <ns1:cs typeface="Segoe UI"/>
              </ns1:defRPr>
            </ns1:pPr>
            <ns1:r>
              <ns1:rPr sz="2250" b="0">
                <ns1:solidFill>
                  <ns1:srgbClr val="192E3B"/>
                </ns1:solidFill>
                <ns1:latin typeface="Segoe UI"/>
                <ns1:ea typeface="Segoe UI"/>
                <ns1:cs typeface="Segoe UI"/>
              </ns1:rPr>
              <ns1:t>Name the job and two skills it needs.</ns1:t>
            </ns1:r>
          </ns1:p>
          <ns2:p xmlns:ns2="http://schemas.openxmlformats.org/drawingml/2006/main">
            <ns2:pPr>
              <ns2:defRPr sz="2250" b="0">
                <ns2:solidFill>
                  <ns2:srgbClr val="192E3B"/>
                </ns2:solidFill>
                <ns2:latin typeface="Segoe UI"/>
                <ns2:ea typeface="Segoe UI"/>
                <ns2:cs typeface="Segoe UI"/>
              </ns2:defRPr>
            </ns2:pPr>
            <ns2:r>
              <ns2:rPr sz="2250" b="0">
                <ns2:solidFill>
                  <ns2:srgbClr val="192E3B"/>
                </ns2:solidFill>
                <ns2:latin typeface="Segoe UI"/>
                <ns2:ea typeface="Segoe UI"/>
                <ns2:cs typeface="Segoe UI"/>
              </ns2:rPr>
              <ns2:t>Show one of those skills in your own project work.</ns2:t>
            </ns2:r>
          </ns2:p>
          <ns3:p xmlns:ns3="http://schemas.openxmlformats.org/drawingml/2006/main">
            <ns3:pPr>
              <ns3:defRPr sz="2250" b="0">
                <ns3:solidFill>
                  <ns3:srgbClr val="192E3B"/>
                </ns3:solidFill>
                <ns3:latin typeface="Segoe UI"/>
                <ns3:ea typeface="Segoe UI"/>
                <ns3:cs typeface="Segoe UI"/>
              </ns3:defRPr>
            </ns3:pPr>
            <ns3:r>
              <ns3:rPr sz="2250" b="0">
                <ns3:solidFill>
                  <ns3:srgbClr val="192E3B"/>
                </ns3:solidFill>
                <ns3:latin typeface="Segoe UI"/>
                <ns3:ea typeface="Segoe UI"/>
                <ns3:cs typeface="Segoe UI"/>
              </ns3:rPr>
              <ns3:t>I used __ when I __.</ns3:t>
            </ns3:r>
          </ns3:p>
        </p:txBody>
      </p:sp>
      <p:sp>
        <p:nvSpPr>
          <p:cNvPr id="5" name="route-SUPPORTED">
            <a:extLst xmlns:a="http://schemas.openxmlformats.org/drawingml/2006/main">
              <a:ext uri="{FF2B5EF4-FFF2-40B4-BE49-F238E27FC236}">
                <a16:creationId xmlns:a16="http://schemas.microsoft.com/office/drawing/2014/main" id="{A6A057AF-4EBE-4A53-8F7F-CC5C0DA160A5}"/>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0022F5DB-5C97-4DB7-A617-1E7FB058A6BB}"/>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7348654F-38AF-4D7B-9A25-AEA56E2E053A}"/>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9:p xmlns:ns9="http://schemas.openxmlformats.org/drawingml/2006/main">
            <ns9:pPr>
              <ns9:defRPr sz="1800" b="0">
                <ns9:solidFill>
                  <ns9:srgbClr val="192E3B"/>
                </ns9:solidFill>
                <ns9:latin typeface="Segoe UI"/>
                <ns9:ea typeface="Segoe UI"/>
                <ns9:cs typeface="Segoe UI"/>
              </ns9:defRPr>
            </ns9:pPr>
            <ns9:r>
              <ns9:rPr sz="1800" b="0">
                <ns9:solidFill>
                  <ns9:srgbClr val="192E3B"/>
                </ns9:solidFill>
                <ns9:latin typeface="Segoe UI"/>
                <ns9:ea typeface="Segoe UI"/>
                <ns9:cs typeface="Segoe UI"/>
              </ns9:rPr>
              <ns9:t>Use the cards and a scribe or voice note. Keep the example yours.</ns9:t>
            </ns9:r>
          </ns9:p>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
            </ns10:r>
          </ns10:p>
          <ns11:p xmlns:ns11="http://schemas.openxmlformats.org/drawingml/2006/main">
            <ns11:pPr>
              <ns11:defRPr sz="1800" b="0">
                <ns11:solidFill>
                  <ns11:srgbClr val="192E3B"/>
                </ns11:solidFill>
                <ns11:latin typeface="Segoe UI"/>
                <ns11:ea typeface="Segoe UI"/>
                <ns11:cs typeface="Segoe UI"/>
              </ns11:defRPr>
            </ns11:pPr>
            <ns11:r>
              <ns11:rPr sz="1800" b="0">
                <ns11:solidFill>
                  <ns11:srgbClr val="192E3B"/>
                </ns11:solidFill>
                <ns11:latin typeface="Segoe UI"/>
                <ns11:ea typeface="Segoe UI"/>
                <ns11:cs typeface="Segoe UI"/>
              </ns11:rPr>
              <ns11:t>I used __ when I __.</ns11:t>
            </ns11:r>
          </ns11:p>
        </p:txBody>
      </p:sp>
      <p:sp>
        <p:nvSpPr>
          <p:cNvPr id="8" name="route-STANDARD">
            <a:extLst xmlns:a="http://schemas.openxmlformats.org/drawingml/2006/main">
              <a:ext uri="{FF2B5EF4-FFF2-40B4-BE49-F238E27FC236}">
                <a16:creationId xmlns:a16="http://schemas.microsoft.com/office/drawing/2014/main" id="{F33973E7-D693-4EDB-98AC-EE8EA46CDACA}"/>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73C2340D-C3A4-4DB8-8F16-9508FD257F97}"/>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4FEA4C94-F182-42A8-AD69-40DC5C48A9A8}"/>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Link two job skills to one real piece of your work.</ns12:t>
            </ns12:r>
          </ns12:p>
          <ns13:p xmlns:ns13="http://schemas.openxmlformats.org/drawingml/2006/main">
            <ns13:pPr>
              <ns13:defRPr sz="1800" b="0">
                <ns13:solidFill>
                  <ns13:srgbClr val="192E3B"/>
                </ns13:solidFill>
                <ns13:latin typeface="Segoe UI"/>
                <ns13:ea typeface="Segoe UI"/>
                <ns13:cs typeface="Segoe UI"/>
              </ns13:defRPr>
            </ns13:pPr>
            <ns13:r>
              <ns13:rPr sz="1800" b="0">
                <ns13:solidFill>
                  <ns13:srgbClr val="192E3B"/>
                </ns13:solidFill>
                <ns13:latin typeface="Segoe UI"/>
                <ns13:ea typeface="Segoe UI"/>
                <ns13:cs typeface="Segoe UI"/>
              </ns13:rPr>
              <ns13:t/>
            </ns13:r>
          </ns13:p>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My work shows __ because __.</ns14:t>
            </ns14:r>
          </ns14:p>
        </p:txBody>
      </p:sp>
      <p:sp>
        <p:nvSpPr>
          <p:cNvPr id="11" name="route-STRETCH">
            <a:extLst xmlns:a="http://schemas.openxmlformats.org/drawingml/2006/main">
              <a:ext uri="{FF2B5EF4-FFF2-40B4-BE49-F238E27FC236}">
                <a16:creationId xmlns:a16="http://schemas.microsoft.com/office/drawing/2014/main" id="{B13A8038-781A-4892-B600-DBAC4C9A1207}"/>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1">
                <a:solidFill>
                  <a:srgbClr val="345D70"/>
                </a:solidFill>
                <a:latin typeface="Segoe UI"/>
                <a:ea typeface="Segoe UI"/>
                <a:cs typeface="Segoe UI"/>
              </a:defRPr>
            </a:defPPr>
            <a:lvl1pPr>
              <a:defRPr sz="1800" b="1">
                <a:solidFill>
                  <a:srgbClr val="345D70"/>
                </a:solidFill>
                <a:latin typeface="Segoe UI"/>
                <a:ea typeface="Segoe UI"/>
                <a:cs typeface="Segoe UI"/>
              </a:defRPr>
            </a:lvl1pPr>
            <a:lvl2pPr>
              <a:defRPr sz="1800" b="1">
                <a:solidFill>
                  <a:srgbClr val="345D70"/>
                </a:solidFill>
                <a:latin typeface="Segoe UI"/>
                <a:ea typeface="Segoe UI"/>
                <a:cs typeface="Segoe UI"/>
              </a:defRPr>
            </a:lvl2pPr>
            <a:lvl3pPr>
              <a:defRPr sz="1800" b="1">
                <a:solidFill>
                  <a:srgbClr val="345D70"/>
                </a:solidFill>
                <a:latin typeface="Segoe UI"/>
                <a:ea typeface="Segoe UI"/>
                <a:cs typeface="Segoe UI"/>
              </a:defRPr>
            </a:lvl3pPr>
            <a:lvl4pPr>
              <a:defRPr sz="1800" b="1">
                <a:solidFill>
                  <a:srgbClr val="345D70"/>
                </a:solidFill>
                <a:latin typeface="Segoe UI"/>
                <a:ea typeface="Segoe UI"/>
                <a:cs typeface="Segoe UI"/>
              </a:defRPr>
            </a:lvl4pPr>
            <a:lvl5pPr>
              <a:defRPr sz="1800" b="1">
                <a:solidFill>
                  <a:srgbClr val="345D70"/>
                </a:solidFill>
                <a:latin typeface="Segoe UI"/>
                <a:ea typeface="Segoe UI"/>
                <a:cs typeface="Segoe UI"/>
              </a:defRPr>
            </a:lvl5pPr>
            <a:lvl6pPr>
              <a:defRPr sz="1800" b="1">
                <a:solidFill>
                  <a:srgbClr val="345D70"/>
                </a:solidFill>
                <a:latin typeface="Segoe UI"/>
                <a:ea typeface="Segoe UI"/>
                <a:cs typeface="Segoe UI"/>
              </a:defRPr>
            </a:lvl6pPr>
            <a:lvl7pPr>
              <a:defRPr sz="1800" b="1">
                <a:solidFill>
                  <a:srgbClr val="345D70"/>
                </a:solidFill>
                <a:latin typeface="Segoe UI"/>
                <a:ea typeface="Segoe UI"/>
                <a:cs typeface="Segoe UI"/>
              </a:defRPr>
            </a:lvl7pPr>
            <a:lvl8pPr>
              <a:defRPr sz="1800" b="1">
                <a:solidFill>
                  <a:srgbClr val="345D70"/>
                </a:solidFill>
                <a:latin typeface="Segoe UI"/>
                <a:ea typeface="Segoe UI"/>
                <a:cs typeface="Segoe UI"/>
              </a:defRPr>
            </a:lvl8pPr>
            <a:lvl9pPr>
              <a:defRPr sz="1800" b="1">
                <a:solidFill>
                  <a:srgbClr val="345D70"/>
                </a:solidFill>
                <a:latin typeface="Segoe UI"/>
                <a:ea typeface="Segoe UI"/>
                <a:cs typeface="Segoe UI"/>
              </a:defRPr>
            </a:lvl9pPr>
          </a:lstStyle>
          <a:p xmlns:a="http://schemas.openxmlformats.org/drawingml/2006/main">
            <a:pPr>
              <a:defRPr sz="1800" b="1">
                <a:solidFill>
                  <a:srgbClr val="345D70"/>
                </a:solidFill>
                <a:latin typeface="Segoe UI"/>
                <a:ea typeface="Segoe UI"/>
                <a:cs typeface="Segoe UI"/>
              </a:defRPr>
            </a:pPr>
            <a:r>
              <a:rPr sz="1800"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EAE6F8CE-0A4C-4530-808D-8855BCF34C82}"/>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605C871-4A08-4C87-99E7-00029B08B734}"/>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5:p xmlns:ns15="http://schemas.openxmlformats.org/drawingml/2006/main">
            <ns15:pPr>
              <ns15:defRPr sz="1800" b="0">
                <ns15:solidFill>
                  <ns15:srgbClr val="192E3B"/>
                </ns15:solidFill>
                <ns15:latin typeface="Segoe UI"/>
                <ns15:ea typeface="Segoe UI"/>
                <ns15:cs typeface="Segoe UI"/>
              </ns15:defRPr>
            </ns15:pPr>
            <ns15:r>
              <ns15:rPr sz="1800" b="0">
                <ns15:solidFill>
                  <ns15:srgbClr val="192E3B"/>
                </ns15:solidFill>
                <ns15:latin typeface="Segoe UI"/>
                <ns15:ea typeface="Segoe UI"/>
                <ns15:cs typeface="Segoe UI"/>
              </ns15:rPr>
              <ns15:t>Explain the link. Choose a step to improve that skill.</ns15:t>
            </ns15:r>
          </ns15:p>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
            </ns16:r>
          </ns16:p>
          <ns17:p xmlns:ns17="http://schemas.openxmlformats.org/drawingml/2006/main">
            <ns17:pPr>
              <ns17:defRPr sz="1800" b="0">
                <ns17:solidFill>
                  <ns17:srgbClr val="192E3B"/>
                </ns17:solidFill>
                <ns17:latin typeface="Segoe UI"/>
                <ns17:ea typeface="Segoe UI"/>
                <ns17:cs typeface="Segoe UI"/>
              </ns17:defRPr>
            </ns17:pPr>
            <ns17:r>
              <ns17:rPr sz="1800" b="0">
                <ns17:solidFill>
                  <ns17:srgbClr val="192E3B"/>
                </ns17:solidFill>
                <ns17:latin typeface="Segoe UI"/>
                <ns17:ea typeface="Segoe UI"/>
                <ns17:cs typeface="Segoe UI"/>
              </ns17:rPr>
              <ns17:t>Next I will __. This will help __.</ns17:t>
            </ns17:r>
          </ns17:p>
        </p:txBody>
      </p:sp>
      <p:sp>
        <p:nvSpPr>
          <p:cNvPr id="14" name="credit">
            <a:extLst xmlns:a="http://schemas.openxmlformats.org/drawingml/2006/main">
              <a:ext uri="{FF2B5EF4-FFF2-40B4-BE49-F238E27FC236}">
                <a16:creationId xmlns:a16="http://schemas.microsoft.com/office/drawing/2014/main" id="{902F9024-E8D6-4C4C-8FB4-09B17044104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7:p xmlns:ns7="http://schemas.openxmlformats.org/drawingml/2006/main">
            <ns7:pPr>
              <ns7:defRPr sz="788" b="0">
                <ns7:solidFill>
                  <ns7:srgbClr val="566574"/>
                </ns7:solidFill>
                <ns7:latin typeface="Segoe UI"/>
                <ns7:ea typeface="Segoe UI"/>
                <ns7:cs typeface="Segoe UI"/>
              </ns7:defRPr>
            </ns7:pPr>
            <ns7:r>
              <ns7:rPr sz="788" b="0">
                <ns7:solidFill>
                  <ns7:srgbClr val="566574"/>
                </ns7:solidFill>
                <ns7:latin typeface="Segoe UI"/>
                <ns7:ea typeface="Segoe UI"/>
                <ns7:cs typeface="Segoe UI"/>
              </ns7:rPr>
              <ns7:t>Made by Matt · © Matt Roper · CC BY-NC-SA 4.0: free for classroom use, share and adapt with credit, no resale</ns7:t>
            </ns7:r>
          </ns7:p>
        </p:txBody>
      </p:sp>
      <p:sp>
        <p:nvSpPr>
          <p:cNvPr id="15" name="page-number">
            <a:extLst xmlns:a="http://schemas.openxmlformats.org/drawingml/2006/main">
              <a:ext uri="{FF2B5EF4-FFF2-40B4-BE49-F238E27FC236}">
                <a16:creationId xmlns:a16="http://schemas.microsoft.com/office/drawing/2014/main" id="{5C2F24A5-D857-4C5C-82A3-F9276E529B75}"/>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6:p xmlns:ns6="http://schemas.openxmlformats.org/drawingml/2006/main">
            <ns6:pPr>
              <ns6:defRPr sz="1050" b="0">
                <ns6:solidFill>
                  <ns6:srgbClr val="566574"/>
                </ns6:solidFill>
                <ns6:latin typeface="Segoe UI"/>
                <ns6:ea typeface="Segoe UI"/>
                <ns6:cs typeface="Segoe UI"/>
              </ns6:defRPr>
            </ns6:pPr>
            <ns6:r>
              <ns6:rPr sz="1050" b="0">
                <ns6:solidFill>
                  <ns6:srgbClr val="566574"/>
                </ns6:solidFill>
                <ns6:latin typeface="Segoe UI"/>
                <ns6:ea typeface="Segoe UI"/>
                <ns6:cs typeface="Segoe UI"/>
              </ns6:rPr>
              <ns6:t>08</ns6:t>
            </ns6:r>
          </ns6:p>
        </p:txBody>
      </p:sp>
    </p:spTree>
    <p:extLst>
      <p:ext uri="{BB962C8B-B14F-4D97-AF65-F5344CB8AC3E}">
        <p14:creationId xmlns:p14="http://schemas.microsoft.com/office/powerpoint/2010/main" val="2028508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74EFD080-33E1-4C48-842F-F4614E7D740D}"/>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9:p xmlns:ns9="http://schemas.openxmlformats.org/drawingml/2006/main">
            <ns9:pPr>
              <ns9:defRPr sz="1200" b="0">
                <ns9:solidFill>
                  <ns9:srgbClr val="566574"/>
                </ns9:solidFill>
                <ns9:latin typeface="Segoe UI"/>
                <ns9:ea typeface="Segoe UI"/>
                <ns9:cs typeface="Segoe UI"/>
              </ns9:defRPr>
            </ns9:pPr>
            <ns9:r>
              <ns9:rPr sz="1200" b="0">
                <ns9:solidFill>
                  <ns9:srgbClr val="566574"/>
                </ns9:solidFill>
                <ns9:latin typeface="Segoe UI"/>
                <ns9:ea typeface="Segoe UI"/>
                <ns9:cs typeface="Segoe UI"/>
              </ns9:rPr>
              <ns9:t>COMM-GROW-A2-W03  ·  Lesson 8</ns9:t>
            </ns9:r>
          </ns9:p>
        </p:txBody>
      </p:sp>
      <p:sp>
        <p:nvSpPr>
          <p:cNvPr id="2" name="edition">
            <a:extLst xmlns:a="http://schemas.openxmlformats.org/drawingml/2006/main">
              <a:ext uri="{FF2B5EF4-FFF2-40B4-BE49-F238E27FC236}">
                <a16:creationId xmlns:a16="http://schemas.microsoft.com/office/drawing/2014/main" id="{8D102D91-F0B5-4F93-B03F-7FD7540FA626}"/>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0:p xmlns:ns10="http://schemas.openxmlformats.org/drawingml/2006/main">
            <ns10:pPr>
              <ns10:defRPr sz="1050" b="0">
                <ns10:solidFill>
                  <ns10:srgbClr val="566574"/>
                </ns10:solidFill>
                <ns10:latin typeface="Segoe UI"/>
                <ns10:ea typeface="Segoe UI"/>
                <ns10:cs typeface="Segoe UI"/>
              </ns10:defRPr>
            </ns10:pPr>
            <ns10:r>
              <ns10:rPr sz="1050" b="0">
                <ns10:solidFill>
                  <ns10:srgbClr val="566574"/>
                </ns10:solidFill>
                <ns10:latin typeface="Segoe UI"/>
                <ns10:ea typeface="Segoe UI"/>
                <ns10:cs typeface="Segoe UI"/>
              </ns10:rPr>
              <ns10:t>Public edition</ns10:t>
            </ns10:r>
          </ns10:p>
        </p:txBody>
      </p:sp>
      <p:sp>
        <p:nvSpPr>
          <p:cNvPr id="3" name="stage-title">
            <a:extLst xmlns:a="http://schemas.openxmlformats.org/drawingml/2006/main">
              <a:ext uri="{FF2B5EF4-FFF2-40B4-BE49-F238E27FC236}">
                <a16:creationId xmlns:a16="http://schemas.microsoft.com/office/drawing/2014/main" id="{4C6A499F-7F3E-46E7-8E6C-4512728F757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3:p xmlns:ns13="http://schemas.openxmlformats.org/drawingml/2006/main">
            <ns13:pPr>
              <ns13:defRPr sz="3300" b="1">
                <ns13:solidFill>
                  <ns13:srgbClr val="345D70"/>
                </ns13:solidFill>
                <ns13:latin typeface="Segoe UI"/>
                <ns13:ea typeface="Segoe UI"/>
                <ns13:cs typeface="Segoe UI"/>
              </ns13:defRPr>
            </ns13:pPr>
            <ns13:r>
              <ns13:rPr sz="3300" b="1">
                <ns13:solidFill>
                  <ns13:srgbClr val="345D70"/>
                </ns13:solidFill>
                <ns13:latin typeface="Segoe UI"/>
                <ns13:ea typeface="Segoe UI"/>
                <ns13:cs typeface="Segoe UI"/>
              </ns13:rPr>
              <ns13:t>Evidence check before hand-in</ns13:t>
            </ns13:r>
          </ns13:p>
        </p:txBody>
      </p:sp>
      <p:sp>
        <p:nvSpPr>
          <p:cNvPr id="4" name="pupil-body">
            <a:extLst xmlns:a="http://schemas.openxmlformats.org/drawingml/2006/main">
              <a:ext uri="{FF2B5EF4-FFF2-40B4-BE49-F238E27FC236}">
                <a16:creationId xmlns:a16="http://schemas.microsoft.com/office/drawing/2014/main" id="{A32EEE5B-C0DD-40D0-8F45-FAA23D64FEC3}"/>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175" b="0">
                <a:solidFill>
                  <a:srgbClr val="192E3B"/>
                </a:solidFill>
                <a:latin typeface="Segoe UI"/>
                <a:ea typeface="Segoe UI"/>
                <a:cs typeface="Segoe UI"/>
              </a:defRPr>
            </a:defPPr>
            <a:lvl1pPr>
              <a:defRPr sz="2175" b="0">
                <a:solidFill>
                  <a:srgbClr val="192E3B"/>
                </a:solidFill>
                <a:latin typeface="Segoe UI"/>
                <a:ea typeface="Segoe UI"/>
                <a:cs typeface="Segoe UI"/>
              </a:defRPr>
            </a:lvl1pPr>
            <a:lvl2pPr>
              <a:defRPr sz="2175" b="0">
                <a:solidFill>
                  <a:srgbClr val="192E3B"/>
                </a:solidFill>
                <a:latin typeface="Segoe UI"/>
                <a:ea typeface="Segoe UI"/>
                <a:cs typeface="Segoe UI"/>
              </a:defRPr>
            </a:lvl2pPr>
            <a:lvl3pPr>
              <a:defRPr sz="2175" b="0">
                <a:solidFill>
                  <a:srgbClr val="192E3B"/>
                </a:solidFill>
                <a:latin typeface="Segoe UI"/>
                <a:ea typeface="Segoe UI"/>
                <a:cs typeface="Segoe UI"/>
              </a:defRPr>
            </a:lvl3pPr>
            <a:lvl4pPr>
              <a:defRPr sz="2175" b="0">
                <a:solidFill>
                  <a:srgbClr val="192E3B"/>
                </a:solidFill>
                <a:latin typeface="Segoe UI"/>
                <a:ea typeface="Segoe UI"/>
                <a:cs typeface="Segoe UI"/>
              </a:defRPr>
            </a:lvl4pPr>
            <a:lvl5pPr>
              <a:defRPr sz="2175" b="0">
                <a:solidFill>
                  <a:srgbClr val="192E3B"/>
                </a:solidFill>
                <a:latin typeface="Segoe UI"/>
                <a:ea typeface="Segoe UI"/>
                <a:cs typeface="Segoe UI"/>
              </a:defRPr>
            </a:lvl5pPr>
            <a:lvl6pPr>
              <a:defRPr sz="2175" b="0">
                <a:solidFill>
                  <a:srgbClr val="192E3B"/>
                </a:solidFill>
                <a:latin typeface="Segoe UI"/>
                <a:ea typeface="Segoe UI"/>
                <a:cs typeface="Segoe UI"/>
              </a:defRPr>
            </a:lvl6pPr>
            <a:lvl7pPr>
              <a:defRPr sz="2175" b="0">
                <a:solidFill>
                  <a:srgbClr val="192E3B"/>
                </a:solidFill>
                <a:latin typeface="Segoe UI"/>
                <a:ea typeface="Segoe UI"/>
                <a:cs typeface="Segoe UI"/>
              </a:defRPr>
            </a:lvl7pPr>
            <a:lvl8pPr>
              <a:defRPr sz="2175" b="0">
                <a:solidFill>
                  <a:srgbClr val="192E3B"/>
                </a:solidFill>
                <a:latin typeface="Segoe UI"/>
                <a:ea typeface="Segoe UI"/>
                <a:cs typeface="Segoe UI"/>
              </a:defRPr>
            </a:lvl8pPr>
            <a:lvl9pPr>
              <a:defRPr sz="2175" b="0">
                <a:solidFill>
                  <a:srgbClr val="192E3B"/>
                </a:solidFill>
                <a:latin typeface="Segoe UI"/>
                <a:ea typeface="Segoe UI"/>
                <a:cs typeface="Segoe UI"/>
              </a:defRPr>
            </a:lvl9pPr>
          </a:lstStyle>
          <ns0:p xmlns:ns0="http://schemas.openxmlformats.org/drawingml/2006/main">
            <ns0:pPr>
              <ns0:defRPr sz="2175" b="0">
                <ns0:solidFill>
                  <ns0:srgbClr val="192E3B"/>
                </ns0:solidFill>
                <ns0:latin typeface="Segoe UI"/>
                <ns0:ea typeface="Segoe UI"/>
                <ns0:cs typeface="Segoe UI"/>
              </ns0:defRPr>
            </ns0:pPr>
            <ns0:r>
              <ns0:rPr sz="2175" b="0">
                <ns0:solidFill>
                  <ns0:srgbClr val="192E3B"/>
                </ns0:solidFill>
                <ns0:latin typeface="Segoe UI"/>
                <ns0:ea typeface="Segoe UI"/>
                <ns0:cs typeface="Segoe UI"/>
              </ns0:rPr>
              <ns0:t>My name or ID and date.</ns0:t>
            </ns0:r>
          </ns0:p>
          <ns1:p xmlns:ns1="http://schemas.openxmlformats.org/drawingml/2006/main">
            <ns1:pPr>
              <ns1:defRPr sz="2175" b="0">
                <ns1:solidFill>
                  <ns1:srgbClr val="192E3B"/>
                </ns1:solidFill>
                <ns1:latin typeface="Segoe UI"/>
                <ns1:ea typeface="Segoe UI"/>
                <ns1:cs typeface="Segoe UI"/>
              </ns1:defRPr>
            </ns1:pPr>
            <ns1:r>
              <ns1:rPr sz="2175" b="0">
                <ns1:solidFill>
                  <ns1:srgbClr val="192E3B"/>
                </ns1:solidFill>
                <ns1:latin typeface="Segoe UI"/>
                <ns1:ea typeface="Segoe UI"/>
                <ns1:cs typeface="Segoe UI"/>
              </ns1:rPr>
              <ns1:t/>
            </ns1:r>
          </ns1:p>
          <ns2:p xmlns:ns2="http://schemas.openxmlformats.org/drawingml/2006/main">
            <ns2:pPr>
              <ns2:defRPr sz="2175" b="0">
                <ns2:solidFill>
                  <ns2:srgbClr val="192E3B"/>
                </ns2:solidFill>
                <ns2:latin typeface="Segoe UI"/>
                <ns2:ea typeface="Segoe UI"/>
                <ns2:cs typeface="Segoe UI"/>
              </ns2:defRPr>
            </ns2:pPr>
            <ns2:r>
              <ns2:rPr sz="2175" b="0">
                <ns2:solidFill>
                  <ns2:srgbClr val="192E3B"/>
                </ns2:solidFill>
                <ns2:latin typeface="Segoe UI"/>
                <ns2:ea typeface="Segoe UI"/>
                <ns2:cs typeface="Segoe UI"/>
              </ns2:rPr>
              <ns2:t>One job and two different skills.</ns2:t>
            </ns2:r>
          </ns2:p>
          <ns3:p xmlns:ns3="http://schemas.openxmlformats.org/drawingml/2006/main">
            <ns3:pPr>
              <ns3:defRPr sz="2175" b="0">
                <ns3:solidFill>
                  <ns3:srgbClr val="192E3B"/>
                </ns3:solidFill>
                <ns3:latin typeface="Segoe UI"/>
                <ns3:ea typeface="Segoe UI"/>
                <ns3:cs typeface="Segoe UI"/>
              </ns3:defRPr>
            </ns3:pPr>
            <ns3:r>
              <ns3:rPr sz="2175" b="0">
                <ns3:solidFill>
                  <ns3:srgbClr val="192E3B"/>
                </ns3:solidFill>
                <ns3:latin typeface="Segoe UI"/>
                <ns3:ea typeface="Segoe UI"/>
                <ns3:cs typeface="Segoe UI"/>
              </ns3:rPr>
              <ns3:t/>
            </ns3:r>
          </ns3:p>
          <ns4:p xmlns:ns4="http://schemas.openxmlformats.org/drawingml/2006/main">
            <ns4:pPr>
              <ns4:defRPr sz="2175" b="0">
                <ns4:solidFill>
                  <ns4:srgbClr val="192E3B"/>
                </ns4:solidFill>
                <ns4:latin typeface="Segoe UI"/>
                <ns4:ea typeface="Segoe UI"/>
                <ns4:cs typeface="Segoe UI"/>
              </ns4:defRPr>
            </ns4:pPr>
            <ns4:r>
              <ns4:rPr sz="2175" b="0">
                <ns4:solidFill>
                  <ns4:srgbClr val="192E3B"/>
                </ns4:solidFill>
                <ns4:latin typeface="Segoe UI"/>
                <ns4:ea typeface="Segoe UI"/>
                <ns4:cs typeface="Segoe UI"/>
              </ns4:rPr>
              <ns4:t>One of those skills linked to my own work.</ns4:t>
            </ns4:r>
          </ns4:p>
          <ns5:p xmlns:ns5="http://schemas.openxmlformats.org/drawingml/2006/main">
            <ns5:pPr>
              <ns5:defRPr sz="2175" b="0">
                <ns5:solidFill>
                  <ns5:srgbClr val="192E3B"/>
                </ns5:solidFill>
                <ns5:latin typeface="Segoe UI"/>
                <ns5:ea typeface="Segoe UI"/>
                <ns5:cs typeface="Segoe UI"/>
              </ns5:defRPr>
            </ns5:pPr>
            <ns5:r>
              <ns5:rPr sz="2175" b="0">
                <ns5:solidFill>
                  <ns5:srgbClr val="192E3B"/>
                </ns5:solidFill>
                <ns5:latin typeface="Segoe UI"/>
                <ns5:ea typeface="Segoe UI"/>
                <ns5:cs typeface="Segoe UI"/>
              </ns5:rPr>
              <ns5:t/>
            </ns5:r>
          </ns5:p>
          <ns6:p xmlns:ns6="http://schemas.openxmlformats.org/drawingml/2006/main">
            <ns6:pPr>
              <ns6:defRPr sz="2175" b="0">
                <ns6:solidFill>
                  <ns6:srgbClr val="192E3B"/>
                </ns6:solidFill>
                <ns6:latin typeface="Segoe UI"/>
                <ns6:ea typeface="Segoe UI"/>
                <ns6:cs typeface="Segoe UI"/>
              </ns6:defRPr>
            </ns6:pPr>
            <ns6:r>
              <ns6:rPr sz="2175" b="0">
                <ns6:solidFill>
                  <ns6:srgbClr val="192E3B"/>
                </ns6:solidFill>
                <ns6:latin typeface="Segoe UI"/>
                <ns6:ea typeface="Segoe UI"/>
                <ns6:cs typeface="Segoe UI"/>
              </ns6:rPr>
              <ns6:t>My help, work reference and next step are clear.</ns6:t>
            </ns6:r>
          </ns6:p>
          <ns7:p xmlns:ns7="http://schemas.openxmlformats.org/drawingml/2006/main">
            <ns7:pPr>
              <ns7:defRPr sz="2175" b="0">
                <ns7:solidFill>
                  <ns7:srgbClr val="192E3B"/>
                </ns7:solidFill>
                <ns7:latin typeface="Segoe UI"/>
                <ns7:ea typeface="Segoe UI"/>
                <ns7:cs typeface="Segoe UI"/>
              </ns7:defRPr>
            </ns7:pPr>
            <ns7:r>
              <ns7:rPr sz="2175" b="0">
                <ns7:solidFill>
                  <ns7:srgbClr val="192E3B"/>
                </ns7:solidFill>
                <ns7:latin typeface="Segoe UI"/>
                <ns7:ea typeface="Segoe UI"/>
                <ns7:cs typeface="Segoe UI"/>
              </ns7:rPr>
              <ns7:t/>
            </ns7:r>
          </ns7:p>
          <ns8:p xmlns:ns8="http://schemas.openxmlformats.org/drawingml/2006/main">
            <ns8:pPr>
              <ns8:defRPr sz="2175" b="0">
                <ns8:solidFill>
                  <ns8:srgbClr val="192E3B"/>
                </ns8:solidFill>
                <ns8:latin typeface="Segoe UI"/>
                <ns8:ea typeface="Segoe UI"/>
                <ns8:cs typeface="Segoe UI"/>
              </ns8:defRPr>
            </ns8:pPr>
            <ns8:r>
              <ns8:rPr sz="2175" b="0">
                <ns8:solidFill>
                  <ns8:srgbClr val="192E3B"/>
                </ns8:solidFill>
                <ns8:latin typeface="Segoe UI"/>
                <ns8:ea typeface="Segoe UI"/>
                <ns8:cs typeface="Segoe UI"/>
              </ns8:rPr>
              <ns8:t>I can tell or show how my work fits.</ns8:t>
            </ns8:r>
          </ns8:p>
        </p:txBody>
      </p:sp>
      <p:sp>
        <p:nvSpPr>
          <p:cNvPr id="5" name="credit">
            <a:extLst xmlns:a="http://schemas.openxmlformats.org/drawingml/2006/main">
              <a:ext uri="{FF2B5EF4-FFF2-40B4-BE49-F238E27FC236}">
                <a16:creationId xmlns:a16="http://schemas.microsoft.com/office/drawing/2014/main" id="{05929817-59C3-4690-BD5E-49E2852D3DC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2:p xmlns:ns12="http://schemas.openxmlformats.org/drawingml/2006/main">
            <ns12:pPr>
              <ns12:defRPr sz="788" b="0">
                <ns12:solidFill>
                  <ns12:srgbClr val="566574"/>
                </ns12:solidFill>
                <ns12:latin typeface="Segoe UI"/>
                <ns12:ea typeface="Segoe UI"/>
                <ns12:cs typeface="Segoe UI"/>
              </ns12:defRPr>
            </ns12:pPr>
            <ns12:r>
              <ns12:rPr sz="788" b="0">
                <ns12:solidFill>
                  <ns12:srgbClr val="566574"/>
                </ns12:solidFill>
                <ns12:latin typeface="Segoe UI"/>
                <ns12:ea typeface="Segoe UI"/>
                <ns12:cs typeface="Segoe UI"/>
              </ns12:rPr>
              <ns12:t>Made by Matt · © Matt Roper · CC BY-NC-SA 4.0: free for classroom use, share and adapt with credit, no resale</ns12:t>
            </ns12:r>
          </ns12:p>
        </p:txBody>
      </p:sp>
      <p:sp>
        <p:nvSpPr>
          <p:cNvPr id="6" name="page-number">
            <a:extLst xmlns:a="http://schemas.openxmlformats.org/drawingml/2006/main">
              <a:ext uri="{FF2B5EF4-FFF2-40B4-BE49-F238E27FC236}">
                <a16:creationId xmlns:a16="http://schemas.microsoft.com/office/drawing/2014/main" id="{8C2D46D7-A444-45AB-A9EA-ABAA28CFED5C}"/>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1:p xmlns:ns11="http://schemas.openxmlformats.org/drawingml/2006/main">
            <ns11:pPr>
              <ns11:defRPr sz="1050" b="0">
                <ns11:solidFill>
                  <ns11:srgbClr val="566574"/>
                </ns11:solidFill>
                <ns11:latin typeface="Segoe UI"/>
                <ns11:ea typeface="Segoe UI"/>
                <ns11:cs typeface="Segoe UI"/>
              </ns11:defRPr>
            </ns11:pPr>
            <ns11:r>
              <ns11:rPr sz="1050" b="0">
                <ns11:solidFill>
                  <ns11:srgbClr val="566574"/>
                </ns11:solidFill>
                <ns11:latin typeface="Segoe UI"/>
                <ns11:ea typeface="Segoe UI"/>
                <ns11:cs typeface="Segoe UI"/>
              </ns11:rPr>
              <ns11:t>09</ns11:t>
            </ns11:r>
          </ns11:p>
        </p:txBody>
      </p:sp>
    </p:spTree>
    <p:extLst>
      <p:ext uri="{BB962C8B-B14F-4D97-AF65-F5344CB8AC3E}">
        <p14:creationId xmlns:p14="http://schemas.microsoft.com/office/powerpoint/2010/main" val="10644219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6F8D3FC2-7A29-4685-AA02-3C12DCB2E6E4}"/>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7:p xmlns:ns7="http://schemas.openxmlformats.org/drawingml/2006/main">
            <ns7:pPr>
              <ns7:defRPr sz="1200" b="0">
                <ns7:solidFill>
                  <ns7:srgbClr val="566574"/>
                </ns7:solidFill>
                <ns7:latin typeface="Segoe UI"/>
                <ns7:ea typeface="Segoe UI"/>
                <ns7:cs typeface="Segoe UI"/>
              </ns7:defRPr>
            </ns7:pPr>
            <ns7:r>
              <ns7:rPr sz="1200" b="0">
                <ns7:solidFill>
                  <ns7:srgbClr val="566574"/>
                </ns7:solidFill>
                <ns7:latin typeface="Segoe UI"/>
                <ns7:ea typeface="Segoe UI"/>
                <ns7:cs typeface="Segoe UI"/>
              </ns7:rPr>
              <ns7:t>COMM-GROW-A2-W03  ·  Lesson 8</ns7:t>
            </ns7:r>
          </ns7:p>
        </p:txBody>
      </p:sp>
      <p:sp>
        <p:nvSpPr>
          <p:cNvPr id="2" name="edition">
            <a:extLst xmlns:a="http://schemas.openxmlformats.org/drawingml/2006/main">
              <a:ext uri="{FF2B5EF4-FFF2-40B4-BE49-F238E27FC236}">
                <a16:creationId xmlns:a16="http://schemas.microsoft.com/office/drawing/2014/main" id="{86FC3099-5CEE-4373-9571-73C546270A6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8:p xmlns:ns8="http://schemas.openxmlformats.org/drawingml/2006/main">
            <ns8:pPr>
              <ns8:defRPr sz="1050" b="0">
                <ns8:solidFill>
                  <ns8:srgbClr val="566574"/>
                </ns8:solidFill>
                <ns8:latin typeface="Segoe UI"/>
                <ns8:ea typeface="Segoe UI"/>
                <ns8:cs typeface="Segoe UI"/>
              </ns8:defRPr>
            </ns8:pPr>
            <ns8:r>
              <ns8:rPr sz="1050" b="0">
                <ns8:solidFill>
                  <ns8:srgbClr val="566574"/>
                </ns8:solidFill>
                <ns8:latin typeface="Segoe UI"/>
                <ns8:ea typeface="Segoe UI"/>
                <ns8:cs typeface="Segoe UI"/>
              </ns8:rPr>
              <ns8:t>Public edition</ns8:t>
            </ns8:r>
          </ns8:p>
        </p:txBody>
      </p:sp>
      <p:sp>
        <p:nvSpPr>
          <p:cNvPr id="3" name="stage-title">
            <a:extLst xmlns:a="http://schemas.openxmlformats.org/drawingml/2006/main">
              <a:ext uri="{FF2B5EF4-FFF2-40B4-BE49-F238E27FC236}">
                <a16:creationId xmlns:a16="http://schemas.microsoft.com/office/drawing/2014/main" id="{B31C3E97-FDD6-44C4-BB86-9F852B7F3616}"/>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1:p xmlns:ns11="http://schemas.openxmlformats.org/drawingml/2006/main">
            <ns11:pPr>
              <ns11:defRPr sz="3300" b="1">
                <ns11:solidFill>
                  <ns11:srgbClr val="345D70"/>
                </ns11:solidFill>
                <ns11:latin typeface="Segoe UI"/>
                <ns11:ea typeface="Segoe UI"/>
                <ns11:cs typeface="Segoe UI"/>
              </ns11:defRPr>
            </ns11:pPr>
            <ns11:r>
              <ns11:rPr sz="3300" b="1">
                <ns11:solidFill>
                  <ns11:srgbClr val="345D70"/>
                </ns11:solidFill>
                <ns11:latin typeface="Segoe UI"/>
                <ns11:ea typeface="Segoe UI"/>
                <ns11:cs typeface="Segoe UI"/>
              </ns11:rPr>
              <ns11:t>Exit ticket</ns11:t>
            </ns11:r>
          </ns11:p>
        </p:txBody>
      </p:sp>
      <p:sp>
        <p:nvSpPr>
          <p:cNvPr id="4" name="pupil-body">
            <a:extLst xmlns:a="http://schemas.openxmlformats.org/drawingml/2006/main">
              <a:ext uri="{FF2B5EF4-FFF2-40B4-BE49-F238E27FC236}">
                <a16:creationId xmlns:a16="http://schemas.microsoft.com/office/drawing/2014/main" id="{2DDBA7C4-696A-405E-9D8E-4A9D2E8DEA39}"/>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400" b="0">
                <a:solidFill>
                  <a:srgbClr val="192E3B"/>
                </a:solidFill>
                <a:latin typeface="Segoe UI"/>
                <a:ea typeface="Segoe UI"/>
                <a:cs typeface="Segoe UI"/>
              </a:defRPr>
            </a:defPPr>
            <a:lvl1pPr>
              <a:defRPr sz="2400" b="0">
                <a:solidFill>
                  <a:srgbClr val="192E3B"/>
                </a:solidFill>
                <a:latin typeface="Segoe UI"/>
                <a:ea typeface="Segoe UI"/>
                <a:cs typeface="Segoe UI"/>
              </a:defRPr>
            </a:lvl1pPr>
            <a:lvl2pPr>
              <a:defRPr sz="2400" b="0">
                <a:solidFill>
                  <a:srgbClr val="192E3B"/>
                </a:solidFill>
                <a:latin typeface="Segoe UI"/>
                <a:ea typeface="Segoe UI"/>
                <a:cs typeface="Segoe UI"/>
              </a:defRPr>
            </a:lvl2pPr>
            <a:lvl3pPr>
              <a:defRPr sz="2400" b="0">
                <a:solidFill>
                  <a:srgbClr val="192E3B"/>
                </a:solidFill>
                <a:latin typeface="Segoe UI"/>
                <a:ea typeface="Segoe UI"/>
                <a:cs typeface="Segoe UI"/>
              </a:defRPr>
            </a:lvl3pPr>
            <a:lvl4pPr>
              <a:defRPr sz="2400" b="0">
                <a:solidFill>
                  <a:srgbClr val="192E3B"/>
                </a:solidFill>
                <a:latin typeface="Segoe UI"/>
                <a:ea typeface="Segoe UI"/>
                <a:cs typeface="Segoe UI"/>
              </a:defRPr>
            </a:lvl4pPr>
            <a:lvl5pPr>
              <a:defRPr sz="2400" b="0">
                <a:solidFill>
                  <a:srgbClr val="192E3B"/>
                </a:solidFill>
                <a:latin typeface="Segoe UI"/>
                <a:ea typeface="Segoe UI"/>
                <a:cs typeface="Segoe UI"/>
              </a:defRPr>
            </a:lvl5pPr>
            <a:lvl6pPr>
              <a:defRPr sz="2400" b="0">
                <a:solidFill>
                  <a:srgbClr val="192E3B"/>
                </a:solidFill>
                <a:latin typeface="Segoe UI"/>
                <a:ea typeface="Segoe UI"/>
                <a:cs typeface="Segoe UI"/>
              </a:defRPr>
            </a:lvl6pPr>
            <a:lvl7pPr>
              <a:defRPr sz="2400" b="0">
                <a:solidFill>
                  <a:srgbClr val="192E3B"/>
                </a:solidFill>
                <a:latin typeface="Segoe UI"/>
                <a:ea typeface="Segoe UI"/>
                <a:cs typeface="Segoe UI"/>
              </a:defRPr>
            </a:lvl7pPr>
            <a:lvl8pPr>
              <a:defRPr sz="2400" b="0">
                <a:solidFill>
                  <a:srgbClr val="192E3B"/>
                </a:solidFill>
                <a:latin typeface="Segoe UI"/>
                <a:ea typeface="Segoe UI"/>
                <a:cs typeface="Segoe UI"/>
              </a:defRPr>
            </a:lvl8pPr>
            <a:lvl9pPr>
              <a:defRPr sz="2400" b="0">
                <a:solidFill>
                  <a:srgbClr val="192E3B"/>
                </a:solidFill>
                <a:latin typeface="Segoe UI"/>
                <a:ea typeface="Segoe UI"/>
                <a:cs typeface="Segoe UI"/>
              </a:defRPr>
            </a:lvl9pPr>
          </a:lstStyle>
          <ns0:p xmlns:ns0="http://schemas.openxmlformats.org/drawingml/2006/main">
            <ns0:pPr>
              <ns0:defRPr sz="2400" b="0">
                <ns0:solidFill>
                  <ns0:srgbClr val="192E3B"/>
                </ns0:solidFill>
                <ns0:latin typeface="Segoe UI"/>
                <ns0:ea typeface="Segoe UI"/>
                <ns0:cs typeface="Segoe UI"/>
              </ns0:defRPr>
            </ns0:pPr>
            <ns0:r>
              <ns0:rPr sz="2400" b="0">
                <ns0:solidFill>
                  <ns0:srgbClr val="192E3B"/>
                </ns0:solidFill>
                <ns0:latin typeface="Segoe UI"/>
                <ns0:ea typeface="Segoe UI"/>
                <ns0:cs typeface="Segoe UI"/>
              </ns0:rPr>
              <ns0:t>Which job uses a skill you have used in this project?</ns0:t>
            </ns0:r>
          </ns0:p>
          <ns1:p xmlns:ns1="http://schemas.openxmlformats.org/drawingml/2006/main">
            <ns1:pPr>
              <ns1:defRPr sz="2400" b="0">
                <ns1:solidFill>
                  <ns1:srgbClr val="192E3B"/>
                </ns1:solidFill>
                <ns1:latin typeface="Segoe UI"/>
                <ns1:ea typeface="Segoe UI"/>
                <ns1:cs typeface="Segoe UI"/>
              </ns1:defRPr>
            </ns1:pPr>
            <ns1:r>
              <ns1:rPr sz="2400" b="0">
                <ns1:solidFill>
                  <ns1:srgbClr val="192E3B"/>
                </ns1:solidFill>
                <ns1:latin typeface="Segoe UI"/>
                <ns1:ea typeface="Segoe UI"/>
                <ns1:cs typeface="Segoe UI"/>
              </ns1:rPr>
              <ns1:t/>
            </ns1:r>
          </ns1:p>
          <ns2:p xmlns:ns2="http://schemas.openxmlformats.org/drawingml/2006/main">
            <ns2:pPr>
              <ns2:defRPr sz="2400" b="0">
                <ns2:solidFill>
                  <ns2:srgbClr val="192E3B"/>
                </ns2:solidFill>
                <ns2:latin typeface="Segoe UI"/>
                <ns2:ea typeface="Segoe UI"/>
                <ns2:cs typeface="Segoe UI"/>
              </ns2:defRPr>
            </ns2:pPr>
            <ns2:r>
              <ns2:rPr sz="2400" b="0">
                <ns2:solidFill>
                  <ns2:srgbClr val="192E3B"/>
                </ns2:solidFill>
                <ns2:latin typeface="Segoe UI"/>
                <ns2:ea typeface="Segoe UI"/>
                <ns2:cs typeface="Segoe UI"/>
              </ns2:rPr>
              <ns2:t>I used __ when I __.</ns2:t>
            </ns2:r>
          </ns2:p>
          <ns3:p xmlns:ns3="http://schemas.openxmlformats.org/drawingml/2006/main">
            <ns3:pPr>
              <ns3:defRPr sz="2400" b="0">
                <ns3:solidFill>
                  <ns3:srgbClr val="192E3B"/>
                </ns3:solidFill>
                <ns3:latin typeface="Segoe UI"/>
                <ns3:ea typeface="Segoe UI"/>
                <ns3:cs typeface="Segoe UI"/>
              </ns3:defRPr>
            </ns3:pPr>
            <ns3:r>
              <ns3:rPr sz="2400" b="0">
                <ns3:solidFill>
                  <ns3:srgbClr val="192E3B"/>
                </ns3:solidFill>
                <ns3:latin typeface="Segoe UI"/>
                <ns3:ea typeface="Segoe UI"/>
                <ns3:cs typeface="Segoe UI"/>
              </ns3:rPr>
              <ns3:t/>
            </ns3:r>
          </ns3:p>
          <ns4:p xmlns:ns4="http://schemas.openxmlformats.org/drawingml/2006/main">
            <ns4:pPr>
              <ns4:defRPr sz="2400" b="0">
                <ns4:solidFill>
                  <ns4:srgbClr val="192E3B"/>
                </ns4:solidFill>
                <ns4:latin typeface="Segoe UI"/>
                <ns4:ea typeface="Segoe UI"/>
                <ns4:cs typeface="Segoe UI"/>
              </ns4:defRPr>
            </ns4:pPr>
            <ns4:r>
              <ns4:rPr sz="2400" b="0">
                <ns4:solidFill>
                  <ns4:srgbClr val="192E3B"/>
                </ns4:solidFill>
                <ns4:latin typeface="Segoe UI"/>
                <ns4:ea typeface="Segoe UI"/>
                <ns4:cs typeface="Segoe UI"/>
              </ns4:rPr>
              <ns4:t>This links to the job __.</ns4:t>
            </ns4:r>
          </ns4:p>
          <ns5:p xmlns:ns5="http://schemas.openxmlformats.org/drawingml/2006/main">
            <ns5:pPr>
              <ns5:defRPr sz="2400" b="0">
                <ns5:solidFill>
                  <ns5:srgbClr val="192E3B"/>
                </ns5:solidFill>
                <ns5:latin typeface="Segoe UI"/>
                <ns5:ea typeface="Segoe UI"/>
                <ns5:cs typeface="Segoe UI"/>
              </ns5:defRPr>
            </ns5:pPr>
            <ns5:r>
              <ns5:rPr sz="2400" b="0">
                <ns5:solidFill>
                  <ns5:srgbClr val="192E3B"/>
                </ns5:solidFill>
                <ns5:latin typeface="Segoe UI"/>
                <ns5:ea typeface="Segoe UI"/>
                <ns5:cs typeface="Segoe UI"/>
              </ns5:rPr>
              <ns5:t/>
            </ns5:r>
          </ns5:p>
          <ns6:p xmlns:ns6="http://schemas.openxmlformats.org/drawingml/2006/main">
            <ns6:pPr>
              <ns6:defRPr sz="2400" b="0">
                <ns6:solidFill>
                  <ns6:srgbClr val="192E3B"/>
                </ns6:solidFill>
                <ns6:latin typeface="Segoe UI"/>
                <ns6:ea typeface="Segoe UI"/>
                <ns6:cs typeface="Segoe UI"/>
              </ns6:defRPr>
            </ns6:pPr>
            <ns6:r>
              <ns6:rPr sz="2400" b="0">
                <ns6:solidFill>
                  <ns6:srgbClr val="192E3B"/>
                </ns6:solidFill>
                <ns6:latin typeface="Segoe UI"/>
                <ns6:ea typeface="Segoe UI"/>
                <ns6:cs typeface="Segoe UI"/>
              </ns6:rPr>
              <ns6:t>My next practice step is __.</ns6:t>
            </ns6:r>
          </ns6:p>
        </p:txBody>
      </p:sp>
      <p:sp>
        <p:nvSpPr>
          <p:cNvPr id="5" name="credit">
            <a:extLst xmlns:a="http://schemas.openxmlformats.org/drawingml/2006/main">
              <a:ext uri="{FF2B5EF4-FFF2-40B4-BE49-F238E27FC236}">
                <a16:creationId xmlns:a16="http://schemas.microsoft.com/office/drawing/2014/main" id="{6D7E8F75-2156-4B62-BD47-E940AA7E08B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0:p xmlns:ns10="http://schemas.openxmlformats.org/drawingml/2006/main">
            <ns10:pPr>
              <ns10:defRPr sz="788" b="0">
                <ns10:solidFill>
                  <ns10:srgbClr val="566574"/>
                </ns10:solidFill>
                <ns10:latin typeface="Segoe UI"/>
                <ns10:ea typeface="Segoe UI"/>
                <ns10:cs typeface="Segoe UI"/>
              </ns10:defRPr>
            </ns10:pPr>
            <ns10:r>
              <ns10:rPr sz="788" b="0">
                <ns10:solidFill>
                  <ns10:srgbClr val="566574"/>
                </ns10:solidFill>
                <ns10:latin typeface="Segoe UI"/>
                <ns10:ea typeface="Segoe UI"/>
                <ns10:cs typeface="Segoe UI"/>
              </ns10:rPr>
              <ns10:t>Made by Matt · © Matt Roper · CC BY-NC-SA 4.0: free for classroom use, share and adapt with credit, no resale</ns10:t>
            </ns10:r>
          </ns10:p>
        </p:txBody>
      </p:sp>
      <p:sp>
        <p:nvSpPr>
          <p:cNvPr id="6" name="page-number">
            <a:extLst xmlns:a="http://schemas.openxmlformats.org/drawingml/2006/main">
              <a:ext uri="{FF2B5EF4-FFF2-40B4-BE49-F238E27FC236}">
                <a16:creationId xmlns:a16="http://schemas.microsoft.com/office/drawing/2014/main" id="{E8AD49A9-BC58-4846-8899-86BF6962226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9:p xmlns:ns9="http://schemas.openxmlformats.org/drawingml/2006/main">
            <ns9:pPr>
              <ns9:defRPr sz="1050" b="0">
                <ns9:solidFill>
                  <ns9:srgbClr val="566574"/>
                </ns9:solidFill>
                <ns9:latin typeface="Segoe UI"/>
                <ns9:ea typeface="Segoe UI"/>
                <ns9:cs typeface="Segoe UI"/>
              </ns9:defRPr>
            </ns9:pPr>
            <ns9:r>
              <ns9:rPr sz="1050" b="0">
                <ns9:solidFill>
                  <ns9:srgbClr val="566574"/>
                </ns9:solidFill>
                <ns9:latin typeface="Segoe UI"/>
                <ns9:ea typeface="Segoe UI"/>
                <ns9:cs typeface="Segoe UI"/>
              </ns9:rPr>
              <ns9:t>10</ns9:t>
            </ns9:r>
          </ns9:p>
        </p:txBody>
      </p:sp>
    </p:spTree>
    <p:extLst>
      <p:ext uri="{BB962C8B-B14F-4D97-AF65-F5344CB8AC3E}">
        <p14:creationId xmlns:p14="http://schemas.microsoft.com/office/powerpoint/2010/main" val="17990378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code">
            <a:extLst xmlns:a="http://schemas.openxmlformats.org/drawingml/2006/main">
              <a:ext uri="{FF2B5EF4-FFF2-40B4-BE49-F238E27FC236}">
                <a16:creationId xmlns:a16="http://schemas.microsoft.com/office/drawing/2014/main" id="{0680BA48-3AEB-4EE0-8CBD-32190F4133E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0:p xmlns:ns0="http://schemas.openxmlformats.org/drawingml/2006/main">
            <ns0:pPr>
              <ns0:defRPr sz="1200" b="0">
                <ns0:solidFill>
                  <ns0:srgbClr val="566574"/>
                </ns0:solidFill>
                <ns0:latin typeface="Segoe UI"/>
                <ns0:ea typeface="Segoe UI"/>
                <ns0:cs typeface="Segoe UI"/>
              </ns0:defRPr>
            </ns0:pPr>
            <ns0:r>
              <ns0:rPr sz="1200" b="0">
                <ns0:solidFill>
                  <ns0:srgbClr val="566574"/>
                </ns0:solidFill>
                <ns0:latin typeface="Segoe UI"/>
                <ns0:ea typeface="Segoe UI"/>
                <ns0:cs typeface="Segoe UI"/>
              </ns0:rPr>
              <ns0:t>COMM-GROW-A2-W03  ·  Lesson 8</ns0:t>
            </ns0:r>
          </ns0:p>
        </p:txBody>
      </p:sp>
      <p:sp>
        <p:nvSpPr>
          <p:cNvPr id="2" name="edition">
            <a:extLst xmlns:a="http://schemas.openxmlformats.org/drawingml/2006/main">
              <a:ext uri="{FF2B5EF4-FFF2-40B4-BE49-F238E27FC236}">
                <a16:creationId xmlns:a16="http://schemas.microsoft.com/office/drawing/2014/main" id="{CC03158C-E904-4511-BC30-21BF7FE6B6BF}"/>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p xmlns:ns1="http://schemas.openxmlformats.org/drawingml/2006/main">
            <ns1:pPr>
              <ns1:defRPr sz="1050" b="0">
                <ns1:solidFill>
                  <ns1:srgbClr val="566574"/>
                </ns1:solidFill>
                <ns1:latin typeface="Segoe UI"/>
                <ns1:ea typeface="Segoe UI"/>
                <ns1:cs typeface="Segoe UI"/>
              </ns1:defRPr>
            </ns1:pPr>
            <ns1:r>
              <ns1:rPr sz="1050" b="0">
                <ns1:solidFill>
                  <ns1:srgbClr val="566574"/>
                </ns1:solidFill>
                <ns1:latin typeface="Segoe UI"/>
                <ns1:ea typeface="Segoe UI"/>
                <ns1:cs typeface="Segoe UI"/>
              </ns1:rPr>
              <ns1:t>Public edition</ns1:t>
            </ns1:r>
          </ns1:p>
        </p:txBody>
      </p:sp>
      <p:sp>
        <p:nvSpPr>
          <p:cNvPr id="3" name="stage-title">
            <a:extLst xmlns:a="http://schemas.openxmlformats.org/drawingml/2006/main">
              <a:ext uri="{FF2B5EF4-FFF2-40B4-BE49-F238E27FC236}">
                <a16:creationId xmlns:a16="http://schemas.microsoft.com/office/drawing/2014/main" id="{39D1E514-D02A-427D-A171-77449C74B5B0}"/>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4:p xmlns:ns4="http://schemas.openxmlformats.org/drawingml/2006/main">
            <ns4:pPr>
              <ns4:defRPr sz="3300" b="1">
                <ns4:solidFill>
                  <ns4:srgbClr val="345D70"/>
                </ns4:solidFill>
                <ns4:latin typeface="Segoe UI"/>
                <ns4:ea typeface="Segoe UI"/>
                <ns4:cs typeface="Segoe UI"/>
              </ns4:defRPr>
            </ns4:pPr>
            <ns4:r>
              <ns4:rPr sz="3300" b="1">
                <ns4:solidFill>
                  <ns4:srgbClr val="345D70"/>
                </ns4:solidFill>
                <ns4:latin typeface="Segoe UI"/>
                <ns4:ea typeface="Segoe UI"/>
                <ns4:cs typeface="Segoe UI"/>
              </ns4:rPr>
              <ns4:t>Key vocabulary mat</ns4:t>
            </ns4:r>
          </ns4:p>
        </p:txBody>
      </p:sp>
      <p:pic>
        <p:nvPicPr>
          <p:cNvPr id="4" name="picture-cue-1" descr="Flat hand cue for job." title="job">
            <a:extLst xmlns:a="http://schemas.openxmlformats.org/drawingml/2006/main">
              <a:ext uri="{FF2B5EF4-FFF2-40B4-BE49-F238E27FC236}">
                <a16:creationId xmlns:a16="http://schemas.microsoft.com/office/drawing/2014/main" id="{3E0FE664-71BE-4F81-A370-D5BDD071B2FA}"/>
              </a:ext>
            </a:extLst>
          </p:cNvPr>
          <p:cNvPicPr>
            <a:picLocks xmlns:a="http://schemas.openxmlformats.org/drawingml/2006/main" noChangeAspect="1"/>
          </p:cNvPicPr>
          <p:nvPr/>
        </p:nvPicPr>
        <p:blipFill>
          <a:blip xmlns:r="http://schemas.openxmlformats.org/officeDocument/2006/relationships" xmlns:a="http://schemas.openxmlformats.org/drawingml/2006/main" r:embed="Ra524a347ae674527"/>
          <a:stretch xmlns:a="http://schemas.openxmlformats.org/drawingml/2006/main"/>
        </p:blipFill>
        <p:spPr>
          <a:xfrm xmlns:a="http://schemas.openxmlformats.org/drawingml/2006/main">
            <a:off x="533400" y="1504950"/>
            <a:ext cx="457200" cy="457200"/>
          </a:xfrm>
          <a:prstGeom xmlns:a="http://schemas.openxmlformats.org/drawingml/2006/main" prst="rect">
            <a:avLst/>
          </a:prstGeom>
        </p:spPr>
      </p:pic>
      <p:sp>
        <p:nvSpPr>
          <p:cNvPr id="5" name="word-0">
            <a:extLst xmlns:a="http://schemas.openxmlformats.org/drawingml/2006/main">
              <a:ext uri="{FF2B5EF4-FFF2-40B4-BE49-F238E27FC236}">
                <a16:creationId xmlns:a16="http://schemas.microsoft.com/office/drawing/2014/main" id="{8B44405A-4476-445D-A2D1-384985958A6B}"/>
              </a:ext>
            </a:extLst>
          </p:cNvPr>
          <p:cNvSpPr>
            <a:spLocks xmlns:a="http://schemas.openxmlformats.org/drawingml/2006/main" noGrp="1"/>
          </p:cNvSpPr>
          <p:nvPr/>
        </p:nvSpPr>
        <p:spPr>
          <a:xfrm xmlns:a="http://schemas.openxmlformats.org/drawingml/2006/main">
            <a:off x="1162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5:p xmlns:ns5="http://schemas.openxmlformats.org/drawingml/2006/main">
            <ns5:pPr>
              <ns5:defRPr sz="1875" b="1">
                <ns5:solidFill>
                  <ns5:srgbClr val="345D70"/>
                </ns5:solidFill>
                <ns5:latin typeface="Segoe UI"/>
                <ns5:ea typeface="Segoe UI"/>
                <ns5:cs typeface="Segoe UI"/>
              </ns5:defRPr>
            </ns5:pPr>
            <ns5:r>
              <ns5:rPr sz="1875" b="1">
                <ns5:solidFill>
                  <ns5:srgbClr val="345D70"/>
                </ns5:solidFill>
                <ns5:latin typeface="Segoe UI"/>
                <ns5:ea typeface="Segoe UI"/>
                <ns5:cs typeface="Segoe UI"/>
              </ns5:rPr>
              <ns5:t>job</ns5:t>
            </ns5:r>
          </ns5:p>
        </p:txBody>
      </p:sp>
      <p:sp>
        <p:nvSpPr>
          <p:cNvPr id="6" name="definition-0">
            <a:extLst xmlns:a="http://schemas.openxmlformats.org/drawingml/2006/main">
              <a:ext uri="{FF2B5EF4-FFF2-40B4-BE49-F238E27FC236}">
                <a16:creationId xmlns:a16="http://schemas.microsoft.com/office/drawing/2014/main" id="{44E9CDD8-4184-4615-9711-F392805A2B3F}"/>
              </a:ext>
            </a:extLst>
          </p:cNvPr>
          <p:cNvSpPr>
            <a:spLocks xmlns:a="http://schemas.openxmlformats.org/drawingml/2006/main" noGrp="1"/>
          </p:cNvSpPr>
          <p:nvPr/>
        </p:nvSpPr>
        <p:spPr>
          <a:xfrm xmlns:a="http://schemas.openxmlformats.org/drawingml/2006/main">
            <a:off x="1162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6:p xmlns:ns6="http://schemas.openxmlformats.org/drawingml/2006/main">
            <ns6:pPr>
              <ns6:defRPr sz="1800" b="0">
                <ns6:solidFill>
                  <ns6:srgbClr val="192E3B"/>
                </ns6:solidFill>
                <ns6:latin typeface="Segoe UI"/>
                <ns6:ea typeface="Segoe UI"/>
                <ns6:cs typeface="Segoe UI"/>
              </ns6:defRPr>
            </ns6:pPr>
            <ns6:r>
              <ns6:rPr sz="1800" b="0">
                <ns6:solidFill>
                  <ns6:srgbClr val="192E3B"/>
                </ns6:solidFill>
                <ns6:latin typeface="Segoe UI"/>
                <ns6:ea typeface="Segoe UI"/>
                <ns6:cs typeface="Segoe UI"/>
              </ns6:rPr>
              <ns6:t>Work a person does.</ns6:t>
            </ns6:r>
          </ns6:p>
        </p:txBody>
      </p:sp>
      <p:pic>
        <p:nvPicPr>
          <p:cNvPr id="7" name="picture-cue-2" descr="Flat clipboard check cue for task." title="task">
            <a:extLst xmlns:a="http://schemas.openxmlformats.org/drawingml/2006/main">
              <a:ext uri="{FF2B5EF4-FFF2-40B4-BE49-F238E27FC236}">
                <a16:creationId xmlns:a16="http://schemas.microsoft.com/office/drawing/2014/main" id="{3CB89668-C826-4199-B3C2-A51306B49D6F}"/>
              </a:ext>
            </a:extLst>
          </p:cNvPr>
          <p:cNvPicPr>
            <a:picLocks xmlns:a="http://schemas.openxmlformats.org/drawingml/2006/main" noChangeAspect="1"/>
          </p:cNvPicPr>
          <p:nvPr/>
        </p:nvPicPr>
        <p:blipFill>
          <a:blip xmlns:r="http://schemas.openxmlformats.org/officeDocument/2006/relationships" xmlns:a="http://schemas.openxmlformats.org/drawingml/2006/main" r:embed="Rced7992d3541451e"/>
          <a:stretch xmlns:a="http://schemas.openxmlformats.org/drawingml/2006/main"/>
        </p:blipFill>
        <p:spPr>
          <a:xfrm xmlns:a="http://schemas.openxmlformats.org/drawingml/2006/main">
            <a:off x="6248400" y="1504950"/>
            <a:ext cx="457200" cy="457200"/>
          </a:xfrm>
          <a:prstGeom xmlns:a="http://schemas.openxmlformats.org/drawingml/2006/main" prst="rect">
            <a:avLst/>
          </a:prstGeom>
        </p:spPr>
      </p:pic>
      <p:sp>
        <p:nvSpPr>
          <p:cNvPr id="8" name="word-1">
            <a:extLst xmlns:a="http://schemas.openxmlformats.org/drawingml/2006/main">
              <a:ext uri="{FF2B5EF4-FFF2-40B4-BE49-F238E27FC236}">
                <a16:creationId xmlns:a16="http://schemas.microsoft.com/office/drawing/2014/main" id="{3546E402-3135-4CAA-AF04-4265933E5C4B}"/>
              </a:ext>
            </a:extLst>
          </p:cNvPr>
          <p:cNvSpPr>
            <a:spLocks xmlns:a="http://schemas.openxmlformats.org/drawingml/2006/main" noGrp="1"/>
          </p:cNvSpPr>
          <p:nvPr/>
        </p:nvSpPr>
        <p:spPr>
          <a:xfrm xmlns:a="http://schemas.openxmlformats.org/drawingml/2006/main">
            <a:off x="6877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7:p xmlns:ns7="http://schemas.openxmlformats.org/drawingml/2006/main">
            <ns7:pPr>
              <ns7:defRPr sz="1875" b="1">
                <ns7:solidFill>
                  <ns7:srgbClr val="345D70"/>
                </ns7:solidFill>
                <ns7:latin typeface="Segoe UI"/>
                <ns7:ea typeface="Segoe UI"/>
                <ns7:cs typeface="Segoe UI"/>
              </ns7:defRPr>
            </ns7:pPr>
            <ns7:r>
              <ns7:rPr sz="1875" b="1">
                <ns7:solidFill>
                  <ns7:srgbClr val="345D70"/>
                </ns7:solidFill>
                <ns7:latin typeface="Segoe UI"/>
                <ns7:ea typeface="Segoe UI"/>
                <ns7:cs typeface="Segoe UI"/>
              </ns7:rPr>
              <ns7:t>task</ns7:t>
            </ns7:r>
          </ns7:p>
        </p:txBody>
      </p:sp>
      <p:sp>
        <p:nvSpPr>
          <p:cNvPr id="9" name="definition-1">
            <a:extLst xmlns:a="http://schemas.openxmlformats.org/drawingml/2006/main">
              <a:ext uri="{FF2B5EF4-FFF2-40B4-BE49-F238E27FC236}">
                <a16:creationId xmlns:a16="http://schemas.microsoft.com/office/drawing/2014/main" id="{D819ABBC-A6B4-4918-AFFE-FFD1C32EA19B}"/>
              </a:ext>
            </a:extLst>
          </p:cNvPr>
          <p:cNvSpPr>
            <a:spLocks xmlns:a="http://schemas.openxmlformats.org/drawingml/2006/main" noGrp="1"/>
          </p:cNvSpPr>
          <p:nvPr/>
        </p:nvSpPr>
        <p:spPr>
          <a:xfrm xmlns:a="http://schemas.openxmlformats.org/drawingml/2006/main">
            <a:off x="6877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8:p xmlns:ns8="http://schemas.openxmlformats.org/drawingml/2006/main">
            <ns8:pPr>
              <ns8:defRPr sz="1800" b="0">
                <ns8:solidFill>
                  <ns8:srgbClr val="192E3B"/>
                </ns8:solidFill>
                <ns8:latin typeface="Segoe UI"/>
                <ns8:ea typeface="Segoe UI"/>
                <ns8:cs typeface="Segoe UI"/>
              </ns8:defRPr>
            </ns8:pPr>
            <ns8:r>
              <ns8:rPr sz="1800" b="0">
                <ns8:solidFill>
                  <ns8:srgbClr val="192E3B"/>
                </ns8:solidFill>
                <ns8:latin typeface="Segoe UI"/>
                <ns8:ea typeface="Segoe UI"/>
                <ns8:cs typeface="Segoe UI"/>
              </ns8:rPr>
              <ns8:t>One piece of work to do.</ns8:t>
            </ns8:r>
          </ns8:p>
        </p:txBody>
      </p:sp>
      <p:pic>
        <p:nvPicPr>
          <p:cNvPr id="10" name="picture-cue-3" descr="Flat target cue for skill." title="skill">
            <a:extLst xmlns:a="http://schemas.openxmlformats.org/drawingml/2006/main">
              <a:ext uri="{FF2B5EF4-FFF2-40B4-BE49-F238E27FC236}">
                <a16:creationId xmlns:a16="http://schemas.microsoft.com/office/drawing/2014/main" id="{E3AB64FD-500C-4FAA-9E67-B77D37421318}"/>
              </a:ext>
            </a:extLst>
          </p:cNvPr>
          <p:cNvPicPr>
            <a:picLocks xmlns:a="http://schemas.openxmlformats.org/drawingml/2006/main" noChangeAspect="1"/>
          </p:cNvPicPr>
          <p:nvPr/>
        </p:nvPicPr>
        <p:blipFill>
          <a:blip xmlns:r="http://schemas.openxmlformats.org/officeDocument/2006/relationships" xmlns:a="http://schemas.openxmlformats.org/drawingml/2006/main" r:embed="Rd57204122dab4110"/>
          <a:stretch xmlns:a="http://schemas.openxmlformats.org/drawingml/2006/main"/>
        </p:blipFill>
        <p:spPr>
          <a:xfrm xmlns:a="http://schemas.openxmlformats.org/drawingml/2006/main">
            <a:off x="533400" y="2647950"/>
            <a:ext cx="457200" cy="457200"/>
          </a:xfrm>
          <a:prstGeom xmlns:a="http://schemas.openxmlformats.org/drawingml/2006/main" prst="rect">
            <a:avLst/>
          </a:prstGeom>
        </p:spPr>
      </p:pic>
      <p:sp>
        <p:nvSpPr>
          <p:cNvPr id="11" name="word-2">
            <a:extLst xmlns:a="http://schemas.openxmlformats.org/drawingml/2006/main">
              <a:ext uri="{FF2B5EF4-FFF2-40B4-BE49-F238E27FC236}">
                <a16:creationId xmlns:a16="http://schemas.microsoft.com/office/drawing/2014/main" id="{D577F1C3-F8D7-4E4E-9067-43CC57441AE6}"/>
              </a:ext>
            </a:extLst>
          </p:cNvPr>
          <p:cNvSpPr>
            <a:spLocks xmlns:a="http://schemas.openxmlformats.org/drawingml/2006/main" noGrp="1"/>
          </p:cNvSpPr>
          <p:nvPr/>
        </p:nvSpPr>
        <p:spPr>
          <a:xfrm xmlns:a="http://schemas.openxmlformats.org/drawingml/2006/main">
            <a:off x="1162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9:p xmlns:ns9="http://schemas.openxmlformats.org/drawingml/2006/main">
            <ns9:pPr>
              <ns9:defRPr sz="1875" b="1">
                <ns9:solidFill>
                  <ns9:srgbClr val="345D70"/>
                </ns9:solidFill>
                <ns9:latin typeface="Segoe UI"/>
                <ns9:ea typeface="Segoe UI"/>
                <ns9:cs typeface="Segoe UI"/>
              </ns9:defRPr>
            </ns9:pPr>
            <ns9:r>
              <ns9:rPr sz="1875" b="1">
                <ns9:solidFill>
                  <ns9:srgbClr val="345D70"/>
                </ns9:solidFill>
                <ns9:latin typeface="Segoe UI"/>
                <ns9:ea typeface="Segoe UI"/>
                <ns9:cs typeface="Segoe UI"/>
              </ns9:rPr>
              <ns9:t>skill</ns9:t>
            </ns9:r>
          </ns9:p>
        </p:txBody>
      </p:sp>
      <p:sp>
        <p:nvSpPr>
          <p:cNvPr id="12" name="definition-2">
            <a:extLst xmlns:a="http://schemas.openxmlformats.org/drawingml/2006/main">
              <a:ext uri="{FF2B5EF4-FFF2-40B4-BE49-F238E27FC236}">
                <a16:creationId xmlns:a16="http://schemas.microsoft.com/office/drawing/2014/main" id="{A77D7834-DFF6-441A-AD33-794475CDC021}"/>
              </a:ext>
            </a:extLst>
          </p:cNvPr>
          <p:cNvSpPr>
            <a:spLocks xmlns:a="http://schemas.openxmlformats.org/drawingml/2006/main" noGrp="1"/>
          </p:cNvSpPr>
          <p:nvPr/>
        </p:nvSpPr>
        <p:spPr>
          <a:xfrm xmlns:a="http://schemas.openxmlformats.org/drawingml/2006/main">
            <a:off x="1162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0:p xmlns:ns10="http://schemas.openxmlformats.org/drawingml/2006/main">
            <ns10:pPr>
              <ns10:defRPr sz="1800" b="0">
                <ns10:solidFill>
                  <ns10:srgbClr val="192E3B"/>
                </ns10:solidFill>
                <ns10:latin typeface="Segoe UI"/>
                <ns10:ea typeface="Segoe UI"/>
                <ns10:cs typeface="Segoe UI"/>
              </ns10:defRPr>
            </ns10:pPr>
            <ns10:r>
              <ns10:rPr sz="1800" b="0">
                <ns10:solidFill>
                  <ns10:srgbClr val="192E3B"/>
                </ns10:solidFill>
                <ns10:latin typeface="Segoe UI"/>
                <ns10:ea typeface="Segoe UI"/>
                <ns10:cs typeface="Segoe UI"/>
              </ns10:rPr>
              <ns10:t>Something you learn how to do.</ns10:t>
            </ns10:r>
          </ns10:p>
        </p:txBody>
      </p:sp>
      <p:pic>
        <p:nvPicPr>
          <p:cNvPr id="13" name="picture-cue-4" descr="Flat file check cue for proof." title="proof">
            <a:extLst xmlns:a="http://schemas.openxmlformats.org/drawingml/2006/main">
              <a:ext uri="{FF2B5EF4-FFF2-40B4-BE49-F238E27FC236}">
                <a16:creationId xmlns:a16="http://schemas.microsoft.com/office/drawing/2014/main" id="{5258971A-CC2B-4424-860B-5E2D5733DEFC}"/>
              </a:ext>
            </a:extLst>
          </p:cNvPr>
          <p:cNvPicPr>
            <a:picLocks xmlns:a="http://schemas.openxmlformats.org/drawingml/2006/main" noChangeAspect="1"/>
          </p:cNvPicPr>
          <p:nvPr/>
        </p:nvPicPr>
        <p:blipFill>
          <a:blip xmlns:r="http://schemas.openxmlformats.org/officeDocument/2006/relationships" xmlns:a="http://schemas.openxmlformats.org/drawingml/2006/main" r:embed="Re539814f057443c6"/>
          <a:stretch xmlns:a="http://schemas.openxmlformats.org/drawingml/2006/main"/>
        </p:blipFill>
        <p:spPr>
          <a:xfrm xmlns:a="http://schemas.openxmlformats.org/drawingml/2006/main">
            <a:off x="6248400" y="2647950"/>
            <a:ext cx="457200" cy="457200"/>
          </a:xfrm>
          <a:prstGeom xmlns:a="http://schemas.openxmlformats.org/drawingml/2006/main" prst="rect">
            <a:avLst/>
          </a:prstGeom>
        </p:spPr>
      </p:pic>
      <p:sp>
        <p:nvSpPr>
          <p:cNvPr id="14" name="word-3">
            <a:extLst xmlns:a="http://schemas.openxmlformats.org/drawingml/2006/main">
              <a:ext uri="{FF2B5EF4-FFF2-40B4-BE49-F238E27FC236}">
                <a16:creationId xmlns:a16="http://schemas.microsoft.com/office/drawing/2014/main" id="{3EF82CD5-7BDE-4559-92FA-60DFB773ED7A}"/>
              </a:ext>
            </a:extLst>
          </p:cNvPr>
          <p:cNvSpPr>
            <a:spLocks xmlns:a="http://schemas.openxmlformats.org/drawingml/2006/main" noGrp="1"/>
          </p:cNvSpPr>
          <p:nvPr/>
        </p:nvSpPr>
        <p:spPr>
          <a:xfrm xmlns:a="http://schemas.openxmlformats.org/drawingml/2006/main">
            <a:off x="6877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1:p xmlns:ns11="http://schemas.openxmlformats.org/drawingml/2006/main">
            <ns11:pPr>
              <ns11:defRPr sz="1875" b="1">
                <ns11:solidFill>
                  <ns11:srgbClr val="345D70"/>
                </ns11:solidFill>
                <ns11:latin typeface="Segoe UI"/>
                <ns11:ea typeface="Segoe UI"/>
                <ns11:cs typeface="Segoe UI"/>
              </ns11:defRPr>
            </ns11:pPr>
            <ns11:r>
              <ns11:rPr sz="1875" b="1">
                <ns11:solidFill>
                  <ns11:srgbClr val="345D70"/>
                </ns11:solidFill>
                <ns11:latin typeface="Segoe UI"/>
                <ns11:ea typeface="Segoe UI"/>
                <ns11:cs typeface="Segoe UI"/>
              </ns11:rPr>
              <ns11:t>proof</ns11:t>
            </ns11:r>
          </ns11:p>
        </p:txBody>
      </p:sp>
      <p:sp>
        <p:nvSpPr>
          <p:cNvPr id="15" name="definition-3">
            <a:extLst xmlns:a="http://schemas.openxmlformats.org/drawingml/2006/main">
              <a:ext uri="{FF2B5EF4-FFF2-40B4-BE49-F238E27FC236}">
                <a16:creationId xmlns:a16="http://schemas.microsoft.com/office/drawing/2014/main" id="{FFC34263-AE4E-4CD9-804B-5630F41B4727}"/>
              </a:ext>
            </a:extLst>
          </p:cNvPr>
          <p:cNvSpPr>
            <a:spLocks xmlns:a="http://schemas.openxmlformats.org/drawingml/2006/main" noGrp="1"/>
          </p:cNvSpPr>
          <p:nvPr/>
        </p:nvSpPr>
        <p:spPr>
          <a:xfrm xmlns:a="http://schemas.openxmlformats.org/drawingml/2006/main">
            <a:off x="6877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2:p xmlns:ns12="http://schemas.openxmlformats.org/drawingml/2006/main">
            <ns12:pPr>
              <ns12:defRPr sz="1800" b="0">
                <ns12:solidFill>
                  <ns12:srgbClr val="192E3B"/>
                </ns12:solidFill>
                <ns12:latin typeface="Segoe UI"/>
                <ns12:ea typeface="Segoe UI"/>
                <ns12:cs typeface="Segoe UI"/>
              </ns12:defRPr>
            </ns12:pPr>
            <ns12:r>
              <ns12:rPr sz="1800" b="0">
                <ns12:solidFill>
                  <ns12:srgbClr val="192E3B"/>
                </ns12:solidFill>
                <ns12:latin typeface="Segoe UI"/>
                <ns12:ea typeface="Segoe UI"/>
                <ns12:cs typeface="Segoe UI"/>
              </ns12:rPr>
              <ns12:t>Work that shows what you did.</ns12:t>
            </ns12:r>
          </ns12:p>
        </p:txBody>
      </p:sp>
      <p:pic>
        <p:nvPicPr>
          <p:cNvPr id="16" name="picture-cue-5" descr="Flat hand cue for team." title="team">
            <a:extLst xmlns:a="http://schemas.openxmlformats.org/drawingml/2006/main">
              <a:ext uri="{FF2B5EF4-FFF2-40B4-BE49-F238E27FC236}">
                <a16:creationId xmlns:a16="http://schemas.microsoft.com/office/drawing/2014/main" id="{2D1CC118-D26F-4A6D-BF5F-46BA46841981}"/>
              </a:ext>
            </a:extLst>
          </p:cNvPr>
          <p:cNvPicPr>
            <a:picLocks xmlns:a="http://schemas.openxmlformats.org/drawingml/2006/main" noChangeAspect="1"/>
          </p:cNvPicPr>
          <p:nvPr/>
        </p:nvPicPr>
        <p:blipFill>
          <a:blip xmlns:r="http://schemas.openxmlformats.org/officeDocument/2006/relationships" xmlns:a="http://schemas.openxmlformats.org/drawingml/2006/main" r:embed="R19f2b9ae2e2041fa"/>
          <a:stretch xmlns:a="http://schemas.openxmlformats.org/drawingml/2006/main"/>
        </p:blipFill>
        <p:spPr>
          <a:xfrm xmlns:a="http://schemas.openxmlformats.org/drawingml/2006/main">
            <a:off x="533400" y="3790950"/>
            <a:ext cx="457200" cy="457200"/>
          </a:xfrm>
          <a:prstGeom xmlns:a="http://schemas.openxmlformats.org/drawingml/2006/main" prst="rect">
            <a:avLst/>
          </a:prstGeom>
        </p:spPr>
      </p:pic>
      <p:sp>
        <p:nvSpPr>
          <p:cNvPr id="17" name="word-4">
            <a:extLst xmlns:a="http://schemas.openxmlformats.org/drawingml/2006/main">
              <a:ext uri="{FF2B5EF4-FFF2-40B4-BE49-F238E27FC236}">
                <a16:creationId xmlns:a16="http://schemas.microsoft.com/office/drawing/2014/main" id="{A1935756-E83B-491C-AA7E-842252C77BE8}"/>
              </a:ext>
            </a:extLst>
          </p:cNvPr>
          <p:cNvSpPr>
            <a:spLocks xmlns:a="http://schemas.openxmlformats.org/drawingml/2006/main" noGrp="1"/>
          </p:cNvSpPr>
          <p:nvPr/>
        </p:nvSpPr>
        <p:spPr>
          <a:xfrm xmlns:a="http://schemas.openxmlformats.org/drawingml/2006/main">
            <a:off x="1162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3:p xmlns:ns13="http://schemas.openxmlformats.org/drawingml/2006/main">
            <ns13:pPr>
              <ns13:defRPr sz="1875" b="1">
                <ns13:solidFill>
                  <ns13:srgbClr val="345D70"/>
                </ns13:solidFill>
                <ns13:latin typeface="Segoe UI"/>
                <ns13:ea typeface="Segoe UI"/>
                <ns13:cs typeface="Segoe UI"/>
              </ns13:defRPr>
            </ns13:pPr>
            <ns13:r>
              <ns13:rPr sz="1875" b="1">
                <ns13:solidFill>
                  <ns13:srgbClr val="345D70"/>
                </ns13:solidFill>
                <ns13:latin typeface="Segoe UI"/>
                <ns13:ea typeface="Segoe UI"/>
                <ns13:cs typeface="Segoe UI"/>
              </ns13:rPr>
              <ns13:t>team</ns13:t>
            </ns13:r>
          </ns13:p>
        </p:txBody>
      </p:sp>
      <p:sp>
        <p:nvSpPr>
          <p:cNvPr id="18" name="definition-4">
            <a:extLst xmlns:a="http://schemas.openxmlformats.org/drawingml/2006/main">
              <a:ext uri="{FF2B5EF4-FFF2-40B4-BE49-F238E27FC236}">
                <a16:creationId xmlns:a16="http://schemas.microsoft.com/office/drawing/2014/main" id="{DC20ECF5-3051-4AB7-A9BE-CC49C1248A2D}"/>
              </a:ext>
            </a:extLst>
          </p:cNvPr>
          <p:cNvSpPr>
            <a:spLocks xmlns:a="http://schemas.openxmlformats.org/drawingml/2006/main" noGrp="1"/>
          </p:cNvSpPr>
          <p:nvPr/>
        </p:nvSpPr>
        <p:spPr>
          <a:xfrm xmlns:a="http://schemas.openxmlformats.org/drawingml/2006/main">
            <a:off x="1162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4:p xmlns:ns14="http://schemas.openxmlformats.org/drawingml/2006/main">
            <ns14:pPr>
              <ns14:defRPr sz="1800" b="0">
                <ns14:solidFill>
                  <ns14:srgbClr val="192E3B"/>
                </ns14:solidFill>
                <ns14:latin typeface="Segoe UI"/>
                <ns14:ea typeface="Segoe UI"/>
                <ns14:cs typeface="Segoe UI"/>
              </ns14:defRPr>
            </ns14:pPr>
            <ns14:r>
              <ns14:rPr sz="1800" b="0">
                <ns14:solidFill>
                  <ns14:srgbClr val="192E3B"/>
                </ns14:solidFill>
                <ns14:latin typeface="Segoe UI"/>
                <ns14:ea typeface="Segoe UI"/>
                <ns14:cs typeface="Segoe UI"/>
              </ns14:rPr>
              <ns14:t>People who work together.</ns14:t>
            </ns14:r>
          </ns14:p>
        </p:txBody>
      </p:sp>
      <p:pic>
        <p:nvPicPr>
          <p:cNvPr id="19" name="picture-cue-6" descr="Flat list checks cue for detail." title="detail">
            <a:extLst xmlns:a="http://schemas.openxmlformats.org/drawingml/2006/main">
              <a:ext uri="{FF2B5EF4-FFF2-40B4-BE49-F238E27FC236}">
                <a16:creationId xmlns:a16="http://schemas.microsoft.com/office/drawing/2014/main" id="{84190FDF-CECE-4CBF-A3E6-3FE0BC363E12}"/>
              </a:ext>
            </a:extLst>
          </p:cNvPr>
          <p:cNvPicPr>
            <a:picLocks xmlns:a="http://schemas.openxmlformats.org/drawingml/2006/main" noChangeAspect="1"/>
          </p:cNvPicPr>
          <p:nvPr/>
        </p:nvPicPr>
        <p:blipFill>
          <a:blip xmlns:r="http://schemas.openxmlformats.org/officeDocument/2006/relationships" xmlns:a="http://schemas.openxmlformats.org/drawingml/2006/main" r:embed="Rd9e0c911d8a14a09"/>
          <a:stretch xmlns:a="http://schemas.openxmlformats.org/drawingml/2006/main"/>
        </p:blipFill>
        <p:spPr>
          <a:xfrm xmlns:a="http://schemas.openxmlformats.org/drawingml/2006/main">
            <a:off x="6248400" y="3790950"/>
            <a:ext cx="457200" cy="457200"/>
          </a:xfrm>
          <a:prstGeom xmlns:a="http://schemas.openxmlformats.org/drawingml/2006/main" prst="rect">
            <a:avLst/>
          </a:prstGeom>
        </p:spPr>
      </p:pic>
      <p:sp>
        <p:nvSpPr>
          <p:cNvPr id="20" name="word-5">
            <a:extLst xmlns:a="http://schemas.openxmlformats.org/drawingml/2006/main">
              <a:ext uri="{FF2B5EF4-FFF2-40B4-BE49-F238E27FC236}">
                <a16:creationId xmlns:a16="http://schemas.microsoft.com/office/drawing/2014/main" id="{C4987B07-1B32-45EC-BF6F-566CAEB61DBA}"/>
              </a:ext>
            </a:extLst>
          </p:cNvPr>
          <p:cNvSpPr>
            <a:spLocks xmlns:a="http://schemas.openxmlformats.org/drawingml/2006/main" noGrp="1"/>
          </p:cNvSpPr>
          <p:nvPr/>
        </p:nvSpPr>
        <p:spPr>
          <a:xfrm xmlns:a="http://schemas.openxmlformats.org/drawingml/2006/main">
            <a:off x="6877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5:p xmlns:ns15="http://schemas.openxmlformats.org/drawingml/2006/main">
            <ns15:pPr>
              <ns15:defRPr sz="1875" b="1">
                <ns15:solidFill>
                  <ns15:srgbClr val="345D70"/>
                </ns15:solidFill>
                <ns15:latin typeface="Segoe UI"/>
                <ns15:ea typeface="Segoe UI"/>
                <ns15:cs typeface="Segoe UI"/>
              </ns15:defRPr>
            </ns15:pPr>
            <ns15:r>
              <ns15:rPr sz="1875" b="1">
                <ns15:solidFill>
                  <ns15:srgbClr val="345D70"/>
                </ns15:solidFill>
                <ns15:latin typeface="Segoe UI"/>
                <ns15:ea typeface="Segoe UI"/>
                <ns15:cs typeface="Segoe UI"/>
              </ns15:rPr>
              <ns15:t>detail</ns15:t>
            </ns15:r>
          </ns15:p>
        </p:txBody>
      </p:sp>
      <p:sp>
        <p:nvSpPr>
          <p:cNvPr id="21" name="definition-5">
            <a:extLst xmlns:a="http://schemas.openxmlformats.org/drawingml/2006/main">
              <a:ext uri="{FF2B5EF4-FFF2-40B4-BE49-F238E27FC236}">
                <a16:creationId xmlns:a16="http://schemas.microsoft.com/office/drawing/2014/main" id="{3902EEC6-9CEB-4E7A-8733-B00D620CB860}"/>
              </a:ext>
            </a:extLst>
          </p:cNvPr>
          <p:cNvSpPr>
            <a:spLocks xmlns:a="http://schemas.openxmlformats.org/drawingml/2006/main" noGrp="1"/>
          </p:cNvSpPr>
          <p:nvPr/>
        </p:nvSpPr>
        <p:spPr>
          <a:xfrm xmlns:a="http://schemas.openxmlformats.org/drawingml/2006/main">
            <a:off x="6877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6:p xmlns:ns16="http://schemas.openxmlformats.org/drawingml/2006/main">
            <ns16:pPr>
              <ns16:defRPr sz="1800" b="0">
                <ns16:solidFill>
                  <ns16:srgbClr val="192E3B"/>
                </ns16:solidFill>
                <ns16:latin typeface="Segoe UI"/>
                <ns16:ea typeface="Segoe UI"/>
                <ns16:cs typeface="Segoe UI"/>
              </ns16:defRPr>
            </ns16:pPr>
            <ns16:r>
              <ns16:rPr sz="1800" b="0">
                <ns16:solidFill>
                  <ns16:srgbClr val="192E3B"/>
                </ns16:solidFill>
                <ns16:latin typeface="Segoe UI"/>
                <ns16:ea typeface="Segoe UI"/>
                <ns16:cs typeface="Segoe UI"/>
              </ns16:rPr>
              <ns16:t>A small part that may need a check.</ns16:t>
            </ns16:r>
          </ns16:p>
        </p:txBody>
      </p:sp>
      <p:pic>
        <p:nvPicPr>
          <p:cNvPr id="22" name="picture-cue-7" descr="Flat tag cue for profile." title="profile">
            <a:extLst xmlns:a="http://schemas.openxmlformats.org/drawingml/2006/main">
              <a:ext uri="{FF2B5EF4-FFF2-40B4-BE49-F238E27FC236}">
                <a16:creationId xmlns:a16="http://schemas.microsoft.com/office/drawing/2014/main" id="{C8F15AE0-3226-406F-B5C0-DF7C76368630}"/>
              </a:ext>
            </a:extLst>
          </p:cNvPr>
          <p:cNvPicPr>
            <a:picLocks xmlns:a="http://schemas.openxmlformats.org/drawingml/2006/main" noChangeAspect="1"/>
          </p:cNvPicPr>
          <p:nvPr/>
        </p:nvPicPr>
        <p:blipFill>
          <a:blip xmlns:r="http://schemas.openxmlformats.org/officeDocument/2006/relationships" xmlns:a="http://schemas.openxmlformats.org/drawingml/2006/main" r:embed="R203ce88a1cb64dad"/>
          <a:stretch xmlns:a="http://schemas.openxmlformats.org/drawingml/2006/main"/>
        </p:blipFill>
        <p:spPr>
          <a:xfrm xmlns:a="http://schemas.openxmlformats.org/drawingml/2006/main">
            <a:off x="533400" y="4933950"/>
            <a:ext cx="457200" cy="457200"/>
          </a:xfrm>
          <a:prstGeom xmlns:a="http://schemas.openxmlformats.org/drawingml/2006/main" prst="rect">
            <a:avLst/>
          </a:prstGeom>
        </p:spPr>
      </p:pic>
      <p:sp>
        <p:nvSpPr>
          <p:cNvPr id="23" name="word-6">
            <a:extLst xmlns:a="http://schemas.openxmlformats.org/drawingml/2006/main">
              <a:ext uri="{FF2B5EF4-FFF2-40B4-BE49-F238E27FC236}">
                <a16:creationId xmlns:a16="http://schemas.microsoft.com/office/drawing/2014/main" id="{1CC31CF8-6683-4F8A-B74C-C2BF0B001A9A}"/>
              </a:ext>
            </a:extLst>
          </p:cNvPr>
          <p:cNvSpPr>
            <a:spLocks xmlns:a="http://schemas.openxmlformats.org/drawingml/2006/main" noGrp="1"/>
          </p:cNvSpPr>
          <p:nvPr/>
        </p:nvSpPr>
        <p:spPr>
          <a:xfrm xmlns:a="http://schemas.openxmlformats.org/drawingml/2006/main">
            <a:off x="1162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7:p xmlns:ns17="http://schemas.openxmlformats.org/drawingml/2006/main">
            <ns17:pPr>
              <ns17:defRPr sz="1875" b="1">
                <ns17:solidFill>
                  <ns17:srgbClr val="345D70"/>
                </ns17:solidFill>
                <ns17:latin typeface="Segoe UI"/>
                <ns17:ea typeface="Segoe UI"/>
                <ns17:cs typeface="Segoe UI"/>
              </ns17:defRPr>
            </ns17:pPr>
            <ns17:r>
              <ns17:rPr sz="1875" b="1">
                <ns17:solidFill>
                  <ns17:srgbClr val="345D70"/>
                </ns17:solidFill>
                <ns17:latin typeface="Segoe UI"/>
                <ns17:ea typeface="Segoe UI"/>
                <ns17:cs typeface="Segoe UI"/>
              </ns17:rPr>
              <ns17:t>profile</ns17:t>
            </ns17:r>
          </ns17:p>
        </p:txBody>
      </p:sp>
      <p:sp>
        <p:nvSpPr>
          <p:cNvPr id="24" name="definition-6">
            <a:extLst xmlns:a="http://schemas.openxmlformats.org/drawingml/2006/main">
              <a:ext uri="{FF2B5EF4-FFF2-40B4-BE49-F238E27FC236}">
                <a16:creationId xmlns:a16="http://schemas.microsoft.com/office/drawing/2014/main" id="{FC46D56F-35AA-4F95-97FD-CA93F88E39BE}"/>
              </a:ext>
            </a:extLst>
          </p:cNvPr>
          <p:cNvSpPr>
            <a:spLocks xmlns:a="http://schemas.openxmlformats.org/drawingml/2006/main" noGrp="1"/>
          </p:cNvSpPr>
          <p:nvPr/>
        </p:nvSpPr>
        <p:spPr>
          <a:xfrm xmlns:a="http://schemas.openxmlformats.org/drawingml/2006/main">
            <a:off x="1162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defRPr sz="1800" b="0">
                <a:solidFill>
                  <a:srgbClr val="192E3B"/>
                </a:solidFill>
                <a:latin typeface="Segoe UI"/>
                <a:ea typeface="Segoe UI"/>
                <a:cs typeface="Segoe UI"/>
              </a:defRPr>
            </a:lvl1pPr>
            <a:lvl2pPr>
              <a:defRPr sz="1800" b="0">
                <a:solidFill>
                  <a:srgbClr val="192E3B"/>
                </a:solidFill>
                <a:latin typeface="Segoe UI"/>
                <a:ea typeface="Segoe UI"/>
                <a:cs typeface="Segoe UI"/>
              </a:defRPr>
            </a:lvl2pPr>
            <a:lvl3pPr>
              <a:defRPr sz="1800" b="0">
                <a:solidFill>
                  <a:srgbClr val="192E3B"/>
                </a:solidFill>
                <a:latin typeface="Segoe UI"/>
                <a:ea typeface="Segoe UI"/>
                <a:cs typeface="Segoe UI"/>
              </a:defRPr>
            </a:lvl3pPr>
            <a:lvl4pPr>
              <a:defRPr sz="1800" b="0">
                <a:solidFill>
                  <a:srgbClr val="192E3B"/>
                </a:solidFill>
                <a:latin typeface="Segoe UI"/>
                <a:ea typeface="Segoe UI"/>
                <a:cs typeface="Segoe UI"/>
              </a:defRPr>
            </a:lvl4pPr>
            <a:lvl5pPr>
              <a:defRPr sz="1800" b="0">
                <a:solidFill>
                  <a:srgbClr val="192E3B"/>
                </a:solidFill>
                <a:latin typeface="Segoe UI"/>
                <a:ea typeface="Segoe UI"/>
                <a:cs typeface="Segoe UI"/>
              </a:defRPr>
            </a:lvl5pPr>
            <a:lvl6pPr>
              <a:defRPr sz="1800" b="0">
                <a:solidFill>
                  <a:srgbClr val="192E3B"/>
                </a:solidFill>
                <a:latin typeface="Segoe UI"/>
                <a:ea typeface="Segoe UI"/>
                <a:cs typeface="Segoe UI"/>
              </a:defRPr>
            </a:lvl6pPr>
            <a:lvl7pPr>
              <a:defRPr sz="1800" b="0">
                <a:solidFill>
                  <a:srgbClr val="192E3B"/>
                </a:solidFill>
                <a:latin typeface="Segoe UI"/>
                <a:ea typeface="Segoe UI"/>
                <a:cs typeface="Segoe UI"/>
              </a:defRPr>
            </a:lvl7pPr>
            <a:lvl8pPr>
              <a:defRPr sz="1800" b="0">
                <a:solidFill>
                  <a:srgbClr val="192E3B"/>
                </a:solidFill>
                <a:latin typeface="Segoe UI"/>
                <a:ea typeface="Segoe UI"/>
                <a:cs typeface="Segoe UI"/>
              </a:defRPr>
            </a:lvl8pPr>
            <a:lvl9pPr>
              <a:defRPr sz="1800" b="0">
                <a:solidFill>
                  <a:srgbClr val="192E3B"/>
                </a:solidFill>
                <a:latin typeface="Segoe UI"/>
                <a:ea typeface="Segoe UI"/>
                <a:cs typeface="Segoe UI"/>
              </a:defRPr>
            </a:lvl9pPr>
          </a:lstStyle>
          <ns18:p xmlns:ns18="http://schemas.openxmlformats.org/drawingml/2006/main">
            <ns18:pPr>
              <ns18:defRPr sz="1800" b="0">
                <ns18:solidFill>
                  <ns18:srgbClr val="192E3B"/>
                </ns18:solidFill>
                <ns18:latin typeface="Segoe UI"/>
                <ns18:ea typeface="Segoe UI"/>
                <ns18:cs typeface="Segoe UI"/>
              </ns18:defRPr>
            </ns18:pPr>
            <ns18:r>
              <ns18:rPr sz="1800" b="0">
                <ns18:solidFill>
                  <ns18:srgbClr val="192E3B"/>
                </ns18:solidFill>
                <ns18:latin typeface="Segoe UI"/>
                <ns18:ea typeface="Segoe UI"/>
                <ns18:cs typeface="Segoe UI"/>
              </ns18:rPr>
              <ns18:t>Short facts about one job.</ns18:t>
            </ns18:r>
          </ns18:p>
        </p:txBody>
      </p:sp>
      <p:pic>
        <p:nvPicPr>
          <p:cNvPr id="25" name="picture-cue-8" descr="Flat target cue for next step." title="next step">
            <a:extLst xmlns:a="http://schemas.openxmlformats.org/drawingml/2006/main">
              <a:ext uri="{FF2B5EF4-FFF2-40B4-BE49-F238E27FC236}">
                <a16:creationId xmlns:a16="http://schemas.microsoft.com/office/drawing/2014/main" id="{578F5F33-D35A-4A2A-B352-4CF3C62EC60D}"/>
              </a:ext>
            </a:extLst>
          </p:cNvPr>
          <p:cNvPicPr>
            <a:picLocks xmlns:a="http://schemas.openxmlformats.org/drawingml/2006/main" noChangeAspect="1"/>
          </p:cNvPicPr>
          <p:nvPr/>
        </p:nvPicPr>
        <p:blipFill>
          <a:blip xmlns:r="http://schemas.openxmlformats.org/officeDocument/2006/relationships" xmlns:a="http://schemas.openxmlformats.org/drawingml/2006/main" r:embed="R5dd78c7271b243a9"/>
          <a:stretch xmlns:a="http://schemas.openxmlformats.org/drawingml/2006/main"/>
        </p:blipFill>
        <p:spPr>
          <a:xfrm xmlns:a="http://schemas.openxmlformats.org/drawingml/2006/main">
            <a:off x="6248400" y="4933950"/>
            <a:ext cx="457200" cy="457200"/>
          </a:xfrm>
          <a:prstGeom xmlns:a="http://schemas.openxmlformats.org/drawingml/2006/main" prst="rect">
            <a:avLst/>
          </a:prstGeom>
        </p:spPr>
      </p:pic>
      <p:sp>
        <p:nvSpPr>
          <p:cNvPr id="26" name="word-7">
            <a:extLst xmlns:a="http://schemas.openxmlformats.org/drawingml/2006/main">
              <a:ext uri="{FF2B5EF4-FFF2-40B4-BE49-F238E27FC236}">
                <a16:creationId xmlns:a16="http://schemas.microsoft.com/office/drawing/2014/main" id="{16093ADE-531E-4B49-B9EE-86B2B2A85D9B}"/>
              </a:ext>
            </a:extLst>
          </p:cNvPr>
          <p:cNvSpPr>
            <a:spLocks xmlns:a="http://schemas.openxmlformats.org/drawingml/2006/main" noGrp="1"/>
          </p:cNvSpPr>
          <p:nvPr/>
        </p:nvSpPr>
        <p:spPr>
          <a:xfrm xmlns:a="http://schemas.openxmlformats.org/drawingml/2006/main">
            <a:off x="6877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defRPr sz="1875" b="1">
                <a:solidFill>
                  <a:srgbClr val="345D70"/>
                </a:solidFill>
                <a:latin typeface="Segoe UI"/>
                <a:ea typeface="Segoe UI"/>
                <a:cs typeface="Segoe UI"/>
              </a:defRPr>
            </a:lvl1pPr>
            <a:lvl2pPr>
              <a:defRPr sz="1875" b="1">
                <a:solidFill>
                  <a:srgbClr val="345D70"/>
                </a:solidFill>
                <a:latin typeface="Segoe UI"/>
                <a:ea typeface="Segoe UI"/>
                <a:cs typeface="Segoe UI"/>
              </a:defRPr>
            </a:lvl2pPr>
            <a:lvl3pPr>
              <a:defRPr sz="1875" b="1">
                <a:solidFill>
                  <a:srgbClr val="345D70"/>
                </a:solidFill>
                <a:latin typeface="Segoe UI"/>
                <a:ea typeface="Segoe UI"/>
                <a:cs typeface="Segoe UI"/>
              </a:defRPr>
            </a:lvl3pPr>
            <a:lvl4pPr>
              <a:defRPr sz="1875" b="1">
                <a:solidFill>
                  <a:srgbClr val="345D70"/>
                </a:solidFill>
                <a:latin typeface="Segoe UI"/>
                <a:ea typeface="Segoe UI"/>
                <a:cs typeface="Segoe UI"/>
              </a:defRPr>
            </a:lvl4pPr>
            <a:lvl5pPr>
              <a:defRPr sz="1875" b="1">
                <a:solidFill>
                  <a:srgbClr val="345D70"/>
                </a:solidFill>
                <a:latin typeface="Segoe UI"/>
                <a:ea typeface="Segoe UI"/>
                <a:cs typeface="Segoe UI"/>
              </a:defRPr>
            </a:lvl5pPr>
            <a:lvl6pPr>
              <a:defRPr sz="1875" b="1">
                <a:solidFill>
                  <a:srgbClr val="345D70"/>
                </a:solidFill>
                <a:latin typeface="Segoe UI"/>
                <a:ea typeface="Segoe UI"/>
                <a:cs typeface="Segoe UI"/>
              </a:defRPr>
            </a:lvl6pPr>
            <a:lvl7pPr>
              <a:defRPr sz="1875" b="1">
                <a:solidFill>
                  <a:srgbClr val="345D70"/>
                </a:solidFill>
                <a:latin typeface="Segoe UI"/>
                <a:ea typeface="Segoe UI"/>
                <a:cs typeface="Segoe UI"/>
              </a:defRPr>
            </a:lvl7pPr>
            <a:lvl8pPr>
              <a:defRPr sz="1875" b="1">
                <a:solidFill>
                  <a:srgbClr val="345D70"/>
                </a:solidFill>
                <a:latin typeface="Segoe UI"/>
                <a:ea typeface="Segoe UI"/>
                <a:cs typeface="Segoe UI"/>
              </a:defRPr>
            </a:lvl8pPr>
            <a:lvl9pPr>
              <a:defRPr sz="1875" b="1">
                <a:solidFill>
                  <a:srgbClr val="345D70"/>
                </a:solidFill>
                <a:latin typeface="Segoe UI"/>
                <a:ea typeface="Segoe UI"/>
                <a:cs typeface="Segoe UI"/>
              </a:defRPr>
            </a:lvl9pPr>
          </a:lstStyle>
          <ns19:p xmlns:ns19="http://schemas.openxmlformats.org/drawingml/2006/main">
            <ns19:pPr>
              <ns19:defRPr sz="1875" b="1">
                <ns19:solidFill>
                  <ns19:srgbClr val="345D70"/>
                </ns19:solidFill>
                <ns19:latin typeface="Segoe UI"/>
                <ns19:ea typeface="Segoe UI"/>
                <ns19:cs typeface="Segoe UI"/>
              </ns19:defRPr>
            </ns19:pPr>
            <ns19:r>
              <ns19:rPr sz="1875" b="1">
                <ns19:solidFill>
                  <ns19:srgbClr val="345D70"/>
                </ns19:solidFill>
                <ns19:latin typeface="Segoe UI"/>
                <ns19:ea typeface="Segoe UI"/>
                <ns19:cs typeface="Segoe UI"/>
              </ns19:rPr>
              <ns19:t>next step</ns19:t>
            </ns19:r>
          </ns19:p>
        </p:txBody>
      </p:sp>
      <p:sp>
        <p:nvSpPr>
          <p:cNvPr id="27" name="definition-7">
            <a:extLst xmlns:a="http://schemas.openxmlformats.org/drawingml/2006/main">
              <a:ext uri="{FF2B5EF4-FFF2-40B4-BE49-F238E27FC236}">
                <a16:creationId xmlns:a16="http://schemas.microsoft.com/office/drawing/2014/main" id="{F478B5FF-CB65-440A-AF9D-852E168E8A3C}"/>
              </a:ext>
            </a:extLst>
          </p:cNvPr>
          <p:cNvSpPr>
            <a:spLocks xmlns:a="http://schemas.openxmlformats.org/drawingml/2006/main" noGrp="1"/>
          </p:cNvSpPr>
          <p:nvPr/>
        </p:nvSpPr>
        <p:spPr>
          <a:xfrm xmlns:a="http://schemas.openxmlformats.org/drawingml/2006/main">
            <a:off x="6877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500" b="0">
                <a:solidFill>
                  <a:srgbClr val="192E3B"/>
                </a:solidFill>
                <a:latin typeface="Segoe UI"/>
                <a:ea typeface="Segoe UI"/>
                <a:cs typeface="Segoe UI"/>
              </a:defRPr>
            </a:defPPr>
            <a:lvl1pPr>
              <a:defRPr sz="1500" b="0">
                <a:solidFill>
                  <a:srgbClr val="192E3B"/>
                </a:solidFill>
                <a:latin typeface="Segoe UI"/>
                <a:ea typeface="Segoe UI"/>
                <a:cs typeface="Segoe UI"/>
              </a:defRPr>
            </a:lvl1pPr>
            <a:lvl2pPr>
              <a:defRPr sz="1500" b="0">
                <a:solidFill>
                  <a:srgbClr val="192E3B"/>
                </a:solidFill>
                <a:latin typeface="Segoe UI"/>
                <a:ea typeface="Segoe UI"/>
                <a:cs typeface="Segoe UI"/>
              </a:defRPr>
            </a:lvl2pPr>
            <a:lvl3pPr>
              <a:defRPr sz="1500" b="0">
                <a:solidFill>
                  <a:srgbClr val="192E3B"/>
                </a:solidFill>
                <a:latin typeface="Segoe UI"/>
                <a:ea typeface="Segoe UI"/>
                <a:cs typeface="Segoe UI"/>
              </a:defRPr>
            </a:lvl3pPr>
            <a:lvl4pPr>
              <a:defRPr sz="1500" b="0">
                <a:solidFill>
                  <a:srgbClr val="192E3B"/>
                </a:solidFill>
                <a:latin typeface="Segoe UI"/>
                <a:ea typeface="Segoe UI"/>
                <a:cs typeface="Segoe UI"/>
              </a:defRPr>
            </a:lvl4pPr>
            <a:lvl5pPr>
              <a:defRPr sz="1500" b="0">
                <a:solidFill>
                  <a:srgbClr val="192E3B"/>
                </a:solidFill>
                <a:latin typeface="Segoe UI"/>
                <a:ea typeface="Segoe UI"/>
                <a:cs typeface="Segoe UI"/>
              </a:defRPr>
            </a:lvl5pPr>
            <a:lvl6pPr>
              <a:defRPr sz="1500" b="0">
                <a:solidFill>
                  <a:srgbClr val="192E3B"/>
                </a:solidFill>
                <a:latin typeface="Segoe UI"/>
                <a:ea typeface="Segoe UI"/>
                <a:cs typeface="Segoe UI"/>
              </a:defRPr>
            </a:lvl6pPr>
            <a:lvl7pPr>
              <a:defRPr sz="1500" b="0">
                <a:solidFill>
                  <a:srgbClr val="192E3B"/>
                </a:solidFill>
                <a:latin typeface="Segoe UI"/>
                <a:ea typeface="Segoe UI"/>
                <a:cs typeface="Segoe UI"/>
              </a:defRPr>
            </a:lvl7pPr>
            <a:lvl8pPr>
              <a:defRPr sz="1500" b="0">
                <a:solidFill>
                  <a:srgbClr val="192E3B"/>
                </a:solidFill>
                <a:latin typeface="Segoe UI"/>
                <a:ea typeface="Segoe UI"/>
                <a:cs typeface="Segoe UI"/>
              </a:defRPr>
            </a:lvl8pPr>
            <a:lvl9pPr>
              <a:defRPr sz="1500" b="0">
                <a:solidFill>
                  <a:srgbClr val="192E3B"/>
                </a:solidFill>
                <a:latin typeface="Segoe UI"/>
                <a:ea typeface="Segoe UI"/>
                <a:cs typeface="Segoe UI"/>
              </a:defRPr>
            </a:lvl9pPr>
          </a:lstStyle>
          <ns20:p xmlns:ns20="http://schemas.openxmlformats.org/drawingml/2006/main">
            <ns20:pPr>
              <ns20:defRPr sz="1500" b="0">
                <ns20:solidFill>
                  <ns20:srgbClr val="192E3B"/>
                </ns20:solidFill>
                <ns20:latin typeface="Segoe UI"/>
                <ns20:ea typeface="Segoe UI"/>
                <ns20:cs typeface="Segoe UI"/>
              </ns20:defRPr>
            </ns20:pPr>
            <ns20:r>
              <ns20:rPr sz="1500" b="0">
                <ns20:solidFill>
                  <ns20:srgbClr val="192E3B"/>
                </ns20:solidFill>
                <ns20:latin typeface="Segoe UI"/>
                <ns20:ea typeface="Segoe UI"/>
                <ns20:cs typeface="Segoe UI"/>
              </ns20:rPr>
              <ns20:t>One thing you will try or learn.</ns20:t>
            </ns20:r>
          </ns20:p>
        </p:txBody>
      </p:sp>
      <p:sp>
        <p:nvSpPr>
          <p:cNvPr id="28" name="credit">
            <a:extLst xmlns:a="http://schemas.openxmlformats.org/drawingml/2006/main">
              <a:ext uri="{FF2B5EF4-FFF2-40B4-BE49-F238E27FC236}">
                <a16:creationId xmlns:a16="http://schemas.microsoft.com/office/drawing/2014/main" id="{C713B5BB-BBCB-404C-8749-28FA190D2837}"/>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3:p xmlns:ns3="http://schemas.openxmlformats.org/drawingml/2006/main">
            <ns3:pPr>
              <ns3:defRPr sz="788" b="0">
                <ns3:solidFill>
                  <ns3:srgbClr val="566574"/>
                </ns3:solidFill>
                <ns3:latin typeface="Segoe UI"/>
                <ns3:ea typeface="Segoe UI"/>
                <ns3:cs typeface="Segoe UI"/>
              </ns3:defRPr>
            </ns3:pPr>
            <ns3:r>
              <ns3:rPr sz="788" b="0">
                <ns3:solidFill>
                  <ns3:srgbClr val="566574"/>
                </ns3:solidFill>
                <ns3:latin typeface="Segoe UI"/>
                <ns3:ea typeface="Segoe UI"/>
                <ns3:cs typeface="Segoe UI"/>
              </ns3:rPr>
              <ns3:t>Made by Matt · © Matt Roper · CC BY-NC-SA 4.0: free for classroom use, share and adapt with credit, no resale</ns3:t>
            </ns3:r>
          </ns3:p>
        </p:txBody>
      </p:sp>
      <p:sp>
        <p:nvSpPr>
          <p:cNvPr id="29" name="page-number">
            <a:extLst xmlns:a="http://schemas.openxmlformats.org/drawingml/2006/main">
              <a:ext uri="{FF2B5EF4-FFF2-40B4-BE49-F238E27FC236}">
                <a16:creationId xmlns:a16="http://schemas.microsoft.com/office/drawing/2014/main" id="{007B73D0-2718-4AF9-AA28-A4F4563E188A}"/>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2:p xmlns:ns2="http://schemas.openxmlformats.org/drawingml/2006/main">
            <ns2:pPr>
              <ns2:defRPr sz="1050" b="0">
                <ns2:solidFill>
                  <ns2:srgbClr val="566574"/>
                </ns2:solidFill>
                <ns2:latin typeface="Segoe UI"/>
                <ns2:ea typeface="Segoe UI"/>
                <ns2:cs typeface="Segoe UI"/>
              </ns2:defRPr>
            </ns2:pPr>
            <ns2:r>
              <ns2:rPr sz="1050" b="0">
                <ns2:solidFill>
                  <ns2:srgbClr val="566574"/>
                </ns2:solidFill>
                <ns2:latin typeface="Segoe UI"/>
                <ns2:ea typeface="Segoe UI"/>
                <ns2:cs typeface="Segoe UI"/>
              </ns2:rPr>
              <ns2:t>11</ns2:t>
            </ns2:r>
          </ns2:p>
        </p:txBody>
      </p:sp>
    </p:spTree>
    <p:extLst>
      <p:ext uri="{BB962C8B-B14F-4D97-AF65-F5344CB8AC3E}">
        <p14:creationId xmlns:p14="http://schemas.microsoft.com/office/powerpoint/2010/main" val="1579991060"/>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sson-code">
            <a:extLst xmlns:a="http://schemas.openxmlformats.org/drawingml/2006/main">
              <a:ext uri="{FF2B5EF4-FFF2-40B4-BE49-F238E27FC236}">
                <a16:creationId xmlns:a16="http://schemas.microsoft.com/office/drawing/2014/main" id="{7AC396FD-EF18-4B48-A678-18CFBB46BBA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defRPr sz="1200" b="0">
                <a:solidFill>
                  <a:srgbClr val="566574"/>
                </a:solidFill>
                <a:latin typeface="Segoe UI"/>
                <a:ea typeface="Segoe UI"/>
                <a:cs typeface="Segoe UI"/>
              </a:defRPr>
            </a:lvl1pPr>
            <a:lvl2pPr>
              <a:defRPr sz="1200" b="0">
                <a:solidFill>
                  <a:srgbClr val="566574"/>
                </a:solidFill>
                <a:latin typeface="Segoe UI"/>
                <a:ea typeface="Segoe UI"/>
                <a:cs typeface="Segoe UI"/>
              </a:defRPr>
            </a:lvl2pPr>
            <a:lvl3pPr>
              <a:defRPr sz="1200" b="0">
                <a:solidFill>
                  <a:srgbClr val="566574"/>
                </a:solidFill>
                <a:latin typeface="Segoe UI"/>
                <a:ea typeface="Segoe UI"/>
                <a:cs typeface="Segoe UI"/>
              </a:defRPr>
            </a:lvl3pPr>
            <a:lvl4pPr>
              <a:defRPr sz="1200" b="0">
                <a:solidFill>
                  <a:srgbClr val="566574"/>
                </a:solidFill>
                <a:latin typeface="Segoe UI"/>
                <a:ea typeface="Segoe UI"/>
                <a:cs typeface="Segoe UI"/>
              </a:defRPr>
            </a:lvl4pPr>
            <a:lvl5pPr>
              <a:defRPr sz="1200" b="0">
                <a:solidFill>
                  <a:srgbClr val="566574"/>
                </a:solidFill>
                <a:latin typeface="Segoe UI"/>
                <a:ea typeface="Segoe UI"/>
                <a:cs typeface="Segoe UI"/>
              </a:defRPr>
            </a:lvl5pPr>
            <a:lvl6pPr>
              <a:defRPr sz="1200" b="0">
                <a:solidFill>
                  <a:srgbClr val="566574"/>
                </a:solidFill>
                <a:latin typeface="Segoe UI"/>
                <a:ea typeface="Segoe UI"/>
                <a:cs typeface="Segoe UI"/>
              </a:defRPr>
            </a:lvl6pPr>
            <a:lvl7pPr>
              <a:defRPr sz="1200" b="0">
                <a:solidFill>
                  <a:srgbClr val="566574"/>
                </a:solidFill>
                <a:latin typeface="Segoe UI"/>
                <a:ea typeface="Segoe UI"/>
                <a:cs typeface="Segoe UI"/>
              </a:defRPr>
            </a:lvl7pPr>
            <a:lvl8pPr>
              <a:defRPr sz="1200" b="0">
                <a:solidFill>
                  <a:srgbClr val="566574"/>
                </a:solidFill>
                <a:latin typeface="Segoe UI"/>
                <a:ea typeface="Segoe UI"/>
                <a:cs typeface="Segoe UI"/>
              </a:defRPr>
            </a:lvl8pPr>
            <a:lvl9pPr>
              <a:defRPr sz="1200" b="0">
                <a:solidFill>
                  <a:srgbClr val="566574"/>
                </a:solidFill>
                <a:latin typeface="Segoe UI"/>
                <a:ea typeface="Segoe UI"/>
                <a:cs typeface="Segoe UI"/>
              </a:defRPr>
            </a:lvl9pPr>
          </a:lstStyle>
          <ns11:p xmlns:ns11="http://schemas.openxmlformats.org/drawingml/2006/main">
            <ns11:pPr>
              <ns11:defRPr sz="1200" b="0">
                <ns11:solidFill>
                  <ns11:srgbClr val="566574"/>
                </ns11:solidFill>
                <ns11:latin typeface="Segoe UI"/>
                <ns11:ea typeface="Segoe UI"/>
                <ns11:cs typeface="Segoe UI"/>
              </ns11:defRPr>
            </ns11:pPr>
            <ns11:r>
              <ns11:rPr sz="1200" b="0">
                <ns11:solidFill>
                  <ns11:srgbClr val="566574"/>
                </ns11:solidFill>
                <ns11:latin typeface="Segoe UI"/>
                <ns11:ea typeface="Segoe UI"/>
                <ns11:cs typeface="Segoe UI"/>
              </ns11:rPr>
              <ns11:t>COMM-GROW-A2-W03  ·  Lesson 8</ns11:t>
            </ns11:r>
          </ns11:p>
        </p:txBody>
      </p:sp>
      <p:sp>
        <p:nvSpPr>
          <p:cNvPr id="2" name="edition">
            <a:extLst xmlns:a="http://schemas.openxmlformats.org/drawingml/2006/main">
              <a:ext uri="{FF2B5EF4-FFF2-40B4-BE49-F238E27FC236}">
                <a16:creationId xmlns:a16="http://schemas.microsoft.com/office/drawing/2014/main" id="{62D2C575-8261-4E86-BD77-097D3831354C}"/>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2:p xmlns:ns12="http://schemas.openxmlformats.org/drawingml/2006/main">
            <ns12:pPr>
              <ns12:defRPr sz="1050" b="0">
                <ns12:solidFill>
                  <ns12:srgbClr val="566574"/>
                </ns12:solidFill>
                <ns12:latin typeface="Segoe UI"/>
                <ns12:ea typeface="Segoe UI"/>
                <ns12:cs typeface="Segoe UI"/>
              </ns12:defRPr>
            </ns12:pPr>
            <ns12:r>
              <ns12:rPr sz="1050" b="0">
                <ns12:solidFill>
                  <ns12:srgbClr val="566574"/>
                </ns12:solidFill>
                <ns12:latin typeface="Segoe UI"/>
                <ns12:ea typeface="Segoe UI"/>
                <ns12:cs typeface="Segoe UI"/>
              </ns12:rPr>
              <ns12:t>Public edition</ns12:t>
            </ns12:r>
          </ns12:p>
        </p:txBody>
      </p:sp>
      <p:sp>
        <p:nvSpPr>
          <p:cNvPr id="3" name="stage-title">
            <a:extLst xmlns:a="http://schemas.openxmlformats.org/drawingml/2006/main">
              <a:ext uri="{FF2B5EF4-FFF2-40B4-BE49-F238E27FC236}">
                <a16:creationId xmlns:a16="http://schemas.microsoft.com/office/drawing/2014/main" id="{03012EEC-1802-4BA0-BAE2-F94034B978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defRPr sz="3300" b="1">
                <a:solidFill>
                  <a:srgbClr val="345D70"/>
                </a:solidFill>
                <a:latin typeface="Segoe UI"/>
                <a:ea typeface="Segoe UI"/>
                <a:cs typeface="Segoe UI"/>
              </a:defRPr>
            </a:lvl1pPr>
            <a:lvl2pPr>
              <a:defRPr sz="3300" b="1">
                <a:solidFill>
                  <a:srgbClr val="345D70"/>
                </a:solidFill>
                <a:latin typeface="Segoe UI"/>
                <a:ea typeface="Segoe UI"/>
                <a:cs typeface="Segoe UI"/>
              </a:defRPr>
            </a:lvl2pPr>
            <a:lvl3pPr>
              <a:defRPr sz="3300" b="1">
                <a:solidFill>
                  <a:srgbClr val="345D70"/>
                </a:solidFill>
                <a:latin typeface="Segoe UI"/>
                <a:ea typeface="Segoe UI"/>
                <a:cs typeface="Segoe UI"/>
              </a:defRPr>
            </a:lvl3pPr>
            <a:lvl4pPr>
              <a:defRPr sz="3300" b="1">
                <a:solidFill>
                  <a:srgbClr val="345D70"/>
                </a:solidFill>
                <a:latin typeface="Segoe UI"/>
                <a:ea typeface="Segoe UI"/>
                <a:cs typeface="Segoe UI"/>
              </a:defRPr>
            </a:lvl4pPr>
            <a:lvl5pPr>
              <a:defRPr sz="3300" b="1">
                <a:solidFill>
                  <a:srgbClr val="345D70"/>
                </a:solidFill>
                <a:latin typeface="Segoe UI"/>
                <a:ea typeface="Segoe UI"/>
                <a:cs typeface="Segoe UI"/>
              </a:defRPr>
            </a:lvl5pPr>
            <a:lvl6pPr>
              <a:defRPr sz="3300" b="1">
                <a:solidFill>
                  <a:srgbClr val="345D70"/>
                </a:solidFill>
                <a:latin typeface="Segoe UI"/>
                <a:ea typeface="Segoe UI"/>
                <a:cs typeface="Segoe UI"/>
              </a:defRPr>
            </a:lvl6pPr>
            <a:lvl7pPr>
              <a:defRPr sz="3300" b="1">
                <a:solidFill>
                  <a:srgbClr val="345D70"/>
                </a:solidFill>
                <a:latin typeface="Segoe UI"/>
                <a:ea typeface="Segoe UI"/>
                <a:cs typeface="Segoe UI"/>
              </a:defRPr>
            </a:lvl7pPr>
            <a:lvl8pPr>
              <a:defRPr sz="3300" b="1">
                <a:solidFill>
                  <a:srgbClr val="345D70"/>
                </a:solidFill>
                <a:latin typeface="Segoe UI"/>
                <a:ea typeface="Segoe UI"/>
                <a:cs typeface="Segoe UI"/>
              </a:defRPr>
            </a:lvl8pPr>
            <a:lvl9pPr>
              <a:defRPr sz="3300" b="1">
                <a:solidFill>
                  <a:srgbClr val="345D70"/>
                </a:solidFill>
                <a:latin typeface="Segoe UI"/>
                <a:ea typeface="Segoe UI"/>
                <a:cs typeface="Segoe UI"/>
              </a:defRPr>
            </a:lvl9pPr>
          </a:lstStyle>
          <ns15:p xmlns:ns15="http://schemas.openxmlformats.org/drawingml/2006/main">
            <ns15:pPr>
              <ns15:defRPr sz="3300" b="1">
                <ns15:solidFill>
                  <ns15:srgbClr val="345D70"/>
                </ns15:solidFill>
                <ns15:latin typeface="Segoe UI"/>
                <ns15:ea typeface="Segoe UI"/>
                <ns15:cs typeface="Segoe UI"/>
              </ns15:defRPr>
            </ns15:pPr>
            <ns15:r>
              <ns15:rPr sz="3300" b="1">
                <ns15:solidFill>
                  <ns15:srgbClr val="345D70"/>
                </ns15:solidFill>
                <ns15:latin typeface="Segoe UI"/>
                <ns15:ea typeface="Segoe UI"/>
                <ns15:cs typeface="Segoe UI"/>
              </ns15:rPr>
              <ns15:t>TA and staff brief</ns15:t>
            </ns15:r>
          </ns15:p>
        </p:txBody>
      </p:sp>
      <p:sp>
        <p:nvSpPr>
          <p:cNvPr id="4" name="staff-main">
            <a:extLst xmlns:a="http://schemas.openxmlformats.org/drawingml/2006/main">
              <a:ext uri="{FF2B5EF4-FFF2-40B4-BE49-F238E27FC236}">
                <a16:creationId xmlns:a16="http://schemas.microsoft.com/office/drawing/2014/main" id="{5A621FC8-A651-4A0D-96CF-F1282DD64757}"/>
              </a:ext>
            </a:extLst>
          </p:cNvPr>
          <p:cNvSpPr>
            <a:spLocks xmlns:a="http://schemas.openxmlformats.org/drawingml/2006/main" noGrp="1"/>
          </p:cNvSpPr>
          <p:nvPr/>
        </p:nvSpPr>
        <p:spPr>
          <a:xfrm xmlns:a="http://schemas.openxmlformats.org/drawingml/2006/main">
            <a:off x="533400" y="1457325"/>
            <a:ext cx="1104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defRPr sz="1875" b="0">
                <a:solidFill>
                  <a:srgbClr val="192E3B"/>
                </a:solidFill>
                <a:latin typeface="Segoe UI"/>
                <a:ea typeface="Segoe UI"/>
                <a:cs typeface="Segoe UI"/>
              </a:defRPr>
            </a:lvl1pPr>
            <a:lvl2pPr>
              <a:defRPr sz="1875" b="0">
                <a:solidFill>
                  <a:srgbClr val="192E3B"/>
                </a:solidFill>
                <a:latin typeface="Segoe UI"/>
                <a:ea typeface="Segoe UI"/>
                <a:cs typeface="Segoe UI"/>
              </a:defRPr>
            </a:lvl2pPr>
            <a:lvl3pPr>
              <a:defRPr sz="1875" b="0">
                <a:solidFill>
                  <a:srgbClr val="192E3B"/>
                </a:solidFill>
                <a:latin typeface="Segoe UI"/>
                <a:ea typeface="Segoe UI"/>
                <a:cs typeface="Segoe UI"/>
              </a:defRPr>
            </a:lvl3pPr>
            <a:lvl4pPr>
              <a:defRPr sz="1875" b="0">
                <a:solidFill>
                  <a:srgbClr val="192E3B"/>
                </a:solidFill>
                <a:latin typeface="Segoe UI"/>
                <a:ea typeface="Segoe UI"/>
                <a:cs typeface="Segoe UI"/>
              </a:defRPr>
            </a:lvl4pPr>
            <a:lvl5pPr>
              <a:defRPr sz="1875" b="0">
                <a:solidFill>
                  <a:srgbClr val="192E3B"/>
                </a:solidFill>
                <a:latin typeface="Segoe UI"/>
                <a:ea typeface="Segoe UI"/>
                <a:cs typeface="Segoe UI"/>
              </a:defRPr>
            </a:lvl5pPr>
            <a:lvl6pPr>
              <a:defRPr sz="1875" b="0">
                <a:solidFill>
                  <a:srgbClr val="192E3B"/>
                </a:solidFill>
                <a:latin typeface="Segoe UI"/>
                <a:ea typeface="Segoe UI"/>
                <a:cs typeface="Segoe UI"/>
              </a:defRPr>
            </a:lvl6pPr>
            <a:lvl7pPr>
              <a:defRPr sz="1875" b="0">
                <a:solidFill>
                  <a:srgbClr val="192E3B"/>
                </a:solidFill>
                <a:latin typeface="Segoe UI"/>
                <a:ea typeface="Segoe UI"/>
                <a:cs typeface="Segoe UI"/>
              </a:defRPr>
            </a:lvl7pPr>
            <a:lvl8pPr>
              <a:defRPr sz="1875" b="0">
                <a:solidFill>
                  <a:srgbClr val="192E3B"/>
                </a:solidFill>
                <a:latin typeface="Segoe UI"/>
                <a:ea typeface="Segoe UI"/>
                <a:cs typeface="Segoe UI"/>
              </a:defRPr>
            </a:lvl8pPr>
            <a:lvl9pPr>
              <a:defRPr sz="1875" b="0">
                <a:solidFill>
                  <a:srgbClr val="192E3B"/>
                </a:solidFill>
                <a:latin typeface="Segoe UI"/>
                <a:ea typeface="Segoe UI"/>
                <a:cs typeface="Segoe UI"/>
              </a:defRPr>
            </a:lvl9pPr>
          </a:lstStyle>
          <ns0:p xmlns:ns0="http://schemas.openxmlformats.org/drawingml/2006/main">
            <ns0:pPr>
              <ns0:defRPr sz="1875" b="0">
                <ns0:solidFill>
                  <ns0:srgbClr val="192E3B"/>
                </ns0:solidFill>
                <ns0:latin typeface="Segoe UI"/>
                <ns0:ea typeface="Segoe UI"/>
                <ns0:cs typeface="Segoe UI"/>
              </ns0:defRPr>
            </ns0:pPr>
            <ns0:r>
              <ns0:rPr sz="1875" b="0">
                <ns0:solidFill>
                  <ns0:srgbClr val="192E3B"/>
                </ns0:solidFill>
                <ns0:latin typeface="Segoe UI"/>
                <ns0:ea typeface="Segoe UI"/>
                <ns0:cs typeface="Segoe UI"/>
              </ns0:rPr>
              <ns0:t>TA: read, rephrase or scribe their own words.</ns0:t>
            </ns0:r>
          </ns0:p>
          <ns1:p xmlns:ns1="http://schemas.openxmlformats.org/drawingml/2006/main">
            <ns1:pPr>
              <ns1:defRPr sz="1875" b="0">
                <ns1:solidFill>
                  <ns1:srgbClr val="192E3B"/>
                </ns1:solidFill>
                <ns1:latin typeface="Segoe UI"/>
                <ns1:ea typeface="Segoe UI"/>
                <ns1:cs typeface="Segoe UI"/>
              </ns1:defRPr>
            </ns1:pPr>
            <ns1:r>
              <ns1:rPr sz="1875" b="0">
                <ns1:solidFill>
                  <ns1:srgbClr val="192E3B"/>
                </ns1:solidFill>
                <ns1:latin typeface="Segoe UI"/>
                <ns1:ea typeface="Segoe UI"/>
                <ns1:cs typeface="Segoe UI"/>
              </ns1:rPr>
              <ns1:t>Record the actual project example and support.</ns1:t>
            </ns1:r>
          </ns1:p>
          <ns2:p xmlns:ns2="http://schemas.openxmlformats.org/drawingml/2006/main">
            <ns2:pPr>
              <ns2:defRPr sz="1875" b="0">
                <ns2:solidFill>
                  <ns2:srgbClr val="192E3B"/>
                </ns2:solidFill>
                <ns2:latin typeface="Segoe UI"/>
                <ns2:ea typeface="Segoe UI"/>
                <ns2:cs typeface="Segoe UI"/>
              </ns2:defRPr>
            </ns2:pPr>
            <ns2:r>
              <ns2:rPr sz="1875" b="0">
                <ns2:solidFill>
                  <ns2:srgbClr val="192E3B"/>
                </ns2:solidFill>
                <ns2:latin typeface="Segoe UI"/>
                <ns2:ea typeface="Segoe UI"/>
                <ns2:cs typeface="Segoe UI"/>
              </ns2:rPr>
              <ns2:t>PfA employment: skills and a next practice step.</ns2:t>
            </ns2:r>
          </ns2:p>
          <ns3:p xmlns:ns3="http://schemas.openxmlformats.org/drawingml/2006/main">
            <ns3:pPr>
              <ns3:defRPr sz="1875" b="0">
                <ns3:solidFill>
                  <ns3:srgbClr val="192E3B"/>
                </ns3:solidFill>
                <ns3:latin typeface="Segoe UI"/>
                <ns3:ea typeface="Segoe UI"/>
                <ns3:cs typeface="Segoe UI"/>
              </ns3:defRPr>
            </ns3:pPr>
            <ns3:r>
              <ns3:rPr sz="1875" b="0">
                <ns3:solidFill>
                  <ns3:srgbClr val="192E3B"/>
                </ns3:solidFill>
                <ns3:latin typeface="Segoe UI"/>
                <ns3:ea typeface="Segoe UI"/>
                <ns3:cs typeface="Segoe UI"/>
              </ns3:rPr>
              <ns3:t>Gatsby Benchmark 4: curriculum learning to careers.</ns3:t>
            </ns3:r>
          </ns3:p>
          <ns4:p xmlns:ns4="http://schemas.openxmlformats.org/drawingml/2006/main">
            <ns4:pPr>
              <ns4:defRPr sz="1875" b="0">
                <ns4:solidFill>
                  <ns4:srgbClr val="192E3B"/>
                </ns4:solidFill>
                <ns4:latin typeface="Segoe UI"/>
                <ns4:ea typeface="Segoe UI"/>
                <ns4:cs typeface="Segoe UI"/>
              </ns4:defRPr>
            </ns4:pPr>
            <ns4:r>
              <ns4:rPr sz="1875" b="0">
                <ns4:solidFill>
                  <ns4:srgbClr val="192E3B"/>
                </ns4:solidFill>
                <ns4:latin typeface="Segoe UI"/>
                <ns4:ea typeface="Segoe UI"/>
                <ns4:cs typeface="Segoe UI"/>
              </ns4:rPr>
              <ns4:t>Lundy: Space, Voice, Audience, Influence.</ns4:t>
            </ns4:r>
          </ns4:p>
          <ns5:p xmlns:ns5="http://schemas.openxmlformats.org/drawingml/2006/main">
            <ns5:pPr>
              <ns5:defRPr sz="1875" b="0">
                <ns5:solidFill>
                  <ns5:srgbClr val="192E3B"/>
                </ns5:solidFill>
                <ns5:latin typeface="Segoe UI"/>
                <ns5:ea typeface="Segoe UI"/>
                <ns5:cs typeface="Segoe UI"/>
              </ns5:defRPr>
            </ns5:pPr>
            <ns5:r>
              <ns5:rPr sz="1875" b="0">
                <ns5:solidFill>
                  <ns5:srgbClr val="192E3B"/>
                </ns5:solidFill>
                <ns5:latin typeface="Segoe UI"/>
                <ns5:ea typeface="Segoe UI"/>
                <ns5:cs typeface="Segoe UI"/>
              </ns5:rPr>
              <ns5:t>VF · WS · I · NS · E · R · Capture in the evidence app.</ns5:t>
            </ns5:r>
          </ns5:p>
        </p:txBody>
      </p:sp>
      <p:sp>
        <p:nvSpPr>
          <p:cNvPr id="5" name="cold-call-detail">
            <a:extLst xmlns:a="http://schemas.openxmlformats.org/drawingml/2006/main">
              <a:ext uri="{FF2B5EF4-FFF2-40B4-BE49-F238E27FC236}">
                <a16:creationId xmlns:a16="http://schemas.microsoft.com/office/drawing/2014/main" id="{0CE8D1B2-5991-4D41-B244-45503C248715}"/>
              </a:ext>
            </a:extLst>
          </p:cNvPr>
          <p:cNvSpPr>
            <a:spLocks xmlns:a="http://schemas.openxmlformats.org/drawingml/2006/main" noGrp="1"/>
          </p:cNvSpPr>
          <p:nvPr/>
        </p:nvSpPr>
        <p:spPr>
          <a:xfrm xmlns:a="http://schemas.openxmlformats.org/drawingml/2006/main">
            <a:off x="533400" y="4000500"/>
            <a:ext cx="1104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725" b="0">
                <a:solidFill>
                  <a:srgbClr val="192E3B"/>
                </a:solidFill>
                <a:latin typeface="Segoe UI"/>
                <a:ea typeface="Segoe UI"/>
                <a:cs typeface="Segoe UI"/>
              </a:defRPr>
            </a:defPPr>
            <a:lvl1pPr>
              <a:defRPr sz="1725" b="0">
                <a:solidFill>
                  <a:srgbClr val="192E3B"/>
                </a:solidFill>
                <a:latin typeface="Segoe UI"/>
                <a:ea typeface="Segoe UI"/>
                <a:cs typeface="Segoe UI"/>
              </a:defRPr>
            </a:lvl1pPr>
            <a:lvl2pPr>
              <a:defRPr sz="1725" b="0">
                <a:solidFill>
                  <a:srgbClr val="192E3B"/>
                </a:solidFill>
                <a:latin typeface="Segoe UI"/>
                <a:ea typeface="Segoe UI"/>
                <a:cs typeface="Segoe UI"/>
              </a:defRPr>
            </a:lvl2pPr>
            <a:lvl3pPr>
              <a:defRPr sz="1725" b="0">
                <a:solidFill>
                  <a:srgbClr val="192E3B"/>
                </a:solidFill>
                <a:latin typeface="Segoe UI"/>
                <a:ea typeface="Segoe UI"/>
                <a:cs typeface="Segoe UI"/>
              </a:defRPr>
            </a:lvl3pPr>
            <a:lvl4pPr>
              <a:defRPr sz="1725" b="0">
                <a:solidFill>
                  <a:srgbClr val="192E3B"/>
                </a:solidFill>
                <a:latin typeface="Segoe UI"/>
                <a:ea typeface="Segoe UI"/>
                <a:cs typeface="Segoe UI"/>
              </a:defRPr>
            </a:lvl4pPr>
            <a:lvl5pPr>
              <a:defRPr sz="1725" b="0">
                <a:solidFill>
                  <a:srgbClr val="192E3B"/>
                </a:solidFill>
                <a:latin typeface="Segoe UI"/>
                <a:ea typeface="Segoe UI"/>
                <a:cs typeface="Segoe UI"/>
              </a:defRPr>
            </a:lvl5pPr>
            <a:lvl6pPr>
              <a:defRPr sz="1725" b="0">
                <a:solidFill>
                  <a:srgbClr val="192E3B"/>
                </a:solidFill>
                <a:latin typeface="Segoe UI"/>
                <a:ea typeface="Segoe UI"/>
                <a:cs typeface="Segoe UI"/>
              </a:defRPr>
            </a:lvl6pPr>
            <a:lvl7pPr>
              <a:defRPr sz="1725" b="0">
                <a:solidFill>
                  <a:srgbClr val="192E3B"/>
                </a:solidFill>
                <a:latin typeface="Segoe UI"/>
                <a:ea typeface="Segoe UI"/>
                <a:cs typeface="Segoe UI"/>
              </a:defRPr>
            </a:lvl7pPr>
            <a:lvl8pPr>
              <a:defRPr sz="1725" b="0">
                <a:solidFill>
                  <a:srgbClr val="192E3B"/>
                </a:solidFill>
                <a:latin typeface="Segoe UI"/>
                <a:ea typeface="Segoe UI"/>
                <a:cs typeface="Segoe UI"/>
              </a:defRPr>
            </a:lvl8pPr>
            <a:lvl9pPr>
              <a:defRPr sz="1725" b="0">
                <a:solidFill>
                  <a:srgbClr val="192E3B"/>
                </a:solidFill>
                <a:latin typeface="Segoe UI"/>
                <a:ea typeface="Segoe UI"/>
                <a:cs typeface="Segoe UI"/>
              </a:defRPr>
            </a:lvl9pPr>
          </a:lstStyle>
          <ns6:p xmlns:ns6="http://schemas.openxmlformats.org/drawingml/2006/main">
            <ns6:pPr>
              <ns6:defRPr sz="1725" b="0">
                <ns6:solidFill>
                  <ns6:srgbClr val="192E3B"/>
                </ns6:solidFill>
                <ns6:latin typeface="Segoe UI"/>
                <ns6:ea typeface="Segoe UI"/>
                <ns6:cs typeface="Segoe UI"/>
              </ns6:defRPr>
            </ns6:pPr>
            <ns6:r>
              <ns6:rPr sz="1725" b="0">
                <ns6:solidFill>
                  <ns6:srgbClr val="192E3B"/>
                </ns6:solidFill>
                <ns6:latin typeface="Segoe UI"/>
                <ns6:ea typeface="Segoe UI"/>
                <ns6:cs typeface="Segoe UI"/>
              </ns6:rPr>
              <ns6:t>1. What is a task? What is a skill?</ns6:t>
            </ns6:r>
          </ns6:p>
          <ns7:p xmlns:ns7="http://schemas.openxmlformats.org/drawingml/2006/main">
            <ns7:pPr>
              <ns7:defRPr sz="1725" b="0">
                <ns7:solidFill>
                  <ns7:srgbClr val="192E3B"/>
                </ns7:solidFill>
                <ns7:latin typeface="Segoe UI"/>
                <ns7:ea typeface="Segoe UI"/>
                <ns7:cs typeface="Segoe UI"/>
              </ns7:defRPr>
            </ns7:pPr>
            <ns7:r>
              <ns7:rPr sz="1725" b="0">
                <ns7:solidFill>
                  <ns7:srgbClr val="192E3B"/>
                </ns7:solidFill>
                <ns7:latin typeface="Segoe UI"/>
                <ns7:ea typeface="Segoe UI"/>
                <ns7:cs typeface="Segoe UI"/>
              </ns7:rPr>
              <ns7:t/>
            </ns7:r>
          </ns7:p>
          <ns8:p xmlns:ns8="http://schemas.openxmlformats.org/drawingml/2006/main">
            <ns8:pPr>
              <ns8:defRPr sz="1725" b="0">
                <ns8:solidFill>
                  <ns8:srgbClr val="192E3B"/>
                </ns8:solidFill>
                <ns8:latin typeface="Segoe UI"/>
                <ns8:ea typeface="Segoe UI"/>
                <ns8:cs typeface="Segoe UI"/>
              </ns8:defRPr>
            </ns8:pPr>
            <ns8:r>
              <ns8:rPr sz="1725" b="0">
                <ns8:solidFill>
                  <ns8:srgbClr val="192E3B"/>
                </ns8:solidFill>
                <ns8:latin typeface="Segoe UI"/>
                <ns8:ea typeface="Segoe UI"/>
                <ns8:cs typeface="Segoe UI"/>
              </ns8:rPr>
              <ns8:t>2. Which two skills does your chosen job need?</ns8:t>
            </ns8:r>
          </ns8:p>
          <ns9:p xmlns:ns9="http://schemas.openxmlformats.org/drawingml/2006/main">
            <ns9:pPr>
              <ns9:defRPr sz="1725" b="0">
                <ns9:solidFill>
                  <ns9:srgbClr val="192E3B"/>
                </ns9:solidFill>
                <ns9:latin typeface="Segoe UI"/>
                <ns9:ea typeface="Segoe UI"/>
                <ns9:cs typeface="Segoe UI"/>
              </ns9:defRPr>
            </ns9:pPr>
            <ns9:r>
              <ns9:rPr sz="1725" b="0">
                <ns9:solidFill>
                  <ns9:srgbClr val="192E3B"/>
                </ns9:solidFill>
                <ns9:latin typeface="Segoe UI"/>
                <ns9:ea typeface="Segoe UI"/>
                <ns9:cs typeface="Segoe UI"/>
              </ns9:rPr>
              <ns9:t/>
            </ns9:r>
          </ns9:p>
          <ns10:p xmlns:ns10="http://schemas.openxmlformats.org/drawingml/2006/main">
            <ns10:pPr>
              <ns10:defRPr sz="1725" b="0">
                <ns10:solidFill>
                  <ns10:srgbClr val="192E3B"/>
                </ns10:solidFill>
                <ns10:latin typeface="Segoe UI"/>
                <ns10:ea typeface="Segoe UI"/>
                <ns10:cs typeface="Segoe UI"/>
              </ns10:defRPr>
            </ns10:pPr>
            <ns10:r>
              <ns10:rPr sz="1725" b="0">
                <ns10:solidFill>
                  <ns10:srgbClr val="192E3B"/>
                </ns10:solidFill>
                <ns10:latin typeface="Segoe UI"/>
                <ns10:ea typeface="Segoe UI"/>
                <ns10:cs typeface="Segoe UI"/>
              </ns10:rPr>
              <ns10:t>3. What did you do that shows one of those skills?</ns10:t>
            </ns10:r>
          </ns10:p>
        </p:txBody>
      </p:sp>
      <p:sp>
        <p:nvSpPr>
          <p:cNvPr id="6" name="credit">
            <a:extLst xmlns:a="http://schemas.openxmlformats.org/drawingml/2006/main">
              <a:ext uri="{FF2B5EF4-FFF2-40B4-BE49-F238E27FC236}">
                <a16:creationId xmlns:a16="http://schemas.microsoft.com/office/drawing/2014/main" id="{87D92B85-6966-4333-B3C5-A62E840CE4D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defRPr sz="788" b="0">
                <a:solidFill>
                  <a:srgbClr val="566574"/>
                </a:solidFill>
                <a:latin typeface="Segoe UI"/>
                <a:ea typeface="Segoe UI"/>
                <a:cs typeface="Segoe UI"/>
              </a:defRPr>
            </a:lvl1pPr>
            <a:lvl2pPr>
              <a:defRPr sz="788" b="0">
                <a:solidFill>
                  <a:srgbClr val="566574"/>
                </a:solidFill>
                <a:latin typeface="Segoe UI"/>
                <a:ea typeface="Segoe UI"/>
                <a:cs typeface="Segoe UI"/>
              </a:defRPr>
            </a:lvl2pPr>
            <a:lvl3pPr>
              <a:defRPr sz="788" b="0">
                <a:solidFill>
                  <a:srgbClr val="566574"/>
                </a:solidFill>
                <a:latin typeface="Segoe UI"/>
                <a:ea typeface="Segoe UI"/>
                <a:cs typeface="Segoe UI"/>
              </a:defRPr>
            </a:lvl3pPr>
            <a:lvl4pPr>
              <a:defRPr sz="788" b="0">
                <a:solidFill>
                  <a:srgbClr val="566574"/>
                </a:solidFill>
                <a:latin typeface="Segoe UI"/>
                <a:ea typeface="Segoe UI"/>
                <a:cs typeface="Segoe UI"/>
              </a:defRPr>
            </a:lvl4pPr>
            <a:lvl5pPr>
              <a:defRPr sz="788" b="0">
                <a:solidFill>
                  <a:srgbClr val="566574"/>
                </a:solidFill>
                <a:latin typeface="Segoe UI"/>
                <a:ea typeface="Segoe UI"/>
                <a:cs typeface="Segoe UI"/>
              </a:defRPr>
            </a:lvl5pPr>
            <a:lvl6pPr>
              <a:defRPr sz="788" b="0">
                <a:solidFill>
                  <a:srgbClr val="566574"/>
                </a:solidFill>
                <a:latin typeface="Segoe UI"/>
                <a:ea typeface="Segoe UI"/>
                <a:cs typeface="Segoe UI"/>
              </a:defRPr>
            </a:lvl6pPr>
            <a:lvl7pPr>
              <a:defRPr sz="788" b="0">
                <a:solidFill>
                  <a:srgbClr val="566574"/>
                </a:solidFill>
                <a:latin typeface="Segoe UI"/>
                <a:ea typeface="Segoe UI"/>
                <a:cs typeface="Segoe UI"/>
              </a:defRPr>
            </a:lvl7pPr>
            <a:lvl8pPr>
              <a:defRPr sz="788" b="0">
                <a:solidFill>
                  <a:srgbClr val="566574"/>
                </a:solidFill>
                <a:latin typeface="Segoe UI"/>
                <a:ea typeface="Segoe UI"/>
                <a:cs typeface="Segoe UI"/>
              </a:defRPr>
            </a:lvl8pPr>
            <a:lvl9pPr>
              <a:defRPr sz="788" b="0">
                <a:solidFill>
                  <a:srgbClr val="566574"/>
                </a:solidFill>
                <a:latin typeface="Segoe UI"/>
                <a:ea typeface="Segoe UI"/>
                <a:cs typeface="Segoe UI"/>
              </a:defRPr>
            </a:lvl9pPr>
          </a:lstStyle>
          <ns14:p xmlns:ns14="http://schemas.openxmlformats.org/drawingml/2006/main">
            <ns14:pPr>
              <ns14:defRPr sz="788" b="0">
                <ns14:solidFill>
                  <ns14:srgbClr val="566574"/>
                </ns14:solidFill>
                <ns14:latin typeface="Segoe UI"/>
                <ns14:ea typeface="Segoe UI"/>
                <ns14:cs typeface="Segoe UI"/>
              </ns14:defRPr>
            </ns14:pPr>
            <ns14:r>
              <ns14:rPr sz="788" b="0">
                <ns14:solidFill>
                  <ns14:srgbClr val="566574"/>
                </ns14:solidFill>
                <ns14:latin typeface="Segoe UI"/>
                <ns14:ea typeface="Segoe UI"/>
                <ns14:cs typeface="Segoe UI"/>
              </ns14:rPr>
              <ns14:t>Made by Matt · © Matt Roper · CC BY-NC-SA 4.0: free for classroom use, share and adapt with credit, no resale</ns14:t>
            </ns14:r>
          </ns14:p>
        </p:txBody>
      </p:sp>
      <p:sp>
        <p:nvSpPr>
          <p:cNvPr id="7" name="page-number">
            <a:extLst xmlns:a="http://schemas.openxmlformats.org/drawingml/2006/main">
              <a:ext uri="{FF2B5EF4-FFF2-40B4-BE49-F238E27FC236}">
                <a16:creationId xmlns:a16="http://schemas.microsoft.com/office/drawing/2014/main" id="{2B8DB049-A9DA-4AA9-9ACC-B335CEEC791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defRPr sz="1050" b="0">
                <a:solidFill>
                  <a:srgbClr val="566574"/>
                </a:solidFill>
                <a:latin typeface="Segoe UI"/>
                <a:ea typeface="Segoe UI"/>
                <a:cs typeface="Segoe UI"/>
              </a:defRPr>
            </a:lvl1pPr>
            <a:lvl2pPr>
              <a:defRPr sz="1050" b="0">
                <a:solidFill>
                  <a:srgbClr val="566574"/>
                </a:solidFill>
                <a:latin typeface="Segoe UI"/>
                <a:ea typeface="Segoe UI"/>
                <a:cs typeface="Segoe UI"/>
              </a:defRPr>
            </a:lvl2pPr>
            <a:lvl3pPr>
              <a:defRPr sz="1050" b="0">
                <a:solidFill>
                  <a:srgbClr val="566574"/>
                </a:solidFill>
                <a:latin typeface="Segoe UI"/>
                <a:ea typeface="Segoe UI"/>
                <a:cs typeface="Segoe UI"/>
              </a:defRPr>
            </a:lvl3pPr>
            <a:lvl4pPr>
              <a:defRPr sz="1050" b="0">
                <a:solidFill>
                  <a:srgbClr val="566574"/>
                </a:solidFill>
                <a:latin typeface="Segoe UI"/>
                <a:ea typeface="Segoe UI"/>
                <a:cs typeface="Segoe UI"/>
              </a:defRPr>
            </a:lvl4pPr>
            <a:lvl5pPr>
              <a:defRPr sz="1050" b="0">
                <a:solidFill>
                  <a:srgbClr val="566574"/>
                </a:solidFill>
                <a:latin typeface="Segoe UI"/>
                <a:ea typeface="Segoe UI"/>
                <a:cs typeface="Segoe UI"/>
              </a:defRPr>
            </a:lvl5pPr>
            <a:lvl6pPr>
              <a:defRPr sz="1050" b="0">
                <a:solidFill>
                  <a:srgbClr val="566574"/>
                </a:solidFill>
                <a:latin typeface="Segoe UI"/>
                <a:ea typeface="Segoe UI"/>
                <a:cs typeface="Segoe UI"/>
              </a:defRPr>
            </a:lvl6pPr>
            <a:lvl7pPr>
              <a:defRPr sz="1050" b="0">
                <a:solidFill>
                  <a:srgbClr val="566574"/>
                </a:solidFill>
                <a:latin typeface="Segoe UI"/>
                <a:ea typeface="Segoe UI"/>
                <a:cs typeface="Segoe UI"/>
              </a:defRPr>
            </a:lvl7pPr>
            <a:lvl8pPr>
              <a:defRPr sz="1050" b="0">
                <a:solidFill>
                  <a:srgbClr val="566574"/>
                </a:solidFill>
                <a:latin typeface="Segoe UI"/>
                <a:ea typeface="Segoe UI"/>
                <a:cs typeface="Segoe UI"/>
              </a:defRPr>
            </a:lvl8pPr>
            <a:lvl9pPr>
              <a:defRPr sz="1050" b="0">
                <a:solidFill>
                  <a:srgbClr val="566574"/>
                </a:solidFill>
                <a:latin typeface="Segoe UI"/>
                <a:ea typeface="Segoe UI"/>
                <a:cs typeface="Segoe UI"/>
              </a:defRPr>
            </a:lvl9pPr>
          </a:lstStyle>
          <ns13:p xmlns:ns13="http://schemas.openxmlformats.org/drawingml/2006/main">
            <ns13:pPr>
              <ns13:defRPr sz="1050" b="0">
                <ns13:solidFill>
                  <ns13:srgbClr val="566574"/>
                </ns13:solidFill>
                <ns13:latin typeface="Segoe UI"/>
                <ns13:ea typeface="Segoe UI"/>
                <ns13:cs typeface="Segoe UI"/>
              </ns13:defRPr>
            </ns13:pPr>
            <ns13:r>
              <ns13:rPr sz="1050" b="0">
                <ns13:solidFill>
                  <ns13:srgbClr val="566574"/>
                </ns13:solidFill>
                <ns13:latin typeface="Segoe UI"/>
                <ns13:ea typeface="Segoe UI"/>
                <ns13:cs typeface="Segoe UI"/>
              </ns13:rPr>
              <ns13:t>12</ns13:t>
            </ns13:r>
          </ns13:p>
        </p:txBody>
      </p:sp>
    </p:spTree>
    <p:extLst>
      <p:ext uri="{BB962C8B-B14F-4D97-AF65-F5344CB8AC3E}">
        <p14:creationId xmlns:p14="http://schemas.microsoft.com/office/powerpoint/2010/main" val="1720819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12</ap:Slides>
  <ap:Notes>12</ap:Notes>
  <ap:HiddenSlides>1</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GROW Community Project Lesson 8</dc:title>
  <dcterms:created xsi:type="dcterms:W3CDTF">2026-10-22T09:44:26.0040000Z</dcterms:created>
  <dcterms:modified xsi:type="dcterms:W3CDTF">2026-10-22T09:44:26.0040000Z</dcterms:modified>
  <dc:subject>COMM-GROW-A2-W03</dc:subject>
  <keywords/>
  <dc:description>Careers behind the project</dc:description>
</coreProperties>
</file>