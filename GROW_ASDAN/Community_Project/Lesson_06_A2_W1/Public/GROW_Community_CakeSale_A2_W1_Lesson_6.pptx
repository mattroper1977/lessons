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9006ca312444f5" /><Relationship Type="http://schemas.openxmlformats.org/officeDocument/2006/relationships/extended-properties" Target="/docProps/app.xml" Id="R1eb999acfe964ed8" /><Relationship Type="http://schemas.openxmlformats.org/officeDocument/2006/relationships/officeDocument" Target="/ppt/presentation.xml" Id="R3f0470134d21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74514284354b1d"/>
  </p:sldMasterIdLst>
  <p:notesMasterIdLst>
    <p:notesMasterId xmlns:r="http://schemas.openxmlformats.org/officeDocument/2006/relationships" r:id="R7c62ec309cb34a06"/>
  </p:notesMasterIdLst>
  <p:sldIdLst>
    <p:sldId xmlns:r="http://schemas.openxmlformats.org/officeDocument/2006/relationships" id="256" r:id="R59dfddcd01ec433f"/>
    <p:sldId xmlns:r="http://schemas.openxmlformats.org/officeDocument/2006/relationships" id="257" r:id="Rba013d144a6b4b33"/>
    <p:sldId xmlns:r="http://schemas.openxmlformats.org/officeDocument/2006/relationships" id="258" r:id="R508f6b5c701b4d6b"/>
    <p:sldId xmlns:r="http://schemas.openxmlformats.org/officeDocument/2006/relationships" id="259" r:id="Re114716b5b4741e9"/>
    <p:sldId xmlns:r="http://schemas.openxmlformats.org/officeDocument/2006/relationships" id="260" r:id="R130a29cae96d4f2a"/>
    <p:sldId xmlns:r="http://schemas.openxmlformats.org/officeDocument/2006/relationships" id="261" r:id="Ra441c7d81a1949e6"/>
    <p:sldId xmlns:r="http://schemas.openxmlformats.org/officeDocument/2006/relationships" id="262" r:id="R971bfd2afd1b49d8"/>
    <p:sldId xmlns:r="http://schemas.openxmlformats.org/officeDocument/2006/relationships" id="263" r:id="Rdfdfc30f35904273"/>
    <p:sldId xmlns:r="http://schemas.openxmlformats.org/officeDocument/2006/relationships" id="264" r:id="R6b90eba2cae0409b"/>
    <p:sldId xmlns:r="http://schemas.openxmlformats.org/officeDocument/2006/relationships" id="265" r:id="R2cc14c0fa5cd45bb"/>
    <p:sldId xmlns:r="http://schemas.openxmlformats.org/officeDocument/2006/relationships" id="266" r:id="R150f7cac04bf419a"/>
    <p:sldId xmlns:r="http://schemas.openxmlformats.org/officeDocument/2006/relationships" id="267" r:id="R8e944c54d7cc43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35ec562a224cdd" /><Relationship Type="http://schemas.openxmlformats.org/officeDocument/2006/relationships/slideMaster" Target="/ppt/slideMasters/slideMaster1.xml" Id="Rb174514284354b1d" /><Relationship Type="http://schemas.openxmlformats.org/officeDocument/2006/relationships/notesMaster" Target="/ppt/notesMasters/notesMaster1.xml" Id="R7c62ec309cb34a06" /><Relationship Type="http://schemas.openxmlformats.org/officeDocument/2006/relationships/presProps" Target="/ppt/presProps.xml" Id="R5eb185aba5814e72" /><Relationship Type="http://schemas.openxmlformats.org/officeDocument/2006/relationships/tableStyles" Target="/ppt/tableStyles.xml" Id="R970e4f0cf04f4501" /><Relationship Type="http://schemas.openxmlformats.org/officeDocument/2006/relationships/slide" Target="/ppt/slides/slide1.xml" Id="R59dfddcd01ec433f" /><Relationship Type="http://schemas.openxmlformats.org/officeDocument/2006/relationships/slide" Target="/ppt/slides/slide2.xml" Id="Rba013d144a6b4b33" /><Relationship Type="http://schemas.openxmlformats.org/officeDocument/2006/relationships/slide" Target="/ppt/slides/slide3.xml" Id="R508f6b5c701b4d6b" /><Relationship Type="http://schemas.openxmlformats.org/officeDocument/2006/relationships/slide" Target="/ppt/slides/slide4.xml" Id="Re114716b5b4741e9" /><Relationship Type="http://schemas.openxmlformats.org/officeDocument/2006/relationships/slide" Target="/ppt/slides/slide5.xml" Id="R130a29cae96d4f2a" /><Relationship Type="http://schemas.openxmlformats.org/officeDocument/2006/relationships/slide" Target="/ppt/slides/slide6.xml" Id="Ra441c7d81a1949e6" /><Relationship Type="http://schemas.openxmlformats.org/officeDocument/2006/relationships/slide" Target="/ppt/slides/slide7.xml" Id="R971bfd2afd1b49d8" /><Relationship Type="http://schemas.openxmlformats.org/officeDocument/2006/relationships/slide" Target="/ppt/slides/slide8.xml" Id="Rdfdfc30f35904273" /><Relationship Type="http://schemas.openxmlformats.org/officeDocument/2006/relationships/slide" Target="/ppt/slides/slide9.xml" Id="R6b90eba2cae0409b" /><Relationship Type="http://schemas.openxmlformats.org/officeDocument/2006/relationships/slide" Target="/ppt/slides/slide10.xml" Id="R2cc14c0fa5cd45bb" /><Relationship Type="http://schemas.openxmlformats.org/officeDocument/2006/relationships/slide" Target="/ppt/slides/slide11.xml" Id="R150f7cac04bf419a" /><Relationship Type="http://schemas.openxmlformats.org/officeDocument/2006/relationships/slide" Target="/ppt/slides/slide12.xml" Id="R8e944c54d7cc43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506b15cc7a42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497a5c25aa4fbb" /><Relationship Type="http://schemas.openxmlformats.org/officeDocument/2006/relationships/notesMaster" Target="/ppt/notesMasters/notesMaster1.xml" Id="R33fe62e1afc340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2524afe67d4a39" /><Relationship Type="http://schemas.openxmlformats.org/officeDocument/2006/relationships/notesMaster" Target="/ppt/notesMasters/notesMaster1.xml" Id="Re67e53590fd845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dbee735762482d" /><Relationship Type="http://schemas.openxmlformats.org/officeDocument/2006/relationships/notesMaster" Target="/ppt/notesMasters/notesMaster1.xml" Id="Ra5d68dbf4488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f9cd920f9a4cd7" /><Relationship Type="http://schemas.openxmlformats.org/officeDocument/2006/relationships/notesMaster" Target="/ppt/notesMasters/notesMaster1.xml" Id="R93fb29765da54b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328ded812e4974" /><Relationship Type="http://schemas.openxmlformats.org/officeDocument/2006/relationships/notesMaster" Target="/ppt/notesMasters/notesMaster1.xml" Id="Rf21f86707c7a43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473f110c4241af" /><Relationship Type="http://schemas.openxmlformats.org/officeDocument/2006/relationships/notesMaster" Target="/ppt/notesMasters/notesMaster1.xml" Id="R9b8a678f979c46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279cfbc00d4e6d" /><Relationship Type="http://schemas.openxmlformats.org/officeDocument/2006/relationships/notesMaster" Target="/ppt/notesMasters/notesMaster1.xml" Id="R7c8fc40dfba9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73dcaf1a94212" /><Relationship Type="http://schemas.openxmlformats.org/officeDocument/2006/relationships/notesMaster" Target="/ppt/notesMasters/notesMaster1.xml" Id="R7445e456b2a342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d87f5e2c494b28" /><Relationship Type="http://schemas.openxmlformats.org/officeDocument/2006/relationships/notesMaster" Target="/ppt/notesMasters/notesMaster1.xml" Id="R450fef0c6a1e4c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e68b02fbd84683" /><Relationship Type="http://schemas.openxmlformats.org/officeDocument/2006/relationships/notesMaster" Target="/ppt/notesMasters/notesMaster1.xml" Id="R1749f8fee40a4d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9248fb13024a60" /><Relationship Type="http://schemas.openxmlformats.org/officeDocument/2006/relationships/notesMaster" Target="/ppt/notesMasters/notesMaster1.xml" Id="R8a7481fe775946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a2670a3ccd4050" /><Relationship Type="http://schemas.openxmlformats.org/officeDocument/2006/relationships/notesMaster" Target="/ppt/notesMasters/notesMaster1.xml" Id="Rbc3646b9ea3948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Title + big question</a:t>
            </a:r>
          </a:p>
          <a:p xmlns:a="http://schemas.openxmlformats.org/drawingml/2006/main">
            <a:r>
              <a:t>Timing: 0 minutes</a:t>
            </a:r>
          </a:p>
          <a:p xmlns:a="http://schemas.openxmlformats.org/drawingml/2006/main">
            <a:r>
              <a:t>TA brief: Open Lesson 6 on Thursday 5 November 2026, P5 12:50–13:30. Use the Lesson 5 review as prior learning. Have the approved personal plan, real trial records and the L5 goals ready. No new charity facts or visitor quotations are introduced.</a:t>
            </a:r>
          </a:p>
          <a:p xmlns:a="http://schemas.openxmlformats.org/drawingml/2006/main">
            <a:r>
              <a:t>Cold Call: Which fact or sum helped you choose?</a:t>
            </a:r>
          </a:p>
          <a:p xmlns:a="http://schemas.openxmlformats.org/drawingml/2006/main">
            <a:r>
              <a:t>Expected answer: A real cost, yield, demand or trial-feedback detail, with a named tool.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Arrival &amp; regulation check</a:t>
            </a:r>
          </a:p>
          <a:p xmlns:a="http://schemas.openxmlformats.org/drawingml/2006/main">
            <a:r>
              <a:t>Timing: 3 minutes</a:t>
            </a:r>
          </a:p>
          <a:p xmlns:a="http://schemas.openxmlformats.org/drawingml/2006/main">
            <a:r>
              <a:t>TA brief: Private colour check. Offer a quiet individual station. The adult handles devices; no phones or pupil typing into the board. Set one attainable first step and offer a neutral project issue if personal content is distressing.</a:t>
            </a:r>
          </a:p>
          <a:p xmlns:a="http://schemas.openxmlformats.org/drawingml/2006/main">
            <a:r>
              <a:t>Cold Call: Why is the money from sales not all money to give?</a:t>
            </a:r>
          </a:p>
          <a:p xmlns:a="http://schemas.openxmlformats.org/drawingml/2006/main">
            <a:r>
              <a:t>Expected answer: Agreed costs must be deducted. In the practice model, £12 less £6 leaves £6.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Retrieval</a:t>
            </a:r>
          </a:p>
          <a:p xmlns:a="http://schemas.openxmlformats.org/drawingml/2006/main">
            <a:r>
              <a:t>Timing: 4 minutes</a:t>
            </a:r>
          </a:p>
          <a:p xmlns:a="http://schemas.openxmlformats.org/drawingml/2006/main">
            <a:r>
              <a:t>TA brief: Retrieve actual L5 goals and trial notes, not recalled invented results. Pre-teach the vocabulary with the picture mat. Prompt a previously used tool: pros and cons, ranking, scorecard or checking information. If a learner missed the trial, use their genuine existing project issue; arrange later practical evidence without inventing a contribution.</a:t>
            </a:r>
          </a:p>
          <a:p xmlns:a="http://schemas.openxmlformats.org/drawingml/2006/main">
            <a:r>
              <a:t>Cold Call: What changed because of your idea?</a:t>
            </a:r>
          </a:p>
          <a:p xmlns:a="http://schemas.openxmlformats.org/drawingml/2006/main">
            <a:r>
              <a:t>Expected answer: A specific menu, quantity, price or safety-check change, or a recorded pending check with an owner.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Today: objective + "I can" statements with evidence links</a:t>
            </a:r>
          </a:p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>TA brief: L6-E1 records each learner’s own decision, contribution and improvement and links to Project learning link: [QUAL]; [AWARD] unit awards: [QUAL]; [QUAL]. Keep dated evidence, support, feedback and a next step. No award completion is claimed.</a:t>
            </a:r>
          </a:p>
          <a:p xmlns:a="http://schemas.openxmlformats.org/drawingml/2006/main">
            <a:r>
              <a:t>Cold Call: Which fact or sum helped you choose?</a:t>
            </a:r>
          </a:p>
          <a:p xmlns:a="http://schemas.openxmlformats.org/drawingml/2006/main">
            <a:r>
              <a:t>Expected answer: A real cost, yield, demand or trial-feedback detail, with a named tool.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Source: LESSON_SOURCE.json · issue-2; owner accreditation ruling, 22 October 2026.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I DO</a:t>
            </a:r>
          </a:p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TA brief: Model the decision process with practice prices £0.75 and £1.00. A higher price may leave more after costs but may reduce demand. Use real trial comments to judge value before fixing a real price; no response or taster quote is fabricated. The worked-costing reference uses £1 purely for arithmetic. Keep the teacher model separate from individual assessed evidence.</a:t>
            </a:r>
          </a:p>
          <a:p xmlns:a="http://schemas.openxmlformats.org/drawingml/2006/main">
            <a:r>
              <a:t>Cold Call: Why is the money from sales not all money to give?</a:t>
            </a:r>
          </a:p>
          <a:p xmlns:a="http://schemas.openxmlformats.org/drawingml/2006/main">
            <a:r>
              <a:t>Expected answer: Agreed costs must be deducted. In the practice model, £12 less £6 leaves £6.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WE DO</a:t>
            </a:r>
          </a:p>
          <a:p xmlns:a="http://schemas.openxmlformats.org/drawingml/2006/main">
            <a:r>
              <a:t>Timing: 7 minutes</a:t>
            </a:r>
          </a:p>
          <a:p xmlns:a="http://schemas.openxmlformats.org/drawingml/2006/main">
            <a:r>
              <a:t>TA brief: Use the pre-filled costing sheet: flour 80p + sugar 60p + fat 120p + eggs 120p + cocoa 100p = 480p; packs 120p; batch 600p; twelve saleable portions; 50p each; practice price 100p; takings 1200p; money left 600p. Model the cost-used amount, not whole-pack spending, and include packaging. All figures are authored practice inputs, not supplier quotes or an agreed menu. Assumes all twelve sell, no waste or other costs. Hinge correct B. A confuses takings with money after costs; C confuses a portion cost with batch surplus. Ask for a reason, then re-model if needed. Use calculators. 3 minutes model, 2 guided calculation, 2 hinge and correction.</a:t>
            </a:r>
          </a:p>
          <a:p xmlns:a="http://schemas.openxmlformats.org/drawingml/2006/main">
            <a:r>
              <a:t>Cold Call: What changed because of your idea?</a:t>
            </a:r>
          </a:p>
          <a:p xmlns:a="http://schemas.openxmlformats.org/drawingml/2006/main">
            <a:r>
              <a:t>Expected answer: A specific menu, quantity, price or safety-check change, or a recorded pending check with an owner.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YOU DO — in your book</a:t>
            </a:r>
          </a:p>
          <a:p xmlns:a="http://schemas.openxmlformats.org/drawingml/2006/main">
            <a:r>
              <a:t>Timing: 7 minutes</a:t>
            </a:r>
          </a:p>
          <a:p xmlns:a="http://schemas.openxmlformats.org/drawingml/2006/main">
            <a:r>
              <a:t>TA brief: Each learner works at an individual station on one real issue: cost, quantities, packaging, unclear price, allergies or time. Use relevant choice prompts. Book-first thinking is practice. Show the specific feedback item and date. If a critical fact is missing, record the check, owner and due point; do not mark the choice final. No pair work or adult-supplied assessed reason. A change to ingredients or packaging requires adult safety/allergen rechecking before any sale.</a:t>
            </a:r>
          </a:p>
          <a:p xmlns:a="http://schemas.openxmlformats.org/drawingml/2006/main">
            <a:r>
              <a:t>Cold Call: Which fact or sum helped you choose?</a:t>
            </a:r>
          </a:p>
          <a:p xmlns:a="http://schemas.openxmlformats.org/drawingml/2006/main">
            <a:r>
              <a:t>Expected answer: A real cost, yield, demand or trial-feedback detail, with a named tool.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Source: Food Standards Agency charity event guidance — https://www.food.gov.uk/safety-hygiene/providing-food-at-community-and-charity-events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YOU DO — evidence capture</a:t>
            </a:r>
          </a:p>
          <a:p xmlns:a="http://schemas.openxmlformats.org/drawingml/2006/main">
            <a:r>
              <a:t>Timing: 7 minutes</a:t>
            </a:r>
          </a:p>
          <a:p xmlns:a="http://schemas.openxmlformats.org/drawingml/2006/main">
            <a:r>
              <a:t>TA brief: 4 minutes: individual L6-E1 record, with the grid and real budget/menu annex identified by learner ID and date. 3 minutes: hear each individual proposal and record its group response. Finalise products, saleable quantities and prices only from checked costs, demand and safety information. Teacher records a final or pending menu line and why; unresolved checks keep that line pending. The sale arrangement is Thursday 3 December 2026, 13:30–14:10. Adult safety controls are not voted away. A group menu alone is not individual evidence. Use the evidence app for permitted capture; retain the individual dated record and support used.</a:t>
            </a:r>
          </a:p>
          <a:p xmlns:a="http://schemas.openxmlformats.org/drawingml/2006/main">
            <a:r>
              <a:t>Cold Call: Why is the money from sales not all money to give?</a:t>
            </a:r>
          </a:p>
          <a:p xmlns:a="http://schemas.openxmlformats.org/drawingml/2006/main">
            <a:r>
              <a:t>Expected answer: Agreed costs must be deducted. In the practice model, £12 less £6 leaves £6.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Source: LESSON_SOURCE.json · issue-2; owner accreditation ruling, 22 October 2026.</a:t>
            </a:r>
          </a:p>
          <a:p xmlns:a="http://schemas.openxmlformats.org/drawingml/2006/main">
            <a:r>
              <a:t>Source: Food Standards Agency charity event guidance — https://www.food.gov.uk/safety-hygiene/providing-food-at-community-and-charity-events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Evidence check before hand-in</a:t>
            </a:r>
          </a:p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>TA brief: Check L6-E1 and its referenced grid/budget/menu annex for individual ownership, date and project evidence links. Confirm book work is transferred or clearly attached and referenced; blank forms and copied examples do not count. Record the learner’s own contribution, support, feedback and next step.</a:t>
            </a:r>
          </a:p>
          <a:p xmlns:a="http://schemas.openxmlformats.org/drawingml/2006/main">
            <a:r>
              <a:t>Cold Call: What changed because of your idea?</a:t>
            </a:r>
          </a:p>
          <a:p xmlns:a="http://schemas.openxmlformats.org/drawingml/2006/main">
            <a:r>
              <a:t>Expected answer: A specific menu, quantity, price or safety-check change, or a recorded pending check with an owner.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Source: LESSON_SOURCE.json · issue-2; owner accreditation ruling, 22 October 2026.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Exit ticket</a:t>
            </a:r>
          </a:p>
          <a:p xmlns:a="http://schemas.openxmlformats.org/drawingml/2006/main">
            <a:r>
              <a:t>Timing: 3 minutes</a:t>
            </a:r>
          </a:p>
          <a:p xmlns:a="http://schemas.openxmlformats.org/drawingml/2006/main">
            <a:r>
              <a:t>TA brief: Take a brief private spoken or written exit. Check the learner can link a specific change to evidence, not merely repeat a group choice. Give VF or NS as appropriate, allow their own edit, and record R only after their response is heard and acted on. Capture the decision and influence in the group response record.</a:t>
            </a:r>
          </a:p>
          <a:p xmlns:a="http://schemas.openxmlformats.org/drawingml/2006/main">
            <a:r>
              <a:t>Cold Call: Which fact or sum helped you choose?</a:t>
            </a:r>
          </a:p>
          <a:p xmlns:a="http://schemas.openxmlformats.org/drawingml/2006/main">
            <a:r>
              <a:t>Expected answer: A real cost, yield, demand or trial-feedback detail, with a named tool.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Key vocabulary mat (EAL)</a:t>
            </a:r>
          </a:p>
          <a:p xmlns:a="http://schemas.openxmlformats.org/drawingml/2006/main">
            <a:r>
              <a:t>Timing: 0 minutes</a:t>
            </a:r>
          </a:p>
          <a:p xmlns:a="http://schemas.openxmlformats.org/drawingml/2006/main">
            <a:r>
              <a:t>TA brief: Reference slide, not additional lesson time. Pre-teach during Retrieval and refer back during tasks. Point to the flat picture cues. Rehearse one sentence frame aloud; adults may read but do not supply the assessed reason.</a:t>
            </a:r>
          </a:p>
          <a:p xmlns:a="http://schemas.openxmlformats.org/drawingml/2006/main">
            <a:r>
              <a:t>Cold Call: Why is the money from sales not all money to give?</a:t>
            </a:r>
          </a:p>
          <a:p xmlns:a="http://schemas.openxmlformats.org/drawingml/2006/main">
            <a:r>
              <a:t>Expected answer: Agreed costs must be deducted. In the practice model, £12 less £6 leaves £6.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TA / staff brief</a:t>
            </a:r>
          </a:p>
          <a:p xmlns:a="http://schemas.openxmlformats.org/drawingml/2006/main">
            <a:r>
              <a:t>Timing: 0 minutes</a:t>
            </a:r>
          </a:p>
          <a:p xmlns:a="http://schemas.openxmlformats.org/drawingml/2006/main">
            <a:r>
              <a:t>TA brief: Hidden staff reference. Core Cold Call questions and expected answers are in the source. Lundy: Space = private/quiet response; Voice = learner issue and reason; Audience = project teacher; Influence = a dated menu change or explained pending decision. Staff retain food-safety controls and the before-sale checklist in the planner. Feedback codes are VF WS I NS E R only. Keep dated evidence and a next step. Font assignment is Segoe UI; embedding requires licensed font files not present in this environment.</a:t>
            </a:r>
          </a:p>
          <a:p xmlns:a="http://schemas.openxmlformats.org/drawingml/2006/main">
            <a:r>
              <a:t>Cold Call: What changed because of your idea?</a:t>
            </a:r>
          </a:p>
          <a:p xmlns:a="http://schemas.openxmlformats.org/drawingml/2006/main">
            <a:r>
              <a:t>Expected answer: A specific menu, quantity, price or safety-check change, or a recorded pending check with an owner.</a:t>
            </a:r>
          </a:p>
          <a:p xmlns:a="http://schemas.openxmlformats.org/drawingml/2006/main">
            <a:r>
              <a:t>Sentence frames: The issue is __. I used __. I chose __ because __.</a:t>
            </a:r>
          </a:p>
          <a:p xmlns:a="http://schemas.openxmlformats.org/drawingml/2006/main">
            <a:r>
              <a:t>Lundy: Space: Private check-in, individual station, quiet response or adult scribe. Voice: Each learner chooses a real issue and gives their own reason. Audience: The project teacher hears every proposal and checks costs and safety. Influence: Record each proposal, the group response, the menu change or the reason it remains pending.</a:t>
            </a:r>
          </a:p>
          <a:p xmlns:a="http://schemas.openxmlformats.org/drawingml/2006/main">
            <a:r>
              <a:t>Source: Lesson orders — supplied 03_ORDER_GCS-1.md and 04_ORDER_GCS-1_A1_and_GCS-2.md, revision 2026-10-21.</a:t>
            </a:r>
          </a:p>
          <a:p xmlns:a="http://schemas.openxmlformats.org/drawingml/2006/main">
            <a:r>
              <a:t>Source: LESSON_SOURCE.json · issue-2; owner accreditation ruling, 22 October 2026.</a:t>
            </a:r>
          </a:p>
          <a:p xmlns:a="http://schemas.openxmlformats.org/drawingml/2006/main">
            <a:r>
              <a:t>Source: Food Standards Agency charity event guidance — https://www.food.gov.uk/safety-hygiene/providing-food-at-community-and-charity-events</a:t>
            </a:r>
          </a:p>
          <a:p xmlns:a="http://schemas.openxmlformats.org/drawingml/2006/main">
            <a:r>
              <a:t>Made by Matt · © Matt Roper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31d3fba8847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0fd7bf8bc45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0e10004b141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3e9f36eef45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d11d079db4c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575b0085e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90A6D4-95B6-4D3E-8656-99792C7F3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49AE6F-F34C-4B9E-B668-399F945CAF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A99098-30E2-40A1-9B2E-25AD12C7C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CD7707-D73B-442F-B522-45628E8F22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BA5FC3-04EC-451C-B973-48EF15C958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22D3D9-BF5F-485C-B6E7-0EA9230F1A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856991-4414-4440-902C-E592EF5892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61022B-61E8-4198-8183-8EF0198619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D2C313-A5F4-45B0-BA19-D6F7E3815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755968-709B-4E8E-B2BB-096160D685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da0274805449d" /><Relationship Type="http://schemas.openxmlformats.org/officeDocument/2006/relationships/slideLayout" Target="/ppt/slideLayouts/slideLayout1.xml" Id="R5dee4266a8c24ad7" /><Relationship Type="http://schemas.openxmlformats.org/officeDocument/2006/relationships/slideLayout" Target="/ppt/slideLayouts/slideLayout2.xml" Id="R038216ee4fa84786" /><Relationship Type="http://schemas.openxmlformats.org/officeDocument/2006/relationships/slideLayout" Target="/ppt/slideLayouts/slideLayout3.xml" Id="R1640dd92e1f94c87" /><Relationship Type="http://schemas.openxmlformats.org/officeDocument/2006/relationships/slideLayout" Target="/ppt/slideLayouts/slideLayout4.xml" Id="R1567898afa3940c3" /><Relationship Type="http://schemas.openxmlformats.org/officeDocument/2006/relationships/slideLayout" Target="/ppt/slideLayouts/slideLayout5.xml" Id="R780983a1fe734a4e" /><Relationship Type="http://schemas.openxmlformats.org/officeDocument/2006/relationships/slideLayout" Target="/ppt/slideLayouts/slideLayout6.xml" Id="Rcd928dfb2b9840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ee4266a8c24ad7"/>
    <p:sldLayoutId xmlns:r="http://schemas.openxmlformats.org/officeDocument/2006/relationships" id="2147483650" r:id="R038216ee4fa84786"/>
    <p:sldLayoutId xmlns:r="http://schemas.openxmlformats.org/officeDocument/2006/relationships" id="2147483651" r:id="R1640dd92e1f94c87"/>
    <p:sldLayoutId xmlns:r="http://schemas.openxmlformats.org/officeDocument/2006/relationships" id="2147483652" r:id="R1567898afa3940c3"/>
    <p:sldLayoutId xmlns:r="http://schemas.openxmlformats.org/officeDocument/2006/relationships" id="2147483653" r:id="R780983a1fe734a4e"/>
    <p:sldLayoutId xmlns:r="http://schemas.openxmlformats.org/officeDocument/2006/relationships" id="2147483654" r:id="Rcd928dfb2b9840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fc273f3e924088" /><Relationship Type="http://schemas.openxmlformats.org/officeDocument/2006/relationships/image" Target="/ppt/media/image.png" Id="R14122ece10b64051" /><Relationship Type="http://schemas.openxmlformats.org/officeDocument/2006/relationships/notesSlide" Target="/ppt/notesSlides/notesSlide1.xml" Id="Rdf3fdff993014a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227411da845c7" /><Relationship Type="http://schemas.openxmlformats.org/officeDocument/2006/relationships/notesSlide" Target="/ppt/notesSlides/notesSlide2.xml" Id="R79ea3d16284146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daacd6e56e49aa" /><Relationship Type="http://schemas.openxmlformats.org/officeDocument/2006/relationships/notesSlide" Target="/ppt/notesSlides/notesSlide3.xml" Id="Rc7769890e47e45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8e30cd4cb4cfd" /><Relationship Type="http://schemas.openxmlformats.org/officeDocument/2006/relationships/notesSlide" Target="/ppt/notesSlides/notesSlide4.xml" Id="Rfe3a7e63e2be4d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3099e22804eee" /><Relationship Type="http://schemas.openxmlformats.org/officeDocument/2006/relationships/notesSlide" Target="/ppt/notesSlides/notesSlide5.xml" Id="Rc34df1595e7a48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19fa6208f445c" /><Relationship Type="http://schemas.openxmlformats.org/officeDocument/2006/relationships/notesSlide" Target="/ppt/notesSlides/notesSlide6.xml" Id="R770062713b9748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9fe0529ca4236" /><Relationship Type="http://schemas.openxmlformats.org/officeDocument/2006/relationships/notesSlide" Target="/ppt/notesSlides/notesSlide7.xml" Id="Rc5b4fcab3ea442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7db70d23f145f7" /><Relationship Type="http://schemas.openxmlformats.org/officeDocument/2006/relationships/notesSlide" Target="/ppt/notesSlides/notesSlide8.xml" Id="R38fb2d10ca7a40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ca116434a43ba" /><Relationship Type="http://schemas.openxmlformats.org/officeDocument/2006/relationships/notesSlide" Target="/ppt/notesSlides/notesSlide9.xml" Id="R1191cdd5819848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9e64ef6464331" /><Relationship Type="http://schemas.openxmlformats.org/officeDocument/2006/relationships/notesSlide" Target="/ppt/notesSlides/notesSlide10.xml" Id="Rc56bc28e364043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d67d155b24b97" /><Relationship Type="http://schemas.openxmlformats.org/officeDocument/2006/relationships/image" Target="/ppt/media/image2.png" Id="Ra524a347ae674527" /><Relationship Type="http://schemas.openxmlformats.org/officeDocument/2006/relationships/image" Target="/ppt/media/image3.png" Id="Rced7992d3541451e" /><Relationship Type="http://schemas.openxmlformats.org/officeDocument/2006/relationships/image" Target="/ppt/media/image4.png" Id="Rd57204122dab4110" /><Relationship Type="http://schemas.openxmlformats.org/officeDocument/2006/relationships/image" Target="/ppt/media/image5.png" Id="Re539814f057443c6" /><Relationship Type="http://schemas.openxmlformats.org/officeDocument/2006/relationships/image" Target="/ppt/media/image6.png" Id="R19f2b9ae2e2041fa" /><Relationship Type="http://schemas.openxmlformats.org/officeDocument/2006/relationships/image" Target="/ppt/media/image7.png" Id="Rd9e0c911d8a14a09" /><Relationship Type="http://schemas.openxmlformats.org/officeDocument/2006/relationships/image" Target="/ppt/media/image8.png" Id="R203ce88a1cb64dad" /><Relationship Type="http://schemas.openxmlformats.org/officeDocument/2006/relationships/image" Target="/ppt/media/image9.png" Id="R5dd78c7271b243a9" /><Relationship Type="http://schemas.openxmlformats.org/officeDocument/2006/relationships/notesSlide" Target="/ppt/notesSlides/notesSlide11.xml" Id="Rc9cc96c4e3de43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b565f53614057" /><Relationship Type="http://schemas.openxmlformats.org/officeDocument/2006/relationships/notesSlide" Target="/ppt/notesSlides/notesSlide12.xml" Id="Rbb8589cd525a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code">
            <a:extLst xmlns:a="http://schemas.openxmlformats.org/drawingml/2006/main">
              <a:ext uri="{FF2B5EF4-FFF2-40B4-BE49-F238E27FC236}">
                <a16:creationId xmlns:a16="http://schemas.microsoft.com/office/drawing/2014/main" id="{8C07E0CF-5E9D-44C0-A5C3-21987F0B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F28AF52D-E1A5-4332-9E49-E5987D07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A8F42E53-C680-404E-8DFA-5C01C353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Problem-solving and final decisions</a:t>
            </a:r>
          </a:p>
        </p:txBody>
      </p:sp>
      <p:sp>
        <p:nvSpPr>
          <p:cNvPr id="4" name="big-question">
            <a:extLst xmlns:a="http://schemas.openxmlformats.org/drawingml/2006/main">
              <a:ext uri="{FF2B5EF4-FFF2-40B4-BE49-F238E27FC236}">
                <a16:creationId xmlns:a16="http://schemas.microsoft.com/office/drawing/2014/main" id="{DDC99830-5CE7-4FAD-A2D6-1F438FAB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How can we make our sale plan better?</a:t>
            </a:r>
          </a:p>
        </p:txBody>
      </p:sp>
      <p:sp>
        <p:nvSpPr>
          <p:cNvPr id="5" name="purpose">
            <a:extLst xmlns:a="http://schemas.openxmlformats.org/drawingml/2006/main">
              <a:ext uri="{FF2B5EF4-FFF2-40B4-BE49-F238E27FC236}">
                <a16:creationId xmlns:a16="http://schemas.microsoft.com/office/drawing/2014/main" id="{F3062D06-A2B9-495A-8848-D71B1D8E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Use real feedback. Make your own choice.</a:t>
            </a:r>
          </a:p>
        </p:txBody>
      </p:sp>
      <p:pic>
        <p:nvPicPr>
          <p:cNvPr id="6" name="picture-cue-1" descr="Flat target cue for making a checked project choice.">
            <a:extLst xmlns:a="http://schemas.openxmlformats.org/drawingml/2006/main">
              <a:ext uri="{FF2B5EF4-FFF2-40B4-BE49-F238E27FC236}">
                <a16:creationId xmlns:a16="http://schemas.microsoft.com/office/drawing/2014/main" id="{608FBCE5-B59B-4C30-A4E1-C4E94FE7E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22ece10b64051"/>
          <a:stretch xmlns:a="http://schemas.openxmlformats.org/drawingml/2006/main"/>
        </p:blipFill>
        <p:spPr>
          <a:xfrm xmlns:a="http://schemas.openxmlformats.org/drawingml/2006/main">
            <a:off x="10001250" y="22860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F5698BA5-6BA0-4F63-BD55-736AD0C8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Thursday 5 November 2026 · P5 12:50–13:30</a:t>
            </a:r>
          </a:p>
        </p:txBody>
      </p:sp>
      <p:sp>
        <p:nvSpPr>
          <p:cNvPr id="8" name="credit">
            <a:extLst xmlns:a="http://schemas.openxmlformats.org/drawingml/2006/main">
              <a:ext uri="{FF2B5EF4-FFF2-40B4-BE49-F238E27FC236}">
                <a16:creationId xmlns:a16="http://schemas.microsoft.com/office/drawing/2014/main" id="{1401A918-30DC-4A37-9735-6162636E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AF185D-5216-4F6F-AAD1-DB12EEF2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6651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esson-code">
            <a:extLst xmlns:a="http://schemas.openxmlformats.org/drawingml/2006/main">
              <a:ext uri="{FF2B5EF4-FFF2-40B4-BE49-F238E27FC236}">
                <a16:creationId xmlns:a16="http://schemas.microsoft.com/office/drawing/2014/main" id="{C018F9C6-3145-473B-B7E1-A8C7926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0C05B7E0-6CFD-42FC-8E3B-3E8A629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97D20851-AE0E-4782-AB49-0574196E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Arrival and regulation check</a:t>
            </a:r>
          </a:p>
        </p:txBody>
      </p:sp>
      <p:sp>
        <p:nvSpPr>
          <p:cNvPr id="4" name="check-prompt">
            <a:extLst xmlns:a="http://schemas.openxmlformats.org/drawingml/2006/main">
              <a:ext uri="{FF2B5EF4-FFF2-40B4-BE49-F238E27FC236}">
                <a16:creationId xmlns:a16="http://schemas.microsoft.com/office/drawing/2014/main" id="{35E88815-0F44-40CE-8CE0-E6ABCD1A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Check how you feel.</a:t>
            </a:r>
          </a:p>
        </p:txBody>
      </p:sp>
      <p:sp>
        <p:nvSpPr>
          <p:cNvPr id="5" name="colour-BLUE">
            <a:extLst xmlns:a="http://schemas.openxmlformats.org/drawingml/2006/main">
              <a:ext uri="{FF2B5EF4-FFF2-40B4-BE49-F238E27FC236}">
                <a16:creationId xmlns:a16="http://schemas.microsoft.com/office/drawing/2014/main" id="{9D8E6363-3DAB-4C75-884B-8FD6DD2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BLUE">
            <a:extLst xmlns:a="http://schemas.openxmlformats.org/drawingml/2006/main">
              <a:ext uri="{FF2B5EF4-FFF2-40B4-BE49-F238E27FC236}">
                <a16:creationId xmlns:a16="http://schemas.microsoft.com/office/drawing/2014/main" id="{E5B06875-9CEB-45C1-AD14-DB01C18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BLUE</a:t>
            </a:r>
          </a:p>
        </p:txBody>
      </p:sp>
      <p:sp>
        <p:nvSpPr>
          <p:cNvPr id="7" name="meaning-BLUE">
            <a:extLst xmlns:a="http://schemas.openxmlformats.org/drawingml/2006/main">
              <a:ext uri="{FF2B5EF4-FFF2-40B4-BE49-F238E27FC236}">
                <a16:creationId xmlns:a16="http://schemas.microsoft.com/office/drawing/2014/main" id="{CDF251E3-E345-41D1-8BEE-C65B6EF1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Low energy</a:t>
            </a:r>
          </a:p>
        </p:txBody>
      </p:sp>
      <p:sp>
        <p:nvSpPr>
          <p:cNvPr id="8" name="colour-GREEN">
            <a:extLst xmlns:a="http://schemas.openxmlformats.org/drawingml/2006/main">
              <a:ext uri="{FF2B5EF4-FFF2-40B4-BE49-F238E27FC236}">
                <a16:creationId xmlns:a16="http://schemas.microsoft.com/office/drawing/2014/main" id="{B98FDC18-CAE9-4DE6-AFD5-FF0B74D5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-GREEN">
            <a:extLst xmlns:a="http://schemas.openxmlformats.org/drawingml/2006/main">
              <a:ext uri="{FF2B5EF4-FFF2-40B4-BE49-F238E27FC236}">
                <a16:creationId xmlns:a16="http://schemas.microsoft.com/office/drawing/2014/main" id="{AC969D89-A8A2-479A-A828-4E5A538B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28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GREEN</a:t>
            </a:r>
          </a:p>
        </p:txBody>
      </p:sp>
      <p:sp>
        <p:nvSpPr>
          <p:cNvPr id="10" name="meaning-GREEN">
            <a:extLst xmlns:a="http://schemas.openxmlformats.org/drawingml/2006/main">
              <a:ext uri="{FF2B5EF4-FFF2-40B4-BE49-F238E27FC236}">
                <a16:creationId xmlns:a16="http://schemas.microsoft.com/office/drawing/2014/main" id="{41D81F4E-510F-495A-AD85-E501AA41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241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Ready</a:t>
            </a:r>
          </a:p>
        </p:txBody>
      </p:sp>
      <p:sp>
        <p:nvSpPr>
          <p:cNvPr id="11" name="colour-AMBER">
            <a:extLst xmlns:a="http://schemas.openxmlformats.org/drawingml/2006/main">
              <a:ext uri="{FF2B5EF4-FFF2-40B4-BE49-F238E27FC236}">
                <a16:creationId xmlns:a16="http://schemas.microsoft.com/office/drawing/2014/main" id="{4AFCE4A6-57BD-40A7-B363-8D30B946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bel-AMBER">
            <a:extLst xmlns:a="http://schemas.openxmlformats.org/drawingml/2006/main">
              <a:ext uri="{FF2B5EF4-FFF2-40B4-BE49-F238E27FC236}">
                <a16:creationId xmlns:a16="http://schemas.microsoft.com/office/drawing/2014/main" id="{22F2E564-8BE9-494A-B500-C665AC1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AMBER</a:t>
            </a:r>
          </a:p>
        </p:txBody>
      </p:sp>
      <p:sp>
        <p:nvSpPr>
          <p:cNvPr id="13" name="meaning-AMBER">
            <a:extLst xmlns:a="http://schemas.openxmlformats.org/drawingml/2006/main">
              <a:ext uri="{FF2B5EF4-FFF2-40B4-BE49-F238E27FC236}">
                <a16:creationId xmlns:a16="http://schemas.microsoft.com/office/drawing/2014/main" id="{D5CB1260-5566-4770-ACFE-F1034DA5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Pause</a:t>
            </a:r>
          </a:p>
        </p:txBody>
      </p:sp>
      <p:sp>
        <p:nvSpPr>
          <p:cNvPr id="14" name="colour-RED">
            <a:extLst xmlns:a="http://schemas.openxmlformats.org/drawingml/2006/main">
              <a:ext uri="{FF2B5EF4-FFF2-40B4-BE49-F238E27FC236}">
                <a16:creationId xmlns:a16="http://schemas.microsoft.com/office/drawing/2014/main" id="{70E1026E-BACD-4BB9-996B-CB880CC9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RED">
            <a:extLst xmlns:a="http://schemas.openxmlformats.org/drawingml/2006/main">
              <a:ext uri="{FF2B5EF4-FFF2-40B4-BE49-F238E27FC236}">
                <a16:creationId xmlns:a16="http://schemas.microsoft.com/office/drawing/2014/main" id="{D2F7DEA7-6AD5-474E-89F3-A3E818FB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28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RED</a:t>
            </a:r>
          </a:p>
        </p:txBody>
      </p:sp>
      <p:sp>
        <p:nvSpPr>
          <p:cNvPr id="16" name="meaning-RED">
            <a:extLst xmlns:a="http://schemas.openxmlformats.org/drawingml/2006/main">
              <a:ext uri="{FF2B5EF4-FFF2-40B4-BE49-F238E27FC236}">
                <a16:creationId xmlns:a16="http://schemas.microsoft.com/office/drawing/2014/main" id="{BE7AA5DE-A0C3-457E-8B60-957A7765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241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Adult help</a:t>
            </a:r>
          </a:p>
        </p:txBody>
      </p:sp>
      <p:sp>
        <p:nvSpPr>
          <p:cNvPr id="17" name="reset">
            <a:extLst xmlns:a="http://schemas.openxmlformats.org/drawingml/2006/main">
              <a:ext uri="{FF2B5EF4-FFF2-40B4-BE49-F238E27FC236}">
                <a16:creationId xmlns:a16="http://schemas.microsoft.com/office/drawing/2014/main" id="{A4849A8E-7F49-426C-B88E-EBC3350D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095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Reset: water, stretch, quiet seat or adult.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 feel __. I can start with __.</a:t>
            </a:r>
          </a:p>
        </p:txBody>
      </p:sp>
      <p:sp>
        <p:nvSpPr>
          <p:cNvPr id="18" name="credit">
            <a:extLst xmlns:a="http://schemas.openxmlformats.org/drawingml/2006/main">
              <a:ext uri="{FF2B5EF4-FFF2-40B4-BE49-F238E27FC236}">
                <a16:creationId xmlns:a16="http://schemas.microsoft.com/office/drawing/2014/main" id="{C4CF164F-E43F-470B-9851-764A85A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3C554A-C72D-4384-A1BF-7D8516B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964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code">
            <a:extLst xmlns:a="http://schemas.openxmlformats.org/drawingml/2006/main">
              <a:ext uri="{FF2B5EF4-FFF2-40B4-BE49-F238E27FC236}">
                <a16:creationId xmlns:a16="http://schemas.microsoft.com/office/drawing/2014/main" id="{1669DC02-771F-4F34-A91E-536D28B6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C886C5B7-F7F6-4A61-916A-39D0BABA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06F440CA-951A-42DF-8857-24D6304E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Retrieval</a:t>
            </a:r>
          </a:p>
        </p:txBody>
      </p:sp>
      <p:sp>
        <p:nvSpPr>
          <p:cNvPr id="4" name="pupil-body">
            <a:extLst xmlns:a="http://schemas.openxmlformats.org/drawingml/2006/main">
              <a:ext uri="{FF2B5EF4-FFF2-40B4-BE49-F238E27FC236}">
                <a16:creationId xmlns:a16="http://schemas.microsoft.com/office/drawing/2014/main" id="{6F481DA5-A03B-47C3-8A03-093C7E27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49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Find the goal we set in Lesson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Name a tool you have used to make a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What did the trial show us? Point to a real note or tally.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Cost: what we spend. Price: what we ask.</a:t>
            </a:r>
          </a:p>
        </p:txBody>
      </p:sp>
      <p:sp>
        <p:nvSpPr>
          <p:cNvPr id="5" name="credit">
            <a:extLst xmlns:a="http://schemas.openxmlformats.org/drawingml/2006/main">
              <a:ext uri="{FF2B5EF4-FFF2-40B4-BE49-F238E27FC236}">
                <a16:creationId xmlns:a16="http://schemas.microsoft.com/office/drawing/2014/main" id="{9D4A936B-D68C-4A8F-AB55-CB5E6293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59A0B6-8CA4-4846-B97F-B3326C2C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5629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code">
            <a:extLst xmlns:a="http://schemas.openxmlformats.org/drawingml/2006/main">
              <a:ext uri="{FF2B5EF4-FFF2-40B4-BE49-F238E27FC236}">
                <a16:creationId xmlns:a16="http://schemas.microsoft.com/office/drawing/2014/main" id="{298DB20D-35BB-4135-A6D9-E5BDC237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67595B15-DB1F-450E-A631-FDA2C9E3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AFDCB2D3-6D2C-4FBE-A631-D18A5061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Today</a:t>
            </a:r>
          </a:p>
        </p:txBody>
      </p:sp>
      <p:sp>
        <p:nvSpPr>
          <p:cNvPr id="4" name="pupil-body">
            <a:extLst xmlns:a="http://schemas.openxmlformats.org/drawingml/2006/main">
              <a:ext uri="{FF2B5EF4-FFF2-40B4-BE49-F238E27FC236}">
                <a16:creationId xmlns:a16="http://schemas.microsoft.com/office/drawing/2014/main" id="{2CFCD06F-291C-4C42-BBD7-77633E7B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49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Use trial notes and costs to solve one real issue. Help agree our final sale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 can use my plan and a named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 can back my choice with a fact or a sum.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 can show what changed and why it helps.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L6-E1 · My project contribution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[AWARD] unit awards: [QUAL]; [QUAL].</a:t>
            </a:r>
          </a:p>
        </p:txBody>
      </p:sp>
      <p:sp>
        <p:nvSpPr>
          <p:cNvPr id="5" name="credit">
            <a:extLst xmlns:a="http://schemas.openxmlformats.org/drawingml/2006/main">
              <a:ext uri="{FF2B5EF4-FFF2-40B4-BE49-F238E27FC236}">
                <a16:creationId xmlns:a16="http://schemas.microsoft.com/office/drawing/2014/main" id="{00027057-8061-44EF-9D9D-A87B4129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04B26A-FF01-48F7-9BAD-01CF42A8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9677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code">
            <a:extLst xmlns:a="http://schemas.openxmlformats.org/drawingml/2006/main">
              <a:ext uri="{FF2B5EF4-FFF2-40B4-BE49-F238E27FC236}">
                <a16:creationId xmlns:a16="http://schemas.microsoft.com/office/drawing/2014/main" id="{D5AAA200-F5F3-41E8-8410-440AA824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D3C22464-1403-4B9B-AF0C-4A3A7561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F84F0984-8C32-44C4-809C-DC6715C8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I DO</a:t>
            </a:r>
          </a:p>
        </p:txBody>
      </p:sp>
      <p:sp>
        <p:nvSpPr>
          <p:cNvPr id="4" name="pupil-body">
            <a:extLst xmlns:a="http://schemas.openxmlformats.org/drawingml/2006/main">
              <a:ext uri="{FF2B5EF4-FFF2-40B4-BE49-F238E27FC236}">
                <a16:creationId xmlns:a16="http://schemas.microsoft.com/office/drawing/2014/main" id="{B38B9062-94F7-4EFE-ADA7-C33045BF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49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One issue. Two choices. One named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Model issue: the price is not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Use a pros-and-cons list to compare two prices.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Check facts before you choose.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 choose __ because __.</a:t>
            </a:r>
          </a:p>
        </p:txBody>
      </p:sp>
      <p:sp>
        <p:nvSpPr>
          <p:cNvPr id="5" name="credit">
            <a:extLst xmlns:a="http://schemas.openxmlformats.org/drawingml/2006/main">
              <a:ext uri="{FF2B5EF4-FFF2-40B4-BE49-F238E27FC236}">
                <a16:creationId xmlns:a16="http://schemas.microsoft.com/office/drawing/2014/main" id="{ED93D098-1EFA-40D8-ADC3-DF9F9A1D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6BEDFE-93A0-4496-9BCB-63F04CA1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0653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code">
            <a:extLst xmlns:a="http://schemas.openxmlformats.org/drawingml/2006/main">
              <a:ext uri="{FF2B5EF4-FFF2-40B4-BE49-F238E27FC236}">
                <a16:creationId xmlns:a16="http://schemas.microsoft.com/office/drawing/2014/main" id="{1D0CBD25-CCA4-49C6-AD08-458BB3D9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AEA07F64-EECF-428B-AE12-53370DD1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01642E62-995E-4C45-8434-098DCB1E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WE DO</a:t>
            </a:r>
          </a:p>
        </p:txBody>
      </p:sp>
      <p:sp>
        <p:nvSpPr>
          <p:cNvPr id="4" name="practice-label">
            <a:extLst xmlns:a="http://schemas.openxmlformats.org/drawingml/2006/main">
              <a:ext uri="{FF2B5EF4-FFF2-40B4-BE49-F238E27FC236}">
                <a16:creationId xmlns:a16="http://schemas.microsoft.com/office/drawing/2014/main" id="{8D659BFC-CFA6-4C69-BEBD-ED1E35B8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Practice figures only. Not our real budget.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C879E-5B65-490D-A7AE-89B96AE4F5D0}"/>
              </a:ext>
            </a:extLst>
          </p:cNvPr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5810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286000"/>
              </a:tblGrid>
              <a:tr h="4762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One batch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8DD"/>
                      </a:solidFill>
                      <a:prstDash val="solid"/>
                    </a:lnL>
                    <a:lnR w="9525">
                      <a:solidFill>
                        <a:srgbClr val="CDD8DD"/>
                      </a:solidFill>
                      <a:prstDash val="solid"/>
                    </a:lnR>
                    <a:lnT w="9525">
                      <a:solidFill>
                        <a:srgbClr val="CDD8DD"/>
                      </a:solidFill>
                      <a:prstDash val="solid"/>
                    </a:lnT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Practice amount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8DD"/>
                      </a:solidFill>
                      <a:prstDash val="solid"/>
                    </a:lnR>
                    <a:lnT w="9525">
                      <a:solidFill>
                        <a:srgbClr val="CDD8DD"/>
                      </a:solidFill>
                      <a:prstDash val="solid"/>
                    </a:lnT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EDF2F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Food used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8DD"/>
                      </a:solidFill>
                      <a:prstDash val="solid"/>
                    </a:lnL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£4.80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Packs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8DD"/>
                      </a:solidFill>
                      <a:prstDash val="solid"/>
                    </a:lnL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£1.20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Batch cost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8DD"/>
                      </a:solidFill>
                      <a:prstDash val="solid"/>
                    </a:lnL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£6.00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12 pieces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8DD"/>
                      </a:solidFill>
                      <a:prstDash val="solid"/>
                    </a:lnL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£0.50 each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Sell 12 at £1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8DD"/>
                      </a:solidFill>
                      <a:prstDash val="solid"/>
                    </a:lnL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£12.00 takings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Less £6 costs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8DD"/>
                      </a:solidFill>
                      <a:prstDash val="solid"/>
                    </a:lnL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92E3B"/>
                          </a:solidFill>
                          <a:latin typeface="Segoe UI"/>
                          <a:ea typeface="Segoe UI"/>
                          <a:cs typeface="Segoe UI"/>
                        </a:rPr>
                        <a:t>£6.00 left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8DD"/>
                      </a:solidFill>
                      <a:prstDash val="solid"/>
                    </a:lnR>
                    <a:lnB w="9525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hinge">
            <a:extLst xmlns:a="http://schemas.openxmlformats.org/drawingml/2006/main">
              <a:ext uri="{FF2B5EF4-FFF2-40B4-BE49-F238E27FC236}">
                <a16:creationId xmlns:a16="http://schemas.microsoft.com/office/drawing/2014/main" id="{63D770AC-A7D4-4902-8E2B-A7ADB5C6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4667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How much is left?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A £12</a:t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B £6</a:t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 £0.50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 choose __ because __.</a:t>
            </a:r>
          </a:p>
        </p:txBody>
      </p:sp>
      <p:sp>
        <p:nvSpPr>
          <p:cNvPr id="7" name="model-assumption">
            <a:extLst xmlns:a="http://schemas.openxmlformats.org/drawingml/2006/main">
              <a:ext uri="{FF2B5EF4-FFF2-40B4-BE49-F238E27FC236}">
                <a16:creationId xmlns:a16="http://schemas.microsoft.com/office/drawing/2014/main" id="{DB27FA76-EC46-4D22-BDBA-F84DBBFB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Assume all 12 sell. No other costs. Check real costs before setting our price.</a:t>
            </a:r>
          </a:p>
        </p:txBody>
      </p:sp>
      <p:sp>
        <p:nvSpPr>
          <p:cNvPr id="8" name="credit">
            <a:extLst xmlns:a="http://schemas.openxmlformats.org/drawingml/2006/main">
              <a:ext uri="{FF2B5EF4-FFF2-40B4-BE49-F238E27FC236}">
                <a16:creationId xmlns:a16="http://schemas.microsoft.com/office/drawing/2014/main" id="{BAD5A6CD-CDD5-45B6-B2AF-C81A1C87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389BA4-B63F-434B-85B4-39BBFF0D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91476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esson-code">
            <a:extLst xmlns:a="http://schemas.openxmlformats.org/drawingml/2006/main">
              <a:ext uri="{FF2B5EF4-FFF2-40B4-BE49-F238E27FC236}">
                <a16:creationId xmlns:a16="http://schemas.microsoft.com/office/drawing/2014/main" id="{E0C4F682-5281-4E6A-BE8E-B2F870C7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DBC84076-3018-4ED9-AA50-CC4CA014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AB0C6E98-4F77-4EC8-9067-F0449D14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YOU DO in your book</a:t>
            </a:r>
          </a:p>
        </p:txBody>
      </p:sp>
      <p:sp>
        <p:nvSpPr>
          <p:cNvPr id="4" name="task-main">
            <a:extLst xmlns:a="http://schemas.openxmlformats.org/drawingml/2006/main">
              <a:ext uri="{FF2B5EF4-FFF2-40B4-BE49-F238E27FC236}">
                <a16:creationId xmlns:a16="http://schemas.microsoft.com/office/drawing/2014/main" id="{2B159760-1615-4BCD-AB48-9D3E74B2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Choose one real issue from our trial.</a:t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Use your plan and a named tool.</a:t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Check the facts or sums. Compare two choices.</a:t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 choose __ because __.</a:t>
            </a:r>
          </a:p>
        </p:txBody>
      </p:sp>
      <p:sp>
        <p:nvSpPr>
          <p:cNvPr id="5" name="route-SUPPORTED">
            <a:extLst xmlns:a="http://schemas.openxmlformats.org/drawingml/2006/main">
              <a:ext uri="{FF2B5EF4-FFF2-40B4-BE49-F238E27FC236}">
                <a16:creationId xmlns:a16="http://schemas.microsoft.com/office/drawing/2014/main" id="{3A1C00C8-DE7A-4CDD-A4E2-501F2712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SUPPORTED</a:t>
            </a:r>
          </a:p>
        </p:txBody>
      </p:sp>
      <p:sp>
        <p:nvSpPr>
          <p:cNvPr id="6" name="route-rule-SUPPORTED">
            <a:extLst xmlns:a="http://schemas.openxmlformats.org/drawingml/2006/main">
              <a:ext uri="{FF2B5EF4-FFF2-40B4-BE49-F238E27FC236}">
                <a16:creationId xmlns:a16="http://schemas.microsoft.com/office/drawing/2014/main" id="{BE1365CA-5AEB-42CE-B673-EDEBC5C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body-SUPPORTED">
            <a:extLst xmlns:a="http://schemas.openxmlformats.org/drawingml/2006/main">
              <a:ext uri="{FF2B5EF4-FFF2-40B4-BE49-F238E27FC236}">
                <a16:creationId xmlns:a16="http://schemas.microsoft.com/office/drawing/2014/main" id="{B7623DBD-8563-455A-AD2C-FE0357E5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0525"/>
            <a:ext cx="3476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Use two choices and a scribe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 choose __ because __.</a:t>
            </a:r>
          </a:p>
        </p:txBody>
      </p:sp>
      <p:sp>
        <p:nvSpPr>
          <p:cNvPr id="8" name="route-STANDARD">
            <a:extLst xmlns:a="http://schemas.openxmlformats.org/drawingml/2006/main">
              <a:ext uri="{FF2B5EF4-FFF2-40B4-BE49-F238E27FC236}">
                <a16:creationId xmlns:a16="http://schemas.microsoft.com/office/drawing/2014/main" id="{9DB3FA0E-5CFE-48B0-81D9-60D07FE1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24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STANDARD</a:t>
            </a:r>
          </a:p>
        </p:txBody>
      </p:sp>
      <p:sp>
        <p:nvSpPr>
          <p:cNvPr id="9" name="route-rule-STANDARD">
            <a:extLst xmlns:a="http://schemas.openxmlformats.org/drawingml/2006/main">
              <a:ext uri="{FF2B5EF4-FFF2-40B4-BE49-F238E27FC236}">
                <a16:creationId xmlns:a16="http://schemas.microsoft.com/office/drawing/2014/main" id="{98CCEC1F-F6F5-40E0-9A7B-68C410C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71925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ute-body-STANDARD">
            <a:extLst xmlns:a="http://schemas.openxmlformats.org/drawingml/2006/main">
              <a:ext uri="{FF2B5EF4-FFF2-40B4-BE49-F238E27FC236}">
                <a16:creationId xmlns:a16="http://schemas.microsoft.com/office/drawing/2014/main" id="{30D87C39-EDA1-478B-A213-7CF4F4EC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00525"/>
            <a:ext cx="3476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Compare two choices with a named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My facts show __. I choose __.</a:t>
            </a:r>
          </a:p>
        </p:txBody>
      </p:sp>
      <p:sp>
        <p:nvSpPr>
          <p:cNvPr id="11" name="route-STRETCH">
            <a:extLst xmlns:a="http://schemas.openxmlformats.org/drawingml/2006/main">
              <a:ext uri="{FF2B5EF4-FFF2-40B4-BE49-F238E27FC236}">
                <a16:creationId xmlns:a16="http://schemas.microsoft.com/office/drawing/2014/main" id="{8CE2E9E8-FFD2-4B83-8239-53D05AEB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STRETCH</a:t>
            </a:r>
          </a:p>
        </p:txBody>
      </p:sp>
      <p:sp>
        <p:nvSpPr>
          <p:cNvPr id="12" name="route-rule-STRETCH">
            <a:extLst xmlns:a="http://schemas.openxmlformats.org/drawingml/2006/main">
              <a:ext uri="{FF2B5EF4-FFF2-40B4-BE49-F238E27FC236}">
                <a16:creationId xmlns:a16="http://schemas.microsoft.com/office/drawing/2014/main" id="{A9F8715D-25AA-4710-B67B-5C46CE89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71925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ute-body-STRETCH">
            <a:extLst xmlns:a="http://schemas.openxmlformats.org/drawingml/2006/main">
              <a:ext uri="{FF2B5EF4-FFF2-40B4-BE49-F238E27FC236}">
                <a16:creationId xmlns:a16="http://schemas.microsoft.com/office/drawing/2014/main" id="{D2DBABA1-6B8E-450A-87E0-3476280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3476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Check a limit or a risk in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If __ changes, I will __.</a:t>
            </a:r>
          </a:p>
        </p:txBody>
      </p:sp>
      <p:sp>
        <p:nvSpPr>
          <p:cNvPr id="14" name="credit">
            <a:extLst xmlns:a="http://schemas.openxmlformats.org/drawingml/2006/main">
              <a:ext uri="{FF2B5EF4-FFF2-40B4-BE49-F238E27FC236}">
                <a16:creationId xmlns:a16="http://schemas.microsoft.com/office/drawing/2014/main" id="{B2BBE6DC-B73F-446E-863B-635488A3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2B92A7-2E7C-453A-97EA-1993CE85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7436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esson-code">
            <a:extLst xmlns:a="http://schemas.openxmlformats.org/drawingml/2006/main">
              <a:ext uri="{FF2B5EF4-FFF2-40B4-BE49-F238E27FC236}">
                <a16:creationId xmlns:a16="http://schemas.microsoft.com/office/drawing/2014/main" id="{5AF53238-707B-4359-B4AF-6EDC4854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8EB2C7F1-CCB4-431B-B449-A7164CC1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AF084C49-F1E1-4685-9FA3-9F917758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YOU DO evidence capture</a:t>
            </a:r>
          </a:p>
        </p:txBody>
      </p:sp>
      <p:sp>
        <p:nvSpPr>
          <p:cNvPr id="4" name="task-main">
            <a:extLst xmlns:a="http://schemas.openxmlformats.org/drawingml/2006/main">
              <a:ext uri="{FF2B5EF4-FFF2-40B4-BE49-F238E27FC236}">
                <a16:creationId xmlns:a16="http://schemas.microsoft.com/office/drawing/2014/main" id="{0E7F6F7D-1AA9-4F28-960C-774E6929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Complete your own L6-E1.</a:t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Name your plan target, tool and choice.</a:t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Say what changed and why it helps.</a:t>
            </a:r>
          </a:p>
          <a:p xmlns:a="http://schemas.openxmlformats.org/drawingml/2006/main">
            <a:pPr>
              <a:defRPr sz="225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Add your own menu idea. Keep your reason.</a:t>
            </a:r>
          </a:p>
        </p:txBody>
      </p:sp>
      <p:sp>
        <p:nvSpPr>
          <p:cNvPr id="5" name="route-SUPPORTED">
            <a:extLst xmlns:a="http://schemas.openxmlformats.org/drawingml/2006/main">
              <a:ext uri="{FF2B5EF4-FFF2-40B4-BE49-F238E27FC236}">
                <a16:creationId xmlns:a16="http://schemas.microsoft.com/office/drawing/2014/main" id="{A6A057AF-4EBE-4A53-8F7F-CC5C0DA1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SUPPORTED</a:t>
            </a:r>
          </a:p>
        </p:txBody>
      </p:sp>
      <p:sp>
        <p:nvSpPr>
          <p:cNvPr id="6" name="route-rule-SUPPORTED">
            <a:extLst xmlns:a="http://schemas.openxmlformats.org/drawingml/2006/main">
              <a:ext uri="{FF2B5EF4-FFF2-40B4-BE49-F238E27FC236}">
                <a16:creationId xmlns:a16="http://schemas.microsoft.com/office/drawing/2014/main" id="{0022F5DB-5C97-4DB7-A617-1E7FB058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body-SUPPORTED">
            <a:extLst xmlns:a="http://schemas.openxmlformats.org/drawingml/2006/main">
              <a:ext uri="{FF2B5EF4-FFF2-40B4-BE49-F238E27FC236}">
                <a16:creationId xmlns:a16="http://schemas.microsoft.com/office/drawing/2014/main" id="{7348654F-38AF-4D7B-9A25-AEA56E2E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0525"/>
            <a:ext cx="3476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Tell your own choice and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I used __. I changed __.</a:t>
            </a:r>
          </a:p>
        </p:txBody>
      </p:sp>
      <p:sp>
        <p:nvSpPr>
          <p:cNvPr id="8" name="route-STANDARD">
            <a:extLst xmlns:a="http://schemas.openxmlformats.org/drawingml/2006/main">
              <a:ext uri="{FF2B5EF4-FFF2-40B4-BE49-F238E27FC236}">
                <a16:creationId xmlns:a16="http://schemas.microsoft.com/office/drawing/2014/main" id="{F33973E7-D693-4EDB-98AC-EE8EA46C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24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STANDARD</a:t>
            </a:r>
          </a:p>
        </p:txBody>
      </p:sp>
      <p:sp>
        <p:nvSpPr>
          <p:cNvPr id="9" name="route-rule-STANDARD">
            <a:extLst xmlns:a="http://schemas.openxmlformats.org/drawingml/2006/main">
              <a:ext uri="{FF2B5EF4-FFF2-40B4-BE49-F238E27FC236}">
                <a16:creationId xmlns:a16="http://schemas.microsoft.com/office/drawing/2014/main" id="{73C2340D-C3A4-4DB8-8F16-9508FD25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71925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ute-body-STANDARD">
            <a:extLst xmlns:a="http://schemas.openxmlformats.org/drawingml/2006/main">
              <a:ext uri="{FF2B5EF4-FFF2-40B4-BE49-F238E27FC236}">
                <a16:creationId xmlns:a16="http://schemas.microsoft.com/office/drawing/2014/main" id="{4FEA4C94-F182-42A8-AD69-40DC5C48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00525"/>
            <a:ext cx="3476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Link your grid, costs and food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The plan is better because __.</a:t>
            </a:r>
          </a:p>
        </p:txBody>
      </p:sp>
      <p:sp>
        <p:nvSpPr>
          <p:cNvPr id="11" name="route-STRETCH">
            <a:extLst xmlns:a="http://schemas.openxmlformats.org/drawingml/2006/main">
              <a:ext uri="{FF2B5EF4-FFF2-40B4-BE49-F238E27FC236}">
                <a16:creationId xmlns:a16="http://schemas.microsoft.com/office/drawing/2014/main" id="{B13A8038-781A-4892-B600-DBAC4C9A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STRETCH</a:t>
            </a:r>
          </a:p>
        </p:txBody>
      </p:sp>
      <p:sp>
        <p:nvSpPr>
          <p:cNvPr id="12" name="route-rule-STRETCH">
            <a:extLst xmlns:a="http://schemas.openxmlformats.org/drawingml/2006/main">
              <a:ext uri="{FF2B5EF4-FFF2-40B4-BE49-F238E27FC236}">
                <a16:creationId xmlns:a16="http://schemas.microsoft.com/office/drawing/2014/main" id="{EAE6F8CE-0A4C-4530-808D-8855BCF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71925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ute-body-STRETCH">
            <a:extLst xmlns:a="http://schemas.openxmlformats.org/drawingml/2006/main">
              <a:ext uri="{FF2B5EF4-FFF2-40B4-BE49-F238E27FC236}">
                <a16:creationId xmlns:a16="http://schemas.microsoft.com/office/drawing/2014/main" id="{D605C871-4A08-4C87-99E7-00029B08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3476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Explain a trade-off and the next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This helps __, but I must check __.</a:t>
            </a:r>
          </a:p>
        </p:txBody>
      </p:sp>
      <p:sp>
        <p:nvSpPr>
          <p:cNvPr id="14" name="credit">
            <a:extLst xmlns:a="http://schemas.openxmlformats.org/drawingml/2006/main">
              <a:ext uri="{FF2B5EF4-FFF2-40B4-BE49-F238E27FC236}">
                <a16:creationId xmlns:a16="http://schemas.microsoft.com/office/drawing/2014/main" id="{902F9024-E8D6-4C4C-8FB4-09B17044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2F24A5-D857-4C5C-82A3-F9276E52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850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code">
            <a:extLst xmlns:a="http://schemas.openxmlformats.org/drawingml/2006/main">
              <a:ext uri="{FF2B5EF4-FFF2-40B4-BE49-F238E27FC236}">
                <a16:creationId xmlns:a16="http://schemas.microsoft.com/office/drawing/2014/main" id="{74EFD080-33E1-4C48-842F-F4614E7D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8D102D91-F0B5-4F93-B03F-7FD7540F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4C6A499F-7F3E-46E7-8E6C-4512728F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Evidence check before hand-in</a:t>
            </a:r>
          </a:p>
        </p:txBody>
      </p:sp>
      <p:sp>
        <p:nvSpPr>
          <p:cNvPr id="4" name="pupil-body">
            <a:extLst xmlns:a="http://schemas.openxmlformats.org/drawingml/2006/main">
              <a:ext uri="{FF2B5EF4-FFF2-40B4-BE49-F238E27FC236}">
                <a16:creationId xmlns:a16="http://schemas.microsoft.com/office/drawing/2014/main" id="{A32EEE5B-C0DD-40D0-8F45-FAA23D64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49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My name or ID and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My plan target and named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My own choice, fact or sum, and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My change to the plan, or a check still due.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Sale: Thursday 3 December 2026, 13:30–14:10</a:t>
            </a:r>
          </a:p>
        </p:txBody>
      </p:sp>
      <p:sp>
        <p:nvSpPr>
          <p:cNvPr id="5" name="credit">
            <a:extLst xmlns:a="http://schemas.openxmlformats.org/drawingml/2006/main">
              <a:ext uri="{FF2B5EF4-FFF2-40B4-BE49-F238E27FC236}">
                <a16:creationId xmlns:a16="http://schemas.microsoft.com/office/drawing/2014/main" id="{05929817-59C3-4690-BD5E-49E2852D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2D46D7-A444-45AB-A9EA-ABAA28CF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44219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code">
            <a:extLst xmlns:a="http://schemas.openxmlformats.org/drawingml/2006/main">
              <a:ext uri="{FF2B5EF4-FFF2-40B4-BE49-F238E27FC236}">
                <a16:creationId xmlns:a16="http://schemas.microsoft.com/office/drawing/2014/main" id="{6F8D3FC2-7A29-4685-AA02-3C12DCB2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86FC3099-5CEE-4373-9571-73C54627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B31C3E97-FDD6-44C4-BB86-9F852B7F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Exit ticket</a:t>
            </a:r>
          </a:p>
        </p:txBody>
      </p:sp>
      <p:sp>
        <p:nvSpPr>
          <p:cNvPr id="4" name="pupil-body">
            <a:extLst xmlns:a="http://schemas.openxmlformats.org/drawingml/2006/main">
              <a:ext uri="{FF2B5EF4-FFF2-40B4-BE49-F238E27FC236}">
                <a16:creationId xmlns:a16="http://schemas.microsoft.com/office/drawing/2014/main" id="{2DDBA7C4-696A-405E-9D8E-4A9D2E8D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49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What did we change?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Why is the new plan better?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One check still needed is 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The next person who needs to hear my idea is __.</a:t>
            </a:r>
          </a:p>
        </p:txBody>
      </p:sp>
      <p:sp>
        <p:nvSpPr>
          <p:cNvPr id="5" name="credit">
            <a:extLst xmlns:a="http://schemas.openxmlformats.org/drawingml/2006/main">
              <a:ext uri="{FF2B5EF4-FFF2-40B4-BE49-F238E27FC236}">
                <a16:creationId xmlns:a16="http://schemas.microsoft.com/office/drawing/2014/main" id="{6D7E8F75-2156-4B62-BD47-E940AA7E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AD49A9-BC58-4846-8899-86BF6962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9037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esson-code">
            <a:extLst xmlns:a="http://schemas.openxmlformats.org/drawingml/2006/main">
              <a:ext uri="{FF2B5EF4-FFF2-40B4-BE49-F238E27FC236}">
                <a16:creationId xmlns:a16="http://schemas.microsoft.com/office/drawing/2014/main" id="{0680BA48-3AEB-4EE0-8CBD-32190F41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CC03158C-E904-4511-BC30-21BF7FE6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39D1E514-D02A-427D-A171-77449C74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Key vocabulary mat</a:t>
            </a:r>
          </a:p>
        </p:txBody>
      </p:sp>
      <p:pic>
        <p:nvPicPr>
          <p:cNvPr id="4" name="picture-cue-1" descr="Flat calculator cue for budget.">
            <a:extLst xmlns:a="http://schemas.openxmlformats.org/drawingml/2006/main">
              <a:ext uri="{FF2B5EF4-FFF2-40B4-BE49-F238E27FC236}">
                <a16:creationId xmlns:a16="http://schemas.microsoft.com/office/drawing/2014/main" id="{3E0FE664-71BE-4F81-A370-D5BDD071B2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4a347ae674527"/>
          <a:stretch xmlns:a="http://schemas.openxmlformats.org/drawingml/2006/main"/>
        </p:blipFill>
        <p:spPr>
          <a:xfrm xmlns:a="http://schemas.openxmlformats.org/drawingml/2006/main">
            <a:off x="533400" y="1504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" name="word-0">
            <a:extLst xmlns:a="http://schemas.openxmlformats.org/drawingml/2006/main">
              <a:ext uri="{FF2B5EF4-FFF2-40B4-BE49-F238E27FC236}">
                <a16:creationId xmlns:a16="http://schemas.microsoft.com/office/drawing/2014/main" id="{8B44405A-4476-445D-A2D1-38498595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57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budget</a:t>
            </a:r>
          </a:p>
        </p:txBody>
      </p:sp>
      <p:sp>
        <p:nvSpPr>
          <p:cNvPr id="6" name="definition-0">
            <a:extLst xmlns:a="http://schemas.openxmlformats.org/drawingml/2006/main">
              <a:ext uri="{FF2B5EF4-FFF2-40B4-BE49-F238E27FC236}">
                <a16:creationId xmlns:a16="http://schemas.microsoft.com/office/drawing/2014/main" id="{44E9CDD8-4184-4615-9711-F392805A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0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Money we plan to spend.</a:t>
            </a:r>
          </a:p>
        </p:txBody>
      </p:sp>
      <p:pic>
        <p:nvPicPr>
          <p:cNvPr id="7" name="picture-cue-2" descr="Flat tag cue for cost.">
            <a:extLst xmlns:a="http://schemas.openxmlformats.org/drawingml/2006/main">
              <a:ext uri="{FF2B5EF4-FFF2-40B4-BE49-F238E27FC236}">
                <a16:creationId xmlns:a16="http://schemas.microsoft.com/office/drawing/2014/main" id="{3CB89668-C826-4199-B3C2-A51306B49D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7992d3541451e"/>
          <a:stretch xmlns:a="http://schemas.openxmlformats.org/drawingml/2006/main"/>
        </p:blipFill>
        <p:spPr>
          <a:xfrm xmlns:a="http://schemas.openxmlformats.org/drawingml/2006/main">
            <a:off x="6248400" y="1504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8" name="word-1">
            <a:extLst xmlns:a="http://schemas.openxmlformats.org/drawingml/2006/main">
              <a:ext uri="{FF2B5EF4-FFF2-40B4-BE49-F238E27FC236}">
                <a16:creationId xmlns:a16="http://schemas.microsoft.com/office/drawing/2014/main" id="{3546E402-3135-4CAA-AF04-4265933E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57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cost</a:t>
            </a:r>
          </a:p>
        </p:txBody>
      </p:sp>
      <p:sp>
        <p:nvSpPr>
          <p:cNvPr id="9" name="definition-1">
            <a:extLst xmlns:a="http://schemas.openxmlformats.org/drawingml/2006/main">
              <a:ext uri="{FF2B5EF4-FFF2-40B4-BE49-F238E27FC236}">
                <a16:creationId xmlns:a16="http://schemas.microsoft.com/office/drawing/2014/main" id="{D819ABBC-A6B4-4918-AFFE-FFD1C32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0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Money we spend.</a:t>
            </a:r>
          </a:p>
        </p:txBody>
      </p:sp>
      <p:pic>
        <p:nvPicPr>
          <p:cNvPr id="10" name="picture-cue-3" descr="Flat tag cue for price.">
            <a:extLst xmlns:a="http://schemas.openxmlformats.org/drawingml/2006/main">
              <a:ext uri="{FF2B5EF4-FFF2-40B4-BE49-F238E27FC236}">
                <a16:creationId xmlns:a16="http://schemas.microsoft.com/office/drawing/2014/main" id="{E3AB64FD-500C-4FAA-9E67-B77D37421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204122dab4110"/>
          <a:stretch xmlns:a="http://schemas.openxmlformats.org/drawingml/2006/main"/>
        </p:blipFill>
        <p:spPr>
          <a:xfrm xmlns:a="http://schemas.openxmlformats.org/drawingml/2006/main">
            <a:off x="533400" y="2647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word-2">
            <a:extLst xmlns:a="http://schemas.openxmlformats.org/drawingml/2006/main">
              <a:ext uri="{FF2B5EF4-FFF2-40B4-BE49-F238E27FC236}">
                <a16:creationId xmlns:a16="http://schemas.microsoft.com/office/drawing/2014/main" id="{D577F1C3-F8D7-4E4E-9067-43CC5744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0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price</a:t>
            </a:r>
          </a:p>
        </p:txBody>
      </p:sp>
      <p:sp>
        <p:nvSpPr>
          <p:cNvPr id="12" name="definition-2">
            <a:extLst xmlns:a="http://schemas.openxmlformats.org/drawingml/2006/main">
              <a:ext uri="{FF2B5EF4-FFF2-40B4-BE49-F238E27FC236}">
                <a16:creationId xmlns:a16="http://schemas.microsoft.com/office/drawing/2014/main" id="{A77D7834-DFF6-441A-AD33-794475CD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Money we ask for one item.</a:t>
            </a:r>
          </a:p>
        </p:txBody>
      </p:sp>
      <p:pic>
        <p:nvPicPr>
          <p:cNvPr id="13" name="picture-cue-4" descr="Flat clipboard check cue for batch.">
            <a:extLst xmlns:a="http://schemas.openxmlformats.org/drawingml/2006/main">
              <a:ext uri="{FF2B5EF4-FFF2-40B4-BE49-F238E27FC236}">
                <a16:creationId xmlns:a16="http://schemas.microsoft.com/office/drawing/2014/main" id="{5258971A-CC2B-4424-860B-5E2D5733D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9814f057443c6"/>
          <a:stretch xmlns:a="http://schemas.openxmlformats.org/drawingml/2006/main"/>
        </p:blipFill>
        <p:spPr>
          <a:xfrm xmlns:a="http://schemas.openxmlformats.org/drawingml/2006/main">
            <a:off x="6248400" y="2647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word-3">
            <a:extLst xmlns:a="http://schemas.openxmlformats.org/drawingml/2006/main">
              <a:ext uri="{FF2B5EF4-FFF2-40B4-BE49-F238E27FC236}">
                <a16:creationId xmlns:a16="http://schemas.microsoft.com/office/drawing/2014/main" id="{3EF82CD5-7BDE-4559-92FA-60DFB773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0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batch</a:t>
            </a:r>
          </a:p>
        </p:txBody>
      </p:sp>
      <p:sp>
        <p:nvSpPr>
          <p:cNvPr id="15" name="definition-3">
            <a:extLst xmlns:a="http://schemas.openxmlformats.org/drawingml/2006/main">
              <a:ext uri="{FF2B5EF4-FFF2-40B4-BE49-F238E27FC236}">
                <a16:creationId xmlns:a16="http://schemas.microsoft.com/office/drawing/2014/main" id="{FFC34263-AE4E-4CD9-804B-5630F41B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43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Food made in one go.</a:t>
            </a:r>
          </a:p>
        </p:txBody>
      </p:sp>
      <p:pic>
        <p:nvPicPr>
          <p:cNvPr id="16" name="picture-cue-5" descr="Flat list checks cue for portion.">
            <a:extLst xmlns:a="http://schemas.openxmlformats.org/drawingml/2006/main">
              <a:ext uri="{FF2B5EF4-FFF2-40B4-BE49-F238E27FC236}">
                <a16:creationId xmlns:a16="http://schemas.microsoft.com/office/drawing/2014/main" id="{2D1CC118-D26F-4A6D-BF5F-46BA468419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2b9ae2e2041fa"/>
          <a:stretch xmlns:a="http://schemas.openxmlformats.org/drawingml/2006/main"/>
        </p:blipFill>
        <p:spPr>
          <a:xfrm xmlns:a="http://schemas.openxmlformats.org/drawingml/2006/main">
            <a:off x="533400" y="3790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word-4">
            <a:extLst xmlns:a="http://schemas.openxmlformats.org/drawingml/2006/main">
              <a:ext uri="{FF2B5EF4-FFF2-40B4-BE49-F238E27FC236}">
                <a16:creationId xmlns:a16="http://schemas.microsoft.com/office/drawing/2014/main" id="{A1935756-E83B-491C-AA7E-842252C7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43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portion</a:t>
            </a:r>
          </a:p>
        </p:txBody>
      </p:sp>
      <p:sp>
        <p:nvSpPr>
          <p:cNvPr id="18" name="definition-4">
            <a:extLst xmlns:a="http://schemas.openxmlformats.org/drawingml/2006/main">
              <a:ext uri="{FF2B5EF4-FFF2-40B4-BE49-F238E27FC236}">
                <a16:creationId xmlns:a16="http://schemas.microsoft.com/office/drawing/2014/main" id="{DC20ECF5-3051-4AB7-A9BE-CC49C124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86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One piece to sell.</a:t>
            </a:r>
          </a:p>
        </p:txBody>
      </p:sp>
      <p:pic>
        <p:nvPicPr>
          <p:cNvPr id="19" name="picture-cue-6" descr="Flat calculator cue for takings.">
            <a:extLst xmlns:a="http://schemas.openxmlformats.org/drawingml/2006/main">
              <a:ext uri="{FF2B5EF4-FFF2-40B4-BE49-F238E27FC236}">
                <a16:creationId xmlns:a16="http://schemas.microsoft.com/office/drawing/2014/main" id="{84190FDF-CECE-4CBF-A3E6-3FE0BC363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0c911d8a14a09"/>
          <a:stretch xmlns:a="http://schemas.openxmlformats.org/drawingml/2006/main"/>
        </p:blipFill>
        <p:spPr>
          <a:xfrm xmlns:a="http://schemas.openxmlformats.org/drawingml/2006/main">
            <a:off x="6248400" y="3790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word-5">
            <a:extLst xmlns:a="http://schemas.openxmlformats.org/drawingml/2006/main">
              <a:ext uri="{FF2B5EF4-FFF2-40B4-BE49-F238E27FC236}">
                <a16:creationId xmlns:a16="http://schemas.microsoft.com/office/drawing/2014/main" id="{C4987B07-1B32-45EC-BF6F-566CAEB6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43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takings</a:t>
            </a:r>
          </a:p>
        </p:txBody>
      </p:sp>
      <p:sp>
        <p:nvSpPr>
          <p:cNvPr id="21" name="definition-5">
            <a:extLst xmlns:a="http://schemas.openxmlformats.org/drawingml/2006/main">
              <a:ext uri="{FF2B5EF4-FFF2-40B4-BE49-F238E27FC236}">
                <a16:creationId xmlns:a16="http://schemas.microsoft.com/office/drawing/2014/main" id="{3902EEC6-9CEB-4E7A-8733-B00D620C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86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All the money from sales.</a:t>
            </a:r>
          </a:p>
        </p:txBody>
      </p:sp>
      <p:pic>
        <p:nvPicPr>
          <p:cNvPr id="22" name="picture-cue-7" descr="Flat target cue for decision tool.">
            <a:extLst xmlns:a="http://schemas.openxmlformats.org/drawingml/2006/main">
              <a:ext uri="{FF2B5EF4-FFF2-40B4-BE49-F238E27FC236}">
                <a16:creationId xmlns:a16="http://schemas.microsoft.com/office/drawing/2014/main" id="{C8F15AE0-3226-406F-B5C0-DF7C76368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ce88a1cb64dad"/>
          <a:stretch xmlns:a="http://schemas.openxmlformats.org/drawingml/2006/main"/>
        </p:blipFill>
        <p:spPr>
          <a:xfrm xmlns:a="http://schemas.openxmlformats.org/drawingml/2006/main">
            <a:off x="533400" y="4933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word-6">
            <a:extLst xmlns:a="http://schemas.openxmlformats.org/drawingml/2006/main">
              <a:ext uri="{FF2B5EF4-FFF2-40B4-BE49-F238E27FC236}">
                <a16:creationId xmlns:a16="http://schemas.microsoft.com/office/drawing/2014/main" id="{1CC31CF8-6683-4F8A-B74C-C2BF0B00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decision tool</a:t>
            </a:r>
          </a:p>
        </p:txBody>
      </p:sp>
      <p:sp>
        <p:nvSpPr>
          <p:cNvPr id="24" name="definition-6">
            <a:extLst xmlns:a="http://schemas.openxmlformats.org/drawingml/2006/main">
              <a:ext uri="{FF2B5EF4-FFF2-40B4-BE49-F238E27FC236}">
                <a16:creationId xmlns:a16="http://schemas.microsoft.com/office/drawing/2014/main" id="{FC46D56F-35AA-4F95-97FD-CA93F88E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29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A way to help us choose.</a:t>
            </a:r>
          </a:p>
        </p:txBody>
      </p:sp>
      <p:pic>
        <p:nvPicPr>
          <p:cNvPr id="25" name="picture-cue-8" descr="Flat shield check cue for allergen.">
            <a:extLst xmlns:a="http://schemas.openxmlformats.org/drawingml/2006/main">
              <a:ext uri="{FF2B5EF4-FFF2-40B4-BE49-F238E27FC236}">
                <a16:creationId xmlns:a16="http://schemas.microsoft.com/office/drawing/2014/main" id="{578F5F33-D35A-4A2A-B352-4CF3C62EC6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78c7271b243a9"/>
          <a:stretch xmlns:a="http://schemas.openxmlformats.org/drawingml/2006/main"/>
        </p:blipFill>
        <p:spPr>
          <a:xfrm xmlns:a="http://schemas.openxmlformats.org/drawingml/2006/main">
            <a:off x="6248400" y="4933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word-7">
            <a:extLst xmlns:a="http://schemas.openxmlformats.org/drawingml/2006/main">
              <a:ext uri="{FF2B5EF4-FFF2-40B4-BE49-F238E27FC236}">
                <a16:creationId xmlns:a16="http://schemas.microsoft.com/office/drawing/2014/main" id="{16093ADE-531E-4B49-B9EE-86B2B2A8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86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allergen</a:t>
            </a:r>
          </a:p>
        </p:txBody>
      </p:sp>
      <p:sp>
        <p:nvSpPr>
          <p:cNvPr id="27" name="definition-7">
            <a:extLst xmlns:a="http://schemas.openxmlformats.org/drawingml/2006/main">
              <a:ext uri="{FF2B5EF4-FFF2-40B4-BE49-F238E27FC236}">
                <a16:creationId xmlns:a16="http://schemas.microsoft.com/office/drawing/2014/main" id="{F478B5FF-CB65-440A-AF9D-852E168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29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A thing in food that some people react to. It can make them very ill. An adult must check the label.</a:t>
            </a:r>
          </a:p>
        </p:txBody>
      </p:sp>
      <p:sp>
        <p:nvSpPr>
          <p:cNvPr id="28" name="credit">
            <a:extLst xmlns:a="http://schemas.openxmlformats.org/drawingml/2006/main">
              <a:ext uri="{FF2B5EF4-FFF2-40B4-BE49-F238E27FC236}">
                <a16:creationId xmlns:a16="http://schemas.microsoft.com/office/drawing/2014/main" id="{C713B5BB-BBCB-404C-8749-28FA190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2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7B73D0-2718-4AF9-AA28-A4F4563E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9991060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code">
            <a:extLst xmlns:a="http://schemas.openxmlformats.org/drawingml/2006/main">
              <a:ext uri="{FF2B5EF4-FFF2-40B4-BE49-F238E27FC236}">
                <a16:creationId xmlns:a16="http://schemas.microsoft.com/office/drawing/2014/main" id="{7AC396FD-EF18-4B48-A678-18CFBB46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COMM-GROW-A2-W01  ·  Lesson 6</a:t>
            </a:r>
          </a:p>
        </p:txBody>
      </p:sp>
      <p:sp>
        <p:nvSpPr>
          <p:cNvPr id="2" name="edition">
            <a:extLst xmlns:a="http://schemas.openxmlformats.org/drawingml/2006/main">
              <a:ext uri="{FF2B5EF4-FFF2-40B4-BE49-F238E27FC236}">
                <a16:creationId xmlns:a16="http://schemas.microsoft.com/office/drawing/2014/main" id="{62D2C575-8261-4E86-BD77-097D3831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Public edition</a:t>
            </a:r>
          </a:p>
        </p:txBody>
      </p:sp>
      <p:sp>
        <p:nvSpPr>
          <p:cNvPr id="3" name="stage-title">
            <a:extLst xmlns:a="http://schemas.openxmlformats.org/drawingml/2006/main">
              <a:ext uri="{FF2B5EF4-FFF2-40B4-BE49-F238E27FC236}">
                <a16:creationId xmlns:a16="http://schemas.microsoft.com/office/drawing/2014/main" id="{03012EEC-1802-4BA0-BAE2-F94034B9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2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45D70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345D70"/>
                </a:solidFill>
                <a:latin typeface="Segoe UI"/>
                <a:ea typeface="Segoe UI"/>
                <a:cs typeface="Segoe UI"/>
              </a:rPr>
              <a:t>TA and staff brief</a:t>
            </a:r>
          </a:p>
        </p:txBody>
      </p:sp>
      <p:sp>
        <p:nvSpPr>
          <p:cNvPr id="4" name="staff-main">
            <a:extLst xmlns:a="http://schemas.openxmlformats.org/drawingml/2006/main">
              <a:ext uri="{FF2B5EF4-FFF2-40B4-BE49-F238E27FC236}">
                <a16:creationId xmlns:a16="http://schemas.microsoft.com/office/drawing/2014/main" id="{5A621FC8-A651-4A0D-96CF-F1282DD6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04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Keep dated individual evidence and feedback.</a:t>
            </a:r>
          </a:p>
          <a:p xmlns:a="http://schemas.openxmlformats.org/drawingml/2006/main">
            <a: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TA: read, rephrase or scribe. Keep the idea theirs.</a:t>
            </a:r>
          </a:p>
          <a:p xmlns:a="http://schemas.openxmlformats.org/drawingml/2006/main">
            <a: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Cold Call: fact or sum? Money after costs? What changed?</a:t>
            </a:r>
          </a:p>
          <a:p xmlns:a="http://schemas.openxmlformats.org/drawingml/2006/main">
            <a: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Lundy: Space, Voice, Audience, Influence.</a:t>
            </a:r>
          </a:p>
          <a:p xmlns:a="http://schemas.openxmlformats.org/drawingml/2006/main">
            <a: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VF · WS · I · NS · E · R</a:t>
            </a:r>
          </a:p>
          <a:p xmlns:a="http://schemas.openxmlformats.org/drawingml/2006/main">
            <a:pPr>
              <a:defRPr sz="187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Capture in the evidence app.</a:t>
            </a:r>
          </a:p>
        </p:txBody>
      </p:sp>
      <p:sp>
        <p:nvSpPr>
          <p:cNvPr id="5" name="cold-call-detail">
            <a:extLst xmlns:a="http://schemas.openxmlformats.org/drawingml/2006/main">
              <a:ext uri="{FF2B5EF4-FFF2-40B4-BE49-F238E27FC236}">
                <a16:creationId xmlns:a16="http://schemas.microsoft.com/office/drawing/2014/main" id="{0CE8D1B2-5991-4D41-B244-45503C24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049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1. Which fact or sum helped you choose?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2. Why is the money from sales not all money to give?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2E3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92E3B"/>
                </a:solidFill>
                <a:latin typeface="Segoe UI"/>
                <a:ea typeface="Segoe UI"/>
                <a:cs typeface="Segoe UI"/>
              </a:rPr>
              <a:t>3. What changed because of your idea?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87D92B85-6966-4333-B3C5-A62E840C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Made by Matt · © Matt Roper · CC BY-NC-SA 4.0: free for classroom use, share and adapt with credit, no resale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8DB049-A9DA-4AA9-9ACC-B335CEE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574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4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20819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/>
  <dc:title>Problem-solving and final decisions</dc:title>
  <dcterms:created xsi:type="dcterms:W3CDTF">2026-10-22T09:44:26.0040000Z</dcterms:created>
  <dcterms:modified xsi:type="dcterms:W3CDTF">2026-10-22T09:44:26.0040000Z</dcterms:modified>
  <dc:subject>COMM-GROW-A2-W01</dc:subject>
</coreProperties>
</file>