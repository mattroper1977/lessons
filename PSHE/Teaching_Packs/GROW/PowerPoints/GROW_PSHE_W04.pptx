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250295a099f4663" /><Relationship Type="http://schemas.openxmlformats.org/officeDocument/2006/relationships/extended-properties" Target="/docProps/app.xml" Id="R61b99087f3874dac" /><Relationship Type="http://schemas.openxmlformats.org/officeDocument/2006/relationships/officeDocument" Target="/ppt/presentation.xml" Id="R3474cbe4c89b41bc" /></Relationships>
</file>

<file path=ppt/presentation.xml><?xml version="1.0" encoding="utf-8"?>
<p:presentation xmlns:p="http://schemas.openxmlformats.org/presentationml/2006/main">
  <p:sldMasterIdLst>
    <p:sldMasterId xmlns:r="http://schemas.openxmlformats.org/officeDocument/2006/relationships" id="2147483648" r:id="Rd6582ca1485c438a"/>
  </p:sldMasterIdLst>
  <p:notesMasterIdLst>
    <p:notesMasterId xmlns:r="http://schemas.openxmlformats.org/officeDocument/2006/relationships" r:id="Raae4893e9c884ad6"/>
  </p:notesMasterIdLst>
  <p:sldIdLst>
    <p:sldId xmlns:r="http://schemas.openxmlformats.org/officeDocument/2006/relationships" id="256" r:id="Rfc56145c23d549e7"/>
    <p:sldId xmlns:r="http://schemas.openxmlformats.org/officeDocument/2006/relationships" id="257" r:id="R9ff2c8affa9d4a82"/>
    <p:sldId xmlns:r="http://schemas.openxmlformats.org/officeDocument/2006/relationships" id="258" r:id="R221499cafedb4026"/>
    <p:sldId xmlns:r="http://schemas.openxmlformats.org/officeDocument/2006/relationships" id="259" r:id="Rd5feb47722f34b4f"/>
    <p:sldId xmlns:r="http://schemas.openxmlformats.org/officeDocument/2006/relationships" id="260" r:id="R231ffa72782940d7"/>
    <p:sldId xmlns:r="http://schemas.openxmlformats.org/officeDocument/2006/relationships" id="261" r:id="R97a04c2446b84ae2"/>
    <p:sldId xmlns:r="http://schemas.openxmlformats.org/officeDocument/2006/relationships" id="262" r:id="R987cd391f38e4ebb"/>
    <p:sldId xmlns:r="http://schemas.openxmlformats.org/officeDocument/2006/relationships" id="263" r:id="R3c82e898468b468b"/>
    <p:sldId xmlns:r="http://schemas.openxmlformats.org/officeDocument/2006/relationships" id="264" r:id="Rd692c9f72c3e4e05"/>
    <p:sldId xmlns:r="http://schemas.openxmlformats.org/officeDocument/2006/relationships" id="265" r:id="R7352e969bd2e4457"/>
    <p:sldId xmlns:r="http://schemas.openxmlformats.org/officeDocument/2006/relationships" id="266" r:id="Rbcb0b21e07f04287"/>
    <p:sldId xmlns:r="http://schemas.openxmlformats.org/officeDocument/2006/relationships" id="267" r:id="R27c61379a3ce4f75"/>
    <p:sldId xmlns:r="http://schemas.openxmlformats.org/officeDocument/2006/relationships" id="268" r:id="R73a08eea9d4d41c6"/>
    <p:sldId xmlns:r="http://schemas.openxmlformats.org/officeDocument/2006/relationships" id="269" r:id="Rf72a9e5a81824ab9"/>
    <p:sldId xmlns:r="http://schemas.openxmlformats.org/officeDocument/2006/relationships" id="270" r:id="Rb526ee479290440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034e47c31074337" /><Relationship Type="http://schemas.openxmlformats.org/officeDocument/2006/relationships/slideMaster" Target="/ppt/slideMasters/slideMaster1.xml" Id="Rd6582ca1485c438a" /><Relationship Type="http://schemas.openxmlformats.org/officeDocument/2006/relationships/notesMaster" Target="/ppt/notesMasters/notesMaster1.xml" Id="Raae4893e9c884ad6" /><Relationship Type="http://schemas.openxmlformats.org/officeDocument/2006/relationships/presProps" Target="/ppt/presProps.xml" Id="R444bd2918ada4957" /><Relationship Type="http://schemas.openxmlformats.org/officeDocument/2006/relationships/tableStyles" Target="/ppt/tableStyles.xml" Id="Rdb3bdf0d321041ee" /><Relationship Type="http://schemas.openxmlformats.org/officeDocument/2006/relationships/slide" Target="/ppt/slides/slide1.xml" Id="Rfc56145c23d549e7" /><Relationship Type="http://schemas.openxmlformats.org/officeDocument/2006/relationships/slide" Target="/ppt/slides/slide2.xml" Id="R9ff2c8affa9d4a82" /><Relationship Type="http://schemas.openxmlformats.org/officeDocument/2006/relationships/slide" Target="/ppt/slides/slide3.xml" Id="R221499cafedb4026" /><Relationship Type="http://schemas.openxmlformats.org/officeDocument/2006/relationships/slide" Target="/ppt/slides/slide4.xml" Id="Rd5feb47722f34b4f" /><Relationship Type="http://schemas.openxmlformats.org/officeDocument/2006/relationships/slide" Target="/ppt/slides/slide5.xml" Id="R231ffa72782940d7" /><Relationship Type="http://schemas.openxmlformats.org/officeDocument/2006/relationships/slide" Target="/ppt/slides/slide6.xml" Id="R97a04c2446b84ae2" /><Relationship Type="http://schemas.openxmlformats.org/officeDocument/2006/relationships/slide" Target="/ppt/slides/slide7.xml" Id="R987cd391f38e4ebb" /><Relationship Type="http://schemas.openxmlformats.org/officeDocument/2006/relationships/slide" Target="/ppt/slides/slide8.xml" Id="R3c82e898468b468b" /><Relationship Type="http://schemas.openxmlformats.org/officeDocument/2006/relationships/slide" Target="/ppt/slides/slide9.xml" Id="Rd692c9f72c3e4e05" /><Relationship Type="http://schemas.openxmlformats.org/officeDocument/2006/relationships/slide" Target="/ppt/slides/slide10.xml" Id="R7352e969bd2e4457" /><Relationship Type="http://schemas.openxmlformats.org/officeDocument/2006/relationships/slide" Target="/ppt/slides/slide11.xml" Id="Rbcb0b21e07f04287" /><Relationship Type="http://schemas.openxmlformats.org/officeDocument/2006/relationships/slide" Target="/ppt/slides/slide12.xml" Id="R27c61379a3ce4f75" /><Relationship Type="http://schemas.openxmlformats.org/officeDocument/2006/relationships/slide" Target="/ppt/slides/slide13.xml" Id="R73a08eea9d4d41c6" /><Relationship Type="http://schemas.openxmlformats.org/officeDocument/2006/relationships/slide" Target="/ppt/slides/slide14.xml" Id="Rf72a9e5a81824ab9" /><Relationship Type="http://schemas.openxmlformats.org/officeDocument/2006/relationships/slide" Target="/ppt/slides/slide15.xml" Id="Rb526ee479290440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43f7459370247d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974de8fe251464e" /><Relationship Type="http://schemas.openxmlformats.org/officeDocument/2006/relationships/notesMaster" Target="/ppt/notesMasters/notesMaster1.xml" Id="R3ba5c2ef50ed45c8" /></Relationships>
</file>

<file path=ppt/notesSlides/_rels/notesSlide2.xml.rels>&#65279;<?xml version="1.0" encoding="utf-8"?><Relationships xmlns="http://schemas.openxmlformats.org/package/2006/relationships"><Relationship Type="http://schemas.openxmlformats.org/officeDocument/2006/relationships/slide" Target="/ppt/slides/slide2.xml" Id="Ra141c14dd8c74966" /><Relationship Type="http://schemas.openxmlformats.org/officeDocument/2006/relationships/notesMaster" Target="/ppt/notesMasters/notesMaster1.xml" Id="R86b0f61a608f4444" /></Relationships>
</file>

<file path=ppt/notesSlides/_rels/notesSlide3.xml.rels>&#65279;<?xml version="1.0" encoding="utf-8"?><Relationships xmlns="http://schemas.openxmlformats.org/package/2006/relationships"><Relationship Type="http://schemas.openxmlformats.org/officeDocument/2006/relationships/slide" Target="/ppt/slides/slide3.xml" Id="Re67726ca621a465a" /><Relationship Type="http://schemas.openxmlformats.org/officeDocument/2006/relationships/notesMaster" Target="/ppt/notesMasters/notesMaster1.xml" Id="R4135ee3ccda74a58" /></Relationships>
</file>

<file path=ppt/notesSlides/_rels/notesSlide4.xml.rels>&#65279;<?xml version="1.0" encoding="utf-8"?><Relationships xmlns="http://schemas.openxmlformats.org/package/2006/relationships"><Relationship Type="http://schemas.openxmlformats.org/officeDocument/2006/relationships/slide" Target="/ppt/slides/slide4.xml" Id="Rd75636abf8604857" /><Relationship Type="http://schemas.openxmlformats.org/officeDocument/2006/relationships/notesMaster" Target="/ppt/notesMasters/notesMaster1.xml" Id="R579d9f135a15465c" /></Relationships>
</file>

<file path=ppt/notesSlides/_rels/notesSlide5.xml.rels>&#65279;<?xml version="1.0" encoding="utf-8"?><Relationships xmlns="http://schemas.openxmlformats.org/package/2006/relationships"><Relationship Type="http://schemas.openxmlformats.org/officeDocument/2006/relationships/slide" Target="/ppt/slides/slide5.xml" Id="R6e4b407e69b947d1" /><Relationship Type="http://schemas.openxmlformats.org/officeDocument/2006/relationships/notesMaster" Target="/ppt/notesMasters/notesMaster1.xml" Id="Rf8b873a0307b48d2" /></Relationships>
</file>

<file path=ppt/notesSlides/_rels/notesSlide6.xml.rels>&#65279;<?xml version="1.0" encoding="utf-8"?><Relationships xmlns="http://schemas.openxmlformats.org/package/2006/relationships"><Relationship Type="http://schemas.openxmlformats.org/officeDocument/2006/relationships/slide" Target="/ppt/slides/slide6.xml" Id="R3cad8b9cf7954a68" /><Relationship Type="http://schemas.openxmlformats.org/officeDocument/2006/relationships/notesMaster" Target="/ppt/notesMasters/notesMaster1.xml" Id="R8b23667dcc1143af" /></Relationships>
</file>

<file path=ppt/notesSlides/_rels/notesSlide7.xml.rels>&#65279;<?xml version="1.0" encoding="utf-8"?><Relationships xmlns="http://schemas.openxmlformats.org/package/2006/relationships"><Relationship Type="http://schemas.openxmlformats.org/officeDocument/2006/relationships/slide" Target="/ppt/slides/slide7.xml" Id="R7f2640c8d69b44e2" /><Relationship Type="http://schemas.openxmlformats.org/officeDocument/2006/relationships/notesMaster" Target="/ppt/notesMasters/notesMaster1.xml" Id="R564fa285b632452c" /></Relationships>
</file>

<file path=ppt/notesSlides/_rels/notesSlide8.xml.rels>&#65279;<?xml version="1.0" encoding="utf-8"?><Relationships xmlns="http://schemas.openxmlformats.org/package/2006/relationships"><Relationship Type="http://schemas.openxmlformats.org/officeDocument/2006/relationships/slide" Target="/ppt/slides/slide8.xml" Id="Ra6de7dc642a94b71" /><Relationship Type="http://schemas.openxmlformats.org/officeDocument/2006/relationships/notesMaster" Target="/ppt/notesMasters/notesMaster1.xml" Id="Rea16793a409f4daa" /></Relationships>
</file>

<file path=ppt/notesSlides/_rels/notesSlide9.xml.rels>&#65279;<?xml version="1.0" encoding="utf-8"?><Relationships xmlns="http://schemas.openxmlformats.org/package/2006/relationships"><Relationship Type="http://schemas.openxmlformats.org/officeDocument/2006/relationships/slide" Target="/ppt/slides/slide9.xml" Id="Rd058e526c25a4d7e" /><Relationship Type="http://schemas.openxmlformats.org/officeDocument/2006/relationships/notesMaster" Target="/ppt/notesMasters/notesMaster1.xml" Id="Rf0e23dc38cd049d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e8c3149580640b7" /><Relationship Type="http://schemas.openxmlformats.org/officeDocument/2006/relationships/notesMaster" Target="/ppt/notesMasters/notesMaster1.xml" Id="Re13731a41a80438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7ddce922d364ffc" /><Relationship Type="http://schemas.openxmlformats.org/officeDocument/2006/relationships/notesMaster" Target="/ppt/notesMasters/notesMaster1.xml" Id="Rc186b693babe4dd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0eda659f6ee4344" /><Relationship Type="http://schemas.openxmlformats.org/officeDocument/2006/relationships/notesMaster" Target="/ppt/notesMasters/notesMaster1.xml" Id="Re7cc066f429d4a1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e0f66171baf4f09" /><Relationship Type="http://schemas.openxmlformats.org/officeDocument/2006/relationships/notesMaster" Target="/ppt/notesMasters/notesMaster1.xml" Id="Rc281f31426cb412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cbe65ba87ce4384" /><Relationship Type="http://schemas.openxmlformats.org/officeDocument/2006/relationships/notesMaster" Target="/ppt/notesMasters/notesMaster1.xml" Id="R79fc8b69c7104fe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25be1ae75ea4a53" /><Relationship Type="http://schemas.openxmlformats.org/officeDocument/2006/relationships/notesMaster" Target="/ppt/notesMasters/notesMaster1.xml" Id="R64daf3a1e00c41a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GROW_PSHE_W04 | Regulation: finding helpful support</a:t>
            </a:r>
          </a:p>
          <a:p xmlns:a="http://schemas.openxmlformats.org/drawingml/2006/main">
            <a:r>
              <a:t>Compare regulation options, include adult and environmental support, and make a flexible plan without treating calm behaviour as the goal.</a:t>
            </a:r>
          </a:p>
          <a:p xmlns:a="http://schemas.openxmlformats.org/drawingml/2006/main">
            <a:r>
              <a:t/>
            </a:r>
          </a:p>
          <a:p xmlns:a="http://schemas.openxmlformats.org/drawingml/2006/main">
            <a:r>
              <a:t>Adapted from Week 4 Feeling Calm and My Regulation Plan. MF5 is an unverified source planning reference. Mandatory box breathing and public ratings are replaced with optional support exploration.</a:t>
            </a:r>
          </a:p>
          <a:p xmlns:a="http://schemas.openxmlformats.org/drawingml/2006/main">
            <a:r>
              <a:t/>
            </a:r>
          </a:p>
          <a:p xmlns:a="http://schemas.openxmlformats.org/drawingml/2006/main">
            <a:r>
              <a:t>Pupil prompt: Does helpful support have to look the same for everyone?</a:t>
            </a:r>
          </a:p>
          <a:p xmlns:a="http://schemas.openxmlformats.org/drawingml/2006/main">
            <a:r>
              <a:t/>
            </a:r>
          </a:p>
          <a:p xmlns:a="http://schemas.openxmlformats.org/drawingml/2006/main">
            <a:r>
              <a:t>Teacher answer / acceptable response: No. One person may want quiet; another may want movement or someone nearby.</a:t>
            </a:r>
          </a:p>
          <a:p xmlns:a="http://schemas.openxmlformats.org/drawingml/2006/main">
            <a:r>
              <a:t/>
            </a:r>
          </a:p>
          <a:p xmlns:a="http://schemas.openxmlformats.org/drawingml/2006/main">
            <a:r>
              <a:t>Support: Offer two options relevant to the fictional barrier and two adult actions. Read them aloud; accept pointing. Keep any personal response private and treat observing as full participation.</a:t>
            </a:r>
          </a:p>
          <a:p xmlns:a="http://schemas.openxmlformats.org/drawingml/2006/main">
            <a:r>
              <a:t/>
            </a:r>
          </a:p>
          <a:p xmlns:a="http://schemas.openxmlformats.org/drawingml/2006/main">
            <a:r>
              <a:t>Stretch: Compare a strategy focused on the individual with a change to the environment. Explain why a plan should include the person’s preference and a review rather than a fixed “calm down” requirement.</a:t>
            </a:r>
          </a:p>
          <a:p xmlns:a="http://schemas.openxmlformats.org/drawingml/2006/main">
            <a:r>
              <a:t/>
            </a:r>
          </a:p>
          <a:p xmlns:a="http://schemas.openxmlformats.org/drawingml/2006/main">
            <a:r>
              <a:t>Safeguarding / safety: Follow each pupil’s agreed plan. Do not use touch, breath-holding, closed-eye demands or forced participation. A pupil can stop immediately. Respond to reported illness through school procedures. For safety concerns, use the Week 5 protocol.</a:t>
            </a:r>
          </a:p>
          <a:p xmlns:a="http://schemas.openxmlformats.org/drawingml/2006/main">
            <a:r>
              <a:t/>
            </a:r>
          </a:p>
          <a:p xmlns:a="http://schemas.openxmlformats.org/drawingml/2006/main">
            <a:r>
              <a:t>40-minute lesson flow (total for the whole lesson, not each slide):</a:t>
            </a:r>
          </a:p>
          <a:p xmlns:a="http://schemas.openxmlformats.org/drawingml/2006/main">
            <a:r>
              <a:t>3 min: Welcome and feedback on access suggestion</a:t>
            </a:r>
          </a:p>
          <a:p xmlns:a="http://schemas.openxmlformats.org/drawingml/2006/main">
            <a:r>
              <a:t>5 min: Teach support and shared responsibility</a:t>
            </a:r>
          </a:p>
          <a:p xmlns:a="http://schemas.openxmlformats.org/drawingml/2006/main">
            <a:r>
              <a:t>5 min: Analyse noisy-room scenario</a:t>
            </a:r>
          </a:p>
          <a:p xmlns:a="http://schemas.openxmlformats.org/drawingml/2006/main">
            <a:r>
              <a:t>6 min: Model menu; optional observe/try/paper comparison</a:t>
            </a:r>
          </a:p>
          <a:p xmlns:a="http://schemas.openxmlformats.org/drawingml/2006/main">
            <a:r>
              <a:t>12 min: Three pupil tasks and flexible plan</a:t>
            </a:r>
          </a:p>
          <a:p xmlns:a="http://schemas.openxmlformats.org/drawingml/2006/main">
            <a:r>
              <a:t>4 min: Review an unhelpful trial</a:t>
            </a:r>
          </a:p>
          <a:p xmlns:a="http://schemas.openxmlformats.org/drawingml/2006/main">
            <a:r>
              <a:t>3 min: Exit check and help reminder</a:t>
            </a:r>
          </a:p>
          <a:p xmlns:a="http://schemas.openxmlformats.org/drawingml/2006/main">
            <a:r>
              <a:t>2 min: Reset and supported transition</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Week_4_PSHE_Feeling_Calm_(MF5).pptx</a:t>
            </a:r>
          </a:p>
          <a:p xmlns:a="http://schemas.openxmlformats.org/drawingml/2006/main">
            <a:r>
              <a:t>Uploaded teaching source: Week_4_PSHE_Worksheet_My_Regulation_Plan_(MF5).docx</a:t>
            </a:r>
          </a:p>
          <a:p xmlns:a="http://schemas.openxmlformats.org/drawingml/2006/main">
            <a:r>
              <a:t>Uploaded All About Me PSHE materials, Weeks 1–7 —  — Primary adaptation sources: all seven PPTX and all seven matching DOCX listed per lesson. They label the pathway BUILD; the user requests a GROW adaptation. Source codes SA1, SSS1, WILI1, CG2, MF5, SA5, SA3 and the Week 7 SA1–SA5 range are retained only as unverified planning references. Original wording, claims and activities have been substantively rewritten. No claim of endorsement, qualification evidence or complete PSHE Association alignment is made.</a:t>
            </a:r>
          </a:p>
          <a:p xmlns:a="http://schemas.openxmlformats.org/drawingml/2006/main">
            <a:r>
              <a:t>GROW unit placement and editorial changes —  — This upload-derived All About Me personal development unit is additional to the different current GROW website PSHE sequence. Preserve the existing scheme and catalogue when installing it. Replaced public named mood charts, compulsory body maps and personal network sharing, breath-holding, obligatory kindness missions and automatic display. Removed unsupported Week 7 recap claims about separate consent/public-private topics and simplified service/confidentiality overclaims.</a:t>
            </a:r>
          </a:p>
          <a:p xmlns:a="http://schemas.openxmlformats.org/drawingml/2006/main">
            <a:r>
              <a:t>Laura Lundy model: Space, Voice, Audience and Influence — https://pure.qub.ac.uk/en/publications/space-voice-audience-and-influence-the-lundy-model-and-early-chil/ — Primary author source for the four interrelated participation elements. Pupil language is an original classroom adaptation. Space includes safe inclusive opportunities; Voice includes information and support; Audience involves a responsible listener; Influence requires serious consideration rather than automatic agreement. Checked 7 September 2026.</a:t>
            </a:r>
          </a:p>
          <a:p xmlns:a="http://schemas.openxmlformats.org/drawingml/2006/main">
            <a:r>
              <a:t>Laura Lundy on participation and feedback — https://blogs.qub.ac.uk/qpol/how-to-do-better-in-childrens-participation/ — Author commentary supports returning an explanation of what happened to children’s views. The pack uses small real access decisions and a stated feedback point. Checked 7 September 2026.</a:t>
            </a:r>
          </a:p>
          <a:p xmlns:a="http://schemas.openxmlformats.org/drawingml/2006/main">
            <a:r>
              <a:t>Hub na nÓg: National Participation Framework — https://hubnanog.ie/participation-framework/ — Co-developed with Professor Laura Lundy. Supports purposeful participation, accessible opportunities, decision-maker responsibility, realistic expectations and feedback in everyday settings. The fictional club examples are newly authored classroom applications. Checked 7 September 2026.</a:t>
            </a:r>
          </a:p>
          <a:p xmlns:a="http://schemas.openxmlformats.org/drawingml/2006/main">
            <a:r>
              <a:t>EU Children’s Participation Platform: the Lundy model — https://eu-for-children.europa.eu/about/lundy-model_en — Primary platform account of implementing the four elements with Professor Lundy, including children’s choice about if/how to contribute, listening by decision-makers and feedback about influence. Used to check the accessible classroom wording. Checked 7 September 2026.</a:t>
            </a:r>
          </a:p>
          <a:p xmlns:a="http://schemas.openxmlformats.org/drawingml/2006/main">
            <a:r>
              <a:t>NSPCC: recognising and responding to abuse — https://learning.nspcc.org.uk/child-abuse-and-neglect/recognising-and-responding-to-abuse — Teacher disclosure response checked against NSPCC guidance: attentive listening, no secrecy promise or investigation, accurate recording, timely safeguarding reporting and emergency response if required. Apply the school’s current procedures. Checked 7 September 2026.</a:t>
            </a:r>
          </a:p>
          <a:p xmlns:a="http://schemas.openxmlformats.org/drawingml/2006/main">
            <a:r>
              <a:t>Childline: about the service — https://www.childline.org.uk/about/about-childline — Confirms support for under-19s in the UK and contact by free telephone 0800 1111 or online. No promise of immediate availability is made. Checked 7 September 2026.</a:t>
            </a:r>
          </a:p>
          <a:p xmlns:a="http://schemas.openxmlformats.org/drawingml/2006/main">
            <a:r>
              <a:t>Childline: confidentiality promise — https://www.childline.org.uk/about/confidentiality-promise — Confidentiality has defined exceptions, including some serious safety concerns and legal requirements. The lesson does not promise that every disclosure stays secret. Checked 7 September 2026.</a:t>
            </a:r>
          </a:p>
          <a:p xmlns:a="http://schemas.openxmlformats.org/drawingml/2006/main">
            <a:r>
              <a:t>CEOP: reporting remit — https://www.ceop.police.uk/ceop-reporting/ — CEOP is a reporting route for online sexual abuse and grooming. It does not handle general online bullying, fake accounts or hacking reports. This corrects the broad service description in the upload. Checked 7 September 2026.</a:t>
            </a:r>
          </a:p>
          <a:p xmlns:a="http://schemas.openxmlformats.org/drawingml/2006/main">
            <a:r>
              <a:t>YoungMinds: information and support for young people — https://www.youngminds.org.uk/young-person/ — Used for mental health information and help-finding guidance. The pack does not present YoungMinds as pupil counselling or emergency response. Checked 7 September 2026.</a:t>
            </a:r>
          </a:p>
          <a:p xmlns:a="http://schemas.openxmlformats.org/drawingml/2006/main">
            <a:r>
              <a:t>YoungMinds: service boundaries — https://www.youngminds.org.uk/parent/ — The organisation explains that it does not provide counselling or therapy for young people. School/GP support and emergency routes are kept distinct. Checked 7 September 2026.</a:t>
            </a:r>
          </a:p>
          <a:p xmlns:a="http://schemas.openxmlformats.org/drawingml/2006/main">
            <a:r>
              <a:t>NHS: breathing exercises for stress — https://www.nhs.uk/mental-health/self-help/guides-tools-and-activities/breathing-exercises-for-stress/ — Supports comfortable, unforced breathing. The optional classroom example does not require breath-holding or claim a one-minute trial is therapy or proof of an effect. Alternatives include observing or comparing fictional cases. Checked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GROW_PSHE_W04 | Regulation: finding helpful support</a:t>
            </a:r>
          </a:p>
          <a:p xmlns:a="http://schemas.openxmlformats.org/drawingml/2006/main">
            <a:r>
              <a:t>Compare regulation options, include adult and environmental support, and make a flexible plan without treating calm behaviour as the goal.</a:t>
            </a:r>
          </a:p>
          <a:p xmlns:a="http://schemas.openxmlformats.org/drawingml/2006/main">
            <a:r>
              <a:t/>
            </a:r>
          </a:p>
          <a:p xmlns:a="http://schemas.openxmlformats.org/drawingml/2006/main">
            <a:r>
              <a:t>Read each word aloud and link it to a concrete example. Revisit these words during the tasks.</a:t>
            </a:r>
          </a:p>
          <a:p xmlns:a="http://schemas.openxmlformats.org/drawingml/2006/main">
            <a:r>
              <a:t/>
            </a:r>
          </a:p>
          <a:p xmlns:a="http://schemas.openxmlformats.org/drawingml/2006/main">
            <a:r>
              <a:t>Support: Offer two options relevant to the fictional barrier and two adult actions. Read them aloud; accept pointing. Keep any personal response private and treat observing as full participation.</a:t>
            </a:r>
          </a:p>
          <a:p xmlns:a="http://schemas.openxmlformats.org/drawingml/2006/main">
            <a:r>
              <a:t/>
            </a:r>
          </a:p>
          <a:p xmlns:a="http://schemas.openxmlformats.org/drawingml/2006/main">
            <a:r>
              <a:t>Stretch: Compare a strategy focused on the individual with a change to the environment. Explain why a plan should include the person’s preference and a review rather than a fixed “calm down” requirement.</a:t>
            </a:r>
          </a:p>
          <a:p xmlns:a="http://schemas.openxmlformats.org/drawingml/2006/main">
            <a:r>
              <a:t/>
            </a:r>
          </a:p>
          <a:p xmlns:a="http://schemas.openxmlformats.org/drawingml/2006/main">
            <a:r>
              <a:t>Safeguarding / safety: Follow each pupil’s agreed plan. Do not use touch, breath-holding, closed-eye demands or forced participation. A pupil can stop immediately. Respond to reported illness through school procedures. For safety concerns, use the Week 5 protocol.</a:t>
            </a:r>
          </a:p>
          <a:p xmlns:a="http://schemas.openxmlformats.org/drawingml/2006/main">
            <a:r>
              <a:t/>
            </a:r>
          </a:p>
          <a:p xmlns:a="http://schemas.openxmlformats.org/drawingml/2006/main">
            <a:r>
              <a:t>40-minute lesson flow (total for the whole lesson, not each slide):</a:t>
            </a:r>
          </a:p>
          <a:p xmlns:a="http://schemas.openxmlformats.org/drawingml/2006/main">
            <a:r>
              <a:t>3 min: Welcome and feedback on access suggestion</a:t>
            </a:r>
          </a:p>
          <a:p xmlns:a="http://schemas.openxmlformats.org/drawingml/2006/main">
            <a:r>
              <a:t>5 min: Teach support and shared responsibility</a:t>
            </a:r>
          </a:p>
          <a:p xmlns:a="http://schemas.openxmlformats.org/drawingml/2006/main">
            <a:r>
              <a:t>5 min: Analyse noisy-room scenario</a:t>
            </a:r>
          </a:p>
          <a:p xmlns:a="http://schemas.openxmlformats.org/drawingml/2006/main">
            <a:r>
              <a:t>6 min: Model menu; optional observe/try/paper comparison</a:t>
            </a:r>
          </a:p>
          <a:p xmlns:a="http://schemas.openxmlformats.org/drawingml/2006/main">
            <a:r>
              <a:t>12 min: Three pupil tasks and flexible plan</a:t>
            </a:r>
          </a:p>
          <a:p xmlns:a="http://schemas.openxmlformats.org/drawingml/2006/main">
            <a:r>
              <a:t>4 min: Review an unhelpful trial</a:t>
            </a:r>
          </a:p>
          <a:p xmlns:a="http://schemas.openxmlformats.org/drawingml/2006/main">
            <a:r>
              <a:t>3 min: Exit check and help reminder</a:t>
            </a:r>
          </a:p>
          <a:p xmlns:a="http://schemas.openxmlformats.org/drawingml/2006/main">
            <a:r>
              <a:t>2 min: Reset and supported transition</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Week_4_PSHE_Feeling_Calm_(MF5).pptx</a:t>
            </a:r>
          </a:p>
          <a:p xmlns:a="http://schemas.openxmlformats.org/drawingml/2006/main">
            <a:r>
              <a:t>Uploaded teaching source: Week_4_PSHE_Worksheet_My_Regulation_Plan_(MF5).docx</a:t>
            </a:r>
          </a:p>
          <a:p xmlns:a="http://schemas.openxmlformats.org/drawingml/2006/main">
            <a:r>
              <a:t>Uploaded All About Me PSHE materials, Weeks 1–7 —  — Primary adaptation sources: all seven PPTX and all seven matching DOCX listed per lesson. They label the pathway BUILD; the user requests a GROW adaptation. Source codes SA1, SSS1, WILI1, CG2, MF5, SA5, SA3 and the Week 7 SA1–SA5 range are retained only as unverified planning references. Original wording, claims and activities have been substantively rewritten. No claim of endorsement, qualification evidence or complete PSHE Association alignment is made.</a:t>
            </a:r>
          </a:p>
          <a:p xmlns:a="http://schemas.openxmlformats.org/drawingml/2006/main">
            <a:r>
              <a:t>GROW unit placement and editorial changes —  — This upload-derived All About Me personal development unit is additional to the different current GROW website PSHE sequence. Preserve the existing scheme and catalogue when installing it. Replaced public named mood charts, compulsory body maps and personal network sharing, breath-holding, obligatory kindness missions and automatic display. Removed unsupported Week 7 recap claims about separate consent/public-private topics and simplified service/confidentiality overclaims.</a:t>
            </a:r>
          </a:p>
          <a:p xmlns:a="http://schemas.openxmlformats.org/drawingml/2006/main">
            <a:r>
              <a:t>Laura Lundy model: Space, Voice, Audience and Influence — https://pure.qub.ac.uk/en/publications/space-voice-audience-and-influence-the-lundy-model-and-early-chil/ — Primary author source for the four interrelated participation elements. Pupil language is an original classroom adaptation. Space includes safe inclusive opportunities; Voice includes information and support; Audience involves a responsible listener; Influence requires serious consideration rather than automatic agreement. Checked 7 September 2026.</a:t>
            </a:r>
          </a:p>
          <a:p xmlns:a="http://schemas.openxmlformats.org/drawingml/2006/main">
            <a:r>
              <a:t>Laura Lundy on participation and feedback — https://blogs.qub.ac.uk/qpol/how-to-do-better-in-childrens-participation/ — Author commentary supports returning an explanation of what happened to children’s views. The pack uses small real access decisions and a stated feedback point. Checked 7 September 2026.</a:t>
            </a:r>
          </a:p>
          <a:p xmlns:a="http://schemas.openxmlformats.org/drawingml/2006/main">
            <a:r>
              <a:t>Hub na nÓg: National Participation Framework — https://hubnanog.ie/participation-framework/ — Co-developed with Professor Laura Lundy. Supports purposeful participation, accessible opportunities, decision-maker responsibility, realistic expectations and feedback in everyday settings. The fictional club examples are newly authored classroom applications. Checked 7 September 2026.</a:t>
            </a:r>
          </a:p>
          <a:p xmlns:a="http://schemas.openxmlformats.org/drawingml/2006/main">
            <a:r>
              <a:t>EU Children’s Participation Platform: the Lundy model — https://eu-for-children.europa.eu/about/lundy-model_en — Primary platform account of implementing the four elements with Professor Lundy, including children’s choice about if/how to contribute, listening by decision-makers and feedback about influence. Used to check the accessible classroom wording. Checked 7 September 2026.</a:t>
            </a:r>
          </a:p>
          <a:p xmlns:a="http://schemas.openxmlformats.org/drawingml/2006/main">
            <a:r>
              <a:t>NSPCC: recognising and responding to abuse — https://learning.nspcc.org.uk/child-abuse-and-neglect/recognising-and-responding-to-abuse — Teacher disclosure response checked against NSPCC guidance: attentive listening, no secrecy promise or investigation, accurate recording, timely safeguarding reporting and emergency response if required. Apply the school’s current procedures. Checked 7 September 2026.</a:t>
            </a:r>
          </a:p>
          <a:p xmlns:a="http://schemas.openxmlformats.org/drawingml/2006/main">
            <a:r>
              <a:t>Childline: about the service — https://www.childline.org.uk/about/about-childline — Confirms support for under-19s in the UK and contact by free telephone 0800 1111 or online. No promise of immediate availability is made. Checked 7 September 2026.</a:t>
            </a:r>
          </a:p>
          <a:p xmlns:a="http://schemas.openxmlformats.org/drawingml/2006/main">
            <a:r>
              <a:t>Childline: confidentiality promise — https://www.childline.org.uk/about/confidentiality-promise — Confidentiality has defined exceptions, including some serious safety concerns and legal requirements. The lesson does not promise that every disclosure stays secret. Checked 7 September 2026.</a:t>
            </a:r>
          </a:p>
          <a:p xmlns:a="http://schemas.openxmlformats.org/drawingml/2006/main">
            <a:r>
              <a:t>CEOP: reporting remit — https://www.ceop.police.uk/ceop-reporting/ — CEOP is a reporting route for online sexual abuse and grooming. It does not handle general online bullying, fake accounts or hacking reports. This corrects the broad service description in the upload. Checked 7 September 2026.</a:t>
            </a:r>
          </a:p>
          <a:p xmlns:a="http://schemas.openxmlformats.org/drawingml/2006/main">
            <a:r>
              <a:t>YoungMinds: information and support for young people — https://www.youngminds.org.uk/young-person/ — Used for mental health information and help-finding guidance. The pack does not present YoungMinds as pupil counselling or emergency response. Checked 7 September 2026.</a:t>
            </a:r>
          </a:p>
          <a:p xmlns:a="http://schemas.openxmlformats.org/drawingml/2006/main">
            <a:r>
              <a:t>YoungMinds: service boundaries — https://www.youngminds.org.uk/parent/ — The organisation explains that it does not provide counselling or therapy for young people. School/GP support and emergency routes are kept distinct. Checked 7 September 2026.</a:t>
            </a:r>
          </a:p>
          <a:p xmlns:a="http://schemas.openxmlformats.org/drawingml/2006/main">
            <a:r>
              <a:t>NHS: breathing exercises for stress — https://www.nhs.uk/mental-health/self-help/guides-tools-and-activities/breathing-exercises-for-stress/ — Supports comfortable, unforced breathing. The optional classroom example does not require breath-holding or claim a one-minute trial is therapy or proof of an effect. Alternatives include observing or comparing fictional cases. Checked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GROW_PSHE_W04 | Regulation: finding helpful support</a:t>
            </a:r>
          </a:p>
          <a:p xmlns:a="http://schemas.openxmlformats.org/drawingml/2006/main">
            <a:r>
              <a:t>Compare regulation options, include adult and environmental support, and make a flexible plan without treating calm behaviour as the goal.</a:t>
            </a:r>
          </a:p>
          <a:p xmlns:a="http://schemas.openxmlformats.org/drawingml/2006/main">
            <a:r>
              <a:t/>
            </a:r>
          </a:p>
          <a:p xmlns:a="http://schemas.openxmlformats.org/drawingml/2006/main">
            <a:r>
              <a:t>Use the genuine Week 3 suggestion. Do not invent participation evidence or treat an adult decision as automatically acceptable to pupils.</a:t>
            </a:r>
          </a:p>
          <a:p xmlns:a="http://schemas.openxmlformats.org/drawingml/2006/main">
            <a:r>
              <a:t/>
            </a:r>
          </a:p>
          <a:p xmlns:a="http://schemas.openxmlformats.org/drawingml/2006/main">
            <a:r>
              <a:t>Pupil prompt: Was there a listener and a clear reply?</a:t>
            </a:r>
          </a:p>
          <a:p xmlns:a="http://schemas.openxmlformats.org/drawingml/2006/main">
            <a:r>
              <a:t/>
            </a:r>
          </a:p>
          <a:p xmlns:a="http://schemas.openxmlformats.org/drawingml/2006/main">
            <a:r>
              <a:t>Support: Offer two options relevant to the fictional barrier and two adult actions. Read them aloud; accept pointing. Keep any personal response private and treat observing as full participation.</a:t>
            </a:r>
          </a:p>
          <a:p xmlns:a="http://schemas.openxmlformats.org/drawingml/2006/main">
            <a:r>
              <a:t/>
            </a:r>
          </a:p>
          <a:p xmlns:a="http://schemas.openxmlformats.org/drawingml/2006/main">
            <a:r>
              <a:t>Stretch: Compare a strategy focused on the individual with a change to the environment. Explain why a plan should include the person’s preference and a review rather than a fixed “calm down” requirement.</a:t>
            </a:r>
          </a:p>
          <a:p xmlns:a="http://schemas.openxmlformats.org/drawingml/2006/main">
            <a:r>
              <a:t/>
            </a:r>
          </a:p>
          <a:p xmlns:a="http://schemas.openxmlformats.org/drawingml/2006/main">
            <a:r>
              <a:t>Safeguarding / safety: Follow each pupil’s agreed plan. Do not use touch, breath-holding, closed-eye demands or forced participation. A pupil can stop immediately. Respond to reported illness through school procedures. For safety concerns, use the Week 5 protocol.</a:t>
            </a:r>
          </a:p>
          <a:p xmlns:a="http://schemas.openxmlformats.org/drawingml/2006/main">
            <a:r>
              <a:t/>
            </a:r>
          </a:p>
          <a:p xmlns:a="http://schemas.openxmlformats.org/drawingml/2006/main">
            <a:r>
              <a:t>40-minute lesson flow (total for the whole lesson, not each slide):</a:t>
            </a:r>
          </a:p>
          <a:p xmlns:a="http://schemas.openxmlformats.org/drawingml/2006/main">
            <a:r>
              <a:t>3 min: Welcome and feedback on access suggestion</a:t>
            </a:r>
          </a:p>
          <a:p xmlns:a="http://schemas.openxmlformats.org/drawingml/2006/main">
            <a:r>
              <a:t>5 min: Teach support and shared responsibility</a:t>
            </a:r>
          </a:p>
          <a:p xmlns:a="http://schemas.openxmlformats.org/drawingml/2006/main">
            <a:r>
              <a:t>5 min: Analyse noisy-room scenario</a:t>
            </a:r>
          </a:p>
          <a:p xmlns:a="http://schemas.openxmlformats.org/drawingml/2006/main">
            <a:r>
              <a:t>6 min: Model menu; optional observe/try/paper comparison</a:t>
            </a:r>
          </a:p>
          <a:p xmlns:a="http://schemas.openxmlformats.org/drawingml/2006/main">
            <a:r>
              <a:t>12 min: Three pupil tasks and flexible plan</a:t>
            </a:r>
          </a:p>
          <a:p xmlns:a="http://schemas.openxmlformats.org/drawingml/2006/main">
            <a:r>
              <a:t>4 min: Review an unhelpful trial</a:t>
            </a:r>
          </a:p>
          <a:p xmlns:a="http://schemas.openxmlformats.org/drawingml/2006/main">
            <a:r>
              <a:t>3 min: Exit check and help reminder</a:t>
            </a:r>
          </a:p>
          <a:p xmlns:a="http://schemas.openxmlformats.org/drawingml/2006/main">
            <a:r>
              <a:t>2 min: Reset and supported transition</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Week_4_PSHE_Feeling_Calm_(MF5).pptx</a:t>
            </a:r>
          </a:p>
          <a:p xmlns:a="http://schemas.openxmlformats.org/drawingml/2006/main">
            <a:r>
              <a:t>Uploaded teaching source: Week_4_PSHE_Worksheet_My_Regulation_Plan_(MF5).docx</a:t>
            </a:r>
          </a:p>
          <a:p xmlns:a="http://schemas.openxmlformats.org/drawingml/2006/main">
            <a:r>
              <a:t>Uploaded All About Me PSHE materials, Weeks 1–7 —  — Primary adaptation sources: all seven PPTX and all seven matching DOCX listed per lesson. They label the pathway BUILD; the user requests a GROW adaptation. Source codes SA1, SSS1, WILI1, CG2, MF5, SA5, SA3 and the Week 7 SA1–SA5 range are retained only as unverified planning references. Original wording, claims and activities have been substantively rewritten. No claim of endorsement, qualification evidence or complete PSHE Association alignment is made.</a:t>
            </a:r>
          </a:p>
          <a:p xmlns:a="http://schemas.openxmlformats.org/drawingml/2006/main">
            <a:r>
              <a:t>GROW unit placement and editorial changes —  — This upload-derived All About Me personal development unit is additional to the different current GROW website PSHE sequence. Preserve the existing scheme and catalogue when installing it. Replaced public named mood charts, compulsory body maps and personal network sharing, breath-holding, obligatory kindness missions and automatic display. Removed unsupported Week 7 recap claims about separate consent/public-private topics and simplified service/confidentiality overclaims.</a:t>
            </a:r>
          </a:p>
          <a:p xmlns:a="http://schemas.openxmlformats.org/drawingml/2006/main">
            <a:r>
              <a:t>Laura Lundy model: Space, Voice, Audience and Influence — https://pure.qub.ac.uk/en/publications/space-voice-audience-and-influence-the-lundy-model-and-early-chil/ — Primary author source for the four interrelated participation elements. Pupil language is an original classroom adaptation. Space includes safe inclusive opportunities; Voice includes information and support; Audience involves a responsible listener; Influence requires serious consideration rather than automatic agreement. Checked 7 September 2026.</a:t>
            </a:r>
          </a:p>
          <a:p xmlns:a="http://schemas.openxmlformats.org/drawingml/2006/main">
            <a:r>
              <a:t>Laura Lundy on participation and feedback — https://blogs.qub.ac.uk/qpol/how-to-do-better-in-childrens-participation/ — Author commentary supports returning an explanation of what happened to children’s views. The pack uses small real access decisions and a stated feedback point. Checked 7 September 2026.</a:t>
            </a:r>
          </a:p>
          <a:p xmlns:a="http://schemas.openxmlformats.org/drawingml/2006/main">
            <a:r>
              <a:t>Hub na nÓg: National Participation Framework — https://hubnanog.ie/participation-framework/ — Co-developed with Professor Laura Lundy. Supports purposeful participation, accessible opportunities, decision-maker responsibility, realistic expectations and feedback in everyday settings. The fictional club examples are newly authored classroom applications. Checked 7 September 2026.</a:t>
            </a:r>
          </a:p>
          <a:p xmlns:a="http://schemas.openxmlformats.org/drawingml/2006/main">
            <a:r>
              <a:t>EU Children’s Participation Platform: the Lundy model — https://eu-for-children.europa.eu/about/lundy-model_en — Primary platform account of implementing the four elements with Professor Lundy, including children’s choice about if/how to contribute, listening by decision-makers and feedback about influence. Used to check the accessible classroom wording. Checked 7 September 2026.</a:t>
            </a:r>
          </a:p>
          <a:p xmlns:a="http://schemas.openxmlformats.org/drawingml/2006/main">
            <a:r>
              <a:t>NSPCC: recognising and responding to abuse — https://learning.nspcc.org.uk/child-abuse-and-neglect/recognising-and-responding-to-abuse — Teacher disclosure response checked against NSPCC guidance: attentive listening, no secrecy promise or investigation, accurate recording, timely safeguarding reporting and emergency response if required. Apply the school’s current procedures. Checked 7 September 2026.</a:t>
            </a:r>
          </a:p>
          <a:p xmlns:a="http://schemas.openxmlformats.org/drawingml/2006/main">
            <a:r>
              <a:t>Childline: about the service — https://www.childline.org.uk/about/about-childline — Confirms support for under-19s in the UK and contact by free telephone 0800 1111 or online. No promise of immediate availability is made. Checked 7 September 2026.</a:t>
            </a:r>
          </a:p>
          <a:p xmlns:a="http://schemas.openxmlformats.org/drawingml/2006/main">
            <a:r>
              <a:t>Childline: confidentiality promise — https://www.childline.org.uk/about/confidentiality-promise — Confidentiality has defined exceptions, including some serious safety concerns and legal requirements. The lesson does not promise that every disclosure stays secret. Checked 7 September 2026.</a:t>
            </a:r>
          </a:p>
          <a:p xmlns:a="http://schemas.openxmlformats.org/drawingml/2006/main">
            <a:r>
              <a:t>CEOP: reporting remit — https://www.ceop.police.uk/ceop-reporting/ — CEOP is a reporting route for online sexual abuse and grooming. It does not handle general online bullying, fake accounts or hacking reports. This corrects the broad service description in the upload. Checked 7 September 2026.</a:t>
            </a:r>
          </a:p>
          <a:p xmlns:a="http://schemas.openxmlformats.org/drawingml/2006/main">
            <a:r>
              <a:t>YoungMinds: information and support for young people — https://www.youngminds.org.uk/young-person/ — Used for mental health information and help-finding guidance. The pack does not present YoungMinds as pupil counselling or emergency response. Checked 7 September 2026.</a:t>
            </a:r>
          </a:p>
          <a:p xmlns:a="http://schemas.openxmlformats.org/drawingml/2006/main">
            <a:r>
              <a:t>YoungMinds: service boundaries — https://www.youngminds.org.uk/parent/ — The organisation explains that it does not provide counselling or therapy for young people. School/GP support and emergency routes are kept distinct. Checked 7 September 2026.</a:t>
            </a:r>
          </a:p>
          <a:p xmlns:a="http://schemas.openxmlformats.org/drawingml/2006/main">
            <a:r>
              <a:t>NHS: breathing exercises for stress — https://www.nhs.uk/mental-health/self-help/guides-tools-and-activities/breathing-exercises-for-stress/ — Supports comfortable, unforced breathing. The optional classroom example does not require breath-holding or claim a one-minute trial is therapy or proof of an effect. Alternatives include observing or comparing fictional cases. Checked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GROW_PSHE_W04 | Regulation: finding helpful support</a:t>
            </a:r>
          </a:p>
          <a:p xmlns:a="http://schemas.openxmlformats.org/drawingml/2006/main">
            <a:r>
              <a:t>Compare regulation options, include adult and environmental support, and make a flexible plan without treating calm behaviour as the goal.</a:t>
            </a:r>
          </a:p>
          <a:p xmlns:a="http://schemas.openxmlformats.org/drawingml/2006/main">
            <a:r>
              <a:t/>
            </a:r>
          </a:p>
          <a:p xmlns:a="http://schemas.openxmlformats.org/drawingml/2006/main">
            <a:r>
              <a:t>Define regulation as broad everyday support rather than a treatment or behaviour score. Calm appearance can hide difficulty; avoid rewarding quietness as the outcome.</a:t>
            </a:r>
          </a:p>
          <a:p xmlns:a="http://schemas.openxmlformats.org/drawingml/2006/main">
            <a:r>
              <a:t/>
            </a:r>
          </a:p>
          <a:p xmlns:a="http://schemas.openxmlformats.org/drawingml/2006/main">
            <a:r>
              <a:t>Pupil prompt: What might help besides telling someone to calm down?</a:t>
            </a:r>
          </a:p>
          <a:p xmlns:a="http://schemas.openxmlformats.org/drawingml/2006/main">
            <a:r>
              <a:t/>
            </a:r>
          </a:p>
          <a:p xmlns:a="http://schemas.openxmlformats.org/drawingml/2006/main">
            <a:r>
              <a:t>Teacher answer / acceptable response: Reduce noise, explain the plan, offer movement or a quiet space, and ask what support the person wants.</a:t>
            </a:r>
          </a:p>
          <a:p xmlns:a="http://schemas.openxmlformats.org/drawingml/2006/main">
            <a:r>
              <a:t/>
            </a:r>
          </a:p>
          <a:p xmlns:a="http://schemas.openxmlformats.org/drawingml/2006/main">
            <a:r>
              <a:t>Support: Offer two options relevant to the fictional barrier and two adult actions. Read them aloud; accept pointing. Keep any personal response private and treat observing as full participation.</a:t>
            </a:r>
          </a:p>
          <a:p xmlns:a="http://schemas.openxmlformats.org/drawingml/2006/main">
            <a:r>
              <a:t/>
            </a:r>
          </a:p>
          <a:p xmlns:a="http://schemas.openxmlformats.org/drawingml/2006/main">
            <a:r>
              <a:t>Stretch: Compare a strategy focused on the individual with a change to the environment. Explain why a plan should include the person’s preference and a review rather than a fixed “calm down” requirement.</a:t>
            </a:r>
          </a:p>
          <a:p xmlns:a="http://schemas.openxmlformats.org/drawingml/2006/main">
            <a:r>
              <a:t/>
            </a:r>
          </a:p>
          <a:p xmlns:a="http://schemas.openxmlformats.org/drawingml/2006/main">
            <a:r>
              <a:t>Safeguarding / safety: Follow each pupil’s agreed plan. Do not use touch, breath-holding, closed-eye demands or forced participation. A pupil can stop immediately. Respond to reported illness through school procedures. For safety concerns, use the Week 5 protocol.</a:t>
            </a:r>
          </a:p>
          <a:p xmlns:a="http://schemas.openxmlformats.org/drawingml/2006/main">
            <a:r>
              <a:t/>
            </a:r>
          </a:p>
          <a:p xmlns:a="http://schemas.openxmlformats.org/drawingml/2006/main">
            <a:r>
              <a:t>40-minute lesson flow (total for the whole lesson, not each slide):</a:t>
            </a:r>
          </a:p>
          <a:p xmlns:a="http://schemas.openxmlformats.org/drawingml/2006/main">
            <a:r>
              <a:t>3 min: Welcome and feedback on access suggestion</a:t>
            </a:r>
          </a:p>
          <a:p xmlns:a="http://schemas.openxmlformats.org/drawingml/2006/main">
            <a:r>
              <a:t>5 min: Teach support and shared responsibility</a:t>
            </a:r>
          </a:p>
          <a:p xmlns:a="http://schemas.openxmlformats.org/drawingml/2006/main">
            <a:r>
              <a:t>5 min: Analyse noisy-room scenario</a:t>
            </a:r>
          </a:p>
          <a:p xmlns:a="http://schemas.openxmlformats.org/drawingml/2006/main">
            <a:r>
              <a:t>6 min: Model menu; optional observe/try/paper comparison</a:t>
            </a:r>
          </a:p>
          <a:p xmlns:a="http://schemas.openxmlformats.org/drawingml/2006/main">
            <a:r>
              <a:t>12 min: Three pupil tasks and flexible plan</a:t>
            </a:r>
          </a:p>
          <a:p xmlns:a="http://schemas.openxmlformats.org/drawingml/2006/main">
            <a:r>
              <a:t>4 min: Review an unhelpful trial</a:t>
            </a:r>
          </a:p>
          <a:p xmlns:a="http://schemas.openxmlformats.org/drawingml/2006/main">
            <a:r>
              <a:t>3 min: Exit check and help reminder</a:t>
            </a:r>
          </a:p>
          <a:p xmlns:a="http://schemas.openxmlformats.org/drawingml/2006/main">
            <a:r>
              <a:t>2 min: Reset and supported transition</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Week_4_PSHE_Feeling_Calm_(MF5).pptx</a:t>
            </a:r>
          </a:p>
          <a:p xmlns:a="http://schemas.openxmlformats.org/drawingml/2006/main">
            <a:r>
              <a:t>Uploaded teaching source: Week_4_PSHE_Worksheet_My_Regulation_Plan_(MF5).docx</a:t>
            </a:r>
          </a:p>
          <a:p xmlns:a="http://schemas.openxmlformats.org/drawingml/2006/main">
            <a:r>
              <a:t>Uploaded All About Me PSHE materials, Weeks 1–7 —  — Primary adaptation sources: all seven PPTX and all seven matching DOCX listed per lesson. They label the pathway BUILD; the user requests a GROW adaptation. Source codes SA1, SSS1, WILI1, CG2, MF5, SA5, SA3 and the Week 7 SA1–SA5 range are retained only as unverified planning references. Original wording, claims and activities have been substantively rewritten. No claim of endorsement, qualification evidence or complete PSHE Association alignment is made.</a:t>
            </a:r>
          </a:p>
          <a:p xmlns:a="http://schemas.openxmlformats.org/drawingml/2006/main">
            <a:r>
              <a:t>GROW unit placement and editorial changes —  — This upload-derived All About Me personal development unit is additional to the different current GROW website PSHE sequence. Preserve the existing scheme and catalogue when installing it. Replaced public named mood charts, compulsory body maps and personal network sharing, breath-holding, obligatory kindness missions and automatic display. Removed unsupported Week 7 recap claims about separate consent/public-private topics and simplified service/confidentiality overclaims.</a:t>
            </a:r>
          </a:p>
          <a:p xmlns:a="http://schemas.openxmlformats.org/drawingml/2006/main">
            <a:r>
              <a:t>Laura Lundy model: Space, Voice, Audience and Influence — https://pure.qub.ac.uk/en/publications/space-voice-audience-and-influence-the-lundy-model-and-early-chil/ — Primary author source for the four interrelated participation elements. Pupil language is an original classroom adaptation. Space includes safe inclusive opportunities; Voice includes information and support; Audience involves a responsible listener; Influence requires serious consideration rather than automatic agreement. Checked 7 September 2026.</a:t>
            </a:r>
          </a:p>
          <a:p xmlns:a="http://schemas.openxmlformats.org/drawingml/2006/main">
            <a:r>
              <a:t>Laura Lundy on participation and feedback — https://blogs.qub.ac.uk/qpol/how-to-do-better-in-childrens-participation/ — Author commentary supports returning an explanation of what happened to children’s views. The pack uses small real access decisions and a stated feedback point. Checked 7 September 2026.</a:t>
            </a:r>
          </a:p>
          <a:p xmlns:a="http://schemas.openxmlformats.org/drawingml/2006/main">
            <a:r>
              <a:t>Hub na nÓg: National Participation Framework — https://hubnanog.ie/participation-framework/ — Co-developed with Professor Laura Lundy. Supports purposeful participation, accessible opportunities, decision-maker responsibility, realistic expectations and feedback in everyday settings. The fictional club examples are newly authored classroom applications. Checked 7 September 2026.</a:t>
            </a:r>
          </a:p>
          <a:p xmlns:a="http://schemas.openxmlformats.org/drawingml/2006/main">
            <a:r>
              <a:t>EU Children’s Participation Platform: the Lundy model — https://eu-for-children.europa.eu/about/lundy-model_en — Primary platform account of implementing the four elements with Professor Lundy, including children’s choice about if/how to contribute, listening by decision-makers and feedback about influence. Used to check the accessible classroom wording. Checked 7 September 2026.</a:t>
            </a:r>
          </a:p>
          <a:p xmlns:a="http://schemas.openxmlformats.org/drawingml/2006/main">
            <a:r>
              <a:t>NSPCC: recognising and responding to abuse — https://learning.nspcc.org.uk/child-abuse-and-neglect/recognising-and-responding-to-abuse — Teacher disclosure response checked against NSPCC guidance: attentive listening, no secrecy promise or investigation, accurate recording, timely safeguarding reporting and emergency response if required. Apply the school’s current procedures. Checked 7 September 2026.</a:t>
            </a:r>
          </a:p>
          <a:p xmlns:a="http://schemas.openxmlformats.org/drawingml/2006/main">
            <a:r>
              <a:t>Childline: about the service — https://www.childline.org.uk/about/about-childline — Confirms support for under-19s in the UK and contact by free telephone 0800 1111 or online. No promise of immediate availability is made. Checked 7 September 2026.</a:t>
            </a:r>
          </a:p>
          <a:p xmlns:a="http://schemas.openxmlformats.org/drawingml/2006/main">
            <a:r>
              <a:t>Childline: confidentiality promise — https://www.childline.org.uk/about/confidentiality-promise — Confidentiality has defined exceptions, including some serious safety concerns and legal requirements. The lesson does not promise that every disclosure stays secret. Checked 7 September 2026.</a:t>
            </a:r>
          </a:p>
          <a:p xmlns:a="http://schemas.openxmlformats.org/drawingml/2006/main">
            <a:r>
              <a:t>CEOP: reporting remit — https://www.ceop.police.uk/ceop-reporting/ — CEOP is a reporting route for online sexual abuse and grooming. It does not handle general online bullying, fake accounts or hacking reports. This corrects the broad service description in the upload. Checked 7 September 2026.</a:t>
            </a:r>
          </a:p>
          <a:p xmlns:a="http://schemas.openxmlformats.org/drawingml/2006/main">
            <a:r>
              <a:t>YoungMinds: information and support for young people — https://www.youngminds.org.uk/young-person/ — Used for mental health information and help-finding guidance. The pack does not present YoungMinds as pupil counselling or emergency response. Checked 7 September 2026.</a:t>
            </a:r>
          </a:p>
          <a:p xmlns:a="http://schemas.openxmlformats.org/drawingml/2006/main">
            <a:r>
              <a:t>YoungMinds: service boundaries — https://www.youngminds.org.uk/parent/ — The organisation explains that it does not provide counselling or therapy for young people. School/GP support and emergency routes are kept distinct. Checked 7 September 2026.</a:t>
            </a:r>
          </a:p>
          <a:p xmlns:a="http://schemas.openxmlformats.org/drawingml/2006/main">
            <a:r>
              <a:t>NHS: breathing exercises for stress — https://www.nhs.uk/mental-health/self-help/guides-tools-and-activities/breathing-exercises-for-stress/ — Supports comfortable, unforced breathing. The optional classroom example does not require breath-holding or claim a one-minute trial is therapy or proof of an effect. Alternatives include observing or comparing fictional cases. Checked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GROW_PSHE_W04 | Regulation: finding helpful support</a:t>
            </a:r>
          </a:p>
          <a:p xmlns:a="http://schemas.openxmlformats.org/drawingml/2006/main">
            <a:r>
              <a:t>Compare regulation options, include adult and environmental support, and make a flexible plan without treating calm behaviour as the goal.</a:t>
            </a:r>
          </a:p>
          <a:p xmlns:a="http://schemas.openxmlformats.org/drawingml/2006/main">
            <a:r>
              <a:t/>
            </a:r>
          </a:p>
          <a:p xmlns:a="http://schemas.openxmlformats.org/drawingml/2006/main">
            <a:r>
              <a:t>Define regulation as broad everyday support rather than a treatment or behaviour score. Calm appearance can hide difficulty; avoid rewarding quietness as the outcome.</a:t>
            </a:r>
          </a:p>
          <a:p xmlns:a="http://schemas.openxmlformats.org/drawingml/2006/main">
            <a:r>
              <a:t/>
            </a:r>
          </a:p>
          <a:p xmlns:a="http://schemas.openxmlformats.org/drawingml/2006/main">
            <a:r>
              <a:t>Pupil prompt: What might help besides telling someone to calm down?</a:t>
            </a:r>
          </a:p>
          <a:p xmlns:a="http://schemas.openxmlformats.org/drawingml/2006/main">
            <a:r>
              <a:t/>
            </a:r>
          </a:p>
          <a:p xmlns:a="http://schemas.openxmlformats.org/drawingml/2006/main">
            <a:r>
              <a:t>Teacher answer / acceptable response: Reduce noise, explain the plan, offer movement or a quiet space, and ask what support the person wants.</a:t>
            </a:r>
          </a:p>
          <a:p xmlns:a="http://schemas.openxmlformats.org/drawingml/2006/main">
            <a:r>
              <a:t/>
            </a:r>
          </a:p>
          <a:p xmlns:a="http://schemas.openxmlformats.org/drawingml/2006/main">
            <a:r>
              <a:t>Support: Offer two options relevant to the fictional barrier and two adult actions. Read them aloud; accept pointing. Keep any personal response private and treat observing as full participation.</a:t>
            </a:r>
          </a:p>
          <a:p xmlns:a="http://schemas.openxmlformats.org/drawingml/2006/main">
            <a:r>
              <a:t/>
            </a:r>
          </a:p>
          <a:p xmlns:a="http://schemas.openxmlformats.org/drawingml/2006/main">
            <a:r>
              <a:t>Stretch: Compare a strategy focused on the individual with a change to the environment. Explain why a plan should include the person’s preference and a review rather than a fixed “calm down” requirement.</a:t>
            </a:r>
          </a:p>
          <a:p xmlns:a="http://schemas.openxmlformats.org/drawingml/2006/main">
            <a:r>
              <a:t/>
            </a:r>
          </a:p>
          <a:p xmlns:a="http://schemas.openxmlformats.org/drawingml/2006/main">
            <a:r>
              <a:t>Safeguarding / safety: Follow each pupil’s agreed plan. Do not use touch, breath-holding, closed-eye demands or forced participation. A pupil can stop immediately. Respond to reported illness through school procedures. For safety concerns, use the Week 5 protocol.</a:t>
            </a:r>
          </a:p>
          <a:p xmlns:a="http://schemas.openxmlformats.org/drawingml/2006/main">
            <a:r>
              <a:t/>
            </a:r>
          </a:p>
          <a:p xmlns:a="http://schemas.openxmlformats.org/drawingml/2006/main">
            <a:r>
              <a:t>40-minute lesson flow (total for the whole lesson, not each slide):</a:t>
            </a:r>
          </a:p>
          <a:p xmlns:a="http://schemas.openxmlformats.org/drawingml/2006/main">
            <a:r>
              <a:t>3 min: Welcome and feedback on access suggestion</a:t>
            </a:r>
          </a:p>
          <a:p xmlns:a="http://schemas.openxmlformats.org/drawingml/2006/main">
            <a:r>
              <a:t>5 min: Teach support and shared responsibility</a:t>
            </a:r>
          </a:p>
          <a:p xmlns:a="http://schemas.openxmlformats.org/drawingml/2006/main">
            <a:r>
              <a:t>5 min: Analyse noisy-room scenario</a:t>
            </a:r>
          </a:p>
          <a:p xmlns:a="http://schemas.openxmlformats.org/drawingml/2006/main">
            <a:r>
              <a:t>6 min: Model menu; optional observe/try/paper comparison</a:t>
            </a:r>
          </a:p>
          <a:p xmlns:a="http://schemas.openxmlformats.org/drawingml/2006/main">
            <a:r>
              <a:t>12 min: Three pupil tasks and flexible plan</a:t>
            </a:r>
          </a:p>
          <a:p xmlns:a="http://schemas.openxmlformats.org/drawingml/2006/main">
            <a:r>
              <a:t>4 min: Review an unhelpful trial</a:t>
            </a:r>
          </a:p>
          <a:p xmlns:a="http://schemas.openxmlformats.org/drawingml/2006/main">
            <a:r>
              <a:t>3 min: Exit check and help reminder</a:t>
            </a:r>
          </a:p>
          <a:p xmlns:a="http://schemas.openxmlformats.org/drawingml/2006/main">
            <a:r>
              <a:t>2 min: Reset and supported transition</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Week_4_PSHE_Feeling_Calm_(MF5).pptx</a:t>
            </a:r>
          </a:p>
          <a:p xmlns:a="http://schemas.openxmlformats.org/drawingml/2006/main">
            <a:r>
              <a:t>Uploaded teaching source: Week_4_PSHE_Worksheet_My_Regulation_Plan_(MF5).docx</a:t>
            </a:r>
          </a:p>
          <a:p xmlns:a="http://schemas.openxmlformats.org/drawingml/2006/main">
            <a:r>
              <a:t>Uploaded All About Me PSHE materials, Weeks 1–7 —  — Primary adaptation sources: all seven PPTX and all seven matching DOCX listed per lesson. They label the pathway BUILD; the user requests a GROW adaptation. Source codes SA1, SSS1, WILI1, CG2, MF5, SA5, SA3 and the Week 7 SA1–SA5 range are retained only as unverified planning references. Original wording, claims and activities have been substantively rewritten. No claim of endorsement, qualification evidence or complete PSHE Association alignment is made.</a:t>
            </a:r>
          </a:p>
          <a:p xmlns:a="http://schemas.openxmlformats.org/drawingml/2006/main">
            <a:r>
              <a:t>GROW unit placement and editorial changes —  — This upload-derived All About Me personal development unit is additional to the different current GROW website PSHE sequence. Preserve the existing scheme and catalogue when installing it. Replaced public named mood charts, compulsory body maps and personal network sharing, breath-holding, obligatory kindness missions and automatic display. Removed unsupported Week 7 recap claims about separate consent/public-private topics and simplified service/confidentiality overclaims.</a:t>
            </a:r>
          </a:p>
          <a:p xmlns:a="http://schemas.openxmlformats.org/drawingml/2006/main">
            <a:r>
              <a:t>Laura Lundy model: Space, Voice, Audience and Influence — https://pure.qub.ac.uk/en/publications/space-voice-audience-and-influence-the-lundy-model-and-early-chil/ — Primary author source for the four interrelated participation elements. Pupil language is an original classroom adaptation. Space includes safe inclusive opportunities; Voice includes information and support; Audience involves a responsible listener; Influence requires serious consideration rather than automatic agreement. Checked 7 September 2026.</a:t>
            </a:r>
          </a:p>
          <a:p xmlns:a="http://schemas.openxmlformats.org/drawingml/2006/main">
            <a:r>
              <a:t>Laura Lundy on participation and feedback — https://blogs.qub.ac.uk/qpol/how-to-do-better-in-childrens-participation/ — Author commentary supports returning an explanation of what happened to children’s views. The pack uses small real access decisions and a stated feedback point. Checked 7 September 2026.</a:t>
            </a:r>
          </a:p>
          <a:p xmlns:a="http://schemas.openxmlformats.org/drawingml/2006/main">
            <a:r>
              <a:t>Hub na nÓg: National Participation Framework — https://hubnanog.ie/participation-framework/ — Co-developed with Professor Laura Lundy. Supports purposeful participation, accessible opportunities, decision-maker responsibility, realistic expectations and feedback in everyday settings. The fictional club examples are newly authored classroom applications. Checked 7 September 2026.</a:t>
            </a:r>
          </a:p>
          <a:p xmlns:a="http://schemas.openxmlformats.org/drawingml/2006/main">
            <a:r>
              <a:t>EU Children’s Participation Platform: the Lundy model — https://eu-for-children.europa.eu/about/lundy-model_en — Primary platform account of implementing the four elements with Professor Lundy, including children’s choice about if/how to contribute, listening by decision-makers and feedback about influence. Used to check the accessible classroom wording. Checked 7 September 2026.</a:t>
            </a:r>
          </a:p>
          <a:p xmlns:a="http://schemas.openxmlformats.org/drawingml/2006/main">
            <a:r>
              <a:t>NSPCC: recognising and responding to abuse — https://learning.nspcc.org.uk/child-abuse-and-neglect/recognising-and-responding-to-abuse — Teacher disclosure response checked against NSPCC guidance: attentive listening, no secrecy promise or investigation, accurate recording, timely safeguarding reporting and emergency response if required. Apply the school’s current procedures. Checked 7 September 2026.</a:t>
            </a:r>
          </a:p>
          <a:p xmlns:a="http://schemas.openxmlformats.org/drawingml/2006/main">
            <a:r>
              <a:t>Childline: about the service — https://www.childline.org.uk/about/about-childline — Confirms support for under-19s in the UK and contact by free telephone 0800 1111 or online. No promise of immediate availability is made. Checked 7 September 2026.</a:t>
            </a:r>
          </a:p>
          <a:p xmlns:a="http://schemas.openxmlformats.org/drawingml/2006/main">
            <a:r>
              <a:t>Childline: confidentiality promise — https://www.childline.org.uk/about/confidentiality-promise — Confidentiality has defined exceptions, including some serious safety concerns and legal requirements. The lesson does not promise that every disclosure stays secret. Checked 7 September 2026.</a:t>
            </a:r>
          </a:p>
          <a:p xmlns:a="http://schemas.openxmlformats.org/drawingml/2006/main">
            <a:r>
              <a:t>CEOP: reporting remit — https://www.ceop.police.uk/ceop-reporting/ — CEOP is a reporting route for online sexual abuse and grooming. It does not handle general online bullying, fake accounts or hacking reports. This corrects the broad service description in the upload. Checked 7 September 2026.</a:t>
            </a:r>
          </a:p>
          <a:p xmlns:a="http://schemas.openxmlformats.org/drawingml/2006/main">
            <a:r>
              <a:t>YoungMinds: information and support for young people — https://www.youngminds.org.uk/young-person/ — Used for mental health information and help-finding guidance. The pack does not present YoungMinds as pupil counselling or emergency response. Checked 7 September 2026.</a:t>
            </a:r>
          </a:p>
          <a:p xmlns:a="http://schemas.openxmlformats.org/drawingml/2006/main">
            <a:r>
              <a:t>YoungMinds: service boundaries — https://www.youngminds.org.uk/parent/ — The organisation explains that it does not provide counselling or therapy for young people. School/GP support and emergency routes are kept distinct. Checked 7 September 2026.</a:t>
            </a:r>
          </a:p>
          <a:p xmlns:a="http://schemas.openxmlformats.org/drawingml/2006/main">
            <a:r>
              <a:t>NHS: breathing exercises for stress — https://www.nhs.uk/mental-health/self-help/guides-tools-and-activities/breathing-exercises-for-stress/ — Supports comfortable, unforced breathing. The optional classroom example does not require breath-holding or claim a one-minute trial is therapy or proof of an effect. Alternatives include observing or comparing fictional cases. Checked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GROW_PSHE_W04 | Regulation: finding helpful support</a:t>
            </a:r>
          </a:p>
          <a:p xmlns:a="http://schemas.openxmlformats.org/drawingml/2006/main">
            <a:r>
              <a:t>Compare regulation options, include adult and environmental support, and make a flexible plan without treating calm behaviour as the goal.</a:t>
            </a:r>
          </a:p>
          <a:p xmlns:a="http://schemas.openxmlformats.org/drawingml/2006/main">
            <a:r>
              <a:t/>
            </a:r>
          </a:p>
          <a:p xmlns:a="http://schemas.openxmlformats.org/drawingml/2006/main">
            <a:r>
              <a:t>Focus on a known barrier in the story. Do not presume that all pupils want silence or that leaving the room is always the safest option.</a:t>
            </a:r>
          </a:p>
          <a:p xmlns:a="http://schemas.openxmlformats.org/drawingml/2006/main">
            <a:r>
              <a:t/>
            </a:r>
          </a:p>
          <a:p xmlns:a="http://schemas.openxmlformats.org/drawingml/2006/main">
            <a:r>
              <a:t>Pupil prompt: What can the adult change?</a:t>
            </a:r>
          </a:p>
          <a:p xmlns:a="http://schemas.openxmlformats.org/drawingml/2006/main">
            <a:r>
              <a:t/>
            </a:r>
          </a:p>
          <a:p xmlns:a="http://schemas.openxmlformats.org/drawingml/2006/main">
            <a:r>
              <a:t>Teacher answer / acceptable response: Offer a quieter seat, reduce avoidable noise and provide the written instruction. Rowan should not have to solve the environment alone.</a:t>
            </a:r>
          </a:p>
          <a:p xmlns:a="http://schemas.openxmlformats.org/drawingml/2006/main">
            <a:r>
              <a:t/>
            </a:r>
          </a:p>
          <a:p xmlns:a="http://schemas.openxmlformats.org/drawingml/2006/main">
            <a:r>
              <a:t>Support: Offer two options relevant to the fictional barrier and two adult actions. Read them aloud; accept pointing. Keep any personal response private and treat observing as full participation.</a:t>
            </a:r>
          </a:p>
          <a:p xmlns:a="http://schemas.openxmlformats.org/drawingml/2006/main">
            <a:r>
              <a:t/>
            </a:r>
          </a:p>
          <a:p xmlns:a="http://schemas.openxmlformats.org/drawingml/2006/main">
            <a:r>
              <a:t>Stretch: Compare a strategy focused on the individual with a change to the environment. Explain why a plan should include the person’s preference and a review rather than a fixed “calm down” requirement.</a:t>
            </a:r>
          </a:p>
          <a:p xmlns:a="http://schemas.openxmlformats.org/drawingml/2006/main">
            <a:r>
              <a:t/>
            </a:r>
          </a:p>
          <a:p xmlns:a="http://schemas.openxmlformats.org/drawingml/2006/main">
            <a:r>
              <a:t>Safeguarding / safety: Follow each pupil’s agreed plan. Do not use touch, breath-holding, closed-eye demands or forced participation. A pupil can stop immediately. Respond to reported illness through school procedures. For safety concerns, use the Week 5 protocol.</a:t>
            </a:r>
          </a:p>
          <a:p xmlns:a="http://schemas.openxmlformats.org/drawingml/2006/main">
            <a:r>
              <a:t/>
            </a:r>
          </a:p>
          <a:p xmlns:a="http://schemas.openxmlformats.org/drawingml/2006/main">
            <a:r>
              <a:t>40-minute lesson flow (total for the whole lesson, not each slide):</a:t>
            </a:r>
          </a:p>
          <a:p xmlns:a="http://schemas.openxmlformats.org/drawingml/2006/main">
            <a:r>
              <a:t>3 min: Welcome and feedback on access suggestion</a:t>
            </a:r>
          </a:p>
          <a:p xmlns:a="http://schemas.openxmlformats.org/drawingml/2006/main">
            <a:r>
              <a:t>5 min: Teach support and shared responsibility</a:t>
            </a:r>
          </a:p>
          <a:p xmlns:a="http://schemas.openxmlformats.org/drawingml/2006/main">
            <a:r>
              <a:t>5 min: Analyse noisy-room scenario</a:t>
            </a:r>
          </a:p>
          <a:p xmlns:a="http://schemas.openxmlformats.org/drawingml/2006/main">
            <a:r>
              <a:t>6 min: Model menu; optional observe/try/paper comparison</a:t>
            </a:r>
          </a:p>
          <a:p xmlns:a="http://schemas.openxmlformats.org/drawingml/2006/main">
            <a:r>
              <a:t>12 min: Three pupil tasks and flexible plan</a:t>
            </a:r>
          </a:p>
          <a:p xmlns:a="http://schemas.openxmlformats.org/drawingml/2006/main">
            <a:r>
              <a:t>4 min: Review an unhelpful trial</a:t>
            </a:r>
          </a:p>
          <a:p xmlns:a="http://schemas.openxmlformats.org/drawingml/2006/main">
            <a:r>
              <a:t>3 min: Exit check and help reminder</a:t>
            </a:r>
          </a:p>
          <a:p xmlns:a="http://schemas.openxmlformats.org/drawingml/2006/main">
            <a:r>
              <a:t>2 min: Reset and supported transition</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Week_4_PSHE_Feeling_Calm_(MF5).pptx</a:t>
            </a:r>
          </a:p>
          <a:p xmlns:a="http://schemas.openxmlformats.org/drawingml/2006/main">
            <a:r>
              <a:t>Uploaded teaching source: Week_4_PSHE_Worksheet_My_Regulation_Plan_(MF5).docx</a:t>
            </a:r>
          </a:p>
          <a:p xmlns:a="http://schemas.openxmlformats.org/drawingml/2006/main">
            <a:r>
              <a:t>Uploaded All About Me PSHE materials, Weeks 1–7 —  — Primary adaptation sources: all seven PPTX and all seven matching DOCX listed per lesson. They label the pathway BUILD; the user requests a GROW adaptation. Source codes SA1, SSS1, WILI1, CG2, MF5, SA5, SA3 and the Week 7 SA1–SA5 range are retained only as unverified planning references. Original wording, claims and activities have been substantively rewritten. No claim of endorsement, qualification evidence or complete PSHE Association alignment is made.</a:t>
            </a:r>
          </a:p>
          <a:p xmlns:a="http://schemas.openxmlformats.org/drawingml/2006/main">
            <a:r>
              <a:t>GROW unit placement and editorial changes —  — This upload-derived All About Me personal development unit is additional to the different current GROW website PSHE sequence. Preserve the existing scheme and catalogue when installing it. Replaced public named mood charts, compulsory body maps and personal network sharing, breath-holding, obligatory kindness missions and automatic display. Removed unsupported Week 7 recap claims about separate consent/public-private topics and simplified service/confidentiality overclaims.</a:t>
            </a:r>
          </a:p>
          <a:p xmlns:a="http://schemas.openxmlformats.org/drawingml/2006/main">
            <a:r>
              <a:t>Laura Lundy model: Space, Voice, Audience and Influence — https://pure.qub.ac.uk/en/publications/space-voice-audience-and-influence-the-lundy-model-and-early-chil/ — Primary author source for the four interrelated participation elements. Pupil language is an original classroom adaptation. Space includes safe inclusive opportunities; Voice includes information and support; Audience involves a responsible listener; Influence requires serious consideration rather than automatic agreement. Checked 7 September 2026.</a:t>
            </a:r>
          </a:p>
          <a:p xmlns:a="http://schemas.openxmlformats.org/drawingml/2006/main">
            <a:r>
              <a:t>Laura Lundy on participation and feedback — https://blogs.qub.ac.uk/qpol/how-to-do-better-in-childrens-participation/ — Author commentary supports returning an explanation of what happened to children’s views. The pack uses small real access decisions and a stated feedback point. Checked 7 September 2026.</a:t>
            </a:r>
          </a:p>
          <a:p xmlns:a="http://schemas.openxmlformats.org/drawingml/2006/main">
            <a:r>
              <a:t>Hub na nÓg: National Participation Framework — https://hubnanog.ie/participation-framework/ — Co-developed with Professor Laura Lundy. Supports purposeful participation, accessible opportunities, decision-maker responsibility, realistic expectations and feedback in everyday settings. The fictional club examples are newly authored classroom applications. Checked 7 September 2026.</a:t>
            </a:r>
          </a:p>
          <a:p xmlns:a="http://schemas.openxmlformats.org/drawingml/2006/main">
            <a:r>
              <a:t>EU Children’s Participation Platform: the Lundy model — https://eu-for-children.europa.eu/about/lundy-model_en — Primary platform account of implementing the four elements with Professor Lundy, including children’s choice about if/how to contribute, listening by decision-makers and feedback about influence. Used to check the accessible classroom wording. Checked 7 September 2026.</a:t>
            </a:r>
          </a:p>
          <a:p xmlns:a="http://schemas.openxmlformats.org/drawingml/2006/main">
            <a:r>
              <a:t>NSPCC: recognising and responding to abuse — https://learning.nspcc.org.uk/child-abuse-and-neglect/recognising-and-responding-to-abuse — Teacher disclosure response checked against NSPCC guidance: attentive listening, no secrecy promise or investigation, accurate recording, timely safeguarding reporting and emergency response if required. Apply the school’s current procedures. Checked 7 September 2026.</a:t>
            </a:r>
          </a:p>
          <a:p xmlns:a="http://schemas.openxmlformats.org/drawingml/2006/main">
            <a:r>
              <a:t>Childline: about the service — https://www.childline.org.uk/about/about-childline — Confirms support for under-19s in the UK and contact by free telephone 0800 1111 or online. No promise of immediate availability is made. Checked 7 September 2026.</a:t>
            </a:r>
          </a:p>
          <a:p xmlns:a="http://schemas.openxmlformats.org/drawingml/2006/main">
            <a:r>
              <a:t>Childline: confidentiality promise — https://www.childline.org.uk/about/confidentiality-promise — Confidentiality has defined exceptions, including some serious safety concerns and legal requirements. The lesson does not promise that every disclosure stays secret. Checked 7 September 2026.</a:t>
            </a:r>
          </a:p>
          <a:p xmlns:a="http://schemas.openxmlformats.org/drawingml/2006/main">
            <a:r>
              <a:t>CEOP: reporting remit — https://www.ceop.police.uk/ceop-reporting/ — CEOP is a reporting route for online sexual abuse and grooming. It does not handle general online bullying, fake accounts or hacking reports. This corrects the broad service description in the upload. Checked 7 September 2026.</a:t>
            </a:r>
          </a:p>
          <a:p xmlns:a="http://schemas.openxmlformats.org/drawingml/2006/main">
            <a:r>
              <a:t>YoungMinds: information and support for young people — https://www.youngminds.org.uk/young-person/ — Used for mental health information and help-finding guidance. The pack does not present YoungMinds as pupil counselling or emergency response. Checked 7 September 2026.</a:t>
            </a:r>
          </a:p>
          <a:p xmlns:a="http://schemas.openxmlformats.org/drawingml/2006/main">
            <a:r>
              <a:t>YoungMinds: service boundaries — https://www.youngminds.org.uk/parent/ — The organisation explains that it does not provide counselling or therapy for young people. School/GP support and emergency routes are kept distinct. Checked 7 September 2026.</a:t>
            </a:r>
          </a:p>
          <a:p xmlns:a="http://schemas.openxmlformats.org/drawingml/2006/main">
            <a:r>
              <a:t>NHS: breathing exercises for stress — https://www.nhs.uk/mental-health/self-help/guides-tools-and-activities/breathing-exercises-for-stress/ — Supports comfortable, unforced breathing. The optional classroom example does not require breath-holding or claim a one-minute trial is therapy or proof of an effect. Alternatives include observing or comparing fictional cases. Checked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GROW_PSHE_W04 | Regulation: finding helpful support</a:t>
            </a:r>
          </a:p>
          <a:p xmlns:a="http://schemas.openxmlformats.org/drawingml/2006/main">
            <a:r>
              <a:t>Compare regulation options, include adult and environmental support, and make a flexible plan without treating calm behaviour as the goal.</a:t>
            </a:r>
          </a:p>
          <a:p xmlns:a="http://schemas.openxmlformats.org/drawingml/2006/main">
            <a:r>
              <a:t/>
            </a:r>
          </a:p>
          <a:p xmlns:a="http://schemas.openxmlformats.org/drawingml/2006/main">
            <a:r>
              <a:t>Breathing is an optional example, not a required intervention. Follow individual plans; stop any option that feels uncomfortable. NHS guidance supports breathing comfortably without forcing it.</a:t>
            </a:r>
          </a:p>
          <a:p xmlns:a="http://schemas.openxmlformats.org/drawingml/2006/main">
            <a:r>
              <a:t/>
            </a:r>
          </a:p>
          <a:p xmlns:a="http://schemas.openxmlformats.org/drawingml/2006/main">
            <a:r>
              <a:t>Pupil prompt: Which options could Rowan choose without changing their breathing?</a:t>
            </a:r>
          </a:p>
          <a:p xmlns:a="http://schemas.openxmlformats.org/drawingml/2006/main">
            <a:r>
              <a:t/>
            </a:r>
          </a:p>
          <a:p xmlns:a="http://schemas.openxmlformats.org/drawingml/2006/main">
            <a:r>
              <a:t>Teacher answer / acceptable response: A quieter seat, a written instruction, sketching, noticing objects or a supportive adult nearby.</a:t>
            </a:r>
          </a:p>
          <a:p xmlns:a="http://schemas.openxmlformats.org/drawingml/2006/main">
            <a:r>
              <a:t/>
            </a:r>
          </a:p>
          <a:p xmlns:a="http://schemas.openxmlformats.org/drawingml/2006/main">
            <a:r>
              <a:t>Support: Offer two options relevant to the fictional barrier and two adult actions. Read them aloud; accept pointing. Keep any personal response private and treat observing as full participation.</a:t>
            </a:r>
          </a:p>
          <a:p xmlns:a="http://schemas.openxmlformats.org/drawingml/2006/main">
            <a:r>
              <a:t/>
            </a:r>
          </a:p>
          <a:p xmlns:a="http://schemas.openxmlformats.org/drawingml/2006/main">
            <a:r>
              <a:t>Stretch: Compare a strategy focused on the individual with a change to the environment. Explain why a plan should include the person’s preference and a review rather than a fixed “calm down” requirement.</a:t>
            </a:r>
          </a:p>
          <a:p xmlns:a="http://schemas.openxmlformats.org/drawingml/2006/main">
            <a:r>
              <a:t/>
            </a:r>
          </a:p>
          <a:p xmlns:a="http://schemas.openxmlformats.org/drawingml/2006/main">
            <a:r>
              <a:t>Safeguarding / safety: Follow each pupil’s agreed plan. Do not use touch, breath-holding, closed-eye demands or forced participation. A pupil can stop immediately. Respond to reported illness through school procedures. For safety concerns, use the Week 5 protocol.</a:t>
            </a:r>
          </a:p>
          <a:p xmlns:a="http://schemas.openxmlformats.org/drawingml/2006/main">
            <a:r>
              <a:t/>
            </a:r>
          </a:p>
          <a:p xmlns:a="http://schemas.openxmlformats.org/drawingml/2006/main">
            <a:r>
              <a:t>40-minute lesson flow (total for the whole lesson, not each slide):</a:t>
            </a:r>
          </a:p>
          <a:p xmlns:a="http://schemas.openxmlformats.org/drawingml/2006/main">
            <a:r>
              <a:t>3 min: Welcome and feedback on access suggestion</a:t>
            </a:r>
          </a:p>
          <a:p xmlns:a="http://schemas.openxmlformats.org/drawingml/2006/main">
            <a:r>
              <a:t>5 min: Teach support and shared responsibility</a:t>
            </a:r>
          </a:p>
          <a:p xmlns:a="http://schemas.openxmlformats.org/drawingml/2006/main">
            <a:r>
              <a:t>5 min: Analyse noisy-room scenario</a:t>
            </a:r>
          </a:p>
          <a:p xmlns:a="http://schemas.openxmlformats.org/drawingml/2006/main">
            <a:r>
              <a:t>6 min: Model menu; optional observe/try/paper comparison</a:t>
            </a:r>
          </a:p>
          <a:p xmlns:a="http://schemas.openxmlformats.org/drawingml/2006/main">
            <a:r>
              <a:t>12 min: Three pupil tasks and flexible plan</a:t>
            </a:r>
          </a:p>
          <a:p xmlns:a="http://schemas.openxmlformats.org/drawingml/2006/main">
            <a:r>
              <a:t>4 min: Review an unhelpful trial</a:t>
            </a:r>
          </a:p>
          <a:p xmlns:a="http://schemas.openxmlformats.org/drawingml/2006/main">
            <a:r>
              <a:t>3 min: Exit check and help reminder</a:t>
            </a:r>
          </a:p>
          <a:p xmlns:a="http://schemas.openxmlformats.org/drawingml/2006/main">
            <a:r>
              <a:t>2 min: Reset and supported transition</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Week_4_PSHE_Feeling_Calm_(MF5).pptx</a:t>
            </a:r>
          </a:p>
          <a:p xmlns:a="http://schemas.openxmlformats.org/drawingml/2006/main">
            <a:r>
              <a:t>Uploaded teaching source: Week_4_PSHE_Worksheet_My_Regulation_Plan_(MF5).docx</a:t>
            </a:r>
          </a:p>
          <a:p xmlns:a="http://schemas.openxmlformats.org/drawingml/2006/main">
            <a:r>
              <a:t>Uploaded All About Me PSHE materials, Weeks 1–7 —  — Primary adaptation sources: all seven PPTX and all seven matching DOCX listed per lesson. They label the pathway BUILD; the user requests a GROW adaptation. Source codes SA1, SSS1, WILI1, CG2, MF5, SA5, SA3 and the Week 7 SA1–SA5 range are retained only as unverified planning references. Original wording, claims and activities have been substantively rewritten. No claim of endorsement, qualification evidence or complete PSHE Association alignment is made.</a:t>
            </a:r>
          </a:p>
          <a:p xmlns:a="http://schemas.openxmlformats.org/drawingml/2006/main">
            <a:r>
              <a:t>GROW unit placement and editorial changes —  — This upload-derived All About Me personal development unit is additional to the different current GROW website PSHE sequence. Preserve the existing scheme and catalogue when installing it. Replaced public named mood charts, compulsory body maps and personal network sharing, breath-holding, obligatory kindness missions and automatic display. Removed unsupported Week 7 recap claims about separate consent/public-private topics and simplified service/confidentiality overclaims.</a:t>
            </a:r>
          </a:p>
          <a:p xmlns:a="http://schemas.openxmlformats.org/drawingml/2006/main">
            <a:r>
              <a:t>Laura Lundy model: Space, Voice, Audience and Influence — https://pure.qub.ac.uk/en/publications/space-voice-audience-and-influence-the-lundy-model-and-early-chil/ — Primary author source for the four interrelated participation elements. Pupil language is an original classroom adaptation. Space includes safe inclusive opportunities; Voice includes information and support; Audience involves a responsible listener; Influence requires serious consideration rather than automatic agreement. Checked 7 September 2026.</a:t>
            </a:r>
          </a:p>
          <a:p xmlns:a="http://schemas.openxmlformats.org/drawingml/2006/main">
            <a:r>
              <a:t>Laura Lundy on participation and feedback — https://blogs.qub.ac.uk/qpol/how-to-do-better-in-childrens-participation/ — Author commentary supports returning an explanation of what happened to children’s views. The pack uses small real access decisions and a stated feedback point. Checked 7 September 2026.</a:t>
            </a:r>
          </a:p>
          <a:p xmlns:a="http://schemas.openxmlformats.org/drawingml/2006/main">
            <a:r>
              <a:t>Hub na nÓg: National Participation Framework — https://hubnanog.ie/participation-framework/ — Co-developed with Professor Laura Lundy. Supports purposeful participation, accessible opportunities, decision-maker responsibility, realistic expectations and feedback in everyday settings. The fictional club examples are newly authored classroom applications. Checked 7 September 2026.</a:t>
            </a:r>
          </a:p>
          <a:p xmlns:a="http://schemas.openxmlformats.org/drawingml/2006/main">
            <a:r>
              <a:t>EU Children’s Participation Platform: the Lundy model — https://eu-for-children.europa.eu/about/lundy-model_en — Primary platform account of implementing the four elements with Professor Lundy, including children’s choice about if/how to contribute, listening by decision-makers and feedback about influence. Used to check the accessible classroom wording. Checked 7 September 2026.</a:t>
            </a:r>
          </a:p>
          <a:p xmlns:a="http://schemas.openxmlformats.org/drawingml/2006/main">
            <a:r>
              <a:t>NSPCC: recognising and responding to abuse — https://learning.nspcc.org.uk/child-abuse-and-neglect/recognising-and-responding-to-abuse — Teacher disclosure response checked against NSPCC guidance: attentive listening, no secrecy promise or investigation, accurate recording, timely safeguarding reporting and emergency response if required. Apply the school’s current procedures. Checked 7 September 2026.</a:t>
            </a:r>
          </a:p>
          <a:p xmlns:a="http://schemas.openxmlformats.org/drawingml/2006/main">
            <a:r>
              <a:t>Childline: about the service — https://www.childline.org.uk/about/about-childline — Confirms support for under-19s in the UK and contact by free telephone 0800 1111 or online. No promise of immediate availability is made. Checked 7 September 2026.</a:t>
            </a:r>
          </a:p>
          <a:p xmlns:a="http://schemas.openxmlformats.org/drawingml/2006/main">
            <a:r>
              <a:t>Childline: confidentiality promise — https://www.childline.org.uk/about/confidentiality-promise — Confidentiality has defined exceptions, including some serious safety concerns and legal requirements. The lesson does not promise that every disclosure stays secret. Checked 7 September 2026.</a:t>
            </a:r>
          </a:p>
          <a:p xmlns:a="http://schemas.openxmlformats.org/drawingml/2006/main">
            <a:r>
              <a:t>CEOP: reporting remit — https://www.ceop.police.uk/ceop-reporting/ — CEOP is a reporting route for online sexual abuse and grooming. It does not handle general online bullying, fake accounts or hacking reports. This corrects the broad service description in the upload. Checked 7 September 2026.</a:t>
            </a:r>
          </a:p>
          <a:p xmlns:a="http://schemas.openxmlformats.org/drawingml/2006/main">
            <a:r>
              <a:t>YoungMinds: information and support for young people — https://www.youngminds.org.uk/young-person/ — Used for mental health information and help-finding guidance. The pack does not present YoungMinds as pupil counselling or emergency response. Checked 7 September 2026.</a:t>
            </a:r>
          </a:p>
          <a:p xmlns:a="http://schemas.openxmlformats.org/drawingml/2006/main">
            <a:r>
              <a:t>YoungMinds: service boundaries — https://www.youngminds.org.uk/parent/ — The organisation explains that it does not provide counselling or therapy for young people. School/GP support and emergency routes are kept distinct. Checked 7 September 2026.</a:t>
            </a:r>
          </a:p>
          <a:p xmlns:a="http://schemas.openxmlformats.org/drawingml/2006/main">
            <a:r>
              <a:t>NHS: breathing exercises for stress — https://www.nhs.uk/mental-health/self-help/guides-tools-and-activities/breathing-exercises-for-stress/ — Supports comfortable, unforced breathing. The optional classroom example does not require breath-holding or claim a one-minute trial is therapy or proof of an effect. Alternatives include observing or comparing fictional cases. Checked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GROW_PSHE_W04 | Regulation: finding helpful support</a:t>
            </a:r>
          </a:p>
          <a:p xmlns:a="http://schemas.openxmlformats.org/drawingml/2006/main">
            <a:r>
              <a:t>Compare regulation options, include adult and environmental support, and make a flexible plan without treating calm behaviour as the goal.</a:t>
            </a:r>
          </a:p>
          <a:p xmlns:a="http://schemas.openxmlformats.org/drawingml/2006/main">
            <a:r>
              <a:t/>
            </a:r>
          </a:p>
          <a:p xmlns:a="http://schemas.openxmlformats.org/drawingml/2006/main">
            <a:r>
              <a:t>Breathing is an optional example, not a required intervention. Follow individual plans; stop any option that feels uncomfortable. NHS guidance supports breathing comfortably without forcing it.</a:t>
            </a:r>
          </a:p>
          <a:p xmlns:a="http://schemas.openxmlformats.org/drawingml/2006/main">
            <a:r>
              <a:t/>
            </a:r>
          </a:p>
          <a:p xmlns:a="http://schemas.openxmlformats.org/drawingml/2006/main">
            <a:r>
              <a:t>Pupil prompt: Which options could Rowan choose without changing their breathing?</a:t>
            </a:r>
          </a:p>
          <a:p xmlns:a="http://schemas.openxmlformats.org/drawingml/2006/main">
            <a:r>
              <a:t/>
            </a:r>
          </a:p>
          <a:p xmlns:a="http://schemas.openxmlformats.org/drawingml/2006/main">
            <a:r>
              <a:t>Teacher answer / acceptable response: A quieter seat, a written instruction, sketching, noticing objects or a supportive adult nearby.</a:t>
            </a:r>
          </a:p>
          <a:p xmlns:a="http://schemas.openxmlformats.org/drawingml/2006/main">
            <a:r>
              <a:t/>
            </a:r>
          </a:p>
          <a:p xmlns:a="http://schemas.openxmlformats.org/drawingml/2006/main">
            <a:r>
              <a:t>Support: Offer two options relevant to the fictional barrier and two adult actions. Read them aloud; accept pointing. Keep any personal response private and treat observing as full participation.</a:t>
            </a:r>
          </a:p>
          <a:p xmlns:a="http://schemas.openxmlformats.org/drawingml/2006/main">
            <a:r>
              <a:t/>
            </a:r>
          </a:p>
          <a:p xmlns:a="http://schemas.openxmlformats.org/drawingml/2006/main">
            <a:r>
              <a:t>Stretch: Compare a strategy focused on the individual with a change to the environment. Explain why a plan should include the person’s preference and a review rather than a fixed “calm down” requirement.</a:t>
            </a:r>
          </a:p>
          <a:p xmlns:a="http://schemas.openxmlformats.org/drawingml/2006/main">
            <a:r>
              <a:t/>
            </a:r>
          </a:p>
          <a:p xmlns:a="http://schemas.openxmlformats.org/drawingml/2006/main">
            <a:r>
              <a:t>Safeguarding / safety: Follow each pupil’s agreed plan. Do not use touch, breath-holding, closed-eye demands or forced participation. A pupil can stop immediately. Respond to reported illness through school procedures. For safety concerns, use the Week 5 protocol.</a:t>
            </a:r>
          </a:p>
          <a:p xmlns:a="http://schemas.openxmlformats.org/drawingml/2006/main">
            <a:r>
              <a:t/>
            </a:r>
          </a:p>
          <a:p xmlns:a="http://schemas.openxmlformats.org/drawingml/2006/main">
            <a:r>
              <a:t>40-minute lesson flow (total for the whole lesson, not each slide):</a:t>
            </a:r>
          </a:p>
          <a:p xmlns:a="http://schemas.openxmlformats.org/drawingml/2006/main">
            <a:r>
              <a:t>3 min: Welcome and feedback on access suggestion</a:t>
            </a:r>
          </a:p>
          <a:p xmlns:a="http://schemas.openxmlformats.org/drawingml/2006/main">
            <a:r>
              <a:t>5 min: Teach support and shared responsibility</a:t>
            </a:r>
          </a:p>
          <a:p xmlns:a="http://schemas.openxmlformats.org/drawingml/2006/main">
            <a:r>
              <a:t>5 min: Analyse noisy-room scenario</a:t>
            </a:r>
          </a:p>
          <a:p xmlns:a="http://schemas.openxmlformats.org/drawingml/2006/main">
            <a:r>
              <a:t>6 min: Model menu; optional observe/try/paper comparison</a:t>
            </a:r>
          </a:p>
          <a:p xmlns:a="http://schemas.openxmlformats.org/drawingml/2006/main">
            <a:r>
              <a:t>12 min: Three pupil tasks and flexible plan</a:t>
            </a:r>
          </a:p>
          <a:p xmlns:a="http://schemas.openxmlformats.org/drawingml/2006/main">
            <a:r>
              <a:t>4 min: Review an unhelpful trial</a:t>
            </a:r>
          </a:p>
          <a:p xmlns:a="http://schemas.openxmlformats.org/drawingml/2006/main">
            <a:r>
              <a:t>3 min: Exit check and help reminder</a:t>
            </a:r>
          </a:p>
          <a:p xmlns:a="http://schemas.openxmlformats.org/drawingml/2006/main">
            <a:r>
              <a:t>2 min: Reset and supported transition</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Week_4_PSHE_Feeling_Calm_(MF5).pptx</a:t>
            </a:r>
          </a:p>
          <a:p xmlns:a="http://schemas.openxmlformats.org/drawingml/2006/main">
            <a:r>
              <a:t>Uploaded teaching source: Week_4_PSHE_Worksheet_My_Regulation_Plan_(MF5).docx</a:t>
            </a:r>
          </a:p>
          <a:p xmlns:a="http://schemas.openxmlformats.org/drawingml/2006/main">
            <a:r>
              <a:t>Uploaded All About Me PSHE materials, Weeks 1–7 —  — Primary adaptation sources: all seven PPTX and all seven matching DOCX listed per lesson. They label the pathway BUILD; the user requests a GROW adaptation. Source codes SA1, SSS1, WILI1, CG2, MF5, SA5, SA3 and the Week 7 SA1–SA5 range are retained only as unverified planning references. Original wording, claims and activities have been substantively rewritten. No claim of endorsement, qualification evidence or complete PSHE Association alignment is made.</a:t>
            </a:r>
          </a:p>
          <a:p xmlns:a="http://schemas.openxmlformats.org/drawingml/2006/main">
            <a:r>
              <a:t>GROW unit placement and editorial changes —  — This upload-derived All About Me personal development unit is additional to the different current GROW website PSHE sequence. Preserve the existing scheme and catalogue when installing it. Replaced public named mood charts, compulsory body maps and personal network sharing, breath-holding, obligatory kindness missions and automatic display. Removed unsupported Week 7 recap claims about separate consent/public-private topics and simplified service/confidentiality overclaims.</a:t>
            </a:r>
          </a:p>
          <a:p xmlns:a="http://schemas.openxmlformats.org/drawingml/2006/main">
            <a:r>
              <a:t>Laura Lundy model: Space, Voice, Audience and Influence — https://pure.qub.ac.uk/en/publications/space-voice-audience-and-influence-the-lundy-model-and-early-chil/ — Primary author source for the four interrelated participation elements. Pupil language is an original classroom adaptation. Space includes safe inclusive opportunities; Voice includes information and support; Audience involves a responsible listener; Influence requires serious consideration rather than automatic agreement. Checked 7 September 2026.</a:t>
            </a:r>
          </a:p>
          <a:p xmlns:a="http://schemas.openxmlformats.org/drawingml/2006/main">
            <a:r>
              <a:t>Laura Lundy on participation and feedback — https://blogs.qub.ac.uk/qpol/how-to-do-better-in-childrens-participation/ — Author commentary supports returning an explanation of what happened to children’s views. The pack uses small real access decisions and a stated feedback point. Checked 7 September 2026.</a:t>
            </a:r>
          </a:p>
          <a:p xmlns:a="http://schemas.openxmlformats.org/drawingml/2006/main">
            <a:r>
              <a:t>Hub na nÓg: National Participation Framework — https://hubnanog.ie/participation-framework/ — Co-developed with Professor Laura Lundy. Supports purposeful participation, accessible opportunities, decision-maker responsibility, realistic expectations and feedback in everyday settings. The fictional club examples are newly authored classroom applications. Checked 7 September 2026.</a:t>
            </a:r>
          </a:p>
          <a:p xmlns:a="http://schemas.openxmlformats.org/drawingml/2006/main">
            <a:r>
              <a:t>EU Children’s Participation Platform: the Lundy model — https://eu-for-children.europa.eu/about/lundy-model_en — Primary platform account of implementing the four elements with Professor Lundy, including children’s choice about if/how to contribute, listening by decision-makers and feedback about influence. Used to check the accessible classroom wording. Checked 7 September 2026.</a:t>
            </a:r>
          </a:p>
          <a:p xmlns:a="http://schemas.openxmlformats.org/drawingml/2006/main">
            <a:r>
              <a:t>NSPCC: recognising and responding to abuse — https://learning.nspcc.org.uk/child-abuse-and-neglect/recognising-and-responding-to-abuse — Teacher disclosure response checked against NSPCC guidance: attentive listening, no secrecy promise or investigation, accurate recording, timely safeguarding reporting and emergency response if required. Apply the school’s current procedures. Checked 7 September 2026.</a:t>
            </a:r>
          </a:p>
          <a:p xmlns:a="http://schemas.openxmlformats.org/drawingml/2006/main">
            <a:r>
              <a:t>Childline: about the service — https://www.childline.org.uk/about/about-childline — Confirms support for under-19s in the UK and contact by free telephone 0800 1111 or online. No promise of immediate availability is made. Checked 7 September 2026.</a:t>
            </a:r>
          </a:p>
          <a:p xmlns:a="http://schemas.openxmlformats.org/drawingml/2006/main">
            <a:r>
              <a:t>Childline: confidentiality promise — https://www.childline.org.uk/about/confidentiality-promise — Confidentiality has defined exceptions, including some serious safety concerns and legal requirements. The lesson does not promise that every disclosure stays secret. Checked 7 September 2026.</a:t>
            </a:r>
          </a:p>
          <a:p xmlns:a="http://schemas.openxmlformats.org/drawingml/2006/main">
            <a:r>
              <a:t>CEOP: reporting remit — https://www.ceop.police.uk/ceop-reporting/ — CEOP is a reporting route for online sexual abuse and grooming. It does not handle general online bullying, fake accounts or hacking reports. This corrects the broad service description in the upload. Checked 7 September 2026.</a:t>
            </a:r>
          </a:p>
          <a:p xmlns:a="http://schemas.openxmlformats.org/drawingml/2006/main">
            <a:r>
              <a:t>YoungMinds: information and support for young people — https://www.youngminds.org.uk/young-person/ — Used for mental health information and help-finding guidance. The pack does not present YoungMinds as pupil counselling or emergency response. Checked 7 September 2026.</a:t>
            </a:r>
          </a:p>
          <a:p xmlns:a="http://schemas.openxmlformats.org/drawingml/2006/main">
            <a:r>
              <a:t>YoungMinds: service boundaries — https://www.youngminds.org.uk/parent/ — The organisation explains that it does not provide counselling or therapy for young people. School/GP support and emergency routes are kept distinct. Checked 7 September 2026.</a:t>
            </a:r>
          </a:p>
          <a:p xmlns:a="http://schemas.openxmlformats.org/drawingml/2006/main">
            <a:r>
              <a:t>NHS: breathing exercises for stress — https://www.nhs.uk/mental-health/self-help/guides-tools-and-activities/breathing-exercises-for-stress/ — Supports comfortable, unforced breathing. The optional classroom example does not require breath-holding or claim a one-minute trial is therapy or proof of an effect. Alternatives include observing or comparing fictional cases. Checked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GROW_PSHE_W04 | Regulation: finding helpful support</a:t>
            </a:r>
          </a:p>
          <a:p xmlns:a="http://schemas.openxmlformats.org/drawingml/2006/main">
            <a:r>
              <a:t>Compare regulation options, include adult and environmental support, and make a flexible plan without treating calm behaviour as the goal.</a:t>
            </a:r>
          </a:p>
          <a:p xmlns:a="http://schemas.openxmlformats.org/drawingml/2006/main">
            <a:r>
              <a:t/>
            </a:r>
          </a:p>
          <a:p xmlns:a="http://schemas.openxmlformats.org/drawingml/2006/main">
            <a:r>
              <a:t>Allow about one minute for an optional exploration plus discussion. Do not claim a one-minute trial proves lasting effectiveness or record class calmness scores.</a:t>
            </a:r>
          </a:p>
          <a:p xmlns:a="http://schemas.openxmlformats.org/drawingml/2006/main">
            <a:r>
              <a:t/>
            </a:r>
          </a:p>
          <a:p xmlns:a="http://schemas.openxmlformats.org/drawingml/2006/main">
            <a:r>
              <a:t>Pupil prompt: What should happen if an option feels unhelpful?</a:t>
            </a:r>
          </a:p>
          <a:p xmlns:a="http://schemas.openxmlformats.org/drawingml/2006/main">
            <a:r>
              <a:t/>
            </a:r>
          </a:p>
          <a:p xmlns:a="http://schemas.openxmlformats.org/drawingml/2006/main">
            <a:r>
              <a:t>Teacher answer / acceptable response: Stop or change it, and ask for support. An unhelpful strategy is useful information, not a pupil failure.</a:t>
            </a:r>
          </a:p>
          <a:p xmlns:a="http://schemas.openxmlformats.org/drawingml/2006/main">
            <a:r>
              <a:t/>
            </a:r>
          </a:p>
          <a:p xmlns:a="http://schemas.openxmlformats.org/drawingml/2006/main">
            <a:r>
              <a:t>Support: Offer two options relevant to the fictional barrier and two adult actions. Read them aloud; accept pointing. Keep any personal response private and treat observing as full participation.</a:t>
            </a:r>
          </a:p>
          <a:p xmlns:a="http://schemas.openxmlformats.org/drawingml/2006/main">
            <a:r>
              <a:t/>
            </a:r>
          </a:p>
          <a:p xmlns:a="http://schemas.openxmlformats.org/drawingml/2006/main">
            <a:r>
              <a:t>Stretch: Compare a strategy focused on the individual with a change to the environment. Explain why a plan should include the person’s preference and a review rather than a fixed “calm down” requirement.</a:t>
            </a:r>
          </a:p>
          <a:p xmlns:a="http://schemas.openxmlformats.org/drawingml/2006/main">
            <a:r>
              <a:t/>
            </a:r>
          </a:p>
          <a:p xmlns:a="http://schemas.openxmlformats.org/drawingml/2006/main">
            <a:r>
              <a:t>Safeguarding / safety: Follow each pupil’s agreed plan. Do not use touch, breath-holding, closed-eye demands or forced participation. A pupil can stop immediately. Respond to reported illness through school procedures. For safety concerns, use the Week 5 protocol.</a:t>
            </a:r>
          </a:p>
          <a:p xmlns:a="http://schemas.openxmlformats.org/drawingml/2006/main">
            <a:r>
              <a:t/>
            </a:r>
          </a:p>
          <a:p xmlns:a="http://schemas.openxmlformats.org/drawingml/2006/main">
            <a:r>
              <a:t>40-minute lesson flow (total for the whole lesson, not each slide):</a:t>
            </a:r>
          </a:p>
          <a:p xmlns:a="http://schemas.openxmlformats.org/drawingml/2006/main">
            <a:r>
              <a:t>3 min: Welcome and feedback on access suggestion</a:t>
            </a:r>
          </a:p>
          <a:p xmlns:a="http://schemas.openxmlformats.org/drawingml/2006/main">
            <a:r>
              <a:t>5 min: Teach support and shared responsibility</a:t>
            </a:r>
          </a:p>
          <a:p xmlns:a="http://schemas.openxmlformats.org/drawingml/2006/main">
            <a:r>
              <a:t>5 min: Analyse noisy-room scenario</a:t>
            </a:r>
          </a:p>
          <a:p xmlns:a="http://schemas.openxmlformats.org/drawingml/2006/main">
            <a:r>
              <a:t>6 min: Model menu; optional observe/try/paper comparison</a:t>
            </a:r>
          </a:p>
          <a:p xmlns:a="http://schemas.openxmlformats.org/drawingml/2006/main">
            <a:r>
              <a:t>12 min: Three pupil tasks and flexible plan</a:t>
            </a:r>
          </a:p>
          <a:p xmlns:a="http://schemas.openxmlformats.org/drawingml/2006/main">
            <a:r>
              <a:t>4 min: Review an unhelpful trial</a:t>
            </a:r>
          </a:p>
          <a:p xmlns:a="http://schemas.openxmlformats.org/drawingml/2006/main">
            <a:r>
              <a:t>3 min: Exit check and help reminder</a:t>
            </a:r>
          </a:p>
          <a:p xmlns:a="http://schemas.openxmlformats.org/drawingml/2006/main">
            <a:r>
              <a:t>2 min: Reset and supported transition</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Week_4_PSHE_Feeling_Calm_(MF5).pptx</a:t>
            </a:r>
          </a:p>
          <a:p xmlns:a="http://schemas.openxmlformats.org/drawingml/2006/main">
            <a:r>
              <a:t>Uploaded teaching source: Week_4_PSHE_Worksheet_My_Regulation_Plan_(MF5).docx</a:t>
            </a:r>
          </a:p>
          <a:p xmlns:a="http://schemas.openxmlformats.org/drawingml/2006/main">
            <a:r>
              <a:t>Uploaded All About Me PSHE materials, Weeks 1–7 —  — Primary adaptation sources: all seven PPTX and all seven matching DOCX listed per lesson. They label the pathway BUILD; the user requests a GROW adaptation. Source codes SA1, SSS1, WILI1, CG2, MF5, SA5, SA3 and the Week 7 SA1–SA5 range are retained only as unverified planning references. Original wording, claims and activities have been substantively rewritten. No claim of endorsement, qualification evidence or complete PSHE Association alignment is made.</a:t>
            </a:r>
          </a:p>
          <a:p xmlns:a="http://schemas.openxmlformats.org/drawingml/2006/main">
            <a:r>
              <a:t>GROW unit placement and editorial changes —  — This upload-derived All About Me personal development unit is additional to the different current GROW website PSHE sequence. Preserve the existing scheme and catalogue when installing it. Replaced public named mood charts, compulsory body maps and personal network sharing, breath-holding, obligatory kindness missions and automatic display. Removed unsupported Week 7 recap claims about separate consent/public-private topics and simplified service/confidentiality overclaims.</a:t>
            </a:r>
          </a:p>
          <a:p xmlns:a="http://schemas.openxmlformats.org/drawingml/2006/main">
            <a:r>
              <a:t>Laura Lundy model: Space, Voice, Audience and Influence — https://pure.qub.ac.uk/en/publications/space-voice-audience-and-influence-the-lundy-model-and-early-chil/ — Primary author source for the four interrelated participation elements. Pupil language is an original classroom adaptation. Space includes safe inclusive opportunities; Voice includes information and support; Audience involves a responsible listener; Influence requires serious consideration rather than automatic agreement. Checked 7 September 2026.</a:t>
            </a:r>
          </a:p>
          <a:p xmlns:a="http://schemas.openxmlformats.org/drawingml/2006/main">
            <a:r>
              <a:t>Laura Lundy on participation and feedback — https://blogs.qub.ac.uk/qpol/how-to-do-better-in-childrens-participation/ — Author commentary supports returning an explanation of what happened to children’s views. The pack uses small real access decisions and a stated feedback point. Checked 7 September 2026.</a:t>
            </a:r>
          </a:p>
          <a:p xmlns:a="http://schemas.openxmlformats.org/drawingml/2006/main">
            <a:r>
              <a:t>Hub na nÓg: National Participation Framework — https://hubnanog.ie/participation-framework/ — Co-developed with Professor Laura Lundy. Supports purposeful participation, accessible opportunities, decision-maker responsibility, realistic expectations and feedback in everyday settings. The fictional club examples are newly authored classroom applications. Checked 7 September 2026.</a:t>
            </a:r>
          </a:p>
          <a:p xmlns:a="http://schemas.openxmlformats.org/drawingml/2006/main">
            <a:r>
              <a:t>EU Children’s Participation Platform: the Lundy model — https://eu-for-children.europa.eu/about/lundy-model_en — Primary platform account of implementing the four elements with Professor Lundy, including children’s choice about if/how to contribute, listening by decision-makers and feedback about influence. Used to check the accessible classroom wording. Checked 7 September 2026.</a:t>
            </a:r>
          </a:p>
          <a:p xmlns:a="http://schemas.openxmlformats.org/drawingml/2006/main">
            <a:r>
              <a:t>NSPCC: recognising and responding to abuse — https://learning.nspcc.org.uk/child-abuse-and-neglect/recognising-and-responding-to-abuse — Teacher disclosure response checked against NSPCC guidance: attentive listening, no secrecy promise or investigation, accurate recording, timely safeguarding reporting and emergency response if required. Apply the school’s current procedures. Checked 7 September 2026.</a:t>
            </a:r>
          </a:p>
          <a:p xmlns:a="http://schemas.openxmlformats.org/drawingml/2006/main">
            <a:r>
              <a:t>Childline: about the service — https://www.childline.org.uk/about/about-childline — Confirms support for under-19s in the UK and contact by free telephone 0800 1111 or online. No promise of immediate availability is made. Checked 7 September 2026.</a:t>
            </a:r>
          </a:p>
          <a:p xmlns:a="http://schemas.openxmlformats.org/drawingml/2006/main">
            <a:r>
              <a:t>Childline: confidentiality promise — https://www.childline.org.uk/about/confidentiality-promise — Confidentiality has defined exceptions, including some serious safety concerns and legal requirements. The lesson does not promise that every disclosure stays secret. Checked 7 September 2026.</a:t>
            </a:r>
          </a:p>
          <a:p xmlns:a="http://schemas.openxmlformats.org/drawingml/2006/main">
            <a:r>
              <a:t>CEOP: reporting remit — https://www.ceop.police.uk/ceop-reporting/ — CEOP is a reporting route for online sexual abuse and grooming. It does not handle general online bullying, fake accounts or hacking reports. This corrects the broad service description in the upload. Checked 7 September 2026.</a:t>
            </a:r>
          </a:p>
          <a:p xmlns:a="http://schemas.openxmlformats.org/drawingml/2006/main">
            <a:r>
              <a:t>YoungMinds: information and support for young people — https://www.youngminds.org.uk/young-person/ — Used for mental health information and help-finding guidance. The pack does not present YoungMinds as pupil counselling or emergency response. Checked 7 September 2026.</a:t>
            </a:r>
          </a:p>
          <a:p xmlns:a="http://schemas.openxmlformats.org/drawingml/2006/main">
            <a:r>
              <a:t>YoungMinds: service boundaries — https://www.youngminds.org.uk/parent/ — The organisation explains that it does not provide counselling or therapy for young people. School/GP support and emergency routes are kept distinct. Checked 7 September 2026.</a:t>
            </a:r>
          </a:p>
          <a:p xmlns:a="http://schemas.openxmlformats.org/drawingml/2006/main">
            <a:r>
              <a:t>NHS: breathing exercises for stress — https://www.nhs.uk/mental-health/self-help/guides-tools-and-activities/breathing-exercises-for-stress/ — Supports comfortable, unforced breathing. The optional classroom example does not require breath-holding or claim a one-minute trial is therapy or proof of an effect. Alternatives include observing or comparing fictional cases. Checked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GROW_PSHE_W04 | Regulation: finding helpful support</a:t>
            </a:r>
          </a:p>
          <a:p xmlns:a="http://schemas.openxmlformats.org/drawingml/2006/main">
            <a:r>
              <a:t>Compare regulation options, include adult and environmental support, and make a flexible plan without treating calm behaviour as the goal.</a:t>
            </a:r>
          </a:p>
          <a:p xmlns:a="http://schemas.openxmlformats.org/drawingml/2006/main">
            <a:r>
              <a:t/>
            </a:r>
          </a:p>
          <a:p xmlns:a="http://schemas.openxmlformats.org/drawingml/2006/main">
            <a:r>
              <a:t>Allow about one minute for an optional exploration plus discussion. Do not claim a one-minute trial proves lasting effectiveness or record class calmness scores.</a:t>
            </a:r>
          </a:p>
          <a:p xmlns:a="http://schemas.openxmlformats.org/drawingml/2006/main">
            <a:r>
              <a:t/>
            </a:r>
          </a:p>
          <a:p xmlns:a="http://schemas.openxmlformats.org/drawingml/2006/main">
            <a:r>
              <a:t>Pupil prompt: What should happen if an option feels unhelpful?</a:t>
            </a:r>
          </a:p>
          <a:p xmlns:a="http://schemas.openxmlformats.org/drawingml/2006/main">
            <a:r>
              <a:t/>
            </a:r>
          </a:p>
          <a:p xmlns:a="http://schemas.openxmlformats.org/drawingml/2006/main">
            <a:r>
              <a:t>Teacher answer / acceptable response: Stop or change it, and ask for support. An unhelpful strategy is useful information, not a pupil failure.</a:t>
            </a:r>
          </a:p>
          <a:p xmlns:a="http://schemas.openxmlformats.org/drawingml/2006/main">
            <a:r>
              <a:t/>
            </a:r>
          </a:p>
          <a:p xmlns:a="http://schemas.openxmlformats.org/drawingml/2006/main">
            <a:r>
              <a:t>Support: Offer two options relevant to the fictional barrier and two adult actions. Read them aloud; accept pointing. Keep any personal response private and treat observing as full participation.</a:t>
            </a:r>
          </a:p>
          <a:p xmlns:a="http://schemas.openxmlformats.org/drawingml/2006/main">
            <a:r>
              <a:t/>
            </a:r>
          </a:p>
          <a:p xmlns:a="http://schemas.openxmlformats.org/drawingml/2006/main">
            <a:r>
              <a:t>Stretch: Compare a strategy focused on the individual with a change to the environment. Explain why a plan should include the person’s preference and a review rather than a fixed “calm down” requirement.</a:t>
            </a:r>
          </a:p>
          <a:p xmlns:a="http://schemas.openxmlformats.org/drawingml/2006/main">
            <a:r>
              <a:t/>
            </a:r>
          </a:p>
          <a:p xmlns:a="http://schemas.openxmlformats.org/drawingml/2006/main">
            <a:r>
              <a:t>Safeguarding / safety: Follow each pupil’s agreed plan. Do not use touch, breath-holding, closed-eye demands or forced participation. A pupil can stop immediately. Respond to reported illness through school procedures. For safety concerns, use the Week 5 protocol.</a:t>
            </a:r>
          </a:p>
          <a:p xmlns:a="http://schemas.openxmlformats.org/drawingml/2006/main">
            <a:r>
              <a:t/>
            </a:r>
          </a:p>
          <a:p xmlns:a="http://schemas.openxmlformats.org/drawingml/2006/main">
            <a:r>
              <a:t>40-minute lesson flow (total for the whole lesson, not each slide):</a:t>
            </a:r>
          </a:p>
          <a:p xmlns:a="http://schemas.openxmlformats.org/drawingml/2006/main">
            <a:r>
              <a:t>3 min: Welcome and feedback on access suggestion</a:t>
            </a:r>
          </a:p>
          <a:p xmlns:a="http://schemas.openxmlformats.org/drawingml/2006/main">
            <a:r>
              <a:t>5 min: Teach support and shared responsibility</a:t>
            </a:r>
          </a:p>
          <a:p xmlns:a="http://schemas.openxmlformats.org/drawingml/2006/main">
            <a:r>
              <a:t>5 min: Analyse noisy-room scenario</a:t>
            </a:r>
          </a:p>
          <a:p xmlns:a="http://schemas.openxmlformats.org/drawingml/2006/main">
            <a:r>
              <a:t>6 min: Model menu; optional observe/try/paper comparison</a:t>
            </a:r>
          </a:p>
          <a:p xmlns:a="http://schemas.openxmlformats.org/drawingml/2006/main">
            <a:r>
              <a:t>12 min: Three pupil tasks and flexible plan</a:t>
            </a:r>
          </a:p>
          <a:p xmlns:a="http://schemas.openxmlformats.org/drawingml/2006/main">
            <a:r>
              <a:t>4 min: Review an unhelpful trial</a:t>
            </a:r>
          </a:p>
          <a:p xmlns:a="http://schemas.openxmlformats.org/drawingml/2006/main">
            <a:r>
              <a:t>3 min: Exit check and help reminder</a:t>
            </a:r>
          </a:p>
          <a:p xmlns:a="http://schemas.openxmlformats.org/drawingml/2006/main">
            <a:r>
              <a:t>2 min: Reset and supported transition</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Week_4_PSHE_Feeling_Calm_(MF5).pptx</a:t>
            </a:r>
          </a:p>
          <a:p xmlns:a="http://schemas.openxmlformats.org/drawingml/2006/main">
            <a:r>
              <a:t>Uploaded teaching source: Week_4_PSHE_Worksheet_My_Regulation_Plan_(MF5).docx</a:t>
            </a:r>
          </a:p>
          <a:p xmlns:a="http://schemas.openxmlformats.org/drawingml/2006/main">
            <a:r>
              <a:t>Uploaded All About Me PSHE materials, Weeks 1–7 —  — Primary adaptation sources: all seven PPTX and all seven matching DOCX listed per lesson. They label the pathway BUILD; the user requests a GROW adaptation. Source codes SA1, SSS1, WILI1, CG2, MF5, SA5, SA3 and the Week 7 SA1–SA5 range are retained only as unverified planning references. Original wording, claims and activities have been substantively rewritten. No claim of endorsement, qualification evidence or complete PSHE Association alignment is made.</a:t>
            </a:r>
          </a:p>
          <a:p xmlns:a="http://schemas.openxmlformats.org/drawingml/2006/main">
            <a:r>
              <a:t>GROW unit placement and editorial changes —  — This upload-derived All About Me personal development unit is additional to the different current GROW website PSHE sequence. Preserve the existing scheme and catalogue when installing it. Replaced public named mood charts, compulsory body maps and personal network sharing, breath-holding, obligatory kindness missions and automatic display. Removed unsupported Week 7 recap claims about separate consent/public-private topics and simplified service/confidentiality overclaims.</a:t>
            </a:r>
          </a:p>
          <a:p xmlns:a="http://schemas.openxmlformats.org/drawingml/2006/main">
            <a:r>
              <a:t>Laura Lundy model: Space, Voice, Audience and Influence — https://pure.qub.ac.uk/en/publications/space-voice-audience-and-influence-the-lundy-model-and-early-chil/ — Primary author source for the four interrelated participation elements. Pupil language is an original classroom adaptation. Space includes safe inclusive opportunities; Voice includes information and support; Audience involves a responsible listener; Influence requires serious consideration rather than automatic agreement. Checked 7 September 2026.</a:t>
            </a:r>
          </a:p>
          <a:p xmlns:a="http://schemas.openxmlformats.org/drawingml/2006/main">
            <a:r>
              <a:t>Laura Lundy on participation and feedback — https://blogs.qub.ac.uk/qpol/how-to-do-better-in-childrens-participation/ — Author commentary supports returning an explanation of what happened to children’s views. The pack uses small real access decisions and a stated feedback point. Checked 7 September 2026.</a:t>
            </a:r>
          </a:p>
          <a:p xmlns:a="http://schemas.openxmlformats.org/drawingml/2006/main">
            <a:r>
              <a:t>Hub na nÓg: National Participation Framework — https://hubnanog.ie/participation-framework/ — Co-developed with Professor Laura Lundy. Supports purposeful participation, accessible opportunities, decision-maker responsibility, realistic expectations and feedback in everyday settings. The fictional club examples are newly authored classroom applications. Checked 7 September 2026.</a:t>
            </a:r>
          </a:p>
          <a:p xmlns:a="http://schemas.openxmlformats.org/drawingml/2006/main">
            <a:r>
              <a:t>EU Children’s Participation Platform: the Lundy model — https://eu-for-children.europa.eu/about/lundy-model_en — Primary platform account of implementing the four elements with Professor Lundy, including children’s choice about if/how to contribute, listening by decision-makers and feedback about influence. Used to check the accessible classroom wording. Checked 7 September 2026.</a:t>
            </a:r>
          </a:p>
          <a:p xmlns:a="http://schemas.openxmlformats.org/drawingml/2006/main">
            <a:r>
              <a:t>NSPCC: recognising and responding to abuse — https://learning.nspcc.org.uk/child-abuse-and-neglect/recognising-and-responding-to-abuse — Teacher disclosure response checked against NSPCC guidance: attentive listening, no secrecy promise or investigation, accurate recording, timely safeguarding reporting and emergency response if required. Apply the school’s current procedures. Checked 7 September 2026.</a:t>
            </a:r>
          </a:p>
          <a:p xmlns:a="http://schemas.openxmlformats.org/drawingml/2006/main">
            <a:r>
              <a:t>Childline: about the service — https://www.childline.org.uk/about/about-childline — Confirms support for under-19s in the UK and contact by free telephone 0800 1111 or online. No promise of immediate availability is made. Checked 7 September 2026.</a:t>
            </a:r>
          </a:p>
          <a:p xmlns:a="http://schemas.openxmlformats.org/drawingml/2006/main">
            <a:r>
              <a:t>Childline: confidentiality promise — https://www.childline.org.uk/about/confidentiality-promise — Confidentiality has defined exceptions, including some serious safety concerns and legal requirements. The lesson does not promise that every disclosure stays secret. Checked 7 September 2026.</a:t>
            </a:r>
          </a:p>
          <a:p xmlns:a="http://schemas.openxmlformats.org/drawingml/2006/main">
            <a:r>
              <a:t>CEOP: reporting remit — https://www.ceop.police.uk/ceop-reporting/ — CEOP is a reporting route for online sexual abuse and grooming. It does not handle general online bullying, fake accounts or hacking reports. This corrects the broad service description in the upload. Checked 7 September 2026.</a:t>
            </a:r>
          </a:p>
          <a:p xmlns:a="http://schemas.openxmlformats.org/drawingml/2006/main">
            <a:r>
              <a:t>YoungMinds: information and support for young people — https://www.youngminds.org.uk/young-person/ — Used for mental health information and help-finding guidance. The pack does not present YoungMinds as pupil counselling or emergency response. Checked 7 September 2026.</a:t>
            </a:r>
          </a:p>
          <a:p xmlns:a="http://schemas.openxmlformats.org/drawingml/2006/main">
            <a:r>
              <a:t>YoungMinds: service boundaries — https://www.youngminds.org.uk/parent/ — The organisation explains that it does not provide counselling or therapy for young people. School/GP support and emergency routes are kept distinct. Checked 7 September 2026.</a:t>
            </a:r>
          </a:p>
          <a:p xmlns:a="http://schemas.openxmlformats.org/drawingml/2006/main">
            <a:r>
              <a:t>NHS: breathing exercises for stress — https://www.nhs.uk/mental-health/self-help/guides-tools-and-activities/breathing-exercises-for-stress/ — Supports comfortable, unforced breathing. The optional classroom example does not require breath-holding or claim a one-minute trial is therapy or proof of an effect. Alternatives include observing or comparing fictional cases. Checked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GROW_PSHE_W04 | Regulation: finding helpful support</a:t>
            </a:r>
          </a:p>
          <a:p xmlns:a="http://schemas.openxmlformats.org/drawingml/2006/main">
            <a:r>
              <a:t>Compare regulation options, include adult and environmental support, and make a flexible plan without treating calm behaviour as the goal.</a:t>
            </a:r>
          </a:p>
          <a:p xmlns:a="http://schemas.openxmlformats.org/drawingml/2006/main">
            <a:r>
              <a:t/>
            </a:r>
          </a:p>
          <a:p xmlns:a="http://schemas.openxmlformats.org/drawingml/2006/main">
            <a:r>
              <a:t>Model an if-then plan with choice. Make support available before a crisis, without making early noticing a pupil obligation.</a:t>
            </a:r>
          </a:p>
          <a:p xmlns:a="http://schemas.openxmlformats.org/drawingml/2006/main">
            <a:r>
              <a:t/>
            </a:r>
          </a:p>
          <a:p xmlns:a="http://schemas.openxmlformats.org/drawingml/2006/main">
            <a:r>
              <a:t>Pupil prompt: Where is the adult’s responsibility in this plan?</a:t>
            </a:r>
          </a:p>
          <a:p xmlns:a="http://schemas.openxmlformats.org/drawingml/2006/main">
            <a:r>
              <a:t/>
            </a:r>
          </a:p>
          <a:p xmlns:a="http://schemas.openxmlformats.org/drawingml/2006/main">
            <a:r>
              <a:t>Teacher answer / acceptable response: The adult helps change the environment, makes instructions accessible and checks what is needed.</a:t>
            </a:r>
          </a:p>
          <a:p xmlns:a="http://schemas.openxmlformats.org/drawingml/2006/main">
            <a:r>
              <a:t/>
            </a:r>
          </a:p>
          <a:p xmlns:a="http://schemas.openxmlformats.org/drawingml/2006/main">
            <a:r>
              <a:t>Support: Offer two options relevant to the fictional barrier and two adult actions. Read them aloud; accept pointing. Keep any personal response private and treat observing as full participation.</a:t>
            </a:r>
          </a:p>
          <a:p xmlns:a="http://schemas.openxmlformats.org/drawingml/2006/main">
            <a:r>
              <a:t/>
            </a:r>
          </a:p>
          <a:p xmlns:a="http://schemas.openxmlformats.org/drawingml/2006/main">
            <a:r>
              <a:t>Stretch: Compare a strategy focused on the individual with a change to the environment. Explain why a plan should include the person’s preference and a review rather than a fixed “calm down” requirement.</a:t>
            </a:r>
          </a:p>
          <a:p xmlns:a="http://schemas.openxmlformats.org/drawingml/2006/main">
            <a:r>
              <a:t/>
            </a:r>
          </a:p>
          <a:p xmlns:a="http://schemas.openxmlformats.org/drawingml/2006/main">
            <a:r>
              <a:t>Safeguarding / safety: Follow each pupil’s agreed plan. Do not use touch, breath-holding, closed-eye demands or forced participation. A pupil can stop immediately. Respond to reported illness through school procedures. For safety concerns, use the Week 5 protocol.</a:t>
            </a:r>
          </a:p>
          <a:p xmlns:a="http://schemas.openxmlformats.org/drawingml/2006/main">
            <a:r>
              <a:t/>
            </a:r>
          </a:p>
          <a:p xmlns:a="http://schemas.openxmlformats.org/drawingml/2006/main">
            <a:r>
              <a:t>40-minute lesson flow (total for the whole lesson, not each slide):</a:t>
            </a:r>
          </a:p>
          <a:p xmlns:a="http://schemas.openxmlformats.org/drawingml/2006/main">
            <a:r>
              <a:t>3 min: Welcome and feedback on access suggestion</a:t>
            </a:r>
          </a:p>
          <a:p xmlns:a="http://schemas.openxmlformats.org/drawingml/2006/main">
            <a:r>
              <a:t>5 min: Teach support and shared responsibility</a:t>
            </a:r>
          </a:p>
          <a:p xmlns:a="http://schemas.openxmlformats.org/drawingml/2006/main">
            <a:r>
              <a:t>5 min: Analyse noisy-room scenario</a:t>
            </a:r>
          </a:p>
          <a:p xmlns:a="http://schemas.openxmlformats.org/drawingml/2006/main">
            <a:r>
              <a:t>6 min: Model menu; optional observe/try/paper comparison</a:t>
            </a:r>
          </a:p>
          <a:p xmlns:a="http://schemas.openxmlformats.org/drawingml/2006/main">
            <a:r>
              <a:t>12 min: Three pupil tasks and flexible plan</a:t>
            </a:r>
          </a:p>
          <a:p xmlns:a="http://schemas.openxmlformats.org/drawingml/2006/main">
            <a:r>
              <a:t>4 min: Review an unhelpful trial</a:t>
            </a:r>
          </a:p>
          <a:p xmlns:a="http://schemas.openxmlformats.org/drawingml/2006/main">
            <a:r>
              <a:t>3 min: Exit check and help reminder</a:t>
            </a:r>
          </a:p>
          <a:p xmlns:a="http://schemas.openxmlformats.org/drawingml/2006/main">
            <a:r>
              <a:t>2 min: Reset and supported transition</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Week_4_PSHE_Feeling_Calm_(MF5).pptx</a:t>
            </a:r>
          </a:p>
          <a:p xmlns:a="http://schemas.openxmlformats.org/drawingml/2006/main">
            <a:r>
              <a:t>Uploaded teaching source: Week_4_PSHE_Worksheet_My_Regulation_Plan_(MF5).docx</a:t>
            </a:r>
          </a:p>
          <a:p xmlns:a="http://schemas.openxmlformats.org/drawingml/2006/main">
            <a:r>
              <a:t>Uploaded All About Me PSHE materials, Weeks 1–7 —  — Primary adaptation sources: all seven PPTX and all seven matching DOCX listed per lesson. They label the pathway BUILD; the user requests a GROW adaptation. Source codes SA1, SSS1, WILI1, CG2, MF5, SA5, SA3 and the Week 7 SA1–SA5 range are retained only as unverified planning references. Original wording, claims and activities have been substantively rewritten. No claim of endorsement, qualification evidence or complete PSHE Association alignment is made.</a:t>
            </a:r>
          </a:p>
          <a:p xmlns:a="http://schemas.openxmlformats.org/drawingml/2006/main">
            <a:r>
              <a:t>GROW unit placement and editorial changes —  — This upload-derived All About Me personal development unit is additional to the different current GROW website PSHE sequence. Preserve the existing scheme and catalogue when installing it. Replaced public named mood charts, compulsory body maps and personal network sharing, breath-holding, obligatory kindness missions and automatic display. Removed unsupported Week 7 recap claims about separate consent/public-private topics and simplified service/confidentiality overclaims.</a:t>
            </a:r>
          </a:p>
          <a:p xmlns:a="http://schemas.openxmlformats.org/drawingml/2006/main">
            <a:r>
              <a:t>Laura Lundy model: Space, Voice, Audience and Influence — https://pure.qub.ac.uk/en/publications/space-voice-audience-and-influence-the-lundy-model-and-early-chil/ — Primary author source for the four interrelated participation elements. Pupil language is an original classroom adaptation. Space includes safe inclusive opportunities; Voice includes information and support; Audience involves a responsible listener; Influence requires serious consideration rather than automatic agreement. Checked 7 September 2026.</a:t>
            </a:r>
          </a:p>
          <a:p xmlns:a="http://schemas.openxmlformats.org/drawingml/2006/main">
            <a:r>
              <a:t>Laura Lundy on participation and feedback — https://blogs.qub.ac.uk/qpol/how-to-do-better-in-childrens-participation/ — Author commentary supports returning an explanation of what happened to children’s views. The pack uses small real access decisions and a stated feedback point. Checked 7 September 2026.</a:t>
            </a:r>
          </a:p>
          <a:p xmlns:a="http://schemas.openxmlformats.org/drawingml/2006/main">
            <a:r>
              <a:t>Hub na nÓg: National Participation Framework — https://hubnanog.ie/participation-framework/ — Co-developed with Professor Laura Lundy. Supports purposeful participation, accessible opportunities, decision-maker responsibility, realistic expectations and feedback in everyday settings. The fictional club examples are newly authored classroom applications. Checked 7 September 2026.</a:t>
            </a:r>
          </a:p>
          <a:p xmlns:a="http://schemas.openxmlformats.org/drawingml/2006/main">
            <a:r>
              <a:t>EU Children’s Participation Platform: the Lundy model — https://eu-for-children.europa.eu/about/lundy-model_en — Primary platform account of implementing the four elements with Professor Lundy, including children’s choice about if/how to contribute, listening by decision-makers and feedback about influence. Used to check the accessible classroom wording. Checked 7 September 2026.</a:t>
            </a:r>
          </a:p>
          <a:p xmlns:a="http://schemas.openxmlformats.org/drawingml/2006/main">
            <a:r>
              <a:t>NSPCC: recognising and responding to abuse — https://learning.nspcc.org.uk/child-abuse-and-neglect/recognising-and-responding-to-abuse — Teacher disclosure response checked against NSPCC guidance: attentive listening, no secrecy promise or investigation, accurate recording, timely safeguarding reporting and emergency response if required. Apply the school’s current procedures. Checked 7 September 2026.</a:t>
            </a:r>
          </a:p>
          <a:p xmlns:a="http://schemas.openxmlformats.org/drawingml/2006/main">
            <a:r>
              <a:t>Childline: about the service — https://www.childline.org.uk/about/about-childline — Confirms support for under-19s in the UK and contact by free telephone 0800 1111 or online. No promise of immediate availability is made. Checked 7 September 2026.</a:t>
            </a:r>
          </a:p>
          <a:p xmlns:a="http://schemas.openxmlformats.org/drawingml/2006/main">
            <a:r>
              <a:t>Childline: confidentiality promise — https://www.childline.org.uk/about/confidentiality-promise — Confidentiality has defined exceptions, including some serious safety concerns and legal requirements. The lesson does not promise that every disclosure stays secret. Checked 7 September 2026.</a:t>
            </a:r>
          </a:p>
          <a:p xmlns:a="http://schemas.openxmlformats.org/drawingml/2006/main">
            <a:r>
              <a:t>CEOP: reporting remit — https://www.ceop.police.uk/ceop-reporting/ — CEOP is a reporting route for online sexual abuse and grooming. It does not handle general online bullying, fake accounts or hacking reports. This corrects the broad service description in the upload. Checked 7 September 2026.</a:t>
            </a:r>
          </a:p>
          <a:p xmlns:a="http://schemas.openxmlformats.org/drawingml/2006/main">
            <a:r>
              <a:t>YoungMinds: information and support for young people — https://www.youngminds.org.uk/young-person/ — Used for mental health information and help-finding guidance. The pack does not present YoungMinds as pupil counselling or emergency response. Checked 7 September 2026.</a:t>
            </a:r>
          </a:p>
          <a:p xmlns:a="http://schemas.openxmlformats.org/drawingml/2006/main">
            <a:r>
              <a:t>YoungMinds: service boundaries — https://www.youngminds.org.uk/parent/ — The organisation explains that it does not provide counselling or therapy for young people. School/GP support and emergency routes are kept distinct. Checked 7 September 2026.</a:t>
            </a:r>
          </a:p>
          <a:p xmlns:a="http://schemas.openxmlformats.org/drawingml/2006/main">
            <a:r>
              <a:t>NHS: breathing exercises for stress — https://www.nhs.uk/mental-health/self-help/guides-tools-and-activities/breathing-exercises-for-stress/ — Supports comfortable, unforced breathing. The optional classroom example does not require breath-holding or claim a one-minute trial is therapy or proof of an effect. Alternatives include observing or comparing fictional cases. Checked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GROW_PSHE_W04 | Regulation: finding helpful support</a:t>
            </a:r>
          </a:p>
          <a:p xmlns:a="http://schemas.openxmlformats.org/drawingml/2006/main">
            <a:r>
              <a:t>Compare regulation options, include adult and environmental support, and make a flexible plan without treating calm behaviour as the goal.</a:t>
            </a:r>
          </a:p>
          <a:p xmlns:a="http://schemas.openxmlformats.org/drawingml/2006/main">
            <a:r>
              <a:t/>
            </a:r>
          </a:p>
          <a:p xmlns:a="http://schemas.openxmlformats.org/drawingml/2006/main">
            <a:r>
              <a:t>Do not ask pupils to diagnose themselves or peers. Physical symptoms should receive appropriate school health response rather than being labelled stress.</a:t>
            </a:r>
          </a:p>
          <a:p xmlns:a="http://schemas.openxmlformats.org/drawingml/2006/main">
            <a:r>
              <a:t/>
            </a:r>
          </a:p>
          <a:p xmlns:a="http://schemas.openxmlformats.org/drawingml/2006/main">
            <a:r>
              <a:t>Pupil prompt: Should someone finish every strategy before asking for help?</a:t>
            </a:r>
          </a:p>
          <a:p xmlns:a="http://schemas.openxmlformats.org/drawingml/2006/main">
            <a:r>
              <a:t/>
            </a:r>
          </a:p>
          <a:p xmlns:a="http://schemas.openxmlformats.org/drawingml/2006/main">
            <a:r>
              <a:t>Teacher answer / acceptable response: No. Support is available before, during or instead of using a strategy.</a:t>
            </a:r>
          </a:p>
          <a:p xmlns:a="http://schemas.openxmlformats.org/drawingml/2006/main">
            <a:r>
              <a:t/>
            </a:r>
          </a:p>
          <a:p xmlns:a="http://schemas.openxmlformats.org/drawingml/2006/main">
            <a:r>
              <a:t>Support: Offer two options relevant to the fictional barrier and two adult actions. Read them aloud; accept pointing. Keep any personal response private and treat observing as full participation.</a:t>
            </a:r>
          </a:p>
          <a:p xmlns:a="http://schemas.openxmlformats.org/drawingml/2006/main">
            <a:r>
              <a:t/>
            </a:r>
          </a:p>
          <a:p xmlns:a="http://schemas.openxmlformats.org/drawingml/2006/main">
            <a:r>
              <a:t>Stretch: Compare a strategy focused on the individual with a change to the environment. Explain why a plan should include the person’s preference and a review rather than a fixed “calm down” requirement.</a:t>
            </a:r>
          </a:p>
          <a:p xmlns:a="http://schemas.openxmlformats.org/drawingml/2006/main">
            <a:r>
              <a:t/>
            </a:r>
          </a:p>
          <a:p xmlns:a="http://schemas.openxmlformats.org/drawingml/2006/main">
            <a:r>
              <a:t>Safeguarding / safety: Follow each pupil’s agreed plan. Do not use touch, breath-holding, closed-eye demands or forced participation. A pupil can stop immediately. Respond to reported illness through school procedures. For safety concerns, use the Week 5 protocol.</a:t>
            </a:r>
          </a:p>
          <a:p xmlns:a="http://schemas.openxmlformats.org/drawingml/2006/main">
            <a:r>
              <a:t/>
            </a:r>
          </a:p>
          <a:p xmlns:a="http://schemas.openxmlformats.org/drawingml/2006/main">
            <a:r>
              <a:t>40-minute lesson flow (total for the whole lesson, not each slide):</a:t>
            </a:r>
          </a:p>
          <a:p xmlns:a="http://schemas.openxmlformats.org/drawingml/2006/main">
            <a:r>
              <a:t>3 min: Welcome and feedback on access suggestion</a:t>
            </a:r>
          </a:p>
          <a:p xmlns:a="http://schemas.openxmlformats.org/drawingml/2006/main">
            <a:r>
              <a:t>5 min: Teach support and shared responsibility</a:t>
            </a:r>
          </a:p>
          <a:p xmlns:a="http://schemas.openxmlformats.org/drawingml/2006/main">
            <a:r>
              <a:t>5 min: Analyse noisy-room scenario</a:t>
            </a:r>
          </a:p>
          <a:p xmlns:a="http://schemas.openxmlformats.org/drawingml/2006/main">
            <a:r>
              <a:t>6 min: Model menu; optional observe/try/paper comparison</a:t>
            </a:r>
          </a:p>
          <a:p xmlns:a="http://schemas.openxmlformats.org/drawingml/2006/main">
            <a:r>
              <a:t>12 min: Three pupil tasks and flexible plan</a:t>
            </a:r>
          </a:p>
          <a:p xmlns:a="http://schemas.openxmlformats.org/drawingml/2006/main">
            <a:r>
              <a:t>4 min: Review an unhelpful trial</a:t>
            </a:r>
          </a:p>
          <a:p xmlns:a="http://schemas.openxmlformats.org/drawingml/2006/main">
            <a:r>
              <a:t>3 min: Exit check and help reminder</a:t>
            </a:r>
          </a:p>
          <a:p xmlns:a="http://schemas.openxmlformats.org/drawingml/2006/main">
            <a:r>
              <a:t>2 min: Reset and supported transition</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Week_4_PSHE_Feeling_Calm_(MF5).pptx</a:t>
            </a:r>
          </a:p>
          <a:p xmlns:a="http://schemas.openxmlformats.org/drawingml/2006/main">
            <a:r>
              <a:t>Uploaded teaching source: Week_4_PSHE_Worksheet_My_Regulation_Plan_(MF5).docx</a:t>
            </a:r>
          </a:p>
          <a:p xmlns:a="http://schemas.openxmlformats.org/drawingml/2006/main">
            <a:r>
              <a:t>Uploaded All About Me PSHE materials, Weeks 1–7 —  — Primary adaptation sources: all seven PPTX and all seven matching DOCX listed per lesson. They label the pathway BUILD; the user requests a GROW adaptation. Source codes SA1, SSS1, WILI1, CG2, MF5, SA5, SA3 and the Week 7 SA1–SA5 range are retained only as unverified planning references. Original wording, claims and activities have been substantively rewritten. No claim of endorsement, qualification evidence or complete PSHE Association alignment is made.</a:t>
            </a:r>
          </a:p>
          <a:p xmlns:a="http://schemas.openxmlformats.org/drawingml/2006/main">
            <a:r>
              <a:t>GROW unit placement and editorial changes —  — This upload-derived All About Me personal development unit is additional to the different current GROW website PSHE sequence. Preserve the existing scheme and catalogue when installing it. Replaced public named mood charts, compulsory body maps and personal network sharing, breath-holding, obligatory kindness missions and automatic display. Removed unsupported Week 7 recap claims about separate consent/public-private topics and simplified service/confidentiality overclaims.</a:t>
            </a:r>
          </a:p>
          <a:p xmlns:a="http://schemas.openxmlformats.org/drawingml/2006/main">
            <a:r>
              <a:t>Laura Lundy model: Space, Voice, Audience and Influence — https://pure.qub.ac.uk/en/publications/space-voice-audience-and-influence-the-lundy-model-and-early-chil/ — Primary author source for the four interrelated participation elements. Pupil language is an original classroom adaptation. Space includes safe inclusive opportunities; Voice includes information and support; Audience involves a responsible listener; Influence requires serious consideration rather than automatic agreement. Checked 7 September 2026.</a:t>
            </a:r>
          </a:p>
          <a:p xmlns:a="http://schemas.openxmlformats.org/drawingml/2006/main">
            <a:r>
              <a:t>Laura Lundy on participation and feedback — https://blogs.qub.ac.uk/qpol/how-to-do-better-in-childrens-participation/ — Author commentary supports returning an explanation of what happened to children’s views. The pack uses small real access decisions and a stated feedback point. Checked 7 September 2026.</a:t>
            </a:r>
          </a:p>
          <a:p xmlns:a="http://schemas.openxmlformats.org/drawingml/2006/main">
            <a:r>
              <a:t>Hub na nÓg: National Participation Framework — https://hubnanog.ie/participation-framework/ — Co-developed with Professor Laura Lundy. Supports purposeful participation, accessible opportunities, decision-maker responsibility, realistic expectations and feedback in everyday settings. The fictional club examples are newly authored classroom applications. Checked 7 September 2026.</a:t>
            </a:r>
          </a:p>
          <a:p xmlns:a="http://schemas.openxmlformats.org/drawingml/2006/main">
            <a:r>
              <a:t>EU Children’s Participation Platform: the Lundy model — https://eu-for-children.europa.eu/about/lundy-model_en — Primary platform account of implementing the four elements with Professor Lundy, including children’s choice about if/how to contribute, listening by decision-makers and feedback about influence. Used to check the accessible classroom wording. Checked 7 September 2026.</a:t>
            </a:r>
          </a:p>
          <a:p xmlns:a="http://schemas.openxmlformats.org/drawingml/2006/main">
            <a:r>
              <a:t>NSPCC: recognising and responding to abuse — https://learning.nspcc.org.uk/child-abuse-and-neglect/recognising-and-responding-to-abuse — Teacher disclosure response checked against NSPCC guidance: attentive listening, no secrecy promise or investigation, accurate recording, timely safeguarding reporting and emergency response if required. Apply the school’s current procedures. Checked 7 September 2026.</a:t>
            </a:r>
          </a:p>
          <a:p xmlns:a="http://schemas.openxmlformats.org/drawingml/2006/main">
            <a:r>
              <a:t>Childline: about the service — https://www.childline.org.uk/about/about-childline — Confirms support for under-19s in the UK and contact by free telephone 0800 1111 or online. No promise of immediate availability is made. Checked 7 September 2026.</a:t>
            </a:r>
          </a:p>
          <a:p xmlns:a="http://schemas.openxmlformats.org/drawingml/2006/main">
            <a:r>
              <a:t>Childline: confidentiality promise — https://www.childline.org.uk/about/confidentiality-promise — Confidentiality has defined exceptions, including some serious safety concerns and legal requirements. The lesson does not promise that every disclosure stays secret. Checked 7 September 2026.</a:t>
            </a:r>
          </a:p>
          <a:p xmlns:a="http://schemas.openxmlformats.org/drawingml/2006/main">
            <a:r>
              <a:t>CEOP: reporting remit — https://www.ceop.police.uk/ceop-reporting/ — CEOP is a reporting route for online sexual abuse and grooming. It does not handle general online bullying, fake accounts or hacking reports. This corrects the broad service description in the upload. Checked 7 September 2026.</a:t>
            </a:r>
          </a:p>
          <a:p xmlns:a="http://schemas.openxmlformats.org/drawingml/2006/main">
            <a:r>
              <a:t>YoungMinds: information and support for young people — https://www.youngminds.org.uk/young-person/ — Used for mental health information and help-finding guidance. The pack does not present YoungMinds as pupil counselling or emergency response. Checked 7 September 2026.</a:t>
            </a:r>
          </a:p>
          <a:p xmlns:a="http://schemas.openxmlformats.org/drawingml/2006/main">
            <a:r>
              <a:t>YoungMinds: service boundaries — https://www.youngminds.org.uk/parent/ — The organisation explains that it does not provide counselling or therapy for young people. School/GP support and emergency routes are kept distinct. Checked 7 September 2026.</a:t>
            </a:r>
          </a:p>
          <a:p xmlns:a="http://schemas.openxmlformats.org/drawingml/2006/main">
            <a:r>
              <a:t>NHS: breathing exercises for stress — https://www.nhs.uk/mental-health/self-help/guides-tools-and-activities/breathing-exercises-for-stress/ — Supports comfortable, unforced breathing. The optional classroom example does not require breath-holding or claim a one-minute trial is therapy or proof of an effect. Alternatives include observing or comparing fictional cases. Checked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GROW_PSHE_W04 | Regulation: finding helpful support</a:t>
            </a:r>
          </a:p>
          <a:p xmlns:a="http://schemas.openxmlformats.org/drawingml/2006/main">
            <a:r>
              <a:t>Compare regulation options, include adult and environmental support, and make a flexible plan without treating calm behaviour as the goal.</a:t>
            </a:r>
          </a:p>
          <a:p xmlns:a="http://schemas.openxmlformats.org/drawingml/2006/main">
            <a:r>
              <a:t/>
            </a:r>
          </a:p>
          <a:p xmlns:a="http://schemas.openxmlformats.org/drawingml/2006/main">
            <a:r>
              <a:t>Do not ask pupils to diagnose themselves or peers. Physical symptoms should receive appropriate school health response rather than being labelled stress.</a:t>
            </a:r>
          </a:p>
          <a:p xmlns:a="http://schemas.openxmlformats.org/drawingml/2006/main">
            <a:r>
              <a:t/>
            </a:r>
          </a:p>
          <a:p xmlns:a="http://schemas.openxmlformats.org/drawingml/2006/main">
            <a:r>
              <a:t>Pupil prompt: Should someone finish every strategy before asking for help?</a:t>
            </a:r>
          </a:p>
          <a:p xmlns:a="http://schemas.openxmlformats.org/drawingml/2006/main">
            <a:r>
              <a:t/>
            </a:r>
          </a:p>
          <a:p xmlns:a="http://schemas.openxmlformats.org/drawingml/2006/main">
            <a:r>
              <a:t>Teacher answer / acceptable response: No. Support is available before, during or instead of using a strategy.</a:t>
            </a:r>
          </a:p>
          <a:p xmlns:a="http://schemas.openxmlformats.org/drawingml/2006/main">
            <a:r>
              <a:t/>
            </a:r>
          </a:p>
          <a:p xmlns:a="http://schemas.openxmlformats.org/drawingml/2006/main">
            <a:r>
              <a:t>Support: Offer two options relevant to the fictional barrier and two adult actions. Read them aloud; accept pointing. Keep any personal response private and treat observing as full participation.</a:t>
            </a:r>
          </a:p>
          <a:p xmlns:a="http://schemas.openxmlformats.org/drawingml/2006/main">
            <a:r>
              <a:t/>
            </a:r>
          </a:p>
          <a:p xmlns:a="http://schemas.openxmlformats.org/drawingml/2006/main">
            <a:r>
              <a:t>Stretch: Compare a strategy focused on the individual with a change to the environment. Explain why a plan should include the person’s preference and a review rather than a fixed “calm down” requirement.</a:t>
            </a:r>
          </a:p>
          <a:p xmlns:a="http://schemas.openxmlformats.org/drawingml/2006/main">
            <a:r>
              <a:t/>
            </a:r>
          </a:p>
          <a:p xmlns:a="http://schemas.openxmlformats.org/drawingml/2006/main">
            <a:r>
              <a:t>Safeguarding / safety: Follow each pupil’s agreed plan. Do not use touch, breath-holding, closed-eye demands or forced participation. A pupil can stop immediately. Respond to reported illness through school procedures. For safety concerns, use the Week 5 protocol.</a:t>
            </a:r>
          </a:p>
          <a:p xmlns:a="http://schemas.openxmlformats.org/drawingml/2006/main">
            <a:r>
              <a:t/>
            </a:r>
          </a:p>
          <a:p xmlns:a="http://schemas.openxmlformats.org/drawingml/2006/main">
            <a:r>
              <a:t>40-minute lesson flow (total for the whole lesson, not each slide):</a:t>
            </a:r>
          </a:p>
          <a:p xmlns:a="http://schemas.openxmlformats.org/drawingml/2006/main">
            <a:r>
              <a:t>3 min: Welcome and feedback on access suggestion</a:t>
            </a:r>
          </a:p>
          <a:p xmlns:a="http://schemas.openxmlformats.org/drawingml/2006/main">
            <a:r>
              <a:t>5 min: Teach support and shared responsibility</a:t>
            </a:r>
          </a:p>
          <a:p xmlns:a="http://schemas.openxmlformats.org/drawingml/2006/main">
            <a:r>
              <a:t>5 min: Analyse noisy-room scenario</a:t>
            </a:r>
          </a:p>
          <a:p xmlns:a="http://schemas.openxmlformats.org/drawingml/2006/main">
            <a:r>
              <a:t>6 min: Model menu; optional observe/try/paper comparison</a:t>
            </a:r>
          </a:p>
          <a:p xmlns:a="http://schemas.openxmlformats.org/drawingml/2006/main">
            <a:r>
              <a:t>12 min: Three pupil tasks and flexible plan</a:t>
            </a:r>
          </a:p>
          <a:p xmlns:a="http://schemas.openxmlformats.org/drawingml/2006/main">
            <a:r>
              <a:t>4 min: Review an unhelpful trial</a:t>
            </a:r>
          </a:p>
          <a:p xmlns:a="http://schemas.openxmlformats.org/drawingml/2006/main">
            <a:r>
              <a:t>3 min: Exit check and help reminder</a:t>
            </a:r>
          </a:p>
          <a:p xmlns:a="http://schemas.openxmlformats.org/drawingml/2006/main">
            <a:r>
              <a:t>2 min: Reset and supported transition</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Week_4_PSHE_Feeling_Calm_(MF5).pptx</a:t>
            </a:r>
          </a:p>
          <a:p xmlns:a="http://schemas.openxmlformats.org/drawingml/2006/main">
            <a:r>
              <a:t>Uploaded teaching source: Week_4_PSHE_Worksheet_My_Regulation_Plan_(MF5).docx</a:t>
            </a:r>
          </a:p>
          <a:p xmlns:a="http://schemas.openxmlformats.org/drawingml/2006/main">
            <a:r>
              <a:t>Uploaded All About Me PSHE materials, Weeks 1–7 —  — Primary adaptation sources: all seven PPTX and all seven matching DOCX listed per lesson. They label the pathway BUILD; the user requests a GROW adaptation. Source codes SA1, SSS1, WILI1, CG2, MF5, SA5, SA3 and the Week 7 SA1–SA5 range are retained only as unverified planning references. Original wording, claims and activities have been substantively rewritten. No claim of endorsement, qualification evidence or complete PSHE Association alignment is made.</a:t>
            </a:r>
          </a:p>
          <a:p xmlns:a="http://schemas.openxmlformats.org/drawingml/2006/main">
            <a:r>
              <a:t>GROW unit placement and editorial changes —  — This upload-derived All About Me personal development unit is additional to the different current GROW website PSHE sequence. Preserve the existing scheme and catalogue when installing it. Replaced public named mood charts, compulsory body maps and personal network sharing, breath-holding, obligatory kindness missions and automatic display. Removed unsupported Week 7 recap claims about separate consent/public-private topics and simplified service/confidentiality overclaims.</a:t>
            </a:r>
          </a:p>
          <a:p xmlns:a="http://schemas.openxmlformats.org/drawingml/2006/main">
            <a:r>
              <a:t>Laura Lundy model: Space, Voice, Audience and Influence — https://pure.qub.ac.uk/en/publications/space-voice-audience-and-influence-the-lundy-model-and-early-chil/ — Primary author source for the four interrelated participation elements. Pupil language is an original classroom adaptation. Space includes safe inclusive opportunities; Voice includes information and support; Audience involves a responsible listener; Influence requires serious consideration rather than automatic agreement. Checked 7 September 2026.</a:t>
            </a:r>
          </a:p>
          <a:p xmlns:a="http://schemas.openxmlformats.org/drawingml/2006/main">
            <a:r>
              <a:t>Laura Lundy on participation and feedback — https://blogs.qub.ac.uk/qpol/how-to-do-better-in-childrens-participation/ — Author commentary supports returning an explanation of what happened to children’s views. The pack uses small real access decisions and a stated feedback point. Checked 7 September 2026.</a:t>
            </a:r>
          </a:p>
          <a:p xmlns:a="http://schemas.openxmlformats.org/drawingml/2006/main">
            <a:r>
              <a:t>Hub na nÓg: National Participation Framework — https://hubnanog.ie/participation-framework/ — Co-developed with Professor Laura Lundy. Supports purposeful participation, accessible opportunities, decision-maker responsibility, realistic expectations and feedback in everyday settings. The fictional club examples are newly authored classroom applications. Checked 7 September 2026.</a:t>
            </a:r>
          </a:p>
          <a:p xmlns:a="http://schemas.openxmlformats.org/drawingml/2006/main">
            <a:r>
              <a:t>EU Children’s Participation Platform: the Lundy model — https://eu-for-children.europa.eu/about/lundy-model_en — Primary platform account of implementing the four elements with Professor Lundy, including children’s choice about if/how to contribute, listening by decision-makers and feedback about influence. Used to check the accessible classroom wording. Checked 7 September 2026.</a:t>
            </a:r>
          </a:p>
          <a:p xmlns:a="http://schemas.openxmlformats.org/drawingml/2006/main">
            <a:r>
              <a:t>NSPCC: recognising and responding to abuse — https://learning.nspcc.org.uk/child-abuse-and-neglect/recognising-and-responding-to-abuse — Teacher disclosure response checked against NSPCC guidance: attentive listening, no secrecy promise or investigation, accurate recording, timely safeguarding reporting and emergency response if required. Apply the school’s current procedures. Checked 7 September 2026.</a:t>
            </a:r>
          </a:p>
          <a:p xmlns:a="http://schemas.openxmlformats.org/drawingml/2006/main">
            <a:r>
              <a:t>Childline: about the service — https://www.childline.org.uk/about/about-childline — Confirms support for under-19s in the UK and contact by free telephone 0800 1111 or online. No promise of immediate availability is made. Checked 7 September 2026.</a:t>
            </a:r>
          </a:p>
          <a:p xmlns:a="http://schemas.openxmlformats.org/drawingml/2006/main">
            <a:r>
              <a:t>Childline: confidentiality promise — https://www.childline.org.uk/about/confidentiality-promise — Confidentiality has defined exceptions, including some serious safety concerns and legal requirements. The lesson does not promise that every disclosure stays secret. Checked 7 September 2026.</a:t>
            </a:r>
          </a:p>
          <a:p xmlns:a="http://schemas.openxmlformats.org/drawingml/2006/main">
            <a:r>
              <a:t>CEOP: reporting remit — https://www.ceop.police.uk/ceop-reporting/ — CEOP is a reporting route for online sexual abuse and grooming. It does not handle general online bullying, fake accounts or hacking reports. This corrects the broad service description in the upload. Checked 7 September 2026.</a:t>
            </a:r>
          </a:p>
          <a:p xmlns:a="http://schemas.openxmlformats.org/drawingml/2006/main">
            <a:r>
              <a:t>YoungMinds: information and support for young people — https://www.youngminds.org.uk/young-person/ — Used for mental health information and help-finding guidance. The pack does not present YoungMinds as pupil counselling or emergency response. Checked 7 September 2026.</a:t>
            </a:r>
          </a:p>
          <a:p xmlns:a="http://schemas.openxmlformats.org/drawingml/2006/main">
            <a:r>
              <a:t>YoungMinds: service boundaries — https://www.youngminds.org.uk/parent/ — The organisation explains that it does not provide counselling or therapy for young people. School/GP support and emergency routes are kept distinct. Checked 7 September 2026.</a:t>
            </a:r>
          </a:p>
          <a:p xmlns:a="http://schemas.openxmlformats.org/drawingml/2006/main">
            <a:r>
              <a:t>NHS: breathing exercises for stress — https://www.nhs.uk/mental-health/self-help/guides-tools-and-activities/breathing-exercises-for-stress/ — Supports comfortable, unforced breathing. The optional classroom example does not require breath-holding or claim a one-minute trial is therapy or proof of an effect. Alternatives include observing or comparing fictional cases. Checked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GROW_PSHE_W04 | Regulation: finding helpful support</a:t>
            </a:r>
          </a:p>
          <a:p xmlns:a="http://schemas.openxmlformats.org/drawingml/2006/main">
            <a:r>
              <a:t>Compare regulation options, include adult and environmental support, and make a flexible plan without treating calm behaviour as the goal.</a:t>
            </a:r>
          </a:p>
          <a:p xmlns:a="http://schemas.openxmlformats.org/drawingml/2006/main">
            <a:r>
              <a:t/>
            </a:r>
          </a:p>
          <a:p xmlns:a="http://schemas.openxmlformats.org/drawingml/2006/main">
            <a:r>
              <a:t>Supported: choose from two suitable options and an adult action. Standard: explain the match. Stretch: separate individual support from an environmental adjustment.</a:t>
            </a:r>
          </a:p>
          <a:p xmlns:a="http://schemas.openxmlformats.org/drawingml/2006/main">
            <a:r>
              <a:t/>
            </a:r>
          </a:p>
          <a:p xmlns:a="http://schemas.openxmlformats.org/drawingml/2006/main">
            <a:r>
              <a:t>Pupil prompt: How does your plan allow someone to change their mind?</a:t>
            </a:r>
          </a:p>
          <a:p xmlns:a="http://schemas.openxmlformats.org/drawingml/2006/main">
            <a:r>
              <a:t/>
            </a:r>
          </a:p>
          <a:p xmlns:a="http://schemas.openxmlformats.org/drawingml/2006/main">
            <a:r>
              <a:t>Teacher answer / acceptable response: It offers a check-in and another option without withdrawing help.</a:t>
            </a:r>
          </a:p>
          <a:p xmlns:a="http://schemas.openxmlformats.org/drawingml/2006/main">
            <a:r>
              <a:t/>
            </a:r>
          </a:p>
          <a:p xmlns:a="http://schemas.openxmlformats.org/drawingml/2006/main">
            <a:r>
              <a:t>Support: Offer two options relevant to the fictional barrier and two adult actions. Read them aloud; accept pointing. Keep any personal response private and treat observing as full participation.</a:t>
            </a:r>
          </a:p>
          <a:p xmlns:a="http://schemas.openxmlformats.org/drawingml/2006/main">
            <a:r>
              <a:t/>
            </a:r>
          </a:p>
          <a:p xmlns:a="http://schemas.openxmlformats.org/drawingml/2006/main">
            <a:r>
              <a:t>Stretch: Compare a strategy focused on the individual with a change to the environment. Explain why a plan should include the person’s preference and a review rather than a fixed “calm down” requirement.</a:t>
            </a:r>
          </a:p>
          <a:p xmlns:a="http://schemas.openxmlformats.org/drawingml/2006/main">
            <a:r>
              <a:t/>
            </a:r>
          </a:p>
          <a:p xmlns:a="http://schemas.openxmlformats.org/drawingml/2006/main">
            <a:r>
              <a:t>Safeguarding / safety: Follow each pupil’s agreed plan. Do not use touch, breath-holding, closed-eye demands or forced participation. A pupil can stop immediately. Respond to reported illness through school procedures. For safety concerns, use the Week 5 protocol.</a:t>
            </a:r>
          </a:p>
          <a:p xmlns:a="http://schemas.openxmlformats.org/drawingml/2006/main">
            <a:r>
              <a:t/>
            </a:r>
          </a:p>
          <a:p xmlns:a="http://schemas.openxmlformats.org/drawingml/2006/main">
            <a:r>
              <a:t>40-minute lesson flow (total for the whole lesson, not each slide):</a:t>
            </a:r>
          </a:p>
          <a:p xmlns:a="http://schemas.openxmlformats.org/drawingml/2006/main">
            <a:r>
              <a:t>3 min: Welcome and feedback on access suggestion</a:t>
            </a:r>
          </a:p>
          <a:p xmlns:a="http://schemas.openxmlformats.org/drawingml/2006/main">
            <a:r>
              <a:t>5 min: Teach support and shared responsibility</a:t>
            </a:r>
          </a:p>
          <a:p xmlns:a="http://schemas.openxmlformats.org/drawingml/2006/main">
            <a:r>
              <a:t>5 min: Analyse noisy-room scenario</a:t>
            </a:r>
          </a:p>
          <a:p xmlns:a="http://schemas.openxmlformats.org/drawingml/2006/main">
            <a:r>
              <a:t>6 min: Model menu; optional observe/try/paper comparison</a:t>
            </a:r>
          </a:p>
          <a:p xmlns:a="http://schemas.openxmlformats.org/drawingml/2006/main">
            <a:r>
              <a:t>12 min: Three pupil tasks and flexible plan</a:t>
            </a:r>
          </a:p>
          <a:p xmlns:a="http://schemas.openxmlformats.org/drawingml/2006/main">
            <a:r>
              <a:t>4 min: Review an unhelpful trial</a:t>
            </a:r>
          </a:p>
          <a:p xmlns:a="http://schemas.openxmlformats.org/drawingml/2006/main">
            <a:r>
              <a:t>3 min: Exit check and help reminder</a:t>
            </a:r>
          </a:p>
          <a:p xmlns:a="http://schemas.openxmlformats.org/drawingml/2006/main">
            <a:r>
              <a:t>2 min: Reset and supported transition</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Week_4_PSHE_Feeling_Calm_(MF5).pptx</a:t>
            </a:r>
          </a:p>
          <a:p xmlns:a="http://schemas.openxmlformats.org/drawingml/2006/main">
            <a:r>
              <a:t>Uploaded teaching source: Week_4_PSHE_Worksheet_My_Regulation_Plan_(MF5).docx</a:t>
            </a:r>
          </a:p>
          <a:p xmlns:a="http://schemas.openxmlformats.org/drawingml/2006/main">
            <a:r>
              <a:t>Uploaded All About Me PSHE materials, Weeks 1–7 —  — Primary adaptation sources: all seven PPTX and all seven matching DOCX listed per lesson. They label the pathway BUILD; the user requests a GROW adaptation. Source codes SA1, SSS1, WILI1, CG2, MF5, SA5, SA3 and the Week 7 SA1–SA5 range are retained only as unverified planning references. Original wording, claims and activities have been substantively rewritten. No claim of endorsement, qualification evidence or complete PSHE Association alignment is made.</a:t>
            </a:r>
          </a:p>
          <a:p xmlns:a="http://schemas.openxmlformats.org/drawingml/2006/main">
            <a:r>
              <a:t>GROW unit placement and editorial changes —  — This upload-derived All About Me personal development unit is additional to the different current GROW website PSHE sequence. Preserve the existing scheme and catalogue when installing it. Replaced public named mood charts, compulsory body maps and personal network sharing, breath-holding, obligatory kindness missions and automatic display. Removed unsupported Week 7 recap claims about separate consent/public-private topics and simplified service/confidentiality overclaims.</a:t>
            </a:r>
          </a:p>
          <a:p xmlns:a="http://schemas.openxmlformats.org/drawingml/2006/main">
            <a:r>
              <a:t>Laura Lundy model: Space, Voice, Audience and Influence — https://pure.qub.ac.uk/en/publications/space-voice-audience-and-influence-the-lundy-model-and-early-chil/ — Primary author source for the four interrelated participation elements. Pupil language is an original classroom adaptation. Space includes safe inclusive opportunities; Voice includes information and support; Audience involves a responsible listener; Influence requires serious consideration rather than automatic agreement. Checked 7 September 2026.</a:t>
            </a:r>
          </a:p>
          <a:p xmlns:a="http://schemas.openxmlformats.org/drawingml/2006/main">
            <a:r>
              <a:t>Laura Lundy on participation and feedback — https://blogs.qub.ac.uk/qpol/how-to-do-better-in-childrens-participation/ — Author commentary supports returning an explanation of what happened to children’s views. The pack uses small real access decisions and a stated feedback point. Checked 7 September 2026.</a:t>
            </a:r>
          </a:p>
          <a:p xmlns:a="http://schemas.openxmlformats.org/drawingml/2006/main">
            <a:r>
              <a:t>Hub na nÓg: National Participation Framework — https://hubnanog.ie/participation-framework/ — Co-developed with Professor Laura Lundy. Supports purposeful participation, accessible opportunities, decision-maker responsibility, realistic expectations and feedback in everyday settings. The fictional club examples are newly authored classroom applications. Checked 7 September 2026.</a:t>
            </a:r>
          </a:p>
          <a:p xmlns:a="http://schemas.openxmlformats.org/drawingml/2006/main">
            <a:r>
              <a:t>EU Children’s Participation Platform: the Lundy model — https://eu-for-children.europa.eu/about/lundy-model_en — Primary platform account of implementing the four elements with Professor Lundy, including children’s choice about if/how to contribute, listening by decision-makers and feedback about influence. Used to check the accessible classroom wording. Checked 7 September 2026.</a:t>
            </a:r>
          </a:p>
          <a:p xmlns:a="http://schemas.openxmlformats.org/drawingml/2006/main">
            <a:r>
              <a:t>NSPCC: recognising and responding to abuse — https://learning.nspcc.org.uk/child-abuse-and-neglect/recognising-and-responding-to-abuse — Teacher disclosure response checked against NSPCC guidance: attentive listening, no secrecy promise or investigation, accurate recording, timely safeguarding reporting and emergency response if required. Apply the school’s current procedures. Checked 7 September 2026.</a:t>
            </a:r>
          </a:p>
          <a:p xmlns:a="http://schemas.openxmlformats.org/drawingml/2006/main">
            <a:r>
              <a:t>Childline: about the service — https://www.childline.org.uk/about/about-childline — Confirms support for under-19s in the UK and contact by free telephone 0800 1111 or online. No promise of immediate availability is made. Checked 7 September 2026.</a:t>
            </a:r>
          </a:p>
          <a:p xmlns:a="http://schemas.openxmlformats.org/drawingml/2006/main">
            <a:r>
              <a:t>Childline: confidentiality promise — https://www.childline.org.uk/about/confidentiality-promise — Confidentiality has defined exceptions, including some serious safety concerns and legal requirements. The lesson does not promise that every disclosure stays secret. Checked 7 September 2026.</a:t>
            </a:r>
          </a:p>
          <a:p xmlns:a="http://schemas.openxmlformats.org/drawingml/2006/main">
            <a:r>
              <a:t>CEOP: reporting remit — https://www.ceop.police.uk/ceop-reporting/ — CEOP is a reporting route for online sexual abuse and grooming. It does not handle general online bullying, fake accounts or hacking reports. This corrects the broad service description in the upload. Checked 7 September 2026.</a:t>
            </a:r>
          </a:p>
          <a:p xmlns:a="http://schemas.openxmlformats.org/drawingml/2006/main">
            <a:r>
              <a:t>YoungMinds: information and support for young people — https://www.youngminds.org.uk/young-person/ — Used for mental health information and help-finding guidance. The pack does not present YoungMinds as pupil counselling or emergency response. Checked 7 September 2026.</a:t>
            </a:r>
          </a:p>
          <a:p xmlns:a="http://schemas.openxmlformats.org/drawingml/2006/main">
            <a:r>
              <a:t>YoungMinds: service boundaries — https://www.youngminds.org.uk/parent/ — The organisation explains that it does not provide counselling or therapy for young people. School/GP support and emergency routes are kept distinct. Checked 7 September 2026.</a:t>
            </a:r>
          </a:p>
          <a:p xmlns:a="http://schemas.openxmlformats.org/drawingml/2006/main">
            <a:r>
              <a:t>NHS: breathing exercises for stress — https://www.nhs.uk/mental-health/self-help/guides-tools-and-activities/breathing-exercises-for-stress/ — Supports comfortable, unforced breathing. The optional classroom example does not require breath-holding or claim a one-minute trial is therapy or proof of an effect. Alternatives include observing or comparing fictional cases. Checked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GROW_PSHE_W04 | Regulation: finding helpful support</a:t>
            </a:r>
          </a:p>
          <a:p xmlns:a="http://schemas.openxmlformats.org/drawingml/2006/main">
            <a:r>
              <a:t>Compare regulation options, include adult and environmental support, and make a flexible plan without treating calm behaviour as the goal.</a:t>
            </a:r>
          </a:p>
          <a:p xmlns:a="http://schemas.openxmlformats.org/drawingml/2006/main">
            <a:r>
              <a:t/>
            </a:r>
          </a:p>
          <a:p xmlns:a="http://schemas.openxmlformats.org/drawingml/2006/main">
            <a:r>
              <a:t>End with the usual transition choices. Check learning through the fictional answer rather than asking for a public before-and-after mood score.</a:t>
            </a:r>
          </a:p>
          <a:p xmlns:a="http://schemas.openxmlformats.org/drawingml/2006/main">
            <a:r>
              <a:t/>
            </a:r>
          </a:p>
          <a:p xmlns:a="http://schemas.openxmlformats.org/drawingml/2006/main">
            <a:r>
              <a:t>Pupil prompt: Did the support fail? What could happen next?</a:t>
            </a:r>
          </a:p>
          <a:p xmlns:a="http://schemas.openxmlformats.org/drawingml/2006/main">
            <a:r>
              <a:t/>
            </a:r>
          </a:p>
          <a:p xmlns:a="http://schemas.openxmlformats.org/drawingml/2006/main">
            <a:r>
              <a:t>Teacher answer / acceptable response: It helped one need; worry can remain. Alex can ask for an adult conversation or another support. Feeling calm is not a required result.</a:t>
            </a:r>
          </a:p>
          <a:p xmlns:a="http://schemas.openxmlformats.org/drawingml/2006/main">
            <a:r>
              <a:t/>
            </a:r>
          </a:p>
          <a:p xmlns:a="http://schemas.openxmlformats.org/drawingml/2006/main">
            <a:r>
              <a:t>Support: Offer two options relevant to the fictional barrier and two adult actions. Read them aloud; accept pointing. Keep any personal response private and treat observing as full participation.</a:t>
            </a:r>
          </a:p>
          <a:p xmlns:a="http://schemas.openxmlformats.org/drawingml/2006/main">
            <a:r>
              <a:t/>
            </a:r>
          </a:p>
          <a:p xmlns:a="http://schemas.openxmlformats.org/drawingml/2006/main">
            <a:r>
              <a:t>Stretch: Compare a strategy focused on the individual with a change to the environment. Explain why a plan should include the person’s preference and a review rather than a fixed “calm down” requirement.</a:t>
            </a:r>
          </a:p>
          <a:p xmlns:a="http://schemas.openxmlformats.org/drawingml/2006/main">
            <a:r>
              <a:t/>
            </a:r>
          </a:p>
          <a:p xmlns:a="http://schemas.openxmlformats.org/drawingml/2006/main">
            <a:r>
              <a:t>Safeguarding / safety: Follow each pupil’s agreed plan. Do not use touch, breath-holding, closed-eye demands or forced participation. A pupil can stop immediately. Respond to reported illness through school procedures. For safety concerns, use the Week 5 protocol.</a:t>
            </a:r>
          </a:p>
          <a:p xmlns:a="http://schemas.openxmlformats.org/drawingml/2006/main">
            <a:r>
              <a:t/>
            </a:r>
          </a:p>
          <a:p xmlns:a="http://schemas.openxmlformats.org/drawingml/2006/main">
            <a:r>
              <a:t>40-minute lesson flow (total for the whole lesson, not each slide):</a:t>
            </a:r>
          </a:p>
          <a:p xmlns:a="http://schemas.openxmlformats.org/drawingml/2006/main">
            <a:r>
              <a:t>3 min: Welcome and feedback on access suggestion</a:t>
            </a:r>
          </a:p>
          <a:p xmlns:a="http://schemas.openxmlformats.org/drawingml/2006/main">
            <a:r>
              <a:t>5 min: Teach support and shared responsibility</a:t>
            </a:r>
          </a:p>
          <a:p xmlns:a="http://schemas.openxmlformats.org/drawingml/2006/main">
            <a:r>
              <a:t>5 min: Analyse noisy-room scenario</a:t>
            </a:r>
          </a:p>
          <a:p xmlns:a="http://schemas.openxmlformats.org/drawingml/2006/main">
            <a:r>
              <a:t>6 min: Model menu; optional observe/try/paper comparison</a:t>
            </a:r>
          </a:p>
          <a:p xmlns:a="http://schemas.openxmlformats.org/drawingml/2006/main">
            <a:r>
              <a:t>12 min: Three pupil tasks and flexible plan</a:t>
            </a:r>
          </a:p>
          <a:p xmlns:a="http://schemas.openxmlformats.org/drawingml/2006/main">
            <a:r>
              <a:t>4 min: Review an unhelpful trial</a:t>
            </a:r>
          </a:p>
          <a:p xmlns:a="http://schemas.openxmlformats.org/drawingml/2006/main">
            <a:r>
              <a:t>3 min: Exit check and help reminder</a:t>
            </a:r>
          </a:p>
          <a:p xmlns:a="http://schemas.openxmlformats.org/drawingml/2006/main">
            <a:r>
              <a:t>2 min: Reset and supported transition</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Week_4_PSHE_Feeling_Calm_(MF5).pptx</a:t>
            </a:r>
          </a:p>
          <a:p xmlns:a="http://schemas.openxmlformats.org/drawingml/2006/main">
            <a:r>
              <a:t>Uploaded teaching source: Week_4_PSHE_Worksheet_My_Regulation_Plan_(MF5).docx</a:t>
            </a:r>
          </a:p>
          <a:p xmlns:a="http://schemas.openxmlformats.org/drawingml/2006/main">
            <a:r>
              <a:t>Uploaded All About Me PSHE materials, Weeks 1–7 —  — Primary adaptation sources: all seven PPTX and all seven matching DOCX listed per lesson. They label the pathway BUILD; the user requests a GROW adaptation. Source codes SA1, SSS1, WILI1, CG2, MF5, SA5, SA3 and the Week 7 SA1–SA5 range are retained only as unverified planning references. Original wording, claims and activities have been substantively rewritten. No claim of endorsement, qualification evidence or complete PSHE Association alignment is made.</a:t>
            </a:r>
          </a:p>
          <a:p xmlns:a="http://schemas.openxmlformats.org/drawingml/2006/main">
            <a:r>
              <a:t>GROW unit placement and editorial changes —  — This upload-derived All About Me personal development unit is additional to the different current GROW website PSHE sequence. Preserve the existing scheme and catalogue when installing it. Replaced public named mood charts, compulsory body maps and personal network sharing, breath-holding, obligatory kindness missions and automatic display. Removed unsupported Week 7 recap claims about separate consent/public-private topics and simplified service/confidentiality overclaims.</a:t>
            </a:r>
          </a:p>
          <a:p xmlns:a="http://schemas.openxmlformats.org/drawingml/2006/main">
            <a:r>
              <a:t>Laura Lundy model: Space, Voice, Audience and Influence — https://pure.qub.ac.uk/en/publications/space-voice-audience-and-influence-the-lundy-model-and-early-chil/ — Primary author source for the four interrelated participation elements. Pupil language is an original classroom adaptation. Space includes safe inclusive opportunities; Voice includes information and support; Audience involves a responsible listener; Influence requires serious consideration rather than automatic agreement. Checked 7 September 2026.</a:t>
            </a:r>
          </a:p>
          <a:p xmlns:a="http://schemas.openxmlformats.org/drawingml/2006/main">
            <a:r>
              <a:t>Laura Lundy on participation and feedback — https://blogs.qub.ac.uk/qpol/how-to-do-better-in-childrens-participation/ — Author commentary supports returning an explanation of what happened to children’s views. The pack uses small real access decisions and a stated feedback point. Checked 7 September 2026.</a:t>
            </a:r>
          </a:p>
          <a:p xmlns:a="http://schemas.openxmlformats.org/drawingml/2006/main">
            <a:r>
              <a:t>Hub na nÓg: National Participation Framework — https://hubnanog.ie/participation-framework/ — Co-developed with Professor Laura Lundy. Supports purposeful participation, accessible opportunities, decision-maker responsibility, realistic expectations and feedback in everyday settings. The fictional club examples are newly authored classroom applications. Checked 7 September 2026.</a:t>
            </a:r>
          </a:p>
          <a:p xmlns:a="http://schemas.openxmlformats.org/drawingml/2006/main">
            <a:r>
              <a:t>EU Children’s Participation Platform: the Lundy model — https://eu-for-children.europa.eu/about/lundy-model_en — Primary platform account of implementing the four elements with Professor Lundy, including children’s choice about if/how to contribute, listening by decision-makers and feedback about influence. Used to check the accessible classroom wording. Checked 7 September 2026.</a:t>
            </a:r>
          </a:p>
          <a:p xmlns:a="http://schemas.openxmlformats.org/drawingml/2006/main">
            <a:r>
              <a:t>NSPCC: recognising and responding to abuse — https://learning.nspcc.org.uk/child-abuse-and-neglect/recognising-and-responding-to-abuse — Teacher disclosure response checked against NSPCC guidance: attentive listening, no secrecy promise or investigation, accurate recording, timely safeguarding reporting and emergency response if required. Apply the school’s current procedures. Checked 7 September 2026.</a:t>
            </a:r>
          </a:p>
          <a:p xmlns:a="http://schemas.openxmlformats.org/drawingml/2006/main">
            <a:r>
              <a:t>Childline: about the service — https://www.childline.org.uk/about/about-childline — Confirms support for under-19s in the UK and contact by free telephone 0800 1111 or online. No promise of immediate availability is made. Checked 7 September 2026.</a:t>
            </a:r>
          </a:p>
          <a:p xmlns:a="http://schemas.openxmlformats.org/drawingml/2006/main">
            <a:r>
              <a:t>Childline: confidentiality promise — https://www.childline.org.uk/about/confidentiality-promise — Confidentiality has defined exceptions, including some serious safety concerns and legal requirements. The lesson does not promise that every disclosure stays secret. Checked 7 September 2026.</a:t>
            </a:r>
          </a:p>
          <a:p xmlns:a="http://schemas.openxmlformats.org/drawingml/2006/main">
            <a:r>
              <a:t>CEOP: reporting remit — https://www.ceop.police.uk/ceop-reporting/ — CEOP is a reporting route for online sexual abuse and grooming. It does not handle general online bullying, fake accounts or hacking reports. This corrects the broad service description in the upload. Checked 7 September 2026.</a:t>
            </a:r>
          </a:p>
          <a:p xmlns:a="http://schemas.openxmlformats.org/drawingml/2006/main">
            <a:r>
              <a:t>YoungMinds: information and support for young people — https://www.youngminds.org.uk/young-person/ — Used for mental health information and help-finding guidance. The pack does not present YoungMinds as pupil counselling or emergency response. Checked 7 September 2026.</a:t>
            </a:r>
          </a:p>
          <a:p xmlns:a="http://schemas.openxmlformats.org/drawingml/2006/main">
            <a:r>
              <a:t>YoungMinds: service boundaries — https://www.youngminds.org.uk/parent/ — The organisation explains that it does not provide counselling or therapy for young people. School/GP support and emergency routes are kept distinct. Checked 7 September 2026.</a:t>
            </a:r>
          </a:p>
          <a:p xmlns:a="http://schemas.openxmlformats.org/drawingml/2006/main">
            <a:r>
              <a:t>NHS: breathing exercises for stress — https://www.nhs.uk/mental-health/self-help/guides-tools-and-activities/breathing-exercises-for-stress/ — Supports comfortable, unforced breathing. The optional classroom example does not require breath-holding or claim a one-minute trial is therapy or proof of an effect. Alternatives include observing or comparing fictional cases. Checked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24e2aa77b514d1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593b435de3543b4" /><Relationship Type="http://schemas.openxmlformats.org/officeDocument/2006/relationships/slideLayout" Target="/ppt/slideLayouts/slideLayout1.xml" Id="R088d63e8fb704a6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88d63e8fb704a6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fa0bdaf839c48a1" /><Relationship Type="http://schemas.openxmlformats.org/officeDocument/2006/relationships/image" Target="/ppt/media/image.jpeg" Id="R35528e5013ae4009" /><Relationship Type="http://schemas.openxmlformats.org/officeDocument/2006/relationships/notesSlide" Target="/ppt/notesSlides/notesSlide1.xml" Id="R5f7041d08053438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aeb6348c9eb42ab" /><Relationship Type="http://schemas.openxmlformats.org/officeDocument/2006/relationships/image" Target="/ppt/media/image.jpeg" Id="R58b05d83a27b4399" /><Relationship Type="http://schemas.openxmlformats.org/officeDocument/2006/relationships/notesSlide" Target="/ppt/notesSlides/notesSlide2.xml" Id="Re9bfbc4440a747c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d2c2de286b14b12" /><Relationship Type="http://schemas.openxmlformats.org/officeDocument/2006/relationships/image" Target="/ppt/media/image.jpeg" Id="R0139d222e76a4eea" /><Relationship Type="http://schemas.openxmlformats.org/officeDocument/2006/relationships/notesSlide" Target="/ppt/notesSlides/notesSlide3.xml" Id="Rab58a9daf92c49f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f3bbbb1040e4251" /><Relationship Type="http://schemas.openxmlformats.org/officeDocument/2006/relationships/image" Target="/ppt/media/image.jpeg" Id="Rf14cb20d4e6d40ce" /><Relationship Type="http://schemas.openxmlformats.org/officeDocument/2006/relationships/notesSlide" Target="/ppt/notesSlides/notesSlide4.xml" Id="R50b182c3fb0449e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cae8313d9d5431f" /><Relationship Type="http://schemas.openxmlformats.org/officeDocument/2006/relationships/image" Target="/ppt/media/image.jpeg" Id="Rbe11a64b97174c81" /><Relationship Type="http://schemas.openxmlformats.org/officeDocument/2006/relationships/notesSlide" Target="/ppt/notesSlides/notesSlide5.xml" Id="R6916a4361e644cf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82e4728491b4314" /><Relationship Type="http://schemas.openxmlformats.org/officeDocument/2006/relationships/image" Target="/ppt/media/image.jpeg" Id="Rd1fb7de3fca04cd0" /><Relationship Type="http://schemas.openxmlformats.org/officeDocument/2006/relationships/notesSlide" Target="/ppt/notesSlides/notesSlide6.xml" Id="R7084aab479cd471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2fad4c83edc4997" /><Relationship Type="http://schemas.openxmlformats.org/officeDocument/2006/relationships/image" Target="/ppt/media/image.jpeg" Id="R4ad28c3e1d4b4ebe" /><Relationship Type="http://schemas.openxmlformats.org/officeDocument/2006/relationships/notesSlide" Target="/ppt/notesSlides/notesSlide7.xml" Id="Rcd37c66ce5ad4d3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8fea0e6e4a5446e" /><Relationship Type="http://schemas.openxmlformats.org/officeDocument/2006/relationships/image" Target="/ppt/media/image.jpeg" Id="R6f99f4ffeddd4a11" /><Relationship Type="http://schemas.openxmlformats.org/officeDocument/2006/relationships/notesSlide" Target="/ppt/notesSlides/notesSlide8.xml" Id="R168c9aa5d9cd464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1f4deddc5f34eae" /><Relationship Type="http://schemas.openxmlformats.org/officeDocument/2006/relationships/image" Target="/ppt/media/image.jpeg" Id="R3088f7fe5a2d4edc" /><Relationship Type="http://schemas.openxmlformats.org/officeDocument/2006/relationships/notesSlide" Target="/ppt/notesSlides/notesSlide9.xml" Id="Rf9d00f543652495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4c4212e4ed24fea" /><Relationship Type="http://schemas.openxmlformats.org/officeDocument/2006/relationships/image" Target="/ppt/media/image.jpeg" Id="R5a8b7d03c34a40be" /><Relationship Type="http://schemas.openxmlformats.org/officeDocument/2006/relationships/notesSlide" Target="/ppt/notesSlides/notesSlide10.xml" Id="R17d045105ee8448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8db233154ae42fb" /><Relationship Type="http://schemas.openxmlformats.org/officeDocument/2006/relationships/image" Target="/ppt/media/image.jpeg" Id="R4c8ede76b57a4a59" /><Relationship Type="http://schemas.openxmlformats.org/officeDocument/2006/relationships/notesSlide" Target="/ppt/notesSlides/notesSlide11.xml" Id="Ra0371b1dcda44fa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5e82a360cc64628" /><Relationship Type="http://schemas.openxmlformats.org/officeDocument/2006/relationships/image" Target="/ppt/media/image.jpeg" Id="R912fe36115b946ba" /><Relationship Type="http://schemas.openxmlformats.org/officeDocument/2006/relationships/notesSlide" Target="/ppt/notesSlides/notesSlide12.xml" Id="Rbfba58537f91494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af2b8f43a314c60" /><Relationship Type="http://schemas.openxmlformats.org/officeDocument/2006/relationships/image" Target="/ppt/media/image.jpeg" Id="Rf63e301b6fe4408c" /><Relationship Type="http://schemas.openxmlformats.org/officeDocument/2006/relationships/notesSlide" Target="/ppt/notesSlides/notesSlide13.xml" Id="R491f51da4321468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d8a1f2d606842e0" /><Relationship Type="http://schemas.openxmlformats.org/officeDocument/2006/relationships/image" Target="/ppt/media/image.jpeg" Id="R44519c80bc2b4ffe" /><Relationship Type="http://schemas.openxmlformats.org/officeDocument/2006/relationships/notesSlide" Target="/ppt/notesSlides/notesSlide14.xml" Id="R7f7d5e49afcd439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8b9cb15f8254e34" /><Relationship Type="http://schemas.openxmlformats.org/officeDocument/2006/relationships/image" Target="/ppt/media/image.jpeg" Id="R5537d44cf0614c55" /><Relationship Type="http://schemas.openxmlformats.org/officeDocument/2006/relationships/notesSlide" Target="/ppt/notesSlides/notesSlide15.xml" Id="Rbae512d1a92a41fe" /></Relationships>
</file>

<file path=ppt/slides/slide1.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FF33059C-D699-406A-B441-19C747C68274}"/>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56C60FD3-6A44-40DE-AE21-A30370FB7058}"/>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PSHE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35528e5013ae4009"/>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9A60821E-20B2-471A-8BB3-FAA5062856A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Regulation: finding helpful support</a:t>
            </a:r>
          </a:p>
        </p:txBody>
      </p:sp>
      <p:sp>
        <p:nvSpPr>
          <p:cNvPr id="5" name="footer-line">
            <a:extLst xmlns:a="http://schemas.openxmlformats.org/drawingml/2006/main">
              <a:ext uri="{FF2B5EF4-FFF2-40B4-BE49-F238E27FC236}">
                <a16:creationId xmlns:a16="http://schemas.microsoft.com/office/drawing/2014/main" id="{7ECBDB34-6F42-48B3-A8D8-B23549269A3B}"/>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57A55C73-0775-456F-A670-A41D2D64087D}"/>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4 · PSHE</a:t>
            </a:r>
          </a:p>
        </p:txBody>
      </p:sp>
      <p:sp>
        <p:nvSpPr>
          <p:cNvPr id="7" name="page">
            <a:extLst xmlns:a="http://schemas.openxmlformats.org/drawingml/2006/main">
              <a:ext uri="{FF2B5EF4-FFF2-40B4-BE49-F238E27FC236}">
                <a16:creationId xmlns:a16="http://schemas.microsoft.com/office/drawing/2014/main" id="{E496F9D1-14A9-495E-90A4-CC647BFFA0E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01</a:t>
            </a:r>
          </a:p>
        </p:txBody>
      </p:sp>
      <p:sp>
        <p:nvSpPr>
          <p:cNvPr id="8" name="line-0">
            <a:extLst xmlns:a="http://schemas.openxmlformats.org/drawingml/2006/main">
              <a:ext uri="{FF2B5EF4-FFF2-40B4-BE49-F238E27FC236}">
                <a16:creationId xmlns:a16="http://schemas.microsoft.com/office/drawing/2014/main" id="{1904CE6B-201C-449D-A2D1-41ABF2A6C99E}"/>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Today: explore a support menu and make a flexible plan.</a:t>
            </a:r>
          </a:p>
        </p:txBody>
      </p:sp>
      <p:sp>
        <p:nvSpPr>
          <p:cNvPr id="9" name="line-1">
            <a:extLst xmlns:a="http://schemas.openxmlformats.org/drawingml/2006/main">
              <a:ext uri="{FF2B5EF4-FFF2-40B4-BE49-F238E27FC236}">
                <a16:creationId xmlns:a16="http://schemas.microsoft.com/office/drawing/2014/main" id="{19B1D911-7359-424D-8EA3-D4E122CC64B2}"/>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You can observe or work with a fictional character. Trying a strategy is optional.</a:t>
            </a:r>
          </a:p>
        </p:txBody>
      </p:sp>
      <p:sp>
        <p:nvSpPr>
          <p:cNvPr id="10" name="line-2">
            <a:extLst xmlns:a="http://schemas.openxmlformats.org/drawingml/2006/main">
              <a:ext uri="{FF2B5EF4-FFF2-40B4-BE49-F238E27FC236}">
                <a16:creationId xmlns:a16="http://schemas.microsoft.com/office/drawing/2014/main" id="{83C46BCB-BF61-4D42-8073-2594DB100C43}"/>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Does helpful support have to look the same for everyone?</a:t>
            </a:r>
          </a:p>
        </p:txBody>
      </p:sp>
    </p:spTree>
    <p:extLst>
      <p:ext uri="{BB962C8B-B14F-4D97-AF65-F5344CB8AC3E}">
        <p14:creationId xmlns:p14="http://schemas.microsoft.com/office/powerpoint/2010/main" val="899261069"/>
      </p:ext>
    </p:extLst>
  </p:cSld>
</p:sld>
</file>

<file path=ppt/slides/slide2.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E7DE0724-EA72-4F4B-B4C5-B08681026672}"/>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502C8DF0-0717-4986-97B7-E014DEBCFFC6}"/>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PSHE</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58b05d83a27b4399"/>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59E6C87B-5402-4355-B222-E838F90EC54F}"/>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Words that help</a:t>
            </a:r>
          </a:p>
        </p:txBody>
      </p:sp>
      <p:sp>
        <p:nvSpPr>
          <p:cNvPr id="5" name="footer-line">
            <a:extLst xmlns:a="http://schemas.openxmlformats.org/drawingml/2006/main">
              <a:ext uri="{FF2B5EF4-FFF2-40B4-BE49-F238E27FC236}">
                <a16:creationId xmlns:a16="http://schemas.microsoft.com/office/drawing/2014/main" id="{FEB7DC22-E996-4F55-8E5D-48916DEA8513}"/>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B0248D2E-0CDA-4C72-92DC-B76196CC251C}"/>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4 · PSHE</a:t>
            </a:r>
          </a:p>
        </p:txBody>
      </p:sp>
      <p:sp>
        <p:nvSpPr>
          <p:cNvPr id="7" name="page">
            <a:extLst xmlns:a="http://schemas.openxmlformats.org/drawingml/2006/main">
              <a:ext uri="{FF2B5EF4-FFF2-40B4-BE49-F238E27FC236}">
                <a16:creationId xmlns:a16="http://schemas.microsoft.com/office/drawing/2014/main" id="{4D3A6E0D-EE9E-4262-B0CE-A580D9BE95DE}"/>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02</a:t>
            </a:r>
          </a:p>
        </p:txBody>
      </p:sp>
      <p:sp>
        <p:nvSpPr>
          <p:cNvPr id="8" name="left-heading">
            <a:extLst xmlns:a="http://schemas.openxmlformats.org/drawingml/2006/main">
              <a:ext uri="{FF2B5EF4-FFF2-40B4-BE49-F238E27FC236}">
                <a16:creationId xmlns:a16="http://schemas.microsoft.com/office/drawing/2014/main" id="{237F6565-5B9A-4055-8435-0E500C21780C}"/>
              </a:ext>
            </a:extLst>
          </p:cNvPr>
          <p:cNvSpPr>
            <a:spLocks xmlns:a="http://schemas.openxmlformats.org/drawingml/2006/main" noGrp="1"/>
          </p:cNvSpPr>
          <p:nvPr/>
        </p:nvSpPr>
        <p:spPr>
          <a:xfrm xmlns:a="http://schemas.openxmlformats.org/drawingml/2006/main">
            <a:off x="609600" y="2257425"/>
            <a:ext cx="5143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100" b="1">
                <a:solidFill>
                  <a:srgbClr val="28685E"/>
                </a:solidFill>
                <a:latin typeface="Arial"/>
                <a:ea typeface="Arial"/>
                <a:cs typeface="Arial"/>
              </a:defRPr>
            </a:pPr>
            <a:r>
              <a:rPr sz="2100" b="1">
                <a:solidFill>
                  <a:srgbClr val="28685E"/>
                </a:solidFill>
                <a:latin typeface="Arial"/>
                <a:ea typeface="Arial"/>
                <a:cs typeface="Arial"/>
              </a:rPr>
              <a:t>REGULATION</a:t>
            </a:r>
          </a:p>
        </p:txBody>
      </p:sp>
      <p:sp>
        <p:nvSpPr>
          <p:cNvPr id="9" name="right-heading">
            <a:extLst xmlns:a="http://schemas.openxmlformats.org/drawingml/2006/main">
              <a:ext uri="{FF2B5EF4-FFF2-40B4-BE49-F238E27FC236}">
                <a16:creationId xmlns:a16="http://schemas.microsoft.com/office/drawing/2014/main" id="{A08214FC-397C-48F0-80E6-30DF7D9979DB}"/>
              </a:ext>
            </a:extLst>
          </p:cNvPr>
          <p:cNvSpPr>
            <a:spLocks xmlns:a="http://schemas.openxmlformats.org/drawingml/2006/main" noGrp="1"/>
          </p:cNvSpPr>
          <p:nvPr/>
        </p:nvSpPr>
        <p:spPr>
          <a:xfrm xmlns:a="http://schemas.openxmlformats.org/drawingml/2006/main">
            <a:off x="6572250" y="2257425"/>
            <a:ext cx="5010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100" b="1">
                <a:solidFill>
                  <a:srgbClr val="A65D25"/>
                </a:solidFill>
                <a:latin typeface="Arial"/>
                <a:ea typeface="Arial"/>
                <a:cs typeface="Arial"/>
              </a:defRPr>
            </a:pPr>
            <a:r>
              <a:rPr sz="2100" b="1">
                <a:solidFill>
                  <a:srgbClr val="A65D25"/>
                </a:solidFill>
                <a:latin typeface="Arial"/>
                <a:ea typeface="Arial"/>
                <a:cs typeface="Arial"/>
              </a:rPr>
              <a:t>STRATEGY</a:t>
            </a:r>
          </a:p>
        </p:txBody>
      </p:sp>
      <p:sp>
        <p:nvSpPr>
          <p:cNvPr id="10" name="left">
            <a:extLst xmlns:a="http://schemas.openxmlformats.org/drawingml/2006/main">
              <a:ext uri="{FF2B5EF4-FFF2-40B4-BE49-F238E27FC236}">
                <a16:creationId xmlns:a16="http://schemas.microsoft.com/office/drawing/2014/main" id="{8518DEF3-2872-4279-B7C8-6D1831150973}"/>
              </a:ext>
            </a:extLst>
          </p:cNvPr>
          <p:cNvSpPr>
            <a:spLocks xmlns:a="http://schemas.openxmlformats.org/drawingml/2006/main" noGrp="1"/>
          </p:cNvSpPr>
          <p:nvPr/>
        </p:nvSpPr>
        <p:spPr>
          <a:xfrm xmlns:a="http://schemas.openxmlformats.org/drawingml/2006/main">
            <a:off x="609600" y="3238500"/>
            <a:ext cx="514350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spcAft>
                <a:spcPts val="0"/>
              </a:spcAft>
              <a:buNone/>
            </a:pPr>
            <a:r>
              <a:rPr sz="2400" b="0">
                <a:solidFill>
                  <a:srgbClr val="152B3A"/>
                </a:solidFill>
                <a:latin typeface="Arial"/>
                <a:ea typeface="Arial"/>
                <a:cs typeface="Arial"/>
              </a:rPr>
              <a:t>Support for managing energy, feelings and attention.</a:t>
            </a:r>
          </a:p>
        </p:txBody>
      </p:sp>
      <p:sp>
        <p:nvSpPr>
          <p:cNvPr id="11" name="right">
            <a:extLst xmlns:a="http://schemas.openxmlformats.org/drawingml/2006/main">
              <a:ext uri="{FF2B5EF4-FFF2-40B4-BE49-F238E27FC236}">
                <a16:creationId xmlns:a16="http://schemas.microsoft.com/office/drawing/2014/main" id="{626E5754-F079-4A02-978E-4F8A55CDC1D9}"/>
              </a:ext>
            </a:extLst>
          </p:cNvPr>
          <p:cNvSpPr>
            <a:spLocks xmlns:a="http://schemas.openxmlformats.org/drawingml/2006/main" noGrp="1"/>
          </p:cNvSpPr>
          <p:nvPr/>
        </p:nvSpPr>
        <p:spPr>
          <a:xfrm xmlns:a="http://schemas.openxmlformats.org/drawingml/2006/main">
            <a:off x="6572250" y="3238500"/>
            <a:ext cx="501015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spcAft>
                <a:spcPts val="0"/>
              </a:spcAft>
              <a:buNone/>
            </a:pPr>
            <a:r>
              <a:rPr sz="2400" b="0">
                <a:solidFill>
                  <a:srgbClr val="152B3A"/>
                </a:solidFill>
                <a:latin typeface="Arial"/>
                <a:ea typeface="Arial"/>
                <a:cs typeface="Arial"/>
              </a:rPr>
              <a:t>An action someone may try.</a:t>
            </a:r>
          </a:p>
        </p:txBody>
      </p:sp>
      <p:sp>
        <p:nvSpPr>
          <p:cNvPr id="14" name="">
            <a:extLst xmlns:a="http://schemas.openxmlformats.org/drawingml/2006/main">
              <a:ext uri="{FF2B5EF4-FFF2-40B4-BE49-F238E27FC236}">
                <a16:creationId xmlns:a16="http://schemas.microsoft.com/office/drawing/2014/main" id="{2ED7A34E-60B9-43D9-A2D4-72E80AFB5450}"/>
              </a:ext>
            </a:extLst>
          </p:cNvPr>
          <p:cNvSpPr>
            <a:spLocks xmlns:a="http://schemas.openxmlformats.org/drawingml/2006/main" noGrp="1"/>
          </p:cNvSpPr>
          <p:nvPr/>
        </p:nvSpPr>
        <p:spPr>
          <a:xfrm xmlns:a="http://schemas.openxmlformats.org/drawingml/2006/main">
            <a:off x="609600" y="2886075"/>
            <a:ext cx="5048250" cy="0"/>
          </a:xfrm>
          <a:prstGeom xmlns:a="http://schemas.openxmlformats.org/drawingml/2006/main" prst="line">
            <a:avLst/>
          </a:prstGeom>
          <a:noFill xmlns:a="http://schemas.openxmlformats.org/drawingml/2006/main"/>
          <a:ln xmlns:a="http://schemas.openxmlformats.org/drawingml/2006/main" w="28575">
            <a:solidFill>
              <a:srgbClr val="DCE7DD"/>
            </a:solidFill>
            <a:prstDash val="solid"/>
          </a:ln>
        </p:spPr>
      </p:sp>
      <p:sp>
        <p:nvSpPr>
          <p:cNvPr id="15" name="">
            <a:extLst xmlns:a="http://schemas.openxmlformats.org/drawingml/2006/main">
              <a:ext uri="{FF2B5EF4-FFF2-40B4-BE49-F238E27FC236}">
                <a16:creationId xmlns:a16="http://schemas.microsoft.com/office/drawing/2014/main" id="{EF7D3D05-6E36-4FEA-8679-B33644206819}"/>
              </a:ext>
            </a:extLst>
          </p:cNvPr>
          <p:cNvSpPr>
            <a:spLocks xmlns:a="http://schemas.openxmlformats.org/drawingml/2006/main" noGrp="1"/>
          </p:cNvSpPr>
          <p:nvPr/>
        </p:nvSpPr>
        <p:spPr>
          <a:xfrm xmlns:a="http://schemas.openxmlformats.org/drawingml/2006/main">
            <a:off x="6572250" y="2886075"/>
            <a:ext cx="5010150" cy="0"/>
          </a:xfrm>
          <a:prstGeom xmlns:a="http://schemas.openxmlformats.org/drawingml/2006/main" prst="line">
            <a:avLst/>
          </a:prstGeom>
          <a:noFill xmlns:a="http://schemas.openxmlformats.org/drawingml/2006/main"/>
          <a:ln xmlns:a="http://schemas.openxmlformats.org/drawingml/2006/main" w="28575">
            <a:solidFill>
              <a:srgbClr val="DCE7DD"/>
            </a:solidFill>
            <a:prstDash val="solid"/>
          </a:ln>
        </p:spPr>
      </p:sp>
    </p:spTree>
    <p:extLst>
      <p:ext uri="{BB962C8B-B14F-4D97-AF65-F5344CB8AC3E}">
        <p14:creationId xmlns:p14="http://schemas.microsoft.com/office/powerpoint/2010/main" val="750140657"/>
      </p:ext>
    </p:extLst>
  </p:cSld>
</p:sld>
</file>

<file path=ppt/slides/slide3.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PSHE</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0139d222e76a4eea"/>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Your suggestion, our response</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4 · PSHE</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03</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The teacher will report back on last lesson’s access suggestion.</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A decision should include what was considered, what can change and why.</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You can say whether the response meets the access need.</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Was there a listener and a clear reply?</a:t>
            </a:r>
          </a:p>
        </p:txBody>
      </p:sp>
    </p:spTree>
    <p:extLst>
      <p:ext uri="{BB962C8B-B14F-4D97-AF65-F5344CB8AC3E}">
        <p14:creationId xmlns:p14="http://schemas.microsoft.com/office/powerpoint/2010/main" val="1732344281"/>
      </p:ext>
    </p:extLst>
  </p:cSld>
</p:sld>
</file>

<file path=ppt/slides/slide4.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PSHE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f14cb20d4e6d40ce"/>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Regulation supports the person</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4 · PSHE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04</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Someone may need help with high energy, low energy, worry, frustration or sensory overload.</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Support can include another person and changes to the task or room.</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The aim is support and safety; sitting still or smiling does not prove someone feels better.</a:t>
            </a:r>
          </a:p>
        </p:txBody>
      </p:sp>
    </p:spTree>
    <p:extLst>
      <p:ext uri="{BB962C8B-B14F-4D97-AF65-F5344CB8AC3E}">
        <p14:creationId xmlns:p14="http://schemas.microsoft.com/office/powerpoint/2010/main" val="289928415"/>
      </p:ext>
    </p:extLst>
  </p:cSld>
</p:sld>
</file>

<file path=ppt/slides/slide5.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PSHE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be11a64b97174c81"/>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Regulation supports the person — continued</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4 · PSHE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05</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What might help besides telling someone to calm down?</a:t>
            </a:r>
          </a:p>
        </p:txBody>
      </p:sp>
    </p:spTree>
    <p:extLst>
      <p:ext uri="{BB962C8B-B14F-4D97-AF65-F5344CB8AC3E}">
        <p14:creationId xmlns:p14="http://schemas.microsoft.com/office/powerpoint/2010/main" val="289928415"/>
      </p:ext>
    </p:extLst>
  </p:cSld>
</p:sld>
</file>

<file path=ppt/slides/slide6.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PSHE</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d1fb7de3fca04cd0"/>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The noisy room</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4 · PSHE</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06</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Rowan is trying to read while chairs scrape and several people talk.</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An adult says, “Use your strategy,” but the noise stays the same.</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Rowan asks for a quieter seat and the instruction written down.</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What can the adult change?</a:t>
            </a:r>
          </a:p>
        </p:txBody>
      </p:sp>
    </p:spTree>
    <p:extLst>
      <p:ext uri="{BB962C8B-B14F-4D97-AF65-F5344CB8AC3E}">
        <p14:creationId xmlns:p14="http://schemas.microsoft.com/office/powerpoint/2010/main" val="1732344281"/>
      </p:ext>
    </p:extLst>
  </p:cSld>
</p:sld>
</file>

<file path=ppt/slides/slide7.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PSHE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4ad28c3e1d4b4ebe"/>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A support menu, with choices</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4 · PSHE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07</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Notice three objects, sketch a pattern, use an agreed focus tool or sit with a supportive adult.</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Choose safe movement or a quieter place within the agreed classroom plan.</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If comfortable, allow gentle, unforced breathing. No breath-holding, closed eyes or touching is required.</a:t>
            </a:r>
          </a:p>
        </p:txBody>
      </p:sp>
    </p:spTree>
    <p:extLst>
      <p:ext uri="{BB962C8B-B14F-4D97-AF65-F5344CB8AC3E}">
        <p14:creationId xmlns:p14="http://schemas.microsoft.com/office/powerpoint/2010/main" val="289928415"/>
      </p:ext>
    </p:extLst>
  </p:cSld>
</p:sld>
</file>

<file path=ppt/slides/slide8.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PSHE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6f99f4ffeddd4a11"/>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A support menu, with choices — continued</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4 · PSHE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08</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Which options could Rowan choose without changing their breathing?</a:t>
            </a:r>
          </a:p>
        </p:txBody>
      </p:sp>
    </p:spTree>
    <p:extLst>
      <p:ext uri="{BB962C8B-B14F-4D97-AF65-F5344CB8AC3E}">
        <p14:creationId xmlns:p14="http://schemas.microsoft.com/office/powerpoint/2010/main" val="289928415"/>
      </p:ext>
    </p:extLst>
  </p:cSld>
</p:sld>
</file>

<file path=ppt/slides/slide9.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PSHE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3088f7fe5a2d4edc"/>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Observe, try or compare on paper</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4 · PSHE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09</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Choose one: observe the adult model, try an agreed option, or compare the fictional cards.</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Afterwards choose: helpful, unchanged, unhelpful or unsure. You may keep your answer private.</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You can stop, switch or ask for another kind of support.</a:t>
            </a:r>
          </a:p>
        </p:txBody>
      </p:sp>
    </p:spTree>
    <p:extLst>
      <p:ext uri="{BB962C8B-B14F-4D97-AF65-F5344CB8AC3E}">
        <p14:creationId xmlns:p14="http://schemas.microsoft.com/office/powerpoint/2010/main" val="289928415"/>
      </p:ext>
    </p:extLst>
  </p:cSld>
</p:sld>
</file>

<file path=ppt/slides/slide10.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PSHE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5a8b7d03c34a40be"/>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Observe, try or compare on paper — continued</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4 · PSHE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10</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What should happen if an option feels unhelpful?</a:t>
            </a:r>
          </a:p>
        </p:txBody>
      </p:sp>
    </p:spTree>
    <p:extLst>
      <p:ext uri="{BB962C8B-B14F-4D97-AF65-F5344CB8AC3E}">
        <p14:creationId xmlns:p14="http://schemas.microsoft.com/office/powerpoint/2010/main" val="289928415"/>
      </p:ext>
    </p:extLst>
  </p:cSld>
</p:sld>
</file>

<file path=ppt/slides/slide11.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PSHE</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4c8ede76b57a4a59"/>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We do: a flexible plan</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4 · PSHE</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11</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When the room feels too noisy, Rowan can show the “quieter place” card.</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The adult checks a suitable seat and writes the first step.</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After a short check-in, Rowan can keep, change or add support.</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Where is the adult’s responsibility in this plan?</a:t>
            </a:r>
          </a:p>
        </p:txBody>
      </p:sp>
    </p:spTree>
    <p:extLst>
      <p:ext uri="{BB962C8B-B14F-4D97-AF65-F5344CB8AC3E}">
        <p14:creationId xmlns:p14="http://schemas.microsoft.com/office/powerpoint/2010/main" val="1732344281"/>
      </p:ext>
    </p:extLst>
  </p:cSld>
</p:sld>
</file>

<file path=ppt/slides/slide12.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PSHE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912fe36115b946ba"/>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A plan does not replace help</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4 · PSHE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12</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A person can ask for help at any time, even if they cannot explain why.</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If worries or difficulties keep returning, tell a trusted adult and ask about further support.</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If someone feels unsafe, get adult help straight away.</a:t>
            </a:r>
          </a:p>
        </p:txBody>
      </p:sp>
    </p:spTree>
    <p:extLst>
      <p:ext uri="{BB962C8B-B14F-4D97-AF65-F5344CB8AC3E}">
        <p14:creationId xmlns:p14="http://schemas.microsoft.com/office/powerpoint/2010/main" val="289928415"/>
      </p:ext>
    </p:extLst>
  </p:cSld>
</p:sld>
</file>

<file path=ppt/slides/slide13.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PSHE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f63e301b6fe4408c"/>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A plan does not replace help — continued</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4 · PSHE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13</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Should someone finish every strategy before asking for help?</a:t>
            </a:r>
          </a:p>
        </p:txBody>
      </p:sp>
    </p:spTree>
    <p:extLst>
      <p:ext uri="{BB962C8B-B14F-4D97-AF65-F5344CB8AC3E}">
        <p14:creationId xmlns:p14="http://schemas.microsoft.com/office/powerpoint/2010/main" val="289928415"/>
      </p:ext>
    </p:extLst>
  </p:cSld>
</p:sld>
</file>

<file path=ppt/slides/slide14.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PSHE</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44519c80bc2b4ffe"/>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Your learning record</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4 · PSHE</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14</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Task 1: compare support options for Rowan and Alex.</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Task 2: write a plan with a pupil choice and an adult action.</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Task 3: review a trial that did not help.</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How does your plan allow someone to change their mind?</a:t>
            </a:r>
          </a:p>
        </p:txBody>
      </p:sp>
    </p:spTree>
    <p:extLst>
      <p:ext uri="{BB962C8B-B14F-4D97-AF65-F5344CB8AC3E}">
        <p14:creationId xmlns:p14="http://schemas.microsoft.com/office/powerpoint/2010/main" val="1732344281"/>
      </p:ext>
    </p:extLst>
  </p:cSld>
</p:sld>
</file>

<file path=ppt/slides/slide15.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PSHE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5537d44cf0614c55"/>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What counts as a useful outcome?</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4 · PSHE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15</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Alex says, “The movement break helped me think, but I still feel worried.”</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Did the support fail? What could happen next?</a:t>
            </a:r>
          </a:p>
        </p:txBody>
      </p:sp>
    </p:spTree>
    <p:extLst>
      <p:ext uri="{BB962C8B-B14F-4D97-AF65-F5344CB8AC3E}">
        <p14:creationId xmlns:p14="http://schemas.microsoft.com/office/powerpoint/2010/main" val="28992841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2026-09-07T12:37:00.3240000Z</dcterms:created>
  <dcterms:modified xsi:type="dcterms:W3CDTF">2026-09-07T12:37:00.3240000Z</dcterms:modified>
</coreProperties>
</file>