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d185f486f2415b" /><Relationship Type="http://schemas.openxmlformats.org/officeDocument/2006/relationships/extended-properties" Target="/docProps/app.xml" Id="R6391795f6d814e6c" /><Relationship Type="http://schemas.openxmlformats.org/officeDocument/2006/relationships/officeDocument" Target="/ppt/presentation.xml" Id="R5b86c8bfbbc74ddc" /></Relationships>
</file>

<file path=ppt/presentation.xml><?xml version="1.0" encoding="utf-8"?>
<p:presentation xmlns:p="http://schemas.openxmlformats.org/presentationml/2006/main">
  <p:sldMasterIdLst>
    <p:sldMasterId xmlns:r="http://schemas.openxmlformats.org/officeDocument/2006/relationships" id="2147483648" r:id="R0ea498c52edf4947"/>
  </p:sldMasterIdLst>
  <p:notesMasterIdLst>
    <p:notesMasterId xmlns:r="http://schemas.openxmlformats.org/officeDocument/2006/relationships" r:id="R55b3e373c0c0463c"/>
  </p:notesMasterIdLst>
  <p:sldIdLst>
    <p:sldId xmlns:r="http://schemas.openxmlformats.org/officeDocument/2006/relationships" id="256" r:id="R8770249ffbbf4514"/>
    <p:sldId xmlns:r="http://schemas.openxmlformats.org/officeDocument/2006/relationships" id="257" r:id="R63e3ee7b22ba4d31"/>
    <p:sldId xmlns:r="http://schemas.openxmlformats.org/officeDocument/2006/relationships" id="258" r:id="R7ad4d5f819aa4979"/>
    <p:sldId xmlns:r="http://schemas.openxmlformats.org/officeDocument/2006/relationships" id="259" r:id="R4136440965854367"/>
    <p:sldId xmlns:r="http://schemas.openxmlformats.org/officeDocument/2006/relationships" id="260" r:id="Rb9d054fa58eb4f7b"/>
    <p:sldId xmlns:r="http://schemas.openxmlformats.org/officeDocument/2006/relationships" id="261" r:id="R27471320ce3c4491"/>
    <p:sldId xmlns:r="http://schemas.openxmlformats.org/officeDocument/2006/relationships" id="262" r:id="R8f5a7aa78c6141ce"/>
    <p:sldId xmlns:r="http://schemas.openxmlformats.org/officeDocument/2006/relationships" id="263" r:id="R18c3dce6a48643a5"/>
    <p:sldId xmlns:r="http://schemas.openxmlformats.org/officeDocument/2006/relationships" id="264" r:id="R104019d1a78a4b96"/>
    <p:sldId xmlns:r="http://schemas.openxmlformats.org/officeDocument/2006/relationships" id="265" r:id="R2dbff27521ec459b"/>
    <p:sldId xmlns:r="http://schemas.openxmlformats.org/officeDocument/2006/relationships" id="266" r:id="Rec69d7f48f1d4f90"/>
    <p:sldId xmlns:r="http://schemas.openxmlformats.org/officeDocument/2006/relationships" id="267" r:id="Rac6f7d2874eb423a"/>
    <p:sldId xmlns:r="http://schemas.openxmlformats.org/officeDocument/2006/relationships" id="268" r:id="R3b1c258ce4c443d9"/>
    <p:sldId xmlns:r="http://schemas.openxmlformats.org/officeDocument/2006/relationships" id="269" r:id="R101e4a76afcb456a"/>
    <p:sldId xmlns:r="http://schemas.openxmlformats.org/officeDocument/2006/relationships" id="270" r:id="Rded4c7caf9d84e87"/>
    <p:sldId xmlns:r="http://schemas.openxmlformats.org/officeDocument/2006/relationships" id="271" r:id="R2d761741229e4d03"/>
    <p:sldId xmlns:r="http://schemas.openxmlformats.org/officeDocument/2006/relationships" id="272" r:id="Ref69679e70d14451"/>
    <p:sldId xmlns:r="http://schemas.openxmlformats.org/officeDocument/2006/relationships" id="273" r:id="R1833d2f602cb47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b4b241279148fe" /><Relationship Type="http://schemas.openxmlformats.org/officeDocument/2006/relationships/slideMaster" Target="/ppt/slideMasters/slideMaster1.xml" Id="R0ea498c52edf4947" /><Relationship Type="http://schemas.openxmlformats.org/officeDocument/2006/relationships/notesMaster" Target="/ppt/notesMasters/notesMaster1.xml" Id="R55b3e373c0c0463c" /><Relationship Type="http://schemas.openxmlformats.org/officeDocument/2006/relationships/presProps" Target="/ppt/presProps.xml" Id="Ra21810e3a98f4c20" /><Relationship Type="http://schemas.openxmlformats.org/officeDocument/2006/relationships/tableStyles" Target="/ppt/tableStyles.xml" Id="Rc42efff0860f43b7" /><Relationship Type="http://schemas.openxmlformats.org/officeDocument/2006/relationships/slide" Target="/ppt/slides/slide1.xml" Id="R8770249ffbbf4514" /><Relationship Type="http://schemas.openxmlformats.org/officeDocument/2006/relationships/slide" Target="/ppt/slides/slide2.xml" Id="R63e3ee7b22ba4d31" /><Relationship Type="http://schemas.openxmlformats.org/officeDocument/2006/relationships/slide" Target="/ppt/slides/slide3.xml" Id="R7ad4d5f819aa4979" /><Relationship Type="http://schemas.openxmlformats.org/officeDocument/2006/relationships/slide" Target="/ppt/slides/slide4.xml" Id="R4136440965854367" /><Relationship Type="http://schemas.openxmlformats.org/officeDocument/2006/relationships/slide" Target="/ppt/slides/slide5.xml" Id="Rb9d054fa58eb4f7b" /><Relationship Type="http://schemas.openxmlformats.org/officeDocument/2006/relationships/slide" Target="/ppt/slides/slide6.xml" Id="R27471320ce3c4491" /><Relationship Type="http://schemas.openxmlformats.org/officeDocument/2006/relationships/slide" Target="/ppt/slides/slide7.xml" Id="R8f5a7aa78c6141ce" /><Relationship Type="http://schemas.openxmlformats.org/officeDocument/2006/relationships/slide" Target="/ppt/slides/slide8.xml" Id="R18c3dce6a48643a5" /><Relationship Type="http://schemas.openxmlformats.org/officeDocument/2006/relationships/slide" Target="/ppt/slides/slide9.xml" Id="R104019d1a78a4b96" /><Relationship Type="http://schemas.openxmlformats.org/officeDocument/2006/relationships/slide" Target="/ppt/slides/slide10.xml" Id="R2dbff27521ec459b" /><Relationship Type="http://schemas.openxmlformats.org/officeDocument/2006/relationships/slide" Target="/ppt/slides/slide11.xml" Id="Rec69d7f48f1d4f90" /><Relationship Type="http://schemas.openxmlformats.org/officeDocument/2006/relationships/slide" Target="/ppt/slides/slide12.xml" Id="Rac6f7d2874eb423a" /><Relationship Type="http://schemas.openxmlformats.org/officeDocument/2006/relationships/slide" Target="/ppt/slides/slide13.xml" Id="R3b1c258ce4c443d9" /><Relationship Type="http://schemas.openxmlformats.org/officeDocument/2006/relationships/slide" Target="/ppt/slides/slide14.xml" Id="R101e4a76afcb456a" /><Relationship Type="http://schemas.openxmlformats.org/officeDocument/2006/relationships/slide" Target="/ppt/slides/slide15.xml" Id="Rded4c7caf9d84e87" /><Relationship Type="http://schemas.openxmlformats.org/officeDocument/2006/relationships/slide" Target="/ppt/slides/slide16.xml" Id="R2d761741229e4d03" /><Relationship Type="http://schemas.openxmlformats.org/officeDocument/2006/relationships/slide" Target="/ppt/slides/slide17.xml" Id="Ref69679e70d14451" /><Relationship Type="http://schemas.openxmlformats.org/officeDocument/2006/relationships/slide" Target="/ppt/slides/slide18.xml" Id="R1833d2f602cb47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c887dbe18741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b21a45874f4ae6" /><Relationship Type="http://schemas.openxmlformats.org/officeDocument/2006/relationships/notesMaster" Target="/ppt/notesMasters/notesMaster1.xml" Id="R68134bd7ea6b4e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09e50d683e4778" /><Relationship Type="http://schemas.openxmlformats.org/officeDocument/2006/relationships/notesMaster" Target="/ppt/notesMasters/notesMaster1.xml" Id="R5930758b227049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90524be6d54c87" /><Relationship Type="http://schemas.openxmlformats.org/officeDocument/2006/relationships/notesMaster" Target="/ppt/notesMasters/notesMaster1.xml" Id="R2de4f0eab4664e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62b6ec810f48a4" /><Relationship Type="http://schemas.openxmlformats.org/officeDocument/2006/relationships/notesMaster" Target="/ppt/notesMasters/notesMaster1.xml" Id="R07c448dacab445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f8b438c2e14f8c" /><Relationship Type="http://schemas.openxmlformats.org/officeDocument/2006/relationships/notesMaster" Target="/ppt/notesMasters/notesMaster1.xml" Id="R78d8b79a4a3d4a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c94536446e436c" /><Relationship Type="http://schemas.openxmlformats.org/officeDocument/2006/relationships/notesMaster" Target="/ppt/notesMasters/notesMaster1.xml" Id="R4341b34dcaec40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3fa34a966c471b" /><Relationship Type="http://schemas.openxmlformats.org/officeDocument/2006/relationships/notesMaster" Target="/ppt/notesMasters/notesMaster1.xml" Id="R2dc4b5f924784e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2ead27a5024b2c" /><Relationship Type="http://schemas.openxmlformats.org/officeDocument/2006/relationships/notesMaster" Target="/ppt/notesMasters/notesMaster1.xml" Id="Rc0ea5e80a95840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b032c337014635" /><Relationship Type="http://schemas.openxmlformats.org/officeDocument/2006/relationships/notesMaster" Target="/ppt/notesMasters/notesMaster1.xml" Id="R83cff5d3b78c48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18990e23dd40f6" /><Relationship Type="http://schemas.openxmlformats.org/officeDocument/2006/relationships/notesMaster" Target="/ppt/notesMasters/notesMaster1.xml" Id="R355ecbeb054944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da60ea941b4c4d" /><Relationship Type="http://schemas.openxmlformats.org/officeDocument/2006/relationships/notesMaster" Target="/ppt/notesMasters/notesMaster1.xml" Id="R6a4b659359b54d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43adc8df054b01" /><Relationship Type="http://schemas.openxmlformats.org/officeDocument/2006/relationships/notesMaster" Target="/ppt/notesMasters/notesMaster1.xml" Id="R3d10cf8a6b694d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9945851abe4240" /><Relationship Type="http://schemas.openxmlformats.org/officeDocument/2006/relationships/notesMaster" Target="/ppt/notesMasters/notesMaster1.xml" Id="R2017cf847d0a45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d0d899892143f9" /><Relationship Type="http://schemas.openxmlformats.org/officeDocument/2006/relationships/notesMaster" Target="/ppt/notesMasters/notesMaster1.xml" Id="Rf770f656ad824e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8b8c023dec4368" /><Relationship Type="http://schemas.openxmlformats.org/officeDocument/2006/relationships/notesMaster" Target="/ppt/notesMasters/notesMaster1.xml" Id="Race91362b2354c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e48131eabd4c1e" /><Relationship Type="http://schemas.openxmlformats.org/officeDocument/2006/relationships/notesMaster" Target="/ppt/notesMasters/notesMaster1.xml" Id="R374d0ab3f0b945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e6adb97163a4363" /><Relationship Type="http://schemas.openxmlformats.org/officeDocument/2006/relationships/notesMaster" Target="/ppt/notesMasters/notesMaster1.xml" Id="Re47169f5dcec41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4c1341789142bf" /><Relationship Type="http://schemas.openxmlformats.org/officeDocument/2006/relationships/notesMaster" Target="/ppt/notesMasters/notesMaster1.xml" Id="R45f1a6649d3b47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Adapted from Week 3 belonging deck and map. WILI1 and CG2 remain unverified source references. This is part of the new upload-derived GROW unit, not a claim to reproduce the existing website SoW.</a:t>
            </a:r>
          </a:p>
          <a:p xmlns:a="http://schemas.openxmlformats.org/drawingml/2006/main">
            <a:r>
              <a:t/>
            </a:r>
          </a:p>
          <a:p xmlns:a="http://schemas.openxmlformats.org/drawingml/2006/main">
            <a:r>
              <a:t>Pupil prompt: What would make a new person feel welcome?</a:t>
            </a:r>
          </a:p>
          <a:p xmlns:a="http://schemas.openxmlformats.org/drawingml/2006/main">
            <a:r>
              <a:t/>
            </a:r>
          </a:p>
          <a:p xmlns:a="http://schemas.openxmlformats.org/drawingml/2006/main">
            <a:r>
              <a:t>Teacher answer / acceptable response: A clear invitation, an accessible way to join and someone who asks what support would help.</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Do not infer ability or preference from a label. The story provides Casey’s preference directly; adaptations should be offered to all.</a:t>
            </a:r>
          </a:p>
          <a:p xmlns:a="http://schemas.openxmlformats.org/drawingml/2006/main">
            <a:r>
              <a:t/>
            </a:r>
          </a:p>
          <a:p xmlns:a="http://schemas.openxmlformats.org/drawingml/2006/main">
            <a:r>
              <a:t>Pupil prompt: Who could face a barrier? What could change?</a:t>
            </a:r>
          </a:p>
          <a:p xmlns:a="http://schemas.openxmlformats.org/drawingml/2006/main">
            <a:r>
              <a:t/>
            </a:r>
          </a:p>
          <a:p xmlns:a="http://schemas.openxmlformats.org/drawingml/2006/main">
            <a:r>
              <a:t>Teacher answer / acceptable response: Casey may face a communication barrier; anyone may find the noise difficult. Offer written/drawn ideas and a quieter space, then ask what works.</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Do not infer ability or preference from a label. The story provides Casey’s preference directly; adaptations should be offered to all.</a:t>
            </a:r>
          </a:p>
          <a:p xmlns:a="http://schemas.openxmlformats.org/drawingml/2006/main">
            <a:r>
              <a:t/>
            </a:r>
          </a:p>
          <a:p xmlns:a="http://schemas.openxmlformats.org/drawingml/2006/main">
            <a:r>
              <a:t>Pupil prompt: Who could face a barrier? What could change?</a:t>
            </a:r>
          </a:p>
          <a:p xmlns:a="http://schemas.openxmlformats.org/drawingml/2006/main">
            <a:r>
              <a:t/>
            </a:r>
          </a:p>
          <a:p xmlns:a="http://schemas.openxmlformats.org/drawingml/2006/main">
            <a:r>
              <a:t>Teacher answer / acceptable response: Casey may face a communication barrier; anyone may find the noise difficult. Offer written/drawn ideas and a quieter space, then ask what works.</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Avoid asking pupils to identify who is different in the room. Rights are not withdrawn because someone needs support or finds a rule difficult.</a:t>
            </a:r>
          </a:p>
          <a:p xmlns:a="http://schemas.openxmlformats.org/drawingml/2006/main">
            <a:r>
              <a:t/>
            </a:r>
          </a:p>
          <a:p xmlns:a="http://schemas.openxmlformats.org/drawingml/2006/main">
            <a:r>
              <a:t>Pupil prompt: Would giving everyone only spoken instructions always be fair?</a:t>
            </a:r>
          </a:p>
          <a:p xmlns:a="http://schemas.openxmlformats.org/drawingml/2006/main">
            <a:r>
              <a:t/>
            </a:r>
          </a:p>
          <a:p xmlns:a="http://schemas.openxmlformats.org/drawingml/2006/main">
            <a:r>
              <a:t>Teacher answer / acceptable response: No. Some people may need written, pictured or repeated instructions to access the same task.</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Avoid asking pupils to identify who is different in the room. Rights are not withdrawn because someone needs support or finds a rule difficult.</a:t>
            </a:r>
          </a:p>
          <a:p xmlns:a="http://schemas.openxmlformats.org/drawingml/2006/main">
            <a:r>
              <a:t/>
            </a:r>
          </a:p>
          <a:p xmlns:a="http://schemas.openxmlformats.org/drawingml/2006/main">
            <a:r>
              <a:t>Pupil prompt: Would giving everyone only spoken instructions always be fair?</a:t>
            </a:r>
          </a:p>
          <a:p xmlns:a="http://schemas.openxmlformats.org/drawingml/2006/main">
            <a:r>
              <a:t/>
            </a:r>
          </a:p>
          <a:p xmlns:a="http://schemas.openxmlformats.org/drawingml/2006/main">
            <a:r>
              <a:t>Teacher answer / acceptable response: No. Some people may need written, pictured or repeated instructions to access the same task.</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Keep discriminatory examples brief and avoid slurs or acted rejection. There is no debate about whether discriminatory exclusion is acceptable.</a:t>
            </a:r>
          </a:p>
          <a:p xmlns:a="http://schemas.openxmlformats.org/drawingml/2006/main">
            <a:r>
              <a:t/>
            </a:r>
          </a:p>
          <a:p xmlns:a="http://schemas.openxmlformats.org/drawingml/2006/main">
            <a:r>
              <a:t>Pupil prompt: Which needs an access change, which is a disagreement and which needs adult action?</a:t>
            </a:r>
          </a:p>
          <a:p xmlns:a="http://schemas.openxmlformats.org/drawingml/2006/main">
            <a:r>
              <a:t/>
            </a:r>
          </a:p>
          <a:p xmlns:a="http://schemas.openxmlformats.org/drawingml/2006/main">
            <a:r>
              <a:t>Teacher answer / acceptable response: A improves access. B is an ordinary preference disagreement. C is discriminatory exclusion and requires adult intervention.</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Keep discriminatory examples brief and avoid slurs or acted rejection. There is no debate about whether discriminatory exclusion is acceptable.</a:t>
            </a:r>
          </a:p>
          <a:p xmlns:a="http://schemas.openxmlformats.org/drawingml/2006/main">
            <a:r>
              <a:t/>
            </a:r>
          </a:p>
          <a:p xmlns:a="http://schemas.openxmlformats.org/drawingml/2006/main">
            <a:r>
              <a:t>Pupil prompt: Which needs an access change, which is a disagreement and which needs adult action?</a:t>
            </a:r>
          </a:p>
          <a:p xmlns:a="http://schemas.openxmlformats.org/drawingml/2006/main">
            <a:r>
              <a:t/>
            </a:r>
          </a:p>
          <a:p xmlns:a="http://schemas.openxmlformats.org/drawingml/2006/main">
            <a:r>
              <a:t>Teacher answer / acceptable response: A improves access. B is an ordinary preference disagreement. C is discriminatory exclusion and requires adult intervention.</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Classroom adaptation of Laura Lundy’s participation model. Space is not merely a physical chair; Voice is not simply speaking aloud. Sources are listed in the guide.</a:t>
            </a:r>
          </a:p>
          <a:p xmlns:a="http://schemas.openxmlformats.org/drawingml/2006/main">
            <a:r>
              <a:t/>
            </a:r>
          </a:p>
          <a:p xmlns:a="http://schemas.openxmlformats.org/drawingml/2006/main">
            <a:r>
              <a:t>Pupil prompt: How could the club improve Space and Voice?</a:t>
            </a:r>
          </a:p>
          <a:p xmlns:a="http://schemas.openxmlformats.org/drawingml/2006/main">
            <a:r>
              <a:t/>
            </a:r>
          </a:p>
          <a:p xmlns:a="http://schemas.openxmlformats.org/drawingml/2006/main">
            <a:r>
              <a:t>Teacher answer / acceptable response: Offer a quiet place and thinking time; explain the options; accept drawings, writing, speaking or supported communication.</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Classroom adaptation of Laura Lundy’s participation model. Space is not merely a physical chair; Voice is not simply speaking aloud. Sources are listed in the guide.</a:t>
            </a:r>
          </a:p>
          <a:p xmlns:a="http://schemas.openxmlformats.org/drawingml/2006/main">
            <a:r>
              <a:t/>
            </a:r>
          </a:p>
          <a:p xmlns:a="http://schemas.openxmlformats.org/drawingml/2006/main">
            <a:r>
              <a:t>Pupil prompt: How could the club improve Space and Voice?</a:t>
            </a:r>
          </a:p>
          <a:p xmlns:a="http://schemas.openxmlformats.org/drawingml/2006/main">
            <a:r>
              <a:t/>
            </a:r>
          </a:p>
          <a:p xmlns:a="http://schemas.openxmlformats.org/drawingml/2006/main">
            <a:r>
              <a:t>Teacher answer / acceptable response: Offer a quiet place and thinking time; explain the options; accept drawings, writing, speaking or supported communication.</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Clarify that influence does not mean every suggestion is accepted. Feedback is an important part of a responsible decision process.</a:t>
            </a:r>
          </a:p>
          <a:p xmlns:a="http://schemas.openxmlformats.org/drawingml/2006/main">
            <a:r>
              <a:t/>
            </a:r>
          </a:p>
          <a:p xmlns:a="http://schemas.openxmlformats.org/drawingml/2006/main">
            <a:r>
              <a:t>Pupil prompt: The club leader reads ideas but never responds. What is missing?</a:t>
            </a:r>
          </a:p>
          <a:p xmlns:a="http://schemas.openxmlformats.org/drawingml/2006/main">
            <a:r>
              <a:t/>
            </a:r>
          </a:p>
          <a:p xmlns:a="http://schemas.openxmlformats.org/drawingml/2006/main">
            <a:r>
              <a:t>Teacher answer / acceptable response: Influence is not demonstrated. The leader should explain what was considered, the decision and the reasons, including any limits.</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Clarify that influence does not mean every suggestion is accepted. Feedback is an important part of a responsible decision process.</a:t>
            </a:r>
          </a:p>
          <a:p xmlns:a="http://schemas.openxmlformats.org/drawingml/2006/main">
            <a:r>
              <a:t/>
            </a:r>
          </a:p>
          <a:p xmlns:a="http://schemas.openxmlformats.org/drawingml/2006/main">
            <a:r>
              <a:t>Pupil prompt: The club leader reads ideas but never responds. What is missing?</a:t>
            </a:r>
          </a:p>
          <a:p xmlns:a="http://schemas.openxmlformats.org/drawingml/2006/main">
            <a:r>
              <a:t/>
            </a:r>
          </a:p>
          <a:p xmlns:a="http://schemas.openxmlformats.org/drawingml/2006/main">
            <a:r>
              <a:t>Teacher answer / acceptable response: Influence is not demonstrated. The leader should explain what was considered, the decision and the reasons, including any limits.</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Ask what else is needed if the board is hard to reach or not read. The four elements work together; merely naming them is not enough.</a:t>
            </a:r>
          </a:p>
          <a:p xmlns:a="http://schemas.openxmlformats.org/drawingml/2006/main">
            <a:r>
              <a:t/>
            </a:r>
          </a:p>
          <a:p xmlns:a="http://schemas.openxmlformats.org/drawingml/2006/main">
            <a:r>
              <a:t>Pupil prompt: Find Space, Voice, Audience and Influence in this example.</a:t>
            </a:r>
          </a:p>
          <a:p xmlns:a="http://schemas.openxmlformats.org/drawingml/2006/main">
            <a:r>
              <a:t/>
            </a:r>
          </a:p>
          <a:p xmlns:a="http://schemas.openxmlformats.org/drawingml/2006/main">
            <a:r>
              <a:t>Teacher answer / acceptable response: Space: an inclusive chance to contribute. Voice: a written route with clear information. Audience: club leader. Influence: a trial, review and explanation of the decision.</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Ask what else is needed if the board is hard to reach or not read. The four elements work together; merely naming them is not enough.</a:t>
            </a:r>
          </a:p>
          <a:p xmlns:a="http://schemas.openxmlformats.org/drawingml/2006/main">
            <a:r>
              <a:t/>
            </a:r>
          </a:p>
          <a:p xmlns:a="http://schemas.openxmlformats.org/drawingml/2006/main">
            <a:r>
              <a:t>Pupil prompt: Find Space, Voice, Audience and Influence in this example.</a:t>
            </a:r>
          </a:p>
          <a:p xmlns:a="http://schemas.openxmlformats.org/drawingml/2006/main">
            <a:r>
              <a:t/>
            </a:r>
          </a:p>
          <a:p xmlns:a="http://schemas.openxmlformats.org/drawingml/2006/main">
            <a:r>
              <a:t>Teacher answer / acceptable response: Space: an inclusive chance to contribute. Voice: a written route with clear information. Audience: club leader. Influence: a trial, review and explanation of the decision.</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Replace the source instruction to resolve a real disagreement restoratively. Any restorative work is voluntary, appropriately led and unsuitable as a substitute for safeguarding.</a:t>
            </a:r>
          </a:p>
          <a:p xmlns:a="http://schemas.openxmlformats.org/drawingml/2006/main">
            <a:r>
              <a:t/>
            </a:r>
          </a:p>
          <a:p xmlns:a="http://schemas.openxmlformats.org/drawingml/2006/main">
            <a:r>
              <a:t>Pupil prompt: Why should the two situations have different responses?</a:t>
            </a:r>
          </a:p>
          <a:p xmlns:a="http://schemas.openxmlformats.org/drawingml/2006/main">
            <a:r>
              <a:t/>
            </a:r>
          </a:p>
          <a:p xmlns:a="http://schemas.openxmlformats.org/drawingml/2006/main">
            <a:r>
              <a:t>Teacher answer / acceptable response: A preference disagreement may be discussed safely and voluntarily. Harm needs protection and adult support, not a forced compromise.</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Replace the source instruction to resolve a real disagreement restoratively. Any restorative work is voluntary, appropriately led and unsuitable as a substitute for safeguarding.</a:t>
            </a:r>
          </a:p>
          <a:p xmlns:a="http://schemas.openxmlformats.org/drawingml/2006/main">
            <a:r>
              <a:t/>
            </a:r>
          </a:p>
          <a:p xmlns:a="http://schemas.openxmlformats.org/drawingml/2006/main">
            <a:r>
              <a:t>Pupil prompt: Why should the two situations have different responses?</a:t>
            </a:r>
          </a:p>
          <a:p xmlns:a="http://schemas.openxmlformats.org/drawingml/2006/main">
            <a:r>
              <a:t/>
            </a:r>
          </a:p>
          <a:p xmlns:a="http://schemas.openxmlformats.org/drawingml/2006/main">
            <a:r>
              <a:t>Teacher answer / acceptable response: A preference disagreement may be discussed safely and voluntarily. Harm needs protection and adult support, not a forced compromise.</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Supported: match the four word cards to actions. Standard: complete a club proposal. Stretch: identify where a superficially inclusive plan still fails.</a:t>
            </a:r>
          </a:p>
          <a:p xmlns:a="http://schemas.openxmlformats.org/drawingml/2006/main">
            <a:r>
              <a:t/>
            </a:r>
          </a:p>
          <a:p xmlns:a="http://schemas.openxmlformats.org/drawingml/2006/main">
            <a:r>
              <a:t>Pupil prompt: Use the four participation words to check the plan.</a:t>
            </a:r>
          </a:p>
          <a:p xmlns:a="http://schemas.openxmlformats.org/drawingml/2006/main">
            <a:r>
              <a:t/>
            </a:r>
          </a:p>
          <a:p xmlns:a="http://schemas.openxmlformats.org/drawingml/2006/main">
            <a:r>
              <a:t>Teacher answer / acceptable response: A complete plan names an accessible opportunity, a response route, a responsible listener and feedback about the decision.</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GROW_PSHE_W03 | Belonging and having a say</a:t>
            </a:r>
          </a:p>
          <a:p xmlns:a="http://schemas.openxmlformats.org/drawingml/2006/main">
            <a:r>
              <a:t>Recognise inclusive group practices, distinguish disagreement from harm and apply the four elements of meaningful participation.</a:t>
            </a:r>
          </a:p>
          <a:p xmlns:a="http://schemas.openxmlformats.org/drawingml/2006/main">
            <a:r>
              <a:t/>
            </a:r>
          </a:p>
          <a:p xmlns:a="http://schemas.openxmlformats.org/drawingml/2006/main">
            <a:r>
              <a:t>Invite one genuine access suggestion for Week 4. Give a realistic time for feedback and follow it. Do not collect personal group membership data.</a:t>
            </a:r>
          </a:p>
          <a:p xmlns:a="http://schemas.openxmlformats.org/drawingml/2006/main">
            <a:r>
              <a:t/>
            </a:r>
          </a:p>
          <a:p xmlns:a="http://schemas.openxmlformats.org/drawingml/2006/main">
            <a:r>
              <a:t>Pupil prompt: Which part still needs attention?</a:t>
            </a:r>
          </a:p>
          <a:p xmlns:a="http://schemas.openxmlformats.org/drawingml/2006/main">
            <a:r>
              <a:t/>
            </a:r>
          </a:p>
          <a:p xmlns:a="http://schemas.openxmlformats.org/drawingml/2006/main">
            <a:r>
              <a:t>Teacher answer / acceptable response: Influence: pupils should hear the decision and why, showing that their views were seriously considered.</a:t>
            </a:r>
          </a:p>
          <a:p xmlns:a="http://schemas.openxmlformats.org/drawingml/2006/main">
            <a:r>
              <a:t/>
            </a:r>
          </a:p>
          <a:p xmlns:a="http://schemas.openxmlformats.org/drawingml/2006/main">
            <a:r>
              <a:t>Support: Read one card at a time; match Space, Voice, Audience and Influence to four printed actions. Accept pointing or scribing and focus on one practical access barrier.</a:t>
            </a:r>
          </a:p>
          <a:p xmlns:a="http://schemas.openxmlformats.org/drawingml/2006/main">
            <a:r>
              <a:t/>
            </a:r>
          </a:p>
          <a:p xmlns:a="http://schemas.openxmlformats.org/drawingml/2006/main">
            <a:r>
              <a:t>Stretch: Critique a club where every member can write a suggestion but the leader never reads the board. Explain which elements are missing and propose a realistic decision-and-feedback process.</a:t>
            </a:r>
          </a:p>
          <a:p xmlns:a="http://schemas.openxmlformats.org/drawingml/2006/main">
            <a:r>
              <a:t/>
            </a:r>
          </a:p>
          <a:p xmlns:a="http://schemas.openxmlformats.org/drawingml/2006/main">
            <a:r>
              <a:t>Safeguarding / safety: Avoid making any pupil a spokesperson for a group or identity. Do not stage exclusion or require reconciliation. Address discriminatory language through school policy. Use Week 5 disclosure guidance if personal harm is disclosed.</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fictional-group option</a:t>
            </a:r>
          </a:p>
          <a:p xmlns:a="http://schemas.openxmlformats.org/drawingml/2006/main">
            <a:r>
              <a:t>5 min: Makers Club barrier discussion</a:t>
            </a:r>
          </a:p>
          <a:p xmlns:a="http://schemas.openxmlformats.org/drawingml/2006/main">
            <a:r>
              <a:t>6 min: Inclusion and disagreement/harm sort</a:t>
            </a:r>
          </a:p>
          <a:p xmlns:a="http://schemas.openxmlformats.org/drawingml/2006/main">
            <a:r>
              <a:t>7 min: Teach and model four participation elements</a:t>
            </a:r>
          </a:p>
          <a:p xmlns:a="http://schemas.openxmlformats.org/drawingml/2006/main">
            <a:r>
              <a:t>10 min: Complete the three learning tasks</a:t>
            </a:r>
          </a:p>
          <a:p xmlns:a="http://schemas.openxmlformats.org/drawingml/2006/main">
            <a:r>
              <a:t>4 min: Compare proposal quality and choices</a:t>
            </a:r>
          </a:p>
          <a:p xmlns:a="http://schemas.openxmlformats.org/drawingml/2006/main">
            <a:r>
              <a:t>3 min: Exit and genuine access suggestion</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Week_3_PSHE_The_Groups_I_Belong_To_(WILI1_CG2).pptx</a:t>
            </a:r>
          </a:p>
          <a:p xmlns:a="http://schemas.openxmlformats.org/drawingml/2006/main">
            <a:r>
              <a:t>Uploaded teaching source: Week_3_PSHE_Worksheet_My_Belonging_Map_(WILI1_CG2).docx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4090a19fd74e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eab0dc40be4eee" /><Relationship Type="http://schemas.openxmlformats.org/officeDocument/2006/relationships/slideLayout" Target="/ppt/slideLayouts/slideLayout1.xml" Id="R787ed46925a843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7ed46925a843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98ed26d3b5486e" /><Relationship Type="http://schemas.openxmlformats.org/officeDocument/2006/relationships/image" Target="/ppt/media/image.jpeg" Id="Radc53b4dda494331" /><Relationship Type="http://schemas.openxmlformats.org/officeDocument/2006/relationships/notesSlide" Target="/ppt/notesSlides/notesSlide1.xml" Id="R04cd3e92684840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70bb6cced14f43" /><Relationship Type="http://schemas.openxmlformats.org/officeDocument/2006/relationships/image" Target="/ppt/media/image.jpeg" Id="Rbad40692940f4af2" /><Relationship Type="http://schemas.openxmlformats.org/officeDocument/2006/relationships/notesSlide" Target="/ppt/notesSlides/notesSlide2.xml" Id="R97aefa70d9a241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6f9838d15948c0" /><Relationship Type="http://schemas.openxmlformats.org/officeDocument/2006/relationships/image" Target="/ppt/media/image.jpeg" Id="R8a339d39ac6c4c67" /><Relationship Type="http://schemas.openxmlformats.org/officeDocument/2006/relationships/notesSlide" Target="/ppt/notesSlides/notesSlide3.xml" Id="R5c43ea859c3b4e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222fb3b538432b" /><Relationship Type="http://schemas.openxmlformats.org/officeDocument/2006/relationships/image" Target="/ppt/media/image.jpeg" Id="R4c346b730c4c4be0" /><Relationship Type="http://schemas.openxmlformats.org/officeDocument/2006/relationships/notesSlide" Target="/ppt/notesSlides/notesSlide4.xml" Id="Rab7f8165ca4342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7ac3d94135492e" /><Relationship Type="http://schemas.openxmlformats.org/officeDocument/2006/relationships/image" Target="/ppt/media/image.jpeg" Id="R8e0d7f3723aa4265" /><Relationship Type="http://schemas.openxmlformats.org/officeDocument/2006/relationships/notesSlide" Target="/ppt/notesSlides/notesSlide5.xml" Id="R6b8f3e2201f74d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d90588e5684a86" /><Relationship Type="http://schemas.openxmlformats.org/officeDocument/2006/relationships/image" Target="/ppt/media/image.jpeg" Id="R2d45a6d8601940ed" /><Relationship Type="http://schemas.openxmlformats.org/officeDocument/2006/relationships/notesSlide" Target="/ppt/notesSlides/notesSlide6.xml" Id="Rc3300e54b91e45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61ab1874244547" /><Relationship Type="http://schemas.openxmlformats.org/officeDocument/2006/relationships/image" Target="/ppt/media/image.jpeg" Id="R3a66f8f89c584f83" /><Relationship Type="http://schemas.openxmlformats.org/officeDocument/2006/relationships/notesSlide" Target="/ppt/notesSlides/notesSlide7.xml" Id="R7b8c35bb8c3241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97c91a60164d4b" /><Relationship Type="http://schemas.openxmlformats.org/officeDocument/2006/relationships/image" Target="/ppt/media/image.jpeg" Id="R6674e7748cf34191" /><Relationship Type="http://schemas.openxmlformats.org/officeDocument/2006/relationships/notesSlide" Target="/ppt/notesSlides/notesSlide8.xml" Id="R0a09e4cfbc0345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9d55cfcf5244df" /><Relationship Type="http://schemas.openxmlformats.org/officeDocument/2006/relationships/image" Target="/ppt/media/image.jpeg" Id="Rba15886ef7084cee" /><Relationship Type="http://schemas.openxmlformats.org/officeDocument/2006/relationships/notesSlide" Target="/ppt/notesSlides/notesSlide9.xml" Id="R8db2929ebab240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065250f6964157" /><Relationship Type="http://schemas.openxmlformats.org/officeDocument/2006/relationships/image" Target="/ppt/media/image.jpeg" Id="Rf8bdd45aec8f4a1d" /><Relationship Type="http://schemas.openxmlformats.org/officeDocument/2006/relationships/notesSlide" Target="/ppt/notesSlides/notesSlide10.xml" Id="R1066bc5ebc7341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18bcefd08742fa" /><Relationship Type="http://schemas.openxmlformats.org/officeDocument/2006/relationships/image" Target="/ppt/media/image.jpeg" Id="R59baa1bb36644268" /><Relationship Type="http://schemas.openxmlformats.org/officeDocument/2006/relationships/notesSlide" Target="/ppt/notesSlides/notesSlide11.xml" Id="Ra597d451012c42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3781ec9553485a" /><Relationship Type="http://schemas.openxmlformats.org/officeDocument/2006/relationships/image" Target="/ppt/media/image.jpeg" Id="R35a8a963a2c24e0c" /><Relationship Type="http://schemas.openxmlformats.org/officeDocument/2006/relationships/notesSlide" Target="/ppt/notesSlides/notesSlide12.xml" Id="R9e276492e8974c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182df942772411b" /><Relationship Type="http://schemas.openxmlformats.org/officeDocument/2006/relationships/image" Target="/ppt/media/image.jpeg" Id="R142a5d183b4d4e4f" /><Relationship Type="http://schemas.openxmlformats.org/officeDocument/2006/relationships/notesSlide" Target="/ppt/notesSlides/notesSlide13.xml" Id="Ra572e93b566648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1ec06d17dd74c19" /><Relationship Type="http://schemas.openxmlformats.org/officeDocument/2006/relationships/image" Target="/ppt/media/image.jpeg" Id="R10793e66c941435e" /><Relationship Type="http://schemas.openxmlformats.org/officeDocument/2006/relationships/notesSlide" Target="/ppt/notesSlides/notesSlide14.xml" Id="R4544d392f82d45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2a389f20784b3f" /><Relationship Type="http://schemas.openxmlformats.org/officeDocument/2006/relationships/image" Target="/ppt/media/image.jpeg" Id="Raf317a893d2b491b" /><Relationship Type="http://schemas.openxmlformats.org/officeDocument/2006/relationships/notesSlide" Target="/ppt/notesSlides/notesSlide15.xml" Id="R010e2b32b7f445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5892c3102f4180" /><Relationship Type="http://schemas.openxmlformats.org/officeDocument/2006/relationships/image" Target="/ppt/media/image.jpeg" Id="R37ae1abaed004515" /><Relationship Type="http://schemas.openxmlformats.org/officeDocument/2006/relationships/notesSlide" Target="/ppt/notesSlides/notesSlide16.xml" Id="R28fdfc18c53c43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7563c930b704603" /><Relationship Type="http://schemas.openxmlformats.org/officeDocument/2006/relationships/image" Target="/ppt/media/image.jpeg" Id="Rac31067e75f24354" /><Relationship Type="http://schemas.openxmlformats.org/officeDocument/2006/relationships/notesSlide" Target="/ppt/notesSlides/notesSlide17.xml" Id="R09437d621e7343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a066e483e84176" /><Relationship Type="http://schemas.openxmlformats.org/officeDocument/2006/relationships/image" Target="/ppt/media/image.jpeg" Id="R03a9b181c218496d" /><Relationship Type="http://schemas.openxmlformats.org/officeDocument/2006/relationships/notesSlide" Target="/ppt/notesSlides/notesSlide18.xml" Id="R7ce7b86795d447da"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dc53b4dda49433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Belonging and having a say</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improve a fictional club and see how a pupil suggestion can matter.</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may use the club cards; nobody has to map their family or friendships.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would make a new person feel welcome?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ad40692940f4af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BELONGING</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DIVERSITY</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Feeling accepted and included in a group.</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Differences among people, experiences and ways of living.</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a339d39ac6c4c6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Welcome to the Makers Club</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Asha likes drawing. Ben likes building. Casey likes planning and uses written messages.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All three want to help design a small community garden.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club currently accepts ideas only by speaking in a noisy circle.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c346b730c4c4be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Welcome to the Makers Club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Who could face a barrier? What could change?</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e0d7f3723aa426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Same rights, different ways to join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People can share an interest and differ in faith, culture, race, family, ability or preferences.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Nobody has to explain their identity to earn a place.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Fairness can mean different support so people can participate.</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d45a6d8601940e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Same rights, different ways to join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Would giving everyone only spoken instructions always be fair?</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a66f8f89c584f8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Access, preference or exclusion?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A quiet option is added alongside the group discussion.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Two members prefer different flowers for the same plot.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 A member is kept out because of their race.</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674e7748cf3419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Access, preference or exclusion?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needs an access change, which is a disagreement and which needs adult action?</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a15886ef7084ce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view: Space and Voice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Space: a safe, inclusive chance to think and offer a view.</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Voice: information and support to express that view in a way that works for you.</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Passing is allowed. Adults should still offer an accessible opportunity.</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8bdd45aec8f4a1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view: Space and Voice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could the club improve Space and Voice?</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9baa1bb3664426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view: Audience and Influence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Audience: someone who can help make the decision listens.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Influence: the view is considered seriously, and you hear what happened and why.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 vote or suggestion box alone does not complete the process.</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a8a963a2c24e0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view: Audience and Influence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club leader reads ideas but never responds. What is missing?</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2a5d183b4d4e4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a fair club decision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Casey suggests a written idea board. The club leader can change the meeting format.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leader tries the board for two meetings and invites comments about access.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leader reports what changed and asks whether the board helped.</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0793e66c941435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a fair club decision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Space, Voice, Audience and Influence in this example.</a:t>
            </a:r>
          </a:p>
        </p:txBody>
      </p:sp>
    </p:spTree>
    <p:extLst>
      <p:ext uri="{BB962C8B-B14F-4D97-AF65-F5344CB8AC3E}">
        <p14:creationId xmlns:p14="http://schemas.microsoft.com/office/powerpoint/2010/main" val="289928415"/>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f317a893d2b491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Disagreement needs choice; harm needs help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Ben wants red flowers. Asha wants yellow. They can choose to compare reasons and plan a mix.</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someone is threatened, bullied or excluded unfairly, an adult needs to act.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Nobody has to meet, forgive, become friends or accept unsafe behaviour.</a:t>
            </a:r>
          </a:p>
        </p:txBody>
      </p:sp>
    </p:spTree>
    <p:extLst>
      <p:ext uri="{BB962C8B-B14F-4D97-AF65-F5344CB8AC3E}">
        <p14:creationId xmlns:p14="http://schemas.microsoft.com/office/powerpoint/2010/main" val="289928415"/>
      </p:ext>
    </p:extLst>
  </p:cSld>
</p:sld>
</file>

<file path=ppt/slides/slide1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7ae1abaed00451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Disagreement needs choice; harm needs help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should the two situations have different responses?</a:t>
            </a:r>
          </a:p>
        </p:txBody>
      </p:sp>
    </p:spTree>
    <p:extLst>
      <p:ext uri="{BB962C8B-B14F-4D97-AF65-F5344CB8AC3E}">
        <p14:creationId xmlns:p14="http://schemas.microsoft.com/office/powerpoint/2010/main" val="289928415"/>
      </p:ext>
    </p:extLst>
  </p:cSld>
</p:sld>
</file>

<file path=ppt/slides/slide1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c31067e75f2435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learning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improve access to the club.</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choose an appropriate response to disagreement or harm.</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plan how one suggestion reaches a decision and a reply.</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the four participation words to check the plan.</a:t>
            </a:r>
          </a:p>
        </p:txBody>
      </p:sp>
    </p:spTree>
    <p:extLst>
      <p:ext uri="{BB962C8B-B14F-4D97-AF65-F5344CB8AC3E}">
        <p14:creationId xmlns:p14="http://schemas.microsoft.com/office/powerpoint/2010/main" val="1732344281"/>
      </p:ext>
    </p:extLst>
  </p:cSld>
</p:sld>
</file>

<file path=ppt/slides/slide1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3a9b181c218496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Did the view make a difference?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teacher collects ideas for a quieter starter, explains the options and reads every response.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 decision or explanation comes back.</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part still needs attention?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2026-09-07T12:36:50.9380000Z</dcterms:created>
  <dcterms:modified xsi:type="dcterms:W3CDTF">2026-09-07T12:36:50.9380000Z</dcterms:modified>
</coreProperties>
</file>