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df1379ec68a4781" /><Relationship Type="http://schemas.openxmlformats.org/officeDocument/2006/relationships/extended-properties" Target="/docProps/app.xml" Id="Raca514c760dc4357" /><Relationship Type="http://schemas.openxmlformats.org/officeDocument/2006/relationships/officeDocument" Target="/ppt/presentation.xml" Id="R2af2d8a628604baa" /></Relationships>
</file>

<file path=ppt/presentation.xml><?xml version="1.0" encoding="utf-8"?>
<p:presentation xmlns:p="http://schemas.openxmlformats.org/presentationml/2006/main">
  <p:sldMasterIdLst>
    <p:sldMasterId xmlns:r="http://schemas.openxmlformats.org/officeDocument/2006/relationships" id="2147483648" r:id="R5b512d01d67f4a4c"/>
  </p:sldMasterIdLst>
  <p:notesMasterIdLst>
    <p:notesMasterId xmlns:r="http://schemas.openxmlformats.org/officeDocument/2006/relationships" r:id="Rd0ea0f1744504639"/>
  </p:notesMasterIdLst>
  <p:sldIdLst>
    <p:sldId xmlns:r="http://schemas.openxmlformats.org/officeDocument/2006/relationships" id="256" r:id="R561b182b2cd0415e"/>
    <p:sldId xmlns:r="http://schemas.openxmlformats.org/officeDocument/2006/relationships" id="257" r:id="R2ac8b5c17dfe4b24"/>
    <p:sldId xmlns:r="http://schemas.openxmlformats.org/officeDocument/2006/relationships" id="258" r:id="R56ec78f0e3344c72"/>
    <p:sldId xmlns:r="http://schemas.openxmlformats.org/officeDocument/2006/relationships" id="259" r:id="R43132b47b8f949ac"/>
    <p:sldId xmlns:r="http://schemas.openxmlformats.org/officeDocument/2006/relationships" id="260" r:id="R779645712bfc4b00"/>
    <p:sldId xmlns:r="http://schemas.openxmlformats.org/officeDocument/2006/relationships" id="261" r:id="Rb7b8db3492ad4e62"/>
    <p:sldId xmlns:r="http://schemas.openxmlformats.org/officeDocument/2006/relationships" id="262" r:id="R7a0046e23eba4dfb"/>
    <p:sldId xmlns:r="http://schemas.openxmlformats.org/officeDocument/2006/relationships" id="263" r:id="R8c641940de5546f8"/>
    <p:sldId xmlns:r="http://schemas.openxmlformats.org/officeDocument/2006/relationships" id="264" r:id="Rbbb036c92cd44723"/>
    <p:sldId xmlns:r="http://schemas.openxmlformats.org/officeDocument/2006/relationships" id="265" r:id="Ree29dd0f110a4540"/>
    <p:sldId xmlns:r="http://schemas.openxmlformats.org/officeDocument/2006/relationships" id="266" r:id="Reac2a13bd7764d15"/>
    <p:sldId xmlns:r="http://schemas.openxmlformats.org/officeDocument/2006/relationships" id="267" r:id="R521ae446db494126"/>
    <p:sldId xmlns:r="http://schemas.openxmlformats.org/officeDocument/2006/relationships" id="268" r:id="Rd1c344bd5d744eec"/>
    <p:sldId xmlns:r="http://schemas.openxmlformats.org/officeDocument/2006/relationships" id="269" r:id="R841ecf988616470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2b3ee5783324e1e" /><Relationship Type="http://schemas.openxmlformats.org/officeDocument/2006/relationships/slideMaster" Target="/ppt/slideMasters/slideMaster1.xml" Id="R5b512d01d67f4a4c" /><Relationship Type="http://schemas.openxmlformats.org/officeDocument/2006/relationships/notesMaster" Target="/ppt/notesMasters/notesMaster1.xml" Id="Rd0ea0f1744504639" /><Relationship Type="http://schemas.openxmlformats.org/officeDocument/2006/relationships/presProps" Target="/ppt/presProps.xml" Id="R15584cb64bfd425a" /><Relationship Type="http://schemas.openxmlformats.org/officeDocument/2006/relationships/tableStyles" Target="/ppt/tableStyles.xml" Id="Rbdb86752eb4249af" /><Relationship Type="http://schemas.openxmlformats.org/officeDocument/2006/relationships/slide" Target="/ppt/slides/slide1.xml" Id="R561b182b2cd0415e" /><Relationship Type="http://schemas.openxmlformats.org/officeDocument/2006/relationships/slide" Target="/ppt/slides/slide2.xml" Id="R2ac8b5c17dfe4b24" /><Relationship Type="http://schemas.openxmlformats.org/officeDocument/2006/relationships/slide" Target="/ppt/slides/slide3.xml" Id="R56ec78f0e3344c72" /><Relationship Type="http://schemas.openxmlformats.org/officeDocument/2006/relationships/slide" Target="/ppt/slides/slide4.xml" Id="R43132b47b8f949ac" /><Relationship Type="http://schemas.openxmlformats.org/officeDocument/2006/relationships/slide" Target="/ppt/slides/slide5.xml" Id="R779645712bfc4b00" /><Relationship Type="http://schemas.openxmlformats.org/officeDocument/2006/relationships/slide" Target="/ppt/slides/slide6.xml" Id="Rb7b8db3492ad4e62" /><Relationship Type="http://schemas.openxmlformats.org/officeDocument/2006/relationships/slide" Target="/ppt/slides/slide7.xml" Id="R7a0046e23eba4dfb" /><Relationship Type="http://schemas.openxmlformats.org/officeDocument/2006/relationships/slide" Target="/ppt/slides/slide8.xml" Id="R8c641940de5546f8" /><Relationship Type="http://schemas.openxmlformats.org/officeDocument/2006/relationships/slide" Target="/ppt/slides/slide9.xml" Id="Rbbb036c92cd44723" /><Relationship Type="http://schemas.openxmlformats.org/officeDocument/2006/relationships/slide" Target="/ppt/slides/slide10.xml" Id="Ree29dd0f110a4540" /><Relationship Type="http://schemas.openxmlformats.org/officeDocument/2006/relationships/slide" Target="/ppt/slides/slide11.xml" Id="Reac2a13bd7764d15" /><Relationship Type="http://schemas.openxmlformats.org/officeDocument/2006/relationships/slide" Target="/ppt/slides/slide12.xml" Id="R521ae446db494126" /><Relationship Type="http://schemas.openxmlformats.org/officeDocument/2006/relationships/slide" Target="/ppt/slides/slide13.xml" Id="Rd1c344bd5d744eec" /><Relationship Type="http://schemas.openxmlformats.org/officeDocument/2006/relationships/slide" Target="/ppt/slides/slide14.xml" Id="R841ecf988616470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2527e5427df458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14967769ff54450" /><Relationship Type="http://schemas.openxmlformats.org/officeDocument/2006/relationships/notesMaster" Target="/ppt/notesMasters/notesMaster1.xml" Id="R205cdeab68df478a" /></Relationships>
</file>

<file path=ppt/notesSlides/_rels/notesSlide2.xml.rels>&#65279;<?xml version="1.0" encoding="utf-8"?><Relationships xmlns="http://schemas.openxmlformats.org/package/2006/relationships"><Relationship Type="http://schemas.openxmlformats.org/officeDocument/2006/relationships/slide" Target="/ppt/slides/slide2.xml" Id="R75fb193d49e24931" /><Relationship Type="http://schemas.openxmlformats.org/officeDocument/2006/relationships/notesMaster" Target="/ppt/notesMasters/notesMaster1.xml" Id="Rb496165d60e3430b" /></Relationships>
</file>

<file path=ppt/notesSlides/_rels/notesSlide3.xml.rels>&#65279;<?xml version="1.0" encoding="utf-8"?><Relationships xmlns="http://schemas.openxmlformats.org/package/2006/relationships"><Relationship Type="http://schemas.openxmlformats.org/officeDocument/2006/relationships/slide" Target="/ppt/slides/slide3.xml" Id="R3c0754d1168e4f71" /><Relationship Type="http://schemas.openxmlformats.org/officeDocument/2006/relationships/notesMaster" Target="/ppt/notesMasters/notesMaster1.xml" Id="Rc3e428b98820403f" /></Relationships>
</file>

<file path=ppt/notesSlides/_rels/notesSlide4.xml.rels>&#65279;<?xml version="1.0" encoding="utf-8"?><Relationships xmlns="http://schemas.openxmlformats.org/package/2006/relationships"><Relationship Type="http://schemas.openxmlformats.org/officeDocument/2006/relationships/slide" Target="/ppt/slides/slide4.xml" Id="R2b9ec23209c04957" /><Relationship Type="http://schemas.openxmlformats.org/officeDocument/2006/relationships/notesMaster" Target="/ppt/notesMasters/notesMaster1.xml" Id="Rf71b2e2f5b3644d1" /></Relationships>
</file>

<file path=ppt/notesSlides/_rels/notesSlide5.xml.rels>&#65279;<?xml version="1.0" encoding="utf-8"?><Relationships xmlns="http://schemas.openxmlformats.org/package/2006/relationships"><Relationship Type="http://schemas.openxmlformats.org/officeDocument/2006/relationships/slide" Target="/ppt/slides/slide5.xml" Id="R650daeb2ed6f466f" /><Relationship Type="http://schemas.openxmlformats.org/officeDocument/2006/relationships/notesMaster" Target="/ppt/notesMasters/notesMaster1.xml" Id="Re4704977e6c447d3" /></Relationships>
</file>

<file path=ppt/notesSlides/_rels/notesSlide6.xml.rels>&#65279;<?xml version="1.0" encoding="utf-8"?><Relationships xmlns="http://schemas.openxmlformats.org/package/2006/relationships"><Relationship Type="http://schemas.openxmlformats.org/officeDocument/2006/relationships/slide" Target="/ppt/slides/slide6.xml" Id="R686f6dd6a97c4150" /><Relationship Type="http://schemas.openxmlformats.org/officeDocument/2006/relationships/notesMaster" Target="/ppt/notesMasters/notesMaster1.xml" Id="Rbd3547ec405d4502" /></Relationships>
</file>

<file path=ppt/notesSlides/_rels/notesSlide7.xml.rels>&#65279;<?xml version="1.0" encoding="utf-8"?><Relationships xmlns="http://schemas.openxmlformats.org/package/2006/relationships"><Relationship Type="http://schemas.openxmlformats.org/officeDocument/2006/relationships/slide" Target="/ppt/slides/slide7.xml" Id="R4bc80f340e284e2a" /><Relationship Type="http://schemas.openxmlformats.org/officeDocument/2006/relationships/notesMaster" Target="/ppt/notesMasters/notesMaster1.xml" Id="R5dd76d0593914ecf" /></Relationships>
</file>

<file path=ppt/notesSlides/_rels/notesSlide8.xml.rels>&#65279;<?xml version="1.0" encoding="utf-8"?><Relationships xmlns="http://schemas.openxmlformats.org/package/2006/relationships"><Relationship Type="http://schemas.openxmlformats.org/officeDocument/2006/relationships/slide" Target="/ppt/slides/slide8.xml" Id="Re1d3deec73c84d47" /><Relationship Type="http://schemas.openxmlformats.org/officeDocument/2006/relationships/notesMaster" Target="/ppt/notesMasters/notesMaster1.xml" Id="Rb20aa93ea98d4c7b" /></Relationships>
</file>

<file path=ppt/notesSlides/_rels/notesSlide9.xml.rels>&#65279;<?xml version="1.0" encoding="utf-8"?><Relationships xmlns="http://schemas.openxmlformats.org/package/2006/relationships"><Relationship Type="http://schemas.openxmlformats.org/officeDocument/2006/relationships/slide" Target="/ppt/slides/slide9.xml" Id="R5180dd4c43ba44e8" /><Relationship Type="http://schemas.openxmlformats.org/officeDocument/2006/relationships/notesMaster" Target="/ppt/notesMasters/notesMaster1.xml" Id="Rb909714aa6ce40a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2f7aeb85f184959" /><Relationship Type="http://schemas.openxmlformats.org/officeDocument/2006/relationships/notesMaster" Target="/ppt/notesMasters/notesMaster1.xml" Id="R3f6760203d464df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2a518e8959441f0" /><Relationship Type="http://schemas.openxmlformats.org/officeDocument/2006/relationships/notesMaster" Target="/ppt/notesMasters/notesMaster1.xml" Id="R6e66f5eadf6d4a8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58d5155718d4642" /><Relationship Type="http://schemas.openxmlformats.org/officeDocument/2006/relationships/notesMaster" Target="/ppt/notesMasters/notesMaster1.xml" Id="R346d964c0f04441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60c9e24e7364b27" /><Relationship Type="http://schemas.openxmlformats.org/officeDocument/2006/relationships/notesMaster" Target="/ppt/notesMasters/notesMaster1.xml" Id="R49ba793a6bc44a4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d947e85f03845e8" /><Relationship Type="http://schemas.openxmlformats.org/officeDocument/2006/relationships/notesMaster" Target="/ppt/notesMasters/notesMaster1.xml" Id="R1876d196ba7a4cb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GROW_PSHE_W01 | Strengths with evidence</a:t>
            </a:r>
          </a:p>
          <a:p xmlns:a="http://schemas.openxmlformats.org/drawingml/2006/main">
            <a:r>
              <a:t>Identify strengths from evidence, recognise useful feedback and plan a small supported next step.</a:t>
            </a:r>
          </a:p>
          <a:p xmlns:a="http://schemas.openxmlformats.org/drawingml/2006/main">
            <a:r>
              <a:t/>
            </a:r>
          </a:p>
          <a:p xmlns:a="http://schemas.openxmlformats.org/drawingml/2006/main">
            <a:r>
              <a:t>Adapted from the Week 1 strengths deck and profile sheet for GROW. SA1 is retained as an unverified source planning reference, not an assessed award or confirmed framework alignment.</a:t>
            </a:r>
          </a:p>
          <a:p xmlns:a="http://schemas.openxmlformats.org/drawingml/2006/main">
            <a:r>
              <a:t/>
            </a:r>
          </a:p>
          <a:p xmlns:a="http://schemas.openxmlformats.org/drawingml/2006/main">
            <a:r>
              <a:t>Pupil prompt: What could someone be good at that is hard to see?</a:t>
            </a:r>
          </a:p>
          <a:p xmlns:a="http://schemas.openxmlformats.org/drawingml/2006/main">
            <a:r>
              <a:t/>
            </a:r>
          </a:p>
          <a:p xmlns:a="http://schemas.openxmlformats.org/drawingml/2006/main">
            <a:r>
              <a:t>Teacher answer / acceptable response: Listening, asking a useful question, noticing a mistake or finding another approach.</a:t>
            </a:r>
          </a:p>
          <a:p xmlns:a="http://schemas.openxmlformats.org/drawingml/2006/main">
            <a:r>
              <a:t/>
            </a:r>
          </a:p>
          <a:p xmlns:a="http://schemas.openxmlformats.org/drawingml/2006/main">
            <a:r>
              <a:t>Support: Read one character card at a time. Offer two strength words, then ask pupils to point to the evidence. Scribe exactly what the pupil communicates. A fictional profile is a complete response.</a:t>
            </a:r>
          </a:p>
          <a:p xmlns:a="http://schemas.openxmlformats.org/drawingml/2006/main">
            <a:r>
              <a:t/>
            </a:r>
          </a:p>
          <a:p xmlns:a="http://schemas.openxmlformats.org/drawingml/2006/main">
            <a:r>
              <a:t>Stretch: Invite two valid interpretations of the same action and ask which is better supported. Evaluate whether the next step could be observed without judging confidence or personality.</a:t>
            </a:r>
          </a:p>
          <a:p xmlns:a="http://schemas.openxmlformats.org/drawingml/2006/main">
            <a:r>
              <a:t/>
            </a:r>
          </a:p>
          <a:p xmlns:a="http://schemas.openxmlformats.org/drawingml/2006/main">
            <a:r>
              <a:t>Safeguarding / safety: Avoid public strength rankings, compulsory partner compliments or retelling hurtful experiences. Keep any personal example private. For a disclosure, use the response protocol in Week 5 and the school safeguarding procedure.</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participation choices and private help route</a:t>
            </a:r>
          </a:p>
          <a:p xmlns:a="http://schemas.openxmlformats.org/drawingml/2006/main">
            <a:r>
              <a:t>5 min: Model Jay’s strength and evidence</a:t>
            </a:r>
          </a:p>
          <a:p xmlns:a="http://schemas.openxmlformats.org/drawingml/2006/main">
            <a:r>
              <a:t>6 min: Character strength sort</a:t>
            </a:r>
          </a:p>
          <a:p xmlns:a="http://schemas.openxmlformats.org/drawingml/2006/main">
            <a:r>
              <a:t>5 min: Useful feedback and safe response modelling</a:t>
            </a:r>
          </a:p>
          <a:p xmlns:a="http://schemas.openxmlformats.org/drawingml/2006/main">
            <a:r>
              <a:t>12 min: Three pupil tasks with chosen support</a:t>
            </a:r>
          </a:p>
          <a:p xmlns:a="http://schemas.openxmlformats.org/drawingml/2006/main">
            <a:r>
              <a:t>4 min: Discuss next steps using model answers</a:t>
            </a:r>
          </a:p>
          <a:p xmlns:a="http://schemas.openxmlformats.org/drawingml/2006/main">
            <a:r>
              <a:t>3 min: Access suggestion and exit check</a:t>
            </a:r>
          </a:p>
          <a:p xmlns:a="http://schemas.openxmlformats.org/drawingml/2006/main">
            <a:r>
              <a:t>2 min: Reset, collect work privately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Week_1_PSHE_Identifying_My_Strengths_(SA1) (1).pptx</a:t>
            </a:r>
          </a:p>
          <a:p xmlns:a="http://schemas.openxmlformats.org/drawingml/2006/main">
            <a:r>
              <a:t>Uploaded teaching source: Week_1_PSHE_Worksheet_My_Strengths_Profile_(SA1).docx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GROW_PSHE_W01 | Strengths with evidence</a:t>
            </a:r>
          </a:p>
          <a:p xmlns:a="http://schemas.openxmlformats.org/drawingml/2006/main">
            <a:r>
              <a:t>Identify strengths from evidence, recognise useful feedback and plan a small supported next step.</a:t>
            </a:r>
          </a:p>
          <a:p xmlns:a="http://schemas.openxmlformats.org/drawingml/2006/main">
            <a:r>
              <a:t/>
            </a:r>
          </a:p>
          <a:p xmlns:a="http://schemas.openxmlformats.org/drawingml/2006/main">
            <a:r>
              <a:t>Read each word aloud and link it to a concrete example. Revisit these words during the tasks.</a:t>
            </a:r>
          </a:p>
          <a:p xmlns:a="http://schemas.openxmlformats.org/drawingml/2006/main">
            <a:r>
              <a:t/>
            </a:r>
          </a:p>
          <a:p xmlns:a="http://schemas.openxmlformats.org/drawingml/2006/main">
            <a:r>
              <a:t>Support: Read one character card at a time. Offer two strength words, then ask pupils to point to the evidence. Scribe exactly what the pupil communicates. A fictional profile is a complete response.</a:t>
            </a:r>
          </a:p>
          <a:p xmlns:a="http://schemas.openxmlformats.org/drawingml/2006/main">
            <a:r>
              <a:t/>
            </a:r>
          </a:p>
          <a:p xmlns:a="http://schemas.openxmlformats.org/drawingml/2006/main">
            <a:r>
              <a:t>Stretch: Invite two valid interpretations of the same action and ask which is better supported. Evaluate whether the next step could be observed without judging confidence or personality.</a:t>
            </a:r>
          </a:p>
          <a:p xmlns:a="http://schemas.openxmlformats.org/drawingml/2006/main">
            <a:r>
              <a:t/>
            </a:r>
          </a:p>
          <a:p xmlns:a="http://schemas.openxmlformats.org/drawingml/2006/main">
            <a:r>
              <a:t>Safeguarding / safety: Avoid public strength rankings, compulsory partner compliments or retelling hurtful experiences. Keep any personal example private. For a disclosure, use the response protocol in Week 5 and the school safeguarding procedure.</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participation choices and private help route</a:t>
            </a:r>
          </a:p>
          <a:p xmlns:a="http://schemas.openxmlformats.org/drawingml/2006/main">
            <a:r>
              <a:t>5 min: Model Jay’s strength and evidence</a:t>
            </a:r>
          </a:p>
          <a:p xmlns:a="http://schemas.openxmlformats.org/drawingml/2006/main">
            <a:r>
              <a:t>6 min: Character strength sort</a:t>
            </a:r>
          </a:p>
          <a:p xmlns:a="http://schemas.openxmlformats.org/drawingml/2006/main">
            <a:r>
              <a:t>5 min: Useful feedback and safe response modelling</a:t>
            </a:r>
          </a:p>
          <a:p xmlns:a="http://schemas.openxmlformats.org/drawingml/2006/main">
            <a:r>
              <a:t>12 min: Three pupil tasks with chosen support</a:t>
            </a:r>
          </a:p>
          <a:p xmlns:a="http://schemas.openxmlformats.org/drawingml/2006/main">
            <a:r>
              <a:t>4 min: Discuss next steps using model answers</a:t>
            </a:r>
          </a:p>
          <a:p xmlns:a="http://schemas.openxmlformats.org/drawingml/2006/main">
            <a:r>
              <a:t>3 min: Access suggestion and exit check</a:t>
            </a:r>
          </a:p>
          <a:p xmlns:a="http://schemas.openxmlformats.org/drawingml/2006/main">
            <a:r>
              <a:t>2 min: Reset, collect work privately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Week_1_PSHE_Identifying_My_Strengths_(SA1) (1).pptx</a:t>
            </a:r>
          </a:p>
          <a:p xmlns:a="http://schemas.openxmlformats.org/drawingml/2006/main">
            <a:r>
              <a:t>Uploaded teaching source: Week_1_PSHE_Worksheet_My_Strengths_Profile_(SA1).docx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GROW_PSHE_W01 | Strengths with evidence</a:t>
            </a:r>
          </a:p>
          <a:p xmlns:a="http://schemas.openxmlformats.org/drawingml/2006/main">
            <a:r>
              <a:t>Identify strengths from evidence, recognise useful feedback and plan a small supported next step.</a:t>
            </a:r>
          </a:p>
          <a:p xmlns:a="http://schemas.openxmlformats.org/drawingml/2006/main">
            <a:r>
              <a:t/>
            </a:r>
          </a:p>
          <a:p xmlns:a="http://schemas.openxmlformats.org/drawingml/2006/main">
            <a:r>
              <a:t>Do not interpret passing as absence of learning. Offer the character cards and check understanding privately. Explain who can hear a help request today.</a:t>
            </a:r>
          </a:p>
          <a:p xmlns:a="http://schemas.openxmlformats.org/drawingml/2006/main">
            <a:r>
              <a:t/>
            </a:r>
          </a:p>
          <a:p xmlns:a="http://schemas.openxmlformats.org/drawingml/2006/main">
            <a:r>
              <a:t>Pupil prompt: Which response route would work for this task?</a:t>
            </a:r>
          </a:p>
          <a:p xmlns:a="http://schemas.openxmlformats.org/drawingml/2006/main">
            <a:r>
              <a:t/>
            </a:r>
          </a:p>
          <a:p xmlns:a="http://schemas.openxmlformats.org/drawingml/2006/main">
            <a:r>
              <a:t>Support: Read one character card at a time. Offer two strength words, then ask pupils to point to the evidence. Scribe exactly what the pupil communicates. A fictional profile is a complete response.</a:t>
            </a:r>
          </a:p>
          <a:p xmlns:a="http://schemas.openxmlformats.org/drawingml/2006/main">
            <a:r>
              <a:t/>
            </a:r>
          </a:p>
          <a:p xmlns:a="http://schemas.openxmlformats.org/drawingml/2006/main">
            <a:r>
              <a:t>Stretch: Invite two valid interpretations of the same action and ask which is better supported. Evaluate whether the next step could be observed without judging confidence or personality.</a:t>
            </a:r>
          </a:p>
          <a:p xmlns:a="http://schemas.openxmlformats.org/drawingml/2006/main">
            <a:r>
              <a:t/>
            </a:r>
          </a:p>
          <a:p xmlns:a="http://schemas.openxmlformats.org/drawingml/2006/main">
            <a:r>
              <a:t>Safeguarding / safety: Avoid public strength rankings, compulsory partner compliments or retelling hurtful experiences. Keep any personal example private. For a disclosure, use the response protocol in Week 5 and the school safeguarding procedure.</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participation choices and private help route</a:t>
            </a:r>
          </a:p>
          <a:p xmlns:a="http://schemas.openxmlformats.org/drawingml/2006/main">
            <a:r>
              <a:t>5 min: Model Jay’s strength and evidence</a:t>
            </a:r>
          </a:p>
          <a:p xmlns:a="http://schemas.openxmlformats.org/drawingml/2006/main">
            <a:r>
              <a:t>6 min: Character strength sort</a:t>
            </a:r>
          </a:p>
          <a:p xmlns:a="http://schemas.openxmlformats.org/drawingml/2006/main">
            <a:r>
              <a:t>5 min: Useful feedback and safe response modelling</a:t>
            </a:r>
          </a:p>
          <a:p xmlns:a="http://schemas.openxmlformats.org/drawingml/2006/main">
            <a:r>
              <a:t>12 min: Three pupil tasks with chosen support</a:t>
            </a:r>
          </a:p>
          <a:p xmlns:a="http://schemas.openxmlformats.org/drawingml/2006/main">
            <a:r>
              <a:t>4 min: Discuss next steps using model answers</a:t>
            </a:r>
          </a:p>
          <a:p xmlns:a="http://schemas.openxmlformats.org/drawingml/2006/main">
            <a:r>
              <a:t>3 min: Access suggestion and exit check</a:t>
            </a:r>
          </a:p>
          <a:p xmlns:a="http://schemas.openxmlformats.org/drawingml/2006/main">
            <a:r>
              <a:t>2 min: Reset, collect work privately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Week_1_PSHE_Identifying_My_Strengths_(SA1) (1).pptx</a:t>
            </a:r>
          </a:p>
          <a:p xmlns:a="http://schemas.openxmlformats.org/drawingml/2006/main">
            <a:r>
              <a:t>Uploaded teaching source: Week_1_PSHE_Worksheet_My_Strengths_Profile_(SA1).docx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GROW_PSHE_W01 | Strengths with evidence</a:t>
            </a:r>
          </a:p>
          <a:p xmlns:a="http://schemas.openxmlformats.org/drawingml/2006/main">
            <a:r>
              <a:t>Identify strengths from evidence, recognise useful feedback and plan a small supported next step.</a:t>
            </a:r>
          </a:p>
          <a:p xmlns:a="http://schemas.openxmlformats.org/drawingml/2006/main">
            <a:r>
              <a:t/>
            </a:r>
          </a:p>
          <a:p xmlns:a="http://schemas.openxmlformats.org/drawingml/2006/main">
            <a:r>
              <a:t>Do not interpret passing as absence of learning. Offer the character cards and check understanding privately. Explain who can hear a help request today.</a:t>
            </a:r>
          </a:p>
          <a:p xmlns:a="http://schemas.openxmlformats.org/drawingml/2006/main">
            <a:r>
              <a:t/>
            </a:r>
          </a:p>
          <a:p xmlns:a="http://schemas.openxmlformats.org/drawingml/2006/main">
            <a:r>
              <a:t>Pupil prompt: Which response route would work for this task?</a:t>
            </a:r>
          </a:p>
          <a:p xmlns:a="http://schemas.openxmlformats.org/drawingml/2006/main">
            <a:r>
              <a:t/>
            </a:r>
          </a:p>
          <a:p xmlns:a="http://schemas.openxmlformats.org/drawingml/2006/main">
            <a:r>
              <a:t>Support: Read one character card at a time. Offer two strength words, then ask pupils to point to the evidence. Scribe exactly what the pupil communicates. A fictional profile is a complete response.</a:t>
            </a:r>
          </a:p>
          <a:p xmlns:a="http://schemas.openxmlformats.org/drawingml/2006/main">
            <a:r>
              <a:t/>
            </a:r>
          </a:p>
          <a:p xmlns:a="http://schemas.openxmlformats.org/drawingml/2006/main">
            <a:r>
              <a:t>Stretch: Invite two valid interpretations of the same action and ask which is better supported. Evaluate whether the next step could be observed without judging confidence or personality.</a:t>
            </a:r>
          </a:p>
          <a:p xmlns:a="http://schemas.openxmlformats.org/drawingml/2006/main">
            <a:r>
              <a:t/>
            </a:r>
          </a:p>
          <a:p xmlns:a="http://schemas.openxmlformats.org/drawingml/2006/main">
            <a:r>
              <a:t>Safeguarding / safety: Avoid public strength rankings, compulsory partner compliments or retelling hurtful experiences. Keep any personal example private. For a disclosure, use the response protocol in Week 5 and the school safeguarding procedure.</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participation choices and private help route</a:t>
            </a:r>
          </a:p>
          <a:p xmlns:a="http://schemas.openxmlformats.org/drawingml/2006/main">
            <a:r>
              <a:t>5 min: Model Jay’s strength and evidence</a:t>
            </a:r>
          </a:p>
          <a:p xmlns:a="http://schemas.openxmlformats.org/drawingml/2006/main">
            <a:r>
              <a:t>6 min: Character strength sort</a:t>
            </a:r>
          </a:p>
          <a:p xmlns:a="http://schemas.openxmlformats.org/drawingml/2006/main">
            <a:r>
              <a:t>5 min: Useful feedback and safe response modelling</a:t>
            </a:r>
          </a:p>
          <a:p xmlns:a="http://schemas.openxmlformats.org/drawingml/2006/main">
            <a:r>
              <a:t>12 min: Three pupil tasks with chosen support</a:t>
            </a:r>
          </a:p>
          <a:p xmlns:a="http://schemas.openxmlformats.org/drawingml/2006/main">
            <a:r>
              <a:t>4 min: Discuss next steps using model answers</a:t>
            </a:r>
          </a:p>
          <a:p xmlns:a="http://schemas.openxmlformats.org/drawingml/2006/main">
            <a:r>
              <a:t>3 min: Access suggestion and exit check</a:t>
            </a:r>
          </a:p>
          <a:p xmlns:a="http://schemas.openxmlformats.org/drawingml/2006/main">
            <a:r>
              <a:t>2 min: Reset, collect work privately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Week_1_PSHE_Identifying_My_Strengths_(SA1) (1).pptx</a:t>
            </a:r>
          </a:p>
          <a:p xmlns:a="http://schemas.openxmlformats.org/drawingml/2006/main">
            <a:r>
              <a:t>Uploaded teaching source: Week_1_PSHE_Worksheet_My_Strengths_Profile_(SA1).docx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GROW_PSHE_W01 | Strengths with evidence</a:t>
            </a:r>
          </a:p>
          <a:p xmlns:a="http://schemas.openxmlformats.org/drawingml/2006/main">
            <a:r>
              <a:t>Identify strengths from evidence, recognise useful feedback and plan a small supported next step.</a:t>
            </a:r>
          </a:p>
          <a:p xmlns:a="http://schemas.openxmlformats.org/drawingml/2006/main">
            <a:r>
              <a:t/>
            </a:r>
          </a:p>
          <a:p xmlns:a="http://schemas.openxmlformats.org/drawingml/2006/main">
            <a:r>
              <a:t>Read the story twice, then model underlining the action before selecting a strength. Do not equate persistence with being required to continue when distressed.</a:t>
            </a:r>
          </a:p>
          <a:p xmlns:a="http://schemas.openxmlformats.org/drawingml/2006/main">
            <a:r>
              <a:t/>
            </a:r>
          </a:p>
          <a:p xmlns:a="http://schemas.openxmlformats.org/drawingml/2006/main">
            <a:r>
              <a:t>Pupil prompt: Which comment gives evidence of a strength?</a:t>
            </a:r>
          </a:p>
          <a:p xmlns:a="http://schemas.openxmlformats.org/drawingml/2006/main">
            <a:r>
              <a:t/>
            </a:r>
          </a:p>
          <a:p xmlns:a="http://schemas.openxmlformats.org/drawingml/2006/main">
            <a:r>
              <a:t>Teacher answer / acceptable response: Ali’s comment: Jay tried a new idea. This supports problem solving and persistence. Asking for support is part of the evidence.</a:t>
            </a:r>
          </a:p>
          <a:p xmlns:a="http://schemas.openxmlformats.org/drawingml/2006/main">
            <a:r>
              <a:t/>
            </a:r>
          </a:p>
          <a:p xmlns:a="http://schemas.openxmlformats.org/drawingml/2006/main">
            <a:r>
              <a:t>Support: Read one character card at a time. Offer two strength words, then ask pupils to point to the evidence. Scribe exactly what the pupil communicates. A fictional profile is a complete response.</a:t>
            </a:r>
          </a:p>
          <a:p xmlns:a="http://schemas.openxmlformats.org/drawingml/2006/main">
            <a:r>
              <a:t/>
            </a:r>
          </a:p>
          <a:p xmlns:a="http://schemas.openxmlformats.org/drawingml/2006/main">
            <a:r>
              <a:t>Stretch: Invite two valid interpretations of the same action and ask which is better supported. Evaluate whether the next step could be observed without judging confidence or personality.</a:t>
            </a:r>
          </a:p>
          <a:p xmlns:a="http://schemas.openxmlformats.org/drawingml/2006/main">
            <a:r>
              <a:t/>
            </a:r>
          </a:p>
          <a:p xmlns:a="http://schemas.openxmlformats.org/drawingml/2006/main">
            <a:r>
              <a:t>Safeguarding / safety: Avoid public strength rankings, compulsory partner compliments or retelling hurtful experiences. Keep any personal example private. For a disclosure, use the response protocol in Week 5 and the school safeguarding procedure.</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participation choices and private help route</a:t>
            </a:r>
          </a:p>
          <a:p xmlns:a="http://schemas.openxmlformats.org/drawingml/2006/main">
            <a:r>
              <a:t>5 min: Model Jay’s strength and evidence</a:t>
            </a:r>
          </a:p>
          <a:p xmlns:a="http://schemas.openxmlformats.org/drawingml/2006/main">
            <a:r>
              <a:t>6 min: Character strength sort</a:t>
            </a:r>
          </a:p>
          <a:p xmlns:a="http://schemas.openxmlformats.org/drawingml/2006/main">
            <a:r>
              <a:t>5 min: Useful feedback and safe response modelling</a:t>
            </a:r>
          </a:p>
          <a:p xmlns:a="http://schemas.openxmlformats.org/drawingml/2006/main">
            <a:r>
              <a:t>12 min: Three pupil tasks with chosen support</a:t>
            </a:r>
          </a:p>
          <a:p xmlns:a="http://schemas.openxmlformats.org/drawingml/2006/main">
            <a:r>
              <a:t>4 min: Discuss next steps using model answers</a:t>
            </a:r>
          </a:p>
          <a:p xmlns:a="http://schemas.openxmlformats.org/drawingml/2006/main">
            <a:r>
              <a:t>3 min: Access suggestion and exit check</a:t>
            </a:r>
          </a:p>
          <a:p xmlns:a="http://schemas.openxmlformats.org/drawingml/2006/main">
            <a:r>
              <a:t>2 min: Reset, collect work privately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Week_1_PSHE_Identifying_My_Strengths_(SA1) (1).pptx</a:t>
            </a:r>
          </a:p>
          <a:p xmlns:a="http://schemas.openxmlformats.org/drawingml/2006/main">
            <a:r>
              <a:t>Uploaded teaching source: Week_1_PSHE_Worksheet_My_Strengths_Profile_(SA1).docx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GROW_PSHE_W01 | Strengths with evidence</a:t>
            </a:r>
          </a:p>
          <a:p xmlns:a="http://schemas.openxmlformats.org/drawingml/2006/main">
            <a:r>
              <a:t>Identify strengths from evidence, recognise useful feedback and plan a small supported next step.</a:t>
            </a:r>
          </a:p>
          <a:p xmlns:a="http://schemas.openxmlformats.org/drawingml/2006/main">
            <a:r>
              <a:t/>
            </a:r>
          </a:p>
          <a:p xmlns:a="http://schemas.openxmlformats.org/drawingml/2006/main">
            <a:r>
              <a:t>Read the story twice, then model underlining the action before selecting a strength. Do not equate persistence with being required to continue when distressed.</a:t>
            </a:r>
          </a:p>
          <a:p xmlns:a="http://schemas.openxmlformats.org/drawingml/2006/main">
            <a:r>
              <a:t/>
            </a:r>
          </a:p>
          <a:p xmlns:a="http://schemas.openxmlformats.org/drawingml/2006/main">
            <a:r>
              <a:t>Pupil prompt: Which comment gives evidence of a strength?</a:t>
            </a:r>
          </a:p>
          <a:p xmlns:a="http://schemas.openxmlformats.org/drawingml/2006/main">
            <a:r>
              <a:t/>
            </a:r>
          </a:p>
          <a:p xmlns:a="http://schemas.openxmlformats.org/drawingml/2006/main">
            <a:r>
              <a:t>Teacher answer / acceptable response: Ali’s comment: Jay tried a new idea. This supports problem solving and persistence. Asking for support is part of the evidence.</a:t>
            </a:r>
          </a:p>
          <a:p xmlns:a="http://schemas.openxmlformats.org/drawingml/2006/main">
            <a:r>
              <a:t/>
            </a:r>
          </a:p>
          <a:p xmlns:a="http://schemas.openxmlformats.org/drawingml/2006/main">
            <a:r>
              <a:t>Support: Read one character card at a time. Offer two strength words, then ask pupils to point to the evidence. Scribe exactly what the pupil communicates. A fictional profile is a complete response.</a:t>
            </a:r>
          </a:p>
          <a:p xmlns:a="http://schemas.openxmlformats.org/drawingml/2006/main">
            <a:r>
              <a:t/>
            </a:r>
          </a:p>
          <a:p xmlns:a="http://schemas.openxmlformats.org/drawingml/2006/main">
            <a:r>
              <a:t>Stretch: Invite two valid interpretations of the same action and ask which is better supported. Evaluate whether the next step could be observed without judging confidence or personality.</a:t>
            </a:r>
          </a:p>
          <a:p xmlns:a="http://schemas.openxmlformats.org/drawingml/2006/main">
            <a:r>
              <a:t/>
            </a:r>
          </a:p>
          <a:p xmlns:a="http://schemas.openxmlformats.org/drawingml/2006/main">
            <a:r>
              <a:t>Safeguarding / safety: Avoid public strength rankings, compulsory partner compliments or retelling hurtful experiences. Keep any personal example private. For a disclosure, use the response protocol in Week 5 and the school safeguarding procedure.</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participation choices and private help route</a:t>
            </a:r>
          </a:p>
          <a:p xmlns:a="http://schemas.openxmlformats.org/drawingml/2006/main">
            <a:r>
              <a:t>5 min: Model Jay’s strength and evidence</a:t>
            </a:r>
          </a:p>
          <a:p xmlns:a="http://schemas.openxmlformats.org/drawingml/2006/main">
            <a:r>
              <a:t>6 min: Character strength sort</a:t>
            </a:r>
          </a:p>
          <a:p xmlns:a="http://schemas.openxmlformats.org/drawingml/2006/main">
            <a:r>
              <a:t>5 min: Useful feedback and safe response modelling</a:t>
            </a:r>
          </a:p>
          <a:p xmlns:a="http://schemas.openxmlformats.org/drawingml/2006/main">
            <a:r>
              <a:t>12 min: Three pupil tasks with chosen support</a:t>
            </a:r>
          </a:p>
          <a:p xmlns:a="http://schemas.openxmlformats.org/drawingml/2006/main">
            <a:r>
              <a:t>4 min: Discuss next steps using model answers</a:t>
            </a:r>
          </a:p>
          <a:p xmlns:a="http://schemas.openxmlformats.org/drawingml/2006/main">
            <a:r>
              <a:t>3 min: Access suggestion and exit check</a:t>
            </a:r>
          </a:p>
          <a:p xmlns:a="http://schemas.openxmlformats.org/drawingml/2006/main">
            <a:r>
              <a:t>2 min: Reset, collect work privately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Week_1_PSHE_Identifying_My_Strengths_(SA1) (1).pptx</a:t>
            </a:r>
          </a:p>
          <a:p xmlns:a="http://schemas.openxmlformats.org/drawingml/2006/main">
            <a:r>
              <a:t>Uploaded teaching source: Week_1_PSHE_Worksheet_My_Strengths_Profile_(SA1).docx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GROW_PSHE_W01 | Strengths with evidence</a:t>
            </a:r>
          </a:p>
          <a:p xmlns:a="http://schemas.openxmlformats.org/drawingml/2006/main">
            <a:r>
              <a:t>Identify strengths from evidence, recognise useful feedback and plan a small supported next step.</a:t>
            </a:r>
          </a:p>
          <a:p xmlns:a="http://schemas.openxmlformats.org/drawingml/2006/main">
            <a:r>
              <a:t/>
            </a:r>
          </a:p>
          <a:p xmlns:a="http://schemas.openxmlformats.org/drawingml/2006/main">
            <a:r>
              <a:t>Accept different defensible strengths. Challenge unsupported superlatives; do not rank pupils or imply effort guarantees success.</a:t>
            </a:r>
          </a:p>
          <a:p xmlns:a="http://schemas.openxmlformats.org/drawingml/2006/main">
            <a:r>
              <a:t/>
            </a:r>
          </a:p>
          <a:p xmlns:a="http://schemas.openxmlformats.org/drawingml/2006/main">
            <a:r>
              <a:t>Pupil prompt: Complete: “Jay showed ___ when ___.”</a:t>
            </a:r>
          </a:p>
          <a:p xmlns:a="http://schemas.openxmlformats.org/drawingml/2006/main">
            <a:r>
              <a:t/>
            </a:r>
          </a:p>
          <a:p xmlns:a="http://schemas.openxmlformats.org/drawingml/2006/main">
            <a:r>
              <a:t>Teacher answer / acceptable response: Jay showed problem solving when they changed the bridge base after checking a diagram.</a:t>
            </a:r>
          </a:p>
          <a:p xmlns:a="http://schemas.openxmlformats.org/drawingml/2006/main">
            <a:r>
              <a:t/>
            </a:r>
          </a:p>
          <a:p xmlns:a="http://schemas.openxmlformats.org/drawingml/2006/main">
            <a:r>
              <a:t>Support: Read one character card at a time. Offer two strength words, then ask pupils to point to the evidence. Scribe exactly what the pupil communicates. A fictional profile is a complete response.</a:t>
            </a:r>
          </a:p>
          <a:p xmlns:a="http://schemas.openxmlformats.org/drawingml/2006/main">
            <a:r>
              <a:t/>
            </a:r>
          </a:p>
          <a:p xmlns:a="http://schemas.openxmlformats.org/drawingml/2006/main">
            <a:r>
              <a:t>Stretch: Invite two valid interpretations of the same action and ask which is better supported. Evaluate whether the next step could be observed without judging confidence or personality.</a:t>
            </a:r>
          </a:p>
          <a:p xmlns:a="http://schemas.openxmlformats.org/drawingml/2006/main">
            <a:r>
              <a:t/>
            </a:r>
          </a:p>
          <a:p xmlns:a="http://schemas.openxmlformats.org/drawingml/2006/main">
            <a:r>
              <a:t>Safeguarding / safety: Avoid public strength rankings, compulsory partner compliments or retelling hurtful experiences. Keep any personal example private. For a disclosure, use the response protocol in Week 5 and the school safeguarding procedure.</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participation choices and private help route</a:t>
            </a:r>
          </a:p>
          <a:p xmlns:a="http://schemas.openxmlformats.org/drawingml/2006/main">
            <a:r>
              <a:t>5 min: Model Jay’s strength and evidence</a:t>
            </a:r>
          </a:p>
          <a:p xmlns:a="http://schemas.openxmlformats.org/drawingml/2006/main">
            <a:r>
              <a:t>6 min: Character strength sort</a:t>
            </a:r>
          </a:p>
          <a:p xmlns:a="http://schemas.openxmlformats.org/drawingml/2006/main">
            <a:r>
              <a:t>5 min: Useful feedback and safe response modelling</a:t>
            </a:r>
          </a:p>
          <a:p xmlns:a="http://schemas.openxmlformats.org/drawingml/2006/main">
            <a:r>
              <a:t>12 min: Three pupil tasks with chosen support</a:t>
            </a:r>
          </a:p>
          <a:p xmlns:a="http://schemas.openxmlformats.org/drawingml/2006/main">
            <a:r>
              <a:t>4 min: Discuss next steps using model answers</a:t>
            </a:r>
          </a:p>
          <a:p xmlns:a="http://schemas.openxmlformats.org/drawingml/2006/main">
            <a:r>
              <a:t>3 min: Access suggestion and exit check</a:t>
            </a:r>
          </a:p>
          <a:p xmlns:a="http://schemas.openxmlformats.org/drawingml/2006/main">
            <a:r>
              <a:t>2 min: Reset, collect work privately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Week_1_PSHE_Identifying_My_Strengths_(SA1) (1).pptx</a:t>
            </a:r>
          </a:p>
          <a:p xmlns:a="http://schemas.openxmlformats.org/drawingml/2006/main">
            <a:r>
              <a:t>Uploaded teaching source: Week_1_PSHE_Worksheet_My_Strengths_Profile_(SA1).docx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GROW_PSHE_W01 | Strengths with evidence</a:t>
            </a:r>
          </a:p>
          <a:p xmlns:a="http://schemas.openxmlformats.org/drawingml/2006/main">
            <a:r>
              <a:t>Identify strengths from evidence, recognise useful feedback and plan a small supported next step.</a:t>
            </a:r>
          </a:p>
          <a:p xmlns:a="http://schemas.openxmlformats.org/drawingml/2006/main">
            <a:r>
              <a:t/>
            </a:r>
          </a:p>
          <a:p xmlns:a="http://schemas.openxmlformats.org/drawingml/2006/main">
            <a:r>
              <a:t>Accept different defensible strengths. Challenge unsupported superlatives; do not rank pupils or imply effort guarantees success.</a:t>
            </a:r>
          </a:p>
          <a:p xmlns:a="http://schemas.openxmlformats.org/drawingml/2006/main">
            <a:r>
              <a:t/>
            </a:r>
          </a:p>
          <a:p xmlns:a="http://schemas.openxmlformats.org/drawingml/2006/main">
            <a:r>
              <a:t>Pupil prompt: Complete: “Jay showed ___ when ___.”</a:t>
            </a:r>
          </a:p>
          <a:p xmlns:a="http://schemas.openxmlformats.org/drawingml/2006/main">
            <a:r>
              <a:t/>
            </a:r>
          </a:p>
          <a:p xmlns:a="http://schemas.openxmlformats.org/drawingml/2006/main">
            <a:r>
              <a:t>Teacher answer / acceptable response: Jay showed problem solving when they changed the bridge base after checking a diagram.</a:t>
            </a:r>
          </a:p>
          <a:p xmlns:a="http://schemas.openxmlformats.org/drawingml/2006/main">
            <a:r>
              <a:t/>
            </a:r>
          </a:p>
          <a:p xmlns:a="http://schemas.openxmlformats.org/drawingml/2006/main">
            <a:r>
              <a:t>Support: Read one character card at a time. Offer two strength words, then ask pupils to point to the evidence. Scribe exactly what the pupil communicates. A fictional profile is a complete response.</a:t>
            </a:r>
          </a:p>
          <a:p xmlns:a="http://schemas.openxmlformats.org/drawingml/2006/main">
            <a:r>
              <a:t/>
            </a:r>
          </a:p>
          <a:p xmlns:a="http://schemas.openxmlformats.org/drawingml/2006/main">
            <a:r>
              <a:t>Stretch: Invite two valid interpretations of the same action and ask which is better supported. Evaluate whether the next step could be observed without judging confidence or personality.</a:t>
            </a:r>
          </a:p>
          <a:p xmlns:a="http://schemas.openxmlformats.org/drawingml/2006/main">
            <a:r>
              <a:t/>
            </a:r>
          </a:p>
          <a:p xmlns:a="http://schemas.openxmlformats.org/drawingml/2006/main">
            <a:r>
              <a:t>Safeguarding / safety: Avoid public strength rankings, compulsory partner compliments or retelling hurtful experiences. Keep any personal example private. For a disclosure, use the response protocol in Week 5 and the school safeguarding procedure.</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participation choices and private help route</a:t>
            </a:r>
          </a:p>
          <a:p xmlns:a="http://schemas.openxmlformats.org/drawingml/2006/main">
            <a:r>
              <a:t>5 min: Model Jay’s strength and evidence</a:t>
            </a:r>
          </a:p>
          <a:p xmlns:a="http://schemas.openxmlformats.org/drawingml/2006/main">
            <a:r>
              <a:t>6 min: Character strength sort</a:t>
            </a:r>
          </a:p>
          <a:p xmlns:a="http://schemas.openxmlformats.org/drawingml/2006/main">
            <a:r>
              <a:t>5 min: Useful feedback and safe response modelling</a:t>
            </a:r>
          </a:p>
          <a:p xmlns:a="http://schemas.openxmlformats.org/drawingml/2006/main">
            <a:r>
              <a:t>12 min: Three pupil tasks with chosen support</a:t>
            </a:r>
          </a:p>
          <a:p xmlns:a="http://schemas.openxmlformats.org/drawingml/2006/main">
            <a:r>
              <a:t>4 min: Discuss next steps using model answers</a:t>
            </a:r>
          </a:p>
          <a:p xmlns:a="http://schemas.openxmlformats.org/drawingml/2006/main">
            <a:r>
              <a:t>3 min: Access suggestion and exit check</a:t>
            </a:r>
          </a:p>
          <a:p xmlns:a="http://schemas.openxmlformats.org/drawingml/2006/main">
            <a:r>
              <a:t>2 min: Reset, collect work privately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Week_1_PSHE_Identifying_My_Strengths_(SA1) (1).pptx</a:t>
            </a:r>
          </a:p>
          <a:p xmlns:a="http://schemas.openxmlformats.org/drawingml/2006/main">
            <a:r>
              <a:t>Uploaded teaching source: Week_1_PSHE_Worksheet_My_Strengths_Profile_(SA1).docx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GROW_PSHE_W01 | Strengths with evidence</a:t>
            </a:r>
          </a:p>
          <a:p xmlns:a="http://schemas.openxmlformats.org/drawingml/2006/main">
            <a:r>
              <a:t>Identify strengths from evidence, recognise useful feedback and plan a small supported next step.</a:t>
            </a:r>
          </a:p>
          <a:p xmlns:a="http://schemas.openxmlformats.org/drawingml/2006/main">
            <a:r>
              <a:t/>
            </a:r>
          </a:p>
          <a:p xmlns:a="http://schemas.openxmlformats.org/drawingml/2006/main">
            <a:r>
              <a:t>Use resource cards A–C. Invite one alternative interpretation to show that a person can have more than one strength.</a:t>
            </a:r>
          </a:p>
          <a:p xmlns:a="http://schemas.openxmlformats.org/drawingml/2006/main">
            <a:r>
              <a:t/>
            </a:r>
          </a:p>
          <a:p xmlns:a="http://schemas.openxmlformats.org/drawingml/2006/main">
            <a:r>
              <a:t>Pupil prompt: Match each action to a strength. Give a reason.</a:t>
            </a:r>
          </a:p>
          <a:p xmlns:a="http://schemas.openxmlformats.org/drawingml/2006/main">
            <a:r>
              <a:t/>
            </a:r>
          </a:p>
          <a:p xmlns:a="http://schemas.openxmlformats.org/drawingml/2006/main">
            <a:r>
              <a:t>Teacher answer / acceptable response: Mina: checking carefully or help-seeking. Eli: listening or creativity. Rob: responsibility. Other evidence-based matches are valid.</a:t>
            </a:r>
          </a:p>
          <a:p xmlns:a="http://schemas.openxmlformats.org/drawingml/2006/main">
            <a:r>
              <a:t/>
            </a:r>
          </a:p>
          <a:p xmlns:a="http://schemas.openxmlformats.org/drawingml/2006/main">
            <a:r>
              <a:t>Support: Read one character card at a time. Offer two strength words, then ask pupils to point to the evidence. Scribe exactly what the pupil communicates. A fictional profile is a complete response.</a:t>
            </a:r>
          </a:p>
          <a:p xmlns:a="http://schemas.openxmlformats.org/drawingml/2006/main">
            <a:r>
              <a:t/>
            </a:r>
          </a:p>
          <a:p xmlns:a="http://schemas.openxmlformats.org/drawingml/2006/main">
            <a:r>
              <a:t>Stretch: Invite two valid interpretations of the same action and ask which is better supported. Evaluate whether the next step could be observed without judging confidence or personality.</a:t>
            </a:r>
          </a:p>
          <a:p xmlns:a="http://schemas.openxmlformats.org/drawingml/2006/main">
            <a:r>
              <a:t/>
            </a:r>
          </a:p>
          <a:p xmlns:a="http://schemas.openxmlformats.org/drawingml/2006/main">
            <a:r>
              <a:t>Safeguarding / safety: Avoid public strength rankings, compulsory partner compliments or retelling hurtful experiences. Keep any personal example private. For a disclosure, use the response protocol in Week 5 and the school safeguarding procedure.</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participation choices and private help route</a:t>
            </a:r>
          </a:p>
          <a:p xmlns:a="http://schemas.openxmlformats.org/drawingml/2006/main">
            <a:r>
              <a:t>5 min: Model Jay’s strength and evidence</a:t>
            </a:r>
          </a:p>
          <a:p xmlns:a="http://schemas.openxmlformats.org/drawingml/2006/main">
            <a:r>
              <a:t>6 min: Character strength sort</a:t>
            </a:r>
          </a:p>
          <a:p xmlns:a="http://schemas.openxmlformats.org/drawingml/2006/main">
            <a:r>
              <a:t>5 min: Useful feedback and safe response modelling</a:t>
            </a:r>
          </a:p>
          <a:p xmlns:a="http://schemas.openxmlformats.org/drawingml/2006/main">
            <a:r>
              <a:t>12 min: Three pupil tasks with chosen support</a:t>
            </a:r>
          </a:p>
          <a:p xmlns:a="http://schemas.openxmlformats.org/drawingml/2006/main">
            <a:r>
              <a:t>4 min: Discuss next steps using model answers</a:t>
            </a:r>
          </a:p>
          <a:p xmlns:a="http://schemas.openxmlformats.org/drawingml/2006/main">
            <a:r>
              <a:t>3 min: Access suggestion and exit check</a:t>
            </a:r>
          </a:p>
          <a:p xmlns:a="http://schemas.openxmlformats.org/drawingml/2006/main">
            <a:r>
              <a:t>2 min: Reset, collect work privately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Week_1_PSHE_Identifying_My_Strengths_(SA1) (1).pptx</a:t>
            </a:r>
          </a:p>
          <a:p xmlns:a="http://schemas.openxmlformats.org/drawingml/2006/main">
            <a:r>
              <a:t>Uploaded teaching source: Week_1_PSHE_Worksheet_My_Strengths_Profile_(SA1).docx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GROW_PSHE_W01 | Strengths with evidence</a:t>
            </a:r>
          </a:p>
          <a:p xmlns:a="http://schemas.openxmlformats.org/drawingml/2006/main">
            <a:r>
              <a:t>Identify strengths from evidence, recognise useful feedback and plan a small supported next step.</a:t>
            </a:r>
          </a:p>
          <a:p xmlns:a="http://schemas.openxmlformats.org/drawingml/2006/main">
            <a:r>
              <a:t/>
            </a:r>
          </a:p>
          <a:p xmlns:a="http://schemas.openxmlformats.org/drawingml/2006/main">
            <a:r>
              <a:t>Do not ask pupils to repeat insults at someone or explain real bullying. Feedback can still feel uncomfortable; discuss wording and choice.</a:t>
            </a:r>
          </a:p>
          <a:p xmlns:a="http://schemas.openxmlformats.org/drawingml/2006/main">
            <a:r>
              <a:t/>
            </a:r>
          </a:p>
          <a:p xmlns:a="http://schemas.openxmlformats.org/drawingml/2006/main">
            <a:r>
              <a:t>Pupil prompt: Which comments could help? What could the person do about B?</a:t>
            </a:r>
          </a:p>
          <a:p xmlns:a="http://schemas.openxmlformats.org/drawingml/2006/main">
            <a:r>
              <a:t/>
            </a:r>
          </a:p>
          <a:p xmlns:a="http://schemas.openxmlformats.org/drawingml/2006/main">
            <a:r>
              <a:t>Teacher answer / acceptable response: A offers a specific improvement; C offers optional support. B is a hurtful judgement. The person can step away and ask an adult for help.</a:t>
            </a:r>
          </a:p>
          <a:p xmlns:a="http://schemas.openxmlformats.org/drawingml/2006/main">
            <a:r>
              <a:t/>
            </a:r>
          </a:p>
          <a:p xmlns:a="http://schemas.openxmlformats.org/drawingml/2006/main">
            <a:r>
              <a:t>Support: Read one character card at a time. Offer two strength words, then ask pupils to point to the evidence. Scribe exactly what the pupil communicates. A fictional profile is a complete response.</a:t>
            </a:r>
          </a:p>
          <a:p xmlns:a="http://schemas.openxmlformats.org/drawingml/2006/main">
            <a:r>
              <a:t/>
            </a:r>
          </a:p>
          <a:p xmlns:a="http://schemas.openxmlformats.org/drawingml/2006/main">
            <a:r>
              <a:t>Stretch: Invite two valid interpretations of the same action and ask which is better supported. Evaluate whether the next step could be observed without judging confidence or personality.</a:t>
            </a:r>
          </a:p>
          <a:p xmlns:a="http://schemas.openxmlformats.org/drawingml/2006/main">
            <a:r>
              <a:t/>
            </a:r>
          </a:p>
          <a:p xmlns:a="http://schemas.openxmlformats.org/drawingml/2006/main">
            <a:r>
              <a:t>Safeguarding / safety: Avoid public strength rankings, compulsory partner compliments or retelling hurtful experiences. Keep any personal example private. For a disclosure, use the response protocol in Week 5 and the school safeguarding procedure.</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participation choices and private help route</a:t>
            </a:r>
          </a:p>
          <a:p xmlns:a="http://schemas.openxmlformats.org/drawingml/2006/main">
            <a:r>
              <a:t>5 min: Model Jay’s strength and evidence</a:t>
            </a:r>
          </a:p>
          <a:p xmlns:a="http://schemas.openxmlformats.org/drawingml/2006/main">
            <a:r>
              <a:t>6 min: Character strength sort</a:t>
            </a:r>
          </a:p>
          <a:p xmlns:a="http://schemas.openxmlformats.org/drawingml/2006/main">
            <a:r>
              <a:t>5 min: Useful feedback and safe response modelling</a:t>
            </a:r>
          </a:p>
          <a:p xmlns:a="http://schemas.openxmlformats.org/drawingml/2006/main">
            <a:r>
              <a:t>12 min: Three pupil tasks with chosen support</a:t>
            </a:r>
          </a:p>
          <a:p xmlns:a="http://schemas.openxmlformats.org/drawingml/2006/main">
            <a:r>
              <a:t>4 min: Discuss next steps using model answers</a:t>
            </a:r>
          </a:p>
          <a:p xmlns:a="http://schemas.openxmlformats.org/drawingml/2006/main">
            <a:r>
              <a:t>3 min: Access suggestion and exit check</a:t>
            </a:r>
          </a:p>
          <a:p xmlns:a="http://schemas.openxmlformats.org/drawingml/2006/main">
            <a:r>
              <a:t>2 min: Reset, collect work privately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Week_1_PSHE_Identifying_My_Strengths_(SA1) (1).pptx</a:t>
            </a:r>
          </a:p>
          <a:p xmlns:a="http://schemas.openxmlformats.org/drawingml/2006/main">
            <a:r>
              <a:t>Uploaded teaching source: Week_1_PSHE_Worksheet_My_Strengths_Profile_(SA1).docx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GROW_PSHE_W01 | Strengths with evidence</a:t>
            </a:r>
          </a:p>
          <a:p xmlns:a="http://schemas.openxmlformats.org/drawingml/2006/main">
            <a:r>
              <a:t>Identify strengths from evidence, recognise useful feedback and plan a small supported next step.</a:t>
            </a:r>
          </a:p>
          <a:p xmlns:a="http://schemas.openxmlformats.org/drawingml/2006/main">
            <a:r>
              <a:t/>
            </a:r>
          </a:p>
          <a:p xmlns:a="http://schemas.openxmlformats.org/drawingml/2006/main">
            <a:r>
              <a:t>Model the process, not a perfect pupil. Ask what could be adjusted if the first step is still too large.</a:t>
            </a:r>
          </a:p>
          <a:p xmlns:a="http://schemas.openxmlformats.org/drawingml/2006/main">
            <a:r>
              <a:t/>
            </a:r>
          </a:p>
          <a:p xmlns:a="http://schemas.openxmlformats.org/drawingml/2006/main">
            <a:r>
              <a:t>Pupil prompt: Why is this more useful than “be better at everything”?</a:t>
            </a:r>
          </a:p>
          <a:p xmlns:a="http://schemas.openxmlformats.org/drawingml/2006/main">
            <a:r>
              <a:t/>
            </a:r>
          </a:p>
          <a:p xmlns:a="http://schemas.openxmlformats.org/drawingml/2006/main">
            <a:r>
              <a:t>Teacher answer / acceptable response: It names one doable action, a useful support and something to check.</a:t>
            </a:r>
          </a:p>
          <a:p xmlns:a="http://schemas.openxmlformats.org/drawingml/2006/main">
            <a:r>
              <a:t/>
            </a:r>
          </a:p>
          <a:p xmlns:a="http://schemas.openxmlformats.org/drawingml/2006/main">
            <a:r>
              <a:t>Support: Read one character card at a time. Offer two strength words, then ask pupils to point to the evidence. Scribe exactly what the pupil communicates. A fictional profile is a complete response.</a:t>
            </a:r>
          </a:p>
          <a:p xmlns:a="http://schemas.openxmlformats.org/drawingml/2006/main">
            <a:r>
              <a:t/>
            </a:r>
          </a:p>
          <a:p xmlns:a="http://schemas.openxmlformats.org/drawingml/2006/main">
            <a:r>
              <a:t>Stretch: Invite two valid interpretations of the same action and ask which is better supported. Evaluate whether the next step could be observed without judging confidence or personality.</a:t>
            </a:r>
          </a:p>
          <a:p xmlns:a="http://schemas.openxmlformats.org/drawingml/2006/main">
            <a:r>
              <a:t/>
            </a:r>
          </a:p>
          <a:p xmlns:a="http://schemas.openxmlformats.org/drawingml/2006/main">
            <a:r>
              <a:t>Safeguarding / safety: Avoid public strength rankings, compulsory partner compliments or retelling hurtful experiences. Keep any personal example private. For a disclosure, use the response protocol in Week 5 and the school safeguarding procedure.</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participation choices and private help route</a:t>
            </a:r>
          </a:p>
          <a:p xmlns:a="http://schemas.openxmlformats.org/drawingml/2006/main">
            <a:r>
              <a:t>5 min: Model Jay’s strength and evidence</a:t>
            </a:r>
          </a:p>
          <a:p xmlns:a="http://schemas.openxmlformats.org/drawingml/2006/main">
            <a:r>
              <a:t>6 min: Character strength sort</a:t>
            </a:r>
          </a:p>
          <a:p xmlns:a="http://schemas.openxmlformats.org/drawingml/2006/main">
            <a:r>
              <a:t>5 min: Useful feedback and safe response modelling</a:t>
            </a:r>
          </a:p>
          <a:p xmlns:a="http://schemas.openxmlformats.org/drawingml/2006/main">
            <a:r>
              <a:t>12 min: Three pupil tasks with chosen support</a:t>
            </a:r>
          </a:p>
          <a:p xmlns:a="http://schemas.openxmlformats.org/drawingml/2006/main">
            <a:r>
              <a:t>4 min: Discuss next steps using model answers</a:t>
            </a:r>
          </a:p>
          <a:p xmlns:a="http://schemas.openxmlformats.org/drawingml/2006/main">
            <a:r>
              <a:t>3 min: Access suggestion and exit check</a:t>
            </a:r>
          </a:p>
          <a:p xmlns:a="http://schemas.openxmlformats.org/drawingml/2006/main">
            <a:r>
              <a:t>2 min: Reset, collect work privately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Week_1_PSHE_Identifying_My_Strengths_(SA1) (1).pptx</a:t>
            </a:r>
          </a:p>
          <a:p xmlns:a="http://schemas.openxmlformats.org/drawingml/2006/main">
            <a:r>
              <a:t>Uploaded teaching source: Week_1_PSHE_Worksheet_My_Strengths_Profile_(SA1).docx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GROW_PSHE_W01 | Strengths with evidence</a:t>
            </a:r>
          </a:p>
          <a:p xmlns:a="http://schemas.openxmlformats.org/drawingml/2006/main">
            <a:r>
              <a:t>Identify strengths from evidence, recognise useful feedback and plan a small supported next step.</a:t>
            </a:r>
          </a:p>
          <a:p xmlns:a="http://schemas.openxmlformats.org/drawingml/2006/main">
            <a:r>
              <a:t/>
            </a:r>
          </a:p>
          <a:p xmlns:a="http://schemas.openxmlformats.org/drawingml/2006/main">
            <a:r>
              <a:t>Supported: offer two strength words. Standard: explain the evidence. Stretch: compare two defensible strengths and choose useful feedback.</a:t>
            </a:r>
          </a:p>
          <a:p xmlns:a="http://schemas.openxmlformats.org/drawingml/2006/main">
            <a:r>
              <a:t/>
            </a:r>
          </a:p>
          <a:p xmlns:a="http://schemas.openxmlformats.org/drawingml/2006/main">
            <a:r>
              <a:t>Pupil prompt: Choose a response route and complete the three tasks.</a:t>
            </a:r>
          </a:p>
          <a:p xmlns:a="http://schemas.openxmlformats.org/drawingml/2006/main">
            <a:r>
              <a:t/>
            </a:r>
          </a:p>
          <a:p xmlns:a="http://schemas.openxmlformats.org/drawingml/2006/main">
            <a:r>
              <a:t>Teacher answer / acceptable response: A reason can be spoken, pointed out in the story, drawn or scribed; the quality of the idea matters.</a:t>
            </a:r>
          </a:p>
          <a:p xmlns:a="http://schemas.openxmlformats.org/drawingml/2006/main">
            <a:r>
              <a:t/>
            </a:r>
          </a:p>
          <a:p xmlns:a="http://schemas.openxmlformats.org/drawingml/2006/main">
            <a:r>
              <a:t>Support: Read one character card at a time. Offer two strength words, then ask pupils to point to the evidence. Scribe exactly what the pupil communicates. A fictional profile is a complete response.</a:t>
            </a:r>
          </a:p>
          <a:p xmlns:a="http://schemas.openxmlformats.org/drawingml/2006/main">
            <a:r>
              <a:t/>
            </a:r>
          </a:p>
          <a:p xmlns:a="http://schemas.openxmlformats.org/drawingml/2006/main">
            <a:r>
              <a:t>Stretch: Invite two valid interpretations of the same action and ask which is better supported. Evaluate whether the next step could be observed without judging confidence or personality.</a:t>
            </a:r>
          </a:p>
          <a:p xmlns:a="http://schemas.openxmlformats.org/drawingml/2006/main">
            <a:r>
              <a:t/>
            </a:r>
          </a:p>
          <a:p xmlns:a="http://schemas.openxmlformats.org/drawingml/2006/main">
            <a:r>
              <a:t>Safeguarding / safety: Avoid public strength rankings, compulsory partner compliments or retelling hurtful experiences. Keep any personal example private. For a disclosure, use the response protocol in Week 5 and the school safeguarding procedure.</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participation choices and private help route</a:t>
            </a:r>
          </a:p>
          <a:p xmlns:a="http://schemas.openxmlformats.org/drawingml/2006/main">
            <a:r>
              <a:t>5 min: Model Jay’s strength and evidence</a:t>
            </a:r>
          </a:p>
          <a:p xmlns:a="http://schemas.openxmlformats.org/drawingml/2006/main">
            <a:r>
              <a:t>6 min: Character strength sort</a:t>
            </a:r>
          </a:p>
          <a:p xmlns:a="http://schemas.openxmlformats.org/drawingml/2006/main">
            <a:r>
              <a:t>5 min: Useful feedback and safe response modelling</a:t>
            </a:r>
          </a:p>
          <a:p xmlns:a="http://schemas.openxmlformats.org/drawingml/2006/main">
            <a:r>
              <a:t>12 min: Three pupil tasks with chosen support</a:t>
            </a:r>
          </a:p>
          <a:p xmlns:a="http://schemas.openxmlformats.org/drawingml/2006/main">
            <a:r>
              <a:t>4 min: Discuss next steps using model answers</a:t>
            </a:r>
          </a:p>
          <a:p xmlns:a="http://schemas.openxmlformats.org/drawingml/2006/main">
            <a:r>
              <a:t>3 min: Access suggestion and exit check</a:t>
            </a:r>
          </a:p>
          <a:p xmlns:a="http://schemas.openxmlformats.org/drawingml/2006/main">
            <a:r>
              <a:t>2 min: Reset, collect work privately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Week_1_PSHE_Identifying_My_Strengths_(SA1) (1).pptx</a:t>
            </a:r>
          </a:p>
          <a:p xmlns:a="http://schemas.openxmlformats.org/drawingml/2006/main">
            <a:r>
              <a:t>Uploaded teaching source: Week_1_PSHE_Worksheet_My_Strengths_Profile_(SA1).docx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GROW_PSHE_W01 | Strengths with evidence</a:t>
            </a:r>
          </a:p>
          <a:p xmlns:a="http://schemas.openxmlformats.org/drawingml/2006/main">
            <a:r>
              <a:t>Identify strengths from evidence, recognise useful feedback and plan a small supported next step.</a:t>
            </a:r>
          </a:p>
          <a:p xmlns:a="http://schemas.openxmlformats.org/drawingml/2006/main">
            <a:r>
              <a:t/>
            </a:r>
          </a:p>
          <a:p xmlns:a="http://schemas.openxmlformats.org/drawingml/2006/main">
            <a:r>
              <a:t>Begin a real class decision record. Close the feedback loop next lesson; do not promise that every request will be granted. This prepares the later Lundy lesson.</a:t>
            </a:r>
          </a:p>
          <a:p xmlns:a="http://schemas.openxmlformats.org/drawingml/2006/main">
            <a:r>
              <a:t/>
            </a:r>
          </a:p>
          <a:p xmlns:a="http://schemas.openxmlformats.org/drawingml/2006/main">
            <a:r>
              <a:t>Pupil prompt: Which change could make the task more accessible?</a:t>
            </a:r>
          </a:p>
          <a:p xmlns:a="http://schemas.openxmlformats.org/drawingml/2006/main">
            <a:r>
              <a:t/>
            </a:r>
          </a:p>
          <a:p xmlns:a="http://schemas.openxmlformats.org/drawingml/2006/main">
            <a:r>
              <a:t>Teacher answer / acceptable response: For example: larger print may make it easier to find evidence. The teacher should report what can change and why.</a:t>
            </a:r>
          </a:p>
          <a:p xmlns:a="http://schemas.openxmlformats.org/drawingml/2006/main">
            <a:r>
              <a:t/>
            </a:r>
          </a:p>
          <a:p xmlns:a="http://schemas.openxmlformats.org/drawingml/2006/main">
            <a:r>
              <a:t>Support: Read one character card at a time. Offer two strength words, then ask pupils to point to the evidence. Scribe exactly what the pupil communicates. A fictional profile is a complete response.</a:t>
            </a:r>
          </a:p>
          <a:p xmlns:a="http://schemas.openxmlformats.org/drawingml/2006/main">
            <a:r>
              <a:t/>
            </a:r>
          </a:p>
          <a:p xmlns:a="http://schemas.openxmlformats.org/drawingml/2006/main">
            <a:r>
              <a:t>Stretch: Invite two valid interpretations of the same action and ask which is better supported. Evaluate whether the next step could be observed without judging confidence or personality.</a:t>
            </a:r>
          </a:p>
          <a:p xmlns:a="http://schemas.openxmlformats.org/drawingml/2006/main">
            <a:r>
              <a:t/>
            </a:r>
          </a:p>
          <a:p xmlns:a="http://schemas.openxmlformats.org/drawingml/2006/main">
            <a:r>
              <a:t>Safeguarding / safety: Avoid public strength rankings, compulsory partner compliments or retelling hurtful experiences. Keep any personal example private. For a disclosure, use the response protocol in Week 5 and the school safeguarding procedure.</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participation choices and private help route</a:t>
            </a:r>
          </a:p>
          <a:p xmlns:a="http://schemas.openxmlformats.org/drawingml/2006/main">
            <a:r>
              <a:t>5 min: Model Jay’s strength and evidence</a:t>
            </a:r>
          </a:p>
          <a:p xmlns:a="http://schemas.openxmlformats.org/drawingml/2006/main">
            <a:r>
              <a:t>6 min: Character strength sort</a:t>
            </a:r>
          </a:p>
          <a:p xmlns:a="http://schemas.openxmlformats.org/drawingml/2006/main">
            <a:r>
              <a:t>5 min: Useful feedback and safe response modelling</a:t>
            </a:r>
          </a:p>
          <a:p xmlns:a="http://schemas.openxmlformats.org/drawingml/2006/main">
            <a:r>
              <a:t>12 min: Three pupil tasks with chosen support</a:t>
            </a:r>
          </a:p>
          <a:p xmlns:a="http://schemas.openxmlformats.org/drawingml/2006/main">
            <a:r>
              <a:t>4 min: Discuss next steps using model answers</a:t>
            </a:r>
          </a:p>
          <a:p xmlns:a="http://schemas.openxmlformats.org/drawingml/2006/main">
            <a:r>
              <a:t>3 min: Access suggestion and exit check</a:t>
            </a:r>
          </a:p>
          <a:p xmlns:a="http://schemas.openxmlformats.org/drawingml/2006/main">
            <a:r>
              <a:t>2 min: Reset, collect work privately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Week_1_PSHE_Identifying_My_Strengths_(SA1) (1).pptx</a:t>
            </a:r>
          </a:p>
          <a:p xmlns:a="http://schemas.openxmlformats.org/drawingml/2006/main">
            <a:r>
              <a:t>Uploaded teaching source: Week_1_PSHE_Worksheet_My_Strengths_Profile_(SA1).docx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GROW_PSHE_W01 | Strengths with evidence</a:t>
            </a:r>
          </a:p>
          <a:p xmlns:a="http://schemas.openxmlformats.org/drawingml/2006/main">
            <a:r>
              <a:t>Identify strengths from evidence, recognise useful feedback and plan a small supported next step.</a:t>
            </a:r>
          </a:p>
          <a:p xmlns:a="http://schemas.openxmlformats.org/drawingml/2006/main">
            <a:r>
              <a:t/>
            </a:r>
          </a:p>
          <a:p xmlns:a="http://schemas.openxmlformats.org/drawingml/2006/main">
            <a:r>
              <a:t>Assess evidence and reasoning, not pupils’ willingness to praise themselves. End with a neutral reset and remind pupils of the private help route.</a:t>
            </a:r>
          </a:p>
          <a:p xmlns:a="http://schemas.openxmlformats.org/drawingml/2006/main">
            <a:r>
              <a:t/>
            </a:r>
          </a:p>
          <a:p xmlns:a="http://schemas.openxmlformats.org/drawingml/2006/main">
            <a:r>
              <a:t>Pupil prompt: What would you say, using evidence?</a:t>
            </a:r>
          </a:p>
          <a:p xmlns:a="http://schemas.openxmlformats.org/drawingml/2006/main">
            <a:r>
              <a:t/>
            </a:r>
          </a:p>
          <a:p xmlns:a="http://schemas.openxmlformats.org/drawingml/2006/main">
            <a:r>
              <a:t>Teacher answer / acceptable response: It counts. You used a diagram, asked for help and changed the base. Those actions show learning; your next step can still use support.</a:t>
            </a:r>
          </a:p>
          <a:p xmlns:a="http://schemas.openxmlformats.org/drawingml/2006/main">
            <a:r>
              <a:t/>
            </a:r>
          </a:p>
          <a:p xmlns:a="http://schemas.openxmlformats.org/drawingml/2006/main">
            <a:r>
              <a:t>Support: Read one character card at a time. Offer two strength words, then ask pupils to point to the evidence. Scribe exactly what the pupil communicates. A fictional profile is a complete response.</a:t>
            </a:r>
          </a:p>
          <a:p xmlns:a="http://schemas.openxmlformats.org/drawingml/2006/main">
            <a:r>
              <a:t/>
            </a:r>
          </a:p>
          <a:p xmlns:a="http://schemas.openxmlformats.org/drawingml/2006/main">
            <a:r>
              <a:t>Stretch: Invite two valid interpretations of the same action and ask which is better supported. Evaluate whether the next step could be observed without judging confidence or personality.</a:t>
            </a:r>
          </a:p>
          <a:p xmlns:a="http://schemas.openxmlformats.org/drawingml/2006/main">
            <a:r>
              <a:t/>
            </a:r>
          </a:p>
          <a:p xmlns:a="http://schemas.openxmlformats.org/drawingml/2006/main">
            <a:r>
              <a:t>Safeguarding / safety: Avoid public strength rankings, compulsory partner compliments or retelling hurtful experiences. Keep any personal example private. For a disclosure, use the response protocol in Week 5 and the school safeguarding procedure.</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participation choices and private help route</a:t>
            </a:r>
          </a:p>
          <a:p xmlns:a="http://schemas.openxmlformats.org/drawingml/2006/main">
            <a:r>
              <a:t>5 min: Model Jay’s strength and evidence</a:t>
            </a:r>
          </a:p>
          <a:p xmlns:a="http://schemas.openxmlformats.org/drawingml/2006/main">
            <a:r>
              <a:t>6 min: Character strength sort</a:t>
            </a:r>
          </a:p>
          <a:p xmlns:a="http://schemas.openxmlformats.org/drawingml/2006/main">
            <a:r>
              <a:t>5 min: Useful feedback and safe response modelling</a:t>
            </a:r>
          </a:p>
          <a:p xmlns:a="http://schemas.openxmlformats.org/drawingml/2006/main">
            <a:r>
              <a:t>12 min: Three pupil tasks with chosen support</a:t>
            </a:r>
          </a:p>
          <a:p xmlns:a="http://schemas.openxmlformats.org/drawingml/2006/main">
            <a:r>
              <a:t>4 min: Discuss next steps using model answers</a:t>
            </a:r>
          </a:p>
          <a:p xmlns:a="http://schemas.openxmlformats.org/drawingml/2006/main">
            <a:r>
              <a:t>3 min: Access suggestion and exit check</a:t>
            </a:r>
          </a:p>
          <a:p xmlns:a="http://schemas.openxmlformats.org/drawingml/2006/main">
            <a:r>
              <a:t>2 min: Reset, collect work privately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Week_1_PSHE_Identifying_My_Strengths_(SA1) (1).pptx</a:t>
            </a:r>
          </a:p>
          <a:p xmlns:a="http://schemas.openxmlformats.org/drawingml/2006/main">
            <a:r>
              <a:t>Uploaded teaching source: Week_1_PSHE_Worksheet_My_Strengths_Profile_(SA1).docx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59e86804d92478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7c7746c90294c37" /><Relationship Type="http://schemas.openxmlformats.org/officeDocument/2006/relationships/slideLayout" Target="/ppt/slideLayouts/slideLayout1.xml" Id="R487e5b93a943451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87e5b93a943451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110192b4bd943a9" /><Relationship Type="http://schemas.openxmlformats.org/officeDocument/2006/relationships/image" Target="/ppt/media/image.jpeg" Id="R7be5d72b9a164e92" /><Relationship Type="http://schemas.openxmlformats.org/officeDocument/2006/relationships/notesSlide" Target="/ppt/notesSlides/notesSlide1.xml" Id="R63bde560e6bb4c4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42619eb159f4485" /><Relationship Type="http://schemas.openxmlformats.org/officeDocument/2006/relationships/image" Target="/ppt/media/image.jpeg" Id="Rf80812d2584d4bc3" /><Relationship Type="http://schemas.openxmlformats.org/officeDocument/2006/relationships/notesSlide" Target="/ppt/notesSlides/notesSlide2.xml" Id="Re70e508eed62491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c5c2dd2eb4e4c23" /><Relationship Type="http://schemas.openxmlformats.org/officeDocument/2006/relationships/image" Target="/ppt/media/image.jpeg" Id="R44d915935ae04496" /><Relationship Type="http://schemas.openxmlformats.org/officeDocument/2006/relationships/notesSlide" Target="/ppt/notesSlides/notesSlide3.xml" Id="Re7fafd3cc594442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4409260d1594772" /><Relationship Type="http://schemas.openxmlformats.org/officeDocument/2006/relationships/image" Target="/ppt/media/image.jpeg" Id="R250cbca8353b41fe" /><Relationship Type="http://schemas.openxmlformats.org/officeDocument/2006/relationships/notesSlide" Target="/ppt/notesSlides/notesSlide4.xml" Id="Ra64b554fff1d4cd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72e5370ebe94b44" /><Relationship Type="http://schemas.openxmlformats.org/officeDocument/2006/relationships/image" Target="/ppt/media/image.jpeg" Id="R64f0a0bd995a4a21" /><Relationship Type="http://schemas.openxmlformats.org/officeDocument/2006/relationships/notesSlide" Target="/ppt/notesSlides/notesSlide5.xml" Id="R44dd47fd036e442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3057d4ce99c4201" /><Relationship Type="http://schemas.openxmlformats.org/officeDocument/2006/relationships/image" Target="/ppt/media/image.jpeg" Id="R0e1b74ffa21a44b7" /><Relationship Type="http://schemas.openxmlformats.org/officeDocument/2006/relationships/notesSlide" Target="/ppt/notesSlides/notesSlide6.xml" Id="R0971f6864788499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e064de9f24a4a61" /><Relationship Type="http://schemas.openxmlformats.org/officeDocument/2006/relationships/image" Target="/ppt/media/image.jpeg" Id="Rbef4537c9baf4d01" /><Relationship Type="http://schemas.openxmlformats.org/officeDocument/2006/relationships/notesSlide" Target="/ppt/notesSlides/notesSlide7.xml" Id="Rb9c8eb90844c4b4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61f83ef1a134e8e" /><Relationship Type="http://schemas.openxmlformats.org/officeDocument/2006/relationships/image" Target="/ppt/media/image.jpeg" Id="Rd2d4ac0f715d45ea" /><Relationship Type="http://schemas.openxmlformats.org/officeDocument/2006/relationships/notesSlide" Target="/ppt/notesSlides/notesSlide8.xml" Id="R2cc0c55f5720464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55d911353d1404b" /><Relationship Type="http://schemas.openxmlformats.org/officeDocument/2006/relationships/image" Target="/ppt/media/image.jpeg" Id="R7de4870c5b0d48d5" /><Relationship Type="http://schemas.openxmlformats.org/officeDocument/2006/relationships/notesSlide" Target="/ppt/notesSlides/notesSlide9.xml" Id="R4ee1b4c2edb7436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7541513c4f24d15" /><Relationship Type="http://schemas.openxmlformats.org/officeDocument/2006/relationships/image" Target="/ppt/media/image.jpeg" Id="Rb97376b073bd4977" /><Relationship Type="http://schemas.openxmlformats.org/officeDocument/2006/relationships/notesSlide" Target="/ppt/notesSlides/notesSlide10.xml" Id="R6c97e537508141e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4b0b495506241b8" /><Relationship Type="http://schemas.openxmlformats.org/officeDocument/2006/relationships/image" Target="/ppt/media/image.jpeg" Id="R73b7db9350d3410b" /><Relationship Type="http://schemas.openxmlformats.org/officeDocument/2006/relationships/notesSlide" Target="/ppt/notesSlides/notesSlide11.xml" Id="R13cf97a1d4d74b8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b65b331f3e04967" /><Relationship Type="http://schemas.openxmlformats.org/officeDocument/2006/relationships/image" Target="/ppt/media/image.jpeg" Id="R4619960743724515" /><Relationship Type="http://schemas.openxmlformats.org/officeDocument/2006/relationships/notesSlide" Target="/ppt/notesSlides/notesSlide12.xml" Id="Rbde51ecd4b1042a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adfd3f9095b4b18" /><Relationship Type="http://schemas.openxmlformats.org/officeDocument/2006/relationships/image" Target="/ppt/media/image.jpeg" Id="R579e2a3f7aa347b3" /><Relationship Type="http://schemas.openxmlformats.org/officeDocument/2006/relationships/notesSlide" Target="/ppt/notesSlides/notesSlide13.xml" Id="R72b4094c7cf6407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7284e5c387c440c" /><Relationship Type="http://schemas.openxmlformats.org/officeDocument/2006/relationships/image" Target="/ppt/media/image.jpeg" Id="R775e95445ba74bbb" /><Relationship Type="http://schemas.openxmlformats.org/officeDocument/2006/relationships/notesSlide" Target="/ppt/notesSlides/notesSlide14.xml" Id="Rb4c0c5573c1940f3" /></Relationships>
</file>

<file path=ppt/slides/slide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FF33059C-D699-406A-B441-19C747C68274}"/>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6C60FD3-6A44-40DE-AE21-A30370FB7058}"/>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be5d72b9a164e92"/>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9A60821E-20B2-471A-8BB3-FAA5062856A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Strengths with evidence</a:t>
            </a:r>
          </a:p>
        </p:txBody>
      </p:sp>
      <p:sp>
        <p:nvSpPr>
          <p:cNvPr id="5" name="footer-line">
            <a:extLst xmlns:a="http://schemas.openxmlformats.org/drawingml/2006/main">
              <a:ext uri="{FF2B5EF4-FFF2-40B4-BE49-F238E27FC236}">
                <a16:creationId xmlns:a16="http://schemas.microsoft.com/office/drawing/2014/main" id="{7ECBDB34-6F42-48B3-A8D8-B23549269A3B}"/>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57A55C73-0775-456F-A670-A41D2D64087D}"/>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PSHE</a:t>
            </a:r>
          </a:p>
        </p:txBody>
      </p:sp>
      <p:sp>
        <p:nvSpPr>
          <p:cNvPr id="7" name="page">
            <a:extLst xmlns:a="http://schemas.openxmlformats.org/drawingml/2006/main">
              <a:ext uri="{FF2B5EF4-FFF2-40B4-BE49-F238E27FC236}">
                <a16:creationId xmlns:a16="http://schemas.microsoft.com/office/drawing/2014/main" id="{E496F9D1-14A9-495E-90A4-CC647BFFA0E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01</a:t>
            </a:r>
          </a:p>
        </p:txBody>
      </p:sp>
      <p:sp>
        <p:nvSpPr>
          <p:cNvPr id="8" name="line-0">
            <a:extLst xmlns:a="http://schemas.openxmlformats.org/drawingml/2006/main">
              <a:ext uri="{FF2B5EF4-FFF2-40B4-BE49-F238E27FC236}">
                <a16:creationId xmlns:a16="http://schemas.microsoft.com/office/drawing/2014/main" id="{1904CE6B-201C-449D-A2D1-41ABF2A6C99E}"/>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Today: notice strengths, use evidence and plan one small step.</a:t>
            </a:r>
          </a:p>
        </p:txBody>
      </p:sp>
      <p:sp>
        <p:nvSpPr>
          <p:cNvPr id="9" name="line-1">
            <a:extLst xmlns:a="http://schemas.openxmlformats.org/drawingml/2006/main">
              <a:ext uri="{FF2B5EF4-FFF2-40B4-BE49-F238E27FC236}">
                <a16:creationId xmlns:a16="http://schemas.microsoft.com/office/drawing/2014/main" id="{19B1D911-7359-424D-8EA3-D4E122CC64B2}"/>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Use the fictional characters or a private example of your own.</a:t>
            </a:r>
          </a:p>
        </p:txBody>
      </p:sp>
      <p:sp>
        <p:nvSpPr>
          <p:cNvPr id="10" name="line-2">
            <a:extLst xmlns:a="http://schemas.openxmlformats.org/drawingml/2006/main">
              <a:ext uri="{FF2B5EF4-FFF2-40B4-BE49-F238E27FC236}">
                <a16:creationId xmlns:a16="http://schemas.microsoft.com/office/drawing/2014/main" id="{83C46BCB-BF61-4D42-8073-2594DB100C43}"/>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What could someone be good at that is hard to see?</a:t>
            </a:r>
          </a:p>
        </p:txBody>
      </p:sp>
    </p:spTree>
    <p:extLst>
      <p:ext uri="{BB962C8B-B14F-4D97-AF65-F5344CB8AC3E}">
        <p14:creationId xmlns:p14="http://schemas.microsoft.com/office/powerpoint/2010/main" val="899261069"/>
      </p:ext>
    </p:extLst>
  </p:cSld>
</p:sld>
</file>

<file path=ppt/slides/slide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E7DE0724-EA72-4F4B-B4C5-B08681026672}"/>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02C8DF0-0717-4986-97B7-E014DEBCFFC6}"/>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f80812d2584d4bc3"/>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59E6C87B-5402-4355-B222-E838F90EC54F}"/>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Words that help</a:t>
            </a:r>
          </a:p>
        </p:txBody>
      </p:sp>
      <p:sp>
        <p:nvSpPr>
          <p:cNvPr id="5" name="footer-line">
            <a:extLst xmlns:a="http://schemas.openxmlformats.org/drawingml/2006/main">
              <a:ext uri="{FF2B5EF4-FFF2-40B4-BE49-F238E27FC236}">
                <a16:creationId xmlns:a16="http://schemas.microsoft.com/office/drawing/2014/main" id="{FEB7DC22-E996-4F55-8E5D-48916DEA8513}"/>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B0248D2E-0CDA-4C72-92DC-B76196CC251C}"/>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PSHE</a:t>
            </a:r>
          </a:p>
        </p:txBody>
      </p:sp>
      <p:sp>
        <p:nvSpPr>
          <p:cNvPr id="7" name="page">
            <a:extLst xmlns:a="http://schemas.openxmlformats.org/drawingml/2006/main">
              <a:ext uri="{FF2B5EF4-FFF2-40B4-BE49-F238E27FC236}">
                <a16:creationId xmlns:a16="http://schemas.microsoft.com/office/drawing/2014/main" id="{4D3A6E0D-EE9E-4262-B0CE-A580D9BE95DE}"/>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02</a:t>
            </a:r>
          </a:p>
        </p:txBody>
      </p:sp>
      <p:sp>
        <p:nvSpPr>
          <p:cNvPr id="8" name="left-heading">
            <a:extLst xmlns:a="http://schemas.openxmlformats.org/drawingml/2006/main">
              <a:ext uri="{FF2B5EF4-FFF2-40B4-BE49-F238E27FC236}">
                <a16:creationId xmlns:a16="http://schemas.microsoft.com/office/drawing/2014/main" id="{237F6565-5B9A-4055-8435-0E500C21780C}"/>
              </a:ext>
            </a:extLst>
          </p:cNvPr>
          <p:cNvSpPr>
            <a:spLocks xmlns:a="http://schemas.openxmlformats.org/drawingml/2006/main" noGrp="1"/>
          </p:cNvSpPr>
          <p:nvPr/>
        </p:nvSpPr>
        <p:spPr>
          <a:xfrm xmlns:a="http://schemas.openxmlformats.org/drawingml/2006/main">
            <a:off x="609600" y="2257425"/>
            <a:ext cx="5143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28685E"/>
                </a:solidFill>
                <a:latin typeface="Arial"/>
                <a:ea typeface="Arial"/>
                <a:cs typeface="Arial"/>
              </a:defRPr>
            </a:pPr>
            <a:r>
              <a:rPr sz="2100" b="1">
                <a:solidFill>
                  <a:srgbClr val="28685E"/>
                </a:solidFill>
                <a:latin typeface="Arial"/>
                <a:ea typeface="Arial"/>
                <a:cs typeface="Arial"/>
              </a:rPr>
              <a:t>STRENGTH</a:t>
            </a:r>
          </a:p>
        </p:txBody>
      </p:sp>
      <p:sp>
        <p:nvSpPr>
          <p:cNvPr id="9" name="right-heading">
            <a:extLst xmlns:a="http://schemas.openxmlformats.org/drawingml/2006/main">
              <a:ext uri="{FF2B5EF4-FFF2-40B4-BE49-F238E27FC236}">
                <a16:creationId xmlns:a16="http://schemas.microsoft.com/office/drawing/2014/main" id="{A08214FC-397C-48F0-80E6-30DF7D9979DB}"/>
              </a:ext>
            </a:extLst>
          </p:cNvPr>
          <p:cNvSpPr>
            <a:spLocks xmlns:a="http://schemas.openxmlformats.org/drawingml/2006/main" noGrp="1"/>
          </p:cNvSpPr>
          <p:nvPr/>
        </p:nvSpPr>
        <p:spPr>
          <a:xfrm xmlns:a="http://schemas.openxmlformats.org/drawingml/2006/main">
            <a:off x="6572250" y="2257425"/>
            <a:ext cx="5010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A65D25"/>
                </a:solidFill>
                <a:latin typeface="Arial"/>
                <a:ea typeface="Arial"/>
                <a:cs typeface="Arial"/>
              </a:defRPr>
            </a:pPr>
            <a:r>
              <a:rPr sz="2100" b="1">
                <a:solidFill>
                  <a:srgbClr val="A65D25"/>
                </a:solidFill>
                <a:latin typeface="Arial"/>
                <a:ea typeface="Arial"/>
                <a:cs typeface="Arial"/>
              </a:rPr>
              <a:t>EVIDENCE</a:t>
            </a:r>
          </a:p>
        </p:txBody>
      </p:sp>
      <p:sp>
        <p:nvSpPr>
          <p:cNvPr id="10" name="left">
            <a:extLst xmlns:a="http://schemas.openxmlformats.org/drawingml/2006/main">
              <a:ext uri="{FF2B5EF4-FFF2-40B4-BE49-F238E27FC236}">
                <a16:creationId xmlns:a16="http://schemas.microsoft.com/office/drawing/2014/main" id="{8518DEF3-2872-4279-B7C8-6D1831150973}"/>
              </a:ext>
            </a:extLst>
          </p:cNvPr>
          <p:cNvSpPr>
            <a:spLocks xmlns:a="http://schemas.openxmlformats.org/drawingml/2006/main" noGrp="1"/>
          </p:cNvSpPr>
          <p:nvPr/>
        </p:nvSpPr>
        <p:spPr>
          <a:xfrm xmlns:a="http://schemas.openxmlformats.org/drawingml/2006/main">
            <a:off x="609600" y="3238500"/>
            <a:ext cx="51435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A skill or quality someone can use and develop.</a:t>
            </a:r>
          </a:p>
        </p:txBody>
      </p:sp>
      <p:sp>
        <p:nvSpPr>
          <p:cNvPr id="11" name="right">
            <a:extLst xmlns:a="http://schemas.openxmlformats.org/drawingml/2006/main">
              <a:ext uri="{FF2B5EF4-FFF2-40B4-BE49-F238E27FC236}">
                <a16:creationId xmlns:a16="http://schemas.microsoft.com/office/drawing/2014/main" id="{626E5754-F079-4A02-978E-4F8A55CDC1D9}"/>
              </a:ext>
            </a:extLst>
          </p:cNvPr>
          <p:cNvSpPr>
            <a:spLocks xmlns:a="http://schemas.openxmlformats.org/drawingml/2006/main" noGrp="1"/>
          </p:cNvSpPr>
          <p:nvPr/>
        </p:nvSpPr>
        <p:spPr>
          <a:xfrm xmlns:a="http://schemas.openxmlformats.org/drawingml/2006/main">
            <a:off x="6572250" y="3238500"/>
            <a:ext cx="50101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An example that supports an idea.</a:t>
            </a:r>
          </a:p>
        </p:txBody>
      </p:sp>
      <p:sp>
        <p:nvSpPr>
          <p:cNvPr id="14" name="">
            <a:extLst xmlns:a="http://schemas.openxmlformats.org/drawingml/2006/main">
              <a:ext uri="{FF2B5EF4-FFF2-40B4-BE49-F238E27FC236}">
                <a16:creationId xmlns:a16="http://schemas.microsoft.com/office/drawing/2014/main" id="{2ED7A34E-60B9-43D9-A2D4-72E80AFB5450}"/>
              </a:ext>
            </a:extLst>
          </p:cNvPr>
          <p:cNvSpPr>
            <a:spLocks xmlns:a="http://schemas.openxmlformats.org/drawingml/2006/main" noGrp="1"/>
          </p:cNvSpPr>
          <p:nvPr/>
        </p:nvSpPr>
        <p:spPr>
          <a:xfrm xmlns:a="http://schemas.openxmlformats.org/drawingml/2006/main">
            <a:off x="609600" y="2886075"/>
            <a:ext cx="50482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
        <p:nvSpPr>
          <p:cNvPr id="15" name="">
            <a:extLst xmlns:a="http://schemas.openxmlformats.org/drawingml/2006/main">
              <a:ext uri="{FF2B5EF4-FFF2-40B4-BE49-F238E27FC236}">
                <a16:creationId xmlns:a16="http://schemas.microsoft.com/office/drawing/2014/main" id="{EF7D3D05-6E36-4FEA-8679-B33644206819}"/>
              </a:ext>
            </a:extLst>
          </p:cNvPr>
          <p:cNvSpPr>
            <a:spLocks xmlns:a="http://schemas.openxmlformats.org/drawingml/2006/main" noGrp="1"/>
          </p:cNvSpPr>
          <p:nvPr/>
        </p:nvSpPr>
        <p:spPr>
          <a:xfrm xmlns:a="http://schemas.openxmlformats.org/drawingml/2006/main">
            <a:off x="6572250" y="2886075"/>
            <a:ext cx="50101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Tree>
    <p:extLst>
      <p:ext uri="{BB962C8B-B14F-4D97-AF65-F5344CB8AC3E}">
        <p14:creationId xmlns:p14="http://schemas.microsoft.com/office/powerpoint/2010/main" val="750140657"/>
      </p:ext>
    </p:extLst>
  </p:cSld>
</p:sld>
</file>

<file path=ppt/slides/slide3.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4d915935ae04496"/>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Choose how you take part</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03</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Speak, point, draw, type, ask for a scribe or pass on sharing.</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We discuss actions and ideas. Nobody has to describe themselves or another pupil.</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A private help request is always welcome.</a:t>
            </a:r>
          </a:p>
        </p:txBody>
      </p:sp>
    </p:spTree>
    <p:extLst>
      <p:ext uri="{BB962C8B-B14F-4D97-AF65-F5344CB8AC3E}">
        <p14:creationId xmlns:p14="http://schemas.microsoft.com/office/powerpoint/2010/main" val="289928415"/>
      </p:ext>
    </p:extLst>
  </p:cSld>
</p:sld>
</file>

<file path=ppt/slides/slide4.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50cbca8353b41fe"/>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Choose how you take part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04</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Which response route would work for this task?</a:t>
            </a:r>
          </a:p>
        </p:txBody>
      </p:sp>
    </p:spTree>
    <p:extLst>
      <p:ext uri="{BB962C8B-B14F-4D97-AF65-F5344CB8AC3E}">
        <p14:creationId xmlns:p14="http://schemas.microsoft.com/office/powerpoint/2010/main" val="289928415"/>
      </p:ext>
    </p:extLst>
  </p:cSld>
</p:sld>
</file>

<file path=ppt/slides/slide5.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4f0a0bd995a4a21"/>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Meet Jay: what is the evidence?</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05</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Jay’s model bridge falls. Jay asks for a diagram, changes the base and tries again.</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Sam says, “Jay is the best at everything.”</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Ali says, “Jay tried a new idea after the first attempt.”</a:t>
            </a:r>
          </a:p>
        </p:txBody>
      </p:sp>
    </p:spTree>
    <p:extLst>
      <p:ext uri="{BB962C8B-B14F-4D97-AF65-F5344CB8AC3E}">
        <p14:creationId xmlns:p14="http://schemas.microsoft.com/office/powerpoint/2010/main" val="289928415"/>
      </p:ext>
    </p:extLst>
  </p:cSld>
</p:sld>
</file>

<file path=ppt/slides/slide6.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e1b74ffa21a44b7"/>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Meet Jay: what is the evidence?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06</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Which comment gives evidence of a strength?</a:t>
            </a:r>
          </a:p>
        </p:txBody>
      </p:sp>
    </p:spTree>
    <p:extLst>
      <p:ext uri="{BB962C8B-B14F-4D97-AF65-F5344CB8AC3E}">
        <p14:creationId xmlns:p14="http://schemas.microsoft.com/office/powerpoint/2010/main" val="289928415"/>
      </p:ext>
    </p:extLst>
  </p:cSld>
</p:sld>
</file>

<file path=ppt/slides/slide7.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ef4537c9baf4d01"/>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A strength needs an example</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07</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“Creative” is a strength word. “Made two different designs” gives evidence.</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Strengths can include practical skills, listening, asking for help and noticing details.</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Support and rest can help skills grow. People learn at different rates.</a:t>
            </a:r>
          </a:p>
        </p:txBody>
      </p:sp>
    </p:spTree>
    <p:extLst>
      <p:ext uri="{BB962C8B-B14F-4D97-AF65-F5344CB8AC3E}">
        <p14:creationId xmlns:p14="http://schemas.microsoft.com/office/powerpoint/2010/main" val="289928415"/>
      </p:ext>
    </p:extLst>
  </p:cSld>
</p:sld>
</file>

<file path=ppt/slides/slide8.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2d4ac0f715d45ea"/>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A strength needs an example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08</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Complete: “Jay showed ___ when ___.”</a:t>
            </a:r>
          </a:p>
        </p:txBody>
      </p:sp>
    </p:spTree>
    <p:extLst>
      <p:ext uri="{BB962C8B-B14F-4D97-AF65-F5344CB8AC3E}">
        <p14:creationId xmlns:p14="http://schemas.microsoft.com/office/powerpoint/2010/main" val="289928415"/>
      </p:ext>
    </p:extLst>
  </p:cSld>
</p:sld>
</file>

<file path=ppt/slides/slide9.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7de4870c5b0d48d5"/>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Spot the strength</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PSHE</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09</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Mina notices that the recipe is missing a step and checks with an adult.</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Eli listens to two ideas and sketches a third design using parts of both.</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Rob returns a borrowed tool and says where it has been put.</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Match each action to a strength. Give a reason.</a:t>
            </a:r>
          </a:p>
        </p:txBody>
      </p:sp>
    </p:spTree>
    <p:extLst>
      <p:ext uri="{BB962C8B-B14F-4D97-AF65-F5344CB8AC3E}">
        <p14:creationId xmlns:p14="http://schemas.microsoft.com/office/powerpoint/2010/main" val="1732344281"/>
      </p:ext>
    </p:extLst>
  </p:cSld>
</p:sld>
</file>

<file path=ppt/slides/slide10.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b97376b073bd4977"/>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Feedback or put-down?</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PSHE</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10</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“Your labels are hard to read. Could you space them out?”</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B: “You are useless at this.”</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 “I can show you an example if you want.”</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Which comments could help? What could the person do about B?</a:t>
            </a:r>
          </a:p>
        </p:txBody>
      </p:sp>
    </p:spTree>
    <p:extLst>
      <p:ext uri="{BB962C8B-B14F-4D97-AF65-F5344CB8AC3E}">
        <p14:creationId xmlns:p14="http://schemas.microsoft.com/office/powerpoint/2010/main" val="1732344281"/>
      </p:ext>
    </p:extLst>
  </p:cSld>
</p:sld>
</file>

<file path=ppt/slides/slide1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73b7db9350d3410b"/>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Model a small next step</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PSHE</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11</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Goal: make the bridge plan easier to follow.</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Step: add three large labels using the example diagram.</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Support: ask an adult to check one label, then review the other two.</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Why is this more useful than “be better at everything”?</a:t>
            </a:r>
          </a:p>
        </p:txBody>
      </p:sp>
    </p:spTree>
    <p:extLst>
      <p:ext uri="{BB962C8B-B14F-4D97-AF65-F5344CB8AC3E}">
        <p14:creationId xmlns:p14="http://schemas.microsoft.com/office/powerpoint/2010/main" val="1732344281"/>
      </p:ext>
    </p:extLst>
  </p:cSld>
</p:sld>
</file>

<file path=ppt/slides/slide1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4619960743724515"/>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Your learning record</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PSHE</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12</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Task 1: link characters’ actions to strengths.</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Task 2: improve a feedback comment and identify a safe response.</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Task 3: plan one next step for a fictional character or yourself.</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Choose a response route and complete the three tasks.</a:t>
            </a:r>
          </a:p>
        </p:txBody>
      </p:sp>
    </p:spTree>
    <p:extLst>
      <p:ext uri="{BB962C8B-B14F-4D97-AF65-F5344CB8AC3E}">
        <p14:creationId xmlns:p14="http://schemas.microsoft.com/office/powerpoint/2010/main" val="1732344281"/>
      </p:ext>
    </p:extLst>
  </p:cSld>
</p:sld>
</file>

<file path=ppt/slides/slide13.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79e2a3f7aa347b3"/>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A view should reach someone</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13</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You can suggest a change to next lesson: larger cards, more thinking time or another response route.</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Tell the teacher in the way you choose. The teacher will consider the suggestion and explain the decision.</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Which change could make the task more accessible?</a:t>
            </a:r>
          </a:p>
        </p:txBody>
      </p:sp>
    </p:spTree>
    <p:extLst>
      <p:ext uri="{BB962C8B-B14F-4D97-AF65-F5344CB8AC3E}">
        <p14:creationId xmlns:p14="http://schemas.microsoft.com/office/powerpoint/2010/main" val="289928415"/>
      </p:ext>
    </p:extLst>
  </p:cSld>
</p:sld>
</file>

<file path=ppt/slides/slide14.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75e95445ba74bbb"/>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Can a supported success count?</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14</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character completes a model with a diagram and adult help.</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They say, “It does not count because I had support.”</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What would you say, using evidence?</a:t>
            </a:r>
          </a:p>
        </p:txBody>
      </p:sp>
    </p:spTree>
    <p:extLst>
      <p:ext uri="{BB962C8B-B14F-4D97-AF65-F5344CB8AC3E}">
        <p14:creationId xmlns:p14="http://schemas.microsoft.com/office/powerpoint/2010/main" val="2899284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2026-09-07T12:37:17.5880000Z</dcterms:created>
  <dcterms:modified xsi:type="dcterms:W3CDTF">2026-09-07T12:37:17.5880000Z</dcterms:modified>
</coreProperties>
</file>