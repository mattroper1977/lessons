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deda425d724d32" /><Relationship Type="http://schemas.openxmlformats.org/officeDocument/2006/relationships/extended-properties" Target="/docProps/app.xml" Id="R948c057c5ed6461a" /><Relationship Type="http://schemas.openxmlformats.org/officeDocument/2006/relationships/officeDocument" Target="/ppt/presentation.xml" Id="Rd0d4ca3c41854884" /></Relationships>
</file>

<file path=ppt/presentation.xml><?xml version="1.0" encoding="utf-8"?>
<p:presentation xmlns:p="http://schemas.openxmlformats.org/presentationml/2006/main">
  <p:sldMasterIdLst>
    <p:sldMasterId xmlns:r="http://schemas.openxmlformats.org/officeDocument/2006/relationships" id="2147483648" r:id="Rc7525e7ceaf94a20"/>
  </p:sldMasterIdLst>
  <p:notesMasterIdLst>
    <p:notesMasterId xmlns:r="http://schemas.openxmlformats.org/officeDocument/2006/relationships" r:id="R4727863896864262"/>
  </p:notesMasterIdLst>
  <p:sldIdLst>
    <p:sldId xmlns:r="http://schemas.openxmlformats.org/officeDocument/2006/relationships" id="256" r:id="R7d7b60a8a65743d3"/>
    <p:sldId xmlns:r="http://schemas.openxmlformats.org/officeDocument/2006/relationships" id="257" r:id="R726a760e55b5486d"/>
    <p:sldId xmlns:r="http://schemas.openxmlformats.org/officeDocument/2006/relationships" id="258" r:id="R770f75b1f02e410f"/>
    <p:sldId xmlns:r="http://schemas.openxmlformats.org/officeDocument/2006/relationships" id="259" r:id="R2276d212f7f04a96"/>
    <p:sldId xmlns:r="http://schemas.openxmlformats.org/officeDocument/2006/relationships" id="260" r:id="R71ba3f359c994a75"/>
    <p:sldId xmlns:r="http://schemas.openxmlformats.org/officeDocument/2006/relationships" id="261" r:id="R5c50e24bb03a4726"/>
    <p:sldId xmlns:r="http://schemas.openxmlformats.org/officeDocument/2006/relationships" id="262" r:id="Re59b5f0be40e4f59"/>
    <p:sldId xmlns:r="http://schemas.openxmlformats.org/officeDocument/2006/relationships" id="263" r:id="Red7dfc6da7d14956"/>
    <p:sldId xmlns:r="http://schemas.openxmlformats.org/officeDocument/2006/relationships" id="264" r:id="Rd17ab1c115a84658"/>
    <p:sldId xmlns:r="http://schemas.openxmlformats.org/officeDocument/2006/relationships" id="265" r:id="Rf924a7c378f14c69"/>
    <p:sldId xmlns:r="http://schemas.openxmlformats.org/officeDocument/2006/relationships" id="266" r:id="R054568e03e8a4065"/>
    <p:sldId xmlns:r="http://schemas.openxmlformats.org/officeDocument/2006/relationships" id="267" r:id="Rf995b63527134174"/>
    <p:sldId xmlns:r="http://schemas.openxmlformats.org/officeDocument/2006/relationships" id="268" r:id="R401727ee661b4dd1"/>
    <p:sldId xmlns:r="http://schemas.openxmlformats.org/officeDocument/2006/relationships" id="269" r:id="R1775a85b32484136"/>
    <p:sldId xmlns:r="http://schemas.openxmlformats.org/officeDocument/2006/relationships" id="270" r:id="R183b1f3f1a8b424c"/>
    <p:sldId xmlns:r="http://schemas.openxmlformats.org/officeDocument/2006/relationships" id="271" r:id="R1f9b3487723442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9c536e101b486a" /><Relationship Type="http://schemas.openxmlformats.org/officeDocument/2006/relationships/slideMaster" Target="/ppt/slideMasters/slideMaster1.xml" Id="Rc7525e7ceaf94a20" /><Relationship Type="http://schemas.openxmlformats.org/officeDocument/2006/relationships/notesMaster" Target="/ppt/notesMasters/notesMaster1.xml" Id="R4727863896864262" /><Relationship Type="http://schemas.openxmlformats.org/officeDocument/2006/relationships/presProps" Target="/ppt/presProps.xml" Id="R9ccced22bcef439d" /><Relationship Type="http://schemas.openxmlformats.org/officeDocument/2006/relationships/tableStyles" Target="/ppt/tableStyles.xml" Id="R3566a4dde7d84632" /><Relationship Type="http://schemas.openxmlformats.org/officeDocument/2006/relationships/slide" Target="/ppt/slides/slide1.xml" Id="R7d7b60a8a65743d3" /><Relationship Type="http://schemas.openxmlformats.org/officeDocument/2006/relationships/slide" Target="/ppt/slides/slide2.xml" Id="R726a760e55b5486d" /><Relationship Type="http://schemas.openxmlformats.org/officeDocument/2006/relationships/slide" Target="/ppt/slides/slide3.xml" Id="R770f75b1f02e410f" /><Relationship Type="http://schemas.openxmlformats.org/officeDocument/2006/relationships/slide" Target="/ppt/slides/slide4.xml" Id="R2276d212f7f04a96" /><Relationship Type="http://schemas.openxmlformats.org/officeDocument/2006/relationships/slide" Target="/ppt/slides/slide5.xml" Id="R71ba3f359c994a75" /><Relationship Type="http://schemas.openxmlformats.org/officeDocument/2006/relationships/slide" Target="/ppt/slides/slide6.xml" Id="R5c50e24bb03a4726" /><Relationship Type="http://schemas.openxmlformats.org/officeDocument/2006/relationships/slide" Target="/ppt/slides/slide7.xml" Id="Re59b5f0be40e4f59" /><Relationship Type="http://schemas.openxmlformats.org/officeDocument/2006/relationships/slide" Target="/ppt/slides/slide8.xml" Id="Red7dfc6da7d14956" /><Relationship Type="http://schemas.openxmlformats.org/officeDocument/2006/relationships/slide" Target="/ppt/slides/slide9.xml" Id="Rd17ab1c115a84658" /><Relationship Type="http://schemas.openxmlformats.org/officeDocument/2006/relationships/slide" Target="/ppt/slides/slide10.xml" Id="Rf924a7c378f14c69" /><Relationship Type="http://schemas.openxmlformats.org/officeDocument/2006/relationships/slide" Target="/ppt/slides/slide11.xml" Id="R054568e03e8a4065" /><Relationship Type="http://schemas.openxmlformats.org/officeDocument/2006/relationships/slide" Target="/ppt/slides/slide12.xml" Id="Rf995b63527134174" /><Relationship Type="http://schemas.openxmlformats.org/officeDocument/2006/relationships/slide" Target="/ppt/slides/slide13.xml" Id="R401727ee661b4dd1" /><Relationship Type="http://schemas.openxmlformats.org/officeDocument/2006/relationships/slide" Target="/ppt/slides/slide14.xml" Id="R1775a85b32484136" /><Relationship Type="http://schemas.openxmlformats.org/officeDocument/2006/relationships/slide" Target="/ppt/slides/slide15.xml" Id="R183b1f3f1a8b424c" /><Relationship Type="http://schemas.openxmlformats.org/officeDocument/2006/relationships/slide" Target="/ppt/slides/slide16.xml" Id="R1f9b3487723442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96a3fa112e42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73522353104082" /><Relationship Type="http://schemas.openxmlformats.org/officeDocument/2006/relationships/notesMaster" Target="/ppt/notesMasters/notesMaster1.xml" Id="R029ec7d9dab442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a04c56c8a049b3" /><Relationship Type="http://schemas.openxmlformats.org/officeDocument/2006/relationships/notesMaster" Target="/ppt/notesMasters/notesMaster1.xml" Id="R7827ecdbd0c04d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69f31a96974760" /><Relationship Type="http://schemas.openxmlformats.org/officeDocument/2006/relationships/notesMaster" Target="/ppt/notesMasters/notesMaster1.xml" Id="R7d366076834a45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a309fcd943d4bef" /><Relationship Type="http://schemas.openxmlformats.org/officeDocument/2006/relationships/notesMaster" Target="/ppt/notesMasters/notesMaster1.xml" Id="R84526f1cfcd24b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24907dfe21a415c" /><Relationship Type="http://schemas.openxmlformats.org/officeDocument/2006/relationships/notesMaster" Target="/ppt/notesMasters/notesMaster1.xml" Id="Rd95a9f39c6e848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9955fb2794428e" /><Relationship Type="http://schemas.openxmlformats.org/officeDocument/2006/relationships/notesMaster" Target="/ppt/notesMasters/notesMaster1.xml" Id="Rdcbac00a295841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2e77f075944ea8" /><Relationship Type="http://schemas.openxmlformats.org/officeDocument/2006/relationships/notesMaster" Target="/ppt/notesMasters/notesMaster1.xml" Id="R0ace8a28d7e04a21" /></Relationships>
</file>

<file path=ppt/notesSlides/_rels/notesSlide8.xml.rels>&#65279;<?xml version="1.0" encoding="utf-8"?><Relationships xmlns="http://schemas.openxmlformats.org/package/2006/relationships"><Relationship Type="http://schemas.openxmlformats.org/officeDocument/2006/relationships/slide" Target="/ppt/slides/slide8.xml" Id="Rc48064124cb04fc8" /><Relationship Type="http://schemas.openxmlformats.org/officeDocument/2006/relationships/notesMaster" Target="/ppt/notesMasters/notesMaster1.xml" Id="R30eaca01761e464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c1cdf5bb0a4720" /><Relationship Type="http://schemas.openxmlformats.org/officeDocument/2006/relationships/notesMaster" Target="/ppt/notesMasters/notesMaster1.xml" Id="R3aa26d59869e4a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98e492635904677" /><Relationship Type="http://schemas.openxmlformats.org/officeDocument/2006/relationships/notesMaster" Target="/ppt/notesMasters/notesMaster1.xml" Id="R8dbf778bdd0045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ac1a4b367874228" /><Relationship Type="http://schemas.openxmlformats.org/officeDocument/2006/relationships/notesMaster" Target="/ppt/notesMasters/notesMaster1.xml" Id="R288017be3d0f438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84f700082a84f94" /><Relationship Type="http://schemas.openxmlformats.org/officeDocument/2006/relationships/notesMaster" Target="/ppt/notesMasters/notesMaster1.xml" Id="R038f4a8bf18742b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668204c7c994c6a" /><Relationship Type="http://schemas.openxmlformats.org/officeDocument/2006/relationships/notesMaster" Target="/ppt/notesMasters/notesMaster1.xml" Id="Rc875c3664bd549c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b95d9aa98be46ee" /><Relationship Type="http://schemas.openxmlformats.org/officeDocument/2006/relationships/notesMaster" Target="/ppt/notesMasters/notesMaster1.xml" Id="R9f3daf442a48427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0bd50ebb169485f" /><Relationship Type="http://schemas.openxmlformats.org/officeDocument/2006/relationships/notesMaster" Target="/ppt/notesMasters/notesMaster1.xml" Id="Rdf9835b1d336429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33cf07768f74f07" /><Relationship Type="http://schemas.openxmlformats.org/officeDocument/2006/relationships/notesMaster" Target="/ppt/notesMasters/notesMaster1.xml" Id="Rdcd0cdc3718343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GROW_PSHE_W06 | Kindness, fairness and boundaries</a:t>
            </a:r>
          </a:p>
          <a:p xmlns:a="http://schemas.openxmlformats.org/drawingml/2006/main">
            <a:r>
              <a:t>Recognise respectful kindness, distinguish prejudice from discriminatory treatment, and choose safe responses that respect boundaries.</a:t>
            </a:r>
          </a:p>
          <a:p xmlns:a="http://schemas.openxmlformats.org/drawingml/2006/main">
            <a:r>
              <a:t/>
            </a:r>
          </a:p>
          <a:p xmlns:a="http://schemas.openxmlformats.org/drawingml/2006/main">
            <a:r>
              <a:t>Adapted from Week 6 Showing Kindness and My Kindness Plan. SA3 is an unverified source reference. Required compliments, personal kindness missions and blanket claims about benefits are replaced.</a:t>
            </a:r>
          </a:p>
          <a:p xmlns:a="http://schemas.openxmlformats.org/drawingml/2006/main">
            <a:r>
              <a:t/>
            </a:r>
          </a:p>
          <a:p xmlns:a="http://schemas.openxmlformats.org/drawingml/2006/main">
            <a:r>
              <a:t>Pupil prompt: Can saying “no, thank you” fit a respectful exchange?</a:t>
            </a:r>
          </a:p>
          <a:p xmlns:a="http://schemas.openxmlformats.org/drawingml/2006/main">
            <a:r>
              <a:t/>
            </a:r>
          </a:p>
          <a:p xmlns:a="http://schemas.openxmlformats.org/drawingml/2006/main">
            <a:r>
              <a:t>Teacher answer / acceptable response: Yes. A person can decline an offer. Respecting their answer is part of kindness.</a:t>
            </a:r>
          </a:p>
          <a:p xmlns:a="http://schemas.openxmlformats.org/drawingml/2006/main">
            <a:r>
              <a:t/>
            </a:r>
          </a:p>
          <a:p xmlns:a="http://schemas.openxmlformats.org/drawingml/2006/main">
            <a:r>
              <a:t>Support: Offer two response cards at a time and use a non-verbal “no” option. Scribe one explanation of a boundary and one adult-help step. All tasks can remain fictional.</a:t>
            </a:r>
          </a:p>
          <a:p xmlns:a="http://schemas.openxmlformats.org/drawingml/2006/main">
            <a:r>
              <a:t/>
            </a:r>
          </a:p>
          <a:p xmlns:a="http://schemas.openxmlformats.org/drawingml/2006/main">
            <a:r>
              <a:t>Stretch: Explain why “be nice” may be insufficient when a group’s routine excludes someone. Propose an access change, a responsible adult and a way to check whether the person’s view influenced the response.</a:t>
            </a:r>
          </a:p>
          <a:p xmlns:a="http://schemas.openxmlformats.org/drawingml/2006/main">
            <a:r>
              <a:t/>
            </a:r>
          </a:p>
          <a:p xmlns:a="http://schemas.openxmlformats.org/drawingml/2006/main">
            <a:r>
              <a:t>Safeguarding / safety: Do not enact prejudice, assign pupils as victims, repeat slurs or invite discriminatory debate. Address real disclosures and incidents through school policy and Week 5 guidance. No forced apology, reconciliation or physical contact forms part of this lesson.</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voluntary fictional approach</a:t>
            </a:r>
          </a:p>
          <a:p xmlns:a="http://schemas.openxmlformats.org/drawingml/2006/main">
            <a:r>
              <a:t>5 min: Model offer, answer and respect</a:t>
            </a:r>
          </a:p>
          <a:p xmlns:a="http://schemas.openxmlformats.org/drawingml/2006/main">
            <a:r>
              <a:t>5 min: Sort actions and boundaries</a:t>
            </a:r>
          </a:p>
          <a:p xmlns:a="http://schemas.openxmlformats.org/drawingml/2006/main">
            <a:r>
              <a:t>6 min: Teach prejudice/treatment and model design-club response</a:t>
            </a:r>
          </a:p>
          <a:p xmlns:a="http://schemas.openxmlformats.org/drawingml/2006/main">
            <a:r>
              <a:t>12 min: Complete the three tasks</a:t>
            </a:r>
          </a:p>
          <a:p xmlns:a="http://schemas.openxmlformats.org/drawingml/2006/main">
            <a:r>
              <a:t>4 min: Compare practical fair responses</a:t>
            </a:r>
          </a:p>
          <a:p xmlns:a="http://schemas.openxmlformats.org/drawingml/2006/main">
            <a:r>
              <a:t>3 min: Exit and private help route</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Week_6_PSHE_Showing_Kindness_(SA3).pptx</a:t>
            </a:r>
          </a:p>
          <a:p xmlns:a="http://schemas.openxmlformats.org/drawingml/2006/main">
            <a:r>
              <a:t>Uploaded teaching source: Week_6_PSHE_Worksheet_My_Kindness_Plan_(SA3).docx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GROW_PSHE_W06 | Kindness, fairness and boundaries</a:t>
            </a:r>
          </a:p>
          <a:p xmlns:a="http://schemas.openxmlformats.org/drawingml/2006/main">
            <a:r>
              <a:t>Recognise respectful kindness, distinguish prejudice from discriminatory treatment, and choose safe responses that respect boundaries.</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Offer two response cards at a time and use a non-verbal “no” option. Scribe one explanation of a boundary and one adult-help step. All tasks can remain fictional.</a:t>
            </a:r>
          </a:p>
          <a:p xmlns:a="http://schemas.openxmlformats.org/drawingml/2006/main">
            <a:r>
              <a:t/>
            </a:r>
          </a:p>
          <a:p xmlns:a="http://schemas.openxmlformats.org/drawingml/2006/main">
            <a:r>
              <a:t>Stretch: Explain why “be nice” may be insufficient when a group’s routine excludes someone. Propose an access change, a responsible adult and a way to check whether the person’s view influenced the response.</a:t>
            </a:r>
          </a:p>
          <a:p xmlns:a="http://schemas.openxmlformats.org/drawingml/2006/main">
            <a:r>
              <a:t/>
            </a:r>
          </a:p>
          <a:p xmlns:a="http://schemas.openxmlformats.org/drawingml/2006/main">
            <a:r>
              <a:t>Safeguarding / safety: Do not enact prejudice, assign pupils as victims, repeat slurs or invite discriminatory debate. Address real disclosures and incidents through school policy and Week 5 guidance. No forced apology, reconciliation or physical contact forms part of this lesson.</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voluntary fictional approach</a:t>
            </a:r>
          </a:p>
          <a:p xmlns:a="http://schemas.openxmlformats.org/drawingml/2006/main">
            <a:r>
              <a:t>5 min: Model offer, answer and respect</a:t>
            </a:r>
          </a:p>
          <a:p xmlns:a="http://schemas.openxmlformats.org/drawingml/2006/main">
            <a:r>
              <a:t>5 min: Sort actions and boundaries</a:t>
            </a:r>
          </a:p>
          <a:p xmlns:a="http://schemas.openxmlformats.org/drawingml/2006/main">
            <a:r>
              <a:t>6 min: Teach prejudice/treatment and model design-club response</a:t>
            </a:r>
          </a:p>
          <a:p xmlns:a="http://schemas.openxmlformats.org/drawingml/2006/main">
            <a:r>
              <a:t>12 min: Complete the three tasks</a:t>
            </a:r>
          </a:p>
          <a:p xmlns:a="http://schemas.openxmlformats.org/drawingml/2006/main">
            <a:r>
              <a:t>4 min: Compare practical fair responses</a:t>
            </a:r>
          </a:p>
          <a:p xmlns:a="http://schemas.openxmlformats.org/drawingml/2006/main">
            <a:r>
              <a:t>3 min: Exit and private help route</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Week_6_PSHE_Showing_Kindness_(SA3).pptx</a:t>
            </a:r>
          </a:p>
          <a:p xmlns:a="http://schemas.openxmlformats.org/drawingml/2006/main">
            <a:r>
              <a:t>Uploaded teaching source: Week_6_PSHE_Worksheet_My_Kindness_Plan_(SA3).docx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GROW_PSHE_W06 | Kindness, fairness and boundaries</a:t>
            </a:r>
          </a:p>
          <a:p xmlns:a="http://schemas.openxmlformats.org/drawingml/2006/main">
            <a:r>
              <a:t>Recognise respectful kindness, distinguish prejudice from discriminatory treatment, and choose safe responses that respect boundaries.</a:t>
            </a:r>
          </a:p>
          <a:p xmlns:a="http://schemas.openxmlformats.org/drawingml/2006/main">
            <a:r>
              <a:t/>
            </a:r>
          </a:p>
          <a:p xmlns:a="http://schemas.openxmlformats.org/drawingml/2006/main">
            <a:r>
              <a:t>Emphasise that deciding someone needs help from appearance can be an assumption. Ask, wait and accept the answer.</a:t>
            </a:r>
          </a:p>
          <a:p xmlns:a="http://schemas.openxmlformats.org/drawingml/2006/main">
            <a:r>
              <a:t/>
            </a:r>
          </a:p>
          <a:p xmlns:a="http://schemas.openxmlformats.org/drawingml/2006/main">
            <a:r>
              <a:t>Pupil prompt: Where is the kindness in this exchange?</a:t>
            </a:r>
          </a:p>
          <a:p xmlns:a="http://schemas.openxmlformats.org/drawingml/2006/main">
            <a:r>
              <a:t/>
            </a:r>
          </a:p>
          <a:p xmlns:a="http://schemas.openxmlformats.org/drawingml/2006/main">
            <a:r>
              <a:t>Teacher answer / acceptable response: Rae offers help without taking over and respects Mo’s choice. Mo does not owe a yes or a return favour.</a:t>
            </a:r>
          </a:p>
          <a:p xmlns:a="http://schemas.openxmlformats.org/drawingml/2006/main">
            <a:r>
              <a:t/>
            </a:r>
          </a:p>
          <a:p xmlns:a="http://schemas.openxmlformats.org/drawingml/2006/main">
            <a:r>
              <a:t>Support: Offer two response cards at a time and use a non-verbal “no” option. Scribe one explanation of a boundary and one adult-help step. All tasks can remain fictional.</a:t>
            </a:r>
          </a:p>
          <a:p xmlns:a="http://schemas.openxmlformats.org/drawingml/2006/main">
            <a:r>
              <a:t/>
            </a:r>
          </a:p>
          <a:p xmlns:a="http://schemas.openxmlformats.org/drawingml/2006/main">
            <a:r>
              <a:t>Stretch: Explain why “be nice” may be insufficient when a group’s routine excludes someone. Propose an access change, a responsible adult and a way to check whether the person’s view influenced the response.</a:t>
            </a:r>
          </a:p>
          <a:p xmlns:a="http://schemas.openxmlformats.org/drawingml/2006/main">
            <a:r>
              <a:t/>
            </a:r>
          </a:p>
          <a:p xmlns:a="http://schemas.openxmlformats.org/drawingml/2006/main">
            <a:r>
              <a:t>Safeguarding / safety: Do not enact prejudice, assign pupils as victims, repeat slurs or invite discriminatory debate. Address real disclosures and incidents through school policy and Week 5 guidance. No forced apology, reconciliation or physical contact forms part of this lesson.</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voluntary fictional approach</a:t>
            </a:r>
          </a:p>
          <a:p xmlns:a="http://schemas.openxmlformats.org/drawingml/2006/main">
            <a:r>
              <a:t>5 min: Model offer, answer and respect</a:t>
            </a:r>
          </a:p>
          <a:p xmlns:a="http://schemas.openxmlformats.org/drawingml/2006/main">
            <a:r>
              <a:t>5 min: Sort actions and boundaries</a:t>
            </a:r>
          </a:p>
          <a:p xmlns:a="http://schemas.openxmlformats.org/drawingml/2006/main">
            <a:r>
              <a:t>6 min: Teach prejudice/treatment and model design-club response</a:t>
            </a:r>
          </a:p>
          <a:p xmlns:a="http://schemas.openxmlformats.org/drawingml/2006/main">
            <a:r>
              <a:t>12 min: Complete the three tasks</a:t>
            </a:r>
          </a:p>
          <a:p xmlns:a="http://schemas.openxmlformats.org/drawingml/2006/main">
            <a:r>
              <a:t>4 min: Compare practical fair responses</a:t>
            </a:r>
          </a:p>
          <a:p xmlns:a="http://schemas.openxmlformats.org/drawingml/2006/main">
            <a:r>
              <a:t>3 min: Exit and private help route</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Week_6_PSHE_Showing_Kindness_(SA3).pptx</a:t>
            </a:r>
          </a:p>
          <a:p xmlns:a="http://schemas.openxmlformats.org/drawingml/2006/main">
            <a:r>
              <a:t>Uploaded teaching source: Week_6_PSHE_Worksheet_My_Kindness_Plan_(SA3).docx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GROW_PSHE_W06 | Kindness, fairness and boundaries</a:t>
            </a:r>
          </a:p>
          <a:p xmlns:a="http://schemas.openxmlformats.org/drawingml/2006/main">
            <a:r>
              <a:t>Recognise respectful kindness, distinguish prejudice from discriminatory treatment, and choose safe responses that respect boundaries.</a:t>
            </a:r>
          </a:p>
          <a:p xmlns:a="http://schemas.openxmlformats.org/drawingml/2006/main">
            <a:r>
              <a:t/>
            </a:r>
          </a:p>
          <a:p xmlns:a="http://schemas.openxmlformats.org/drawingml/2006/main">
            <a:r>
              <a:t>Do not practise physical contact or ask pupils to forgive real harm. Support pupils who need a non-verbal way to decline.</a:t>
            </a:r>
          </a:p>
          <a:p xmlns:a="http://schemas.openxmlformats.org/drawingml/2006/main">
            <a:r>
              <a:t/>
            </a:r>
          </a:p>
          <a:p xmlns:a="http://schemas.openxmlformats.org/drawingml/2006/main">
            <a:r>
              <a:t>Pupil prompt: Must someone hug, forgive or stay friends to be kind?</a:t>
            </a:r>
          </a:p>
          <a:p xmlns:a="http://schemas.openxmlformats.org/drawingml/2006/main">
            <a:r>
              <a:t/>
            </a:r>
          </a:p>
          <a:p xmlns:a="http://schemas.openxmlformats.org/drawingml/2006/main">
            <a:r>
              <a:t>Teacher answer / acceptable response: No. Respect does not require touch, forgiveness or friendship. Safety and boundaries matter.</a:t>
            </a:r>
          </a:p>
          <a:p xmlns:a="http://schemas.openxmlformats.org/drawingml/2006/main">
            <a:r>
              <a:t/>
            </a:r>
          </a:p>
          <a:p xmlns:a="http://schemas.openxmlformats.org/drawingml/2006/main">
            <a:r>
              <a:t>Support: Offer two response cards at a time and use a non-verbal “no” option. Scribe one explanation of a boundary and one adult-help step. All tasks can remain fictional.</a:t>
            </a:r>
          </a:p>
          <a:p xmlns:a="http://schemas.openxmlformats.org/drawingml/2006/main">
            <a:r>
              <a:t/>
            </a:r>
          </a:p>
          <a:p xmlns:a="http://schemas.openxmlformats.org/drawingml/2006/main">
            <a:r>
              <a:t>Stretch: Explain why “be nice” may be insufficient when a group’s routine excludes someone. Propose an access change, a responsible adult and a way to check whether the person’s view influenced the response.</a:t>
            </a:r>
          </a:p>
          <a:p xmlns:a="http://schemas.openxmlformats.org/drawingml/2006/main">
            <a:r>
              <a:t/>
            </a:r>
          </a:p>
          <a:p xmlns:a="http://schemas.openxmlformats.org/drawingml/2006/main">
            <a:r>
              <a:t>Safeguarding / safety: Do not enact prejudice, assign pupils as victims, repeat slurs or invite discriminatory debate. Address real disclosures and incidents through school policy and Week 5 guidance. No forced apology, reconciliation or physical contact forms part of this lesson.</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voluntary fictional approach</a:t>
            </a:r>
          </a:p>
          <a:p xmlns:a="http://schemas.openxmlformats.org/drawingml/2006/main">
            <a:r>
              <a:t>5 min: Model offer, answer and respect</a:t>
            </a:r>
          </a:p>
          <a:p xmlns:a="http://schemas.openxmlformats.org/drawingml/2006/main">
            <a:r>
              <a:t>5 min: Sort actions and boundaries</a:t>
            </a:r>
          </a:p>
          <a:p xmlns:a="http://schemas.openxmlformats.org/drawingml/2006/main">
            <a:r>
              <a:t>6 min: Teach prejudice/treatment and model design-club response</a:t>
            </a:r>
          </a:p>
          <a:p xmlns:a="http://schemas.openxmlformats.org/drawingml/2006/main">
            <a:r>
              <a:t>12 min: Complete the three tasks</a:t>
            </a:r>
          </a:p>
          <a:p xmlns:a="http://schemas.openxmlformats.org/drawingml/2006/main">
            <a:r>
              <a:t>4 min: Compare practical fair responses</a:t>
            </a:r>
          </a:p>
          <a:p xmlns:a="http://schemas.openxmlformats.org/drawingml/2006/main">
            <a:r>
              <a:t>3 min: Exit and private help route</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Week_6_PSHE_Showing_Kindness_(SA3).pptx</a:t>
            </a:r>
          </a:p>
          <a:p xmlns:a="http://schemas.openxmlformats.org/drawingml/2006/main">
            <a:r>
              <a:t>Uploaded teaching source: Week_6_PSHE_Worksheet_My_Kindness_Plan_(SA3).docx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GROW_PSHE_W06 | Kindness, fairness and boundaries</a:t>
            </a:r>
          </a:p>
          <a:p xmlns:a="http://schemas.openxmlformats.org/drawingml/2006/main">
            <a:r>
              <a:t>Recognise respectful kindness, distinguish prejudice from discriminatory treatment, and choose safe responses that respect boundaries.</a:t>
            </a:r>
          </a:p>
          <a:p xmlns:a="http://schemas.openxmlformats.org/drawingml/2006/main">
            <a:r>
              <a:t/>
            </a:r>
          </a:p>
          <a:p xmlns:a="http://schemas.openxmlformats.org/drawingml/2006/main">
            <a:r>
              <a:t>Do not practise physical contact or ask pupils to forgive real harm. Support pupils who need a non-verbal way to decline.</a:t>
            </a:r>
          </a:p>
          <a:p xmlns:a="http://schemas.openxmlformats.org/drawingml/2006/main">
            <a:r>
              <a:t/>
            </a:r>
          </a:p>
          <a:p xmlns:a="http://schemas.openxmlformats.org/drawingml/2006/main">
            <a:r>
              <a:t>Pupil prompt: Must someone hug, forgive or stay friends to be kind?</a:t>
            </a:r>
          </a:p>
          <a:p xmlns:a="http://schemas.openxmlformats.org/drawingml/2006/main">
            <a:r>
              <a:t/>
            </a:r>
          </a:p>
          <a:p xmlns:a="http://schemas.openxmlformats.org/drawingml/2006/main">
            <a:r>
              <a:t>Teacher answer / acceptable response: No. Respect does not require touch, forgiveness or friendship. Safety and boundaries matter.</a:t>
            </a:r>
          </a:p>
          <a:p xmlns:a="http://schemas.openxmlformats.org/drawingml/2006/main">
            <a:r>
              <a:t/>
            </a:r>
          </a:p>
          <a:p xmlns:a="http://schemas.openxmlformats.org/drawingml/2006/main">
            <a:r>
              <a:t>Support: Offer two response cards at a time and use a non-verbal “no” option. Scribe one explanation of a boundary and one adult-help step. All tasks can remain fictional.</a:t>
            </a:r>
          </a:p>
          <a:p xmlns:a="http://schemas.openxmlformats.org/drawingml/2006/main">
            <a:r>
              <a:t/>
            </a:r>
          </a:p>
          <a:p xmlns:a="http://schemas.openxmlformats.org/drawingml/2006/main">
            <a:r>
              <a:t>Stretch: Explain why “be nice” may be insufficient when a group’s routine excludes someone. Propose an access change, a responsible adult and a way to check whether the person’s view influenced the response.</a:t>
            </a:r>
          </a:p>
          <a:p xmlns:a="http://schemas.openxmlformats.org/drawingml/2006/main">
            <a:r>
              <a:t/>
            </a:r>
          </a:p>
          <a:p xmlns:a="http://schemas.openxmlformats.org/drawingml/2006/main">
            <a:r>
              <a:t>Safeguarding / safety: Do not enact prejudice, assign pupils as victims, repeat slurs or invite discriminatory debate. Address real disclosures and incidents through school policy and Week 5 guidance. No forced apology, reconciliation or physical contact forms part of this lesson.</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voluntary fictional approach</a:t>
            </a:r>
          </a:p>
          <a:p xmlns:a="http://schemas.openxmlformats.org/drawingml/2006/main">
            <a:r>
              <a:t>5 min: Model offer, answer and respect</a:t>
            </a:r>
          </a:p>
          <a:p xmlns:a="http://schemas.openxmlformats.org/drawingml/2006/main">
            <a:r>
              <a:t>5 min: Sort actions and boundaries</a:t>
            </a:r>
          </a:p>
          <a:p xmlns:a="http://schemas.openxmlformats.org/drawingml/2006/main">
            <a:r>
              <a:t>6 min: Teach prejudice/treatment and model design-club response</a:t>
            </a:r>
          </a:p>
          <a:p xmlns:a="http://schemas.openxmlformats.org/drawingml/2006/main">
            <a:r>
              <a:t>12 min: Complete the three tasks</a:t>
            </a:r>
          </a:p>
          <a:p xmlns:a="http://schemas.openxmlformats.org/drawingml/2006/main">
            <a:r>
              <a:t>4 min: Compare practical fair responses</a:t>
            </a:r>
          </a:p>
          <a:p xmlns:a="http://schemas.openxmlformats.org/drawingml/2006/main">
            <a:r>
              <a:t>3 min: Exit and private help route</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Week_6_PSHE_Showing_Kindness_(SA3).pptx</a:t>
            </a:r>
          </a:p>
          <a:p xmlns:a="http://schemas.openxmlformats.org/drawingml/2006/main">
            <a:r>
              <a:t>Uploaded teaching source: Week_6_PSHE_Worksheet_My_Kindness_Plan_(SA3).docx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GROW_PSHE_W06 | Kindness, fairness and boundaries</a:t>
            </a:r>
          </a:p>
          <a:p xmlns:a="http://schemas.openxmlformats.org/drawingml/2006/main">
            <a:r>
              <a:t>Recognise respectful kindness, distinguish prejudice from discriminatory treatment, and choose safe responses that respect boundaries.</a:t>
            </a:r>
          </a:p>
          <a:p xmlns:a="http://schemas.openxmlformats.org/drawingml/2006/main">
            <a:r>
              <a:t/>
            </a:r>
          </a:p>
          <a:p xmlns:a="http://schemas.openxmlformats.org/drawingml/2006/main">
            <a:r>
              <a:t>Use separate print cards. If a real harmful image exists, follow school procedure; do not ask pupils to show or forward it to the class.</a:t>
            </a:r>
          </a:p>
          <a:p xmlns:a="http://schemas.openxmlformats.org/drawingml/2006/main">
            <a:r>
              <a:t/>
            </a:r>
          </a:p>
          <a:p xmlns:a="http://schemas.openxmlformats.org/drawingml/2006/main">
            <a:r>
              <a:t>Pupil prompt: Sort each action and improve the ones that need changing.</a:t>
            </a:r>
          </a:p>
          <a:p xmlns:a="http://schemas.openxmlformats.org/drawingml/2006/main">
            <a:r>
              <a:t/>
            </a:r>
          </a:p>
          <a:p xmlns:a="http://schemas.openxmlformats.org/drawingml/2006/main">
            <a:r>
              <a:t>Teacher answer / acceptable response: A is respectful. B is harmful and should not be shared. C needs a check: ask first and respect the answer.</a:t>
            </a:r>
          </a:p>
          <a:p xmlns:a="http://schemas.openxmlformats.org/drawingml/2006/main">
            <a:r>
              <a:t/>
            </a:r>
          </a:p>
          <a:p xmlns:a="http://schemas.openxmlformats.org/drawingml/2006/main">
            <a:r>
              <a:t>Support: Offer two response cards at a time and use a non-verbal “no” option. Scribe one explanation of a boundary and one adult-help step. All tasks can remain fictional.</a:t>
            </a:r>
          </a:p>
          <a:p xmlns:a="http://schemas.openxmlformats.org/drawingml/2006/main">
            <a:r>
              <a:t/>
            </a:r>
          </a:p>
          <a:p xmlns:a="http://schemas.openxmlformats.org/drawingml/2006/main">
            <a:r>
              <a:t>Stretch: Explain why “be nice” may be insufficient when a group’s routine excludes someone. Propose an access change, a responsible adult and a way to check whether the person’s view influenced the response.</a:t>
            </a:r>
          </a:p>
          <a:p xmlns:a="http://schemas.openxmlformats.org/drawingml/2006/main">
            <a:r>
              <a:t/>
            </a:r>
          </a:p>
          <a:p xmlns:a="http://schemas.openxmlformats.org/drawingml/2006/main">
            <a:r>
              <a:t>Safeguarding / safety: Do not enact prejudice, assign pupils as victims, repeat slurs or invite discriminatory debate. Address real disclosures and incidents through school policy and Week 5 guidance. No forced apology, reconciliation or physical contact forms part of this lesson.</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voluntary fictional approach</a:t>
            </a:r>
          </a:p>
          <a:p xmlns:a="http://schemas.openxmlformats.org/drawingml/2006/main">
            <a:r>
              <a:t>5 min: Model offer, answer and respect</a:t>
            </a:r>
          </a:p>
          <a:p xmlns:a="http://schemas.openxmlformats.org/drawingml/2006/main">
            <a:r>
              <a:t>5 min: Sort actions and boundaries</a:t>
            </a:r>
          </a:p>
          <a:p xmlns:a="http://schemas.openxmlformats.org/drawingml/2006/main">
            <a:r>
              <a:t>6 min: Teach prejudice/treatment and model design-club response</a:t>
            </a:r>
          </a:p>
          <a:p xmlns:a="http://schemas.openxmlformats.org/drawingml/2006/main">
            <a:r>
              <a:t>12 min: Complete the three tasks</a:t>
            </a:r>
          </a:p>
          <a:p xmlns:a="http://schemas.openxmlformats.org/drawingml/2006/main">
            <a:r>
              <a:t>4 min: Compare practical fair responses</a:t>
            </a:r>
          </a:p>
          <a:p xmlns:a="http://schemas.openxmlformats.org/drawingml/2006/main">
            <a:r>
              <a:t>3 min: Exit and private help route</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Week_6_PSHE_Showing_Kindness_(SA3).pptx</a:t>
            </a:r>
          </a:p>
          <a:p xmlns:a="http://schemas.openxmlformats.org/drawingml/2006/main">
            <a:r>
              <a:t>Uploaded teaching source: Week_6_PSHE_Worksheet_My_Kindness_Plan_(SA3).docx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GROW_PSHE_W06 | Kindness, fairness and boundaries</a:t>
            </a:r>
          </a:p>
          <a:p xmlns:a="http://schemas.openxmlformats.org/drawingml/2006/main">
            <a:r>
              <a:t>Recognise respectful kindness, distinguish prejudice from discriminatory treatment, and choose safe responses that respect boundaries.</a:t>
            </a:r>
          </a:p>
          <a:p xmlns:a="http://schemas.openxmlformats.org/drawingml/2006/main">
            <a:r>
              <a:t/>
            </a:r>
          </a:p>
          <a:p xmlns:a="http://schemas.openxmlformats.org/drawingml/2006/main">
            <a:r>
              <a:t>These are accessible educational definitions, not a full legal test. Do not reproduce the source’s abbreviated legal list as if it were a complete account of equality law.</a:t>
            </a:r>
          </a:p>
          <a:p xmlns:a="http://schemas.openxmlformats.org/drawingml/2006/main">
            <a:r>
              <a:t/>
            </a:r>
          </a:p>
          <a:p xmlns:a="http://schemas.openxmlformats.org/drawingml/2006/main">
            <a:r>
              <a:t>Pupil prompt: Which is an unfair judgement, and which is an action?</a:t>
            </a:r>
          </a:p>
          <a:p xmlns:a="http://schemas.openxmlformats.org/drawingml/2006/main">
            <a:r>
              <a:t/>
            </a:r>
          </a:p>
          <a:p xmlns:a="http://schemas.openxmlformats.org/drawingml/2006/main">
            <a:r>
              <a:t>Teacher answer / acceptable response: A judgement is an idea or assumption; discriminatory treatment is an action or practice. Both can cause harm and need challenge and support.</a:t>
            </a:r>
          </a:p>
          <a:p xmlns:a="http://schemas.openxmlformats.org/drawingml/2006/main">
            <a:r>
              <a:t/>
            </a:r>
          </a:p>
          <a:p xmlns:a="http://schemas.openxmlformats.org/drawingml/2006/main">
            <a:r>
              <a:t>Support: Offer two response cards at a time and use a non-verbal “no” option. Scribe one explanation of a boundary and one adult-help step. All tasks can remain fictional.</a:t>
            </a:r>
          </a:p>
          <a:p xmlns:a="http://schemas.openxmlformats.org/drawingml/2006/main">
            <a:r>
              <a:t/>
            </a:r>
          </a:p>
          <a:p xmlns:a="http://schemas.openxmlformats.org/drawingml/2006/main">
            <a:r>
              <a:t>Stretch: Explain why “be nice” may be insufficient when a group’s routine excludes someone. Propose an access change, a responsible adult and a way to check whether the person’s view influenced the response.</a:t>
            </a:r>
          </a:p>
          <a:p xmlns:a="http://schemas.openxmlformats.org/drawingml/2006/main">
            <a:r>
              <a:t/>
            </a:r>
          </a:p>
          <a:p xmlns:a="http://schemas.openxmlformats.org/drawingml/2006/main">
            <a:r>
              <a:t>Safeguarding / safety: Do not enact prejudice, assign pupils as victims, repeat slurs or invite discriminatory debate. Address real disclosures and incidents through school policy and Week 5 guidance. No forced apology, reconciliation or physical contact forms part of this lesson.</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voluntary fictional approach</a:t>
            </a:r>
          </a:p>
          <a:p xmlns:a="http://schemas.openxmlformats.org/drawingml/2006/main">
            <a:r>
              <a:t>5 min: Model offer, answer and respect</a:t>
            </a:r>
          </a:p>
          <a:p xmlns:a="http://schemas.openxmlformats.org/drawingml/2006/main">
            <a:r>
              <a:t>5 min: Sort actions and boundaries</a:t>
            </a:r>
          </a:p>
          <a:p xmlns:a="http://schemas.openxmlformats.org/drawingml/2006/main">
            <a:r>
              <a:t>6 min: Teach prejudice/treatment and model design-club response</a:t>
            </a:r>
          </a:p>
          <a:p xmlns:a="http://schemas.openxmlformats.org/drawingml/2006/main">
            <a:r>
              <a:t>12 min: Complete the three tasks</a:t>
            </a:r>
          </a:p>
          <a:p xmlns:a="http://schemas.openxmlformats.org/drawingml/2006/main">
            <a:r>
              <a:t>4 min: Compare practical fair responses</a:t>
            </a:r>
          </a:p>
          <a:p xmlns:a="http://schemas.openxmlformats.org/drawingml/2006/main">
            <a:r>
              <a:t>3 min: Exit and private help route</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Week_6_PSHE_Showing_Kindness_(SA3).pptx</a:t>
            </a:r>
          </a:p>
          <a:p xmlns:a="http://schemas.openxmlformats.org/drawingml/2006/main">
            <a:r>
              <a:t>Uploaded teaching source: Week_6_PSHE_Worksheet_My_Kindness_Plan_(SA3).docx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GROW_PSHE_W06 | Kindness, fairness and boundaries</a:t>
            </a:r>
          </a:p>
          <a:p xmlns:a="http://schemas.openxmlformats.org/drawingml/2006/main">
            <a:r>
              <a:t>Recognise respectful kindness, distinguish prejudice from discriminatory treatment, and choose safe responses that respect boundaries.</a:t>
            </a:r>
          </a:p>
          <a:p xmlns:a="http://schemas.openxmlformats.org/drawingml/2006/main">
            <a:r>
              <a:t/>
            </a:r>
          </a:p>
          <a:p xmlns:a="http://schemas.openxmlformats.org/drawingml/2006/main">
            <a:r>
              <a:t>These are accessible educational definitions, not a full legal test. Do not reproduce the source’s abbreviated legal list as if it were a complete account of equality law.</a:t>
            </a:r>
          </a:p>
          <a:p xmlns:a="http://schemas.openxmlformats.org/drawingml/2006/main">
            <a:r>
              <a:t/>
            </a:r>
          </a:p>
          <a:p xmlns:a="http://schemas.openxmlformats.org/drawingml/2006/main">
            <a:r>
              <a:t>Pupil prompt: Which is an unfair judgement, and which is an action?</a:t>
            </a:r>
          </a:p>
          <a:p xmlns:a="http://schemas.openxmlformats.org/drawingml/2006/main">
            <a:r>
              <a:t/>
            </a:r>
          </a:p>
          <a:p xmlns:a="http://schemas.openxmlformats.org/drawingml/2006/main">
            <a:r>
              <a:t>Teacher answer / acceptable response: A judgement is an idea or assumption; discriminatory treatment is an action or practice. Both can cause harm and need challenge and support.</a:t>
            </a:r>
          </a:p>
          <a:p xmlns:a="http://schemas.openxmlformats.org/drawingml/2006/main">
            <a:r>
              <a:t/>
            </a:r>
          </a:p>
          <a:p xmlns:a="http://schemas.openxmlformats.org/drawingml/2006/main">
            <a:r>
              <a:t>Support: Offer two response cards at a time and use a non-verbal “no” option. Scribe one explanation of a boundary and one adult-help step. All tasks can remain fictional.</a:t>
            </a:r>
          </a:p>
          <a:p xmlns:a="http://schemas.openxmlformats.org/drawingml/2006/main">
            <a:r>
              <a:t/>
            </a:r>
          </a:p>
          <a:p xmlns:a="http://schemas.openxmlformats.org/drawingml/2006/main">
            <a:r>
              <a:t>Stretch: Explain why “be nice” may be insufficient when a group’s routine excludes someone. Propose an access change, a responsible adult and a way to check whether the person’s view influenced the response.</a:t>
            </a:r>
          </a:p>
          <a:p xmlns:a="http://schemas.openxmlformats.org/drawingml/2006/main">
            <a:r>
              <a:t/>
            </a:r>
          </a:p>
          <a:p xmlns:a="http://schemas.openxmlformats.org/drawingml/2006/main">
            <a:r>
              <a:t>Safeguarding / safety: Do not enact prejudice, assign pupils as victims, repeat slurs or invite discriminatory debate. Address real disclosures and incidents through school policy and Week 5 guidance. No forced apology, reconciliation or physical contact forms part of this lesson.</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voluntary fictional approach</a:t>
            </a:r>
          </a:p>
          <a:p xmlns:a="http://schemas.openxmlformats.org/drawingml/2006/main">
            <a:r>
              <a:t>5 min: Model offer, answer and respect</a:t>
            </a:r>
          </a:p>
          <a:p xmlns:a="http://schemas.openxmlformats.org/drawingml/2006/main">
            <a:r>
              <a:t>5 min: Sort actions and boundaries</a:t>
            </a:r>
          </a:p>
          <a:p xmlns:a="http://schemas.openxmlformats.org/drawingml/2006/main">
            <a:r>
              <a:t>6 min: Teach prejudice/treatment and model design-club response</a:t>
            </a:r>
          </a:p>
          <a:p xmlns:a="http://schemas.openxmlformats.org/drawingml/2006/main">
            <a:r>
              <a:t>12 min: Complete the three tasks</a:t>
            </a:r>
          </a:p>
          <a:p xmlns:a="http://schemas.openxmlformats.org/drawingml/2006/main">
            <a:r>
              <a:t>4 min: Compare practical fair responses</a:t>
            </a:r>
          </a:p>
          <a:p xmlns:a="http://schemas.openxmlformats.org/drawingml/2006/main">
            <a:r>
              <a:t>3 min: Exit and private help route</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Week_6_PSHE_Showing_Kindness_(SA3).pptx</a:t>
            </a:r>
          </a:p>
          <a:p xmlns:a="http://schemas.openxmlformats.org/drawingml/2006/main">
            <a:r>
              <a:t>Uploaded teaching source: Week_6_PSHE_Worksheet_My_Kindness_Plan_(SA3).docx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GROW_PSHE_W06 | Kindness, fairness and boundaries</a:t>
            </a:r>
          </a:p>
          <a:p xmlns:a="http://schemas.openxmlformats.org/drawingml/2006/main">
            <a:r>
              <a:t>Recognise respectful kindness, distinguish prejudice from discriminatory treatment, and choose safe responses that respect boundaries.</a:t>
            </a:r>
          </a:p>
          <a:p xmlns:a="http://schemas.openxmlformats.org/drawingml/2006/main">
            <a:r>
              <a:t/>
            </a:r>
          </a:p>
          <a:p xmlns:a="http://schemas.openxmlformats.org/drawingml/2006/main">
            <a:r>
              <a:t>Read in neutral language without acting out exclusion or asking anyone to represent disability. Do not debate whether some identities deserve inclusion.</a:t>
            </a:r>
          </a:p>
          <a:p xmlns:a="http://schemas.openxmlformats.org/drawingml/2006/main">
            <a:r>
              <a:t/>
            </a:r>
          </a:p>
          <a:p xmlns:a="http://schemas.openxmlformats.org/drawingml/2006/main">
            <a:r>
              <a:t>Pupil prompt: Identify the unfair judgement and the unfair treatment.</a:t>
            </a:r>
          </a:p>
          <a:p xmlns:a="http://schemas.openxmlformats.org/drawingml/2006/main">
            <a:r>
              <a:t/>
            </a:r>
          </a:p>
          <a:p xmlns:a="http://schemas.openxmlformats.org/drawingml/2006/main">
            <a:r>
              <a:t>Teacher answer / acceptable response: The assumption about ability is prejudice. Refusing inclusion because of disability is discriminatory treatment. An adult should address the harm and access needs.</a:t>
            </a:r>
          </a:p>
          <a:p xmlns:a="http://schemas.openxmlformats.org/drawingml/2006/main">
            <a:r>
              <a:t/>
            </a:r>
          </a:p>
          <a:p xmlns:a="http://schemas.openxmlformats.org/drawingml/2006/main">
            <a:r>
              <a:t>Support: Offer two response cards at a time and use a non-verbal “no” option. Scribe one explanation of a boundary and one adult-help step. All tasks can remain fictional.</a:t>
            </a:r>
          </a:p>
          <a:p xmlns:a="http://schemas.openxmlformats.org/drawingml/2006/main">
            <a:r>
              <a:t/>
            </a:r>
          </a:p>
          <a:p xmlns:a="http://schemas.openxmlformats.org/drawingml/2006/main">
            <a:r>
              <a:t>Stretch: Explain why “be nice” may be insufficient when a group’s routine excludes someone. Propose an access change, a responsible adult and a way to check whether the person’s view influenced the response.</a:t>
            </a:r>
          </a:p>
          <a:p xmlns:a="http://schemas.openxmlformats.org/drawingml/2006/main">
            <a:r>
              <a:t/>
            </a:r>
          </a:p>
          <a:p xmlns:a="http://schemas.openxmlformats.org/drawingml/2006/main">
            <a:r>
              <a:t>Safeguarding / safety: Do not enact prejudice, assign pupils as victims, repeat slurs or invite discriminatory debate. Address real disclosures and incidents through school policy and Week 5 guidance. No forced apology, reconciliation or physical contact forms part of this lesson.</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voluntary fictional approach</a:t>
            </a:r>
          </a:p>
          <a:p xmlns:a="http://schemas.openxmlformats.org/drawingml/2006/main">
            <a:r>
              <a:t>5 min: Model offer, answer and respect</a:t>
            </a:r>
          </a:p>
          <a:p xmlns:a="http://schemas.openxmlformats.org/drawingml/2006/main">
            <a:r>
              <a:t>5 min: Sort actions and boundaries</a:t>
            </a:r>
          </a:p>
          <a:p xmlns:a="http://schemas.openxmlformats.org/drawingml/2006/main">
            <a:r>
              <a:t>6 min: Teach prejudice/treatment and model design-club response</a:t>
            </a:r>
          </a:p>
          <a:p xmlns:a="http://schemas.openxmlformats.org/drawingml/2006/main">
            <a:r>
              <a:t>12 min: Complete the three tasks</a:t>
            </a:r>
          </a:p>
          <a:p xmlns:a="http://schemas.openxmlformats.org/drawingml/2006/main">
            <a:r>
              <a:t>4 min: Compare practical fair responses</a:t>
            </a:r>
          </a:p>
          <a:p xmlns:a="http://schemas.openxmlformats.org/drawingml/2006/main">
            <a:r>
              <a:t>3 min: Exit and private help route</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Week_6_PSHE_Showing_Kindness_(SA3).pptx</a:t>
            </a:r>
          </a:p>
          <a:p xmlns:a="http://schemas.openxmlformats.org/drawingml/2006/main">
            <a:r>
              <a:t>Uploaded teaching source: Week_6_PSHE_Worksheet_My_Kindness_Plan_(SA3).docx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GROW_PSHE_W06 | Kindness, fairness and boundaries</a:t>
            </a:r>
          </a:p>
          <a:p xmlns:a="http://schemas.openxmlformats.org/drawingml/2006/main">
            <a:r>
              <a:t>Recognise respectful kindness, distinguish prejudice from discriminatory treatment, and choose safe responses that respect boundaries.</a:t>
            </a:r>
          </a:p>
          <a:p xmlns:a="http://schemas.openxmlformats.org/drawingml/2006/main">
            <a:r>
              <a:t/>
            </a:r>
          </a:p>
          <a:p xmlns:a="http://schemas.openxmlformats.org/drawingml/2006/main">
            <a:r>
              <a:t>Read in neutral language without acting out exclusion or asking anyone to represent disability. Do not debate whether some identities deserve inclusion.</a:t>
            </a:r>
          </a:p>
          <a:p xmlns:a="http://schemas.openxmlformats.org/drawingml/2006/main">
            <a:r>
              <a:t/>
            </a:r>
          </a:p>
          <a:p xmlns:a="http://schemas.openxmlformats.org/drawingml/2006/main">
            <a:r>
              <a:t>Pupil prompt: Identify the unfair judgement and the unfair treatment.</a:t>
            </a:r>
          </a:p>
          <a:p xmlns:a="http://schemas.openxmlformats.org/drawingml/2006/main">
            <a:r>
              <a:t/>
            </a:r>
          </a:p>
          <a:p xmlns:a="http://schemas.openxmlformats.org/drawingml/2006/main">
            <a:r>
              <a:t>Teacher answer / acceptable response: The assumption about ability is prejudice. Refusing inclusion because of disability is discriminatory treatment. An adult should address the harm and access needs.</a:t>
            </a:r>
          </a:p>
          <a:p xmlns:a="http://schemas.openxmlformats.org/drawingml/2006/main">
            <a:r>
              <a:t/>
            </a:r>
          </a:p>
          <a:p xmlns:a="http://schemas.openxmlformats.org/drawingml/2006/main">
            <a:r>
              <a:t>Support: Offer two response cards at a time and use a non-verbal “no” option. Scribe one explanation of a boundary and one adult-help step. All tasks can remain fictional.</a:t>
            </a:r>
          </a:p>
          <a:p xmlns:a="http://schemas.openxmlformats.org/drawingml/2006/main">
            <a:r>
              <a:t/>
            </a:r>
          </a:p>
          <a:p xmlns:a="http://schemas.openxmlformats.org/drawingml/2006/main">
            <a:r>
              <a:t>Stretch: Explain why “be nice” may be insufficient when a group’s routine excludes someone. Propose an access change, a responsible adult and a way to check whether the person’s view influenced the response.</a:t>
            </a:r>
          </a:p>
          <a:p xmlns:a="http://schemas.openxmlformats.org/drawingml/2006/main">
            <a:r>
              <a:t/>
            </a:r>
          </a:p>
          <a:p xmlns:a="http://schemas.openxmlformats.org/drawingml/2006/main">
            <a:r>
              <a:t>Safeguarding / safety: Do not enact prejudice, assign pupils as victims, repeat slurs or invite discriminatory debate. Address real disclosures and incidents through school policy and Week 5 guidance. No forced apology, reconciliation or physical contact forms part of this lesson.</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voluntary fictional approach</a:t>
            </a:r>
          </a:p>
          <a:p xmlns:a="http://schemas.openxmlformats.org/drawingml/2006/main">
            <a:r>
              <a:t>5 min: Model offer, answer and respect</a:t>
            </a:r>
          </a:p>
          <a:p xmlns:a="http://schemas.openxmlformats.org/drawingml/2006/main">
            <a:r>
              <a:t>5 min: Sort actions and boundaries</a:t>
            </a:r>
          </a:p>
          <a:p xmlns:a="http://schemas.openxmlformats.org/drawingml/2006/main">
            <a:r>
              <a:t>6 min: Teach prejudice/treatment and model design-club response</a:t>
            </a:r>
          </a:p>
          <a:p xmlns:a="http://schemas.openxmlformats.org/drawingml/2006/main">
            <a:r>
              <a:t>12 min: Complete the three tasks</a:t>
            </a:r>
          </a:p>
          <a:p xmlns:a="http://schemas.openxmlformats.org/drawingml/2006/main">
            <a:r>
              <a:t>4 min: Compare practical fair responses</a:t>
            </a:r>
          </a:p>
          <a:p xmlns:a="http://schemas.openxmlformats.org/drawingml/2006/main">
            <a:r>
              <a:t>3 min: Exit and private help route</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Week_6_PSHE_Showing_Kindness_(SA3).pptx</a:t>
            </a:r>
          </a:p>
          <a:p xmlns:a="http://schemas.openxmlformats.org/drawingml/2006/main">
            <a:r>
              <a:t>Uploaded teaching source: Week_6_PSHE_Worksheet_My_Kindness_Plan_(SA3).docx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GROW_PSHE_W06 | Kindness, fairness and boundaries</a:t>
            </a:r>
          </a:p>
          <a:p xmlns:a="http://schemas.openxmlformats.org/drawingml/2006/main">
            <a:r>
              <a:t>Recognise respectful kindness, distinguish prejudice from discriminatory treatment, and choose safe responses that respect boundaries.</a:t>
            </a:r>
          </a:p>
          <a:p xmlns:a="http://schemas.openxmlformats.org/drawingml/2006/main">
            <a:r>
              <a:t/>
            </a:r>
          </a:p>
          <a:p xmlns:a="http://schemas.openxmlformats.org/drawingml/2006/main">
            <a:r>
              <a:t>Frame peer support as a choice, not a duty to investigate, intervene physically or provide counselling.</a:t>
            </a:r>
          </a:p>
          <a:p xmlns:a="http://schemas.openxmlformats.org/drawingml/2006/main">
            <a:r>
              <a:t/>
            </a:r>
          </a:p>
          <a:p xmlns:a="http://schemas.openxmlformats.org/drawingml/2006/main">
            <a:r>
              <a:t>Pupil prompt: What can a bystander do without confronting the person causing harm?</a:t>
            </a:r>
          </a:p>
          <a:p xmlns:a="http://schemas.openxmlformats.org/drawingml/2006/main">
            <a:r>
              <a:t/>
            </a:r>
          </a:p>
          <a:p xmlns:a="http://schemas.openxmlformats.org/drawingml/2006/main">
            <a:r>
              <a:t>Teacher answer / acceptable response: Tell an adult, avoid sharing the content and offer optional support from a safe position. Confrontation is not required.</a:t>
            </a:r>
          </a:p>
          <a:p xmlns:a="http://schemas.openxmlformats.org/drawingml/2006/main">
            <a:r>
              <a:t/>
            </a:r>
          </a:p>
          <a:p xmlns:a="http://schemas.openxmlformats.org/drawingml/2006/main">
            <a:r>
              <a:t>Support: Offer two response cards at a time and use a non-verbal “no” option. Scribe one explanation of a boundary and one adult-help step. All tasks can remain fictional.</a:t>
            </a:r>
          </a:p>
          <a:p xmlns:a="http://schemas.openxmlformats.org/drawingml/2006/main">
            <a:r>
              <a:t/>
            </a:r>
          </a:p>
          <a:p xmlns:a="http://schemas.openxmlformats.org/drawingml/2006/main">
            <a:r>
              <a:t>Stretch: Explain why “be nice” may be insufficient when a group’s routine excludes someone. Propose an access change, a responsible adult and a way to check whether the person’s view influenced the response.</a:t>
            </a:r>
          </a:p>
          <a:p xmlns:a="http://schemas.openxmlformats.org/drawingml/2006/main">
            <a:r>
              <a:t/>
            </a:r>
          </a:p>
          <a:p xmlns:a="http://schemas.openxmlformats.org/drawingml/2006/main">
            <a:r>
              <a:t>Safeguarding / safety: Do not enact prejudice, assign pupils as victims, repeat slurs or invite discriminatory debate. Address real disclosures and incidents through school policy and Week 5 guidance. No forced apology, reconciliation or physical contact forms part of this lesson.</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voluntary fictional approach</a:t>
            </a:r>
          </a:p>
          <a:p xmlns:a="http://schemas.openxmlformats.org/drawingml/2006/main">
            <a:r>
              <a:t>5 min: Model offer, answer and respect</a:t>
            </a:r>
          </a:p>
          <a:p xmlns:a="http://schemas.openxmlformats.org/drawingml/2006/main">
            <a:r>
              <a:t>5 min: Sort actions and boundaries</a:t>
            </a:r>
          </a:p>
          <a:p xmlns:a="http://schemas.openxmlformats.org/drawingml/2006/main">
            <a:r>
              <a:t>6 min: Teach prejudice/treatment and model design-club response</a:t>
            </a:r>
          </a:p>
          <a:p xmlns:a="http://schemas.openxmlformats.org/drawingml/2006/main">
            <a:r>
              <a:t>12 min: Complete the three tasks</a:t>
            </a:r>
          </a:p>
          <a:p xmlns:a="http://schemas.openxmlformats.org/drawingml/2006/main">
            <a:r>
              <a:t>4 min: Compare practical fair responses</a:t>
            </a:r>
          </a:p>
          <a:p xmlns:a="http://schemas.openxmlformats.org/drawingml/2006/main">
            <a:r>
              <a:t>3 min: Exit and private help route</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Week_6_PSHE_Showing_Kindness_(SA3).pptx</a:t>
            </a:r>
          </a:p>
          <a:p xmlns:a="http://schemas.openxmlformats.org/drawingml/2006/main">
            <a:r>
              <a:t>Uploaded teaching source: Week_6_PSHE_Worksheet_My_Kindness_Plan_(SA3).docx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GROW_PSHE_W06 | Kindness, fairness and boundaries</a:t>
            </a:r>
          </a:p>
          <a:p xmlns:a="http://schemas.openxmlformats.org/drawingml/2006/main">
            <a:r>
              <a:t>Recognise respectful kindness, distinguish prejudice from discriminatory treatment, and choose safe responses that respect boundaries.</a:t>
            </a:r>
          </a:p>
          <a:p xmlns:a="http://schemas.openxmlformats.org/drawingml/2006/main">
            <a:r>
              <a:t/>
            </a:r>
          </a:p>
          <a:p xmlns:a="http://schemas.openxmlformats.org/drawingml/2006/main">
            <a:r>
              <a:t>Frame peer support as a choice, not a duty to investigate, intervene physically or provide counselling.</a:t>
            </a:r>
          </a:p>
          <a:p xmlns:a="http://schemas.openxmlformats.org/drawingml/2006/main">
            <a:r>
              <a:t/>
            </a:r>
          </a:p>
          <a:p xmlns:a="http://schemas.openxmlformats.org/drawingml/2006/main">
            <a:r>
              <a:t>Pupil prompt: What can a bystander do without confronting the person causing harm?</a:t>
            </a:r>
          </a:p>
          <a:p xmlns:a="http://schemas.openxmlformats.org/drawingml/2006/main">
            <a:r>
              <a:t/>
            </a:r>
          </a:p>
          <a:p xmlns:a="http://schemas.openxmlformats.org/drawingml/2006/main">
            <a:r>
              <a:t>Teacher answer / acceptable response: Tell an adult, avoid sharing the content and offer optional support from a safe position. Confrontation is not required.</a:t>
            </a:r>
          </a:p>
          <a:p xmlns:a="http://schemas.openxmlformats.org/drawingml/2006/main">
            <a:r>
              <a:t/>
            </a:r>
          </a:p>
          <a:p xmlns:a="http://schemas.openxmlformats.org/drawingml/2006/main">
            <a:r>
              <a:t>Support: Offer two response cards at a time and use a non-verbal “no” option. Scribe one explanation of a boundary and one adult-help step. All tasks can remain fictional.</a:t>
            </a:r>
          </a:p>
          <a:p xmlns:a="http://schemas.openxmlformats.org/drawingml/2006/main">
            <a:r>
              <a:t/>
            </a:r>
          </a:p>
          <a:p xmlns:a="http://schemas.openxmlformats.org/drawingml/2006/main">
            <a:r>
              <a:t>Stretch: Explain why “be nice” may be insufficient when a group’s routine excludes someone. Propose an access change, a responsible adult and a way to check whether the person’s view influenced the response.</a:t>
            </a:r>
          </a:p>
          <a:p xmlns:a="http://schemas.openxmlformats.org/drawingml/2006/main">
            <a:r>
              <a:t/>
            </a:r>
          </a:p>
          <a:p xmlns:a="http://schemas.openxmlformats.org/drawingml/2006/main">
            <a:r>
              <a:t>Safeguarding / safety: Do not enact prejudice, assign pupils as victims, repeat slurs or invite discriminatory debate. Address real disclosures and incidents through school policy and Week 5 guidance. No forced apology, reconciliation or physical contact forms part of this lesson.</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voluntary fictional approach</a:t>
            </a:r>
          </a:p>
          <a:p xmlns:a="http://schemas.openxmlformats.org/drawingml/2006/main">
            <a:r>
              <a:t>5 min: Model offer, answer and respect</a:t>
            </a:r>
          </a:p>
          <a:p xmlns:a="http://schemas.openxmlformats.org/drawingml/2006/main">
            <a:r>
              <a:t>5 min: Sort actions and boundaries</a:t>
            </a:r>
          </a:p>
          <a:p xmlns:a="http://schemas.openxmlformats.org/drawingml/2006/main">
            <a:r>
              <a:t>6 min: Teach prejudice/treatment and model design-club response</a:t>
            </a:r>
          </a:p>
          <a:p xmlns:a="http://schemas.openxmlformats.org/drawingml/2006/main">
            <a:r>
              <a:t>12 min: Complete the three tasks</a:t>
            </a:r>
          </a:p>
          <a:p xmlns:a="http://schemas.openxmlformats.org/drawingml/2006/main">
            <a:r>
              <a:t>4 min: Compare practical fair responses</a:t>
            </a:r>
          </a:p>
          <a:p xmlns:a="http://schemas.openxmlformats.org/drawingml/2006/main">
            <a:r>
              <a:t>3 min: Exit and private help route</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Week_6_PSHE_Showing_Kindness_(SA3).pptx</a:t>
            </a:r>
          </a:p>
          <a:p xmlns:a="http://schemas.openxmlformats.org/drawingml/2006/main">
            <a:r>
              <a:t>Uploaded teaching source: Week_6_PSHE_Worksheet_My_Kindness_Plan_(SA3).docx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GROW_PSHE_W06 | Kindness, fairness and boundaries</a:t>
            </a:r>
          </a:p>
          <a:p xmlns:a="http://schemas.openxmlformats.org/drawingml/2006/main">
            <a:r>
              <a:t>Recognise respectful kindness, distinguish prejudice from discriminatory treatment, and choose safe responses that respect boundaries.</a:t>
            </a:r>
          </a:p>
          <a:p xmlns:a="http://schemas.openxmlformats.org/drawingml/2006/main">
            <a:r>
              <a:t/>
            </a:r>
          </a:p>
          <a:p xmlns:a="http://schemas.openxmlformats.org/drawingml/2006/main">
            <a:r>
              <a:t>This extends the source kindness lesson into practical fairness. Avoid claiming every access problem meets a legal definition of discrimination.</a:t>
            </a:r>
          </a:p>
          <a:p xmlns:a="http://schemas.openxmlformats.org/drawingml/2006/main">
            <a:r>
              <a:t/>
            </a:r>
          </a:p>
          <a:p xmlns:a="http://schemas.openxmlformats.org/drawingml/2006/main">
            <a:r>
              <a:t>Pupil prompt: Why can a different format be fair?</a:t>
            </a:r>
          </a:p>
          <a:p xmlns:a="http://schemas.openxmlformats.org/drawingml/2006/main">
            <a:r>
              <a:t/>
            </a:r>
          </a:p>
          <a:p xmlns:a="http://schemas.openxmlformats.org/drawingml/2006/main">
            <a:r>
              <a:t>Teacher answer / acceptable response: It reduces an access barrier so the pupil can participate. Identical resources do not guarantee equal access.</a:t>
            </a:r>
          </a:p>
          <a:p xmlns:a="http://schemas.openxmlformats.org/drawingml/2006/main">
            <a:r>
              <a:t/>
            </a:r>
          </a:p>
          <a:p xmlns:a="http://schemas.openxmlformats.org/drawingml/2006/main">
            <a:r>
              <a:t>Support: Offer two response cards at a time and use a non-verbal “no” option. Scribe one explanation of a boundary and one adult-help step. All tasks can remain fictional.</a:t>
            </a:r>
          </a:p>
          <a:p xmlns:a="http://schemas.openxmlformats.org/drawingml/2006/main">
            <a:r>
              <a:t/>
            </a:r>
          </a:p>
          <a:p xmlns:a="http://schemas.openxmlformats.org/drawingml/2006/main">
            <a:r>
              <a:t>Stretch: Explain why “be nice” may be insufficient when a group’s routine excludes someone. Propose an access change, a responsible adult and a way to check whether the person’s view influenced the response.</a:t>
            </a:r>
          </a:p>
          <a:p xmlns:a="http://schemas.openxmlformats.org/drawingml/2006/main">
            <a:r>
              <a:t/>
            </a:r>
          </a:p>
          <a:p xmlns:a="http://schemas.openxmlformats.org/drawingml/2006/main">
            <a:r>
              <a:t>Safeguarding / safety: Do not enact prejudice, assign pupils as victims, repeat slurs or invite discriminatory debate. Address real disclosures and incidents through school policy and Week 5 guidance. No forced apology, reconciliation or physical contact forms part of this lesson.</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voluntary fictional approach</a:t>
            </a:r>
          </a:p>
          <a:p xmlns:a="http://schemas.openxmlformats.org/drawingml/2006/main">
            <a:r>
              <a:t>5 min: Model offer, answer and respect</a:t>
            </a:r>
          </a:p>
          <a:p xmlns:a="http://schemas.openxmlformats.org/drawingml/2006/main">
            <a:r>
              <a:t>5 min: Sort actions and boundaries</a:t>
            </a:r>
          </a:p>
          <a:p xmlns:a="http://schemas.openxmlformats.org/drawingml/2006/main">
            <a:r>
              <a:t>6 min: Teach prejudice/treatment and model design-club response</a:t>
            </a:r>
          </a:p>
          <a:p xmlns:a="http://schemas.openxmlformats.org/drawingml/2006/main">
            <a:r>
              <a:t>12 min: Complete the three tasks</a:t>
            </a:r>
          </a:p>
          <a:p xmlns:a="http://schemas.openxmlformats.org/drawingml/2006/main">
            <a:r>
              <a:t>4 min: Compare practical fair responses</a:t>
            </a:r>
          </a:p>
          <a:p xmlns:a="http://schemas.openxmlformats.org/drawingml/2006/main">
            <a:r>
              <a:t>3 min: Exit and private help route</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Week_6_PSHE_Showing_Kindness_(SA3).pptx</a:t>
            </a:r>
          </a:p>
          <a:p xmlns:a="http://schemas.openxmlformats.org/drawingml/2006/main">
            <a:r>
              <a:t>Uploaded teaching source: Week_6_PSHE_Worksheet_My_Kindness_Plan_(SA3).docx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GROW_PSHE_W06 | Kindness, fairness and boundaries</a:t>
            </a:r>
          </a:p>
          <a:p xmlns:a="http://schemas.openxmlformats.org/drawingml/2006/main">
            <a:r>
              <a:t>Recognise respectful kindness, distinguish prejudice from discriminatory treatment, and choose safe responses that respect boundaries.</a:t>
            </a:r>
          </a:p>
          <a:p xmlns:a="http://schemas.openxmlformats.org/drawingml/2006/main">
            <a:r>
              <a:t/>
            </a:r>
          </a:p>
          <a:p xmlns:a="http://schemas.openxmlformats.org/drawingml/2006/main">
            <a:r>
              <a:t>This extends the source kindness lesson into practical fairness. Avoid claiming every access problem meets a legal definition of discrimination.</a:t>
            </a:r>
          </a:p>
          <a:p xmlns:a="http://schemas.openxmlformats.org/drawingml/2006/main">
            <a:r>
              <a:t/>
            </a:r>
          </a:p>
          <a:p xmlns:a="http://schemas.openxmlformats.org/drawingml/2006/main">
            <a:r>
              <a:t>Pupil prompt: Why can a different format be fair?</a:t>
            </a:r>
          </a:p>
          <a:p xmlns:a="http://schemas.openxmlformats.org/drawingml/2006/main">
            <a:r>
              <a:t/>
            </a:r>
          </a:p>
          <a:p xmlns:a="http://schemas.openxmlformats.org/drawingml/2006/main">
            <a:r>
              <a:t>Teacher answer / acceptable response: It reduces an access barrier so the pupil can participate. Identical resources do not guarantee equal access.</a:t>
            </a:r>
          </a:p>
          <a:p xmlns:a="http://schemas.openxmlformats.org/drawingml/2006/main">
            <a:r>
              <a:t/>
            </a:r>
          </a:p>
          <a:p xmlns:a="http://schemas.openxmlformats.org/drawingml/2006/main">
            <a:r>
              <a:t>Support: Offer two response cards at a time and use a non-verbal “no” option. Scribe one explanation of a boundary and one adult-help step. All tasks can remain fictional.</a:t>
            </a:r>
          </a:p>
          <a:p xmlns:a="http://schemas.openxmlformats.org/drawingml/2006/main">
            <a:r>
              <a:t/>
            </a:r>
          </a:p>
          <a:p xmlns:a="http://schemas.openxmlformats.org/drawingml/2006/main">
            <a:r>
              <a:t>Stretch: Explain why “be nice” may be insufficient when a group’s routine excludes someone. Propose an access change, a responsible adult and a way to check whether the person’s view influenced the response.</a:t>
            </a:r>
          </a:p>
          <a:p xmlns:a="http://schemas.openxmlformats.org/drawingml/2006/main">
            <a:r>
              <a:t/>
            </a:r>
          </a:p>
          <a:p xmlns:a="http://schemas.openxmlformats.org/drawingml/2006/main">
            <a:r>
              <a:t>Safeguarding / safety: Do not enact prejudice, assign pupils as victims, repeat slurs or invite discriminatory debate. Address real disclosures and incidents through school policy and Week 5 guidance. No forced apology, reconciliation or physical contact forms part of this lesson.</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voluntary fictional approach</a:t>
            </a:r>
          </a:p>
          <a:p xmlns:a="http://schemas.openxmlformats.org/drawingml/2006/main">
            <a:r>
              <a:t>5 min: Model offer, answer and respect</a:t>
            </a:r>
          </a:p>
          <a:p xmlns:a="http://schemas.openxmlformats.org/drawingml/2006/main">
            <a:r>
              <a:t>5 min: Sort actions and boundaries</a:t>
            </a:r>
          </a:p>
          <a:p xmlns:a="http://schemas.openxmlformats.org/drawingml/2006/main">
            <a:r>
              <a:t>6 min: Teach prejudice/treatment and model design-club response</a:t>
            </a:r>
          </a:p>
          <a:p xmlns:a="http://schemas.openxmlformats.org/drawingml/2006/main">
            <a:r>
              <a:t>12 min: Complete the three tasks</a:t>
            </a:r>
          </a:p>
          <a:p xmlns:a="http://schemas.openxmlformats.org/drawingml/2006/main">
            <a:r>
              <a:t>4 min: Compare practical fair responses</a:t>
            </a:r>
          </a:p>
          <a:p xmlns:a="http://schemas.openxmlformats.org/drawingml/2006/main">
            <a:r>
              <a:t>3 min: Exit and private help route</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Week_6_PSHE_Showing_Kindness_(SA3).pptx</a:t>
            </a:r>
          </a:p>
          <a:p xmlns:a="http://schemas.openxmlformats.org/drawingml/2006/main">
            <a:r>
              <a:t>Uploaded teaching source: Week_6_PSHE_Worksheet_My_Kindness_Plan_(SA3).docx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GROW_PSHE_W06 | Kindness, fairness and boundaries</a:t>
            </a:r>
          </a:p>
          <a:p xmlns:a="http://schemas.openxmlformats.org/drawingml/2006/main">
            <a:r>
              <a:t>Recognise respectful kindness, distinguish prejudice from discriminatory treatment, and choose safe responses that respect boundaries.</a:t>
            </a:r>
          </a:p>
          <a:p xmlns:a="http://schemas.openxmlformats.org/drawingml/2006/main">
            <a:r>
              <a:t/>
            </a:r>
          </a:p>
          <a:p xmlns:a="http://schemas.openxmlformats.org/drawingml/2006/main">
            <a:r>
              <a:t>Supported: select a safer response from two cards. Standard: explain a boundary and help route. Stretch: distinguish a kind gesture from a lasting change to an unfair practice.</a:t>
            </a:r>
          </a:p>
          <a:p xmlns:a="http://schemas.openxmlformats.org/drawingml/2006/main">
            <a:r>
              <a:t/>
            </a:r>
          </a:p>
          <a:p xmlns:a="http://schemas.openxmlformats.org/drawingml/2006/main">
            <a:r>
              <a:t>Pupil prompt: Does your plan protect choice and include adult responsibility?</a:t>
            </a:r>
          </a:p>
          <a:p xmlns:a="http://schemas.openxmlformats.org/drawingml/2006/main">
            <a:r>
              <a:t/>
            </a:r>
          </a:p>
          <a:p xmlns:a="http://schemas.openxmlformats.org/drawingml/2006/main">
            <a:r>
              <a:t>Teacher answer / acceptable response: A good plan avoids forced contact, seeks suitable help and changes the barrier or harmful practice.</a:t>
            </a:r>
          </a:p>
          <a:p xmlns:a="http://schemas.openxmlformats.org/drawingml/2006/main">
            <a:r>
              <a:t/>
            </a:r>
          </a:p>
          <a:p xmlns:a="http://schemas.openxmlformats.org/drawingml/2006/main">
            <a:r>
              <a:t>Support: Offer two response cards at a time and use a non-verbal “no” option. Scribe one explanation of a boundary and one adult-help step. All tasks can remain fictional.</a:t>
            </a:r>
          </a:p>
          <a:p xmlns:a="http://schemas.openxmlformats.org/drawingml/2006/main">
            <a:r>
              <a:t/>
            </a:r>
          </a:p>
          <a:p xmlns:a="http://schemas.openxmlformats.org/drawingml/2006/main">
            <a:r>
              <a:t>Stretch: Explain why “be nice” may be insufficient when a group’s routine excludes someone. Propose an access change, a responsible adult and a way to check whether the person’s view influenced the response.</a:t>
            </a:r>
          </a:p>
          <a:p xmlns:a="http://schemas.openxmlformats.org/drawingml/2006/main">
            <a:r>
              <a:t/>
            </a:r>
          </a:p>
          <a:p xmlns:a="http://schemas.openxmlformats.org/drawingml/2006/main">
            <a:r>
              <a:t>Safeguarding / safety: Do not enact prejudice, assign pupils as victims, repeat slurs or invite discriminatory debate. Address real disclosures and incidents through school policy and Week 5 guidance. No forced apology, reconciliation or physical contact forms part of this lesson.</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voluntary fictional approach</a:t>
            </a:r>
          </a:p>
          <a:p xmlns:a="http://schemas.openxmlformats.org/drawingml/2006/main">
            <a:r>
              <a:t>5 min: Model offer, answer and respect</a:t>
            </a:r>
          </a:p>
          <a:p xmlns:a="http://schemas.openxmlformats.org/drawingml/2006/main">
            <a:r>
              <a:t>5 min: Sort actions and boundaries</a:t>
            </a:r>
          </a:p>
          <a:p xmlns:a="http://schemas.openxmlformats.org/drawingml/2006/main">
            <a:r>
              <a:t>6 min: Teach prejudice/treatment and model design-club response</a:t>
            </a:r>
          </a:p>
          <a:p xmlns:a="http://schemas.openxmlformats.org/drawingml/2006/main">
            <a:r>
              <a:t>12 min: Complete the three tasks</a:t>
            </a:r>
          </a:p>
          <a:p xmlns:a="http://schemas.openxmlformats.org/drawingml/2006/main">
            <a:r>
              <a:t>4 min: Compare practical fair responses</a:t>
            </a:r>
          </a:p>
          <a:p xmlns:a="http://schemas.openxmlformats.org/drawingml/2006/main">
            <a:r>
              <a:t>3 min: Exit and private help route</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Week_6_PSHE_Showing_Kindness_(SA3).pptx</a:t>
            </a:r>
          </a:p>
          <a:p xmlns:a="http://schemas.openxmlformats.org/drawingml/2006/main">
            <a:r>
              <a:t>Uploaded teaching source: Week_6_PSHE_Worksheet_My_Kindness_Plan_(SA3).docx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GROW_PSHE_W06 | Kindness, fairness and boundaries</a:t>
            </a:r>
          </a:p>
          <a:p xmlns:a="http://schemas.openxmlformats.org/drawingml/2006/main">
            <a:r>
              <a:t>Recognise respectful kindness, distinguish prejudice from discriminatory treatment, and choose safe responses that respect boundaries.</a:t>
            </a:r>
          </a:p>
          <a:p xmlns:a="http://schemas.openxmlformats.org/drawingml/2006/main">
            <a:r>
              <a:t/>
            </a:r>
          </a:p>
          <a:p xmlns:a="http://schemas.openxmlformats.org/drawingml/2006/main">
            <a:r>
              <a:t>End without assigning a kindness mission. Pupils may identify a fictional action or optional class access suggestion instead.</a:t>
            </a:r>
          </a:p>
          <a:p xmlns:a="http://schemas.openxmlformats.org/drawingml/2006/main">
            <a:r>
              <a:t/>
            </a:r>
          </a:p>
          <a:p xmlns:a="http://schemas.openxmlformats.org/drawingml/2006/main">
            <a:r>
              <a:t>Pupil prompt: What is a respectful next response?</a:t>
            </a:r>
          </a:p>
          <a:p xmlns:a="http://schemas.openxmlformats.org/drawingml/2006/main">
            <a:r>
              <a:t/>
            </a:r>
          </a:p>
          <a:p xmlns:a="http://schemas.openxmlformats.org/drawingml/2006/main">
            <a:r>
              <a:t>Teacher answer / acceptable response: “Okay. You can join later if you choose.” Mo’s no should be respected; there is no need to explain or repay the invitation.</a:t>
            </a:r>
          </a:p>
          <a:p xmlns:a="http://schemas.openxmlformats.org/drawingml/2006/main">
            <a:r>
              <a:t/>
            </a:r>
          </a:p>
          <a:p xmlns:a="http://schemas.openxmlformats.org/drawingml/2006/main">
            <a:r>
              <a:t>Support: Offer two response cards at a time and use a non-verbal “no” option. Scribe one explanation of a boundary and one adult-help step. All tasks can remain fictional.</a:t>
            </a:r>
          </a:p>
          <a:p xmlns:a="http://schemas.openxmlformats.org/drawingml/2006/main">
            <a:r>
              <a:t/>
            </a:r>
          </a:p>
          <a:p xmlns:a="http://schemas.openxmlformats.org/drawingml/2006/main">
            <a:r>
              <a:t>Stretch: Explain why “be nice” may be insufficient when a group’s routine excludes someone. Propose an access change, a responsible adult and a way to check whether the person’s view influenced the response.</a:t>
            </a:r>
          </a:p>
          <a:p xmlns:a="http://schemas.openxmlformats.org/drawingml/2006/main">
            <a:r>
              <a:t/>
            </a:r>
          </a:p>
          <a:p xmlns:a="http://schemas.openxmlformats.org/drawingml/2006/main">
            <a:r>
              <a:t>Safeguarding / safety: Do not enact prejudice, assign pupils as victims, repeat slurs or invite discriminatory debate. Address real disclosures and incidents through school policy and Week 5 guidance. No forced apology, reconciliation or physical contact forms part of this lesson.</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voluntary fictional approach</a:t>
            </a:r>
          </a:p>
          <a:p xmlns:a="http://schemas.openxmlformats.org/drawingml/2006/main">
            <a:r>
              <a:t>5 min: Model offer, answer and respect</a:t>
            </a:r>
          </a:p>
          <a:p xmlns:a="http://schemas.openxmlformats.org/drawingml/2006/main">
            <a:r>
              <a:t>5 min: Sort actions and boundaries</a:t>
            </a:r>
          </a:p>
          <a:p xmlns:a="http://schemas.openxmlformats.org/drawingml/2006/main">
            <a:r>
              <a:t>6 min: Teach prejudice/treatment and model design-club response</a:t>
            </a:r>
          </a:p>
          <a:p xmlns:a="http://schemas.openxmlformats.org/drawingml/2006/main">
            <a:r>
              <a:t>12 min: Complete the three tasks</a:t>
            </a:r>
          </a:p>
          <a:p xmlns:a="http://schemas.openxmlformats.org/drawingml/2006/main">
            <a:r>
              <a:t>4 min: Compare practical fair responses</a:t>
            </a:r>
          </a:p>
          <a:p xmlns:a="http://schemas.openxmlformats.org/drawingml/2006/main">
            <a:r>
              <a:t>3 min: Exit and private help route</a:t>
            </a:r>
          </a:p>
          <a:p xmlns:a="http://schemas.openxmlformats.org/drawingml/2006/main">
            <a:r>
              <a:t>2 min: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Week_6_PSHE_Showing_Kindness_(SA3).pptx</a:t>
            </a:r>
          </a:p>
          <a:p xmlns:a="http://schemas.openxmlformats.org/drawingml/2006/main">
            <a:r>
              <a:t>Uploaded teaching source: Week_6_PSHE_Worksheet_My_Kindness_Plan_(SA3).docx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b7d274224c499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a8489791cf74489" /><Relationship Type="http://schemas.openxmlformats.org/officeDocument/2006/relationships/slideLayout" Target="/ppt/slideLayouts/slideLayout1.xml" Id="R365f44af36c2491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5f44af36c2491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1b418fa7dcd4bd2" /><Relationship Type="http://schemas.openxmlformats.org/officeDocument/2006/relationships/image" Target="/ppt/media/image.jpeg" Id="R7b0ce2008b9446db" /><Relationship Type="http://schemas.openxmlformats.org/officeDocument/2006/relationships/notesSlide" Target="/ppt/notesSlides/notesSlide1.xml" Id="R1c6f7146465c4a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7e2a49886ee42d5" /><Relationship Type="http://schemas.openxmlformats.org/officeDocument/2006/relationships/image" Target="/ppt/media/image.jpeg" Id="R028ab1f388e64404" /><Relationship Type="http://schemas.openxmlformats.org/officeDocument/2006/relationships/notesSlide" Target="/ppt/notesSlides/notesSlide2.xml" Id="R1242e506c7cb4a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847f0239f984ece" /><Relationship Type="http://schemas.openxmlformats.org/officeDocument/2006/relationships/image" Target="/ppt/media/image.jpeg" Id="R6eef5975f1bd4ea0" /><Relationship Type="http://schemas.openxmlformats.org/officeDocument/2006/relationships/notesSlide" Target="/ppt/notesSlides/notesSlide3.xml" Id="R6333ff5b6f8647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1fc61640e7c4287" /><Relationship Type="http://schemas.openxmlformats.org/officeDocument/2006/relationships/image" Target="/ppt/media/image.jpeg" Id="R35c0757064e94a95" /><Relationship Type="http://schemas.openxmlformats.org/officeDocument/2006/relationships/notesSlide" Target="/ppt/notesSlides/notesSlide4.xml" Id="R1c07cd193a4f4c5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85cd66b592a4cbb" /><Relationship Type="http://schemas.openxmlformats.org/officeDocument/2006/relationships/image" Target="/ppt/media/image.jpeg" Id="Rf04862c427514396" /><Relationship Type="http://schemas.openxmlformats.org/officeDocument/2006/relationships/notesSlide" Target="/ppt/notesSlides/notesSlide5.xml" Id="R0e0fe91f4a7745b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1492711c1d14841" /><Relationship Type="http://schemas.openxmlformats.org/officeDocument/2006/relationships/image" Target="/ppt/media/image.jpeg" Id="Rce7df169b09b46e6" /><Relationship Type="http://schemas.openxmlformats.org/officeDocument/2006/relationships/notesSlide" Target="/ppt/notesSlides/notesSlide6.xml" Id="R859eedb141d742a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eb23a6922e145c3" /><Relationship Type="http://schemas.openxmlformats.org/officeDocument/2006/relationships/image" Target="/ppt/media/image.jpeg" Id="R5830bb2bbe5e4143" /><Relationship Type="http://schemas.openxmlformats.org/officeDocument/2006/relationships/notesSlide" Target="/ppt/notesSlides/notesSlide7.xml" Id="R811ce77faccb418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7d5cc0f83ee408f" /><Relationship Type="http://schemas.openxmlformats.org/officeDocument/2006/relationships/image" Target="/ppt/media/image.jpeg" Id="R4b6a5681e5d241c0" /><Relationship Type="http://schemas.openxmlformats.org/officeDocument/2006/relationships/notesSlide" Target="/ppt/notesSlides/notesSlide8.xml" Id="R10efe819f76e484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33746ec904e426b" /><Relationship Type="http://schemas.openxmlformats.org/officeDocument/2006/relationships/image" Target="/ppt/media/image.jpeg" Id="Rffe416da5d2e4a8a" /><Relationship Type="http://schemas.openxmlformats.org/officeDocument/2006/relationships/notesSlide" Target="/ppt/notesSlides/notesSlide9.xml" Id="Rfb182370ebdd4a7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e947c4d63fe412a" /><Relationship Type="http://schemas.openxmlformats.org/officeDocument/2006/relationships/image" Target="/ppt/media/image.jpeg" Id="R5dac02bcf28c4c50" /><Relationship Type="http://schemas.openxmlformats.org/officeDocument/2006/relationships/notesSlide" Target="/ppt/notesSlides/notesSlide10.xml" Id="R91dc03a6ecd9428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7e7959db99f47b7" /><Relationship Type="http://schemas.openxmlformats.org/officeDocument/2006/relationships/image" Target="/ppt/media/image.jpeg" Id="R23ef6af736994173" /><Relationship Type="http://schemas.openxmlformats.org/officeDocument/2006/relationships/notesSlide" Target="/ppt/notesSlides/notesSlide11.xml" Id="R8a6ba97d08cb498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0df2fc19a6744b3" /><Relationship Type="http://schemas.openxmlformats.org/officeDocument/2006/relationships/image" Target="/ppt/media/image.jpeg" Id="R8d21795280af4cca" /><Relationship Type="http://schemas.openxmlformats.org/officeDocument/2006/relationships/notesSlide" Target="/ppt/notesSlides/notesSlide12.xml" Id="R6edd76f4d64b492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3a157f0456d4e0c" /><Relationship Type="http://schemas.openxmlformats.org/officeDocument/2006/relationships/image" Target="/ppt/media/image.jpeg" Id="R02bbfcfd0bc9496a" /><Relationship Type="http://schemas.openxmlformats.org/officeDocument/2006/relationships/notesSlide" Target="/ppt/notesSlides/notesSlide13.xml" Id="Rdb473ccf7eba422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b6d6159b34540cb" /><Relationship Type="http://schemas.openxmlformats.org/officeDocument/2006/relationships/image" Target="/ppt/media/image.jpeg" Id="R6bdf6c3bcc324255" /><Relationship Type="http://schemas.openxmlformats.org/officeDocument/2006/relationships/notesSlide" Target="/ppt/notesSlides/notesSlide14.xml" Id="Rb013ceb2aeb04d5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ba5cfd47c354266" /><Relationship Type="http://schemas.openxmlformats.org/officeDocument/2006/relationships/image" Target="/ppt/media/image.jpeg" Id="R999be9de4c3a4038" /><Relationship Type="http://schemas.openxmlformats.org/officeDocument/2006/relationships/notesSlide" Target="/ppt/notesSlides/notesSlide15.xml" Id="Ra60a0482c2d042e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2451195806f41b6" /><Relationship Type="http://schemas.openxmlformats.org/officeDocument/2006/relationships/image" Target="/ppt/media/image.jpeg" Id="R6223fd2006c74903" /><Relationship Type="http://schemas.openxmlformats.org/officeDocument/2006/relationships/notesSlide" Target="/ppt/notesSlides/notesSlide16.xml" Id="R86167647148d4825"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b0ce2008b9446d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Kindness, fairness and boundaries</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PSHE</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Today: consider offers, choices and fair ways to respond to harm.</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fictional examples. You do not need to carry out or report a kindness mission.</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Can saying “no, thank you” fit a respectful exchange?</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028ab1f388e6440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PSHE</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KINDNESS</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BOUNDARY</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Considerate words or actions that respect another person.</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 limit someone sets about what they want or accept.</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eef5975f1bd4ea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The offer and the answer</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PSHE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Rae asks, “Would you like help carrying that folder?”</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Mo says, “No, thanks. I have it.”</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Rae replies, “Okay,” and leaves Mo space.</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Where is the kindness in this exchange?</a:t>
            </a:r>
          </a:p>
        </p:txBody>
      </p:sp>
    </p:spTree>
    <p:extLst>
      <p:ext uri="{BB962C8B-B14F-4D97-AF65-F5344CB8AC3E}">
        <p14:creationId xmlns:p14="http://schemas.microsoft.com/office/powerpoint/2010/main" val="1732344281"/>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5c0757064e94a9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Kindness includes a choice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Ask before helping with someone’s belongings or personal space.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friendly offer does not create a debt. People can choose distance or no contact.</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You can be respectful while protecting your own boundaries and asking for adult support.</a:t>
            </a:r>
          </a:p>
        </p:txBody>
      </p:sp>
    </p:spTree>
    <p:extLst>
      <p:ext uri="{BB962C8B-B14F-4D97-AF65-F5344CB8AC3E}">
        <p14:creationId xmlns:p14="http://schemas.microsoft.com/office/powerpoint/2010/main" val="289928415"/>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04862c427514396"/>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Kindness includes a choice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Must someone hug, forgive or stay friends to be kind?</a:t>
            </a:r>
          </a:p>
        </p:txBody>
      </p:sp>
    </p:spTree>
    <p:extLst>
      <p:ext uri="{BB962C8B-B14F-4D97-AF65-F5344CB8AC3E}">
        <p14:creationId xmlns:p14="http://schemas.microsoft.com/office/powerpoint/2010/main" val="289928415"/>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e7df169b09b46e6"/>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Respectful, harmful or needs a check?</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PSHE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A pupil offers a spare pencil and waits for an answer.</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 A pupil posts a classmate’s embarrassing photo without asking.</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 A pupil moves someone’s work to “help”, without checking.</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Sort each action and improve the ones that need changing.</a:t>
            </a:r>
          </a:p>
        </p:txBody>
      </p:sp>
    </p:spTree>
    <p:extLst>
      <p:ext uri="{BB962C8B-B14F-4D97-AF65-F5344CB8AC3E}">
        <p14:creationId xmlns:p14="http://schemas.microsoft.com/office/powerpoint/2010/main" val="1732344281"/>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830bb2bbe5e414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Prejudice and discrimination</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Prejudice is an unfair judgement based on assumptions about a person’s identity or group.</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Discrimination is unfair treatment linked to who someone is or is assumed to be.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People deserve respectful treatment across differences in race, religion, disability, gender and other identities.</a:t>
            </a:r>
          </a:p>
        </p:txBody>
      </p:sp>
    </p:spTree>
    <p:extLst>
      <p:ext uri="{BB962C8B-B14F-4D97-AF65-F5344CB8AC3E}">
        <p14:creationId xmlns:p14="http://schemas.microsoft.com/office/powerpoint/2010/main" val="289928415"/>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b6a5681e5d241c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Prejudice and discrimination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is an unfair judgement, and which is an action?</a:t>
            </a:r>
          </a:p>
        </p:txBody>
      </p:sp>
    </p:spTree>
    <p:extLst>
      <p:ext uri="{BB962C8B-B14F-4D97-AF65-F5344CB8AC3E}">
        <p14:creationId xmlns:p14="http://schemas.microsoft.com/office/powerpoint/2010/main" val="289928415"/>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fe416da5d2e4a8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The design club</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member says that pupils with a disability cannot have good design ideas.</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The member then refuses to include a pupil with a disability in the planning group.</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The excluded pupil should not have to prove their worth to be included.</a:t>
            </a:r>
          </a:p>
        </p:txBody>
      </p:sp>
    </p:spTree>
    <p:extLst>
      <p:ext uri="{BB962C8B-B14F-4D97-AF65-F5344CB8AC3E}">
        <p14:creationId xmlns:p14="http://schemas.microsoft.com/office/powerpoint/2010/main" val="289928415"/>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dac02bcf28c4c5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The design club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Identify the unfair judgement and the unfair treatment.</a:t>
            </a:r>
          </a:p>
        </p:txBody>
      </p:sp>
    </p:spTree>
    <p:extLst>
      <p:ext uri="{BB962C8B-B14F-4D97-AF65-F5344CB8AC3E}">
        <p14:creationId xmlns:p14="http://schemas.microsoft.com/office/powerpoint/2010/main" val="289928415"/>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3ef6af73699417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We do: a safer response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Do not join in or spread harmful content. Move away if needed for safety.</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Tell a trusted adult what happened. Ask the person privately what support they want, if it is safe to do so.</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Adults should address the harm and the group’s access arrangements.</a:t>
            </a:r>
          </a:p>
        </p:txBody>
      </p:sp>
    </p:spTree>
    <p:extLst>
      <p:ext uri="{BB962C8B-B14F-4D97-AF65-F5344CB8AC3E}">
        <p14:creationId xmlns:p14="http://schemas.microsoft.com/office/powerpoint/2010/main" val="289928415"/>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d21795280af4cc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We do: a safer response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can a bystander do without confronting the person causing harm?</a:t>
            </a:r>
          </a:p>
        </p:txBody>
      </p:sp>
    </p:spTree>
    <p:extLst>
      <p:ext uri="{BB962C8B-B14F-4D97-AF65-F5344CB8AC3E}">
        <p14:creationId xmlns:p14="http://schemas.microsoft.com/office/powerpoint/2010/main" val="289928415"/>
      </p:ext>
    </p:extLst>
  </p:cSld>
</p:sld>
</file>

<file path=ppt/slides/slide1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2bbfcfd0bc9496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Fairness may change the task</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Everyone receives the same tiny-print instruction sheet. One pupil cannot read it.</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The adult supplies larger print and reads the task aloud as an option.</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The learning goal stays shared; the way to access it can differ.</a:t>
            </a:r>
          </a:p>
        </p:txBody>
      </p:sp>
    </p:spTree>
    <p:extLst>
      <p:ext uri="{BB962C8B-B14F-4D97-AF65-F5344CB8AC3E}">
        <p14:creationId xmlns:p14="http://schemas.microsoft.com/office/powerpoint/2010/main" val="289928415"/>
      </p:ext>
    </p:extLst>
  </p:cSld>
</p:sld>
</file>

<file path=ppt/slides/slide1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bdf6c3bcc32425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Fairness may change the task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Why can a different format be fair?</a:t>
            </a:r>
          </a:p>
        </p:txBody>
      </p:sp>
    </p:spTree>
    <p:extLst>
      <p:ext uri="{BB962C8B-B14F-4D97-AF65-F5344CB8AC3E}">
        <p14:creationId xmlns:p14="http://schemas.microsoft.com/office/powerpoint/2010/main" val="289928415"/>
      </p:ext>
    </p:extLst>
  </p:cSld>
</p:sld>
</file>

<file path=ppt/slides/slide1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99be9de4c3a4038"/>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learning record</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PSHE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15</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Task 1: sort offers and respect boundaries.</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Task 2: distinguish a judgement from unfair treatment.</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Task 3: improve a fictional group’s response to exclusion.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Does your plan protect choice and include adult responsibility?</a:t>
            </a:r>
          </a:p>
        </p:txBody>
      </p:sp>
    </p:spTree>
    <p:extLst>
      <p:ext uri="{BB962C8B-B14F-4D97-AF65-F5344CB8AC3E}">
        <p14:creationId xmlns:p14="http://schemas.microsoft.com/office/powerpoint/2010/main" val="1732344281"/>
      </p:ext>
    </p:extLst>
  </p:cSld>
</p:sld>
</file>

<file path=ppt/slides/slide1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223fd2006c7490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An invitation is not an obligation</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16</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Rae invites Mo to join a game. Mo says, “I would rather sit quietly.”</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is a respectful next response?</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2026-09-07T12:37:18.8720000Z</dcterms:created>
  <dcterms:modified xsi:type="dcterms:W3CDTF">2026-09-07T12:37:18.8720000Z</dcterms:modified>
</coreProperties>
</file>