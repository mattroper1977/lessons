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e1af9daf934231" /><Relationship Type="http://schemas.openxmlformats.org/officeDocument/2006/relationships/extended-properties" Target="/docProps/app.xml" Id="R9fbdcfe4e25e45f5" /><Relationship Type="http://schemas.openxmlformats.org/officeDocument/2006/relationships/officeDocument" Target="/ppt/presentation.xml" Id="Rfd78b2268cbc4e2e" /></Relationships>
</file>

<file path=ppt/presentation.xml><?xml version="1.0" encoding="utf-8"?>
<p:presentation xmlns:p="http://schemas.openxmlformats.org/presentationml/2006/main">
  <p:sldMasterIdLst>
    <p:sldMasterId xmlns:r="http://schemas.openxmlformats.org/officeDocument/2006/relationships" id="2147483648" r:id="Rc09786ef6caa464d"/>
  </p:sldMasterIdLst>
  <p:notesMasterIdLst>
    <p:notesMasterId xmlns:r="http://schemas.openxmlformats.org/officeDocument/2006/relationships" r:id="Rb1ecb20536f64ccf"/>
  </p:notesMasterIdLst>
  <p:sldIdLst>
    <p:sldId xmlns:r="http://schemas.openxmlformats.org/officeDocument/2006/relationships" id="256" r:id="R20bbda4435f24547"/>
    <p:sldId xmlns:r="http://schemas.openxmlformats.org/officeDocument/2006/relationships" id="257" r:id="R397ccfaf6ca14389"/>
    <p:sldId xmlns:r="http://schemas.openxmlformats.org/officeDocument/2006/relationships" id="258" r:id="Rcf5935f448994667"/>
    <p:sldId xmlns:r="http://schemas.openxmlformats.org/officeDocument/2006/relationships" id="259" r:id="R56bd5174b52646a6"/>
    <p:sldId xmlns:r="http://schemas.openxmlformats.org/officeDocument/2006/relationships" id="260" r:id="Rc2ac1f69b10d4b52"/>
    <p:sldId xmlns:r="http://schemas.openxmlformats.org/officeDocument/2006/relationships" id="261" r:id="Re2dc29e75a964cb9"/>
    <p:sldId xmlns:r="http://schemas.openxmlformats.org/officeDocument/2006/relationships" id="262" r:id="R6186332454ee4556"/>
    <p:sldId xmlns:r="http://schemas.openxmlformats.org/officeDocument/2006/relationships" id="263" r:id="Rbe9e4c2bca3d4cb3"/>
    <p:sldId xmlns:r="http://schemas.openxmlformats.org/officeDocument/2006/relationships" id="264" r:id="R0e8e76f643414e88"/>
    <p:sldId xmlns:r="http://schemas.openxmlformats.org/officeDocument/2006/relationships" id="265" r:id="R6046faf8e663420f"/>
    <p:sldId xmlns:r="http://schemas.openxmlformats.org/officeDocument/2006/relationships" id="266" r:id="R8495de56669c4b93"/>
    <p:sldId xmlns:r="http://schemas.openxmlformats.org/officeDocument/2006/relationships" id="267" r:id="R2ac223474612482e"/>
    <p:sldId xmlns:r="http://schemas.openxmlformats.org/officeDocument/2006/relationships" id="268" r:id="R9d9e8bda93514272"/>
    <p:sldId xmlns:r="http://schemas.openxmlformats.org/officeDocument/2006/relationships" id="269" r:id="Rc9e0cdf621c64ddb"/>
    <p:sldId xmlns:r="http://schemas.openxmlformats.org/officeDocument/2006/relationships" id="270" r:id="Rf0f2033312244bd0"/>
    <p:sldId xmlns:r="http://schemas.openxmlformats.org/officeDocument/2006/relationships" id="271" r:id="Ra90cd04a21934b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b2c4222cf44c51" /><Relationship Type="http://schemas.openxmlformats.org/officeDocument/2006/relationships/slideMaster" Target="/ppt/slideMasters/slideMaster1.xml" Id="Rc09786ef6caa464d" /><Relationship Type="http://schemas.openxmlformats.org/officeDocument/2006/relationships/notesMaster" Target="/ppt/notesMasters/notesMaster1.xml" Id="Rb1ecb20536f64ccf" /><Relationship Type="http://schemas.openxmlformats.org/officeDocument/2006/relationships/presProps" Target="/ppt/presProps.xml" Id="R63b735268b734984" /><Relationship Type="http://schemas.openxmlformats.org/officeDocument/2006/relationships/tableStyles" Target="/ppt/tableStyles.xml" Id="Re824d0db70c74483" /><Relationship Type="http://schemas.openxmlformats.org/officeDocument/2006/relationships/slide" Target="/ppt/slides/slide1.xml" Id="R20bbda4435f24547" /><Relationship Type="http://schemas.openxmlformats.org/officeDocument/2006/relationships/slide" Target="/ppt/slides/slide2.xml" Id="R397ccfaf6ca14389" /><Relationship Type="http://schemas.openxmlformats.org/officeDocument/2006/relationships/slide" Target="/ppt/slides/slide3.xml" Id="Rcf5935f448994667" /><Relationship Type="http://schemas.openxmlformats.org/officeDocument/2006/relationships/slide" Target="/ppt/slides/slide4.xml" Id="R56bd5174b52646a6" /><Relationship Type="http://schemas.openxmlformats.org/officeDocument/2006/relationships/slide" Target="/ppt/slides/slide5.xml" Id="Rc2ac1f69b10d4b52" /><Relationship Type="http://schemas.openxmlformats.org/officeDocument/2006/relationships/slide" Target="/ppt/slides/slide6.xml" Id="Re2dc29e75a964cb9" /><Relationship Type="http://schemas.openxmlformats.org/officeDocument/2006/relationships/slide" Target="/ppt/slides/slide7.xml" Id="R6186332454ee4556" /><Relationship Type="http://schemas.openxmlformats.org/officeDocument/2006/relationships/slide" Target="/ppt/slides/slide8.xml" Id="Rbe9e4c2bca3d4cb3" /><Relationship Type="http://schemas.openxmlformats.org/officeDocument/2006/relationships/slide" Target="/ppt/slides/slide9.xml" Id="R0e8e76f643414e88" /><Relationship Type="http://schemas.openxmlformats.org/officeDocument/2006/relationships/slide" Target="/ppt/slides/slide10.xml" Id="R6046faf8e663420f" /><Relationship Type="http://schemas.openxmlformats.org/officeDocument/2006/relationships/slide" Target="/ppt/slides/slide11.xml" Id="R8495de56669c4b93" /><Relationship Type="http://schemas.openxmlformats.org/officeDocument/2006/relationships/slide" Target="/ppt/slides/slide12.xml" Id="R2ac223474612482e" /><Relationship Type="http://schemas.openxmlformats.org/officeDocument/2006/relationships/slide" Target="/ppt/slides/slide13.xml" Id="R9d9e8bda93514272" /><Relationship Type="http://schemas.openxmlformats.org/officeDocument/2006/relationships/slide" Target="/ppt/slides/slide14.xml" Id="Rc9e0cdf621c64ddb" /><Relationship Type="http://schemas.openxmlformats.org/officeDocument/2006/relationships/slide" Target="/ppt/slides/slide15.xml" Id="Rf0f2033312244bd0" /><Relationship Type="http://schemas.openxmlformats.org/officeDocument/2006/relationships/slide" Target="/ppt/slides/slide16.xml" Id="Ra90cd04a21934b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5963adf4584c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32321b5d204830" /><Relationship Type="http://schemas.openxmlformats.org/officeDocument/2006/relationships/notesMaster" Target="/ppt/notesMasters/notesMaster1.xml" Id="R5bbd852255cc4d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3fdb9c42a7422b" /><Relationship Type="http://schemas.openxmlformats.org/officeDocument/2006/relationships/notesMaster" Target="/ppt/notesMasters/notesMaster1.xml" Id="Rf58c4f8d8671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d18e7a55f2403b" /><Relationship Type="http://schemas.openxmlformats.org/officeDocument/2006/relationships/notesMaster" Target="/ppt/notesMasters/notesMaster1.xml" Id="Rd0a3c069121e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cd4c4146144386" /><Relationship Type="http://schemas.openxmlformats.org/officeDocument/2006/relationships/notesMaster" Target="/ppt/notesMasters/notesMaster1.xml" Id="Raff2ffad418d4b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f2e1e217f745c6" /><Relationship Type="http://schemas.openxmlformats.org/officeDocument/2006/relationships/notesMaster" Target="/ppt/notesMasters/notesMaster1.xml" Id="R231ac850937842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eb6c1eebd4198" /><Relationship Type="http://schemas.openxmlformats.org/officeDocument/2006/relationships/notesMaster" Target="/ppt/notesMasters/notesMaster1.xml" Id="Rcbafd07bbe3a4b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88bfd973314e9d" /><Relationship Type="http://schemas.openxmlformats.org/officeDocument/2006/relationships/notesMaster" Target="/ppt/notesMasters/notesMaster1.xml" Id="R5d286ed3c8324c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e4f54b3ce44275" /><Relationship Type="http://schemas.openxmlformats.org/officeDocument/2006/relationships/notesMaster" Target="/ppt/notesMasters/notesMaster1.xml" Id="R4d1c76e422004c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6f71ac93ef45f8" /><Relationship Type="http://schemas.openxmlformats.org/officeDocument/2006/relationships/notesMaster" Target="/ppt/notesMasters/notesMaster1.xml" Id="R72181099e6344d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a2227b87c3473d" /><Relationship Type="http://schemas.openxmlformats.org/officeDocument/2006/relationships/notesMaster" Target="/ppt/notesMasters/notesMaster1.xml" Id="Ref7f150f2be849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d723128f9f4536" /><Relationship Type="http://schemas.openxmlformats.org/officeDocument/2006/relationships/notesMaster" Target="/ppt/notesMasters/notesMaster1.xml" Id="R668594e9835341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dbfe5981584490" /><Relationship Type="http://schemas.openxmlformats.org/officeDocument/2006/relationships/notesMaster" Target="/ppt/notesMasters/notesMaster1.xml" Id="R9fa1917018b14b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43e931b6bc40a4" /><Relationship Type="http://schemas.openxmlformats.org/officeDocument/2006/relationships/notesMaster" Target="/ppt/notesMasters/notesMaster1.xml" Id="R580d311597144d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41e1ee1292444f" /><Relationship Type="http://schemas.openxmlformats.org/officeDocument/2006/relationships/notesMaster" Target="/ppt/notesMasters/notesMaster1.xml" Id="R89ed567c66d047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51b8259e21443b" /><Relationship Type="http://schemas.openxmlformats.org/officeDocument/2006/relationships/notesMaster" Target="/ppt/notesMasters/notesMaster1.xml" Id="R8606163c41f94d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972d44092b497c" /><Relationship Type="http://schemas.openxmlformats.org/officeDocument/2006/relationships/notesMaster" Target="/ppt/notesMasters/notesMaster1.xml" Id="Re45cddfae9594a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Adapted from Week 5 My Trusted Adults and My Support Network. SA5 is an unverified source planning reference. The public hand/network task is replaced with fictional routes and optional private planning.</a:t>
            </a:r>
          </a:p>
          <a:p xmlns:a="http://schemas.openxmlformats.org/drawingml/2006/main">
            <a:r>
              <a:t/>
            </a:r>
          </a:p>
          <a:p xmlns:a="http://schemas.openxmlformats.org/drawingml/2006/main">
            <a:r>
              <a:t>Pupil prompt: Can a person ask for help without telling the whole class why?</a:t>
            </a:r>
          </a:p>
          <a:p xmlns:a="http://schemas.openxmlformats.org/drawingml/2006/main">
            <a:r>
              <a:t/>
            </a:r>
          </a:p>
          <a:p xmlns:a="http://schemas.openxmlformats.org/drawingml/2006/main">
            <a:r>
              <a:t>Teacher answer / acceptable response: Yes. They can use a private conversation, note, symbol or device message to an appropriate adult.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Do not define trusted adults by making a pupil feel calm: asking for help may feel frightening even when the response is safe. Do not imply any family member or staff title guarantees safety.</a:t>
            </a:r>
          </a:p>
          <a:p xmlns:a="http://schemas.openxmlformats.org/drawingml/2006/main">
            <a:r>
              <a:t/>
            </a:r>
          </a:p>
          <a:p xmlns:a="http://schemas.openxmlformats.org/drawingml/2006/main">
            <a:r>
              <a:t>Pupil prompt: Which matters more: a person’s job title or how they respond?</a:t>
            </a:r>
          </a:p>
          <a:p xmlns:a="http://schemas.openxmlformats.org/drawingml/2006/main">
            <a:r>
              <a:t/>
            </a:r>
          </a:p>
          <a:p xmlns:a="http://schemas.openxmlformats.org/drawingml/2006/main">
            <a:r>
              <a:t>Teacher answer / acceptable response: Behaviour matters. A school role can help identify a route, but any concerning behaviour should be told to another safe adult.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Do not define trusted adults by making a pupil feel calm: asking for help may feel frightening even when the response is safe. Do not imply any family member or staff title guarantees safety.</a:t>
            </a:r>
          </a:p>
          <a:p xmlns:a="http://schemas.openxmlformats.org/drawingml/2006/main">
            <a:r>
              <a:t/>
            </a:r>
          </a:p>
          <a:p xmlns:a="http://schemas.openxmlformats.org/drawingml/2006/main">
            <a:r>
              <a:t>Pupil prompt: Which matters more: a person’s job title or how they respond?</a:t>
            </a:r>
          </a:p>
          <a:p xmlns:a="http://schemas.openxmlformats.org/drawingml/2006/main">
            <a:r>
              <a:t/>
            </a:r>
          </a:p>
          <a:p xmlns:a="http://schemas.openxmlformats.org/drawingml/2006/main">
            <a:r>
              <a:t>Teacher answer / acceptable response: Behaviour matters. A school role can help identify a route, but any concerning behaviour should be told to another safe adult.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Do not ask pupils to rehearse the warning line at each other. Read it as a fictional card and keep discussion focused on the next safe step.</a:t>
            </a:r>
          </a:p>
          <a:p xmlns:a="http://schemas.openxmlformats.org/drawingml/2006/main">
            <a:r>
              <a:t/>
            </a:r>
          </a:p>
          <a:p xmlns:a="http://schemas.openxmlformats.org/drawingml/2006/main">
            <a:r>
              <a:t>Pupil prompt: Which responses help, and which needs another adult?</a:t>
            </a:r>
          </a:p>
          <a:p xmlns:a="http://schemas.openxmlformats.org/drawingml/2006/main">
            <a:r>
              <a:t/>
            </a:r>
          </a:p>
          <a:p xmlns:a="http://schemas.openxmlformats.org/drawingml/2006/main">
            <a:r>
              <a:t>Teacher answer / acceptable response: A and C support help and explain responsibility. B is a warning sign: tell another trusted adult; it is not the child’s fault.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Demonstrate with a blank fictional note only. Never ask pupils to open private messages, upload screenshots or produce distressing material in class.</a:t>
            </a:r>
          </a:p>
          <a:p xmlns:a="http://schemas.openxmlformats.org/drawingml/2006/main">
            <a:r>
              <a:t/>
            </a:r>
          </a:p>
          <a:p xmlns:a="http://schemas.openxmlformats.org/drawingml/2006/main">
            <a:r>
              <a:t>Pupil prompt: What makes the request usable without sharing details publicly?</a:t>
            </a:r>
          </a:p>
          <a:p xmlns:a="http://schemas.openxmlformats.org/drawingml/2006/main">
            <a:r>
              <a:t/>
            </a:r>
          </a:p>
          <a:p xmlns:a="http://schemas.openxmlformats.org/drawingml/2006/main">
            <a:r>
              <a:t>Teacher answer / acceptable response: It identifies a need for help and asks for a private conversation. No public explanation or perfect wording is required.</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All names in the scenario are fictional. Identify real local contacts before teaching. A child’s repeated help-seeking is not a substitute for adult responsibility.</a:t>
            </a:r>
          </a:p>
          <a:p xmlns:a="http://schemas.openxmlformats.org/drawingml/2006/main">
            <a:r>
              <a:t/>
            </a:r>
          </a:p>
          <a:p xmlns:a="http://schemas.openxmlformats.org/drawingml/2006/main">
            <a:r>
              <a:t>Pupil prompt: What should an adult do rather than leave Nico to manage alone?</a:t>
            </a:r>
          </a:p>
          <a:p xmlns:a="http://schemas.openxmlformats.org/drawingml/2006/main">
            <a:r>
              <a:t/>
            </a:r>
          </a:p>
          <a:p xmlns:a="http://schemas.openxmlformats.org/drawingml/2006/main">
            <a:r>
              <a:t>Teacher answer / acceptable response: Check urgency, take the concern seriously and help connect Nico with an available appropriate adult.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All names in the scenario are fictional. Identify real local contacts before teaching. A child’s repeated help-seeking is not a substitute for adult responsibility.</a:t>
            </a:r>
          </a:p>
          <a:p xmlns:a="http://schemas.openxmlformats.org/drawingml/2006/main">
            <a:r>
              <a:t/>
            </a:r>
          </a:p>
          <a:p xmlns:a="http://schemas.openxmlformats.org/drawingml/2006/main">
            <a:r>
              <a:t>Pupil prompt: What should an adult do rather than leave Nico to manage alone?</a:t>
            </a:r>
          </a:p>
          <a:p xmlns:a="http://schemas.openxmlformats.org/drawingml/2006/main">
            <a:r>
              <a:t/>
            </a:r>
          </a:p>
          <a:p xmlns:a="http://schemas.openxmlformats.org/drawingml/2006/main">
            <a:r>
              <a:t>Teacher answer / acceptable response: Check urgency, take the concern seriously and help connect Nico with an available appropriate adult.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Use the printed service cards. YoungMinds is not presented as a counselling service for pupils; do not promise immediate availability or identical confidentiality across services.</a:t>
            </a:r>
          </a:p>
          <a:p xmlns:a="http://schemas.openxmlformats.org/drawingml/2006/main">
            <a:r>
              <a:t/>
            </a:r>
          </a:p>
          <a:p xmlns:a="http://schemas.openxmlformats.org/drawingml/2006/main">
            <a:r>
              <a:t>Pupil prompt: Which route could offer information, and which could provide a health appointment?</a:t>
            </a:r>
          </a:p>
          <a:p xmlns:a="http://schemas.openxmlformats.org/drawingml/2006/main">
            <a:r>
              <a:t/>
            </a:r>
          </a:p>
          <a:p xmlns:a="http://schemas.openxmlformats.org/drawingml/2006/main">
            <a:r>
              <a:t>Teacher answer / acceptable response: YoungMinds provides information and guidance. A GP can provide a health appointment. Childline offers support about worries.</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Use the printed service cards. YoungMinds is not presented as a counselling service for pupils; do not promise immediate availability or identical confidentiality across services.</a:t>
            </a:r>
          </a:p>
          <a:p xmlns:a="http://schemas.openxmlformats.org/drawingml/2006/main">
            <a:r>
              <a:t/>
            </a:r>
          </a:p>
          <a:p xmlns:a="http://schemas.openxmlformats.org/drawingml/2006/main">
            <a:r>
              <a:t>Pupil prompt: Which route could offer information, and which could provide a health appointment?</a:t>
            </a:r>
          </a:p>
          <a:p xmlns:a="http://schemas.openxmlformats.org/drawingml/2006/main">
            <a:r>
              <a:t/>
            </a:r>
          </a:p>
          <a:p xmlns:a="http://schemas.openxmlformats.org/drawingml/2006/main">
            <a:r>
              <a:t>Teacher answer / acceptable response: YoungMinds provides information and guidance. A GP can provide a health appointment. Childline offers support about worries.</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CEOP remit verified at ceop.police.uk/ceop-reporting/. Keep this concise and non-graphic; detailed online safety teaching needs its own planned sequence.</a:t>
            </a:r>
          </a:p>
          <a:p xmlns:a="http://schemas.openxmlformats.org/drawingml/2006/main">
            <a:r>
              <a:t/>
            </a:r>
          </a:p>
          <a:p xmlns:a="http://schemas.openxmlformats.org/drawingml/2006/main">
            <a:r>
              <a:t>Pupil prompt: Why should we match the route to the concern?</a:t>
            </a:r>
          </a:p>
          <a:p xmlns:a="http://schemas.openxmlformats.org/drawingml/2006/main">
            <a:r>
              <a:t/>
            </a:r>
          </a:p>
          <a:p xmlns:a="http://schemas.openxmlformats.org/drawingml/2006/main">
            <a:r>
              <a:t>Teacher answer / acceptable response: Different services do different jobs. An adult can help choose a suitable route, and urgent danger needs urgent help.</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CEOP remit verified at ceop.police.uk/ceop-reporting/. Keep this concise and non-graphic; detailed online safety teaching needs its own planned sequence.</a:t>
            </a:r>
          </a:p>
          <a:p xmlns:a="http://schemas.openxmlformats.org/drawingml/2006/main">
            <a:r>
              <a:t/>
            </a:r>
          </a:p>
          <a:p xmlns:a="http://schemas.openxmlformats.org/drawingml/2006/main">
            <a:r>
              <a:t>Pupil prompt: Why should we match the route to the concern?</a:t>
            </a:r>
          </a:p>
          <a:p xmlns:a="http://schemas.openxmlformats.org/drawingml/2006/main">
            <a:r>
              <a:t/>
            </a:r>
          </a:p>
          <a:p xmlns:a="http://schemas.openxmlformats.org/drawingml/2006/main">
            <a:r>
              <a:t>Teacher answer / acceptable response: Different services do different jobs. An adult can help choose a suitable route, and urgent danger needs urgent help.</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Do not make a blanket confidentiality claim. Keep the detailed disclosure response in teacher guidance, not as a burden on pupils to decide safeguarding thresholds.</a:t>
            </a:r>
          </a:p>
          <a:p xmlns:a="http://schemas.openxmlformats.org/drawingml/2006/main">
            <a:r>
              <a:t/>
            </a:r>
          </a:p>
          <a:p xmlns:a="http://schemas.openxmlformats.org/drawingml/2006/main">
            <a:r>
              <a:t>Pupil prompt: Can an adult promise to keep every safety concern secret?</a:t>
            </a:r>
          </a:p>
          <a:p xmlns:a="http://schemas.openxmlformats.org/drawingml/2006/main">
            <a:r>
              <a:t/>
            </a:r>
          </a:p>
          <a:p xmlns:a="http://schemas.openxmlformats.org/drawingml/2006/main">
            <a:r>
              <a:t>Teacher answer / acceptable response: No. They should explain their responsibility and share appropriately to help protect the child.</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Do not make a blanket confidentiality claim. Keep the detailed disclosure response in teacher guidance, not as a burden on pupils to decide safeguarding thresholds.</a:t>
            </a:r>
          </a:p>
          <a:p xmlns:a="http://schemas.openxmlformats.org/drawingml/2006/main">
            <a:r>
              <a:t/>
            </a:r>
          </a:p>
          <a:p xmlns:a="http://schemas.openxmlformats.org/drawingml/2006/main">
            <a:r>
              <a:t>Pupil prompt: Can an adult promise to keep every safety concern secret?</a:t>
            </a:r>
          </a:p>
          <a:p xmlns:a="http://schemas.openxmlformats.org/drawingml/2006/main">
            <a:r>
              <a:t/>
            </a:r>
          </a:p>
          <a:p xmlns:a="http://schemas.openxmlformats.org/drawingml/2006/main">
            <a:r>
              <a:t>Teacher answer / acceptable response: No. They should explain their responsibility and share appropriately to help protect the child.</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Supported: select from two appropriate routes with adult reading. Standard: explain the match. Stretch: explain why a service has limits and another route may be needed.</a:t>
            </a:r>
          </a:p>
          <a:p xmlns:a="http://schemas.openxmlformats.org/drawingml/2006/main">
            <a:r>
              <a:t/>
            </a:r>
          </a:p>
          <a:p xmlns:a="http://schemas.openxmlformats.org/drawingml/2006/main">
            <a:r>
              <a:t>Pupil prompt: Check that the plan still works if one adult is unavailable.</a:t>
            </a:r>
          </a:p>
          <a:p xmlns:a="http://schemas.openxmlformats.org/drawingml/2006/main">
            <a:r>
              <a:t/>
            </a:r>
          </a:p>
          <a:p xmlns:a="http://schemas.openxmlformats.org/drawingml/2006/main">
            <a:r>
              <a:t>Teacher answer / acceptable response: A good plan has an accessible request, an available adult or service and an urgent route if safety is at risk.</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GROW_PSHE_W05 | Trusted help and safe choices</a:t>
            </a:r>
          </a:p>
          <a:p xmlns:a="http://schemas.openxmlformats.org/drawingml/2006/main">
            <a:r>
              <a:t>Recognise trustworthy behaviour, practise accessible help-seeking and identify suitable support routes and their limits.</a:t>
            </a:r>
          </a:p>
          <a:p xmlns:a="http://schemas.openxmlformats.org/drawingml/2006/main">
            <a:r>
              <a:t/>
            </a:r>
          </a:p>
          <a:p xmlns:a="http://schemas.openxmlformats.org/drawingml/2006/main">
            <a:r>
              <a:t>Point out real school contacts and where they can be found. Offer a private follow-up without inviting public disclosures or requiring a personal network list.</a:t>
            </a:r>
          </a:p>
          <a:p xmlns:a="http://schemas.openxmlformats.org/drawingml/2006/main">
            <a:r>
              <a:t/>
            </a:r>
          </a:p>
          <a:p xmlns:a="http://schemas.openxmlformats.org/drawingml/2006/main">
            <a:r>
              <a:t>Pupil prompt: What should Nico know, and what can happen next?</a:t>
            </a:r>
          </a:p>
          <a:p xmlns:a="http://schemas.openxmlformats.org/drawingml/2006/main">
            <a:r>
              <a:t/>
            </a:r>
          </a:p>
          <a:p xmlns:a="http://schemas.openxmlformats.org/drawingml/2006/main">
            <a:r>
              <a:t>Teacher answer / acceptable response: It is not Nico’s fault. Nico can tell another trusted adult and ask for help now; adults are responsible for responding and finding support.</a:t>
            </a:r>
          </a:p>
          <a:p xmlns:a="http://schemas.openxmlformats.org/drawingml/2006/main">
            <a:r>
              <a:t/>
            </a:r>
          </a:p>
          <a:p xmlns:a="http://schemas.openxmlformats.org/drawingml/2006/main">
            <a:r>
              <a:t>Support: Read two response cards at a time. Offer an agreed help symbol and model an adult response. Accept a fictional network consisting of school roles and one backup; do not require personal names.</a:t>
            </a:r>
          </a:p>
          <a:p xmlns:a="http://schemas.openxmlformats.org/drawingml/2006/main">
            <a:r>
              <a:t/>
            </a:r>
          </a:p>
          <a:p xmlns:a="http://schemas.openxmlformats.org/drawingml/2006/main">
            <a:r>
              <a:t>Stretch: Explain why “tell someone” is incomplete without an accessible request and an available listener. Distinguish Childline support, GP health care, YoungMinds information, CEOP reporting and emergency response.</a:t>
            </a:r>
          </a:p>
          <a:p xmlns:a="http://schemas.openxmlformats.org/drawingml/2006/main">
            <a:r>
              <a:t/>
            </a:r>
          </a:p>
          <a:p xmlns:a="http://schemas.openxmlformats.org/drawingml/2006/main">
            <a:r>
              <a:t>Safeguarding / safety: If a child discloses harm: listen without pressing for detail; take them seriously and say it is not their fault. Do not promise secrecy or investigate. Explain who must be informed, record their words accurately and report promptly to the designated safeguarding lead through school procedures. If immediate danger exists, get emergency help. Do not confront the person alleged to have caused harm. Keep personal network details off displays and websites.</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fictional option and local help route</a:t>
            </a:r>
          </a:p>
          <a:p xmlns:a="http://schemas.openxmlformats.org/drawingml/2006/main">
            <a:r>
              <a:t>5 min: Trustworthy behaviour and warning signs</a:t>
            </a:r>
          </a:p>
          <a:p xmlns:a="http://schemas.openxmlformats.org/drawingml/2006/main">
            <a:r>
              <a:t>5 min: Model a private request</a:t>
            </a:r>
          </a:p>
          <a:p xmlns:a="http://schemas.openxmlformats.org/drawingml/2006/main">
            <a:r>
              <a:t>6 min: Service matching and confidentiality limits</a:t>
            </a:r>
          </a:p>
          <a:p xmlns:a="http://schemas.openxmlformats.org/drawingml/2006/main">
            <a:r>
              <a:t>12 min: Complete the three tasks</a:t>
            </a:r>
          </a:p>
          <a:p xmlns:a="http://schemas.openxmlformats.org/drawingml/2006/main">
            <a:r>
              <a:t>4 min: Rehearse first and backup routes using fictional notes</a:t>
            </a:r>
          </a:p>
          <a:p xmlns:a="http://schemas.openxmlformats.org/drawingml/2006/main">
            <a:r>
              <a:t>3 min: Exit and identify real available school help</a:t>
            </a:r>
          </a:p>
          <a:p xmlns:a="http://schemas.openxmlformats.org/drawingml/2006/main">
            <a:r>
              <a:t>2 min: Reset and private follow-up opportunity</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Week_5_PSHE_My_Trusted_Adults_(SA5).pptx</a:t>
            </a:r>
          </a:p>
          <a:p xmlns:a="http://schemas.openxmlformats.org/drawingml/2006/main">
            <a:r>
              <a:t>Uploaded teaching source: Week_5_PSHE_Worksheet_My_Support_Network_(SA5).docx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2eefd3ba2d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f57a2eb2444e46" /><Relationship Type="http://schemas.openxmlformats.org/officeDocument/2006/relationships/slideLayout" Target="/ppt/slideLayouts/slideLayout1.xml" Id="Rf18a9e7d01744d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8a9e7d01744d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4d56d2af2e4592" /><Relationship Type="http://schemas.openxmlformats.org/officeDocument/2006/relationships/image" Target="/ppt/media/image.jpeg" Id="Rf382f10abc914093" /><Relationship Type="http://schemas.openxmlformats.org/officeDocument/2006/relationships/notesSlide" Target="/ppt/notesSlides/notesSlide1.xml" Id="R4a36e71646f849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eccf83683e4c26" /><Relationship Type="http://schemas.openxmlformats.org/officeDocument/2006/relationships/image" Target="/ppt/media/image.jpeg" Id="R9e0f2c4af8d6491c" /><Relationship Type="http://schemas.openxmlformats.org/officeDocument/2006/relationships/notesSlide" Target="/ppt/notesSlides/notesSlide2.xml" Id="R7d453ef194344b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074bd9efea4a6d" /><Relationship Type="http://schemas.openxmlformats.org/officeDocument/2006/relationships/image" Target="/ppt/media/image.jpeg" Id="Rce2d56a687b942b9" /><Relationship Type="http://schemas.openxmlformats.org/officeDocument/2006/relationships/notesSlide" Target="/ppt/notesSlides/notesSlide3.xml" Id="R663d70abc1374f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3885714bdd4a72" /><Relationship Type="http://schemas.openxmlformats.org/officeDocument/2006/relationships/image" Target="/ppt/media/image.jpeg" Id="R4a06c2ed465c4f77" /><Relationship Type="http://schemas.openxmlformats.org/officeDocument/2006/relationships/notesSlide" Target="/ppt/notesSlides/notesSlide4.xml" Id="Rf50b6da769b54b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02a8cbc4ed4e27" /><Relationship Type="http://schemas.openxmlformats.org/officeDocument/2006/relationships/image" Target="/ppt/media/image.jpeg" Id="R0ecf983c85c44e9e" /><Relationship Type="http://schemas.openxmlformats.org/officeDocument/2006/relationships/notesSlide" Target="/ppt/notesSlides/notesSlide5.xml" Id="R9f7af498b47247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fc66e27a5c40f0" /><Relationship Type="http://schemas.openxmlformats.org/officeDocument/2006/relationships/image" Target="/ppt/media/image.jpeg" Id="Rd7865708e5f6465e" /><Relationship Type="http://schemas.openxmlformats.org/officeDocument/2006/relationships/notesSlide" Target="/ppt/notesSlides/notesSlide6.xml" Id="R3a4984f2695e4c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8cd52def7240be" /><Relationship Type="http://schemas.openxmlformats.org/officeDocument/2006/relationships/image" Target="/ppt/media/image.jpeg" Id="R27a5debd09db4826" /><Relationship Type="http://schemas.openxmlformats.org/officeDocument/2006/relationships/notesSlide" Target="/ppt/notesSlides/notesSlide7.xml" Id="R6c1dfc610cc941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b0c6d846364a34" /><Relationship Type="http://schemas.openxmlformats.org/officeDocument/2006/relationships/image" Target="/ppt/media/image.jpeg" Id="Rba42cee92b5a4353" /><Relationship Type="http://schemas.openxmlformats.org/officeDocument/2006/relationships/notesSlide" Target="/ppt/notesSlides/notesSlide8.xml" Id="Reba56ec9ad0e44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33825d4769442b" /><Relationship Type="http://schemas.openxmlformats.org/officeDocument/2006/relationships/image" Target="/ppt/media/image.jpeg" Id="Rd64a1e2b943e4a07" /><Relationship Type="http://schemas.openxmlformats.org/officeDocument/2006/relationships/notesSlide" Target="/ppt/notesSlides/notesSlide9.xml" Id="Rb7bd60918cbc40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03476b97544cc8" /><Relationship Type="http://schemas.openxmlformats.org/officeDocument/2006/relationships/image" Target="/ppt/media/image.jpeg" Id="Rd484a8781bd44172" /><Relationship Type="http://schemas.openxmlformats.org/officeDocument/2006/relationships/notesSlide" Target="/ppt/notesSlides/notesSlide10.xml" Id="R039a683987ef4a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e1bdaa57344c51" /><Relationship Type="http://schemas.openxmlformats.org/officeDocument/2006/relationships/image" Target="/ppt/media/image.jpeg" Id="R0b152ba01d4f4a86" /><Relationship Type="http://schemas.openxmlformats.org/officeDocument/2006/relationships/notesSlide" Target="/ppt/notesSlides/notesSlide11.xml" Id="R6d40e3433cbe4e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7aa7a893cc4397" /><Relationship Type="http://schemas.openxmlformats.org/officeDocument/2006/relationships/image" Target="/ppt/media/image.jpeg" Id="Ra24923eb20a242ee" /><Relationship Type="http://schemas.openxmlformats.org/officeDocument/2006/relationships/notesSlide" Target="/ppt/notesSlides/notesSlide12.xml" Id="R51c1c9369ff340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8b07a499f64b83" /><Relationship Type="http://schemas.openxmlformats.org/officeDocument/2006/relationships/image" Target="/ppt/media/image.jpeg" Id="Rbd28d6ce10df4f41" /><Relationship Type="http://schemas.openxmlformats.org/officeDocument/2006/relationships/notesSlide" Target="/ppt/notesSlides/notesSlide13.xml" Id="R1fdf0b415d034b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f82f48ef9d44ab" /><Relationship Type="http://schemas.openxmlformats.org/officeDocument/2006/relationships/image" Target="/ppt/media/image.jpeg" Id="R8f3ad360931f4ef9" /><Relationship Type="http://schemas.openxmlformats.org/officeDocument/2006/relationships/notesSlide" Target="/ppt/notesSlides/notesSlide14.xml" Id="Ra16df23e04234e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4c1cc734b84a4d" /><Relationship Type="http://schemas.openxmlformats.org/officeDocument/2006/relationships/image" Target="/ppt/media/image.jpeg" Id="R34a688fab28543f9" /><Relationship Type="http://schemas.openxmlformats.org/officeDocument/2006/relationships/notesSlide" Target="/ppt/notesSlides/notesSlide15.xml" Id="Red86b6bd577d49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b9cde73b994ef0" /><Relationship Type="http://schemas.openxmlformats.org/officeDocument/2006/relationships/image" Target="/ppt/media/image.jpeg" Id="R11464ff515b54d59" /><Relationship Type="http://schemas.openxmlformats.org/officeDocument/2006/relationships/notesSlide" Target="/ppt/notesSlides/notesSlide16.xml" Id="R92927f27ebb44b0a"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382f10abc91409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Trusted help and safe choices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use fictional examples to recognise helpful behaviour and practise asking.</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do not have to name people at home or describe a personal worry.</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a person ask for help without telling the whole class why?</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e0f2c4af8d6491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TRUSTED ADULT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SUPPORT NETWORK</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adult whose behaviour supports safety and takes concerns seriously.</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People and services someone can approach for help.</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2d56a687b942b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behaviour, not a title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safer adult listens, takes a worry seriously and helps find suitable support.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They respect boundaries and explain when they need to involve someone else for safety.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Someone being friendly, familiar or important does not by itself prove they are safe.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06c2ed465c4f7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behaviour, not a title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matters more: a person’s job title or how they respond?</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ecf983c85c44e9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Safer response or warning sign?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“Thank you for telling me. Let us find the right help.”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“Do not tell anyone; you will get me into trouble.”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“I may need to tell our safeguarding lead so we can help keep you safe.”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responses help, and which needs another adult?</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865708e5f6465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short help request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Nico is worried about a message and wants an adult’s help.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Nico writes: “I need help with an online message. Can we talk privately?”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Nico can also point to an agreed help card; the adult supports the next step.</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the request usable without sharing details publicly?</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7a5debd09db482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If the first route does not work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Ms Green is teaching and cannot speak immediately. Nico says, “This feels urgent.”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adult should help Nico reach someone available, such as the pastoral team or safeguarding lead.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help still does not arrive, Nico can tell another adult. This is not Nico’s fault.</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42cee92b5a435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If the first route does not work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an adult do rather than leave Nico to manage alone?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4a1e2b943e4a0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Where else can help come from?</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Childline: free support for under-19s in the UK about worries. Call 0800 1111 or visit childline.org.uk.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GP can help with health concerns. YoungMinds provides mental health information and help-finding guidance.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School adults can help a pupil find an appropriate route. A friend can accompany them but need not solve the problem.</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84a8781bd4417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Where else can help come from?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route could offer information, and which could provide a health appointment?</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b152ba01d4f4a8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Online concerns and urgent danger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CEOP receives reports about online sexual abuse and grooming. It is not the general route for every online problem.</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For online bullying, ask a trusted adult and use the platform’s reporting route with support.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If someone is in immediate danger, get emergency help: call 999.</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4923eb20a242e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Online concerns and urgent danger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should we match the route to the concern?</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28d6ce10df4f4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Private does not mean a secret forever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School staff may need to share a safety concern with people who can help.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Childline has a confidentiality promise with exceptions for some serious safety concerns and legal requirements.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 can ask: “Who might you need to tell, and what will happen next?”</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3ad360931f4e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Private does not mean a secret forever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an adult promise to keep every safety concern secret?</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4a688fab28543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identify helpful adult behaviour and a warning sign.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match a concern to a suitable route using the service cards.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plan Nico’s first and backup request.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that the plan still works if one adult is unavailable.</a:t>
            </a:r>
          </a:p>
        </p:txBody>
      </p:sp>
    </p:spTree>
    <p:extLst>
      <p:ext uri="{BB962C8B-B14F-4D97-AF65-F5344CB8AC3E}">
        <p14:creationId xmlns:p14="http://schemas.microsoft.com/office/powerpoint/2010/main" val="1732344281"/>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464ff515b54d5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Help is an adult responsibility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Nico asked once but the worry was not addressed. Nico thinks, “I must have asked wrongly.”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Nico know, and what can happen next?</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2026-09-07T12:37:09.3340000Z</dcterms:created>
  <dcterms:modified xsi:type="dcterms:W3CDTF">2026-09-07T12:37:09.3340000Z</dcterms:modified>
</coreProperties>
</file>