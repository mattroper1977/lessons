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2bc01f3e6e4149" /><Relationship Type="http://schemas.openxmlformats.org/officeDocument/2006/relationships/extended-properties" Target="/docProps/app.xml" Id="R082e41eb0dc048fb" /><Relationship Type="http://schemas.openxmlformats.org/officeDocument/2006/relationships/officeDocument" Target="/ppt/presentation.xml" Id="Rb3a361d86e59458d" /></Relationships>
</file>

<file path=ppt/presentation.xml><?xml version="1.0" encoding="utf-8"?>
<p:presentation xmlns:p="http://schemas.openxmlformats.org/presentationml/2006/main">
  <p:sldMasterIdLst>
    <p:sldMasterId xmlns:r="http://schemas.openxmlformats.org/officeDocument/2006/relationships" id="2147483648" r:id="Rdfc394af1e5d4b87"/>
  </p:sldMasterIdLst>
  <p:notesMasterIdLst>
    <p:notesMasterId xmlns:r="http://schemas.openxmlformats.org/officeDocument/2006/relationships" r:id="Rf935a6b947594f02"/>
  </p:notesMasterIdLst>
  <p:sldIdLst>
    <p:sldId xmlns:r="http://schemas.openxmlformats.org/officeDocument/2006/relationships" id="256" r:id="R8e70a2b2844d4723"/>
    <p:sldId xmlns:r="http://schemas.openxmlformats.org/officeDocument/2006/relationships" id="257" r:id="Rcb10f3f8127344f7"/>
    <p:sldId xmlns:r="http://schemas.openxmlformats.org/officeDocument/2006/relationships" id="258" r:id="R9abdde69ed914c12"/>
    <p:sldId xmlns:r="http://schemas.openxmlformats.org/officeDocument/2006/relationships" id="259" r:id="Rc8b64f6e45a84383"/>
    <p:sldId xmlns:r="http://schemas.openxmlformats.org/officeDocument/2006/relationships" id="260" r:id="R780694742dd24ddd"/>
    <p:sldId xmlns:r="http://schemas.openxmlformats.org/officeDocument/2006/relationships" id="261" r:id="R9184777fc68d4f40"/>
    <p:sldId xmlns:r="http://schemas.openxmlformats.org/officeDocument/2006/relationships" id="262" r:id="R58860f6f9b034af5"/>
    <p:sldId xmlns:r="http://schemas.openxmlformats.org/officeDocument/2006/relationships" id="263" r:id="R1b2114a637b34709"/>
    <p:sldId xmlns:r="http://schemas.openxmlformats.org/officeDocument/2006/relationships" id="264" r:id="R4aa7a64477f54e5f"/>
    <p:sldId xmlns:r="http://schemas.openxmlformats.org/officeDocument/2006/relationships" id="265" r:id="Recefbf0802c949c8"/>
    <p:sldId xmlns:r="http://schemas.openxmlformats.org/officeDocument/2006/relationships" id="266" r:id="R294f77e3cad347e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ab80b9648b147d5" /><Relationship Type="http://schemas.openxmlformats.org/officeDocument/2006/relationships/slideMaster" Target="/ppt/slideMasters/slideMaster1.xml" Id="Rdfc394af1e5d4b87" /><Relationship Type="http://schemas.openxmlformats.org/officeDocument/2006/relationships/notesMaster" Target="/ppt/notesMasters/notesMaster1.xml" Id="Rf935a6b947594f02" /><Relationship Type="http://schemas.openxmlformats.org/officeDocument/2006/relationships/presProps" Target="/ppt/presProps.xml" Id="R38dc061c7f334373" /><Relationship Type="http://schemas.openxmlformats.org/officeDocument/2006/relationships/tableStyles" Target="/ppt/tableStyles.xml" Id="Rc94e1115f18f4d8e" /><Relationship Type="http://schemas.openxmlformats.org/officeDocument/2006/relationships/slide" Target="/ppt/slides/slide1.xml" Id="R8e70a2b2844d4723" /><Relationship Type="http://schemas.openxmlformats.org/officeDocument/2006/relationships/slide" Target="/ppt/slides/slide2.xml" Id="Rcb10f3f8127344f7" /><Relationship Type="http://schemas.openxmlformats.org/officeDocument/2006/relationships/slide" Target="/ppt/slides/slide3.xml" Id="R9abdde69ed914c12" /><Relationship Type="http://schemas.openxmlformats.org/officeDocument/2006/relationships/slide" Target="/ppt/slides/slide4.xml" Id="Rc8b64f6e45a84383" /><Relationship Type="http://schemas.openxmlformats.org/officeDocument/2006/relationships/slide" Target="/ppt/slides/slide5.xml" Id="R780694742dd24ddd" /><Relationship Type="http://schemas.openxmlformats.org/officeDocument/2006/relationships/slide" Target="/ppt/slides/slide6.xml" Id="R9184777fc68d4f40" /><Relationship Type="http://schemas.openxmlformats.org/officeDocument/2006/relationships/slide" Target="/ppt/slides/slide7.xml" Id="R58860f6f9b034af5" /><Relationship Type="http://schemas.openxmlformats.org/officeDocument/2006/relationships/slide" Target="/ppt/slides/slide8.xml" Id="R1b2114a637b34709" /><Relationship Type="http://schemas.openxmlformats.org/officeDocument/2006/relationships/slide" Target="/ppt/slides/slide9.xml" Id="R4aa7a64477f54e5f" /><Relationship Type="http://schemas.openxmlformats.org/officeDocument/2006/relationships/slide" Target="/ppt/slides/slide10.xml" Id="Recefbf0802c949c8" /><Relationship Type="http://schemas.openxmlformats.org/officeDocument/2006/relationships/slide" Target="/ppt/slides/slide11.xml" Id="R294f77e3cad347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bae619ba5940b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e1e392f1c054f75" /><Relationship Type="http://schemas.openxmlformats.org/officeDocument/2006/relationships/notesMaster" Target="/ppt/notesMasters/notesMaster1.xml" Id="Rc923523220fa45b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5d1f4909e724b7c" /><Relationship Type="http://schemas.openxmlformats.org/officeDocument/2006/relationships/notesMaster" Target="/ppt/notesMasters/notesMaster1.xml" Id="Rf02b223c841040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d1767ec0aa242f4" /><Relationship Type="http://schemas.openxmlformats.org/officeDocument/2006/relationships/notesMaster" Target="/ppt/notesMasters/notesMaster1.xml" Id="R16e4e83767b645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1bca3a429224467a" /><Relationship Type="http://schemas.openxmlformats.org/officeDocument/2006/relationships/notesMaster" Target="/ppt/notesMasters/notesMaster1.xml" Id="R9bdd3d0275154b1d" /></Relationships>
</file>

<file path=ppt/notesSlides/_rels/notesSlide5.xml.rels>&#65279;<?xml version="1.0" encoding="utf-8"?><Relationships xmlns="http://schemas.openxmlformats.org/package/2006/relationships"><Relationship Type="http://schemas.openxmlformats.org/officeDocument/2006/relationships/slide" Target="/ppt/slides/slide5.xml" Id="R7436e07a62974fc3" /><Relationship Type="http://schemas.openxmlformats.org/officeDocument/2006/relationships/notesMaster" Target="/ppt/notesMasters/notesMaster1.xml" Id="R96bfa7c371bb48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46bc3c9f8e5c40d9" /><Relationship Type="http://schemas.openxmlformats.org/officeDocument/2006/relationships/notesMaster" Target="/ppt/notesMasters/notesMaster1.xml" Id="R7c3bd3c2e7b14e65" /></Relationships>
</file>

<file path=ppt/notesSlides/_rels/notesSlide7.xml.rels>&#65279;<?xml version="1.0" encoding="utf-8"?><Relationships xmlns="http://schemas.openxmlformats.org/package/2006/relationships"><Relationship Type="http://schemas.openxmlformats.org/officeDocument/2006/relationships/slide" Target="/ppt/slides/slide7.xml" Id="Ra7cbe76e42db436e" /><Relationship Type="http://schemas.openxmlformats.org/officeDocument/2006/relationships/notesMaster" Target="/ppt/notesMasters/notesMaster1.xml" Id="Rc8ab5dc621bc4cc5"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6875942f914505" /><Relationship Type="http://schemas.openxmlformats.org/officeDocument/2006/relationships/notesMaster" Target="/ppt/notesMasters/notesMaster1.xml" Id="Rd82abd2420db42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20ebd55362034ccc" /><Relationship Type="http://schemas.openxmlformats.org/officeDocument/2006/relationships/notesMaster" Target="/ppt/notesMasters/notesMaster1.xml" Id="R10b20f0c51ba492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57aa7ed0a8b4dd2" /><Relationship Type="http://schemas.openxmlformats.org/officeDocument/2006/relationships/notesMaster" Target="/ppt/notesMasters/notesMaster1.xml" Id="R733dc6bf959e41d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2ed51f219d34f97" /><Relationship Type="http://schemas.openxmlformats.org/officeDocument/2006/relationships/notesMaster" Target="/ppt/notesMasters/notesMaster1.xml" Id="R62ba1d84898a42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GROW_PSHE_W02 | Feelings, clues and asking for support</a:t>
            </a:r>
          </a:p>
          <a:p xmlns:a="http://schemas.openxmlformats.org/drawingml/2006/main">
            <a:r>
              <a:t>Use feeling vocabulary, separate clues from certainty and choose a clear way to ask for support.</a:t>
            </a:r>
          </a:p>
          <a:p xmlns:a="http://schemas.openxmlformats.org/drawingml/2006/main">
            <a:r>
              <a:t/>
            </a:r>
          </a:p>
          <a:p xmlns:a="http://schemas.openxmlformats.org/drawingml/2006/main">
            <a:r>
              <a:t>Adapted from Week 2 Naming My Feelings and My Feelings Map. SSS1 is a provisional source reference only. The original public mood chart and required personal body map are replaced.</a:t>
            </a:r>
          </a:p>
          <a:p xmlns:a="http://schemas.openxmlformats.org/drawingml/2006/main">
            <a:r>
              <a:t/>
            </a:r>
          </a:p>
          <a:p xmlns:a="http://schemas.openxmlformats.org/drawingml/2006/main">
            <a:r>
              <a:t>Pupil prompt: Can two people feel differently about the same event?</a:t>
            </a:r>
          </a:p>
          <a:p xmlns:a="http://schemas.openxmlformats.org/drawingml/2006/main">
            <a:r>
              <a:t/>
            </a:r>
          </a:p>
          <a:p xmlns:a="http://schemas.openxmlformats.org/drawingml/2006/main">
            <a:r>
              <a:t>Teacher answer / acceptable response: Yes. A change of plan may feel exciting to one person and worrying to another.</a:t>
            </a:r>
          </a:p>
          <a:p xmlns:a="http://schemas.openxmlformats.org/drawingml/2006/main">
            <a:r>
              <a:t/>
            </a:r>
          </a:p>
          <a:p xmlns:a="http://schemas.openxmlformats.org/drawingml/2006/main">
            <a:r>
              <a:t>Support: Use two feeling choices and read each scenario separately. Accept pointing, drawing, signing or scribing. Reduce writing while retaining the distinction between clue and certainty.</a:t>
            </a:r>
          </a:p>
          <a:p xmlns:a="http://schemas.openxmlformats.org/drawingml/2006/main">
            <a:r>
              <a:t/>
            </a:r>
          </a:p>
          <a:p xmlns:a="http://schemas.openxmlformats.org/drawingml/2006/main">
            <a:r>
              <a:t>Stretch: Compare two plausible interpretations of a scenario. Rewrite a certainty claim using “might” and a respectful question; explain why the change matters.</a:t>
            </a:r>
          </a:p>
          <a:p xmlns:a="http://schemas.openxmlformats.org/drawingml/2006/main">
            <a:r>
              <a:t/>
            </a:r>
          </a:p>
          <a:p xmlns:a="http://schemas.openxmlformats.org/drawingml/2006/main">
            <a:r>
              <a:t>Safeguarding / safety: Do not request personal body sensations, diagnoses, recent incidents or a public mood rating. If a pupil reports feeling unwell, respond through school procedures rather than assuming anxiety. Use Week 5 disclosure guidance for a safeguarding concern.</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close previous access feedback</a:t>
            </a:r>
          </a:p>
          <a:p xmlns:a="http://schemas.openxmlformats.org/drawingml/2006/main">
            <a:r>
              <a:t>5 min: Teach precise feeling words</a:t>
            </a:r>
          </a:p>
          <a:p xmlns:a="http://schemas.openxmlformats.org/drawingml/2006/main">
            <a:r>
              <a:t>6 min: Explore Ari: clues and uncertainty</a:t>
            </a:r>
          </a:p>
          <a:p xmlns:a="http://schemas.openxmlformats.org/drawingml/2006/main">
            <a:r>
              <a:t>5 min: Model feeling, action and need</a:t>
            </a:r>
          </a:p>
          <a:p xmlns:a="http://schemas.openxmlformats.org/drawingml/2006/main">
            <a:r>
              <a:t>12 min: Complete the three tasks</a:t>
            </a:r>
          </a:p>
          <a:p xmlns:a="http://schemas.openxmlformats.org/drawingml/2006/main">
            <a:r>
              <a:t>4 min: Compare respectful help messages</a:t>
            </a:r>
          </a:p>
          <a:p xmlns:a="http://schemas.openxmlformats.org/drawingml/2006/main">
            <a:r>
              <a:t>3 min: Exit check and private help reminder</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Week_2_PSHE_Naming_My_Feelings_(SSS1).pptx</a:t>
            </a:r>
          </a:p>
          <a:p xmlns:a="http://schemas.openxmlformats.org/drawingml/2006/main">
            <a:r>
              <a:t>Uploaded teaching source: Week_2_PSHE_Worksheet_My_Feelings_Map_(SSS1).docx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GROW_PSHE_W02 | Feelings, clues and asking for support</a:t>
            </a:r>
          </a:p>
          <a:p xmlns:a="http://schemas.openxmlformats.org/drawingml/2006/main">
            <a:r>
              <a:t>Use feeling vocabulary, separate clues from certainty and choose a clear way to ask for support.</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Use two feeling choices and read each scenario separately. Accept pointing, drawing, signing or scribing. Reduce writing while retaining the distinction between clue and certainty.</a:t>
            </a:r>
          </a:p>
          <a:p xmlns:a="http://schemas.openxmlformats.org/drawingml/2006/main">
            <a:r>
              <a:t/>
            </a:r>
          </a:p>
          <a:p xmlns:a="http://schemas.openxmlformats.org/drawingml/2006/main">
            <a:r>
              <a:t>Stretch: Compare two plausible interpretations of a scenario. Rewrite a certainty claim using “might” and a respectful question; explain why the change matters.</a:t>
            </a:r>
          </a:p>
          <a:p xmlns:a="http://schemas.openxmlformats.org/drawingml/2006/main">
            <a:r>
              <a:t/>
            </a:r>
          </a:p>
          <a:p xmlns:a="http://schemas.openxmlformats.org/drawingml/2006/main">
            <a:r>
              <a:t>Safeguarding / safety: Do not request personal body sensations, diagnoses, recent incidents or a public mood rating. If a pupil reports feeling unwell, respond through school procedures rather than assuming anxiety. Use Week 5 disclosure guidance for a safeguarding concern.</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close previous access feedback</a:t>
            </a:r>
          </a:p>
          <a:p xmlns:a="http://schemas.openxmlformats.org/drawingml/2006/main">
            <a:r>
              <a:t>5 min: Teach precise feeling words</a:t>
            </a:r>
          </a:p>
          <a:p xmlns:a="http://schemas.openxmlformats.org/drawingml/2006/main">
            <a:r>
              <a:t>6 min: Explore Ari: clues and uncertainty</a:t>
            </a:r>
          </a:p>
          <a:p xmlns:a="http://schemas.openxmlformats.org/drawingml/2006/main">
            <a:r>
              <a:t>5 min: Model feeling, action and need</a:t>
            </a:r>
          </a:p>
          <a:p xmlns:a="http://schemas.openxmlformats.org/drawingml/2006/main">
            <a:r>
              <a:t>12 min: Complete the three tasks</a:t>
            </a:r>
          </a:p>
          <a:p xmlns:a="http://schemas.openxmlformats.org/drawingml/2006/main">
            <a:r>
              <a:t>4 min: Compare respectful help messages</a:t>
            </a:r>
          </a:p>
          <a:p xmlns:a="http://schemas.openxmlformats.org/drawingml/2006/main">
            <a:r>
              <a:t>3 min: Exit check and private help reminder</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Week_2_PSHE_Naming_My_Feelings_(SSS1).pptx</a:t>
            </a:r>
          </a:p>
          <a:p xmlns:a="http://schemas.openxmlformats.org/drawingml/2006/main">
            <a:r>
              <a:t>Uploaded teaching source: Week_2_PSHE_Worksheet_My_Feelings_Map_(SSS1).docx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GROW_PSHE_W02 | Feelings, clues and asking for support</a:t>
            </a:r>
          </a:p>
          <a:p xmlns:a="http://schemas.openxmlformats.org/drawingml/2006/main">
            <a:r>
              <a:t>Use feeling vocabulary, separate clues from certainty and choose a clear way to ask for support.</a:t>
            </a:r>
          </a:p>
          <a:p xmlns:a="http://schemas.openxmlformats.org/drawingml/2006/main">
            <a:r>
              <a:t/>
            </a:r>
          </a:p>
          <a:p xmlns:a="http://schemas.openxmlformats.org/drawingml/2006/main">
            <a:r>
              <a:t>Close the actual Week 1 feedback loop. If no suggestion was offered, explain the available response choices; do not invent pupil views.</a:t>
            </a:r>
          </a:p>
          <a:p xmlns:a="http://schemas.openxmlformats.org/drawingml/2006/main">
            <a:r>
              <a:t/>
            </a:r>
          </a:p>
          <a:p xmlns:a="http://schemas.openxmlformats.org/drawingml/2006/main">
            <a:r>
              <a:t>Pupil prompt: Does everyone have an accessible way to answer today?</a:t>
            </a:r>
          </a:p>
          <a:p xmlns:a="http://schemas.openxmlformats.org/drawingml/2006/main">
            <a:r>
              <a:t/>
            </a:r>
          </a:p>
          <a:p xmlns:a="http://schemas.openxmlformats.org/drawingml/2006/main">
            <a:r>
              <a:t>Support: Use two feeling choices and read each scenario separately. Accept pointing, drawing, signing or scribing. Reduce writing while retaining the distinction between clue and certainty.</a:t>
            </a:r>
          </a:p>
          <a:p xmlns:a="http://schemas.openxmlformats.org/drawingml/2006/main">
            <a:r>
              <a:t/>
            </a:r>
          </a:p>
          <a:p xmlns:a="http://schemas.openxmlformats.org/drawingml/2006/main">
            <a:r>
              <a:t>Stretch: Compare two plausible interpretations of a scenario. Rewrite a certainty claim using “might” and a respectful question; explain why the change matters.</a:t>
            </a:r>
          </a:p>
          <a:p xmlns:a="http://schemas.openxmlformats.org/drawingml/2006/main">
            <a:r>
              <a:t/>
            </a:r>
          </a:p>
          <a:p xmlns:a="http://schemas.openxmlformats.org/drawingml/2006/main">
            <a:r>
              <a:t>Safeguarding / safety: Do not request personal body sensations, diagnoses, recent incidents or a public mood rating. If a pupil reports feeling unwell, respond through school procedures rather than assuming anxiety. Use Week 5 disclosure guidance for a safeguarding concern.</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close previous access feedback</a:t>
            </a:r>
          </a:p>
          <a:p xmlns:a="http://schemas.openxmlformats.org/drawingml/2006/main">
            <a:r>
              <a:t>5 min: Teach precise feeling words</a:t>
            </a:r>
          </a:p>
          <a:p xmlns:a="http://schemas.openxmlformats.org/drawingml/2006/main">
            <a:r>
              <a:t>6 min: Explore Ari: clues and uncertainty</a:t>
            </a:r>
          </a:p>
          <a:p xmlns:a="http://schemas.openxmlformats.org/drawingml/2006/main">
            <a:r>
              <a:t>5 min: Model feeling, action and need</a:t>
            </a:r>
          </a:p>
          <a:p xmlns:a="http://schemas.openxmlformats.org/drawingml/2006/main">
            <a:r>
              <a:t>12 min: Complete the three tasks</a:t>
            </a:r>
          </a:p>
          <a:p xmlns:a="http://schemas.openxmlformats.org/drawingml/2006/main">
            <a:r>
              <a:t>4 min: Compare respectful help messages</a:t>
            </a:r>
          </a:p>
          <a:p xmlns:a="http://schemas.openxmlformats.org/drawingml/2006/main">
            <a:r>
              <a:t>3 min: Exit check and private help reminder</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Week_2_PSHE_Naming_My_Feelings_(SSS1).pptx</a:t>
            </a:r>
          </a:p>
          <a:p xmlns:a="http://schemas.openxmlformats.org/drawingml/2006/main">
            <a:r>
              <a:t>Uploaded teaching source: Week_2_PSHE_Worksheet_My_Feelings_Map_(SSS1).docx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GROW_PSHE_W02 | Feelings, clues and asking for support</a:t>
            </a:r>
          </a:p>
          <a:p xmlns:a="http://schemas.openxmlformats.org/drawingml/2006/main">
            <a:r>
              <a:t>Use feeling vocabulary, separate clues from certainty and choose a clear way to ask for support.</a:t>
            </a:r>
          </a:p>
          <a:p xmlns:a="http://schemas.openxmlformats.org/drawingml/2006/main">
            <a:r>
              <a:t/>
            </a:r>
          </a:p>
          <a:p xmlns:a="http://schemas.openxmlformats.org/drawingml/2006/main">
            <a:r>
              <a:t>Clarify that definitions are useful starting points rather than diagnostic labels. Add the resource word bank; avoid insisting on a single correct emotion.</a:t>
            </a:r>
          </a:p>
          <a:p xmlns:a="http://schemas.openxmlformats.org/drawingml/2006/main">
            <a:r>
              <a:t/>
            </a:r>
          </a:p>
          <a:p xmlns:a="http://schemas.openxmlformats.org/drawingml/2006/main">
            <a:r>
              <a:t>Pupil prompt: Which word might fit a character whose file will not open?</a:t>
            </a:r>
          </a:p>
          <a:p xmlns:a="http://schemas.openxmlformats.org/drawingml/2006/main">
            <a:r>
              <a:t/>
            </a:r>
          </a:p>
          <a:p xmlns:a="http://schemas.openxmlformats.org/drawingml/2006/main">
            <a:r>
              <a:t>Teacher answer / acceptable response: Frustrated may fit. Worried, disappointed or another explained word may also fit. Ask the character rather than declaring their feeling.</a:t>
            </a:r>
          </a:p>
          <a:p xmlns:a="http://schemas.openxmlformats.org/drawingml/2006/main">
            <a:r>
              <a:t/>
            </a:r>
          </a:p>
          <a:p xmlns:a="http://schemas.openxmlformats.org/drawingml/2006/main">
            <a:r>
              <a:t>Support: Use two feeling choices and read each scenario separately. Accept pointing, drawing, signing or scribing. Reduce writing while retaining the distinction between clue and certainty.</a:t>
            </a:r>
          </a:p>
          <a:p xmlns:a="http://schemas.openxmlformats.org/drawingml/2006/main">
            <a:r>
              <a:t/>
            </a:r>
          </a:p>
          <a:p xmlns:a="http://schemas.openxmlformats.org/drawingml/2006/main">
            <a:r>
              <a:t>Stretch: Compare two plausible interpretations of a scenario. Rewrite a certainty claim using “might” and a respectful question; explain why the change matters.</a:t>
            </a:r>
          </a:p>
          <a:p xmlns:a="http://schemas.openxmlformats.org/drawingml/2006/main">
            <a:r>
              <a:t/>
            </a:r>
          </a:p>
          <a:p xmlns:a="http://schemas.openxmlformats.org/drawingml/2006/main">
            <a:r>
              <a:t>Safeguarding / safety: Do not request personal body sensations, diagnoses, recent incidents or a public mood rating. If a pupil reports feeling unwell, respond through school procedures rather than assuming anxiety. Use Week 5 disclosure guidance for a safeguarding concern.</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close previous access feedback</a:t>
            </a:r>
          </a:p>
          <a:p xmlns:a="http://schemas.openxmlformats.org/drawingml/2006/main">
            <a:r>
              <a:t>5 min: Teach precise feeling words</a:t>
            </a:r>
          </a:p>
          <a:p xmlns:a="http://schemas.openxmlformats.org/drawingml/2006/main">
            <a:r>
              <a:t>6 min: Explore Ari: clues and uncertainty</a:t>
            </a:r>
          </a:p>
          <a:p xmlns:a="http://schemas.openxmlformats.org/drawingml/2006/main">
            <a:r>
              <a:t>5 min: Model feeling, action and need</a:t>
            </a:r>
          </a:p>
          <a:p xmlns:a="http://schemas.openxmlformats.org/drawingml/2006/main">
            <a:r>
              <a:t>12 min: Complete the three tasks</a:t>
            </a:r>
          </a:p>
          <a:p xmlns:a="http://schemas.openxmlformats.org/drawingml/2006/main">
            <a:r>
              <a:t>4 min: Compare respectful help messages</a:t>
            </a:r>
          </a:p>
          <a:p xmlns:a="http://schemas.openxmlformats.org/drawingml/2006/main">
            <a:r>
              <a:t>3 min: Exit check and private help reminder</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Week_2_PSHE_Naming_My_Feelings_(SSS1).pptx</a:t>
            </a:r>
          </a:p>
          <a:p xmlns:a="http://schemas.openxmlformats.org/drawingml/2006/main">
            <a:r>
              <a:t>Uploaded teaching source: Week_2_PSHE_Worksheet_My_Feelings_Map_(SSS1).docx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GROW_PSHE_W02 | Feelings, clues and asking for support</a:t>
            </a:r>
          </a:p>
          <a:p xmlns:a="http://schemas.openxmlformats.org/drawingml/2006/main">
            <a:r>
              <a:t>Use feeling vocabulary, separate clues from certainty and choose a clear way to ask for support.</a:t>
            </a:r>
          </a:p>
          <a:p xmlns:a="http://schemas.openxmlformats.org/drawingml/2006/main">
            <a:r>
              <a:t/>
            </a:r>
          </a:p>
          <a:p xmlns:a="http://schemas.openxmlformats.org/drawingml/2006/main">
            <a:r>
              <a:t>This is a fictional clue, not an invitation to scan pupils’ bodies. Feelings cannot be diagnosed from appearance or one physical sign. Tell an adult about feeling unwell.</a:t>
            </a:r>
          </a:p>
          <a:p xmlns:a="http://schemas.openxmlformats.org/drawingml/2006/main">
            <a:r>
              <a:t/>
            </a:r>
          </a:p>
          <a:p xmlns:a="http://schemas.openxmlformats.org/drawingml/2006/main">
            <a:r>
              <a:t>Pupil prompt: What could a friend ask without making an assumption?</a:t>
            </a:r>
          </a:p>
          <a:p xmlns:a="http://schemas.openxmlformats.org/drawingml/2006/main">
            <a:r>
              <a:t/>
            </a:r>
          </a:p>
          <a:p xmlns:a="http://schemas.openxmlformats.org/drawingml/2006/main">
            <a:r>
              <a:t>Teacher answer / acceptable response: “How is this feeling for you?” or “Would you like support?” Ari can answer or decline.</a:t>
            </a:r>
          </a:p>
          <a:p xmlns:a="http://schemas.openxmlformats.org/drawingml/2006/main">
            <a:r>
              <a:t/>
            </a:r>
          </a:p>
          <a:p xmlns:a="http://schemas.openxmlformats.org/drawingml/2006/main">
            <a:r>
              <a:t>Support: Use two feeling choices and read each scenario separately. Accept pointing, drawing, signing or scribing. Reduce writing while retaining the distinction between clue and certainty.</a:t>
            </a:r>
          </a:p>
          <a:p xmlns:a="http://schemas.openxmlformats.org/drawingml/2006/main">
            <a:r>
              <a:t/>
            </a:r>
          </a:p>
          <a:p xmlns:a="http://schemas.openxmlformats.org/drawingml/2006/main">
            <a:r>
              <a:t>Stretch: Compare two plausible interpretations of a scenario. Rewrite a certainty claim using “might” and a respectful question; explain why the change matters.</a:t>
            </a:r>
          </a:p>
          <a:p xmlns:a="http://schemas.openxmlformats.org/drawingml/2006/main">
            <a:r>
              <a:t/>
            </a:r>
          </a:p>
          <a:p xmlns:a="http://schemas.openxmlformats.org/drawingml/2006/main">
            <a:r>
              <a:t>Safeguarding / safety: Do not request personal body sensations, diagnoses, recent incidents or a public mood rating. If a pupil reports feeling unwell, respond through school procedures rather than assuming anxiety. Use Week 5 disclosure guidance for a safeguarding concern.</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close previous access feedback</a:t>
            </a:r>
          </a:p>
          <a:p xmlns:a="http://schemas.openxmlformats.org/drawingml/2006/main">
            <a:r>
              <a:t>5 min: Teach precise feeling words</a:t>
            </a:r>
          </a:p>
          <a:p xmlns:a="http://schemas.openxmlformats.org/drawingml/2006/main">
            <a:r>
              <a:t>6 min: Explore Ari: clues and uncertainty</a:t>
            </a:r>
          </a:p>
          <a:p xmlns:a="http://schemas.openxmlformats.org/drawingml/2006/main">
            <a:r>
              <a:t>5 min: Model feeling, action and need</a:t>
            </a:r>
          </a:p>
          <a:p xmlns:a="http://schemas.openxmlformats.org/drawingml/2006/main">
            <a:r>
              <a:t>12 min: Complete the three tasks</a:t>
            </a:r>
          </a:p>
          <a:p xmlns:a="http://schemas.openxmlformats.org/drawingml/2006/main">
            <a:r>
              <a:t>4 min: Compare respectful help messages</a:t>
            </a:r>
          </a:p>
          <a:p xmlns:a="http://schemas.openxmlformats.org/drawingml/2006/main">
            <a:r>
              <a:t>3 min: Exit check and private help reminder</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Week_2_PSHE_Naming_My_Feelings_(SSS1).pptx</a:t>
            </a:r>
          </a:p>
          <a:p xmlns:a="http://schemas.openxmlformats.org/drawingml/2006/main">
            <a:r>
              <a:t>Uploaded teaching source: Week_2_PSHE_Worksheet_My_Feelings_Map_(SSS1).docx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GROW_PSHE_W02 | Feelings, clues and asking for support</a:t>
            </a:r>
          </a:p>
          <a:p xmlns:a="http://schemas.openxmlformats.org/drawingml/2006/main">
            <a:r>
              <a:t>Use feeling vocabulary, separate clues from certainty and choose a clear way to ask for support.</a:t>
            </a:r>
          </a:p>
          <a:p xmlns:a="http://schemas.openxmlformats.org/drawingml/2006/main">
            <a:r>
              <a:t/>
            </a:r>
          </a:p>
          <a:p xmlns:a="http://schemas.openxmlformats.org/drawingml/2006/main">
            <a:r>
              <a:t>Validate emotions without labelling a child good or bad. Adults help keep everyone safe and offer support with actions.</a:t>
            </a:r>
          </a:p>
          <a:p xmlns:a="http://schemas.openxmlformats.org/drawingml/2006/main">
            <a:r>
              <a:t/>
            </a:r>
          </a:p>
          <a:p xmlns:a="http://schemas.openxmlformats.org/drawingml/2006/main">
            <a:r>
              <a:t>Pupil prompt: Which is the feeling, which is the action and which is a support need?</a:t>
            </a:r>
          </a:p>
          <a:p xmlns:a="http://schemas.openxmlformats.org/drawingml/2006/main">
            <a:r>
              <a:t/>
            </a:r>
          </a:p>
          <a:p xmlns:a="http://schemas.openxmlformats.org/drawingml/2006/main">
            <a:r>
              <a:t>Teacher answer / acceptable response: Frustrated is a feeling; tearing paper is an action; help to restart is a need. A feeling does not decide what someone must do next.</a:t>
            </a:r>
          </a:p>
          <a:p xmlns:a="http://schemas.openxmlformats.org/drawingml/2006/main">
            <a:r>
              <a:t/>
            </a:r>
          </a:p>
          <a:p xmlns:a="http://schemas.openxmlformats.org/drawingml/2006/main">
            <a:r>
              <a:t>Support: Use two feeling choices and read each scenario separately. Accept pointing, drawing, signing or scribing. Reduce writing while retaining the distinction between clue and certainty.</a:t>
            </a:r>
          </a:p>
          <a:p xmlns:a="http://schemas.openxmlformats.org/drawingml/2006/main">
            <a:r>
              <a:t/>
            </a:r>
          </a:p>
          <a:p xmlns:a="http://schemas.openxmlformats.org/drawingml/2006/main">
            <a:r>
              <a:t>Stretch: Compare two plausible interpretations of a scenario. Rewrite a certainty claim using “might” and a respectful question; explain why the change matters.</a:t>
            </a:r>
          </a:p>
          <a:p xmlns:a="http://schemas.openxmlformats.org/drawingml/2006/main">
            <a:r>
              <a:t/>
            </a:r>
          </a:p>
          <a:p xmlns:a="http://schemas.openxmlformats.org/drawingml/2006/main">
            <a:r>
              <a:t>Safeguarding / safety: Do not request personal body sensations, diagnoses, recent incidents or a public mood rating. If a pupil reports feeling unwell, respond through school procedures rather than assuming anxiety. Use Week 5 disclosure guidance for a safeguarding concern.</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close previous access feedback</a:t>
            </a:r>
          </a:p>
          <a:p xmlns:a="http://schemas.openxmlformats.org/drawingml/2006/main">
            <a:r>
              <a:t>5 min: Teach precise feeling words</a:t>
            </a:r>
          </a:p>
          <a:p xmlns:a="http://schemas.openxmlformats.org/drawingml/2006/main">
            <a:r>
              <a:t>6 min: Explore Ari: clues and uncertainty</a:t>
            </a:r>
          </a:p>
          <a:p xmlns:a="http://schemas.openxmlformats.org/drawingml/2006/main">
            <a:r>
              <a:t>5 min: Model feeling, action and need</a:t>
            </a:r>
          </a:p>
          <a:p xmlns:a="http://schemas.openxmlformats.org/drawingml/2006/main">
            <a:r>
              <a:t>12 min: Complete the three tasks</a:t>
            </a:r>
          </a:p>
          <a:p xmlns:a="http://schemas.openxmlformats.org/drawingml/2006/main">
            <a:r>
              <a:t>4 min: Compare respectful help messages</a:t>
            </a:r>
          </a:p>
          <a:p xmlns:a="http://schemas.openxmlformats.org/drawingml/2006/main">
            <a:r>
              <a:t>3 min: Exit check and private help reminder</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Week_2_PSHE_Naming_My_Feelings_(SSS1).pptx</a:t>
            </a:r>
          </a:p>
          <a:p xmlns:a="http://schemas.openxmlformats.org/drawingml/2006/main">
            <a:r>
              <a:t>Uploaded teaching source: Week_2_PSHE_Worksheet_My_Feelings_Map_(SSS1).docx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GROW_PSHE_W02 | Feelings, clues and asking for support</a:t>
            </a:r>
          </a:p>
          <a:p xmlns:a="http://schemas.openxmlformats.org/drawingml/2006/main">
            <a:r>
              <a:t>Use feeling vocabulary, separate clues from certainty and choose a clear way to ask for support.</a:t>
            </a:r>
          </a:p>
          <a:p xmlns:a="http://schemas.openxmlformats.org/drawingml/2006/main">
            <a:r>
              <a:t/>
            </a:r>
          </a:p>
          <a:p xmlns:a="http://schemas.openxmlformats.org/drawingml/2006/main">
            <a:r>
              <a:t>Model a short request without requiring fluent speech or a reason. “Help, please” and an agreed signal are valid.</a:t>
            </a:r>
          </a:p>
          <a:p xmlns:a="http://schemas.openxmlformats.org/drawingml/2006/main">
            <a:r>
              <a:t/>
            </a:r>
          </a:p>
          <a:p xmlns:a="http://schemas.openxmlformats.org/drawingml/2006/main">
            <a:r>
              <a:t>Pupil prompt: Which part tells the adult what could help?</a:t>
            </a:r>
          </a:p>
          <a:p xmlns:a="http://schemas.openxmlformats.org/drawingml/2006/main">
            <a:r>
              <a:t/>
            </a:r>
          </a:p>
          <a:p xmlns:a="http://schemas.openxmlformats.org/drawingml/2006/main">
            <a:r>
              <a:t>Teacher answer / acceptable response: “I need the new plan. Can you show me?” Names a concrete request. The feeling word is useful but not compulsory.</a:t>
            </a:r>
          </a:p>
          <a:p xmlns:a="http://schemas.openxmlformats.org/drawingml/2006/main">
            <a:r>
              <a:t/>
            </a:r>
          </a:p>
          <a:p xmlns:a="http://schemas.openxmlformats.org/drawingml/2006/main">
            <a:r>
              <a:t>Support: Use two feeling choices and read each scenario separately. Accept pointing, drawing, signing or scribing. Reduce writing while retaining the distinction between clue and certainty.</a:t>
            </a:r>
          </a:p>
          <a:p xmlns:a="http://schemas.openxmlformats.org/drawingml/2006/main">
            <a:r>
              <a:t/>
            </a:r>
          </a:p>
          <a:p xmlns:a="http://schemas.openxmlformats.org/drawingml/2006/main">
            <a:r>
              <a:t>Stretch: Compare two plausible interpretations of a scenario. Rewrite a certainty claim using “might” and a respectful question; explain why the change matters.</a:t>
            </a:r>
          </a:p>
          <a:p xmlns:a="http://schemas.openxmlformats.org/drawingml/2006/main">
            <a:r>
              <a:t/>
            </a:r>
          </a:p>
          <a:p xmlns:a="http://schemas.openxmlformats.org/drawingml/2006/main">
            <a:r>
              <a:t>Safeguarding / safety: Do not request personal body sensations, diagnoses, recent incidents or a public mood rating. If a pupil reports feeling unwell, respond through school procedures rather than assuming anxiety. Use Week 5 disclosure guidance for a safeguarding concern.</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close previous access feedback</a:t>
            </a:r>
          </a:p>
          <a:p xmlns:a="http://schemas.openxmlformats.org/drawingml/2006/main">
            <a:r>
              <a:t>5 min: Teach precise feeling words</a:t>
            </a:r>
          </a:p>
          <a:p xmlns:a="http://schemas.openxmlformats.org/drawingml/2006/main">
            <a:r>
              <a:t>6 min: Explore Ari: clues and uncertainty</a:t>
            </a:r>
          </a:p>
          <a:p xmlns:a="http://schemas.openxmlformats.org/drawingml/2006/main">
            <a:r>
              <a:t>5 min: Model feeling, action and need</a:t>
            </a:r>
          </a:p>
          <a:p xmlns:a="http://schemas.openxmlformats.org/drawingml/2006/main">
            <a:r>
              <a:t>12 min: Complete the three tasks</a:t>
            </a:r>
          </a:p>
          <a:p xmlns:a="http://schemas.openxmlformats.org/drawingml/2006/main">
            <a:r>
              <a:t>4 min: Compare respectful help messages</a:t>
            </a:r>
          </a:p>
          <a:p xmlns:a="http://schemas.openxmlformats.org/drawingml/2006/main">
            <a:r>
              <a:t>3 min: Exit check and private help reminder</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Week_2_PSHE_Naming_My_Feelings_(SSS1).pptx</a:t>
            </a:r>
          </a:p>
          <a:p xmlns:a="http://schemas.openxmlformats.org/drawingml/2006/main">
            <a:r>
              <a:t>Uploaded teaching source: Week_2_PSHE_Worksheet_My_Feelings_Map_(SSS1).docx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GROW_PSHE_W02 | Feelings, clues and asking for support</a:t>
            </a:r>
          </a:p>
          <a:p xmlns:a="http://schemas.openxmlformats.org/drawingml/2006/main">
            <a:r>
              <a:t>Use feeling vocabulary, separate clues from certainty and choose a clear way to ask for support.</a:t>
            </a:r>
          </a:p>
          <a:p xmlns:a="http://schemas.openxmlformats.org/drawingml/2006/main">
            <a:r>
              <a:t/>
            </a:r>
          </a:p>
          <a:p xmlns:a="http://schemas.openxmlformats.org/drawingml/2006/main">
            <a:r>
              <a:t>Replace the source binary of handling it alone versus needing help. Pupils do not have to exhaust strategies or prove a problem is severe.</a:t>
            </a:r>
          </a:p>
          <a:p xmlns:a="http://schemas.openxmlformats.org/drawingml/2006/main">
            <a:r>
              <a:t/>
            </a:r>
          </a:p>
          <a:p xmlns:a="http://schemas.openxmlformats.org/drawingml/2006/main">
            <a:r>
              <a:t>Pupil prompt: Who is allowed to ask for help?</a:t>
            </a:r>
          </a:p>
          <a:p xmlns:a="http://schemas.openxmlformats.org/drawingml/2006/main">
            <a:r>
              <a:t/>
            </a:r>
          </a:p>
          <a:p xmlns:a="http://schemas.openxmlformats.org/drawingml/2006/main">
            <a:r>
              <a:t>Teacher answer / acceptable response: All three. Someone can request support for a small feeling, physical discomfort or a worry that keeps returning.</a:t>
            </a:r>
          </a:p>
          <a:p xmlns:a="http://schemas.openxmlformats.org/drawingml/2006/main">
            <a:r>
              <a:t/>
            </a:r>
          </a:p>
          <a:p xmlns:a="http://schemas.openxmlformats.org/drawingml/2006/main">
            <a:r>
              <a:t>Support: Use two feeling choices and read each scenario separately. Accept pointing, drawing, signing or scribing. Reduce writing while retaining the distinction between clue and certainty.</a:t>
            </a:r>
          </a:p>
          <a:p xmlns:a="http://schemas.openxmlformats.org/drawingml/2006/main">
            <a:r>
              <a:t/>
            </a:r>
          </a:p>
          <a:p xmlns:a="http://schemas.openxmlformats.org/drawingml/2006/main">
            <a:r>
              <a:t>Stretch: Compare two plausible interpretations of a scenario. Rewrite a certainty claim using “might” and a respectful question; explain why the change matters.</a:t>
            </a:r>
          </a:p>
          <a:p xmlns:a="http://schemas.openxmlformats.org/drawingml/2006/main">
            <a:r>
              <a:t/>
            </a:r>
          </a:p>
          <a:p xmlns:a="http://schemas.openxmlformats.org/drawingml/2006/main">
            <a:r>
              <a:t>Safeguarding / safety: Do not request personal body sensations, diagnoses, recent incidents or a public mood rating. If a pupil reports feeling unwell, respond through school procedures rather than assuming anxiety. Use Week 5 disclosure guidance for a safeguarding concern.</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close previous access feedback</a:t>
            </a:r>
          </a:p>
          <a:p xmlns:a="http://schemas.openxmlformats.org/drawingml/2006/main">
            <a:r>
              <a:t>5 min: Teach precise feeling words</a:t>
            </a:r>
          </a:p>
          <a:p xmlns:a="http://schemas.openxmlformats.org/drawingml/2006/main">
            <a:r>
              <a:t>6 min: Explore Ari: clues and uncertainty</a:t>
            </a:r>
          </a:p>
          <a:p xmlns:a="http://schemas.openxmlformats.org/drawingml/2006/main">
            <a:r>
              <a:t>5 min: Model feeling, action and need</a:t>
            </a:r>
          </a:p>
          <a:p xmlns:a="http://schemas.openxmlformats.org/drawingml/2006/main">
            <a:r>
              <a:t>12 min: Complete the three tasks</a:t>
            </a:r>
          </a:p>
          <a:p xmlns:a="http://schemas.openxmlformats.org/drawingml/2006/main">
            <a:r>
              <a:t>4 min: Compare respectful help messages</a:t>
            </a:r>
          </a:p>
          <a:p xmlns:a="http://schemas.openxmlformats.org/drawingml/2006/main">
            <a:r>
              <a:t>3 min: Exit check and private help reminder</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Week_2_PSHE_Naming_My_Feelings_(SSS1).pptx</a:t>
            </a:r>
          </a:p>
          <a:p xmlns:a="http://schemas.openxmlformats.org/drawingml/2006/main">
            <a:r>
              <a:t>Uploaded teaching source: Week_2_PSHE_Worksheet_My_Feelings_Map_(SSS1).docx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GROW_PSHE_W02 | Feelings, clues and asking for support</a:t>
            </a:r>
          </a:p>
          <a:p xmlns:a="http://schemas.openxmlformats.org/drawingml/2006/main">
            <a:r>
              <a:t>Use feeling vocabulary, separate clues from certainty and choose a clear way to ask for support.</a:t>
            </a:r>
          </a:p>
          <a:p xmlns:a="http://schemas.openxmlformats.org/drawingml/2006/main">
            <a:r>
              <a:t/>
            </a:r>
          </a:p>
          <a:p xmlns:a="http://schemas.openxmlformats.org/drawingml/2006/main">
            <a:r>
              <a:t>Supported: point to one possible word and one help option. Standard: explain one clue. Stretch: compare two explanations and avoid certainty.</a:t>
            </a:r>
          </a:p>
          <a:p xmlns:a="http://schemas.openxmlformats.org/drawingml/2006/main">
            <a:r>
              <a:t/>
            </a:r>
          </a:p>
          <a:p xmlns:a="http://schemas.openxmlformats.org/drawingml/2006/main">
            <a:r>
              <a:t>Pupil prompt: Use the word cards or your own words.</a:t>
            </a:r>
          </a:p>
          <a:p xmlns:a="http://schemas.openxmlformats.org/drawingml/2006/main">
            <a:r>
              <a:t/>
            </a:r>
          </a:p>
          <a:p xmlns:a="http://schemas.openxmlformats.org/drawingml/2006/main">
            <a:r>
              <a:t>Teacher answer / acceptable response: A strong answer explains its clue and leaves room for another feeling.</a:t>
            </a:r>
          </a:p>
          <a:p xmlns:a="http://schemas.openxmlformats.org/drawingml/2006/main">
            <a:r>
              <a:t/>
            </a:r>
          </a:p>
          <a:p xmlns:a="http://schemas.openxmlformats.org/drawingml/2006/main">
            <a:r>
              <a:t>Support: Use two feeling choices and read each scenario separately. Accept pointing, drawing, signing or scribing. Reduce writing while retaining the distinction between clue and certainty.</a:t>
            </a:r>
          </a:p>
          <a:p xmlns:a="http://schemas.openxmlformats.org/drawingml/2006/main">
            <a:r>
              <a:t/>
            </a:r>
          </a:p>
          <a:p xmlns:a="http://schemas.openxmlformats.org/drawingml/2006/main">
            <a:r>
              <a:t>Stretch: Compare two plausible interpretations of a scenario. Rewrite a certainty claim using “might” and a respectful question; explain why the change matters.</a:t>
            </a:r>
          </a:p>
          <a:p xmlns:a="http://schemas.openxmlformats.org/drawingml/2006/main">
            <a:r>
              <a:t/>
            </a:r>
          </a:p>
          <a:p xmlns:a="http://schemas.openxmlformats.org/drawingml/2006/main">
            <a:r>
              <a:t>Safeguarding / safety: Do not request personal body sensations, diagnoses, recent incidents or a public mood rating. If a pupil reports feeling unwell, respond through school procedures rather than assuming anxiety. Use Week 5 disclosure guidance for a safeguarding concern.</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close previous access feedback</a:t>
            </a:r>
          </a:p>
          <a:p xmlns:a="http://schemas.openxmlformats.org/drawingml/2006/main">
            <a:r>
              <a:t>5 min: Teach precise feeling words</a:t>
            </a:r>
          </a:p>
          <a:p xmlns:a="http://schemas.openxmlformats.org/drawingml/2006/main">
            <a:r>
              <a:t>6 min: Explore Ari: clues and uncertainty</a:t>
            </a:r>
          </a:p>
          <a:p xmlns:a="http://schemas.openxmlformats.org/drawingml/2006/main">
            <a:r>
              <a:t>5 min: Model feeling, action and need</a:t>
            </a:r>
          </a:p>
          <a:p xmlns:a="http://schemas.openxmlformats.org/drawingml/2006/main">
            <a:r>
              <a:t>12 min: Complete the three tasks</a:t>
            </a:r>
          </a:p>
          <a:p xmlns:a="http://schemas.openxmlformats.org/drawingml/2006/main">
            <a:r>
              <a:t>4 min: Compare respectful help messages</a:t>
            </a:r>
          </a:p>
          <a:p xmlns:a="http://schemas.openxmlformats.org/drawingml/2006/main">
            <a:r>
              <a:t>3 min: Exit check and private help reminder</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Week_2_PSHE_Naming_My_Feelings_(SSS1).pptx</a:t>
            </a:r>
          </a:p>
          <a:p xmlns:a="http://schemas.openxmlformats.org/drawingml/2006/main">
            <a:r>
              <a:t>Uploaded teaching source: Week_2_PSHE_Worksheet_My_Feelings_Map_(SSS1).docx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GROW_PSHE_W02 | Feelings, clues and asking for support</a:t>
            </a:r>
          </a:p>
          <a:p xmlns:a="http://schemas.openxmlformats.org/drawingml/2006/main">
            <a:r>
              <a:t>Use feeling vocabulary, separate clues from certainty and choose a clear way to ask for support.</a:t>
            </a:r>
          </a:p>
          <a:p xmlns:a="http://schemas.openxmlformats.org/drawingml/2006/main">
            <a:r>
              <a:t/>
            </a:r>
          </a:p>
          <a:p xmlns:a="http://schemas.openxmlformats.org/drawingml/2006/main">
            <a:r>
              <a:t>Avoid suggesting that silence reliably signals distress or that friends must manage one another’s mental health.</a:t>
            </a:r>
          </a:p>
          <a:p xmlns:a="http://schemas.openxmlformats.org/drawingml/2006/main">
            <a:r>
              <a:t/>
            </a:r>
          </a:p>
          <a:p xmlns:a="http://schemas.openxmlformats.org/drawingml/2006/main">
            <a:r>
              <a:t>Pupil prompt: Improve: “You look angry, so I know what is wrong.”</a:t>
            </a:r>
          </a:p>
          <a:p xmlns:a="http://schemas.openxmlformats.org/drawingml/2006/main">
            <a:r>
              <a:t/>
            </a:r>
          </a:p>
          <a:p xmlns:a="http://schemas.openxmlformats.org/drawingml/2006/main">
            <a:r>
              <a:t>Teacher answer / acceptable response: “I have noticed you are quiet. Would you like space, support, or neither?” Accept other respectful invitations.</a:t>
            </a:r>
          </a:p>
          <a:p xmlns:a="http://schemas.openxmlformats.org/drawingml/2006/main">
            <a:r>
              <a:t/>
            </a:r>
          </a:p>
          <a:p xmlns:a="http://schemas.openxmlformats.org/drawingml/2006/main">
            <a:r>
              <a:t>Support: Use two feeling choices and read each scenario separately. Accept pointing, drawing, signing or scribing. Reduce writing while retaining the distinction between clue and certainty.</a:t>
            </a:r>
          </a:p>
          <a:p xmlns:a="http://schemas.openxmlformats.org/drawingml/2006/main">
            <a:r>
              <a:t/>
            </a:r>
          </a:p>
          <a:p xmlns:a="http://schemas.openxmlformats.org/drawingml/2006/main">
            <a:r>
              <a:t>Stretch: Compare two plausible interpretations of a scenario. Rewrite a certainty claim using “might” and a respectful question; explain why the change matters.</a:t>
            </a:r>
          </a:p>
          <a:p xmlns:a="http://schemas.openxmlformats.org/drawingml/2006/main">
            <a:r>
              <a:t/>
            </a:r>
          </a:p>
          <a:p xmlns:a="http://schemas.openxmlformats.org/drawingml/2006/main">
            <a:r>
              <a:t>Safeguarding / safety: Do not request personal body sensations, diagnoses, recent incidents or a public mood rating. If a pupil reports feeling unwell, respond through school procedures rather than assuming anxiety. Use Week 5 disclosure guidance for a safeguarding concern.</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close previous access feedback</a:t>
            </a:r>
          </a:p>
          <a:p xmlns:a="http://schemas.openxmlformats.org/drawingml/2006/main">
            <a:r>
              <a:t>5 min: Teach precise feeling words</a:t>
            </a:r>
          </a:p>
          <a:p xmlns:a="http://schemas.openxmlformats.org/drawingml/2006/main">
            <a:r>
              <a:t>6 min: Explore Ari: clues and uncertainty</a:t>
            </a:r>
          </a:p>
          <a:p xmlns:a="http://schemas.openxmlformats.org/drawingml/2006/main">
            <a:r>
              <a:t>5 min: Model feeling, action and need</a:t>
            </a:r>
          </a:p>
          <a:p xmlns:a="http://schemas.openxmlformats.org/drawingml/2006/main">
            <a:r>
              <a:t>12 min: Complete the three tasks</a:t>
            </a:r>
          </a:p>
          <a:p xmlns:a="http://schemas.openxmlformats.org/drawingml/2006/main">
            <a:r>
              <a:t>4 min: Compare respectful help messages</a:t>
            </a:r>
          </a:p>
          <a:p xmlns:a="http://schemas.openxmlformats.org/drawingml/2006/main">
            <a:r>
              <a:t>3 min: Exit check and private help reminder</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Week_2_PSHE_Naming_My_Feelings_(SSS1).pptx</a:t>
            </a:r>
          </a:p>
          <a:p xmlns:a="http://schemas.openxmlformats.org/drawingml/2006/main">
            <a:r>
              <a:t>Uploaded teaching source: Week_2_PSHE_Worksheet_My_Feelings_Map_(SSS1).docx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GROW_PSHE_W02 | Feelings, clues and asking for support</a:t>
            </a:r>
          </a:p>
          <a:p xmlns:a="http://schemas.openxmlformats.org/drawingml/2006/main">
            <a:r>
              <a:t>Use feeling vocabulary, separate clues from certainty and choose a clear way to ask for support.</a:t>
            </a:r>
          </a:p>
          <a:p xmlns:a="http://schemas.openxmlformats.org/drawingml/2006/main">
            <a:r>
              <a:t/>
            </a:r>
          </a:p>
          <a:p xmlns:a="http://schemas.openxmlformats.org/drawingml/2006/main">
            <a:r>
              <a:t>Check distinction between observation and interpretation. Collect no public mood data; end with the agreed private help route.</a:t>
            </a:r>
          </a:p>
          <a:p xmlns:a="http://schemas.openxmlformats.org/drawingml/2006/main">
            <a:r>
              <a:t/>
            </a:r>
          </a:p>
          <a:p xmlns:a="http://schemas.openxmlformats.org/drawingml/2006/main">
            <a:r>
              <a:t>Pupil prompt: What can we know, and what should we leave open?</a:t>
            </a:r>
          </a:p>
          <a:p xmlns:a="http://schemas.openxmlformats.org/drawingml/2006/main">
            <a:r>
              <a:t/>
            </a:r>
          </a:p>
          <a:p xmlns:a="http://schemas.openxmlformats.org/drawingml/2006/main">
            <a:r>
              <a:t>Teacher answer / acceptable response: We know Lea smiled. Lea could feel happy, relieved, nervous or something else. We can ask without pressure.</a:t>
            </a:r>
          </a:p>
          <a:p xmlns:a="http://schemas.openxmlformats.org/drawingml/2006/main">
            <a:r>
              <a:t/>
            </a:r>
          </a:p>
          <a:p xmlns:a="http://schemas.openxmlformats.org/drawingml/2006/main">
            <a:r>
              <a:t>Support: Use two feeling choices and read each scenario separately. Accept pointing, drawing, signing or scribing. Reduce writing while retaining the distinction between clue and certainty.</a:t>
            </a:r>
          </a:p>
          <a:p xmlns:a="http://schemas.openxmlformats.org/drawingml/2006/main">
            <a:r>
              <a:t/>
            </a:r>
          </a:p>
          <a:p xmlns:a="http://schemas.openxmlformats.org/drawingml/2006/main">
            <a:r>
              <a:t>Stretch: Compare two plausible interpretations of a scenario. Rewrite a certainty claim using “might” and a respectful question; explain why the change matters.</a:t>
            </a:r>
          </a:p>
          <a:p xmlns:a="http://schemas.openxmlformats.org/drawingml/2006/main">
            <a:r>
              <a:t/>
            </a:r>
          </a:p>
          <a:p xmlns:a="http://schemas.openxmlformats.org/drawingml/2006/main">
            <a:r>
              <a:t>Safeguarding / safety: Do not request personal body sensations, diagnoses, recent incidents or a public mood rating. If a pupil reports feeling unwell, respond through school procedures rather than assuming anxiety. Use Week 5 disclosure guidance for a safeguarding concern.</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close previous access feedback</a:t>
            </a:r>
          </a:p>
          <a:p xmlns:a="http://schemas.openxmlformats.org/drawingml/2006/main">
            <a:r>
              <a:t>5 min: Teach precise feeling words</a:t>
            </a:r>
          </a:p>
          <a:p xmlns:a="http://schemas.openxmlformats.org/drawingml/2006/main">
            <a:r>
              <a:t>6 min: Explore Ari: clues and uncertainty</a:t>
            </a:r>
          </a:p>
          <a:p xmlns:a="http://schemas.openxmlformats.org/drawingml/2006/main">
            <a:r>
              <a:t>5 min: Model feeling, action and need</a:t>
            </a:r>
          </a:p>
          <a:p xmlns:a="http://schemas.openxmlformats.org/drawingml/2006/main">
            <a:r>
              <a:t>12 min: Complete the three tasks</a:t>
            </a:r>
          </a:p>
          <a:p xmlns:a="http://schemas.openxmlformats.org/drawingml/2006/main">
            <a:r>
              <a:t>4 min: Compare respectful help messages</a:t>
            </a:r>
          </a:p>
          <a:p xmlns:a="http://schemas.openxmlformats.org/drawingml/2006/main">
            <a:r>
              <a:t>3 min: Exit check and private help reminder</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Week_2_PSHE_Naming_My_Feelings_(SSS1).pptx</a:t>
            </a:r>
          </a:p>
          <a:p xmlns:a="http://schemas.openxmlformats.org/drawingml/2006/main">
            <a:r>
              <a:t>Uploaded teaching source: Week_2_PSHE_Worksheet_My_Feelings_Map_(SSS1).docx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eaed11cafb4f7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e462a649e04d4a" /><Relationship Type="http://schemas.openxmlformats.org/officeDocument/2006/relationships/slideLayout" Target="/ppt/slideLayouts/slideLayout1.xml" Id="R556cc226e19741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6cc226e19741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0c52d5dae1748b2" /><Relationship Type="http://schemas.openxmlformats.org/officeDocument/2006/relationships/image" Target="/ppt/media/image.jpeg" Id="R7719ff0235c8424d" /><Relationship Type="http://schemas.openxmlformats.org/officeDocument/2006/relationships/notesSlide" Target="/ppt/notesSlides/notesSlide1.xml" Id="Re2e478558c1d4e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99ec1a6a450413c" /><Relationship Type="http://schemas.openxmlformats.org/officeDocument/2006/relationships/image" Target="/ppt/media/image.jpeg" Id="R8e0881e52812416a" /><Relationship Type="http://schemas.openxmlformats.org/officeDocument/2006/relationships/notesSlide" Target="/ppt/notesSlides/notesSlide2.xml" Id="Rcfd6d2bd226f40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1a2719075254ea3" /><Relationship Type="http://schemas.openxmlformats.org/officeDocument/2006/relationships/image" Target="/ppt/media/image.jpeg" Id="R1f94d27b251f4f20" /><Relationship Type="http://schemas.openxmlformats.org/officeDocument/2006/relationships/notesSlide" Target="/ppt/notesSlides/notesSlide3.xml" Id="R09439869a32847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4f9be02df744846" /><Relationship Type="http://schemas.openxmlformats.org/officeDocument/2006/relationships/image" Target="/ppt/media/image.jpeg" Id="R7ef383d9dcdc41e5" /><Relationship Type="http://schemas.openxmlformats.org/officeDocument/2006/relationships/notesSlide" Target="/ppt/notesSlides/notesSlide4.xml" Id="Rbe32b20c7cd64a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62a83696c9e4f89" /><Relationship Type="http://schemas.openxmlformats.org/officeDocument/2006/relationships/image" Target="/ppt/media/image.jpeg" Id="Rcfcf46c222f045db" /><Relationship Type="http://schemas.openxmlformats.org/officeDocument/2006/relationships/notesSlide" Target="/ppt/notesSlides/notesSlide5.xml" Id="Rd715d578bed34e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91805e0c67b4b24" /><Relationship Type="http://schemas.openxmlformats.org/officeDocument/2006/relationships/image" Target="/ppt/media/image.jpeg" Id="R4300485203b74804" /><Relationship Type="http://schemas.openxmlformats.org/officeDocument/2006/relationships/notesSlide" Target="/ppt/notesSlides/notesSlide6.xml" Id="R0b72fc7dcd3340c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855f81b90444772" /><Relationship Type="http://schemas.openxmlformats.org/officeDocument/2006/relationships/image" Target="/ppt/media/image.jpeg" Id="Rb70ba626f90d445b" /><Relationship Type="http://schemas.openxmlformats.org/officeDocument/2006/relationships/notesSlide" Target="/ppt/notesSlides/notesSlide7.xml" Id="R8029b9a3d4ee445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95265c15fdc4008" /><Relationship Type="http://schemas.openxmlformats.org/officeDocument/2006/relationships/image" Target="/ppt/media/image.jpeg" Id="Rf22641faf19046af" /><Relationship Type="http://schemas.openxmlformats.org/officeDocument/2006/relationships/notesSlide" Target="/ppt/notesSlides/notesSlide8.xml" Id="R768d6fb434e347b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796ba575ad24b13" /><Relationship Type="http://schemas.openxmlformats.org/officeDocument/2006/relationships/image" Target="/ppt/media/image.jpeg" Id="R4732c3a2bda54b45" /><Relationship Type="http://schemas.openxmlformats.org/officeDocument/2006/relationships/notesSlide" Target="/ppt/notesSlides/notesSlide9.xml" Id="R67984851ee8f4c0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d59d6cc43774383" /><Relationship Type="http://schemas.openxmlformats.org/officeDocument/2006/relationships/image" Target="/ppt/media/image.jpeg" Id="Rbe612c1a25134f37" /><Relationship Type="http://schemas.openxmlformats.org/officeDocument/2006/relationships/notesSlide" Target="/ppt/notesSlides/notesSlide10.xml" Id="Rf694c0395b9c4f8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7336ab2718b4086" /><Relationship Type="http://schemas.openxmlformats.org/officeDocument/2006/relationships/image" Target="/ppt/media/image.jpeg" Id="R0c894d2ee90b4426" /><Relationship Type="http://schemas.openxmlformats.org/officeDocument/2006/relationships/notesSlide" Target="/ppt/notesSlides/notesSlide11.xml" Id="R908f3d5a3e324109"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719ff0235c8424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Feelings, clues and asking for support</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PSHE</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Today: find useful words, avoid guessing and practise a help message.</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fictional situations. You do not need to report your own mood or body feelings.</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Can two people feel differently about the same event?</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e0881e52812416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PSHE</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FEELING</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CLUE</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An emotional experience, such as worry or excitement.</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Something we notice that may help us understand.</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f94d27b251f4f2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What changed after your suggestion?</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Last lesson you could suggest an access change.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Your teacher will explain what was considered, what changed and any reason something could not change.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Does everyone have an accessible way to answer today?</a:t>
            </a:r>
          </a:p>
        </p:txBody>
      </p:sp>
    </p:spTree>
    <p:extLst>
      <p:ext uri="{BB962C8B-B14F-4D97-AF65-F5344CB8AC3E}">
        <p14:creationId xmlns:p14="http://schemas.microsoft.com/office/powerpoint/2010/main" val="289928415"/>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ef383d9dcdc41e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can be more precise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PSHE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Frustrated: something is blocking what someone wants to do.</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Nervous: worried or unsure about what might happen.</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Proud: pleased about an effort or achievement.</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word might fit a character whose file will not open?</a:t>
            </a:r>
          </a:p>
        </p:txBody>
      </p:sp>
    </p:spTree>
    <p:extLst>
      <p:ext uri="{BB962C8B-B14F-4D97-AF65-F5344CB8AC3E}">
        <p14:creationId xmlns:p14="http://schemas.microsoft.com/office/powerpoint/2010/main" val="1732344281"/>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fcf46c222f045d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One clue, several possibilities</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PSHE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Ari’s heart is beating quickly before a performance.</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Ari might feel excited, nervous, both, or something else.</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Exercise or feeling unwell could also affect the body.</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could a friend ask without making an assumption?</a:t>
            </a:r>
          </a:p>
        </p:txBody>
      </p:sp>
    </p:spTree>
    <p:extLst>
      <p:ext uri="{BB962C8B-B14F-4D97-AF65-F5344CB8AC3E}">
        <p14:creationId xmlns:p14="http://schemas.microsoft.com/office/powerpoint/2010/main" val="1732344281"/>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300485203b7480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Feeling, action or need?</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PSHE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feel frustrated.”</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tore the paper.”</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need help to restart.”</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is the feeling, which is the action and which is a support need?</a:t>
            </a:r>
          </a:p>
        </p:txBody>
      </p:sp>
    </p:spTree>
    <p:extLst>
      <p:ext uri="{BB962C8B-B14F-4D97-AF65-F5344CB8AC3E}">
        <p14:creationId xmlns:p14="http://schemas.microsoft.com/office/powerpoint/2010/main" val="1732344281"/>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70ba626f90d445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We do: a clear message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PSHE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Ari’s rehearsal time changes without warning. Ari is unsure where to go.</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Message: “I feel unsure. I need the new plan. Can you show me?”</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Ari could write, point to “help” or use a device instead.</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part tells the adult what could help?</a:t>
            </a:r>
          </a:p>
        </p:txBody>
      </p:sp>
    </p:spTree>
    <p:extLst>
      <p:ext uri="{BB962C8B-B14F-4D97-AF65-F5344CB8AC3E}">
        <p14:creationId xmlns:p14="http://schemas.microsoft.com/office/powerpoint/2010/main" val="1732344281"/>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22641faf19046a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There is no test before help</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PSHE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Kai feels disappointed and would like an adult to sit nearby.</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Toni feels unwell and tells an adult immediately.</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Dev feels worried every day and asks for more support.</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Who is allowed to ask for help?</a:t>
            </a:r>
          </a:p>
        </p:txBody>
      </p:sp>
    </p:spTree>
    <p:extLst>
      <p:ext uri="{BB962C8B-B14F-4D97-AF65-F5344CB8AC3E}">
        <p14:creationId xmlns:p14="http://schemas.microsoft.com/office/powerpoint/2010/main" val="1732344281"/>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732c3a2bda54b4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learning record</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PSHE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Task 1: choose possible words and keep uncertainty.</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Task 2: separate feeling, action and support need.</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Task 3: make a help message for a character.</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Use the word cards or your own words.</a:t>
            </a:r>
          </a:p>
        </p:txBody>
      </p:sp>
    </p:spTree>
    <p:extLst>
      <p:ext uri="{BB962C8B-B14F-4D97-AF65-F5344CB8AC3E}">
        <p14:creationId xmlns:p14="http://schemas.microsoft.com/office/powerpoint/2010/main" val="1732344281"/>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e612c1a25134f3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friend can listen; an adult can help</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PSHE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Ask what the person wants. Do not demand the full story.</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If safety is a concern, tell a trusted adult. You do not have to solve it alone.</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You can ask for help even if you cannot name the feeling.</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Improve: “You look angry, so I know what is wrong.”</a:t>
            </a:r>
          </a:p>
        </p:txBody>
      </p:sp>
    </p:spTree>
    <p:extLst>
      <p:ext uri="{BB962C8B-B14F-4D97-AF65-F5344CB8AC3E}">
        <p14:creationId xmlns:p14="http://schemas.microsoft.com/office/powerpoint/2010/main" val="1732344281"/>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c894d2ee90b4426"/>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clue is not proof</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2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Lea smiles after a test. A friend says, “That proves Lea feels happy.”</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can we know, and what should we leave open?</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2026-09-07T12:36:42.1480000Z</dcterms:created>
  <dcterms:modified xsi:type="dcterms:W3CDTF">2026-09-07T12:36:42.1480000Z</dcterms:modified>
</coreProperties>
</file>